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Inter" charset="1" panose="02000503000000020004"/>
      <p:regular r:id="rId26"/>
    </p:embeddedFont>
    <p:embeddedFont>
      <p:font typeface="Inter Medium" charset="1" panose="02000503000000020004"/>
      <p:regular r:id="rId27"/>
    </p:embeddedFont>
    <p:embeddedFont>
      <p:font typeface="Poppins Bold" charset="1" panose="00000800000000000000"/>
      <p:regular r:id="rId28"/>
    </p:embeddedFont>
    <p:embeddedFont>
      <p:font typeface="Poppins" charset="1" panose="00000500000000000000"/>
      <p:regular r:id="rId30"/>
    </p:embeddedFont>
    <p:embeddedFont>
      <p:font typeface="Poppins Italics" charset="1" panose="00000500000000000000"/>
      <p:regular r:id="rId35"/>
    </p:embeddedFont>
    <p:embeddedFont>
      <p:font typeface="Roboto Mono" charset="1" panose="000000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8.png" Type="http://schemas.openxmlformats.org/officeDocument/2006/relationships/image"/><Relationship Id="rId9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30000" y="0"/>
            <a:ext cx="2286000" cy="1907553"/>
            <a:chOff x="0" y="0"/>
            <a:chExt cx="3048000" cy="25434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01875" y="714375"/>
            <a:ext cx="2857500" cy="2857500"/>
            <a:chOff x="0" y="0"/>
            <a:chExt cx="3810000" cy="381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1905000"/>
                  </a:moveTo>
                  <a:cubicBezTo>
                    <a:pt x="0" y="852932"/>
                    <a:pt x="852932" y="0"/>
                    <a:pt x="1905000" y="0"/>
                  </a:cubicBezTo>
                  <a:cubicBezTo>
                    <a:pt x="2957068" y="0"/>
                    <a:pt x="3810000" y="852932"/>
                    <a:pt x="3810000" y="1905000"/>
                  </a:cubicBezTo>
                  <a:cubicBezTo>
                    <a:pt x="3810000" y="2957068"/>
                    <a:pt x="2957068" y="3810000"/>
                    <a:pt x="1905000" y="3810000"/>
                  </a:cubicBezTo>
                  <a:cubicBezTo>
                    <a:pt x="852932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387F7F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6429375"/>
            <a:ext cx="1907553" cy="1286104"/>
            <a:chOff x="0" y="0"/>
            <a:chExt cx="2543404" cy="17148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7" b="-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3000" y="2828906"/>
            <a:ext cx="16002000" cy="438950"/>
            <a:chOff x="0" y="0"/>
            <a:chExt cx="21336000" cy="5852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36000" cy="585270"/>
            </a:xfrm>
            <a:custGeom>
              <a:avLst/>
              <a:gdLst/>
              <a:ahLst/>
              <a:cxnLst/>
              <a:rect r="r" b="b" t="t" l="l"/>
              <a:pathLst>
                <a:path h="58527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585270"/>
                  </a:lnTo>
                  <a:lnTo>
                    <a:pt x="0" y="58527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73523" r="0" b="-6471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336000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BU</a:t>
              </a: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SINESS INTELLIGENCE WITH POWER BI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3349571"/>
            <a:ext cx="9511553" cy="691139"/>
            <a:chOff x="0" y="0"/>
            <a:chExt cx="12682071" cy="9215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82071" cy="921512"/>
            </a:xfrm>
            <a:custGeom>
              <a:avLst/>
              <a:gdLst/>
              <a:ahLst/>
              <a:cxnLst/>
              <a:rect r="r" b="b" t="t" l="l"/>
              <a:pathLst>
                <a:path h="921512" w="12682071">
                  <a:moveTo>
                    <a:pt x="0" y="0"/>
                  </a:moveTo>
                  <a:lnTo>
                    <a:pt x="12682071" y="0"/>
                  </a:lnTo>
                  <a:lnTo>
                    <a:pt x="12682071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4387" r="-68237" b="-3878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682071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7: Loading, Modelling and Dashboards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8572500"/>
            <a:ext cx="16002000" cy="28804"/>
            <a:chOff x="0" y="0"/>
            <a:chExt cx="21336000" cy="384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9001125"/>
            <a:ext cx="385648" cy="342900"/>
            <a:chOff x="0" y="0"/>
            <a:chExt cx="514198" cy="45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4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7800" cy="585270"/>
            </a:xfrm>
            <a:custGeom>
              <a:avLst/>
              <a:gdLst/>
              <a:ahLst/>
              <a:cxnLst/>
              <a:rect r="r" b="b" t="t" l="l"/>
              <a:pathLst>
                <a:path h="585270" w="2857800">
                  <a:moveTo>
                    <a:pt x="0" y="0"/>
                  </a:moveTo>
                  <a:lnTo>
                    <a:pt x="2857800" y="0"/>
                  </a:lnTo>
                  <a:lnTo>
                    <a:pt x="2857800" y="585270"/>
                  </a:lnTo>
                  <a:lnTo>
                    <a:pt x="0" y="58527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339" r="0" b="-3194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6 of 6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43000" y="552450"/>
            <a:ext cx="2124669" cy="1845806"/>
          </a:xfrm>
          <a:custGeom>
            <a:avLst/>
            <a:gdLst/>
            <a:ahLst/>
            <a:cxnLst/>
            <a:rect r="r" b="b" t="t" l="l"/>
            <a:pathLst>
              <a:path h="1845806" w="2124669">
                <a:moveTo>
                  <a:pt x="0" y="0"/>
                </a:moveTo>
                <a:lnTo>
                  <a:pt x="2124669" y="0"/>
                </a:lnTo>
                <a:lnTo>
                  <a:pt x="2124669" y="1845806"/>
                </a:lnTo>
                <a:lnTo>
                  <a:pt x="0" y="18458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001070" y="1733550"/>
            <a:ext cx="6258230" cy="6258230"/>
            <a:chOff x="0" y="0"/>
            <a:chExt cx="8890000" cy="889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270611" y="0"/>
                  </a:moveTo>
                  <a:lnTo>
                    <a:pt x="8619389" y="0"/>
                  </a:lnTo>
                  <a:cubicBezTo>
                    <a:pt x="8768843" y="0"/>
                    <a:pt x="8890000" y="121157"/>
                    <a:pt x="8890000" y="270611"/>
                  </a:cubicBezTo>
                  <a:lnTo>
                    <a:pt x="8890000" y="8619389"/>
                  </a:lnTo>
                  <a:cubicBezTo>
                    <a:pt x="8890000" y="8768843"/>
                    <a:pt x="8768843" y="8890000"/>
                    <a:pt x="8619389" y="8890000"/>
                  </a:cubicBezTo>
                  <a:lnTo>
                    <a:pt x="270611" y="8890000"/>
                  </a:lnTo>
                  <a:cubicBezTo>
                    <a:pt x="121157" y="8890000"/>
                    <a:pt x="0" y="8768843"/>
                    <a:pt x="0" y="8619389"/>
                  </a:cubicBezTo>
                  <a:lnTo>
                    <a:pt x="0" y="270611"/>
                  </a:lnTo>
                  <a:cubicBezTo>
                    <a:pt x="0" y="121157"/>
                    <a:pt x="121157" y="0"/>
                    <a:pt x="270611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43000" y="4116229"/>
            <a:ext cx="572770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9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</a:t>
            </a:r>
            <a:r>
              <a:rPr lang="en-US" b="true" sz="9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  <a:p>
            <a:pPr algn="l">
              <a:lnSpc>
                <a:spcPts val="11250"/>
              </a:lnSpc>
            </a:pPr>
            <a:r>
              <a:rPr lang="en-US" b="true" sz="9000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Kick-off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270704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By the end of this topic, the trainee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can…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876550"/>
            <a:ext cx="4869180" cy="4800600"/>
            <a:chOff x="0" y="0"/>
            <a:chExt cx="6492240" cy="640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9224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92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309360" y="0"/>
                  </a:lnTo>
                  <a:cubicBezTo>
                    <a:pt x="6410325" y="0"/>
                    <a:pt x="6492240" y="81915"/>
                    <a:pt x="6492240" y="182880"/>
                  </a:cubicBezTo>
                  <a:lnTo>
                    <a:pt x="6492240" y="6217920"/>
                  </a:lnTo>
                  <a:cubicBezTo>
                    <a:pt x="6492240" y="6318885"/>
                    <a:pt x="6410325" y="6400800"/>
                    <a:pt x="630936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2876550"/>
            <a:ext cx="4869180" cy="123444"/>
            <a:chOff x="0" y="0"/>
            <a:chExt cx="6492240" cy="164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92240" cy="164592"/>
            </a:xfrm>
            <a:custGeom>
              <a:avLst/>
              <a:gdLst/>
              <a:ahLst/>
              <a:cxnLst/>
              <a:rect r="r" b="b" t="t" l="l"/>
              <a:pathLst>
                <a:path h="1645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838545" y="3545681"/>
            <a:ext cx="1020890" cy="1020890"/>
            <a:chOff x="0" y="0"/>
            <a:chExt cx="1361186" cy="1361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855214" y="3562350"/>
            <a:ext cx="987552" cy="987552"/>
            <a:chOff x="0" y="0"/>
            <a:chExt cx="1316736" cy="13167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865370"/>
            <a:ext cx="4869180" cy="685800"/>
            <a:chOff x="0" y="0"/>
            <a:chExt cx="649224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492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State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25880" y="5602605"/>
            <a:ext cx="404622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</a:pPr>
            <a:r>
              <a:rPr lang="en-US" sz="20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their capstone business question in one sentence.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195060" y="2876550"/>
            <a:ext cx="4869180" cy="4800600"/>
            <a:chOff x="0" y="0"/>
            <a:chExt cx="6492240" cy="640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9224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92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309360" y="0"/>
                  </a:lnTo>
                  <a:cubicBezTo>
                    <a:pt x="6410325" y="0"/>
                    <a:pt x="6492240" y="81915"/>
                    <a:pt x="6492240" y="182880"/>
                  </a:cubicBezTo>
                  <a:lnTo>
                    <a:pt x="6492240" y="6217920"/>
                  </a:lnTo>
                  <a:cubicBezTo>
                    <a:pt x="6492240" y="6318885"/>
                    <a:pt x="6410325" y="6400800"/>
                    <a:pt x="630936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195060" y="2876550"/>
            <a:ext cx="4869180" cy="123444"/>
            <a:chOff x="0" y="0"/>
            <a:chExt cx="6492240" cy="164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92240" cy="164592"/>
            </a:xfrm>
            <a:custGeom>
              <a:avLst/>
              <a:gdLst/>
              <a:ahLst/>
              <a:cxnLst/>
              <a:rect r="r" b="b" t="t" l="l"/>
              <a:pathLst>
                <a:path h="1645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119205" y="3545681"/>
            <a:ext cx="1020890" cy="1020890"/>
            <a:chOff x="0" y="0"/>
            <a:chExt cx="1361186" cy="13611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135874" y="3562350"/>
            <a:ext cx="987552" cy="987552"/>
            <a:chOff x="0" y="0"/>
            <a:chExt cx="1316736" cy="13167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195060" y="4865370"/>
            <a:ext cx="4869180" cy="685800"/>
            <a:chOff x="0" y="0"/>
            <a:chExt cx="649224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492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Justify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606540" y="5602605"/>
            <a:ext cx="404622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</a:pPr>
            <a:r>
              <a:rPr lang="en-US" sz="20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their selected dataset against the sign-off checklist.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475720" y="2876550"/>
            <a:ext cx="4869180" cy="4800600"/>
            <a:chOff x="0" y="0"/>
            <a:chExt cx="6492240" cy="640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9224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92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309360" y="0"/>
                  </a:lnTo>
                  <a:cubicBezTo>
                    <a:pt x="6410325" y="0"/>
                    <a:pt x="6492240" y="81915"/>
                    <a:pt x="6492240" y="182880"/>
                  </a:cubicBezTo>
                  <a:lnTo>
                    <a:pt x="6492240" y="6217920"/>
                  </a:lnTo>
                  <a:cubicBezTo>
                    <a:pt x="6492240" y="6318885"/>
                    <a:pt x="6410325" y="6400800"/>
                    <a:pt x="630936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475720" y="2876550"/>
            <a:ext cx="4869180" cy="123444"/>
            <a:chOff x="0" y="0"/>
            <a:chExt cx="6492240" cy="164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92240" cy="164592"/>
            </a:xfrm>
            <a:custGeom>
              <a:avLst/>
              <a:gdLst/>
              <a:ahLst/>
              <a:cxnLst/>
              <a:rect r="r" b="b" t="t" l="l"/>
              <a:pathLst>
                <a:path h="1645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399865" y="3545681"/>
            <a:ext cx="1020890" cy="1020890"/>
            <a:chOff x="0" y="0"/>
            <a:chExt cx="1361186" cy="13611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416534" y="3562350"/>
            <a:ext cx="987552" cy="987552"/>
            <a:chOff x="0" y="0"/>
            <a:chExt cx="1316736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75720" y="4865370"/>
            <a:ext cx="4869180" cy="685800"/>
            <a:chOff x="0" y="0"/>
            <a:chExt cx="649224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492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Agree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887200" y="5602605"/>
            <a:ext cx="404622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</a:pPr>
            <a:r>
              <a:rPr lang="en-US" sz="20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milestone plan with their assigned mentor.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4500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Five milestones.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One dataset you cannot swap out cheaply.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3090491"/>
            <a:ext cx="4389120" cy="2880360"/>
            <a:chOff x="0" y="0"/>
            <a:chExt cx="5852160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199" t="0" r="-3419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5852160" cy="403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65860" y="5688911"/>
            <a:ext cx="4114800" cy="131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milestones between today and the panel that scores your final work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66460" y="3227651"/>
            <a:ext cx="9806940" cy="2948940"/>
            <a:chOff x="0" y="0"/>
            <a:chExt cx="13075920" cy="393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592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307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893040" y="0"/>
                  </a:lnTo>
                  <a:cubicBezTo>
                    <a:pt x="12994005" y="0"/>
                    <a:pt x="13075920" y="81915"/>
                    <a:pt x="13075920" y="182880"/>
                  </a:cubicBezTo>
                  <a:lnTo>
                    <a:pt x="13075920" y="3749040"/>
                  </a:lnTo>
                  <a:cubicBezTo>
                    <a:pt x="13075920" y="3850005"/>
                    <a:pt x="12994005" y="3931920"/>
                    <a:pt x="1289304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77940" y="3570551"/>
            <a:ext cx="8983980" cy="2331720"/>
            <a:chOff x="0" y="0"/>
            <a:chExt cx="11978640" cy="3108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786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5074" r="0" b="-250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33350"/>
              <a:ext cx="11978640" cy="3242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31"/>
                </a:lnSpc>
              </a:pPr>
              <a:r>
                <a:rPr lang="en-US" sz="25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 will stand in front of a panel of industry judges and defend a piece of work you chose today.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66460" y="6519491"/>
            <a:ext cx="9806940" cy="2057400"/>
            <a:chOff x="0" y="0"/>
            <a:chExt cx="13075920" cy="274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075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0759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2911328" y="0"/>
                  </a:lnTo>
                  <a:cubicBezTo>
                    <a:pt x="13002261" y="0"/>
                    <a:pt x="13075920" y="73660"/>
                    <a:pt x="13075920" y="164592"/>
                  </a:cubicBezTo>
                  <a:lnTo>
                    <a:pt x="13075920" y="2578608"/>
                  </a:lnTo>
                  <a:cubicBezTo>
                    <a:pt x="13075920" y="2669540"/>
                    <a:pt x="13002261" y="2743200"/>
                    <a:pt x="12911328" y="2743200"/>
                  </a:cubicBezTo>
                  <a:lnTo>
                    <a:pt x="164592" y="2743200"/>
                  </a:lnTo>
                  <a:cubicBezTo>
                    <a:pt x="73660" y="2743200"/>
                    <a:pt x="0" y="2669540"/>
                    <a:pt x="0" y="25786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966460" y="6519491"/>
            <a:ext cx="102870" cy="2057400"/>
            <a:chOff x="0" y="0"/>
            <a:chExt cx="137160" cy="274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1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515100" y="6708086"/>
            <a:ext cx="8983980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Between now and then: several weeks of real work, one dataset. The dataset is the decision you cannot take back cheaply, which is why today is not a formality.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25710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Five milestones, two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modules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47725" y="2474595"/>
            <a:ext cx="14744700" cy="1344168"/>
            <a:chOff x="0" y="0"/>
            <a:chExt cx="19659600" cy="17922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90625" y="2803779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90625" y="2803779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50745" y="2611755"/>
            <a:ext cx="5760720" cy="480060"/>
            <a:chOff x="0" y="0"/>
            <a:chExt cx="768096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Proposal and data collection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150745" y="3067431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An approved proposal stating the business question, dataset, method and planned deliverables.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986385" y="2872359"/>
            <a:ext cx="2263140" cy="548640"/>
            <a:chOff x="0" y="0"/>
            <a:chExt cx="30175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986385" y="2872359"/>
            <a:ext cx="2263140" cy="548640"/>
            <a:chOff x="0" y="0"/>
            <a:chExt cx="3017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8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955923"/>
            <a:ext cx="14744700" cy="1344168"/>
            <a:chOff x="0" y="0"/>
            <a:chExt cx="19659600" cy="17922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90625" y="428510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90625" y="4285107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50745" y="4093083"/>
            <a:ext cx="5760720" cy="480060"/>
            <a:chOff x="0" y="0"/>
            <a:chExt cx="768096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Cleaning and analysis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150745" y="4548759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 cleaned, documented dataset and preliminary findings, with a verification note showing how data quality was confirmed.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986385" y="4353687"/>
            <a:ext cx="2263140" cy="548640"/>
            <a:chOff x="0" y="0"/>
            <a:chExt cx="30175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986385" y="4353687"/>
            <a:ext cx="2263140" cy="548640"/>
            <a:chOff x="0" y="0"/>
            <a:chExt cx="3017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9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47725" y="5437251"/>
            <a:ext cx="14744700" cy="1344168"/>
            <a:chOff x="0" y="0"/>
            <a:chExt cx="19659600" cy="17922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90625" y="5766435"/>
            <a:ext cx="685800" cy="685800"/>
            <a:chOff x="0" y="0"/>
            <a:chExt cx="914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90625" y="5766435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50745" y="5574411"/>
            <a:ext cx="5760720" cy="480060"/>
            <a:chOff x="0" y="0"/>
            <a:chExt cx="768096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Mentor checkpoint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150745" y="6030087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Responsible practice review: defend your analysis at a structured mentor review, and present a completed responsible data and AI record.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986385" y="5835015"/>
            <a:ext cx="2263140" cy="548640"/>
            <a:chOff x="0" y="0"/>
            <a:chExt cx="3017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986385" y="5835015"/>
            <a:ext cx="2263140" cy="548640"/>
            <a:chOff x="0" y="0"/>
            <a:chExt cx="30175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9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47725" y="6918579"/>
            <a:ext cx="14744700" cy="1344168"/>
            <a:chOff x="0" y="0"/>
            <a:chExt cx="19659600" cy="17922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90625" y="7247763"/>
            <a:ext cx="685800" cy="685800"/>
            <a:chOff x="0" y="0"/>
            <a:chExt cx="91440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90625" y="7247763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150745" y="7055739"/>
            <a:ext cx="5760720" cy="480060"/>
            <a:chOff x="0" y="0"/>
            <a:chExt cx="768096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Dashboard, report and portfolio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2150745" y="7511415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 working dashboard and a written report structured as an insight narrative, published to GitHub with a prompt log.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986385" y="7316343"/>
            <a:ext cx="2263140" cy="548640"/>
            <a:chOff x="0" y="0"/>
            <a:chExt cx="301752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986385" y="7316343"/>
            <a:ext cx="2263140" cy="548640"/>
            <a:chOff x="0" y="0"/>
            <a:chExt cx="301752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9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47725" y="8399907"/>
            <a:ext cx="14744700" cy="1344168"/>
            <a:chOff x="0" y="0"/>
            <a:chExt cx="19659600" cy="179222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90625" y="8729091"/>
            <a:ext cx="685800" cy="685800"/>
            <a:chOff x="0" y="0"/>
            <a:chExt cx="91440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90625" y="8729091"/>
            <a:ext cx="685800" cy="685800"/>
            <a:chOff x="0" y="0"/>
            <a:chExt cx="914400" cy="914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M5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2150745" y="8537067"/>
            <a:ext cx="5760720" cy="480060"/>
            <a:chOff x="0" y="0"/>
            <a:chExt cx="7680960" cy="6400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Panel presentation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2150745" y="8992743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Present your project to a panel of judges, answer technical and business questions, and justify where and how AI was used.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2986385" y="8797671"/>
            <a:ext cx="2263140" cy="548640"/>
            <a:chOff x="0" y="0"/>
            <a:chExt cx="301752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986385" y="8797671"/>
            <a:ext cx="2263140" cy="548640"/>
            <a:chOff x="0" y="0"/>
            <a:chExt cx="301752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9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249878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question comes before the dataset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4875" y="2567178"/>
            <a:ext cx="7063740" cy="4869180"/>
            <a:chOff x="0" y="0"/>
            <a:chExt cx="9418320" cy="6492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18320" cy="6492240"/>
            </a:xfrm>
            <a:custGeom>
              <a:avLst/>
              <a:gdLst/>
              <a:ahLst/>
              <a:cxnLst/>
              <a:rect r="r" b="b" t="t" l="l"/>
              <a:pathLst>
                <a:path h="649224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6309360"/>
                  </a:lnTo>
                  <a:cubicBezTo>
                    <a:pt x="9418320" y="6410325"/>
                    <a:pt x="9336405" y="6492240"/>
                    <a:pt x="923544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4875" y="2567178"/>
            <a:ext cx="7063740" cy="685800"/>
            <a:chOff x="0" y="0"/>
            <a:chExt cx="941832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A8322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04875" y="2567178"/>
            <a:ext cx="7063740" cy="685800"/>
            <a:chOff x="0" y="0"/>
            <a:chExt cx="941832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0695" r="0" b="-1506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4183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b="true" sz="1875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NOT YET A QUESTION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16355" y="3527298"/>
            <a:ext cx="6240780" cy="1234440"/>
            <a:chOff x="0" y="0"/>
            <a:chExt cx="8321040" cy="1645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✕  “Analysis of Nigerian fintech data.” A topic, not a question.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16355" y="4898898"/>
            <a:ext cx="6240780" cy="1234440"/>
            <a:chOff x="0" y="0"/>
            <a:chExt cx="832104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✕  “Explore the relationship between variables.” No decision attached.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16355" y="6270498"/>
            <a:ext cx="6240780" cy="1234440"/>
            <a:chOff x="0" y="0"/>
            <a:chExt cx="832104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✕  “Build a dashboard for a company.” A deliverable, not a question.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585835" y="2567178"/>
            <a:ext cx="7063740" cy="4869180"/>
            <a:chOff x="0" y="0"/>
            <a:chExt cx="9418320" cy="6492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18320" cy="6492240"/>
            </a:xfrm>
            <a:custGeom>
              <a:avLst/>
              <a:gdLst/>
              <a:ahLst/>
              <a:cxnLst/>
              <a:rect r="r" b="b" t="t" l="l"/>
              <a:pathLst>
                <a:path h="649224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6309360"/>
                  </a:lnTo>
                  <a:cubicBezTo>
                    <a:pt x="9418320" y="6410325"/>
                    <a:pt x="9336405" y="6492240"/>
                    <a:pt x="923544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585835" y="2567178"/>
            <a:ext cx="7063740" cy="685800"/>
            <a:chOff x="0" y="0"/>
            <a:chExt cx="941832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85835" y="2567178"/>
            <a:ext cx="7063740" cy="685800"/>
            <a:chOff x="0" y="0"/>
            <a:chExt cx="941832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0695" r="0" b="-15069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4183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b="true" sz="1875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QUESTION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97315" y="3527298"/>
            <a:ext cx="6240780" cy="1234440"/>
            <a:chOff x="0" y="0"/>
            <a:chExt cx="832104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✓  “Which branches lose the most revenue to stock-outs, and does it vary by day of week?”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97315" y="4898898"/>
            <a:ext cx="6240780" cy="1234440"/>
            <a:chOff x="0" y="0"/>
            <a:chExt cx="8321040" cy="1645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✓  “Do failed transactions cluster around particular banks or times?”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97315" y="6270498"/>
            <a:ext cx="6240780" cy="1234440"/>
            <a:chOff x="0" y="0"/>
            <a:chExt cx="8321040" cy="1645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✓  “Which farm inputs correlate with yield differences across cooperatives?”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4875" y="7710678"/>
            <a:ext cx="14744700" cy="1371600"/>
            <a:chOff x="0" y="0"/>
            <a:chExt cx="19659600" cy="1828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65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664208"/>
                  </a:lnTo>
                  <a:cubicBezTo>
                    <a:pt x="19659600" y="1755140"/>
                    <a:pt x="19585939" y="1828800"/>
                    <a:pt x="1949500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04875" y="7710678"/>
            <a:ext cx="102870" cy="1371600"/>
            <a:chOff x="0" y="0"/>
            <a:chExt cx="137160" cy="1828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71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53515" y="7710678"/>
            <a:ext cx="13853160" cy="1371600"/>
            <a:chOff x="0" y="0"/>
            <a:chExt cx="18470880" cy="1828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470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18470880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sz="22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Test: could a named person act differently depending on the answer? If not, it is a topic.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59671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 template, if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you are stuck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2975" y="2526030"/>
            <a:ext cx="14744700" cy="2194560"/>
            <a:chOff x="0" y="0"/>
            <a:chExt cx="19659600" cy="2926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2743200"/>
                  </a:lnTo>
                  <a:cubicBezTo>
                    <a:pt x="19659600" y="2844165"/>
                    <a:pt x="19577684" y="2926080"/>
                    <a:pt x="19476720" y="2926080"/>
                  </a:cubicBezTo>
                  <a:lnTo>
                    <a:pt x="182880" y="2926080"/>
                  </a:lnTo>
                  <a:cubicBezTo>
                    <a:pt x="81915" y="2926080"/>
                    <a:pt x="0" y="2844165"/>
                    <a:pt x="0" y="2743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23035" y="2800350"/>
            <a:ext cx="13853160" cy="1645920"/>
            <a:chOff x="0" y="0"/>
            <a:chExt cx="1847088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70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999" r="0" b="-11399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847088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84"/>
                </a:lnSpc>
              </a:pPr>
              <a:r>
                <a:rPr lang="en-US" sz="25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“For [named decision maker] at [type of organisation], [what varies] across [dimension], and [what should they do about it]?”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2975" y="4994910"/>
            <a:ext cx="14744700" cy="2400300"/>
            <a:chOff x="0" y="0"/>
            <a:chExt cx="19659600" cy="320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6596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3017520"/>
                  </a:lnTo>
                  <a:cubicBezTo>
                    <a:pt x="19659600" y="3118485"/>
                    <a:pt x="19577684" y="3200400"/>
                    <a:pt x="19476720" y="3200400"/>
                  </a:cubicBezTo>
                  <a:lnTo>
                    <a:pt x="182880" y="3200400"/>
                  </a:lnTo>
                  <a:cubicBezTo>
                    <a:pt x="81915" y="3200400"/>
                    <a:pt x="0" y="3118485"/>
                    <a:pt x="0" y="301752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23035" y="5193030"/>
            <a:ext cx="1385316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165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WORKED EXAMPLE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3035" y="5634990"/>
            <a:ext cx="13853160" cy="162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250" i="true">
                <a:solidFill>
                  <a:srgbClr val="0A1A2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“For the operations manager at a Lagos last-mile delivery firm, how does on-time performance vary across routes and riders, and where should she intervene first?”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2975" y="7738110"/>
            <a:ext cx="14744700" cy="1371600"/>
            <a:chOff x="0" y="0"/>
            <a:chExt cx="1965960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65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664208"/>
                  </a:lnTo>
                  <a:cubicBezTo>
                    <a:pt x="19659600" y="1755140"/>
                    <a:pt x="19585939" y="1828800"/>
                    <a:pt x="1949500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2975" y="7738110"/>
            <a:ext cx="102870" cy="1371600"/>
            <a:chOff x="0" y="0"/>
            <a:chExt cx="13716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1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91615" y="7738110"/>
            <a:ext cx="13853160" cy="1371600"/>
            <a:chOff x="0" y="0"/>
            <a:chExt cx="1847088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470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84708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2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That is SwiftRoute. You have spent this whole module inside a well-formed capstone question without noticing.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689057" y="30904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0392" y="480060"/>
            <a:ext cx="4389120" cy="2880360"/>
            <a:chOff x="0" y="0"/>
            <a:chExt cx="5852160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199" t="0" r="-3419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5852160" cy="403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 b="true">
                  <a:solidFill>
                    <a:srgbClr val="2F63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9848" y="3730752"/>
            <a:ext cx="10149840" cy="466344"/>
            <a:chOff x="0" y="0"/>
            <a:chExt cx="13533120" cy="62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33120" cy="621792"/>
            </a:xfrm>
            <a:custGeom>
              <a:avLst/>
              <a:gdLst/>
              <a:ahLst/>
              <a:cxnLst/>
              <a:rect r="r" b="b" t="t" l="l"/>
              <a:pathLst>
                <a:path h="621792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4086" r="0" b="-3740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35331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75">
                  <a:solidFill>
                    <a:srgbClr val="8FBE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 ONE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9848" y="4361688"/>
            <a:ext cx="1851660" cy="116586"/>
            <a:chOff x="0" y="0"/>
            <a:chExt cx="2468880" cy="155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68880" cy="155448"/>
            </a:xfrm>
            <a:custGeom>
              <a:avLst/>
              <a:gdLst/>
              <a:ahLst/>
              <a:cxnLst/>
              <a:rect r="r" b="b" t="t" l="l"/>
              <a:pathLst>
                <a:path h="15544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55448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69848" y="4732020"/>
            <a:ext cx="11109960" cy="2194560"/>
            <a:chOff x="0" y="0"/>
            <a:chExt cx="14813280" cy="2926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813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643" r="0" b="-486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4813280" cy="3030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98"/>
                </a:lnSpc>
              </a:pPr>
              <a:r>
                <a:rPr lang="en-US" sz="5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sign-off checklist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920" y="7283196"/>
            <a:ext cx="9875520" cy="466344"/>
            <a:chOff x="0" y="0"/>
            <a:chExt cx="13167360" cy="6217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Four criteria. All four, or not yet.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5920" y="7859268"/>
            <a:ext cx="9875520" cy="466344"/>
            <a:chOff x="0" y="0"/>
            <a:chExt cx="13167360" cy="6217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Five places to look for real data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8435340"/>
            <a:ext cx="9875520" cy="466344"/>
            <a:chOff x="0" y="0"/>
            <a:chExt cx="13167360" cy="621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Three traps that cost marks every cohort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67372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Four criteria.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All four, or not yet.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5825" y="2583180"/>
            <a:ext cx="7063740" cy="2263140"/>
            <a:chOff x="0" y="0"/>
            <a:chExt cx="9418320" cy="3017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183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2834640"/>
                  </a:lnTo>
                  <a:cubicBezTo>
                    <a:pt x="9418320" y="2935605"/>
                    <a:pt x="9336405" y="3017520"/>
                    <a:pt x="923544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69873" y="2912364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69873" y="2912364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57425" y="2788920"/>
            <a:ext cx="5349240" cy="548640"/>
            <a:chOff x="0" y="0"/>
            <a:chExt cx="71323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7132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69873" y="3779520"/>
            <a:ext cx="6309360" cy="97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2"/>
              </a:lnSpc>
            </a:pPr>
            <a:r>
              <a:rPr lang="en-US" sz="15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An actual dataset from a real source, not generated by you and not generated by an AI tool. Named source, recorded licence permitting educational reuse.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66785" y="2583180"/>
            <a:ext cx="7063740" cy="2263140"/>
            <a:chOff x="0" y="0"/>
            <a:chExt cx="9418320" cy="3017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183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2834640"/>
                  </a:lnTo>
                  <a:cubicBezTo>
                    <a:pt x="9418320" y="2935605"/>
                    <a:pt x="9336405" y="3017520"/>
                    <a:pt x="923544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50833" y="2912364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950833" y="2912364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38385" y="2788920"/>
            <a:ext cx="5349240" cy="548640"/>
            <a:chOff x="0" y="0"/>
            <a:chExt cx="71323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7132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Sufficient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950833" y="3779520"/>
            <a:ext cx="6309360" cy="97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2"/>
              </a:lnSpc>
            </a:pPr>
            <a:r>
              <a:rPr lang="en-US" sz="15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Enough rows that the analysis is meaningful and a dashboard has something to show. As a working floor: several hundred rows, more than one useful dimension to break them down by.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85825" y="5120640"/>
            <a:ext cx="7063740" cy="2263140"/>
            <a:chOff x="0" y="0"/>
            <a:chExt cx="9418320" cy="3017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183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2834640"/>
                  </a:lnTo>
                  <a:cubicBezTo>
                    <a:pt x="9418320" y="2935605"/>
                    <a:pt x="9336405" y="3017520"/>
                    <a:pt x="923544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9873" y="5449824"/>
            <a:ext cx="754380" cy="754380"/>
            <a:chOff x="0" y="0"/>
            <a:chExt cx="100584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69873" y="5449824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257425" y="5326380"/>
            <a:ext cx="5349240" cy="548640"/>
            <a:chOff x="0" y="0"/>
            <a:chExt cx="71323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7132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personal data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66785" y="5120640"/>
            <a:ext cx="7063740" cy="2263140"/>
            <a:chOff x="0" y="0"/>
            <a:chExt cx="9418320" cy="3017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4183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2834640"/>
                  </a:lnTo>
                  <a:cubicBezTo>
                    <a:pt x="9418320" y="2935605"/>
                    <a:pt x="9336405" y="3017520"/>
                    <a:pt x="923544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950833" y="5449824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950833" y="5449824"/>
            <a:ext cx="754380" cy="754380"/>
            <a:chOff x="0" y="0"/>
            <a:chExt cx="100584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38385" y="5326380"/>
            <a:ext cx="5349240" cy="548640"/>
            <a:chOff x="0" y="0"/>
            <a:chExt cx="71323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7132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Genuine question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94218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Five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places to find a dataset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71550" y="2400300"/>
            <a:ext cx="14744700" cy="987552"/>
            <a:chOff x="0" y="0"/>
            <a:chExt cx="19659600" cy="1316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4450" y="2606040"/>
            <a:ext cx="576072" cy="576072"/>
            <a:chOff x="0" y="0"/>
            <a:chExt cx="768096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4450" y="2606040"/>
            <a:ext cx="576072" cy="576072"/>
            <a:chOff x="0" y="0"/>
            <a:chExt cx="768096" cy="7680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05990" y="2510028"/>
            <a:ext cx="4937760" cy="438912"/>
            <a:chOff x="0" y="0"/>
            <a:chExt cx="658368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Kaggle Datasets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05990" y="2921508"/>
            <a:ext cx="4937760" cy="384048"/>
            <a:chOff x="0" y="0"/>
            <a:chExt cx="658368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kaggle.com/datasets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86650" y="2400300"/>
            <a:ext cx="8092440" cy="987552"/>
            <a:chOff x="0" y="0"/>
            <a:chExt cx="10789920" cy="13167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The widest selection. Filter by licence.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550" y="3566160"/>
            <a:ext cx="14744700" cy="987552"/>
            <a:chOff x="0" y="0"/>
            <a:chExt cx="19659600" cy="1316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14450" y="3771900"/>
            <a:ext cx="576072" cy="576072"/>
            <a:chOff x="0" y="0"/>
            <a:chExt cx="768096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14450" y="3771900"/>
            <a:ext cx="576072" cy="576072"/>
            <a:chOff x="0" y="0"/>
            <a:chExt cx="768096" cy="7680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05990" y="3675888"/>
            <a:ext cx="4937760" cy="438912"/>
            <a:chOff x="0" y="0"/>
            <a:chExt cx="6583680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National Bureau of Statistics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205990" y="4087368"/>
            <a:ext cx="4937760" cy="384048"/>
            <a:chOff x="0" y="0"/>
            <a:chExt cx="6583680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nigerianstat.gov.ng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86650" y="3566160"/>
            <a:ext cx="8092440" cy="987552"/>
            <a:chOff x="0" y="0"/>
            <a:chExt cx="10789920" cy="13167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Official Nigerian economic and social data, ideal for local scenarios.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1550" y="4732020"/>
            <a:ext cx="14744700" cy="987552"/>
            <a:chOff x="0" y="0"/>
            <a:chExt cx="19659600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14450" y="4937760"/>
            <a:ext cx="576072" cy="576072"/>
            <a:chOff x="0" y="0"/>
            <a:chExt cx="768096" cy="768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14450" y="4937760"/>
            <a:ext cx="576072" cy="576072"/>
            <a:chOff x="0" y="0"/>
            <a:chExt cx="768096" cy="7680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205990" y="4841748"/>
            <a:ext cx="4937760" cy="438912"/>
            <a:chOff x="0" y="0"/>
            <a:chExt cx="658368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data.gov.ng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205990" y="5253228"/>
            <a:ext cx="4937760" cy="384048"/>
            <a:chOff x="0" y="0"/>
            <a:chExt cx="6583680" cy="512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data.gov.ng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486650" y="4732020"/>
            <a:ext cx="8092440" cy="987552"/>
            <a:chOff x="0" y="0"/>
            <a:chExt cx="10789920" cy="1316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Nigerian open government data.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1550" y="5897880"/>
            <a:ext cx="14744700" cy="987552"/>
            <a:chOff x="0" y="0"/>
            <a:chExt cx="19659600" cy="13167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14450" y="6103620"/>
            <a:ext cx="576072" cy="576072"/>
            <a:chOff x="0" y="0"/>
            <a:chExt cx="768096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14450" y="6103620"/>
            <a:ext cx="576072" cy="576072"/>
            <a:chOff x="0" y="0"/>
            <a:chExt cx="768096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205990" y="6007608"/>
            <a:ext cx="4937760" cy="438912"/>
            <a:chOff x="0" y="0"/>
            <a:chExt cx="6583680" cy="5852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World Bank Open Data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205990" y="6419088"/>
            <a:ext cx="4937760" cy="384048"/>
            <a:chOff x="0" y="0"/>
            <a:chExt cx="6583680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data.worldbank.org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486650" y="5897880"/>
            <a:ext cx="8092440" cy="987552"/>
            <a:chOff x="0" y="0"/>
            <a:chExt cx="10789920" cy="13167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Clean country-level indicators, good for trend and comparison work.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71550" y="7063740"/>
            <a:ext cx="14744700" cy="987552"/>
            <a:chOff x="0" y="0"/>
            <a:chExt cx="19659600" cy="13167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14450" y="7269480"/>
            <a:ext cx="576072" cy="576072"/>
            <a:chOff x="0" y="0"/>
            <a:chExt cx="768096" cy="7680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14450" y="7269480"/>
            <a:ext cx="576072" cy="576072"/>
            <a:chOff x="0" y="0"/>
            <a:chExt cx="768096" cy="7680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2205990" y="7173468"/>
            <a:ext cx="4937760" cy="438912"/>
            <a:chOff x="0" y="0"/>
            <a:chExt cx="6583680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 Data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205990" y="7584948"/>
            <a:ext cx="4937760" cy="384048"/>
            <a:chOff x="0" y="0"/>
            <a:chExt cx="6583680" cy="5120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data.un.org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486650" y="7063740"/>
            <a:ext cx="8092440" cy="987552"/>
            <a:chOff x="0" y="0"/>
            <a:chExt cx="10789920" cy="131673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International statistics.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71550" y="8366760"/>
            <a:ext cx="14744700" cy="1028700"/>
            <a:chOff x="0" y="0"/>
            <a:chExt cx="19659600" cy="1371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9659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207008"/>
                  </a:lnTo>
                  <a:cubicBezTo>
                    <a:pt x="19659600" y="1297940"/>
                    <a:pt x="19585939" y="1371600"/>
                    <a:pt x="19495008" y="1371600"/>
                  </a:cubicBezTo>
                  <a:lnTo>
                    <a:pt x="164592" y="1371600"/>
                  </a:lnTo>
                  <a:cubicBezTo>
                    <a:pt x="73660" y="1371600"/>
                    <a:pt x="0" y="1297940"/>
                    <a:pt x="0" y="12070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71550" y="8366760"/>
            <a:ext cx="102870" cy="1028700"/>
            <a:chOff x="0" y="0"/>
            <a:chExt cx="137160" cy="1371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7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520190" y="8366760"/>
            <a:ext cx="13853160" cy="1028700"/>
            <a:chOff x="0" y="0"/>
            <a:chExt cx="18470880" cy="1371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4708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398" r="0" b="-21239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66675"/>
              <a:ext cx="1847088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Preference, not a rule: a Nigerian dataset gives a stronger story in front of a Nigerian panel, and you will know whether the numbers are plausible.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81050"/>
            <a:ext cx="17145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FiveThree dataset choices that go wrong every cohort milestones, two</a:t>
            </a:r>
            <a:r>
              <a:rPr lang="en-US" sz="43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modules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4875" y="2769870"/>
            <a:ext cx="4594860" cy="4937760"/>
            <a:chOff x="0" y="0"/>
            <a:chExt cx="6126480" cy="6583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264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400800"/>
                  </a:lnTo>
                  <a:cubicBezTo>
                    <a:pt x="6126480" y="6501765"/>
                    <a:pt x="6044565" y="6583680"/>
                    <a:pt x="594360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4875" y="2769870"/>
            <a:ext cx="4594860" cy="123444"/>
            <a:chOff x="0" y="0"/>
            <a:chExt cx="6126480" cy="164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6480" cy="164592"/>
            </a:xfrm>
            <a:custGeom>
              <a:avLst/>
              <a:gdLst/>
              <a:ahLst/>
              <a:cxnLst/>
              <a:rect r="r" b="b" t="t" l="l"/>
              <a:pathLst>
                <a:path h="164592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790825" y="3345942"/>
            <a:ext cx="822960" cy="822960"/>
            <a:chOff x="0" y="0"/>
            <a:chExt cx="10972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90825" y="3345942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4875" y="4415790"/>
            <a:ext cx="4594860" cy="617220"/>
            <a:chOff x="0" y="0"/>
            <a:chExt cx="612648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26480" cy="822960"/>
            </a:xfrm>
            <a:custGeom>
              <a:avLst/>
              <a:gdLst/>
              <a:ahLst/>
              <a:cxnLst/>
              <a:rect r="r" b="b" t="t" l="l"/>
              <a:pathLst>
                <a:path h="82296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1264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Too clean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16355" y="5172075"/>
            <a:ext cx="3771900" cy="239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17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tidy, pre-analysed competition file leaves you nothing to demonstrate. Half your marks come from cleaning and verification, and a spotless file gives you no evidence to present.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883783" y="2769870"/>
            <a:ext cx="4594860" cy="4937760"/>
            <a:chOff x="0" y="0"/>
            <a:chExt cx="6126480" cy="6583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264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400800"/>
                  </a:lnTo>
                  <a:cubicBezTo>
                    <a:pt x="6126480" y="6501765"/>
                    <a:pt x="6044565" y="6583680"/>
                    <a:pt x="594360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83783" y="2769870"/>
            <a:ext cx="4594860" cy="123444"/>
            <a:chOff x="0" y="0"/>
            <a:chExt cx="6126480" cy="164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26480" cy="164592"/>
            </a:xfrm>
            <a:custGeom>
              <a:avLst/>
              <a:gdLst/>
              <a:ahLst/>
              <a:cxnLst/>
              <a:rect r="r" b="b" t="t" l="l"/>
              <a:pathLst>
                <a:path h="164592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69733" y="3345942"/>
            <a:ext cx="822960" cy="822960"/>
            <a:chOff x="0" y="0"/>
            <a:chExt cx="10972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769733" y="3345942"/>
            <a:ext cx="822960" cy="822960"/>
            <a:chOff x="0" y="0"/>
            <a:chExt cx="10972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883783" y="4415790"/>
            <a:ext cx="4594860" cy="617220"/>
            <a:chOff x="0" y="0"/>
            <a:chExt cx="612648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26480" cy="822960"/>
            </a:xfrm>
            <a:custGeom>
              <a:avLst/>
              <a:gdLst/>
              <a:ahLst/>
              <a:cxnLst/>
              <a:rect r="r" b="b" t="t" l="l"/>
              <a:pathLst>
                <a:path h="82296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1264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Too big or complex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295263" y="5172075"/>
            <a:ext cx="3771900" cy="239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17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Twelve million rows and forty columns is not ambition, it is time spent loading files that Module 9 cannot spare. Some of that time has to go to presentation preparation, not data wrangling.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862691" y="2769870"/>
            <a:ext cx="4594860" cy="4937760"/>
            <a:chOff x="0" y="0"/>
            <a:chExt cx="6126480" cy="6583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264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400800"/>
                  </a:lnTo>
                  <a:cubicBezTo>
                    <a:pt x="6126480" y="6501765"/>
                    <a:pt x="6044565" y="6583680"/>
                    <a:pt x="594360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862691" y="2769870"/>
            <a:ext cx="4594860" cy="123444"/>
            <a:chOff x="0" y="0"/>
            <a:chExt cx="6126480" cy="164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26480" cy="164592"/>
            </a:xfrm>
            <a:custGeom>
              <a:avLst/>
              <a:gdLst/>
              <a:ahLst/>
              <a:cxnLst/>
              <a:rect r="r" b="b" t="t" l="l"/>
              <a:pathLst>
                <a:path h="164592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748641" y="3345942"/>
            <a:ext cx="822960" cy="822960"/>
            <a:chOff x="0" y="0"/>
            <a:chExt cx="10972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748641" y="3345942"/>
            <a:ext cx="822960" cy="822960"/>
            <a:chOff x="0" y="0"/>
            <a:chExt cx="109728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62691" y="4415790"/>
            <a:ext cx="4594860" cy="617220"/>
            <a:chOff x="0" y="0"/>
            <a:chExt cx="612648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26480" cy="822960"/>
            </a:xfrm>
            <a:custGeom>
              <a:avLst/>
              <a:gdLst/>
              <a:ahLst/>
              <a:cxnLst/>
              <a:rect r="r" b="b" t="t" l="l"/>
              <a:pathLst>
                <a:path h="82296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61264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real question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274171" y="5172075"/>
            <a:ext cx="3771900" cy="239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17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most common failure. The dataset is fascinating, the trainee cannot say what decision it informs, and the panel becomes a description of columns.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336109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Decide what never enters an AI tool,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today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3925" y="2468880"/>
            <a:ext cx="14744700" cy="3291840"/>
            <a:chOff x="0" y="0"/>
            <a:chExt cx="19659600" cy="4389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4206240"/>
                  </a:lnTo>
                  <a:cubicBezTo>
                    <a:pt x="19659600" y="4307205"/>
                    <a:pt x="19577684" y="4389120"/>
                    <a:pt x="19476720" y="4389120"/>
                  </a:cubicBezTo>
                  <a:lnTo>
                    <a:pt x="182880" y="4389120"/>
                  </a:lnTo>
                  <a:cubicBezTo>
                    <a:pt x="81915" y="4389120"/>
                    <a:pt x="0" y="4307205"/>
                    <a:pt x="0" y="42062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03985" y="2628900"/>
            <a:ext cx="13853160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2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Milestone three requires a responsible data and AI record: what you handled, what did and did not go into AI tools, and how every AI-assisted output was verified. That record is assessed.</a:t>
            </a:r>
          </a:p>
          <a:p>
            <a:pPr algn="l">
              <a:lnSpc>
                <a:spcPts val="3645"/>
              </a:lnSpc>
            </a:pPr>
          </a:p>
          <a:p>
            <a:pPr algn="l">
              <a:lnSpc>
                <a:spcPts val="3645"/>
              </a:lnSpc>
            </a:pPr>
            <a:r>
              <a:rPr lang="en-US" sz="22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Start it now, on day one. Reconstructing it later from memory produces a document that is fiction.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3925" y="6035040"/>
            <a:ext cx="14744700" cy="1577340"/>
            <a:chOff x="0" y="0"/>
            <a:chExt cx="19659600" cy="2103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59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938528"/>
                  </a:lnTo>
                  <a:cubicBezTo>
                    <a:pt x="19659600" y="2029460"/>
                    <a:pt x="19585939" y="2103120"/>
                    <a:pt x="19495008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03985" y="6205728"/>
            <a:ext cx="1385316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165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OPEN A FILE TODAY WITH THREE HEADINGS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3985" y="6672072"/>
            <a:ext cx="1385316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What personal data was in the source, and what I did about it.  ·  What I have uploaded to which AI tool.  ·  How I verified each AI-assisted output.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3925" y="7886700"/>
            <a:ext cx="14744700" cy="1165860"/>
            <a:chOff x="0" y="0"/>
            <a:chExt cx="1965960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659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389888"/>
                  </a:lnTo>
                  <a:cubicBezTo>
                    <a:pt x="19659600" y="1480820"/>
                    <a:pt x="19585939" y="1554480"/>
                    <a:pt x="19495008" y="1554480"/>
                  </a:cubicBezTo>
                  <a:lnTo>
                    <a:pt x="164592" y="1554480"/>
                  </a:lnTo>
                  <a:cubicBezTo>
                    <a:pt x="73660" y="1554480"/>
                    <a:pt x="0" y="1480820"/>
                    <a:pt x="0" y="1389888"/>
                  </a:cubicBezTo>
                  <a:close/>
                </a:path>
              </a:pathLst>
            </a:custGeom>
            <a:solidFill>
              <a:srgbClr val="FBF3E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3925" y="7886700"/>
            <a:ext cx="102870" cy="1165860"/>
            <a:chOff x="0" y="0"/>
            <a:chExt cx="13716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1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72565" y="7886700"/>
            <a:ext cx="13853160" cy="1165860"/>
            <a:chOff x="0" y="0"/>
            <a:chExt cx="1847088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470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1528" r="0" b="-18152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847088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 b="true">
                  <a:solidFill>
                    <a:srgbClr val="8A5A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If your dataset contains personal data, strip it before you upload anything anywhere. Not after you have explored it. Before.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689057" y="30904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0392" y="480060"/>
            <a:ext cx="4389120" cy="2880360"/>
            <a:chOff x="0" y="0"/>
            <a:chExt cx="5852160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199" t="0" r="-3419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5852160" cy="403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 b="true">
                  <a:solidFill>
                    <a:srgbClr val="2F63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9848" y="3730752"/>
            <a:ext cx="10149840" cy="466344"/>
            <a:chOff x="0" y="0"/>
            <a:chExt cx="13533120" cy="62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33120" cy="621792"/>
            </a:xfrm>
            <a:custGeom>
              <a:avLst/>
              <a:gdLst/>
              <a:ahLst/>
              <a:cxnLst/>
              <a:rect r="r" b="b" t="t" l="l"/>
              <a:pathLst>
                <a:path h="621792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4086" r="0" b="-3740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35331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75">
                  <a:solidFill>
                    <a:srgbClr val="8FBE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 TWO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9848" y="4361688"/>
            <a:ext cx="1851660" cy="116586"/>
            <a:chOff x="0" y="0"/>
            <a:chExt cx="2468880" cy="155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68880" cy="155448"/>
            </a:xfrm>
            <a:custGeom>
              <a:avLst/>
              <a:gdLst/>
              <a:ahLst/>
              <a:cxnLst/>
              <a:rect r="r" b="b" t="t" l="l"/>
              <a:pathLst>
                <a:path h="15544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55448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69848" y="4732020"/>
            <a:ext cx="11109960" cy="2194560"/>
            <a:chOff x="0" y="0"/>
            <a:chExt cx="14813280" cy="2926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813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643" r="0" b="-486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4813280" cy="3030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98"/>
                </a:lnSpc>
              </a:pPr>
              <a:r>
                <a:rPr lang="en-US" sz="5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hour itself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920" y="7283196"/>
            <a:ext cx="9875520" cy="466344"/>
            <a:chOff x="0" y="0"/>
            <a:chExt cx="13167360" cy="6217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Twenty minutes to draft your proposal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5920" y="7859268"/>
            <a:ext cx="9875520" cy="466344"/>
            <a:chOff x="0" y="0"/>
            <a:chExt cx="13167360" cy="6217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Meet your mentor and agree a plan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8435340"/>
            <a:ext cx="9875520" cy="466344"/>
            <a:chOff x="0" y="0"/>
            <a:chExt cx="13167360" cy="621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Sign off, or a considered not yet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612656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Draft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your proposal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3000" y="1571625"/>
            <a:ext cx="8229600" cy="438912"/>
            <a:chOff x="0" y="0"/>
            <a:chExt cx="10972800" cy="5852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972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8FBE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YOUR TURN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87600" y="1303020"/>
            <a:ext cx="1851660" cy="754380"/>
            <a:chOff x="0" y="0"/>
            <a:chExt cx="246888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lnTo>
                    <a:pt x="1975104" y="0"/>
                  </a:lnTo>
                  <a:cubicBezTo>
                    <a:pt x="2247773" y="0"/>
                    <a:pt x="2468880" y="221107"/>
                    <a:pt x="2468880" y="493776"/>
                  </a:cubicBezTo>
                  <a:lnTo>
                    <a:pt x="2468880" y="512064"/>
                  </a:lnTo>
                  <a:cubicBezTo>
                    <a:pt x="2468880" y="784733"/>
                    <a:pt x="2247773" y="1005840"/>
                    <a:pt x="1975104" y="1005840"/>
                  </a:cubicBezTo>
                  <a:lnTo>
                    <a:pt x="493776" y="1005840"/>
                  </a:lnTo>
                  <a:cubicBezTo>
                    <a:pt x="221107" y="1005840"/>
                    <a:pt x="0" y="784733"/>
                    <a:pt x="0" y="512064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7600" y="1303020"/>
            <a:ext cx="1851660" cy="754380"/>
            <a:chOff x="0" y="0"/>
            <a:chExt cx="246888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271" t="0" r="-227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46888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 min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2059" y="3017520"/>
            <a:ext cx="15636240" cy="3703320"/>
            <a:chOff x="0" y="0"/>
            <a:chExt cx="20848320" cy="4937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848320" cy="4937760"/>
            </a:xfrm>
            <a:custGeom>
              <a:avLst/>
              <a:gdLst/>
              <a:ahLst/>
              <a:cxnLst/>
              <a:rect r="r" b="b" t="t" l="l"/>
              <a:pathLst>
                <a:path h="4937760" w="2084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0665439" y="0"/>
                  </a:lnTo>
                  <a:cubicBezTo>
                    <a:pt x="20766404" y="0"/>
                    <a:pt x="20848320" y="81915"/>
                    <a:pt x="20848320" y="182880"/>
                  </a:cubicBezTo>
                  <a:lnTo>
                    <a:pt x="20848320" y="4754880"/>
                  </a:lnTo>
                  <a:cubicBezTo>
                    <a:pt x="20848320" y="4855845"/>
                    <a:pt x="20766404" y="4937760"/>
                    <a:pt x="20665439" y="4937760"/>
                  </a:cubicBezTo>
                  <a:lnTo>
                    <a:pt x="182880" y="4937760"/>
                  </a:lnTo>
                  <a:cubicBezTo>
                    <a:pt x="81915" y="4937760"/>
                    <a:pt x="0" y="4855845"/>
                    <a:pt x="0" y="47548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2059" y="3017520"/>
            <a:ext cx="123444" cy="3703320"/>
            <a:chOff x="0" y="0"/>
            <a:chExt cx="164592" cy="4937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592" cy="4937760"/>
            </a:xfrm>
            <a:custGeom>
              <a:avLst/>
              <a:gdLst/>
              <a:ahLst/>
              <a:cxnLst/>
              <a:rect r="r" b="b" t="t" l="l"/>
              <a:pathLst>
                <a:path h="493776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4937760"/>
                  </a:lnTo>
                  <a:lnTo>
                    <a:pt x="0" y="493776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2119" y="3291840"/>
            <a:ext cx="14401800" cy="411480"/>
            <a:chOff x="0" y="0"/>
            <a:chExt cx="19202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202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 THE SIGN-OFF FORM, COMPLETE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2119" y="3840480"/>
            <a:ext cx="548640" cy="576072"/>
            <a:chOff x="0" y="0"/>
            <a:chExt cx="731520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768096"/>
            </a:xfrm>
            <a:custGeom>
              <a:avLst/>
              <a:gdLst/>
              <a:ahLst/>
              <a:cxnLst/>
              <a:rect r="r" b="b" t="t" l="l"/>
              <a:pathLst>
                <a:path h="7680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4718" t="0" r="-8471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315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80759" y="3840480"/>
            <a:ext cx="14264640" cy="576072"/>
            <a:chOff x="0" y="0"/>
            <a:chExt cx="19019520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1952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2486" r="0" b="-43248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19019520" cy="86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Your business question, in one sentence, using the template if it helps.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2119" y="4443984"/>
            <a:ext cx="548640" cy="576072"/>
            <a:chOff x="0" y="0"/>
            <a:chExt cx="731520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768096"/>
            </a:xfrm>
            <a:custGeom>
              <a:avLst/>
              <a:gdLst/>
              <a:ahLst/>
              <a:cxnLst/>
              <a:rect r="r" b="b" t="t" l="l"/>
              <a:pathLst>
                <a:path h="7680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4718" t="0" r="-8471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315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80759" y="4443984"/>
            <a:ext cx="14264640" cy="576072"/>
            <a:chOff x="0" y="0"/>
            <a:chExt cx="19019520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01952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2486" r="0" b="-43248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9019520" cy="86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Your named decision maker and what they would do differently depending on the answer.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32119" y="5047488"/>
            <a:ext cx="548640" cy="576072"/>
            <a:chOff x="0" y="0"/>
            <a:chExt cx="731520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768096"/>
            </a:xfrm>
            <a:custGeom>
              <a:avLst/>
              <a:gdLst/>
              <a:ahLst/>
              <a:cxnLst/>
              <a:rect r="r" b="b" t="t" l="l"/>
              <a:pathLst>
                <a:path h="7680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4718" t="0" r="-8471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315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80759" y="5047488"/>
            <a:ext cx="14264640" cy="576072"/>
            <a:chOff x="0" y="0"/>
            <a:chExt cx="19019520" cy="7680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01952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2486" r="0" b="-4324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19019520" cy="86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Your dataset: source, link, licence, row count, column count.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2119" y="5650992"/>
            <a:ext cx="548640" cy="576072"/>
            <a:chOff x="0" y="0"/>
            <a:chExt cx="73152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768096"/>
            </a:xfrm>
            <a:custGeom>
              <a:avLst/>
              <a:gdLst/>
              <a:ahLst/>
              <a:cxnLst/>
              <a:rect r="r" b="b" t="t" l="l"/>
              <a:pathLst>
                <a:path h="7680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4718" t="0" r="-8471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7315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80759" y="5650992"/>
            <a:ext cx="14264640" cy="576072"/>
            <a:chOff x="0" y="0"/>
            <a:chExt cx="19019520" cy="7680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1952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2486" r="0" b="-43248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19019520" cy="86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Your answer to each of the four checklist criteria, in one line each.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52059" y="6995160"/>
            <a:ext cx="15636240" cy="1165860"/>
            <a:chOff x="0" y="0"/>
            <a:chExt cx="20848320" cy="155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848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8483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0683728" y="0"/>
                  </a:lnTo>
                  <a:cubicBezTo>
                    <a:pt x="20774661" y="0"/>
                    <a:pt x="20848320" y="73660"/>
                    <a:pt x="20848320" y="164592"/>
                  </a:cubicBezTo>
                  <a:lnTo>
                    <a:pt x="20848320" y="1389888"/>
                  </a:lnTo>
                  <a:cubicBezTo>
                    <a:pt x="20848320" y="1480820"/>
                    <a:pt x="20774661" y="1554480"/>
                    <a:pt x="20683728" y="1554480"/>
                  </a:cubicBezTo>
                  <a:lnTo>
                    <a:pt x="164592" y="1554480"/>
                  </a:lnTo>
                  <a:cubicBezTo>
                    <a:pt x="73660" y="1554480"/>
                    <a:pt x="0" y="1480820"/>
                    <a:pt x="0" y="138988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332119" y="7184898"/>
            <a:ext cx="1481328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i="true">
                <a:solidFill>
                  <a:srgbClr val="64748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Blank fields are not acceptable. “I do not have a dataset yet” is acceptable only in the source field, and it means your form is marked not yet.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83543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mentor is not a marker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4875" y="2537460"/>
            <a:ext cx="14744700" cy="1920240"/>
            <a:chOff x="0" y="0"/>
            <a:chExt cx="19659600" cy="2560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2377440"/>
                  </a:lnTo>
                  <a:cubicBezTo>
                    <a:pt x="19659600" y="2478405"/>
                    <a:pt x="19577684" y="2560320"/>
                    <a:pt x="19476720" y="2560320"/>
                  </a:cubicBezTo>
                  <a:lnTo>
                    <a:pt x="182880" y="2560320"/>
                  </a:lnTo>
                  <a:cubicBezTo>
                    <a:pt x="81915" y="2560320"/>
                    <a:pt x="0" y="2478405"/>
                    <a:pt x="0" y="2377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47775" y="2976372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47775" y="2976372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13635" y="2743200"/>
            <a:ext cx="12893040" cy="548640"/>
            <a:chOff x="0" y="0"/>
            <a:chExt cx="171907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9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7190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they are for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13635" y="3256788"/>
            <a:ext cx="12893040" cy="106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Structured checkpoints against the capstone rubric, unsticking you when the analysis stalls, telling you early when something is not working.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4875" y="4732020"/>
            <a:ext cx="14744700" cy="1920240"/>
            <a:chOff x="0" y="0"/>
            <a:chExt cx="19659600" cy="2560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659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2377440"/>
                  </a:lnTo>
                  <a:cubicBezTo>
                    <a:pt x="19659600" y="2478405"/>
                    <a:pt x="19577684" y="2560320"/>
                    <a:pt x="19476720" y="2560320"/>
                  </a:cubicBezTo>
                  <a:lnTo>
                    <a:pt x="182880" y="2560320"/>
                  </a:lnTo>
                  <a:cubicBezTo>
                    <a:pt x="81915" y="2560320"/>
                    <a:pt x="0" y="2478405"/>
                    <a:pt x="0" y="2377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47775" y="5170932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7775" y="5170932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413635" y="4937760"/>
            <a:ext cx="12893040" cy="548640"/>
            <a:chOff x="0" y="0"/>
            <a:chExt cx="171907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19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7190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they are not for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413635" y="5451348"/>
            <a:ext cx="12893040" cy="106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Doing the analysis, choosing your question, or approving work they have not seen. Arriving with nothing to show wastes your only guaranteed feedback.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04875" y="6926580"/>
            <a:ext cx="14744700" cy="1920240"/>
            <a:chOff x="0" y="0"/>
            <a:chExt cx="19659600" cy="25603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659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2377440"/>
                  </a:lnTo>
                  <a:cubicBezTo>
                    <a:pt x="19659600" y="2478405"/>
                    <a:pt x="19577684" y="2560320"/>
                    <a:pt x="19476720" y="2560320"/>
                  </a:cubicBezTo>
                  <a:lnTo>
                    <a:pt x="182880" y="2560320"/>
                  </a:lnTo>
                  <a:cubicBezTo>
                    <a:pt x="81915" y="2560320"/>
                    <a:pt x="0" y="2478405"/>
                    <a:pt x="0" y="2377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7775" y="7365492"/>
            <a:ext cx="754380" cy="754380"/>
            <a:chOff x="0" y="0"/>
            <a:chExt cx="100584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47775" y="7365492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413635" y="7132320"/>
            <a:ext cx="12893040" cy="548640"/>
            <a:chOff x="0" y="0"/>
            <a:chExt cx="171907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19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7190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Agree today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413635" y="7645908"/>
            <a:ext cx="12893040" cy="106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Meeting times, the channel you will use, and what you bring to each one. Write it on the form.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74147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happens to your form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6300" y="2537460"/>
            <a:ext cx="7063740" cy="3977640"/>
            <a:chOff x="0" y="0"/>
            <a:chExt cx="9418320" cy="5303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183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5120640"/>
                  </a:lnTo>
                  <a:cubicBezTo>
                    <a:pt x="9418320" y="5221605"/>
                    <a:pt x="9336405" y="5303520"/>
                    <a:pt x="923544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76300" y="2537460"/>
            <a:ext cx="7063740" cy="754380"/>
            <a:chOff x="0" y="0"/>
            <a:chExt cx="941832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6300" y="2537460"/>
            <a:ext cx="7063740" cy="754380"/>
            <a:chOff x="0" y="0"/>
            <a:chExt cx="941832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2450" r="0" b="-1324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4183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SIGNED OFF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56360" y="3549015"/>
            <a:ext cx="6103620" cy="269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19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 countersign it today. You proceed to Milestone 1 and present your proposal to a small group for five minutes.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557260" y="2537460"/>
            <a:ext cx="7063740" cy="3977640"/>
            <a:chOff x="0" y="0"/>
            <a:chExt cx="9418320" cy="5303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183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5120640"/>
                  </a:lnTo>
                  <a:cubicBezTo>
                    <a:pt x="9418320" y="5221605"/>
                    <a:pt x="9336405" y="5303520"/>
                    <a:pt x="923544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57260" y="2537460"/>
            <a:ext cx="7063740" cy="754380"/>
            <a:chOff x="0" y="0"/>
            <a:chExt cx="941832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57260" y="2537460"/>
            <a:ext cx="7063740" cy="754380"/>
            <a:chOff x="0" y="0"/>
            <a:chExt cx="941832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2450" r="0" b="-1324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4183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NOT YET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037320" y="3549015"/>
            <a:ext cx="6103620" cy="269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19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 tell you which criterion failed and what would fix it. You resubmit before the proposal panel. This is common and not a judgement on you.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76300" y="6858000"/>
            <a:ext cx="14744700" cy="1783080"/>
            <a:chOff x="0" y="0"/>
            <a:chExt cx="19659600" cy="2377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596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2212848"/>
                  </a:lnTo>
                  <a:cubicBezTo>
                    <a:pt x="19659600" y="2303780"/>
                    <a:pt x="19585939" y="2377440"/>
                    <a:pt x="19495008" y="2377440"/>
                  </a:cubicBezTo>
                  <a:lnTo>
                    <a:pt x="164592" y="2377440"/>
                  </a:lnTo>
                  <a:cubicBezTo>
                    <a:pt x="73660" y="2377440"/>
                    <a:pt x="0" y="2303780"/>
                    <a:pt x="0" y="221284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76300" y="6858000"/>
            <a:ext cx="102870" cy="1783080"/>
            <a:chOff x="0" y="0"/>
            <a:chExt cx="137160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71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24940" y="6978015"/>
            <a:ext cx="13853160" cy="159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025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Every decision, both kinds, is recorded in the content tracker with the reason. Whoever runs the capstone in Module 9 inherits these datasets and needs to know what was approved and why.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391418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Topic Recap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2537460"/>
            <a:ext cx="14744700" cy="1069848"/>
            <a:chOff x="0" y="0"/>
            <a:chExt cx="19659600" cy="1426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243584"/>
                  </a:lnTo>
                  <a:cubicBezTo>
                    <a:pt x="19659600" y="1344549"/>
                    <a:pt x="19577684" y="1426464"/>
                    <a:pt x="1947672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99032" y="2756916"/>
            <a:ext cx="617220" cy="617220"/>
            <a:chOff x="0" y="0"/>
            <a:chExt cx="82296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99032" y="2756916"/>
            <a:ext cx="617220" cy="617220"/>
            <a:chOff x="0" y="0"/>
            <a:chExt cx="82296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04288" y="2564892"/>
            <a:ext cx="13167360" cy="987552"/>
            <a:chOff x="0" y="0"/>
            <a:chExt cx="1755648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75564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State a capstone business question that names a decision maker and a decision.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3799332"/>
            <a:ext cx="14744700" cy="1069848"/>
            <a:chOff x="0" y="0"/>
            <a:chExt cx="19659600" cy="1426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243584"/>
                  </a:lnTo>
                  <a:cubicBezTo>
                    <a:pt x="19659600" y="1344549"/>
                    <a:pt x="19577684" y="1426464"/>
                    <a:pt x="1947672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99032" y="4018788"/>
            <a:ext cx="617220" cy="617220"/>
            <a:chOff x="0" y="0"/>
            <a:chExt cx="82296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99032" y="4018788"/>
            <a:ext cx="617220" cy="617220"/>
            <a:chOff x="0" y="0"/>
            <a:chExt cx="82296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304288" y="3826764"/>
            <a:ext cx="13167360" cy="987552"/>
            <a:chOff x="0" y="0"/>
            <a:chExt cx="17556480" cy="13167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75564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Justify a dataset against four criteria: real, sufficient, no personal data, genuine question.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5061204"/>
            <a:ext cx="14744700" cy="1069848"/>
            <a:chOff x="0" y="0"/>
            <a:chExt cx="19659600" cy="14264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243584"/>
                  </a:lnTo>
                  <a:cubicBezTo>
                    <a:pt x="19659600" y="1344549"/>
                    <a:pt x="19577684" y="1426464"/>
                    <a:pt x="1947672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99032" y="5280660"/>
            <a:ext cx="617220" cy="617220"/>
            <a:chOff x="0" y="0"/>
            <a:chExt cx="82296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99032" y="5280660"/>
            <a:ext cx="617220" cy="617220"/>
            <a:chOff x="0" y="0"/>
            <a:chExt cx="82296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304288" y="5088636"/>
            <a:ext cx="13167360" cy="987552"/>
            <a:chOff x="0" y="0"/>
            <a:chExt cx="17556480" cy="13167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75564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Name the three dataset traps and say why each one costs marks.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8700" y="6323076"/>
            <a:ext cx="14744700" cy="1069848"/>
            <a:chOff x="0" y="0"/>
            <a:chExt cx="19659600" cy="14264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243584"/>
                  </a:lnTo>
                  <a:cubicBezTo>
                    <a:pt x="19659600" y="1344549"/>
                    <a:pt x="19577684" y="1426464"/>
                    <a:pt x="1947672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99032" y="6542532"/>
            <a:ext cx="617220" cy="617220"/>
            <a:chOff x="0" y="0"/>
            <a:chExt cx="822960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99032" y="6542532"/>
            <a:ext cx="617220" cy="617220"/>
            <a:chOff x="0" y="0"/>
            <a:chExt cx="822960" cy="8229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04288" y="6350508"/>
            <a:ext cx="13167360" cy="987552"/>
            <a:chOff x="0" y="0"/>
            <a:chExt cx="17556480" cy="13167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75564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Agree a milestone plan and meeting schedule with your assigned mentor.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" y="7749540"/>
            <a:ext cx="14744700" cy="1371600"/>
            <a:chOff x="0" y="0"/>
            <a:chExt cx="1965960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65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664208"/>
                  </a:lnTo>
                  <a:cubicBezTo>
                    <a:pt x="19659600" y="1755140"/>
                    <a:pt x="19585939" y="1828800"/>
                    <a:pt x="1949500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28700" y="7749540"/>
            <a:ext cx="102870" cy="1371600"/>
            <a:chOff x="0" y="0"/>
            <a:chExt cx="13716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71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77340" y="7749540"/>
            <a:ext cx="13853160" cy="1371600"/>
            <a:chOff x="0" y="0"/>
            <a:chExt cx="18470880" cy="1828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470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184708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32"/>
                </a:lnSpc>
              </a:pPr>
              <a:r>
                <a:rPr lang="en-US" sz="2175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 have built a model, written measures you can defend, and audited an AI that was confidently wrong. You are ready for this.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388887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 is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Next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5825" y="2703616"/>
            <a:ext cx="4594860" cy="4800600"/>
            <a:chOff x="0" y="0"/>
            <a:chExt cx="6126480" cy="640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2648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217920"/>
                  </a:lnTo>
                  <a:cubicBezTo>
                    <a:pt x="6126480" y="6318885"/>
                    <a:pt x="6044565" y="6400800"/>
                    <a:pt x="594360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5825" y="2703616"/>
            <a:ext cx="4594860" cy="713232"/>
            <a:chOff x="0" y="0"/>
            <a:chExt cx="6126480" cy="9509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5825" y="2703616"/>
            <a:ext cx="4594860" cy="713232"/>
            <a:chOff x="0" y="0"/>
            <a:chExt cx="6126480" cy="9509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5528" r="0" b="-7552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12648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THIS MODULE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72810" y="3852807"/>
            <a:ext cx="1020890" cy="1020890"/>
            <a:chOff x="0" y="0"/>
            <a:chExt cx="1361186" cy="13611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689479" y="3869476"/>
            <a:ext cx="987552" cy="987552"/>
            <a:chOff x="0" y="0"/>
            <a:chExt cx="1316736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97305" y="5096296"/>
            <a:ext cx="377190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18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Submit your dashboard build and your DAX audit sheet. Both close Module 7.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864733" y="2703616"/>
            <a:ext cx="4594860" cy="4800600"/>
            <a:chOff x="0" y="0"/>
            <a:chExt cx="6126480" cy="640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2648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217920"/>
                  </a:lnTo>
                  <a:cubicBezTo>
                    <a:pt x="6126480" y="6318885"/>
                    <a:pt x="6044565" y="6400800"/>
                    <a:pt x="594360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64733" y="2703616"/>
            <a:ext cx="4594860" cy="713232"/>
            <a:chOff x="0" y="0"/>
            <a:chExt cx="6126480" cy="9509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864733" y="2703616"/>
            <a:ext cx="4594860" cy="713232"/>
            <a:chOff x="0" y="0"/>
            <a:chExt cx="6126480" cy="9509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5528" r="0" b="-7552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12648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BEFORE MODULE 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51718" y="3852807"/>
            <a:ext cx="1020890" cy="1020890"/>
            <a:chOff x="0" y="0"/>
            <a:chExt cx="1361186" cy="13611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668387" y="3869476"/>
            <a:ext cx="987552" cy="987552"/>
            <a:chOff x="0" y="0"/>
            <a:chExt cx="1316736" cy="1316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▣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276213" y="5096296"/>
            <a:ext cx="377190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18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Resubmit your sign-off form if marked not yet. Bring your dataset, loaded and inspected.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843641" y="2703616"/>
            <a:ext cx="4594860" cy="4800600"/>
            <a:chOff x="0" y="0"/>
            <a:chExt cx="6126480" cy="640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2648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217920"/>
                  </a:lnTo>
                  <a:cubicBezTo>
                    <a:pt x="6126480" y="6318885"/>
                    <a:pt x="6044565" y="6400800"/>
                    <a:pt x="594360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843641" y="2703616"/>
            <a:ext cx="4594860" cy="713232"/>
            <a:chOff x="0" y="0"/>
            <a:chExt cx="6126480" cy="9509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843641" y="2703616"/>
            <a:ext cx="4594860" cy="713232"/>
            <a:chOff x="0" y="0"/>
            <a:chExt cx="6126480" cy="9509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5528" r="0" b="-7552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12648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630626" y="3852807"/>
            <a:ext cx="1020890" cy="1020890"/>
            <a:chOff x="0" y="0"/>
            <a:chExt cx="1361186" cy="136118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1B4041"/>
            </a:solidFill>
            <a:ln w="3333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647295" y="3869476"/>
            <a:ext cx="987552" cy="987552"/>
            <a:chOff x="0" y="0"/>
            <a:chExt cx="1316736" cy="13167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ƒ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255121" y="5096296"/>
            <a:ext cx="377190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Practical AI for Analytics. A full pipeline in one session, AI-assisted throughout, plus your five-minute proposal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DAHUDuksrVs</dc:identifier>
  <dcterms:modified xsi:type="dcterms:W3CDTF">2011-08-01T06:04:30Z</dcterms:modified>
  <cp:revision>1</cp:revision>
  <dc:title>7.6_Capstone Kick-off</dc:title>
</cp:coreProperties>
</file>