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(about one minute):
"Topic 7.3. Your model now knows how the tables relate to each other. What it cannot do yet is calculate anything beyond counting rows.
Today you learn DAX, and I want to set your expectations immediately. DAX has several hundred functions. You are going to learn three shapes. An aggregation, a ratio, and a time comparison. Between them they cover the substantial majority of real operational dashboards.
And you will learn something more important than any of the three, which is how to prove a measure is right before you let anyone see it."
DELIVERY CUE: the scope promise matters. Trainees who have seen DAX tutorials online arrive expecting to be overwhelmed. Tell them the scope now.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Outcome two is the assessed half and the one trainees undervalue. Say it plainly: "anyone can paste a measure. The skill is knowing whether the number it returns is true."
WHAT TO SAY (about two minutes):
"Two outcomes. Write, and verify.
Write essential DAX measures. Three shapes, and I will show you each one built from scratch.
Verify measure results against source data before trusting them. That is the half that separates an analyst from someone who can copy from the internet, and it is the half I will assess."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between 82 and 79 is not a bug. It is a definitional difference: one measure counts cancelled deliveries in the denominator and the other does not.
Do not resolve it now. You are planting the idea that a measure is a DEFINITION, and that writing measures is the act of pinning down what the business actually means. This returns at the end of the topic as "trap three", and again in Topic 7.5 where an AI-written measure fails for exactly this reason.
WHAT TO SAY (about three minutes):
"Adaeze walks over to her analyst on a Tuesday and asks this question. Our on-time rate is eighty-two percent. Why does the regional report say seventy-nine?
Now, before I tell you the answer, notice what is not wrong here. Both numbers came from the same database. Both measures were written by people who know what they are doing. Neither has a syntax error. If you ran both, both would return a number without complaint.
They disagree because they define on time differently. One of them counts cancelled deliveries in the denominator. The other throws them out first.
So here is the idea I want to plant, and we will come back to it at the end. A measure is a definition before it is a calculation. Most of the expensive errors in analytics are not arithmetic. They are definitional."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CONCEPTUAL DISTINCTION in the topic, and the one that causes the most confusion later if skipped.
A calculated column is computed once per row at load time and stored. A measure is computed on demand, per cell, and stores nothing.
ASK THE ROOM: "Should total revenue be a column or a measure?" Someone will say column. Ask them what a total revenue PER ROW would even mean. The confusion is useful and worth two minutes.
WHAT TO SAY (about four minutes):
"Two things that look similar and behave completely differently.
A calculated column is worked out once, for every row, at the moment the data loads. It is stored in the file. It takes up memory. It sits there whether or not anybody ever looks at it.
A measure is worked out on demand, at the moment a visual asks for it, and it is recalculated for every single cell of every chart. It stores nothing.
Here is the practical rule. If you want to filter or group BY something, it has to be a column, because slicers and axes need something stored. If you want an aggregated number, it should be a measure.
Default to a measure. Reach for a column only when you need the result on an axis or in a slicer."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one. Before any code, one idea. It is the idea that makes everything else in DAX make sense, and it is where most self-taught people stall."
TIMING: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THAT MAKES DAX CLICK, and it is where most self-taught people stall. Go slowly.
USE THE PHYSICAL METAPHOR: the visual hands your measure a filtered copy of the data. Your measure does simple arithmetic on whatever it was handed. It never knows what was filtered out.
The funnel on this slide is verified against the real dataset: 41,280 deliveries in total, and March deliveries made by Apapa-hub riders is 527.
WHAT TO SAY (about five minutes):
"Here is the single idea that makes DAX make sense.
Look at any one number on a dashboard. A bar in a chart of deliveries by month, and the page is filtered to the Apapa hub.
That bar is not the total. It is the total for March, for Apapa, for whatever else the page filters say. And Power BI worked that out in a specific order: first it assembled the set of filters, then it applied them to the model, and only then did it run your measure against what survived.
That set of filters has a name. It is called the filter context.
So watch what happens. We start with forty-one thousand two hundred and eighty deliveries. Filter to 2025. Filter to March. Filter to Apapa riders. Five hundred and twenty-seven survive. Your measure counts those.
You wrote the definition once. The visual supplied the question."
TIMING: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FIGURES ARE VERIFIED against the generated SwiftRoute dataset: 41,280 total, 2,960 in March, and 527 for March deliveries by Apapa-hub riders.
WHAT TO SAY (about three minutes):
"Same measure. One line of code. Look what it returns in three different places.
On a card with no filters, forty-one thousand two hundred and eighty. Every delivery in the year.
In a bar chart, on the March bar, two thousand nine hundred and sixty. Same measure, narrower context.
In a matrix cell where the row is March and the column is the Apapa hub, five hundred and twenty-seven.
You wrote that once. You did not write three measures. And this is why Power BI scales in a way that Excel does not. In Excel you write a formula for each cell. Here you write the meaning of the number once and the tool applies it everywhere."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two. Three measures. That is the whole syllabus for today."
TIMING: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ask why not just drag the field in and let Power BI auto-sum. The three reasons on the right are the answer; do not answer before showing them.
BOTH FIGURES ARE VERIFIED: 41,280 deliveries and 247,680,000 naira total revenue.
THE _MEASURES TABLE is a small housekeeping tip that trainees are disproportionately grateful for. Demo it: Home, Enter data, name it _Measures, create one blank column, hide the column. Otherwise measures scatter across five tables and nobody can find anything by the capstone.
WHAT TO SAY (about three minutes):
"Measure one. This is the whole of it.
Total Deliveries equals COUNTROWS of the deliveries table. Total Revenue equals SUM of the delivery fee column. That is it. It looks trivial and it nearly is, because the value is not in the arithmetic.
The value is in giving the calculation a name.
Three reasons. First, one definition in one place: when the business changes what counts as a delivery, you edit one measure and every visual updates. Drag-and-drop means eleven edits and one you forget.
Second, measures build on measures. Both of the measures we write next refer to Total Deliveries by name. You cannot do that with a dragged field.
Third, formatting travels with the measure. Set the naira symbol once and every visual inherits it. Naira formatting done eleven times is naira formatting done wrong at least once."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rule with a real professional payoff, and it is the kind of detail that separates a dashboard which survives contact with users from one that does not.
MENTION THE FORWARD LINK: this appears in the Topic 7.5 DAX audit, where one of four AI-written measures divides with a slash.
WHAT TO SAY (about three minutes), building both live:
"Measure two. A ratio. And there is exactly one rule: never divide with a slash.
First I need the numerator. On-Time Deliveries: CALCULATE my total, but with an extra filter, Status equals On time.
Now the rate. DIVIDE, numerator, denominator.
Why not just use the slash? Because of the rider who joined last week and has not made a delivery yet. Their denominator is zero. With a slash you get Infinity, or an error, or a blank cell that looks like missing data. And that appears on Adaeze's dashboard, in front of her, not in front of you.
DIVIDE checks the denominator first and returns blank, so the visual simply omits that rider. That is the honest outcome. There is also an optional third argument if you would rather show zero."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CALCULATE is genuinely the hardest function in DAX and you are teaching one narrow use of it. Be honest about that: "there is a lot more to this function and you will meet it again. Today you learn one shape of it and you use that shape correctly."
THE PULL LINE is the "explain it back" rule from Module 5 arriving in a new module, and it is exactly the discipline Topic 7.5 assesses. Name it, and have two trainees read the measure aloud in English before moving on.
WHAT TO SAY (about four minutes):
"You have already used CALCULATE, in measure two, and I skipped past it. Let me come back to it, because it is the most important function in DAX.
Every measure so far just accepted whatever filter context the visual handed it. CALCULATE is the one function that reaches in and changes that context before the calculation runs.
Read it as two parts. The first argument is the thing to calculate. Everything after it is an instruction that alters the filters.
So read this one aloud in English: work out my delivery count, but first, on top of whatever the visual already filtered, also require the status to be On time.
If you cannot read a measure aloud like that, you cannot verify it, and you should not ship it."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BACK AT TOPIC 7.2 EXPLICITLY. Trainees who resisted the date table now see the payoff, and closing that loop is worth more than the measure itself.
ALL FIGURES VERIFIED against the dataset: January 2,473, February 2,329, March 2,960. The blank for January is genuine and is a teaching point, not a defect.
WHAT TO SAY (about three minutes):
"Measure three. The time comparison, and this is the one that feels like magic.
Deliveries Previous Month. CALCULATE my delivery count, but instead of the dates currently in context, use those dates shifted back one month. That is DATEADD.
Then Month on Month Change is just a DIVIDE: this month minus last month, over last month.
Two lines. And notice January returns blank, because there is no December 2024 in this model. That is correct. It is not a bug and I do not want you to try to fix it.
And this only works because we have a proper date table, marked as a date table. That is what I was setting up in the last topic when you asked me why we needed a fifth file."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three. This is the half nobody does, and it is the half I will assess."
TIMING: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PREDICT-THEN-RUN again, the same technique from Module 3 and Topics 7.2 and 7.3, now applied to measures. Naming a technique every time you use it is what makes it transfer.
ALL FIGURES VERIFIED: 33,850 on-time out of 41,280 is exactly 82.0 percent.
WHAT TO SAY (about four minutes):
"Four steps, every time, and they take about ninety seconds once you are practised.
One. Predict. Before you run anything, write down the number you expect and why. On-Time Rate should be somewhere near eighty-two percent, because the SLA is ninety and Adaeze is worried about it. If the measure returns ninety-six, you know immediately something is wrong.
Two. Run it at the total level first. No slicers, no filters, one card. Get a single number you can reason about.
Three. Reconcile against a source you trust. Go into Table view, filter the raw table to Status equals On time, read the row count. Thirty-three thousand eight hundred and fifty. Does it match?
Four. Break it deliberately. Filter down to a single rider with hardly any deliveries. That is where divide-by-zero and blank handling show up, and it is much better to find them here than on Adaeze's screen."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HOOK FROM SLIDE 3 HERE. The 82 versus 79 gap was trap three.
Say plainly that the most consequential errors in analytics are definitional, not technical, and that no tool and no AI assistant will catch them for you. This is also the exact failure mode of one of the four measures in the Topic 7.5 audit, so it pays forward.
WHAT TO SAY (about four minutes):
"Three ways a measure passes every technical check and is still wrong.
One. The total is right and the breakdown is not. Errors can cancel. A measure can give you a perfect grand total while every individual row is wrong. So always check at least one row, never just the total.
Two. Blank is not zero. Blank means no rows matched. Zero means rows matched and summed to nothing. Those are completely different facts about the business, a chart draws them differently, and a manager reads them identically.
Three, and this is the one. The measure is right and the definition is wrong. Eighty-two percent can be arithmetically perfect and still be the wrong answer, if the business counts cancelled deliveries in the denominator and you did not.
Remember Adaeze at the start of this topic. Eighty-two versus seventy-nine. That was trap three.
And here is the part I need you to take seriously. Trap three cannot be caught inside Power BI. There is no button. It is caught by walking over to the person who owns the number and asking them what they mean."
TIMING: 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JANUARY is the teaching point and trainees will report it as an error. Let two or three raise it, then ask the room why a January 2025 measure looking back one month would find nothing.
EXPECTED PREDICTION for Late Rate: 18 percent, because on-time is 82 and the two must sum to 100 when Status has only two values.
FIGURES VERIFIED: revenue 247,680,000 and late rate 18.0 percent.
WHAT TO DO: walk the room. Do not answer from the front.
TIMING: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SUM-TO-100 CHECK is a clean example of reconciling against a known relationship rather than a known number, and it is worth naming as a technique in its own right.
Note the Status caveat: this reconciliation works because the Module 7 dataset has exactly two Status values. In Module 8's dirty file there are four, and the same check would correctly fail. Mention that if a sharp trainee asks.
WHAT TO SAY (about three minutes):
"Here are the three. Nothing new in any of them; it is the same three shapes.
Now look at the verification on the right, because this is the part I want you to copy.
Eighty-two percent on time. Eighteen percent late. They sum to one hundred. And that is not a coincidence I am pointing at, it is a check I can run without knowing either number in advance. If your two rates do not sum to one hundred, then your Status column contains something you did not expect.
That is reconciling against a known relationship rather than a known number, and it is often the fastest check available."
TIMING: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who have watched YouTube tutorials will ask about SUMX, CALCULATE with ALL, and variables. Answer honestly and briefly, then point at this slide.
Being explicit that the scope is a decision, not an oversight, protects your credibility. A facilitator who pretends three functions is all of DAX loses the strongest trainees.
WHAT TO SAY (about two minutes):
"Before we finish, let me tell you what I have not taught you, because I would rather you heard it from me than discovered it on YouTube tonight.
DAX has several hundred functions. There are iterator functions that behave differently from everything you saw today. There is row context, there is context transition, there are variables. None of that was on these slides.
That is a decision, not an oversight. Three measure shapes cover the substantial majority of real operational dashboards. Learn these three properly, verify them properly, and you will build reports that work and that you can defend.
When you need more, SQLBI's free Introducing DAX course is where to go. And it will make sense to you, because you already know what a filter context is."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(about two minutes):
"Four things you can do now.
Write an aggregation and explain why naming it beats dragging a field in.
Write a ratio with DIVIDE and tell me what happens when the denominator is zero.
Write a time comparison with CALCULATE and DATEADD, resting on a date table you marked yourself.
And verify any of them by predicting first, reconciling at total level, and checking a single row.
Three shapes, verified. That is most of what an operational dashboard ever needs."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THREE IS A GENUINE HOOK and trainees respond to it. Say: "two of the four are wrong, and one of them is wrong in a way that returns a completely plausible number. Your job will not be to write DAX. It will be to judge it."
WHAT TO SAY (about one minute):
"Straight into 7.4. You now have correct numbers. What you do not yet have is a decision about which of them Adaeze should see when she opens her screen, and that is a design problem rather than a DAX problem.
And I will flag what is coming in 7.5, because it is the assessed piece. You will be handed four DAX measures written by an AI assistant. Two of them are wrong. One of those two returns a number that looks completely reasonable. Your job will not be to write DAX. It will be to judge it."
TIMING: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build/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indent="0" marL="0">
              <a:buNone/>
            </a:pPr>
            <a:r>
              <a:rPr lang="en-US" sz="1250" b="1" spc="150" kern="0" dirty="0">
                <a:solidFill>
                  <a:srgbClr val="387F7F"/>
                </a:solidFill>
                <a:latin typeface="Poppins" pitchFamily="34" charset="0"/>
                <a:ea typeface="Poppins" pitchFamily="34" charset="-122"/>
                <a:cs typeface="Poppins" pitchFamily="34" charset="-120"/>
              </a:rPr>
              <a:t>BUSINESS INTELLIGENCE WITH POWER BI</a:t>
            </a:r>
            <a:endParaRPr lang="en-US" sz="125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indent="0" marL="0">
              <a:buNone/>
            </a:pPr>
            <a:r>
              <a:rPr lang="en-US" sz="1700" dirty="0">
                <a:solidFill>
                  <a:srgbClr val="64748B"/>
                </a:solidFill>
                <a:latin typeface="Poppins" pitchFamily="34" charset="0"/>
                <a:ea typeface="Poppins" pitchFamily="34" charset="-122"/>
                <a:cs typeface="Poppins" pitchFamily="34" charset="-120"/>
              </a:rPr>
              <a:t>Module 7: Loading, Modelling and Dashboards</a:t>
            </a:r>
            <a:endParaRPr lang="en-US" sz="170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indent="0" marL="0">
              <a:lnSpc>
                <a:spcPct val="103000"/>
              </a:lnSpc>
              <a:buNone/>
            </a:pPr>
            <a:r>
              <a:rPr lang="en-US" sz="4200" b="1" dirty="0">
                <a:solidFill>
                  <a:srgbClr val="0A1A23"/>
                </a:solidFill>
                <a:latin typeface="Poppins" pitchFamily="34" charset="0"/>
                <a:ea typeface="Poppins" pitchFamily="34" charset="-122"/>
                <a:cs typeface="Poppins" pitchFamily="34" charset="-120"/>
              </a:rPr>
              <a:t>DAX
</a:t>
            </a:r>
            <a:pPr indent="0" marL="0">
              <a:lnSpc>
                <a:spcPct val="103000"/>
              </a:lnSpc>
              <a:buNone/>
            </a:pPr>
            <a:r>
              <a:rPr lang="en-US" sz="4200" b="1" dirty="0">
                <a:solidFill>
                  <a:srgbClr val="387F7F"/>
                </a:solidFill>
                <a:latin typeface="Poppins" pitchFamily="34" charset="0"/>
                <a:ea typeface="Poppins" pitchFamily="34" charset="-122"/>
                <a:cs typeface="Poppins" pitchFamily="34" charset="-120"/>
              </a:rPr>
              <a:t>Fundamentals</a:t>
            </a:r>
            <a:endParaRPr lang="en-US" sz="4200" dirty="0"/>
          </a:p>
        </p:txBody>
      </p:sp>
      <p:sp>
        <p:nvSpPr>
          <p:cNvPr id="6" name="Shape 3"/>
          <p:cNvSpPr/>
          <p:nvPr/>
        </p:nvSpPr>
        <p:spPr>
          <a:xfrm>
            <a:off x="7818120" y="2148840"/>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7" name="Shape 4"/>
          <p:cNvSpPr/>
          <p:nvPr/>
        </p:nvSpPr>
        <p:spPr>
          <a:xfrm>
            <a:off x="7818120" y="2148840"/>
            <a:ext cx="68580" cy="804672"/>
          </a:xfrm>
          <a:prstGeom prst="rect">
            <a:avLst/>
          </a:prstGeom>
          <a:solidFill>
            <a:srgbClr val="387F7F"/>
          </a:solidFill>
          <a:ln/>
        </p:spPr>
      </p:sp>
      <p:sp>
        <p:nvSpPr>
          <p:cNvPr id="8" name="Text 5"/>
          <p:cNvSpPr txBox="1"/>
          <p:nvPr/>
        </p:nvSpPr>
        <p:spPr>
          <a:xfrm>
            <a:off x="8028432" y="2240280"/>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COUNTROWS ( deliveries )</a:t>
            </a:r>
            <a:endParaRPr lang="en-US" sz="1050" dirty="0"/>
          </a:p>
        </p:txBody>
      </p:sp>
      <p:sp>
        <p:nvSpPr>
          <p:cNvPr id="9" name="Text 6"/>
          <p:cNvSpPr txBox="1"/>
          <p:nvPr/>
        </p:nvSpPr>
        <p:spPr>
          <a:xfrm>
            <a:off x="8028432" y="2569464"/>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aggregation</a:t>
            </a:r>
            <a:endParaRPr lang="en-US" sz="950" dirty="0"/>
          </a:p>
        </p:txBody>
      </p:sp>
      <p:sp>
        <p:nvSpPr>
          <p:cNvPr id="10" name="Shape 7"/>
          <p:cNvSpPr/>
          <p:nvPr/>
        </p:nvSpPr>
        <p:spPr>
          <a:xfrm>
            <a:off x="7818120" y="3118104"/>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11" name="Shape 8"/>
          <p:cNvSpPr/>
          <p:nvPr/>
        </p:nvSpPr>
        <p:spPr>
          <a:xfrm>
            <a:off x="7818120" y="3118104"/>
            <a:ext cx="68580" cy="804672"/>
          </a:xfrm>
          <a:prstGeom prst="rect">
            <a:avLst/>
          </a:prstGeom>
          <a:solidFill>
            <a:srgbClr val="387F7F"/>
          </a:solidFill>
          <a:ln/>
        </p:spPr>
      </p:sp>
      <p:sp>
        <p:nvSpPr>
          <p:cNvPr id="12" name="Text 9"/>
          <p:cNvSpPr txBox="1"/>
          <p:nvPr/>
        </p:nvSpPr>
        <p:spPr>
          <a:xfrm>
            <a:off x="8028432" y="3209544"/>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DIVIDE ( [on time], [total] )</a:t>
            </a:r>
            <a:endParaRPr lang="en-US" sz="1050" dirty="0"/>
          </a:p>
        </p:txBody>
      </p:sp>
      <p:sp>
        <p:nvSpPr>
          <p:cNvPr id="13" name="Text 10"/>
          <p:cNvSpPr txBox="1"/>
          <p:nvPr/>
        </p:nvSpPr>
        <p:spPr>
          <a:xfrm>
            <a:off x="8028432" y="3538728"/>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ratio</a:t>
            </a:r>
            <a:endParaRPr lang="en-US" sz="950" dirty="0"/>
          </a:p>
        </p:txBody>
      </p:sp>
      <p:sp>
        <p:nvSpPr>
          <p:cNvPr id="14" name="Shape 11"/>
          <p:cNvSpPr/>
          <p:nvPr/>
        </p:nvSpPr>
        <p:spPr>
          <a:xfrm>
            <a:off x="7818120" y="4087368"/>
            <a:ext cx="3703320" cy="804672"/>
          </a:xfrm>
          <a:prstGeom prst="roundRect">
            <a:avLst>
              <a:gd name="adj" fmla="val 9091"/>
            </a:avLst>
          </a:prstGeom>
          <a:solidFill>
            <a:srgbClr val="10312F"/>
          </a:solidFill>
          <a:ln/>
          <a:effectLst>
            <a:outerShdw sx="100000" sy="100000" kx="0" ky="0" algn="bl" rotWithShape="0" blurRad="127000" dist="38100" dir="5400000">
              <a:srgbClr val="1B2A2E">
                <a:alpha val="18000"/>
              </a:srgbClr>
            </a:outerShdw>
          </a:effectLst>
        </p:spPr>
      </p:sp>
      <p:sp>
        <p:nvSpPr>
          <p:cNvPr id="15" name="Shape 12"/>
          <p:cNvSpPr/>
          <p:nvPr/>
        </p:nvSpPr>
        <p:spPr>
          <a:xfrm>
            <a:off x="7818120" y="4087368"/>
            <a:ext cx="68580" cy="804672"/>
          </a:xfrm>
          <a:prstGeom prst="rect">
            <a:avLst/>
          </a:prstGeom>
          <a:solidFill>
            <a:srgbClr val="387F7F"/>
          </a:solidFill>
          <a:ln/>
        </p:spPr>
      </p:sp>
      <p:sp>
        <p:nvSpPr>
          <p:cNvPr id="16" name="Text 13"/>
          <p:cNvSpPr txBox="1"/>
          <p:nvPr/>
        </p:nvSpPr>
        <p:spPr>
          <a:xfrm>
            <a:off x="8028432" y="4178808"/>
            <a:ext cx="3291840" cy="329184"/>
          </a:xfrm>
          <a:prstGeom prst="rect">
            <a:avLst/>
          </a:prstGeom>
          <a:noFill/>
          <a:ln/>
        </p:spPr>
        <p:txBody>
          <a:bodyPr wrap="square" lIns="0" tIns="0" rIns="0" bIns="0" rtlCol="0" anchor="ctr"/>
          <a:lstStyle/>
          <a:p>
            <a:pPr indent="0" marL="0">
              <a:buNone/>
            </a:pPr>
            <a:r>
              <a:rPr lang="en-US" sz="1050" dirty="0">
                <a:solidFill>
                  <a:srgbClr val="CFE6E3"/>
                </a:solidFill>
                <a:latin typeface="Roboto Mono" pitchFamily="34" charset="0"/>
                <a:ea typeface="Roboto Mono" pitchFamily="34" charset="-122"/>
                <a:cs typeface="Roboto Mono" pitchFamily="34" charset="-120"/>
              </a:rPr>
              <a:t>CALCULATE ( ..., DATEADD ( ... ) )</a:t>
            </a:r>
            <a:endParaRPr lang="en-US" sz="1050" dirty="0"/>
          </a:p>
        </p:txBody>
      </p:sp>
      <p:sp>
        <p:nvSpPr>
          <p:cNvPr id="17" name="Text 14"/>
          <p:cNvSpPr txBox="1"/>
          <p:nvPr/>
        </p:nvSpPr>
        <p:spPr>
          <a:xfrm>
            <a:off x="8028432" y="4507992"/>
            <a:ext cx="3291840" cy="274320"/>
          </a:xfrm>
          <a:prstGeom prst="rect">
            <a:avLst/>
          </a:prstGeom>
          <a:noFill/>
          <a:ln/>
        </p:spPr>
        <p:txBody>
          <a:bodyPr wrap="square" lIns="0" tIns="0" rIns="0" bIns="0" rtlCol="0" anchor="ctr"/>
          <a:lstStyle/>
          <a:p>
            <a:pPr indent="0" marL="0">
              <a:buNone/>
            </a:pPr>
            <a:r>
              <a:rPr lang="en-US" sz="950" spc="100" kern="0" dirty="0">
                <a:solidFill>
                  <a:srgbClr val="7FB3B3"/>
                </a:solidFill>
                <a:latin typeface="Poppins" pitchFamily="34" charset="0"/>
                <a:ea typeface="Poppins" pitchFamily="34" charset="-122"/>
                <a:cs typeface="Poppins" pitchFamily="34" charset="-120"/>
              </a:rPr>
              <a:t>time comparison</a:t>
            </a:r>
            <a:endParaRPr lang="en-US" sz="950" dirty="0"/>
          </a:p>
        </p:txBody>
      </p:sp>
      <p:sp>
        <p:nvSpPr>
          <p:cNvPr id="18" name="Shape 15"/>
          <p:cNvSpPr/>
          <p:nvPr/>
        </p:nvSpPr>
        <p:spPr>
          <a:xfrm>
            <a:off x="685800" y="5806440"/>
            <a:ext cx="10817352" cy="0"/>
          </a:xfrm>
          <a:prstGeom prst="line">
            <a:avLst/>
          </a:prstGeom>
          <a:noFill/>
          <a:ln w="12700">
            <a:solidFill>
              <a:srgbClr val="E2E8F0"/>
            </a:solidFill>
            <a:prstDash val="solid"/>
          </a:ln>
        </p:spPr>
      </p:sp>
      <p:pic>
        <p:nvPicPr>
          <p:cNvPr id="19" name="Image 1" descr="/home/claude/build/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20" name="Text 16"/>
          <p:cNvSpPr txBox="1"/>
          <p:nvPr/>
        </p:nvSpPr>
        <p:spPr>
          <a:xfrm>
            <a:off x="960120" y="5943600"/>
            <a:ext cx="2743200" cy="274320"/>
          </a:xfrm>
          <a:prstGeom prst="rect">
            <a:avLst/>
          </a:prstGeom>
          <a:noFill/>
          <a:ln/>
        </p:spPr>
        <p:txBody>
          <a:bodyPr wrap="square" lIns="0" tIns="0" rIns="0" bIns="0" rtlCol="0" anchor="ctr"/>
          <a:lstStyle/>
          <a:p>
            <a:pPr indent="0" marL="0">
              <a:buNone/>
            </a:pPr>
            <a:r>
              <a:rPr lang="en-US" sz="1200" dirty="0">
                <a:solidFill>
                  <a:srgbClr val="64748B"/>
                </a:solidFill>
                <a:latin typeface="Poppins" pitchFamily="34" charset="0"/>
                <a:ea typeface="Poppins" pitchFamily="34" charset="-122"/>
                <a:cs typeface="Poppins" pitchFamily="34" charset="-120"/>
              </a:rPr>
              <a:t>Topic 3 of 6</a:t>
            </a:r>
            <a:endParaRPr lang="en-US" sz="1200" dirty="0"/>
          </a:p>
        </p:txBody>
      </p:sp>
      <p:sp>
        <p:nvSpPr>
          <p:cNvPr id="21" name="Text 17"/>
          <p:cNvSpPr txBox="1"/>
          <p:nvPr/>
        </p:nvSpPr>
        <p:spPr>
          <a:xfrm>
            <a:off x="685800" y="6446520"/>
            <a:ext cx="3657600" cy="274320"/>
          </a:xfrm>
          <a:prstGeom prst="rect">
            <a:avLst/>
          </a:prstGeom>
          <a:noFill/>
          <a:ln/>
        </p:spPr>
        <p:txBody>
          <a:bodyPr wrap="square" lIns="0" tIns="0" rIns="0" bIns="0" rtlCol="0" anchor="ctr"/>
          <a:lstStyle/>
          <a:p>
            <a:pPr indent="0" marL="0">
              <a:buNone/>
            </a:pPr>
            <a:r>
              <a:rPr lang="en-US" sz="1000" b="1" spc="100" kern="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By the end of this topic, the trainee can…</a:t>
            </a:r>
            <a:endParaRPr lang="en-US" sz="2700" dirty="0"/>
          </a:p>
        </p:txBody>
      </p:sp>
      <p:sp>
        <p:nvSpPr>
          <p:cNvPr id="6" name="Shape 4"/>
          <p:cNvSpPr/>
          <p:nvPr/>
        </p:nvSpPr>
        <p:spPr>
          <a:xfrm>
            <a:off x="685800" y="1737360"/>
            <a:ext cx="470916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737360"/>
            <a:ext cx="4709160" cy="82296"/>
          </a:xfrm>
          <a:prstGeom prst="rect">
            <a:avLst/>
          </a:prstGeom>
          <a:solidFill>
            <a:srgbClr val="387F7F"/>
          </a:solidFill>
          <a:ln/>
        </p:spPr>
      </p:sp>
      <p:sp>
        <p:nvSpPr>
          <p:cNvPr id="8" name="Shape 6"/>
          <p:cNvSpPr/>
          <p:nvPr/>
        </p:nvSpPr>
        <p:spPr>
          <a:xfrm>
            <a:off x="1069848" y="2240280"/>
            <a:ext cx="713232" cy="713232"/>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9" name="Text 7"/>
          <p:cNvSpPr txBox="1"/>
          <p:nvPr/>
        </p:nvSpPr>
        <p:spPr>
          <a:xfrm>
            <a:off x="1069848" y="2240280"/>
            <a:ext cx="713232" cy="713232"/>
          </a:xfrm>
          <a:prstGeom prst="rect">
            <a:avLst/>
          </a:prstGeom>
          <a:noFill/>
          <a:ln/>
        </p:spPr>
        <p:txBody>
          <a:bodyPr wrap="square" lIns="0" tIns="0" rIns="0" bIns="0" rtlCol="0" anchor="ctr"/>
          <a:lstStyle/>
          <a:p>
            <a:pPr algn="ctr" indent="0" marL="0">
              <a:buNone/>
            </a:pPr>
            <a:r>
              <a:rPr lang="en-US" sz="2600" b="1" dirty="0">
                <a:solidFill>
                  <a:srgbClr val="FFFFFF"/>
                </a:solidFill>
                <a:latin typeface="Poppins" pitchFamily="34" charset="0"/>
                <a:ea typeface="Poppins" pitchFamily="34" charset="-122"/>
                <a:cs typeface="Poppins" pitchFamily="34" charset="-120"/>
              </a:rPr>
              <a:t>ƒ</a:t>
            </a:r>
            <a:endParaRPr lang="en-US" sz="2600" dirty="0"/>
          </a:p>
        </p:txBody>
      </p:sp>
      <p:sp>
        <p:nvSpPr>
          <p:cNvPr id="10" name="Text 8"/>
          <p:cNvSpPr txBox="1"/>
          <p:nvPr/>
        </p:nvSpPr>
        <p:spPr>
          <a:xfrm>
            <a:off x="1069848" y="3154680"/>
            <a:ext cx="3941064" cy="457200"/>
          </a:xfrm>
          <a:prstGeom prst="rect">
            <a:avLst/>
          </a:prstGeom>
          <a:noFill/>
          <a:ln/>
        </p:spPr>
        <p:txBody>
          <a:bodyPr wrap="square" lIns="0" tIns="0" rIns="0" bIns="0" rtlCol="0" anchor="ctr"/>
          <a:lstStyle/>
          <a:p>
            <a:pPr indent="0" marL="0">
              <a:buNone/>
            </a:pPr>
            <a:r>
              <a:rPr lang="en-US" sz="2300" b="1" dirty="0">
                <a:solidFill>
                  <a:srgbClr val="387F7F"/>
                </a:solidFill>
                <a:latin typeface="Poppins" pitchFamily="34" charset="0"/>
                <a:ea typeface="Poppins" pitchFamily="34" charset="-122"/>
                <a:cs typeface="Poppins" pitchFamily="34" charset="-120"/>
              </a:rPr>
              <a:t>Write</a:t>
            </a:r>
            <a:endParaRPr lang="en-US" sz="2300" dirty="0"/>
          </a:p>
        </p:txBody>
      </p:sp>
      <p:sp>
        <p:nvSpPr>
          <p:cNvPr id="11" name="Text 9"/>
          <p:cNvSpPr txBox="1"/>
          <p:nvPr/>
        </p:nvSpPr>
        <p:spPr>
          <a:xfrm>
            <a:off x="1069848" y="3675888"/>
            <a:ext cx="3941064" cy="109728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essential DAX measures: an aggregation, a ratio using DIVIDE, and a time comparison using CALCULATE.</a:t>
            </a:r>
            <a:endParaRPr lang="en-US" sz="1500" dirty="0"/>
          </a:p>
        </p:txBody>
      </p:sp>
      <p:sp>
        <p:nvSpPr>
          <p:cNvPr id="12" name="Shape 10"/>
          <p:cNvSpPr/>
          <p:nvPr/>
        </p:nvSpPr>
        <p:spPr>
          <a:xfrm>
            <a:off x="5806440" y="1737360"/>
            <a:ext cx="470916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5806440" y="1737360"/>
            <a:ext cx="4709160" cy="82296"/>
          </a:xfrm>
          <a:prstGeom prst="rect">
            <a:avLst/>
          </a:prstGeom>
          <a:solidFill>
            <a:srgbClr val="387F7F"/>
          </a:solidFill>
          <a:ln/>
        </p:spPr>
      </p:sp>
      <p:sp>
        <p:nvSpPr>
          <p:cNvPr id="14" name="Shape 12"/>
          <p:cNvSpPr/>
          <p:nvPr/>
        </p:nvSpPr>
        <p:spPr>
          <a:xfrm>
            <a:off x="6190488" y="2240280"/>
            <a:ext cx="713232" cy="713232"/>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15" name="Text 13"/>
          <p:cNvSpPr txBox="1"/>
          <p:nvPr/>
        </p:nvSpPr>
        <p:spPr>
          <a:xfrm>
            <a:off x="6190488" y="2240280"/>
            <a:ext cx="713232" cy="713232"/>
          </a:xfrm>
          <a:prstGeom prst="rect">
            <a:avLst/>
          </a:prstGeom>
          <a:noFill/>
          <a:ln/>
        </p:spPr>
        <p:txBody>
          <a:bodyPr wrap="square" lIns="0" tIns="0" rIns="0" bIns="0" rtlCol="0" anchor="ctr"/>
          <a:lstStyle/>
          <a:p>
            <a:pPr algn="ctr" indent="0" marL="0">
              <a:buNone/>
            </a:pPr>
            <a:r>
              <a:rPr lang="en-US" sz="2600" b="1" dirty="0">
                <a:solidFill>
                  <a:srgbClr val="FFFFFF"/>
                </a:solidFill>
                <a:latin typeface="Poppins" pitchFamily="34" charset="0"/>
                <a:ea typeface="Poppins" pitchFamily="34" charset="-122"/>
                <a:cs typeface="Poppins" pitchFamily="34" charset="-120"/>
              </a:rPr>
              <a:t>✓</a:t>
            </a:r>
            <a:endParaRPr lang="en-US" sz="2600" dirty="0"/>
          </a:p>
        </p:txBody>
      </p:sp>
      <p:sp>
        <p:nvSpPr>
          <p:cNvPr id="16" name="Text 14"/>
          <p:cNvSpPr txBox="1"/>
          <p:nvPr/>
        </p:nvSpPr>
        <p:spPr>
          <a:xfrm>
            <a:off x="6190488" y="3154680"/>
            <a:ext cx="3941064" cy="457200"/>
          </a:xfrm>
          <a:prstGeom prst="rect">
            <a:avLst/>
          </a:prstGeom>
          <a:noFill/>
          <a:ln/>
        </p:spPr>
        <p:txBody>
          <a:bodyPr wrap="square" lIns="0" tIns="0" rIns="0" bIns="0" rtlCol="0" anchor="ctr"/>
          <a:lstStyle/>
          <a:p>
            <a:pPr indent="0" marL="0">
              <a:buNone/>
            </a:pPr>
            <a:r>
              <a:rPr lang="en-US" sz="2300" b="1" dirty="0">
                <a:solidFill>
                  <a:srgbClr val="387F7F"/>
                </a:solidFill>
                <a:latin typeface="Poppins" pitchFamily="34" charset="0"/>
                <a:ea typeface="Poppins" pitchFamily="34" charset="-122"/>
                <a:cs typeface="Poppins" pitchFamily="34" charset="-120"/>
              </a:rPr>
              <a:t>Verify</a:t>
            </a:r>
            <a:endParaRPr lang="en-US" sz="2300" dirty="0"/>
          </a:p>
        </p:txBody>
      </p:sp>
      <p:sp>
        <p:nvSpPr>
          <p:cNvPr id="17" name="Text 15"/>
          <p:cNvSpPr txBox="1"/>
          <p:nvPr/>
        </p:nvSpPr>
        <p:spPr>
          <a:xfrm>
            <a:off x="6190488" y="3675888"/>
            <a:ext cx="3941064" cy="109728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measure results against source data before trusting them.</a:t>
            </a:r>
            <a:endParaRPr lang="en-US" sz="1500" dirty="0"/>
          </a:p>
        </p:txBody>
      </p:sp>
      <p:pic>
        <p:nvPicPr>
          <p:cNvPr id="18"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63840" y="0"/>
            <a:ext cx="4325112" cy="6858000"/>
          </a:xfrm>
          <a:prstGeom prst="rect">
            <a:avLst/>
          </a:prstGeom>
          <a:solidFill>
            <a:srgbClr val="20494A"/>
          </a:solidFill>
          <a:ln/>
        </p:spPr>
      </p:sp>
      <p:sp>
        <p:nvSpPr>
          <p:cNvPr id="3" name="Shape 1"/>
          <p:cNvSpPr/>
          <p:nvPr/>
        </p:nvSpPr>
        <p:spPr>
          <a:xfrm>
            <a:off x="9784080" y="-1280160"/>
            <a:ext cx="4572000" cy="4572000"/>
          </a:xfrm>
          <a:prstGeom prst="ellipse">
            <a:avLst/>
          </a:prstGeom>
          <a:solidFill>
            <a:srgbClr val="2E5E5E"/>
          </a:solidFill>
          <a:ln/>
        </p:spPr>
      </p:sp>
      <p:sp>
        <p:nvSpPr>
          <p:cNvPr id="4" name="Text 2"/>
          <p:cNvSpPr txBox="1"/>
          <p:nvPr/>
        </p:nvSpPr>
        <p:spPr>
          <a:xfrm>
            <a:off x="7863840" y="1920240"/>
            <a:ext cx="4206240"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Poppins" pitchFamily="34" charset="0"/>
                <a:ea typeface="Poppins" pitchFamily="34" charset="-122"/>
                <a:cs typeface="Poppins" pitchFamily="34" charset="-120"/>
              </a:rPr>
              <a:t>82%</a:t>
            </a:r>
            <a:endParaRPr lang="en-US" sz="6200" dirty="0"/>
          </a:p>
        </p:txBody>
      </p:sp>
      <p:sp>
        <p:nvSpPr>
          <p:cNvPr id="5" name="Text 3"/>
          <p:cNvSpPr txBox="1"/>
          <p:nvPr/>
        </p:nvSpPr>
        <p:spPr>
          <a:xfrm>
            <a:off x="7863840" y="2971800"/>
            <a:ext cx="4206240" cy="365760"/>
          </a:xfrm>
          <a:prstGeom prst="rect">
            <a:avLst/>
          </a:prstGeom>
          <a:noFill/>
          <a:ln/>
        </p:spPr>
        <p:txBody>
          <a:bodyPr wrap="square" lIns="0" tIns="0" rIns="0" bIns="0" rtlCol="0" anchor="ctr"/>
          <a:lstStyle/>
          <a:p>
            <a:pPr algn="ctr" indent="0" marL="0">
              <a:buNone/>
            </a:pPr>
            <a:r>
              <a:rPr lang="en-US" sz="1500" dirty="0">
                <a:solidFill>
                  <a:srgbClr val="8FBEBE"/>
                </a:solidFill>
                <a:latin typeface="Poppins" pitchFamily="34" charset="0"/>
                <a:ea typeface="Poppins" pitchFamily="34" charset="-122"/>
                <a:cs typeface="Poppins" pitchFamily="34" charset="-120"/>
              </a:rPr>
              <a:t>vs</a:t>
            </a:r>
            <a:endParaRPr lang="en-US" sz="1500" dirty="0"/>
          </a:p>
        </p:txBody>
      </p:sp>
      <p:sp>
        <p:nvSpPr>
          <p:cNvPr id="6" name="Text 4"/>
          <p:cNvSpPr txBox="1"/>
          <p:nvPr/>
        </p:nvSpPr>
        <p:spPr>
          <a:xfrm>
            <a:off x="7863840" y="3291840"/>
            <a:ext cx="4206240" cy="1005840"/>
          </a:xfrm>
          <a:prstGeom prst="rect">
            <a:avLst/>
          </a:prstGeom>
          <a:noFill/>
          <a:ln/>
        </p:spPr>
        <p:txBody>
          <a:bodyPr wrap="square" lIns="0" tIns="0" rIns="0" bIns="0" rtlCol="0" anchor="ctr"/>
          <a:lstStyle/>
          <a:p>
            <a:pPr algn="ctr" indent="0" marL="0">
              <a:buNone/>
            </a:pPr>
            <a:r>
              <a:rPr lang="en-US" sz="6200" b="1" dirty="0">
                <a:solidFill>
                  <a:srgbClr val="8FBEBE"/>
                </a:solidFill>
                <a:latin typeface="Poppins" pitchFamily="34" charset="0"/>
                <a:ea typeface="Poppins" pitchFamily="34" charset="-122"/>
                <a:cs typeface="Poppins" pitchFamily="34" charset="-120"/>
              </a:rPr>
              <a:t>79%</a:t>
            </a:r>
            <a:endParaRPr lang="en-US" sz="6200" dirty="0"/>
          </a:p>
        </p:txBody>
      </p:sp>
      <p:sp>
        <p:nvSpPr>
          <p:cNvPr id="7" name="Text 5"/>
          <p:cNvSpPr txBox="1"/>
          <p:nvPr/>
        </p:nvSpPr>
        <p:spPr>
          <a:xfrm>
            <a:off x="7863840" y="4434840"/>
            <a:ext cx="4206240" cy="822960"/>
          </a:xfrm>
          <a:prstGeom prst="rect">
            <a:avLst/>
          </a:prstGeom>
          <a:noFill/>
          <a:ln/>
        </p:spPr>
        <p:txBody>
          <a:bodyPr wrap="square" lIns="0" tIns="0" rIns="0" bIns="0" rtlCol="0" anchor="ctr"/>
          <a:lstStyle/>
          <a:p>
            <a:pPr algn="ctr" indent="0" marL="0">
              <a:lnSpc>
                <a:spcPct val="130000"/>
              </a:lnSpc>
              <a:buNone/>
            </a:pPr>
            <a:r>
              <a:rPr lang="en-US" sz="1500" dirty="0">
                <a:solidFill>
                  <a:srgbClr val="B9D3D3"/>
                </a:solidFill>
                <a:latin typeface="Poppins" pitchFamily="34" charset="0"/>
                <a:ea typeface="Poppins" pitchFamily="34" charset="-122"/>
                <a:cs typeface="Poppins" pitchFamily="34" charset="-120"/>
              </a:rPr>
              <a:t>Same data. Same week.</a:t>
            </a:r>
            <a:endParaRPr lang="en-US" sz="1500" dirty="0"/>
          </a:p>
          <a:p>
            <a:pPr algn="ctr" indent="0" marL="0">
              <a:lnSpc>
                <a:spcPct val="130000"/>
              </a:lnSpc>
              <a:buNone/>
            </a:pPr>
            <a:r>
              <a:rPr lang="en-US" sz="1500" dirty="0">
                <a:solidFill>
                  <a:srgbClr val="B9D3D3"/>
                </a:solidFill>
                <a:latin typeface="Poppins" pitchFamily="34" charset="0"/>
                <a:ea typeface="Poppins" pitchFamily="34" charset="-122"/>
                <a:cs typeface="Poppins" pitchFamily="34" charset="-120"/>
              </a:rPr>
              <a:t>Two competent analysts.</a:t>
            </a:r>
            <a:endParaRPr lang="en-US" sz="1500" dirty="0"/>
          </a:p>
        </p:txBody>
      </p:sp>
      <p:sp>
        <p:nvSpPr>
          <p:cNvPr id="8" name="Shape 6"/>
          <p:cNvSpPr/>
          <p:nvPr/>
        </p:nvSpPr>
        <p:spPr>
          <a:xfrm>
            <a:off x="685800" y="777240"/>
            <a:ext cx="82296" cy="1371600"/>
          </a:xfrm>
          <a:prstGeom prst="rect">
            <a:avLst/>
          </a:prstGeom>
          <a:solidFill>
            <a:srgbClr val="387F7F"/>
          </a:solidFill>
          <a:ln/>
        </p:spPr>
      </p:sp>
      <p:sp>
        <p:nvSpPr>
          <p:cNvPr id="9" name="Text 7"/>
          <p:cNvSpPr txBox="1"/>
          <p:nvPr/>
        </p:nvSpPr>
        <p:spPr>
          <a:xfrm>
            <a:off x="914400" y="731520"/>
            <a:ext cx="6583680" cy="1463040"/>
          </a:xfrm>
          <a:prstGeom prst="rect">
            <a:avLst/>
          </a:prstGeom>
          <a:noFill/>
          <a:ln/>
        </p:spPr>
        <p:txBody>
          <a:bodyPr wrap="square" lIns="0" tIns="0" rIns="0" bIns="0" rtlCol="0" anchor="ctr"/>
          <a:lstStyle/>
          <a:p>
            <a:pPr indent="0" marL="0">
              <a:lnSpc>
                <a:spcPct val="115000"/>
              </a:lnSpc>
              <a:buNone/>
            </a:pPr>
            <a:r>
              <a:rPr lang="en-US" sz="2600" b="1" dirty="0">
                <a:solidFill>
                  <a:srgbClr val="0A1A23"/>
                </a:solidFill>
                <a:latin typeface="Poppins" pitchFamily="34" charset="0"/>
                <a:ea typeface="Poppins" pitchFamily="34" charset="-122"/>
                <a:cs typeface="Poppins" pitchFamily="34" charset="-120"/>
              </a:rPr>
              <a:t>“Our on-time rate is 82 percent.</a:t>
            </a:r>
            <a:endParaRPr lang="en-US" sz="2600" dirty="0"/>
          </a:p>
          <a:p>
            <a:pPr indent="0" marL="0">
              <a:lnSpc>
                <a:spcPct val="115000"/>
              </a:lnSpc>
              <a:buNone/>
            </a:pPr>
            <a:r>
              <a:rPr lang="en-US" sz="2600" b="1" dirty="0">
                <a:solidFill>
                  <a:srgbClr val="0A1A23"/>
                </a:solidFill>
                <a:latin typeface="Poppins" pitchFamily="34" charset="0"/>
                <a:ea typeface="Poppins" pitchFamily="34" charset="-122"/>
                <a:cs typeface="Poppins" pitchFamily="34" charset="-120"/>
              </a:rPr>
              <a:t>Why does the regional report say 79?”</a:t>
            </a:r>
            <a:endParaRPr lang="en-US" sz="2600" dirty="0"/>
          </a:p>
        </p:txBody>
      </p:sp>
      <p:sp>
        <p:nvSpPr>
          <p:cNvPr id="10" name="Text 8"/>
          <p:cNvSpPr txBox="1"/>
          <p:nvPr/>
        </p:nvSpPr>
        <p:spPr>
          <a:xfrm>
            <a:off x="914400" y="2286000"/>
            <a:ext cx="6583680" cy="365760"/>
          </a:xfrm>
          <a:prstGeom prst="rect">
            <a:avLst/>
          </a:prstGeom>
          <a:noFill/>
          <a:ln/>
        </p:spPr>
        <p:txBody>
          <a:bodyPr wrap="square" lIns="0" tIns="0" rIns="0" bIns="0" rtlCol="0" anchor="t"/>
          <a:lstStyle/>
          <a:p>
            <a:pPr algn="l" indent="0" marL="0">
              <a:lnSpc>
                <a:spcPct val="135000"/>
              </a:lnSpc>
              <a:buNone/>
            </a:pPr>
            <a:r>
              <a:rPr lang="en-US" sz="1400" i="1" dirty="0">
                <a:solidFill>
                  <a:srgbClr val="387F7F"/>
                </a:solidFill>
                <a:latin typeface="Poppins" pitchFamily="34" charset="0"/>
                <a:ea typeface="Poppins" pitchFamily="34" charset="-122"/>
                <a:cs typeface="Poppins" pitchFamily="34" charset="-120"/>
              </a:rPr>
              <a:t>Adaeze, to her analyst, on a Tuesday</a:t>
            </a:r>
            <a:endParaRPr lang="en-US" sz="1400" dirty="0"/>
          </a:p>
        </p:txBody>
      </p:sp>
      <p:sp>
        <p:nvSpPr>
          <p:cNvPr id="11" name="Shape 9"/>
          <p:cNvSpPr/>
          <p:nvPr/>
        </p:nvSpPr>
        <p:spPr>
          <a:xfrm>
            <a:off x="713232" y="2926080"/>
            <a:ext cx="6766560" cy="228600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12" name="Text 10"/>
          <p:cNvSpPr txBox="1"/>
          <p:nvPr/>
        </p:nvSpPr>
        <p:spPr>
          <a:xfrm>
            <a:off x="1051560" y="3200400"/>
            <a:ext cx="6126480" cy="822960"/>
          </a:xfrm>
          <a:prstGeom prst="rect">
            <a:avLst/>
          </a:prstGeom>
          <a:noFill/>
          <a:ln/>
        </p:spPr>
        <p:txBody>
          <a:bodyPr wrap="square" lIns="0" tIns="0" rIns="0" bIns="0" rtlCol="0" anchor="t"/>
          <a:lstStyle/>
          <a:p>
            <a:pPr algn="l" indent="0" marL="0">
              <a:lnSpc>
                <a:spcPct val="132000"/>
              </a:lnSpc>
              <a:buNone/>
            </a:pPr>
            <a:r>
              <a:rPr lang="en-US" sz="1550" dirty="0">
                <a:solidFill>
                  <a:srgbClr val="475569"/>
                </a:solidFill>
                <a:latin typeface="Poppins" pitchFamily="34" charset="0"/>
                <a:ea typeface="Poppins" pitchFamily="34" charset="-122"/>
                <a:cs typeface="Poppins" pitchFamily="34" charset="-120"/>
              </a:rPr>
              <a:t>Both numbers came from the same data. Both measures were written by competent people. Neither contains a syntax error.</a:t>
            </a:r>
            <a:endParaRPr lang="en-US" sz="1550" dirty="0"/>
          </a:p>
        </p:txBody>
      </p:sp>
      <p:sp>
        <p:nvSpPr>
          <p:cNvPr id="13" name="Text 11"/>
          <p:cNvSpPr txBox="1"/>
          <p:nvPr/>
        </p:nvSpPr>
        <p:spPr>
          <a:xfrm>
            <a:off x="1051560" y="4114800"/>
            <a:ext cx="6126480" cy="914400"/>
          </a:xfrm>
          <a:prstGeom prst="rect">
            <a:avLst/>
          </a:prstGeom>
          <a:noFill/>
          <a:ln/>
        </p:spPr>
        <p:txBody>
          <a:bodyPr wrap="square" lIns="0" tIns="0" rIns="0" bIns="0" rtlCol="0" anchor="t"/>
          <a:lstStyle/>
          <a:p>
            <a:pPr algn="l" indent="0" marL="0">
              <a:lnSpc>
                <a:spcPct val="132000"/>
              </a:lnSpc>
              <a:buNone/>
            </a:pPr>
            <a:r>
              <a:rPr lang="en-US" sz="1550" dirty="0">
                <a:solidFill>
                  <a:srgbClr val="475569"/>
                </a:solidFill>
                <a:latin typeface="Poppins" pitchFamily="34" charset="0"/>
                <a:ea typeface="Poppins" pitchFamily="34" charset="-122"/>
                <a:cs typeface="Poppins" pitchFamily="34" charset="-120"/>
              </a:rPr>
              <a:t>They disagree because they define “on time” differently. One counts cancelled deliveries in the denominator. The other does not.</a:t>
            </a:r>
            <a:endParaRPr lang="en-US" sz="1550" dirty="0"/>
          </a:p>
        </p:txBody>
      </p:sp>
      <p:sp>
        <p:nvSpPr>
          <p:cNvPr id="14" name="Shape 12"/>
          <p:cNvSpPr/>
          <p:nvPr/>
        </p:nvSpPr>
        <p:spPr>
          <a:xfrm>
            <a:off x="713232" y="5440680"/>
            <a:ext cx="6766560" cy="777240"/>
          </a:xfrm>
          <a:prstGeom prst="roundRect">
            <a:avLst>
              <a:gd name="adj" fmla="val 10588"/>
            </a:avLst>
          </a:prstGeom>
          <a:solidFill>
            <a:srgbClr val="FBF3E6"/>
          </a:solidFill>
          <a:ln/>
        </p:spPr>
      </p:sp>
      <p:sp>
        <p:nvSpPr>
          <p:cNvPr id="15" name="Shape 13"/>
          <p:cNvSpPr/>
          <p:nvPr/>
        </p:nvSpPr>
        <p:spPr>
          <a:xfrm>
            <a:off x="713232" y="5440680"/>
            <a:ext cx="68580" cy="777240"/>
          </a:xfrm>
          <a:prstGeom prst="rect">
            <a:avLst/>
          </a:prstGeom>
          <a:solidFill>
            <a:srgbClr val="C9821F"/>
          </a:solidFill>
          <a:ln/>
        </p:spPr>
      </p:sp>
      <p:sp>
        <p:nvSpPr>
          <p:cNvPr id="16" name="Text 14"/>
          <p:cNvSpPr txBox="1"/>
          <p:nvPr/>
        </p:nvSpPr>
        <p:spPr>
          <a:xfrm>
            <a:off x="1051560" y="5440680"/>
            <a:ext cx="6400800" cy="777240"/>
          </a:xfrm>
          <a:prstGeom prst="rect">
            <a:avLst/>
          </a:prstGeom>
          <a:noFill/>
          <a:ln/>
        </p:spPr>
        <p:txBody>
          <a:bodyPr wrap="square" lIns="0" tIns="0" rIns="0" bIns="0" rtlCol="0" anchor="ctr"/>
          <a:lstStyle/>
          <a:p>
            <a:pPr algn="l" indent="0" marL="0">
              <a:lnSpc>
                <a:spcPct val="135000"/>
              </a:lnSpc>
              <a:buNone/>
            </a:pPr>
            <a:r>
              <a:rPr lang="en-US" sz="1500" b="1" dirty="0">
                <a:solidFill>
                  <a:srgbClr val="8A5A12"/>
                </a:solidFill>
                <a:latin typeface="Poppins" pitchFamily="34" charset="0"/>
                <a:ea typeface="Poppins" pitchFamily="34" charset="-122"/>
                <a:cs typeface="Poppins" pitchFamily="34" charset="-120"/>
              </a:rPr>
              <a:t>A measure is a definition before it is a calculation.</a:t>
            </a:r>
            <a:endParaRPr lang="en-US" sz="1500" dirty="0"/>
          </a:p>
        </p:txBody>
      </p:sp>
      <p:sp>
        <p:nvSpPr>
          <p:cNvPr id="17" name="Text 15"/>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A calculated column and a measure are not the same thing</a:t>
            </a:r>
            <a:endParaRPr lang="en-US" sz="2400" dirty="0"/>
          </a:p>
        </p:txBody>
      </p:sp>
      <p:sp>
        <p:nvSpPr>
          <p:cNvPr id="6" name="Shape 4"/>
          <p:cNvSpPr/>
          <p:nvPr/>
        </p:nvSpPr>
        <p:spPr>
          <a:xfrm>
            <a:off x="685800" y="1600200"/>
            <a:ext cx="4709160" cy="3246120"/>
          </a:xfrm>
          <a:prstGeom prst="roundRect">
            <a:avLst>
              <a:gd name="adj" fmla="val 2817"/>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00200"/>
            <a:ext cx="4709160" cy="566928"/>
          </a:xfrm>
          <a:prstGeom prst="roundRect">
            <a:avLst>
              <a:gd name="adj" fmla="val 16129"/>
            </a:avLst>
          </a:prstGeom>
          <a:solidFill>
            <a:srgbClr val="20494A"/>
          </a:solidFill>
          <a:ln/>
        </p:spPr>
      </p:sp>
      <p:sp>
        <p:nvSpPr>
          <p:cNvPr id="8" name="Shape 6"/>
          <p:cNvSpPr/>
          <p:nvPr/>
        </p:nvSpPr>
        <p:spPr>
          <a:xfrm>
            <a:off x="685800" y="1883664"/>
            <a:ext cx="4709160" cy="283464"/>
          </a:xfrm>
          <a:prstGeom prst="rect">
            <a:avLst/>
          </a:prstGeom>
          <a:solidFill>
            <a:srgbClr val="20494A"/>
          </a:solidFill>
          <a:ln/>
        </p:spPr>
      </p:sp>
      <p:sp>
        <p:nvSpPr>
          <p:cNvPr id="9" name="Text 7"/>
          <p:cNvSpPr txBox="1"/>
          <p:nvPr/>
        </p:nvSpPr>
        <p:spPr>
          <a:xfrm>
            <a:off x="685800" y="1600200"/>
            <a:ext cx="4709160" cy="56692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Poppins" pitchFamily="34" charset="0"/>
                <a:ea typeface="Poppins" pitchFamily="34" charset="-122"/>
                <a:cs typeface="Poppins" pitchFamily="34" charset="-120"/>
              </a:rPr>
              <a:t>▤   CALCULATED COLUMN</a:t>
            </a:r>
            <a:endParaRPr lang="en-US" sz="1300" dirty="0"/>
          </a:p>
        </p:txBody>
      </p:sp>
      <p:sp>
        <p:nvSpPr>
          <p:cNvPr id="10" name="Text 8"/>
          <p:cNvSpPr txBox="1"/>
          <p:nvPr/>
        </p:nvSpPr>
        <p:spPr>
          <a:xfrm>
            <a:off x="978408" y="2377440"/>
            <a:ext cx="4123944" cy="1280160"/>
          </a:xfrm>
          <a:prstGeom prst="rect">
            <a:avLst/>
          </a:prstGeom>
          <a:noFill/>
          <a:ln/>
        </p:spPr>
        <p:txBody>
          <a:bodyPr wrap="square" lIns="0" tIns="0" rIns="0" bIns="0" rtlCol="0" anchor="t"/>
          <a:lstStyle/>
          <a:p>
            <a:pPr algn="l" indent="0" marL="0">
              <a:lnSpc>
                <a:spcPct val="130000"/>
              </a:lnSpc>
              <a:buNone/>
            </a:pPr>
            <a:r>
              <a:rPr lang="en-US" sz="1300" dirty="0">
                <a:solidFill>
                  <a:srgbClr val="475569"/>
                </a:solidFill>
                <a:latin typeface="Poppins" pitchFamily="34" charset="0"/>
                <a:ea typeface="Poppins" pitchFamily="34" charset="-122"/>
                <a:cs typeface="Poppins" pitchFamily="34" charset="-120"/>
              </a:rPr>
              <a:t>Computed once, per row, when the data loads. Stored in the file. Takes up memory. Exists whether or not anyone looks at it.</a:t>
            </a:r>
            <a:endParaRPr lang="en-US" sz="1300" dirty="0"/>
          </a:p>
        </p:txBody>
      </p:sp>
      <p:sp>
        <p:nvSpPr>
          <p:cNvPr id="11" name="Text 9"/>
          <p:cNvSpPr txBox="1"/>
          <p:nvPr/>
        </p:nvSpPr>
        <p:spPr>
          <a:xfrm>
            <a:off x="978408" y="3703320"/>
            <a:ext cx="4123944" cy="365760"/>
          </a:xfrm>
          <a:prstGeom prst="rect">
            <a:avLst/>
          </a:prstGeom>
          <a:noFill/>
          <a:ln/>
        </p:spPr>
        <p:txBody>
          <a:bodyPr wrap="square" lIns="0" tIns="0" rIns="0" bIns="0" rtlCol="0" anchor="t"/>
          <a:lstStyle/>
          <a:p>
            <a:pPr algn="l" indent="0" marL="0">
              <a:lnSpc>
                <a:spcPct val="135000"/>
              </a:lnSpc>
              <a:buNone/>
            </a:pPr>
            <a:r>
              <a:rPr lang="en-US" sz="1250" b="1" dirty="0">
                <a:solidFill>
                  <a:srgbClr val="387F7F"/>
                </a:solidFill>
                <a:latin typeface="Poppins" pitchFamily="34" charset="0"/>
                <a:ea typeface="Poppins" pitchFamily="34" charset="-122"/>
                <a:cs typeface="Poppins" pitchFamily="34" charset="-120"/>
              </a:rPr>
              <a:t>Use for something you want to filter, group or slice BY.</a:t>
            </a:r>
            <a:endParaRPr lang="en-US" sz="1250" dirty="0"/>
          </a:p>
        </p:txBody>
      </p:sp>
      <p:sp>
        <p:nvSpPr>
          <p:cNvPr id="12" name="Shape 10"/>
          <p:cNvSpPr/>
          <p:nvPr/>
        </p:nvSpPr>
        <p:spPr>
          <a:xfrm>
            <a:off x="978408" y="4114800"/>
            <a:ext cx="4123944" cy="548640"/>
          </a:xfrm>
          <a:prstGeom prst="roundRect">
            <a:avLst>
              <a:gd name="adj" fmla="val 10000"/>
            </a:avLst>
          </a:prstGeom>
          <a:solidFill>
            <a:srgbClr val="EEF4F4"/>
          </a:solidFill>
          <a:ln/>
        </p:spPr>
      </p:sp>
      <p:sp>
        <p:nvSpPr>
          <p:cNvPr id="13" name="Text 11"/>
          <p:cNvSpPr txBox="1"/>
          <p:nvPr/>
        </p:nvSpPr>
        <p:spPr>
          <a:xfrm>
            <a:off x="1069848" y="4114800"/>
            <a:ext cx="3941064" cy="548640"/>
          </a:xfrm>
          <a:prstGeom prst="rect">
            <a:avLst/>
          </a:prstGeom>
          <a:noFill/>
          <a:ln/>
        </p:spPr>
        <p:txBody>
          <a:bodyPr wrap="square" lIns="0" tIns="0" rIns="0" bIns="0" rtlCol="0" anchor="ctr"/>
          <a:lstStyle/>
          <a:p>
            <a:pPr algn="ctr" indent="0" marL="0">
              <a:lnSpc>
                <a:spcPct val="120000"/>
              </a:lnSpc>
              <a:buNone/>
            </a:pPr>
            <a:r>
              <a:rPr lang="en-US" sz="1100" i="1" dirty="0">
                <a:solidFill>
                  <a:srgbClr val="475569"/>
                </a:solidFill>
                <a:latin typeface="Poppins" pitchFamily="34" charset="0"/>
                <a:ea typeface="Poppins" pitchFamily="34" charset="-122"/>
                <a:cs typeface="Poppins" pitchFamily="34" charset="-120"/>
              </a:rPr>
              <a:t>“Delay band: On time / Under 30 late / Over 30 late”</a:t>
            </a:r>
            <a:endParaRPr lang="en-US" sz="1100" dirty="0"/>
          </a:p>
        </p:txBody>
      </p:sp>
      <p:sp>
        <p:nvSpPr>
          <p:cNvPr id="14" name="Shape 12"/>
          <p:cNvSpPr/>
          <p:nvPr/>
        </p:nvSpPr>
        <p:spPr>
          <a:xfrm>
            <a:off x="5806440" y="1600200"/>
            <a:ext cx="4709160" cy="3246120"/>
          </a:xfrm>
          <a:prstGeom prst="roundRect">
            <a:avLst>
              <a:gd name="adj" fmla="val 2817"/>
            </a:avLst>
          </a:prstGeom>
          <a:solidFill>
            <a:srgbClr val="FFFFFF"/>
          </a:solidFill>
          <a:ln/>
          <a:effectLst>
            <a:outerShdw sx="100000" sy="100000" kx="0" ky="0" algn="bl" rotWithShape="0" blurRad="152400" dist="38100" dir="5400000">
              <a:srgbClr val="1B2A2E">
                <a:alpha val="20000"/>
              </a:srgbClr>
            </a:outerShdw>
          </a:effectLst>
        </p:spPr>
      </p:sp>
      <p:sp>
        <p:nvSpPr>
          <p:cNvPr id="15" name="Shape 13"/>
          <p:cNvSpPr/>
          <p:nvPr/>
        </p:nvSpPr>
        <p:spPr>
          <a:xfrm>
            <a:off x="5806440" y="1600200"/>
            <a:ext cx="4709160" cy="566928"/>
          </a:xfrm>
          <a:prstGeom prst="roundRect">
            <a:avLst>
              <a:gd name="adj" fmla="val 16129"/>
            </a:avLst>
          </a:prstGeom>
          <a:solidFill>
            <a:srgbClr val="387F7F"/>
          </a:solidFill>
          <a:ln/>
        </p:spPr>
      </p:sp>
      <p:sp>
        <p:nvSpPr>
          <p:cNvPr id="16" name="Shape 14"/>
          <p:cNvSpPr/>
          <p:nvPr/>
        </p:nvSpPr>
        <p:spPr>
          <a:xfrm>
            <a:off x="5806440" y="1883664"/>
            <a:ext cx="4709160" cy="283464"/>
          </a:xfrm>
          <a:prstGeom prst="rect">
            <a:avLst/>
          </a:prstGeom>
          <a:solidFill>
            <a:srgbClr val="387F7F"/>
          </a:solidFill>
          <a:ln/>
        </p:spPr>
      </p:sp>
      <p:sp>
        <p:nvSpPr>
          <p:cNvPr id="17" name="Text 15"/>
          <p:cNvSpPr txBox="1"/>
          <p:nvPr/>
        </p:nvSpPr>
        <p:spPr>
          <a:xfrm>
            <a:off x="5806440" y="1600200"/>
            <a:ext cx="4709160" cy="56692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Poppins" pitchFamily="34" charset="0"/>
                <a:ea typeface="Poppins" pitchFamily="34" charset="-122"/>
                <a:cs typeface="Poppins" pitchFamily="34" charset="-120"/>
              </a:rPr>
              <a:t>ƒ   MEASURE</a:t>
            </a:r>
            <a:endParaRPr lang="en-US" sz="1300" dirty="0"/>
          </a:p>
        </p:txBody>
      </p:sp>
      <p:sp>
        <p:nvSpPr>
          <p:cNvPr id="18" name="Text 16"/>
          <p:cNvSpPr txBox="1"/>
          <p:nvPr/>
        </p:nvSpPr>
        <p:spPr>
          <a:xfrm>
            <a:off x="6099048" y="2377440"/>
            <a:ext cx="4123944" cy="1280160"/>
          </a:xfrm>
          <a:prstGeom prst="rect">
            <a:avLst/>
          </a:prstGeom>
          <a:noFill/>
          <a:ln/>
        </p:spPr>
        <p:txBody>
          <a:bodyPr wrap="square" lIns="0" tIns="0" rIns="0" bIns="0" rtlCol="0" anchor="t"/>
          <a:lstStyle/>
          <a:p>
            <a:pPr algn="l" indent="0" marL="0">
              <a:lnSpc>
                <a:spcPct val="130000"/>
              </a:lnSpc>
              <a:buNone/>
            </a:pPr>
            <a:r>
              <a:rPr lang="en-US" sz="1300" dirty="0">
                <a:solidFill>
                  <a:srgbClr val="475569"/>
                </a:solidFill>
                <a:latin typeface="Poppins" pitchFamily="34" charset="0"/>
                <a:ea typeface="Poppins" pitchFamily="34" charset="-122"/>
                <a:cs typeface="Poppins" pitchFamily="34" charset="-120"/>
              </a:rPr>
              <a:t>Computed on demand, when a visual asks, and re-computed for every cell of every chart. Stores nothing. Responds to whatever filters apply.</a:t>
            </a:r>
            <a:endParaRPr lang="en-US" sz="1300" dirty="0"/>
          </a:p>
        </p:txBody>
      </p:sp>
      <p:sp>
        <p:nvSpPr>
          <p:cNvPr id="19" name="Text 17"/>
          <p:cNvSpPr txBox="1"/>
          <p:nvPr/>
        </p:nvSpPr>
        <p:spPr>
          <a:xfrm>
            <a:off x="6099048" y="3703320"/>
            <a:ext cx="4123944" cy="365760"/>
          </a:xfrm>
          <a:prstGeom prst="rect">
            <a:avLst/>
          </a:prstGeom>
          <a:noFill/>
          <a:ln/>
        </p:spPr>
        <p:txBody>
          <a:bodyPr wrap="square" lIns="0" tIns="0" rIns="0" bIns="0" rtlCol="0" anchor="t"/>
          <a:lstStyle/>
          <a:p>
            <a:pPr algn="l" indent="0" marL="0">
              <a:lnSpc>
                <a:spcPct val="135000"/>
              </a:lnSpc>
              <a:buNone/>
            </a:pPr>
            <a:r>
              <a:rPr lang="en-US" sz="1250" b="1" dirty="0">
                <a:solidFill>
                  <a:srgbClr val="387F7F"/>
                </a:solidFill>
                <a:latin typeface="Poppins" pitchFamily="34" charset="0"/>
                <a:ea typeface="Poppins" pitchFamily="34" charset="-122"/>
                <a:cs typeface="Poppins" pitchFamily="34" charset="-120"/>
              </a:rPr>
              <a:t>Use for an aggregated number.</a:t>
            </a:r>
            <a:endParaRPr lang="en-US" sz="1250" dirty="0"/>
          </a:p>
        </p:txBody>
      </p:sp>
      <p:sp>
        <p:nvSpPr>
          <p:cNvPr id="20" name="Shape 18"/>
          <p:cNvSpPr/>
          <p:nvPr/>
        </p:nvSpPr>
        <p:spPr>
          <a:xfrm>
            <a:off x="6099048" y="4114800"/>
            <a:ext cx="4123944" cy="548640"/>
          </a:xfrm>
          <a:prstGeom prst="roundRect">
            <a:avLst>
              <a:gd name="adj" fmla="val 10000"/>
            </a:avLst>
          </a:prstGeom>
          <a:solidFill>
            <a:srgbClr val="EEF4F4"/>
          </a:solidFill>
          <a:ln/>
        </p:spPr>
      </p:sp>
      <p:sp>
        <p:nvSpPr>
          <p:cNvPr id="21" name="Text 19"/>
          <p:cNvSpPr txBox="1"/>
          <p:nvPr/>
        </p:nvSpPr>
        <p:spPr>
          <a:xfrm>
            <a:off x="6190488" y="4114800"/>
            <a:ext cx="3941064" cy="548640"/>
          </a:xfrm>
          <a:prstGeom prst="rect">
            <a:avLst/>
          </a:prstGeom>
          <a:noFill/>
          <a:ln/>
        </p:spPr>
        <p:txBody>
          <a:bodyPr wrap="square" lIns="0" tIns="0" rIns="0" bIns="0" rtlCol="0" anchor="ctr"/>
          <a:lstStyle/>
          <a:p>
            <a:pPr algn="ctr" indent="0" marL="0">
              <a:lnSpc>
                <a:spcPct val="120000"/>
              </a:lnSpc>
              <a:buNone/>
            </a:pPr>
            <a:r>
              <a:rPr lang="en-US" sz="1100" i="1" dirty="0">
                <a:solidFill>
                  <a:srgbClr val="475569"/>
                </a:solidFill>
                <a:latin typeface="Poppins" pitchFamily="34" charset="0"/>
                <a:ea typeface="Poppins" pitchFamily="34" charset="-122"/>
                <a:cs typeface="Poppins" pitchFamily="34" charset="-120"/>
              </a:rPr>
              <a:t>Totals, counts, averages, rates, comparisons</a:t>
            </a:r>
            <a:endParaRPr lang="en-US" sz="1100" dirty="0"/>
          </a:p>
        </p:txBody>
      </p:sp>
      <p:sp>
        <p:nvSpPr>
          <p:cNvPr id="22" name="Shape 20"/>
          <p:cNvSpPr/>
          <p:nvPr/>
        </p:nvSpPr>
        <p:spPr>
          <a:xfrm>
            <a:off x="685800" y="5029200"/>
            <a:ext cx="9829800" cy="868680"/>
          </a:xfrm>
          <a:prstGeom prst="roundRect">
            <a:avLst>
              <a:gd name="adj" fmla="val 9474"/>
            </a:avLst>
          </a:prstGeom>
          <a:solidFill>
            <a:srgbClr val="EEF4F4"/>
          </a:solidFill>
          <a:ln/>
        </p:spPr>
      </p:sp>
      <p:sp>
        <p:nvSpPr>
          <p:cNvPr id="23" name="Shape 21"/>
          <p:cNvSpPr/>
          <p:nvPr/>
        </p:nvSpPr>
        <p:spPr>
          <a:xfrm>
            <a:off x="685800" y="5029200"/>
            <a:ext cx="68580" cy="868680"/>
          </a:xfrm>
          <a:prstGeom prst="rect">
            <a:avLst/>
          </a:prstGeom>
          <a:solidFill>
            <a:srgbClr val="387F7F"/>
          </a:solidFill>
          <a:ln/>
        </p:spPr>
      </p:sp>
      <p:sp>
        <p:nvSpPr>
          <p:cNvPr id="24" name="Text 22"/>
          <p:cNvSpPr txBox="1"/>
          <p:nvPr/>
        </p:nvSpPr>
        <p:spPr>
          <a:xfrm>
            <a:off x="1051560" y="5029200"/>
            <a:ext cx="9235440" cy="868680"/>
          </a:xfrm>
          <a:prstGeom prst="rect">
            <a:avLst/>
          </a:prstGeom>
          <a:noFill/>
          <a:ln/>
        </p:spPr>
        <p:txBody>
          <a:bodyPr wrap="square" lIns="0" tIns="0" rIns="0" bIns="0" rtlCol="0" anchor="ctr"/>
          <a:lstStyle/>
          <a:p>
            <a:pPr algn="l" indent="0" marL="0">
              <a:lnSpc>
                <a:spcPct val="135000"/>
              </a:lnSpc>
              <a:buNone/>
            </a:pPr>
            <a:r>
              <a:rPr lang="en-US" sz="1500" b="1" dirty="0">
                <a:solidFill>
                  <a:srgbClr val="387F7F"/>
                </a:solidFill>
                <a:latin typeface="Poppins" pitchFamily="34" charset="0"/>
                <a:ea typeface="Poppins" pitchFamily="34" charset="-122"/>
                <a:cs typeface="Poppins" pitchFamily="34" charset="-120"/>
              </a:rPr>
              <a:t>Default to a measure. Reach for a column only when you need the result on an axis or in a slicer.</a:t>
            </a:r>
            <a:endParaRPr lang="en-US" sz="1500" dirty="0"/>
          </a:p>
        </p:txBody>
      </p:sp>
      <p:pic>
        <p:nvPicPr>
          <p:cNvPr id="2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6" name="Text 2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Filter context</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Understand why the same measure returns different numbers</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See what a visual actually hands your measure</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Learn the one idea that makes DAX click</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Every number on a dashboard is an answer to a filtered question</a:t>
            </a:r>
            <a:endParaRPr lang="en-US" sz="2400" dirty="0"/>
          </a:p>
        </p:txBody>
      </p:sp>
      <p:sp>
        <p:nvSpPr>
          <p:cNvPr id="6" name="Shape 4"/>
          <p:cNvSpPr/>
          <p:nvPr/>
        </p:nvSpPr>
        <p:spPr>
          <a:xfrm>
            <a:off x="822960" y="1691640"/>
            <a:ext cx="4023360" cy="457200"/>
          </a:xfrm>
          <a:prstGeom prst="roundRect">
            <a:avLst>
              <a:gd name="adj" fmla="val 14000"/>
            </a:avLst>
          </a:prstGeom>
          <a:solidFill>
            <a:srgbClr val="EEF4F4"/>
          </a:solidFill>
          <a:ln/>
        </p:spPr>
      </p:sp>
      <p:sp>
        <p:nvSpPr>
          <p:cNvPr id="7" name="Text 5"/>
          <p:cNvSpPr txBox="1"/>
          <p:nvPr/>
        </p:nvSpPr>
        <p:spPr>
          <a:xfrm>
            <a:off x="822960" y="1691640"/>
            <a:ext cx="4023360"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All 41,280 deliveries</a:t>
            </a:r>
            <a:endParaRPr lang="en-US" sz="1150" dirty="0"/>
          </a:p>
        </p:txBody>
      </p:sp>
      <p:sp>
        <p:nvSpPr>
          <p:cNvPr id="8" name="Shape 6"/>
          <p:cNvSpPr/>
          <p:nvPr/>
        </p:nvSpPr>
        <p:spPr>
          <a:xfrm>
            <a:off x="1037539" y="2258568"/>
            <a:ext cx="3594202" cy="457200"/>
          </a:xfrm>
          <a:prstGeom prst="roundRect">
            <a:avLst>
              <a:gd name="adj" fmla="val 14000"/>
            </a:avLst>
          </a:prstGeom>
          <a:solidFill>
            <a:srgbClr val="EEF4F4"/>
          </a:solidFill>
          <a:ln/>
        </p:spPr>
      </p:sp>
      <p:sp>
        <p:nvSpPr>
          <p:cNvPr id="9" name="Text 7"/>
          <p:cNvSpPr txBox="1"/>
          <p:nvPr/>
        </p:nvSpPr>
        <p:spPr>
          <a:xfrm>
            <a:off x="1037539" y="2258568"/>
            <a:ext cx="3594202"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Year = 2025</a:t>
            </a:r>
            <a:endParaRPr lang="en-US" sz="1150" dirty="0"/>
          </a:p>
        </p:txBody>
      </p:sp>
      <p:sp>
        <p:nvSpPr>
          <p:cNvPr id="10" name="Shape 8"/>
          <p:cNvSpPr/>
          <p:nvPr/>
        </p:nvSpPr>
        <p:spPr>
          <a:xfrm>
            <a:off x="1252118" y="2825496"/>
            <a:ext cx="3165043" cy="457200"/>
          </a:xfrm>
          <a:prstGeom prst="roundRect">
            <a:avLst>
              <a:gd name="adj" fmla="val 14000"/>
            </a:avLst>
          </a:prstGeom>
          <a:solidFill>
            <a:srgbClr val="EEF4F4"/>
          </a:solidFill>
          <a:ln/>
        </p:spPr>
      </p:sp>
      <p:sp>
        <p:nvSpPr>
          <p:cNvPr id="11" name="Text 9"/>
          <p:cNvSpPr txBox="1"/>
          <p:nvPr/>
        </p:nvSpPr>
        <p:spPr>
          <a:xfrm>
            <a:off x="1252118" y="2825496"/>
            <a:ext cx="3165043" cy="457200"/>
          </a:xfrm>
          <a:prstGeom prst="rect">
            <a:avLst/>
          </a:prstGeom>
          <a:noFill/>
          <a:ln/>
        </p:spPr>
        <p:txBody>
          <a:bodyPr wrap="square" lIns="0" tIns="0" rIns="0" bIns="0" rtlCol="0" anchor="ctr"/>
          <a:lstStyle/>
          <a:p>
            <a:pPr algn="ctr" indent="0" marL="0">
              <a:buNone/>
            </a:pPr>
            <a:r>
              <a:rPr lang="en-US" sz="1150" dirty="0">
                <a:solidFill>
                  <a:srgbClr val="475569"/>
                </a:solidFill>
                <a:latin typeface="Poppins" pitchFamily="34" charset="0"/>
                <a:ea typeface="Poppins" pitchFamily="34" charset="-122"/>
                <a:cs typeface="Poppins" pitchFamily="34" charset="-120"/>
              </a:rPr>
              <a:t>Month = March</a:t>
            </a:r>
            <a:endParaRPr lang="en-US" sz="1150" dirty="0"/>
          </a:p>
        </p:txBody>
      </p:sp>
      <p:sp>
        <p:nvSpPr>
          <p:cNvPr id="12" name="Shape 10"/>
          <p:cNvSpPr/>
          <p:nvPr/>
        </p:nvSpPr>
        <p:spPr>
          <a:xfrm>
            <a:off x="1466698" y="3392424"/>
            <a:ext cx="2735885" cy="457200"/>
          </a:xfrm>
          <a:prstGeom prst="roundRect">
            <a:avLst>
              <a:gd name="adj" fmla="val 14000"/>
            </a:avLst>
          </a:prstGeom>
          <a:solidFill>
            <a:srgbClr val="387F7F"/>
          </a:solidFill>
          <a:ln/>
        </p:spPr>
      </p:sp>
      <p:sp>
        <p:nvSpPr>
          <p:cNvPr id="13" name="Text 11"/>
          <p:cNvSpPr txBox="1"/>
          <p:nvPr/>
        </p:nvSpPr>
        <p:spPr>
          <a:xfrm>
            <a:off x="1466698" y="3392424"/>
            <a:ext cx="273588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Poppins" pitchFamily="34" charset="0"/>
                <a:ea typeface="Poppins" pitchFamily="34" charset="-122"/>
                <a:cs typeface="Poppins" pitchFamily="34" charset="-120"/>
              </a:rPr>
              <a:t>Hub = Apapa</a:t>
            </a:r>
            <a:endParaRPr lang="en-US" sz="1150" dirty="0"/>
          </a:p>
        </p:txBody>
      </p:sp>
      <p:sp>
        <p:nvSpPr>
          <p:cNvPr id="14" name="Text 12"/>
          <p:cNvSpPr txBox="1"/>
          <p:nvPr/>
        </p:nvSpPr>
        <p:spPr>
          <a:xfrm>
            <a:off x="822960" y="3904488"/>
            <a:ext cx="4023360" cy="237744"/>
          </a:xfrm>
          <a:prstGeom prst="rect">
            <a:avLst/>
          </a:prstGeom>
          <a:noFill/>
          <a:ln/>
        </p:spPr>
        <p:txBody>
          <a:bodyPr wrap="square" lIns="0" tIns="0" rIns="0" bIns="0" rtlCol="0" anchor="ctr"/>
          <a:lstStyle/>
          <a:p>
            <a:pPr algn="ctr" indent="0" marL="0">
              <a:buNone/>
            </a:pPr>
            <a:r>
              <a:rPr lang="en-US" sz="1100" dirty="0">
                <a:solidFill>
                  <a:srgbClr val="7FB3B3"/>
                </a:solidFill>
                <a:latin typeface="Poppins" pitchFamily="34" charset="0"/>
                <a:ea typeface="Poppins" pitchFamily="34" charset="-122"/>
                <a:cs typeface="Poppins" pitchFamily="34" charset="-120"/>
              </a:rPr>
              <a:t>▼</a:t>
            </a:r>
            <a:endParaRPr lang="en-US" sz="1100" dirty="0"/>
          </a:p>
        </p:txBody>
      </p:sp>
      <p:sp>
        <p:nvSpPr>
          <p:cNvPr id="15" name="Text 13"/>
          <p:cNvSpPr txBox="1"/>
          <p:nvPr/>
        </p:nvSpPr>
        <p:spPr>
          <a:xfrm>
            <a:off x="822960" y="4160520"/>
            <a:ext cx="4023360" cy="502920"/>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527</a:t>
            </a:r>
            <a:endParaRPr lang="en-US" sz="2400" dirty="0"/>
          </a:p>
        </p:txBody>
      </p:sp>
      <p:sp>
        <p:nvSpPr>
          <p:cNvPr id="16" name="Text 14"/>
          <p:cNvSpPr txBox="1"/>
          <p:nvPr/>
        </p:nvSpPr>
        <p:spPr>
          <a:xfrm>
            <a:off x="822960" y="4709160"/>
            <a:ext cx="4023360" cy="320040"/>
          </a:xfrm>
          <a:prstGeom prst="rect">
            <a:avLst/>
          </a:prstGeom>
          <a:noFill/>
          <a:ln/>
        </p:spPr>
        <p:txBody>
          <a:bodyPr wrap="square" lIns="0" tIns="0" rIns="0" bIns="0" rtlCol="0" anchor="t"/>
          <a:lstStyle/>
          <a:p>
            <a:pPr algn="ctr" indent="0" marL="0">
              <a:lnSpc>
                <a:spcPct val="135000"/>
              </a:lnSpc>
              <a:buNone/>
            </a:pPr>
            <a:r>
              <a:rPr lang="en-US" sz="1150" i="1" dirty="0">
                <a:solidFill>
                  <a:srgbClr val="64748B"/>
                </a:solidFill>
                <a:latin typeface="Poppins" pitchFamily="34" charset="0"/>
                <a:ea typeface="Poppins" pitchFamily="34" charset="-122"/>
                <a:cs typeface="Poppins" pitchFamily="34" charset="-120"/>
              </a:rPr>
              <a:t>what the measure actually counts</a:t>
            </a:r>
            <a:endParaRPr lang="en-US" sz="1150" dirty="0"/>
          </a:p>
        </p:txBody>
      </p:sp>
      <p:sp>
        <p:nvSpPr>
          <p:cNvPr id="17" name="Shape 15"/>
          <p:cNvSpPr/>
          <p:nvPr/>
        </p:nvSpPr>
        <p:spPr>
          <a:xfrm>
            <a:off x="5486400" y="1691640"/>
            <a:ext cx="5029200" cy="3291840"/>
          </a:xfrm>
          <a:prstGeom prst="roundRect">
            <a:avLst>
              <a:gd name="adj" fmla="val 2778"/>
            </a:avLst>
          </a:prstGeom>
          <a:solidFill>
            <a:srgbClr val="FFFFFF"/>
          </a:solidFill>
          <a:ln/>
          <a:effectLst>
            <a:outerShdw sx="100000" sy="100000" kx="0" ky="0" algn="bl" rotWithShape="0" blurRad="152400" dist="38100" dir="5400000">
              <a:srgbClr val="1B2A2E">
                <a:alpha val="14000"/>
              </a:srgbClr>
            </a:outerShdw>
          </a:effectLst>
        </p:spPr>
      </p:sp>
      <p:sp>
        <p:nvSpPr>
          <p:cNvPr id="18" name="Text 16"/>
          <p:cNvSpPr txBox="1"/>
          <p:nvPr/>
        </p:nvSpPr>
        <p:spPr>
          <a:xfrm>
            <a:off x="5806440" y="1965960"/>
            <a:ext cx="4434840" cy="548640"/>
          </a:xfrm>
          <a:prstGeom prst="rect">
            <a:avLst/>
          </a:prstGeom>
          <a:noFill/>
          <a:ln/>
        </p:spPr>
        <p:txBody>
          <a:bodyPr wrap="square" lIns="0" tIns="0" rIns="0" bIns="0" rtlCol="0" anchor="t"/>
          <a:lstStyle/>
          <a:p>
            <a:pPr algn="l" indent="0" marL="0">
              <a:lnSpc>
                <a:spcPct val="130000"/>
              </a:lnSpc>
              <a:buNone/>
            </a:pPr>
            <a:r>
              <a:rPr lang="en-US" sz="1500" b="1" dirty="0">
                <a:solidFill>
                  <a:srgbClr val="0A1A23"/>
                </a:solidFill>
                <a:latin typeface="Poppins" pitchFamily="34" charset="0"/>
                <a:ea typeface="Poppins" pitchFamily="34" charset="-122"/>
                <a:cs typeface="Poppins" pitchFamily="34" charset="-120"/>
              </a:rPr>
              <a:t>Look at one bar in a chart of deliveries by month, filtered to the Apapa hub.</a:t>
            </a:r>
            <a:endParaRPr lang="en-US" sz="1500" dirty="0"/>
          </a:p>
        </p:txBody>
      </p:sp>
      <p:sp>
        <p:nvSpPr>
          <p:cNvPr id="19" name="Text 17"/>
          <p:cNvSpPr txBox="1"/>
          <p:nvPr/>
        </p:nvSpPr>
        <p:spPr>
          <a:xfrm>
            <a:off x="5806440" y="2606040"/>
            <a:ext cx="4434840" cy="822960"/>
          </a:xfrm>
          <a:prstGeom prst="rect">
            <a:avLst/>
          </a:prstGeom>
          <a:noFill/>
          <a:ln/>
        </p:spPr>
        <p:txBody>
          <a:bodyPr wrap="square" lIns="0" tIns="0" rIns="0" bIns="0" rtlCol="0" anchor="t"/>
          <a:lstStyle/>
          <a:p>
            <a:pPr algn="l" indent="0" marL="0">
              <a:lnSpc>
                <a:spcPct val="132000"/>
              </a:lnSpc>
              <a:buNone/>
            </a:pPr>
            <a:r>
              <a:rPr lang="en-US" sz="1400" dirty="0">
                <a:solidFill>
                  <a:srgbClr val="475569"/>
                </a:solidFill>
                <a:latin typeface="Poppins" pitchFamily="34" charset="0"/>
                <a:ea typeface="Poppins" pitchFamily="34" charset="-122"/>
                <a:cs typeface="Poppins" pitchFamily="34" charset="-120"/>
              </a:rPr>
              <a:t>That bar is not “the total”. It is the total for March, for Apapa, for whatever the page filters say.</a:t>
            </a:r>
            <a:endParaRPr lang="en-US" sz="1400" dirty="0"/>
          </a:p>
        </p:txBody>
      </p:sp>
      <p:sp>
        <p:nvSpPr>
          <p:cNvPr id="20" name="Text 18"/>
          <p:cNvSpPr txBox="1"/>
          <p:nvPr/>
        </p:nvSpPr>
        <p:spPr>
          <a:xfrm>
            <a:off x="5806440" y="3520440"/>
            <a:ext cx="4434840" cy="914400"/>
          </a:xfrm>
          <a:prstGeom prst="rect">
            <a:avLst/>
          </a:prstGeom>
          <a:noFill/>
          <a:ln/>
        </p:spPr>
        <p:txBody>
          <a:bodyPr wrap="square" lIns="0" tIns="0" rIns="0" bIns="0" rtlCol="0" anchor="t"/>
          <a:lstStyle/>
          <a:p>
            <a:pPr algn="l" indent="0" marL="0">
              <a:lnSpc>
                <a:spcPct val="132000"/>
              </a:lnSpc>
              <a:buNone/>
            </a:pPr>
            <a:r>
              <a:rPr lang="en-US" sz="1400" dirty="0">
                <a:solidFill>
                  <a:srgbClr val="475569"/>
                </a:solidFill>
                <a:latin typeface="Poppins" pitchFamily="34" charset="0"/>
                <a:ea typeface="Poppins" pitchFamily="34" charset="-122"/>
                <a:cs typeface="Poppins" pitchFamily="34" charset="-120"/>
              </a:rPr>
              <a:t>Power BI works out that set of filters first, applies it to the model, and only then runs your measure against what survives.</a:t>
            </a:r>
            <a:endParaRPr lang="en-US" sz="1400" dirty="0"/>
          </a:p>
        </p:txBody>
      </p:sp>
      <p:sp>
        <p:nvSpPr>
          <p:cNvPr id="21" name="Shape 19"/>
          <p:cNvSpPr/>
          <p:nvPr/>
        </p:nvSpPr>
        <p:spPr>
          <a:xfrm>
            <a:off x="5806440" y="4480560"/>
            <a:ext cx="4434840" cy="384048"/>
          </a:xfrm>
          <a:prstGeom prst="roundRect">
            <a:avLst>
              <a:gd name="adj" fmla="val 47619"/>
            </a:avLst>
          </a:prstGeom>
          <a:solidFill>
            <a:srgbClr val="EEF4F4"/>
          </a:solidFill>
          <a:ln/>
        </p:spPr>
      </p:sp>
      <p:sp>
        <p:nvSpPr>
          <p:cNvPr id="22" name="Text 20"/>
          <p:cNvSpPr txBox="1"/>
          <p:nvPr/>
        </p:nvSpPr>
        <p:spPr>
          <a:xfrm>
            <a:off x="5806440" y="4480560"/>
            <a:ext cx="4434840" cy="384048"/>
          </a:xfrm>
          <a:prstGeom prst="rect">
            <a:avLst/>
          </a:prstGeom>
          <a:noFill/>
          <a:ln/>
        </p:spPr>
        <p:txBody>
          <a:bodyPr wrap="square" lIns="0" tIns="0" rIns="0" bIns="0" rtlCol="0" anchor="ctr"/>
          <a:lstStyle/>
          <a:p>
            <a:pPr algn="ctr" indent="0" marL="0">
              <a:buNone/>
            </a:pPr>
            <a:r>
              <a:rPr lang="en-US" sz="1200" b="1" dirty="0">
                <a:solidFill>
                  <a:srgbClr val="387F7F"/>
                </a:solidFill>
                <a:latin typeface="Poppins" pitchFamily="34" charset="0"/>
                <a:ea typeface="Poppins" pitchFamily="34" charset="-122"/>
                <a:cs typeface="Poppins" pitchFamily="34" charset="-120"/>
              </a:rPr>
              <a:t>That set of filters is the filter context.</a:t>
            </a:r>
            <a:endParaRPr lang="en-US" sz="1200" dirty="0"/>
          </a:p>
        </p:txBody>
      </p:sp>
      <p:sp>
        <p:nvSpPr>
          <p:cNvPr id="23" name="Shape 21"/>
          <p:cNvSpPr/>
          <p:nvPr/>
        </p:nvSpPr>
        <p:spPr>
          <a:xfrm>
            <a:off x="685800" y="5257800"/>
            <a:ext cx="9829800" cy="868680"/>
          </a:xfrm>
          <a:prstGeom prst="roundRect">
            <a:avLst>
              <a:gd name="adj" fmla="val 9474"/>
            </a:avLst>
          </a:prstGeom>
          <a:solidFill>
            <a:srgbClr val="EEF4F4"/>
          </a:solidFill>
          <a:ln/>
        </p:spPr>
      </p:sp>
      <p:sp>
        <p:nvSpPr>
          <p:cNvPr id="24" name="Shape 22"/>
          <p:cNvSpPr/>
          <p:nvPr/>
        </p:nvSpPr>
        <p:spPr>
          <a:xfrm>
            <a:off x="685800" y="5257800"/>
            <a:ext cx="68580" cy="868680"/>
          </a:xfrm>
          <a:prstGeom prst="rect">
            <a:avLst/>
          </a:prstGeom>
          <a:solidFill>
            <a:srgbClr val="387F7F"/>
          </a:solidFill>
          <a:ln/>
        </p:spPr>
      </p:sp>
      <p:sp>
        <p:nvSpPr>
          <p:cNvPr id="25" name="Text 23"/>
          <p:cNvSpPr txBox="1"/>
          <p:nvPr/>
        </p:nvSpPr>
        <p:spPr>
          <a:xfrm>
            <a:off x="1051560" y="5257800"/>
            <a:ext cx="9235440" cy="868680"/>
          </a:xfrm>
          <a:prstGeom prst="rect">
            <a:avLst/>
          </a:prstGeom>
          <a:noFill/>
          <a:ln/>
        </p:spPr>
        <p:txBody>
          <a:bodyPr wrap="square" lIns="0" tIns="0" rIns="0" bIns="0" rtlCol="0" anchor="ctr"/>
          <a:lstStyle/>
          <a:p>
            <a:pPr algn="l" indent="0" marL="0">
              <a:lnSpc>
                <a:spcPct val="135000"/>
              </a:lnSpc>
              <a:buNone/>
            </a:pPr>
            <a:r>
              <a:rPr lang="en-US" sz="1600" b="1" dirty="0">
                <a:solidFill>
                  <a:srgbClr val="387F7F"/>
                </a:solidFill>
                <a:latin typeface="Poppins" pitchFamily="34" charset="0"/>
                <a:ea typeface="Poppins" pitchFamily="34" charset="-122"/>
                <a:cs typeface="Poppins" pitchFamily="34" charset="-120"/>
              </a:rPr>
              <a:t>You write the definition once. The visuals supply the questions.</a:t>
            </a:r>
            <a:endParaRPr lang="en-US" sz="1600" dirty="0"/>
          </a:p>
        </p:txBody>
      </p:sp>
      <p:pic>
        <p:nvPicPr>
          <p:cNvPr id="26"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7" name="Text 24"/>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One measure, written once, answering differently everywhere</a:t>
            </a:r>
            <a:endParaRPr lang="en-US" sz="2400" dirty="0"/>
          </a:p>
        </p:txBody>
      </p:sp>
      <p:sp>
        <p:nvSpPr>
          <p:cNvPr id="6" name="Shape 4"/>
          <p:cNvSpPr/>
          <p:nvPr/>
        </p:nvSpPr>
        <p:spPr>
          <a:xfrm>
            <a:off x="685800" y="1645920"/>
            <a:ext cx="9829800" cy="457200"/>
          </a:xfrm>
          <a:prstGeom prst="roundRect">
            <a:avLst>
              <a:gd name="adj" fmla="val 16000"/>
            </a:avLst>
          </a:prstGeom>
          <a:solidFill>
            <a:srgbClr val="20494A"/>
          </a:solidFill>
          <a:ln/>
        </p:spPr>
      </p:sp>
      <p:sp>
        <p:nvSpPr>
          <p:cNvPr id="7" name="Text 5"/>
          <p:cNvSpPr txBox="1"/>
          <p:nvPr/>
        </p:nvSpPr>
        <p:spPr>
          <a:xfrm>
            <a:off x="822960" y="1645920"/>
            <a:ext cx="2926080"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Poppins" pitchFamily="34" charset="0"/>
                <a:ea typeface="Poppins" pitchFamily="34" charset="-122"/>
                <a:cs typeface="Poppins" pitchFamily="34" charset="-120"/>
              </a:rPr>
              <a:t>Where it appears</a:t>
            </a:r>
            <a:endParaRPr lang="en-US" sz="1200" dirty="0"/>
          </a:p>
        </p:txBody>
      </p:sp>
      <p:sp>
        <p:nvSpPr>
          <p:cNvPr id="8" name="Text 6"/>
          <p:cNvSpPr txBox="1"/>
          <p:nvPr/>
        </p:nvSpPr>
        <p:spPr>
          <a:xfrm>
            <a:off x="3931920" y="1645920"/>
            <a:ext cx="4114800"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Poppins" pitchFamily="34" charset="0"/>
                <a:ea typeface="Poppins" pitchFamily="34" charset="-122"/>
                <a:cs typeface="Poppins" pitchFamily="34" charset="-120"/>
              </a:rPr>
              <a:t>Filter context</a:t>
            </a:r>
            <a:endParaRPr lang="en-US" sz="1200" dirty="0"/>
          </a:p>
        </p:txBody>
      </p:sp>
      <p:sp>
        <p:nvSpPr>
          <p:cNvPr id="9" name="Text 7"/>
          <p:cNvSpPr txBox="1"/>
          <p:nvPr/>
        </p:nvSpPr>
        <p:spPr>
          <a:xfrm>
            <a:off x="8229600" y="1645920"/>
            <a:ext cx="2103120" cy="457200"/>
          </a:xfrm>
          <a:prstGeom prst="rect">
            <a:avLst/>
          </a:prstGeom>
          <a:noFill/>
          <a:ln/>
        </p:spPr>
        <p:txBody>
          <a:bodyPr wrap="square" lIns="0" tIns="0" rIns="0" bIns="0" rtlCol="0" anchor="ctr"/>
          <a:lstStyle/>
          <a:p>
            <a:pPr algn="r" indent="0" marL="0">
              <a:buNone/>
            </a:pPr>
            <a:r>
              <a:rPr lang="en-US" sz="1200" b="1" dirty="0">
                <a:solidFill>
                  <a:srgbClr val="FFFFFF"/>
                </a:solidFill>
                <a:latin typeface="Poppins" pitchFamily="34" charset="0"/>
                <a:ea typeface="Poppins" pitchFamily="34" charset="-122"/>
                <a:cs typeface="Poppins" pitchFamily="34" charset="-120"/>
              </a:rPr>
              <a:t>Total Deliveries returns</a:t>
            </a:r>
            <a:endParaRPr lang="en-US" sz="1200" dirty="0"/>
          </a:p>
        </p:txBody>
      </p:sp>
      <p:sp>
        <p:nvSpPr>
          <p:cNvPr id="10" name="Shape 8"/>
          <p:cNvSpPr/>
          <p:nvPr/>
        </p:nvSpPr>
        <p:spPr>
          <a:xfrm>
            <a:off x="685800" y="2212848"/>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11" name="Text 9"/>
          <p:cNvSpPr txBox="1"/>
          <p:nvPr/>
        </p:nvSpPr>
        <p:spPr>
          <a:xfrm>
            <a:off x="822960" y="2212848"/>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Card on the page</a:t>
            </a:r>
            <a:endParaRPr lang="en-US" sz="1350" dirty="0"/>
          </a:p>
        </p:txBody>
      </p:sp>
      <p:sp>
        <p:nvSpPr>
          <p:cNvPr id="12" name="Shape 10"/>
          <p:cNvSpPr/>
          <p:nvPr/>
        </p:nvSpPr>
        <p:spPr>
          <a:xfrm>
            <a:off x="3931920" y="2359152"/>
            <a:ext cx="3840480" cy="347472"/>
          </a:xfrm>
          <a:prstGeom prst="roundRect">
            <a:avLst>
              <a:gd name="adj" fmla="val 50000"/>
            </a:avLst>
          </a:prstGeom>
          <a:solidFill>
            <a:srgbClr val="EEF4F4"/>
          </a:solidFill>
          <a:ln/>
        </p:spPr>
      </p:sp>
      <p:sp>
        <p:nvSpPr>
          <p:cNvPr id="13" name="Text 11"/>
          <p:cNvSpPr txBox="1"/>
          <p:nvPr/>
        </p:nvSpPr>
        <p:spPr>
          <a:xfrm>
            <a:off x="3931920" y="2359152"/>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a:t>
            </a:r>
            <a:endParaRPr lang="en-US" sz="1100" dirty="0"/>
          </a:p>
        </p:txBody>
      </p:sp>
      <p:sp>
        <p:nvSpPr>
          <p:cNvPr id="14" name="Text 12"/>
          <p:cNvSpPr txBox="1"/>
          <p:nvPr/>
        </p:nvSpPr>
        <p:spPr>
          <a:xfrm>
            <a:off x="8229600" y="2212848"/>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41,280</a:t>
            </a:r>
            <a:endParaRPr lang="en-US" sz="1900" dirty="0"/>
          </a:p>
        </p:txBody>
      </p:sp>
      <p:sp>
        <p:nvSpPr>
          <p:cNvPr id="15" name="Shape 13"/>
          <p:cNvSpPr/>
          <p:nvPr/>
        </p:nvSpPr>
        <p:spPr>
          <a:xfrm>
            <a:off x="685800" y="2962656"/>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16" name="Text 14"/>
          <p:cNvSpPr txBox="1"/>
          <p:nvPr/>
        </p:nvSpPr>
        <p:spPr>
          <a:xfrm>
            <a:off x="822960" y="2962656"/>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Bar for March</a:t>
            </a:r>
            <a:endParaRPr lang="en-US" sz="1350" dirty="0"/>
          </a:p>
        </p:txBody>
      </p:sp>
      <p:sp>
        <p:nvSpPr>
          <p:cNvPr id="17" name="Shape 15"/>
          <p:cNvSpPr/>
          <p:nvPr/>
        </p:nvSpPr>
        <p:spPr>
          <a:xfrm>
            <a:off x="3931920" y="3108960"/>
            <a:ext cx="3840480" cy="347472"/>
          </a:xfrm>
          <a:prstGeom prst="roundRect">
            <a:avLst>
              <a:gd name="adj" fmla="val 50000"/>
            </a:avLst>
          </a:prstGeom>
          <a:solidFill>
            <a:srgbClr val="EEF4F4"/>
          </a:solidFill>
          <a:ln/>
        </p:spPr>
      </p:sp>
      <p:sp>
        <p:nvSpPr>
          <p:cNvPr id="18" name="Text 16"/>
          <p:cNvSpPr txBox="1"/>
          <p:nvPr/>
        </p:nvSpPr>
        <p:spPr>
          <a:xfrm>
            <a:off x="3931920" y="3108960"/>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 Month March</a:t>
            </a:r>
            <a:endParaRPr lang="en-US" sz="1100" dirty="0"/>
          </a:p>
        </p:txBody>
      </p:sp>
      <p:sp>
        <p:nvSpPr>
          <p:cNvPr id="19" name="Text 17"/>
          <p:cNvSpPr txBox="1"/>
          <p:nvPr/>
        </p:nvSpPr>
        <p:spPr>
          <a:xfrm>
            <a:off x="8229600" y="2962656"/>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2,960</a:t>
            </a:r>
            <a:endParaRPr lang="en-US" sz="1900" dirty="0"/>
          </a:p>
        </p:txBody>
      </p:sp>
      <p:sp>
        <p:nvSpPr>
          <p:cNvPr id="20" name="Shape 18"/>
          <p:cNvSpPr/>
          <p:nvPr/>
        </p:nvSpPr>
        <p:spPr>
          <a:xfrm>
            <a:off x="685800" y="3712464"/>
            <a:ext cx="9829800" cy="640080"/>
          </a:xfrm>
          <a:prstGeom prst="roundRect">
            <a:avLst>
              <a:gd name="adj" fmla="val 14286"/>
            </a:avLst>
          </a:prstGeom>
          <a:solidFill>
            <a:srgbClr val="FFFFFF"/>
          </a:solidFill>
          <a:ln/>
          <a:effectLst>
            <a:outerShdw sx="100000" sy="100000" kx="0" ky="0" algn="bl" rotWithShape="0" blurRad="152400" dist="38100" dir="5400000">
              <a:srgbClr val="1B2A2E">
                <a:alpha val="14000"/>
              </a:srgbClr>
            </a:outerShdw>
          </a:effectLst>
        </p:spPr>
      </p:sp>
      <p:sp>
        <p:nvSpPr>
          <p:cNvPr id="21" name="Text 19"/>
          <p:cNvSpPr txBox="1"/>
          <p:nvPr/>
        </p:nvSpPr>
        <p:spPr>
          <a:xfrm>
            <a:off x="822960" y="3712464"/>
            <a:ext cx="2926080" cy="640080"/>
          </a:xfrm>
          <a:prstGeom prst="rect">
            <a:avLst/>
          </a:prstGeom>
          <a:noFill/>
          <a:ln/>
        </p:spPr>
        <p:txBody>
          <a:bodyPr wrap="square" lIns="0" tIns="0" rIns="0" bIns="0" rtlCol="0" anchor="ctr"/>
          <a:lstStyle/>
          <a:p>
            <a:pPr indent="0" marL="0">
              <a:buNone/>
            </a:pPr>
            <a:r>
              <a:rPr lang="en-US" sz="1350" dirty="0">
                <a:solidFill>
                  <a:srgbClr val="475569"/>
                </a:solidFill>
                <a:latin typeface="Poppins" pitchFamily="34" charset="0"/>
                <a:ea typeface="Poppins" pitchFamily="34" charset="-122"/>
                <a:cs typeface="Poppins" pitchFamily="34" charset="-120"/>
              </a:rPr>
              <a:t>Cell in a matrix</a:t>
            </a:r>
            <a:endParaRPr lang="en-US" sz="1350" dirty="0"/>
          </a:p>
        </p:txBody>
      </p:sp>
      <p:sp>
        <p:nvSpPr>
          <p:cNvPr id="22" name="Shape 20"/>
          <p:cNvSpPr/>
          <p:nvPr/>
        </p:nvSpPr>
        <p:spPr>
          <a:xfrm>
            <a:off x="3931920" y="3858768"/>
            <a:ext cx="3840480" cy="347472"/>
          </a:xfrm>
          <a:prstGeom prst="roundRect">
            <a:avLst>
              <a:gd name="adj" fmla="val 50000"/>
            </a:avLst>
          </a:prstGeom>
          <a:solidFill>
            <a:srgbClr val="EEF4F4"/>
          </a:solidFill>
          <a:ln/>
        </p:spPr>
      </p:sp>
      <p:sp>
        <p:nvSpPr>
          <p:cNvPr id="23" name="Text 21"/>
          <p:cNvSpPr txBox="1"/>
          <p:nvPr/>
        </p:nvSpPr>
        <p:spPr>
          <a:xfrm>
            <a:off x="3931920" y="3858768"/>
            <a:ext cx="3840480" cy="347472"/>
          </a:xfrm>
          <a:prstGeom prst="rect">
            <a:avLst/>
          </a:prstGeom>
          <a:noFill/>
          <a:ln/>
        </p:spPr>
        <p:txBody>
          <a:bodyPr wrap="square" lIns="0" tIns="0" rIns="0" bIns="0" rtlCol="0" anchor="ctr"/>
          <a:lstStyle/>
          <a:p>
            <a:pPr algn="ctr" indent="0" marL="0">
              <a:buNone/>
            </a:pPr>
            <a:r>
              <a:rPr lang="en-US" sz="1100" b="1" dirty="0">
                <a:solidFill>
                  <a:srgbClr val="387F7F"/>
                </a:solidFill>
                <a:latin typeface="Poppins" pitchFamily="34" charset="0"/>
                <a:ea typeface="Poppins" pitchFamily="34" charset="-122"/>
                <a:cs typeface="Poppins" pitchFamily="34" charset="-120"/>
              </a:rPr>
              <a:t>Year 2025, March, Hub Apapa</a:t>
            </a:r>
            <a:endParaRPr lang="en-US" sz="1100" dirty="0"/>
          </a:p>
        </p:txBody>
      </p:sp>
      <p:sp>
        <p:nvSpPr>
          <p:cNvPr id="24" name="Text 22"/>
          <p:cNvSpPr txBox="1"/>
          <p:nvPr/>
        </p:nvSpPr>
        <p:spPr>
          <a:xfrm>
            <a:off x="8229600" y="3712464"/>
            <a:ext cx="2103120" cy="640080"/>
          </a:xfrm>
          <a:prstGeom prst="rect">
            <a:avLst/>
          </a:prstGeom>
          <a:noFill/>
          <a:ln/>
        </p:spPr>
        <p:txBody>
          <a:bodyPr wrap="square" lIns="0" tIns="0" rIns="0" bIns="0" rtlCol="0" anchor="ctr"/>
          <a:lstStyle/>
          <a:p>
            <a:pPr algn="r" indent="0" marL="0">
              <a:buNone/>
            </a:pPr>
            <a:r>
              <a:rPr lang="en-US" sz="1900" b="1" dirty="0">
                <a:solidFill>
                  <a:srgbClr val="387F7F"/>
                </a:solidFill>
                <a:latin typeface="Poppins" pitchFamily="34" charset="0"/>
                <a:ea typeface="Poppins" pitchFamily="34" charset="-122"/>
                <a:cs typeface="Poppins" pitchFamily="34" charset="-120"/>
              </a:rPr>
              <a:t>527</a:t>
            </a:r>
            <a:endParaRPr lang="en-US" sz="1900" dirty="0"/>
          </a:p>
        </p:txBody>
      </p:sp>
      <p:sp>
        <p:nvSpPr>
          <p:cNvPr id="25" name="Shape 23"/>
          <p:cNvSpPr/>
          <p:nvPr/>
        </p:nvSpPr>
        <p:spPr>
          <a:xfrm>
            <a:off x="685800" y="4572000"/>
            <a:ext cx="9829800" cy="822960"/>
          </a:xfrm>
          <a:prstGeom prst="roundRect">
            <a:avLst>
              <a:gd name="adj" fmla="val 10000"/>
            </a:avLst>
          </a:prstGeom>
          <a:solidFill>
            <a:srgbClr val="10312F"/>
          </a:solidFill>
          <a:ln/>
          <a:effectLst>
            <a:outerShdw sx="100000" sy="100000" kx="0" ky="0" algn="bl" rotWithShape="0" blurRad="127000" dist="38100" dir="5400000">
              <a:srgbClr val="1B2A2E">
                <a:alpha val="20000"/>
              </a:srgbClr>
            </a:outerShdw>
          </a:effectLst>
        </p:spPr>
      </p:sp>
      <p:sp>
        <p:nvSpPr>
          <p:cNvPr id="26" name="Shape 24"/>
          <p:cNvSpPr/>
          <p:nvPr/>
        </p:nvSpPr>
        <p:spPr>
          <a:xfrm>
            <a:off x="886968" y="4434840"/>
            <a:ext cx="1554480" cy="292608"/>
          </a:xfrm>
          <a:prstGeom prst="roundRect">
            <a:avLst>
              <a:gd name="adj" fmla="val 50000"/>
            </a:avLst>
          </a:prstGeom>
          <a:solidFill>
            <a:srgbClr val="387F7F"/>
          </a:solidFill>
          <a:ln/>
        </p:spPr>
      </p:sp>
      <p:sp>
        <p:nvSpPr>
          <p:cNvPr id="27" name="Text 25"/>
          <p:cNvSpPr txBox="1"/>
          <p:nvPr/>
        </p:nvSpPr>
        <p:spPr>
          <a:xfrm>
            <a:off x="886968" y="4434840"/>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WRITTEN ONCE</a:t>
            </a:r>
            <a:endParaRPr lang="en-US" sz="900" dirty="0"/>
          </a:p>
        </p:txBody>
      </p:sp>
      <p:sp>
        <p:nvSpPr>
          <p:cNvPr id="28" name="Text 26"/>
          <p:cNvSpPr txBox="1"/>
          <p:nvPr/>
        </p:nvSpPr>
        <p:spPr>
          <a:xfrm>
            <a:off x="960120" y="4846320"/>
            <a:ext cx="9281160" cy="365760"/>
          </a:xfrm>
          <a:prstGeom prst="rect">
            <a:avLst/>
          </a:prstGeom>
          <a:noFill/>
          <a:ln/>
        </p:spPr>
        <p:txBody>
          <a:bodyPr wrap="square" lIns="0" tIns="0" rIns="0" bIns="0" rtlCol="0" anchor="ctr"/>
          <a:lstStyle/>
          <a:p>
            <a:pPr indent="0" marL="0">
              <a:lnSpc>
                <a:spcPct val="125000"/>
              </a:lnSpc>
              <a:buNone/>
            </a:pPr>
            <a:r>
              <a:rPr lang="en-US" sz="1300" dirty="0">
                <a:solidFill>
                  <a:srgbClr val="CFE6E3"/>
                </a:solidFill>
                <a:latin typeface="Roboto Mono" pitchFamily="34" charset="0"/>
                <a:ea typeface="Roboto Mono" pitchFamily="34" charset="-122"/>
                <a:cs typeface="Roboto Mono" pitchFamily="34" charset="-120"/>
              </a:rPr>
              <a:t>Total Deliveries = COUNTROWS ( swiftroute_deliveries )</a:t>
            </a:r>
            <a:endParaRPr lang="en-US" sz="1300" dirty="0"/>
          </a:p>
        </p:txBody>
      </p:sp>
      <p:sp>
        <p:nvSpPr>
          <p:cNvPr id="29" name="Shape 27"/>
          <p:cNvSpPr/>
          <p:nvPr/>
        </p:nvSpPr>
        <p:spPr>
          <a:xfrm>
            <a:off x="685800" y="5623560"/>
            <a:ext cx="9829800" cy="640080"/>
          </a:xfrm>
          <a:prstGeom prst="roundRect">
            <a:avLst>
              <a:gd name="adj" fmla="val 12857"/>
            </a:avLst>
          </a:prstGeom>
          <a:solidFill>
            <a:srgbClr val="EEF4F4"/>
          </a:solidFill>
          <a:ln/>
        </p:spPr>
      </p:sp>
      <p:sp>
        <p:nvSpPr>
          <p:cNvPr id="30" name="Shape 28"/>
          <p:cNvSpPr/>
          <p:nvPr/>
        </p:nvSpPr>
        <p:spPr>
          <a:xfrm>
            <a:off x="685800" y="5623560"/>
            <a:ext cx="68580" cy="640080"/>
          </a:xfrm>
          <a:prstGeom prst="rect">
            <a:avLst/>
          </a:prstGeom>
          <a:solidFill>
            <a:srgbClr val="387F7F"/>
          </a:solidFill>
          <a:ln/>
        </p:spPr>
      </p:sp>
      <p:sp>
        <p:nvSpPr>
          <p:cNvPr id="31" name="Text 29"/>
          <p:cNvSpPr txBox="1"/>
          <p:nvPr/>
        </p:nvSpPr>
        <p:spPr>
          <a:xfrm>
            <a:off x="1051560" y="5623560"/>
            <a:ext cx="9235440" cy="640080"/>
          </a:xfrm>
          <a:prstGeom prst="rect">
            <a:avLst/>
          </a:prstGeom>
          <a:noFill/>
          <a:ln/>
        </p:spPr>
        <p:txBody>
          <a:bodyPr wrap="square" lIns="0" tIns="0" rIns="0" bIns="0" rtlCol="0" anchor="ctr"/>
          <a:lstStyle/>
          <a:p>
            <a:pPr algn="l" indent="0" marL="0">
              <a:lnSpc>
                <a:spcPct val="135000"/>
              </a:lnSpc>
              <a:buNone/>
            </a:pPr>
            <a:r>
              <a:rPr lang="en-US" sz="1450" b="1" dirty="0">
                <a:solidFill>
                  <a:srgbClr val="387F7F"/>
                </a:solidFill>
                <a:latin typeface="Poppins" pitchFamily="34" charset="0"/>
                <a:ea typeface="Poppins" pitchFamily="34" charset="-122"/>
                <a:cs typeface="Poppins" pitchFamily="34" charset="-120"/>
              </a:rPr>
              <a:t>Same measure. Three questions. Three correct answers.</a:t>
            </a:r>
            <a:endParaRPr lang="en-US" sz="1450" dirty="0"/>
          </a:p>
        </p:txBody>
      </p:sp>
      <p:pic>
        <p:nvPicPr>
          <p:cNvPr id="32"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3" name="Text 30"/>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The three measures</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An aggregation, wrapped in a name</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ratio that will not break on zero</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time comparison in one line</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one: wrap your aggregation in a name</a:t>
            </a:r>
            <a:endParaRPr lang="en-US" sz="2700" dirty="0"/>
          </a:p>
        </p:txBody>
      </p:sp>
      <p:sp>
        <p:nvSpPr>
          <p:cNvPr id="6" name="Shape 4"/>
          <p:cNvSpPr/>
          <p:nvPr/>
        </p:nvSpPr>
        <p:spPr>
          <a:xfrm>
            <a:off x="685800" y="1691640"/>
            <a:ext cx="5120640" cy="1051560"/>
          </a:xfrm>
          <a:prstGeom prst="roundRect">
            <a:avLst>
              <a:gd name="adj" fmla="val 7826"/>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554480"/>
            <a:ext cx="1005840" cy="292608"/>
          </a:xfrm>
          <a:prstGeom prst="roundRect">
            <a:avLst>
              <a:gd name="adj" fmla="val 50000"/>
            </a:avLst>
          </a:prstGeom>
          <a:solidFill>
            <a:srgbClr val="387F7F"/>
          </a:solidFill>
          <a:ln/>
        </p:spPr>
      </p:sp>
      <p:sp>
        <p:nvSpPr>
          <p:cNvPr id="8" name="Text 6"/>
          <p:cNvSpPr txBox="1"/>
          <p:nvPr/>
        </p:nvSpPr>
        <p:spPr>
          <a:xfrm>
            <a:off x="886968" y="1554480"/>
            <a:ext cx="10058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COUNT</a:t>
            </a:r>
            <a:endParaRPr lang="en-US" sz="900" dirty="0"/>
          </a:p>
        </p:txBody>
      </p:sp>
      <p:sp>
        <p:nvSpPr>
          <p:cNvPr id="9" name="Text 7"/>
          <p:cNvSpPr txBox="1"/>
          <p:nvPr/>
        </p:nvSpPr>
        <p:spPr>
          <a:xfrm>
            <a:off x="960120" y="1965960"/>
            <a:ext cx="4572000" cy="594360"/>
          </a:xfrm>
          <a:prstGeom prst="rect">
            <a:avLst/>
          </a:prstGeom>
          <a:noFill/>
          <a:ln/>
        </p:spPr>
        <p:txBody>
          <a:bodyPr wrap="square" lIns="0" tIns="0" rIns="0" bIns="0" rtlCol="0" anchor="ctr"/>
          <a:lstStyle/>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Total Deliveries =</a:t>
            </a:r>
            <a:endParaRPr lang="en-US" sz="1250" dirty="0"/>
          </a:p>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    COUNTROWS ( swiftroute_deliveries )</a:t>
            </a:r>
            <a:endParaRPr lang="en-US" sz="1250" dirty="0"/>
          </a:p>
        </p:txBody>
      </p:sp>
      <p:sp>
        <p:nvSpPr>
          <p:cNvPr id="10" name="Shape 8"/>
          <p:cNvSpPr/>
          <p:nvPr/>
        </p:nvSpPr>
        <p:spPr>
          <a:xfrm>
            <a:off x="685800" y="3063240"/>
            <a:ext cx="5120640" cy="1051560"/>
          </a:xfrm>
          <a:prstGeom prst="roundRect">
            <a:avLst>
              <a:gd name="adj" fmla="val 7826"/>
            </a:avLst>
          </a:prstGeom>
          <a:solidFill>
            <a:srgbClr val="10312F"/>
          </a:solidFill>
          <a:ln/>
          <a:effectLst>
            <a:outerShdw sx="100000" sy="100000" kx="0" ky="0" algn="bl" rotWithShape="0" blurRad="127000" dist="38100" dir="5400000">
              <a:srgbClr val="1B2A2E">
                <a:alpha val="20000"/>
              </a:srgbClr>
            </a:outerShdw>
          </a:effectLst>
        </p:spPr>
      </p:sp>
      <p:sp>
        <p:nvSpPr>
          <p:cNvPr id="11" name="Shape 9"/>
          <p:cNvSpPr/>
          <p:nvPr/>
        </p:nvSpPr>
        <p:spPr>
          <a:xfrm>
            <a:off x="886968" y="2926080"/>
            <a:ext cx="1005840" cy="292608"/>
          </a:xfrm>
          <a:prstGeom prst="roundRect">
            <a:avLst>
              <a:gd name="adj" fmla="val 50000"/>
            </a:avLst>
          </a:prstGeom>
          <a:solidFill>
            <a:srgbClr val="387F7F"/>
          </a:solidFill>
          <a:ln/>
        </p:spPr>
      </p:sp>
      <p:sp>
        <p:nvSpPr>
          <p:cNvPr id="12" name="Text 10"/>
          <p:cNvSpPr txBox="1"/>
          <p:nvPr/>
        </p:nvSpPr>
        <p:spPr>
          <a:xfrm>
            <a:off x="886968" y="2926080"/>
            <a:ext cx="10058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SUM</a:t>
            </a:r>
            <a:endParaRPr lang="en-US" sz="900" dirty="0"/>
          </a:p>
        </p:txBody>
      </p:sp>
      <p:sp>
        <p:nvSpPr>
          <p:cNvPr id="13" name="Text 11"/>
          <p:cNvSpPr txBox="1"/>
          <p:nvPr/>
        </p:nvSpPr>
        <p:spPr>
          <a:xfrm>
            <a:off x="960120" y="3337560"/>
            <a:ext cx="4572000" cy="594360"/>
          </a:xfrm>
          <a:prstGeom prst="rect">
            <a:avLst/>
          </a:prstGeom>
          <a:noFill/>
          <a:ln/>
        </p:spPr>
        <p:txBody>
          <a:bodyPr wrap="square" lIns="0" tIns="0" rIns="0" bIns="0" rtlCol="0" anchor="ctr"/>
          <a:lstStyle/>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Total Revenue =</a:t>
            </a:r>
            <a:endParaRPr lang="en-US" sz="1250" dirty="0"/>
          </a:p>
          <a:p>
            <a:pPr indent="0" marL="0">
              <a:lnSpc>
                <a:spcPct val="125000"/>
              </a:lnSpc>
              <a:buNone/>
            </a:pPr>
            <a:r>
              <a:rPr lang="en-US" sz="1250" dirty="0">
                <a:solidFill>
                  <a:srgbClr val="CFE6E3"/>
                </a:solidFill>
                <a:latin typeface="Roboto Mono" pitchFamily="34" charset="0"/>
                <a:ea typeface="Roboto Mono" pitchFamily="34" charset="-122"/>
                <a:cs typeface="Roboto Mono" pitchFamily="34" charset="-120"/>
              </a:rPr>
              <a:t>    SUM ( swiftroute_deliveries[DeliveryFee] )</a:t>
            </a:r>
            <a:endParaRPr lang="en-US" sz="1250" dirty="0"/>
          </a:p>
        </p:txBody>
      </p:sp>
      <p:sp>
        <p:nvSpPr>
          <p:cNvPr id="14" name="Shape 12"/>
          <p:cNvSpPr/>
          <p:nvPr/>
        </p:nvSpPr>
        <p:spPr>
          <a:xfrm>
            <a:off x="685800" y="4480560"/>
            <a:ext cx="5120640" cy="914400"/>
          </a:xfrm>
          <a:prstGeom prst="roundRect">
            <a:avLst>
              <a:gd name="adj" fmla="val 10000"/>
            </a:avLst>
          </a:prstGeom>
          <a:solidFill>
            <a:srgbClr val="EEF4F4"/>
          </a:solidFill>
          <a:ln/>
          <a:effectLst>
            <a:outerShdw sx="100000" sy="100000" kx="0" ky="0" algn="bl" rotWithShape="0" blurRad="152400" dist="38100" dir="5400000">
              <a:srgbClr val="1B2A2E">
                <a:alpha val="14000"/>
              </a:srgbClr>
            </a:outerShdw>
          </a:effectLst>
        </p:spPr>
      </p:sp>
      <p:sp>
        <p:nvSpPr>
          <p:cNvPr id="15" name="Text 13"/>
          <p:cNvSpPr txBox="1"/>
          <p:nvPr/>
        </p:nvSpPr>
        <p:spPr>
          <a:xfrm>
            <a:off x="868680" y="4617720"/>
            <a:ext cx="2286000" cy="640080"/>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41,280</a:t>
            </a:r>
            <a:endParaRPr lang="en-US" sz="2400" dirty="0"/>
          </a:p>
        </p:txBody>
      </p:sp>
      <p:sp>
        <p:nvSpPr>
          <p:cNvPr id="16" name="Text 14"/>
          <p:cNvSpPr txBox="1"/>
          <p:nvPr/>
        </p:nvSpPr>
        <p:spPr>
          <a:xfrm>
            <a:off x="3154680" y="4617720"/>
            <a:ext cx="2468880" cy="640080"/>
          </a:xfrm>
          <a:prstGeom prst="rect">
            <a:avLst/>
          </a:prstGeom>
          <a:noFill/>
          <a:ln/>
        </p:spPr>
        <p:txBody>
          <a:bodyPr wrap="square" lIns="0" tIns="0" rIns="0" bIns="0" rtlCol="0" anchor="ctr"/>
          <a:lstStyle/>
          <a:p>
            <a:pPr algn="ctr" indent="0" marL="0">
              <a:buNone/>
            </a:pPr>
            <a:r>
              <a:rPr lang="en-US" sz="1900" b="1" dirty="0">
                <a:solidFill>
                  <a:srgbClr val="387F7F"/>
                </a:solidFill>
                <a:latin typeface="Poppins" pitchFamily="34" charset="0"/>
                <a:ea typeface="Poppins" pitchFamily="34" charset="-122"/>
                <a:cs typeface="Poppins" pitchFamily="34" charset="-120"/>
              </a:rPr>
              <a:t>₦247,680,000</a:t>
            </a:r>
            <a:endParaRPr lang="en-US" sz="1900" dirty="0"/>
          </a:p>
        </p:txBody>
      </p:sp>
      <p:sp>
        <p:nvSpPr>
          <p:cNvPr id="17" name="Shape 15"/>
          <p:cNvSpPr/>
          <p:nvPr/>
        </p:nvSpPr>
        <p:spPr>
          <a:xfrm>
            <a:off x="6172200" y="1691640"/>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18" name="Shape 16"/>
          <p:cNvSpPr/>
          <p:nvPr/>
        </p:nvSpPr>
        <p:spPr>
          <a:xfrm>
            <a:off x="6400800" y="1965960"/>
            <a:ext cx="457200" cy="457200"/>
          </a:xfrm>
          <a:prstGeom prst="ellipse">
            <a:avLst/>
          </a:prstGeom>
          <a:solidFill>
            <a:srgbClr val="387F7F"/>
          </a:solidFill>
          <a:ln/>
        </p:spPr>
      </p:sp>
      <p:sp>
        <p:nvSpPr>
          <p:cNvPr id="19" name="Text 17"/>
          <p:cNvSpPr txBox="1"/>
          <p:nvPr/>
        </p:nvSpPr>
        <p:spPr>
          <a:xfrm>
            <a:off x="6400800" y="196596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1</a:t>
            </a:r>
            <a:endParaRPr lang="en-US" sz="1900" dirty="0"/>
          </a:p>
        </p:txBody>
      </p:sp>
      <p:sp>
        <p:nvSpPr>
          <p:cNvPr id="20" name="Text 18"/>
          <p:cNvSpPr txBox="1"/>
          <p:nvPr/>
        </p:nvSpPr>
        <p:spPr>
          <a:xfrm>
            <a:off x="6995160" y="1819656"/>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One definition, one place</a:t>
            </a:r>
            <a:endParaRPr lang="en-US" sz="1250" dirty="0"/>
          </a:p>
        </p:txBody>
      </p:sp>
      <p:sp>
        <p:nvSpPr>
          <p:cNvPr id="21" name="Text 19"/>
          <p:cNvSpPr txBox="1"/>
          <p:nvPr/>
        </p:nvSpPr>
        <p:spPr>
          <a:xfrm>
            <a:off x="6995160" y="2148840"/>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When the business changes what counts as a delivery, you edit one measure and eleven visuals update.</a:t>
            </a:r>
            <a:endParaRPr lang="en-US" sz="1100" dirty="0"/>
          </a:p>
        </p:txBody>
      </p:sp>
      <p:sp>
        <p:nvSpPr>
          <p:cNvPr id="22" name="Shape 20"/>
          <p:cNvSpPr/>
          <p:nvPr/>
        </p:nvSpPr>
        <p:spPr>
          <a:xfrm>
            <a:off x="6172200" y="2953512"/>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23" name="Shape 21"/>
          <p:cNvSpPr/>
          <p:nvPr/>
        </p:nvSpPr>
        <p:spPr>
          <a:xfrm>
            <a:off x="6400800" y="3227832"/>
            <a:ext cx="457200" cy="457200"/>
          </a:xfrm>
          <a:prstGeom prst="ellipse">
            <a:avLst/>
          </a:prstGeom>
          <a:solidFill>
            <a:srgbClr val="387F7F"/>
          </a:solidFill>
          <a:ln/>
        </p:spPr>
      </p:sp>
      <p:sp>
        <p:nvSpPr>
          <p:cNvPr id="24" name="Text 22"/>
          <p:cNvSpPr txBox="1"/>
          <p:nvPr/>
        </p:nvSpPr>
        <p:spPr>
          <a:xfrm>
            <a:off x="6400800" y="3227832"/>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2</a:t>
            </a:r>
            <a:endParaRPr lang="en-US" sz="1900" dirty="0"/>
          </a:p>
        </p:txBody>
      </p:sp>
      <p:sp>
        <p:nvSpPr>
          <p:cNvPr id="25" name="Text 23"/>
          <p:cNvSpPr txBox="1"/>
          <p:nvPr/>
        </p:nvSpPr>
        <p:spPr>
          <a:xfrm>
            <a:off x="6995160" y="3081528"/>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Measures build on measures</a:t>
            </a:r>
            <a:endParaRPr lang="en-US" sz="1250" dirty="0"/>
          </a:p>
        </p:txBody>
      </p:sp>
      <p:sp>
        <p:nvSpPr>
          <p:cNvPr id="26" name="Text 24"/>
          <p:cNvSpPr txBox="1"/>
          <p:nvPr/>
        </p:nvSpPr>
        <p:spPr>
          <a:xfrm>
            <a:off x="6995160" y="3410712"/>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Measures two and three both refer to Total Deliveries by name. You cannot reference a dragged field.</a:t>
            </a:r>
            <a:endParaRPr lang="en-US" sz="1100" dirty="0"/>
          </a:p>
        </p:txBody>
      </p:sp>
      <p:sp>
        <p:nvSpPr>
          <p:cNvPr id="27" name="Shape 25"/>
          <p:cNvSpPr/>
          <p:nvPr/>
        </p:nvSpPr>
        <p:spPr>
          <a:xfrm>
            <a:off x="6172200" y="4215384"/>
            <a:ext cx="4343400" cy="1170432"/>
          </a:xfrm>
          <a:prstGeom prst="roundRect">
            <a:avLst>
              <a:gd name="adj" fmla="val 7813"/>
            </a:avLst>
          </a:prstGeom>
          <a:solidFill>
            <a:srgbClr val="FFFFFF"/>
          </a:solidFill>
          <a:ln/>
          <a:effectLst>
            <a:outerShdw sx="100000" sy="100000" kx="0" ky="0" algn="bl" rotWithShape="0" blurRad="152400" dist="38100" dir="5400000">
              <a:srgbClr val="1B2A2E">
                <a:alpha val="14000"/>
              </a:srgbClr>
            </a:outerShdw>
          </a:effectLst>
        </p:spPr>
      </p:sp>
      <p:sp>
        <p:nvSpPr>
          <p:cNvPr id="28" name="Shape 26"/>
          <p:cNvSpPr/>
          <p:nvPr/>
        </p:nvSpPr>
        <p:spPr>
          <a:xfrm>
            <a:off x="6400800" y="4489704"/>
            <a:ext cx="457200" cy="457200"/>
          </a:xfrm>
          <a:prstGeom prst="ellipse">
            <a:avLst/>
          </a:prstGeom>
          <a:solidFill>
            <a:srgbClr val="387F7F"/>
          </a:solidFill>
          <a:ln/>
        </p:spPr>
      </p:sp>
      <p:sp>
        <p:nvSpPr>
          <p:cNvPr id="29" name="Text 27"/>
          <p:cNvSpPr txBox="1"/>
          <p:nvPr/>
        </p:nvSpPr>
        <p:spPr>
          <a:xfrm>
            <a:off x="6400800" y="4489704"/>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3</a:t>
            </a:r>
            <a:endParaRPr lang="en-US" sz="1900" dirty="0"/>
          </a:p>
        </p:txBody>
      </p:sp>
      <p:sp>
        <p:nvSpPr>
          <p:cNvPr id="30" name="Text 28"/>
          <p:cNvSpPr txBox="1"/>
          <p:nvPr/>
        </p:nvSpPr>
        <p:spPr>
          <a:xfrm>
            <a:off x="6995160" y="4343400"/>
            <a:ext cx="3291840" cy="310896"/>
          </a:xfrm>
          <a:prstGeom prst="rect">
            <a:avLst/>
          </a:prstGeom>
          <a:noFill/>
          <a:ln/>
        </p:spPr>
        <p:txBody>
          <a:bodyPr wrap="square" lIns="0" tIns="0" rIns="0" bIns="0" rtlCol="0" anchor="ctr"/>
          <a:lstStyle/>
          <a:p>
            <a:pPr indent="0" marL="0">
              <a:buNone/>
            </a:pPr>
            <a:r>
              <a:rPr lang="en-US" sz="1250" b="1" dirty="0">
                <a:solidFill>
                  <a:srgbClr val="0A1A23"/>
                </a:solidFill>
                <a:latin typeface="Poppins" pitchFamily="34" charset="0"/>
                <a:ea typeface="Poppins" pitchFamily="34" charset="-122"/>
                <a:cs typeface="Poppins" pitchFamily="34" charset="-120"/>
              </a:rPr>
              <a:t>Formatting travels with it</a:t>
            </a:r>
            <a:endParaRPr lang="en-US" sz="1250" dirty="0"/>
          </a:p>
        </p:txBody>
      </p:sp>
      <p:sp>
        <p:nvSpPr>
          <p:cNvPr id="31" name="Text 29"/>
          <p:cNvSpPr txBox="1"/>
          <p:nvPr/>
        </p:nvSpPr>
        <p:spPr>
          <a:xfrm>
            <a:off x="6995160" y="4672584"/>
            <a:ext cx="3291840" cy="640080"/>
          </a:xfrm>
          <a:prstGeom prst="rect">
            <a:avLst/>
          </a:prstGeom>
          <a:noFill/>
          <a:ln/>
        </p:spPr>
        <p:txBody>
          <a:bodyPr wrap="square" lIns="0" tIns="0" rIns="0" bIns="0" rtlCol="0" anchor="t"/>
          <a:lstStyle/>
          <a:p>
            <a:pPr algn="l" indent="0" marL="0">
              <a:lnSpc>
                <a:spcPct val="122000"/>
              </a:lnSpc>
              <a:buNone/>
            </a:pPr>
            <a:r>
              <a:rPr lang="en-US" sz="1100" dirty="0">
                <a:solidFill>
                  <a:srgbClr val="475569"/>
                </a:solidFill>
                <a:latin typeface="Poppins" pitchFamily="34" charset="0"/>
                <a:ea typeface="Poppins" pitchFamily="34" charset="-122"/>
                <a:cs typeface="Poppins" pitchFamily="34" charset="-120"/>
              </a:rPr>
              <a:t>Set the naira symbol once on the measure and every visual inherits it.</a:t>
            </a:r>
            <a:endParaRPr lang="en-US" sz="1100" dirty="0"/>
          </a:p>
        </p:txBody>
      </p:sp>
      <p:sp>
        <p:nvSpPr>
          <p:cNvPr id="32" name="Shape 30"/>
          <p:cNvSpPr/>
          <p:nvPr/>
        </p:nvSpPr>
        <p:spPr>
          <a:xfrm>
            <a:off x="685800" y="5577840"/>
            <a:ext cx="9829800" cy="685800"/>
          </a:xfrm>
          <a:prstGeom prst="roundRect">
            <a:avLst>
              <a:gd name="adj" fmla="val 12000"/>
            </a:avLst>
          </a:prstGeom>
          <a:solidFill>
            <a:srgbClr val="EEF4F4"/>
          </a:solidFill>
          <a:ln/>
        </p:spPr>
      </p:sp>
      <p:sp>
        <p:nvSpPr>
          <p:cNvPr id="33" name="Shape 31"/>
          <p:cNvSpPr/>
          <p:nvPr/>
        </p:nvSpPr>
        <p:spPr>
          <a:xfrm>
            <a:off x="685800" y="5577840"/>
            <a:ext cx="68580" cy="685800"/>
          </a:xfrm>
          <a:prstGeom prst="rect">
            <a:avLst/>
          </a:prstGeom>
          <a:solidFill>
            <a:srgbClr val="387F7F"/>
          </a:solidFill>
          <a:ln/>
        </p:spPr>
      </p:sp>
      <p:sp>
        <p:nvSpPr>
          <p:cNvPr id="34" name="Text 32"/>
          <p:cNvSpPr txBox="1"/>
          <p:nvPr/>
        </p:nvSpPr>
        <p:spPr>
          <a:xfrm>
            <a:off x="1051560" y="5577840"/>
            <a:ext cx="9235440" cy="685800"/>
          </a:xfrm>
          <a:prstGeom prst="rect">
            <a:avLst/>
          </a:prstGeom>
          <a:noFill/>
          <a:ln/>
        </p:spPr>
        <p:txBody>
          <a:bodyPr wrap="square" lIns="0" tIns="0" rIns="0" bIns="0" rtlCol="0" anchor="ctr"/>
          <a:lstStyle/>
          <a:p>
            <a:pPr algn="l" indent="0" marL="0">
              <a:lnSpc>
                <a:spcPct val="135000"/>
              </a:lnSpc>
              <a:buNone/>
            </a:pPr>
            <a:r>
              <a:rPr lang="en-US" sz="1350" b="1" dirty="0">
                <a:solidFill>
                  <a:srgbClr val="387F7F"/>
                </a:solidFill>
                <a:latin typeface="Poppins" pitchFamily="34" charset="0"/>
                <a:ea typeface="Poppins" pitchFamily="34" charset="-122"/>
                <a:cs typeface="Poppins" pitchFamily="34" charset="-120"/>
              </a:rPr>
              <a:t>Housekeeping: create a table called _Measures to hold them all, and hide its one column.</a:t>
            </a:r>
            <a:endParaRPr lang="en-US" sz="1350" dirty="0"/>
          </a:p>
        </p:txBody>
      </p:sp>
      <p:pic>
        <p:nvPicPr>
          <p:cNvPr id="3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6" name="Text 3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two: never divide with a slash</a:t>
            </a:r>
            <a:endParaRPr lang="en-US" sz="2700" dirty="0"/>
          </a:p>
        </p:txBody>
      </p:sp>
      <p:sp>
        <p:nvSpPr>
          <p:cNvPr id="6" name="Shape 4"/>
          <p:cNvSpPr/>
          <p:nvPr/>
        </p:nvSpPr>
        <p:spPr>
          <a:xfrm>
            <a:off x="685800" y="1737360"/>
            <a:ext cx="4709160" cy="2240280"/>
          </a:xfrm>
          <a:prstGeom prst="roundRect">
            <a:avLst>
              <a:gd name="adj" fmla="val 3673"/>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600200"/>
            <a:ext cx="1143000" cy="292608"/>
          </a:xfrm>
          <a:prstGeom prst="roundRect">
            <a:avLst>
              <a:gd name="adj" fmla="val 50000"/>
            </a:avLst>
          </a:prstGeom>
          <a:solidFill>
            <a:srgbClr val="387F7F"/>
          </a:solidFill>
          <a:ln/>
        </p:spPr>
      </p:sp>
      <p:sp>
        <p:nvSpPr>
          <p:cNvPr id="8" name="Text 6"/>
          <p:cNvSpPr txBox="1"/>
          <p:nvPr/>
        </p:nvSpPr>
        <p:spPr>
          <a:xfrm>
            <a:off x="886968" y="1600200"/>
            <a:ext cx="114300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DO THIS</a:t>
            </a:r>
            <a:endParaRPr lang="en-US" sz="900" dirty="0"/>
          </a:p>
        </p:txBody>
      </p:sp>
      <p:sp>
        <p:nvSpPr>
          <p:cNvPr id="9" name="Text 7"/>
          <p:cNvSpPr txBox="1"/>
          <p:nvPr/>
        </p:nvSpPr>
        <p:spPr>
          <a:xfrm>
            <a:off x="960120" y="2011680"/>
            <a:ext cx="4160520" cy="178308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On-Time Deliveries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CALCULATE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deliveries[Status] = "On time"</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a:p>
            <a:pPr indent="0" marL="0">
              <a:lnSpc>
                <a:spcPct val="125000"/>
              </a:lnSpc>
              <a:buNone/>
            </a:pP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On-Time Rate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DIVIDE ( [On-Time Deliveries], [Total Deliveries] )</a:t>
            </a:r>
            <a:endParaRPr lang="en-US" sz="1150" dirty="0"/>
          </a:p>
        </p:txBody>
      </p:sp>
      <p:sp>
        <p:nvSpPr>
          <p:cNvPr id="10" name="Shape 8"/>
          <p:cNvSpPr/>
          <p:nvPr/>
        </p:nvSpPr>
        <p:spPr>
          <a:xfrm>
            <a:off x="5806440" y="1737360"/>
            <a:ext cx="4709160" cy="2240280"/>
          </a:xfrm>
          <a:prstGeom prst="roundRect">
            <a:avLst>
              <a:gd name="adj" fmla="val 3673"/>
            </a:avLst>
          </a:prstGeom>
          <a:solidFill>
            <a:srgbClr val="3A1C1A"/>
          </a:solidFill>
          <a:ln/>
          <a:effectLst>
            <a:outerShdw sx="100000" sy="100000" kx="0" ky="0" algn="bl" rotWithShape="0" blurRad="127000" dist="38100" dir="5400000">
              <a:srgbClr val="1B2A2E">
                <a:alpha val="20000"/>
              </a:srgbClr>
            </a:outerShdw>
          </a:effectLst>
        </p:spPr>
      </p:sp>
      <p:sp>
        <p:nvSpPr>
          <p:cNvPr id="11" name="Shape 9"/>
          <p:cNvSpPr/>
          <p:nvPr/>
        </p:nvSpPr>
        <p:spPr>
          <a:xfrm>
            <a:off x="6007608" y="1600200"/>
            <a:ext cx="1234440" cy="292608"/>
          </a:xfrm>
          <a:prstGeom prst="roundRect">
            <a:avLst>
              <a:gd name="adj" fmla="val 50000"/>
            </a:avLst>
          </a:prstGeom>
          <a:solidFill>
            <a:srgbClr val="A8322D"/>
          </a:solidFill>
          <a:ln/>
        </p:spPr>
      </p:sp>
      <p:sp>
        <p:nvSpPr>
          <p:cNvPr id="12" name="Text 10"/>
          <p:cNvSpPr txBox="1"/>
          <p:nvPr/>
        </p:nvSpPr>
        <p:spPr>
          <a:xfrm>
            <a:off x="6007608" y="1600200"/>
            <a:ext cx="12344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NOT THIS</a:t>
            </a:r>
            <a:endParaRPr lang="en-US" sz="900" dirty="0"/>
          </a:p>
        </p:txBody>
      </p:sp>
      <p:sp>
        <p:nvSpPr>
          <p:cNvPr id="13" name="Text 11"/>
          <p:cNvSpPr txBox="1"/>
          <p:nvPr/>
        </p:nvSpPr>
        <p:spPr>
          <a:xfrm>
            <a:off x="6080760" y="2011680"/>
            <a:ext cx="4160520" cy="1783080"/>
          </a:xfrm>
          <a:prstGeom prst="rect">
            <a:avLst/>
          </a:prstGeom>
          <a:noFill/>
          <a:ln/>
        </p:spPr>
        <p:txBody>
          <a:bodyPr wrap="square" lIns="0" tIns="0" rIns="0" bIns="0" rtlCol="0" anchor="ctr"/>
          <a:lstStyle/>
          <a:p>
            <a:pPr indent="0" marL="0">
              <a:lnSpc>
                <a:spcPct val="125000"/>
              </a:lnSpc>
              <a:buNone/>
            </a:pPr>
            <a:r>
              <a:rPr lang="en-US" sz="1150" dirty="0">
                <a:solidFill>
                  <a:srgbClr val="E8C4C0"/>
                </a:solidFill>
                <a:latin typeface="Roboto Mono" pitchFamily="34" charset="0"/>
                <a:ea typeface="Roboto Mono" pitchFamily="34" charset="-122"/>
                <a:cs typeface="Roboto Mono" pitchFamily="34" charset="-120"/>
              </a:rPr>
              <a:t>On-Time Rate =</a:t>
            </a:r>
            <a:endParaRPr lang="en-US" sz="1150" dirty="0"/>
          </a:p>
          <a:p>
            <a:pPr indent="0" marL="0">
              <a:lnSpc>
                <a:spcPct val="125000"/>
              </a:lnSpc>
              <a:buNone/>
            </a:pPr>
            <a:r>
              <a:rPr lang="en-US" sz="1150" dirty="0">
                <a:solidFill>
                  <a:srgbClr val="E8C4C0"/>
                </a:solidFill>
                <a:latin typeface="Roboto Mono" pitchFamily="34" charset="0"/>
                <a:ea typeface="Roboto Mono" pitchFamily="34" charset="-122"/>
                <a:cs typeface="Roboto Mono" pitchFamily="34" charset="-120"/>
              </a:rPr>
              <a:t>  [On-Time Deliveries] / [Total Deliveries]</a:t>
            </a:r>
            <a:endParaRPr lang="en-US" sz="1150" dirty="0"/>
          </a:p>
        </p:txBody>
      </p:sp>
      <p:sp>
        <p:nvSpPr>
          <p:cNvPr id="14" name="Shape 12"/>
          <p:cNvSpPr/>
          <p:nvPr/>
        </p:nvSpPr>
        <p:spPr>
          <a:xfrm>
            <a:off x="685800" y="4206240"/>
            <a:ext cx="4709160" cy="1371600"/>
          </a:xfrm>
          <a:prstGeom prst="roundRect">
            <a:avLst>
              <a:gd name="adj" fmla="val 6667"/>
            </a:avLst>
          </a:prstGeom>
          <a:solidFill>
            <a:srgbClr val="FFFFFF"/>
          </a:solidFill>
          <a:ln/>
          <a:effectLst>
            <a:outerShdw sx="100000" sy="100000" kx="0" ky="0" algn="bl" rotWithShape="0" blurRad="152400" dist="38100" dir="5400000">
              <a:srgbClr val="1B2A2E">
                <a:alpha val="14000"/>
              </a:srgbClr>
            </a:outerShdw>
          </a:effectLst>
        </p:spPr>
      </p:sp>
      <p:sp>
        <p:nvSpPr>
          <p:cNvPr id="15" name="Shape 13"/>
          <p:cNvSpPr/>
          <p:nvPr/>
        </p:nvSpPr>
        <p:spPr>
          <a:xfrm>
            <a:off x="685800" y="4206240"/>
            <a:ext cx="4709160" cy="82296"/>
          </a:xfrm>
          <a:prstGeom prst="rect">
            <a:avLst/>
          </a:prstGeom>
          <a:solidFill>
            <a:srgbClr val="387F7F"/>
          </a:solidFill>
          <a:ln/>
        </p:spPr>
      </p:sp>
      <p:sp>
        <p:nvSpPr>
          <p:cNvPr id="16" name="Text 14"/>
          <p:cNvSpPr txBox="1"/>
          <p:nvPr/>
        </p:nvSpPr>
        <p:spPr>
          <a:xfrm>
            <a:off x="960120" y="4370832"/>
            <a:ext cx="4160520" cy="292608"/>
          </a:xfrm>
          <a:prstGeom prst="rect">
            <a:avLst/>
          </a:prstGeom>
          <a:noFill/>
          <a:ln/>
        </p:spPr>
        <p:txBody>
          <a:bodyPr wrap="square" lIns="0" tIns="0" rIns="0" bIns="0" rtlCol="0" anchor="ctr"/>
          <a:lstStyle/>
          <a:p>
            <a:pPr indent="0" marL="0">
              <a:buNone/>
            </a:pPr>
            <a:r>
              <a:rPr lang="en-US" sz="1200" b="1" dirty="0">
                <a:solidFill>
                  <a:srgbClr val="387F7F"/>
                </a:solidFill>
                <a:latin typeface="Poppins" pitchFamily="34" charset="0"/>
                <a:ea typeface="Poppins" pitchFamily="34" charset="-122"/>
                <a:cs typeface="Poppins" pitchFamily="34" charset="-120"/>
              </a:rPr>
              <a:t>Using DIVIDE</a:t>
            </a:r>
            <a:endParaRPr lang="en-US" sz="1200" dirty="0"/>
          </a:p>
        </p:txBody>
      </p:sp>
      <p:sp>
        <p:nvSpPr>
          <p:cNvPr id="17" name="Text 15"/>
          <p:cNvSpPr txBox="1"/>
          <p:nvPr/>
        </p:nvSpPr>
        <p:spPr>
          <a:xfrm>
            <a:off x="960120" y="4709160"/>
            <a:ext cx="4160520" cy="777240"/>
          </a:xfrm>
          <a:prstGeom prst="rect">
            <a:avLst/>
          </a:prstGeom>
          <a:noFill/>
          <a:ln/>
        </p:spPr>
        <p:txBody>
          <a:bodyPr wrap="square" lIns="0" tIns="0" rIns="0" bIns="0" rtlCol="0" anchor="t"/>
          <a:lstStyle/>
          <a:p>
            <a:pPr algn="l" indent="0" marL="0">
              <a:lnSpc>
                <a:spcPct val="125000"/>
              </a:lnSpc>
              <a:buNone/>
            </a:pPr>
            <a:r>
              <a:rPr lang="en-US" sz="1150" dirty="0">
                <a:solidFill>
                  <a:srgbClr val="475569"/>
                </a:solidFill>
                <a:latin typeface="Poppins" pitchFamily="34" charset="0"/>
                <a:ea typeface="Poppins" pitchFamily="34" charset="-122"/>
                <a:cs typeface="Poppins" pitchFamily="34" charset="-120"/>
              </a:rPr>
              <a:t>Checks the denominator first. Returns blank when it is zero, or whatever you set as a third argument. The visual simply omits the rider, which is the honest outcome.</a:t>
            </a:r>
            <a:endParaRPr lang="en-US" sz="1150" dirty="0"/>
          </a:p>
        </p:txBody>
      </p:sp>
      <p:sp>
        <p:nvSpPr>
          <p:cNvPr id="18" name="Shape 16"/>
          <p:cNvSpPr/>
          <p:nvPr/>
        </p:nvSpPr>
        <p:spPr>
          <a:xfrm>
            <a:off x="5806440" y="4206240"/>
            <a:ext cx="4709160" cy="1371600"/>
          </a:xfrm>
          <a:prstGeom prst="roundRect">
            <a:avLst>
              <a:gd name="adj" fmla="val 6667"/>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5806440" y="4206240"/>
            <a:ext cx="4709160" cy="82296"/>
          </a:xfrm>
          <a:prstGeom prst="rect">
            <a:avLst/>
          </a:prstGeom>
          <a:solidFill>
            <a:srgbClr val="A8322D"/>
          </a:solidFill>
          <a:ln/>
        </p:spPr>
      </p:sp>
      <p:sp>
        <p:nvSpPr>
          <p:cNvPr id="20" name="Text 18"/>
          <p:cNvSpPr txBox="1"/>
          <p:nvPr/>
        </p:nvSpPr>
        <p:spPr>
          <a:xfrm>
            <a:off x="6080760" y="4370832"/>
            <a:ext cx="4160520" cy="292608"/>
          </a:xfrm>
          <a:prstGeom prst="rect">
            <a:avLst/>
          </a:prstGeom>
          <a:noFill/>
          <a:ln/>
        </p:spPr>
        <p:txBody>
          <a:bodyPr wrap="square" lIns="0" tIns="0" rIns="0" bIns="0" rtlCol="0" anchor="ctr"/>
          <a:lstStyle/>
          <a:p>
            <a:pPr indent="0" marL="0">
              <a:buNone/>
            </a:pPr>
            <a:r>
              <a:rPr lang="en-US" sz="1200" b="1" dirty="0">
                <a:solidFill>
                  <a:srgbClr val="A8322D"/>
                </a:solidFill>
                <a:latin typeface="Poppins" pitchFamily="34" charset="0"/>
                <a:ea typeface="Poppins" pitchFamily="34" charset="-122"/>
                <a:cs typeface="Poppins" pitchFamily="34" charset="-120"/>
              </a:rPr>
              <a:t>Using /</a:t>
            </a:r>
            <a:endParaRPr lang="en-US" sz="1200" dirty="0"/>
          </a:p>
        </p:txBody>
      </p:sp>
      <p:sp>
        <p:nvSpPr>
          <p:cNvPr id="21" name="Text 19"/>
          <p:cNvSpPr txBox="1"/>
          <p:nvPr/>
        </p:nvSpPr>
        <p:spPr>
          <a:xfrm>
            <a:off x="6080760" y="4709160"/>
            <a:ext cx="4160520" cy="777240"/>
          </a:xfrm>
          <a:prstGeom prst="rect">
            <a:avLst/>
          </a:prstGeom>
          <a:noFill/>
          <a:ln/>
        </p:spPr>
        <p:txBody>
          <a:bodyPr wrap="square" lIns="0" tIns="0" rIns="0" bIns="0" rtlCol="0" anchor="t"/>
          <a:lstStyle/>
          <a:p>
            <a:pPr algn="l" indent="0" marL="0">
              <a:lnSpc>
                <a:spcPct val="125000"/>
              </a:lnSpc>
              <a:buNone/>
            </a:pPr>
            <a:r>
              <a:rPr lang="en-US" sz="1150" dirty="0">
                <a:solidFill>
                  <a:srgbClr val="475569"/>
                </a:solidFill>
                <a:latin typeface="Poppins" pitchFamily="34" charset="0"/>
                <a:ea typeface="Poppins" pitchFamily="34" charset="-122"/>
                <a:cs typeface="Poppins" pitchFamily="34" charset="-120"/>
              </a:rPr>
              <a:t>A rider who joined last week has no deliveries. The denominator is zero. The visual shows Infinity, an error, or a blank that looks like missing data, on Adaeze's dashboard, in front of her.</a:t>
            </a:r>
            <a:endParaRPr lang="en-US" sz="1150" dirty="0"/>
          </a:p>
        </p:txBody>
      </p:sp>
      <p:sp>
        <p:nvSpPr>
          <p:cNvPr id="22" name="Shape 20"/>
          <p:cNvSpPr/>
          <p:nvPr/>
        </p:nvSpPr>
        <p:spPr>
          <a:xfrm>
            <a:off x="685800" y="5760720"/>
            <a:ext cx="9829800" cy="566928"/>
          </a:xfrm>
          <a:prstGeom prst="roundRect">
            <a:avLst>
              <a:gd name="adj" fmla="val 14516"/>
            </a:avLst>
          </a:prstGeom>
          <a:solidFill>
            <a:srgbClr val="10312F"/>
          </a:solidFill>
          <a:ln/>
          <a:effectLst>
            <a:outerShdw sx="100000" sy="100000" kx="0" ky="0" algn="bl" rotWithShape="0" blurRad="127000" dist="38100" dir="5400000">
              <a:srgbClr val="1B2A2E">
                <a:alpha val="20000"/>
              </a:srgbClr>
            </a:outerShdw>
          </a:effectLst>
        </p:spPr>
      </p:sp>
      <p:sp>
        <p:nvSpPr>
          <p:cNvPr id="23" name="Text 21"/>
          <p:cNvSpPr txBox="1"/>
          <p:nvPr/>
        </p:nvSpPr>
        <p:spPr>
          <a:xfrm>
            <a:off x="960120" y="5943600"/>
            <a:ext cx="9281160" cy="201168"/>
          </a:xfrm>
          <a:prstGeom prst="rect">
            <a:avLst/>
          </a:prstGeom>
          <a:noFill/>
          <a:ln/>
        </p:spPr>
        <p:txBody>
          <a:bodyPr wrap="square" lIns="0" tIns="0" rIns="0" bIns="0" rtlCol="0" anchor="ctr"/>
          <a:lstStyle/>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DIVIDE ( [On-Time Deliveries], [Total Deliveries], 0 )     ←  the optional third argument sets what to return instead of blank</a:t>
            </a:r>
            <a:endParaRPr lang="en-US" sz="1100" dirty="0"/>
          </a:p>
        </p:txBody>
      </p:sp>
      <p:pic>
        <p:nvPicPr>
          <p:cNvPr id="24"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indent="0" marL="0">
              <a:lnSpc>
                <a:spcPct val="108000"/>
              </a:lnSpc>
              <a:buNone/>
            </a:pPr>
            <a:r>
              <a:rPr lang="en-US" sz="2400" dirty="0">
                <a:solidFill>
                  <a:srgbClr val="387F7F"/>
                </a:solidFill>
                <a:latin typeface="Poppins" pitchFamily="34" charset="0"/>
                <a:ea typeface="Poppins" pitchFamily="34" charset="-122"/>
                <a:cs typeface="Poppins" pitchFamily="34" charset="-120"/>
              </a:rPr>
              <a:t>CALCULATE changes the question before answering it</a:t>
            </a:r>
            <a:endParaRPr lang="en-US" sz="2400" dirty="0"/>
          </a:p>
        </p:txBody>
      </p:sp>
      <p:sp>
        <p:nvSpPr>
          <p:cNvPr id="6" name="Shape 4"/>
          <p:cNvSpPr/>
          <p:nvPr/>
        </p:nvSpPr>
        <p:spPr>
          <a:xfrm>
            <a:off x="685800" y="1691640"/>
            <a:ext cx="4892040" cy="3200400"/>
          </a:xfrm>
          <a:prstGeom prst="roundRect">
            <a:avLst>
              <a:gd name="adj" fmla="val 2857"/>
            </a:avLst>
          </a:prstGeom>
          <a:solidFill>
            <a:srgbClr val="FFFFFF"/>
          </a:solidFill>
          <a:ln/>
          <a:effectLst>
            <a:outerShdw sx="100000" sy="100000" kx="0" ky="0" algn="bl" rotWithShape="0" blurRad="152400" dist="38100" dir="5400000">
              <a:srgbClr val="1B2A2E">
                <a:alpha val="14000"/>
              </a:srgbClr>
            </a:outerShdw>
          </a:effectLst>
        </p:spPr>
      </p:sp>
      <p:sp>
        <p:nvSpPr>
          <p:cNvPr id="7" name="Text 5"/>
          <p:cNvSpPr txBox="1"/>
          <p:nvPr/>
        </p:nvSpPr>
        <p:spPr>
          <a:xfrm>
            <a:off x="1005840" y="1965960"/>
            <a:ext cx="4251960" cy="64008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Every measure so far accepted whatever filter context the visual handed it.</a:t>
            </a:r>
            <a:endParaRPr lang="en-US" sz="1450" dirty="0"/>
          </a:p>
        </p:txBody>
      </p:sp>
      <p:sp>
        <p:nvSpPr>
          <p:cNvPr id="8" name="Text 6"/>
          <p:cNvSpPr txBox="1"/>
          <p:nvPr/>
        </p:nvSpPr>
        <p:spPr>
          <a:xfrm>
            <a:off x="1005840" y="2651760"/>
            <a:ext cx="4251960" cy="822960"/>
          </a:xfrm>
          <a:prstGeom prst="rect">
            <a:avLst/>
          </a:prstGeom>
          <a:noFill/>
          <a:ln/>
        </p:spPr>
        <p:txBody>
          <a:bodyPr wrap="square" lIns="0" tIns="0" rIns="0" bIns="0" rtlCol="0" anchor="t"/>
          <a:lstStyle/>
          <a:p>
            <a:pPr algn="l" indent="0" marL="0">
              <a:lnSpc>
                <a:spcPct val="130000"/>
              </a:lnSpc>
              <a:buNone/>
            </a:pPr>
            <a:r>
              <a:rPr lang="en-US" sz="1450" b="1" dirty="0">
                <a:solidFill>
                  <a:srgbClr val="0A1A23"/>
                </a:solidFill>
                <a:latin typeface="Poppins" pitchFamily="34" charset="0"/>
                <a:ea typeface="Poppins" pitchFamily="34" charset="-122"/>
                <a:cs typeface="Poppins" pitchFamily="34" charset="-120"/>
              </a:rPr>
              <a:t>CALCULATE is the one function that reaches in and modifies that context before the calculation runs.</a:t>
            </a:r>
            <a:endParaRPr lang="en-US" sz="1450" dirty="0"/>
          </a:p>
        </p:txBody>
      </p:sp>
      <p:sp>
        <p:nvSpPr>
          <p:cNvPr id="9" name="Text 7"/>
          <p:cNvSpPr txBox="1"/>
          <p:nvPr/>
        </p:nvSpPr>
        <p:spPr>
          <a:xfrm>
            <a:off x="1005840" y="3566160"/>
            <a:ext cx="4251960" cy="100584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Read it as two parts. The first argument is the thing to calculate. Everything after it is an instruction that alters the filters.</a:t>
            </a:r>
            <a:endParaRPr lang="en-US" sz="1450" dirty="0"/>
          </a:p>
        </p:txBody>
      </p:sp>
      <p:sp>
        <p:nvSpPr>
          <p:cNvPr id="10" name="Shape 8"/>
          <p:cNvSpPr/>
          <p:nvPr/>
        </p:nvSpPr>
        <p:spPr>
          <a:xfrm>
            <a:off x="5943600" y="1691640"/>
            <a:ext cx="4572000" cy="1600200"/>
          </a:xfrm>
          <a:prstGeom prst="roundRect">
            <a:avLst>
              <a:gd name="adj" fmla="val 5143"/>
            </a:avLst>
          </a:prstGeom>
          <a:solidFill>
            <a:srgbClr val="10312F"/>
          </a:solidFill>
          <a:ln/>
          <a:effectLst>
            <a:outerShdw sx="100000" sy="100000" kx="0" ky="0" algn="bl" rotWithShape="0" blurRad="127000" dist="38100" dir="5400000">
              <a:srgbClr val="1B2A2E">
                <a:alpha val="20000"/>
              </a:srgbClr>
            </a:outerShdw>
          </a:effectLst>
        </p:spPr>
      </p:sp>
      <p:sp>
        <p:nvSpPr>
          <p:cNvPr id="11" name="Text 9"/>
          <p:cNvSpPr txBox="1"/>
          <p:nvPr/>
        </p:nvSpPr>
        <p:spPr>
          <a:xfrm>
            <a:off x="6217920" y="1874520"/>
            <a:ext cx="4023360" cy="1234440"/>
          </a:xfrm>
          <a:prstGeom prst="rect">
            <a:avLst/>
          </a:prstGeom>
          <a:noFill/>
          <a:ln/>
        </p:spPr>
        <p:txBody>
          <a:bodyPr wrap="square" lIns="0" tIns="0" rIns="0" bIns="0" rtlCol="0" anchor="ctr"/>
          <a:lstStyle/>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CALCULATE (</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    [Total Deliveries],</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    deliveries[Status] = "On time"</a:t>
            </a:r>
            <a:endParaRPr lang="en-US" sz="1200" dirty="0"/>
          </a:p>
          <a:p>
            <a:pPr indent="0" marL="0">
              <a:lnSpc>
                <a:spcPct val="125000"/>
              </a:lnSpc>
              <a:buNone/>
            </a:pPr>
            <a:r>
              <a:rPr lang="en-US" sz="1200" dirty="0">
                <a:solidFill>
                  <a:srgbClr val="CFE6E3"/>
                </a:solidFill>
                <a:latin typeface="Roboto Mono" pitchFamily="34" charset="0"/>
                <a:ea typeface="Roboto Mono" pitchFamily="34" charset="-122"/>
                <a:cs typeface="Roboto Mono" pitchFamily="34" charset="-120"/>
              </a:rPr>
              <a:t>)</a:t>
            </a:r>
            <a:endParaRPr lang="en-US" sz="1200" dirty="0"/>
          </a:p>
        </p:txBody>
      </p:sp>
      <p:sp>
        <p:nvSpPr>
          <p:cNvPr id="12" name="Shape 10"/>
          <p:cNvSpPr/>
          <p:nvPr/>
        </p:nvSpPr>
        <p:spPr>
          <a:xfrm>
            <a:off x="5943600" y="347472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5943600" y="3474720"/>
            <a:ext cx="68580" cy="749808"/>
          </a:xfrm>
          <a:prstGeom prst="rect">
            <a:avLst/>
          </a:prstGeom>
          <a:solidFill>
            <a:srgbClr val="387F7F"/>
          </a:solidFill>
          <a:ln/>
        </p:spPr>
      </p:sp>
      <p:sp>
        <p:nvSpPr>
          <p:cNvPr id="14" name="Text 12"/>
          <p:cNvSpPr txBox="1"/>
          <p:nvPr/>
        </p:nvSpPr>
        <p:spPr>
          <a:xfrm>
            <a:off x="6172200" y="352958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CALCULATE</a:t>
            </a:r>
            <a:endParaRPr lang="en-US" sz="1000" dirty="0"/>
          </a:p>
        </p:txBody>
      </p:sp>
      <p:sp>
        <p:nvSpPr>
          <p:cNvPr id="15" name="Text 13"/>
          <p:cNvSpPr txBox="1"/>
          <p:nvPr/>
        </p:nvSpPr>
        <p:spPr>
          <a:xfrm>
            <a:off x="6172200" y="380390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“Work out this number, but first change the filters.”</a:t>
            </a:r>
            <a:endParaRPr lang="en-US" sz="1050" dirty="0"/>
          </a:p>
        </p:txBody>
      </p:sp>
      <p:sp>
        <p:nvSpPr>
          <p:cNvPr id="16" name="Shape 14"/>
          <p:cNvSpPr/>
          <p:nvPr/>
        </p:nvSpPr>
        <p:spPr>
          <a:xfrm>
            <a:off x="5943600" y="429768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17" name="Shape 15"/>
          <p:cNvSpPr/>
          <p:nvPr/>
        </p:nvSpPr>
        <p:spPr>
          <a:xfrm>
            <a:off x="5943600" y="4297680"/>
            <a:ext cx="68580" cy="749808"/>
          </a:xfrm>
          <a:prstGeom prst="rect">
            <a:avLst/>
          </a:prstGeom>
          <a:solidFill>
            <a:srgbClr val="387F7F"/>
          </a:solidFill>
          <a:ln/>
        </p:spPr>
      </p:sp>
      <p:sp>
        <p:nvSpPr>
          <p:cNvPr id="18" name="Text 16"/>
          <p:cNvSpPr txBox="1"/>
          <p:nvPr/>
        </p:nvSpPr>
        <p:spPr>
          <a:xfrm>
            <a:off x="6172200" y="435254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[Total Deliveries]</a:t>
            </a:r>
            <a:endParaRPr lang="en-US" sz="1000" dirty="0"/>
          </a:p>
        </p:txBody>
      </p:sp>
      <p:sp>
        <p:nvSpPr>
          <p:cNvPr id="19" name="Text 17"/>
          <p:cNvSpPr txBox="1"/>
          <p:nvPr/>
        </p:nvSpPr>
        <p:spPr>
          <a:xfrm>
            <a:off x="6172200" y="462686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“The number is our delivery count.”</a:t>
            </a:r>
            <a:endParaRPr lang="en-US" sz="1050" dirty="0"/>
          </a:p>
        </p:txBody>
      </p:sp>
      <p:sp>
        <p:nvSpPr>
          <p:cNvPr id="20" name="Shape 18"/>
          <p:cNvSpPr/>
          <p:nvPr/>
        </p:nvSpPr>
        <p:spPr>
          <a:xfrm>
            <a:off x="5943600" y="5120640"/>
            <a:ext cx="4572000" cy="749808"/>
          </a:xfrm>
          <a:prstGeom prst="roundRect">
            <a:avLst>
              <a:gd name="adj" fmla="val 12195"/>
            </a:avLst>
          </a:prstGeom>
          <a:solidFill>
            <a:srgbClr val="FFFFFF"/>
          </a:solidFill>
          <a:ln/>
          <a:effectLst>
            <a:outerShdw sx="100000" sy="100000" kx="0" ky="0" algn="bl" rotWithShape="0" blurRad="152400" dist="38100" dir="5400000">
              <a:srgbClr val="1B2A2E">
                <a:alpha val="14000"/>
              </a:srgbClr>
            </a:outerShdw>
          </a:effectLst>
        </p:spPr>
      </p:sp>
      <p:sp>
        <p:nvSpPr>
          <p:cNvPr id="21" name="Shape 19"/>
          <p:cNvSpPr/>
          <p:nvPr/>
        </p:nvSpPr>
        <p:spPr>
          <a:xfrm>
            <a:off x="5943600" y="5120640"/>
            <a:ext cx="68580" cy="749808"/>
          </a:xfrm>
          <a:prstGeom prst="rect">
            <a:avLst/>
          </a:prstGeom>
          <a:solidFill>
            <a:srgbClr val="387F7F"/>
          </a:solidFill>
          <a:ln/>
        </p:spPr>
      </p:sp>
      <p:sp>
        <p:nvSpPr>
          <p:cNvPr id="22" name="Text 20"/>
          <p:cNvSpPr txBox="1"/>
          <p:nvPr/>
        </p:nvSpPr>
        <p:spPr>
          <a:xfrm>
            <a:off x="6172200" y="5175504"/>
            <a:ext cx="4114800" cy="274320"/>
          </a:xfrm>
          <a:prstGeom prst="rect">
            <a:avLst/>
          </a:prstGeom>
          <a:noFill/>
          <a:ln/>
        </p:spPr>
        <p:txBody>
          <a:bodyPr wrap="square" lIns="0" tIns="0" rIns="0" bIns="0" rtlCol="0" anchor="ctr"/>
          <a:lstStyle/>
          <a:p>
            <a:pPr indent="0" marL="0">
              <a:buNone/>
            </a:pPr>
            <a:r>
              <a:rPr lang="en-US" sz="1000" b="1" dirty="0">
                <a:solidFill>
                  <a:srgbClr val="387F7F"/>
                </a:solidFill>
                <a:latin typeface="Roboto Mono" pitchFamily="34" charset="0"/>
                <a:ea typeface="Roboto Mono" pitchFamily="34" charset="-122"/>
                <a:cs typeface="Roboto Mono" pitchFamily="34" charset="-120"/>
              </a:rPr>
              <a:t>Status = “On time”</a:t>
            </a:r>
            <a:endParaRPr lang="en-US" sz="1000" dirty="0"/>
          </a:p>
        </p:txBody>
      </p:sp>
      <p:sp>
        <p:nvSpPr>
          <p:cNvPr id="23" name="Text 21"/>
          <p:cNvSpPr txBox="1"/>
          <p:nvPr/>
        </p:nvSpPr>
        <p:spPr>
          <a:xfrm>
            <a:off x="6172200" y="5449824"/>
            <a:ext cx="4160520" cy="384048"/>
          </a:xfrm>
          <a:prstGeom prst="rect">
            <a:avLst/>
          </a:prstGeom>
          <a:noFill/>
          <a:ln/>
        </p:spPr>
        <p:txBody>
          <a:bodyPr wrap="square" lIns="0" tIns="0" rIns="0" bIns="0" rtlCol="0" anchor="t"/>
          <a:lstStyle/>
          <a:p>
            <a:pPr algn="l" indent="0" marL="0">
              <a:lnSpc>
                <a:spcPct val="115000"/>
              </a:lnSpc>
              <a:buNone/>
            </a:pPr>
            <a:r>
              <a:rPr lang="en-US" sz="1050" dirty="0">
                <a:solidFill>
                  <a:srgbClr val="475569"/>
                </a:solidFill>
                <a:latin typeface="Poppins" pitchFamily="34" charset="0"/>
                <a:ea typeface="Poppins" pitchFamily="34" charset="-122"/>
                <a:cs typeface="Poppins" pitchFamily="34" charset="-120"/>
              </a:rPr>
              <a:t>“Also require the status to be On time, on top of whatever the visual already filtered.”</a:t>
            </a:r>
            <a:endParaRPr lang="en-US" sz="1050" dirty="0"/>
          </a:p>
        </p:txBody>
      </p:sp>
      <p:sp>
        <p:nvSpPr>
          <p:cNvPr id="24" name="Shape 22"/>
          <p:cNvSpPr/>
          <p:nvPr/>
        </p:nvSpPr>
        <p:spPr>
          <a:xfrm>
            <a:off x="685800" y="5166360"/>
            <a:ext cx="9829800" cy="914400"/>
          </a:xfrm>
          <a:prstGeom prst="roundRect">
            <a:avLst>
              <a:gd name="adj" fmla="val 9000"/>
            </a:avLst>
          </a:prstGeom>
          <a:solidFill>
            <a:srgbClr val="EEF4F4"/>
          </a:solidFill>
          <a:ln/>
        </p:spPr>
      </p:sp>
      <p:sp>
        <p:nvSpPr>
          <p:cNvPr id="25" name="Shape 23"/>
          <p:cNvSpPr/>
          <p:nvPr/>
        </p:nvSpPr>
        <p:spPr>
          <a:xfrm>
            <a:off x="685800" y="5166360"/>
            <a:ext cx="68580" cy="914400"/>
          </a:xfrm>
          <a:prstGeom prst="rect">
            <a:avLst/>
          </a:prstGeom>
          <a:solidFill>
            <a:srgbClr val="387F7F"/>
          </a:solidFill>
          <a:ln/>
        </p:spPr>
      </p:sp>
      <p:sp>
        <p:nvSpPr>
          <p:cNvPr id="26" name="Text 24"/>
          <p:cNvSpPr txBox="1"/>
          <p:nvPr/>
        </p:nvSpPr>
        <p:spPr>
          <a:xfrm>
            <a:off x="1051560" y="5166360"/>
            <a:ext cx="9235440" cy="914400"/>
          </a:xfrm>
          <a:prstGeom prst="rect">
            <a:avLst/>
          </a:prstGeom>
          <a:noFill/>
          <a:ln/>
        </p:spPr>
        <p:txBody>
          <a:bodyPr wrap="square" lIns="0" tIns="0" rIns="0" bIns="0" rtlCol="0" anchor="ctr"/>
          <a:lstStyle/>
          <a:p>
            <a:pPr algn="l" indent="0" marL="0">
              <a:lnSpc>
                <a:spcPct val="135000"/>
              </a:lnSpc>
              <a:buNone/>
            </a:pPr>
            <a:r>
              <a:rPr lang="en-US" sz="1550" b="1" dirty="0">
                <a:solidFill>
                  <a:srgbClr val="387F7F"/>
                </a:solidFill>
                <a:latin typeface="Poppins" pitchFamily="34" charset="0"/>
                <a:ea typeface="Poppins" pitchFamily="34" charset="-122"/>
                <a:cs typeface="Poppins" pitchFamily="34" charset="-120"/>
              </a:rPr>
              <a:t>If you cannot read a measure aloud in plain English, you cannot verify it, and you should not ship it.</a:t>
            </a:r>
            <a:endParaRPr lang="en-US" sz="1550" dirty="0"/>
          </a:p>
        </p:txBody>
      </p:sp>
      <p:pic>
        <p:nvPicPr>
          <p:cNvPr id="27"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8" name="Text 25"/>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Measure three: compare this month with last</a:t>
            </a:r>
            <a:endParaRPr lang="en-US" sz="2700" dirty="0"/>
          </a:p>
        </p:txBody>
      </p:sp>
      <p:sp>
        <p:nvSpPr>
          <p:cNvPr id="6" name="Shape 4"/>
          <p:cNvSpPr/>
          <p:nvPr/>
        </p:nvSpPr>
        <p:spPr>
          <a:xfrm>
            <a:off x="685800" y="1783080"/>
            <a:ext cx="6035040" cy="1371600"/>
          </a:xfrm>
          <a:prstGeom prst="roundRect">
            <a:avLst>
              <a:gd name="adj" fmla="val 6000"/>
            </a:avLst>
          </a:prstGeom>
          <a:solidFill>
            <a:srgbClr val="10312F"/>
          </a:solidFill>
          <a:ln/>
          <a:effectLst>
            <a:outerShdw sx="100000" sy="100000" kx="0" ky="0" algn="bl" rotWithShape="0" blurRad="127000" dist="38100" dir="5400000">
              <a:srgbClr val="1B2A2E">
                <a:alpha val="20000"/>
              </a:srgbClr>
            </a:outerShdw>
          </a:effectLst>
        </p:spPr>
      </p:sp>
      <p:sp>
        <p:nvSpPr>
          <p:cNvPr id="7" name="Shape 5"/>
          <p:cNvSpPr/>
          <p:nvPr/>
        </p:nvSpPr>
        <p:spPr>
          <a:xfrm>
            <a:off x="886968" y="1645920"/>
            <a:ext cx="1691640" cy="292608"/>
          </a:xfrm>
          <a:prstGeom prst="roundRect">
            <a:avLst>
              <a:gd name="adj" fmla="val 50000"/>
            </a:avLst>
          </a:prstGeom>
          <a:solidFill>
            <a:srgbClr val="387F7F"/>
          </a:solidFill>
          <a:ln/>
        </p:spPr>
      </p:sp>
      <p:sp>
        <p:nvSpPr>
          <p:cNvPr id="8" name="Text 6"/>
          <p:cNvSpPr txBox="1"/>
          <p:nvPr/>
        </p:nvSpPr>
        <p:spPr>
          <a:xfrm>
            <a:off x="886968" y="1645920"/>
            <a:ext cx="16916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SHIFT THE DATES</a:t>
            </a:r>
            <a:endParaRPr lang="en-US" sz="900" dirty="0"/>
          </a:p>
        </p:txBody>
      </p:sp>
      <p:sp>
        <p:nvSpPr>
          <p:cNvPr id="9" name="Text 7"/>
          <p:cNvSpPr txBox="1"/>
          <p:nvPr/>
        </p:nvSpPr>
        <p:spPr>
          <a:xfrm>
            <a:off x="960120" y="2057400"/>
            <a:ext cx="5486400" cy="91440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Deliveries Previous Month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CALCULATE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DATEADD ( dates[DateKey], -1, MONTH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p:txBody>
      </p:sp>
      <p:sp>
        <p:nvSpPr>
          <p:cNvPr id="10" name="Shape 8"/>
          <p:cNvSpPr/>
          <p:nvPr/>
        </p:nvSpPr>
        <p:spPr>
          <a:xfrm>
            <a:off x="685800" y="3429000"/>
            <a:ext cx="6035040" cy="1234440"/>
          </a:xfrm>
          <a:prstGeom prst="roundRect">
            <a:avLst>
              <a:gd name="adj" fmla="val 6667"/>
            </a:avLst>
          </a:prstGeom>
          <a:solidFill>
            <a:srgbClr val="10312F"/>
          </a:solidFill>
          <a:ln/>
          <a:effectLst>
            <a:outerShdw sx="100000" sy="100000" kx="0" ky="0" algn="bl" rotWithShape="0" blurRad="127000" dist="38100" dir="5400000">
              <a:srgbClr val="1B2A2E">
                <a:alpha val="20000"/>
              </a:srgbClr>
            </a:outerShdw>
          </a:effectLst>
        </p:spPr>
      </p:sp>
      <p:sp>
        <p:nvSpPr>
          <p:cNvPr id="11" name="Shape 9"/>
          <p:cNvSpPr/>
          <p:nvPr/>
        </p:nvSpPr>
        <p:spPr>
          <a:xfrm>
            <a:off x="886968" y="3291840"/>
            <a:ext cx="1188720" cy="292608"/>
          </a:xfrm>
          <a:prstGeom prst="roundRect">
            <a:avLst>
              <a:gd name="adj" fmla="val 50000"/>
            </a:avLst>
          </a:prstGeom>
          <a:solidFill>
            <a:srgbClr val="387F7F"/>
          </a:solidFill>
          <a:ln/>
        </p:spPr>
      </p:sp>
      <p:sp>
        <p:nvSpPr>
          <p:cNvPr id="12" name="Text 10"/>
          <p:cNvSpPr txBox="1"/>
          <p:nvPr/>
        </p:nvSpPr>
        <p:spPr>
          <a:xfrm>
            <a:off x="886968" y="3291840"/>
            <a:ext cx="118872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COMPARE</a:t>
            </a:r>
            <a:endParaRPr lang="en-US" sz="900" dirty="0"/>
          </a:p>
        </p:txBody>
      </p:sp>
      <p:sp>
        <p:nvSpPr>
          <p:cNvPr id="13" name="Text 11"/>
          <p:cNvSpPr txBox="1"/>
          <p:nvPr/>
        </p:nvSpPr>
        <p:spPr>
          <a:xfrm>
            <a:off x="960120" y="3703320"/>
            <a:ext cx="5486400" cy="777240"/>
          </a:xfrm>
          <a:prstGeom prst="rect">
            <a:avLst/>
          </a:prstGeom>
          <a:noFill/>
          <a:ln/>
        </p:spPr>
        <p:txBody>
          <a:bodyPr wrap="square" lIns="0" tIns="0" rIns="0" bIns="0" rtlCol="0" anchor="ctr"/>
          <a:lstStyle/>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Month on Month Change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DIVIDE (</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[Total Deliveries] - [Deliveries Previous Month],</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[Deliveries Previous Month]</a:t>
            </a:r>
            <a:endParaRPr lang="en-US" sz="1150" dirty="0"/>
          </a:p>
          <a:p>
            <a:pPr indent="0" marL="0">
              <a:lnSpc>
                <a:spcPct val="125000"/>
              </a:lnSpc>
              <a:buNone/>
            </a:pPr>
            <a:r>
              <a:rPr lang="en-US" sz="1150" dirty="0">
                <a:solidFill>
                  <a:srgbClr val="CFE6E3"/>
                </a:solidFill>
                <a:latin typeface="Roboto Mono" pitchFamily="34" charset="0"/>
                <a:ea typeface="Roboto Mono" pitchFamily="34" charset="-122"/>
                <a:cs typeface="Roboto Mono" pitchFamily="34" charset="-120"/>
              </a:rPr>
              <a:t>  )</a:t>
            </a:r>
            <a:endParaRPr lang="en-US" sz="1150" dirty="0"/>
          </a:p>
        </p:txBody>
      </p:sp>
      <p:sp>
        <p:nvSpPr>
          <p:cNvPr id="14" name="Shape 12"/>
          <p:cNvSpPr/>
          <p:nvPr/>
        </p:nvSpPr>
        <p:spPr>
          <a:xfrm>
            <a:off x="7086600" y="1783080"/>
            <a:ext cx="3429000" cy="2880360"/>
          </a:xfrm>
          <a:prstGeom prst="roundRect">
            <a:avLst>
              <a:gd name="adj" fmla="val 3175"/>
            </a:avLst>
          </a:prstGeom>
          <a:solidFill>
            <a:srgbClr val="FFFFFF"/>
          </a:solidFill>
          <a:ln/>
          <a:effectLst>
            <a:outerShdw sx="100000" sy="100000" kx="0" ky="0" algn="bl" rotWithShape="0" blurRad="152400" dist="38100" dir="5400000">
              <a:srgbClr val="1B2A2E">
                <a:alpha val="14000"/>
              </a:srgbClr>
            </a:outerShdw>
          </a:effectLst>
        </p:spPr>
      </p:sp>
      <p:sp>
        <p:nvSpPr>
          <p:cNvPr id="15" name="Text 13"/>
          <p:cNvSpPr txBox="1"/>
          <p:nvPr/>
        </p:nvSpPr>
        <p:spPr>
          <a:xfrm>
            <a:off x="7360920" y="1965960"/>
            <a:ext cx="2926080" cy="274320"/>
          </a:xfrm>
          <a:prstGeom prst="rect">
            <a:avLst/>
          </a:prstGeom>
          <a:noFill/>
          <a:ln/>
        </p:spPr>
        <p:txBody>
          <a:bodyPr wrap="square" lIns="0" tIns="0" rIns="0" bIns="0" rtlCol="0" anchor="ctr"/>
          <a:lstStyle/>
          <a:p>
            <a:pPr indent="0" marL="0">
              <a:buNone/>
            </a:pPr>
            <a:r>
              <a:rPr lang="en-US" sz="1050" b="1" spc="100" kern="0" dirty="0">
                <a:solidFill>
                  <a:srgbClr val="387F7F"/>
                </a:solidFill>
                <a:latin typeface="Poppins" pitchFamily="34" charset="0"/>
                <a:ea typeface="Poppins" pitchFamily="34" charset="-122"/>
                <a:cs typeface="Poppins" pitchFamily="34" charset="-120"/>
              </a:rPr>
              <a:t>VERIFIED RESULTS</a:t>
            </a:r>
            <a:endParaRPr lang="en-US" sz="1050" dirty="0"/>
          </a:p>
        </p:txBody>
      </p:sp>
      <p:sp>
        <p:nvSpPr>
          <p:cNvPr id="16" name="Text 14"/>
          <p:cNvSpPr txBox="1"/>
          <p:nvPr/>
        </p:nvSpPr>
        <p:spPr>
          <a:xfrm>
            <a:off x="7360920" y="23774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January</a:t>
            </a:r>
            <a:endParaRPr lang="en-US" sz="1250" dirty="0"/>
          </a:p>
        </p:txBody>
      </p:sp>
      <p:sp>
        <p:nvSpPr>
          <p:cNvPr id="17" name="Text 15"/>
          <p:cNvSpPr txBox="1"/>
          <p:nvPr/>
        </p:nvSpPr>
        <p:spPr>
          <a:xfrm>
            <a:off x="8778240" y="23774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2,473</a:t>
            </a:r>
            <a:endParaRPr lang="en-US" sz="1400" dirty="0"/>
          </a:p>
        </p:txBody>
      </p:sp>
      <p:sp>
        <p:nvSpPr>
          <p:cNvPr id="18" name="Text 16"/>
          <p:cNvSpPr txBox="1"/>
          <p:nvPr/>
        </p:nvSpPr>
        <p:spPr>
          <a:xfrm>
            <a:off x="7360920" y="28346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February</a:t>
            </a:r>
            <a:endParaRPr lang="en-US" sz="1250" dirty="0"/>
          </a:p>
        </p:txBody>
      </p:sp>
      <p:sp>
        <p:nvSpPr>
          <p:cNvPr id="19" name="Text 17"/>
          <p:cNvSpPr txBox="1"/>
          <p:nvPr/>
        </p:nvSpPr>
        <p:spPr>
          <a:xfrm>
            <a:off x="8778240" y="28346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2,329</a:t>
            </a:r>
            <a:endParaRPr lang="en-US" sz="1400" dirty="0"/>
          </a:p>
        </p:txBody>
      </p:sp>
      <p:sp>
        <p:nvSpPr>
          <p:cNvPr id="20" name="Text 18"/>
          <p:cNvSpPr txBox="1"/>
          <p:nvPr/>
        </p:nvSpPr>
        <p:spPr>
          <a:xfrm>
            <a:off x="7360920" y="3291840"/>
            <a:ext cx="1554480" cy="365760"/>
          </a:xfrm>
          <a:prstGeom prst="rect">
            <a:avLst/>
          </a:prstGeom>
          <a:noFill/>
          <a:ln/>
        </p:spPr>
        <p:txBody>
          <a:bodyPr wrap="square" lIns="0" tIns="0" rIns="0" bIns="0" rtlCol="0" anchor="ctr"/>
          <a:lstStyle/>
          <a:p>
            <a:pPr indent="0" marL="0">
              <a:buNone/>
            </a:pPr>
            <a:r>
              <a:rPr lang="en-US" sz="1250" dirty="0">
                <a:solidFill>
                  <a:srgbClr val="475569"/>
                </a:solidFill>
                <a:latin typeface="Poppins" pitchFamily="34" charset="0"/>
                <a:ea typeface="Poppins" pitchFamily="34" charset="-122"/>
                <a:cs typeface="Poppins" pitchFamily="34" charset="-120"/>
              </a:rPr>
              <a:t>March</a:t>
            </a:r>
            <a:endParaRPr lang="en-US" sz="1250" dirty="0"/>
          </a:p>
        </p:txBody>
      </p:sp>
      <p:sp>
        <p:nvSpPr>
          <p:cNvPr id="21" name="Text 19"/>
          <p:cNvSpPr txBox="1"/>
          <p:nvPr/>
        </p:nvSpPr>
        <p:spPr>
          <a:xfrm>
            <a:off x="8778240" y="3291840"/>
            <a:ext cx="1463040" cy="365760"/>
          </a:xfrm>
          <a:prstGeom prst="rect">
            <a:avLst/>
          </a:prstGeom>
          <a:noFill/>
          <a:ln/>
        </p:spPr>
        <p:txBody>
          <a:bodyPr wrap="square" lIns="0" tIns="0" rIns="0" bIns="0" rtlCol="0" anchor="ctr"/>
          <a:lstStyle/>
          <a:p>
            <a:pPr algn="r" indent="0" marL="0">
              <a:buNone/>
            </a:pPr>
            <a:r>
              <a:rPr lang="en-US" sz="1400" b="1" dirty="0">
                <a:solidFill>
                  <a:srgbClr val="387F7F"/>
                </a:solidFill>
                <a:latin typeface="Poppins" pitchFamily="34" charset="0"/>
                <a:ea typeface="Poppins" pitchFamily="34" charset="-122"/>
                <a:cs typeface="Poppins" pitchFamily="34" charset="-120"/>
              </a:rPr>
              <a:t>2,960</a:t>
            </a:r>
            <a:endParaRPr lang="en-US" sz="1400" dirty="0"/>
          </a:p>
        </p:txBody>
      </p:sp>
      <p:sp>
        <p:nvSpPr>
          <p:cNvPr id="22" name="Shape 20"/>
          <p:cNvSpPr/>
          <p:nvPr/>
        </p:nvSpPr>
        <p:spPr>
          <a:xfrm>
            <a:off x="7360920" y="3840480"/>
            <a:ext cx="2926080" cy="0"/>
          </a:xfrm>
          <a:prstGeom prst="line">
            <a:avLst/>
          </a:prstGeom>
          <a:noFill/>
          <a:ln w="12700">
            <a:solidFill>
              <a:srgbClr val="E2E8F0"/>
            </a:solidFill>
            <a:prstDash val="solid"/>
          </a:ln>
        </p:spPr>
      </p:sp>
      <p:sp>
        <p:nvSpPr>
          <p:cNvPr id="23" name="Text 21"/>
          <p:cNvSpPr txBox="1"/>
          <p:nvPr/>
        </p:nvSpPr>
        <p:spPr>
          <a:xfrm>
            <a:off x="7360920" y="3977640"/>
            <a:ext cx="2926080" cy="685800"/>
          </a:xfrm>
          <a:prstGeom prst="rect">
            <a:avLst/>
          </a:prstGeom>
          <a:noFill/>
          <a:ln/>
        </p:spPr>
        <p:txBody>
          <a:bodyPr wrap="square" lIns="0" tIns="0" rIns="0" bIns="0" rtlCol="0" anchor="t"/>
          <a:lstStyle/>
          <a:p>
            <a:pPr algn="l" indent="0" marL="0">
              <a:lnSpc>
                <a:spcPct val="125000"/>
              </a:lnSpc>
              <a:buNone/>
            </a:pPr>
            <a:r>
              <a:rPr lang="en-US" sz="1100" dirty="0">
                <a:solidFill>
                  <a:srgbClr val="64748B"/>
                </a:solidFill>
                <a:latin typeface="Poppins" pitchFamily="34" charset="0"/>
                <a:ea typeface="Poppins" pitchFamily="34" charset="-122"/>
                <a:cs typeface="Poppins" pitchFamily="34" charset="-120"/>
              </a:rPr>
              <a:t>Previous Month for January returns BLANK. There is no December 2024 in the model. That is correct, not a bug.</a:t>
            </a:r>
            <a:endParaRPr lang="en-US" sz="1100" dirty="0"/>
          </a:p>
        </p:txBody>
      </p:sp>
      <p:sp>
        <p:nvSpPr>
          <p:cNvPr id="24" name="Shape 22"/>
          <p:cNvSpPr/>
          <p:nvPr/>
        </p:nvSpPr>
        <p:spPr>
          <a:xfrm>
            <a:off x="685800" y="4937760"/>
            <a:ext cx="9829800" cy="914400"/>
          </a:xfrm>
          <a:prstGeom prst="roundRect">
            <a:avLst>
              <a:gd name="adj" fmla="val 9000"/>
            </a:avLst>
          </a:prstGeom>
          <a:solidFill>
            <a:srgbClr val="EEF4F4"/>
          </a:solidFill>
          <a:ln/>
        </p:spPr>
      </p:sp>
      <p:sp>
        <p:nvSpPr>
          <p:cNvPr id="25" name="Shape 23"/>
          <p:cNvSpPr/>
          <p:nvPr/>
        </p:nvSpPr>
        <p:spPr>
          <a:xfrm>
            <a:off x="685800" y="4937760"/>
            <a:ext cx="68580" cy="914400"/>
          </a:xfrm>
          <a:prstGeom prst="rect">
            <a:avLst/>
          </a:prstGeom>
          <a:solidFill>
            <a:srgbClr val="387F7F"/>
          </a:solidFill>
          <a:ln/>
        </p:spPr>
      </p:sp>
      <p:sp>
        <p:nvSpPr>
          <p:cNvPr id="26" name="Shape 24"/>
          <p:cNvSpPr/>
          <p:nvPr/>
        </p:nvSpPr>
        <p:spPr>
          <a:xfrm>
            <a:off x="960120" y="5138928"/>
            <a:ext cx="502920" cy="502920"/>
          </a:xfrm>
          <a:prstGeom prst="ellipse">
            <a:avLst/>
          </a:prstGeom>
          <a:solidFill>
            <a:srgbClr val="387F7F"/>
          </a:solidFill>
          <a:ln/>
        </p:spPr>
      </p:sp>
      <p:sp>
        <p:nvSpPr>
          <p:cNvPr id="27" name="Text 25"/>
          <p:cNvSpPr txBox="1"/>
          <p:nvPr/>
        </p:nvSpPr>
        <p:spPr>
          <a:xfrm>
            <a:off x="960120" y="5138928"/>
            <a:ext cx="50292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a:t>
            </a:r>
            <a:endParaRPr lang="en-US" sz="2100" dirty="0"/>
          </a:p>
        </p:txBody>
      </p:sp>
      <p:sp>
        <p:nvSpPr>
          <p:cNvPr id="28" name="Text 26"/>
          <p:cNvSpPr txBox="1"/>
          <p:nvPr/>
        </p:nvSpPr>
        <p:spPr>
          <a:xfrm>
            <a:off x="1691640" y="4937760"/>
            <a:ext cx="8503920" cy="914400"/>
          </a:xfrm>
          <a:prstGeom prst="rect">
            <a:avLst/>
          </a:prstGeom>
          <a:noFill/>
          <a:ln/>
        </p:spPr>
        <p:txBody>
          <a:bodyPr wrap="square" lIns="0" tIns="0" rIns="0" bIns="0" rtlCol="0" anchor="ctr"/>
          <a:lstStyle/>
          <a:p>
            <a:pPr algn="l" indent="0" marL="0">
              <a:lnSpc>
                <a:spcPct val="135000"/>
              </a:lnSpc>
              <a:buNone/>
            </a:pPr>
            <a:r>
              <a:rPr lang="en-US" sz="1500" b="1" dirty="0">
                <a:solidFill>
                  <a:srgbClr val="387F7F"/>
                </a:solidFill>
                <a:latin typeface="Poppins" pitchFamily="34" charset="0"/>
                <a:ea typeface="Poppins" pitchFamily="34" charset="-122"/>
                <a:cs typeface="Poppins" pitchFamily="34" charset="-120"/>
              </a:rPr>
              <a:t>This works only because dates.csv exists and is marked as a date table. That is what Topic 7.2 was setting up.</a:t>
            </a:r>
            <a:endParaRPr lang="en-US" sz="1500" dirty="0"/>
          </a:p>
        </p:txBody>
      </p:sp>
      <p:pic>
        <p:nvPicPr>
          <p:cNvPr id="2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0" name="Text 2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970"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03</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THREE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Verification</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Predict, run, reconcile, then break it deliberately</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Learn the three ways a measure looks right and is not</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Understand the error no tool can catch for you</a:t>
            </a:r>
            <a:endParaRPr lang="en-US" sz="1350" dirty="0"/>
          </a:p>
        </p:txBody>
      </p:sp>
      <p:sp>
        <p:nvSpPr>
          <p:cNvPr id="15" name="Text 1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How to prove a measure is right</a:t>
            </a:r>
            <a:endParaRPr lang="en-US" sz="2700" dirty="0"/>
          </a:p>
        </p:txBody>
      </p:sp>
      <p:sp>
        <p:nvSpPr>
          <p:cNvPr id="6" name="Shape 4"/>
          <p:cNvSpPr/>
          <p:nvPr/>
        </p:nvSpPr>
        <p:spPr>
          <a:xfrm>
            <a:off x="6858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20000"/>
              </a:srgbClr>
            </a:outerShdw>
          </a:effectLst>
        </p:spPr>
      </p:sp>
      <p:sp>
        <p:nvSpPr>
          <p:cNvPr id="7" name="Shape 5"/>
          <p:cNvSpPr/>
          <p:nvPr/>
        </p:nvSpPr>
        <p:spPr>
          <a:xfrm>
            <a:off x="685800" y="1691640"/>
            <a:ext cx="2286000" cy="82296"/>
          </a:xfrm>
          <a:prstGeom prst="rect">
            <a:avLst/>
          </a:prstGeom>
          <a:solidFill>
            <a:srgbClr val="387F7F"/>
          </a:solidFill>
          <a:ln/>
        </p:spPr>
      </p:sp>
      <p:sp>
        <p:nvSpPr>
          <p:cNvPr id="8" name="Shape 6"/>
          <p:cNvSpPr/>
          <p:nvPr/>
        </p:nvSpPr>
        <p:spPr>
          <a:xfrm>
            <a:off x="15453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9" name="Text 7"/>
          <p:cNvSpPr txBox="1"/>
          <p:nvPr/>
        </p:nvSpPr>
        <p:spPr>
          <a:xfrm>
            <a:off x="15453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0" name="Text 8"/>
          <p:cNvSpPr txBox="1"/>
          <p:nvPr/>
        </p:nvSpPr>
        <p:spPr>
          <a:xfrm>
            <a:off x="6858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Predict</a:t>
            </a:r>
            <a:endParaRPr lang="en-US" sz="1400" dirty="0"/>
          </a:p>
        </p:txBody>
      </p:sp>
      <p:sp>
        <p:nvSpPr>
          <p:cNvPr id="11" name="Text 9"/>
          <p:cNvSpPr txBox="1"/>
          <p:nvPr/>
        </p:nvSpPr>
        <p:spPr>
          <a:xfrm>
            <a:off x="8869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Before you run it, write down the number you expect and why. On-Time Rate should be near 82 percent because the SLA is 90 and Adaeze is worried.</a:t>
            </a:r>
            <a:endParaRPr lang="en-US" sz="1100" dirty="0"/>
          </a:p>
        </p:txBody>
      </p:sp>
      <p:sp>
        <p:nvSpPr>
          <p:cNvPr id="12" name="Text 10"/>
          <p:cNvSpPr txBox="1"/>
          <p:nvPr/>
        </p:nvSpPr>
        <p:spPr>
          <a:xfrm>
            <a:off x="29900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13" name="Shape 11"/>
          <p:cNvSpPr/>
          <p:nvPr/>
        </p:nvSpPr>
        <p:spPr>
          <a:xfrm>
            <a:off x="32004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14" name="Shape 12"/>
          <p:cNvSpPr/>
          <p:nvPr/>
        </p:nvSpPr>
        <p:spPr>
          <a:xfrm>
            <a:off x="3200400" y="1691640"/>
            <a:ext cx="2286000" cy="82296"/>
          </a:xfrm>
          <a:prstGeom prst="rect">
            <a:avLst/>
          </a:prstGeom>
          <a:solidFill>
            <a:srgbClr val="387F7F"/>
          </a:solidFill>
          <a:ln/>
        </p:spPr>
      </p:sp>
      <p:sp>
        <p:nvSpPr>
          <p:cNvPr id="15" name="Shape 13"/>
          <p:cNvSpPr/>
          <p:nvPr/>
        </p:nvSpPr>
        <p:spPr>
          <a:xfrm>
            <a:off x="40599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16" name="Text 14"/>
          <p:cNvSpPr txBox="1"/>
          <p:nvPr/>
        </p:nvSpPr>
        <p:spPr>
          <a:xfrm>
            <a:off x="40599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17" name="Text 15"/>
          <p:cNvSpPr txBox="1"/>
          <p:nvPr/>
        </p:nvSpPr>
        <p:spPr>
          <a:xfrm>
            <a:off x="32004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Run it at total level</a:t>
            </a:r>
            <a:endParaRPr lang="en-US" sz="1400" dirty="0"/>
          </a:p>
        </p:txBody>
      </p:sp>
      <p:sp>
        <p:nvSpPr>
          <p:cNvPr id="18" name="Text 16"/>
          <p:cNvSpPr txBox="1"/>
          <p:nvPr/>
        </p:nvSpPr>
        <p:spPr>
          <a:xfrm>
            <a:off x="34015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No slicers, no filters, one card visual. 33,850 divided by 41,280 is 82.0 percent.</a:t>
            </a:r>
            <a:endParaRPr lang="en-US" sz="1100" dirty="0"/>
          </a:p>
        </p:txBody>
      </p:sp>
      <p:sp>
        <p:nvSpPr>
          <p:cNvPr id="19" name="Text 17"/>
          <p:cNvSpPr txBox="1"/>
          <p:nvPr/>
        </p:nvSpPr>
        <p:spPr>
          <a:xfrm>
            <a:off x="55046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20" name="Shape 18"/>
          <p:cNvSpPr/>
          <p:nvPr/>
        </p:nvSpPr>
        <p:spPr>
          <a:xfrm>
            <a:off x="57150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21" name="Shape 19"/>
          <p:cNvSpPr/>
          <p:nvPr/>
        </p:nvSpPr>
        <p:spPr>
          <a:xfrm>
            <a:off x="5715000" y="1691640"/>
            <a:ext cx="2286000" cy="82296"/>
          </a:xfrm>
          <a:prstGeom prst="rect">
            <a:avLst/>
          </a:prstGeom>
          <a:solidFill>
            <a:srgbClr val="387F7F"/>
          </a:solidFill>
          <a:ln/>
        </p:spPr>
      </p:sp>
      <p:sp>
        <p:nvSpPr>
          <p:cNvPr id="22" name="Shape 20"/>
          <p:cNvSpPr/>
          <p:nvPr/>
        </p:nvSpPr>
        <p:spPr>
          <a:xfrm>
            <a:off x="65745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23" name="Text 21"/>
          <p:cNvSpPr txBox="1"/>
          <p:nvPr/>
        </p:nvSpPr>
        <p:spPr>
          <a:xfrm>
            <a:off x="65745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24" name="Text 22"/>
          <p:cNvSpPr txBox="1"/>
          <p:nvPr/>
        </p:nvSpPr>
        <p:spPr>
          <a:xfrm>
            <a:off x="57150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Reconcile against source</a:t>
            </a:r>
            <a:endParaRPr lang="en-US" sz="1400" dirty="0"/>
          </a:p>
        </p:txBody>
      </p:sp>
      <p:sp>
        <p:nvSpPr>
          <p:cNvPr id="25" name="Text 23"/>
          <p:cNvSpPr txBox="1"/>
          <p:nvPr/>
        </p:nvSpPr>
        <p:spPr>
          <a:xfrm>
            <a:off x="59161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Filter the raw table in Table view to Status equals On time and read the row count. It should read 33,850.</a:t>
            </a:r>
            <a:endParaRPr lang="en-US" sz="1100" dirty="0"/>
          </a:p>
        </p:txBody>
      </p:sp>
      <p:sp>
        <p:nvSpPr>
          <p:cNvPr id="26" name="Text 24"/>
          <p:cNvSpPr txBox="1"/>
          <p:nvPr/>
        </p:nvSpPr>
        <p:spPr>
          <a:xfrm>
            <a:off x="8019288" y="2788920"/>
            <a:ext cx="292608" cy="292608"/>
          </a:xfrm>
          <a:prstGeom prst="rect">
            <a:avLst/>
          </a:prstGeom>
          <a:noFill/>
          <a:ln/>
        </p:spPr>
        <p:txBody>
          <a:bodyPr wrap="square" lIns="0" tIns="0" rIns="0" bIns="0" rtlCol="0" anchor="ctr"/>
          <a:lstStyle/>
          <a:p>
            <a:pPr algn="ctr" indent="0" marL="0">
              <a:buNone/>
            </a:pPr>
            <a:r>
              <a:rPr lang="en-US" sz="1472" b="1" dirty="0">
                <a:solidFill>
                  <a:srgbClr val="387F7F"/>
                </a:solidFill>
                <a:latin typeface="Poppins" pitchFamily="34" charset="0"/>
                <a:ea typeface="Poppins" pitchFamily="34" charset="-122"/>
                <a:cs typeface="Poppins" pitchFamily="34" charset="-120"/>
              </a:rPr>
              <a:t>›</a:t>
            </a:r>
            <a:endParaRPr lang="en-US" sz="1472" dirty="0"/>
          </a:p>
        </p:txBody>
      </p:sp>
      <p:sp>
        <p:nvSpPr>
          <p:cNvPr id="27" name="Shape 25"/>
          <p:cNvSpPr/>
          <p:nvPr/>
        </p:nvSpPr>
        <p:spPr>
          <a:xfrm>
            <a:off x="8229600" y="1691640"/>
            <a:ext cx="2286000" cy="3108960"/>
          </a:xfrm>
          <a:prstGeom prst="roundRect">
            <a:avLst>
              <a:gd name="adj" fmla="val 4000"/>
            </a:avLst>
          </a:prstGeom>
          <a:solidFill>
            <a:srgbClr val="FFFFFF"/>
          </a:solidFill>
          <a:ln/>
          <a:effectLst>
            <a:outerShdw sx="100000" sy="100000" kx="0" ky="0" algn="bl" rotWithShape="0" blurRad="152400" dist="38100" dir="5400000">
              <a:srgbClr val="1B2A2E">
                <a:alpha val="14000"/>
              </a:srgbClr>
            </a:outerShdw>
          </a:effectLst>
        </p:spPr>
      </p:sp>
      <p:sp>
        <p:nvSpPr>
          <p:cNvPr id="28" name="Shape 26"/>
          <p:cNvSpPr/>
          <p:nvPr/>
        </p:nvSpPr>
        <p:spPr>
          <a:xfrm>
            <a:off x="8229600" y="1691640"/>
            <a:ext cx="2286000" cy="82296"/>
          </a:xfrm>
          <a:prstGeom prst="rect">
            <a:avLst/>
          </a:prstGeom>
          <a:solidFill>
            <a:srgbClr val="387F7F"/>
          </a:solidFill>
          <a:ln/>
        </p:spPr>
      </p:sp>
      <p:sp>
        <p:nvSpPr>
          <p:cNvPr id="29" name="Shape 27"/>
          <p:cNvSpPr/>
          <p:nvPr/>
        </p:nvSpPr>
        <p:spPr>
          <a:xfrm>
            <a:off x="9089136" y="2075688"/>
            <a:ext cx="566928" cy="566928"/>
          </a:xfrm>
          <a:prstGeom prst="ellipse">
            <a:avLst/>
          </a:prstGeom>
          <a:solidFill>
            <a:srgbClr val="387F7F"/>
          </a:solidFill>
          <a:ln/>
          <a:effectLst>
            <a:outerShdw sx="100000" sy="100000" kx="0" ky="0" algn="bl" rotWithShape="0" blurRad="101600" dist="25400" dir="5400000">
              <a:srgbClr val="1B2A2E">
                <a:alpha val="18000"/>
              </a:srgbClr>
            </a:outerShdw>
          </a:effectLst>
        </p:spPr>
      </p:sp>
      <p:sp>
        <p:nvSpPr>
          <p:cNvPr id="30" name="Text 28"/>
          <p:cNvSpPr txBox="1"/>
          <p:nvPr/>
        </p:nvSpPr>
        <p:spPr>
          <a:xfrm>
            <a:off x="9089136" y="207568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1" name="Text 29"/>
          <p:cNvSpPr txBox="1"/>
          <p:nvPr/>
        </p:nvSpPr>
        <p:spPr>
          <a:xfrm>
            <a:off x="8229600" y="2788920"/>
            <a:ext cx="2286000" cy="365760"/>
          </a:xfrm>
          <a:prstGeom prst="rect">
            <a:avLst/>
          </a:prstGeom>
          <a:noFill/>
          <a:ln/>
        </p:spPr>
        <p:txBody>
          <a:bodyPr wrap="square" lIns="0" tIns="0" rIns="0" bIns="0" rtlCol="0" anchor="ctr"/>
          <a:lstStyle/>
          <a:p>
            <a:pPr algn="ctr" indent="0" marL="0">
              <a:buNone/>
            </a:pPr>
            <a:r>
              <a:rPr lang="en-US" sz="1400" b="1" dirty="0">
                <a:solidFill>
                  <a:srgbClr val="0A1A23"/>
                </a:solidFill>
                <a:latin typeface="Poppins" pitchFamily="34" charset="0"/>
                <a:ea typeface="Poppins" pitchFamily="34" charset="-122"/>
                <a:cs typeface="Poppins" pitchFamily="34" charset="-120"/>
              </a:rPr>
              <a:t>Break it deliberately</a:t>
            </a:r>
            <a:endParaRPr lang="en-US" sz="1400" dirty="0"/>
          </a:p>
        </p:txBody>
      </p:sp>
      <p:sp>
        <p:nvSpPr>
          <p:cNvPr id="32" name="Text 30"/>
          <p:cNvSpPr txBox="1"/>
          <p:nvPr/>
        </p:nvSpPr>
        <p:spPr>
          <a:xfrm>
            <a:off x="8430768" y="3246120"/>
            <a:ext cx="1883664" cy="1417320"/>
          </a:xfrm>
          <a:prstGeom prst="rect">
            <a:avLst/>
          </a:prstGeom>
          <a:noFill/>
          <a:ln/>
        </p:spPr>
        <p:txBody>
          <a:bodyPr wrap="square" lIns="0" tIns="0" rIns="0" bIns="0" rtlCol="0" anchor="t"/>
          <a:lstStyle/>
          <a:p>
            <a:pPr algn="ctr" indent="0" marL="0">
              <a:lnSpc>
                <a:spcPct val="125000"/>
              </a:lnSpc>
              <a:buNone/>
            </a:pPr>
            <a:r>
              <a:rPr lang="en-US" sz="1100" dirty="0">
                <a:solidFill>
                  <a:srgbClr val="475569"/>
                </a:solidFill>
                <a:latin typeface="Poppins" pitchFamily="34" charset="0"/>
                <a:ea typeface="Poppins" pitchFamily="34" charset="-122"/>
                <a:cs typeface="Poppins" pitchFamily="34" charset="-120"/>
              </a:rPr>
              <a:t>Filter to a single rider with few deliveries. This is where divide-by-zero and blank handling show up.</a:t>
            </a:r>
            <a:endParaRPr lang="en-US" sz="1100" dirty="0"/>
          </a:p>
        </p:txBody>
      </p:sp>
      <p:sp>
        <p:nvSpPr>
          <p:cNvPr id="33" name="Shape 31"/>
          <p:cNvSpPr/>
          <p:nvPr/>
        </p:nvSpPr>
        <p:spPr>
          <a:xfrm>
            <a:off x="685800" y="4983480"/>
            <a:ext cx="9829800" cy="960120"/>
          </a:xfrm>
          <a:prstGeom prst="roundRect">
            <a:avLst>
              <a:gd name="adj" fmla="val 8571"/>
            </a:avLst>
          </a:prstGeom>
          <a:solidFill>
            <a:srgbClr val="EEF4F4"/>
          </a:solidFill>
          <a:ln/>
        </p:spPr>
      </p:sp>
      <p:sp>
        <p:nvSpPr>
          <p:cNvPr id="34" name="Shape 32"/>
          <p:cNvSpPr/>
          <p:nvPr/>
        </p:nvSpPr>
        <p:spPr>
          <a:xfrm>
            <a:off x="685800" y="4983480"/>
            <a:ext cx="68580" cy="960120"/>
          </a:xfrm>
          <a:prstGeom prst="rect">
            <a:avLst/>
          </a:prstGeom>
          <a:solidFill>
            <a:srgbClr val="387F7F"/>
          </a:solidFill>
          <a:ln/>
        </p:spPr>
      </p:sp>
      <p:sp>
        <p:nvSpPr>
          <p:cNvPr id="35" name="Text 33"/>
          <p:cNvSpPr txBox="1"/>
          <p:nvPr/>
        </p:nvSpPr>
        <p:spPr>
          <a:xfrm>
            <a:off x="1051560" y="4983480"/>
            <a:ext cx="9235440" cy="960120"/>
          </a:xfrm>
          <a:prstGeom prst="rect">
            <a:avLst/>
          </a:prstGeom>
          <a:noFill/>
          <a:ln/>
        </p:spPr>
        <p:txBody>
          <a:bodyPr wrap="square" lIns="0" tIns="0" rIns="0" bIns="0" rtlCol="0" anchor="ctr"/>
          <a:lstStyle/>
          <a:p>
            <a:pPr algn="l" indent="0" marL="0">
              <a:lnSpc>
                <a:spcPct val="125000"/>
              </a:lnSpc>
              <a:buNone/>
            </a:pPr>
            <a:r>
              <a:rPr lang="en-US" sz="1500" b="1" dirty="0">
                <a:solidFill>
                  <a:srgbClr val="387F7F"/>
                </a:solidFill>
                <a:latin typeface="Poppins" pitchFamily="34" charset="0"/>
                <a:ea typeface="Poppins" pitchFamily="34" charset="-122"/>
                <a:cs typeface="Poppins" pitchFamily="34" charset="-120"/>
              </a:rPr>
              <a:t>You have now used prediction on joins, on models and on measures. In Module 8 you will use it on AI output. It is the same move.</a:t>
            </a:r>
            <a:endParaRPr lang="en-US" sz="1500" dirty="0"/>
          </a:p>
        </p:txBody>
      </p:sp>
      <p:pic>
        <p:nvPicPr>
          <p:cNvPr id="36"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7" name="Text 34"/>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Three ways a measure looks right and is not</a:t>
            </a:r>
            <a:endParaRPr lang="en-US" sz="2700" dirty="0"/>
          </a:p>
        </p:txBody>
      </p:sp>
      <p:sp>
        <p:nvSpPr>
          <p:cNvPr id="6" name="Shape 4"/>
          <p:cNvSpPr/>
          <p:nvPr/>
        </p:nvSpPr>
        <p:spPr>
          <a:xfrm>
            <a:off x="685800"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45920"/>
            <a:ext cx="3063240" cy="82296"/>
          </a:xfrm>
          <a:prstGeom prst="rect">
            <a:avLst/>
          </a:prstGeom>
          <a:solidFill>
            <a:srgbClr val="C9821F"/>
          </a:solidFill>
          <a:ln/>
        </p:spPr>
      </p:sp>
      <p:sp>
        <p:nvSpPr>
          <p:cNvPr id="8" name="Shape 6"/>
          <p:cNvSpPr/>
          <p:nvPr/>
        </p:nvSpPr>
        <p:spPr>
          <a:xfrm>
            <a:off x="978408" y="2029968"/>
            <a:ext cx="548640" cy="548640"/>
          </a:xfrm>
          <a:prstGeom prst="ellipse">
            <a:avLst/>
          </a:prstGeom>
          <a:solidFill>
            <a:srgbClr val="C9821F"/>
          </a:solidFill>
          <a:ln/>
        </p:spPr>
      </p:sp>
      <p:sp>
        <p:nvSpPr>
          <p:cNvPr id="9" name="Text 7"/>
          <p:cNvSpPr txBox="1"/>
          <p:nvPr/>
        </p:nvSpPr>
        <p:spPr>
          <a:xfrm>
            <a:off x="978408"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1</a:t>
            </a:r>
            <a:endParaRPr lang="en-US" sz="2100" dirty="0"/>
          </a:p>
        </p:txBody>
      </p:sp>
      <p:sp>
        <p:nvSpPr>
          <p:cNvPr id="10" name="Text 8"/>
          <p:cNvSpPr txBox="1"/>
          <p:nvPr/>
        </p:nvSpPr>
        <p:spPr>
          <a:xfrm>
            <a:off x="1645920"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The total is right, the breakdown is not</a:t>
            </a:r>
            <a:endParaRPr lang="en-US" sz="1300" dirty="0"/>
          </a:p>
        </p:txBody>
      </p:sp>
      <p:sp>
        <p:nvSpPr>
          <p:cNvPr id="11" name="Text 9"/>
          <p:cNvSpPr txBox="1"/>
          <p:nvPr/>
        </p:nvSpPr>
        <p:spPr>
          <a:xfrm>
            <a:off x="978408"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 measure can return the correct grand total while every individual row is wrong, because the errors cancel. Always check at least one row, not just the total.</a:t>
            </a:r>
            <a:endParaRPr lang="en-US" sz="1150" dirty="0"/>
          </a:p>
        </p:txBody>
      </p:sp>
      <p:sp>
        <p:nvSpPr>
          <p:cNvPr id="12" name="Shape 10"/>
          <p:cNvSpPr/>
          <p:nvPr/>
        </p:nvSpPr>
        <p:spPr>
          <a:xfrm>
            <a:off x="4005072"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4005072" y="1645920"/>
            <a:ext cx="3063240" cy="82296"/>
          </a:xfrm>
          <a:prstGeom prst="rect">
            <a:avLst/>
          </a:prstGeom>
          <a:solidFill>
            <a:srgbClr val="C9821F"/>
          </a:solidFill>
          <a:ln/>
        </p:spPr>
      </p:sp>
      <p:sp>
        <p:nvSpPr>
          <p:cNvPr id="14" name="Shape 12"/>
          <p:cNvSpPr/>
          <p:nvPr/>
        </p:nvSpPr>
        <p:spPr>
          <a:xfrm>
            <a:off x="4297680" y="2029968"/>
            <a:ext cx="548640" cy="548640"/>
          </a:xfrm>
          <a:prstGeom prst="ellipse">
            <a:avLst/>
          </a:prstGeom>
          <a:solidFill>
            <a:srgbClr val="C9821F"/>
          </a:solidFill>
          <a:ln/>
        </p:spPr>
      </p:sp>
      <p:sp>
        <p:nvSpPr>
          <p:cNvPr id="15" name="Text 13"/>
          <p:cNvSpPr txBox="1"/>
          <p:nvPr/>
        </p:nvSpPr>
        <p:spPr>
          <a:xfrm>
            <a:off x="4297680"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2</a:t>
            </a:r>
            <a:endParaRPr lang="en-US" sz="2100" dirty="0"/>
          </a:p>
        </p:txBody>
      </p:sp>
      <p:sp>
        <p:nvSpPr>
          <p:cNvPr id="16" name="Text 14"/>
          <p:cNvSpPr txBox="1"/>
          <p:nvPr/>
        </p:nvSpPr>
        <p:spPr>
          <a:xfrm>
            <a:off x="4965192"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Blank is not zero</a:t>
            </a:r>
            <a:endParaRPr lang="en-US" sz="1300" dirty="0"/>
          </a:p>
        </p:txBody>
      </p:sp>
      <p:sp>
        <p:nvSpPr>
          <p:cNvPr id="17" name="Text 15"/>
          <p:cNvSpPr txBox="1"/>
          <p:nvPr/>
        </p:nvSpPr>
        <p:spPr>
          <a:xfrm>
            <a:off x="4297680"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 blank means “no rows matched”. A zero means “rows matched and summed to nothing”. A chart draws them differently and a manager reads them identically.</a:t>
            </a:r>
            <a:endParaRPr lang="en-US" sz="1150" dirty="0"/>
          </a:p>
        </p:txBody>
      </p:sp>
      <p:sp>
        <p:nvSpPr>
          <p:cNvPr id="18" name="Shape 16"/>
          <p:cNvSpPr/>
          <p:nvPr/>
        </p:nvSpPr>
        <p:spPr>
          <a:xfrm>
            <a:off x="7324344" y="1645920"/>
            <a:ext cx="3063240" cy="310896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7324344" y="1645920"/>
            <a:ext cx="3063240" cy="82296"/>
          </a:xfrm>
          <a:prstGeom prst="rect">
            <a:avLst/>
          </a:prstGeom>
          <a:solidFill>
            <a:srgbClr val="A8322D"/>
          </a:solidFill>
          <a:ln/>
        </p:spPr>
      </p:sp>
      <p:sp>
        <p:nvSpPr>
          <p:cNvPr id="20" name="Shape 18"/>
          <p:cNvSpPr/>
          <p:nvPr/>
        </p:nvSpPr>
        <p:spPr>
          <a:xfrm>
            <a:off x="7616952" y="2029968"/>
            <a:ext cx="548640" cy="548640"/>
          </a:xfrm>
          <a:prstGeom prst="ellipse">
            <a:avLst/>
          </a:prstGeom>
          <a:solidFill>
            <a:srgbClr val="A8322D"/>
          </a:solidFill>
          <a:ln/>
        </p:spPr>
      </p:sp>
      <p:sp>
        <p:nvSpPr>
          <p:cNvPr id="21" name="Text 19"/>
          <p:cNvSpPr txBox="1"/>
          <p:nvPr/>
        </p:nvSpPr>
        <p:spPr>
          <a:xfrm>
            <a:off x="7616952" y="2029968"/>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Poppins" pitchFamily="34" charset="0"/>
                <a:ea typeface="Poppins" pitchFamily="34" charset="-122"/>
                <a:cs typeface="Poppins" pitchFamily="34" charset="-120"/>
              </a:rPr>
              <a:t>3</a:t>
            </a:r>
            <a:endParaRPr lang="en-US" sz="2100" dirty="0"/>
          </a:p>
        </p:txBody>
      </p:sp>
      <p:sp>
        <p:nvSpPr>
          <p:cNvPr id="22" name="Text 20"/>
          <p:cNvSpPr txBox="1"/>
          <p:nvPr/>
        </p:nvSpPr>
        <p:spPr>
          <a:xfrm>
            <a:off x="8284464" y="1965960"/>
            <a:ext cx="1874520" cy="685800"/>
          </a:xfrm>
          <a:prstGeom prst="rect">
            <a:avLst/>
          </a:prstGeom>
          <a:noFill/>
          <a:ln/>
        </p:spPr>
        <p:txBody>
          <a:bodyPr wrap="square" lIns="0" tIns="0" rIns="0" bIns="0" rtlCol="0" anchor="ctr"/>
          <a:lstStyle/>
          <a:p>
            <a:pPr indent="0" marL="0">
              <a:lnSpc>
                <a:spcPct val="112000"/>
              </a:lnSpc>
              <a:buNone/>
            </a:pPr>
            <a:r>
              <a:rPr lang="en-US" sz="1300" b="1" dirty="0">
                <a:solidFill>
                  <a:srgbClr val="0A1A23"/>
                </a:solidFill>
                <a:latin typeface="Poppins" pitchFamily="34" charset="0"/>
                <a:ea typeface="Poppins" pitchFamily="34" charset="-122"/>
                <a:cs typeface="Poppins" pitchFamily="34" charset="-120"/>
              </a:rPr>
              <a:t>The measure is right, the definition is wrong</a:t>
            </a:r>
            <a:endParaRPr lang="en-US" sz="1300" dirty="0"/>
          </a:p>
        </p:txBody>
      </p:sp>
      <p:sp>
        <p:nvSpPr>
          <p:cNvPr id="23" name="Text 21"/>
          <p:cNvSpPr txBox="1"/>
          <p:nvPr/>
        </p:nvSpPr>
        <p:spPr>
          <a:xfrm>
            <a:off x="7616952" y="2880360"/>
            <a:ext cx="2478024" cy="1691640"/>
          </a:xfrm>
          <a:prstGeom prst="rect">
            <a:avLst/>
          </a:prstGeom>
          <a:noFill/>
          <a:ln/>
        </p:spPr>
        <p:txBody>
          <a:bodyPr wrap="square" lIns="0" tIns="0" rIns="0" bIns="0" rtlCol="0" anchor="t"/>
          <a:lstStyle/>
          <a:p>
            <a:pPr algn="l" indent="0" marL="0">
              <a:lnSpc>
                <a:spcPct val="128000"/>
              </a:lnSpc>
              <a:buNone/>
            </a:pPr>
            <a:r>
              <a:rPr lang="en-US" sz="1150" dirty="0">
                <a:solidFill>
                  <a:srgbClr val="475569"/>
                </a:solidFill>
                <a:latin typeface="Poppins" pitchFamily="34" charset="0"/>
                <a:ea typeface="Poppins" pitchFamily="34" charset="-122"/>
                <a:cs typeface="Poppins" pitchFamily="34" charset="-120"/>
              </a:rPr>
              <a:t>An on-time rate of 82 percent is arithmetically perfect and still wrong if the business counts cancelled deliveries and you did not. This is Adaeze's question from the start of the topic.</a:t>
            </a:r>
            <a:endParaRPr lang="en-US" sz="1150" dirty="0"/>
          </a:p>
        </p:txBody>
      </p:sp>
      <p:sp>
        <p:nvSpPr>
          <p:cNvPr id="24" name="Shape 22"/>
          <p:cNvSpPr/>
          <p:nvPr/>
        </p:nvSpPr>
        <p:spPr>
          <a:xfrm>
            <a:off x="685800" y="4937760"/>
            <a:ext cx="9829800" cy="1005840"/>
          </a:xfrm>
          <a:prstGeom prst="roundRect">
            <a:avLst>
              <a:gd name="adj" fmla="val 8182"/>
            </a:avLst>
          </a:prstGeom>
          <a:solidFill>
            <a:srgbClr val="FBEDEC"/>
          </a:solidFill>
          <a:ln/>
        </p:spPr>
      </p:sp>
      <p:sp>
        <p:nvSpPr>
          <p:cNvPr id="25" name="Shape 23"/>
          <p:cNvSpPr/>
          <p:nvPr/>
        </p:nvSpPr>
        <p:spPr>
          <a:xfrm>
            <a:off x="685800" y="4937760"/>
            <a:ext cx="68580" cy="1005840"/>
          </a:xfrm>
          <a:prstGeom prst="rect">
            <a:avLst/>
          </a:prstGeom>
          <a:solidFill>
            <a:srgbClr val="A8322D"/>
          </a:solidFill>
          <a:ln/>
        </p:spPr>
      </p:sp>
      <p:sp>
        <p:nvSpPr>
          <p:cNvPr id="26" name="Shape 24"/>
          <p:cNvSpPr/>
          <p:nvPr/>
        </p:nvSpPr>
        <p:spPr>
          <a:xfrm>
            <a:off x="960120" y="5166360"/>
            <a:ext cx="502920" cy="502920"/>
          </a:xfrm>
          <a:prstGeom prst="ellipse">
            <a:avLst/>
          </a:prstGeom>
          <a:solidFill>
            <a:srgbClr val="A8322D"/>
          </a:solidFill>
          <a:ln/>
        </p:spPr>
      </p:sp>
      <p:sp>
        <p:nvSpPr>
          <p:cNvPr id="27" name="Text 25"/>
          <p:cNvSpPr txBox="1"/>
          <p:nvPr/>
        </p:nvSpPr>
        <p:spPr>
          <a:xfrm>
            <a:off x="960120" y="51663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a:t>
            </a:r>
            <a:endParaRPr lang="en-US" sz="2200" dirty="0"/>
          </a:p>
        </p:txBody>
      </p:sp>
      <p:sp>
        <p:nvSpPr>
          <p:cNvPr id="28" name="Text 26"/>
          <p:cNvSpPr txBox="1"/>
          <p:nvPr/>
        </p:nvSpPr>
        <p:spPr>
          <a:xfrm>
            <a:off x="1691640" y="4937760"/>
            <a:ext cx="8503920" cy="1005840"/>
          </a:xfrm>
          <a:prstGeom prst="rect">
            <a:avLst/>
          </a:prstGeom>
          <a:noFill/>
          <a:ln/>
        </p:spPr>
        <p:txBody>
          <a:bodyPr wrap="square" lIns="0" tIns="0" rIns="0" bIns="0" rtlCol="0" anchor="ctr"/>
          <a:lstStyle/>
          <a:p>
            <a:pPr algn="l" indent="0" marL="0">
              <a:lnSpc>
                <a:spcPct val="135000"/>
              </a:lnSpc>
              <a:buNone/>
            </a:pPr>
            <a:r>
              <a:rPr lang="en-US" sz="1550" b="1" dirty="0">
                <a:solidFill>
                  <a:srgbClr val="7A2C28"/>
                </a:solidFill>
                <a:latin typeface="Poppins" pitchFamily="34" charset="0"/>
                <a:ea typeface="Poppins" pitchFamily="34" charset="-122"/>
                <a:cs typeface="Poppins" pitchFamily="34" charset="-120"/>
              </a:rPr>
              <a:t>Trap three cannot be caught in Power BI. It is caught by asking the person who owns the number.</a:t>
            </a:r>
            <a:endParaRPr lang="en-US" sz="1550" dirty="0"/>
          </a:p>
        </p:txBody>
      </p:sp>
      <p:pic>
        <p:nvPicPr>
          <p:cNvPr id="2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0" name="Text 2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02920"/>
            <a:ext cx="10817352" cy="1234440"/>
          </a:xfrm>
          <a:prstGeom prst="roundRect">
            <a:avLst>
              <a:gd name="adj" fmla="val 10370"/>
            </a:avLst>
          </a:prstGeom>
          <a:solidFill>
            <a:srgbClr val="20494A"/>
          </a:solidFill>
          <a:ln/>
        </p:spPr>
      </p:sp>
      <p:sp>
        <p:nvSpPr>
          <p:cNvPr id="5" name="Shape 3"/>
          <p:cNvSpPr/>
          <p:nvPr/>
        </p:nvSpPr>
        <p:spPr>
          <a:xfrm>
            <a:off x="685800" y="640080"/>
            <a:ext cx="82296" cy="960120"/>
          </a:xfrm>
          <a:prstGeom prst="rect">
            <a:avLst/>
          </a:prstGeom>
          <a:solidFill>
            <a:srgbClr val="387F7F"/>
          </a:solidFill>
          <a:ln/>
        </p:spPr>
      </p:sp>
      <p:sp>
        <p:nvSpPr>
          <p:cNvPr id="6" name="Text 4"/>
          <p:cNvSpPr txBox="1"/>
          <p:nvPr/>
        </p:nvSpPr>
        <p:spPr>
          <a:xfrm>
            <a:off x="960120" y="658368"/>
            <a:ext cx="5486400" cy="292608"/>
          </a:xfrm>
          <a:prstGeom prst="rect">
            <a:avLst/>
          </a:prstGeom>
          <a:noFill/>
          <a:ln/>
        </p:spPr>
        <p:txBody>
          <a:bodyPr wrap="square" lIns="0" tIns="0" rIns="0" bIns="0" rtlCol="0" anchor="ctr"/>
          <a:lstStyle/>
          <a:p>
            <a:pPr indent="0" marL="0">
              <a:buNone/>
            </a:pPr>
            <a:r>
              <a:rPr lang="en-US" sz="1200" b="1" spc="200" kern="0" dirty="0">
                <a:solidFill>
                  <a:srgbClr val="8FBEBE"/>
                </a:solidFill>
                <a:latin typeface="Poppins" pitchFamily="34" charset="0"/>
                <a:ea typeface="Poppins" pitchFamily="34" charset="-122"/>
                <a:cs typeface="Poppins" pitchFamily="34" charset="-120"/>
              </a:rPr>
              <a:t>YOUR TURN</a:t>
            </a:r>
            <a:endParaRPr lang="en-US" sz="1200" dirty="0"/>
          </a:p>
        </p:txBody>
      </p:sp>
      <p:sp>
        <p:nvSpPr>
          <p:cNvPr id="7" name="Text 5"/>
          <p:cNvSpPr txBox="1"/>
          <p:nvPr/>
        </p:nvSpPr>
        <p:spPr>
          <a:xfrm>
            <a:off x="960120" y="932688"/>
            <a:ext cx="7863840" cy="658368"/>
          </a:xfrm>
          <a:prstGeom prst="rect">
            <a:avLst/>
          </a:prstGeom>
          <a:noFill/>
          <a:ln/>
        </p:spPr>
        <p:txBody>
          <a:bodyPr wrap="square" lIns="0" tIns="0" rIns="0" bIns="0" rtlCol="0" anchor="ctr"/>
          <a:lstStyle/>
          <a:p>
            <a:pPr indent="0" marL="0">
              <a:buNone/>
            </a:pPr>
            <a:r>
              <a:rPr lang="en-US" sz="2700" b="1" dirty="0">
                <a:solidFill>
                  <a:srgbClr val="FFFFFF"/>
                </a:solidFill>
                <a:latin typeface="Poppins" pitchFamily="34" charset="0"/>
                <a:ea typeface="Poppins" pitchFamily="34" charset="-122"/>
                <a:cs typeface="Poppins" pitchFamily="34" charset="-120"/>
              </a:rPr>
              <a:t>Three measures</a:t>
            </a:r>
            <a:endParaRPr lang="en-US" sz="2700" dirty="0"/>
          </a:p>
        </p:txBody>
      </p:sp>
      <p:sp>
        <p:nvSpPr>
          <p:cNvPr id="8" name="Shape 6"/>
          <p:cNvSpPr/>
          <p:nvPr/>
        </p:nvSpPr>
        <p:spPr>
          <a:xfrm>
            <a:off x="10058400" y="868680"/>
            <a:ext cx="1234440" cy="502920"/>
          </a:xfrm>
          <a:prstGeom prst="roundRect">
            <a:avLst>
              <a:gd name="adj" fmla="val 49091"/>
            </a:avLst>
          </a:prstGeom>
          <a:solidFill>
            <a:srgbClr val="387F7F"/>
          </a:solidFill>
          <a:ln/>
        </p:spPr>
      </p:sp>
      <p:sp>
        <p:nvSpPr>
          <p:cNvPr id="9" name="Text 7"/>
          <p:cNvSpPr txBox="1"/>
          <p:nvPr/>
        </p:nvSpPr>
        <p:spPr>
          <a:xfrm>
            <a:off x="10058400" y="868680"/>
            <a:ext cx="123444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Poppins" pitchFamily="34" charset="0"/>
                <a:ea typeface="Poppins" pitchFamily="34" charset="-122"/>
                <a:cs typeface="Poppins" pitchFamily="34" charset="-120"/>
              </a:rPr>
              <a:t>15 min</a:t>
            </a:r>
            <a:endParaRPr lang="en-US" sz="1400" dirty="0"/>
          </a:p>
        </p:txBody>
      </p:sp>
      <p:sp>
        <p:nvSpPr>
          <p:cNvPr id="10" name="Shape 8"/>
          <p:cNvSpPr/>
          <p:nvPr/>
        </p:nvSpPr>
        <p:spPr>
          <a:xfrm>
            <a:off x="685800" y="2011680"/>
            <a:ext cx="10424160" cy="1691640"/>
          </a:xfrm>
          <a:prstGeom prst="roundRect">
            <a:avLst>
              <a:gd name="adj" fmla="val 5405"/>
            </a:avLst>
          </a:prstGeom>
          <a:solidFill>
            <a:srgbClr val="FFFFFF"/>
          </a:solidFill>
          <a:ln/>
          <a:effectLst>
            <a:outerShdw sx="100000" sy="100000" kx="0" ky="0" algn="bl" rotWithShape="0" blurRad="152400" dist="38100" dir="5400000">
              <a:srgbClr val="1B2A2E">
                <a:alpha val="14000"/>
              </a:srgbClr>
            </a:outerShdw>
          </a:effectLst>
        </p:spPr>
      </p:sp>
      <p:sp>
        <p:nvSpPr>
          <p:cNvPr id="11" name="Shape 9"/>
          <p:cNvSpPr/>
          <p:nvPr/>
        </p:nvSpPr>
        <p:spPr>
          <a:xfrm>
            <a:off x="685800" y="2011680"/>
            <a:ext cx="82296" cy="1691640"/>
          </a:xfrm>
          <a:prstGeom prst="rect">
            <a:avLst/>
          </a:prstGeom>
          <a:solidFill>
            <a:srgbClr val="387F7F"/>
          </a:solidFill>
          <a:ln/>
        </p:spPr>
      </p:sp>
      <p:sp>
        <p:nvSpPr>
          <p:cNvPr id="12" name="Text 10"/>
          <p:cNvSpPr txBox="1"/>
          <p:nvPr/>
        </p:nvSpPr>
        <p:spPr>
          <a:xfrm>
            <a:off x="1005840" y="2194560"/>
            <a:ext cx="9601200" cy="274320"/>
          </a:xfrm>
          <a:prstGeom prst="rect">
            <a:avLst/>
          </a:prstGeom>
          <a:noFill/>
          <a:ln/>
        </p:spPr>
        <p:txBody>
          <a:bodyPr wrap="square" lIns="0" tIns="0" rIns="0" bIns="0" rtlCol="0" anchor="ctr"/>
          <a:lstStyle/>
          <a:p>
            <a:pPr indent="0" marL="0">
              <a:buNone/>
            </a:pPr>
            <a:r>
              <a:rPr lang="en-US" sz="1100" b="1" dirty="0">
                <a:solidFill>
                  <a:srgbClr val="387F7F"/>
                </a:solidFill>
                <a:latin typeface="Poppins" pitchFamily="34" charset="0"/>
                <a:ea typeface="Poppins" pitchFamily="34" charset="-122"/>
                <a:cs typeface="Poppins" pitchFamily="34" charset="-120"/>
              </a:rPr>
              <a:t>THE TASK</a:t>
            </a:r>
            <a:endParaRPr lang="en-US" sz="1100" dirty="0"/>
          </a:p>
        </p:txBody>
      </p:sp>
      <p:sp>
        <p:nvSpPr>
          <p:cNvPr id="13" name="Text 11"/>
          <p:cNvSpPr txBox="1"/>
          <p:nvPr/>
        </p:nvSpPr>
        <p:spPr>
          <a:xfrm>
            <a:off x="1005840" y="2514600"/>
            <a:ext cx="9875520" cy="1097280"/>
          </a:xfrm>
          <a:prstGeom prst="rect">
            <a:avLst/>
          </a:prstGeom>
          <a:noFill/>
          <a:ln/>
        </p:spPr>
        <p:txBody>
          <a:bodyPr wrap="square" lIns="0" tIns="0" rIns="0" bIns="0" rtlCol="0" anchor="t"/>
          <a:lstStyle/>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Using your completed SwiftRoute model, write and verify:</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1.  Total Revenue, summing DeliveryFee.</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2.  Late Rate, the proportion of deliveries not on time, using DIVIDE.</a:t>
            </a:r>
            <a:endParaRPr lang="en-US" sz="1450" dirty="0"/>
          </a:p>
          <a:p>
            <a:pPr algn="l" indent="0" marL="0">
              <a:lnSpc>
                <a:spcPct val="130000"/>
              </a:lnSpc>
              <a:buNone/>
            </a:pPr>
            <a:r>
              <a:rPr lang="en-US" sz="1450" dirty="0">
                <a:solidFill>
                  <a:srgbClr val="475569"/>
                </a:solidFill>
                <a:latin typeface="Poppins" pitchFamily="34" charset="0"/>
                <a:ea typeface="Poppins" pitchFamily="34" charset="-122"/>
                <a:cs typeface="Poppins" pitchFamily="34" charset="-120"/>
              </a:rPr>
              <a:t>3.  Revenue Previous Month, using CALCULATE and DATEADD.</a:t>
            </a:r>
            <a:endParaRPr lang="en-US" sz="1450" dirty="0"/>
          </a:p>
        </p:txBody>
      </p:sp>
      <p:sp>
        <p:nvSpPr>
          <p:cNvPr id="14" name="Shape 12"/>
          <p:cNvSpPr/>
          <p:nvPr/>
        </p:nvSpPr>
        <p:spPr>
          <a:xfrm>
            <a:off x="685800" y="3886200"/>
            <a:ext cx="10424160" cy="1417320"/>
          </a:xfrm>
          <a:prstGeom prst="roundRect">
            <a:avLst>
              <a:gd name="adj" fmla="val 5806"/>
            </a:avLst>
          </a:prstGeom>
          <a:solidFill>
            <a:srgbClr val="EEF4F4"/>
          </a:solidFill>
          <a:ln/>
        </p:spPr>
      </p:sp>
      <p:sp>
        <p:nvSpPr>
          <p:cNvPr id="15" name="Shape 13"/>
          <p:cNvSpPr/>
          <p:nvPr/>
        </p:nvSpPr>
        <p:spPr>
          <a:xfrm>
            <a:off x="685800" y="3886200"/>
            <a:ext cx="82296" cy="1417320"/>
          </a:xfrm>
          <a:prstGeom prst="rect">
            <a:avLst/>
          </a:prstGeom>
          <a:solidFill>
            <a:srgbClr val="9BB7B7"/>
          </a:solidFill>
          <a:ln/>
        </p:spPr>
      </p:sp>
      <p:sp>
        <p:nvSpPr>
          <p:cNvPr id="16" name="Text 14"/>
          <p:cNvSpPr txBox="1"/>
          <p:nvPr/>
        </p:nvSpPr>
        <p:spPr>
          <a:xfrm>
            <a:off x="1005840" y="4069080"/>
            <a:ext cx="9601200" cy="292608"/>
          </a:xfrm>
          <a:prstGeom prst="rect">
            <a:avLst/>
          </a:prstGeom>
          <a:noFill/>
          <a:ln/>
        </p:spPr>
        <p:txBody>
          <a:bodyPr wrap="square" lIns="0" tIns="0" rIns="0" bIns="0" rtlCol="0" anchor="ctr"/>
          <a:lstStyle/>
          <a:p>
            <a:pPr indent="0" marL="0">
              <a:buNone/>
            </a:pPr>
            <a:r>
              <a:rPr lang="en-US" sz="1100" b="1" dirty="0">
                <a:solidFill>
                  <a:srgbClr val="20494A"/>
                </a:solidFill>
                <a:latin typeface="Poppins" pitchFamily="34" charset="0"/>
                <a:ea typeface="Poppins" pitchFamily="34" charset="-122"/>
                <a:cs typeface="Poppins" pitchFamily="34" charset="-120"/>
              </a:rPr>
              <a:t>EXPECTED OUTPUT AT TOTAL LEVEL</a:t>
            </a:r>
            <a:endParaRPr lang="en-US" sz="1100" dirty="0"/>
          </a:p>
        </p:txBody>
      </p:sp>
      <p:sp>
        <p:nvSpPr>
          <p:cNvPr id="17" name="Text 15"/>
          <p:cNvSpPr txBox="1"/>
          <p:nvPr/>
        </p:nvSpPr>
        <p:spPr>
          <a:xfrm>
            <a:off x="1005840" y="4389120"/>
            <a:ext cx="9875520" cy="822960"/>
          </a:xfrm>
          <a:prstGeom prst="rect">
            <a:avLst/>
          </a:prstGeom>
          <a:noFill/>
          <a:ln/>
        </p:spPr>
        <p:txBody>
          <a:bodyPr wrap="square" lIns="0" tIns="0" rIns="0" bIns="0" rtlCol="0" anchor="t"/>
          <a:lstStyle/>
          <a:p>
            <a:pPr algn="l" indent="0" marL="0">
              <a:lnSpc>
                <a:spcPct val="135000"/>
              </a:lnSpc>
              <a:buNone/>
            </a:pPr>
            <a:r>
              <a:rPr lang="en-US" sz="1400" dirty="0">
                <a:solidFill>
                  <a:srgbClr val="475569"/>
                </a:solidFill>
                <a:latin typeface="Poppins" pitchFamily="34" charset="0"/>
                <a:ea typeface="Poppins" pitchFamily="34" charset="-122"/>
                <a:cs typeface="Poppins" pitchFamily="34" charset="-120"/>
              </a:rPr>
              <a:t>Total Revenue ₦247,680,000.   Late Rate 18.0 percent.   Revenue Previous Month returns blank for January 2025, which is correct and is not a bug.</a:t>
            </a:r>
            <a:endParaRPr lang="en-US" sz="1400" dirty="0"/>
          </a:p>
        </p:txBody>
      </p:sp>
      <p:sp>
        <p:nvSpPr>
          <p:cNvPr id="18" name="Text 16"/>
          <p:cNvSpPr txBox="1"/>
          <p:nvPr/>
        </p:nvSpPr>
        <p:spPr>
          <a:xfrm>
            <a:off x="685800" y="5486400"/>
            <a:ext cx="10424160" cy="365760"/>
          </a:xfrm>
          <a:prstGeom prst="rect">
            <a:avLst/>
          </a:prstGeom>
          <a:noFill/>
          <a:ln/>
        </p:spPr>
        <p:txBody>
          <a:bodyPr wrap="square" lIns="0" tIns="0" rIns="0" bIns="0" rtlCol="0" anchor="t"/>
          <a:lstStyle/>
          <a:p>
            <a:pPr algn="ctr" indent="0" marL="0">
              <a:lnSpc>
                <a:spcPct val="135000"/>
              </a:lnSpc>
              <a:buNone/>
            </a:pPr>
            <a:r>
              <a:rPr lang="en-US" sz="1350" i="1" dirty="0">
                <a:solidFill>
                  <a:srgbClr val="64748B"/>
                </a:solidFill>
                <a:latin typeface="Poppins" pitchFamily="34" charset="0"/>
                <a:ea typeface="Poppins" pitchFamily="34" charset="-122"/>
                <a:cs typeface="Poppins" pitchFamily="34" charset="-120"/>
              </a:rPr>
              <a:t>Write your prediction for Late Rate before you build it.</a:t>
            </a:r>
            <a:endParaRPr lang="en-US" sz="1350" dirty="0"/>
          </a:p>
        </p:txBody>
      </p:sp>
      <p:pic>
        <p:nvPicPr>
          <p:cNvPr id="1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0" name="Text 1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Solution and verification</a:t>
            </a:r>
            <a:endParaRPr lang="en-US" sz="2700" dirty="0"/>
          </a:p>
        </p:txBody>
      </p:sp>
      <p:sp>
        <p:nvSpPr>
          <p:cNvPr id="6" name="Shape 4"/>
          <p:cNvSpPr/>
          <p:nvPr/>
        </p:nvSpPr>
        <p:spPr>
          <a:xfrm>
            <a:off x="685800" y="1600200"/>
            <a:ext cx="6309360" cy="3246120"/>
          </a:xfrm>
          <a:prstGeom prst="roundRect">
            <a:avLst>
              <a:gd name="adj" fmla="val 2535"/>
            </a:avLst>
          </a:prstGeom>
          <a:solidFill>
            <a:srgbClr val="10312F"/>
          </a:solidFill>
          <a:ln/>
          <a:effectLst>
            <a:outerShdw sx="100000" sy="100000" kx="0" ky="0" algn="bl" rotWithShape="0" blurRad="127000" dist="38100" dir="5400000">
              <a:srgbClr val="1B2A2E">
                <a:alpha val="20000"/>
              </a:srgbClr>
            </a:outerShdw>
          </a:effectLst>
        </p:spPr>
      </p:sp>
      <p:sp>
        <p:nvSpPr>
          <p:cNvPr id="7" name="Text 5"/>
          <p:cNvSpPr txBox="1"/>
          <p:nvPr/>
        </p:nvSpPr>
        <p:spPr>
          <a:xfrm>
            <a:off x="960120" y="1783080"/>
            <a:ext cx="5760720" cy="2880360"/>
          </a:xfrm>
          <a:prstGeom prst="rect">
            <a:avLst/>
          </a:prstGeom>
          <a:noFill/>
          <a:ln/>
        </p:spPr>
        <p:txBody>
          <a:bodyPr wrap="square" lIns="0" tIns="0" rIns="0" bIns="0" rtlCol="0" anchor="ctr"/>
          <a:lstStyle/>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Total Revenue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SUM ( swiftroute_deliveries[DeliveryFee] )</a:t>
            </a:r>
            <a:endParaRPr lang="en-US" sz="1100" dirty="0"/>
          </a:p>
          <a:p>
            <a:pPr indent="0" marL="0">
              <a:lnSpc>
                <a:spcPct val="125000"/>
              </a:lnSpc>
              <a:buNone/>
            </a:pP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Late Rate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DIVIDE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CALCULATE ( [Total Deliveries],</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deliveries[Status] &lt;&gt; "On time"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[Total Deliveries]</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a:t>
            </a:r>
            <a:endParaRPr lang="en-US" sz="1100" dirty="0"/>
          </a:p>
          <a:p>
            <a:pPr indent="0" marL="0">
              <a:lnSpc>
                <a:spcPct val="125000"/>
              </a:lnSpc>
              <a:buNone/>
            </a:pP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Revenue Previous Month =</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CALCULATE ( [Total Revenue],</a:t>
            </a:r>
            <a:endParaRPr lang="en-US" sz="1100" dirty="0"/>
          </a:p>
          <a:p>
            <a:pPr indent="0" marL="0">
              <a:lnSpc>
                <a:spcPct val="125000"/>
              </a:lnSpc>
              <a:buNone/>
            </a:pPr>
            <a:r>
              <a:rPr lang="en-US" sz="1100" dirty="0">
                <a:solidFill>
                  <a:srgbClr val="CFE6E3"/>
                </a:solidFill>
                <a:latin typeface="Roboto Mono" pitchFamily="34" charset="0"/>
                <a:ea typeface="Roboto Mono" pitchFamily="34" charset="-122"/>
                <a:cs typeface="Roboto Mono" pitchFamily="34" charset="-120"/>
              </a:rPr>
              <a:t>              DATEADD ( dates[DateKey], -1, MONTH ) )</a:t>
            </a:r>
            <a:endParaRPr lang="en-US" sz="1100" dirty="0"/>
          </a:p>
        </p:txBody>
      </p:sp>
      <p:sp>
        <p:nvSpPr>
          <p:cNvPr id="8" name="Shape 6"/>
          <p:cNvSpPr/>
          <p:nvPr/>
        </p:nvSpPr>
        <p:spPr>
          <a:xfrm>
            <a:off x="7360920" y="1600200"/>
            <a:ext cx="3154680" cy="1417320"/>
          </a:xfrm>
          <a:prstGeom prst="roundRect">
            <a:avLst>
              <a:gd name="adj" fmla="val 6452"/>
            </a:avLst>
          </a:prstGeom>
          <a:solidFill>
            <a:srgbClr val="FFFFFF"/>
          </a:solidFill>
          <a:ln/>
          <a:effectLst>
            <a:outerShdw sx="100000" sy="100000" kx="0" ky="0" algn="bl" rotWithShape="0" blurRad="152400" dist="38100" dir="5400000">
              <a:srgbClr val="1B2A2E">
                <a:alpha val="20000"/>
              </a:srgbClr>
            </a:outerShdw>
          </a:effectLst>
        </p:spPr>
      </p:sp>
      <p:sp>
        <p:nvSpPr>
          <p:cNvPr id="9" name="Text 7"/>
          <p:cNvSpPr txBox="1"/>
          <p:nvPr/>
        </p:nvSpPr>
        <p:spPr>
          <a:xfrm>
            <a:off x="7589520" y="1783080"/>
            <a:ext cx="2743200" cy="274320"/>
          </a:xfrm>
          <a:prstGeom prst="rect">
            <a:avLst/>
          </a:prstGeom>
          <a:noFill/>
          <a:ln/>
        </p:spPr>
        <p:txBody>
          <a:bodyPr wrap="square" lIns="0" tIns="0" rIns="0" bIns="0" rtlCol="0" anchor="ctr"/>
          <a:lstStyle/>
          <a:p>
            <a:pPr indent="0" marL="0">
              <a:buNone/>
            </a:pPr>
            <a:r>
              <a:rPr lang="en-US" sz="1050" b="1" spc="100" kern="0" dirty="0">
                <a:solidFill>
                  <a:srgbClr val="387F7F"/>
                </a:solidFill>
                <a:latin typeface="Poppins" pitchFamily="34" charset="0"/>
                <a:ea typeface="Poppins" pitchFamily="34" charset="-122"/>
                <a:cs typeface="Poppins" pitchFamily="34" charset="-120"/>
              </a:rPr>
              <a:t>THE RECONCILIATION</a:t>
            </a:r>
            <a:endParaRPr lang="en-US" sz="1050" dirty="0"/>
          </a:p>
        </p:txBody>
      </p:sp>
      <p:sp>
        <p:nvSpPr>
          <p:cNvPr id="10" name="Text 8"/>
          <p:cNvSpPr txBox="1"/>
          <p:nvPr/>
        </p:nvSpPr>
        <p:spPr>
          <a:xfrm>
            <a:off x="7589520" y="2148840"/>
            <a:ext cx="2743200" cy="457200"/>
          </a:xfrm>
          <a:prstGeom prst="rect">
            <a:avLst/>
          </a:prstGeom>
          <a:noFill/>
          <a:ln/>
        </p:spPr>
        <p:txBody>
          <a:bodyPr wrap="square" lIns="0" tIns="0" rIns="0" bIns="0" rtlCol="0" anchor="ctr"/>
          <a:lstStyle/>
          <a:p>
            <a:pPr algn="ctr" indent="0" marL="0">
              <a:buNone/>
            </a:pPr>
            <a:r>
              <a:rPr lang="en-US" sz="1500" b="1" dirty="0">
                <a:solidFill>
                  <a:srgbClr val="0A1A23"/>
                </a:solidFill>
                <a:latin typeface="Poppins" pitchFamily="34" charset="0"/>
                <a:ea typeface="Poppins" pitchFamily="34" charset="-122"/>
                <a:cs typeface="Poppins" pitchFamily="34" charset="-120"/>
              </a:rPr>
              <a:t>82.0%  +  18.0%  =  100%</a:t>
            </a:r>
            <a:endParaRPr lang="en-US" sz="1500" dirty="0"/>
          </a:p>
        </p:txBody>
      </p:sp>
      <p:sp>
        <p:nvSpPr>
          <p:cNvPr id="11" name="Text 9"/>
          <p:cNvSpPr txBox="1"/>
          <p:nvPr/>
        </p:nvSpPr>
        <p:spPr>
          <a:xfrm>
            <a:off x="7589520" y="2651760"/>
            <a:ext cx="2743200" cy="320040"/>
          </a:xfrm>
          <a:prstGeom prst="rect">
            <a:avLst/>
          </a:prstGeom>
          <a:noFill/>
          <a:ln/>
        </p:spPr>
        <p:txBody>
          <a:bodyPr wrap="square" lIns="0" tIns="0" rIns="0" bIns="0" rtlCol="0" anchor="t"/>
          <a:lstStyle/>
          <a:p>
            <a:pPr algn="ctr" indent="0" marL="0">
              <a:lnSpc>
                <a:spcPct val="135000"/>
              </a:lnSpc>
              <a:buNone/>
            </a:pPr>
            <a:r>
              <a:rPr lang="en-US" sz="1050" dirty="0">
                <a:solidFill>
                  <a:srgbClr val="64748B"/>
                </a:solidFill>
                <a:latin typeface="Poppins" pitchFamily="34" charset="0"/>
                <a:ea typeface="Poppins" pitchFamily="34" charset="-122"/>
                <a:cs typeface="Poppins" pitchFamily="34" charset="-120"/>
              </a:rPr>
              <a:t>33,850 on time, 7,430 late, 41,280 total.</a:t>
            </a:r>
            <a:endParaRPr lang="en-US" sz="1050" dirty="0"/>
          </a:p>
        </p:txBody>
      </p:sp>
      <p:sp>
        <p:nvSpPr>
          <p:cNvPr id="12" name="Shape 10"/>
          <p:cNvSpPr/>
          <p:nvPr/>
        </p:nvSpPr>
        <p:spPr>
          <a:xfrm>
            <a:off x="7360920" y="3200400"/>
            <a:ext cx="3154680" cy="1645920"/>
          </a:xfrm>
          <a:prstGeom prst="roundRect">
            <a:avLst>
              <a:gd name="adj" fmla="val 5000"/>
            </a:avLst>
          </a:prstGeom>
          <a:solidFill>
            <a:srgbClr val="FFFFFF"/>
          </a:solidFill>
          <a:ln/>
        </p:spPr>
      </p:sp>
      <p:sp>
        <p:nvSpPr>
          <p:cNvPr id="13" name="Shape 11"/>
          <p:cNvSpPr/>
          <p:nvPr/>
        </p:nvSpPr>
        <p:spPr>
          <a:xfrm>
            <a:off x="7360920" y="3200400"/>
            <a:ext cx="68580" cy="1645920"/>
          </a:xfrm>
          <a:prstGeom prst="rect">
            <a:avLst/>
          </a:prstGeom>
          <a:solidFill>
            <a:srgbClr val="387F7F"/>
          </a:solidFill>
          <a:ln/>
        </p:spPr>
      </p:sp>
      <p:sp>
        <p:nvSpPr>
          <p:cNvPr id="14" name="Text 12"/>
          <p:cNvSpPr txBox="1"/>
          <p:nvPr/>
        </p:nvSpPr>
        <p:spPr>
          <a:xfrm>
            <a:off x="7635240" y="3383280"/>
            <a:ext cx="2697480" cy="822960"/>
          </a:xfrm>
          <a:prstGeom prst="rect">
            <a:avLst/>
          </a:prstGeom>
          <a:noFill/>
          <a:ln/>
        </p:spPr>
        <p:txBody>
          <a:bodyPr wrap="square" lIns="0" tIns="0" rIns="0" bIns="0" rtlCol="0" anchor="t"/>
          <a:lstStyle/>
          <a:p>
            <a:pPr algn="l" indent="0" marL="0">
              <a:lnSpc>
                <a:spcPct val="125000"/>
              </a:lnSpc>
              <a:buNone/>
            </a:pPr>
            <a:r>
              <a:rPr lang="en-US" sz="1250" b="1" dirty="0">
                <a:solidFill>
                  <a:srgbClr val="0A1A23"/>
                </a:solidFill>
                <a:latin typeface="Poppins" pitchFamily="34" charset="0"/>
                <a:ea typeface="Poppins" pitchFamily="34" charset="-122"/>
                <a:cs typeface="Poppins" pitchFamily="34" charset="-120"/>
              </a:rPr>
              <a:t>If your two rates do not sum to 100, your Status values are not what you assumed.</a:t>
            </a:r>
            <a:endParaRPr lang="en-US" sz="1250" dirty="0"/>
          </a:p>
        </p:txBody>
      </p:sp>
      <p:sp>
        <p:nvSpPr>
          <p:cNvPr id="15" name="Text 13"/>
          <p:cNvSpPr txBox="1"/>
          <p:nvPr/>
        </p:nvSpPr>
        <p:spPr>
          <a:xfrm>
            <a:off x="7635240" y="4206240"/>
            <a:ext cx="2697480" cy="594360"/>
          </a:xfrm>
          <a:prstGeom prst="rect">
            <a:avLst/>
          </a:prstGeom>
          <a:noFill/>
          <a:ln/>
        </p:spPr>
        <p:txBody>
          <a:bodyPr wrap="square" lIns="0" tIns="0" rIns="0" bIns="0" rtlCol="0" anchor="t"/>
          <a:lstStyle/>
          <a:p>
            <a:pPr algn="l" indent="0" marL="0">
              <a:lnSpc>
                <a:spcPct val="120000"/>
              </a:lnSpc>
              <a:buNone/>
            </a:pPr>
            <a:r>
              <a:rPr lang="en-US" sz="1050" dirty="0">
                <a:solidFill>
                  <a:srgbClr val="64748B"/>
                </a:solidFill>
                <a:latin typeface="Poppins" pitchFamily="34" charset="0"/>
                <a:ea typeface="Poppins" pitchFamily="34" charset="-122"/>
                <a:cs typeface="Poppins" pitchFamily="34" charset="-120"/>
              </a:rPr>
              <a:t>That is a reconciliation against a known relationship, rather than a known number. It is a technique in its own right.</a:t>
            </a:r>
            <a:endParaRPr lang="en-US" sz="1050" dirty="0"/>
          </a:p>
        </p:txBody>
      </p:sp>
      <p:sp>
        <p:nvSpPr>
          <p:cNvPr id="16" name="Shape 14"/>
          <p:cNvSpPr/>
          <p:nvPr/>
        </p:nvSpPr>
        <p:spPr>
          <a:xfrm>
            <a:off x="685800" y="5120640"/>
            <a:ext cx="9829800" cy="822960"/>
          </a:xfrm>
          <a:prstGeom prst="roundRect">
            <a:avLst>
              <a:gd name="adj" fmla="val 10000"/>
            </a:avLst>
          </a:prstGeom>
          <a:solidFill>
            <a:srgbClr val="EEF4F4"/>
          </a:solidFill>
          <a:ln/>
        </p:spPr>
      </p:sp>
      <p:sp>
        <p:nvSpPr>
          <p:cNvPr id="17" name="Shape 15"/>
          <p:cNvSpPr/>
          <p:nvPr/>
        </p:nvSpPr>
        <p:spPr>
          <a:xfrm>
            <a:off x="685800" y="5120640"/>
            <a:ext cx="68580" cy="822960"/>
          </a:xfrm>
          <a:prstGeom prst="rect">
            <a:avLst/>
          </a:prstGeom>
          <a:solidFill>
            <a:srgbClr val="387F7F"/>
          </a:solidFill>
          <a:ln/>
        </p:spPr>
      </p:sp>
      <p:sp>
        <p:nvSpPr>
          <p:cNvPr id="18" name="Text 16"/>
          <p:cNvSpPr txBox="1"/>
          <p:nvPr/>
        </p:nvSpPr>
        <p:spPr>
          <a:xfrm>
            <a:off x="1051560" y="5120640"/>
            <a:ext cx="9235440" cy="822960"/>
          </a:xfrm>
          <a:prstGeom prst="rect">
            <a:avLst/>
          </a:prstGeom>
          <a:noFill/>
          <a:ln/>
        </p:spPr>
        <p:txBody>
          <a:bodyPr wrap="square" lIns="0" tIns="0" rIns="0" bIns="0" rtlCol="0" anchor="ctr"/>
          <a:lstStyle/>
          <a:p>
            <a:pPr algn="l" indent="0" marL="0">
              <a:lnSpc>
                <a:spcPct val="135000"/>
              </a:lnSpc>
              <a:buNone/>
            </a:pPr>
            <a:r>
              <a:rPr lang="en-US" sz="1400" b="1" dirty="0">
                <a:solidFill>
                  <a:srgbClr val="387F7F"/>
                </a:solidFill>
                <a:latin typeface="Poppins" pitchFamily="34" charset="0"/>
                <a:ea typeface="Poppins" pitchFamily="34" charset="-122"/>
                <a:cs typeface="Poppins" pitchFamily="34" charset="-120"/>
              </a:rPr>
              <a:t>Every figure on this slide was produced by running these measures against the dataset, not from memory.</a:t>
            </a:r>
            <a:endParaRPr lang="en-US" sz="1400" dirty="0"/>
          </a:p>
        </p:txBody>
      </p:sp>
      <p:pic>
        <p:nvPicPr>
          <p:cNvPr id="19"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0" name="Text 17"/>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What is deliberately out of scope</a:t>
            </a:r>
            <a:endParaRPr lang="en-US" sz="2700" dirty="0"/>
          </a:p>
        </p:txBody>
      </p:sp>
      <p:sp>
        <p:nvSpPr>
          <p:cNvPr id="6" name="Shape 4"/>
          <p:cNvSpPr/>
          <p:nvPr/>
        </p:nvSpPr>
        <p:spPr>
          <a:xfrm>
            <a:off x="685800" y="1737360"/>
            <a:ext cx="9829800" cy="2331720"/>
          </a:xfrm>
          <a:prstGeom prst="roundRect">
            <a:avLst>
              <a:gd name="adj" fmla="val 3922"/>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1051560" y="2103120"/>
            <a:ext cx="731520" cy="731520"/>
          </a:xfrm>
          <a:prstGeom prst="ellipse">
            <a:avLst/>
          </a:prstGeom>
          <a:solidFill>
            <a:srgbClr val="FFFFFF"/>
          </a:solidFill>
          <a:ln w="22225">
            <a:solidFill>
              <a:srgbClr val="387F7F"/>
            </a:solidFill>
            <a:prstDash val="solid"/>
          </a:ln>
        </p:spPr>
      </p:sp>
      <p:sp>
        <p:nvSpPr>
          <p:cNvPr id="8" name="Text 6"/>
          <p:cNvSpPr txBox="1"/>
          <p:nvPr/>
        </p:nvSpPr>
        <p:spPr>
          <a:xfrm>
            <a:off x="1051560" y="2103120"/>
            <a:ext cx="731520" cy="731520"/>
          </a:xfrm>
          <a:prstGeom prst="rect">
            <a:avLst/>
          </a:prstGeom>
          <a:noFill/>
          <a:ln/>
        </p:spPr>
        <p:txBody>
          <a:bodyPr wrap="square" lIns="0" tIns="0" rIns="0" bIns="0" rtlCol="0" anchor="ctr"/>
          <a:lstStyle/>
          <a:p>
            <a:pPr algn="ctr" indent="0" marL="0">
              <a:buNone/>
            </a:pPr>
            <a:r>
              <a:rPr lang="en-US" sz="2600" b="1" dirty="0">
                <a:solidFill>
                  <a:srgbClr val="387F7F"/>
                </a:solidFill>
                <a:latin typeface="Poppins" pitchFamily="34" charset="0"/>
                <a:ea typeface="Poppins" pitchFamily="34" charset="-122"/>
                <a:cs typeface="Poppins" pitchFamily="34" charset="-120"/>
              </a:rPr>
              <a:t>◱</a:t>
            </a:r>
            <a:endParaRPr lang="en-US" sz="2600" dirty="0"/>
          </a:p>
        </p:txBody>
      </p:sp>
      <p:sp>
        <p:nvSpPr>
          <p:cNvPr id="9" name="Text 7"/>
          <p:cNvSpPr txBox="1"/>
          <p:nvPr/>
        </p:nvSpPr>
        <p:spPr>
          <a:xfrm>
            <a:off x="2057400" y="2103120"/>
            <a:ext cx="8138160" cy="100584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DAX has several hundred functions, iterator functions that behave differently from the ones you met today, row context, context transition, and variables. None of it is on today's slides, and that is a decision rather than an oversight.</a:t>
            </a:r>
            <a:endParaRPr lang="en-US" sz="1500" dirty="0"/>
          </a:p>
        </p:txBody>
      </p:sp>
      <p:sp>
        <p:nvSpPr>
          <p:cNvPr id="10" name="Text 8"/>
          <p:cNvSpPr txBox="1"/>
          <p:nvPr/>
        </p:nvSpPr>
        <p:spPr>
          <a:xfrm>
            <a:off x="2057400" y="3154680"/>
            <a:ext cx="8138160" cy="777240"/>
          </a:xfrm>
          <a:prstGeom prst="rect">
            <a:avLst/>
          </a:prstGeom>
          <a:noFill/>
          <a:ln/>
        </p:spPr>
        <p:txBody>
          <a:bodyPr wrap="square" lIns="0" tIns="0" rIns="0" bIns="0" rtlCol="0" anchor="t"/>
          <a:lstStyle/>
          <a:p>
            <a:pPr algn="l" indent="0" marL="0">
              <a:lnSpc>
                <a:spcPct val="135000"/>
              </a:lnSpc>
              <a:buNone/>
            </a:pPr>
            <a:r>
              <a:rPr lang="en-US" sz="1500" dirty="0">
                <a:solidFill>
                  <a:srgbClr val="475569"/>
                </a:solidFill>
                <a:latin typeface="Poppins" pitchFamily="34" charset="0"/>
                <a:ea typeface="Poppins" pitchFamily="34" charset="-122"/>
                <a:cs typeface="Poppins" pitchFamily="34" charset="-120"/>
              </a:rPr>
              <a:t>Three measure shapes cover the substantial majority of real operational dashboards. Learn these three properly, verify them properly, and you will build reports that work.</a:t>
            </a:r>
            <a:endParaRPr lang="en-US" sz="1500" dirty="0"/>
          </a:p>
        </p:txBody>
      </p:sp>
      <p:sp>
        <p:nvSpPr>
          <p:cNvPr id="11" name="Shape 9"/>
          <p:cNvSpPr/>
          <p:nvPr/>
        </p:nvSpPr>
        <p:spPr>
          <a:xfrm>
            <a:off x="685800" y="4297680"/>
            <a:ext cx="9829800" cy="1051560"/>
          </a:xfrm>
          <a:prstGeom prst="roundRect">
            <a:avLst>
              <a:gd name="adj" fmla="val 8696"/>
            </a:avLst>
          </a:prstGeom>
          <a:solidFill>
            <a:srgbClr val="EEF4F4"/>
          </a:solidFill>
          <a:ln/>
          <a:effectLst>
            <a:outerShdw sx="100000" sy="100000" kx="0" ky="0" algn="bl" rotWithShape="0" blurRad="152400" dist="38100" dir="5400000">
              <a:srgbClr val="1B2A2E">
                <a:alpha val="14000"/>
              </a:srgbClr>
            </a:outerShdw>
          </a:effectLst>
        </p:spPr>
      </p:sp>
      <p:sp>
        <p:nvSpPr>
          <p:cNvPr id="12" name="Shape 10"/>
          <p:cNvSpPr/>
          <p:nvPr/>
        </p:nvSpPr>
        <p:spPr>
          <a:xfrm>
            <a:off x="960120" y="4526280"/>
            <a:ext cx="502920" cy="502920"/>
          </a:xfrm>
          <a:prstGeom prst="ellipse">
            <a:avLst/>
          </a:prstGeom>
          <a:solidFill>
            <a:srgbClr val="387F7F"/>
          </a:solidFill>
          <a:ln/>
        </p:spPr>
      </p:sp>
      <p:sp>
        <p:nvSpPr>
          <p:cNvPr id="13" name="Text 11"/>
          <p:cNvSpPr txBox="1"/>
          <p:nvPr/>
        </p:nvSpPr>
        <p:spPr>
          <a:xfrm>
            <a:off x="960120" y="452628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4" name="Text 12"/>
          <p:cNvSpPr txBox="1"/>
          <p:nvPr/>
        </p:nvSpPr>
        <p:spPr>
          <a:xfrm>
            <a:off x="1691640" y="4434840"/>
            <a:ext cx="8503920" cy="777240"/>
          </a:xfrm>
          <a:prstGeom prst="rect">
            <a:avLst/>
          </a:prstGeom>
          <a:noFill/>
          <a:ln/>
        </p:spPr>
        <p:txBody>
          <a:bodyPr wrap="square" lIns="0" tIns="0" rIns="0" bIns="0" rtlCol="0" anchor="t"/>
          <a:lstStyle/>
          <a:p>
            <a:pPr algn="l" indent="0" marL="0">
              <a:lnSpc>
                <a:spcPct val="128000"/>
              </a:lnSpc>
              <a:buNone/>
            </a:pPr>
            <a:r>
              <a:rPr lang="en-US" sz="1400" b="1" dirty="0">
                <a:solidFill>
                  <a:srgbClr val="0A1A23"/>
                </a:solidFill>
                <a:latin typeface="Poppins" pitchFamily="34" charset="0"/>
                <a:ea typeface="Poppins" pitchFamily="34" charset="-122"/>
                <a:cs typeface="Poppins" pitchFamily="34" charset="-120"/>
              </a:rPr>
              <a:t>When you need more, SQLBI's free “Introducing DAX” course is where to go. It will make sense, because you will already know what a filter context is.</a:t>
            </a:r>
            <a:endParaRPr lang="en-US" sz="1400" dirty="0"/>
          </a:p>
        </p:txBody>
      </p:sp>
      <p:sp>
        <p:nvSpPr>
          <p:cNvPr id="15" name="Shape 13"/>
          <p:cNvSpPr/>
          <p:nvPr/>
        </p:nvSpPr>
        <p:spPr>
          <a:xfrm>
            <a:off x="685800" y="5577840"/>
            <a:ext cx="9829800" cy="685800"/>
          </a:xfrm>
          <a:prstGeom prst="roundRect">
            <a:avLst>
              <a:gd name="adj" fmla="val 12000"/>
            </a:avLst>
          </a:prstGeom>
          <a:solidFill>
            <a:srgbClr val="EEF4F4"/>
          </a:solidFill>
          <a:ln/>
        </p:spPr>
      </p:sp>
      <p:sp>
        <p:nvSpPr>
          <p:cNvPr id="16" name="Shape 14"/>
          <p:cNvSpPr/>
          <p:nvPr/>
        </p:nvSpPr>
        <p:spPr>
          <a:xfrm>
            <a:off x="685800" y="5577840"/>
            <a:ext cx="68580" cy="685800"/>
          </a:xfrm>
          <a:prstGeom prst="rect">
            <a:avLst/>
          </a:prstGeom>
          <a:solidFill>
            <a:srgbClr val="387F7F"/>
          </a:solidFill>
          <a:ln/>
        </p:spPr>
      </p:sp>
      <p:sp>
        <p:nvSpPr>
          <p:cNvPr id="17" name="Text 15"/>
          <p:cNvSpPr txBox="1"/>
          <p:nvPr/>
        </p:nvSpPr>
        <p:spPr>
          <a:xfrm>
            <a:off x="1051560" y="5577840"/>
            <a:ext cx="9235440" cy="685800"/>
          </a:xfrm>
          <a:prstGeom prst="rect">
            <a:avLst/>
          </a:prstGeom>
          <a:noFill/>
          <a:ln/>
        </p:spPr>
        <p:txBody>
          <a:bodyPr wrap="square" lIns="0" tIns="0" rIns="0" bIns="0" rtlCol="0" anchor="ctr"/>
          <a:lstStyle/>
          <a:p>
            <a:pPr algn="l" indent="0" marL="0">
              <a:lnSpc>
                <a:spcPct val="135000"/>
              </a:lnSpc>
              <a:buNone/>
            </a:pPr>
            <a:r>
              <a:rPr lang="en-US" sz="1400" b="1" dirty="0">
                <a:solidFill>
                  <a:srgbClr val="387F7F"/>
                </a:solidFill>
                <a:latin typeface="Poppins" pitchFamily="34" charset="0"/>
                <a:ea typeface="Poppins" pitchFamily="34" charset="-122"/>
                <a:cs typeface="Poppins" pitchFamily="34" charset="-120"/>
              </a:rPr>
              <a:t>Scope discipline is what makes one module of Power BI work.</a:t>
            </a:r>
            <a:endParaRPr lang="en-US" sz="1400" dirty="0"/>
          </a:p>
        </p:txBody>
      </p:sp>
      <p:pic>
        <p:nvPicPr>
          <p:cNvPr id="18"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Topic Recap</a:t>
            </a:r>
            <a:endParaRPr lang="en-US" sz="2700" dirty="0"/>
          </a:p>
        </p:txBody>
      </p:sp>
      <p:sp>
        <p:nvSpPr>
          <p:cNvPr id="6" name="Shape 4"/>
          <p:cNvSpPr/>
          <p:nvPr/>
        </p:nvSpPr>
        <p:spPr>
          <a:xfrm>
            <a:off x="685800" y="1737360"/>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932688" y="1883664"/>
            <a:ext cx="411480" cy="411480"/>
          </a:xfrm>
          <a:prstGeom prst="ellipse">
            <a:avLst/>
          </a:prstGeom>
          <a:solidFill>
            <a:srgbClr val="387F7F"/>
          </a:solidFill>
          <a:ln/>
        </p:spPr>
      </p:sp>
      <p:sp>
        <p:nvSpPr>
          <p:cNvPr id="8" name="Text 6"/>
          <p:cNvSpPr txBox="1"/>
          <p:nvPr/>
        </p:nvSpPr>
        <p:spPr>
          <a:xfrm>
            <a:off x="932688" y="1883664"/>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9" name="Text 7"/>
          <p:cNvSpPr txBox="1"/>
          <p:nvPr/>
        </p:nvSpPr>
        <p:spPr>
          <a:xfrm>
            <a:off x="1536192" y="1755648"/>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an aggregation measure and explain why naming it beats dragging a field in.</a:t>
            </a:r>
            <a:endParaRPr lang="en-US" sz="1400" dirty="0"/>
          </a:p>
        </p:txBody>
      </p:sp>
      <p:sp>
        <p:nvSpPr>
          <p:cNvPr id="10" name="Shape 8"/>
          <p:cNvSpPr/>
          <p:nvPr/>
        </p:nvSpPr>
        <p:spPr>
          <a:xfrm>
            <a:off x="685800" y="2578608"/>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1" name="Shape 9"/>
          <p:cNvSpPr/>
          <p:nvPr/>
        </p:nvSpPr>
        <p:spPr>
          <a:xfrm>
            <a:off x="932688" y="2724912"/>
            <a:ext cx="411480" cy="411480"/>
          </a:xfrm>
          <a:prstGeom prst="ellipse">
            <a:avLst/>
          </a:prstGeom>
          <a:solidFill>
            <a:srgbClr val="387F7F"/>
          </a:solidFill>
          <a:ln/>
        </p:spPr>
      </p:sp>
      <p:sp>
        <p:nvSpPr>
          <p:cNvPr id="12" name="Text 10"/>
          <p:cNvSpPr txBox="1"/>
          <p:nvPr/>
        </p:nvSpPr>
        <p:spPr>
          <a:xfrm>
            <a:off x="932688" y="272491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13" name="Text 11"/>
          <p:cNvSpPr txBox="1"/>
          <p:nvPr/>
        </p:nvSpPr>
        <p:spPr>
          <a:xfrm>
            <a:off x="1536192" y="2596896"/>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 ratio with DIVIDE and say what happens when the denominator is zero.</a:t>
            </a:r>
            <a:endParaRPr lang="en-US" sz="1400" dirty="0"/>
          </a:p>
        </p:txBody>
      </p:sp>
      <p:sp>
        <p:nvSpPr>
          <p:cNvPr id="14" name="Shape 12"/>
          <p:cNvSpPr/>
          <p:nvPr/>
        </p:nvSpPr>
        <p:spPr>
          <a:xfrm>
            <a:off x="685800" y="3419856"/>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5" name="Shape 13"/>
          <p:cNvSpPr/>
          <p:nvPr/>
        </p:nvSpPr>
        <p:spPr>
          <a:xfrm>
            <a:off x="932688" y="3566160"/>
            <a:ext cx="411480" cy="411480"/>
          </a:xfrm>
          <a:prstGeom prst="ellipse">
            <a:avLst/>
          </a:prstGeom>
          <a:solidFill>
            <a:srgbClr val="387F7F"/>
          </a:solidFill>
          <a:ln/>
        </p:spPr>
      </p:sp>
      <p:sp>
        <p:nvSpPr>
          <p:cNvPr id="16" name="Text 14"/>
          <p:cNvSpPr txBox="1"/>
          <p:nvPr/>
        </p:nvSpPr>
        <p:spPr>
          <a:xfrm>
            <a:off x="932688" y="356616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17" name="Text 15"/>
          <p:cNvSpPr txBox="1"/>
          <p:nvPr/>
        </p:nvSpPr>
        <p:spPr>
          <a:xfrm>
            <a:off x="1536192" y="3438144"/>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Write a time comparison with CALCULATE and DATEADD, resting on a marked date table.</a:t>
            </a:r>
            <a:endParaRPr lang="en-US" sz="1400" dirty="0"/>
          </a:p>
        </p:txBody>
      </p:sp>
      <p:sp>
        <p:nvSpPr>
          <p:cNvPr id="18" name="Shape 16"/>
          <p:cNvSpPr/>
          <p:nvPr/>
        </p:nvSpPr>
        <p:spPr>
          <a:xfrm>
            <a:off x="685800" y="4261104"/>
            <a:ext cx="9829800" cy="713232"/>
          </a:xfrm>
          <a:prstGeom prst="roundRect">
            <a:avLst>
              <a:gd name="adj" fmla="val 12821"/>
            </a:avLst>
          </a:prstGeom>
          <a:solidFill>
            <a:srgbClr val="FFFFFF"/>
          </a:solidFill>
          <a:ln/>
          <a:effectLst>
            <a:outerShdw sx="100000" sy="100000" kx="0" ky="0" algn="bl" rotWithShape="0" blurRad="152400" dist="38100" dir="5400000">
              <a:srgbClr val="1B2A2E">
                <a:alpha val="14000"/>
              </a:srgbClr>
            </a:outerShdw>
          </a:effectLst>
        </p:spPr>
      </p:sp>
      <p:sp>
        <p:nvSpPr>
          <p:cNvPr id="19" name="Shape 17"/>
          <p:cNvSpPr/>
          <p:nvPr/>
        </p:nvSpPr>
        <p:spPr>
          <a:xfrm>
            <a:off x="932688" y="4407408"/>
            <a:ext cx="411480" cy="411480"/>
          </a:xfrm>
          <a:prstGeom prst="ellipse">
            <a:avLst/>
          </a:prstGeom>
          <a:solidFill>
            <a:srgbClr val="387F7F"/>
          </a:solidFill>
          <a:ln/>
        </p:spPr>
      </p:sp>
      <p:sp>
        <p:nvSpPr>
          <p:cNvPr id="20" name="Text 18"/>
          <p:cNvSpPr txBox="1"/>
          <p:nvPr/>
        </p:nvSpPr>
        <p:spPr>
          <a:xfrm>
            <a:off x="932688" y="440740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Poppins" pitchFamily="34" charset="0"/>
                <a:ea typeface="Poppins" pitchFamily="34" charset="-122"/>
                <a:cs typeface="Poppins" pitchFamily="34" charset="-120"/>
              </a:rPr>
              <a:t>✓</a:t>
            </a:r>
            <a:endParaRPr lang="en-US" sz="1700" dirty="0"/>
          </a:p>
        </p:txBody>
      </p:sp>
      <p:sp>
        <p:nvSpPr>
          <p:cNvPr id="21" name="Text 19"/>
          <p:cNvSpPr txBox="1"/>
          <p:nvPr/>
        </p:nvSpPr>
        <p:spPr>
          <a:xfrm>
            <a:off x="1536192" y="4279392"/>
            <a:ext cx="8778240" cy="658368"/>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Poppins" pitchFamily="34" charset="0"/>
                <a:ea typeface="Poppins" pitchFamily="34" charset="-122"/>
                <a:cs typeface="Poppins" pitchFamily="34" charset="-120"/>
              </a:rPr>
              <a:t>Verify a measure by predicting, reconciling at total level, and checking a single row.</a:t>
            </a:r>
            <a:endParaRPr lang="en-US" sz="1400" dirty="0"/>
          </a:p>
        </p:txBody>
      </p:sp>
      <p:sp>
        <p:nvSpPr>
          <p:cNvPr id="22" name="Shape 20"/>
          <p:cNvSpPr/>
          <p:nvPr/>
        </p:nvSpPr>
        <p:spPr>
          <a:xfrm>
            <a:off x="685800" y="5212080"/>
            <a:ext cx="9829800" cy="914400"/>
          </a:xfrm>
          <a:prstGeom prst="roundRect">
            <a:avLst>
              <a:gd name="adj" fmla="val 9000"/>
            </a:avLst>
          </a:prstGeom>
          <a:solidFill>
            <a:srgbClr val="EEF4F4"/>
          </a:solidFill>
          <a:ln/>
        </p:spPr>
      </p:sp>
      <p:sp>
        <p:nvSpPr>
          <p:cNvPr id="23" name="Shape 21"/>
          <p:cNvSpPr/>
          <p:nvPr/>
        </p:nvSpPr>
        <p:spPr>
          <a:xfrm>
            <a:off x="685800" y="5212080"/>
            <a:ext cx="68580" cy="914400"/>
          </a:xfrm>
          <a:prstGeom prst="rect">
            <a:avLst/>
          </a:prstGeom>
          <a:solidFill>
            <a:srgbClr val="387F7F"/>
          </a:solidFill>
          <a:ln/>
        </p:spPr>
      </p:sp>
      <p:sp>
        <p:nvSpPr>
          <p:cNvPr id="24" name="Text 22"/>
          <p:cNvSpPr txBox="1"/>
          <p:nvPr/>
        </p:nvSpPr>
        <p:spPr>
          <a:xfrm>
            <a:off x="1051560" y="5212080"/>
            <a:ext cx="9235440" cy="914400"/>
          </a:xfrm>
          <a:prstGeom prst="rect">
            <a:avLst/>
          </a:prstGeom>
          <a:noFill/>
          <a:ln/>
        </p:spPr>
        <p:txBody>
          <a:bodyPr wrap="square" lIns="0" tIns="0" rIns="0" bIns="0" rtlCol="0" anchor="ctr"/>
          <a:lstStyle/>
          <a:p>
            <a:pPr algn="ctr" indent="0" marL="0">
              <a:lnSpc>
                <a:spcPct val="135000"/>
              </a:lnSpc>
              <a:buNone/>
            </a:pPr>
            <a:r>
              <a:rPr lang="en-US" sz="1600" b="1" dirty="0">
                <a:solidFill>
                  <a:srgbClr val="387F7F"/>
                </a:solidFill>
                <a:latin typeface="Poppins" pitchFamily="34" charset="0"/>
                <a:ea typeface="Poppins" pitchFamily="34" charset="-122"/>
                <a:cs typeface="Poppins" pitchFamily="34" charset="-120"/>
              </a:rPr>
              <a:t>Three shapes, verified. That is most of what an operational dashboard ever needs.</a:t>
            </a:r>
            <a:endParaRPr lang="en-US" sz="1600" dirty="0"/>
          </a:p>
        </p:txBody>
      </p:sp>
      <p:pic>
        <p:nvPicPr>
          <p:cNvPr id="25"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6" name="Text 23"/>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indent="0" marL="0">
              <a:lnSpc>
                <a:spcPct val="108000"/>
              </a:lnSpc>
              <a:buNone/>
            </a:pPr>
            <a:r>
              <a:rPr lang="en-US" sz="2700" dirty="0">
                <a:solidFill>
                  <a:srgbClr val="387F7F"/>
                </a:solidFill>
                <a:latin typeface="Poppins" pitchFamily="34" charset="0"/>
                <a:ea typeface="Poppins" pitchFamily="34" charset="-122"/>
                <a:cs typeface="Poppins" pitchFamily="34" charset="-120"/>
              </a:rPr>
              <a:t>What is Next</a:t>
            </a:r>
            <a:endParaRPr lang="en-US" sz="2700" dirty="0"/>
          </a:p>
        </p:txBody>
      </p:sp>
      <p:sp>
        <p:nvSpPr>
          <p:cNvPr id="6" name="Shape 4"/>
          <p:cNvSpPr/>
          <p:nvPr/>
        </p:nvSpPr>
        <p:spPr>
          <a:xfrm>
            <a:off x="685800"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7" name="Shape 5"/>
          <p:cNvSpPr/>
          <p:nvPr/>
        </p:nvSpPr>
        <p:spPr>
          <a:xfrm>
            <a:off x="685800" y="1691640"/>
            <a:ext cx="3063240" cy="475488"/>
          </a:xfrm>
          <a:prstGeom prst="rect">
            <a:avLst/>
          </a:prstGeom>
          <a:solidFill>
            <a:srgbClr val="387F7F"/>
          </a:solidFill>
          <a:ln/>
        </p:spPr>
      </p:sp>
      <p:sp>
        <p:nvSpPr>
          <p:cNvPr id="8" name="Text 6"/>
          <p:cNvSpPr txBox="1"/>
          <p:nvPr/>
        </p:nvSpPr>
        <p:spPr>
          <a:xfrm>
            <a:off x="685800"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TOPIC 7.4</a:t>
            </a:r>
            <a:endParaRPr lang="en-US" sz="1150" dirty="0"/>
          </a:p>
        </p:txBody>
      </p:sp>
      <p:sp>
        <p:nvSpPr>
          <p:cNvPr id="9" name="Shape 7"/>
          <p:cNvSpPr/>
          <p:nvPr/>
        </p:nvSpPr>
        <p:spPr>
          <a:xfrm>
            <a:off x="1888236" y="2468880"/>
            <a:ext cx="658368" cy="658368"/>
          </a:xfrm>
          <a:prstGeom prst="ellipse">
            <a:avLst/>
          </a:prstGeom>
          <a:solidFill>
            <a:srgbClr val="FFFFFF"/>
          </a:solidFill>
          <a:ln w="22225">
            <a:solidFill>
              <a:srgbClr val="387F7F"/>
            </a:solidFill>
            <a:prstDash val="solid"/>
          </a:ln>
        </p:spPr>
      </p:sp>
      <p:sp>
        <p:nvSpPr>
          <p:cNvPr id="10" name="Text 8"/>
          <p:cNvSpPr txBox="1"/>
          <p:nvPr/>
        </p:nvSpPr>
        <p:spPr>
          <a:xfrm>
            <a:off x="1888236" y="2468880"/>
            <a:ext cx="658368" cy="658368"/>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11" name="Text 9"/>
          <p:cNvSpPr txBox="1"/>
          <p:nvPr/>
        </p:nvSpPr>
        <p:spPr>
          <a:xfrm>
            <a:off x="960120"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You have correct numbers. Now you decide which of them Adaeze sees at the start of her day, and what she can do with them.</a:t>
            </a:r>
            <a:endParaRPr lang="en-US" sz="1250" dirty="0"/>
          </a:p>
        </p:txBody>
      </p:sp>
      <p:sp>
        <p:nvSpPr>
          <p:cNvPr id="12" name="Shape 10"/>
          <p:cNvSpPr/>
          <p:nvPr/>
        </p:nvSpPr>
        <p:spPr>
          <a:xfrm>
            <a:off x="4005072"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14000"/>
              </a:srgbClr>
            </a:outerShdw>
          </a:effectLst>
        </p:spPr>
      </p:sp>
      <p:sp>
        <p:nvSpPr>
          <p:cNvPr id="13" name="Shape 11"/>
          <p:cNvSpPr/>
          <p:nvPr/>
        </p:nvSpPr>
        <p:spPr>
          <a:xfrm>
            <a:off x="4005072" y="1691640"/>
            <a:ext cx="3063240" cy="475488"/>
          </a:xfrm>
          <a:prstGeom prst="rect">
            <a:avLst/>
          </a:prstGeom>
          <a:solidFill>
            <a:srgbClr val="387F7F"/>
          </a:solidFill>
          <a:ln/>
        </p:spPr>
      </p:sp>
      <p:sp>
        <p:nvSpPr>
          <p:cNvPr id="14" name="Text 12"/>
          <p:cNvSpPr txBox="1"/>
          <p:nvPr/>
        </p:nvSpPr>
        <p:spPr>
          <a:xfrm>
            <a:off x="4005072"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IN THE LAB</a:t>
            </a:r>
            <a:endParaRPr lang="en-US" sz="1150" dirty="0"/>
          </a:p>
        </p:txBody>
      </p:sp>
      <p:sp>
        <p:nvSpPr>
          <p:cNvPr id="15" name="Shape 13"/>
          <p:cNvSpPr/>
          <p:nvPr/>
        </p:nvSpPr>
        <p:spPr>
          <a:xfrm>
            <a:off x="5207508" y="2468880"/>
            <a:ext cx="658368" cy="658368"/>
          </a:xfrm>
          <a:prstGeom prst="ellipse">
            <a:avLst/>
          </a:prstGeom>
          <a:solidFill>
            <a:srgbClr val="FFFFFF"/>
          </a:solidFill>
          <a:ln w="22225">
            <a:solidFill>
              <a:srgbClr val="387F7F"/>
            </a:solidFill>
            <a:prstDash val="solid"/>
          </a:ln>
        </p:spPr>
      </p:sp>
      <p:sp>
        <p:nvSpPr>
          <p:cNvPr id="16" name="Text 14"/>
          <p:cNvSpPr txBox="1"/>
          <p:nvPr/>
        </p:nvSpPr>
        <p:spPr>
          <a:xfrm>
            <a:off x="5207508" y="2468880"/>
            <a:ext cx="658368" cy="658368"/>
          </a:xfrm>
          <a:prstGeom prst="rect">
            <a:avLst/>
          </a:prstGeom>
          <a:noFill/>
          <a:ln/>
        </p:spPr>
        <p:txBody>
          <a:bodyPr wrap="square" lIns="0" tIns="0" rIns="0" bIns="0" rtlCol="0" anchor="ctr"/>
          <a:lstStyle/>
          <a:p>
            <a:pPr algn="ctr" indent="0" marL="0">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17" name="Text 15"/>
          <p:cNvSpPr txBox="1"/>
          <p:nvPr/>
        </p:nvSpPr>
        <p:spPr>
          <a:xfrm>
            <a:off x="4279392"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Debug three broken measures, then build the four measures the dashboard needs.</a:t>
            </a:r>
            <a:endParaRPr lang="en-US" sz="1250" dirty="0"/>
          </a:p>
        </p:txBody>
      </p:sp>
      <p:sp>
        <p:nvSpPr>
          <p:cNvPr id="18" name="Shape 16"/>
          <p:cNvSpPr/>
          <p:nvPr/>
        </p:nvSpPr>
        <p:spPr>
          <a:xfrm>
            <a:off x="7324344" y="1691640"/>
            <a:ext cx="3063240" cy="3200400"/>
          </a:xfrm>
          <a:prstGeom prst="roundRect">
            <a:avLst>
              <a:gd name="adj" fmla="val 2985"/>
            </a:avLst>
          </a:prstGeom>
          <a:solidFill>
            <a:srgbClr val="FFFFFF"/>
          </a:solidFill>
          <a:ln/>
          <a:effectLst>
            <a:outerShdw sx="100000" sy="100000" kx="0" ky="0" algn="bl" rotWithShape="0" blurRad="152400" dist="38100" dir="5400000">
              <a:srgbClr val="1B2A2E">
                <a:alpha val="20000"/>
              </a:srgbClr>
            </a:outerShdw>
          </a:effectLst>
        </p:spPr>
      </p:sp>
      <p:sp>
        <p:nvSpPr>
          <p:cNvPr id="19" name="Shape 17"/>
          <p:cNvSpPr/>
          <p:nvPr/>
        </p:nvSpPr>
        <p:spPr>
          <a:xfrm>
            <a:off x="7324344" y="1691640"/>
            <a:ext cx="3063240" cy="475488"/>
          </a:xfrm>
          <a:prstGeom prst="rect">
            <a:avLst/>
          </a:prstGeom>
          <a:solidFill>
            <a:srgbClr val="C9821F"/>
          </a:solidFill>
          <a:ln/>
        </p:spPr>
      </p:sp>
      <p:sp>
        <p:nvSpPr>
          <p:cNvPr id="20" name="Text 18"/>
          <p:cNvSpPr txBox="1"/>
          <p:nvPr/>
        </p:nvSpPr>
        <p:spPr>
          <a:xfrm>
            <a:off x="7324344" y="1691640"/>
            <a:ext cx="3063240" cy="475488"/>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Poppins" pitchFamily="34" charset="0"/>
                <a:ea typeface="Poppins" pitchFamily="34" charset="-122"/>
                <a:cs typeface="Poppins" pitchFamily="34" charset="-120"/>
              </a:rPr>
              <a:t>COMING IN 7.5</a:t>
            </a:r>
            <a:endParaRPr lang="en-US" sz="1150" dirty="0"/>
          </a:p>
        </p:txBody>
      </p:sp>
      <p:sp>
        <p:nvSpPr>
          <p:cNvPr id="21" name="Shape 19"/>
          <p:cNvSpPr/>
          <p:nvPr/>
        </p:nvSpPr>
        <p:spPr>
          <a:xfrm>
            <a:off x="8526780" y="2468880"/>
            <a:ext cx="658368" cy="658368"/>
          </a:xfrm>
          <a:prstGeom prst="ellipse">
            <a:avLst/>
          </a:prstGeom>
          <a:solidFill>
            <a:srgbClr val="FFFFFF"/>
          </a:solidFill>
          <a:ln w="22225">
            <a:solidFill>
              <a:srgbClr val="C9821F"/>
            </a:solidFill>
            <a:prstDash val="solid"/>
          </a:ln>
        </p:spPr>
      </p:sp>
      <p:sp>
        <p:nvSpPr>
          <p:cNvPr id="22" name="Text 20"/>
          <p:cNvSpPr txBox="1"/>
          <p:nvPr/>
        </p:nvSpPr>
        <p:spPr>
          <a:xfrm>
            <a:off x="8526780" y="2468880"/>
            <a:ext cx="658368" cy="658368"/>
          </a:xfrm>
          <a:prstGeom prst="rect">
            <a:avLst/>
          </a:prstGeom>
          <a:noFill/>
          <a:ln/>
        </p:spPr>
        <p:txBody>
          <a:bodyPr wrap="square" lIns="0" tIns="0" rIns="0" bIns="0" rtlCol="0" anchor="ctr"/>
          <a:lstStyle/>
          <a:p>
            <a:pPr algn="ctr" indent="0" marL="0">
              <a:buNone/>
            </a:pPr>
            <a:r>
              <a:rPr lang="en-US" sz="2400" b="1" dirty="0">
                <a:solidFill>
                  <a:srgbClr val="C9821F"/>
                </a:solidFill>
                <a:latin typeface="Poppins" pitchFamily="34" charset="0"/>
                <a:ea typeface="Poppins" pitchFamily="34" charset="-122"/>
                <a:cs typeface="Poppins" pitchFamily="34" charset="-120"/>
              </a:rPr>
              <a:t>!</a:t>
            </a:r>
            <a:endParaRPr lang="en-US" sz="2400" dirty="0"/>
          </a:p>
        </p:txBody>
      </p:sp>
      <p:sp>
        <p:nvSpPr>
          <p:cNvPr id="23" name="Text 21"/>
          <p:cNvSpPr txBox="1"/>
          <p:nvPr/>
        </p:nvSpPr>
        <p:spPr>
          <a:xfrm>
            <a:off x="7598664" y="3337560"/>
            <a:ext cx="2514600" cy="1371600"/>
          </a:xfrm>
          <a:prstGeom prst="rect">
            <a:avLst/>
          </a:prstGeom>
          <a:noFill/>
          <a:ln/>
        </p:spPr>
        <p:txBody>
          <a:bodyPr wrap="square" lIns="0" tIns="0" rIns="0" bIns="0" rtlCol="0" anchor="t"/>
          <a:lstStyle/>
          <a:p>
            <a:pPr algn="ctr" indent="0" marL="0">
              <a:lnSpc>
                <a:spcPct val="130000"/>
              </a:lnSpc>
              <a:buNone/>
            </a:pPr>
            <a:r>
              <a:rPr lang="en-US" sz="1250" dirty="0">
                <a:solidFill>
                  <a:srgbClr val="475569"/>
                </a:solidFill>
                <a:latin typeface="Poppins" pitchFamily="34" charset="0"/>
                <a:ea typeface="Poppins" pitchFamily="34" charset="-122"/>
                <a:cs typeface="Poppins" pitchFamily="34" charset="-120"/>
              </a:rPr>
              <a:t>You will be handed four DAX measures written by an AI assistant. Two are wrong, and one of those returns a plausible number.</a:t>
            </a:r>
            <a:endParaRPr lang="en-US" sz="1250" dirty="0"/>
          </a:p>
        </p:txBody>
      </p:sp>
      <p:pic>
        <p:nvPicPr>
          <p:cNvPr id="24" name="Image 0" descr="/home/claude/build/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7.3 DAX Fundamentals</dc:title>
  <dc:subject>PptxGenJS Presentation</dc:subject>
  <dc:creator>Publica Academy</dc:creator>
  <cp:lastModifiedBy>Publica Academy</cp:lastModifiedBy>
  <cp:revision>1</cp:revision>
  <dcterms:created xsi:type="dcterms:W3CDTF">2026-08-27T07:07:57Z</dcterms:created>
  <dcterms:modified xsi:type="dcterms:W3CDTF">2026-08-27T07:07:57Z</dcterms:modified>
</cp:coreProperties>
</file>