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(roughly two minutes):
"Welcome to Module 7. Before we start, I want to name where you are in this programme, because it matters for how this module is going to feel.
You are seven modules in. You have learned Excel, you have learned SQL, you have learned statistics, you have learned Python and pandas, and most recently you learned how to turn analysis into a story that a manager will act on. If you are feeling like every module brings another tool to learn, that is a reasonable thing to feel.
This module is different, and I want to promise you something at the start. Power BI is not a sixth subject. It is the first module where the things you already know get joined together into one job. By the end of today you are going to recognise almost everything on the screen, because you have already done it somewhere else. Where you see something new, I will tell you it is new."
WHY THIS FRAMING MATTERS: this point in the programme is where fatigue peaks and confidence dips. Trainees arrive braced for another unfamiliar interface. The most useful thing you can do in the first two minutes is remove that expectation, because a trainee who believes they are behind will not attempt the lab properly.
DELIVERY CUES:
- Do not open Power BI yet. Software on screen invites people to start clicking.
- Say the promise out loud. You will refer back to it on the translation slide and again in the recap.
TIMING: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THIS SLIDE IS DOING: retrieval practice, one of the nine teaching methods the programme mandates. It opens every concept session. Recalling from memory, effortfully, strengthens memory far more than re-reading does. It costs four minutes.
The three questions are not random. Each is a skill this topic is about to reuse under a different name:
- Q1 is a GROUP BY aggregation. In forty minutes they build the same thing by dragging two fields onto a canvas.
- Q2 is Power Query, from Module 2. Power BI's loading interface IS Power Query.
- Q3 is Module 6 chart judgement, the entire basis of Topic 7.4.
WHAT TO SAY (thirty seconds): "Notes closed, laptops closed. From memory. You will get some wrong and that is fine, the point is the trying. Four minutes."
EXPECTED ANSWERS:
1. SELECT RouteID, COUNT(*) FROM deliveries GROUP BY RouteID; Accept any working variant.
2. Removing a column deletes a field for every row, so you lose an attribute across the whole table. Filtering a row removes entire records failing a condition, so you lose observations. Common confusion: both "make the table smaller"; one narrows, one shortens.
3. Truncated y-axis, pie chart with too many slices, missing axis labels, inconsistent scales side by side, or a cherry-picked date range.
DELIVERY CUES: take answers verbally and quickly. Do not turn this into a SQL lesson. Call on at least one remote trainee by name. Correct in one sentence and move on.
TIMING: 4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IDEA THIS SLIDE DELIVERS: there is a difference between producing an analysis and producing a product, and this module is about the second one.
Everything trainees have built so far has been an analysis: a one-off answer to a one-off question. Business intelligence produces something different. Adaeze opens it herself, filters it herself, drills in herself. You are not in the room and it keeps working.
WHAT TO SAY (about three minutes):
"I want to introduce you to someone you are going to spend two modules with. Adaeze Nwosu is the operations manager at SwiftRoute Logistics, a last-mile delivery company running out of Lagos into Ogun and Oyo.
Every morning, before her riders dispatch, she opens one screen and answers three questions. Which routes slipped yesterday. Which riders are carrying the load. And whether the month is still on track against the promise she made her clients, which is that ninety percent of deliveries arrive inside the window.
Notice what she does not do. She does not open Excel. She does not write SQL. She does not ring an analyst. Somebody built her a product, and it refreshes itself overnight."
THE QUESTION TO ASK: "Has anyone here ever been asked the same question three weeks in a row?" Most hands go up. Take one story briefly. It makes the problem personal before you offer the solution.
ON THE DISCLAIMER: read it aloud. It models the programme's responsible-data standard and sets up Topic 7.6, where trainees apply the same rule to their own capstone dataset.
TIMING: 3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THE OUTCOMES SLIDE IS NOT A FORMALITY: the programme's standard is that every slide, exercise and quiz item maps to a stated outcome, written as an observable action. Reading them aloud tells trainees exactly what they will be held to, which is a fairness issue as much as a pedagogical one.
Note the verbs: navigate, load, explain. Not "understand". You cannot observe understanding, only what someone can do with it.
WHAT TO SAY (about two minutes):
"Three things by the end of this topic.
First, you can move around Power BI Desktop and tell me what each of the four views is for.
Second, you can load data through Power Query and apply transformations that survive a refresh. That phrase, survive a refresh, is doing a lot of work and we will come back to it.
Third, and this is the one I care most about: you can explain how Power BI's pipeline mirrors the Excel and SQL workflows you already know."
READ OUTCOME THREE TWICE. It is the thesis of the entire module and the psychological strategy for the topic. Say the second reading slightly slower.
TIMING: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"Part one. What this thing actually is."
Dividers exist so trainees, particularly remote ones who cannot read the room, know where they are in a long session.
TIMING: 30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SLIDE IN THE DECK. If you deliver only one slide well, make it this one. Everything else in Module 7 is easier if this lands.
THE CONTENT IN FULL:
Stage one, Power Query. Not similar to Module 2's Power Query. The same software. Microsoft built it once and put it inside both Excel and Power BI. Same ribbon, same Applied Steps pane, same transformations, same underlying language. A trainee competent with it in Module 2 is competent with it here, and needs telling explicitly because the surrounding interface disguises it.
Stage two, the data model. In Module 3 they wrote joins in SQL. Here they drag one field onto another and a line appears. Same relational thinking, same consequences if wrong. The difference: in SQL you write the join every time; here you define it once and every visual uses it. That is an advantage, and also why a bad model poisons an entire report rather than one query.
Stage three, the report canvas. Every judgement from Module 6 applies unchanged. Power BI makes it easy to produce a chart and does nothing to make it honest. That judgement is still theirs.
WHAT TO SAY (about four minutes):
"Look at this diagram before I talk over it. Take ten seconds." [Pause. Let them read.]
"Three stages. Power Query, the data model, the report canvas. Now look at what is written underneath each one.
Power Query. You did this in Module 2, in Excel. And I do not mean something similar. I mean this exact tool.
The data model. This is your joins from Module 3. Same relational thinking, same consequences if you get it wrong. The one real difference: in SQL you write the join every time you need it, here you define it once and everything downstream uses it.
The report canvas. This is Module 6. Everything about chart choice and labelling applies unchanged. Power BI will make it very easy to build a chart. It will do absolutely nothing to stop you building a dishonest one."
Then the pull line, deliberately: "So: Power BI is not a fifth tool. It is three things you can already do, joined into one window."
COMMON QUESTION: "then why does Power BI exist?" Worth sixty seconds. Joining the three stages into one file, with the model in the middle, is what lets the report update itself. In Excel the three are loosely connected, so new data means redoing the chain by hand. Here the chain IS the file, so new data means pressing refresh.
TIMING: 4 minutes, 5 if that question comes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CONTENT IN FULL: walk the four contrasts; each has a practical consequence.
One question versus a standing set: an analysis is commissioned and finished. A dashboard is built for questions that recur, the same three things every morning. That changes what you build for.
A file you send versus a link she opens: a file that has been emailed has forked. Two versions that diverge. Within a month there are eleven versions in an inbox and nobody knows which is current. A link has one version.
Goes stale versus refreshes: an Excel analysis is a photograph of the data at the moment you did the work. A dashboard is connected to the source and can be told to look again.
You are the interface versus the model is the interface: the deepest of the four. When you are the interface, the organisation's ability to ask questions is limited by your availability. When the model is the interface, Adaeze can ask a question you never anticipated, at ten at night, and get a correct answer.
THE CAVEAT, WHICH MUST BE SAID: do not let trainees leave thinking dashboards are superior to analysis. A dashboard nobody opens is worth less than a one-page memo that changed a decision. Say: "I am not telling you dashboards are better. They are different. What I am telling you is that this is a second thing you can now produce."
This nuance returns in Topic 7.4, where a visual that does not support a decision should be deleted.
TIMING: 3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orientation only. You are not teaching any of the four views here. You are making sure that when you say "go to Model view" in forty minutes, nobody is lost. Resist the urge to teach.
THE CONTENT IN FULL:
Report view is the default, the canvas where visuals go, with a Fields pane and a Visualisations pane.
Table view shows one table at a time as rows and columns, exactly like a spreadsheet. Its purpose is inspection: when a measure returns an unexpected number, this is where you come to look at the actual data. Flag that this is the verification surface Topic 7.3 depends on.
Model view shows tables as boxes with lines between them. That is the whole of Topic 7.2; say almost nothing else now.
The Power Query editor opens as a SEPARATE WINDOW, not a fourth icon in the rail. This single confusion accounts for a surprising share of lab interruptions.
WHAT TO SAY AND DO (about three minutes): switch to Power BI with the fallback file already open.
"Four things to know about where you are. I am going to click each one, tell you what it is for, and then click away. We are not learning any of these yet.
Report view. Blank canvas, charts go here. Table view. One table as rows, exactly like a spreadsheet. Come here when a number looks wrong. Model view. Boxes and lines, the whole of the next topic. And Transform data, which opens Power Query. Watch what happens to my screen."
[Click it. Let the separate window open.]
"Separate window, not a tab. If you lose Power BI during the lab, check your taskbar before you put your hand up."
TIMING: 3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CONTENT IN FULL: the three stages must happen in order because each depends on the shape produced by the one before. Cleaning first costs fifteen minutes before anything interesting appears. Cleaning last costs an hour of rework under time pressure, which is when mistakes get made.
There is a psychological problem worth naming: Power BI is genuinely fun in Report view, a chart appears in eight seconds. Power Query is a list of steps and a grey preview grid. The software rewards doing this in exactly the wrong order.
WHAT TO SAY (about three minutes):
"One rule for this whole module, and it is the rule most beginners break. Clean first. Model second. Visualise last.
Suppose you build a beautiful chart, then discover your date column came in as text. You fix the type, and now every visual using that field has to be checked and usually rebuilt. You have paid twice.
Now here is what I actually want to warn you about. Power BI is genuinely fun in Report view. Power Query is not fun. So the software is going to reward you for doing this in exactly the wrong order. Within thirty seconds of opening a file you will want to drag something onto a canvas. Do not.
And you already know this rule. It is the same rule as Module 2: clean before you analyse."
COMMON OBJECTION: "But my file is already clean." Answer: you do not know that until you have looked, and looking happens in Power Query. Topic 7.2 has a worked example where a single trailing space breaks a relationship with no error message.
TIMING: 3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"Part two. Let us actually load something."
TIMING: 20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CONTENT IN FULL: introduce the five files and, more importantly, the concept of GRAIN.
The grain of a table is the answer to "what does one row represent?" It sounds too simple to need a name, and it is the single most useful habit in data modelling. Almost every serious modelling error traces back to using a table without knowing its grain.
- swiftroute_deliveries: one row per delivery, 41,280 across 2025, carrying rider, route, customer, promised time, actual time, fee and status.
- riders: one row per rider, 68.
- routes: one row per route, 24.
- customers_business: one row per business account, 310. Business accounts only, no individuals, which is the programme's responsible data standard visible in the design of the material.
- dates: one row per calendar day, 365.
Grain matters concretely in Topic 7.2, where counting rows in a delivery-grain table gives 41,280 riders instead of 68. Install the habit now, before they see the failure, so the failure means something.
WHAT TO SAY (about four minutes):
"Five files. I want to teach you a word first: grain. The grain of a table is the answer to one question. One row per what?
Deliveries. One row per delivery. Forty-one thousand two hundred and eighty across 2025.
Riders. One row per rider. Sixty-eight.
Routes. One row per route. Twenty-four.
Customers. One row per business account. Three hundred and ten. And notice: companies, not people. No individual names, no phone numbers. That is deliberate, and it is the same rule you will apply to your own capstone dataset.
Dates. One row per day. Three hundred and sixty-five.
Now that word. Grain. Say it with me: one row per what."
DELIVERY CUES: actually make them say it. Point out there are no lines connecting these tables yet; that is the next topic.
TIMING: 4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CONTENT IN FULL: the mechanics are trivial; the decision at step 2 is not.
When you point Power BI at a CSV, it shows a preview and offers Load and Transform data.
Load takes the file as Power BI guessed it. Power BI is quite good at guessing, and "quite good" is the problem. It infers types by sampling the top of the file, so a column that is numeric for 200 rows and contains "N/A" at row 4,000 will be mistyped and produce errors later, far from the cause.
Transform data opens Power Query first, so you can correct before anything downstream exists. Correcting there is free.
The rule: always choose Transform data. Not usually. Always. Thirty seconds on a genuinely clean file, and the benefit is that you actually looked.
WHAT TO SAY AND DO (about three minutes), demo live, narrating reasoning not clicks:
"Home ribbon, Get data, Text or CSV. I point at swiftroute deliveries.
Now it shows me a preview with two buttons, and this is the only interesting moment in the whole process. Load takes the file exactly as Power BI guessed it, and it is quite good at guessing. That is the problem: it looks at the first couple hundred rows and infers types from those.
Transform data opens Power Query first. Nothing is committed. I get to look at what it guessed and fix it while fixing is free.
So I am choosing Transform data, and notice why: not because this file is dirty, but because I have not yet looked at the column types."
DELIVERY CUES: "I am choosing X because Y" is the think-aloud pattern the programme asks for. Keep the fallback file open in another window.
TIMING: 3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CONTENT IN FULL, four transformations each with a reason:
1. Promote headers. Power Query usually does this. If not, columns are named Column1, Column2 and the row count reads one too high.
2. Set data types explicitly. Dates to Date, money to Fixed decimal number (avoids floating-point rounding on currency), identifiers to Text (its own slide follows).
3. Trim whitespace on key columns. A trailing space is invisible on screen and fatal to a relationship, because "R-014 " and "R-014" are different strings. Nothing turns red; the join just produces blanks.
4. Filter the blank-CustomerID rows. Phrase it as a condition, "where CustomerID is blank", not a position, "delete rows 4,112 to 4,114". The first is a rule that applies correctly to next month's file.
THE APPLIED STEPS PANE is the real content of this slide: every action recorded as a named, reorderable, reversible step. That is what makes the work a pipeline.
WHAT TO SAY AND DO (about four minutes): demo each transformation, then point at the Applied Steps pane. "Source. Promoted Headers. Changed Type. Trimmed Text. Filtered Rows. I can click any one and see the table at that moment. I can reorder them."
THE DELIBERATE MISTAKE: apply the filter before setting types, watch it behave oddly, drag Filtered Rows below Changed Type, watch it correct. Say: "that is why the steps being reorderable matters. I got the order wrong and it cost me one drag."
TIMING: 4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CONTENT IN FULL: an identifier looks like a number and is not one. The test is whether arithmetic on it means anything. Rider 14 plus rider 22 is not rider 36.
When typed as a whole number, two things follow. Power BI auto-sums it the moment it is dragged into a visual, producing an arithmetically correct and semantically meaningless total. And leading zeros are stripped, so "007" becomes "7", breaking a relationship against a table that kept it as text.
WHAT TO SAY (about two minutes):
"Rider ID to Text. Here is the test: does arithmetic on it mean anything? Rider fourteen plus rider twenty-two is not rider thirty-six.
Two things go wrong if you type it as a number. First, Power BI auto-sums it, and your report gets a total row saying eighty-nine thousand seven hundred and twelve, which is perfect arithmetic and completely meaningless. Somebody will read it.
Second, leading zeros disappear. Zero zero seven becomes seven. And if your other table kept it as text, your relationship now matches on some rows and silently fails on others.
Same reasoning for phone numbers, account numbers, BVN, postcodes. Anything that looks like a number and is actually a name."
A QUESTION WORTH ASKING: "Has anyone here ever seen a report with a total row that summed an ID column?"
TIMING: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CONTENT IN FULL: this is the intellectual core of Power Query. Every transformation is either a RULE, a condition true of any file with this structure, or an EDIT, a fact about this particular file.
Rules survive a refresh. Edits do not, and worse, they do not FAIL on refresh. They apply confidently to the wrong rows. "Delete rows 412 to 415" will happily delete four perfectly good deliveries next month with no warning.
This principle carries into Module 8, where the topic on automating repetitive analyst tasks is this idea at a larger scale.
WHAT TO SAY (about three minutes):
"Here is the question to ask about every step you write in Power Query. Next month, Adaeze sends a new file. Same columns, different rows. You press Refresh. What survives?
If what you built was a pipeline, everything survives. Types, trims, filters, and every chart downstream. Zero work, current report.
If what you built was a clean-up, you start again.
So the test: does this step name a condition or a position? Remove rows where Customer ID is blank, that is a rule. Delete rows four one two to four one five, that is not. And here is what makes it dangerous: next month it will not fail. It will not warn you. It will confidently delete four innocent deliveries and tell you nothing.
Write rules, not edits."
DELIVERY CUES: stress that a bad edit does not fail loudly. Trainees assume errors announce themselves; most expensive ones do not. Flag forward to Module 8's automation topic.
TIMING: 3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THE EXPECTED RESULT IS STATED: expected-output verification is one of the programme's nine teaching methods, treated as an assessed professional skill. Never set a task without a checkable result.
WHY PAIRS: guided and semi-guided exercises run in rotating pairs, one driving the keyboard, one navigating from the instructions.
WHAT TO SAY (one minute, then eight minutes of work):
"Eight minutes. Load routes dot csv, set Route ID to Text, Distance in kilometres to Decimal number, trim whitespace on Route ID, close and apply.
You should end with twenty-four rows, six columns, no error markers, and Route ID showing the little ABC text icon.
If your numbers do not match, check with the person next to you before you put your hand up."
WHAT TO DO: walk the room. Do not answer from the front.
PROBLEMS TO EXPECT:
- 25 rows instead of 24: headers not promoted.
- Errors on DistanceKm: regional locale reading the decimal separator differently. Fix with Change Type using Locale.
- RouteID still a number icon: wrong column typed, or a later step reverted it.
TIMING: 8 minutes plus 1 minute instruction.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RUN THE REVEAL: show the finished state, then walk the three failure modes. The trainees who got it right do not need you; the ones who did not need the diagnosis.
WHAT TO SAY (about two minutes):
"Twenty-four rows, six columns, Route ID as text. Three ways this goes wrong.
Twenty-five rows means your headers were not promoted.
Route ID showing a number icon is the one to take seriously: it will not hurt you today, it will hurt you in about forty minutes when we build relationships, and it will hurt you silently.
And if Distance in kilometres is throwing errors, that is your machine's regional settings disagreeing with the file about the decimal point. Change Type using Locale."
TIMING: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Restating outcomes as achievements is required by the deck anatomy in the Content Creator Guide. The phrasing shift from "the trainee can" to "you can now" closes a loop the trainee can feel.
WHAT TO SAY (about two minutes):
"Three things you could not do ninety minutes ago. You can move around Power BI Desktop and tell me what the four views are for. You can load a file through Power Query and apply transformations recorded as steps, reorderable, reversible, surviving next month's file. And you can explain why this is the Excel and SQL workflow you already knew, rebuilt in one window.
And I want to say the last thing honestly. Nothing in this topic was new. Power Query you had in Module 2. Cleaning before analysing you had in Module 2. The relational thinking is Module 3. That was the point. This is the topic where your separate subjects turn into one job."
TIMING: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END: on the teaser in card one, without spoiling it. Topic 7.2 opens with a demonstration of a dashboard reporting 41,280 riders when the company has 68, and it only works if trainees do not see it coming. It is the strongest teaching moment of the module.
WHAT TO SAY (about one minute):
"Straight into 7.2 after the break. You have five tables loaded, sitting next to each other, with nothing connecting them. In the next topic I am going to show you what happens when somebody solves that the obvious way, by joining everything into one big table before importing it. It loads perfectly. Every chart builds. No errors anywhere. And it produces a number that is completely wrong, on a chart that has a title and an axis label and a legend."
DELIVERY CUE: do not say what the number is or why. The whole of 7.2 depends on holding that tension.
TIMING: 1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image" Target="../media/image-1-3.jp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uild/assets/logo_full.png">    </p:cNvPr>
          <p:cNvPicPr>
            <a:picLocks noChangeAspect="1"/>
          </p:cNvPicPr>
          <p:nvPr/>
        </p:nvPicPr>
        <p:blipFill>
          <a:blip r:embed="rId2"/>
          <a:stretch>
            <a:fillRect/>
          </a:stretch>
        </p:blipFill>
        <p:spPr>
          <a:xfrm>
            <a:off x="685800" y="502920"/>
            <a:ext cx="1371600" cy="1192807"/>
          </a:xfrm>
          <a:prstGeom prst="rect">
            <a:avLst/>
          </a:prstGeom>
        </p:spPr>
      </p:pic>
      <p:sp>
        <p:nvSpPr>
          <p:cNvPr id="3" name="Text 0"/>
          <p:cNvSpPr txBox="1"/>
          <p:nvPr/>
        </p:nvSpPr>
        <p:spPr>
          <a:xfrm>
            <a:off x="685800" y="2331720"/>
            <a:ext cx="6949440" cy="320040"/>
          </a:xfrm>
          <a:prstGeom prst="rect">
            <a:avLst/>
          </a:prstGeom>
          <a:noFill/>
          <a:ln/>
        </p:spPr>
        <p:txBody>
          <a:bodyPr wrap="square" lIns="0" tIns="0" rIns="0" bIns="0" rtlCol="0" anchor="ctr"/>
          <a:lstStyle/>
          <a:p>
            <a:pPr indent="0" marL="0">
              <a:buNone/>
            </a:pPr>
            <a:r>
              <a:rPr lang="en-US" sz="1250" b="1" spc="150" kern="0" dirty="0">
                <a:solidFill>
                  <a:srgbClr val="387F7F"/>
                </a:solidFill>
                <a:latin typeface="Poppins" pitchFamily="34" charset="0"/>
                <a:ea typeface="Poppins" pitchFamily="34" charset="-122"/>
                <a:cs typeface="Poppins" pitchFamily="34" charset="-120"/>
              </a:rPr>
              <a:t>BUSINESS INTELLIGENCE WITH POWER BI</a:t>
            </a:r>
            <a:endParaRPr lang="en-US" sz="1250" dirty="0"/>
          </a:p>
        </p:txBody>
      </p:sp>
      <p:sp>
        <p:nvSpPr>
          <p:cNvPr id="4" name="Text 1"/>
          <p:cNvSpPr txBox="1"/>
          <p:nvPr/>
        </p:nvSpPr>
        <p:spPr>
          <a:xfrm>
            <a:off x="685800" y="2670048"/>
            <a:ext cx="6949440" cy="411480"/>
          </a:xfrm>
          <a:prstGeom prst="rect">
            <a:avLst/>
          </a:prstGeom>
          <a:noFill/>
          <a:ln/>
        </p:spPr>
        <p:txBody>
          <a:bodyPr wrap="square" lIns="0" tIns="0" rIns="0" bIns="0" rtlCol="0" anchor="ctr"/>
          <a:lstStyle/>
          <a:p>
            <a:pPr indent="0" marL="0">
              <a:buNone/>
            </a:pPr>
            <a:r>
              <a:rPr lang="en-US" sz="1700" dirty="0">
                <a:solidFill>
                  <a:srgbClr val="64748B"/>
                </a:solidFill>
                <a:latin typeface="Poppins" pitchFamily="34" charset="0"/>
                <a:ea typeface="Poppins" pitchFamily="34" charset="-122"/>
                <a:cs typeface="Poppins" pitchFamily="34" charset="-120"/>
              </a:rPr>
              <a:t>Module 7: Loading, Modelling and Dashboards</a:t>
            </a:r>
            <a:endParaRPr lang="en-US" sz="1700" dirty="0"/>
          </a:p>
        </p:txBody>
      </p:sp>
      <p:sp>
        <p:nvSpPr>
          <p:cNvPr id="5" name="Text 2"/>
          <p:cNvSpPr txBox="1"/>
          <p:nvPr/>
        </p:nvSpPr>
        <p:spPr>
          <a:xfrm>
            <a:off x="658368" y="3108960"/>
            <a:ext cx="7223760" cy="1828800"/>
          </a:xfrm>
          <a:prstGeom prst="rect">
            <a:avLst/>
          </a:prstGeom>
          <a:noFill/>
          <a:ln/>
        </p:spPr>
        <p:txBody>
          <a:bodyPr wrap="square" lIns="0" tIns="0" rIns="0" bIns="0" rtlCol="0" anchor="ctr"/>
          <a:lstStyle/>
          <a:p>
            <a:pPr indent="0" marL="0">
              <a:lnSpc>
                <a:spcPct val="103000"/>
              </a:lnSpc>
              <a:buNone/>
            </a:pPr>
            <a:r>
              <a:rPr lang="en-US" sz="4200" b="1" dirty="0">
                <a:solidFill>
                  <a:srgbClr val="0A1A23"/>
                </a:solidFill>
                <a:latin typeface="Poppins" pitchFamily="34" charset="0"/>
                <a:ea typeface="Poppins" pitchFamily="34" charset="-122"/>
                <a:cs typeface="Poppins" pitchFamily="34" charset="-120"/>
              </a:rPr>
              <a:t>The Power BI
</a:t>
            </a:r>
            <a:pPr indent="0" marL="0">
              <a:lnSpc>
                <a:spcPct val="103000"/>
              </a:lnSpc>
              <a:buNone/>
            </a:pPr>
            <a:r>
              <a:rPr lang="en-US" sz="4200" b="1" dirty="0">
                <a:solidFill>
                  <a:srgbClr val="387F7F"/>
                </a:solidFill>
                <a:latin typeface="Poppins" pitchFamily="34" charset="0"/>
                <a:ea typeface="Poppins" pitchFamily="34" charset="-122"/>
                <a:cs typeface="Poppins" pitchFamily="34" charset="-120"/>
              </a:rPr>
              <a:t>Environment</a:t>
            </a:r>
            <a:endParaRPr lang="en-US" sz="4200" dirty="0"/>
          </a:p>
        </p:txBody>
      </p:sp>
      <p:sp>
        <p:nvSpPr>
          <p:cNvPr id="6" name="Shape 3"/>
          <p:cNvSpPr/>
          <p:nvPr/>
        </p:nvSpPr>
        <p:spPr>
          <a:xfrm>
            <a:off x="7772400" y="2194560"/>
            <a:ext cx="4160520" cy="2712251"/>
          </a:xfrm>
          <a:prstGeom prst="roundRect">
            <a:avLst>
              <a:gd name="adj" fmla="val 4046"/>
            </a:avLst>
          </a:prstGeom>
          <a:solidFill>
            <a:srgbClr val="FFFFFF"/>
          </a:solidFill>
          <a:ln w="12700">
            <a:solidFill>
              <a:srgbClr val="E2E8F0"/>
            </a:solidFill>
            <a:prstDash val="solid"/>
          </a:ln>
          <a:effectLst>
            <a:outerShdw sx="100000" sy="100000" kx="0" ky="0" algn="bl" rotWithShape="0" blurRad="177800" dist="38100" dir="5400000">
              <a:srgbClr val="1B2A2E">
                <a:alpha val="16000"/>
              </a:srgbClr>
            </a:outerShdw>
          </a:effectLst>
        </p:spPr>
      </p:sp>
      <p:pic>
        <p:nvPicPr>
          <p:cNvPr id="7" name="Image 1" descr="/home/claude/build/assets/title_illus.jpg">    </p:cNvPr>
          <p:cNvPicPr>
            <a:picLocks noChangeAspect="1"/>
          </p:cNvPicPr>
          <p:nvPr/>
        </p:nvPicPr>
        <p:blipFill>
          <a:blip r:embed="rId3"/>
          <a:stretch>
            <a:fillRect/>
          </a:stretch>
        </p:blipFill>
        <p:spPr>
          <a:xfrm>
            <a:off x="7863840" y="2286000"/>
            <a:ext cx="3977640" cy="2529371"/>
          </a:xfrm>
          <a:prstGeom prst="rect">
            <a:avLst/>
          </a:prstGeom>
        </p:spPr>
      </p:pic>
      <p:sp>
        <p:nvSpPr>
          <p:cNvPr id="8" name="Shape 4"/>
          <p:cNvSpPr/>
          <p:nvPr/>
        </p:nvSpPr>
        <p:spPr>
          <a:xfrm>
            <a:off x="685800" y="5806440"/>
            <a:ext cx="10817352" cy="0"/>
          </a:xfrm>
          <a:prstGeom prst="line">
            <a:avLst/>
          </a:prstGeom>
          <a:noFill/>
          <a:ln w="12700">
            <a:solidFill>
              <a:srgbClr val="E2E8F0"/>
            </a:solidFill>
            <a:prstDash val="solid"/>
          </a:ln>
        </p:spPr>
      </p:sp>
      <p:pic>
        <p:nvPicPr>
          <p:cNvPr id="9" name="Image 2" descr="/home/claude/build/assets/icon_stack.png">    </p:cNvPr>
          <p:cNvPicPr>
            <a:picLocks noChangeAspect="1"/>
          </p:cNvPicPr>
          <p:nvPr/>
        </p:nvPicPr>
        <p:blipFill>
          <a:blip r:embed="rId4"/>
          <a:stretch>
            <a:fillRect/>
          </a:stretch>
        </p:blipFill>
        <p:spPr>
          <a:xfrm>
            <a:off x="685800" y="5989320"/>
            <a:ext cx="201168" cy="182880"/>
          </a:xfrm>
          <a:prstGeom prst="rect">
            <a:avLst/>
          </a:prstGeom>
        </p:spPr>
      </p:pic>
      <p:sp>
        <p:nvSpPr>
          <p:cNvPr id="10" name="Text 5"/>
          <p:cNvSpPr txBox="1"/>
          <p:nvPr/>
        </p:nvSpPr>
        <p:spPr>
          <a:xfrm>
            <a:off x="960120" y="5943600"/>
            <a:ext cx="2743200" cy="274320"/>
          </a:xfrm>
          <a:prstGeom prst="rect">
            <a:avLst/>
          </a:prstGeom>
          <a:noFill/>
          <a:ln/>
        </p:spPr>
        <p:txBody>
          <a:bodyPr wrap="square" lIns="0" tIns="0" rIns="0" bIns="0" rtlCol="0" anchor="ctr"/>
          <a:lstStyle/>
          <a:p>
            <a:pPr indent="0" marL="0">
              <a:buNone/>
            </a:pPr>
            <a:r>
              <a:rPr lang="en-US" sz="1200" dirty="0">
                <a:solidFill>
                  <a:srgbClr val="64748B"/>
                </a:solidFill>
                <a:latin typeface="Poppins" pitchFamily="34" charset="0"/>
                <a:ea typeface="Poppins" pitchFamily="34" charset="-122"/>
                <a:cs typeface="Poppins" pitchFamily="34" charset="-120"/>
              </a:rPr>
              <a:t>Topic 1 of 6</a:t>
            </a:r>
            <a:endParaRPr lang="en-US" sz="1200" dirty="0"/>
          </a:p>
        </p:txBody>
      </p:sp>
      <p:sp>
        <p:nvSpPr>
          <p:cNvPr id="11" name="Text 6"/>
          <p:cNvSpPr txBox="1"/>
          <p:nvPr/>
        </p:nvSpPr>
        <p:spPr>
          <a:xfrm>
            <a:off x="685800" y="6446520"/>
            <a:ext cx="3657600" cy="274320"/>
          </a:xfrm>
          <a:prstGeom prst="rect">
            <a:avLst/>
          </a:prstGeom>
          <a:noFill/>
          <a:ln/>
        </p:spPr>
        <p:txBody>
          <a:bodyPr wrap="square" lIns="0" tIns="0" rIns="0" bIns="0" rtlCol="0" anchor="ctr"/>
          <a:lstStyle/>
          <a:p>
            <a:pPr indent="0" marL="0">
              <a:buNone/>
            </a:pPr>
            <a:r>
              <a:rPr lang="en-US" sz="1000" b="1" spc="100" kern="0" dirty="0">
                <a:solidFill>
                  <a:srgbClr val="387F7F"/>
                </a:solidFill>
                <a:latin typeface="Poppins" pitchFamily="34" charset="0"/>
                <a:ea typeface="Poppins" pitchFamily="34" charset="-122"/>
                <a:cs typeface="Poppins" pitchFamily="34" charset="-120"/>
              </a:rPr>
              <a:t>PUBLICA ACADEMY</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1024006" y="1958645"/>
            <a:ext cx="4133088" cy="4038905"/>
          </a:xfrm>
          <a:prstGeom prst="ellipse">
            <a:avLst/>
          </a:prstGeom>
          <a:solidFill>
            <a:srgbClr val="387F7F"/>
          </a:solidFill>
          <a:ln/>
        </p:spPr>
      </p:sp>
      <p:sp>
        <p:nvSpPr>
          <p:cNvPr id="3" name="Shape 1"/>
          <p:cNvSpPr/>
          <p:nvPr/>
        </p:nvSpPr>
        <p:spPr>
          <a:xfrm>
            <a:off x="11316614" y="2675534"/>
            <a:ext cx="1051560" cy="2162556"/>
          </a:xfrm>
          <a:prstGeom prst="ellipse">
            <a:avLst/>
          </a:prstGeom>
          <a:solidFill>
            <a:srgbClr val="387F7F"/>
          </a:solidFill>
          <a:ln/>
        </p:spPr>
      </p:sp>
      <p:sp>
        <p:nvSpPr>
          <p:cNvPr id="4" name="Shape 2"/>
          <p:cNvSpPr/>
          <p:nvPr/>
        </p:nvSpPr>
        <p:spPr>
          <a:xfrm>
            <a:off x="685800" y="502920"/>
            <a:ext cx="10817352" cy="1234440"/>
          </a:xfrm>
          <a:prstGeom prst="roundRect">
            <a:avLst>
              <a:gd name="adj" fmla="val 10370"/>
            </a:avLst>
          </a:prstGeom>
          <a:solidFill>
            <a:srgbClr val="20494A"/>
          </a:solidFill>
          <a:ln/>
        </p:spPr>
      </p:sp>
      <p:sp>
        <p:nvSpPr>
          <p:cNvPr id="5" name="Shape 3"/>
          <p:cNvSpPr/>
          <p:nvPr/>
        </p:nvSpPr>
        <p:spPr>
          <a:xfrm>
            <a:off x="685800" y="640080"/>
            <a:ext cx="82296" cy="960120"/>
          </a:xfrm>
          <a:prstGeom prst="rect">
            <a:avLst/>
          </a:prstGeom>
          <a:solidFill>
            <a:srgbClr val="387F7F"/>
          </a:solidFill>
          <a:ln/>
        </p:spPr>
      </p:sp>
      <p:sp>
        <p:nvSpPr>
          <p:cNvPr id="6" name="Text 4"/>
          <p:cNvSpPr txBox="1"/>
          <p:nvPr/>
        </p:nvSpPr>
        <p:spPr>
          <a:xfrm>
            <a:off x="960120" y="658368"/>
            <a:ext cx="5486400" cy="292608"/>
          </a:xfrm>
          <a:prstGeom prst="rect">
            <a:avLst/>
          </a:prstGeom>
          <a:noFill/>
          <a:ln/>
        </p:spPr>
        <p:txBody>
          <a:bodyPr wrap="square" lIns="0" tIns="0" rIns="0" bIns="0" rtlCol="0" anchor="ctr"/>
          <a:lstStyle/>
          <a:p>
            <a:pPr indent="0" marL="0">
              <a:buNone/>
            </a:pPr>
            <a:r>
              <a:rPr lang="en-US" sz="1200" b="1" spc="200" kern="0" dirty="0">
                <a:solidFill>
                  <a:srgbClr val="8FBEBE"/>
                </a:solidFill>
                <a:latin typeface="Poppins" pitchFamily="34" charset="0"/>
                <a:ea typeface="Poppins" pitchFamily="34" charset="-122"/>
                <a:cs typeface="Poppins" pitchFamily="34" charset="-120"/>
              </a:rPr>
              <a:t>RETRIEVAL PRACTICE</a:t>
            </a:r>
            <a:endParaRPr lang="en-US" sz="1200" dirty="0"/>
          </a:p>
        </p:txBody>
      </p:sp>
      <p:sp>
        <p:nvSpPr>
          <p:cNvPr id="7" name="Text 5"/>
          <p:cNvSpPr txBox="1"/>
          <p:nvPr/>
        </p:nvSpPr>
        <p:spPr>
          <a:xfrm>
            <a:off x="960120" y="932688"/>
            <a:ext cx="7863840" cy="658368"/>
          </a:xfrm>
          <a:prstGeom prst="rect">
            <a:avLst/>
          </a:prstGeom>
          <a:noFill/>
          <a:ln/>
        </p:spPr>
        <p:txBody>
          <a:bodyPr wrap="square" lIns="0" tIns="0" rIns="0" bIns="0" rtlCol="0" anchor="ctr"/>
          <a:lstStyle/>
          <a:p>
            <a:pPr indent="0" marL="0">
              <a:buNone/>
            </a:pPr>
            <a:r>
              <a:rPr lang="en-US" sz="2700" b="1" dirty="0">
                <a:solidFill>
                  <a:srgbClr val="FFFFFF"/>
                </a:solidFill>
                <a:latin typeface="Poppins" pitchFamily="34" charset="0"/>
                <a:ea typeface="Poppins" pitchFamily="34" charset="-122"/>
                <a:cs typeface="Poppins" pitchFamily="34" charset="-120"/>
              </a:rPr>
              <a:t>Before we open anything</a:t>
            </a:r>
            <a:endParaRPr lang="en-US" sz="2700" dirty="0"/>
          </a:p>
        </p:txBody>
      </p:sp>
      <p:sp>
        <p:nvSpPr>
          <p:cNvPr id="8" name="Shape 6"/>
          <p:cNvSpPr/>
          <p:nvPr/>
        </p:nvSpPr>
        <p:spPr>
          <a:xfrm>
            <a:off x="10058400" y="868680"/>
            <a:ext cx="1234440" cy="502920"/>
          </a:xfrm>
          <a:prstGeom prst="roundRect">
            <a:avLst>
              <a:gd name="adj" fmla="val 49091"/>
            </a:avLst>
          </a:prstGeom>
          <a:solidFill>
            <a:srgbClr val="387F7F"/>
          </a:solidFill>
          <a:ln/>
        </p:spPr>
      </p:sp>
      <p:sp>
        <p:nvSpPr>
          <p:cNvPr id="9" name="Text 7"/>
          <p:cNvSpPr txBox="1"/>
          <p:nvPr/>
        </p:nvSpPr>
        <p:spPr>
          <a:xfrm>
            <a:off x="10058400" y="868680"/>
            <a:ext cx="123444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Poppins" pitchFamily="34" charset="0"/>
                <a:ea typeface="Poppins" pitchFamily="34" charset="-122"/>
                <a:cs typeface="Poppins" pitchFamily="34" charset="-120"/>
              </a:rPr>
              <a:t>4 min</a:t>
            </a:r>
            <a:endParaRPr lang="en-US" sz="1400" dirty="0"/>
          </a:p>
        </p:txBody>
      </p:sp>
      <p:sp>
        <p:nvSpPr>
          <p:cNvPr id="10" name="Text 8"/>
          <p:cNvSpPr txBox="1"/>
          <p:nvPr/>
        </p:nvSpPr>
        <p:spPr>
          <a:xfrm>
            <a:off x="685800" y="1874520"/>
            <a:ext cx="10424160" cy="365760"/>
          </a:xfrm>
          <a:prstGeom prst="rect">
            <a:avLst/>
          </a:prstGeom>
          <a:noFill/>
          <a:ln/>
        </p:spPr>
        <p:txBody>
          <a:bodyPr wrap="square" lIns="0" tIns="0" rIns="0" bIns="0" rtlCol="0" anchor="t"/>
          <a:lstStyle/>
          <a:p>
            <a:pPr algn="l" indent="0" marL="0">
              <a:lnSpc>
                <a:spcPct val="135000"/>
              </a:lnSpc>
              <a:buNone/>
            </a:pPr>
            <a:r>
              <a:rPr lang="en-US" sz="1600" i="1" dirty="0">
                <a:solidFill>
                  <a:srgbClr val="64748B"/>
                </a:solidFill>
                <a:latin typeface="Poppins" pitchFamily="34" charset="0"/>
                <a:ea typeface="Poppins" pitchFamily="34" charset="-122"/>
                <a:cs typeface="Poppins" pitchFamily="34" charset="-120"/>
              </a:rPr>
              <a:t>Answer from memory. Notes closed. You have four minutes.</a:t>
            </a:r>
            <a:endParaRPr lang="en-US" sz="1600" dirty="0"/>
          </a:p>
        </p:txBody>
      </p:sp>
      <p:sp>
        <p:nvSpPr>
          <p:cNvPr id="11" name="Shape 9"/>
          <p:cNvSpPr/>
          <p:nvPr/>
        </p:nvSpPr>
        <p:spPr>
          <a:xfrm>
            <a:off x="685800" y="2514600"/>
            <a:ext cx="10424160" cy="914400"/>
          </a:xfrm>
          <a:prstGeom prst="roundRect">
            <a:avLst>
              <a:gd name="adj" fmla="val 10000"/>
            </a:avLst>
          </a:prstGeom>
          <a:solidFill>
            <a:srgbClr val="FFFFFF"/>
          </a:solidFill>
          <a:ln/>
          <a:effectLst>
            <a:outerShdw sx="100000" sy="100000" kx="0" ky="0" algn="bl" rotWithShape="0" blurRad="152400" dist="38100" dir="5400000">
              <a:srgbClr val="1B2A2E">
                <a:alpha val="14000"/>
              </a:srgbClr>
            </a:outerShdw>
          </a:effectLst>
        </p:spPr>
      </p:sp>
      <p:sp>
        <p:nvSpPr>
          <p:cNvPr id="12" name="Shape 10"/>
          <p:cNvSpPr/>
          <p:nvPr/>
        </p:nvSpPr>
        <p:spPr>
          <a:xfrm>
            <a:off x="960120" y="2743200"/>
            <a:ext cx="457200" cy="457200"/>
          </a:xfrm>
          <a:prstGeom prst="ellipse">
            <a:avLst/>
          </a:prstGeom>
          <a:solidFill>
            <a:srgbClr val="387F7F"/>
          </a:solidFill>
          <a:ln/>
        </p:spPr>
      </p:sp>
      <p:sp>
        <p:nvSpPr>
          <p:cNvPr id="13" name="Text 11"/>
          <p:cNvSpPr txBox="1"/>
          <p:nvPr/>
        </p:nvSpPr>
        <p:spPr>
          <a:xfrm>
            <a:off x="960120" y="2743200"/>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Poppins" pitchFamily="34" charset="0"/>
                <a:ea typeface="Poppins" pitchFamily="34" charset="-122"/>
                <a:cs typeface="Poppins" pitchFamily="34" charset="-120"/>
              </a:rPr>
              <a:t>1</a:t>
            </a:r>
            <a:endParaRPr lang="en-US" sz="1900" dirty="0"/>
          </a:p>
        </p:txBody>
      </p:sp>
      <p:sp>
        <p:nvSpPr>
          <p:cNvPr id="14" name="Text 12"/>
          <p:cNvSpPr txBox="1"/>
          <p:nvPr/>
        </p:nvSpPr>
        <p:spPr>
          <a:xfrm>
            <a:off x="1645920" y="2514600"/>
            <a:ext cx="7680960" cy="914400"/>
          </a:xfrm>
          <a:prstGeom prst="rect">
            <a:avLst/>
          </a:prstGeom>
          <a:noFill/>
          <a:ln/>
        </p:spPr>
        <p:txBody>
          <a:bodyPr wrap="square" lIns="0" tIns="0" rIns="0" bIns="0" rtlCol="0" anchor="ctr"/>
          <a:lstStyle/>
          <a:p>
            <a:pPr indent="0" marL="0">
              <a:lnSpc>
                <a:spcPct val="120000"/>
              </a:lnSpc>
              <a:buNone/>
            </a:pPr>
            <a:r>
              <a:rPr lang="en-US" sz="1600" dirty="0">
                <a:solidFill>
                  <a:srgbClr val="475569"/>
                </a:solidFill>
                <a:latin typeface="Poppins" pitchFamily="34" charset="0"/>
                <a:ea typeface="Poppins" pitchFamily="34" charset="-122"/>
                <a:cs typeface="Poppins" pitchFamily="34" charset="-120"/>
              </a:rPr>
              <a:t>Write a SQL query that counts deliveries per route.</a:t>
            </a:r>
            <a:endParaRPr lang="en-US" sz="1600" dirty="0"/>
          </a:p>
        </p:txBody>
      </p:sp>
      <p:sp>
        <p:nvSpPr>
          <p:cNvPr id="15" name="Shape 13"/>
          <p:cNvSpPr/>
          <p:nvPr/>
        </p:nvSpPr>
        <p:spPr>
          <a:xfrm>
            <a:off x="9464040" y="2788920"/>
            <a:ext cx="1051560" cy="365760"/>
          </a:xfrm>
          <a:prstGeom prst="roundRect">
            <a:avLst>
              <a:gd name="adj" fmla="val 50000"/>
            </a:avLst>
          </a:prstGeom>
          <a:solidFill>
            <a:srgbClr val="EEF4F4"/>
          </a:solidFill>
          <a:ln/>
        </p:spPr>
      </p:sp>
      <p:sp>
        <p:nvSpPr>
          <p:cNvPr id="16" name="Text 14"/>
          <p:cNvSpPr txBox="1"/>
          <p:nvPr/>
        </p:nvSpPr>
        <p:spPr>
          <a:xfrm>
            <a:off x="9464040" y="2788920"/>
            <a:ext cx="1051560" cy="365760"/>
          </a:xfrm>
          <a:prstGeom prst="rect">
            <a:avLst/>
          </a:prstGeom>
          <a:noFill/>
          <a:ln/>
        </p:spPr>
        <p:txBody>
          <a:bodyPr wrap="square" lIns="0" tIns="0" rIns="0" bIns="0" rtlCol="0" anchor="ctr"/>
          <a:lstStyle/>
          <a:p>
            <a:pPr algn="ctr" indent="0" marL="0">
              <a:buNone/>
            </a:pPr>
            <a:r>
              <a:rPr lang="en-US" sz="1000" b="1" dirty="0">
                <a:solidFill>
                  <a:srgbClr val="387F7F"/>
                </a:solidFill>
                <a:latin typeface="Poppins" pitchFamily="34" charset="0"/>
                <a:ea typeface="Poppins" pitchFamily="34" charset="-122"/>
                <a:cs typeface="Poppins" pitchFamily="34" charset="-120"/>
              </a:rPr>
              <a:t>Module 3</a:t>
            </a:r>
            <a:endParaRPr lang="en-US" sz="1000" dirty="0"/>
          </a:p>
        </p:txBody>
      </p:sp>
      <p:sp>
        <p:nvSpPr>
          <p:cNvPr id="17" name="Shape 15"/>
          <p:cNvSpPr/>
          <p:nvPr/>
        </p:nvSpPr>
        <p:spPr>
          <a:xfrm>
            <a:off x="685800" y="3566160"/>
            <a:ext cx="10424160" cy="914400"/>
          </a:xfrm>
          <a:prstGeom prst="roundRect">
            <a:avLst>
              <a:gd name="adj" fmla="val 10000"/>
            </a:avLst>
          </a:prstGeom>
          <a:solidFill>
            <a:srgbClr val="FFFFFF"/>
          </a:solidFill>
          <a:ln/>
          <a:effectLst>
            <a:outerShdw sx="100000" sy="100000" kx="0" ky="0" algn="bl" rotWithShape="0" blurRad="152400" dist="38100" dir="5400000">
              <a:srgbClr val="1B2A2E">
                <a:alpha val="14000"/>
              </a:srgbClr>
            </a:outerShdw>
          </a:effectLst>
        </p:spPr>
      </p:sp>
      <p:sp>
        <p:nvSpPr>
          <p:cNvPr id="18" name="Shape 16"/>
          <p:cNvSpPr/>
          <p:nvPr/>
        </p:nvSpPr>
        <p:spPr>
          <a:xfrm>
            <a:off x="960120" y="3794760"/>
            <a:ext cx="457200" cy="457200"/>
          </a:xfrm>
          <a:prstGeom prst="ellipse">
            <a:avLst/>
          </a:prstGeom>
          <a:solidFill>
            <a:srgbClr val="387F7F"/>
          </a:solidFill>
          <a:ln/>
        </p:spPr>
      </p:sp>
      <p:sp>
        <p:nvSpPr>
          <p:cNvPr id="19" name="Text 17"/>
          <p:cNvSpPr txBox="1"/>
          <p:nvPr/>
        </p:nvSpPr>
        <p:spPr>
          <a:xfrm>
            <a:off x="960120" y="3794760"/>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Poppins" pitchFamily="34" charset="0"/>
                <a:ea typeface="Poppins" pitchFamily="34" charset="-122"/>
                <a:cs typeface="Poppins" pitchFamily="34" charset="-120"/>
              </a:rPr>
              <a:t>2</a:t>
            </a:r>
            <a:endParaRPr lang="en-US" sz="1900" dirty="0"/>
          </a:p>
        </p:txBody>
      </p:sp>
      <p:sp>
        <p:nvSpPr>
          <p:cNvPr id="20" name="Text 18"/>
          <p:cNvSpPr txBox="1"/>
          <p:nvPr/>
        </p:nvSpPr>
        <p:spPr>
          <a:xfrm>
            <a:off x="1645920" y="3566160"/>
            <a:ext cx="7680960" cy="914400"/>
          </a:xfrm>
          <a:prstGeom prst="rect">
            <a:avLst/>
          </a:prstGeom>
          <a:noFill/>
          <a:ln/>
        </p:spPr>
        <p:txBody>
          <a:bodyPr wrap="square" lIns="0" tIns="0" rIns="0" bIns="0" rtlCol="0" anchor="ctr"/>
          <a:lstStyle/>
          <a:p>
            <a:pPr indent="0" marL="0">
              <a:lnSpc>
                <a:spcPct val="120000"/>
              </a:lnSpc>
              <a:buNone/>
            </a:pPr>
            <a:r>
              <a:rPr lang="en-US" sz="1600" dirty="0">
                <a:solidFill>
                  <a:srgbClr val="475569"/>
                </a:solidFill>
                <a:latin typeface="Poppins" pitchFamily="34" charset="0"/>
                <a:ea typeface="Poppins" pitchFamily="34" charset="-122"/>
                <a:cs typeface="Poppins" pitchFamily="34" charset="-120"/>
              </a:rPr>
              <a:t>In Power Query, what is the difference between removing a column and filtering a row?</a:t>
            </a:r>
            <a:endParaRPr lang="en-US" sz="1600" dirty="0"/>
          </a:p>
        </p:txBody>
      </p:sp>
      <p:sp>
        <p:nvSpPr>
          <p:cNvPr id="21" name="Shape 19"/>
          <p:cNvSpPr/>
          <p:nvPr/>
        </p:nvSpPr>
        <p:spPr>
          <a:xfrm>
            <a:off x="9464040" y="3840480"/>
            <a:ext cx="1051560" cy="365760"/>
          </a:xfrm>
          <a:prstGeom prst="roundRect">
            <a:avLst>
              <a:gd name="adj" fmla="val 50000"/>
            </a:avLst>
          </a:prstGeom>
          <a:solidFill>
            <a:srgbClr val="EEF4F4"/>
          </a:solidFill>
          <a:ln/>
        </p:spPr>
      </p:sp>
      <p:sp>
        <p:nvSpPr>
          <p:cNvPr id="22" name="Text 20"/>
          <p:cNvSpPr txBox="1"/>
          <p:nvPr/>
        </p:nvSpPr>
        <p:spPr>
          <a:xfrm>
            <a:off x="9464040" y="3840480"/>
            <a:ext cx="1051560" cy="365760"/>
          </a:xfrm>
          <a:prstGeom prst="rect">
            <a:avLst/>
          </a:prstGeom>
          <a:noFill/>
          <a:ln/>
        </p:spPr>
        <p:txBody>
          <a:bodyPr wrap="square" lIns="0" tIns="0" rIns="0" bIns="0" rtlCol="0" anchor="ctr"/>
          <a:lstStyle/>
          <a:p>
            <a:pPr algn="ctr" indent="0" marL="0">
              <a:buNone/>
            </a:pPr>
            <a:r>
              <a:rPr lang="en-US" sz="1000" b="1" dirty="0">
                <a:solidFill>
                  <a:srgbClr val="387F7F"/>
                </a:solidFill>
                <a:latin typeface="Poppins" pitchFamily="34" charset="0"/>
                <a:ea typeface="Poppins" pitchFamily="34" charset="-122"/>
                <a:cs typeface="Poppins" pitchFamily="34" charset="-120"/>
              </a:rPr>
              <a:t>Module 2</a:t>
            </a:r>
            <a:endParaRPr lang="en-US" sz="1000" dirty="0"/>
          </a:p>
        </p:txBody>
      </p:sp>
      <p:sp>
        <p:nvSpPr>
          <p:cNvPr id="23" name="Shape 21"/>
          <p:cNvSpPr/>
          <p:nvPr/>
        </p:nvSpPr>
        <p:spPr>
          <a:xfrm>
            <a:off x="685800" y="4617720"/>
            <a:ext cx="10424160" cy="914400"/>
          </a:xfrm>
          <a:prstGeom prst="roundRect">
            <a:avLst>
              <a:gd name="adj" fmla="val 10000"/>
            </a:avLst>
          </a:prstGeom>
          <a:solidFill>
            <a:srgbClr val="FFFFFF"/>
          </a:solidFill>
          <a:ln/>
          <a:effectLst>
            <a:outerShdw sx="100000" sy="100000" kx="0" ky="0" algn="bl" rotWithShape="0" blurRad="152400" dist="38100" dir="5400000">
              <a:srgbClr val="1B2A2E">
                <a:alpha val="14000"/>
              </a:srgbClr>
            </a:outerShdw>
          </a:effectLst>
        </p:spPr>
      </p:sp>
      <p:sp>
        <p:nvSpPr>
          <p:cNvPr id="24" name="Shape 22"/>
          <p:cNvSpPr/>
          <p:nvPr/>
        </p:nvSpPr>
        <p:spPr>
          <a:xfrm>
            <a:off x="960120" y="4846320"/>
            <a:ext cx="457200" cy="457200"/>
          </a:xfrm>
          <a:prstGeom prst="ellipse">
            <a:avLst/>
          </a:prstGeom>
          <a:solidFill>
            <a:srgbClr val="387F7F"/>
          </a:solidFill>
          <a:ln/>
        </p:spPr>
      </p:sp>
      <p:sp>
        <p:nvSpPr>
          <p:cNvPr id="25" name="Text 23"/>
          <p:cNvSpPr txBox="1"/>
          <p:nvPr/>
        </p:nvSpPr>
        <p:spPr>
          <a:xfrm>
            <a:off x="960120" y="4846320"/>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Poppins" pitchFamily="34" charset="0"/>
                <a:ea typeface="Poppins" pitchFamily="34" charset="-122"/>
                <a:cs typeface="Poppins" pitchFamily="34" charset="-120"/>
              </a:rPr>
              <a:t>3</a:t>
            </a:r>
            <a:endParaRPr lang="en-US" sz="1900" dirty="0"/>
          </a:p>
        </p:txBody>
      </p:sp>
      <p:sp>
        <p:nvSpPr>
          <p:cNvPr id="26" name="Text 24"/>
          <p:cNvSpPr txBox="1"/>
          <p:nvPr/>
        </p:nvSpPr>
        <p:spPr>
          <a:xfrm>
            <a:off x="1645920" y="4617720"/>
            <a:ext cx="7680960" cy="914400"/>
          </a:xfrm>
          <a:prstGeom prst="rect">
            <a:avLst/>
          </a:prstGeom>
          <a:noFill/>
          <a:ln/>
        </p:spPr>
        <p:txBody>
          <a:bodyPr wrap="square" lIns="0" tIns="0" rIns="0" bIns="0" rtlCol="0" anchor="ctr"/>
          <a:lstStyle/>
          <a:p>
            <a:pPr indent="0" marL="0">
              <a:lnSpc>
                <a:spcPct val="120000"/>
              </a:lnSpc>
              <a:buNone/>
            </a:pPr>
            <a:r>
              <a:rPr lang="en-US" sz="1600" dirty="0">
                <a:solidFill>
                  <a:srgbClr val="475569"/>
                </a:solidFill>
                <a:latin typeface="Poppins" pitchFamily="34" charset="0"/>
                <a:ea typeface="Poppins" pitchFamily="34" charset="-122"/>
                <a:cs typeface="Poppins" pitchFamily="34" charset="-120"/>
              </a:rPr>
              <a:t>Name one thing that makes a chart dishonest.</a:t>
            </a:r>
            <a:endParaRPr lang="en-US" sz="1600" dirty="0"/>
          </a:p>
        </p:txBody>
      </p:sp>
      <p:sp>
        <p:nvSpPr>
          <p:cNvPr id="27" name="Shape 25"/>
          <p:cNvSpPr/>
          <p:nvPr/>
        </p:nvSpPr>
        <p:spPr>
          <a:xfrm>
            <a:off x="9464040" y="4892040"/>
            <a:ext cx="1051560" cy="365760"/>
          </a:xfrm>
          <a:prstGeom prst="roundRect">
            <a:avLst>
              <a:gd name="adj" fmla="val 50000"/>
            </a:avLst>
          </a:prstGeom>
          <a:solidFill>
            <a:srgbClr val="EEF4F4"/>
          </a:solidFill>
          <a:ln/>
        </p:spPr>
      </p:sp>
      <p:sp>
        <p:nvSpPr>
          <p:cNvPr id="28" name="Text 26"/>
          <p:cNvSpPr txBox="1"/>
          <p:nvPr/>
        </p:nvSpPr>
        <p:spPr>
          <a:xfrm>
            <a:off x="9464040" y="4892040"/>
            <a:ext cx="1051560" cy="365760"/>
          </a:xfrm>
          <a:prstGeom prst="rect">
            <a:avLst/>
          </a:prstGeom>
          <a:noFill/>
          <a:ln/>
        </p:spPr>
        <p:txBody>
          <a:bodyPr wrap="square" lIns="0" tIns="0" rIns="0" bIns="0" rtlCol="0" anchor="ctr"/>
          <a:lstStyle/>
          <a:p>
            <a:pPr algn="ctr" indent="0" marL="0">
              <a:buNone/>
            </a:pPr>
            <a:r>
              <a:rPr lang="en-US" sz="1000" b="1" dirty="0">
                <a:solidFill>
                  <a:srgbClr val="387F7F"/>
                </a:solidFill>
                <a:latin typeface="Poppins" pitchFamily="34" charset="0"/>
                <a:ea typeface="Poppins" pitchFamily="34" charset="-122"/>
                <a:cs typeface="Poppins" pitchFamily="34" charset="-120"/>
              </a:rPr>
              <a:t>Module 6</a:t>
            </a:r>
            <a:endParaRPr lang="en-US" sz="1000" dirty="0"/>
          </a:p>
        </p:txBody>
      </p:sp>
      <p:pic>
        <p:nvPicPr>
          <p:cNvPr id="29" name="Image 0" descr="/home/claude/build/assets/logo_full.png">    </p:cNvPr>
          <p:cNvPicPr>
            <a:picLocks noChangeAspect="1"/>
          </p:cNvPicPr>
          <p:nvPr/>
        </p:nvPicPr>
        <p:blipFill>
          <a:blip r:embed="rId2"/>
          <a:stretch>
            <a:fillRect/>
          </a:stretch>
        </p:blipFill>
        <p:spPr>
          <a:xfrm>
            <a:off x="10998403" y="5949086"/>
            <a:ext cx="431597" cy="375337"/>
          </a:xfrm>
          <a:prstGeom prst="rect">
            <a:avLst/>
          </a:prstGeom>
        </p:spPr>
      </p:pic>
      <p:sp>
        <p:nvSpPr>
          <p:cNvPr id="30" name="Text 27"/>
          <p:cNvSpPr txBox="1"/>
          <p:nvPr/>
        </p:nvSpPr>
        <p:spPr>
          <a:xfrm>
            <a:off x="11689050" y="6473952"/>
            <a:ext cx="365760" cy="274320"/>
          </a:xfrm>
          <a:prstGeom prst="rect">
            <a:avLst/>
          </a:prstGeom>
          <a:noFill/>
          <a:ln/>
        </p:spPr>
        <p:txBody>
          <a:bodyPr wrap="square" lIns="0" tIns="0" rIns="0" bIns="0" rtlCol="0" anchor="ctr"/>
          <a:lstStyle/>
          <a:p>
            <a:pPr algn="r" indent="0" marL="0">
              <a:buNone/>
            </a:pPr>
            <a:r>
              <a:rPr lang="en-US" sz="1100" dirty="0">
                <a:solidFill>
                  <a:srgbClr val="64748B"/>
                </a:solidFill>
                <a:latin typeface="Poppins" pitchFamily="34" charset="0"/>
                <a:ea typeface="Poppins" pitchFamily="34" charset="-122"/>
                <a:cs typeface="Poppins" pitchFamily="34" charset="-120"/>
              </a:rPr>
              <a:t>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863840" y="0"/>
            <a:ext cx="4325112" cy="6858000"/>
          </a:xfrm>
          <a:prstGeom prst="rect">
            <a:avLst/>
          </a:prstGeom>
          <a:solidFill>
            <a:srgbClr val="20494A"/>
          </a:solidFill>
          <a:ln/>
        </p:spPr>
      </p:sp>
      <p:sp>
        <p:nvSpPr>
          <p:cNvPr id="3" name="Shape 1"/>
          <p:cNvSpPr/>
          <p:nvPr/>
        </p:nvSpPr>
        <p:spPr>
          <a:xfrm>
            <a:off x="9784080" y="-1280160"/>
            <a:ext cx="4572000" cy="4572000"/>
          </a:xfrm>
          <a:prstGeom prst="ellipse">
            <a:avLst/>
          </a:prstGeom>
          <a:solidFill>
            <a:srgbClr val="2E5E5E"/>
          </a:solidFill>
          <a:ln/>
        </p:spPr>
      </p:sp>
      <p:sp>
        <p:nvSpPr>
          <p:cNvPr id="4" name="Text 2"/>
          <p:cNvSpPr txBox="1"/>
          <p:nvPr/>
        </p:nvSpPr>
        <p:spPr>
          <a:xfrm>
            <a:off x="7863840" y="1965960"/>
            <a:ext cx="4206240" cy="1554480"/>
          </a:xfrm>
          <a:prstGeom prst="rect">
            <a:avLst/>
          </a:prstGeom>
          <a:noFill/>
          <a:ln/>
        </p:spPr>
        <p:txBody>
          <a:bodyPr wrap="square" lIns="0" tIns="0" rIns="0" bIns="0" rtlCol="0" anchor="ctr"/>
          <a:lstStyle/>
          <a:p>
            <a:pPr algn="ctr" indent="0" marL="0">
              <a:lnSpc>
                <a:spcPct val="100000"/>
              </a:lnSpc>
              <a:buNone/>
            </a:pPr>
            <a:r>
              <a:rPr lang="en-US" sz="4600" b="1" dirty="0">
                <a:solidFill>
                  <a:srgbClr val="FFFFFF"/>
                </a:solidFill>
                <a:latin typeface="Poppins" pitchFamily="34" charset="0"/>
                <a:ea typeface="Poppins" pitchFamily="34" charset="-122"/>
                <a:cs typeface="Poppins" pitchFamily="34" charset="-120"/>
              </a:rPr>
              <a:t>Every</a:t>
            </a:r>
            <a:endParaRPr lang="en-US" sz="4600" dirty="0"/>
          </a:p>
          <a:p>
            <a:pPr algn="ctr" indent="0" marL="0">
              <a:lnSpc>
                <a:spcPct val="100000"/>
              </a:lnSpc>
              <a:buNone/>
            </a:pPr>
            <a:r>
              <a:rPr lang="en-US" sz="4600" b="1" dirty="0">
                <a:solidFill>
                  <a:srgbClr val="FFFFFF"/>
                </a:solidFill>
                <a:latin typeface="Poppins" pitchFamily="34" charset="0"/>
                <a:ea typeface="Poppins" pitchFamily="34" charset="-122"/>
                <a:cs typeface="Poppins" pitchFamily="34" charset="-120"/>
              </a:rPr>
              <a:t>morning</a:t>
            </a:r>
            <a:endParaRPr lang="en-US" sz="4600" dirty="0"/>
          </a:p>
        </p:txBody>
      </p:sp>
      <p:sp>
        <p:nvSpPr>
          <p:cNvPr id="5" name="Text 3"/>
          <p:cNvSpPr txBox="1"/>
          <p:nvPr/>
        </p:nvSpPr>
        <p:spPr>
          <a:xfrm>
            <a:off x="7863840" y="3611880"/>
            <a:ext cx="4206240" cy="914400"/>
          </a:xfrm>
          <a:prstGeom prst="rect">
            <a:avLst/>
          </a:prstGeom>
          <a:noFill/>
          <a:ln/>
        </p:spPr>
        <p:txBody>
          <a:bodyPr wrap="square" lIns="0" tIns="0" rIns="0" bIns="0" rtlCol="0" anchor="ctr"/>
          <a:lstStyle/>
          <a:p>
            <a:pPr algn="ctr" indent="0" marL="0">
              <a:lnSpc>
                <a:spcPct val="130000"/>
              </a:lnSpc>
              <a:buNone/>
            </a:pPr>
            <a:r>
              <a:rPr lang="en-US" sz="1700" dirty="0">
                <a:solidFill>
                  <a:srgbClr val="B9D3D3"/>
                </a:solidFill>
                <a:latin typeface="Poppins" pitchFamily="34" charset="0"/>
                <a:ea typeface="Poppins" pitchFamily="34" charset="-122"/>
                <a:cs typeface="Poppins" pitchFamily="34" charset="-120"/>
              </a:rPr>
              <a:t>before the riders leave,</a:t>
            </a:r>
            <a:endParaRPr lang="en-US" sz="1700" dirty="0"/>
          </a:p>
          <a:p>
            <a:pPr algn="ctr" indent="0" marL="0">
              <a:lnSpc>
                <a:spcPct val="130000"/>
              </a:lnSpc>
              <a:buNone/>
            </a:pPr>
            <a:r>
              <a:rPr lang="en-US" sz="1700" dirty="0">
                <a:solidFill>
                  <a:srgbClr val="B9D3D3"/>
                </a:solidFill>
                <a:latin typeface="Poppins" pitchFamily="34" charset="0"/>
                <a:ea typeface="Poppins" pitchFamily="34" charset="-122"/>
                <a:cs typeface="Poppins" pitchFamily="34" charset="-120"/>
              </a:rPr>
              <a:t>she opens one screen</a:t>
            </a:r>
            <a:endParaRPr lang="en-US" sz="1700" dirty="0"/>
          </a:p>
        </p:txBody>
      </p:sp>
      <p:sp>
        <p:nvSpPr>
          <p:cNvPr id="6" name="Shape 4"/>
          <p:cNvSpPr/>
          <p:nvPr/>
        </p:nvSpPr>
        <p:spPr>
          <a:xfrm>
            <a:off x="685800" y="685800"/>
            <a:ext cx="82296" cy="1051560"/>
          </a:xfrm>
          <a:prstGeom prst="rect">
            <a:avLst/>
          </a:prstGeom>
          <a:solidFill>
            <a:srgbClr val="387F7F"/>
          </a:solidFill>
          <a:ln/>
        </p:spPr>
      </p:sp>
      <p:sp>
        <p:nvSpPr>
          <p:cNvPr id="7" name="Text 5"/>
          <p:cNvSpPr txBox="1"/>
          <p:nvPr/>
        </p:nvSpPr>
        <p:spPr>
          <a:xfrm>
            <a:off x="914400" y="640080"/>
            <a:ext cx="6583680" cy="1143000"/>
          </a:xfrm>
          <a:prstGeom prst="rect">
            <a:avLst/>
          </a:prstGeom>
          <a:noFill/>
          <a:ln/>
        </p:spPr>
        <p:txBody>
          <a:bodyPr wrap="square" lIns="0" tIns="0" rIns="0" bIns="0" rtlCol="0" anchor="ctr"/>
          <a:lstStyle/>
          <a:p>
            <a:pPr indent="0" marL="0">
              <a:lnSpc>
                <a:spcPct val="105000"/>
              </a:lnSpc>
              <a:buNone/>
            </a:pPr>
            <a:r>
              <a:rPr lang="en-US" sz="3000" b="1" dirty="0">
                <a:solidFill>
                  <a:srgbClr val="0A1A23"/>
                </a:solidFill>
                <a:latin typeface="Poppins" pitchFamily="34" charset="0"/>
                <a:ea typeface="Poppins" pitchFamily="34" charset="-122"/>
                <a:cs typeface="Poppins" pitchFamily="34" charset="-120"/>
              </a:rPr>
              <a:t>One screen answers her first</a:t>
            </a:r>
            <a:endParaRPr lang="en-US" sz="3000" dirty="0"/>
          </a:p>
          <a:p>
            <a:pPr indent="0" marL="0">
              <a:lnSpc>
                <a:spcPct val="105000"/>
              </a:lnSpc>
              <a:buNone/>
            </a:pPr>
            <a:r>
              <a:rPr lang="en-US" sz="3000" b="1" dirty="0">
                <a:solidFill>
                  <a:srgbClr val="0A1A23"/>
                </a:solidFill>
                <a:latin typeface="Poppins" pitchFamily="34" charset="0"/>
                <a:ea typeface="Poppins" pitchFamily="34" charset="-122"/>
                <a:cs typeface="Poppins" pitchFamily="34" charset="-120"/>
              </a:rPr>
              <a:t>three questions of the day</a:t>
            </a:r>
            <a:endParaRPr lang="en-US" sz="3000" dirty="0"/>
          </a:p>
        </p:txBody>
      </p:sp>
      <p:sp>
        <p:nvSpPr>
          <p:cNvPr id="8" name="Text 6"/>
          <p:cNvSpPr txBox="1"/>
          <p:nvPr/>
        </p:nvSpPr>
        <p:spPr>
          <a:xfrm>
            <a:off x="713232" y="2286000"/>
            <a:ext cx="6766560" cy="822960"/>
          </a:xfrm>
          <a:prstGeom prst="rect">
            <a:avLst/>
          </a:prstGeom>
          <a:noFill/>
          <a:ln/>
        </p:spPr>
        <p:txBody>
          <a:bodyPr wrap="square" lIns="0" tIns="0" rIns="0" bIns="0" rtlCol="0" anchor="t"/>
          <a:lstStyle/>
          <a:p>
            <a:pPr algn="l" indent="0" marL="0">
              <a:lnSpc>
                <a:spcPct val="135000"/>
              </a:lnSpc>
              <a:buNone/>
            </a:pPr>
            <a:r>
              <a:rPr lang="en-US" sz="1700" dirty="0">
                <a:solidFill>
                  <a:srgbClr val="475569"/>
                </a:solidFill>
                <a:latin typeface="Poppins" pitchFamily="34" charset="0"/>
                <a:ea typeface="Poppins" pitchFamily="34" charset="-122"/>
                <a:cs typeface="Poppins" pitchFamily="34" charset="-120"/>
              </a:rPr>
              <a:t>Adaeze Nwosu runs operations for SwiftRoute Logistics, a last-mile delivery firm working across Lagos, Ogun and Oyo.</a:t>
            </a:r>
            <a:endParaRPr lang="en-US" sz="1700" dirty="0"/>
          </a:p>
        </p:txBody>
      </p:sp>
      <p:sp>
        <p:nvSpPr>
          <p:cNvPr id="9" name="Shape 7"/>
          <p:cNvSpPr/>
          <p:nvPr/>
        </p:nvSpPr>
        <p:spPr>
          <a:xfrm>
            <a:off x="713232" y="3200400"/>
            <a:ext cx="6766560" cy="548640"/>
          </a:xfrm>
          <a:prstGeom prst="roundRect">
            <a:avLst>
              <a:gd name="adj" fmla="val 13333"/>
            </a:avLst>
          </a:prstGeom>
          <a:solidFill>
            <a:srgbClr val="FFFFFF"/>
          </a:solidFill>
          <a:ln/>
          <a:effectLst>
            <a:outerShdw sx="100000" sy="100000" kx="0" ky="0" algn="bl" rotWithShape="0" blurRad="101600" dist="25400" dir="5400000">
              <a:srgbClr val="1B2A2E">
                <a:alpha val="10000"/>
              </a:srgbClr>
            </a:outerShdw>
          </a:effectLst>
        </p:spPr>
      </p:sp>
      <p:sp>
        <p:nvSpPr>
          <p:cNvPr id="10" name="Shape 8"/>
          <p:cNvSpPr/>
          <p:nvPr/>
        </p:nvSpPr>
        <p:spPr>
          <a:xfrm>
            <a:off x="868680" y="3319272"/>
            <a:ext cx="310896" cy="310896"/>
          </a:xfrm>
          <a:prstGeom prst="ellipse">
            <a:avLst/>
          </a:prstGeom>
          <a:solidFill>
            <a:srgbClr val="387F7F"/>
          </a:solidFill>
          <a:ln/>
        </p:spPr>
      </p:sp>
      <p:sp>
        <p:nvSpPr>
          <p:cNvPr id="11" name="Text 9"/>
          <p:cNvSpPr txBox="1"/>
          <p:nvPr/>
        </p:nvSpPr>
        <p:spPr>
          <a:xfrm>
            <a:off x="868680" y="331927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Poppins" pitchFamily="34" charset="0"/>
                <a:ea typeface="Poppins" pitchFamily="34" charset="-122"/>
                <a:cs typeface="Poppins" pitchFamily="34" charset="-120"/>
              </a:rPr>
              <a:t>1</a:t>
            </a:r>
            <a:endParaRPr lang="en-US" sz="1300" dirty="0"/>
          </a:p>
        </p:txBody>
      </p:sp>
      <p:sp>
        <p:nvSpPr>
          <p:cNvPr id="12" name="Text 10"/>
          <p:cNvSpPr txBox="1"/>
          <p:nvPr/>
        </p:nvSpPr>
        <p:spPr>
          <a:xfrm>
            <a:off x="1325880" y="3200400"/>
            <a:ext cx="6035040" cy="548640"/>
          </a:xfrm>
          <a:prstGeom prst="rect">
            <a:avLst/>
          </a:prstGeom>
          <a:noFill/>
          <a:ln/>
        </p:spPr>
        <p:txBody>
          <a:bodyPr wrap="square" lIns="0" tIns="0" rIns="0" bIns="0" rtlCol="0" anchor="ctr"/>
          <a:lstStyle/>
          <a:p>
            <a:pPr indent="0" marL="0">
              <a:buNone/>
            </a:pPr>
            <a:r>
              <a:rPr lang="en-US" sz="1350" dirty="0">
                <a:solidFill>
                  <a:srgbClr val="475569"/>
                </a:solidFill>
                <a:latin typeface="Poppins" pitchFamily="34" charset="0"/>
                <a:ea typeface="Poppins" pitchFamily="34" charset="-122"/>
                <a:cs typeface="Poppins" pitchFamily="34" charset="-120"/>
              </a:rPr>
              <a:t>Which routes slipped yesterday?</a:t>
            </a:r>
            <a:endParaRPr lang="en-US" sz="1350" dirty="0"/>
          </a:p>
        </p:txBody>
      </p:sp>
      <p:sp>
        <p:nvSpPr>
          <p:cNvPr id="13" name="Shape 11"/>
          <p:cNvSpPr/>
          <p:nvPr/>
        </p:nvSpPr>
        <p:spPr>
          <a:xfrm>
            <a:off x="713232" y="3858768"/>
            <a:ext cx="6766560" cy="548640"/>
          </a:xfrm>
          <a:prstGeom prst="roundRect">
            <a:avLst>
              <a:gd name="adj" fmla="val 13333"/>
            </a:avLst>
          </a:prstGeom>
          <a:solidFill>
            <a:srgbClr val="FFFFFF"/>
          </a:solidFill>
          <a:ln/>
          <a:effectLst>
            <a:outerShdw sx="100000" sy="100000" kx="0" ky="0" algn="bl" rotWithShape="0" blurRad="101600" dist="25400" dir="5400000">
              <a:srgbClr val="1B2A2E">
                <a:alpha val="10000"/>
              </a:srgbClr>
            </a:outerShdw>
          </a:effectLst>
        </p:spPr>
      </p:sp>
      <p:sp>
        <p:nvSpPr>
          <p:cNvPr id="14" name="Shape 12"/>
          <p:cNvSpPr/>
          <p:nvPr/>
        </p:nvSpPr>
        <p:spPr>
          <a:xfrm>
            <a:off x="868680" y="3977640"/>
            <a:ext cx="310896" cy="310896"/>
          </a:xfrm>
          <a:prstGeom prst="ellipse">
            <a:avLst/>
          </a:prstGeom>
          <a:solidFill>
            <a:srgbClr val="387F7F"/>
          </a:solidFill>
          <a:ln/>
        </p:spPr>
      </p:sp>
      <p:sp>
        <p:nvSpPr>
          <p:cNvPr id="15" name="Text 13"/>
          <p:cNvSpPr txBox="1"/>
          <p:nvPr/>
        </p:nvSpPr>
        <p:spPr>
          <a:xfrm>
            <a:off x="868680" y="397764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Poppins" pitchFamily="34" charset="0"/>
                <a:ea typeface="Poppins" pitchFamily="34" charset="-122"/>
                <a:cs typeface="Poppins" pitchFamily="34" charset="-120"/>
              </a:rPr>
              <a:t>2</a:t>
            </a:r>
            <a:endParaRPr lang="en-US" sz="1300" dirty="0"/>
          </a:p>
        </p:txBody>
      </p:sp>
      <p:sp>
        <p:nvSpPr>
          <p:cNvPr id="16" name="Text 14"/>
          <p:cNvSpPr txBox="1"/>
          <p:nvPr/>
        </p:nvSpPr>
        <p:spPr>
          <a:xfrm>
            <a:off x="1325880" y="3858768"/>
            <a:ext cx="6035040" cy="548640"/>
          </a:xfrm>
          <a:prstGeom prst="rect">
            <a:avLst/>
          </a:prstGeom>
          <a:noFill/>
          <a:ln/>
        </p:spPr>
        <p:txBody>
          <a:bodyPr wrap="square" lIns="0" tIns="0" rIns="0" bIns="0" rtlCol="0" anchor="ctr"/>
          <a:lstStyle/>
          <a:p>
            <a:pPr indent="0" marL="0">
              <a:buNone/>
            </a:pPr>
            <a:r>
              <a:rPr lang="en-US" sz="1350" dirty="0">
                <a:solidFill>
                  <a:srgbClr val="475569"/>
                </a:solidFill>
                <a:latin typeface="Poppins" pitchFamily="34" charset="0"/>
                <a:ea typeface="Poppins" pitchFamily="34" charset="-122"/>
                <a:cs typeface="Poppins" pitchFamily="34" charset="-120"/>
              </a:rPr>
              <a:t>Which riders are carrying the load?</a:t>
            </a:r>
            <a:endParaRPr lang="en-US" sz="1350" dirty="0"/>
          </a:p>
        </p:txBody>
      </p:sp>
      <p:sp>
        <p:nvSpPr>
          <p:cNvPr id="17" name="Shape 15"/>
          <p:cNvSpPr/>
          <p:nvPr/>
        </p:nvSpPr>
        <p:spPr>
          <a:xfrm>
            <a:off x="713232" y="4517136"/>
            <a:ext cx="6766560" cy="548640"/>
          </a:xfrm>
          <a:prstGeom prst="roundRect">
            <a:avLst>
              <a:gd name="adj" fmla="val 13333"/>
            </a:avLst>
          </a:prstGeom>
          <a:solidFill>
            <a:srgbClr val="FFFFFF"/>
          </a:solidFill>
          <a:ln/>
          <a:effectLst>
            <a:outerShdw sx="100000" sy="100000" kx="0" ky="0" algn="bl" rotWithShape="0" blurRad="101600" dist="25400" dir="5400000">
              <a:srgbClr val="1B2A2E">
                <a:alpha val="10000"/>
              </a:srgbClr>
            </a:outerShdw>
          </a:effectLst>
        </p:spPr>
      </p:sp>
      <p:sp>
        <p:nvSpPr>
          <p:cNvPr id="18" name="Shape 16"/>
          <p:cNvSpPr/>
          <p:nvPr/>
        </p:nvSpPr>
        <p:spPr>
          <a:xfrm>
            <a:off x="868680" y="4636008"/>
            <a:ext cx="310896" cy="310896"/>
          </a:xfrm>
          <a:prstGeom prst="ellipse">
            <a:avLst/>
          </a:prstGeom>
          <a:solidFill>
            <a:srgbClr val="387F7F"/>
          </a:solidFill>
          <a:ln/>
        </p:spPr>
      </p:sp>
      <p:sp>
        <p:nvSpPr>
          <p:cNvPr id="19" name="Text 17"/>
          <p:cNvSpPr txBox="1"/>
          <p:nvPr/>
        </p:nvSpPr>
        <p:spPr>
          <a:xfrm>
            <a:off x="868680" y="463600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Poppins" pitchFamily="34" charset="0"/>
                <a:ea typeface="Poppins" pitchFamily="34" charset="-122"/>
                <a:cs typeface="Poppins" pitchFamily="34" charset="-120"/>
              </a:rPr>
              <a:t>3</a:t>
            </a:r>
            <a:endParaRPr lang="en-US" sz="1300" dirty="0"/>
          </a:p>
        </p:txBody>
      </p:sp>
      <p:sp>
        <p:nvSpPr>
          <p:cNvPr id="20" name="Text 18"/>
          <p:cNvSpPr txBox="1"/>
          <p:nvPr/>
        </p:nvSpPr>
        <p:spPr>
          <a:xfrm>
            <a:off x="1325880" y="4517136"/>
            <a:ext cx="6035040" cy="548640"/>
          </a:xfrm>
          <a:prstGeom prst="rect">
            <a:avLst/>
          </a:prstGeom>
          <a:noFill/>
          <a:ln/>
        </p:spPr>
        <p:txBody>
          <a:bodyPr wrap="square" lIns="0" tIns="0" rIns="0" bIns="0" rtlCol="0" anchor="ctr"/>
          <a:lstStyle/>
          <a:p>
            <a:pPr indent="0" marL="0">
              <a:buNone/>
            </a:pPr>
            <a:r>
              <a:rPr lang="en-US" sz="1350" dirty="0">
                <a:solidFill>
                  <a:srgbClr val="475569"/>
                </a:solidFill>
                <a:latin typeface="Poppins" pitchFamily="34" charset="0"/>
                <a:ea typeface="Poppins" pitchFamily="34" charset="-122"/>
                <a:cs typeface="Poppins" pitchFamily="34" charset="-120"/>
              </a:rPr>
              <a:t>Is the month still on track against the 90% promise?</a:t>
            </a:r>
            <a:endParaRPr lang="en-US" sz="1350" dirty="0"/>
          </a:p>
        </p:txBody>
      </p:sp>
      <p:sp>
        <p:nvSpPr>
          <p:cNvPr id="21" name="Text 19"/>
          <p:cNvSpPr txBox="1"/>
          <p:nvPr/>
        </p:nvSpPr>
        <p:spPr>
          <a:xfrm>
            <a:off x="713232" y="5257800"/>
            <a:ext cx="6766560" cy="640080"/>
          </a:xfrm>
          <a:prstGeom prst="rect">
            <a:avLst/>
          </a:prstGeom>
          <a:noFill/>
          <a:ln/>
        </p:spPr>
        <p:txBody>
          <a:bodyPr wrap="square" lIns="0" tIns="0" rIns="0" bIns="0" rtlCol="0" anchor="t"/>
          <a:lstStyle/>
          <a:p>
            <a:pPr algn="l" indent="0" marL="0">
              <a:lnSpc>
                <a:spcPct val="135000"/>
              </a:lnSpc>
              <a:buNone/>
            </a:pPr>
            <a:r>
              <a:rPr lang="en-US" sz="1600" b="1" dirty="0">
                <a:solidFill>
                  <a:srgbClr val="387F7F"/>
                </a:solidFill>
                <a:latin typeface="Poppins" pitchFamily="34" charset="0"/>
                <a:ea typeface="Poppins" pitchFamily="34" charset="-122"/>
                <a:cs typeface="Poppins" pitchFamily="34" charset="-120"/>
              </a:rPr>
              <a:t>She does not open Excel. She does not write a query. Someone built her a product, and it refreshes itself.</a:t>
            </a:r>
            <a:endParaRPr lang="en-US" sz="1600" dirty="0"/>
          </a:p>
        </p:txBody>
      </p:sp>
      <p:sp>
        <p:nvSpPr>
          <p:cNvPr id="22" name="Shape 20"/>
          <p:cNvSpPr/>
          <p:nvPr/>
        </p:nvSpPr>
        <p:spPr>
          <a:xfrm>
            <a:off x="713232" y="6035040"/>
            <a:ext cx="6766560" cy="0"/>
          </a:xfrm>
          <a:prstGeom prst="line">
            <a:avLst/>
          </a:prstGeom>
          <a:noFill/>
          <a:ln w="12700">
            <a:solidFill>
              <a:srgbClr val="E2E8F0"/>
            </a:solidFill>
            <a:prstDash val="solid"/>
          </a:ln>
        </p:spPr>
      </p:sp>
      <p:sp>
        <p:nvSpPr>
          <p:cNvPr id="23" name="Text 21"/>
          <p:cNvSpPr txBox="1"/>
          <p:nvPr/>
        </p:nvSpPr>
        <p:spPr>
          <a:xfrm>
            <a:off x="713232" y="6144768"/>
            <a:ext cx="6766560" cy="457200"/>
          </a:xfrm>
          <a:prstGeom prst="rect">
            <a:avLst/>
          </a:prstGeom>
          <a:noFill/>
          <a:ln/>
        </p:spPr>
        <p:txBody>
          <a:bodyPr wrap="square" lIns="0" tIns="0" rIns="0" bIns="0" rtlCol="0" anchor="ctr"/>
          <a:lstStyle/>
          <a:p>
            <a:pPr indent="0" marL="0">
              <a:lnSpc>
                <a:spcPct val="115000"/>
              </a:lnSpc>
              <a:buNone/>
            </a:pPr>
            <a:r>
              <a:rPr lang="en-US" sz="1100" i="1" dirty="0">
                <a:solidFill>
                  <a:srgbClr val="64748B"/>
                </a:solidFill>
                <a:latin typeface="Poppins" pitchFamily="34" charset="0"/>
                <a:ea typeface="Poppins" pitchFamily="34" charset="-122"/>
                <a:cs typeface="Poppins" pitchFamily="34" charset="-120"/>
              </a:rPr>
              <a:t>SwiftRoute is a composite training scenario built from realistic Nigerian last-mile operations. No real customer data is used.</a:t>
            </a:r>
            <a:endParaRPr lang="en-US" sz="1100" dirty="0"/>
          </a:p>
        </p:txBody>
      </p:sp>
      <p:sp>
        <p:nvSpPr>
          <p:cNvPr id="25" name="Text 22"/>
          <p:cNvSpPr txBox="1"/>
          <p:nvPr/>
        </p:nvSpPr>
        <p:spPr>
          <a:xfrm>
            <a:off x="11689050" y="6473952"/>
            <a:ext cx="365760" cy="274320"/>
          </a:xfrm>
          <a:prstGeom prst="rect">
            <a:avLst/>
          </a:prstGeom>
          <a:noFill/>
          <a:ln/>
        </p:spPr>
        <p:txBody>
          <a:bodyPr wrap="square" lIns="0" tIns="0" rIns="0" bIns="0" rtlCol="0" anchor="ctr"/>
          <a:lstStyle/>
          <a:p>
            <a:pPr algn="r" indent="0" marL="0">
              <a:buNone/>
            </a:pPr>
            <a:r>
              <a:rPr lang="en-US" sz="1100" dirty="0">
                <a:solidFill>
                  <a:srgbClr val="7FA3A3"/>
                </a:solidFill>
                <a:latin typeface="Poppins" pitchFamily="34" charset="0"/>
                <a:ea typeface="Poppins" pitchFamily="34" charset="-122"/>
                <a:cs typeface="Poppins" pitchFamily="34" charset="-120"/>
              </a:rPr>
              <a:t>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1024006" y="1958645"/>
            <a:ext cx="4133088" cy="4038905"/>
          </a:xfrm>
          <a:prstGeom prst="ellipse">
            <a:avLst/>
          </a:prstGeom>
          <a:solidFill>
            <a:srgbClr val="387F7F"/>
          </a:solidFill>
          <a:ln/>
        </p:spPr>
      </p:sp>
      <p:sp>
        <p:nvSpPr>
          <p:cNvPr id="3" name="Shape 1"/>
          <p:cNvSpPr/>
          <p:nvPr/>
        </p:nvSpPr>
        <p:spPr>
          <a:xfrm>
            <a:off x="11316614" y="2675534"/>
            <a:ext cx="1051560" cy="2162556"/>
          </a:xfrm>
          <a:prstGeom prst="ellipse">
            <a:avLst/>
          </a:prstGeom>
          <a:solidFill>
            <a:srgbClr val="387F7F"/>
          </a:solidFill>
          <a:ln/>
        </p:spPr>
      </p:sp>
      <p:sp>
        <p:nvSpPr>
          <p:cNvPr id="4" name="Shape 2"/>
          <p:cNvSpPr/>
          <p:nvPr/>
        </p:nvSpPr>
        <p:spPr>
          <a:xfrm>
            <a:off x="685800" y="548640"/>
            <a:ext cx="68580" cy="420624"/>
          </a:xfrm>
          <a:prstGeom prst="rect">
            <a:avLst/>
          </a:prstGeom>
          <a:solidFill>
            <a:srgbClr val="387F7F"/>
          </a:solidFill>
          <a:ln/>
        </p:spPr>
      </p:sp>
      <p:sp>
        <p:nvSpPr>
          <p:cNvPr id="5" name="Text 3"/>
          <p:cNvSpPr txBox="1"/>
          <p:nvPr/>
        </p:nvSpPr>
        <p:spPr>
          <a:xfrm>
            <a:off x="886968" y="502920"/>
            <a:ext cx="9692640" cy="502920"/>
          </a:xfrm>
          <a:prstGeom prst="rect">
            <a:avLst/>
          </a:prstGeom>
          <a:noFill/>
          <a:ln/>
        </p:spPr>
        <p:txBody>
          <a:bodyPr wrap="square" lIns="0" tIns="0" rIns="0" bIns="0" rtlCol="0" anchor="ctr"/>
          <a:lstStyle/>
          <a:p>
            <a:pPr indent="0" marL="0">
              <a:lnSpc>
                <a:spcPct val="108000"/>
              </a:lnSpc>
              <a:buNone/>
            </a:pPr>
            <a:r>
              <a:rPr lang="en-US" sz="2700" dirty="0">
                <a:solidFill>
                  <a:srgbClr val="387F7F"/>
                </a:solidFill>
                <a:latin typeface="Poppins" pitchFamily="34" charset="0"/>
                <a:ea typeface="Poppins" pitchFamily="34" charset="-122"/>
                <a:cs typeface="Poppins" pitchFamily="34" charset="-120"/>
              </a:rPr>
              <a:t>By the end of this topic, the trainee can…</a:t>
            </a:r>
            <a:endParaRPr lang="en-US" sz="2700" dirty="0"/>
          </a:p>
        </p:txBody>
      </p:sp>
      <p:sp>
        <p:nvSpPr>
          <p:cNvPr id="6" name="Shape 4"/>
          <p:cNvSpPr/>
          <p:nvPr/>
        </p:nvSpPr>
        <p:spPr>
          <a:xfrm>
            <a:off x="685800" y="1737360"/>
            <a:ext cx="3063240" cy="3291840"/>
          </a:xfrm>
          <a:prstGeom prst="roundRect">
            <a:avLst>
              <a:gd name="adj" fmla="val 2985"/>
            </a:avLst>
          </a:prstGeom>
          <a:solidFill>
            <a:srgbClr val="FFFFFF"/>
          </a:solidFill>
          <a:ln/>
          <a:effectLst>
            <a:outerShdw sx="100000" sy="100000" kx="0" ky="0" algn="bl" rotWithShape="0" blurRad="152400" dist="38100" dir="5400000">
              <a:srgbClr val="1B2A2E">
                <a:alpha val="14000"/>
              </a:srgbClr>
            </a:outerShdw>
          </a:effectLst>
        </p:spPr>
      </p:sp>
      <p:sp>
        <p:nvSpPr>
          <p:cNvPr id="7" name="Shape 5"/>
          <p:cNvSpPr/>
          <p:nvPr/>
        </p:nvSpPr>
        <p:spPr>
          <a:xfrm>
            <a:off x="685800" y="1737360"/>
            <a:ext cx="3063240" cy="82296"/>
          </a:xfrm>
          <a:prstGeom prst="rect">
            <a:avLst/>
          </a:prstGeom>
          <a:solidFill>
            <a:srgbClr val="387F7F"/>
          </a:solidFill>
          <a:ln/>
        </p:spPr>
      </p:sp>
      <p:sp>
        <p:nvSpPr>
          <p:cNvPr id="8" name="Shape 6"/>
          <p:cNvSpPr/>
          <p:nvPr/>
        </p:nvSpPr>
        <p:spPr>
          <a:xfrm>
            <a:off x="1869948" y="2194560"/>
            <a:ext cx="694944" cy="694944"/>
          </a:xfrm>
          <a:prstGeom prst="ellipse">
            <a:avLst/>
          </a:prstGeom>
          <a:solidFill>
            <a:srgbClr val="FFFFFF"/>
          </a:solidFill>
          <a:ln w="22225">
            <a:solidFill>
              <a:srgbClr val="387F7F"/>
            </a:solidFill>
            <a:prstDash val="solid"/>
          </a:ln>
        </p:spPr>
      </p:sp>
      <p:sp>
        <p:nvSpPr>
          <p:cNvPr id="9" name="Text 7"/>
          <p:cNvSpPr txBox="1"/>
          <p:nvPr/>
        </p:nvSpPr>
        <p:spPr>
          <a:xfrm>
            <a:off x="1869948" y="2194560"/>
            <a:ext cx="694944" cy="694944"/>
          </a:xfrm>
          <a:prstGeom prst="rect">
            <a:avLst/>
          </a:prstGeom>
          <a:noFill/>
          <a:ln/>
        </p:spPr>
        <p:txBody>
          <a:bodyPr wrap="square" lIns="0" tIns="0" rIns="0" bIns="0" rtlCol="0" anchor="ctr"/>
          <a:lstStyle/>
          <a:p>
            <a:pPr algn="ctr" indent="0" marL="0">
              <a:buNone/>
            </a:pPr>
            <a:r>
              <a:rPr lang="en-US" sz="2500" b="1" dirty="0">
                <a:solidFill>
                  <a:srgbClr val="387F7F"/>
                </a:solidFill>
                <a:latin typeface="Poppins" pitchFamily="34" charset="0"/>
                <a:ea typeface="Poppins" pitchFamily="34" charset="-122"/>
                <a:cs typeface="Poppins" pitchFamily="34" charset="-120"/>
              </a:rPr>
              <a:t>▣</a:t>
            </a:r>
            <a:endParaRPr lang="en-US" sz="2500" dirty="0"/>
          </a:p>
        </p:txBody>
      </p:sp>
      <p:sp>
        <p:nvSpPr>
          <p:cNvPr id="10" name="Text 8"/>
          <p:cNvSpPr txBox="1"/>
          <p:nvPr/>
        </p:nvSpPr>
        <p:spPr>
          <a:xfrm>
            <a:off x="685800" y="3063240"/>
            <a:ext cx="3063240" cy="457200"/>
          </a:xfrm>
          <a:prstGeom prst="rect">
            <a:avLst/>
          </a:prstGeom>
          <a:noFill/>
          <a:ln/>
        </p:spPr>
        <p:txBody>
          <a:bodyPr wrap="square" lIns="0" tIns="0" rIns="0" bIns="0" rtlCol="0" anchor="ctr"/>
          <a:lstStyle/>
          <a:p>
            <a:pPr algn="ctr" indent="0" marL="0">
              <a:buNone/>
            </a:pPr>
            <a:r>
              <a:rPr lang="en-US" sz="2200" b="1" dirty="0">
                <a:solidFill>
                  <a:srgbClr val="387F7F"/>
                </a:solidFill>
                <a:latin typeface="Poppins" pitchFamily="34" charset="0"/>
                <a:ea typeface="Poppins" pitchFamily="34" charset="-122"/>
                <a:cs typeface="Poppins" pitchFamily="34" charset="-120"/>
              </a:rPr>
              <a:t>Navigate</a:t>
            </a:r>
            <a:endParaRPr lang="en-US" sz="2200" dirty="0"/>
          </a:p>
        </p:txBody>
      </p:sp>
      <p:sp>
        <p:nvSpPr>
          <p:cNvPr id="11" name="Text 9"/>
          <p:cNvSpPr txBox="1"/>
          <p:nvPr/>
        </p:nvSpPr>
        <p:spPr>
          <a:xfrm>
            <a:off x="960120" y="3611880"/>
            <a:ext cx="2514600" cy="1280160"/>
          </a:xfrm>
          <a:prstGeom prst="rect">
            <a:avLst/>
          </a:prstGeom>
          <a:noFill/>
          <a:ln/>
        </p:spPr>
        <p:txBody>
          <a:bodyPr wrap="square" lIns="0" tIns="0" rIns="0" bIns="0" rtlCol="0" anchor="t"/>
          <a:lstStyle/>
          <a:p>
            <a:pPr algn="ctr" indent="0" marL="0">
              <a:lnSpc>
                <a:spcPct val="130000"/>
              </a:lnSpc>
              <a:buNone/>
            </a:pPr>
            <a:r>
              <a:rPr lang="en-US" sz="1350" dirty="0">
                <a:solidFill>
                  <a:srgbClr val="475569"/>
                </a:solidFill>
                <a:latin typeface="Poppins" pitchFamily="34" charset="0"/>
                <a:ea typeface="Poppins" pitchFamily="34" charset="-122"/>
                <a:cs typeface="Poppins" pitchFamily="34" charset="-120"/>
              </a:rPr>
              <a:t>the Power BI Desktop environment and name what each of the four views is for.</a:t>
            </a:r>
            <a:endParaRPr lang="en-US" sz="1350" dirty="0"/>
          </a:p>
        </p:txBody>
      </p:sp>
      <p:sp>
        <p:nvSpPr>
          <p:cNvPr id="12" name="Shape 10"/>
          <p:cNvSpPr/>
          <p:nvPr/>
        </p:nvSpPr>
        <p:spPr>
          <a:xfrm>
            <a:off x="4005072" y="1737360"/>
            <a:ext cx="3063240" cy="3291840"/>
          </a:xfrm>
          <a:prstGeom prst="roundRect">
            <a:avLst>
              <a:gd name="adj" fmla="val 2985"/>
            </a:avLst>
          </a:prstGeom>
          <a:solidFill>
            <a:srgbClr val="FFFFFF"/>
          </a:solidFill>
          <a:ln/>
          <a:effectLst>
            <a:outerShdw sx="100000" sy="100000" kx="0" ky="0" algn="bl" rotWithShape="0" blurRad="152400" dist="38100" dir="5400000">
              <a:srgbClr val="1B2A2E">
                <a:alpha val="14000"/>
              </a:srgbClr>
            </a:outerShdw>
          </a:effectLst>
        </p:spPr>
      </p:sp>
      <p:sp>
        <p:nvSpPr>
          <p:cNvPr id="13" name="Shape 11"/>
          <p:cNvSpPr/>
          <p:nvPr/>
        </p:nvSpPr>
        <p:spPr>
          <a:xfrm>
            <a:off x="4005072" y="1737360"/>
            <a:ext cx="3063240" cy="82296"/>
          </a:xfrm>
          <a:prstGeom prst="rect">
            <a:avLst/>
          </a:prstGeom>
          <a:solidFill>
            <a:srgbClr val="387F7F"/>
          </a:solidFill>
          <a:ln/>
        </p:spPr>
      </p:sp>
      <p:sp>
        <p:nvSpPr>
          <p:cNvPr id="14" name="Shape 12"/>
          <p:cNvSpPr/>
          <p:nvPr/>
        </p:nvSpPr>
        <p:spPr>
          <a:xfrm>
            <a:off x="5189220" y="2194560"/>
            <a:ext cx="694944" cy="694944"/>
          </a:xfrm>
          <a:prstGeom prst="ellipse">
            <a:avLst/>
          </a:prstGeom>
          <a:solidFill>
            <a:srgbClr val="FFFFFF"/>
          </a:solidFill>
          <a:ln w="22225">
            <a:solidFill>
              <a:srgbClr val="387F7F"/>
            </a:solidFill>
            <a:prstDash val="solid"/>
          </a:ln>
        </p:spPr>
      </p:sp>
      <p:sp>
        <p:nvSpPr>
          <p:cNvPr id="15" name="Text 13"/>
          <p:cNvSpPr txBox="1"/>
          <p:nvPr/>
        </p:nvSpPr>
        <p:spPr>
          <a:xfrm>
            <a:off x="5189220" y="2194560"/>
            <a:ext cx="694944" cy="694944"/>
          </a:xfrm>
          <a:prstGeom prst="rect">
            <a:avLst/>
          </a:prstGeom>
          <a:noFill/>
          <a:ln/>
        </p:spPr>
        <p:txBody>
          <a:bodyPr wrap="square" lIns="0" tIns="0" rIns="0" bIns="0" rtlCol="0" anchor="ctr"/>
          <a:lstStyle/>
          <a:p>
            <a:pPr algn="ctr" indent="0" marL="0">
              <a:buNone/>
            </a:pPr>
            <a:r>
              <a:rPr lang="en-US" sz="2500" b="1" dirty="0">
                <a:solidFill>
                  <a:srgbClr val="387F7F"/>
                </a:solidFill>
                <a:latin typeface="Poppins" pitchFamily="34" charset="0"/>
                <a:ea typeface="Poppins" pitchFamily="34" charset="-122"/>
                <a:cs typeface="Poppins" pitchFamily="34" charset="-120"/>
              </a:rPr>
              <a:t>↓</a:t>
            </a:r>
            <a:endParaRPr lang="en-US" sz="2500" dirty="0"/>
          </a:p>
        </p:txBody>
      </p:sp>
      <p:sp>
        <p:nvSpPr>
          <p:cNvPr id="16" name="Text 14"/>
          <p:cNvSpPr txBox="1"/>
          <p:nvPr/>
        </p:nvSpPr>
        <p:spPr>
          <a:xfrm>
            <a:off x="4005072" y="3063240"/>
            <a:ext cx="3063240" cy="457200"/>
          </a:xfrm>
          <a:prstGeom prst="rect">
            <a:avLst/>
          </a:prstGeom>
          <a:noFill/>
          <a:ln/>
        </p:spPr>
        <p:txBody>
          <a:bodyPr wrap="square" lIns="0" tIns="0" rIns="0" bIns="0" rtlCol="0" anchor="ctr"/>
          <a:lstStyle/>
          <a:p>
            <a:pPr algn="ctr" indent="0" marL="0">
              <a:buNone/>
            </a:pPr>
            <a:r>
              <a:rPr lang="en-US" sz="2200" b="1" dirty="0">
                <a:solidFill>
                  <a:srgbClr val="387F7F"/>
                </a:solidFill>
                <a:latin typeface="Poppins" pitchFamily="34" charset="0"/>
                <a:ea typeface="Poppins" pitchFamily="34" charset="-122"/>
                <a:cs typeface="Poppins" pitchFamily="34" charset="-120"/>
              </a:rPr>
              <a:t>Load</a:t>
            </a:r>
            <a:endParaRPr lang="en-US" sz="2200" dirty="0"/>
          </a:p>
        </p:txBody>
      </p:sp>
      <p:sp>
        <p:nvSpPr>
          <p:cNvPr id="17" name="Text 15"/>
          <p:cNvSpPr txBox="1"/>
          <p:nvPr/>
        </p:nvSpPr>
        <p:spPr>
          <a:xfrm>
            <a:off x="4279392" y="3611880"/>
            <a:ext cx="2514600" cy="1280160"/>
          </a:xfrm>
          <a:prstGeom prst="rect">
            <a:avLst/>
          </a:prstGeom>
          <a:noFill/>
          <a:ln/>
        </p:spPr>
        <p:txBody>
          <a:bodyPr wrap="square" lIns="0" tIns="0" rIns="0" bIns="0" rtlCol="0" anchor="t"/>
          <a:lstStyle/>
          <a:p>
            <a:pPr algn="ctr" indent="0" marL="0">
              <a:lnSpc>
                <a:spcPct val="130000"/>
              </a:lnSpc>
              <a:buNone/>
            </a:pPr>
            <a:r>
              <a:rPr lang="en-US" sz="1350" dirty="0">
                <a:solidFill>
                  <a:srgbClr val="475569"/>
                </a:solidFill>
                <a:latin typeface="Poppins" pitchFamily="34" charset="0"/>
                <a:ea typeface="Poppins" pitchFamily="34" charset="-122"/>
                <a:cs typeface="Poppins" pitchFamily="34" charset="-120"/>
              </a:rPr>
              <a:t>the SwiftRoute data through Power Query and apply transformations that survive a refresh.</a:t>
            </a:r>
            <a:endParaRPr lang="en-US" sz="1350" dirty="0"/>
          </a:p>
        </p:txBody>
      </p:sp>
      <p:sp>
        <p:nvSpPr>
          <p:cNvPr id="18" name="Shape 16"/>
          <p:cNvSpPr/>
          <p:nvPr/>
        </p:nvSpPr>
        <p:spPr>
          <a:xfrm>
            <a:off x="7324344" y="1737360"/>
            <a:ext cx="3063240" cy="3291840"/>
          </a:xfrm>
          <a:prstGeom prst="roundRect">
            <a:avLst>
              <a:gd name="adj" fmla="val 2985"/>
            </a:avLst>
          </a:prstGeom>
          <a:solidFill>
            <a:srgbClr val="FFFFFF"/>
          </a:solidFill>
          <a:ln/>
          <a:effectLst>
            <a:outerShdw sx="100000" sy="100000" kx="0" ky="0" algn="bl" rotWithShape="0" blurRad="152400" dist="38100" dir="5400000">
              <a:srgbClr val="1B2A2E">
                <a:alpha val="14000"/>
              </a:srgbClr>
            </a:outerShdw>
          </a:effectLst>
        </p:spPr>
      </p:sp>
      <p:sp>
        <p:nvSpPr>
          <p:cNvPr id="19" name="Shape 17"/>
          <p:cNvSpPr/>
          <p:nvPr/>
        </p:nvSpPr>
        <p:spPr>
          <a:xfrm>
            <a:off x="7324344" y="1737360"/>
            <a:ext cx="3063240" cy="82296"/>
          </a:xfrm>
          <a:prstGeom prst="rect">
            <a:avLst/>
          </a:prstGeom>
          <a:solidFill>
            <a:srgbClr val="387F7F"/>
          </a:solidFill>
          <a:ln/>
        </p:spPr>
      </p:sp>
      <p:sp>
        <p:nvSpPr>
          <p:cNvPr id="20" name="Shape 18"/>
          <p:cNvSpPr/>
          <p:nvPr/>
        </p:nvSpPr>
        <p:spPr>
          <a:xfrm>
            <a:off x="8508492" y="2194560"/>
            <a:ext cx="694944" cy="694944"/>
          </a:xfrm>
          <a:prstGeom prst="ellipse">
            <a:avLst/>
          </a:prstGeom>
          <a:solidFill>
            <a:srgbClr val="FFFFFF"/>
          </a:solidFill>
          <a:ln w="22225">
            <a:solidFill>
              <a:srgbClr val="387F7F"/>
            </a:solidFill>
            <a:prstDash val="solid"/>
          </a:ln>
        </p:spPr>
      </p:sp>
      <p:sp>
        <p:nvSpPr>
          <p:cNvPr id="21" name="Text 19"/>
          <p:cNvSpPr txBox="1"/>
          <p:nvPr/>
        </p:nvSpPr>
        <p:spPr>
          <a:xfrm>
            <a:off x="8508492" y="2194560"/>
            <a:ext cx="694944" cy="694944"/>
          </a:xfrm>
          <a:prstGeom prst="rect">
            <a:avLst/>
          </a:prstGeom>
          <a:noFill/>
          <a:ln/>
        </p:spPr>
        <p:txBody>
          <a:bodyPr wrap="square" lIns="0" tIns="0" rIns="0" bIns="0" rtlCol="0" anchor="ctr"/>
          <a:lstStyle/>
          <a:p>
            <a:pPr algn="ctr" indent="0" marL="0">
              <a:buNone/>
            </a:pPr>
            <a:r>
              <a:rPr lang="en-US" sz="2500" b="1" dirty="0">
                <a:solidFill>
                  <a:srgbClr val="387F7F"/>
                </a:solidFill>
                <a:latin typeface="Poppins" pitchFamily="34" charset="0"/>
                <a:ea typeface="Poppins" pitchFamily="34" charset="-122"/>
                <a:cs typeface="Poppins" pitchFamily="34" charset="-120"/>
              </a:rPr>
              <a:t>⇄</a:t>
            </a:r>
            <a:endParaRPr lang="en-US" sz="2500" dirty="0"/>
          </a:p>
        </p:txBody>
      </p:sp>
      <p:sp>
        <p:nvSpPr>
          <p:cNvPr id="22" name="Text 20"/>
          <p:cNvSpPr txBox="1"/>
          <p:nvPr/>
        </p:nvSpPr>
        <p:spPr>
          <a:xfrm>
            <a:off x="7324344" y="3063240"/>
            <a:ext cx="3063240" cy="457200"/>
          </a:xfrm>
          <a:prstGeom prst="rect">
            <a:avLst/>
          </a:prstGeom>
          <a:noFill/>
          <a:ln/>
        </p:spPr>
        <p:txBody>
          <a:bodyPr wrap="square" lIns="0" tIns="0" rIns="0" bIns="0" rtlCol="0" anchor="ctr"/>
          <a:lstStyle/>
          <a:p>
            <a:pPr algn="ctr" indent="0" marL="0">
              <a:buNone/>
            </a:pPr>
            <a:r>
              <a:rPr lang="en-US" sz="2200" b="1" dirty="0">
                <a:solidFill>
                  <a:srgbClr val="387F7F"/>
                </a:solidFill>
                <a:latin typeface="Poppins" pitchFamily="34" charset="0"/>
                <a:ea typeface="Poppins" pitchFamily="34" charset="-122"/>
                <a:cs typeface="Poppins" pitchFamily="34" charset="-120"/>
              </a:rPr>
              <a:t>Explain</a:t>
            </a:r>
            <a:endParaRPr lang="en-US" sz="2200" dirty="0"/>
          </a:p>
        </p:txBody>
      </p:sp>
      <p:sp>
        <p:nvSpPr>
          <p:cNvPr id="23" name="Text 21"/>
          <p:cNvSpPr txBox="1"/>
          <p:nvPr/>
        </p:nvSpPr>
        <p:spPr>
          <a:xfrm>
            <a:off x="7598664" y="3611880"/>
            <a:ext cx="2514600" cy="1280160"/>
          </a:xfrm>
          <a:prstGeom prst="rect">
            <a:avLst/>
          </a:prstGeom>
          <a:noFill/>
          <a:ln/>
        </p:spPr>
        <p:txBody>
          <a:bodyPr wrap="square" lIns="0" tIns="0" rIns="0" bIns="0" rtlCol="0" anchor="t"/>
          <a:lstStyle/>
          <a:p>
            <a:pPr algn="ctr" indent="0" marL="0">
              <a:lnSpc>
                <a:spcPct val="130000"/>
              </a:lnSpc>
              <a:buNone/>
            </a:pPr>
            <a:r>
              <a:rPr lang="en-US" sz="1350" dirty="0">
                <a:solidFill>
                  <a:srgbClr val="475569"/>
                </a:solidFill>
                <a:latin typeface="Poppins" pitchFamily="34" charset="0"/>
                <a:ea typeface="Poppins" pitchFamily="34" charset="-122"/>
                <a:cs typeface="Poppins" pitchFamily="34" charset="-120"/>
              </a:rPr>
              <a:t>how Power BI's pipeline mirrors the Excel and SQL workflows already learned.</a:t>
            </a:r>
            <a:endParaRPr lang="en-US" sz="1350" dirty="0"/>
          </a:p>
        </p:txBody>
      </p:sp>
      <p:pic>
        <p:nvPicPr>
          <p:cNvPr id="24" name="Image 0" descr="/home/claude/build/assets/logo_full.png">    </p:cNvPr>
          <p:cNvPicPr>
            <a:picLocks noChangeAspect="1"/>
          </p:cNvPicPr>
          <p:nvPr/>
        </p:nvPicPr>
        <p:blipFill>
          <a:blip r:embed="rId2"/>
          <a:stretch>
            <a:fillRect/>
          </a:stretch>
        </p:blipFill>
        <p:spPr>
          <a:xfrm>
            <a:off x="10998403" y="5949086"/>
            <a:ext cx="431597" cy="375337"/>
          </a:xfrm>
          <a:prstGeom prst="rect">
            <a:avLst/>
          </a:prstGeom>
        </p:spPr>
      </p:pic>
      <p:sp>
        <p:nvSpPr>
          <p:cNvPr id="25" name="Text 22"/>
          <p:cNvSpPr txBox="1"/>
          <p:nvPr/>
        </p:nvSpPr>
        <p:spPr>
          <a:xfrm>
            <a:off x="11689050" y="6473952"/>
            <a:ext cx="365760" cy="274320"/>
          </a:xfrm>
          <a:prstGeom prst="rect">
            <a:avLst/>
          </a:prstGeom>
          <a:noFill/>
          <a:ln/>
        </p:spPr>
        <p:txBody>
          <a:bodyPr wrap="square" lIns="0" tIns="0" rIns="0" bIns="0" rtlCol="0" anchor="ctr"/>
          <a:lstStyle/>
          <a:p>
            <a:pPr algn="r" indent="0" marL="0">
              <a:buNone/>
            </a:pPr>
            <a:r>
              <a:rPr lang="en-US" sz="1100" dirty="0">
                <a:solidFill>
                  <a:srgbClr val="64748B"/>
                </a:solidFill>
                <a:latin typeface="Poppins" pitchFamily="34" charset="0"/>
                <a:ea typeface="Poppins" pitchFamily="34" charset="-122"/>
                <a:cs typeface="Poppins" pitchFamily="34" charset="-120"/>
              </a:rPr>
              <a:t>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970" cy="6858000"/>
          </a:xfrm>
          <a:prstGeom prst="rect">
            <a:avLst/>
          </a:prstGeom>
          <a:solidFill>
            <a:srgbClr val="20494A"/>
          </a:solidFill>
          <a:ln/>
        </p:spPr>
      </p:sp>
      <p:sp>
        <p:nvSpPr>
          <p:cNvPr id="3" name="Shape 1"/>
          <p:cNvSpPr/>
          <p:nvPr/>
        </p:nvSpPr>
        <p:spPr>
          <a:xfrm>
            <a:off x="7680960" y="-2926080"/>
            <a:ext cx="8595360" cy="8595360"/>
          </a:xfrm>
          <a:prstGeom prst="ellipse">
            <a:avLst/>
          </a:prstGeom>
          <a:solidFill>
            <a:srgbClr val="1B4041"/>
          </a:solidFill>
          <a:ln/>
        </p:spPr>
      </p:sp>
      <p:sp>
        <p:nvSpPr>
          <p:cNvPr id="4" name="Shape 2"/>
          <p:cNvSpPr/>
          <p:nvPr/>
        </p:nvSpPr>
        <p:spPr>
          <a:xfrm>
            <a:off x="9326880" y="2834640"/>
            <a:ext cx="5669280" cy="5669280"/>
          </a:xfrm>
          <a:prstGeom prst="ellipse">
            <a:avLst/>
          </a:prstGeom>
          <a:solidFill>
            <a:srgbClr val="387F7F"/>
          </a:solidFill>
          <a:ln/>
        </p:spPr>
      </p:sp>
      <p:sp>
        <p:nvSpPr>
          <p:cNvPr id="5" name="Text 3"/>
          <p:cNvSpPr txBox="1"/>
          <p:nvPr/>
        </p:nvSpPr>
        <p:spPr>
          <a:xfrm>
            <a:off x="566928" y="320040"/>
            <a:ext cx="2926080" cy="1920240"/>
          </a:xfrm>
          <a:prstGeom prst="rect">
            <a:avLst/>
          </a:prstGeom>
          <a:noFill/>
          <a:ln/>
        </p:spPr>
        <p:txBody>
          <a:bodyPr wrap="square" lIns="0" tIns="0" rIns="0" bIns="0" rtlCol="0" anchor="ctr"/>
          <a:lstStyle/>
          <a:p>
            <a:pPr indent="0" marL="0">
              <a:buNone/>
            </a:pPr>
            <a:r>
              <a:rPr lang="en-US" sz="13000" b="1" dirty="0">
                <a:solidFill>
                  <a:srgbClr val="2F6364"/>
                </a:solidFill>
                <a:latin typeface="Poppins" pitchFamily="34" charset="0"/>
                <a:ea typeface="Poppins" pitchFamily="34" charset="-122"/>
                <a:cs typeface="Poppins" pitchFamily="34" charset="-120"/>
              </a:rPr>
              <a:t>01</a:t>
            </a:r>
            <a:endParaRPr lang="en-US" sz="13000" dirty="0"/>
          </a:p>
        </p:txBody>
      </p:sp>
      <p:sp>
        <p:nvSpPr>
          <p:cNvPr id="6" name="Text 4"/>
          <p:cNvSpPr txBox="1"/>
          <p:nvPr/>
        </p:nvSpPr>
        <p:spPr>
          <a:xfrm>
            <a:off x="713232" y="2487168"/>
            <a:ext cx="6766560" cy="310896"/>
          </a:xfrm>
          <a:prstGeom prst="rect">
            <a:avLst/>
          </a:prstGeom>
          <a:noFill/>
          <a:ln/>
        </p:spPr>
        <p:txBody>
          <a:bodyPr wrap="square" lIns="0" tIns="0" rIns="0" bIns="0" rtlCol="0" anchor="ctr"/>
          <a:lstStyle/>
          <a:p>
            <a:pPr indent="0" marL="0">
              <a:buNone/>
            </a:pPr>
            <a:r>
              <a:rPr lang="en-US" sz="1300" b="1" spc="250" kern="0" dirty="0">
                <a:solidFill>
                  <a:srgbClr val="8FBEBE"/>
                </a:solidFill>
                <a:latin typeface="Poppins" pitchFamily="34" charset="0"/>
                <a:ea typeface="Poppins" pitchFamily="34" charset="-122"/>
                <a:cs typeface="Poppins" pitchFamily="34" charset="-120"/>
              </a:rPr>
              <a:t>PART ONE</a:t>
            </a:r>
            <a:endParaRPr lang="en-US" sz="1300" dirty="0"/>
          </a:p>
        </p:txBody>
      </p:sp>
      <p:sp>
        <p:nvSpPr>
          <p:cNvPr id="7" name="Shape 5"/>
          <p:cNvSpPr/>
          <p:nvPr/>
        </p:nvSpPr>
        <p:spPr>
          <a:xfrm>
            <a:off x="713232" y="2907792"/>
            <a:ext cx="1234440" cy="77724"/>
          </a:xfrm>
          <a:prstGeom prst="rect">
            <a:avLst/>
          </a:prstGeom>
          <a:solidFill>
            <a:srgbClr val="387F7F"/>
          </a:solidFill>
          <a:ln/>
        </p:spPr>
      </p:sp>
      <p:sp>
        <p:nvSpPr>
          <p:cNvPr id="8" name="Text 6"/>
          <p:cNvSpPr txBox="1"/>
          <p:nvPr/>
        </p:nvSpPr>
        <p:spPr>
          <a:xfrm>
            <a:off x="713232" y="3154680"/>
            <a:ext cx="7406640" cy="1463040"/>
          </a:xfrm>
          <a:prstGeom prst="rect">
            <a:avLst/>
          </a:prstGeom>
          <a:noFill/>
          <a:ln/>
        </p:spPr>
        <p:txBody>
          <a:bodyPr wrap="square" lIns="0" tIns="0" rIns="0" bIns="0" rtlCol="0" anchor="ctr"/>
          <a:lstStyle/>
          <a:p>
            <a:pPr indent="0" marL="0">
              <a:lnSpc>
                <a:spcPct val="108000"/>
              </a:lnSpc>
              <a:buNone/>
            </a:pPr>
            <a:r>
              <a:rPr lang="en-US" sz="3600" b="1" dirty="0">
                <a:solidFill>
                  <a:srgbClr val="FFFFFF"/>
                </a:solidFill>
                <a:latin typeface="Poppins" pitchFamily="34" charset="0"/>
                <a:ea typeface="Poppins" pitchFamily="34" charset="-122"/>
                <a:cs typeface="Poppins" pitchFamily="34" charset="-120"/>
              </a:rPr>
              <a:t>What Power BI actually is</a:t>
            </a:r>
            <a:endParaRPr lang="en-US" sz="3600" dirty="0"/>
          </a:p>
        </p:txBody>
      </p:sp>
      <p:sp>
        <p:nvSpPr>
          <p:cNvPr id="9" name="Shape 7"/>
          <p:cNvSpPr/>
          <p:nvPr/>
        </p:nvSpPr>
        <p:spPr>
          <a:xfrm>
            <a:off x="749808" y="4933188"/>
            <a:ext cx="146304" cy="146304"/>
          </a:xfrm>
          <a:prstGeom prst="ellipse">
            <a:avLst/>
          </a:prstGeom>
          <a:solidFill>
            <a:srgbClr val="387F7F"/>
          </a:solidFill>
          <a:ln/>
        </p:spPr>
      </p:sp>
      <p:sp>
        <p:nvSpPr>
          <p:cNvPr id="10" name="Text 8"/>
          <p:cNvSpPr txBox="1"/>
          <p:nvPr/>
        </p:nvSpPr>
        <p:spPr>
          <a:xfrm>
            <a:off x="1097280" y="4855464"/>
            <a:ext cx="6583680" cy="310896"/>
          </a:xfrm>
          <a:prstGeom prst="rect">
            <a:avLst/>
          </a:prstGeom>
          <a:noFill/>
          <a:ln/>
        </p:spPr>
        <p:txBody>
          <a:bodyPr wrap="square" lIns="0" tIns="0" rIns="0" bIns="0" rtlCol="0" anchor="ctr"/>
          <a:lstStyle/>
          <a:p>
            <a:pPr indent="0" marL="0">
              <a:buNone/>
            </a:pPr>
            <a:r>
              <a:rPr lang="en-US" sz="1350" dirty="0">
                <a:solidFill>
                  <a:srgbClr val="C3DAD9"/>
                </a:solidFill>
                <a:latin typeface="Poppins" pitchFamily="34" charset="0"/>
                <a:ea typeface="Poppins" pitchFamily="34" charset="-122"/>
                <a:cs typeface="Poppins" pitchFamily="34" charset="-120"/>
              </a:rPr>
              <a:t>Recognise the three stages you already know</a:t>
            </a:r>
            <a:endParaRPr lang="en-US" sz="1350" dirty="0"/>
          </a:p>
        </p:txBody>
      </p:sp>
      <p:sp>
        <p:nvSpPr>
          <p:cNvPr id="11" name="Shape 9"/>
          <p:cNvSpPr/>
          <p:nvPr/>
        </p:nvSpPr>
        <p:spPr>
          <a:xfrm>
            <a:off x="749808" y="5317236"/>
            <a:ext cx="146304" cy="146304"/>
          </a:xfrm>
          <a:prstGeom prst="ellipse">
            <a:avLst/>
          </a:prstGeom>
          <a:solidFill>
            <a:srgbClr val="387F7F"/>
          </a:solidFill>
          <a:ln/>
        </p:spPr>
      </p:sp>
      <p:sp>
        <p:nvSpPr>
          <p:cNvPr id="12" name="Text 10"/>
          <p:cNvSpPr txBox="1"/>
          <p:nvPr/>
        </p:nvSpPr>
        <p:spPr>
          <a:xfrm>
            <a:off x="1097280" y="5239512"/>
            <a:ext cx="6583680" cy="310896"/>
          </a:xfrm>
          <a:prstGeom prst="rect">
            <a:avLst/>
          </a:prstGeom>
          <a:noFill/>
          <a:ln/>
        </p:spPr>
        <p:txBody>
          <a:bodyPr wrap="square" lIns="0" tIns="0" rIns="0" bIns="0" rtlCol="0" anchor="ctr"/>
          <a:lstStyle/>
          <a:p>
            <a:pPr indent="0" marL="0">
              <a:buNone/>
            </a:pPr>
            <a:r>
              <a:rPr lang="en-US" sz="1350" dirty="0">
                <a:solidFill>
                  <a:srgbClr val="C3DAD9"/>
                </a:solidFill>
                <a:latin typeface="Poppins" pitchFamily="34" charset="0"/>
                <a:ea typeface="Poppins" pitchFamily="34" charset="-122"/>
                <a:cs typeface="Poppins" pitchFamily="34" charset="-120"/>
              </a:rPr>
              <a:t>See why BI is a product, not a one-off analysis</a:t>
            </a:r>
            <a:endParaRPr lang="en-US" sz="1350" dirty="0"/>
          </a:p>
        </p:txBody>
      </p:sp>
      <p:sp>
        <p:nvSpPr>
          <p:cNvPr id="13" name="Shape 11"/>
          <p:cNvSpPr/>
          <p:nvPr/>
        </p:nvSpPr>
        <p:spPr>
          <a:xfrm>
            <a:off x="749808" y="5701284"/>
            <a:ext cx="146304" cy="146304"/>
          </a:xfrm>
          <a:prstGeom prst="ellipse">
            <a:avLst/>
          </a:prstGeom>
          <a:solidFill>
            <a:srgbClr val="387F7F"/>
          </a:solidFill>
          <a:ln/>
        </p:spPr>
      </p:sp>
      <p:sp>
        <p:nvSpPr>
          <p:cNvPr id="14" name="Text 12"/>
          <p:cNvSpPr txBox="1"/>
          <p:nvPr/>
        </p:nvSpPr>
        <p:spPr>
          <a:xfrm>
            <a:off x="1097280" y="5623560"/>
            <a:ext cx="6583680" cy="310896"/>
          </a:xfrm>
          <a:prstGeom prst="rect">
            <a:avLst/>
          </a:prstGeom>
          <a:noFill/>
          <a:ln/>
        </p:spPr>
        <p:txBody>
          <a:bodyPr wrap="square" lIns="0" tIns="0" rIns="0" bIns="0" rtlCol="0" anchor="ctr"/>
          <a:lstStyle/>
          <a:p>
            <a:pPr indent="0" marL="0">
              <a:buNone/>
            </a:pPr>
            <a:r>
              <a:rPr lang="en-US" sz="1350" dirty="0">
                <a:solidFill>
                  <a:srgbClr val="C3DAD9"/>
                </a:solidFill>
                <a:latin typeface="Poppins" pitchFamily="34" charset="0"/>
                <a:ea typeface="Poppins" pitchFamily="34" charset="-122"/>
                <a:cs typeface="Poppins" pitchFamily="34" charset="-120"/>
              </a:rPr>
              <a:t>Learn the load order that saves you an hour</a:t>
            </a:r>
            <a:endParaRPr lang="en-US" sz="1350" dirty="0"/>
          </a:p>
        </p:txBody>
      </p:sp>
      <p:sp>
        <p:nvSpPr>
          <p:cNvPr id="15" name="Text 13"/>
          <p:cNvSpPr txBox="1"/>
          <p:nvPr/>
        </p:nvSpPr>
        <p:spPr>
          <a:xfrm>
            <a:off x="11689050" y="6473952"/>
            <a:ext cx="365760" cy="274320"/>
          </a:xfrm>
          <a:prstGeom prst="rect">
            <a:avLst/>
          </a:prstGeom>
          <a:noFill/>
          <a:ln/>
        </p:spPr>
        <p:txBody>
          <a:bodyPr wrap="square" lIns="0" tIns="0" rIns="0" bIns="0" rtlCol="0" anchor="ctr"/>
          <a:lstStyle/>
          <a:p>
            <a:pPr algn="r" indent="0" marL="0">
              <a:buNone/>
            </a:pPr>
            <a:r>
              <a:rPr lang="en-US" sz="1100" dirty="0">
                <a:solidFill>
                  <a:srgbClr val="7FA3A3"/>
                </a:solidFill>
                <a:latin typeface="Poppins" pitchFamily="34" charset="0"/>
                <a:ea typeface="Poppins" pitchFamily="34" charset="-122"/>
                <a:cs typeface="Poppins" pitchFamily="34" charset="-120"/>
              </a:rPr>
              <a:t>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1024006" y="1958645"/>
            <a:ext cx="4133088" cy="4038905"/>
          </a:xfrm>
          <a:prstGeom prst="ellipse">
            <a:avLst/>
          </a:prstGeom>
          <a:solidFill>
            <a:srgbClr val="387F7F"/>
          </a:solidFill>
          <a:ln/>
        </p:spPr>
      </p:sp>
      <p:sp>
        <p:nvSpPr>
          <p:cNvPr id="3" name="Shape 1"/>
          <p:cNvSpPr/>
          <p:nvPr/>
        </p:nvSpPr>
        <p:spPr>
          <a:xfrm>
            <a:off x="11316614" y="2675534"/>
            <a:ext cx="1051560" cy="2162556"/>
          </a:xfrm>
          <a:prstGeom prst="ellipse">
            <a:avLst/>
          </a:prstGeom>
          <a:solidFill>
            <a:srgbClr val="387F7F"/>
          </a:solidFill>
          <a:ln/>
        </p:spPr>
      </p:sp>
      <p:sp>
        <p:nvSpPr>
          <p:cNvPr id="4" name="Shape 2"/>
          <p:cNvSpPr/>
          <p:nvPr/>
        </p:nvSpPr>
        <p:spPr>
          <a:xfrm>
            <a:off x="685800" y="548640"/>
            <a:ext cx="68580" cy="420624"/>
          </a:xfrm>
          <a:prstGeom prst="rect">
            <a:avLst/>
          </a:prstGeom>
          <a:solidFill>
            <a:srgbClr val="387F7F"/>
          </a:solidFill>
          <a:ln/>
        </p:spPr>
      </p:sp>
      <p:sp>
        <p:nvSpPr>
          <p:cNvPr id="5" name="Text 3"/>
          <p:cNvSpPr txBox="1"/>
          <p:nvPr/>
        </p:nvSpPr>
        <p:spPr>
          <a:xfrm>
            <a:off x="886968" y="502920"/>
            <a:ext cx="9692640" cy="502920"/>
          </a:xfrm>
          <a:prstGeom prst="rect">
            <a:avLst/>
          </a:prstGeom>
          <a:noFill/>
          <a:ln/>
        </p:spPr>
        <p:txBody>
          <a:bodyPr wrap="square" lIns="0" tIns="0" rIns="0" bIns="0" rtlCol="0" anchor="ctr"/>
          <a:lstStyle/>
          <a:p>
            <a:pPr indent="0" marL="0">
              <a:lnSpc>
                <a:spcPct val="108000"/>
              </a:lnSpc>
              <a:buNone/>
            </a:pPr>
            <a:r>
              <a:rPr lang="en-US" sz="2700" dirty="0">
                <a:solidFill>
                  <a:srgbClr val="387F7F"/>
                </a:solidFill>
                <a:latin typeface="Poppins" pitchFamily="34" charset="0"/>
                <a:ea typeface="Poppins" pitchFamily="34" charset="-122"/>
                <a:cs typeface="Poppins" pitchFamily="34" charset="-120"/>
              </a:rPr>
              <a:t>You already know all three stages</a:t>
            </a:r>
            <a:endParaRPr lang="en-US" sz="2700" dirty="0"/>
          </a:p>
        </p:txBody>
      </p:sp>
      <p:sp>
        <p:nvSpPr>
          <p:cNvPr id="6" name="Shape 4"/>
          <p:cNvSpPr/>
          <p:nvPr/>
        </p:nvSpPr>
        <p:spPr>
          <a:xfrm>
            <a:off x="685800" y="1691640"/>
            <a:ext cx="2971800" cy="2377440"/>
          </a:xfrm>
          <a:prstGeom prst="roundRect">
            <a:avLst>
              <a:gd name="adj" fmla="val 3846"/>
            </a:avLst>
          </a:prstGeom>
          <a:solidFill>
            <a:srgbClr val="FFFFFF"/>
          </a:solidFill>
          <a:ln/>
          <a:effectLst>
            <a:outerShdw sx="100000" sy="100000" kx="0" ky="0" algn="bl" rotWithShape="0" blurRad="152400" dist="38100" dir="5400000">
              <a:srgbClr val="1B2A2E">
                <a:alpha val="14000"/>
              </a:srgbClr>
            </a:outerShdw>
          </a:effectLst>
        </p:spPr>
      </p:sp>
      <p:sp>
        <p:nvSpPr>
          <p:cNvPr id="7" name="Shape 5"/>
          <p:cNvSpPr/>
          <p:nvPr/>
        </p:nvSpPr>
        <p:spPr>
          <a:xfrm>
            <a:off x="685800" y="1691640"/>
            <a:ext cx="2971800" cy="530352"/>
          </a:xfrm>
          <a:prstGeom prst="roundRect">
            <a:avLst>
              <a:gd name="adj" fmla="val 17241"/>
            </a:avLst>
          </a:prstGeom>
          <a:solidFill>
            <a:srgbClr val="387F7F"/>
          </a:solidFill>
          <a:ln/>
        </p:spPr>
      </p:sp>
      <p:sp>
        <p:nvSpPr>
          <p:cNvPr id="8" name="Shape 6"/>
          <p:cNvSpPr/>
          <p:nvPr/>
        </p:nvSpPr>
        <p:spPr>
          <a:xfrm>
            <a:off x="685800" y="1956816"/>
            <a:ext cx="2971800" cy="265176"/>
          </a:xfrm>
          <a:prstGeom prst="rect">
            <a:avLst/>
          </a:prstGeom>
          <a:solidFill>
            <a:srgbClr val="387F7F"/>
          </a:solidFill>
          <a:ln/>
        </p:spPr>
      </p:sp>
      <p:sp>
        <p:nvSpPr>
          <p:cNvPr id="9" name="Text 7"/>
          <p:cNvSpPr txBox="1"/>
          <p:nvPr/>
        </p:nvSpPr>
        <p:spPr>
          <a:xfrm>
            <a:off x="685800" y="1691640"/>
            <a:ext cx="2971800" cy="530352"/>
          </a:xfrm>
          <a:prstGeom prst="rect">
            <a:avLst/>
          </a:prstGeom>
          <a:noFill/>
          <a:ln/>
        </p:spPr>
        <p:txBody>
          <a:bodyPr wrap="square" lIns="0" tIns="0" rIns="0" bIns="0" rtlCol="0" anchor="ctr"/>
          <a:lstStyle/>
          <a:p>
            <a:pPr algn="ctr" indent="0" marL="0">
              <a:buNone/>
            </a:pPr>
            <a:r>
              <a:rPr lang="en-US" sz="1400" b="1" dirty="0">
                <a:solidFill>
                  <a:srgbClr val="FFFFFF"/>
                </a:solidFill>
                <a:latin typeface="Poppins" pitchFamily="34" charset="0"/>
                <a:ea typeface="Poppins" pitchFamily="34" charset="-122"/>
                <a:cs typeface="Poppins" pitchFamily="34" charset="-120"/>
              </a:rPr>
              <a:t>1.  Power Query</a:t>
            </a:r>
            <a:endParaRPr lang="en-US" sz="1400" dirty="0"/>
          </a:p>
        </p:txBody>
      </p:sp>
      <p:sp>
        <p:nvSpPr>
          <p:cNvPr id="10" name="Shape 8"/>
          <p:cNvSpPr/>
          <p:nvPr/>
        </p:nvSpPr>
        <p:spPr>
          <a:xfrm>
            <a:off x="1879092" y="2441448"/>
            <a:ext cx="585216" cy="585216"/>
          </a:xfrm>
          <a:prstGeom prst="ellipse">
            <a:avLst/>
          </a:prstGeom>
          <a:solidFill>
            <a:srgbClr val="FFFFFF"/>
          </a:solidFill>
          <a:ln w="22225">
            <a:solidFill>
              <a:srgbClr val="387F7F"/>
            </a:solidFill>
            <a:prstDash val="solid"/>
          </a:ln>
        </p:spPr>
      </p:sp>
      <p:sp>
        <p:nvSpPr>
          <p:cNvPr id="11" name="Text 9"/>
          <p:cNvSpPr txBox="1"/>
          <p:nvPr/>
        </p:nvSpPr>
        <p:spPr>
          <a:xfrm>
            <a:off x="1879092" y="2441448"/>
            <a:ext cx="585216" cy="585216"/>
          </a:xfrm>
          <a:prstGeom prst="rect">
            <a:avLst/>
          </a:prstGeom>
          <a:noFill/>
          <a:ln/>
        </p:spPr>
        <p:txBody>
          <a:bodyPr wrap="square" lIns="0" tIns="0" rIns="0" bIns="0" rtlCol="0" anchor="ctr"/>
          <a:lstStyle/>
          <a:p>
            <a:pPr algn="ctr" indent="0" marL="0">
              <a:buNone/>
            </a:pPr>
            <a:r>
              <a:rPr lang="en-US" sz="2100" b="1" dirty="0">
                <a:solidFill>
                  <a:srgbClr val="387F7F"/>
                </a:solidFill>
                <a:latin typeface="Poppins" pitchFamily="34" charset="0"/>
                <a:ea typeface="Poppins" pitchFamily="34" charset="-122"/>
                <a:cs typeface="Poppins" pitchFamily="34" charset="-120"/>
              </a:rPr>
              <a:t>◫</a:t>
            </a:r>
            <a:endParaRPr lang="en-US" sz="2100" dirty="0"/>
          </a:p>
        </p:txBody>
      </p:sp>
      <p:sp>
        <p:nvSpPr>
          <p:cNvPr id="12" name="Shape 10"/>
          <p:cNvSpPr/>
          <p:nvPr/>
        </p:nvSpPr>
        <p:spPr>
          <a:xfrm>
            <a:off x="1604772" y="3154680"/>
            <a:ext cx="1133856" cy="274320"/>
          </a:xfrm>
          <a:prstGeom prst="roundRect">
            <a:avLst>
              <a:gd name="adj" fmla="val 50000"/>
            </a:avLst>
          </a:prstGeom>
          <a:solidFill>
            <a:srgbClr val="EEF4F4"/>
          </a:solidFill>
          <a:ln/>
        </p:spPr>
      </p:sp>
      <p:sp>
        <p:nvSpPr>
          <p:cNvPr id="13" name="Text 11"/>
          <p:cNvSpPr txBox="1"/>
          <p:nvPr/>
        </p:nvSpPr>
        <p:spPr>
          <a:xfrm>
            <a:off x="1604772" y="3154680"/>
            <a:ext cx="1133856" cy="274320"/>
          </a:xfrm>
          <a:prstGeom prst="rect">
            <a:avLst/>
          </a:prstGeom>
          <a:noFill/>
          <a:ln/>
        </p:spPr>
        <p:txBody>
          <a:bodyPr wrap="square" lIns="0" tIns="0" rIns="0" bIns="0" rtlCol="0" anchor="ctr"/>
          <a:lstStyle/>
          <a:p>
            <a:pPr algn="ctr" indent="0" marL="0">
              <a:buNone/>
            </a:pPr>
            <a:r>
              <a:rPr lang="en-US" sz="1000" b="1" dirty="0">
                <a:solidFill>
                  <a:srgbClr val="387F7F"/>
                </a:solidFill>
                <a:latin typeface="Poppins" pitchFamily="34" charset="0"/>
                <a:ea typeface="Poppins" pitchFamily="34" charset="-122"/>
                <a:cs typeface="Poppins" pitchFamily="34" charset="-120"/>
              </a:rPr>
              <a:t>Module 2</a:t>
            </a:r>
            <a:endParaRPr lang="en-US" sz="1000" dirty="0"/>
          </a:p>
        </p:txBody>
      </p:sp>
      <p:sp>
        <p:nvSpPr>
          <p:cNvPr id="14" name="Text 12"/>
          <p:cNvSpPr txBox="1"/>
          <p:nvPr/>
        </p:nvSpPr>
        <p:spPr>
          <a:xfrm>
            <a:off x="905256" y="3520440"/>
            <a:ext cx="2532888" cy="502920"/>
          </a:xfrm>
          <a:prstGeom prst="rect">
            <a:avLst/>
          </a:prstGeom>
          <a:noFill/>
          <a:ln/>
        </p:spPr>
        <p:txBody>
          <a:bodyPr wrap="square" lIns="0" tIns="0" rIns="0" bIns="0" rtlCol="0" anchor="t"/>
          <a:lstStyle/>
          <a:p>
            <a:pPr algn="ctr" indent="0" marL="0">
              <a:lnSpc>
                <a:spcPct val="122000"/>
              </a:lnSpc>
              <a:buNone/>
            </a:pPr>
            <a:r>
              <a:rPr lang="en-US" sz="1200" dirty="0">
                <a:solidFill>
                  <a:srgbClr val="475569"/>
                </a:solidFill>
                <a:latin typeface="Poppins" pitchFamily="34" charset="0"/>
                <a:ea typeface="Poppins" pitchFamily="34" charset="-122"/>
                <a:cs typeface="Poppins" pitchFamily="34" charset="-120"/>
              </a:rPr>
              <a:t>Same tool. Literally the same interface as Excel.</a:t>
            </a:r>
            <a:endParaRPr lang="en-US" sz="1200" dirty="0"/>
          </a:p>
        </p:txBody>
      </p:sp>
      <p:sp>
        <p:nvSpPr>
          <p:cNvPr id="15" name="Text 13"/>
          <p:cNvSpPr txBox="1"/>
          <p:nvPr/>
        </p:nvSpPr>
        <p:spPr>
          <a:xfrm>
            <a:off x="3712464" y="2560320"/>
            <a:ext cx="457200" cy="457200"/>
          </a:xfrm>
          <a:prstGeom prst="rect">
            <a:avLst/>
          </a:prstGeom>
          <a:noFill/>
          <a:ln/>
        </p:spPr>
        <p:txBody>
          <a:bodyPr wrap="square" lIns="0" tIns="0" rIns="0" bIns="0" rtlCol="0" anchor="ctr"/>
          <a:lstStyle/>
          <a:p>
            <a:pPr algn="ctr" indent="0" marL="0">
              <a:buNone/>
            </a:pPr>
            <a:r>
              <a:rPr lang="en-US" sz="2300" b="1" dirty="0">
                <a:solidFill>
                  <a:srgbClr val="387F7F"/>
                </a:solidFill>
                <a:latin typeface="Poppins" pitchFamily="34" charset="0"/>
                <a:ea typeface="Poppins" pitchFamily="34" charset="-122"/>
                <a:cs typeface="Poppins" pitchFamily="34" charset="-120"/>
              </a:rPr>
              <a:t>›</a:t>
            </a:r>
            <a:endParaRPr lang="en-US" sz="2300" dirty="0"/>
          </a:p>
        </p:txBody>
      </p:sp>
      <p:sp>
        <p:nvSpPr>
          <p:cNvPr id="16" name="Shape 14"/>
          <p:cNvSpPr/>
          <p:nvPr/>
        </p:nvSpPr>
        <p:spPr>
          <a:xfrm>
            <a:off x="4206240" y="1691640"/>
            <a:ext cx="2971800" cy="2377440"/>
          </a:xfrm>
          <a:prstGeom prst="roundRect">
            <a:avLst>
              <a:gd name="adj" fmla="val 3846"/>
            </a:avLst>
          </a:prstGeom>
          <a:solidFill>
            <a:srgbClr val="FFFFFF"/>
          </a:solidFill>
          <a:ln/>
          <a:effectLst>
            <a:outerShdw sx="100000" sy="100000" kx="0" ky="0" algn="bl" rotWithShape="0" blurRad="152400" dist="38100" dir="5400000">
              <a:srgbClr val="1B2A2E">
                <a:alpha val="14000"/>
              </a:srgbClr>
            </a:outerShdw>
          </a:effectLst>
        </p:spPr>
      </p:sp>
      <p:sp>
        <p:nvSpPr>
          <p:cNvPr id="17" name="Shape 15"/>
          <p:cNvSpPr/>
          <p:nvPr/>
        </p:nvSpPr>
        <p:spPr>
          <a:xfrm>
            <a:off x="4206240" y="1691640"/>
            <a:ext cx="2971800" cy="530352"/>
          </a:xfrm>
          <a:prstGeom prst="roundRect">
            <a:avLst>
              <a:gd name="adj" fmla="val 17241"/>
            </a:avLst>
          </a:prstGeom>
          <a:solidFill>
            <a:srgbClr val="387F7F"/>
          </a:solidFill>
          <a:ln/>
        </p:spPr>
      </p:sp>
      <p:sp>
        <p:nvSpPr>
          <p:cNvPr id="18" name="Shape 16"/>
          <p:cNvSpPr/>
          <p:nvPr/>
        </p:nvSpPr>
        <p:spPr>
          <a:xfrm>
            <a:off x="4206240" y="1956816"/>
            <a:ext cx="2971800" cy="265176"/>
          </a:xfrm>
          <a:prstGeom prst="rect">
            <a:avLst/>
          </a:prstGeom>
          <a:solidFill>
            <a:srgbClr val="387F7F"/>
          </a:solidFill>
          <a:ln/>
        </p:spPr>
      </p:sp>
      <p:sp>
        <p:nvSpPr>
          <p:cNvPr id="19" name="Text 17"/>
          <p:cNvSpPr txBox="1"/>
          <p:nvPr/>
        </p:nvSpPr>
        <p:spPr>
          <a:xfrm>
            <a:off x="4206240" y="1691640"/>
            <a:ext cx="2971800" cy="530352"/>
          </a:xfrm>
          <a:prstGeom prst="rect">
            <a:avLst/>
          </a:prstGeom>
          <a:noFill/>
          <a:ln/>
        </p:spPr>
        <p:txBody>
          <a:bodyPr wrap="square" lIns="0" tIns="0" rIns="0" bIns="0" rtlCol="0" anchor="ctr"/>
          <a:lstStyle/>
          <a:p>
            <a:pPr algn="ctr" indent="0" marL="0">
              <a:buNone/>
            </a:pPr>
            <a:r>
              <a:rPr lang="en-US" sz="1400" b="1" dirty="0">
                <a:solidFill>
                  <a:srgbClr val="FFFFFF"/>
                </a:solidFill>
                <a:latin typeface="Poppins" pitchFamily="34" charset="0"/>
                <a:ea typeface="Poppins" pitchFamily="34" charset="-122"/>
                <a:cs typeface="Poppins" pitchFamily="34" charset="-120"/>
              </a:rPr>
              <a:t>2.  Data model</a:t>
            </a:r>
            <a:endParaRPr lang="en-US" sz="1400" dirty="0"/>
          </a:p>
        </p:txBody>
      </p:sp>
      <p:sp>
        <p:nvSpPr>
          <p:cNvPr id="20" name="Shape 18"/>
          <p:cNvSpPr/>
          <p:nvPr/>
        </p:nvSpPr>
        <p:spPr>
          <a:xfrm>
            <a:off x="5399532" y="2441448"/>
            <a:ext cx="585216" cy="585216"/>
          </a:xfrm>
          <a:prstGeom prst="ellipse">
            <a:avLst/>
          </a:prstGeom>
          <a:solidFill>
            <a:srgbClr val="FFFFFF"/>
          </a:solidFill>
          <a:ln w="22225">
            <a:solidFill>
              <a:srgbClr val="387F7F"/>
            </a:solidFill>
            <a:prstDash val="solid"/>
          </a:ln>
        </p:spPr>
      </p:sp>
      <p:sp>
        <p:nvSpPr>
          <p:cNvPr id="21" name="Text 19"/>
          <p:cNvSpPr txBox="1"/>
          <p:nvPr/>
        </p:nvSpPr>
        <p:spPr>
          <a:xfrm>
            <a:off x="5399532" y="2441448"/>
            <a:ext cx="585216" cy="585216"/>
          </a:xfrm>
          <a:prstGeom prst="rect">
            <a:avLst/>
          </a:prstGeom>
          <a:noFill/>
          <a:ln/>
        </p:spPr>
        <p:txBody>
          <a:bodyPr wrap="square" lIns="0" tIns="0" rIns="0" bIns="0" rtlCol="0" anchor="ctr"/>
          <a:lstStyle/>
          <a:p>
            <a:pPr algn="ctr" indent="0" marL="0">
              <a:buNone/>
            </a:pPr>
            <a:r>
              <a:rPr lang="en-US" sz="2100" b="1" dirty="0">
                <a:solidFill>
                  <a:srgbClr val="387F7F"/>
                </a:solidFill>
                <a:latin typeface="Poppins" pitchFamily="34" charset="0"/>
                <a:ea typeface="Poppins" pitchFamily="34" charset="-122"/>
                <a:cs typeface="Poppins" pitchFamily="34" charset="-120"/>
              </a:rPr>
              <a:t>◇</a:t>
            </a:r>
            <a:endParaRPr lang="en-US" sz="2100" dirty="0"/>
          </a:p>
        </p:txBody>
      </p:sp>
      <p:sp>
        <p:nvSpPr>
          <p:cNvPr id="22" name="Shape 20"/>
          <p:cNvSpPr/>
          <p:nvPr/>
        </p:nvSpPr>
        <p:spPr>
          <a:xfrm>
            <a:off x="5125212" y="3154680"/>
            <a:ext cx="1133856" cy="274320"/>
          </a:xfrm>
          <a:prstGeom prst="roundRect">
            <a:avLst>
              <a:gd name="adj" fmla="val 50000"/>
            </a:avLst>
          </a:prstGeom>
          <a:solidFill>
            <a:srgbClr val="EEF4F4"/>
          </a:solidFill>
          <a:ln/>
        </p:spPr>
      </p:sp>
      <p:sp>
        <p:nvSpPr>
          <p:cNvPr id="23" name="Text 21"/>
          <p:cNvSpPr txBox="1"/>
          <p:nvPr/>
        </p:nvSpPr>
        <p:spPr>
          <a:xfrm>
            <a:off x="5125212" y="3154680"/>
            <a:ext cx="1133856" cy="274320"/>
          </a:xfrm>
          <a:prstGeom prst="rect">
            <a:avLst/>
          </a:prstGeom>
          <a:noFill/>
          <a:ln/>
        </p:spPr>
        <p:txBody>
          <a:bodyPr wrap="square" lIns="0" tIns="0" rIns="0" bIns="0" rtlCol="0" anchor="ctr"/>
          <a:lstStyle/>
          <a:p>
            <a:pPr algn="ctr" indent="0" marL="0">
              <a:buNone/>
            </a:pPr>
            <a:r>
              <a:rPr lang="en-US" sz="1000" b="1" dirty="0">
                <a:solidFill>
                  <a:srgbClr val="387F7F"/>
                </a:solidFill>
                <a:latin typeface="Poppins" pitchFamily="34" charset="0"/>
                <a:ea typeface="Poppins" pitchFamily="34" charset="-122"/>
                <a:cs typeface="Poppins" pitchFamily="34" charset="-120"/>
              </a:rPr>
              <a:t>Module 3</a:t>
            </a:r>
            <a:endParaRPr lang="en-US" sz="1000" dirty="0"/>
          </a:p>
        </p:txBody>
      </p:sp>
      <p:sp>
        <p:nvSpPr>
          <p:cNvPr id="24" name="Text 22"/>
          <p:cNvSpPr txBox="1"/>
          <p:nvPr/>
        </p:nvSpPr>
        <p:spPr>
          <a:xfrm>
            <a:off x="4425696" y="3520440"/>
            <a:ext cx="2532888" cy="502920"/>
          </a:xfrm>
          <a:prstGeom prst="rect">
            <a:avLst/>
          </a:prstGeom>
          <a:noFill/>
          <a:ln/>
        </p:spPr>
        <p:txBody>
          <a:bodyPr wrap="square" lIns="0" tIns="0" rIns="0" bIns="0" rtlCol="0" anchor="t"/>
          <a:lstStyle/>
          <a:p>
            <a:pPr algn="ctr" indent="0" marL="0">
              <a:lnSpc>
                <a:spcPct val="122000"/>
              </a:lnSpc>
              <a:buNone/>
            </a:pPr>
            <a:r>
              <a:rPr lang="en-US" sz="1200" dirty="0">
                <a:solidFill>
                  <a:srgbClr val="475569"/>
                </a:solidFill>
                <a:latin typeface="Poppins" pitchFamily="34" charset="0"/>
                <a:ea typeface="Poppins" pitchFamily="34" charset="-122"/>
                <a:cs typeface="Poppins" pitchFamily="34" charset="-120"/>
              </a:rPr>
              <a:t>Your joins, drawn as lines instead of written as SQL.</a:t>
            </a:r>
            <a:endParaRPr lang="en-US" sz="1200" dirty="0"/>
          </a:p>
        </p:txBody>
      </p:sp>
      <p:sp>
        <p:nvSpPr>
          <p:cNvPr id="25" name="Text 23"/>
          <p:cNvSpPr txBox="1"/>
          <p:nvPr/>
        </p:nvSpPr>
        <p:spPr>
          <a:xfrm>
            <a:off x="7232904" y="2560320"/>
            <a:ext cx="457200" cy="457200"/>
          </a:xfrm>
          <a:prstGeom prst="rect">
            <a:avLst/>
          </a:prstGeom>
          <a:noFill/>
          <a:ln/>
        </p:spPr>
        <p:txBody>
          <a:bodyPr wrap="square" lIns="0" tIns="0" rIns="0" bIns="0" rtlCol="0" anchor="ctr"/>
          <a:lstStyle/>
          <a:p>
            <a:pPr algn="ctr" indent="0" marL="0">
              <a:buNone/>
            </a:pPr>
            <a:r>
              <a:rPr lang="en-US" sz="2300" b="1" dirty="0">
                <a:solidFill>
                  <a:srgbClr val="387F7F"/>
                </a:solidFill>
                <a:latin typeface="Poppins" pitchFamily="34" charset="0"/>
                <a:ea typeface="Poppins" pitchFamily="34" charset="-122"/>
                <a:cs typeface="Poppins" pitchFamily="34" charset="-120"/>
              </a:rPr>
              <a:t>›</a:t>
            </a:r>
            <a:endParaRPr lang="en-US" sz="2300" dirty="0"/>
          </a:p>
        </p:txBody>
      </p:sp>
      <p:sp>
        <p:nvSpPr>
          <p:cNvPr id="26" name="Shape 24"/>
          <p:cNvSpPr/>
          <p:nvPr/>
        </p:nvSpPr>
        <p:spPr>
          <a:xfrm>
            <a:off x="7726680" y="1691640"/>
            <a:ext cx="2971800" cy="2377440"/>
          </a:xfrm>
          <a:prstGeom prst="roundRect">
            <a:avLst>
              <a:gd name="adj" fmla="val 3846"/>
            </a:avLst>
          </a:prstGeom>
          <a:solidFill>
            <a:srgbClr val="FFFFFF"/>
          </a:solidFill>
          <a:ln/>
          <a:effectLst>
            <a:outerShdw sx="100000" sy="100000" kx="0" ky="0" algn="bl" rotWithShape="0" blurRad="152400" dist="38100" dir="5400000">
              <a:srgbClr val="1B2A2E">
                <a:alpha val="14000"/>
              </a:srgbClr>
            </a:outerShdw>
          </a:effectLst>
        </p:spPr>
      </p:sp>
      <p:sp>
        <p:nvSpPr>
          <p:cNvPr id="27" name="Shape 25"/>
          <p:cNvSpPr/>
          <p:nvPr/>
        </p:nvSpPr>
        <p:spPr>
          <a:xfrm>
            <a:off x="7726680" y="1691640"/>
            <a:ext cx="2971800" cy="530352"/>
          </a:xfrm>
          <a:prstGeom prst="roundRect">
            <a:avLst>
              <a:gd name="adj" fmla="val 17241"/>
            </a:avLst>
          </a:prstGeom>
          <a:solidFill>
            <a:srgbClr val="387F7F"/>
          </a:solidFill>
          <a:ln/>
        </p:spPr>
      </p:sp>
      <p:sp>
        <p:nvSpPr>
          <p:cNvPr id="28" name="Shape 26"/>
          <p:cNvSpPr/>
          <p:nvPr/>
        </p:nvSpPr>
        <p:spPr>
          <a:xfrm>
            <a:off x="7726680" y="1956816"/>
            <a:ext cx="2971800" cy="265176"/>
          </a:xfrm>
          <a:prstGeom prst="rect">
            <a:avLst/>
          </a:prstGeom>
          <a:solidFill>
            <a:srgbClr val="387F7F"/>
          </a:solidFill>
          <a:ln/>
        </p:spPr>
      </p:sp>
      <p:sp>
        <p:nvSpPr>
          <p:cNvPr id="29" name="Text 27"/>
          <p:cNvSpPr txBox="1"/>
          <p:nvPr/>
        </p:nvSpPr>
        <p:spPr>
          <a:xfrm>
            <a:off x="7726680" y="1691640"/>
            <a:ext cx="2971800" cy="530352"/>
          </a:xfrm>
          <a:prstGeom prst="rect">
            <a:avLst/>
          </a:prstGeom>
          <a:noFill/>
          <a:ln/>
        </p:spPr>
        <p:txBody>
          <a:bodyPr wrap="square" lIns="0" tIns="0" rIns="0" bIns="0" rtlCol="0" anchor="ctr"/>
          <a:lstStyle/>
          <a:p>
            <a:pPr algn="ctr" indent="0" marL="0">
              <a:buNone/>
            </a:pPr>
            <a:r>
              <a:rPr lang="en-US" sz="1400" b="1" dirty="0">
                <a:solidFill>
                  <a:srgbClr val="FFFFFF"/>
                </a:solidFill>
                <a:latin typeface="Poppins" pitchFamily="34" charset="0"/>
                <a:ea typeface="Poppins" pitchFamily="34" charset="-122"/>
                <a:cs typeface="Poppins" pitchFamily="34" charset="-120"/>
              </a:rPr>
              <a:t>3.  Report canvas</a:t>
            </a:r>
            <a:endParaRPr lang="en-US" sz="1400" dirty="0"/>
          </a:p>
        </p:txBody>
      </p:sp>
      <p:sp>
        <p:nvSpPr>
          <p:cNvPr id="30" name="Shape 28"/>
          <p:cNvSpPr/>
          <p:nvPr/>
        </p:nvSpPr>
        <p:spPr>
          <a:xfrm>
            <a:off x="8919972" y="2441448"/>
            <a:ext cx="585216" cy="585216"/>
          </a:xfrm>
          <a:prstGeom prst="ellipse">
            <a:avLst/>
          </a:prstGeom>
          <a:solidFill>
            <a:srgbClr val="FFFFFF"/>
          </a:solidFill>
          <a:ln w="22225">
            <a:solidFill>
              <a:srgbClr val="387F7F"/>
            </a:solidFill>
            <a:prstDash val="solid"/>
          </a:ln>
        </p:spPr>
      </p:sp>
      <p:sp>
        <p:nvSpPr>
          <p:cNvPr id="31" name="Text 29"/>
          <p:cNvSpPr txBox="1"/>
          <p:nvPr/>
        </p:nvSpPr>
        <p:spPr>
          <a:xfrm>
            <a:off x="8919972" y="2441448"/>
            <a:ext cx="585216" cy="585216"/>
          </a:xfrm>
          <a:prstGeom prst="rect">
            <a:avLst/>
          </a:prstGeom>
          <a:noFill/>
          <a:ln/>
        </p:spPr>
        <p:txBody>
          <a:bodyPr wrap="square" lIns="0" tIns="0" rIns="0" bIns="0" rtlCol="0" anchor="ctr"/>
          <a:lstStyle/>
          <a:p>
            <a:pPr algn="ctr" indent="0" marL="0">
              <a:buNone/>
            </a:pPr>
            <a:r>
              <a:rPr lang="en-US" sz="2100" b="1" dirty="0">
                <a:solidFill>
                  <a:srgbClr val="387F7F"/>
                </a:solidFill>
                <a:latin typeface="Poppins" pitchFamily="34" charset="0"/>
                <a:ea typeface="Poppins" pitchFamily="34" charset="-122"/>
                <a:cs typeface="Poppins" pitchFamily="34" charset="-120"/>
              </a:rPr>
              <a:t>▤</a:t>
            </a:r>
            <a:endParaRPr lang="en-US" sz="2100" dirty="0"/>
          </a:p>
        </p:txBody>
      </p:sp>
      <p:sp>
        <p:nvSpPr>
          <p:cNvPr id="32" name="Shape 30"/>
          <p:cNvSpPr/>
          <p:nvPr/>
        </p:nvSpPr>
        <p:spPr>
          <a:xfrm>
            <a:off x="8645652" y="3154680"/>
            <a:ext cx="1133856" cy="274320"/>
          </a:xfrm>
          <a:prstGeom prst="roundRect">
            <a:avLst>
              <a:gd name="adj" fmla="val 50000"/>
            </a:avLst>
          </a:prstGeom>
          <a:solidFill>
            <a:srgbClr val="EEF4F4"/>
          </a:solidFill>
          <a:ln/>
        </p:spPr>
      </p:sp>
      <p:sp>
        <p:nvSpPr>
          <p:cNvPr id="33" name="Text 31"/>
          <p:cNvSpPr txBox="1"/>
          <p:nvPr/>
        </p:nvSpPr>
        <p:spPr>
          <a:xfrm>
            <a:off x="8645652" y="3154680"/>
            <a:ext cx="1133856" cy="274320"/>
          </a:xfrm>
          <a:prstGeom prst="rect">
            <a:avLst/>
          </a:prstGeom>
          <a:noFill/>
          <a:ln/>
        </p:spPr>
        <p:txBody>
          <a:bodyPr wrap="square" lIns="0" tIns="0" rIns="0" bIns="0" rtlCol="0" anchor="ctr"/>
          <a:lstStyle/>
          <a:p>
            <a:pPr algn="ctr" indent="0" marL="0">
              <a:buNone/>
            </a:pPr>
            <a:r>
              <a:rPr lang="en-US" sz="1000" b="1" dirty="0">
                <a:solidFill>
                  <a:srgbClr val="387F7F"/>
                </a:solidFill>
                <a:latin typeface="Poppins" pitchFamily="34" charset="0"/>
                <a:ea typeface="Poppins" pitchFamily="34" charset="-122"/>
                <a:cs typeface="Poppins" pitchFamily="34" charset="-120"/>
              </a:rPr>
              <a:t>Module 6</a:t>
            </a:r>
            <a:endParaRPr lang="en-US" sz="1000" dirty="0"/>
          </a:p>
        </p:txBody>
      </p:sp>
      <p:sp>
        <p:nvSpPr>
          <p:cNvPr id="34" name="Text 32"/>
          <p:cNvSpPr txBox="1"/>
          <p:nvPr/>
        </p:nvSpPr>
        <p:spPr>
          <a:xfrm>
            <a:off x="7946136" y="3520440"/>
            <a:ext cx="2532888" cy="502920"/>
          </a:xfrm>
          <a:prstGeom prst="rect">
            <a:avLst/>
          </a:prstGeom>
          <a:noFill/>
          <a:ln/>
        </p:spPr>
        <p:txBody>
          <a:bodyPr wrap="square" lIns="0" tIns="0" rIns="0" bIns="0" rtlCol="0" anchor="t"/>
          <a:lstStyle/>
          <a:p>
            <a:pPr algn="ctr" indent="0" marL="0">
              <a:lnSpc>
                <a:spcPct val="122000"/>
              </a:lnSpc>
              <a:buNone/>
            </a:pPr>
            <a:r>
              <a:rPr lang="en-US" sz="1200" dirty="0">
                <a:solidFill>
                  <a:srgbClr val="475569"/>
                </a:solidFill>
                <a:latin typeface="Poppins" pitchFamily="34" charset="0"/>
                <a:ea typeface="Poppins" pitchFamily="34" charset="-122"/>
                <a:cs typeface="Poppins" pitchFamily="34" charset="-120"/>
              </a:rPr>
              <a:t>Your chart choice and labelling standards, applied directly.</a:t>
            </a:r>
            <a:endParaRPr lang="en-US" sz="1200" dirty="0"/>
          </a:p>
        </p:txBody>
      </p:sp>
      <p:sp>
        <p:nvSpPr>
          <p:cNvPr id="35" name="Shape 33"/>
          <p:cNvSpPr/>
          <p:nvPr/>
        </p:nvSpPr>
        <p:spPr>
          <a:xfrm>
            <a:off x="685800" y="4343400"/>
            <a:ext cx="9829800" cy="1051560"/>
          </a:xfrm>
          <a:prstGeom prst="roundRect">
            <a:avLst>
              <a:gd name="adj" fmla="val 7826"/>
            </a:avLst>
          </a:prstGeom>
          <a:solidFill>
            <a:srgbClr val="EEF4F4"/>
          </a:solidFill>
          <a:ln/>
        </p:spPr>
      </p:sp>
      <p:sp>
        <p:nvSpPr>
          <p:cNvPr id="36" name="Shape 34"/>
          <p:cNvSpPr/>
          <p:nvPr/>
        </p:nvSpPr>
        <p:spPr>
          <a:xfrm>
            <a:off x="685800" y="4343400"/>
            <a:ext cx="68580" cy="1051560"/>
          </a:xfrm>
          <a:prstGeom prst="rect">
            <a:avLst/>
          </a:prstGeom>
          <a:solidFill>
            <a:srgbClr val="387F7F"/>
          </a:solidFill>
          <a:ln/>
        </p:spPr>
      </p:sp>
      <p:sp>
        <p:nvSpPr>
          <p:cNvPr id="37" name="Text 35"/>
          <p:cNvSpPr txBox="1"/>
          <p:nvPr/>
        </p:nvSpPr>
        <p:spPr>
          <a:xfrm>
            <a:off x="1051560" y="4343400"/>
            <a:ext cx="9235440" cy="1051560"/>
          </a:xfrm>
          <a:prstGeom prst="rect">
            <a:avLst/>
          </a:prstGeom>
          <a:noFill/>
          <a:ln/>
        </p:spPr>
        <p:txBody>
          <a:bodyPr wrap="square" lIns="0" tIns="0" rIns="0" bIns="0" rtlCol="0" anchor="ctr"/>
          <a:lstStyle/>
          <a:p>
            <a:pPr algn="l" indent="0" marL="0">
              <a:lnSpc>
                <a:spcPct val="135000"/>
              </a:lnSpc>
              <a:buNone/>
            </a:pPr>
            <a:r>
              <a:rPr lang="en-US" sz="1700" b="1" dirty="0">
                <a:solidFill>
                  <a:srgbClr val="387F7F"/>
                </a:solidFill>
                <a:latin typeface="Poppins" pitchFamily="34" charset="0"/>
                <a:ea typeface="Poppins" pitchFamily="34" charset="-122"/>
                <a:cs typeface="Poppins" pitchFamily="34" charset="-120"/>
              </a:rPr>
              <a:t>Power BI is not a fifth tool. It is three things you can already do, joined into one window.</a:t>
            </a:r>
            <a:endParaRPr lang="en-US" sz="1700" dirty="0"/>
          </a:p>
        </p:txBody>
      </p:sp>
      <p:pic>
        <p:nvPicPr>
          <p:cNvPr id="38" name="Image 0" descr="/home/claude/build/assets/logo_full.png">    </p:cNvPr>
          <p:cNvPicPr>
            <a:picLocks noChangeAspect="1"/>
          </p:cNvPicPr>
          <p:nvPr/>
        </p:nvPicPr>
        <p:blipFill>
          <a:blip r:embed="rId2"/>
          <a:stretch>
            <a:fillRect/>
          </a:stretch>
        </p:blipFill>
        <p:spPr>
          <a:xfrm>
            <a:off x="10998403" y="5949086"/>
            <a:ext cx="431597" cy="375337"/>
          </a:xfrm>
          <a:prstGeom prst="rect">
            <a:avLst/>
          </a:prstGeom>
        </p:spPr>
      </p:pic>
      <p:sp>
        <p:nvSpPr>
          <p:cNvPr id="39" name="Text 36"/>
          <p:cNvSpPr txBox="1"/>
          <p:nvPr/>
        </p:nvSpPr>
        <p:spPr>
          <a:xfrm>
            <a:off x="11689050" y="6473952"/>
            <a:ext cx="365760" cy="274320"/>
          </a:xfrm>
          <a:prstGeom prst="rect">
            <a:avLst/>
          </a:prstGeom>
          <a:noFill/>
          <a:ln/>
        </p:spPr>
        <p:txBody>
          <a:bodyPr wrap="square" lIns="0" tIns="0" rIns="0" bIns="0" rtlCol="0" anchor="ctr"/>
          <a:lstStyle/>
          <a:p>
            <a:pPr algn="r" indent="0" marL="0">
              <a:buNone/>
            </a:pPr>
            <a:r>
              <a:rPr lang="en-US" sz="1100" dirty="0">
                <a:solidFill>
                  <a:srgbClr val="64748B"/>
                </a:solidFill>
                <a:latin typeface="Poppins" pitchFamily="34" charset="0"/>
                <a:ea typeface="Poppins" pitchFamily="34" charset="-122"/>
                <a:cs typeface="Poppins" pitchFamily="34" charset="-120"/>
              </a:rPr>
              <a:t>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1024006" y="1958645"/>
            <a:ext cx="4133088" cy="4038905"/>
          </a:xfrm>
          <a:prstGeom prst="ellipse">
            <a:avLst/>
          </a:prstGeom>
          <a:solidFill>
            <a:srgbClr val="387F7F"/>
          </a:solidFill>
          <a:ln/>
        </p:spPr>
      </p:sp>
      <p:sp>
        <p:nvSpPr>
          <p:cNvPr id="3" name="Shape 1"/>
          <p:cNvSpPr/>
          <p:nvPr/>
        </p:nvSpPr>
        <p:spPr>
          <a:xfrm>
            <a:off x="11316614" y="2675534"/>
            <a:ext cx="1051560" cy="2162556"/>
          </a:xfrm>
          <a:prstGeom prst="ellipse">
            <a:avLst/>
          </a:prstGeom>
          <a:solidFill>
            <a:srgbClr val="387F7F"/>
          </a:solidFill>
          <a:ln/>
        </p:spPr>
      </p:sp>
      <p:sp>
        <p:nvSpPr>
          <p:cNvPr id="4" name="Shape 2"/>
          <p:cNvSpPr/>
          <p:nvPr/>
        </p:nvSpPr>
        <p:spPr>
          <a:xfrm>
            <a:off x="685800" y="548640"/>
            <a:ext cx="68580" cy="777240"/>
          </a:xfrm>
          <a:prstGeom prst="rect">
            <a:avLst/>
          </a:prstGeom>
          <a:solidFill>
            <a:srgbClr val="387F7F"/>
          </a:solidFill>
          <a:ln/>
        </p:spPr>
      </p:sp>
      <p:sp>
        <p:nvSpPr>
          <p:cNvPr id="5" name="Text 3"/>
          <p:cNvSpPr txBox="1"/>
          <p:nvPr/>
        </p:nvSpPr>
        <p:spPr>
          <a:xfrm>
            <a:off x="886968" y="502920"/>
            <a:ext cx="9692640" cy="868680"/>
          </a:xfrm>
          <a:prstGeom prst="rect">
            <a:avLst/>
          </a:prstGeom>
          <a:noFill/>
          <a:ln/>
        </p:spPr>
        <p:txBody>
          <a:bodyPr wrap="square" lIns="0" tIns="0" rIns="0" bIns="0" rtlCol="0" anchor="ctr"/>
          <a:lstStyle/>
          <a:p>
            <a:pPr indent="0" marL="0">
              <a:lnSpc>
                <a:spcPct val="108000"/>
              </a:lnSpc>
              <a:buNone/>
            </a:pPr>
            <a:r>
              <a:rPr lang="en-US" sz="2400" dirty="0">
                <a:solidFill>
                  <a:srgbClr val="387F7F"/>
                </a:solidFill>
                <a:latin typeface="Poppins" pitchFamily="34" charset="0"/>
                <a:ea typeface="Poppins" pitchFamily="34" charset="-122"/>
                <a:cs typeface="Poppins" pitchFamily="34" charset="-120"/>
              </a:rPr>
              <a:t>Analysis answers a question. BI answers it every morning.</a:t>
            </a:r>
            <a:endParaRPr lang="en-US" sz="2400" dirty="0"/>
          </a:p>
        </p:txBody>
      </p:sp>
      <p:sp>
        <p:nvSpPr>
          <p:cNvPr id="6" name="Shape 4"/>
          <p:cNvSpPr/>
          <p:nvPr/>
        </p:nvSpPr>
        <p:spPr>
          <a:xfrm>
            <a:off x="685800" y="1600200"/>
            <a:ext cx="4709160" cy="502920"/>
          </a:xfrm>
          <a:prstGeom prst="roundRect">
            <a:avLst>
              <a:gd name="adj" fmla="val 16364"/>
            </a:avLst>
          </a:prstGeom>
          <a:solidFill>
            <a:srgbClr val="64748B"/>
          </a:solidFill>
          <a:ln/>
        </p:spPr>
      </p:sp>
      <p:sp>
        <p:nvSpPr>
          <p:cNvPr id="7" name="Text 5"/>
          <p:cNvSpPr txBox="1"/>
          <p:nvPr/>
        </p:nvSpPr>
        <p:spPr>
          <a:xfrm>
            <a:off x="685800" y="1600200"/>
            <a:ext cx="4709160" cy="502920"/>
          </a:xfrm>
          <a:prstGeom prst="rect">
            <a:avLst/>
          </a:prstGeom>
          <a:noFill/>
          <a:ln/>
        </p:spPr>
        <p:txBody>
          <a:bodyPr wrap="square" lIns="0" tIns="0" rIns="0" bIns="0" rtlCol="0" anchor="ctr"/>
          <a:lstStyle/>
          <a:p>
            <a:pPr algn="ctr" indent="0" marL="0">
              <a:buNone/>
            </a:pPr>
            <a:r>
              <a:rPr lang="en-US" sz="1300" b="1" spc="150" kern="0" dirty="0">
                <a:solidFill>
                  <a:srgbClr val="FFFFFF"/>
                </a:solidFill>
                <a:latin typeface="Poppins" pitchFamily="34" charset="0"/>
                <a:ea typeface="Poppins" pitchFamily="34" charset="-122"/>
                <a:cs typeface="Poppins" pitchFamily="34" charset="-120"/>
              </a:rPr>
              <a:t>AN ANALYSIS</a:t>
            </a:r>
            <a:endParaRPr lang="en-US" sz="1300" dirty="0"/>
          </a:p>
        </p:txBody>
      </p:sp>
      <p:sp>
        <p:nvSpPr>
          <p:cNvPr id="8" name="Shape 6"/>
          <p:cNvSpPr/>
          <p:nvPr/>
        </p:nvSpPr>
        <p:spPr>
          <a:xfrm>
            <a:off x="5806440" y="1600200"/>
            <a:ext cx="4709160" cy="502920"/>
          </a:xfrm>
          <a:prstGeom prst="roundRect">
            <a:avLst>
              <a:gd name="adj" fmla="val 16364"/>
            </a:avLst>
          </a:prstGeom>
          <a:solidFill>
            <a:srgbClr val="387F7F"/>
          </a:solidFill>
          <a:ln/>
        </p:spPr>
      </p:sp>
      <p:sp>
        <p:nvSpPr>
          <p:cNvPr id="9" name="Text 7"/>
          <p:cNvSpPr txBox="1"/>
          <p:nvPr/>
        </p:nvSpPr>
        <p:spPr>
          <a:xfrm>
            <a:off x="5806440" y="1600200"/>
            <a:ext cx="4709160" cy="502920"/>
          </a:xfrm>
          <a:prstGeom prst="rect">
            <a:avLst/>
          </a:prstGeom>
          <a:noFill/>
          <a:ln/>
        </p:spPr>
        <p:txBody>
          <a:bodyPr wrap="square" lIns="0" tIns="0" rIns="0" bIns="0" rtlCol="0" anchor="ctr"/>
          <a:lstStyle/>
          <a:p>
            <a:pPr algn="ctr" indent="0" marL="0">
              <a:buNone/>
            </a:pPr>
            <a:r>
              <a:rPr lang="en-US" sz="1300" b="1" spc="150" kern="0" dirty="0">
                <a:solidFill>
                  <a:srgbClr val="FFFFFF"/>
                </a:solidFill>
                <a:latin typeface="Poppins" pitchFamily="34" charset="0"/>
                <a:ea typeface="Poppins" pitchFamily="34" charset="-122"/>
                <a:cs typeface="Poppins" pitchFamily="34" charset="-120"/>
              </a:rPr>
              <a:t>A BI PRODUCT</a:t>
            </a:r>
            <a:endParaRPr lang="en-US" sz="1300" dirty="0"/>
          </a:p>
        </p:txBody>
      </p:sp>
      <p:sp>
        <p:nvSpPr>
          <p:cNvPr id="10" name="Shape 8"/>
          <p:cNvSpPr/>
          <p:nvPr/>
        </p:nvSpPr>
        <p:spPr>
          <a:xfrm>
            <a:off x="685800" y="2267712"/>
            <a:ext cx="4709160" cy="603504"/>
          </a:xfrm>
          <a:prstGeom prst="roundRect">
            <a:avLst>
              <a:gd name="adj" fmla="val 10606"/>
            </a:avLst>
          </a:prstGeom>
          <a:solidFill>
            <a:srgbClr val="F7FAFA"/>
          </a:solidFill>
          <a:ln/>
        </p:spPr>
      </p:sp>
      <p:sp>
        <p:nvSpPr>
          <p:cNvPr id="11" name="Text 9"/>
          <p:cNvSpPr txBox="1"/>
          <p:nvPr/>
        </p:nvSpPr>
        <p:spPr>
          <a:xfrm>
            <a:off x="941832" y="2267712"/>
            <a:ext cx="4206240" cy="603504"/>
          </a:xfrm>
          <a:prstGeom prst="rect">
            <a:avLst/>
          </a:prstGeom>
          <a:noFill/>
          <a:ln/>
        </p:spPr>
        <p:txBody>
          <a:bodyPr wrap="square" lIns="0" tIns="0" rIns="0" bIns="0" rtlCol="0" anchor="ctr"/>
          <a:lstStyle/>
          <a:p>
            <a:pPr indent="0" marL="0">
              <a:lnSpc>
                <a:spcPct val="115000"/>
              </a:lnSpc>
              <a:buNone/>
            </a:pPr>
            <a:r>
              <a:rPr lang="en-US" sz="1250" dirty="0">
                <a:solidFill>
                  <a:srgbClr val="475569"/>
                </a:solidFill>
                <a:latin typeface="Poppins" pitchFamily="34" charset="0"/>
                <a:ea typeface="Poppins" pitchFamily="34" charset="-122"/>
                <a:cs typeface="Poppins" pitchFamily="34" charset="-120"/>
              </a:rPr>
              <a:t>Answers one question at one point in time</a:t>
            </a:r>
            <a:endParaRPr lang="en-US" sz="1250" dirty="0"/>
          </a:p>
        </p:txBody>
      </p:sp>
      <p:sp>
        <p:nvSpPr>
          <p:cNvPr id="12" name="Shape 10"/>
          <p:cNvSpPr/>
          <p:nvPr/>
        </p:nvSpPr>
        <p:spPr>
          <a:xfrm>
            <a:off x="5806440" y="2267712"/>
            <a:ext cx="4709160" cy="603504"/>
          </a:xfrm>
          <a:prstGeom prst="roundRect">
            <a:avLst>
              <a:gd name="adj" fmla="val 10606"/>
            </a:avLst>
          </a:prstGeom>
          <a:solidFill>
            <a:srgbClr val="FFFFFF"/>
          </a:solidFill>
          <a:ln/>
          <a:effectLst>
            <a:outerShdw sx="100000" sy="100000" kx="0" ky="0" algn="bl" rotWithShape="0" blurRad="88900" dist="25400" dir="5400000">
              <a:srgbClr val="1B2A2E">
                <a:alpha val="10000"/>
              </a:srgbClr>
            </a:outerShdw>
          </a:effectLst>
        </p:spPr>
      </p:sp>
      <p:sp>
        <p:nvSpPr>
          <p:cNvPr id="13" name="Text 11"/>
          <p:cNvSpPr txBox="1"/>
          <p:nvPr/>
        </p:nvSpPr>
        <p:spPr>
          <a:xfrm>
            <a:off x="6062472" y="2267712"/>
            <a:ext cx="4206240" cy="603504"/>
          </a:xfrm>
          <a:prstGeom prst="rect">
            <a:avLst/>
          </a:prstGeom>
          <a:noFill/>
          <a:ln/>
        </p:spPr>
        <p:txBody>
          <a:bodyPr wrap="square" lIns="0" tIns="0" rIns="0" bIns="0" rtlCol="0" anchor="ctr"/>
          <a:lstStyle/>
          <a:p>
            <a:pPr indent="0" marL="0">
              <a:lnSpc>
                <a:spcPct val="115000"/>
              </a:lnSpc>
              <a:buNone/>
            </a:pPr>
            <a:r>
              <a:rPr lang="en-US" sz="1250" dirty="0">
                <a:solidFill>
                  <a:srgbClr val="0A1A23"/>
                </a:solidFill>
                <a:latin typeface="Poppins" pitchFamily="34" charset="0"/>
                <a:ea typeface="Poppins" pitchFamily="34" charset="-122"/>
                <a:cs typeface="Poppins" pitchFamily="34" charset="-120"/>
              </a:rPr>
              <a:t>Answers a standing set of questions</a:t>
            </a:r>
            <a:endParaRPr lang="en-US" sz="1250" dirty="0"/>
          </a:p>
        </p:txBody>
      </p:sp>
      <p:sp>
        <p:nvSpPr>
          <p:cNvPr id="14" name="Shape 12"/>
          <p:cNvSpPr/>
          <p:nvPr/>
        </p:nvSpPr>
        <p:spPr>
          <a:xfrm>
            <a:off x="685800" y="2980944"/>
            <a:ext cx="4709160" cy="603504"/>
          </a:xfrm>
          <a:prstGeom prst="roundRect">
            <a:avLst>
              <a:gd name="adj" fmla="val 10606"/>
            </a:avLst>
          </a:prstGeom>
          <a:solidFill>
            <a:srgbClr val="F7FAFA"/>
          </a:solidFill>
          <a:ln/>
        </p:spPr>
      </p:sp>
      <p:sp>
        <p:nvSpPr>
          <p:cNvPr id="15" name="Text 13"/>
          <p:cNvSpPr txBox="1"/>
          <p:nvPr/>
        </p:nvSpPr>
        <p:spPr>
          <a:xfrm>
            <a:off x="941832" y="2980944"/>
            <a:ext cx="4206240" cy="603504"/>
          </a:xfrm>
          <a:prstGeom prst="rect">
            <a:avLst/>
          </a:prstGeom>
          <a:noFill/>
          <a:ln/>
        </p:spPr>
        <p:txBody>
          <a:bodyPr wrap="square" lIns="0" tIns="0" rIns="0" bIns="0" rtlCol="0" anchor="ctr"/>
          <a:lstStyle/>
          <a:p>
            <a:pPr indent="0" marL="0">
              <a:lnSpc>
                <a:spcPct val="115000"/>
              </a:lnSpc>
              <a:buNone/>
            </a:pPr>
            <a:r>
              <a:rPr lang="en-US" sz="1250" dirty="0">
                <a:solidFill>
                  <a:srgbClr val="475569"/>
                </a:solidFill>
                <a:latin typeface="Poppins" pitchFamily="34" charset="0"/>
                <a:ea typeface="Poppins" pitchFamily="34" charset="-122"/>
                <a:cs typeface="Poppins" pitchFamily="34" charset="-120"/>
              </a:rPr>
              <a:t>Lives in a file that you send to someone</a:t>
            </a:r>
            <a:endParaRPr lang="en-US" sz="1250" dirty="0"/>
          </a:p>
        </p:txBody>
      </p:sp>
      <p:sp>
        <p:nvSpPr>
          <p:cNvPr id="16" name="Shape 14"/>
          <p:cNvSpPr/>
          <p:nvPr/>
        </p:nvSpPr>
        <p:spPr>
          <a:xfrm>
            <a:off x="5806440" y="2980944"/>
            <a:ext cx="4709160" cy="603504"/>
          </a:xfrm>
          <a:prstGeom prst="roundRect">
            <a:avLst>
              <a:gd name="adj" fmla="val 10606"/>
            </a:avLst>
          </a:prstGeom>
          <a:solidFill>
            <a:srgbClr val="FFFFFF"/>
          </a:solidFill>
          <a:ln/>
          <a:effectLst>
            <a:outerShdw sx="100000" sy="100000" kx="0" ky="0" algn="bl" rotWithShape="0" blurRad="88900" dist="25400" dir="5400000">
              <a:srgbClr val="1B2A2E">
                <a:alpha val="10000"/>
              </a:srgbClr>
            </a:outerShdw>
          </a:effectLst>
        </p:spPr>
      </p:sp>
      <p:sp>
        <p:nvSpPr>
          <p:cNvPr id="17" name="Text 15"/>
          <p:cNvSpPr txBox="1"/>
          <p:nvPr/>
        </p:nvSpPr>
        <p:spPr>
          <a:xfrm>
            <a:off x="6062472" y="2980944"/>
            <a:ext cx="4206240" cy="603504"/>
          </a:xfrm>
          <a:prstGeom prst="rect">
            <a:avLst/>
          </a:prstGeom>
          <a:noFill/>
          <a:ln/>
        </p:spPr>
        <p:txBody>
          <a:bodyPr wrap="square" lIns="0" tIns="0" rIns="0" bIns="0" rtlCol="0" anchor="ctr"/>
          <a:lstStyle/>
          <a:p>
            <a:pPr indent="0" marL="0">
              <a:lnSpc>
                <a:spcPct val="115000"/>
              </a:lnSpc>
              <a:buNone/>
            </a:pPr>
            <a:r>
              <a:rPr lang="en-US" sz="1250" dirty="0">
                <a:solidFill>
                  <a:srgbClr val="0A1A23"/>
                </a:solidFill>
                <a:latin typeface="Poppins" pitchFamily="34" charset="0"/>
                <a:ea typeface="Poppins" pitchFamily="34" charset="-122"/>
                <a:cs typeface="Poppins" pitchFamily="34" charset="-120"/>
              </a:rPr>
              <a:t>Lives at a link the manager opens herself</a:t>
            </a:r>
            <a:endParaRPr lang="en-US" sz="1250" dirty="0"/>
          </a:p>
        </p:txBody>
      </p:sp>
      <p:sp>
        <p:nvSpPr>
          <p:cNvPr id="18" name="Shape 16"/>
          <p:cNvSpPr/>
          <p:nvPr/>
        </p:nvSpPr>
        <p:spPr>
          <a:xfrm>
            <a:off x="685800" y="3694176"/>
            <a:ext cx="4709160" cy="603504"/>
          </a:xfrm>
          <a:prstGeom prst="roundRect">
            <a:avLst>
              <a:gd name="adj" fmla="val 10606"/>
            </a:avLst>
          </a:prstGeom>
          <a:solidFill>
            <a:srgbClr val="F7FAFA"/>
          </a:solidFill>
          <a:ln/>
        </p:spPr>
      </p:sp>
      <p:sp>
        <p:nvSpPr>
          <p:cNvPr id="19" name="Text 17"/>
          <p:cNvSpPr txBox="1"/>
          <p:nvPr/>
        </p:nvSpPr>
        <p:spPr>
          <a:xfrm>
            <a:off x="941832" y="3694176"/>
            <a:ext cx="4206240" cy="603504"/>
          </a:xfrm>
          <a:prstGeom prst="rect">
            <a:avLst/>
          </a:prstGeom>
          <a:noFill/>
          <a:ln/>
        </p:spPr>
        <p:txBody>
          <a:bodyPr wrap="square" lIns="0" tIns="0" rIns="0" bIns="0" rtlCol="0" anchor="ctr"/>
          <a:lstStyle/>
          <a:p>
            <a:pPr indent="0" marL="0">
              <a:lnSpc>
                <a:spcPct val="115000"/>
              </a:lnSpc>
              <a:buNone/>
            </a:pPr>
            <a:r>
              <a:rPr lang="en-US" sz="1250" dirty="0">
                <a:solidFill>
                  <a:srgbClr val="475569"/>
                </a:solidFill>
                <a:latin typeface="Poppins" pitchFamily="34" charset="0"/>
                <a:ea typeface="Poppins" pitchFamily="34" charset="-122"/>
                <a:cs typeface="Poppins" pitchFamily="34" charset="-120"/>
              </a:rPr>
              <a:t>Goes stale the moment new data arrives</a:t>
            </a:r>
            <a:endParaRPr lang="en-US" sz="1250" dirty="0"/>
          </a:p>
        </p:txBody>
      </p:sp>
      <p:sp>
        <p:nvSpPr>
          <p:cNvPr id="20" name="Shape 18"/>
          <p:cNvSpPr/>
          <p:nvPr/>
        </p:nvSpPr>
        <p:spPr>
          <a:xfrm>
            <a:off x="5806440" y="3694176"/>
            <a:ext cx="4709160" cy="603504"/>
          </a:xfrm>
          <a:prstGeom prst="roundRect">
            <a:avLst>
              <a:gd name="adj" fmla="val 10606"/>
            </a:avLst>
          </a:prstGeom>
          <a:solidFill>
            <a:srgbClr val="FFFFFF"/>
          </a:solidFill>
          <a:ln/>
          <a:effectLst>
            <a:outerShdw sx="100000" sy="100000" kx="0" ky="0" algn="bl" rotWithShape="0" blurRad="88900" dist="25400" dir="5400000">
              <a:srgbClr val="1B2A2E">
                <a:alpha val="10000"/>
              </a:srgbClr>
            </a:outerShdw>
          </a:effectLst>
        </p:spPr>
      </p:sp>
      <p:sp>
        <p:nvSpPr>
          <p:cNvPr id="21" name="Text 19"/>
          <p:cNvSpPr txBox="1"/>
          <p:nvPr/>
        </p:nvSpPr>
        <p:spPr>
          <a:xfrm>
            <a:off x="6062472" y="3694176"/>
            <a:ext cx="4206240" cy="603504"/>
          </a:xfrm>
          <a:prstGeom prst="rect">
            <a:avLst/>
          </a:prstGeom>
          <a:noFill/>
          <a:ln/>
        </p:spPr>
        <p:txBody>
          <a:bodyPr wrap="square" lIns="0" tIns="0" rIns="0" bIns="0" rtlCol="0" anchor="ctr"/>
          <a:lstStyle/>
          <a:p>
            <a:pPr indent="0" marL="0">
              <a:lnSpc>
                <a:spcPct val="115000"/>
              </a:lnSpc>
              <a:buNone/>
            </a:pPr>
            <a:r>
              <a:rPr lang="en-US" sz="1250" dirty="0">
                <a:solidFill>
                  <a:srgbClr val="0A1A23"/>
                </a:solidFill>
                <a:latin typeface="Poppins" pitchFamily="34" charset="0"/>
                <a:ea typeface="Poppins" pitchFamily="34" charset="-122"/>
                <a:cs typeface="Poppins" pitchFamily="34" charset="-120"/>
              </a:rPr>
              <a:t>Refreshes against the source and stays current</a:t>
            </a:r>
            <a:endParaRPr lang="en-US" sz="1250" dirty="0"/>
          </a:p>
        </p:txBody>
      </p:sp>
      <p:sp>
        <p:nvSpPr>
          <p:cNvPr id="22" name="Shape 20"/>
          <p:cNvSpPr/>
          <p:nvPr/>
        </p:nvSpPr>
        <p:spPr>
          <a:xfrm>
            <a:off x="685800" y="4407408"/>
            <a:ext cx="4709160" cy="603504"/>
          </a:xfrm>
          <a:prstGeom prst="roundRect">
            <a:avLst>
              <a:gd name="adj" fmla="val 10606"/>
            </a:avLst>
          </a:prstGeom>
          <a:solidFill>
            <a:srgbClr val="F7FAFA"/>
          </a:solidFill>
          <a:ln/>
        </p:spPr>
      </p:sp>
      <p:sp>
        <p:nvSpPr>
          <p:cNvPr id="23" name="Text 21"/>
          <p:cNvSpPr txBox="1"/>
          <p:nvPr/>
        </p:nvSpPr>
        <p:spPr>
          <a:xfrm>
            <a:off x="941832" y="4407408"/>
            <a:ext cx="4206240" cy="603504"/>
          </a:xfrm>
          <a:prstGeom prst="rect">
            <a:avLst/>
          </a:prstGeom>
          <a:noFill/>
          <a:ln/>
        </p:spPr>
        <p:txBody>
          <a:bodyPr wrap="square" lIns="0" tIns="0" rIns="0" bIns="0" rtlCol="0" anchor="ctr"/>
          <a:lstStyle/>
          <a:p>
            <a:pPr indent="0" marL="0">
              <a:lnSpc>
                <a:spcPct val="115000"/>
              </a:lnSpc>
              <a:buNone/>
            </a:pPr>
            <a:r>
              <a:rPr lang="en-US" sz="1250" dirty="0">
                <a:solidFill>
                  <a:srgbClr val="475569"/>
                </a:solidFill>
                <a:latin typeface="Poppins" pitchFamily="34" charset="0"/>
                <a:ea typeface="Poppins" pitchFamily="34" charset="-122"/>
                <a:cs typeface="Poppins" pitchFamily="34" charset="-120"/>
              </a:rPr>
              <a:t>You are the interface: they ask, you run it</a:t>
            </a:r>
            <a:endParaRPr lang="en-US" sz="1250" dirty="0"/>
          </a:p>
        </p:txBody>
      </p:sp>
      <p:sp>
        <p:nvSpPr>
          <p:cNvPr id="24" name="Shape 22"/>
          <p:cNvSpPr/>
          <p:nvPr/>
        </p:nvSpPr>
        <p:spPr>
          <a:xfrm>
            <a:off x="5806440" y="4407408"/>
            <a:ext cx="4709160" cy="603504"/>
          </a:xfrm>
          <a:prstGeom prst="roundRect">
            <a:avLst>
              <a:gd name="adj" fmla="val 10606"/>
            </a:avLst>
          </a:prstGeom>
          <a:solidFill>
            <a:srgbClr val="FFFFFF"/>
          </a:solidFill>
          <a:ln/>
          <a:effectLst>
            <a:outerShdw sx="100000" sy="100000" kx="0" ky="0" algn="bl" rotWithShape="0" blurRad="88900" dist="25400" dir="5400000">
              <a:srgbClr val="1B2A2E">
                <a:alpha val="10000"/>
              </a:srgbClr>
            </a:outerShdw>
          </a:effectLst>
        </p:spPr>
      </p:sp>
      <p:sp>
        <p:nvSpPr>
          <p:cNvPr id="25" name="Text 23"/>
          <p:cNvSpPr txBox="1"/>
          <p:nvPr/>
        </p:nvSpPr>
        <p:spPr>
          <a:xfrm>
            <a:off x="6062472" y="4407408"/>
            <a:ext cx="4206240" cy="603504"/>
          </a:xfrm>
          <a:prstGeom prst="rect">
            <a:avLst/>
          </a:prstGeom>
          <a:noFill/>
          <a:ln/>
        </p:spPr>
        <p:txBody>
          <a:bodyPr wrap="square" lIns="0" tIns="0" rIns="0" bIns="0" rtlCol="0" anchor="ctr"/>
          <a:lstStyle/>
          <a:p>
            <a:pPr indent="0" marL="0">
              <a:lnSpc>
                <a:spcPct val="115000"/>
              </a:lnSpc>
              <a:buNone/>
            </a:pPr>
            <a:r>
              <a:rPr lang="en-US" sz="1250" dirty="0">
                <a:solidFill>
                  <a:srgbClr val="0A1A23"/>
                </a:solidFill>
                <a:latin typeface="Poppins" pitchFamily="34" charset="0"/>
                <a:ea typeface="Poppins" pitchFamily="34" charset="-122"/>
                <a:cs typeface="Poppins" pitchFamily="34" charset="-120"/>
              </a:rPr>
              <a:t>The model is the interface: they explore without you</a:t>
            </a:r>
            <a:endParaRPr lang="en-US" sz="1250" dirty="0"/>
          </a:p>
        </p:txBody>
      </p:sp>
      <p:sp>
        <p:nvSpPr>
          <p:cNvPr id="26" name="Shape 24"/>
          <p:cNvSpPr/>
          <p:nvPr/>
        </p:nvSpPr>
        <p:spPr>
          <a:xfrm>
            <a:off x="685800" y="5257800"/>
            <a:ext cx="9829800" cy="777240"/>
          </a:xfrm>
          <a:prstGeom prst="roundRect">
            <a:avLst>
              <a:gd name="adj" fmla="val 10588"/>
            </a:avLst>
          </a:prstGeom>
          <a:solidFill>
            <a:srgbClr val="EEF4F4"/>
          </a:solidFill>
          <a:ln/>
        </p:spPr>
      </p:sp>
      <p:sp>
        <p:nvSpPr>
          <p:cNvPr id="27" name="Shape 25"/>
          <p:cNvSpPr/>
          <p:nvPr/>
        </p:nvSpPr>
        <p:spPr>
          <a:xfrm>
            <a:off x="685800" y="5257800"/>
            <a:ext cx="68580" cy="777240"/>
          </a:xfrm>
          <a:prstGeom prst="rect">
            <a:avLst/>
          </a:prstGeom>
          <a:solidFill>
            <a:srgbClr val="387F7F"/>
          </a:solidFill>
          <a:ln/>
        </p:spPr>
      </p:sp>
      <p:sp>
        <p:nvSpPr>
          <p:cNvPr id="28" name="Text 26"/>
          <p:cNvSpPr txBox="1"/>
          <p:nvPr/>
        </p:nvSpPr>
        <p:spPr>
          <a:xfrm>
            <a:off x="1051560" y="5257800"/>
            <a:ext cx="9235440" cy="777240"/>
          </a:xfrm>
          <a:prstGeom prst="rect">
            <a:avLst/>
          </a:prstGeom>
          <a:noFill/>
          <a:ln/>
        </p:spPr>
        <p:txBody>
          <a:bodyPr wrap="square" lIns="0" tIns="0" rIns="0" bIns="0" rtlCol="0" anchor="ctr"/>
          <a:lstStyle/>
          <a:p>
            <a:pPr algn="l" indent="0" marL="0">
              <a:lnSpc>
                <a:spcPct val="135000"/>
              </a:lnSpc>
              <a:buNone/>
            </a:pPr>
            <a:r>
              <a:rPr lang="en-US" sz="1450" b="1" dirty="0">
                <a:solidFill>
                  <a:srgbClr val="387F7F"/>
                </a:solidFill>
                <a:latin typeface="Poppins" pitchFamily="34" charset="0"/>
                <a:ea typeface="Poppins" pitchFamily="34" charset="-122"/>
                <a:cs typeface="Poppins" pitchFamily="34" charset="-120"/>
              </a:rPr>
              <a:t>Both are legitimate work. This module teaches the second one.</a:t>
            </a:r>
            <a:endParaRPr lang="en-US" sz="1450" dirty="0"/>
          </a:p>
        </p:txBody>
      </p:sp>
      <p:pic>
        <p:nvPicPr>
          <p:cNvPr id="29" name="Image 0" descr="/home/claude/build/assets/logo_full.png">    </p:cNvPr>
          <p:cNvPicPr>
            <a:picLocks noChangeAspect="1"/>
          </p:cNvPicPr>
          <p:nvPr/>
        </p:nvPicPr>
        <p:blipFill>
          <a:blip r:embed="rId2"/>
          <a:stretch>
            <a:fillRect/>
          </a:stretch>
        </p:blipFill>
        <p:spPr>
          <a:xfrm>
            <a:off x="10998403" y="5949086"/>
            <a:ext cx="431597" cy="375337"/>
          </a:xfrm>
          <a:prstGeom prst="rect">
            <a:avLst/>
          </a:prstGeom>
        </p:spPr>
      </p:pic>
      <p:sp>
        <p:nvSpPr>
          <p:cNvPr id="30" name="Text 27"/>
          <p:cNvSpPr txBox="1"/>
          <p:nvPr/>
        </p:nvSpPr>
        <p:spPr>
          <a:xfrm>
            <a:off x="11689050" y="6473952"/>
            <a:ext cx="365760" cy="274320"/>
          </a:xfrm>
          <a:prstGeom prst="rect">
            <a:avLst/>
          </a:prstGeom>
          <a:noFill/>
          <a:ln/>
        </p:spPr>
        <p:txBody>
          <a:bodyPr wrap="square" lIns="0" tIns="0" rIns="0" bIns="0" rtlCol="0" anchor="ctr"/>
          <a:lstStyle/>
          <a:p>
            <a:pPr algn="r" indent="0" marL="0">
              <a:buNone/>
            </a:pPr>
            <a:r>
              <a:rPr lang="en-US" sz="1100" dirty="0">
                <a:solidFill>
                  <a:srgbClr val="64748B"/>
                </a:solidFill>
                <a:latin typeface="Poppins" pitchFamily="34" charset="0"/>
                <a:ea typeface="Poppins" pitchFamily="34" charset="-122"/>
                <a:cs typeface="Poppins" pitchFamily="34" charset="-120"/>
              </a:rPr>
              <a:t>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1024006" y="1958645"/>
            <a:ext cx="4133088" cy="4038905"/>
          </a:xfrm>
          <a:prstGeom prst="ellipse">
            <a:avLst/>
          </a:prstGeom>
          <a:solidFill>
            <a:srgbClr val="387F7F"/>
          </a:solidFill>
          <a:ln/>
        </p:spPr>
      </p:sp>
      <p:sp>
        <p:nvSpPr>
          <p:cNvPr id="3" name="Shape 1"/>
          <p:cNvSpPr/>
          <p:nvPr/>
        </p:nvSpPr>
        <p:spPr>
          <a:xfrm>
            <a:off x="11316614" y="2675534"/>
            <a:ext cx="1051560" cy="2162556"/>
          </a:xfrm>
          <a:prstGeom prst="ellipse">
            <a:avLst/>
          </a:prstGeom>
          <a:solidFill>
            <a:srgbClr val="387F7F"/>
          </a:solidFill>
          <a:ln/>
        </p:spPr>
      </p:sp>
      <p:sp>
        <p:nvSpPr>
          <p:cNvPr id="4" name="Shape 2"/>
          <p:cNvSpPr/>
          <p:nvPr/>
        </p:nvSpPr>
        <p:spPr>
          <a:xfrm>
            <a:off x="685800" y="548640"/>
            <a:ext cx="68580" cy="420624"/>
          </a:xfrm>
          <a:prstGeom prst="rect">
            <a:avLst/>
          </a:prstGeom>
          <a:solidFill>
            <a:srgbClr val="387F7F"/>
          </a:solidFill>
          <a:ln/>
        </p:spPr>
      </p:sp>
      <p:sp>
        <p:nvSpPr>
          <p:cNvPr id="5" name="Text 3"/>
          <p:cNvSpPr txBox="1"/>
          <p:nvPr/>
        </p:nvSpPr>
        <p:spPr>
          <a:xfrm>
            <a:off x="886968" y="502920"/>
            <a:ext cx="9692640" cy="502920"/>
          </a:xfrm>
          <a:prstGeom prst="rect">
            <a:avLst/>
          </a:prstGeom>
          <a:noFill/>
          <a:ln/>
        </p:spPr>
        <p:txBody>
          <a:bodyPr wrap="square" lIns="0" tIns="0" rIns="0" bIns="0" rtlCol="0" anchor="ctr"/>
          <a:lstStyle/>
          <a:p>
            <a:pPr indent="0" marL="0">
              <a:lnSpc>
                <a:spcPct val="108000"/>
              </a:lnSpc>
              <a:buNone/>
            </a:pPr>
            <a:r>
              <a:rPr lang="en-US" sz="2700" dirty="0">
                <a:solidFill>
                  <a:srgbClr val="387F7F"/>
                </a:solidFill>
                <a:latin typeface="Poppins" pitchFamily="34" charset="0"/>
                <a:ea typeface="Poppins" pitchFamily="34" charset="-122"/>
                <a:cs typeface="Poppins" pitchFamily="34" charset="-120"/>
              </a:rPr>
              <a:t>Four views, one file</a:t>
            </a:r>
            <a:endParaRPr lang="en-US" sz="2700" dirty="0"/>
          </a:p>
        </p:txBody>
      </p:sp>
      <p:sp>
        <p:nvSpPr>
          <p:cNvPr id="6" name="Shape 4"/>
          <p:cNvSpPr/>
          <p:nvPr/>
        </p:nvSpPr>
        <p:spPr>
          <a:xfrm>
            <a:off x="1265791" y="1380744"/>
            <a:ext cx="4783618" cy="3273552"/>
          </a:xfrm>
          <a:prstGeom prst="roundRect">
            <a:avLst>
              <a:gd name="adj" fmla="val 2235"/>
            </a:avLst>
          </a:prstGeom>
          <a:solidFill>
            <a:srgbClr val="FFFFFF"/>
          </a:solidFill>
          <a:ln w="12700">
            <a:solidFill>
              <a:srgbClr val="E2E8F0"/>
            </a:solidFill>
            <a:prstDash val="solid"/>
          </a:ln>
          <a:effectLst>
            <a:outerShdw sx="100000" sy="100000" kx="0" ky="0" algn="bl" rotWithShape="0" blurRad="152400" dist="38100" dir="5400000">
              <a:srgbClr val="1B2A2E">
                <a:alpha val="18000"/>
              </a:srgbClr>
            </a:outerShdw>
          </a:effectLst>
        </p:spPr>
      </p:sp>
      <p:pic>
        <p:nvPicPr>
          <p:cNvPr id="7" name="Image 0" descr="/home/claude/build/assets/shot_views.png">    </p:cNvPr>
          <p:cNvPicPr>
            <a:picLocks noChangeAspect="1"/>
          </p:cNvPicPr>
          <p:nvPr/>
        </p:nvPicPr>
        <p:blipFill>
          <a:blip r:embed="rId2"/>
          <a:stretch>
            <a:fillRect/>
          </a:stretch>
        </p:blipFill>
        <p:spPr>
          <a:xfrm>
            <a:off x="1348087" y="1463040"/>
            <a:ext cx="4619026" cy="3108960"/>
          </a:xfrm>
          <a:prstGeom prst="rect">
            <a:avLst/>
          </a:prstGeom>
        </p:spPr>
      </p:pic>
      <p:sp>
        <p:nvSpPr>
          <p:cNvPr id="8" name="Shape 5"/>
          <p:cNvSpPr/>
          <p:nvPr/>
        </p:nvSpPr>
        <p:spPr>
          <a:xfrm>
            <a:off x="6949440" y="1554480"/>
            <a:ext cx="3566160" cy="1024128"/>
          </a:xfrm>
          <a:prstGeom prst="roundRect">
            <a:avLst>
              <a:gd name="adj" fmla="val 8929"/>
            </a:avLst>
          </a:prstGeom>
          <a:solidFill>
            <a:srgbClr val="FFFFFF"/>
          </a:solidFill>
          <a:ln/>
          <a:effectLst>
            <a:outerShdw sx="100000" sy="100000" kx="0" ky="0" algn="bl" rotWithShape="0" blurRad="152400" dist="38100" dir="5400000">
              <a:srgbClr val="1B2A2E">
                <a:alpha val="14000"/>
              </a:srgbClr>
            </a:outerShdw>
          </a:effectLst>
        </p:spPr>
      </p:sp>
      <p:sp>
        <p:nvSpPr>
          <p:cNvPr id="9" name="Shape 6"/>
          <p:cNvSpPr/>
          <p:nvPr/>
        </p:nvSpPr>
        <p:spPr>
          <a:xfrm>
            <a:off x="7178040" y="1828800"/>
            <a:ext cx="457200" cy="457200"/>
          </a:xfrm>
          <a:prstGeom prst="ellipse">
            <a:avLst/>
          </a:prstGeom>
          <a:solidFill>
            <a:srgbClr val="387F7F"/>
          </a:solidFill>
          <a:ln/>
        </p:spPr>
      </p:sp>
      <p:sp>
        <p:nvSpPr>
          <p:cNvPr id="10" name="Text 7"/>
          <p:cNvSpPr txBox="1"/>
          <p:nvPr/>
        </p:nvSpPr>
        <p:spPr>
          <a:xfrm>
            <a:off x="7178040" y="1828800"/>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Poppins" pitchFamily="34" charset="0"/>
                <a:ea typeface="Poppins" pitchFamily="34" charset="-122"/>
                <a:cs typeface="Poppins" pitchFamily="34" charset="-120"/>
              </a:rPr>
              <a:t>1</a:t>
            </a:r>
            <a:endParaRPr lang="en-US" sz="1900" dirty="0"/>
          </a:p>
        </p:txBody>
      </p:sp>
      <p:sp>
        <p:nvSpPr>
          <p:cNvPr id="11" name="Text 8"/>
          <p:cNvSpPr txBox="1"/>
          <p:nvPr/>
        </p:nvSpPr>
        <p:spPr>
          <a:xfrm>
            <a:off x="7772400" y="1664208"/>
            <a:ext cx="2606040" cy="310896"/>
          </a:xfrm>
          <a:prstGeom prst="rect">
            <a:avLst/>
          </a:prstGeom>
          <a:noFill/>
          <a:ln/>
        </p:spPr>
        <p:txBody>
          <a:bodyPr wrap="square" lIns="0" tIns="0" rIns="0" bIns="0" rtlCol="0" anchor="ctr"/>
          <a:lstStyle/>
          <a:p>
            <a:pPr indent="0" marL="0">
              <a:buNone/>
            </a:pPr>
            <a:r>
              <a:rPr lang="en-US" sz="1300" b="1" dirty="0">
                <a:solidFill>
                  <a:srgbClr val="0A1A23"/>
                </a:solidFill>
                <a:latin typeface="Poppins" pitchFamily="34" charset="0"/>
                <a:ea typeface="Poppins" pitchFamily="34" charset="-122"/>
                <a:cs typeface="Poppins" pitchFamily="34" charset="-120"/>
              </a:rPr>
              <a:t>Report view</a:t>
            </a:r>
            <a:endParaRPr lang="en-US" sz="1300" dirty="0"/>
          </a:p>
        </p:txBody>
      </p:sp>
      <p:sp>
        <p:nvSpPr>
          <p:cNvPr id="12" name="Text 9"/>
          <p:cNvSpPr txBox="1"/>
          <p:nvPr/>
        </p:nvSpPr>
        <p:spPr>
          <a:xfrm>
            <a:off x="7772400" y="1975104"/>
            <a:ext cx="2606040" cy="548640"/>
          </a:xfrm>
          <a:prstGeom prst="rect">
            <a:avLst/>
          </a:prstGeom>
          <a:noFill/>
          <a:ln/>
        </p:spPr>
        <p:txBody>
          <a:bodyPr wrap="square" lIns="0" tIns="0" rIns="0" bIns="0" rtlCol="0" anchor="t"/>
          <a:lstStyle/>
          <a:p>
            <a:pPr algn="l" indent="0" marL="0">
              <a:lnSpc>
                <a:spcPct val="120000"/>
              </a:lnSpc>
              <a:buNone/>
            </a:pPr>
            <a:r>
              <a:rPr lang="en-US" sz="1100" dirty="0">
                <a:solidFill>
                  <a:srgbClr val="475569"/>
                </a:solidFill>
                <a:latin typeface="Poppins" pitchFamily="34" charset="0"/>
                <a:ea typeface="Poppins" pitchFamily="34" charset="-122"/>
                <a:cs typeface="Poppins" pitchFamily="34" charset="-120"/>
              </a:rPr>
              <a:t>Where you build what Adaeze sees.</a:t>
            </a:r>
            <a:endParaRPr lang="en-US" sz="1100" dirty="0"/>
          </a:p>
        </p:txBody>
      </p:sp>
      <p:sp>
        <p:nvSpPr>
          <p:cNvPr id="13" name="Shape 10"/>
          <p:cNvSpPr/>
          <p:nvPr/>
        </p:nvSpPr>
        <p:spPr>
          <a:xfrm>
            <a:off x="6949440" y="2670048"/>
            <a:ext cx="3566160" cy="1024128"/>
          </a:xfrm>
          <a:prstGeom prst="roundRect">
            <a:avLst>
              <a:gd name="adj" fmla="val 8929"/>
            </a:avLst>
          </a:prstGeom>
          <a:solidFill>
            <a:srgbClr val="FFFFFF"/>
          </a:solidFill>
          <a:ln/>
          <a:effectLst>
            <a:outerShdw sx="100000" sy="100000" kx="0" ky="0" algn="bl" rotWithShape="0" blurRad="152400" dist="38100" dir="5400000">
              <a:srgbClr val="1B2A2E">
                <a:alpha val="14000"/>
              </a:srgbClr>
            </a:outerShdw>
          </a:effectLst>
        </p:spPr>
      </p:sp>
      <p:sp>
        <p:nvSpPr>
          <p:cNvPr id="14" name="Shape 11"/>
          <p:cNvSpPr/>
          <p:nvPr/>
        </p:nvSpPr>
        <p:spPr>
          <a:xfrm>
            <a:off x="7178040" y="2944368"/>
            <a:ext cx="457200" cy="457200"/>
          </a:xfrm>
          <a:prstGeom prst="ellipse">
            <a:avLst/>
          </a:prstGeom>
          <a:solidFill>
            <a:srgbClr val="387F7F"/>
          </a:solidFill>
          <a:ln/>
        </p:spPr>
      </p:sp>
      <p:sp>
        <p:nvSpPr>
          <p:cNvPr id="15" name="Text 12"/>
          <p:cNvSpPr txBox="1"/>
          <p:nvPr/>
        </p:nvSpPr>
        <p:spPr>
          <a:xfrm>
            <a:off x="7178040" y="2944368"/>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Poppins" pitchFamily="34" charset="0"/>
                <a:ea typeface="Poppins" pitchFamily="34" charset="-122"/>
                <a:cs typeface="Poppins" pitchFamily="34" charset="-120"/>
              </a:rPr>
              <a:t>2</a:t>
            </a:r>
            <a:endParaRPr lang="en-US" sz="1900" dirty="0"/>
          </a:p>
        </p:txBody>
      </p:sp>
      <p:sp>
        <p:nvSpPr>
          <p:cNvPr id="16" name="Text 13"/>
          <p:cNvSpPr txBox="1"/>
          <p:nvPr/>
        </p:nvSpPr>
        <p:spPr>
          <a:xfrm>
            <a:off x="7772400" y="2779776"/>
            <a:ext cx="2606040" cy="310896"/>
          </a:xfrm>
          <a:prstGeom prst="rect">
            <a:avLst/>
          </a:prstGeom>
          <a:noFill/>
          <a:ln/>
        </p:spPr>
        <p:txBody>
          <a:bodyPr wrap="square" lIns="0" tIns="0" rIns="0" bIns="0" rtlCol="0" anchor="ctr"/>
          <a:lstStyle/>
          <a:p>
            <a:pPr indent="0" marL="0">
              <a:buNone/>
            </a:pPr>
            <a:r>
              <a:rPr lang="en-US" sz="1300" b="1" dirty="0">
                <a:solidFill>
                  <a:srgbClr val="0A1A23"/>
                </a:solidFill>
                <a:latin typeface="Poppins" pitchFamily="34" charset="0"/>
                <a:ea typeface="Poppins" pitchFamily="34" charset="-122"/>
                <a:cs typeface="Poppins" pitchFamily="34" charset="-120"/>
              </a:rPr>
              <a:t>Table view</a:t>
            </a:r>
            <a:endParaRPr lang="en-US" sz="1300" dirty="0"/>
          </a:p>
        </p:txBody>
      </p:sp>
      <p:sp>
        <p:nvSpPr>
          <p:cNvPr id="17" name="Text 14"/>
          <p:cNvSpPr txBox="1"/>
          <p:nvPr/>
        </p:nvSpPr>
        <p:spPr>
          <a:xfrm>
            <a:off x="7772400" y="3090672"/>
            <a:ext cx="2606040" cy="548640"/>
          </a:xfrm>
          <a:prstGeom prst="rect">
            <a:avLst/>
          </a:prstGeom>
          <a:noFill/>
          <a:ln/>
        </p:spPr>
        <p:txBody>
          <a:bodyPr wrap="square" lIns="0" tIns="0" rIns="0" bIns="0" rtlCol="0" anchor="t"/>
          <a:lstStyle/>
          <a:p>
            <a:pPr algn="l" indent="0" marL="0">
              <a:lnSpc>
                <a:spcPct val="120000"/>
              </a:lnSpc>
              <a:buNone/>
            </a:pPr>
            <a:r>
              <a:rPr lang="en-US" sz="1100" dirty="0">
                <a:solidFill>
                  <a:srgbClr val="475569"/>
                </a:solidFill>
                <a:latin typeface="Poppins" pitchFamily="34" charset="0"/>
                <a:ea typeface="Poppins" pitchFamily="34" charset="-122"/>
                <a:cs typeface="Poppins" pitchFamily="34" charset="-120"/>
              </a:rPr>
              <a:t>Where you inspect the data as rows, the way you would in Excel.</a:t>
            </a:r>
            <a:endParaRPr lang="en-US" sz="1100" dirty="0"/>
          </a:p>
        </p:txBody>
      </p:sp>
      <p:sp>
        <p:nvSpPr>
          <p:cNvPr id="18" name="Shape 15"/>
          <p:cNvSpPr/>
          <p:nvPr/>
        </p:nvSpPr>
        <p:spPr>
          <a:xfrm>
            <a:off x="6949440" y="3785616"/>
            <a:ext cx="3566160" cy="1024128"/>
          </a:xfrm>
          <a:prstGeom prst="roundRect">
            <a:avLst>
              <a:gd name="adj" fmla="val 8929"/>
            </a:avLst>
          </a:prstGeom>
          <a:solidFill>
            <a:srgbClr val="FFFFFF"/>
          </a:solidFill>
          <a:ln/>
          <a:effectLst>
            <a:outerShdw sx="100000" sy="100000" kx="0" ky="0" algn="bl" rotWithShape="0" blurRad="152400" dist="38100" dir="5400000">
              <a:srgbClr val="1B2A2E">
                <a:alpha val="14000"/>
              </a:srgbClr>
            </a:outerShdw>
          </a:effectLst>
        </p:spPr>
      </p:sp>
      <p:sp>
        <p:nvSpPr>
          <p:cNvPr id="19" name="Shape 16"/>
          <p:cNvSpPr/>
          <p:nvPr/>
        </p:nvSpPr>
        <p:spPr>
          <a:xfrm>
            <a:off x="7178040" y="4059936"/>
            <a:ext cx="457200" cy="457200"/>
          </a:xfrm>
          <a:prstGeom prst="ellipse">
            <a:avLst/>
          </a:prstGeom>
          <a:solidFill>
            <a:srgbClr val="387F7F"/>
          </a:solidFill>
          <a:ln/>
        </p:spPr>
      </p:sp>
      <p:sp>
        <p:nvSpPr>
          <p:cNvPr id="20" name="Text 17"/>
          <p:cNvSpPr txBox="1"/>
          <p:nvPr/>
        </p:nvSpPr>
        <p:spPr>
          <a:xfrm>
            <a:off x="7178040" y="4059936"/>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Poppins" pitchFamily="34" charset="0"/>
                <a:ea typeface="Poppins" pitchFamily="34" charset="-122"/>
                <a:cs typeface="Poppins" pitchFamily="34" charset="-120"/>
              </a:rPr>
              <a:t>3</a:t>
            </a:r>
            <a:endParaRPr lang="en-US" sz="1900" dirty="0"/>
          </a:p>
        </p:txBody>
      </p:sp>
      <p:sp>
        <p:nvSpPr>
          <p:cNvPr id="21" name="Text 18"/>
          <p:cNvSpPr txBox="1"/>
          <p:nvPr/>
        </p:nvSpPr>
        <p:spPr>
          <a:xfrm>
            <a:off x="7772400" y="3895344"/>
            <a:ext cx="2606040" cy="310896"/>
          </a:xfrm>
          <a:prstGeom prst="rect">
            <a:avLst/>
          </a:prstGeom>
          <a:noFill/>
          <a:ln/>
        </p:spPr>
        <p:txBody>
          <a:bodyPr wrap="square" lIns="0" tIns="0" rIns="0" bIns="0" rtlCol="0" anchor="ctr"/>
          <a:lstStyle/>
          <a:p>
            <a:pPr indent="0" marL="0">
              <a:buNone/>
            </a:pPr>
            <a:r>
              <a:rPr lang="en-US" sz="1300" b="1" dirty="0">
                <a:solidFill>
                  <a:srgbClr val="0A1A23"/>
                </a:solidFill>
                <a:latin typeface="Poppins" pitchFamily="34" charset="0"/>
                <a:ea typeface="Poppins" pitchFamily="34" charset="-122"/>
                <a:cs typeface="Poppins" pitchFamily="34" charset="-120"/>
              </a:rPr>
              <a:t>Model view</a:t>
            </a:r>
            <a:endParaRPr lang="en-US" sz="1300" dirty="0"/>
          </a:p>
        </p:txBody>
      </p:sp>
      <p:sp>
        <p:nvSpPr>
          <p:cNvPr id="22" name="Text 19"/>
          <p:cNvSpPr txBox="1"/>
          <p:nvPr/>
        </p:nvSpPr>
        <p:spPr>
          <a:xfrm>
            <a:off x="7772400" y="4206240"/>
            <a:ext cx="2606040" cy="548640"/>
          </a:xfrm>
          <a:prstGeom prst="rect">
            <a:avLst/>
          </a:prstGeom>
          <a:noFill/>
          <a:ln/>
        </p:spPr>
        <p:txBody>
          <a:bodyPr wrap="square" lIns="0" tIns="0" rIns="0" bIns="0" rtlCol="0" anchor="t"/>
          <a:lstStyle/>
          <a:p>
            <a:pPr algn="l" indent="0" marL="0">
              <a:lnSpc>
                <a:spcPct val="120000"/>
              </a:lnSpc>
              <a:buNone/>
            </a:pPr>
            <a:r>
              <a:rPr lang="en-US" sz="1100" dirty="0">
                <a:solidFill>
                  <a:srgbClr val="475569"/>
                </a:solidFill>
                <a:latin typeface="Poppins" pitchFamily="34" charset="0"/>
                <a:ea typeface="Poppins" pitchFamily="34" charset="-122"/>
                <a:cs typeface="Poppins" pitchFamily="34" charset="-120"/>
              </a:rPr>
              <a:t>Where relationships are drawn. This is Topic 7.2.</a:t>
            </a:r>
            <a:endParaRPr lang="en-US" sz="1100" dirty="0"/>
          </a:p>
        </p:txBody>
      </p:sp>
      <p:sp>
        <p:nvSpPr>
          <p:cNvPr id="23" name="Shape 20"/>
          <p:cNvSpPr/>
          <p:nvPr/>
        </p:nvSpPr>
        <p:spPr>
          <a:xfrm>
            <a:off x="6949440" y="4901184"/>
            <a:ext cx="3566160" cy="1024128"/>
          </a:xfrm>
          <a:prstGeom prst="roundRect">
            <a:avLst>
              <a:gd name="adj" fmla="val 8929"/>
            </a:avLst>
          </a:prstGeom>
          <a:solidFill>
            <a:srgbClr val="FFFFFF"/>
          </a:solidFill>
          <a:ln/>
          <a:effectLst>
            <a:outerShdw sx="100000" sy="100000" kx="0" ky="0" algn="bl" rotWithShape="0" blurRad="152400" dist="38100" dir="5400000">
              <a:srgbClr val="1B2A2E">
                <a:alpha val="14000"/>
              </a:srgbClr>
            </a:outerShdw>
          </a:effectLst>
        </p:spPr>
      </p:sp>
      <p:sp>
        <p:nvSpPr>
          <p:cNvPr id="24" name="Shape 21"/>
          <p:cNvSpPr/>
          <p:nvPr/>
        </p:nvSpPr>
        <p:spPr>
          <a:xfrm>
            <a:off x="7178040" y="5175504"/>
            <a:ext cx="457200" cy="457200"/>
          </a:xfrm>
          <a:prstGeom prst="ellipse">
            <a:avLst/>
          </a:prstGeom>
          <a:solidFill>
            <a:srgbClr val="387F7F"/>
          </a:solidFill>
          <a:ln/>
        </p:spPr>
      </p:sp>
      <p:sp>
        <p:nvSpPr>
          <p:cNvPr id="25" name="Text 22"/>
          <p:cNvSpPr txBox="1"/>
          <p:nvPr/>
        </p:nvSpPr>
        <p:spPr>
          <a:xfrm>
            <a:off x="7178040" y="5175504"/>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Poppins" pitchFamily="34" charset="0"/>
                <a:ea typeface="Poppins" pitchFamily="34" charset="-122"/>
                <a:cs typeface="Poppins" pitchFamily="34" charset="-120"/>
              </a:rPr>
              <a:t>4</a:t>
            </a:r>
            <a:endParaRPr lang="en-US" sz="1900" dirty="0"/>
          </a:p>
        </p:txBody>
      </p:sp>
      <p:sp>
        <p:nvSpPr>
          <p:cNvPr id="26" name="Text 23"/>
          <p:cNvSpPr txBox="1"/>
          <p:nvPr/>
        </p:nvSpPr>
        <p:spPr>
          <a:xfrm>
            <a:off x="7772400" y="5010912"/>
            <a:ext cx="2606040" cy="310896"/>
          </a:xfrm>
          <a:prstGeom prst="rect">
            <a:avLst/>
          </a:prstGeom>
          <a:noFill/>
          <a:ln/>
        </p:spPr>
        <p:txBody>
          <a:bodyPr wrap="square" lIns="0" tIns="0" rIns="0" bIns="0" rtlCol="0" anchor="ctr"/>
          <a:lstStyle/>
          <a:p>
            <a:pPr indent="0" marL="0">
              <a:buNone/>
            </a:pPr>
            <a:r>
              <a:rPr lang="en-US" sz="1300" b="1" dirty="0">
                <a:solidFill>
                  <a:srgbClr val="0A1A23"/>
                </a:solidFill>
                <a:latin typeface="Poppins" pitchFamily="34" charset="0"/>
                <a:ea typeface="Poppins" pitchFamily="34" charset="-122"/>
                <a:cs typeface="Poppins" pitchFamily="34" charset="-120"/>
              </a:rPr>
              <a:t>Power Query editor</a:t>
            </a:r>
            <a:endParaRPr lang="en-US" sz="1300" dirty="0"/>
          </a:p>
        </p:txBody>
      </p:sp>
      <p:sp>
        <p:nvSpPr>
          <p:cNvPr id="27" name="Text 24"/>
          <p:cNvSpPr txBox="1"/>
          <p:nvPr/>
        </p:nvSpPr>
        <p:spPr>
          <a:xfrm>
            <a:off x="7772400" y="5321808"/>
            <a:ext cx="2606040" cy="548640"/>
          </a:xfrm>
          <a:prstGeom prst="rect">
            <a:avLst/>
          </a:prstGeom>
          <a:noFill/>
          <a:ln/>
        </p:spPr>
        <p:txBody>
          <a:bodyPr wrap="square" lIns="0" tIns="0" rIns="0" bIns="0" rtlCol="0" anchor="t"/>
          <a:lstStyle/>
          <a:p>
            <a:pPr algn="l" indent="0" marL="0">
              <a:lnSpc>
                <a:spcPct val="120000"/>
              </a:lnSpc>
              <a:buNone/>
            </a:pPr>
            <a:r>
              <a:rPr lang="en-US" sz="1100" dirty="0">
                <a:solidFill>
                  <a:srgbClr val="475569"/>
                </a:solidFill>
                <a:latin typeface="Poppins" pitchFamily="34" charset="0"/>
                <a:ea typeface="Poppins" pitchFamily="34" charset="-122"/>
                <a:cs typeface="Poppins" pitchFamily="34" charset="-120"/>
              </a:rPr>
              <a:t>A separate window. Where cleaning happens before anything else.</a:t>
            </a:r>
            <a:endParaRPr lang="en-US" sz="1100" dirty="0"/>
          </a:p>
        </p:txBody>
      </p:sp>
      <p:pic>
        <p:nvPicPr>
          <p:cNvPr id="28" name="Image 1" descr="/home/claude/build/assets/logo_full.png">    </p:cNvPr>
          <p:cNvPicPr>
            <a:picLocks noChangeAspect="1"/>
          </p:cNvPicPr>
          <p:nvPr/>
        </p:nvPicPr>
        <p:blipFill>
          <a:blip r:embed="rId3"/>
          <a:stretch>
            <a:fillRect/>
          </a:stretch>
        </p:blipFill>
        <p:spPr>
          <a:xfrm>
            <a:off x="10998403" y="5949086"/>
            <a:ext cx="431597" cy="375337"/>
          </a:xfrm>
          <a:prstGeom prst="rect">
            <a:avLst/>
          </a:prstGeom>
        </p:spPr>
      </p:pic>
      <p:sp>
        <p:nvSpPr>
          <p:cNvPr id="29" name="Text 25"/>
          <p:cNvSpPr txBox="1"/>
          <p:nvPr/>
        </p:nvSpPr>
        <p:spPr>
          <a:xfrm>
            <a:off x="11689050" y="6473952"/>
            <a:ext cx="365760" cy="274320"/>
          </a:xfrm>
          <a:prstGeom prst="rect">
            <a:avLst/>
          </a:prstGeom>
          <a:noFill/>
          <a:ln/>
        </p:spPr>
        <p:txBody>
          <a:bodyPr wrap="square" lIns="0" tIns="0" rIns="0" bIns="0" rtlCol="0" anchor="ctr"/>
          <a:lstStyle/>
          <a:p>
            <a:pPr algn="r" indent="0" marL="0">
              <a:buNone/>
            </a:pPr>
            <a:r>
              <a:rPr lang="en-US" sz="1100" dirty="0">
                <a:solidFill>
                  <a:srgbClr val="64748B"/>
                </a:solidFill>
                <a:latin typeface="Poppins" pitchFamily="34" charset="0"/>
                <a:ea typeface="Poppins" pitchFamily="34" charset="-122"/>
                <a:cs typeface="Poppins" pitchFamily="34" charset="-120"/>
              </a:rPr>
              <a:t>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1024006" y="1958645"/>
            <a:ext cx="4133088" cy="4038905"/>
          </a:xfrm>
          <a:prstGeom prst="ellipse">
            <a:avLst/>
          </a:prstGeom>
          <a:solidFill>
            <a:srgbClr val="387F7F"/>
          </a:solidFill>
          <a:ln/>
        </p:spPr>
      </p:sp>
      <p:sp>
        <p:nvSpPr>
          <p:cNvPr id="3" name="Shape 1"/>
          <p:cNvSpPr/>
          <p:nvPr/>
        </p:nvSpPr>
        <p:spPr>
          <a:xfrm>
            <a:off x="11316614" y="2675534"/>
            <a:ext cx="1051560" cy="2162556"/>
          </a:xfrm>
          <a:prstGeom prst="ellipse">
            <a:avLst/>
          </a:prstGeom>
          <a:solidFill>
            <a:srgbClr val="387F7F"/>
          </a:solidFill>
          <a:ln/>
        </p:spPr>
      </p:sp>
      <p:sp>
        <p:nvSpPr>
          <p:cNvPr id="4" name="Shape 2"/>
          <p:cNvSpPr/>
          <p:nvPr/>
        </p:nvSpPr>
        <p:spPr>
          <a:xfrm>
            <a:off x="685800" y="548640"/>
            <a:ext cx="68580" cy="420624"/>
          </a:xfrm>
          <a:prstGeom prst="rect">
            <a:avLst/>
          </a:prstGeom>
          <a:solidFill>
            <a:srgbClr val="387F7F"/>
          </a:solidFill>
          <a:ln/>
        </p:spPr>
      </p:sp>
      <p:sp>
        <p:nvSpPr>
          <p:cNvPr id="5" name="Text 3"/>
          <p:cNvSpPr txBox="1"/>
          <p:nvPr/>
        </p:nvSpPr>
        <p:spPr>
          <a:xfrm>
            <a:off x="886968" y="502920"/>
            <a:ext cx="9692640" cy="502920"/>
          </a:xfrm>
          <a:prstGeom prst="rect">
            <a:avLst/>
          </a:prstGeom>
          <a:noFill/>
          <a:ln/>
        </p:spPr>
        <p:txBody>
          <a:bodyPr wrap="square" lIns="0" tIns="0" rIns="0" bIns="0" rtlCol="0" anchor="ctr"/>
          <a:lstStyle/>
          <a:p>
            <a:pPr indent="0" marL="0">
              <a:lnSpc>
                <a:spcPct val="108000"/>
              </a:lnSpc>
              <a:buNone/>
            </a:pPr>
            <a:r>
              <a:rPr lang="en-US" sz="2700" dirty="0">
                <a:solidFill>
                  <a:srgbClr val="387F7F"/>
                </a:solidFill>
                <a:latin typeface="Poppins" pitchFamily="34" charset="0"/>
                <a:ea typeface="Poppins" pitchFamily="34" charset="-122"/>
                <a:cs typeface="Poppins" pitchFamily="34" charset="-120"/>
              </a:rPr>
              <a:t>Clean first. Model second. Visualise last.</a:t>
            </a:r>
            <a:endParaRPr lang="en-US" sz="2700" dirty="0"/>
          </a:p>
        </p:txBody>
      </p:sp>
      <p:sp>
        <p:nvSpPr>
          <p:cNvPr id="6" name="Shape 4"/>
          <p:cNvSpPr/>
          <p:nvPr/>
        </p:nvSpPr>
        <p:spPr>
          <a:xfrm>
            <a:off x="685800" y="1645920"/>
            <a:ext cx="2971800" cy="1417320"/>
          </a:xfrm>
          <a:prstGeom prst="roundRect">
            <a:avLst>
              <a:gd name="adj" fmla="val 6452"/>
            </a:avLst>
          </a:prstGeom>
          <a:solidFill>
            <a:srgbClr val="FFFFFF"/>
          </a:solidFill>
          <a:ln/>
          <a:effectLst>
            <a:outerShdw sx="100000" sy="100000" kx="0" ky="0" algn="bl" rotWithShape="0" blurRad="152400" dist="38100" dir="5400000">
              <a:srgbClr val="1B2A2E">
                <a:alpha val="20000"/>
              </a:srgbClr>
            </a:outerShdw>
          </a:effectLst>
        </p:spPr>
      </p:sp>
      <p:sp>
        <p:nvSpPr>
          <p:cNvPr id="7" name="Shape 5"/>
          <p:cNvSpPr/>
          <p:nvPr/>
        </p:nvSpPr>
        <p:spPr>
          <a:xfrm>
            <a:off x="685800" y="1645920"/>
            <a:ext cx="2971800" cy="82296"/>
          </a:xfrm>
          <a:prstGeom prst="rect">
            <a:avLst/>
          </a:prstGeom>
          <a:solidFill>
            <a:srgbClr val="387F7F"/>
          </a:solidFill>
          <a:ln/>
        </p:spPr>
      </p:sp>
      <p:sp>
        <p:nvSpPr>
          <p:cNvPr id="8" name="Shape 6"/>
          <p:cNvSpPr/>
          <p:nvPr/>
        </p:nvSpPr>
        <p:spPr>
          <a:xfrm>
            <a:off x="960120" y="2057400"/>
            <a:ext cx="566928" cy="566928"/>
          </a:xfrm>
          <a:prstGeom prst="ellipse">
            <a:avLst/>
          </a:prstGeom>
          <a:solidFill>
            <a:srgbClr val="387F7F"/>
          </a:solidFill>
          <a:ln/>
          <a:effectLst>
            <a:outerShdw sx="100000" sy="100000" kx="0" ky="0" algn="bl" rotWithShape="0" blurRad="101600" dist="25400" dir="5400000">
              <a:srgbClr val="1B2A2E">
                <a:alpha val="18000"/>
              </a:srgbClr>
            </a:outerShdw>
          </a:effectLst>
        </p:spPr>
      </p:sp>
      <p:sp>
        <p:nvSpPr>
          <p:cNvPr id="9" name="Text 7"/>
          <p:cNvSpPr txBox="1"/>
          <p:nvPr/>
        </p:nvSpPr>
        <p:spPr>
          <a:xfrm>
            <a:off x="960120" y="205740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Poppins" pitchFamily="34" charset="0"/>
                <a:ea typeface="Poppins" pitchFamily="34" charset="-122"/>
                <a:cs typeface="Poppins" pitchFamily="34" charset="-120"/>
              </a:rPr>
              <a:t>1</a:t>
            </a:r>
            <a:endParaRPr lang="en-US" sz="2200" dirty="0"/>
          </a:p>
        </p:txBody>
      </p:sp>
      <p:sp>
        <p:nvSpPr>
          <p:cNvPr id="10" name="Text 8"/>
          <p:cNvSpPr txBox="1"/>
          <p:nvPr/>
        </p:nvSpPr>
        <p:spPr>
          <a:xfrm>
            <a:off x="1691640" y="2011680"/>
            <a:ext cx="1737360" cy="365760"/>
          </a:xfrm>
          <a:prstGeom prst="rect">
            <a:avLst/>
          </a:prstGeom>
          <a:noFill/>
          <a:ln/>
        </p:spPr>
        <p:txBody>
          <a:bodyPr wrap="square" lIns="0" tIns="0" rIns="0" bIns="0" rtlCol="0" anchor="ctr"/>
          <a:lstStyle/>
          <a:p>
            <a:pPr indent="0" marL="0">
              <a:buNone/>
            </a:pPr>
            <a:r>
              <a:rPr lang="en-US" sz="1700" b="1" dirty="0">
                <a:solidFill>
                  <a:srgbClr val="0A1A23"/>
                </a:solidFill>
                <a:latin typeface="Poppins" pitchFamily="34" charset="0"/>
                <a:ea typeface="Poppins" pitchFamily="34" charset="-122"/>
                <a:cs typeface="Poppins" pitchFamily="34" charset="-120"/>
              </a:rPr>
              <a:t>Transform</a:t>
            </a:r>
            <a:endParaRPr lang="en-US" sz="1700" dirty="0"/>
          </a:p>
        </p:txBody>
      </p:sp>
      <p:sp>
        <p:nvSpPr>
          <p:cNvPr id="11" name="Text 9"/>
          <p:cNvSpPr txBox="1"/>
          <p:nvPr/>
        </p:nvSpPr>
        <p:spPr>
          <a:xfrm>
            <a:off x="1691640" y="2395728"/>
            <a:ext cx="1737360" cy="365760"/>
          </a:xfrm>
          <a:prstGeom prst="rect">
            <a:avLst/>
          </a:prstGeom>
          <a:noFill/>
          <a:ln/>
        </p:spPr>
        <p:txBody>
          <a:bodyPr wrap="square" lIns="0" tIns="0" rIns="0" bIns="0" rtlCol="0" anchor="t"/>
          <a:lstStyle/>
          <a:p>
            <a:pPr algn="l" indent="0" marL="0">
              <a:lnSpc>
                <a:spcPct val="135000"/>
              </a:lnSpc>
              <a:buNone/>
            </a:pPr>
            <a:r>
              <a:rPr lang="en-US" sz="1250" dirty="0">
                <a:solidFill>
                  <a:srgbClr val="64748B"/>
                </a:solidFill>
                <a:latin typeface="Poppins" pitchFamily="34" charset="0"/>
                <a:ea typeface="Poppins" pitchFamily="34" charset="-122"/>
                <a:cs typeface="Poppins" pitchFamily="34" charset="-120"/>
              </a:rPr>
              <a:t>in Power Query</a:t>
            </a:r>
            <a:endParaRPr lang="en-US" sz="1250" dirty="0"/>
          </a:p>
        </p:txBody>
      </p:sp>
      <p:sp>
        <p:nvSpPr>
          <p:cNvPr id="12" name="Text 10"/>
          <p:cNvSpPr txBox="1"/>
          <p:nvPr/>
        </p:nvSpPr>
        <p:spPr>
          <a:xfrm>
            <a:off x="3712464" y="2057400"/>
            <a:ext cx="457200" cy="457200"/>
          </a:xfrm>
          <a:prstGeom prst="rect">
            <a:avLst/>
          </a:prstGeom>
          <a:noFill/>
          <a:ln/>
        </p:spPr>
        <p:txBody>
          <a:bodyPr wrap="square" lIns="0" tIns="0" rIns="0" bIns="0" rtlCol="0" anchor="ctr"/>
          <a:lstStyle/>
          <a:p>
            <a:pPr algn="ctr" indent="0" marL="0">
              <a:buNone/>
            </a:pPr>
            <a:r>
              <a:rPr lang="en-US" sz="2300" b="1" dirty="0">
                <a:solidFill>
                  <a:srgbClr val="387F7F"/>
                </a:solidFill>
                <a:latin typeface="Poppins" pitchFamily="34" charset="0"/>
                <a:ea typeface="Poppins" pitchFamily="34" charset="-122"/>
                <a:cs typeface="Poppins" pitchFamily="34" charset="-120"/>
              </a:rPr>
              <a:t>›</a:t>
            </a:r>
            <a:endParaRPr lang="en-US" sz="2300" dirty="0"/>
          </a:p>
        </p:txBody>
      </p:sp>
      <p:sp>
        <p:nvSpPr>
          <p:cNvPr id="13" name="Shape 11"/>
          <p:cNvSpPr/>
          <p:nvPr/>
        </p:nvSpPr>
        <p:spPr>
          <a:xfrm>
            <a:off x="4206240" y="1645920"/>
            <a:ext cx="2971800" cy="1417320"/>
          </a:xfrm>
          <a:prstGeom prst="roundRect">
            <a:avLst>
              <a:gd name="adj" fmla="val 6452"/>
            </a:avLst>
          </a:prstGeom>
          <a:solidFill>
            <a:srgbClr val="FFFFFF"/>
          </a:solidFill>
          <a:ln/>
          <a:effectLst>
            <a:outerShdw sx="100000" sy="100000" kx="0" ky="0" algn="bl" rotWithShape="0" blurRad="152400" dist="38100" dir="5400000">
              <a:srgbClr val="1B2A2E">
                <a:alpha val="14000"/>
              </a:srgbClr>
            </a:outerShdw>
          </a:effectLst>
        </p:spPr>
      </p:sp>
      <p:sp>
        <p:nvSpPr>
          <p:cNvPr id="14" name="Shape 12"/>
          <p:cNvSpPr/>
          <p:nvPr/>
        </p:nvSpPr>
        <p:spPr>
          <a:xfrm>
            <a:off x="4206240" y="1645920"/>
            <a:ext cx="2971800" cy="82296"/>
          </a:xfrm>
          <a:prstGeom prst="rect">
            <a:avLst/>
          </a:prstGeom>
          <a:solidFill>
            <a:srgbClr val="387F7F"/>
          </a:solidFill>
          <a:ln/>
        </p:spPr>
      </p:sp>
      <p:sp>
        <p:nvSpPr>
          <p:cNvPr id="15" name="Shape 13"/>
          <p:cNvSpPr/>
          <p:nvPr/>
        </p:nvSpPr>
        <p:spPr>
          <a:xfrm>
            <a:off x="4480560" y="2057400"/>
            <a:ext cx="566928" cy="566928"/>
          </a:xfrm>
          <a:prstGeom prst="ellipse">
            <a:avLst/>
          </a:prstGeom>
          <a:solidFill>
            <a:srgbClr val="387F7F"/>
          </a:solidFill>
          <a:ln/>
          <a:effectLst>
            <a:outerShdw sx="100000" sy="100000" kx="0" ky="0" algn="bl" rotWithShape="0" blurRad="101600" dist="25400" dir="5400000">
              <a:srgbClr val="1B2A2E">
                <a:alpha val="18000"/>
              </a:srgbClr>
            </a:outerShdw>
          </a:effectLst>
        </p:spPr>
      </p:sp>
      <p:sp>
        <p:nvSpPr>
          <p:cNvPr id="16" name="Text 14"/>
          <p:cNvSpPr txBox="1"/>
          <p:nvPr/>
        </p:nvSpPr>
        <p:spPr>
          <a:xfrm>
            <a:off x="4480560" y="205740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Poppins" pitchFamily="34" charset="0"/>
                <a:ea typeface="Poppins" pitchFamily="34" charset="-122"/>
                <a:cs typeface="Poppins" pitchFamily="34" charset="-120"/>
              </a:rPr>
              <a:t>2</a:t>
            </a:r>
            <a:endParaRPr lang="en-US" sz="2200" dirty="0"/>
          </a:p>
        </p:txBody>
      </p:sp>
      <p:sp>
        <p:nvSpPr>
          <p:cNvPr id="17" name="Text 15"/>
          <p:cNvSpPr txBox="1"/>
          <p:nvPr/>
        </p:nvSpPr>
        <p:spPr>
          <a:xfrm>
            <a:off x="5212080" y="2011680"/>
            <a:ext cx="1737360" cy="365760"/>
          </a:xfrm>
          <a:prstGeom prst="rect">
            <a:avLst/>
          </a:prstGeom>
          <a:noFill/>
          <a:ln/>
        </p:spPr>
        <p:txBody>
          <a:bodyPr wrap="square" lIns="0" tIns="0" rIns="0" bIns="0" rtlCol="0" anchor="ctr"/>
          <a:lstStyle/>
          <a:p>
            <a:pPr indent="0" marL="0">
              <a:buNone/>
            </a:pPr>
            <a:r>
              <a:rPr lang="en-US" sz="1700" b="1" dirty="0">
                <a:solidFill>
                  <a:srgbClr val="0A1A23"/>
                </a:solidFill>
                <a:latin typeface="Poppins" pitchFamily="34" charset="0"/>
                <a:ea typeface="Poppins" pitchFamily="34" charset="-122"/>
                <a:cs typeface="Poppins" pitchFamily="34" charset="-120"/>
              </a:rPr>
              <a:t>Relate</a:t>
            </a:r>
            <a:endParaRPr lang="en-US" sz="1700" dirty="0"/>
          </a:p>
        </p:txBody>
      </p:sp>
      <p:sp>
        <p:nvSpPr>
          <p:cNvPr id="18" name="Text 16"/>
          <p:cNvSpPr txBox="1"/>
          <p:nvPr/>
        </p:nvSpPr>
        <p:spPr>
          <a:xfrm>
            <a:off x="5212080" y="2395728"/>
            <a:ext cx="1737360" cy="365760"/>
          </a:xfrm>
          <a:prstGeom prst="rect">
            <a:avLst/>
          </a:prstGeom>
          <a:noFill/>
          <a:ln/>
        </p:spPr>
        <p:txBody>
          <a:bodyPr wrap="square" lIns="0" tIns="0" rIns="0" bIns="0" rtlCol="0" anchor="t"/>
          <a:lstStyle/>
          <a:p>
            <a:pPr algn="l" indent="0" marL="0">
              <a:lnSpc>
                <a:spcPct val="135000"/>
              </a:lnSpc>
              <a:buNone/>
            </a:pPr>
            <a:r>
              <a:rPr lang="en-US" sz="1250" dirty="0">
                <a:solidFill>
                  <a:srgbClr val="64748B"/>
                </a:solidFill>
                <a:latin typeface="Poppins" pitchFamily="34" charset="0"/>
                <a:ea typeface="Poppins" pitchFamily="34" charset="-122"/>
                <a:cs typeface="Poppins" pitchFamily="34" charset="-120"/>
              </a:rPr>
              <a:t>in Model view</a:t>
            </a:r>
            <a:endParaRPr lang="en-US" sz="1250" dirty="0"/>
          </a:p>
        </p:txBody>
      </p:sp>
      <p:sp>
        <p:nvSpPr>
          <p:cNvPr id="19" name="Text 17"/>
          <p:cNvSpPr txBox="1"/>
          <p:nvPr/>
        </p:nvSpPr>
        <p:spPr>
          <a:xfrm>
            <a:off x="7232904" y="2057400"/>
            <a:ext cx="457200" cy="457200"/>
          </a:xfrm>
          <a:prstGeom prst="rect">
            <a:avLst/>
          </a:prstGeom>
          <a:noFill/>
          <a:ln/>
        </p:spPr>
        <p:txBody>
          <a:bodyPr wrap="square" lIns="0" tIns="0" rIns="0" bIns="0" rtlCol="0" anchor="ctr"/>
          <a:lstStyle/>
          <a:p>
            <a:pPr algn="ctr" indent="0" marL="0">
              <a:buNone/>
            </a:pPr>
            <a:r>
              <a:rPr lang="en-US" sz="2300" b="1" dirty="0">
                <a:solidFill>
                  <a:srgbClr val="387F7F"/>
                </a:solidFill>
                <a:latin typeface="Poppins" pitchFamily="34" charset="0"/>
                <a:ea typeface="Poppins" pitchFamily="34" charset="-122"/>
                <a:cs typeface="Poppins" pitchFamily="34" charset="-120"/>
              </a:rPr>
              <a:t>›</a:t>
            </a:r>
            <a:endParaRPr lang="en-US" sz="2300" dirty="0"/>
          </a:p>
        </p:txBody>
      </p:sp>
      <p:sp>
        <p:nvSpPr>
          <p:cNvPr id="20" name="Shape 18"/>
          <p:cNvSpPr/>
          <p:nvPr/>
        </p:nvSpPr>
        <p:spPr>
          <a:xfrm>
            <a:off x="7726680" y="1645920"/>
            <a:ext cx="2971800" cy="1417320"/>
          </a:xfrm>
          <a:prstGeom prst="roundRect">
            <a:avLst>
              <a:gd name="adj" fmla="val 6452"/>
            </a:avLst>
          </a:prstGeom>
          <a:solidFill>
            <a:srgbClr val="FFFFFF"/>
          </a:solidFill>
          <a:ln/>
          <a:effectLst>
            <a:outerShdw sx="100000" sy="100000" kx="0" ky="0" algn="bl" rotWithShape="0" blurRad="152400" dist="38100" dir="5400000">
              <a:srgbClr val="1B2A2E">
                <a:alpha val="14000"/>
              </a:srgbClr>
            </a:outerShdw>
          </a:effectLst>
        </p:spPr>
      </p:sp>
      <p:sp>
        <p:nvSpPr>
          <p:cNvPr id="21" name="Shape 19"/>
          <p:cNvSpPr/>
          <p:nvPr/>
        </p:nvSpPr>
        <p:spPr>
          <a:xfrm>
            <a:off x="7726680" y="1645920"/>
            <a:ext cx="2971800" cy="82296"/>
          </a:xfrm>
          <a:prstGeom prst="rect">
            <a:avLst/>
          </a:prstGeom>
          <a:solidFill>
            <a:srgbClr val="387F7F"/>
          </a:solidFill>
          <a:ln/>
        </p:spPr>
      </p:sp>
      <p:sp>
        <p:nvSpPr>
          <p:cNvPr id="22" name="Shape 20"/>
          <p:cNvSpPr/>
          <p:nvPr/>
        </p:nvSpPr>
        <p:spPr>
          <a:xfrm>
            <a:off x="8001000" y="2057400"/>
            <a:ext cx="566928" cy="566928"/>
          </a:xfrm>
          <a:prstGeom prst="ellipse">
            <a:avLst/>
          </a:prstGeom>
          <a:solidFill>
            <a:srgbClr val="387F7F"/>
          </a:solidFill>
          <a:ln/>
          <a:effectLst>
            <a:outerShdw sx="100000" sy="100000" kx="0" ky="0" algn="bl" rotWithShape="0" blurRad="101600" dist="25400" dir="5400000">
              <a:srgbClr val="1B2A2E">
                <a:alpha val="18000"/>
              </a:srgbClr>
            </a:outerShdw>
          </a:effectLst>
        </p:spPr>
      </p:sp>
      <p:sp>
        <p:nvSpPr>
          <p:cNvPr id="23" name="Text 21"/>
          <p:cNvSpPr txBox="1"/>
          <p:nvPr/>
        </p:nvSpPr>
        <p:spPr>
          <a:xfrm>
            <a:off x="8001000" y="205740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Poppins" pitchFamily="34" charset="0"/>
                <a:ea typeface="Poppins" pitchFamily="34" charset="-122"/>
                <a:cs typeface="Poppins" pitchFamily="34" charset="-120"/>
              </a:rPr>
              <a:t>3</a:t>
            </a:r>
            <a:endParaRPr lang="en-US" sz="2200" dirty="0"/>
          </a:p>
        </p:txBody>
      </p:sp>
      <p:sp>
        <p:nvSpPr>
          <p:cNvPr id="24" name="Text 22"/>
          <p:cNvSpPr txBox="1"/>
          <p:nvPr/>
        </p:nvSpPr>
        <p:spPr>
          <a:xfrm>
            <a:off x="8732520" y="2011680"/>
            <a:ext cx="1737360" cy="365760"/>
          </a:xfrm>
          <a:prstGeom prst="rect">
            <a:avLst/>
          </a:prstGeom>
          <a:noFill/>
          <a:ln/>
        </p:spPr>
        <p:txBody>
          <a:bodyPr wrap="square" lIns="0" tIns="0" rIns="0" bIns="0" rtlCol="0" anchor="ctr"/>
          <a:lstStyle/>
          <a:p>
            <a:pPr indent="0" marL="0">
              <a:buNone/>
            </a:pPr>
            <a:r>
              <a:rPr lang="en-US" sz="1700" b="1" dirty="0">
                <a:solidFill>
                  <a:srgbClr val="0A1A23"/>
                </a:solidFill>
                <a:latin typeface="Poppins" pitchFamily="34" charset="0"/>
                <a:ea typeface="Poppins" pitchFamily="34" charset="-122"/>
                <a:cs typeface="Poppins" pitchFamily="34" charset="-120"/>
              </a:rPr>
              <a:t>Visualise</a:t>
            </a:r>
            <a:endParaRPr lang="en-US" sz="1700" dirty="0"/>
          </a:p>
        </p:txBody>
      </p:sp>
      <p:sp>
        <p:nvSpPr>
          <p:cNvPr id="25" name="Text 23"/>
          <p:cNvSpPr txBox="1"/>
          <p:nvPr/>
        </p:nvSpPr>
        <p:spPr>
          <a:xfrm>
            <a:off x="8732520" y="2395728"/>
            <a:ext cx="1737360" cy="365760"/>
          </a:xfrm>
          <a:prstGeom prst="rect">
            <a:avLst/>
          </a:prstGeom>
          <a:noFill/>
          <a:ln/>
        </p:spPr>
        <p:txBody>
          <a:bodyPr wrap="square" lIns="0" tIns="0" rIns="0" bIns="0" rtlCol="0" anchor="t"/>
          <a:lstStyle/>
          <a:p>
            <a:pPr algn="l" indent="0" marL="0">
              <a:lnSpc>
                <a:spcPct val="135000"/>
              </a:lnSpc>
              <a:buNone/>
            </a:pPr>
            <a:r>
              <a:rPr lang="en-US" sz="1250" dirty="0">
                <a:solidFill>
                  <a:srgbClr val="64748B"/>
                </a:solidFill>
                <a:latin typeface="Poppins" pitchFamily="34" charset="0"/>
                <a:ea typeface="Poppins" pitchFamily="34" charset="-122"/>
                <a:cs typeface="Poppins" pitchFamily="34" charset="-120"/>
              </a:rPr>
              <a:t>in Report view</a:t>
            </a:r>
            <a:endParaRPr lang="en-US" sz="1250" dirty="0"/>
          </a:p>
        </p:txBody>
      </p:sp>
      <p:sp>
        <p:nvSpPr>
          <p:cNvPr id="26" name="Shape 24"/>
          <p:cNvSpPr/>
          <p:nvPr/>
        </p:nvSpPr>
        <p:spPr>
          <a:xfrm>
            <a:off x="685800" y="3383280"/>
            <a:ext cx="9829800" cy="1371600"/>
          </a:xfrm>
          <a:prstGeom prst="roundRect">
            <a:avLst>
              <a:gd name="adj" fmla="val 6000"/>
            </a:avLst>
          </a:prstGeom>
          <a:solidFill>
            <a:srgbClr val="FBEDEC"/>
          </a:solidFill>
          <a:ln/>
        </p:spPr>
      </p:sp>
      <p:sp>
        <p:nvSpPr>
          <p:cNvPr id="27" name="Shape 25"/>
          <p:cNvSpPr/>
          <p:nvPr/>
        </p:nvSpPr>
        <p:spPr>
          <a:xfrm>
            <a:off x="685800" y="3383280"/>
            <a:ext cx="82296" cy="1371600"/>
          </a:xfrm>
          <a:prstGeom prst="rect">
            <a:avLst/>
          </a:prstGeom>
          <a:solidFill>
            <a:srgbClr val="A8322D"/>
          </a:solidFill>
          <a:ln/>
        </p:spPr>
      </p:sp>
      <p:sp>
        <p:nvSpPr>
          <p:cNvPr id="28" name="Shape 26"/>
          <p:cNvSpPr/>
          <p:nvPr/>
        </p:nvSpPr>
        <p:spPr>
          <a:xfrm>
            <a:off x="960120" y="3794760"/>
            <a:ext cx="502920" cy="502920"/>
          </a:xfrm>
          <a:prstGeom prst="ellipse">
            <a:avLst/>
          </a:prstGeom>
          <a:solidFill>
            <a:srgbClr val="A8322D"/>
          </a:solidFill>
          <a:ln/>
        </p:spPr>
      </p:sp>
      <p:sp>
        <p:nvSpPr>
          <p:cNvPr id="29" name="Text 27"/>
          <p:cNvSpPr txBox="1"/>
          <p:nvPr/>
        </p:nvSpPr>
        <p:spPr>
          <a:xfrm>
            <a:off x="960120" y="3794760"/>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Poppins" pitchFamily="34" charset="0"/>
                <a:ea typeface="Poppins" pitchFamily="34" charset="-122"/>
                <a:cs typeface="Poppins" pitchFamily="34" charset="-120"/>
              </a:rPr>
              <a:t>!</a:t>
            </a:r>
            <a:endParaRPr lang="en-US" sz="2200" dirty="0"/>
          </a:p>
        </p:txBody>
      </p:sp>
      <p:sp>
        <p:nvSpPr>
          <p:cNvPr id="30" name="Text 28"/>
          <p:cNvSpPr txBox="1"/>
          <p:nvPr/>
        </p:nvSpPr>
        <p:spPr>
          <a:xfrm>
            <a:off x="1691640" y="3566160"/>
            <a:ext cx="8503920" cy="1005840"/>
          </a:xfrm>
          <a:prstGeom prst="rect">
            <a:avLst/>
          </a:prstGeom>
          <a:noFill/>
          <a:ln/>
        </p:spPr>
        <p:txBody>
          <a:bodyPr wrap="square" lIns="0" tIns="0" rIns="0" bIns="0" rtlCol="0" anchor="t"/>
          <a:lstStyle/>
          <a:p>
            <a:pPr algn="l" indent="0" marL="0">
              <a:lnSpc>
                <a:spcPct val="130000"/>
              </a:lnSpc>
              <a:buNone/>
            </a:pPr>
            <a:r>
              <a:rPr lang="en-US" sz="1400" dirty="0">
                <a:solidFill>
                  <a:srgbClr val="7A2C28"/>
                </a:solidFill>
                <a:latin typeface="Poppins" pitchFamily="34" charset="0"/>
                <a:ea typeface="Poppins" pitchFamily="34" charset="-122"/>
                <a:cs typeface="Poppins" pitchFamily="34" charset="-120"/>
              </a:rPr>
              <a:t>Reversing this order is the most expensive mistake in BI. Every visual you build on a badly shaped table has to be rebuilt when you fix the shape. Trainees who skip Power Query lose an hour in the lab and blame the software.</a:t>
            </a:r>
            <a:endParaRPr lang="en-US" sz="1400" dirty="0"/>
          </a:p>
        </p:txBody>
      </p:sp>
      <p:sp>
        <p:nvSpPr>
          <p:cNvPr id="31" name="Shape 29"/>
          <p:cNvSpPr/>
          <p:nvPr/>
        </p:nvSpPr>
        <p:spPr>
          <a:xfrm>
            <a:off x="685800" y="4983480"/>
            <a:ext cx="9829800" cy="914400"/>
          </a:xfrm>
          <a:prstGeom prst="roundRect">
            <a:avLst>
              <a:gd name="adj" fmla="val 9000"/>
            </a:avLst>
          </a:prstGeom>
          <a:solidFill>
            <a:srgbClr val="EEF4F4"/>
          </a:solidFill>
          <a:ln/>
        </p:spPr>
      </p:sp>
      <p:sp>
        <p:nvSpPr>
          <p:cNvPr id="32" name="Shape 30"/>
          <p:cNvSpPr/>
          <p:nvPr/>
        </p:nvSpPr>
        <p:spPr>
          <a:xfrm>
            <a:off x="685800" y="4983480"/>
            <a:ext cx="68580" cy="914400"/>
          </a:xfrm>
          <a:prstGeom prst="rect">
            <a:avLst/>
          </a:prstGeom>
          <a:solidFill>
            <a:srgbClr val="387F7F"/>
          </a:solidFill>
          <a:ln/>
        </p:spPr>
      </p:sp>
      <p:sp>
        <p:nvSpPr>
          <p:cNvPr id="33" name="Text 31"/>
          <p:cNvSpPr txBox="1"/>
          <p:nvPr/>
        </p:nvSpPr>
        <p:spPr>
          <a:xfrm>
            <a:off x="1051560" y="4983480"/>
            <a:ext cx="9235440" cy="914400"/>
          </a:xfrm>
          <a:prstGeom prst="rect">
            <a:avLst/>
          </a:prstGeom>
          <a:noFill/>
          <a:ln/>
        </p:spPr>
        <p:txBody>
          <a:bodyPr wrap="square" lIns="0" tIns="0" rIns="0" bIns="0" rtlCol="0" anchor="ctr"/>
          <a:lstStyle/>
          <a:p>
            <a:pPr algn="l" indent="0" marL="0">
              <a:lnSpc>
                <a:spcPct val="135000"/>
              </a:lnSpc>
              <a:buNone/>
            </a:pPr>
            <a:r>
              <a:rPr lang="en-US" sz="1600" b="1" dirty="0">
                <a:solidFill>
                  <a:srgbClr val="387F7F"/>
                </a:solidFill>
                <a:latin typeface="Poppins" pitchFamily="34" charset="0"/>
                <a:ea typeface="Poppins" pitchFamily="34" charset="-122"/>
                <a:cs typeface="Poppins" pitchFamily="34" charset="-120"/>
              </a:rPr>
              <a:t>The tool rewards doing this in the wrong order. The discipline has to come from you.</a:t>
            </a:r>
            <a:endParaRPr lang="en-US" sz="1600" dirty="0"/>
          </a:p>
        </p:txBody>
      </p:sp>
      <p:pic>
        <p:nvPicPr>
          <p:cNvPr id="34" name="Image 0" descr="/home/claude/build/assets/logo_full.png">    </p:cNvPr>
          <p:cNvPicPr>
            <a:picLocks noChangeAspect="1"/>
          </p:cNvPicPr>
          <p:nvPr/>
        </p:nvPicPr>
        <p:blipFill>
          <a:blip r:embed="rId2"/>
          <a:stretch>
            <a:fillRect/>
          </a:stretch>
        </p:blipFill>
        <p:spPr>
          <a:xfrm>
            <a:off x="10998403" y="5949086"/>
            <a:ext cx="431597" cy="375337"/>
          </a:xfrm>
          <a:prstGeom prst="rect">
            <a:avLst/>
          </a:prstGeom>
        </p:spPr>
      </p:pic>
      <p:sp>
        <p:nvSpPr>
          <p:cNvPr id="35" name="Text 32"/>
          <p:cNvSpPr txBox="1"/>
          <p:nvPr/>
        </p:nvSpPr>
        <p:spPr>
          <a:xfrm>
            <a:off x="11689050" y="6473952"/>
            <a:ext cx="365760" cy="274320"/>
          </a:xfrm>
          <a:prstGeom prst="rect">
            <a:avLst/>
          </a:prstGeom>
          <a:noFill/>
          <a:ln/>
        </p:spPr>
        <p:txBody>
          <a:bodyPr wrap="square" lIns="0" tIns="0" rIns="0" bIns="0" rtlCol="0" anchor="ctr"/>
          <a:lstStyle/>
          <a:p>
            <a:pPr algn="r" indent="0" marL="0">
              <a:buNone/>
            </a:pPr>
            <a:r>
              <a:rPr lang="en-US" sz="1100" dirty="0">
                <a:solidFill>
                  <a:srgbClr val="64748B"/>
                </a:solidFill>
                <a:latin typeface="Poppins" pitchFamily="34" charset="0"/>
                <a:ea typeface="Poppins" pitchFamily="34" charset="-122"/>
                <a:cs typeface="Poppins" pitchFamily="34" charset="-120"/>
              </a:rPr>
              <a:t>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970" cy="6858000"/>
          </a:xfrm>
          <a:prstGeom prst="rect">
            <a:avLst/>
          </a:prstGeom>
          <a:solidFill>
            <a:srgbClr val="20494A"/>
          </a:solidFill>
          <a:ln/>
        </p:spPr>
      </p:sp>
      <p:sp>
        <p:nvSpPr>
          <p:cNvPr id="3" name="Shape 1"/>
          <p:cNvSpPr/>
          <p:nvPr/>
        </p:nvSpPr>
        <p:spPr>
          <a:xfrm>
            <a:off x="7680960" y="-2926080"/>
            <a:ext cx="8595360" cy="8595360"/>
          </a:xfrm>
          <a:prstGeom prst="ellipse">
            <a:avLst/>
          </a:prstGeom>
          <a:solidFill>
            <a:srgbClr val="1B4041"/>
          </a:solidFill>
          <a:ln/>
        </p:spPr>
      </p:sp>
      <p:sp>
        <p:nvSpPr>
          <p:cNvPr id="4" name="Shape 2"/>
          <p:cNvSpPr/>
          <p:nvPr/>
        </p:nvSpPr>
        <p:spPr>
          <a:xfrm>
            <a:off x="9326880" y="2834640"/>
            <a:ext cx="5669280" cy="5669280"/>
          </a:xfrm>
          <a:prstGeom prst="ellipse">
            <a:avLst/>
          </a:prstGeom>
          <a:solidFill>
            <a:srgbClr val="387F7F"/>
          </a:solidFill>
          <a:ln/>
        </p:spPr>
      </p:sp>
      <p:sp>
        <p:nvSpPr>
          <p:cNvPr id="5" name="Text 3"/>
          <p:cNvSpPr txBox="1"/>
          <p:nvPr/>
        </p:nvSpPr>
        <p:spPr>
          <a:xfrm>
            <a:off x="566928" y="320040"/>
            <a:ext cx="2926080" cy="1920240"/>
          </a:xfrm>
          <a:prstGeom prst="rect">
            <a:avLst/>
          </a:prstGeom>
          <a:noFill/>
          <a:ln/>
        </p:spPr>
        <p:txBody>
          <a:bodyPr wrap="square" lIns="0" tIns="0" rIns="0" bIns="0" rtlCol="0" anchor="ctr"/>
          <a:lstStyle/>
          <a:p>
            <a:pPr indent="0" marL="0">
              <a:buNone/>
            </a:pPr>
            <a:r>
              <a:rPr lang="en-US" sz="13000" b="1" dirty="0">
                <a:solidFill>
                  <a:srgbClr val="2F6364"/>
                </a:solidFill>
                <a:latin typeface="Poppins" pitchFamily="34" charset="0"/>
                <a:ea typeface="Poppins" pitchFamily="34" charset="-122"/>
                <a:cs typeface="Poppins" pitchFamily="34" charset="-120"/>
              </a:rPr>
              <a:t>02</a:t>
            </a:r>
            <a:endParaRPr lang="en-US" sz="13000" dirty="0"/>
          </a:p>
        </p:txBody>
      </p:sp>
      <p:sp>
        <p:nvSpPr>
          <p:cNvPr id="6" name="Text 4"/>
          <p:cNvSpPr txBox="1"/>
          <p:nvPr/>
        </p:nvSpPr>
        <p:spPr>
          <a:xfrm>
            <a:off x="713232" y="2487168"/>
            <a:ext cx="6766560" cy="310896"/>
          </a:xfrm>
          <a:prstGeom prst="rect">
            <a:avLst/>
          </a:prstGeom>
          <a:noFill/>
          <a:ln/>
        </p:spPr>
        <p:txBody>
          <a:bodyPr wrap="square" lIns="0" tIns="0" rIns="0" bIns="0" rtlCol="0" anchor="ctr"/>
          <a:lstStyle/>
          <a:p>
            <a:pPr indent="0" marL="0">
              <a:buNone/>
            </a:pPr>
            <a:r>
              <a:rPr lang="en-US" sz="1300" b="1" spc="250" kern="0" dirty="0">
                <a:solidFill>
                  <a:srgbClr val="8FBEBE"/>
                </a:solidFill>
                <a:latin typeface="Poppins" pitchFamily="34" charset="0"/>
                <a:ea typeface="Poppins" pitchFamily="34" charset="-122"/>
                <a:cs typeface="Poppins" pitchFamily="34" charset="-120"/>
              </a:rPr>
              <a:t>PART TWO</a:t>
            </a:r>
            <a:endParaRPr lang="en-US" sz="1300" dirty="0"/>
          </a:p>
        </p:txBody>
      </p:sp>
      <p:sp>
        <p:nvSpPr>
          <p:cNvPr id="7" name="Shape 5"/>
          <p:cNvSpPr/>
          <p:nvPr/>
        </p:nvSpPr>
        <p:spPr>
          <a:xfrm>
            <a:off x="713232" y="2907792"/>
            <a:ext cx="1234440" cy="77724"/>
          </a:xfrm>
          <a:prstGeom prst="rect">
            <a:avLst/>
          </a:prstGeom>
          <a:solidFill>
            <a:srgbClr val="387F7F"/>
          </a:solidFill>
          <a:ln/>
        </p:spPr>
      </p:sp>
      <p:sp>
        <p:nvSpPr>
          <p:cNvPr id="8" name="Text 6"/>
          <p:cNvSpPr txBox="1"/>
          <p:nvPr/>
        </p:nvSpPr>
        <p:spPr>
          <a:xfrm>
            <a:off x="713232" y="3154680"/>
            <a:ext cx="7406640" cy="1463040"/>
          </a:xfrm>
          <a:prstGeom prst="rect">
            <a:avLst/>
          </a:prstGeom>
          <a:noFill/>
          <a:ln/>
        </p:spPr>
        <p:txBody>
          <a:bodyPr wrap="square" lIns="0" tIns="0" rIns="0" bIns="0" rtlCol="0" anchor="ctr"/>
          <a:lstStyle/>
          <a:p>
            <a:pPr indent="0" marL="0">
              <a:lnSpc>
                <a:spcPct val="108000"/>
              </a:lnSpc>
              <a:buNone/>
            </a:pPr>
            <a:r>
              <a:rPr lang="en-US" sz="3600" b="1" dirty="0">
                <a:solidFill>
                  <a:srgbClr val="FFFFFF"/>
                </a:solidFill>
                <a:latin typeface="Poppins" pitchFamily="34" charset="0"/>
                <a:ea typeface="Poppins" pitchFamily="34" charset="-122"/>
                <a:cs typeface="Poppins" pitchFamily="34" charset="-120"/>
              </a:rPr>
              <a:t>Loading SwiftRoute</a:t>
            </a:r>
            <a:endParaRPr lang="en-US" sz="3600" dirty="0"/>
          </a:p>
        </p:txBody>
      </p:sp>
      <p:sp>
        <p:nvSpPr>
          <p:cNvPr id="9" name="Shape 7"/>
          <p:cNvSpPr/>
          <p:nvPr/>
        </p:nvSpPr>
        <p:spPr>
          <a:xfrm>
            <a:off x="749808" y="4933188"/>
            <a:ext cx="146304" cy="146304"/>
          </a:xfrm>
          <a:prstGeom prst="ellipse">
            <a:avLst/>
          </a:prstGeom>
          <a:solidFill>
            <a:srgbClr val="387F7F"/>
          </a:solidFill>
          <a:ln/>
        </p:spPr>
      </p:sp>
      <p:sp>
        <p:nvSpPr>
          <p:cNvPr id="10" name="Text 8"/>
          <p:cNvSpPr txBox="1"/>
          <p:nvPr/>
        </p:nvSpPr>
        <p:spPr>
          <a:xfrm>
            <a:off x="1097280" y="4855464"/>
            <a:ext cx="6583680" cy="310896"/>
          </a:xfrm>
          <a:prstGeom prst="rect">
            <a:avLst/>
          </a:prstGeom>
          <a:noFill/>
          <a:ln/>
        </p:spPr>
        <p:txBody>
          <a:bodyPr wrap="square" lIns="0" tIns="0" rIns="0" bIns="0" rtlCol="0" anchor="ctr"/>
          <a:lstStyle/>
          <a:p>
            <a:pPr indent="0" marL="0">
              <a:buNone/>
            </a:pPr>
            <a:r>
              <a:rPr lang="en-US" sz="1350" dirty="0">
                <a:solidFill>
                  <a:srgbClr val="C3DAD9"/>
                </a:solidFill>
                <a:latin typeface="Poppins" pitchFamily="34" charset="0"/>
                <a:ea typeface="Poppins" pitchFamily="34" charset="-122"/>
                <a:cs typeface="Poppins" pitchFamily="34" charset="-120"/>
              </a:rPr>
              <a:t>Meet the five files and the idea of grain</a:t>
            </a:r>
            <a:endParaRPr lang="en-US" sz="1350" dirty="0"/>
          </a:p>
        </p:txBody>
      </p:sp>
      <p:sp>
        <p:nvSpPr>
          <p:cNvPr id="11" name="Shape 9"/>
          <p:cNvSpPr/>
          <p:nvPr/>
        </p:nvSpPr>
        <p:spPr>
          <a:xfrm>
            <a:off x="749808" y="5317236"/>
            <a:ext cx="146304" cy="146304"/>
          </a:xfrm>
          <a:prstGeom prst="ellipse">
            <a:avLst/>
          </a:prstGeom>
          <a:solidFill>
            <a:srgbClr val="387F7F"/>
          </a:solidFill>
          <a:ln/>
        </p:spPr>
      </p:sp>
      <p:sp>
        <p:nvSpPr>
          <p:cNvPr id="12" name="Text 10"/>
          <p:cNvSpPr txBox="1"/>
          <p:nvPr/>
        </p:nvSpPr>
        <p:spPr>
          <a:xfrm>
            <a:off x="1097280" y="5239512"/>
            <a:ext cx="6583680" cy="310896"/>
          </a:xfrm>
          <a:prstGeom prst="rect">
            <a:avLst/>
          </a:prstGeom>
          <a:noFill/>
          <a:ln/>
        </p:spPr>
        <p:txBody>
          <a:bodyPr wrap="square" lIns="0" tIns="0" rIns="0" bIns="0" rtlCol="0" anchor="ctr"/>
          <a:lstStyle/>
          <a:p>
            <a:pPr indent="0" marL="0">
              <a:buNone/>
            </a:pPr>
            <a:r>
              <a:rPr lang="en-US" sz="1350" dirty="0">
                <a:solidFill>
                  <a:srgbClr val="C3DAD9"/>
                </a:solidFill>
                <a:latin typeface="Poppins" pitchFamily="34" charset="0"/>
                <a:ea typeface="Poppins" pitchFamily="34" charset="-122"/>
                <a:cs typeface="Poppins" pitchFamily="34" charset="-120"/>
              </a:rPr>
              <a:t>Load through Power Query, step by step</a:t>
            </a:r>
            <a:endParaRPr lang="en-US" sz="1350" dirty="0"/>
          </a:p>
        </p:txBody>
      </p:sp>
      <p:sp>
        <p:nvSpPr>
          <p:cNvPr id="13" name="Shape 11"/>
          <p:cNvSpPr/>
          <p:nvPr/>
        </p:nvSpPr>
        <p:spPr>
          <a:xfrm>
            <a:off x="749808" y="5701284"/>
            <a:ext cx="146304" cy="146304"/>
          </a:xfrm>
          <a:prstGeom prst="ellipse">
            <a:avLst/>
          </a:prstGeom>
          <a:solidFill>
            <a:srgbClr val="387F7F"/>
          </a:solidFill>
          <a:ln/>
        </p:spPr>
      </p:sp>
      <p:sp>
        <p:nvSpPr>
          <p:cNvPr id="14" name="Text 12"/>
          <p:cNvSpPr txBox="1"/>
          <p:nvPr/>
        </p:nvSpPr>
        <p:spPr>
          <a:xfrm>
            <a:off x="1097280" y="5623560"/>
            <a:ext cx="6583680" cy="310896"/>
          </a:xfrm>
          <a:prstGeom prst="rect">
            <a:avLst/>
          </a:prstGeom>
          <a:noFill/>
          <a:ln/>
        </p:spPr>
        <p:txBody>
          <a:bodyPr wrap="square" lIns="0" tIns="0" rIns="0" bIns="0" rtlCol="0" anchor="ctr"/>
          <a:lstStyle/>
          <a:p>
            <a:pPr indent="0" marL="0">
              <a:buNone/>
            </a:pPr>
            <a:r>
              <a:rPr lang="en-US" sz="1350" dirty="0">
                <a:solidFill>
                  <a:srgbClr val="C3DAD9"/>
                </a:solidFill>
                <a:latin typeface="Poppins" pitchFamily="34" charset="0"/>
                <a:ea typeface="Poppins" pitchFamily="34" charset="-122"/>
                <a:cs typeface="Poppins" pitchFamily="34" charset="-120"/>
              </a:rPr>
              <a:t>Write rules that survive next month's file</a:t>
            </a:r>
            <a:endParaRPr lang="en-US" sz="1350" dirty="0"/>
          </a:p>
        </p:txBody>
      </p:sp>
      <p:sp>
        <p:nvSpPr>
          <p:cNvPr id="15" name="Text 13"/>
          <p:cNvSpPr txBox="1"/>
          <p:nvPr/>
        </p:nvSpPr>
        <p:spPr>
          <a:xfrm>
            <a:off x="11689050" y="6473952"/>
            <a:ext cx="365760" cy="274320"/>
          </a:xfrm>
          <a:prstGeom prst="rect">
            <a:avLst/>
          </a:prstGeom>
          <a:noFill/>
          <a:ln/>
        </p:spPr>
        <p:txBody>
          <a:bodyPr wrap="square" lIns="0" tIns="0" rIns="0" bIns="0" rtlCol="0" anchor="ctr"/>
          <a:lstStyle/>
          <a:p>
            <a:pPr algn="r" indent="0" marL="0">
              <a:buNone/>
            </a:pPr>
            <a:r>
              <a:rPr lang="en-US" sz="1100" dirty="0">
                <a:solidFill>
                  <a:srgbClr val="7FA3A3"/>
                </a:solidFill>
                <a:latin typeface="Poppins" pitchFamily="34" charset="0"/>
                <a:ea typeface="Poppins" pitchFamily="34" charset="-122"/>
                <a:cs typeface="Poppins"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1024006" y="1958645"/>
            <a:ext cx="4133088" cy="4038905"/>
          </a:xfrm>
          <a:prstGeom prst="ellipse">
            <a:avLst/>
          </a:prstGeom>
          <a:solidFill>
            <a:srgbClr val="387F7F"/>
          </a:solidFill>
          <a:ln/>
        </p:spPr>
      </p:sp>
      <p:sp>
        <p:nvSpPr>
          <p:cNvPr id="3" name="Shape 1"/>
          <p:cNvSpPr/>
          <p:nvPr/>
        </p:nvSpPr>
        <p:spPr>
          <a:xfrm>
            <a:off x="11316614" y="2675534"/>
            <a:ext cx="1051560" cy="2162556"/>
          </a:xfrm>
          <a:prstGeom prst="ellipse">
            <a:avLst/>
          </a:prstGeom>
          <a:solidFill>
            <a:srgbClr val="387F7F"/>
          </a:solidFill>
          <a:ln/>
        </p:spPr>
      </p:sp>
      <p:sp>
        <p:nvSpPr>
          <p:cNvPr id="4" name="Shape 2"/>
          <p:cNvSpPr/>
          <p:nvPr/>
        </p:nvSpPr>
        <p:spPr>
          <a:xfrm>
            <a:off x="685800" y="548640"/>
            <a:ext cx="68580" cy="420624"/>
          </a:xfrm>
          <a:prstGeom prst="rect">
            <a:avLst/>
          </a:prstGeom>
          <a:solidFill>
            <a:srgbClr val="387F7F"/>
          </a:solidFill>
          <a:ln/>
        </p:spPr>
      </p:sp>
      <p:sp>
        <p:nvSpPr>
          <p:cNvPr id="5" name="Text 3"/>
          <p:cNvSpPr txBox="1"/>
          <p:nvPr/>
        </p:nvSpPr>
        <p:spPr>
          <a:xfrm>
            <a:off x="886968" y="502920"/>
            <a:ext cx="9692640" cy="502920"/>
          </a:xfrm>
          <a:prstGeom prst="rect">
            <a:avLst/>
          </a:prstGeom>
          <a:noFill/>
          <a:ln/>
        </p:spPr>
        <p:txBody>
          <a:bodyPr wrap="square" lIns="0" tIns="0" rIns="0" bIns="0" rtlCol="0" anchor="ctr"/>
          <a:lstStyle/>
          <a:p>
            <a:pPr indent="0" marL="0">
              <a:lnSpc>
                <a:spcPct val="108000"/>
              </a:lnSpc>
              <a:buNone/>
            </a:pPr>
            <a:r>
              <a:rPr lang="en-US" sz="2700" dirty="0">
                <a:solidFill>
                  <a:srgbClr val="387F7F"/>
                </a:solidFill>
                <a:latin typeface="Poppins" pitchFamily="34" charset="0"/>
                <a:ea typeface="Poppins" pitchFamily="34" charset="-122"/>
                <a:cs typeface="Poppins" pitchFamily="34" charset="-120"/>
              </a:rPr>
              <a:t>Five files, one business</a:t>
            </a:r>
            <a:endParaRPr lang="en-US" sz="2700" dirty="0"/>
          </a:p>
        </p:txBody>
      </p:sp>
      <p:sp>
        <p:nvSpPr>
          <p:cNvPr id="6" name="Shape 4"/>
          <p:cNvSpPr/>
          <p:nvPr/>
        </p:nvSpPr>
        <p:spPr>
          <a:xfrm>
            <a:off x="685800" y="1783080"/>
            <a:ext cx="1823314" cy="2286000"/>
          </a:xfrm>
          <a:prstGeom prst="roundRect">
            <a:avLst>
              <a:gd name="adj" fmla="val 5015"/>
            </a:avLst>
          </a:prstGeom>
          <a:solidFill>
            <a:srgbClr val="FFFFFF"/>
          </a:solidFill>
          <a:ln/>
          <a:effectLst>
            <a:outerShdw sx="100000" sy="100000" kx="0" ky="0" algn="bl" rotWithShape="0" blurRad="152400" dist="38100" dir="5400000">
              <a:srgbClr val="1B2A2E">
                <a:alpha val="14000"/>
              </a:srgbClr>
            </a:outerShdw>
          </a:effectLst>
        </p:spPr>
      </p:sp>
      <p:sp>
        <p:nvSpPr>
          <p:cNvPr id="7" name="Shape 5"/>
          <p:cNvSpPr/>
          <p:nvPr/>
        </p:nvSpPr>
        <p:spPr>
          <a:xfrm>
            <a:off x="685800" y="1783080"/>
            <a:ext cx="1823314" cy="73152"/>
          </a:xfrm>
          <a:prstGeom prst="rect">
            <a:avLst/>
          </a:prstGeom>
          <a:solidFill>
            <a:srgbClr val="7FB3B3"/>
          </a:solidFill>
          <a:ln/>
        </p:spPr>
      </p:sp>
      <p:sp>
        <p:nvSpPr>
          <p:cNvPr id="8" name="Text 6"/>
          <p:cNvSpPr txBox="1"/>
          <p:nvPr/>
        </p:nvSpPr>
        <p:spPr>
          <a:xfrm>
            <a:off x="813816" y="2075688"/>
            <a:ext cx="1567282" cy="566928"/>
          </a:xfrm>
          <a:prstGeom prst="rect">
            <a:avLst/>
          </a:prstGeom>
          <a:noFill/>
          <a:ln/>
        </p:spPr>
        <p:txBody>
          <a:bodyPr wrap="square" lIns="0" tIns="0" rIns="0" bIns="0" rtlCol="0" anchor="ctr"/>
          <a:lstStyle/>
          <a:p>
            <a:pPr algn="ctr" indent="0" marL="0">
              <a:lnSpc>
                <a:spcPct val="110000"/>
              </a:lnSpc>
              <a:buNone/>
            </a:pPr>
            <a:r>
              <a:rPr lang="en-US" sz="1150" b="1" dirty="0">
                <a:solidFill>
                  <a:srgbClr val="387F7F"/>
                </a:solidFill>
                <a:latin typeface="Poppins" pitchFamily="34" charset="0"/>
                <a:ea typeface="Poppins" pitchFamily="34" charset="-122"/>
                <a:cs typeface="Poppins" pitchFamily="34" charset="-120"/>
              </a:rPr>
              <a:t>riders.csv</a:t>
            </a:r>
            <a:endParaRPr lang="en-US" sz="1150" dirty="0"/>
          </a:p>
        </p:txBody>
      </p:sp>
      <p:sp>
        <p:nvSpPr>
          <p:cNvPr id="9" name="Shape 7"/>
          <p:cNvSpPr/>
          <p:nvPr/>
        </p:nvSpPr>
        <p:spPr>
          <a:xfrm>
            <a:off x="886968" y="2743200"/>
            <a:ext cx="1420978" cy="310896"/>
          </a:xfrm>
          <a:prstGeom prst="roundRect">
            <a:avLst>
              <a:gd name="adj" fmla="val 50000"/>
            </a:avLst>
          </a:prstGeom>
          <a:solidFill>
            <a:srgbClr val="EEF4F4"/>
          </a:solidFill>
          <a:ln/>
        </p:spPr>
      </p:sp>
      <p:sp>
        <p:nvSpPr>
          <p:cNvPr id="10" name="Text 8"/>
          <p:cNvSpPr txBox="1"/>
          <p:nvPr/>
        </p:nvSpPr>
        <p:spPr>
          <a:xfrm>
            <a:off x="886968" y="2743200"/>
            <a:ext cx="1420978" cy="310896"/>
          </a:xfrm>
          <a:prstGeom prst="rect">
            <a:avLst/>
          </a:prstGeom>
          <a:noFill/>
          <a:ln/>
        </p:spPr>
        <p:txBody>
          <a:bodyPr wrap="square" lIns="0" tIns="0" rIns="0" bIns="0" rtlCol="0" anchor="ctr"/>
          <a:lstStyle/>
          <a:p>
            <a:pPr algn="ctr" indent="0" marL="0">
              <a:buNone/>
            </a:pPr>
            <a:r>
              <a:rPr lang="en-US" sz="1050" b="1" dirty="0">
                <a:solidFill>
                  <a:srgbClr val="0A1A23"/>
                </a:solidFill>
                <a:latin typeface="Poppins" pitchFamily="34" charset="0"/>
                <a:ea typeface="Poppins" pitchFamily="34" charset="-122"/>
                <a:cs typeface="Poppins" pitchFamily="34" charset="-120"/>
              </a:rPr>
              <a:t>68 rows</a:t>
            </a:r>
            <a:endParaRPr lang="en-US" sz="1050" dirty="0"/>
          </a:p>
        </p:txBody>
      </p:sp>
      <p:sp>
        <p:nvSpPr>
          <p:cNvPr id="11" name="Text 9"/>
          <p:cNvSpPr txBox="1"/>
          <p:nvPr/>
        </p:nvSpPr>
        <p:spPr>
          <a:xfrm>
            <a:off x="813816" y="3200400"/>
            <a:ext cx="1567282" cy="822960"/>
          </a:xfrm>
          <a:prstGeom prst="rect">
            <a:avLst/>
          </a:prstGeom>
          <a:noFill/>
          <a:ln/>
        </p:spPr>
        <p:txBody>
          <a:bodyPr wrap="square" lIns="0" tIns="0" rIns="0" bIns="0" rtlCol="0" anchor="t"/>
          <a:lstStyle/>
          <a:p>
            <a:pPr algn="ctr" indent="0" marL="0">
              <a:lnSpc>
                <a:spcPct val="120000"/>
              </a:lnSpc>
              <a:buNone/>
            </a:pPr>
            <a:r>
              <a:rPr lang="en-US" sz="1050" dirty="0">
                <a:solidFill>
                  <a:srgbClr val="475569"/>
                </a:solidFill>
                <a:latin typeface="Poppins" pitchFamily="34" charset="0"/>
                <a:ea typeface="Poppins" pitchFamily="34" charset="-122"/>
                <a:cs typeface="Poppins" pitchFamily="34" charset="-120"/>
              </a:rPr>
              <a:t>one row per rider</a:t>
            </a:r>
            <a:endParaRPr lang="en-US" sz="1050" dirty="0"/>
          </a:p>
        </p:txBody>
      </p:sp>
      <p:sp>
        <p:nvSpPr>
          <p:cNvPr id="12" name="Shape 10"/>
          <p:cNvSpPr/>
          <p:nvPr/>
        </p:nvSpPr>
        <p:spPr>
          <a:xfrm>
            <a:off x="2710282" y="1783080"/>
            <a:ext cx="1823314" cy="2286000"/>
          </a:xfrm>
          <a:prstGeom prst="roundRect">
            <a:avLst>
              <a:gd name="adj" fmla="val 5015"/>
            </a:avLst>
          </a:prstGeom>
          <a:solidFill>
            <a:srgbClr val="FFFFFF"/>
          </a:solidFill>
          <a:ln/>
          <a:effectLst>
            <a:outerShdw sx="100000" sy="100000" kx="0" ky="0" algn="bl" rotWithShape="0" blurRad="152400" dist="38100" dir="5400000">
              <a:srgbClr val="1B2A2E">
                <a:alpha val="14000"/>
              </a:srgbClr>
            </a:outerShdw>
          </a:effectLst>
        </p:spPr>
      </p:sp>
      <p:sp>
        <p:nvSpPr>
          <p:cNvPr id="13" name="Shape 11"/>
          <p:cNvSpPr/>
          <p:nvPr/>
        </p:nvSpPr>
        <p:spPr>
          <a:xfrm>
            <a:off x="2710282" y="1783080"/>
            <a:ext cx="1823314" cy="73152"/>
          </a:xfrm>
          <a:prstGeom prst="rect">
            <a:avLst/>
          </a:prstGeom>
          <a:solidFill>
            <a:srgbClr val="7FB3B3"/>
          </a:solidFill>
          <a:ln/>
        </p:spPr>
      </p:sp>
      <p:sp>
        <p:nvSpPr>
          <p:cNvPr id="14" name="Text 12"/>
          <p:cNvSpPr txBox="1"/>
          <p:nvPr/>
        </p:nvSpPr>
        <p:spPr>
          <a:xfrm>
            <a:off x="2838298" y="2075688"/>
            <a:ext cx="1567282" cy="566928"/>
          </a:xfrm>
          <a:prstGeom prst="rect">
            <a:avLst/>
          </a:prstGeom>
          <a:noFill/>
          <a:ln/>
        </p:spPr>
        <p:txBody>
          <a:bodyPr wrap="square" lIns="0" tIns="0" rIns="0" bIns="0" rtlCol="0" anchor="ctr"/>
          <a:lstStyle/>
          <a:p>
            <a:pPr algn="ctr" indent="0" marL="0">
              <a:lnSpc>
                <a:spcPct val="110000"/>
              </a:lnSpc>
              <a:buNone/>
            </a:pPr>
            <a:r>
              <a:rPr lang="en-US" sz="1150" b="1" dirty="0">
                <a:solidFill>
                  <a:srgbClr val="387F7F"/>
                </a:solidFill>
                <a:latin typeface="Poppins" pitchFamily="34" charset="0"/>
                <a:ea typeface="Poppins" pitchFamily="34" charset="-122"/>
                <a:cs typeface="Poppins" pitchFamily="34" charset="-120"/>
              </a:rPr>
              <a:t>routes.csv</a:t>
            </a:r>
            <a:endParaRPr lang="en-US" sz="1150" dirty="0"/>
          </a:p>
        </p:txBody>
      </p:sp>
      <p:sp>
        <p:nvSpPr>
          <p:cNvPr id="15" name="Shape 13"/>
          <p:cNvSpPr/>
          <p:nvPr/>
        </p:nvSpPr>
        <p:spPr>
          <a:xfrm>
            <a:off x="2911450" y="2743200"/>
            <a:ext cx="1420978" cy="310896"/>
          </a:xfrm>
          <a:prstGeom prst="roundRect">
            <a:avLst>
              <a:gd name="adj" fmla="val 50000"/>
            </a:avLst>
          </a:prstGeom>
          <a:solidFill>
            <a:srgbClr val="EEF4F4"/>
          </a:solidFill>
          <a:ln/>
        </p:spPr>
      </p:sp>
      <p:sp>
        <p:nvSpPr>
          <p:cNvPr id="16" name="Text 14"/>
          <p:cNvSpPr txBox="1"/>
          <p:nvPr/>
        </p:nvSpPr>
        <p:spPr>
          <a:xfrm>
            <a:off x="2911450" y="2743200"/>
            <a:ext cx="1420978" cy="310896"/>
          </a:xfrm>
          <a:prstGeom prst="rect">
            <a:avLst/>
          </a:prstGeom>
          <a:noFill/>
          <a:ln/>
        </p:spPr>
        <p:txBody>
          <a:bodyPr wrap="square" lIns="0" tIns="0" rIns="0" bIns="0" rtlCol="0" anchor="ctr"/>
          <a:lstStyle/>
          <a:p>
            <a:pPr algn="ctr" indent="0" marL="0">
              <a:buNone/>
            </a:pPr>
            <a:r>
              <a:rPr lang="en-US" sz="1050" b="1" dirty="0">
                <a:solidFill>
                  <a:srgbClr val="0A1A23"/>
                </a:solidFill>
                <a:latin typeface="Poppins" pitchFamily="34" charset="0"/>
                <a:ea typeface="Poppins" pitchFamily="34" charset="-122"/>
                <a:cs typeface="Poppins" pitchFamily="34" charset="-120"/>
              </a:rPr>
              <a:t>24 rows</a:t>
            </a:r>
            <a:endParaRPr lang="en-US" sz="1050" dirty="0"/>
          </a:p>
        </p:txBody>
      </p:sp>
      <p:sp>
        <p:nvSpPr>
          <p:cNvPr id="17" name="Text 15"/>
          <p:cNvSpPr txBox="1"/>
          <p:nvPr/>
        </p:nvSpPr>
        <p:spPr>
          <a:xfrm>
            <a:off x="2838298" y="3200400"/>
            <a:ext cx="1567282" cy="822960"/>
          </a:xfrm>
          <a:prstGeom prst="rect">
            <a:avLst/>
          </a:prstGeom>
          <a:noFill/>
          <a:ln/>
        </p:spPr>
        <p:txBody>
          <a:bodyPr wrap="square" lIns="0" tIns="0" rIns="0" bIns="0" rtlCol="0" anchor="t"/>
          <a:lstStyle/>
          <a:p>
            <a:pPr algn="ctr" indent="0" marL="0">
              <a:lnSpc>
                <a:spcPct val="120000"/>
              </a:lnSpc>
              <a:buNone/>
            </a:pPr>
            <a:r>
              <a:rPr lang="en-US" sz="1050" dirty="0">
                <a:solidFill>
                  <a:srgbClr val="475569"/>
                </a:solidFill>
                <a:latin typeface="Poppins" pitchFamily="34" charset="0"/>
                <a:ea typeface="Poppins" pitchFamily="34" charset="-122"/>
                <a:cs typeface="Poppins" pitchFamily="34" charset="-120"/>
              </a:rPr>
              <a:t>one row per route</a:t>
            </a:r>
            <a:endParaRPr lang="en-US" sz="1050" dirty="0"/>
          </a:p>
        </p:txBody>
      </p:sp>
      <p:sp>
        <p:nvSpPr>
          <p:cNvPr id="18" name="Shape 16"/>
          <p:cNvSpPr/>
          <p:nvPr/>
        </p:nvSpPr>
        <p:spPr>
          <a:xfrm>
            <a:off x="4734763" y="1600200"/>
            <a:ext cx="1823314" cy="2651760"/>
          </a:xfrm>
          <a:prstGeom prst="roundRect">
            <a:avLst>
              <a:gd name="adj" fmla="val 5015"/>
            </a:avLst>
          </a:prstGeom>
          <a:solidFill>
            <a:srgbClr val="FFFFFF"/>
          </a:solidFill>
          <a:ln/>
          <a:effectLst>
            <a:outerShdw sx="100000" sy="100000" kx="0" ky="0" algn="bl" rotWithShape="0" blurRad="152400" dist="38100" dir="5400000">
              <a:srgbClr val="1B2A2E">
                <a:alpha val="20000"/>
              </a:srgbClr>
            </a:outerShdw>
          </a:effectLst>
        </p:spPr>
      </p:sp>
      <p:sp>
        <p:nvSpPr>
          <p:cNvPr id="19" name="Shape 17"/>
          <p:cNvSpPr/>
          <p:nvPr/>
        </p:nvSpPr>
        <p:spPr>
          <a:xfrm>
            <a:off x="4734763" y="1600200"/>
            <a:ext cx="1823314" cy="2651760"/>
          </a:xfrm>
          <a:prstGeom prst="roundRect">
            <a:avLst>
              <a:gd name="adj" fmla="val 5015"/>
            </a:avLst>
          </a:prstGeom>
          <a:ln w="25400">
            <a:solidFill>
              <a:srgbClr val="387F7F"/>
            </a:solidFill>
            <a:prstDash val="solid"/>
          </a:ln>
        </p:spPr>
      </p:sp>
      <p:sp>
        <p:nvSpPr>
          <p:cNvPr id="20" name="Shape 18"/>
          <p:cNvSpPr/>
          <p:nvPr/>
        </p:nvSpPr>
        <p:spPr>
          <a:xfrm>
            <a:off x="5079492" y="1453896"/>
            <a:ext cx="1133856" cy="292608"/>
          </a:xfrm>
          <a:prstGeom prst="roundRect">
            <a:avLst>
              <a:gd name="adj" fmla="val 50000"/>
            </a:avLst>
          </a:prstGeom>
          <a:solidFill>
            <a:srgbClr val="387F7F"/>
          </a:solidFill>
          <a:ln/>
        </p:spPr>
      </p:sp>
      <p:sp>
        <p:nvSpPr>
          <p:cNvPr id="21" name="Text 19"/>
          <p:cNvSpPr txBox="1"/>
          <p:nvPr/>
        </p:nvSpPr>
        <p:spPr>
          <a:xfrm>
            <a:off x="5079492" y="1453896"/>
            <a:ext cx="1133856"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FACT TABLE</a:t>
            </a:r>
            <a:endParaRPr lang="en-US" sz="850" dirty="0"/>
          </a:p>
        </p:txBody>
      </p:sp>
      <p:sp>
        <p:nvSpPr>
          <p:cNvPr id="22" name="Text 20"/>
          <p:cNvSpPr txBox="1"/>
          <p:nvPr/>
        </p:nvSpPr>
        <p:spPr>
          <a:xfrm>
            <a:off x="4862779" y="1892808"/>
            <a:ext cx="1567282" cy="566928"/>
          </a:xfrm>
          <a:prstGeom prst="rect">
            <a:avLst/>
          </a:prstGeom>
          <a:noFill/>
          <a:ln/>
        </p:spPr>
        <p:txBody>
          <a:bodyPr wrap="square" lIns="0" tIns="0" rIns="0" bIns="0" rtlCol="0" anchor="ctr"/>
          <a:lstStyle/>
          <a:p>
            <a:pPr algn="ctr" indent="0" marL="0">
              <a:lnSpc>
                <a:spcPct val="110000"/>
              </a:lnSpc>
              <a:buNone/>
            </a:pPr>
            <a:r>
              <a:rPr lang="en-US" sz="1200" b="1" dirty="0">
                <a:solidFill>
                  <a:srgbClr val="387F7F"/>
                </a:solidFill>
                <a:latin typeface="Poppins" pitchFamily="34" charset="0"/>
                <a:ea typeface="Poppins" pitchFamily="34" charset="-122"/>
                <a:cs typeface="Poppins" pitchFamily="34" charset="-120"/>
              </a:rPr>
              <a:t>swiftroute_</a:t>
            </a:r>
            <a:endParaRPr lang="en-US" sz="1200" dirty="0"/>
          </a:p>
          <a:p>
            <a:pPr algn="ctr" indent="0" marL="0">
              <a:lnSpc>
                <a:spcPct val="110000"/>
              </a:lnSpc>
              <a:buNone/>
            </a:pPr>
            <a:r>
              <a:rPr lang="en-US" sz="1200" b="1" dirty="0">
                <a:solidFill>
                  <a:srgbClr val="387F7F"/>
                </a:solidFill>
                <a:latin typeface="Poppins" pitchFamily="34" charset="0"/>
                <a:ea typeface="Poppins" pitchFamily="34" charset="-122"/>
                <a:cs typeface="Poppins" pitchFamily="34" charset="-120"/>
              </a:rPr>
              <a:t>deliveries.csv</a:t>
            </a:r>
            <a:endParaRPr lang="en-US" sz="1200" dirty="0"/>
          </a:p>
        </p:txBody>
      </p:sp>
      <p:sp>
        <p:nvSpPr>
          <p:cNvPr id="23" name="Shape 21"/>
          <p:cNvSpPr/>
          <p:nvPr/>
        </p:nvSpPr>
        <p:spPr>
          <a:xfrm>
            <a:off x="4935931" y="2560320"/>
            <a:ext cx="1420978" cy="310896"/>
          </a:xfrm>
          <a:prstGeom prst="roundRect">
            <a:avLst>
              <a:gd name="adj" fmla="val 50000"/>
            </a:avLst>
          </a:prstGeom>
          <a:solidFill>
            <a:srgbClr val="EEF4F4"/>
          </a:solidFill>
          <a:ln/>
        </p:spPr>
      </p:sp>
      <p:sp>
        <p:nvSpPr>
          <p:cNvPr id="24" name="Text 22"/>
          <p:cNvSpPr txBox="1"/>
          <p:nvPr/>
        </p:nvSpPr>
        <p:spPr>
          <a:xfrm>
            <a:off x="4935931" y="2560320"/>
            <a:ext cx="1420978" cy="310896"/>
          </a:xfrm>
          <a:prstGeom prst="rect">
            <a:avLst/>
          </a:prstGeom>
          <a:noFill/>
          <a:ln/>
        </p:spPr>
        <p:txBody>
          <a:bodyPr wrap="square" lIns="0" tIns="0" rIns="0" bIns="0" rtlCol="0" anchor="ctr"/>
          <a:lstStyle/>
          <a:p>
            <a:pPr algn="ctr" indent="0" marL="0">
              <a:buNone/>
            </a:pPr>
            <a:r>
              <a:rPr lang="en-US" sz="1050" b="1" dirty="0">
                <a:solidFill>
                  <a:srgbClr val="0A1A23"/>
                </a:solidFill>
                <a:latin typeface="Poppins" pitchFamily="34" charset="0"/>
                <a:ea typeface="Poppins" pitchFamily="34" charset="-122"/>
                <a:cs typeface="Poppins" pitchFamily="34" charset="-120"/>
              </a:rPr>
              <a:t>41,280 rows</a:t>
            </a:r>
            <a:endParaRPr lang="en-US" sz="1050" dirty="0"/>
          </a:p>
        </p:txBody>
      </p:sp>
      <p:sp>
        <p:nvSpPr>
          <p:cNvPr id="25" name="Text 23"/>
          <p:cNvSpPr txBox="1"/>
          <p:nvPr/>
        </p:nvSpPr>
        <p:spPr>
          <a:xfrm>
            <a:off x="4862779" y="3017520"/>
            <a:ext cx="1567282" cy="822960"/>
          </a:xfrm>
          <a:prstGeom prst="rect">
            <a:avLst/>
          </a:prstGeom>
          <a:noFill/>
          <a:ln/>
        </p:spPr>
        <p:txBody>
          <a:bodyPr wrap="square" lIns="0" tIns="0" rIns="0" bIns="0" rtlCol="0" anchor="t"/>
          <a:lstStyle/>
          <a:p>
            <a:pPr algn="ctr" indent="0" marL="0">
              <a:lnSpc>
                <a:spcPct val="120000"/>
              </a:lnSpc>
              <a:buNone/>
            </a:pPr>
            <a:r>
              <a:rPr lang="en-US" sz="1050" dirty="0">
                <a:solidFill>
                  <a:srgbClr val="475569"/>
                </a:solidFill>
                <a:latin typeface="Poppins" pitchFamily="34" charset="0"/>
                <a:ea typeface="Poppins" pitchFamily="34" charset="-122"/>
                <a:cs typeface="Poppins" pitchFamily="34" charset="-120"/>
              </a:rPr>
              <a:t>one row per delivery, 2025</a:t>
            </a:r>
            <a:endParaRPr lang="en-US" sz="1050" dirty="0"/>
          </a:p>
        </p:txBody>
      </p:sp>
      <p:sp>
        <p:nvSpPr>
          <p:cNvPr id="26" name="Shape 24"/>
          <p:cNvSpPr/>
          <p:nvPr/>
        </p:nvSpPr>
        <p:spPr>
          <a:xfrm>
            <a:off x="6759245" y="1783080"/>
            <a:ext cx="1823314" cy="2286000"/>
          </a:xfrm>
          <a:prstGeom prst="roundRect">
            <a:avLst>
              <a:gd name="adj" fmla="val 5015"/>
            </a:avLst>
          </a:prstGeom>
          <a:solidFill>
            <a:srgbClr val="FFFFFF"/>
          </a:solidFill>
          <a:ln/>
          <a:effectLst>
            <a:outerShdw sx="100000" sy="100000" kx="0" ky="0" algn="bl" rotWithShape="0" blurRad="152400" dist="38100" dir="5400000">
              <a:srgbClr val="1B2A2E">
                <a:alpha val="14000"/>
              </a:srgbClr>
            </a:outerShdw>
          </a:effectLst>
        </p:spPr>
      </p:sp>
      <p:sp>
        <p:nvSpPr>
          <p:cNvPr id="27" name="Shape 25"/>
          <p:cNvSpPr/>
          <p:nvPr/>
        </p:nvSpPr>
        <p:spPr>
          <a:xfrm>
            <a:off x="6759245" y="1783080"/>
            <a:ext cx="1823314" cy="73152"/>
          </a:xfrm>
          <a:prstGeom prst="rect">
            <a:avLst/>
          </a:prstGeom>
          <a:solidFill>
            <a:srgbClr val="7FB3B3"/>
          </a:solidFill>
          <a:ln/>
        </p:spPr>
      </p:sp>
      <p:sp>
        <p:nvSpPr>
          <p:cNvPr id="28" name="Text 26"/>
          <p:cNvSpPr txBox="1"/>
          <p:nvPr/>
        </p:nvSpPr>
        <p:spPr>
          <a:xfrm>
            <a:off x="6887261" y="2075688"/>
            <a:ext cx="1567282" cy="566928"/>
          </a:xfrm>
          <a:prstGeom prst="rect">
            <a:avLst/>
          </a:prstGeom>
          <a:noFill/>
          <a:ln/>
        </p:spPr>
        <p:txBody>
          <a:bodyPr wrap="square" lIns="0" tIns="0" rIns="0" bIns="0" rtlCol="0" anchor="ctr"/>
          <a:lstStyle/>
          <a:p>
            <a:pPr algn="ctr" indent="0" marL="0">
              <a:lnSpc>
                <a:spcPct val="110000"/>
              </a:lnSpc>
              <a:buNone/>
            </a:pPr>
            <a:r>
              <a:rPr lang="en-US" sz="1150" b="1" dirty="0">
                <a:solidFill>
                  <a:srgbClr val="387F7F"/>
                </a:solidFill>
                <a:latin typeface="Poppins" pitchFamily="34" charset="0"/>
                <a:ea typeface="Poppins" pitchFamily="34" charset="-122"/>
                <a:cs typeface="Poppins" pitchFamily="34" charset="-120"/>
              </a:rPr>
              <a:t>customers_</a:t>
            </a:r>
            <a:endParaRPr lang="en-US" sz="1150" dirty="0"/>
          </a:p>
          <a:p>
            <a:pPr algn="ctr" indent="0" marL="0">
              <a:lnSpc>
                <a:spcPct val="110000"/>
              </a:lnSpc>
              <a:buNone/>
            </a:pPr>
            <a:r>
              <a:rPr lang="en-US" sz="1150" b="1" dirty="0">
                <a:solidFill>
                  <a:srgbClr val="387F7F"/>
                </a:solidFill>
                <a:latin typeface="Poppins" pitchFamily="34" charset="0"/>
                <a:ea typeface="Poppins" pitchFamily="34" charset="-122"/>
                <a:cs typeface="Poppins" pitchFamily="34" charset="-120"/>
              </a:rPr>
              <a:t>business.csv</a:t>
            </a:r>
            <a:endParaRPr lang="en-US" sz="1150" dirty="0"/>
          </a:p>
        </p:txBody>
      </p:sp>
      <p:sp>
        <p:nvSpPr>
          <p:cNvPr id="29" name="Shape 27"/>
          <p:cNvSpPr/>
          <p:nvPr/>
        </p:nvSpPr>
        <p:spPr>
          <a:xfrm>
            <a:off x="6960413" y="2743200"/>
            <a:ext cx="1420978" cy="310896"/>
          </a:xfrm>
          <a:prstGeom prst="roundRect">
            <a:avLst>
              <a:gd name="adj" fmla="val 50000"/>
            </a:avLst>
          </a:prstGeom>
          <a:solidFill>
            <a:srgbClr val="EEF4F4"/>
          </a:solidFill>
          <a:ln/>
        </p:spPr>
      </p:sp>
      <p:sp>
        <p:nvSpPr>
          <p:cNvPr id="30" name="Text 28"/>
          <p:cNvSpPr txBox="1"/>
          <p:nvPr/>
        </p:nvSpPr>
        <p:spPr>
          <a:xfrm>
            <a:off x="6960413" y="2743200"/>
            <a:ext cx="1420978" cy="310896"/>
          </a:xfrm>
          <a:prstGeom prst="rect">
            <a:avLst/>
          </a:prstGeom>
          <a:noFill/>
          <a:ln/>
        </p:spPr>
        <p:txBody>
          <a:bodyPr wrap="square" lIns="0" tIns="0" rIns="0" bIns="0" rtlCol="0" anchor="ctr"/>
          <a:lstStyle/>
          <a:p>
            <a:pPr algn="ctr" indent="0" marL="0">
              <a:buNone/>
            </a:pPr>
            <a:r>
              <a:rPr lang="en-US" sz="1050" b="1" dirty="0">
                <a:solidFill>
                  <a:srgbClr val="0A1A23"/>
                </a:solidFill>
                <a:latin typeface="Poppins" pitchFamily="34" charset="0"/>
                <a:ea typeface="Poppins" pitchFamily="34" charset="-122"/>
                <a:cs typeface="Poppins" pitchFamily="34" charset="-120"/>
              </a:rPr>
              <a:t>310 rows</a:t>
            </a:r>
            <a:endParaRPr lang="en-US" sz="1050" dirty="0"/>
          </a:p>
        </p:txBody>
      </p:sp>
      <p:sp>
        <p:nvSpPr>
          <p:cNvPr id="31" name="Text 29"/>
          <p:cNvSpPr txBox="1"/>
          <p:nvPr/>
        </p:nvSpPr>
        <p:spPr>
          <a:xfrm>
            <a:off x="6887261" y="3200400"/>
            <a:ext cx="1567282" cy="822960"/>
          </a:xfrm>
          <a:prstGeom prst="rect">
            <a:avLst/>
          </a:prstGeom>
          <a:noFill/>
          <a:ln/>
        </p:spPr>
        <p:txBody>
          <a:bodyPr wrap="square" lIns="0" tIns="0" rIns="0" bIns="0" rtlCol="0" anchor="t"/>
          <a:lstStyle/>
          <a:p>
            <a:pPr algn="ctr" indent="0" marL="0">
              <a:lnSpc>
                <a:spcPct val="120000"/>
              </a:lnSpc>
              <a:buNone/>
            </a:pPr>
            <a:r>
              <a:rPr lang="en-US" sz="1050" dirty="0">
                <a:solidFill>
                  <a:srgbClr val="475569"/>
                </a:solidFill>
                <a:latin typeface="Poppins" pitchFamily="34" charset="0"/>
                <a:ea typeface="Poppins" pitchFamily="34" charset="-122"/>
                <a:cs typeface="Poppins" pitchFamily="34" charset="-120"/>
              </a:rPr>
              <a:t>one row per business account</a:t>
            </a:r>
            <a:endParaRPr lang="en-US" sz="1050" dirty="0"/>
          </a:p>
        </p:txBody>
      </p:sp>
      <p:sp>
        <p:nvSpPr>
          <p:cNvPr id="32" name="Shape 30"/>
          <p:cNvSpPr/>
          <p:nvPr/>
        </p:nvSpPr>
        <p:spPr>
          <a:xfrm>
            <a:off x="8783726" y="1783080"/>
            <a:ext cx="1823314" cy="2286000"/>
          </a:xfrm>
          <a:prstGeom prst="roundRect">
            <a:avLst>
              <a:gd name="adj" fmla="val 5015"/>
            </a:avLst>
          </a:prstGeom>
          <a:solidFill>
            <a:srgbClr val="FFFFFF"/>
          </a:solidFill>
          <a:ln/>
          <a:effectLst>
            <a:outerShdw sx="100000" sy="100000" kx="0" ky="0" algn="bl" rotWithShape="0" blurRad="152400" dist="38100" dir="5400000">
              <a:srgbClr val="1B2A2E">
                <a:alpha val="14000"/>
              </a:srgbClr>
            </a:outerShdw>
          </a:effectLst>
        </p:spPr>
      </p:sp>
      <p:sp>
        <p:nvSpPr>
          <p:cNvPr id="33" name="Shape 31"/>
          <p:cNvSpPr/>
          <p:nvPr/>
        </p:nvSpPr>
        <p:spPr>
          <a:xfrm>
            <a:off x="8783726" y="1783080"/>
            <a:ext cx="1823314" cy="73152"/>
          </a:xfrm>
          <a:prstGeom prst="rect">
            <a:avLst/>
          </a:prstGeom>
          <a:solidFill>
            <a:srgbClr val="7FB3B3"/>
          </a:solidFill>
          <a:ln/>
        </p:spPr>
      </p:sp>
      <p:sp>
        <p:nvSpPr>
          <p:cNvPr id="34" name="Text 32"/>
          <p:cNvSpPr txBox="1"/>
          <p:nvPr/>
        </p:nvSpPr>
        <p:spPr>
          <a:xfrm>
            <a:off x="8911742" y="2075688"/>
            <a:ext cx="1567282" cy="566928"/>
          </a:xfrm>
          <a:prstGeom prst="rect">
            <a:avLst/>
          </a:prstGeom>
          <a:noFill/>
          <a:ln/>
        </p:spPr>
        <p:txBody>
          <a:bodyPr wrap="square" lIns="0" tIns="0" rIns="0" bIns="0" rtlCol="0" anchor="ctr"/>
          <a:lstStyle/>
          <a:p>
            <a:pPr algn="ctr" indent="0" marL="0">
              <a:lnSpc>
                <a:spcPct val="110000"/>
              </a:lnSpc>
              <a:buNone/>
            </a:pPr>
            <a:r>
              <a:rPr lang="en-US" sz="1150" b="1" dirty="0">
                <a:solidFill>
                  <a:srgbClr val="387F7F"/>
                </a:solidFill>
                <a:latin typeface="Poppins" pitchFamily="34" charset="0"/>
                <a:ea typeface="Poppins" pitchFamily="34" charset="-122"/>
                <a:cs typeface="Poppins" pitchFamily="34" charset="-120"/>
              </a:rPr>
              <a:t>dates.csv</a:t>
            </a:r>
            <a:endParaRPr lang="en-US" sz="1150" dirty="0"/>
          </a:p>
        </p:txBody>
      </p:sp>
      <p:sp>
        <p:nvSpPr>
          <p:cNvPr id="35" name="Shape 33"/>
          <p:cNvSpPr/>
          <p:nvPr/>
        </p:nvSpPr>
        <p:spPr>
          <a:xfrm>
            <a:off x="8984894" y="2743200"/>
            <a:ext cx="1420978" cy="310896"/>
          </a:xfrm>
          <a:prstGeom prst="roundRect">
            <a:avLst>
              <a:gd name="adj" fmla="val 50000"/>
            </a:avLst>
          </a:prstGeom>
          <a:solidFill>
            <a:srgbClr val="EEF4F4"/>
          </a:solidFill>
          <a:ln/>
        </p:spPr>
      </p:sp>
      <p:sp>
        <p:nvSpPr>
          <p:cNvPr id="36" name="Text 34"/>
          <p:cNvSpPr txBox="1"/>
          <p:nvPr/>
        </p:nvSpPr>
        <p:spPr>
          <a:xfrm>
            <a:off x="8984894" y="2743200"/>
            <a:ext cx="1420978" cy="310896"/>
          </a:xfrm>
          <a:prstGeom prst="rect">
            <a:avLst/>
          </a:prstGeom>
          <a:noFill/>
          <a:ln/>
        </p:spPr>
        <p:txBody>
          <a:bodyPr wrap="square" lIns="0" tIns="0" rIns="0" bIns="0" rtlCol="0" anchor="ctr"/>
          <a:lstStyle/>
          <a:p>
            <a:pPr algn="ctr" indent="0" marL="0">
              <a:buNone/>
            </a:pPr>
            <a:r>
              <a:rPr lang="en-US" sz="1050" b="1" dirty="0">
                <a:solidFill>
                  <a:srgbClr val="0A1A23"/>
                </a:solidFill>
                <a:latin typeface="Poppins" pitchFamily="34" charset="0"/>
                <a:ea typeface="Poppins" pitchFamily="34" charset="-122"/>
                <a:cs typeface="Poppins" pitchFamily="34" charset="-120"/>
              </a:rPr>
              <a:t>365 rows</a:t>
            </a:r>
            <a:endParaRPr lang="en-US" sz="1050" dirty="0"/>
          </a:p>
        </p:txBody>
      </p:sp>
      <p:sp>
        <p:nvSpPr>
          <p:cNvPr id="37" name="Text 35"/>
          <p:cNvSpPr txBox="1"/>
          <p:nvPr/>
        </p:nvSpPr>
        <p:spPr>
          <a:xfrm>
            <a:off x="8911742" y="3200400"/>
            <a:ext cx="1567282" cy="822960"/>
          </a:xfrm>
          <a:prstGeom prst="rect">
            <a:avLst/>
          </a:prstGeom>
          <a:noFill/>
          <a:ln/>
        </p:spPr>
        <p:txBody>
          <a:bodyPr wrap="square" lIns="0" tIns="0" rIns="0" bIns="0" rtlCol="0" anchor="t"/>
          <a:lstStyle/>
          <a:p>
            <a:pPr algn="ctr" indent="0" marL="0">
              <a:lnSpc>
                <a:spcPct val="120000"/>
              </a:lnSpc>
              <a:buNone/>
            </a:pPr>
            <a:r>
              <a:rPr lang="en-US" sz="1050" dirty="0">
                <a:solidFill>
                  <a:srgbClr val="475569"/>
                </a:solidFill>
                <a:latin typeface="Poppins" pitchFamily="34" charset="0"/>
                <a:ea typeface="Poppins" pitchFamily="34" charset="-122"/>
                <a:cs typeface="Poppins" pitchFamily="34" charset="-120"/>
              </a:rPr>
              <a:t>one row per day</a:t>
            </a:r>
            <a:endParaRPr lang="en-US" sz="1050" dirty="0"/>
          </a:p>
        </p:txBody>
      </p:sp>
      <p:sp>
        <p:nvSpPr>
          <p:cNvPr id="38" name="Shape 36"/>
          <p:cNvSpPr/>
          <p:nvPr/>
        </p:nvSpPr>
        <p:spPr>
          <a:xfrm>
            <a:off x="685800" y="4617720"/>
            <a:ext cx="9829800" cy="1051560"/>
          </a:xfrm>
          <a:prstGeom prst="roundRect">
            <a:avLst>
              <a:gd name="adj" fmla="val 7826"/>
            </a:avLst>
          </a:prstGeom>
          <a:solidFill>
            <a:srgbClr val="EEF4F4"/>
          </a:solidFill>
          <a:ln/>
        </p:spPr>
      </p:sp>
      <p:sp>
        <p:nvSpPr>
          <p:cNvPr id="39" name="Shape 37"/>
          <p:cNvSpPr/>
          <p:nvPr/>
        </p:nvSpPr>
        <p:spPr>
          <a:xfrm>
            <a:off x="685800" y="4617720"/>
            <a:ext cx="68580" cy="1051560"/>
          </a:xfrm>
          <a:prstGeom prst="rect">
            <a:avLst/>
          </a:prstGeom>
          <a:solidFill>
            <a:srgbClr val="387F7F"/>
          </a:solidFill>
          <a:ln/>
        </p:spPr>
      </p:sp>
      <p:sp>
        <p:nvSpPr>
          <p:cNvPr id="40" name="Text 38"/>
          <p:cNvSpPr txBox="1"/>
          <p:nvPr/>
        </p:nvSpPr>
        <p:spPr>
          <a:xfrm>
            <a:off x="1051560" y="4617720"/>
            <a:ext cx="9235440" cy="1051560"/>
          </a:xfrm>
          <a:prstGeom prst="rect">
            <a:avLst/>
          </a:prstGeom>
          <a:noFill/>
          <a:ln/>
        </p:spPr>
        <p:txBody>
          <a:bodyPr wrap="square" lIns="0" tIns="0" rIns="0" bIns="0" rtlCol="0" anchor="ctr"/>
          <a:lstStyle/>
          <a:p>
            <a:pPr algn="l" indent="0" marL="0">
              <a:lnSpc>
                <a:spcPct val="125000"/>
              </a:lnSpc>
              <a:buNone/>
            </a:pPr>
            <a:r>
              <a:rPr lang="en-US" sz="1550" b="1" dirty="0">
                <a:solidFill>
                  <a:srgbClr val="387F7F"/>
                </a:solidFill>
                <a:latin typeface="Poppins" pitchFamily="34" charset="0"/>
                <a:ea typeface="Poppins" pitchFamily="34" charset="-122"/>
                <a:cs typeface="Poppins" pitchFamily="34" charset="-120"/>
              </a:rPr>
              <a:t>Say the grain of a table out loud before you use it. “One row per what?” is the question that prevents most modelling errors.</a:t>
            </a:r>
            <a:endParaRPr lang="en-US" sz="1550" dirty="0"/>
          </a:p>
        </p:txBody>
      </p:sp>
      <p:pic>
        <p:nvPicPr>
          <p:cNvPr id="41" name="Image 0" descr="/home/claude/build/assets/logo_full.png">    </p:cNvPr>
          <p:cNvPicPr>
            <a:picLocks noChangeAspect="1"/>
          </p:cNvPicPr>
          <p:nvPr/>
        </p:nvPicPr>
        <p:blipFill>
          <a:blip r:embed="rId2"/>
          <a:stretch>
            <a:fillRect/>
          </a:stretch>
        </p:blipFill>
        <p:spPr>
          <a:xfrm>
            <a:off x="10998403" y="5949086"/>
            <a:ext cx="431597" cy="375337"/>
          </a:xfrm>
          <a:prstGeom prst="rect">
            <a:avLst/>
          </a:prstGeom>
        </p:spPr>
      </p:pic>
      <p:sp>
        <p:nvSpPr>
          <p:cNvPr id="42" name="Text 39"/>
          <p:cNvSpPr txBox="1"/>
          <p:nvPr/>
        </p:nvSpPr>
        <p:spPr>
          <a:xfrm>
            <a:off x="11689050" y="6473952"/>
            <a:ext cx="365760" cy="274320"/>
          </a:xfrm>
          <a:prstGeom prst="rect">
            <a:avLst/>
          </a:prstGeom>
          <a:noFill/>
          <a:ln/>
        </p:spPr>
        <p:txBody>
          <a:bodyPr wrap="square" lIns="0" tIns="0" rIns="0" bIns="0" rtlCol="0" anchor="ctr"/>
          <a:lstStyle/>
          <a:p>
            <a:pPr algn="r" indent="0" marL="0">
              <a:buNone/>
            </a:pPr>
            <a:r>
              <a:rPr lang="en-US" sz="1100" dirty="0">
                <a:solidFill>
                  <a:srgbClr val="64748B"/>
                </a:solidFill>
                <a:latin typeface="Poppins" pitchFamily="34" charset="0"/>
                <a:ea typeface="Poppins" pitchFamily="34" charset="-122"/>
                <a:cs typeface="Poppins"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1024006" y="1958645"/>
            <a:ext cx="4133088" cy="4038905"/>
          </a:xfrm>
          <a:prstGeom prst="ellipse">
            <a:avLst/>
          </a:prstGeom>
          <a:solidFill>
            <a:srgbClr val="387F7F"/>
          </a:solidFill>
          <a:ln/>
        </p:spPr>
      </p:sp>
      <p:sp>
        <p:nvSpPr>
          <p:cNvPr id="3" name="Shape 1"/>
          <p:cNvSpPr/>
          <p:nvPr/>
        </p:nvSpPr>
        <p:spPr>
          <a:xfrm>
            <a:off x="11316614" y="2675534"/>
            <a:ext cx="1051560" cy="2162556"/>
          </a:xfrm>
          <a:prstGeom prst="ellipse">
            <a:avLst/>
          </a:prstGeom>
          <a:solidFill>
            <a:srgbClr val="387F7F"/>
          </a:solidFill>
          <a:ln/>
        </p:spPr>
      </p:sp>
      <p:sp>
        <p:nvSpPr>
          <p:cNvPr id="4" name="Shape 2"/>
          <p:cNvSpPr/>
          <p:nvPr/>
        </p:nvSpPr>
        <p:spPr>
          <a:xfrm>
            <a:off x="685800" y="548640"/>
            <a:ext cx="68580" cy="420624"/>
          </a:xfrm>
          <a:prstGeom prst="rect">
            <a:avLst/>
          </a:prstGeom>
          <a:solidFill>
            <a:srgbClr val="387F7F"/>
          </a:solidFill>
          <a:ln/>
        </p:spPr>
      </p:sp>
      <p:sp>
        <p:nvSpPr>
          <p:cNvPr id="5" name="Text 3"/>
          <p:cNvSpPr txBox="1"/>
          <p:nvPr/>
        </p:nvSpPr>
        <p:spPr>
          <a:xfrm>
            <a:off x="886968" y="502920"/>
            <a:ext cx="9692640" cy="502920"/>
          </a:xfrm>
          <a:prstGeom prst="rect">
            <a:avLst/>
          </a:prstGeom>
          <a:noFill/>
          <a:ln/>
        </p:spPr>
        <p:txBody>
          <a:bodyPr wrap="square" lIns="0" tIns="0" rIns="0" bIns="0" rtlCol="0" anchor="ctr"/>
          <a:lstStyle/>
          <a:p>
            <a:pPr indent="0" marL="0">
              <a:lnSpc>
                <a:spcPct val="108000"/>
              </a:lnSpc>
              <a:buNone/>
            </a:pPr>
            <a:r>
              <a:rPr lang="en-US" sz="2700" dirty="0">
                <a:solidFill>
                  <a:srgbClr val="387F7F"/>
                </a:solidFill>
                <a:latin typeface="Poppins" pitchFamily="34" charset="0"/>
                <a:ea typeface="Poppins" pitchFamily="34" charset="-122"/>
                <a:cs typeface="Poppins" pitchFamily="34" charset="-120"/>
              </a:rPr>
              <a:t>Loading SwiftRoute: steps 1 and 2</a:t>
            </a:r>
            <a:endParaRPr lang="en-US" sz="2700" dirty="0"/>
          </a:p>
        </p:txBody>
      </p:sp>
      <p:sp>
        <p:nvSpPr>
          <p:cNvPr id="6" name="Shape 4"/>
          <p:cNvSpPr/>
          <p:nvPr/>
        </p:nvSpPr>
        <p:spPr>
          <a:xfrm>
            <a:off x="685800" y="1463040"/>
            <a:ext cx="1901952" cy="457200"/>
          </a:xfrm>
          <a:prstGeom prst="roundRect">
            <a:avLst>
              <a:gd name="adj" fmla="val 50000"/>
            </a:avLst>
          </a:prstGeom>
          <a:solidFill>
            <a:srgbClr val="387F7F"/>
          </a:solidFill>
          <a:ln/>
        </p:spPr>
      </p:sp>
      <p:sp>
        <p:nvSpPr>
          <p:cNvPr id="7" name="Shape 5"/>
          <p:cNvSpPr/>
          <p:nvPr/>
        </p:nvSpPr>
        <p:spPr>
          <a:xfrm>
            <a:off x="777240" y="1545336"/>
            <a:ext cx="292608" cy="292608"/>
          </a:xfrm>
          <a:prstGeom prst="ellipse">
            <a:avLst/>
          </a:prstGeom>
          <a:solidFill>
            <a:srgbClr val="FFFFFF"/>
          </a:solidFill>
          <a:ln/>
        </p:spPr>
      </p:sp>
      <p:sp>
        <p:nvSpPr>
          <p:cNvPr id="8" name="Text 6"/>
          <p:cNvSpPr txBox="1"/>
          <p:nvPr/>
        </p:nvSpPr>
        <p:spPr>
          <a:xfrm>
            <a:off x="777240" y="1545336"/>
            <a:ext cx="292608" cy="292608"/>
          </a:xfrm>
          <a:prstGeom prst="rect">
            <a:avLst/>
          </a:prstGeom>
          <a:noFill/>
          <a:ln/>
        </p:spPr>
        <p:txBody>
          <a:bodyPr wrap="square" lIns="0" tIns="0" rIns="0" bIns="0" rtlCol="0" anchor="ctr"/>
          <a:lstStyle/>
          <a:p>
            <a:pPr algn="ctr" indent="0" marL="0">
              <a:buNone/>
            </a:pPr>
            <a:r>
              <a:rPr lang="en-US" sz="1200" b="1" dirty="0">
                <a:solidFill>
                  <a:srgbClr val="387F7F"/>
                </a:solidFill>
                <a:latin typeface="Poppins" pitchFamily="34" charset="0"/>
                <a:ea typeface="Poppins" pitchFamily="34" charset="-122"/>
                <a:cs typeface="Poppins" pitchFamily="34" charset="-120"/>
              </a:rPr>
              <a:t>1</a:t>
            </a:r>
            <a:endParaRPr lang="en-US" sz="1200" dirty="0"/>
          </a:p>
        </p:txBody>
      </p:sp>
      <p:sp>
        <p:nvSpPr>
          <p:cNvPr id="9" name="Text 7"/>
          <p:cNvSpPr txBox="1"/>
          <p:nvPr/>
        </p:nvSpPr>
        <p:spPr>
          <a:xfrm>
            <a:off x="1161288" y="1463040"/>
            <a:ext cx="1335024" cy="457200"/>
          </a:xfrm>
          <a:prstGeom prst="rect">
            <a:avLst/>
          </a:prstGeom>
          <a:noFill/>
          <a:ln/>
        </p:spPr>
        <p:txBody>
          <a:bodyPr wrap="square" lIns="0" tIns="0" rIns="0" bIns="0" rtlCol="0" anchor="ctr"/>
          <a:lstStyle/>
          <a:p>
            <a:pPr indent="0" marL="0">
              <a:buNone/>
            </a:pPr>
            <a:r>
              <a:rPr lang="en-US" sz="1150" b="1" dirty="0">
                <a:solidFill>
                  <a:srgbClr val="FFFFFF"/>
                </a:solidFill>
                <a:latin typeface="Poppins" pitchFamily="34" charset="0"/>
                <a:ea typeface="Poppins" pitchFamily="34" charset="-122"/>
                <a:cs typeface="Poppins" pitchFamily="34" charset="-120"/>
              </a:rPr>
              <a:t>Get data</a:t>
            </a:r>
            <a:endParaRPr lang="en-US" sz="1150" dirty="0"/>
          </a:p>
        </p:txBody>
      </p:sp>
      <p:sp>
        <p:nvSpPr>
          <p:cNvPr id="10" name="Shape 8"/>
          <p:cNvSpPr/>
          <p:nvPr/>
        </p:nvSpPr>
        <p:spPr>
          <a:xfrm>
            <a:off x="2734056" y="1463040"/>
            <a:ext cx="1901952" cy="457200"/>
          </a:xfrm>
          <a:prstGeom prst="roundRect">
            <a:avLst>
              <a:gd name="adj" fmla="val 50000"/>
            </a:avLst>
          </a:prstGeom>
          <a:solidFill>
            <a:srgbClr val="387F7F"/>
          </a:solidFill>
          <a:ln/>
        </p:spPr>
      </p:sp>
      <p:sp>
        <p:nvSpPr>
          <p:cNvPr id="11" name="Shape 9"/>
          <p:cNvSpPr/>
          <p:nvPr/>
        </p:nvSpPr>
        <p:spPr>
          <a:xfrm>
            <a:off x="2825496" y="1545336"/>
            <a:ext cx="292608" cy="292608"/>
          </a:xfrm>
          <a:prstGeom prst="ellipse">
            <a:avLst/>
          </a:prstGeom>
          <a:solidFill>
            <a:srgbClr val="FFFFFF"/>
          </a:solidFill>
          <a:ln/>
        </p:spPr>
      </p:sp>
      <p:sp>
        <p:nvSpPr>
          <p:cNvPr id="12" name="Text 10"/>
          <p:cNvSpPr txBox="1"/>
          <p:nvPr/>
        </p:nvSpPr>
        <p:spPr>
          <a:xfrm>
            <a:off x="2825496" y="1545336"/>
            <a:ext cx="292608" cy="292608"/>
          </a:xfrm>
          <a:prstGeom prst="rect">
            <a:avLst/>
          </a:prstGeom>
          <a:noFill/>
          <a:ln/>
        </p:spPr>
        <p:txBody>
          <a:bodyPr wrap="square" lIns="0" tIns="0" rIns="0" bIns="0" rtlCol="0" anchor="ctr"/>
          <a:lstStyle/>
          <a:p>
            <a:pPr algn="ctr" indent="0" marL="0">
              <a:buNone/>
            </a:pPr>
            <a:r>
              <a:rPr lang="en-US" sz="1200" b="1" dirty="0">
                <a:solidFill>
                  <a:srgbClr val="387F7F"/>
                </a:solidFill>
                <a:latin typeface="Poppins" pitchFamily="34" charset="0"/>
                <a:ea typeface="Poppins" pitchFamily="34" charset="-122"/>
                <a:cs typeface="Poppins" pitchFamily="34" charset="-120"/>
              </a:rPr>
              <a:t>2</a:t>
            </a:r>
            <a:endParaRPr lang="en-US" sz="1200" dirty="0"/>
          </a:p>
        </p:txBody>
      </p:sp>
      <p:sp>
        <p:nvSpPr>
          <p:cNvPr id="13" name="Text 11"/>
          <p:cNvSpPr txBox="1"/>
          <p:nvPr/>
        </p:nvSpPr>
        <p:spPr>
          <a:xfrm>
            <a:off x="3209544" y="1463040"/>
            <a:ext cx="1335024" cy="457200"/>
          </a:xfrm>
          <a:prstGeom prst="rect">
            <a:avLst/>
          </a:prstGeom>
          <a:noFill/>
          <a:ln/>
        </p:spPr>
        <p:txBody>
          <a:bodyPr wrap="square" lIns="0" tIns="0" rIns="0" bIns="0" rtlCol="0" anchor="ctr"/>
          <a:lstStyle/>
          <a:p>
            <a:pPr indent="0" marL="0">
              <a:buNone/>
            </a:pPr>
            <a:r>
              <a:rPr lang="en-US" sz="1150" b="1" dirty="0">
                <a:solidFill>
                  <a:srgbClr val="FFFFFF"/>
                </a:solidFill>
                <a:latin typeface="Poppins" pitchFamily="34" charset="0"/>
                <a:ea typeface="Poppins" pitchFamily="34" charset="-122"/>
                <a:cs typeface="Poppins" pitchFamily="34" charset="-120"/>
              </a:rPr>
              <a:t>Preview</a:t>
            </a:r>
            <a:endParaRPr lang="en-US" sz="1150" dirty="0"/>
          </a:p>
        </p:txBody>
      </p:sp>
      <p:sp>
        <p:nvSpPr>
          <p:cNvPr id="14" name="Shape 12"/>
          <p:cNvSpPr/>
          <p:nvPr/>
        </p:nvSpPr>
        <p:spPr>
          <a:xfrm>
            <a:off x="4782312" y="1463040"/>
            <a:ext cx="1901952" cy="457200"/>
          </a:xfrm>
          <a:prstGeom prst="roundRect">
            <a:avLst>
              <a:gd name="adj" fmla="val 50000"/>
            </a:avLst>
          </a:prstGeom>
          <a:solidFill>
            <a:srgbClr val="FFFFFF"/>
          </a:solidFill>
          <a:ln w="15875">
            <a:solidFill>
              <a:srgbClr val="E2E8F0"/>
            </a:solidFill>
            <a:prstDash val="solid"/>
          </a:ln>
        </p:spPr>
      </p:sp>
      <p:sp>
        <p:nvSpPr>
          <p:cNvPr id="15" name="Shape 13"/>
          <p:cNvSpPr/>
          <p:nvPr/>
        </p:nvSpPr>
        <p:spPr>
          <a:xfrm>
            <a:off x="4873752" y="1545336"/>
            <a:ext cx="292608" cy="292608"/>
          </a:xfrm>
          <a:prstGeom prst="ellipse">
            <a:avLst/>
          </a:prstGeom>
          <a:solidFill>
            <a:srgbClr val="EEF4F4"/>
          </a:solidFill>
          <a:ln/>
        </p:spPr>
      </p:sp>
      <p:sp>
        <p:nvSpPr>
          <p:cNvPr id="16" name="Text 14"/>
          <p:cNvSpPr txBox="1"/>
          <p:nvPr/>
        </p:nvSpPr>
        <p:spPr>
          <a:xfrm>
            <a:off x="4873752" y="1545336"/>
            <a:ext cx="292608" cy="292608"/>
          </a:xfrm>
          <a:prstGeom prst="rect">
            <a:avLst/>
          </a:prstGeom>
          <a:noFill/>
          <a:ln/>
        </p:spPr>
        <p:txBody>
          <a:bodyPr wrap="square" lIns="0" tIns="0" rIns="0" bIns="0" rtlCol="0" anchor="ctr"/>
          <a:lstStyle/>
          <a:p>
            <a:pPr algn="ctr" indent="0" marL="0">
              <a:buNone/>
            </a:pPr>
            <a:r>
              <a:rPr lang="en-US" sz="1200" b="1" dirty="0">
                <a:solidFill>
                  <a:srgbClr val="64748B"/>
                </a:solidFill>
                <a:latin typeface="Poppins" pitchFamily="34" charset="0"/>
                <a:ea typeface="Poppins" pitchFamily="34" charset="-122"/>
                <a:cs typeface="Poppins" pitchFamily="34" charset="-120"/>
              </a:rPr>
              <a:t>3</a:t>
            </a:r>
            <a:endParaRPr lang="en-US" sz="1200" dirty="0"/>
          </a:p>
        </p:txBody>
      </p:sp>
      <p:sp>
        <p:nvSpPr>
          <p:cNvPr id="17" name="Text 15"/>
          <p:cNvSpPr txBox="1"/>
          <p:nvPr/>
        </p:nvSpPr>
        <p:spPr>
          <a:xfrm>
            <a:off x="5257800" y="1463040"/>
            <a:ext cx="1335024" cy="457200"/>
          </a:xfrm>
          <a:prstGeom prst="rect">
            <a:avLst/>
          </a:prstGeom>
          <a:noFill/>
          <a:ln/>
        </p:spPr>
        <p:txBody>
          <a:bodyPr wrap="square" lIns="0" tIns="0" rIns="0" bIns="0" rtlCol="0" anchor="ctr"/>
          <a:lstStyle/>
          <a:p>
            <a:pPr indent="0" marL="0">
              <a:buNone/>
            </a:pPr>
            <a:r>
              <a:rPr lang="en-US" sz="1150" dirty="0">
                <a:solidFill>
                  <a:srgbClr val="475569"/>
                </a:solidFill>
                <a:latin typeface="Poppins" pitchFamily="34" charset="0"/>
                <a:ea typeface="Poppins" pitchFamily="34" charset="-122"/>
                <a:cs typeface="Poppins" pitchFamily="34" charset="-120"/>
              </a:rPr>
              <a:t>Transform</a:t>
            </a:r>
            <a:endParaRPr lang="en-US" sz="1150" dirty="0"/>
          </a:p>
        </p:txBody>
      </p:sp>
      <p:sp>
        <p:nvSpPr>
          <p:cNvPr id="18" name="Shape 16"/>
          <p:cNvSpPr/>
          <p:nvPr/>
        </p:nvSpPr>
        <p:spPr>
          <a:xfrm>
            <a:off x="6830568" y="1463040"/>
            <a:ext cx="1901952" cy="457200"/>
          </a:xfrm>
          <a:prstGeom prst="roundRect">
            <a:avLst>
              <a:gd name="adj" fmla="val 50000"/>
            </a:avLst>
          </a:prstGeom>
          <a:solidFill>
            <a:srgbClr val="FFFFFF"/>
          </a:solidFill>
          <a:ln w="15875">
            <a:solidFill>
              <a:srgbClr val="E2E8F0"/>
            </a:solidFill>
            <a:prstDash val="solid"/>
          </a:ln>
        </p:spPr>
      </p:sp>
      <p:sp>
        <p:nvSpPr>
          <p:cNvPr id="19" name="Shape 17"/>
          <p:cNvSpPr/>
          <p:nvPr/>
        </p:nvSpPr>
        <p:spPr>
          <a:xfrm>
            <a:off x="6922008" y="1545336"/>
            <a:ext cx="292608" cy="292608"/>
          </a:xfrm>
          <a:prstGeom prst="ellipse">
            <a:avLst/>
          </a:prstGeom>
          <a:solidFill>
            <a:srgbClr val="EEF4F4"/>
          </a:solidFill>
          <a:ln/>
        </p:spPr>
      </p:sp>
      <p:sp>
        <p:nvSpPr>
          <p:cNvPr id="20" name="Text 18"/>
          <p:cNvSpPr txBox="1"/>
          <p:nvPr/>
        </p:nvSpPr>
        <p:spPr>
          <a:xfrm>
            <a:off x="6922008" y="1545336"/>
            <a:ext cx="292608" cy="292608"/>
          </a:xfrm>
          <a:prstGeom prst="rect">
            <a:avLst/>
          </a:prstGeom>
          <a:noFill/>
          <a:ln/>
        </p:spPr>
        <p:txBody>
          <a:bodyPr wrap="square" lIns="0" tIns="0" rIns="0" bIns="0" rtlCol="0" anchor="ctr"/>
          <a:lstStyle/>
          <a:p>
            <a:pPr algn="ctr" indent="0" marL="0">
              <a:buNone/>
            </a:pPr>
            <a:r>
              <a:rPr lang="en-US" sz="1200" b="1" dirty="0">
                <a:solidFill>
                  <a:srgbClr val="64748B"/>
                </a:solidFill>
                <a:latin typeface="Poppins" pitchFamily="34" charset="0"/>
                <a:ea typeface="Poppins" pitchFamily="34" charset="-122"/>
                <a:cs typeface="Poppins" pitchFamily="34" charset="-120"/>
              </a:rPr>
              <a:t>4</a:t>
            </a:r>
            <a:endParaRPr lang="en-US" sz="1200" dirty="0"/>
          </a:p>
        </p:txBody>
      </p:sp>
      <p:sp>
        <p:nvSpPr>
          <p:cNvPr id="21" name="Text 19"/>
          <p:cNvSpPr txBox="1"/>
          <p:nvPr/>
        </p:nvSpPr>
        <p:spPr>
          <a:xfrm>
            <a:off x="7306056" y="1463040"/>
            <a:ext cx="1335024" cy="457200"/>
          </a:xfrm>
          <a:prstGeom prst="rect">
            <a:avLst/>
          </a:prstGeom>
          <a:noFill/>
          <a:ln/>
        </p:spPr>
        <p:txBody>
          <a:bodyPr wrap="square" lIns="0" tIns="0" rIns="0" bIns="0" rtlCol="0" anchor="ctr"/>
          <a:lstStyle/>
          <a:p>
            <a:pPr indent="0" marL="0">
              <a:buNone/>
            </a:pPr>
            <a:r>
              <a:rPr lang="en-US" sz="1150" dirty="0">
                <a:solidFill>
                  <a:srgbClr val="475569"/>
                </a:solidFill>
                <a:latin typeface="Poppins" pitchFamily="34" charset="0"/>
                <a:ea typeface="Poppins" pitchFamily="34" charset="-122"/>
                <a:cs typeface="Poppins" pitchFamily="34" charset="-120"/>
              </a:rPr>
              <a:t>Check</a:t>
            </a:r>
            <a:endParaRPr lang="en-US" sz="1150" dirty="0"/>
          </a:p>
        </p:txBody>
      </p:sp>
      <p:sp>
        <p:nvSpPr>
          <p:cNvPr id="22" name="Shape 20"/>
          <p:cNvSpPr/>
          <p:nvPr/>
        </p:nvSpPr>
        <p:spPr>
          <a:xfrm>
            <a:off x="8878824" y="1463040"/>
            <a:ext cx="1901952" cy="457200"/>
          </a:xfrm>
          <a:prstGeom prst="roundRect">
            <a:avLst>
              <a:gd name="adj" fmla="val 50000"/>
            </a:avLst>
          </a:prstGeom>
          <a:solidFill>
            <a:srgbClr val="FFFFFF"/>
          </a:solidFill>
          <a:ln w="15875">
            <a:solidFill>
              <a:srgbClr val="E2E8F0"/>
            </a:solidFill>
            <a:prstDash val="solid"/>
          </a:ln>
        </p:spPr>
      </p:sp>
      <p:sp>
        <p:nvSpPr>
          <p:cNvPr id="23" name="Shape 21"/>
          <p:cNvSpPr/>
          <p:nvPr/>
        </p:nvSpPr>
        <p:spPr>
          <a:xfrm>
            <a:off x="8970264" y="1545336"/>
            <a:ext cx="292608" cy="292608"/>
          </a:xfrm>
          <a:prstGeom prst="ellipse">
            <a:avLst/>
          </a:prstGeom>
          <a:solidFill>
            <a:srgbClr val="EEF4F4"/>
          </a:solidFill>
          <a:ln/>
        </p:spPr>
      </p:sp>
      <p:sp>
        <p:nvSpPr>
          <p:cNvPr id="24" name="Text 22"/>
          <p:cNvSpPr txBox="1"/>
          <p:nvPr/>
        </p:nvSpPr>
        <p:spPr>
          <a:xfrm>
            <a:off x="8970264" y="1545336"/>
            <a:ext cx="292608" cy="292608"/>
          </a:xfrm>
          <a:prstGeom prst="rect">
            <a:avLst/>
          </a:prstGeom>
          <a:noFill/>
          <a:ln/>
        </p:spPr>
        <p:txBody>
          <a:bodyPr wrap="square" lIns="0" tIns="0" rIns="0" bIns="0" rtlCol="0" anchor="ctr"/>
          <a:lstStyle/>
          <a:p>
            <a:pPr algn="ctr" indent="0" marL="0">
              <a:buNone/>
            </a:pPr>
            <a:r>
              <a:rPr lang="en-US" sz="1200" b="1" dirty="0">
                <a:solidFill>
                  <a:srgbClr val="64748B"/>
                </a:solidFill>
                <a:latin typeface="Poppins" pitchFamily="34" charset="0"/>
                <a:ea typeface="Poppins" pitchFamily="34" charset="-122"/>
                <a:cs typeface="Poppins" pitchFamily="34" charset="-120"/>
              </a:rPr>
              <a:t>5</a:t>
            </a:r>
            <a:endParaRPr lang="en-US" sz="1200" dirty="0"/>
          </a:p>
        </p:txBody>
      </p:sp>
      <p:sp>
        <p:nvSpPr>
          <p:cNvPr id="25" name="Text 23"/>
          <p:cNvSpPr txBox="1"/>
          <p:nvPr/>
        </p:nvSpPr>
        <p:spPr>
          <a:xfrm>
            <a:off x="9354312" y="1463040"/>
            <a:ext cx="1335024" cy="457200"/>
          </a:xfrm>
          <a:prstGeom prst="rect">
            <a:avLst/>
          </a:prstGeom>
          <a:noFill/>
          <a:ln/>
        </p:spPr>
        <p:txBody>
          <a:bodyPr wrap="square" lIns="0" tIns="0" rIns="0" bIns="0" rtlCol="0" anchor="ctr"/>
          <a:lstStyle/>
          <a:p>
            <a:pPr indent="0" marL="0">
              <a:buNone/>
            </a:pPr>
            <a:r>
              <a:rPr lang="en-US" sz="1150" dirty="0">
                <a:solidFill>
                  <a:srgbClr val="475569"/>
                </a:solidFill>
                <a:latin typeface="Poppins" pitchFamily="34" charset="0"/>
                <a:ea typeface="Poppins" pitchFamily="34" charset="-122"/>
                <a:cs typeface="Poppins" pitchFamily="34" charset="-120"/>
              </a:rPr>
              <a:t>Close and apply</a:t>
            </a:r>
            <a:endParaRPr lang="en-US" sz="1150" dirty="0"/>
          </a:p>
        </p:txBody>
      </p:sp>
      <p:sp>
        <p:nvSpPr>
          <p:cNvPr id="26" name="Shape 24"/>
          <p:cNvSpPr/>
          <p:nvPr/>
        </p:nvSpPr>
        <p:spPr>
          <a:xfrm>
            <a:off x="1183315" y="2066544"/>
            <a:ext cx="4125611" cy="3090672"/>
          </a:xfrm>
          <a:prstGeom prst="roundRect">
            <a:avLst>
              <a:gd name="adj" fmla="val 2367"/>
            </a:avLst>
          </a:prstGeom>
          <a:solidFill>
            <a:srgbClr val="FFFFFF"/>
          </a:solidFill>
          <a:ln w="12700">
            <a:solidFill>
              <a:srgbClr val="E2E8F0"/>
            </a:solidFill>
            <a:prstDash val="solid"/>
          </a:ln>
          <a:effectLst>
            <a:outerShdw sx="100000" sy="100000" kx="0" ky="0" algn="bl" rotWithShape="0" blurRad="152400" dist="38100" dir="5400000">
              <a:srgbClr val="1B2A2E">
                <a:alpha val="18000"/>
              </a:srgbClr>
            </a:outerShdw>
          </a:effectLst>
        </p:spPr>
      </p:sp>
      <p:pic>
        <p:nvPicPr>
          <p:cNvPr id="27" name="Image 0" descr="/home/claude/build/assets/shot_getdata.png">    </p:cNvPr>
          <p:cNvPicPr>
            <a:picLocks noChangeAspect="1"/>
          </p:cNvPicPr>
          <p:nvPr/>
        </p:nvPicPr>
        <p:blipFill>
          <a:blip r:embed="rId2"/>
          <a:stretch>
            <a:fillRect/>
          </a:stretch>
        </p:blipFill>
        <p:spPr>
          <a:xfrm>
            <a:off x="1265611" y="2148840"/>
            <a:ext cx="3961019" cy="2926080"/>
          </a:xfrm>
          <a:prstGeom prst="rect">
            <a:avLst/>
          </a:prstGeom>
        </p:spPr>
      </p:pic>
      <p:sp>
        <p:nvSpPr>
          <p:cNvPr id="28" name="Shape 25"/>
          <p:cNvSpPr/>
          <p:nvPr/>
        </p:nvSpPr>
        <p:spPr>
          <a:xfrm>
            <a:off x="6172200" y="2148840"/>
            <a:ext cx="4343400" cy="2926080"/>
          </a:xfrm>
          <a:prstGeom prst="roundRect">
            <a:avLst>
              <a:gd name="adj" fmla="val 2813"/>
            </a:avLst>
          </a:prstGeom>
          <a:solidFill>
            <a:srgbClr val="FFFFFF"/>
          </a:solidFill>
          <a:ln/>
        </p:spPr>
      </p:sp>
      <p:sp>
        <p:nvSpPr>
          <p:cNvPr id="29" name="Shape 26"/>
          <p:cNvSpPr/>
          <p:nvPr/>
        </p:nvSpPr>
        <p:spPr>
          <a:xfrm>
            <a:off x="6172200" y="2148840"/>
            <a:ext cx="68580" cy="2926080"/>
          </a:xfrm>
          <a:prstGeom prst="rect">
            <a:avLst/>
          </a:prstGeom>
          <a:solidFill>
            <a:srgbClr val="387F7F"/>
          </a:solidFill>
          <a:ln/>
        </p:spPr>
      </p:sp>
      <p:sp>
        <p:nvSpPr>
          <p:cNvPr id="30" name="Text 27"/>
          <p:cNvSpPr txBox="1"/>
          <p:nvPr/>
        </p:nvSpPr>
        <p:spPr>
          <a:xfrm>
            <a:off x="6446520" y="2331720"/>
            <a:ext cx="3794760" cy="274320"/>
          </a:xfrm>
          <a:prstGeom prst="rect">
            <a:avLst/>
          </a:prstGeom>
          <a:noFill/>
          <a:ln/>
        </p:spPr>
        <p:txBody>
          <a:bodyPr wrap="square" lIns="0" tIns="0" rIns="0" bIns="0" rtlCol="0" anchor="t"/>
          <a:lstStyle/>
          <a:p>
            <a:pPr algn="l" indent="0" marL="0">
              <a:lnSpc>
                <a:spcPct val="135000"/>
              </a:lnSpc>
              <a:buNone/>
            </a:pPr>
            <a:r>
              <a:rPr lang="en-US" sz="1100" b="1" dirty="0">
                <a:solidFill>
                  <a:srgbClr val="387F7F"/>
                </a:solidFill>
                <a:latin typeface="Poppins" pitchFamily="34" charset="0"/>
                <a:ea typeface="Poppins" pitchFamily="34" charset="-122"/>
                <a:cs typeface="Poppins" pitchFamily="34" charset="-120"/>
              </a:rPr>
              <a:t>Step 1</a:t>
            </a:r>
            <a:endParaRPr lang="en-US" sz="1100" dirty="0"/>
          </a:p>
        </p:txBody>
      </p:sp>
      <p:sp>
        <p:nvSpPr>
          <p:cNvPr id="31" name="Text 28"/>
          <p:cNvSpPr txBox="1"/>
          <p:nvPr/>
        </p:nvSpPr>
        <p:spPr>
          <a:xfrm>
            <a:off x="6446520" y="2633472"/>
            <a:ext cx="3794760" cy="777240"/>
          </a:xfrm>
          <a:prstGeom prst="rect">
            <a:avLst/>
          </a:prstGeom>
          <a:noFill/>
          <a:ln/>
        </p:spPr>
        <p:txBody>
          <a:bodyPr wrap="square" lIns="0" tIns="0" rIns="0" bIns="0" rtlCol="0" anchor="t"/>
          <a:lstStyle/>
          <a:p>
            <a:pPr algn="l" indent="0" marL="0">
              <a:lnSpc>
                <a:spcPct val="128000"/>
              </a:lnSpc>
              <a:buNone/>
            </a:pPr>
            <a:r>
              <a:rPr lang="en-US" sz="1300" dirty="0">
                <a:solidFill>
                  <a:srgbClr val="475569"/>
                </a:solidFill>
                <a:latin typeface="Poppins" pitchFamily="34" charset="0"/>
                <a:ea typeface="Poppins" pitchFamily="34" charset="-122"/>
                <a:cs typeface="Poppins" pitchFamily="34" charset="-120"/>
              </a:rPr>
              <a:t>Home, Get data, Text/CSV. Point at the file. Power BI reads it but does not commit.</a:t>
            </a:r>
            <a:endParaRPr lang="en-US" sz="1300" dirty="0"/>
          </a:p>
        </p:txBody>
      </p:sp>
      <p:sp>
        <p:nvSpPr>
          <p:cNvPr id="32" name="Text 29"/>
          <p:cNvSpPr txBox="1"/>
          <p:nvPr/>
        </p:nvSpPr>
        <p:spPr>
          <a:xfrm>
            <a:off x="6446520" y="3520440"/>
            <a:ext cx="3794760" cy="274320"/>
          </a:xfrm>
          <a:prstGeom prst="rect">
            <a:avLst/>
          </a:prstGeom>
          <a:noFill/>
          <a:ln/>
        </p:spPr>
        <p:txBody>
          <a:bodyPr wrap="square" lIns="0" tIns="0" rIns="0" bIns="0" rtlCol="0" anchor="t"/>
          <a:lstStyle/>
          <a:p>
            <a:pPr algn="l" indent="0" marL="0">
              <a:lnSpc>
                <a:spcPct val="135000"/>
              </a:lnSpc>
              <a:buNone/>
            </a:pPr>
            <a:r>
              <a:rPr lang="en-US" sz="1100" b="1" dirty="0">
                <a:solidFill>
                  <a:srgbClr val="387F7F"/>
                </a:solidFill>
                <a:latin typeface="Poppins" pitchFamily="34" charset="0"/>
                <a:ea typeface="Poppins" pitchFamily="34" charset="-122"/>
                <a:cs typeface="Poppins" pitchFamily="34" charset="-120"/>
              </a:rPr>
              <a:t>Step 2</a:t>
            </a:r>
            <a:endParaRPr lang="en-US" sz="1100" dirty="0"/>
          </a:p>
        </p:txBody>
      </p:sp>
      <p:sp>
        <p:nvSpPr>
          <p:cNvPr id="33" name="Text 30"/>
          <p:cNvSpPr txBox="1"/>
          <p:nvPr/>
        </p:nvSpPr>
        <p:spPr>
          <a:xfrm>
            <a:off x="6446520" y="3822192"/>
            <a:ext cx="3794760" cy="914400"/>
          </a:xfrm>
          <a:prstGeom prst="rect">
            <a:avLst/>
          </a:prstGeom>
          <a:noFill/>
          <a:ln/>
        </p:spPr>
        <p:txBody>
          <a:bodyPr wrap="square" lIns="0" tIns="0" rIns="0" bIns="0" rtlCol="0" anchor="t"/>
          <a:lstStyle/>
          <a:p>
            <a:pPr algn="l" indent="0" marL="0">
              <a:lnSpc>
                <a:spcPct val="128000"/>
              </a:lnSpc>
              <a:buNone/>
            </a:pPr>
            <a:r>
              <a:rPr lang="en-US" sz="1300" dirty="0">
                <a:solidFill>
                  <a:srgbClr val="475569"/>
                </a:solidFill>
                <a:latin typeface="Poppins" pitchFamily="34" charset="0"/>
                <a:ea typeface="Poppins" pitchFamily="34" charset="-122"/>
                <a:cs typeface="Poppins" pitchFamily="34" charset="-120"/>
              </a:rPr>
              <a:t>The preview offers two buttons and the choice matters. Load takes the file exactly as it is. Transform data opens Power Query first.</a:t>
            </a:r>
            <a:endParaRPr lang="en-US" sz="1300" dirty="0"/>
          </a:p>
        </p:txBody>
      </p:sp>
      <p:sp>
        <p:nvSpPr>
          <p:cNvPr id="34" name="Shape 31"/>
          <p:cNvSpPr/>
          <p:nvPr/>
        </p:nvSpPr>
        <p:spPr>
          <a:xfrm>
            <a:off x="6446520" y="4846320"/>
            <a:ext cx="3794760" cy="502920"/>
          </a:xfrm>
          <a:prstGeom prst="roundRect">
            <a:avLst>
              <a:gd name="adj" fmla="val 14545"/>
            </a:avLst>
          </a:prstGeom>
          <a:solidFill>
            <a:srgbClr val="FBF3E6"/>
          </a:solidFill>
          <a:ln/>
        </p:spPr>
      </p:sp>
      <p:sp>
        <p:nvSpPr>
          <p:cNvPr id="35" name="Text 32"/>
          <p:cNvSpPr txBox="1"/>
          <p:nvPr/>
        </p:nvSpPr>
        <p:spPr>
          <a:xfrm>
            <a:off x="6583680" y="4846320"/>
            <a:ext cx="3566160" cy="502920"/>
          </a:xfrm>
          <a:prstGeom prst="rect">
            <a:avLst/>
          </a:prstGeom>
          <a:noFill/>
          <a:ln/>
        </p:spPr>
        <p:txBody>
          <a:bodyPr wrap="square" lIns="0" tIns="0" rIns="0" bIns="0" rtlCol="0" anchor="ctr"/>
          <a:lstStyle/>
          <a:p>
            <a:pPr indent="0" marL="0">
              <a:buNone/>
            </a:pPr>
            <a:r>
              <a:rPr lang="en-US" sz="1200" b="1" dirty="0">
                <a:solidFill>
                  <a:srgbClr val="8A5A12"/>
                </a:solidFill>
                <a:latin typeface="Poppins" pitchFamily="34" charset="0"/>
                <a:ea typeface="Poppins" pitchFamily="34" charset="-122"/>
                <a:cs typeface="Poppins" pitchFamily="34" charset="-120"/>
              </a:rPr>
              <a:t>Always choose Transform data. Always.</a:t>
            </a:r>
            <a:endParaRPr lang="en-US" sz="1200" dirty="0"/>
          </a:p>
        </p:txBody>
      </p:sp>
      <p:pic>
        <p:nvPicPr>
          <p:cNvPr id="36" name="Image 1" descr="/home/claude/build/assets/logo_full.png">    </p:cNvPr>
          <p:cNvPicPr>
            <a:picLocks noChangeAspect="1"/>
          </p:cNvPicPr>
          <p:nvPr/>
        </p:nvPicPr>
        <p:blipFill>
          <a:blip r:embed="rId3"/>
          <a:stretch>
            <a:fillRect/>
          </a:stretch>
        </p:blipFill>
        <p:spPr>
          <a:xfrm>
            <a:off x="10998403" y="5949086"/>
            <a:ext cx="431597" cy="375337"/>
          </a:xfrm>
          <a:prstGeom prst="rect">
            <a:avLst/>
          </a:prstGeom>
        </p:spPr>
      </p:pic>
      <p:sp>
        <p:nvSpPr>
          <p:cNvPr id="37" name="Text 33"/>
          <p:cNvSpPr txBox="1"/>
          <p:nvPr/>
        </p:nvSpPr>
        <p:spPr>
          <a:xfrm>
            <a:off x="11689050" y="6473952"/>
            <a:ext cx="365760" cy="274320"/>
          </a:xfrm>
          <a:prstGeom prst="rect">
            <a:avLst/>
          </a:prstGeom>
          <a:noFill/>
          <a:ln/>
        </p:spPr>
        <p:txBody>
          <a:bodyPr wrap="square" lIns="0" tIns="0" rIns="0" bIns="0" rtlCol="0" anchor="ctr"/>
          <a:lstStyle/>
          <a:p>
            <a:pPr algn="r" indent="0" marL="0">
              <a:buNone/>
            </a:pPr>
            <a:r>
              <a:rPr lang="en-US" sz="1100" dirty="0">
                <a:solidFill>
                  <a:srgbClr val="64748B"/>
                </a:solidFill>
                <a:latin typeface="Poppins" pitchFamily="34" charset="0"/>
                <a:ea typeface="Poppins" pitchFamily="34" charset="-122"/>
                <a:cs typeface="Poppins"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1024006" y="1958645"/>
            <a:ext cx="4133088" cy="4038905"/>
          </a:xfrm>
          <a:prstGeom prst="ellipse">
            <a:avLst/>
          </a:prstGeom>
          <a:solidFill>
            <a:srgbClr val="387F7F"/>
          </a:solidFill>
          <a:ln/>
        </p:spPr>
      </p:sp>
      <p:sp>
        <p:nvSpPr>
          <p:cNvPr id="3" name="Shape 1"/>
          <p:cNvSpPr/>
          <p:nvPr/>
        </p:nvSpPr>
        <p:spPr>
          <a:xfrm>
            <a:off x="11316614" y="2675534"/>
            <a:ext cx="1051560" cy="2162556"/>
          </a:xfrm>
          <a:prstGeom prst="ellipse">
            <a:avLst/>
          </a:prstGeom>
          <a:solidFill>
            <a:srgbClr val="387F7F"/>
          </a:solidFill>
          <a:ln/>
        </p:spPr>
      </p:sp>
      <p:sp>
        <p:nvSpPr>
          <p:cNvPr id="4" name="Shape 2"/>
          <p:cNvSpPr/>
          <p:nvPr/>
        </p:nvSpPr>
        <p:spPr>
          <a:xfrm>
            <a:off x="685800" y="548640"/>
            <a:ext cx="68580" cy="420624"/>
          </a:xfrm>
          <a:prstGeom prst="rect">
            <a:avLst/>
          </a:prstGeom>
          <a:solidFill>
            <a:srgbClr val="387F7F"/>
          </a:solidFill>
          <a:ln/>
        </p:spPr>
      </p:sp>
      <p:sp>
        <p:nvSpPr>
          <p:cNvPr id="5" name="Text 3"/>
          <p:cNvSpPr txBox="1"/>
          <p:nvPr/>
        </p:nvSpPr>
        <p:spPr>
          <a:xfrm>
            <a:off x="886968" y="502920"/>
            <a:ext cx="9692640" cy="502920"/>
          </a:xfrm>
          <a:prstGeom prst="rect">
            <a:avLst/>
          </a:prstGeom>
          <a:noFill/>
          <a:ln/>
        </p:spPr>
        <p:txBody>
          <a:bodyPr wrap="square" lIns="0" tIns="0" rIns="0" bIns="0" rtlCol="0" anchor="ctr"/>
          <a:lstStyle/>
          <a:p>
            <a:pPr indent="0" marL="0">
              <a:lnSpc>
                <a:spcPct val="108000"/>
              </a:lnSpc>
              <a:buNone/>
            </a:pPr>
            <a:r>
              <a:rPr lang="en-US" sz="2700" dirty="0">
                <a:solidFill>
                  <a:srgbClr val="387F7F"/>
                </a:solidFill>
                <a:latin typeface="Poppins" pitchFamily="34" charset="0"/>
                <a:ea typeface="Poppins" pitchFamily="34" charset="-122"/>
                <a:cs typeface="Poppins" pitchFamily="34" charset="-120"/>
              </a:rPr>
              <a:t>Four transformations, recorded as steps</a:t>
            </a:r>
            <a:endParaRPr lang="en-US" sz="2700" dirty="0"/>
          </a:p>
        </p:txBody>
      </p:sp>
      <p:sp>
        <p:nvSpPr>
          <p:cNvPr id="6" name="Shape 4"/>
          <p:cNvSpPr/>
          <p:nvPr/>
        </p:nvSpPr>
        <p:spPr>
          <a:xfrm>
            <a:off x="685800" y="1463040"/>
            <a:ext cx="1901952" cy="457200"/>
          </a:xfrm>
          <a:prstGeom prst="roundRect">
            <a:avLst>
              <a:gd name="adj" fmla="val 50000"/>
            </a:avLst>
          </a:prstGeom>
          <a:solidFill>
            <a:srgbClr val="FFFFFF"/>
          </a:solidFill>
          <a:ln w="15875">
            <a:solidFill>
              <a:srgbClr val="E2E8F0"/>
            </a:solidFill>
            <a:prstDash val="solid"/>
          </a:ln>
        </p:spPr>
      </p:sp>
      <p:sp>
        <p:nvSpPr>
          <p:cNvPr id="7" name="Shape 5"/>
          <p:cNvSpPr/>
          <p:nvPr/>
        </p:nvSpPr>
        <p:spPr>
          <a:xfrm>
            <a:off x="777240" y="1545336"/>
            <a:ext cx="292608" cy="292608"/>
          </a:xfrm>
          <a:prstGeom prst="ellipse">
            <a:avLst/>
          </a:prstGeom>
          <a:solidFill>
            <a:srgbClr val="EEF4F4"/>
          </a:solidFill>
          <a:ln/>
        </p:spPr>
      </p:sp>
      <p:sp>
        <p:nvSpPr>
          <p:cNvPr id="8" name="Text 6"/>
          <p:cNvSpPr txBox="1"/>
          <p:nvPr/>
        </p:nvSpPr>
        <p:spPr>
          <a:xfrm>
            <a:off x="777240" y="1545336"/>
            <a:ext cx="292608" cy="292608"/>
          </a:xfrm>
          <a:prstGeom prst="rect">
            <a:avLst/>
          </a:prstGeom>
          <a:noFill/>
          <a:ln/>
        </p:spPr>
        <p:txBody>
          <a:bodyPr wrap="square" lIns="0" tIns="0" rIns="0" bIns="0" rtlCol="0" anchor="ctr"/>
          <a:lstStyle/>
          <a:p>
            <a:pPr algn="ctr" indent="0" marL="0">
              <a:buNone/>
            </a:pPr>
            <a:r>
              <a:rPr lang="en-US" sz="1200" b="1" dirty="0">
                <a:solidFill>
                  <a:srgbClr val="64748B"/>
                </a:solidFill>
                <a:latin typeface="Poppins" pitchFamily="34" charset="0"/>
                <a:ea typeface="Poppins" pitchFamily="34" charset="-122"/>
                <a:cs typeface="Poppins" pitchFamily="34" charset="-120"/>
              </a:rPr>
              <a:t>1</a:t>
            </a:r>
            <a:endParaRPr lang="en-US" sz="1200" dirty="0"/>
          </a:p>
        </p:txBody>
      </p:sp>
      <p:sp>
        <p:nvSpPr>
          <p:cNvPr id="9" name="Text 7"/>
          <p:cNvSpPr txBox="1"/>
          <p:nvPr/>
        </p:nvSpPr>
        <p:spPr>
          <a:xfrm>
            <a:off x="1161288" y="1463040"/>
            <a:ext cx="1335024" cy="457200"/>
          </a:xfrm>
          <a:prstGeom prst="rect">
            <a:avLst/>
          </a:prstGeom>
          <a:noFill/>
          <a:ln/>
        </p:spPr>
        <p:txBody>
          <a:bodyPr wrap="square" lIns="0" tIns="0" rIns="0" bIns="0" rtlCol="0" anchor="ctr"/>
          <a:lstStyle/>
          <a:p>
            <a:pPr indent="0" marL="0">
              <a:buNone/>
            </a:pPr>
            <a:r>
              <a:rPr lang="en-US" sz="1150" dirty="0">
                <a:solidFill>
                  <a:srgbClr val="475569"/>
                </a:solidFill>
                <a:latin typeface="Poppins" pitchFamily="34" charset="0"/>
                <a:ea typeface="Poppins" pitchFamily="34" charset="-122"/>
                <a:cs typeface="Poppins" pitchFamily="34" charset="-120"/>
              </a:rPr>
              <a:t>Get data</a:t>
            </a:r>
            <a:endParaRPr lang="en-US" sz="1150" dirty="0"/>
          </a:p>
        </p:txBody>
      </p:sp>
      <p:sp>
        <p:nvSpPr>
          <p:cNvPr id="10" name="Shape 8"/>
          <p:cNvSpPr/>
          <p:nvPr/>
        </p:nvSpPr>
        <p:spPr>
          <a:xfrm>
            <a:off x="2734056" y="1463040"/>
            <a:ext cx="1901952" cy="457200"/>
          </a:xfrm>
          <a:prstGeom prst="roundRect">
            <a:avLst>
              <a:gd name="adj" fmla="val 50000"/>
            </a:avLst>
          </a:prstGeom>
          <a:solidFill>
            <a:srgbClr val="FFFFFF"/>
          </a:solidFill>
          <a:ln w="15875">
            <a:solidFill>
              <a:srgbClr val="E2E8F0"/>
            </a:solidFill>
            <a:prstDash val="solid"/>
          </a:ln>
        </p:spPr>
      </p:sp>
      <p:sp>
        <p:nvSpPr>
          <p:cNvPr id="11" name="Shape 9"/>
          <p:cNvSpPr/>
          <p:nvPr/>
        </p:nvSpPr>
        <p:spPr>
          <a:xfrm>
            <a:off x="2825496" y="1545336"/>
            <a:ext cx="292608" cy="292608"/>
          </a:xfrm>
          <a:prstGeom prst="ellipse">
            <a:avLst/>
          </a:prstGeom>
          <a:solidFill>
            <a:srgbClr val="EEF4F4"/>
          </a:solidFill>
          <a:ln/>
        </p:spPr>
      </p:sp>
      <p:sp>
        <p:nvSpPr>
          <p:cNvPr id="12" name="Text 10"/>
          <p:cNvSpPr txBox="1"/>
          <p:nvPr/>
        </p:nvSpPr>
        <p:spPr>
          <a:xfrm>
            <a:off x="2825496" y="1545336"/>
            <a:ext cx="292608" cy="292608"/>
          </a:xfrm>
          <a:prstGeom prst="rect">
            <a:avLst/>
          </a:prstGeom>
          <a:noFill/>
          <a:ln/>
        </p:spPr>
        <p:txBody>
          <a:bodyPr wrap="square" lIns="0" tIns="0" rIns="0" bIns="0" rtlCol="0" anchor="ctr"/>
          <a:lstStyle/>
          <a:p>
            <a:pPr algn="ctr" indent="0" marL="0">
              <a:buNone/>
            </a:pPr>
            <a:r>
              <a:rPr lang="en-US" sz="1200" b="1" dirty="0">
                <a:solidFill>
                  <a:srgbClr val="64748B"/>
                </a:solidFill>
                <a:latin typeface="Poppins" pitchFamily="34" charset="0"/>
                <a:ea typeface="Poppins" pitchFamily="34" charset="-122"/>
                <a:cs typeface="Poppins" pitchFamily="34" charset="-120"/>
              </a:rPr>
              <a:t>2</a:t>
            </a:r>
            <a:endParaRPr lang="en-US" sz="1200" dirty="0"/>
          </a:p>
        </p:txBody>
      </p:sp>
      <p:sp>
        <p:nvSpPr>
          <p:cNvPr id="13" name="Text 11"/>
          <p:cNvSpPr txBox="1"/>
          <p:nvPr/>
        </p:nvSpPr>
        <p:spPr>
          <a:xfrm>
            <a:off x="3209544" y="1463040"/>
            <a:ext cx="1335024" cy="457200"/>
          </a:xfrm>
          <a:prstGeom prst="rect">
            <a:avLst/>
          </a:prstGeom>
          <a:noFill/>
          <a:ln/>
        </p:spPr>
        <p:txBody>
          <a:bodyPr wrap="square" lIns="0" tIns="0" rIns="0" bIns="0" rtlCol="0" anchor="ctr"/>
          <a:lstStyle/>
          <a:p>
            <a:pPr indent="0" marL="0">
              <a:buNone/>
            </a:pPr>
            <a:r>
              <a:rPr lang="en-US" sz="1150" dirty="0">
                <a:solidFill>
                  <a:srgbClr val="475569"/>
                </a:solidFill>
                <a:latin typeface="Poppins" pitchFamily="34" charset="0"/>
                <a:ea typeface="Poppins" pitchFamily="34" charset="-122"/>
                <a:cs typeface="Poppins" pitchFamily="34" charset="-120"/>
              </a:rPr>
              <a:t>Preview</a:t>
            </a:r>
            <a:endParaRPr lang="en-US" sz="1150" dirty="0"/>
          </a:p>
        </p:txBody>
      </p:sp>
      <p:sp>
        <p:nvSpPr>
          <p:cNvPr id="14" name="Shape 12"/>
          <p:cNvSpPr/>
          <p:nvPr/>
        </p:nvSpPr>
        <p:spPr>
          <a:xfrm>
            <a:off x="4782312" y="1463040"/>
            <a:ext cx="1901952" cy="457200"/>
          </a:xfrm>
          <a:prstGeom prst="roundRect">
            <a:avLst>
              <a:gd name="adj" fmla="val 50000"/>
            </a:avLst>
          </a:prstGeom>
          <a:solidFill>
            <a:srgbClr val="387F7F"/>
          </a:solidFill>
          <a:ln/>
        </p:spPr>
      </p:sp>
      <p:sp>
        <p:nvSpPr>
          <p:cNvPr id="15" name="Shape 13"/>
          <p:cNvSpPr/>
          <p:nvPr/>
        </p:nvSpPr>
        <p:spPr>
          <a:xfrm>
            <a:off x="4873752" y="1545336"/>
            <a:ext cx="292608" cy="292608"/>
          </a:xfrm>
          <a:prstGeom prst="ellipse">
            <a:avLst/>
          </a:prstGeom>
          <a:solidFill>
            <a:srgbClr val="FFFFFF"/>
          </a:solidFill>
          <a:ln/>
        </p:spPr>
      </p:sp>
      <p:sp>
        <p:nvSpPr>
          <p:cNvPr id="16" name="Text 14"/>
          <p:cNvSpPr txBox="1"/>
          <p:nvPr/>
        </p:nvSpPr>
        <p:spPr>
          <a:xfrm>
            <a:off x="4873752" y="1545336"/>
            <a:ext cx="292608" cy="292608"/>
          </a:xfrm>
          <a:prstGeom prst="rect">
            <a:avLst/>
          </a:prstGeom>
          <a:noFill/>
          <a:ln/>
        </p:spPr>
        <p:txBody>
          <a:bodyPr wrap="square" lIns="0" tIns="0" rIns="0" bIns="0" rtlCol="0" anchor="ctr"/>
          <a:lstStyle/>
          <a:p>
            <a:pPr algn="ctr" indent="0" marL="0">
              <a:buNone/>
            </a:pPr>
            <a:r>
              <a:rPr lang="en-US" sz="1200" b="1" dirty="0">
                <a:solidFill>
                  <a:srgbClr val="387F7F"/>
                </a:solidFill>
                <a:latin typeface="Poppins" pitchFamily="34" charset="0"/>
                <a:ea typeface="Poppins" pitchFamily="34" charset="-122"/>
                <a:cs typeface="Poppins" pitchFamily="34" charset="-120"/>
              </a:rPr>
              <a:t>3</a:t>
            </a:r>
            <a:endParaRPr lang="en-US" sz="1200" dirty="0"/>
          </a:p>
        </p:txBody>
      </p:sp>
      <p:sp>
        <p:nvSpPr>
          <p:cNvPr id="17" name="Text 15"/>
          <p:cNvSpPr txBox="1"/>
          <p:nvPr/>
        </p:nvSpPr>
        <p:spPr>
          <a:xfrm>
            <a:off x="5257800" y="1463040"/>
            <a:ext cx="1335024" cy="457200"/>
          </a:xfrm>
          <a:prstGeom prst="rect">
            <a:avLst/>
          </a:prstGeom>
          <a:noFill/>
          <a:ln/>
        </p:spPr>
        <p:txBody>
          <a:bodyPr wrap="square" lIns="0" tIns="0" rIns="0" bIns="0" rtlCol="0" anchor="ctr"/>
          <a:lstStyle/>
          <a:p>
            <a:pPr indent="0" marL="0">
              <a:buNone/>
            </a:pPr>
            <a:r>
              <a:rPr lang="en-US" sz="1150" b="1" dirty="0">
                <a:solidFill>
                  <a:srgbClr val="FFFFFF"/>
                </a:solidFill>
                <a:latin typeface="Poppins" pitchFamily="34" charset="0"/>
                <a:ea typeface="Poppins" pitchFamily="34" charset="-122"/>
                <a:cs typeface="Poppins" pitchFamily="34" charset="-120"/>
              </a:rPr>
              <a:t>Transform</a:t>
            </a:r>
            <a:endParaRPr lang="en-US" sz="1150" dirty="0"/>
          </a:p>
        </p:txBody>
      </p:sp>
      <p:sp>
        <p:nvSpPr>
          <p:cNvPr id="18" name="Shape 16"/>
          <p:cNvSpPr/>
          <p:nvPr/>
        </p:nvSpPr>
        <p:spPr>
          <a:xfrm>
            <a:off x="6830568" y="1463040"/>
            <a:ext cx="1901952" cy="457200"/>
          </a:xfrm>
          <a:prstGeom prst="roundRect">
            <a:avLst>
              <a:gd name="adj" fmla="val 50000"/>
            </a:avLst>
          </a:prstGeom>
          <a:solidFill>
            <a:srgbClr val="387F7F"/>
          </a:solidFill>
          <a:ln/>
        </p:spPr>
      </p:sp>
      <p:sp>
        <p:nvSpPr>
          <p:cNvPr id="19" name="Shape 17"/>
          <p:cNvSpPr/>
          <p:nvPr/>
        </p:nvSpPr>
        <p:spPr>
          <a:xfrm>
            <a:off x="6922008" y="1545336"/>
            <a:ext cx="292608" cy="292608"/>
          </a:xfrm>
          <a:prstGeom prst="ellipse">
            <a:avLst/>
          </a:prstGeom>
          <a:solidFill>
            <a:srgbClr val="FFFFFF"/>
          </a:solidFill>
          <a:ln/>
        </p:spPr>
      </p:sp>
      <p:sp>
        <p:nvSpPr>
          <p:cNvPr id="20" name="Text 18"/>
          <p:cNvSpPr txBox="1"/>
          <p:nvPr/>
        </p:nvSpPr>
        <p:spPr>
          <a:xfrm>
            <a:off x="6922008" y="1545336"/>
            <a:ext cx="292608" cy="292608"/>
          </a:xfrm>
          <a:prstGeom prst="rect">
            <a:avLst/>
          </a:prstGeom>
          <a:noFill/>
          <a:ln/>
        </p:spPr>
        <p:txBody>
          <a:bodyPr wrap="square" lIns="0" tIns="0" rIns="0" bIns="0" rtlCol="0" anchor="ctr"/>
          <a:lstStyle/>
          <a:p>
            <a:pPr algn="ctr" indent="0" marL="0">
              <a:buNone/>
            </a:pPr>
            <a:r>
              <a:rPr lang="en-US" sz="1200" b="1" dirty="0">
                <a:solidFill>
                  <a:srgbClr val="387F7F"/>
                </a:solidFill>
                <a:latin typeface="Poppins" pitchFamily="34" charset="0"/>
                <a:ea typeface="Poppins" pitchFamily="34" charset="-122"/>
                <a:cs typeface="Poppins" pitchFamily="34" charset="-120"/>
              </a:rPr>
              <a:t>4</a:t>
            </a:r>
            <a:endParaRPr lang="en-US" sz="1200" dirty="0"/>
          </a:p>
        </p:txBody>
      </p:sp>
      <p:sp>
        <p:nvSpPr>
          <p:cNvPr id="21" name="Text 19"/>
          <p:cNvSpPr txBox="1"/>
          <p:nvPr/>
        </p:nvSpPr>
        <p:spPr>
          <a:xfrm>
            <a:off x="7306056" y="1463040"/>
            <a:ext cx="1335024" cy="457200"/>
          </a:xfrm>
          <a:prstGeom prst="rect">
            <a:avLst/>
          </a:prstGeom>
          <a:noFill/>
          <a:ln/>
        </p:spPr>
        <p:txBody>
          <a:bodyPr wrap="square" lIns="0" tIns="0" rIns="0" bIns="0" rtlCol="0" anchor="ctr"/>
          <a:lstStyle/>
          <a:p>
            <a:pPr indent="0" marL="0">
              <a:buNone/>
            </a:pPr>
            <a:r>
              <a:rPr lang="en-US" sz="1150" b="1" dirty="0">
                <a:solidFill>
                  <a:srgbClr val="FFFFFF"/>
                </a:solidFill>
                <a:latin typeface="Poppins" pitchFamily="34" charset="0"/>
                <a:ea typeface="Poppins" pitchFamily="34" charset="-122"/>
                <a:cs typeface="Poppins" pitchFamily="34" charset="-120"/>
              </a:rPr>
              <a:t>Check</a:t>
            </a:r>
            <a:endParaRPr lang="en-US" sz="1150" dirty="0"/>
          </a:p>
        </p:txBody>
      </p:sp>
      <p:sp>
        <p:nvSpPr>
          <p:cNvPr id="22" name="Shape 20"/>
          <p:cNvSpPr/>
          <p:nvPr/>
        </p:nvSpPr>
        <p:spPr>
          <a:xfrm>
            <a:off x="8878824" y="1463040"/>
            <a:ext cx="1901952" cy="457200"/>
          </a:xfrm>
          <a:prstGeom prst="roundRect">
            <a:avLst>
              <a:gd name="adj" fmla="val 50000"/>
            </a:avLst>
          </a:prstGeom>
          <a:solidFill>
            <a:srgbClr val="FFFFFF"/>
          </a:solidFill>
          <a:ln w="15875">
            <a:solidFill>
              <a:srgbClr val="E2E8F0"/>
            </a:solidFill>
            <a:prstDash val="solid"/>
          </a:ln>
        </p:spPr>
      </p:sp>
      <p:sp>
        <p:nvSpPr>
          <p:cNvPr id="23" name="Shape 21"/>
          <p:cNvSpPr/>
          <p:nvPr/>
        </p:nvSpPr>
        <p:spPr>
          <a:xfrm>
            <a:off x="8970264" y="1545336"/>
            <a:ext cx="292608" cy="292608"/>
          </a:xfrm>
          <a:prstGeom prst="ellipse">
            <a:avLst/>
          </a:prstGeom>
          <a:solidFill>
            <a:srgbClr val="EEF4F4"/>
          </a:solidFill>
          <a:ln/>
        </p:spPr>
      </p:sp>
      <p:sp>
        <p:nvSpPr>
          <p:cNvPr id="24" name="Text 22"/>
          <p:cNvSpPr txBox="1"/>
          <p:nvPr/>
        </p:nvSpPr>
        <p:spPr>
          <a:xfrm>
            <a:off x="8970264" y="1545336"/>
            <a:ext cx="292608" cy="292608"/>
          </a:xfrm>
          <a:prstGeom prst="rect">
            <a:avLst/>
          </a:prstGeom>
          <a:noFill/>
          <a:ln/>
        </p:spPr>
        <p:txBody>
          <a:bodyPr wrap="square" lIns="0" tIns="0" rIns="0" bIns="0" rtlCol="0" anchor="ctr"/>
          <a:lstStyle/>
          <a:p>
            <a:pPr algn="ctr" indent="0" marL="0">
              <a:buNone/>
            </a:pPr>
            <a:r>
              <a:rPr lang="en-US" sz="1200" b="1" dirty="0">
                <a:solidFill>
                  <a:srgbClr val="64748B"/>
                </a:solidFill>
                <a:latin typeface="Poppins" pitchFamily="34" charset="0"/>
                <a:ea typeface="Poppins" pitchFamily="34" charset="-122"/>
                <a:cs typeface="Poppins" pitchFamily="34" charset="-120"/>
              </a:rPr>
              <a:t>5</a:t>
            </a:r>
            <a:endParaRPr lang="en-US" sz="1200" dirty="0"/>
          </a:p>
        </p:txBody>
      </p:sp>
      <p:sp>
        <p:nvSpPr>
          <p:cNvPr id="25" name="Text 23"/>
          <p:cNvSpPr txBox="1"/>
          <p:nvPr/>
        </p:nvSpPr>
        <p:spPr>
          <a:xfrm>
            <a:off x="9354312" y="1463040"/>
            <a:ext cx="1335024" cy="457200"/>
          </a:xfrm>
          <a:prstGeom prst="rect">
            <a:avLst/>
          </a:prstGeom>
          <a:noFill/>
          <a:ln/>
        </p:spPr>
        <p:txBody>
          <a:bodyPr wrap="square" lIns="0" tIns="0" rIns="0" bIns="0" rtlCol="0" anchor="ctr"/>
          <a:lstStyle/>
          <a:p>
            <a:pPr indent="0" marL="0">
              <a:buNone/>
            </a:pPr>
            <a:r>
              <a:rPr lang="en-US" sz="1150" dirty="0">
                <a:solidFill>
                  <a:srgbClr val="475569"/>
                </a:solidFill>
                <a:latin typeface="Poppins" pitchFamily="34" charset="0"/>
                <a:ea typeface="Poppins" pitchFamily="34" charset="-122"/>
                <a:cs typeface="Poppins" pitchFamily="34" charset="-120"/>
              </a:rPr>
              <a:t>Close and apply</a:t>
            </a:r>
            <a:endParaRPr lang="en-US" sz="1150" dirty="0"/>
          </a:p>
        </p:txBody>
      </p:sp>
      <p:sp>
        <p:nvSpPr>
          <p:cNvPr id="26" name="Shape 24"/>
          <p:cNvSpPr/>
          <p:nvPr/>
        </p:nvSpPr>
        <p:spPr>
          <a:xfrm>
            <a:off x="685800" y="2148840"/>
            <a:ext cx="6035040" cy="713232"/>
          </a:xfrm>
          <a:prstGeom prst="roundRect">
            <a:avLst>
              <a:gd name="adj" fmla="val 12821"/>
            </a:avLst>
          </a:prstGeom>
          <a:solidFill>
            <a:srgbClr val="FFFFFF"/>
          </a:solidFill>
          <a:ln/>
          <a:effectLst>
            <a:outerShdw sx="100000" sy="100000" kx="0" ky="0" algn="bl" rotWithShape="0" blurRad="152400" dist="38100" dir="5400000">
              <a:srgbClr val="1B2A2E">
                <a:alpha val="14000"/>
              </a:srgbClr>
            </a:outerShdw>
          </a:effectLst>
        </p:spPr>
      </p:sp>
      <p:sp>
        <p:nvSpPr>
          <p:cNvPr id="27" name="Shape 25"/>
          <p:cNvSpPr/>
          <p:nvPr/>
        </p:nvSpPr>
        <p:spPr>
          <a:xfrm>
            <a:off x="914400" y="2295144"/>
            <a:ext cx="420624" cy="420624"/>
          </a:xfrm>
          <a:prstGeom prst="ellipse">
            <a:avLst/>
          </a:prstGeom>
          <a:solidFill>
            <a:srgbClr val="387F7F"/>
          </a:solidFill>
          <a:ln/>
        </p:spPr>
      </p:sp>
      <p:sp>
        <p:nvSpPr>
          <p:cNvPr id="28" name="Text 26"/>
          <p:cNvSpPr txBox="1"/>
          <p:nvPr/>
        </p:nvSpPr>
        <p:spPr>
          <a:xfrm>
            <a:off x="914400" y="2295144"/>
            <a:ext cx="420624" cy="420624"/>
          </a:xfrm>
          <a:prstGeom prst="rect">
            <a:avLst/>
          </a:prstGeom>
          <a:noFill/>
          <a:ln/>
        </p:spPr>
        <p:txBody>
          <a:bodyPr wrap="square" lIns="0" tIns="0" rIns="0" bIns="0" rtlCol="0" anchor="ctr"/>
          <a:lstStyle/>
          <a:p>
            <a:pPr algn="ctr" indent="0" marL="0">
              <a:buNone/>
            </a:pPr>
            <a:r>
              <a:rPr lang="en-US" sz="1700" b="1" dirty="0">
                <a:solidFill>
                  <a:srgbClr val="FFFFFF"/>
                </a:solidFill>
                <a:latin typeface="Poppins" pitchFamily="34" charset="0"/>
                <a:ea typeface="Poppins" pitchFamily="34" charset="-122"/>
                <a:cs typeface="Poppins" pitchFamily="34" charset="-120"/>
              </a:rPr>
              <a:t>1</a:t>
            </a:r>
            <a:endParaRPr lang="en-US" sz="1700" dirty="0"/>
          </a:p>
        </p:txBody>
      </p:sp>
      <p:sp>
        <p:nvSpPr>
          <p:cNvPr id="29" name="Text 27"/>
          <p:cNvSpPr txBox="1"/>
          <p:nvPr/>
        </p:nvSpPr>
        <p:spPr>
          <a:xfrm>
            <a:off x="1481328" y="2185416"/>
            <a:ext cx="2286000" cy="329184"/>
          </a:xfrm>
          <a:prstGeom prst="rect">
            <a:avLst/>
          </a:prstGeom>
          <a:noFill/>
          <a:ln/>
        </p:spPr>
        <p:txBody>
          <a:bodyPr wrap="square" lIns="0" tIns="0" rIns="0" bIns="0" rtlCol="0" anchor="ctr"/>
          <a:lstStyle/>
          <a:p>
            <a:pPr indent="0" marL="0">
              <a:buNone/>
            </a:pPr>
            <a:r>
              <a:rPr lang="en-US" sz="1250" b="1" dirty="0">
                <a:solidFill>
                  <a:srgbClr val="0A1A23"/>
                </a:solidFill>
                <a:latin typeface="Poppins" pitchFamily="34" charset="0"/>
                <a:ea typeface="Poppins" pitchFamily="34" charset="-122"/>
                <a:cs typeface="Poppins" pitchFamily="34" charset="-120"/>
              </a:rPr>
              <a:t>Promote headers</a:t>
            </a:r>
            <a:endParaRPr lang="en-US" sz="1250" dirty="0"/>
          </a:p>
        </p:txBody>
      </p:sp>
      <p:sp>
        <p:nvSpPr>
          <p:cNvPr id="30" name="Text 28"/>
          <p:cNvSpPr txBox="1"/>
          <p:nvPr/>
        </p:nvSpPr>
        <p:spPr>
          <a:xfrm>
            <a:off x="1481328" y="2496312"/>
            <a:ext cx="5029200" cy="329184"/>
          </a:xfrm>
          <a:prstGeom prst="rect">
            <a:avLst/>
          </a:prstGeom>
          <a:noFill/>
          <a:ln/>
        </p:spPr>
        <p:txBody>
          <a:bodyPr wrap="square" lIns="0" tIns="0" rIns="0" bIns="0" rtlCol="0" anchor="t"/>
          <a:lstStyle/>
          <a:p>
            <a:pPr algn="l" indent="0" marL="0">
              <a:lnSpc>
                <a:spcPct val="115000"/>
              </a:lnSpc>
              <a:buNone/>
            </a:pPr>
            <a:r>
              <a:rPr lang="en-US" sz="1050" dirty="0">
                <a:solidFill>
                  <a:srgbClr val="475569"/>
                </a:solidFill>
                <a:latin typeface="Poppins" pitchFamily="34" charset="0"/>
                <a:ea typeface="Poppins" pitchFamily="34" charset="-122"/>
                <a:cs typeface="Poppins" pitchFamily="34" charset="-120"/>
              </a:rPr>
              <a:t>if Power BI did not do it for you</a:t>
            </a:r>
            <a:endParaRPr lang="en-US" sz="1050" dirty="0"/>
          </a:p>
        </p:txBody>
      </p:sp>
      <p:sp>
        <p:nvSpPr>
          <p:cNvPr id="31" name="Shape 29"/>
          <p:cNvSpPr/>
          <p:nvPr/>
        </p:nvSpPr>
        <p:spPr>
          <a:xfrm>
            <a:off x="685800" y="2953512"/>
            <a:ext cx="6035040" cy="713232"/>
          </a:xfrm>
          <a:prstGeom prst="roundRect">
            <a:avLst>
              <a:gd name="adj" fmla="val 12821"/>
            </a:avLst>
          </a:prstGeom>
          <a:solidFill>
            <a:srgbClr val="FFFFFF"/>
          </a:solidFill>
          <a:ln/>
          <a:effectLst>
            <a:outerShdw sx="100000" sy="100000" kx="0" ky="0" algn="bl" rotWithShape="0" blurRad="152400" dist="38100" dir="5400000">
              <a:srgbClr val="1B2A2E">
                <a:alpha val="14000"/>
              </a:srgbClr>
            </a:outerShdw>
          </a:effectLst>
        </p:spPr>
      </p:sp>
      <p:sp>
        <p:nvSpPr>
          <p:cNvPr id="32" name="Shape 30"/>
          <p:cNvSpPr/>
          <p:nvPr/>
        </p:nvSpPr>
        <p:spPr>
          <a:xfrm>
            <a:off x="914400" y="3099816"/>
            <a:ext cx="420624" cy="420624"/>
          </a:xfrm>
          <a:prstGeom prst="ellipse">
            <a:avLst/>
          </a:prstGeom>
          <a:solidFill>
            <a:srgbClr val="387F7F"/>
          </a:solidFill>
          <a:ln/>
        </p:spPr>
      </p:sp>
      <p:sp>
        <p:nvSpPr>
          <p:cNvPr id="33" name="Text 31"/>
          <p:cNvSpPr txBox="1"/>
          <p:nvPr/>
        </p:nvSpPr>
        <p:spPr>
          <a:xfrm>
            <a:off x="914400" y="3099816"/>
            <a:ext cx="420624" cy="420624"/>
          </a:xfrm>
          <a:prstGeom prst="rect">
            <a:avLst/>
          </a:prstGeom>
          <a:noFill/>
          <a:ln/>
        </p:spPr>
        <p:txBody>
          <a:bodyPr wrap="square" lIns="0" tIns="0" rIns="0" bIns="0" rtlCol="0" anchor="ctr"/>
          <a:lstStyle/>
          <a:p>
            <a:pPr algn="ctr" indent="0" marL="0">
              <a:buNone/>
            </a:pPr>
            <a:r>
              <a:rPr lang="en-US" sz="1700" b="1" dirty="0">
                <a:solidFill>
                  <a:srgbClr val="FFFFFF"/>
                </a:solidFill>
                <a:latin typeface="Poppins" pitchFamily="34" charset="0"/>
                <a:ea typeface="Poppins" pitchFamily="34" charset="-122"/>
                <a:cs typeface="Poppins" pitchFamily="34" charset="-120"/>
              </a:rPr>
              <a:t>2</a:t>
            </a:r>
            <a:endParaRPr lang="en-US" sz="1700" dirty="0"/>
          </a:p>
        </p:txBody>
      </p:sp>
      <p:sp>
        <p:nvSpPr>
          <p:cNvPr id="34" name="Text 32"/>
          <p:cNvSpPr txBox="1"/>
          <p:nvPr/>
        </p:nvSpPr>
        <p:spPr>
          <a:xfrm>
            <a:off x="1481328" y="2990088"/>
            <a:ext cx="2286000" cy="329184"/>
          </a:xfrm>
          <a:prstGeom prst="rect">
            <a:avLst/>
          </a:prstGeom>
          <a:noFill/>
          <a:ln/>
        </p:spPr>
        <p:txBody>
          <a:bodyPr wrap="square" lIns="0" tIns="0" rIns="0" bIns="0" rtlCol="0" anchor="ctr"/>
          <a:lstStyle/>
          <a:p>
            <a:pPr indent="0" marL="0">
              <a:buNone/>
            </a:pPr>
            <a:r>
              <a:rPr lang="en-US" sz="1250" b="1" dirty="0">
                <a:solidFill>
                  <a:srgbClr val="0A1A23"/>
                </a:solidFill>
                <a:latin typeface="Poppins" pitchFamily="34" charset="0"/>
                <a:ea typeface="Poppins" pitchFamily="34" charset="-122"/>
                <a:cs typeface="Poppins" pitchFamily="34" charset="-120"/>
              </a:rPr>
              <a:t>Set data types explicitly</a:t>
            </a:r>
            <a:endParaRPr lang="en-US" sz="1250" dirty="0"/>
          </a:p>
        </p:txBody>
      </p:sp>
      <p:sp>
        <p:nvSpPr>
          <p:cNvPr id="35" name="Text 33"/>
          <p:cNvSpPr txBox="1"/>
          <p:nvPr/>
        </p:nvSpPr>
        <p:spPr>
          <a:xfrm>
            <a:off x="1481328" y="3300984"/>
            <a:ext cx="5029200" cy="329184"/>
          </a:xfrm>
          <a:prstGeom prst="rect">
            <a:avLst/>
          </a:prstGeom>
          <a:noFill/>
          <a:ln/>
        </p:spPr>
        <p:txBody>
          <a:bodyPr wrap="square" lIns="0" tIns="0" rIns="0" bIns="0" rtlCol="0" anchor="t"/>
          <a:lstStyle/>
          <a:p>
            <a:pPr algn="l" indent="0" marL="0">
              <a:lnSpc>
                <a:spcPct val="115000"/>
              </a:lnSpc>
              <a:buNone/>
            </a:pPr>
            <a:r>
              <a:rPr lang="en-US" sz="1050" dirty="0">
                <a:solidFill>
                  <a:srgbClr val="475569"/>
                </a:solidFill>
                <a:latin typeface="Poppins" pitchFamily="34" charset="0"/>
                <a:ea typeface="Poppins" pitchFamily="34" charset="-122"/>
                <a:cs typeface="Poppins" pitchFamily="34" charset="-120"/>
              </a:rPr>
              <a:t>DeliveryDate to Date, DeliveryFee to Fixed decimal, RiderID to Text</a:t>
            </a:r>
            <a:endParaRPr lang="en-US" sz="1050" dirty="0"/>
          </a:p>
        </p:txBody>
      </p:sp>
      <p:sp>
        <p:nvSpPr>
          <p:cNvPr id="36" name="Shape 34"/>
          <p:cNvSpPr/>
          <p:nvPr/>
        </p:nvSpPr>
        <p:spPr>
          <a:xfrm>
            <a:off x="685800" y="3758184"/>
            <a:ext cx="6035040" cy="713232"/>
          </a:xfrm>
          <a:prstGeom prst="roundRect">
            <a:avLst>
              <a:gd name="adj" fmla="val 12821"/>
            </a:avLst>
          </a:prstGeom>
          <a:solidFill>
            <a:srgbClr val="FFFFFF"/>
          </a:solidFill>
          <a:ln/>
          <a:effectLst>
            <a:outerShdw sx="100000" sy="100000" kx="0" ky="0" algn="bl" rotWithShape="0" blurRad="152400" dist="38100" dir="5400000">
              <a:srgbClr val="1B2A2E">
                <a:alpha val="14000"/>
              </a:srgbClr>
            </a:outerShdw>
          </a:effectLst>
        </p:spPr>
      </p:sp>
      <p:sp>
        <p:nvSpPr>
          <p:cNvPr id="37" name="Shape 35"/>
          <p:cNvSpPr/>
          <p:nvPr/>
        </p:nvSpPr>
        <p:spPr>
          <a:xfrm>
            <a:off x="914400" y="3904488"/>
            <a:ext cx="420624" cy="420624"/>
          </a:xfrm>
          <a:prstGeom prst="ellipse">
            <a:avLst/>
          </a:prstGeom>
          <a:solidFill>
            <a:srgbClr val="387F7F"/>
          </a:solidFill>
          <a:ln/>
        </p:spPr>
      </p:sp>
      <p:sp>
        <p:nvSpPr>
          <p:cNvPr id="38" name="Text 36"/>
          <p:cNvSpPr txBox="1"/>
          <p:nvPr/>
        </p:nvSpPr>
        <p:spPr>
          <a:xfrm>
            <a:off x="914400" y="3904488"/>
            <a:ext cx="420624" cy="420624"/>
          </a:xfrm>
          <a:prstGeom prst="rect">
            <a:avLst/>
          </a:prstGeom>
          <a:noFill/>
          <a:ln/>
        </p:spPr>
        <p:txBody>
          <a:bodyPr wrap="square" lIns="0" tIns="0" rIns="0" bIns="0" rtlCol="0" anchor="ctr"/>
          <a:lstStyle/>
          <a:p>
            <a:pPr algn="ctr" indent="0" marL="0">
              <a:buNone/>
            </a:pPr>
            <a:r>
              <a:rPr lang="en-US" sz="1700" b="1" dirty="0">
                <a:solidFill>
                  <a:srgbClr val="FFFFFF"/>
                </a:solidFill>
                <a:latin typeface="Poppins" pitchFamily="34" charset="0"/>
                <a:ea typeface="Poppins" pitchFamily="34" charset="-122"/>
                <a:cs typeface="Poppins" pitchFamily="34" charset="-120"/>
              </a:rPr>
              <a:t>3</a:t>
            </a:r>
            <a:endParaRPr lang="en-US" sz="1700" dirty="0"/>
          </a:p>
        </p:txBody>
      </p:sp>
      <p:sp>
        <p:nvSpPr>
          <p:cNvPr id="39" name="Text 37"/>
          <p:cNvSpPr txBox="1"/>
          <p:nvPr/>
        </p:nvSpPr>
        <p:spPr>
          <a:xfrm>
            <a:off x="1481328" y="3794760"/>
            <a:ext cx="2286000" cy="329184"/>
          </a:xfrm>
          <a:prstGeom prst="rect">
            <a:avLst/>
          </a:prstGeom>
          <a:noFill/>
          <a:ln/>
        </p:spPr>
        <p:txBody>
          <a:bodyPr wrap="square" lIns="0" tIns="0" rIns="0" bIns="0" rtlCol="0" anchor="ctr"/>
          <a:lstStyle/>
          <a:p>
            <a:pPr indent="0" marL="0">
              <a:buNone/>
            </a:pPr>
            <a:r>
              <a:rPr lang="en-US" sz="1250" b="1" dirty="0">
                <a:solidFill>
                  <a:srgbClr val="0A1A23"/>
                </a:solidFill>
                <a:latin typeface="Poppins" pitchFamily="34" charset="0"/>
                <a:ea typeface="Poppins" pitchFamily="34" charset="-122"/>
                <a:cs typeface="Poppins" pitchFamily="34" charset="-120"/>
              </a:rPr>
              <a:t>Trim whitespace</a:t>
            </a:r>
            <a:endParaRPr lang="en-US" sz="1250" dirty="0"/>
          </a:p>
        </p:txBody>
      </p:sp>
      <p:sp>
        <p:nvSpPr>
          <p:cNvPr id="40" name="Text 38"/>
          <p:cNvSpPr txBox="1"/>
          <p:nvPr/>
        </p:nvSpPr>
        <p:spPr>
          <a:xfrm>
            <a:off x="1481328" y="4105656"/>
            <a:ext cx="5029200" cy="329184"/>
          </a:xfrm>
          <a:prstGeom prst="rect">
            <a:avLst/>
          </a:prstGeom>
          <a:noFill/>
          <a:ln/>
        </p:spPr>
        <p:txBody>
          <a:bodyPr wrap="square" lIns="0" tIns="0" rIns="0" bIns="0" rtlCol="0" anchor="t"/>
          <a:lstStyle/>
          <a:p>
            <a:pPr algn="l" indent="0" marL="0">
              <a:lnSpc>
                <a:spcPct val="115000"/>
              </a:lnSpc>
              <a:buNone/>
            </a:pPr>
            <a:r>
              <a:rPr lang="en-US" sz="1050" dirty="0">
                <a:solidFill>
                  <a:srgbClr val="475569"/>
                </a:solidFill>
                <a:latin typeface="Poppins" pitchFamily="34" charset="0"/>
                <a:ea typeface="Poppins" pitchFamily="34" charset="-122"/>
                <a:cs typeface="Poppins" pitchFamily="34" charset="-120"/>
              </a:rPr>
              <a:t>on RiderID and RouteID. Trailing spaces break relationships silently</a:t>
            </a:r>
            <a:endParaRPr lang="en-US" sz="1050" dirty="0"/>
          </a:p>
        </p:txBody>
      </p:sp>
      <p:sp>
        <p:nvSpPr>
          <p:cNvPr id="41" name="Shape 39"/>
          <p:cNvSpPr/>
          <p:nvPr/>
        </p:nvSpPr>
        <p:spPr>
          <a:xfrm>
            <a:off x="685800" y="4562856"/>
            <a:ext cx="6035040" cy="713232"/>
          </a:xfrm>
          <a:prstGeom prst="roundRect">
            <a:avLst>
              <a:gd name="adj" fmla="val 12821"/>
            </a:avLst>
          </a:prstGeom>
          <a:solidFill>
            <a:srgbClr val="FFFFFF"/>
          </a:solidFill>
          <a:ln/>
          <a:effectLst>
            <a:outerShdw sx="100000" sy="100000" kx="0" ky="0" algn="bl" rotWithShape="0" blurRad="152400" dist="38100" dir="5400000">
              <a:srgbClr val="1B2A2E">
                <a:alpha val="14000"/>
              </a:srgbClr>
            </a:outerShdw>
          </a:effectLst>
        </p:spPr>
      </p:sp>
      <p:sp>
        <p:nvSpPr>
          <p:cNvPr id="42" name="Shape 40"/>
          <p:cNvSpPr/>
          <p:nvPr/>
        </p:nvSpPr>
        <p:spPr>
          <a:xfrm>
            <a:off x="914400" y="4709160"/>
            <a:ext cx="420624" cy="420624"/>
          </a:xfrm>
          <a:prstGeom prst="ellipse">
            <a:avLst/>
          </a:prstGeom>
          <a:solidFill>
            <a:srgbClr val="387F7F"/>
          </a:solidFill>
          <a:ln/>
        </p:spPr>
      </p:sp>
      <p:sp>
        <p:nvSpPr>
          <p:cNvPr id="43" name="Text 41"/>
          <p:cNvSpPr txBox="1"/>
          <p:nvPr/>
        </p:nvSpPr>
        <p:spPr>
          <a:xfrm>
            <a:off x="914400" y="4709160"/>
            <a:ext cx="420624" cy="420624"/>
          </a:xfrm>
          <a:prstGeom prst="rect">
            <a:avLst/>
          </a:prstGeom>
          <a:noFill/>
          <a:ln/>
        </p:spPr>
        <p:txBody>
          <a:bodyPr wrap="square" lIns="0" tIns="0" rIns="0" bIns="0" rtlCol="0" anchor="ctr"/>
          <a:lstStyle/>
          <a:p>
            <a:pPr algn="ctr" indent="0" marL="0">
              <a:buNone/>
            </a:pPr>
            <a:r>
              <a:rPr lang="en-US" sz="1700" b="1" dirty="0">
                <a:solidFill>
                  <a:srgbClr val="FFFFFF"/>
                </a:solidFill>
                <a:latin typeface="Poppins" pitchFamily="34" charset="0"/>
                <a:ea typeface="Poppins" pitchFamily="34" charset="-122"/>
                <a:cs typeface="Poppins" pitchFamily="34" charset="-120"/>
              </a:rPr>
              <a:t>4</a:t>
            </a:r>
            <a:endParaRPr lang="en-US" sz="1700" dirty="0"/>
          </a:p>
        </p:txBody>
      </p:sp>
      <p:sp>
        <p:nvSpPr>
          <p:cNvPr id="44" name="Text 42"/>
          <p:cNvSpPr txBox="1"/>
          <p:nvPr/>
        </p:nvSpPr>
        <p:spPr>
          <a:xfrm>
            <a:off x="1481328" y="4599432"/>
            <a:ext cx="2286000" cy="329184"/>
          </a:xfrm>
          <a:prstGeom prst="rect">
            <a:avLst/>
          </a:prstGeom>
          <a:noFill/>
          <a:ln/>
        </p:spPr>
        <p:txBody>
          <a:bodyPr wrap="square" lIns="0" tIns="0" rIns="0" bIns="0" rtlCol="0" anchor="ctr"/>
          <a:lstStyle/>
          <a:p>
            <a:pPr indent="0" marL="0">
              <a:buNone/>
            </a:pPr>
            <a:r>
              <a:rPr lang="en-US" sz="1250" b="1" dirty="0">
                <a:solidFill>
                  <a:srgbClr val="0A1A23"/>
                </a:solidFill>
                <a:latin typeface="Poppins" pitchFamily="34" charset="0"/>
                <a:ea typeface="Poppins" pitchFamily="34" charset="-122"/>
                <a:cs typeface="Poppins" pitchFamily="34" charset="-120"/>
              </a:rPr>
              <a:t>Filter test rows</a:t>
            </a:r>
            <a:endParaRPr lang="en-US" sz="1250" dirty="0"/>
          </a:p>
        </p:txBody>
      </p:sp>
      <p:sp>
        <p:nvSpPr>
          <p:cNvPr id="45" name="Text 43"/>
          <p:cNvSpPr txBox="1"/>
          <p:nvPr/>
        </p:nvSpPr>
        <p:spPr>
          <a:xfrm>
            <a:off x="1481328" y="4910328"/>
            <a:ext cx="5029200" cy="329184"/>
          </a:xfrm>
          <a:prstGeom prst="rect">
            <a:avLst/>
          </a:prstGeom>
          <a:noFill/>
          <a:ln/>
        </p:spPr>
        <p:txBody>
          <a:bodyPr wrap="square" lIns="0" tIns="0" rIns="0" bIns="0" rtlCol="0" anchor="t"/>
          <a:lstStyle/>
          <a:p>
            <a:pPr algn="l" indent="0" marL="0">
              <a:lnSpc>
                <a:spcPct val="115000"/>
              </a:lnSpc>
              <a:buNone/>
            </a:pPr>
            <a:r>
              <a:rPr lang="en-US" sz="1050" dirty="0">
                <a:solidFill>
                  <a:srgbClr val="475569"/>
                </a:solidFill>
                <a:latin typeface="Poppins" pitchFamily="34" charset="0"/>
                <a:ea typeface="Poppins" pitchFamily="34" charset="-122"/>
                <a:cs typeface="Poppins" pitchFamily="34" charset="-120"/>
              </a:rPr>
              <a:t>where CustomerID is blank</a:t>
            </a:r>
            <a:endParaRPr lang="en-US" sz="1050" dirty="0"/>
          </a:p>
        </p:txBody>
      </p:sp>
      <p:sp>
        <p:nvSpPr>
          <p:cNvPr id="46" name="Shape 44"/>
          <p:cNvSpPr/>
          <p:nvPr/>
        </p:nvSpPr>
        <p:spPr>
          <a:xfrm>
            <a:off x="7086600" y="2148840"/>
            <a:ext cx="3429000" cy="3017520"/>
          </a:xfrm>
          <a:prstGeom prst="roundRect">
            <a:avLst>
              <a:gd name="adj" fmla="val 2727"/>
            </a:avLst>
          </a:prstGeom>
          <a:solidFill>
            <a:srgbClr val="FFFFFF"/>
          </a:solidFill>
          <a:ln/>
        </p:spPr>
      </p:sp>
      <p:sp>
        <p:nvSpPr>
          <p:cNvPr id="47" name="Shape 45"/>
          <p:cNvSpPr/>
          <p:nvPr/>
        </p:nvSpPr>
        <p:spPr>
          <a:xfrm>
            <a:off x="7086600" y="2148840"/>
            <a:ext cx="68580" cy="3017520"/>
          </a:xfrm>
          <a:prstGeom prst="rect">
            <a:avLst/>
          </a:prstGeom>
          <a:solidFill>
            <a:srgbClr val="387F7F"/>
          </a:solidFill>
          <a:ln/>
        </p:spPr>
      </p:sp>
      <p:sp>
        <p:nvSpPr>
          <p:cNvPr id="48" name="Text 46"/>
          <p:cNvSpPr txBox="1"/>
          <p:nvPr/>
        </p:nvSpPr>
        <p:spPr>
          <a:xfrm>
            <a:off x="7360920" y="2359152"/>
            <a:ext cx="3017520" cy="274320"/>
          </a:xfrm>
          <a:prstGeom prst="rect">
            <a:avLst/>
          </a:prstGeom>
          <a:noFill/>
          <a:ln/>
        </p:spPr>
        <p:txBody>
          <a:bodyPr wrap="square" lIns="0" tIns="0" rIns="0" bIns="0" rtlCol="0" anchor="ctr"/>
          <a:lstStyle/>
          <a:p>
            <a:pPr indent="0" marL="0">
              <a:buNone/>
            </a:pPr>
            <a:r>
              <a:rPr lang="en-US" sz="1100" b="1" dirty="0">
                <a:solidFill>
                  <a:srgbClr val="387F7F"/>
                </a:solidFill>
                <a:latin typeface="Poppins" pitchFamily="34" charset="0"/>
                <a:ea typeface="Poppins" pitchFamily="34" charset="-122"/>
                <a:cs typeface="Poppins" pitchFamily="34" charset="-120"/>
              </a:rPr>
              <a:t>WHY IT MATTERS</a:t>
            </a:r>
            <a:endParaRPr lang="en-US" sz="1100" dirty="0"/>
          </a:p>
        </p:txBody>
      </p:sp>
      <p:sp>
        <p:nvSpPr>
          <p:cNvPr id="49" name="Text 47"/>
          <p:cNvSpPr txBox="1"/>
          <p:nvPr/>
        </p:nvSpPr>
        <p:spPr>
          <a:xfrm>
            <a:off x="7360920" y="2697480"/>
            <a:ext cx="3017520" cy="2286000"/>
          </a:xfrm>
          <a:prstGeom prst="rect">
            <a:avLst/>
          </a:prstGeom>
          <a:noFill/>
          <a:ln/>
        </p:spPr>
        <p:txBody>
          <a:bodyPr wrap="square" lIns="0" tIns="0" rIns="0" bIns="0" rtlCol="0" anchor="t"/>
          <a:lstStyle/>
          <a:p>
            <a:pPr algn="l" indent="0" marL="0">
              <a:lnSpc>
                <a:spcPct val="130000"/>
              </a:lnSpc>
              <a:buNone/>
            </a:pPr>
            <a:r>
              <a:rPr lang="en-US" sz="1250" dirty="0">
                <a:solidFill>
                  <a:srgbClr val="475569"/>
                </a:solidFill>
                <a:latin typeface="Poppins" pitchFamily="34" charset="0"/>
                <a:ea typeface="Poppins" pitchFamily="34" charset="-122"/>
                <a:cs typeface="Poppins" pitchFamily="34" charset="-120"/>
              </a:rPr>
              <a:t>Every action is recorded as a named step in the Applied Steps pane. The list can be reordered, individual steps deleted, and each one clicked to see the table as it stood at that moment.</a:t>
            </a:r>
            <a:endParaRPr lang="en-US" sz="1250" dirty="0"/>
          </a:p>
          <a:p>
            <a:pPr algn="l" indent="0" marL="0">
              <a:lnSpc>
                <a:spcPct val="130000"/>
              </a:lnSpc>
              <a:buNone/>
            </a:pPr>
            <a:endParaRPr lang="en-US" sz="1250" dirty="0"/>
          </a:p>
          <a:p>
            <a:pPr algn="l" indent="0" marL="0">
              <a:lnSpc>
                <a:spcPct val="130000"/>
              </a:lnSpc>
              <a:buNone/>
            </a:pPr>
            <a:r>
              <a:rPr lang="en-US" sz="1250" dirty="0">
                <a:solidFill>
                  <a:srgbClr val="475569"/>
                </a:solidFill>
                <a:latin typeface="Poppins" pitchFamily="34" charset="0"/>
                <a:ea typeface="Poppins" pitchFamily="34" charset="-122"/>
                <a:cs typeface="Poppins" pitchFamily="34" charset="-120"/>
              </a:rPr>
              <a:t>That is what makes this a pipeline rather than a clean-up. In Excel the work is gone once done. Here the work is a recipe, and the recipe can be run again on a different file.</a:t>
            </a:r>
            <a:endParaRPr lang="en-US" sz="1250" dirty="0"/>
          </a:p>
        </p:txBody>
      </p:sp>
      <p:pic>
        <p:nvPicPr>
          <p:cNvPr id="50" name="Image 0" descr="/home/claude/build/assets/logo_full.png">    </p:cNvPr>
          <p:cNvPicPr>
            <a:picLocks noChangeAspect="1"/>
          </p:cNvPicPr>
          <p:nvPr/>
        </p:nvPicPr>
        <p:blipFill>
          <a:blip r:embed="rId2"/>
          <a:stretch>
            <a:fillRect/>
          </a:stretch>
        </p:blipFill>
        <p:spPr>
          <a:xfrm>
            <a:off x="10998403" y="5949086"/>
            <a:ext cx="431597" cy="375337"/>
          </a:xfrm>
          <a:prstGeom prst="rect">
            <a:avLst/>
          </a:prstGeom>
        </p:spPr>
      </p:pic>
      <p:sp>
        <p:nvSpPr>
          <p:cNvPr id="51" name="Text 48"/>
          <p:cNvSpPr txBox="1"/>
          <p:nvPr/>
        </p:nvSpPr>
        <p:spPr>
          <a:xfrm>
            <a:off x="11689050" y="6473952"/>
            <a:ext cx="365760" cy="274320"/>
          </a:xfrm>
          <a:prstGeom prst="rect">
            <a:avLst/>
          </a:prstGeom>
          <a:noFill/>
          <a:ln/>
        </p:spPr>
        <p:txBody>
          <a:bodyPr wrap="square" lIns="0" tIns="0" rIns="0" bIns="0" rtlCol="0" anchor="ctr"/>
          <a:lstStyle/>
          <a:p>
            <a:pPr algn="r" indent="0" marL="0">
              <a:buNone/>
            </a:pPr>
            <a:r>
              <a:rPr lang="en-US" sz="1100" dirty="0">
                <a:solidFill>
                  <a:srgbClr val="64748B"/>
                </a:solidFill>
                <a:latin typeface="Poppins" pitchFamily="34" charset="0"/>
                <a:ea typeface="Poppins" pitchFamily="34" charset="-122"/>
                <a:cs typeface="Poppins"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1024006" y="1958645"/>
            <a:ext cx="4133088" cy="4038905"/>
          </a:xfrm>
          <a:prstGeom prst="ellipse">
            <a:avLst/>
          </a:prstGeom>
          <a:solidFill>
            <a:srgbClr val="387F7F"/>
          </a:solidFill>
          <a:ln/>
        </p:spPr>
      </p:sp>
      <p:sp>
        <p:nvSpPr>
          <p:cNvPr id="3" name="Shape 1"/>
          <p:cNvSpPr/>
          <p:nvPr/>
        </p:nvSpPr>
        <p:spPr>
          <a:xfrm>
            <a:off x="11316614" y="2675534"/>
            <a:ext cx="1051560" cy="2162556"/>
          </a:xfrm>
          <a:prstGeom prst="ellipse">
            <a:avLst/>
          </a:prstGeom>
          <a:solidFill>
            <a:srgbClr val="387F7F"/>
          </a:solidFill>
          <a:ln/>
        </p:spPr>
      </p:sp>
      <p:sp>
        <p:nvSpPr>
          <p:cNvPr id="4" name="Shape 2"/>
          <p:cNvSpPr/>
          <p:nvPr/>
        </p:nvSpPr>
        <p:spPr>
          <a:xfrm>
            <a:off x="685800" y="548640"/>
            <a:ext cx="68580" cy="420624"/>
          </a:xfrm>
          <a:prstGeom prst="rect">
            <a:avLst/>
          </a:prstGeom>
          <a:solidFill>
            <a:srgbClr val="387F7F"/>
          </a:solidFill>
          <a:ln/>
        </p:spPr>
      </p:sp>
      <p:sp>
        <p:nvSpPr>
          <p:cNvPr id="5" name="Text 3"/>
          <p:cNvSpPr txBox="1"/>
          <p:nvPr/>
        </p:nvSpPr>
        <p:spPr>
          <a:xfrm>
            <a:off x="886968" y="502920"/>
            <a:ext cx="9692640" cy="502920"/>
          </a:xfrm>
          <a:prstGeom prst="rect">
            <a:avLst/>
          </a:prstGeom>
          <a:noFill/>
          <a:ln/>
        </p:spPr>
        <p:txBody>
          <a:bodyPr wrap="square" lIns="0" tIns="0" rIns="0" bIns="0" rtlCol="0" anchor="ctr"/>
          <a:lstStyle/>
          <a:p>
            <a:pPr indent="0" marL="0">
              <a:lnSpc>
                <a:spcPct val="108000"/>
              </a:lnSpc>
              <a:buNone/>
            </a:pPr>
            <a:r>
              <a:rPr lang="en-US" sz="2700" dirty="0">
                <a:solidFill>
                  <a:srgbClr val="387F7F"/>
                </a:solidFill>
                <a:latin typeface="Poppins" pitchFamily="34" charset="0"/>
                <a:ea typeface="Poppins" pitchFamily="34" charset="-122"/>
                <a:cs typeface="Poppins" pitchFamily="34" charset="-120"/>
              </a:rPr>
              <a:t>An ID is a label, not a quantity</a:t>
            </a:r>
            <a:endParaRPr lang="en-US" sz="2700" dirty="0"/>
          </a:p>
        </p:txBody>
      </p:sp>
      <p:sp>
        <p:nvSpPr>
          <p:cNvPr id="6" name="Shape 4"/>
          <p:cNvSpPr/>
          <p:nvPr/>
        </p:nvSpPr>
        <p:spPr>
          <a:xfrm>
            <a:off x="685800" y="1645920"/>
            <a:ext cx="4709160" cy="3108960"/>
          </a:xfrm>
          <a:prstGeom prst="roundRect">
            <a:avLst>
              <a:gd name="adj" fmla="val 2941"/>
            </a:avLst>
          </a:prstGeom>
          <a:solidFill>
            <a:srgbClr val="FFFFFF"/>
          </a:solidFill>
          <a:ln/>
          <a:effectLst>
            <a:outerShdw sx="100000" sy="100000" kx="0" ky="0" algn="bl" rotWithShape="0" blurRad="152400" dist="38100" dir="5400000">
              <a:srgbClr val="1B2A2E">
                <a:alpha val="14000"/>
              </a:srgbClr>
            </a:outerShdw>
          </a:effectLst>
        </p:spPr>
      </p:sp>
      <p:sp>
        <p:nvSpPr>
          <p:cNvPr id="7" name="Shape 5"/>
          <p:cNvSpPr/>
          <p:nvPr/>
        </p:nvSpPr>
        <p:spPr>
          <a:xfrm>
            <a:off x="685800" y="1645920"/>
            <a:ext cx="4709160" cy="566928"/>
          </a:xfrm>
          <a:prstGeom prst="roundRect">
            <a:avLst>
              <a:gd name="adj" fmla="val 16129"/>
            </a:avLst>
          </a:prstGeom>
          <a:solidFill>
            <a:srgbClr val="A8322D"/>
          </a:solidFill>
          <a:ln/>
        </p:spPr>
      </p:sp>
      <p:sp>
        <p:nvSpPr>
          <p:cNvPr id="8" name="Shape 6"/>
          <p:cNvSpPr/>
          <p:nvPr/>
        </p:nvSpPr>
        <p:spPr>
          <a:xfrm>
            <a:off x="685800" y="1929384"/>
            <a:ext cx="4709160" cy="283464"/>
          </a:xfrm>
          <a:prstGeom prst="rect">
            <a:avLst/>
          </a:prstGeom>
          <a:solidFill>
            <a:srgbClr val="A8322D"/>
          </a:solidFill>
          <a:ln/>
        </p:spPr>
      </p:sp>
      <p:sp>
        <p:nvSpPr>
          <p:cNvPr id="9" name="Text 7"/>
          <p:cNvSpPr txBox="1"/>
          <p:nvPr/>
        </p:nvSpPr>
        <p:spPr>
          <a:xfrm>
            <a:off x="685800" y="1645920"/>
            <a:ext cx="4709160" cy="566928"/>
          </a:xfrm>
          <a:prstGeom prst="rect">
            <a:avLst/>
          </a:prstGeom>
          <a:noFill/>
          <a:ln/>
        </p:spPr>
        <p:txBody>
          <a:bodyPr wrap="square" lIns="0" tIns="0" rIns="0" bIns="0" rtlCol="0" anchor="ctr"/>
          <a:lstStyle/>
          <a:p>
            <a:pPr algn="ctr" indent="0" marL="0">
              <a:buNone/>
            </a:pPr>
            <a:r>
              <a:rPr lang="en-US" sz="1350" b="1" spc="100" kern="0" dirty="0">
                <a:solidFill>
                  <a:srgbClr val="FFFFFF"/>
                </a:solidFill>
                <a:latin typeface="Poppins" pitchFamily="34" charset="0"/>
                <a:ea typeface="Poppins" pitchFamily="34" charset="-122"/>
                <a:cs typeface="Poppins" pitchFamily="34" charset="-120"/>
              </a:rPr>
              <a:t>WRONG   ·   Whole number</a:t>
            </a:r>
            <a:endParaRPr lang="en-US" sz="1350" dirty="0"/>
          </a:p>
        </p:txBody>
      </p:sp>
      <p:sp>
        <p:nvSpPr>
          <p:cNvPr id="10" name="Text 8"/>
          <p:cNvSpPr txBox="1"/>
          <p:nvPr/>
        </p:nvSpPr>
        <p:spPr>
          <a:xfrm>
            <a:off x="1005840" y="2395728"/>
            <a:ext cx="4069080" cy="548640"/>
          </a:xfrm>
          <a:prstGeom prst="rect">
            <a:avLst/>
          </a:prstGeom>
          <a:noFill/>
          <a:ln/>
        </p:spPr>
        <p:txBody>
          <a:bodyPr wrap="square" lIns="0" tIns="0" rIns="0" bIns="0" rtlCol="0" anchor="t"/>
          <a:lstStyle/>
          <a:p>
            <a:pPr algn="ctr" indent="0" marL="0">
              <a:lnSpc>
                <a:spcPct val="125000"/>
              </a:lnSpc>
              <a:buNone/>
            </a:pPr>
            <a:r>
              <a:rPr lang="en-US" sz="1300" dirty="0">
                <a:solidFill>
                  <a:srgbClr val="475569"/>
                </a:solidFill>
                <a:latin typeface="Poppins" pitchFamily="34" charset="0"/>
                <a:ea typeface="Poppins" pitchFamily="34" charset="-122"/>
                <a:cs typeface="Poppins" pitchFamily="34" charset="-120"/>
              </a:rPr>
              <a:t>RiderID stored as Whole number. Power BI will happily sum it.</a:t>
            </a:r>
            <a:endParaRPr lang="en-US" sz="1300" dirty="0"/>
          </a:p>
        </p:txBody>
      </p:sp>
      <p:sp>
        <p:nvSpPr>
          <p:cNvPr id="11" name="Text 9"/>
          <p:cNvSpPr txBox="1"/>
          <p:nvPr/>
        </p:nvSpPr>
        <p:spPr>
          <a:xfrm>
            <a:off x="685800" y="2971800"/>
            <a:ext cx="4709160" cy="777240"/>
          </a:xfrm>
          <a:prstGeom prst="rect">
            <a:avLst/>
          </a:prstGeom>
          <a:noFill/>
          <a:ln/>
        </p:spPr>
        <p:txBody>
          <a:bodyPr wrap="square" lIns="0" tIns="0" rIns="0" bIns="0" rtlCol="0" anchor="ctr"/>
          <a:lstStyle/>
          <a:p>
            <a:pPr algn="ctr" indent="0" marL="0">
              <a:buNone/>
            </a:pPr>
            <a:r>
              <a:rPr lang="en-US" sz="4400" b="1" dirty="0">
                <a:solidFill>
                  <a:srgbClr val="A8322D"/>
                </a:solidFill>
                <a:latin typeface="Poppins" pitchFamily="34" charset="0"/>
                <a:ea typeface="Poppins" pitchFamily="34" charset="-122"/>
                <a:cs typeface="Poppins" pitchFamily="34" charset="-120"/>
              </a:rPr>
              <a:t>89,712</a:t>
            </a:r>
            <a:endParaRPr lang="en-US" sz="4400" dirty="0"/>
          </a:p>
        </p:txBody>
      </p:sp>
      <p:sp>
        <p:nvSpPr>
          <p:cNvPr id="12" name="Text 10"/>
          <p:cNvSpPr txBox="1"/>
          <p:nvPr/>
        </p:nvSpPr>
        <p:spPr>
          <a:xfrm>
            <a:off x="1005840" y="3840480"/>
            <a:ext cx="4069080" cy="731520"/>
          </a:xfrm>
          <a:prstGeom prst="rect">
            <a:avLst/>
          </a:prstGeom>
          <a:noFill/>
          <a:ln/>
        </p:spPr>
        <p:txBody>
          <a:bodyPr wrap="square" lIns="0" tIns="0" rIns="0" bIns="0" rtlCol="0" anchor="t"/>
          <a:lstStyle/>
          <a:p>
            <a:pPr algn="ctr" indent="0" marL="0">
              <a:lnSpc>
                <a:spcPct val="125000"/>
              </a:lnSpc>
              <a:buNone/>
            </a:pPr>
            <a:r>
              <a:rPr lang="en-US" sz="1200" dirty="0">
                <a:solidFill>
                  <a:srgbClr val="64748B"/>
                </a:solidFill>
                <a:latin typeface="Poppins" pitchFamily="34" charset="0"/>
                <a:ea typeface="Poppins" pitchFamily="34" charset="-122"/>
                <a:cs typeface="Poppins" pitchFamily="34" charset="-120"/>
              </a:rPr>
              <a:t>The total of your rider IDs. It means nothing.</a:t>
            </a:r>
            <a:endParaRPr lang="en-US" sz="1200" dirty="0"/>
          </a:p>
        </p:txBody>
      </p:sp>
      <p:sp>
        <p:nvSpPr>
          <p:cNvPr id="13" name="Shape 11"/>
          <p:cNvSpPr/>
          <p:nvPr/>
        </p:nvSpPr>
        <p:spPr>
          <a:xfrm>
            <a:off x="5806440" y="1645920"/>
            <a:ext cx="4709160" cy="3108960"/>
          </a:xfrm>
          <a:prstGeom prst="roundRect">
            <a:avLst>
              <a:gd name="adj" fmla="val 2941"/>
            </a:avLst>
          </a:prstGeom>
          <a:solidFill>
            <a:srgbClr val="FFFFFF"/>
          </a:solidFill>
          <a:ln/>
          <a:effectLst>
            <a:outerShdw sx="100000" sy="100000" kx="0" ky="0" algn="bl" rotWithShape="0" blurRad="152400" dist="38100" dir="5400000">
              <a:srgbClr val="1B2A2E">
                <a:alpha val="20000"/>
              </a:srgbClr>
            </a:outerShdw>
          </a:effectLst>
        </p:spPr>
      </p:sp>
      <p:sp>
        <p:nvSpPr>
          <p:cNvPr id="14" name="Shape 12"/>
          <p:cNvSpPr/>
          <p:nvPr/>
        </p:nvSpPr>
        <p:spPr>
          <a:xfrm>
            <a:off x="5806440" y="1645920"/>
            <a:ext cx="4709160" cy="566928"/>
          </a:xfrm>
          <a:prstGeom prst="roundRect">
            <a:avLst>
              <a:gd name="adj" fmla="val 16129"/>
            </a:avLst>
          </a:prstGeom>
          <a:solidFill>
            <a:srgbClr val="387F7F"/>
          </a:solidFill>
          <a:ln/>
        </p:spPr>
      </p:sp>
      <p:sp>
        <p:nvSpPr>
          <p:cNvPr id="15" name="Shape 13"/>
          <p:cNvSpPr/>
          <p:nvPr/>
        </p:nvSpPr>
        <p:spPr>
          <a:xfrm>
            <a:off x="5806440" y="1929384"/>
            <a:ext cx="4709160" cy="283464"/>
          </a:xfrm>
          <a:prstGeom prst="rect">
            <a:avLst/>
          </a:prstGeom>
          <a:solidFill>
            <a:srgbClr val="387F7F"/>
          </a:solidFill>
          <a:ln/>
        </p:spPr>
      </p:sp>
      <p:sp>
        <p:nvSpPr>
          <p:cNvPr id="16" name="Text 14"/>
          <p:cNvSpPr txBox="1"/>
          <p:nvPr/>
        </p:nvSpPr>
        <p:spPr>
          <a:xfrm>
            <a:off x="5806440" y="1645920"/>
            <a:ext cx="4709160" cy="566928"/>
          </a:xfrm>
          <a:prstGeom prst="rect">
            <a:avLst/>
          </a:prstGeom>
          <a:noFill/>
          <a:ln/>
        </p:spPr>
        <p:txBody>
          <a:bodyPr wrap="square" lIns="0" tIns="0" rIns="0" bIns="0" rtlCol="0" anchor="ctr"/>
          <a:lstStyle/>
          <a:p>
            <a:pPr algn="ctr" indent="0" marL="0">
              <a:buNone/>
            </a:pPr>
            <a:r>
              <a:rPr lang="en-US" sz="1350" b="1" spc="100" kern="0" dirty="0">
                <a:solidFill>
                  <a:srgbClr val="FFFFFF"/>
                </a:solidFill>
                <a:latin typeface="Poppins" pitchFamily="34" charset="0"/>
                <a:ea typeface="Poppins" pitchFamily="34" charset="-122"/>
                <a:cs typeface="Poppins" pitchFamily="34" charset="-120"/>
              </a:rPr>
              <a:t>RIGHT   ·   Text</a:t>
            </a:r>
            <a:endParaRPr lang="en-US" sz="1350" dirty="0"/>
          </a:p>
        </p:txBody>
      </p:sp>
      <p:sp>
        <p:nvSpPr>
          <p:cNvPr id="17" name="Text 15"/>
          <p:cNvSpPr txBox="1"/>
          <p:nvPr/>
        </p:nvSpPr>
        <p:spPr>
          <a:xfrm>
            <a:off x="6126480" y="2395728"/>
            <a:ext cx="4069080" cy="548640"/>
          </a:xfrm>
          <a:prstGeom prst="rect">
            <a:avLst/>
          </a:prstGeom>
          <a:noFill/>
          <a:ln/>
        </p:spPr>
        <p:txBody>
          <a:bodyPr wrap="square" lIns="0" tIns="0" rIns="0" bIns="0" rtlCol="0" anchor="t"/>
          <a:lstStyle/>
          <a:p>
            <a:pPr algn="ctr" indent="0" marL="0">
              <a:lnSpc>
                <a:spcPct val="125000"/>
              </a:lnSpc>
              <a:buNone/>
            </a:pPr>
            <a:r>
              <a:rPr lang="en-US" sz="1300" dirty="0">
                <a:solidFill>
                  <a:srgbClr val="475569"/>
                </a:solidFill>
                <a:latin typeface="Poppins" pitchFamily="34" charset="0"/>
                <a:ea typeface="Poppins" pitchFamily="34" charset="-122"/>
                <a:cs typeface="Poppins" pitchFamily="34" charset="-120"/>
              </a:rPr>
              <a:t>RiderID stored as Text. It cannot be summed.</a:t>
            </a:r>
            <a:endParaRPr lang="en-US" sz="1300" dirty="0"/>
          </a:p>
        </p:txBody>
      </p:sp>
      <p:sp>
        <p:nvSpPr>
          <p:cNvPr id="18" name="Text 16"/>
          <p:cNvSpPr txBox="1"/>
          <p:nvPr/>
        </p:nvSpPr>
        <p:spPr>
          <a:xfrm>
            <a:off x="5806440" y="2971800"/>
            <a:ext cx="4709160" cy="777240"/>
          </a:xfrm>
          <a:prstGeom prst="rect">
            <a:avLst/>
          </a:prstGeom>
          <a:noFill/>
          <a:ln/>
        </p:spPr>
        <p:txBody>
          <a:bodyPr wrap="square" lIns="0" tIns="0" rIns="0" bIns="0" rtlCol="0" anchor="ctr"/>
          <a:lstStyle/>
          <a:p>
            <a:pPr algn="ctr" indent="0" marL="0">
              <a:buNone/>
            </a:pPr>
            <a:r>
              <a:rPr lang="en-US" sz="4400" b="1" dirty="0">
                <a:solidFill>
                  <a:srgbClr val="387F7F"/>
                </a:solidFill>
                <a:latin typeface="Poppins" pitchFamily="34" charset="0"/>
                <a:ea typeface="Poppins" pitchFamily="34" charset="-122"/>
                <a:cs typeface="Poppins" pitchFamily="34" charset="-120"/>
              </a:rPr>
              <a:t>68</a:t>
            </a:r>
            <a:endParaRPr lang="en-US" sz="4400" dirty="0"/>
          </a:p>
        </p:txBody>
      </p:sp>
      <p:sp>
        <p:nvSpPr>
          <p:cNvPr id="19" name="Text 17"/>
          <p:cNvSpPr txBox="1"/>
          <p:nvPr/>
        </p:nvSpPr>
        <p:spPr>
          <a:xfrm>
            <a:off x="6126480" y="3840480"/>
            <a:ext cx="4069080" cy="731520"/>
          </a:xfrm>
          <a:prstGeom prst="rect">
            <a:avLst/>
          </a:prstGeom>
          <a:noFill/>
          <a:ln/>
        </p:spPr>
        <p:txBody>
          <a:bodyPr wrap="square" lIns="0" tIns="0" rIns="0" bIns="0" rtlCol="0" anchor="t"/>
          <a:lstStyle/>
          <a:p>
            <a:pPr algn="ctr" indent="0" marL="0">
              <a:lnSpc>
                <a:spcPct val="125000"/>
              </a:lnSpc>
              <a:buNone/>
            </a:pPr>
            <a:r>
              <a:rPr lang="en-US" sz="1200" dirty="0">
                <a:solidFill>
                  <a:srgbClr val="64748B"/>
                </a:solidFill>
                <a:latin typeface="Poppins" pitchFamily="34" charset="0"/>
                <a:ea typeface="Poppins" pitchFamily="34" charset="-122"/>
                <a:cs typeface="Poppins" pitchFamily="34" charset="-120"/>
              </a:rPr>
              <a:t>It can be counted, grouped and joined, which is all you want from an identifier.</a:t>
            </a:r>
            <a:endParaRPr lang="en-US" sz="1200" dirty="0"/>
          </a:p>
        </p:txBody>
      </p:sp>
      <p:sp>
        <p:nvSpPr>
          <p:cNvPr id="20" name="Shape 18"/>
          <p:cNvSpPr/>
          <p:nvPr/>
        </p:nvSpPr>
        <p:spPr>
          <a:xfrm>
            <a:off x="685800" y="4983480"/>
            <a:ext cx="9829800" cy="868680"/>
          </a:xfrm>
          <a:prstGeom prst="roundRect">
            <a:avLst>
              <a:gd name="adj" fmla="val 9474"/>
            </a:avLst>
          </a:prstGeom>
          <a:solidFill>
            <a:srgbClr val="EEF4F4"/>
          </a:solidFill>
          <a:ln/>
        </p:spPr>
      </p:sp>
      <p:sp>
        <p:nvSpPr>
          <p:cNvPr id="21" name="Shape 19"/>
          <p:cNvSpPr/>
          <p:nvPr/>
        </p:nvSpPr>
        <p:spPr>
          <a:xfrm>
            <a:off x="685800" y="4983480"/>
            <a:ext cx="68580" cy="868680"/>
          </a:xfrm>
          <a:prstGeom prst="rect">
            <a:avLst/>
          </a:prstGeom>
          <a:solidFill>
            <a:srgbClr val="387F7F"/>
          </a:solidFill>
          <a:ln/>
        </p:spPr>
      </p:sp>
      <p:sp>
        <p:nvSpPr>
          <p:cNvPr id="22" name="Text 20"/>
          <p:cNvSpPr txBox="1"/>
          <p:nvPr/>
        </p:nvSpPr>
        <p:spPr>
          <a:xfrm>
            <a:off x="1051560" y="4983480"/>
            <a:ext cx="9235440" cy="868680"/>
          </a:xfrm>
          <a:prstGeom prst="rect">
            <a:avLst/>
          </a:prstGeom>
          <a:noFill/>
          <a:ln/>
        </p:spPr>
        <p:txBody>
          <a:bodyPr wrap="square" lIns="0" tIns="0" rIns="0" bIns="0" rtlCol="0" anchor="ctr"/>
          <a:lstStyle/>
          <a:p>
            <a:pPr algn="l" indent="0" marL="0">
              <a:lnSpc>
                <a:spcPct val="135000"/>
              </a:lnSpc>
              <a:buNone/>
            </a:pPr>
            <a:r>
              <a:rPr lang="en-US" sz="1450" b="1" dirty="0">
                <a:solidFill>
                  <a:srgbClr val="387F7F"/>
                </a:solidFill>
                <a:latin typeface="Poppins" pitchFamily="34" charset="0"/>
                <a:ea typeface="Poppins" pitchFamily="34" charset="-122"/>
                <a:cs typeface="Poppins" pitchFamily="34" charset="-120"/>
              </a:rPr>
              <a:t>The same reasoning applies to phone numbers, account numbers, BVN and postcodes.</a:t>
            </a:r>
            <a:endParaRPr lang="en-US" sz="1450" dirty="0"/>
          </a:p>
        </p:txBody>
      </p:sp>
      <p:pic>
        <p:nvPicPr>
          <p:cNvPr id="23" name="Image 0" descr="/home/claude/build/assets/logo_full.png">    </p:cNvPr>
          <p:cNvPicPr>
            <a:picLocks noChangeAspect="1"/>
          </p:cNvPicPr>
          <p:nvPr/>
        </p:nvPicPr>
        <p:blipFill>
          <a:blip r:embed="rId2"/>
          <a:stretch>
            <a:fillRect/>
          </a:stretch>
        </p:blipFill>
        <p:spPr>
          <a:xfrm>
            <a:off x="10998403" y="5949086"/>
            <a:ext cx="431597" cy="375337"/>
          </a:xfrm>
          <a:prstGeom prst="rect">
            <a:avLst/>
          </a:prstGeom>
        </p:spPr>
      </p:pic>
      <p:sp>
        <p:nvSpPr>
          <p:cNvPr id="24" name="Text 21"/>
          <p:cNvSpPr txBox="1"/>
          <p:nvPr/>
        </p:nvSpPr>
        <p:spPr>
          <a:xfrm>
            <a:off x="11689050" y="6473952"/>
            <a:ext cx="365760" cy="274320"/>
          </a:xfrm>
          <a:prstGeom prst="rect">
            <a:avLst/>
          </a:prstGeom>
          <a:noFill/>
          <a:ln/>
        </p:spPr>
        <p:txBody>
          <a:bodyPr wrap="square" lIns="0" tIns="0" rIns="0" bIns="0" rtlCol="0" anchor="ctr"/>
          <a:lstStyle/>
          <a:p>
            <a:pPr algn="r" indent="0" marL="0">
              <a:buNone/>
            </a:pPr>
            <a:r>
              <a:rPr lang="en-US" sz="1100" dirty="0">
                <a:solidFill>
                  <a:srgbClr val="64748B"/>
                </a:solidFill>
                <a:latin typeface="Poppins" pitchFamily="34" charset="0"/>
                <a:ea typeface="Poppins" pitchFamily="34" charset="-122"/>
                <a:cs typeface="Poppins"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1024006" y="1958645"/>
            <a:ext cx="4133088" cy="4038905"/>
          </a:xfrm>
          <a:prstGeom prst="ellipse">
            <a:avLst/>
          </a:prstGeom>
          <a:solidFill>
            <a:srgbClr val="387F7F"/>
          </a:solidFill>
          <a:ln/>
        </p:spPr>
      </p:sp>
      <p:sp>
        <p:nvSpPr>
          <p:cNvPr id="3" name="Shape 1"/>
          <p:cNvSpPr/>
          <p:nvPr/>
        </p:nvSpPr>
        <p:spPr>
          <a:xfrm>
            <a:off x="11316614" y="2675534"/>
            <a:ext cx="1051560" cy="2162556"/>
          </a:xfrm>
          <a:prstGeom prst="ellipse">
            <a:avLst/>
          </a:prstGeom>
          <a:solidFill>
            <a:srgbClr val="387F7F"/>
          </a:solidFill>
          <a:ln/>
        </p:spPr>
      </p:sp>
      <p:sp>
        <p:nvSpPr>
          <p:cNvPr id="4" name="Shape 2"/>
          <p:cNvSpPr/>
          <p:nvPr/>
        </p:nvSpPr>
        <p:spPr>
          <a:xfrm>
            <a:off x="685800" y="548640"/>
            <a:ext cx="68580" cy="777240"/>
          </a:xfrm>
          <a:prstGeom prst="rect">
            <a:avLst/>
          </a:prstGeom>
          <a:solidFill>
            <a:srgbClr val="387F7F"/>
          </a:solidFill>
          <a:ln/>
        </p:spPr>
      </p:sp>
      <p:sp>
        <p:nvSpPr>
          <p:cNvPr id="5" name="Text 3"/>
          <p:cNvSpPr txBox="1"/>
          <p:nvPr/>
        </p:nvSpPr>
        <p:spPr>
          <a:xfrm>
            <a:off x="886968" y="502920"/>
            <a:ext cx="9692640" cy="868680"/>
          </a:xfrm>
          <a:prstGeom prst="rect">
            <a:avLst/>
          </a:prstGeom>
          <a:noFill/>
          <a:ln/>
        </p:spPr>
        <p:txBody>
          <a:bodyPr wrap="square" lIns="0" tIns="0" rIns="0" bIns="0" rtlCol="0" anchor="ctr"/>
          <a:lstStyle/>
          <a:p>
            <a:pPr indent="0" marL="0">
              <a:lnSpc>
                <a:spcPct val="108000"/>
              </a:lnSpc>
              <a:buNone/>
            </a:pPr>
            <a:r>
              <a:rPr lang="en-US" sz="2400" dirty="0">
                <a:solidFill>
                  <a:srgbClr val="387F7F"/>
                </a:solidFill>
                <a:latin typeface="Poppins" pitchFamily="34" charset="0"/>
                <a:ea typeface="Poppins" pitchFamily="34" charset="-122"/>
                <a:cs typeface="Poppins" pitchFamily="34" charset="-120"/>
              </a:rPr>
              <a:t>The question that separates a pipeline from a clean-up</a:t>
            </a:r>
            <a:endParaRPr lang="en-US" sz="2400" dirty="0"/>
          </a:p>
        </p:txBody>
      </p:sp>
      <p:sp>
        <p:nvSpPr>
          <p:cNvPr id="6" name="Shape 4"/>
          <p:cNvSpPr/>
          <p:nvPr/>
        </p:nvSpPr>
        <p:spPr>
          <a:xfrm>
            <a:off x="685800" y="1600200"/>
            <a:ext cx="9829800" cy="1051560"/>
          </a:xfrm>
          <a:prstGeom prst="roundRect">
            <a:avLst>
              <a:gd name="adj" fmla="val 7826"/>
            </a:avLst>
          </a:prstGeom>
          <a:solidFill>
            <a:srgbClr val="FFFFFF"/>
          </a:solidFill>
          <a:ln/>
          <a:effectLst>
            <a:outerShdw sx="100000" sy="100000" kx="0" ky="0" algn="bl" rotWithShape="0" blurRad="127000" dist="25400" dir="5400000">
              <a:srgbClr val="1B2A2E">
                <a:alpha val="12000"/>
              </a:srgbClr>
            </a:outerShdw>
          </a:effectLst>
        </p:spPr>
      </p:sp>
      <p:sp>
        <p:nvSpPr>
          <p:cNvPr id="7" name="Text 5"/>
          <p:cNvSpPr txBox="1"/>
          <p:nvPr/>
        </p:nvSpPr>
        <p:spPr>
          <a:xfrm>
            <a:off x="1005840" y="1600200"/>
            <a:ext cx="9189720" cy="1051560"/>
          </a:xfrm>
          <a:prstGeom prst="rect">
            <a:avLst/>
          </a:prstGeom>
          <a:noFill/>
          <a:ln/>
        </p:spPr>
        <p:txBody>
          <a:bodyPr wrap="square" lIns="0" tIns="0" rIns="0" bIns="0" rtlCol="0" anchor="ctr"/>
          <a:lstStyle/>
          <a:p>
            <a:pPr algn="l" indent="0" marL="0">
              <a:lnSpc>
                <a:spcPct val="135000"/>
              </a:lnSpc>
              <a:buNone/>
            </a:pPr>
            <a:r>
              <a:rPr lang="en-US" sz="1650" b="1" dirty="0">
                <a:solidFill>
                  <a:srgbClr val="0A1A23"/>
                </a:solidFill>
                <a:latin typeface="Poppins" pitchFamily="34" charset="0"/>
                <a:ea typeface="Poppins" pitchFamily="34" charset="-122"/>
                <a:cs typeface="Poppins" pitchFamily="34" charset="-120"/>
              </a:rPr>
              <a:t>Next month Adaeze sends a new file: same columns, different rows. You press Refresh. What survives?</a:t>
            </a:r>
            <a:endParaRPr lang="en-US" sz="1650" dirty="0"/>
          </a:p>
        </p:txBody>
      </p:sp>
      <p:sp>
        <p:nvSpPr>
          <p:cNvPr id="8" name="Shape 6"/>
          <p:cNvSpPr/>
          <p:nvPr/>
        </p:nvSpPr>
        <p:spPr>
          <a:xfrm>
            <a:off x="685800" y="2834640"/>
            <a:ext cx="4709160" cy="1965960"/>
          </a:xfrm>
          <a:prstGeom prst="roundRect">
            <a:avLst>
              <a:gd name="adj" fmla="val 4651"/>
            </a:avLst>
          </a:prstGeom>
          <a:solidFill>
            <a:srgbClr val="FFFFFF"/>
          </a:solidFill>
          <a:ln/>
          <a:effectLst>
            <a:outerShdw sx="100000" sy="100000" kx="0" ky="0" algn="bl" rotWithShape="0" blurRad="152400" dist="38100" dir="5400000">
              <a:srgbClr val="1B2A2E">
                <a:alpha val="14000"/>
              </a:srgbClr>
            </a:outerShdw>
          </a:effectLst>
        </p:spPr>
      </p:sp>
      <p:sp>
        <p:nvSpPr>
          <p:cNvPr id="9" name="Shape 7"/>
          <p:cNvSpPr/>
          <p:nvPr/>
        </p:nvSpPr>
        <p:spPr>
          <a:xfrm>
            <a:off x="685800" y="2834640"/>
            <a:ext cx="4709160" cy="82296"/>
          </a:xfrm>
          <a:prstGeom prst="rect">
            <a:avLst/>
          </a:prstGeom>
          <a:solidFill>
            <a:srgbClr val="387F7F"/>
          </a:solidFill>
          <a:ln/>
        </p:spPr>
      </p:sp>
      <p:sp>
        <p:nvSpPr>
          <p:cNvPr id="10" name="Text 8"/>
          <p:cNvSpPr txBox="1"/>
          <p:nvPr/>
        </p:nvSpPr>
        <p:spPr>
          <a:xfrm>
            <a:off x="685800" y="2999232"/>
            <a:ext cx="4709160" cy="292608"/>
          </a:xfrm>
          <a:prstGeom prst="rect">
            <a:avLst/>
          </a:prstGeom>
          <a:noFill/>
          <a:ln/>
        </p:spPr>
        <p:txBody>
          <a:bodyPr wrap="square" lIns="0" tIns="0" rIns="0" bIns="0" rtlCol="0" anchor="ctr"/>
          <a:lstStyle/>
          <a:p>
            <a:pPr algn="ctr" indent="0" marL="0">
              <a:buNone/>
            </a:pPr>
            <a:r>
              <a:rPr lang="en-US" sz="1100" b="1" spc="150" kern="0" dirty="0">
                <a:solidFill>
                  <a:srgbClr val="387F7F"/>
                </a:solidFill>
                <a:latin typeface="Poppins" pitchFamily="34" charset="0"/>
                <a:ea typeface="Poppins" pitchFamily="34" charset="-122"/>
                <a:cs typeface="Poppins" pitchFamily="34" charset="-120"/>
              </a:rPr>
              <a:t>A RULE</a:t>
            </a:r>
            <a:endParaRPr lang="en-US" sz="1100" dirty="0"/>
          </a:p>
        </p:txBody>
      </p:sp>
      <p:sp>
        <p:nvSpPr>
          <p:cNvPr id="11" name="Shape 9"/>
          <p:cNvSpPr/>
          <p:nvPr/>
        </p:nvSpPr>
        <p:spPr>
          <a:xfrm>
            <a:off x="960120" y="3364992"/>
            <a:ext cx="4160520" cy="457200"/>
          </a:xfrm>
          <a:prstGeom prst="roundRect">
            <a:avLst>
              <a:gd name="adj" fmla="val 12000"/>
            </a:avLst>
          </a:prstGeom>
          <a:solidFill>
            <a:srgbClr val="EEF4F4"/>
          </a:solidFill>
          <a:ln/>
        </p:spPr>
      </p:sp>
      <p:sp>
        <p:nvSpPr>
          <p:cNvPr id="12" name="Text 10"/>
          <p:cNvSpPr txBox="1"/>
          <p:nvPr/>
        </p:nvSpPr>
        <p:spPr>
          <a:xfrm>
            <a:off x="1051560" y="3364992"/>
            <a:ext cx="3977640" cy="457200"/>
          </a:xfrm>
          <a:prstGeom prst="rect">
            <a:avLst/>
          </a:prstGeom>
          <a:noFill/>
          <a:ln/>
        </p:spPr>
        <p:txBody>
          <a:bodyPr wrap="square" lIns="0" tIns="0" rIns="0" bIns="0" rtlCol="0" anchor="ctr"/>
          <a:lstStyle/>
          <a:p>
            <a:pPr algn="ctr" indent="0" marL="0">
              <a:buNone/>
            </a:pPr>
            <a:r>
              <a:rPr lang="en-US" sz="1100" dirty="0">
                <a:solidFill>
                  <a:srgbClr val="0A1A23"/>
                </a:solidFill>
                <a:latin typeface="Roboto Mono" pitchFamily="34" charset="0"/>
                <a:ea typeface="Roboto Mono" pitchFamily="34" charset="-122"/>
                <a:cs typeface="Roboto Mono" pitchFamily="34" charset="-120"/>
              </a:rPr>
              <a:t>“Remove rows where CustomerID is blank”</a:t>
            </a:r>
            <a:endParaRPr lang="en-US" sz="1100" dirty="0"/>
          </a:p>
        </p:txBody>
      </p:sp>
      <p:sp>
        <p:nvSpPr>
          <p:cNvPr id="13" name="Text 11"/>
          <p:cNvSpPr txBox="1"/>
          <p:nvPr/>
        </p:nvSpPr>
        <p:spPr>
          <a:xfrm>
            <a:off x="1005840" y="3950208"/>
            <a:ext cx="4069080" cy="777240"/>
          </a:xfrm>
          <a:prstGeom prst="rect">
            <a:avLst/>
          </a:prstGeom>
          <a:noFill/>
          <a:ln/>
        </p:spPr>
        <p:txBody>
          <a:bodyPr wrap="square" lIns="0" tIns="0" rIns="0" bIns="0" rtlCol="0" anchor="t"/>
          <a:lstStyle/>
          <a:p>
            <a:pPr algn="ctr" indent="0" marL="0">
              <a:lnSpc>
                <a:spcPct val="125000"/>
              </a:lnSpc>
              <a:buNone/>
            </a:pPr>
            <a:r>
              <a:rPr lang="en-US" sz="1200" dirty="0">
                <a:solidFill>
                  <a:srgbClr val="475569"/>
                </a:solidFill>
                <a:latin typeface="Poppins" pitchFamily="34" charset="0"/>
                <a:ea typeface="Poppins" pitchFamily="34" charset="-122"/>
                <a:cs typeface="Poppins" pitchFamily="34" charset="-120"/>
              </a:rPr>
              <a:t>Describes a condition. True of any file. Survives the refresh.</a:t>
            </a:r>
            <a:endParaRPr lang="en-US" sz="1200" dirty="0"/>
          </a:p>
        </p:txBody>
      </p:sp>
      <p:sp>
        <p:nvSpPr>
          <p:cNvPr id="14" name="Shape 12"/>
          <p:cNvSpPr/>
          <p:nvPr/>
        </p:nvSpPr>
        <p:spPr>
          <a:xfrm>
            <a:off x="5806440" y="2834640"/>
            <a:ext cx="4709160" cy="1965960"/>
          </a:xfrm>
          <a:prstGeom prst="roundRect">
            <a:avLst>
              <a:gd name="adj" fmla="val 4651"/>
            </a:avLst>
          </a:prstGeom>
          <a:solidFill>
            <a:srgbClr val="FFFFFF"/>
          </a:solidFill>
          <a:ln/>
          <a:effectLst>
            <a:outerShdw sx="100000" sy="100000" kx="0" ky="0" algn="bl" rotWithShape="0" blurRad="152400" dist="38100" dir="5400000">
              <a:srgbClr val="1B2A2E">
                <a:alpha val="14000"/>
              </a:srgbClr>
            </a:outerShdw>
          </a:effectLst>
        </p:spPr>
      </p:sp>
      <p:sp>
        <p:nvSpPr>
          <p:cNvPr id="15" name="Shape 13"/>
          <p:cNvSpPr/>
          <p:nvPr/>
        </p:nvSpPr>
        <p:spPr>
          <a:xfrm>
            <a:off x="5806440" y="2834640"/>
            <a:ext cx="4709160" cy="82296"/>
          </a:xfrm>
          <a:prstGeom prst="rect">
            <a:avLst/>
          </a:prstGeom>
          <a:solidFill>
            <a:srgbClr val="A8322D"/>
          </a:solidFill>
          <a:ln/>
        </p:spPr>
      </p:sp>
      <p:sp>
        <p:nvSpPr>
          <p:cNvPr id="16" name="Text 14"/>
          <p:cNvSpPr txBox="1"/>
          <p:nvPr/>
        </p:nvSpPr>
        <p:spPr>
          <a:xfrm>
            <a:off x="5806440" y="2999232"/>
            <a:ext cx="4709160" cy="292608"/>
          </a:xfrm>
          <a:prstGeom prst="rect">
            <a:avLst/>
          </a:prstGeom>
          <a:noFill/>
          <a:ln/>
        </p:spPr>
        <p:txBody>
          <a:bodyPr wrap="square" lIns="0" tIns="0" rIns="0" bIns="0" rtlCol="0" anchor="ctr"/>
          <a:lstStyle/>
          <a:p>
            <a:pPr algn="ctr" indent="0" marL="0">
              <a:buNone/>
            </a:pPr>
            <a:r>
              <a:rPr lang="en-US" sz="1100" b="1" spc="150" kern="0" dirty="0">
                <a:solidFill>
                  <a:srgbClr val="A8322D"/>
                </a:solidFill>
                <a:latin typeface="Poppins" pitchFamily="34" charset="0"/>
                <a:ea typeface="Poppins" pitchFamily="34" charset="-122"/>
                <a:cs typeface="Poppins" pitchFamily="34" charset="-120"/>
              </a:rPr>
              <a:t>AN EDIT</a:t>
            </a:r>
            <a:endParaRPr lang="en-US" sz="1100" dirty="0"/>
          </a:p>
        </p:txBody>
      </p:sp>
      <p:sp>
        <p:nvSpPr>
          <p:cNvPr id="17" name="Shape 15"/>
          <p:cNvSpPr/>
          <p:nvPr/>
        </p:nvSpPr>
        <p:spPr>
          <a:xfrm>
            <a:off x="6080760" y="3364992"/>
            <a:ext cx="4160520" cy="457200"/>
          </a:xfrm>
          <a:prstGeom prst="roundRect">
            <a:avLst>
              <a:gd name="adj" fmla="val 12000"/>
            </a:avLst>
          </a:prstGeom>
          <a:solidFill>
            <a:srgbClr val="EEF4F4"/>
          </a:solidFill>
          <a:ln/>
        </p:spPr>
      </p:sp>
      <p:sp>
        <p:nvSpPr>
          <p:cNvPr id="18" name="Text 16"/>
          <p:cNvSpPr txBox="1"/>
          <p:nvPr/>
        </p:nvSpPr>
        <p:spPr>
          <a:xfrm>
            <a:off x="6172200" y="3364992"/>
            <a:ext cx="3977640" cy="457200"/>
          </a:xfrm>
          <a:prstGeom prst="rect">
            <a:avLst/>
          </a:prstGeom>
          <a:noFill/>
          <a:ln/>
        </p:spPr>
        <p:txBody>
          <a:bodyPr wrap="square" lIns="0" tIns="0" rIns="0" bIns="0" rtlCol="0" anchor="ctr"/>
          <a:lstStyle/>
          <a:p>
            <a:pPr algn="ctr" indent="0" marL="0">
              <a:buNone/>
            </a:pPr>
            <a:r>
              <a:rPr lang="en-US" sz="1100" dirty="0">
                <a:solidFill>
                  <a:srgbClr val="0A1A23"/>
                </a:solidFill>
                <a:latin typeface="Roboto Mono" pitchFamily="34" charset="0"/>
                <a:ea typeface="Roboto Mono" pitchFamily="34" charset="-122"/>
                <a:cs typeface="Roboto Mono" pitchFamily="34" charset="-120"/>
              </a:rPr>
              <a:t>“Delete rows 412 to 415”</a:t>
            </a:r>
            <a:endParaRPr lang="en-US" sz="1100" dirty="0"/>
          </a:p>
        </p:txBody>
      </p:sp>
      <p:sp>
        <p:nvSpPr>
          <p:cNvPr id="19" name="Text 17"/>
          <p:cNvSpPr txBox="1"/>
          <p:nvPr/>
        </p:nvSpPr>
        <p:spPr>
          <a:xfrm>
            <a:off x="6126480" y="3950208"/>
            <a:ext cx="4069080" cy="777240"/>
          </a:xfrm>
          <a:prstGeom prst="rect">
            <a:avLst/>
          </a:prstGeom>
          <a:noFill/>
          <a:ln/>
        </p:spPr>
        <p:txBody>
          <a:bodyPr wrap="square" lIns="0" tIns="0" rIns="0" bIns="0" rtlCol="0" anchor="t"/>
          <a:lstStyle/>
          <a:p>
            <a:pPr algn="ctr" indent="0" marL="0">
              <a:lnSpc>
                <a:spcPct val="125000"/>
              </a:lnSpc>
              <a:buNone/>
            </a:pPr>
            <a:r>
              <a:rPr lang="en-US" sz="1200" dirty="0">
                <a:solidFill>
                  <a:srgbClr val="475569"/>
                </a:solidFill>
                <a:latin typeface="Poppins" pitchFamily="34" charset="0"/>
                <a:ea typeface="Poppins" pitchFamily="34" charset="-122"/>
                <a:cs typeface="Poppins" pitchFamily="34" charset="-120"/>
              </a:rPr>
              <a:t>Describes a position. True of this file only. Next month it silently deletes four innocent deliveries.</a:t>
            </a:r>
            <a:endParaRPr lang="en-US" sz="1200" dirty="0"/>
          </a:p>
        </p:txBody>
      </p:sp>
      <p:sp>
        <p:nvSpPr>
          <p:cNvPr id="20" name="Shape 18"/>
          <p:cNvSpPr/>
          <p:nvPr/>
        </p:nvSpPr>
        <p:spPr>
          <a:xfrm>
            <a:off x="685800" y="5029200"/>
            <a:ext cx="9829800" cy="914400"/>
          </a:xfrm>
          <a:prstGeom prst="roundRect">
            <a:avLst>
              <a:gd name="adj" fmla="val 9000"/>
            </a:avLst>
          </a:prstGeom>
          <a:solidFill>
            <a:srgbClr val="EEF4F4"/>
          </a:solidFill>
          <a:ln/>
        </p:spPr>
      </p:sp>
      <p:sp>
        <p:nvSpPr>
          <p:cNvPr id="21" name="Shape 19"/>
          <p:cNvSpPr/>
          <p:nvPr/>
        </p:nvSpPr>
        <p:spPr>
          <a:xfrm>
            <a:off x="685800" y="5029200"/>
            <a:ext cx="68580" cy="914400"/>
          </a:xfrm>
          <a:prstGeom prst="rect">
            <a:avLst/>
          </a:prstGeom>
          <a:solidFill>
            <a:srgbClr val="387F7F"/>
          </a:solidFill>
          <a:ln/>
        </p:spPr>
      </p:sp>
      <p:sp>
        <p:nvSpPr>
          <p:cNvPr id="22" name="Text 20"/>
          <p:cNvSpPr txBox="1"/>
          <p:nvPr/>
        </p:nvSpPr>
        <p:spPr>
          <a:xfrm>
            <a:off x="1051560" y="5029200"/>
            <a:ext cx="9235440" cy="914400"/>
          </a:xfrm>
          <a:prstGeom prst="rect">
            <a:avLst/>
          </a:prstGeom>
          <a:noFill/>
          <a:ln/>
        </p:spPr>
        <p:txBody>
          <a:bodyPr wrap="square" lIns="0" tIns="0" rIns="0" bIns="0" rtlCol="0" anchor="ctr"/>
          <a:lstStyle/>
          <a:p>
            <a:pPr algn="l" indent="0" marL="0">
              <a:lnSpc>
                <a:spcPct val="135000"/>
              </a:lnSpc>
              <a:buNone/>
            </a:pPr>
            <a:r>
              <a:rPr lang="en-US" sz="1900" b="1" dirty="0">
                <a:solidFill>
                  <a:srgbClr val="387F7F"/>
                </a:solidFill>
                <a:latin typeface="Poppins" pitchFamily="34" charset="0"/>
                <a:ea typeface="Poppins" pitchFamily="34" charset="-122"/>
                <a:cs typeface="Poppins" pitchFamily="34" charset="-120"/>
              </a:rPr>
              <a:t>Write rules, not edits.</a:t>
            </a:r>
            <a:endParaRPr lang="en-US" sz="1900" dirty="0"/>
          </a:p>
        </p:txBody>
      </p:sp>
      <p:pic>
        <p:nvPicPr>
          <p:cNvPr id="23" name="Image 0" descr="/home/claude/build/assets/logo_full.png">    </p:cNvPr>
          <p:cNvPicPr>
            <a:picLocks noChangeAspect="1"/>
          </p:cNvPicPr>
          <p:nvPr/>
        </p:nvPicPr>
        <p:blipFill>
          <a:blip r:embed="rId2"/>
          <a:stretch>
            <a:fillRect/>
          </a:stretch>
        </p:blipFill>
        <p:spPr>
          <a:xfrm>
            <a:off x="10998403" y="5949086"/>
            <a:ext cx="431597" cy="375337"/>
          </a:xfrm>
          <a:prstGeom prst="rect">
            <a:avLst/>
          </a:prstGeom>
        </p:spPr>
      </p:pic>
      <p:sp>
        <p:nvSpPr>
          <p:cNvPr id="24" name="Text 21"/>
          <p:cNvSpPr txBox="1"/>
          <p:nvPr/>
        </p:nvSpPr>
        <p:spPr>
          <a:xfrm>
            <a:off x="11689050" y="6473952"/>
            <a:ext cx="365760" cy="274320"/>
          </a:xfrm>
          <a:prstGeom prst="rect">
            <a:avLst/>
          </a:prstGeom>
          <a:noFill/>
          <a:ln/>
        </p:spPr>
        <p:txBody>
          <a:bodyPr wrap="square" lIns="0" tIns="0" rIns="0" bIns="0" rtlCol="0" anchor="ctr"/>
          <a:lstStyle/>
          <a:p>
            <a:pPr algn="r" indent="0" marL="0">
              <a:buNone/>
            </a:pPr>
            <a:r>
              <a:rPr lang="en-US" sz="1100" dirty="0">
                <a:solidFill>
                  <a:srgbClr val="64748B"/>
                </a:solidFill>
                <a:latin typeface="Poppins" pitchFamily="34" charset="0"/>
                <a:ea typeface="Poppins" pitchFamily="34" charset="-122"/>
                <a:cs typeface="Poppins" pitchFamily="34" charset="-120"/>
              </a:rPr>
              <a:t>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1024006" y="1958645"/>
            <a:ext cx="4133088" cy="4038905"/>
          </a:xfrm>
          <a:prstGeom prst="ellipse">
            <a:avLst/>
          </a:prstGeom>
          <a:solidFill>
            <a:srgbClr val="387F7F"/>
          </a:solidFill>
          <a:ln/>
        </p:spPr>
      </p:sp>
      <p:sp>
        <p:nvSpPr>
          <p:cNvPr id="3" name="Shape 1"/>
          <p:cNvSpPr/>
          <p:nvPr/>
        </p:nvSpPr>
        <p:spPr>
          <a:xfrm>
            <a:off x="11316614" y="2675534"/>
            <a:ext cx="1051560" cy="2162556"/>
          </a:xfrm>
          <a:prstGeom prst="ellipse">
            <a:avLst/>
          </a:prstGeom>
          <a:solidFill>
            <a:srgbClr val="387F7F"/>
          </a:solidFill>
          <a:ln/>
        </p:spPr>
      </p:sp>
      <p:sp>
        <p:nvSpPr>
          <p:cNvPr id="4" name="Shape 2"/>
          <p:cNvSpPr/>
          <p:nvPr/>
        </p:nvSpPr>
        <p:spPr>
          <a:xfrm>
            <a:off x="685800" y="502920"/>
            <a:ext cx="10817352" cy="1234440"/>
          </a:xfrm>
          <a:prstGeom prst="roundRect">
            <a:avLst>
              <a:gd name="adj" fmla="val 10370"/>
            </a:avLst>
          </a:prstGeom>
          <a:solidFill>
            <a:srgbClr val="20494A"/>
          </a:solidFill>
          <a:ln/>
        </p:spPr>
      </p:sp>
      <p:sp>
        <p:nvSpPr>
          <p:cNvPr id="5" name="Shape 3"/>
          <p:cNvSpPr/>
          <p:nvPr/>
        </p:nvSpPr>
        <p:spPr>
          <a:xfrm>
            <a:off x="685800" y="640080"/>
            <a:ext cx="82296" cy="960120"/>
          </a:xfrm>
          <a:prstGeom prst="rect">
            <a:avLst/>
          </a:prstGeom>
          <a:solidFill>
            <a:srgbClr val="387F7F"/>
          </a:solidFill>
          <a:ln/>
        </p:spPr>
      </p:sp>
      <p:sp>
        <p:nvSpPr>
          <p:cNvPr id="6" name="Text 4"/>
          <p:cNvSpPr txBox="1"/>
          <p:nvPr/>
        </p:nvSpPr>
        <p:spPr>
          <a:xfrm>
            <a:off x="960120" y="658368"/>
            <a:ext cx="5486400" cy="292608"/>
          </a:xfrm>
          <a:prstGeom prst="rect">
            <a:avLst/>
          </a:prstGeom>
          <a:noFill/>
          <a:ln/>
        </p:spPr>
        <p:txBody>
          <a:bodyPr wrap="square" lIns="0" tIns="0" rIns="0" bIns="0" rtlCol="0" anchor="ctr"/>
          <a:lstStyle/>
          <a:p>
            <a:pPr indent="0" marL="0">
              <a:buNone/>
            </a:pPr>
            <a:r>
              <a:rPr lang="en-US" sz="1200" b="1" spc="200" kern="0" dirty="0">
                <a:solidFill>
                  <a:srgbClr val="8FBEBE"/>
                </a:solidFill>
                <a:latin typeface="Poppins" pitchFamily="34" charset="0"/>
                <a:ea typeface="Poppins" pitchFamily="34" charset="-122"/>
                <a:cs typeface="Poppins" pitchFamily="34" charset="-120"/>
              </a:rPr>
              <a:t>YOUR TURN</a:t>
            </a:r>
            <a:endParaRPr lang="en-US" sz="1200" dirty="0"/>
          </a:p>
        </p:txBody>
      </p:sp>
      <p:sp>
        <p:nvSpPr>
          <p:cNvPr id="7" name="Text 5"/>
          <p:cNvSpPr txBox="1"/>
          <p:nvPr/>
        </p:nvSpPr>
        <p:spPr>
          <a:xfrm>
            <a:off x="960120" y="932688"/>
            <a:ext cx="7863840" cy="658368"/>
          </a:xfrm>
          <a:prstGeom prst="rect">
            <a:avLst/>
          </a:prstGeom>
          <a:noFill/>
          <a:ln/>
        </p:spPr>
        <p:txBody>
          <a:bodyPr wrap="square" lIns="0" tIns="0" rIns="0" bIns="0" rtlCol="0" anchor="ctr"/>
          <a:lstStyle/>
          <a:p>
            <a:pPr indent="0" marL="0">
              <a:buNone/>
            </a:pPr>
            <a:r>
              <a:rPr lang="en-US" sz="2700" b="1" dirty="0">
                <a:solidFill>
                  <a:srgbClr val="FFFFFF"/>
                </a:solidFill>
                <a:latin typeface="Poppins" pitchFamily="34" charset="0"/>
                <a:ea typeface="Poppins" pitchFamily="34" charset="-122"/>
                <a:cs typeface="Poppins" pitchFamily="34" charset="-120"/>
              </a:rPr>
              <a:t>Load routes.csv</a:t>
            </a:r>
            <a:endParaRPr lang="en-US" sz="2700" dirty="0"/>
          </a:p>
        </p:txBody>
      </p:sp>
      <p:sp>
        <p:nvSpPr>
          <p:cNvPr id="8" name="Shape 6"/>
          <p:cNvSpPr/>
          <p:nvPr/>
        </p:nvSpPr>
        <p:spPr>
          <a:xfrm>
            <a:off x="10058400" y="868680"/>
            <a:ext cx="1234440" cy="502920"/>
          </a:xfrm>
          <a:prstGeom prst="roundRect">
            <a:avLst>
              <a:gd name="adj" fmla="val 49091"/>
            </a:avLst>
          </a:prstGeom>
          <a:solidFill>
            <a:srgbClr val="387F7F"/>
          </a:solidFill>
          <a:ln/>
        </p:spPr>
      </p:sp>
      <p:sp>
        <p:nvSpPr>
          <p:cNvPr id="9" name="Text 7"/>
          <p:cNvSpPr txBox="1"/>
          <p:nvPr/>
        </p:nvSpPr>
        <p:spPr>
          <a:xfrm>
            <a:off x="10058400" y="868680"/>
            <a:ext cx="123444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Poppins" pitchFamily="34" charset="0"/>
                <a:ea typeface="Poppins" pitchFamily="34" charset="-122"/>
                <a:cs typeface="Poppins" pitchFamily="34" charset="-120"/>
              </a:rPr>
              <a:t>8 min</a:t>
            </a:r>
            <a:endParaRPr lang="en-US" sz="1400" dirty="0"/>
          </a:p>
        </p:txBody>
      </p:sp>
      <p:sp>
        <p:nvSpPr>
          <p:cNvPr id="10" name="Shape 8"/>
          <p:cNvSpPr/>
          <p:nvPr/>
        </p:nvSpPr>
        <p:spPr>
          <a:xfrm>
            <a:off x="685800" y="2057400"/>
            <a:ext cx="10424160" cy="1463040"/>
          </a:xfrm>
          <a:prstGeom prst="roundRect">
            <a:avLst>
              <a:gd name="adj" fmla="val 6250"/>
            </a:avLst>
          </a:prstGeom>
          <a:solidFill>
            <a:srgbClr val="FFFFFF"/>
          </a:solidFill>
          <a:ln/>
          <a:effectLst>
            <a:outerShdw sx="100000" sy="100000" kx="0" ky="0" algn="bl" rotWithShape="0" blurRad="152400" dist="38100" dir="5400000">
              <a:srgbClr val="1B2A2E">
                <a:alpha val="14000"/>
              </a:srgbClr>
            </a:outerShdw>
          </a:effectLst>
        </p:spPr>
      </p:sp>
      <p:sp>
        <p:nvSpPr>
          <p:cNvPr id="11" name="Shape 9"/>
          <p:cNvSpPr/>
          <p:nvPr/>
        </p:nvSpPr>
        <p:spPr>
          <a:xfrm>
            <a:off x="685800" y="2057400"/>
            <a:ext cx="82296" cy="1463040"/>
          </a:xfrm>
          <a:prstGeom prst="rect">
            <a:avLst/>
          </a:prstGeom>
          <a:solidFill>
            <a:srgbClr val="387F7F"/>
          </a:solidFill>
          <a:ln/>
        </p:spPr>
      </p:sp>
      <p:sp>
        <p:nvSpPr>
          <p:cNvPr id="12" name="Text 10"/>
          <p:cNvSpPr txBox="1"/>
          <p:nvPr/>
        </p:nvSpPr>
        <p:spPr>
          <a:xfrm>
            <a:off x="1005840" y="2240280"/>
            <a:ext cx="9601200" cy="274320"/>
          </a:xfrm>
          <a:prstGeom prst="rect">
            <a:avLst/>
          </a:prstGeom>
          <a:noFill/>
          <a:ln/>
        </p:spPr>
        <p:txBody>
          <a:bodyPr wrap="square" lIns="0" tIns="0" rIns="0" bIns="0" rtlCol="0" anchor="ctr"/>
          <a:lstStyle/>
          <a:p>
            <a:pPr indent="0" marL="0">
              <a:buNone/>
            </a:pPr>
            <a:r>
              <a:rPr lang="en-US" sz="1100" b="1" dirty="0">
                <a:solidFill>
                  <a:srgbClr val="387F7F"/>
                </a:solidFill>
                <a:latin typeface="Poppins" pitchFamily="34" charset="0"/>
                <a:ea typeface="Poppins" pitchFamily="34" charset="-122"/>
                <a:cs typeface="Poppins" pitchFamily="34" charset="-120"/>
              </a:rPr>
              <a:t>THE TASK</a:t>
            </a:r>
            <a:endParaRPr lang="en-US" sz="1100" dirty="0"/>
          </a:p>
        </p:txBody>
      </p:sp>
      <p:sp>
        <p:nvSpPr>
          <p:cNvPr id="13" name="Text 11"/>
          <p:cNvSpPr txBox="1"/>
          <p:nvPr/>
        </p:nvSpPr>
        <p:spPr>
          <a:xfrm>
            <a:off x="1005840" y="2560320"/>
            <a:ext cx="9875520" cy="868680"/>
          </a:xfrm>
          <a:prstGeom prst="rect">
            <a:avLst/>
          </a:prstGeom>
          <a:noFill/>
          <a:ln/>
        </p:spPr>
        <p:txBody>
          <a:bodyPr wrap="square" lIns="0" tIns="0" rIns="0" bIns="0" rtlCol="0" anchor="t"/>
          <a:lstStyle/>
          <a:p>
            <a:pPr algn="l" indent="0" marL="0">
              <a:lnSpc>
                <a:spcPct val="135000"/>
              </a:lnSpc>
              <a:buNone/>
            </a:pPr>
            <a:r>
              <a:rPr lang="en-US" sz="1600" dirty="0">
                <a:solidFill>
                  <a:srgbClr val="475569"/>
                </a:solidFill>
                <a:latin typeface="Poppins" pitchFamily="34" charset="0"/>
                <a:ea typeface="Poppins" pitchFamily="34" charset="-122"/>
                <a:cs typeface="Poppins" pitchFamily="34" charset="-120"/>
              </a:rPr>
              <a:t>Load routes.csv into Power BI through Power Query. Set RouteID to Text, DistanceKm to Decimal number, and trim whitespace on RouteID. Close and apply.</a:t>
            </a:r>
            <a:endParaRPr lang="en-US" sz="1600" dirty="0"/>
          </a:p>
        </p:txBody>
      </p:sp>
      <p:sp>
        <p:nvSpPr>
          <p:cNvPr id="14" name="Shape 12"/>
          <p:cNvSpPr/>
          <p:nvPr/>
        </p:nvSpPr>
        <p:spPr>
          <a:xfrm>
            <a:off x="685800" y="3703320"/>
            <a:ext cx="10424160" cy="1417320"/>
          </a:xfrm>
          <a:prstGeom prst="roundRect">
            <a:avLst>
              <a:gd name="adj" fmla="val 5806"/>
            </a:avLst>
          </a:prstGeom>
          <a:solidFill>
            <a:srgbClr val="EEF4F4"/>
          </a:solidFill>
          <a:ln/>
        </p:spPr>
      </p:sp>
      <p:sp>
        <p:nvSpPr>
          <p:cNvPr id="15" name="Shape 13"/>
          <p:cNvSpPr/>
          <p:nvPr/>
        </p:nvSpPr>
        <p:spPr>
          <a:xfrm>
            <a:off x="685800" y="3703320"/>
            <a:ext cx="82296" cy="1417320"/>
          </a:xfrm>
          <a:prstGeom prst="rect">
            <a:avLst/>
          </a:prstGeom>
          <a:solidFill>
            <a:srgbClr val="9BB7B7"/>
          </a:solidFill>
          <a:ln/>
        </p:spPr>
      </p:sp>
      <p:sp>
        <p:nvSpPr>
          <p:cNvPr id="16" name="Text 14"/>
          <p:cNvSpPr txBox="1"/>
          <p:nvPr/>
        </p:nvSpPr>
        <p:spPr>
          <a:xfrm>
            <a:off x="1005840" y="3886200"/>
            <a:ext cx="9601200" cy="292608"/>
          </a:xfrm>
          <a:prstGeom prst="rect">
            <a:avLst/>
          </a:prstGeom>
          <a:noFill/>
          <a:ln/>
        </p:spPr>
        <p:txBody>
          <a:bodyPr wrap="square" lIns="0" tIns="0" rIns="0" bIns="0" rtlCol="0" anchor="ctr"/>
          <a:lstStyle/>
          <a:p>
            <a:pPr indent="0" marL="0">
              <a:buNone/>
            </a:pPr>
            <a:r>
              <a:rPr lang="en-US" sz="1100" b="1" dirty="0">
                <a:solidFill>
                  <a:srgbClr val="20494A"/>
                </a:solidFill>
                <a:latin typeface="Poppins" pitchFamily="34" charset="0"/>
                <a:ea typeface="Poppins" pitchFamily="34" charset="-122"/>
                <a:cs typeface="Poppins" pitchFamily="34" charset="-120"/>
              </a:rPr>
              <a:t>EXPECTED OUTPUT</a:t>
            </a:r>
            <a:endParaRPr lang="en-US" sz="1100" dirty="0"/>
          </a:p>
        </p:txBody>
      </p:sp>
      <p:sp>
        <p:nvSpPr>
          <p:cNvPr id="17" name="Text 15"/>
          <p:cNvSpPr txBox="1"/>
          <p:nvPr/>
        </p:nvSpPr>
        <p:spPr>
          <a:xfrm>
            <a:off x="1005840" y="4206240"/>
            <a:ext cx="9875520" cy="822960"/>
          </a:xfrm>
          <a:prstGeom prst="rect">
            <a:avLst/>
          </a:prstGeom>
          <a:noFill/>
          <a:ln/>
        </p:spPr>
        <p:txBody>
          <a:bodyPr wrap="square" lIns="0" tIns="0" rIns="0" bIns="0" rtlCol="0" anchor="t"/>
          <a:lstStyle/>
          <a:p>
            <a:pPr algn="l" indent="0" marL="0">
              <a:lnSpc>
                <a:spcPct val="135000"/>
              </a:lnSpc>
              <a:buNone/>
            </a:pPr>
            <a:r>
              <a:rPr lang="en-US" sz="1400" dirty="0">
                <a:solidFill>
                  <a:srgbClr val="475569"/>
                </a:solidFill>
                <a:latin typeface="Poppins" pitchFamily="34" charset="0"/>
                <a:ea typeface="Poppins" pitchFamily="34" charset="-122"/>
                <a:cs typeface="Poppins" pitchFamily="34" charset="-120"/>
              </a:rPr>
              <a:t>24 rows, 6 columns, no error indicators in the Applied Steps pane, and RouteID showing the ABC text icon in the column header.</a:t>
            </a:r>
            <a:endParaRPr lang="en-US" sz="1400" dirty="0"/>
          </a:p>
        </p:txBody>
      </p:sp>
      <p:sp>
        <p:nvSpPr>
          <p:cNvPr id="18" name="Text 16"/>
          <p:cNvSpPr txBox="1"/>
          <p:nvPr/>
        </p:nvSpPr>
        <p:spPr>
          <a:xfrm>
            <a:off x="685800" y="5349240"/>
            <a:ext cx="10424160" cy="365760"/>
          </a:xfrm>
          <a:prstGeom prst="rect">
            <a:avLst/>
          </a:prstGeom>
          <a:noFill/>
          <a:ln/>
        </p:spPr>
        <p:txBody>
          <a:bodyPr wrap="square" lIns="0" tIns="0" rIns="0" bIns="0" rtlCol="0" anchor="t"/>
          <a:lstStyle/>
          <a:p>
            <a:pPr algn="ctr" indent="0" marL="0">
              <a:lnSpc>
                <a:spcPct val="135000"/>
              </a:lnSpc>
              <a:buNone/>
            </a:pPr>
            <a:r>
              <a:rPr lang="en-US" sz="1350" i="1" dirty="0">
                <a:solidFill>
                  <a:srgbClr val="64748B"/>
                </a:solidFill>
                <a:latin typeface="Poppins" pitchFamily="34" charset="0"/>
                <a:ea typeface="Poppins" pitchFamily="34" charset="-122"/>
                <a:cs typeface="Poppins" pitchFamily="34" charset="-120"/>
              </a:rPr>
              <a:t>Compare with the person next to you before you ask me.</a:t>
            </a:r>
            <a:endParaRPr lang="en-US" sz="1350" dirty="0"/>
          </a:p>
        </p:txBody>
      </p:sp>
      <p:pic>
        <p:nvPicPr>
          <p:cNvPr id="19" name="Image 0" descr="/home/claude/build/assets/logo_full.png">    </p:cNvPr>
          <p:cNvPicPr>
            <a:picLocks noChangeAspect="1"/>
          </p:cNvPicPr>
          <p:nvPr/>
        </p:nvPicPr>
        <p:blipFill>
          <a:blip r:embed="rId2"/>
          <a:stretch>
            <a:fillRect/>
          </a:stretch>
        </p:blipFill>
        <p:spPr>
          <a:xfrm>
            <a:off x="10998403" y="5949086"/>
            <a:ext cx="431597" cy="375337"/>
          </a:xfrm>
          <a:prstGeom prst="rect">
            <a:avLst/>
          </a:prstGeom>
        </p:spPr>
      </p:pic>
      <p:sp>
        <p:nvSpPr>
          <p:cNvPr id="20" name="Text 17"/>
          <p:cNvSpPr txBox="1"/>
          <p:nvPr/>
        </p:nvSpPr>
        <p:spPr>
          <a:xfrm>
            <a:off x="11689050" y="6473952"/>
            <a:ext cx="365760" cy="274320"/>
          </a:xfrm>
          <a:prstGeom prst="rect">
            <a:avLst/>
          </a:prstGeom>
          <a:noFill/>
          <a:ln/>
        </p:spPr>
        <p:txBody>
          <a:bodyPr wrap="square" lIns="0" tIns="0" rIns="0" bIns="0" rtlCol="0" anchor="ctr"/>
          <a:lstStyle/>
          <a:p>
            <a:pPr algn="r" indent="0" marL="0">
              <a:buNone/>
            </a:pPr>
            <a:r>
              <a:rPr lang="en-US" sz="1100" dirty="0">
                <a:solidFill>
                  <a:srgbClr val="64748B"/>
                </a:solidFill>
                <a:latin typeface="Poppins" pitchFamily="34" charset="0"/>
                <a:ea typeface="Poppins" pitchFamily="34" charset="-122"/>
                <a:cs typeface="Poppins" pitchFamily="34" charset="-120"/>
              </a:rPr>
              <a:t>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1024006" y="1958645"/>
            <a:ext cx="4133088" cy="4038905"/>
          </a:xfrm>
          <a:prstGeom prst="ellipse">
            <a:avLst/>
          </a:prstGeom>
          <a:solidFill>
            <a:srgbClr val="387F7F"/>
          </a:solidFill>
          <a:ln/>
        </p:spPr>
      </p:sp>
      <p:sp>
        <p:nvSpPr>
          <p:cNvPr id="3" name="Shape 1"/>
          <p:cNvSpPr/>
          <p:nvPr/>
        </p:nvSpPr>
        <p:spPr>
          <a:xfrm>
            <a:off x="11316614" y="2675534"/>
            <a:ext cx="1051560" cy="2162556"/>
          </a:xfrm>
          <a:prstGeom prst="ellipse">
            <a:avLst/>
          </a:prstGeom>
          <a:solidFill>
            <a:srgbClr val="387F7F"/>
          </a:solidFill>
          <a:ln/>
        </p:spPr>
      </p:sp>
      <p:sp>
        <p:nvSpPr>
          <p:cNvPr id="4" name="Shape 2"/>
          <p:cNvSpPr/>
          <p:nvPr/>
        </p:nvSpPr>
        <p:spPr>
          <a:xfrm>
            <a:off x="685800" y="548640"/>
            <a:ext cx="68580" cy="420624"/>
          </a:xfrm>
          <a:prstGeom prst="rect">
            <a:avLst/>
          </a:prstGeom>
          <a:solidFill>
            <a:srgbClr val="387F7F"/>
          </a:solidFill>
          <a:ln/>
        </p:spPr>
      </p:sp>
      <p:sp>
        <p:nvSpPr>
          <p:cNvPr id="5" name="Text 3"/>
          <p:cNvSpPr txBox="1"/>
          <p:nvPr/>
        </p:nvSpPr>
        <p:spPr>
          <a:xfrm>
            <a:off x="886968" y="502920"/>
            <a:ext cx="9692640" cy="502920"/>
          </a:xfrm>
          <a:prstGeom prst="rect">
            <a:avLst/>
          </a:prstGeom>
          <a:noFill/>
          <a:ln/>
        </p:spPr>
        <p:txBody>
          <a:bodyPr wrap="square" lIns="0" tIns="0" rIns="0" bIns="0" rtlCol="0" anchor="ctr"/>
          <a:lstStyle/>
          <a:p>
            <a:pPr indent="0" marL="0">
              <a:lnSpc>
                <a:spcPct val="108000"/>
              </a:lnSpc>
              <a:buNone/>
            </a:pPr>
            <a:r>
              <a:rPr lang="en-US" sz="2700" dirty="0">
                <a:solidFill>
                  <a:srgbClr val="387F7F"/>
                </a:solidFill>
                <a:latin typeface="Poppins" pitchFamily="34" charset="0"/>
                <a:ea typeface="Poppins" pitchFamily="34" charset="-122"/>
                <a:cs typeface="Poppins" pitchFamily="34" charset="-120"/>
              </a:rPr>
              <a:t>Solution: routes.csv loaded</a:t>
            </a:r>
            <a:endParaRPr lang="en-US" sz="2700" dirty="0"/>
          </a:p>
        </p:txBody>
      </p:sp>
      <p:sp>
        <p:nvSpPr>
          <p:cNvPr id="6" name="Shape 4"/>
          <p:cNvSpPr/>
          <p:nvPr/>
        </p:nvSpPr>
        <p:spPr>
          <a:xfrm>
            <a:off x="3076893" y="1380744"/>
            <a:ext cx="5047615" cy="2267712"/>
          </a:xfrm>
          <a:prstGeom prst="roundRect">
            <a:avLst>
              <a:gd name="adj" fmla="val 3226"/>
            </a:avLst>
          </a:prstGeom>
          <a:solidFill>
            <a:srgbClr val="FFFFFF"/>
          </a:solidFill>
          <a:ln w="12700">
            <a:solidFill>
              <a:srgbClr val="E2E8F0"/>
            </a:solidFill>
            <a:prstDash val="solid"/>
          </a:ln>
          <a:effectLst>
            <a:outerShdw sx="100000" sy="100000" kx="0" ky="0" algn="bl" rotWithShape="0" blurRad="152400" dist="38100" dir="5400000">
              <a:srgbClr val="1B2A2E">
                <a:alpha val="18000"/>
              </a:srgbClr>
            </a:outerShdw>
          </a:effectLst>
        </p:spPr>
      </p:sp>
      <p:pic>
        <p:nvPicPr>
          <p:cNvPr id="7" name="Image 0" descr="/home/claude/build/assets/shot_routes.png">    </p:cNvPr>
          <p:cNvPicPr>
            <a:picLocks noChangeAspect="1"/>
          </p:cNvPicPr>
          <p:nvPr/>
        </p:nvPicPr>
        <p:blipFill>
          <a:blip r:embed="rId2"/>
          <a:stretch>
            <a:fillRect/>
          </a:stretch>
        </p:blipFill>
        <p:spPr>
          <a:xfrm>
            <a:off x="3159189" y="1463040"/>
            <a:ext cx="4883023" cy="2103120"/>
          </a:xfrm>
          <a:prstGeom prst="rect">
            <a:avLst/>
          </a:prstGeom>
        </p:spPr>
      </p:pic>
      <p:sp>
        <p:nvSpPr>
          <p:cNvPr id="8" name="Shape 5"/>
          <p:cNvSpPr/>
          <p:nvPr/>
        </p:nvSpPr>
        <p:spPr>
          <a:xfrm>
            <a:off x="685800" y="4069080"/>
            <a:ext cx="9829800" cy="658368"/>
          </a:xfrm>
          <a:prstGeom prst="roundRect">
            <a:avLst>
              <a:gd name="adj" fmla="val 13889"/>
            </a:avLst>
          </a:prstGeom>
          <a:solidFill>
            <a:srgbClr val="FFFFFF"/>
          </a:solidFill>
          <a:ln/>
          <a:effectLst>
            <a:outerShdw sx="100000" sy="100000" kx="0" ky="0" algn="bl" rotWithShape="0" blurRad="152400" dist="38100" dir="5400000">
              <a:srgbClr val="1B2A2E">
                <a:alpha val="14000"/>
              </a:srgbClr>
            </a:outerShdw>
          </a:effectLst>
        </p:spPr>
      </p:sp>
      <p:sp>
        <p:nvSpPr>
          <p:cNvPr id="9" name="Shape 6"/>
          <p:cNvSpPr/>
          <p:nvPr/>
        </p:nvSpPr>
        <p:spPr>
          <a:xfrm>
            <a:off x="914400" y="4197096"/>
            <a:ext cx="402336" cy="402336"/>
          </a:xfrm>
          <a:prstGeom prst="ellipse">
            <a:avLst/>
          </a:prstGeom>
          <a:solidFill>
            <a:srgbClr val="387F7F"/>
          </a:solidFill>
          <a:ln/>
        </p:spPr>
      </p:sp>
      <p:sp>
        <p:nvSpPr>
          <p:cNvPr id="10" name="Text 7"/>
          <p:cNvSpPr txBox="1"/>
          <p:nvPr/>
        </p:nvSpPr>
        <p:spPr>
          <a:xfrm>
            <a:off x="914400" y="4197096"/>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Poppins" pitchFamily="34" charset="0"/>
                <a:ea typeface="Poppins" pitchFamily="34" charset="-122"/>
                <a:cs typeface="Poppins" pitchFamily="34" charset="-120"/>
              </a:rPr>
              <a:t>✓</a:t>
            </a:r>
            <a:endParaRPr lang="en-US" sz="1600" dirty="0"/>
          </a:p>
        </p:txBody>
      </p:sp>
      <p:sp>
        <p:nvSpPr>
          <p:cNvPr id="11" name="Text 8"/>
          <p:cNvSpPr txBox="1"/>
          <p:nvPr/>
        </p:nvSpPr>
        <p:spPr>
          <a:xfrm>
            <a:off x="1463040" y="4069080"/>
            <a:ext cx="8778240" cy="658368"/>
          </a:xfrm>
          <a:prstGeom prst="rect">
            <a:avLst/>
          </a:prstGeom>
          <a:noFill/>
          <a:ln/>
        </p:spPr>
        <p:txBody>
          <a:bodyPr wrap="square" lIns="0" tIns="0" rIns="0" bIns="0" rtlCol="0" anchor="ctr"/>
          <a:lstStyle/>
          <a:p>
            <a:pPr indent="0" marL="0">
              <a:lnSpc>
                <a:spcPct val="115000"/>
              </a:lnSpc>
              <a:buNone/>
            </a:pPr>
            <a:r>
              <a:rPr lang="en-US" sz="1300" b="1" dirty="0">
                <a:solidFill>
                  <a:srgbClr val="0A1A23"/>
                </a:solidFill>
                <a:latin typeface="Poppins" pitchFamily="34" charset="0"/>
                <a:ea typeface="Poppins" pitchFamily="34" charset="-122"/>
                <a:cs typeface="Poppins" pitchFamily="34" charset="-120"/>
              </a:rPr>
              <a:t>24 rows, as stated.  </a:t>
            </a:r>
            <a:pPr indent="0" marL="0">
              <a:lnSpc>
                <a:spcPct val="115000"/>
              </a:lnSpc>
              <a:buNone/>
            </a:pPr>
            <a:r>
              <a:rPr lang="en-US" sz="1300" dirty="0">
                <a:solidFill>
                  <a:srgbClr val="475569"/>
                </a:solidFill>
                <a:latin typeface="Poppins" pitchFamily="34" charset="0"/>
                <a:ea typeface="Poppins" pitchFamily="34" charset="-122"/>
                <a:cs typeface="Poppins" pitchFamily="34" charset="-120"/>
              </a:rPr>
              <a:t>If you have 25, the header row was not promoted.</a:t>
            </a:r>
            <a:endParaRPr lang="en-US" sz="1300" dirty="0"/>
          </a:p>
        </p:txBody>
      </p:sp>
      <p:sp>
        <p:nvSpPr>
          <p:cNvPr id="12" name="Shape 9"/>
          <p:cNvSpPr/>
          <p:nvPr/>
        </p:nvSpPr>
        <p:spPr>
          <a:xfrm>
            <a:off x="685800" y="4818888"/>
            <a:ext cx="9829800" cy="658368"/>
          </a:xfrm>
          <a:prstGeom prst="roundRect">
            <a:avLst>
              <a:gd name="adj" fmla="val 13889"/>
            </a:avLst>
          </a:prstGeom>
          <a:solidFill>
            <a:srgbClr val="FFFFFF"/>
          </a:solidFill>
          <a:ln/>
          <a:effectLst>
            <a:outerShdw sx="100000" sy="100000" kx="0" ky="0" algn="bl" rotWithShape="0" blurRad="152400" dist="38100" dir="5400000">
              <a:srgbClr val="1B2A2E">
                <a:alpha val="14000"/>
              </a:srgbClr>
            </a:outerShdw>
          </a:effectLst>
        </p:spPr>
      </p:sp>
      <p:sp>
        <p:nvSpPr>
          <p:cNvPr id="13" name="Shape 10"/>
          <p:cNvSpPr/>
          <p:nvPr/>
        </p:nvSpPr>
        <p:spPr>
          <a:xfrm>
            <a:off x="914400" y="4946904"/>
            <a:ext cx="402336" cy="402336"/>
          </a:xfrm>
          <a:prstGeom prst="ellipse">
            <a:avLst/>
          </a:prstGeom>
          <a:solidFill>
            <a:srgbClr val="387F7F"/>
          </a:solidFill>
          <a:ln/>
        </p:spPr>
      </p:sp>
      <p:sp>
        <p:nvSpPr>
          <p:cNvPr id="14" name="Text 11"/>
          <p:cNvSpPr txBox="1"/>
          <p:nvPr/>
        </p:nvSpPr>
        <p:spPr>
          <a:xfrm>
            <a:off x="914400" y="4946904"/>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Poppins" pitchFamily="34" charset="0"/>
                <a:ea typeface="Poppins" pitchFamily="34" charset="-122"/>
                <a:cs typeface="Poppins" pitchFamily="34" charset="-120"/>
              </a:rPr>
              <a:t>✓</a:t>
            </a:r>
            <a:endParaRPr lang="en-US" sz="1600" dirty="0"/>
          </a:p>
        </p:txBody>
      </p:sp>
      <p:sp>
        <p:nvSpPr>
          <p:cNvPr id="15" name="Text 12"/>
          <p:cNvSpPr txBox="1"/>
          <p:nvPr/>
        </p:nvSpPr>
        <p:spPr>
          <a:xfrm>
            <a:off x="1463040" y="4818888"/>
            <a:ext cx="8778240" cy="658368"/>
          </a:xfrm>
          <a:prstGeom prst="rect">
            <a:avLst/>
          </a:prstGeom>
          <a:noFill/>
          <a:ln/>
        </p:spPr>
        <p:txBody>
          <a:bodyPr wrap="square" lIns="0" tIns="0" rIns="0" bIns="0" rtlCol="0" anchor="ctr"/>
          <a:lstStyle/>
          <a:p>
            <a:pPr indent="0" marL="0">
              <a:lnSpc>
                <a:spcPct val="115000"/>
              </a:lnSpc>
              <a:buNone/>
            </a:pPr>
            <a:r>
              <a:rPr lang="en-US" sz="1300" b="1" dirty="0">
                <a:solidFill>
                  <a:srgbClr val="0A1A23"/>
                </a:solidFill>
                <a:latin typeface="Poppins" pitchFamily="34" charset="0"/>
                <a:ea typeface="Poppins" pitchFamily="34" charset="-122"/>
                <a:cs typeface="Poppins" pitchFamily="34" charset="-120"/>
              </a:rPr>
              <a:t>RouteID must be text.  </a:t>
            </a:r>
            <a:pPr indent="0" marL="0">
              <a:lnSpc>
                <a:spcPct val="115000"/>
              </a:lnSpc>
              <a:buNone/>
            </a:pPr>
            <a:r>
              <a:rPr lang="en-US" sz="1300" dirty="0">
                <a:solidFill>
                  <a:srgbClr val="475569"/>
                </a:solidFill>
                <a:latin typeface="Poppins" pitchFamily="34" charset="0"/>
                <a:ea typeface="Poppins" pitchFamily="34" charset="-122"/>
                <a:cs typeface="Poppins" pitchFamily="34" charset="-120"/>
              </a:rPr>
              <a:t>If it shows a number icon, the relationship in Topic 7.2 will fail, and it will fail silently.</a:t>
            </a:r>
            <a:endParaRPr lang="en-US" sz="1300" dirty="0"/>
          </a:p>
        </p:txBody>
      </p:sp>
      <p:sp>
        <p:nvSpPr>
          <p:cNvPr id="16" name="Shape 13"/>
          <p:cNvSpPr/>
          <p:nvPr/>
        </p:nvSpPr>
        <p:spPr>
          <a:xfrm>
            <a:off x="685800" y="5568696"/>
            <a:ext cx="9829800" cy="658368"/>
          </a:xfrm>
          <a:prstGeom prst="roundRect">
            <a:avLst>
              <a:gd name="adj" fmla="val 13889"/>
            </a:avLst>
          </a:prstGeom>
          <a:solidFill>
            <a:srgbClr val="FFFFFF"/>
          </a:solidFill>
          <a:ln/>
          <a:effectLst>
            <a:outerShdw sx="100000" sy="100000" kx="0" ky="0" algn="bl" rotWithShape="0" blurRad="152400" dist="38100" dir="5400000">
              <a:srgbClr val="1B2A2E">
                <a:alpha val="14000"/>
              </a:srgbClr>
            </a:outerShdw>
          </a:effectLst>
        </p:spPr>
      </p:sp>
      <p:sp>
        <p:nvSpPr>
          <p:cNvPr id="17" name="Shape 14"/>
          <p:cNvSpPr/>
          <p:nvPr/>
        </p:nvSpPr>
        <p:spPr>
          <a:xfrm>
            <a:off x="914400" y="5696712"/>
            <a:ext cx="402336" cy="402336"/>
          </a:xfrm>
          <a:prstGeom prst="ellipse">
            <a:avLst/>
          </a:prstGeom>
          <a:solidFill>
            <a:srgbClr val="387F7F"/>
          </a:solidFill>
          <a:ln/>
        </p:spPr>
      </p:sp>
      <p:sp>
        <p:nvSpPr>
          <p:cNvPr id="18" name="Text 15"/>
          <p:cNvSpPr txBox="1"/>
          <p:nvPr/>
        </p:nvSpPr>
        <p:spPr>
          <a:xfrm>
            <a:off x="914400" y="5696712"/>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Poppins" pitchFamily="34" charset="0"/>
                <a:ea typeface="Poppins" pitchFamily="34" charset="-122"/>
                <a:cs typeface="Poppins" pitchFamily="34" charset="-120"/>
              </a:rPr>
              <a:t>✓</a:t>
            </a:r>
            <a:endParaRPr lang="en-US" sz="1600" dirty="0"/>
          </a:p>
        </p:txBody>
      </p:sp>
      <p:sp>
        <p:nvSpPr>
          <p:cNvPr id="19" name="Text 16"/>
          <p:cNvSpPr txBox="1"/>
          <p:nvPr/>
        </p:nvSpPr>
        <p:spPr>
          <a:xfrm>
            <a:off x="1463040" y="5568696"/>
            <a:ext cx="8778240" cy="658368"/>
          </a:xfrm>
          <a:prstGeom prst="rect">
            <a:avLst/>
          </a:prstGeom>
          <a:noFill/>
          <a:ln/>
        </p:spPr>
        <p:txBody>
          <a:bodyPr wrap="square" lIns="0" tIns="0" rIns="0" bIns="0" rtlCol="0" anchor="ctr"/>
          <a:lstStyle/>
          <a:p>
            <a:pPr indent="0" marL="0">
              <a:lnSpc>
                <a:spcPct val="115000"/>
              </a:lnSpc>
              <a:buNone/>
            </a:pPr>
            <a:r>
              <a:rPr lang="en-US" sz="1300" b="1" dirty="0">
                <a:solidFill>
                  <a:srgbClr val="0A1A23"/>
                </a:solidFill>
                <a:latin typeface="Poppins" pitchFamily="34" charset="0"/>
                <a:ea typeface="Poppins" pitchFamily="34" charset="-122"/>
                <a:cs typeface="Poppins" pitchFamily="34" charset="-120"/>
              </a:rPr>
              <a:t>DistanceKm errors?  </a:t>
            </a:r>
            <a:pPr indent="0" marL="0">
              <a:lnSpc>
                <a:spcPct val="115000"/>
              </a:lnSpc>
              <a:buNone/>
            </a:pPr>
            <a:r>
              <a:rPr lang="en-US" sz="1300" dirty="0">
                <a:solidFill>
                  <a:srgbClr val="475569"/>
                </a:solidFill>
                <a:latin typeface="Poppins" pitchFamily="34" charset="0"/>
                <a:ea typeface="Poppins" pitchFamily="34" charset="-122"/>
                <a:cs typeface="Poppins" pitchFamily="34" charset="-120"/>
              </a:rPr>
              <a:t>Your locale is reading the decimal separator differently. Change the type using Locale.</a:t>
            </a:r>
            <a:endParaRPr lang="en-US" sz="1300" dirty="0"/>
          </a:p>
        </p:txBody>
      </p:sp>
      <p:pic>
        <p:nvPicPr>
          <p:cNvPr id="20" name="Image 1" descr="/home/claude/build/assets/logo_full.png">    </p:cNvPr>
          <p:cNvPicPr>
            <a:picLocks noChangeAspect="1"/>
          </p:cNvPicPr>
          <p:nvPr/>
        </p:nvPicPr>
        <p:blipFill>
          <a:blip r:embed="rId3"/>
          <a:stretch>
            <a:fillRect/>
          </a:stretch>
        </p:blipFill>
        <p:spPr>
          <a:xfrm>
            <a:off x="10998403" y="5949086"/>
            <a:ext cx="431597" cy="375337"/>
          </a:xfrm>
          <a:prstGeom prst="rect">
            <a:avLst/>
          </a:prstGeom>
        </p:spPr>
      </p:pic>
      <p:sp>
        <p:nvSpPr>
          <p:cNvPr id="21" name="Text 17"/>
          <p:cNvSpPr txBox="1"/>
          <p:nvPr/>
        </p:nvSpPr>
        <p:spPr>
          <a:xfrm>
            <a:off x="11689050" y="6473952"/>
            <a:ext cx="365760" cy="274320"/>
          </a:xfrm>
          <a:prstGeom prst="rect">
            <a:avLst/>
          </a:prstGeom>
          <a:noFill/>
          <a:ln/>
        </p:spPr>
        <p:txBody>
          <a:bodyPr wrap="square" lIns="0" tIns="0" rIns="0" bIns="0" rtlCol="0" anchor="ctr"/>
          <a:lstStyle/>
          <a:p>
            <a:pPr algn="r" indent="0" marL="0">
              <a:buNone/>
            </a:pPr>
            <a:r>
              <a:rPr lang="en-US" sz="1100" dirty="0">
                <a:solidFill>
                  <a:srgbClr val="64748B"/>
                </a:solidFill>
                <a:latin typeface="Poppins" pitchFamily="34" charset="0"/>
                <a:ea typeface="Poppins" pitchFamily="34" charset="-122"/>
                <a:cs typeface="Poppins" pitchFamily="34" charset="-120"/>
              </a:rPr>
              <a:t>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1024006" y="1958645"/>
            <a:ext cx="4133088" cy="4038905"/>
          </a:xfrm>
          <a:prstGeom prst="ellipse">
            <a:avLst/>
          </a:prstGeom>
          <a:solidFill>
            <a:srgbClr val="387F7F"/>
          </a:solidFill>
          <a:ln/>
        </p:spPr>
      </p:sp>
      <p:sp>
        <p:nvSpPr>
          <p:cNvPr id="3" name="Shape 1"/>
          <p:cNvSpPr/>
          <p:nvPr/>
        </p:nvSpPr>
        <p:spPr>
          <a:xfrm>
            <a:off x="11316614" y="2675534"/>
            <a:ext cx="1051560" cy="2162556"/>
          </a:xfrm>
          <a:prstGeom prst="ellipse">
            <a:avLst/>
          </a:prstGeom>
          <a:solidFill>
            <a:srgbClr val="387F7F"/>
          </a:solidFill>
          <a:ln/>
        </p:spPr>
      </p:sp>
      <p:sp>
        <p:nvSpPr>
          <p:cNvPr id="4" name="Shape 2"/>
          <p:cNvSpPr/>
          <p:nvPr/>
        </p:nvSpPr>
        <p:spPr>
          <a:xfrm>
            <a:off x="685800" y="548640"/>
            <a:ext cx="68580" cy="420624"/>
          </a:xfrm>
          <a:prstGeom prst="rect">
            <a:avLst/>
          </a:prstGeom>
          <a:solidFill>
            <a:srgbClr val="387F7F"/>
          </a:solidFill>
          <a:ln/>
        </p:spPr>
      </p:sp>
      <p:sp>
        <p:nvSpPr>
          <p:cNvPr id="5" name="Text 3"/>
          <p:cNvSpPr txBox="1"/>
          <p:nvPr/>
        </p:nvSpPr>
        <p:spPr>
          <a:xfrm>
            <a:off x="886968" y="502920"/>
            <a:ext cx="9692640" cy="502920"/>
          </a:xfrm>
          <a:prstGeom prst="rect">
            <a:avLst/>
          </a:prstGeom>
          <a:noFill/>
          <a:ln/>
        </p:spPr>
        <p:txBody>
          <a:bodyPr wrap="square" lIns="0" tIns="0" rIns="0" bIns="0" rtlCol="0" anchor="ctr"/>
          <a:lstStyle/>
          <a:p>
            <a:pPr indent="0" marL="0">
              <a:lnSpc>
                <a:spcPct val="108000"/>
              </a:lnSpc>
              <a:buNone/>
            </a:pPr>
            <a:r>
              <a:rPr lang="en-US" sz="2700" dirty="0">
                <a:solidFill>
                  <a:srgbClr val="387F7F"/>
                </a:solidFill>
                <a:latin typeface="Poppins" pitchFamily="34" charset="0"/>
                <a:ea typeface="Poppins" pitchFamily="34" charset="-122"/>
                <a:cs typeface="Poppins" pitchFamily="34" charset="-120"/>
              </a:rPr>
              <a:t>Topic Recap</a:t>
            </a:r>
            <a:endParaRPr lang="en-US" sz="2700" dirty="0"/>
          </a:p>
        </p:txBody>
      </p:sp>
      <p:sp>
        <p:nvSpPr>
          <p:cNvPr id="6" name="Shape 4"/>
          <p:cNvSpPr/>
          <p:nvPr/>
        </p:nvSpPr>
        <p:spPr>
          <a:xfrm>
            <a:off x="685800" y="1783080"/>
            <a:ext cx="9829800" cy="777240"/>
          </a:xfrm>
          <a:prstGeom prst="roundRect">
            <a:avLst>
              <a:gd name="adj" fmla="val 11765"/>
            </a:avLst>
          </a:prstGeom>
          <a:solidFill>
            <a:srgbClr val="FFFFFF"/>
          </a:solidFill>
          <a:ln/>
          <a:effectLst>
            <a:outerShdw sx="100000" sy="100000" kx="0" ky="0" algn="bl" rotWithShape="0" blurRad="152400" dist="38100" dir="5400000">
              <a:srgbClr val="1B2A2E">
                <a:alpha val="14000"/>
              </a:srgbClr>
            </a:outerShdw>
          </a:effectLst>
        </p:spPr>
      </p:sp>
      <p:sp>
        <p:nvSpPr>
          <p:cNvPr id="7" name="Shape 5"/>
          <p:cNvSpPr/>
          <p:nvPr/>
        </p:nvSpPr>
        <p:spPr>
          <a:xfrm>
            <a:off x="932688" y="1956816"/>
            <a:ext cx="429768" cy="429768"/>
          </a:xfrm>
          <a:prstGeom prst="ellipse">
            <a:avLst/>
          </a:prstGeom>
          <a:solidFill>
            <a:srgbClr val="387F7F"/>
          </a:solidFill>
          <a:ln/>
        </p:spPr>
      </p:sp>
      <p:sp>
        <p:nvSpPr>
          <p:cNvPr id="8" name="Text 6"/>
          <p:cNvSpPr txBox="1"/>
          <p:nvPr/>
        </p:nvSpPr>
        <p:spPr>
          <a:xfrm>
            <a:off x="932688" y="1956816"/>
            <a:ext cx="429768" cy="429768"/>
          </a:xfrm>
          <a:prstGeom prst="rect">
            <a:avLst/>
          </a:prstGeom>
          <a:noFill/>
          <a:ln/>
        </p:spPr>
        <p:txBody>
          <a:bodyPr wrap="square" lIns="0" tIns="0" rIns="0" bIns="0" rtlCol="0" anchor="ctr"/>
          <a:lstStyle/>
          <a:p>
            <a:pPr algn="ctr" indent="0" marL="0">
              <a:buNone/>
            </a:pPr>
            <a:r>
              <a:rPr lang="en-US" sz="1800" b="1" dirty="0">
                <a:solidFill>
                  <a:srgbClr val="FFFFFF"/>
                </a:solidFill>
                <a:latin typeface="Poppins" pitchFamily="34" charset="0"/>
                <a:ea typeface="Poppins" pitchFamily="34" charset="-122"/>
                <a:cs typeface="Poppins" pitchFamily="34" charset="-120"/>
              </a:rPr>
              <a:t>✓</a:t>
            </a:r>
            <a:endParaRPr lang="en-US" sz="1800" dirty="0"/>
          </a:p>
        </p:txBody>
      </p:sp>
      <p:sp>
        <p:nvSpPr>
          <p:cNvPr id="9" name="Text 7"/>
          <p:cNvSpPr txBox="1"/>
          <p:nvPr/>
        </p:nvSpPr>
        <p:spPr>
          <a:xfrm>
            <a:off x="1572768" y="1828800"/>
            <a:ext cx="8686800" cy="685800"/>
          </a:xfrm>
          <a:prstGeom prst="rect">
            <a:avLst/>
          </a:prstGeom>
          <a:noFill/>
          <a:ln/>
        </p:spPr>
        <p:txBody>
          <a:bodyPr wrap="square" lIns="0" tIns="0" rIns="0" bIns="0" rtlCol="0" anchor="ctr"/>
          <a:lstStyle/>
          <a:p>
            <a:pPr algn="l" indent="0" marL="0">
              <a:lnSpc>
                <a:spcPct val="120000"/>
              </a:lnSpc>
              <a:buNone/>
            </a:pPr>
            <a:r>
              <a:rPr lang="en-US" sz="1450" dirty="0">
                <a:solidFill>
                  <a:srgbClr val="475569"/>
                </a:solidFill>
                <a:latin typeface="Poppins" pitchFamily="34" charset="0"/>
                <a:ea typeface="Poppins" pitchFamily="34" charset="-122"/>
                <a:cs typeface="Poppins" pitchFamily="34" charset="-120"/>
              </a:rPr>
              <a:t>Navigate Power BI Desktop and say what each of the four views is for.</a:t>
            </a:r>
            <a:endParaRPr lang="en-US" sz="1450" dirty="0"/>
          </a:p>
        </p:txBody>
      </p:sp>
      <p:sp>
        <p:nvSpPr>
          <p:cNvPr id="10" name="Shape 8"/>
          <p:cNvSpPr/>
          <p:nvPr/>
        </p:nvSpPr>
        <p:spPr>
          <a:xfrm>
            <a:off x="685800" y="2697480"/>
            <a:ext cx="9829800" cy="777240"/>
          </a:xfrm>
          <a:prstGeom prst="roundRect">
            <a:avLst>
              <a:gd name="adj" fmla="val 11765"/>
            </a:avLst>
          </a:prstGeom>
          <a:solidFill>
            <a:srgbClr val="FFFFFF"/>
          </a:solidFill>
          <a:ln/>
          <a:effectLst>
            <a:outerShdw sx="100000" sy="100000" kx="0" ky="0" algn="bl" rotWithShape="0" blurRad="152400" dist="38100" dir="5400000">
              <a:srgbClr val="1B2A2E">
                <a:alpha val="14000"/>
              </a:srgbClr>
            </a:outerShdw>
          </a:effectLst>
        </p:spPr>
      </p:sp>
      <p:sp>
        <p:nvSpPr>
          <p:cNvPr id="11" name="Shape 9"/>
          <p:cNvSpPr/>
          <p:nvPr/>
        </p:nvSpPr>
        <p:spPr>
          <a:xfrm>
            <a:off x="932688" y="2871216"/>
            <a:ext cx="429768" cy="429768"/>
          </a:xfrm>
          <a:prstGeom prst="ellipse">
            <a:avLst/>
          </a:prstGeom>
          <a:solidFill>
            <a:srgbClr val="387F7F"/>
          </a:solidFill>
          <a:ln/>
        </p:spPr>
      </p:sp>
      <p:sp>
        <p:nvSpPr>
          <p:cNvPr id="12" name="Text 10"/>
          <p:cNvSpPr txBox="1"/>
          <p:nvPr/>
        </p:nvSpPr>
        <p:spPr>
          <a:xfrm>
            <a:off x="932688" y="2871216"/>
            <a:ext cx="429768" cy="429768"/>
          </a:xfrm>
          <a:prstGeom prst="rect">
            <a:avLst/>
          </a:prstGeom>
          <a:noFill/>
          <a:ln/>
        </p:spPr>
        <p:txBody>
          <a:bodyPr wrap="square" lIns="0" tIns="0" rIns="0" bIns="0" rtlCol="0" anchor="ctr"/>
          <a:lstStyle/>
          <a:p>
            <a:pPr algn="ctr" indent="0" marL="0">
              <a:buNone/>
            </a:pPr>
            <a:r>
              <a:rPr lang="en-US" sz="1800" b="1" dirty="0">
                <a:solidFill>
                  <a:srgbClr val="FFFFFF"/>
                </a:solidFill>
                <a:latin typeface="Poppins" pitchFamily="34" charset="0"/>
                <a:ea typeface="Poppins" pitchFamily="34" charset="-122"/>
                <a:cs typeface="Poppins" pitchFamily="34" charset="-120"/>
              </a:rPr>
              <a:t>✓</a:t>
            </a:r>
            <a:endParaRPr lang="en-US" sz="1800" dirty="0"/>
          </a:p>
        </p:txBody>
      </p:sp>
      <p:sp>
        <p:nvSpPr>
          <p:cNvPr id="13" name="Text 11"/>
          <p:cNvSpPr txBox="1"/>
          <p:nvPr/>
        </p:nvSpPr>
        <p:spPr>
          <a:xfrm>
            <a:off x="1572768" y="2743200"/>
            <a:ext cx="8686800" cy="685800"/>
          </a:xfrm>
          <a:prstGeom prst="rect">
            <a:avLst/>
          </a:prstGeom>
          <a:noFill/>
          <a:ln/>
        </p:spPr>
        <p:txBody>
          <a:bodyPr wrap="square" lIns="0" tIns="0" rIns="0" bIns="0" rtlCol="0" anchor="ctr"/>
          <a:lstStyle/>
          <a:p>
            <a:pPr algn="l" indent="0" marL="0">
              <a:lnSpc>
                <a:spcPct val="120000"/>
              </a:lnSpc>
              <a:buNone/>
            </a:pPr>
            <a:r>
              <a:rPr lang="en-US" sz="1450" dirty="0">
                <a:solidFill>
                  <a:srgbClr val="475569"/>
                </a:solidFill>
                <a:latin typeface="Poppins" pitchFamily="34" charset="0"/>
                <a:ea typeface="Poppins" pitchFamily="34" charset="-122"/>
                <a:cs typeface="Poppins" pitchFamily="34" charset="-120"/>
              </a:rPr>
              <a:t>Load a file through Power Query and apply transformations recorded as reorderable, refreshable steps.</a:t>
            </a:r>
            <a:endParaRPr lang="en-US" sz="1450" dirty="0"/>
          </a:p>
        </p:txBody>
      </p:sp>
      <p:sp>
        <p:nvSpPr>
          <p:cNvPr id="14" name="Shape 12"/>
          <p:cNvSpPr/>
          <p:nvPr/>
        </p:nvSpPr>
        <p:spPr>
          <a:xfrm>
            <a:off x="685800" y="3611880"/>
            <a:ext cx="9829800" cy="777240"/>
          </a:xfrm>
          <a:prstGeom prst="roundRect">
            <a:avLst>
              <a:gd name="adj" fmla="val 11765"/>
            </a:avLst>
          </a:prstGeom>
          <a:solidFill>
            <a:srgbClr val="FFFFFF"/>
          </a:solidFill>
          <a:ln/>
          <a:effectLst>
            <a:outerShdw sx="100000" sy="100000" kx="0" ky="0" algn="bl" rotWithShape="0" blurRad="152400" dist="38100" dir="5400000">
              <a:srgbClr val="1B2A2E">
                <a:alpha val="14000"/>
              </a:srgbClr>
            </a:outerShdw>
          </a:effectLst>
        </p:spPr>
      </p:sp>
      <p:sp>
        <p:nvSpPr>
          <p:cNvPr id="15" name="Shape 13"/>
          <p:cNvSpPr/>
          <p:nvPr/>
        </p:nvSpPr>
        <p:spPr>
          <a:xfrm>
            <a:off x="932688" y="3785616"/>
            <a:ext cx="429768" cy="429768"/>
          </a:xfrm>
          <a:prstGeom prst="ellipse">
            <a:avLst/>
          </a:prstGeom>
          <a:solidFill>
            <a:srgbClr val="387F7F"/>
          </a:solidFill>
          <a:ln/>
        </p:spPr>
      </p:sp>
      <p:sp>
        <p:nvSpPr>
          <p:cNvPr id="16" name="Text 14"/>
          <p:cNvSpPr txBox="1"/>
          <p:nvPr/>
        </p:nvSpPr>
        <p:spPr>
          <a:xfrm>
            <a:off x="932688" y="3785616"/>
            <a:ext cx="429768" cy="429768"/>
          </a:xfrm>
          <a:prstGeom prst="rect">
            <a:avLst/>
          </a:prstGeom>
          <a:noFill/>
          <a:ln/>
        </p:spPr>
        <p:txBody>
          <a:bodyPr wrap="square" lIns="0" tIns="0" rIns="0" bIns="0" rtlCol="0" anchor="ctr"/>
          <a:lstStyle/>
          <a:p>
            <a:pPr algn="ctr" indent="0" marL="0">
              <a:buNone/>
            </a:pPr>
            <a:r>
              <a:rPr lang="en-US" sz="1800" b="1" dirty="0">
                <a:solidFill>
                  <a:srgbClr val="FFFFFF"/>
                </a:solidFill>
                <a:latin typeface="Poppins" pitchFamily="34" charset="0"/>
                <a:ea typeface="Poppins" pitchFamily="34" charset="-122"/>
                <a:cs typeface="Poppins" pitchFamily="34" charset="-120"/>
              </a:rPr>
              <a:t>✓</a:t>
            </a:r>
            <a:endParaRPr lang="en-US" sz="1800" dirty="0"/>
          </a:p>
        </p:txBody>
      </p:sp>
      <p:sp>
        <p:nvSpPr>
          <p:cNvPr id="17" name="Text 15"/>
          <p:cNvSpPr txBox="1"/>
          <p:nvPr/>
        </p:nvSpPr>
        <p:spPr>
          <a:xfrm>
            <a:off x="1572768" y="3657600"/>
            <a:ext cx="8686800" cy="685800"/>
          </a:xfrm>
          <a:prstGeom prst="rect">
            <a:avLst/>
          </a:prstGeom>
          <a:noFill/>
          <a:ln/>
        </p:spPr>
        <p:txBody>
          <a:bodyPr wrap="square" lIns="0" tIns="0" rIns="0" bIns="0" rtlCol="0" anchor="ctr"/>
          <a:lstStyle/>
          <a:p>
            <a:pPr algn="l" indent="0" marL="0">
              <a:lnSpc>
                <a:spcPct val="120000"/>
              </a:lnSpc>
              <a:buNone/>
            </a:pPr>
            <a:r>
              <a:rPr lang="en-US" sz="1450" dirty="0">
                <a:solidFill>
                  <a:srgbClr val="475569"/>
                </a:solidFill>
                <a:latin typeface="Poppins" pitchFamily="34" charset="0"/>
                <a:ea typeface="Poppins" pitchFamily="34" charset="-122"/>
                <a:cs typeface="Poppins" pitchFamily="34" charset="-120"/>
              </a:rPr>
              <a:t>Explain why the Power BI pipeline is the Excel and SQL workflow you already knew, rebuilt in one window.</a:t>
            </a:r>
            <a:endParaRPr lang="en-US" sz="1450" dirty="0"/>
          </a:p>
        </p:txBody>
      </p:sp>
      <p:sp>
        <p:nvSpPr>
          <p:cNvPr id="18" name="Shape 16"/>
          <p:cNvSpPr/>
          <p:nvPr/>
        </p:nvSpPr>
        <p:spPr>
          <a:xfrm>
            <a:off x="685800" y="4709160"/>
            <a:ext cx="9829800" cy="1005840"/>
          </a:xfrm>
          <a:prstGeom prst="roundRect">
            <a:avLst>
              <a:gd name="adj" fmla="val 8182"/>
            </a:avLst>
          </a:prstGeom>
          <a:solidFill>
            <a:srgbClr val="EEF4F4"/>
          </a:solidFill>
          <a:ln/>
        </p:spPr>
      </p:sp>
      <p:sp>
        <p:nvSpPr>
          <p:cNvPr id="19" name="Shape 17"/>
          <p:cNvSpPr/>
          <p:nvPr/>
        </p:nvSpPr>
        <p:spPr>
          <a:xfrm>
            <a:off x="685800" y="4709160"/>
            <a:ext cx="68580" cy="1005840"/>
          </a:xfrm>
          <a:prstGeom prst="rect">
            <a:avLst/>
          </a:prstGeom>
          <a:solidFill>
            <a:srgbClr val="387F7F"/>
          </a:solidFill>
          <a:ln/>
        </p:spPr>
      </p:sp>
      <p:sp>
        <p:nvSpPr>
          <p:cNvPr id="20" name="Text 18"/>
          <p:cNvSpPr txBox="1"/>
          <p:nvPr/>
        </p:nvSpPr>
        <p:spPr>
          <a:xfrm>
            <a:off x="1051560" y="4709160"/>
            <a:ext cx="9235440" cy="1005840"/>
          </a:xfrm>
          <a:prstGeom prst="rect">
            <a:avLst/>
          </a:prstGeom>
          <a:noFill/>
          <a:ln/>
        </p:spPr>
        <p:txBody>
          <a:bodyPr wrap="square" lIns="0" tIns="0" rIns="0" bIns="0" rtlCol="0" anchor="ctr"/>
          <a:lstStyle/>
          <a:p>
            <a:pPr algn="ctr" indent="0" marL="0">
              <a:lnSpc>
                <a:spcPct val="135000"/>
              </a:lnSpc>
              <a:buNone/>
            </a:pPr>
            <a:r>
              <a:rPr lang="en-US" sz="1700" b="1" dirty="0">
                <a:solidFill>
                  <a:srgbClr val="387F7F"/>
                </a:solidFill>
                <a:latin typeface="Poppins" pitchFamily="34" charset="0"/>
                <a:ea typeface="Poppins" pitchFamily="34" charset="-122"/>
                <a:cs typeface="Poppins" pitchFamily="34" charset="-120"/>
              </a:rPr>
              <a:t>Nothing in this topic was new. That was the point.</a:t>
            </a:r>
            <a:endParaRPr lang="en-US" sz="1700" dirty="0"/>
          </a:p>
        </p:txBody>
      </p:sp>
      <p:pic>
        <p:nvPicPr>
          <p:cNvPr id="21" name="Image 0" descr="/home/claude/build/assets/logo_full.png">    </p:cNvPr>
          <p:cNvPicPr>
            <a:picLocks noChangeAspect="1"/>
          </p:cNvPicPr>
          <p:nvPr/>
        </p:nvPicPr>
        <p:blipFill>
          <a:blip r:embed="rId2"/>
          <a:stretch>
            <a:fillRect/>
          </a:stretch>
        </p:blipFill>
        <p:spPr>
          <a:xfrm>
            <a:off x="10998403" y="5949086"/>
            <a:ext cx="431597" cy="375337"/>
          </a:xfrm>
          <a:prstGeom prst="rect">
            <a:avLst/>
          </a:prstGeom>
        </p:spPr>
      </p:pic>
      <p:sp>
        <p:nvSpPr>
          <p:cNvPr id="22" name="Text 19"/>
          <p:cNvSpPr txBox="1"/>
          <p:nvPr/>
        </p:nvSpPr>
        <p:spPr>
          <a:xfrm>
            <a:off x="11689050" y="6473952"/>
            <a:ext cx="365760" cy="274320"/>
          </a:xfrm>
          <a:prstGeom prst="rect">
            <a:avLst/>
          </a:prstGeom>
          <a:noFill/>
          <a:ln/>
        </p:spPr>
        <p:txBody>
          <a:bodyPr wrap="square" lIns="0" tIns="0" rIns="0" bIns="0" rtlCol="0" anchor="ctr"/>
          <a:lstStyle/>
          <a:p>
            <a:pPr algn="r" indent="0" marL="0">
              <a:buNone/>
            </a:pPr>
            <a:r>
              <a:rPr lang="en-US" sz="1100" dirty="0">
                <a:solidFill>
                  <a:srgbClr val="64748B"/>
                </a:solidFill>
                <a:latin typeface="Poppins" pitchFamily="34" charset="0"/>
                <a:ea typeface="Poppins" pitchFamily="34" charset="-122"/>
                <a:cs typeface="Poppins" pitchFamily="34" charset="-120"/>
              </a:rPr>
              <a:t>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1024006" y="1958645"/>
            <a:ext cx="4133088" cy="4038905"/>
          </a:xfrm>
          <a:prstGeom prst="ellipse">
            <a:avLst/>
          </a:prstGeom>
          <a:solidFill>
            <a:srgbClr val="387F7F"/>
          </a:solidFill>
          <a:ln/>
        </p:spPr>
      </p:sp>
      <p:sp>
        <p:nvSpPr>
          <p:cNvPr id="3" name="Shape 1"/>
          <p:cNvSpPr/>
          <p:nvPr/>
        </p:nvSpPr>
        <p:spPr>
          <a:xfrm>
            <a:off x="11316614" y="2675534"/>
            <a:ext cx="1051560" cy="2162556"/>
          </a:xfrm>
          <a:prstGeom prst="ellipse">
            <a:avLst/>
          </a:prstGeom>
          <a:solidFill>
            <a:srgbClr val="387F7F"/>
          </a:solidFill>
          <a:ln/>
        </p:spPr>
      </p:sp>
      <p:sp>
        <p:nvSpPr>
          <p:cNvPr id="4" name="Shape 2"/>
          <p:cNvSpPr/>
          <p:nvPr/>
        </p:nvSpPr>
        <p:spPr>
          <a:xfrm>
            <a:off x="685800" y="548640"/>
            <a:ext cx="68580" cy="420624"/>
          </a:xfrm>
          <a:prstGeom prst="rect">
            <a:avLst/>
          </a:prstGeom>
          <a:solidFill>
            <a:srgbClr val="387F7F"/>
          </a:solidFill>
          <a:ln/>
        </p:spPr>
      </p:sp>
      <p:sp>
        <p:nvSpPr>
          <p:cNvPr id="5" name="Text 3"/>
          <p:cNvSpPr txBox="1"/>
          <p:nvPr/>
        </p:nvSpPr>
        <p:spPr>
          <a:xfrm>
            <a:off x="886968" y="502920"/>
            <a:ext cx="9692640" cy="502920"/>
          </a:xfrm>
          <a:prstGeom prst="rect">
            <a:avLst/>
          </a:prstGeom>
          <a:noFill/>
          <a:ln/>
        </p:spPr>
        <p:txBody>
          <a:bodyPr wrap="square" lIns="0" tIns="0" rIns="0" bIns="0" rtlCol="0" anchor="ctr"/>
          <a:lstStyle/>
          <a:p>
            <a:pPr indent="0" marL="0">
              <a:lnSpc>
                <a:spcPct val="108000"/>
              </a:lnSpc>
              <a:buNone/>
            </a:pPr>
            <a:r>
              <a:rPr lang="en-US" sz="2700" dirty="0">
                <a:solidFill>
                  <a:srgbClr val="387F7F"/>
                </a:solidFill>
                <a:latin typeface="Poppins" pitchFamily="34" charset="0"/>
                <a:ea typeface="Poppins" pitchFamily="34" charset="-122"/>
                <a:cs typeface="Poppins" pitchFamily="34" charset="-120"/>
              </a:rPr>
              <a:t>What is Next</a:t>
            </a:r>
            <a:endParaRPr lang="en-US" sz="2700" dirty="0"/>
          </a:p>
        </p:txBody>
      </p:sp>
      <p:sp>
        <p:nvSpPr>
          <p:cNvPr id="6" name="Shape 4"/>
          <p:cNvSpPr/>
          <p:nvPr/>
        </p:nvSpPr>
        <p:spPr>
          <a:xfrm>
            <a:off x="685800" y="1691640"/>
            <a:ext cx="3063240" cy="3200400"/>
          </a:xfrm>
          <a:prstGeom prst="roundRect">
            <a:avLst>
              <a:gd name="adj" fmla="val 2985"/>
            </a:avLst>
          </a:prstGeom>
          <a:solidFill>
            <a:srgbClr val="FFFFFF"/>
          </a:solidFill>
          <a:ln/>
          <a:effectLst>
            <a:outerShdw sx="100000" sy="100000" kx="0" ky="0" algn="bl" rotWithShape="0" blurRad="152400" dist="38100" dir="5400000">
              <a:srgbClr val="1B2A2E">
                <a:alpha val="14000"/>
              </a:srgbClr>
            </a:outerShdw>
          </a:effectLst>
        </p:spPr>
      </p:sp>
      <p:sp>
        <p:nvSpPr>
          <p:cNvPr id="7" name="Shape 5"/>
          <p:cNvSpPr/>
          <p:nvPr/>
        </p:nvSpPr>
        <p:spPr>
          <a:xfrm>
            <a:off x="685800" y="1691640"/>
            <a:ext cx="3063240" cy="475488"/>
          </a:xfrm>
          <a:prstGeom prst="rect">
            <a:avLst/>
          </a:prstGeom>
          <a:solidFill>
            <a:srgbClr val="387F7F"/>
          </a:solidFill>
          <a:ln/>
        </p:spPr>
      </p:sp>
      <p:sp>
        <p:nvSpPr>
          <p:cNvPr id="8" name="Text 6"/>
          <p:cNvSpPr txBox="1"/>
          <p:nvPr/>
        </p:nvSpPr>
        <p:spPr>
          <a:xfrm>
            <a:off x="685800" y="1691640"/>
            <a:ext cx="3063240" cy="475488"/>
          </a:xfrm>
          <a:prstGeom prst="rect">
            <a:avLst/>
          </a:prstGeom>
          <a:noFill/>
          <a:ln/>
        </p:spPr>
        <p:txBody>
          <a:bodyPr wrap="square" lIns="0" tIns="0" rIns="0" bIns="0" rtlCol="0" anchor="ctr"/>
          <a:lstStyle/>
          <a:p>
            <a:pPr algn="ctr" indent="0" marL="0">
              <a:buNone/>
            </a:pPr>
            <a:r>
              <a:rPr lang="en-US" sz="1150" b="1" spc="100" kern="0" dirty="0">
                <a:solidFill>
                  <a:srgbClr val="FFFFFF"/>
                </a:solidFill>
                <a:latin typeface="Poppins" pitchFamily="34" charset="0"/>
                <a:ea typeface="Poppins" pitchFamily="34" charset="-122"/>
                <a:cs typeface="Poppins" pitchFamily="34" charset="-120"/>
              </a:rPr>
              <a:t>STRAIGHT INTO 7.2</a:t>
            </a:r>
            <a:endParaRPr lang="en-US" sz="1150" dirty="0"/>
          </a:p>
        </p:txBody>
      </p:sp>
      <p:sp>
        <p:nvSpPr>
          <p:cNvPr id="9" name="Shape 7"/>
          <p:cNvSpPr/>
          <p:nvPr/>
        </p:nvSpPr>
        <p:spPr>
          <a:xfrm>
            <a:off x="1888236" y="2468880"/>
            <a:ext cx="658368" cy="658368"/>
          </a:xfrm>
          <a:prstGeom prst="ellipse">
            <a:avLst/>
          </a:prstGeom>
          <a:solidFill>
            <a:srgbClr val="FFFFFF"/>
          </a:solidFill>
          <a:ln w="22225">
            <a:solidFill>
              <a:srgbClr val="387F7F"/>
            </a:solidFill>
            <a:prstDash val="solid"/>
          </a:ln>
        </p:spPr>
      </p:sp>
      <p:sp>
        <p:nvSpPr>
          <p:cNvPr id="10" name="Text 8"/>
          <p:cNvSpPr txBox="1"/>
          <p:nvPr/>
        </p:nvSpPr>
        <p:spPr>
          <a:xfrm>
            <a:off x="1888236" y="2468880"/>
            <a:ext cx="658368" cy="658368"/>
          </a:xfrm>
          <a:prstGeom prst="rect">
            <a:avLst/>
          </a:prstGeom>
          <a:noFill/>
          <a:ln/>
        </p:spPr>
        <p:txBody>
          <a:bodyPr wrap="square" lIns="0" tIns="0" rIns="0" bIns="0" rtlCol="0" anchor="ctr"/>
          <a:lstStyle/>
          <a:p>
            <a:pPr algn="ctr" indent="0" marL="0">
              <a:buNone/>
            </a:pPr>
            <a:r>
              <a:rPr lang="en-US" sz="2400" b="1" dirty="0">
                <a:solidFill>
                  <a:srgbClr val="387F7F"/>
                </a:solidFill>
                <a:latin typeface="Poppins" pitchFamily="34" charset="0"/>
                <a:ea typeface="Poppins" pitchFamily="34" charset="-122"/>
                <a:cs typeface="Poppins" pitchFamily="34" charset="-120"/>
              </a:rPr>
              <a:t>◇</a:t>
            </a:r>
            <a:endParaRPr lang="en-US" sz="2400" dirty="0"/>
          </a:p>
        </p:txBody>
      </p:sp>
      <p:sp>
        <p:nvSpPr>
          <p:cNvPr id="11" name="Text 9"/>
          <p:cNvSpPr txBox="1"/>
          <p:nvPr/>
        </p:nvSpPr>
        <p:spPr>
          <a:xfrm>
            <a:off x="960120" y="3337560"/>
            <a:ext cx="2514600" cy="1371600"/>
          </a:xfrm>
          <a:prstGeom prst="rect">
            <a:avLst/>
          </a:prstGeom>
          <a:noFill/>
          <a:ln/>
        </p:spPr>
        <p:txBody>
          <a:bodyPr wrap="square" lIns="0" tIns="0" rIns="0" bIns="0" rtlCol="0" anchor="t"/>
          <a:lstStyle/>
          <a:p>
            <a:pPr algn="ctr" indent="0" marL="0">
              <a:lnSpc>
                <a:spcPct val="130000"/>
              </a:lnSpc>
              <a:buNone/>
            </a:pPr>
            <a:r>
              <a:rPr lang="en-US" sz="1250" dirty="0">
                <a:solidFill>
                  <a:srgbClr val="475569"/>
                </a:solidFill>
                <a:latin typeface="Poppins" pitchFamily="34" charset="0"/>
                <a:ea typeface="Poppins" pitchFamily="34" charset="-122"/>
                <a:cs typeface="Poppins" pitchFamily="34" charset="-120"/>
              </a:rPr>
              <a:t>You have five loaded tables sitting next to each other with no relationships. Next you find out what happens when you try to use them that way.</a:t>
            </a:r>
            <a:endParaRPr lang="en-US" sz="1250" dirty="0"/>
          </a:p>
        </p:txBody>
      </p:sp>
      <p:sp>
        <p:nvSpPr>
          <p:cNvPr id="12" name="Shape 10"/>
          <p:cNvSpPr/>
          <p:nvPr/>
        </p:nvSpPr>
        <p:spPr>
          <a:xfrm>
            <a:off x="4005072" y="1691640"/>
            <a:ext cx="3063240" cy="3200400"/>
          </a:xfrm>
          <a:prstGeom prst="roundRect">
            <a:avLst>
              <a:gd name="adj" fmla="val 2985"/>
            </a:avLst>
          </a:prstGeom>
          <a:solidFill>
            <a:srgbClr val="FFFFFF"/>
          </a:solidFill>
          <a:ln/>
          <a:effectLst>
            <a:outerShdw sx="100000" sy="100000" kx="0" ky="0" algn="bl" rotWithShape="0" blurRad="152400" dist="38100" dir="5400000">
              <a:srgbClr val="1B2A2E">
                <a:alpha val="14000"/>
              </a:srgbClr>
            </a:outerShdw>
          </a:effectLst>
        </p:spPr>
      </p:sp>
      <p:sp>
        <p:nvSpPr>
          <p:cNvPr id="13" name="Shape 11"/>
          <p:cNvSpPr/>
          <p:nvPr/>
        </p:nvSpPr>
        <p:spPr>
          <a:xfrm>
            <a:off x="4005072" y="1691640"/>
            <a:ext cx="3063240" cy="475488"/>
          </a:xfrm>
          <a:prstGeom prst="rect">
            <a:avLst/>
          </a:prstGeom>
          <a:solidFill>
            <a:srgbClr val="387F7F"/>
          </a:solidFill>
          <a:ln/>
        </p:spPr>
      </p:sp>
      <p:sp>
        <p:nvSpPr>
          <p:cNvPr id="14" name="Text 12"/>
          <p:cNvSpPr txBox="1"/>
          <p:nvPr/>
        </p:nvSpPr>
        <p:spPr>
          <a:xfrm>
            <a:off x="4005072" y="1691640"/>
            <a:ext cx="3063240" cy="475488"/>
          </a:xfrm>
          <a:prstGeom prst="rect">
            <a:avLst/>
          </a:prstGeom>
          <a:noFill/>
          <a:ln/>
        </p:spPr>
        <p:txBody>
          <a:bodyPr wrap="square" lIns="0" tIns="0" rIns="0" bIns="0" rtlCol="0" anchor="ctr"/>
          <a:lstStyle/>
          <a:p>
            <a:pPr algn="ctr" indent="0" marL="0">
              <a:buNone/>
            </a:pPr>
            <a:r>
              <a:rPr lang="en-US" sz="1150" b="1" spc="100" kern="0" dirty="0">
                <a:solidFill>
                  <a:srgbClr val="FFFFFF"/>
                </a:solidFill>
                <a:latin typeface="Poppins" pitchFamily="34" charset="0"/>
                <a:ea typeface="Poppins" pitchFamily="34" charset="-122"/>
                <a:cs typeface="Poppins" pitchFamily="34" charset="-120"/>
              </a:rPr>
              <a:t>IN THE LAB</a:t>
            </a:r>
            <a:endParaRPr lang="en-US" sz="1150" dirty="0"/>
          </a:p>
        </p:txBody>
      </p:sp>
      <p:sp>
        <p:nvSpPr>
          <p:cNvPr id="15" name="Shape 13"/>
          <p:cNvSpPr/>
          <p:nvPr/>
        </p:nvSpPr>
        <p:spPr>
          <a:xfrm>
            <a:off x="5207508" y="2468880"/>
            <a:ext cx="658368" cy="658368"/>
          </a:xfrm>
          <a:prstGeom prst="ellipse">
            <a:avLst/>
          </a:prstGeom>
          <a:solidFill>
            <a:srgbClr val="FFFFFF"/>
          </a:solidFill>
          <a:ln w="22225">
            <a:solidFill>
              <a:srgbClr val="387F7F"/>
            </a:solidFill>
            <a:prstDash val="solid"/>
          </a:ln>
        </p:spPr>
      </p:sp>
      <p:sp>
        <p:nvSpPr>
          <p:cNvPr id="16" name="Text 14"/>
          <p:cNvSpPr txBox="1"/>
          <p:nvPr/>
        </p:nvSpPr>
        <p:spPr>
          <a:xfrm>
            <a:off x="5207508" y="2468880"/>
            <a:ext cx="658368" cy="658368"/>
          </a:xfrm>
          <a:prstGeom prst="rect">
            <a:avLst/>
          </a:prstGeom>
          <a:noFill/>
          <a:ln/>
        </p:spPr>
        <p:txBody>
          <a:bodyPr wrap="square" lIns="0" tIns="0" rIns="0" bIns="0" rtlCol="0" anchor="ctr"/>
          <a:lstStyle/>
          <a:p>
            <a:pPr algn="ctr" indent="0" marL="0">
              <a:buNone/>
            </a:pPr>
            <a:r>
              <a:rPr lang="en-US" sz="2400" b="1" dirty="0">
                <a:solidFill>
                  <a:srgbClr val="387F7F"/>
                </a:solidFill>
                <a:latin typeface="Poppins" pitchFamily="34" charset="0"/>
                <a:ea typeface="Poppins" pitchFamily="34" charset="-122"/>
                <a:cs typeface="Poppins" pitchFamily="34" charset="-120"/>
              </a:rPr>
              <a:t>▣</a:t>
            </a:r>
            <a:endParaRPr lang="en-US" sz="2400" dirty="0"/>
          </a:p>
        </p:txBody>
      </p:sp>
      <p:sp>
        <p:nvSpPr>
          <p:cNvPr id="17" name="Text 15"/>
          <p:cNvSpPr txBox="1"/>
          <p:nvPr/>
        </p:nvSpPr>
        <p:spPr>
          <a:xfrm>
            <a:off x="4279392" y="3337560"/>
            <a:ext cx="2514600" cy="1371600"/>
          </a:xfrm>
          <a:prstGeom prst="rect">
            <a:avLst/>
          </a:prstGeom>
          <a:noFill/>
          <a:ln/>
        </p:spPr>
        <p:txBody>
          <a:bodyPr wrap="square" lIns="0" tIns="0" rIns="0" bIns="0" rtlCol="0" anchor="t"/>
          <a:lstStyle/>
          <a:p>
            <a:pPr algn="ctr" indent="0" marL="0">
              <a:lnSpc>
                <a:spcPct val="130000"/>
              </a:lnSpc>
              <a:buNone/>
            </a:pPr>
            <a:r>
              <a:rPr lang="en-US" sz="1250" dirty="0">
                <a:solidFill>
                  <a:srgbClr val="475569"/>
                </a:solidFill>
                <a:latin typeface="Poppins" pitchFamily="34" charset="0"/>
                <a:ea typeface="Poppins" pitchFamily="34" charset="-122"/>
                <a:cs typeface="Poppins" pitchFamily="34" charset="-120"/>
              </a:rPr>
              <a:t>Load all five SwiftRoute files, fix a deliberately broken query, and reorder Applied Steps to repair a transformation that runs in the wrong order.</a:t>
            </a:r>
            <a:endParaRPr lang="en-US" sz="1250" dirty="0"/>
          </a:p>
        </p:txBody>
      </p:sp>
      <p:sp>
        <p:nvSpPr>
          <p:cNvPr id="18" name="Shape 16"/>
          <p:cNvSpPr/>
          <p:nvPr/>
        </p:nvSpPr>
        <p:spPr>
          <a:xfrm>
            <a:off x="7324344" y="1691640"/>
            <a:ext cx="3063240" cy="3200400"/>
          </a:xfrm>
          <a:prstGeom prst="roundRect">
            <a:avLst>
              <a:gd name="adj" fmla="val 2985"/>
            </a:avLst>
          </a:prstGeom>
          <a:solidFill>
            <a:srgbClr val="FFFFFF"/>
          </a:solidFill>
          <a:ln/>
          <a:effectLst>
            <a:outerShdw sx="100000" sy="100000" kx="0" ky="0" algn="bl" rotWithShape="0" blurRad="152400" dist="38100" dir="5400000">
              <a:srgbClr val="1B2A2E">
                <a:alpha val="14000"/>
              </a:srgbClr>
            </a:outerShdw>
          </a:effectLst>
        </p:spPr>
      </p:sp>
      <p:sp>
        <p:nvSpPr>
          <p:cNvPr id="19" name="Shape 17"/>
          <p:cNvSpPr/>
          <p:nvPr/>
        </p:nvSpPr>
        <p:spPr>
          <a:xfrm>
            <a:off x="7324344" y="1691640"/>
            <a:ext cx="3063240" cy="475488"/>
          </a:xfrm>
          <a:prstGeom prst="rect">
            <a:avLst/>
          </a:prstGeom>
          <a:solidFill>
            <a:srgbClr val="387F7F"/>
          </a:solidFill>
          <a:ln/>
        </p:spPr>
      </p:sp>
      <p:sp>
        <p:nvSpPr>
          <p:cNvPr id="20" name="Text 18"/>
          <p:cNvSpPr txBox="1"/>
          <p:nvPr/>
        </p:nvSpPr>
        <p:spPr>
          <a:xfrm>
            <a:off x="7324344" y="1691640"/>
            <a:ext cx="3063240" cy="475488"/>
          </a:xfrm>
          <a:prstGeom prst="rect">
            <a:avLst/>
          </a:prstGeom>
          <a:noFill/>
          <a:ln/>
        </p:spPr>
        <p:txBody>
          <a:bodyPr wrap="square" lIns="0" tIns="0" rIns="0" bIns="0" rtlCol="0" anchor="ctr"/>
          <a:lstStyle/>
          <a:p>
            <a:pPr algn="ctr" indent="0" marL="0">
              <a:buNone/>
            </a:pPr>
            <a:r>
              <a:rPr lang="en-US" sz="1150" b="1" spc="100" kern="0" dirty="0">
                <a:solidFill>
                  <a:srgbClr val="FFFFFF"/>
                </a:solidFill>
                <a:latin typeface="Poppins" pitchFamily="34" charset="0"/>
                <a:ea typeface="Poppins" pitchFamily="34" charset="-122"/>
                <a:cs typeface="Poppins" pitchFamily="34" charset="-120"/>
              </a:rPr>
              <a:t>ON PUBLICA.ACADEMY</a:t>
            </a:r>
            <a:endParaRPr lang="en-US" sz="1150" dirty="0"/>
          </a:p>
        </p:txBody>
      </p:sp>
      <p:sp>
        <p:nvSpPr>
          <p:cNvPr id="21" name="Shape 19"/>
          <p:cNvSpPr/>
          <p:nvPr/>
        </p:nvSpPr>
        <p:spPr>
          <a:xfrm>
            <a:off x="8526780" y="2468880"/>
            <a:ext cx="658368" cy="658368"/>
          </a:xfrm>
          <a:prstGeom prst="ellipse">
            <a:avLst/>
          </a:prstGeom>
          <a:solidFill>
            <a:srgbClr val="FFFFFF"/>
          </a:solidFill>
          <a:ln w="22225">
            <a:solidFill>
              <a:srgbClr val="387F7F"/>
            </a:solidFill>
            <a:prstDash val="solid"/>
          </a:ln>
        </p:spPr>
      </p:sp>
      <p:sp>
        <p:nvSpPr>
          <p:cNvPr id="22" name="Text 20"/>
          <p:cNvSpPr txBox="1"/>
          <p:nvPr/>
        </p:nvSpPr>
        <p:spPr>
          <a:xfrm>
            <a:off x="8526780" y="2468880"/>
            <a:ext cx="658368" cy="658368"/>
          </a:xfrm>
          <a:prstGeom prst="rect">
            <a:avLst/>
          </a:prstGeom>
          <a:noFill/>
          <a:ln/>
        </p:spPr>
        <p:txBody>
          <a:bodyPr wrap="square" lIns="0" tIns="0" rIns="0" bIns="0" rtlCol="0" anchor="ctr"/>
          <a:lstStyle/>
          <a:p>
            <a:pPr algn="ctr" indent="0" marL="0">
              <a:buNone/>
            </a:pPr>
            <a:r>
              <a:rPr lang="en-US" sz="2400" b="1" dirty="0">
                <a:solidFill>
                  <a:srgbClr val="387F7F"/>
                </a:solidFill>
                <a:latin typeface="Poppins" pitchFamily="34" charset="0"/>
                <a:ea typeface="Poppins" pitchFamily="34" charset="-122"/>
                <a:cs typeface="Poppins" pitchFamily="34" charset="-120"/>
              </a:rPr>
              <a:t>?</a:t>
            </a:r>
            <a:endParaRPr lang="en-US" sz="2400" dirty="0"/>
          </a:p>
        </p:txBody>
      </p:sp>
      <p:sp>
        <p:nvSpPr>
          <p:cNvPr id="23" name="Text 21"/>
          <p:cNvSpPr txBox="1"/>
          <p:nvPr/>
        </p:nvSpPr>
        <p:spPr>
          <a:xfrm>
            <a:off x="7598664" y="3337560"/>
            <a:ext cx="2514600" cy="1371600"/>
          </a:xfrm>
          <a:prstGeom prst="rect">
            <a:avLst/>
          </a:prstGeom>
          <a:noFill/>
          <a:ln/>
        </p:spPr>
        <p:txBody>
          <a:bodyPr wrap="square" lIns="0" tIns="0" rIns="0" bIns="0" rtlCol="0" anchor="t"/>
          <a:lstStyle/>
          <a:p>
            <a:pPr algn="ctr" indent="0" marL="0">
              <a:lnSpc>
                <a:spcPct val="130000"/>
              </a:lnSpc>
              <a:buNone/>
            </a:pPr>
            <a:r>
              <a:rPr lang="en-US" sz="1250" dirty="0">
                <a:solidFill>
                  <a:srgbClr val="475569"/>
                </a:solidFill>
                <a:latin typeface="Poppins" pitchFamily="34" charset="0"/>
                <a:ea typeface="Poppins" pitchFamily="34" charset="-122"/>
                <a:cs typeface="Poppins" pitchFamily="34" charset="-120"/>
              </a:rPr>
              <a:t>Practice questions on Power Query step order and data types, plus the Module 7 mini project brief.</a:t>
            </a:r>
            <a:endParaRPr lang="en-US" sz="1250" dirty="0"/>
          </a:p>
        </p:txBody>
      </p:sp>
      <p:pic>
        <p:nvPicPr>
          <p:cNvPr id="24" name="Image 0" descr="/home/claude/build/assets/logo_full.png">    </p:cNvPr>
          <p:cNvPicPr>
            <a:picLocks noChangeAspect="1"/>
          </p:cNvPicPr>
          <p:nvPr/>
        </p:nvPicPr>
        <p:blipFill>
          <a:blip r:embed="rId2"/>
          <a:stretch>
            <a:fillRect/>
          </a:stretch>
        </p:blipFill>
        <p:spPr>
          <a:xfrm>
            <a:off x="10998403" y="5949086"/>
            <a:ext cx="431597" cy="375337"/>
          </a:xfrm>
          <a:prstGeom prst="rect">
            <a:avLst/>
          </a:prstGeom>
        </p:spPr>
      </p:pic>
      <p:sp>
        <p:nvSpPr>
          <p:cNvPr id="25" name="Text 22"/>
          <p:cNvSpPr txBox="1"/>
          <p:nvPr/>
        </p:nvSpPr>
        <p:spPr>
          <a:xfrm>
            <a:off x="11689050" y="6473952"/>
            <a:ext cx="365760" cy="274320"/>
          </a:xfrm>
          <a:prstGeom prst="rect">
            <a:avLst/>
          </a:prstGeom>
          <a:noFill/>
          <a:ln/>
        </p:spPr>
        <p:txBody>
          <a:bodyPr wrap="square" lIns="0" tIns="0" rIns="0" bIns="0" rtlCol="0" anchor="ctr"/>
          <a:lstStyle/>
          <a:p>
            <a:pPr algn="r" indent="0" marL="0">
              <a:buNone/>
            </a:pPr>
            <a:r>
              <a:rPr lang="en-US" sz="1100" dirty="0">
                <a:solidFill>
                  <a:srgbClr val="64748B"/>
                </a:solidFill>
                <a:latin typeface="Poppins" pitchFamily="34" charset="0"/>
                <a:ea typeface="Poppins" pitchFamily="34" charset="-122"/>
                <a:cs typeface="Poppins" pitchFamily="34" charset="-120"/>
              </a:rPr>
              <a:t>19</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7.1 The Power BI Environment and Data Loading</dc:title>
  <dc:subject>PptxGenJS Presentation</dc:subject>
  <dc:creator>Publica Academy</dc:creator>
  <cp:lastModifiedBy>Publica Academy</cp:lastModifiedBy>
  <cp:revision>1</cp:revision>
  <dcterms:created xsi:type="dcterms:W3CDTF">2026-08-27T06:48:28Z</dcterms:created>
  <dcterms:modified xsi:type="dcterms:W3CDTF">2026-08-27T06:48:28Z</dcterms:modified>
</cp:coreProperties>
</file>