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1203" autoAdjust="0"/>
  </p:normalViewPr>
  <p:slideViewPr>
    <p:cSldViewPr snapToGrid="0" snapToObjects="1">
      <p:cViewPr>
        <p:scale>
          <a:sx n="62" d="100"/>
          <a:sy n="62" d="100"/>
        </p:scale>
        <p:origin x="28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630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one minute):
"Topic 7.2. This is the one where Power BI stops being a loading tool and becomes a modelling tool, and it is the most important hour of the module.
In the last topic you loaded five tables. They are sitting in one file, side by side, with nothing connecting them. Today we connect them, and more importantly, you find out what goes wrong when somebody connects them the obvious way instead of the right way."
DELIVERY CUE: do not preview the failure demo. The whole topic depends on trainees not seeing the 41,280 coming.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MATTERS: outcome two uses "explain", an Analyse-level verb on the programme's ladder. Trainees will not have met it until they have watched a flat table produce a plausible wrong number, which is why the failure demo comes before the theory.
WHAT TO SAY (about two minutes):
"Two outcomes today, and notice the second verb. Build, then explain.
Build a data model with correct relationships. That is the mechanical half and you will have it inside twenty minutes.
Explain why a flat single table is often the wrong design. That is the half that matters in an interview, and you cannot get there by being told. You have to see it fail."
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YET. Ask the question and take two or three guesses from the room, including a remote trainee by name. Somebody usually says "duplicates". Say "close" and move on. Holding this tension for the next fifteen minutes is the whole design of the topic.
WHAT TO SAY (about three minutes):
"SwiftRoute employs sixty-eight riders. I can tell you that with confidence because I have the HR list in front of me.
Last month somebody built a dashboard for Adaeze, and the rider count on it read forty-one thousand, two hundred and eighty.
Now, that chart had a title. It had an axis label. It had a legend. It looked completely professional and it was completely wrong.
So here is my question before I show you anything. How would you have caught that?"
Take answers. Do not confirm or deny. Then move to the demo.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"Part one. Before we build anything correctly, I want you to watch something break."
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from 7.2_demo_flat.pbix. Build the rider count card in front of them so they see it appear. Let the wrong number sit on screen without comment for a beat, then deliver the line.
Fallback file must already be open in a second window. If the live build fails twice, switch without apologising.
WHAT TO SAY AND DO (about five minutes):
"Here is a Power BI file somebody built. One table. They joined all five SwiftRoute files together in Excel first, which felt sensible, and imported the result: one wide table, forty-one thousand two hundred and eighty rows.
Watch me build the simplest possible visual. Card. Drag rider name in. Set it to count."
[Let the number appear.]
"That is forty-one thousand two hundred and eighty. We have sixty-eight riders."
[Pause. Say nothing for three seconds.]
"No error. No warning. No red. The file loaded perfectly, the visual built perfectly, and the answer is nonsense."
TIMING: 5 minutes including the live build.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explanatory heart of the topic.
THE CONTENT IN FULL: when you flatten, the rider's details stop being facts about a rider and become attributes of a delivery. Chidi Okafor does not appear once in this table. He appears 607 times, once per delivery. So counting that column counts deliveries, not riders.
Connect it explicitly back to Topic 7.1, where you made them say "one row per what". The flat table's grain is one row per delivery. Every question it answers is a delivery question.
WHAT TO SAY (about five minutes):
"Look at these six rows. Chidi Okafor, rider R-014, appears four times in six rows. Not because the data is corrupt. Because he made four of these six deliveries.
In the real table he appears six hundred and seven times.
So when you count that column, what are you counting? You are counting deliveries that happen to have his name written next to them. The rider stopped being a rider and became an attribute of a delivery.
Remember the word from last topic. Grain. One row per what. The grain of this table is one row per delivery, so every single question it can answer is a question about deliveries. Power BI did not make a mistake. It answered exactly what you asked."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3 IS THE SOPHISTICATED POINT and it rewards the stronger trainees. It is also exactly the LEFT JOIN reasoning from Module 3: an inner join silently drops the inactive ones. Say that comparison out loud; it lands hard for anyone who understood that module.
WHAT TO SAY (about four minutes):
"Three costs, and only the first is obvious.
One, wrong counts. You have seen that. Anything distinct that lives in the fact table gets counted at delivery grain.
Two, wrong averages. Suppose you average rider tenure. Every rider is weighted by how many deliveries they happened to make, so your busiest rider counts six hundred times and your newest counts twice. That is not an average of riders. It is an average of deliveries that happens to mention tenure.
Three, and this is the one I want you to remember. A slicer on Hub filters deliveries, not riders. So you can never ask: how many riders in Apapa made no deliveries last week? Because a rider who made no deliveries has no rows. They do not exist in this table.
That is the same lesson as your joins in Module 3. An inner join silently drops the inactive ones and the row count still looks plausible."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"Part two. Now we do it properly, and you will see the number correct itself."
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Topic 3.5 from Module 3 returning as practice rather than theory. The programme's prerequisite note says the star-schema concepts are applied here.
BEFORE YOU REVEAL: ask the room to classify the five SwiftRoute tables verbally. "Deliveries: fact or dimension? Riders? Routes? Customers? Dates?" They will get it right, which builds confidence, and it proves the Module 3 knowledge transferred.
WHAT TO SAY (about four minutes):
"Two kinds of table, and once you can tell them apart, modelling becomes mechanical.
A fact table records events. One row per thing that happened. It is long and narrow: millions of rows eventually, not many columns, mostly numbers and ID codes. It grows every single day.
A dimension table describes things. One row per thing that exists. Short and wide: sixty-eight rows, but lots of descriptive columns. It barely changes.
Here is the rule of thumb that settles almost every case. If you would filter or group BY it, it is a dimension. If you would sum or count it, it belongs in the fact table."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VISUAL ANCHOR OF THE WHOLE MODULE. It reappears in 7.3 and 7.4. Trainees should recognise it instantly each time, so do not redraw or restyle it between decks.
Reading the notation: the teal dot marks the primary key in each dimension. The chip on each line names the column the relationship joins on. The 1 sits at the dimension end, the star at the fact end.
WHAT TO SAY (about five minutes):
"This is the shape you are building. It is called a star schema, and you can see why.
The fact table sits in the middle. Deliveries. Every row is one event that happened.
Around it, four dimensions. Riders, routes, customers, dates. Each one describes a kind of thing that exists.
Look at the label on each line. That is the column the relationship joins on. RiderID, RouteID, CustomerID, DateKey. Each one appears once in the dimension, as its primary key, and many times in the fact table, as a foreign key.
Now watch the direction, because this is the part people get wrong."
[Trace with your cursor from a dimension into the fact table.]
"I click Apapa in a hub slicer. The filter starts in riders, travels down the relationship, crosses into deliveries, and only Apapa riders' deliveries survive. Filters flow downhill, from the one side to the many side. From the outside of the star into the centre.
Say it back to me: from the one side to the many side."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PREDICT-THEN-RUN. This is Module 3's signature technique, and naming it every time is what makes it transfer. Before building the relationship in the demo, ask the room to state on paper how many delivery rows will show for Chidi Okafor, and why. Then run it and reconcile.
WHAT TO SAY (about four minutes):
"On the left, riders. Three rows, three different riders. Each Rider ID appears exactly once. That is your primary key from Module 3, and Power BI will refuse the relationship, or quietly degrade it, if that is not true.
On the right, deliveries. Look at R-014. It appears three times in six rows. Is that duplication? No. That is the point. Each delivery is pointing back at the rider who made it.
So: the one side must hold each key exactly once. The many side may repeat it as often as it likes.
Before I build this, write down on paper: how many delivery rows do you expect for Chidi Okafor? You did exactly this with joins in Module 3. Same move."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Deliberately drag the wrong direction first, show that Power BI still resolves it correctly, then explain that this convenience is exactly why people never learn which side is which.
WHAT TO SAY (about two minutes):
"Model view. I take Rider ID from the riders table and I drag it onto Rider ID in deliveries. A line appears.
Now, Power BI has just made a decision on your behalf. It has looked at the data, worked out which side is unique, and set the cardinality. Most people click straight past this dialogue.
Read it. It should say one to many, with the one on riders. If it says many to many, do not shrug and continue: that means your dimension table has duplicate keys, and you have a data problem to fix upstream."
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PHOTOGRAPH THIS SLIDE. It is the diagnostic checklist they will use for the rest of their careers, and it is the first question you ask in the lab when a hand goes up: "which of the three did you check?"
WHAT TO SAY (about three minutes):
"Three things to check on every relationship you ever build.
Cardinality. One to many, with the one on the dimension side. If it says many to many, stop: your dimension has duplicate keys.
Cross-filter direction. Single, flowing from the dimension into the fact. Both is available. It is almost always wrong, and I will show you why on the next slide.
Active or inactive. If the line is dotted, the relationship exists but is not being used. Power BI only allows one active path between any two tables.
Photograph this. When something in your report is wrong, this is where you start."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ADVANCED and you are giving them a rule rather than the full theory. Be honest about that, because pretending otherwise damages trust.
WHAT TO SAY (about three minutes):
"There is a setting called cross-filter direction, and it has an option called Both. It looks helpful. It is a trap.
Single means filters flow one way: from the dimension into the fact. Both means they can also travel back up out of the fact table, and then across into a different dimension.
Here is why that hurts. Once filters can travel both ways, Power BI can often reach the same table by more than one route, and it has to pick one. You will not notice. The visual you were fixing works. Then three weeks later a completely different chart is quietly wrong and you have no idea why.
I am giving you a rule here, not the reasoning, because the reasoning takes a week. Leave it on Single. If you think you need Both, you probably need a different measure, which is the next topic."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RESIST THIS because it feels like extra work for no visible gain. The gain arrives in the next topic, so flag it forward explicitly and they will accept it.
WHAT TO SAY (about three minutes):
"Fifth table. Dates. Three hundred and sixty-five rows, one per day, with year, quarter, month name, week number and a weekday flag.
And every cohort someone asks: why? Deliveries already has a date column.
Here is why. That date column is a single value on a single row. It cannot tell you what quarter it belongs to, or what the same month last year was. A date dimension can, because those are columns you can group and filter by.
Concretely: in the next topic you will write a measure comparing this month with last month. With this table it is one line. Without it, it is a hand-built filter every single time, and it breaks the moment your dates change.
One thing you must do: Table tools, Mark as date table, choose DateKey. Do it before you write any time measure."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opened on the hook slide. Say the pull line word for word; it is the sentence you want trainees repeating in the capstone.
Rebuild live if time allows, otherwise switch to the fallback 7.2_demo_star.pbix.
WHAT TO SAY (about four minutes):
"Same question. Count the riders.
On the flat table: forty-one thousand, two hundred and eighty. And I want to be precise about this, because it matters. That is not a bug. That is a completely correct answer to a question nobody asked.
On the star schema: sixty-eight.
Now notice what did not change. Same data. Same visual. Same field dragged into the same card. The only thing that changed is which table the count is drawn from, and that was decided by the model, not by the chart.
So here is the sentence I want you to leave with. The model is where correctness lives. The chart just shows you what the model believes."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PLANTED FAULT: one relationship will refuse to build. routes_raw.csv has a trailing space on one RouteID, which Topic 7.1 told them to trim and which many will not have. This is deliberate, per the error-driven learning method.
Let them find it. If nobody has after eight minutes, prompt with "check your keys, not your relationships". Do not give the answer; the next slide does.
WHAT TO DO: walk the room. Do not answer from the front. Expected answer for the prediction: customers returns 310.
TIMING: 12 minutes.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FIX IS UPSTREAM" and connect it back to Topic 7.1's golden rule of load order. This is the payoff for having taught clean-first, and it is the moment trainees understand why you insisted on it.
WHAT TO SAY (about three minutes):
"Anyone whose routes relationship refused, or produced blanks: here is why.
In routes, that route code has a trailing space. LAG-07 space. In deliveries it does not. To you, reading them on screen, they are identical. To Power BI they are two different strings, so they do not match.
And notice the failure mode. Nothing turned red. No error appeared. The relationship built, produced blanks, and you interpreted the blanks as missing data.
The fix is not in the model. It is upstream, in Power Query: Transform, Format, Trim. And this is exactly why I made you clean first in the last topic. Fix it at the source and every relationship downstream just works."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The programme's standard is that trainees can justify choices, not recite rules. A trainee who leaves believing "flat tables are always bad" has memorised a slogan and will apply it wrongly in their capstone.
WHAT TO SAY (about three minutes):
"Before we finish, let me be fair to the flat table, because I have spent forty minutes attacking it.
A single table is not always wrong. If you have one source, nothing worth describing separately, no time comparisons and no counting of distinct things, then one table is simpler. And simpler is a real virtue, not a compromise. Plenty of perfectly good reports are one table.
The claim I am actually making is narrower. A flat table is the wrong design when you need to count or filter by things rather than events.
Know which situation you are in, and be able to say why. That is the outcome. Not 'flat tables are bad'."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Restating outcomes as achievements is required by the deck anatomy in the Content Creator Guide.
WHAT TO SAY (about two minutes):
"Three things you can do now that you could not an hour ago.
You can build a data model with correct relationships, and you know the three things to check on every one.
You can explain why a flat table is often wrong, and you can explain it from something you watched rather than something you were told.
And you can fix a broken relationship at its source instead of patching around it.
One last thing. You watched a chart today that had a title, an axis label and a legend, and was completely wrong. Remember how that felt. That feeling is the most valuable thing you will take out of this module."
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7.3 TEASER. Trainees respond to the promise that three measures will cover most of what they need.
WHAT TO SAY (about one minute):
"Straight into 7.3. Your model now knows how the tables relate. What it cannot do yet is calculate anything beyond a row count.
In the next topic you learn three DAX measures. Only three. An aggregation, a ratio, and a time comparison. Between them they cover the substantial majority of real operational dashboards, and I will show you how to verify each one against the source data so you never ship a number you cannot defend."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build/assets/logo_full.png"/>
          <p:cNvPicPr>
            <a:picLocks noChangeAspect="1"/>
          </p:cNvPicPr>
          <p:nvPr/>
        </p:nvPicPr>
        <p:blipFill>
          <a:blip r:embed="rId4"/>
          <a:stretch>
            <a:fillRect/>
          </a:stretch>
        </p:blipFill>
        <p:spPr>
          <a:xfrm>
            <a:off x="685800" y="502920"/>
            <a:ext cx="1371600" cy="1192807"/>
          </a:xfrm>
          <a:prstGeom prst="rect">
            <a:avLst/>
          </a:prstGeom>
        </p:spPr>
      </p:pic>
      <p:sp>
        <p:nvSpPr>
          <p:cNvPr id="3" name="Text 0"/>
          <p:cNvSpPr txBox="1"/>
          <p:nvPr/>
        </p:nvSpPr>
        <p:spPr>
          <a:xfrm>
            <a:off x="685800" y="2331720"/>
            <a:ext cx="6949440" cy="320040"/>
          </a:xfrm>
          <a:prstGeom prst="rect">
            <a:avLst/>
          </a:prstGeom>
          <a:noFill/>
          <a:ln/>
        </p:spPr>
        <p:txBody>
          <a:bodyPr wrap="square" lIns="0" tIns="0" rIns="0" bIns="0" rtlCol="0" anchor="ctr"/>
          <a:lstStyle/>
          <a:p>
            <a:pPr marL="0" indent="0">
              <a:buNone/>
            </a:pPr>
            <a:r>
              <a:rPr lang="en-US" sz="1250" b="1" kern="0" spc="150" dirty="0">
                <a:solidFill>
                  <a:srgbClr val="387F7F"/>
                </a:solidFill>
                <a:latin typeface="Poppins" pitchFamily="34" charset="0"/>
                <a:ea typeface="Poppins" pitchFamily="34" charset="-122"/>
                <a:cs typeface="Poppins" pitchFamily="34" charset="-120"/>
              </a:rPr>
              <a:t>BUSINESS INTELLIGENCE WITH POWER BI</a:t>
            </a:r>
            <a:endParaRPr lang="en-US" sz="1250" dirty="0"/>
          </a:p>
        </p:txBody>
      </p:sp>
      <p:sp>
        <p:nvSpPr>
          <p:cNvPr id="4" name="Text 1"/>
          <p:cNvSpPr txBox="1"/>
          <p:nvPr/>
        </p:nvSpPr>
        <p:spPr>
          <a:xfrm>
            <a:off x="685800" y="2670048"/>
            <a:ext cx="6949440" cy="411480"/>
          </a:xfrm>
          <a:prstGeom prst="rect">
            <a:avLst/>
          </a:prstGeom>
          <a:noFill/>
          <a:ln/>
        </p:spPr>
        <p:txBody>
          <a:bodyPr wrap="square" lIns="0" tIns="0" rIns="0" bIns="0" rtlCol="0" anchor="ctr"/>
          <a:lstStyle/>
          <a:p>
            <a:pPr marL="0" indent="0">
              <a:buNone/>
            </a:pPr>
            <a:r>
              <a:rPr lang="en-US" sz="1700" dirty="0">
                <a:solidFill>
                  <a:srgbClr val="64748B"/>
                </a:solidFill>
                <a:latin typeface="Poppins" pitchFamily="34" charset="0"/>
                <a:ea typeface="Poppins" pitchFamily="34" charset="-122"/>
                <a:cs typeface="Poppins" pitchFamily="34" charset="-120"/>
              </a:rPr>
              <a:t>Module 7: Loading, Modelling and Dashboards</a:t>
            </a:r>
            <a:endParaRPr lang="en-US" sz="1700" dirty="0"/>
          </a:p>
        </p:txBody>
      </p:sp>
      <p:sp>
        <p:nvSpPr>
          <p:cNvPr id="5" name="Text 2"/>
          <p:cNvSpPr txBox="1"/>
          <p:nvPr/>
        </p:nvSpPr>
        <p:spPr>
          <a:xfrm>
            <a:off x="658368" y="3108960"/>
            <a:ext cx="7223760" cy="1828800"/>
          </a:xfrm>
          <a:prstGeom prst="rect">
            <a:avLst/>
          </a:prstGeom>
          <a:noFill/>
          <a:ln/>
        </p:spPr>
        <p:txBody>
          <a:bodyPr wrap="square" lIns="0" tIns="0" rIns="0" bIns="0" rtlCol="0" anchor="ctr"/>
          <a:lstStyle/>
          <a:p>
            <a:pPr marL="0" indent="0">
              <a:lnSpc>
                <a:spcPct val="103000"/>
              </a:lnSpc>
              <a:buNone/>
            </a:pPr>
            <a:r>
              <a:rPr lang="en-US" sz="4200" b="1" dirty="0">
                <a:solidFill>
                  <a:srgbClr val="0A1A23"/>
                </a:solidFill>
                <a:latin typeface="Poppins" pitchFamily="34" charset="0"/>
                <a:ea typeface="Poppins" pitchFamily="34" charset="-122"/>
                <a:cs typeface="Poppins" pitchFamily="34" charset="-120"/>
              </a:rPr>
              <a:t>Data Modelling
</a:t>
            </a:r>
            <a:r>
              <a:rPr lang="en-US" sz="4200" b="1" dirty="0">
                <a:solidFill>
                  <a:srgbClr val="387F7F"/>
                </a:solidFill>
                <a:latin typeface="Poppins" pitchFamily="34" charset="0"/>
                <a:ea typeface="Poppins" pitchFamily="34" charset="-122"/>
                <a:cs typeface="Poppins" pitchFamily="34" charset="-120"/>
              </a:rPr>
              <a:t>and Relationships</a:t>
            </a:r>
            <a:endParaRPr lang="en-US" sz="4200" dirty="0"/>
          </a:p>
        </p:txBody>
      </p:sp>
      <p:sp>
        <p:nvSpPr>
          <p:cNvPr id="6" name="Shape 3"/>
          <p:cNvSpPr/>
          <p:nvPr/>
        </p:nvSpPr>
        <p:spPr>
          <a:xfrm>
            <a:off x="9784080" y="2103120"/>
            <a:ext cx="10973" cy="777240"/>
          </a:xfrm>
          <a:prstGeom prst="line">
            <a:avLst/>
          </a:prstGeom>
          <a:noFill/>
          <a:ln w="25400">
            <a:solidFill>
              <a:srgbClr val="7FB3B3"/>
            </a:solidFill>
            <a:prstDash val="solid"/>
          </a:ln>
        </p:spPr>
      </p:sp>
      <p:sp>
        <p:nvSpPr>
          <p:cNvPr id="7" name="Shape 4"/>
          <p:cNvSpPr/>
          <p:nvPr/>
        </p:nvSpPr>
        <p:spPr>
          <a:xfrm>
            <a:off x="9258300" y="1645920"/>
            <a:ext cx="1051560" cy="457200"/>
          </a:xfrm>
          <a:prstGeom prst="roundRect">
            <a:avLst>
              <a:gd name="adj" fmla="val 12000"/>
            </a:avLst>
          </a:prstGeom>
          <a:solidFill>
            <a:srgbClr val="FFFFFF"/>
          </a:solidFill>
          <a:ln w="12700">
            <a:solidFill>
              <a:srgbClr val="E2E8F0"/>
            </a:solidFill>
            <a:prstDash val="solid"/>
          </a:ln>
          <a:effectLst>
            <a:outerShdw blurRad="76200" dist="25400" dir="5400000" algn="bl" rotWithShape="0">
              <a:srgbClr val="1B2A2E">
                <a:alpha val="10000"/>
              </a:srgbClr>
            </a:outerShdw>
          </a:effectLst>
        </p:spPr>
      </p:sp>
      <p:sp>
        <p:nvSpPr>
          <p:cNvPr id="8" name="Text 5"/>
          <p:cNvSpPr txBox="1"/>
          <p:nvPr/>
        </p:nvSpPr>
        <p:spPr>
          <a:xfrm>
            <a:off x="9258300" y="1645920"/>
            <a:ext cx="1051560" cy="457200"/>
          </a:xfrm>
          <a:prstGeom prst="rect">
            <a:avLst/>
          </a:prstGeom>
          <a:noFill/>
          <a:ln/>
        </p:spPr>
        <p:txBody>
          <a:bodyPr wrap="square" lIns="0" tIns="0" rIns="0" bIns="0" rtlCol="0" anchor="ctr"/>
          <a:lstStyle/>
          <a:p>
            <a:pPr marL="0" indent="0" algn="ctr">
              <a:buNone/>
            </a:pPr>
            <a:r>
              <a:rPr lang="en-US" sz="900" dirty="0">
                <a:solidFill>
                  <a:srgbClr val="475569"/>
                </a:solidFill>
                <a:latin typeface="Poppins" pitchFamily="34" charset="0"/>
                <a:ea typeface="Poppins" pitchFamily="34" charset="-122"/>
                <a:cs typeface="Poppins" pitchFamily="34" charset="-120"/>
              </a:rPr>
              <a:t>riders</a:t>
            </a:r>
            <a:endParaRPr lang="en-US" sz="900" dirty="0"/>
          </a:p>
        </p:txBody>
      </p:sp>
      <p:sp>
        <p:nvSpPr>
          <p:cNvPr id="9" name="Shape 6"/>
          <p:cNvSpPr/>
          <p:nvPr/>
        </p:nvSpPr>
        <p:spPr>
          <a:xfrm>
            <a:off x="10469880" y="3209544"/>
            <a:ext cx="502920" cy="10973"/>
          </a:xfrm>
          <a:prstGeom prst="line">
            <a:avLst/>
          </a:prstGeom>
          <a:noFill/>
          <a:ln w="25400">
            <a:solidFill>
              <a:srgbClr val="7FB3B3"/>
            </a:solidFill>
            <a:prstDash val="solid"/>
          </a:ln>
        </p:spPr>
      </p:sp>
      <p:sp>
        <p:nvSpPr>
          <p:cNvPr id="10" name="Shape 7"/>
          <p:cNvSpPr/>
          <p:nvPr/>
        </p:nvSpPr>
        <p:spPr>
          <a:xfrm>
            <a:off x="10972800" y="2980944"/>
            <a:ext cx="1051560" cy="457200"/>
          </a:xfrm>
          <a:prstGeom prst="roundRect">
            <a:avLst>
              <a:gd name="adj" fmla="val 12000"/>
            </a:avLst>
          </a:prstGeom>
          <a:solidFill>
            <a:srgbClr val="FFFFFF"/>
          </a:solidFill>
          <a:ln w="12700">
            <a:solidFill>
              <a:srgbClr val="E2E8F0"/>
            </a:solidFill>
            <a:prstDash val="solid"/>
          </a:ln>
          <a:effectLst>
            <a:outerShdw blurRad="76200" dist="25400" dir="5400000" algn="bl" rotWithShape="0">
              <a:srgbClr val="1B2A2E">
                <a:alpha val="10000"/>
              </a:srgbClr>
            </a:outerShdw>
          </a:effectLst>
        </p:spPr>
      </p:sp>
      <p:sp>
        <p:nvSpPr>
          <p:cNvPr id="11" name="Text 8"/>
          <p:cNvSpPr txBox="1"/>
          <p:nvPr/>
        </p:nvSpPr>
        <p:spPr>
          <a:xfrm>
            <a:off x="10972800" y="2980944"/>
            <a:ext cx="1051560" cy="457200"/>
          </a:xfrm>
          <a:prstGeom prst="rect">
            <a:avLst/>
          </a:prstGeom>
          <a:noFill/>
          <a:ln/>
        </p:spPr>
        <p:txBody>
          <a:bodyPr wrap="square" lIns="0" tIns="0" rIns="0" bIns="0" rtlCol="0" anchor="ctr"/>
          <a:lstStyle/>
          <a:p>
            <a:pPr marL="0" indent="0" algn="ctr">
              <a:buNone/>
            </a:pPr>
            <a:r>
              <a:rPr lang="en-US" sz="900" dirty="0">
                <a:solidFill>
                  <a:srgbClr val="475569"/>
                </a:solidFill>
                <a:latin typeface="Poppins" pitchFamily="34" charset="0"/>
                <a:ea typeface="Poppins" pitchFamily="34" charset="-122"/>
                <a:cs typeface="Poppins" pitchFamily="34" charset="-120"/>
              </a:rPr>
              <a:t>routes</a:t>
            </a:r>
            <a:endParaRPr lang="en-US" sz="900" dirty="0"/>
          </a:p>
        </p:txBody>
      </p:sp>
      <p:sp>
        <p:nvSpPr>
          <p:cNvPr id="12" name="Shape 9"/>
          <p:cNvSpPr/>
          <p:nvPr/>
        </p:nvSpPr>
        <p:spPr>
          <a:xfrm>
            <a:off x="9784080" y="3538728"/>
            <a:ext cx="10973" cy="777240"/>
          </a:xfrm>
          <a:prstGeom prst="line">
            <a:avLst/>
          </a:prstGeom>
          <a:noFill/>
          <a:ln w="25400">
            <a:solidFill>
              <a:srgbClr val="7FB3B3"/>
            </a:solidFill>
            <a:prstDash val="solid"/>
          </a:ln>
        </p:spPr>
      </p:sp>
      <p:sp>
        <p:nvSpPr>
          <p:cNvPr id="13" name="Shape 10"/>
          <p:cNvSpPr/>
          <p:nvPr/>
        </p:nvSpPr>
        <p:spPr>
          <a:xfrm>
            <a:off x="9258300" y="4315968"/>
            <a:ext cx="1051560" cy="457200"/>
          </a:xfrm>
          <a:prstGeom prst="roundRect">
            <a:avLst>
              <a:gd name="adj" fmla="val 12000"/>
            </a:avLst>
          </a:prstGeom>
          <a:solidFill>
            <a:srgbClr val="FFFFFF"/>
          </a:solidFill>
          <a:ln w="12700">
            <a:solidFill>
              <a:srgbClr val="E2E8F0"/>
            </a:solidFill>
            <a:prstDash val="solid"/>
          </a:ln>
          <a:effectLst>
            <a:outerShdw blurRad="76200" dist="25400" dir="5400000" algn="bl" rotWithShape="0">
              <a:srgbClr val="1B2A2E">
                <a:alpha val="10000"/>
              </a:srgbClr>
            </a:outerShdw>
          </a:effectLst>
        </p:spPr>
      </p:sp>
      <p:sp>
        <p:nvSpPr>
          <p:cNvPr id="14" name="Text 11"/>
          <p:cNvSpPr txBox="1"/>
          <p:nvPr/>
        </p:nvSpPr>
        <p:spPr>
          <a:xfrm>
            <a:off x="9258300" y="4315968"/>
            <a:ext cx="1051560" cy="457200"/>
          </a:xfrm>
          <a:prstGeom prst="rect">
            <a:avLst/>
          </a:prstGeom>
          <a:noFill/>
          <a:ln/>
        </p:spPr>
        <p:txBody>
          <a:bodyPr wrap="square" lIns="0" tIns="0" rIns="0" bIns="0" rtlCol="0" anchor="ctr"/>
          <a:lstStyle/>
          <a:p>
            <a:pPr marL="0" indent="0" algn="ctr">
              <a:buNone/>
            </a:pPr>
            <a:r>
              <a:rPr lang="en-US" sz="900" dirty="0">
                <a:solidFill>
                  <a:srgbClr val="475569"/>
                </a:solidFill>
                <a:latin typeface="Poppins" pitchFamily="34" charset="0"/>
                <a:ea typeface="Poppins" pitchFamily="34" charset="-122"/>
                <a:cs typeface="Poppins" pitchFamily="34" charset="-120"/>
              </a:rPr>
              <a:t>customers</a:t>
            </a:r>
            <a:endParaRPr lang="en-US" sz="900" dirty="0"/>
          </a:p>
        </p:txBody>
      </p:sp>
      <p:sp>
        <p:nvSpPr>
          <p:cNvPr id="15" name="Shape 12"/>
          <p:cNvSpPr/>
          <p:nvPr/>
        </p:nvSpPr>
        <p:spPr>
          <a:xfrm>
            <a:off x="8595360" y="3209544"/>
            <a:ext cx="502920" cy="10973"/>
          </a:xfrm>
          <a:prstGeom prst="line">
            <a:avLst/>
          </a:prstGeom>
          <a:noFill/>
          <a:ln w="25400">
            <a:solidFill>
              <a:srgbClr val="7FB3B3"/>
            </a:solidFill>
            <a:prstDash val="solid"/>
          </a:ln>
        </p:spPr>
      </p:sp>
      <p:sp>
        <p:nvSpPr>
          <p:cNvPr id="16" name="Shape 13"/>
          <p:cNvSpPr/>
          <p:nvPr/>
        </p:nvSpPr>
        <p:spPr>
          <a:xfrm>
            <a:off x="7543800" y="2980944"/>
            <a:ext cx="1051560" cy="457200"/>
          </a:xfrm>
          <a:prstGeom prst="roundRect">
            <a:avLst>
              <a:gd name="adj" fmla="val 12000"/>
            </a:avLst>
          </a:prstGeom>
          <a:solidFill>
            <a:srgbClr val="FFFFFF"/>
          </a:solidFill>
          <a:ln w="12700">
            <a:solidFill>
              <a:srgbClr val="E2E8F0"/>
            </a:solidFill>
            <a:prstDash val="solid"/>
          </a:ln>
          <a:effectLst>
            <a:outerShdw blurRad="76200" dist="25400" dir="5400000" algn="bl" rotWithShape="0">
              <a:srgbClr val="1B2A2E">
                <a:alpha val="10000"/>
              </a:srgbClr>
            </a:outerShdw>
          </a:effectLst>
        </p:spPr>
      </p:sp>
      <p:sp>
        <p:nvSpPr>
          <p:cNvPr id="17" name="Text 14"/>
          <p:cNvSpPr txBox="1"/>
          <p:nvPr/>
        </p:nvSpPr>
        <p:spPr>
          <a:xfrm>
            <a:off x="7543800" y="2980944"/>
            <a:ext cx="1051560" cy="457200"/>
          </a:xfrm>
          <a:prstGeom prst="rect">
            <a:avLst/>
          </a:prstGeom>
          <a:noFill/>
          <a:ln/>
        </p:spPr>
        <p:txBody>
          <a:bodyPr wrap="square" lIns="0" tIns="0" rIns="0" bIns="0" rtlCol="0" anchor="ctr"/>
          <a:lstStyle/>
          <a:p>
            <a:pPr marL="0" indent="0" algn="ctr">
              <a:buNone/>
            </a:pPr>
            <a:r>
              <a:rPr lang="en-US" sz="900" dirty="0">
                <a:solidFill>
                  <a:srgbClr val="475569"/>
                </a:solidFill>
                <a:latin typeface="Poppins" pitchFamily="34" charset="0"/>
                <a:ea typeface="Poppins" pitchFamily="34" charset="-122"/>
                <a:cs typeface="Poppins" pitchFamily="34" charset="-120"/>
              </a:rPr>
              <a:t>dates</a:t>
            </a:r>
            <a:endParaRPr lang="en-US" sz="900" dirty="0"/>
          </a:p>
        </p:txBody>
      </p:sp>
      <p:sp>
        <p:nvSpPr>
          <p:cNvPr id="18" name="Shape 15"/>
          <p:cNvSpPr/>
          <p:nvPr/>
        </p:nvSpPr>
        <p:spPr>
          <a:xfrm>
            <a:off x="9098280" y="2880360"/>
            <a:ext cx="1371600" cy="658368"/>
          </a:xfrm>
          <a:prstGeom prst="roundRect">
            <a:avLst>
              <a:gd name="adj" fmla="val 11111"/>
            </a:avLst>
          </a:prstGeom>
          <a:solidFill>
            <a:srgbClr val="387F7F"/>
          </a:solidFill>
          <a:ln/>
          <a:effectLst>
            <a:outerShdw blurRad="127000" dist="38100" dir="5400000" algn="bl" rotWithShape="0">
              <a:srgbClr val="1B2A2E">
                <a:alpha val="22000"/>
              </a:srgbClr>
            </a:outerShdw>
          </a:effectLst>
        </p:spPr>
      </p:sp>
      <p:sp>
        <p:nvSpPr>
          <p:cNvPr id="19" name="Text 16"/>
          <p:cNvSpPr txBox="1"/>
          <p:nvPr/>
        </p:nvSpPr>
        <p:spPr>
          <a:xfrm>
            <a:off x="9098280" y="2880360"/>
            <a:ext cx="13716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deliveries</a:t>
            </a:r>
            <a:endParaRPr lang="en-US" sz="1000" dirty="0"/>
          </a:p>
        </p:txBody>
      </p:sp>
      <p:sp>
        <p:nvSpPr>
          <p:cNvPr id="20" name="Shape 17"/>
          <p:cNvSpPr/>
          <p:nvPr/>
        </p:nvSpPr>
        <p:spPr>
          <a:xfrm>
            <a:off x="685800" y="5806440"/>
            <a:ext cx="10817352" cy="0"/>
          </a:xfrm>
          <a:prstGeom prst="line">
            <a:avLst/>
          </a:prstGeom>
          <a:noFill/>
          <a:ln w="12700">
            <a:solidFill>
              <a:srgbClr val="E2E8F0"/>
            </a:solidFill>
            <a:prstDash val="solid"/>
          </a:ln>
        </p:spPr>
      </p:sp>
      <p:pic>
        <p:nvPicPr>
          <p:cNvPr id="21" name="Image 1" descr="/home/claude/build/assets/icon_stack.png"/>
          <p:cNvPicPr>
            <a:picLocks noChangeAspect="1"/>
          </p:cNvPicPr>
          <p:nvPr/>
        </p:nvPicPr>
        <p:blipFill>
          <a:blip r:embed="rId5"/>
          <a:stretch>
            <a:fillRect/>
          </a:stretch>
        </p:blipFill>
        <p:spPr>
          <a:xfrm>
            <a:off x="685800" y="5989320"/>
            <a:ext cx="201168" cy="182880"/>
          </a:xfrm>
          <a:prstGeom prst="rect">
            <a:avLst/>
          </a:prstGeom>
        </p:spPr>
      </p:pic>
      <p:sp>
        <p:nvSpPr>
          <p:cNvPr id="22" name="Text 18"/>
          <p:cNvSpPr txBox="1"/>
          <p:nvPr/>
        </p:nvSpPr>
        <p:spPr>
          <a:xfrm>
            <a:off x="960120" y="5943600"/>
            <a:ext cx="2743200" cy="274320"/>
          </a:xfrm>
          <a:prstGeom prst="rect">
            <a:avLst/>
          </a:prstGeom>
          <a:noFill/>
          <a:ln/>
        </p:spPr>
        <p:txBody>
          <a:bodyPr wrap="square" lIns="0" tIns="0" rIns="0" bIns="0" rtlCol="0" anchor="ctr"/>
          <a:lstStyle/>
          <a:p>
            <a:pPr marL="0" indent="0">
              <a:buNone/>
            </a:pPr>
            <a:r>
              <a:rPr lang="en-US" sz="1200" dirty="0">
                <a:solidFill>
                  <a:srgbClr val="64748B"/>
                </a:solidFill>
                <a:latin typeface="Poppins" pitchFamily="34" charset="0"/>
                <a:ea typeface="Poppins" pitchFamily="34" charset="-122"/>
                <a:cs typeface="Poppins" pitchFamily="34" charset="-120"/>
              </a:rPr>
              <a:t>Topic 2 of 6</a:t>
            </a:r>
            <a:endParaRPr lang="en-US" sz="1200" dirty="0"/>
          </a:p>
        </p:txBody>
      </p:sp>
      <p:sp>
        <p:nvSpPr>
          <p:cNvPr id="23" name="Text 19"/>
          <p:cNvSpPr txBox="1"/>
          <p:nvPr/>
        </p:nvSpPr>
        <p:spPr>
          <a:xfrm>
            <a:off x="685800" y="6446520"/>
            <a:ext cx="3657600" cy="274320"/>
          </a:xfrm>
          <a:prstGeom prst="rect">
            <a:avLst/>
          </a:prstGeom>
          <a:noFill/>
          <a:ln/>
        </p:spPr>
        <p:txBody>
          <a:bodyPr wrap="square" lIns="0" tIns="0" rIns="0" bIns="0" rtlCol="0" anchor="ctr"/>
          <a:lstStyle/>
          <a:p>
            <a:pPr marL="0" indent="0">
              <a:buNone/>
            </a:pPr>
            <a:r>
              <a:rPr lang="en-US" sz="1000" b="1" kern="0" spc="100" dirty="0">
                <a:solidFill>
                  <a:srgbClr val="387F7F"/>
                </a:solidFill>
                <a:latin typeface="Poppins" pitchFamily="34" charset="0"/>
                <a:ea typeface="Poppins" pitchFamily="34" charset="-122"/>
                <a:cs typeface="Poppins" pitchFamily="34" charset="-120"/>
              </a:rPr>
              <a:t>PUBLICA ACADEMY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By the end of this topic, the trainee can…</a:t>
            </a:r>
            <a:endParaRPr lang="en-US" sz="2700" dirty="0"/>
          </a:p>
        </p:txBody>
      </p:sp>
      <p:sp>
        <p:nvSpPr>
          <p:cNvPr id="6" name="Shape 4"/>
          <p:cNvSpPr/>
          <p:nvPr/>
        </p:nvSpPr>
        <p:spPr>
          <a:xfrm>
            <a:off x="685800" y="1737360"/>
            <a:ext cx="4709160" cy="3200400"/>
          </a:xfrm>
          <a:prstGeom prst="roundRect">
            <a:avLst>
              <a:gd name="adj" fmla="val 2857"/>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737360"/>
            <a:ext cx="4709160" cy="82296"/>
          </a:xfrm>
          <a:prstGeom prst="rect">
            <a:avLst/>
          </a:prstGeom>
          <a:solidFill>
            <a:srgbClr val="387F7F"/>
          </a:solidFill>
          <a:ln/>
        </p:spPr>
      </p:sp>
      <p:sp>
        <p:nvSpPr>
          <p:cNvPr id="8" name="Shape 6"/>
          <p:cNvSpPr/>
          <p:nvPr/>
        </p:nvSpPr>
        <p:spPr>
          <a:xfrm>
            <a:off x="1069848" y="2240280"/>
            <a:ext cx="713232" cy="713232"/>
          </a:xfrm>
          <a:prstGeom prst="ellipse">
            <a:avLst/>
          </a:prstGeom>
          <a:solidFill>
            <a:srgbClr val="387F7F"/>
          </a:solidFill>
          <a:ln/>
          <a:effectLst>
            <a:outerShdw blurRad="101600" dist="25400" dir="5400000" algn="bl" rotWithShape="0">
              <a:srgbClr val="1B2A2E">
                <a:alpha val="18000"/>
              </a:srgbClr>
            </a:outerShdw>
          </a:effectLst>
        </p:spPr>
      </p:sp>
      <p:sp>
        <p:nvSpPr>
          <p:cNvPr id="9" name="Text 7"/>
          <p:cNvSpPr txBox="1"/>
          <p:nvPr/>
        </p:nvSpPr>
        <p:spPr>
          <a:xfrm>
            <a:off x="1069848" y="2240280"/>
            <a:ext cx="713232" cy="713232"/>
          </a:xfrm>
          <a:prstGeom prst="rect">
            <a:avLst/>
          </a:prstGeom>
          <a:noFill/>
          <a:ln/>
        </p:spPr>
        <p:txBody>
          <a:bodyPr wrap="square" lIns="0" tIns="0" rIns="0" bIns="0" rtlCol="0" anchor="ctr"/>
          <a:lstStyle/>
          <a:p>
            <a:pPr marL="0" indent="0" algn="ctr">
              <a:buNone/>
            </a:pPr>
            <a:r>
              <a:rPr lang="en-US" sz="2600" b="1" dirty="0">
                <a:solidFill>
                  <a:srgbClr val="FFFFFF"/>
                </a:solidFill>
                <a:latin typeface="Poppins" pitchFamily="34" charset="0"/>
                <a:ea typeface="Poppins" pitchFamily="34" charset="-122"/>
                <a:cs typeface="Poppins" pitchFamily="34" charset="-120"/>
              </a:rPr>
              <a:t>◇</a:t>
            </a:r>
            <a:endParaRPr lang="en-US" sz="2600" dirty="0"/>
          </a:p>
        </p:txBody>
      </p:sp>
      <p:sp>
        <p:nvSpPr>
          <p:cNvPr id="10" name="Text 8"/>
          <p:cNvSpPr txBox="1"/>
          <p:nvPr/>
        </p:nvSpPr>
        <p:spPr>
          <a:xfrm>
            <a:off x="1069848" y="3154680"/>
            <a:ext cx="3941064" cy="457200"/>
          </a:xfrm>
          <a:prstGeom prst="rect">
            <a:avLst/>
          </a:prstGeom>
          <a:noFill/>
          <a:ln/>
        </p:spPr>
        <p:txBody>
          <a:bodyPr wrap="square" lIns="0" tIns="0" rIns="0" bIns="0" rtlCol="0" anchor="ctr"/>
          <a:lstStyle/>
          <a:p>
            <a:pPr marL="0" indent="0">
              <a:buNone/>
            </a:pPr>
            <a:r>
              <a:rPr lang="en-US" sz="2300" b="1" dirty="0">
                <a:solidFill>
                  <a:srgbClr val="387F7F"/>
                </a:solidFill>
                <a:latin typeface="Poppins" pitchFamily="34" charset="0"/>
                <a:ea typeface="Poppins" pitchFamily="34" charset="-122"/>
                <a:cs typeface="Poppins" pitchFamily="34" charset="-120"/>
              </a:rPr>
              <a:t>Build</a:t>
            </a:r>
            <a:endParaRPr lang="en-US" sz="2300" dirty="0"/>
          </a:p>
        </p:txBody>
      </p:sp>
      <p:sp>
        <p:nvSpPr>
          <p:cNvPr id="11" name="Text 9"/>
          <p:cNvSpPr txBox="1"/>
          <p:nvPr/>
        </p:nvSpPr>
        <p:spPr>
          <a:xfrm>
            <a:off x="1069848" y="3675888"/>
            <a:ext cx="3941064" cy="1097280"/>
          </a:xfrm>
          <a:prstGeom prst="rect">
            <a:avLst/>
          </a:prstGeom>
          <a:noFill/>
          <a:ln/>
        </p:spPr>
        <p:txBody>
          <a:bodyPr wrap="square" lIns="0" tIns="0" rIns="0" bIns="0" rtlCol="0" anchor="t"/>
          <a:lstStyle/>
          <a:p>
            <a:pPr marL="0" indent="0" algn="l">
              <a:lnSpc>
                <a:spcPct val="135000"/>
              </a:lnSpc>
              <a:buNone/>
            </a:pPr>
            <a:r>
              <a:rPr lang="en-US" sz="1500" dirty="0">
                <a:solidFill>
                  <a:srgbClr val="475569"/>
                </a:solidFill>
                <a:latin typeface="Poppins" pitchFamily="34" charset="0"/>
                <a:ea typeface="Poppins" pitchFamily="34" charset="-122"/>
                <a:cs typeface="Poppins" pitchFamily="34" charset="-120"/>
              </a:rPr>
              <a:t>a data model with correct relationships between fact and dimension tables.</a:t>
            </a:r>
            <a:endParaRPr lang="en-US" sz="1500" dirty="0"/>
          </a:p>
        </p:txBody>
      </p:sp>
      <p:sp>
        <p:nvSpPr>
          <p:cNvPr id="12" name="Shape 10"/>
          <p:cNvSpPr/>
          <p:nvPr/>
        </p:nvSpPr>
        <p:spPr>
          <a:xfrm>
            <a:off x="5806440" y="1737360"/>
            <a:ext cx="4709160" cy="3200400"/>
          </a:xfrm>
          <a:prstGeom prst="roundRect">
            <a:avLst>
              <a:gd name="adj" fmla="val 2857"/>
            </a:avLst>
          </a:prstGeom>
          <a:solidFill>
            <a:srgbClr val="FFFFFF"/>
          </a:solidFill>
          <a:ln/>
          <a:effectLst>
            <a:outerShdw blurRad="152400" dist="38100" dir="5400000" algn="bl" rotWithShape="0">
              <a:srgbClr val="1B2A2E">
                <a:alpha val="14000"/>
              </a:srgbClr>
            </a:outerShdw>
          </a:effectLst>
        </p:spPr>
      </p:sp>
      <p:sp>
        <p:nvSpPr>
          <p:cNvPr id="13" name="Shape 11"/>
          <p:cNvSpPr/>
          <p:nvPr/>
        </p:nvSpPr>
        <p:spPr>
          <a:xfrm>
            <a:off x="5806440" y="1737360"/>
            <a:ext cx="4709160" cy="82296"/>
          </a:xfrm>
          <a:prstGeom prst="rect">
            <a:avLst/>
          </a:prstGeom>
          <a:solidFill>
            <a:srgbClr val="387F7F"/>
          </a:solidFill>
          <a:ln/>
        </p:spPr>
      </p:sp>
      <p:sp>
        <p:nvSpPr>
          <p:cNvPr id="14" name="Shape 12"/>
          <p:cNvSpPr/>
          <p:nvPr/>
        </p:nvSpPr>
        <p:spPr>
          <a:xfrm>
            <a:off x="6190488" y="2240280"/>
            <a:ext cx="713232" cy="713232"/>
          </a:xfrm>
          <a:prstGeom prst="ellipse">
            <a:avLst/>
          </a:prstGeom>
          <a:solidFill>
            <a:srgbClr val="387F7F"/>
          </a:solidFill>
          <a:ln/>
          <a:effectLst>
            <a:outerShdw blurRad="101600" dist="25400" dir="5400000" algn="bl" rotWithShape="0">
              <a:srgbClr val="1B2A2E">
                <a:alpha val="18000"/>
              </a:srgbClr>
            </a:outerShdw>
          </a:effectLst>
        </p:spPr>
      </p:sp>
      <p:sp>
        <p:nvSpPr>
          <p:cNvPr id="15" name="Text 13"/>
          <p:cNvSpPr txBox="1"/>
          <p:nvPr/>
        </p:nvSpPr>
        <p:spPr>
          <a:xfrm>
            <a:off x="6190488" y="2240280"/>
            <a:ext cx="713232" cy="713232"/>
          </a:xfrm>
          <a:prstGeom prst="rect">
            <a:avLst/>
          </a:prstGeom>
          <a:noFill/>
          <a:ln/>
        </p:spPr>
        <p:txBody>
          <a:bodyPr wrap="square" lIns="0" tIns="0" rIns="0" bIns="0" rtlCol="0" anchor="ctr"/>
          <a:lstStyle/>
          <a:p>
            <a:pPr marL="0" indent="0" algn="ctr">
              <a:buNone/>
            </a:pPr>
            <a:r>
              <a:rPr lang="en-US" sz="2600" b="1" dirty="0">
                <a:solidFill>
                  <a:srgbClr val="FFFFFF"/>
                </a:solidFill>
                <a:latin typeface="Poppins" pitchFamily="34" charset="0"/>
                <a:ea typeface="Poppins" pitchFamily="34" charset="-122"/>
                <a:cs typeface="Poppins" pitchFamily="34" charset="-120"/>
              </a:rPr>
              <a:t>!</a:t>
            </a:r>
            <a:endParaRPr lang="en-US" sz="2600" dirty="0"/>
          </a:p>
        </p:txBody>
      </p:sp>
      <p:sp>
        <p:nvSpPr>
          <p:cNvPr id="16" name="Text 14"/>
          <p:cNvSpPr txBox="1"/>
          <p:nvPr/>
        </p:nvSpPr>
        <p:spPr>
          <a:xfrm>
            <a:off x="6190488" y="3154680"/>
            <a:ext cx="3941064" cy="457200"/>
          </a:xfrm>
          <a:prstGeom prst="rect">
            <a:avLst/>
          </a:prstGeom>
          <a:noFill/>
          <a:ln/>
        </p:spPr>
        <p:txBody>
          <a:bodyPr wrap="square" lIns="0" tIns="0" rIns="0" bIns="0" rtlCol="0" anchor="ctr"/>
          <a:lstStyle/>
          <a:p>
            <a:pPr marL="0" indent="0">
              <a:buNone/>
            </a:pPr>
            <a:r>
              <a:rPr lang="en-US" sz="2300" b="1" dirty="0">
                <a:solidFill>
                  <a:srgbClr val="387F7F"/>
                </a:solidFill>
                <a:latin typeface="Poppins" pitchFamily="34" charset="0"/>
                <a:ea typeface="Poppins" pitchFamily="34" charset="-122"/>
                <a:cs typeface="Poppins" pitchFamily="34" charset="-120"/>
              </a:rPr>
              <a:t>Explain</a:t>
            </a:r>
            <a:endParaRPr lang="en-US" sz="2300" dirty="0"/>
          </a:p>
        </p:txBody>
      </p:sp>
      <p:sp>
        <p:nvSpPr>
          <p:cNvPr id="17" name="Text 15"/>
          <p:cNvSpPr txBox="1"/>
          <p:nvPr/>
        </p:nvSpPr>
        <p:spPr>
          <a:xfrm>
            <a:off x="6190488" y="3675888"/>
            <a:ext cx="3941064" cy="1097280"/>
          </a:xfrm>
          <a:prstGeom prst="rect">
            <a:avLst/>
          </a:prstGeom>
          <a:noFill/>
          <a:ln/>
        </p:spPr>
        <p:txBody>
          <a:bodyPr wrap="square" lIns="0" tIns="0" rIns="0" bIns="0" rtlCol="0" anchor="t"/>
          <a:lstStyle/>
          <a:p>
            <a:pPr marL="0" indent="0" algn="l">
              <a:lnSpc>
                <a:spcPct val="135000"/>
              </a:lnSpc>
              <a:buNone/>
            </a:pPr>
            <a:r>
              <a:rPr lang="en-US" sz="1500" dirty="0">
                <a:solidFill>
                  <a:srgbClr val="475569"/>
                </a:solidFill>
                <a:latin typeface="Poppins" pitchFamily="34" charset="0"/>
                <a:ea typeface="Poppins" pitchFamily="34" charset="-122"/>
                <a:cs typeface="Poppins" pitchFamily="34" charset="-120"/>
              </a:rPr>
              <a:t>why a flat single table is often the wrong design, using a worked failure.</a:t>
            </a:r>
            <a:endParaRPr lang="en-US" sz="1500" dirty="0"/>
          </a:p>
        </p:txBody>
      </p:sp>
      <p:pic>
        <p:nvPicPr>
          <p:cNvPr id="18"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19" name="Text 16"/>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Text 2"/>
          <p:cNvSpPr txBox="1"/>
          <p:nvPr/>
        </p:nvSpPr>
        <p:spPr>
          <a:xfrm>
            <a:off x="685800" y="685800"/>
            <a:ext cx="8229600" cy="457200"/>
          </a:xfrm>
          <a:prstGeom prst="rect">
            <a:avLst/>
          </a:prstGeom>
          <a:noFill/>
          <a:ln/>
        </p:spPr>
        <p:txBody>
          <a:bodyPr wrap="square" lIns="0" tIns="0" rIns="0" bIns="0" rtlCol="0" anchor="ctr"/>
          <a:lstStyle/>
          <a:p>
            <a:pPr marL="0" indent="0">
              <a:buNone/>
            </a:pPr>
            <a:r>
              <a:rPr lang="en-US" sz="2000" dirty="0">
                <a:solidFill>
                  <a:srgbClr val="64748B"/>
                </a:solidFill>
                <a:latin typeface="Poppins" pitchFamily="34" charset="0"/>
                <a:ea typeface="Poppins" pitchFamily="34" charset="-122"/>
                <a:cs typeface="Poppins" pitchFamily="34" charset="-120"/>
              </a:rPr>
              <a:t>SwiftRoute has 68 riders.</a:t>
            </a:r>
            <a:endParaRPr lang="en-US" sz="2000" dirty="0"/>
          </a:p>
        </p:txBody>
      </p:sp>
      <p:sp>
        <p:nvSpPr>
          <p:cNvPr id="5" name="Shape 3"/>
          <p:cNvSpPr/>
          <p:nvPr/>
        </p:nvSpPr>
        <p:spPr>
          <a:xfrm>
            <a:off x="685800" y="1463040"/>
            <a:ext cx="4709160" cy="2788920"/>
          </a:xfrm>
          <a:prstGeom prst="roundRect">
            <a:avLst>
              <a:gd name="adj" fmla="val 3279"/>
            </a:avLst>
          </a:prstGeom>
          <a:solidFill>
            <a:srgbClr val="FFFFFF"/>
          </a:solidFill>
          <a:ln/>
          <a:effectLst>
            <a:outerShdw blurRad="152400" dist="38100" dir="5400000" algn="bl" rotWithShape="0">
              <a:srgbClr val="1B2A2E">
                <a:alpha val="14000"/>
              </a:srgbClr>
            </a:outerShdw>
          </a:effectLst>
        </p:spPr>
      </p:sp>
      <p:sp>
        <p:nvSpPr>
          <p:cNvPr id="6" name="Shape 4"/>
          <p:cNvSpPr/>
          <p:nvPr/>
        </p:nvSpPr>
        <p:spPr>
          <a:xfrm>
            <a:off x="685800" y="1463040"/>
            <a:ext cx="4709160" cy="82296"/>
          </a:xfrm>
          <a:prstGeom prst="rect">
            <a:avLst/>
          </a:prstGeom>
          <a:solidFill>
            <a:srgbClr val="387F7F"/>
          </a:solidFill>
          <a:ln/>
        </p:spPr>
      </p:sp>
      <p:sp>
        <p:nvSpPr>
          <p:cNvPr id="7" name="Text 5"/>
          <p:cNvSpPr txBox="1"/>
          <p:nvPr/>
        </p:nvSpPr>
        <p:spPr>
          <a:xfrm>
            <a:off x="685800" y="1828800"/>
            <a:ext cx="4709160" cy="1143000"/>
          </a:xfrm>
          <a:prstGeom prst="rect">
            <a:avLst/>
          </a:prstGeom>
          <a:noFill/>
          <a:ln/>
        </p:spPr>
        <p:txBody>
          <a:bodyPr wrap="square" lIns="0" tIns="0" rIns="0" bIns="0" rtlCol="0" anchor="ctr"/>
          <a:lstStyle/>
          <a:p>
            <a:pPr marL="0" indent="0" algn="ctr">
              <a:buNone/>
            </a:pPr>
            <a:r>
              <a:rPr lang="en-US" sz="7600" b="1" dirty="0">
                <a:solidFill>
                  <a:srgbClr val="387F7F"/>
                </a:solidFill>
                <a:latin typeface="Poppins" pitchFamily="34" charset="0"/>
                <a:ea typeface="Poppins" pitchFamily="34" charset="-122"/>
                <a:cs typeface="Poppins" pitchFamily="34" charset="-120"/>
              </a:rPr>
              <a:t>68</a:t>
            </a:r>
            <a:endParaRPr lang="en-US" sz="7600" dirty="0"/>
          </a:p>
        </p:txBody>
      </p:sp>
      <p:sp>
        <p:nvSpPr>
          <p:cNvPr id="8" name="Text 6"/>
          <p:cNvSpPr txBox="1"/>
          <p:nvPr/>
        </p:nvSpPr>
        <p:spPr>
          <a:xfrm>
            <a:off x="685800" y="2926080"/>
            <a:ext cx="4709160" cy="502920"/>
          </a:xfrm>
          <a:prstGeom prst="rect">
            <a:avLst/>
          </a:prstGeom>
          <a:noFill/>
          <a:ln/>
        </p:spPr>
        <p:txBody>
          <a:bodyPr wrap="square" lIns="0" tIns="0" rIns="0" bIns="0" rtlCol="0" anchor="ctr"/>
          <a:lstStyle/>
          <a:p>
            <a:pPr marL="0" indent="0" algn="ctr">
              <a:lnSpc>
                <a:spcPct val="120000"/>
              </a:lnSpc>
              <a:buNone/>
            </a:pPr>
            <a:r>
              <a:rPr lang="en-US" sz="1300" dirty="0">
                <a:solidFill>
                  <a:srgbClr val="64748B"/>
                </a:solidFill>
                <a:latin typeface="Poppins" pitchFamily="34" charset="0"/>
                <a:ea typeface="Poppins" pitchFamily="34" charset="-122"/>
                <a:cs typeface="Poppins" pitchFamily="34" charset="-120"/>
              </a:rPr>
              <a:t>What the HR list says</a:t>
            </a:r>
            <a:endParaRPr lang="en-US" sz="1300" dirty="0"/>
          </a:p>
        </p:txBody>
      </p:sp>
      <p:sp>
        <p:nvSpPr>
          <p:cNvPr id="9" name="Shape 7"/>
          <p:cNvSpPr/>
          <p:nvPr/>
        </p:nvSpPr>
        <p:spPr>
          <a:xfrm>
            <a:off x="5806440" y="1463040"/>
            <a:ext cx="4709160" cy="2788920"/>
          </a:xfrm>
          <a:prstGeom prst="roundRect">
            <a:avLst>
              <a:gd name="adj" fmla="val 3279"/>
            </a:avLst>
          </a:prstGeom>
          <a:solidFill>
            <a:srgbClr val="FFFFFF"/>
          </a:solidFill>
          <a:ln/>
          <a:effectLst>
            <a:outerShdw blurRad="152400" dist="38100" dir="5400000" algn="bl" rotWithShape="0">
              <a:srgbClr val="1B2A2E">
                <a:alpha val="14000"/>
              </a:srgbClr>
            </a:outerShdw>
          </a:effectLst>
        </p:spPr>
      </p:sp>
      <p:sp>
        <p:nvSpPr>
          <p:cNvPr id="10" name="Shape 8"/>
          <p:cNvSpPr/>
          <p:nvPr/>
        </p:nvSpPr>
        <p:spPr>
          <a:xfrm>
            <a:off x="5806440" y="1463040"/>
            <a:ext cx="4709160" cy="82296"/>
          </a:xfrm>
          <a:prstGeom prst="rect">
            <a:avLst/>
          </a:prstGeom>
          <a:solidFill>
            <a:srgbClr val="A8322D"/>
          </a:solidFill>
          <a:ln/>
        </p:spPr>
      </p:sp>
      <p:sp>
        <p:nvSpPr>
          <p:cNvPr id="11" name="Text 9"/>
          <p:cNvSpPr txBox="1"/>
          <p:nvPr/>
        </p:nvSpPr>
        <p:spPr>
          <a:xfrm>
            <a:off x="5806440" y="1828800"/>
            <a:ext cx="4709160" cy="1143000"/>
          </a:xfrm>
          <a:prstGeom prst="rect">
            <a:avLst/>
          </a:prstGeom>
          <a:noFill/>
          <a:ln/>
        </p:spPr>
        <p:txBody>
          <a:bodyPr wrap="square" lIns="0" tIns="0" rIns="0" bIns="0" rtlCol="0" anchor="ctr"/>
          <a:lstStyle/>
          <a:p>
            <a:pPr marL="0" indent="0" algn="ctr">
              <a:buNone/>
            </a:pPr>
            <a:r>
              <a:rPr lang="en-US" sz="6600" b="1" dirty="0">
                <a:solidFill>
                  <a:srgbClr val="A8322D"/>
                </a:solidFill>
                <a:latin typeface="Poppins" pitchFamily="34" charset="0"/>
                <a:ea typeface="Poppins" pitchFamily="34" charset="-122"/>
                <a:cs typeface="Poppins" pitchFamily="34" charset="-120"/>
              </a:rPr>
              <a:t>41,280</a:t>
            </a:r>
            <a:endParaRPr lang="en-US" sz="6600" dirty="0"/>
          </a:p>
        </p:txBody>
      </p:sp>
      <p:sp>
        <p:nvSpPr>
          <p:cNvPr id="12" name="Text 10"/>
          <p:cNvSpPr txBox="1"/>
          <p:nvPr/>
        </p:nvSpPr>
        <p:spPr>
          <a:xfrm>
            <a:off x="5806440" y="2926080"/>
            <a:ext cx="4709160" cy="502920"/>
          </a:xfrm>
          <a:prstGeom prst="rect">
            <a:avLst/>
          </a:prstGeom>
          <a:noFill/>
          <a:ln/>
        </p:spPr>
        <p:txBody>
          <a:bodyPr wrap="square" lIns="0" tIns="0" rIns="0" bIns="0" rtlCol="0" anchor="ctr"/>
          <a:lstStyle/>
          <a:p>
            <a:pPr marL="0" indent="0" algn="ctr">
              <a:lnSpc>
                <a:spcPct val="120000"/>
              </a:lnSpc>
              <a:buNone/>
            </a:pPr>
            <a:r>
              <a:rPr lang="en-US" sz="1300" dirty="0">
                <a:solidFill>
                  <a:srgbClr val="64748B"/>
                </a:solidFill>
                <a:latin typeface="Poppins" pitchFamily="34" charset="0"/>
                <a:ea typeface="Poppins" pitchFamily="34" charset="-122"/>
                <a:cs typeface="Poppins" pitchFamily="34" charset="-120"/>
              </a:rPr>
              <a:t>What the dashboard reported</a:t>
            </a:r>
            <a:endParaRPr lang="en-US" sz="1300" dirty="0"/>
          </a:p>
        </p:txBody>
      </p:sp>
      <p:sp>
        <p:nvSpPr>
          <p:cNvPr id="13" name="Shape 11"/>
          <p:cNvSpPr/>
          <p:nvPr/>
        </p:nvSpPr>
        <p:spPr>
          <a:xfrm>
            <a:off x="685800" y="4617720"/>
            <a:ext cx="9829800" cy="1143000"/>
          </a:xfrm>
          <a:prstGeom prst="roundRect">
            <a:avLst>
              <a:gd name="adj" fmla="val 7200"/>
            </a:avLst>
          </a:prstGeom>
          <a:solidFill>
            <a:srgbClr val="FBF3E6"/>
          </a:solidFill>
          <a:ln/>
        </p:spPr>
      </p:sp>
      <p:sp>
        <p:nvSpPr>
          <p:cNvPr id="14" name="Shape 12"/>
          <p:cNvSpPr/>
          <p:nvPr/>
        </p:nvSpPr>
        <p:spPr>
          <a:xfrm>
            <a:off x="685800" y="4617720"/>
            <a:ext cx="68580" cy="1143000"/>
          </a:xfrm>
          <a:prstGeom prst="rect">
            <a:avLst/>
          </a:prstGeom>
          <a:solidFill>
            <a:srgbClr val="C9821F"/>
          </a:solidFill>
          <a:ln/>
        </p:spPr>
      </p:sp>
      <p:sp>
        <p:nvSpPr>
          <p:cNvPr id="15" name="Shape 13"/>
          <p:cNvSpPr/>
          <p:nvPr/>
        </p:nvSpPr>
        <p:spPr>
          <a:xfrm>
            <a:off x="960120" y="4956048"/>
            <a:ext cx="457200" cy="457200"/>
          </a:xfrm>
          <a:prstGeom prst="ellipse">
            <a:avLst/>
          </a:prstGeom>
          <a:solidFill>
            <a:srgbClr val="C9821F"/>
          </a:solidFill>
          <a:ln/>
        </p:spPr>
      </p:sp>
      <p:sp>
        <p:nvSpPr>
          <p:cNvPr id="16" name="Text 14"/>
          <p:cNvSpPr txBox="1"/>
          <p:nvPr/>
        </p:nvSpPr>
        <p:spPr>
          <a:xfrm>
            <a:off x="960120" y="4956048"/>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17" name="Text 15"/>
          <p:cNvSpPr txBox="1"/>
          <p:nvPr/>
        </p:nvSpPr>
        <p:spPr>
          <a:xfrm>
            <a:off x="1600200" y="4828032"/>
            <a:ext cx="8595360" cy="777240"/>
          </a:xfrm>
          <a:prstGeom prst="rect">
            <a:avLst/>
          </a:prstGeom>
          <a:noFill/>
          <a:ln/>
        </p:spPr>
        <p:txBody>
          <a:bodyPr wrap="square" lIns="0" tIns="0" rIns="0" bIns="0" rtlCol="0" anchor="t"/>
          <a:lstStyle/>
          <a:p>
            <a:pPr marL="0" indent="0" algn="l">
              <a:lnSpc>
                <a:spcPct val="130000"/>
              </a:lnSpc>
              <a:buNone/>
            </a:pPr>
            <a:r>
              <a:rPr lang="en-US" sz="1600" b="1" dirty="0">
                <a:solidFill>
                  <a:srgbClr val="0A1A23"/>
                </a:solidFill>
                <a:latin typeface="Poppins" pitchFamily="34" charset="0"/>
                <a:ea typeface="Poppins" pitchFamily="34" charset="-122"/>
                <a:cs typeface="Poppins" pitchFamily="34" charset="-120"/>
              </a:rPr>
              <a:t>The chart had a title, an axis label and a legend. It was still wrong.</a:t>
            </a:r>
            <a:endParaRPr lang="en-US" sz="1600" dirty="0"/>
          </a:p>
          <a:p>
            <a:pPr marL="0" indent="0" algn="l">
              <a:lnSpc>
                <a:spcPct val="130000"/>
              </a:lnSpc>
              <a:buNone/>
            </a:pPr>
            <a:r>
              <a:rPr lang="en-US" sz="1600" b="1" dirty="0">
                <a:solidFill>
                  <a:srgbClr val="0A1A23"/>
                </a:solidFill>
                <a:latin typeface="Poppins" pitchFamily="34" charset="0"/>
                <a:ea typeface="Poppins" pitchFamily="34" charset="-122"/>
                <a:cs typeface="Poppins" pitchFamily="34" charset="-120"/>
              </a:rPr>
              <a:t>How would you have caught it?</a:t>
            </a:r>
            <a:endParaRPr lang="en-US" sz="1600" dirty="0"/>
          </a:p>
        </p:txBody>
      </p:sp>
      <p:pic>
        <p:nvPicPr>
          <p:cNvPr id="18"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19" name="Text 16"/>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0494A"/>
          </a:solidFill>
          <a:ln/>
        </p:spPr>
      </p:sp>
      <p:sp>
        <p:nvSpPr>
          <p:cNvPr id="3" name="Shape 1"/>
          <p:cNvSpPr/>
          <p:nvPr/>
        </p:nvSpPr>
        <p:spPr>
          <a:xfrm>
            <a:off x="7680960" y="-2926080"/>
            <a:ext cx="8595360" cy="8595360"/>
          </a:xfrm>
          <a:prstGeom prst="ellipse">
            <a:avLst/>
          </a:prstGeom>
          <a:solidFill>
            <a:srgbClr val="1B4041"/>
          </a:solidFill>
          <a:ln/>
        </p:spPr>
      </p:sp>
      <p:sp>
        <p:nvSpPr>
          <p:cNvPr id="4" name="Shape 2"/>
          <p:cNvSpPr/>
          <p:nvPr/>
        </p:nvSpPr>
        <p:spPr>
          <a:xfrm>
            <a:off x="9326880" y="2834640"/>
            <a:ext cx="5669280" cy="5669280"/>
          </a:xfrm>
          <a:prstGeom prst="ellipse">
            <a:avLst/>
          </a:prstGeom>
          <a:solidFill>
            <a:srgbClr val="387F7F"/>
          </a:solidFill>
          <a:ln/>
        </p:spPr>
      </p:sp>
      <p:sp>
        <p:nvSpPr>
          <p:cNvPr id="5" name="Text 3"/>
          <p:cNvSpPr txBox="1"/>
          <p:nvPr/>
        </p:nvSpPr>
        <p:spPr>
          <a:xfrm>
            <a:off x="566928" y="320040"/>
            <a:ext cx="2926080" cy="1920240"/>
          </a:xfrm>
          <a:prstGeom prst="rect">
            <a:avLst/>
          </a:prstGeom>
          <a:noFill/>
          <a:ln/>
        </p:spPr>
        <p:txBody>
          <a:bodyPr wrap="square" lIns="0" tIns="0" rIns="0" bIns="0" rtlCol="0" anchor="ctr"/>
          <a:lstStyle/>
          <a:p>
            <a:pPr marL="0" indent="0">
              <a:buNone/>
            </a:pPr>
            <a:r>
              <a:rPr lang="en-US" sz="13000" b="1" dirty="0">
                <a:solidFill>
                  <a:srgbClr val="2F6364"/>
                </a:solidFill>
                <a:latin typeface="Poppins" pitchFamily="34" charset="0"/>
                <a:ea typeface="Poppins" pitchFamily="34" charset="-122"/>
                <a:cs typeface="Poppins" pitchFamily="34" charset="-120"/>
              </a:rPr>
              <a:t>01</a:t>
            </a:r>
            <a:endParaRPr lang="en-US" sz="13000" dirty="0"/>
          </a:p>
        </p:txBody>
      </p:sp>
      <p:sp>
        <p:nvSpPr>
          <p:cNvPr id="6" name="Text 4"/>
          <p:cNvSpPr txBox="1"/>
          <p:nvPr/>
        </p:nvSpPr>
        <p:spPr>
          <a:xfrm>
            <a:off x="713232" y="2487168"/>
            <a:ext cx="6766560" cy="310896"/>
          </a:xfrm>
          <a:prstGeom prst="rect">
            <a:avLst/>
          </a:prstGeom>
          <a:noFill/>
          <a:ln/>
        </p:spPr>
        <p:txBody>
          <a:bodyPr wrap="square" lIns="0" tIns="0" rIns="0" bIns="0" rtlCol="0" anchor="ctr"/>
          <a:lstStyle/>
          <a:p>
            <a:pPr marL="0" indent="0">
              <a:buNone/>
            </a:pPr>
            <a:r>
              <a:rPr lang="en-US" sz="1300" b="1" kern="0" spc="250" dirty="0">
                <a:solidFill>
                  <a:srgbClr val="8FBEBE"/>
                </a:solidFill>
                <a:latin typeface="Poppins" pitchFamily="34" charset="0"/>
                <a:ea typeface="Poppins" pitchFamily="34" charset="-122"/>
                <a:cs typeface="Poppins" pitchFamily="34" charset="-120"/>
              </a:rPr>
              <a:t>PART ONE</a:t>
            </a:r>
            <a:endParaRPr lang="en-US" sz="1300" dirty="0"/>
          </a:p>
        </p:txBody>
      </p:sp>
      <p:sp>
        <p:nvSpPr>
          <p:cNvPr id="7" name="Shape 5"/>
          <p:cNvSpPr/>
          <p:nvPr/>
        </p:nvSpPr>
        <p:spPr>
          <a:xfrm>
            <a:off x="713232" y="2907792"/>
            <a:ext cx="1234440" cy="77724"/>
          </a:xfrm>
          <a:prstGeom prst="rect">
            <a:avLst/>
          </a:prstGeom>
          <a:solidFill>
            <a:srgbClr val="387F7F"/>
          </a:solidFill>
          <a:ln/>
        </p:spPr>
      </p:sp>
      <p:sp>
        <p:nvSpPr>
          <p:cNvPr id="8" name="Text 6"/>
          <p:cNvSpPr txBox="1"/>
          <p:nvPr/>
        </p:nvSpPr>
        <p:spPr>
          <a:xfrm>
            <a:off x="713232" y="3154680"/>
            <a:ext cx="7406640" cy="1463040"/>
          </a:xfrm>
          <a:prstGeom prst="rect">
            <a:avLst/>
          </a:prstGeom>
          <a:noFill/>
          <a:ln/>
        </p:spPr>
        <p:txBody>
          <a:bodyPr wrap="square" lIns="0" tIns="0" rIns="0" bIns="0" rtlCol="0" anchor="ctr"/>
          <a:lstStyle/>
          <a:p>
            <a:pPr marL="0" indent="0">
              <a:lnSpc>
                <a:spcPct val="108000"/>
              </a:lnSpc>
              <a:buNone/>
            </a:pPr>
            <a:r>
              <a:rPr lang="en-US" sz="3600" b="1" dirty="0">
                <a:solidFill>
                  <a:srgbClr val="FFFFFF"/>
                </a:solidFill>
                <a:latin typeface="Poppins" pitchFamily="34" charset="0"/>
                <a:ea typeface="Poppins" pitchFamily="34" charset="-122"/>
                <a:cs typeface="Poppins" pitchFamily="34" charset="-120"/>
              </a:rPr>
              <a:t>The failure</a:t>
            </a:r>
            <a:endParaRPr lang="en-US" sz="3600" dirty="0"/>
          </a:p>
        </p:txBody>
      </p:sp>
      <p:sp>
        <p:nvSpPr>
          <p:cNvPr id="9" name="Shape 7"/>
          <p:cNvSpPr/>
          <p:nvPr/>
        </p:nvSpPr>
        <p:spPr>
          <a:xfrm>
            <a:off x="749808" y="4933188"/>
            <a:ext cx="146304" cy="146304"/>
          </a:xfrm>
          <a:prstGeom prst="ellipse">
            <a:avLst/>
          </a:prstGeom>
          <a:solidFill>
            <a:srgbClr val="387F7F"/>
          </a:solidFill>
          <a:ln/>
        </p:spPr>
      </p:sp>
      <p:sp>
        <p:nvSpPr>
          <p:cNvPr id="10" name="Text 8"/>
          <p:cNvSpPr txBox="1"/>
          <p:nvPr/>
        </p:nvSpPr>
        <p:spPr>
          <a:xfrm>
            <a:off x="1097280" y="4855464"/>
            <a:ext cx="6583680" cy="310896"/>
          </a:xfrm>
          <a:prstGeom prst="rect">
            <a:avLst/>
          </a:prstGeom>
          <a:noFill/>
          <a:ln/>
        </p:spPr>
        <p:txBody>
          <a:bodyPr wrap="square" lIns="0" tIns="0" rIns="0" bIns="0" rtlCol="0" anchor="ctr"/>
          <a:lstStyle/>
          <a:p>
            <a:pPr marL="0" indent="0">
              <a:buNone/>
            </a:pPr>
            <a:r>
              <a:rPr lang="en-US" sz="1350" dirty="0">
                <a:solidFill>
                  <a:srgbClr val="C3DAD9"/>
                </a:solidFill>
                <a:latin typeface="Poppins" pitchFamily="34" charset="0"/>
                <a:ea typeface="Poppins" pitchFamily="34" charset="-122"/>
                <a:cs typeface="Poppins" pitchFamily="34" charset="-120"/>
              </a:rPr>
              <a:t>Watch a flat table produce a confident wrong answer</a:t>
            </a:r>
            <a:endParaRPr lang="en-US" sz="1350" dirty="0"/>
          </a:p>
        </p:txBody>
      </p:sp>
      <p:sp>
        <p:nvSpPr>
          <p:cNvPr id="11" name="Shape 9"/>
          <p:cNvSpPr/>
          <p:nvPr/>
        </p:nvSpPr>
        <p:spPr>
          <a:xfrm>
            <a:off x="749808" y="5317236"/>
            <a:ext cx="146304" cy="146304"/>
          </a:xfrm>
          <a:prstGeom prst="ellipse">
            <a:avLst/>
          </a:prstGeom>
          <a:solidFill>
            <a:srgbClr val="387F7F"/>
          </a:solidFill>
          <a:ln/>
        </p:spPr>
      </p:sp>
      <p:sp>
        <p:nvSpPr>
          <p:cNvPr id="12" name="Text 10"/>
          <p:cNvSpPr txBox="1"/>
          <p:nvPr/>
        </p:nvSpPr>
        <p:spPr>
          <a:xfrm>
            <a:off x="1097280" y="5239512"/>
            <a:ext cx="6583680" cy="310896"/>
          </a:xfrm>
          <a:prstGeom prst="rect">
            <a:avLst/>
          </a:prstGeom>
          <a:noFill/>
          <a:ln/>
        </p:spPr>
        <p:txBody>
          <a:bodyPr wrap="square" lIns="0" tIns="0" rIns="0" bIns="0" rtlCol="0" anchor="ctr"/>
          <a:lstStyle/>
          <a:p>
            <a:pPr marL="0" indent="0">
              <a:buNone/>
            </a:pPr>
            <a:r>
              <a:rPr lang="en-US" sz="1350" dirty="0">
                <a:solidFill>
                  <a:srgbClr val="C3DAD9"/>
                </a:solidFill>
                <a:latin typeface="Poppins" pitchFamily="34" charset="0"/>
                <a:ea typeface="Poppins" pitchFamily="34" charset="-122"/>
                <a:cs typeface="Poppins" pitchFamily="34" charset="-120"/>
              </a:rPr>
              <a:t>Understand why the grain changed underneath you</a:t>
            </a:r>
            <a:endParaRPr lang="en-US" sz="1350" dirty="0"/>
          </a:p>
        </p:txBody>
      </p:sp>
      <p:sp>
        <p:nvSpPr>
          <p:cNvPr id="13" name="Shape 11"/>
          <p:cNvSpPr/>
          <p:nvPr/>
        </p:nvSpPr>
        <p:spPr>
          <a:xfrm>
            <a:off x="749808" y="5701284"/>
            <a:ext cx="146304" cy="146304"/>
          </a:xfrm>
          <a:prstGeom prst="ellipse">
            <a:avLst/>
          </a:prstGeom>
          <a:solidFill>
            <a:srgbClr val="387F7F"/>
          </a:solidFill>
          <a:ln/>
        </p:spPr>
      </p:sp>
      <p:sp>
        <p:nvSpPr>
          <p:cNvPr id="14" name="Text 12"/>
          <p:cNvSpPr txBox="1"/>
          <p:nvPr/>
        </p:nvSpPr>
        <p:spPr>
          <a:xfrm>
            <a:off x="1097280" y="5623560"/>
            <a:ext cx="6583680" cy="310896"/>
          </a:xfrm>
          <a:prstGeom prst="rect">
            <a:avLst/>
          </a:prstGeom>
          <a:noFill/>
          <a:ln/>
        </p:spPr>
        <p:txBody>
          <a:bodyPr wrap="square" lIns="0" tIns="0" rIns="0" bIns="0" rtlCol="0" anchor="ctr"/>
          <a:lstStyle/>
          <a:p>
            <a:pPr marL="0" indent="0">
              <a:buNone/>
            </a:pPr>
            <a:r>
              <a:rPr lang="en-US" sz="1350" dirty="0">
                <a:solidFill>
                  <a:srgbClr val="C3DAD9"/>
                </a:solidFill>
                <a:latin typeface="Poppins" pitchFamily="34" charset="0"/>
                <a:ea typeface="Poppins" pitchFamily="34" charset="-122"/>
                <a:cs typeface="Poppins" pitchFamily="34" charset="-120"/>
              </a:rPr>
              <a:t>See the three costs, only one of which is obvious</a:t>
            </a:r>
            <a:endParaRPr lang="en-US" sz="1350" dirty="0"/>
          </a:p>
        </p:txBody>
      </p:sp>
      <p:sp>
        <p:nvSpPr>
          <p:cNvPr id="15" name="Text 13"/>
          <p:cNvSpPr txBox="1"/>
          <p:nvPr/>
        </p:nvSpPr>
        <p:spPr>
          <a:xfrm>
            <a:off x="11688775" y="6473952"/>
            <a:ext cx="365760" cy="274320"/>
          </a:xfrm>
          <a:prstGeom prst="rect">
            <a:avLst/>
          </a:prstGeom>
          <a:noFill/>
          <a:ln/>
        </p:spPr>
        <p:txBody>
          <a:bodyPr wrap="square" lIns="0" tIns="0" rIns="0" bIns="0" rtlCol="0" anchor="ctr"/>
          <a:lstStyle/>
          <a:p>
            <a:pPr marL="0" indent="0" algn="r">
              <a:buNone/>
            </a:pPr>
            <a:r>
              <a:rPr lang="en-US" sz="1100" dirty="0">
                <a:solidFill>
                  <a:srgbClr val="7FA3A3"/>
                </a:solidFill>
                <a:latin typeface="Poppins" pitchFamily="34" charset="0"/>
                <a:ea typeface="Poppins" pitchFamily="34" charset="-122"/>
                <a:cs typeface="Poppins" pitchFamily="34" charset="-120"/>
              </a:rPr>
              <a:t>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Watch this break</a:t>
            </a:r>
            <a:endParaRPr lang="en-US" sz="2700" dirty="0"/>
          </a:p>
        </p:txBody>
      </p:sp>
      <p:sp>
        <p:nvSpPr>
          <p:cNvPr id="6" name="Shape 4"/>
          <p:cNvSpPr/>
          <p:nvPr/>
        </p:nvSpPr>
        <p:spPr>
          <a:xfrm>
            <a:off x="8732520" y="502920"/>
            <a:ext cx="1828800" cy="457200"/>
          </a:xfrm>
          <a:prstGeom prst="roundRect">
            <a:avLst>
              <a:gd name="adj" fmla="val 50000"/>
            </a:avLst>
          </a:prstGeom>
          <a:solidFill>
            <a:srgbClr val="A8322D"/>
          </a:solidFill>
          <a:ln/>
        </p:spPr>
      </p:sp>
      <p:sp>
        <p:nvSpPr>
          <p:cNvPr id="7" name="Text 5"/>
          <p:cNvSpPr txBox="1"/>
          <p:nvPr/>
        </p:nvSpPr>
        <p:spPr>
          <a:xfrm>
            <a:off x="8732520" y="502920"/>
            <a:ext cx="18288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LIVE DEMO</a:t>
            </a:r>
            <a:endParaRPr lang="en-US" sz="1200" dirty="0"/>
          </a:p>
        </p:txBody>
      </p:sp>
      <p:sp>
        <p:nvSpPr>
          <p:cNvPr id="8" name="Shape 6"/>
          <p:cNvSpPr/>
          <p:nvPr/>
        </p:nvSpPr>
        <p:spPr>
          <a:xfrm>
            <a:off x="685800" y="1463040"/>
            <a:ext cx="6195060" cy="3489104"/>
          </a:xfrm>
          <a:prstGeom prst="roundRect">
            <a:avLst>
              <a:gd name="adj" fmla="val 2727"/>
            </a:avLst>
          </a:prstGeom>
          <a:solidFill>
            <a:srgbClr val="EEF4F4"/>
          </a:solidFill>
          <a:ln w="12700">
            <a:solidFill>
              <a:srgbClr val="E2E8F0"/>
            </a:solidFill>
            <a:prstDash val="dash"/>
          </a:ln>
        </p:spPr>
      </p:sp>
      <p:sp>
        <p:nvSpPr>
          <p:cNvPr id="11" name="Shape 9"/>
          <p:cNvSpPr/>
          <p:nvPr/>
        </p:nvSpPr>
        <p:spPr>
          <a:xfrm>
            <a:off x="7086600" y="1463040"/>
            <a:ext cx="3429000" cy="3017520"/>
          </a:xfrm>
          <a:prstGeom prst="roundRect">
            <a:avLst>
              <a:gd name="adj" fmla="val 2727"/>
            </a:avLst>
          </a:prstGeom>
          <a:solidFill>
            <a:srgbClr val="FFFFFF"/>
          </a:solidFill>
          <a:ln/>
        </p:spPr>
      </p:sp>
      <p:sp>
        <p:nvSpPr>
          <p:cNvPr id="12" name="Shape 10"/>
          <p:cNvSpPr/>
          <p:nvPr/>
        </p:nvSpPr>
        <p:spPr>
          <a:xfrm>
            <a:off x="7086600" y="1463040"/>
            <a:ext cx="68580" cy="3017520"/>
          </a:xfrm>
          <a:prstGeom prst="rect">
            <a:avLst/>
          </a:prstGeom>
          <a:solidFill>
            <a:srgbClr val="A8322D"/>
          </a:solidFill>
          <a:ln/>
        </p:spPr>
      </p:sp>
      <p:sp>
        <p:nvSpPr>
          <p:cNvPr id="13" name="Text 11"/>
          <p:cNvSpPr txBox="1"/>
          <p:nvPr/>
        </p:nvSpPr>
        <p:spPr>
          <a:xfrm>
            <a:off x="7360920" y="1664208"/>
            <a:ext cx="3017520" cy="274320"/>
          </a:xfrm>
          <a:prstGeom prst="rect">
            <a:avLst/>
          </a:prstGeom>
          <a:noFill/>
          <a:ln/>
        </p:spPr>
        <p:txBody>
          <a:bodyPr wrap="square" lIns="0" tIns="0" rIns="0" bIns="0" rtlCol="0" anchor="ctr"/>
          <a:lstStyle/>
          <a:p>
            <a:pPr marL="0" indent="0">
              <a:buNone/>
            </a:pPr>
            <a:r>
              <a:rPr lang="en-US" sz="1100" b="1" dirty="0">
                <a:solidFill>
                  <a:srgbClr val="A8322D"/>
                </a:solidFill>
                <a:latin typeface="Poppins" pitchFamily="34" charset="0"/>
                <a:ea typeface="Poppins" pitchFamily="34" charset="-122"/>
                <a:cs typeface="Poppins" pitchFamily="34" charset="-120"/>
              </a:rPr>
              <a:t>WHAT YOU ARE SEEING</a:t>
            </a:r>
            <a:endParaRPr lang="en-US" sz="1100" dirty="0"/>
          </a:p>
        </p:txBody>
      </p:sp>
      <p:sp>
        <p:nvSpPr>
          <p:cNvPr id="14" name="Text 12"/>
          <p:cNvSpPr txBox="1"/>
          <p:nvPr/>
        </p:nvSpPr>
        <p:spPr>
          <a:xfrm>
            <a:off x="7360920" y="2011680"/>
            <a:ext cx="3017520" cy="2286000"/>
          </a:xfrm>
          <a:prstGeom prst="rect">
            <a:avLst/>
          </a:prstGeom>
          <a:noFill/>
          <a:ln/>
        </p:spPr>
        <p:txBody>
          <a:bodyPr wrap="square" lIns="0" tIns="0" rIns="0" bIns="0" rtlCol="0" anchor="t"/>
          <a:lstStyle/>
          <a:p>
            <a:pPr marL="0" indent="0" algn="l">
              <a:lnSpc>
                <a:spcPct val="130000"/>
              </a:lnSpc>
              <a:buNone/>
            </a:pPr>
            <a:r>
              <a:rPr lang="en-US" sz="1350" dirty="0">
                <a:solidFill>
                  <a:srgbClr val="475569"/>
                </a:solidFill>
                <a:latin typeface="Poppins" pitchFamily="34" charset="0"/>
                <a:ea typeface="Poppins" pitchFamily="34" charset="-122"/>
                <a:cs typeface="Poppins" pitchFamily="34" charset="-120"/>
              </a:rPr>
              <a:t>One table. Somebody joined all five SwiftRoute files together in Excel before importing, producing one wide table of 41,280 rows.</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475569"/>
                </a:solidFill>
                <a:latin typeface="Poppins" pitchFamily="34" charset="0"/>
                <a:ea typeface="Poppins" pitchFamily="34" charset="-122"/>
                <a:cs typeface="Poppins" pitchFamily="34" charset="-120"/>
              </a:rPr>
              <a:t>It loaded without a single error. Every visual builds. Nothing warns you.</a:t>
            </a:r>
            <a:endParaRPr lang="en-US" sz="1350" dirty="0"/>
          </a:p>
        </p:txBody>
      </p:sp>
      <p:sp>
        <p:nvSpPr>
          <p:cNvPr id="15" name="Shape 13"/>
          <p:cNvSpPr/>
          <p:nvPr/>
        </p:nvSpPr>
        <p:spPr>
          <a:xfrm>
            <a:off x="685800" y="5181770"/>
            <a:ext cx="9829800" cy="1005840"/>
          </a:xfrm>
          <a:prstGeom prst="roundRect">
            <a:avLst>
              <a:gd name="adj" fmla="val 8182"/>
            </a:avLst>
          </a:prstGeom>
          <a:solidFill>
            <a:srgbClr val="EEF4F4"/>
          </a:solidFill>
          <a:ln/>
        </p:spPr>
      </p:sp>
      <p:sp>
        <p:nvSpPr>
          <p:cNvPr id="16" name="Shape 14"/>
          <p:cNvSpPr/>
          <p:nvPr/>
        </p:nvSpPr>
        <p:spPr>
          <a:xfrm>
            <a:off x="685800" y="5181770"/>
            <a:ext cx="68580" cy="1005840"/>
          </a:xfrm>
          <a:prstGeom prst="rect">
            <a:avLst/>
          </a:prstGeom>
          <a:solidFill>
            <a:srgbClr val="387F7F"/>
          </a:solidFill>
          <a:ln/>
        </p:spPr>
      </p:sp>
      <p:sp>
        <p:nvSpPr>
          <p:cNvPr id="17" name="Text 15"/>
          <p:cNvSpPr txBox="1"/>
          <p:nvPr/>
        </p:nvSpPr>
        <p:spPr>
          <a:xfrm>
            <a:off x="1051560" y="5181770"/>
            <a:ext cx="9235440" cy="1005840"/>
          </a:xfrm>
          <a:prstGeom prst="rect">
            <a:avLst/>
          </a:prstGeom>
          <a:noFill/>
          <a:ln/>
        </p:spPr>
        <p:txBody>
          <a:bodyPr wrap="square" lIns="0" tIns="0" rIns="0" bIns="0" rtlCol="0" anchor="ctr"/>
          <a:lstStyle/>
          <a:p>
            <a:pPr marL="0" indent="0" algn="l">
              <a:lnSpc>
                <a:spcPct val="135000"/>
              </a:lnSpc>
              <a:buNone/>
            </a:pPr>
            <a:r>
              <a:rPr lang="en-US" sz="1550" b="1" dirty="0">
                <a:solidFill>
                  <a:srgbClr val="387F7F"/>
                </a:solidFill>
                <a:latin typeface="Poppins" pitchFamily="34" charset="0"/>
                <a:ea typeface="Poppins" pitchFamily="34" charset="-122"/>
                <a:cs typeface="Poppins" pitchFamily="34" charset="-120"/>
              </a:rPr>
              <a:t>“That is 41,280. We have 68 riders.”  Let it sit for a moment before you say anything.</a:t>
            </a:r>
            <a:endParaRPr lang="en-US" sz="1550" dirty="0"/>
          </a:p>
        </p:txBody>
      </p:sp>
      <p:pic>
        <p:nvPicPr>
          <p:cNvPr id="18"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19" name="Text 16"/>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5</a:t>
            </a:r>
            <a:endParaRPr lang="en-US" sz="1100" dirty="0"/>
          </a:p>
        </p:txBody>
      </p:sp>
      <p:pic>
        <p:nvPicPr>
          <p:cNvPr id="23" name="Picture 22">
            <a:extLst>
              <a:ext uri="{FF2B5EF4-FFF2-40B4-BE49-F238E27FC236}">
                <a16:creationId xmlns:a16="http://schemas.microsoft.com/office/drawing/2014/main" id="{0A2F4FC8-F3F8-360A-5427-EB951FA76BEA}"/>
              </a:ext>
            </a:extLst>
          </p:cNvPr>
          <p:cNvPicPr>
            <a:picLocks noChangeAspect="1"/>
          </p:cNvPicPr>
          <p:nvPr/>
        </p:nvPicPr>
        <p:blipFill>
          <a:blip r:embed="rId5"/>
          <a:stretch>
            <a:fillRect/>
          </a:stretch>
        </p:blipFill>
        <p:spPr>
          <a:xfrm>
            <a:off x="731927" y="1514538"/>
            <a:ext cx="6128385" cy="33828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marL="0" indent="0">
              <a:lnSpc>
                <a:spcPct val="108000"/>
              </a:lnSpc>
              <a:buNone/>
            </a:pPr>
            <a:r>
              <a:rPr lang="en-US" sz="2400" dirty="0">
                <a:solidFill>
                  <a:srgbClr val="387F7F"/>
                </a:solidFill>
                <a:latin typeface="Poppins" pitchFamily="34" charset="0"/>
                <a:ea typeface="Poppins" pitchFamily="34" charset="-122"/>
                <a:cs typeface="Poppins" pitchFamily="34" charset="-120"/>
              </a:rPr>
              <a:t>The rider is not a rider. It is a rider-per-delivery.</a:t>
            </a:r>
            <a:endParaRPr lang="en-US" sz="2400" dirty="0"/>
          </a:p>
        </p:txBody>
      </p:sp>
      <p:sp>
        <p:nvSpPr>
          <p:cNvPr id="6" name="Shape 4"/>
          <p:cNvSpPr/>
          <p:nvPr/>
        </p:nvSpPr>
        <p:spPr>
          <a:xfrm>
            <a:off x="685800" y="1600200"/>
            <a:ext cx="5943600" cy="2651760"/>
          </a:xfrm>
          <a:prstGeom prst="roundRect">
            <a:avLst>
              <a:gd name="adj" fmla="val 2759"/>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00200"/>
            <a:ext cx="5943600" cy="384048"/>
          </a:xfrm>
          <a:prstGeom prst="rect">
            <a:avLst/>
          </a:prstGeom>
          <a:solidFill>
            <a:srgbClr val="20494A"/>
          </a:solidFill>
          <a:ln/>
        </p:spPr>
      </p:sp>
      <p:sp>
        <p:nvSpPr>
          <p:cNvPr id="8" name="Text 6"/>
          <p:cNvSpPr txBox="1"/>
          <p:nvPr/>
        </p:nvSpPr>
        <p:spPr>
          <a:xfrm>
            <a:off x="822960" y="160020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Poppins" pitchFamily="34" charset="0"/>
                <a:ea typeface="Poppins" pitchFamily="34" charset="-122"/>
                <a:cs typeface="Poppins" pitchFamily="34" charset="-120"/>
              </a:rPr>
              <a:t>DeliveryID</a:t>
            </a:r>
            <a:endParaRPr lang="en-US" sz="1050" dirty="0"/>
          </a:p>
        </p:txBody>
      </p:sp>
      <p:sp>
        <p:nvSpPr>
          <p:cNvPr id="9" name="Text 7"/>
          <p:cNvSpPr txBox="1"/>
          <p:nvPr/>
        </p:nvSpPr>
        <p:spPr>
          <a:xfrm>
            <a:off x="2240280" y="160020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Poppins" pitchFamily="34" charset="0"/>
                <a:ea typeface="Poppins" pitchFamily="34" charset="-122"/>
                <a:cs typeface="Poppins" pitchFamily="34" charset="-120"/>
              </a:rPr>
              <a:t>RiderID</a:t>
            </a:r>
            <a:endParaRPr lang="en-US" sz="1050" dirty="0"/>
          </a:p>
        </p:txBody>
      </p:sp>
      <p:sp>
        <p:nvSpPr>
          <p:cNvPr id="10" name="Text 8"/>
          <p:cNvSpPr txBox="1"/>
          <p:nvPr/>
        </p:nvSpPr>
        <p:spPr>
          <a:xfrm>
            <a:off x="3657600" y="160020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Poppins" pitchFamily="34" charset="0"/>
                <a:ea typeface="Poppins" pitchFamily="34" charset="-122"/>
                <a:cs typeface="Poppins" pitchFamily="34" charset="-120"/>
              </a:rPr>
              <a:t>RiderName</a:t>
            </a:r>
            <a:endParaRPr lang="en-US" sz="1050" dirty="0"/>
          </a:p>
        </p:txBody>
      </p:sp>
      <p:sp>
        <p:nvSpPr>
          <p:cNvPr id="11" name="Text 9"/>
          <p:cNvSpPr txBox="1"/>
          <p:nvPr/>
        </p:nvSpPr>
        <p:spPr>
          <a:xfrm>
            <a:off x="5074920" y="160020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Poppins" pitchFamily="34" charset="0"/>
                <a:ea typeface="Poppins" pitchFamily="34" charset="-122"/>
                <a:cs typeface="Poppins" pitchFamily="34" charset="-120"/>
              </a:rPr>
              <a:t>Hub</a:t>
            </a:r>
            <a:endParaRPr lang="en-US" sz="1050" dirty="0"/>
          </a:p>
        </p:txBody>
      </p:sp>
      <p:sp>
        <p:nvSpPr>
          <p:cNvPr id="12" name="Shape 10"/>
          <p:cNvSpPr/>
          <p:nvPr/>
        </p:nvSpPr>
        <p:spPr>
          <a:xfrm>
            <a:off x="685800" y="1984248"/>
            <a:ext cx="5943600" cy="370332"/>
          </a:xfrm>
          <a:prstGeom prst="rect">
            <a:avLst/>
          </a:prstGeom>
          <a:solidFill>
            <a:srgbClr val="FBF0DC"/>
          </a:solidFill>
          <a:ln/>
        </p:spPr>
      </p:sp>
      <p:sp>
        <p:nvSpPr>
          <p:cNvPr id="13" name="Text 11"/>
          <p:cNvSpPr txBox="1"/>
          <p:nvPr/>
        </p:nvSpPr>
        <p:spPr>
          <a:xfrm>
            <a:off x="822960" y="1984248"/>
            <a:ext cx="1417320" cy="370332"/>
          </a:xfrm>
          <a:prstGeom prst="rect">
            <a:avLst/>
          </a:prstGeom>
          <a:noFill/>
          <a:ln/>
        </p:spPr>
        <p:txBody>
          <a:bodyPr wrap="square" lIns="0" tIns="0" rIns="0" bIns="0" rtlCol="0" anchor="ctr"/>
          <a:lstStyle/>
          <a:p>
            <a:pPr marL="0" indent="0">
              <a:buNone/>
            </a:pPr>
            <a:r>
              <a:rPr lang="en-US" sz="1050" dirty="0">
                <a:solidFill>
                  <a:srgbClr val="8A5A12"/>
                </a:solidFill>
                <a:latin typeface="Poppins" pitchFamily="34" charset="0"/>
                <a:ea typeface="Poppins" pitchFamily="34" charset="-122"/>
                <a:cs typeface="Poppins" pitchFamily="34" charset="-120"/>
              </a:rPr>
              <a:t>D-000117</a:t>
            </a:r>
            <a:endParaRPr lang="en-US" sz="1050" dirty="0"/>
          </a:p>
        </p:txBody>
      </p:sp>
      <p:sp>
        <p:nvSpPr>
          <p:cNvPr id="14" name="Text 12"/>
          <p:cNvSpPr txBox="1"/>
          <p:nvPr/>
        </p:nvSpPr>
        <p:spPr>
          <a:xfrm>
            <a:off x="2240280" y="1984248"/>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R-014</a:t>
            </a:r>
            <a:endParaRPr lang="en-US" sz="1050" dirty="0"/>
          </a:p>
        </p:txBody>
      </p:sp>
      <p:sp>
        <p:nvSpPr>
          <p:cNvPr id="15" name="Text 13"/>
          <p:cNvSpPr txBox="1"/>
          <p:nvPr/>
        </p:nvSpPr>
        <p:spPr>
          <a:xfrm>
            <a:off x="3657600" y="1984248"/>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Chidi Okonkwo</a:t>
            </a:r>
            <a:endParaRPr lang="en-US" sz="1050" dirty="0"/>
          </a:p>
        </p:txBody>
      </p:sp>
      <p:sp>
        <p:nvSpPr>
          <p:cNvPr id="16" name="Text 14"/>
          <p:cNvSpPr txBox="1"/>
          <p:nvPr/>
        </p:nvSpPr>
        <p:spPr>
          <a:xfrm>
            <a:off x="5074920" y="1984248"/>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Apapa</a:t>
            </a:r>
            <a:endParaRPr lang="en-US" sz="1050" dirty="0"/>
          </a:p>
        </p:txBody>
      </p:sp>
      <p:sp>
        <p:nvSpPr>
          <p:cNvPr id="17" name="Text 15"/>
          <p:cNvSpPr txBox="1"/>
          <p:nvPr/>
        </p:nvSpPr>
        <p:spPr>
          <a:xfrm>
            <a:off x="822960" y="2354580"/>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D-000118</a:t>
            </a:r>
            <a:endParaRPr lang="en-US" sz="1050" dirty="0"/>
          </a:p>
        </p:txBody>
      </p:sp>
      <p:sp>
        <p:nvSpPr>
          <p:cNvPr id="18" name="Text 16"/>
          <p:cNvSpPr txBox="1"/>
          <p:nvPr/>
        </p:nvSpPr>
        <p:spPr>
          <a:xfrm>
            <a:off x="2240280" y="2354580"/>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R-022</a:t>
            </a:r>
            <a:endParaRPr lang="en-US" sz="1050" dirty="0"/>
          </a:p>
        </p:txBody>
      </p:sp>
      <p:sp>
        <p:nvSpPr>
          <p:cNvPr id="19" name="Text 17"/>
          <p:cNvSpPr txBox="1"/>
          <p:nvPr/>
        </p:nvSpPr>
        <p:spPr>
          <a:xfrm>
            <a:off x="3657600" y="2354580"/>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Bisi Adeyemi</a:t>
            </a:r>
            <a:endParaRPr lang="en-US" sz="1050" dirty="0"/>
          </a:p>
        </p:txBody>
      </p:sp>
      <p:sp>
        <p:nvSpPr>
          <p:cNvPr id="20" name="Text 18"/>
          <p:cNvSpPr txBox="1"/>
          <p:nvPr/>
        </p:nvSpPr>
        <p:spPr>
          <a:xfrm>
            <a:off x="5074920" y="2354580"/>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Ikeja</a:t>
            </a:r>
            <a:endParaRPr lang="en-US" sz="1050" dirty="0"/>
          </a:p>
        </p:txBody>
      </p:sp>
      <p:sp>
        <p:nvSpPr>
          <p:cNvPr id="21" name="Shape 19"/>
          <p:cNvSpPr/>
          <p:nvPr/>
        </p:nvSpPr>
        <p:spPr>
          <a:xfrm>
            <a:off x="685800" y="2724912"/>
            <a:ext cx="5943600" cy="370332"/>
          </a:xfrm>
          <a:prstGeom prst="rect">
            <a:avLst/>
          </a:prstGeom>
          <a:solidFill>
            <a:srgbClr val="FBF0DC"/>
          </a:solidFill>
          <a:ln/>
        </p:spPr>
      </p:sp>
      <p:sp>
        <p:nvSpPr>
          <p:cNvPr id="22" name="Text 20"/>
          <p:cNvSpPr txBox="1"/>
          <p:nvPr/>
        </p:nvSpPr>
        <p:spPr>
          <a:xfrm>
            <a:off x="822960" y="2724912"/>
            <a:ext cx="1417320" cy="370332"/>
          </a:xfrm>
          <a:prstGeom prst="rect">
            <a:avLst/>
          </a:prstGeom>
          <a:noFill/>
          <a:ln/>
        </p:spPr>
        <p:txBody>
          <a:bodyPr wrap="square" lIns="0" tIns="0" rIns="0" bIns="0" rtlCol="0" anchor="ctr"/>
          <a:lstStyle/>
          <a:p>
            <a:pPr marL="0" indent="0">
              <a:buNone/>
            </a:pPr>
            <a:r>
              <a:rPr lang="en-US" sz="1050" dirty="0">
                <a:solidFill>
                  <a:srgbClr val="8A5A12"/>
                </a:solidFill>
                <a:latin typeface="Poppins" pitchFamily="34" charset="0"/>
                <a:ea typeface="Poppins" pitchFamily="34" charset="-122"/>
                <a:cs typeface="Poppins" pitchFamily="34" charset="-120"/>
              </a:rPr>
              <a:t>D-000119</a:t>
            </a:r>
            <a:endParaRPr lang="en-US" sz="1050" dirty="0"/>
          </a:p>
        </p:txBody>
      </p:sp>
      <p:sp>
        <p:nvSpPr>
          <p:cNvPr id="23" name="Text 21"/>
          <p:cNvSpPr txBox="1"/>
          <p:nvPr/>
        </p:nvSpPr>
        <p:spPr>
          <a:xfrm>
            <a:off x="2240280" y="2724912"/>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R-014</a:t>
            </a:r>
            <a:endParaRPr lang="en-US" sz="1050" dirty="0"/>
          </a:p>
        </p:txBody>
      </p:sp>
      <p:sp>
        <p:nvSpPr>
          <p:cNvPr id="24" name="Text 22"/>
          <p:cNvSpPr txBox="1"/>
          <p:nvPr/>
        </p:nvSpPr>
        <p:spPr>
          <a:xfrm>
            <a:off x="3657600" y="2724912"/>
            <a:ext cx="1417320" cy="370332"/>
          </a:xfrm>
          <a:prstGeom prst="rect">
            <a:avLst/>
          </a:prstGeom>
          <a:noFill/>
          <a:ln/>
        </p:spPr>
        <p:txBody>
          <a:bodyPr wrap="square" lIns="0" tIns="0" rIns="0" bIns="0" rtlCol="0" anchor="ctr"/>
          <a:lstStyle/>
          <a:p>
            <a:r>
              <a:rPr lang="en-US" sz="1050" b="1" dirty="0">
                <a:solidFill>
                  <a:srgbClr val="8A5A12"/>
                </a:solidFill>
                <a:latin typeface="Poppins" pitchFamily="34" charset="0"/>
                <a:ea typeface="Poppins" pitchFamily="34" charset="-122"/>
                <a:cs typeface="Poppins" pitchFamily="34" charset="-120"/>
              </a:rPr>
              <a:t>Chidi Okonkwo</a:t>
            </a:r>
            <a:endParaRPr lang="en-US" sz="1050" dirty="0"/>
          </a:p>
        </p:txBody>
      </p:sp>
      <p:sp>
        <p:nvSpPr>
          <p:cNvPr id="25" name="Text 23"/>
          <p:cNvSpPr txBox="1"/>
          <p:nvPr/>
        </p:nvSpPr>
        <p:spPr>
          <a:xfrm>
            <a:off x="5074920" y="2724912"/>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Apapa</a:t>
            </a:r>
            <a:endParaRPr lang="en-US" sz="1050" dirty="0"/>
          </a:p>
        </p:txBody>
      </p:sp>
      <p:sp>
        <p:nvSpPr>
          <p:cNvPr id="26" name="Shape 24"/>
          <p:cNvSpPr/>
          <p:nvPr/>
        </p:nvSpPr>
        <p:spPr>
          <a:xfrm>
            <a:off x="685800" y="3095244"/>
            <a:ext cx="5943600" cy="370332"/>
          </a:xfrm>
          <a:prstGeom prst="rect">
            <a:avLst/>
          </a:prstGeom>
          <a:solidFill>
            <a:srgbClr val="FBF0DC"/>
          </a:solidFill>
          <a:ln/>
        </p:spPr>
      </p:sp>
      <p:sp>
        <p:nvSpPr>
          <p:cNvPr id="27" name="Text 25"/>
          <p:cNvSpPr txBox="1"/>
          <p:nvPr/>
        </p:nvSpPr>
        <p:spPr>
          <a:xfrm>
            <a:off x="822960" y="3095244"/>
            <a:ext cx="1417320" cy="370332"/>
          </a:xfrm>
          <a:prstGeom prst="rect">
            <a:avLst/>
          </a:prstGeom>
          <a:noFill/>
          <a:ln/>
        </p:spPr>
        <p:txBody>
          <a:bodyPr wrap="square" lIns="0" tIns="0" rIns="0" bIns="0" rtlCol="0" anchor="ctr"/>
          <a:lstStyle/>
          <a:p>
            <a:pPr marL="0" indent="0">
              <a:buNone/>
            </a:pPr>
            <a:r>
              <a:rPr lang="en-US" sz="1050" dirty="0">
                <a:solidFill>
                  <a:srgbClr val="8A5A12"/>
                </a:solidFill>
                <a:latin typeface="Poppins" pitchFamily="34" charset="0"/>
                <a:ea typeface="Poppins" pitchFamily="34" charset="-122"/>
                <a:cs typeface="Poppins" pitchFamily="34" charset="-120"/>
              </a:rPr>
              <a:t>D-000120</a:t>
            </a:r>
            <a:endParaRPr lang="en-US" sz="1050" dirty="0"/>
          </a:p>
        </p:txBody>
      </p:sp>
      <p:sp>
        <p:nvSpPr>
          <p:cNvPr id="28" name="Text 26"/>
          <p:cNvSpPr txBox="1"/>
          <p:nvPr/>
        </p:nvSpPr>
        <p:spPr>
          <a:xfrm>
            <a:off x="2240280" y="3095244"/>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R-014</a:t>
            </a:r>
            <a:endParaRPr lang="en-US" sz="1050" dirty="0"/>
          </a:p>
        </p:txBody>
      </p:sp>
      <p:sp>
        <p:nvSpPr>
          <p:cNvPr id="29" name="Text 27"/>
          <p:cNvSpPr txBox="1"/>
          <p:nvPr/>
        </p:nvSpPr>
        <p:spPr>
          <a:xfrm>
            <a:off x="3657600" y="3095244"/>
            <a:ext cx="1417320" cy="370332"/>
          </a:xfrm>
          <a:prstGeom prst="rect">
            <a:avLst/>
          </a:prstGeom>
          <a:noFill/>
          <a:ln/>
        </p:spPr>
        <p:txBody>
          <a:bodyPr wrap="square" lIns="0" tIns="0" rIns="0" bIns="0" rtlCol="0" anchor="ctr"/>
          <a:lstStyle/>
          <a:p>
            <a:r>
              <a:rPr lang="en-US" sz="1050" b="1" dirty="0">
                <a:solidFill>
                  <a:srgbClr val="8A5A12"/>
                </a:solidFill>
                <a:latin typeface="Poppins" pitchFamily="34" charset="0"/>
                <a:ea typeface="Poppins" pitchFamily="34" charset="-122"/>
                <a:cs typeface="Poppins" pitchFamily="34" charset="-120"/>
              </a:rPr>
              <a:t>Chidi Okonkwo</a:t>
            </a:r>
            <a:endParaRPr lang="en-US" sz="1050" dirty="0"/>
          </a:p>
        </p:txBody>
      </p:sp>
      <p:sp>
        <p:nvSpPr>
          <p:cNvPr id="30" name="Text 28"/>
          <p:cNvSpPr txBox="1"/>
          <p:nvPr/>
        </p:nvSpPr>
        <p:spPr>
          <a:xfrm>
            <a:off x="5074920" y="3095244"/>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Apapa</a:t>
            </a:r>
            <a:endParaRPr lang="en-US" sz="1050" dirty="0"/>
          </a:p>
        </p:txBody>
      </p:sp>
      <p:sp>
        <p:nvSpPr>
          <p:cNvPr id="31" name="Text 29"/>
          <p:cNvSpPr txBox="1"/>
          <p:nvPr/>
        </p:nvSpPr>
        <p:spPr>
          <a:xfrm>
            <a:off x="822960" y="3465576"/>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D-000121</a:t>
            </a:r>
            <a:endParaRPr lang="en-US" sz="1050" dirty="0"/>
          </a:p>
        </p:txBody>
      </p:sp>
      <p:sp>
        <p:nvSpPr>
          <p:cNvPr id="32" name="Text 30"/>
          <p:cNvSpPr txBox="1"/>
          <p:nvPr/>
        </p:nvSpPr>
        <p:spPr>
          <a:xfrm>
            <a:off x="2240280" y="3465576"/>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R-041</a:t>
            </a:r>
            <a:endParaRPr lang="en-US" sz="1050" dirty="0"/>
          </a:p>
        </p:txBody>
      </p:sp>
      <p:sp>
        <p:nvSpPr>
          <p:cNvPr id="33" name="Text 31"/>
          <p:cNvSpPr txBox="1"/>
          <p:nvPr/>
        </p:nvSpPr>
        <p:spPr>
          <a:xfrm>
            <a:off x="3657600" y="3465576"/>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Musa Bello</a:t>
            </a:r>
            <a:endParaRPr lang="en-US" sz="1050" dirty="0"/>
          </a:p>
        </p:txBody>
      </p:sp>
      <p:sp>
        <p:nvSpPr>
          <p:cNvPr id="34" name="Text 32"/>
          <p:cNvSpPr txBox="1"/>
          <p:nvPr/>
        </p:nvSpPr>
        <p:spPr>
          <a:xfrm>
            <a:off x="5074920" y="3465576"/>
            <a:ext cx="1417320" cy="370332"/>
          </a:xfrm>
          <a:prstGeom prst="rect">
            <a:avLst/>
          </a:prstGeom>
          <a:noFill/>
          <a:ln/>
        </p:spPr>
        <p:txBody>
          <a:bodyPr wrap="square" lIns="0" tIns="0" rIns="0" bIns="0" rtlCol="0" anchor="ctr"/>
          <a:lstStyle/>
          <a:p>
            <a:pPr marL="0" indent="0">
              <a:buNone/>
            </a:pPr>
            <a:r>
              <a:rPr lang="en-US" sz="1050" dirty="0">
                <a:solidFill>
                  <a:srgbClr val="475569"/>
                </a:solidFill>
                <a:latin typeface="Poppins" pitchFamily="34" charset="0"/>
                <a:ea typeface="Poppins" pitchFamily="34" charset="-122"/>
                <a:cs typeface="Poppins" pitchFamily="34" charset="-120"/>
              </a:rPr>
              <a:t>Lekki</a:t>
            </a:r>
            <a:endParaRPr lang="en-US" sz="1050" dirty="0"/>
          </a:p>
        </p:txBody>
      </p:sp>
      <p:sp>
        <p:nvSpPr>
          <p:cNvPr id="35" name="Shape 33"/>
          <p:cNvSpPr/>
          <p:nvPr/>
        </p:nvSpPr>
        <p:spPr>
          <a:xfrm>
            <a:off x="685800" y="3835908"/>
            <a:ext cx="5943600" cy="370332"/>
          </a:xfrm>
          <a:prstGeom prst="rect">
            <a:avLst/>
          </a:prstGeom>
          <a:solidFill>
            <a:srgbClr val="FBF0DC"/>
          </a:solidFill>
          <a:ln/>
        </p:spPr>
      </p:sp>
      <p:sp>
        <p:nvSpPr>
          <p:cNvPr id="36" name="Text 34"/>
          <p:cNvSpPr txBox="1"/>
          <p:nvPr/>
        </p:nvSpPr>
        <p:spPr>
          <a:xfrm>
            <a:off x="822960" y="3835908"/>
            <a:ext cx="1417320" cy="370332"/>
          </a:xfrm>
          <a:prstGeom prst="rect">
            <a:avLst/>
          </a:prstGeom>
          <a:noFill/>
          <a:ln/>
        </p:spPr>
        <p:txBody>
          <a:bodyPr wrap="square" lIns="0" tIns="0" rIns="0" bIns="0" rtlCol="0" anchor="ctr"/>
          <a:lstStyle/>
          <a:p>
            <a:pPr marL="0" indent="0">
              <a:buNone/>
            </a:pPr>
            <a:r>
              <a:rPr lang="en-US" sz="1050" dirty="0">
                <a:solidFill>
                  <a:srgbClr val="8A5A12"/>
                </a:solidFill>
                <a:latin typeface="Poppins" pitchFamily="34" charset="0"/>
                <a:ea typeface="Poppins" pitchFamily="34" charset="-122"/>
                <a:cs typeface="Poppins" pitchFamily="34" charset="-120"/>
              </a:rPr>
              <a:t>D-000122</a:t>
            </a:r>
            <a:endParaRPr lang="en-US" sz="1050" dirty="0"/>
          </a:p>
        </p:txBody>
      </p:sp>
      <p:sp>
        <p:nvSpPr>
          <p:cNvPr id="37" name="Text 35"/>
          <p:cNvSpPr txBox="1"/>
          <p:nvPr/>
        </p:nvSpPr>
        <p:spPr>
          <a:xfrm>
            <a:off x="2240280" y="3835908"/>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R-014</a:t>
            </a:r>
            <a:endParaRPr lang="en-US" sz="1050" dirty="0"/>
          </a:p>
        </p:txBody>
      </p:sp>
      <p:sp>
        <p:nvSpPr>
          <p:cNvPr id="38" name="Text 36"/>
          <p:cNvSpPr txBox="1"/>
          <p:nvPr/>
        </p:nvSpPr>
        <p:spPr>
          <a:xfrm>
            <a:off x="3657600" y="3835908"/>
            <a:ext cx="1417320" cy="370332"/>
          </a:xfrm>
          <a:prstGeom prst="rect">
            <a:avLst/>
          </a:prstGeom>
          <a:noFill/>
          <a:ln/>
        </p:spPr>
        <p:txBody>
          <a:bodyPr wrap="square" lIns="0" tIns="0" rIns="0" bIns="0" rtlCol="0" anchor="ctr"/>
          <a:lstStyle/>
          <a:p>
            <a:r>
              <a:rPr lang="en-US" sz="1050" b="1" dirty="0">
                <a:solidFill>
                  <a:srgbClr val="8A5A12"/>
                </a:solidFill>
                <a:latin typeface="Poppins" pitchFamily="34" charset="0"/>
                <a:ea typeface="Poppins" pitchFamily="34" charset="-122"/>
                <a:cs typeface="Poppins" pitchFamily="34" charset="-120"/>
              </a:rPr>
              <a:t>Chidi Okonkwo</a:t>
            </a:r>
            <a:endParaRPr lang="en-US" sz="1050" dirty="0"/>
          </a:p>
        </p:txBody>
      </p:sp>
      <p:sp>
        <p:nvSpPr>
          <p:cNvPr id="39" name="Text 37"/>
          <p:cNvSpPr txBox="1"/>
          <p:nvPr/>
        </p:nvSpPr>
        <p:spPr>
          <a:xfrm>
            <a:off x="5074920" y="3835908"/>
            <a:ext cx="1417320" cy="370332"/>
          </a:xfrm>
          <a:prstGeom prst="rect">
            <a:avLst/>
          </a:prstGeom>
          <a:noFill/>
          <a:ln/>
        </p:spPr>
        <p:txBody>
          <a:bodyPr wrap="square" lIns="0" tIns="0" rIns="0" bIns="0" rtlCol="0" anchor="ctr"/>
          <a:lstStyle/>
          <a:p>
            <a:pPr marL="0" indent="0">
              <a:buNone/>
            </a:pPr>
            <a:r>
              <a:rPr lang="en-US" sz="1050" b="1" dirty="0">
                <a:solidFill>
                  <a:srgbClr val="8A5A12"/>
                </a:solidFill>
                <a:latin typeface="Poppins" pitchFamily="34" charset="0"/>
                <a:ea typeface="Poppins" pitchFamily="34" charset="-122"/>
                <a:cs typeface="Poppins" pitchFamily="34" charset="-120"/>
              </a:rPr>
              <a:t>Apapa</a:t>
            </a:r>
            <a:endParaRPr lang="en-US" sz="1050" dirty="0"/>
          </a:p>
        </p:txBody>
      </p:sp>
      <p:sp>
        <p:nvSpPr>
          <p:cNvPr id="40" name="Shape 38"/>
          <p:cNvSpPr/>
          <p:nvPr/>
        </p:nvSpPr>
        <p:spPr>
          <a:xfrm>
            <a:off x="6949440" y="1783080"/>
            <a:ext cx="566928" cy="566928"/>
          </a:xfrm>
          <a:prstGeom prst="ellipse">
            <a:avLst/>
          </a:prstGeom>
          <a:solidFill>
            <a:srgbClr val="C9821F"/>
          </a:solidFill>
          <a:ln/>
        </p:spPr>
      </p:sp>
      <p:sp>
        <p:nvSpPr>
          <p:cNvPr id="41" name="Text 39"/>
          <p:cNvSpPr txBox="1"/>
          <p:nvPr/>
        </p:nvSpPr>
        <p:spPr>
          <a:xfrm>
            <a:off x="6949440" y="1783080"/>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Poppins" pitchFamily="34" charset="0"/>
                <a:ea typeface="Poppins" pitchFamily="34" charset="-122"/>
                <a:cs typeface="Poppins" pitchFamily="34" charset="-120"/>
              </a:rPr>
              <a:t>!</a:t>
            </a:r>
            <a:endParaRPr lang="en-US" sz="2400" dirty="0"/>
          </a:p>
        </p:txBody>
      </p:sp>
      <p:sp>
        <p:nvSpPr>
          <p:cNvPr id="42" name="Text 40"/>
          <p:cNvSpPr txBox="1"/>
          <p:nvPr/>
        </p:nvSpPr>
        <p:spPr>
          <a:xfrm>
            <a:off x="7680960" y="1783080"/>
            <a:ext cx="2834640" cy="777240"/>
          </a:xfrm>
          <a:prstGeom prst="rect">
            <a:avLst/>
          </a:prstGeom>
          <a:noFill/>
          <a:ln/>
        </p:spPr>
        <p:txBody>
          <a:bodyPr wrap="square" lIns="0" tIns="0" rIns="0" bIns="0" rtlCol="0" anchor="t"/>
          <a:lstStyle/>
          <a:p>
            <a:pPr marL="0" indent="0" algn="l">
              <a:lnSpc>
                <a:spcPct val="125000"/>
              </a:lnSpc>
              <a:buNone/>
            </a:pPr>
            <a:r>
              <a:rPr lang="en-US" sz="1450" b="1" dirty="0">
                <a:solidFill>
                  <a:srgbClr val="0A1A23"/>
                </a:solidFill>
                <a:latin typeface="Poppins" pitchFamily="34" charset="0"/>
                <a:ea typeface="Poppins" pitchFamily="34" charset="-122"/>
                <a:cs typeface="Poppins" pitchFamily="34" charset="-120"/>
              </a:rPr>
              <a:t>Chidi  appears 617 times, once for every delivery he made in 2025.</a:t>
            </a:r>
            <a:endParaRPr lang="en-US" sz="1450" dirty="0"/>
          </a:p>
        </p:txBody>
      </p:sp>
      <p:sp>
        <p:nvSpPr>
          <p:cNvPr id="43" name="Text 41"/>
          <p:cNvSpPr txBox="1"/>
          <p:nvPr/>
        </p:nvSpPr>
        <p:spPr>
          <a:xfrm>
            <a:off x="6949440" y="2697480"/>
            <a:ext cx="3611880" cy="2286000"/>
          </a:xfrm>
          <a:prstGeom prst="rect">
            <a:avLst/>
          </a:prstGeom>
          <a:noFill/>
          <a:ln/>
        </p:spPr>
        <p:txBody>
          <a:bodyPr wrap="square" lIns="0" tIns="0" rIns="0" bIns="0" rtlCol="0" anchor="t"/>
          <a:lstStyle/>
          <a:p>
            <a:pPr marL="0" indent="0" algn="l">
              <a:lnSpc>
                <a:spcPct val="128000"/>
              </a:lnSpc>
              <a:buNone/>
            </a:pPr>
            <a:r>
              <a:rPr lang="en-US" sz="1250" dirty="0">
                <a:solidFill>
                  <a:srgbClr val="475569"/>
                </a:solidFill>
                <a:latin typeface="Poppins" pitchFamily="34" charset="0"/>
                <a:ea typeface="Poppins" pitchFamily="34" charset="-122"/>
                <a:cs typeface="Poppins" pitchFamily="34" charset="-120"/>
              </a:rPr>
              <a:t>Counting rows in that column does not count riders. It counts deliveries wearing rider names.</a:t>
            </a:r>
            <a:endParaRPr lang="en-US" sz="1250" dirty="0"/>
          </a:p>
          <a:p>
            <a:pPr marL="0" indent="0" algn="l">
              <a:lnSpc>
                <a:spcPct val="128000"/>
              </a:lnSpc>
              <a:buNone/>
            </a:pPr>
            <a:endParaRPr lang="en-US" sz="1250" dirty="0"/>
          </a:p>
          <a:p>
            <a:pPr marL="0" indent="0" algn="l">
              <a:lnSpc>
                <a:spcPct val="128000"/>
              </a:lnSpc>
              <a:buNone/>
            </a:pPr>
            <a:r>
              <a:rPr lang="en-US" sz="1250" dirty="0">
                <a:solidFill>
                  <a:srgbClr val="475569"/>
                </a:solidFill>
                <a:latin typeface="Poppins" pitchFamily="34" charset="0"/>
                <a:ea typeface="Poppins" pitchFamily="34" charset="-122"/>
                <a:cs typeface="Poppins" pitchFamily="34" charset="-120"/>
              </a:rPr>
              <a:t>The number is not corrupt and it is not a bug. Power BI answered exactly the question you asked. You asked the wrong question.</a:t>
            </a:r>
            <a:endParaRPr lang="en-US" sz="1250" dirty="0"/>
          </a:p>
        </p:txBody>
      </p:sp>
      <p:sp>
        <p:nvSpPr>
          <p:cNvPr id="44" name="Shape 42"/>
          <p:cNvSpPr/>
          <p:nvPr/>
        </p:nvSpPr>
        <p:spPr>
          <a:xfrm>
            <a:off x="685800" y="4617720"/>
            <a:ext cx="9829800" cy="1051560"/>
          </a:xfrm>
          <a:prstGeom prst="roundRect">
            <a:avLst>
              <a:gd name="adj" fmla="val 7826"/>
            </a:avLst>
          </a:prstGeom>
          <a:solidFill>
            <a:srgbClr val="EEF4F4"/>
          </a:solidFill>
          <a:ln/>
        </p:spPr>
      </p:sp>
      <p:sp>
        <p:nvSpPr>
          <p:cNvPr id="45" name="Shape 43"/>
          <p:cNvSpPr/>
          <p:nvPr/>
        </p:nvSpPr>
        <p:spPr>
          <a:xfrm>
            <a:off x="685800" y="4617720"/>
            <a:ext cx="68580" cy="1051560"/>
          </a:xfrm>
          <a:prstGeom prst="rect">
            <a:avLst/>
          </a:prstGeom>
          <a:solidFill>
            <a:srgbClr val="387F7F"/>
          </a:solidFill>
          <a:ln/>
        </p:spPr>
      </p:sp>
      <p:sp>
        <p:nvSpPr>
          <p:cNvPr id="46" name="Text 44"/>
          <p:cNvSpPr txBox="1"/>
          <p:nvPr/>
        </p:nvSpPr>
        <p:spPr>
          <a:xfrm>
            <a:off x="1051560" y="4617720"/>
            <a:ext cx="9235440" cy="1051560"/>
          </a:xfrm>
          <a:prstGeom prst="rect">
            <a:avLst/>
          </a:prstGeom>
          <a:noFill/>
          <a:ln/>
        </p:spPr>
        <p:txBody>
          <a:bodyPr wrap="square" lIns="0" tIns="0" rIns="0" bIns="0" rtlCol="0" anchor="ctr"/>
          <a:lstStyle/>
          <a:p>
            <a:pPr marL="0" indent="0" algn="l">
              <a:lnSpc>
                <a:spcPct val="125000"/>
              </a:lnSpc>
              <a:buNone/>
            </a:pPr>
            <a:r>
              <a:rPr lang="en-US" sz="1500" b="1" dirty="0">
                <a:solidFill>
                  <a:srgbClr val="387F7F"/>
                </a:solidFill>
                <a:latin typeface="Poppins" pitchFamily="34" charset="0"/>
                <a:ea typeface="Poppins" pitchFamily="34" charset="-122"/>
                <a:cs typeface="Poppins" pitchFamily="34" charset="-120"/>
              </a:rPr>
              <a:t>The grain changed. In a flat table the grain is one row per delivery, so every question it answers is a question about deliveries, whether you meant that or not.</a:t>
            </a:r>
            <a:endParaRPr lang="en-US" sz="1500" dirty="0"/>
          </a:p>
        </p:txBody>
      </p:sp>
      <p:pic>
        <p:nvPicPr>
          <p:cNvPr id="47"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48" name="Text 45"/>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Duplication is only the visible cost</a:t>
            </a:r>
            <a:endParaRPr lang="en-US" sz="2700" dirty="0"/>
          </a:p>
        </p:txBody>
      </p:sp>
      <p:sp>
        <p:nvSpPr>
          <p:cNvPr id="6" name="Shape 4"/>
          <p:cNvSpPr/>
          <p:nvPr/>
        </p:nvSpPr>
        <p:spPr>
          <a:xfrm>
            <a:off x="685800" y="1600200"/>
            <a:ext cx="3063240" cy="3017520"/>
          </a:xfrm>
          <a:prstGeom prst="roundRect">
            <a:avLst>
              <a:gd name="adj" fmla="val 3030"/>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00200"/>
            <a:ext cx="3063240" cy="82296"/>
          </a:xfrm>
          <a:prstGeom prst="rect">
            <a:avLst/>
          </a:prstGeom>
          <a:solidFill>
            <a:srgbClr val="C9821F"/>
          </a:solidFill>
          <a:ln/>
        </p:spPr>
      </p:sp>
      <p:sp>
        <p:nvSpPr>
          <p:cNvPr id="8" name="Shape 6"/>
          <p:cNvSpPr/>
          <p:nvPr/>
        </p:nvSpPr>
        <p:spPr>
          <a:xfrm>
            <a:off x="978408" y="1984248"/>
            <a:ext cx="548640" cy="548640"/>
          </a:xfrm>
          <a:prstGeom prst="ellipse">
            <a:avLst/>
          </a:prstGeom>
          <a:solidFill>
            <a:srgbClr val="C9821F"/>
          </a:solidFill>
          <a:ln/>
        </p:spPr>
      </p:sp>
      <p:sp>
        <p:nvSpPr>
          <p:cNvPr id="9" name="Text 7"/>
          <p:cNvSpPr txBox="1"/>
          <p:nvPr/>
        </p:nvSpPr>
        <p:spPr>
          <a:xfrm>
            <a:off x="978408" y="1984248"/>
            <a:ext cx="548640" cy="548640"/>
          </a:xfrm>
          <a:prstGeom prst="rect">
            <a:avLst/>
          </a:prstGeom>
          <a:noFill/>
          <a:ln/>
        </p:spPr>
        <p:txBody>
          <a:bodyPr wrap="square" lIns="0" tIns="0" rIns="0" bIns="0" rtlCol="0" anchor="ctr"/>
          <a:lstStyle/>
          <a:p>
            <a:pPr marL="0" indent="0" algn="ctr">
              <a:buNone/>
            </a:pPr>
            <a:r>
              <a:rPr lang="en-US" sz="2100" b="1" dirty="0">
                <a:solidFill>
                  <a:srgbClr val="FFFFFF"/>
                </a:solidFill>
                <a:latin typeface="Poppins" pitchFamily="34" charset="0"/>
                <a:ea typeface="Poppins" pitchFamily="34" charset="-122"/>
                <a:cs typeface="Poppins" pitchFamily="34" charset="-120"/>
              </a:rPr>
              <a:t>1</a:t>
            </a:r>
            <a:endParaRPr lang="en-US" sz="2100" dirty="0"/>
          </a:p>
        </p:txBody>
      </p:sp>
      <p:sp>
        <p:nvSpPr>
          <p:cNvPr id="10" name="Text 8"/>
          <p:cNvSpPr txBox="1"/>
          <p:nvPr/>
        </p:nvSpPr>
        <p:spPr>
          <a:xfrm>
            <a:off x="1645920" y="1984248"/>
            <a:ext cx="1874520" cy="548640"/>
          </a:xfrm>
          <a:prstGeom prst="rect">
            <a:avLst/>
          </a:prstGeom>
          <a:noFill/>
          <a:ln/>
        </p:spPr>
        <p:txBody>
          <a:bodyPr wrap="square" lIns="0" tIns="0" rIns="0" bIns="0" rtlCol="0" anchor="ctr"/>
          <a:lstStyle/>
          <a:p>
            <a:pPr marL="0" indent="0">
              <a:buNone/>
            </a:pPr>
            <a:r>
              <a:rPr lang="en-US" sz="1550" b="1" dirty="0">
                <a:solidFill>
                  <a:srgbClr val="0A1A23"/>
                </a:solidFill>
                <a:latin typeface="Poppins" pitchFamily="34" charset="0"/>
                <a:ea typeface="Poppins" pitchFamily="34" charset="-122"/>
                <a:cs typeface="Poppins" pitchFamily="34" charset="-120"/>
              </a:rPr>
              <a:t>Wrong counts</a:t>
            </a:r>
            <a:endParaRPr lang="en-US" sz="1550" dirty="0"/>
          </a:p>
        </p:txBody>
      </p:sp>
      <p:sp>
        <p:nvSpPr>
          <p:cNvPr id="11" name="Text 9"/>
          <p:cNvSpPr txBox="1"/>
          <p:nvPr/>
        </p:nvSpPr>
        <p:spPr>
          <a:xfrm>
            <a:off x="978408" y="2697480"/>
            <a:ext cx="2478024" cy="1737360"/>
          </a:xfrm>
          <a:prstGeom prst="rect">
            <a:avLst/>
          </a:prstGeom>
          <a:noFill/>
          <a:ln/>
        </p:spPr>
        <p:txBody>
          <a:bodyPr wrap="square" lIns="0" tIns="0" rIns="0" bIns="0" rtlCol="0" anchor="t"/>
          <a:lstStyle/>
          <a:p>
            <a:pPr marL="0" indent="0" algn="l">
              <a:lnSpc>
                <a:spcPct val="130000"/>
              </a:lnSpc>
              <a:buNone/>
            </a:pPr>
            <a:r>
              <a:rPr lang="en-US" sz="1250" dirty="0">
                <a:solidFill>
                  <a:srgbClr val="475569"/>
                </a:solidFill>
                <a:latin typeface="Poppins" pitchFamily="34" charset="0"/>
                <a:ea typeface="Poppins" pitchFamily="34" charset="-122"/>
                <a:cs typeface="Poppins" pitchFamily="34" charset="-120"/>
              </a:rPr>
              <a:t>Any distinct thing living in the fact table gets counted at delivery grain. Riders, routes, customers, all inflated.</a:t>
            </a:r>
            <a:endParaRPr lang="en-US" sz="1250" dirty="0"/>
          </a:p>
        </p:txBody>
      </p:sp>
      <p:sp>
        <p:nvSpPr>
          <p:cNvPr id="12" name="Shape 10"/>
          <p:cNvSpPr/>
          <p:nvPr/>
        </p:nvSpPr>
        <p:spPr>
          <a:xfrm>
            <a:off x="4005072" y="1600200"/>
            <a:ext cx="3063240" cy="3017520"/>
          </a:xfrm>
          <a:prstGeom prst="roundRect">
            <a:avLst>
              <a:gd name="adj" fmla="val 3030"/>
            </a:avLst>
          </a:prstGeom>
          <a:solidFill>
            <a:srgbClr val="FFFFFF"/>
          </a:solidFill>
          <a:ln/>
          <a:effectLst>
            <a:outerShdw blurRad="152400" dist="38100" dir="5400000" algn="bl" rotWithShape="0">
              <a:srgbClr val="1B2A2E">
                <a:alpha val="14000"/>
              </a:srgbClr>
            </a:outerShdw>
          </a:effectLst>
        </p:spPr>
      </p:sp>
      <p:sp>
        <p:nvSpPr>
          <p:cNvPr id="13" name="Shape 11"/>
          <p:cNvSpPr/>
          <p:nvPr/>
        </p:nvSpPr>
        <p:spPr>
          <a:xfrm>
            <a:off x="4005072" y="1600200"/>
            <a:ext cx="3063240" cy="82296"/>
          </a:xfrm>
          <a:prstGeom prst="rect">
            <a:avLst/>
          </a:prstGeom>
          <a:solidFill>
            <a:srgbClr val="C9821F"/>
          </a:solidFill>
          <a:ln/>
        </p:spPr>
      </p:sp>
      <p:sp>
        <p:nvSpPr>
          <p:cNvPr id="14" name="Shape 12"/>
          <p:cNvSpPr/>
          <p:nvPr/>
        </p:nvSpPr>
        <p:spPr>
          <a:xfrm>
            <a:off x="4297680" y="1984248"/>
            <a:ext cx="548640" cy="548640"/>
          </a:xfrm>
          <a:prstGeom prst="ellipse">
            <a:avLst/>
          </a:prstGeom>
          <a:solidFill>
            <a:srgbClr val="C9821F"/>
          </a:solidFill>
          <a:ln/>
        </p:spPr>
      </p:sp>
      <p:sp>
        <p:nvSpPr>
          <p:cNvPr id="15" name="Text 13"/>
          <p:cNvSpPr txBox="1"/>
          <p:nvPr/>
        </p:nvSpPr>
        <p:spPr>
          <a:xfrm>
            <a:off x="4297680" y="1984248"/>
            <a:ext cx="548640" cy="548640"/>
          </a:xfrm>
          <a:prstGeom prst="rect">
            <a:avLst/>
          </a:prstGeom>
          <a:noFill/>
          <a:ln/>
        </p:spPr>
        <p:txBody>
          <a:bodyPr wrap="square" lIns="0" tIns="0" rIns="0" bIns="0" rtlCol="0" anchor="ctr"/>
          <a:lstStyle/>
          <a:p>
            <a:pPr marL="0" indent="0" algn="ctr">
              <a:buNone/>
            </a:pPr>
            <a:r>
              <a:rPr lang="en-US" sz="2100" b="1" dirty="0">
                <a:solidFill>
                  <a:srgbClr val="FFFFFF"/>
                </a:solidFill>
                <a:latin typeface="Poppins" pitchFamily="34" charset="0"/>
                <a:ea typeface="Poppins" pitchFamily="34" charset="-122"/>
                <a:cs typeface="Poppins" pitchFamily="34" charset="-120"/>
              </a:rPr>
              <a:t>2</a:t>
            </a:r>
            <a:endParaRPr lang="en-US" sz="2100" dirty="0"/>
          </a:p>
        </p:txBody>
      </p:sp>
      <p:sp>
        <p:nvSpPr>
          <p:cNvPr id="16" name="Text 14"/>
          <p:cNvSpPr txBox="1"/>
          <p:nvPr/>
        </p:nvSpPr>
        <p:spPr>
          <a:xfrm>
            <a:off x="4965192" y="1984248"/>
            <a:ext cx="1874520" cy="548640"/>
          </a:xfrm>
          <a:prstGeom prst="rect">
            <a:avLst/>
          </a:prstGeom>
          <a:noFill/>
          <a:ln/>
        </p:spPr>
        <p:txBody>
          <a:bodyPr wrap="square" lIns="0" tIns="0" rIns="0" bIns="0" rtlCol="0" anchor="ctr"/>
          <a:lstStyle/>
          <a:p>
            <a:pPr marL="0" indent="0">
              <a:buNone/>
            </a:pPr>
            <a:r>
              <a:rPr lang="en-US" sz="1550" b="1" dirty="0">
                <a:solidFill>
                  <a:srgbClr val="0A1A23"/>
                </a:solidFill>
                <a:latin typeface="Poppins" pitchFamily="34" charset="0"/>
                <a:ea typeface="Poppins" pitchFamily="34" charset="-122"/>
                <a:cs typeface="Poppins" pitchFamily="34" charset="-120"/>
              </a:rPr>
              <a:t>Wrong averages</a:t>
            </a:r>
            <a:endParaRPr lang="en-US" sz="1550" dirty="0"/>
          </a:p>
        </p:txBody>
      </p:sp>
      <p:sp>
        <p:nvSpPr>
          <p:cNvPr id="17" name="Text 15"/>
          <p:cNvSpPr txBox="1"/>
          <p:nvPr/>
        </p:nvSpPr>
        <p:spPr>
          <a:xfrm>
            <a:off x="4297680" y="2697480"/>
            <a:ext cx="2478024" cy="1737360"/>
          </a:xfrm>
          <a:prstGeom prst="rect">
            <a:avLst/>
          </a:prstGeom>
          <a:noFill/>
          <a:ln/>
        </p:spPr>
        <p:txBody>
          <a:bodyPr wrap="square" lIns="0" tIns="0" rIns="0" bIns="0" rtlCol="0" anchor="t"/>
          <a:lstStyle/>
          <a:p>
            <a:pPr marL="0" indent="0" algn="l">
              <a:lnSpc>
                <a:spcPct val="130000"/>
              </a:lnSpc>
              <a:buNone/>
            </a:pPr>
            <a:r>
              <a:rPr lang="en-US" sz="1250" dirty="0">
                <a:solidFill>
                  <a:srgbClr val="475569"/>
                </a:solidFill>
                <a:latin typeface="Poppins" pitchFamily="34" charset="0"/>
                <a:ea typeface="Poppins" pitchFamily="34" charset="-122"/>
                <a:cs typeface="Poppins" pitchFamily="34" charset="-120"/>
              </a:rPr>
              <a:t>Average rider tenure, weighted by how many deliveries each rider happened to make. Busy riders dominate a statistic that should treat every rider equally.</a:t>
            </a:r>
            <a:endParaRPr lang="en-US" sz="1250" dirty="0"/>
          </a:p>
        </p:txBody>
      </p:sp>
      <p:sp>
        <p:nvSpPr>
          <p:cNvPr id="18" name="Shape 16"/>
          <p:cNvSpPr/>
          <p:nvPr/>
        </p:nvSpPr>
        <p:spPr>
          <a:xfrm>
            <a:off x="7324344" y="1600200"/>
            <a:ext cx="3063240" cy="3017520"/>
          </a:xfrm>
          <a:prstGeom prst="roundRect">
            <a:avLst>
              <a:gd name="adj" fmla="val 3030"/>
            </a:avLst>
          </a:prstGeom>
          <a:solidFill>
            <a:srgbClr val="FFFFFF"/>
          </a:solidFill>
          <a:ln/>
          <a:effectLst>
            <a:outerShdw blurRad="152400" dist="38100" dir="5400000" algn="bl" rotWithShape="0">
              <a:srgbClr val="1B2A2E">
                <a:alpha val="14000"/>
              </a:srgbClr>
            </a:outerShdw>
          </a:effectLst>
        </p:spPr>
      </p:sp>
      <p:sp>
        <p:nvSpPr>
          <p:cNvPr id="19" name="Shape 17"/>
          <p:cNvSpPr/>
          <p:nvPr/>
        </p:nvSpPr>
        <p:spPr>
          <a:xfrm>
            <a:off x="7324344" y="1600200"/>
            <a:ext cx="3063240" cy="82296"/>
          </a:xfrm>
          <a:prstGeom prst="rect">
            <a:avLst/>
          </a:prstGeom>
          <a:solidFill>
            <a:srgbClr val="A8322D"/>
          </a:solidFill>
          <a:ln/>
        </p:spPr>
      </p:sp>
      <p:sp>
        <p:nvSpPr>
          <p:cNvPr id="20" name="Shape 18"/>
          <p:cNvSpPr/>
          <p:nvPr/>
        </p:nvSpPr>
        <p:spPr>
          <a:xfrm>
            <a:off x="7616952" y="1984248"/>
            <a:ext cx="548640" cy="548640"/>
          </a:xfrm>
          <a:prstGeom prst="ellipse">
            <a:avLst/>
          </a:prstGeom>
          <a:solidFill>
            <a:srgbClr val="A8322D"/>
          </a:solidFill>
          <a:ln/>
        </p:spPr>
      </p:sp>
      <p:sp>
        <p:nvSpPr>
          <p:cNvPr id="21" name="Text 19"/>
          <p:cNvSpPr txBox="1"/>
          <p:nvPr/>
        </p:nvSpPr>
        <p:spPr>
          <a:xfrm>
            <a:off x="7616952" y="1984248"/>
            <a:ext cx="548640" cy="548640"/>
          </a:xfrm>
          <a:prstGeom prst="rect">
            <a:avLst/>
          </a:prstGeom>
          <a:noFill/>
          <a:ln/>
        </p:spPr>
        <p:txBody>
          <a:bodyPr wrap="square" lIns="0" tIns="0" rIns="0" bIns="0" rtlCol="0" anchor="ctr"/>
          <a:lstStyle/>
          <a:p>
            <a:pPr marL="0" indent="0" algn="ctr">
              <a:buNone/>
            </a:pPr>
            <a:r>
              <a:rPr lang="en-US" sz="2100" b="1" dirty="0">
                <a:solidFill>
                  <a:srgbClr val="FFFFFF"/>
                </a:solidFill>
                <a:latin typeface="Poppins" pitchFamily="34" charset="0"/>
                <a:ea typeface="Poppins" pitchFamily="34" charset="-122"/>
                <a:cs typeface="Poppins" pitchFamily="34" charset="-120"/>
              </a:rPr>
              <a:t>3</a:t>
            </a:r>
            <a:endParaRPr lang="en-US" sz="2100" dirty="0"/>
          </a:p>
        </p:txBody>
      </p:sp>
      <p:sp>
        <p:nvSpPr>
          <p:cNvPr id="22" name="Text 20"/>
          <p:cNvSpPr txBox="1"/>
          <p:nvPr/>
        </p:nvSpPr>
        <p:spPr>
          <a:xfrm>
            <a:off x="8284464" y="1984248"/>
            <a:ext cx="1874520" cy="548640"/>
          </a:xfrm>
          <a:prstGeom prst="rect">
            <a:avLst/>
          </a:prstGeom>
          <a:noFill/>
          <a:ln/>
        </p:spPr>
        <p:txBody>
          <a:bodyPr wrap="square" lIns="0" tIns="0" rIns="0" bIns="0" rtlCol="0" anchor="ctr"/>
          <a:lstStyle/>
          <a:p>
            <a:pPr marL="0" indent="0">
              <a:buNone/>
            </a:pPr>
            <a:r>
              <a:rPr lang="en-US" sz="1550" b="1" dirty="0">
                <a:solidFill>
                  <a:srgbClr val="0A1A23"/>
                </a:solidFill>
                <a:latin typeface="Poppins" pitchFamily="34" charset="0"/>
                <a:ea typeface="Poppins" pitchFamily="34" charset="-122"/>
                <a:cs typeface="Poppins" pitchFamily="34" charset="-120"/>
              </a:rPr>
              <a:t>Impossible filters</a:t>
            </a:r>
            <a:endParaRPr lang="en-US" sz="1550" dirty="0"/>
          </a:p>
        </p:txBody>
      </p:sp>
      <p:sp>
        <p:nvSpPr>
          <p:cNvPr id="23" name="Text 21"/>
          <p:cNvSpPr txBox="1"/>
          <p:nvPr/>
        </p:nvSpPr>
        <p:spPr>
          <a:xfrm>
            <a:off x="7616952" y="2697480"/>
            <a:ext cx="2478024" cy="1737360"/>
          </a:xfrm>
          <a:prstGeom prst="rect">
            <a:avLst/>
          </a:prstGeom>
          <a:noFill/>
          <a:ln/>
        </p:spPr>
        <p:txBody>
          <a:bodyPr wrap="square" lIns="0" tIns="0" rIns="0" bIns="0" rtlCol="0" anchor="t"/>
          <a:lstStyle/>
          <a:p>
            <a:pPr marL="0" indent="0" algn="l">
              <a:lnSpc>
                <a:spcPct val="130000"/>
              </a:lnSpc>
              <a:buNone/>
            </a:pPr>
            <a:r>
              <a:rPr lang="en-US" sz="1250" dirty="0">
                <a:solidFill>
                  <a:srgbClr val="475569"/>
                </a:solidFill>
                <a:latin typeface="Poppins" pitchFamily="34" charset="0"/>
                <a:ea typeface="Poppins" pitchFamily="34" charset="-122"/>
                <a:cs typeface="Poppins" pitchFamily="34" charset="-120"/>
              </a:rPr>
              <a:t>A slicer on Hub filters deliveries, not riders. You can never ask “how many riders in Apapa made no deliveries last week”, because those riders do not exist in this table at all.</a:t>
            </a:r>
            <a:endParaRPr lang="en-US" sz="1250" dirty="0"/>
          </a:p>
        </p:txBody>
      </p:sp>
      <p:sp>
        <p:nvSpPr>
          <p:cNvPr id="24" name="Shape 22"/>
          <p:cNvSpPr/>
          <p:nvPr/>
        </p:nvSpPr>
        <p:spPr>
          <a:xfrm>
            <a:off x="685800" y="4800600"/>
            <a:ext cx="9829800" cy="914400"/>
          </a:xfrm>
          <a:prstGeom prst="roundRect">
            <a:avLst>
              <a:gd name="adj" fmla="val 9000"/>
            </a:avLst>
          </a:prstGeom>
          <a:solidFill>
            <a:srgbClr val="EEF4F4"/>
          </a:solidFill>
          <a:ln/>
        </p:spPr>
      </p:sp>
      <p:sp>
        <p:nvSpPr>
          <p:cNvPr id="25" name="Shape 23"/>
          <p:cNvSpPr/>
          <p:nvPr/>
        </p:nvSpPr>
        <p:spPr>
          <a:xfrm>
            <a:off x="685800" y="4800600"/>
            <a:ext cx="68580" cy="914400"/>
          </a:xfrm>
          <a:prstGeom prst="rect">
            <a:avLst/>
          </a:prstGeom>
          <a:solidFill>
            <a:srgbClr val="A8322D"/>
          </a:solidFill>
          <a:ln/>
        </p:spPr>
      </p:sp>
      <p:sp>
        <p:nvSpPr>
          <p:cNvPr id="26" name="Text 24"/>
          <p:cNvSpPr txBox="1"/>
          <p:nvPr/>
        </p:nvSpPr>
        <p:spPr>
          <a:xfrm>
            <a:off x="1051560" y="4800600"/>
            <a:ext cx="9235440" cy="914400"/>
          </a:xfrm>
          <a:prstGeom prst="rect">
            <a:avLst/>
          </a:prstGeom>
          <a:noFill/>
          <a:ln/>
        </p:spPr>
        <p:txBody>
          <a:bodyPr wrap="square" lIns="0" tIns="0" rIns="0" bIns="0" rtlCol="0" anchor="ctr"/>
          <a:lstStyle/>
          <a:p>
            <a:pPr marL="0" indent="0" algn="l">
              <a:lnSpc>
                <a:spcPct val="135000"/>
              </a:lnSpc>
              <a:buNone/>
            </a:pPr>
            <a:r>
              <a:rPr lang="en-US" sz="1600" b="1" dirty="0">
                <a:solidFill>
                  <a:srgbClr val="A8322D"/>
                </a:solidFill>
                <a:latin typeface="Poppins" pitchFamily="34" charset="0"/>
                <a:ea typeface="Poppins" pitchFamily="34" charset="-122"/>
                <a:cs typeface="Poppins" pitchFamily="34" charset="-120"/>
              </a:rPr>
              <a:t>The third one is the killer. A flat table cannot represent something that did not happen.</a:t>
            </a:r>
            <a:endParaRPr lang="en-US" sz="1600" dirty="0"/>
          </a:p>
        </p:txBody>
      </p:sp>
      <p:pic>
        <p:nvPicPr>
          <p:cNvPr id="27"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8" name="Text 25"/>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0494A"/>
          </a:solidFill>
          <a:ln/>
        </p:spPr>
      </p:sp>
      <p:sp>
        <p:nvSpPr>
          <p:cNvPr id="3" name="Shape 1"/>
          <p:cNvSpPr/>
          <p:nvPr/>
        </p:nvSpPr>
        <p:spPr>
          <a:xfrm>
            <a:off x="7680960" y="-2926080"/>
            <a:ext cx="8595360" cy="8595360"/>
          </a:xfrm>
          <a:prstGeom prst="ellipse">
            <a:avLst/>
          </a:prstGeom>
          <a:solidFill>
            <a:srgbClr val="1B4041"/>
          </a:solidFill>
          <a:ln/>
        </p:spPr>
      </p:sp>
      <p:sp>
        <p:nvSpPr>
          <p:cNvPr id="4" name="Shape 2"/>
          <p:cNvSpPr/>
          <p:nvPr/>
        </p:nvSpPr>
        <p:spPr>
          <a:xfrm>
            <a:off x="9326880" y="2834640"/>
            <a:ext cx="5669280" cy="5669280"/>
          </a:xfrm>
          <a:prstGeom prst="ellipse">
            <a:avLst/>
          </a:prstGeom>
          <a:solidFill>
            <a:srgbClr val="387F7F"/>
          </a:solidFill>
          <a:ln/>
        </p:spPr>
      </p:sp>
      <p:sp>
        <p:nvSpPr>
          <p:cNvPr id="5" name="Text 3"/>
          <p:cNvSpPr txBox="1"/>
          <p:nvPr/>
        </p:nvSpPr>
        <p:spPr>
          <a:xfrm>
            <a:off x="566928" y="320040"/>
            <a:ext cx="2926080" cy="1920240"/>
          </a:xfrm>
          <a:prstGeom prst="rect">
            <a:avLst/>
          </a:prstGeom>
          <a:noFill/>
          <a:ln/>
        </p:spPr>
        <p:txBody>
          <a:bodyPr wrap="square" lIns="0" tIns="0" rIns="0" bIns="0" rtlCol="0" anchor="ctr"/>
          <a:lstStyle/>
          <a:p>
            <a:pPr marL="0" indent="0">
              <a:buNone/>
            </a:pPr>
            <a:r>
              <a:rPr lang="en-US" sz="13000" b="1" dirty="0">
                <a:solidFill>
                  <a:srgbClr val="2F6364"/>
                </a:solidFill>
                <a:latin typeface="Poppins" pitchFamily="34" charset="0"/>
                <a:ea typeface="Poppins" pitchFamily="34" charset="-122"/>
                <a:cs typeface="Poppins" pitchFamily="34" charset="-120"/>
              </a:rPr>
              <a:t>02</a:t>
            </a:r>
            <a:endParaRPr lang="en-US" sz="13000" dirty="0"/>
          </a:p>
        </p:txBody>
      </p:sp>
      <p:sp>
        <p:nvSpPr>
          <p:cNvPr id="6" name="Text 4"/>
          <p:cNvSpPr txBox="1"/>
          <p:nvPr/>
        </p:nvSpPr>
        <p:spPr>
          <a:xfrm>
            <a:off x="713232" y="2487168"/>
            <a:ext cx="6766560" cy="310896"/>
          </a:xfrm>
          <a:prstGeom prst="rect">
            <a:avLst/>
          </a:prstGeom>
          <a:noFill/>
          <a:ln/>
        </p:spPr>
        <p:txBody>
          <a:bodyPr wrap="square" lIns="0" tIns="0" rIns="0" bIns="0" rtlCol="0" anchor="ctr"/>
          <a:lstStyle/>
          <a:p>
            <a:pPr marL="0" indent="0">
              <a:buNone/>
            </a:pPr>
            <a:r>
              <a:rPr lang="en-US" sz="1300" b="1" kern="0" spc="250" dirty="0">
                <a:solidFill>
                  <a:srgbClr val="8FBEBE"/>
                </a:solidFill>
                <a:latin typeface="Poppins" pitchFamily="34" charset="0"/>
                <a:ea typeface="Poppins" pitchFamily="34" charset="-122"/>
                <a:cs typeface="Poppins" pitchFamily="34" charset="-120"/>
              </a:rPr>
              <a:t>PART TWO</a:t>
            </a:r>
            <a:endParaRPr lang="en-US" sz="1300" dirty="0"/>
          </a:p>
        </p:txBody>
      </p:sp>
      <p:sp>
        <p:nvSpPr>
          <p:cNvPr id="7" name="Shape 5"/>
          <p:cNvSpPr/>
          <p:nvPr/>
        </p:nvSpPr>
        <p:spPr>
          <a:xfrm>
            <a:off x="713232" y="2907792"/>
            <a:ext cx="1234440" cy="77724"/>
          </a:xfrm>
          <a:prstGeom prst="rect">
            <a:avLst/>
          </a:prstGeom>
          <a:solidFill>
            <a:srgbClr val="387F7F"/>
          </a:solidFill>
          <a:ln/>
        </p:spPr>
      </p:sp>
      <p:sp>
        <p:nvSpPr>
          <p:cNvPr id="8" name="Text 6"/>
          <p:cNvSpPr txBox="1"/>
          <p:nvPr/>
        </p:nvSpPr>
        <p:spPr>
          <a:xfrm>
            <a:off x="713232" y="3154680"/>
            <a:ext cx="7406640" cy="1463040"/>
          </a:xfrm>
          <a:prstGeom prst="rect">
            <a:avLst/>
          </a:prstGeom>
          <a:noFill/>
          <a:ln/>
        </p:spPr>
        <p:txBody>
          <a:bodyPr wrap="square" lIns="0" tIns="0" rIns="0" bIns="0" rtlCol="0" anchor="ctr"/>
          <a:lstStyle/>
          <a:p>
            <a:pPr marL="0" indent="0">
              <a:lnSpc>
                <a:spcPct val="108000"/>
              </a:lnSpc>
              <a:buNone/>
            </a:pPr>
            <a:r>
              <a:rPr lang="en-US" sz="3600" b="1" dirty="0">
                <a:solidFill>
                  <a:srgbClr val="FFFFFF"/>
                </a:solidFill>
                <a:latin typeface="Poppins" pitchFamily="34" charset="0"/>
                <a:ea typeface="Poppins" pitchFamily="34" charset="-122"/>
                <a:cs typeface="Poppins" pitchFamily="34" charset="-120"/>
              </a:rPr>
              <a:t>The fix</a:t>
            </a:r>
            <a:endParaRPr lang="en-US" sz="3600" dirty="0"/>
          </a:p>
        </p:txBody>
      </p:sp>
      <p:sp>
        <p:nvSpPr>
          <p:cNvPr id="9" name="Shape 7"/>
          <p:cNvSpPr/>
          <p:nvPr/>
        </p:nvSpPr>
        <p:spPr>
          <a:xfrm>
            <a:off x="749808" y="4933188"/>
            <a:ext cx="146304" cy="146304"/>
          </a:xfrm>
          <a:prstGeom prst="ellipse">
            <a:avLst/>
          </a:prstGeom>
          <a:solidFill>
            <a:srgbClr val="387F7F"/>
          </a:solidFill>
          <a:ln/>
        </p:spPr>
      </p:sp>
      <p:sp>
        <p:nvSpPr>
          <p:cNvPr id="10" name="Text 8"/>
          <p:cNvSpPr txBox="1"/>
          <p:nvPr/>
        </p:nvSpPr>
        <p:spPr>
          <a:xfrm>
            <a:off x="1097280" y="4855464"/>
            <a:ext cx="6583680" cy="310896"/>
          </a:xfrm>
          <a:prstGeom prst="rect">
            <a:avLst/>
          </a:prstGeom>
          <a:noFill/>
          <a:ln/>
        </p:spPr>
        <p:txBody>
          <a:bodyPr wrap="square" lIns="0" tIns="0" rIns="0" bIns="0" rtlCol="0" anchor="ctr"/>
          <a:lstStyle/>
          <a:p>
            <a:pPr marL="0" indent="0">
              <a:buNone/>
            </a:pPr>
            <a:r>
              <a:rPr lang="en-US" sz="1350" dirty="0">
                <a:solidFill>
                  <a:srgbClr val="C3DAD9"/>
                </a:solidFill>
                <a:latin typeface="Poppins" pitchFamily="34" charset="0"/>
                <a:ea typeface="Poppins" pitchFamily="34" charset="-122"/>
                <a:cs typeface="Poppins" pitchFamily="34" charset="-120"/>
              </a:rPr>
              <a:t>Separate events from things: fact and dimension</a:t>
            </a:r>
            <a:endParaRPr lang="en-US" sz="1350" dirty="0"/>
          </a:p>
        </p:txBody>
      </p:sp>
      <p:sp>
        <p:nvSpPr>
          <p:cNvPr id="11" name="Shape 9"/>
          <p:cNvSpPr/>
          <p:nvPr/>
        </p:nvSpPr>
        <p:spPr>
          <a:xfrm>
            <a:off x="749808" y="5317236"/>
            <a:ext cx="146304" cy="146304"/>
          </a:xfrm>
          <a:prstGeom prst="ellipse">
            <a:avLst/>
          </a:prstGeom>
          <a:solidFill>
            <a:srgbClr val="387F7F"/>
          </a:solidFill>
          <a:ln/>
        </p:spPr>
      </p:sp>
      <p:sp>
        <p:nvSpPr>
          <p:cNvPr id="12" name="Text 10"/>
          <p:cNvSpPr txBox="1"/>
          <p:nvPr/>
        </p:nvSpPr>
        <p:spPr>
          <a:xfrm>
            <a:off x="1097280" y="5239512"/>
            <a:ext cx="6583680" cy="310896"/>
          </a:xfrm>
          <a:prstGeom prst="rect">
            <a:avLst/>
          </a:prstGeom>
          <a:noFill/>
          <a:ln/>
        </p:spPr>
        <p:txBody>
          <a:bodyPr wrap="square" lIns="0" tIns="0" rIns="0" bIns="0" rtlCol="0" anchor="ctr"/>
          <a:lstStyle/>
          <a:p>
            <a:pPr marL="0" indent="0">
              <a:buNone/>
            </a:pPr>
            <a:r>
              <a:rPr lang="en-US" sz="1350" dirty="0">
                <a:solidFill>
                  <a:srgbClr val="C3DAD9"/>
                </a:solidFill>
                <a:latin typeface="Poppins" pitchFamily="34" charset="0"/>
                <a:ea typeface="Poppins" pitchFamily="34" charset="-122"/>
                <a:cs typeface="Poppins" pitchFamily="34" charset="-120"/>
              </a:rPr>
              <a:t>Draw the star and read every relationship</a:t>
            </a:r>
            <a:endParaRPr lang="en-US" sz="1350" dirty="0"/>
          </a:p>
        </p:txBody>
      </p:sp>
      <p:sp>
        <p:nvSpPr>
          <p:cNvPr id="13" name="Shape 11"/>
          <p:cNvSpPr/>
          <p:nvPr/>
        </p:nvSpPr>
        <p:spPr>
          <a:xfrm>
            <a:off x="749808" y="5701284"/>
            <a:ext cx="146304" cy="146304"/>
          </a:xfrm>
          <a:prstGeom prst="ellipse">
            <a:avLst/>
          </a:prstGeom>
          <a:solidFill>
            <a:srgbClr val="387F7F"/>
          </a:solidFill>
          <a:ln/>
        </p:spPr>
      </p:sp>
      <p:sp>
        <p:nvSpPr>
          <p:cNvPr id="14" name="Text 12"/>
          <p:cNvSpPr txBox="1"/>
          <p:nvPr/>
        </p:nvSpPr>
        <p:spPr>
          <a:xfrm>
            <a:off x="1097280" y="5623560"/>
            <a:ext cx="6583680" cy="310896"/>
          </a:xfrm>
          <a:prstGeom prst="rect">
            <a:avLst/>
          </a:prstGeom>
          <a:noFill/>
          <a:ln/>
        </p:spPr>
        <p:txBody>
          <a:bodyPr wrap="square" lIns="0" tIns="0" rIns="0" bIns="0" rtlCol="0" anchor="ctr"/>
          <a:lstStyle/>
          <a:p>
            <a:pPr marL="0" indent="0">
              <a:buNone/>
            </a:pPr>
            <a:r>
              <a:rPr lang="en-US" sz="1350" dirty="0">
                <a:solidFill>
                  <a:srgbClr val="C3DAD9"/>
                </a:solidFill>
                <a:latin typeface="Poppins" pitchFamily="34" charset="0"/>
                <a:ea typeface="Poppins" pitchFamily="34" charset="-122"/>
                <a:cs typeface="Poppins" pitchFamily="34" charset="-120"/>
              </a:rPr>
              <a:t>Ask the same question again and get 68</a:t>
            </a:r>
            <a:endParaRPr lang="en-US" sz="1350" dirty="0"/>
          </a:p>
        </p:txBody>
      </p:sp>
      <p:sp>
        <p:nvSpPr>
          <p:cNvPr id="15" name="Text 13"/>
          <p:cNvSpPr txBox="1"/>
          <p:nvPr/>
        </p:nvSpPr>
        <p:spPr>
          <a:xfrm>
            <a:off x="11688775" y="6473952"/>
            <a:ext cx="365760" cy="274320"/>
          </a:xfrm>
          <a:prstGeom prst="rect">
            <a:avLst/>
          </a:prstGeom>
          <a:noFill/>
          <a:ln/>
        </p:spPr>
        <p:txBody>
          <a:bodyPr wrap="square" lIns="0" tIns="0" rIns="0" bIns="0" rtlCol="0" anchor="ctr"/>
          <a:lstStyle/>
          <a:p>
            <a:pPr marL="0" indent="0" algn="r">
              <a:buNone/>
            </a:pPr>
            <a:r>
              <a:rPr lang="en-US" sz="1100" dirty="0">
                <a:solidFill>
                  <a:srgbClr val="7FA3A3"/>
                </a:solidFill>
                <a:latin typeface="Poppins" pitchFamily="34" charset="0"/>
                <a:ea typeface="Poppins" pitchFamily="34" charset="-122"/>
                <a:cs typeface="Poppins" pitchFamily="34" charset="-120"/>
              </a:rPr>
              <a:t>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Two kinds of table, two different jobs</a:t>
            </a:r>
            <a:endParaRPr lang="en-US" sz="2700" dirty="0"/>
          </a:p>
        </p:txBody>
      </p:sp>
      <p:sp>
        <p:nvSpPr>
          <p:cNvPr id="6" name="Shape 4"/>
          <p:cNvSpPr/>
          <p:nvPr/>
        </p:nvSpPr>
        <p:spPr>
          <a:xfrm>
            <a:off x="685800" y="1600200"/>
            <a:ext cx="4709160" cy="3063240"/>
          </a:xfrm>
          <a:prstGeom prst="roundRect">
            <a:avLst>
              <a:gd name="adj" fmla="val 2985"/>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00200"/>
            <a:ext cx="4709160" cy="566928"/>
          </a:xfrm>
          <a:prstGeom prst="roundRect">
            <a:avLst>
              <a:gd name="adj" fmla="val 16129"/>
            </a:avLst>
          </a:prstGeom>
          <a:solidFill>
            <a:srgbClr val="387F7F"/>
          </a:solidFill>
          <a:ln/>
        </p:spPr>
      </p:sp>
      <p:sp>
        <p:nvSpPr>
          <p:cNvPr id="8" name="Shape 6"/>
          <p:cNvSpPr/>
          <p:nvPr/>
        </p:nvSpPr>
        <p:spPr>
          <a:xfrm>
            <a:off x="685800" y="1883664"/>
            <a:ext cx="4709160" cy="283464"/>
          </a:xfrm>
          <a:prstGeom prst="rect">
            <a:avLst/>
          </a:prstGeom>
          <a:solidFill>
            <a:srgbClr val="387F7F"/>
          </a:solidFill>
          <a:ln/>
        </p:spPr>
      </p:sp>
      <p:sp>
        <p:nvSpPr>
          <p:cNvPr id="9" name="Text 7"/>
          <p:cNvSpPr txBox="1"/>
          <p:nvPr/>
        </p:nvSpPr>
        <p:spPr>
          <a:xfrm>
            <a:off x="685800" y="1600200"/>
            <a:ext cx="4709160" cy="566928"/>
          </a:xfrm>
          <a:prstGeom prst="rect">
            <a:avLst/>
          </a:prstGeom>
          <a:noFill/>
          <a:ln/>
        </p:spPr>
        <p:txBody>
          <a:bodyPr wrap="square" lIns="0" tIns="0" rIns="0" bIns="0" rtlCol="0" anchor="ctr"/>
          <a:lstStyle/>
          <a:p>
            <a:pPr marL="0" indent="0" algn="ctr">
              <a:buNone/>
            </a:pPr>
            <a:r>
              <a:rPr lang="en-US" sz="1350" b="1" dirty="0">
                <a:solidFill>
                  <a:srgbClr val="FFFFFF"/>
                </a:solidFill>
                <a:latin typeface="Poppins" pitchFamily="34" charset="0"/>
                <a:ea typeface="Poppins" pitchFamily="34" charset="-122"/>
                <a:cs typeface="Poppins" pitchFamily="34" charset="-120"/>
              </a:rPr>
              <a:t>▤   FACT TABLE</a:t>
            </a:r>
            <a:endParaRPr lang="en-US" sz="1350" dirty="0"/>
          </a:p>
        </p:txBody>
      </p:sp>
      <p:sp>
        <p:nvSpPr>
          <p:cNvPr id="10" name="Text 8"/>
          <p:cNvSpPr txBox="1"/>
          <p:nvPr/>
        </p:nvSpPr>
        <p:spPr>
          <a:xfrm>
            <a:off x="978408" y="2377440"/>
            <a:ext cx="4123944" cy="1463040"/>
          </a:xfrm>
          <a:prstGeom prst="rect">
            <a:avLst/>
          </a:prstGeom>
          <a:noFill/>
          <a:ln/>
        </p:spPr>
        <p:txBody>
          <a:bodyPr wrap="square" lIns="0" tIns="0" rIns="0" bIns="0" rtlCol="0" anchor="t"/>
          <a:lstStyle/>
          <a:p>
            <a:pPr marL="0" indent="0" algn="l">
              <a:lnSpc>
                <a:spcPct val="130000"/>
              </a:lnSpc>
              <a:buNone/>
            </a:pPr>
            <a:r>
              <a:rPr lang="en-US" sz="1350" dirty="0">
                <a:solidFill>
                  <a:srgbClr val="475569"/>
                </a:solidFill>
                <a:latin typeface="Poppins" pitchFamily="34" charset="0"/>
                <a:ea typeface="Poppins" pitchFamily="34" charset="-122"/>
                <a:cs typeface="Poppins" pitchFamily="34" charset="-120"/>
              </a:rPr>
              <a:t>Records events. One row per thing that happened.</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475569"/>
                </a:solidFill>
                <a:latin typeface="Poppins" pitchFamily="34" charset="0"/>
                <a:ea typeface="Poppins" pitchFamily="34" charset="-122"/>
                <a:cs typeface="Poppins" pitchFamily="34" charset="-120"/>
              </a:rPr>
              <a:t>Long and narrow: many rows, few columns, mostly numbers and IDs. It grows every day.</a:t>
            </a:r>
            <a:endParaRPr lang="en-US" sz="1350" dirty="0"/>
          </a:p>
        </p:txBody>
      </p:sp>
      <p:sp>
        <p:nvSpPr>
          <p:cNvPr id="11" name="Shape 9"/>
          <p:cNvSpPr/>
          <p:nvPr/>
        </p:nvSpPr>
        <p:spPr>
          <a:xfrm>
            <a:off x="978408" y="3813048"/>
            <a:ext cx="4123944" cy="658368"/>
          </a:xfrm>
          <a:prstGeom prst="roundRect">
            <a:avLst>
              <a:gd name="adj" fmla="val 8333"/>
            </a:avLst>
          </a:prstGeom>
          <a:solidFill>
            <a:srgbClr val="EEF4F4"/>
          </a:solidFill>
          <a:ln/>
        </p:spPr>
      </p:sp>
      <p:sp>
        <p:nvSpPr>
          <p:cNvPr id="12" name="Text 10"/>
          <p:cNvSpPr txBox="1"/>
          <p:nvPr/>
        </p:nvSpPr>
        <p:spPr>
          <a:xfrm>
            <a:off x="1069848" y="3813048"/>
            <a:ext cx="3941064" cy="658368"/>
          </a:xfrm>
          <a:prstGeom prst="rect">
            <a:avLst/>
          </a:prstGeom>
          <a:noFill/>
          <a:ln/>
        </p:spPr>
        <p:txBody>
          <a:bodyPr wrap="square" lIns="0" tIns="0" rIns="0" bIns="0" rtlCol="0" anchor="ctr"/>
          <a:lstStyle/>
          <a:p>
            <a:pPr marL="0" indent="0" algn="ctr">
              <a:lnSpc>
                <a:spcPct val="120000"/>
              </a:lnSpc>
              <a:buNone/>
            </a:pPr>
            <a:r>
              <a:rPr lang="en-US" sz="1150" b="1" dirty="0">
                <a:solidFill>
                  <a:srgbClr val="387F7F"/>
                </a:solidFill>
                <a:latin typeface="Poppins" pitchFamily="34" charset="0"/>
                <a:ea typeface="Poppins" pitchFamily="34" charset="-122"/>
                <a:cs typeface="Poppins" pitchFamily="34" charset="-120"/>
              </a:rPr>
              <a:t>swiftroute_deliveries</a:t>
            </a:r>
            <a:endParaRPr lang="en-US" sz="1150" dirty="0"/>
          </a:p>
          <a:p>
            <a:pPr marL="0" indent="0" algn="ctr">
              <a:lnSpc>
                <a:spcPct val="120000"/>
              </a:lnSpc>
              <a:buNone/>
            </a:pPr>
            <a:r>
              <a:rPr lang="en-US" sz="1150" b="1" dirty="0">
                <a:solidFill>
                  <a:srgbClr val="387F7F"/>
                </a:solidFill>
                <a:latin typeface="Poppins" pitchFamily="34" charset="0"/>
                <a:ea typeface="Poppins" pitchFamily="34" charset="-122"/>
                <a:cs typeface="Poppins" pitchFamily="34" charset="-120"/>
              </a:rPr>
              <a:t>41,280 rows and growing</a:t>
            </a:r>
            <a:endParaRPr lang="en-US" sz="1150" dirty="0"/>
          </a:p>
        </p:txBody>
      </p:sp>
      <p:sp>
        <p:nvSpPr>
          <p:cNvPr id="13" name="Shape 11"/>
          <p:cNvSpPr/>
          <p:nvPr/>
        </p:nvSpPr>
        <p:spPr>
          <a:xfrm>
            <a:off x="5806440" y="1600200"/>
            <a:ext cx="4709160" cy="3063240"/>
          </a:xfrm>
          <a:prstGeom prst="roundRect">
            <a:avLst>
              <a:gd name="adj" fmla="val 2985"/>
            </a:avLst>
          </a:prstGeom>
          <a:solidFill>
            <a:srgbClr val="FFFFFF"/>
          </a:solidFill>
          <a:ln/>
          <a:effectLst>
            <a:outerShdw blurRad="152400" dist="38100" dir="5400000" algn="bl" rotWithShape="0">
              <a:srgbClr val="1B2A2E">
                <a:alpha val="14000"/>
              </a:srgbClr>
            </a:outerShdw>
          </a:effectLst>
        </p:spPr>
      </p:sp>
      <p:sp>
        <p:nvSpPr>
          <p:cNvPr id="14" name="Shape 12"/>
          <p:cNvSpPr/>
          <p:nvPr/>
        </p:nvSpPr>
        <p:spPr>
          <a:xfrm>
            <a:off x="5806440" y="1600200"/>
            <a:ext cx="4709160" cy="566928"/>
          </a:xfrm>
          <a:prstGeom prst="roundRect">
            <a:avLst>
              <a:gd name="adj" fmla="val 16129"/>
            </a:avLst>
          </a:prstGeom>
          <a:solidFill>
            <a:srgbClr val="20494A"/>
          </a:solidFill>
          <a:ln/>
        </p:spPr>
      </p:sp>
      <p:sp>
        <p:nvSpPr>
          <p:cNvPr id="15" name="Shape 13"/>
          <p:cNvSpPr/>
          <p:nvPr/>
        </p:nvSpPr>
        <p:spPr>
          <a:xfrm>
            <a:off x="5806440" y="1883664"/>
            <a:ext cx="4709160" cy="283464"/>
          </a:xfrm>
          <a:prstGeom prst="rect">
            <a:avLst/>
          </a:prstGeom>
          <a:solidFill>
            <a:srgbClr val="20494A"/>
          </a:solidFill>
          <a:ln/>
        </p:spPr>
      </p:sp>
      <p:sp>
        <p:nvSpPr>
          <p:cNvPr id="16" name="Text 14"/>
          <p:cNvSpPr txBox="1"/>
          <p:nvPr/>
        </p:nvSpPr>
        <p:spPr>
          <a:xfrm>
            <a:off x="5806440" y="1600200"/>
            <a:ext cx="4709160" cy="566928"/>
          </a:xfrm>
          <a:prstGeom prst="rect">
            <a:avLst/>
          </a:prstGeom>
          <a:noFill/>
          <a:ln/>
        </p:spPr>
        <p:txBody>
          <a:bodyPr wrap="square" lIns="0" tIns="0" rIns="0" bIns="0" rtlCol="0" anchor="ctr"/>
          <a:lstStyle/>
          <a:p>
            <a:pPr marL="0" indent="0" algn="ctr">
              <a:buNone/>
            </a:pPr>
            <a:r>
              <a:rPr lang="en-US" sz="1350" b="1" dirty="0">
                <a:solidFill>
                  <a:srgbClr val="FFFFFF"/>
                </a:solidFill>
                <a:latin typeface="Poppins" pitchFamily="34" charset="0"/>
                <a:ea typeface="Poppins" pitchFamily="34" charset="-122"/>
                <a:cs typeface="Poppins" pitchFamily="34" charset="-120"/>
              </a:rPr>
              <a:t>◎   DIMENSION TABLE</a:t>
            </a:r>
            <a:endParaRPr lang="en-US" sz="1350" dirty="0"/>
          </a:p>
        </p:txBody>
      </p:sp>
      <p:sp>
        <p:nvSpPr>
          <p:cNvPr id="17" name="Text 15"/>
          <p:cNvSpPr txBox="1"/>
          <p:nvPr/>
        </p:nvSpPr>
        <p:spPr>
          <a:xfrm>
            <a:off x="6099048" y="2377440"/>
            <a:ext cx="4123944" cy="1463040"/>
          </a:xfrm>
          <a:prstGeom prst="rect">
            <a:avLst/>
          </a:prstGeom>
          <a:noFill/>
          <a:ln/>
        </p:spPr>
        <p:txBody>
          <a:bodyPr wrap="square" lIns="0" tIns="0" rIns="0" bIns="0" rtlCol="0" anchor="t"/>
          <a:lstStyle/>
          <a:p>
            <a:pPr marL="0" indent="0" algn="l">
              <a:lnSpc>
                <a:spcPct val="130000"/>
              </a:lnSpc>
              <a:buNone/>
            </a:pPr>
            <a:r>
              <a:rPr lang="en-US" sz="1350" dirty="0">
                <a:solidFill>
                  <a:srgbClr val="475569"/>
                </a:solidFill>
                <a:latin typeface="Poppins" pitchFamily="34" charset="0"/>
                <a:ea typeface="Poppins" pitchFamily="34" charset="-122"/>
                <a:cs typeface="Poppins" pitchFamily="34" charset="-120"/>
              </a:rPr>
              <a:t>Describes things. One row per thing that exists.</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475569"/>
                </a:solidFill>
                <a:latin typeface="Poppins" pitchFamily="34" charset="0"/>
                <a:ea typeface="Poppins" pitchFamily="34" charset="-122"/>
                <a:cs typeface="Poppins" pitchFamily="34" charset="-120"/>
              </a:rPr>
              <a:t>Short and wide: few rows, many descriptive columns, mostly text. It changes rarely.</a:t>
            </a:r>
            <a:endParaRPr lang="en-US" sz="1350" dirty="0"/>
          </a:p>
        </p:txBody>
      </p:sp>
      <p:sp>
        <p:nvSpPr>
          <p:cNvPr id="18" name="Shape 16"/>
          <p:cNvSpPr/>
          <p:nvPr/>
        </p:nvSpPr>
        <p:spPr>
          <a:xfrm>
            <a:off x="6099048" y="3813048"/>
            <a:ext cx="4123944" cy="658368"/>
          </a:xfrm>
          <a:prstGeom prst="roundRect">
            <a:avLst>
              <a:gd name="adj" fmla="val 8333"/>
            </a:avLst>
          </a:prstGeom>
          <a:solidFill>
            <a:srgbClr val="EEF4F4"/>
          </a:solidFill>
          <a:ln/>
        </p:spPr>
      </p:sp>
      <p:sp>
        <p:nvSpPr>
          <p:cNvPr id="19" name="Text 17"/>
          <p:cNvSpPr txBox="1"/>
          <p:nvPr/>
        </p:nvSpPr>
        <p:spPr>
          <a:xfrm>
            <a:off x="6190488" y="3813048"/>
            <a:ext cx="3941064" cy="658368"/>
          </a:xfrm>
          <a:prstGeom prst="rect">
            <a:avLst/>
          </a:prstGeom>
          <a:noFill/>
          <a:ln/>
        </p:spPr>
        <p:txBody>
          <a:bodyPr wrap="square" lIns="0" tIns="0" rIns="0" bIns="0" rtlCol="0" anchor="ctr"/>
          <a:lstStyle/>
          <a:p>
            <a:pPr marL="0" indent="0" algn="ctr">
              <a:lnSpc>
                <a:spcPct val="120000"/>
              </a:lnSpc>
              <a:buNone/>
            </a:pPr>
            <a:r>
              <a:rPr lang="en-US" sz="1150" b="1" dirty="0">
                <a:solidFill>
                  <a:srgbClr val="387F7F"/>
                </a:solidFill>
                <a:latin typeface="Poppins" pitchFamily="34" charset="0"/>
                <a:ea typeface="Poppins" pitchFamily="34" charset="-122"/>
                <a:cs typeface="Poppins" pitchFamily="34" charset="-120"/>
              </a:rPr>
              <a:t>riders (68) · routes (24)</a:t>
            </a:r>
            <a:endParaRPr lang="en-US" sz="1150" dirty="0"/>
          </a:p>
          <a:p>
            <a:pPr marL="0" indent="0" algn="ctr">
              <a:lnSpc>
                <a:spcPct val="120000"/>
              </a:lnSpc>
              <a:buNone/>
            </a:pPr>
            <a:r>
              <a:rPr lang="en-US" sz="1150" b="1" dirty="0">
                <a:solidFill>
                  <a:srgbClr val="387F7F"/>
                </a:solidFill>
                <a:latin typeface="Poppins" pitchFamily="34" charset="0"/>
                <a:ea typeface="Poppins" pitchFamily="34" charset="-122"/>
                <a:cs typeface="Poppins" pitchFamily="34" charset="-120"/>
              </a:rPr>
              <a:t>customers (310) · dates (365)</a:t>
            </a:r>
            <a:endParaRPr lang="en-US" sz="1150" dirty="0"/>
          </a:p>
        </p:txBody>
      </p:sp>
      <p:sp>
        <p:nvSpPr>
          <p:cNvPr id="20" name="Shape 18"/>
          <p:cNvSpPr/>
          <p:nvPr/>
        </p:nvSpPr>
        <p:spPr>
          <a:xfrm>
            <a:off x="685800" y="4846320"/>
            <a:ext cx="9829800" cy="868680"/>
          </a:xfrm>
          <a:prstGeom prst="roundRect">
            <a:avLst>
              <a:gd name="adj" fmla="val 9474"/>
            </a:avLst>
          </a:prstGeom>
          <a:solidFill>
            <a:srgbClr val="EEF4F4"/>
          </a:solidFill>
          <a:ln/>
        </p:spPr>
      </p:sp>
      <p:sp>
        <p:nvSpPr>
          <p:cNvPr id="21" name="Shape 19"/>
          <p:cNvSpPr/>
          <p:nvPr/>
        </p:nvSpPr>
        <p:spPr>
          <a:xfrm>
            <a:off x="685800" y="4846320"/>
            <a:ext cx="68580" cy="868680"/>
          </a:xfrm>
          <a:prstGeom prst="rect">
            <a:avLst/>
          </a:prstGeom>
          <a:solidFill>
            <a:srgbClr val="387F7F"/>
          </a:solidFill>
          <a:ln/>
        </p:spPr>
      </p:sp>
      <p:sp>
        <p:nvSpPr>
          <p:cNvPr id="22" name="Text 20"/>
          <p:cNvSpPr txBox="1"/>
          <p:nvPr/>
        </p:nvSpPr>
        <p:spPr>
          <a:xfrm>
            <a:off x="1051560" y="4846320"/>
            <a:ext cx="9235440" cy="868680"/>
          </a:xfrm>
          <a:prstGeom prst="rect">
            <a:avLst/>
          </a:prstGeom>
          <a:noFill/>
          <a:ln/>
        </p:spPr>
        <p:txBody>
          <a:bodyPr wrap="square" lIns="0" tIns="0" rIns="0" bIns="0" rtlCol="0" anchor="ctr"/>
          <a:lstStyle/>
          <a:p>
            <a:pPr marL="0" indent="0" algn="l">
              <a:lnSpc>
                <a:spcPct val="135000"/>
              </a:lnSpc>
              <a:buNone/>
            </a:pPr>
            <a:r>
              <a:rPr lang="en-US" sz="1450" b="1" dirty="0">
                <a:solidFill>
                  <a:srgbClr val="387F7F"/>
                </a:solidFill>
                <a:latin typeface="Poppins" pitchFamily="34" charset="0"/>
                <a:ea typeface="Poppins" pitchFamily="34" charset="-122"/>
                <a:cs typeface="Poppins" pitchFamily="34" charset="-120"/>
              </a:rPr>
              <a:t>Rule of thumb: if you would filter or group BY it, it belongs in a dimension. If you would sum or count it, it belongs in the fact table.</a:t>
            </a:r>
            <a:endParaRPr lang="en-US" sz="1450" dirty="0"/>
          </a:p>
        </p:txBody>
      </p:sp>
      <p:pic>
        <p:nvPicPr>
          <p:cNvPr id="23"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4" name="Text 21"/>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The SwiftRoute star</a:t>
            </a:r>
            <a:endParaRPr lang="en-US" sz="2700" dirty="0"/>
          </a:p>
        </p:txBody>
      </p:sp>
      <p:grpSp>
        <p:nvGrpSpPr>
          <p:cNvPr id="78" name="Group 77">
            <a:extLst>
              <a:ext uri="{FF2B5EF4-FFF2-40B4-BE49-F238E27FC236}">
                <a16:creationId xmlns:a16="http://schemas.microsoft.com/office/drawing/2014/main" id="{8D179CE3-5B0F-9092-B61A-503C2CAEE643}"/>
              </a:ext>
            </a:extLst>
          </p:cNvPr>
          <p:cNvGrpSpPr/>
          <p:nvPr/>
        </p:nvGrpSpPr>
        <p:grpSpPr>
          <a:xfrm>
            <a:off x="1417320" y="1234440"/>
            <a:ext cx="8549640" cy="4407408"/>
            <a:chOff x="1417320" y="1234440"/>
            <a:chExt cx="8549640" cy="4407408"/>
          </a:xfrm>
        </p:grpSpPr>
        <p:sp>
          <p:nvSpPr>
            <p:cNvPr id="6" name="Shape 4"/>
            <p:cNvSpPr/>
            <p:nvPr/>
          </p:nvSpPr>
          <p:spPr>
            <a:xfrm>
              <a:off x="3474720" y="1975104"/>
              <a:ext cx="960120" cy="768096"/>
            </a:xfrm>
            <a:prstGeom prst="line">
              <a:avLst/>
            </a:prstGeom>
            <a:noFill/>
            <a:ln w="28575">
              <a:solidFill>
                <a:srgbClr val="387F7F"/>
              </a:solidFill>
              <a:prstDash val="solid"/>
            </a:ln>
          </p:spPr>
        </p:sp>
        <p:sp>
          <p:nvSpPr>
            <p:cNvPr id="7" name="Text 5"/>
            <p:cNvSpPr txBox="1"/>
            <p:nvPr/>
          </p:nvSpPr>
          <p:spPr>
            <a:xfrm>
              <a:off x="3404768" y="1754551"/>
              <a:ext cx="274320" cy="237744"/>
            </a:xfrm>
            <a:prstGeom prst="rect">
              <a:avLst/>
            </a:prstGeom>
            <a:noFill/>
            <a:ln/>
          </p:spPr>
          <p:txBody>
            <a:bodyPr wrap="square" lIns="0" tIns="0" rIns="0" bIns="0" rtlCol="0" anchor="ctr"/>
            <a:lstStyle/>
            <a:p>
              <a:pPr marL="0" indent="0" algn="ctr">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8" name="Text 6"/>
            <p:cNvSpPr txBox="1"/>
            <p:nvPr/>
          </p:nvSpPr>
          <p:spPr>
            <a:xfrm>
              <a:off x="4230472" y="2415113"/>
              <a:ext cx="274320" cy="237744"/>
            </a:xfrm>
            <a:prstGeom prst="rect">
              <a:avLst/>
            </a:prstGeom>
            <a:noFill/>
            <a:ln/>
          </p:spPr>
          <p:txBody>
            <a:bodyPr wrap="square" lIns="0" tIns="0" rIns="0" bIns="0" rtlCol="0" anchor="ctr"/>
            <a:lstStyle/>
            <a:p>
              <a:pPr marL="0" indent="0" algn="ctr">
                <a:buNone/>
              </a:pPr>
              <a:r>
                <a:rPr lang="en-US" sz="1700" b="1" dirty="0">
                  <a:solidFill>
                    <a:srgbClr val="387F7F"/>
                  </a:solidFill>
                  <a:latin typeface="Poppins" pitchFamily="34" charset="0"/>
                  <a:ea typeface="Poppins" pitchFamily="34" charset="-122"/>
                  <a:cs typeface="Poppins" pitchFamily="34" charset="-120"/>
                </a:rPr>
                <a:t>∗</a:t>
              </a:r>
              <a:endParaRPr lang="en-US" sz="1700" dirty="0"/>
            </a:p>
          </p:txBody>
        </p:sp>
        <p:sp>
          <p:nvSpPr>
            <p:cNvPr id="9" name="Shape 7"/>
            <p:cNvSpPr/>
            <p:nvPr/>
          </p:nvSpPr>
          <p:spPr>
            <a:xfrm>
              <a:off x="3515868" y="2231136"/>
              <a:ext cx="877824" cy="256032"/>
            </a:xfrm>
            <a:prstGeom prst="roundRect">
              <a:avLst>
                <a:gd name="adj" fmla="val 50000"/>
              </a:avLst>
            </a:prstGeom>
            <a:solidFill>
              <a:srgbClr val="FFFFFF"/>
            </a:solidFill>
            <a:ln w="12700">
              <a:solidFill>
                <a:srgbClr val="E2E8F0"/>
              </a:solidFill>
              <a:prstDash val="solid"/>
            </a:ln>
          </p:spPr>
        </p:sp>
        <p:sp>
          <p:nvSpPr>
            <p:cNvPr id="10" name="Text 8"/>
            <p:cNvSpPr txBox="1"/>
            <p:nvPr/>
          </p:nvSpPr>
          <p:spPr>
            <a:xfrm>
              <a:off x="3515868" y="2231136"/>
              <a:ext cx="877824" cy="256032"/>
            </a:xfrm>
            <a:prstGeom prst="rect">
              <a:avLst/>
            </a:prstGeom>
            <a:noFill/>
            <a:ln/>
          </p:spPr>
          <p:txBody>
            <a:bodyPr wrap="square" lIns="0" tIns="0" rIns="0" bIns="0" rtlCol="0" anchor="ctr"/>
            <a:lstStyle/>
            <a:p>
              <a:pPr marL="0" indent="0" algn="ctr">
                <a:buNone/>
              </a:pPr>
              <a:r>
                <a:rPr lang="en-US" sz="850" b="1" dirty="0">
                  <a:solidFill>
                    <a:srgbClr val="475569"/>
                  </a:solidFill>
                  <a:latin typeface="Poppins" pitchFamily="34" charset="0"/>
                  <a:ea typeface="Poppins" pitchFamily="34" charset="-122"/>
                  <a:cs typeface="Poppins" pitchFamily="34" charset="-120"/>
                </a:rPr>
                <a:t>RiderID</a:t>
              </a:r>
              <a:endParaRPr lang="en-US" sz="850" dirty="0"/>
            </a:p>
          </p:txBody>
        </p:sp>
        <p:sp>
          <p:nvSpPr>
            <p:cNvPr id="11" name="Shape 9"/>
            <p:cNvSpPr/>
            <p:nvPr/>
          </p:nvSpPr>
          <p:spPr>
            <a:xfrm flipH="1">
              <a:off x="6949440" y="1975104"/>
              <a:ext cx="960120" cy="768096"/>
            </a:xfrm>
            <a:prstGeom prst="line">
              <a:avLst/>
            </a:prstGeom>
            <a:noFill/>
            <a:ln w="28575">
              <a:solidFill>
                <a:srgbClr val="387F7F"/>
              </a:solidFill>
              <a:prstDash val="solid"/>
            </a:ln>
          </p:spPr>
        </p:sp>
        <p:sp>
          <p:nvSpPr>
            <p:cNvPr id="12" name="Text 10"/>
            <p:cNvSpPr txBox="1"/>
            <p:nvPr/>
          </p:nvSpPr>
          <p:spPr>
            <a:xfrm>
              <a:off x="7705192" y="1754551"/>
              <a:ext cx="274320" cy="237744"/>
            </a:xfrm>
            <a:prstGeom prst="rect">
              <a:avLst/>
            </a:prstGeom>
            <a:noFill/>
            <a:ln/>
          </p:spPr>
          <p:txBody>
            <a:bodyPr wrap="square" lIns="0" tIns="0" rIns="0" bIns="0" rtlCol="0" anchor="ctr"/>
            <a:lstStyle/>
            <a:p>
              <a:pPr marL="0" indent="0" algn="ctr">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13" name="Text 11"/>
            <p:cNvSpPr txBox="1"/>
            <p:nvPr/>
          </p:nvSpPr>
          <p:spPr>
            <a:xfrm>
              <a:off x="6879488" y="2415113"/>
              <a:ext cx="274320" cy="237744"/>
            </a:xfrm>
            <a:prstGeom prst="rect">
              <a:avLst/>
            </a:prstGeom>
            <a:noFill/>
            <a:ln/>
          </p:spPr>
          <p:txBody>
            <a:bodyPr wrap="square" lIns="0" tIns="0" rIns="0" bIns="0" rtlCol="0" anchor="ctr"/>
            <a:lstStyle/>
            <a:p>
              <a:pPr marL="0" indent="0" algn="ctr">
                <a:buNone/>
              </a:pPr>
              <a:r>
                <a:rPr lang="en-US" sz="1700" b="1" dirty="0">
                  <a:solidFill>
                    <a:srgbClr val="387F7F"/>
                  </a:solidFill>
                  <a:latin typeface="Poppins" pitchFamily="34" charset="0"/>
                  <a:ea typeface="Poppins" pitchFamily="34" charset="-122"/>
                  <a:cs typeface="Poppins" pitchFamily="34" charset="-120"/>
                </a:rPr>
                <a:t>∗</a:t>
              </a:r>
              <a:endParaRPr lang="en-US" sz="1700" dirty="0"/>
            </a:p>
          </p:txBody>
        </p:sp>
        <p:sp>
          <p:nvSpPr>
            <p:cNvPr id="14" name="Shape 12"/>
            <p:cNvSpPr/>
            <p:nvPr/>
          </p:nvSpPr>
          <p:spPr>
            <a:xfrm>
              <a:off x="6990588" y="2231136"/>
              <a:ext cx="877824" cy="256032"/>
            </a:xfrm>
            <a:prstGeom prst="roundRect">
              <a:avLst>
                <a:gd name="adj" fmla="val 50000"/>
              </a:avLst>
            </a:prstGeom>
            <a:solidFill>
              <a:srgbClr val="FFFFFF"/>
            </a:solidFill>
            <a:ln w="12700">
              <a:solidFill>
                <a:srgbClr val="E2E8F0"/>
              </a:solidFill>
              <a:prstDash val="solid"/>
            </a:ln>
          </p:spPr>
        </p:sp>
        <p:sp>
          <p:nvSpPr>
            <p:cNvPr id="15" name="Text 13"/>
            <p:cNvSpPr txBox="1"/>
            <p:nvPr/>
          </p:nvSpPr>
          <p:spPr>
            <a:xfrm>
              <a:off x="6990588" y="2231136"/>
              <a:ext cx="877824" cy="256032"/>
            </a:xfrm>
            <a:prstGeom prst="rect">
              <a:avLst/>
            </a:prstGeom>
            <a:noFill/>
            <a:ln/>
          </p:spPr>
          <p:txBody>
            <a:bodyPr wrap="square" lIns="0" tIns="0" rIns="0" bIns="0" rtlCol="0" anchor="ctr"/>
            <a:lstStyle/>
            <a:p>
              <a:pPr marL="0" indent="0" algn="ctr">
                <a:buNone/>
              </a:pPr>
              <a:r>
                <a:rPr lang="en-US" sz="850" b="1" dirty="0">
                  <a:solidFill>
                    <a:srgbClr val="475569"/>
                  </a:solidFill>
                  <a:latin typeface="Poppins" pitchFamily="34" charset="0"/>
                  <a:ea typeface="Poppins" pitchFamily="34" charset="-122"/>
                  <a:cs typeface="Poppins" pitchFamily="34" charset="-120"/>
                </a:rPr>
                <a:t>RouteID</a:t>
              </a:r>
              <a:endParaRPr lang="en-US" sz="850" dirty="0"/>
            </a:p>
          </p:txBody>
        </p:sp>
        <p:sp>
          <p:nvSpPr>
            <p:cNvPr id="16" name="Shape 14"/>
            <p:cNvSpPr/>
            <p:nvPr/>
          </p:nvSpPr>
          <p:spPr>
            <a:xfrm flipV="1">
              <a:off x="3474720" y="3611880"/>
              <a:ext cx="960120" cy="1188720"/>
            </a:xfrm>
            <a:prstGeom prst="line">
              <a:avLst/>
            </a:prstGeom>
            <a:noFill/>
            <a:ln w="28575">
              <a:solidFill>
                <a:srgbClr val="387F7F"/>
              </a:solidFill>
              <a:prstDash val="solid"/>
            </a:ln>
          </p:spPr>
        </p:sp>
        <p:sp>
          <p:nvSpPr>
            <p:cNvPr id="17" name="Text 15"/>
            <p:cNvSpPr txBox="1"/>
            <p:nvPr/>
          </p:nvSpPr>
          <p:spPr>
            <a:xfrm>
              <a:off x="3404768" y="4772254"/>
              <a:ext cx="274320" cy="237744"/>
            </a:xfrm>
            <a:prstGeom prst="rect">
              <a:avLst/>
            </a:prstGeom>
            <a:noFill/>
            <a:ln/>
          </p:spPr>
          <p:txBody>
            <a:bodyPr wrap="square" lIns="0" tIns="0" rIns="0" bIns="0" rtlCol="0" anchor="ctr"/>
            <a:lstStyle/>
            <a:p>
              <a:pPr marL="0" indent="0" algn="ctr">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18" name="Text 16"/>
            <p:cNvSpPr txBox="1"/>
            <p:nvPr/>
          </p:nvSpPr>
          <p:spPr>
            <a:xfrm>
              <a:off x="4230472" y="3749954"/>
              <a:ext cx="274320" cy="237744"/>
            </a:xfrm>
            <a:prstGeom prst="rect">
              <a:avLst/>
            </a:prstGeom>
            <a:noFill/>
            <a:ln/>
          </p:spPr>
          <p:txBody>
            <a:bodyPr wrap="square" lIns="0" tIns="0" rIns="0" bIns="0" rtlCol="0" anchor="ctr"/>
            <a:lstStyle/>
            <a:p>
              <a:pPr marL="0" indent="0" algn="ctr">
                <a:buNone/>
              </a:pPr>
              <a:r>
                <a:rPr lang="en-US" sz="1700" b="1" dirty="0">
                  <a:solidFill>
                    <a:srgbClr val="387F7F"/>
                  </a:solidFill>
                  <a:latin typeface="Poppins" pitchFamily="34" charset="0"/>
                  <a:ea typeface="Poppins" pitchFamily="34" charset="-122"/>
                  <a:cs typeface="Poppins" pitchFamily="34" charset="-120"/>
                </a:rPr>
                <a:t>∗</a:t>
              </a:r>
              <a:endParaRPr lang="en-US" sz="1700" dirty="0"/>
            </a:p>
          </p:txBody>
        </p:sp>
        <p:sp>
          <p:nvSpPr>
            <p:cNvPr id="19" name="Shape 17"/>
            <p:cNvSpPr/>
            <p:nvPr/>
          </p:nvSpPr>
          <p:spPr>
            <a:xfrm>
              <a:off x="3515868" y="4078224"/>
              <a:ext cx="877824" cy="256032"/>
            </a:xfrm>
            <a:prstGeom prst="roundRect">
              <a:avLst>
                <a:gd name="adj" fmla="val 50000"/>
              </a:avLst>
            </a:prstGeom>
            <a:solidFill>
              <a:srgbClr val="FFFFFF"/>
            </a:solidFill>
            <a:ln w="12700">
              <a:solidFill>
                <a:srgbClr val="E2E8F0"/>
              </a:solidFill>
              <a:prstDash val="solid"/>
            </a:ln>
          </p:spPr>
        </p:sp>
        <p:sp>
          <p:nvSpPr>
            <p:cNvPr id="20" name="Text 18"/>
            <p:cNvSpPr txBox="1"/>
            <p:nvPr/>
          </p:nvSpPr>
          <p:spPr>
            <a:xfrm>
              <a:off x="3515868" y="4078224"/>
              <a:ext cx="877824" cy="256032"/>
            </a:xfrm>
            <a:prstGeom prst="rect">
              <a:avLst/>
            </a:prstGeom>
            <a:noFill/>
            <a:ln/>
          </p:spPr>
          <p:txBody>
            <a:bodyPr wrap="square" lIns="0" tIns="0" rIns="0" bIns="0" rtlCol="0" anchor="ctr"/>
            <a:lstStyle/>
            <a:p>
              <a:pPr marL="0" indent="0" algn="ctr">
                <a:buNone/>
              </a:pPr>
              <a:r>
                <a:rPr lang="en-US" sz="850" b="1" dirty="0">
                  <a:solidFill>
                    <a:srgbClr val="475569"/>
                  </a:solidFill>
                  <a:latin typeface="Poppins" pitchFamily="34" charset="0"/>
                  <a:ea typeface="Poppins" pitchFamily="34" charset="-122"/>
                  <a:cs typeface="Poppins" pitchFamily="34" charset="-120"/>
                </a:rPr>
                <a:t>CustomerID</a:t>
              </a:r>
              <a:endParaRPr lang="en-US" sz="850" dirty="0"/>
            </a:p>
          </p:txBody>
        </p:sp>
        <p:sp>
          <p:nvSpPr>
            <p:cNvPr id="21" name="Shape 19"/>
            <p:cNvSpPr/>
            <p:nvPr/>
          </p:nvSpPr>
          <p:spPr>
            <a:xfrm flipH="1" flipV="1">
              <a:off x="6949440" y="3611880"/>
              <a:ext cx="960120" cy="1289304"/>
            </a:xfrm>
            <a:prstGeom prst="line">
              <a:avLst/>
            </a:prstGeom>
            <a:noFill/>
            <a:ln w="28575">
              <a:solidFill>
                <a:srgbClr val="387F7F"/>
              </a:solidFill>
              <a:prstDash val="solid"/>
            </a:ln>
          </p:spPr>
        </p:sp>
        <p:sp>
          <p:nvSpPr>
            <p:cNvPr id="22" name="Text 20"/>
            <p:cNvSpPr txBox="1"/>
            <p:nvPr/>
          </p:nvSpPr>
          <p:spPr>
            <a:xfrm>
              <a:off x="7705192" y="4865797"/>
              <a:ext cx="274320" cy="237744"/>
            </a:xfrm>
            <a:prstGeom prst="rect">
              <a:avLst/>
            </a:prstGeom>
            <a:noFill/>
            <a:ln/>
          </p:spPr>
          <p:txBody>
            <a:bodyPr wrap="square" lIns="0" tIns="0" rIns="0" bIns="0" rtlCol="0" anchor="ctr"/>
            <a:lstStyle/>
            <a:p>
              <a:pPr marL="0" indent="0" algn="ctr">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23" name="Text 21"/>
            <p:cNvSpPr txBox="1"/>
            <p:nvPr/>
          </p:nvSpPr>
          <p:spPr>
            <a:xfrm>
              <a:off x="6879488" y="3756995"/>
              <a:ext cx="274320" cy="237744"/>
            </a:xfrm>
            <a:prstGeom prst="rect">
              <a:avLst/>
            </a:prstGeom>
            <a:noFill/>
            <a:ln/>
          </p:spPr>
          <p:txBody>
            <a:bodyPr wrap="square" lIns="0" tIns="0" rIns="0" bIns="0" rtlCol="0" anchor="ctr"/>
            <a:lstStyle/>
            <a:p>
              <a:pPr marL="0" indent="0" algn="ctr">
                <a:buNone/>
              </a:pPr>
              <a:r>
                <a:rPr lang="en-US" sz="1700" b="1" dirty="0">
                  <a:solidFill>
                    <a:srgbClr val="387F7F"/>
                  </a:solidFill>
                  <a:latin typeface="Poppins" pitchFamily="34" charset="0"/>
                  <a:ea typeface="Poppins" pitchFamily="34" charset="-122"/>
                  <a:cs typeface="Poppins" pitchFamily="34" charset="-120"/>
                </a:rPr>
                <a:t>∗</a:t>
              </a:r>
              <a:endParaRPr lang="en-US" sz="1700" dirty="0"/>
            </a:p>
          </p:txBody>
        </p:sp>
        <p:sp>
          <p:nvSpPr>
            <p:cNvPr id="24" name="Shape 22"/>
            <p:cNvSpPr/>
            <p:nvPr/>
          </p:nvSpPr>
          <p:spPr>
            <a:xfrm>
              <a:off x="6990588" y="4128516"/>
              <a:ext cx="877824" cy="256032"/>
            </a:xfrm>
            <a:prstGeom prst="roundRect">
              <a:avLst>
                <a:gd name="adj" fmla="val 50000"/>
              </a:avLst>
            </a:prstGeom>
            <a:solidFill>
              <a:srgbClr val="FFFFFF"/>
            </a:solidFill>
            <a:ln w="12700">
              <a:solidFill>
                <a:srgbClr val="E2E8F0"/>
              </a:solidFill>
              <a:prstDash val="solid"/>
            </a:ln>
          </p:spPr>
        </p:sp>
        <p:sp>
          <p:nvSpPr>
            <p:cNvPr id="25" name="Text 23"/>
            <p:cNvSpPr txBox="1"/>
            <p:nvPr/>
          </p:nvSpPr>
          <p:spPr>
            <a:xfrm>
              <a:off x="6990588" y="4128516"/>
              <a:ext cx="877824" cy="256032"/>
            </a:xfrm>
            <a:prstGeom prst="rect">
              <a:avLst/>
            </a:prstGeom>
            <a:noFill/>
            <a:ln/>
          </p:spPr>
          <p:txBody>
            <a:bodyPr wrap="square" lIns="0" tIns="0" rIns="0" bIns="0" rtlCol="0" anchor="ctr"/>
            <a:lstStyle/>
            <a:p>
              <a:pPr marL="0" indent="0" algn="ctr">
                <a:buNone/>
              </a:pPr>
              <a:r>
                <a:rPr lang="en-US" sz="850" b="1" dirty="0">
                  <a:solidFill>
                    <a:srgbClr val="475569"/>
                  </a:solidFill>
                  <a:latin typeface="Poppins" pitchFamily="34" charset="0"/>
                  <a:ea typeface="Poppins" pitchFamily="34" charset="-122"/>
                  <a:cs typeface="Poppins" pitchFamily="34" charset="-120"/>
                </a:rPr>
                <a:t>DateKey</a:t>
              </a:r>
              <a:endParaRPr lang="en-US" sz="850" dirty="0"/>
            </a:p>
          </p:txBody>
        </p:sp>
        <p:sp>
          <p:nvSpPr>
            <p:cNvPr id="26" name="Shape 24"/>
            <p:cNvSpPr/>
            <p:nvPr/>
          </p:nvSpPr>
          <p:spPr>
            <a:xfrm>
              <a:off x="1417320" y="1234440"/>
              <a:ext cx="2057400" cy="1481328"/>
            </a:xfrm>
            <a:prstGeom prst="roundRect">
              <a:avLst>
                <a:gd name="adj" fmla="val 4938"/>
              </a:avLst>
            </a:prstGeom>
            <a:solidFill>
              <a:srgbClr val="FFFFFF"/>
            </a:solidFill>
            <a:ln w="12700">
              <a:solidFill>
                <a:srgbClr val="E2E8F0"/>
              </a:solidFill>
              <a:prstDash val="solid"/>
            </a:ln>
            <a:effectLst>
              <a:outerShdw blurRad="127000" dist="38100" dir="5400000" algn="bl" rotWithShape="0">
                <a:srgbClr val="1B2A2E">
                  <a:alpha val="12000"/>
                </a:srgbClr>
              </a:outerShdw>
            </a:effectLst>
          </p:spPr>
        </p:sp>
        <p:sp>
          <p:nvSpPr>
            <p:cNvPr id="27" name="Shape 25"/>
            <p:cNvSpPr/>
            <p:nvPr/>
          </p:nvSpPr>
          <p:spPr>
            <a:xfrm>
              <a:off x="1417320" y="1234440"/>
              <a:ext cx="2057400" cy="384048"/>
            </a:xfrm>
            <a:prstGeom prst="roundRect">
              <a:avLst>
                <a:gd name="adj" fmla="val 19048"/>
              </a:avLst>
            </a:prstGeom>
            <a:solidFill>
              <a:srgbClr val="387F7F"/>
            </a:solidFill>
            <a:ln/>
          </p:spPr>
        </p:sp>
        <p:sp>
          <p:nvSpPr>
            <p:cNvPr id="28" name="Shape 26"/>
            <p:cNvSpPr/>
            <p:nvPr/>
          </p:nvSpPr>
          <p:spPr>
            <a:xfrm>
              <a:off x="1417320" y="1426464"/>
              <a:ext cx="2057400" cy="192024"/>
            </a:xfrm>
            <a:prstGeom prst="rect">
              <a:avLst/>
            </a:prstGeom>
            <a:solidFill>
              <a:srgbClr val="387F7F"/>
            </a:solidFill>
            <a:ln/>
          </p:spPr>
        </p:sp>
        <p:sp>
          <p:nvSpPr>
            <p:cNvPr id="29" name="Text 27"/>
            <p:cNvSpPr txBox="1"/>
            <p:nvPr/>
          </p:nvSpPr>
          <p:spPr>
            <a:xfrm>
              <a:off x="1508760" y="1234440"/>
              <a:ext cx="18745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pitchFamily="34" charset="0"/>
                  <a:ea typeface="Poppins" pitchFamily="34" charset="-122"/>
                  <a:cs typeface="Poppins" pitchFamily="34" charset="-120"/>
                </a:rPr>
                <a:t>riders</a:t>
              </a:r>
              <a:endParaRPr lang="en-US" sz="1050" dirty="0"/>
            </a:p>
          </p:txBody>
        </p:sp>
        <p:sp>
          <p:nvSpPr>
            <p:cNvPr id="30" name="Shape 28"/>
            <p:cNvSpPr/>
            <p:nvPr/>
          </p:nvSpPr>
          <p:spPr>
            <a:xfrm>
              <a:off x="1545336" y="1741932"/>
              <a:ext cx="109728" cy="109728"/>
            </a:xfrm>
            <a:prstGeom prst="ellipse">
              <a:avLst/>
            </a:prstGeom>
            <a:solidFill>
              <a:srgbClr val="387F7F"/>
            </a:solidFill>
            <a:ln/>
          </p:spPr>
        </p:sp>
        <p:sp>
          <p:nvSpPr>
            <p:cNvPr id="31" name="Text 29"/>
            <p:cNvSpPr txBox="1"/>
            <p:nvPr/>
          </p:nvSpPr>
          <p:spPr>
            <a:xfrm>
              <a:off x="1728216" y="1691640"/>
              <a:ext cx="1600200" cy="219456"/>
            </a:xfrm>
            <a:prstGeom prst="rect">
              <a:avLst/>
            </a:prstGeom>
            <a:noFill/>
            <a:ln/>
          </p:spPr>
          <p:txBody>
            <a:bodyPr wrap="square" lIns="0" tIns="0" rIns="0" bIns="0" rtlCol="0" anchor="ctr"/>
            <a:lstStyle/>
            <a:p>
              <a:pPr marL="0" indent="0">
                <a:buNone/>
              </a:pPr>
              <a:r>
                <a:rPr lang="en-US" sz="1000" b="1" dirty="0">
                  <a:solidFill>
                    <a:srgbClr val="0A1A23"/>
                  </a:solidFill>
                  <a:latin typeface="Poppins" pitchFamily="34" charset="0"/>
                  <a:ea typeface="Poppins" pitchFamily="34" charset="-122"/>
                  <a:cs typeface="Poppins" pitchFamily="34" charset="-120"/>
                </a:rPr>
                <a:t>RiderID</a:t>
              </a:r>
              <a:endParaRPr lang="en-US" sz="1000" dirty="0"/>
            </a:p>
          </p:txBody>
        </p:sp>
        <p:sp>
          <p:nvSpPr>
            <p:cNvPr id="32" name="Text 30"/>
            <p:cNvSpPr txBox="1"/>
            <p:nvPr/>
          </p:nvSpPr>
          <p:spPr>
            <a:xfrm>
              <a:off x="1581912" y="1906524"/>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RiderName</a:t>
              </a:r>
              <a:endParaRPr lang="en-US" sz="1000" dirty="0"/>
            </a:p>
          </p:txBody>
        </p:sp>
        <p:sp>
          <p:nvSpPr>
            <p:cNvPr id="33" name="Text 31"/>
            <p:cNvSpPr txBox="1"/>
            <p:nvPr/>
          </p:nvSpPr>
          <p:spPr>
            <a:xfrm>
              <a:off x="1581912" y="2121408"/>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Hub</a:t>
              </a:r>
              <a:endParaRPr lang="en-US" sz="1000" dirty="0"/>
            </a:p>
          </p:txBody>
        </p:sp>
        <p:sp>
          <p:nvSpPr>
            <p:cNvPr id="34" name="Text 32"/>
            <p:cNvSpPr txBox="1"/>
            <p:nvPr/>
          </p:nvSpPr>
          <p:spPr>
            <a:xfrm>
              <a:off x="1581912" y="2336292"/>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VehicleType</a:t>
              </a:r>
              <a:endParaRPr lang="en-US" sz="1000" dirty="0"/>
            </a:p>
          </p:txBody>
        </p:sp>
        <p:sp>
          <p:nvSpPr>
            <p:cNvPr id="35" name="Shape 33"/>
            <p:cNvSpPr/>
            <p:nvPr/>
          </p:nvSpPr>
          <p:spPr>
            <a:xfrm>
              <a:off x="7909560" y="1234440"/>
              <a:ext cx="2057400" cy="1481328"/>
            </a:xfrm>
            <a:prstGeom prst="roundRect">
              <a:avLst>
                <a:gd name="adj" fmla="val 4938"/>
              </a:avLst>
            </a:prstGeom>
            <a:solidFill>
              <a:srgbClr val="FFFFFF"/>
            </a:solidFill>
            <a:ln w="12700">
              <a:solidFill>
                <a:srgbClr val="E2E8F0"/>
              </a:solidFill>
              <a:prstDash val="solid"/>
            </a:ln>
            <a:effectLst>
              <a:outerShdw blurRad="127000" dist="38100" dir="5400000" algn="bl" rotWithShape="0">
                <a:srgbClr val="1B2A2E">
                  <a:alpha val="12000"/>
                </a:srgbClr>
              </a:outerShdw>
            </a:effectLst>
          </p:spPr>
        </p:sp>
        <p:sp>
          <p:nvSpPr>
            <p:cNvPr id="36" name="Shape 34"/>
            <p:cNvSpPr/>
            <p:nvPr/>
          </p:nvSpPr>
          <p:spPr>
            <a:xfrm>
              <a:off x="7909560" y="1234440"/>
              <a:ext cx="2057400" cy="384048"/>
            </a:xfrm>
            <a:prstGeom prst="roundRect">
              <a:avLst>
                <a:gd name="adj" fmla="val 19048"/>
              </a:avLst>
            </a:prstGeom>
            <a:solidFill>
              <a:srgbClr val="387F7F"/>
            </a:solidFill>
            <a:ln/>
          </p:spPr>
        </p:sp>
        <p:sp>
          <p:nvSpPr>
            <p:cNvPr id="37" name="Shape 35"/>
            <p:cNvSpPr/>
            <p:nvPr/>
          </p:nvSpPr>
          <p:spPr>
            <a:xfrm>
              <a:off x="7909560" y="1426464"/>
              <a:ext cx="2057400" cy="192024"/>
            </a:xfrm>
            <a:prstGeom prst="rect">
              <a:avLst/>
            </a:prstGeom>
            <a:solidFill>
              <a:srgbClr val="387F7F"/>
            </a:solidFill>
            <a:ln/>
          </p:spPr>
        </p:sp>
        <p:sp>
          <p:nvSpPr>
            <p:cNvPr id="38" name="Text 36"/>
            <p:cNvSpPr txBox="1"/>
            <p:nvPr/>
          </p:nvSpPr>
          <p:spPr>
            <a:xfrm>
              <a:off x="8001000" y="1234440"/>
              <a:ext cx="18745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pitchFamily="34" charset="0"/>
                  <a:ea typeface="Poppins" pitchFamily="34" charset="-122"/>
                  <a:cs typeface="Poppins" pitchFamily="34" charset="-120"/>
                </a:rPr>
                <a:t>routes</a:t>
              </a:r>
              <a:endParaRPr lang="en-US" sz="1050" dirty="0"/>
            </a:p>
          </p:txBody>
        </p:sp>
        <p:sp>
          <p:nvSpPr>
            <p:cNvPr id="39" name="Shape 37"/>
            <p:cNvSpPr/>
            <p:nvPr/>
          </p:nvSpPr>
          <p:spPr>
            <a:xfrm>
              <a:off x="8037576" y="1741932"/>
              <a:ext cx="109728" cy="109728"/>
            </a:xfrm>
            <a:prstGeom prst="ellipse">
              <a:avLst/>
            </a:prstGeom>
            <a:solidFill>
              <a:srgbClr val="387F7F"/>
            </a:solidFill>
            <a:ln/>
          </p:spPr>
        </p:sp>
        <p:sp>
          <p:nvSpPr>
            <p:cNvPr id="40" name="Text 38"/>
            <p:cNvSpPr txBox="1"/>
            <p:nvPr/>
          </p:nvSpPr>
          <p:spPr>
            <a:xfrm>
              <a:off x="8220456" y="1691640"/>
              <a:ext cx="1600200" cy="219456"/>
            </a:xfrm>
            <a:prstGeom prst="rect">
              <a:avLst/>
            </a:prstGeom>
            <a:noFill/>
            <a:ln/>
          </p:spPr>
          <p:txBody>
            <a:bodyPr wrap="square" lIns="0" tIns="0" rIns="0" bIns="0" rtlCol="0" anchor="ctr"/>
            <a:lstStyle/>
            <a:p>
              <a:pPr marL="0" indent="0">
                <a:buNone/>
              </a:pPr>
              <a:r>
                <a:rPr lang="en-US" sz="1000" b="1" dirty="0">
                  <a:solidFill>
                    <a:srgbClr val="0A1A23"/>
                  </a:solidFill>
                  <a:latin typeface="Poppins" pitchFamily="34" charset="0"/>
                  <a:ea typeface="Poppins" pitchFamily="34" charset="-122"/>
                  <a:cs typeface="Poppins" pitchFamily="34" charset="-120"/>
                </a:rPr>
                <a:t>RouteID</a:t>
              </a:r>
              <a:endParaRPr lang="en-US" sz="1000" dirty="0"/>
            </a:p>
          </p:txBody>
        </p:sp>
        <p:sp>
          <p:nvSpPr>
            <p:cNvPr id="41" name="Text 39"/>
            <p:cNvSpPr txBox="1"/>
            <p:nvPr/>
          </p:nvSpPr>
          <p:spPr>
            <a:xfrm>
              <a:off x="8074152" y="1906524"/>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RouteName</a:t>
              </a:r>
              <a:endParaRPr lang="en-US" sz="1000" dirty="0"/>
            </a:p>
          </p:txBody>
        </p:sp>
        <p:sp>
          <p:nvSpPr>
            <p:cNvPr id="42" name="Text 40"/>
            <p:cNvSpPr txBox="1"/>
            <p:nvPr/>
          </p:nvSpPr>
          <p:spPr>
            <a:xfrm>
              <a:off x="8074152" y="2121408"/>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DistanceKm</a:t>
              </a:r>
              <a:endParaRPr lang="en-US" sz="1000" dirty="0"/>
            </a:p>
          </p:txBody>
        </p:sp>
        <p:sp>
          <p:nvSpPr>
            <p:cNvPr id="43" name="Text 41"/>
            <p:cNvSpPr txBox="1"/>
            <p:nvPr/>
          </p:nvSpPr>
          <p:spPr>
            <a:xfrm>
              <a:off x="8074152" y="2336292"/>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ZoneTier</a:t>
              </a:r>
              <a:endParaRPr lang="en-US" sz="1000" dirty="0"/>
            </a:p>
          </p:txBody>
        </p:sp>
        <p:sp>
          <p:nvSpPr>
            <p:cNvPr id="44" name="Shape 42"/>
            <p:cNvSpPr/>
            <p:nvPr/>
          </p:nvSpPr>
          <p:spPr>
            <a:xfrm>
              <a:off x="1417320" y="4160520"/>
              <a:ext cx="2057400" cy="1280160"/>
            </a:xfrm>
            <a:prstGeom prst="roundRect">
              <a:avLst>
                <a:gd name="adj" fmla="val 5714"/>
              </a:avLst>
            </a:prstGeom>
            <a:solidFill>
              <a:srgbClr val="FFFFFF"/>
            </a:solidFill>
            <a:ln w="12700">
              <a:solidFill>
                <a:srgbClr val="E2E8F0"/>
              </a:solidFill>
              <a:prstDash val="solid"/>
            </a:ln>
            <a:effectLst>
              <a:outerShdw blurRad="127000" dist="38100" dir="5400000" algn="bl" rotWithShape="0">
                <a:srgbClr val="1B2A2E">
                  <a:alpha val="12000"/>
                </a:srgbClr>
              </a:outerShdw>
            </a:effectLst>
          </p:spPr>
        </p:sp>
        <p:sp>
          <p:nvSpPr>
            <p:cNvPr id="45" name="Shape 43"/>
            <p:cNvSpPr/>
            <p:nvPr/>
          </p:nvSpPr>
          <p:spPr>
            <a:xfrm>
              <a:off x="1417320" y="4160520"/>
              <a:ext cx="2057400" cy="384048"/>
            </a:xfrm>
            <a:prstGeom prst="roundRect">
              <a:avLst>
                <a:gd name="adj" fmla="val 19048"/>
              </a:avLst>
            </a:prstGeom>
            <a:solidFill>
              <a:srgbClr val="387F7F"/>
            </a:solidFill>
            <a:ln/>
          </p:spPr>
        </p:sp>
        <p:sp>
          <p:nvSpPr>
            <p:cNvPr id="46" name="Shape 44"/>
            <p:cNvSpPr/>
            <p:nvPr/>
          </p:nvSpPr>
          <p:spPr>
            <a:xfrm>
              <a:off x="1417320" y="4352544"/>
              <a:ext cx="2057400" cy="192024"/>
            </a:xfrm>
            <a:prstGeom prst="rect">
              <a:avLst/>
            </a:prstGeom>
            <a:solidFill>
              <a:srgbClr val="387F7F"/>
            </a:solidFill>
            <a:ln/>
          </p:spPr>
        </p:sp>
        <p:sp>
          <p:nvSpPr>
            <p:cNvPr id="47" name="Text 45"/>
            <p:cNvSpPr txBox="1"/>
            <p:nvPr/>
          </p:nvSpPr>
          <p:spPr>
            <a:xfrm>
              <a:off x="1508760" y="4160520"/>
              <a:ext cx="18745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pitchFamily="34" charset="0"/>
                  <a:ea typeface="Poppins" pitchFamily="34" charset="-122"/>
                  <a:cs typeface="Poppins" pitchFamily="34" charset="-120"/>
                </a:rPr>
                <a:t>customers_business</a:t>
              </a:r>
              <a:endParaRPr lang="en-US" sz="1050" dirty="0"/>
            </a:p>
          </p:txBody>
        </p:sp>
        <p:sp>
          <p:nvSpPr>
            <p:cNvPr id="48" name="Shape 46"/>
            <p:cNvSpPr/>
            <p:nvPr/>
          </p:nvSpPr>
          <p:spPr>
            <a:xfrm>
              <a:off x="1545336" y="4668012"/>
              <a:ext cx="109728" cy="109728"/>
            </a:xfrm>
            <a:prstGeom prst="ellipse">
              <a:avLst/>
            </a:prstGeom>
            <a:solidFill>
              <a:srgbClr val="387F7F"/>
            </a:solidFill>
            <a:ln/>
          </p:spPr>
        </p:sp>
        <p:sp>
          <p:nvSpPr>
            <p:cNvPr id="49" name="Text 47"/>
            <p:cNvSpPr txBox="1"/>
            <p:nvPr/>
          </p:nvSpPr>
          <p:spPr>
            <a:xfrm>
              <a:off x="1728216" y="4617720"/>
              <a:ext cx="1600200" cy="219456"/>
            </a:xfrm>
            <a:prstGeom prst="rect">
              <a:avLst/>
            </a:prstGeom>
            <a:noFill/>
            <a:ln/>
          </p:spPr>
          <p:txBody>
            <a:bodyPr wrap="square" lIns="0" tIns="0" rIns="0" bIns="0" rtlCol="0" anchor="ctr"/>
            <a:lstStyle/>
            <a:p>
              <a:pPr marL="0" indent="0">
                <a:buNone/>
              </a:pPr>
              <a:r>
                <a:rPr lang="en-US" sz="1000" b="1" dirty="0">
                  <a:solidFill>
                    <a:srgbClr val="0A1A23"/>
                  </a:solidFill>
                  <a:latin typeface="Poppins" pitchFamily="34" charset="0"/>
                  <a:ea typeface="Poppins" pitchFamily="34" charset="-122"/>
                  <a:cs typeface="Poppins" pitchFamily="34" charset="-120"/>
                </a:rPr>
                <a:t>CustomerID</a:t>
              </a:r>
              <a:endParaRPr lang="en-US" sz="1000" dirty="0"/>
            </a:p>
          </p:txBody>
        </p:sp>
        <p:sp>
          <p:nvSpPr>
            <p:cNvPr id="50" name="Text 48"/>
            <p:cNvSpPr txBox="1"/>
            <p:nvPr/>
          </p:nvSpPr>
          <p:spPr>
            <a:xfrm>
              <a:off x="1581912" y="4832604"/>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BusinessName</a:t>
              </a:r>
              <a:endParaRPr lang="en-US" sz="1000" dirty="0"/>
            </a:p>
          </p:txBody>
        </p:sp>
        <p:sp>
          <p:nvSpPr>
            <p:cNvPr id="51" name="Text 49"/>
            <p:cNvSpPr txBox="1"/>
            <p:nvPr/>
          </p:nvSpPr>
          <p:spPr>
            <a:xfrm>
              <a:off x="1581912" y="5047488"/>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Sector</a:t>
              </a:r>
              <a:endParaRPr lang="en-US" sz="1000" dirty="0"/>
            </a:p>
          </p:txBody>
        </p:sp>
        <p:sp>
          <p:nvSpPr>
            <p:cNvPr id="52" name="Shape 50"/>
            <p:cNvSpPr/>
            <p:nvPr/>
          </p:nvSpPr>
          <p:spPr>
            <a:xfrm>
              <a:off x="7909560" y="4160520"/>
              <a:ext cx="2057400" cy="1481328"/>
            </a:xfrm>
            <a:prstGeom prst="roundRect">
              <a:avLst>
                <a:gd name="adj" fmla="val 4938"/>
              </a:avLst>
            </a:prstGeom>
            <a:solidFill>
              <a:srgbClr val="FFFFFF"/>
            </a:solidFill>
            <a:ln w="12700">
              <a:solidFill>
                <a:srgbClr val="E2E8F0"/>
              </a:solidFill>
              <a:prstDash val="solid"/>
            </a:ln>
            <a:effectLst>
              <a:outerShdw blurRad="127000" dist="38100" dir="5400000" algn="bl" rotWithShape="0">
                <a:srgbClr val="1B2A2E">
                  <a:alpha val="12000"/>
                </a:srgbClr>
              </a:outerShdw>
            </a:effectLst>
          </p:spPr>
        </p:sp>
        <p:sp>
          <p:nvSpPr>
            <p:cNvPr id="53" name="Shape 51"/>
            <p:cNvSpPr/>
            <p:nvPr/>
          </p:nvSpPr>
          <p:spPr>
            <a:xfrm>
              <a:off x="7909560" y="4160520"/>
              <a:ext cx="2057400" cy="384048"/>
            </a:xfrm>
            <a:prstGeom prst="roundRect">
              <a:avLst>
                <a:gd name="adj" fmla="val 19048"/>
              </a:avLst>
            </a:prstGeom>
            <a:solidFill>
              <a:srgbClr val="387F7F"/>
            </a:solidFill>
            <a:ln/>
          </p:spPr>
        </p:sp>
        <p:sp>
          <p:nvSpPr>
            <p:cNvPr id="54" name="Shape 52"/>
            <p:cNvSpPr/>
            <p:nvPr/>
          </p:nvSpPr>
          <p:spPr>
            <a:xfrm>
              <a:off x="7909560" y="4352544"/>
              <a:ext cx="2057400" cy="192024"/>
            </a:xfrm>
            <a:prstGeom prst="rect">
              <a:avLst/>
            </a:prstGeom>
            <a:solidFill>
              <a:srgbClr val="387F7F"/>
            </a:solidFill>
            <a:ln/>
          </p:spPr>
        </p:sp>
        <p:sp>
          <p:nvSpPr>
            <p:cNvPr id="55" name="Text 53"/>
            <p:cNvSpPr txBox="1"/>
            <p:nvPr/>
          </p:nvSpPr>
          <p:spPr>
            <a:xfrm>
              <a:off x="8001000" y="4160520"/>
              <a:ext cx="18745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pitchFamily="34" charset="0"/>
                  <a:ea typeface="Poppins" pitchFamily="34" charset="-122"/>
                  <a:cs typeface="Poppins" pitchFamily="34" charset="-120"/>
                </a:rPr>
                <a:t>dates</a:t>
              </a:r>
              <a:endParaRPr lang="en-US" sz="1050" dirty="0"/>
            </a:p>
          </p:txBody>
        </p:sp>
        <p:sp>
          <p:nvSpPr>
            <p:cNvPr id="56" name="Shape 54"/>
            <p:cNvSpPr/>
            <p:nvPr/>
          </p:nvSpPr>
          <p:spPr>
            <a:xfrm>
              <a:off x="8037576" y="4668012"/>
              <a:ext cx="109728" cy="109728"/>
            </a:xfrm>
            <a:prstGeom prst="ellipse">
              <a:avLst/>
            </a:prstGeom>
            <a:solidFill>
              <a:srgbClr val="387F7F"/>
            </a:solidFill>
            <a:ln/>
          </p:spPr>
        </p:sp>
        <p:sp>
          <p:nvSpPr>
            <p:cNvPr id="57" name="Text 55"/>
            <p:cNvSpPr txBox="1"/>
            <p:nvPr/>
          </p:nvSpPr>
          <p:spPr>
            <a:xfrm>
              <a:off x="8220456" y="4617720"/>
              <a:ext cx="1600200" cy="219456"/>
            </a:xfrm>
            <a:prstGeom prst="rect">
              <a:avLst/>
            </a:prstGeom>
            <a:noFill/>
            <a:ln/>
          </p:spPr>
          <p:txBody>
            <a:bodyPr wrap="square" lIns="0" tIns="0" rIns="0" bIns="0" rtlCol="0" anchor="ctr"/>
            <a:lstStyle/>
            <a:p>
              <a:pPr marL="0" indent="0">
                <a:buNone/>
              </a:pPr>
              <a:r>
                <a:rPr lang="en-US" sz="1000" b="1" dirty="0">
                  <a:solidFill>
                    <a:srgbClr val="0A1A23"/>
                  </a:solidFill>
                  <a:latin typeface="Poppins" pitchFamily="34" charset="0"/>
                  <a:ea typeface="Poppins" pitchFamily="34" charset="-122"/>
                  <a:cs typeface="Poppins" pitchFamily="34" charset="-120"/>
                </a:rPr>
                <a:t>DateKey</a:t>
              </a:r>
              <a:endParaRPr lang="en-US" sz="1000" dirty="0"/>
            </a:p>
          </p:txBody>
        </p:sp>
        <p:sp>
          <p:nvSpPr>
            <p:cNvPr id="58" name="Text 56"/>
            <p:cNvSpPr txBox="1"/>
            <p:nvPr/>
          </p:nvSpPr>
          <p:spPr>
            <a:xfrm>
              <a:off x="8074152" y="4832604"/>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MonthName</a:t>
              </a:r>
              <a:endParaRPr lang="en-US" sz="1000" dirty="0"/>
            </a:p>
          </p:txBody>
        </p:sp>
        <p:sp>
          <p:nvSpPr>
            <p:cNvPr id="59" name="Text 57"/>
            <p:cNvSpPr txBox="1"/>
            <p:nvPr/>
          </p:nvSpPr>
          <p:spPr>
            <a:xfrm>
              <a:off x="8074152" y="5047488"/>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Quarter</a:t>
              </a:r>
              <a:endParaRPr lang="en-US" sz="1000" dirty="0"/>
            </a:p>
          </p:txBody>
        </p:sp>
        <p:sp>
          <p:nvSpPr>
            <p:cNvPr id="60" name="Text 58"/>
            <p:cNvSpPr txBox="1"/>
            <p:nvPr/>
          </p:nvSpPr>
          <p:spPr>
            <a:xfrm>
              <a:off x="8074152" y="5262372"/>
              <a:ext cx="16002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IsWeekday</a:t>
              </a:r>
              <a:endParaRPr lang="en-US" sz="1000" dirty="0"/>
            </a:p>
          </p:txBody>
        </p:sp>
        <p:sp>
          <p:nvSpPr>
            <p:cNvPr id="61" name="Shape 59"/>
            <p:cNvSpPr/>
            <p:nvPr/>
          </p:nvSpPr>
          <p:spPr>
            <a:xfrm>
              <a:off x="4434840" y="2331720"/>
              <a:ext cx="2514600" cy="1691640"/>
            </a:xfrm>
            <a:prstGeom prst="roundRect">
              <a:avLst>
                <a:gd name="adj" fmla="val 4324"/>
              </a:avLst>
            </a:prstGeom>
            <a:solidFill>
              <a:srgbClr val="FFFFFF"/>
            </a:solidFill>
            <a:ln w="28575">
              <a:solidFill>
                <a:srgbClr val="387F7F"/>
              </a:solidFill>
              <a:prstDash val="solid"/>
            </a:ln>
            <a:effectLst>
              <a:outerShdw blurRad="127000" dist="38100" dir="5400000" algn="bl" rotWithShape="0">
                <a:srgbClr val="1B2A2E">
                  <a:alpha val="22000"/>
                </a:srgbClr>
              </a:outerShdw>
            </a:effectLst>
          </p:spPr>
        </p:sp>
        <p:sp>
          <p:nvSpPr>
            <p:cNvPr id="62" name="Shape 60"/>
            <p:cNvSpPr/>
            <p:nvPr/>
          </p:nvSpPr>
          <p:spPr>
            <a:xfrm>
              <a:off x="4434840" y="2331720"/>
              <a:ext cx="2514600" cy="384048"/>
            </a:xfrm>
            <a:prstGeom prst="roundRect">
              <a:avLst>
                <a:gd name="adj" fmla="val 19048"/>
              </a:avLst>
            </a:prstGeom>
            <a:solidFill>
              <a:srgbClr val="387F7F"/>
            </a:solidFill>
            <a:ln/>
          </p:spPr>
        </p:sp>
        <p:sp>
          <p:nvSpPr>
            <p:cNvPr id="63" name="Shape 61"/>
            <p:cNvSpPr/>
            <p:nvPr/>
          </p:nvSpPr>
          <p:spPr>
            <a:xfrm>
              <a:off x="4434840" y="2523744"/>
              <a:ext cx="2514600" cy="192024"/>
            </a:xfrm>
            <a:prstGeom prst="rect">
              <a:avLst/>
            </a:prstGeom>
            <a:solidFill>
              <a:srgbClr val="387F7F"/>
            </a:solidFill>
            <a:ln/>
          </p:spPr>
        </p:sp>
        <p:sp>
          <p:nvSpPr>
            <p:cNvPr id="64" name="Text 62"/>
            <p:cNvSpPr txBox="1"/>
            <p:nvPr/>
          </p:nvSpPr>
          <p:spPr>
            <a:xfrm>
              <a:off x="4526280" y="2331720"/>
              <a:ext cx="23317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pitchFamily="34" charset="0"/>
                  <a:ea typeface="Poppins" pitchFamily="34" charset="-122"/>
                  <a:cs typeface="Poppins" pitchFamily="34" charset="-120"/>
                </a:rPr>
                <a:t>swiftroute_deliveries</a:t>
              </a:r>
              <a:endParaRPr lang="en-US" sz="1050" dirty="0"/>
            </a:p>
          </p:txBody>
        </p:sp>
        <p:sp>
          <p:nvSpPr>
            <p:cNvPr id="65" name="Shape 63"/>
            <p:cNvSpPr/>
            <p:nvPr/>
          </p:nvSpPr>
          <p:spPr>
            <a:xfrm>
              <a:off x="4562856" y="2839212"/>
              <a:ext cx="109728" cy="109728"/>
            </a:xfrm>
            <a:prstGeom prst="ellipse">
              <a:avLst/>
            </a:prstGeom>
            <a:solidFill>
              <a:srgbClr val="387F7F"/>
            </a:solidFill>
            <a:ln/>
          </p:spPr>
        </p:sp>
        <p:sp>
          <p:nvSpPr>
            <p:cNvPr id="66" name="Text 64"/>
            <p:cNvSpPr txBox="1"/>
            <p:nvPr/>
          </p:nvSpPr>
          <p:spPr>
            <a:xfrm>
              <a:off x="4745736" y="2788920"/>
              <a:ext cx="2057400" cy="219456"/>
            </a:xfrm>
            <a:prstGeom prst="rect">
              <a:avLst/>
            </a:prstGeom>
            <a:noFill/>
            <a:ln/>
          </p:spPr>
          <p:txBody>
            <a:bodyPr wrap="square" lIns="0" tIns="0" rIns="0" bIns="0" rtlCol="0" anchor="ctr"/>
            <a:lstStyle/>
            <a:p>
              <a:pPr marL="0" indent="0">
                <a:buNone/>
              </a:pPr>
              <a:r>
                <a:rPr lang="en-US" sz="1000" b="1" dirty="0">
                  <a:solidFill>
                    <a:srgbClr val="0A1A23"/>
                  </a:solidFill>
                  <a:latin typeface="Poppins" pitchFamily="34" charset="0"/>
                  <a:ea typeface="Poppins" pitchFamily="34" charset="-122"/>
                  <a:cs typeface="Poppins" pitchFamily="34" charset="-120"/>
                </a:rPr>
                <a:t>DeliveryID</a:t>
              </a:r>
              <a:endParaRPr lang="en-US" sz="1000" dirty="0"/>
            </a:p>
          </p:txBody>
        </p:sp>
        <p:sp>
          <p:nvSpPr>
            <p:cNvPr id="67" name="Text 65"/>
            <p:cNvSpPr txBox="1"/>
            <p:nvPr/>
          </p:nvSpPr>
          <p:spPr>
            <a:xfrm>
              <a:off x="4599432" y="3003804"/>
              <a:ext cx="20574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RiderID  ·  RouteID</a:t>
              </a:r>
              <a:endParaRPr lang="en-US" sz="1000" dirty="0"/>
            </a:p>
          </p:txBody>
        </p:sp>
        <p:sp>
          <p:nvSpPr>
            <p:cNvPr id="68" name="Text 66"/>
            <p:cNvSpPr txBox="1"/>
            <p:nvPr/>
          </p:nvSpPr>
          <p:spPr>
            <a:xfrm>
              <a:off x="4599432" y="3218688"/>
              <a:ext cx="20574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CustomerID  ·  DateKey</a:t>
              </a:r>
              <a:endParaRPr lang="en-US" sz="1000" dirty="0"/>
            </a:p>
          </p:txBody>
        </p:sp>
        <p:sp>
          <p:nvSpPr>
            <p:cNvPr id="69" name="Text 67"/>
            <p:cNvSpPr txBox="1"/>
            <p:nvPr/>
          </p:nvSpPr>
          <p:spPr>
            <a:xfrm>
              <a:off x="4599432" y="3433572"/>
              <a:ext cx="2057400" cy="219456"/>
            </a:xfrm>
            <a:prstGeom prst="rect">
              <a:avLst/>
            </a:prstGeom>
            <a:noFill/>
            <a:ln/>
          </p:spPr>
          <p:txBody>
            <a:bodyPr wrap="square" lIns="0" tIns="0" rIns="0" bIns="0" rtlCol="0" anchor="ctr"/>
            <a:lstStyle/>
            <a:p>
              <a:pPr marL="0" indent="0">
                <a:buNone/>
              </a:pPr>
              <a:r>
                <a:rPr lang="en-US" sz="1000" dirty="0">
                  <a:solidFill>
                    <a:srgbClr val="64748B"/>
                  </a:solidFill>
                  <a:latin typeface="Poppins" pitchFamily="34" charset="0"/>
                  <a:ea typeface="Poppins" pitchFamily="34" charset="-122"/>
                  <a:cs typeface="Poppins" pitchFamily="34" charset="-120"/>
                </a:rPr>
                <a:t>DeliveryFee  ·  Status</a:t>
              </a:r>
              <a:endParaRPr lang="en-US" sz="1000" dirty="0"/>
            </a:p>
          </p:txBody>
        </p:sp>
      </p:grpSp>
      <p:sp>
        <p:nvSpPr>
          <p:cNvPr id="70" name="Text 68"/>
          <p:cNvSpPr txBox="1"/>
          <p:nvPr/>
        </p:nvSpPr>
        <p:spPr>
          <a:xfrm>
            <a:off x="685800" y="5742432"/>
            <a:ext cx="5943600" cy="292608"/>
          </a:xfrm>
          <a:prstGeom prst="rect">
            <a:avLst/>
          </a:prstGeom>
          <a:noFill/>
          <a:ln/>
        </p:spPr>
        <p:txBody>
          <a:bodyPr wrap="square" lIns="0" tIns="0" rIns="0" bIns="0" rtlCol="0" anchor="ctr"/>
          <a:lstStyle/>
          <a:p>
            <a:pPr marL="0" indent="0">
              <a:buNone/>
            </a:pPr>
            <a:r>
              <a:rPr lang="en-US" sz="1100" b="1" dirty="0">
                <a:solidFill>
                  <a:srgbClr val="387F7F"/>
                </a:solidFill>
                <a:latin typeface="Poppins" pitchFamily="34" charset="0"/>
                <a:ea typeface="Poppins" pitchFamily="34" charset="-122"/>
                <a:cs typeface="Poppins" pitchFamily="34" charset="-120"/>
              </a:rPr>
              <a:t>1</a:t>
            </a:r>
            <a:r>
              <a:rPr lang="en-US" sz="1100" dirty="0">
                <a:solidFill>
                  <a:srgbClr val="64748B"/>
                </a:solidFill>
                <a:latin typeface="Poppins" pitchFamily="34" charset="0"/>
                <a:ea typeface="Poppins" pitchFamily="34" charset="-122"/>
                <a:cs typeface="Poppins" pitchFamily="34" charset="-120"/>
              </a:rPr>
              <a:t>  one side (dimension)      </a:t>
            </a:r>
            <a:r>
              <a:rPr lang="en-US" sz="1100" b="1" dirty="0">
                <a:solidFill>
                  <a:srgbClr val="387F7F"/>
                </a:solidFill>
                <a:latin typeface="Poppins" pitchFamily="34" charset="0"/>
                <a:ea typeface="Poppins" pitchFamily="34" charset="-122"/>
                <a:cs typeface="Poppins" pitchFamily="34" charset="-120"/>
              </a:rPr>
              <a:t>∗</a:t>
            </a:r>
            <a:r>
              <a:rPr lang="en-US" sz="1100" dirty="0">
                <a:solidFill>
                  <a:srgbClr val="64748B"/>
                </a:solidFill>
                <a:latin typeface="Poppins" pitchFamily="34" charset="0"/>
                <a:ea typeface="Poppins" pitchFamily="34" charset="-122"/>
                <a:cs typeface="Poppins" pitchFamily="34" charset="-120"/>
              </a:rPr>
              <a:t>  many side (fact)</a:t>
            </a:r>
            <a:endParaRPr lang="en-US" sz="1100" dirty="0"/>
          </a:p>
        </p:txBody>
      </p:sp>
      <p:sp>
        <p:nvSpPr>
          <p:cNvPr id="71" name="Shape 69"/>
          <p:cNvSpPr/>
          <p:nvPr/>
        </p:nvSpPr>
        <p:spPr>
          <a:xfrm>
            <a:off x="685800" y="6108192"/>
            <a:ext cx="9829800" cy="566928"/>
          </a:xfrm>
          <a:prstGeom prst="roundRect">
            <a:avLst>
              <a:gd name="adj" fmla="val 14516"/>
            </a:avLst>
          </a:prstGeom>
          <a:solidFill>
            <a:srgbClr val="EEF4F4"/>
          </a:solidFill>
          <a:ln/>
        </p:spPr>
      </p:sp>
      <p:sp>
        <p:nvSpPr>
          <p:cNvPr id="72" name="Shape 70"/>
          <p:cNvSpPr/>
          <p:nvPr/>
        </p:nvSpPr>
        <p:spPr>
          <a:xfrm>
            <a:off x="685800" y="6108192"/>
            <a:ext cx="68580" cy="566928"/>
          </a:xfrm>
          <a:prstGeom prst="rect">
            <a:avLst/>
          </a:prstGeom>
          <a:solidFill>
            <a:srgbClr val="387F7F"/>
          </a:solidFill>
          <a:ln/>
        </p:spPr>
      </p:sp>
      <p:sp>
        <p:nvSpPr>
          <p:cNvPr id="73" name="Text 71"/>
          <p:cNvSpPr txBox="1"/>
          <p:nvPr/>
        </p:nvSpPr>
        <p:spPr>
          <a:xfrm>
            <a:off x="1051560" y="6108192"/>
            <a:ext cx="9235440" cy="566928"/>
          </a:xfrm>
          <a:prstGeom prst="rect">
            <a:avLst/>
          </a:prstGeom>
          <a:noFill/>
          <a:ln/>
        </p:spPr>
        <p:txBody>
          <a:bodyPr wrap="square" lIns="0" tIns="0" rIns="0" bIns="0" rtlCol="0" anchor="ctr"/>
          <a:lstStyle/>
          <a:p>
            <a:pPr marL="0" indent="0" algn="l">
              <a:lnSpc>
                <a:spcPct val="135000"/>
              </a:lnSpc>
              <a:buNone/>
            </a:pPr>
            <a:r>
              <a:rPr lang="en-US" sz="1350" b="1" dirty="0">
                <a:solidFill>
                  <a:srgbClr val="387F7F"/>
                </a:solidFill>
                <a:latin typeface="Poppins" pitchFamily="34" charset="0"/>
                <a:ea typeface="Poppins" pitchFamily="34" charset="-122"/>
                <a:cs typeface="Poppins" pitchFamily="34" charset="-120"/>
              </a:rPr>
              <a:t>Four dimensions, one fact. Filters flow inward, from the outside of the star to the centre.</a:t>
            </a:r>
            <a:endParaRPr lang="en-US" sz="1350" dirty="0"/>
          </a:p>
        </p:txBody>
      </p:sp>
      <p:pic>
        <p:nvPicPr>
          <p:cNvPr id="74"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75" name="Text 72"/>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One rider, many deliveries</a:t>
            </a:r>
            <a:endParaRPr lang="en-US" sz="2700" dirty="0"/>
          </a:p>
        </p:txBody>
      </p:sp>
      <p:sp>
        <p:nvSpPr>
          <p:cNvPr id="6" name="Shape 4"/>
          <p:cNvSpPr/>
          <p:nvPr/>
        </p:nvSpPr>
        <p:spPr>
          <a:xfrm>
            <a:off x="685800" y="1691640"/>
            <a:ext cx="3291840" cy="2331720"/>
          </a:xfrm>
          <a:prstGeom prst="roundRect">
            <a:avLst>
              <a:gd name="adj" fmla="val 3529"/>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91640"/>
            <a:ext cx="3291840" cy="411480"/>
          </a:xfrm>
          <a:prstGeom prst="rect">
            <a:avLst/>
          </a:prstGeom>
          <a:solidFill>
            <a:srgbClr val="20494A"/>
          </a:solidFill>
          <a:ln/>
        </p:spPr>
      </p:sp>
      <p:sp>
        <p:nvSpPr>
          <p:cNvPr id="8" name="Text 6"/>
          <p:cNvSpPr txBox="1"/>
          <p:nvPr/>
        </p:nvSpPr>
        <p:spPr>
          <a:xfrm>
            <a:off x="685800" y="1691640"/>
            <a:ext cx="32918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ONE side  ·  riders</a:t>
            </a:r>
            <a:endParaRPr lang="en-US" sz="1200" dirty="0"/>
          </a:p>
        </p:txBody>
      </p:sp>
      <p:sp>
        <p:nvSpPr>
          <p:cNvPr id="9" name="Text 7"/>
          <p:cNvSpPr txBox="1"/>
          <p:nvPr/>
        </p:nvSpPr>
        <p:spPr>
          <a:xfrm>
            <a:off x="914400" y="2286000"/>
            <a:ext cx="2834640" cy="384048"/>
          </a:xfrm>
          <a:prstGeom prst="rect">
            <a:avLst/>
          </a:prstGeom>
          <a:noFill/>
          <a:ln/>
        </p:spPr>
        <p:txBody>
          <a:bodyPr wrap="square" lIns="0" tIns="0" rIns="0" bIns="0" rtlCol="0" anchor="ctr"/>
          <a:lstStyle/>
          <a:p>
            <a:pPr marL="0" indent="0">
              <a:buNone/>
            </a:pPr>
            <a:r>
              <a:rPr lang="en-US" sz="1200" b="1" dirty="0">
                <a:solidFill>
                  <a:srgbClr val="387F7F"/>
                </a:solidFill>
                <a:latin typeface="Poppins" pitchFamily="34" charset="0"/>
                <a:ea typeface="Poppins" pitchFamily="34" charset="-122"/>
                <a:cs typeface="Poppins" pitchFamily="34" charset="-120"/>
              </a:rPr>
              <a:t>R-014   Chidi Okafor</a:t>
            </a:r>
            <a:endParaRPr lang="en-US" sz="1200" dirty="0"/>
          </a:p>
        </p:txBody>
      </p:sp>
      <p:sp>
        <p:nvSpPr>
          <p:cNvPr id="10" name="Text 8"/>
          <p:cNvSpPr txBox="1"/>
          <p:nvPr/>
        </p:nvSpPr>
        <p:spPr>
          <a:xfrm>
            <a:off x="914400" y="2761488"/>
            <a:ext cx="2834640" cy="384048"/>
          </a:xfrm>
          <a:prstGeom prst="rect">
            <a:avLst/>
          </a:prstGeom>
          <a:noFill/>
          <a:ln/>
        </p:spPr>
        <p:txBody>
          <a:bodyPr wrap="square" lIns="0" tIns="0" rIns="0" bIns="0" rtlCol="0" anchor="ctr"/>
          <a:lstStyle/>
          <a:p>
            <a:pPr marL="0" indent="0">
              <a:buNone/>
            </a:pPr>
            <a:r>
              <a:rPr lang="en-US" sz="1200" dirty="0">
                <a:solidFill>
                  <a:srgbClr val="475569"/>
                </a:solidFill>
                <a:latin typeface="Poppins" pitchFamily="34" charset="0"/>
                <a:ea typeface="Poppins" pitchFamily="34" charset="-122"/>
                <a:cs typeface="Poppins" pitchFamily="34" charset="-120"/>
              </a:rPr>
              <a:t>R-022   Bisi Adeyemi</a:t>
            </a:r>
            <a:endParaRPr lang="en-US" sz="1200" dirty="0"/>
          </a:p>
        </p:txBody>
      </p:sp>
      <p:sp>
        <p:nvSpPr>
          <p:cNvPr id="11" name="Text 9"/>
          <p:cNvSpPr txBox="1"/>
          <p:nvPr/>
        </p:nvSpPr>
        <p:spPr>
          <a:xfrm>
            <a:off x="914400" y="3236976"/>
            <a:ext cx="2834640" cy="384048"/>
          </a:xfrm>
          <a:prstGeom prst="rect">
            <a:avLst/>
          </a:prstGeom>
          <a:noFill/>
          <a:ln/>
        </p:spPr>
        <p:txBody>
          <a:bodyPr wrap="square" lIns="0" tIns="0" rIns="0" bIns="0" rtlCol="0" anchor="ctr"/>
          <a:lstStyle/>
          <a:p>
            <a:pPr marL="0" indent="0">
              <a:buNone/>
            </a:pPr>
            <a:r>
              <a:rPr lang="en-US" sz="1200" dirty="0">
                <a:solidFill>
                  <a:srgbClr val="475569"/>
                </a:solidFill>
                <a:latin typeface="Poppins" pitchFamily="34" charset="0"/>
                <a:ea typeface="Poppins" pitchFamily="34" charset="-122"/>
                <a:cs typeface="Poppins" pitchFamily="34" charset="-120"/>
              </a:rPr>
              <a:t>R-041   Musa Bello</a:t>
            </a:r>
            <a:endParaRPr lang="en-US" sz="1200" dirty="0"/>
          </a:p>
        </p:txBody>
      </p:sp>
      <p:sp>
        <p:nvSpPr>
          <p:cNvPr id="12" name="Shape 10"/>
          <p:cNvSpPr/>
          <p:nvPr/>
        </p:nvSpPr>
        <p:spPr>
          <a:xfrm>
            <a:off x="3977640" y="2834640"/>
            <a:ext cx="1417320" cy="9144"/>
          </a:xfrm>
          <a:prstGeom prst="line">
            <a:avLst/>
          </a:prstGeom>
          <a:noFill/>
          <a:ln w="31750">
            <a:solidFill>
              <a:srgbClr val="387F7F"/>
            </a:solidFill>
            <a:prstDash val="solid"/>
          </a:ln>
        </p:spPr>
      </p:sp>
      <p:sp>
        <p:nvSpPr>
          <p:cNvPr id="13" name="Text 11"/>
          <p:cNvSpPr txBox="1"/>
          <p:nvPr/>
        </p:nvSpPr>
        <p:spPr>
          <a:xfrm>
            <a:off x="4041648" y="2542032"/>
            <a:ext cx="274320" cy="274320"/>
          </a:xfrm>
          <a:prstGeom prst="rect">
            <a:avLst/>
          </a:prstGeom>
          <a:noFill/>
          <a:ln/>
        </p:spPr>
        <p:txBody>
          <a:bodyPr wrap="square" lIns="0" tIns="0" rIns="0" bIns="0" rtlCol="0" anchor="ctr"/>
          <a:lstStyle/>
          <a:p>
            <a:pPr marL="0" indent="0" algn="ctr">
              <a:buNone/>
            </a:pPr>
            <a:r>
              <a:rPr lang="en-US" sz="1300" b="1" dirty="0">
                <a:solidFill>
                  <a:srgbClr val="387F7F"/>
                </a:solidFill>
                <a:latin typeface="Poppins" pitchFamily="34" charset="0"/>
                <a:ea typeface="Poppins" pitchFamily="34" charset="-122"/>
                <a:cs typeface="Poppins" pitchFamily="34" charset="-120"/>
              </a:rPr>
              <a:t>1</a:t>
            </a:r>
            <a:endParaRPr lang="en-US" sz="1300" dirty="0"/>
          </a:p>
        </p:txBody>
      </p:sp>
      <p:sp>
        <p:nvSpPr>
          <p:cNvPr id="14" name="Text 12"/>
          <p:cNvSpPr txBox="1"/>
          <p:nvPr/>
        </p:nvSpPr>
        <p:spPr>
          <a:xfrm>
            <a:off x="5029200" y="2487168"/>
            <a:ext cx="274320" cy="310896"/>
          </a:xfrm>
          <a:prstGeom prst="rect">
            <a:avLst/>
          </a:prstGeom>
          <a:noFill/>
          <a:ln/>
        </p:spPr>
        <p:txBody>
          <a:bodyPr wrap="square" lIns="0" tIns="0" rIns="0" bIns="0" rtlCol="0" anchor="ctr"/>
          <a:lstStyle/>
          <a:p>
            <a:pPr marL="0" indent="0" algn="ctr">
              <a:buNone/>
            </a:pPr>
            <a:r>
              <a:rPr lang="en-US" sz="1900" b="1" dirty="0">
                <a:solidFill>
                  <a:srgbClr val="387F7F"/>
                </a:solidFill>
                <a:latin typeface="Poppins" pitchFamily="34" charset="0"/>
                <a:ea typeface="Poppins" pitchFamily="34" charset="-122"/>
                <a:cs typeface="Poppins" pitchFamily="34" charset="-120"/>
              </a:rPr>
              <a:t>∗</a:t>
            </a:r>
            <a:endParaRPr lang="en-US" sz="1900" dirty="0"/>
          </a:p>
        </p:txBody>
      </p:sp>
      <p:sp>
        <p:nvSpPr>
          <p:cNvPr id="15" name="Shape 13"/>
          <p:cNvSpPr/>
          <p:nvPr/>
        </p:nvSpPr>
        <p:spPr>
          <a:xfrm>
            <a:off x="5440680" y="1691640"/>
            <a:ext cx="5074920" cy="3063240"/>
          </a:xfrm>
          <a:prstGeom prst="roundRect">
            <a:avLst>
              <a:gd name="adj" fmla="val 2687"/>
            </a:avLst>
          </a:prstGeom>
          <a:solidFill>
            <a:srgbClr val="FFFFFF"/>
          </a:solidFill>
          <a:ln/>
          <a:effectLst>
            <a:outerShdw blurRad="152400" dist="38100" dir="5400000" algn="bl" rotWithShape="0">
              <a:srgbClr val="1B2A2E">
                <a:alpha val="14000"/>
              </a:srgbClr>
            </a:outerShdw>
          </a:effectLst>
        </p:spPr>
      </p:sp>
      <p:sp>
        <p:nvSpPr>
          <p:cNvPr id="16" name="Shape 14"/>
          <p:cNvSpPr/>
          <p:nvPr/>
        </p:nvSpPr>
        <p:spPr>
          <a:xfrm>
            <a:off x="5440680" y="1691640"/>
            <a:ext cx="5074920" cy="411480"/>
          </a:xfrm>
          <a:prstGeom prst="rect">
            <a:avLst/>
          </a:prstGeom>
          <a:solidFill>
            <a:srgbClr val="387F7F"/>
          </a:solidFill>
          <a:ln/>
        </p:spPr>
      </p:sp>
      <p:sp>
        <p:nvSpPr>
          <p:cNvPr id="17" name="Text 15"/>
          <p:cNvSpPr txBox="1"/>
          <p:nvPr/>
        </p:nvSpPr>
        <p:spPr>
          <a:xfrm>
            <a:off x="5440680" y="1691640"/>
            <a:ext cx="5074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MANY side  ·  swiftroute_deliveries</a:t>
            </a:r>
            <a:endParaRPr lang="en-US" sz="1200" dirty="0"/>
          </a:p>
        </p:txBody>
      </p:sp>
      <p:sp>
        <p:nvSpPr>
          <p:cNvPr id="18" name="Shape 16"/>
          <p:cNvSpPr/>
          <p:nvPr/>
        </p:nvSpPr>
        <p:spPr>
          <a:xfrm>
            <a:off x="5440680" y="2240280"/>
            <a:ext cx="5074920" cy="384048"/>
          </a:xfrm>
          <a:prstGeom prst="rect">
            <a:avLst/>
          </a:prstGeom>
          <a:solidFill>
            <a:srgbClr val="E8F2F1"/>
          </a:solidFill>
          <a:ln/>
        </p:spPr>
      </p:sp>
      <p:sp>
        <p:nvSpPr>
          <p:cNvPr id="19" name="Text 17"/>
          <p:cNvSpPr txBox="1"/>
          <p:nvPr/>
        </p:nvSpPr>
        <p:spPr>
          <a:xfrm>
            <a:off x="5715000" y="2240280"/>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D-000117</a:t>
            </a:r>
            <a:endParaRPr lang="en-US" sz="1150" dirty="0"/>
          </a:p>
        </p:txBody>
      </p:sp>
      <p:sp>
        <p:nvSpPr>
          <p:cNvPr id="20" name="Text 18"/>
          <p:cNvSpPr txBox="1"/>
          <p:nvPr/>
        </p:nvSpPr>
        <p:spPr>
          <a:xfrm>
            <a:off x="7680960" y="2240280"/>
            <a:ext cx="1828800" cy="384048"/>
          </a:xfrm>
          <a:prstGeom prst="rect">
            <a:avLst/>
          </a:prstGeom>
          <a:noFill/>
          <a:ln/>
        </p:spPr>
        <p:txBody>
          <a:bodyPr wrap="square" lIns="0" tIns="0" rIns="0" bIns="0" rtlCol="0" anchor="ctr"/>
          <a:lstStyle/>
          <a:p>
            <a:pPr marL="0" indent="0">
              <a:buNone/>
            </a:pPr>
            <a:r>
              <a:rPr lang="en-US" sz="1150" b="1" dirty="0">
                <a:solidFill>
                  <a:srgbClr val="387F7F"/>
                </a:solidFill>
                <a:latin typeface="Poppins" pitchFamily="34" charset="0"/>
                <a:ea typeface="Poppins" pitchFamily="34" charset="-122"/>
                <a:cs typeface="Poppins" pitchFamily="34" charset="-120"/>
              </a:rPr>
              <a:t>R-014</a:t>
            </a:r>
            <a:endParaRPr lang="en-US" sz="1150" dirty="0"/>
          </a:p>
        </p:txBody>
      </p:sp>
      <p:sp>
        <p:nvSpPr>
          <p:cNvPr id="21" name="Text 19"/>
          <p:cNvSpPr txBox="1"/>
          <p:nvPr/>
        </p:nvSpPr>
        <p:spPr>
          <a:xfrm>
            <a:off x="5715000" y="2624328"/>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D-000118</a:t>
            </a:r>
            <a:endParaRPr lang="en-US" sz="1150" dirty="0"/>
          </a:p>
        </p:txBody>
      </p:sp>
      <p:sp>
        <p:nvSpPr>
          <p:cNvPr id="22" name="Text 20"/>
          <p:cNvSpPr txBox="1"/>
          <p:nvPr/>
        </p:nvSpPr>
        <p:spPr>
          <a:xfrm>
            <a:off x="7680960" y="2624328"/>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R-022</a:t>
            </a:r>
            <a:endParaRPr lang="en-US" sz="1150" dirty="0"/>
          </a:p>
        </p:txBody>
      </p:sp>
      <p:sp>
        <p:nvSpPr>
          <p:cNvPr id="23" name="Shape 21"/>
          <p:cNvSpPr/>
          <p:nvPr/>
        </p:nvSpPr>
        <p:spPr>
          <a:xfrm>
            <a:off x="5440680" y="3008376"/>
            <a:ext cx="5074920" cy="384048"/>
          </a:xfrm>
          <a:prstGeom prst="rect">
            <a:avLst/>
          </a:prstGeom>
          <a:solidFill>
            <a:srgbClr val="E8F2F1"/>
          </a:solidFill>
          <a:ln/>
        </p:spPr>
      </p:sp>
      <p:sp>
        <p:nvSpPr>
          <p:cNvPr id="24" name="Text 22"/>
          <p:cNvSpPr txBox="1"/>
          <p:nvPr/>
        </p:nvSpPr>
        <p:spPr>
          <a:xfrm>
            <a:off x="5715000" y="3008376"/>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D-000119</a:t>
            </a:r>
            <a:endParaRPr lang="en-US" sz="1150" dirty="0"/>
          </a:p>
        </p:txBody>
      </p:sp>
      <p:sp>
        <p:nvSpPr>
          <p:cNvPr id="25" name="Text 23"/>
          <p:cNvSpPr txBox="1"/>
          <p:nvPr/>
        </p:nvSpPr>
        <p:spPr>
          <a:xfrm>
            <a:off x="7680960" y="3008376"/>
            <a:ext cx="1828800" cy="384048"/>
          </a:xfrm>
          <a:prstGeom prst="rect">
            <a:avLst/>
          </a:prstGeom>
          <a:noFill/>
          <a:ln/>
        </p:spPr>
        <p:txBody>
          <a:bodyPr wrap="square" lIns="0" tIns="0" rIns="0" bIns="0" rtlCol="0" anchor="ctr"/>
          <a:lstStyle/>
          <a:p>
            <a:pPr marL="0" indent="0">
              <a:buNone/>
            </a:pPr>
            <a:r>
              <a:rPr lang="en-US" sz="1150" b="1" dirty="0">
                <a:solidFill>
                  <a:srgbClr val="387F7F"/>
                </a:solidFill>
                <a:latin typeface="Poppins" pitchFamily="34" charset="0"/>
                <a:ea typeface="Poppins" pitchFamily="34" charset="-122"/>
                <a:cs typeface="Poppins" pitchFamily="34" charset="-120"/>
              </a:rPr>
              <a:t>R-014</a:t>
            </a:r>
            <a:endParaRPr lang="en-US" sz="1150" dirty="0"/>
          </a:p>
        </p:txBody>
      </p:sp>
      <p:sp>
        <p:nvSpPr>
          <p:cNvPr id="26" name="Text 24"/>
          <p:cNvSpPr txBox="1"/>
          <p:nvPr/>
        </p:nvSpPr>
        <p:spPr>
          <a:xfrm>
            <a:off x="5715000" y="3392424"/>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D-000120</a:t>
            </a:r>
            <a:endParaRPr lang="en-US" sz="1150" dirty="0"/>
          </a:p>
        </p:txBody>
      </p:sp>
      <p:sp>
        <p:nvSpPr>
          <p:cNvPr id="27" name="Text 25"/>
          <p:cNvSpPr txBox="1"/>
          <p:nvPr/>
        </p:nvSpPr>
        <p:spPr>
          <a:xfrm>
            <a:off x="7680960" y="3392424"/>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R-041</a:t>
            </a:r>
            <a:endParaRPr lang="en-US" sz="1150" dirty="0"/>
          </a:p>
        </p:txBody>
      </p:sp>
      <p:sp>
        <p:nvSpPr>
          <p:cNvPr id="28" name="Shape 26"/>
          <p:cNvSpPr/>
          <p:nvPr/>
        </p:nvSpPr>
        <p:spPr>
          <a:xfrm>
            <a:off x="5440680" y="3776472"/>
            <a:ext cx="5074920" cy="384048"/>
          </a:xfrm>
          <a:prstGeom prst="rect">
            <a:avLst/>
          </a:prstGeom>
          <a:solidFill>
            <a:srgbClr val="E8F2F1"/>
          </a:solidFill>
          <a:ln/>
        </p:spPr>
      </p:sp>
      <p:sp>
        <p:nvSpPr>
          <p:cNvPr id="29" name="Text 27"/>
          <p:cNvSpPr txBox="1"/>
          <p:nvPr/>
        </p:nvSpPr>
        <p:spPr>
          <a:xfrm>
            <a:off x="5715000" y="3776472"/>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D-000121</a:t>
            </a:r>
            <a:endParaRPr lang="en-US" sz="1150" dirty="0"/>
          </a:p>
        </p:txBody>
      </p:sp>
      <p:sp>
        <p:nvSpPr>
          <p:cNvPr id="30" name="Text 28"/>
          <p:cNvSpPr txBox="1"/>
          <p:nvPr/>
        </p:nvSpPr>
        <p:spPr>
          <a:xfrm>
            <a:off x="7680960" y="3776472"/>
            <a:ext cx="1828800" cy="384048"/>
          </a:xfrm>
          <a:prstGeom prst="rect">
            <a:avLst/>
          </a:prstGeom>
          <a:noFill/>
          <a:ln/>
        </p:spPr>
        <p:txBody>
          <a:bodyPr wrap="square" lIns="0" tIns="0" rIns="0" bIns="0" rtlCol="0" anchor="ctr"/>
          <a:lstStyle/>
          <a:p>
            <a:pPr marL="0" indent="0">
              <a:buNone/>
            </a:pPr>
            <a:r>
              <a:rPr lang="en-US" sz="1150" b="1" dirty="0">
                <a:solidFill>
                  <a:srgbClr val="387F7F"/>
                </a:solidFill>
                <a:latin typeface="Poppins" pitchFamily="34" charset="0"/>
                <a:ea typeface="Poppins" pitchFamily="34" charset="-122"/>
                <a:cs typeface="Poppins" pitchFamily="34" charset="-120"/>
              </a:rPr>
              <a:t>R-014</a:t>
            </a:r>
            <a:endParaRPr lang="en-US" sz="1150" dirty="0"/>
          </a:p>
        </p:txBody>
      </p:sp>
      <p:sp>
        <p:nvSpPr>
          <p:cNvPr id="31" name="Text 29"/>
          <p:cNvSpPr txBox="1"/>
          <p:nvPr/>
        </p:nvSpPr>
        <p:spPr>
          <a:xfrm>
            <a:off x="5715000" y="4160520"/>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D-000122</a:t>
            </a:r>
            <a:endParaRPr lang="en-US" sz="1150" dirty="0"/>
          </a:p>
        </p:txBody>
      </p:sp>
      <p:sp>
        <p:nvSpPr>
          <p:cNvPr id="32" name="Text 30"/>
          <p:cNvSpPr txBox="1"/>
          <p:nvPr/>
        </p:nvSpPr>
        <p:spPr>
          <a:xfrm>
            <a:off x="7680960" y="4160520"/>
            <a:ext cx="1828800" cy="38404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R-022</a:t>
            </a:r>
            <a:endParaRPr lang="en-US" sz="1150" dirty="0"/>
          </a:p>
        </p:txBody>
      </p:sp>
      <p:sp>
        <p:nvSpPr>
          <p:cNvPr id="33" name="Shape 31"/>
          <p:cNvSpPr/>
          <p:nvPr/>
        </p:nvSpPr>
        <p:spPr>
          <a:xfrm>
            <a:off x="685800" y="4983480"/>
            <a:ext cx="9829800" cy="914400"/>
          </a:xfrm>
          <a:prstGeom prst="roundRect">
            <a:avLst>
              <a:gd name="adj" fmla="val 9000"/>
            </a:avLst>
          </a:prstGeom>
          <a:solidFill>
            <a:srgbClr val="EEF4F4"/>
          </a:solidFill>
          <a:ln/>
        </p:spPr>
      </p:sp>
      <p:sp>
        <p:nvSpPr>
          <p:cNvPr id="34" name="Shape 32"/>
          <p:cNvSpPr/>
          <p:nvPr/>
        </p:nvSpPr>
        <p:spPr>
          <a:xfrm>
            <a:off x="685800" y="4983480"/>
            <a:ext cx="68580" cy="914400"/>
          </a:xfrm>
          <a:prstGeom prst="rect">
            <a:avLst/>
          </a:prstGeom>
          <a:solidFill>
            <a:srgbClr val="387F7F"/>
          </a:solidFill>
          <a:ln/>
        </p:spPr>
      </p:sp>
      <p:sp>
        <p:nvSpPr>
          <p:cNvPr id="35" name="Text 33"/>
          <p:cNvSpPr txBox="1"/>
          <p:nvPr/>
        </p:nvSpPr>
        <p:spPr>
          <a:xfrm>
            <a:off x="1051560" y="4983480"/>
            <a:ext cx="9235440" cy="914400"/>
          </a:xfrm>
          <a:prstGeom prst="rect">
            <a:avLst/>
          </a:prstGeom>
          <a:noFill/>
          <a:ln/>
        </p:spPr>
        <p:txBody>
          <a:bodyPr wrap="square" lIns="0" tIns="0" rIns="0" bIns="0" rtlCol="0" anchor="ctr"/>
          <a:lstStyle/>
          <a:p>
            <a:pPr marL="0" indent="0" algn="l">
              <a:lnSpc>
                <a:spcPct val="135000"/>
              </a:lnSpc>
              <a:buNone/>
            </a:pPr>
            <a:r>
              <a:rPr lang="en-US" sz="1450" b="1" dirty="0">
                <a:solidFill>
                  <a:srgbClr val="387F7F"/>
                </a:solidFill>
                <a:latin typeface="Poppins" pitchFamily="34" charset="0"/>
                <a:ea typeface="Poppins" pitchFamily="34" charset="-122"/>
                <a:cs typeface="Poppins" pitchFamily="34" charset="-120"/>
              </a:rPr>
              <a:t>The ONE side must hold each key exactly once. The MANY side may repeat it freely. That is not duplication, that is the whole idea.</a:t>
            </a:r>
            <a:endParaRPr lang="en-US" sz="1450" dirty="0"/>
          </a:p>
        </p:txBody>
      </p:sp>
      <p:pic>
        <p:nvPicPr>
          <p:cNvPr id="36"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37" name="Text 34"/>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Drawing a relationship in Model view</a:t>
            </a:r>
            <a:endParaRPr lang="en-US" sz="2700" dirty="0"/>
          </a:p>
        </p:txBody>
      </p:sp>
      <p:sp>
        <p:nvSpPr>
          <p:cNvPr id="6" name="Shape 4"/>
          <p:cNvSpPr/>
          <p:nvPr/>
        </p:nvSpPr>
        <p:spPr>
          <a:xfrm>
            <a:off x="685800" y="1508760"/>
            <a:ext cx="2377440" cy="475488"/>
          </a:xfrm>
          <a:prstGeom prst="roundRect">
            <a:avLst>
              <a:gd name="adj" fmla="val 50000"/>
            </a:avLst>
          </a:prstGeom>
          <a:solidFill>
            <a:srgbClr val="387F7F"/>
          </a:solidFill>
          <a:ln/>
        </p:spPr>
      </p:sp>
      <p:sp>
        <p:nvSpPr>
          <p:cNvPr id="7" name="Shape 5"/>
          <p:cNvSpPr/>
          <p:nvPr/>
        </p:nvSpPr>
        <p:spPr>
          <a:xfrm>
            <a:off x="777240" y="1591056"/>
            <a:ext cx="310896" cy="310896"/>
          </a:xfrm>
          <a:prstGeom prst="ellipse">
            <a:avLst/>
          </a:prstGeom>
          <a:solidFill>
            <a:srgbClr val="FFFFFF"/>
          </a:solidFill>
          <a:ln/>
        </p:spPr>
      </p:sp>
      <p:sp>
        <p:nvSpPr>
          <p:cNvPr id="8" name="Text 6"/>
          <p:cNvSpPr txBox="1"/>
          <p:nvPr/>
        </p:nvSpPr>
        <p:spPr>
          <a:xfrm>
            <a:off x="777240" y="1591056"/>
            <a:ext cx="310896" cy="310896"/>
          </a:xfrm>
          <a:prstGeom prst="rect">
            <a:avLst/>
          </a:prstGeom>
          <a:noFill/>
          <a:ln/>
        </p:spPr>
        <p:txBody>
          <a:bodyPr wrap="square" lIns="0" tIns="0" rIns="0" bIns="0" rtlCol="0" anchor="ctr"/>
          <a:lstStyle/>
          <a:p>
            <a:pPr marL="0" indent="0" algn="ctr">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9" name="Text 7"/>
          <p:cNvSpPr txBox="1"/>
          <p:nvPr/>
        </p:nvSpPr>
        <p:spPr>
          <a:xfrm>
            <a:off x="1179576" y="1508760"/>
            <a:ext cx="1792224" cy="475488"/>
          </a:xfrm>
          <a:prstGeom prst="rect">
            <a:avLst/>
          </a:prstGeom>
          <a:noFill/>
          <a:ln/>
        </p:spPr>
        <p:txBody>
          <a:bodyPr wrap="square" lIns="0" tIns="0" rIns="0" bIns="0" rtlCol="0" anchor="ctr"/>
          <a:lstStyle/>
          <a:p>
            <a:pPr marL="0" indent="0">
              <a:buNone/>
            </a:pPr>
            <a:r>
              <a:rPr lang="en-US" sz="1150" b="1" dirty="0">
                <a:solidFill>
                  <a:srgbClr val="FFFFFF"/>
                </a:solidFill>
                <a:latin typeface="Poppins" pitchFamily="34" charset="0"/>
                <a:ea typeface="Poppins" pitchFamily="34" charset="-122"/>
                <a:cs typeface="Poppins" pitchFamily="34" charset="-120"/>
              </a:rPr>
              <a:t>Open Model view</a:t>
            </a:r>
            <a:endParaRPr lang="en-US" sz="1150" dirty="0"/>
          </a:p>
        </p:txBody>
      </p:sp>
      <p:sp>
        <p:nvSpPr>
          <p:cNvPr id="10" name="Shape 8"/>
          <p:cNvSpPr/>
          <p:nvPr/>
        </p:nvSpPr>
        <p:spPr>
          <a:xfrm>
            <a:off x="3227832" y="1508760"/>
            <a:ext cx="2377440" cy="475488"/>
          </a:xfrm>
          <a:prstGeom prst="roundRect">
            <a:avLst>
              <a:gd name="adj" fmla="val 50000"/>
            </a:avLst>
          </a:prstGeom>
          <a:solidFill>
            <a:srgbClr val="387F7F"/>
          </a:solidFill>
          <a:ln/>
        </p:spPr>
      </p:sp>
      <p:sp>
        <p:nvSpPr>
          <p:cNvPr id="11" name="Shape 9"/>
          <p:cNvSpPr/>
          <p:nvPr/>
        </p:nvSpPr>
        <p:spPr>
          <a:xfrm>
            <a:off x="3319272" y="1591056"/>
            <a:ext cx="310896" cy="310896"/>
          </a:xfrm>
          <a:prstGeom prst="ellipse">
            <a:avLst/>
          </a:prstGeom>
          <a:solidFill>
            <a:srgbClr val="FFFFFF"/>
          </a:solidFill>
          <a:ln/>
        </p:spPr>
      </p:sp>
      <p:sp>
        <p:nvSpPr>
          <p:cNvPr id="12" name="Text 10"/>
          <p:cNvSpPr txBox="1"/>
          <p:nvPr/>
        </p:nvSpPr>
        <p:spPr>
          <a:xfrm>
            <a:off x="3319272" y="1591056"/>
            <a:ext cx="310896" cy="310896"/>
          </a:xfrm>
          <a:prstGeom prst="rect">
            <a:avLst/>
          </a:prstGeom>
          <a:noFill/>
          <a:ln/>
        </p:spPr>
        <p:txBody>
          <a:bodyPr wrap="square" lIns="0" tIns="0" rIns="0" bIns="0" rtlCol="0" anchor="ctr"/>
          <a:lstStyle/>
          <a:p>
            <a:pPr marL="0" indent="0" algn="ctr">
              <a:buNone/>
            </a:pPr>
            <a:r>
              <a:rPr lang="en-US" sz="1200" b="1" dirty="0">
                <a:solidFill>
                  <a:srgbClr val="387F7F"/>
                </a:solidFill>
                <a:latin typeface="Poppins" pitchFamily="34" charset="0"/>
                <a:ea typeface="Poppins" pitchFamily="34" charset="-122"/>
                <a:cs typeface="Poppins" pitchFamily="34" charset="-120"/>
              </a:rPr>
              <a:t>2</a:t>
            </a:r>
            <a:endParaRPr lang="en-US" sz="1200" dirty="0"/>
          </a:p>
        </p:txBody>
      </p:sp>
      <p:sp>
        <p:nvSpPr>
          <p:cNvPr id="13" name="Text 11"/>
          <p:cNvSpPr txBox="1"/>
          <p:nvPr/>
        </p:nvSpPr>
        <p:spPr>
          <a:xfrm>
            <a:off x="3721608" y="1508760"/>
            <a:ext cx="1792224" cy="475488"/>
          </a:xfrm>
          <a:prstGeom prst="rect">
            <a:avLst/>
          </a:prstGeom>
          <a:noFill/>
          <a:ln/>
        </p:spPr>
        <p:txBody>
          <a:bodyPr wrap="square" lIns="0" tIns="0" rIns="0" bIns="0" rtlCol="0" anchor="ctr"/>
          <a:lstStyle/>
          <a:p>
            <a:pPr marL="0" indent="0">
              <a:buNone/>
            </a:pPr>
            <a:r>
              <a:rPr lang="en-US" sz="1150" b="1" dirty="0">
                <a:solidFill>
                  <a:srgbClr val="FFFFFF"/>
                </a:solidFill>
                <a:latin typeface="Poppins" pitchFamily="34" charset="0"/>
                <a:ea typeface="Poppins" pitchFamily="34" charset="-122"/>
                <a:cs typeface="Poppins" pitchFamily="34" charset="-120"/>
              </a:rPr>
              <a:t>Drag key to key</a:t>
            </a:r>
            <a:endParaRPr lang="en-US" sz="1150" dirty="0"/>
          </a:p>
        </p:txBody>
      </p:sp>
      <p:sp>
        <p:nvSpPr>
          <p:cNvPr id="14" name="Shape 12"/>
          <p:cNvSpPr/>
          <p:nvPr/>
        </p:nvSpPr>
        <p:spPr>
          <a:xfrm>
            <a:off x="5769864" y="1508760"/>
            <a:ext cx="2377440" cy="475488"/>
          </a:xfrm>
          <a:prstGeom prst="roundRect">
            <a:avLst>
              <a:gd name="adj" fmla="val 50000"/>
            </a:avLst>
          </a:prstGeom>
          <a:solidFill>
            <a:srgbClr val="FFFFFF"/>
          </a:solidFill>
          <a:ln w="15875">
            <a:solidFill>
              <a:srgbClr val="E2E8F0"/>
            </a:solidFill>
            <a:prstDash val="solid"/>
          </a:ln>
        </p:spPr>
      </p:sp>
      <p:sp>
        <p:nvSpPr>
          <p:cNvPr id="15" name="Shape 13"/>
          <p:cNvSpPr/>
          <p:nvPr/>
        </p:nvSpPr>
        <p:spPr>
          <a:xfrm>
            <a:off x="5861304" y="1591056"/>
            <a:ext cx="310896" cy="310896"/>
          </a:xfrm>
          <a:prstGeom prst="ellipse">
            <a:avLst/>
          </a:prstGeom>
          <a:solidFill>
            <a:srgbClr val="EEF4F4"/>
          </a:solidFill>
          <a:ln/>
        </p:spPr>
      </p:sp>
      <p:sp>
        <p:nvSpPr>
          <p:cNvPr id="16" name="Text 14"/>
          <p:cNvSpPr txBox="1"/>
          <p:nvPr/>
        </p:nvSpPr>
        <p:spPr>
          <a:xfrm>
            <a:off x="5861304" y="1591056"/>
            <a:ext cx="310896" cy="310896"/>
          </a:xfrm>
          <a:prstGeom prst="rect">
            <a:avLst/>
          </a:prstGeom>
          <a:noFill/>
          <a:ln/>
        </p:spPr>
        <p:txBody>
          <a:bodyPr wrap="square" lIns="0" tIns="0" rIns="0" bIns="0" rtlCol="0" anchor="ctr"/>
          <a:lstStyle/>
          <a:p>
            <a:pPr marL="0" indent="0" algn="ctr">
              <a:buNone/>
            </a:pPr>
            <a:r>
              <a:rPr lang="en-US" sz="1200" b="1" dirty="0">
                <a:solidFill>
                  <a:srgbClr val="64748B"/>
                </a:solidFill>
                <a:latin typeface="Poppins" pitchFamily="34" charset="0"/>
                <a:ea typeface="Poppins" pitchFamily="34" charset="-122"/>
                <a:cs typeface="Poppins" pitchFamily="34" charset="-120"/>
              </a:rPr>
              <a:t>3</a:t>
            </a:r>
            <a:endParaRPr lang="en-US" sz="1200" dirty="0"/>
          </a:p>
        </p:txBody>
      </p:sp>
      <p:sp>
        <p:nvSpPr>
          <p:cNvPr id="17" name="Text 15"/>
          <p:cNvSpPr txBox="1"/>
          <p:nvPr/>
        </p:nvSpPr>
        <p:spPr>
          <a:xfrm>
            <a:off x="6263640" y="1508760"/>
            <a:ext cx="1792224" cy="47548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Confirm cardinality</a:t>
            </a:r>
            <a:endParaRPr lang="en-US" sz="1150" dirty="0"/>
          </a:p>
        </p:txBody>
      </p:sp>
      <p:sp>
        <p:nvSpPr>
          <p:cNvPr id="18" name="Shape 16"/>
          <p:cNvSpPr/>
          <p:nvPr/>
        </p:nvSpPr>
        <p:spPr>
          <a:xfrm>
            <a:off x="8311896" y="1508760"/>
            <a:ext cx="2377440" cy="475488"/>
          </a:xfrm>
          <a:prstGeom prst="roundRect">
            <a:avLst>
              <a:gd name="adj" fmla="val 50000"/>
            </a:avLst>
          </a:prstGeom>
          <a:solidFill>
            <a:srgbClr val="FFFFFF"/>
          </a:solidFill>
          <a:ln w="15875">
            <a:solidFill>
              <a:srgbClr val="E2E8F0"/>
            </a:solidFill>
            <a:prstDash val="solid"/>
          </a:ln>
        </p:spPr>
      </p:sp>
      <p:sp>
        <p:nvSpPr>
          <p:cNvPr id="19" name="Shape 17"/>
          <p:cNvSpPr/>
          <p:nvPr/>
        </p:nvSpPr>
        <p:spPr>
          <a:xfrm>
            <a:off x="8403336" y="1591056"/>
            <a:ext cx="310896" cy="310896"/>
          </a:xfrm>
          <a:prstGeom prst="ellipse">
            <a:avLst/>
          </a:prstGeom>
          <a:solidFill>
            <a:srgbClr val="EEF4F4"/>
          </a:solidFill>
          <a:ln/>
        </p:spPr>
      </p:sp>
      <p:sp>
        <p:nvSpPr>
          <p:cNvPr id="20" name="Text 18"/>
          <p:cNvSpPr txBox="1"/>
          <p:nvPr/>
        </p:nvSpPr>
        <p:spPr>
          <a:xfrm>
            <a:off x="8403336" y="1591056"/>
            <a:ext cx="310896" cy="310896"/>
          </a:xfrm>
          <a:prstGeom prst="rect">
            <a:avLst/>
          </a:prstGeom>
          <a:noFill/>
          <a:ln/>
        </p:spPr>
        <p:txBody>
          <a:bodyPr wrap="square" lIns="0" tIns="0" rIns="0" bIns="0" rtlCol="0" anchor="ctr"/>
          <a:lstStyle/>
          <a:p>
            <a:pPr marL="0" indent="0" algn="ctr">
              <a:buNone/>
            </a:pPr>
            <a:r>
              <a:rPr lang="en-US" sz="1200" b="1" dirty="0">
                <a:solidFill>
                  <a:srgbClr val="64748B"/>
                </a:solidFill>
                <a:latin typeface="Poppins" pitchFamily="34" charset="0"/>
                <a:ea typeface="Poppins" pitchFamily="34" charset="-122"/>
                <a:cs typeface="Poppins" pitchFamily="34" charset="-120"/>
              </a:rPr>
              <a:t>4</a:t>
            </a:r>
            <a:endParaRPr lang="en-US" sz="1200" dirty="0"/>
          </a:p>
        </p:txBody>
      </p:sp>
      <p:sp>
        <p:nvSpPr>
          <p:cNvPr id="21" name="Text 19"/>
          <p:cNvSpPr txBox="1"/>
          <p:nvPr/>
        </p:nvSpPr>
        <p:spPr>
          <a:xfrm>
            <a:off x="8805672" y="1508760"/>
            <a:ext cx="1792224" cy="475488"/>
          </a:xfrm>
          <a:prstGeom prst="rect">
            <a:avLst/>
          </a:prstGeom>
          <a:noFill/>
          <a:ln/>
        </p:spPr>
        <p:txBody>
          <a:bodyPr wrap="square" lIns="0" tIns="0" rIns="0" bIns="0" rtlCol="0" anchor="ctr"/>
          <a:lstStyle/>
          <a:p>
            <a:pPr marL="0" indent="0">
              <a:buNone/>
            </a:pPr>
            <a:r>
              <a:rPr lang="en-US" sz="1150" dirty="0">
                <a:solidFill>
                  <a:srgbClr val="475569"/>
                </a:solidFill>
                <a:latin typeface="Poppins" pitchFamily="34" charset="0"/>
                <a:ea typeface="Poppins" pitchFamily="34" charset="-122"/>
                <a:cs typeface="Poppins" pitchFamily="34" charset="-120"/>
              </a:rPr>
              <a:t>Check the filter arrow</a:t>
            </a:r>
            <a:endParaRPr lang="en-US" sz="1150" dirty="0"/>
          </a:p>
        </p:txBody>
      </p:sp>
      <p:sp>
        <p:nvSpPr>
          <p:cNvPr id="22" name="Shape 20"/>
          <p:cNvSpPr/>
          <p:nvPr/>
        </p:nvSpPr>
        <p:spPr>
          <a:xfrm>
            <a:off x="685800" y="2286000"/>
            <a:ext cx="6035040" cy="3498574"/>
          </a:xfrm>
          <a:prstGeom prst="roundRect">
            <a:avLst>
              <a:gd name="adj" fmla="val 3103"/>
            </a:avLst>
          </a:prstGeom>
          <a:solidFill>
            <a:srgbClr val="EEF4F4"/>
          </a:solidFill>
          <a:ln w="12700">
            <a:solidFill>
              <a:srgbClr val="E2E8F0"/>
            </a:solidFill>
            <a:prstDash val="dash"/>
          </a:ln>
        </p:spPr>
      </p:sp>
      <p:sp>
        <p:nvSpPr>
          <p:cNvPr id="24" name="Text 22"/>
          <p:cNvSpPr txBox="1"/>
          <p:nvPr/>
        </p:nvSpPr>
        <p:spPr>
          <a:xfrm>
            <a:off x="886968" y="5854145"/>
            <a:ext cx="5486400" cy="604579"/>
          </a:xfrm>
          <a:prstGeom prst="rect">
            <a:avLst/>
          </a:prstGeom>
          <a:noFill/>
          <a:ln/>
        </p:spPr>
        <p:txBody>
          <a:bodyPr wrap="square" lIns="0" tIns="0" rIns="0" bIns="0" rtlCol="0" anchor="ctr"/>
          <a:lstStyle/>
          <a:p>
            <a:pPr marL="0" indent="0" algn="ctr">
              <a:lnSpc>
                <a:spcPct val="125000"/>
              </a:lnSpc>
              <a:buNone/>
            </a:pPr>
            <a:r>
              <a:rPr lang="en-US" sz="1300" dirty="0">
                <a:solidFill>
                  <a:srgbClr val="64748B"/>
                </a:solidFill>
                <a:latin typeface="Poppins" pitchFamily="34" charset="0"/>
                <a:ea typeface="Poppins" pitchFamily="34" charset="-122"/>
                <a:cs typeface="Poppins" pitchFamily="34" charset="-120"/>
              </a:rPr>
              <a:t>The Create relationship dialogue: riders.RiderID to</a:t>
            </a:r>
            <a:endParaRPr lang="en-US" sz="1300" dirty="0"/>
          </a:p>
          <a:p>
            <a:pPr marL="0" indent="0" algn="ctr">
              <a:lnSpc>
                <a:spcPct val="125000"/>
              </a:lnSpc>
              <a:buNone/>
            </a:pPr>
            <a:r>
              <a:rPr lang="en-US" sz="1300" dirty="0">
                <a:solidFill>
                  <a:srgbClr val="64748B"/>
                </a:solidFill>
                <a:latin typeface="Poppins" pitchFamily="34" charset="0"/>
                <a:ea typeface="Poppins" pitchFamily="34" charset="-122"/>
                <a:cs typeface="Poppins" pitchFamily="34" charset="-120"/>
              </a:rPr>
              <a:t>swiftroute_deliveries.RiderID, One to many, Single direction</a:t>
            </a:r>
            <a:endParaRPr lang="en-US" sz="1300" dirty="0"/>
          </a:p>
        </p:txBody>
      </p:sp>
      <p:sp>
        <p:nvSpPr>
          <p:cNvPr id="25" name="Shape 23"/>
          <p:cNvSpPr/>
          <p:nvPr/>
        </p:nvSpPr>
        <p:spPr>
          <a:xfrm>
            <a:off x="7086600" y="2285999"/>
            <a:ext cx="3429000" cy="3140765"/>
          </a:xfrm>
          <a:prstGeom prst="roundRect">
            <a:avLst>
              <a:gd name="adj" fmla="val 3103"/>
            </a:avLst>
          </a:prstGeom>
          <a:solidFill>
            <a:srgbClr val="FFFFFF"/>
          </a:solidFill>
          <a:ln/>
        </p:spPr>
      </p:sp>
      <p:sp>
        <p:nvSpPr>
          <p:cNvPr id="26" name="Shape 24"/>
          <p:cNvSpPr/>
          <p:nvPr/>
        </p:nvSpPr>
        <p:spPr>
          <a:xfrm>
            <a:off x="7086600" y="2286000"/>
            <a:ext cx="60350" cy="3140764"/>
          </a:xfrm>
          <a:prstGeom prst="rect">
            <a:avLst/>
          </a:prstGeom>
          <a:solidFill>
            <a:srgbClr val="387F7F"/>
          </a:solidFill>
          <a:ln/>
        </p:spPr>
      </p:sp>
      <p:sp>
        <p:nvSpPr>
          <p:cNvPr id="27" name="Text 25"/>
          <p:cNvSpPr txBox="1"/>
          <p:nvPr/>
        </p:nvSpPr>
        <p:spPr>
          <a:xfrm>
            <a:off x="7360920" y="2487168"/>
            <a:ext cx="3017520" cy="274320"/>
          </a:xfrm>
          <a:prstGeom prst="rect">
            <a:avLst/>
          </a:prstGeom>
          <a:noFill/>
          <a:ln/>
        </p:spPr>
        <p:txBody>
          <a:bodyPr wrap="square" lIns="0" tIns="0" rIns="0" bIns="0" rtlCol="0" anchor="ctr"/>
          <a:lstStyle/>
          <a:p>
            <a:pPr marL="0" indent="0">
              <a:buNone/>
            </a:pPr>
            <a:r>
              <a:rPr lang="en-US" sz="1100" b="1" dirty="0">
                <a:solidFill>
                  <a:srgbClr val="387F7F"/>
                </a:solidFill>
                <a:latin typeface="Poppins" pitchFamily="34" charset="0"/>
                <a:ea typeface="Poppins" pitchFamily="34" charset="-122"/>
                <a:cs typeface="Poppins" pitchFamily="34" charset="-120"/>
              </a:rPr>
              <a:t>READ, DO NOT CLICK THROUGH</a:t>
            </a:r>
            <a:endParaRPr lang="en-US" sz="1100" dirty="0"/>
          </a:p>
        </p:txBody>
      </p:sp>
      <p:sp>
        <p:nvSpPr>
          <p:cNvPr id="28" name="Text 26"/>
          <p:cNvSpPr txBox="1"/>
          <p:nvPr/>
        </p:nvSpPr>
        <p:spPr>
          <a:xfrm>
            <a:off x="7360920" y="2834640"/>
            <a:ext cx="3017520" cy="2011680"/>
          </a:xfrm>
          <a:prstGeom prst="rect">
            <a:avLst/>
          </a:prstGeom>
          <a:noFill/>
          <a:ln/>
        </p:spPr>
        <p:txBody>
          <a:bodyPr wrap="square" lIns="0" tIns="0" rIns="0" bIns="0" rtlCol="0" anchor="t"/>
          <a:lstStyle/>
          <a:p>
            <a:pPr marL="0" indent="0" algn="l">
              <a:lnSpc>
                <a:spcPct val="130000"/>
              </a:lnSpc>
              <a:buNone/>
            </a:pPr>
            <a:r>
              <a:rPr lang="en-US" sz="1300" dirty="0">
                <a:solidFill>
                  <a:srgbClr val="475569"/>
                </a:solidFill>
                <a:latin typeface="Poppins" pitchFamily="34" charset="0"/>
                <a:ea typeface="Poppins" pitchFamily="34" charset="-122"/>
                <a:cs typeface="Poppins" pitchFamily="34" charset="-120"/>
              </a:rPr>
              <a:t>Drag RiderID from riders onto RiderID in deliveries. Power BI infers the cardinality and shows it.</a:t>
            </a:r>
            <a:endParaRPr lang="en-US" sz="1300" dirty="0"/>
          </a:p>
          <a:p>
            <a:pPr marL="0" indent="0" algn="l">
              <a:lnSpc>
                <a:spcPct val="130000"/>
              </a:lnSpc>
              <a:buNone/>
            </a:pPr>
            <a:endParaRPr lang="en-US" sz="1300" dirty="0"/>
          </a:p>
          <a:p>
            <a:pPr marL="0" indent="0" algn="l">
              <a:lnSpc>
                <a:spcPct val="130000"/>
              </a:lnSpc>
              <a:buNone/>
            </a:pPr>
            <a:r>
              <a:rPr lang="en-US" sz="1300" dirty="0">
                <a:solidFill>
                  <a:srgbClr val="475569"/>
                </a:solidFill>
                <a:latin typeface="Poppins" pitchFamily="34" charset="0"/>
                <a:ea typeface="Poppins" pitchFamily="34" charset="-122"/>
                <a:cs typeface="Poppins" pitchFamily="34" charset="-120"/>
              </a:rPr>
              <a:t>Read what it inferred. An unexpected many-to-many is almost always a data quality problem in the dimension, not a modelling decision.</a:t>
            </a:r>
            <a:endParaRPr lang="en-US" sz="1300" dirty="0"/>
          </a:p>
        </p:txBody>
      </p:sp>
      <p:pic>
        <p:nvPicPr>
          <p:cNvPr id="29"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30" name="Text 27"/>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12</a:t>
            </a:r>
            <a:endParaRPr lang="en-US" sz="1100" dirty="0"/>
          </a:p>
        </p:txBody>
      </p:sp>
      <p:pic>
        <p:nvPicPr>
          <p:cNvPr id="34" name="Picture 33">
            <a:extLst>
              <a:ext uri="{FF2B5EF4-FFF2-40B4-BE49-F238E27FC236}">
                <a16:creationId xmlns:a16="http://schemas.microsoft.com/office/drawing/2014/main" id="{AC89A3C3-4ADF-135F-1C10-77EC8428B5B9}"/>
              </a:ext>
            </a:extLst>
          </p:cNvPr>
          <p:cNvPicPr>
            <a:picLocks noChangeAspect="1"/>
          </p:cNvPicPr>
          <p:nvPr/>
        </p:nvPicPr>
        <p:blipFill>
          <a:blip r:embed="rId5"/>
          <a:stretch>
            <a:fillRect/>
          </a:stretch>
        </p:blipFill>
        <p:spPr>
          <a:xfrm>
            <a:off x="1676400" y="2305877"/>
            <a:ext cx="3828080" cy="34494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Read every relationship before you trust it</a:t>
            </a:r>
            <a:endParaRPr lang="en-US" sz="2700" dirty="0"/>
          </a:p>
        </p:txBody>
      </p:sp>
      <p:sp>
        <p:nvSpPr>
          <p:cNvPr id="6" name="Shape 4"/>
          <p:cNvSpPr/>
          <p:nvPr/>
        </p:nvSpPr>
        <p:spPr>
          <a:xfrm>
            <a:off x="685800" y="1645920"/>
            <a:ext cx="9829800" cy="1024128"/>
          </a:xfrm>
          <a:prstGeom prst="roundRect">
            <a:avLst>
              <a:gd name="adj" fmla="val 8036"/>
            </a:avLst>
          </a:prstGeom>
          <a:solidFill>
            <a:srgbClr val="FFFFFF"/>
          </a:solidFill>
          <a:ln/>
          <a:effectLst>
            <a:outerShdw blurRad="127000" dist="25400" dir="5400000" algn="bl" rotWithShape="0">
              <a:srgbClr val="1B2A2E">
                <a:alpha val="12000"/>
              </a:srgbClr>
            </a:outerShdw>
          </a:effectLst>
        </p:spPr>
      </p:sp>
      <p:sp>
        <p:nvSpPr>
          <p:cNvPr id="7" name="Shape 5"/>
          <p:cNvSpPr/>
          <p:nvPr/>
        </p:nvSpPr>
        <p:spPr>
          <a:xfrm>
            <a:off x="960120" y="1874520"/>
            <a:ext cx="566928" cy="566928"/>
          </a:xfrm>
          <a:prstGeom prst="ellipse">
            <a:avLst/>
          </a:prstGeom>
          <a:solidFill>
            <a:srgbClr val="387F7F"/>
          </a:solidFill>
          <a:ln/>
        </p:spPr>
      </p:sp>
      <p:sp>
        <p:nvSpPr>
          <p:cNvPr id="8" name="Text 6"/>
          <p:cNvSpPr txBox="1"/>
          <p:nvPr/>
        </p:nvSpPr>
        <p:spPr>
          <a:xfrm>
            <a:off x="960120" y="1874520"/>
            <a:ext cx="566928" cy="566928"/>
          </a:xfrm>
          <a:prstGeom prst="rect">
            <a:avLst/>
          </a:prstGeom>
          <a:noFill/>
          <a:ln/>
        </p:spPr>
        <p:txBody>
          <a:bodyPr wrap="square" lIns="0" tIns="0" rIns="0" bIns="0" rtlCol="0" anchor="ctr"/>
          <a:lstStyle/>
          <a:p>
            <a:pPr marL="0" indent="0" algn="ctr">
              <a:buNone/>
            </a:pPr>
            <a:r>
              <a:rPr lang="en-US" sz="2100" b="1" dirty="0">
                <a:solidFill>
                  <a:srgbClr val="FFFFFF"/>
                </a:solidFill>
                <a:latin typeface="Poppins" pitchFamily="34" charset="0"/>
                <a:ea typeface="Poppins" pitchFamily="34" charset="-122"/>
                <a:cs typeface="Poppins" pitchFamily="34" charset="-120"/>
              </a:rPr>
              <a:t>⇄</a:t>
            </a:r>
            <a:endParaRPr lang="en-US" sz="2100" dirty="0"/>
          </a:p>
        </p:txBody>
      </p:sp>
      <p:sp>
        <p:nvSpPr>
          <p:cNvPr id="9" name="Text 7"/>
          <p:cNvSpPr txBox="1"/>
          <p:nvPr/>
        </p:nvSpPr>
        <p:spPr>
          <a:xfrm>
            <a:off x="1737360" y="1755648"/>
            <a:ext cx="2651760" cy="411480"/>
          </a:xfrm>
          <a:prstGeom prst="rect">
            <a:avLst/>
          </a:prstGeom>
          <a:noFill/>
          <a:ln/>
        </p:spPr>
        <p:txBody>
          <a:bodyPr wrap="square" lIns="0" tIns="0" rIns="0" bIns="0" rtlCol="0" anchor="ctr"/>
          <a:lstStyle/>
          <a:p>
            <a:pPr marL="0" indent="0">
              <a:buNone/>
            </a:pPr>
            <a:r>
              <a:rPr lang="en-US" sz="1500" b="1" dirty="0">
                <a:solidFill>
                  <a:srgbClr val="0A1A23"/>
                </a:solidFill>
                <a:latin typeface="Poppins" pitchFamily="34" charset="0"/>
                <a:ea typeface="Poppins" pitchFamily="34" charset="-122"/>
                <a:cs typeface="Poppins" pitchFamily="34" charset="-120"/>
              </a:rPr>
              <a:t>Cardinality</a:t>
            </a:r>
            <a:endParaRPr lang="en-US" sz="1500" dirty="0"/>
          </a:p>
        </p:txBody>
      </p:sp>
      <p:sp>
        <p:nvSpPr>
          <p:cNvPr id="10" name="Text 8"/>
          <p:cNvSpPr txBox="1"/>
          <p:nvPr/>
        </p:nvSpPr>
        <p:spPr>
          <a:xfrm>
            <a:off x="1737360" y="2148840"/>
            <a:ext cx="8503920" cy="457200"/>
          </a:xfrm>
          <a:prstGeom prst="rect">
            <a:avLst/>
          </a:prstGeom>
          <a:noFill/>
          <a:ln/>
        </p:spPr>
        <p:txBody>
          <a:bodyPr wrap="square" lIns="0" tIns="0" rIns="0" bIns="0" rtlCol="0" anchor="t"/>
          <a:lstStyle/>
          <a:p>
            <a:pPr marL="0" indent="0" algn="l">
              <a:lnSpc>
                <a:spcPct val="120000"/>
              </a:lnSpc>
              <a:buNone/>
            </a:pPr>
            <a:r>
              <a:rPr lang="en-US" sz="1250" dirty="0">
                <a:solidFill>
                  <a:srgbClr val="475569"/>
                </a:solidFill>
                <a:latin typeface="Poppins" pitchFamily="34" charset="0"/>
                <a:ea typeface="Poppins" pitchFamily="34" charset="-122"/>
                <a:cs typeface="Poppins" pitchFamily="34" charset="-120"/>
              </a:rPr>
              <a:t>Should be one to many, with the “one” on the dimension. Many-to-many means your dimension has duplicate keys.</a:t>
            </a:r>
            <a:endParaRPr lang="en-US" sz="1250" dirty="0"/>
          </a:p>
        </p:txBody>
      </p:sp>
      <p:sp>
        <p:nvSpPr>
          <p:cNvPr id="11" name="Shape 9"/>
          <p:cNvSpPr/>
          <p:nvPr/>
        </p:nvSpPr>
        <p:spPr>
          <a:xfrm>
            <a:off x="685800" y="2816352"/>
            <a:ext cx="9829800" cy="1024128"/>
          </a:xfrm>
          <a:prstGeom prst="roundRect">
            <a:avLst>
              <a:gd name="adj" fmla="val 8036"/>
            </a:avLst>
          </a:prstGeom>
          <a:solidFill>
            <a:srgbClr val="FFFFFF"/>
          </a:solidFill>
          <a:ln/>
          <a:effectLst>
            <a:outerShdw blurRad="127000" dist="25400" dir="5400000" algn="bl" rotWithShape="0">
              <a:srgbClr val="1B2A2E">
                <a:alpha val="12000"/>
              </a:srgbClr>
            </a:outerShdw>
          </a:effectLst>
        </p:spPr>
      </p:sp>
      <p:sp>
        <p:nvSpPr>
          <p:cNvPr id="12" name="Shape 10"/>
          <p:cNvSpPr/>
          <p:nvPr/>
        </p:nvSpPr>
        <p:spPr>
          <a:xfrm>
            <a:off x="960120" y="3044952"/>
            <a:ext cx="566928" cy="566928"/>
          </a:xfrm>
          <a:prstGeom prst="ellipse">
            <a:avLst/>
          </a:prstGeom>
          <a:solidFill>
            <a:srgbClr val="387F7F"/>
          </a:solidFill>
          <a:ln/>
        </p:spPr>
      </p:sp>
      <p:sp>
        <p:nvSpPr>
          <p:cNvPr id="13" name="Text 11"/>
          <p:cNvSpPr txBox="1"/>
          <p:nvPr/>
        </p:nvSpPr>
        <p:spPr>
          <a:xfrm>
            <a:off x="960120" y="3044952"/>
            <a:ext cx="566928" cy="566928"/>
          </a:xfrm>
          <a:prstGeom prst="rect">
            <a:avLst/>
          </a:prstGeom>
          <a:noFill/>
          <a:ln/>
        </p:spPr>
        <p:txBody>
          <a:bodyPr wrap="square" lIns="0" tIns="0" rIns="0" bIns="0" rtlCol="0" anchor="ctr"/>
          <a:lstStyle/>
          <a:p>
            <a:pPr marL="0" indent="0" algn="ctr">
              <a:buNone/>
            </a:pPr>
            <a:r>
              <a:rPr lang="en-US" sz="2100" b="1" dirty="0">
                <a:solidFill>
                  <a:srgbClr val="FFFFFF"/>
                </a:solidFill>
                <a:latin typeface="Poppins" pitchFamily="34" charset="0"/>
                <a:ea typeface="Poppins" pitchFamily="34" charset="-122"/>
                <a:cs typeface="Poppins" pitchFamily="34" charset="-120"/>
              </a:rPr>
              <a:t>→</a:t>
            </a:r>
            <a:endParaRPr lang="en-US" sz="2100" dirty="0"/>
          </a:p>
        </p:txBody>
      </p:sp>
      <p:sp>
        <p:nvSpPr>
          <p:cNvPr id="14" name="Text 12"/>
          <p:cNvSpPr txBox="1"/>
          <p:nvPr/>
        </p:nvSpPr>
        <p:spPr>
          <a:xfrm>
            <a:off x="1737360" y="2926080"/>
            <a:ext cx="2651760" cy="411480"/>
          </a:xfrm>
          <a:prstGeom prst="rect">
            <a:avLst/>
          </a:prstGeom>
          <a:noFill/>
          <a:ln/>
        </p:spPr>
        <p:txBody>
          <a:bodyPr wrap="square" lIns="0" tIns="0" rIns="0" bIns="0" rtlCol="0" anchor="ctr"/>
          <a:lstStyle/>
          <a:p>
            <a:pPr marL="0" indent="0">
              <a:buNone/>
            </a:pPr>
            <a:r>
              <a:rPr lang="en-US" sz="1500" b="1" dirty="0">
                <a:solidFill>
                  <a:srgbClr val="0A1A23"/>
                </a:solidFill>
                <a:latin typeface="Poppins" pitchFamily="34" charset="0"/>
                <a:ea typeface="Poppins" pitchFamily="34" charset="-122"/>
                <a:cs typeface="Poppins" pitchFamily="34" charset="-120"/>
              </a:rPr>
              <a:t>Cross-filter direction</a:t>
            </a:r>
            <a:endParaRPr lang="en-US" sz="1500" dirty="0"/>
          </a:p>
        </p:txBody>
      </p:sp>
      <p:sp>
        <p:nvSpPr>
          <p:cNvPr id="15" name="Text 13"/>
          <p:cNvSpPr txBox="1"/>
          <p:nvPr/>
        </p:nvSpPr>
        <p:spPr>
          <a:xfrm>
            <a:off x="1737360" y="3319272"/>
            <a:ext cx="8503920" cy="457200"/>
          </a:xfrm>
          <a:prstGeom prst="rect">
            <a:avLst/>
          </a:prstGeom>
          <a:noFill/>
          <a:ln/>
        </p:spPr>
        <p:txBody>
          <a:bodyPr wrap="square" lIns="0" tIns="0" rIns="0" bIns="0" rtlCol="0" anchor="t"/>
          <a:lstStyle/>
          <a:p>
            <a:pPr marL="0" indent="0" algn="l">
              <a:lnSpc>
                <a:spcPct val="120000"/>
              </a:lnSpc>
              <a:buNone/>
            </a:pPr>
            <a:r>
              <a:rPr lang="en-US" sz="1250" dirty="0">
                <a:solidFill>
                  <a:srgbClr val="475569"/>
                </a:solidFill>
                <a:latin typeface="Poppins" pitchFamily="34" charset="0"/>
                <a:ea typeface="Poppins" pitchFamily="34" charset="-122"/>
                <a:cs typeface="Poppins" pitchFamily="34" charset="-120"/>
              </a:rPr>
              <a:t>Should be Single, flowing from dimension to fact. “Both” is available and is almost always the wrong choice for a beginner.</a:t>
            </a:r>
            <a:endParaRPr lang="en-US" sz="1250" dirty="0"/>
          </a:p>
        </p:txBody>
      </p:sp>
      <p:sp>
        <p:nvSpPr>
          <p:cNvPr id="16" name="Shape 14"/>
          <p:cNvSpPr/>
          <p:nvPr/>
        </p:nvSpPr>
        <p:spPr>
          <a:xfrm>
            <a:off x="685800" y="3986784"/>
            <a:ext cx="9829800" cy="1024128"/>
          </a:xfrm>
          <a:prstGeom prst="roundRect">
            <a:avLst>
              <a:gd name="adj" fmla="val 8036"/>
            </a:avLst>
          </a:prstGeom>
          <a:solidFill>
            <a:srgbClr val="FFFFFF"/>
          </a:solidFill>
          <a:ln/>
          <a:effectLst>
            <a:outerShdw blurRad="127000" dist="25400" dir="5400000" algn="bl" rotWithShape="0">
              <a:srgbClr val="1B2A2E">
                <a:alpha val="12000"/>
              </a:srgbClr>
            </a:outerShdw>
          </a:effectLst>
        </p:spPr>
      </p:sp>
      <p:sp>
        <p:nvSpPr>
          <p:cNvPr id="17" name="Shape 15"/>
          <p:cNvSpPr/>
          <p:nvPr/>
        </p:nvSpPr>
        <p:spPr>
          <a:xfrm>
            <a:off x="960120" y="4215384"/>
            <a:ext cx="566928" cy="566928"/>
          </a:xfrm>
          <a:prstGeom prst="ellipse">
            <a:avLst/>
          </a:prstGeom>
          <a:solidFill>
            <a:srgbClr val="387F7F"/>
          </a:solidFill>
          <a:ln/>
        </p:spPr>
      </p:sp>
      <p:sp>
        <p:nvSpPr>
          <p:cNvPr id="18" name="Text 16"/>
          <p:cNvSpPr txBox="1"/>
          <p:nvPr/>
        </p:nvSpPr>
        <p:spPr>
          <a:xfrm>
            <a:off x="960120" y="4215384"/>
            <a:ext cx="566928" cy="566928"/>
          </a:xfrm>
          <a:prstGeom prst="rect">
            <a:avLst/>
          </a:prstGeom>
          <a:noFill/>
          <a:ln/>
        </p:spPr>
        <p:txBody>
          <a:bodyPr wrap="square" lIns="0" tIns="0" rIns="0" bIns="0" rtlCol="0" anchor="ctr"/>
          <a:lstStyle/>
          <a:p>
            <a:pPr marL="0" indent="0" algn="ctr">
              <a:buNone/>
            </a:pPr>
            <a:r>
              <a:rPr lang="en-US" sz="2100" b="1" dirty="0">
                <a:solidFill>
                  <a:srgbClr val="FFFFFF"/>
                </a:solidFill>
                <a:latin typeface="Poppins" pitchFamily="34" charset="0"/>
                <a:ea typeface="Poppins" pitchFamily="34" charset="-122"/>
                <a:cs typeface="Poppins" pitchFamily="34" charset="-120"/>
              </a:rPr>
              <a:t>◌</a:t>
            </a:r>
            <a:endParaRPr lang="en-US" sz="2100" dirty="0"/>
          </a:p>
        </p:txBody>
      </p:sp>
      <p:sp>
        <p:nvSpPr>
          <p:cNvPr id="19" name="Text 17"/>
          <p:cNvSpPr txBox="1"/>
          <p:nvPr/>
        </p:nvSpPr>
        <p:spPr>
          <a:xfrm>
            <a:off x="1737360" y="4096512"/>
            <a:ext cx="2651760" cy="411480"/>
          </a:xfrm>
          <a:prstGeom prst="rect">
            <a:avLst/>
          </a:prstGeom>
          <a:noFill/>
          <a:ln/>
        </p:spPr>
        <p:txBody>
          <a:bodyPr wrap="square" lIns="0" tIns="0" rIns="0" bIns="0" rtlCol="0" anchor="ctr"/>
          <a:lstStyle/>
          <a:p>
            <a:pPr marL="0" indent="0">
              <a:buNone/>
            </a:pPr>
            <a:r>
              <a:rPr lang="en-US" sz="1500" b="1" dirty="0">
                <a:solidFill>
                  <a:srgbClr val="0A1A23"/>
                </a:solidFill>
                <a:latin typeface="Poppins" pitchFamily="34" charset="0"/>
                <a:ea typeface="Poppins" pitchFamily="34" charset="-122"/>
                <a:cs typeface="Poppins" pitchFamily="34" charset="-120"/>
              </a:rPr>
              <a:t>Active or inactive</a:t>
            </a:r>
            <a:endParaRPr lang="en-US" sz="1500" dirty="0"/>
          </a:p>
        </p:txBody>
      </p:sp>
      <p:sp>
        <p:nvSpPr>
          <p:cNvPr id="20" name="Text 18"/>
          <p:cNvSpPr txBox="1"/>
          <p:nvPr/>
        </p:nvSpPr>
        <p:spPr>
          <a:xfrm>
            <a:off x="1737360" y="4489704"/>
            <a:ext cx="8503920" cy="457200"/>
          </a:xfrm>
          <a:prstGeom prst="rect">
            <a:avLst/>
          </a:prstGeom>
          <a:noFill/>
          <a:ln/>
        </p:spPr>
        <p:txBody>
          <a:bodyPr wrap="square" lIns="0" tIns="0" rIns="0" bIns="0" rtlCol="0" anchor="t"/>
          <a:lstStyle/>
          <a:p>
            <a:pPr marL="0" indent="0" algn="l">
              <a:lnSpc>
                <a:spcPct val="120000"/>
              </a:lnSpc>
              <a:buNone/>
            </a:pPr>
            <a:r>
              <a:rPr lang="en-US" sz="1250" dirty="0">
                <a:solidFill>
                  <a:srgbClr val="475569"/>
                </a:solidFill>
                <a:latin typeface="Poppins" pitchFamily="34" charset="0"/>
                <a:ea typeface="Poppins" pitchFamily="34" charset="-122"/>
                <a:cs typeface="Poppins" pitchFamily="34" charset="-120"/>
              </a:rPr>
              <a:t>A dotted line means the relationship exists but is not being used. Power BI allows only one active path between two tables.</a:t>
            </a:r>
            <a:endParaRPr lang="en-US" sz="1250" dirty="0"/>
          </a:p>
        </p:txBody>
      </p:sp>
      <p:sp>
        <p:nvSpPr>
          <p:cNvPr id="21" name="Shape 19"/>
          <p:cNvSpPr/>
          <p:nvPr/>
        </p:nvSpPr>
        <p:spPr>
          <a:xfrm>
            <a:off x="685800" y="5257800"/>
            <a:ext cx="9829800" cy="868680"/>
          </a:xfrm>
          <a:prstGeom prst="roundRect">
            <a:avLst>
              <a:gd name="adj" fmla="val 9474"/>
            </a:avLst>
          </a:prstGeom>
          <a:solidFill>
            <a:srgbClr val="FBF3E6"/>
          </a:solidFill>
          <a:ln/>
        </p:spPr>
      </p:sp>
      <p:sp>
        <p:nvSpPr>
          <p:cNvPr id="22" name="Shape 20"/>
          <p:cNvSpPr/>
          <p:nvPr/>
        </p:nvSpPr>
        <p:spPr>
          <a:xfrm>
            <a:off x="685800" y="5257800"/>
            <a:ext cx="68580" cy="868680"/>
          </a:xfrm>
          <a:prstGeom prst="rect">
            <a:avLst/>
          </a:prstGeom>
          <a:solidFill>
            <a:srgbClr val="C9821F"/>
          </a:solidFill>
          <a:ln/>
        </p:spPr>
      </p:sp>
      <p:sp>
        <p:nvSpPr>
          <p:cNvPr id="23" name="Text 21"/>
          <p:cNvSpPr txBox="1"/>
          <p:nvPr/>
        </p:nvSpPr>
        <p:spPr>
          <a:xfrm>
            <a:off x="1051560" y="5257800"/>
            <a:ext cx="9235440" cy="868680"/>
          </a:xfrm>
          <a:prstGeom prst="rect">
            <a:avLst/>
          </a:prstGeom>
          <a:noFill/>
          <a:ln/>
        </p:spPr>
        <p:txBody>
          <a:bodyPr wrap="square" lIns="0" tIns="0" rIns="0" bIns="0" rtlCol="0" anchor="ctr"/>
          <a:lstStyle/>
          <a:p>
            <a:pPr marL="0" indent="0" algn="l">
              <a:lnSpc>
                <a:spcPct val="135000"/>
              </a:lnSpc>
              <a:buNone/>
            </a:pPr>
            <a:r>
              <a:rPr lang="en-US" sz="1450" b="1" dirty="0">
                <a:solidFill>
                  <a:srgbClr val="8A5A12"/>
                </a:solidFill>
                <a:latin typeface="Poppins" pitchFamily="34" charset="0"/>
                <a:ea typeface="Poppins" pitchFamily="34" charset="-122"/>
                <a:cs typeface="Poppins" pitchFamily="34" charset="-120"/>
              </a:rPr>
              <a:t>Ninety percent of “my numbers are wrong” problems in Power BI are one of these three. Photograph this slide.</a:t>
            </a:r>
            <a:endParaRPr lang="en-US" sz="1450" dirty="0"/>
          </a:p>
        </p:txBody>
      </p:sp>
      <p:pic>
        <p:nvPicPr>
          <p:cNvPr id="24"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Both directions feels helpful. It is not.</a:t>
            </a:r>
            <a:endParaRPr lang="en-US" sz="2700" dirty="0"/>
          </a:p>
        </p:txBody>
      </p:sp>
      <p:sp>
        <p:nvSpPr>
          <p:cNvPr id="6" name="Shape 4"/>
          <p:cNvSpPr/>
          <p:nvPr/>
        </p:nvSpPr>
        <p:spPr>
          <a:xfrm>
            <a:off x="685800" y="1645920"/>
            <a:ext cx="4709160" cy="2514600"/>
          </a:xfrm>
          <a:prstGeom prst="roundRect">
            <a:avLst>
              <a:gd name="adj" fmla="val 3636"/>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45920"/>
            <a:ext cx="4709160" cy="438912"/>
          </a:xfrm>
          <a:prstGeom prst="rect">
            <a:avLst/>
          </a:prstGeom>
          <a:solidFill>
            <a:srgbClr val="387F7F"/>
          </a:solidFill>
          <a:ln/>
        </p:spPr>
      </p:sp>
      <p:sp>
        <p:nvSpPr>
          <p:cNvPr id="8" name="Text 6"/>
          <p:cNvSpPr txBox="1"/>
          <p:nvPr/>
        </p:nvSpPr>
        <p:spPr>
          <a:xfrm>
            <a:off x="685800" y="1645920"/>
            <a:ext cx="47091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SINGLE  ·  filters flow one way</a:t>
            </a:r>
            <a:endParaRPr lang="en-US" sz="1300" dirty="0"/>
          </a:p>
        </p:txBody>
      </p:sp>
      <p:sp>
        <p:nvSpPr>
          <p:cNvPr id="9" name="Shape 7"/>
          <p:cNvSpPr/>
          <p:nvPr/>
        </p:nvSpPr>
        <p:spPr>
          <a:xfrm>
            <a:off x="1097280" y="2423160"/>
            <a:ext cx="1005840" cy="457200"/>
          </a:xfrm>
          <a:prstGeom prst="roundRect">
            <a:avLst>
              <a:gd name="adj" fmla="val 12000"/>
            </a:avLst>
          </a:prstGeom>
          <a:solidFill>
            <a:srgbClr val="EEF4F4"/>
          </a:solidFill>
          <a:ln w="15875">
            <a:solidFill>
              <a:srgbClr val="387F7F"/>
            </a:solidFill>
            <a:prstDash val="solid"/>
          </a:ln>
        </p:spPr>
      </p:sp>
      <p:sp>
        <p:nvSpPr>
          <p:cNvPr id="10" name="Text 8"/>
          <p:cNvSpPr txBox="1"/>
          <p:nvPr/>
        </p:nvSpPr>
        <p:spPr>
          <a:xfrm>
            <a:off x="1097280" y="2423160"/>
            <a:ext cx="1005840" cy="457200"/>
          </a:xfrm>
          <a:prstGeom prst="rect">
            <a:avLst/>
          </a:prstGeom>
          <a:noFill/>
          <a:ln/>
        </p:spPr>
        <p:txBody>
          <a:bodyPr wrap="square" lIns="0" tIns="0" rIns="0" bIns="0" rtlCol="0" anchor="ctr"/>
          <a:lstStyle/>
          <a:p>
            <a:pPr marL="0" indent="0" algn="ctr">
              <a:buNone/>
            </a:pPr>
            <a:r>
              <a:rPr lang="en-US" sz="1000" b="1" dirty="0">
                <a:solidFill>
                  <a:srgbClr val="387F7F"/>
                </a:solidFill>
                <a:latin typeface="Poppins" pitchFamily="34" charset="0"/>
                <a:ea typeface="Poppins" pitchFamily="34" charset="-122"/>
                <a:cs typeface="Poppins" pitchFamily="34" charset="-120"/>
              </a:rPr>
              <a:t>riders</a:t>
            </a:r>
            <a:endParaRPr lang="en-US" sz="1000" dirty="0"/>
          </a:p>
        </p:txBody>
      </p:sp>
      <p:sp>
        <p:nvSpPr>
          <p:cNvPr id="11" name="Shape 9"/>
          <p:cNvSpPr/>
          <p:nvPr/>
        </p:nvSpPr>
        <p:spPr>
          <a:xfrm>
            <a:off x="2560320" y="3200400"/>
            <a:ext cx="1005840" cy="457200"/>
          </a:xfrm>
          <a:prstGeom prst="roundRect">
            <a:avLst>
              <a:gd name="adj" fmla="val 12000"/>
            </a:avLst>
          </a:prstGeom>
          <a:solidFill>
            <a:srgbClr val="EEF4F4"/>
          </a:solidFill>
          <a:ln w="15875">
            <a:solidFill>
              <a:srgbClr val="387F7F"/>
            </a:solidFill>
            <a:prstDash val="solid"/>
          </a:ln>
        </p:spPr>
      </p:sp>
      <p:sp>
        <p:nvSpPr>
          <p:cNvPr id="12" name="Text 10"/>
          <p:cNvSpPr txBox="1"/>
          <p:nvPr/>
        </p:nvSpPr>
        <p:spPr>
          <a:xfrm>
            <a:off x="2560320" y="3200400"/>
            <a:ext cx="1005840" cy="457200"/>
          </a:xfrm>
          <a:prstGeom prst="rect">
            <a:avLst/>
          </a:prstGeom>
          <a:noFill/>
          <a:ln/>
        </p:spPr>
        <p:txBody>
          <a:bodyPr wrap="square" lIns="0" tIns="0" rIns="0" bIns="0" rtlCol="0" anchor="ctr"/>
          <a:lstStyle/>
          <a:p>
            <a:pPr marL="0" indent="0" algn="ctr">
              <a:buNone/>
            </a:pPr>
            <a:r>
              <a:rPr lang="en-US" sz="1000" b="1" dirty="0">
                <a:solidFill>
                  <a:srgbClr val="387F7F"/>
                </a:solidFill>
                <a:latin typeface="Poppins" pitchFamily="34" charset="0"/>
                <a:ea typeface="Poppins" pitchFamily="34" charset="-122"/>
                <a:cs typeface="Poppins" pitchFamily="34" charset="-120"/>
              </a:rPr>
              <a:t>deliveries</a:t>
            </a:r>
            <a:endParaRPr lang="en-US" sz="1000" dirty="0"/>
          </a:p>
        </p:txBody>
      </p:sp>
      <p:sp>
        <p:nvSpPr>
          <p:cNvPr id="13" name="Shape 11"/>
          <p:cNvSpPr/>
          <p:nvPr/>
        </p:nvSpPr>
        <p:spPr>
          <a:xfrm>
            <a:off x="4023360" y="2423160"/>
            <a:ext cx="1005840" cy="457200"/>
          </a:xfrm>
          <a:prstGeom prst="roundRect">
            <a:avLst>
              <a:gd name="adj" fmla="val 12000"/>
            </a:avLst>
          </a:prstGeom>
          <a:solidFill>
            <a:srgbClr val="EEF4F4"/>
          </a:solidFill>
          <a:ln w="15875">
            <a:solidFill>
              <a:srgbClr val="387F7F"/>
            </a:solidFill>
            <a:prstDash val="solid"/>
          </a:ln>
        </p:spPr>
      </p:sp>
      <p:sp>
        <p:nvSpPr>
          <p:cNvPr id="14" name="Text 12"/>
          <p:cNvSpPr txBox="1"/>
          <p:nvPr/>
        </p:nvSpPr>
        <p:spPr>
          <a:xfrm>
            <a:off x="4023360" y="2423160"/>
            <a:ext cx="1005840" cy="457200"/>
          </a:xfrm>
          <a:prstGeom prst="rect">
            <a:avLst/>
          </a:prstGeom>
          <a:noFill/>
          <a:ln/>
        </p:spPr>
        <p:txBody>
          <a:bodyPr wrap="square" lIns="0" tIns="0" rIns="0" bIns="0" rtlCol="0" anchor="ctr"/>
          <a:lstStyle/>
          <a:p>
            <a:pPr marL="0" indent="0" algn="ctr">
              <a:buNone/>
            </a:pPr>
            <a:r>
              <a:rPr lang="en-US" sz="1000" b="1" dirty="0">
                <a:solidFill>
                  <a:srgbClr val="387F7F"/>
                </a:solidFill>
                <a:latin typeface="Poppins" pitchFamily="34" charset="0"/>
                <a:ea typeface="Poppins" pitchFamily="34" charset="-122"/>
                <a:cs typeface="Poppins" pitchFamily="34" charset="-120"/>
              </a:rPr>
              <a:t>routes</a:t>
            </a:r>
            <a:endParaRPr lang="en-US" sz="1000" dirty="0"/>
          </a:p>
        </p:txBody>
      </p:sp>
      <p:sp>
        <p:nvSpPr>
          <p:cNvPr id="15" name="Shape 13"/>
          <p:cNvSpPr/>
          <p:nvPr/>
        </p:nvSpPr>
        <p:spPr>
          <a:xfrm>
            <a:off x="1600200" y="2880360"/>
            <a:ext cx="1051560" cy="365760"/>
          </a:xfrm>
          <a:prstGeom prst="line">
            <a:avLst/>
          </a:prstGeom>
          <a:noFill/>
          <a:ln w="25400">
            <a:solidFill>
              <a:srgbClr val="387F7F"/>
            </a:solidFill>
            <a:prstDash val="solid"/>
            <a:headEnd type="none"/>
            <a:tailEnd type="triangle"/>
          </a:ln>
        </p:spPr>
      </p:sp>
      <p:sp>
        <p:nvSpPr>
          <p:cNvPr id="16" name="Shape 14"/>
          <p:cNvSpPr/>
          <p:nvPr/>
        </p:nvSpPr>
        <p:spPr>
          <a:xfrm>
            <a:off x="3566160" y="2880360"/>
            <a:ext cx="960120" cy="365760"/>
          </a:xfrm>
          <a:prstGeom prst="line">
            <a:avLst/>
          </a:prstGeom>
          <a:noFill/>
          <a:ln w="25400">
            <a:solidFill>
              <a:srgbClr val="387F7F"/>
            </a:solidFill>
            <a:prstDash val="solid"/>
            <a:headEnd type="triangle"/>
            <a:tailEnd type="none"/>
          </a:ln>
        </p:spPr>
      </p:sp>
      <p:sp>
        <p:nvSpPr>
          <p:cNvPr id="17" name="Shape 15"/>
          <p:cNvSpPr/>
          <p:nvPr/>
        </p:nvSpPr>
        <p:spPr>
          <a:xfrm>
            <a:off x="5806440" y="1645920"/>
            <a:ext cx="4709160" cy="2514600"/>
          </a:xfrm>
          <a:prstGeom prst="roundRect">
            <a:avLst>
              <a:gd name="adj" fmla="val 3636"/>
            </a:avLst>
          </a:prstGeom>
          <a:solidFill>
            <a:srgbClr val="FFFFFF"/>
          </a:solidFill>
          <a:ln/>
          <a:effectLst>
            <a:outerShdw blurRad="152400" dist="38100" dir="5400000" algn="bl" rotWithShape="0">
              <a:srgbClr val="1B2A2E">
                <a:alpha val="14000"/>
              </a:srgbClr>
            </a:outerShdw>
          </a:effectLst>
        </p:spPr>
      </p:sp>
      <p:sp>
        <p:nvSpPr>
          <p:cNvPr id="18" name="Shape 16"/>
          <p:cNvSpPr/>
          <p:nvPr/>
        </p:nvSpPr>
        <p:spPr>
          <a:xfrm>
            <a:off x="5806440" y="1645920"/>
            <a:ext cx="4709160" cy="438912"/>
          </a:xfrm>
          <a:prstGeom prst="rect">
            <a:avLst/>
          </a:prstGeom>
          <a:solidFill>
            <a:srgbClr val="C9821F"/>
          </a:solidFill>
          <a:ln/>
        </p:spPr>
      </p:sp>
      <p:sp>
        <p:nvSpPr>
          <p:cNvPr id="19" name="Text 17"/>
          <p:cNvSpPr txBox="1"/>
          <p:nvPr/>
        </p:nvSpPr>
        <p:spPr>
          <a:xfrm>
            <a:off x="5806440" y="1645920"/>
            <a:ext cx="47091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BOTH  ·  filters can travel back up</a:t>
            </a:r>
            <a:endParaRPr lang="en-US" sz="1300" dirty="0"/>
          </a:p>
        </p:txBody>
      </p:sp>
      <p:sp>
        <p:nvSpPr>
          <p:cNvPr id="20" name="Shape 18"/>
          <p:cNvSpPr/>
          <p:nvPr/>
        </p:nvSpPr>
        <p:spPr>
          <a:xfrm>
            <a:off x="6217920" y="2423160"/>
            <a:ext cx="1005840" cy="457200"/>
          </a:xfrm>
          <a:prstGeom prst="roundRect">
            <a:avLst>
              <a:gd name="adj" fmla="val 12000"/>
            </a:avLst>
          </a:prstGeom>
          <a:solidFill>
            <a:srgbClr val="EEF4F4"/>
          </a:solidFill>
          <a:ln w="15875">
            <a:solidFill>
              <a:srgbClr val="C9821F"/>
            </a:solidFill>
            <a:prstDash val="solid"/>
          </a:ln>
        </p:spPr>
      </p:sp>
      <p:sp>
        <p:nvSpPr>
          <p:cNvPr id="21" name="Text 19"/>
          <p:cNvSpPr txBox="1"/>
          <p:nvPr/>
        </p:nvSpPr>
        <p:spPr>
          <a:xfrm>
            <a:off x="6217920" y="2423160"/>
            <a:ext cx="1005840" cy="457200"/>
          </a:xfrm>
          <a:prstGeom prst="rect">
            <a:avLst/>
          </a:prstGeom>
          <a:noFill/>
          <a:ln/>
        </p:spPr>
        <p:txBody>
          <a:bodyPr wrap="square" lIns="0" tIns="0" rIns="0" bIns="0" rtlCol="0" anchor="ctr"/>
          <a:lstStyle/>
          <a:p>
            <a:pPr marL="0" indent="0" algn="ctr">
              <a:buNone/>
            </a:pPr>
            <a:r>
              <a:rPr lang="en-US" sz="1000" b="1" dirty="0">
                <a:solidFill>
                  <a:srgbClr val="C9821F"/>
                </a:solidFill>
                <a:latin typeface="Poppins" pitchFamily="34" charset="0"/>
                <a:ea typeface="Poppins" pitchFamily="34" charset="-122"/>
                <a:cs typeface="Poppins" pitchFamily="34" charset="-120"/>
              </a:rPr>
              <a:t>riders</a:t>
            </a:r>
            <a:endParaRPr lang="en-US" sz="1000" dirty="0"/>
          </a:p>
        </p:txBody>
      </p:sp>
      <p:sp>
        <p:nvSpPr>
          <p:cNvPr id="22" name="Shape 20"/>
          <p:cNvSpPr/>
          <p:nvPr/>
        </p:nvSpPr>
        <p:spPr>
          <a:xfrm>
            <a:off x="7680960" y="3200400"/>
            <a:ext cx="1005840" cy="457200"/>
          </a:xfrm>
          <a:prstGeom prst="roundRect">
            <a:avLst>
              <a:gd name="adj" fmla="val 12000"/>
            </a:avLst>
          </a:prstGeom>
          <a:solidFill>
            <a:srgbClr val="EEF4F4"/>
          </a:solidFill>
          <a:ln w="15875">
            <a:solidFill>
              <a:srgbClr val="C9821F"/>
            </a:solidFill>
            <a:prstDash val="solid"/>
          </a:ln>
        </p:spPr>
      </p:sp>
      <p:sp>
        <p:nvSpPr>
          <p:cNvPr id="23" name="Text 21"/>
          <p:cNvSpPr txBox="1"/>
          <p:nvPr/>
        </p:nvSpPr>
        <p:spPr>
          <a:xfrm>
            <a:off x="7680960" y="3200400"/>
            <a:ext cx="1005840" cy="457200"/>
          </a:xfrm>
          <a:prstGeom prst="rect">
            <a:avLst/>
          </a:prstGeom>
          <a:noFill/>
          <a:ln/>
        </p:spPr>
        <p:txBody>
          <a:bodyPr wrap="square" lIns="0" tIns="0" rIns="0" bIns="0" rtlCol="0" anchor="ctr"/>
          <a:lstStyle/>
          <a:p>
            <a:pPr marL="0" indent="0" algn="ctr">
              <a:buNone/>
            </a:pPr>
            <a:r>
              <a:rPr lang="en-US" sz="1000" b="1" dirty="0">
                <a:solidFill>
                  <a:srgbClr val="C9821F"/>
                </a:solidFill>
                <a:latin typeface="Poppins" pitchFamily="34" charset="0"/>
                <a:ea typeface="Poppins" pitchFamily="34" charset="-122"/>
                <a:cs typeface="Poppins" pitchFamily="34" charset="-120"/>
              </a:rPr>
              <a:t>deliveries</a:t>
            </a:r>
            <a:endParaRPr lang="en-US" sz="1000" dirty="0"/>
          </a:p>
        </p:txBody>
      </p:sp>
      <p:sp>
        <p:nvSpPr>
          <p:cNvPr id="24" name="Shape 22"/>
          <p:cNvSpPr/>
          <p:nvPr/>
        </p:nvSpPr>
        <p:spPr>
          <a:xfrm>
            <a:off x="9144000" y="2423160"/>
            <a:ext cx="1005840" cy="457200"/>
          </a:xfrm>
          <a:prstGeom prst="roundRect">
            <a:avLst>
              <a:gd name="adj" fmla="val 12000"/>
            </a:avLst>
          </a:prstGeom>
          <a:solidFill>
            <a:srgbClr val="EEF4F4"/>
          </a:solidFill>
          <a:ln w="15875">
            <a:solidFill>
              <a:srgbClr val="C9821F"/>
            </a:solidFill>
            <a:prstDash val="solid"/>
          </a:ln>
        </p:spPr>
      </p:sp>
      <p:sp>
        <p:nvSpPr>
          <p:cNvPr id="25" name="Text 23"/>
          <p:cNvSpPr txBox="1"/>
          <p:nvPr/>
        </p:nvSpPr>
        <p:spPr>
          <a:xfrm>
            <a:off x="9144000" y="2423160"/>
            <a:ext cx="1005840" cy="457200"/>
          </a:xfrm>
          <a:prstGeom prst="rect">
            <a:avLst/>
          </a:prstGeom>
          <a:noFill/>
          <a:ln/>
        </p:spPr>
        <p:txBody>
          <a:bodyPr wrap="square" lIns="0" tIns="0" rIns="0" bIns="0" rtlCol="0" anchor="ctr"/>
          <a:lstStyle/>
          <a:p>
            <a:pPr marL="0" indent="0" algn="ctr">
              <a:buNone/>
            </a:pPr>
            <a:r>
              <a:rPr lang="en-US" sz="1000" b="1" dirty="0">
                <a:solidFill>
                  <a:srgbClr val="C9821F"/>
                </a:solidFill>
                <a:latin typeface="Poppins" pitchFamily="34" charset="0"/>
                <a:ea typeface="Poppins" pitchFamily="34" charset="-122"/>
                <a:cs typeface="Poppins" pitchFamily="34" charset="-120"/>
              </a:rPr>
              <a:t>routes</a:t>
            </a:r>
            <a:endParaRPr lang="en-US" sz="1000" dirty="0"/>
          </a:p>
        </p:txBody>
      </p:sp>
      <p:sp>
        <p:nvSpPr>
          <p:cNvPr id="26" name="Shape 24"/>
          <p:cNvSpPr/>
          <p:nvPr/>
        </p:nvSpPr>
        <p:spPr>
          <a:xfrm>
            <a:off x="6720840" y="2880360"/>
            <a:ext cx="1051560" cy="365760"/>
          </a:xfrm>
          <a:prstGeom prst="line">
            <a:avLst/>
          </a:prstGeom>
          <a:noFill/>
          <a:ln w="25400">
            <a:solidFill>
              <a:srgbClr val="C9821F"/>
            </a:solidFill>
            <a:prstDash val="solid"/>
            <a:headEnd type="triangle"/>
            <a:tailEnd type="triangle"/>
          </a:ln>
        </p:spPr>
      </p:sp>
      <p:sp>
        <p:nvSpPr>
          <p:cNvPr id="27" name="Shape 25"/>
          <p:cNvSpPr/>
          <p:nvPr/>
        </p:nvSpPr>
        <p:spPr>
          <a:xfrm>
            <a:off x="8686800" y="2880360"/>
            <a:ext cx="960120" cy="365760"/>
          </a:xfrm>
          <a:prstGeom prst="line">
            <a:avLst/>
          </a:prstGeom>
          <a:noFill/>
          <a:ln w="25400">
            <a:solidFill>
              <a:srgbClr val="C9821F"/>
            </a:solidFill>
            <a:prstDash val="solid"/>
            <a:headEnd type="triangle"/>
            <a:tailEnd type="triangle"/>
          </a:ln>
        </p:spPr>
      </p:sp>
      <p:sp>
        <p:nvSpPr>
          <p:cNvPr id="28" name="Shape 26"/>
          <p:cNvSpPr/>
          <p:nvPr/>
        </p:nvSpPr>
        <p:spPr>
          <a:xfrm>
            <a:off x="685800" y="4343400"/>
            <a:ext cx="9829800" cy="1417320"/>
          </a:xfrm>
          <a:prstGeom prst="roundRect">
            <a:avLst>
              <a:gd name="adj" fmla="val 5806"/>
            </a:avLst>
          </a:prstGeom>
          <a:solidFill>
            <a:srgbClr val="FBF3E6"/>
          </a:solidFill>
          <a:ln/>
        </p:spPr>
      </p:sp>
      <p:sp>
        <p:nvSpPr>
          <p:cNvPr id="29" name="Shape 27"/>
          <p:cNvSpPr/>
          <p:nvPr/>
        </p:nvSpPr>
        <p:spPr>
          <a:xfrm>
            <a:off x="685800" y="4343400"/>
            <a:ext cx="68580" cy="1417320"/>
          </a:xfrm>
          <a:prstGeom prst="rect">
            <a:avLst/>
          </a:prstGeom>
          <a:solidFill>
            <a:srgbClr val="C9821F"/>
          </a:solidFill>
          <a:ln/>
        </p:spPr>
      </p:sp>
      <p:sp>
        <p:nvSpPr>
          <p:cNvPr id="30" name="Text 28"/>
          <p:cNvSpPr txBox="1"/>
          <p:nvPr/>
        </p:nvSpPr>
        <p:spPr>
          <a:xfrm>
            <a:off x="1097280" y="4480560"/>
            <a:ext cx="9189720" cy="1188720"/>
          </a:xfrm>
          <a:prstGeom prst="rect">
            <a:avLst/>
          </a:prstGeom>
          <a:noFill/>
          <a:ln/>
        </p:spPr>
        <p:txBody>
          <a:bodyPr wrap="square" lIns="0" tIns="0" rIns="0" bIns="0" rtlCol="0" anchor="t"/>
          <a:lstStyle/>
          <a:p>
            <a:pPr marL="0" indent="0" algn="l">
              <a:lnSpc>
                <a:spcPct val="128000"/>
              </a:lnSpc>
              <a:buNone/>
            </a:pPr>
            <a:r>
              <a:rPr lang="en-US" sz="1300" dirty="0">
                <a:solidFill>
                  <a:srgbClr val="6E4A10"/>
                </a:solidFill>
                <a:latin typeface="Poppins" pitchFamily="34" charset="0"/>
                <a:ea typeface="Poppins" pitchFamily="34" charset="-122"/>
                <a:cs typeface="Poppins" pitchFamily="34" charset="-120"/>
              </a:rPr>
              <a:t>Setting cross-filter to Both lets filters travel back up from the fact into the dimension, then across into other dimensions. It solves the problem you were poking at and creates ambiguity everywhere else, because Power BI can now reach the same table by more than one path and has to pick one.</a:t>
            </a:r>
            <a:endParaRPr lang="en-US" sz="1300" dirty="0"/>
          </a:p>
          <a:p>
            <a:pPr marL="0" indent="0" algn="l">
              <a:lnSpc>
                <a:spcPct val="128000"/>
              </a:lnSpc>
              <a:buNone/>
            </a:pPr>
            <a:endParaRPr lang="en-US" sz="1300" dirty="0"/>
          </a:p>
          <a:p>
            <a:pPr marL="0" indent="0" algn="l">
              <a:lnSpc>
                <a:spcPct val="128000"/>
              </a:lnSpc>
              <a:buNone/>
            </a:pPr>
            <a:r>
              <a:rPr lang="en-US" sz="1300" dirty="0">
                <a:solidFill>
                  <a:srgbClr val="6E4A10"/>
                </a:solidFill>
                <a:latin typeface="Poppins" pitchFamily="34" charset="0"/>
                <a:ea typeface="Poppins" pitchFamily="34" charset="-122"/>
                <a:cs typeface="Poppins" pitchFamily="34" charset="-120"/>
              </a:rPr>
              <a:t>The symptom appears weeks later, in a different visual, as a number that is quietly wrong.</a:t>
            </a:r>
            <a:endParaRPr lang="en-US" sz="1300" dirty="0"/>
          </a:p>
        </p:txBody>
      </p:sp>
      <p:pic>
        <p:nvPicPr>
          <p:cNvPr id="31"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32" name="Text 29"/>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marL="0" indent="0">
              <a:lnSpc>
                <a:spcPct val="108000"/>
              </a:lnSpc>
              <a:buNone/>
            </a:pPr>
            <a:r>
              <a:rPr lang="en-US" sz="2400" dirty="0">
                <a:solidFill>
                  <a:srgbClr val="387F7F"/>
                </a:solidFill>
                <a:latin typeface="Poppins" pitchFamily="34" charset="0"/>
                <a:ea typeface="Poppins" pitchFamily="34" charset="-122"/>
                <a:cs typeface="Poppins" pitchFamily="34" charset="-120"/>
              </a:rPr>
              <a:t>Every model needs a date table. Yours already has one.</a:t>
            </a:r>
            <a:endParaRPr lang="en-US" sz="2400" dirty="0"/>
          </a:p>
        </p:txBody>
      </p:sp>
      <p:sp>
        <p:nvSpPr>
          <p:cNvPr id="6" name="Shape 4"/>
          <p:cNvSpPr/>
          <p:nvPr/>
        </p:nvSpPr>
        <p:spPr>
          <a:xfrm>
            <a:off x="685800" y="1691640"/>
            <a:ext cx="3017520" cy="2743200"/>
          </a:xfrm>
          <a:prstGeom prst="roundRect">
            <a:avLst>
              <a:gd name="adj" fmla="val 3333"/>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91640"/>
            <a:ext cx="3017520" cy="502920"/>
          </a:xfrm>
          <a:prstGeom prst="rect">
            <a:avLst/>
          </a:prstGeom>
          <a:solidFill>
            <a:srgbClr val="387F7F"/>
          </a:solidFill>
          <a:ln/>
        </p:spPr>
      </p:sp>
      <p:sp>
        <p:nvSpPr>
          <p:cNvPr id="8" name="Text 6"/>
          <p:cNvSpPr txBox="1"/>
          <p:nvPr/>
        </p:nvSpPr>
        <p:spPr>
          <a:xfrm>
            <a:off x="685800" y="1691640"/>
            <a:ext cx="30175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dates.csv  ·  365 rows</a:t>
            </a:r>
            <a:endParaRPr lang="en-US" sz="1200" dirty="0"/>
          </a:p>
        </p:txBody>
      </p:sp>
      <p:sp>
        <p:nvSpPr>
          <p:cNvPr id="9" name="Shape 7"/>
          <p:cNvSpPr/>
          <p:nvPr/>
        </p:nvSpPr>
        <p:spPr>
          <a:xfrm>
            <a:off x="914400" y="2377440"/>
            <a:ext cx="283464" cy="301752"/>
          </a:xfrm>
          <a:prstGeom prst="roundRect">
            <a:avLst>
              <a:gd name="adj" fmla="val 12903"/>
            </a:avLst>
          </a:prstGeom>
          <a:solidFill>
            <a:srgbClr val="EEF4F4"/>
          </a:solidFill>
          <a:ln/>
        </p:spPr>
      </p:sp>
      <p:sp>
        <p:nvSpPr>
          <p:cNvPr id="10" name="Shape 8"/>
          <p:cNvSpPr/>
          <p:nvPr/>
        </p:nvSpPr>
        <p:spPr>
          <a:xfrm>
            <a:off x="1280160" y="2377440"/>
            <a:ext cx="283464" cy="301752"/>
          </a:xfrm>
          <a:prstGeom prst="roundRect">
            <a:avLst>
              <a:gd name="adj" fmla="val 12903"/>
            </a:avLst>
          </a:prstGeom>
          <a:solidFill>
            <a:srgbClr val="EEF4F4"/>
          </a:solidFill>
          <a:ln/>
        </p:spPr>
      </p:sp>
      <p:sp>
        <p:nvSpPr>
          <p:cNvPr id="11" name="Shape 9"/>
          <p:cNvSpPr/>
          <p:nvPr/>
        </p:nvSpPr>
        <p:spPr>
          <a:xfrm>
            <a:off x="1645920" y="2377440"/>
            <a:ext cx="283464" cy="301752"/>
          </a:xfrm>
          <a:prstGeom prst="roundRect">
            <a:avLst>
              <a:gd name="adj" fmla="val 12903"/>
            </a:avLst>
          </a:prstGeom>
          <a:solidFill>
            <a:srgbClr val="EEF4F4"/>
          </a:solidFill>
          <a:ln/>
        </p:spPr>
      </p:sp>
      <p:sp>
        <p:nvSpPr>
          <p:cNvPr id="12" name="Shape 10"/>
          <p:cNvSpPr/>
          <p:nvPr/>
        </p:nvSpPr>
        <p:spPr>
          <a:xfrm>
            <a:off x="2011680" y="2377440"/>
            <a:ext cx="283464" cy="301752"/>
          </a:xfrm>
          <a:prstGeom prst="roundRect">
            <a:avLst>
              <a:gd name="adj" fmla="val 12903"/>
            </a:avLst>
          </a:prstGeom>
          <a:solidFill>
            <a:srgbClr val="EEF4F4"/>
          </a:solidFill>
          <a:ln/>
        </p:spPr>
      </p:sp>
      <p:sp>
        <p:nvSpPr>
          <p:cNvPr id="13" name="Shape 11"/>
          <p:cNvSpPr/>
          <p:nvPr/>
        </p:nvSpPr>
        <p:spPr>
          <a:xfrm>
            <a:off x="2377440" y="2377440"/>
            <a:ext cx="283464" cy="301752"/>
          </a:xfrm>
          <a:prstGeom prst="roundRect">
            <a:avLst>
              <a:gd name="adj" fmla="val 12903"/>
            </a:avLst>
          </a:prstGeom>
          <a:solidFill>
            <a:srgbClr val="EEF4F4"/>
          </a:solidFill>
          <a:ln/>
        </p:spPr>
      </p:sp>
      <p:sp>
        <p:nvSpPr>
          <p:cNvPr id="14" name="Shape 12"/>
          <p:cNvSpPr/>
          <p:nvPr/>
        </p:nvSpPr>
        <p:spPr>
          <a:xfrm>
            <a:off x="2743200" y="2377440"/>
            <a:ext cx="283464" cy="301752"/>
          </a:xfrm>
          <a:prstGeom prst="roundRect">
            <a:avLst>
              <a:gd name="adj" fmla="val 12903"/>
            </a:avLst>
          </a:prstGeom>
          <a:solidFill>
            <a:srgbClr val="EEF4F4"/>
          </a:solidFill>
          <a:ln/>
        </p:spPr>
      </p:sp>
      <p:sp>
        <p:nvSpPr>
          <p:cNvPr id="15" name="Shape 13"/>
          <p:cNvSpPr/>
          <p:nvPr/>
        </p:nvSpPr>
        <p:spPr>
          <a:xfrm>
            <a:off x="3108960" y="2377440"/>
            <a:ext cx="283464" cy="301752"/>
          </a:xfrm>
          <a:prstGeom prst="roundRect">
            <a:avLst>
              <a:gd name="adj" fmla="val 12903"/>
            </a:avLst>
          </a:prstGeom>
          <a:solidFill>
            <a:srgbClr val="EEF4F4"/>
          </a:solidFill>
          <a:ln/>
        </p:spPr>
      </p:sp>
      <p:sp>
        <p:nvSpPr>
          <p:cNvPr id="16" name="Shape 14"/>
          <p:cNvSpPr/>
          <p:nvPr/>
        </p:nvSpPr>
        <p:spPr>
          <a:xfrm>
            <a:off x="914400" y="2761488"/>
            <a:ext cx="283464" cy="301752"/>
          </a:xfrm>
          <a:prstGeom prst="roundRect">
            <a:avLst>
              <a:gd name="adj" fmla="val 12903"/>
            </a:avLst>
          </a:prstGeom>
          <a:solidFill>
            <a:srgbClr val="EEF4F4"/>
          </a:solidFill>
          <a:ln/>
        </p:spPr>
      </p:sp>
      <p:sp>
        <p:nvSpPr>
          <p:cNvPr id="17" name="Shape 15"/>
          <p:cNvSpPr/>
          <p:nvPr/>
        </p:nvSpPr>
        <p:spPr>
          <a:xfrm>
            <a:off x="1280160" y="2761488"/>
            <a:ext cx="283464" cy="301752"/>
          </a:xfrm>
          <a:prstGeom prst="roundRect">
            <a:avLst>
              <a:gd name="adj" fmla="val 12903"/>
            </a:avLst>
          </a:prstGeom>
          <a:solidFill>
            <a:srgbClr val="EEF4F4"/>
          </a:solidFill>
          <a:ln/>
        </p:spPr>
      </p:sp>
      <p:sp>
        <p:nvSpPr>
          <p:cNvPr id="18" name="Shape 16"/>
          <p:cNvSpPr/>
          <p:nvPr/>
        </p:nvSpPr>
        <p:spPr>
          <a:xfrm>
            <a:off x="1645920" y="2761488"/>
            <a:ext cx="283464" cy="301752"/>
          </a:xfrm>
          <a:prstGeom prst="roundRect">
            <a:avLst>
              <a:gd name="adj" fmla="val 12903"/>
            </a:avLst>
          </a:prstGeom>
          <a:solidFill>
            <a:srgbClr val="EEF4F4"/>
          </a:solidFill>
          <a:ln/>
        </p:spPr>
      </p:sp>
      <p:sp>
        <p:nvSpPr>
          <p:cNvPr id="19" name="Shape 17"/>
          <p:cNvSpPr/>
          <p:nvPr/>
        </p:nvSpPr>
        <p:spPr>
          <a:xfrm>
            <a:off x="2011680" y="2761488"/>
            <a:ext cx="283464" cy="301752"/>
          </a:xfrm>
          <a:prstGeom prst="roundRect">
            <a:avLst>
              <a:gd name="adj" fmla="val 12903"/>
            </a:avLst>
          </a:prstGeom>
          <a:solidFill>
            <a:srgbClr val="387F7F"/>
          </a:solidFill>
          <a:ln/>
        </p:spPr>
      </p:sp>
      <p:sp>
        <p:nvSpPr>
          <p:cNvPr id="20" name="Shape 18"/>
          <p:cNvSpPr/>
          <p:nvPr/>
        </p:nvSpPr>
        <p:spPr>
          <a:xfrm>
            <a:off x="2377440" y="2761488"/>
            <a:ext cx="283464" cy="301752"/>
          </a:xfrm>
          <a:prstGeom prst="roundRect">
            <a:avLst>
              <a:gd name="adj" fmla="val 12903"/>
            </a:avLst>
          </a:prstGeom>
          <a:solidFill>
            <a:srgbClr val="EEF4F4"/>
          </a:solidFill>
          <a:ln/>
        </p:spPr>
      </p:sp>
      <p:sp>
        <p:nvSpPr>
          <p:cNvPr id="21" name="Shape 19"/>
          <p:cNvSpPr/>
          <p:nvPr/>
        </p:nvSpPr>
        <p:spPr>
          <a:xfrm>
            <a:off x="2743200" y="2761488"/>
            <a:ext cx="283464" cy="301752"/>
          </a:xfrm>
          <a:prstGeom prst="roundRect">
            <a:avLst>
              <a:gd name="adj" fmla="val 12903"/>
            </a:avLst>
          </a:prstGeom>
          <a:solidFill>
            <a:srgbClr val="EEF4F4"/>
          </a:solidFill>
          <a:ln/>
        </p:spPr>
      </p:sp>
      <p:sp>
        <p:nvSpPr>
          <p:cNvPr id="22" name="Shape 20"/>
          <p:cNvSpPr/>
          <p:nvPr/>
        </p:nvSpPr>
        <p:spPr>
          <a:xfrm>
            <a:off x="3108960" y="2761488"/>
            <a:ext cx="283464" cy="301752"/>
          </a:xfrm>
          <a:prstGeom prst="roundRect">
            <a:avLst>
              <a:gd name="adj" fmla="val 12903"/>
            </a:avLst>
          </a:prstGeom>
          <a:solidFill>
            <a:srgbClr val="EEF4F4"/>
          </a:solidFill>
          <a:ln/>
        </p:spPr>
      </p:sp>
      <p:sp>
        <p:nvSpPr>
          <p:cNvPr id="23" name="Shape 21"/>
          <p:cNvSpPr/>
          <p:nvPr/>
        </p:nvSpPr>
        <p:spPr>
          <a:xfrm>
            <a:off x="914400" y="3145536"/>
            <a:ext cx="283464" cy="301752"/>
          </a:xfrm>
          <a:prstGeom prst="roundRect">
            <a:avLst>
              <a:gd name="adj" fmla="val 12903"/>
            </a:avLst>
          </a:prstGeom>
          <a:solidFill>
            <a:srgbClr val="EEF4F4"/>
          </a:solidFill>
          <a:ln/>
        </p:spPr>
      </p:sp>
      <p:sp>
        <p:nvSpPr>
          <p:cNvPr id="24" name="Shape 22"/>
          <p:cNvSpPr/>
          <p:nvPr/>
        </p:nvSpPr>
        <p:spPr>
          <a:xfrm>
            <a:off x="1280160" y="3145536"/>
            <a:ext cx="283464" cy="301752"/>
          </a:xfrm>
          <a:prstGeom prst="roundRect">
            <a:avLst>
              <a:gd name="adj" fmla="val 12903"/>
            </a:avLst>
          </a:prstGeom>
          <a:solidFill>
            <a:srgbClr val="EEF4F4"/>
          </a:solidFill>
          <a:ln/>
        </p:spPr>
      </p:sp>
      <p:sp>
        <p:nvSpPr>
          <p:cNvPr id="25" name="Shape 23"/>
          <p:cNvSpPr/>
          <p:nvPr/>
        </p:nvSpPr>
        <p:spPr>
          <a:xfrm>
            <a:off x="1645920" y="3145536"/>
            <a:ext cx="283464" cy="301752"/>
          </a:xfrm>
          <a:prstGeom prst="roundRect">
            <a:avLst>
              <a:gd name="adj" fmla="val 12903"/>
            </a:avLst>
          </a:prstGeom>
          <a:solidFill>
            <a:srgbClr val="EEF4F4"/>
          </a:solidFill>
          <a:ln/>
        </p:spPr>
      </p:sp>
      <p:sp>
        <p:nvSpPr>
          <p:cNvPr id="26" name="Shape 24"/>
          <p:cNvSpPr/>
          <p:nvPr/>
        </p:nvSpPr>
        <p:spPr>
          <a:xfrm>
            <a:off x="2011680" y="3145536"/>
            <a:ext cx="283464" cy="301752"/>
          </a:xfrm>
          <a:prstGeom prst="roundRect">
            <a:avLst>
              <a:gd name="adj" fmla="val 12903"/>
            </a:avLst>
          </a:prstGeom>
          <a:solidFill>
            <a:srgbClr val="EEF4F4"/>
          </a:solidFill>
          <a:ln/>
        </p:spPr>
      </p:sp>
      <p:sp>
        <p:nvSpPr>
          <p:cNvPr id="27" name="Shape 25"/>
          <p:cNvSpPr/>
          <p:nvPr/>
        </p:nvSpPr>
        <p:spPr>
          <a:xfrm>
            <a:off x="2377440" y="3145536"/>
            <a:ext cx="283464" cy="301752"/>
          </a:xfrm>
          <a:prstGeom prst="roundRect">
            <a:avLst>
              <a:gd name="adj" fmla="val 12903"/>
            </a:avLst>
          </a:prstGeom>
          <a:solidFill>
            <a:srgbClr val="EEF4F4"/>
          </a:solidFill>
          <a:ln/>
        </p:spPr>
      </p:sp>
      <p:sp>
        <p:nvSpPr>
          <p:cNvPr id="28" name="Shape 26"/>
          <p:cNvSpPr/>
          <p:nvPr/>
        </p:nvSpPr>
        <p:spPr>
          <a:xfrm>
            <a:off x="2743200" y="3145536"/>
            <a:ext cx="283464" cy="301752"/>
          </a:xfrm>
          <a:prstGeom prst="roundRect">
            <a:avLst>
              <a:gd name="adj" fmla="val 12903"/>
            </a:avLst>
          </a:prstGeom>
          <a:solidFill>
            <a:srgbClr val="EEF4F4"/>
          </a:solidFill>
          <a:ln/>
        </p:spPr>
      </p:sp>
      <p:sp>
        <p:nvSpPr>
          <p:cNvPr id="29" name="Shape 27"/>
          <p:cNvSpPr/>
          <p:nvPr/>
        </p:nvSpPr>
        <p:spPr>
          <a:xfrm>
            <a:off x="3108960" y="3145536"/>
            <a:ext cx="283464" cy="301752"/>
          </a:xfrm>
          <a:prstGeom prst="roundRect">
            <a:avLst>
              <a:gd name="adj" fmla="val 12903"/>
            </a:avLst>
          </a:prstGeom>
          <a:solidFill>
            <a:srgbClr val="EEF4F4"/>
          </a:solidFill>
          <a:ln/>
        </p:spPr>
      </p:sp>
      <p:sp>
        <p:nvSpPr>
          <p:cNvPr id="30" name="Shape 28"/>
          <p:cNvSpPr/>
          <p:nvPr/>
        </p:nvSpPr>
        <p:spPr>
          <a:xfrm>
            <a:off x="914400" y="3529584"/>
            <a:ext cx="283464" cy="301752"/>
          </a:xfrm>
          <a:prstGeom prst="roundRect">
            <a:avLst>
              <a:gd name="adj" fmla="val 12903"/>
            </a:avLst>
          </a:prstGeom>
          <a:solidFill>
            <a:srgbClr val="EEF4F4"/>
          </a:solidFill>
          <a:ln/>
        </p:spPr>
      </p:sp>
      <p:sp>
        <p:nvSpPr>
          <p:cNvPr id="31" name="Shape 29"/>
          <p:cNvSpPr/>
          <p:nvPr/>
        </p:nvSpPr>
        <p:spPr>
          <a:xfrm>
            <a:off x="1280160" y="3529584"/>
            <a:ext cx="283464" cy="301752"/>
          </a:xfrm>
          <a:prstGeom prst="roundRect">
            <a:avLst>
              <a:gd name="adj" fmla="val 12903"/>
            </a:avLst>
          </a:prstGeom>
          <a:solidFill>
            <a:srgbClr val="EEF4F4"/>
          </a:solidFill>
          <a:ln/>
        </p:spPr>
      </p:sp>
      <p:sp>
        <p:nvSpPr>
          <p:cNvPr id="32" name="Shape 30"/>
          <p:cNvSpPr/>
          <p:nvPr/>
        </p:nvSpPr>
        <p:spPr>
          <a:xfrm>
            <a:off x="1645920" y="3529584"/>
            <a:ext cx="283464" cy="301752"/>
          </a:xfrm>
          <a:prstGeom prst="roundRect">
            <a:avLst>
              <a:gd name="adj" fmla="val 12903"/>
            </a:avLst>
          </a:prstGeom>
          <a:solidFill>
            <a:srgbClr val="EEF4F4"/>
          </a:solidFill>
          <a:ln/>
        </p:spPr>
      </p:sp>
      <p:sp>
        <p:nvSpPr>
          <p:cNvPr id="33" name="Shape 31"/>
          <p:cNvSpPr/>
          <p:nvPr/>
        </p:nvSpPr>
        <p:spPr>
          <a:xfrm>
            <a:off x="2011680" y="3529584"/>
            <a:ext cx="283464" cy="301752"/>
          </a:xfrm>
          <a:prstGeom prst="roundRect">
            <a:avLst>
              <a:gd name="adj" fmla="val 12903"/>
            </a:avLst>
          </a:prstGeom>
          <a:solidFill>
            <a:srgbClr val="EEF4F4"/>
          </a:solidFill>
          <a:ln/>
        </p:spPr>
      </p:sp>
      <p:sp>
        <p:nvSpPr>
          <p:cNvPr id="34" name="Shape 32"/>
          <p:cNvSpPr/>
          <p:nvPr/>
        </p:nvSpPr>
        <p:spPr>
          <a:xfrm>
            <a:off x="2377440" y="3529584"/>
            <a:ext cx="283464" cy="301752"/>
          </a:xfrm>
          <a:prstGeom prst="roundRect">
            <a:avLst>
              <a:gd name="adj" fmla="val 12903"/>
            </a:avLst>
          </a:prstGeom>
          <a:solidFill>
            <a:srgbClr val="EEF4F4"/>
          </a:solidFill>
          <a:ln/>
        </p:spPr>
      </p:sp>
      <p:sp>
        <p:nvSpPr>
          <p:cNvPr id="35" name="Shape 33"/>
          <p:cNvSpPr/>
          <p:nvPr/>
        </p:nvSpPr>
        <p:spPr>
          <a:xfrm>
            <a:off x="2743200" y="3529584"/>
            <a:ext cx="283464" cy="301752"/>
          </a:xfrm>
          <a:prstGeom prst="roundRect">
            <a:avLst>
              <a:gd name="adj" fmla="val 12903"/>
            </a:avLst>
          </a:prstGeom>
          <a:solidFill>
            <a:srgbClr val="EEF4F4"/>
          </a:solidFill>
          <a:ln/>
        </p:spPr>
      </p:sp>
      <p:sp>
        <p:nvSpPr>
          <p:cNvPr id="36" name="Shape 34"/>
          <p:cNvSpPr/>
          <p:nvPr/>
        </p:nvSpPr>
        <p:spPr>
          <a:xfrm>
            <a:off x="3108960" y="3529584"/>
            <a:ext cx="283464" cy="301752"/>
          </a:xfrm>
          <a:prstGeom prst="roundRect">
            <a:avLst>
              <a:gd name="adj" fmla="val 12903"/>
            </a:avLst>
          </a:prstGeom>
          <a:solidFill>
            <a:srgbClr val="EEF4F4"/>
          </a:solidFill>
          <a:ln/>
        </p:spPr>
      </p:sp>
      <p:sp>
        <p:nvSpPr>
          <p:cNvPr id="37" name="Text 35"/>
          <p:cNvSpPr txBox="1"/>
          <p:nvPr/>
        </p:nvSpPr>
        <p:spPr>
          <a:xfrm>
            <a:off x="822960" y="3931920"/>
            <a:ext cx="2743200" cy="411480"/>
          </a:xfrm>
          <a:prstGeom prst="rect">
            <a:avLst/>
          </a:prstGeom>
          <a:noFill/>
          <a:ln/>
        </p:spPr>
        <p:txBody>
          <a:bodyPr wrap="square" lIns="0" tIns="0" rIns="0" bIns="0" rtlCol="0" anchor="ctr"/>
          <a:lstStyle/>
          <a:p>
            <a:pPr marL="0" indent="0" algn="ctr">
              <a:lnSpc>
                <a:spcPct val="120000"/>
              </a:lnSpc>
              <a:buNone/>
            </a:pPr>
            <a:r>
              <a:rPr lang="en-US" sz="950" dirty="0">
                <a:solidFill>
                  <a:srgbClr val="64748B"/>
                </a:solidFill>
                <a:latin typeface="Poppins" pitchFamily="34" charset="0"/>
                <a:ea typeface="Poppins" pitchFamily="34" charset="-122"/>
                <a:cs typeface="Poppins" pitchFamily="34" charset="-120"/>
              </a:rPr>
              <a:t>Year · Quarter · MonthName · WeekNumber · IsWeekday</a:t>
            </a:r>
            <a:endParaRPr lang="en-US" sz="950" dirty="0"/>
          </a:p>
        </p:txBody>
      </p:sp>
      <p:sp>
        <p:nvSpPr>
          <p:cNvPr id="38" name="Text 36"/>
          <p:cNvSpPr txBox="1"/>
          <p:nvPr/>
        </p:nvSpPr>
        <p:spPr>
          <a:xfrm>
            <a:off x="4114800" y="1783080"/>
            <a:ext cx="6400800" cy="2194560"/>
          </a:xfrm>
          <a:prstGeom prst="rect">
            <a:avLst/>
          </a:prstGeom>
          <a:noFill/>
          <a:ln/>
        </p:spPr>
        <p:txBody>
          <a:bodyPr wrap="square" lIns="0" tIns="0" rIns="0" bIns="0" rtlCol="0" anchor="t"/>
          <a:lstStyle/>
          <a:p>
            <a:pPr marL="0" indent="0" algn="l">
              <a:lnSpc>
                <a:spcPct val="135000"/>
              </a:lnSpc>
              <a:buNone/>
            </a:pPr>
            <a:r>
              <a:rPr lang="en-US" sz="1500" dirty="0">
                <a:solidFill>
                  <a:srgbClr val="475569"/>
                </a:solidFill>
                <a:latin typeface="Poppins" pitchFamily="34" charset="0"/>
                <a:ea typeface="Poppins" pitchFamily="34" charset="-122"/>
                <a:cs typeface="Poppins" pitchFamily="34" charset="-120"/>
              </a:rPr>
              <a:t>It looks redundant, because deliveries already has a date column. It is not.</a:t>
            </a:r>
            <a:endParaRPr lang="en-US" sz="1500" dirty="0"/>
          </a:p>
          <a:p>
            <a:pPr marL="0" indent="0" algn="l">
              <a:lnSpc>
                <a:spcPct val="135000"/>
              </a:lnSpc>
              <a:buNone/>
            </a:pPr>
            <a:endParaRPr lang="en-US" sz="1500" dirty="0"/>
          </a:p>
          <a:p>
            <a:pPr marL="0" indent="0" algn="l">
              <a:lnSpc>
                <a:spcPct val="135000"/>
              </a:lnSpc>
              <a:buNone/>
            </a:pPr>
            <a:r>
              <a:rPr lang="en-US" sz="1500" dirty="0">
                <a:solidFill>
                  <a:srgbClr val="475569"/>
                </a:solidFill>
                <a:latin typeface="Poppins" pitchFamily="34" charset="0"/>
                <a:ea typeface="Poppins" pitchFamily="34" charset="-122"/>
                <a:cs typeface="Poppins" pitchFamily="34" charset="-120"/>
              </a:rPr>
              <a:t>A dimension table for dates is what lets you say “compare this month with the same month last year” in a single measure. Without it, every time comparison becomes a hand-built filter, and the CALCULATE example in the next topic does not work at all.</a:t>
            </a:r>
            <a:endParaRPr lang="en-US" sz="1500" dirty="0"/>
          </a:p>
        </p:txBody>
      </p:sp>
      <p:sp>
        <p:nvSpPr>
          <p:cNvPr id="39" name="Shape 37"/>
          <p:cNvSpPr/>
          <p:nvPr/>
        </p:nvSpPr>
        <p:spPr>
          <a:xfrm>
            <a:off x="4114800" y="4023360"/>
            <a:ext cx="6400800" cy="868680"/>
          </a:xfrm>
          <a:prstGeom prst="roundRect">
            <a:avLst>
              <a:gd name="adj" fmla="val 9474"/>
            </a:avLst>
          </a:prstGeom>
          <a:solidFill>
            <a:srgbClr val="FFFFFF"/>
          </a:solidFill>
          <a:ln/>
        </p:spPr>
      </p:sp>
      <p:sp>
        <p:nvSpPr>
          <p:cNvPr id="40" name="Shape 38"/>
          <p:cNvSpPr/>
          <p:nvPr/>
        </p:nvSpPr>
        <p:spPr>
          <a:xfrm>
            <a:off x="4114800" y="4023360"/>
            <a:ext cx="68580" cy="868680"/>
          </a:xfrm>
          <a:prstGeom prst="rect">
            <a:avLst/>
          </a:prstGeom>
          <a:solidFill>
            <a:srgbClr val="387F7F"/>
          </a:solidFill>
          <a:ln/>
        </p:spPr>
      </p:sp>
      <p:sp>
        <p:nvSpPr>
          <p:cNvPr id="41" name="Shape 39"/>
          <p:cNvSpPr/>
          <p:nvPr/>
        </p:nvSpPr>
        <p:spPr>
          <a:xfrm>
            <a:off x="4343400" y="4224528"/>
            <a:ext cx="457200" cy="457200"/>
          </a:xfrm>
          <a:prstGeom prst="ellipse">
            <a:avLst/>
          </a:prstGeom>
          <a:solidFill>
            <a:srgbClr val="387F7F"/>
          </a:solidFill>
          <a:ln/>
        </p:spPr>
      </p:sp>
      <p:sp>
        <p:nvSpPr>
          <p:cNvPr id="42" name="Text 40"/>
          <p:cNvSpPr txBox="1"/>
          <p:nvPr/>
        </p:nvSpPr>
        <p:spPr>
          <a:xfrm>
            <a:off x="4343400" y="4224528"/>
            <a:ext cx="45720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Poppins" pitchFamily="34" charset="0"/>
                <a:ea typeface="Poppins" pitchFamily="34" charset="-122"/>
                <a:cs typeface="Poppins" pitchFamily="34" charset="-120"/>
              </a:rPr>
              <a:t>✓</a:t>
            </a:r>
            <a:endParaRPr lang="en-US" sz="1900" dirty="0"/>
          </a:p>
        </p:txBody>
      </p:sp>
      <p:sp>
        <p:nvSpPr>
          <p:cNvPr id="43" name="Text 41"/>
          <p:cNvSpPr txBox="1"/>
          <p:nvPr/>
        </p:nvSpPr>
        <p:spPr>
          <a:xfrm>
            <a:off x="4983480" y="4133088"/>
            <a:ext cx="5349240" cy="685800"/>
          </a:xfrm>
          <a:prstGeom prst="rect">
            <a:avLst/>
          </a:prstGeom>
          <a:noFill/>
          <a:ln/>
        </p:spPr>
        <p:txBody>
          <a:bodyPr wrap="square" lIns="0" tIns="0" rIns="0" bIns="0" rtlCol="0" anchor="t"/>
          <a:lstStyle/>
          <a:p>
            <a:pPr marL="0" indent="0" algn="l">
              <a:lnSpc>
                <a:spcPct val="125000"/>
              </a:lnSpc>
              <a:buNone/>
            </a:pPr>
            <a:r>
              <a:rPr lang="en-US" sz="1250" b="1" dirty="0">
                <a:solidFill>
                  <a:srgbClr val="387F7F"/>
                </a:solidFill>
                <a:latin typeface="Poppins" pitchFamily="34" charset="0"/>
                <a:ea typeface="Poppins" pitchFamily="34" charset="-122"/>
                <a:cs typeface="Poppins" pitchFamily="34" charset="-120"/>
              </a:rPr>
              <a:t>Table tools  ›  Mark as date table  ›  choose DateKey.</a:t>
            </a:r>
            <a:endParaRPr lang="en-US" sz="1250" dirty="0"/>
          </a:p>
          <a:p>
            <a:pPr marL="0" indent="0" algn="l">
              <a:lnSpc>
                <a:spcPct val="125000"/>
              </a:lnSpc>
              <a:buNone/>
            </a:pPr>
            <a:r>
              <a:rPr lang="en-US" sz="1250" b="1" dirty="0">
                <a:solidFill>
                  <a:srgbClr val="387F7F"/>
                </a:solidFill>
                <a:latin typeface="Poppins" pitchFamily="34" charset="0"/>
                <a:ea typeface="Poppins" pitchFamily="34" charset="-122"/>
                <a:cs typeface="Poppins" pitchFamily="34" charset="-120"/>
              </a:rPr>
              <a:t>Do this before you write any time-based measure.</a:t>
            </a:r>
            <a:endParaRPr lang="en-US" sz="1250" dirty="0"/>
          </a:p>
        </p:txBody>
      </p:sp>
      <p:sp>
        <p:nvSpPr>
          <p:cNvPr id="44" name="Shape 42"/>
          <p:cNvSpPr/>
          <p:nvPr/>
        </p:nvSpPr>
        <p:spPr>
          <a:xfrm>
            <a:off x="685800" y="5120640"/>
            <a:ext cx="9829800" cy="868680"/>
          </a:xfrm>
          <a:prstGeom prst="roundRect">
            <a:avLst>
              <a:gd name="adj" fmla="val 9474"/>
            </a:avLst>
          </a:prstGeom>
          <a:solidFill>
            <a:srgbClr val="EEF4F4"/>
          </a:solidFill>
          <a:ln/>
        </p:spPr>
      </p:sp>
      <p:sp>
        <p:nvSpPr>
          <p:cNvPr id="45" name="Shape 43"/>
          <p:cNvSpPr/>
          <p:nvPr/>
        </p:nvSpPr>
        <p:spPr>
          <a:xfrm>
            <a:off x="685800" y="5120640"/>
            <a:ext cx="68580" cy="868680"/>
          </a:xfrm>
          <a:prstGeom prst="rect">
            <a:avLst/>
          </a:prstGeom>
          <a:solidFill>
            <a:srgbClr val="387F7F"/>
          </a:solidFill>
          <a:ln/>
        </p:spPr>
      </p:sp>
      <p:sp>
        <p:nvSpPr>
          <p:cNvPr id="46" name="Text 44"/>
          <p:cNvSpPr txBox="1"/>
          <p:nvPr/>
        </p:nvSpPr>
        <p:spPr>
          <a:xfrm>
            <a:off x="1051560" y="5120640"/>
            <a:ext cx="9235440" cy="868680"/>
          </a:xfrm>
          <a:prstGeom prst="rect">
            <a:avLst/>
          </a:prstGeom>
          <a:noFill/>
          <a:ln/>
        </p:spPr>
        <p:txBody>
          <a:bodyPr wrap="square" lIns="0" tIns="0" rIns="0" bIns="0" rtlCol="0" anchor="ctr"/>
          <a:lstStyle/>
          <a:p>
            <a:pPr marL="0" indent="0" algn="l">
              <a:lnSpc>
                <a:spcPct val="135000"/>
              </a:lnSpc>
              <a:buNone/>
            </a:pPr>
            <a:r>
              <a:rPr lang="en-US" sz="1450" b="1" dirty="0">
                <a:solidFill>
                  <a:srgbClr val="387F7F"/>
                </a:solidFill>
                <a:latin typeface="Poppins" pitchFamily="34" charset="0"/>
                <a:ea typeface="Poppins" pitchFamily="34" charset="-122"/>
                <a:cs typeface="Poppins" pitchFamily="34" charset="-120"/>
              </a:rPr>
              <a:t>In about forty minutes you will write a measure that compares month on month, and it will be one line because of this table.</a:t>
            </a:r>
            <a:endParaRPr lang="en-US" sz="1450" dirty="0"/>
          </a:p>
        </p:txBody>
      </p:sp>
      <p:pic>
        <p:nvPicPr>
          <p:cNvPr id="47"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48" name="Text 45"/>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The same question, asked of a proper model</a:t>
            </a:r>
            <a:endParaRPr lang="en-US" sz="2700" dirty="0"/>
          </a:p>
        </p:txBody>
      </p:sp>
      <p:sp>
        <p:nvSpPr>
          <p:cNvPr id="6" name="Shape 4"/>
          <p:cNvSpPr/>
          <p:nvPr/>
        </p:nvSpPr>
        <p:spPr>
          <a:xfrm>
            <a:off x="685800" y="1554480"/>
            <a:ext cx="4709160" cy="2286000"/>
          </a:xfrm>
          <a:prstGeom prst="roundRect">
            <a:avLst>
              <a:gd name="adj" fmla="val 4000"/>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554480"/>
            <a:ext cx="4709160" cy="82296"/>
          </a:xfrm>
          <a:prstGeom prst="rect">
            <a:avLst/>
          </a:prstGeom>
          <a:solidFill>
            <a:srgbClr val="A8322D"/>
          </a:solidFill>
          <a:ln/>
        </p:spPr>
      </p:sp>
      <p:sp>
        <p:nvSpPr>
          <p:cNvPr id="8" name="Text 6"/>
          <p:cNvSpPr txBox="1"/>
          <p:nvPr/>
        </p:nvSpPr>
        <p:spPr>
          <a:xfrm>
            <a:off x="685800" y="1783080"/>
            <a:ext cx="4709160" cy="320040"/>
          </a:xfrm>
          <a:prstGeom prst="rect">
            <a:avLst/>
          </a:prstGeom>
          <a:noFill/>
          <a:ln/>
        </p:spPr>
        <p:txBody>
          <a:bodyPr wrap="square" lIns="0" tIns="0" rIns="0" bIns="0" rtlCol="0" anchor="ctr"/>
          <a:lstStyle/>
          <a:p>
            <a:pPr marL="0" indent="0" algn="ctr">
              <a:buNone/>
            </a:pPr>
            <a:r>
              <a:rPr lang="en-US" sz="1100" b="1" kern="0" spc="150" dirty="0">
                <a:solidFill>
                  <a:srgbClr val="A8322D"/>
                </a:solidFill>
                <a:latin typeface="Poppins" pitchFamily="34" charset="0"/>
                <a:ea typeface="Poppins" pitchFamily="34" charset="-122"/>
                <a:cs typeface="Poppins" pitchFamily="34" charset="-120"/>
              </a:rPr>
              <a:t>FLAT TABLE</a:t>
            </a:r>
            <a:endParaRPr lang="en-US" sz="1100" dirty="0"/>
          </a:p>
        </p:txBody>
      </p:sp>
      <p:sp>
        <p:nvSpPr>
          <p:cNvPr id="9" name="Text 7"/>
          <p:cNvSpPr txBox="1"/>
          <p:nvPr/>
        </p:nvSpPr>
        <p:spPr>
          <a:xfrm>
            <a:off x="685800" y="2148840"/>
            <a:ext cx="4709160" cy="1143000"/>
          </a:xfrm>
          <a:prstGeom prst="rect">
            <a:avLst/>
          </a:prstGeom>
          <a:noFill/>
          <a:ln/>
        </p:spPr>
        <p:txBody>
          <a:bodyPr wrap="square" lIns="0" tIns="0" rIns="0" bIns="0" rtlCol="0" anchor="ctr"/>
          <a:lstStyle/>
          <a:p>
            <a:pPr marL="0" indent="0" algn="ctr">
              <a:buNone/>
            </a:pPr>
            <a:r>
              <a:rPr lang="en-US" sz="5400" b="1" dirty="0">
                <a:solidFill>
                  <a:srgbClr val="A8322D"/>
                </a:solidFill>
                <a:latin typeface="Poppins" pitchFamily="34" charset="0"/>
                <a:ea typeface="Poppins" pitchFamily="34" charset="-122"/>
                <a:cs typeface="Poppins" pitchFamily="34" charset="-120"/>
              </a:rPr>
              <a:t>41,280</a:t>
            </a:r>
            <a:endParaRPr lang="en-US" sz="5400" dirty="0"/>
          </a:p>
        </p:txBody>
      </p:sp>
      <p:sp>
        <p:nvSpPr>
          <p:cNvPr id="10" name="Text 8"/>
          <p:cNvSpPr txBox="1"/>
          <p:nvPr/>
        </p:nvSpPr>
        <p:spPr>
          <a:xfrm>
            <a:off x="685800" y="3246120"/>
            <a:ext cx="4709160" cy="502920"/>
          </a:xfrm>
          <a:prstGeom prst="rect">
            <a:avLst/>
          </a:prstGeom>
          <a:noFill/>
          <a:ln/>
        </p:spPr>
        <p:txBody>
          <a:bodyPr wrap="square" lIns="0" tIns="0" rIns="0" bIns="0" rtlCol="0" anchor="ctr"/>
          <a:lstStyle/>
          <a:p>
            <a:pPr marL="0" indent="0" algn="ctr">
              <a:lnSpc>
                <a:spcPct val="120000"/>
              </a:lnSpc>
              <a:buNone/>
            </a:pPr>
            <a:r>
              <a:rPr lang="en-US" sz="1300" dirty="0">
                <a:solidFill>
                  <a:srgbClr val="64748B"/>
                </a:solidFill>
                <a:latin typeface="Poppins" pitchFamily="34" charset="0"/>
                <a:ea typeface="Poppins" pitchFamily="34" charset="-122"/>
                <a:cs typeface="Poppins" pitchFamily="34" charset="-120"/>
              </a:rPr>
              <a:t>Correct answer to a question nobody asked</a:t>
            </a:r>
            <a:endParaRPr lang="en-US" sz="1300" dirty="0"/>
          </a:p>
        </p:txBody>
      </p:sp>
      <p:sp>
        <p:nvSpPr>
          <p:cNvPr id="11" name="Shape 9"/>
          <p:cNvSpPr/>
          <p:nvPr/>
        </p:nvSpPr>
        <p:spPr>
          <a:xfrm>
            <a:off x="5806440" y="1554480"/>
            <a:ext cx="4709160" cy="2286000"/>
          </a:xfrm>
          <a:prstGeom prst="roundRect">
            <a:avLst>
              <a:gd name="adj" fmla="val 4000"/>
            </a:avLst>
          </a:prstGeom>
          <a:solidFill>
            <a:srgbClr val="FFFFFF"/>
          </a:solidFill>
          <a:ln/>
          <a:effectLst>
            <a:outerShdw blurRad="177800" dist="38100" dir="5400000" algn="bl" rotWithShape="0">
              <a:srgbClr val="1B2A2E">
                <a:alpha val="20000"/>
              </a:srgbClr>
            </a:outerShdw>
          </a:effectLst>
        </p:spPr>
      </p:sp>
      <p:sp>
        <p:nvSpPr>
          <p:cNvPr id="12" name="Shape 10"/>
          <p:cNvSpPr/>
          <p:nvPr/>
        </p:nvSpPr>
        <p:spPr>
          <a:xfrm>
            <a:off x="5806440" y="1554480"/>
            <a:ext cx="4709160" cy="82296"/>
          </a:xfrm>
          <a:prstGeom prst="rect">
            <a:avLst/>
          </a:prstGeom>
          <a:solidFill>
            <a:srgbClr val="387F7F"/>
          </a:solidFill>
          <a:ln/>
        </p:spPr>
      </p:sp>
      <p:sp>
        <p:nvSpPr>
          <p:cNvPr id="13" name="Text 11"/>
          <p:cNvSpPr txBox="1"/>
          <p:nvPr/>
        </p:nvSpPr>
        <p:spPr>
          <a:xfrm>
            <a:off x="5806440" y="1783080"/>
            <a:ext cx="4709160" cy="320040"/>
          </a:xfrm>
          <a:prstGeom prst="rect">
            <a:avLst/>
          </a:prstGeom>
          <a:noFill/>
          <a:ln/>
        </p:spPr>
        <p:txBody>
          <a:bodyPr wrap="square" lIns="0" tIns="0" rIns="0" bIns="0" rtlCol="0" anchor="ctr"/>
          <a:lstStyle/>
          <a:p>
            <a:pPr marL="0" indent="0" algn="ctr">
              <a:buNone/>
            </a:pPr>
            <a:r>
              <a:rPr lang="en-US" sz="1100" b="1" kern="0" spc="150" dirty="0">
                <a:solidFill>
                  <a:srgbClr val="387F7F"/>
                </a:solidFill>
                <a:latin typeface="Poppins" pitchFamily="34" charset="0"/>
                <a:ea typeface="Poppins" pitchFamily="34" charset="-122"/>
                <a:cs typeface="Poppins" pitchFamily="34" charset="-120"/>
              </a:rPr>
              <a:t>STAR SCHEMA</a:t>
            </a:r>
            <a:endParaRPr lang="en-US" sz="1100" dirty="0"/>
          </a:p>
        </p:txBody>
      </p:sp>
      <p:sp>
        <p:nvSpPr>
          <p:cNvPr id="14" name="Text 12"/>
          <p:cNvSpPr txBox="1"/>
          <p:nvPr/>
        </p:nvSpPr>
        <p:spPr>
          <a:xfrm>
            <a:off x="5806440" y="2148840"/>
            <a:ext cx="4709160" cy="1143000"/>
          </a:xfrm>
          <a:prstGeom prst="rect">
            <a:avLst/>
          </a:prstGeom>
          <a:noFill/>
          <a:ln/>
        </p:spPr>
        <p:txBody>
          <a:bodyPr wrap="square" lIns="0" tIns="0" rIns="0" bIns="0" rtlCol="0" anchor="ctr"/>
          <a:lstStyle/>
          <a:p>
            <a:pPr marL="0" indent="0" algn="ctr">
              <a:buNone/>
            </a:pPr>
            <a:r>
              <a:rPr lang="en-US" sz="5400" b="1" dirty="0">
                <a:solidFill>
                  <a:srgbClr val="387F7F"/>
                </a:solidFill>
                <a:latin typeface="Poppins" pitchFamily="34" charset="0"/>
                <a:ea typeface="Poppins" pitchFamily="34" charset="-122"/>
                <a:cs typeface="Poppins" pitchFamily="34" charset="-120"/>
              </a:rPr>
              <a:t>68</a:t>
            </a:r>
            <a:endParaRPr lang="en-US" sz="5400" dirty="0"/>
          </a:p>
        </p:txBody>
      </p:sp>
      <p:sp>
        <p:nvSpPr>
          <p:cNvPr id="15" name="Text 13"/>
          <p:cNvSpPr txBox="1"/>
          <p:nvPr/>
        </p:nvSpPr>
        <p:spPr>
          <a:xfrm>
            <a:off x="5806440" y="3246120"/>
            <a:ext cx="4709160" cy="502920"/>
          </a:xfrm>
          <a:prstGeom prst="rect">
            <a:avLst/>
          </a:prstGeom>
          <a:noFill/>
          <a:ln/>
        </p:spPr>
        <p:txBody>
          <a:bodyPr wrap="square" lIns="0" tIns="0" rIns="0" bIns="0" rtlCol="0" anchor="ctr"/>
          <a:lstStyle/>
          <a:p>
            <a:pPr marL="0" indent="0" algn="ctr">
              <a:lnSpc>
                <a:spcPct val="120000"/>
              </a:lnSpc>
              <a:buNone/>
            </a:pPr>
            <a:r>
              <a:rPr lang="en-US" sz="1300" dirty="0">
                <a:solidFill>
                  <a:srgbClr val="64748B"/>
                </a:solidFill>
                <a:latin typeface="Poppins" pitchFamily="34" charset="0"/>
                <a:ea typeface="Poppins" pitchFamily="34" charset="-122"/>
                <a:cs typeface="Poppins" pitchFamily="34" charset="-120"/>
              </a:rPr>
              <a:t>The riders dimension has 68 rows, so counting it counts riders</a:t>
            </a:r>
            <a:endParaRPr lang="en-US" sz="1300" dirty="0"/>
          </a:p>
        </p:txBody>
      </p:sp>
      <p:sp>
        <p:nvSpPr>
          <p:cNvPr id="16" name="Text 14"/>
          <p:cNvSpPr txBox="1"/>
          <p:nvPr/>
        </p:nvSpPr>
        <p:spPr>
          <a:xfrm>
            <a:off x="685800" y="4069080"/>
            <a:ext cx="9829800" cy="822960"/>
          </a:xfrm>
          <a:prstGeom prst="rect">
            <a:avLst/>
          </a:prstGeom>
          <a:noFill/>
          <a:ln/>
        </p:spPr>
        <p:txBody>
          <a:bodyPr wrap="square" lIns="0" tIns="0" rIns="0" bIns="0" rtlCol="0" anchor="t"/>
          <a:lstStyle/>
          <a:p>
            <a:pPr marL="0" indent="0" algn="l">
              <a:lnSpc>
                <a:spcPct val="130000"/>
              </a:lnSpc>
              <a:buNone/>
            </a:pPr>
            <a:r>
              <a:rPr lang="en-US" sz="1500" dirty="0">
                <a:solidFill>
                  <a:srgbClr val="475569"/>
                </a:solidFill>
                <a:latin typeface="Poppins" pitchFamily="34" charset="0"/>
                <a:ea typeface="Poppins" pitchFamily="34" charset="-122"/>
                <a:cs typeface="Poppins" pitchFamily="34" charset="-120"/>
              </a:rPr>
              <a:t>Notice what did not change. The data is identical. The visual is identical. The only thing that changed is which table the count is drawn from, and that was decided by the model, not by the chart.</a:t>
            </a:r>
            <a:endParaRPr lang="en-US" sz="1500" dirty="0"/>
          </a:p>
        </p:txBody>
      </p:sp>
      <p:sp>
        <p:nvSpPr>
          <p:cNvPr id="17" name="Shape 15"/>
          <p:cNvSpPr/>
          <p:nvPr/>
        </p:nvSpPr>
        <p:spPr>
          <a:xfrm>
            <a:off x="685800" y="5029200"/>
            <a:ext cx="9829800" cy="960120"/>
          </a:xfrm>
          <a:prstGeom prst="roundRect">
            <a:avLst>
              <a:gd name="adj" fmla="val 8571"/>
            </a:avLst>
          </a:prstGeom>
          <a:solidFill>
            <a:srgbClr val="EEF4F4"/>
          </a:solidFill>
          <a:ln/>
        </p:spPr>
      </p:sp>
      <p:sp>
        <p:nvSpPr>
          <p:cNvPr id="18" name="Shape 16"/>
          <p:cNvSpPr/>
          <p:nvPr/>
        </p:nvSpPr>
        <p:spPr>
          <a:xfrm>
            <a:off x="685800" y="5029200"/>
            <a:ext cx="68580" cy="960120"/>
          </a:xfrm>
          <a:prstGeom prst="rect">
            <a:avLst/>
          </a:prstGeom>
          <a:solidFill>
            <a:srgbClr val="387F7F"/>
          </a:solidFill>
          <a:ln/>
        </p:spPr>
      </p:sp>
      <p:sp>
        <p:nvSpPr>
          <p:cNvPr id="19" name="Text 17"/>
          <p:cNvSpPr txBox="1"/>
          <p:nvPr/>
        </p:nvSpPr>
        <p:spPr>
          <a:xfrm>
            <a:off x="1051560" y="5029200"/>
            <a:ext cx="9235440" cy="960120"/>
          </a:xfrm>
          <a:prstGeom prst="rect">
            <a:avLst/>
          </a:prstGeom>
          <a:noFill/>
          <a:ln/>
        </p:spPr>
        <p:txBody>
          <a:bodyPr wrap="square" lIns="0" tIns="0" rIns="0" bIns="0" rtlCol="0" anchor="ctr"/>
          <a:lstStyle/>
          <a:p>
            <a:pPr marL="0" indent="0" algn="l">
              <a:lnSpc>
                <a:spcPct val="135000"/>
              </a:lnSpc>
              <a:buNone/>
            </a:pPr>
            <a:r>
              <a:rPr lang="en-US" sz="1650" b="1" dirty="0">
                <a:solidFill>
                  <a:srgbClr val="387F7F"/>
                </a:solidFill>
                <a:latin typeface="Poppins" pitchFamily="34" charset="0"/>
                <a:ea typeface="Poppins" pitchFamily="34" charset="-122"/>
                <a:cs typeface="Poppins" pitchFamily="34" charset="-120"/>
              </a:rPr>
              <a:t>The model is where correctness lives. The chart just shows you what the model believes.</a:t>
            </a:r>
            <a:endParaRPr lang="en-US" sz="1650" dirty="0"/>
          </a:p>
        </p:txBody>
      </p:sp>
      <p:pic>
        <p:nvPicPr>
          <p:cNvPr id="20"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1" name="Text 18"/>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02920"/>
            <a:ext cx="10817352" cy="1234440"/>
          </a:xfrm>
          <a:prstGeom prst="roundRect">
            <a:avLst>
              <a:gd name="adj" fmla="val 10370"/>
            </a:avLst>
          </a:prstGeom>
          <a:solidFill>
            <a:srgbClr val="20494A"/>
          </a:solidFill>
          <a:ln/>
        </p:spPr>
      </p:sp>
      <p:sp>
        <p:nvSpPr>
          <p:cNvPr id="5" name="Shape 3"/>
          <p:cNvSpPr/>
          <p:nvPr/>
        </p:nvSpPr>
        <p:spPr>
          <a:xfrm>
            <a:off x="685800" y="640080"/>
            <a:ext cx="82296" cy="960120"/>
          </a:xfrm>
          <a:prstGeom prst="rect">
            <a:avLst/>
          </a:prstGeom>
          <a:solidFill>
            <a:srgbClr val="387F7F"/>
          </a:solidFill>
          <a:ln/>
        </p:spPr>
      </p:sp>
      <p:sp>
        <p:nvSpPr>
          <p:cNvPr id="6" name="Text 4"/>
          <p:cNvSpPr txBox="1"/>
          <p:nvPr/>
        </p:nvSpPr>
        <p:spPr>
          <a:xfrm>
            <a:off x="960120" y="658368"/>
            <a:ext cx="5486400" cy="292608"/>
          </a:xfrm>
          <a:prstGeom prst="rect">
            <a:avLst/>
          </a:prstGeom>
          <a:noFill/>
          <a:ln/>
        </p:spPr>
        <p:txBody>
          <a:bodyPr wrap="square" lIns="0" tIns="0" rIns="0" bIns="0" rtlCol="0" anchor="ctr"/>
          <a:lstStyle/>
          <a:p>
            <a:pPr marL="0" indent="0">
              <a:buNone/>
            </a:pPr>
            <a:r>
              <a:rPr lang="en-US" sz="1200" b="1" kern="0" spc="200" dirty="0">
                <a:solidFill>
                  <a:srgbClr val="8FBEBE"/>
                </a:solidFill>
                <a:latin typeface="Poppins" pitchFamily="34" charset="0"/>
                <a:ea typeface="Poppins" pitchFamily="34" charset="-122"/>
                <a:cs typeface="Poppins" pitchFamily="34" charset="-120"/>
              </a:rPr>
              <a:t>YOUR TURN</a:t>
            </a:r>
            <a:endParaRPr lang="en-US" sz="1200" dirty="0"/>
          </a:p>
        </p:txBody>
      </p:sp>
      <p:sp>
        <p:nvSpPr>
          <p:cNvPr id="7" name="Text 5"/>
          <p:cNvSpPr txBox="1"/>
          <p:nvPr/>
        </p:nvSpPr>
        <p:spPr>
          <a:xfrm>
            <a:off x="960120" y="932688"/>
            <a:ext cx="7863840" cy="658368"/>
          </a:xfrm>
          <a:prstGeom prst="rect">
            <a:avLst/>
          </a:prstGeom>
          <a:noFill/>
          <a:ln/>
        </p:spPr>
        <p:txBody>
          <a:bodyPr wrap="square" lIns="0" tIns="0" rIns="0" bIns="0" rtlCol="0" anchor="ctr"/>
          <a:lstStyle/>
          <a:p>
            <a:pPr marL="0" indent="0">
              <a:buNone/>
            </a:pPr>
            <a:r>
              <a:rPr lang="en-US" sz="2700" b="1" dirty="0">
                <a:solidFill>
                  <a:srgbClr val="FFFFFF"/>
                </a:solidFill>
                <a:latin typeface="Poppins" pitchFamily="34" charset="0"/>
                <a:ea typeface="Poppins" pitchFamily="34" charset="-122"/>
                <a:cs typeface="Poppins" pitchFamily="34" charset="-120"/>
              </a:rPr>
              <a:t>Build the star</a:t>
            </a:r>
            <a:endParaRPr lang="en-US" sz="2700" dirty="0"/>
          </a:p>
        </p:txBody>
      </p:sp>
      <p:sp>
        <p:nvSpPr>
          <p:cNvPr id="8" name="Shape 6"/>
          <p:cNvSpPr/>
          <p:nvPr/>
        </p:nvSpPr>
        <p:spPr>
          <a:xfrm>
            <a:off x="10058400" y="868680"/>
            <a:ext cx="1234440" cy="502920"/>
          </a:xfrm>
          <a:prstGeom prst="roundRect">
            <a:avLst>
              <a:gd name="adj" fmla="val 49091"/>
            </a:avLst>
          </a:prstGeom>
          <a:solidFill>
            <a:srgbClr val="387F7F"/>
          </a:solidFill>
          <a:ln/>
        </p:spPr>
      </p:sp>
      <p:sp>
        <p:nvSpPr>
          <p:cNvPr id="9" name="Text 7"/>
          <p:cNvSpPr txBox="1"/>
          <p:nvPr/>
        </p:nvSpPr>
        <p:spPr>
          <a:xfrm>
            <a:off x="10058400" y="868680"/>
            <a:ext cx="12344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12 min</a:t>
            </a:r>
            <a:endParaRPr lang="en-US" sz="1400" dirty="0"/>
          </a:p>
        </p:txBody>
      </p:sp>
      <p:sp>
        <p:nvSpPr>
          <p:cNvPr id="10" name="Shape 8"/>
          <p:cNvSpPr/>
          <p:nvPr/>
        </p:nvSpPr>
        <p:spPr>
          <a:xfrm>
            <a:off x="685800" y="2057400"/>
            <a:ext cx="10424160" cy="1463040"/>
          </a:xfrm>
          <a:prstGeom prst="roundRect">
            <a:avLst>
              <a:gd name="adj" fmla="val 5625"/>
            </a:avLst>
          </a:prstGeom>
          <a:solidFill>
            <a:srgbClr val="FFFFFF"/>
          </a:solidFill>
          <a:ln/>
          <a:effectLst>
            <a:outerShdw blurRad="127000" dist="25400" dir="5400000" algn="bl" rotWithShape="0">
              <a:srgbClr val="1B2A2E">
                <a:alpha val="12000"/>
              </a:srgbClr>
            </a:outerShdw>
          </a:effectLst>
        </p:spPr>
      </p:sp>
      <p:sp>
        <p:nvSpPr>
          <p:cNvPr id="11" name="Shape 9"/>
          <p:cNvSpPr/>
          <p:nvPr/>
        </p:nvSpPr>
        <p:spPr>
          <a:xfrm>
            <a:off x="685800" y="2057400"/>
            <a:ext cx="82296" cy="1463040"/>
          </a:xfrm>
          <a:prstGeom prst="rect">
            <a:avLst/>
          </a:prstGeom>
          <a:solidFill>
            <a:srgbClr val="387F7F"/>
          </a:solidFill>
          <a:ln/>
        </p:spPr>
      </p:sp>
      <p:sp>
        <p:nvSpPr>
          <p:cNvPr id="12" name="Text 10"/>
          <p:cNvSpPr txBox="1"/>
          <p:nvPr/>
        </p:nvSpPr>
        <p:spPr>
          <a:xfrm>
            <a:off x="1005840" y="2240280"/>
            <a:ext cx="9601200" cy="274320"/>
          </a:xfrm>
          <a:prstGeom prst="rect">
            <a:avLst/>
          </a:prstGeom>
          <a:noFill/>
          <a:ln/>
        </p:spPr>
        <p:txBody>
          <a:bodyPr wrap="square" lIns="0" tIns="0" rIns="0" bIns="0" rtlCol="0" anchor="ctr"/>
          <a:lstStyle/>
          <a:p>
            <a:pPr marL="0" indent="0">
              <a:buNone/>
            </a:pPr>
            <a:r>
              <a:rPr lang="en-US" sz="1100" b="1" dirty="0">
                <a:solidFill>
                  <a:srgbClr val="387F7F"/>
                </a:solidFill>
                <a:latin typeface="Poppins" pitchFamily="34" charset="0"/>
                <a:ea typeface="Poppins" pitchFamily="34" charset="-122"/>
                <a:cs typeface="Poppins" pitchFamily="34" charset="-120"/>
              </a:rPr>
              <a:t>THE TASK</a:t>
            </a:r>
            <a:endParaRPr lang="en-US" sz="1100" dirty="0"/>
          </a:p>
        </p:txBody>
      </p:sp>
      <p:sp>
        <p:nvSpPr>
          <p:cNvPr id="13" name="Text 11"/>
          <p:cNvSpPr txBox="1"/>
          <p:nvPr/>
        </p:nvSpPr>
        <p:spPr>
          <a:xfrm>
            <a:off x="1005840" y="2560320"/>
            <a:ext cx="9875520" cy="868680"/>
          </a:xfrm>
          <a:prstGeom prst="rect">
            <a:avLst/>
          </a:prstGeom>
          <a:noFill/>
          <a:ln/>
        </p:spPr>
        <p:txBody>
          <a:bodyPr wrap="square" lIns="0" tIns="0" rIns="0" bIns="0" rtlCol="0" anchor="t"/>
          <a:lstStyle/>
          <a:p>
            <a:pPr marL="0" indent="0" algn="l">
              <a:lnSpc>
                <a:spcPct val="135000"/>
              </a:lnSpc>
              <a:buNone/>
            </a:pPr>
            <a:r>
              <a:rPr lang="en-US" sz="1600" dirty="0">
                <a:solidFill>
                  <a:srgbClr val="475569"/>
                </a:solidFill>
                <a:latin typeface="Poppins" pitchFamily="34" charset="0"/>
                <a:ea typeface="Poppins" pitchFamily="34" charset="-122"/>
                <a:cs typeface="Poppins" pitchFamily="34" charset="-120"/>
              </a:rPr>
              <a:t>Open 7.2_practice_unlinked.pbix. All five SwiftRoute tables are loaded with no relationships. Build all four, set every cross-filter direction to Single, and mark dates as the date table.</a:t>
            </a:r>
            <a:endParaRPr lang="en-US" sz="1600" dirty="0"/>
          </a:p>
        </p:txBody>
      </p:sp>
      <p:sp>
        <p:nvSpPr>
          <p:cNvPr id="14" name="Shape 12"/>
          <p:cNvSpPr/>
          <p:nvPr/>
        </p:nvSpPr>
        <p:spPr>
          <a:xfrm>
            <a:off x="685800" y="3703320"/>
            <a:ext cx="10424160" cy="1417320"/>
          </a:xfrm>
          <a:prstGeom prst="roundRect">
            <a:avLst>
              <a:gd name="adj" fmla="val 5806"/>
            </a:avLst>
          </a:prstGeom>
          <a:solidFill>
            <a:srgbClr val="EEF4F4"/>
          </a:solidFill>
          <a:ln/>
        </p:spPr>
      </p:sp>
      <p:sp>
        <p:nvSpPr>
          <p:cNvPr id="15" name="Shape 13"/>
          <p:cNvSpPr/>
          <p:nvPr/>
        </p:nvSpPr>
        <p:spPr>
          <a:xfrm>
            <a:off x="685800" y="3703320"/>
            <a:ext cx="82296" cy="1417320"/>
          </a:xfrm>
          <a:prstGeom prst="rect">
            <a:avLst/>
          </a:prstGeom>
          <a:solidFill>
            <a:srgbClr val="9BB7B7"/>
          </a:solidFill>
          <a:ln/>
        </p:spPr>
      </p:sp>
      <p:sp>
        <p:nvSpPr>
          <p:cNvPr id="16" name="Text 14"/>
          <p:cNvSpPr txBox="1"/>
          <p:nvPr/>
        </p:nvSpPr>
        <p:spPr>
          <a:xfrm>
            <a:off x="1005840" y="3886200"/>
            <a:ext cx="9601200" cy="292608"/>
          </a:xfrm>
          <a:prstGeom prst="rect">
            <a:avLst/>
          </a:prstGeom>
          <a:noFill/>
          <a:ln/>
        </p:spPr>
        <p:txBody>
          <a:bodyPr wrap="square" lIns="0" tIns="0" rIns="0" bIns="0" rtlCol="0" anchor="ctr"/>
          <a:lstStyle/>
          <a:p>
            <a:pPr marL="0" indent="0">
              <a:buNone/>
            </a:pPr>
            <a:r>
              <a:rPr lang="en-US" sz="1100" b="1" dirty="0">
                <a:solidFill>
                  <a:srgbClr val="20494A"/>
                </a:solidFill>
                <a:latin typeface="Poppins" pitchFamily="34" charset="0"/>
                <a:ea typeface="Poppins" pitchFamily="34" charset="-122"/>
                <a:cs typeface="Poppins" pitchFamily="34" charset="-120"/>
              </a:rPr>
              <a:t>EXPECTED OUTPUT</a:t>
            </a:r>
            <a:endParaRPr lang="en-US" sz="1100" dirty="0"/>
          </a:p>
        </p:txBody>
      </p:sp>
      <p:sp>
        <p:nvSpPr>
          <p:cNvPr id="17" name="Text 15"/>
          <p:cNvSpPr txBox="1"/>
          <p:nvPr/>
        </p:nvSpPr>
        <p:spPr>
          <a:xfrm>
            <a:off x="1005840" y="4206240"/>
            <a:ext cx="9875520" cy="822960"/>
          </a:xfrm>
          <a:prstGeom prst="rect">
            <a:avLst/>
          </a:prstGeom>
          <a:noFill/>
          <a:ln/>
        </p:spPr>
        <p:txBody>
          <a:bodyPr wrap="square" lIns="0" tIns="0" rIns="0" bIns="0" rtlCol="0" anchor="t"/>
          <a:lstStyle/>
          <a:p>
            <a:pPr marL="0" indent="0" algn="l">
              <a:lnSpc>
                <a:spcPct val="135000"/>
              </a:lnSpc>
              <a:buNone/>
            </a:pPr>
            <a:r>
              <a:rPr lang="en-US" sz="1400" dirty="0">
                <a:solidFill>
                  <a:srgbClr val="475569"/>
                </a:solidFill>
                <a:latin typeface="Poppins" pitchFamily="34" charset="0"/>
                <a:ea typeface="Poppins" pitchFamily="34" charset="-122"/>
                <a:cs typeface="Poppins" pitchFamily="34" charset="-120"/>
              </a:rPr>
              <a:t>Four solid lines in Model view, no dotted lines, every relationship reading One to many with the “one” on the dimension. A card counting riders returns 68. A card counting routes returns 24.</a:t>
            </a:r>
            <a:endParaRPr lang="en-US" sz="1400" dirty="0"/>
          </a:p>
        </p:txBody>
      </p:sp>
      <p:sp>
        <p:nvSpPr>
          <p:cNvPr id="18" name="Text 16"/>
          <p:cNvSpPr txBox="1"/>
          <p:nvPr/>
        </p:nvSpPr>
        <p:spPr>
          <a:xfrm>
            <a:off x="685800" y="5349240"/>
            <a:ext cx="10424160" cy="365760"/>
          </a:xfrm>
          <a:prstGeom prst="rect">
            <a:avLst/>
          </a:prstGeom>
          <a:noFill/>
          <a:ln/>
        </p:spPr>
        <p:txBody>
          <a:bodyPr wrap="square" lIns="0" tIns="0" rIns="0" bIns="0" rtlCol="0" anchor="t"/>
          <a:lstStyle/>
          <a:p>
            <a:pPr marL="0" indent="0" algn="ctr">
              <a:lnSpc>
                <a:spcPct val="135000"/>
              </a:lnSpc>
              <a:buNone/>
            </a:pPr>
            <a:r>
              <a:rPr lang="en-US" sz="1350" i="1" dirty="0">
                <a:solidFill>
                  <a:srgbClr val="64748B"/>
                </a:solidFill>
                <a:latin typeface="Poppins" pitchFamily="34" charset="0"/>
                <a:ea typeface="Poppins" pitchFamily="34" charset="-122"/>
                <a:cs typeface="Poppins" pitchFamily="34" charset="-120"/>
              </a:rPr>
              <a:t>Predict first. Write down what a count of customers will return before you build it.</a:t>
            </a:r>
            <a:endParaRPr lang="en-US" sz="1350" dirty="0"/>
          </a:p>
        </p:txBody>
      </p:sp>
      <p:pic>
        <p:nvPicPr>
          <p:cNvPr id="19"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0" name="Text 17"/>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Why the routes relationship refused</a:t>
            </a:r>
            <a:endParaRPr lang="en-US" sz="2700" dirty="0"/>
          </a:p>
        </p:txBody>
      </p:sp>
      <p:sp>
        <p:nvSpPr>
          <p:cNvPr id="6" name="Shape 4"/>
          <p:cNvSpPr/>
          <p:nvPr/>
        </p:nvSpPr>
        <p:spPr>
          <a:xfrm>
            <a:off x="685800" y="1600200"/>
            <a:ext cx="4709160" cy="1600200"/>
          </a:xfrm>
          <a:prstGeom prst="roundRect">
            <a:avLst>
              <a:gd name="adj" fmla="val 5143"/>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00200"/>
            <a:ext cx="4709160" cy="384048"/>
          </a:xfrm>
          <a:prstGeom prst="rect">
            <a:avLst/>
          </a:prstGeom>
          <a:solidFill>
            <a:srgbClr val="A8322D"/>
          </a:solidFill>
          <a:ln/>
        </p:spPr>
      </p:sp>
      <p:sp>
        <p:nvSpPr>
          <p:cNvPr id="8" name="Text 6"/>
          <p:cNvSpPr txBox="1"/>
          <p:nvPr/>
        </p:nvSpPr>
        <p:spPr>
          <a:xfrm>
            <a:off x="685800" y="1600200"/>
            <a:ext cx="47091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In routes.csv</a:t>
            </a:r>
            <a:endParaRPr lang="en-US" sz="1200" dirty="0"/>
          </a:p>
        </p:txBody>
      </p:sp>
      <p:sp>
        <p:nvSpPr>
          <p:cNvPr id="9" name="Text 7"/>
          <p:cNvSpPr txBox="1"/>
          <p:nvPr/>
        </p:nvSpPr>
        <p:spPr>
          <a:xfrm>
            <a:off x="685800" y="2148840"/>
            <a:ext cx="4709160" cy="685800"/>
          </a:xfrm>
          <a:prstGeom prst="rect">
            <a:avLst/>
          </a:prstGeom>
          <a:noFill/>
          <a:ln/>
        </p:spPr>
        <p:txBody>
          <a:bodyPr wrap="square" lIns="0" tIns="0" rIns="0" bIns="0" rtlCol="0" anchor="ctr"/>
          <a:lstStyle/>
          <a:p>
            <a:pPr marL="0" indent="0" algn="ctr">
              <a:buNone/>
            </a:pPr>
            <a:r>
              <a:rPr lang="en-US" sz="2600" b="1" dirty="0">
                <a:solidFill>
                  <a:srgbClr val="0A1A23"/>
                </a:solidFill>
                <a:latin typeface="Roboto Mono" pitchFamily="34" charset="0"/>
                <a:ea typeface="Roboto Mono" pitchFamily="34" charset="-122"/>
                <a:cs typeface="Roboto Mono" pitchFamily="34" charset="-120"/>
              </a:rPr>
              <a:t>“LAG-07</a:t>
            </a:r>
            <a:r>
              <a:rPr lang="en-US" sz="2600" b="1" dirty="0">
                <a:solidFill>
                  <a:srgbClr val="C9821F"/>
                </a:solidFill>
                <a:latin typeface="Roboto Mono" pitchFamily="34" charset="0"/>
                <a:ea typeface="Roboto Mono" pitchFamily="34" charset="-122"/>
                <a:cs typeface="Roboto Mono" pitchFamily="34" charset="-120"/>
              </a:rPr>
              <a:t>·</a:t>
            </a:r>
            <a:r>
              <a:rPr lang="en-US" sz="2600" b="1" dirty="0">
                <a:solidFill>
                  <a:srgbClr val="0A1A23"/>
                </a:solidFill>
                <a:latin typeface="Roboto Mono" pitchFamily="34" charset="0"/>
                <a:ea typeface="Roboto Mono" pitchFamily="34" charset="-122"/>
                <a:cs typeface="Roboto Mono" pitchFamily="34" charset="-120"/>
              </a:rPr>
              <a:t>”</a:t>
            </a:r>
            <a:endParaRPr lang="en-US" sz="2600" dirty="0"/>
          </a:p>
        </p:txBody>
      </p:sp>
      <p:sp>
        <p:nvSpPr>
          <p:cNvPr id="10" name="Text 8"/>
          <p:cNvSpPr txBox="1"/>
          <p:nvPr/>
        </p:nvSpPr>
        <p:spPr>
          <a:xfrm>
            <a:off x="685800" y="2788920"/>
            <a:ext cx="4709160" cy="320040"/>
          </a:xfrm>
          <a:prstGeom prst="rect">
            <a:avLst/>
          </a:prstGeom>
          <a:noFill/>
          <a:ln/>
        </p:spPr>
        <p:txBody>
          <a:bodyPr wrap="square" lIns="0" tIns="0" rIns="0" bIns="0" rtlCol="0" anchor="ctr"/>
          <a:lstStyle/>
          <a:p>
            <a:pPr marL="0" indent="0" algn="ctr">
              <a:buNone/>
            </a:pPr>
            <a:r>
              <a:rPr lang="en-US" sz="1100" i="1" dirty="0">
                <a:solidFill>
                  <a:srgbClr val="C9821F"/>
                </a:solidFill>
                <a:latin typeface="Poppins" pitchFamily="34" charset="0"/>
                <a:ea typeface="Poppins" pitchFamily="34" charset="-122"/>
                <a:cs typeface="Poppins" pitchFamily="34" charset="-120"/>
              </a:rPr>
              <a:t>trailing space, invisible on screen</a:t>
            </a:r>
            <a:endParaRPr lang="en-US" sz="1100" dirty="0"/>
          </a:p>
        </p:txBody>
      </p:sp>
      <p:sp>
        <p:nvSpPr>
          <p:cNvPr id="11" name="Shape 9"/>
          <p:cNvSpPr/>
          <p:nvPr/>
        </p:nvSpPr>
        <p:spPr>
          <a:xfrm>
            <a:off x="5806440" y="1600200"/>
            <a:ext cx="4709160" cy="1600200"/>
          </a:xfrm>
          <a:prstGeom prst="roundRect">
            <a:avLst>
              <a:gd name="adj" fmla="val 5143"/>
            </a:avLst>
          </a:prstGeom>
          <a:solidFill>
            <a:srgbClr val="FFFFFF"/>
          </a:solidFill>
          <a:ln/>
          <a:effectLst>
            <a:outerShdw blurRad="152400" dist="38100" dir="5400000" algn="bl" rotWithShape="0">
              <a:srgbClr val="1B2A2E">
                <a:alpha val="14000"/>
              </a:srgbClr>
            </a:outerShdw>
          </a:effectLst>
        </p:spPr>
      </p:sp>
      <p:sp>
        <p:nvSpPr>
          <p:cNvPr id="12" name="Shape 10"/>
          <p:cNvSpPr/>
          <p:nvPr/>
        </p:nvSpPr>
        <p:spPr>
          <a:xfrm>
            <a:off x="5806440" y="1600200"/>
            <a:ext cx="4709160" cy="384048"/>
          </a:xfrm>
          <a:prstGeom prst="rect">
            <a:avLst/>
          </a:prstGeom>
          <a:solidFill>
            <a:srgbClr val="387F7F"/>
          </a:solidFill>
          <a:ln/>
        </p:spPr>
      </p:sp>
      <p:sp>
        <p:nvSpPr>
          <p:cNvPr id="13" name="Text 11"/>
          <p:cNvSpPr txBox="1"/>
          <p:nvPr/>
        </p:nvSpPr>
        <p:spPr>
          <a:xfrm>
            <a:off x="5806440" y="1600200"/>
            <a:ext cx="47091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In deliveries.csv</a:t>
            </a:r>
            <a:endParaRPr lang="en-US" sz="1200" dirty="0"/>
          </a:p>
        </p:txBody>
      </p:sp>
      <p:sp>
        <p:nvSpPr>
          <p:cNvPr id="14" name="Text 12"/>
          <p:cNvSpPr txBox="1"/>
          <p:nvPr/>
        </p:nvSpPr>
        <p:spPr>
          <a:xfrm>
            <a:off x="5806440" y="2148840"/>
            <a:ext cx="4709160" cy="685800"/>
          </a:xfrm>
          <a:prstGeom prst="rect">
            <a:avLst/>
          </a:prstGeom>
          <a:noFill/>
          <a:ln/>
        </p:spPr>
        <p:txBody>
          <a:bodyPr wrap="square" lIns="0" tIns="0" rIns="0" bIns="0" rtlCol="0" anchor="ctr"/>
          <a:lstStyle/>
          <a:p>
            <a:pPr marL="0" indent="0" algn="ctr">
              <a:buNone/>
            </a:pPr>
            <a:r>
              <a:rPr lang="en-US" sz="2600" b="1" dirty="0">
                <a:solidFill>
                  <a:srgbClr val="0A1A23"/>
                </a:solidFill>
                <a:latin typeface="Roboto Mono" pitchFamily="34" charset="0"/>
                <a:ea typeface="Roboto Mono" pitchFamily="34" charset="-122"/>
                <a:cs typeface="Roboto Mono" pitchFamily="34" charset="-120"/>
              </a:rPr>
              <a:t>“LAG-07”</a:t>
            </a:r>
            <a:endParaRPr lang="en-US" sz="2600" dirty="0"/>
          </a:p>
        </p:txBody>
      </p:sp>
      <p:sp>
        <p:nvSpPr>
          <p:cNvPr id="15" name="Text 13"/>
          <p:cNvSpPr txBox="1"/>
          <p:nvPr/>
        </p:nvSpPr>
        <p:spPr>
          <a:xfrm>
            <a:off x="5806440" y="2788920"/>
            <a:ext cx="4709160" cy="320040"/>
          </a:xfrm>
          <a:prstGeom prst="rect">
            <a:avLst/>
          </a:prstGeom>
          <a:noFill/>
          <a:ln/>
        </p:spPr>
        <p:txBody>
          <a:bodyPr wrap="square" lIns="0" tIns="0" rIns="0" bIns="0" rtlCol="0" anchor="ctr"/>
          <a:lstStyle/>
          <a:p>
            <a:pPr marL="0" indent="0" algn="ctr">
              <a:buNone/>
            </a:pPr>
            <a:r>
              <a:rPr lang="en-US" sz="1100" i="1" dirty="0">
                <a:solidFill>
                  <a:srgbClr val="387F7F"/>
                </a:solidFill>
                <a:latin typeface="Poppins" pitchFamily="34" charset="0"/>
                <a:ea typeface="Poppins" pitchFamily="34" charset="-122"/>
                <a:cs typeface="Poppins" pitchFamily="34" charset="-120"/>
              </a:rPr>
              <a:t>clean</a:t>
            </a:r>
            <a:endParaRPr lang="en-US" sz="1100" dirty="0"/>
          </a:p>
        </p:txBody>
      </p:sp>
      <p:sp>
        <p:nvSpPr>
          <p:cNvPr id="16" name="Text 14"/>
          <p:cNvSpPr txBox="1"/>
          <p:nvPr/>
        </p:nvSpPr>
        <p:spPr>
          <a:xfrm>
            <a:off x="685800" y="3429000"/>
            <a:ext cx="9829800" cy="914400"/>
          </a:xfrm>
          <a:prstGeom prst="rect">
            <a:avLst/>
          </a:prstGeom>
          <a:noFill/>
          <a:ln/>
        </p:spPr>
        <p:txBody>
          <a:bodyPr wrap="square" lIns="0" tIns="0" rIns="0" bIns="0" rtlCol="0" anchor="t"/>
          <a:lstStyle/>
          <a:p>
            <a:pPr marL="0" indent="0" algn="l">
              <a:lnSpc>
                <a:spcPct val="132000"/>
              </a:lnSpc>
              <a:buNone/>
            </a:pPr>
            <a:r>
              <a:rPr lang="en-US" sz="1500" dirty="0">
                <a:solidFill>
                  <a:srgbClr val="475569"/>
                </a:solidFill>
                <a:latin typeface="Poppins" pitchFamily="34" charset="0"/>
                <a:ea typeface="Poppins" pitchFamily="34" charset="-122"/>
                <a:cs typeface="Poppins" pitchFamily="34" charset="-120"/>
              </a:rPr>
              <a:t>To you these are the same route. To Power BI they are two different text values, so the relationship either fails to match or matches only some rows. Nothing turns red. The join produces blanks, and you read the blanks as missing data.</a:t>
            </a:r>
            <a:endParaRPr lang="en-US" sz="1500" dirty="0"/>
          </a:p>
        </p:txBody>
      </p:sp>
      <p:sp>
        <p:nvSpPr>
          <p:cNvPr id="17" name="Shape 15"/>
          <p:cNvSpPr/>
          <p:nvPr/>
        </p:nvSpPr>
        <p:spPr>
          <a:xfrm>
            <a:off x="685800" y="4526280"/>
            <a:ext cx="9829800" cy="1234440"/>
          </a:xfrm>
          <a:prstGeom prst="roundRect">
            <a:avLst>
              <a:gd name="adj" fmla="val 6667"/>
            </a:avLst>
          </a:prstGeom>
          <a:solidFill>
            <a:srgbClr val="EEF4F4"/>
          </a:solidFill>
          <a:ln/>
        </p:spPr>
      </p:sp>
      <p:sp>
        <p:nvSpPr>
          <p:cNvPr id="18" name="Shape 16"/>
          <p:cNvSpPr/>
          <p:nvPr/>
        </p:nvSpPr>
        <p:spPr>
          <a:xfrm>
            <a:off x="685800" y="4526280"/>
            <a:ext cx="68580" cy="1234440"/>
          </a:xfrm>
          <a:prstGeom prst="rect">
            <a:avLst/>
          </a:prstGeom>
          <a:solidFill>
            <a:srgbClr val="387F7F"/>
          </a:solidFill>
          <a:ln/>
        </p:spPr>
      </p:sp>
      <p:sp>
        <p:nvSpPr>
          <p:cNvPr id="19" name="Shape 17"/>
          <p:cNvSpPr/>
          <p:nvPr/>
        </p:nvSpPr>
        <p:spPr>
          <a:xfrm>
            <a:off x="960120" y="4892040"/>
            <a:ext cx="502920" cy="502920"/>
          </a:xfrm>
          <a:prstGeom prst="ellipse">
            <a:avLst/>
          </a:prstGeom>
          <a:solidFill>
            <a:srgbClr val="387F7F"/>
          </a:solidFill>
          <a:ln/>
        </p:spPr>
      </p:sp>
      <p:sp>
        <p:nvSpPr>
          <p:cNvPr id="20" name="Text 18"/>
          <p:cNvSpPr txBox="1"/>
          <p:nvPr/>
        </p:nvSpPr>
        <p:spPr>
          <a:xfrm>
            <a:off x="960120" y="4892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a:t>
            </a:r>
            <a:endParaRPr lang="en-US" sz="2000" dirty="0"/>
          </a:p>
        </p:txBody>
      </p:sp>
      <p:sp>
        <p:nvSpPr>
          <p:cNvPr id="21" name="Text 19"/>
          <p:cNvSpPr txBox="1"/>
          <p:nvPr/>
        </p:nvSpPr>
        <p:spPr>
          <a:xfrm>
            <a:off x="1691640" y="4800600"/>
            <a:ext cx="8503920" cy="868680"/>
          </a:xfrm>
          <a:prstGeom prst="rect">
            <a:avLst/>
          </a:prstGeom>
          <a:noFill/>
          <a:ln/>
        </p:spPr>
        <p:txBody>
          <a:bodyPr wrap="square" lIns="0" tIns="0" rIns="0" bIns="0" rtlCol="0" anchor="t"/>
          <a:lstStyle/>
          <a:p>
            <a:pPr marL="0" indent="0" algn="l">
              <a:lnSpc>
                <a:spcPct val="130000"/>
              </a:lnSpc>
              <a:buNone/>
            </a:pPr>
            <a:r>
              <a:rPr lang="en-US" sz="1500" b="1" dirty="0">
                <a:solidFill>
                  <a:srgbClr val="387F7F"/>
                </a:solidFill>
                <a:latin typeface="Poppins" pitchFamily="34" charset="0"/>
                <a:ea typeface="Poppins" pitchFamily="34" charset="-122"/>
                <a:cs typeface="Poppins" pitchFamily="34" charset="-120"/>
              </a:rPr>
              <a:t>The fix is upstream, in Power Query: Transform › Format › Trim.</a:t>
            </a:r>
            <a:endParaRPr lang="en-US" sz="1500" dirty="0"/>
          </a:p>
          <a:p>
            <a:pPr marL="0" indent="0" algn="l">
              <a:lnSpc>
                <a:spcPct val="130000"/>
              </a:lnSpc>
              <a:buNone/>
            </a:pPr>
            <a:r>
              <a:rPr lang="en-US" sz="1500" b="1" dirty="0">
                <a:solidFill>
                  <a:srgbClr val="387F7F"/>
                </a:solidFill>
                <a:latin typeface="Poppins" pitchFamily="34" charset="0"/>
                <a:ea typeface="Poppins" pitchFamily="34" charset="-122"/>
                <a:cs typeface="Poppins" pitchFamily="34" charset="-120"/>
              </a:rPr>
              <a:t>Not in the model, and never by editing the source file by hand.</a:t>
            </a:r>
            <a:endParaRPr lang="en-US" sz="1500" dirty="0"/>
          </a:p>
        </p:txBody>
      </p:sp>
      <p:pic>
        <p:nvPicPr>
          <p:cNvPr id="22"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3" name="Text 20"/>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The honest caveat</a:t>
            </a:r>
            <a:endParaRPr lang="en-US" sz="2700" dirty="0"/>
          </a:p>
        </p:txBody>
      </p:sp>
      <p:sp>
        <p:nvSpPr>
          <p:cNvPr id="6" name="Shape 4"/>
          <p:cNvSpPr/>
          <p:nvPr/>
        </p:nvSpPr>
        <p:spPr>
          <a:xfrm>
            <a:off x="685800" y="1691640"/>
            <a:ext cx="9829800" cy="2834640"/>
          </a:xfrm>
          <a:prstGeom prst="roundRect">
            <a:avLst>
              <a:gd name="adj" fmla="val 3226"/>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1051560" y="2057400"/>
            <a:ext cx="731520" cy="731520"/>
          </a:xfrm>
          <a:prstGeom prst="ellipse">
            <a:avLst/>
          </a:prstGeom>
          <a:solidFill>
            <a:srgbClr val="FFFFFF"/>
          </a:solidFill>
          <a:ln w="22225">
            <a:solidFill>
              <a:srgbClr val="387F7F"/>
            </a:solidFill>
            <a:prstDash val="solid"/>
          </a:ln>
        </p:spPr>
      </p:sp>
      <p:sp>
        <p:nvSpPr>
          <p:cNvPr id="8" name="Text 6"/>
          <p:cNvSpPr txBox="1"/>
          <p:nvPr/>
        </p:nvSpPr>
        <p:spPr>
          <a:xfrm>
            <a:off x="1051560" y="2057400"/>
            <a:ext cx="731520" cy="731520"/>
          </a:xfrm>
          <a:prstGeom prst="rect">
            <a:avLst/>
          </a:prstGeom>
          <a:noFill/>
          <a:ln/>
        </p:spPr>
        <p:txBody>
          <a:bodyPr wrap="square" lIns="0" tIns="0" rIns="0" bIns="0" rtlCol="0" anchor="ctr"/>
          <a:lstStyle/>
          <a:p>
            <a:pPr marL="0" indent="0" algn="ctr">
              <a:buNone/>
            </a:pPr>
            <a:r>
              <a:rPr lang="en-US" sz="2600" b="1" dirty="0">
                <a:solidFill>
                  <a:srgbClr val="387F7F"/>
                </a:solidFill>
                <a:latin typeface="Poppins" pitchFamily="34" charset="0"/>
                <a:ea typeface="Poppins" pitchFamily="34" charset="-122"/>
                <a:cs typeface="Poppins" pitchFamily="34" charset="-120"/>
              </a:rPr>
              <a:t>⚖</a:t>
            </a:r>
            <a:endParaRPr lang="en-US" sz="2600" dirty="0"/>
          </a:p>
        </p:txBody>
      </p:sp>
      <p:sp>
        <p:nvSpPr>
          <p:cNvPr id="9" name="Text 7"/>
          <p:cNvSpPr txBox="1"/>
          <p:nvPr/>
        </p:nvSpPr>
        <p:spPr>
          <a:xfrm>
            <a:off x="2057400" y="2057400"/>
            <a:ext cx="8138160" cy="1097280"/>
          </a:xfrm>
          <a:prstGeom prst="rect">
            <a:avLst/>
          </a:prstGeom>
          <a:noFill/>
          <a:ln/>
        </p:spPr>
        <p:txBody>
          <a:bodyPr wrap="square" lIns="0" tIns="0" rIns="0" bIns="0" rtlCol="0" anchor="t"/>
          <a:lstStyle/>
          <a:p>
            <a:pPr marL="0" indent="0" algn="l">
              <a:lnSpc>
                <a:spcPct val="135000"/>
              </a:lnSpc>
              <a:buNone/>
            </a:pPr>
            <a:r>
              <a:rPr lang="en-US" sz="1550" dirty="0">
                <a:solidFill>
                  <a:srgbClr val="475569"/>
                </a:solidFill>
                <a:latin typeface="Poppins" pitchFamily="34" charset="0"/>
                <a:ea typeface="Poppins" pitchFamily="34" charset="-122"/>
                <a:cs typeface="Poppins" pitchFamily="34" charset="-120"/>
              </a:rPr>
              <a:t>A single table is not always wrong. If you have one source, no dimensions worth describing separately, no time intelligence and no counts of distinct things, a flat table is simpler, and simpler is a real virtue. Plenty of good reports are one table.</a:t>
            </a:r>
            <a:endParaRPr lang="en-US" sz="1550" dirty="0"/>
          </a:p>
        </p:txBody>
      </p:sp>
      <p:sp>
        <p:nvSpPr>
          <p:cNvPr id="10" name="Text 8"/>
          <p:cNvSpPr txBox="1"/>
          <p:nvPr/>
        </p:nvSpPr>
        <p:spPr>
          <a:xfrm>
            <a:off x="2057400" y="3291840"/>
            <a:ext cx="8138160" cy="1097280"/>
          </a:xfrm>
          <a:prstGeom prst="rect">
            <a:avLst/>
          </a:prstGeom>
          <a:noFill/>
          <a:ln/>
        </p:spPr>
        <p:txBody>
          <a:bodyPr wrap="square" lIns="0" tIns="0" rIns="0" bIns="0" rtlCol="0" anchor="t"/>
          <a:lstStyle/>
          <a:p>
            <a:pPr marL="0" indent="0" algn="l">
              <a:lnSpc>
                <a:spcPct val="135000"/>
              </a:lnSpc>
              <a:buNone/>
            </a:pPr>
            <a:r>
              <a:rPr lang="en-US" sz="1550" dirty="0">
                <a:solidFill>
                  <a:srgbClr val="475569"/>
                </a:solidFill>
                <a:latin typeface="Poppins" pitchFamily="34" charset="0"/>
                <a:ea typeface="Poppins" pitchFamily="34" charset="-122"/>
                <a:cs typeface="Poppins" pitchFamily="34" charset="-120"/>
              </a:rPr>
              <a:t>The claim in this topic is narrower, and it is the one your outcome asks you to explain: a flat table is the wrong design when you need to count or filter by things rather than events. Know which situation you are in, and be able to say why.</a:t>
            </a:r>
            <a:endParaRPr lang="en-US" sz="1550" dirty="0"/>
          </a:p>
        </p:txBody>
      </p:sp>
      <p:sp>
        <p:nvSpPr>
          <p:cNvPr id="11" name="Shape 9"/>
          <p:cNvSpPr/>
          <p:nvPr/>
        </p:nvSpPr>
        <p:spPr>
          <a:xfrm>
            <a:off x="685800" y="4800600"/>
            <a:ext cx="9829800" cy="914400"/>
          </a:xfrm>
          <a:prstGeom prst="roundRect">
            <a:avLst>
              <a:gd name="adj" fmla="val 9000"/>
            </a:avLst>
          </a:prstGeom>
          <a:solidFill>
            <a:srgbClr val="FBF3E6"/>
          </a:solidFill>
          <a:ln/>
        </p:spPr>
      </p:sp>
      <p:sp>
        <p:nvSpPr>
          <p:cNvPr id="12" name="Shape 10"/>
          <p:cNvSpPr/>
          <p:nvPr/>
        </p:nvSpPr>
        <p:spPr>
          <a:xfrm>
            <a:off x="685800" y="4800600"/>
            <a:ext cx="68580" cy="914400"/>
          </a:xfrm>
          <a:prstGeom prst="rect">
            <a:avLst/>
          </a:prstGeom>
          <a:solidFill>
            <a:srgbClr val="C9821F"/>
          </a:solidFill>
          <a:ln/>
        </p:spPr>
      </p:sp>
      <p:sp>
        <p:nvSpPr>
          <p:cNvPr id="13" name="Text 11"/>
          <p:cNvSpPr txBox="1"/>
          <p:nvPr/>
        </p:nvSpPr>
        <p:spPr>
          <a:xfrm>
            <a:off x="1051560" y="4800600"/>
            <a:ext cx="9235440" cy="914400"/>
          </a:xfrm>
          <a:prstGeom prst="rect">
            <a:avLst/>
          </a:prstGeom>
          <a:noFill/>
          <a:ln/>
        </p:spPr>
        <p:txBody>
          <a:bodyPr wrap="square" lIns="0" tIns="0" rIns="0" bIns="0" rtlCol="0" anchor="ctr"/>
          <a:lstStyle/>
          <a:p>
            <a:pPr marL="0" indent="0" algn="l">
              <a:lnSpc>
                <a:spcPct val="135000"/>
              </a:lnSpc>
              <a:buNone/>
            </a:pPr>
            <a:r>
              <a:rPr lang="en-US" sz="1450" b="1" dirty="0">
                <a:solidFill>
                  <a:srgbClr val="8A5A12"/>
                </a:solidFill>
                <a:latin typeface="Poppins" pitchFamily="34" charset="0"/>
                <a:ea typeface="Poppins" pitchFamily="34" charset="-122"/>
                <a:cs typeface="Poppins" pitchFamily="34" charset="-120"/>
              </a:rPr>
              <a:t>A trainee who says “flat tables are always bad” has learned a slogan, not a skill. This nuance is fair game in the formative check.</a:t>
            </a:r>
            <a:endParaRPr lang="en-US" sz="1450" dirty="0"/>
          </a:p>
        </p:txBody>
      </p:sp>
      <p:pic>
        <p:nvPicPr>
          <p:cNvPr id="14"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15" name="Text 12"/>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Topic Recap</a:t>
            </a:r>
            <a:endParaRPr lang="en-US" sz="2700" dirty="0"/>
          </a:p>
        </p:txBody>
      </p:sp>
      <p:sp>
        <p:nvSpPr>
          <p:cNvPr id="6" name="Shape 4"/>
          <p:cNvSpPr/>
          <p:nvPr/>
        </p:nvSpPr>
        <p:spPr>
          <a:xfrm>
            <a:off x="685800" y="1783080"/>
            <a:ext cx="9829800" cy="777240"/>
          </a:xfrm>
          <a:prstGeom prst="roundRect">
            <a:avLst>
              <a:gd name="adj" fmla="val 9412"/>
            </a:avLst>
          </a:prstGeom>
          <a:solidFill>
            <a:srgbClr val="FFFFFF"/>
          </a:solidFill>
          <a:ln/>
          <a:effectLst>
            <a:outerShdw blurRad="101600" dist="25400" dir="5400000" algn="bl" rotWithShape="0">
              <a:srgbClr val="1B2A2E">
                <a:alpha val="10000"/>
              </a:srgbClr>
            </a:outerShdw>
          </a:effectLst>
        </p:spPr>
      </p:sp>
      <p:sp>
        <p:nvSpPr>
          <p:cNvPr id="7" name="Shape 5"/>
          <p:cNvSpPr/>
          <p:nvPr/>
        </p:nvSpPr>
        <p:spPr>
          <a:xfrm>
            <a:off x="932688" y="1956816"/>
            <a:ext cx="429768" cy="429768"/>
          </a:xfrm>
          <a:prstGeom prst="ellipse">
            <a:avLst/>
          </a:prstGeom>
          <a:solidFill>
            <a:srgbClr val="387F7F"/>
          </a:solidFill>
          <a:ln/>
        </p:spPr>
      </p:sp>
      <p:sp>
        <p:nvSpPr>
          <p:cNvPr id="8" name="Text 6"/>
          <p:cNvSpPr txBox="1"/>
          <p:nvPr/>
        </p:nvSpPr>
        <p:spPr>
          <a:xfrm>
            <a:off x="932688" y="1956816"/>
            <a:ext cx="429768" cy="429768"/>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9" name="Text 7"/>
          <p:cNvSpPr txBox="1"/>
          <p:nvPr/>
        </p:nvSpPr>
        <p:spPr>
          <a:xfrm>
            <a:off x="1572768" y="1828800"/>
            <a:ext cx="8686800" cy="685800"/>
          </a:xfrm>
          <a:prstGeom prst="rect">
            <a:avLst/>
          </a:prstGeom>
          <a:noFill/>
          <a:ln/>
        </p:spPr>
        <p:txBody>
          <a:bodyPr wrap="square" lIns="0" tIns="0" rIns="0" bIns="0" rtlCol="0" anchor="ctr"/>
          <a:lstStyle/>
          <a:p>
            <a:pPr marL="0" indent="0" algn="l">
              <a:lnSpc>
                <a:spcPct val="120000"/>
              </a:lnSpc>
              <a:buNone/>
            </a:pPr>
            <a:r>
              <a:rPr lang="en-US" sz="1450" dirty="0">
                <a:solidFill>
                  <a:srgbClr val="475569"/>
                </a:solidFill>
                <a:latin typeface="Poppins" pitchFamily="34" charset="0"/>
                <a:ea typeface="Poppins" pitchFamily="34" charset="-122"/>
                <a:cs typeface="Poppins" pitchFamily="34" charset="-120"/>
              </a:rPr>
              <a:t>Build a data model with correct one-to-many relationships, and check cardinality, direction and active state.</a:t>
            </a:r>
            <a:endParaRPr lang="en-US" sz="1450" dirty="0"/>
          </a:p>
        </p:txBody>
      </p:sp>
      <p:sp>
        <p:nvSpPr>
          <p:cNvPr id="10" name="Shape 8"/>
          <p:cNvSpPr/>
          <p:nvPr/>
        </p:nvSpPr>
        <p:spPr>
          <a:xfrm>
            <a:off x="685800" y="2697480"/>
            <a:ext cx="9829800" cy="777240"/>
          </a:xfrm>
          <a:prstGeom prst="roundRect">
            <a:avLst>
              <a:gd name="adj" fmla="val 9412"/>
            </a:avLst>
          </a:prstGeom>
          <a:solidFill>
            <a:srgbClr val="FFFFFF"/>
          </a:solidFill>
          <a:ln/>
          <a:effectLst>
            <a:outerShdw blurRad="101600" dist="25400" dir="5400000" algn="bl" rotWithShape="0">
              <a:srgbClr val="1B2A2E">
                <a:alpha val="10000"/>
              </a:srgbClr>
            </a:outerShdw>
          </a:effectLst>
        </p:spPr>
      </p:sp>
      <p:sp>
        <p:nvSpPr>
          <p:cNvPr id="11" name="Shape 9"/>
          <p:cNvSpPr/>
          <p:nvPr/>
        </p:nvSpPr>
        <p:spPr>
          <a:xfrm>
            <a:off x="932688" y="2871216"/>
            <a:ext cx="429768" cy="429768"/>
          </a:xfrm>
          <a:prstGeom prst="ellipse">
            <a:avLst/>
          </a:prstGeom>
          <a:solidFill>
            <a:srgbClr val="387F7F"/>
          </a:solidFill>
          <a:ln/>
        </p:spPr>
      </p:sp>
      <p:sp>
        <p:nvSpPr>
          <p:cNvPr id="12" name="Text 10"/>
          <p:cNvSpPr txBox="1"/>
          <p:nvPr/>
        </p:nvSpPr>
        <p:spPr>
          <a:xfrm>
            <a:off x="932688" y="2871216"/>
            <a:ext cx="429768" cy="429768"/>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13" name="Text 11"/>
          <p:cNvSpPr txBox="1"/>
          <p:nvPr/>
        </p:nvSpPr>
        <p:spPr>
          <a:xfrm>
            <a:off x="1572768" y="2743200"/>
            <a:ext cx="8686800" cy="685800"/>
          </a:xfrm>
          <a:prstGeom prst="rect">
            <a:avLst/>
          </a:prstGeom>
          <a:noFill/>
          <a:ln/>
        </p:spPr>
        <p:txBody>
          <a:bodyPr wrap="square" lIns="0" tIns="0" rIns="0" bIns="0" rtlCol="0" anchor="ctr"/>
          <a:lstStyle/>
          <a:p>
            <a:pPr marL="0" indent="0" algn="l">
              <a:lnSpc>
                <a:spcPct val="120000"/>
              </a:lnSpc>
              <a:buNone/>
            </a:pPr>
            <a:r>
              <a:rPr lang="en-US" sz="1450" dirty="0">
                <a:solidFill>
                  <a:srgbClr val="475569"/>
                </a:solidFill>
                <a:latin typeface="Poppins" pitchFamily="34" charset="0"/>
                <a:ea typeface="Poppins" pitchFamily="34" charset="-122"/>
                <a:cs typeface="Poppins" pitchFamily="34" charset="-120"/>
              </a:rPr>
              <a:t>Explain why a flat single table is often the wrong design, with a worked failure you watched produce a plausible wrong number.</a:t>
            </a:r>
            <a:endParaRPr lang="en-US" sz="1450" dirty="0"/>
          </a:p>
        </p:txBody>
      </p:sp>
      <p:sp>
        <p:nvSpPr>
          <p:cNvPr id="14" name="Shape 12"/>
          <p:cNvSpPr/>
          <p:nvPr/>
        </p:nvSpPr>
        <p:spPr>
          <a:xfrm>
            <a:off x="685800" y="3611880"/>
            <a:ext cx="9829800" cy="777240"/>
          </a:xfrm>
          <a:prstGeom prst="roundRect">
            <a:avLst>
              <a:gd name="adj" fmla="val 9412"/>
            </a:avLst>
          </a:prstGeom>
          <a:solidFill>
            <a:srgbClr val="FFFFFF"/>
          </a:solidFill>
          <a:ln/>
          <a:effectLst>
            <a:outerShdw blurRad="101600" dist="25400" dir="5400000" algn="bl" rotWithShape="0">
              <a:srgbClr val="1B2A2E">
                <a:alpha val="10000"/>
              </a:srgbClr>
            </a:outerShdw>
          </a:effectLst>
        </p:spPr>
      </p:sp>
      <p:sp>
        <p:nvSpPr>
          <p:cNvPr id="15" name="Shape 13"/>
          <p:cNvSpPr/>
          <p:nvPr/>
        </p:nvSpPr>
        <p:spPr>
          <a:xfrm>
            <a:off x="932688" y="3785616"/>
            <a:ext cx="429768" cy="429768"/>
          </a:xfrm>
          <a:prstGeom prst="ellipse">
            <a:avLst/>
          </a:prstGeom>
          <a:solidFill>
            <a:srgbClr val="387F7F"/>
          </a:solidFill>
          <a:ln/>
        </p:spPr>
      </p:sp>
      <p:sp>
        <p:nvSpPr>
          <p:cNvPr id="16" name="Text 14"/>
          <p:cNvSpPr txBox="1"/>
          <p:nvPr/>
        </p:nvSpPr>
        <p:spPr>
          <a:xfrm>
            <a:off x="932688" y="3785616"/>
            <a:ext cx="429768" cy="429768"/>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17" name="Text 15"/>
          <p:cNvSpPr txBox="1"/>
          <p:nvPr/>
        </p:nvSpPr>
        <p:spPr>
          <a:xfrm>
            <a:off x="1572768" y="3657600"/>
            <a:ext cx="8686800" cy="685800"/>
          </a:xfrm>
          <a:prstGeom prst="rect">
            <a:avLst/>
          </a:prstGeom>
          <a:noFill/>
          <a:ln/>
        </p:spPr>
        <p:txBody>
          <a:bodyPr wrap="square" lIns="0" tIns="0" rIns="0" bIns="0" rtlCol="0" anchor="ctr"/>
          <a:lstStyle/>
          <a:p>
            <a:pPr marL="0" indent="0" algn="l">
              <a:lnSpc>
                <a:spcPct val="120000"/>
              </a:lnSpc>
              <a:buNone/>
            </a:pPr>
            <a:r>
              <a:rPr lang="en-US" sz="1450" dirty="0">
                <a:solidFill>
                  <a:srgbClr val="475569"/>
                </a:solidFill>
                <a:latin typeface="Poppins" pitchFamily="34" charset="0"/>
                <a:ea typeface="Poppins" pitchFamily="34" charset="-122"/>
                <a:cs typeface="Poppins" pitchFamily="34" charset="-120"/>
              </a:rPr>
              <a:t>Fix a broken relationship upstream in Power Query rather than patching it in the model.</a:t>
            </a:r>
            <a:endParaRPr lang="en-US" sz="1450" dirty="0"/>
          </a:p>
        </p:txBody>
      </p:sp>
      <p:sp>
        <p:nvSpPr>
          <p:cNvPr id="18" name="Shape 16"/>
          <p:cNvSpPr/>
          <p:nvPr/>
        </p:nvSpPr>
        <p:spPr>
          <a:xfrm>
            <a:off x="685800" y="4709160"/>
            <a:ext cx="9829800" cy="1005840"/>
          </a:xfrm>
          <a:prstGeom prst="roundRect">
            <a:avLst>
              <a:gd name="adj" fmla="val 8182"/>
            </a:avLst>
          </a:prstGeom>
          <a:solidFill>
            <a:srgbClr val="EEF4F4"/>
          </a:solidFill>
          <a:ln/>
        </p:spPr>
      </p:sp>
      <p:sp>
        <p:nvSpPr>
          <p:cNvPr id="19" name="Shape 17"/>
          <p:cNvSpPr/>
          <p:nvPr/>
        </p:nvSpPr>
        <p:spPr>
          <a:xfrm>
            <a:off x="685800" y="4709160"/>
            <a:ext cx="68580" cy="1005840"/>
          </a:xfrm>
          <a:prstGeom prst="rect">
            <a:avLst/>
          </a:prstGeom>
          <a:solidFill>
            <a:srgbClr val="387F7F"/>
          </a:solidFill>
          <a:ln/>
        </p:spPr>
      </p:sp>
      <p:sp>
        <p:nvSpPr>
          <p:cNvPr id="20" name="Text 18"/>
          <p:cNvSpPr txBox="1"/>
          <p:nvPr/>
        </p:nvSpPr>
        <p:spPr>
          <a:xfrm>
            <a:off x="1051560" y="4709160"/>
            <a:ext cx="9235440" cy="1005840"/>
          </a:xfrm>
          <a:prstGeom prst="rect">
            <a:avLst/>
          </a:prstGeom>
          <a:noFill/>
          <a:ln/>
        </p:spPr>
        <p:txBody>
          <a:bodyPr wrap="square" lIns="0" tIns="0" rIns="0" bIns="0" rtlCol="0" anchor="ctr"/>
          <a:lstStyle/>
          <a:p>
            <a:pPr marL="0" indent="0" algn="ctr">
              <a:lnSpc>
                <a:spcPct val="135000"/>
              </a:lnSpc>
              <a:buNone/>
            </a:pPr>
            <a:r>
              <a:rPr lang="en-US" sz="1600" b="1" dirty="0">
                <a:solidFill>
                  <a:srgbClr val="387F7F"/>
                </a:solidFill>
                <a:latin typeface="Poppins" pitchFamily="34" charset="0"/>
                <a:ea typeface="Poppins" pitchFamily="34" charset="-122"/>
                <a:cs typeface="Poppins" pitchFamily="34" charset="-120"/>
              </a:rPr>
              <a:t>You have seen a chart that was beautifully labelled and completely wrong. Remember how that felt.</a:t>
            </a:r>
            <a:endParaRPr lang="en-US" sz="1600" dirty="0"/>
          </a:p>
        </p:txBody>
      </p:sp>
      <p:pic>
        <p:nvPicPr>
          <p:cNvPr id="21"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2" name="Text 19"/>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marL="0" indent="0">
              <a:lnSpc>
                <a:spcPct val="108000"/>
              </a:lnSpc>
              <a:buNone/>
            </a:pPr>
            <a:r>
              <a:rPr lang="en-US" sz="2700" dirty="0">
                <a:solidFill>
                  <a:srgbClr val="387F7F"/>
                </a:solidFill>
                <a:latin typeface="Poppins" pitchFamily="34" charset="0"/>
                <a:ea typeface="Poppins" pitchFamily="34" charset="-122"/>
                <a:cs typeface="Poppins" pitchFamily="34" charset="-120"/>
              </a:rPr>
              <a:t>What is Next</a:t>
            </a:r>
            <a:endParaRPr lang="en-US" sz="2700" dirty="0"/>
          </a:p>
        </p:txBody>
      </p:sp>
      <p:sp>
        <p:nvSpPr>
          <p:cNvPr id="6" name="Shape 4"/>
          <p:cNvSpPr/>
          <p:nvPr/>
        </p:nvSpPr>
        <p:spPr>
          <a:xfrm>
            <a:off x="685800" y="1691640"/>
            <a:ext cx="3063240" cy="3200400"/>
          </a:xfrm>
          <a:prstGeom prst="roundRect">
            <a:avLst>
              <a:gd name="adj" fmla="val 2985"/>
            </a:avLst>
          </a:prstGeom>
          <a:solidFill>
            <a:srgbClr val="FFFFFF"/>
          </a:solidFill>
          <a:ln/>
          <a:effectLst>
            <a:outerShdw blurRad="152400" dist="38100" dir="5400000" algn="bl" rotWithShape="0">
              <a:srgbClr val="1B2A2E">
                <a:alpha val="14000"/>
              </a:srgbClr>
            </a:outerShdw>
          </a:effectLst>
        </p:spPr>
      </p:sp>
      <p:sp>
        <p:nvSpPr>
          <p:cNvPr id="7" name="Shape 5"/>
          <p:cNvSpPr/>
          <p:nvPr/>
        </p:nvSpPr>
        <p:spPr>
          <a:xfrm>
            <a:off x="685800" y="1691640"/>
            <a:ext cx="3063240" cy="475488"/>
          </a:xfrm>
          <a:prstGeom prst="rect">
            <a:avLst/>
          </a:prstGeom>
          <a:solidFill>
            <a:srgbClr val="387F7F"/>
          </a:solidFill>
          <a:ln/>
        </p:spPr>
      </p:sp>
      <p:sp>
        <p:nvSpPr>
          <p:cNvPr id="8" name="Text 6"/>
          <p:cNvSpPr txBox="1"/>
          <p:nvPr/>
        </p:nvSpPr>
        <p:spPr>
          <a:xfrm>
            <a:off x="685800" y="1691640"/>
            <a:ext cx="3063240" cy="475488"/>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Poppins" pitchFamily="34" charset="0"/>
                <a:ea typeface="Poppins" pitchFamily="34" charset="-122"/>
                <a:cs typeface="Poppins" pitchFamily="34" charset="-120"/>
              </a:rPr>
              <a:t>TOPIC 7.3</a:t>
            </a:r>
            <a:endParaRPr lang="en-US" sz="1150" dirty="0"/>
          </a:p>
        </p:txBody>
      </p:sp>
      <p:sp>
        <p:nvSpPr>
          <p:cNvPr id="9" name="Shape 7"/>
          <p:cNvSpPr/>
          <p:nvPr/>
        </p:nvSpPr>
        <p:spPr>
          <a:xfrm>
            <a:off x="1888236" y="2468880"/>
            <a:ext cx="658368" cy="658368"/>
          </a:xfrm>
          <a:prstGeom prst="ellipse">
            <a:avLst/>
          </a:prstGeom>
          <a:solidFill>
            <a:srgbClr val="FFFFFF"/>
          </a:solidFill>
          <a:ln w="22225">
            <a:solidFill>
              <a:srgbClr val="387F7F"/>
            </a:solidFill>
            <a:prstDash val="solid"/>
          </a:ln>
        </p:spPr>
      </p:sp>
      <p:sp>
        <p:nvSpPr>
          <p:cNvPr id="10" name="Text 8"/>
          <p:cNvSpPr txBox="1"/>
          <p:nvPr/>
        </p:nvSpPr>
        <p:spPr>
          <a:xfrm>
            <a:off x="1888236" y="2468880"/>
            <a:ext cx="658368" cy="658368"/>
          </a:xfrm>
          <a:prstGeom prst="rect">
            <a:avLst/>
          </a:prstGeom>
          <a:noFill/>
          <a:ln/>
        </p:spPr>
        <p:txBody>
          <a:bodyPr wrap="square" lIns="0" tIns="0" rIns="0" bIns="0" rtlCol="0" anchor="ctr"/>
          <a:lstStyle/>
          <a:p>
            <a:pPr marL="0" indent="0" algn="ctr">
              <a:buNone/>
            </a:pPr>
            <a:r>
              <a:rPr lang="en-US" sz="2400" b="1" dirty="0">
                <a:solidFill>
                  <a:srgbClr val="387F7F"/>
                </a:solidFill>
                <a:latin typeface="Poppins" pitchFamily="34" charset="0"/>
                <a:ea typeface="Poppins" pitchFamily="34" charset="-122"/>
                <a:cs typeface="Poppins" pitchFamily="34" charset="-120"/>
              </a:rPr>
              <a:t>ƒ</a:t>
            </a:r>
            <a:endParaRPr lang="en-US" sz="2400" dirty="0"/>
          </a:p>
        </p:txBody>
      </p:sp>
      <p:sp>
        <p:nvSpPr>
          <p:cNvPr id="11" name="Text 9"/>
          <p:cNvSpPr txBox="1"/>
          <p:nvPr/>
        </p:nvSpPr>
        <p:spPr>
          <a:xfrm>
            <a:off x="960120" y="3337560"/>
            <a:ext cx="2514600" cy="1371600"/>
          </a:xfrm>
          <a:prstGeom prst="rect">
            <a:avLst/>
          </a:prstGeom>
          <a:noFill/>
          <a:ln/>
        </p:spPr>
        <p:txBody>
          <a:bodyPr wrap="square" lIns="0" tIns="0" rIns="0" bIns="0" rtlCol="0" anchor="t"/>
          <a:lstStyle/>
          <a:p>
            <a:pPr marL="0" indent="0" algn="ctr">
              <a:lnSpc>
                <a:spcPct val="130000"/>
              </a:lnSpc>
              <a:buNone/>
            </a:pPr>
            <a:r>
              <a:rPr lang="en-US" sz="1250" dirty="0">
                <a:solidFill>
                  <a:srgbClr val="475569"/>
                </a:solidFill>
                <a:latin typeface="Poppins" pitchFamily="34" charset="0"/>
                <a:ea typeface="Poppins" pitchFamily="34" charset="-122"/>
                <a:cs typeface="Poppins" pitchFamily="34" charset="-120"/>
              </a:rPr>
              <a:t>The model knows the structure. Now you teach it to calculate. Three DAX measures cover most real dashboards.</a:t>
            </a:r>
            <a:endParaRPr lang="en-US" sz="1250" dirty="0"/>
          </a:p>
        </p:txBody>
      </p:sp>
      <p:sp>
        <p:nvSpPr>
          <p:cNvPr id="12" name="Shape 10"/>
          <p:cNvSpPr/>
          <p:nvPr/>
        </p:nvSpPr>
        <p:spPr>
          <a:xfrm>
            <a:off x="4005072" y="1691640"/>
            <a:ext cx="3063240" cy="3200400"/>
          </a:xfrm>
          <a:prstGeom prst="roundRect">
            <a:avLst>
              <a:gd name="adj" fmla="val 2985"/>
            </a:avLst>
          </a:prstGeom>
          <a:solidFill>
            <a:srgbClr val="FFFFFF"/>
          </a:solidFill>
          <a:ln/>
          <a:effectLst>
            <a:outerShdw blurRad="152400" dist="38100" dir="5400000" algn="bl" rotWithShape="0">
              <a:srgbClr val="1B2A2E">
                <a:alpha val="14000"/>
              </a:srgbClr>
            </a:outerShdw>
          </a:effectLst>
        </p:spPr>
      </p:sp>
      <p:sp>
        <p:nvSpPr>
          <p:cNvPr id="13" name="Shape 11"/>
          <p:cNvSpPr/>
          <p:nvPr/>
        </p:nvSpPr>
        <p:spPr>
          <a:xfrm>
            <a:off x="4005072" y="1691640"/>
            <a:ext cx="3063240" cy="475488"/>
          </a:xfrm>
          <a:prstGeom prst="rect">
            <a:avLst/>
          </a:prstGeom>
          <a:solidFill>
            <a:srgbClr val="387F7F"/>
          </a:solidFill>
          <a:ln/>
        </p:spPr>
      </p:sp>
      <p:sp>
        <p:nvSpPr>
          <p:cNvPr id="14" name="Text 12"/>
          <p:cNvSpPr txBox="1"/>
          <p:nvPr/>
        </p:nvSpPr>
        <p:spPr>
          <a:xfrm>
            <a:off x="4005072" y="1691640"/>
            <a:ext cx="3063240" cy="475488"/>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Poppins" pitchFamily="34" charset="0"/>
                <a:ea typeface="Poppins" pitchFamily="34" charset="-122"/>
                <a:cs typeface="Poppins" pitchFamily="34" charset="-120"/>
              </a:rPr>
              <a:t>IN THE LAB</a:t>
            </a:r>
            <a:endParaRPr lang="en-US" sz="1150" dirty="0"/>
          </a:p>
        </p:txBody>
      </p:sp>
      <p:sp>
        <p:nvSpPr>
          <p:cNvPr id="15" name="Shape 13"/>
          <p:cNvSpPr/>
          <p:nvPr/>
        </p:nvSpPr>
        <p:spPr>
          <a:xfrm>
            <a:off x="5207508" y="2468880"/>
            <a:ext cx="658368" cy="658368"/>
          </a:xfrm>
          <a:prstGeom prst="ellipse">
            <a:avLst/>
          </a:prstGeom>
          <a:solidFill>
            <a:srgbClr val="FFFFFF"/>
          </a:solidFill>
          <a:ln w="22225">
            <a:solidFill>
              <a:srgbClr val="387F7F"/>
            </a:solidFill>
            <a:prstDash val="solid"/>
          </a:ln>
        </p:spPr>
      </p:sp>
      <p:sp>
        <p:nvSpPr>
          <p:cNvPr id="16" name="Text 14"/>
          <p:cNvSpPr txBox="1"/>
          <p:nvPr/>
        </p:nvSpPr>
        <p:spPr>
          <a:xfrm>
            <a:off x="5207508" y="2468880"/>
            <a:ext cx="658368" cy="658368"/>
          </a:xfrm>
          <a:prstGeom prst="rect">
            <a:avLst/>
          </a:prstGeom>
          <a:noFill/>
          <a:ln/>
        </p:spPr>
        <p:txBody>
          <a:bodyPr wrap="square" lIns="0" tIns="0" rIns="0" bIns="0" rtlCol="0" anchor="ctr"/>
          <a:lstStyle/>
          <a:p>
            <a:pPr marL="0" indent="0" algn="ctr">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17" name="Text 15"/>
          <p:cNvSpPr txBox="1"/>
          <p:nvPr/>
        </p:nvSpPr>
        <p:spPr>
          <a:xfrm>
            <a:off x="4279392" y="3337560"/>
            <a:ext cx="2514600" cy="1371600"/>
          </a:xfrm>
          <a:prstGeom prst="rect">
            <a:avLst/>
          </a:prstGeom>
          <a:noFill/>
          <a:ln/>
        </p:spPr>
        <p:txBody>
          <a:bodyPr wrap="square" lIns="0" tIns="0" rIns="0" bIns="0" rtlCol="0" anchor="t"/>
          <a:lstStyle/>
          <a:p>
            <a:pPr marL="0" indent="0" algn="ctr">
              <a:lnSpc>
                <a:spcPct val="130000"/>
              </a:lnSpc>
              <a:buNone/>
            </a:pPr>
            <a:r>
              <a:rPr lang="en-US" sz="1250" dirty="0">
                <a:solidFill>
                  <a:srgbClr val="475569"/>
                </a:solidFill>
                <a:latin typeface="Poppins" pitchFamily="34" charset="0"/>
                <a:ea typeface="Poppins" pitchFamily="34" charset="-122"/>
                <a:cs typeface="Poppins" pitchFamily="34" charset="-120"/>
              </a:rPr>
              <a:t>Repair a model with three deliberate faults: a bidirectional relationship, a many-to-many caused by duplicate keys, and an inactive relationship nobody noticed.</a:t>
            </a:r>
            <a:endParaRPr lang="en-US" sz="1250" dirty="0"/>
          </a:p>
        </p:txBody>
      </p:sp>
      <p:sp>
        <p:nvSpPr>
          <p:cNvPr id="18" name="Shape 16"/>
          <p:cNvSpPr/>
          <p:nvPr/>
        </p:nvSpPr>
        <p:spPr>
          <a:xfrm>
            <a:off x="7324344" y="1691640"/>
            <a:ext cx="3063240" cy="3200400"/>
          </a:xfrm>
          <a:prstGeom prst="roundRect">
            <a:avLst>
              <a:gd name="adj" fmla="val 2985"/>
            </a:avLst>
          </a:prstGeom>
          <a:solidFill>
            <a:srgbClr val="FFFFFF"/>
          </a:solidFill>
          <a:ln/>
          <a:effectLst>
            <a:outerShdw blurRad="152400" dist="38100" dir="5400000" algn="bl" rotWithShape="0">
              <a:srgbClr val="1B2A2E">
                <a:alpha val="14000"/>
              </a:srgbClr>
            </a:outerShdw>
          </a:effectLst>
        </p:spPr>
      </p:sp>
      <p:sp>
        <p:nvSpPr>
          <p:cNvPr id="19" name="Shape 17"/>
          <p:cNvSpPr/>
          <p:nvPr/>
        </p:nvSpPr>
        <p:spPr>
          <a:xfrm>
            <a:off x="7324344" y="1691640"/>
            <a:ext cx="3063240" cy="475488"/>
          </a:xfrm>
          <a:prstGeom prst="rect">
            <a:avLst/>
          </a:prstGeom>
          <a:solidFill>
            <a:srgbClr val="387F7F"/>
          </a:solidFill>
          <a:ln/>
        </p:spPr>
      </p:sp>
      <p:sp>
        <p:nvSpPr>
          <p:cNvPr id="20" name="Text 18"/>
          <p:cNvSpPr txBox="1"/>
          <p:nvPr/>
        </p:nvSpPr>
        <p:spPr>
          <a:xfrm>
            <a:off x="7324344" y="1691640"/>
            <a:ext cx="3063240" cy="475488"/>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Poppins" pitchFamily="34" charset="0"/>
                <a:ea typeface="Poppins" pitchFamily="34" charset="-122"/>
                <a:cs typeface="Poppins" pitchFamily="34" charset="-120"/>
              </a:rPr>
              <a:t>ON PUBLICA.ACADEMY</a:t>
            </a:r>
            <a:endParaRPr lang="en-US" sz="1150" dirty="0"/>
          </a:p>
        </p:txBody>
      </p:sp>
      <p:sp>
        <p:nvSpPr>
          <p:cNvPr id="21" name="Shape 19"/>
          <p:cNvSpPr/>
          <p:nvPr/>
        </p:nvSpPr>
        <p:spPr>
          <a:xfrm>
            <a:off x="8526780" y="2468880"/>
            <a:ext cx="658368" cy="658368"/>
          </a:xfrm>
          <a:prstGeom prst="ellipse">
            <a:avLst/>
          </a:prstGeom>
          <a:solidFill>
            <a:srgbClr val="FFFFFF"/>
          </a:solidFill>
          <a:ln w="22225">
            <a:solidFill>
              <a:srgbClr val="387F7F"/>
            </a:solidFill>
            <a:prstDash val="solid"/>
          </a:ln>
        </p:spPr>
      </p:sp>
      <p:sp>
        <p:nvSpPr>
          <p:cNvPr id="22" name="Text 20"/>
          <p:cNvSpPr txBox="1"/>
          <p:nvPr/>
        </p:nvSpPr>
        <p:spPr>
          <a:xfrm>
            <a:off x="8526780" y="2468880"/>
            <a:ext cx="658368" cy="658368"/>
          </a:xfrm>
          <a:prstGeom prst="rect">
            <a:avLst/>
          </a:prstGeom>
          <a:noFill/>
          <a:ln/>
        </p:spPr>
        <p:txBody>
          <a:bodyPr wrap="square" lIns="0" tIns="0" rIns="0" bIns="0" rtlCol="0" anchor="ctr"/>
          <a:lstStyle/>
          <a:p>
            <a:pPr marL="0" indent="0" algn="ctr">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23" name="Text 21"/>
          <p:cNvSpPr txBox="1"/>
          <p:nvPr/>
        </p:nvSpPr>
        <p:spPr>
          <a:xfrm>
            <a:off x="7598664" y="3337560"/>
            <a:ext cx="2514600" cy="1371600"/>
          </a:xfrm>
          <a:prstGeom prst="rect">
            <a:avLst/>
          </a:prstGeom>
          <a:noFill/>
          <a:ln/>
        </p:spPr>
        <p:txBody>
          <a:bodyPr wrap="square" lIns="0" tIns="0" rIns="0" bIns="0" rtlCol="0" anchor="t"/>
          <a:lstStyle/>
          <a:p>
            <a:pPr marL="0" indent="0" algn="ctr">
              <a:lnSpc>
                <a:spcPct val="130000"/>
              </a:lnSpc>
              <a:buNone/>
            </a:pPr>
            <a:r>
              <a:rPr lang="en-US" sz="1250" dirty="0">
                <a:solidFill>
                  <a:srgbClr val="475569"/>
                </a:solidFill>
                <a:latin typeface="Poppins" pitchFamily="34" charset="0"/>
                <a:ea typeface="Poppins" pitchFamily="34" charset="-122"/>
                <a:cs typeface="Poppins" pitchFamily="34" charset="-120"/>
              </a:rPr>
              <a:t>Practice questions on cardinality and filter direction, using the SwiftRoute star.</a:t>
            </a:r>
            <a:endParaRPr lang="en-US" sz="1250" dirty="0"/>
          </a:p>
        </p:txBody>
      </p:sp>
      <p:pic>
        <p:nvPicPr>
          <p:cNvPr id="24" name="Image 0" descr="/home/claude/build/assets/logo_full.png"/>
          <p:cNvPicPr>
            <a:picLocks noChangeAspect="1"/>
          </p:cNvPicPr>
          <p:nvPr/>
        </p:nvPicPr>
        <p:blipFill>
          <a:blip r:embed="rId4"/>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marL="0" indent="0" algn="r">
              <a:buNone/>
            </a:pPr>
            <a:r>
              <a:rPr lang="en-US" sz="1100" dirty="0">
                <a:solidFill>
                  <a:srgbClr val="64748B"/>
                </a:solidFill>
                <a:latin typeface="Poppins" pitchFamily="34" charset="0"/>
                <a:ea typeface="Poppins" pitchFamily="34" charset="-122"/>
                <a:cs typeface="Poppins"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5786</Words>
  <Application>Microsoft Office PowerPoint</Application>
  <PresentationFormat>Widescreen</PresentationFormat>
  <Paragraphs>325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Poppins</vt:lpstr>
      <vt:lpstr>Roboto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7.2 Data Modelling and Relationships</dc:title>
  <dc:subject>PptxGenJS Presentation</dc:subject>
  <dc:creator>Publica Academy</dc:creator>
  <cp:lastModifiedBy>Saheed Olayinka</cp:lastModifiedBy>
  <cp:revision>2</cp:revision>
  <dcterms:created xsi:type="dcterms:W3CDTF">2026-08-27T06:08:49Z</dcterms:created>
  <dcterms:modified xsi:type="dcterms:W3CDTF">2026-08-27T13:37:37Z</dcterms:modified>
</cp:coreProperties>
</file>