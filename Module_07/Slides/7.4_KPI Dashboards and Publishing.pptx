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one minute):
"Topic 7.4. You have a model that holds together and measures you have verified. Today is the topic where that stops being a technical exercise and becomes a product someone opens every morning.
The skill here is not Power BI. It is design judgement: what does the person in front of this screen need to see first, and what can you leave out. We will build the actual SwiftRoute dashboard, live, and by the end it is ready to hand to Adaeze, published or exported."
DELIVERY CUE: this topic is the closing assessment for the whole module, so say that plainly. What they build today is what gets marked.
TIMING: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outcomes name a decision-maker or an action. There is no such thing as a good dashboard in the abstract; there is only a good dashboard for Adaeze, answering her questions, on her screen.
WHAT TO SAY (about two minutes):
"Three outcomes. Design, apply, present.
Design a KPI dashboard for a stated audience. Not any dashboard, a dashboard built for a specific person with specific decisions to make.
Apply interactivity: slicers so a reader can ask the follow-up question you did not anticipate, and drill-downs so one chart can hold three levels of detail.
Present. Because a dashboard nobody can explain in ninety seconds has already failed, no matter how correct the numbers are."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THE ONE TO LAND. Restraint reads as laziness to a trainee and as expertise to a manager, and that gap is worth naming directly.
WHAT TO SAY (about three minutes):
"Two dashboards. Only one of them gets opened twice.
The first has nineteen visuals, four different colour schemes, and every metric the analyst could think of. It is clearly a lot of work. It is built to demonstrate effort.
The second has four numbers, one chart, one table. It looks like less. It took longer to build, because every visual on it survived a fight to justify its place.
Ask the room: who here has built something impressive that nobody used?"
Take one or two answers. This is the emotional set-up for the whole topic: restraint is a skill, not an absence of effort.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backward design, the instructional principle the programme's own creator guide asks facilitators to apply, now taught as a design skill in its own right.
WHAT TO SAY (about four minutes):
"The wrong way is to open the model, see what fields exist, and build a chart for each one. It produces a dashboard that is a tour of your data, not an answer to anything.
The right way starts with a named person and the decisions they make. Adaeze reassigns riders, escalates routes, and reports to clients against a ninety percent SLA. Every visual should support one of those three actions. Anything that does not, however interesting, belongs somewhere else."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IS THE SOPHISTICATED ONE and it dictates interactivity: she cannot answer it by looking, she has to be able to filter. That is what slicers are for, and it is why interactivity is a design decision rather than decoration.
WHAT TO SAY (about three minutes):
"Here is the actual brief, in Adaeze's words, and it comes straight from what she asked at the start of Topic 7.1.
Are we hitting the ninety percent promise this month? That needs a number against a target.
Which routes are dragging us down? That needs a ranked comparison, and you already know from Topic 7.2 which route sits at the bottom.
Is this a rider problem or a route problem? This one she cannot answer by looking at a static chart. She has to be able to click into a route and see the riders. That single question is why this dashboard needs a slicer, not just charts.
Three questions, four visuals. That is genuinely the whole dashboard."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routinely present a wall of unbenchmarked numbers in the capstone. Kill that habit here.
WHAT TO SAY (about three minutes):
"Eighty-two percent, on its own, is a metric. It is true and it is precise and it tells you nothing about whether to act.
Eighty-two percent against a ninety percent target is a KPI. Eight points below promise. Now it demands a decision.
The target is what converts a measurement into a signal. In Power BI this means the KPI visual or a target line, and it means agreeing the target with the person who owns the number, not inventing one that makes your dashboard look better."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this on the whiteboard as you talk rather than just showing it, then have trainees sketch Adaeze's layout on paper before touching Power BI. Paper first is a genuine time saver in the lab.
WHAT TO SAY (about four minutes):
"Readers scan a screen from the top left, the same way they read a page. Put the most important number where the eye lands first and the supporting detail below it.
Title and filters across the top, so the reader always knows what they are looking at. Four KPI cards in a row beneath that, the headline answers, readable in two seconds. Below that, the main chart on the left, the detail table on the right.
A dashboard laid out by whatever fitted is a dashboard that has to be explained, and the whole point is that it gets opened when you are not there."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"Part one. Which visual, and how the reader controls it."
TIMING: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brief. Re-teaching chart choice would waste the ten minutes needed for interactivity. Ask one recall question instead of a full re-teach.
WHAT TO SAY (about three minutes):
"Quick recall, not a re-teach. Why is a pie chart with eight slices dishonest?"
Take an answer, then move fast through the grid: bar for comparison, line for change over time, card for a single headline number, table when the reader needs an exact value to look up.
Nothing on the banned list has changed. Pie charts past three slices, dual axes, 3D, gauges. The reasons are the same reasons from Module 6."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CALLOUT MATTERS MORE THAN IT LOOKS. Filtered-state invisibility is one of the most common real causes of wrong decisions from BI tools: a manager reads a filtered view as the whole picture.
WHAT TO SAY (about three minutes):
"A static report answers the questions you anticipated. A slicer lets Adaeze answer the one you did not.
She sees Apapa is weak on the route chart, clicks Apapa on the hub slicer, and the rider table beneath now shows only Apapa riders. She has just answered rider problem or route problem, without calling you.
One rule, and it is not optional. Every slicer must visibly show what it is currently filtered to. A dashboard filtered to one hub with no visible indication of which hub is a dashboard that will be misread."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The single-arrow-down, double-arrow-down and expand-all buttons behave differently and confuse everyone the first time.
WHAT TO SAY (about three minutes):
"Set a hierarchy on the axis field, hub down to route down to rider, and Power BI gives you the drill arrows automatically.
The reader starts at the summary, corridor level, and only goes deeper where something looks wrong. That is exactly how an operations manager investigates a problem, and it is why one drillable chart beats three separate charts fighting for space.
The alternative is three charts competing for space and a reader who has to work out how they relate."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FIVE IS THE ONE THAT TRANSFERS TO THE CAPSTONE REPORT and it is the "so what" test from Module 6 applied to a chart title. Give an example aloud.
WHAT TO SAY (about four minutes):
"Six rules, and you apply all six every time.
Every axis labelled with units. Sort deliberately. One accent colour meaning one thing. Data labels where they help, not where they clutter. Titles that state the finding rather than name the fields, so 'three routes fall below seventy percent' instead of 'on-time rate by route'. And round honestly, never in a direction that flatters."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"Part two. The dashboard is not finished until someone who is not you can open it."
TIMING: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teach the full concept regardless of your own licence, because trainees may go on to employers who have Pro and need to recognise the workflow. But be upfront from the start of this slide about what your cohort can actually do today.
WHAT TO SAY (about three minutes):
"Publish sends the report to a workspace in the Power BI Service. If you have a Pro licence, Adaeze opens that report herself, at a link, in a browser or on the mobile app. She needs nothing from you beyond that link.
If you do not have Pro, and many of you will not, the workspace is yours alone. You can open the published report yourself. Nobody else can, because sharing outside your own workspace is the one feature the free tier withholds.
That is not a dead end. File, Export, PDF or PowerPoint gives Adaeze the same dashboard as a file she can open right now, on any device, no licence required. It will not refresh itself the way a published report would, but it is a real deliverable, and it is exactly what you will submit for this module's assessment."
IF YOU ARE DELIVERING THIS WITHOUT A PRO LICENCE YOURSELF: say so plainly to the room, the same way this slide says it to you. Demo the Publish button so trainees see it work as far as My workspace, then demo File, Export, PDF as the actual hand-in method. Do not pretend to a live "here is Adaeze's link" demo you cannot actually perform.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like this measure because it is concrete and it makes their work look professional immediately. This version uses the max date in the data rather than a true system refresh timestamp; be honest about that shortcut if a sharp trainee asks.
WHAT TO SAY (about three minutes):
"A refresh failure is invisible by default. The dashboard keeps showing yesterday's numbers with complete confidence, and it looks exactly the same as when it is current.
One card, one measure, and it is the cheapest professional insurance in the whole topic. Put the last refresh date on the canvas, visibly, every single dashboard you ever build."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VERIFIED: On-Time Rate 82.0% against 90% target, Total Deliveries 41,280, Total Revenue 247,680,000, Late Deliveries 7,430, LAG-07 at 61.4%.
DEMO LIVE, narrating decisions rather than clicks. Deliberately choose a wrong chart type at step 3, notice it aloud, and change it. Watching recovery is one of the programme's named methods.
WHAT TO SAY (about five minutes), building live:
"Build in this order, every time. Sketch on paper for two minutes. Then cards, because the headline answers should exist before you have spent forty minutes on a chart nobody needed.
On-Time Rate, eighty-two percent against the ninety percent target. Total Deliveries, forty-one thousand two hundred and eighty. Total Revenue, two hundred and forty-seven million, six hundred and eighty thousand naira. Late Deliveries, seven thousand four hundred and thirty.
Then the main chart, ranked routes, LAG-07 sitting at the bottom at sixty-one point four percent, exactly where it sat in Topic 7.2. Then slicers. Then formatting and the title."
TIMING: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6 insight narrative structure (context, finding, implication, recommendation) applied to a live demonstration, and it is exactly what the capstone panel presentation will assess. Say that connection out loud.
WHAT TO SAY (about four minutes), then have trainees rehearse it in pairs:
"Two ways to present the same dashboard.
The tour: up here I have on-time rate, and then over here is deliveries by route, and if you click this slicer it filters, and down here is the rider table. Two minutes. No decision anywhere in it.
The finding: we are eight points below the SLA this month. It is concentrated in one corridor. LAG-07 is running at sixty-one percent while everything else sits above eighty. It is not the riders, they perform fine elsewhere. I would look at the Apapa dispatch window. Forty seconds. One decision, ready to be made.
Lead with the answer. The dashboard is evidence, not an itinerary."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FORTY-SECOND PRESENTATION IS NOT OPTIONAL and it is the part trainees skip. Enforce it in pairs. It rehearses the panel in miniature at almost no cost.
FIGURES VERIFIED: 82.0% on-time against 90% target, LAG-07 at 61.4%.
WHAT TO DO: walk the room. The forty-second presentation is the assessed skill, not the build itself.
TIMING: 20 minutes plus 5 minutes for pair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Module 6's before-and-after critique technique, now run as peer critique on trainee work rather than a prepared bad example. It works just as well, provided you keep it about the artefact.
WHAT TO SAY (about three minutes):
"Three questions to run on any dashboard, and I want you running them on each other's work right now, in pairs.
If I removed this visual, what decision would become harder? If the answer is none, remove it.
Can a stranger tell what is filtered right now, without asking? Look at your own slicers.
Does the title of each visual state a finding, or just name the fields?
Two minutes each direction."
TIMING: 3 minutes plus peer critique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two minutes):
"Four things you can do now that you could not this morning.
Design a KPI dashboard backwards from a named audience. Apply slicers and drill-downs so a reader can ask the follow-up question themselves. Publish to the Service, or export to PDF if you do not have a Pro licence, and show when the data was last updated either way. And present it by leading with the finding, in under ninety seconds.
This dashboard is the Module 7 closing assessment. Point them at the rubric on publica.academy now, not the night before."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at the rubric now rather than the night before. Card one is a genuine hook: trainees respond to the promise that their job changes from writing to judging.
WHAT TO SAY (about one minute):
"Straight into 7.5. Everything you have done in this module, you wrote yourself and verified yourself. Next topic, an AI assistant hands you four DAX measures and your job is to judge them, not write them. Two are wrong, and one of those returns a completely plausible number.
Read the dashboard rubric before you leave today, not the night before it is due."
TIMING: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uild/assets/logo_full.png">    </p:cNvPr>
          <p:cNvPicPr>
            <a:picLocks noChangeAspect="1"/>
          </p:cNvPicPr>
          <p:nvPr/>
        </p:nvPicPr>
        <p:blipFill>
          <a:blip r:embed="rId2"/>
          <a:stretch>
            <a:fillRect/>
          </a:stretch>
        </p:blipFill>
        <p:spPr>
          <a:xfrm>
            <a:off x="685800" y="502920"/>
            <a:ext cx="1371600" cy="1192807"/>
          </a:xfrm>
          <a:prstGeom prst="rect">
            <a:avLst/>
          </a:prstGeom>
        </p:spPr>
      </p:pic>
      <p:sp>
        <p:nvSpPr>
          <p:cNvPr id="3" name="Text 0"/>
          <p:cNvSpPr txBox="1"/>
          <p:nvPr/>
        </p:nvSpPr>
        <p:spPr>
          <a:xfrm>
            <a:off x="685800" y="2331720"/>
            <a:ext cx="6949440" cy="320040"/>
          </a:xfrm>
          <a:prstGeom prst="rect">
            <a:avLst/>
          </a:prstGeom>
          <a:noFill/>
          <a:ln/>
        </p:spPr>
        <p:txBody>
          <a:bodyPr wrap="square" lIns="0" tIns="0" rIns="0" bIns="0" rtlCol="0" anchor="ctr"/>
          <a:lstStyle/>
          <a:p>
            <a:pPr indent="0" marL="0">
              <a:buNone/>
            </a:pPr>
            <a:r>
              <a:rPr lang="en-US" sz="1250" b="1" spc="150" kern="0" dirty="0">
                <a:solidFill>
                  <a:srgbClr val="387F7F"/>
                </a:solidFill>
                <a:latin typeface="Poppins" pitchFamily="34" charset="0"/>
                <a:ea typeface="Poppins" pitchFamily="34" charset="-122"/>
                <a:cs typeface="Poppins" pitchFamily="34" charset="-120"/>
              </a:rPr>
              <a:t>BUSINESS INTELLIGENCE WITH POWER BI</a:t>
            </a:r>
            <a:endParaRPr lang="en-US" sz="1250" dirty="0"/>
          </a:p>
        </p:txBody>
      </p:sp>
      <p:sp>
        <p:nvSpPr>
          <p:cNvPr id="4" name="Text 1"/>
          <p:cNvSpPr txBox="1"/>
          <p:nvPr/>
        </p:nvSpPr>
        <p:spPr>
          <a:xfrm>
            <a:off x="685800" y="2670048"/>
            <a:ext cx="6949440" cy="411480"/>
          </a:xfrm>
          <a:prstGeom prst="rect">
            <a:avLst/>
          </a:prstGeom>
          <a:noFill/>
          <a:ln/>
        </p:spPr>
        <p:txBody>
          <a:bodyPr wrap="square" lIns="0" tIns="0" rIns="0" bIns="0" rtlCol="0" anchor="ctr"/>
          <a:lstStyle/>
          <a:p>
            <a:pPr indent="0" marL="0">
              <a:buNone/>
            </a:pPr>
            <a:r>
              <a:rPr lang="en-US" sz="1700" dirty="0">
                <a:solidFill>
                  <a:srgbClr val="64748B"/>
                </a:solidFill>
                <a:latin typeface="Poppins" pitchFamily="34" charset="0"/>
                <a:ea typeface="Poppins" pitchFamily="34" charset="-122"/>
                <a:cs typeface="Poppins" pitchFamily="34" charset="-120"/>
              </a:rPr>
              <a:t>Module 7: Loading, Modelling and Dashboards</a:t>
            </a:r>
            <a:endParaRPr lang="en-US" sz="1700" dirty="0"/>
          </a:p>
        </p:txBody>
      </p:sp>
      <p:sp>
        <p:nvSpPr>
          <p:cNvPr id="5" name="Text 2"/>
          <p:cNvSpPr txBox="1"/>
          <p:nvPr/>
        </p:nvSpPr>
        <p:spPr>
          <a:xfrm>
            <a:off x="658368" y="3108960"/>
            <a:ext cx="7223760" cy="1828800"/>
          </a:xfrm>
          <a:prstGeom prst="rect">
            <a:avLst/>
          </a:prstGeom>
          <a:noFill/>
          <a:ln/>
        </p:spPr>
        <p:txBody>
          <a:bodyPr wrap="square" lIns="0" tIns="0" rIns="0" bIns="0" rtlCol="0" anchor="ctr"/>
          <a:lstStyle/>
          <a:p>
            <a:pPr indent="0" marL="0">
              <a:lnSpc>
                <a:spcPct val="103000"/>
              </a:lnSpc>
              <a:buNone/>
            </a:pPr>
            <a:r>
              <a:rPr lang="en-US" sz="4000" b="1" dirty="0">
                <a:solidFill>
                  <a:srgbClr val="0A1A23"/>
                </a:solidFill>
                <a:latin typeface="Poppins" pitchFamily="34" charset="0"/>
                <a:ea typeface="Poppins" pitchFamily="34" charset="-122"/>
                <a:cs typeface="Poppins" pitchFamily="34" charset="-120"/>
              </a:rPr>
              <a:t>KPI Dashboards
</a:t>
            </a:r>
            <a:pPr indent="0" marL="0">
              <a:lnSpc>
                <a:spcPct val="103000"/>
              </a:lnSpc>
              <a:buNone/>
            </a:pPr>
            <a:r>
              <a:rPr lang="en-US" sz="4000" b="1" dirty="0">
                <a:solidFill>
                  <a:srgbClr val="387F7F"/>
                </a:solidFill>
                <a:latin typeface="Poppins" pitchFamily="34" charset="0"/>
                <a:ea typeface="Poppins" pitchFamily="34" charset="-122"/>
                <a:cs typeface="Poppins" pitchFamily="34" charset="-120"/>
              </a:rPr>
              <a:t>and Publishing</a:t>
            </a:r>
            <a:endParaRPr lang="en-US" sz="4000" dirty="0"/>
          </a:p>
        </p:txBody>
      </p:sp>
      <p:sp>
        <p:nvSpPr>
          <p:cNvPr id="6" name="Shape 3"/>
          <p:cNvSpPr/>
          <p:nvPr/>
        </p:nvSpPr>
        <p:spPr>
          <a:xfrm>
            <a:off x="7818120" y="1737360"/>
            <a:ext cx="3703320" cy="3337560"/>
          </a:xfrm>
          <a:prstGeom prst="roundRect">
            <a:avLst>
              <a:gd name="adj" fmla="val 2740"/>
            </a:avLst>
          </a:prstGeom>
          <a:solidFill>
            <a:srgbClr val="EEF4F4"/>
          </a:solidFill>
          <a:ln/>
          <a:effectLst>
            <a:outerShdw sx="100000" sy="100000" kx="0" ky="0" algn="bl" rotWithShape="0" blurRad="152400" dist="38100" dir="5400000">
              <a:srgbClr val="1B2A2E">
                <a:alpha val="14000"/>
              </a:srgbClr>
            </a:outerShdw>
          </a:effectLst>
        </p:spPr>
      </p:sp>
      <p:sp>
        <p:nvSpPr>
          <p:cNvPr id="7" name="Shape 4"/>
          <p:cNvSpPr/>
          <p:nvPr/>
        </p:nvSpPr>
        <p:spPr>
          <a:xfrm>
            <a:off x="8046720" y="1965960"/>
            <a:ext cx="1600200" cy="868680"/>
          </a:xfrm>
          <a:prstGeom prst="roundRect">
            <a:avLst>
              <a:gd name="adj" fmla="val 7368"/>
            </a:avLst>
          </a:prstGeom>
          <a:solidFill>
            <a:srgbClr val="FFFFFF"/>
          </a:solidFill>
          <a:ln/>
        </p:spPr>
      </p:sp>
      <p:sp>
        <p:nvSpPr>
          <p:cNvPr id="8" name="Text 5"/>
          <p:cNvSpPr txBox="1"/>
          <p:nvPr/>
        </p:nvSpPr>
        <p:spPr>
          <a:xfrm>
            <a:off x="8046720" y="2011680"/>
            <a:ext cx="1600200" cy="457200"/>
          </a:xfrm>
          <a:prstGeom prst="rect">
            <a:avLst/>
          </a:prstGeom>
          <a:noFill/>
          <a:ln/>
        </p:spPr>
        <p:txBody>
          <a:bodyPr wrap="square" lIns="0" tIns="0" rIns="0" bIns="0" rtlCol="0" anchor="ctr"/>
          <a:lstStyle/>
          <a:p>
            <a:pPr algn="ctr" indent="0" marL="0">
              <a:buNone/>
            </a:pPr>
            <a:r>
              <a:rPr lang="en-US" sz="1700" b="1" dirty="0">
                <a:solidFill>
                  <a:srgbClr val="387F7F"/>
                </a:solidFill>
                <a:latin typeface="Poppins" pitchFamily="34" charset="0"/>
                <a:ea typeface="Poppins" pitchFamily="34" charset="-122"/>
                <a:cs typeface="Poppins" pitchFamily="34" charset="-120"/>
              </a:rPr>
              <a:t>82.0%</a:t>
            </a:r>
            <a:endParaRPr lang="en-US" sz="1700" dirty="0"/>
          </a:p>
        </p:txBody>
      </p:sp>
      <p:sp>
        <p:nvSpPr>
          <p:cNvPr id="9" name="Text 6"/>
          <p:cNvSpPr txBox="1"/>
          <p:nvPr/>
        </p:nvSpPr>
        <p:spPr>
          <a:xfrm>
            <a:off x="8046720" y="2450592"/>
            <a:ext cx="1600200"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On-time</a:t>
            </a:r>
            <a:endParaRPr lang="en-US" sz="850" dirty="0"/>
          </a:p>
        </p:txBody>
      </p:sp>
      <p:sp>
        <p:nvSpPr>
          <p:cNvPr id="10" name="Shape 7"/>
          <p:cNvSpPr/>
          <p:nvPr/>
        </p:nvSpPr>
        <p:spPr>
          <a:xfrm>
            <a:off x="9829800" y="1965960"/>
            <a:ext cx="1600200" cy="868680"/>
          </a:xfrm>
          <a:prstGeom prst="roundRect">
            <a:avLst>
              <a:gd name="adj" fmla="val 7368"/>
            </a:avLst>
          </a:prstGeom>
          <a:solidFill>
            <a:srgbClr val="FFFFFF"/>
          </a:solidFill>
          <a:ln/>
        </p:spPr>
      </p:sp>
      <p:sp>
        <p:nvSpPr>
          <p:cNvPr id="11" name="Text 8"/>
          <p:cNvSpPr txBox="1"/>
          <p:nvPr/>
        </p:nvSpPr>
        <p:spPr>
          <a:xfrm>
            <a:off x="9829800" y="2011680"/>
            <a:ext cx="1600200" cy="457200"/>
          </a:xfrm>
          <a:prstGeom prst="rect">
            <a:avLst/>
          </a:prstGeom>
          <a:noFill/>
          <a:ln/>
        </p:spPr>
        <p:txBody>
          <a:bodyPr wrap="square" lIns="0" tIns="0" rIns="0" bIns="0" rtlCol="0" anchor="ctr"/>
          <a:lstStyle/>
          <a:p>
            <a:pPr algn="ctr" indent="0" marL="0">
              <a:buNone/>
            </a:pPr>
            <a:r>
              <a:rPr lang="en-US" sz="1700" b="1" dirty="0">
                <a:solidFill>
                  <a:srgbClr val="387F7F"/>
                </a:solidFill>
                <a:latin typeface="Poppins" pitchFamily="34" charset="0"/>
                <a:ea typeface="Poppins" pitchFamily="34" charset="-122"/>
                <a:cs typeface="Poppins" pitchFamily="34" charset="-120"/>
              </a:rPr>
              <a:t>41,280</a:t>
            </a:r>
            <a:endParaRPr lang="en-US" sz="1700" dirty="0"/>
          </a:p>
        </p:txBody>
      </p:sp>
      <p:sp>
        <p:nvSpPr>
          <p:cNvPr id="12" name="Text 9"/>
          <p:cNvSpPr txBox="1"/>
          <p:nvPr/>
        </p:nvSpPr>
        <p:spPr>
          <a:xfrm>
            <a:off x="9829800" y="2450592"/>
            <a:ext cx="1600200" cy="274320"/>
          </a:xfrm>
          <a:prstGeom prst="rect">
            <a:avLst/>
          </a:prstGeom>
          <a:noFill/>
          <a:ln/>
        </p:spPr>
        <p:txBody>
          <a:bodyPr wrap="square" lIns="0" tIns="0" rIns="0" bIns="0" rtlCol="0" anchor="ctr"/>
          <a:lstStyle/>
          <a:p>
            <a:pPr algn="ctr" indent="0" marL="0">
              <a:buNone/>
            </a:pPr>
            <a:r>
              <a:rPr lang="en-US" sz="850" dirty="0">
                <a:solidFill>
                  <a:srgbClr val="64748B"/>
                </a:solidFill>
                <a:latin typeface="Poppins" pitchFamily="34" charset="0"/>
                <a:ea typeface="Poppins" pitchFamily="34" charset="-122"/>
                <a:cs typeface="Poppins" pitchFamily="34" charset="-120"/>
              </a:rPr>
              <a:t>Deliveries</a:t>
            </a:r>
            <a:endParaRPr lang="en-US" sz="850" dirty="0"/>
          </a:p>
        </p:txBody>
      </p:sp>
      <p:sp>
        <p:nvSpPr>
          <p:cNvPr id="13" name="Shape 10"/>
          <p:cNvSpPr/>
          <p:nvPr/>
        </p:nvSpPr>
        <p:spPr>
          <a:xfrm>
            <a:off x="8046720" y="2971800"/>
            <a:ext cx="3246120" cy="1874520"/>
          </a:xfrm>
          <a:prstGeom prst="roundRect">
            <a:avLst>
              <a:gd name="adj" fmla="val 3415"/>
            </a:avLst>
          </a:prstGeom>
          <a:solidFill>
            <a:srgbClr val="FFFFFF"/>
          </a:solidFill>
          <a:ln/>
        </p:spPr>
      </p:sp>
      <p:sp>
        <p:nvSpPr>
          <p:cNvPr id="14" name="Shape 11"/>
          <p:cNvSpPr/>
          <p:nvPr/>
        </p:nvSpPr>
        <p:spPr>
          <a:xfrm>
            <a:off x="8275320" y="4023360"/>
            <a:ext cx="320040" cy="640080"/>
          </a:xfrm>
          <a:prstGeom prst="rect">
            <a:avLst/>
          </a:prstGeom>
          <a:solidFill>
            <a:srgbClr val="387F7F"/>
          </a:solidFill>
          <a:ln/>
        </p:spPr>
      </p:sp>
      <p:sp>
        <p:nvSpPr>
          <p:cNvPr id="15" name="Shape 12"/>
          <p:cNvSpPr/>
          <p:nvPr/>
        </p:nvSpPr>
        <p:spPr>
          <a:xfrm>
            <a:off x="8778240" y="3703320"/>
            <a:ext cx="320040" cy="960120"/>
          </a:xfrm>
          <a:prstGeom prst="rect">
            <a:avLst/>
          </a:prstGeom>
          <a:solidFill>
            <a:srgbClr val="387F7F"/>
          </a:solidFill>
          <a:ln/>
        </p:spPr>
      </p:sp>
      <p:sp>
        <p:nvSpPr>
          <p:cNvPr id="16" name="Shape 13"/>
          <p:cNvSpPr/>
          <p:nvPr/>
        </p:nvSpPr>
        <p:spPr>
          <a:xfrm>
            <a:off x="9281160" y="3869741"/>
            <a:ext cx="320040" cy="793699"/>
          </a:xfrm>
          <a:prstGeom prst="rect">
            <a:avLst/>
          </a:prstGeom>
          <a:solidFill>
            <a:srgbClr val="387F7F"/>
          </a:solidFill>
          <a:ln/>
        </p:spPr>
      </p:sp>
      <p:sp>
        <p:nvSpPr>
          <p:cNvPr id="17" name="Shape 14"/>
          <p:cNvSpPr/>
          <p:nvPr/>
        </p:nvSpPr>
        <p:spPr>
          <a:xfrm>
            <a:off x="9784080" y="3511296"/>
            <a:ext cx="320040" cy="1152144"/>
          </a:xfrm>
          <a:prstGeom prst="rect">
            <a:avLst/>
          </a:prstGeom>
          <a:solidFill>
            <a:srgbClr val="387F7F"/>
          </a:solidFill>
          <a:ln/>
        </p:spPr>
      </p:sp>
      <p:sp>
        <p:nvSpPr>
          <p:cNvPr id="18" name="Shape 15"/>
          <p:cNvSpPr/>
          <p:nvPr/>
        </p:nvSpPr>
        <p:spPr>
          <a:xfrm>
            <a:off x="10287000" y="4151376"/>
            <a:ext cx="320040" cy="512064"/>
          </a:xfrm>
          <a:prstGeom prst="rect">
            <a:avLst/>
          </a:prstGeom>
          <a:solidFill>
            <a:srgbClr val="A8322D"/>
          </a:solidFill>
          <a:ln/>
        </p:spPr>
      </p:sp>
      <p:sp>
        <p:nvSpPr>
          <p:cNvPr id="19" name="Shape 16"/>
          <p:cNvSpPr/>
          <p:nvPr/>
        </p:nvSpPr>
        <p:spPr>
          <a:xfrm>
            <a:off x="10789920" y="3767328"/>
            <a:ext cx="320040" cy="896112"/>
          </a:xfrm>
          <a:prstGeom prst="rect">
            <a:avLst/>
          </a:prstGeom>
          <a:solidFill>
            <a:srgbClr val="387F7F"/>
          </a:solidFill>
          <a:ln/>
        </p:spPr>
      </p:sp>
      <p:sp>
        <p:nvSpPr>
          <p:cNvPr id="20" name="Shape 17"/>
          <p:cNvSpPr/>
          <p:nvPr/>
        </p:nvSpPr>
        <p:spPr>
          <a:xfrm>
            <a:off x="685800" y="5806440"/>
            <a:ext cx="10817352" cy="0"/>
          </a:xfrm>
          <a:prstGeom prst="line">
            <a:avLst/>
          </a:prstGeom>
          <a:noFill/>
          <a:ln w="12700">
            <a:solidFill>
              <a:srgbClr val="E2E8F0"/>
            </a:solidFill>
            <a:prstDash val="solid"/>
          </a:ln>
        </p:spPr>
      </p:sp>
      <p:pic>
        <p:nvPicPr>
          <p:cNvPr id="21" name="Image 1" descr="/home/claude/build/assets/icon_stack.png">    </p:cNvPr>
          <p:cNvPicPr>
            <a:picLocks noChangeAspect="1"/>
          </p:cNvPicPr>
          <p:nvPr/>
        </p:nvPicPr>
        <p:blipFill>
          <a:blip r:embed="rId3"/>
          <a:stretch>
            <a:fillRect/>
          </a:stretch>
        </p:blipFill>
        <p:spPr>
          <a:xfrm>
            <a:off x="685800" y="5989320"/>
            <a:ext cx="201168" cy="182880"/>
          </a:xfrm>
          <a:prstGeom prst="rect">
            <a:avLst/>
          </a:prstGeom>
        </p:spPr>
      </p:pic>
      <p:sp>
        <p:nvSpPr>
          <p:cNvPr id="22" name="Text 18"/>
          <p:cNvSpPr txBox="1"/>
          <p:nvPr/>
        </p:nvSpPr>
        <p:spPr>
          <a:xfrm>
            <a:off x="960120" y="5943600"/>
            <a:ext cx="2743200" cy="274320"/>
          </a:xfrm>
          <a:prstGeom prst="rect">
            <a:avLst/>
          </a:prstGeom>
          <a:noFill/>
          <a:ln/>
        </p:spPr>
        <p:txBody>
          <a:bodyPr wrap="square" lIns="0" tIns="0" rIns="0" bIns="0" rtlCol="0" anchor="ctr"/>
          <a:lstStyle/>
          <a:p>
            <a:pPr indent="0" marL="0">
              <a:buNone/>
            </a:pPr>
            <a:r>
              <a:rPr lang="en-US" sz="1200" dirty="0">
                <a:solidFill>
                  <a:srgbClr val="64748B"/>
                </a:solidFill>
                <a:latin typeface="Poppins" pitchFamily="34" charset="0"/>
                <a:ea typeface="Poppins" pitchFamily="34" charset="-122"/>
                <a:cs typeface="Poppins" pitchFamily="34" charset="-120"/>
              </a:rPr>
              <a:t>Topic 4 of 6</a:t>
            </a:r>
            <a:endParaRPr lang="en-US" sz="1200" dirty="0"/>
          </a:p>
        </p:txBody>
      </p:sp>
      <p:sp>
        <p:nvSpPr>
          <p:cNvPr id="23" name="Text 19"/>
          <p:cNvSpPr txBox="1"/>
          <p:nvPr/>
        </p:nvSpPr>
        <p:spPr>
          <a:xfrm>
            <a:off x="685800" y="6446520"/>
            <a:ext cx="3657600" cy="274320"/>
          </a:xfrm>
          <a:prstGeom prst="rect">
            <a:avLst/>
          </a:prstGeom>
          <a:noFill/>
          <a:ln/>
        </p:spPr>
        <p:txBody>
          <a:bodyPr wrap="square" lIns="0" tIns="0" rIns="0" bIns="0" rtlCol="0" anchor="ctr"/>
          <a:lstStyle/>
          <a:p>
            <a:pPr indent="0" marL="0">
              <a:buNone/>
            </a:pPr>
            <a:r>
              <a:rPr lang="en-US" sz="1000" b="1" spc="100" kern="0" dirty="0">
                <a:solidFill>
                  <a:srgbClr val="387F7F"/>
                </a:solidFill>
                <a:latin typeface="Poppins" pitchFamily="34" charset="0"/>
                <a:ea typeface="Poppins" pitchFamily="34" charset="-122"/>
                <a:cs typeface="Poppins" pitchFamily="34" charset="-120"/>
              </a:rPr>
              <a:t>PUBLICA ACADEMY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By the end of this topic, the trainee can…</a:t>
            </a:r>
            <a:endParaRPr lang="en-US" sz="2700" dirty="0"/>
          </a:p>
        </p:txBody>
      </p:sp>
      <p:sp>
        <p:nvSpPr>
          <p:cNvPr id="6" name="Shape 4"/>
          <p:cNvSpPr/>
          <p:nvPr/>
        </p:nvSpPr>
        <p:spPr>
          <a:xfrm>
            <a:off x="685800" y="1737360"/>
            <a:ext cx="3246120" cy="3200400"/>
          </a:xfrm>
          <a:prstGeom prst="roundRect">
            <a:avLst>
              <a:gd name="adj" fmla="val 2857"/>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685800" y="1737360"/>
            <a:ext cx="3246120" cy="82296"/>
          </a:xfrm>
          <a:prstGeom prst="rect">
            <a:avLst/>
          </a:prstGeom>
          <a:solidFill>
            <a:srgbClr val="387F7F"/>
          </a:solidFill>
          <a:ln/>
        </p:spPr>
      </p:sp>
      <p:sp>
        <p:nvSpPr>
          <p:cNvPr id="8" name="Shape 6"/>
          <p:cNvSpPr/>
          <p:nvPr/>
        </p:nvSpPr>
        <p:spPr>
          <a:xfrm>
            <a:off x="1979676" y="2194560"/>
            <a:ext cx="658368" cy="658368"/>
          </a:xfrm>
          <a:prstGeom prst="ellipse">
            <a:avLst/>
          </a:prstGeom>
          <a:solidFill>
            <a:srgbClr val="FFFFFF"/>
          </a:solidFill>
          <a:ln w="22225">
            <a:solidFill>
              <a:srgbClr val="387F7F"/>
            </a:solidFill>
            <a:prstDash val="solid"/>
          </a:ln>
        </p:spPr>
      </p:sp>
      <p:sp>
        <p:nvSpPr>
          <p:cNvPr id="9" name="Text 7"/>
          <p:cNvSpPr txBox="1"/>
          <p:nvPr/>
        </p:nvSpPr>
        <p:spPr>
          <a:xfrm>
            <a:off x="1979676" y="219456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10" name="Text 8"/>
          <p:cNvSpPr txBox="1"/>
          <p:nvPr/>
        </p:nvSpPr>
        <p:spPr>
          <a:xfrm>
            <a:off x="685800" y="3063240"/>
            <a:ext cx="3246120" cy="457200"/>
          </a:xfrm>
          <a:prstGeom prst="rect">
            <a:avLst/>
          </a:prstGeom>
          <a:noFill/>
          <a:ln/>
        </p:spPr>
        <p:txBody>
          <a:bodyPr wrap="square" lIns="0" tIns="0" rIns="0" bIns="0" rtlCol="0" anchor="ctr"/>
          <a:lstStyle/>
          <a:p>
            <a:pPr algn="ctr" indent="0" marL="0">
              <a:buNone/>
            </a:pPr>
            <a:r>
              <a:rPr lang="en-US" sz="2100" b="1" dirty="0">
                <a:solidFill>
                  <a:srgbClr val="387F7F"/>
                </a:solidFill>
                <a:latin typeface="Poppins" pitchFamily="34" charset="0"/>
                <a:ea typeface="Poppins" pitchFamily="34" charset="-122"/>
                <a:cs typeface="Poppins" pitchFamily="34" charset="-120"/>
              </a:rPr>
              <a:t>Design</a:t>
            </a:r>
            <a:endParaRPr lang="en-US" sz="2100" dirty="0"/>
          </a:p>
        </p:txBody>
      </p:sp>
      <p:sp>
        <p:nvSpPr>
          <p:cNvPr id="11" name="Text 9"/>
          <p:cNvSpPr txBox="1"/>
          <p:nvPr/>
        </p:nvSpPr>
        <p:spPr>
          <a:xfrm>
            <a:off x="960120" y="3611880"/>
            <a:ext cx="2697480" cy="1188720"/>
          </a:xfrm>
          <a:prstGeom prst="rect">
            <a:avLst/>
          </a:prstGeom>
          <a:noFill/>
          <a:ln/>
        </p:spPr>
        <p:txBody>
          <a:bodyPr wrap="square" lIns="0" tIns="0" rIns="0" bIns="0" rtlCol="0" anchor="t"/>
          <a:lstStyle/>
          <a:p>
            <a:pPr algn="ctr" indent="0" marL="0">
              <a:lnSpc>
                <a:spcPct val="130000"/>
              </a:lnSpc>
              <a:buNone/>
            </a:pPr>
            <a:r>
              <a:rPr lang="en-US" sz="1350" dirty="0">
                <a:solidFill>
                  <a:srgbClr val="475569"/>
                </a:solidFill>
                <a:latin typeface="Poppins" pitchFamily="34" charset="0"/>
                <a:ea typeface="Poppins" pitchFamily="34" charset="-122"/>
                <a:cs typeface="Poppins" pitchFamily="34" charset="-120"/>
              </a:rPr>
              <a:t>a KPI dashboard for a stated business audience.</a:t>
            </a:r>
            <a:endParaRPr lang="en-US" sz="1350" dirty="0"/>
          </a:p>
        </p:txBody>
      </p:sp>
      <p:sp>
        <p:nvSpPr>
          <p:cNvPr id="12" name="Shape 10"/>
          <p:cNvSpPr/>
          <p:nvPr/>
        </p:nvSpPr>
        <p:spPr>
          <a:xfrm>
            <a:off x="4206240" y="1737360"/>
            <a:ext cx="3246120" cy="3200400"/>
          </a:xfrm>
          <a:prstGeom prst="roundRect">
            <a:avLst>
              <a:gd name="adj" fmla="val 2857"/>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4206240" y="1737360"/>
            <a:ext cx="3246120" cy="82296"/>
          </a:xfrm>
          <a:prstGeom prst="rect">
            <a:avLst/>
          </a:prstGeom>
          <a:solidFill>
            <a:srgbClr val="387F7F"/>
          </a:solidFill>
          <a:ln/>
        </p:spPr>
      </p:sp>
      <p:sp>
        <p:nvSpPr>
          <p:cNvPr id="14" name="Shape 12"/>
          <p:cNvSpPr/>
          <p:nvPr/>
        </p:nvSpPr>
        <p:spPr>
          <a:xfrm>
            <a:off x="5500116" y="2194560"/>
            <a:ext cx="658368" cy="658368"/>
          </a:xfrm>
          <a:prstGeom prst="ellipse">
            <a:avLst/>
          </a:prstGeom>
          <a:solidFill>
            <a:srgbClr val="FFFFFF"/>
          </a:solidFill>
          <a:ln w="22225">
            <a:solidFill>
              <a:srgbClr val="387F7F"/>
            </a:solidFill>
            <a:prstDash val="solid"/>
          </a:ln>
        </p:spPr>
      </p:sp>
      <p:sp>
        <p:nvSpPr>
          <p:cNvPr id="15" name="Text 13"/>
          <p:cNvSpPr txBox="1"/>
          <p:nvPr/>
        </p:nvSpPr>
        <p:spPr>
          <a:xfrm>
            <a:off x="5500116" y="219456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16" name="Text 14"/>
          <p:cNvSpPr txBox="1"/>
          <p:nvPr/>
        </p:nvSpPr>
        <p:spPr>
          <a:xfrm>
            <a:off x="4206240" y="3063240"/>
            <a:ext cx="3246120" cy="457200"/>
          </a:xfrm>
          <a:prstGeom prst="rect">
            <a:avLst/>
          </a:prstGeom>
          <a:noFill/>
          <a:ln/>
        </p:spPr>
        <p:txBody>
          <a:bodyPr wrap="square" lIns="0" tIns="0" rIns="0" bIns="0" rtlCol="0" anchor="ctr"/>
          <a:lstStyle/>
          <a:p>
            <a:pPr algn="ctr" indent="0" marL="0">
              <a:buNone/>
            </a:pPr>
            <a:r>
              <a:rPr lang="en-US" sz="2100" b="1" dirty="0">
                <a:solidFill>
                  <a:srgbClr val="387F7F"/>
                </a:solidFill>
                <a:latin typeface="Poppins" pitchFamily="34" charset="0"/>
                <a:ea typeface="Poppins" pitchFamily="34" charset="-122"/>
                <a:cs typeface="Poppins" pitchFamily="34" charset="-120"/>
              </a:rPr>
              <a:t>Apply</a:t>
            </a:r>
            <a:endParaRPr lang="en-US" sz="2100" dirty="0"/>
          </a:p>
        </p:txBody>
      </p:sp>
      <p:sp>
        <p:nvSpPr>
          <p:cNvPr id="17" name="Text 15"/>
          <p:cNvSpPr txBox="1"/>
          <p:nvPr/>
        </p:nvSpPr>
        <p:spPr>
          <a:xfrm>
            <a:off x="4480560" y="3611880"/>
            <a:ext cx="2697480" cy="1188720"/>
          </a:xfrm>
          <a:prstGeom prst="rect">
            <a:avLst/>
          </a:prstGeom>
          <a:noFill/>
          <a:ln/>
        </p:spPr>
        <p:txBody>
          <a:bodyPr wrap="square" lIns="0" tIns="0" rIns="0" bIns="0" rtlCol="0" anchor="t"/>
          <a:lstStyle/>
          <a:p>
            <a:pPr algn="ctr" indent="0" marL="0">
              <a:lnSpc>
                <a:spcPct val="130000"/>
              </a:lnSpc>
              <a:buNone/>
            </a:pPr>
            <a:r>
              <a:rPr lang="en-US" sz="1350" dirty="0">
                <a:solidFill>
                  <a:srgbClr val="475569"/>
                </a:solidFill>
                <a:latin typeface="Poppins" pitchFamily="34" charset="0"/>
                <a:ea typeface="Poppins" pitchFamily="34" charset="-122"/>
                <a:cs typeface="Poppins" pitchFamily="34" charset="-120"/>
              </a:rPr>
              <a:t>interactivity with slicers and drill-downs.</a:t>
            </a:r>
            <a:endParaRPr lang="en-US" sz="1350" dirty="0"/>
          </a:p>
        </p:txBody>
      </p:sp>
      <p:sp>
        <p:nvSpPr>
          <p:cNvPr id="18" name="Shape 16"/>
          <p:cNvSpPr/>
          <p:nvPr/>
        </p:nvSpPr>
        <p:spPr>
          <a:xfrm>
            <a:off x="7726680" y="1737360"/>
            <a:ext cx="3246120" cy="3200400"/>
          </a:xfrm>
          <a:prstGeom prst="roundRect">
            <a:avLst>
              <a:gd name="adj" fmla="val 2857"/>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7726680" y="1737360"/>
            <a:ext cx="3246120" cy="82296"/>
          </a:xfrm>
          <a:prstGeom prst="rect">
            <a:avLst/>
          </a:prstGeom>
          <a:solidFill>
            <a:srgbClr val="387F7F"/>
          </a:solidFill>
          <a:ln/>
        </p:spPr>
      </p:sp>
      <p:sp>
        <p:nvSpPr>
          <p:cNvPr id="20" name="Shape 18"/>
          <p:cNvSpPr/>
          <p:nvPr/>
        </p:nvSpPr>
        <p:spPr>
          <a:xfrm>
            <a:off x="9020556" y="2194560"/>
            <a:ext cx="658368" cy="658368"/>
          </a:xfrm>
          <a:prstGeom prst="ellipse">
            <a:avLst/>
          </a:prstGeom>
          <a:solidFill>
            <a:srgbClr val="FFFFFF"/>
          </a:solidFill>
          <a:ln w="22225">
            <a:solidFill>
              <a:srgbClr val="387F7F"/>
            </a:solidFill>
            <a:prstDash val="solid"/>
          </a:ln>
        </p:spPr>
      </p:sp>
      <p:sp>
        <p:nvSpPr>
          <p:cNvPr id="21" name="Text 19"/>
          <p:cNvSpPr txBox="1"/>
          <p:nvPr/>
        </p:nvSpPr>
        <p:spPr>
          <a:xfrm>
            <a:off x="9020556" y="219456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22" name="Text 20"/>
          <p:cNvSpPr txBox="1"/>
          <p:nvPr/>
        </p:nvSpPr>
        <p:spPr>
          <a:xfrm>
            <a:off x="7726680" y="3063240"/>
            <a:ext cx="3246120" cy="457200"/>
          </a:xfrm>
          <a:prstGeom prst="rect">
            <a:avLst/>
          </a:prstGeom>
          <a:noFill/>
          <a:ln/>
        </p:spPr>
        <p:txBody>
          <a:bodyPr wrap="square" lIns="0" tIns="0" rIns="0" bIns="0" rtlCol="0" anchor="ctr"/>
          <a:lstStyle/>
          <a:p>
            <a:pPr algn="ctr" indent="0" marL="0">
              <a:buNone/>
            </a:pPr>
            <a:r>
              <a:rPr lang="en-US" sz="2100" b="1" dirty="0">
                <a:solidFill>
                  <a:srgbClr val="387F7F"/>
                </a:solidFill>
                <a:latin typeface="Poppins" pitchFamily="34" charset="0"/>
                <a:ea typeface="Poppins" pitchFamily="34" charset="-122"/>
                <a:cs typeface="Poppins" pitchFamily="34" charset="-120"/>
              </a:rPr>
              <a:t>Present</a:t>
            </a:r>
            <a:endParaRPr lang="en-US" sz="2100" dirty="0"/>
          </a:p>
        </p:txBody>
      </p:sp>
      <p:sp>
        <p:nvSpPr>
          <p:cNvPr id="23" name="Text 21"/>
          <p:cNvSpPr txBox="1"/>
          <p:nvPr/>
        </p:nvSpPr>
        <p:spPr>
          <a:xfrm>
            <a:off x="8001000" y="3611880"/>
            <a:ext cx="2697480" cy="1188720"/>
          </a:xfrm>
          <a:prstGeom prst="rect">
            <a:avLst/>
          </a:prstGeom>
          <a:noFill/>
          <a:ln/>
        </p:spPr>
        <p:txBody>
          <a:bodyPr wrap="square" lIns="0" tIns="0" rIns="0" bIns="0" rtlCol="0" anchor="t"/>
          <a:lstStyle/>
          <a:p>
            <a:pPr algn="ctr" indent="0" marL="0">
              <a:lnSpc>
                <a:spcPct val="130000"/>
              </a:lnSpc>
              <a:buNone/>
            </a:pPr>
            <a:r>
              <a:rPr lang="en-US" sz="1350" dirty="0">
                <a:solidFill>
                  <a:srgbClr val="475569"/>
                </a:solidFill>
                <a:latin typeface="Poppins" pitchFamily="34" charset="0"/>
                <a:ea typeface="Poppins" pitchFamily="34" charset="-122"/>
                <a:cs typeface="Poppins" pitchFamily="34" charset="-120"/>
              </a:rPr>
              <a:t>the dashboard's answers to its owner's questions.</a:t>
            </a:r>
            <a:endParaRPr lang="en-US" sz="1350" dirty="0"/>
          </a:p>
        </p:txBody>
      </p:sp>
      <p:pic>
        <p:nvPicPr>
          <p:cNvPr id="24"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20494A"/>
          </a:solidFill>
          <a:ln/>
        </p:spPr>
      </p:sp>
      <p:sp>
        <p:nvSpPr>
          <p:cNvPr id="3" name="Shape 1"/>
          <p:cNvSpPr/>
          <p:nvPr/>
        </p:nvSpPr>
        <p:spPr>
          <a:xfrm>
            <a:off x="9784080" y="-1280160"/>
            <a:ext cx="4572000" cy="4572000"/>
          </a:xfrm>
          <a:prstGeom prst="ellipse">
            <a:avLst/>
          </a:prstGeom>
          <a:solidFill>
            <a:srgbClr val="2E5E5E"/>
          </a:solidFill>
          <a:ln/>
        </p:spPr>
      </p:sp>
      <p:sp>
        <p:nvSpPr>
          <p:cNvPr id="4" name="Text 2"/>
          <p:cNvSpPr txBox="1"/>
          <p:nvPr/>
        </p:nvSpPr>
        <p:spPr>
          <a:xfrm>
            <a:off x="7863840" y="2331720"/>
            <a:ext cx="420624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Poppins" pitchFamily="34" charset="0"/>
                <a:ea typeface="Poppins" pitchFamily="34" charset="-122"/>
                <a:cs typeface="Poppins" pitchFamily="34" charset="-120"/>
              </a:rPr>
              <a:t>Restraint</a:t>
            </a:r>
            <a:endParaRPr lang="en-US" sz="3800" dirty="0"/>
          </a:p>
        </p:txBody>
      </p:sp>
      <p:sp>
        <p:nvSpPr>
          <p:cNvPr id="5" name="Text 3"/>
          <p:cNvSpPr txBox="1"/>
          <p:nvPr/>
        </p:nvSpPr>
        <p:spPr>
          <a:xfrm>
            <a:off x="7863840" y="3200400"/>
            <a:ext cx="4206240" cy="914400"/>
          </a:xfrm>
          <a:prstGeom prst="rect">
            <a:avLst/>
          </a:prstGeom>
          <a:noFill/>
          <a:ln/>
        </p:spPr>
        <p:txBody>
          <a:bodyPr wrap="square" lIns="0" tIns="0" rIns="0" bIns="0" rtlCol="0" anchor="ctr"/>
          <a:lstStyle/>
          <a:p>
            <a:pPr algn="ctr" indent="0" marL="0">
              <a:lnSpc>
                <a:spcPct val="130000"/>
              </a:lnSpc>
              <a:buNone/>
            </a:pPr>
            <a:r>
              <a:rPr lang="en-US" sz="1700" dirty="0">
                <a:solidFill>
                  <a:srgbClr val="B9D3D3"/>
                </a:solidFill>
                <a:latin typeface="Poppins" pitchFamily="34" charset="0"/>
                <a:ea typeface="Poppins" pitchFamily="34" charset="-122"/>
                <a:cs typeface="Poppins" pitchFamily="34" charset="-120"/>
              </a:rPr>
              <a:t>is the hardest skill</a:t>
            </a:r>
            <a:endParaRPr lang="en-US" sz="1700" dirty="0"/>
          </a:p>
          <a:p>
            <a:pPr algn="ctr" indent="0" marL="0">
              <a:lnSpc>
                <a:spcPct val="130000"/>
              </a:lnSpc>
              <a:buNone/>
            </a:pPr>
            <a:r>
              <a:rPr lang="en-US" sz="1700" dirty="0">
                <a:solidFill>
                  <a:srgbClr val="B9D3D3"/>
                </a:solidFill>
                <a:latin typeface="Poppins" pitchFamily="34" charset="0"/>
                <a:ea typeface="Poppins" pitchFamily="34" charset="-122"/>
                <a:cs typeface="Poppins" pitchFamily="34" charset="-120"/>
              </a:rPr>
              <a:t>in this whole topic</a:t>
            </a:r>
            <a:endParaRPr lang="en-US" sz="1700" dirty="0"/>
          </a:p>
        </p:txBody>
      </p:sp>
      <p:sp>
        <p:nvSpPr>
          <p:cNvPr id="6" name="Shape 4"/>
          <p:cNvSpPr/>
          <p:nvPr/>
        </p:nvSpPr>
        <p:spPr>
          <a:xfrm>
            <a:off x="685800" y="777240"/>
            <a:ext cx="82296" cy="1051560"/>
          </a:xfrm>
          <a:prstGeom prst="rect">
            <a:avLst/>
          </a:prstGeom>
          <a:solidFill>
            <a:srgbClr val="387F7F"/>
          </a:solidFill>
          <a:ln/>
        </p:spPr>
      </p:sp>
      <p:sp>
        <p:nvSpPr>
          <p:cNvPr id="7" name="Text 5"/>
          <p:cNvSpPr txBox="1"/>
          <p:nvPr/>
        </p:nvSpPr>
        <p:spPr>
          <a:xfrm>
            <a:off x="914400" y="731520"/>
            <a:ext cx="6583680" cy="1143000"/>
          </a:xfrm>
          <a:prstGeom prst="rect">
            <a:avLst/>
          </a:prstGeom>
          <a:noFill/>
          <a:ln/>
        </p:spPr>
        <p:txBody>
          <a:bodyPr wrap="square" lIns="0" tIns="0" rIns="0" bIns="0" rtlCol="0" anchor="ctr"/>
          <a:lstStyle/>
          <a:p>
            <a:pPr indent="0" marL="0">
              <a:buNone/>
            </a:pPr>
            <a:r>
              <a:rPr lang="en-US" sz="3000" b="1" dirty="0">
                <a:solidFill>
                  <a:srgbClr val="0A1A23"/>
                </a:solidFill>
                <a:latin typeface="Poppins" pitchFamily="34" charset="0"/>
                <a:ea typeface="Poppins" pitchFamily="34" charset="-122"/>
                <a:cs typeface="Poppins" pitchFamily="34" charset="-120"/>
              </a:rPr>
              <a:t>Two dashboards. One gets opened.</a:t>
            </a:r>
            <a:endParaRPr lang="en-US" sz="3000" dirty="0"/>
          </a:p>
        </p:txBody>
      </p:sp>
      <p:sp>
        <p:nvSpPr>
          <p:cNvPr id="8" name="Shape 6"/>
          <p:cNvSpPr/>
          <p:nvPr/>
        </p:nvSpPr>
        <p:spPr>
          <a:xfrm>
            <a:off x="713232" y="2194560"/>
            <a:ext cx="6766560" cy="1417320"/>
          </a:xfrm>
          <a:prstGeom prst="roundRect">
            <a:avLst>
              <a:gd name="adj" fmla="val 6452"/>
            </a:avLst>
          </a:prstGeom>
          <a:solidFill>
            <a:srgbClr val="FFFFFF"/>
          </a:solidFill>
          <a:ln/>
          <a:effectLst>
            <a:outerShdw sx="100000" sy="100000" kx="0" ky="0" algn="bl" rotWithShape="0" blurRad="152400" dist="38100" dir="5400000">
              <a:srgbClr val="1B2A2E">
                <a:alpha val="14000"/>
              </a:srgbClr>
            </a:outerShdw>
          </a:effectLst>
        </p:spPr>
      </p:sp>
      <p:sp>
        <p:nvSpPr>
          <p:cNvPr id="9" name="Shape 7"/>
          <p:cNvSpPr/>
          <p:nvPr/>
        </p:nvSpPr>
        <p:spPr>
          <a:xfrm>
            <a:off x="960120" y="2450592"/>
            <a:ext cx="457200" cy="457200"/>
          </a:xfrm>
          <a:prstGeom prst="ellipse">
            <a:avLst/>
          </a:prstGeom>
          <a:solidFill>
            <a:srgbClr val="64748B"/>
          </a:solidFill>
          <a:ln/>
        </p:spPr>
      </p:sp>
      <p:sp>
        <p:nvSpPr>
          <p:cNvPr id="10" name="Text 8"/>
          <p:cNvSpPr txBox="1"/>
          <p:nvPr/>
        </p:nvSpPr>
        <p:spPr>
          <a:xfrm>
            <a:off x="960120" y="245059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1</a:t>
            </a:r>
            <a:endParaRPr lang="en-US" sz="1900" dirty="0"/>
          </a:p>
        </p:txBody>
      </p:sp>
      <p:sp>
        <p:nvSpPr>
          <p:cNvPr id="11" name="Text 9"/>
          <p:cNvSpPr txBox="1"/>
          <p:nvPr/>
        </p:nvSpPr>
        <p:spPr>
          <a:xfrm>
            <a:off x="1554480" y="2423160"/>
            <a:ext cx="5760720" cy="1051560"/>
          </a:xfrm>
          <a:prstGeom prst="rect">
            <a:avLst/>
          </a:prstGeom>
          <a:noFill/>
          <a:ln/>
        </p:spPr>
        <p:txBody>
          <a:bodyPr wrap="square" lIns="0" tIns="0" rIns="0" bIns="0" rtlCol="0" anchor="t"/>
          <a:lstStyle/>
          <a:p>
            <a:pPr algn="l" indent="0" marL="0">
              <a:lnSpc>
                <a:spcPct val="130000"/>
              </a:lnSpc>
              <a:buNone/>
            </a:pPr>
            <a:r>
              <a:rPr lang="en-US" sz="1400" dirty="0">
                <a:solidFill>
                  <a:srgbClr val="475569"/>
                </a:solidFill>
                <a:latin typeface="Poppins" pitchFamily="34" charset="0"/>
                <a:ea typeface="Poppins" pitchFamily="34" charset="-122"/>
                <a:cs typeface="Poppins" pitchFamily="34" charset="-120"/>
              </a:rPr>
              <a:t>Nineteen visuals. Four colour schemes. Every metric the analyst could think of, built to demonstrate effort.</a:t>
            </a:r>
            <a:endParaRPr lang="en-US" sz="1400" dirty="0"/>
          </a:p>
        </p:txBody>
      </p:sp>
      <p:sp>
        <p:nvSpPr>
          <p:cNvPr id="12" name="Shape 10"/>
          <p:cNvSpPr/>
          <p:nvPr/>
        </p:nvSpPr>
        <p:spPr>
          <a:xfrm>
            <a:off x="713232" y="3794760"/>
            <a:ext cx="6766560" cy="1417320"/>
          </a:xfrm>
          <a:prstGeom prst="roundRect">
            <a:avLst>
              <a:gd name="adj" fmla="val 6452"/>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713232" y="3794760"/>
            <a:ext cx="6766560" cy="82296"/>
          </a:xfrm>
          <a:prstGeom prst="rect">
            <a:avLst/>
          </a:prstGeom>
          <a:solidFill>
            <a:srgbClr val="387F7F"/>
          </a:solidFill>
          <a:ln/>
        </p:spPr>
      </p:sp>
      <p:sp>
        <p:nvSpPr>
          <p:cNvPr id="14" name="Shape 12"/>
          <p:cNvSpPr/>
          <p:nvPr/>
        </p:nvSpPr>
        <p:spPr>
          <a:xfrm>
            <a:off x="960120" y="4050792"/>
            <a:ext cx="457200" cy="457200"/>
          </a:xfrm>
          <a:prstGeom prst="ellipse">
            <a:avLst/>
          </a:prstGeom>
          <a:solidFill>
            <a:srgbClr val="387F7F"/>
          </a:solidFill>
          <a:ln/>
        </p:spPr>
      </p:sp>
      <p:sp>
        <p:nvSpPr>
          <p:cNvPr id="15" name="Text 13"/>
          <p:cNvSpPr txBox="1"/>
          <p:nvPr/>
        </p:nvSpPr>
        <p:spPr>
          <a:xfrm>
            <a:off x="960120" y="405079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2</a:t>
            </a:r>
            <a:endParaRPr lang="en-US" sz="1900" dirty="0"/>
          </a:p>
        </p:txBody>
      </p:sp>
      <p:sp>
        <p:nvSpPr>
          <p:cNvPr id="16" name="Text 14"/>
          <p:cNvSpPr txBox="1"/>
          <p:nvPr/>
        </p:nvSpPr>
        <p:spPr>
          <a:xfrm>
            <a:off x="1554480" y="4023360"/>
            <a:ext cx="5760720" cy="1051560"/>
          </a:xfrm>
          <a:prstGeom prst="rect">
            <a:avLst/>
          </a:prstGeom>
          <a:noFill/>
          <a:ln/>
        </p:spPr>
        <p:txBody>
          <a:bodyPr wrap="square" lIns="0" tIns="0" rIns="0" bIns="0" rtlCol="0" anchor="t"/>
          <a:lstStyle/>
          <a:p>
            <a:pPr algn="l" indent="0" marL="0">
              <a:lnSpc>
                <a:spcPct val="130000"/>
              </a:lnSpc>
              <a:buNone/>
            </a:pPr>
            <a:r>
              <a:rPr lang="en-US" sz="1400" b="1" dirty="0">
                <a:solidFill>
                  <a:srgbClr val="0A1A23"/>
                </a:solidFill>
                <a:latin typeface="Poppins" pitchFamily="34" charset="0"/>
                <a:ea typeface="Poppins" pitchFamily="34" charset="-122"/>
                <a:cs typeface="Poppins" pitchFamily="34" charset="-120"/>
              </a:rPr>
              <a:t>Four numbers. One chart. One table, built to answer a question that gets asked every morning.</a:t>
            </a:r>
            <a:endParaRPr lang="en-US" sz="1400" dirty="0"/>
          </a:p>
        </p:txBody>
      </p:sp>
      <p:sp>
        <p:nvSpPr>
          <p:cNvPr id="17" name="Shape 15"/>
          <p:cNvSpPr/>
          <p:nvPr/>
        </p:nvSpPr>
        <p:spPr>
          <a:xfrm>
            <a:off x="713232" y="5440680"/>
            <a:ext cx="6766560" cy="685800"/>
          </a:xfrm>
          <a:prstGeom prst="roundRect">
            <a:avLst>
              <a:gd name="adj" fmla="val 12000"/>
            </a:avLst>
          </a:prstGeom>
          <a:solidFill>
            <a:srgbClr val="EEF4F4"/>
          </a:solidFill>
          <a:ln/>
        </p:spPr>
      </p:sp>
      <p:sp>
        <p:nvSpPr>
          <p:cNvPr id="18" name="Shape 16"/>
          <p:cNvSpPr/>
          <p:nvPr/>
        </p:nvSpPr>
        <p:spPr>
          <a:xfrm>
            <a:off x="713232" y="5440680"/>
            <a:ext cx="68580" cy="685800"/>
          </a:xfrm>
          <a:prstGeom prst="rect">
            <a:avLst/>
          </a:prstGeom>
          <a:solidFill>
            <a:srgbClr val="387F7F"/>
          </a:solidFill>
          <a:ln/>
        </p:spPr>
      </p:sp>
      <p:sp>
        <p:nvSpPr>
          <p:cNvPr id="19" name="Text 17"/>
          <p:cNvSpPr txBox="1"/>
          <p:nvPr/>
        </p:nvSpPr>
        <p:spPr>
          <a:xfrm>
            <a:off x="1051560" y="5440680"/>
            <a:ext cx="6400800" cy="685800"/>
          </a:xfrm>
          <a:prstGeom prst="rect">
            <a:avLst/>
          </a:prstGeom>
          <a:noFill/>
          <a:ln/>
        </p:spPr>
        <p:txBody>
          <a:bodyPr wrap="square" lIns="0" tIns="0" rIns="0" bIns="0" rtlCol="0" anchor="ctr"/>
          <a:lstStyle/>
          <a:p>
            <a:pPr algn="l" indent="0" marL="0">
              <a:lnSpc>
                <a:spcPct val="135000"/>
              </a:lnSpc>
              <a:buNone/>
            </a:pPr>
            <a:r>
              <a:rPr lang="en-US" sz="1600" b="1" dirty="0">
                <a:solidFill>
                  <a:srgbClr val="387F7F"/>
                </a:solidFill>
                <a:latin typeface="Poppins" pitchFamily="34" charset="0"/>
                <a:ea typeface="Poppins" pitchFamily="34" charset="-122"/>
                <a:cs typeface="Poppins" pitchFamily="34" charset="-120"/>
              </a:rPr>
              <a:t>The second one took longer to build.</a:t>
            </a:r>
            <a:endParaRPr lang="en-US" sz="1600" dirty="0"/>
          </a:p>
        </p:txBody>
      </p:sp>
      <p:sp>
        <p:nvSpPr>
          <p:cNvPr id="20" name="Text 18"/>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7FA3A3"/>
                </a:solidFill>
                <a:latin typeface="Poppins" pitchFamily="34" charset="0"/>
                <a:ea typeface="Poppins" pitchFamily="34" charset="-122"/>
                <a:cs typeface="Poppi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Design runs backwards from the person</a:t>
            </a:r>
            <a:endParaRPr lang="en-US" sz="2700" dirty="0"/>
          </a:p>
        </p:txBody>
      </p:sp>
      <p:sp>
        <p:nvSpPr>
          <p:cNvPr id="6" name="Shape 4"/>
          <p:cNvSpPr/>
          <p:nvPr/>
        </p:nvSpPr>
        <p:spPr>
          <a:xfrm>
            <a:off x="685800" y="1600200"/>
            <a:ext cx="4709160" cy="3108960"/>
          </a:xfrm>
          <a:prstGeom prst="roundRect">
            <a:avLst>
              <a:gd name="adj" fmla="val 2941"/>
            </a:avLst>
          </a:prstGeom>
          <a:solidFill>
            <a:srgbClr val="FFFFFF"/>
          </a:solidFill>
          <a:ln/>
          <a:effectLst>
            <a:outerShdw sx="100000" sy="100000" kx="0" ky="0" algn="bl" rotWithShape="0" blurRad="152400" dist="38100" dir="5400000">
              <a:srgbClr val="1B2A2E">
                <a:alpha val="14000"/>
              </a:srgbClr>
            </a:outerShdw>
          </a:effectLst>
        </p:spPr>
      </p:sp>
      <p:sp>
        <p:nvSpPr>
          <p:cNvPr id="7" name="Text 5"/>
          <p:cNvSpPr txBox="1"/>
          <p:nvPr/>
        </p:nvSpPr>
        <p:spPr>
          <a:xfrm>
            <a:off x="960120" y="1783080"/>
            <a:ext cx="4160520" cy="274320"/>
          </a:xfrm>
          <a:prstGeom prst="rect">
            <a:avLst/>
          </a:prstGeom>
          <a:noFill/>
          <a:ln/>
        </p:spPr>
        <p:txBody>
          <a:bodyPr wrap="square" lIns="0" tIns="0" rIns="0" bIns="0" rtlCol="0" anchor="ctr"/>
          <a:lstStyle/>
          <a:p>
            <a:pPr indent="0" marL="0">
              <a:buNone/>
            </a:pPr>
            <a:r>
              <a:rPr lang="en-US" sz="1100" b="1" spc="100" kern="0" dirty="0">
                <a:solidFill>
                  <a:srgbClr val="64748B"/>
                </a:solidFill>
                <a:latin typeface="Poppins" pitchFamily="34" charset="0"/>
                <a:ea typeface="Poppins" pitchFamily="34" charset="-122"/>
                <a:cs typeface="Poppins" pitchFamily="34" charset="-120"/>
              </a:rPr>
              <a:t>THE WRONG WAY</a:t>
            </a:r>
            <a:endParaRPr lang="en-US" sz="1100" dirty="0"/>
          </a:p>
        </p:txBody>
      </p:sp>
      <p:sp>
        <p:nvSpPr>
          <p:cNvPr id="8" name="Text 6"/>
          <p:cNvSpPr txBox="1"/>
          <p:nvPr/>
        </p:nvSpPr>
        <p:spPr>
          <a:xfrm>
            <a:off x="960120" y="2148840"/>
            <a:ext cx="4160520" cy="457200"/>
          </a:xfrm>
          <a:prstGeom prst="rect">
            <a:avLst/>
          </a:prstGeom>
          <a:noFill/>
          <a:ln/>
        </p:spPr>
        <p:txBody>
          <a:bodyPr wrap="square" lIns="0" tIns="0" rIns="0" bIns="0" rtlCol="0" anchor="ctr"/>
          <a:lstStyle/>
          <a:p>
            <a:pPr indent="0" marL="0">
              <a:buNone/>
            </a:pPr>
            <a:r>
              <a:rPr lang="en-US" sz="1400" strike="sngStrike" dirty="0">
                <a:solidFill>
                  <a:srgbClr val="64748B"/>
                </a:solidFill>
                <a:latin typeface="Poppins" pitchFamily="34" charset="0"/>
                <a:ea typeface="Poppins" pitchFamily="34" charset="-122"/>
                <a:cs typeface="Poppins" pitchFamily="34" charset="-120"/>
              </a:rPr>
              <a:t>✕  Open the model</a:t>
            </a:r>
            <a:endParaRPr lang="en-US" sz="1400" dirty="0"/>
          </a:p>
        </p:txBody>
      </p:sp>
      <p:sp>
        <p:nvSpPr>
          <p:cNvPr id="9" name="Text 7"/>
          <p:cNvSpPr txBox="1"/>
          <p:nvPr/>
        </p:nvSpPr>
        <p:spPr>
          <a:xfrm>
            <a:off x="960120" y="2715768"/>
            <a:ext cx="4160520" cy="457200"/>
          </a:xfrm>
          <a:prstGeom prst="rect">
            <a:avLst/>
          </a:prstGeom>
          <a:noFill/>
          <a:ln/>
        </p:spPr>
        <p:txBody>
          <a:bodyPr wrap="square" lIns="0" tIns="0" rIns="0" bIns="0" rtlCol="0" anchor="ctr"/>
          <a:lstStyle/>
          <a:p>
            <a:pPr indent="0" marL="0">
              <a:buNone/>
            </a:pPr>
            <a:r>
              <a:rPr lang="en-US" sz="1400" strike="sngStrike" dirty="0">
                <a:solidFill>
                  <a:srgbClr val="64748B"/>
                </a:solidFill>
                <a:latin typeface="Poppins" pitchFamily="34" charset="0"/>
                <a:ea typeface="Poppins" pitchFamily="34" charset="-122"/>
                <a:cs typeface="Poppins" pitchFamily="34" charset="-120"/>
              </a:rPr>
              <a:t>✕  See what fields exist</a:t>
            </a:r>
            <a:endParaRPr lang="en-US" sz="1400" dirty="0"/>
          </a:p>
        </p:txBody>
      </p:sp>
      <p:sp>
        <p:nvSpPr>
          <p:cNvPr id="10" name="Text 8"/>
          <p:cNvSpPr txBox="1"/>
          <p:nvPr/>
        </p:nvSpPr>
        <p:spPr>
          <a:xfrm>
            <a:off x="960120" y="3282696"/>
            <a:ext cx="4160520" cy="457200"/>
          </a:xfrm>
          <a:prstGeom prst="rect">
            <a:avLst/>
          </a:prstGeom>
          <a:noFill/>
          <a:ln/>
        </p:spPr>
        <p:txBody>
          <a:bodyPr wrap="square" lIns="0" tIns="0" rIns="0" bIns="0" rtlCol="0" anchor="ctr"/>
          <a:lstStyle/>
          <a:p>
            <a:pPr indent="0" marL="0">
              <a:buNone/>
            </a:pPr>
            <a:r>
              <a:rPr lang="en-US" sz="1400" strike="sngStrike" dirty="0">
                <a:solidFill>
                  <a:srgbClr val="64748B"/>
                </a:solidFill>
                <a:latin typeface="Poppins" pitchFamily="34" charset="0"/>
                <a:ea typeface="Poppins" pitchFamily="34" charset="-122"/>
                <a:cs typeface="Poppins" pitchFamily="34" charset="-120"/>
              </a:rPr>
              <a:t>✕  Build a chart per field</a:t>
            </a:r>
            <a:endParaRPr lang="en-US" sz="1400" dirty="0"/>
          </a:p>
        </p:txBody>
      </p:sp>
      <p:sp>
        <p:nvSpPr>
          <p:cNvPr id="11" name="Text 9"/>
          <p:cNvSpPr txBox="1"/>
          <p:nvPr/>
        </p:nvSpPr>
        <p:spPr>
          <a:xfrm>
            <a:off x="960120" y="3849624"/>
            <a:ext cx="4160520" cy="457200"/>
          </a:xfrm>
          <a:prstGeom prst="rect">
            <a:avLst/>
          </a:prstGeom>
          <a:noFill/>
          <a:ln/>
        </p:spPr>
        <p:txBody>
          <a:bodyPr wrap="square" lIns="0" tIns="0" rIns="0" bIns="0" rtlCol="0" anchor="ctr"/>
          <a:lstStyle/>
          <a:p>
            <a:pPr indent="0" marL="0">
              <a:buNone/>
            </a:pPr>
            <a:r>
              <a:rPr lang="en-US" sz="1400" strike="sngStrike" dirty="0">
                <a:solidFill>
                  <a:srgbClr val="64748B"/>
                </a:solidFill>
                <a:latin typeface="Poppins" pitchFamily="34" charset="0"/>
                <a:ea typeface="Poppins" pitchFamily="34" charset="-122"/>
                <a:cs typeface="Poppins" pitchFamily="34" charset="-120"/>
              </a:rPr>
              <a:t>✕  Hope it is useful</a:t>
            </a:r>
            <a:endParaRPr lang="en-US" sz="1400" dirty="0"/>
          </a:p>
        </p:txBody>
      </p:sp>
      <p:sp>
        <p:nvSpPr>
          <p:cNvPr id="12" name="Text 10"/>
          <p:cNvSpPr txBox="1"/>
          <p:nvPr/>
        </p:nvSpPr>
        <p:spPr>
          <a:xfrm>
            <a:off x="960120" y="4434840"/>
            <a:ext cx="4160520" cy="457200"/>
          </a:xfrm>
          <a:prstGeom prst="rect">
            <a:avLst/>
          </a:prstGeom>
          <a:noFill/>
          <a:ln/>
        </p:spPr>
        <p:txBody>
          <a:bodyPr wrap="square" lIns="0" tIns="0" rIns="0" bIns="0" rtlCol="0" anchor="t"/>
          <a:lstStyle/>
          <a:p>
            <a:pPr algn="l" indent="0" marL="0">
              <a:lnSpc>
                <a:spcPct val="135000"/>
              </a:lnSpc>
              <a:buNone/>
            </a:pPr>
            <a:r>
              <a:rPr lang="en-US" sz="1150" i="1" dirty="0">
                <a:solidFill>
                  <a:srgbClr val="64748B"/>
                </a:solidFill>
                <a:latin typeface="Poppins" pitchFamily="34" charset="0"/>
                <a:ea typeface="Poppins" pitchFamily="34" charset="-122"/>
                <a:cs typeface="Poppins" pitchFamily="34" charset="-120"/>
              </a:rPr>
              <a:t>A tour of your data, not an answer to anything.</a:t>
            </a:r>
            <a:endParaRPr lang="en-US" sz="1150" dirty="0"/>
          </a:p>
        </p:txBody>
      </p:sp>
      <p:sp>
        <p:nvSpPr>
          <p:cNvPr id="13" name="Shape 11"/>
          <p:cNvSpPr/>
          <p:nvPr/>
        </p:nvSpPr>
        <p:spPr>
          <a:xfrm>
            <a:off x="5806440" y="1600200"/>
            <a:ext cx="4709160" cy="3108960"/>
          </a:xfrm>
          <a:prstGeom prst="roundRect">
            <a:avLst>
              <a:gd name="adj" fmla="val 2941"/>
            </a:avLst>
          </a:prstGeom>
          <a:solidFill>
            <a:srgbClr val="FFFFFF"/>
          </a:solidFill>
          <a:ln/>
          <a:effectLst>
            <a:outerShdw sx="100000" sy="100000" kx="0" ky="0" algn="bl" rotWithShape="0" blurRad="152400" dist="38100" dir="5400000">
              <a:srgbClr val="1B2A2E">
                <a:alpha val="14000"/>
              </a:srgbClr>
            </a:outerShdw>
          </a:effectLst>
        </p:spPr>
      </p:sp>
      <p:sp>
        <p:nvSpPr>
          <p:cNvPr id="14" name="Shape 12"/>
          <p:cNvSpPr/>
          <p:nvPr/>
        </p:nvSpPr>
        <p:spPr>
          <a:xfrm>
            <a:off x="5806440" y="1600200"/>
            <a:ext cx="4709160" cy="82296"/>
          </a:xfrm>
          <a:prstGeom prst="rect">
            <a:avLst/>
          </a:prstGeom>
          <a:solidFill>
            <a:srgbClr val="387F7F"/>
          </a:solidFill>
          <a:ln/>
        </p:spPr>
      </p:sp>
      <p:sp>
        <p:nvSpPr>
          <p:cNvPr id="15" name="Text 13"/>
          <p:cNvSpPr txBox="1"/>
          <p:nvPr/>
        </p:nvSpPr>
        <p:spPr>
          <a:xfrm>
            <a:off x="6080760" y="1783080"/>
            <a:ext cx="4160520" cy="274320"/>
          </a:xfrm>
          <a:prstGeom prst="rect">
            <a:avLst/>
          </a:prstGeom>
          <a:noFill/>
          <a:ln/>
        </p:spPr>
        <p:txBody>
          <a:bodyPr wrap="square" lIns="0" tIns="0" rIns="0" bIns="0" rtlCol="0" anchor="ctr"/>
          <a:lstStyle/>
          <a:p>
            <a:pPr indent="0" marL="0">
              <a:buNone/>
            </a:pPr>
            <a:r>
              <a:rPr lang="en-US" sz="1100" b="1" spc="100" kern="0" dirty="0">
                <a:solidFill>
                  <a:srgbClr val="387F7F"/>
                </a:solidFill>
                <a:latin typeface="Poppins" pitchFamily="34" charset="0"/>
                <a:ea typeface="Poppins" pitchFamily="34" charset="-122"/>
                <a:cs typeface="Poppins" pitchFamily="34" charset="-120"/>
              </a:rPr>
              <a:t>THE RIGHT WAY</a:t>
            </a:r>
            <a:endParaRPr lang="en-US" sz="1100" dirty="0"/>
          </a:p>
        </p:txBody>
      </p:sp>
      <p:sp>
        <p:nvSpPr>
          <p:cNvPr id="16" name="Text 14"/>
          <p:cNvSpPr txBox="1"/>
          <p:nvPr/>
        </p:nvSpPr>
        <p:spPr>
          <a:xfrm>
            <a:off x="6080760" y="2148840"/>
            <a:ext cx="4160520" cy="457200"/>
          </a:xfrm>
          <a:prstGeom prst="rect">
            <a:avLst/>
          </a:prstGeom>
          <a:noFill/>
          <a:ln/>
        </p:spPr>
        <p:txBody>
          <a:bodyPr wrap="square" lIns="0" tIns="0" rIns="0" bIns="0" rtlCol="0" anchor="ctr"/>
          <a:lstStyle/>
          <a:p>
            <a:pPr indent="0" marL="0">
              <a:buNone/>
            </a:pPr>
            <a:r>
              <a:rPr lang="en-US" sz="1400" b="1" dirty="0">
                <a:solidFill>
                  <a:srgbClr val="0A1A23"/>
                </a:solidFill>
                <a:latin typeface="Poppins" pitchFamily="34" charset="0"/>
                <a:ea typeface="Poppins" pitchFamily="34" charset="-122"/>
                <a:cs typeface="Poppins" pitchFamily="34" charset="-120"/>
              </a:rPr>
              <a:t>✓  Name the audience</a:t>
            </a:r>
            <a:endParaRPr lang="en-US" sz="1400" dirty="0"/>
          </a:p>
        </p:txBody>
      </p:sp>
      <p:sp>
        <p:nvSpPr>
          <p:cNvPr id="17" name="Text 15"/>
          <p:cNvSpPr txBox="1"/>
          <p:nvPr/>
        </p:nvSpPr>
        <p:spPr>
          <a:xfrm>
            <a:off x="6080760" y="2715768"/>
            <a:ext cx="4160520" cy="457200"/>
          </a:xfrm>
          <a:prstGeom prst="rect">
            <a:avLst/>
          </a:prstGeom>
          <a:noFill/>
          <a:ln/>
        </p:spPr>
        <p:txBody>
          <a:bodyPr wrap="square" lIns="0" tIns="0" rIns="0" bIns="0" rtlCol="0" anchor="ctr"/>
          <a:lstStyle/>
          <a:p>
            <a:pPr indent="0" marL="0">
              <a:buNone/>
            </a:pPr>
            <a:r>
              <a:rPr lang="en-US" sz="1400" b="1" dirty="0">
                <a:solidFill>
                  <a:srgbClr val="0A1A23"/>
                </a:solidFill>
                <a:latin typeface="Poppins" pitchFamily="34" charset="0"/>
                <a:ea typeface="Poppins" pitchFamily="34" charset="-122"/>
                <a:cs typeface="Poppins" pitchFamily="34" charset="-120"/>
              </a:rPr>
              <a:t>✓  List their questions</a:t>
            </a:r>
            <a:endParaRPr lang="en-US" sz="1400" dirty="0"/>
          </a:p>
        </p:txBody>
      </p:sp>
      <p:sp>
        <p:nvSpPr>
          <p:cNvPr id="18" name="Text 16"/>
          <p:cNvSpPr txBox="1"/>
          <p:nvPr/>
        </p:nvSpPr>
        <p:spPr>
          <a:xfrm>
            <a:off x="6080760" y="3282696"/>
            <a:ext cx="4160520" cy="457200"/>
          </a:xfrm>
          <a:prstGeom prst="rect">
            <a:avLst/>
          </a:prstGeom>
          <a:noFill/>
          <a:ln/>
        </p:spPr>
        <p:txBody>
          <a:bodyPr wrap="square" lIns="0" tIns="0" rIns="0" bIns="0" rtlCol="0" anchor="ctr"/>
          <a:lstStyle/>
          <a:p>
            <a:pPr indent="0" marL="0">
              <a:buNone/>
            </a:pPr>
            <a:r>
              <a:rPr lang="en-US" sz="1400" b="1" dirty="0">
                <a:solidFill>
                  <a:srgbClr val="0A1A23"/>
                </a:solidFill>
                <a:latin typeface="Poppins" pitchFamily="34" charset="0"/>
                <a:ea typeface="Poppins" pitchFamily="34" charset="-122"/>
                <a:cs typeface="Poppins" pitchFamily="34" charset="-120"/>
              </a:rPr>
              <a:t>✓  Pick the metrics</a:t>
            </a:r>
            <a:endParaRPr lang="en-US" sz="1400" dirty="0"/>
          </a:p>
        </p:txBody>
      </p:sp>
      <p:sp>
        <p:nvSpPr>
          <p:cNvPr id="19" name="Text 17"/>
          <p:cNvSpPr txBox="1"/>
          <p:nvPr/>
        </p:nvSpPr>
        <p:spPr>
          <a:xfrm>
            <a:off x="6080760" y="3849624"/>
            <a:ext cx="4160520" cy="457200"/>
          </a:xfrm>
          <a:prstGeom prst="rect">
            <a:avLst/>
          </a:prstGeom>
          <a:noFill/>
          <a:ln/>
        </p:spPr>
        <p:txBody>
          <a:bodyPr wrap="square" lIns="0" tIns="0" rIns="0" bIns="0" rtlCol="0" anchor="ctr"/>
          <a:lstStyle/>
          <a:p>
            <a:pPr indent="0" marL="0">
              <a:buNone/>
            </a:pPr>
            <a:r>
              <a:rPr lang="en-US" sz="1400" b="1" dirty="0">
                <a:solidFill>
                  <a:srgbClr val="0A1A23"/>
                </a:solidFill>
                <a:latin typeface="Poppins" pitchFamily="34" charset="0"/>
                <a:ea typeface="Poppins" pitchFamily="34" charset="-122"/>
                <a:cs typeface="Poppins" pitchFamily="34" charset="-120"/>
              </a:rPr>
              <a:t>✓  Choose visuals last</a:t>
            </a:r>
            <a:endParaRPr lang="en-US" sz="1400" dirty="0"/>
          </a:p>
        </p:txBody>
      </p:sp>
      <p:sp>
        <p:nvSpPr>
          <p:cNvPr id="20" name="Text 18"/>
          <p:cNvSpPr txBox="1"/>
          <p:nvPr/>
        </p:nvSpPr>
        <p:spPr>
          <a:xfrm>
            <a:off x="6080760" y="4434840"/>
            <a:ext cx="4160520" cy="457200"/>
          </a:xfrm>
          <a:prstGeom prst="rect">
            <a:avLst/>
          </a:prstGeom>
          <a:noFill/>
          <a:ln/>
        </p:spPr>
        <p:txBody>
          <a:bodyPr wrap="square" lIns="0" tIns="0" rIns="0" bIns="0" rtlCol="0" anchor="t"/>
          <a:lstStyle/>
          <a:p>
            <a:pPr algn="l" indent="0" marL="0">
              <a:lnSpc>
                <a:spcPct val="135000"/>
              </a:lnSpc>
              <a:buNone/>
            </a:pPr>
            <a:r>
              <a:rPr lang="en-US" sz="1150" i="1" dirty="0">
                <a:solidFill>
                  <a:srgbClr val="64748B"/>
                </a:solidFill>
                <a:latin typeface="Poppins" pitchFamily="34" charset="0"/>
                <a:ea typeface="Poppins" pitchFamily="34" charset="-122"/>
                <a:cs typeface="Poppins" pitchFamily="34" charset="-120"/>
              </a:rPr>
              <a:t>Every visual supports a decision someone actually makes.</a:t>
            </a:r>
            <a:endParaRPr lang="en-US" sz="1150" dirty="0"/>
          </a:p>
        </p:txBody>
      </p:sp>
      <p:sp>
        <p:nvSpPr>
          <p:cNvPr id="21" name="Shape 19"/>
          <p:cNvSpPr/>
          <p:nvPr/>
        </p:nvSpPr>
        <p:spPr>
          <a:xfrm>
            <a:off x="685800" y="5029200"/>
            <a:ext cx="9829800" cy="914400"/>
          </a:xfrm>
          <a:prstGeom prst="roundRect">
            <a:avLst>
              <a:gd name="adj" fmla="val 9000"/>
            </a:avLst>
          </a:prstGeom>
          <a:solidFill>
            <a:srgbClr val="EEF4F4"/>
          </a:solidFill>
          <a:ln/>
        </p:spPr>
      </p:sp>
      <p:sp>
        <p:nvSpPr>
          <p:cNvPr id="22" name="Shape 20"/>
          <p:cNvSpPr/>
          <p:nvPr/>
        </p:nvSpPr>
        <p:spPr>
          <a:xfrm>
            <a:off x="685800" y="5029200"/>
            <a:ext cx="68580" cy="914400"/>
          </a:xfrm>
          <a:prstGeom prst="rect">
            <a:avLst/>
          </a:prstGeom>
          <a:solidFill>
            <a:srgbClr val="387F7F"/>
          </a:solidFill>
          <a:ln/>
        </p:spPr>
      </p:sp>
      <p:sp>
        <p:nvSpPr>
          <p:cNvPr id="23" name="Text 21"/>
          <p:cNvSpPr txBox="1"/>
          <p:nvPr/>
        </p:nvSpPr>
        <p:spPr>
          <a:xfrm>
            <a:off x="1051560" y="5029200"/>
            <a:ext cx="9235440" cy="914400"/>
          </a:xfrm>
          <a:prstGeom prst="rect">
            <a:avLst/>
          </a:prstGeom>
          <a:noFill/>
          <a:ln/>
        </p:spPr>
        <p:txBody>
          <a:bodyPr wrap="square" lIns="0" tIns="0" rIns="0" bIns="0" rtlCol="0" anchor="ctr"/>
          <a:lstStyle/>
          <a:p>
            <a:pPr algn="l" indent="0" marL="0">
              <a:lnSpc>
                <a:spcPct val="125000"/>
              </a:lnSpc>
              <a:buNone/>
            </a:pPr>
            <a:r>
              <a:rPr lang="en-US" sz="1500" b="1" dirty="0">
                <a:solidFill>
                  <a:srgbClr val="387F7F"/>
                </a:solidFill>
                <a:latin typeface="Poppins" pitchFamily="34" charset="0"/>
                <a:ea typeface="Poppins" pitchFamily="34" charset="-122"/>
                <a:cs typeface="Poppins" pitchFamily="34" charset="-120"/>
              </a:rPr>
              <a:t>Anything that does not support Adaeze's decisions, however interesting, belongs somewhere else.</a:t>
            </a:r>
            <a:endParaRPr lang="en-US" sz="1500" dirty="0"/>
          </a:p>
        </p:txBody>
      </p:sp>
      <p:pic>
        <p:nvPicPr>
          <p:cNvPr id="24"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The brief, in her words</a:t>
            </a:r>
            <a:endParaRPr lang="en-US" sz="2700" dirty="0"/>
          </a:p>
        </p:txBody>
      </p:sp>
      <p:sp>
        <p:nvSpPr>
          <p:cNvPr id="6" name="Shape 4"/>
          <p:cNvSpPr/>
          <p:nvPr/>
        </p:nvSpPr>
        <p:spPr>
          <a:xfrm>
            <a:off x="685800" y="1691640"/>
            <a:ext cx="9829800" cy="1115568"/>
          </a:xfrm>
          <a:prstGeom prst="roundRect">
            <a:avLst>
              <a:gd name="adj" fmla="val 8197"/>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932688" y="1984248"/>
            <a:ext cx="530352" cy="530352"/>
          </a:xfrm>
          <a:prstGeom prst="ellipse">
            <a:avLst/>
          </a:prstGeom>
          <a:solidFill>
            <a:srgbClr val="387F7F"/>
          </a:solidFill>
          <a:ln/>
        </p:spPr>
      </p:sp>
      <p:sp>
        <p:nvSpPr>
          <p:cNvPr id="8" name="Text 6"/>
          <p:cNvSpPr txBox="1"/>
          <p:nvPr/>
        </p:nvSpPr>
        <p:spPr>
          <a:xfrm>
            <a:off x="932688" y="1984248"/>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1</a:t>
            </a:r>
            <a:endParaRPr lang="en-US" sz="2100" dirty="0"/>
          </a:p>
        </p:txBody>
      </p:sp>
      <p:sp>
        <p:nvSpPr>
          <p:cNvPr id="9" name="Text 7"/>
          <p:cNvSpPr txBox="1"/>
          <p:nvPr/>
        </p:nvSpPr>
        <p:spPr>
          <a:xfrm>
            <a:off x="1691640" y="1828800"/>
            <a:ext cx="8503920" cy="457200"/>
          </a:xfrm>
          <a:prstGeom prst="rect">
            <a:avLst/>
          </a:prstGeom>
          <a:noFill/>
          <a:ln/>
        </p:spPr>
        <p:txBody>
          <a:bodyPr wrap="square" lIns="0" tIns="0" rIns="0" bIns="0" rtlCol="0" anchor="ctr"/>
          <a:lstStyle/>
          <a:p>
            <a:pPr indent="0" marL="0">
              <a:buNone/>
            </a:pPr>
            <a:r>
              <a:rPr lang="en-US" sz="1650" b="1" dirty="0">
                <a:solidFill>
                  <a:srgbClr val="0A1A23"/>
                </a:solidFill>
                <a:latin typeface="Poppins" pitchFamily="34" charset="0"/>
                <a:ea typeface="Poppins" pitchFamily="34" charset="-122"/>
                <a:cs typeface="Poppins" pitchFamily="34" charset="-120"/>
              </a:rPr>
              <a:t>“Are we hitting the 90 percent promise this month?”</a:t>
            </a:r>
            <a:endParaRPr lang="en-US" sz="1650" dirty="0"/>
          </a:p>
        </p:txBody>
      </p:sp>
      <p:sp>
        <p:nvSpPr>
          <p:cNvPr id="10" name="Shape 8"/>
          <p:cNvSpPr/>
          <p:nvPr/>
        </p:nvSpPr>
        <p:spPr>
          <a:xfrm>
            <a:off x="1691640" y="2313432"/>
            <a:ext cx="8138160" cy="365760"/>
          </a:xfrm>
          <a:prstGeom prst="roundRect">
            <a:avLst>
              <a:gd name="adj" fmla="val 15000"/>
            </a:avLst>
          </a:prstGeom>
          <a:solidFill>
            <a:srgbClr val="EEF4F4"/>
          </a:solidFill>
          <a:ln/>
        </p:spPr>
      </p:sp>
      <p:sp>
        <p:nvSpPr>
          <p:cNvPr id="11" name="Text 9"/>
          <p:cNvSpPr txBox="1"/>
          <p:nvPr/>
        </p:nvSpPr>
        <p:spPr>
          <a:xfrm>
            <a:off x="1828800" y="2313432"/>
            <a:ext cx="7863840" cy="365760"/>
          </a:xfrm>
          <a:prstGeom prst="rect">
            <a:avLst/>
          </a:prstGeom>
          <a:noFill/>
          <a:ln/>
        </p:spPr>
        <p:txBody>
          <a:bodyPr wrap="square" lIns="0" tIns="0" rIns="0" bIns="0" rtlCol="0" anchor="ctr"/>
          <a:lstStyle/>
          <a:p>
            <a:pPr indent="0" marL="0">
              <a:buNone/>
            </a:pPr>
            <a:r>
              <a:rPr lang="en-US" sz="1200" b="1" dirty="0">
                <a:solidFill>
                  <a:srgbClr val="387F7F"/>
                </a:solidFill>
                <a:latin typeface="Poppins" pitchFamily="34" charset="0"/>
                <a:ea typeface="Poppins" pitchFamily="34" charset="-122"/>
                <a:cs typeface="Poppins" pitchFamily="34" charset="-120"/>
              </a:rPr>
              <a:t>→  On-Time Rate, current month, against a 90% target</a:t>
            </a:r>
            <a:endParaRPr lang="en-US" sz="1200" dirty="0"/>
          </a:p>
        </p:txBody>
      </p:sp>
      <p:sp>
        <p:nvSpPr>
          <p:cNvPr id="12" name="Shape 10"/>
          <p:cNvSpPr/>
          <p:nvPr/>
        </p:nvSpPr>
        <p:spPr>
          <a:xfrm>
            <a:off x="685800" y="2990088"/>
            <a:ext cx="9829800" cy="1115568"/>
          </a:xfrm>
          <a:prstGeom prst="roundRect">
            <a:avLst>
              <a:gd name="adj" fmla="val 8197"/>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932688" y="3282696"/>
            <a:ext cx="530352" cy="530352"/>
          </a:xfrm>
          <a:prstGeom prst="ellipse">
            <a:avLst/>
          </a:prstGeom>
          <a:solidFill>
            <a:srgbClr val="387F7F"/>
          </a:solidFill>
          <a:ln/>
        </p:spPr>
      </p:sp>
      <p:sp>
        <p:nvSpPr>
          <p:cNvPr id="14" name="Text 12"/>
          <p:cNvSpPr txBox="1"/>
          <p:nvPr/>
        </p:nvSpPr>
        <p:spPr>
          <a:xfrm>
            <a:off x="932688" y="3282696"/>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2</a:t>
            </a:r>
            <a:endParaRPr lang="en-US" sz="2100" dirty="0"/>
          </a:p>
        </p:txBody>
      </p:sp>
      <p:sp>
        <p:nvSpPr>
          <p:cNvPr id="15" name="Text 13"/>
          <p:cNvSpPr txBox="1"/>
          <p:nvPr/>
        </p:nvSpPr>
        <p:spPr>
          <a:xfrm>
            <a:off x="1691640" y="3127248"/>
            <a:ext cx="8503920" cy="457200"/>
          </a:xfrm>
          <a:prstGeom prst="rect">
            <a:avLst/>
          </a:prstGeom>
          <a:noFill/>
          <a:ln/>
        </p:spPr>
        <p:txBody>
          <a:bodyPr wrap="square" lIns="0" tIns="0" rIns="0" bIns="0" rtlCol="0" anchor="ctr"/>
          <a:lstStyle/>
          <a:p>
            <a:pPr indent="0" marL="0">
              <a:buNone/>
            </a:pPr>
            <a:r>
              <a:rPr lang="en-US" sz="1650" b="1" dirty="0">
                <a:solidFill>
                  <a:srgbClr val="0A1A23"/>
                </a:solidFill>
                <a:latin typeface="Poppins" pitchFamily="34" charset="0"/>
                <a:ea typeface="Poppins" pitchFamily="34" charset="-122"/>
                <a:cs typeface="Poppins" pitchFamily="34" charset="-120"/>
              </a:rPr>
              <a:t>“Which routes are dragging us down?”</a:t>
            </a:r>
            <a:endParaRPr lang="en-US" sz="1650" dirty="0"/>
          </a:p>
        </p:txBody>
      </p:sp>
      <p:sp>
        <p:nvSpPr>
          <p:cNvPr id="16" name="Shape 14"/>
          <p:cNvSpPr/>
          <p:nvPr/>
        </p:nvSpPr>
        <p:spPr>
          <a:xfrm>
            <a:off x="1691640" y="3611880"/>
            <a:ext cx="8138160" cy="365760"/>
          </a:xfrm>
          <a:prstGeom prst="roundRect">
            <a:avLst>
              <a:gd name="adj" fmla="val 15000"/>
            </a:avLst>
          </a:prstGeom>
          <a:solidFill>
            <a:srgbClr val="EEF4F4"/>
          </a:solidFill>
          <a:ln/>
        </p:spPr>
      </p:sp>
      <p:sp>
        <p:nvSpPr>
          <p:cNvPr id="17" name="Text 15"/>
          <p:cNvSpPr txBox="1"/>
          <p:nvPr/>
        </p:nvSpPr>
        <p:spPr>
          <a:xfrm>
            <a:off x="1828800" y="3611880"/>
            <a:ext cx="7863840" cy="365760"/>
          </a:xfrm>
          <a:prstGeom prst="rect">
            <a:avLst/>
          </a:prstGeom>
          <a:noFill/>
          <a:ln/>
        </p:spPr>
        <p:txBody>
          <a:bodyPr wrap="square" lIns="0" tIns="0" rIns="0" bIns="0" rtlCol="0" anchor="ctr"/>
          <a:lstStyle/>
          <a:p>
            <a:pPr indent="0" marL="0">
              <a:buNone/>
            </a:pPr>
            <a:r>
              <a:rPr lang="en-US" sz="1200" b="1" dirty="0">
                <a:solidFill>
                  <a:srgbClr val="387F7F"/>
                </a:solidFill>
                <a:latin typeface="Poppins" pitchFamily="34" charset="0"/>
                <a:ea typeface="Poppins" pitchFamily="34" charset="-122"/>
                <a:cs typeface="Poppins" pitchFamily="34" charset="-120"/>
              </a:rPr>
              <a:t>→  On-Time Rate by route, ranked ascending</a:t>
            </a:r>
            <a:endParaRPr lang="en-US" sz="1200" dirty="0"/>
          </a:p>
        </p:txBody>
      </p:sp>
      <p:sp>
        <p:nvSpPr>
          <p:cNvPr id="18" name="Shape 16"/>
          <p:cNvSpPr/>
          <p:nvPr/>
        </p:nvSpPr>
        <p:spPr>
          <a:xfrm>
            <a:off x="685800" y="4288536"/>
            <a:ext cx="9829800" cy="1115568"/>
          </a:xfrm>
          <a:prstGeom prst="roundRect">
            <a:avLst>
              <a:gd name="adj" fmla="val 8197"/>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932688" y="4581144"/>
            <a:ext cx="530352" cy="530352"/>
          </a:xfrm>
          <a:prstGeom prst="ellipse">
            <a:avLst/>
          </a:prstGeom>
          <a:solidFill>
            <a:srgbClr val="387F7F"/>
          </a:solidFill>
          <a:ln/>
        </p:spPr>
      </p:sp>
      <p:sp>
        <p:nvSpPr>
          <p:cNvPr id="20" name="Text 18"/>
          <p:cNvSpPr txBox="1"/>
          <p:nvPr/>
        </p:nvSpPr>
        <p:spPr>
          <a:xfrm>
            <a:off x="932688" y="4581144"/>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3</a:t>
            </a:r>
            <a:endParaRPr lang="en-US" sz="2100" dirty="0"/>
          </a:p>
        </p:txBody>
      </p:sp>
      <p:sp>
        <p:nvSpPr>
          <p:cNvPr id="21" name="Text 19"/>
          <p:cNvSpPr txBox="1"/>
          <p:nvPr/>
        </p:nvSpPr>
        <p:spPr>
          <a:xfrm>
            <a:off x="1691640" y="4425696"/>
            <a:ext cx="8503920" cy="457200"/>
          </a:xfrm>
          <a:prstGeom prst="rect">
            <a:avLst/>
          </a:prstGeom>
          <a:noFill/>
          <a:ln/>
        </p:spPr>
        <p:txBody>
          <a:bodyPr wrap="square" lIns="0" tIns="0" rIns="0" bIns="0" rtlCol="0" anchor="ctr"/>
          <a:lstStyle/>
          <a:p>
            <a:pPr indent="0" marL="0">
              <a:buNone/>
            </a:pPr>
            <a:r>
              <a:rPr lang="en-US" sz="1650" b="1" dirty="0">
                <a:solidFill>
                  <a:srgbClr val="0A1A23"/>
                </a:solidFill>
                <a:latin typeface="Poppins" pitchFamily="34" charset="0"/>
                <a:ea typeface="Poppins" pitchFamily="34" charset="-122"/>
                <a:cs typeface="Poppins" pitchFamily="34" charset="-120"/>
              </a:rPr>
              <a:t>“Is this a rider problem or a route problem?”</a:t>
            </a:r>
            <a:endParaRPr lang="en-US" sz="1650" dirty="0"/>
          </a:p>
        </p:txBody>
      </p:sp>
      <p:sp>
        <p:nvSpPr>
          <p:cNvPr id="22" name="Shape 20"/>
          <p:cNvSpPr/>
          <p:nvPr/>
        </p:nvSpPr>
        <p:spPr>
          <a:xfrm>
            <a:off x="1691640" y="4910328"/>
            <a:ext cx="8138160" cy="365760"/>
          </a:xfrm>
          <a:prstGeom prst="roundRect">
            <a:avLst>
              <a:gd name="adj" fmla="val 15000"/>
            </a:avLst>
          </a:prstGeom>
          <a:solidFill>
            <a:srgbClr val="EEF4F4"/>
          </a:solidFill>
          <a:ln/>
        </p:spPr>
      </p:sp>
      <p:sp>
        <p:nvSpPr>
          <p:cNvPr id="23" name="Text 21"/>
          <p:cNvSpPr txBox="1"/>
          <p:nvPr/>
        </p:nvSpPr>
        <p:spPr>
          <a:xfrm>
            <a:off x="1828800" y="4910328"/>
            <a:ext cx="7863840" cy="365760"/>
          </a:xfrm>
          <a:prstGeom prst="rect">
            <a:avLst/>
          </a:prstGeom>
          <a:noFill/>
          <a:ln/>
        </p:spPr>
        <p:txBody>
          <a:bodyPr wrap="square" lIns="0" tIns="0" rIns="0" bIns="0" rtlCol="0" anchor="ctr"/>
          <a:lstStyle/>
          <a:p>
            <a:pPr indent="0" marL="0">
              <a:buNone/>
            </a:pPr>
            <a:r>
              <a:rPr lang="en-US" sz="1200" b="1" dirty="0">
                <a:solidFill>
                  <a:srgbClr val="387F7F"/>
                </a:solidFill>
                <a:latin typeface="Poppins" pitchFamily="34" charset="0"/>
                <a:ea typeface="Poppins" pitchFamily="34" charset="-122"/>
                <a:cs typeface="Poppins" pitchFamily="34" charset="-120"/>
              </a:rPr>
              <a:t>→  On-Time Rate by rider, filterable by hub</a:t>
            </a:r>
            <a:endParaRPr lang="en-US" sz="1200" dirty="0"/>
          </a:p>
        </p:txBody>
      </p:sp>
      <p:sp>
        <p:nvSpPr>
          <p:cNvPr id="24" name="Shape 22"/>
          <p:cNvSpPr/>
          <p:nvPr/>
        </p:nvSpPr>
        <p:spPr>
          <a:xfrm>
            <a:off x="685800" y="5623560"/>
            <a:ext cx="9829800" cy="594360"/>
          </a:xfrm>
          <a:prstGeom prst="roundRect">
            <a:avLst>
              <a:gd name="adj" fmla="val 13846"/>
            </a:avLst>
          </a:prstGeom>
          <a:solidFill>
            <a:srgbClr val="EEF4F4"/>
          </a:solidFill>
          <a:ln/>
        </p:spPr>
      </p:sp>
      <p:sp>
        <p:nvSpPr>
          <p:cNvPr id="25" name="Shape 23"/>
          <p:cNvSpPr/>
          <p:nvPr/>
        </p:nvSpPr>
        <p:spPr>
          <a:xfrm>
            <a:off x="685800" y="5623560"/>
            <a:ext cx="68580" cy="594360"/>
          </a:xfrm>
          <a:prstGeom prst="rect">
            <a:avLst/>
          </a:prstGeom>
          <a:solidFill>
            <a:srgbClr val="387F7F"/>
          </a:solidFill>
          <a:ln/>
        </p:spPr>
      </p:sp>
      <p:sp>
        <p:nvSpPr>
          <p:cNvPr id="26" name="Text 24"/>
          <p:cNvSpPr txBox="1"/>
          <p:nvPr/>
        </p:nvSpPr>
        <p:spPr>
          <a:xfrm>
            <a:off x="1051560" y="5623560"/>
            <a:ext cx="9235440" cy="594360"/>
          </a:xfrm>
          <a:prstGeom prst="rect">
            <a:avLst/>
          </a:prstGeom>
          <a:noFill/>
          <a:ln/>
        </p:spPr>
        <p:txBody>
          <a:bodyPr wrap="square" lIns="0" tIns="0" rIns="0" bIns="0" rtlCol="0" anchor="ctr"/>
          <a:lstStyle/>
          <a:p>
            <a:pPr algn="l" indent="0" marL="0">
              <a:lnSpc>
                <a:spcPct val="135000"/>
              </a:lnSpc>
              <a:buNone/>
            </a:pPr>
            <a:r>
              <a:rPr lang="en-US" sz="1450" b="1" dirty="0">
                <a:solidFill>
                  <a:srgbClr val="387F7F"/>
                </a:solidFill>
                <a:latin typeface="Poppins" pitchFamily="34" charset="0"/>
                <a:ea typeface="Poppins" pitchFamily="34" charset="-122"/>
                <a:cs typeface="Poppins" pitchFamily="34" charset="-120"/>
              </a:rPr>
              <a:t>Three questions, four visuals. That is the whole dashboard.</a:t>
            </a:r>
            <a:endParaRPr lang="en-US" sz="1450" dirty="0"/>
          </a:p>
        </p:txBody>
      </p:sp>
      <p:pic>
        <p:nvPicPr>
          <p:cNvPr id="27"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8" name="Text 25"/>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A number is not a KPI until it has a target</a:t>
            </a:r>
            <a:endParaRPr lang="en-US" sz="2700" dirty="0"/>
          </a:p>
        </p:txBody>
      </p:sp>
      <p:sp>
        <p:nvSpPr>
          <p:cNvPr id="6" name="Shape 4"/>
          <p:cNvSpPr/>
          <p:nvPr/>
        </p:nvSpPr>
        <p:spPr>
          <a:xfrm>
            <a:off x="685800" y="1691640"/>
            <a:ext cx="4709160" cy="2834640"/>
          </a:xfrm>
          <a:prstGeom prst="roundRect">
            <a:avLst>
              <a:gd name="adj" fmla="val 3226"/>
            </a:avLst>
          </a:prstGeom>
          <a:solidFill>
            <a:srgbClr val="FFFFFF"/>
          </a:solidFill>
          <a:ln/>
          <a:effectLst>
            <a:outerShdw sx="100000" sy="100000" kx="0" ky="0" algn="bl" rotWithShape="0" blurRad="152400" dist="38100" dir="5400000">
              <a:srgbClr val="1B2A2E">
                <a:alpha val="14000"/>
              </a:srgbClr>
            </a:outerShdw>
          </a:effectLst>
        </p:spPr>
      </p:sp>
      <p:sp>
        <p:nvSpPr>
          <p:cNvPr id="7" name="Text 5"/>
          <p:cNvSpPr txBox="1"/>
          <p:nvPr/>
        </p:nvSpPr>
        <p:spPr>
          <a:xfrm>
            <a:off x="960120" y="1874520"/>
            <a:ext cx="4160520" cy="292608"/>
          </a:xfrm>
          <a:prstGeom prst="rect">
            <a:avLst/>
          </a:prstGeom>
          <a:noFill/>
          <a:ln/>
        </p:spPr>
        <p:txBody>
          <a:bodyPr wrap="square" lIns="0" tIns="0" rIns="0" bIns="0" rtlCol="0" anchor="ctr"/>
          <a:lstStyle/>
          <a:p>
            <a:pPr indent="0" marL="0">
              <a:buNone/>
            </a:pPr>
            <a:r>
              <a:rPr lang="en-US" sz="1100" b="1" spc="100" kern="0" dirty="0">
                <a:solidFill>
                  <a:srgbClr val="64748B"/>
                </a:solidFill>
                <a:latin typeface="Poppins" pitchFamily="34" charset="0"/>
                <a:ea typeface="Poppins" pitchFamily="34" charset="-122"/>
                <a:cs typeface="Poppins" pitchFamily="34" charset="-120"/>
              </a:rPr>
              <a:t>A METRIC</a:t>
            </a:r>
            <a:endParaRPr lang="en-US" sz="1100" dirty="0"/>
          </a:p>
        </p:txBody>
      </p:sp>
      <p:sp>
        <p:nvSpPr>
          <p:cNvPr id="8" name="Text 6"/>
          <p:cNvSpPr txBox="1"/>
          <p:nvPr/>
        </p:nvSpPr>
        <p:spPr>
          <a:xfrm>
            <a:off x="960120" y="2286000"/>
            <a:ext cx="4160520" cy="914400"/>
          </a:xfrm>
          <a:prstGeom prst="rect">
            <a:avLst/>
          </a:prstGeom>
          <a:noFill/>
          <a:ln/>
        </p:spPr>
        <p:txBody>
          <a:bodyPr wrap="square" lIns="0" tIns="0" rIns="0" bIns="0" rtlCol="0" anchor="ctr"/>
          <a:lstStyle/>
          <a:p>
            <a:pPr indent="0" marL="0">
              <a:buNone/>
            </a:pPr>
            <a:r>
              <a:rPr lang="en-US" sz="4800" b="1" dirty="0">
                <a:solidFill>
                  <a:srgbClr val="64748B"/>
                </a:solidFill>
                <a:latin typeface="Poppins" pitchFamily="34" charset="0"/>
                <a:ea typeface="Poppins" pitchFamily="34" charset="-122"/>
                <a:cs typeface="Poppins" pitchFamily="34" charset="-120"/>
              </a:rPr>
              <a:t>82.0%</a:t>
            </a:r>
            <a:endParaRPr lang="en-US" sz="4800" dirty="0"/>
          </a:p>
        </p:txBody>
      </p:sp>
      <p:sp>
        <p:nvSpPr>
          <p:cNvPr id="9" name="Text 7"/>
          <p:cNvSpPr txBox="1"/>
          <p:nvPr/>
        </p:nvSpPr>
        <p:spPr>
          <a:xfrm>
            <a:off x="960120" y="3337560"/>
            <a:ext cx="4160520" cy="914400"/>
          </a:xfrm>
          <a:prstGeom prst="rect">
            <a:avLst/>
          </a:prstGeom>
          <a:noFill/>
          <a:ln/>
        </p:spPr>
        <p:txBody>
          <a:bodyPr wrap="square" lIns="0" tIns="0" rIns="0" bIns="0" rtlCol="0" anchor="t"/>
          <a:lstStyle/>
          <a:p>
            <a:pPr algn="l" indent="0" marL="0">
              <a:lnSpc>
                <a:spcPct val="130000"/>
              </a:lnSpc>
              <a:buNone/>
            </a:pPr>
            <a:r>
              <a:rPr lang="en-US" sz="1350" dirty="0">
                <a:solidFill>
                  <a:srgbClr val="475569"/>
                </a:solidFill>
                <a:latin typeface="Poppins" pitchFamily="34" charset="0"/>
                <a:ea typeface="Poppins" pitchFamily="34" charset="-122"/>
                <a:cs typeface="Poppins" pitchFamily="34" charset="-120"/>
              </a:rPr>
              <a:t>True, precise, and it tells you nothing about whether to act.</a:t>
            </a:r>
            <a:endParaRPr lang="en-US" sz="1350" dirty="0"/>
          </a:p>
        </p:txBody>
      </p:sp>
      <p:sp>
        <p:nvSpPr>
          <p:cNvPr id="10" name="Shape 8"/>
          <p:cNvSpPr/>
          <p:nvPr/>
        </p:nvSpPr>
        <p:spPr>
          <a:xfrm>
            <a:off x="5806440" y="1691640"/>
            <a:ext cx="4709160" cy="2834640"/>
          </a:xfrm>
          <a:prstGeom prst="roundRect">
            <a:avLst>
              <a:gd name="adj" fmla="val 3226"/>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5806440" y="1691640"/>
            <a:ext cx="4709160" cy="82296"/>
          </a:xfrm>
          <a:prstGeom prst="rect">
            <a:avLst/>
          </a:prstGeom>
          <a:solidFill>
            <a:srgbClr val="387F7F"/>
          </a:solidFill>
          <a:ln/>
        </p:spPr>
      </p:sp>
      <p:sp>
        <p:nvSpPr>
          <p:cNvPr id="12" name="Text 10"/>
          <p:cNvSpPr txBox="1"/>
          <p:nvPr/>
        </p:nvSpPr>
        <p:spPr>
          <a:xfrm>
            <a:off x="6080760" y="1874520"/>
            <a:ext cx="4160520" cy="292608"/>
          </a:xfrm>
          <a:prstGeom prst="rect">
            <a:avLst/>
          </a:prstGeom>
          <a:noFill/>
          <a:ln/>
        </p:spPr>
        <p:txBody>
          <a:bodyPr wrap="square" lIns="0" tIns="0" rIns="0" bIns="0" rtlCol="0" anchor="ctr"/>
          <a:lstStyle/>
          <a:p>
            <a:pPr indent="0" marL="0">
              <a:buNone/>
            </a:pPr>
            <a:r>
              <a:rPr lang="en-US" sz="1100" b="1" spc="100" kern="0" dirty="0">
                <a:solidFill>
                  <a:srgbClr val="387F7F"/>
                </a:solidFill>
                <a:latin typeface="Poppins" pitchFamily="34" charset="0"/>
                <a:ea typeface="Poppins" pitchFamily="34" charset="-122"/>
                <a:cs typeface="Poppins" pitchFamily="34" charset="-120"/>
              </a:rPr>
              <a:t>A KPI</a:t>
            </a:r>
            <a:endParaRPr lang="en-US" sz="1100" dirty="0"/>
          </a:p>
        </p:txBody>
      </p:sp>
      <p:sp>
        <p:nvSpPr>
          <p:cNvPr id="13" name="Text 11"/>
          <p:cNvSpPr txBox="1"/>
          <p:nvPr/>
        </p:nvSpPr>
        <p:spPr>
          <a:xfrm>
            <a:off x="6080760" y="2286000"/>
            <a:ext cx="2377440" cy="914400"/>
          </a:xfrm>
          <a:prstGeom prst="rect">
            <a:avLst/>
          </a:prstGeom>
          <a:noFill/>
          <a:ln/>
        </p:spPr>
        <p:txBody>
          <a:bodyPr wrap="square" lIns="0" tIns="0" rIns="0" bIns="0" rtlCol="0" anchor="ctr"/>
          <a:lstStyle/>
          <a:p>
            <a:pPr indent="0" marL="0">
              <a:buNone/>
            </a:pPr>
            <a:r>
              <a:rPr lang="en-US" sz="4800" b="1" dirty="0">
                <a:solidFill>
                  <a:srgbClr val="387F7F"/>
                </a:solidFill>
                <a:latin typeface="Poppins" pitchFamily="34" charset="0"/>
                <a:ea typeface="Poppins" pitchFamily="34" charset="-122"/>
                <a:cs typeface="Poppins" pitchFamily="34" charset="-120"/>
              </a:rPr>
              <a:t>82.0%</a:t>
            </a:r>
            <a:endParaRPr lang="en-US" sz="4800" dirty="0"/>
          </a:p>
        </p:txBody>
      </p:sp>
      <p:sp>
        <p:nvSpPr>
          <p:cNvPr id="14" name="Shape 12"/>
          <p:cNvSpPr/>
          <p:nvPr/>
        </p:nvSpPr>
        <p:spPr>
          <a:xfrm>
            <a:off x="8549640" y="2395728"/>
            <a:ext cx="0" cy="685800"/>
          </a:xfrm>
          <a:prstGeom prst="line">
            <a:avLst/>
          </a:prstGeom>
          <a:noFill/>
          <a:ln w="25400">
            <a:solidFill>
              <a:srgbClr val="A8322D"/>
            </a:solidFill>
            <a:prstDash val="dash"/>
          </a:ln>
        </p:spPr>
      </p:sp>
      <p:sp>
        <p:nvSpPr>
          <p:cNvPr id="15" name="Text 13"/>
          <p:cNvSpPr txBox="1"/>
          <p:nvPr/>
        </p:nvSpPr>
        <p:spPr>
          <a:xfrm>
            <a:off x="8732520" y="2468880"/>
            <a:ext cx="1417320" cy="640080"/>
          </a:xfrm>
          <a:prstGeom prst="rect">
            <a:avLst/>
          </a:prstGeom>
          <a:noFill/>
          <a:ln/>
        </p:spPr>
        <p:txBody>
          <a:bodyPr wrap="square" lIns="0" tIns="0" rIns="0" bIns="0" rtlCol="0" anchor="ctr"/>
          <a:lstStyle/>
          <a:p>
            <a:pPr indent="0" marL="0">
              <a:lnSpc>
                <a:spcPct val="115000"/>
              </a:lnSpc>
              <a:buNone/>
            </a:pPr>
            <a:r>
              <a:rPr lang="en-US" sz="1100" b="1" dirty="0">
                <a:solidFill>
                  <a:srgbClr val="A8322D"/>
                </a:solidFill>
                <a:latin typeface="Poppins" pitchFamily="34" charset="0"/>
                <a:ea typeface="Poppins" pitchFamily="34" charset="-122"/>
                <a:cs typeface="Poppins" pitchFamily="34" charset="-120"/>
              </a:rPr>
              <a:t>vs 90%</a:t>
            </a:r>
            <a:endParaRPr lang="en-US" sz="1100" dirty="0"/>
          </a:p>
          <a:p>
            <a:pPr indent="0" marL="0">
              <a:lnSpc>
                <a:spcPct val="115000"/>
              </a:lnSpc>
              <a:buNone/>
            </a:pPr>
            <a:r>
              <a:rPr lang="en-US" sz="1100" b="1" dirty="0">
                <a:solidFill>
                  <a:srgbClr val="A8322D"/>
                </a:solidFill>
                <a:latin typeface="Poppins" pitchFamily="34" charset="0"/>
                <a:ea typeface="Poppins" pitchFamily="34" charset="-122"/>
                <a:cs typeface="Poppins" pitchFamily="34" charset="-120"/>
              </a:rPr>
              <a:t>target</a:t>
            </a:r>
            <a:endParaRPr lang="en-US" sz="1100" dirty="0"/>
          </a:p>
        </p:txBody>
      </p:sp>
      <p:sp>
        <p:nvSpPr>
          <p:cNvPr id="16" name="Text 14"/>
          <p:cNvSpPr txBox="1"/>
          <p:nvPr/>
        </p:nvSpPr>
        <p:spPr>
          <a:xfrm>
            <a:off x="6080760" y="3337560"/>
            <a:ext cx="4160520" cy="914400"/>
          </a:xfrm>
          <a:prstGeom prst="rect">
            <a:avLst/>
          </a:prstGeom>
          <a:noFill/>
          <a:ln/>
        </p:spPr>
        <p:txBody>
          <a:bodyPr wrap="square" lIns="0" tIns="0" rIns="0" bIns="0" rtlCol="0" anchor="t"/>
          <a:lstStyle/>
          <a:p>
            <a:pPr algn="l" indent="0" marL="0">
              <a:lnSpc>
                <a:spcPct val="130000"/>
              </a:lnSpc>
              <a:buNone/>
            </a:pPr>
            <a:r>
              <a:rPr lang="en-US" sz="1350" b="1" dirty="0">
                <a:solidFill>
                  <a:srgbClr val="0A1A23"/>
                </a:solidFill>
                <a:latin typeface="Poppins" pitchFamily="34" charset="0"/>
                <a:ea typeface="Poppins" pitchFamily="34" charset="-122"/>
                <a:cs typeface="Poppins" pitchFamily="34" charset="-120"/>
              </a:rPr>
              <a:t>Eight points below promise. Now it demands a decision.</a:t>
            </a:r>
            <a:endParaRPr lang="en-US" sz="1350" dirty="0"/>
          </a:p>
        </p:txBody>
      </p:sp>
      <p:sp>
        <p:nvSpPr>
          <p:cNvPr id="17" name="Shape 15"/>
          <p:cNvSpPr/>
          <p:nvPr/>
        </p:nvSpPr>
        <p:spPr>
          <a:xfrm>
            <a:off x="685800" y="4800600"/>
            <a:ext cx="9829800" cy="960120"/>
          </a:xfrm>
          <a:prstGeom prst="roundRect">
            <a:avLst>
              <a:gd name="adj" fmla="val 8571"/>
            </a:avLst>
          </a:prstGeom>
          <a:solidFill>
            <a:srgbClr val="EEF4F4"/>
          </a:solidFill>
          <a:ln/>
        </p:spPr>
      </p:sp>
      <p:sp>
        <p:nvSpPr>
          <p:cNvPr id="18" name="Shape 16"/>
          <p:cNvSpPr/>
          <p:nvPr/>
        </p:nvSpPr>
        <p:spPr>
          <a:xfrm>
            <a:off x="685800" y="4800600"/>
            <a:ext cx="68580" cy="960120"/>
          </a:xfrm>
          <a:prstGeom prst="rect">
            <a:avLst/>
          </a:prstGeom>
          <a:solidFill>
            <a:srgbClr val="387F7F"/>
          </a:solidFill>
          <a:ln/>
        </p:spPr>
      </p:sp>
      <p:sp>
        <p:nvSpPr>
          <p:cNvPr id="19" name="Text 17"/>
          <p:cNvSpPr txBox="1"/>
          <p:nvPr/>
        </p:nvSpPr>
        <p:spPr>
          <a:xfrm>
            <a:off x="1051560" y="4800600"/>
            <a:ext cx="9235440" cy="960120"/>
          </a:xfrm>
          <a:prstGeom prst="rect">
            <a:avLst/>
          </a:prstGeom>
          <a:noFill/>
          <a:ln/>
        </p:spPr>
        <p:txBody>
          <a:bodyPr wrap="square" lIns="0" tIns="0" rIns="0" bIns="0" rtlCol="0" anchor="ctr"/>
          <a:lstStyle/>
          <a:p>
            <a:pPr algn="l" indent="0" marL="0">
              <a:lnSpc>
                <a:spcPct val="128000"/>
              </a:lnSpc>
              <a:buNone/>
            </a:pPr>
            <a:r>
              <a:rPr lang="en-US" sz="1450" b="1" dirty="0">
                <a:solidFill>
                  <a:srgbClr val="387F7F"/>
                </a:solidFill>
                <a:latin typeface="Poppins" pitchFamily="34" charset="0"/>
                <a:ea typeface="Poppins" pitchFamily="34" charset="-122"/>
                <a:cs typeface="Poppins" pitchFamily="34" charset="-120"/>
              </a:rPr>
              <a:t>The target converts a measurement into a signal. Agree it with the person who owns the number, never invent one that flatters the data.</a:t>
            </a:r>
            <a:endParaRPr lang="en-US" sz="1450" dirty="0"/>
          </a:p>
        </p:txBody>
      </p:sp>
      <p:pic>
        <p:nvPicPr>
          <p:cNvPr id="20"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1" name="Text 18"/>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Where things go, and why</a:t>
            </a:r>
            <a:endParaRPr lang="en-US" sz="2700" dirty="0"/>
          </a:p>
        </p:txBody>
      </p:sp>
      <p:sp>
        <p:nvSpPr>
          <p:cNvPr id="6" name="Shape 4"/>
          <p:cNvSpPr/>
          <p:nvPr/>
        </p:nvSpPr>
        <p:spPr>
          <a:xfrm>
            <a:off x="685800" y="1600200"/>
            <a:ext cx="6675120" cy="3566160"/>
          </a:xfrm>
          <a:prstGeom prst="roundRect">
            <a:avLst>
              <a:gd name="adj" fmla="val 2564"/>
            </a:avLst>
          </a:prstGeom>
          <a:solidFill>
            <a:srgbClr val="EEF4F4"/>
          </a:solidFill>
          <a:ln/>
          <a:effectLst>
            <a:outerShdw sx="100000" sy="100000" kx="0" ky="0" algn="bl" rotWithShape="0" blurRad="152400" dist="38100" dir="5400000">
              <a:srgbClr val="1B2A2E">
                <a:alpha val="14000"/>
              </a:srgbClr>
            </a:outerShdw>
          </a:effectLst>
        </p:spPr>
      </p:sp>
      <p:sp>
        <p:nvSpPr>
          <p:cNvPr id="7" name="Shape 5"/>
          <p:cNvSpPr/>
          <p:nvPr/>
        </p:nvSpPr>
        <p:spPr>
          <a:xfrm>
            <a:off x="822960" y="1737360"/>
            <a:ext cx="6400800" cy="411480"/>
          </a:xfrm>
          <a:prstGeom prst="rect">
            <a:avLst/>
          </a:prstGeom>
          <a:solidFill>
            <a:srgbClr val="FFFFFF"/>
          </a:solidFill>
          <a:ln w="12700">
            <a:solidFill>
              <a:srgbClr val="E2E8F0"/>
            </a:solidFill>
            <a:prstDash val="solid"/>
          </a:ln>
        </p:spPr>
      </p:sp>
      <p:sp>
        <p:nvSpPr>
          <p:cNvPr id="8" name="Text 6"/>
          <p:cNvSpPr txBox="1"/>
          <p:nvPr/>
        </p:nvSpPr>
        <p:spPr>
          <a:xfrm>
            <a:off x="960120" y="1737360"/>
            <a:ext cx="6126480" cy="411480"/>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Title and filters</a:t>
            </a:r>
            <a:endParaRPr lang="en-US" sz="1000" dirty="0"/>
          </a:p>
        </p:txBody>
      </p:sp>
      <p:sp>
        <p:nvSpPr>
          <p:cNvPr id="9" name="Shape 7"/>
          <p:cNvSpPr/>
          <p:nvPr/>
        </p:nvSpPr>
        <p:spPr>
          <a:xfrm>
            <a:off x="822960" y="2221992"/>
            <a:ext cx="1508760" cy="685800"/>
          </a:xfrm>
          <a:prstGeom prst="rect">
            <a:avLst/>
          </a:prstGeom>
          <a:solidFill>
            <a:srgbClr val="FFFFFF"/>
          </a:solidFill>
          <a:ln w="12700">
            <a:solidFill>
              <a:srgbClr val="E2E8F0"/>
            </a:solidFill>
            <a:prstDash val="solid"/>
          </a:ln>
        </p:spPr>
      </p:sp>
      <p:sp>
        <p:nvSpPr>
          <p:cNvPr id="10" name="Shape 8"/>
          <p:cNvSpPr/>
          <p:nvPr/>
        </p:nvSpPr>
        <p:spPr>
          <a:xfrm>
            <a:off x="2441448" y="2221992"/>
            <a:ext cx="1508760" cy="685800"/>
          </a:xfrm>
          <a:prstGeom prst="rect">
            <a:avLst/>
          </a:prstGeom>
          <a:solidFill>
            <a:srgbClr val="FFFFFF"/>
          </a:solidFill>
          <a:ln w="12700">
            <a:solidFill>
              <a:srgbClr val="E2E8F0"/>
            </a:solidFill>
            <a:prstDash val="solid"/>
          </a:ln>
        </p:spPr>
      </p:sp>
      <p:sp>
        <p:nvSpPr>
          <p:cNvPr id="11" name="Shape 9"/>
          <p:cNvSpPr/>
          <p:nvPr/>
        </p:nvSpPr>
        <p:spPr>
          <a:xfrm>
            <a:off x="4059936" y="2221992"/>
            <a:ext cx="1508760" cy="685800"/>
          </a:xfrm>
          <a:prstGeom prst="rect">
            <a:avLst/>
          </a:prstGeom>
          <a:solidFill>
            <a:srgbClr val="FFFFFF"/>
          </a:solidFill>
          <a:ln w="12700">
            <a:solidFill>
              <a:srgbClr val="E2E8F0"/>
            </a:solidFill>
            <a:prstDash val="solid"/>
          </a:ln>
        </p:spPr>
      </p:sp>
      <p:sp>
        <p:nvSpPr>
          <p:cNvPr id="12" name="Shape 10"/>
          <p:cNvSpPr/>
          <p:nvPr/>
        </p:nvSpPr>
        <p:spPr>
          <a:xfrm>
            <a:off x="5678424" y="2221992"/>
            <a:ext cx="1508760" cy="685800"/>
          </a:xfrm>
          <a:prstGeom prst="rect">
            <a:avLst/>
          </a:prstGeom>
          <a:solidFill>
            <a:srgbClr val="FFFFFF"/>
          </a:solidFill>
          <a:ln w="12700">
            <a:solidFill>
              <a:srgbClr val="E2E8F0"/>
            </a:solidFill>
            <a:prstDash val="solid"/>
          </a:ln>
        </p:spPr>
      </p:sp>
      <p:sp>
        <p:nvSpPr>
          <p:cNvPr id="13" name="Text 11"/>
          <p:cNvSpPr txBox="1"/>
          <p:nvPr/>
        </p:nvSpPr>
        <p:spPr>
          <a:xfrm>
            <a:off x="822960" y="2532888"/>
            <a:ext cx="1280160" cy="274320"/>
          </a:xfrm>
          <a:prstGeom prst="rect">
            <a:avLst/>
          </a:prstGeom>
          <a:noFill/>
          <a:ln/>
        </p:spPr>
        <p:txBody>
          <a:bodyPr wrap="square" lIns="0" tIns="0" rIns="0" bIns="0" rtlCol="0" anchor="ctr"/>
          <a:lstStyle/>
          <a:p>
            <a:pPr indent="0" marL="0">
              <a:buNone/>
            </a:pPr>
            <a:r>
              <a:rPr lang="en-US" sz="800" dirty="0">
                <a:solidFill>
                  <a:srgbClr val="64748B"/>
                </a:solidFill>
                <a:latin typeface="Poppins" pitchFamily="34" charset="0"/>
                <a:ea typeface="Poppins" pitchFamily="34" charset="-122"/>
                <a:cs typeface="Poppins" pitchFamily="34" charset="-120"/>
              </a:rPr>
              <a:t>KPI cards</a:t>
            </a:r>
            <a:endParaRPr lang="en-US" sz="800" dirty="0"/>
          </a:p>
        </p:txBody>
      </p:sp>
      <p:sp>
        <p:nvSpPr>
          <p:cNvPr id="14" name="Shape 12"/>
          <p:cNvSpPr/>
          <p:nvPr/>
        </p:nvSpPr>
        <p:spPr>
          <a:xfrm>
            <a:off x="822960" y="3017520"/>
            <a:ext cx="3785616" cy="1691640"/>
          </a:xfrm>
          <a:prstGeom prst="rect">
            <a:avLst/>
          </a:prstGeom>
          <a:solidFill>
            <a:srgbClr val="FFFFFF"/>
          </a:solidFill>
          <a:ln w="12700">
            <a:solidFill>
              <a:srgbClr val="E2E8F0"/>
            </a:solidFill>
            <a:prstDash val="solid"/>
          </a:ln>
        </p:spPr>
      </p:sp>
      <p:sp>
        <p:nvSpPr>
          <p:cNvPr id="15" name="Text 13"/>
          <p:cNvSpPr txBox="1"/>
          <p:nvPr/>
        </p:nvSpPr>
        <p:spPr>
          <a:xfrm>
            <a:off x="960120" y="3154680"/>
            <a:ext cx="2743200" cy="274320"/>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The main chart</a:t>
            </a:r>
            <a:endParaRPr lang="en-US" sz="1000" dirty="0"/>
          </a:p>
        </p:txBody>
      </p:sp>
      <p:sp>
        <p:nvSpPr>
          <p:cNvPr id="16" name="Shape 14"/>
          <p:cNvSpPr/>
          <p:nvPr/>
        </p:nvSpPr>
        <p:spPr>
          <a:xfrm>
            <a:off x="4700016" y="3017520"/>
            <a:ext cx="2432304" cy="1691640"/>
          </a:xfrm>
          <a:prstGeom prst="rect">
            <a:avLst/>
          </a:prstGeom>
          <a:solidFill>
            <a:srgbClr val="FFFFFF"/>
          </a:solidFill>
          <a:ln w="12700">
            <a:solidFill>
              <a:srgbClr val="E2E8F0"/>
            </a:solidFill>
            <a:prstDash val="solid"/>
          </a:ln>
        </p:spPr>
      </p:sp>
      <p:sp>
        <p:nvSpPr>
          <p:cNvPr id="17" name="Text 15"/>
          <p:cNvSpPr txBox="1"/>
          <p:nvPr/>
        </p:nvSpPr>
        <p:spPr>
          <a:xfrm>
            <a:off x="4791456" y="3154680"/>
            <a:ext cx="1828800" cy="274320"/>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Detail table</a:t>
            </a:r>
            <a:endParaRPr lang="en-US" sz="1000" dirty="0"/>
          </a:p>
        </p:txBody>
      </p:sp>
      <p:sp>
        <p:nvSpPr>
          <p:cNvPr id="18" name="Shape 16"/>
          <p:cNvSpPr/>
          <p:nvPr/>
        </p:nvSpPr>
        <p:spPr>
          <a:xfrm>
            <a:off x="7543800" y="1600200"/>
            <a:ext cx="3566160" cy="3566160"/>
          </a:xfrm>
          <a:prstGeom prst="roundRect">
            <a:avLst>
              <a:gd name="adj" fmla="val 2564"/>
            </a:avLst>
          </a:prstGeom>
          <a:solidFill>
            <a:srgbClr val="FFFFFF"/>
          </a:solidFill>
          <a:ln/>
          <a:effectLst>
            <a:outerShdw sx="100000" sy="100000" kx="0" ky="0" algn="bl" rotWithShape="0" blurRad="152400" dist="38100" dir="5400000">
              <a:srgbClr val="1B2A2E">
                <a:alpha val="14000"/>
              </a:srgbClr>
            </a:outerShdw>
          </a:effectLst>
        </p:spPr>
      </p:sp>
      <p:sp>
        <p:nvSpPr>
          <p:cNvPr id="19" name="Text 17"/>
          <p:cNvSpPr txBox="1"/>
          <p:nvPr/>
        </p:nvSpPr>
        <p:spPr>
          <a:xfrm>
            <a:off x="7818120" y="1828800"/>
            <a:ext cx="3017520" cy="640080"/>
          </a:xfrm>
          <a:prstGeom prst="rect">
            <a:avLst/>
          </a:prstGeom>
          <a:noFill/>
          <a:ln/>
        </p:spPr>
        <p:txBody>
          <a:bodyPr wrap="square" lIns="0" tIns="0" rIns="0" bIns="0" rtlCol="0" anchor="t"/>
          <a:lstStyle/>
          <a:p>
            <a:pPr algn="l" indent="0" marL="0">
              <a:lnSpc>
                <a:spcPct val="128000"/>
              </a:lnSpc>
              <a:buNone/>
            </a:pPr>
            <a:r>
              <a:rPr lang="en-US" sz="1250" b="1" dirty="0">
                <a:solidFill>
                  <a:srgbClr val="0A1A23"/>
                </a:solidFill>
                <a:latin typeface="Poppins" pitchFamily="34" charset="0"/>
                <a:ea typeface="Poppins" pitchFamily="34" charset="-122"/>
                <a:cs typeface="Poppins" pitchFamily="34" charset="-120"/>
              </a:rPr>
              <a:t>Readers scan top-left first, the same way they read a page.</a:t>
            </a:r>
            <a:endParaRPr lang="en-US" sz="1250" dirty="0"/>
          </a:p>
        </p:txBody>
      </p:sp>
      <p:sp>
        <p:nvSpPr>
          <p:cNvPr id="20" name="Text 18"/>
          <p:cNvSpPr txBox="1"/>
          <p:nvPr/>
        </p:nvSpPr>
        <p:spPr>
          <a:xfrm>
            <a:off x="7818120" y="2514600"/>
            <a:ext cx="3017520" cy="822960"/>
          </a:xfrm>
          <a:prstGeom prst="rect">
            <a:avLst/>
          </a:prstGeom>
          <a:noFill/>
          <a:ln/>
        </p:spPr>
        <p:txBody>
          <a:bodyPr wrap="square" lIns="0" tIns="0" rIns="0" bIns="0" rtlCol="0" anchor="t"/>
          <a:lstStyle/>
          <a:p>
            <a:pPr algn="l" indent="0" marL="0">
              <a:lnSpc>
                <a:spcPct val="128000"/>
              </a:lnSpc>
              <a:buNone/>
            </a:pPr>
            <a:r>
              <a:rPr lang="en-US" sz="1200" dirty="0">
                <a:solidFill>
                  <a:srgbClr val="475569"/>
                </a:solidFill>
                <a:latin typeface="Poppins" pitchFamily="34" charset="0"/>
                <a:ea typeface="Poppins" pitchFamily="34" charset="-122"/>
                <a:cs typeface="Poppins" pitchFamily="34" charset="-120"/>
              </a:rPr>
              <a:t>Put the most important number where the eye lands first. Supporting detail goes below.</a:t>
            </a:r>
            <a:endParaRPr lang="en-US" sz="1200" dirty="0"/>
          </a:p>
        </p:txBody>
      </p:sp>
      <p:sp>
        <p:nvSpPr>
          <p:cNvPr id="21" name="Text 19"/>
          <p:cNvSpPr txBox="1"/>
          <p:nvPr/>
        </p:nvSpPr>
        <p:spPr>
          <a:xfrm>
            <a:off x="7818120" y="3429000"/>
            <a:ext cx="3017520" cy="1463040"/>
          </a:xfrm>
          <a:prstGeom prst="rect">
            <a:avLst/>
          </a:prstGeom>
          <a:noFill/>
          <a:ln/>
        </p:spPr>
        <p:txBody>
          <a:bodyPr wrap="square" lIns="0" tIns="0" rIns="0" bIns="0" rtlCol="0" anchor="t"/>
          <a:lstStyle/>
          <a:p>
            <a:pPr algn="l" indent="0" marL="0">
              <a:lnSpc>
                <a:spcPct val="128000"/>
              </a:lnSpc>
              <a:buNone/>
            </a:pPr>
            <a:r>
              <a:rPr lang="en-US" sz="1200" dirty="0">
                <a:solidFill>
                  <a:srgbClr val="64748B"/>
                </a:solidFill>
                <a:latin typeface="Poppins" pitchFamily="34" charset="0"/>
                <a:ea typeface="Poppins" pitchFamily="34" charset="-122"/>
                <a:cs typeface="Poppins" pitchFamily="34" charset="-120"/>
              </a:rPr>
              <a:t>A dashboard laid out by whatever fitted has to be explained. The whole point is that it is opened when you are not there.</a:t>
            </a:r>
            <a:endParaRPr lang="en-US" sz="1200" dirty="0"/>
          </a:p>
        </p:txBody>
      </p:sp>
      <p:sp>
        <p:nvSpPr>
          <p:cNvPr id="22" name="Shape 20"/>
          <p:cNvSpPr/>
          <p:nvPr/>
        </p:nvSpPr>
        <p:spPr>
          <a:xfrm>
            <a:off x="685800" y="5349240"/>
            <a:ext cx="9829800" cy="594360"/>
          </a:xfrm>
          <a:prstGeom prst="roundRect">
            <a:avLst>
              <a:gd name="adj" fmla="val 13846"/>
            </a:avLst>
          </a:prstGeom>
          <a:solidFill>
            <a:srgbClr val="EEF4F4"/>
          </a:solidFill>
          <a:ln/>
        </p:spPr>
      </p:sp>
      <p:sp>
        <p:nvSpPr>
          <p:cNvPr id="23" name="Shape 21"/>
          <p:cNvSpPr/>
          <p:nvPr/>
        </p:nvSpPr>
        <p:spPr>
          <a:xfrm>
            <a:off x="685800" y="5349240"/>
            <a:ext cx="68580" cy="594360"/>
          </a:xfrm>
          <a:prstGeom prst="rect">
            <a:avLst/>
          </a:prstGeom>
          <a:solidFill>
            <a:srgbClr val="387F7F"/>
          </a:solidFill>
          <a:ln/>
        </p:spPr>
      </p:sp>
      <p:sp>
        <p:nvSpPr>
          <p:cNvPr id="24" name="Text 22"/>
          <p:cNvSpPr txBox="1"/>
          <p:nvPr/>
        </p:nvSpPr>
        <p:spPr>
          <a:xfrm>
            <a:off x="1051560" y="5349240"/>
            <a:ext cx="9235440" cy="594360"/>
          </a:xfrm>
          <a:prstGeom prst="rect">
            <a:avLst/>
          </a:prstGeom>
          <a:noFill/>
          <a:ln/>
        </p:spPr>
        <p:txBody>
          <a:bodyPr wrap="square" lIns="0" tIns="0" rIns="0" bIns="0" rtlCol="0" anchor="ctr"/>
          <a:lstStyle/>
          <a:p>
            <a:pPr algn="l" indent="0" marL="0">
              <a:lnSpc>
                <a:spcPct val="135000"/>
              </a:lnSpc>
              <a:buNone/>
            </a:pPr>
            <a:r>
              <a:rPr lang="en-US" sz="1350" b="1" dirty="0">
                <a:solidFill>
                  <a:srgbClr val="387F7F"/>
                </a:solidFill>
                <a:latin typeface="Poppins" pitchFamily="34" charset="0"/>
                <a:ea typeface="Poppins" pitchFamily="34" charset="-122"/>
                <a:cs typeface="Poppins" pitchFamily="34" charset="-120"/>
              </a:rPr>
              <a:t>Sketch on paper before you touch Power BI. It saves forty minutes.</a:t>
            </a:r>
            <a:endParaRPr lang="en-US" sz="1350" dirty="0"/>
          </a:p>
        </p:txBody>
      </p:sp>
      <p:pic>
        <p:nvPicPr>
          <p:cNvPr id="25"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6" name="Text 2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970" cy="6858000"/>
          </a:xfrm>
          <a:prstGeom prst="rect">
            <a:avLst/>
          </a:prstGeom>
          <a:solidFill>
            <a:srgbClr val="20494A"/>
          </a:solidFill>
          <a:ln/>
        </p:spPr>
      </p:sp>
      <p:sp>
        <p:nvSpPr>
          <p:cNvPr id="3" name="Shape 1"/>
          <p:cNvSpPr/>
          <p:nvPr/>
        </p:nvSpPr>
        <p:spPr>
          <a:xfrm>
            <a:off x="7680960" y="-2926080"/>
            <a:ext cx="8595360" cy="8595360"/>
          </a:xfrm>
          <a:prstGeom prst="ellipse">
            <a:avLst/>
          </a:prstGeom>
          <a:solidFill>
            <a:srgbClr val="1B4041"/>
          </a:solidFill>
          <a:ln/>
        </p:spPr>
      </p:sp>
      <p:sp>
        <p:nvSpPr>
          <p:cNvPr id="4" name="Shape 2"/>
          <p:cNvSpPr/>
          <p:nvPr/>
        </p:nvSpPr>
        <p:spPr>
          <a:xfrm>
            <a:off x="9326880" y="2834640"/>
            <a:ext cx="5669280" cy="5669280"/>
          </a:xfrm>
          <a:prstGeom prst="ellipse">
            <a:avLst/>
          </a:prstGeom>
          <a:solidFill>
            <a:srgbClr val="387F7F"/>
          </a:solidFill>
          <a:ln/>
        </p:spPr>
      </p:sp>
      <p:sp>
        <p:nvSpPr>
          <p:cNvPr id="5" name="Text 3"/>
          <p:cNvSpPr txBox="1"/>
          <p:nvPr/>
        </p:nvSpPr>
        <p:spPr>
          <a:xfrm>
            <a:off x="566928" y="320040"/>
            <a:ext cx="2926080" cy="1920240"/>
          </a:xfrm>
          <a:prstGeom prst="rect">
            <a:avLst/>
          </a:prstGeom>
          <a:noFill/>
          <a:ln/>
        </p:spPr>
        <p:txBody>
          <a:bodyPr wrap="square" lIns="0" tIns="0" rIns="0" bIns="0" rtlCol="0" anchor="ctr"/>
          <a:lstStyle/>
          <a:p>
            <a:pPr indent="0" marL="0">
              <a:buNone/>
            </a:pPr>
            <a:r>
              <a:rPr lang="en-US" sz="13000" b="1" dirty="0">
                <a:solidFill>
                  <a:srgbClr val="2F6364"/>
                </a:solidFill>
                <a:latin typeface="Poppins" pitchFamily="34" charset="0"/>
                <a:ea typeface="Poppins" pitchFamily="34" charset="-122"/>
                <a:cs typeface="Poppins" pitchFamily="34" charset="-120"/>
              </a:rPr>
              <a:t>01</a:t>
            </a:r>
            <a:endParaRPr lang="en-US" sz="13000" dirty="0"/>
          </a:p>
        </p:txBody>
      </p:sp>
      <p:sp>
        <p:nvSpPr>
          <p:cNvPr id="6" name="Text 4"/>
          <p:cNvSpPr txBox="1"/>
          <p:nvPr/>
        </p:nvSpPr>
        <p:spPr>
          <a:xfrm>
            <a:off x="713232" y="2487168"/>
            <a:ext cx="6766560" cy="310896"/>
          </a:xfrm>
          <a:prstGeom prst="rect">
            <a:avLst/>
          </a:prstGeom>
          <a:noFill/>
          <a:ln/>
        </p:spPr>
        <p:txBody>
          <a:bodyPr wrap="square" lIns="0" tIns="0" rIns="0" bIns="0" rtlCol="0" anchor="ctr"/>
          <a:lstStyle/>
          <a:p>
            <a:pPr indent="0" marL="0">
              <a:buNone/>
            </a:pPr>
            <a:r>
              <a:rPr lang="en-US" sz="1300" b="1" spc="250" kern="0" dirty="0">
                <a:solidFill>
                  <a:srgbClr val="8FBEBE"/>
                </a:solidFill>
                <a:latin typeface="Poppins" pitchFamily="34" charset="0"/>
                <a:ea typeface="Poppins" pitchFamily="34" charset="-122"/>
                <a:cs typeface="Poppins" pitchFamily="34" charset="-120"/>
              </a:rPr>
              <a:t>PART ONE</a:t>
            </a:r>
            <a:endParaRPr lang="en-US" sz="1300" dirty="0"/>
          </a:p>
        </p:txBody>
      </p:sp>
      <p:sp>
        <p:nvSpPr>
          <p:cNvPr id="7" name="Shape 5"/>
          <p:cNvSpPr/>
          <p:nvPr/>
        </p:nvSpPr>
        <p:spPr>
          <a:xfrm>
            <a:off x="713232" y="2907792"/>
            <a:ext cx="1234440" cy="77724"/>
          </a:xfrm>
          <a:prstGeom prst="rect">
            <a:avLst/>
          </a:prstGeom>
          <a:solidFill>
            <a:srgbClr val="387F7F"/>
          </a:solidFill>
          <a:ln/>
        </p:spPr>
      </p:sp>
      <p:sp>
        <p:nvSpPr>
          <p:cNvPr id="8" name="Text 6"/>
          <p:cNvSpPr txBox="1"/>
          <p:nvPr/>
        </p:nvSpPr>
        <p:spPr>
          <a:xfrm>
            <a:off x="713232" y="3154680"/>
            <a:ext cx="7406640" cy="146304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Poppins" pitchFamily="34" charset="0"/>
                <a:ea typeface="Poppins" pitchFamily="34" charset="-122"/>
                <a:cs typeface="Poppins" pitchFamily="34" charset="-120"/>
              </a:rPr>
              <a:t>Chart choice and interactivity</a:t>
            </a:r>
            <a:endParaRPr lang="en-US" sz="3600" dirty="0"/>
          </a:p>
        </p:txBody>
      </p:sp>
      <p:sp>
        <p:nvSpPr>
          <p:cNvPr id="9" name="Shape 7"/>
          <p:cNvSpPr/>
          <p:nvPr/>
        </p:nvSpPr>
        <p:spPr>
          <a:xfrm>
            <a:off x="749808" y="4933188"/>
            <a:ext cx="146304" cy="146304"/>
          </a:xfrm>
          <a:prstGeom prst="ellipse">
            <a:avLst/>
          </a:prstGeom>
          <a:solidFill>
            <a:srgbClr val="387F7F"/>
          </a:solidFill>
          <a:ln/>
        </p:spPr>
      </p:sp>
      <p:sp>
        <p:nvSpPr>
          <p:cNvPr id="10" name="Text 8"/>
          <p:cNvSpPr txBox="1"/>
          <p:nvPr/>
        </p:nvSpPr>
        <p:spPr>
          <a:xfrm>
            <a:off x="1097280" y="4855464"/>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Nothing new here, Module 6 already taught this</a:t>
            </a:r>
            <a:endParaRPr lang="en-US" sz="1350" dirty="0"/>
          </a:p>
        </p:txBody>
      </p:sp>
      <p:sp>
        <p:nvSpPr>
          <p:cNvPr id="11" name="Shape 9"/>
          <p:cNvSpPr/>
          <p:nvPr/>
        </p:nvSpPr>
        <p:spPr>
          <a:xfrm>
            <a:off x="749808" y="5317236"/>
            <a:ext cx="146304" cy="146304"/>
          </a:xfrm>
          <a:prstGeom prst="ellipse">
            <a:avLst/>
          </a:prstGeom>
          <a:solidFill>
            <a:srgbClr val="387F7F"/>
          </a:solidFill>
          <a:ln/>
        </p:spPr>
      </p:sp>
      <p:sp>
        <p:nvSpPr>
          <p:cNvPr id="12" name="Text 10"/>
          <p:cNvSpPr txBox="1"/>
          <p:nvPr/>
        </p:nvSpPr>
        <p:spPr>
          <a:xfrm>
            <a:off x="1097280" y="5239512"/>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Slicers let the reader ask the follow-up question</a:t>
            </a:r>
            <a:endParaRPr lang="en-US" sz="1350" dirty="0"/>
          </a:p>
        </p:txBody>
      </p:sp>
      <p:sp>
        <p:nvSpPr>
          <p:cNvPr id="13" name="Shape 11"/>
          <p:cNvSpPr/>
          <p:nvPr/>
        </p:nvSpPr>
        <p:spPr>
          <a:xfrm>
            <a:off x="749808" y="5701284"/>
            <a:ext cx="146304" cy="146304"/>
          </a:xfrm>
          <a:prstGeom prst="ellipse">
            <a:avLst/>
          </a:prstGeom>
          <a:solidFill>
            <a:srgbClr val="387F7F"/>
          </a:solidFill>
          <a:ln/>
        </p:spPr>
      </p:sp>
      <p:sp>
        <p:nvSpPr>
          <p:cNvPr id="14" name="Text 12"/>
          <p:cNvSpPr txBox="1"/>
          <p:nvPr/>
        </p:nvSpPr>
        <p:spPr>
          <a:xfrm>
            <a:off x="1097280" y="5623560"/>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Drill-down puts three levels in one chart</a:t>
            </a:r>
            <a:endParaRPr lang="en-US" sz="1350" dirty="0"/>
          </a:p>
        </p:txBody>
      </p:sp>
      <p:sp>
        <p:nvSpPr>
          <p:cNvPr id="15" name="Text 1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7FA3A3"/>
                </a:solidFill>
                <a:latin typeface="Poppins" pitchFamily="34" charset="0"/>
                <a:ea typeface="Poppins" pitchFamily="34" charset="-122"/>
                <a:cs typeface="Poppin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Nothing new here. Module 6 already taught this.</a:t>
            </a:r>
            <a:endParaRPr lang="en-US" sz="2400" dirty="0"/>
          </a:p>
        </p:txBody>
      </p:sp>
      <p:sp>
        <p:nvSpPr>
          <p:cNvPr id="6" name="Shape 4"/>
          <p:cNvSpPr/>
          <p:nvPr/>
        </p:nvSpPr>
        <p:spPr>
          <a:xfrm>
            <a:off x="685800" y="1645920"/>
            <a:ext cx="4709160" cy="1298448"/>
          </a:xfrm>
          <a:prstGeom prst="roundRect">
            <a:avLst>
              <a:gd name="adj" fmla="val 7042"/>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941832" y="1929384"/>
            <a:ext cx="731520" cy="731520"/>
          </a:xfrm>
          <a:prstGeom prst="ellipse">
            <a:avLst/>
          </a:prstGeom>
          <a:solidFill>
            <a:srgbClr val="FFFFFF"/>
          </a:solidFill>
          <a:ln w="22225">
            <a:solidFill>
              <a:srgbClr val="387F7F"/>
            </a:solidFill>
            <a:prstDash val="solid"/>
          </a:ln>
        </p:spPr>
      </p:sp>
      <p:sp>
        <p:nvSpPr>
          <p:cNvPr id="8" name="Text 6"/>
          <p:cNvSpPr txBox="1"/>
          <p:nvPr/>
        </p:nvSpPr>
        <p:spPr>
          <a:xfrm>
            <a:off x="941832" y="1929384"/>
            <a:ext cx="731520" cy="731520"/>
          </a:xfrm>
          <a:prstGeom prst="rect">
            <a:avLst/>
          </a:prstGeom>
          <a:noFill/>
          <a:ln/>
        </p:spPr>
        <p:txBody>
          <a:bodyPr wrap="square" lIns="0" tIns="0" rIns="0" bIns="0" rtlCol="0" anchor="ctr"/>
          <a:lstStyle/>
          <a:p>
            <a:pPr algn="ctr" indent="0" marL="0">
              <a:buNone/>
            </a:pPr>
            <a:r>
              <a:rPr lang="en-US" sz="2600" b="1" dirty="0">
                <a:solidFill>
                  <a:srgbClr val="387F7F"/>
                </a:solidFill>
                <a:latin typeface="Poppins" pitchFamily="34" charset="0"/>
                <a:ea typeface="Poppins" pitchFamily="34" charset="-122"/>
                <a:cs typeface="Poppins" pitchFamily="34" charset="-120"/>
              </a:rPr>
              <a:t>▬</a:t>
            </a:r>
            <a:endParaRPr lang="en-US" sz="2600" dirty="0"/>
          </a:p>
        </p:txBody>
      </p:sp>
      <p:sp>
        <p:nvSpPr>
          <p:cNvPr id="9" name="Text 7"/>
          <p:cNvSpPr txBox="1"/>
          <p:nvPr/>
        </p:nvSpPr>
        <p:spPr>
          <a:xfrm>
            <a:off x="1828800" y="1773936"/>
            <a:ext cx="3383280" cy="365760"/>
          </a:xfrm>
          <a:prstGeom prst="rect">
            <a:avLst/>
          </a:prstGeom>
          <a:noFill/>
          <a:ln/>
        </p:spPr>
        <p:txBody>
          <a:bodyPr wrap="square" lIns="0" tIns="0" rIns="0" bIns="0" rtlCol="0" anchor="ctr"/>
          <a:lstStyle/>
          <a:p>
            <a:pPr indent="0" marL="0">
              <a:buNone/>
            </a:pPr>
            <a:r>
              <a:rPr lang="en-US" sz="1450" b="1" dirty="0">
                <a:solidFill>
                  <a:srgbClr val="0A1A23"/>
                </a:solidFill>
                <a:latin typeface="Poppins" pitchFamily="34" charset="0"/>
                <a:ea typeface="Poppins" pitchFamily="34" charset="-122"/>
                <a:cs typeface="Poppins" pitchFamily="34" charset="-120"/>
              </a:rPr>
              <a:t>Bar chart</a:t>
            </a:r>
            <a:endParaRPr lang="en-US" sz="1450" dirty="0"/>
          </a:p>
        </p:txBody>
      </p:sp>
      <p:sp>
        <p:nvSpPr>
          <p:cNvPr id="10" name="Text 8"/>
          <p:cNvSpPr txBox="1"/>
          <p:nvPr/>
        </p:nvSpPr>
        <p:spPr>
          <a:xfrm>
            <a:off x="1828800" y="2148840"/>
            <a:ext cx="3383280" cy="731520"/>
          </a:xfrm>
          <a:prstGeom prst="rect">
            <a:avLst/>
          </a:prstGeom>
          <a:noFill/>
          <a:ln/>
        </p:spPr>
        <p:txBody>
          <a:bodyPr wrap="square" lIns="0" tIns="0" rIns="0" bIns="0" rtlCol="0" anchor="t"/>
          <a:lstStyle/>
          <a:p>
            <a:pPr algn="l" indent="0" marL="0">
              <a:lnSpc>
                <a:spcPct val="122000"/>
              </a:lnSpc>
              <a:buNone/>
            </a:pPr>
            <a:r>
              <a:rPr lang="en-US" sz="1100" dirty="0">
                <a:solidFill>
                  <a:srgbClr val="475569"/>
                </a:solidFill>
                <a:latin typeface="Poppins" pitchFamily="34" charset="0"/>
                <a:ea typeface="Poppins" pitchFamily="34" charset="-122"/>
                <a:cs typeface="Poppins" pitchFamily="34" charset="-120"/>
              </a:rPr>
              <a:t>How does this compare across categories? Ranked, horizontal, longest at top.</a:t>
            </a:r>
            <a:endParaRPr lang="en-US" sz="1100" dirty="0"/>
          </a:p>
        </p:txBody>
      </p:sp>
      <p:sp>
        <p:nvSpPr>
          <p:cNvPr id="11" name="Shape 9"/>
          <p:cNvSpPr/>
          <p:nvPr/>
        </p:nvSpPr>
        <p:spPr>
          <a:xfrm>
            <a:off x="5806440" y="1645920"/>
            <a:ext cx="4709160" cy="1298448"/>
          </a:xfrm>
          <a:prstGeom prst="roundRect">
            <a:avLst>
              <a:gd name="adj" fmla="val 7042"/>
            </a:avLst>
          </a:prstGeom>
          <a:solidFill>
            <a:srgbClr val="FFFFFF"/>
          </a:solidFill>
          <a:ln/>
          <a:effectLst>
            <a:outerShdw sx="100000" sy="100000" kx="0" ky="0" algn="bl" rotWithShape="0" blurRad="152400" dist="38100" dir="5400000">
              <a:srgbClr val="1B2A2E">
                <a:alpha val="14000"/>
              </a:srgbClr>
            </a:outerShdw>
          </a:effectLst>
        </p:spPr>
      </p:sp>
      <p:sp>
        <p:nvSpPr>
          <p:cNvPr id="12" name="Shape 10"/>
          <p:cNvSpPr/>
          <p:nvPr/>
        </p:nvSpPr>
        <p:spPr>
          <a:xfrm>
            <a:off x="6062472" y="1929384"/>
            <a:ext cx="731520" cy="731520"/>
          </a:xfrm>
          <a:prstGeom prst="ellipse">
            <a:avLst/>
          </a:prstGeom>
          <a:solidFill>
            <a:srgbClr val="FFFFFF"/>
          </a:solidFill>
          <a:ln w="22225">
            <a:solidFill>
              <a:srgbClr val="387F7F"/>
            </a:solidFill>
            <a:prstDash val="solid"/>
          </a:ln>
        </p:spPr>
      </p:sp>
      <p:sp>
        <p:nvSpPr>
          <p:cNvPr id="13" name="Text 11"/>
          <p:cNvSpPr txBox="1"/>
          <p:nvPr/>
        </p:nvSpPr>
        <p:spPr>
          <a:xfrm>
            <a:off x="6062472" y="1929384"/>
            <a:ext cx="731520" cy="731520"/>
          </a:xfrm>
          <a:prstGeom prst="rect">
            <a:avLst/>
          </a:prstGeom>
          <a:noFill/>
          <a:ln/>
        </p:spPr>
        <p:txBody>
          <a:bodyPr wrap="square" lIns="0" tIns="0" rIns="0" bIns="0" rtlCol="0" anchor="ctr"/>
          <a:lstStyle/>
          <a:p>
            <a:pPr algn="ctr" indent="0" marL="0">
              <a:buNone/>
            </a:pPr>
            <a:r>
              <a:rPr lang="en-US" sz="2600" b="1" dirty="0">
                <a:solidFill>
                  <a:srgbClr val="387F7F"/>
                </a:solidFill>
                <a:latin typeface="Poppins" pitchFamily="34" charset="0"/>
                <a:ea typeface="Poppins" pitchFamily="34" charset="-122"/>
                <a:cs typeface="Poppins" pitchFamily="34" charset="-120"/>
              </a:rPr>
              <a:t>↑</a:t>
            </a:r>
            <a:endParaRPr lang="en-US" sz="2600" dirty="0"/>
          </a:p>
        </p:txBody>
      </p:sp>
      <p:sp>
        <p:nvSpPr>
          <p:cNvPr id="14" name="Text 12"/>
          <p:cNvSpPr txBox="1"/>
          <p:nvPr/>
        </p:nvSpPr>
        <p:spPr>
          <a:xfrm>
            <a:off x="6949440" y="1773936"/>
            <a:ext cx="3383280" cy="365760"/>
          </a:xfrm>
          <a:prstGeom prst="rect">
            <a:avLst/>
          </a:prstGeom>
          <a:noFill/>
          <a:ln/>
        </p:spPr>
        <p:txBody>
          <a:bodyPr wrap="square" lIns="0" tIns="0" rIns="0" bIns="0" rtlCol="0" anchor="ctr"/>
          <a:lstStyle/>
          <a:p>
            <a:pPr indent="0" marL="0">
              <a:buNone/>
            </a:pPr>
            <a:r>
              <a:rPr lang="en-US" sz="1450" b="1" dirty="0">
                <a:solidFill>
                  <a:srgbClr val="0A1A23"/>
                </a:solidFill>
                <a:latin typeface="Poppins" pitchFamily="34" charset="0"/>
                <a:ea typeface="Poppins" pitchFamily="34" charset="-122"/>
                <a:cs typeface="Poppins" pitchFamily="34" charset="-120"/>
              </a:rPr>
              <a:t>Line chart</a:t>
            </a:r>
            <a:endParaRPr lang="en-US" sz="1450" dirty="0"/>
          </a:p>
        </p:txBody>
      </p:sp>
      <p:sp>
        <p:nvSpPr>
          <p:cNvPr id="15" name="Text 13"/>
          <p:cNvSpPr txBox="1"/>
          <p:nvPr/>
        </p:nvSpPr>
        <p:spPr>
          <a:xfrm>
            <a:off x="6949440" y="2148840"/>
            <a:ext cx="3383280" cy="731520"/>
          </a:xfrm>
          <a:prstGeom prst="rect">
            <a:avLst/>
          </a:prstGeom>
          <a:noFill/>
          <a:ln/>
        </p:spPr>
        <p:txBody>
          <a:bodyPr wrap="square" lIns="0" tIns="0" rIns="0" bIns="0" rtlCol="0" anchor="t"/>
          <a:lstStyle/>
          <a:p>
            <a:pPr algn="l" indent="0" marL="0">
              <a:lnSpc>
                <a:spcPct val="122000"/>
              </a:lnSpc>
              <a:buNone/>
            </a:pPr>
            <a:r>
              <a:rPr lang="en-US" sz="1100" dirty="0">
                <a:solidFill>
                  <a:srgbClr val="475569"/>
                </a:solidFill>
                <a:latin typeface="Poppins" pitchFamily="34" charset="0"/>
                <a:ea typeface="Poppins" pitchFamily="34" charset="-122"/>
                <a:cs typeface="Poppins" pitchFamily="34" charset="-120"/>
              </a:rPr>
              <a:t>How has this changed over time? Time on the horizontal axis, always.</a:t>
            </a:r>
            <a:endParaRPr lang="en-US" sz="1100" dirty="0"/>
          </a:p>
        </p:txBody>
      </p:sp>
      <p:sp>
        <p:nvSpPr>
          <p:cNvPr id="16" name="Shape 14"/>
          <p:cNvSpPr/>
          <p:nvPr/>
        </p:nvSpPr>
        <p:spPr>
          <a:xfrm>
            <a:off x="685800" y="3127248"/>
            <a:ext cx="4709160" cy="1298448"/>
          </a:xfrm>
          <a:prstGeom prst="roundRect">
            <a:avLst>
              <a:gd name="adj" fmla="val 7042"/>
            </a:avLst>
          </a:prstGeom>
          <a:solidFill>
            <a:srgbClr val="FFFFFF"/>
          </a:solidFill>
          <a:ln/>
          <a:effectLst>
            <a:outerShdw sx="100000" sy="100000" kx="0" ky="0" algn="bl" rotWithShape="0" blurRad="152400" dist="38100" dir="5400000">
              <a:srgbClr val="1B2A2E">
                <a:alpha val="14000"/>
              </a:srgbClr>
            </a:outerShdw>
          </a:effectLst>
        </p:spPr>
      </p:sp>
      <p:sp>
        <p:nvSpPr>
          <p:cNvPr id="17" name="Shape 15"/>
          <p:cNvSpPr/>
          <p:nvPr/>
        </p:nvSpPr>
        <p:spPr>
          <a:xfrm>
            <a:off x="941832" y="3410712"/>
            <a:ext cx="731520" cy="731520"/>
          </a:xfrm>
          <a:prstGeom prst="ellipse">
            <a:avLst/>
          </a:prstGeom>
          <a:solidFill>
            <a:srgbClr val="FFFFFF"/>
          </a:solidFill>
          <a:ln w="22225">
            <a:solidFill>
              <a:srgbClr val="387F7F"/>
            </a:solidFill>
            <a:prstDash val="solid"/>
          </a:ln>
        </p:spPr>
      </p:sp>
      <p:sp>
        <p:nvSpPr>
          <p:cNvPr id="18" name="Text 16"/>
          <p:cNvSpPr txBox="1"/>
          <p:nvPr/>
        </p:nvSpPr>
        <p:spPr>
          <a:xfrm>
            <a:off x="941832" y="3410712"/>
            <a:ext cx="731520" cy="731520"/>
          </a:xfrm>
          <a:prstGeom prst="rect">
            <a:avLst/>
          </a:prstGeom>
          <a:noFill/>
          <a:ln/>
        </p:spPr>
        <p:txBody>
          <a:bodyPr wrap="square" lIns="0" tIns="0" rIns="0" bIns="0" rtlCol="0" anchor="ctr"/>
          <a:lstStyle/>
          <a:p>
            <a:pPr algn="ctr" indent="0" marL="0">
              <a:buNone/>
            </a:pPr>
            <a:r>
              <a:rPr lang="en-US" sz="2600" b="1" dirty="0">
                <a:solidFill>
                  <a:srgbClr val="387F7F"/>
                </a:solidFill>
                <a:latin typeface="Poppins" pitchFamily="34" charset="0"/>
                <a:ea typeface="Poppins" pitchFamily="34" charset="-122"/>
                <a:cs typeface="Poppins" pitchFamily="34" charset="-120"/>
              </a:rPr>
              <a:t>▤</a:t>
            </a:r>
            <a:endParaRPr lang="en-US" sz="2600" dirty="0"/>
          </a:p>
        </p:txBody>
      </p:sp>
      <p:sp>
        <p:nvSpPr>
          <p:cNvPr id="19" name="Text 17"/>
          <p:cNvSpPr txBox="1"/>
          <p:nvPr/>
        </p:nvSpPr>
        <p:spPr>
          <a:xfrm>
            <a:off x="1828800" y="3255264"/>
            <a:ext cx="3383280" cy="365760"/>
          </a:xfrm>
          <a:prstGeom prst="rect">
            <a:avLst/>
          </a:prstGeom>
          <a:noFill/>
          <a:ln/>
        </p:spPr>
        <p:txBody>
          <a:bodyPr wrap="square" lIns="0" tIns="0" rIns="0" bIns="0" rtlCol="0" anchor="ctr"/>
          <a:lstStyle/>
          <a:p>
            <a:pPr indent="0" marL="0">
              <a:buNone/>
            </a:pPr>
            <a:r>
              <a:rPr lang="en-US" sz="1450" b="1" dirty="0">
                <a:solidFill>
                  <a:srgbClr val="0A1A23"/>
                </a:solidFill>
                <a:latin typeface="Poppins" pitchFamily="34" charset="0"/>
                <a:ea typeface="Poppins" pitchFamily="34" charset="-122"/>
                <a:cs typeface="Poppins" pitchFamily="34" charset="-120"/>
              </a:rPr>
              <a:t>Card</a:t>
            </a:r>
            <a:endParaRPr lang="en-US" sz="1450" dirty="0"/>
          </a:p>
        </p:txBody>
      </p:sp>
      <p:sp>
        <p:nvSpPr>
          <p:cNvPr id="20" name="Text 18"/>
          <p:cNvSpPr txBox="1"/>
          <p:nvPr/>
        </p:nvSpPr>
        <p:spPr>
          <a:xfrm>
            <a:off x="1828800" y="3630168"/>
            <a:ext cx="3383280" cy="731520"/>
          </a:xfrm>
          <a:prstGeom prst="rect">
            <a:avLst/>
          </a:prstGeom>
          <a:noFill/>
          <a:ln/>
        </p:spPr>
        <p:txBody>
          <a:bodyPr wrap="square" lIns="0" tIns="0" rIns="0" bIns="0" rtlCol="0" anchor="t"/>
          <a:lstStyle/>
          <a:p>
            <a:pPr algn="l" indent="0" marL="0">
              <a:lnSpc>
                <a:spcPct val="122000"/>
              </a:lnSpc>
              <a:buNone/>
            </a:pPr>
            <a:r>
              <a:rPr lang="en-US" sz="1100" dirty="0">
                <a:solidFill>
                  <a:srgbClr val="475569"/>
                </a:solidFill>
                <a:latin typeface="Poppins" pitchFamily="34" charset="0"/>
                <a:ea typeface="Poppins" pitchFamily="34" charset="-122"/>
                <a:cs typeface="Poppins" pitchFamily="34" charset="-120"/>
              </a:rPr>
              <a:t>What is this single number right now?</a:t>
            </a:r>
            <a:endParaRPr lang="en-US" sz="1100" dirty="0"/>
          </a:p>
        </p:txBody>
      </p:sp>
      <p:sp>
        <p:nvSpPr>
          <p:cNvPr id="21" name="Shape 19"/>
          <p:cNvSpPr/>
          <p:nvPr/>
        </p:nvSpPr>
        <p:spPr>
          <a:xfrm>
            <a:off x="5806440" y="3127248"/>
            <a:ext cx="4709160" cy="1298448"/>
          </a:xfrm>
          <a:prstGeom prst="roundRect">
            <a:avLst>
              <a:gd name="adj" fmla="val 7042"/>
            </a:avLst>
          </a:prstGeom>
          <a:solidFill>
            <a:srgbClr val="FFFFFF"/>
          </a:solidFill>
          <a:ln/>
          <a:effectLst>
            <a:outerShdw sx="100000" sy="100000" kx="0" ky="0" algn="bl" rotWithShape="0" blurRad="152400" dist="38100" dir="5400000">
              <a:srgbClr val="1B2A2E">
                <a:alpha val="14000"/>
              </a:srgbClr>
            </a:outerShdw>
          </a:effectLst>
        </p:spPr>
      </p:sp>
      <p:sp>
        <p:nvSpPr>
          <p:cNvPr id="22" name="Shape 20"/>
          <p:cNvSpPr/>
          <p:nvPr/>
        </p:nvSpPr>
        <p:spPr>
          <a:xfrm>
            <a:off x="6062472" y="3410712"/>
            <a:ext cx="731520" cy="731520"/>
          </a:xfrm>
          <a:prstGeom prst="ellipse">
            <a:avLst/>
          </a:prstGeom>
          <a:solidFill>
            <a:srgbClr val="FFFFFF"/>
          </a:solidFill>
          <a:ln w="22225">
            <a:solidFill>
              <a:srgbClr val="387F7F"/>
            </a:solidFill>
            <a:prstDash val="solid"/>
          </a:ln>
        </p:spPr>
      </p:sp>
      <p:sp>
        <p:nvSpPr>
          <p:cNvPr id="23" name="Text 21"/>
          <p:cNvSpPr txBox="1"/>
          <p:nvPr/>
        </p:nvSpPr>
        <p:spPr>
          <a:xfrm>
            <a:off x="6062472" y="3410712"/>
            <a:ext cx="731520" cy="731520"/>
          </a:xfrm>
          <a:prstGeom prst="rect">
            <a:avLst/>
          </a:prstGeom>
          <a:noFill/>
          <a:ln/>
        </p:spPr>
        <p:txBody>
          <a:bodyPr wrap="square" lIns="0" tIns="0" rIns="0" bIns="0" rtlCol="0" anchor="ctr"/>
          <a:lstStyle/>
          <a:p>
            <a:pPr algn="ctr" indent="0" marL="0">
              <a:buNone/>
            </a:pPr>
            <a:r>
              <a:rPr lang="en-US" sz="2600" b="1" dirty="0">
                <a:solidFill>
                  <a:srgbClr val="387F7F"/>
                </a:solidFill>
                <a:latin typeface="Poppins" pitchFamily="34" charset="0"/>
                <a:ea typeface="Poppins" pitchFamily="34" charset="-122"/>
                <a:cs typeface="Poppins" pitchFamily="34" charset="-120"/>
              </a:rPr>
              <a:t>▦</a:t>
            </a:r>
            <a:endParaRPr lang="en-US" sz="2600" dirty="0"/>
          </a:p>
        </p:txBody>
      </p:sp>
      <p:sp>
        <p:nvSpPr>
          <p:cNvPr id="24" name="Text 22"/>
          <p:cNvSpPr txBox="1"/>
          <p:nvPr/>
        </p:nvSpPr>
        <p:spPr>
          <a:xfrm>
            <a:off x="6949440" y="3255264"/>
            <a:ext cx="3383280" cy="365760"/>
          </a:xfrm>
          <a:prstGeom prst="rect">
            <a:avLst/>
          </a:prstGeom>
          <a:noFill/>
          <a:ln/>
        </p:spPr>
        <p:txBody>
          <a:bodyPr wrap="square" lIns="0" tIns="0" rIns="0" bIns="0" rtlCol="0" anchor="ctr"/>
          <a:lstStyle/>
          <a:p>
            <a:pPr indent="0" marL="0">
              <a:buNone/>
            </a:pPr>
            <a:r>
              <a:rPr lang="en-US" sz="1450" b="1" dirty="0">
                <a:solidFill>
                  <a:srgbClr val="0A1A23"/>
                </a:solidFill>
                <a:latin typeface="Poppins" pitchFamily="34" charset="0"/>
                <a:ea typeface="Poppins" pitchFamily="34" charset="-122"/>
                <a:cs typeface="Poppins" pitchFamily="34" charset="-120"/>
              </a:rPr>
              <a:t>Table or matrix</a:t>
            </a:r>
            <a:endParaRPr lang="en-US" sz="1450" dirty="0"/>
          </a:p>
        </p:txBody>
      </p:sp>
      <p:sp>
        <p:nvSpPr>
          <p:cNvPr id="25" name="Text 23"/>
          <p:cNvSpPr txBox="1"/>
          <p:nvPr/>
        </p:nvSpPr>
        <p:spPr>
          <a:xfrm>
            <a:off x="6949440" y="3630168"/>
            <a:ext cx="3383280" cy="731520"/>
          </a:xfrm>
          <a:prstGeom prst="rect">
            <a:avLst/>
          </a:prstGeom>
          <a:noFill/>
          <a:ln/>
        </p:spPr>
        <p:txBody>
          <a:bodyPr wrap="square" lIns="0" tIns="0" rIns="0" bIns="0" rtlCol="0" anchor="t"/>
          <a:lstStyle/>
          <a:p>
            <a:pPr algn="l" indent="0" marL="0">
              <a:lnSpc>
                <a:spcPct val="122000"/>
              </a:lnSpc>
              <a:buNone/>
            </a:pPr>
            <a:r>
              <a:rPr lang="en-US" sz="1100" dirty="0">
                <a:solidFill>
                  <a:srgbClr val="475569"/>
                </a:solidFill>
                <a:latin typeface="Poppins" pitchFamily="34" charset="0"/>
                <a:ea typeface="Poppins" pitchFamily="34" charset="-122"/>
                <a:cs typeface="Poppins" pitchFamily="34" charset="-120"/>
              </a:rPr>
              <a:t>What are the exact values, when the reader needs to look one up?</a:t>
            </a:r>
            <a:endParaRPr lang="en-US" sz="1100" dirty="0"/>
          </a:p>
        </p:txBody>
      </p:sp>
      <p:sp>
        <p:nvSpPr>
          <p:cNvPr id="26" name="Shape 24"/>
          <p:cNvSpPr/>
          <p:nvPr/>
        </p:nvSpPr>
        <p:spPr>
          <a:xfrm>
            <a:off x="685800" y="4937760"/>
            <a:ext cx="9829800" cy="1234440"/>
          </a:xfrm>
          <a:prstGeom prst="roundRect">
            <a:avLst>
              <a:gd name="adj" fmla="val 6667"/>
            </a:avLst>
          </a:prstGeom>
          <a:solidFill>
            <a:srgbClr val="FBF3E6"/>
          </a:solidFill>
          <a:ln/>
        </p:spPr>
      </p:sp>
      <p:sp>
        <p:nvSpPr>
          <p:cNvPr id="27" name="Shape 25"/>
          <p:cNvSpPr/>
          <p:nvPr/>
        </p:nvSpPr>
        <p:spPr>
          <a:xfrm>
            <a:off x="685800" y="4937760"/>
            <a:ext cx="68580" cy="1234440"/>
          </a:xfrm>
          <a:prstGeom prst="rect">
            <a:avLst/>
          </a:prstGeom>
          <a:solidFill>
            <a:srgbClr val="C9821F"/>
          </a:solidFill>
          <a:ln/>
        </p:spPr>
      </p:sp>
      <p:sp>
        <p:nvSpPr>
          <p:cNvPr id="28" name="Shape 26"/>
          <p:cNvSpPr/>
          <p:nvPr/>
        </p:nvSpPr>
        <p:spPr>
          <a:xfrm>
            <a:off x="960120" y="5166360"/>
            <a:ext cx="502920" cy="502920"/>
          </a:xfrm>
          <a:prstGeom prst="ellipse">
            <a:avLst/>
          </a:prstGeom>
          <a:solidFill>
            <a:srgbClr val="C9821F"/>
          </a:solidFill>
          <a:ln/>
        </p:spPr>
      </p:sp>
      <p:sp>
        <p:nvSpPr>
          <p:cNvPr id="29" name="Text 27"/>
          <p:cNvSpPr txBox="1"/>
          <p:nvPr/>
        </p:nvSpPr>
        <p:spPr>
          <a:xfrm>
            <a:off x="960120" y="51663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a:t>
            </a:r>
            <a:endParaRPr lang="en-US" sz="2200" dirty="0"/>
          </a:p>
        </p:txBody>
      </p:sp>
      <p:sp>
        <p:nvSpPr>
          <p:cNvPr id="30" name="Text 28"/>
          <p:cNvSpPr txBox="1"/>
          <p:nvPr/>
        </p:nvSpPr>
        <p:spPr>
          <a:xfrm>
            <a:off x="1691640" y="5029200"/>
            <a:ext cx="8503920" cy="1051560"/>
          </a:xfrm>
          <a:prstGeom prst="rect">
            <a:avLst/>
          </a:prstGeom>
          <a:noFill/>
          <a:ln/>
        </p:spPr>
        <p:txBody>
          <a:bodyPr wrap="square" lIns="0" tIns="0" rIns="0" bIns="0" rtlCol="0" anchor="t"/>
          <a:lstStyle/>
          <a:p>
            <a:pPr algn="l" indent="0" marL="0">
              <a:lnSpc>
                <a:spcPct val="128000"/>
              </a:lnSpc>
              <a:buNone/>
            </a:pPr>
            <a:r>
              <a:rPr lang="en-US" sz="1300" dirty="0">
                <a:solidFill>
                  <a:srgbClr val="7A5410"/>
                </a:solidFill>
                <a:latin typeface="Poppins" pitchFamily="34" charset="0"/>
                <a:ea typeface="Poppins" pitchFamily="34" charset="-122"/>
                <a:cs typeface="Poppins" pitchFamily="34" charset="-120"/>
              </a:rPr>
              <a:t>Not on this list: pie charts with more than three slices, dual-axis combinations, 3D anything, and the gauge visual. Module 6 explained why. The reasons have not changed because the software did.</a:t>
            </a:r>
            <a:endParaRPr lang="en-US" sz="1300" dirty="0"/>
          </a:p>
        </p:txBody>
      </p:sp>
      <p:pic>
        <p:nvPicPr>
          <p:cNvPr id="31"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2" name="Text 29"/>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Slicers let the reader ask the follow-up question</a:t>
            </a:r>
            <a:endParaRPr lang="en-US" sz="2400" dirty="0"/>
          </a:p>
        </p:txBody>
      </p:sp>
      <p:sp>
        <p:nvSpPr>
          <p:cNvPr id="6" name="Shape 4"/>
          <p:cNvSpPr/>
          <p:nvPr/>
        </p:nvSpPr>
        <p:spPr>
          <a:xfrm>
            <a:off x="685800" y="1645920"/>
            <a:ext cx="9829800" cy="2286000"/>
          </a:xfrm>
          <a:prstGeom prst="roundRect">
            <a:avLst>
              <a:gd name="adj" fmla="val 4000"/>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1005840" y="1965960"/>
            <a:ext cx="1828800" cy="1645920"/>
          </a:xfrm>
          <a:prstGeom prst="roundRect">
            <a:avLst>
              <a:gd name="adj" fmla="val 4444"/>
            </a:avLst>
          </a:prstGeom>
          <a:solidFill>
            <a:srgbClr val="EEF4F4"/>
          </a:solidFill>
          <a:ln w="19050">
            <a:solidFill>
              <a:srgbClr val="387F7F"/>
            </a:solidFill>
            <a:prstDash val="solid"/>
          </a:ln>
        </p:spPr>
      </p:sp>
      <p:sp>
        <p:nvSpPr>
          <p:cNvPr id="8" name="Text 6"/>
          <p:cNvSpPr txBox="1"/>
          <p:nvPr/>
        </p:nvSpPr>
        <p:spPr>
          <a:xfrm>
            <a:off x="1005840" y="2103120"/>
            <a:ext cx="1828800" cy="457200"/>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Hub</a:t>
            </a:r>
            <a:endParaRPr lang="en-US" sz="1200" dirty="0"/>
          </a:p>
          <a:p>
            <a:pPr algn="ctr" indent="0" marL="0">
              <a:buNone/>
            </a:pPr>
            <a:r>
              <a:rPr lang="en-US" sz="1200" b="1" dirty="0">
                <a:solidFill>
                  <a:srgbClr val="387F7F"/>
                </a:solidFill>
                <a:latin typeface="Poppins" pitchFamily="34" charset="0"/>
                <a:ea typeface="Poppins" pitchFamily="34" charset="-122"/>
                <a:cs typeface="Poppins" pitchFamily="34" charset="-120"/>
              </a:rPr>
              <a:t>slicer</a:t>
            </a:r>
            <a:endParaRPr lang="en-US" sz="1200" dirty="0"/>
          </a:p>
        </p:txBody>
      </p:sp>
      <p:sp>
        <p:nvSpPr>
          <p:cNvPr id="9" name="Text 7"/>
          <p:cNvSpPr txBox="1"/>
          <p:nvPr/>
        </p:nvSpPr>
        <p:spPr>
          <a:xfrm>
            <a:off x="1188720" y="2606040"/>
            <a:ext cx="1463040" cy="256032"/>
          </a:xfrm>
          <a:prstGeom prst="rect">
            <a:avLst/>
          </a:prstGeom>
          <a:noFill/>
          <a:ln/>
        </p:spPr>
        <p:txBody>
          <a:bodyPr wrap="square" lIns="0" tIns="0" rIns="0" bIns="0" rtlCol="0" anchor="ctr"/>
          <a:lstStyle/>
          <a:p>
            <a:pPr indent="0" marL="0">
              <a:buNone/>
            </a:pPr>
            <a:r>
              <a:rPr lang="en-US" sz="1000" b="1" dirty="0">
                <a:solidFill>
                  <a:srgbClr val="387F7F"/>
                </a:solidFill>
                <a:latin typeface="Poppins" pitchFamily="34" charset="0"/>
                <a:ea typeface="Poppins" pitchFamily="34" charset="-122"/>
                <a:cs typeface="Poppins" pitchFamily="34" charset="-120"/>
              </a:rPr>
              <a:t>Apapa ✓</a:t>
            </a:r>
            <a:endParaRPr lang="en-US" sz="1000" dirty="0"/>
          </a:p>
        </p:txBody>
      </p:sp>
      <p:sp>
        <p:nvSpPr>
          <p:cNvPr id="10" name="Text 8"/>
          <p:cNvSpPr txBox="1"/>
          <p:nvPr/>
        </p:nvSpPr>
        <p:spPr>
          <a:xfrm>
            <a:off x="1188720" y="2898648"/>
            <a:ext cx="1463040" cy="256032"/>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Ikeja</a:t>
            </a:r>
            <a:endParaRPr lang="en-US" sz="1000" dirty="0"/>
          </a:p>
        </p:txBody>
      </p:sp>
      <p:sp>
        <p:nvSpPr>
          <p:cNvPr id="11" name="Text 9"/>
          <p:cNvSpPr txBox="1"/>
          <p:nvPr/>
        </p:nvSpPr>
        <p:spPr>
          <a:xfrm>
            <a:off x="1188720" y="3191256"/>
            <a:ext cx="1463040" cy="256032"/>
          </a:xfrm>
          <a:prstGeom prst="rect">
            <a:avLst/>
          </a:prstGeom>
          <a:noFill/>
          <a:ln/>
        </p:spPr>
        <p:txBody>
          <a:bodyPr wrap="square" lIns="0" tIns="0" rIns="0" bIns="0" rtlCol="0" anchor="ctr"/>
          <a:lstStyle/>
          <a:p>
            <a:pPr indent="0" marL="0">
              <a:buNone/>
            </a:pPr>
            <a:r>
              <a:rPr lang="en-US" sz="1000" dirty="0">
                <a:solidFill>
                  <a:srgbClr val="64748B"/>
                </a:solidFill>
                <a:latin typeface="Poppins" pitchFamily="34" charset="0"/>
                <a:ea typeface="Poppins" pitchFamily="34" charset="-122"/>
                <a:cs typeface="Poppins" pitchFamily="34" charset="-120"/>
              </a:rPr>
              <a:t>Lekki</a:t>
            </a:r>
            <a:endParaRPr lang="en-US" sz="1000" dirty="0"/>
          </a:p>
        </p:txBody>
      </p:sp>
      <p:sp>
        <p:nvSpPr>
          <p:cNvPr id="12" name="Text 10"/>
          <p:cNvSpPr txBox="1"/>
          <p:nvPr/>
        </p:nvSpPr>
        <p:spPr>
          <a:xfrm>
            <a:off x="2971800" y="2606040"/>
            <a:ext cx="274320" cy="274320"/>
          </a:xfrm>
          <a:prstGeom prst="rect">
            <a:avLst/>
          </a:prstGeom>
          <a:noFill/>
          <a:ln/>
        </p:spPr>
        <p:txBody>
          <a:bodyPr wrap="square" lIns="0" tIns="0" rIns="0" bIns="0" rtlCol="0" anchor="ctr"/>
          <a:lstStyle/>
          <a:p>
            <a:pPr algn="ctr" indent="0" marL="0">
              <a:buNone/>
            </a:pPr>
            <a:r>
              <a:rPr lang="en-US" sz="1380" b="1" dirty="0">
                <a:solidFill>
                  <a:srgbClr val="387F7F"/>
                </a:solidFill>
                <a:latin typeface="Poppins" pitchFamily="34" charset="0"/>
                <a:ea typeface="Poppins" pitchFamily="34" charset="-122"/>
                <a:cs typeface="Poppins" pitchFamily="34" charset="-120"/>
              </a:rPr>
              <a:t>›</a:t>
            </a:r>
            <a:endParaRPr lang="en-US" sz="1380" dirty="0"/>
          </a:p>
        </p:txBody>
      </p:sp>
      <p:sp>
        <p:nvSpPr>
          <p:cNvPr id="13" name="Text 11"/>
          <p:cNvSpPr txBox="1"/>
          <p:nvPr/>
        </p:nvSpPr>
        <p:spPr>
          <a:xfrm>
            <a:off x="2971800" y="2880360"/>
            <a:ext cx="274320" cy="274320"/>
          </a:xfrm>
          <a:prstGeom prst="rect">
            <a:avLst/>
          </a:prstGeom>
          <a:noFill/>
          <a:ln/>
        </p:spPr>
        <p:txBody>
          <a:bodyPr wrap="square" lIns="0" tIns="0" rIns="0" bIns="0" rtlCol="0" anchor="ctr"/>
          <a:lstStyle/>
          <a:p>
            <a:pPr algn="ctr" indent="0" marL="0">
              <a:buNone/>
            </a:pPr>
            <a:r>
              <a:rPr lang="en-US" sz="1380" b="1" dirty="0">
                <a:solidFill>
                  <a:srgbClr val="387F7F"/>
                </a:solidFill>
                <a:latin typeface="Poppins" pitchFamily="34" charset="0"/>
                <a:ea typeface="Poppins" pitchFamily="34" charset="-122"/>
                <a:cs typeface="Poppins" pitchFamily="34" charset="-120"/>
              </a:rPr>
              <a:t>›</a:t>
            </a:r>
            <a:endParaRPr lang="en-US" sz="1380" dirty="0"/>
          </a:p>
        </p:txBody>
      </p:sp>
      <p:sp>
        <p:nvSpPr>
          <p:cNvPr id="14" name="Shape 12"/>
          <p:cNvSpPr/>
          <p:nvPr/>
        </p:nvSpPr>
        <p:spPr>
          <a:xfrm>
            <a:off x="3383280" y="1965960"/>
            <a:ext cx="3017520" cy="1645920"/>
          </a:xfrm>
          <a:prstGeom prst="roundRect">
            <a:avLst>
              <a:gd name="adj" fmla="val 4444"/>
            </a:avLst>
          </a:prstGeom>
          <a:solidFill>
            <a:srgbClr val="EEF4F4"/>
          </a:solidFill>
          <a:ln/>
        </p:spPr>
      </p:sp>
      <p:sp>
        <p:nvSpPr>
          <p:cNvPr id="15" name="Text 13"/>
          <p:cNvSpPr txBox="1"/>
          <p:nvPr/>
        </p:nvSpPr>
        <p:spPr>
          <a:xfrm>
            <a:off x="3566160" y="2606040"/>
            <a:ext cx="2651760" cy="548640"/>
          </a:xfrm>
          <a:prstGeom prst="rect">
            <a:avLst/>
          </a:prstGeom>
          <a:noFill/>
          <a:ln/>
        </p:spPr>
        <p:txBody>
          <a:bodyPr wrap="square" lIns="0" tIns="0" rIns="0" bIns="0" rtlCol="0" anchor="ctr"/>
          <a:lstStyle/>
          <a:p>
            <a:pPr algn="ctr" indent="0" marL="0">
              <a:lnSpc>
                <a:spcPct val="120000"/>
              </a:lnSpc>
              <a:buNone/>
            </a:pPr>
            <a:r>
              <a:rPr lang="en-US" sz="1100" dirty="0">
                <a:solidFill>
                  <a:srgbClr val="475569"/>
                </a:solidFill>
                <a:latin typeface="Poppins" pitchFamily="34" charset="0"/>
                <a:ea typeface="Poppins" pitchFamily="34" charset="-122"/>
                <a:cs typeface="Poppins" pitchFamily="34" charset="-120"/>
              </a:rPr>
              <a:t>Ranked route chart</a:t>
            </a:r>
            <a:endParaRPr lang="en-US" sz="1100" dirty="0"/>
          </a:p>
          <a:p>
            <a:pPr algn="ctr" indent="0" marL="0">
              <a:lnSpc>
                <a:spcPct val="120000"/>
              </a:lnSpc>
              <a:buNone/>
            </a:pPr>
            <a:r>
              <a:rPr lang="en-US" sz="1100" dirty="0">
                <a:solidFill>
                  <a:srgbClr val="475569"/>
                </a:solidFill>
                <a:latin typeface="Poppins" pitchFamily="34" charset="0"/>
                <a:ea typeface="Poppins" pitchFamily="34" charset="-122"/>
                <a:cs typeface="Poppins" pitchFamily="34" charset="-120"/>
              </a:rPr>
              <a:t>(filtered to Apapa)</a:t>
            </a:r>
            <a:endParaRPr lang="en-US" sz="1100" dirty="0"/>
          </a:p>
        </p:txBody>
      </p:sp>
      <p:sp>
        <p:nvSpPr>
          <p:cNvPr id="16" name="Shape 14"/>
          <p:cNvSpPr/>
          <p:nvPr/>
        </p:nvSpPr>
        <p:spPr>
          <a:xfrm>
            <a:off x="6583680" y="1965960"/>
            <a:ext cx="3017520" cy="1645920"/>
          </a:xfrm>
          <a:prstGeom prst="roundRect">
            <a:avLst>
              <a:gd name="adj" fmla="val 4444"/>
            </a:avLst>
          </a:prstGeom>
          <a:solidFill>
            <a:srgbClr val="EEF4F4"/>
          </a:solidFill>
          <a:ln/>
        </p:spPr>
      </p:sp>
      <p:sp>
        <p:nvSpPr>
          <p:cNvPr id="17" name="Text 15"/>
          <p:cNvSpPr txBox="1"/>
          <p:nvPr/>
        </p:nvSpPr>
        <p:spPr>
          <a:xfrm>
            <a:off x="6766560" y="2606040"/>
            <a:ext cx="2651760" cy="548640"/>
          </a:xfrm>
          <a:prstGeom prst="rect">
            <a:avLst/>
          </a:prstGeom>
          <a:noFill/>
          <a:ln/>
        </p:spPr>
        <p:txBody>
          <a:bodyPr wrap="square" lIns="0" tIns="0" rIns="0" bIns="0" rtlCol="0" anchor="ctr"/>
          <a:lstStyle/>
          <a:p>
            <a:pPr algn="ctr" indent="0" marL="0">
              <a:lnSpc>
                <a:spcPct val="120000"/>
              </a:lnSpc>
              <a:buNone/>
            </a:pPr>
            <a:r>
              <a:rPr lang="en-US" sz="1100" dirty="0">
                <a:solidFill>
                  <a:srgbClr val="475569"/>
                </a:solidFill>
                <a:latin typeface="Poppins" pitchFamily="34" charset="0"/>
                <a:ea typeface="Poppins" pitchFamily="34" charset="-122"/>
                <a:cs typeface="Poppins" pitchFamily="34" charset="-120"/>
              </a:rPr>
              <a:t>Rider table</a:t>
            </a:r>
            <a:endParaRPr lang="en-US" sz="1100" dirty="0"/>
          </a:p>
          <a:p>
            <a:pPr algn="ctr" indent="0" marL="0">
              <a:lnSpc>
                <a:spcPct val="120000"/>
              </a:lnSpc>
              <a:buNone/>
            </a:pPr>
            <a:r>
              <a:rPr lang="en-US" sz="1100" dirty="0">
                <a:solidFill>
                  <a:srgbClr val="475569"/>
                </a:solidFill>
                <a:latin typeface="Poppins" pitchFamily="34" charset="0"/>
                <a:ea typeface="Poppins" pitchFamily="34" charset="-122"/>
                <a:cs typeface="Poppins" pitchFamily="34" charset="-120"/>
              </a:rPr>
              <a:t>(filtered to Apapa)</a:t>
            </a:r>
            <a:endParaRPr lang="en-US" sz="1100" dirty="0"/>
          </a:p>
        </p:txBody>
      </p:sp>
      <p:sp>
        <p:nvSpPr>
          <p:cNvPr id="18" name="Text 16"/>
          <p:cNvSpPr txBox="1"/>
          <p:nvPr/>
        </p:nvSpPr>
        <p:spPr>
          <a:xfrm>
            <a:off x="685800" y="4160520"/>
            <a:ext cx="9829800" cy="1051560"/>
          </a:xfrm>
          <a:prstGeom prst="rect">
            <a:avLst/>
          </a:prstGeom>
          <a:noFill/>
          <a:ln/>
        </p:spPr>
        <p:txBody>
          <a:bodyPr wrap="square" lIns="0" tIns="0" rIns="0" bIns="0" rtlCol="0" anchor="t"/>
          <a:lstStyle/>
          <a:p>
            <a:pPr algn="l" indent="0" marL="0">
              <a:lnSpc>
                <a:spcPct val="132000"/>
              </a:lnSpc>
              <a:buNone/>
            </a:pPr>
            <a:r>
              <a:rPr lang="en-US" sz="1400" dirty="0">
                <a:solidFill>
                  <a:srgbClr val="475569"/>
                </a:solidFill>
                <a:latin typeface="Poppins" pitchFamily="34" charset="0"/>
                <a:ea typeface="Poppins" pitchFamily="34" charset="-122"/>
                <a:cs typeface="Poppins" pitchFamily="34" charset="-120"/>
              </a:rPr>
              <a:t>A static report answers the questions you anticipated. A slicer lets Adaeze answer the one you did not: she sees Apapa is weak, clicks Apapa, and the rider chart beneath now shows only Apapa riders. She has just answered “rider problem or route problem” without calling you.</a:t>
            </a:r>
            <a:endParaRPr lang="en-US" sz="1400" dirty="0"/>
          </a:p>
        </p:txBody>
      </p:sp>
      <p:sp>
        <p:nvSpPr>
          <p:cNvPr id="19" name="Shape 17"/>
          <p:cNvSpPr/>
          <p:nvPr/>
        </p:nvSpPr>
        <p:spPr>
          <a:xfrm>
            <a:off x="685800" y="5349240"/>
            <a:ext cx="9829800" cy="594360"/>
          </a:xfrm>
          <a:prstGeom prst="roundRect">
            <a:avLst>
              <a:gd name="adj" fmla="val 13846"/>
            </a:avLst>
          </a:prstGeom>
          <a:solidFill>
            <a:srgbClr val="FBF3E6"/>
          </a:solidFill>
          <a:ln/>
        </p:spPr>
      </p:sp>
      <p:sp>
        <p:nvSpPr>
          <p:cNvPr id="20" name="Shape 18"/>
          <p:cNvSpPr/>
          <p:nvPr/>
        </p:nvSpPr>
        <p:spPr>
          <a:xfrm>
            <a:off x="685800" y="5349240"/>
            <a:ext cx="68580" cy="594360"/>
          </a:xfrm>
          <a:prstGeom prst="rect">
            <a:avLst/>
          </a:prstGeom>
          <a:solidFill>
            <a:srgbClr val="C9821F"/>
          </a:solidFill>
          <a:ln/>
        </p:spPr>
      </p:sp>
      <p:sp>
        <p:nvSpPr>
          <p:cNvPr id="21" name="Text 19"/>
          <p:cNvSpPr txBox="1"/>
          <p:nvPr/>
        </p:nvSpPr>
        <p:spPr>
          <a:xfrm>
            <a:off x="1051560" y="5349240"/>
            <a:ext cx="9235440" cy="594360"/>
          </a:xfrm>
          <a:prstGeom prst="rect">
            <a:avLst/>
          </a:prstGeom>
          <a:noFill/>
          <a:ln/>
        </p:spPr>
        <p:txBody>
          <a:bodyPr wrap="square" lIns="0" tIns="0" rIns="0" bIns="0" rtlCol="0" anchor="ctr"/>
          <a:lstStyle/>
          <a:p>
            <a:pPr algn="l" indent="0" marL="0">
              <a:lnSpc>
                <a:spcPct val="135000"/>
              </a:lnSpc>
              <a:buNone/>
            </a:pPr>
            <a:r>
              <a:rPr lang="en-US" sz="1350" b="1" dirty="0">
                <a:solidFill>
                  <a:srgbClr val="8A5A12"/>
                </a:solidFill>
                <a:latin typeface="Poppins" pitchFamily="34" charset="0"/>
                <a:ea typeface="Poppins" pitchFamily="34" charset="-122"/>
                <a:cs typeface="Poppins" pitchFamily="34" charset="-120"/>
              </a:rPr>
              <a:t>Rule: every slicer must visibly show what it is filtered to.</a:t>
            </a:r>
            <a:endParaRPr lang="en-US" sz="1350" dirty="0"/>
          </a:p>
        </p:txBody>
      </p:sp>
      <p:pic>
        <p:nvPicPr>
          <p:cNvPr id="22"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3" name="Text 20"/>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Drill-down: one chart, three levels of detail</a:t>
            </a:r>
            <a:endParaRPr lang="en-US" sz="2700" dirty="0"/>
          </a:p>
        </p:txBody>
      </p:sp>
      <p:sp>
        <p:nvSpPr>
          <p:cNvPr id="6" name="Shape 4"/>
          <p:cNvSpPr/>
          <p:nvPr/>
        </p:nvSpPr>
        <p:spPr>
          <a:xfrm>
            <a:off x="685800" y="1691640"/>
            <a:ext cx="3246120" cy="2331720"/>
          </a:xfrm>
          <a:prstGeom prst="roundRect">
            <a:avLst>
              <a:gd name="adj" fmla="val 3922"/>
            </a:avLst>
          </a:prstGeom>
          <a:solidFill>
            <a:srgbClr val="FFFFFF"/>
          </a:solidFill>
          <a:ln/>
          <a:effectLst>
            <a:outerShdw sx="100000" sy="100000" kx="0" ky="0" algn="bl" rotWithShape="0" blurRad="152400" dist="38100" dir="5400000">
              <a:srgbClr val="1B2A2E">
                <a:alpha val="14000"/>
              </a:srgbClr>
            </a:outerShdw>
          </a:effectLst>
        </p:spPr>
      </p:sp>
      <p:sp>
        <p:nvSpPr>
          <p:cNvPr id="7" name="Text 5"/>
          <p:cNvSpPr txBox="1"/>
          <p:nvPr/>
        </p:nvSpPr>
        <p:spPr>
          <a:xfrm>
            <a:off x="914400" y="1874520"/>
            <a:ext cx="2788920" cy="365760"/>
          </a:xfrm>
          <a:prstGeom prst="rect">
            <a:avLst/>
          </a:prstGeom>
          <a:noFill/>
          <a:ln/>
        </p:spPr>
        <p:txBody>
          <a:bodyPr wrap="square" lIns="0" tIns="0" rIns="0" bIns="0" rtlCol="0" anchor="ctr"/>
          <a:lstStyle/>
          <a:p>
            <a:pPr indent="0" marL="0">
              <a:buNone/>
            </a:pPr>
            <a:r>
              <a:rPr lang="en-US" sz="1350" b="1" dirty="0">
                <a:solidFill>
                  <a:srgbClr val="0A1A23"/>
                </a:solidFill>
                <a:latin typeface="Poppins" pitchFamily="34" charset="0"/>
                <a:ea typeface="Poppins" pitchFamily="34" charset="-122"/>
                <a:cs typeface="Poppins" pitchFamily="34" charset="-120"/>
              </a:rPr>
              <a:t>1. By corridor</a:t>
            </a:r>
            <a:endParaRPr lang="en-US" sz="1350" dirty="0"/>
          </a:p>
        </p:txBody>
      </p:sp>
      <p:sp>
        <p:nvSpPr>
          <p:cNvPr id="8" name="Shape 6"/>
          <p:cNvSpPr/>
          <p:nvPr/>
        </p:nvSpPr>
        <p:spPr>
          <a:xfrm>
            <a:off x="914400" y="2606040"/>
            <a:ext cx="1339596" cy="1097280"/>
          </a:xfrm>
          <a:prstGeom prst="rect">
            <a:avLst/>
          </a:prstGeom>
          <a:solidFill>
            <a:srgbClr val="387F7F"/>
          </a:solidFill>
          <a:ln/>
        </p:spPr>
      </p:sp>
      <p:sp>
        <p:nvSpPr>
          <p:cNvPr id="9" name="Shape 7"/>
          <p:cNvSpPr/>
          <p:nvPr/>
        </p:nvSpPr>
        <p:spPr>
          <a:xfrm>
            <a:off x="2308860" y="2880360"/>
            <a:ext cx="1339596" cy="822960"/>
          </a:xfrm>
          <a:prstGeom prst="rect">
            <a:avLst/>
          </a:prstGeom>
          <a:solidFill>
            <a:srgbClr val="387F7F"/>
          </a:solidFill>
          <a:ln/>
        </p:spPr>
      </p:sp>
      <p:sp>
        <p:nvSpPr>
          <p:cNvPr id="10" name="Text 8"/>
          <p:cNvSpPr txBox="1"/>
          <p:nvPr/>
        </p:nvSpPr>
        <p:spPr>
          <a:xfrm>
            <a:off x="3950208" y="2720340"/>
            <a:ext cx="292608" cy="292608"/>
          </a:xfrm>
          <a:prstGeom prst="rect">
            <a:avLst/>
          </a:prstGeom>
          <a:noFill/>
          <a:ln/>
        </p:spPr>
        <p:txBody>
          <a:bodyPr wrap="square" lIns="0" tIns="0" rIns="0" bIns="0" rtlCol="0" anchor="ctr"/>
          <a:lstStyle/>
          <a:p>
            <a:pPr algn="ctr" indent="0" marL="0">
              <a:buNone/>
            </a:pPr>
            <a:r>
              <a:rPr lang="en-US" sz="1472" b="1" dirty="0">
                <a:solidFill>
                  <a:srgbClr val="387F7F"/>
                </a:solidFill>
                <a:latin typeface="Poppins" pitchFamily="34" charset="0"/>
                <a:ea typeface="Poppins" pitchFamily="34" charset="-122"/>
                <a:cs typeface="Poppins" pitchFamily="34" charset="-120"/>
              </a:rPr>
              <a:t>›</a:t>
            </a:r>
            <a:endParaRPr lang="en-US" sz="1472" dirty="0"/>
          </a:p>
        </p:txBody>
      </p:sp>
      <p:sp>
        <p:nvSpPr>
          <p:cNvPr id="11" name="Shape 9"/>
          <p:cNvSpPr/>
          <p:nvPr/>
        </p:nvSpPr>
        <p:spPr>
          <a:xfrm>
            <a:off x="4206240" y="1691640"/>
            <a:ext cx="3246120" cy="2331720"/>
          </a:xfrm>
          <a:prstGeom prst="roundRect">
            <a:avLst>
              <a:gd name="adj" fmla="val 3922"/>
            </a:avLst>
          </a:prstGeom>
          <a:solidFill>
            <a:srgbClr val="FFFFFF"/>
          </a:solidFill>
          <a:ln/>
          <a:effectLst>
            <a:outerShdw sx="100000" sy="100000" kx="0" ky="0" algn="bl" rotWithShape="0" blurRad="152400" dist="38100" dir="5400000">
              <a:srgbClr val="1B2A2E">
                <a:alpha val="14000"/>
              </a:srgbClr>
            </a:outerShdw>
          </a:effectLst>
        </p:spPr>
      </p:sp>
      <p:sp>
        <p:nvSpPr>
          <p:cNvPr id="12" name="Text 10"/>
          <p:cNvSpPr txBox="1"/>
          <p:nvPr/>
        </p:nvSpPr>
        <p:spPr>
          <a:xfrm>
            <a:off x="4434840" y="1874520"/>
            <a:ext cx="2788920" cy="365760"/>
          </a:xfrm>
          <a:prstGeom prst="rect">
            <a:avLst/>
          </a:prstGeom>
          <a:noFill/>
          <a:ln/>
        </p:spPr>
        <p:txBody>
          <a:bodyPr wrap="square" lIns="0" tIns="0" rIns="0" bIns="0" rtlCol="0" anchor="ctr"/>
          <a:lstStyle/>
          <a:p>
            <a:pPr indent="0" marL="0">
              <a:buNone/>
            </a:pPr>
            <a:r>
              <a:rPr lang="en-US" sz="1350" b="1" dirty="0">
                <a:solidFill>
                  <a:srgbClr val="0A1A23"/>
                </a:solidFill>
                <a:latin typeface="Poppins" pitchFamily="34" charset="0"/>
                <a:ea typeface="Poppins" pitchFamily="34" charset="-122"/>
                <a:cs typeface="Poppins" pitchFamily="34" charset="-120"/>
              </a:rPr>
              <a:t>2. By route within corridor</a:t>
            </a:r>
            <a:endParaRPr lang="en-US" sz="1350" dirty="0"/>
          </a:p>
        </p:txBody>
      </p:sp>
      <p:sp>
        <p:nvSpPr>
          <p:cNvPr id="13" name="Shape 11"/>
          <p:cNvSpPr/>
          <p:nvPr/>
        </p:nvSpPr>
        <p:spPr>
          <a:xfrm>
            <a:off x="4434840" y="2468880"/>
            <a:ext cx="642366" cy="1234440"/>
          </a:xfrm>
          <a:prstGeom prst="rect">
            <a:avLst/>
          </a:prstGeom>
          <a:solidFill>
            <a:srgbClr val="387F7F"/>
          </a:solidFill>
          <a:ln/>
        </p:spPr>
      </p:sp>
      <p:sp>
        <p:nvSpPr>
          <p:cNvPr id="14" name="Shape 12"/>
          <p:cNvSpPr/>
          <p:nvPr/>
        </p:nvSpPr>
        <p:spPr>
          <a:xfrm>
            <a:off x="5132070" y="2743200"/>
            <a:ext cx="642366" cy="960120"/>
          </a:xfrm>
          <a:prstGeom prst="rect">
            <a:avLst/>
          </a:prstGeom>
          <a:solidFill>
            <a:srgbClr val="387F7F"/>
          </a:solidFill>
          <a:ln/>
        </p:spPr>
      </p:sp>
      <p:sp>
        <p:nvSpPr>
          <p:cNvPr id="15" name="Shape 13"/>
          <p:cNvSpPr/>
          <p:nvPr/>
        </p:nvSpPr>
        <p:spPr>
          <a:xfrm>
            <a:off x="5829300" y="3017520"/>
            <a:ext cx="642366" cy="685800"/>
          </a:xfrm>
          <a:prstGeom prst="rect">
            <a:avLst/>
          </a:prstGeom>
          <a:solidFill>
            <a:srgbClr val="387F7F"/>
          </a:solidFill>
          <a:ln/>
        </p:spPr>
      </p:sp>
      <p:sp>
        <p:nvSpPr>
          <p:cNvPr id="16" name="Shape 14"/>
          <p:cNvSpPr/>
          <p:nvPr/>
        </p:nvSpPr>
        <p:spPr>
          <a:xfrm>
            <a:off x="6526530" y="3291840"/>
            <a:ext cx="642366" cy="411480"/>
          </a:xfrm>
          <a:prstGeom prst="rect">
            <a:avLst/>
          </a:prstGeom>
          <a:solidFill>
            <a:srgbClr val="A8322D"/>
          </a:solidFill>
          <a:ln/>
        </p:spPr>
      </p:sp>
      <p:sp>
        <p:nvSpPr>
          <p:cNvPr id="17" name="Text 15"/>
          <p:cNvSpPr txBox="1"/>
          <p:nvPr/>
        </p:nvSpPr>
        <p:spPr>
          <a:xfrm>
            <a:off x="7470648" y="2720340"/>
            <a:ext cx="292608" cy="292608"/>
          </a:xfrm>
          <a:prstGeom prst="rect">
            <a:avLst/>
          </a:prstGeom>
          <a:noFill/>
          <a:ln/>
        </p:spPr>
        <p:txBody>
          <a:bodyPr wrap="square" lIns="0" tIns="0" rIns="0" bIns="0" rtlCol="0" anchor="ctr"/>
          <a:lstStyle/>
          <a:p>
            <a:pPr algn="ctr" indent="0" marL="0">
              <a:buNone/>
            </a:pPr>
            <a:r>
              <a:rPr lang="en-US" sz="1472" b="1" dirty="0">
                <a:solidFill>
                  <a:srgbClr val="387F7F"/>
                </a:solidFill>
                <a:latin typeface="Poppins" pitchFamily="34" charset="0"/>
                <a:ea typeface="Poppins" pitchFamily="34" charset="-122"/>
                <a:cs typeface="Poppins" pitchFamily="34" charset="-120"/>
              </a:rPr>
              <a:t>›</a:t>
            </a:r>
            <a:endParaRPr lang="en-US" sz="1472" dirty="0"/>
          </a:p>
        </p:txBody>
      </p:sp>
      <p:sp>
        <p:nvSpPr>
          <p:cNvPr id="18" name="Shape 16"/>
          <p:cNvSpPr/>
          <p:nvPr/>
        </p:nvSpPr>
        <p:spPr>
          <a:xfrm>
            <a:off x="7726680" y="1691640"/>
            <a:ext cx="3246120" cy="2331720"/>
          </a:xfrm>
          <a:prstGeom prst="roundRect">
            <a:avLst>
              <a:gd name="adj" fmla="val 3922"/>
            </a:avLst>
          </a:prstGeom>
          <a:solidFill>
            <a:srgbClr val="387F7F"/>
          </a:solidFill>
          <a:ln/>
          <a:effectLst>
            <a:outerShdw sx="100000" sy="100000" kx="0" ky="0" algn="bl" rotWithShape="0" blurRad="152400" dist="38100" dir="5400000">
              <a:srgbClr val="1B2A2E">
                <a:alpha val="20000"/>
              </a:srgbClr>
            </a:outerShdw>
          </a:effectLst>
        </p:spPr>
      </p:sp>
      <p:sp>
        <p:nvSpPr>
          <p:cNvPr id="19" name="Text 17"/>
          <p:cNvSpPr txBox="1"/>
          <p:nvPr/>
        </p:nvSpPr>
        <p:spPr>
          <a:xfrm>
            <a:off x="7955280" y="1874520"/>
            <a:ext cx="2788920" cy="365760"/>
          </a:xfrm>
          <a:prstGeom prst="rect">
            <a:avLst/>
          </a:prstGeom>
          <a:noFill/>
          <a:ln/>
        </p:spPr>
        <p:txBody>
          <a:bodyPr wrap="square" lIns="0" tIns="0" rIns="0" bIns="0" rtlCol="0" anchor="ctr"/>
          <a:lstStyle/>
          <a:p>
            <a:pPr indent="0" marL="0">
              <a:buNone/>
            </a:pPr>
            <a:r>
              <a:rPr lang="en-US" sz="1350" b="1" dirty="0">
                <a:solidFill>
                  <a:srgbClr val="FFFFFF"/>
                </a:solidFill>
                <a:latin typeface="Poppins" pitchFamily="34" charset="0"/>
                <a:ea typeface="Poppins" pitchFamily="34" charset="-122"/>
                <a:cs typeface="Poppins" pitchFamily="34" charset="-120"/>
              </a:rPr>
              <a:t>3. By rider within route</a:t>
            </a:r>
            <a:endParaRPr lang="en-US" sz="1350" dirty="0"/>
          </a:p>
        </p:txBody>
      </p:sp>
      <p:sp>
        <p:nvSpPr>
          <p:cNvPr id="20" name="Shape 18"/>
          <p:cNvSpPr/>
          <p:nvPr/>
        </p:nvSpPr>
        <p:spPr>
          <a:xfrm>
            <a:off x="7955280" y="2743200"/>
            <a:ext cx="343553" cy="960120"/>
          </a:xfrm>
          <a:prstGeom prst="rect">
            <a:avLst/>
          </a:prstGeom>
          <a:solidFill>
            <a:srgbClr val="FFFFFF"/>
          </a:solidFill>
          <a:ln/>
        </p:spPr>
      </p:sp>
      <p:sp>
        <p:nvSpPr>
          <p:cNvPr id="21" name="Shape 19"/>
          <p:cNvSpPr/>
          <p:nvPr/>
        </p:nvSpPr>
        <p:spPr>
          <a:xfrm>
            <a:off x="8353697" y="2811780"/>
            <a:ext cx="343553" cy="891540"/>
          </a:xfrm>
          <a:prstGeom prst="rect">
            <a:avLst/>
          </a:prstGeom>
          <a:solidFill>
            <a:srgbClr val="FFFFFF"/>
          </a:solidFill>
          <a:ln/>
        </p:spPr>
      </p:sp>
      <p:sp>
        <p:nvSpPr>
          <p:cNvPr id="22" name="Shape 20"/>
          <p:cNvSpPr/>
          <p:nvPr/>
        </p:nvSpPr>
        <p:spPr>
          <a:xfrm>
            <a:off x="8752114" y="2880360"/>
            <a:ext cx="343553" cy="822960"/>
          </a:xfrm>
          <a:prstGeom prst="rect">
            <a:avLst/>
          </a:prstGeom>
          <a:solidFill>
            <a:srgbClr val="FFFFFF"/>
          </a:solidFill>
          <a:ln/>
        </p:spPr>
      </p:sp>
      <p:sp>
        <p:nvSpPr>
          <p:cNvPr id="23" name="Shape 21"/>
          <p:cNvSpPr/>
          <p:nvPr/>
        </p:nvSpPr>
        <p:spPr>
          <a:xfrm>
            <a:off x="9150531" y="3017520"/>
            <a:ext cx="343553" cy="685800"/>
          </a:xfrm>
          <a:prstGeom prst="rect">
            <a:avLst/>
          </a:prstGeom>
          <a:solidFill>
            <a:srgbClr val="FFFFFF"/>
          </a:solidFill>
          <a:ln/>
        </p:spPr>
      </p:sp>
      <p:sp>
        <p:nvSpPr>
          <p:cNvPr id="24" name="Shape 22"/>
          <p:cNvSpPr/>
          <p:nvPr/>
        </p:nvSpPr>
        <p:spPr>
          <a:xfrm>
            <a:off x="9548949" y="3154680"/>
            <a:ext cx="343553" cy="548640"/>
          </a:xfrm>
          <a:prstGeom prst="rect">
            <a:avLst/>
          </a:prstGeom>
          <a:solidFill>
            <a:srgbClr val="FFFFFF"/>
          </a:solidFill>
          <a:ln/>
        </p:spPr>
      </p:sp>
      <p:sp>
        <p:nvSpPr>
          <p:cNvPr id="25" name="Shape 23"/>
          <p:cNvSpPr/>
          <p:nvPr/>
        </p:nvSpPr>
        <p:spPr>
          <a:xfrm>
            <a:off x="9947366" y="3291840"/>
            <a:ext cx="343553" cy="411480"/>
          </a:xfrm>
          <a:prstGeom prst="rect">
            <a:avLst/>
          </a:prstGeom>
          <a:solidFill>
            <a:srgbClr val="FFFFFF"/>
          </a:solidFill>
          <a:ln/>
        </p:spPr>
      </p:sp>
      <p:sp>
        <p:nvSpPr>
          <p:cNvPr id="26" name="Shape 24"/>
          <p:cNvSpPr/>
          <p:nvPr/>
        </p:nvSpPr>
        <p:spPr>
          <a:xfrm>
            <a:off x="10345783" y="3429000"/>
            <a:ext cx="343553" cy="274320"/>
          </a:xfrm>
          <a:prstGeom prst="rect">
            <a:avLst/>
          </a:prstGeom>
          <a:solidFill>
            <a:srgbClr val="FFFFFF"/>
          </a:solidFill>
          <a:ln/>
        </p:spPr>
      </p:sp>
      <p:sp>
        <p:nvSpPr>
          <p:cNvPr id="27" name="Shape 25"/>
          <p:cNvSpPr/>
          <p:nvPr/>
        </p:nvSpPr>
        <p:spPr>
          <a:xfrm>
            <a:off x="685800" y="4251960"/>
            <a:ext cx="9829800" cy="1280160"/>
          </a:xfrm>
          <a:prstGeom prst="roundRect">
            <a:avLst>
              <a:gd name="adj" fmla="val 6429"/>
            </a:avLst>
          </a:prstGeom>
          <a:solidFill>
            <a:srgbClr val="EEF4F4"/>
          </a:solidFill>
          <a:ln/>
        </p:spPr>
      </p:sp>
      <p:sp>
        <p:nvSpPr>
          <p:cNvPr id="28" name="Shape 26"/>
          <p:cNvSpPr/>
          <p:nvPr/>
        </p:nvSpPr>
        <p:spPr>
          <a:xfrm>
            <a:off x="685800" y="4251960"/>
            <a:ext cx="68580" cy="1280160"/>
          </a:xfrm>
          <a:prstGeom prst="rect">
            <a:avLst/>
          </a:prstGeom>
          <a:solidFill>
            <a:srgbClr val="387F7F"/>
          </a:solidFill>
          <a:ln/>
        </p:spPr>
      </p:sp>
      <p:sp>
        <p:nvSpPr>
          <p:cNvPr id="29" name="Text 27"/>
          <p:cNvSpPr txBox="1"/>
          <p:nvPr/>
        </p:nvSpPr>
        <p:spPr>
          <a:xfrm>
            <a:off x="1051560" y="4434840"/>
            <a:ext cx="9235440" cy="1051560"/>
          </a:xfrm>
          <a:prstGeom prst="rect">
            <a:avLst/>
          </a:prstGeom>
          <a:noFill/>
          <a:ln/>
        </p:spPr>
        <p:txBody>
          <a:bodyPr wrap="square" lIns="0" tIns="0" rIns="0" bIns="0" rtlCol="0" anchor="t"/>
          <a:lstStyle/>
          <a:p>
            <a:pPr algn="l" indent="0" marL="0">
              <a:lnSpc>
                <a:spcPct val="128000"/>
              </a:lnSpc>
              <a:buNone/>
            </a:pPr>
            <a:r>
              <a:rPr lang="en-US" sz="1400" b="1" dirty="0">
                <a:solidFill>
                  <a:srgbClr val="387F7F"/>
                </a:solidFill>
                <a:latin typeface="Poppins" pitchFamily="34" charset="0"/>
                <a:ea typeface="Poppins" pitchFamily="34" charset="-122"/>
                <a:cs typeface="Poppins" pitchFamily="34" charset="-120"/>
              </a:rPr>
              <a:t>Set a hierarchy in the visual's axis field and Power BI provides the arrows to move between levels. The reader starts at the summary and goes deeper only where something looks wrong, which is exactly how an operations manager investigates.</a:t>
            </a:r>
            <a:endParaRPr lang="en-US" sz="1400" dirty="0"/>
          </a:p>
        </p:txBody>
      </p:sp>
      <p:sp>
        <p:nvSpPr>
          <p:cNvPr id="30" name="Shape 28"/>
          <p:cNvSpPr/>
          <p:nvPr/>
        </p:nvSpPr>
        <p:spPr>
          <a:xfrm>
            <a:off x="685800" y="5715000"/>
            <a:ext cx="9829800" cy="548640"/>
          </a:xfrm>
          <a:prstGeom prst="roundRect">
            <a:avLst>
              <a:gd name="adj" fmla="val 15000"/>
            </a:avLst>
          </a:prstGeom>
          <a:solidFill>
            <a:srgbClr val="FBF3E6"/>
          </a:solidFill>
          <a:ln/>
        </p:spPr>
      </p:sp>
      <p:sp>
        <p:nvSpPr>
          <p:cNvPr id="31" name="Shape 29"/>
          <p:cNvSpPr/>
          <p:nvPr/>
        </p:nvSpPr>
        <p:spPr>
          <a:xfrm>
            <a:off x="685800" y="5715000"/>
            <a:ext cx="68580" cy="548640"/>
          </a:xfrm>
          <a:prstGeom prst="rect">
            <a:avLst/>
          </a:prstGeom>
          <a:solidFill>
            <a:srgbClr val="C9821F"/>
          </a:solidFill>
          <a:ln/>
        </p:spPr>
      </p:sp>
      <p:sp>
        <p:nvSpPr>
          <p:cNvPr id="32" name="Text 30"/>
          <p:cNvSpPr txBox="1"/>
          <p:nvPr/>
        </p:nvSpPr>
        <p:spPr>
          <a:xfrm>
            <a:off x="1051560" y="5715000"/>
            <a:ext cx="9235440" cy="548640"/>
          </a:xfrm>
          <a:prstGeom prst="rect">
            <a:avLst/>
          </a:prstGeom>
          <a:noFill/>
          <a:ln/>
        </p:spPr>
        <p:txBody>
          <a:bodyPr wrap="square" lIns="0" tIns="0" rIns="0" bIns="0" rtlCol="0" anchor="ctr"/>
          <a:lstStyle/>
          <a:p>
            <a:pPr algn="l" indent="0" marL="0">
              <a:lnSpc>
                <a:spcPct val="135000"/>
              </a:lnSpc>
              <a:buNone/>
            </a:pPr>
            <a:r>
              <a:rPr lang="en-US" sz="1250" i="1" dirty="0">
                <a:solidFill>
                  <a:srgbClr val="8A5A12"/>
                </a:solidFill>
                <a:latin typeface="Poppins" pitchFamily="34" charset="0"/>
                <a:ea typeface="Poppins" pitchFamily="34" charset="-122"/>
                <a:cs typeface="Poppins" pitchFamily="34" charset="-120"/>
              </a:rPr>
              <a:t>The drill icons are small. Point at the top-right of the visual and say what each arrow does.</a:t>
            </a:r>
            <a:endParaRPr lang="en-US" sz="1250" dirty="0"/>
          </a:p>
        </p:txBody>
      </p:sp>
      <p:pic>
        <p:nvPicPr>
          <p:cNvPr id="33"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4" name="Text 31"/>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Six formatting rules, applied every time</a:t>
            </a:r>
            <a:endParaRPr lang="en-US" sz="2700" dirty="0"/>
          </a:p>
        </p:txBody>
      </p:sp>
      <p:sp>
        <p:nvSpPr>
          <p:cNvPr id="6" name="Shape 4"/>
          <p:cNvSpPr/>
          <p:nvPr/>
        </p:nvSpPr>
        <p:spPr>
          <a:xfrm>
            <a:off x="685800" y="1645920"/>
            <a:ext cx="4709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914400" y="1883664"/>
            <a:ext cx="548640" cy="548640"/>
          </a:xfrm>
          <a:prstGeom prst="ellipse">
            <a:avLst/>
          </a:prstGeom>
          <a:solidFill>
            <a:srgbClr val="387F7F"/>
          </a:solidFill>
          <a:ln/>
        </p:spPr>
      </p:sp>
      <p:sp>
        <p:nvSpPr>
          <p:cNvPr id="8" name="Text 6"/>
          <p:cNvSpPr txBox="1"/>
          <p:nvPr/>
        </p:nvSpPr>
        <p:spPr>
          <a:xfrm>
            <a:off x="914400" y="1883664"/>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1</a:t>
            </a:r>
            <a:endParaRPr lang="en-US" sz="2100" dirty="0"/>
          </a:p>
        </p:txBody>
      </p:sp>
      <p:sp>
        <p:nvSpPr>
          <p:cNvPr id="9" name="Text 7"/>
          <p:cNvSpPr txBox="1"/>
          <p:nvPr/>
        </p:nvSpPr>
        <p:spPr>
          <a:xfrm>
            <a:off x="1645920" y="1773936"/>
            <a:ext cx="3566160" cy="786384"/>
          </a:xfrm>
          <a:prstGeom prst="rect">
            <a:avLst/>
          </a:prstGeom>
          <a:noFill/>
          <a:ln/>
        </p:spPr>
        <p:txBody>
          <a:bodyPr wrap="square" lIns="0" tIns="0" rIns="0" bIns="0" rtlCol="0" anchor="t"/>
          <a:lstStyle/>
          <a:p>
            <a:pPr algn="l" indent="0" marL="0">
              <a:lnSpc>
                <a:spcPct val="122000"/>
              </a:lnSpc>
              <a:buNone/>
            </a:pPr>
            <a:r>
              <a:rPr lang="en-US" sz="1150" dirty="0">
                <a:solidFill>
                  <a:srgbClr val="475569"/>
                </a:solidFill>
                <a:latin typeface="Poppins" pitchFamily="34" charset="0"/>
                <a:ea typeface="Poppins" pitchFamily="34" charset="-122"/>
                <a:cs typeface="Poppins" pitchFamily="34" charset="-120"/>
              </a:rPr>
              <a:t>Every axis labelled with units. “Deliveries”, not a bare number. ₦ where money is shown.</a:t>
            </a:r>
            <a:endParaRPr lang="en-US" sz="1150" dirty="0"/>
          </a:p>
        </p:txBody>
      </p:sp>
      <p:sp>
        <p:nvSpPr>
          <p:cNvPr id="10" name="Shape 8"/>
          <p:cNvSpPr/>
          <p:nvPr/>
        </p:nvSpPr>
        <p:spPr>
          <a:xfrm>
            <a:off x="5806440" y="1645920"/>
            <a:ext cx="4709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6035040" y="1883664"/>
            <a:ext cx="548640" cy="548640"/>
          </a:xfrm>
          <a:prstGeom prst="ellipse">
            <a:avLst/>
          </a:prstGeom>
          <a:solidFill>
            <a:srgbClr val="387F7F"/>
          </a:solidFill>
          <a:ln/>
        </p:spPr>
      </p:sp>
      <p:sp>
        <p:nvSpPr>
          <p:cNvPr id="12" name="Text 10"/>
          <p:cNvSpPr txBox="1"/>
          <p:nvPr/>
        </p:nvSpPr>
        <p:spPr>
          <a:xfrm>
            <a:off x="6035040" y="1883664"/>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2</a:t>
            </a:r>
            <a:endParaRPr lang="en-US" sz="2100" dirty="0"/>
          </a:p>
        </p:txBody>
      </p:sp>
      <p:sp>
        <p:nvSpPr>
          <p:cNvPr id="13" name="Text 11"/>
          <p:cNvSpPr txBox="1"/>
          <p:nvPr/>
        </p:nvSpPr>
        <p:spPr>
          <a:xfrm>
            <a:off x="6766560" y="1773936"/>
            <a:ext cx="3566160" cy="786384"/>
          </a:xfrm>
          <a:prstGeom prst="rect">
            <a:avLst/>
          </a:prstGeom>
          <a:noFill/>
          <a:ln/>
        </p:spPr>
        <p:txBody>
          <a:bodyPr wrap="square" lIns="0" tIns="0" rIns="0" bIns="0" rtlCol="0" anchor="t"/>
          <a:lstStyle/>
          <a:p>
            <a:pPr algn="l" indent="0" marL="0">
              <a:lnSpc>
                <a:spcPct val="122000"/>
              </a:lnSpc>
              <a:buNone/>
            </a:pPr>
            <a:r>
              <a:rPr lang="en-US" sz="1150" dirty="0">
                <a:solidFill>
                  <a:srgbClr val="475569"/>
                </a:solidFill>
                <a:latin typeface="Poppins" pitchFamily="34" charset="0"/>
                <a:ea typeface="Poppins" pitchFamily="34" charset="-122"/>
                <a:cs typeface="Poppins" pitchFamily="34" charset="-120"/>
              </a:rPr>
              <a:t>Sort deliberately. Ranked bars descending or ascending, never alphabetical by accident.</a:t>
            </a:r>
            <a:endParaRPr lang="en-US" sz="1150" dirty="0"/>
          </a:p>
        </p:txBody>
      </p:sp>
      <p:sp>
        <p:nvSpPr>
          <p:cNvPr id="14" name="Shape 12"/>
          <p:cNvSpPr/>
          <p:nvPr/>
        </p:nvSpPr>
        <p:spPr>
          <a:xfrm>
            <a:off x="685800" y="2852928"/>
            <a:ext cx="4709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15" name="Shape 13"/>
          <p:cNvSpPr/>
          <p:nvPr/>
        </p:nvSpPr>
        <p:spPr>
          <a:xfrm>
            <a:off x="914400" y="3090672"/>
            <a:ext cx="548640" cy="548640"/>
          </a:xfrm>
          <a:prstGeom prst="ellipse">
            <a:avLst/>
          </a:prstGeom>
          <a:solidFill>
            <a:srgbClr val="387F7F"/>
          </a:solidFill>
          <a:ln/>
        </p:spPr>
      </p:sp>
      <p:sp>
        <p:nvSpPr>
          <p:cNvPr id="16" name="Text 14"/>
          <p:cNvSpPr txBox="1"/>
          <p:nvPr/>
        </p:nvSpPr>
        <p:spPr>
          <a:xfrm>
            <a:off x="914400" y="3090672"/>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3</a:t>
            </a:r>
            <a:endParaRPr lang="en-US" sz="2100" dirty="0"/>
          </a:p>
        </p:txBody>
      </p:sp>
      <p:sp>
        <p:nvSpPr>
          <p:cNvPr id="17" name="Text 15"/>
          <p:cNvSpPr txBox="1"/>
          <p:nvPr/>
        </p:nvSpPr>
        <p:spPr>
          <a:xfrm>
            <a:off x="1645920" y="2980944"/>
            <a:ext cx="3566160" cy="786384"/>
          </a:xfrm>
          <a:prstGeom prst="rect">
            <a:avLst/>
          </a:prstGeom>
          <a:noFill/>
          <a:ln/>
        </p:spPr>
        <p:txBody>
          <a:bodyPr wrap="square" lIns="0" tIns="0" rIns="0" bIns="0" rtlCol="0" anchor="t"/>
          <a:lstStyle/>
          <a:p>
            <a:pPr algn="l" indent="0" marL="0">
              <a:lnSpc>
                <a:spcPct val="122000"/>
              </a:lnSpc>
              <a:buNone/>
            </a:pPr>
            <a:r>
              <a:rPr lang="en-US" sz="1150" dirty="0">
                <a:solidFill>
                  <a:srgbClr val="475569"/>
                </a:solidFill>
                <a:latin typeface="Poppins" pitchFamily="34" charset="0"/>
                <a:ea typeface="Poppins" pitchFamily="34" charset="-122"/>
                <a:cs typeface="Poppins" pitchFamily="34" charset="-120"/>
              </a:rPr>
              <a:t>One accent colour, used to mean one thing. Colour is a signal, not decoration.</a:t>
            </a:r>
            <a:endParaRPr lang="en-US" sz="1150" dirty="0"/>
          </a:p>
        </p:txBody>
      </p:sp>
      <p:sp>
        <p:nvSpPr>
          <p:cNvPr id="18" name="Shape 16"/>
          <p:cNvSpPr/>
          <p:nvPr/>
        </p:nvSpPr>
        <p:spPr>
          <a:xfrm>
            <a:off x="5806440" y="2852928"/>
            <a:ext cx="4709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6035040" y="3090672"/>
            <a:ext cx="548640" cy="548640"/>
          </a:xfrm>
          <a:prstGeom prst="ellipse">
            <a:avLst/>
          </a:prstGeom>
          <a:solidFill>
            <a:srgbClr val="387F7F"/>
          </a:solidFill>
          <a:ln/>
        </p:spPr>
      </p:sp>
      <p:sp>
        <p:nvSpPr>
          <p:cNvPr id="20" name="Text 18"/>
          <p:cNvSpPr txBox="1"/>
          <p:nvPr/>
        </p:nvSpPr>
        <p:spPr>
          <a:xfrm>
            <a:off x="6035040" y="3090672"/>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4</a:t>
            </a:r>
            <a:endParaRPr lang="en-US" sz="2100" dirty="0"/>
          </a:p>
        </p:txBody>
      </p:sp>
      <p:sp>
        <p:nvSpPr>
          <p:cNvPr id="21" name="Text 19"/>
          <p:cNvSpPr txBox="1"/>
          <p:nvPr/>
        </p:nvSpPr>
        <p:spPr>
          <a:xfrm>
            <a:off x="6766560" y="2980944"/>
            <a:ext cx="3566160" cy="786384"/>
          </a:xfrm>
          <a:prstGeom prst="rect">
            <a:avLst/>
          </a:prstGeom>
          <a:noFill/>
          <a:ln/>
        </p:spPr>
        <p:txBody>
          <a:bodyPr wrap="square" lIns="0" tIns="0" rIns="0" bIns="0" rtlCol="0" anchor="t"/>
          <a:lstStyle/>
          <a:p>
            <a:pPr algn="l" indent="0" marL="0">
              <a:lnSpc>
                <a:spcPct val="122000"/>
              </a:lnSpc>
              <a:buNone/>
            </a:pPr>
            <a:r>
              <a:rPr lang="en-US" sz="1150" dirty="0">
                <a:solidFill>
                  <a:srgbClr val="475569"/>
                </a:solidFill>
                <a:latin typeface="Poppins" pitchFamily="34" charset="0"/>
                <a:ea typeface="Poppins" pitchFamily="34" charset="-122"/>
                <a:cs typeface="Poppins" pitchFamily="34" charset="-120"/>
              </a:rPr>
              <a:t>Data labels on cards and short bar charts. Not on dense charts, where they become noise.</a:t>
            </a:r>
            <a:endParaRPr lang="en-US" sz="1150" dirty="0"/>
          </a:p>
        </p:txBody>
      </p:sp>
      <p:sp>
        <p:nvSpPr>
          <p:cNvPr id="22" name="Shape 20"/>
          <p:cNvSpPr/>
          <p:nvPr/>
        </p:nvSpPr>
        <p:spPr>
          <a:xfrm>
            <a:off x="685800" y="4059936"/>
            <a:ext cx="4709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23" name="Shape 21"/>
          <p:cNvSpPr/>
          <p:nvPr/>
        </p:nvSpPr>
        <p:spPr>
          <a:xfrm>
            <a:off x="914400" y="4297680"/>
            <a:ext cx="548640" cy="548640"/>
          </a:xfrm>
          <a:prstGeom prst="ellipse">
            <a:avLst/>
          </a:prstGeom>
          <a:solidFill>
            <a:srgbClr val="387F7F"/>
          </a:solidFill>
          <a:ln/>
        </p:spPr>
      </p:sp>
      <p:sp>
        <p:nvSpPr>
          <p:cNvPr id="24" name="Text 22"/>
          <p:cNvSpPr txBox="1"/>
          <p:nvPr/>
        </p:nvSpPr>
        <p:spPr>
          <a:xfrm>
            <a:off x="914400" y="4297680"/>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5</a:t>
            </a:r>
            <a:endParaRPr lang="en-US" sz="2100" dirty="0"/>
          </a:p>
        </p:txBody>
      </p:sp>
      <p:sp>
        <p:nvSpPr>
          <p:cNvPr id="25" name="Text 23"/>
          <p:cNvSpPr txBox="1"/>
          <p:nvPr/>
        </p:nvSpPr>
        <p:spPr>
          <a:xfrm>
            <a:off x="1645920" y="4187952"/>
            <a:ext cx="3566160" cy="786384"/>
          </a:xfrm>
          <a:prstGeom prst="rect">
            <a:avLst/>
          </a:prstGeom>
          <a:noFill/>
          <a:ln/>
        </p:spPr>
        <p:txBody>
          <a:bodyPr wrap="square" lIns="0" tIns="0" rIns="0" bIns="0" rtlCol="0" anchor="t"/>
          <a:lstStyle/>
          <a:p>
            <a:pPr algn="l" indent="0" marL="0">
              <a:lnSpc>
                <a:spcPct val="122000"/>
              </a:lnSpc>
              <a:buNone/>
            </a:pPr>
            <a:r>
              <a:rPr lang="en-US" sz="1150" dirty="0">
                <a:solidFill>
                  <a:srgbClr val="475569"/>
                </a:solidFill>
                <a:latin typeface="Poppins" pitchFamily="34" charset="0"/>
                <a:ea typeface="Poppins" pitchFamily="34" charset="-122"/>
                <a:cs typeface="Poppins" pitchFamily="34" charset="-120"/>
              </a:rPr>
              <a:t>Titles state the finding. “Three routes fall below 70 percent”, not “On-time rate by route”.</a:t>
            </a:r>
            <a:endParaRPr lang="en-US" sz="1150" dirty="0"/>
          </a:p>
        </p:txBody>
      </p:sp>
      <p:sp>
        <p:nvSpPr>
          <p:cNvPr id="26" name="Shape 24"/>
          <p:cNvSpPr/>
          <p:nvPr/>
        </p:nvSpPr>
        <p:spPr>
          <a:xfrm>
            <a:off x="5806440" y="4059936"/>
            <a:ext cx="4709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27" name="Shape 25"/>
          <p:cNvSpPr/>
          <p:nvPr/>
        </p:nvSpPr>
        <p:spPr>
          <a:xfrm>
            <a:off x="6035040" y="4297680"/>
            <a:ext cx="548640" cy="548640"/>
          </a:xfrm>
          <a:prstGeom prst="ellipse">
            <a:avLst/>
          </a:prstGeom>
          <a:solidFill>
            <a:srgbClr val="387F7F"/>
          </a:solidFill>
          <a:ln/>
        </p:spPr>
      </p:sp>
      <p:sp>
        <p:nvSpPr>
          <p:cNvPr id="28" name="Text 26"/>
          <p:cNvSpPr txBox="1"/>
          <p:nvPr/>
        </p:nvSpPr>
        <p:spPr>
          <a:xfrm>
            <a:off x="6035040" y="4297680"/>
            <a:ext cx="548640" cy="54864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6</a:t>
            </a:r>
            <a:endParaRPr lang="en-US" sz="2100" dirty="0"/>
          </a:p>
        </p:txBody>
      </p:sp>
      <p:sp>
        <p:nvSpPr>
          <p:cNvPr id="29" name="Text 27"/>
          <p:cNvSpPr txBox="1"/>
          <p:nvPr/>
        </p:nvSpPr>
        <p:spPr>
          <a:xfrm>
            <a:off x="6766560" y="4187952"/>
            <a:ext cx="3566160" cy="786384"/>
          </a:xfrm>
          <a:prstGeom prst="rect">
            <a:avLst/>
          </a:prstGeom>
          <a:noFill/>
          <a:ln/>
        </p:spPr>
        <p:txBody>
          <a:bodyPr wrap="square" lIns="0" tIns="0" rIns="0" bIns="0" rtlCol="0" anchor="t"/>
          <a:lstStyle/>
          <a:p>
            <a:pPr algn="l" indent="0" marL="0">
              <a:lnSpc>
                <a:spcPct val="122000"/>
              </a:lnSpc>
              <a:buNone/>
            </a:pPr>
            <a:r>
              <a:rPr lang="en-US" sz="1150" dirty="0">
                <a:solidFill>
                  <a:srgbClr val="475569"/>
                </a:solidFill>
                <a:latin typeface="Poppins" pitchFamily="34" charset="0"/>
                <a:ea typeface="Poppins" pitchFamily="34" charset="-122"/>
                <a:cs typeface="Poppins" pitchFamily="34" charset="-120"/>
              </a:rPr>
              <a:t>Round honestly. 82.0 percent, not 82.04137, and never round in a direction that flatters.</a:t>
            </a:r>
            <a:endParaRPr lang="en-US" sz="1150" dirty="0"/>
          </a:p>
        </p:txBody>
      </p:sp>
      <p:pic>
        <p:nvPicPr>
          <p:cNvPr id="30"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1" name="Text 28"/>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970" cy="6858000"/>
          </a:xfrm>
          <a:prstGeom prst="rect">
            <a:avLst/>
          </a:prstGeom>
          <a:solidFill>
            <a:srgbClr val="20494A"/>
          </a:solidFill>
          <a:ln/>
        </p:spPr>
      </p:sp>
      <p:sp>
        <p:nvSpPr>
          <p:cNvPr id="3" name="Shape 1"/>
          <p:cNvSpPr/>
          <p:nvPr/>
        </p:nvSpPr>
        <p:spPr>
          <a:xfrm>
            <a:off x="7680960" y="-2926080"/>
            <a:ext cx="8595360" cy="8595360"/>
          </a:xfrm>
          <a:prstGeom prst="ellipse">
            <a:avLst/>
          </a:prstGeom>
          <a:solidFill>
            <a:srgbClr val="1B4041"/>
          </a:solidFill>
          <a:ln/>
        </p:spPr>
      </p:sp>
      <p:sp>
        <p:nvSpPr>
          <p:cNvPr id="4" name="Shape 2"/>
          <p:cNvSpPr/>
          <p:nvPr/>
        </p:nvSpPr>
        <p:spPr>
          <a:xfrm>
            <a:off x="9326880" y="2834640"/>
            <a:ext cx="5669280" cy="5669280"/>
          </a:xfrm>
          <a:prstGeom prst="ellipse">
            <a:avLst/>
          </a:prstGeom>
          <a:solidFill>
            <a:srgbClr val="387F7F"/>
          </a:solidFill>
          <a:ln/>
        </p:spPr>
      </p:sp>
      <p:sp>
        <p:nvSpPr>
          <p:cNvPr id="5" name="Text 3"/>
          <p:cNvSpPr txBox="1"/>
          <p:nvPr/>
        </p:nvSpPr>
        <p:spPr>
          <a:xfrm>
            <a:off x="566928" y="320040"/>
            <a:ext cx="2926080" cy="1920240"/>
          </a:xfrm>
          <a:prstGeom prst="rect">
            <a:avLst/>
          </a:prstGeom>
          <a:noFill/>
          <a:ln/>
        </p:spPr>
        <p:txBody>
          <a:bodyPr wrap="square" lIns="0" tIns="0" rIns="0" bIns="0" rtlCol="0" anchor="ctr"/>
          <a:lstStyle/>
          <a:p>
            <a:pPr indent="0" marL="0">
              <a:buNone/>
            </a:pPr>
            <a:r>
              <a:rPr lang="en-US" sz="13000" b="1" dirty="0">
                <a:solidFill>
                  <a:srgbClr val="2F6364"/>
                </a:solidFill>
                <a:latin typeface="Poppins" pitchFamily="34" charset="0"/>
                <a:ea typeface="Poppins" pitchFamily="34" charset="-122"/>
                <a:cs typeface="Poppins" pitchFamily="34" charset="-120"/>
              </a:rPr>
              <a:t>02</a:t>
            </a:r>
            <a:endParaRPr lang="en-US" sz="13000" dirty="0"/>
          </a:p>
        </p:txBody>
      </p:sp>
      <p:sp>
        <p:nvSpPr>
          <p:cNvPr id="6" name="Text 4"/>
          <p:cNvSpPr txBox="1"/>
          <p:nvPr/>
        </p:nvSpPr>
        <p:spPr>
          <a:xfrm>
            <a:off x="713232" y="2487168"/>
            <a:ext cx="6766560" cy="310896"/>
          </a:xfrm>
          <a:prstGeom prst="rect">
            <a:avLst/>
          </a:prstGeom>
          <a:noFill/>
          <a:ln/>
        </p:spPr>
        <p:txBody>
          <a:bodyPr wrap="square" lIns="0" tIns="0" rIns="0" bIns="0" rtlCol="0" anchor="ctr"/>
          <a:lstStyle/>
          <a:p>
            <a:pPr indent="0" marL="0">
              <a:buNone/>
            </a:pPr>
            <a:r>
              <a:rPr lang="en-US" sz="1300" b="1" spc="250" kern="0" dirty="0">
                <a:solidFill>
                  <a:srgbClr val="8FBEBE"/>
                </a:solidFill>
                <a:latin typeface="Poppins" pitchFamily="34" charset="0"/>
                <a:ea typeface="Poppins" pitchFamily="34" charset="-122"/>
                <a:cs typeface="Poppins" pitchFamily="34" charset="-120"/>
              </a:rPr>
              <a:t>PART TWO</a:t>
            </a:r>
            <a:endParaRPr lang="en-US" sz="1300" dirty="0"/>
          </a:p>
        </p:txBody>
      </p:sp>
      <p:sp>
        <p:nvSpPr>
          <p:cNvPr id="7" name="Shape 5"/>
          <p:cNvSpPr/>
          <p:nvPr/>
        </p:nvSpPr>
        <p:spPr>
          <a:xfrm>
            <a:off x="713232" y="2907792"/>
            <a:ext cx="1234440" cy="77724"/>
          </a:xfrm>
          <a:prstGeom prst="rect">
            <a:avLst/>
          </a:prstGeom>
          <a:solidFill>
            <a:srgbClr val="387F7F"/>
          </a:solidFill>
          <a:ln/>
        </p:spPr>
      </p:sp>
      <p:sp>
        <p:nvSpPr>
          <p:cNvPr id="8" name="Text 6"/>
          <p:cNvSpPr txBox="1"/>
          <p:nvPr/>
        </p:nvSpPr>
        <p:spPr>
          <a:xfrm>
            <a:off x="713232" y="3154680"/>
            <a:ext cx="7406640" cy="146304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Poppins" pitchFamily="34" charset="0"/>
                <a:ea typeface="Poppins" pitchFamily="34" charset="-122"/>
                <a:cs typeface="Poppins" pitchFamily="34" charset="-120"/>
              </a:rPr>
              <a:t>Publishing</a:t>
            </a:r>
            <a:endParaRPr lang="en-US" sz="3600" dirty="0"/>
          </a:p>
        </p:txBody>
      </p:sp>
      <p:sp>
        <p:nvSpPr>
          <p:cNvPr id="9" name="Shape 7"/>
          <p:cNvSpPr/>
          <p:nvPr/>
        </p:nvSpPr>
        <p:spPr>
          <a:xfrm>
            <a:off x="749808" y="4933188"/>
            <a:ext cx="146304" cy="146304"/>
          </a:xfrm>
          <a:prstGeom prst="ellipse">
            <a:avLst/>
          </a:prstGeom>
          <a:solidFill>
            <a:srgbClr val="387F7F"/>
          </a:solidFill>
          <a:ln/>
        </p:spPr>
      </p:sp>
      <p:sp>
        <p:nvSpPr>
          <p:cNvPr id="10" name="Text 8"/>
          <p:cNvSpPr txBox="1"/>
          <p:nvPr/>
        </p:nvSpPr>
        <p:spPr>
          <a:xfrm>
            <a:off x="1097280" y="4855464"/>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From your machine to her browser</a:t>
            </a:r>
            <a:endParaRPr lang="en-US" sz="1350" dirty="0"/>
          </a:p>
        </p:txBody>
      </p:sp>
      <p:sp>
        <p:nvSpPr>
          <p:cNvPr id="11" name="Shape 9"/>
          <p:cNvSpPr/>
          <p:nvPr/>
        </p:nvSpPr>
        <p:spPr>
          <a:xfrm>
            <a:off x="749808" y="5317236"/>
            <a:ext cx="146304" cy="146304"/>
          </a:xfrm>
          <a:prstGeom prst="ellipse">
            <a:avLst/>
          </a:prstGeom>
          <a:solidFill>
            <a:srgbClr val="387F7F"/>
          </a:solidFill>
          <a:ln/>
        </p:spPr>
      </p:sp>
      <p:sp>
        <p:nvSpPr>
          <p:cNvPr id="12" name="Text 10"/>
          <p:cNvSpPr txBox="1"/>
          <p:nvPr/>
        </p:nvSpPr>
        <p:spPr>
          <a:xfrm>
            <a:off x="1097280" y="5239512"/>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The refresh stamp that costs one card visual</a:t>
            </a:r>
            <a:endParaRPr lang="en-US" sz="1350" dirty="0"/>
          </a:p>
        </p:txBody>
      </p:sp>
      <p:sp>
        <p:nvSpPr>
          <p:cNvPr id="13" name="Shape 11"/>
          <p:cNvSpPr/>
          <p:nvPr/>
        </p:nvSpPr>
        <p:spPr>
          <a:xfrm>
            <a:off x="749808" y="5701284"/>
            <a:ext cx="146304" cy="146304"/>
          </a:xfrm>
          <a:prstGeom prst="ellipse">
            <a:avLst/>
          </a:prstGeom>
          <a:solidFill>
            <a:srgbClr val="387F7F"/>
          </a:solidFill>
          <a:ln/>
        </p:spPr>
      </p:sp>
      <p:sp>
        <p:nvSpPr>
          <p:cNvPr id="14" name="Text 12"/>
          <p:cNvSpPr txBox="1"/>
          <p:nvPr/>
        </p:nvSpPr>
        <p:spPr>
          <a:xfrm>
            <a:off x="1097280" y="5623560"/>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What to do without a Pro licence</a:t>
            </a:r>
            <a:endParaRPr lang="en-US" sz="1350" dirty="0"/>
          </a:p>
        </p:txBody>
      </p:sp>
      <p:sp>
        <p:nvSpPr>
          <p:cNvPr id="15" name="Text 1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7FA3A3"/>
                </a:solidFill>
                <a:latin typeface="Poppins" pitchFamily="34" charset="0"/>
                <a:ea typeface="Poppins" pitchFamily="34" charset="-122"/>
                <a:cs typeface="Poppin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From your machine to her browser, or to a file you hand her</a:t>
            </a:r>
            <a:endParaRPr lang="en-US" sz="2400" dirty="0"/>
          </a:p>
        </p:txBody>
      </p:sp>
      <p:sp>
        <p:nvSpPr>
          <p:cNvPr id="6" name="Shape 4"/>
          <p:cNvSpPr/>
          <p:nvPr/>
        </p:nvSpPr>
        <p:spPr>
          <a:xfrm>
            <a:off x="685800" y="1691640"/>
            <a:ext cx="3246120" cy="1371600"/>
          </a:xfrm>
          <a:prstGeom prst="roundRect">
            <a:avLst>
              <a:gd name="adj" fmla="val 6667"/>
            </a:avLst>
          </a:prstGeom>
          <a:solidFill>
            <a:srgbClr val="FFFFFF"/>
          </a:solidFill>
          <a:ln/>
          <a:effectLst>
            <a:outerShdw sx="100000" sy="100000" kx="0" ky="0" algn="bl" rotWithShape="0" blurRad="152400" dist="38100" dir="5400000">
              <a:srgbClr val="1B2A2E">
                <a:alpha val="14000"/>
              </a:srgbClr>
            </a:outerShdw>
          </a:effectLst>
        </p:spPr>
      </p:sp>
      <p:sp>
        <p:nvSpPr>
          <p:cNvPr id="7" name="Text 5"/>
          <p:cNvSpPr txBox="1"/>
          <p:nvPr/>
        </p:nvSpPr>
        <p:spPr>
          <a:xfrm>
            <a:off x="685800" y="1920240"/>
            <a:ext cx="3246120" cy="365760"/>
          </a:xfrm>
          <a:prstGeom prst="rect">
            <a:avLst/>
          </a:prstGeom>
          <a:noFill/>
          <a:ln/>
        </p:spPr>
        <p:txBody>
          <a:bodyPr wrap="square" lIns="0" tIns="0" rIns="0" bIns="0" rtlCol="0" anchor="ctr"/>
          <a:lstStyle/>
          <a:p>
            <a:pPr algn="ctr" indent="0" marL="0">
              <a:buNone/>
            </a:pPr>
            <a:r>
              <a:rPr lang="en-US" sz="1400" b="1" dirty="0">
                <a:solidFill>
                  <a:srgbClr val="0A1A23"/>
                </a:solidFill>
                <a:latin typeface="Poppins" pitchFamily="34" charset="0"/>
                <a:ea typeface="Poppins" pitchFamily="34" charset="-122"/>
                <a:cs typeface="Poppins" pitchFamily="34" charset="-120"/>
              </a:rPr>
              <a:t>Power BI Desktop</a:t>
            </a:r>
            <a:endParaRPr lang="en-US" sz="1400" dirty="0"/>
          </a:p>
        </p:txBody>
      </p:sp>
      <p:sp>
        <p:nvSpPr>
          <p:cNvPr id="8" name="Text 6"/>
          <p:cNvSpPr txBox="1"/>
          <p:nvPr/>
        </p:nvSpPr>
        <p:spPr>
          <a:xfrm>
            <a:off x="868680" y="2377440"/>
            <a:ext cx="2880360" cy="548640"/>
          </a:xfrm>
          <a:prstGeom prst="rect">
            <a:avLst/>
          </a:prstGeom>
          <a:noFill/>
          <a:ln/>
        </p:spPr>
        <p:txBody>
          <a:bodyPr wrap="square" lIns="0" tIns="0" rIns="0" bIns="0" rtlCol="0" anchor="ctr"/>
          <a:lstStyle/>
          <a:p>
            <a:pPr algn="ctr" indent="0" marL="0">
              <a:lnSpc>
                <a:spcPct val="120000"/>
              </a:lnSpc>
              <a:buNone/>
            </a:pPr>
            <a:r>
              <a:rPr lang="en-US" sz="1050" dirty="0">
                <a:solidFill>
                  <a:srgbClr val="64748B"/>
                </a:solidFill>
                <a:latin typeface="Poppins" pitchFamily="34" charset="0"/>
                <a:ea typeface="Poppins" pitchFamily="34" charset="-122"/>
                <a:cs typeface="Poppins" pitchFamily="34" charset="-120"/>
              </a:rPr>
              <a:t>Your file, on your laptop</a:t>
            </a:r>
            <a:endParaRPr lang="en-US" sz="1050" dirty="0"/>
          </a:p>
        </p:txBody>
      </p:sp>
      <p:sp>
        <p:nvSpPr>
          <p:cNvPr id="9" name="Text 7"/>
          <p:cNvSpPr txBox="1"/>
          <p:nvPr/>
        </p:nvSpPr>
        <p:spPr>
          <a:xfrm>
            <a:off x="3950208" y="2240280"/>
            <a:ext cx="292608" cy="292608"/>
          </a:xfrm>
          <a:prstGeom prst="rect">
            <a:avLst/>
          </a:prstGeom>
          <a:noFill/>
          <a:ln/>
        </p:spPr>
        <p:txBody>
          <a:bodyPr wrap="square" lIns="0" tIns="0" rIns="0" bIns="0" rtlCol="0" anchor="ctr"/>
          <a:lstStyle/>
          <a:p>
            <a:pPr algn="ctr" indent="0" marL="0">
              <a:buNone/>
            </a:pPr>
            <a:r>
              <a:rPr lang="en-US" sz="1472" b="1" dirty="0">
                <a:solidFill>
                  <a:srgbClr val="387F7F"/>
                </a:solidFill>
                <a:latin typeface="Poppins" pitchFamily="34" charset="0"/>
                <a:ea typeface="Poppins" pitchFamily="34" charset="-122"/>
                <a:cs typeface="Poppins" pitchFamily="34" charset="-120"/>
              </a:rPr>
              <a:t>›</a:t>
            </a:r>
            <a:endParaRPr lang="en-US" sz="1472" dirty="0"/>
          </a:p>
        </p:txBody>
      </p:sp>
      <p:sp>
        <p:nvSpPr>
          <p:cNvPr id="10" name="Shape 8"/>
          <p:cNvSpPr/>
          <p:nvPr/>
        </p:nvSpPr>
        <p:spPr>
          <a:xfrm>
            <a:off x="4206240" y="1691640"/>
            <a:ext cx="3246120" cy="1371600"/>
          </a:xfrm>
          <a:prstGeom prst="roundRect">
            <a:avLst>
              <a:gd name="adj" fmla="val 6667"/>
            </a:avLst>
          </a:prstGeom>
          <a:solidFill>
            <a:srgbClr val="FFFFFF"/>
          </a:solidFill>
          <a:ln/>
          <a:effectLst>
            <a:outerShdw sx="100000" sy="100000" kx="0" ky="0" algn="bl" rotWithShape="0" blurRad="152400" dist="38100" dir="5400000">
              <a:srgbClr val="1B2A2E">
                <a:alpha val="14000"/>
              </a:srgbClr>
            </a:outerShdw>
          </a:effectLst>
        </p:spPr>
      </p:sp>
      <p:sp>
        <p:nvSpPr>
          <p:cNvPr id="11" name="Text 9"/>
          <p:cNvSpPr txBox="1"/>
          <p:nvPr/>
        </p:nvSpPr>
        <p:spPr>
          <a:xfrm>
            <a:off x="4206240" y="1920240"/>
            <a:ext cx="3246120" cy="365760"/>
          </a:xfrm>
          <a:prstGeom prst="rect">
            <a:avLst/>
          </a:prstGeom>
          <a:noFill/>
          <a:ln/>
        </p:spPr>
        <p:txBody>
          <a:bodyPr wrap="square" lIns="0" tIns="0" rIns="0" bIns="0" rtlCol="0" anchor="ctr"/>
          <a:lstStyle/>
          <a:p>
            <a:pPr algn="ctr" indent="0" marL="0">
              <a:buNone/>
            </a:pPr>
            <a:r>
              <a:rPr lang="en-US" sz="1400" b="1" dirty="0">
                <a:solidFill>
                  <a:srgbClr val="0A1A23"/>
                </a:solidFill>
                <a:latin typeface="Poppins" pitchFamily="34" charset="0"/>
                <a:ea typeface="Poppins" pitchFamily="34" charset="-122"/>
                <a:cs typeface="Poppins" pitchFamily="34" charset="-120"/>
              </a:rPr>
              <a:t>Publish</a:t>
            </a:r>
            <a:endParaRPr lang="en-US" sz="1400" dirty="0"/>
          </a:p>
        </p:txBody>
      </p:sp>
      <p:sp>
        <p:nvSpPr>
          <p:cNvPr id="12" name="Text 10"/>
          <p:cNvSpPr txBox="1"/>
          <p:nvPr/>
        </p:nvSpPr>
        <p:spPr>
          <a:xfrm>
            <a:off x="4389120" y="2377440"/>
            <a:ext cx="2880360" cy="548640"/>
          </a:xfrm>
          <a:prstGeom prst="rect">
            <a:avLst/>
          </a:prstGeom>
          <a:noFill/>
          <a:ln/>
        </p:spPr>
        <p:txBody>
          <a:bodyPr wrap="square" lIns="0" tIns="0" rIns="0" bIns="0" rtlCol="0" anchor="ctr"/>
          <a:lstStyle/>
          <a:p>
            <a:pPr algn="ctr" indent="0" marL="0">
              <a:lnSpc>
                <a:spcPct val="120000"/>
              </a:lnSpc>
              <a:buNone/>
            </a:pPr>
            <a:r>
              <a:rPr lang="en-US" sz="1050" dirty="0">
                <a:solidFill>
                  <a:srgbClr val="64748B"/>
                </a:solidFill>
                <a:latin typeface="Poppins" pitchFamily="34" charset="0"/>
                <a:ea typeface="Poppins" pitchFamily="34" charset="-122"/>
                <a:cs typeface="Poppins" pitchFamily="34" charset="-120"/>
              </a:rPr>
              <a:t>One click, one workspace</a:t>
            </a:r>
            <a:endParaRPr lang="en-US" sz="1050" dirty="0"/>
          </a:p>
        </p:txBody>
      </p:sp>
      <p:sp>
        <p:nvSpPr>
          <p:cNvPr id="13" name="Text 11"/>
          <p:cNvSpPr txBox="1"/>
          <p:nvPr/>
        </p:nvSpPr>
        <p:spPr>
          <a:xfrm>
            <a:off x="7470648" y="2240280"/>
            <a:ext cx="292608" cy="292608"/>
          </a:xfrm>
          <a:prstGeom prst="rect">
            <a:avLst/>
          </a:prstGeom>
          <a:noFill/>
          <a:ln/>
        </p:spPr>
        <p:txBody>
          <a:bodyPr wrap="square" lIns="0" tIns="0" rIns="0" bIns="0" rtlCol="0" anchor="ctr"/>
          <a:lstStyle/>
          <a:p>
            <a:pPr algn="ctr" indent="0" marL="0">
              <a:buNone/>
            </a:pPr>
            <a:r>
              <a:rPr lang="en-US" sz="1472" b="1" dirty="0">
                <a:solidFill>
                  <a:srgbClr val="387F7F"/>
                </a:solidFill>
                <a:latin typeface="Poppins" pitchFamily="34" charset="0"/>
                <a:ea typeface="Poppins" pitchFamily="34" charset="-122"/>
                <a:cs typeface="Poppins" pitchFamily="34" charset="-120"/>
              </a:rPr>
              <a:t>›</a:t>
            </a:r>
            <a:endParaRPr lang="en-US" sz="1472" dirty="0"/>
          </a:p>
        </p:txBody>
      </p:sp>
      <p:sp>
        <p:nvSpPr>
          <p:cNvPr id="14" name="Shape 12"/>
          <p:cNvSpPr/>
          <p:nvPr/>
        </p:nvSpPr>
        <p:spPr>
          <a:xfrm>
            <a:off x="7726680" y="1691640"/>
            <a:ext cx="3246120" cy="1371600"/>
          </a:xfrm>
          <a:prstGeom prst="roundRect">
            <a:avLst>
              <a:gd name="adj" fmla="val 6667"/>
            </a:avLst>
          </a:prstGeom>
          <a:solidFill>
            <a:srgbClr val="387F7F"/>
          </a:solidFill>
          <a:ln/>
          <a:effectLst>
            <a:outerShdw sx="100000" sy="100000" kx="0" ky="0" algn="bl" rotWithShape="0" blurRad="152400" dist="38100" dir="5400000">
              <a:srgbClr val="1B2A2E">
                <a:alpha val="20000"/>
              </a:srgbClr>
            </a:outerShdw>
          </a:effectLst>
        </p:spPr>
      </p:sp>
      <p:sp>
        <p:nvSpPr>
          <p:cNvPr id="15" name="Text 13"/>
          <p:cNvSpPr txBox="1"/>
          <p:nvPr/>
        </p:nvSpPr>
        <p:spPr>
          <a:xfrm>
            <a:off x="7726680" y="1920240"/>
            <a:ext cx="32461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My workspace</a:t>
            </a:r>
            <a:endParaRPr lang="en-US" sz="1400" dirty="0"/>
          </a:p>
        </p:txBody>
      </p:sp>
      <p:sp>
        <p:nvSpPr>
          <p:cNvPr id="16" name="Text 14"/>
          <p:cNvSpPr txBox="1"/>
          <p:nvPr/>
        </p:nvSpPr>
        <p:spPr>
          <a:xfrm>
            <a:off x="7909560" y="2377440"/>
            <a:ext cx="2880360" cy="548640"/>
          </a:xfrm>
          <a:prstGeom prst="rect">
            <a:avLst/>
          </a:prstGeom>
          <a:noFill/>
          <a:ln/>
        </p:spPr>
        <p:txBody>
          <a:bodyPr wrap="square" lIns="0" tIns="0" rIns="0" bIns="0" rtlCol="0" anchor="ctr"/>
          <a:lstStyle/>
          <a:p>
            <a:pPr algn="ctr" indent="0" marL="0">
              <a:lnSpc>
                <a:spcPct val="120000"/>
              </a:lnSpc>
              <a:buNone/>
            </a:pPr>
            <a:r>
              <a:rPr lang="en-US" sz="1050" dirty="0">
                <a:solidFill>
                  <a:srgbClr val="C3DAD9"/>
                </a:solidFill>
                <a:latin typeface="Poppins" pitchFamily="34" charset="0"/>
                <a:ea typeface="Poppins" pitchFamily="34" charset="-122"/>
                <a:cs typeface="Poppins" pitchFamily="34" charset="-120"/>
              </a:rPr>
              <a:t>Yours to open. Sharing needs Pro.</a:t>
            </a:r>
            <a:endParaRPr lang="en-US" sz="1050" dirty="0"/>
          </a:p>
        </p:txBody>
      </p:sp>
      <p:sp>
        <p:nvSpPr>
          <p:cNvPr id="17" name="Text 15"/>
          <p:cNvSpPr txBox="1"/>
          <p:nvPr/>
        </p:nvSpPr>
        <p:spPr>
          <a:xfrm>
            <a:off x="685800" y="3383280"/>
            <a:ext cx="9829800" cy="1005840"/>
          </a:xfrm>
          <a:prstGeom prst="rect">
            <a:avLst/>
          </a:prstGeom>
          <a:noFill/>
          <a:ln/>
        </p:spPr>
        <p:txBody>
          <a:bodyPr wrap="square" lIns="0" tIns="0" rIns="0" bIns="0" rtlCol="0" anchor="t"/>
          <a:lstStyle/>
          <a:p>
            <a:pPr algn="l" indent="0" marL="0">
              <a:lnSpc>
                <a:spcPct val="130000"/>
              </a:lnSpc>
              <a:buNone/>
            </a:pPr>
            <a:r>
              <a:rPr lang="en-US" sz="1400" dirty="0">
                <a:solidFill>
                  <a:srgbClr val="475569"/>
                </a:solidFill>
                <a:latin typeface="Poppins" pitchFamily="34" charset="0"/>
                <a:ea typeface="Poppins" pitchFamily="34" charset="-122"/>
                <a:cs typeface="Poppins" pitchFamily="34" charset="-120"/>
              </a:rPr>
              <a:t>Publish sends the report to a workspace in the Power BI Service. On a Pro licence, Adaeze opens that report herself at a link, in a browser or the mobile app, without needing Power BI Desktop or your file. On a free account, the workspace is yours alone: you can open it, but nobody else can, because sharing outside your own workspace is a Pro feature.</a:t>
            </a:r>
            <a:endParaRPr lang="en-US" sz="1400" dirty="0"/>
          </a:p>
        </p:txBody>
      </p:sp>
      <p:sp>
        <p:nvSpPr>
          <p:cNvPr id="18" name="Shape 16"/>
          <p:cNvSpPr/>
          <p:nvPr/>
        </p:nvSpPr>
        <p:spPr>
          <a:xfrm>
            <a:off x="685800" y="4526280"/>
            <a:ext cx="9829800" cy="1188720"/>
          </a:xfrm>
          <a:prstGeom prst="roundRect">
            <a:avLst>
              <a:gd name="adj" fmla="val 6923"/>
            </a:avLst>
          </a:prstGeom>
          <a:solidFill>
            <a:srgbClr val="FFFFFF"/>
          </a:solidFill>
          <a:ln/>
        </p:spPr>
      </p:sp>
      <p:sp>
        <p:nvSpPr>
          <p:cNvPr id="19" name="Shape 17"/>
          <p:cNvSpPr/>
          <p:nvPr/>
        </p:nvSpPr>
        <p:spPr>
          <a:xfrm>
            <a:off x="685800" y="4526280"/>
            <a:ext cx="68580" cy="1188720"/>
          </a:xfrm>
          <a:prstGeom prst="rect">
            <a:avLst/>
          </a:prstGeom>
          <a:solidFill>
            <a:srgbClr val="387F7F"/>
          </a:solidFill>
          <a:ln/>
        </p:spPr>
      </p:sp>
      <p:sp>
        <p:nvSpPr>
          <p:cNvPr id="20" name="Shape 18"/>
          <p:cNvSpPr/>
          <p:nvPr/>
        </p:nvSpPr>
        <p:spPr>
          <a:xfrm>
            <a:off x="960120" y="4754880"/>
            <a:ext cx="502920" cy="502920"/>
          </a:xfrm>
          <a:prstGeom prst="ellipse">
            <a:avLst/>
          </a:prstGeom>
          <a:solidFill>
            <a:srgbClr val="387F7F"/>
          </a:solidFill>
          <a:ln/>
        </p:spPr>
      </p:sp>
      <p:sp>
        <p:nvSpPr>
          <p:cNvPr id="21" name="Text 19"/>
          <p:cNvSpPr txBox="1"/>
          <p:nvPr/>
        </p:nvSpPr>
        <p:spPr>
          <a:xfrm>
            <a:off x="960120" y="4754880"/>
            <a:ext cx="50292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a:t>
            </a:r>
            <a:endParaRPr lang="en-US" sz="2100" dirty="0"/>
          </a:p>
        </p:txBody>
      </p:sp>
      <p:sp>
        <p:nvSpPr>
          <p:cNvPr id="22" name="Text 20"/>
          <p:cNvSpPr txBox="1"/>
          <p:nvPr/>
        </p:nvSpPr>
        <p:spPr>
          <a:xfrm>
            <a:off x="1691640" y="4645152"/>
            <a:ext cx="8503920" cy="1005840"/>
          </a:xfrm>
          <a:prstGeom prst="rect">
            <a:avLst/>
          </a:prstGeom>
          <a:noFill/>
          <a:ln/>
        </p:spPr>
        <p:txBody>
          <a:bodyPr wrap="square" lIns="0" tIns="0" rIns="0" bIns="0" rtlCol="0" anchor="t"/>
          <a:lstStyle/>
          <a:p>
            <a:pPr algn="l" indent="0" marL="0">
              <a:lnSpc>
                <a:spcPct val="128000"/>
              </a:lnSpc>
              <a:buNone/>
            </a:pPr>
            <a:r>
              <a:rPr lang="en-US" sz="1350" b="1" dirty="0">
                <a:solidFill>
                  <a:srgbClr val="0A1A23"/>
                </a:solidFill>
                <a:latin typeface="Poppins" pitchFamily="34" charset="0"/>
                <a:ea typeface="Poppins" pitchFamily="34" charset="-122"/>
                <a:cs typeface="Poppins" pitchFamily="34" charset="-120"/>
              </a:rPr>
              <a:t>No Pro licence? Export instead. File → Export → PDF or PowerPoint gives Adaeze the same dashboard as a file she can open immediately. It will not refresh itself, but it is a real, honest deliverable, and it is what you submit for this module.</a:t>
            </a:r>
            <a:endParaRPr lang="en-US" sz="1350" dirty="0"/>
          </a:p>
        </p:txBody>
      </p:sp>
      <p:pic>
        <p:nvPicPr>
          <p:cNvPr id="23"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4" name="Text 21"/>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A dashboard that does not refresh is a screenshot</a:t>
            </a:r>
            <a:endParaRPr lang="en-US" sz="2400" dirty="0"/>
          </a:p>
        </p:txBody>
      </p:sp>
      <p:sp>
        <p:nvSpPr>
          <p:cNvPr id="6" name="Shape 4"/>
          <p:cNvSpPr/>
          <p:nvPr/>
        </p:nvSpPr>
        <p:spPr>
          <a:xfrm>
            <a:off x="685800" y="1645920"/>
            <a:ext cx="9829800" cy="1554480"/>
          </a:xfrm>
          <a:prstGeom prst="roundRect">
            <a:avLst>
              <a:gd name="adj" fmla="val 5882"/>
            </a:avLst>
          </a:prstGeom>
          <a:solidFill>
            <a:srgbClr val="FFFFFF"/>
          </a:solidFill>
          <a:ln/>
          <a:effectLst>
            <a:outerShdw sx="100000" sy="100000" kx="0" ky="0" algn="bl" rotWithShape="0" blurRad="152400" dist="38100" dir="5400000">
              <a:srgbClr val="1B2A2E">
                <a:alpha val="14000"/>
              </a:srgbClr>
            </a:outerShdw>
          </a:effectLst>
        </p:spPr>
      </p:sp>
      <p:sp>
        <p:nvSpPr>
          <p:cNvPr id="7" name="Text 5"/>
          <p:cNvSpPr txBox="1"/>
          <p:nvPr/>
        </p:nvSpPr>
        <p:spPr>
          <a:xfrm>
            <a:off x="1005840" y="1828800"/>
            <a:ext cx="9235440" cy="1234440"/>
          </a:xfrm>
          <a:prstGeom prst="rect">
            <a:avLst/>
          </a:prstGeom>
          <a:noFill/>
          <a:ln/>
        </p:spPr>
        <p:txBody>
          <a:bodyPr wrap="square" lIns="0" tIns="0" rIns="0" bIns="0" rtlCol="0" anchor="t"/>
          <a:lstStyle/>
          <a:p>
            <a:pPr algn="l" indent="0" marL="0">
              <a:lnSpc>
                <a:spcPct val="132000"/>
              </a:lnSpc>
              <a:buNone/>
            </a:pPr>
            <a:r>
              <a:rPr lang="en-US" sz="1500" dirty="0">
                <a:solidFill>
                  <a:srgbClr val="475569"/>
                </a:solidFill>
                <a:latin typeface="Poppins" pitchFamily="34" charset="0"/>
                <a:ea typeface="Poppins" pitchFamily="34" charset="-122"/>
                <a:cs typeface="Poppins" pitchFamily="34" charset="-120"/>
              </a:rPr>
              <a:t>Scheduled refresh is what makes the product live. It also introduces a new failure mode: the report keeps displaying yesterday's numbers with full confidence when the refresh fails overnight, and nobody notices because it looks exactly the same.</a:t>
            </a:r>
            <a:endParaRPr lang="en-US" sz="1500" dirty="0"/>
          </a:p>
        </p:txBody>
      </p:sp>
      <p:sp>
        <p:nvSpPr>
          <p:cNvPr id="8" name="Shape 6"/>
          <p:cNvSpPr/>
          <p:nvPr/>
        </p:nvSpPr>
        <p:spPr>
          <a:xfrm>
            <a:off x="685800" y="3429000"/>
            <a:ext cx="9829800" cy="1005840"/>
          </a:xfrm>
          <a:prstGeom prst="roundRect">
            <a:avLst>
              <a:gd name="adj" fmla="val 8182"/>
            </a:avLst>
          </a:prstGeom>
          <a:solidFill>
            <a:srgbClr val="10312F"/>
          </a:solidFill>
          <a:ln/>
          <a:effectLst>
            <a:outerShdw sx="100000" sy="100000" kx="0" ky="0" algn="bl" rotWithShape="0" blurRad="127000" dist="38100" dir="5400000">
              <a:srgbClr val="1B2A2E">
                <a:alpha val="20000"/>
              </a:srgbClr>
            </a:outerShdw>
          </a:effectLst>
        </p:spPr>
      </p:sp>
      <p:sp>
        <p:nvSpPr>
          <p:cNvPr id="9" name="Shape 7"/>
          <p:cNvSpPr/>
          <p:nvPr/>
        </p:nvSpPr>
        <p:spPr>
          <a:xfrm>
            <a:off x="886968" y="3291840"/>
            <a:ext cx="2377440" cy="292608"/>
          </a:xfrm>
          <a:prstGeom prst="roundRect">
            <a:avLst>
              <a:gd name="adj" fmla="val 50000"/>
            </a:avLst>
          </a:prstGeom>
          <a:solidFill>
            <a:srgbClr val="387F7F"/>
          </a:solidFill>
          <a:ln/>
        </p:spPr>
      </p:sp>
      <p:sp>
        <p:nvSpPr>
          <p:cNvPr id="10" name="Text 8"/>
          <p:cNvSpPr txBox="1"/>
          <p:nvPr/>
        </p:nvSpPr>
        <p:spPr>
          <a:xfrm>
            <a:off x="886968" y="3291840"/>
            <a:ext cx="23774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ONE CARD, CHEAP INSURANCE</a:t>
            </a:r>
            <a:endParaRPr lang="en-US" sz="900" dirty="0"/>
          </a:p>
        </p:txBody>
      </p:sp>
      <p:sp>
        <p:nvSpPr>
          <p:cNvPr id="11" name="Text 9"/>
          <p:cNvSpPr txBox="1"/>
          <p:nvPr/>
        </p:nvSpPr>
        <p:spPr>
          <a:xfrm>
            <a:off x="960120" y="3703320"/>
            <a:ext cx="9281160" cy="548640"/>
          </a:xfrm>
          <a:prstGeom prst="rect">
            <a:avLst/>
          </a:prstGeom>
          <a:noFill/>
          <a:ln/>
        </p:spPr>
        <p:txBody>
          <a:bodyPr wrap="square" lIns="0" tIns="0" rIns="0" bIns="0" rtlCol="0" anchor="ctr"/>
          <a:lstStyle/>
          <a:p>
            <a:pPr indent="0" marL="0">
              <a:lnSpc>
                <a:spcPct val="125000"/>
              </a:lnSpc>
              <a:buNone/>
            </a:pPr>
            <a:r>
              <a:rPr lang="en-US" sz="1300" dirty="0">
                <a:solidFill>
                  <a:srgbClr val="CFE6E3"/>
                </a:solidFill>
                <a:latin typeface="Roboto Mono" pitchFamily="34" charset="0"/>
                <a:ea typeface="Roboto Mono" pitchFamily="34" charset="-122"/>
                <a:cs typeface="Roboto Mono" pitchFamily="34" charset="-120"/>
              </a:rPr>
              <a:t>Last Refreshed = "Data as at " &amp; FORMAT ( MAX ( dates[DateKey] ), "dd MMM yyyy" )</a:t>
            </a:r>
            <a:endParaRPr lang="en-US" sz="1300" dirty="0"/>
          </a:p>
        </p:txBody>
      </p:sp>
      <p:sp>
        <p:nvSpPr>
          <p:cNvPr id="12" name="Shape 10"/>
          <p:cNvSpPr/>
          <p:nvPr/>
        </p:nvSpPr>
        <p:spPr>
          <a:xfrm>
            <a:off x="685800" y="4709160"/>
            <a:ext cx="9829800" cy="1051560"/>
          </a:xfrm>
          <a:prstGeom prst="roundRect">
            <a:avLst>
              <a:gd name="adj" fmla="val 7826"/>
            </a:avLst>
          </a:prstGeom>
          <a:solidFill>
            <a:srgbClr val="EEF4F4"/>
          </a:solidFill>
          <a:ln/>
        </p:spPr>
      </p:sp>
      <p:sp>
        <p:nvSpPr>
          <p:cNvPr id="13" name="Shape 11"/>
          <p:cNvSpPr/>
          <p:nvPr/>
        </p:nvSpPr>
        <p:spPr>
          <a:xfrm>
            <a:off x="685800" y="4709160"/>
            <a:ext cx="68580" cy="1051560"/>
          </a:xfrm>
          <a:prstGeom prst="rect">
            <a:avLst/>
          </a:prstGeom>
          <a:solidFill>
            <a:srgbClr val="387F7F"/>
          </a:solidFill>
          <a:ln/>
        </p:spPr>
      </p:sp>
      <p:sp>
        <p:nvSpPr>
          <p:cNvPr id="14" name="Text 12"/>
          <p:cNvSpPr txBox="1"/>
          <p:nvPr/>
        </p:nvSpPr>
        <p:spPr>
          <a:xfrm>
            <a:off x="1051560" y="4709160"/>
            <a:ext cx="9235440" cy="1051560"/>
          </a:xfrm>
          <a:prstGeom prst="rect">
            <a:avLst/>
          </a:prstGeom>
          <a:noFill/>
          <a:ln/>
        </p:spPr>
        <p:txBody>
          <a:bodyPr wrap="square" lIns="0" tIns="0" rIns="0" bIns="0" rtlCol="0" anchor="ctr"/>
          <a:lstStyle/>
          <a:p>
            <a:pPr algn="l" indent="0" marL="0">
              <a:lnSpc>
                <a:spcPct val="128000"/>
              </a:lnSpc>
              <a:buNone/>
            </a:pPr>
            <a:r>
              <a:rPr lang="en-US" sz="1500" b="1" dirty="0">
                <a:solidFill>
                  <a:srgbClr val="387F7F"/>
                </a:solidFill>
                <a:latin typeface="Poppins" pitchFamily="34" charset="0"/>
                <a:ea typeface="Poppins" pitchFamily="34" charset="-122"/>
                <a:cs typeface="Poppins" pitchFamily="34" charset="-120"/>
              </a:rPr>
              <a:t>Put the last refresh timestamp on the canvas, visibly, every time. It costs one card visual and it is the single cheapest piece of professional insurance in BI.</a:t>
            </a:r>
            <a:endParaRPr lang="en-US" sz="1500" dirty="0"/>
          </a:p>
        </p:txBody>
      </p:sp>
      <p:pic>
        <p:nvPicPr>
          <p:cNvPr id="15"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16" name="Text 1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The build, in order</a:t>
            </a:r>
            <a:endParaRPr lang="en-US" sz="2700" dirty="0"/>
          </a:p>
        </p:txBody>
      </p:sp>
      <p:sp>
        <p:nvSpPr>
          <p:cNvPr id="6" name="Shape 4"/>
          <p:cNvSpPr/>
          <p:nvPr/>
        </p:nvSpPr>
        <p:spPr>
          <a:xfrm>
            <a:off x="685800" y="1554480"/>
            <a:ext cx="1901952" cy="457200"/>
          </a:xfrm>
          <a:prstGeom prst="roundRect">
            <a:avLst>
              <a:gd name="adj" fmla="val 50000"/>
            </a:avLst>
          </a:prstGeom>
          <a:solidFill>
            <a:srgbClr val="387F7F"/>
          </a:solidFill>
          <a:ln/>
        </p:spPr>
      </p:sp>
      <p:sp>
        <p:nvSpPr>
          <p:cNvPr id="7" name="Shape 5"/>
          <p:cNvSpPr/>
          <p:nvPr/>
        </p:nvSpPr>
        <p:spPr>
          <a:xfrm>
            <a:off x="777240" y="1636776"/>
            <a:ext cx="292608" cy="292608"/>
          </a:xfrm>
          <a:prstGeom prst="ellipse">
            <a:avLst/>
          </a:prstGeom>
          <a:solidFill>
            <a:srgbClr val="FFFFFF"/>
          </a:solidFill>
          <a:ln/>
        </p:spPr>
      </p:sp>
      <p:sp>
        <p:nvSpPr>
          <p:cNvPr id="8" name="Text 6"/>
          <p:cNvSpPr txBox="1"/>
          <p:nvPr/>
        </p:nvSpPr>
        <p:spPr>
          <a:xfrm>
            <a:off x="777240" y="163677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9" name="Text 7"/>
          <p:cNvSpPr txBox="1"/>
          <p:nvPr/>
        </p:nvSpPr>
        <p:spPr>
          <a:xfrm>
            <a:off x="1161288" y="155448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Sketch on paper</a:t>
            </a:r>
            <a:endParaRPr lang="en-US" sz="1150" dirty="0"/>
          </a:p>
        </p:txBody>
      </p:sp>
      <p:sp>
        <p:nvSpPr>
          <p:cNvPr id="10" name="Shape 8"/>
          <p:cNvSpPr/>
          <p:nvPr/>
        </p:nvSpPr>
        <p:spPr>
          <a:xfrm>
            <a:off x="2734056" y="1554480"/>
            <a:ext cx="1901952" cy="457200"/>
          </a:xfrm>
          <a:prstGeom prst="roundRect">
            <a:avLst>
              <a:gd name="adj" fmla="val 50000"/>
            </a:avLst>
          </a:prstGeom>
          <a:solidFill>
            <a:srgbClr val="387F7F"/>
          </a:solidFill>
          <a:ln/>
        </p:spPr>
      </p:sp>
      <p:sp>
        <p:nvSpPr>
          <p:cNvPr id="11" name="Shape 9"/>
          <p:cNvSpPr/>
          <p:nvPr/>
        </p:nvSpPr>
        <p:spPr>
          <a:xfrm>
            <a:off x="2825496" y="1636776"/>
            <a:ext cx="292608" cy="292608"/>
          </a:xfrm>
          <a:prstGeom prst="ellipse">
            <a:avLst/>
          </a:prstGeom>
          <a:solidFill>
            <a:srgbClr val="FFFFFF"/>
          </a:solidFill>
          <a:ln/>
        </p:spPr>
      </p:sp>
      <p:sp>
        <p:nvSpPr>
          <p:cNvPr id="12" name="Text 10"/>
          <p:cNvSpPr txBox="1"/>
          <p:nvPr/>
        </p:nvSpPr>
        <p:spPr>
          <a:xfrm>
            <a:off x="2825496" y="163677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2</a:t>
            </a:r>
            <a:endParaRPr lang="en-US" sz="1200" dirty="0"/>
          </a:p>
        </p:txBody>
      </p:sp>
      <p:sp>
        <p:nvSpPr>
          <p:cNvPr id="13" name="Text 11"/>
          <p:cNvSpPr txBox="1"/>
          <p:nvPr/>
        </p:nvSpPr>
        <p:spPr>
          <a:xfrm>
            <a:off x="3209544" y="155448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Cards</a:t>
            </a:r>
            <a:endParaRPr lang="en-US" sz="1150" dirty="0"/>
          </a:p>
        </p:txBody>
      </p:sp>
      <p:sp>
        <p:nvSpPr>
          <p:cNvPr id="14" name="Shape 12"/>
          <p:cNvSpPr/>
          <p:nvPr/>
        </p:nvSpPr>
        <p:spPr>
          <a:xfrm>
            <a:off x="4782312" y="1554480"/>
            <a:ext cx="1901952" cy="457200"/>
          </a:xfrm>
          <a:prstGeom prst="roundRect">
            <a:avLst>
              <a:gd name="adj" fmla="val 50000"/>
            </a:avLst>
          </a:prstGeom>
          <a:solidFill>
            <a:srgbClr val="387F7F"/>
          </a:solidFill>
          <a:ln/>
        </p:spPr>
      </p:sp>
      <p:sp>
        <p:nvSpPr>
          <p:cNvPr id="15" name="Shape 13"/>
          <p:cNvSpPr/>
          <p:nvPr/>
        </p:nvSpPr>
        <p:spPr>
          <a:xfrm>
            <a:off x="4873752" y="1636776"/>
            <a:ext cx="292608" cy="292608"/>
          </a:xfrm>
          <a:prstGeom prst="ellipse">
            <a:avLst/>
          </a:prstGeom>
          <a:solidFill>
            <a:srgbClr val="FFFFFF"/>
          </a:solidFill>
          <a:ln/>
        </p:spPr>
      </p:sp>
      <p:sp>
        <p:nvSpPr>
          <p:cNvPr id="16" name="Text 14"/>
          <p:cNvSpPr txBox="1"/>
          <p:nvPr/>
        </p:nvSpPr>
        <p:spPr>
          <a:xfrm>
            <a:off x="4873752" y="163677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3</a:t>
            </a:r>
            <a:endParaRPr lang="en-US" sz="1200" dirty="0"/>
          </a:p>
        </p:txBody>
      </p:sp>
      <p:sp>
        <p:nvSpPr>
          <p:cNvPr id="17" name="Text 15"/>
          <p:cNvSpPr txBox="1"/>
          <p:nvPr/>
        </p:nvSpPr>
        <p:spPr>
          <a:xfrm>
            <a:off x="5257800" y="155448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Main chart</a:t>
            </a:r>
            <a:endParaRPr lang="en-US" sz="1150" dirty="0"/>
          </a:p>
        </p:txBody>
      </p:sp>
      <p:sp>
        <p:nvSpPr>
          <p:cNvPr id="18" name="Shape 16"/>
          <p:cNvSpPr/>
          <p:nvPr/>
        </p:nvSpPr>
        <p:spPr>
          <a:xfrm>
            <a:off x="6830568" y="1554480"/>
            <a:ext cx="1901952" cy="457200"/>
          </a:xfrm>
          <a:prstGeom prst="roundRect">
            <a:avLst>
              <a:gd name="adj" fmla="val 50000"/>
            </a:avLst>
          </a:prstGeom>
          <a:solidFill>
            <a:srgbClr val="387F7F"/>
          </a:solidFill>
          <a:ln/>
        </p:spPr>
      </p:sp>
      <p:sp>
        <p:nvSpPr>
          <p:cNvPr id="19" name="Shape 17"/>
          <p:cNvSpPr/>
          <p:nvPr/>
        </p:nvSpPr>
        <p:spPr>
          <a:xfrm>
            <a:off x="6922008" y="1636776"/>
            <a:ext cx="292608" cy="292608"/>
          </a:xfrm>
          <a:prstGeom prst="ellipse">
            <a:avLst/>
          </a:prstGeom>
          <a:solidFill>
            <a:srgbClr val="FFFFFF"/>
          </a:solidFill>
          <a:ln/>
        </p:spPr>
      </p:sp>
      <p:sp>
        <p:nvSpPr>
          <p:cNvPr id="20" name="Text 18"/>
          <p:cNvSpPr txBox="1"/>
          <p:nvPr/>
        </p:nvSpPr>
        <p:spPr>
          <a:xfrm>
            <a:off x="6922008" y="163677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4</a:t>
            </a:r>
            <a:endParaRPr lang="en-US" sz="1200" dirty="0"/>
          </a:p>
        </p:txBody>
      </p:sp>
      <p:sp>
        <p:nvSpPr>
          <p:cNvPr id="21" name="Text 19"/>
          <p:cNvSpPr txBox="1"/>
          <p:nvPr/>
        </p:nvSpPr>
        <p:spPr>
          <a:xfrm>
            <a:off x="7306056" y="155448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Slicers</a:t>
            </a:r>
            <a:endParaRPr lang="en-US" sz="1150" dirty="0"/>
          </a:p>
        </p:txBody>
      </p:sp>
      <p:sp>
        <p:nvSpPr>
          <p:cNvPr id="22" name="Shape 20"/>
          <p:cNvSpPr/>
          <p:nvPr/>
        </p:nvSpPr>
        <p:spPr>
          <a:xfrm>
            <a:off x="8878824" y="1554480"/>
            <a:ext cx="1901952" cy="457200"/>
          </a:xfrm>
          <a:prstGeom prst="roundRect">
            <a:avLst>
              <a:gd name="adj" fmla="val 50000"/>
            </a:avLst>
          </a:prstGeom>
          <a:solidFill>
            <a:srgbClr val="387F7F"/>
          </a:solidFill>
          <a:ln/>
        </p:spPr>
      </p:sp>
      <p:sp>
        <p:nvSpPr>
          <p:cNvPr id="23" name="Shape 21"/>
          <p:cNvSpPr/>
          <p:nvPr/>
        </p:nvSpPr>
        <p:spPr>
          <a:xfrm>
            <a:off x="8970264" y="1636776"/>
            <a:ext cx="292608" cy="292608"/>
          </a:xfrm>
          <a:prstGeom prst="ellipse">
            <a:avLst/>
          </a:prstGeom>
          <a:solidFill>
            <a:srgbClr val="FFFFFF"/>
          </a:solidFill>
          <a:ln/>
        </p:spPr>
      </p:sp>
      <p:sp>
        <p:nvSpPr>
          <p:cNvPr id="24" name="Text 22"/>
          <p:cNvSpPr txBox="1"/>
          <p:nvPr/>
        </p:nvSpPr>
        <p:spPr>
          <a:xfrm>
            <a:off x="8970264" y="163677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5</a:t>
            </a:r>
            <a:endParaRPr lang="en-US" sz="1200" dirty="0"/>
          </a:p>
        </p:txBody>
      </p:sp>
      <p:sp>
        <p:nvSpPr>
          <p:cNvPr id="25" name="Text 23"/>
          <p:cNvSpPr txBox="1"/>
          <p:nvPr/>
        </p:nvSpPr>
        <p:spPr>
          <a:xfrm>
            <a:off x="9354312" y="155448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Format and title</a:t>
            </a:r>
            <a:endParaRPr lang="en-US" sz="1150" dirty="0"/>
          </a:p>
        </p:txBody>
      </p:sp>
      <p:sp>
        <p:nvSpPr>
          <p:cNvPr id="26" name="Shape 24"/>
          <p:cNvSpPr/>
          <p:nvPr/>
        </p:nvSpPr>
        <p:spPr>
          <a:xfrm>
            <a:off x="685800" y="2240280"/>
            <a:ext cx="5943600" cy="2743200"/>
          </a:xfrm>
          <a:prstGeom prst="roundRect">
            <a:avLst>
              <a:gd name="adj" fmla="val 3333"/>
            </a:avLst>
          </a:prstGeom>
          <a:solidFill>
            <a:srgbClr val="FFFFFF"/>
          </a:solidFill>
          <a:ln/>
          <a:effectLst>
            <a:outerShdw sx="100000" sy="100000" kx="0" ky="0" algn="bl" rotWithShape="0" blurRad="152400" dist="38100" dir="5400000">
              <a:srgbClr val="1B2A2E">
                <a:alpha val="14000"/>
              </a:srgbClr>
            </a:outerShdw>
          </a:effectLst>
        </p:spPr>
      </p:sp>
      <p:sp>
        <p:nvSpPr>
          <p:cNvPr id="27" name="Text 25"/>
          <p:cNvSpPr txBox="1"/>
          <p:nvPr/>
        </p:nvSpPr>
        <p:spPr>
          <a:xfrm>
            <a:off x="960120" y="2423160"/>
            <a:ext cx="5394960" cy="320040"/>
          </a:xfrm>
          <a:prstGeom prst="rect">
            <a:avLst/>
          </a:prstGeom>
          <a:noFill/>
          <a:ln/>
        </p:spPr>
        <p:txBody>
          <a:bodyPr wrap="square" lIns="0" tIns="0" rIns="0" bIns="0" rtlCol="0" anchor="t"/>
          <a:lstStyle/>
          <a:p>
            <a:pPr algn="l" indent="0" marL="0">
              <a:lnSpc>
                <a:spcPct val="135000"/>
              </a:lnSpc>
              <a:buNone/>
            </a:pPr>
            <a:r>
              <a:rPr lang="en-US" sz="1250" b="1" dirty="0">
                <a:solidFill>
                  <a:srgbClr val="387F7F"/>
                </a:solidFill>
                <a:latin typeface="Poppins" pitchFamily="34" charset="0"/>
                <a:ea typeface="Poppins" pitchFamily="34" charset="-122"/>
                <a:cs typeface="Poppins" pitchFamily="34" charset="-120"/>
              </a:rPr>
              <a:t>The finished SwiftRoute dashboard:</a:t>
            </a:r>
            <a:endParaRPr lang="en-US" sz="1250" dirty="0"/>
          </a:p>
        </p:txBody>
      </p:sp>
      <p:sp>
        <p:nvSpPr>
          <p:cNvPr id="28" name="Text 26"/>
          <p:cNvSpPr txBox="1"/>
          <p:nvPr/>
        </p:nvSpPr>
        <p:spPr>
          <a:xfrm>
            <a:off x="960120" y="2834640"/>
            <a:ext cx="2743200" cy="365760"/>
          </a:xfrm>
          <a:prstGeom prst="rect">
            <a:avLst/>
          </a:prstGeom>
          <a:noFill/>
          <a:ln/>
        </p:spPr>
        <p:txBody>
          <a:bodyPr wrap="square" lIns="0" tIns="0" rIns="0" bIns="0" rtlCol="0" anchor="ctr"/>
          <a:lstStyle/>
          <a:p>
            <a:pPr indent="0" marL="0">
              <a:buNone/>
            </a:pPr>
            <a:r>
              <a:rPr lang="en-US" sz="1250" dirty="0">
                <a:solidFill>
                  <a:srgbClr val="475569"/>
                </a:solidFill>
                <a:latin typeface="Poppins" pitchFamily="34" charset="0"/>
                <a:ea typeface="Poppins" pitchFamily="34" charset="-122"/>
                <a:cs typeface="Poppins" pitchFamily="34" charset="-120"/>
              </a:rPr>
              <a:t>On-Time Rate</a:t>
            </a:r>
            <a:endParaRPr lang="en-US" sz="1250" dirty="0"/>
          </a:p>
        </p:txBody>
      </p:sp>
      <p:sp>
        <p:nvSpPr>
          <p:cNvPr id="29" name="Text 27"/>
          <p:cNvSpPr txBox="1"/>
          <p:nvPr/>
        </p:nvSpPr>
        <p:spPr>
          <a:xfrm>
            <a:off x="3703320" y="2834640"/>
            <a:ext cx="2743200" cy="365760"/>
          </a:xfrm>
          <a:prstGeom prst="rect">
            <a:avLst/>
          </a:prstGeom>
          <a:noFill/>
          <a:ln/>
        </p:spPr>
        <p:txBody>
          <a:bodyPr wrap="square" lIns="0" tIns="0" rIns="0" bIns="0" rtlCol="0" anchor="ctr"/>
          <a:lstStyle/>
          <a:p>
            <a:pPr algn="r" indent="0" marL="0">
              <a:buNone/>
            </a:pPr>
            <a:r>
              <a:rPr lang="en-US" sz="1300" b="1" dirty="0">
                <a:solidFill>
                  <a:srgbClr val="387F7F"/>
                </a:solidFill>
                <a:latin typeface="Poppins" pitchFamily="34" charset="0"/>
                <a:ea typeface="Poppins" pitchFamily="34" charset="-122"/>
                <a:cs typeface="Poppins" pitchFamily="34" charset="-120"/>
              </a:rPr>
              <a:t>82.0%  (target 90%)</a:t>
            </a:r>
            <a:endParaRPr lang="en-US" sz="1300" dirty="0"/>
          </a:p>
        </p:txBody>
      </p:sp>
      <p:sp>
        <p:nvSpPr>
          <p:cNvPr id="30" name="Text 28"/>
          <p:cNvSpPr txBox="1"/>
          <p:nvPr/>
        </p:nvSpPr>
        <p:spPr>
          <a:xfrm>
            <a:off x="960120" y="3218688"/>
            <a:ext cx="2743200" cy="365760"/>
          </a:xfrm>
          <a:prstGeom prst="rect">
            <a:avLst/>
          </a:prstGeom>
          <a:noFill/>
          <a:ln/>
        </p:spPr>
        <p:txBody>
          <a:bodyPr wrap="square" lIns="0" tIns="0" rIns="0" bIns="0" rtlCol="0" anchor="ctr"/>
          <a:lstStyle/>
          <a:p>
            <a:pPr indent="0" marL="0">
              <a:buNone/>
            </a:pPr>
            <a:r>
              <a:rPr lang="en-US" sz="1250" dirty="0">
                <a:solidFill>
                  <a:srgbClr val="475569"/>
                </a:solidFill>
                <a:latin typeface="Poppins" pitchFamily="34" charset="0"/>
                <a:ea typeface="Poppins" pitchFamily="34" charset="-122"/>
                <a:cs typeface="Poppins" pitchFamily="34" charset="-120"/>
              </a:rPr>
              <a:t>Total Deliveries</a:t>
            </a:r>
            <a:endParaRPr lang="en-US" sz="1250" dirty="0"/>
          </a:p>
        </p:txBody>
      </p:sp>
      <p:sp>
        <p:nvSpPr>
          <p:cNvPr id="31" name="Text 29"/>
          <p:cNvSpPr txBox="1"/>
          <p:nvPr/>
        </p:nvSpPr>
        <p:spPr>
          <a:xfrm>
            <a:off x="3703320" y="3218688"/>
            <a:ext cx="2743200" cy="365760"/>
          </a:xfrm>
          <a:prstGeom prst="rect">
            <a:avLst/>
          </a:prstGeom>
          <a:noFill/>
          <a:ln/>
        </p:spPr>
        <p:txBody>
          <a:bodyPr wrap="square" lIns="0" tIns="0" rIns="0" bIns="0" rtlCol="0" anchor="ctr"/>
          <a:lstStyle/>
          <a:p>
            <a:pPr algn="r" indent="0" marL="0">
              <a:buNone/>
            </a:pPr>
            <a:r>
              <a:rPr lang="en-US" sz="1300" b="1" dirty="0">
                <a:solidFill>
                  <a:srgbClr val="387F7F"/>
                </a:solidFill>
                <a:latin typeface="Poppins" pitchFamily="34" charset="0"/>
                <a:ea typeface="Poppins" pitchFamily="34" charset="-122"/>
                <a:cs typeface="Poppins" pitchFamily="34" charset="-120"/>
              </a:rPr>
              <a:t>41,280</a:t>
            </a:r>
            <a:endParaRPr lang="en-US" sz="1300" dirty="0"/>
          </a:p>
        </p:txBody>
      </p:sp>
      <p:sp>
        <p:nvSpPr>
          <p:cNvPr id="32" name="Text 30"/>
          <p:cNvSpPr txBox="1"/>
          <p:nvPr/>
        </p:nvSpPr>
        <p:spPr>
          <a:xfrm>
            <a:off x="960120" y="3602736"/>
            <a:ext cx="2743200" cy="365760"/>
          </a:xfrm>
          <a:prstGeom prst="rect">
            <a:avLst/>
          </a:prstGeom>
          <a:noFill/>
          <a:ln/>
        </p:spPr>
        <p:txBody>
          <a:bodyPr wrap="square" lIns="0" tIns="0" rIns="0" bIns="0" rtlCol="0" anchor="ctr"/>
          <a:lstStyle/>
          <a:p>
            <a:pPr indent="0" marL="0">
              <a:buNone/>
            </a:pPr>
            <a:r>
              <a:rPr lang="en-US" sz="1250" dirty="0">
                <a:solidFill>
                  <a:srgbClr val="475569"/>
                </a:solidFill>
                <a:latin typeface="Poppins" pitchFamily="34" charset="0"/>
                <a:ea typeface="Poppins" pitchFamily="34" charset="-122"/>
                <a:cs typeface="Poppins" pitchFamily="34" charset="-120"/>
              </a:rPr>
              <a:t>Total Revenue</a:t>
            </a:r>
            <a:endParaRPr lang="en-US" sz="1250" dirty="0"/>
          </a:p>
        </p:txBody>
      </p:sp>
      <p:sp>
        <p:nvSpPr>
          <p:cNvPr id="33" name="Text 31"/>
          <p:cNvSpPr txBox="1"/>
          <p:nvPr/>
        </p:nvSpPr>
        <p:spPr>
          <a:xfrm>
            <a:off x="3703320" y="3602736"/>
            <a:ext cx="2743200" cy="365760"/>
          </a:xfrm>
          <a:prstGeom prst="rect">
            <a:avLst/>
          </a:prstGeom>
          <a:noFill/>
          <a:ln/>
        </p:spPr>
        <p:txBody>
          <a:bodyPr wrap="square" lIns="0" tIns="0" rIns="0" bIns="0" rtlCol="0" anchor="ctr"/>
          <a:lstStyle/>
          <a:p>
            <a:pPr algn="r" indent="0" marL="0">
              <a:buNone/>
            </a:pPr>
            <a:r>
              <a:rPr lang="en-US" sz="1300" b="1" dirty="0">
                <a:solidFill>
                  <a:srgbClr val="387F7F"/>
                </a:solidFill>
                <a:latin typeface="Poppins" pitchFamily="34" charset="0"/>
                <a:ea typeface="Poppins" pitchFamily="34" charset="-122"/>
                <a:cs typeface="Poppins" pitchFamily="34" charset="-120"/>
              </a:rPr>
              <a:t>₦247,680,000</a:t>
            </a:r>
            <a:endParaRPr lang="en-US" sz="1300" dirty="0"/>
          </a:p>
        </p:txBody>
      </p:sp>
      <p:sp>
        <p:nvSpPr>
          <p:cNvPr id="34" name="Text 32"/>
          <p:cNvSpPr txBox="1"/>
          <p:nvPr/>
        </p:nvSpPr>
        <p:spPr>
          <a:xfrm>
            <a:off x="960120" y="3986784"/>
            <a:ext cx="2743200" cy="365760"/>
          </a:xfrm>
          <a:prstGeom prst="rect">
            <a:avLst/>
          </a:prstGeom>
          <a:noFill/>
          <a:ln/>
        </p:spPr>
        <p:txBody>
          <a:bodyPr wrap="square" lIns="0" tIns="0" rIns="0" bIns="0" rtlCol="0" anchor="ctr"/>
          <a:lstStyle/>
          <a:p>
            <a:pPr indent="0" marL="0">
              <a:buNone/>
            </a:pPr>
            <a:r>
              <a:rPr lang="en-US" sz="1250" dirty="0">
                <a:solidFill>
                  <a:srgbClr val="475569"/>
                </a:solidFill>
                <a:latin typeface="Poppins" pitchFamily="34" charset="0"/>
                <a:ea typeface="Poppins" pitchFamily="34" charset="-122"/>
                <a:cs typeface="Poppins" pitchFamily="34" charset="-120"/>
              </a:rPr>
              <a:t>Late Deliveries</a:t>
            </a:r>
            <a:endParaRPr lang="en-US" sz="1250" dirty="0"/>
          </a:p>
        </p:txBody>
      </p:sp>
      <p:sp>
        <p:nvSpPr>
          <p:cNvPr id="35" name="Text 33"/>
          <p:cNvSpPr txBox="1"/>
          <p:nvPr/>
        </p:nvSpPr>
        <p:spPr>
          <a:xfrm>
            <a:off x="3703320" y="3986784"/>
            <a:ext cx="2743200" cy="365760"/>
          </a:xfrm>
          <a:prstGeom prst="rect">
            <a:avLst/>
          </a:prstGeom>
          <a:noFill/>
          <a:ln/>
        </p:spPr>
        <p:txBody>
          <a:bodyPr wrap="square" lIns="0" tIns="0" rIns="0" bIns="0" rtlCol="0" anchor="ctr"/>
          <a:lstStyle/>
          <a:p>
            <a:pPr algn="r" indent="0" marL="0">
              <a:buNone/>
            </a:pPr>
            <a:r>
              <a:rPr lang="en-US" sz="1300" b="1" dirty="0">
                <a:solidFill>
                  <a:srgbClr val="387F7F"/>
                </a:solidFill>
                <a:latin typeface="Poppins" pitchFamily="34" charset="0"/>
                <a:ea typeface="Poppins" pitchFamily="34" charset="-122"/>
                <a:cs typeface="Poppins" pitchFamily="34" charset="-120"/>
              </a:rPr>
              <a:t>7,430</a:t>
            </a:r>
            <a:endParaRPr lang="en-US" sz="1300" dirty="0"/>
          </a:p>
        </p:txBody>
      </p:sp>
      <p:sp>
        <p:nvSpPr>
          <p:cNvPr id="36" name="Text 34"/>
          <p:cNvSpPr txBox="1"/>
          <p:nvPr/>
        </p:nvSpPr>
        <p:spPr>
          <a:xfrm>
            <a:off x="960120" y="4462272"/>
            <a:ext cx="5394960" cy="548640"/>
          </a:xfrm>
          <a:prstGeom prst="rect">
            <a:avLst/>
          </a:prstGeom>
          <a:noFill/>
          <a:ln/>
        </p:spPr>
        <p:txBody>
          <a:bodyPr wrap="square" lIns="0" tIns="0" rIns="0" bIns="0" rtlCol="0" anchor="t"/>
          <a:lstStyle/>
          <a:p>
            <a:pPr algn="l" indent="0" marL="0">
              <a:lnSpc>
                <a:spcPct val="125000"/>
              </a:lnSpc>
              <a:buNone/>
            </a:pPr>
            <a:r>
              <a:rPr lang="en-US" sz="1150" i="1" dirty="0">
                <a:solidFill>
                  <a:srgbClr val="64748B"/>
                </a:solidFill>
                <a:latin typeface="Poppins" pitchFamily="34" charset="0"/>
                <a:ea typeface="Poppins" pitchFamily="34" charset="-122"/>
                <a:cs typeface="Poppins" pitchFamily="34" charset="-120"/>
              </a:rPr>
              <a:t>Ranked route chart, LAG-07 last at 61.4%. Rider table filterable by Hub.</a:t>
            </a:r>
            <a:endParaRPr lang="en-US" sz="1150" dirty="0"/>
          </a:p>
        </p:txBody>
      </p:sp>
      <p:sp>
        <p:nvSpPr>
          <p:cNvPr id="37" name="Shape 35"/>
          <p:cNvSpPr/>
          <p:nvPr/>
        </p:nvSpPr>
        <p:spPr>
          <a:xfrm>
            <a:off x="6903720" y="2240280"/>
            <a:ext cx="3657600" cy="2743200"/>
          </a:xfrm>
          <a:prstGeom prst="roundRect">
            <a:avLst>
              <a:gd name="adj" fmla="val 3000"/>
            </a:avLst>
          </a:prstGeom>
          <a:solidFill>
            <a:srgbClr val="FFFFFF"/>
          </a:solidFill>
          <a:ln/>
        </p:spPr>
      </p:sp>
      <p:sp>
        <p:nvSpPr>
          <p:cNvPr id="38" name="Shape 36"/>
          <p:cNvSpPr/>
          <p:nvPr/>
        </p:nvSpPr>
        <p:spPr>
          <a:xfrm>
            <a:off x="6903720" y="2240280"/>
            <a:ext cx="68580" cy="2743200"/>
          </a:xfrm>
          <a:prstGeom prst="rect">
            <a:avLst/>
          </a:prstGeom>
          <a:solidFill>
            <a:srgbClr val="387F7F"/>
          </a:solidFill>
          <a:ln/>
        </p:spPr>
      </p:sp>
      <p:sp>
        <p:nvSpPr>
          <p:cNvPr id="39" name="Text 37"/>
          <p:cNvSpPr txBox="1"/>
          <p:nvPr/>
        </p:nvSpPr>
        <p:spPr>
          <a:xfrm>
            <a:off x="7178040" y="2423160"/>
            <a:ext cx="3108960" cy="274320"/>
          </a:xfrm>
          <a:prstGeom prst="rect">
            <a:avLst/>
          </a:prstGeom>
          <a:noFill/>
          <a:ln/>
        </p:spPr>
        <p:txBody>
          <a:bodyPr wrap="square" lIns="0" tIns="0" rIns="0" bIns="0" rtlCol="0" anchor="ctr"/>
          <a:lstStyle/>
          <a:p>
            <a:pPr indent="0" marL="0">
              <a:buNone/>
            </a:pPr>
            <a:r>
              <a:rPr lang="en-US" sz="1100" b="1" dirty="0">
                <a:solidFill>
                  <a:srgbClr val="387F7F"/>
                </a:solidFill>
                <a:latin typeface="Poppins" pitchFamily="34" charset="0"/>
                <a:ea typeface="Poppins" pitchFamily="34" charset="-122"/>
                <a:cs typeface="Poppins" pitchFamily="34" charset="-120"/>
              </a:rPr>
              <a:t>WHY THIS ORDER</a:t>
            </a:r>
            <a:endParaRPr lang="en-US" sz="1100" dirty="0"/>
          </a:p>
        </p:txBody>
      </p:sp>
      <p:sp>
        <p:nvSpPr>
          <p:cNvPr id="40" name="Text 38"/>
          <p:cNvSpPr txBox="1"/>
          <p:nvPr/>
        </p:nvSpPr>
        <p:spPr>
          <a:xfrm>
            <a:off x="7178040" y="2743200"/>
            <a:ext cx="3108960" cy="2103120"/>
          </a:xfrm>
          <a:prstGeom prst="rect">
            <a:avLst/>
          </a:prstGeom>
          <a:noFill/>
          <a:ln/>
        </p:spPr>
        <p:txBody>
          <a:bodyPr wrap="square" lIns="0" tIns="0" rIns="0" bIns="0" rtlCol="0" anchor="t"/>
          <a:lstStyle/>
          <a:p>
            <a:pPr algn="l" indent="0" marL="0">
              <a:lnSpc>
                <a:spcPct val="132000"/>
              </a:lnSpc>
              <a:buNone/>
            </a:pPr>
            <a:r>
              <a:rPr lang="en-US" sz="1300" dirty="0">
                <a:solidFill>
                  <a:srgbClr val="475569"/>
                </a:solidFill>
                <a:latin typeface="Poppins" pitchFamily="34" charset="0"/>
                <a:ea typeface="Poppins" pitchFamily="34" charset="-122"/>
                <a:cs typeface="Poppins" pitchFamily="34" charset="-120"/>
              </a:rPr>
              <a:t>Cards first means the headline answers exist before you spend forty minutes on a chart nobody needed.</a:t>
            </a:r>
            <a:endParaRPr lang="en-US" sz="1300" dirty="0"/>
          </a:p>
        </p:txBody>
      </p:sp>
      <p:pic>
        <p:nvPicPr>
          <p:cNvPr id="41"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42" name="Text 39"/>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How to present it in ninety seconds</a:t>
            </a:r>
            <a:endParaRPr lang="en-US" sz="2700" dirty="0"/>
          </a:p>
        </p:txBody>
      </p:sp>
      <p:sp>
        <p:nvSpPr>
          <p:cNvPr id="6" name="Shape 4"/>
          <p:cNvSpPr/>
          <p:nvPr/>
        </p:nvSpPr>
        <p:spPr>
          <a:xfrm>
            <a:off x="685800" y="1691640"/>
            <a:ext cx="4709160" cy="3246120"/>
          </a:xfrm>
          <a:prstGeom prst="roundRect">
            <a:avLst>
              <a:gd name="adj" fmla="val 2817"/>
            </a:avLst>
          </a:prstGeom>
          <a:solidFill>
            <a:srgbClr val="FFFFFF"/>
          </a:solidFill>
          <a:ln/>
          <a:effectLst>
            <a:outerShdw sx="100000" sy="100000" kx="0" ky="0" algn="bl" rotWithShape="0" blurRad="152400" dist="38100" dir="5400000">
              <a:srgbClr val="1B2A2E">
                <a:alpha val="14000"/>
              </a:srgbClr>
            </a:outerShdw>
          </a:effectLst>
        </p:spPr>
      </p:sp>
      <p:sp>
        <p:nvSpPr>
          <p:cNvPr id="7" name="Text 5"/>
          <p:cNvSpPr txBox="1"/>
          <p:nvPr/>
        </p:nvSpPr>
        <p:spPr>
          <a:xfrm>
            <a:off x="960120" y="1874520"/>
            <a:ext cx="4160520" cy="274320"/>
          </a:xfrm>
          <a:prstGeom prst="rect">
            <a:avLst/>
          </a:prstGeom>
          <a:noFill/>
          <a:ln/>
        </p:spPr>
        <p:txBody>
          <a:bodyPr wrap="square" lIns="0" tIns="0" rIns="0" bIns="0" rtlCol="0" anchor="ctr"/>
          <a:lstStyle/>
          <a:p>
            <a:pPr indent="0" marL="0">
              <a:buNone/>
            </a:pPr>
            <a:r>
              <a:rPr lang="en-US" sz="1100" b="1" spc="100" kern="0" dirty="0">
                <a:solidFill>
                  <a:srgbClr val="A8322D"/>
                </a:solidFill>
                <a:latin typeface="Poppins" pitchFamily="34" charset="0"/>
                <a:ea typeface="Poppins" pitchFamily="34" charset="-122"/>
                <a:cs typeface="Poppins" pitchFamily="34" charset="-120"/>
              </a:rPr>
              <a:t>THE TOUR</a:t>
            </a:r>
            <a:endParaRPr lang="en-US" sz="1100" dirty="0"/>
          </a:p>
        </p:txBody>
      </p:sp>
      <p:sp>
        <p:nvSpPr>
          <p:cNvPr id="8" name="Text 6"/>
          <p:cNvSpPr txBox="1"/>
          <p:nvPr/>
        </p:nvSpPr>
        <p:spPr>
          <a:xfrm>
            <a:off x="960120" y="2240280"/>
            <a:ext cx="4160520" cy="1463040"/>
          </a:xfrm>
          <a:prstGeom prst="rect">
            <a:avLst/>
          </a:prstGeom>
          <a:noFill/>
          <a:ln/>
        </p:spPr>
        <p:txBody>
          <a:bodyPr wrap="square" lIns="0" tIns="0" rIns="0" bIns="0" rtlCol="0" anchor="t"/>
          <a:lstStyle/>
          <a:p>
            <a:pPr algn="l" indent="0" marL="0">
              <a:lnSpc>
                <a:spcPct val="130000"/>
              </a:lnSpc>
              <a:buNone/>
            </a:pPr>
            <a:r>
              <a:rPr lang="en-US" sz="1300" i="1" dirty="0">
                <a:solidFill>
                  <a:srgbClr val="475569"/>
                </a:solidFill>
                <a:latin typeface="Poppins" pitchFamily="34" charset="0"/>
                <a:ea typeface="Poppins" pitchFamily="34" charset="-122"/>
                <a:cs typeface="Poppins" pitchFamily="34" charset="-120"/>
              </a:rPr>
              <a:t>“Up here I have on-time rate, and then over here is deliveries by route, and if you click this slicer it filters, and down here is the rider table…”</a:t>
            </a:r>
            <a:endParaRPr lang="en-US" sz="1300" dirty="0"/>
          </a:p>
        </p:txBody>
      </p:sp>
      <p:sp>
        <p:nvSpPr>
          <p:cNvPr id="9" name="Shape 7"/>
          <p:cNvSpPr/>
          <p:nvPr/>
        </p:nvSpPr>
        <p:spPr>
          <a:xfrm>
            <a:off x="960120" y="3840480"/>
            <a:ext cx="3108960" cy="365760"/>
          </a:xfrm>
          <a:prstGeom prst="roundRect">
            <a:avLst>
              <a:gd name="adj" fmla="val 50000"/>
            </a:avLst>
          </a:prstGeom>
          <a:solidFill>
            <a:srgbClr val="FBEDEC"/>
          </a:solidFill>
          <a:ln/>
        </p:spPr>
      </p:sp>
      <p:sp>
        <p:nvSpPr>
          <p:cNvPr id="10" name="Text 8"/>
          <p:cNvSpPr txBox="1"/>
          <p:nvPr/>
        </p:nvSpPr>
        <p:spPr>
          <a:xfrm>
            <a:off x="960120" y="3840480"/>
            <a:ext cx="3108960" cy="365760"/>
          </a:xfrm>
          <a:prstGeom prst="rect">
            <a:avLst/>
          </a:prstGeom>
          <a:noFill/>
          <a:ln/>
        </p:spPr>
        <p:txBody>
          <a:bodyPr wrap="square" lIns="0" tIns="0" rIns="0" bIns="0" rtlCol="0" anchor="ctr"/>
          <a:lstStyle/>
          <a:p>
            <a:pPr algn="ctr" indent="0" marL="0">
              <a:buNone/>
            </a:pPr>
            <a:r>
              <a:rPr lang="en-US" sz="1100" b="1" dirty="0">
                <a:solidFill>
                  <a:srgbClr val="A8322D"/>
                </a:solidFill>
                <a:latin typeface="Poppins" pitchFamily="34" charset="0"/>
                <a:ea typeface="Poppins" pitchFamily="34" charset="-122"/>
                <a:cs typeface="Poppins" pitchFamily="34" charset="-120"/>
              </a:rPr>
              <a:t>Two minutes, no decision</a:t>
            </a:r>
            <a:endParaRPr lang="en-US" sz="1100" dirty="0"/>
          </a:p>
        </p:txBody>
      </p:sp>
      <p:sp>
        <p:nvSpPr>
          <p:cNvPr id="11" name="Shape 9"/>
          <p:cNvSpPr/>
          <p:nvPr/>
        </p:nvSpPr>
        <p:spPr>
          <a:xfrm>
            <a:off x="5806440" y="1691640"/>
            <a:ext cx="4709160" cy="3246120"/>
          </a:xfrm>
          <a:prstGeom prst="roundRect">
            <a:avLst>
              <a:gd name="adj" fmla="val 2817"/>
            </a:avLst>
          </a:prstGeom>
          <a:solidFill>
            <a:srgbClr val="387F7F"/>
          </a:solidFill>
          <a:ln/>
          <a:effectLst>
            <a:outerShdw sx="100000" sy="100000" kx="0" ky="0" algn="bl" rotWithShape="0" blurRad="152400" dist="38100" dir="5400000">
              <a:srgbClr val="1B2A2E">
                <a:alpha val="20000"/>
              </a:srgbClr>
            </a:outerShdw>
          </a:effectLst>
        </p:spPr>
      </p:sp>
      <p:sp>
        <p:nvSpPr>
          <p:cNvPr id="12" name="Text 10"/>
          <p:cNvSpPr txBox="1"/>
          <p:nvPr/>
        </p:nvSpPr>
        <p:spPr>
          <a:xfrm>
            <a:off x="6080760" y="1874520"/>
            <a:ext cx="4160520" cy="274320"/>
          </a:xfrm>
          <a:prstGeom prst="rect">
            <a:avLst/>
          </a:prstGeom>
          <a:noFill/>
          <a:ln/>
        </p:spPr>
        <p:txBody>
          <a:bodyPr wrap="square" lIns="0" tIns="0" rIns="0" bIns="0" rtlCol="0" anchor="ctr"/>
          <a:lstStyle/>
          <a:p>
            <a:pPr indent="0" marL="0">
              <a:buNone/>
            </a:pPr>
            <a:r>
              <a:rPr lang="en-US" sz="1100" b="1" spc="100" kern="0" dirty="0">
                <a:solidFill>
                  <a:srgbClr val="8FBEBE"/>
                </a:solidFill>
                <a:latin typeface="Poppins" pitchFamily="34" charset="0"/>
                <a:ea typeface="Poppins" pitchFamily="34" charset="-122"/>
                <a:cs typeface="Poppins" pitchFamily="34" charset="-120"/>
              </a:rPr>
              <a:t>THE FINDING</a:t>
            </a:r>
            <a:endParaRPr lang="en-US" sz="1100" dirty="0"/>
          </a:p>
        </p:txBody>
      </p:sp>
      <p:sp>
        <p:nvSpPr>
          <p:cNvPr id="13" name="Text 11"/>
          <p:cNvSpPr txBox="1"/>
          <p:nvPr/>
        </p:nvSpPr>
        <p:spPr>
          <a:xfrm>
            <a:off x="6080760" y="2240280"/>
            <a:ext cx="4160520" cy="146304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Poppins" pitchFamily="34" charset="0"/>
                <a:ea typeface="Poppins" pitchFamily="34" charset="-122"/>
                <a:cs typeface="Poppins" pitchFamily="34" charset="-120"/>
              </a:rPr>
              <a:t>“We are eight points below the SLA this month. It is concentrated in one corridor: LAG-07 is running at 61 percent while everything else is above 80. It is not the riders, they perform fine elsewhere. I would look at the Apapa dispatch window.”</a:t>
            </a:r>
            <a:endParaRPr lang="en-US" sz="1300" dirty="0"/>
          </a:p>
        </p:txBody>
      </p:sp>
      <p:sp>
        <p:nvSpPr>
          <p:cNvPr id="14" name="Shape 12"/>
          <p:cNvSpPr/>
          <p:nvPr/>
        </p:nvSpPr>
        <p:spPr>
          <a:xfrm>
            <a:off x="6080760" y="3840480"/>
            <a:ext cx="3108960" cy="365760"/>
          </a:xfrm>
          <a:prstGeom prst="roundRect">
            <a:avLst>
              <a:gd name="adj" fmla="val 50000"/>
            </a:avLst>
          </a:prstGeom>
          <a:solidFill>
            <a:srgbClr val="FFFFFF"/>
          </a:solidFill>
          <a:ln/>
        </p:spPr>
      </p:sp>
      <p:sp>
        <p:nvSpPr>
          <p:cNvPr id="15" name="Text 13"/>
          <p:cNvSpPr txBox="1"/>
          <p:nvPr/>
        </p:nvSpPr>
        <p:spPr>
          <a:xfrm>
            <a:off x="6080760" y="3840480"/>
            <a:ext cx="3108960" cy="365760"/>
          </a:xfrm>
          <a:prstGeom prst="rect">
            <a:avLst/>
          </a:prstGeom>
          <a:noFill/>
          <a:ln/>
        </p:spPr>
        <p:txBody>
          <a:bodyPr wrap="square" lIns="0" tIns="0" rIns="0" bIns="0" rtlCol="0" anchor="ctr"/>
          <a:lstStyle/>
          <a:p>
            <a:pPr algn="ctr" indent="0" marL="0">
              <a:buNone/>
            </a:pPr>
            <a:r>
              <a:rPr lang="en-US" sz="1100" b="1" dirty="0">
                <a:solidFill>
                  <a:srgbClr val="387F7F"/>
                </a:solidFill>
                <a:latin typeface="Poppins" pitchFamily="34" charset="0"/>
                <a:ea typeface="Poppins" pitchFamily="34" charset="-122"/>
                <a:cs typeface="Poppins" pitchFamily="34" charset="-120"/>
              </a:rPr>
              <a:t>Forty seconds, one decision</a:t>
            </a:r>
            <a:endParaRPr lang="en-US" sz="1100" dirty="0"/>
          </a:p>
        </p:txBody>
      </p:sp>
      <p:sp>
        <p:nvSpPr>
          <p:cNvPr id="16" name="Shape 14"/>
          <p:cNvSpPr/>
          <p:nvPr/>
        </p:nvSpPr>
        <p:spPr>
          <a:xfrm>
            <a:off x="685800" y="5166360"/>
            <a:ext cx="9829800" cy="822960"/>
          </a:xfrm>
          <a:prstGeom prst="roundRect">
            <a:avLst>
              <a:gd name="adj" fmla="val 10000"/>
            </a:avLst>
          </a:prstGeom>
          <a:solidFill>
            <a:srgbClr val="EEF4F4"/>
          </a:solidFill>
          <a:ln/>
        </p:spPr>
      </p:sp>
      <p:sp>
        <p:nvSpPr>
          <p:cNvPr id="17" name="Shape 15"/>
          <p:cNvSpPr/>
          <p:nvPr/>
        </p:nvSpPr>
        <p:spPr>
          <a:xfrm>
            <a:off x="685800" y="5166360"/>
            <a:ext cx="68580" cy="822960"/>
          </a:xfrm>
          <a:prstGeom prst="rect">
            <a:avLst/>
          </a:prstGeom>
          <a:solidFill>
            <a:srgbClr val="387F7F"/>
          </a:solidFill>
          <a:ln/>
        </p:spPr>
      </p:sp>
      <p:sp>
        <p:nvSpPr>
          <p:cNvPr id="18" name="Text 16"/>
          <p:cNvSpPr txBox="1"/>
          <p:nvPr/>
        </p:nvSpPr>
        <p:spPr>
          <a:xfrm>
            <a:off x="1051560" y="5166360"/>
            <a:ext cx="9235440" cy="822960"/>
          </a:xfrm>
          <a:prstGeom prst="rect">
            <a:avLst/>
          </a:prstGeom>
          <a:noFill/>
          <a:ln/>
        </p:spPr>
        <p:txBody>
          <a:bodyPr wrap="square" lIns="0" tIns="0" rIns="0" bIns="0" rtlCol="0" anchor="ctr"/>
          <a:lstStyle/>
          <a:p>
            <a:pPr algn="l" indent="0" marL="0">
              <a:lnSpc>
                <a:spcPct val="135000"/>
              </a:lnSpc>
              <a:buNone/>
            </a:pPr>
            <a:r>
              <a:rPr lang="en-US" sz="1500" b="1" dirty="0">
                <a:solidFill>
                  <a:srgbClr val="387F7F"/>
                </a:solidFill>
                <a:latin typeface="Poppins" pitchFamily="34" charset="0"/>
                <a:ea typeface="Poppins" pitchFamily="34" charset="-122"/>
                <a:cs typeface="Poppins" pitchFamily="34" charset="-120"/>
              </a:rPr>
              <a:t>Lead with the answer. Show the dashboard as evidence, not as an itinerary.</a:t>
            </a:r>
            <a:endParaRPr lang="en-US" sz="1500" dirty="0"/>
          </a:p>
        </p:txBody>
      </p:sp>
      <p:pic>
        <p:nvPicPr>
          <p:cNvPr id="19"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0" name="Text 17"/>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02920"/>
            <a:ext cx="10817352" cy="1234440"/>
          </a:xfrm>
          <a:prstGeom prst="roundRect">
            <a:avLst>
              <a:gd name="adj" fmla="val 10370"/>
            </a:avLst>
          </a:prstGeom>
          <a:solidFill>
            <a:srgbClr val="20494A"/>
          </a:solidFill>
          <a:ln/>
        </p:spPr>
      </p:sp>
      <p:sp>
        <p:nvSpPr>
          <p:cNvPr id="5" name="Shape 3"/>
          <p:cNvSpPr/>
          <p:nvPr/>
        </p:nvSpPr>
        <p:spPr>
          <a:xfrm>
            <a:off x="685800" y="640080"/>
            <a:ext cx="82296" cy="960120"/>
          </a:xfrm>
          <a:prstGeom prst="rect">
            <a:avLst/>
          </a:prstGeom>
          <a:solidFill>
            <a:srgbClr val="387F7F"/>
          </a:solidFill>
          <a:ln/>
        </p:spPr>
      </p:sp>
      <p:sp>
        <p:nvSpPr>
          <p:cNvPr id="6" name="Text 4"/>
          <p:cNvSpPr txBox="1"/>
          <p:nvPr/>
        </p:nvSpPr>
        <p:spPr>
          <a:xfrm>
            <a:off x="960120" y="658368"/>
            <a:ext cx="5486400" cy="292608"/>
          </a:xfrm>
          <a:prstGeom prst="rect">
            <a:avLst/>
          </a:prstGeom>
          <a:noFill/>
          <a:ln/>
        </p:spPr>
        <p:txBody>
          <a:bodyPr wrap="square" lIns="0" tIns="0" rIns="0" bIns="0" rtlCol="0" anchor="ctr"/>
          <a:lstStyle/>
          <a:p>
            <a:pPr indent="0" marL="0">
              <a:buNone/>
            </a:pPr>
            <a:r>
              <a:rPr lang="en-US" sz="1200" b="1" spc="200" kern="0" dirty="0">
                <a:solidFill>
                  <a:srgbClr val="8FBEBE"/>
                </a:solidFill>
                <a:latin typeface="Poppins" pitchFamily="34" charset="0"/>
                <a:ea typeface="Poppins" pitchFamily="34" charset="-122"/>
                <a:cs typeface="Poppins" pitchFamily="34" charset="-120"/>
              </a:rPr>
              <a:t>YOUR TURN</a:t>
            </a:r>
            <a:endParaRPr lang="en-US" sz="1200" dirty="0"/>
          </a:p>
        </p:txBody>
      </p:sp>
      <p:sp>
        <p:nvSpPr>
          <p:cNvPr id="7" name="Text 5"/>
          <p:cNvSpPr txBox="1"/>
          <p:nvPr/>
        </p:nvSpPr>
        <p:spPr>
          <a:xfrm>
            <a:off x="960120" y="932688"/>
            <a:ext cx="7863840" cy="658368"/>
          </a:xfrm>
          <a:prstGeom prst="rect">
            <a:avLst/>
          </a:prstGeom>
          <a:noFill/>
          <a:ln/>
        </p:spPr>
        <p:txBody>
          <a:bodyPr wrap="square" lIns="0" tIns="0" rIns="0" bIns="0" rtlCol="0" anchor="ctr"/>
          <a:lstStyle/>
          <a:p>
            <a:pPr indent="0" marL="0">
              <a:buNone/>
            </a:pPr>
            <a:r>
              <a:rPr lang="en-US" sz="2700" b="1" dirty="0">
                <a:solidFill>
                  <a:srgbClr val="FFFFFF"/>
                </a:solidFill>
                <a:latin typeface="Poppins" pitchFamily="34" charset="0"/>
                <a:ea typeface="Poppins" pitchFamily="34" charset="-122"/>
                <a:cs typeface="Poppins" pitchFamily="34" charset="-120"/>
              </a:rPr>
              <a:t>Build for Adaeze</a:t>
            </a:r>
            <a:endParaRPr lang="en-US" sz="2700" dirty="0"/>
          </a:p>
        </p:txBody>
      </p:sp>
      <p:sp>
        <p:nvSpPr>
          <p:cNvPr id="8" name="Shape 6"/>
          <p:cNvSpPr/>
          <p:nvPr/>
        </p:nvSpPr>
        <p:spPr>
          <a:xfrm>
            <a:off x="10058400" y="868680"/>
            <a:ext cx="1234440" cy="502920"/>
          </a:xfrm>
          <a:prstGeom prst="roundRect">
            <a:avLst>
              <a:gd name="adj" fmla="val 49091"/>
            </a:avLst>
          </a:prstGeom>
          <a:solidFill>
            <a:srgbClr val="387F7F"/>
          </a:solidFill>
          <a:ln/>
        </p:spPr>
      </p:sp>
      <p:sp>
        <p:nvSpPr>
          <p:cNvPr id="9" name="Text 7"/>
          <p:cNvSpPr txBox="1"/>
          <p:nvPr/>
        </p:nvSpPr>
        <p:spPr>
          <a:xfrm>
            <a:off x="10058400" y="868680"/>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20 min</a:t>
            </a:r>
            <a:endParaRPr lang="en-US" sz="1400" dirty="0"/>
          </a:p>
        </p:txBody>
      </p:sp>
      <p:sp>
        <p:nvSpPr>
          <p:cNvPr id="10" name="Shape 8"/>
          <p:cNvSpPr/>
          <p:nvPr/>
        </p:nvSpPr>
        <p:spPr>
          <a:xfrm>
            <a:off x="685800" y="2011680"/>
            <a:ext cx="10424160" cy="1417320"/>
          </a:xfrm>
          <a:prstGeom prst="roundRect">
            <a:avLst>
              <a:gd name="adj" fmla="val 6452"/>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685800" y="2011680"/>
            <a:ext cx="82296" cy="1417320"/>
          </a:xfrm>
          <a:prstGeom prst="rect">
            <a:avLst/>
          </a:prstGeom>
          <a:solidFill>
            <a:srgbClr val="387F7F"/>
          </a:solidFill>
          <a:ln/>
        </p:spPr>
      </p:sp>
      <p:sp>
        <p:nvSpPr>
          <p:cNvPr id="12" name="Text 10"/>
          <p:cNvSpPr txBox="1"/>
          <p:nvPr/>
        </p:nvSpPr>
        <p:spPr>
          <a:xfrm>
            <a:off x="1005840" y="2194560"/>
            <a:ext cx="9601200" cy="274320"/>
          </a:xfrm>
          <a:prstGeom prst="rect">
            <a:avLst/>
          </a:prstGeom>
          <a:noFill/>
          <a:ln/>
        </p:spPr>
        <p:txBody>
          <a:bodyPr wrap="square" lIns="0" tIns="0" rIns="0" bIns="0" rtlCol="0" anchor="ctr"/>
          <a:lstStyle/>
          <a:p>
            <a:pPr indent="0" marL="0">
              <a:buNone/>
            </a:pPr>
            <a:r>
              <a:rPr lang="en-US" sz="1100" b="1" dirty="0">
                <a:solidFill>
                  <a:srgbClr val="387F7F"/>
                </a:solidFill>
                <a:latin typeface="Poppins" pitchFamily="34" charset="0"/>
                <a:ea typeface="Poppins" pitchFamily="34" charset="-122"/>
                <a:cs typeface="Poppins" pitchFamily="34" charset="-120"/>
              </a:rPr>
              <a:t>THE TASK</a:t>
            </a:r>
            <a:endParaRPr lang="en-US" sz="1100" dirty="0"/>
          </a:p>
        </p:txBody>
      </p:sp>
      <p:sp>
        <p:nvSpPr>
          <p:cNvPr id="13" name="Text 11"/>
          <p:cNvSpPr txBox="1"/>
          <p:nvPr/>
        </p:nvSpPr>
        <p:spPr>
          <a:xfrm>
            <a:off x="1005840" y="2514600"/>
            <a:ext cx="9875520" cy="822960"/>
          </a:xfrm>
          <a:prstGeom prst="rect">
            <a:avLst/>
          </a:prstGeom>
          <a:noFill/>
          <a:ln/>
        </p:spPr>
        <p:txBody>
          <a:bodyPr wrap="square" lIns="0" tIns="0" rIns="0" bIns="0" rtlCol="0" anchor="t"/>
          <a:lstStyle/>
          <a:p>
            <a:pPr algn="l" indent="0" marL="0">
              <a:lnSpc>
                <a:spcPct val="135000"/>
              </a:lnSpc>
              <a:buNone/>
            </a:pPr>
            <a:r>
              <a:rPr lang="en-US" sz="1550" dirty="0">
                <a:solidFill>
                  <a:srgbClr val="475569"/>
                </a:solidFill>
                <a:latin typeface="Poppins" pitchFamily="34" charset="0"/>
                <a:ea typeface="Poppins" pitchFamily="34" charset="-122"/>
                <a:cs typeface="Poppins" pitchFamily="34" charset="-120"/>
              </a:rPr>
              <a:t>Sketch on paper for three minutes, then build a one-page dashboard answering Adaeze's three questions. Four KPI cards, one ranked chart, one detail table, two slicers.</a:t>
            </a:r>
            <a:endParaRPr lang="en-US" sz="1550" dirty="0"/>
          </a:p>
        </p:txBody>
      </p:sp>
      <p:sp>
        <p:nvSpPr>
          <p:cNvPr id="14" name="Shape 12"/>
          <p:cNvSpPr/>
          <p:nvPr/>
        </p:nvSpPr>
        <p:spPr>
          <a:xfrm>
            <a:off x="685800" y="3611880"/>
            <a:ext cx="10424160" cy="1600200"/>
          </a:xfrm>
          <a:prstGeom prst="roundRect">
            <a:avLst>
              <a:gd name="adj" fmla="val 5143"/>
            </a:avLst>
          </a:prstGeom>
          <a:solidFill>
            <a:srgbClr val="EEF4F4"/>
          </a:solidFill>
          <a:ln/>
        </p:spPr>
      </p:sp>
      <p:sp>
        <p:nvSpPr>
          <p:cNvPr id="15" name="Shape 13"/>
          <p:cNvSpPr/>
          <p:nvPr/>
        </p:nvSpPr>
        <p:spPr>
          <a:xfrm>
            <a:off x="685800" y="3611880"/>
            <a:ext cx="82296" cy="1600200"/>
          </a:xfrm>
          <a:prstGeom prst="rect">
            <a:avLst/>
          </a:prstGeom>
          <a:solidFill>
            <a:srgbClr val="9BB7B7"/>
          </a:solidFill>
          <a:ln/>
        </p:spPr>
      </p:sp>
      <p:sp>
        <p:nvSpPr>
          <p:cNvPr id="16" name="Text 14"/>
          <p:cNvSpPr txBox="1"/>
          <p:nvPr/>
        </p:nvSpPr>
        <p:spPr>
          <a:xfrm>
            <a:off x="1005840" y="3794760"/>
            <a:ext cx="9601200" cy="292608"/>
          </a:xfrm>
          <a:prstGeom prst="rect">
            <a:avLst/>
          </a:prstGeom>
          <a:noFill/>
          <a:ln/>
        </p:spPr>
        <p:txBody>
          <a:bodyPr wrap="square" lIns="0" tIns="0" rIns="0" bIns="0" rtlCol="0" anchor="ctr"/>
          <a:lstStyle/>
          <a:p>
            <a:pPr indent="0" marL="0">
              <a:buNone/>
            </a:pPr>
            <a:r>
              <a:rPr lang="en-US" sz="1100" b="1" dirty="0">
                <a:solidFill>
                  <a:srgbClr val="20494A"/>
                </a:solidFill>
                <a:latin typeface="Poppins" pitchFamily="34" charset="0"/>
                <a:ea typeface="Poppins" pitchFamily="34" charset="-122"/>
                <a:cs typeface="Poppins" pitchFamily="34" charset="-120"/>
              </a:rPr>
              <a:t>EXPECTED OUTPUT</a:t>
            </a:r>
            <a:endParaRPr lang="en-US" sz="1100" dirty="0"/>
          </a:p>
        </p:txBody>
      </p:sp>
      <p:sp>
        <p:nvSpPr>
          <p:cNvPr id="17" name="Text 15"/>
          <p:cNvSpPr txBox="1"/>
          <p:nvPr/>
        </p:nvSpPr>
        <p:spPr>
          <a:xfrm>
            <a:off x="1005840" y="4114800"/>
            <a:ext cx="9875520" cy="1005840"/>
          </a:xfrm>
          <a:prstGeom prst="rect">
            <a:avLst/>
          </a:prstGeom>
          <a:noFill/>
          <a:ln/>
        </p:spPr>
        <p:txBody>
          <a:bodyPr wrap="square" lIns="0" tIns="0" rIns="0" bIns="0" rtlCol="0" anchor="t"/>
          <a:lstStyle/>
          <a:p>
            <a:pPr algn="l" indent="0" marL="0">
              <a:lnSpc>
                <a:spcPct val="128000"/>
              </a:lnSpc>
              <a:buNone/>
            </a:pPr>
            <a:r>
              <a:rPr lang="en-US" sz="1350" dirty="0">
                <a:solidFill>
                  <a:srgbClr val="475569"/>
                </a:solidFill>
                <a:latin typeface="Poppins" pitchFamily="34" charset="0"/>
                <a:ea typeface="Poppins" pitchFamily="34" charset="-122"/>
                <a:cs typeface="Poppins" pitchFamily="34" charset="-120"/>
              </a:rPr>
              <a:t>On-Time Rate card reads 82.0% against a visible 90% target. Ranked route chart puts LAG-07 last at 61.4%. Clicking the Hub slicer changes both the chart and the table. Every axis labelled, every card formatted, one refresh stamp on the canvas.</a:t>
            </a:r>
            <a:endParaRPr lang="en-US" sz="1350" dirty="0"/>
          </a:p>
        </p:txBody>
      </p:sp>
      <p:sp>
        <p:nvSpPr>
          <p:cNvPr id="18" name="Text 16"/>
          <p:cNvSpPr txBox="1"/>
          <p:nvPr/>
        </p:nvSpPr>
        <p:spPr>
          <a:xfrm>
            <a:off x="685800" y="5349240"/>
            <a:ext cx="10424160" cy="365760"/>
          </a:xfrm>
          <a:prstGeom prst="rect">
            <a:avLst/>
          </a:prstGeom>
          <a:noFill/>
          <a:ln/>
        </p:spPr>
        <p:txBody>
          <a:bodyPr wrap="square" lIns="0" tIns="0" rIns="0" bIns="0" rtlCol="0" anchor="t"/>
          <a:lstStyle/>
          <a:p>
            <a:pPr algn="ctr" indent="0" marL="0">
              <a:lnSpc>
                <a:spcPct val="135000"/>
              </a:lnSpc>
              <a:buNone/>
            </a:pPr>
            <a:r>
              <a:rPr lang="en-US" sz="1350" i="1" dirty="0">
                <a:solidFill>
                  <a:srgbClr val="64748B"/>
                </a:solidFill>
                <a:latin typeface="Poppins" pitchFamily="34" charset="0"/>
                <a:ea typeface="Poppins" pitchFamily="34" charset="-122"/>
                <a:cs typeface="Poppins" pitchFamily="34" charset="-120"/>
              </a:rPr>
              <a:t>Then present it to your partner in forty seconds, leading with the finding.</a:t>
            </a:r>
            <a:endParaRPr lang="en-US" sz="1350" dirty="0"/>
          </a:p>
        </p:txBody>
      </p:sp>
      <p:pic>
        <p:nvPicPr>
          <p:cNvPr id="19"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0" name="Text 17"/>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Three questions to ask of any dashboard, including your own</a:t>
            </a:r>
            <a:endParaRPr lang="en-US" sz="2400" dirty="0"/>
          </a:p>
        </p:txBody>
      </p:sp>
      <p:sp>
        <p:nvSpPr>
          <p:cNvPr id="6" name="Shape 4"/>
          <p:cNvSpPr/>
          <p:nvPr/>
        </p:nvSpPr>
        <p:spPr>
          <a:xfrm>
            <a:off x="685800" y="1737360"/>
            <a:ext cx="9829800" cy="960120"/>
          </a:xfrm>
          <a:prstGeom prst="roundRect">
            <a:avLst>
              <a:gd name="adj" fmla="val 9524"/>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932688" y="1956816"/>
            <a:ext cx="530352" cy="530352"/>
          </a:xfrm>
          <a:prstGeom prst="ellipse">
            <a:avLst/>
          </a:prstGeom>
          <a:solidFill>
            <a:srgbClr val="387F7F"/>
          </a:solidFill>
          <a:ln/>
        </p:spPr>
      </p:sp>
      <p:sp>
        <p:nvSpPr>
          <p:cNvPr id="8" name="Text 6"/>
          <p:cNvSpPr txBox="1"/>
          <p:nvPr/>
        </p:nvSpPr>
        <p:spPr>
          <a:xfrm>
            <a:off x="932688" y="1956816"/>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1</a:t>
            </a:r>
            <a:endParaRPr lang="en-US" sz="2100" dirty="0"/>
          </a:p>
        </p:txBody>
      </p:sp>
      <p:sp>
        <p:nvSpPr>
          <p:cNvPr id="9" name="Text 7"/>
          <p:cNvSpPr txBox="1"/>
          <p:nvPr/>
        </p:nvSpPr>
        <p:spPr>
          <a:xfrm>
            <a:off x="1691640" y="1828800"/>
            <a:ext cx="8595360" cy="777240"/>
          </a:xfrm>
          <a:prstGeom prst="rect">
            <a:avLst/>
          </a:prstGeom>
          <a:noFill/>
          <a:ln/>
        </p:spPr>
        <p:txBody>
          <a:bodyPr wrap="square" lIns="0" tIns="0" rIns="0" bIns="0" rtlCol="0" anchor="ctr"/>
          <a:lstStyle/>
          <a:p>
            <a:pPr algn="l" indent="0" marL="0">
              <a:lnSpc>
                <a:spcPct val="125000"/>
              </a:lnSpc>
              <a:buNone/>
            </a:pPr>
            <a:r>
              <a:rPr lang="en-US" sz="1500" dirty="0">
                <a:solidFill>
                  <a:srgbClr val="475569"/>
                </a:solidFill>
                <a:latin typeface="Poppins" pitchFamily="34" charset="0"/>
                <a:ea typeface="Poppins" pitchFamily="34" charset="-122"/>
                <a:cs typeface="Poppins" pitchFamily="34" charset="-120"/>
              </a:rPr>
              <a:t>If I removed this visual, what decision would become harder? If none, remove it.</a:t>
            </a:r>
            <a:endParaRPr lang="en-US" sz="1500" dirty="0"/>
          </a:p>
        </p:txBody>
      </p:sp>
      <p:sp>
        <p:nvSpPr>
          <p:cNvPr id="10" name="Shape 8"/>
          <p:cNvSpPr/>
          <p:nvPr/>
        </p:nvSpPr>
        <p:spPr>
          <a:xfrm>
            <a:off x="685800" y="2880360"/>
            <a:ext cx="9829800" cy="960120"/>
          </a:xfrm>
          <a:prstGeom prst="roundRect">
            <a:avLst>
              <a:gd name="adj" fmla="val 9524"/>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932688" y="3099816"/>
            <a:ext cx="530352" cy="530352"/>
          </a:xfrm>
          <a:prstGeom prst="ellipse">
            <a:avLst/>
          </a:prstGeom>
          <a:solidFill>
            <a:srgbClr val="387F7F"/>
          </a:solidFill>
          <a:ln/>
        </p:spPr>
      </p:sp>
      <p:sp>
        <p:nvSpPr>
          <p:cNvPr id="12" name="Text 10"/>
          <p:cNvSpPr txBox="1"/>
          <p:nvPr/>
        </p:nvSpPr>
        <p:spPr>
          <a:xfrm>
            <a:off x="932688" y="3099816"/>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2</a:t>
            </a:r>
            <a:endParaRPr lang="en-US" sz="2100" dirty="0"/>
          </a:p>
        </p:txBody>
      </p:sp>
      <p:sp>
        <p:nvSpPr>
          <p:cNvPr id="13" name="Text 11"/>
          <p:cNvSpPr txBox="1"/>
          <p:nvPr/>
        </p:nvSpPr>
        <p:spPr>
          <a:xfrm>
            <a:off x="1691640" y="2971800"/>
            <a:ext cx="8595360" cy="777240"/>
          </a:xfrm>
          <a:prstGeom prst="rect">
            <a:avLst/>
          </a:prstGeom>
          <a:noFill/>
          <a:ln/>
        </p:spPr>
        <p:txBody>
          <a:bodyPr wrap="square" lIns="0" tIns="0" rIns="0" bIns="0" rtlCol="0" anchor="ctr"/>
          <a:lstStyle/>
          <a:p>
            <a:pPr algn="l" indent="0" marL="0">
              <a:lnSpc>
                <a:spcPct val="125000"/>
              </a:lnSpc>
              <a:buNone/>
            </a:pPr>
            <a:r>
              <a:rPr lang="en-US" sz="1500" dirty="0">
                <a:solidFill>
                  <a:srgbClr val="475569"/>
                </a:solidFill>
                <a:latin typeface="Poppins" pitchFamily="34" charset="0"/>
                <a:ea typeface="Poppins" pitchFamily="34" charset="-122"/>
                <a:cs typeface="Poppins" pitchFamily="34" charset="-120"/>
              </a:rPr>
              <a:t>Can a stranger tell what is filtered right now, without asking?</a:t>
            </a:r>
            <a:endParaRPr lang="en-US" sz="1500" dirty="0"/>
          </a:p>
        </p:txBody>
      </p:sp>
      <p:sp>
        <p:nvSpPr>
          <p:cNvPr id="14" name="Shape 12"/>
          <p:cNvSpPr/>
          <p:nvPr/>
        </p:nvSpPr>
        <p:spPr>
          <a:xfrm>
            <a:off x="685800" y="4023360"/>
            <a:ext cx="9829800" cy="960120"/>
          </a:xfrm>
          <a:prstGeom prst="roundRect">
            <a:avLst>
              <a:gd name="adj" fmla="val 9524"/>
            </a:avLst>
          </a:prstGeom>
          <a:solidFill>
            <a:srgbClr val="FFFFFF"/>
          </a:solidFill>
          <a:ln/>
          <a:effectLst>
            <a:outerShdw sx="100000" sy="100000" kx="0" ky="0" algn="bl" rotWithShape="0" blurRad="152400" dist="38100" dir="5400000">
              <a:srgbClr val="1B2A2E">
                <a:alpha val="14000"/>
              </a:srgbClr>
            </a:outerShdw>
          </a:effectLst>
        </p:spPr>
      </p:sp>
      <p:sp>
        <p:nvSpPr>
          <p:cNvPr id="15" name="Shape 13"/>
          <p:cNvSpPr/>
          <p:nvPr/>
        </p:nvSpPr>
        <p:spPr>
          <a:xfrm>
            <a:off x="932688" y="4242816"/>
            <a:ext cx="530352" cy="530352"/>
          </a:xfrm>
          <a:prstGeom prst="ellipse">
            <a:avLst/>
          </a:prstGeom>
          <a:solidFill>
            <a:srgbClr val="387F7F"/>
          </a:solidFill>
          <a:ln/>
        </p:spPr>
      </p:sp>
      <p:sp>
        <p:nvSpPr>
          <p:cNvPr id="16" name="Text 14"/>
          <p:cNvSpPr txBox="1"/>
          <p:nvPr/>
        </p:nvSpPr>
        <p:spPr>
          <a:xfrm>
            <a:off x="932688" y="4242816"/>
            <a:ext cx="530352" cy="530352"/>
          </a:xfrm>
          <a:prstGeom prst="rect">
            <a:avLst/>
          </a:prstGeom>
          <a:noFill/>
          <a:ln/>
        </p:spPr>
        <p:txBody>
          <a:bodyPr wrap="square" lIns="0" tIns="0" rIns="0" bIns="0" rtlCol="0" anchor="ctr"/>
          <a:lstStyle/>
          <a:p>
            <a:pPr algn="ctr" indent="0" marL="0">
              <a:buNone/>
            </a:pPr>
            <a:r>
              <a:rPr lang="en-US" sz="2100" b="1" dirty="0">
                <a:solidFill>
                  <a:srgbClr val="FFFFFF"/>
                </a:solidFill>
                <a:latin typeface="Poppins" pitchFamily="34" charset="0"/>
                <a:ea typeface="Poppins" pitchFamily="34" charset="-122"/>
                <a:cs typeface="Poppins" pitchFamily="34" charset="-120"/>
              </a:rPr>
              <a:t>3</a:t>
            </a:r>
            <a:endParaRPr lang="en-US" sz="2100" dirty="0"/>
          </a:p>
        </p:txBody>
      </p:sp>
      <p:sp>
        <p:nvSpPr>
          <p:cNvPr id="17" name="Text 15"/>
          <p:cNvSpPr txBox="1"/>
          <p:nvPr/>
        </p:nvSpPr>
        <p:spPr>
          <a:xfrm>
            <a:off x="1691640" y="4114800"/>
            <a:ext cx="8595360" cy="777240"/>
          </a:xfrm>
          <a:prstGeom prst="rect">
            <a:avLst/>
          </a:prstGeom>
          <a:noFill/>
          <a:ln/>
        </p:spPr>
        <p:txBody>
          <a:bodyPr wrap="square" lIns="0" tIns="0" rIns="0" bIns="0" rtlCol="0" anchor="ctr"/>
          <a:lstStyle/>
          <a:p>
            <a:pPr algn="l" indent="0" marL="0">
              <a:lnSpc>
                <a:spcPct val="125000"/>
              </a:lnSpc>
              <a:buNone/>
            </a:pPr>
            <a:r>
              <a:rPr lang="en-US" sz="1500" dirty="0">
                <a:solidFill>
                  <a:srgbClr val="475569"/>
                </a:solidFill>
                <a:latin typeface="Poppins" pitchFamily="34" charset="0"/>
                <a:ea typeface="Poppins" pitchFamily="34" charset="-122"/>
                <a:cs typeface="Poppins" pitchFamily="34" charset="-120"/>
              </a:rPr>
              <a:t>Does the title of each visual state a finding, or just name the fields?</a:t>
            </a:r>
            <a:endParaRPr lang="en-US" sz="1500" dirty="0"/>
          </a:p>
        </p:txBody>
      </p:sp>
      <p:sp>
        <p:nvSpPr>
          <p:cNvPr id="18" name="Shape 16"/>
          <p:cNvSpPr/>
          <p:nvPr/>
        </p:nvSpPr>
        <p:spPr>
          <a:xfrm>
            <a:off x="685800" y="5257800"/>
            <a:ext cx="9829800" cy="777240"/>
          </a:xfrm>
          <a:prstGeom prst="roundRect">
            <a:avLst>
              <a:gd name="adj" fmla="val 10588"/>
            </a:avLst>
          </a:prstGeom>
          <a:solidFill>
            <a:srgbClr val="EEF4F4"/>
          </a:solidFill>
          <a:ln/>
        </p:spPr>
      </p:sp>
      <p:sp>
        <p:nvSpPr>
          <p:cNvPr id="19" name="Shape 17"/>
          <p:cNvSpPr/>
          <p:nvPr/>
        </p:nvSpPr>
        <p:spPr>
          <a:xfrm>
            <a:off x="685800" y="5257800"/>
            <a:ext cx="68580" cy="777240"/>
          </a:xfrm>
          <a:prstGeom prst="rect">
            <a:avLst/>
          </a:prstGeom>
          <a:solidFill>
            <a:srgbClr val="387F7F"/>
          </a:solidFill>
          <a:ln/>
        </p:spPr>
      </p:sp>
      <p:sp>
        <p:nvSpPr>
          <p:cNvPr id="20" name="Text 18"/>
          <p:cNvSpPr txBox="1"/>
          <p:nvPr/>
        </p:nvSpPr>
        <p:spPr>
          <a:xfrm>
            <a:off x="1051560" y="5257800"/>
            <a:ext cx="9235440" cy="777240"/>
          </a:xfrm>
          <a:prstGeom prst="rect">
            <a:avLst/>
          </a:prstGeom>
          <a:noFill/>
          <a:ln/>
        </p:spPr>
        <p:txBody>
          <a:bodyPr wrap="square" lIns="0" tIns="0" rIns="0" bIns="0" rtlCol="0" anchor="ctr"/>
          <a:lstStyle/>
          <a:p>
            <a:pPr algn="l" indent="0" marL="0">
              <a:lnSpc>
                <a:spcPct val="135000"/>
              </a:lnSpc>
              <a:buNone/>
            </a:pPr>
            <a:r>
              <a:rPr lang="en-US" sz="1450" b="1" dirty="0">
                <a:solidFill>
                  <a:srgbClr val="387F7F"/>
                </a:solidFill>
                <a:latin typeface="Poppins" pitchFamily="34" charset="0"/>
                <a:ea typeface="Poppins" pitchFamily="34" charset="-122"/>
                <a:cs typeface="Poppins" pitchFamily="34" charset="-120"/>
              </a:rPr>
              <a:t>Run this on the dashboards just built. Keep it about the artefact, not the person.</a:t>
            </a:r>
            <a:endParaRPr lang="en-US" sz="1450" dirty="0"/>
          </a:p>
        </p:txBody>
      </p:sp>
      <p:pic>
        <p:nvPicPr>
          <p:cNvPr id="21"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2" name="Text 19"/>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Topic Recap</a:t>
            </a:r>
            <a:endParaRPr lang="en-US" sz="2700" dirty="0"/>
          </a:p>
        </p:txBody>
      </p:sp>
      <p:sp>
        <p:nvSpPr>
          <p:cNvPr id="6" name="Shape 4"/>
          <p:cNvSpPr/>
          <p:nvPr/>
        </p:nvSpPr>
        <p:spPr>
          <a:xfrm>
            <a:off x="685800" y="1737360"/>
            <a:ext cx="982980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932688" y="1883664"/>
            <a:ext cx="411480" cy="411480"/>
          </a:xfrm>
          <a:prstGeom prst="ellipse">
            <a:avLst/>
          </a:prstGeom>
          <a:solidFill>
            <a:srgbClr val="387F7F"/>
          </a:solidFill>
          <a:ln/>
        </p:spPr>
      </p:sp>
      <p:sp>
        <p:nvSpPr>
          <p:cNvPr id="8" name="Text 6"/>
          <p:cNvSpPr txBox="1"/>
          <p:nvPr/>
        </p:nvSpPr>
        <p:spPr>
          <a:xfrm>
            <a:off x="932688" y="1883664"/>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a:t>
            </a:r>
            <a:endParaRPr lang="en-US" sz="1700" dirty="0"/>
          </a:p>
        </p:txBody>
      </p:sp>
      <p:sp>
        <p:nvSpPr>
          <p:cNvPr id="9" name="Text 7"/>
          <p:cNvSpPr txBox="1"/>
          <p:nvPr/>
        </p:nvSpPr>
        <p:spPr>
          <a:xfrm>
            <a:off x="1536192" y="1755648"/>
            <a:ext cx="8778240" cy="658368"/>
          </a:xfrm>
          <a:prstGeom prst="rect">
            <a:avLst/>
          </a:prstGeom>
          <a:noFill/>
          <a:ln/>
        </p:spPr>
        <p:txBody>
          <a:bodyPr wrap="square" lIns="0" tIns="0" rIns="0" bIns="0" rtlCol="0" anchor="ctr"/>
          <a:lstStyle/>
          <a:p>
            <a:pPr algn="l" indent="0" marL="0">
              <a:lnSpc>
                <a:spcPct val="120000"/>
              </a:lnSpc>
              <a:buNone/>
            </a:pPr>
            <a:r>
              <a:rPr lang="en-US" sz="1400" dirty="0">
                <a:solidFill>
                  <a:srgbClr val="475569"/>
                </a:solidFill>
                <a:latin typeface="Poppins" pitchFamily="34" charset="0"/>
                <a:ea typeface="Poppins" pitchFamily="34" charset="-122"/>
                <a:cs typeface="Poppins" pitchFamily="34" charset="-120"/>
              </a:rPr>
              <a:t>Design a KPI dashboard backwards from a named audience and the decisions they make.</a:t>
            </a:r>
            <a:endParaRPr lang="en-US" sz="1400" dirty="0"/>
          </a:p>
        </p:txBody>
      </p:sp>
      <p:sp>
        <p:nvSpPr>
          <p:cNvPr id="10" name="Shape 8"/>
          <p:cNvSpPr/>
          <p:nvPr/>
        </p:nvSpPr>
        <p:spPr>
          <a:xfrm>
            <a:off x="685800" y="2578608"/>
            <a:ext cx="982980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932688" y="2724912"/>
            <a:ext cx="411480" cy="411480"/>
          </a:xfrm>
          <a:prstGeom prst="ellipse">
            <a:avLst/>
          </a:prstGeom>
          <a:solidFill>
            <a:srgbClr val="387F7F"/>
          </a:solidFill>
          <a:ln/>
        </p:spPr>
      </p:sp>
      <p:sp>
        <p:nvSpPr>
          <p:cNvPr id="12" name="Text 10"/>
          <p:cNvSpPr txBox="1"/>
          <p:nvPr/>
        </p:nvSpPr>
        <p:spPr>
          <a:xfrm>
            <a:off x="932688" y="2724912"/>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a:t>
            </a:r>
            <a:endParaRPr lang="en-US" sz="1700" dirty="0"/>
          </a:p>
        </p:txBody>
      </p:sp>
      <p:sp>
        <p:nvSpPr>
          <p:cNvPr id="13" name="Text 11"/>
          <p:cNvSpPr txBox="1"/>
          <p:nvPr/>
        </p:nvSpPr>
        <p:spPr>
          <a:xfrm>
            <a:off x="1536192" y="2596896"/>
            <a:ext cx="8778240" cy="658368"/>
          </a:xfrm>
          <a:prstGeom prst="rect">
            <a:avLst/>
          </a:prstGeom>
          <a:noFill/>
          <a:ln/>
        </p:spPr>
        <p:txBody>
          <a:bodyPr wrap="square" lIns="0" tIns="0" rIns="0" bIns="0" rtlCol="0" anchor="ctr"/>
          <a:lstStyle/>
          <a:p>
            <a:pPr algn="l" indent="0" marL="0">
              <a:lnSpc>
                <a:spcPct val="120000"/>
              </a:lnSpc>
              <a:buNone/>
            </a:pPr>
            <a:r>
              <a:rPr lang="en-US" sz="1400" dirty="0">
                <a:solidFill>
                  <a:srgbClr val="475569"/>
                </a:solidFill>
                <a:latin typeface="Poppins" pitchFamily="34" charset="0"/>
                <a:ea typeface="Poppins" pitchFamily="34" charset="-122"/>
                <a:cs typeface="Poppins" pitchFamily="34" charset="-120"/>
              </a:rPr>
              <a:t>Apply slicers and drill-downs so the reader can ask the follow-up question themselves.</a:t>
            </a:r>
            <a:endParaRPr lang="en-US" sz="1400" dirty="0"/>
          </a:p>
        </p:txBody>
      </p:sp>
      <p:sp>
        <p:nvSpPr>
          <p:cNvPr id="14" name="Shape 12"/>
          <p:cNvSpPr/>
          <p:nvPr/>
        </p:nvSpPr>
        <p:spPr>
          <a:xfrm>
            <a:off x="685800" y="3419856"/>
            <a:ext cx="982980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15" name="Shape 13"/>
          <p:cNvSpPr/>
          <p:nvPr/>
        </p:nvSpPr>
        <p:spPr>
          <a:xfrm>
            <a:off x="932688" y="3566160"/>
            <a:ext cx="411480" cy="411480"/>
          </a:xfrm>
          <a:prstGeom prst="ellipse">
            <a:avLst/>
          </a:prstGeom>
          <a:solidFill>
            <a:srgbClr val="387F7F"/>
          </a:solidFill>
          <a:ln/>
        </p:spPr>
      </p:sp>
      <p:sp>
        <p:nvSpPr>
          <p:cNvPr id="16" name="Text 14"/>
          <p:cNvSpPr txBox="1"/>
          <p:nvPr/>
        </p:nvSpPr>
        <p:spPr>
          <a:xfrm>
            <a:off x="932688" y="3566160"/>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a:t>
            </a:r>
            <a:endParaRPr lang="en-US" sz="1700" dirty="0"/>
          </a:p>
        </p:txBody>
      </p:sp>
      <p:sp>
        <p:nvSpPr>
          <p:cNvPr id="17" name="Text 15"/>
          <p:cNvSpPr txBox="1"/>
          <p:nvPr/>
        </p:nvSpPr>
        <p:spPr>
          <a:xfrm>
            <a:off x="1536192" y="3438144"/>
            <a:ext cx="8778240" cy="658368"/>
          </a:xfrm>
          <a:prstGeom prst="rect">
            <a:avLst/>
          </a:prstGeom>
          <a:noFill/>
          <a:ln/>
        </p:spPr>
        <p:txBody>
          <a:bodyPr wrap="square" lIns="0" tIns="0" rIns="0" bIns="0" rtlCol="0" anchor="ctr"/>
          <a:lstStyle/>
          <a:p>
            <a:pPr algn="l" indent="0" marL="0">
              <a:lnSpc>
                <a:spcPct val="120000"/>
              </a:lnSpc>
              <a:buNone/>
            </a:pPr>
            <a:r>
              <a:rPr lang="en-US" sz="1400" dirty="0">
                <a:solidFill>
                  <a:srgbClr val="475569"/>
                </a:solidFill>
                <a:latin typeface="Poppins" pitchFamily="34" charset="0"/>
                <a:ea typeface="Poppins" pitchFamily="34" charset="-122"/>
                <a:cs typeface="Poppins" pitchFamily="34" charset="-120"/>
              </a:rPr>
              <a:t>Publish to the Service, or export to PDF without a Pro licence, and show when the data was last updated.</a:t>
            </a:r>
            <a:endParaRPr lang="en-US" sz="1400" dirty="0"/>
          </a:p>
        </p:txBody>
      </p:sp>
      <p:sp>
        <p:nvSpPr>
          <p:cNvPr id="18" name="Shape 16"/>
          <p:cNvSpPr/>
          <p:nvPr/>
        </p:nvSpPr>
        <p:spPr>
          <a:xfrm>
            <a:off x="685800" y="4261104"/>
            <a:ext cx="982980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932688" y="4407408"/>
            <a:ext cx="411480" cy="411480"/>
          </a:xfrm>
          <a:prstGeom prst="ellipse">
            <a:avLst/>
          </a:prstGeom>
          <a:solidFill>
            <a:srgbClr val="387F7F"/>
          </a:solidFill>
          <a:ln/>
        </p:spPr>
      </p:sp>
      <p:sp>
        <p:nvSpPr>
          <p:cNvPr id="20" name="Text 18"/>
          <p:cNvSpPr txBox="1"/>
          <p:nvPr/>
        </p:nvSpPr>
        <p:spPr>
          <a:xfrm>
            <a:off x="932688" y="4407408"/>
            <a:ext cx="4114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a:t>
            </a:r>
            <a:endParaRPr lang="en-US" sz="1700" dirty="0"/>
          </a:p>
        </p:txBody>
      </p:sp>
      <p:sp>
        <p:nvSpPr>
          <p:cNvPr id="21" name="Text 19"/>
          <p:cNvSpPr txBox="1"/>
          <p:nvPr/>
        </p:nvSpPr>
        <p:spPr>
          <a:xfrm>
            <a:off x="1536192" y="4279392"/>
            <a:ext cx="8778240" cy="658368"/>
          </a:xfrm>
          <a:prstGeom prst="rect">
            <a:avLst/>
          </a:prstGeom>
          <a:noFill/>
          <a:ln/>
        </p:spPr>
        <p:txBody>
          <a:bodyPr wrap="square" lIns="0" tIns="0" rIns="0" bIns="0" rtlCol="0" anchor="ctr"/>
          <a:lstStyle/>
          <a:p>
            <a:pPr algn="l" indent="0" marL="0">
              <a:lnSpc>
                <a:spcPct val="120000"/>
              </a:lnSpc>
              <a:buNone/>
            </a:pPr>
            <a:r>
              <a:rPr lang="en-US" sz="1400" dirty="0">
                <a:solidFill>
                  <a:srgbClr val="475569"/>
                </a:solidFill>
                <a:latin typeface="Poppins" pitchFamily="34" charset="0"/>
                <a:ea typeface="Poppins" pitchFamily="34" charset="-122"/>
                <a:cs typeface="Poppins" pitchFamily="34" charset="-120"/>
              </a:rPr>
              <a:t>Present the dashboard by leading with the finding, in under ninety seconds.</a:t>
            </a:r>
            <a:endParaRPr lang="en-US" sz="1400" dirty="0"/>
          </a:p>
        </p:txBody>
      </p:sp>
      <p:sp>
        <p:nvSpPr>
          <p:cNvPr id="22" name="Shape 20"/>
          <p:cNvSpPr/>
          <p:nvPr/>
        </p:nvSpPr>
        <p:spPr>
          <a:xfrm>
            <a:off x="685800" y="5212080"/>
            <a:ext cx="9829800" cy="914400"/>
          </a:xfrm>
          <a:prstGeom prst="roundRect">
            <a:avLst>
              <a:gd name="adj" fmla="val 9000"/>
            </a:avLst>
          </a:prstGeom>
          <a:solidFill>
            <a:srgbClr val="EEF4F4"/>
          </a:solidFill>
          <a:ln/>
        </p:spPr>
      </p:sp>
      <p:sp>
        <p:nvSpPr>
          <p:cNvPr id="23" name="Shape 21"/>
          <p:cNvSpPr/>
          <p:nvPr/>
        </p:nvSpPr>
        <p:spPr>
          <a:xfrm>
            <a:off x="685800" y="5212080"/>
            <a:ext cx="68580" cy="914400"/>
          </a:xfrm>
          <a:prstGeom prst="rect">
            <a:avLst/>
          </a:prstGeom>
          <a:solidFill>
            <a:srgbClr val="387F7F"/>
          </a:solidFill>
          <a:ln/>
        </p:spPr>
      </p:sp>
      <p:sp>
        <p:nvSpPr>
          <p:cNvPr id="24" name="Text 22"/>
          <p:cNvSpPr txBox="1"/>
          <p:nvPr/>
        </p:nvSpPr>
        <p:spPr>
          <a:xfrm>
            <a:off x="1051560" y="5212080"/>
            <a:ext cx="9235440" cy="914400"/>
          </a:xfrm>
          <a:prstGeom prst="rect">
            <a:avLst/>
          </a:prstGeom>
          <a:noFill/>
          <a:ln/>
        </p:spPr>
        <p:txBody>
          <a:bodyPr wrap="square" lIns="0" tIns="0" rIns="0" bIns="0" rtlCol="0" anchor="ctr"/>
          <a:lstStyle/>
          <a:p>
            <a:pPr algn="ctr" indent="0" marL="0">
              <a:lnSpc>
                <a:spcPct val="135000"/>
              </a:lnSpc>
              <a:buNone/>
            </a:pPr>
            <a:r>
              <a:rPr lang="en-US" sz="1550" b="1" dirty="0">
                <a:solidFill>
                  <a:srgbClr val="387F7F"/>
                </a:solidFill>
                <a:latin typeface="Poppins" pitchFamily="34" charset="0"/>
                <a:ea typeface="Poppins" pitchFamily="34" charset="-122"/>
                <a:cs typeface="Poppins" pitchFamily="34" charset="-120"/>
              </a:rPr>
              <a:t>This dashboard is the Module 7 closing assessment. Read the rubric before you polish.</a:t>
            </a:r>
            <a:endParaRPr lang="en-US" sz="1550" dirty="0"/>
          </a:p>
        </p:txBody>
      </p:sp>
      <p:pic>
        <p:nvPicPr>
          <p:cNvPr id="25"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6" name="Text 2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What is Next</a:t>
            </a:r>
            <a:endParaRPr lang="en-US" sz="2700" dirty="0"/>
          </a:p>
        </p:txBody>
      </p:sp>
      <p:sp>
        <p:nvSpPr>
          <p:cNvPr id="6" name="Shape 4"/>
          <p:cNvSpPr/>
          <p:nvPr/>
        </p:nvSpPr>
        <p:spPr>
          <a:xfrm>
            <a:off x="685800" y="1691640"/>
            <a:ext cx="3063240" cy="3200400"/>
          </a:xfrm>
          <a:prstGeom prst="roundRect">
            <a:avLst>
              <a:gd name="adj" fmla="val 2985"/>
            </a:avLst>
          </a:prstGeom>
          <a:solidFill>
            <a:srgbClr val="FFFFFF"/>
          </a:solidFill>
          <a:ln/>
          <a:effectLst>
            <a:outerShdw sx="100000" sy="100000" kx="0" ky="0" algn="bl" rotWithShape="0" blurRad="152400" dist="38100" dir="5400000">
              <a:srgbClr val="1B2A2E">
                <a:alpha val="20000"/>
              </a:srgbClr>
            </a:outerShdw>
          </a:effectLst>
        </p:spPr>
      </p:sp>
      <p:sp>
        <p:nvSpPr>
          <p:cNvPr id="7" name="Shape 5"/>
          <p:cNvSpPr/>
          <p:nvPr/>
        </p:nvSpPr>
        <p:spPr>
          <a:xfrm>
            <a:off x="685800" y="1691640"/>
            <a:ext cx="3063240" cy="475488"/>
          </a:xfrm>
          <a:prstGeom prst="rect">
            <a:avLst/>
          </a:prstGeom>
          <a:solidFill>
            <a:srgbClr val="C9821F"/>
          </a:solidFill>
          <a:ln/>
        </p:spPr>
      </p:sp>
      <p:sp>
        <p:nvSpPr>
          <p:cNvPr id="8" name="Text 6"/>
          <p:cNvSpPr txBox="1"/>
          <p:nvPr/>
        </p:nvSpPr>
        <p:spPr>
          <a:xfrm>
            <a:off x="685800" y="1691640"/>
            <a:ext cx="306324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Poppins" pitchFamily="34" charset="0"/>
                <a:ea typeface="Poppins" pitchFamily="34" charset="-122"/>
                <a:cs typeface="Poppins" pitchFamily="34" charset="-120"/>
              </a:rPr>
              <a:t>TOPIC 7.5</a:t>
            </a:r>
            <a:endParaRPr lang="en-US" sz="1150" dirty="0"/>
          </a:p>
        </p:txBody>
      </p:sp>
      <p:sp>
        <p:nvSpPr>
          <p:cNvPr id="9" name="Shape 7"/>
          <p:cNvSpPr/>
          <p:nvPr/>
        </p:nvSpPr>
        <p:spPr>
          <a:xfrm>
            <a:off x="1888236" y="2468880"/>
            <a:ext cx="658368" cy="658368"/>
          </a:xfrm>
          <a:prstGeom prst="ellipse">
            <a:avLst/>
          </a:prstGeom>
          <a:solidFill>
            <a:srgbClr val="FFFFFF"/>
          </a:solidFill>
          <a:ln w="22225">
            <a:solidFill>
              <a:srgbClr val="C9821F"/>
            </a:solidFill>
            <a:prstDash val="solid"/>
          </a:ln>
        </p:spPr>
      </p:sp>
      <p:sp>
        <p:nvSpPr>
          <p:cNvPr id="10" name="Text 8"/>
          <p:cNvSpPr txBox="1"/>
          <p:nvPr/>
        </p:nvSpPr>
        <p:spPr>
          <a:xfrm>
            <a:off x="1888236" y="2468880"/>
            <a:ext cx="658368" cy="658368"/>
          </a:xfrm>
          <a:prstGeom prst="rect">
            <a:avLst/>
          </a:prstGeom>
          <a:noFill/>
          <a:ln/>
        </p:spPr>
        <p:txBody>
          <a:bodyPr wrap="square" lIns="0" tIns="0" rIns="0" bIns="0" rtlCol="0" anchor="ctr"/>
          <a:lstStyle/>
          <a:p>
            <a:pPr algn="ctr" indent="0" marL="0">
              <a:buNone/>
            </a:pPr>
            <a:r>
              <a:rPr lang="en-US" sz="2400" b="1" dirty="0">
                <a:solidFill>
                  <a:srgbClr val="C9821F"/>
                </a:solidFill>
                <a:latin typeface="Poppins" pitchFamily="34" charset="0"/>
                <a:ea typeface="Poppins" pitchFamily="34" charset="-122"/>
                <a:cs typeface="Poppins" pitchFamily="34" charset="-120"/>
              </a:rPr>
              <a:t>ƒ</a:t>
            </a:r>
            <a:endParaRPr lang="en-US" sz="2400" dirty="0"/>
          </a:p>
        </p:txBody>
      </p:sp>
      <p:sp>
        <p:nvSpPr>
          <p:cNvPr id="11" name="Text 9"/>
          <p:cNvSpPr txBox="1"/>
          <p:nvPr/>
        </p:nvSpPr>
        <p:spPr>
          <a:xfrm>
            <a:off x="960120" y="3337560"/>
            <a:ext cx="2514600" cy="1371600"/>
          </a:xfrm>
          <a:prstGeom prst="rect">
            <a:avLst/>
          </a:prstGeom>
          <a:noFill/>
          <a:ln/>
        </p:spPr>
        <p:txBody>
          <a:bodyPr wrap="square" lIns="0" tIns="0" rIns="0" bIns="0" rtlCol="0" anchor="t"/>
          <a:lstStyle/>
          <a:p>
            <a:pPr algn="ctr" indent="0" marL="0">
              <a:lnSpc>
                <a:spcPct val="128000"/>
              </a:lnSpc>
              <a:buNone/>
            </a:pPr>
            <a:r>
              <a:rPr lang="en-US" sz="1200" dirty="0">
                <a:solidFill>
                  <a:srgbClr val="475569"/>
                </a:solidFill>
                <a:latin typeface="Poppins" pitchFamily="34" charset="0"/>
                <a:ea typeface="Poppins" pitchFamily="34" charset="-122"/>
                <a:cs typeface="Poppins" pitchFamily="34" charset="-120"/>
              </a:rPr>
              <a:t>Everything so far you did yourself. Now an AI assistant writes four measures for you, and your job changes from writing to judging.</a:t>
            </a:r>
            <a:endParaRPr lang="en-US" sz="1200" dirty="0"/>
          </a:p>
        </p:txBody>
      </p:sp>
      <p:sp>
        <p:nvSpPr>
          <p:cNvPr id="12" name="Shape 10"/>
          <p:cNvSpPr/>
          <p:nvPr/>
        </p:nvSpPr>
        <p:spPr>
          <a:xfrm>
            <a:off x="4005072" y="1691640"/>
            <a:ext cx="3063240" cy="320040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4005072" y="1691640"/>
            <a:ext cx="3063240" cy="475488"/>
          </a:xfrm>
          <a:prstGeom prst="rect">
            <a:avLst/>
          </a:prstGeom>
          <a:solidFill>
            <a:srgbClr val="387F7F"/>
          </a:solidFill>
          <a:ln/>
        </p:spPr>
      </p:sp>
      <p:sp>
        <p:nvSpPr>
          <p:cNvPr id="14" name="Text 12"/>
          <p:cNvSpPr txBox="1"/>
          <p:nvPr/>
        </p:nvSpPr>
        <p:spPr>
          <a:xfrm>
            <a:off x="4005072" y="1691640"/>
            <a:ext cx="306324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Poppins" pitchFamily="34" charset="0"/>
                <a:ea typeface="Poppins" pitchFamily="34" charset="-122"/>
                <a:cs typeface="Poppins" pitchFamily="34" charset="-120"/>
              </a:rPr>
              <a:t>IN THE LAB</a:t>
            </a:r>
            <a:endParaRPr lang="en-US" sz="1150" dirty="0"/>
          </a:p>
        </p:txBody>
      </p:sp>
      <p:sp>
        <p:nvSpPr>
          <p:cNvPr id="15" name="Shape 13"/>
          <p:cNvSpPr/>
          <p:nvPr/>
        </p:nvSpPr>
        <p:spPr>
          <a:xfrm>
            <a:off x="5207508" y="2468880"/>
            <a:ext cx="658368" cy="658368"/>
          </a:xfrm>
          <a:prstGeom prst="ellipse">
            <a:avLst/>
          </a:prstGeom>
          <a:solidFill>
            <a:srgbClr val="FFFFFF"/>
          </a:solidFill>
          <a:ln w="22225">
            <a:solidFill>
              <a:srgbClr val="387F7F"/>
            </a:solidFill>
            <a:prstDash val="solid"/>
          </a:ln>
        </p:spPr>
      </p:sp>
      <p:sp>
        <p:nvSpPr>
          <p:cNvPr id="16" name="Text 14"/>
          <p:cNvSpPr txBox="1"/>
          <p:nvPr/>
        </p:nvSpPr>
        <p:spPr>
          <a:xfrm>
            <a:off x="5207508" y="246888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17" name="Text 15"/>
          <p:cNvSpPr txBox="1"/>
          <p:nvPr/>
        </p:nvSpPr>
        <p:spPr>
          <a:xfrm>
            <a:off x="4279392" y="3337560"/>
            <a:ext cx="2514600" cy="1371600"/>
          </a:xfrm>
          <a:prstGeom prst="rect">
            <a:avLst/>
          </a:prstGeom>
          <a:noFill/>
          <a:ln/>
        </p:spPr>
        <p:txBody>
          <a:bodyPr wrap="square" lIns="0" tIns="0" rIns="0" bIns="0" rtlCol="0" anchor="t"/>
          <a:lstStyle/>
          <a:p>
            <a:pPr algn="ctr" indent="0" marL="0">
              <a:lnSpc>
                <a:spcPct val="128000"/>
              </a:lnSpc>
              <a:buNone/>
            </a:pPr>
            <a:r>
              <a:rPr lang="en-US" sz="1200" dirty="0">
                <a:solidFill>
                  <a:srgbClr val="475569"/>
                </a:solidFill>
                <a:latin typeface="Poppins" pitchFamily="34" charset="0"/>
                <a:ea typeface="Poppins" pitchFamily="34" charset="-122"/>
                <a:cs typeface="Poppins" pitchFamily="34" charset="-120"/>
              </a:rPr>
              <a:t>Extend your dashboard with a drill-down hierarchy and a second page for the client-facing view.</a:t>
            </a:r>
            <a:endParaRPr lang="en-US" sz="1200" dirty="0"/>
          </a:p>
        </p:txBody>
      </p:sp>
      <p:sp>
        <p:nvSpPr>
          <p:cNvPr id="18" name="Shape 16"/>
          <p:cNvSpPr/>
          <p:nvPr/>
        </p:nvSpPr>
        <p:spPr>
          <a:xfrm>
            <a:off x="7324344" y="1691640"/>
            <a:ext cx="3063240" cy="320040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7324344" y="1691640"/>
            <a:ext cx="3063240" cy="475488"/>
          </a:xfrm>
          <a:prstGeom prst="rect">
            <a:avLst/>
          </a:prstGeom>
          <a:solidFill>
            <a:srgbClr val="387F7F"/>
          </a:solidFill>
          <a:ln/>
        </p:spPr>
      </p:sp>
      <p:sp>
        <p:nvSpPr>
          <p:cNvPr id="20" name="Text 18"/>
          <p:cNvSpPr txBox="1"/>
          <p:nvPr/>
        </p:nvSpPr>
        <p:spPr>
          <a:xfrm>
            <a:off x="7324344" y="1691640"/>
            <a:ext cx="306324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Poppins" pitchFamily="34" charset="0"/>
                <a:ea typeface="Poppins" pitchFamily="34" charset="-122"/>
                <a:cs typeface="Poppins" pitchFamily="34" charset="-120"/>
              </a:rPr>
              <a:t>ASSESSMENT</a:t>
            </a:r>
            <a:endParaRPr lang="en-US" sz="1150" dirty="0"/>
          </a:p>
        </p:txBody>
      </p:sp>
      <p:sp>
        <p:nvSpPr>
          <p:cNvPr id="21" name="Shape 19"/>
          <p:cNvSpPr/>
          <p:nvPr/>
        </p:nvSpPr>
        <p:spPr>
          <a:xfrm>
            <a:off x="8526780" y="2468880"/>
            <a:ext cx="658368" cy="658368"/>
          </a:xfrm>
          <a:prstGeom prst="ellipse">
            <a:avLst/>
          </a:prstGeom>
          <a:solidFill>
            <a:srgbClr val="FFFFFF"/>
          </a:solidFill>
          <a:ln w="22225">
            <a:solidFill>
              <a:srgbClr val="387F7F"/>
            </a:solidFill>
            <a:prstDash val="solid"/>
          </a:ln>
        </p:spPr>
      </p:sp>
      <p:sp>
        <p:nvSpPr>
          <p:cNvPr id="22" name="Text 20"/>
          <p:cNvSpPr txBox="1"/>
          <p:nvPr/>
        </p:nvSpPr>
        <p:spPr>
          <a:xfrm>
            <a:off x="8526780" y="246888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23" name="Text 21"/>
          <p:cNvSpPr txBox="1"/>
          <p:nvPr/>
        </p:nvSpPr>
        <p:spPr>
          <a:xfrm>
            <a:off x="7598664" y="3337560"/>
            <a:ext cx="2514600" cy="1371600"/>
          </a:xfrm>
          <a:prstGeom prst="rect">
            <a:avLst/>
          </a:prstGeom>
          <a:noFill/>
          <a:ln/>
        </p:spPr>
        <p:txBody>
          <a:bodyPr wrap="square" lIns="0" tIns="0" rIns="0" bIns="0" rtlCol="0" anchor="t"/>
          <a:lstStyle/>
          <a:p>
            <a:pPr algn="ctr" indent="0" marL="0">
              <a:lnSpc>
                <a:spcPct val="128000"/>
              </a:lnSpc>
              <a:buNone/>
            </a:pPr>
            <a:r>
              <a:rPr lang="en-US" sz="1200" dirty="0">
                <a:solidFill>
                  <a:srgbClr val="475569"/>
                </a:solidFill>
                <a:latin typeface="Poppins" pitchFamily="34" charset="0"/>
                <a:ea typeface="Poppins" pitchFamily="34" charset="-122"/>
                <a:cs typeface="Poppins" pitchFamily="34" charset="-120"/>
              </a:rPr>
              <a:t>This dashboard is the Module 7 closing assessment. The rubric is on publica.academy. Read it before you polish.</a:t>
            </a:r>
            <a:endParaRPr lang="en-US" sz="1200" dirty="0"/>
          </a:p>
        </p:txBody>
      </p:sp>
      <p:pic>
        <p:nvPicPr>
          <p:cNvPr id="24"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7.4 KPI Dashboards and Publishing</dc:title>
  <dc:subject>PptxGenJS Presentation</dc:subject>
  <dc:creator>Publica Academy</dc:creator>
  <cp:lastModifiedBy>Publica Academy</cp:lastModifiedBy>
  <cp:revision>1</cp:revision>
  <dcterms:created xsi:type="dcterms:W3CDTF">2026-08-28T06:10:10Z</dcterms:created>
  <dcterms:modified xsi:type="dcterms:W3CDTF">2026-08-28T06:10:10Z</dcterms:modified>
</cp:coreProperties>
</file>