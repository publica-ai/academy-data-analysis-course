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nter" charset="1" panose="02000503000000020004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4"/>
    </p:embeddedFont>
    <p:embeddedFont>
      <p:font typeface="Poppins Italics" charset="1" panose="00000500000000000000"/>
      <p:regular r:id="rId26"/>
    </p:embeddedFont>
    <p:embeddedFont>
      <p:font typeface="Calibri (MS)" charset="1" panose="020F0502020204030204"/>
      <p:regular r:id="rId29"/>
    </p:embeddedFont>
    <p:embeddedFont>
      <p:font typeface="DM Sans Bold" charset="1" panose="00000000000000000000"/>
      <p:regular r:id="rId36"/>
    </p:embeddedFont>
    <p:embeddedFont>
      <p:font typeface="DM Sans" charset="1" panose="000000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jpe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jpe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embeddings/oleObject1.bin" Type="http://schemas.openxmlformats.org/officeDocument/2006/relationships/oleObject"/><Relationship Id="rId2" Target="../notesSlides/notesSlide10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9.png" Type="http://schemas.openxmlformats.org/officeDocument/2006/relationships/image"/><Relationship Id="rId9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" r="0" b="-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8" t="0" r="-14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3000" y="2944759"/>
            <a:ext cx="16002000" cy="438950"/>
            <a:chOff x="0" y="0"/>
            <a:chExt cx="21336000" cy="585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00" cy="585267"/>
            </a:xfrm>
            <a:custGeom>
              <a:avLst/>
              <a:gdLst/>
              <a:ahLst/>
              <a:cxnLst/>
              <a:rect r="r" b="b" t="t" l="l"/>
              <a:pathLst>
                <a:path h="58526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73526" r="0" b="-64713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3349571"/>
            <a:ext cx="16002000" cy="698283"/>
            <a:chOff x="0" y="0"/>
            <a:chExt cx="21336000" cy="931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Module 4: Statistic for Analytics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" t="0" r="-1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754" cy="585216"/>
            </a:xfrm>
            <a:custGeom>
              <a:avLst/>
              <a:gdLst/>
              <a:ahLst/>
              <a:cxnLst/>
              <a:rect r="r" b="b" t="t" l="l"/>
              <a:pathLst>
                <a:path h="585216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080" r="-1" b="-4509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805" cy="585267"/>
            </a:xfrm>
            <a:custGeom>
              <a:avLst/>
              <a:gdLst/>
              <a:ahLst/>
              <a:cxnLst/>
              <a:rect r="r" b="b" t="t" l="l"/>
              <a:pathLst>
                <a:path h="58526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143" r="0" b="-451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2 of 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1" r="0" b="-49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43000" y="4120127"/>
            <a:ext cx="8693144" cy="260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and</a:t>
            </a:r>
          </a:p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Relationships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0"/>
              <a:stretch>
                <a:fillRect l="-292" t="0" r="-292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49033" y="2071783"/>
            <a:ext cx="6714934" cy="6714934"/>
            <a:chOff x="0" y="0"/>
            <a:chExt cx="8953246" cy="89532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53246" cy="8953246"/>
            </a:xfrm>
            <a:custGeom>
              <a:avLst/>
              <a:gdLst/>
              <a:ahLst/>
              <a:cxnLst/>
              <a:rect r="r" b="b" t="t" l="l"/>
              <a:pathLst>
                <a:path h="8953246" w="8953246">
                  <a:moveTo>
                    <a:pt x="254508" y="0"/>
                  </a:moveTo>
                  <a:lnTo>
                    <a:pt x="8698738" y="0"/>
                  </a:lnTo>
                  <a:cubicBezTo>
                    <a:pt x="8766302" y="0"/>
                    <a:pt x="8830945" y="26797"/>
                    <a:pt x="8878697" y="74549"/>
                  </a:cubicBezTo>
                  <a:cubicBezTo>
                    <a:pt x="8926449" y="122301"/>
                    <a:pt x="8953246" y="187071"/>
                    <a:pt x="8953246" y="254508"/>
                  </a:cubicBezTo>
                  <a:lnTo>
                    <a:pt x="8953246" y="8698738"/>
                  </a:lnTo>
                  <a:cubicBezTo>
                    <a:pt x="8953246" y="8839327"/>
                    <a:pt x="8839327" y="8953246"/>
                    <a:pt x="8698738" y="8953246"/>
                  </a:cubicBezTo>
                  <a:lnTo>
                    <a:pt x="254508" y="8953246"/>
                  </a:lnTo>
                  <a:cubicBezTo>
                    <a:pt x="113919" y="8953246"/>
                    <a:pt x="0" y="8839327"/>
                    <a:pt x="0" y="8698738"/>
                  </a:cubicBezTo>
                  <a:lnTo>
                    <a:pt x="0" y="254508"/>
                  </a:lnTo>
                  <a:cubicBezTo>
                    <a:pt x="0" y="113919"/>
                    <a:pt x="113919" y="0"/>
                    <a:pt x="25450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2" t="0" r="-3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72" t="0" r="-7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1380" y="2729979"/>
            <a:ext cx="9187653" cy="551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you can…</a:t>
            </a:r>
          </a:p>
          <a:p>
            <a:pPr algn="l">
              <a:lnSpc>
                <a:spcPts val="18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Calculate a correlation coefficient in Excel and describe what it measures.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Interpret the strength and direction of a correlation coefficient in business language.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Explain, with a concrete example, why correlation does not prove causation.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4- Identify a spurious relationship and suggest what might really be driving 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622" y="3428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3255093"/>
            <a:ext cx="8036719" cy="2936977"/>
            <a:chOff x="0" y="0"/>
            <a:chExt cx="10715625" cy="391596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715625" cy="3915918"/>
            </a:xfrm>
            <a:custGeom>
              <a:avLst/>
              <a:gdLst/>
              <a:ahLst/>
              <a:cxnLst/>
              <a:rect r="r" b="b" t="t" l="l"/>
              <a:pathLst>
                <a:path h="3915918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915918"/>
                  </a:lnTo>
                  <a:lnTo>
                    <a:pt x="0" y="3915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04" r="0" b="-3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534969"/>
            <a:ext cx="228600" cy="228600"/>
            <a:chOff x="0" y="0"/>
            <a:chExt cx="304800" cy="3048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7072093"/>
            <a:ext cx="228600" cy="228600"/>
            <a:chOff x="0" y="0"/>
            <a:chExt cx="304800" cy="3048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396323" y="3236043"/>
            <a:ext cx="7501313" cy="4650814"/>
          </a:xfrm>
          <a:custGeom>
            <a:avLst/>
            <a:gdLst/>
            <a:ahLst/>
            <a:cxnLst/>
            <a:rect r="r" b="b" t="t" l="l"/>
            <a:pathLst>
              <a:path h="4650814" w="7501313">
                <a:moveTo>
                  <a:pt x="0" y="0"/>
                </a:moveTo>
                <a:lnTo>
                  <a:pt x="7501313" y="0"/>
                </a:lnTo>
                <a:lnTo>
                  <a:pt x="7501313" y="4650813"/>
                </a:lnTo>
                <a:lnTo>
                  <a:pt x="0" y="46508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3000" y="714375"/>
            <a:ext cx="1309940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Should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Aduke Stores Spend More on Ads?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3455118"/>
            <a:ext cx="7408069" cy="118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Aduke Stores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marketing team ran a 24-day experiment at the Ikeja branch: each day, they spent a different amount on social media ads, then recorded that day's total sales.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50" y="4723581"/>
            <a:ext cx="7408069" cy="118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The marketing manager wants a straight answer: </a:t>
            </a:r>
            <a:r>
              <a:rPr lang="en-US" sz="1800" i="true">
                <a:solidFill>
                  <a:srgbClr val="0A1A2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"If we spend more on ads, do we actually sell more? Or are we just hoping so?"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8725" y="6392094"/>
            <a:ext cx="7665244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gut feeling is not good enough for a budget decision.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8725" y="6929218"/>
            <a:ext cx="7665244" cy="81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manager needs an objective number that measures the relationship honestly. That is what correlation provides!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 a Relationship Between Two Variables?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2128837"/>
            <a:ext cx="16573500" cy="81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So far, Topic 4.1 described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one variable at a time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(e.g., daily sales). A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relationship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exists when two variables tend to move together. A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 plot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places one variable on each axis to visually reveal patterns.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7250" y="3231652"/>
            <a:ext cx="5286375" cy="5483276"/>
            <a:chOff x="0" y="0"/>
            <a:chExt cx="7048500" cy="731103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048500" cy="7311009"/>
            </a:xfrm>
            <a:custGeom>
              <a:avLst/>
              <a:gdLst/>
              <a:ahLst/>
              <a:cxnLst/>
              <a:rect r="r" b="b" t="t" l="l"/>
              <a:pathLst>
                <a:path h="7311009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7311009"/>
                  </a:lnTo>
                  <a:lnTo>
                    <a:pt x="0" y="731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8" r="0" b="-2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00138" y="3569789"/>
            <a:ext cx="48006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1. Positive Relationship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4438" y="7641727"/>
            <a:ext cx="4572000" cy="7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As X increases, Y tends to </a:t>
            </a:r>
            <a:r>
              <a:rPr lang="en-US" sz="157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increase</a:t>
            </a: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(dots trend upward from left to right).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81750" y="3231652"/>
            <a:ext cx="5286375" cy="5483276"/>
            <a:chOff x="0" y="0"/>
            <a:chExt cx="7048500" cy="7311034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048500" cy="7311009"/>
            </a:xfrm>
            <a:custGeom>
              <a:avLst/>
              <a:gdLst/>
              <a:ahLst/>
              <a:cxnLst/>
              <a:rect r="r" b="b" t="t" l="l"/>
              <a:pathLst>
                <a:path h="7311009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7311009"/>
                  </a:lnTo>
                  <a:lnTo>
                    <a:pt x="0" y="731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8" r="0" b="-2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43700" y="3569789"/>
            <a:ext cx="48006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EF4444"/>
                </a:solidFill>
                <a:latin typeface="Poppins Bold"/>
                <a:ea typeface="Poppins Bold"/>
                <a:cs typeface="Poppins Bold"/>
                <a:sym typeface="Poppins Bold"/>
              </a:rPr>
              <a:t>2. Negative Relationship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000" y="7641727"/>
            <a:ext cx="4572000" cy="7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As X increases, Y tends to </a:t>
            </a:r>
            <a:r>
              <a:rPr lang="en-US" sz="157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decrease</a:t>
            </a: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(dots trend downward left to right).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944350" y="3231652"/>
            <a:ext cx="5286375" cy="5483276"/>
            <a:chOff x="0" y="0"/>
            <a:chExt cx="7048500" cy="7311034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048500" cy="7311009"/>
            </a:xfrm>
            <a:custGeom>
              <a:avLst/>
              <a:gdLst/>
              <a:ahLst/>
              <a:cxnLst/>
              <a:rect r="r" b="b" t="t" l="l"/>
              <a:pathLst>
                <a:path h="7311009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7311009"/>
                  </a:lnTo>
                  <a:lnTo>
                    <a:pt x="0" y="7311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8" r="0" b="-2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87262" y="3569789"/>
            <a:ext cx="4800600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64748B"/>
                </a:solidFill>
                <a:latin typeface="Poppins Bold"/>
                <a:ea typeface="Poppins Bold"/>
                <a:cs typeface="Poppins Bold"/>
                <a:sym typeface="Poppins Bold"/>
              </a:rPr>
              <a:t>3. No Relationship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01562" y="7641727"/>
            <a:ext cx="4572000" cy="7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Dots are scattered with </a:t>
            </a:r>
            <a:r>
              <a:rPr lang="en-US" sz="157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no clear pattern</a:t>
            </a: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or direction visible.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Correlation Coefficient (r)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2922537"/>
            <a:ext cx="803671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1687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coefficient (r)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a single number measuring how strongly and in which direction two variables move together.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275" y="3834079"/>
            <a:ext cx="857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▪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50" y="3789312"/>
            <a:ext cx="769381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How closely dots follow a straight line.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75" y="4215079"/>
            <a:ext cx="857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▪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50" y="4167454"/>
            <a:ext cx="769381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Value Range: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Always falls between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−1 and +1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" y="4542653"/>
            <a:ext cx="7693819" cy="108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In Excel: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Formula is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=CORREL(range1, range2), 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where range1 is one variable's column of values and range2 is the other variable's column, for the same days.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7275" y="4586554"/>
            <a:ext cx="857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▪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7275" y="5724435"/>
            <a:ext cx="857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▪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50" y="5663479"/>
            <a:ext cx="7693819" cy="81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When to use: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Whenever asked "does X affect Y?" as a starting step before regression.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8712" y="6773913"/>
            <a:ext cx="160305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EF4444"/>
                </a:solidFill>
                <a:latin typeface="Poppins Bold"/>
                <a:ea typeface="Poppins Bold"/>
                <a:cs typeface="Poppins Bold"/>
                <a:sym typeface="Poppins Bold"/>
              </a:rPr>
              <a:t>−1.0 (Strong Negative)</a:t>
            </a:r>
            <a:r>
              <a:rPr lang="en-US" sz="157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575" b="true">
                <a:solidFill>
                  <a:srgbClr val="64748B"/>
                </a:solidFill>
                <a:latin typeface="Poppins Bold"/>
                <a:ea typeface="Poppins Bold"/>
                <a:cs typeface="Poppins Bold"/>
                <a:sym typeface="Poppins Bold"/>
              </a:rPr>
              <a:t>0.0 (No Relationship)</a:t>
            </a:r>
            <a:r>
              <a:rPr lang="en-US" sz="1575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575" b="true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rPr>
              <a:t>+1.0 (Strong Positive)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28712" y="7169201"/>
            <a:ext cx="16030575" cy="200025"/>
            <a:chOff x="0" y="0"/>
            <a:chExt cx="21374100" cy="2667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21374100" cy="266700"/>
            </a:xfrm>
            <a:custGeom>
              <a:avLst/>
              <a:gdLst/>
              <a:ahLst/>
              <a:cxnLst/>
              <a:rect r="r" b="b" t="t" l="l"/>
              <a:pathLst>
                <a:path h="266700" w="21374100">
                  <a:moveTo>
                    <a:pt x="0" y="0"/>
                  </a:moveTo>
                  <a:lnTo>
                    <a:pt x="21374100" y="0"/>
                  </a:lnTo>
                  <a:lnTo>
                    <a:pt x="213741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476" r="0" b="-3476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28712" y="7435901"/>
            <a:ext cx="1603057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Indicator showing Ikeja's r = 0.78 position on scale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374464" y="7090620"/>
            <a:ext cx="357188" cy="357188"/>
            <a:chOff x="0" y="0"/>
            <a:chExt cx="476250" cy="476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6250" cy="476250"/>
            </a:xfrm>
            <a:custGeom>
              <a:avLst/>
              <a:gdLst/>
              <a:ahLst/>
              <a:cxnLst/>
              <a:rect r="r" b="b" t="t" l="l"/>
              <a:pathLst>
                <a:path h="476250" w="476250">
                  <a:moveTo>
                    <a:pt x="0" y="238125"/>
                  </a:moveTo>
                  <a:cubicBezTo>
                    <a:pt x="0" y="106553"/>
                    <a:pt x="106553" y="0"/>
                    <a:pt x="238125" y="0"/>
                  </a:cubicBezTo>
                  <a:cubicBezTo>
                    <a:pt x="369697" y="0"/>
                    <a:pt x="476250" y="106553"/>
                    <a:pt x="476250" y="238125"/>
                  </a:cubicBezTo>
                  <a:cubicBezTo>
                    <a:pt x="476250" y="369697"/>
                    <a:pt x="369697" y="476250"/>
                    <a:pt x="238125" y="476250"/>
                  </a:cubicBezTo>
                  <a:cubicBezTo>
                    <a:pt x="106553" y="476250"/>
                    <a:pt x="0" y="369697"/>
                    <a:pt x="0" y="238125"/>
                  </a:cubicBezTo>
                  <a:close/>
                </a:path>
              </a:pathLst>
            </a:custGeom>
            <a:solidFill>
              <a:srgbClr val="0A1A23"/>
            </a:solidFill>
            <a:ln w="4286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222581" y="3017787"/>
            <a:ext cx="8036719" cy="3279877"/>
            <a:chOff x="0" y="0"/>
            <a:chExt cx="10715625" cy="4373169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0715625" cy="4373118"/>
            </a:xfrm>
            <a:custGeom>
              <a:avLst/>
              <a:gdLst/>
              <a:ahLst/>
              <a:cxnLst/>
              <a:rect r="r" b="b" t="t" l="l"/>
              <a:pathLst>
                <a:path h="4373118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4373118"/>
                  </a:lnTo>
                  <a:lnTo>
                    <a:pt x="0" y="4373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0" r="0" b="-5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55969" y="3808362"/>
            <a:ext cx="732234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"r = 0.78 means marketing spend and sales at Ikeja branch move together fairly strongly. Higher-spend days tend to be higher-sales days too, though not perfectly, so spend is not the only factor at play."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94069" y="3355924"/>
            <a:ext cx="751700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38D9A9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Translation Example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Reading the Strength of r: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 Rough Guide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2795511"/>
            <a:ext cx="16573500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18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While cut-offs vary across industries, analysts commonly use this guide when presenting findings to non-technical stakeholders:</a:t>
            </a:r>
          </a:p>
        </p:txBody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835903" y="3445594"/>
          <a:ext cx="10559128" cy="675322"/>
        </p:xfrm>
        <a:graphic>
          <a:graphicData uri="http://schemas.openxmlformats.org/drawingml/2006/table">
            <a:tbl>
              <a:tblPr/>
              <a:tblGrid>
                <a:gridCol w="10559128"/>
              </a:tblGrid>
              <a:tr h="6753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Practical Business Interpretation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4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3920935" y="3445594"/>
          <a:ext cx="2924493" cy="675322"/>
        </p:xfrm>
        <a:graphic>
          <a:graphicData uri="http://schemas.openxmlformats.org/drawingml/2006/table">
            <a:tbl>
              <a:tblPr/>
              <a:tblGrid>
                <a:gridCol w="2924493"/>
              </a:tblGrid>
              <a:tr h="6753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Strength Band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4A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857250" y="3447975"/>
          <a:ext cx="16535400" cy="3333750"/>
        </p:xfrm>
        <a:graphic>
          <a:graphicData uri="http://schemas.openxmlformats.org/drawingml/2006/table">
            <a:tbl>
              <a:tblPr/>
              <a:tblGrid>
                <a:gridCol w="3066949"/>
                <a:gridCol w="2915808"/>
                <a:gridCol w="10552643"/>
              </a:tblGrid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 Range (|r|)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Strength Band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4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25"/>
                        </a:lnSpc>
                        <a:defRPr/>
                      </a:pPr>
                      <a:r>
                        <a:rPr lang="en-US" sz="1687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Practical Business Interpretation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494A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0.0 to 0.2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64748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Very Weak / None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Virtually no linear relationship. Do not act on this.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0.2 to 0.4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Weak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Worth noting, but not strong enough to bet a major business decision on alone.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66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0.4 to 0.7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0284C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Moderate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Meaningful connection, but other business factors are clearly involved.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7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334155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0.7 to 1.0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0B98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Strong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two variables move together closely. Strong signal for decision-making.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219200" y="7185050"/>
            <a:ext cx="15954375" cy="70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1774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Habit:</a:t>
            </a:r>
            <a:r>
              <a:rPr lang="en-US" sz="1774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 Always state both the number and what it means in plain terms. </a:t>
            </a:r>
            <a:r>
              <a:rPr lang="en-US" sz="1774" i="true">
                <a:solidFill>
                  <a:srgbClr val="20494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"r = 0.78"</a:t>
            </a:r>
            <a:r>
              <a:rPr lang="en-US" sz="1774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 means little to a branch manager alone. </a:t>
            </a:r>
            <a:r>
              <a:rPr lang="en-US" sz="1774" i="true">
                <a:solidFill>
                  <a:srgbClr val="20494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"A strong positive relationship—spend and sales rise together"</a:t>
            </a:r>
            <a:r>
              <a:rPr lang="en-US" sz="1774">
                <a:solidFill>
                  <a:srgbClr val="20494A"/>
                </a:solidFill>
                <a:latin typeface="Poppins"/>
                <a:ea typeface="Poppins"/>
                <a:cs typeface="Poppins"/>
                <a:sym typeface="Poppins"/>
              </a:rPr>
              <a:t> drives action.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Correlation is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NOT Causation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3465462"/>
            <a:ext cx="8036719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tells you two variables move together. It does </a:t>
            </a:r>
            <a:r>
              <a:rPr lang="en-US" sz="1687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NOT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prove that one causes the other. Two variables can correlate due to: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4332237"/>
            <a:ext cx="767476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Direct Cause: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X actually causes Y (or Y causes X).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300" y="5235026"/>
            <a:ext cx="763666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Coincidence: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Random chance, especially in small samples.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7300" y="4783636"/>
            <a:ext cx="763666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Confounding Variable: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 third, hidden factor causes both.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96054"/>
            <a:ext cx="1143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50" y="4847453"/>
            <a:ext cx="1714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" y="5298843"/>
            <a:ext cx="1714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5900738"/>
            <a:ext cx="8036719" cy="1539926"/>
            <a:chOff x="0" y="0"/>
            <a:chExt cx="10715625" cy="2053234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715625" cy="2053209"/>
            </a:xfrm>
            <a:custGeom>
              <a:avLst/>
              <a:gdLst/>
              <a:ahLst/>
              <a:cxnLst/>
              <a:rect r="r" b="b" t="t" l="l"/>
              <a:pathLst>
                <a:path h="2053209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2053209"/>
                  </a:lnTo>
                  <a:lnTo>
                    <a:pt x="0" y="2053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6" r="0" b="-58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00138" y="6115050"/>
            <a:ext cx="7804661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Classic Ice Cream Example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0138" y="6481762"/>
            <a:ext cx="7550944" cy="7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Ice cream sales and sunburn cases both rise in the same months. Eating ice cream does not cause sunburn—</a:t>
            </a:r>
            <a:r>
              <a:rPr lang="en-US" sz="157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hot, sunny weather</a:t>
            </a:r>
            <a:r>
              <a:rPr lang="en-US" sz="157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drives both!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94031" y="3521869"/>
            <a:ext cx="7751016" cy="3957638"/>
            <a:chOff x="0" y="0"/>
            <a:chExt cx="10334689" cy="52768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334689" cy="5276850"/>
            </a:xfrm>
            <a:custGeom>
              <a:avLst/>
              <a:gdLst/>
              <a:ahLst/>
              <a:cxnLst/>
              <a:rect r="r" b="b" t="t" l="l"/>
              <a:pathLst>
                <a:path h="5276850" w="10334689">
                  <a:moveTo>
                    <a:pt x="0" y="0"/>
                  </a:moveTo>
                  <a:lnTo>
                    <a:pt x="10334689" y="0"/>
                  </a:lnTo>
                  <a:lnTo>
                    <a:pt x="10334689" y="5276850"/>
                  </a:lnTo>
                  <a:lnTo>
                    <a:pt x="0" y="5276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02" t="0" r="-1702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974581" y="3860006"/>
            <a:ext cx="4875609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2025" b="true">
                <a:solidFill>
                  <a:srgbClr val="38D9A9"/>
                </a:solidFill>
                <a:latin typeface="Poppins Bold"/>
                <a:ea typeface="Poppins Bold"/>
                <a:cs typeface="Poppins Bold"/>
                <a:sym typeface="Poppins Bold"/>
              </a:rPr>
              <a:t>The Confounding Factor Structure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97891" y="4550569"/>
            <a:ext cx="3429000" cy="2571750"/>
            <a:chOff x="0" y="0"/>
            <a:chExt cx="4572000" cy="3429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4572000" cy="3429000"/>
            </a:xfrm>
            <a:custGeom>
              <a:avLst/>
              <a:gdLst/>
              <a:ahLst/>
              <a:cxnLst/>
              <a:rect r="r" b="b" t="t" l="l"/>
              <a:pathLst>
                <a:path h="3429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9" r="0" b="-68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5837" y="7799861"/>
            <a:ext cx="16159210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is one of the most important professional habits in this whole programme: a strong correlation is a reason to investigate further, never a reason to announce a cause.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94031" y="2046980"/>
            <a:ext cx="8036719" cy="3694214"/>
            <a:chOff x="0" y="0"/>
            <a:chExt cx="10715625" cy="492561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715625" cy="4925568"/>
            </a:xfrm>
            <a:custGeom>
              <a:avLst/>
              <a:gdLst/>
              <a:ahLst/>
              <a:cxnLst/>
              <a:rect r="r" b="b" t="t" l="l"/>
              <a:pathLst>
                <a:path h="4925568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4925568"/>
                  </a:lnTo>
                  <a:lnTo>
                    <a:pt x="0" y="4925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40" r="0" b="-4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123968" y="5374272"/>
            <a:ext cx="9287018" cy="5065646"/>
          </a:xfrm>
          <a:custGeom>
            <a:avLst/>
            <a:gdLst/>
            <a:ahLst/>
            <a:cxnLst/>
            <a:rect r="r" b="b" t="t" l="l"/>
            <a:pathLst>
              <a:path h="5065646" w="9287018">
                <a:moveTo>
                  <a:pt x="0" y="0"/>
                </a:moveTo>
                <a:lnTo>
                  <a:pt x="9287018" y="0"/>
                </a:lnTo>
                <a:lnTo>
                  <a:pt x="9287018" y="5065646"/>
                </a:lnTo>
                <a:lnTo>
                  <a:pt x="0" y="5065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Spurious Relationships: When Numbers Lies To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2508199"/>
            <a:ext cx="803671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1687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spurious relationship</a:t>
            </a:r>
            <a:r>
              <a:rPr lang="en-US" sz="1687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a correlation that is statistically real (the number is calculated correctly) but practically meaningless or misleading, because there is no genuine direct connection between the two variables.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669" y="2313889"/>
            <a:ext cx="751700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How </a:t>
            </a:r>
            <a:r>
              <a:rPr lang="en-US" sz="202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to protect yourself and your reports: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94094" y="2752354"/>
            <a:ext cx="1143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6944" y="3537155"/>
            <a:ext cx="1714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6944" y="4680155"/>
            <a:ext cx="1714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84594" y="2663457"/>
            <a:ext cx="6988969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Before reporting a strong correlation, ask: "Is there a believable reason X would directly affect Y?"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22694" y="3442745"/>
            <a:ext cx="6950869" cy="108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k: "Could a third factor explain both?" (Weather, seasonality, day of the week, and public holidays are common hidden drivers in Nigerian retail data.)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22694" y="4580030"/>
            <a:ext cx="6950869" cy="108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Never present a correlation to a manager without this check. A confident wrong conclusion is worse than no conclusion at all.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7250" y="3875037"/>
            <a:ext cx="8036719" cy="108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Spurious relationships often appear when both variables are driven by the same underlying, unrecorded factor, or when a small sample happens to line up by chance.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Aduke Stores (Ikeja Branch): Ad Spend vs Sales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3438373"/>
            <a:ext cx="803671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24 days (Dec 2025). Daily ad spend: ₦8,500 – ₦69,500.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3946922"/>
            <a:ext cx="8036719" cy="70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Excel Formula: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57475" y="3889772"/>
            <a:ext cx="3752479" cy="617039"/>
            <a:chOff x="0" y="0"/>
            <a:chExt cx="5003305" cy="822719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5003292" cy="822706"/>
            </a:xfrm>
            <a:custGeom>
              <a:avLst/>
              <a:gdLst/>
              <a:ahLst/>
              <a:cxnLst/>
              <a:rect r="r" b="b" t="t" l="l"/>
              <a:pathLst>
                <a:path h="822706" w="5003292">
                  <a:moveTo>
                    <a:pt x="0" y="0"/>
                  </a:moveTo>
                  <a:lnTo>
                    <a:pt x="5003292" y="0"/>
                  </a:lnTo>
                  <a:lnTo>
                    <a:pt x="5003292" y="822706"/>
                  </a:lnTo>
                  <a:lnTo>
                    <a:pt x="0" y="82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70" r="0" b="-87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57250" y="4706836"/>
            <a:ext cx="8036719" cy="49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true">
                <a:solidFill>
                  <a:srgbClr val="10B981"/>
                </a:solidFill>
                <a:latin typeface="Poppins Bold"/>
                <a:ea typeface="Poppins Bold"/>
                <a:cs typeface="Poppins Bold"/>
                <a:sym typeface="Poppins Bold"/>
              </a:rPr>
              <a:t>r ≈ 0.78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50" y="5261143"/>
            <a:ext cx="803671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 Band: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Strong positive relationship (0.7 – 1.0).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5855418"/>
            <a:ext cx="8036719" cy="1621631"/>
            <a:chOff x="0" y="0"/>
            <a:chExt cx="10715625" cy="2162175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715625" cy="2162175"/>
            </a:xfrm>
            <a:custGeom>
              <a:avLst/>
              <a:gdLst/>
              <a:ahLst/>
              <a:cxnLst/>
              <a:rect r="r" b="b" t="t" l="l"/>
              <a:pathLst>
                <a:path h="2162175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2162175"/>
                  </a:lnTo>
                  <a:lnTo>
                    <a:pt x="0" y="2162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615" r="0" b="-61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1562" y="6060205"/>
            <a:ext cx="7988494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8D9A9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Interpretation: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1562" y="6312618"/>
            <a:ext cx="7608094" cy="88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4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"Higher ad spend days at Ikeja branch were fairly reliably higher sales days too. This provides reasonable basis to test a modest budget increase, while remembering that r = 0.78, not 1.0, so footfall &amp; stock availability still play key roles."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94031" y="3500438"/>
            <a:ext cx="7751016" cy="4000500"/>
            <a:chOff x="0" y="0"/>
            <a:chExt cx="10334689" cy="53340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0334689" cy="5334000"/>
            </a:xfrm>
            <a:custGeom>
              <a:avLst/>
              <a:gdLst/>
              <a:ahLst/>
              <a:cxnLst/>
              <a:rect r="r" b="b" t="t" l="l"/>
              <a:pathLst>
                <a:path h="5334000" w="10334689">
                  <a:moveTo>
                    <a:pt x="0" y="0"/>
                  </a:moveTo>
                  <a:lnTo>
                    <a:pt x="10334689" y="0"/>
                  </a:lnTo>
                  <a:lnTo>
                    <a:pt x="10334689" y="5334000"/>
                  </a:lnTo>
                  <a:lnTo>
                    <a:pt x="0" y="533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889" t="0" r="-1889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3395062"/>
            <a:ext cx="8036719" cy="3996928"/>
            <a:chOff x="0" y="0"/>
            <a:chExt cx="10715625" cy="532923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715625" cy="5329174"/>
            </a:xfrm>
            <a:custGeom>
              <a:avLst/>
              <a:gdLst/>
              <a:ahLst/>
              <a:cxnLst/>
              <a:rect r="r" b="b" t="t" l="l"/>
              <a:pathLst>
                <a:path h="5329174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5329174"/>
                  </a:lnTo>
                  <a:lnTo>
                    <a:pt x="0" y="5329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78" r="0" b="-18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47812" y="4977851"/>
            <a:ext cx="6988969" cy="71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Calculate correlation coefficient between marketing spend and daily sales using                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029924" y="5406777"/>
            <a:ext cx="890629" cy="320993"/>
            <a:chOff x="0" y="0"/>
            <a:chExt cx="2282723" cy="822719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2282698" cy="822706"/>
            </a:xfrm>
            <a:custGeom>
              <a:avLst/>
              <a:gdLst/>
              <a:ahLst/>
              <a:cxnLst/>
              <a:rect r="r" b="b" t="t" l="l"/>
              <a:pathLst>
                <a:path h="822706" w="2282698">
                  <a:moveTo>
                    <a:pt x="0" y="0"/>
                  </a:moveTo>
                  <a:lnTo>
                    <a:pt x="2282698" y="0"/>
                  </a:lnTo>
                  <a:lnTo>
                    <a:pt x="2282698" y="822706"/>
                  </a:lnTo>
                  <a:lnTo>
                    <a:pt x="0" y="82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67" r="-1" b="-869"/>
              </a:stretch>
            </a:blipFill>
          </p:spPr>
        </p:sp>
      </p:grpSp>
      <p:graphicFrame>
        <p:nvGraphicFramePr>
          <p:cNvPr name="Object 15" id="15"/>
          <p:cNvGraphicFramePr/>
          <p:nvPr/>
        </p:nvGraphicFramePr>
        <p:xfrm>
          <a:off x="9144000" y="3395062"/>
          <a:ext cx="16230600" cy="5600281"/>
        </p:xfrm>
        <a:graphic>
          <a:graphicData uri="http://schemas.openxmlformats.org/presentationml/2006/ole">
            <p:oleObj imgW="19469100" imgH="88392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 Turn: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 Weaker Signal at Yaba Branch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38" y="3733200"/>
            <a:ext cx="74693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20494A"/>
                </a:solidFill>
                <a:latin typeface="Poppins Bold"/>
                <a:ea typeface="Poppins Bold"/>
                <a:cs typeface="Poppins Bold"/>
                <a:sym typeface="Poppins Bold"/>
              </a:rPr>
              <a:t>Pair Exercise Instructions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438" y="4195162"/>
            <a:ext cx="7322344" cy="66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1674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Open the Yaba branch marketing dataset (24-day experiment identical to Ikeja).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5912" y="5680624"/>
            <a:ext cx="695086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Identify which strength band this falls into.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7312" y="5041668"/>
            <a:ext cx="1638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0162" y="5744442"/>
            <a:ext cx="19137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85912" y="6132014"/>
            <a:ext cx="6950869" cy="81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Write 1 sentence to the Yaba branch manager who asks: </a:t>
            </a:r>
            <a:r>
              <a:rPr lang="en-US" sz="1800" i="true">
                <a:solidFill>
                  <a:srgbClr val="33415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"Should we copy Ikeja's ad strategy?"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0162" y="6195832"/>
            <a:ext cx="19137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70542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28888"/>
            <a:ext cx="8069284" cy="83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Sca</a:t>
            </a: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tter Plots &amp; CORREL: </a:t>
            </a:r>
            <a:r>
              <a:rPr lang="en-US" sz="22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scatter plots and calculate correlation coefficients in Excel using =CORREL.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3579314"/>
            <a:ext cx="8336756" cy="83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Strength &amp; Business Language: </a:t>
            </a:r>
            <a:r>
              <a:rPr lang="en-US" sz="22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Read strength/direction and explain findings in clear, actionable business language.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4628017"/>
            <a:ext cx="8336756" cy="83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orrelation vs Causation: </a:t>
            </a:r>
            <a:r>
              <a:rPr lang="en-US" sz="22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Explain using examples why correlation does not prove direct causation.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0188" y="5676719"/>
            <a:ext cx="8336756" cy="83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sz="2275" b="true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pot Spurious Relationships:</a:t>
            </a:r>
            <a:r>
              <a:rPr lang="en-US" sz="2275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Identify spurious correlations and uncover plausible underlying hidden factors.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3722189"/>
            <a:ext cx="371475" cy="385762"/>
            <a:chOff x="0" y="0"/>
            <a:chExt cx="495300" cy="5143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" y="4770892"/>
            <a:ext cx="371475" cy="385762"/>
            <a:chOff x="0" y="0"/>
            <a:chExt cx="495300" cy="51435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7250" y="5819594"/>
            <a:ext cx="371475" cy="385762"/>
            <a:chOff x="0" y="0"/>
            <a:chExt cx="495300" cy="5143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458999" y="3905250"/>
            <a:ext cx="5527638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Regression Fundamentals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68" r="0" b="-6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14375"/>
            <a:ext cx="1710213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Up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Next: Topic 4.3 — Regression Fundamentals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7250" y="3192437"/>
            <a:ext cx="8036719" cy="122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02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Today you measured </a:t>
            </a:r>
            <a:r>
              <a:rPr lang="en-US" sz="202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how strongly</a:t>
            </a:r>
            <a:r>
              <a:rPr lang="en-US" sz="202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two variables move together. Topic 4.3 goes one step further: building a model to </a:t>
            </a:r>
            <a:r>
              <a:rPr lang="en-US" sz="2025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</a:t>
            </a:r>
            <a:r>
              <a:rPr lang="en-US" sz="2025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exact values!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7250" y="4807744"/>
            <a:ext cx="8036719" cy="2762841"/>
            <a:chOff x="0" y="0"/>
            <a:chExt cx="10715625" cy="3683787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0715625" cy="3683762"/>
            </a:xfrm>
            <a:custGeom>
              <a:avLst/>
              <a:gdLst/>
              <a:ahLst/>
              <a:cxnLst/>
              <a:rect r="r" b="b" t="t" l="l"/>
              <a:pathLst>
                <a:path h="3683762" w="10715625">
                  <a:moveTo>
                    <a:pt x="0" y="0"/>
                  </a:moveTo>
                  <a:lnTo>
                    <a:pt x="10715625" y="0"/>
                  </a:lnTo>
                  <a:lnTo>
                    <a:pt x="10715625" y="3683762"/>
                  </a:lnTo>
                  <a:lnTo>
                    <a:pt x="0" y="3683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17" r="0" b="-11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2550" y="5074444"/>
            <a:ext cx="76260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D9A9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Next Session: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3050" y="5507831"/>
            <a:ext cx="706516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Complete Topic 4.2 lab exercise (Guided &amp; Semi-Guided).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3050" y="5987796"/>
            <a:ext cx="7065169" cy="45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Complete LMS practice questions on </a:t>
            </a:r>
            <a:r>
              <a:rPr lang="en-US" sz="18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publica.academy</a:t>
            </a: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3050" y="6467770"/>
            <a:ext cx="7065169" cy="817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Keep your Ikeja &amp; Yaba workbooks—Topic 4.3 builds models directly on this data!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0175" y="5571649"/>
            <a:ext cx="857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0175" y="6051614"/>
            <a:ext cx="857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0175" y="6531588"/>
            <a:ext cx="857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93313" y="2387404"/>
            <a:ext cx="6608244" cy="63514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DAHT5rzSN6E</dc:identifier>
  <dcterms:modified xsi:type="dcterms:W3CDTF">2011-08-01T06:04:30Z</dcterms:modified>
  <cp:revision>1</cp:revision>
  <dc:title>4.2_Correlation and Relationships.pptx</dc:title>
</cp:coreProperties>
</file>