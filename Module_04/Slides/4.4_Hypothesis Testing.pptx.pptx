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8"/>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Inter" charset="1" panose="02000503000000020004"/>
      <p:regular r:id="rId21"/>
    </p:embeddedFont>
    <p:embeddedFont>
      <p:font typeface="Inter Bold" charset="1" panose="02000503000000020004"/>
      <p:regular r:id="rId22"/>
    </p:embeddedFont>
    <p:embeddedFont>
      <p:font typeface="Poppins Bold" charset="1" panose="00000800000000000000"/>
      <p:regular r:id="rId23"/>
    </p:embeddedFont>
    <p:embeddedFont>
      <p:font typeface="Poppins" charset="1" panose="00000500000000000000"/>
      <p:regular r:id="rId25"/>
    </p:embeddedFont>
    <p:embeddedFont>
      <p:font typeface="Poppins Medium" charset="1" panose="00000600000000000000"/>
      <p:regular r:id="rId26"/>
    </p:embeddedFont>
    <p:embeddedFont>
      <p:font typeface="Poppins Italics" charset="1" panose="0000050000000000000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notesMasters/notesMaster1.xml" Type="http://schemas.openxmlformats.org/officeDocument/2006/relationships/notesMaster"/><Relationship Id="rId19" Target="theme/theme2.xml" Type="http://schemas.openxmlformats.org/officeDocument/2006/relationships/theme"/><Relationship Id="rId2" Target="presProps.xml" Type="http://schemas.openxmlformats.org/officeDocument/2006/relationships/presProps"/><Relationship Id="rId20" Target="notesSlides/notesSlide1.xml" Type="http://schemas.openxmlformats.org/officeDocument/2006/relationships/note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notesSlides/notesSlide2.xml" Type="http://schemas.openxmlformats.org/officeDocument/2006/relationships/notesSlide"/><Relationship Id="rId25" Target="fonts/font25.fntdata" Type="http://schemas.openxmlformats.org/officeDocument/2006/relationships/font"/><Relationship Id="rId26" Target="fonts/font26.fntdata" Type="http://schemas.openxmlformats.org/officeDocument/2006/relationships/font"/><Relationship Id="rId27" Target="notesSlides/notesSlide3.xml" Type="http://schemas.openxmlformats.org/officeDocument/2006/relationships/notesSlide"/><Relationship Id="rId28" Target="fonts/font28.fntdata" Type="http://schemas.openxmlformats.org/officeDocument/2006/relationships/font"/><Relationship Id="rId29" Target="notesSlides/notesSlide4.xml" Type="http://schemas.openxmlformats.org/officeDocument/2006/relationships/notesSlide"/><Relationship Id="rId3" Target="viewProps.xml" Type="http://schemas.openxmlformats.org/officeDocument/2006/relationships/viewProps"/><Relationship Id="rId30" Target="notesSlides/notesSlide5.xml" Type="http://schemas.openxmlformats.org/officeDocument/2006/relationships/notesSlide"/><Relationship Id="rId31" Target="notesSlides/notesSlide6.xml" Type="http://schemas.openxmlformats.org/officeDocument/2006/relationships/notesSlide"/><Relationship Id="rId32" Target="notesSlides/notesSlide7.xml" Type="http://schemas.openxmlformats.org/officeDocument/2006/relationships/notesSlide"/><Relationship Id="rId33" Target="notesSlides/notesSlide8.xml" Type="http://schemas.openxmlformats.org/officeDocument/2006/relationships/notesSlide"/><Relationship Id="rId34" Target="notesSlides/notesSlide9.xml" Type="http://schemas.openxmlformats.org/officeDocument/2006/relationships/notesSlide"/><Relationship Id="rId35" Target="notesSlides/notesSlide10.xml" Type="http://schemas.openxmlformats.org/officeDocument/2006/relationships/notesSlide"/><Relationship Id="rId36" Target="notesSlides/notesSlide11.xml" Type="http://schemas.openxmlformats.org/officeDocument/2006/relationships/notesSlide"/><Relationship Id="rId37" Target="notesSlides/notesSlide12.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jpeg" Type="http://schemas.openxmlformats.org/officeDocument/2006/relationships/image"/><Relationship Id="rId11" Target="../media/image9.png" Type="http://schemas.openxmlformats.org/officeDocument/2006/relationships/image"/><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jpeg" Type="http://schemas.openxmlformats.org/officeDocument/2006/relationships/image"/><Relationship Id="rId7" Target="../media/image5.jpeg" Type="http://schemas.openxmlformats.org/officeDocument/2006/relationships/image"/><Relationship Id="rId8" Target="../media/image6.png" Type="http://schemas.openxmlformats.org/officeDocument/2006/relationships/image"/><Relationship Id="rId9" Target="../media/image7.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png" Type="http://schemas.openxmlformats.org/officeDocument/2006/relationships/image"/><Relationship Id="rId11" Target="../media/image17.png" Type="http://schemas.openxmlformats.org/officeDocument/2006/relationships/image"/><Relationship Id="rId12" Target="../media/image18.png" Type="http://schemas.openxmlformats.org/officeDocument/2006/relationships/image"/><Relationship Id="rId13" Target="../media/image19.png" Type="http://schemas.openxmlformats.org/officeDocument/2006/relationships/image"/><Relationship Id="rId2" Target="../notesSlides/notesSlide2.xml" Type="http://schemas.openxmlformats.org/officeDocument/2006/relationships/notesSlide"/><Relationship Id="rId3" Target="../media/image10.pn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jpe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 Id="rId9" Target="../media/image9.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png" Type="http://schemas.openxmlformats.org/officeDocument/2006/relationships/image"/><Relationship Id="rId11" Target="../media/image22.png" Type="http://schemas.openxmlformats.org/officeDocument/2006/relationships/image"/><Relationship Id="rId12" Target="../media/image23.png" Type="http://schemas.openxmlformats.org/officeDocument/2006/relationships/image"/><Relationship Id="rId13" Target="../media/image24.png" Type="http://schemas.openxmlformats.org/officeDocument/2006/relationships/image"/><Relationship Id="rId14" Target="../media/image25.png" Type="http://schemas.openxmlformats.org/officeDocument/2006/relationships/image"/><Relationship Id="rId15" Target="../media/image26.png" Type="http://schemas.openxmlformats.org/officeDocument/2006/relationships/image"/><Relationship Id="rId16" Target="../media/image27.png" Type="http://schemas.openxmlformats.org/officeDocument/2006/relationships/image"/><Relationship Id="rId2" Target="../notesSlides/notesSlide3.xml" Type="http://schemas.openxmlformats.org/officeDocument/2006/relationships/notesSlide"/><Relationship Id="rId3" Target="../media/image10.pn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 Id="rId8" Target="../media/image9.png" Type="http://schemas.openxmlformats.org/officeDocument/2006/relationships/image"/><Relationship Id="rId9" Target="../media/image20.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png" Type="http://schemas.openxmlformats.org/officeDocument/2006/relationships/image"/><Relationship Id="rId11" Target="../media/image15.svg" Type="http://schemas.openxmlformats.org/officeDocument/2006/relationships/image"/><Relationship Id="rId12" Target="../media/image31.png" Type="http://schemas.openxmlformats.org/officeDocument/2006/relationships/image"/><Relationship Id="rId13" Target="../media/image32.png" Type="http://schemas.openxmlformats.org/officeDocument/2006/relationships/image"/><Relationship Id="rId14" Target="../media/image33.png" Type="http://schemas.openxmlformats.org/officeDocument/2006/relationships/image"/><Relationship Id="rId2" Target="../notesSlides/notesSlide4.xml" Type="http://schemas.openxmlformats.org/officeDocument/2006/relationships/notesSlide"/><Relationship Id="rId3" Target="../media/image10.pn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9.png" Type="http://schemas.openxmlformats.org/officeDocument/2006/relationships/image"/><Relationship Id="rId7" Target="../media/image28.png" Type="http://schemas.openxmlformats.org/officeDocument/2006/relationships/image"/><Relationship Id="rId8" Target="../media/image29.png" Type="http://schemas.openxmlformats.org/officeDocument/2006/relationships/image"/><Relationship Id="rId9" Target="../media/image3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png" Type="http://schemas.openxmlformats.org/officeDocument/2006/relationships/image"/><Relationship Id="rId11" Target="../media/image36.png" Type="http://schemas.openxmlformats.org/officeDocument/2006/relationships/image"/><Relationship Id="rId12" Target="../media/image37.png" Type="http://schemas.openxmlformats.org/officeDocument/2006/relationships/image"/><Relationship Id="rId13" Target="../media/image38.png" Type="http://schemas.openxmlformats.org/officeDocument/2006/relationships/image"/><Relationship Id="rId2" Target="../notesSlides/notesSlide5.xml" Type="http://schemas.openxmlformats.org/officeDocument/2006/relationships/notesSlide"/><Relationship Id="rId3" Target="../media/image10.pn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9.png" Type="http://schemas.openxmlformats.org/officeDocument/2006/relationships/image"/><Relationship Id="rId7" Target="../media/image34.pn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2.png" Type="http://schemas.openxmlformats.org/officeDocument/2006/relationships/image"/><Relationship Id="rId11" Target="../media/image43.png" Type="http://schemas.openxmlformats.org/officeDocument/2006/relationships/image"/><Relationship Id="rId12" Target="../media/image44.png" Type="http://schemas.openxmlformats.org/officeDocument/2006/relationships/image"/><Relationship Id="rId13" Target="../media/image14.png" Type="http://schemas.openxmlformats.org/officeDocument/2006/relationships/image"/><Relationship Id="rId14" Target="../media/image15.svg" Type="http://schemas.openxmlformats.org/officeDocument/2006/relationships/image"/><Relationship Id="rId15" Target="../media/image45.png" Type="http://schemas.openxmlformats.org/officeDocument/2006/relationships/image"/><Relationship Id="rId16" Target="../media/image46.png" Type="http://schemas.openxmlformats.org/officeDocument/2006/relationships/image"/><Relationship Id="rId2" Target="../notesSlides/notesSlide6.xml" Type="http://schemas.openxmlformats.org/officeDocument/2006/relationships/notesSlide"/><Relationship Id="rId3" Target="../media/image10.pn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9.png" Type="http://schemas.openxmlformats.org/officeDocument/2006/relationships/image"/><Relationship Id="rId7" Target="../media/image39.png" Type="http://schemas.openxmlformats.org/officeDocument/2006/relationships/image"/><Relationship Id="rId8" Target="../media/image40.png" Type="http://schemas.openxmlformats.org/officeDocument/2006/relationships/image"/><Relationship Id="rId9" Target="../media/image4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8.png" Type="http://schemas.openxmlformats.org/officeDocument/2006/relationships/image"/><Relationship Id="rId11" Target="../media/image49.png" Type="http://schemas.openxmlformats.org/officeDocument/2006/relationships/image"/><Relationship Id="rId2" Target="../notesSlides/notesSlide7.xml" Type="http://schemas.openxmlformats.org/officeDocument/2006/relationships/notesSlide"/><Relationship Id="rId3" Target="../media/image10.pn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 Id="rId8" Target="../media/image9.png" Type="http://schemas.openxmlformats.org/officeDocument/2006/relationships/image"/><Relationship Id="rId9" Target="../media/image4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svg" Type="http://schemas.openxmlformats.org/officeDocument/2006/relationships/image"/><Relationship Id="rId11" Target="../media/image52.png" Type="http://schemas.openxmlformats.org/officeDocument/2006/relationships/image"/><Relationship Id="rId12" Target="../media/image53.png" Type="http://schemas.openxmlformats.org/officeDocument/2006/relationships/image"/><Relationship Id="rId13" Target="../media/image54.png" Type="http://schemas.openxmlformats.org/officeDocument/2006/relationships/image"/><Relationship Id="rId2" Target="../notesSlides/notesSlide8.xml" Type="http://schemas.openxmlformats.org/officeDocument/2006/relationships/notesSlide"/><Relationship Id="rId3" Target="../media/image10.pn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9.png" Type="http://schemas.openxmlformats.org/officeDocument/2006/relationships/image"/><Relationship Id="rId7" Target="../media/image50.png" Type="http://schemas.openxmlformats.org/officeDocument/2006/relationships/image"/><Relationship Id="rId8" Target="../media/image51.png" Type="http://schemas.openxmlformats.org/officeDocument/2006/relationships/image"/><Relationship Id="rId9" Target="../media/image1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6.png" Type="http://schemas.openxmlformats.org/officeDocument/2006/relationships/image"/><Relationship Id="rId11" Target="../media/image57.png" Type="http://schemas.openxmlformats.org/officeDocument/2006/relationships/image"/><Relationship Id="rId12" Target="../media/image58.png" Type="http://schemas.openxmlformats.org/officeDocument/2006/relationships/image"/><Relationship Id="rId2" Target="../notesSlides/notesSlide9.xml" Type="http://schemas.openxmlformats.org/officeDocument/2006/relationships/notesSlide"/><Relationship Id="rId3" Target="../media/image10.pn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 Id="rId8" Target="../media/image9.png" Type="http://schemas.openxmlformats.org/officeDocument/2006/relationships/image"/><Relationship Id="rId9" Target="../media/image5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1.png" Type="http://schemas.openxmlformats.org/officeDocument/2006/relationships/image"/><Relationship Id="rId11" Target="../media/image14.png" Type="http://schemas.openxmlformats.org/officeDocument/2006/relationships/image"/><Relationship Id="rId12" Target="../media/image15.svg" Type="http://schemas.openxmlformats.org/officeDocument/2006/relationships/image"/><Relationship Id="rId13" Target="../media/image62.png" Type="http://schemas.openxmlformats.org/officeDocument/2006/relationships/image"/><Relationship Id="rId2" Target="../notesSlides/notesSlide10.xml" Type="http://schemas.openxmlformats.org/officeDocument/2006/relationships/notesSlide"/><Relationship Id="rId3" Target="../media/image10.pn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9.png" Type="http://schemas.openxmlformats.org/officeDocument/2006/relationships/image"/><Relationship Id="rId7" Target="../media/image59.png" Type="http://schemas.openxmlformats.org/officeDocument/2006/relationships/image"/><Relationship Id="rId8" Target="../media/image60.png" Type="http://schemas.openxmlformats.org/officeDocument/2006/relationships/image"/><Relationship Id="rId9" Target="../media/image3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4.png" Type="http://schemas.openxmlformats.org/officeDocument/2006/relationships/image"/><Relationship Id="rId2" Target="../notesSlides/notesSlide11.xml" Type="http://schemas.openxmlformats.org/officeDocument/2006/relationships/notesSlide"/><Relationship Id="rId3" Target="../media/image10.pn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 Id="rId8" Target="../media/image9.png" Type="http://schemas.openxmlformats.org/officeDocument/2006/relationships/image"/><Relationship Id="rId9" Target="../media/image6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png" Type="http://schemas.openxmlformats.org/officeDocument/2006/relationships/image"/><Relationship Id="rId11" Target="../media/image15.svg" Type="http://schemas.openxmlformats.org/officeDocument/2006/relationships/image"/><Relationship Id="rId2" Target="../notesSlides/notesSlide12.xml" Type="http://schemas.openxmlformats.org/officeDocument/2006/relationships/notesSlide"/><Relationship Id="rId3" Target="../media/image10.pn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9.png" Type="http://schemas.openxmlformats.org/officeDocument/2006/relationships/image"/><Relationship Id="rId7" Target="../media/image65.png" Type="http://schemas.openxmlformats.org/officeDocument/2006/relationships/image"/><Relationship Id="rId8" Target="../media/image66.png" Type="http://schemas.openxmlformats.org/officeDocument/2006/relationships/image"/><Relationship Id="rId9" Target="../media/image6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11430000" y="0"/>
            <a:ext cx="2286000" cy="1907572"/>
            <a:chOff x="0" y="0"/>
            <a:chExt cx="3048000" cy="2543429"/>
          </a:xfrm>
        </p:grpSpPr>
        <p:sp>
          <p:nvSpPr>
            <p:cNvPr name="Freeform 5" id="5"/>
            <p:cNvSpPr/>
            <p:nvPr/>
          </p:nvSpPr>
          <p:spPr>
            <a:xfrm flipH="false" flipV="false" rot="0">
              <a:off x="0" y="0"/>
              <a:ext cx="3048000" cy="2543429"/>
            </a:xfrm>
            <a:custGeom>
              <a:avLst/>
              <a:gdLst/>
              <a:ahLst/>
              <a:cxnLst/>
              <a:rect r="r" b="b" t="t" l="l"/>
              <a:pathLst>
                <a:path h="2543429" w="3048000">
                  <a:moveTo>
                    <a:pt x="0" y="0"/>
                  </a:moveTo>
                  <a:lnTo>
                    <a:pt x="3048000" y="0"/>
                  </a:lnTo>
                  <a:lnTo>
                    <a:pt x="3048000" y="2543429"/>
                  </a:lnTo>
                  <a:lnTo>
                    <a:pt x="0" y="2543429"/>
                  </a:lnTo>
                  <a:lnTo>
                    <a:pt x="0" y="0"/>
                  </a:lnTo>
                  <a:close/>
                </a:path>
              </a:pathLst>
            </a:custGeom>
            <a:blipFill>
              <a:blip r:embed="rId4"/>
              <a:stretch>
                <a:fillRect l="0" t="-140" r="0" b="-140"/>
              </a:stretch>
            </a:blipFill>
          </p:spPr>
        </p:sp>
      </p:grpSp>
      <p:grpSp>
        <p:nvGrpSpPr>
          <p:cNvPr name="Group 6" id="6"/>
          <p:cNvGrpSpPr/>
          <p:nvPr/>
        </p:nvGrpSpPr>
        <p:grpSpPr>
          <a:xfrm rot="0">
            <a:off x="0" y="6429375"/>
            <a:ext cx="1907572" cy="1286066"/>
            <a:chOff x="0" y="0"/>
            <a:chExt cx="2543429" cy="1714754"/>
          </a:xfrm>
        </p:grpSpPr>
        <p:sp>
          <p:nvSpPr>
            <p:cNvPr name="Freeform 7" id="7"/>
            <p:cNvSpPr/>
            <p:nvPr/>
          </p:nvSpPr>
          <p:spPr>
            <a:xfrm flipH="false" flipV="false" rot="0">
              <a:off x="0" y="0"/>
              <a:ext cx="2543429" cy="1714754"/>
            </a:xfrm>
            <a:custGeom>
              <a:avLst/>
              <a:gdLst/>
              <a:ahLst/>
              <a:cxnLst/>
              <a:rect r="r" b="b" t="t" l="l"/>
              <a:pathLst>
                <a:path h="1714754" w="2543429">
                  <a:moveTo>
                    <a:pt x="0" y="0"/>
                  </a:moveTo>
                  <a:lnTo>
                    <a:pt x="2543429" y="0"/>
                  </a:lnTo>
                  <a:lnTo>
                    <a:pt x="2543429" y="1714754"/>
                  </a:lnTo>
                  <a:lnTo>
                    <a:pt x="0" y="1714754"/>
                  </a:lnTo>
                  <a:lnTo>
                    <a:pt x="0" y="0"/>
                  </a:lnTo>
                  <a:close/>
                </a:path>
              </a:pathLst>
            </a:custGeom>
            <a:blipFill>
              <a:blip r:embed="rId5"/>
              <a:stretch>
                <a:fillRect l="-148" t="0" r="-147" b="0"/>
              </a:stretch>
            </a:blipFill>
          </p:spPr>
        </p:sp>
      </p:grpSp>
      <p:grpSp>
        <p:nvGrpSpPr>
          <p:cNvPr name="Group 8" id="8"/>
          <p:cNvGrpSpPr/>
          <p:nvPr/>
        </p:nvGrpSpPr>
        <p:grpSpPr>
          <a:xfrm rot="0">
            <a:off x="1143000" y="2944759"/>
            <a:ext cx="16002000" cy="323098"/>
            <a:chOff x="0" y="0"/>
            <a:chExt cx="21336000" cy="430797"/>
          </a:xfrm>
        </p:grpSpPr>
        <p:sp>
          <p:nvSpPr>
            <p:cNvPr name="Freeform 9" id="9"/>
            <p:cNvSpPr/>
            <p:nvPr/>
          </p:nvSpPr>
          <p:spPr>
            <a:xfrm flipH="false" flipV="false" rot="0">
              <a:off x="0" y="0"/>
              <a:ext cx="21336000" cy="430784"/>
            </a:xfrm>
            <a:custGeom>
              <a:avLst/>
              <a:gdLst/>
              <a:ahLst/>
              <a:cxnLst/>
              <a:rect r="r" b="b" t="t" l="l"/>
              <a:pathLst>
                <a:path h="430784" w="21336000">
                  <a:moveTo>
                    <a:pt x="0" y="0"/>
                  </a:moveTo>
                  <a:lnTo>
                    <a:pt x="21336000" y="0"/>
                  </a:lnTo>
                  <a:lnTo>
                    <a:pt x="21336000" y="430784"/>
                  </a:lnTo>
                  <a:lnTo>
                    <a:pt x="0" y="430784"/>
                  </a:lnTo>
                  <a:close/>
                </a:path>
              </a:pathLst>
            </a:custGeom>
            <a:blipFill>
              <a:blip r:embed="rId6">
                <a:alphaModFix amt="0"/>
              </a:blip>
              <a:stretch>
                <a:fillRect l="0" t="-914386" r="0" b="-914392"/>
              </a:stretch>
            </a:blipFill>
          </p:spPr>
        </p:sp>
      </p:grpSp>
      <p:grpSp>
        <p:nvGrpSpPr>
          <p:cNvPr name="Group 10" id="10"/>
          <p:cNvGrpSpPr/>
          <p:nvPr/>
        </p:nvGrpSpPr>
        <p:grpSpPr>
          <a:xfrm rot="0">
            <a:off x="1143000" y="2944759"/>
            <a:ext cx="16002000" cy="438950"/>
            <a:chOff x="0" y="0"/>
            <a:chExt cx="21336000" cy="585267"/>
          </a:xfrm>
        </p:grpSpPr>
        <p:sp>
          <p:nvSpPr>
            <p:cNvPr name="Freeform 11" id="11"/>
            <p:cNvSpPr/>
            <p:nvPr/>
          </p:nvSpPr>
          <p:spPr>
            <a:xfrm flipH="false" flipV="false" rot="0">
              <a:off x="0" y="0"/>
              <a:ext cx="21336000" cy="585267"/>
            </a:xfrm>
            <a:custGeom>
              <a:avLst/>
              <a:gdLst/>
              <a:ahLst/>
              <a:cxnLst/>
              <a:rect r="r" b="b" t="t" l="l"/>
              <a:pathLst>
                <a:path h="585267" w="21336000">
                  <a:moveTo>
                    <a:pt x="0" y="0"/>
                  </a:moveTo>
                  <a:lnTo>
                    <a:pt x="21336000" y="0"/>
                  </a:lnTo>
                  <a:lnTo>
                    <a:pt x="21336000" y="585267"/>
                  </a:lnTo>
                  <a:lnTo>
                    <a:pt x="0" y="585267"/>
                  </a:lnTo>
                  <a:close/>
                </a:path>
              </a:pathLst>
            </a:custGeom>
            <a:blipFill>
              <a:blip r:embed="rId7">
                <a:alphaModFix amt="0"/>
              </a:blip>
              <a:stretch>
                <a:fillRect l="0" t="-673526" r="0" b="-647133"/>
              </a:stretch>
            </a:blipFill>
          </p:spPr>
        </p:sp>
        <p:sp>
          <p:nvSpPr>
            <p:cNvPr name="TextBox 12" id="12"/>
            <p:cNvSpPr txBox="true"/>
            <p:nvPr/>
          </p:nvSpPr>
          <p:spPr>
            <a:xfrm>
              <a:off x="0" y="0"/>
              <a:ext cx="21336000" cy="585267"/>
            </a:xfrm>
            <a:prstGeom prst="rect">
              <a:avLst/>
            </a:prstGeom>
          </p:spPr>
          <p:txBody>
            <a:bodyPr anchor="ctr" rtlCol="false" tIns="0" lIns="0" bIns="0" rIns="0"/>
            <a:lstStyle/>
            <a:p>
              <a:pPr algn="l">
                <a:lnSpc>
                  <a:spcPts val="2520"/>
                </a:lnSpc>
              </a:pPr>
              <a:r>
                <a:rPr lang="en-US" sz="2100">
                  <a:solidFill>
                    <a:srgbClr val="387F7F"/>
                  </a:solidFill>
                  <a:latin typeface="Inter"/>
                  <a:ea typeface="Inter"/>
                  <a:cs typeface="Inter"/>
                  <a:sym typeface="Inter"/>
                </a:rPr>
                <a:t>DATA ANALYSIS</a:t>
              </a:r>
            </a:p>
          </p:txBody>
        </p:sp>
      </p:grpSp>
      <p:grpSp>
        <p:nvGrpSpPr>
          <p:cNvPr name="Group 13" id="13"/>
          <p:cNvGrpSpPr/>
          <p:nvPr/>
        </p:nvGrpSpPr>
        <p:grpSpPr>
          <a:xfrm rot="0">
            <a:off x="1143000" y="3349571"/>
            <a:ext cx="16002000" cy="691134"/>
            <a:chOff x="0" y="0"/>
            <a:chExt cx="21336000" cy="921512"/>
          </a:xfrm>
        </p:grpSpPr>
        <p:sp>
          <p:nvSpPr>
            <p:cNvPr name="Freeform 14" id="14"/>
            <p:cNvSpPr/>
            <p:nvPr/>
          </p:nvSpPr>
          <p:spPr>
            <a:xfrm flipH="false" flipV="false" rot="0">
              <a:off x="0" y="0"/>
              <a:ext cx="21336000" cy="921512"/>
            </a:xfrm>
            <a:custGeom>
              <a:avLst/>
              <a:gdLst/>
              <a:ahLst/>
              <a:cxnLst/>
              <a:rect r="r" b="b" t="t" l="l"/>
              <a:pathLst>
                <a:path h="921512" w="21336000">
                  <a:moveTo>
                    <a:pt x="0" y="0"/>
                  </a:moveTo>
                  <a:lnTo>
                    <a:pt x="21336000" y="0"/>
                  </a:lnTo>
                  <a:lnTo>
                    <a:pt x="21336000" y="921512"/>
                  </a:lnTo>
                  <a:lnTo>
                    <a:pt x="0" y="921512"/>
                  </a:lnTo>
                  <a:close/>
                </a:path>
              </a:pathLst>
            </a:custGeom>
            <a:blipFill>
              <a:blip r:embed="rId6">
                <a:alphaModFix amt="0"/>
              </a:blip>
              <a:stretch>
                <a:fillRect l="0" t="-400828" r="0" b="-400828"/>
              </a:stretch>
            </a:blipFill>
          </p:spPr>
        </p:sp>
      </p:grpSp>
      <p:grpSp>
        <p:nvGrpSpPr>
          <p:cNvPr name="Group 15" id="15"/>
          <p:cNvGrpSpPr/>
          <p:nvPr/>
        </p:nvGrpSpPr>
        <p:grpSpPr>
          <a:xfrm rot="0">
            <a:off x="1143000" y="3342427"/>
            <a:ext cx="16002000" cy="698283"/>
            <a:chOff x="0" y="0"/>
            <a:chExt cx="21336000" cy="931044"/>
          </a:xfrm>
        </p:grpSpPr>
        <p:sp>
          <p:nvSpPr>
            <p:cNvPr name="Freeform 16" id="16"/>
            <p:cNvSpPr/>
            <p:nvPr/>
          </p:nvSpPr>
          <p:spPr>
            <a:xfrm flipH="false" flipV="false" rot="0">
              <a:off x="0" y="0"/>
              <a:ext cx="21336000" cy="931038"/>
            </a:xfrm>
            <a:custGeom>
              <a:avLst/>
              <a:gdLst/>
              <a:ahLst/>
              <a:cxnLst/>
              <a:rect r="r" b="b" t="t" l="l"/>
              <a:pathLst>
                <a:path h="931038" w="21336000">
                  <a:moveTo>
                    <a:pt x="0" y="0"/>
                  </a:moveTo>
                  <a:lnTo>
                    <a:pt x="21336000" y="0"/>
                  </a:lnTo>
                  <a:lnTo>
                    <a:pt x="21336000" y="931038"/>
                  </a:lnTo>
                  <a:lnTo>
                    <a:pt x="0" y="931038"/>
                  </a:lnTo>
                  <a:close/>
                </a:path>
              </a:pathLst>
            </a:custGeom>
            <a:blipFill>
              <a:blip r:embed="rId7">
                <a:alphaModFix amt="0"/>
              </a:blip>
              <a:stretch>
                <a:fillRect l="0" t="-396525" r="0" b="-396526"/>
              </a:stretch>
            </a:blipFill>
          </p:spPr>
        </p:sp>
        <p:sp>
          <p:nvSpPr>
            <p:cNvPr name="TextBox 17" id="17"/>
            <p:cNvSpPr txBox="true"/>
            <p:nvPr/>
          </p:nvSpPr>
          <p:spPr>
            <a:xfrm>
              <a:off x="0" y="-9525"/>
              <a:ext cx="21336000" cy="940569"/>
            </a:xfrm>
            <a:prstGeom prst="rect">
              <a:avLst/>
            </a:prstGeom>
          </p:spPr>
          <p:txBody>
            <a:bodyPr anchor="ctr" rtlCol="false" tIns="0" lIns="0" bIns="0" rIns="0"/>
            <a:lstStyle/>
            <a:p>
              <a:pPr algn="l">
                <a:lnSpc>
                  <a:spcPts val="3960"/>
                </a:lnSpc>
              </a:pPr>
              <a:r>
                <a:rPr lang="en-US" sz="3300" b="true">
                  <a:solidFill>
                    <a:srgbClr val="64748B"/>
                  </a:solidFill>
                  <a:latin typeface="Inter Bold"/>
                  <a:ea typeface="Inter Bold"/>
                  <a:cs typeface="Inter Bold"/>
                  <a:sym typeface="Inter Bold"/>
                </a:rPr>
                <a:t>Module 4: Statistic for Analytics</a:t>
              </a:r>
            </a:p>
          </p:txBody>
        </p:sp>
      </p:grpSp>
      <p:grpSp>
        <p:nvGrpSpPr>
          <p:cNvPr name="Group 18" id="18"/>
          <p:cNvGrpSpPr/>
          <p:nvPr/>
        </p:nvGrpSpPr>
        <p:grpSpPr>
          <a:xfrm rot="0">
            <a:off x="1143000" y="8572500"/>
            <a:ext cx="16002000" cy="28766"/>
            <a:chOff x="0" y="0"/>
            <a:chExt cx="21336000" cy="38354"/>
          </a:xfrm>
        </p:grpSpPr>
        <p:sp>
          <p:nvSpPr>
            <p:cNvPr name="Freeform 19" id="19"/>
            <p:cNvSpPr/>
            <p:nvPr/>
          </p:nvSpPr>
          <p:spPr>
            <a:xfrm flipH="false" flipV="false" rot="0">
              <a:off x="0" y="0"/>
              <a:ext cx="21336000" cy="38354"/>
            </a:xfrm>
            <a:custGeom>
              <a:avLst/>
              <a:gdLst/>
              <a:ahLst/>
              <a:cxnLst/>
              <a:rect r="r" b="b" t="t" l="l"/>
              <a:pathLst>
                <a:path h="38354" w="21336000">
                  <a:moveTo>
                    <a:pt x="0" y="0"/>
                  </a:moveTo>
                  <a:lnTo>
                    <a:pt x="21336000" y="0"/>
                  </a:lnTo>
                  <a:lnTo>
                    <a:pt x="21336000" y="38354"/>
                  </a:lnTo>
                  <a:lnTo>
                    <a:pt x="0" y="38354"/>
                  </a:lnTo>
                  <a:close/>
                </a:path>
              </a:pathLst>
            </a:custGeom>
            <a:solidFill>
              <a:srgbClr val="E2E8F0"/>
            </a:solidFill>
          </p:spPr>
        </p:sp>
      </p:grpSp>
      <p:grpSp>
        <p:nvGrpSpPr>
          <p:cNvPr name="Group 20" id="20"/>
          <p:cNvGrpSpPr/>
          <p:nvPr/>
        </p:nvGrpSpPr>
        <p:grpSpPr>
          <a:xfrm rot="0">
            <a:off x="1143000" y="9001125"/>
            <a:ext cx="385667" cy="342900"/>
            <a:chOff x="0" y="0"/>
            <a:chExt cx="514223" cy="457200"/>
          </a:xfrm>
        </p:grpSpPr>
        <p:sp>
          <p:nvSpPr>
            <p:cNvPr name="Freeform 21" id="21"/>
            <p:cNvSpPr/>
            <p:nvPr/>
          </p:nvSpPr>
          <p:spPr>
            <a:xfrm flipH="false" flipV="false" rot="0">
              <a:off x="0" y="0"/>
              <a:ext cx="514223" cy="457200"/>
            </a:xfrm>
            <a:custGeom>
              <a:avLst/>
              <a:gdLst/>
              <a:ahLst/>
              <a:cxnLst/>
              <a:rect r="r" b="b" t="t" l="l"/>
              <a:pathLst>
                <a:path h="457200" w="514223">
                  <a:moveTo>
                    <a:pt x="0" y="0"/>
                  </a:moveTo>
                  <a:lnTo>
                    <a:pt x="514223" y="0"/>
                  </a:lnTo>
                  <a:lnTo>
                    <a:pt x="514223" y="457200"/>
                  </a:lnTo>
                  <a:lnTo>
                    <a:pt x="0" y="457200"/>
                  </a:lnTo>
                  <a:lnTo>
                    <a:pt x="0" y="0"/>
                  </a:lnTo>
                  <a:close/>
                </a:path>
              </a:pathLst>
            </a:custGeom>
            <a:blipFill>
              <a:blip r:embed="rId8"/>
              <a:stretch>
                <a:fillRect l="-12" t="0" r="-12" b="0"/>
              </a:stretch>
            </a:blipFill>
          </p:spPr>
        </p:sp>
      </p:grpSp>
      <p:grpSp>
        <p:nvGrpSpPr>
          <p:cNvPr name="Group 22" id="22"/>
          <p:cNvGrpSpPr/>
          <p:nvPr/>
        </p:nvGrpSpPr>
        <p:grpSpPr>
          <a:xfrm rot="0">
            <a:off x="1643062" y="9001125"/>
            <a:ext cx="2143354" cy="438950"/>
            <a:chOff x="0" y="0"/>
            <a:chExt cx="2857805" cy="585267"/>
          </a:xfrm>
        </p:grpSpPr>
        <p:sp>
          <p:nvSpPr>
            <p:cNvPr name="Freeform 23" id="23"/>
            <p:cNvSpPr/>
            <p:nvPr/>
          </p:nvSpPr>
          <p:spPr>
            <a:xfrm flipH="false" flipV="false" rot="0">
              <a:off x="0" y="0"/>
              <a:ext cx="2857754" cy="585216"/>
            </a:xfrm>
            <a:custGeom>
              <a:avLst/>
              <a:gdLst/>
              <a:ahLst/>
              <a:cxnLst/>
              <a:rect r="r" b="b" t="t" l="l"/>
              <a:pathLst>
                <a:path h="585216" w="2857754">
                  <a:moveTo>
                    <a:pt x="0" y="0"/>
                  </a:moveTo>
                  <a:lnTo>
                    <a:pt x="2857754" y="0"/>
                  </a:lnTo>
                  <a:lnTo>
                    <a:pt x="2857754" y="585216"/>
                  </a:lnTo>
                  <a:lnTo>
                    <a:pt x="0" y="585216"/>
                  </a:lnTo>
                  <a:close/>
                </a:path>
              </a:pathLst>
            </a:custGeom>
            <a:blipFill>
              <a:blip r:embed="rId6">
                <a:alphaModFix amt="0"/>
              </a:blip>
              <a:stretch>
                <a:fillRect l="0" t="-45080" r="-1" b="-45091"/>
              </a:stretch>
            </a:blipFill>
          </p:spPr>
        </p:sp>
      </p:grpSp>
      <p:grpSp>
        <p:nvGrpSpPr>
          <p:cNvPr name="Group 24" id="24"/>
          <p:cNvGrpSpPr/>
          <p:nvPr/>
        </p:nvGrpSpPr>
        <p:grpSpPr>
          <a:xfrm rot="0">
            <a:off x="1643062" y="9001125"/>
            <a:ext cx="2143354" cy="438950"/>
            <a:chOff x="0" y="0"/>
            <a:chExt cx="2857805" cy="585267"/>
          </a:xfrm>
        </p:grpSpPr>
        <p:sp>
          <p:nvSpPr>
            <p:cNvPr name="Freeform 25" id="25"/>
            <p:cNvSpPr/>
            <p:nvPr/>
          </p:nvSpPr>
          <p:spPr>
            <a:xfrm flipH="false" flipV="false" rot="0">
              <a:off x="0" y="0"/>
              <a:ext cx="2857805" cy="585267"/>
            </a:xfrm>
            <a:custGeom>
              <a:avLst/>
              <a:gdLst/>
              <a:ahLst/>
              <a:cxnLst/>
              <a:rect r="r" b="b" t="t" l="l"/>
              <a:pathLst>
                <a:path h="585267" w="2857805">
                  <a:moveTo>
                    <a:pt x="0" y="0"/>
                  </a:moveTo>
                  <a:lnTo>
                    <a:pt x="2857805" y="0"/>
                  </a:lnTo>
                  <a:lnTo>
                    <a:pt x="2857805" y="585267"/>
                  </a:lnTo>
                  <a:lnTo>
                    <a:pt x="0" y="585267"/>
                  </a:lnTo>
                  <a:close/>
                </a:path>
              </a:pathLst>
            </a:custGeom>
            <a:blipFill>
              <a:blip r:embed="rId7">
                <a:alphaModFix amt="0"/>
              </a:blip>
              <a:stretch>
                <a:fillRect l="0" t="-45143" r="0" b="-45143"/>
              </a:stretch>
            </a:blipFill>
          </p:spPr>
        </p:sp>
        <p:sp>
          <p:nvSpPr>
            <p:cNvPr name="TextBox 26" id="26"/>
            <p:cNvSpPr txBox="true"/>
            <p:nvPr/>
          </p:nvSpPr>
          <p:spPr>
            <a:xfrm>
              <a:off x="0" y="0"/>
              <a:ext cx="2857805" cy="585267"/>
            </a:xfrm>
            <a:prstGeom prst="rect">
              <a:avLst/>
            </a:prstGeom>
          </p:spPr>
          <p:txBody>
            <a:bodyPr anchor="ctr" rtlCol="false" tIns="0" lIns="0" bIns="0" rIns="0"/>
            <a:lstStyle/>
            <a:p>
              <a:pPr algn="l">
                <a:lnSpc>
                  <a:spcPts val="2520"/>
                </a:lnSpc>
              </a:pPr>
              <a:r>
                <a:rPr lang="en-US" sz="2100">
                  <a:solidFill>
                    <a:srgbClr val="64748B"/>
                  </a:solidFill>
                  <a:latin typeface="Inter"/>
                  <a:ea typeface="Inter"/>
                  <a:cs typeface="Inter"/>
                  <a:sym typeface="Inter"/>
                </a:rPr>
                <a:t>Topic 4 of 5</a:t>
              </a:r>
            </a:p>
          </p:txBody>
        </p:sp>
      </p:grpSp>
      <p:grpSp>
        <p:nvGrpSpPr>
          <p:cNvPr name="Group 27" id="27"/>
          <p:cNvGrpSpPr/>
          <p:nvPr/>
        </p:nvGrpSpPr>
        <p:grpSpPr>
          <a:xfrm rot="0">
            <a:off x="1143000" y="552450"/>
            <a:ext cx="2124666" cy="1845802"/>
            <a:chOff x="0" y="0"/>
            <a:chExt cx="2832887" cy="2461070"/>
          </a:xfrm>
        </p:grpSpPr>
        <p:sp>
          <p:nvSpPr>
            <p:cNvPr name="Freeform 28" id="28"/>
            <p:cNvSpPr/>
            <p:nvPr/>
          </p:nvSpPr>
          <p:spPr>
            <a:xfrm flipH="false" flipV="false" rot="0">
              <a:off x="0" y="0"/>
              <a:ext cx="2832862" cy="2461133"/>
            </a:xfrm>
            <a:custGeom>
              <a:avLst/>
              <a:gdLst/>
              <a:ahLst/>
              <a:cxnLst/>
              <a:rect r="r" b="b" t="t" l="l"/>
              <a:pathLst>
                <a:path h="2461133" w="2832862">
                  <a:moveTo>
                    <a:pt x="0" y="0"/>
                  </a:moveTo>
                  <a:lnTo>
                    <a:pt x="2832862" y="0"/>
                  </a:lnTo>
                  <a:lnTo>
                    <a:pt x="2832862" y="2461133"/>
                  </a:lnTo>
                  <a:lnTo>
                    <a:pt x="0" y="2461133"/>
                  </a:lnTo>
                  <a:lnTo>
                    <a:pt x="0" y="0"/>
                  </a:lnTo>
                  <a:close/>
                </a:path>
              </a:pathLst>
            </a:custGeom>
            <a:blipFill>
              <a:blip r:embed="rId9"/>
              <a:stretch>
                <a:fillRect l="0" t="-51" r="0" b="-49"/>
              </a:stretch>
            </a:blipFill>
          </p:spPr>
        </p:sp>
      </p:grpSp>
      <p:sp>
        <p:nvSpPr>
          <p:cNvPr name="TextBox 29" id="29"/>
          <p:cNvSpPr txBox="true"/>
          <p:nvPr/>
        </p:nvSpPr>
        <p:spPr>
          <a:xfrm rot="0">
            <a:off x="1143000" y="3992404"/>
            <a:ext cx="6771828" cy="2924175"/>
          </a:xfrm>
          <a:prstGeom prst="rect">
            <a:avLst/>
          </a:prstGeom>
        </p:spPr>
        <p:txBody>
          <a:bodyPr anchor="t" rtlCol="false" tIns="0" lIns="0" bIns="0" rIns="0">
            <a:spAutoFit/>
          </a:bodyPr>
          <a:lstStyle/>
          <a:p>
            <a:pPr algn="l">
              <a:lnSpc>
                <a:spcPts val="11250"/>
              </a:lnSpc>
            </a:pPr>
            <a:r>
              <a:rPr lang="en-US" sz="9000" b="true">
                <a:solidFill>
                  <a:srgbClr val="000000"/>
                </a:solidFill>
                <a:latin typeface="Poppins Bold"/>
                <a:ea typeface="Poppins Bold"/>
                <a:cs typeface="Poppins Bold"/>
                <a:sym typeface="Poppins Bold"/>
              </a:rPr>
              <a:t>Hypothesis </a:t>
            </a:r>
          </a:p>
          <a:p>
            <a:pPr algn="l">
              <a:lnSpc>
                <a:spcPts val="11250"/>
              </a:lnSpc>
            </a:pPr>
            <a:r>
              <a:rPr lang="en-US" sz="9000" b="true">
                <a:solidFill>
                  <a:srgbClr val="387F7F"/>
                </a:solidFill>
                <a:latin typeface="Poppins Bold"/>
                <a:ea typeface="Poppins Bold"/>
                <a:cs typeface="Poppins Bold"/>
                <a:sym typeface="Poppins Bold"/>
              </a:rPr>
              <a:t>Testing</a:t>
            </a:r>
          </a:p>
        </p:txBody>
      </p:sp>
      <p:grpSp>
        <p:nvGrpSpPr>
          <p:cNvPr name="Group 30" id="30"/>
          <p:cNvGrpSpPr/>
          <p:nvPr/>
        </p:nvGrpSpPr>
        <p:grpSpPr>
          <a:xfrm rot="0">
            <a:off x="11001070" y="1733550"/>
            <a:ext cx="6258230" cy="6258230"/>
            <a:chOff x="0" y="0"/>
            <a:chExt cx="8344306" cy="8344306"/>
          </a:xfrm>
        </p:grpSpPr>
        <p:sp>
          <p:nvSpPr>
            <p:cNvPr name="Freeform 31" id="31"/>
            <p:cNvSpPr/>
            <p:nvPr/>
          </p:nvSpPr>
          <p:spPr>
            <a:xfrm flipH="false" flipV="false" rot="0">
              <a:off x="0" y="0"/>
              <a:ext cx="8344281" cy="8344281"/>
            </a:xfrm>
            <a:custGeom>
              <a:avLst/>
              <a:gdLst/>
              <a:ahLst/>
              <a:cxnLst/>
              <a:rect r="r" b="b" t="t" l="l"/>
              <a:pathLst>
                <a:path h="8344281" w="8344281">
                  <a:moveTo>
                    <a:pt x="254000" y="0"/>
                  </a:moveTo>
                  <a:lnTo>
                    <a:pt x="8090281" y="0"/>
                  </a:lnTo>
                  <a:cubicBezTo>
                    <a:pt x="8230616" y="0"/>
                    <a:pt x="8344281" y="113665"/>
                    <a:pt x="8344281" y="254000"/>
                  </a:cubicBezTo>
                  <a:lnTo>
                    <a:pt x="8344281" y="8090281"/>
                  </a:lnTo>
                  <a:cubicBezTo>
                    <a:pt x="8344281" y="8230616"/>
                    <a:pt x="8230616" y="8344281"/>
                    <a:pt x="8090281" y="8344281"/>
                  </a:cubicBezTo>
                  <a:lnTo>
                    <a:pt x="254000" y="8344281"/>
                  </a:lnTo>
                  <a:cubicBezTo>
                    <a:pt x="113665" y="8344281"/>
                    <a:pt x="0" y="8230616"/>
                    <a:pt x="0" y="8090281"/>
                  </a:cubicBezTo>
                  <a:lnTo>
                    <a:pt x="0" y="254000"/>
                  </a:lnTo>
                  <a:cubicBezTo>
                    <a:pt x="0" y="113665"/>
                    <a:pt x="113665" y="0"/>
                    <a:pt x="254000" y="0"/>
                  </a:cubicBezTo>
                  <a:close/>
                </a:path>
              </a:pathLst>
            </a:custGeom>
            <a:blipFill>
              <a:blip r:embed="rId10"/>
              <a:stretch>
                <a:fillRect l="-292" t="0" r="-292" b="0"/>
              </a:stretch>
            </a:blipFill>
          </p:spPr>
        </p:sp>
      </p:grpSp>
      <p:grpSp>
        <p:nvGrpSpPr>
          <p:cNvPr name="Group 32" id="32"/>
          <p:cNvGrpSpPr/>
          <p:nvPr/>
        </p:nvGrpSpPr>
        <p:grpSpPr>
          <a:xfrm rot="0">
            <a:off x="16497824" y="8924125"/>
            <a:ext cx="647224" cy="571500"/>
            <a:chOff x="0" y="0"/>
            <a:chExt cx="862965" cy="762000"/>
          </a:xfrm>
        </p:grpSpPr>
        <p:sp>
          <p:nvSpPr>
            <p:cNvPr name="Freeform 33" id="33"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11"/>
              <a:stretch>
                <a:fillRect l="-772" t="0" r="-772" b="0"/>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grpSp>
        <p:nvGrpSpPr>
          <p:cNvPr name="Group 7" id="7"/>
          <p:cNvGrpSpPr/>
          <p:nvPr/>
        </p:nvGrpSpPr>
        <p:grpSpPr>
          <a:xfrm rot="0">
            <a:off x="10549033" y="2071783"/>
            <a:ext cx="6714934" cy="6714934"/>
            <a:chOff x="0" y="0"/>
            <a:chExt cx="8953246" cy="8953246"/>
          </a:xfrm>
        </p:grpSpPr>
        <p:sp>
          <p:nvSpPr>
            <p:cNvPr name="Freeform 8" id="8"/>
            <p:cNvSpPr/>
            <p:nvPr/>
          </p:nvSpPr>
          <p:spPr>
            <a:xfrm flipH="false" flipV="false" rot="0">
              <a:off x="0" y="0"/>
              <a:ext cx="8953246" cy="8953246"/>
            </a:xfrm>
            <a:custGeom>
              <a:avLst/>
              <a:gdLst/>
              <a:ahLst/>
              <a:cxnLst/>
              <a:rect r="r" b="b" t="t" l="l"/>
              <a:pathLst>
                <a:path h="8953246" w="8953246">
                  <a:moveTo>
                    <a:pt x="254508" y="0"/>
                  </a:moveTo>
                  <a:lnTo>
                    <a:pt x="8698738" y="0"/>
                  </a:lnTo>
                  <a:cubicBezTo>
                    <a:pt x="8766302" y="0"/>
                    <a:pt x="8830945" y="26797"/>
                    <a:pt x="8878697" y="74549"/>
                  </a:cubicBezTo>
                  <a:cubicBezTo>
                    <a:pt x="8926449" y="122301"/>
                    <a:pt x="8953246" y="187071"/>
                    <a:pt x="8953246" y="254508"/>
                  </a:cubicBezTo>
                  <a:lnTo>
                    <a:pt x="8953246" y="8698738"/>
                  </a:lnTo>
                  <a:cubicBezTo>
                    <a:pt x="8953246" y="8839327"/>
                    <a:pt x="8839327" y="8953246"/>
                    <a:pt x="8698738" y="8953246"/>
                  </a:cubicBezTo>
                  <a:lnTo>
                    <a:pt x="254508" y="8953246"/>
                  </a:lnTo>
                  <a:cubicBezTo>
                    <a:pt x="113919" y="8953246"/>
                    <a:pt x="0" y="8839327"/>
                    <a:pt x="0" y="8698738"/>
                  </a:cubicBezTo>
                  <a:lnTo>
                    <a:pt x="0" y="254508"/>
                  </a:lnTo>
                  <a:cubicBezTo>
                    <a:pt x="0" y="113919"/>
                    <a:pt x="113919" y="0"/>
                    <a:pt x="254508" y="0"/>
                  </a:cubicBezTo>
                  <a:close/>
                </a:path>
              </a:pathLst>
            </a:custGeom>
            <a:blipFill>
              <a:blip r:embed="rId6"/>
              <a:stretch>
                <a:fillRect l="0" t="0" r="0" b="0"/>
              </a:stretch>
            </a:blipFill>
            <a:ln w="19050" cap="sq">
              <a:solidFill>
                <a:srgbClr val="CBD5E1"/>
              </a:solidFill>
              <a:prstDash val="solid"/>
              <a:miter/>
            </a:ln>
          </p:spPr>
        </p:sp>
      </p:grpSp>
      <p:sp>
        <p:nvSpPr>
          <p:cNvPr name="Freeform 9" id="9"/>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7">
              <a:extLst>
                <a:ext uri="{96DAC541-7B7A-43D3-8B79-37D633B846F1}">
                  <asvg:svgBlip xmlns:asvg="http://schemas.microsoft.com/office/drawing/2016/SVG/main" r:embed="rId8"/>
                </a:ext>
              </a:extLst>
            </a:blip>
            <a:stretch>
              <a:fillRect l="0" t="-68" r="0" b="-68"/>
            </a:stretch>
          </a:blipFill>
        </p:spPr>
      </p:sp>
      <p:sp>
        <p:nvSpPr>
          <p:cNvPr name="TextBox 10" id="10"/>
          <p:cNvSpPr txBox="true"/>
          <p:nvPr/>
        </p:nvSpPr>
        <p:spPr>
          <a:xfrm rot="0">
            <a:off x="1143000" y="714375"/>
            <a:ext cx="17102138" cy="90487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Learning outcome</a:t>
            </a:r>
          </a:p>
        </p:txBody>
      </p:sp>
      <p:grpSp>
        <p:nvGrpSpPr>
          <p:cNvPr name="Group 11" id="11"/>
          <p:cNvGrpSpPr/>
          <p:nvPr/>
        </p:nvGrpSpPr>
        <p:grpSpPr>
          <a:xfrm rot="0">
            <a:off x="16497824" y="8924125"/>
            <a:ext cx="647224" cy="571500"/>
            <a:chOff x="0" y="0"/>
            <a:chExt cx="862965" cy="762000"/>
          </a:xfrm>
        </p:grpSpPr>
        <p:sp>
          <p:nvSpPr>
            <p:cNvPr name="Freeform 12" id="12"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9"/>
              <a:stretch>
                <a:fillRect l="-772" t="0" r="-772" b="0"/>
              </a:stretch>
            </a:blipFill>
          </p:spPr>
        </p:sp>
      </p:grpSp>
      <p:sp>
        <p:nvSpPr>
          <p:cNvPr name="TextBox 13" id="13"/>
          <p:cNvSpPr txBox="true"/>
          <p:nvPr/>
        </p:nvSpPr>
        <p:spPr>
          <a:xfrm rot="0">
            <a:off x="857250" y="2502136"/>
            <a:ext cx="17573625" cy="628650"/>
          </a:xfrm>
          <a:prstGeom prst="rect">
            <a:avLst/>
          </a:prstGeom>
        </p:spPr>
        <p:txBody>
          <a:bodyPr anchor="t" rtlCol="false" tIns="0" lIns="0" bIns="0" rIns="0">
            <a:spAutoFit/>
          </a:bodyPr>
          <a:lstStyle/>
          <a:p>
            <a:pPr algn="l">
              <a:lnSpc>
                <a:spcPts val="4500"/>
              </a:lnSpc>
            </a:pPr>
            <a:r>
              <a:rPr lang="en-US" sz="3600" b="true">
                <a:solidFill>
                  <a:srgbClr val="22454E"/>
                </a:solidFill>
                <a:latin typeface="Poppins Bold"/>
                <a:ea typeface="Poppins Bold"/>
                <a:cs typeface="Poppins Bold"/>
                <a:sym typeface="Poppins Bold"/>
              </a:rPr>
              <a:t>By the end of this topic, you can...</a:t>
            </a:r>
          </a:p>
        </p:txBody>
      </p:sp>
      <p:grpSp>
        <p:nvGrpSpPr>
          <p:cNvPr name="Group 14" id="14"/>
          <p:cNvGrpSpPr/>
          <p:nvPr/>
        </p:nvGrpSpPr>
        <p:grpSpPr>
          <a:xfrm rot="0">
            <a:off x="1071562" y="3511786"/>
            <a:ext cx="9286686" cy="1078574"/>
            <a:chOff x="0" y="0"/>
            <a:chExt cx="12382248" cy="1438098"/>
          </a:xfrm>
        </p:grpSpPr>
        <p:grpSp>
          <p:nvGrpSpPr>
            <p:cNvPr name="Group 15" id="15"/>
            <p:cNvGrpSpPr/>
            <p:nvPr/>
          </p:nvGrpSpPr>
          <p:grpSpPr>
            <a:xfrm rot="0">
              <a:off x="0" y="38100"/>
              <a:ext cx="486563" cy="495300"/>
              <a:chOff x="0" y="0"/>
              <a:chExt cx="486563" cy="495300"/>
            </a:xfrm>
          </p:grpSpPr>
          <p:sp>
            <p:nvSpPr>
              <p:cNvPr name="Freeform 16" id="16" descr="image.png"/>
              <p:cNvSpPr/>
              <p:nvPr/>
            </p:nvSpPr>
            <p:spPr>
              <a:xfrm flipH="false" flipV="false" rot="0">
                <a:off x="0" y="0"/>
                <a:ext cx="486563" cy="495300"/>
              </a:xfrm>
              <a:custGeom>
                <a:avLst/>
                <a:gdLst/>
                <a:ahLst/>
                <a:cxnLst/>
                <a:rect r="r" b="b" t="t" l="l"/>
                <a:pathLst>
                  <a:path h="495300" w="486563">
                    <a:moveTo>
                      <a:pt x="0" y="0"/>
                    </a:moveTo>
                    <a:lnTo>
                      <a:pt x="486563" y="0"/>
                    </a:lnTo>
                    <a:lnTo>
                      <a:pt x="486563" y="495300"/>
                    </a:lnTo>
                    <a:lnTo>
                      <a:pt x="0" y="495300"/>
                    </a:lnTo>
                    <a:lnTo>
                      <a:pt x="0" y="0"/>
                    </a:lnTo>
                    <a:close/>
                  </a:path>
                </a:pathLst>
              </a:custGeom>
              <a:blipFill>
                <a:blip r:embed="rId10"/>
                <a:stretch>
                  <a:fillRect l="-14601" t="0" r="-14601" b="0"/>
                </a:stretch>
              </a:blipFill>
            </p:spPr>
          </p:sp>
        </p:grpSp>
        <p:sp>
          <p:nvSpPr>
            <p:cNvPr name="TextBox 17" id="17"/>
            <p:cNvSpPr txBox="true"/>
            <p:nvPr/>
          </p:nvSpPr>
          <p:spPr>
            <a:xfrm rot="0">
              <a:off x="751961" y="-95250"/>
              <a:ext cx="11630287" cy="527559"/>
            </a:xfrm>
            <a:prstGeom prst="rect">
              <a:avLst/>
            </a:prstGeom>
          </p:spPr>
          <p:txBody>
            <a:bodyPr anchor="t" rtlCol="false" tIns="0" lIns="0" bIns="0" rIns="0">
              <a:spAutoFit/>
            </a:bodyPr>
            <a:lstStyle/>
            <a:p>
              <a:pPr algn="l">
                <a:lnSpc>
                  <a:spcPts val="3311"/>
                </a:lnSpc>
              </a:pPr>
              <a:r>
                <a:rPr lang="en-US" sz="2137">
                  <a:solidFill>
                    <a:srgbClr val="1F2937"/>
                  </a:solidFill>
                  <a:latin typeface="Poppins"/>
                  <a:ea typeface="Poppins"/>
                  <a:cs typeface="Poppins"/>
                  <a:sym typeface="Poppins"/>
                </a:rPr>
                <a:t>1. State Hypotheses clearly</a:t>
              </a:r>
            </a:p>
          </p:txBody>
        </p:sp>
        <p:sp>
          <p:nvSpPr>
            <p:cNvPr name="TextBox 18" id="18"/>
            <p:cNvSpPr txBox="true"/>
            <p:nvPr/>
          </p:nvSpPr>
          <p:spPr>
            <a:xfrm rot="0">
              <a:off x="751961" y="484581"/>
              <a:ext cx="11630287" cy="953517"/>
            </a:xfrm>
            <a:prstGeom prst="rect">
              <a:avLst/>
            </a:prstGeom>
          </p:spPr>
          <p:txBody>
            <a:bodyPr anchor="t" rtlCol="false" tIns="0" lIns="0" bIns="0" rIns="0">
              <a:spAutoFit/>
            </a:bodyPr>
            <a:lstStyle/>
            <a:p>
              <a:pPr algn="l">
                <a:lnSpc>
                  <a:spcPts val="2963"/>
                </a:lnSpc>
              </a:pPr>
              <a:r>
                <a:rPr lang="en-US" sz="1912" b="true">
                  <a:solidFill>
                    <a:srgbClr val="4B5563"/>
                  </a:solidFill>
                  <a:latin typeface="Poppins Medium"/>
                  <a:ea typeface="Poppins Medium"/>
                  <a:cs typeface="Poppins Medium"/>
                  <a:sym typeface="Poppins Medium"/>
                </a:rPr>
                <a:t>Formulate a Null Hypothesis (H₀) and Alternative Hypothesis (H₁) for any business question.</a:t>
              </a:r>
            </a:p>
          </p:txBody>
        </p:sp>
      </p:grpSp>
      <p:grpSp>
        <p:nvGrpSpPr>
          <p:cNvPr name="Group 19" id="19"/>
          <p:cNvGrpSpPr/>
          <p:nvPr/>
        </p:nvGrpSpPr>
        <p:grpSpPr>
          <a:xfrm rot="0">
            <a:off x="1071562" y="4857059"/>
            <a:ext cx="8827218" cy="796976"/>
            <a:chOff x="0" y="0"/>
            <a:chExt cx="11769623" cy="1062634"/>
          </a:xfrm>
        </p:grpSpPr>
        <p:grpSp>
          <p:nvGrpSpPr>
            <p:cNvPr name="Group 20" id="20"/>
            <p:cNvGrpSpPr/>
            <p:nvPr/>
          </p:nvGrpSpPr>
          <p:grpSpPr>
            <a:xfrm rot="0">
              <a:off x="0" y="38100"/>
              <a:ext cx="381000" cy="495300"/>
              <a:chOff x="0" y="0"/>
              <a:chExt cx="381000" cy="495300"/>
            </a:xfrm>
          </p:grpSpPr>
          <p:sp>
            <p:nvSpPr>
              <p:cNvPr name="Freeform 21" id="21" descr="image.png"/>
              <p:cNvSpPr/>
              <p:nvPr/>
            </p:nvSpPr>
            <p:spPr>
              <a:xfrm flipH="false" flipV="false" rot="0">
                <a:off x="0" y="0"/>
                <a:ext cx="381000" cy="495300"/>
              </a:xfrm>
              <a:custGeom>
                <a:avLst/>
                <a:gdLst/>
                <a:ahLst/>
                <a:cxnLst/>
                <a:rect r="r" b="b" t="t" l="l"/>
                <a:pathLst>
                  <a:path h="495300" w="381000">
                    <a:moveTo>
                      <a:pt x="0" y="0"/>
                    </a:moveTo>
                    <a:lnTo>
                      <a:pt x="381000" y="0"/>
                    </a:lnTo>
                    <a:lnTo>
                      <a:pt x="381000" y="495300"/>
                    </a:lnTo>
                    <a:lnTo>
                      <a:pt x="0" y="495300"/>
                    </a:lnTo>
                    <a:lnTo>
                      <a:pt x="0" y="0"/>
                    </a:lnTo>
                    <a:close/>
                  </a:path>
                </a:pathLst>
              </a:custGeom>
              <a:blipFill>
                <a:blip r:embed="rId11"/>
                <a:stretch>
                  <a:fillRect l="0" t="-1923" r="0" b="-1923"/>
                </a:stretch>
              </a:blipFill>
            </p:spPr>
          </p:sp>
        </p:grpSp>
        <p:sp>
          <p:nvSpPr>
            <p:cNvPr name="TextBox 22" id="22"/>
            <p:cNvSpPr txBox="true"/>
            <p:nvPr/>
          </p:nvSpPr>
          <p:spPr>
            <a:xfrm rot="0">
              <a:off x="723900" y="-95250"/>
              <a:ext cx="11045723" cy="656031"/>
            </a:xfrm>
            <a:prstGeom prst="rect">
              <a:avLst/>
            </a:prstGeom>
          </p:spPr>
          <p:txBody>
            <a:bodyPr anchor="t" rtlCol="false" tIns="0" lIns="0" bIns="0" rIns="0">
              <a:spAutoFit/>
            </a:bodyPr>
            <a:lstStyle/>
            <a:p>
              <a:pPr algn="l">
                <a:lnSpc>
                  <a:spcPts val="3311"/>
                </a:lnSpc>
              </a:pPr>
              <a:r>
                <a:rPr lang="en-US" sz="2137">
                  <a:solidFill>
                    <a:srgbClr val="1F2937"/>
                  </a:solidFill>
                  <a:latin typeface="Poppins"/>
                  <a:ea typeface="Poppins"/>
                  <a:cs typeface="Poppins"/>
                  <a:sym typeface="Poppins"/>
                </a:rPr>
                <a:t>2. Calculate p-value in Excel</a:t>
              </a:r>
            </a:p>
          </p:txBody>
        </p:sp>
        <p:sp>
          <p:nvSpPr>
            <p:cNvPr name="TextBox 23" id="23"/>
            <p:cNvSpPr txBox="true"/>
            <p:nvPr/>
          </p:nvSpPr>
          <p:spPr>
            <a:xfrm rot="0">
              <a:off x="723900" y="484581"/>
              <a:ext cx="11045723" cy="578053"/>
            </a:xfrm>
            <a:prstGeom prst="rect">
              <a:avLst/>
            </a:prstGeom>
          </p:spPr>
          <p:txBody>
            <a:bodyPr anchor="t" rtlCol="false" tIns="0" lIns="0" bIns="0" rIns="0">
              <a:spAutoFit/>
            </a:bodyPr>
            <a:lstStyle/>
            <a:p>
              <a:pPr algn="l">
                <a:lnSpc>
                  <a:spcPts val="2963"/>
                </a:lnSpc>
              </a:pPr>
              <a:r>
                <a:rPr lang="en-US" sz="1912" b="true">
                  <a:solidFill>
                    <a:srgbClr val="4B5563"/>
                  </a:solidFill>
                  <a:latin typeface="Poppins Medium"/>
                  <a:ea typeface="Poppins Medium"/>
                  <a:cs typeface="Poppins Medium"/>
                  <a:sym typeface="Poppins Medium"/>
                </a:rPr>
                <a:t>Use Excel's =T.TEST() function correctly to compare two datasets.</a:t>
              </a:r>
            </a:p>
          </p:txBody>
        </p:sp>
      </p:grpSp>
      <p:grpSp>
        <p:nvGrpSpPr>
          <p:cNvPr name="Group 24" id="24"/>
          <p:cNvGrpSpPr/>
          <p:nvPr/>
        </p:nvGrpSpPr>
        <p:grpSpPr>
          <a:xfrm rot="0">
            <a:off x="1071562" y="5906160"/>
            <a:ext cx="9286686" cy="707099"/>
            <a:chOff x="0" y="0"/>
            <a:chExt cx="12382248" cy="942798"/>
          </a:xfrm>
        </p:grpSpPr>
        <p:grpSp>
          <p:nvGrpSpPr>
            <p:cNvPr name="Group 25" id="25"/>
            <p:cNvGrpSpPr/>
            <p:nvPr/>
          </p:nvGrpSpPr>
          <p:grpSpPr>
            <a:xfrm rot="0">
              <a:off x="0" y="38100"/>
              <a:ext cx="496053" cy="495300"/>
              <a:chOff x="0" y="0"/>
              <a:chExt cx="496053" cy="495300"/>
            </a:xfrm>
          </p:grpSpPr>
          <p:sp>
            <p:nvSpPr>
              <p:cNvPr name="Freeform 26" id="26" descr="image.png"/>
              <p:cNvSpPr/>
              <p:nvPr/>
            </p:nvSpPr>
            <p:spPr>
              <a:xfrm flipH="false" flipV="false" rot="0">
                <a:off x="0" y="0"/>
                <a:ext cx="496053" cy="495300"/>
              </a:xfrm>
              <a:custGeom>
                <a:avLst/>
                <a:gdLst/>
                <a:ahLst/>
                <a:cxnLst/>
                <a:rect r="r" b="b" t="t" l="l"/>
                <a:pathLst>
                  <a:path h="495300" w="496053">
                    <a:moveTo>
                      <a:pt x="0" y="0"/>
                    </a:moveTo>
                    <a:lnTo>
                      <a:pt x="496053" y="0"/>
                    </a:lnTo>
                    <a:lnTo>
                      <a:pt x="496053" y="495300"/>
                    </a:lnTo>
                    <a:lnTo>
                      <a:pt x="0" y="495300"/>
                    </a:lnTo>
                    <a:lnTo>
                      <a:pt x="0" y="0"/>
                    </a:lnTo>
                    <a:close/>
                  </a:path>
                </a:pathLst>
              </a:custGeom>
              <a:blipFill>
                <a:blip r:embed="rId12"/>
                <a:stretch>
                  <a:fillRect l="0" t="-2002" r="0" b="-2002"/>
                </a:stretch>
              </a:blipFill>
            </p:spPr>
          </p:sp>
        </p:grpSp>
        <p:sp>
          <p:nvSpPr>
            <p:cNvPr name="TextBox 27" id="27"/>
            <p:cNvSpPr txBox="true"/>
            <p:nvPr/>
          </p:nvSpPr>
          <p:spPr>
            <a:xfrm rot="0">
              <a:off x="839474" y="-95250"/>
              <a:ext cx="11542774" cy="527559"/>
            </a:xfrm>
            <a:prstGeom prst="rect">
              <a:avLst/>
            </a:prstGeom>
          </p:spPr>
          <p:txBody>
            <a:bodyPr anchor="t" rtlCol="false" tIns="0" lIns="0" bIns="0" rIns="0">
              <a:spAutoFit/>
            </a:bodyPr>
            <a:lstStyle/>
            <a:p>
              <a:pPr algn="l">
                <a:lnSpc>
                  <a:spcPts val="3311"/>
                </a:lnSpc>
              </a:pPr>
              <a:r>
                <a:rPr lang="en-US" sz="2137">
                  <a:solidFill>
                    <a:srgbClr val="1F2937"/>
                  </a:solidFill>
                  <a:latin typeface="Poppins"/>
                  <a:ea typeface="Poppins"/>
                  <a:cs typeface="Poppins"/>
                  <a:sym typeface="Poppins"/>
                </a:rPr>
                <a:t>3. Interpret p-value in Plain Business Language</a:t>
              </a:r>
            </a:p>
          </p:txBody>
        </p:sp>
        <p:sp>
          <p:nvSpPr>
            <p:cNvPr name="TextBox 28" id="28"/>
            <p:cNvSpPr txBox="true"/>
            <p:nvPr/>
          </p:nvSpPr>
          <p:spPr>
            <a:xfrm rot="0">
              <a:off x="839474" y="484581"/>
              <a:ext cx="11542774" cy="458217"/>
            </a:xfrm>
            <a:prstGeom prst="rect">
              <a:avLst/>
            </a:prstGeom>
          </p:spPr>
          <p:txBody>
            <a:bodyPr anchor="t" rtlCol="false" tIns="0" lIns="0" bIns="0" rIns="0">
              <a:spAutoFit/>
            </a:bodyPr>
            <a:lstStyle/>
            <a:p>
              <a:pPr algn="l">
                <a:lnSpc>
                  <a:spcPts val="2963"/>
                </a:lnSpc>
              </a:pPr>
              <a:r>
                <a:rPr lang="en-US" sz="1912" b="true">
                  <a:solidFill>
                    <a:srgbClr val="4B5563"/>
                  </a:solidFill>
                  <a:latin typeface="Poppins Medium"/>
                  <a:ea typeface="Poppins Medium"/>
                  <a:cs typeface="Poppins Medium"/>
                  <a:sym typeface="Poppins Medium"/>
                </a:rPr>
                <a:t>Translate p-values into rigorous, non-technical executive summaries.</a:t>
              </a:r>
            </a:p>
          </p:txBody>
        </p:sp>
      </p:grpSp>
      <p:grpSp>
        <p:nvGrpSpPr>
          <p:cNvPr name="Group 29" id="29"/>
          <p:cNvGrpSpPr/>
          <p:nvPr/>
        </p:nvGrpSpPr>
        <p:grpSpPr>
          <a:xfrm rot="0">
            <a:off x="1071562" y="6956159"/>
            <a:ext cx="9477470" cy="1078574"/>
            <a:chOff x="0" y="0"/>
            <a:chExt cx="12636627" cy="1438098"/>
          </a:xfrm>
        </p:grpSpPr>
        <p:grpSp>
          <p:nvGrpSpPr>
            <p:cNvPr name="Group 30" id="30"/>
            <p:cNvGrpSpPr/>
            <p:nvPr/>
          </p:nvGrpSpPr>
          <p:grpSpPr>
            <a:xfrm rot="0">
              <a:off x="0" y="38100"/>
              <a:ext cx="370408" cy="495300"/>
              <a:chOff x="0" y="0"/>
              <a:chExt cx="370408" cy="495300"/>
            </a:xfrm>
          </p:grpSpPr>
          <p:sp>
            <p:nvSpPr>
              <p:cNvPr name="Freeform 31" id="31" descr="image.png"/>
              <p:cNvSpPr/>
              <p:nvPr/>
            </p:nvSpPr>
            <p:spPr>
              <a:xfrm flipH="false" flipV="false" rot="0">
                <a:off x="0" y="0"/>
                <a:ext cx="370408" cy="495300"/>
              </a:xfrm>
              <a:custGeom>
                <a:avLst/>
                <a:gdLst/>
                <a:ahLst/>
                <a:cxnLst/>
                <a:rect r="r" b="b" t="t" l="l"/>
                <a:pathLst>
                  <a:path h="495300" w="370408">
                    <a:moveTo>
                      <a:pt x="0" y="0"/>
                    </a:moveTo>
                    <a:lnTo>
                      <a:pt x="370408" y="0"/>
                    </a:lnTo>
                    <a:lnTo>
                      <a:pt x="370408" y="495300"/>
                    </a:lnTo>
                    <a:lnTo>
                      <a:pt x="0" y="495300"/>
                    </a:lnTo>
                    <a:lnTo>
                      <a:pt x="0" y="0"/>
                    </a:lnTo>
                    <a:close/>
                  </a:path>
                </a:pathLst>
              </a:custGeom>
              <a:blipFill>
                <a:blip r:embed="rId13"/>
                <a:stretch>
                  <a:fillRect l="-14382" t="0" r="-14382" b="0"/>
                </a:stretch>
              </a:blipFill>
            </p:spPr>
          </p:sp>
        </p:grpSp>
        <p:sp>
          <p:nvSpPr>
            <p:cNvPr name="TextBox 32" id="32"/>
            <p:cNvSpPr txBox="true"/>
            <p:nvPr/>
          </p:nvSpPr>
          <p:spPr>
            <a:xfrm rot="0">
              <a:off x="626845" y="-95250"/>
              <a:ext cx="12009782" cy="527559"/>
            </a:xfrm>
            <a:prstGeom prst="rect">
              <a:avLst/>
            </a:prstGeom>
          </p:spPr>
          <p:txBody>
            <a:bodyPr anchor="t" rtlCol="false" tIns="0" lIns="0" bIns="0" rIns="0">
              <a:spAutoFit/>
            </a:bodyPr>
            <a:lstStyle/>
            <a:p>
              <a:pPr algn="l">
                <a:lnSpc>
                  <a:spcPts val="3311"/>
                </a:lnSpc>
              </a:pPr>
              <a:r>
                <a:rPr lang="en-US" sz="2137">
                  <a:solidFill>
                    <a:srgbClr val="1F2937"/>
                  </a:solidFill>
                  <a:latin typeface="Poppins"/>
                  <a:ea typeface="Poppins"/>
                  <a:cs typeface="Poppins"/>
                  <a:sym typeface="Poppins"/>
                </a:rPr>
                <a:t>4. Distinguish Statistical vs. Business Significance</a:t>
              </a:r>
            </a:p>
          </p:txBody>
        </p:sp>
        <p:sp>
          <p:nvSpPr>
            <p:cNvPr name="TextBox 33" id="33"/>
            <p:cNvSpPr txBox="true"/>
            <p:nvPr/>
          </p:nvSpPr>
          <p:spPr>
            <a:xfrm rot="0">
              <a:off x="626845" y="484581"/>
              <a:ext cx="12009782" cy="953517"/>
            </a:xfrm>
            <a:prstGeom prst="rect">
              <a:avLst/>
            </a:prstGeom>
          </p:spPr>
          <p:txBody>
            <a:bodyPr anchor="t" rtlCol="false" tIns="0" lIns="0" bIns="0" rIns="0">
              <a:spAutoFit/>
            </a:bodyPr>
            <a:lstStyle/>
            <a:p>
              <a:pPr algn="l">
                <a:lnSpc>
                  <a:spcPts val="2963"/>
                </a:lnSpc>
              </a:pPr>
              <a:r>
                <a:rPr lang="en-US" sz="1912" b="true">
                  <a:solidFill>
                    <a:srgbClr val="4B5563"/>
                  </a:solidFill>
                  <a:latin typeface="Poppins Medium"/>
                  <a:ea typeface="Poppins Medium"/>
                  <a:cs typeface="Poppins Medium"/>
                  <a:sym typeface="Poppins Medium"/>
                </a:rPr>
                <a:t>Explain what statistical significance does and does NOT mean for business investment decisions.</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9622" y="3428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68" r="0" b="-68"/>
            </a:stretch>
          </a:blipFill>
        </p:spPr>
      </p:sp>
      <p:sp>
        <p:nvSpPr>
          <p:cNvPr name="TextBox 8" id="8"/>
          <p:cNvSpPr txBox="true"/>
          <p:nvPr/>
        </p:nvSpPr>
        <p:spPr>
          <a:xfrm rot="0">
            <a:off x="1143000" y="714375"/>
            <a:ext cx="17145000" cy="1571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Did the new checkout lane actually work, or did we just get</a:t>
            </a:r>
            <a:r>
              <a:rPr lang="en-US" sz="5000">
                <a:solidFill>
                  <a:srgbClr val="388080"/>
                </a:solidFill>
                <a:latin typeface="Poppins"/>
                <a:ea typeface="Poppins"/>
                <a:cs typeface="Poppins"/>
                <a:sym typeface="Poppins"/>
              </a:rPr>
              <a:t> lucky?</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800100" y="3103959"/>
            <a:ext cx="2543175" cy="400050"/>
            <a:chOff x="0" y="0"/>
            <a:chExt cx="3390900" cy="533400"/>
          </a:xfrm>
        </p:grpSpPr>
        <p:sp>
          <p:nvSpPr>
            <p:cNvPr name="Freeform 12" id="12" descr="image.png"/>
            <p:cNvSpPr/>
            <p:nvPr/>
          </p:nvSpPr>
          <p:spPr>
            <a:xfrm flipH="false" flipV="false" rot="0">
              <a:off x="0" y="0"/>
              <a:ext cx="3390900" cy="533400"/>
            </a:xfrm>
            <a:custGeom>
              <a:avLst/>
              <a:gdLst/>
              <a:ahLst/>
              <a:cxnLst/>
              <a:rect r="r" b="b" t="t" l="l"/>
              <a:pathLst>
                <a:path h="533400" w="3390900">
                  <a:moveTo>
                    <a:pt x="0" y="0"/>
                  </a:moveTo>
                  <a:lnTo>
                    <a:pt x="3390900" y="0"/>
                  </a:lnTo>
                  <a:lnTo>
                    <a:pt x="3390900" y="533400"/>
                  </a:lnTo>
                  <a:lnTo>
                    <a:pt x="0" y="533400"/>
                  </a:lnTo>
                  <a:lnTo>
                    <a:pt x="0" y="0"/>
                  </a:lnTo>
                  <a:close/>
                </a:path>
              </a:pathLst>
            </a:custGeom>
            <a:blipFill>
              <a:blip r:embed="rId9"/>
              <a:stretch>
                <a:fillRect l="0" t="-1785" r="0" b="-1785"/>
              </a:stretch>
            </a:blipFill>
          </p:spPr>
        </p:sp>
      </p:grpSp>
      <p:sp>
        <p:nvSpPr>
          <p:cNvPr name="TextBox 13" id="13"/>
          <p:cNvSpPr txBox="true"/>
          <p:nvPr/>
        </p:nvSpPr>
        <p:spPr>
          <a:xfrm rot="0">
            <a:off x="800100" y="4185047"/>
            <a:ext cx="8143875" cy="1105567"/>
          </a:xfrm>
          <a:prstGeom prst="rect">
            <a:avLst/>
          </a:prstGeom>
        </p:spPr>
        <p:txBody>
          <a:bodyPr anchor="t" rtlCol="false" tIns="0" lIns="0" bIns="0" rIns="0">
            <a:spAutoFit/>
          </a:bodyPr>
          <a:lstStyle/>
          <a:p>
            <a:pPr algn="l">
              <a:lnSpc>
                <a:spcPts val="2701"/>
              </a:lnSpc>
            </a:pPr>
            <a:r>
              <a:rPr lang="en-US" sz="1743">
                <a:solidFill>
                  <a:srgbClr val="475569"/>
                </a:solidFill>
                <a:latin typeface="Poppins"/>
                <a:ea typeface="Poppins"/>
                <a:cs typeface="Poppins"/>
                <a:sym typeface="Poppins"/>
              </a:rPr>
              <a:t>Aduke Stores trialled a dedicated quick checkout lane at Ikeja branch for baskets of five items or fewer. Daily sales in the 20 days after the pilot look higher than the 20 days before it.</a:t>
            </a:r>
          </a:p>
        </p:txBody>
      </p:sp>
      <p:sp>
        <p:nvSpPr>
          <p:cNvPr name="TextBox 14" id="14"/>
          <p:cNvSpPr txBox="true"/>
          <p:nvPr/>
        </p:nvSpPr>
        <p:spPr>
          <a:xfrm rot="0">
            <a:off x="800100" y="3589734"/>
            <a:ext cx="8551069" cy="500063"/>
          </a:xfrm>
          <a:prstGeom prst="rect">
            <a:avLst/>
          </a:prstGeom>
        </p:spPr>
        <p:txBody>
          <a:bodyPr anchor="t" rtlCol="false" tIns="0" lIns="0" bIns="0" rIns="0">
            <a:spAutoFit/>
          </a:bodyPr>
          <a:lstStyle/>
          <a:p>
            <a:pPr algn="l">
              <a:lnSpc>
                <a:spcPts val="2970"/>
              </a:lnSpc>
            </a:pPr>
            <a:r>
              <a:rPr lang="en-US" sz="2475">
                <a:solidFill>
                  <a:srgbClr val="0A1A23"/>
                </a:solidFill>
                <a:latin typeface="Poppins"/>
                <a:ea typeface="Poppins"/>
                <a:cs typeface="Poppins"/>
                <a:sym typeface="Poppins"/>
              </a:rPr>
              <a:t>Quick Checkout Pilot at Ikeja Branch</a:t>
            </a:r>
          </a:p>
        </p:txBody>
      </p:sp>
      <p:grpSp>
        <p:nvGrpSpPr>
          <p:cNvPr name="Group 15" id="15"/>
          <p:cNvGrpSpPr/>
          <p:nvPr/>
        </p:nvGrpSpPr>
        <p:grpSpPr>
          <a:xfrm rot="0">
            <a:off x="800100" y="5490639"/>
            <a:ext cx="8143875" cy="984942"/>
            <a:chOff x="0" y="0"/>
            <a:chExt cx="10858500" cy="1313256"/>
          </a:xfrm>
        </p:grpSpPr>
        <p:sp>
          <p:nvSpPr>
            <p:cNvPr name="Freeform 16" id="16" descr="image.png"/>
            <p:cNvSpPr/>
            <p:nvPr/>
          </p:nvSpPr>
          <p:spPr>
            <a:xfrm flipH="false" flipV="false" rot="0">
              <a:off x="0" y="0"/>
              <a:ext cx="10858500" cy="1313307"/>
            </a:xfrm>
            <a:custGeom>
              <a:avLst/>
              <a:gdLst/>
              <a:ahLst/>
              <a:cxnLst/>
              <a:rect r="r" b="b" t="t" l="l"/>
              <a:pathLst>
                <a:path h="1313307" w="10858500">
                  <a:moveTo>
                    <a:pt x="0" y="0"/>
                  </a:moveTo>
                  <a:lnTo>
                    <a:pt x="10858500" y="0"/>
                  </a:lnTo>
                  <a:lnTo>
                    <a:pt x="10858500" y="1313307"/>
                  </a:lnTo>
                  <a:lnTo>
                    <a:pt x="0" y="1313307"/>
                  </a:lnTo>
                  <a:lnTo>
                    <a:pt x="0" y="0"/>
                  </a:lnTo>
                  <a:close/>
                </a:path>
              </a:pathLst>
            </a:custGeom>
            <a:blipFill>
              <a:blip r:embed="rId10"/>
              <a:stretch>
                <a:fillRect l="0" t="-770" r="0" b="-766"/>
              </a:stretch>
            </a:blipFill>
          </p:spPr>
        </p:sp>
      </p:grpSp>
      <p:sp>
        <p:nvSpPr>
          <p:cNvPr name="TextBox 17" id="17"/>
          <p:cNvSpPr txBox="true"/>
          <p:nvPr/>
        </p:nvSpPr>
        <p:spPr>
          <a:xfrm rot="0">
            <a:off x="1209675" y="5595414"/>
            <a:ext cx="7505700" cy="708717"/>
          </a:xfrm>
          <a:prstGeom prst="rect">
            <a:avLst/>
          </a:prstGeom>
        </p:spPr>
        <p:txBody>
          <a:bodyPr anchor="t" rtlCol="false" tIns="0" lIns="0" bIns="0" rIns="0">
            <a:spAutoFit/>
          </a:bodyPr>
          <a:lstStyle/>
          <a:p>
            <a:pPr algn="l">
              <a:lnSpc>
                <a:spcPts val="2527"/>
              </a:lnSpc>
            </a:pPr>
            <a:r>
              <a:rPr lang="en-US" sz="1630" b="true">
                <a:solidFill>
                  <a:srgbClr val="92400E"/>
                </a:solidFill>
                <a:latin typeface="Poppins Medium"/>
                <a:ea typeface="Poppins Medium"/>
                <a:cs typeface="Poppins Medium"/>
                <a:sym typeface="Poppins Medium"/>
              </a:rPr>
              <a:t>The Operations Director asks: "Great, but how do we know this wasn't just a good month? Every month has ups and downs."</a:t>
            </a:r>
          </a:p>
        </p:txBody>
      </p:sp>
      <p:grpSp>
        <p:nvGrpSpPr>
          <p:cNvPr name="Group 18" id="18"/>
          <p:cNvGrpSpPr/>
          <p:nvPr/>
        </p:nvGrpSpPr>
        <p:grpSpPr>
          <a:xfrm rot="0">
            <a:off x="1085850" y="5719239"/>
            <a:ext cx="185738" cy="207169"/>
            <a:chOff x="0" y="0"/>
            <a:chExt cx="247650" cy="276225"/>
          </a:xfrm>
        </p:grpSpPr>
        <p:sp>
          <p:nvSpPr>
            <p:cNvPr name="Freeform 19" id="19" descr="image.png"/>
            <p:cNvSpPr/>
            <p:nvPr/>
          </p:nvSpPr>
          <p:spPr>
            <a:xfrm flipH="false" flipV="false" rot="0">
              <a:off x="0" y="0"/>
              <a:ext cx="247650" cy="276225"/>
            </a:xfrm>
            <a:custGeom>
              <a:avLst/>
              <a:gdLst/>
              <a:ahLst/>
              <a:cxnLst/>
              <a:rect r="r" b="b" t="t" l="l"/>
              <a:pathLst>
                <a:path h="276225" w="247650">
                  <a:moveTo>
                    <a:pt x="0" y="0"/>
                  </a:moveTo>
                  <a:lnTo>
                    <a:pt x="247650" y="0"/>
                  </a:lnTo>
                  <a:lnTo>
                    <a:pt x="247650" y="276225"/>
                  </a:lnTo>
                  <a:lnTo>
                    <a:pt x="0" y="276225"/>
                  </a:lnTo>
                  <a:lnTo>
                    <a:pt x="0" y="0"/>
                  </a:lnTo>
                  <a:close/>
                </a:path>
              </a:pathLst>
            </a:custGeom>
            <a:blipFill>
              <a:blip r:embed="rId11"/>
              <a:stretch>
                <a:fillRect l="0" t="-1724" r="0" b="-1724"/>
              </a:stretch>
            </a:blipFill>
          </p:spPr>
        </p:sp>
      </p:grpSp>
      <p:sp>
        <p:nvSpPr>
          <p:cNvPr name="TextBox 20" id="20"/>
          <p:cNvSpPr txBox="true"/>
          <p:nvPr/>
        </p:nvSpPr>
        <p:spPr>
          <a:xfrm rot="0">
            <a:off x="800100" y="6589881"/>
            <a:ext cx="8143875" cy="750094"/>
          </a:xfrm>
          <a:prstGeom prst="rect">
            <a:avLst/>
          </a:prstGeom>
        </p:spPr>
        <p:txBody>
          <a:bodyPr anchor="t" rtlCol="false" tIns="0" lIns="0" bIns="0" rIns="0">
            <a:spAutoFit/>
          </a:bodyPr>
          <a:lstStyle/>
          <a:p>
            <a:pPr algn="l">
              <a:lnSpc>
                <a:spcPts val="2614"/>
              </a:lnSpc>
            </a:pPr>
            <a:r>
              <a:rPr lang="en-US" sz="1687">
                <a:solidFill>
                  <a:srgbClr val="0A1A23"/>
                </a:solidFill>
                <a:latin typeface="Poppins"/>
                <a:ea typeface="Poppins"/>
                <a:cs typeface="Poppins"/>
                <a:sym typeface="Poppins"/>
              </a:rPr>
              <a:t>The Gap Hypothesis Testing Fills:</a:t>
            </a:r>
            <a:r>
              <a:rPr lang="en-US" sz="1687">
                <a:solidFill>
                  <a:srgbClr val="475569"/>
                </a:solidFill>
                <a:latin typeface="Poppins"/>
                <a:ea typeface="Poppins"/>
                <a:cs typeface="Poppins"/>
                <a:sym typeface="Poppins"/>
              </a:rPr>
              <a:t> Turning </a:t>
            </a:r>
            <a:r>
              <a:rPr lang="en-US" sz="1687" i="true">
                <a:solidFill>
                  <a:srgbClr val="475569"/>
                </a:solidFill>
                <a:latin typeface="Poppins Italics"/>
                <a:ea typeface="Poppins Italics"/>
                <a:cs typeface="Poppins Italics"/>
                <a:sym typeface="Poppins Italics"/>
              </a:rPr>
              <a:t>"it looks better"</a:t>
            </a:r>
            <a:r>
              <a:rPr lang="en-US" sz="1687">
                <a:solidFill>
                  <a:srgbClr val="475569"/>
                </a:solidFill>
                <a:latin typeface="Poppins"/>
                <a:ea typeface="Poppins"/>
                <a:cs typeface="Poppins"/>
                <a:sym typeface="Poppins"/>
              </a:rPr>
              <a:t> into </a:t>
            </a:r>
            <a:r>
              <a:rPr lang="en-US" sz="1687" i="true">
                <a:solidFill>
                  <a:srgbClr val="475569"/>
                </a:solidFill>
                <a:latin typeface="Poppins Italics"/>
                <a:ea typeface="Poppins Italics"/>
                <a:cs typeface="Poppins Italics"/>
                <a:sym typeface="Poppins Italics"/>
              </a:rPr>
              <a:t>"here is how confident we can be that it is genuinely better, not just noise."</a:t>
            </a:r>
          </a:p>
        </p:txBody>
      </p:sp>
      <p:grpSp>
        <p:nvGrpSpPr>
          <p:cNvPr name="Group 21" id="21"/>
          <p:cNvGrpSpPr/>
          <p:nvPr/>
        </p:nvGrpSpPr>
        <p:grpSpPr>
          <a:xfrm rot="0">
            <a:off x="9344025" y="2728912"/>
            <a:ext cx="7915275" cy="4986338"/>
            <a:chOff x="0" y="0"/>
            <a:chExt cx="10553700" cy="6648450"/>
          </a:xfrm>
        </p:grpSpPr>
        <p:sp>
          <p:nvSpPr>
            <p:cNvPr name="Freeform 22" id="22" descr="image.png"/>
            <p:cNvSpPr/>
            <p:nvPr/>
          </p:nvSpPr>
          <p:spPr>
            <a:xfrm flipH="false" flipV="false" rot="0">
              <a:off x="0" y="0"/>
              <a:ext cx="10553700" cy="6648450"/>
            </a:xfrm>
            <a:custGeom>
              <a:avLst/>
              <a:gdLst/>
              <a:ahLst/>
              <a:cxnLst/>
              <a:rect r="r" b="b" t="t" l="l"/>
              <a:pathLst>
                <a:path h="6648450" w="10553700">
                  <a:moveTo>
                    <a:pt x="0" y="0"/>
                  </a:moveTo>
                  <a:lnTo>
                    <a:pt x="10553700" y="0"/>
                  </a:lnTo>
                  <a:lnTo>
                    <a:pt x="10553700" y="6648450"/>
                  </a:lnTo>
                  <a:lnTo>
                    <a:pt x="0" y="6648450"/>
                  </a:lnTo>
                  <a:lnTo>
                    <a:pt x="0" y="0"/>
                  </a:lnTo>
                  <a:close/>
                </a:path>
              </a:pathLst>
            </a:custGeom>
            <a:blipFill>
              <a:blip r:embed="rId12"/>
              <a:stretch>
                <a:fillRect l="-1444" t="0" r="-1444" b="0"/>
              </a:stretch>
            </a:blipFill>
          </p:spPr>
        </p:sp>
      </p:grpSp>
      <p:grpSp>
        <p:nvGrpSpPr>
          <p:cNvPr name="Group 23" id="23"/>
          <p:cNvGrpSpPr/>
          <p:nvPr/>
        </p:nvGrpSpPr>
        <p:grpSpPr>
          <a:xfrm rot="0">
            <a:off x="11987212" y="4314825"/>
            <a:ext cx="1143000" cy="1857375"/>
            <a:chOff x="0" y="0"/>
            <a:chExt cx="1524000" cy="2476500"/>
          </a:xfrm>
        </p:grpSpPr>
        <p:sp>
          <p:nvSpPr>
            <p:cNvPr name="Freeform 24" id="24" descr="image.png"/>
            <p:cNvSpPr/>
            <p:nvPr/>
          </p:nvSpPr>
          <p:spPr>
            <a:xfrm flipH="false" flipV="false" rot="0">
              <a:off x="0" y="0"/>
              <a:ext cx="1524000" cy="2476500"/>
            </a:xfrm>
            <a:custGeom>
              <a:avLst/>
              <a:gdLst/>
              <a:ahLst/>
              <a:cxnLst/>
              <a:rect r="r" b="b" t="t" l="l"/>
              <a:pathLst>
                <a:path h="2476500" w="1524000">
                  <a:moveTo>
                    <a:pt x="0" y="0"/>
                  </a:moveTo>
                  <a:lnTo>
                    <a:pt x="1524000" y="0"/>
                  </a:lnTo>
                  <a:lnTo>
                    <a:pt x="1524000" y="2476500"/>
                  </a:lnTo>
                  <a:lnTo>
                    <a:pt x="0" y="2476500"/>
                  </a:lnTo>
                  <a:lnTo>
                    <a:pt x="0" y="0"/>
                  </a:lnTo>
                  <a:close/>
                </a:path>
              </a:pathLst>
            </a:custGeom>
            <a:blipFill>
              <a:blip r:embed="rId13"/>
              <a:stretch>
                <a:fillRect l="-625" t="0" r="-625" b="0"/>
              </a:stretch>
            </a:blipFill>
          </p:spPr>
        </p:sp>
      </p:grpSp>
      <p:grpSp>
        <p:nvGrpSpPr>
          <p:cNvPr name="Group 25" id="25"/>
          <p:cNvGrpSpPr/>
          <p:nvPr/>
        </p:nvGrpSpPr>
        <p:grpSpPr>
          <a:xfrm rot="0">
            <a:off x="13701712" y="3529012"/>
            <a:ext cx="1143000" cy="2643188"/>
            <a:chOff x="0" y="0"/>
            <a:chExt cx="1524000" cy="3524250"/>
          </a:xfrm>
        </p:grpSpPr>
        <p:sp>
          <p:nvSpPr>
            <p:cNvPr name="Freeform 26" id="26" descr="image.png"/>
            <p:cNvSpPr/>
            <p:nvPr/>
          </p:nvSpPr>
          <p:spPr>
            <a:xfrm flipH="false" flipV="false" rot="0">
              <a:off x="0" y="0"/>
              <a:ext cx="1524000" cy="3524250"/>
            </a:xfrm>
            <a:custGeom>
              <a:avLst/>
              <a:gdLst/>
              <a:ahLst/>
              <a:cxnLst/>
              <a:rect r="r" b="b" t="t" l="l"/>
              <a:pathLst>
                <a:path h="3524250" w="1524000">
                  <a:moveTo>
                    <a:pt x="0" y="0"/>
                  </a:moveTo>
                  <a:lnTo>
                    <a:pt x="1524000" y="0"/>
                  </a:lnTo>
                  <a:lnTo>
                    <a:pt x="1524000" y="3524250"/>
                  </a:lnTo>
                  <a:lnTo>
                    <a:pt x="0" y="3524250"/>
                  </a:lnTo>
                  <a:lnTo>
                    <a:pt x="0" y="0"/>
                  </a:lnTo>
                  <a:close/>
                </a:path>
              </a:pathLst>
            </a:custGeom>
            <a:blipFill>
              <a:blip r:embed="rId14"/>
              <a:stretch>
                <a:fillRect l="-625" t="0" r="-625" b="0"/>
              </a:stretch>
            </a:blipFill>
          </p:spPr>
        </p:sp>
      </p:grpSp>
      <p:grpSp>
        <p:nvGrpSpPr>
          <p:cNvPr name="Group 27" id="27"/>
          <p:cNvGrpSpPr/>
          <p:nvPr/>
        </p:nvGrpSpPr>
        <p:grpSpPr>
          <a:xfrm rot="0">
            <a:off x="10872788" y="6715125"/>
            <a:ext cx="5086350" cy="671512"/>
            <a:chOff x="0" y="0"/>
            <a:chExt cx="6781800" cy="895350"/>
          </a:xfrm>
        </p:grpSpPr>
        <p:sp>
          <p:nvSpPr>
            <p:cNvPr name="Freeform 28" id="28" descr="image.png"/>
            <p:cNvSpPr/>
            <p:nvPr/>
          </p:nvSpPr>
          <p:spPr>
            <a:xfrm flipH="false" flipV="false" rot="0">
              <a:off x="0" y="0"/>
              <a:ext cx="6781800" cy="895350"/>
            </a:xfrm>
            <a:custGeom>
              <a:avLst/>
              <a:gdLst/>
              <a:ahLst/>
              <a:cxnLst/>
              <a:rect r="r" b="b" t="t" l="l"/>
              <a:pathLst>
                <a:path h="895350" w="6781800">
                  <a:moveTo>
                    <a:pt x="0" y="0"/>
                  </a:moveTo>
                  <a:lnTo>
                    <a:pt x="6781800" y="0"/>
                  </a:lnTo>
                  <a:lnTo>
                    <a:pt x="6781800" y="895350"/>
                  </a:lnTo>
                  <a:lnTo>
                    <a:pt x="0" y="895350"/>
                  </a:lnTo>
                  <a:lnTo>
                    <a:pt x="0" y="0"/>
                  </a:lnTo>
                  <a:close/>
                </a:path>
              </a:pathLst>
            </a:custGeom>
            <a:blipFill>
              <a:blip r:embed="rId15"/>
              <a:stretch>
                <a:fillRect l="0" t="-2046" r="0" b="-2046"/>
              </a:stretch>
            </a:blipFill>
          </p:spPr>
        </p:sp>
      </p:grpSp>
      <p:sp>
        <p:nvSpPr>
          <p:cNvPr name="TextBox 29" id="29"/>
          <p:cNvSpPr txBox="true"/>
          <p:nvPr/>
        </p:nvSpPr>
        <p:spPr>
          <a:xfrm rot="0">
            <a:off x="11249025" y="6905625"/>
            <a:ext cx="4467225" cy="295275"/>
          </a:xfrm>
          <a:prstGeom prst="rect">
            <a:avLst/>
          </a:prstGeom>
        </p:spPr>
        <p:txBody>
          <a:bodyPr anchor="t" rtlCol="false" tIns="0" lIns="0" bIns="0" rIns="0">
            <a:spAutoFit/>
          </a:bodyPr>
          <a:lstStyle/>
          <a:p>
            <a:pPr algn="ctr">
              <a:lnSpc>
                <a:spcPts val="1889"/>
              </a:lnSpc>
            </a:pPr>
            <a:r>
              <a:rPr lang="en-US" sz="1575">
                <a:solidFill>
                  <a:srgbClr val="22454E"/>
                </a:solidFill>
                <a:latin typeface="Poppins"/>
                <a:ea typeface="Poppins"/>
                <a:cs typeface="Poppins"/>
                <a:sym typeface="Poppins"/>
              </a:rPr>
              <a:t>Real improvement, or just a good month?</a:t>
            </a:r>
          </a:p>
        </p:txBody>
      </p:sp>
      <p:grpSp>
        <p:nvGrpSpPr>
          <p:cNvPr name="Group 30" id="30"/>
          <p:cNvGrpSpPr/>
          <p:nvPr/>
        </p:nvGrpSpPr>
        <p:grpSpPr>
          <a:xfrm rot="0">
            <a:off x="11115675" y="6958012"/>
            <a:ext cx="200025" cy="200025"/>
            <a:chOff x="0" y="0"/>
            <a:chExt cx="266700" cy="266700"/>
          </a:xfrm>
        </p:grpSpPr>
        <p:sp>
          <p:nvSpPr>
            <p:cNvPr name="Freeform 31" id="31" descr="image.png"/>
            <p:cNvSpPr/>
            <p:nvPr/>
          </p:nvSpPr>
          <p:spPr>
            <a:xfrm flipH="false" flipV="false" rot="0">
              <a:off x="0" y="0"/>
              <a:ext cx="266700" cy="266700"/>
            </a:xfrm>
            <a:custGeom>
              <a:avLst/>
              <a:gdLst/>
              <a:ahLst/>
              <a:cxnLst/>
              <a:rect r="r" b="b" t="t" l="l"/>
              <a:pathLst>
                <a:path h="266700" w="266700">
                  <a:moveTo>
                    <a:pt x="0" y="0"/>
                  </a:moveTo>
                  <a:lnTo>
                    <a:pt x="266700" y="0"/>
                  </a:lnTo>
                  <a:lnTo>
                    <a:pt x="266700" y="266700"/>
                  </a:lnTo>
                  <a:lnTo>
                    <a:pt x="0" y="266700"/>
                  </a:lnTo>
                  <a:lnTo>
                    <a:pt x="0" y="0"/>
                  </a:lnTo>
                  <a:close/>
                </a:path>
              </a:pathLst>
            </a:custGeom>
            <a:blipFill>
              <a:blip r:embed="rId16"/>
              <a:stretch>
                <a:fillRect l="0" t="0" r="0" b="0"/>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TextBox 7" id="7"/>
          <p:cNvSpPr txBox="true"/>
          <p:nvPr/>
        </p:nvSpPr>
        <p:spPr>
          <a:xfrm rot="0">
            <a:off x="1143000" y="714375"/>
            <a:ext cx="17102138"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Two</a:t>
            </a:r>
            <a:r>
              <a:rPr lang="en-US" sz="5000">
                <a:solidFill>
                  <a:srgbClr val="388080"/>
                </a:solidFill>
                <a:latin typeface="Poppins"/>
                <a:ea typeface="Poppins"/>
                <a:cs typeface="Poppins"/>
                <a:sym typeface="Poppins"/>
              </a:rPr>
              <a:t> Competing Statements: Null &amp; Alternative</a:t>
            </a:r>
          </a:p>
        </p:txBody>
      </p:sp>
      <p:grpSp>
        <p:nvGrpSpPr>
          <p:cNvPr name="Group 8" id="8"/>
          <p:cNvGrpSpPr/>
          <p:nvPr/>
        </p:nvGrpSpPr>
        <p:grpSpPr>
          <a:xfrm rot="0">
            <a:off x="16497824" y="8924125"/>
            <a:ext cx="647224" cy="571500"/>
            <a:chOff x="0" y="0"/>
            <a:chExt cx="862965" cy="762000"/>
          </a:xfrm>
        </p:grpSpPr>
        <p:sp>
          <p:nvSpPr>
            <p:cNvPr name="Freeform 9" id="9"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6"/>
              <a:stretch>
                <a:fillRect l="-772" t="0" r="-772" b="0"/>
              </a:stretch>
            </a:blipFill>
          </p:spPr>
        </p:sp>
      </p:grpSp>
      <p:sp>
        <p:nvSpPr>
          <p:cNvPr name="TextBox 10" id="10"/>
          <p:cNvSpPr txBox="true"/>
          <p:nvPr/>
        </p:nvSpPr>
        <p:spPr>
          <a:xfrm rot="0">
            <a:off x="800100" y="2431780"/>
            <a:ext cx="16687800" cy="387350"/>
          </a:xfrm>
          <a:prstGeom prst="rect">
            <a:avLst/>
          </a:prstGeom>
        </p:spPr>
        <p:txBody>
          <a:bodyPr anchor="t" rtlCol="false" tIns="0" lIns="0" bIns="0" rIns="0">
            <a:spAutoFit/>
          </a:bodyPr>
          <a:lstStyle/>
          <a:p>
            <a:pPr algn="l">
              <a:lnSpc>
                <a:spcPts val="3099"/>
              </a:lnSpc>
            </a:pPr>
            <a:r>
              <a:rPr lang="en-US" sz="1999">
                <a:solidFill>
                  <a:srgbClr val="475569"/>
                </a:solidFill>
                <a:latin typeface="Poppins"/>
                <a:ea typeface="Poppins"/>
                <a:cs typeface="Poppins"/>
                <a:sym typeface="Poppins"/>
              </a:rPr>
              <a:t>Every hypothesis test starts by writing down two competing statements about the world, then using data to judge between them.</a:t>
            </a:r>
          </a:p>
        </p:txBody>
      </p:sp>
      <p:grpSp>
        <p:nvGrpSpPr>
          <p:cNvPr name="Group 11" id="11"/>
          <p:cNvGrpSpPr/>
          <p:nvPr/>
        </p:nvGrpSpPr>
        <p:grpSpPr>
          <a:xfrm rot="0">
            <a:off x="800100" y="3100388"/>
            <a:ext cx="8143875" cy="3134763"/>
            <a:chOff x="0" y="0"/>
            <a:chExt cx="10858500" cy="4179684"/>
          </a:xfrm>
        </p:grpSpPr>
        <p:sp>
          <p:nvSpPr>
            <p:cNvPr name="Freeform 12" id="12" descr="image.png"/>
            <p:cNvSpPr/>
            <p:nvPr/>
          </p:nvSpPr>
          <p:spPr>
            <a:xfrm flipH="false" flipV="false" rot="0">
              <a:off x="0" y="0"/>
              <a:ext cx="10858500" cy="4179697"/>
            </a:xfrm>
            <a:custGeom>
              <a:avLst/>
              <a:gdLst/>
              <a:ahLst/>
              <a:cxnLst/>
              <a:rect r="r" b="b" t="t" l="l"/>
              <a:pathLst>
                <a:path h="4179697" w="10858500">
                  <a:moveTo>
                    <a:pt x="0" y="0"/>
                  </a:moveTo>
                  <a:lnTo>
                    <a:pt x="10858500" y="0"/>
                  </a:lnTo>
                  <a:lnTo>
                    <a:pt x="10858500" y="4179697"/>
                  </a:lnTo>
                  <a:lnTo>
                    <a:pt x="0" y="4179697"/>
                  </a:lnTo>
                  <a:lnTo>
                    <a:pt x="0" y="0"/>
                  </a:lnTo>
                  <a:close/>
                </a:path>
              </a:pathLst>
            </a:custGeom>
            <a:blipFill>
              <a:blip r:embed="rId7"/>
              <a:stretch>
                <a:fillRect l="0" t="-135" r="0" b="-135"/>
              </a:stretch>
            </a:blipFill>
          </p:spPr>
        </p:sp>
      </p:grpSp>
      <p:sp>
        <p:nvSpPr>
          <p:cNvPr name="TextBox 13" id="13"/>
          <p:cNvSpPr txBox="true"/>
          <p:nvPr/>
        </p:nvSpPr>
        <p:spPr>
          <a:xfrm rot="0">
            <a:off x="1128712" y="4381719"/>
            <a:ext cx="7486650" cy="419319"/>
          </a:xfrm>
          <a:prstGeom prst="rect">
            <a:avLst/>
          </a:prstGeom>
        </p:spPr>
        <p:txBody>
          <a:bodyPr anchor="t" rtlCol="false" tIns="0" lIns="0" bIns="0" rIns="0">
            <a:spAutoFit/>
          </a:bodyPr>
          <a:lstStyle/>
          <a:p>
            <a:pPr algn="l">
              <a:lnSpc>
                <a:spcPts val="2701"/>
              </a:lnSpc>
            </a:pPr>
            <a:r>
              <a:rPr lang="en-US" sz="1743">
                <a:solidFill>
                  <a:srgbClr val="475569"/>
                </a:solidFill>
                <a:latin typeface="Poppins"/>
                <a:ea typeface="Poppins"/>
                <a:cs typeface="Poppins"/>
                <a:sym typeface="Poppins"/>
              </a:rPr>
              <a:t>Assumes any difference observed is purely random variation.</a:t>
            </a:r>
          </a:p>
        </p:txBody>
      </p:sp>
      <p:sp>
        <p:nvSpPr>
          <p:cNvPr name="TextBox 14" id="14"/>
          <p:cNvSpPr txBox="true"/>
          <p:nvPr/>
        </p:nvSpPr>
        <p:spPr>
          <a:xfrm rot="0">
            <a:off x="1128713" y="3400425"/>
            <a:ext cx="3765471" cy="371475"/>
          </a:xfrm>
          <a:prstGeom prst="rect">
            <a:avLst/>
          </a:prstGeom>
        </p:spPr>
        <p:txBody>
          <a:bodyPr anchor="t" rtlCol="false" tIns="0" lIns="0" bIns="0" rIns="0">
            <a:spAutoFit/>
          </a:bodyPr>
          <a:lstStyle/>
          <a:p>
            <a:pPr algn="l">
              <a:lnSpc>
                <a:spcPts val="2700"/>
              </a:lnSpc>
            </a:pPr>
            <a:r>
              <a:rPr lang="en-US" sz="2250">
                <a:solidFill>
                  <a:srgbClr val="20494A"/>
                </a:solidFill>
                <a:latin typeface="Poppins"/>
                <a:ea typeface="Poppins"/>
                <a:cs typeface="Poppins"/>
                <a:sym typeface="Poppins"/>
              </a:rPr>
              <a:t>Null Hypothesis (H₀)</a:t>
            </a:r>
          </a:p>
        </p:txBody>
      </p:sp>
      <p:sp>
        <p:nvSpPr>
          <p:cNvPr name="TextBox 15" id="15"/>
          <p:cNvSpPr txBox="true"/>
          <p:nvPr/>
        </p:nvSpPr>
        <p:spPr>
          <a:xfrm rot="0">
            <a:off x="1128712" y="3924300"/>
            <a:ext cx="7486650" cy="419319"/>
          </a:xfrm>
          <a:prstGeom prst="rect">
            <a:avLst/>
          </a:prstGeom>
        </p:spPr>
        <p:txBody>
          <a:bodyPr anchor="t" rtlCol="false" tIns="0" lIns="0" bIns="0" rIns="0">
            <a:spAutoFit/>
          </a:bodyPr>
          <a:lstStyle/>
          <a:p>
            <a:pPr algn="l">
              <a:lnSpc>
                <a:spcPts val="2701"/>
              </a:lnSpc>
            </a:pPr>
            <a:r>
              <a:rPr lang="en-US" sz="1743">
                <a:solidFill>
                  <a:srgbClr val="0A1A23"/>
                </a:solidFill>
                <a:latin typeface="Poppins"/>
                <a:ea typeface="Poppins"/>
                <a:cs typeface="Poppins"/>
                <a:sym typeface="Poppins"/>
              </a:rPr>
              <a:t>The "nothing changed" or "no difference" position.</a:t>
            </a:r>
          </a:p>
        </p:txBody>
      </p:sp>
      <p:grpSp>
        <p:nvGrpSpPr>
          <p:cNvPr name="Group 16" id="16"/>
          <p:cNvGrpSpPr/>
          <p:nvPr/>
        </p:nvGrpSpPr>
        <p:grpSpPr>
          <a:xfrm rot="0">
            <a:off x="9344025" y="3100388"/>
            <a:ext cx="8143875" cy="3134763"/>
            <a:chOff x="0" y="0"/>
            <a:chExt cx="10858500" cy="4179684"/>
          </a:xfrm>
        </p:grpSpPr>
        <p:sp>
          <p:nvSpPr>
            <p:cNvPr name="Freeform 17" id="17" descr="image.png"/>
            <p:cNvSpPr/>
            <p:nvPr/>
          </p:nvSpPr>
          <p:spPr>
            <a:xfrm flipH="false" flipV="false" rot="0">
              <a:off x="0" y="0"/>
              <a:ext cx="10858500" cy="4179697"/>
            </a:xfrm>
            <a:custGeom>
              <a:avLst/>
              <a:gdLst/>
              <a:ahLst/>
              <a:cxnLst/>
              <a:rect r="r" b="b" t="t" l="l"/>
              <a:pathLst>
                <a:path h="4179697" w="10858500">
                  <a:moveTo>
                    <a:pt x="0" y="0"/>
                  </a:moveTo>
                  <a:lnTo>
                    <a:pt x="10858500" y="0"/>
                  </a:lnTo>
                  <a:lnTo>
                    <a:pt x="10858500" y="4179697"/>
                  </a:lnTo>
                  <a:lnTo>
                    <a:pt x="0" y="4179697"/>
                  </a:lnTo>
                  <a:lnTo>
                    <a:pt x="0" y="0"/>
                  </a:lnTo>
                  <a:close/>
                </a:path>
              </a:pathLst>
            </a:custGeom>
            <a:blipFill>
              <a:blip r:embed="rId8"/>
              <a:stretch>
                <a:fillRect l="0" t="-135" r="0" b="-135"/>
              </a:stretch>
            </a:blipFill>
          </p:spPr>
        </p:sp>
      </p:grpSp>
      <p:sp>
        <p:nvSpPr>
          <p:cNvPr name="TextBox 18" id="18"/>
          <p:cNvSpPr txBox="true"/>
          <p:nvPr/>
        </p:nvSpPr>
        <p:spPr>
          <a:xfrm rot="0">
            <a:off x="9672638" y="3400425"/>
            <a:ext cx="4860608" cy="371475"/>
          </a:xfrm>
          <a:prstGeom prst="rect">
            <a:avLst/>
          </a:prstGeom>
        </p:spPr>
        <p:txBody>
          <a:bodyPr anchor="t" rtlCol="false" tIns="0" lIns="0" bIns="0" rIns="0">
            <a:spAutoFit/>
          </a:bodyPr>
          <a:lstStyle/>
          <a:p>
            <a:pPr algn="l">
              <a:lnSpc>
                <a:spcPts val="2700"/>
              </a:lnSpc>
            </a:pPr>
            <a:r>
              <a:rPr lang="en-US" sz="2250">
                <a:solidFill>
                  <a:srgbClr val="0A1A23"/>
                </a:solidFill>
                <a:latin typeface="Poppins"/>
                <a:ea typeface="Poppins"/>
                <a:cs typeface="Poppins"/>
                <a:sym typeface="Poppins"/>
              </a:rPr>
              <a:t>Alternative Hypothesis (H₁)</a:t>
            </a:r>
          </a:p>
        </p:txBody>
      </p:sp>
      <p:sp>
        <p:nvSpPr>
          <p:cNvPr name="TextBox 19" id="19"/>
          <p:cNvSpPr txBox="true"/>
          <p:nvPr/>
        </p:nvSpPr>
        <p:spPr>
          <a:xfrm rot="0">
            <a:off x="9672638" y="3924300"/>
            <a:ext cx="7486650" cy="419319"/>
          </a:xfrm>
          <a:prstGeom prst="rect">
            <a:avLst/>
          </a:prstGeom>
        </p:spPr>
        <p:txBody>
          <a:bodyPr anchor="t" rtlCol="false" tIns="0" lIns="0" bIns="0" rIns="0">
            <a:spAutoFit/>
          </a:bodyPr>
          <a:lstStyle/>
          <a:p>
            <a:pPr algn="l">
              <a:lnSpc>
                <a:spcPts val="2701"/>
              </a:lnSpc>
            </a:pPr>
            <a:r>
              <a:rPr lang="en-US" sz="1743">
                <a:solidFill>
                  <a:srgbClr val="0A1A23"/>
                </a:solidFill>
                <a:latin typeface="Poppins"/>
                <a:ea typeface="Poppins"/>
                <a:cs typeface="Poppins"/>
                <a:sym typeface="Poppins"/>
              </a:rPr>
              <a:t>The statement you are interested in proving.</a:t>
            </a:r>
          </a:p>
        </p:txBody>
      </p:sp>
      <p:sp>
        <p:nvSpPr>
          <p:cNvPr name="TextBox 20" id="20"/>
          <p:cNvSpPr txBox="true"/>
          <p:nvPr/>
        </p:nvSpPr>
        <p:spPr>
          <a:xfrm rot="0">
            <a:off x="9672638" y="4381719"/>
            <a:ext cx="7486650" cy="419319"/>
          </a:xfrm>
          <a:prstGeom prst="rect">
            <a:avLst/>
          </a:prstGeom>
        </p:spPr>
        <p:txBody>
          <a:bodyPr anchor="t" rtlCol="false" tIns="0" lIns="0" bIns="0" rIns="0">
            <a:spAutoFit/>
          </a:bodyPr>
          <a:lstStyle/>
          <a:p>
            <a:pPr algn="l">
              <a:lnSpc>
                <a:spcPts val="2701"/>
              </a:lnSpc>
            </a:pPr>
            <a:r>
              <a:rPr lang="en-US" sz="1743">
                <a:solidFill>
                  <a:srgbClr val="475569"/>
                </a:solidFill>
                <a:latin typeface="Poppins"/>
                <a:ea typeface="Poppins"/>
                <a:cs typeface="Poppins"/>
                <a:sym typeface="Poppins"/>
              </a:rPr>
              <a:t>Claims that there really is a meaningful difference.</a:t>
            </a:r>
          </a:p>
        </p:txBody>
      </p:sp>
      <p:grpSp>
        <p:nvGrpSpPr>
          <p:cNvPr name="Group 21" id="21"/>
          <p:cNvGrpSpPr/>
          <p:nvPr/>
        </p:nvGrpSpPr>
        <p:grpSpPr>
          <a:xfrm rot="0">
            <a:off x="714375" y="6501851"/>
            <a:ext cx="16859250" cy="1319771"/>
            <a:chOff x="0" y="0"/>
            <a:chExt cx="22479000" cy="1759695"/>
          </a:xfrm>
        </p:grpSpPr>
        <p:sp>
          <p:nvSpPr>
            <p:cNvPr name="Freeform 22" id="22" descr="image.png"/>
            <p:cNvSpPr/>
            <p:nvPr/>
          </p:nvSpPr>
          <p:spPr>
            <a:xfrm flipH="false" flipV="false" rot="0">
              <a:off x="0" y="0"/>
              <a:ext cx="22479000" cy="1759681"/>
            </a:xfrm>
            <a:custGeom>
              <a:avLst/>
              <a:gdLst/>
              <a:ahLst/>
              <a:cxnLst/>
              <a:rect r="r" b="b" t="t" l="l"/>
              <a:pathLst>
                <a:path h="1759681" w="22479000">
                  <a:moveTo>
                    <a:pt x="0" y="0"/>
                  </a:moveTo>
                  <a:lnTo>
                    <a:pt x="22479000" y="0"/>
                  </a:lnTo>
                  <a:lnTo>
                    <a:pt x="22479000" y="1759681"/>
                  </a:lnTo>
                  <a:lnTo>
                    <a:pt x="0" y="1759681"/>
                  </a:lnTo>
                  <a:lnTo>
                    <a:pt x="0" y="0"/>
                  </a:lnTo>
                  <a:close/>
                </a:path>
              </a:pathLst>
            </a:custGeom>
            <a:blipFill>
              <a:blip r:embed="rId9"/>
              <a:stretch>
                <a:fillRect l="-5646" t="0" r="-5646" b="-1"/>
              </a:stretch>
            </a:blipFill>
          </p:spPr>
        </p:sp>
      </p:grpSp>
      <p:sp>
        <p:nvSpPr>
          <p:cNvPr name="Freeform 23" id="23"/>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10">
              <a:extLst>
                <a:ext uri="{96DAC541-7B7A-43D3-8B79-37D633B846F1}">
                  <asvg:svgBlip xmlns:asvg="http://schemas.microsoft.com/office/drawing/2016/SVG/main" r:embed="rId11"/>
                </a:ext>
              </a:extLst>
            </a:blip>
            <a:stretch>
              <a:fillRect l="0" t="-68" r="0" b="-68"/>
            </a:stretch>
          </a:blipFill>
        </p:spPr>
      </p:sp>
      <p:sp>
        <p:nvSpPr>
          <p:cNvPr name="TextBox 24" id="24"/>
          <p:cNvSpPr txBox="true"/>
          <p:nvPr/>
        </p:nvSpPr>
        <p:spPr>
          <a:xfrm rot="0">
            <a:off x="1714500" y="6673301"/>
            <a:ext cx="16262032" cy="285750"/>
          </a:xfrm>
          <a:prstGeom prst="rect">
            <a:avLst/>
          </a:prstGeom>
        </p:spPr>
        <p:txBody>
          <a:bodyPr anchor="t" rtlCol="false" tIns="0" lIns="0" bIns="0" rIns="0">
            <a:spAutoFit/>
          </a:bodyPr>
          <a:lstStyle/>
          <a:p>
            <a:pPr algn="l">
              <a:lnSpc>
                <a:spcPts val="2160"/>
              </a:lnSpc>
            </a:pPr>
            <a:r>
              <a:rPr lang="en-US" sz="1800">
                <a:solidFill>
                  <a:srgbClr val="1F2937"/>
                </a:solidFill>
                <a:latin typeface="Poppins"/>
                <a:ea typeface="Poppins"/>
                <a:cs typeface="Poppins"/>
                <a:sym typeface="Poppins"/>
              </a:rPr>
              <a:t>Why start with the Null Hypothesis (H₀)?</a:t>
            </a:r>
          </a:p>
        </p:txBody>
      </p:sp>
      <p:sp>
        <p:nvSpPr>
          <p:cNvPr name="TextBox 25" id="25"/>
          <p:cNvSpPr txBox="true"/>
          <p:nvPr/>
        </p:nvSpPr>
        <p:spPr>
          <a:xfrm rot="0">
            <a:off x="1714500" y="7011438"/>
            <a:ext cx="15487650" cy="606362"/>
          </a:xfrm>
          <a:prstGeom prst="rect">
            <a:avLst/>
          </a:prstGeom>
        </p:spPr>
        <p:txBody>
          <a:bodyPr anchor="t" rtlCol="false" tIns="0" lIns="0" bIns="0" rIns="0">
            <a:spAutoFit/>
          </a:bodyPr>
          <a:lstStyle/>
          <a:p>
            <a:pPr algn="l">
              <a:lnSpc>
                <a:spcPts val="2440"/>
              </a:lnSpc>
            </a:pPr>
            <a:r>
              <a:rPr lang="en-US" sz="1575">
                <a:solidFill>
                  <a:srgbClr val="1F2937"/>
                </a:solidFill>
                <a:latin typeface="Poppins"/>
                <a:ea typeface="Poppins"/>
                <a:cs typeface="Poppins"/>
                <a:sym typeface="Poppins"/>
              </a:rPr>
              <a:t>It puts the burden of proof in the right place (like "innocent until proven guilty"). You assume nothing changed until data gives you strong reason to think otherwise.</a:t>
            </a:r>
          </a:p>
        </p:txBody>
      </p:sp>
      <p:grpSp>
        <p:nvGrpSpPr>
          <p:cNvPr name="Group 26" id="26"/>
          <p:cNvGrpSpPr/>
          <p:nvPr/>
        </p:nvGrpSpPr>
        <p:grpSpPr>
          <a:xfrm rot="0">
            <a:off x="1085850" y="6995074"/>
            <a:ext cx="400050" cy="400050"/>
            <a:chOff x="0" y="0"/>
            <a:chExt cx="533400" cy="533400"/>
          </a:xfrm>
        </p:grpSpPr>
        <p:sp>
          <p:nvSpPr>
            <p:cNvPr name="Freeform 27" id="27" descr="image.png"/>
            <p:cNvSpPr/>
            <p:nvPr/>
          </p:nvSpPr>
          <p:spPr>
            <a:xfrm flipH="false" flipV="false" rot="0">
              <a:off x="0" y="0"/>
              <a:ext cx="533400" cy="533400"/>
            </a:xfrm>
            <a:custGeom>
              <a:avLst/>
              <a:gdLst/>
              <a:ahLst/>
              <a:cxnLst/>
              <a:rect r="r" b="b" t="t" l="l"/>
              <a:pathLst>
                <a:path h="533400" w="533400">
                  <a:moveTo>
                    <a:pt x="0" y="0"/>
                  </a:moveTo>
                  <a:lnTo>
                    <a:pt x="533400" y="0"/>
                  </a:lnTo>
                  <a:lnTo>
                    <a:pt x="533400" y="533400"/>
                  </a:lnTo>
                  <a:lnTo>
                    <a:pt x="0" y="533400"/>
                  </a:lnTo>
                  <a:lnTo>
                    <a:pt x="0" y="0"/>
                  </a:lnTo>
                  <a:close/>
                </a:path>
              </a:pathLst>
            </a:custGeom>
            <a:blipFill>
              <a:blip r:embed="rId12"/>
              <a:stretch>
                <a:fillRect l="0" t="-1785" r="0" b="-1785"/>
              </a:stretch>
            </a:blipFill>
          </p:spPr>
        </p:sp>
      </p:grpSp>
      <p:grpSp>
        <p:nvGrpSpPr>
          <p:cNvPr name="Group 28" id="28"/>
          <p:cNvGrpSpPr/>
          <p:nvPr/>
        </p:nvGrpSpPr>
        <p:grpSpPr>
          <a:xfrm rot="0">
            <a:off x="1128713" y="4947664"/>
            <a:ext cx="7244551" cy="801712"/>
            <a:chOff x="0" y="0"/>
            <a:chExt cx="10048875" cy="1112050"/>
          </a:xfrm>
        </p:grpSpPr>
        <p:sp>
          <p:nvSpPr>
            <p:cNvPr name="Freeform 29" id="29" descr="image.png"/>
            <p:cNvSpPr/>
            <p:nvPr/>
          </p:nvSpPr>
          <p:spPr>
            <a:xfrm flipH="false" flipV="false" rot="0">
              <a:off x="0" y="0"/>
              <a:ext cx="10048875" cy="1112050"/>
            </a:xfrm>
            <a:custGeom>
              <a:avLst/>
              <a:gdLst/>
              <a:ahLst/>
              <a:cxnLst/>
              <a:rect r="r" b="b" t="t" l="l"/>
              <a:pathLst>
                <a:path h="1112050" w="10048875">
                  <a:moveTo>
                    <a:pt x="0" y="0"/>
                  </a:moveTo>
                  <a:lnTo>
                    <a:pt x="10048875" y="0"/>
                  </a:lnTo>
                  <a:lnTo>
                    <a:pt x="10048875" y="1112050"/>
                  </a:lnTo>
                  <a:lnTo>
                    <a:pt x="0" y="1112050"/>
                  </a:lnTo>
                  <a:lnTo>
                    <a:pt x="0" y="0"/>
                  </a:lnTo>
                  <a:close/>
                </a:path>
              </a:pathLst>
            </a:custGeom>
            <a:blipFill>
              <a:blip r:embed="rId13"/>
              <a:stretch>
                <a:fillRect l="0" t="-24166" r="0" b="-24166"/>
              </a:stretch>
            </a:blipFill>
          </p:spPr>
        </p:sp>
      </p:grpSp>
      <p:grpSp>
        <p:nvGrpSpPr>
          <p:cNvPr name="Group 30" id="30"/>
          <p:cNvGrpSpPr/>
          <p:nvPr/>
        </p:nvGrpSpPr>
        <p:grpSpPr>
          <a:xfrm rot="0">
            <a:off x="9663112" y="4853455"/>
            <a:ext cx="6399373" cy="1043310"/>
            <a:chOff x="0" y="0"/>
            <a:chExt cx="10048875" cy="1638300"/>
          </a:xfrm>
        </p:grpSpPr>
        <p:sp>
          <p:nvSpPr>
            <p:cNvPr name="Freeform 31" id="31" descr="image.png"/>
            <p:cNvSpPr/>
            <p:nvPr/>
          </p:nvSpPr>
          <p:spPr>
            <a:xfrm flipH="false" flipV="false" rot="0">
              <a:off x="0" y="0"/>
              <a:ext cx="10048875" cy="1638300"/>
            </a:xfrm>
            <a:custGeom>
              <a:avLst/>
              <a:gdLst/>
              <a:ahLst/>
              <a:cxnLst/>
              <a:rect r="r" b="b" t="t" l="l"/>
              <a:pathLst>
                <a:path h="1638300" w="10048875">
                  <a:moveTo>
                    <a:pt x="0" y="0"/>
                  </a:moveTo>
                  <a:lnTo>
                    <a:pt x="10048875" y="0"/>
                  </a:lnTo>
                  <a:lnTo>
                    <a:pt x="10048875" y="1638300"/>
                  </a:lnTo>
                  <a:lnTo>
                    <a:pt x="0" y="1638300"/>
                  </a:lnTo>
                  <a:lnTo>
                    <a:pt x="0" y="0"/>
                  </a:lnTo>
                  <a:close/>
                </a:path>
              </a:pathLst>
            </a:custGeom>
            <a:blipFill>
              <a:blip r:embed="rId14"/>
              <a:stretch>
                <a:fillRect l="0" t="-342" r="0" b="-342"/>
              </a:stretch>
            </a:blip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TextBox 7" id="7"/>
          <p:cNvSpPr txBox="true"/>
          <p:nvPr/>
        </p:nvSpPr>
        <p:spPr>
          <a:xfrm rot="0">
            <a:off x="1143000" y="714375"/>
            <a:ext cx="17102138" cy="1571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The</a:t>
            </a:r>
            <a:r>
              <a:rPr lang="en-US" sz="5000">
                <a:solidFill>
                  <a:srgbClr val="388080"/>
                </a:solidFill>
                <a:latin typeface="Poppins"/>
                <a:ea typeface="Poppins"/>
                <a:cs typeface="Poppins"/>
                <a:sym typeface="Poppins"/>
              </a:rPr>
              <a:t> p-value: how surprising is your result, if nothing really changed?</a:t>
            </a:r>
          </a:p>
        </p:txBody>
      </p:sp>
      <p:grpSp>
        <p:nvGrpSpPr>
          <p:cNvPr name="Group 8" id="8"/>
          <p:cNvGrpSpPr/>
          <p:nvPr/>
        </p:nvGrpSpPr>
        <p:grpSpPr>
          <a:xfrm rot="0">
            <a:off x="16497824" y="8924125"/>
            <a:ext cx="647224" cy="571500"/>
            <a:chOff x="0" y="0"/>
            <a:chExt cx="862965" cy="762000"/>
          </a:xfrm>
        </p:grpSpPr>
        <p:sp>
          <p:nvSpPr>
            <p:cNvPr name="Freeform 9" id="9"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6"/>
              <a:stretch>
                <a:fillRect l="-772" t="0" r="-772" b="0"/>
              </a:stretch>
            </a:blipFill>
          </p:spPr>
        </p:sp>
      </p:grpSp>
      <p:grpSp>
        <p:nvGrpSpPr>
          <p:cNvPr name="Group 10" id="10"/>
          <p:cNvGrpSpPr/>
          <p:nvPr/>
        </p:nvGrpSpPr>
        <p:grpSpPr>
          <a:xfrm rot="0">
            <a:off x="9344025" y="3020463"/>
            <a:ext cx="8143875" cy="3517402"/>
            <a:chOff x="0" y="0"/>
            <a:chExt cx="10858500" cy="4689869"/>
          </a:xfrm>
        </p:grpSpPr>
        <p:sp>
          <p:nvSpPr>
            <p:cNvPr name="Freeform 11" id="11" descr="image.png"/>
            <p:cNvSpPr/>
            <p:nvPr/>
          </p:nvSpPr>
          <p:spPr>
            <a:xfrm flipH="false" flipV="false" rot="0">
              <a:off x="0" y="0"/>
              <a:ext cx="10858500" cy="4689856"/>
            </a:xfrm>
            <a:custGeom>
              <a:avLst/>
              <a:gdLst/>
              <a:ahLst/>
              <a:cxnLst/>
              <a:rect r="r" b="b" t="t" l="l"/>
              <a:pathLst>
                <a:path h="4689856" w="10858500">
                  <a:moveTo>
                    <a:pt x="0" y="0"/>
                  </a:moveTo>
                  <a:lnTo>
                    <a:pt x="10858500" y="0"/>
                  </a:lnTo>
                  <a:lnTo>
                    <a:pt x="10858500" y="4689856"/>
                  </a:lnTo>
                  <a:lnTo>
                    <a:pt x="0" y="4689856"/>
                  </a:lnTo>
                  <a:lnTo>
                    <a:pt x="0" y="0"/>
                  </a:lnTo>
                  <a:close/>
                </a:path>
              </a:pathLst>
            </a:custGeom>
            <a:blipFill>
              <a:blip r:embed="rId7"/>
              <a:stretch>
                <a:fillRect l="0" t="-164" r="0" b="-165"/>
              </a:stretch>
            </a:blipFill>
          </p:spPr>
        </p:sp>
      </p:grpSp>
      <p:sp>
        <p:nvSpPr>
          <p:cNvPr name="TextBox 12" id="12"/>
          <p:cNvSpPr txBox="true"/>
          <p:nvPr/>
        </p:nvSpPr>
        <p:spPr>
          <a:xfrm rot="0">
            <a:off x="9575482" y="3415751"/>
            <a:ext cx="7680960" cy="404812"/>
          </a:xfrm>
          <a:prstGeom prst="rect">
            <a:avLst/>
          </a:prstGeom>
        </p:spPr>
        <p:txBody>
          <a:bodyPr anchor="t" rtlCol="false" tIns="0" lIns="0" bIns="0" rIns="0">
            <a:spAutoFit/>
          </a:bodyPr>
          <a:lstStyle/>
          <a:p>
            <a:pPr algn="ctr">
              <a:lnSpc>
                <a:spcPts val="2430"/>
              </a:lnSpc>
            </a:pPr>
            <a:r>
              <a:rPr lang="en-US" sz="2025">
                <a:solidFill>
                  <a:srgbClr val="0A1A23"/>
                </a:solidFill>
                <a:latin typeface="Poppins"/>
                <a:ea typeface="Poppins"/>
                <a:cs typeface="Poppins"/>
                <a:sym typeface="Poppins"/>
              </a:rPr>
              <a:t>p-value Probability Scale</a:t>
            </a:r>
          </a:p>
        </p:txBody>
      </p:sp>
      <p:sp>
        <p:nvSpPr>
          <p:cNvPr name="Freeform 13" id="13"/>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8">
              <a:extLst>
                <a:ext uri="{96DAC541-7B7A-43D3-8B79-37D633B846F1}">
                  <asvg:svgBlip xmlns:asvg="http://schemas.microsoft.com/office/drawing/2016/SVG/main" r:embed="rId9"/>
                </a:ext>
              </a:extLst>
            </a:blip>
            <a:stretch>
              <a:fillRect l="0" t="-68" r="0" b="-68"/>
            </a:stretch>
          </a:blipFill>
        </p:spPr>
      </p:sp>
      <p:grpSp>
        <p:nvGrpSpPr>
          <p:cNvPr name="Group 14" id="14"/>
          <p:cNvGrpSpPr/>
          <p:nvPr/>
        </p:nvGrpSpPr>
        <p:grpSpPr>
          <a:xfrm rot="0">
            <a:off x="9758362" y="4106313"/>
            <a:ext cx="3571875" cy="2017214"/>
            <a:chOff x="0" y="0"/>
            <a:chExt cx="4762500" cy="2689619"/>
          </a:xfrm>
        </p:grpSpPr>
        <p:sp>
          <p:nvSpPr>
            <p:cNvPr name="Freeform 15" id="15" descr="image.png"/>
            <p:cNvSpPr/>
            <p:nvPr/>
          </p:nvSpPr>
          <p:spPr>
            <a:xfrm flipH="false" flipV="false" rot="0">
              <a:off x="0" y="0"/>
              <a:ext cx="4762500" cy="2689606"/>
            </a:xfrm>
            <a:custGeom>
              <a:avLst/>
              <a:gdLst/>
              <a:ahLst/>
              <a:cxnLst/>
              <a:rect r="r" b="b" t="t" l="l"/>
              <a:pathLst>
                <a:path h="2689606" w="4762500">
                  <a:moveTo>
                    <a:pt x="0" y="0"/>
                  </a:moveTo>
                  <a:lnTo>
                    <a:pt x="4762500" y="0"/>
                  </a:lnTo>
                  <a:lnTo>
                    <a:pt x="4762500" y="2689606"/>
                  </a:lnTo>
                  <a:lnTo>
                    <a:pt x="0" y="2689606"/>
                  </a:lnTo>
                  <a:lnTo>
                    <a:pt x="0" y="0"/>
                  </a:lnTo>
                  <a:close/>
                </a:path>
              </a:pathLst>
            </a:custGeom>
            <a:blipFill>
              <a:blip r:embed="rId10"/>
              <a:stretch>
                <a:fillRect l="0" t="-87" r="0" b="-87"/>
              </a:stretch>
            </a:blipFill>
          </p:spPr>
        </p:sp>
      </p:grpSp>
      <p:grpSp>
        <p:nvGrpSpPr>
          <p:cNvPr name="Group 16" id="16"/>
          <p:cNvGrpSpPr/>
          <p:nvPr/>
        </p:nvGrpSpPr>
        <p:grpSpPr>
          <a:xfrm rot="0">
            <a:off x="13501688" y="4106313"/>
            <a:ext cx="3571875" cy="2017214"/>
            <a:chOff x="0" y="0"/>
            <a:chExt cx="4762500" cy="2689619"/>
          </a:xfrm>
        </p:grpSpPr>
        <p:sp>
          <p:nvSpPr>
            <p:cNvPr name="Freeform 17" id="17" descr="image.png"/>
            <p:cNvSpPr/>
            <p:nvPr/>
          </p:nvSpPr>
          <p:spPr>
            <a:xfrm flipH="false" flipV="false" rot="0">
              <a:off x="0" y="0"/>
              <a:ext cx="4762500" cy="2689606"/>
            </a:xfrm>
            <a:custGeom>
              <a:avLst/>
              <a:gdLst/>
              <a:ahLst/>
              <a:cxnLst/>
              <a:rect r="r" b="b" t="t" l="l"/>
              <a:pathLst>
                <a:path h="2689606" w="4762500">
                  <a:moveTo>
                    <a:pt x="0" y="0"/>
                  </a:moveTo>
                  <a:lnTo>
                    <a:pt x="4762500" y="0"/>
                  </a:lnTo>
                  <a:lnTo>
                    <a:pt x="4762500" y="2689606"/>
                  </a:lnTo>
                  <a:lnTo>
                    <a:pt x="0" y="2689606"/>
                  </a:lnTo>
                  <a:lnTo>
                    <a:pt x="0" y="0"/>
                  </a:lnTo>
                  <a:close/>
                </a:path>
              </a:pathLst>
            </a:custGeom>
            <a:blipFill>
              <a:blip r:embed="rId11"/>
              <a:stretch>
                <a:fillRect l="0" t="-87" r="0" b="-87"/>
              </a:stretch>
            </a:blipFill>
          </p:spPr>
        </p:sp>
      </p:grpSp>
      <p:sp>
        <p:nvSpPr>
          <p:cNvPr name="TextBox 18" id="18"/>
          <p:cNvSpPr txBox="true"/>
          <p:nvPr/>
        </p:nvSpPr>
        <p:spPr>
          <a:xfrm rot="0">
            <a:off x="9901238" y="4334913"/>
            <a:ext cx="3286125" cy="528637"/>
          </a:xfrm>
          <a:prstGeom prst="rect">
            <a:avLst/>
          </a:prstGeom>
        </p:spPr>
        <p:txBody>
          <a:bodyPr anchor="t" rtlCol="false" tIns="0" lIns="0" bIns="0" rIns="0">
            <a:spAutoFit/>
          </a:bodyPr>
          <a:lstStyle/>
          <a:p>
            <a:pPr algn="ctr">
              <a:lnSpc>
                <a:spcPts val="3240"/>
              </a:lnSpc>
            </a:pPr>
            <a:r>
              <a:rPr lang="en-US" sz="2700" b="true">
                <a:solidFill>
                  <a:srgbClr val="047857"/>
                </a:solidFill>
                <a:latin typeface="Poppins Bold"/>
                <a:ea typeface="Poppins Bold"/>
                <a:cs typeface="Poppins Bold"/>
                <a:sym typeface="Poppins Bold"/>
              </a:rPr>
              <a:t>Near 0</a:t>
            </a:r>
          </a:p>
        </p:txBody>
      </p:sp>
      <p:sp>
        <p:nvSpPr>
          <p:cNvPr name="TextBox 19" id="19"/>
          <p:cNvSpPr txBox="true"/>
          <p:nvPr/>
        </p:nvSpPr>
        <p:spPr>
          <a:xfrm rot="0">
            <a:off x="13644562" y="4334913"/>
            <a:ext cx="3286125" cy="528637"/>
          </a:xfrm>
          <a:prstGeom prst="rect">
            <a:avLst/>
          </a:prstGeom>
        </p:spPr>
        <p:txBody>
          <a:bodyPr anchor="t" rtlCol="false" tIns="0" lIns="0" bIns="0" rIns="0">
            <a:spAutoFit/>
          </a:bodyPr>
          <a:lstStyle/>
          <a:p>
            <a:pPr algn="ctr">
              <a:lnSpc>
                <a:spcPts val="3240"/>
              </a:lnSpc>
            </a:pPr>
            <a:r>
              <a:rPr lang="en-US" sz="2700" b="true">
                <a:solidFill>
                  <a:srgbClr val="B91C1C"/>
                </a:solidFill>
                <a:latin typeface="Poppins Bold"/>
                <a:ea typeface="Poppins Bold"/>
                <a:cs typeface="Poppins Bold"/>
                <a:sym typeface="Poppins Bold"/>
              </a:rPr>
              <a:t>Near 1</a:t>
            </a:r>
          </a:p>
        </p:txBody>
      </p:sp>
      <p:sp>
        <p:nvSpPr>
          <p:cNvPr name="TextBox 20" id="20"/>
          <p:cNvSpPr txBox="true"/>
          <p:nvPr/>
        </p:nvSpPr>
        <p:spPr>
          <a:xfrm rot="0">
            <a:off x="10694194" y="4911176"/>
            <a:ext cx="1700212" cy="280987"/>
          </a:xfrm>
          <a:prstGeom prst="rect">
            <a:avLst/>
          </a:prstGeom>
        </p:spPr>
        <p:txBody>
          <a:bodyPr anchor="t" rtlCol="false" tIns="0" lIns="0" bIns="0" rIns="0">
            <a:spAutoFit/>
          </a:bodyPr>
          <a:lstStyle/>
          <a:p>
            <a:pPr algn="ctr">
              <a:lnSpc>
                <a:spcPts val="1755"/>
              </a:lnSpc>
            </a:pPr>
            <a:r>
              <a:rPr lang="en-US" sz="1462">
                <a:solidFill>
                  <a:srgbClr val="047857"/>
                </a:solidFill>
                <a:latin typeface="Poppins"/>
                <a:ea typeface="Poppins"/>
                <a:cs typeface="Poppins"/>
                <a:sym typeface="Poppins"/>
              </a:rPr>
              <a:t>Surprising Result</a:t>
            </a:r>
          </a:p>
        </p:txBody>
      </p:sp>
      <p:sp>
        <p:nvSpPr>
          <p:cNvPr name="TextBox 21" id="21"/>
          <p:cNvSpPr txBox="true"/>
          <p:nvPr/>
        </p:nvSpPr>
        <p:spPr>
          <a:xfrm rot="0">
            <a:off x="9901238" y="5277888"/>
            <a:ext cx="3286125" cy="254317"/>
          </a:xfrm>
          <a:prstGeom prst="rect">
            <a:avLst/>
          </a:prstGeom>
        </p:spPr>
        <p:txBody>
          <a:bodyPr anchor="t" rtlCol="false" tIns="0" lIns="0" bIns="0" rIns="0">
            <a:spAutoFit/>
          </a:bodyPr>
          <a:lstStyle/>
          <a:p>
            <a:pPr algn="ctr">
              <a:lnSpc>
                <a:spcPts val="2092"/>
              </a:lnSpc>
            </a:pPr>
            <a:r>
              <a:rPr lang="en-US" sz="1350">
                <a:solidFill>
                  <a:srgbClr val="065F46"/>
                </a:solidFill>
                <a:latin typeface="Poppins"/>
                <a:ea typeface="Poppins"/>
                <a:cs typeface="Poppins"/>
                <a:sym typeface="Poppins"/>
              </a:rPr>
              <a:t>Unlikely to be noise. Reject H₀.</a:t>
            </a:r>
          </a:p>
        </p:txBody>
      </p:sp>
      <p:sp>
        <p:nvSpPr>
          <p:cNvPr name="TextBox 22" id="22"/>
          <p:cNvSpPr txBox="true"/>
          <p:nvPr/>
        </p:nvSpPr>
        <p:spPr>
          <a:xfrm rot="0">
            <a:off x="13644562" y="5277888"/>
            <a:ext cx="3286125" cy="254317"/>
          </a:xfrm>
          <a:prstGeom prst="rect">
            <a:avLst/>
          </a:prstGeom>
        </p:spPr>
        <p:txBody>
          <a:bodyPr anchor="t" rtlCol="false" tIns="0" lIns="0" bIns="0" rIns="0">
            <a:spAutoFit/>
          </a:bodyPr>
          <a:lstStyle/>
          <a:p>
            <a:pPr algn="ctr">
              <a:lnSpc>
                <a:spcPts val="2092"/>
              </a:lnSpc>
            </a:pPr>
            <a:r>
              <a:rPr lang="en-US" sz="1350">
                <a:solidFill>
                  <a:srgbClr val="991B1B"/>
                </a:solidFill>
                <a:latin typeface="Poppins"/>
                <a:ea typeface="Poppins"/>
                <a:cs typeface="Poppins"/>
                <a:sym typeface="Poppins"/>
              </a:rPr>
              <a:t>Plausibly random. Fail to reject H₀.</a:t>
            </a:r>
          </a:p>
        </p:txBody>
      </p:sp>
      <p:sp>
        <p:nvSpPr>
          <p:cNvPr name="TextBox 23" id="23"/>
          <p:cNvSpPr txBox="true"/>
          <p:nvPr/>
        </p:nvSpPr>
        <p:spPr>
          <a:xfrm rot="0">
            <a:off x="14323219" y="4911176"/>
            <a:ext cx="1928812" cy="280987"/>
          </a:xfrm>
          <a:prstGeom prst="rect">
            <a:avLst/>
          </a:prstGeom>
        </p:spPr>
        <p:txBody>
          <a:bodyPr anchor="t" rtlCol="false" tIns="0" lIns="0" bIns="0" rIns="0">
            <a:spAutoFit/>
          </a:bodyPr>
          <a:lstStyle/>
          <a:p>
            <a:pPr algn="ctr">
              <a:lnSpc>
                <a:spcPts val="1755"/>
              </a:lnSpc>
            </a:pPr>
            <a:r>
              <a:rPr lang="en-US" sz="1462">
                <a:solidFill>
                  <a:srgbClr val="B91C1C"/>
                </a:solidFill>
                <a:latin typeface="Poppins"/>
                <a:ea typeface="Poppins"/>
                <a:cs typeface="Poppins"/>
                <a:sym typeface="Poppins"/>
              </a:rPr>
              <a:t>Unsurprising Result</a:t>
            </a:r>
          </a:p>
        </p:txBody>
      </p:sp>
      <p:grpSp>
        <p:nvGrpSpPr>
          <p:cNvPr name="Group 24" id="24"/>
          <p:cNvGrpSpPr/>
          <p:nvPr/>
        </p:nvGrpSpPr>
        <p:grpSpPr>
          <a:xfrm rot="0">
            <a:off x="800100" y="3014360"/>
            <a:ext cx="8551069" cy="4489856"/>
            <a:chOff x="0" y="0"/>
            <a:chExt cx="11401425" cy="5986475"/>
          </a:xfrm>
        </p:grpSpPr>
        <p:sp>
          <p:nvSpPr>
            <p:cNvPr name="TextBox 25" id="25"/>
            <p:cNvSpPr txBox="true"/>
            <p:nvPr/>
          </p:nvSpPr>
          <p:spPr>
            <a:xfrm rot="0">
              <a:off x="0" y="-28575"/>
              <a:ext cx="11401425" cy="657225"/>
            </a:xfrm>
            <a:prstGeom prst="rect">
              <a:avLst/>
            </a:prstGeom>
          </p:spPr>
          <p:txBody>
            <a:bodyPr anchor="t" rtlCol="false" tIns="0" lIns="0" bIns="0" rIns="0">
              <a:spAutoFit/>
            </a:bodyPr>
            <a:lstStyle/>
            <a:p>
              <a:pPr algn="l">
                <a:lnSpc>
                  <a:spcPts val="2970"/>
                </a:lnSpc>
              </a:pPr>
              <a:r>
                <a:rPr lang="en-US" sz="2475">
                  <a:solidFill>
                    <a:srgbClr val="20494A"/>
                  </a:solidFill>
                  <a:latin typeface="Poppins"/>
                  <a:ea typeface="Poppins"/>
                  <a:cs typeface="Poppins"/>
                  <a:sym typeface="Poppins"/>
                </a:rPr>
                <a:t>What is a p-value?</a:t>
              </a:r>
            </a:p>
          </p:txBody>
        </p:sp>
        <p:sp>
          <p:nvSpPr>
            <p:cNvPr name="TextBox 26" id="26"/>
            <p:cNvSpPr txBox="true"/>
            <p:nvPr/>
          </p:nvSpPr>
          <p:spPr>
            <a:xfrm rot="0">
              <a:off x="0" y="742950"/>
              <a:ext cx="10858500" cy="548576"/>
            </a:xfrm>
            <a:prstGeom prst="rect">
              <a:avLst/>
            </a:prstGeom>
          </p:spPr>
          <p:txBody>
            <a:bodyPr anchor="t" rtlCol="false" tIns="0" lIns="0" bIns="0" rIns="0">
              <a:spAutoFit/>
            </a:bodyPr>
            <a:lstStyle/>
            <a:p>
              <a:pPr algn="l">
                <a:lnSpc>
                  <a:spcPts val="2790"/>
                </a:lnSpc>
              </a:pPr>
              <a:r>
                <a:rPr lang="en-US" sz="1800">
                  <a:solidFill>
                    <a:srgbClr val="475569"/>
                  </a:solidFill>
                  <a:latin typeface="Poppins"/>
                  <a:ea typeface="Poppins"/>
                  <a:cs typeface="Poppins"/>
                  <a:sym typeface="Poppins"/>
                </a:rPr>
                <a:t>A number between </a:t>
              </a:r>
              <a:r>
                <a:rPr lang="en-US" sz="1800">
                  <a:solidFill>
                    <a:srgbClr val="0A1A23"/>
                  </a:solidFill>
                  <a:latin typeface="Poppins"/>
                  <a:ea typeface="Poppins"/>
                  <a:cs typeface="Poppins"/>
                  <a:sym typeface="Poppins"/>
                </a:rPr>
                <a:t>0 and 1</a:t>
              </a:r>
              <a:r>
                <a:rPr lang="en-US" sz="1800">
                  <a:solidFill>
                    <a:srgbClr val="475569"/>
                  </a:solidFill>
                  <a:latin typeface="Poppins"/>
                  <a:ea typeface="Poppins"/>
                  <a:cs typeface="Poppins"/>
                  <a:sym typeface="Poppins"/>
                </a:rPr>
                <a:t> that answers a specific question:</a:t>
              </a:r>
            </a:p>
          </p:txBody>
        </p:sp>
        <p:grpSp>
          <p:nvGrpSpPr>
            <p:cNvPr name="Group 27" id="27"/>
            <p:cNvGrpSpPr/>
            <p:nvPr/>
          </p:nvGrpSpPr>
          <p:grpSpPr>
            <a:xfrm rot="0">
              <a:off x="0" y="1596339"/>
              <a:ext cx="10858500" cy="2026742"/>
              <a:chOff x="0" y="0"/>
              <a:chExt cx="10858500" cy="2026742"/>
            </a:xfrm>
          </p:grpSpPr>
          <p:sp>
            <p:nvSpPr>
              <p:cNvPr name="Freeform 28" id="28" descr="image.png"/>
              <p:cNvSpPr/>
              <p:nvPr/>
            </p:nvSpPr>
            <p:spPr>
              <a:xfrm flipH="false" flipV="false" rot="0">
                <a:off x="0" y="0"/>
                <a:ext cx="10858500" cy="2026793"/>
              </a:xfrm>
              <a:custGeom>
                <a:avLst/>
                <a:gdLst/>
                <a:ahLst/>
                <a:cxnLst/>
                <a:rect r="r" b="b" t="t" l="l"/>
                <a:pathLst>
                  <a:path h="2026793" w="10858500">
                    <a:moveTo>
                      <a:pt x="0" y="0"/>
                    </a:moveTo>
                    <a:lnTo>
                      <a:pt x="10858500" y="0"/>
                    </a:lnTo>
                    <a:lnTo>
                      <a:pt x="10858500" y="2026793"/>
                    </a:lnTo>
                    <a:lnTo>
                      <a:pt x="0" y="2026793"/>
                    </a:lnTo>
                    <a:lnTo>
                      <a:pt x="0" y="0"/>
                    </a:lnTo>
                    <a:close/>
                  </a:path>
                </a:pathLst>
              </a:custGeom>
              <a:blipFill>
                <a:blip r:embed="rId12"/>
                <a:stretch>
                  <a:fillRect l="0" t="-286" r="0" b="-283"/>
                </a:stretch>
              </a:blipFill>
            </p:spPr>
          </p:sp>
        </p:grpSp>
        <p:sp>
          <p:nvSpPr>
            <p:cNvPr name="TextBox 29" id="29"/>
            <p:cNvSpPr txBox="true"/>
            <p:nvPr/>
          </p:nvSpPr>
          <p:spPr>
            <a:xfrm rot="0">
              <a:off x="381000" y="1824939"/>
              <a:ext cx="10172700" cy="1493342"/>
            </a:xfrm>
            <a:prstGeom prst="rect">
              <a:avLst/>
            </a:prstGeom>
          </p:spPr>
          <p:txBody>
            <a:bodyPr anchor="t" rtlCol="false" tIns="0" lIns="0" bIns="0" rIns="0">
              <a:spAutoFit/>
            </a:bodyPr>
            <a:lstStyle/>
            <a:p>
              <a:pPr algn="l">
                <a:lnSpc>
                  <a:spcPts val="2790"/>
                </a:lnSpc>
              </a:pPr>
              <a:r>
                <a:rPr lang="en-US" sz="1800" b="true">
                  <a:solidFill>
                    <a:srgbClr val="0A1A23"/>
                  </a:solidFill>
                  <a:latin typeface="Poppins Medium"/>
                  <a:ea typeface="Poppins Medium"/>
                  <a:cs typeface="Poppins Medium"/>
                  <a:sym typeface="Poppins Medium"/>
                </a:rPr>
                <a:t>"If the null hypothesis were actually true, and nothing really changed, how likely is it that we would still see a difference this large, purely by chance?"</a:t>
              </a:r>
            </a:p>
          </p:txBody>
        </p:sp>
        <p:sp>
          <p:nvSpPr>
            <p:cNvPr name="TextBox 30" id="30"/>
            <p:cNvSpPr txBox="true"/>
            <p:nvPr/>
          </p:nvSpPr>
          <p:spPr>
            <a:xfrm rot="0">
              <a:off x="457200" y="3889781"/>
              <a:ext cx="10401300" cy="991197"/>
            </a:xfrm>
            <a:prstGeom prst="rect">
              <a:avLst/>
            </a:prstGeom>
          </p:spPr>
          <p:txBody>
            <a:bodyPr anchor="t" rtlCol="false" tIns="0" lIns="0" bIns="0" rIns="0">
              <a:spAutoFit/>
            </a:bodyPr>
            <a:lstStyle/>
            <a:p>
              <a:pPr algn="l">
                <a:lnSpc>
                  <a:spcPts val="2701"/>
                </a:lnSpc>
              </a:pPr>
              <a:r>
                <a:rPr lang="en-US" sz="1743">
                  <a:solidFill>
                    <a:srgbClr val="0A1A23"/>
                  </a:solidFill>
                  <a:latin typeface="Poppins"/>
                  <a:ea typeface="Poppins"/>
                  <a:cs typeface="Poppins"/>
                  <a:sym typeface="Poppins"/>
                </a:rPr>
                <a:t>Small p-value:</a:t>
              </a:r>
              <a:r>
                <a:rPr lang="en-US" sz="1743">
                  <a:solidFill>
                    <a:srgbClr val="475569"/>
                  </a:solidFill>
                  <a:latin typeface="Poppins"/>
                  <a:ea typeface="Poppins"/>
                  <a:cs typeface="Poppins"/>
                  <a:sym typeface="Poppins"/>
                </a:rPr>
                <a:t> "This difference would be very unusual by pure chance $\rightarrow$ likely a real change."</a:t>
              </a:r>
            </a:p>
          </p:txBody>
        </p:sp>
        <p:sp>
          <p:nvSpPr>
            <p:cNvPr name="TextBox 31" id="31"/>
            <p:cNvSpPr txBox="true"/>
            <p:nvPr/>
          </p:nvSpPr>
          <p:spPr>
            <a:xfrm rot="0">
              <a:off x="457200" y="4995278"/>
              <a:ext cx="10401300" cy="991197"/>
            </a:xfrm>
            <a:prstGeom prst="rect">
              <a:avLst/>
            </a:prstGeom>
          </p:spPr>
          <p:txBody>
            <a:bodyPr anchor="t" rtlCol="false" tIns="0" lIns="0" bIns="0" rIns="0">
              <a:spAutoFit/>
            </a:bodyPr>
            <a:lstStyle/>
            <a:p>
              <a:pPr algn="l">
                <a:lnSpc>
                  <a:spcPts val="2701"/>
                </a:lnSpc>
              </a:pPr>
              <a:r>
                <a:rPr lang="en-US" sz="1743">
                  <a:solidFill>
                    <a:srgbClr val="0A1A23"/>
                  </a:solidFill>
                  <a:latin typeface="Poppins"/>
                  <a:ea typeface="Poppins"/>
                  <a:cs typeface="Poppins"/>
                  <a:sym typeface="Poppins"/>
                </a:rPr>
                <a:t>Large p-value:</a:t>
              </a:r>
              <a:r>
                <a:rPr lang="en-US" sz="1743">
                  <a:solidFill>
                    <a:srgbClr val="475569"/>
                  </a:solidFill>
                  <a:latin typeface="Poppins"/>
                  <a:ea typeface="Poppins"/>
                  <a:cs typeface="Poppins"/>
                  <a:sym typeface="Poppins"/>
                </a:rPr>
                <a:t> "This difference could easily happen by chance alone $\rightarrow$ not strong evidence."</a:t>
              </a:r>
            </a:p>
          </p:txBody>
        </p:sp>
        <p:grpSp>
          <p:nvGrpSpPr>
            <p:cNvPr name="Group 32" id="32"/>
            <p:cNvGrpSpPr/>
            <p:nvPr/>
          </p:nvGrpSpPr>
          <p:grpSpPr>
            <a:xfrm rot="0">
              <a:off x="0" y="5109578"/>
              <a:ext cx="209550" cy="266700"/>
              <a:chOff x="0" y="0"/>
              <a:chExt cx="209550" cy="266700"/>
            </a:xfrm>
          </p:grpSpPr>
          <p:sp>
            <p:nvSpPr>
              <p:cNvPr name="Freeform 33" id="33" descr="image.png"/>
              <p:cNvSpPr/>
              <p:nvPr/>
            </p:nvSpPr>
            <p:spPr>
              <a:xfrm flipH="false" flipV="false" rot="0">
                <a:off x="0" y="0"/>
                <a:ext cx="209550" cy="266700"/>
              </a:xfrm>
              <a:custGeom>
                <a:avLst/>
                <a:gdLst/>
                <a:ahLst/>
                <a:cxnLst/>
                <a:rect r="r" b="b" t="t" l="l"/>
                <a:pathLst>
                  <a:path h="266700" w="209550">
                    <a:moveTo>
                      <a:pt x="0" y="0"/>
                    </a:moveTo>
                    <a:lnTo>
                      <a:pt x="209550" y="0"/>
                    </a:lnTo>
                    <a:lnTo>
                      <a:pt x="209550" y="266700"/>
                    </a:lnTo>
                    <a:lnTo>
                      <a:pt x="0" y="266700"/>
                    </a:lnTo>
                    <a:lnTo>
                      <a:pt x="0" y="0"/>
                    </a:lnTo>
                    <a:close/>
                  </a:path>
                </a:pathLst>
              </a:custGeom>
              <a:blipFill>
                <a:blip r:embed="rId13"/>
                <a:stretch>
                  <a:fillRect l="0" t="0" r="0" b="0"/>
                </a:stretch>
              </a:blipFill>
            </p:spPr>
          </p:sp>
        </p:grpSp>
        <p:grpSp>
          <p:nvGrpSpPr>
            <p:cNvPr name="Group 34" id="34"/>
            <p:cNvGrpSpPr/>
            <p:nvPr/>
          </p:nvGrpSpPr>
          <p:grpSpPr>
            <a:xfrm rot="0">
              <a:off x="0" y="4004081"/>
              <a:ext cx="209550" cy="266700"/>
              <a:chOff x="0" y="0"/>
              <a:chExt cx="209550" cy="266700"/>
            </a:xfrm>
          </p:grpSpPr>
          <p:sp>
            <p:nvSpPr>
              <p:cNvPr name="Freeform 35" id="35" descr="image.png"/>
              <p:cNvSpPr/>
              <p:nvPr/>
            </p:nvSpPr>
            <p:spPr>
              <a:xfrm flipH="false" flipV="false" rot="0">
                <a:off x="0" y="0"/>
                <a:ext cx="209550" cy="266700"/>
              </a:xfrm>
              <a:custGeom>
                <a:avLst/>
                <a:gdLst/>
                <a:ahLst/>
                <a:cxnLst/>
                <a:rect r="r" b="b" t="t" l="l"/>
                <a:pathLst>
                  <a:path h="266700" w="209550">
                    <a:moveTo>
                      <a:pt x="0" y="0"/>
                    </a:moveTo>
                    <a:lnTo>
                      <a:pt x="209550" y="0"/>
                    </a:lnTo>
                    <a:lnTo>
                      <a:pt x="209550" y="266700"/>
                    </a:lnTo>
                    <a:lnTo>
                      <a:pt x="0" y="266700"/>
                    </a:lnTo>
                    <a:lnTo>
                      <a:pt x="0" y="0"/>
                    </a:lnTo>
                    <a:close/>
                  </a:path>
                </a:pathLst>
              </a:custGeom>
              <a:blipFill>
                <a:blip r:embed="rId13"/>
                <a:stretch>
                  <a:fillRect l="0" t="0" r="0" b="0"/>
                </a:stretch>
              </a:blipFill>
            </p:spPr>
          </p:sp>
        </p:gr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TextBox 7" id="7"/>
          <p:cNvSpPr txBox="true"/>
          <p:nvPr/>
        </p:nvSpPr>
        <p:spPr>
          <a:xfrm rot="0">
            <a:off x="1143000" y="714375"/>
            <a:ext cx="17102138"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Calculating p-value with `=T.TEST`</a:t>
            </a:r>
          </a:p>
        </p:txBody>
      </p:sp>
      <p:grpSp>
        <p:nvGrpSpPr>
          <p:cNvPr name="Group 8" id="8"/>
          <p:cNvGrpSpPr/>
          <p:nvPr/>
        </p:nvGrpSpPr>
        <p:grpSpPr>
          <a:xfrm rot="0">
            <a:off x="16497824" y="8924125"/>
            <a:ext cx="647224" cy="571500"/>
            <a:chOff x="0" y="0"/>
            <a:chExt cx="862965" cy="762000"/>
          </a:xfrm>
        </p:grpSpPr>
        <p:sp>
          <p:nvSpPr>
            <p:cNvPr name="Freeform 9" id="9"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6"/>
              <a:stretch>
                <a:fillRect l="-772" t="0" r="-772" b="0"/>
              </a:stretch>
            </a:blipFill>
          </p:spPr>
        </p:sp>
      </p:grpSp>
      <p:grpSp>
        <p:nvGrpSpPr>
          <p:cNvPr name="Group 10" id="10"/>
          <p:cNvGrpSpPr/>
          <p:nvPr/>
        </p:nvGrpSpPr>
        <p:grpSpPr>
          <a:xfrm rot="0">
            <a:off x="6134471" y="2788072"/>
            <a:ext cx="6018828" cy="614362"/>
            <a:chOff x="0" y="0"/>
            <a:chExt cx="8025105" cy="819150"/>
          </a:xfrm>
        </p:grpSpPr>
        <p:sp>
          <p:nvSpPr>
            <p:cNvPr name="Freeform 11" id="11" descr="image.png"/>
            <p:cNvSpPr/>
            <p:nvPr/>
          </p:nvSpPr>
          <p:spPr>
            <a:xfrm flipH="false" flipV="false" rot="0">
              <a:off x="0" y="0"/>
              <a:ext cx="8025130" cy="819150"/>
            </a:xfrm>
            <a:custGeom>
              <a:avLst/>
              <a:gdLst/>
              <a:ahLst/>
              <a:cxnLst/>
              <a:rect r="r" b="b" t="t" l="l"/>
              <a:pathLst>
                <a:path h="819150" w="8025130">
                  <a:moveTo>
                    <a:pt x="0" y="0"/>
                  </a:moveTo>
                  <a:lnTo>
                    <a:pt x="8025130" y="0"/>
                  </a:lnTo>
                  <a:lnTo>
                    <a:pt x="8025130" y="819150"/>
                  </a:lnTo>
                  <a:lnTo>
                    <a:pt x="0" y="819150"/>
                  </a:lnTo>
                  <a:lnTo>
                    <a:pt x="0" y="0"/>
                  </a:lnTo>
                  <a:close/>
                </a:path>
              </a:pathLst>
            </a:custGeom>
            <a:blipFill>
              <a:blip r:embed="rId7"/>
              <a:stretch>
                <a:fillRect l="0" t="-1074" r="0" b="-1072"/>
              </a:stretch>
            </a:blipFill>
          </p:spPr>
        </p:sp>
      </p:grpSp>
      <p:grpSp>
        <p:nvGrpSpPr>
          <p:cNvPr name="Group 12" id="12"/>
          <p:cNvGrpSpPr/>
          <p:nvPr/>
        </p:nvGrpSpPr>
        <p:grpSpPr>
          <a:xfrm rot="0">
            <a:off x="800100" y="3802485"/>
            <a:ext cx="3979069" cy="1954035"/>
            <a:chOff x="0" y="0"/>
            <a:chExt cx="5305425" cy="2605380"/>
          </a:xfrm>
        </p:grpSpPr>
        <p:sp>
          <p:nvSpPr>
            <p:cNvPr name="Freeform 13" id="13" descr="image.png"/>
            <p:cNvSpPr/>
            <p:nvPr/>
          </p:nvSpPr>
          <p:spPr>
            <a:xfrm flipH="false" flipV="false" rot="0">
              <a:off x="0" y="0"/>
              <a:ext cx="5305425" cy="2605405"/>
            </a:xfrm>
            <a:custGeom>
              <a:avLst/>
              <a:gdLst/>
              <a:ahLst/>
              <a:cxnLst/>
              <a:rect r="r" b="b" t="t" l="l"/>
              <a:pathLst>
                <a:path h="2605405" w="5305425">
                  <a:moveTo>
                    <a:pt x="0" y="0"/>
                  </a:moveTo>
                  <a:lnTo>
                    <a:pt x="5305425" y="0"/>
                  </a:lnTo>
                  <a:lnTo>
                    <a:pt x="5305425" y="2605405"/>
                  </a:lnTo>
                  <a:lnTo>
                    <a:pt x="0" y="2605405"/>
                  </a:lnTo>
                  <a:lnTo>
                    <a:pt x="0" y="0"/>
                  </a:lnTo>
                  <a:close/>
                </a:path>
              </a:pathLst>
            </a:custGeom>
            <a:blipFill>
              <a:blip r:embed="rId8"/>
              <a:stretch>
                <a:fillRect l="-4" t="0" r="-4" b="0"/>
              </a:stretch>
            </a:blipFill>
          </p:spPr>
        </p:sp>
      </p:grpSp>
      <p:sp>
        <p:nvSpPr>
          <p:cNvPr name="TextBox 14" id="14"/>
          <p:cNvSpPr txBox="true"/>
          <p:nvPr/>
        </p:nvSpPr>
        <p:spPr>
          <a:xfrm rot="0">
            <a:off x="1042988" y="4550197"/>
            <a:ext cx="3493294" cy="589673"/>
          </a:xfrm>
          <a:prstGeom prst="rect">
            <a:avLst/>
          </a:prstGeom>
        </p:spPr>
        <p:txBody>
          <a:bodyPr anchor="t" rtlCol="false" tIns="0" lIns="0" bIns="0" rIns="0">
            <a:spAutoFit/>
          </a:bodyPr>
          <a:lstStyle/>
          <a:p>
            <a:pPr algn="l">
              <a:lnSpc>
                <a:spcPts val="2353"/>
              </a:lnSpc>
            </a:pPr>
            <a:r>
              <a:rPr lang="en-US" sz="1518">
                <a:solidFill>
                  <a:srgbClr val="475569"/>
                </a:solidFill>
                <a:latin typeface="Poppins"/>
                <a:ea typeface="Poppins"/>
                <a:cs typeface="Poppins"/>
                <a:sym typeface="Poppins"/>
              </a:rPr>
              <a:t>First group of raw values (e.g., Daily Sales Before pilot).</a:t>
            </a:r>
          </a:p>
        </p:txBody>
      </p:sp>
      <p:grpSp>
        <p:nvGrpSpPr>
          <p:cNvPr name="Group 15" id="15"/>
          <p:cNvGrpSpPr/>
          <p:nvPr/>
        </p:nvGrpSpPr>
        <p:grpSpPr>
          <a:xfrm rot="0">
            <a:off x="1042988" y="4045372"/>
            <a:ext cx="3493294" cy="400050"/>
            <a:chOff x="0" y="0"/>
            <a:chExt cx="4657725" cy="533400"/>
          </a:xfrm>
        </p:grpSpPr>
        <p:sp>
          <p:nvSpPr>
            <p:cNvPr name="Freeform 16" id="16" descr="image.png"/>
            <p:cNvSpPr/>
            <p:nvPr/>
          </p:nvSpPr>
          <p:spPr>
            <a:xfrm flipH="false" flipV="false" rot="0">
              <a:off x="0" y="0"/>
              <a:ext cx="4657725" cy="533400"/>
            </a:xfrm>
            <a:custGeom>
              <a:avLst/>
              <a:gdLst/>
              <a:ahLst/>
              <a:cxnLst/>
              <a:rect r="r" b="b" t="t" l="l"/>
              <a:pathLst>
                <a:path h="533400" w="4657725">
                  <a:moveTo>
                    <a:pt x="0" y="0"/>
                  </a:moveTo>
                  <a:lnTo>
                    <a:pt x="4657725" y="0"/>
                  </a:lnTo>
                  <a:lnTo>
                    <a:pt x="4657725" y="533400"/>
                  </a:lnTo>
                  <a:lnTo>
                    <a:pt x="0" y="533400"/>
                  </a:lnTo>
                  <a:lnTo>
                    <a:pt x="0" y="0"/>
                  </a:lnTo>
                  <a:close/>
                </a:path>
              </a:pathLst>
            </a:custGeom>
            <a:blipFill>
              <a:blip r:embed="rId9"/>
              <a:stretch>
                <a:fillRect l="0" t="-1261" r="0" b="-1261"/>
              </a:stretch>
            </a:blipFill>
          </p:spPr>
        </p:sp>
      </p:grpSp>
      <p:grpSp>
        <p:nvGrpSpPr>
          <p:cNvPr name="Group 17" id="17"/>
          <p:cNvGrpSpPr/>
          <p:nvPr/>
        </p:nvGrpSpPr>
        <p:grpSpPr>
          <a:xfrm rot="0">
            <a:off x="5036344" y="3802485"/>
            <a:ext cx="3979069" cy="1954035"/>
            <a:chOff x="0" y="0"/>
            <a:chExt cx="5305425" cy="2605380"/>
          </a:xfrm>
        </p:grpSpPr>
        <p:sp>
          <p:nvSpPr>
            <p:cNvPr name="Freeform 18" id="18" descr="image.png"/>
            <p:cNvSpPr/>
            <p:nvPr/>
          </p:nvSpPr>
          <p:spPr>
            <a:xfrm flipH="false" flipV="false" rot="0">
              <a:off x="0" y="0"/>
              <a:ext cx="5305425" cy="2605405"/>
            </a:xfrm>
            <a:custGeom>
              <a:avLst/>
              <a:gdLst/>
              <a:ahLst/>
              <a:cxnLst/>
              <a:rect r="r" b="b" t="t" l="l"/>
              <a:pathLst>
                <a:path h="2605405" w="5305425">
                  <a:moveTo>
                    <a:pt x="0" y="0"/>
                  </a:moveTo>
                  <a:lnTo>
                    <a:pt x="5305425" y="0"/>
                  </a:lnTo>
                  <a:lnTo>
                    <a:pt x="5305425" y="2605405"/>
                  </a:lnTo>
                  <a:lnTo>
                    <a:pt x="0" y="2605405"/>
                  </a:lnTo>
                  <a:lnTo>
                    <a:pt x="0" y="0"/>
                  </a:lnTo>
                  <a:close/>
                </a:path>
              </a:pathLst>
            </a:custGeom>
            <a:blipFill>
              <a:blip r:embed="rId10"/>
              <a:stretch>
                <a:fillRect l="-4" t="0" r="-4" b="0"/>
              </a:stretch>
            </a:blipFill>
          </p:spPr>
        </p:sp>
      </p:grpSp>
      <p:grpSp>
        <p:nvGrpSpPr>
          <p:cNvPr name="Group 19" id="19"/>
          <p:cNvGrpSpPr/>
          <p:nvPr/>
        </p:nvGrpSpPr>
        <p:grpSpPr>
          <a:xfrm rot="0">
            <a:off x="5279231" y="4045372"/>
            <a:ext cx="3493294" cy="400050"/>
            <a:chOff x="0" y="0"/>
            <a:chExt cx="4657725" cy="533400"/>
          </a:xfrm>
        </p:grpSpPr>
        <p:sp>
          <p:nvSpPr>
            <p:cNvPr name="Freeform 20" id="20" descr="image.png"/>
            <p:cNvSpPr/>
            <p:nvPr/>
          </p:nvSpPr>
          <p:spPr>
            <a:xfrm flipH="false" flipV="false" rot="0">
              <a:off x="0" y="0"/>
              <a:ext cx="4657725" cy="533400"/>
            </a:xfrm>
            <a:custGeom>
              <a:avLst/>
              <a:gdLst/>
              <a:ahLst/>
              <a:cxnLst/>
              <a:rect r="r" b="b" t="t" l="l"/>
              <a:pathLst>
                <a:path h="533400" w="4657725">
                  <a:moveTo>
                    <a:pt x="0" y="0"/>
                  </a:moveTo>
                  <a:lnTo>
                    <a:pt x="4657725" y="0"/>
                  </a:lnTo>
                  <a:lnTo>
                    <a:pt x="4657725" y="533400"/>
                  </a:lnTo>
                  <a:lnTo>
                    <a:pt x="0" y="533400"/>
                  </a:lnTo>
                  <a:lnTo>
                    <a:pt x="0" y="0"/>
                  </a:lnTo>
                  <a:close/>
                </a:path>
              </a:pathLst>
            </a:custGeom>
            <a:blipFill>
              <a:blip r:embed="rId11"/>
              <a:stretch>
                <a:fillRect l="0" t="-1261" r="0" b="-1261"/>
              </a:stretch>
            </a:blipFill>
          </p:spPr>
        </p:sp>
      </p:grpSp>
      <p:sp>
        <p:nvSpPr>
          <p:cNvPr name="TextBox 21" id="21"/>
          <p:cNvSpPr txBox="true"/>
          <p:nvPr/>
        </p:nvSpPr>
        <p:spPr>
          <a:xfrm rot="0">
            <a:off x="5279231" y="4550197"/>
            <a:ext cx="3493294" cy="664521"/>
          </a:xfrm>
          <a:prstGeom prst="rect">
            <a:avLst/>
          </a:prstGeom>
        </p:spPr>
        <p:txBody>
          <a:bodyPr anchor="t" rtlCol="false" tIns="0" lIns="0" bIns="0" rIns="0">
            <a:spAutoFit/>
          </a:bodyPr>
          <a:lstStyle/>
          <a:p>
            <a:pPr algn="l">
              <a:lnSpc>
                <a:spcPts val="2353"/>
              </a:lnSpc>
            </a:pPr>
            <a:r>
              <a:rPr lang="en-US" sz="1518">
                <a:solidFill>
                  <a:srgbClr val="475569"/>
                </a:solidFill>
                <a:latin typeface="Poppins"/>
                <a:ea typeface="Poppins"/>
                <a:cs typeface="Poppins"/>
                <a:sym typeface="Poppins"/>
              </a:rPr>
              <a:t>Second group of raw values (e.g., Daily Sales After pilot).</a:t>
            </a:r>
          </a:p>
        </p:txBody>
      </p:sp>
      <p:grpSp>
        <p:nvGrpSpPr>
          <p:cNvPr name="Group 22" id="22"/>
          <p:cNvGrpSpPr/>
          <p:nvPr/>
        </p:nvGrpSpPr>
        <p:grpSpPr>
          <a:xfrm rot="0">
            <a:off x="9272588" y="3802485"/>
            <a:ext cx="3979069" cy="1954035"/>
            <a:chOff x="0" y="0"/>
            <a:chExt cx="5305425" cy="2605380"/>
          </a:xfrm>
        </p:grpSpPr>
        <p:sp>
          <p:nvSpPr>
            <p:cNvPr name="Freeform 23" id="23" descr="image.png"/>
            <p:cNvSpPr/>
            <p:nvPr/>
          </p:nvSpPr>
          <p:spPr>
            <a:xfrm flipH="false" flipV="false" rot="0">
              <a:off x="0" y="0"/>
              <a:ext cx="5305425" cy="2605405"/>
            </a:xfrm>
            <a:custGeom>
              <a:avLst/>
              <a:gdLst/>
              <a:ahLst/>
              <a:cxnLst/>
              <a:rect r="r" b="b" t="t" l="l"/>
              <a:pathLst>
                <a:path h="2605405" w="5305425">
                  <a:moveTo>
                    <a:pt x="0" y="0"/>
                  </a:moveTo>
                  <a:lnTo>
                    <a:pt x="5305425" y="0"/>
                  </a:lnTo>
                  <a:lnTo>
                    <a:pt x="5305425" y="2605405"/>
                  </a:lnTo>
                  <a:lnTo>
                    <a:pt x="0" y="2605405"/>
                  </a:lnTo>
                  <a:lnTo>
                    <a:pt x="0" y="0"/>
                  </a:lnTo>
                  <a:close/>
                </a:path>
              </a:pathLst>
            </a:custGeom>
            <a:blipFill>
              <a:blip r:embed="rId8"/>
              <a:stretch>
                <a:fillRect l="-4" t="0" r="-4" b="0"/>
              </a:stretch>
            </a:blipFill>
          </p:spPr>
        </p:sp>
      </p:grpSp>
      <p:grpSp>
        <p:nvGrpSpPr>
          <p:cNvPr name="Group 24" id="24"/>
          <p:cNvGrpSpPr/>
          <p:nvPr/>
        </p:nvGrpSpPr>
        <p:grpSpPr>
          <a:xfrm rot="0">
            <a:off x="9515475" y="4045372"/>
            <a:ext cx="3493294" cy="400050"/>
            <a:chOff x="0" y="0"/>
            <a:chExt cx="4657725" cy="533400"/>
          </a:xfrm>
        </p:grpSpPr>
        <p:sp>
          <p:nvSpPr>
            <p:cNvPr name="Freeform 25" id="25" descr="image.png"/>
            <p:cNvSpPr/>
            <p:nvPr/>
          </p:nvSpPr>
          <p:spPr>
            <a:xfrm flipH="false" flipV="false" rot="0">
              <a:off x="0" y="0"/>
              <a:ext cx="4657725" cy="533400"/>
            </a:xfrm>
            <a:custGeom>
              <a:avLst/>
              <a:gdLst/>
              <a:ahLst/>
              <a:cxnLst/>
              <a:rect r="r" b="b" t="t" l="l"/>
              <a:pathLst>
                <a:path h="533400" w="4657725">
                  <a:moveTo>
                    <a:pt x="0" y="0"/>
                  </a:moveTo>
                  <a:lnTo>
                    <a:pt x="4657725" y="0"/>
                  </a:lnTo>
                  <a:lnTo>
                    <a:pt x="4657725" y="533400"/>
                  </a:lnTo>
                  <a:lnTo>
                    <a:pt x="0" y="533400"/>
                  </a:lnTo>
                  <a:lnTo>
                    <a:pt x="0" y="0"/>
                  </a:lnTo>
                  <a:close/>
                </a:path>
              </a:pathLst>
            </a:custGeom>
            <a:blipFill>
              <a:blip r:embed="rId12"/>
              <a:stretch>
                <a:fillRect l="0" t="-1261" r="0" b="-1261"/>
              </a:stretch>
            </a:blipFill>
          </p:spPr>
        </p:sp>
      </p:grpSp>
      <p:sp>
        <p:nvSpPr>
          <p:cNvPr name="TextBox 26" id="26"/>
          <p:cNvSpPr txBox="true"/>
          <p:nvPr/>
        </p:nvSpPr>
        <p:spPr>
          <a:xfrm rot="0">
            <a:off x="9515475" y="4550197"/>
            <a:ext cx="3493294" cy="963435"/>
          </a:xfrm>
          <a:prstGeom prst="rect">
            <a:avLst/>
          </a:prstGeom>
        </p:spPr>
        <p:txBody>
          <a:bodyPr anchor="t" rtlCol="false" tIns="0" lIns="0" bIns="0" rIns="0">
            <a:spAutoFit/>
          </a:bodyPr>
          <a:lstStyle/>
          <a:p>
            <a:pPr algn="l">
              <a:lnSpc>
                <a:spcPts val="2353"/>
              </a:lnSpc>
            </a:pPr>
            <a:r>
              <a:rPr lang="en-US" sz="1518">
                <a:solidFill>
                  <a:srgbClr val="475569"/>
                </a:solidFill>
                <a:latin typeface="Poppins"/>
                <a:ea typeface="Poppins"/>
                <a:cs typeface="Poppins"/>
                <a:sym typeface="Poppins"/>
              </a:rPr>
              <a:t>Two-tailed test to detect differences in </a:t>
            </a:r>
            <a:r>
              <a:rPr lang="en-US" sz="1518" i="true">
                <a:solidFill>
                  <a:srgbClr val="475569"/>
                </a:solidFill>
                <a:latin typeface="Poppins Italics"/>
                <a:ea typeface="Poppins Italics"/>
                <a:cs typeface="Poppins Italics"/>
                <a:sym typeface="Poppins Italics"/>
              </a:rPr>
              <a:t>either direction</a:t>
            </a:r>
            <a:r>
              <a:rPr lang="en-US" sz="1518">
                <a:solidFill>
                  <a:srgbClr val="475569"/>
                </a:solidFill>
                <a:latin typeface="Poppins"/>
                <a:ea typeface="Poppins"/>
                <a:cs typeface="Poppins"/>
                <a:sym typeface="Poppins"/>
              </a:rPr>
              <a:t> (higher or lower).</a:t>
            </a:r>
          </a:p>
        </p:txBody>
      </p:sp>
      <p:grpSp>
        <p:nvGrpSpPr>
          <p:cNvPr name="Group 27" id="27"/>
          <p:cNvGrpSpPr/>
          <p:nvPr/>
        </p:nvGrpSpPr>
        <p:grpSpPr>
          <a:xfrm rot="0">
            <a:off x="13508831" y="3802485"/>
            <a:ext cx="3979069" cy="1954035"/>
            <a:chOff x="0" y="0"/>
            <a:chExt cx="5305425" cy="2605380"/>
          </a:xfrm>
        </p:grpSpPr>
        <p:sp>
          <p:nvSpPr>
            <p:cNvPr name="Freeform 28" id="28" descr="image.png"/>
            <p:cNvSpPr/>
            <p:nvPr/>
          </p:nvSpPr>
          <p:spPr>
            <a:xfrm flipH="false" flipV="false" rot="0">
              <a:off x="0" y="0"/>
              <a:ext cx="5305425" cy="2605405"/>
            </a:xfrm>
            <a:custGeom>
              <a:avLst/>
              <a:gdLst/>
              <a:ahLst/>
              <a:cxnLst/>
              <a:rect r="r" b="b" t="t" l="l"/>
              <a:pathLst>
                <a:path h="2605405" w="5305425">
                  <a:moveTo>
                    <a:pt x="0" y="0"/>
                  </a:moveTo>
                  <a:lnTo>
                    <a:pt x="5305425" y="0"/>
                  </a:lnTo>
                  <a:lnTo>
                    <a:pt x="5305425" y="2605405"/>
                  </a:lnTo>
                  <a:lnTo>
                    <a:pt x="0" y="2605405"/>
                  </a:lnTo>
                  <a:lnTo>
                    <a:pt x="0" y="0"/>
                  </a:lnTo>
                  <a:close/>
                </a:path>
              </a:pathLst>
            </a:custGeom>
            <a:blipFill>
              <a:blip r:embed="rId10"/>
              <a:stretch>
                <a:fillRect l="-4" t="0" r="-4" b="0"/>
              </a:stretch>
            </a:blipFill>
          </p:spPr>
        </p:sp>
      </p:grpSp>
      <p:sp>
        <p:nvSpPr>
          <p:cNvPr name="Freeform 29" id="29"/>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13">
              <a:extLst>
                <a:ext uri="{96DAC541-7B7A-43D3-8B79-37D633B846F1}">
                  <asvg:svgBlip xmlns:asvg="http://schemas.microsoft.com/office/drawing/2016/SVG/main" r:embed="rId14"/>
                </a:ext>
              </a:extLst>
            </a:blip>
            <a:stretch>
              <a:fillRect l="0" t="-68" r="0" b="-68"/>
            </a:stretch>
          </a:blipFill>
        </p:spPr>
      </p:sp>
      <p:grpSp>
        <p:nvGrpSpPr>
          <p:cNvPr name="Group 30" id="30"/>
          <p:cNvGrpSpPr/>
          <p:nvPr/>
        </p:nvGrpSpPr>
        <p:grpSpPr>
          <a:xfrm rot="0">
            <a:off x="13751719" y="4045372"/>
            <a:ext cx="3493294" cy="400050"/>
            <a:chOff x="0" y="0"/>
            <a:chExt cx="4657725" cy="533400"/>
          </a:xfrm>
        </p:grpSpPr>
        <p:sp>
          <p:nvSpPr>
            <p:cNvPr name="Freeform 31" id="31" descr="image.png"/>
            <p:cNvSpPr/>
            <p:nvPr/>
          </p:nvSpPr>
          <p:spPr>
            <a:xfrm flipH="false" flipV="false" rot="0">
              <a:off x="0" y="0"/>
              <a:ext cx="4657725" cy="533400"/>
            </a:xfrm>
            <a:custGeom>
              <a:avLst/>
              <a:gdLst/>
              <a:ahLst/>
              <a:cxnLst/>
              <a:rect r="r" b="b" t="t" l="l"/>
              <a:pathLst>
                <a:path h="533400" w="4657725">
                  <a:moveTo>
                    <a:pt x="0" y="0"/>
                  </a:moveTo>
                  <a:lnTo>
                    <a:pt x="4657725" y="0"/>
                  </a:lnTo>
                  <a:lnTo>
                    <a:pt x="4657725" y="533400"/>
                  </a:lnTo>
                  <a:lnTo>
                    <a:pt x="0" y="533400"/>
                  </a:lnTo>
                  <a:lnTo>
                    <a:pt x="0" y="0"/>
                  </a:lnTo>
                  <a:close/>
                </a:path>
              </a:pathLst>
            </a:custGeom>
            <a:blipFill>
              <a:blip r:embed="rId15"/>
              <a:stretch>
                <a:fillRect l="0" t="-1261" r="0" b="-1261"/>
              </a:stretch>
            </a:blipFill>
          </p:spPr>
        </p:sp>
      </p:grpSp>
      <p:sp>
        <p:nvSpPr>
          <p:cNvPr name="TextBox 32" id="32"/>
          <p:cNvSpPr txBox="true"/>
          <p:nvPr/>
        </p:nvSpPr>
        <p:spPr>
          <a:xfrm rot="0">
            <a:off x="13751719" y="4550197"/>
            <a:ext cx="3493294" cy="664521"/>
          </a:xfrm>
          <a:prstGeom prst="rect">
            <a:avLst/>
          </a:prstGeom>
        </p:spPr>
        <p:txBody>
          <a:bodyPr anchor="t" rtlCol="false" tIns="0" lIns="0" bIns="0" rIns="0">
            <a:spAutoFit/>
          </a:bodyPr>
          <a:lstStyle/>
          <a:p>
            <a:pPr algn="l">
              <a:lnSpc>
                <a:spcPts val="2353"/>
              </a:lnSpc>
            </a:pPr>
            <a:r>
              <a:rPr lang="en-US" sz="1518">
                <a:solidFill>
                  <a:srgbClr val="475569"/>
                </a:solidFill>
                <a:latin typeface="Poppins"/>
                <a:ea typeface="Poppins"/>
                <a:cs typeface="Poppins"/>
                <a:sym typeface="Poppins"/>
              </a:rPr>
              <a:t>Unequal variance test (safer default for real business data).</a:t>
            </a:r>
          </a:p>
        </p:txBody>
      </p:sp>
      <p:grpSp>
        <p:nvGrpSpPr>
          <p:cNvPr name="Group 33" id="33"/>
          <p:cNvGrpSpPr/>
          <p:nvPr/>
        </p:nvGrpSpPr>
        <p:grpSpPr>
          <a:xfrm rot="0">
            <a:off x="800100" y="6013694"/>
            <a:ext cx="16687800" cy="1756467"/>
            <a:chOff x="0" y="0"/>
            <a:chExt cx="22250400" cy="2341956"/>
          </a:xfrm>
        </p:grpSpPr>
        <p:sp>
          <p:nvSpPr>
            <p:cNvPr name="Freeform 34" id="34" descr="image.png"/>
            <p:cNvSpPr/>
            <p:nvPr/>
          </p:nvSpPr>
          <p:spPr>
            <a:xfrm flipH="false" flipV="false" rot="0">
              <a:off x="0" y="0"/>
              <a:ext cx="22250400" cy="2342007"/>
            </a:xfrm>
            <a:custGeom>
              <a:avLst/>
              <a:gdLst/>
              <a:ahLst/>
              <a:cxnLst/>
              <a:rect r="r" b="b" t="t" l="l"/>
              <a:pathLst>
                <a:path h="2342007" w="22250400">
                  <a:moveTo>
                    <a:pt x="0" y="0"/>
                  </a:moveTo>
                  <a:lnTo>
                    <a:pt x="22250400" y="0"/>
                  </a:lnTo>
                  <a:lnTo>
                    <a:pt x="22250400" y="2342007"/>
                  </a:lnTo>
                  <a:lnTo>
                    <a:pt x="0" y="2342007"/>
                  </a:lnTo>
                  <a:lnTo>
                    <a:pt x="0" y="0"/>
                  </a:lnTo>
                  <a:close/>
                </a:path>
              </a:pathLst>
            </a:custGeom>
            <a:blipFill>
              <a:blip r:embed="rId16"/>
              <a:stretch>
                <a:fillRect l="0" t="-432" r="0" b="-430"/>
              </a:stretch>
            </a:blipFill>
          </p:spPr>
        </p:sp>
      </p:grpSp>
      <p:sp>
        <p:nvSpPr>
          <p:cNvPr name="TextBox 35" id="35"/>
          <p:cNvSpPr txBox="true"/>
          <p:nvPr/>
        </p:nvSpPr>
        <p:spPr>
          <a:xfrm rot="0">
            <a:off x="1128712" y="6332782"/>
            <a:ext cx="16832104" cy="381000"/>
          </a:xfrm>
          <a:prstGeom prst="rect">
            <a:avLst/>
          </a:prstGeom>
        </p:spPr>
        <p:txBody>
          <a:bodyPr anchor="t" rtlCol="false" tIns="0" lIns="0" bIns="0" rIns="0">
            <a:spAutoFit/>
          </a:bodyPr>
          <a:lstStyle/>
          <a:p>
            <a:pPr algn="l">
              <a:lnSpc>
                <a:spcPts val="2295"/>
              </a:lnSpc>
            </a:pPr>
            <a:r>
              <a:rPr lang="en-US" sz="1912">
                <a:solidFill>
                  <a:srgbClr val="20494A"/>
                </a:solidFill>
                <a:latin typeface="Poppins"/>
                <a:ea typeface="Poppins"/>
                <a:cs typeface="Poppins"/>
                <a:sym typeface="Poppins"/>
              </a:rPr>
              <a:t>When Analysts Use It &amp; How to Interpret</a:t>
            </a:r>
          </a:p>
        </p:txBody>
      </p:sp>
      <p:sp>
        <p:nvSpPr>
          <p:cNvPr name="TextBox 36" id="36"/>
          <p:cNvSpPr txBox="true"/>
          <p:nvPr/>
        </p:nvSpPr>
        <p:spPr>
          <a:xfrm rot="0">
            <a:off x="1128712" y="6732832"/>
            <a:ext cx="16030575" cy="708717"/>
          </a:xfrm>
          <a:prstGeom prst="rect">
            <a:avLst/>
          </a:prstGeom>
        </p:spPr>
        <p:txBody>
          <a:bodyPr anchor="t" rtlCol="false" tIns="0" lIns="0" bIns="0" rIns="0">
            <a:spAutoFit/>
          </a:bodyPr>
          <a:lstStyle/>
          <a:p>
            <a:pPr algn="l">
              <a:lnSpc>
                <a:spcPts val="2527"/>
              </a:lnSpc>
            </a:pPr>
            <a:r>
              <a:rPr lang="en-US" sz="1630">
                <a:solidFill>
                  <a:srgbClr val="0A1A23"/>
                </a:solidFill>
                <a:latin typeface="Poppins"/>
                <a:ea typeface="Poppins"/>
                <a:cs typeface="Poppins"/>
                <a:sym typeface="Poppins"/>
              </a:rPr>
              <a:t>When to use:</a:t>
            </a:r>
            <a:r>
              <a:rPr lang="en-US" sz="1630">
                <a:solidFill>
                  <a:srgbClr val="475569"/>
                </a:solidFill>
                <a:latin typeface="Poppins"/>
                <a:ea typeface="Poppins"/>
                <a:cs typeface="Poppins"/>
                <a:sym typeface="Poppins"/>
              </a:rPr>
              <a:t> Whenever checking if an observed difference between two groups (Before vs After, Branch A vs B, Control vs Test) is reliable enough to act on.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12658874"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The 0.05</a:t>
            </a:r>
            <a:r>
              <a:rPr lang="en-US" sz="5000">
                <a:solidFill>
                  <a:srgbClr val="388080"/>
                </a:solidFill>
                <a:latin typeface="Poppins"/>
                <a:ea typeface="Poppins"/>
                <a:cs typeface="Poppins"/>
                <a:sym typeface="Poppins"/>
              </a:rPr>
              <a:t> Threshold: Convention, Not Law</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sp>
        <p:nvSpPr>
          <p:cNvPr name="TextBox 11" id="11"/>
          <p:cNvSpPr txBox="true"/>
          <p:nvPr/>
        </p:nvSpPr>
        <p:spPr>
          <a:xfrm rot="0">
            <a:off x="800100" y="2819552"/>
            <a:ext cx="16687800" cy="387350"/>
          </a:xfrm>
          <a:prstGeom prst="rect">
            <a:avLst/>
          </a:prstGeom>
        </p:spPr>
        <p:txBody>
          <a:bodyPr anchor="t" rtlCol="false" tIns="0" lIns="0" bIns="0" rIns="0">
            <a:spAutoFit/>
          </a:bodyPr>
          <a:lstStyle/>
          <a:p>
            <a:pPr algn="l">
              <a:lnSpc>
                <a:spcPts val="3099"/>
              </a:lnSpc>
            </a:pPr>
            <a:r>
              <a:rPr lang="en-US" sz="1999">
                <a:solidFill>
                  <a:srgbClr val="475569"/>
                </a:solidFill>
                <a:latin typeface="Poppins"/>
                <a:ea typeface="Poppins"/>
                <a:cs typeface="Poppins"/>
                <a:sym typeface="Poppins"/>
              </a:rPr>
              <a:t>Analysts commonly use </a:t>
            </a:r>
            <a:r>
              <a:rPr lang="en-US" sz="1999">
                <a:solidFill>
                  <a:srgbClr val="0A1A23"/>
                </a:solidFill>
                <a:latin typeface="Poppins"/>
                <a:ea typeface="Poppins"/>
                <a:cs typeface="Poppins"/>
                <a:sym typeface="Poppins"/>
              </a:rPr>
              <a:t>0.05 (5%)</a:t>
            </a:r>
            <a:r>
              <a:rPr lang="en-US" sz="1999">
                <a:solidFill>
                  <a:srgbClr val="475569"/>
                </a:solidFill>
                <a:latin typeface="Poppins"/>
                <a:ea typeface="Poppins"/>
                <a:cs typeface="Poppins"/>
                <a:sym typeface="Poppins"/>
              </a:rPr>
              <a:t> as the cutoff for deciding statistical significance.</a:t>
            </a:r>
          </a:p>
        </p:txBody>
      </p:sp>
      <p:sp>
        <p:nvSpPr>
          <p:cNvPr name="TextBox 12" id="12"/>
          <p:cNvSpPr txBox="true"/>
          <p:nvPr/>
        </p:nvSpPr>
        <p:spPr>
          <a:xfrm rot="0">
            <a:off x="1371600" y="3592935"/>
            <a:ext cx="15544800" cy="295275"/>
          </a:xfrm>
          <a:prstGeom prst="rect">
            <a:avLst/>
          </a:prstGeom>
        </p:spPr>
        <p:txBody>
          <a:bodyPr anchor="t" rtlCol="false" tIns="0" lIns="0" bIns="0" rIns="0">
            <a:spAutoFit/>
          </a:bodyPr>
          <a:lstStyle/>
          <a:p>
            <a:pPr algn="l">
              <a:lnSpc>
                <a:spcPts val="1755"/>
              </a:lnSpc>
            </a:pPr>
            <a:r>
              <a:rPr lang="en-US" sz="1462" b="true">
                <a:solidFill>
                  <a:srgbClr val="22454E"/>
                </a:solidFill>
                <a:latin typeface="Poppins Bold"/>
                <a:ea typeface="Poppins Bold"/>
                <a:cs typeface="Poppins Bold"/>
                <a:sym typeface="Poppins Bold"/>
              </a:rPr>
              <a:t>p = 0.00 Threshold: p = 0.05 p = 1.00</a:t>
            </a:r>
          </a:p>
        </p:txBody>
      </p:sp>
      <p:grpSp>
        <p:nvGrpSpPr>
          <p:cNvPr name="Group 13" id="13"/>
          <p:cNvGrpSpPr/>
          <p:nvPr/>
        </p:nvGrpSpPr>
        <p:grpSpPr>
          <a:xfrm rot="0">
            <a:off x="1371600" y="3973935"/>
            <a:ext cx="15544800" cy="228600"/>
            <a:chOff x="0" y="0"/>
            <a:chExt cx="20726400" cy="304800"/>
          </a:xfrm>
        </p:grpSpPr>
        <p:sp>
          <p:nvSpPr>
            <p:cNvPr name="Freeform 14" id="14" descr="image.png"/>
            <p:cNvSpPr/>
            <p:nvPr/>
          </p:nvSpPr>
          <p:spPr>
            <a:xfrm flipH="false" flipV="false" rot="0">
              <a:off x="0" y="0"/>
              <a:ext cx="20726400" cy="304800"/>
            </a:xfrm>
            <a:custGeom>
              <a:avLst/>
              <a:gdLst/>
              <a:ahLst/>
              <a:cxnLst/>
              <a:rect r="r" b="b" t="t" l="l"/>
              <a:pathLst>
                <a:path h="304800" w="20726400">
                  <a:moveTo>
                    <a:pt x="0" y="0"/>
                  </a:moveTo>
                  <a:lnTo>
                    <a:pt x="20726400" y="0"/>
                  </a:lnTo>
                  <a:lnTo>
                    <a:pt x="20726400" y="304800"/>
                  </a:lnTo>
                  <a:lnTo>
                    <a:pt x="0" y="304800"/>
                  </a:lnTo>
                  <a:lnTo>
                    <a:pt x="0" y="0"/>
                  </a:lnTo>
                  <a:close/>
                </a:path>
              </a:pathLst>
            </a:custGeom>
            <a:blipFill>
              <a:blip r:embed="rId9"/>
              <a:stretch>
                <a:fillRect l="0" t="-3125" r="0" b="-3125"/>
              </a:stretch>
            </a:blipFill>
          </p:spPr>
        </p:sp>
      </p:grpSp>
      <p:sp>
        <p:nvSpPr>
          <p:cNvPr name="TextBox 15" id="15"/>
          <p:cNvSpPr txBox="true"/>
          <p:nvPr/>
        </p:nvSpPr>
        <p:spPr>
          <a:xfrm rot="0">
            <a:off x="1495425" y="4335885"/>
            <a:ext cx="3762375" cy="447675"/>
          </a:xfrm>
          <a:prstGeom prst="rect">
            <a:avLst/>
          </a:prstGeom>
        </p:spPr>
        <p:txBody>
          <a:bodyPr anchor="t" rtlCol="false" tIns="0" lIns="0" bIns="0" rIns="0">
            <a:spAutoFit/>
          </a:bodyPr>
          <a:lstStyle/>
          <a:p>
            <a:pPr algn="l">
              <a:lnSpc>
                <a:spcPts val="1755"/>
              </a:lnSpc>
            </a:pPr>
            <a:r>
              <a:rPr lang="en-US" sz="1462">
                <a:solidFill>
                  <a:srgbClr val="047857"/>
                </a:solidFill>
                <a:latin typeface="Poppins"/>
                <a:ea typeface="Poppins"/>
                <a:cs typeface="Poppins"/>
                <a:sym typeface="Poppins"/>
              </a:rPr>
              <a:t>p &lt; 0.05: Reject H₀</a:t>
            </a:r>
          </a:p>
          <a:p>
            <a:pPr algn="l">
              <a:lnSpc>
                <a:spcPts val="1755"/>
              </a:lnSpc>
            </a:pPr>
            <a:r>
              <a:rPr lang="en-US" sz="1462">
                <a:solidFill>
                  <a:srgbClr val="047857"/>
                </a:solidFill>
                <a:latin typeface="Poppins"/>
                <a:ea typeface="Poppins"/>
                <a:cs typeface="Poppins"/>
                <a:sym typeface="Poppins"/>
              </a:rPr>
              <a:t>Statistically Significant difference</a:t>
            </a:r>
          </a:p>
        </p:txBody>
      </p:sp>
      <p:sp>
        <p:nvSpPr>
          <p:cNvPr name="TextBox 16" id="16"/>
          <p:cNvSpPr txBox="true"/>
          <p:nvPr/>
        </p:nvSpPr>
        <p:spPr>
          <a:xfrm rot="0">
            <a:off x="6158951" y="4335885"/>
            <a:ext cx="10757449" cy="447675"/>
          </a:xfrm>
          <a:prstGeom prst="rect">
            <a:avLst/>
          </a:prstGeom>
        </p:spPr>
        <p:txBody>
          <a:bodyPr anchor="t" rtlCol="false" tIns="0" lIns="0" bIns="0" rIns="0">
            <a:spAutoFit/>
          </a:bodyPr>
          <a:lstStyle/>
          <a:p>
            <a:pPr algn="r">
              <a:lnSpc>
                <a:spcPts val="1755"/>
              </a:lnSpc>
            </a:pPr>
            <a:r>
              <a:rPr lang="en-US" sz="1462">
                <a:solidFill>
                  <a:srgbClr val="475569"/>
                </a:solidFill>
                <a:latin typeface="Poppins"/>
                <a:ea typeface="Poppins"/>
                <a:cs typeface="Poppins"/>
                <a:sym typeface="Poppins"/>
              </a:rPr>
              <a:t>p ≥ 0.05: Fail to Reject H₀</a:t>
            </a:r>
          </a:p>
          <a:p>
            <a:pPr algn="r">
              <a:lnSpc>
                <a:spcPts val="1755"/>
              </a:lnSpc>
            </a:pPr>
            <a:r>
              <a:rPr lang="en-US" sz="1462">
                <a:solidFill>
                  <a:srgbClr val="475569"/>
                </a:solidFill>
                <a:latin typeface="Poppins"/>
                <a:ea typeface="Poppins"/>
                <a:cs typeface="Poppins"/>
                <a:sym typeface="Poppins"/>
              </a:rPr>
              <a:t>Plausibly random chance; insufficient evidence</a:t>
            </a:r>
          </a:p>
        </p:txBody>
      </p:sp>
      <p:grpSp>
        <p:nvGrpSpPr>
          <p:cNvPr name="Group 17" id="17"/>
          <p:cNvGrpSpPr/>
          <p:nvPr/>
        </p:nvGrpSpPr>
        <p:grpSpPr>
          <a:xfrm rot="0">
            <a:off x="800100" y="5402685"/>
            <a:ext cx="8143875" cy="2136200"/>
            <a:chOff x="0" y="0"/>
            <a:chExt cx="10858500" cy="2848267"/>
          </a:xfrm>
        </p:grpSpPr>
        <p:sp>
          <p:nvSpPr>
            <p:cNvPr name="Freeform 18" id="18" descr="image.png"/>
            <p:cNvSpPr/>
            <p:nvPr/>
          </p:nvSpPr>
          <p:spPr>
            <a:xfrm flipH="false" flipV="false" rot="0">
              <a:off x="0" y="0"/>
              <a:ext cx="10858500" cy="2848229"/>
            </a:xfrm>
            <a:custGeom>
              <a:avLst/>
              <a:gdLst/>
              <a:ahLst/>
              <a:cxnLst/>
              <a:rect r="r" b="b" t="t" l="l"/>
              <a:pathLst>
                <a:path h="2848229" w="10858500">
                  <a:moveTo>
                    <a:pt x="0" y="0"/>
                  </a:moveTo>
                  <a:lnTo>
                    <a:pt x="10858500" y="0"/>
                  </a:lnTo>
                  <a:lnTo>
                    <a:pt x="10858500" y="2848229"/>
                  </a:lnTo>
                  <a:lnTo>
                    <a:pt x="0" y="2848229"/>
                  </a:lnTo>
                  <a:lnTo>
                    <a:pt x="0" y="0"/>
                  </a:lnTo>
                  <a:close/>
                </a:path>
              </a:pathLst>
            </a:custGeom>
            <a:blipFill>
              <a:blip r:embed="rId10"/>
              <a:stretch>
                <a:fillRect l="0" t="-161" r="0" b="-163"/>
              </a:stretch>
            </a:blipFill>
          </p:spPr>
        </p:sp>
      </p:grpSp>
      <p:sp>
        <p:nvSpPr>
          <p:cNvPr name="TextBox 19" id="19"/>
          <p:cNvSpPr txBox="true"/>
          <p:nvPr/>
        </p:nvSpPr>
        <p:spPr>
          <a:xfrm rot="0">
            <a:off x="1128712" y="5721772"/>
            <a:ext cx="7860982" cy="381000"/>
          </a:xfrm>
          <a:prstGeom prst="rect">
            <a:avLst/>
          </a:prstGeom>
        </p:spPr>
        <p:txBody>
          <a:bodyPr anchor="t" rtlCol="false" tIns="0" lIns="0" bIns="0" rIns="0">
            <a:spAutoFit/>
          </a:bodyPr>
          <a:lstStyle/>
          <a:p>
            <a:pPr algn="l">
              <a:lnSpc>
                <a:spcPts val="2295"/>
              </a:lnSpc>
            </a:pPr>
            <a:r>
              <a:rPr lang="en-US" sz="1912">
                <a:solidFill>
                  <a:srgbClr val="0A1A23"/>
                </a:solidFill>
                <a:latin typeface="Poppins"/>
                <a:ea typeface="Poppins"/>
                <a:cs typeface="Poppins"/>
                <a:sym typeface="Poppins"/>
              </a:rPr>
              <a:t>A Convention, Not Scientific Law</a:t>
            </a:r>
          </a:p>
        </p:txBody>
      </p:sp>
      <p:sp>
        <p:nvSpPr>
          <p:cNvPr name="TextBox 20" id="20"/>
          <p:cNvSpPr txBox="true"/>
          <p:nvPr/>
        </p:nvSpPr>
        <p:spPr>
          <a:xfrm rot="0">
            <a:off x="9672638" y="5721772"/>
            <a:ext cx="7860982" cy="381000"/>
          </a:xfrm>
          <a:prstGeom prst="rect">
            <a:avLst/>
          </a:prstGeom>
        </p:spPr>
        <p:txBody>
          <a:bodyPr anchor="t" rtlCol="false" tIns="0" lIns="0" bIns="0" rIns="0">
            <a:spAutoFit/>
          </a:bodyPr>
          <a:lstStyle/>
          <a:p>
            <a:pPr algn="l">
              <a:lnSpc>
                <a:spcPts val="2295"/>
              </a:lnSpc>
            </a:pPr>
            <a:r>
              <a:rPr lang="en-US" sz="1912">
                <a:solidFill>
                  <a:srgbClr val="20494A"/>
                </a:solidFill>
                <a:latin typeface="Poppins"/>
                <a:ea typeface="Poppins"/>
                <a:cs typeface="Poppins"/>
                <a:sym typeface="Poppins"/>
              </a:rPr>
              <a:t>Careful Workplace Language</a:t>
            </a:r>
          </a:p>
        </p:txBody>
      </p:sp>
      <p:grpSp>
        <p:nvGrpSpPr>
          <p:cNvPr name="Group 21" id="21"/>
          <p:cNvGrpSpPr/>
          <p:nvPr/>
        </p:nvGrpSpPr>
        <p:grpSpPr>
          <a:xfrm rot="0">
            <a:off x="9344025" y="5402685"/>
            <a:ext cx="8143875" cy="2136200"/>
            <a:chOff x="0" y="0"/>
            <a:chExt cx="10858500" cy="2848267"/>
          </a:xfrm>
        </p:grpSpPr>
        <p:sp>
          <p:nvSpPr>
            <p:cNvPr name="Freeform 22" id="22" descr="image.png"/>
            <p:cNvSpPr/>
            <p:nvPr/>
          </p:nvSpPr>
          <p:spPr>
            <a:xfrm flipH="false" flipV="false" rot="0">
              <a:off x="0" y="0"/>
              <a:ext cx="10858500" cy="2848229"/>
            </a:xfrm>
            <a:custGeom>
              <a:avLst/>
              <a:gdLst/>
              <a:ahLst/>
              <a:cxnLst/>
              <a:rect r="r" b="b" t="t" l="l"/>
              <a:pathLst>
                <a:path h="2848229" w="10858500">
                  <a:moveTo>
                    <a:pt x="0" y="0"/>
                  </a:moveTo>
                  <a:lnTo>
                    <a:pt x="10858500" y="0"/>
                  </a:lnTo>
                  <a:lnTo>
                    <a:pt x="10858500" y="2848229"/>
                  </a:lnTo>
                  <a:lnTo>
                    <a:pt x="0" y="2848229"/>
                  </a:lnTo>
                  <a:lnTo>
                    <a:pt x="0" y="0"/>
                  </a:lnTo>
                  <a:close/>
                </a:path>
              </a:pathLst>
            </a:custGeom>
            <a:blipFill>
              <a:blip r:embed="rId11"/>
              <a:stretch>
                <a:fillRect l="0" t="-161" r="0" b="-163"/>
              </a:stretch>
            </a:blipFill>
          </p:spPr>
        </p:sp>
      </p:grpSp>
      <p:sp>
        <p:nvSpPr>
          <p:cNvPr name="TextBox 23" id="23"/>
          <p:cNvSpPr txBox="true"/>
          <p:nvPr/>
        </p:nvSpPr>
        <p:spPr>
          <a:xfrm rot="0">
            <a:off x="9672638" y="6178972"/>
            <a:ext cx="7486650" cy="686391"/>
          </a:xfrm>
          <a:prstGeom prst="rect">
            <a:avLst/>
          </a:prstGeom>
        </p:spPr>
        <p:txBody>
          <a:bodyPr anchor="t" rtlCol="false" tIns="0" lIns="0" bIns="0" rIns="0">
            <a:spAutoFit/>
          </a:bodyPr>
          <a:lstStyle/>
          <a:p>
            <a:pPr algn="l">
              <a:lnSpc>
                <a:spcPts val="2440"/>
              </a:lnSpc>
            </a:pPr>
            <a:r>
              <a:rPr lang="en-US" sz="1575">
                <a:solidFill>
                  <a:srgbClr val="0A1A23"/>
                </a:solidFill>
                <a:latin typeface="Poppins"/>
                <a:ea typeface="Poppins"/>
                <a:cs typeface="Poppins"/>
                <a:sym typeface="Poppins"/>
              </a:rPr>
              <a:t>Always report: </a:t>
            </a:r>
            <a:r>
              <a:rPr lang="en-US" sz="1575" i="true">
                <a:solidFill>
                  <a:srgbClr val="0A1A23"/>
                </a:solidFill>
                <a:latin typeface="Poppins Italics"/>
                <a:ea typeface="Poppins Italics"/>
                <a:cs typeface="Poppins Italics"/>
                <a:sym typeface="Poppins Italics"/>
              </a:rPr>
              <a:t>"We failed to reject the null hypothesis"</a:t>
            </a:r>
            <a:r>
              <a:rPr lang="en-US" sz="1575">
                <a:solidFill>
                  <a:srgbClr val="0A1A23"/>
                </a:solidFill>
                <a:latin typeface="Poppins"/>
                <a:ea typeface="Poppins"/>
                <a:cs typeface="Poppins"/>
                <a:sym typeface="Poppins"/>
              </a:rPr>
              <a:t> rather than </a:t>
            </a:r>
            <a:r>
              <a:rPr lang="en-US" sz="1575" i="true">
                <a:solidFill>
                  <a:srgbClr val="0A1A23"/>
                </a:solidFill>
                <a:latin typeface="Poppins Italics"/>
                <a:ea typeface="Poppins Italics"/>
                <a:cs typeface="Poppins Italics"/>
                <a:sym typeface="Poppins Italics"/>
              </a:rPr>
              <a:t>"we proved there is no difference."</a:t>
            </a:r>
          </a:p>
        </p:txBody>
      </p:sp>
      <p:sp>
        <p:nvSpPr>
          <p:cNvPr name="TextBox 24" id="24"/>
          <p:cNvSpPr txBox="true"/>
          <p:nvPr/>
        </p:nvSpPr>
        <p:spPr>
          <a:xfrm rot="0">
            <a:off x="9672638" y="6865363"/>
            <a:ext cx="7486650" cy="344910"/>
          </a:xfrm>
          <a:prstGeom prst="rect">
            <a:avLst/>
          </a:prstGeom>
        </p:spPr>
        <p:txBody>
          <a:bodyPr anchor="t" rtlCol="false" tIns="0" lIns="0" bIns="0" rIns="0">
            <a:spAutoFit/>
          </a:bodyPr>
          <a:lstStyle/>
          <a:p>
            <a:pPr algn="l">
              <a:lnSpc>
                <a:spcPts val="2266"/>
              </a:lnSpc>
            </a:pPr>
            <a:r>
              <a:rPr lang="en-US" sz="1462" i="true">
                <a:solidFill>
                  <a:srgbClr val="475569"/>
                </a:solidFill>
                <a:latin typeface="Poppins Italics"/>
                <a:ea typeface="Poppins Italics"/>
                <a:cs typeface="Poppins Italics"/>
                <a:sym typeface="Poppins Italics"/>
              </a:rPr>
              <a:t>Absence of evidence is not evidence of absence!</a:t>
            </a:r>
          </a:p>
        </p:txBody>
      </p:sp>
      <p:sp>
        <p:nvSpPr>
          <p:cNvPr name="TextBox 25" id="25"/>
          <p:cNvSpPr txBox="true"/>
          <p:nvPr/>
        </p:nvSpPr>
        <p:spPr>
          <a:xfrm rot="0">
            <a:off x="1128712" y="6178972"/>
            <a:ext cx="7486650" cy="996258"/>
          </a:xfrm>
          <a:prstGeom prst="rect">
            <a:avLst/>
          </a:prstGeom>
        </p:spPr>
        <p:txBody>
          <a:bodyPr anchor="t" rtlCol="false" tIns="0" lIns="0" bIns="0" rIns="0">
            <a:spAutoFit/>
          </a:bodyPr>
          <a:lstStyle/>
          <a:p>
            <a:pPr algn="l">
              <a:lnSpc>
                <a:spcPts val="2440"/>
              </a:lnSpc>
            </a:pPr>
            <a:r>
              <a:rPr lang="en-US" sz="1575">
                <a:solidFill>
                  <a:srgbClr val="475569"/>
                </a:solidFill>
                <a:latin typeface="Poppins"/>
                <a:ea typeface="Poppins"/>
                <a:cs typeface="Poppins"/>
                <a:sym typeface="Poppins"/>
              </a:rPr>
              <a:t>Some high-stakes fields use 0.01; some business contexts accept slightly looser lines. What matters is being </a:t>
            </a:r>
            <a:r>
              <a:rPr lang="en-US" sz="1575">
                <a:solidFill>
                  <a:srgbClr val="0A1A23"/>
                </a:solidFill>
                <a:latin typeface="Poppins"/>
                <a:ea typeface="Poppins"/>
                <a:cs typeface="Poppins"/>
                <a:sym typeface="Poppins"/>
              </a:rPr>
              <a:t>transparent and consistent</a:t>
            </a:r>
            <a:r>
              <a:rPr lang="en-US" sz="1575">
                <a:solidFill>
                  <a:srgbClr val="475569"/>
                </a:solidFill>
                <a:latin typeface="Poppins"/>
                <a:ea typeface="Poppins"/>
                <a:cs typeface="Poppins"/>
                <a:sym typeface="Poppins"/>
              </a:rPr>
              <a:t> about your chosen threshold.</a:t>
            </a:r>
          </a:p>
        </p:txBody>
      </p:sp>
      <p:grpSp>
        <p:nvGrpSpPr>
          <p:cNvPr name="Group 26" id="26"/>
          <p:cNvGrpSpPr/>
          <p:nvPr/>
        </p:nvGrpSpPr>
        <p:grpSpPr>
          <a:xfrm rot="0">
            <a:off x="2926032" y="3888210"/>
            <a:ext cx="57150" cy="400050"/>
            <a:chOff x="0" y="0"/>
            <a:chExt cx="76200" cy="533400"/>
          </a:xfrm>
        </p:grpSpPr>
        <p:sp>
          <p:nvSpPr>
            <p:cNvPr name="Freeform 27" id="27"/>
            <p:cNvSpPr/>
            <p:nvPr/>
          </p:nvSpPr>
          <p:spPr>
            <a:xfrm flipH="false" flipV="false" rot="0">
              <a:off x="0" y="0"/>
              <a:ext cx="76200" cy="533400"/>
            </a:xfrm>
            <a:custGeom>
              <a:avLst/>
              <a:gdLst/>
              <a:ahLst/>
              <a:cxnLst/>
              <a:rect r="r" b="b" t="t" l="l"/>
              <a:pathLst>
                <a:path h="533400" w="76200">
                  <a:moveTo>
                    <a:pt x="0" y="38100"/>
                  </a:moveTo>
                  <a:cubicBezTo>
                    <a:pt x="0" y="17018"/>
                    <a:pt x="17018" y="0"/>
                    <a:pt x="38100" y="0"/>
                  </a:cubicBezTo>
                  <a:cubicBezTo>
                    <a:pt x="59182" y="0"/>
                    <a:pt x="76200" y="17018"/>
                    <a:pt x="76200" y="38100"/>
                  </a:cubicBezTo>
                  <a:lnTo>
                    <a:pt x="76200" y="495300"/>
                  </a:lnTo>
                  <a:cubicBezTo>
                    <a:pt x="76200" y="516382"/>
                    <a:pt x="59182" y="533400"/>
                    <a:pt x="38100" y="533400"/>
                  </a:cubicBezTo>
                  <a:cubicBezTo>
                    <a:pt x="17018" y="533400"/>
                    <a:pt x="0" y="516382"/>
                    <a:pt x="0" y="495300"/>
                  </a:cubicBezTo>
                  <a:close/>
                </a:path>
              </a:pathLst>
            </a:custGeom>
            <a:solidFill>
              <a:srgbClr val="0A1A23"/>
            </a:solid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TextBox 7" id="7"/>
          <p:cNvSpPr txBox="true"/>
          <p:nvPr/>
        </p:nvSpPr>
        <p:spPr>
          <a:xfrm rot="0">
            <a:off x="1143000" y="762000"/>
            <a:ext cx="14969282"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Statistical Significance vs. Business Importance</a:t>
            </a:r>
          </a:p>
        </p:txBody>
      </p:sp>
      <p:grpSp>
        <p:nvGrpSpPr>
          <p:cNvPr name="Group 8" id="8"/>
          <p:cNvGrpSpPr/>
          <p:nvPr/>
        </p:nvGrpSpPr>
        <p:grpSpPr>
          <a:xfrm rot="0">
            <a:off x="16497824" y="8924125"/>
            <a:ext cx="647224" cy="571500"/>
            <a:chOff x="0" y="0"/>
            <a:chExt cx="862965" cy="762000"/>
          </a:xfrm>
        </p:grpSpPr>
        <p:sp>
          <p:nvSpPr>
            <p:cNvPr name="Freeform 9" id="9"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6"/>
              <a:stretch>
                <a:fillRect l="-772" t="0" r="-772" b="0"/>
              </a:stretch>
            </a:blipFill>
          </p:spPr>
        </p:sp>
      </p:grpSp>
      <p:sp>
        <p:nvSpPr>
          <p:cNvPr name="TextBox 10" id="10"/>
          <p:cNvSpPr txBox="true"/>
          <p:nvPr/>
        </p:nvSpPr>
        <p:spPr>
          <a:xfrm rot="0">
            <a:off x="800100" y="2933176"/>
            <a:ext cx="8551069" cy="457200"/>
          </a:xfrm>
          <a:prstGeom prst="rect">
            <a:avLst/>
          </a:prstGeom>
        </p:spPr>
        <p:txBody>
          <a:bodyPr anchor="t" rtlCol="false" tIns="0" lIns="0" bIns="0" rIns="0">
            <a:spAutoFit/>
          </a:bodyPr>
          <a:lstStyle/>
          <a:p>
            <a:pPr algn="l">
              <a:lnSpc>
                <a:spcPts val="2700"/>
              </a:lnSpc>
            </a:pPr>
            <a:r>
              <a:rPr lang="en-US" sz="2250">
                <a:solidFill>
                  <a:srgbClr val="0A1A23"/>
                </a:solidFill>
                <a:latin typeface="Poppins"/>
                <a:ea typeface="Poppins"/>
                <a:cs typeface="Poppins"/>
                <a:sym typeface="Poppins"/>
              </a:rPr>
              <a:t>The Large Sample Trap</a:t>
            </a:r>
          </a:p>
        </p:txBody>
      </p:sp>
      <p:sp>
        <p:nvSpPr>
          <p:cNvPr name="TextBox 11" id="11"/>
          <p:cNvSpPr txBox="true"/>
          <p:nvPr/>
        </p:nvSpPr>
        <p:spPr>
          <a:xfrm rot="0">
            <a:off x="800100" y="3447526"/>
            <a:ext cx="8143875" cy="1082278"/>
          </a:xfrm>
          <a:prstGeom prst="rect">
            <a:avLst/>
          </a:prstGeom>
        </p:spPr>
        <p:txBody>
          <a:bodyPr anchor="t" rtlCol="false" tIns="0" lIns="0" bIns="0" rIns="0">
            <a:spAutoFit/>
          </a:bodyPr>
          <a:lstStyle/>
          <a:p>
            <a:pPr algn="l">
              <a:lnSpc>
                <a:spcPts val="2614"/>
              </a:lnSpc>
            </a:pPr>
            <a:r>
              <a:rPr lang="en-US" sz="1687">
                <a:solidFill>
                  <a:srgbClr val="475569"/>
                </a:solidFill>
                <a:latin typeface="Poppins"/>
                <a:ea typeface="Poppins"/>
                <a:cs typeface="Poppins"/>
                <a:sym typeface="Poppins"/>
              </a:rPr>
              <a:t>A statistically significant result ($p &lt; 0.05$) only tells you a difference is unlikely to be random noise. It does </a:t>
            </a:r>
            <a:r>
              <a:rPr lang="en-US" sz="1687">
                <a:solidFill>
                  <a:srgbClr val="0A1A23"/>
                </a:solidFill>
                <a:latin typeface="Poppins"/>
                <a:ea typeface="Poppins"/>
                <a:cs typeface="Poppins"/>
                <a:sym typeface="Poppins"/>
              </a:rPr>
              <a:t>NOT</a:t>
            </a:r>
            <a:r>
              <a:rPr lang="en-US" sz="1687">
                <a:solidFill>
                  <a:srgbClr val="475569"/>
                </a:solidFill>
                <a:latin typeface="Poppins"/>
                <a:ea typeface="Poppins"/>
                <a:cs typeface="Poppins"/>
                <a:sym typeface="Poppins"/>
              </a:rPr>
              <a:t> tell you the difference is large enough to matter for the business.</a:t>
            </a:r>
          </a:p>
        </p:txBody>
      </p:sp>
      <p:sp>
        <p:nvSpPr>
          <p:cNvPr name="TextBox 12" id="12"/>
          <p:cNvSpPr txBox="true"/>
          <p:nvPr/>
        </p:nvSpPr>
        <p:spPr>
          <a:xfrm rot="0">
            <a:off x="800100" y="4634579"/>
            <a:ext cx="8143875" cy="708717"/>
          </a:xfrm>
          <a:prstGeom prst="rect">
            <a:avLst/>
          </a:prstGeom>
        </p:spPr>
        <p:txBody>
          <a:bodyPr anchor="t" rtlCol="false" tIns="0" lIns="0" bIns="0" rIns="0">
            <a:spAutoFit/>
          </a:bodyPr>
          <a:lstStyle/>
          <a:p>
            <a:pPr algn="l">
              <a:lnSpc>
                <a:spcPts val="2527"/>
              </a:lnSpc>
            </a:pPr>
            <a:r>
              <a:rPr lang="en-US" sz="1630">
                <a:solidFill>
                  <a:srgbClr val="22454E"/>
                </a:solidFill>
                <a:latin typeface="Poppins"/>
                <a:ea typeface="Poppins"/>
                <a:cs typeface="Poppins"/>
                <a:sym typeface="Poppins"/>
              </a:rPr>
              <a:t>With a large enough sample size, even a tiny, meaningless difference becomes statistically significant.</a:t>
            </a:r>
          </a:p>
        </p:txBody>
      </p:sp>
      <p:grpSp>
        <p:nvGrpSpPr>
          <p:cNvPr name="Group 13" id="13"/>
          <p:cNvGrpSpPr/>
          <p:nvPr/>
        </p:nvGrpSpPr>
        <p:grpSpPr>
          <a:xfrm rot="0">
            <a:off x="3412079" y="7727328"/>
            <a:ext cx="10762739" cy="1768297"/>
            <a:chOff x="0" y="0"/>
            <a:chExt cx="14350319" cy="2357730"/>
          </a:xfrm>
        </p:grpSpPr>
        <p:grpSp>
          <p:nvGrpSpPr>
            <p:cNvPr name="Group 14" id="14"/>
            <p:cNvGrpSpPr/>
            <p:nvPr/>
          </p:nvGrpSpPr>
          <p:grpSpPr>
            <a:xfrm rot="0">
              <a:off x="0" y="0"/>
              <a:ext cx="14081049" cy="2357730"/>
              <a:chOff x="0" y="0"/>
              <a:chExt cx="14081049" cy="2357730"/>
            </a:xfrm>
          </p:grpSpPr>
          <p:sp>
            <p:nvSpPr>
              <p:cNvPr name="Freeform 15" id="15" descr="image.png"/>
              <p:cNvSpPr/>
              <p:nvPr/>
            </p:nvSpPr>
            <p:spPr>
              <a:xfrm flipH="false" flipV="false" rot="0">
                <a:off x="0" y="0"/>
                <a:ext cx="14081049" cy="2357755"/>
              </a:xfrm>
              <a:custGeom>
                <a:avLst/>
                <a:gdLst/>
                <a:ahLst/>
                <a:cxnLst/>
                <a:rect r="r" b="b" t="t" l="l"/>
                <a:pathLst>
                  <a:path h="2357755" w="14081049">
                    <a:moveTo>
                      <a:pt x="0" y="0"/>
                    </a:moveTo>
                    <a:lnTo>
                      <a:pt x="14081049" y="0"/>
                    </a:lnTo>
                    <a:lnTo>
                      <a:pt x="14081049" y="2357755"/>
                    </a:lnTo>
                    <a:lnTo>
                      <a:pt x="0" y="2357755"/>
                    </a:lnTo>
                    <a:lnTo>
                      <a:pt x="0" y="0"/>
                    </a:lnTo>
                    <a:close/>
                  </a:path>
                </a:pathLst>
              </a:custGeom>
              <a:blipFill>
                <a:blip r:embed="rId7"/>
                <a:stretch>
                  <a:fillRect l="0" t="-15485" r="0" b="-15484"/>
                </a:stretch>
              </a:blipFill>
            </p:spPr>
          </p:sp>
        </p:grpSp>
        <p:sp>
          <p:nvSpPr>
            <p:cNvPr name="TextBox 16" id="16"/>
            <p:cNvSpPr txBox="true"/>
            <p:nvPr/>
          </p:nvSpPr>
          <p:spPr>
            <a:xfrm rot="0">
              <a:off x="675232" y="276225"/>
              <a:ext cx="13675087" cy="371475"/>
            </a:xfrm>
            <a:prstGeom prst="rect">
              <a:avLst/>
            </a:prstGeom>
          </p:spPr>
          <p:txBody>
            <a:bodyPr anchor="t" rtlCol="false" tIns="0" lIns="0" bIns="0" rIns="0">
              <a:spAutoFit/>
            </a:bodyPr>
            <a:lstStyle/>
            <a:p>
              <a:pPr algn="l">
                <a:lnSpc>
                  <a:spcPts val="2025"/>
                </a:lnSpc>
              </a:pPr>
              <a:r>
                <a:rPr lang="en-US" sz="1687">
                  <a:solidFill>
                    <a:srgbClr val="38BDF8"/>
                  </a:solidFill>
                  <a:latin typeface="Poppins"/>
                  <a:ea typeface="Poppins"/>
                  <a:cs typeface="Poppins"/>
                  <a:sym typeface="Poppins"/>
                </a:rPr>
                <a:t>Real World Example</a:t>
              </a:r>
            </a:p>
          </p:txBody>
        </p:sp>
        <p:sp>
          <p:nvSpPr>
            <p:cNvPr name="TextBox 17" id="17"/>
            <p:cNvSpPr txBox="true"/>
            <p:nvPr/>
          </p:nvSpPr>
          <p:spPr>
            <a:xfrm rot="0">
              <a:off x="395258" y="790575"/>
              <a:ext cx="13290534" cy="764005"/>
            </a:xfrm>
            <a:prstGeom prst="rect">
              <a:avLst/>
            </a:prstGeom>
          </p:spPr>
          <p:txBody>
            <a:bodyPr anchor="t" rtlCol="false" tIns="0" lIns="0" bIns="0" rIns="0">
              <a:spAutoFit/>
            </a:bodyPr>
            <a:lstStyle/>
            <a:p>
              <a:pPr algn="l">
                <a:lnSpc>
                  <a:spcPts val="2353"/>
                </a:lnSpc>
              </a:pPr>
              <a:r>
                <a:rPr lang="en-US" sz="1518">
                  <a:solidFill>
                    <a:srgbClr val="FFFFFF"/>
                  </a:solidFill>
                  <a:latin typeface="Poppins"/>
                  <a:ea typeface="Poppins"/>
                  <a:cs typeface="Poppins"/>
                  <a:sym typeface="Poppins"/>
                </a:rPr>
                <a:t>If a new display increases basket value by ₦34 out of ₦2,500 (p &lt; 0.05$ across 100k transactions), does a 1.4% lift justify rolling out displays chain-wide?</a:t>
              </a:r>
            </a:p>
          </p:txBody>
        </p:sp>
      </p:grpSp>
      <p:grpSp>
        <p:nvGrpSpPr>
          <p:cNvPr name="Group 18" id="18"/>
          <p:cNvGrpSpPr/>
          <p:nvPr/>
        </p:nvGrpSpPr>
        <p:grpSpPr>
          <a:xfrm rot="0">
            <a:off x="9344025" y="2961751"/>
            <a:ext cx="8143875" cy="4520651"/>
            <a:chOff x="0" y="0"/>
            <a:chExt cx="10858500" cy="6027534"/>
          </a:xfrm>
        </p:grpSpPr>
        <p:sp>
          <p:nvSpPr>
            <p:cNvPr name="Freeform 19" id="19" descr="image.png"/>
            <p:cNvSpPr/>
            <p:nvPr/>
          </p:nvSpPr>
          <p:spPr>
            <a:xfrm flipH="false" flipV="false" rot="0">
              <a:off x="0" y="0"/>
              <a:ext cx="10858500" cy="6027547"/>
            </a:xfrm>
            <a:custGeom>
              <a:avLst/>
              <a:gdLst/>
              <a:ahLst/>
              <a:cxnLst/>
              <a:rect r="r" b="b" t="t" l="l"/>
              <a:pathLst>
                <a:path h="6027547" w="10858500">
                  <a:moveTo>
                    <a:pt x="0" y="0"/>
                  </a:moveTo>
                  <a:lnTo>
                    <a:pt x="10858500" y="0"/>
                  </a:lnTo>
                  <a:lnTo>
                    <a:pt x="10858500" y="6027547"/>
                  </a:lnTo>
                  <a:lnTo>
                    <a:pt x="0" y="6027547"/>
                  </a:lnTo>
                  <a:lnTo>
                    <a:pt x="0" y="0"/>
                  </a:lnTo>
                  <a:close/>
                </a:path>
              </a:pathLst>
            </a:custGeom>
            <a:blipFill>
              <a:blip r:embed="rId8"/>
              <a:stretch>
                <a:fillRect l="0" t="-93" r="0" b="-93"/>
              </a:stretch>
            </a:blipFill>
          </p:spPr>
        </p:sp>
      </p:grpSp>
      <p:sp>
        <p:nvSpPr>
          <p:cNvPr name="TextBox 20" id="20"/>
          <p:cNvSpPr txBox="true"/>
          <p:nvPr/>
        </p:nvSpPr>
        <p:spPr>
          <a:xfrm rot="0">
            <a:off x="9455468" y="3252264"/>
            <a:ext cx="7920990" cy="381000"/>
          </a:xfrm>
          <a:prstGeom prst="rect">
            <a:avLst/>
          </a:prstGeom>
        </p:spPr>
        <p:txBody>
          <a:bodyPr anchor="t" rtlCol="false" tIns="0" lIns="0" bIns="0" rIns="0">
            <a:spAutoFit/>
          </a:bodyPr>
          <a:lstStyle/>
          <a:p>
            <a:pPr algn="ctr">
              <a:lnSpc>
                <a:spcPts val="2295"/>
              </a:lnSpc>
            </a:pPr>
            <a:r>
              <a:rPr lang="en-US" sz="1912">
                <a:solidFill>
                  <a:srgbClr val="0A1A23"/>
                </a:solidFill>
                <a:latin typeface="Poppins"/>
                <a:ea typeface="Poppins"/>
                <a:cs typeface="Poppins"/>
                <a:sym typeface="Poppins"/>
              </a:rPr>
              <a:t>The Analyst's Evaluation Matrix</a:t>
            </a:r>
          </a:p>
        </p:txBody>
      </p:sp>
      <p:sp>
        <p:nvSpPr>
          <p:cNvPr name="Freeform 21" id="21"/>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22" id="22"/>
          <p:cNvGrpSpPr/>
          <p:nvPr/>
        </p:nvGrpSpPr>
        <p:grpSpPr>
          <a:xfrm rot="0">
            <a:off x="9644062" y="3833289"/>
            <a:ext cx="3700462" cy="1617393"/>
            <a:chOff x="0" y="0"/>
            <a:chExt cx="4933950" cy="2156524"/>
          </a:xfrm>
        </p:grpSpPr>
        <p:sp>
          <p:nvSpPr>
            <p:cNvPr name="Freeform 23" id="23" descr="image.png"/>
            <p:cNvSpPr/>
            <p:nvPr/>
          </p:nvSpPr>
          <p:spPr>
            <a:xfrm flipH="false" flipV="false" rot="0">
              <a:off x="0" y="0"/>
              <a:ext cx="4933950" cy="2156460"/>
            </a:xfrm>
            <a:custGeom>
              <a:avLst/>
              <a:gdLst/>
              <a:ahLst/>
              <a:cxnLst/>
              <a:rect r="r" b="b" t="t" l="l"/>
              <a:pathLst>
                <a:path h="2156460" w="4933950">
                  <a:moveTo>
                    <a:pt x="0" y="0"/>
                  </a:moveTo>
                  <a:lnTo>
                    <a:pt x="4933950" y="0"/>
                  </a:lnTo>
                  <a:lnTo>
                    <a:pt x="4933950" y="2156460"/>
                  </a:lnTo>
                  <a:lnTo>
                    <a:pt x="0" y="2156460"/>
                  </a:lnTo>
                  <a:lnTo>
                    <a:pt x="0" y="0"/>
                  </a:lnTo>
                  <a:close/>
                </a:path>
              </a:pathLst>
            </a:custGeom>
            <a:blipFill>
              <a:blip r:embed="rId11"/>
              <a:stretch>
                <a:fillRect l="-732" t="0" r="-732" b="-2"/>
              </a:stretch>
            </a:blipFill>
          </p:spPr>
        </p:sp>
      </p:grpSp>
      <p:sp>
        <p:nvSpPr>
          <p:cNvPr name="TextBox 24" id="24"/>
          <p:cNvSpPr txBox="true"/>
          <p:nvPr/>
        </p:nvSpPr>
        <p:spPr>
          <a:xfrm rot="0">
            <a:off x="9829800" y="4038076"/>
            <a:ext cx="2871788" cy="238125"/>
          </a:xfrm>
          <a:prstGeom prst="rect">
            <a:avLst/>
          </a:prstGeom>
        </p:spPr>
        <p:txBody>
          <a:bodyPr anchor="t" rtlCol="false" tIns="0" lIns="0" bIns="0" rIns="0">
            <a:spAutoFit/>
          </a:bodyPr>
          <a:lstStyle/>
          <a:p>
            <a:pPr algn="l">
              <a:lnSpc>
                <a:spcPts val="1485"/>
              </a:lnSpc>
            </a:pPr>
            <a:r>
              <a:rPr lang="en-US" sz="1237" b="true">
                <a:solidFill>
                  <a:srgbClr val="475569"/>
                </a:solidFill>
                <a:latin typeface="Poppins Bold"/>
                <a:ea typeface="Poppins Bold"/>
                <a:cs typeface="Poppins Bold"/>
                <a:sym typeface="Poppins Bold"/>
              </a:rPr>
              <a:t>STATISTICAL: YES | PRACTICAL: NO</a:t>
            </a:r>
          </a:p>
        </p:txBody>
      </p:sp>
      <p:sp>
        <p:nvSpPr>
          <p:cNvPr name="TextBox 25" id="25"/>
          <p:cNvSpPr txBox="true"/>
          <p:nvPr/>
        </p:nvSpPr>
        <p:spPr>
          <a:xfrm rot="0">
            <a:off x="9829800" y="4285726"/>
            <a:ext cx="3328988" cy="419319"/>
          </a:xfrm>
          <a:prstGeom prst="rect">
            <a:avLst/>
          </a:prstGeom>
        </p:spPr>
        <p:txBody>
          <a:bodyPr anchor="t" rtlCol="false" tIns="0" lIns="0" bIns="0" rIns="0">
            <a:spAutoFit/>
          </a:bodyPr>
          <a:lstStyle/>
          <a:p>
            <a:pPr algn="l">
              <a:lnSpc>
                <a:spcPts val="2701"/>
              </a:lnSpc>
            </a:pPr>
            <a:r>
              <a:rPr lang="en-US" sz="1743">
                <a:solidFill>
                  <a:srgbClr val="F59E0B"/>
                </a:solidFill>
                <a:latin typeface="Poppins"/>
                <a:ea typeface="Poppins"/>
                <a:cs typeface="Poppins"/>
                <a:sym typeface="Poppins"/>
              </a:rPr>
              <a:t>Real but Trivial</a:t>
            </a:r>
          </a:p>
        </p:txBody>
      </p:sp>
      <p:sp>
        <p:nvSpPr>
          <p:cNvPr name="TextBox 26" id="26"/>
          <p:cNvSpPr txBox="true"/>
          <p:nvPr/>
        </p:nvSpPr>
        <p:spPr>
          <a:xfrm rot="0">
            <a:off x="9829800" y="4647905"/>
            <a:ext cx="3328988" cy="588464"/>
          </a:xfrm>
          <a:prstGeom prst="rect">
            <a:avLst/>
          </a:prstGeom>
        </p:spPr>
        <p:txBody>
          <a:bodyPr anchor="t" rtlCol="false" tIns="0" lIns="0" bIns="0" rIns="0">
            <a:spAutoFit/>
          </a:bodyPr>
          <a:lstStyle/>
          <a:p>
            <a:pPr algn="l">
              <a:lnSpc>
                <a:spcPts val="2092"/>
              </a:lnSpc>
            </a:pPr>
            <a:r>
              <a:rPr lang="en-US" sz="1350">
                <a:solidFill>
                  <a:srgbClr val="475569"/>
                </a:solidFill>
                <a:latin typeface="Poppins"/>
                <a:ea typeface="Poppins"/>
                <a:cs typeface="Poppins"/>
                <a:sym typeface="Poppins"/>
              </a:rPr>
              <a:t>Not worth acting on due to implementation cost.</a:t>
            </a:r>
          </a:p>
        </p:txBody>
      </p:sp>
      <p:grpSp>
        <p:nvGrpSpPr>
          <p:cNvPr name="Group 27" id="27"/>
          <p:cNvGrpSpPr/>
          <p:nvPr/>
        </p:nvGrpSpPr>
        <p:grpSpPr>
          <a:xfrm rot="0">
            <a:off x="13487400" y="3833289"/>
            <a:ext cx="3700462" cy="1617393"/>
            <a:chOff x="0" y="0"/>
            <a:chExt cx="4933950" cy="2156524"/>
          </a:xfrm>
        </p:grpSpPr>
        <p:sp>
          <p:nvSpPr>
            <p:cNvPr name="Freeform 28" id="28" descr="image.png"/>
            <p:cNvSpPr/>
            <p:nvPr/>
          </p:nvSpPr>
          <p:spPr>
            <a:xfrm flipH="false" flipV="false" rot="0">
              <a:off x="0" y="0"/>
              <a:ext cx="4933950" cy="2156460"/>
            </a:xfrm>
            <a:custGeom>
              <a:avLst/>
              <a:gdLst/>
              <a:ahLst/>
              <a:cxnLst/>
              <a:rect r="r" b="b" t="t" l="l"/>
              <a:pathLst>
                <a:path h="2156460" w="4933950">
                  <a:moveTo>
                    <a:pt x="0" y="0"/>
                  </a:moveTo>
                  <a:lnTo>
                    <a:pt x="4933950" y="0"/>
                  </a:lnTo>
                  <a:lnTo>
                    <a:pt x="4933950" y="2156460"/>
                  </a:lnTo>
                  <a:lnTo>
                    <a:pt x="0" y="2156460"/>
                  </a:lnTo>
                  <a:lnTo>
                    <a:pt x="0" y="0"/>
                  </a:lnTo>
                  <a:close/>
                </a:path>
              </a:pathLst>
            </a:custGeom>
            <a:blipFill>
              <a:blip r:embed="rId12"/>
              <a:stretch>
                <a:fillRect l="-732" t="0" r="-732" b="-2"/>
              </a:stretch>
            </a:blipFill>
          </p:spPr>
        </p:sp>
      </p:grpSp>
      <p:sp>
        <p:nvSpPr>
          <p:cNvPr name="TextBox 29" id="29"/>
          <p:cNvSpPr txBox="true"/>
          <p:nvPr/>
        </p:nvSpPr>
        <p:spPr>
          <a:xfrm rot="0">
            <a:off x="13687425" y="4052364"/>
            <a:ext cx="2914650" cy="238125"/>
          </a:xfrm>
          <a:prstGeom prst="rect">
            <a:avLst/>
          </a:prstGeom>
        </p:spPr>
        <p:txBody>
          <a:bodyPr anchor="t" rtlCol="false" tIns="0" lIns="0" bIns="0" rIns="0">
            <a:spAutoFit/>
          </a:bodyPr>
          <a:lstStyle/>
          <a:p>
            <a:pPr algn="l">
              <a:lnSpc>
                <a:spcPts val="1485"/>
              </a:lnSpc>
            </a:pPr>
            <a:r>
              <a:rPr lang="en-US" sz="1237" b="true">
                <a:solidFill>
                  <a:srgbClr val="047857"/>
                </a:solidFill>
                <a:latin typeface="Poppins Bold"/>
                <a:ea typeface="Poppins Bold"/>
                <a:cs typeface="Poppins Bold"/>
                <a:sym typeface="Poppins Bold"/>
              </a:rPr>
              <a:t>STATISTICAL: YES | PRACTICAL: YES</a:t>
            </a:r>
          </a:p>
        </p:txBody>
      </p:sp>
      <p:sp>
        <p:nvSpPr>
          <p:cNvPr name="TextBox 30" id="30"/>
          <p:cNvSpPr txBox="true"/>
          <p:nvPr/>
        </p:nvSpPr>
        <p:spPr>
          <a:xfrm rot="0">
            <a:off x="13654088" y="4300014"/>
            <a:ext cx="3138488" cy="419319"/>
          </a:xfrm>
          <a:prstGeom prst="rect">
            <a:avLst/>
          </a:prstGeom>
        </p:spPr>
        <p:txBody>
          <a:bodyPr anchor="t" rtlCol="false" tIns="0" lIns="0" bIns="0" rIns="0">
            <a:spAutoFit/>
          </a:bodyPr>
          <a:lstStyle/>
          <a:p>
            <a:pPr algn="l">
              <a:lnSpc>
                <a:spcPts val="2701"/>
              </a:lnSpc>
            </a:pPr>
            <a:r>
              <a:rPr lang="en-US" sz="1743" b="true">
                <a:solidFill>
                  <a:srgbClr val="047857"/>
                </a:solidFill>
                <a:latin typeface="Poppins Bold"/>
                <a:ea typeface="Poppins Bold"/>
                <a:cs typeface="Poppins Bold"/>
                <a:sym typeface="Poppins Bold"/>
              </a:rPr>
              <a:t>Clear Actionable Win</a:t>
            </a:r>
          </a:p>
        </p:txBody>
      </p:sp>
      <p:sp>
        <p:nvSpPr>
          <p:cNvPr name="TextBox 31" id="31"/>
          <p:cNvSpPr txBox="true"/>
          <p:nvPr/>
        </p:nvSpPr>
        <p:spPr>
          <a:xfrm rot="0">
            <a:off x="13687425" y="4662192"/>
            <a:ext cx="3300412" cy="588464"/>
          </a:xfrm>
          <a:prstGeom prst="rect">
            <a:avLst/>
          </a:prstGeom>
        </p:spPr>
        <p:txBody>
          <a:bodyPr anchor="t" rtlCol="false" tIns="0" lIns="0" bIns="0" rIns="0">
            <a:spAutoFit/>
          </a:bodyPr>
          <a:lstStyle/>
          <a:p>
            <a:pPr algn="l">
              <a:lnSpc>
                <a:spcPts val="2092"/>
              </a:lnSpc>
            </a:pPr>
            <a:r>
              <a:rPr lang="en-US" sz="1350">
                <a:solidFill>
                  <a:srgbClr val="065F46"/>
                </a:solidFill>
                <a:latin typeface="Poppins"/>
                <a:ea typeface="Poppins"/>
                <a:cs typeface="Poppins"/>
                <a:sym typeface="Poppins"/>
              </a:rPr>
              <a:t>Statistically sound &amp; highly profitable.</a:t>
            </a:r>
          </a:p>
        </p:txBody>
      </p:sp>
      <p:grpSp>
        <p:nvGrpSpPr>
          <p:cNvPr name="Group 32" id="32"/>
          <p:cNvGrpSpPr/>
          <p:nvPr/>
        </p:nvGrpSpPr>
        <p:grpSpPr>
          <a:xfrm rot="0">
            <a:off x="9644062" y="5593556"/>
            <a:ext cx="3700462" cy="1588818"/>
            <a:chOff x="0" y="0"/>
            <a:chExt cx="4933950" cy="2118424"/>
          </a:xfrm>
        </p:grpSpPr>
        <p:sp>
          <p:nvSpPr>
            <p:cNvPr name="Freeform 33" id="33" descr="image.png"/>
            <p:cNvSpPr/>
            <p:nvPr/>
          </p:nvSpPr>
          <p:spPr>
            <a:xfrm flipH="false" flipV="false" rot="0">
              <a:off x="0" y="0"/>
              <a:ext cx="4933950" cy="2118360"/>
            </a:xfrm>
            <a:custGeom>
              <a:avLst/>
              <a:gdLst/>
              <a:ahLst/>
              <a:cxnLst/>
              <a:rect r="r" b="b" t="t" l="l"/>
              <a:pathLst>
                <a:path h="2118360" w="4933950">
                  <a:moveTo>
                    <a:pt x="0" y="0"/>
                  </a:moveTo>
                  <a:lnTo>
                    <a:pt x="4933950" y="0"/>
                  </a:lnTo>
                  <a:lnTo>
                    <a:pt x="4933950" y="2118360"/>
                  </a:lnTo>
                  <a:lnTo>
                    <a:pt x="0" y="2118360"/>
                  </a:lnTo>
                  <a:lnTo>
                    <a:pt x="0" y="0"/>
                  </a:lnTo>
                  <a:close/>
                </a:path>
              </a:pathLst>
            </a:custGeom>
            <a:blipFill>
              <a:blip r:embed="rId13"/>
              <a:stretch>
                <a:fillRect l="0" t="-164" r="0" b="-167"/>
              </a:stretch>
            </a:blipFill>
          </p:spPr>
        </p:sp>
      </p:grpSp>
      <p:sp>
        <p:nvSpPr>
          <p:cNvPr name="TextBox 34" id="34"/>
          <p:cNvSpPr txBox="true"/>
          <p:nvPr/>
        </p:nvSpPr>
        <p:spPr>
          <a:xfrm rot="0">
            <a:off x="9829800" y="5798344"/>
            <a:ext cx="2828925" cy="238125"/>
          </a:xfrm>
          <a:prstGeom prst="rect">
            <a:avLst/>
          </a:prstGeom>
        </p:spPr>
        <p:txBody>
          <a:bodyPr anchor="t" rtlCol="false" tIns="0" lIns="0" bIns="0" rIns="0">
            <a:spAutoFit/>
          </a:bodyPr>
          <a:lstStyle/>
          <a:p>
            <a:pPr algn="l">
              <a:lnSpc>
                <a:spcPts val="1485"/>
              </a:lnSpc>
            </a:pPr>
            <a:r>
              <a:rPr lang="en-US" sz="1237" b="true">
                <a:solidFill>
                  <a:srgbClr val="475569"/>
                </a:solidFill>
                <a:latin typeface="Poppins Bold"/>
                <a:ea typeface="Poppins Bold"/>
                <a:cs typeface="Poppins Bold"/>
                <a:sym typeface="Poppins Bold"/>
              </a:rPr>
              <a:t>STATISTICAL: NO | PRACTICAL: NO</a:t>
            </a:r>
          </a:p>
        </p:txBody>
      </p:sp>
      <p:sp>
        <p:nvSpPr>
          <p:cNvPr name="TextBox 35" id="35"/>
          <p:cNvSpPr txBox="true"/>
          <p:nvPr/>
        </p:nvSpPr>
        <p:spPr>
          <a:xfrm rot="0">
            <a:off x="9829800" y="6045994"/>
            <a:ext cx="3328988" cy="419319"/>
          </a:xfrm>
          <a:prstGeom prst="rect">
            <a:avLst/>
          </a:prstGeom>
        </p:spPr>
        <p:txBody>
          <a:bodyPr anchor="t" rtlCol="false" tIns="0" lIns="0" bIns="0" rIns="0">
            <a:spAutoFit/>
          </a:bodyPr>
          <a:lstStyle/>
          <a:p>
            <a:pPr algn="l">
              <a:lnSpc>
                <a:spcPts val="2701"/>
              </a:lnSpc>
            </a:pPr>
            <a:r>
              <a:rPr lang="en-US" sz="1743">
                <a:solidFill>
                  <a:srgbClr val="475569"/>
                </a:solidFill>
                <a:latin typeface="Poppins"/>
                <a:ea typeface="Poppins"/>
                <a:cs typeface="Poppins"/>
                <a:sym typeface="Poppins"/>
              </a:rPr>
              <a:t>No Effect</a:t>
            </a:r>
          </a:p>
        </p:txBody>
      </p:sp>
      <p:sp>
        <p:nvSpPr>
          <p:cNvPr name="TextBox 36" id="36"/>
          <p:cNvSpPr txBox="true"/>
          <p:nvPr/>
        </p:nvSpPr>
        <p:spPr>
          <a:xfrm rot="0">
            <a:off x="9829800" y="6408163"/>
            <a:ext cx="3328988" cy="322812"/>
          </a:xfrm>
          <a:prstGeom prst="rect">
            <a:avLst/>
          </a:prstGeom>
        </p:spPr>
        <p:txBody>
          <a:bodyPr anchor="t" rtlCol="false" tIns="0" lIns="0" bIns="0" rIns="0">
            <a:spAutoFit/>
          </a:bodyPr>
          <a:lstStyle/>
          <a:p>
            <a:pPr algn="l">
              <a:lnSpc>
                <a:spcPts val="2092"/>
              </a:lnSpc>
            </a:pPr>
            <a:r>
              <a:rPr lang="en-US" sz="1350">
                <a:solidFill>
                  <a:srgbClr val="475569"/>
                </a:solidFill>
                <a:latin typeface="Poppins"/>
                <a:ea typeface="Poppins"/>
                <a:cs typeface="Poppins"/>
                <a:sym typeface="Poppins"/>
              </a:rPr>
              <a:t>Discard changes completely.</a:t>
            </a:r>
          </a:p>
        </p:txBody>
      </p:sp>
      <p:sp>
        <p:nvSpPr>
          <p:cNvPr name="TextBox 37" id="37"/>
          <p:cNvSpPr txBox="true"/>
          <p:nvPr/>
        </p:nvSpPr>
        <p:spPr>
          <a:xfrm rot="0">
            <a:off x="13673138" y="6045994"/>
            <a:ext cx="3328988" cy="419319"/>
          </a:xfrm>
          <a:prstGeom prst="rect">
            <a:avLst/>
          </a:prstGeom>
        </p:spPr>
        <p:txBody>
          <a:bodyPr anchor="t" rtlCol="false" tIns="0" lIns="0" bIns="0" rIns="0">
            <a:spAutoFit/>
          </a:bodyPr>
          <a:lstStyle/>
          <a:p>
            <a:pPr algn="l">
              <a:lnSpc>
                <a:spcPts val="2701"/>
              </a:lnSpc>
            </a:pPr>
            <a:r>
              <a:rPr lang="en-US" sz="1743">
                <a:solidFill>
                  <a:srgbClr val="2563EB"/>
                </a:solidFill>
                <a:latin typeface="Poppins"/>
                <a:ea typeface="Poppins"/>
                <a:cs typeface="Poppins"/>
                <a:sym typeface="Poppins"/>
              </a:rPr>
              <a:t>Promising Signal</a:t>
            </a:r>
          </a:p>
        </p:txBody>
      </p:sp>
      <p:sp>
        <p:nvSpPr>
          <p:cNvPr name="TextBox 38" id="38"/>
          <p:cNvSpPr txBox="true"/>
          <p:nvPr/>
        </p:nvSpPr>
        <p:spPr>
          <a:xfrm rot="0">
            <a:off x="13673138" y="5798344"/>
            <a:ext cx="2871788" cy="238125"/>
          </a:xfrm>
          <a:prstGeom prst="rect">
            <a:avLst/>
          </a:prstGeom>
        </p:spPr>
        <p:txBody>
          <a:bodyPr anchor="t" rtlCol="false" tIns="0" lIns="0" bIns="0" rIns="0">
            <a:spAutoFit/>
          </a:bodyPr>
          <a:lstStyle/>
          <a:p>
            <a:pPr algn="l">
              <a:lnSpc>
                <a:spcPts val="1485"/>
              </a:lnSpc>
            </a:pPr>
            <a:r>
              <a:rPr lang="en-US" sz="1237" b="true">
                <a:solidFill>
                  <a:srgbClr val="475569"/>
                </a:solidFill>
                <a:latin typeface="Poppins Bold"/>
                <a:ea typeface="Poppins Bold"/>
                <a:cs typeface="Poppins Bold"/>
                <a:sym typeface="Poppins Bold"/>
              </a:rPr>
              <a:t>STATISTICAL: NO | PRACTICAL: YES</a:t>
            </a:r>
          </a:p>
        </p:txBody>
      </p:sp>
      <p:sp>
        <p:nvSpPr>
          <p:cNvPr name="TextBox 39" id="39"/>
          <p:cNvSpPr txBox="true"/>
          <p:nvPr/>
        </p:nvSpPr>
        <p:spPr>
          <a:xfrm rot="0">
            <a:off x="13673138" y="6408163"/>
            <a:ext cx="3328988" cy="588464"/>
          </a:xfrm>
          <a:prstGeom prst="rect">
            <a:avLst/>
          </a:prstGeom>
        </p:spPr>
        <p:txBody>
          <a:bodyPr anchor="t" rtlCol="false" tIns="0" lIns="0" bIns="0" rIns="0">
            <a:spAutoFit/>
          </a:bodyPr>
          <a:lstStyle/>
          <a:p>
            <a:pPr algn="l">
              <a:lnSpc>
                <a:spcPts val="2092"/>
              </a:lnSpc>
            </a:pPr>
            <a:r>
              <a:rPr lang="en-US" sz="1350">
                <a:solidFill>
                  <a:srgbClr val="475569"/>
                </a:solidFill>
                <a:latin typeface="Poppins"/>
                <a:ea typeface="Poppins"/>
                <a:cs typeface="Poppins"/>
                <a:sym typeface="Poppins"/>
              </a:rPr>
              <a:t>Needs larger sample size before investing.</a:t>
            </a:r>
          </a:p>
        </p:txBody>
      </p:sp>
      <p:grpSp>
        <p:nvGrpSpPr>
          <p:cNvPr name="Group 40" id="40"/>
          <p:cNvGrpSpPr/>
          <p:nvPr/>
        </p:nvGrpSpPr>
        <p:grpSpPr>
          <a:xfrm rot="0">
            <a:off x="800100" y="5486171"/>
            <a:ext cx="8143875" cy="1768297"/>
            <a:chOff x="0" y="0"/>
            <a:chExt cx="10858500" cy="2357730"/>
          </a:xfrm>
        </p:grpSpPr>
        <p:sp>
          <p:nvSpPr>
            <p:cNvPr name="Freeform 41" id="41" descr="image.png"/>
            <p:cNvSpPr/>
            <p:nvPr/>
          </p:nvSpPr>
          <p:spPr>
            <a:xfrm flipH="false" flipV="false" rot="0">
              <a:off x="0" y="0"/>
              <a:ext cx="10858500" cy="2357755"/>
            </a:xfrm>
            <a:custGeom>
              <a:avLst/>
              <a:gdLst/>
              <a:ahLst/>
              <a:cxnLst/>
              <a:rect r="r" b="b" t="t" l="l"/>
              <a:pathLst>
                <a:path h="2357755" w="10858500">
                  <a:moveTo>
                    <a:pt x="0" y="0"/>
                  </a:moveTo>
                  <a:lnTo>
                    <a:pt x="10858500" y="0"/>
                  </a:lnTo>
                  <a:lnTo>
                    <a:pt x="10858500" y="2357755"/>
                  </a:lnTo>
                  <a:lnTo>
                    <a:pt x="0" y="2357755"/>
                  </a:lnTo>
                  <a:lnTo>
                    <a:pt x="0" y="0"/>
                  </a:lnTo>
                  <a:close/>
                </a:path>
              </a:pathLst>
            </a:custGeom>
            <a:blipFill>
              <a:blip r:embed="rId7"/>
              <a:stretch>
                <a:fillRect l="0" t="-498" r="0" b="-497"/>
              </a:stretch>
            </a:blipFill>
          </p:spPr>
        </p:sp>
      </p:grpSp>
      <p:sp>
        <p:nvSpPr>
          <p:cNvPr name="TextBox 42" id="42"/>
          <p:cNvSpPr txBox="true"/>
          <p:nvPr/>
        </p:nvSpPr>
        <p:spPr>
          <a:xfrm rot="0">
            <a:off x="1063466" y="5672047"/>
            <a:ext cx="7909084" cy="542925"/>
          </a:xfrm>
          <a:prstGeom prst="rect">
            <a:avLst/>
          </a:prstGeom>
        </p:spPr>
        <p:txBody>
          <a:bodyPr anchor="t" rtlCol="false" tIns="0" lIns="0" bIns="0" rIns="0">
            <a:spAutoFit/>
          </a:bodyPr>
          <a:lstStyle/>
          <a:p>
            <a:pPr algn="l">
              <a:lnSpc>
                <a:spcPts val="2025"/>
              </a:lnSpc>
            </a:pPr>
            <a:r>
              <a:rPr lang="en-US" sz="1687">
                <a:solidFill>
                  <a:srgbClr val="38BDF8"/>
                </a:solidFill>
                <a:latin typeface="Poppins"/>
                <a:ea typeface="Poppins"/>
                <a:cs typeface="Poppins"/>
                <a:sym typeface="Poppins"/>
              </a:rPr>
              <a:t>The prof</a:t>
            </a:r>
            <a:r>
              <a:rPr lang="en-US" sz="1687">
                <a:solidFill>
                  <a:srgbClr val="38BDF8"/>
                </a:solidFill>
                <a:latin typeface="Poppins"/>
                <a:ea typeface="Poppins"/>
                <a:cs typeface="Poppins"/>
                <a:sym typeface="Poppins"/>
              </a:rPr>
              <a:t>essional habit: always report two things together, never the p-value alone.</a:t>
            </a:r>
          </a:p>
        </p:txBody>
      </p:sp>
      <p:sp>
        <p:nvSpPr>
          <p:cNvPr name="TextBox 43" id="43"/>
          <p:cNvSpPr txBox="true"/>
          <p:nvPr/>
        </p:nvSpPr>
        <p:spPr>
          <a:xfrm rot="0">
            <a:off x="1101566" y="6188978"/>
            <a:ext cx="7686675" cy="1180261"/>
          </a:xfrm>
          <a:prstGeom prst="rect">
            <a:avLst/>
          </a:prstGeom>
        </p:spPr>
        <p:txBody>
          <a:bodyPr anchor="t" rtlCol="false" tIns="0" lIns="0" bIns="0" rIns="0">
            <a:spAutoFit/>
          </a:bodyPr>
          <a:lstStyle/>
          <a:p>
            <a:pPr algn="l" marL="327736" indent="-163868" lvl="1">
              <a:lnSpc>
                <a:spcPts val="2352"/>
              </a:lnSpc>
              <a:buFont typeface="Arial"/>
              <a:buChar char="•"/>
            </a:pPr>
            <a:r>
              <a:rPr lang="en-US" sz="1518">
                <a:solidFill>
                  <a:srgbClr val="FFFFFF"/>
                </a:solidFill>
                <a:latin typeface="Poppins"/>
                <a:ea typeface="Poppins"/>
                <a:cs typeface="Poppins"/>
                <a:sym typeface="Poppins"/>
              </a:rPr>
              <a:t>Is it statistically significant? (the p-value)</a:t>
            </a:r>
          </a:p>
          <a:p>
            <a:pPr algn="l" marL="327736" indent="-163868" lvl="1">
              <a:lnSpc>
                <a:spcPts val="2352"/>
              </a:lnSpc>
              <a:buFont typeface="Arial"/>
              <a:buChar char="•"/>
            </a:pPr>
            <a:r>
              <a:rPr lang="en-US" sz="1518">
                <a:solidFill>
                  <a:srgbClr val="FFFFFF"/>
                </a:solidFill>
                <a:latin typeface="Poppins"/>
                <a:ea typeface="Poppins"/>
                <a:cs typeface="Poppins"/>
                <a:sym typeface="Poppins"/>
              </a:rPr>
              <a:t>Is it practically significant? (the actual size of the difference, and whether that size is worth acting on, given the cost of acting)</a:t>
            </a:r>
          </a:p>
          <a:p>
            <a:pPr algn="l">
              <a:lnSpc>
                <a:spcPts val="2353"/>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13184535"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Aduke Stores (Ikeja Branch): Was it a win?</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800100" y="2878036"/>
            <a:ext cx="8143875" cy="4059431"/>
            <a:chOff x="0" y="0"/>
            <a:chExt cx="10858500" cy="5412575"/>
          </a:xfrm>
        </p:grpSpPr>
        <p:sp>
          <p:nvSpPr>
            <p:cNvPr name="Freeform 12" id="12" descr="image.png"/>
            <p:cNvSpPr/>
            <p:nvPr/>
          </p:nvSpPr>
          <p:spPr>
            <a:xfrm flipH="false" flipV="false" rot="0">
              <a:off x="0" y="0"/>
              <a:ext cx="10858500" cy="5412613"/>
            </a:xfrm>
            <a:custGeom>
              <a:avLst/>
              <a:gdLst/>
              <a:ahLst/>
              <a:cxnLst/>
              <a:rect r="r" b="b" t="t" l="l"/>
              <a:pathLst>
                <a:path h="5412613" w="10858500">
                  <a:moveTo>
                    <a:pt x="0" y="0"/>
                  </a:moveTo>
                  <a:lnTo>
                    <a:pt x="10858500" y="0"/>
                  </a:lnTo>
                  <a:lnTo>
                    <a:pt x="10858500" y="5412613"/>
                  </a:lnTo>
                  <a:lnTo>
                    <a:pt x="0" y="5412613"/>
                  </a:lnTo>
                  <a:lnTo>
                    <a:pt x="0" y="0"/>
                  </a:lnTo>
                  <a:close/>
                </a:path>
              </a:pathLst>
            </a:custGeom>
            <a:blipFill>
              <a:blip r:embed="rId9"/>
              <a:stretch>
                <a:fillRect l="0" t="-153" r="0" b="-153"/>
              </a:stretch>
            </a:blipFill>
          </p:spPr>
        </p:sp>
      </p:grpSp>
      <p:sp>
        <p:nvSpPr>
          <p:cNvPr name="TextBox 13" id="13"/>
          <p:cNvSpPr txBox="true"/>
          <p:nvPr/>
        </p:nvSpPr>
        <p:spPr>
          <a:xfrm rot="0">
            <a:off x="1071563" y="3139973"/>
            <a:ext cx="7980997" cy="381000"/>
          </a:xfrm>
          <a:prstGeom prst="rect">
            <a:avLst/>
          </a:prstGeom>
        </p:spPr>
        <p:txBody>
          <a:bodyPr anchor="t" rtlCol="false" tIns="0" lIns="0" bIns="0" rIns="0">
            <a:spAutoFit/>
          </a:bodyPr>
          <a:lstStyle/>
          <a:p>
            <a:pPr algn="l">
              <a:lnSpc>
                <a:spcPts val="2295"/>
              </a:lnSpc>
            </a:pPr>
            <a:r>
              <a:rPr lang="en-US" sz="1912">
                <a:solidFill>
                  <a:srgbClr val="20494A"/>
                </a:solidFill>
                <a:latin typeface="Poppins"/>
                <a:ea typeface="Poppins"/>
                <a:cs typeface="Poppins"/>
                <a:sym typeface="Poppins"/>
              </a:rPr>
              <a:t>4-Step Analysis Process</a:t>
            </a:r>
          </a:p>
        </p:txBody>
      </p:sp>
      <p:sp>
        <p:nvSpPr>
          <p:cNvPr name="TextBox 14" id="14"/>
          <p:cNvSpPr txBox="true"/>
          <p:nvPr/>
        </p:nvSpPr>
        <p:spPr>
          <a:xfrm rot="0">
            <a:off x="1214438" y="3654504"/>
            <a:ext cx="190500" cy="266700"/>
          </a:xfrm>
          <a:prstGeom prst="rect">
            <a:avLst/>
          </a:prstGeom>
        </p:spPr>
        <p:txBody>
          <a:bodyPr anchor="t" rtlCol="false" tIns="0" lIns="0" bIns="0" rIns="0">
            <a:spAutoFit/>
          </a:bodyPr>
          <a:lstStyle/>
          <a:p>
            <a:pPr algn="l">
              <a:lnSpc>
                <a:spcPts val="2091"/>
              </a:lnSpc>
            </a:pPr>
            <a:r>
              <a:rPr lang="en-US" sz="1743">
                <a:solidFill>
                  <a:srgbClr val="475569"/>
                </a:solidFill>
                <a:latin typeface="Poppins"/>
                <a:ea typeface="Poppins"/>
                <a:cs typeface="Poppins"/>
                <a:sym typeface="Poppins"/>
              </a:rPr>
              <a:t>1.</a:t>
            </a:r>
          </a:p>
        </p:txBody>
      </p:sp>
      <p:sp>
        <p:nvSpPr>
          <p:cNvPr name="TextBox 15" id="15"/>
          <p:cNvSpPr txBox="true"/>
          <p:nvPr/>
        </p:nvSpPr>
        <p:spPr>
          <a:xfrm rot="0">
            <a:off x="1157288" y="4769596"/>
            <a:ext cx="247650" cy="266700"/>
          </a:xfrm>
          <a:prstGeom prst="rect">
            <a:avLst/>
          </a:prstGeom>
        </p:spPr>
        <p:txBody>
          <a:bodyPr anchor="t" rtlCol="false" tIns="0" lIns="0" bIns="0" rIns="0">
            <a:spAutoFit/>
          </a:bodyPr>
          <a:lstStyle/>
          <a:p>
            <a:pPr algn="l">
              <a:lnSpc>
                <a:spcPts val="2091"/>
              </a:lnSpc>
            </a:pPr>
            <a:r>
              <a:rPr lang="en-US" sz="1743">
                <a:solidFill>
                  <a:srgbClr val="475569"/>
                </a:solidFill>
                <a:latin typeface="Poppins"/>
                <a:ea typeface="Poppins"/>
                <a:cs typeface="Poppins"/>
                <a:sym typeface="Poppins"/>
              </a:rPr>
              <a:t>2.</a:t>
            </a:r>
          </a:p>
        </p:txBody>
      </p:sp>
      <p:sp>
        <p:nvSpPr>
          <p:cNvPr name="TextBox 16" id="16"/>
          <p:cNvSpPr txBox="true"/>
          <p:nvPr/>
        </p:nvSpPr>
        <p:spPr>
          <a:xfrm rot="0">
            <a:off x="1157288" y="5541569"/>
            <a:ext cx="247650" cy="266700"/>
          </a:xfrm>
          <a:prstGeom prst="rect">
            <a:avLst/>
          </a:prstGeom>
        </p:spPr>
        <p:txBody>
          <a:bodyPr anchor="t" rtlCol="false" tIns="0" lIns="0" bIns="0" rIns="0">
            <a:spAutoFit/>
          </a:bodyPr>
          <a:lstStyle/>
          <a:p>
            <a:pPr algn="l">
              <a:lnSpc>
                <a:spcPts val="2091"/>
              </a:lnSpc>
            </a:pPr>
            <a:r>
              <a:rPr lang="en-US" sz="1743">
                <a:solidFill>
                  <a:srgbClr val="475569"/>
                </a:solidFill>
                <a:latin typeface="Poppins"/>
                <a:ea typeface="Poppins"/>
                <a:cs typeface="Poppins"/>
                <a:sym typeface="Poppins"/>
              </a:rPr>
              <a:t>3.</a:t>
            </a:r>
          </a:p>
        </p:txBody>
      </p:sp>
      <p:sp>
        <p:nvSpPr>
          <p:cNvPr name="TextBox 17" id="17"/>
          <p:cNvSpPr txBox="true"/>
          <p:nvPr/>
        </p:nvSpPr>
        <p:spPr>
          <a:xfrm rot="0">
            <a:off x="1128712" y="6313541"/>
            <a:ext cx="200025" cy="352425"/>
          </a:xfrm>
          <a:prstGeom prst="rect">
            <a:avLst/>
          </a:prstGeom>
        </p:spPr>
        <p:txBody>
          <a:bodyPr anchor="t" rtlCol="false" tIns="0" lIns="0" bIns="0" rIns="0">
            <a:spAutoFit/>
          </a:bodyPr>
          <a:lstStyle/>
          <a:p>
            <a:pPr algn="l">
              <a:lnSpc>
                <a:spcPts val="2091"/>
              </a:lnSpc>
            </a:pPr>
            <a:r>
              <a:rPr lang="en-US" sz="1743">
                <a:solidFill>
                  <a:srgbClr val="475569"/>
                </a:solidFill>
                <a:latin typeface="Poppins"/>
                <a:ea typeface="Poppins"/>
                <a:cs typeface="Poppins"/>
                <a:sym typeface="Poppins"/>
              </a:rPr>
              <a:t>4.</a:t>
            </a:r>
          </a:p>
        </p:txBody>
      </p:sp>
      <p:sp>
        <p:nvSpPr>
          <p:cNvPr name="TextBox 18" id="18"/>
          <p:cNvSpPr txBox="true"/>
          <p:nvPr/>
        </p:nvSpPr>
        <p:spPr>
          <a:xfrm rot="0">
            <a:off x="1404938" y="3587648"/>
            <a:ext cx="7267575" cy="1027444"/>
          </a:xfrm>
          <a:prstGeom prst="rect">
            <a:avLst/>
          </a:prstGeom>
        </p:spPr>
        <p:txBody>
          <a:bodyPr anchor="t" rtlCol="false" tIns="0" lIns="0" bIns="0" rIns="0">
            <a:spAutoFit/>
          </a:bodyPr>
          <a:lstStyle/>
          <a:p>
            <a:pPr algn="l">
              <a:lnSpc>
                <a:spcPts val="2701"/>
              </a:lnSpc>
            </a:pPr>
            <a:r>
              <a:rPr lang="en-US" sz="1743">
                <a:solidFill>
                  <a:srgbClr val="0A1A23"/>
                </a:solidFill>
                <a:latin typeface="Poppins"/>
                <a:ea typeface="Poppins"/>
                <a:cs typeface="Poppins"/>
                <a:sym typeface="Poppins"/>
              </a:rPr>
              <a:t>State Hypotheses:</a:t>
            </a:r>
          </a:p>
          <a:p>
            <a:pPr algn="l">
              <a:lnSpc>
                <a:spcPts val="2701"/>
              </a:lnSpc>
            </a:pPr>
            <a:r>
              <a:rPr lang="en-US" sz="1743">
                <a:solidFill>
                  <a:srgbClr val="475569"/>
                </a:solidFill>
                <a:latin typeface="Poppins"/>
                <a:ea typeface="Poppins"/>
                <a:cs typeface="Poppins"/>
                <a:sym typeface="Poppins"/>
              </a:rPr>
              <a:t> H₀: Daily sales equal before &amp; after.</a:t>
            </a:r>
          </a:p>
          <a:p>
            <a:pPr algn="l">
              <a:lnSpc>
                <a:spcPts val="2701"/>
              </a:lnSpc>
            </a:pPr>
            <a:r>
              <a:rPr lang="en-US" sz="1743">
                <a:solidFill>
                  <a:srgbClr val="475569"/>
                </a:solidFill>
                <a:latin typeface="Poppins"/>
                <a:ea typeface="Poppins"/>
                <a:cs typeface="Poppins"/>
                <a:sym typeface="Poppins"/>
              </a:rPr>
              <a:t> H₁: Daily sales differ before &amp; after.</a:t>
            </a:r>
          </a:p>
        </p:txBody>
      </p:sp>
      <p:sp>
        <p:nvSpPr>
          <p:cNvPr name="TextBox 19" id="19"/>
          <p:cNvSpPr txBox="true"/>
          <p:nvPr/>
        </p:nvSpPr>
        <p:spPr>
          <a:xfrm rot="0">
            <a:off x="1443038" y="4702740"/>
            <a:ext cx="7229475" cy="762448"/>
          </a:xfrm>
          <a:prstGeom prst="rect">
            <a:avLst/>
          </a:prstGeom>
        </p:spPr>
        <p:txBody>
          <a:bodyPr anchor="t" rtlCol="false" tIns="0" lIns="0" bIns="0" rIns="0">
            <a:spAutoFit/>
          </a:bodyPr>
          <a:lstStyle/>
          <a:p>
            <a:pPr algn="l">
              <a:lnSpc>
                <a:spcPts val="2701"/>
              </a:lnSpc>
            </a:pPr>
            <a:r>
              <a:rPr lang="en-US" sz="1743">
                <a:solidFill>
                  <a:srgbClr val="0A1A23"/>
                </a:solidFill>
                <a:latin typeface="Poppins"/>
                <a:ea typeface="Poppins"/>
                <a:cs typeface="Poppins"/>
                <a:sym typeface="Poppins"/>
              </a:rPr>
              <a:t>Examine Means:</a:t>
            </a:r>
          </a:p>
          <a:p>
            <a:pPr algn="l">
              <a:lnSpc>
                <a:spcPts val="2701"/>
              </a:lnSpc>
            </a:pPr>
            <a:r>
              <a:rPr lang="en-US" sz="1743">
                <a:solidFill>
                  <a:srgbClr val="475569"/>
                </a:solidFill>
                <a:latin typeface="Poppins"/>
                <a:ea typeface="Poppins"/>
                <a:cs typeface="Poppins"/>
                <a:sym typeface="Poppins"/>
              </a:rPr>
              <a:t> Before: ₦283,100 | After: ₦322,590 (+14% jump).</a:t>
            </a:r>
          </a:p>
        </p:txBody>
      </p:sp>
      <p:sp>
        <p:nvSpPr>
          <p:cNvPr name="TextBox 20" id="20"/>
          <p:cNvSpPr txBox="true"/>
          <p:nvPr/>
        </p:nvSpPr>
        <p:spPr>
          <a:xfrm rot="0">
            <a:off x="1443038" y="5474713"/>
            <a:ext cx="7229475" cy="762448"/>
          </a:xfrm>
          <a:prstGeom prst="rect">
            <a:avLst/>
          </a:prstGeom>
        </p:spPr>
        <p:txBody>
          <a:bodyPr anchor="t" rtlCol="false" tIns="0" lIns="0" bIns="0" rIns="0">
            <a:spAutoFit/>
          </a:bodyPr>
          <a:lstStyle/>
          <a:p>
            <a:pPr algn="l">
              <a:lnSpc>
                <a:spcPts val="2701"/>
              </a:lnSpc>
            </a:pPr>
            <a:r>
              <a:rPr lang="en-US" sz="1743">
                <a:solidFill>
                  <a:srgbClr val="0A1A23"/>
                </a:solidFill>
                <a:latin typeface="Poppins"/>
                <a:ea typeface="Poppins"/>
                <a:cs typeface="Poppins"/>
                <a:sym typeface="Poppins"/>
              </a:rPr>
              <a:t>Calculate in Excel:</a:t>
            </a:r>
          </a:p>
          <a:p>
            <a:pPr algn="l">
              <a:lnSpc>
                <a:spcPts val="2701"/>
              </a:lnSpc>
            </a:pPr>
            <a:r>
              <a:rPr lang="en-US" sz="1743">
                <a:solidFill>
                  <a:srgbClr val="475569"/>
                </a:solidFill>
                <a:latin typeface="Poppins"/>
                <a:ea typeface="Poppins"/>
                <a:cs typeface="Poppins"/>
                <a:sym typeface="Poppins"/>
              </a:rPr>
              <a:t> `=T.TEST(B6:B25, E6:E25, 2, 3)`</a:t>
            </a:r>
          </a:p>
        </p:txBody>
      </p:sp>
      <p:sp>
        <p:nvSpPr>
          <p:cNvPr name="TextBox 21" id="21"/>
          <p:cNvSpPr txBox="true"/>
          <p:nvPr/>
        </p:nvSpPr>
        <p:spPr>
          <a:xfrm rot="0">
            <a:off x="1462088" y="6246686"/>
            <a:ext cx="7210425" cy="419319"/>
          </a:xfrm>
          <a:prstGeom prst="rect">
            <a:avLst/>
          </a:prstGeom>
        </p:spPr>
        <p:txBody>
          <a:bodyPr anchor="t" rtlCol="false" tIns="0" lIns="0" bIns="0" rIns="0">
            <a:spAutoFit/>
          </a:bodyPr>
          <a:lstStyle/>
          <a:p>
            <a:pPr algn="l">
              <a:lnSpc>
                <a:spcPts val="2701"/>
              </a:lnSpc>
            </a:pPr>
            <a:r>
              <a:rPr lang="en-US" sz="1743">
                <a:solidFill>
                  <a:srgbClr val="0A1A23"/>
                </a:solidFill>
                <a:latin typeface="Poppins"/>
                <a:ea typeface="Poppins"/>
                <a:cs typeface="Poppins"/>
                <a:sym typeface="Poppins"/>
              </a:rPr>
              <a:t>Result:</a:t>
            </a:r>
          </a:p>
        </p:txBody>
      </p:sp>
      <p:grpSp>
        <p:nvGrpSpPr>
          <p:cNvPr name="Group 22" id="22"/>
          <p:cNvGrpSpPr/>
          <p:nvPr/>
        </p:nvGrpSpPr>
        <p:grpSpPr>
          <a:xfrm rot="0">
            <a:off x="2224088" y="6237160"/>
            <a:ext cx="1307525" cy="357188"/>
            <a:chOff x="0" y="0"/>
            <a:chExt cx="1743367" cy="476250"/>
          </a:xfrm>
        </p:grpSpPr>
        <p:sp>
          <p:nvSpPr>
            <p:cNvPr name="Freeform 23" id="23" descr="image.png"/>
            <p:cNvSpPr/>
            <p:nvPr/>
          </p:nvSpPr>
          <p:spPr>
            <a:xfrm flipH="false" flipV="false" rot="0">
              <a:off x="0" y="0"/>
              <a:ext cx="1743329" cy="476250"/>
            </a:xfrm>
            <a:custGeom>
              <a:avLst/>
              <a:gdLst/>
              <a:ahLst/>
              <a:cxnLst/>
              <a:rect r="r" b="b" t="t" l="l"/>
              <a:pathLst>
                <a:path h="476250" w="1743329">
                  <a:moveTo>
                    <a:pt x="0" y="0"/>
                  </a:moveTo>
                  <a:lnTo>
                    <a:pt x="1743329" y="0"/>
                  </a:lnTo>
                  <a:lnTo>
                    <a:pt x="1743329" y="476250"/>
                  </a:lnTo>
                  <a:lnTo>
                    <a:pt x="0" y="476250"/>
                  </a:lnTo>
                  <a:lnTo>
                    <a:pt x="0" y="0"/>
                  </a:lnTo>
                  <a:close/>
                </a:path>
              </a:pathLst>
            </a:custGeom>
            <a:blipFill>
              <a:blip r:embed="rId10"/>
              <a:stretch>
                <a:fillRect l="0" t="-1725" r="-2" b="-1728"/>
              </a:stretch>
            </a:blipFill>
          </p:spPr>
        </p:sp>
      </p:grpSp>
      <p:grpSp>
        <p:nvGrpSpPr>
          <p:cNvPr name="Group 24" id="24"/>
          <p:cNvGrpSpPr/>
          <p:nvPr/>
        </p:nvGrpSpPr>
        <p:grpSpPr>
          <a:xfrm rot="0">
            <a:off x="9344025" y="2878036"/>
            <a:ext cx="8143875" cy="4059431"/>
            <a:chOff x="0" y="0"/>
            <a:chExt cx="10858500" cy="5412575"/>
          </a:xfrm>
        </p:grpSpPr>
        <p:sp>
          <p:nvSpPr>
            <p:cNvPr name="Freeform 25" id="25" descr="image.png"/>
            <p:cNvSpPr/>
            <p:nvPr/>
          </p:nvSpPr>
          <p:spPr>
            <a:xfrm flipH="false" flipV="false" rot="0">
              <a:off x="0" y="0"/>
              <a:ext cx="10858500" cy="5412613"/>
            </a:xfrm>
            <a:custGeom>
              <a:avLst/>
              <a:gdLst/>
              <a:ahLst/>
              <a:cxnLst/>
              <a:rect r="r" b="b" t="t" l="l"/>
              <a:pathLst>
                <a:path h="5412613" w="10858500">
                  <a:moveTo>
                    <a:pt x="0" y="0"/>
                  </a:moveTo>
                  <a:lnTo>
                    <a:pt x="10858500" y="0"/>
                  </a:lnTo>
                  <a:lnTo>
                    <a:pt x="10858500" y="5412613"/>
                  </a:lnTo>
                  <a:lnTo>
                    <a:pt x="0" y="5412613"/>
                  </a:lnTo>
                  <a:lnTo>
                    <a:pt x="0" y="0"/>
                  </a:lnTo>
                  <a:close/>
                </a:path>
              </a:pathLst>
            </a:custGeom>
            <a:blipFill>
              <a:blip r:embed="rId11"/>
              <a:stretch>
                <a:fillRect l="0" t="-153" r="0" b="-153"/>
              </a:stretch>
            </a:blipFill>
          </p:spPr>
        </p:sp>
      </p:grpSp>
      <p:sp>
        <p:nvSpPr>
          <p:cNvPr name="TextBox 26" id="26"/>
          <p:cNvSpPr txBox="true"/>
          <p:nvPr/>
        </p:nvSpPr>
        <p:spPr>
          <a:xfrm rot="0">
            <a:off x="9777412" y="3139973"/>
            <a:ext cx="7819072" cy="381000"/>
          </a:xfrm>
          <a:prstGeom prst="rect">
            <a:avLst/>
          </a:prstGeom>
        </p:spPr>
        <p:txBody>
          <a:bodyPr anchor="t" rtlCol="false" tIns="0" lIns="0" bIns="0" rIns="0">
            <a:spAutoFit/>
          </a:bodyPr>
          <a:lstStyle/>
          <a:p>
            <a:pPr algn="l">
              <a:lnSpc>
                <a:spcPts val="2295"/>
              </a:lnSpc>
            </a:pPr>
            <a:r>
              <a:rPr lang="en-US" sz="1912">
                <a:solidFill>
                  <a:srgbClr val="20494A"/>
                </a:solidFill>
                <a:latin typeface="Poppins"/>
                <a:ea typeface="Poppins"/>
                <a:cs typeface="Poppins"/>
                <a:sym typeface="Poppins"/>
              </a:rPr>
              <a:t>Interpretation &amp; Decision</a:t>
            </a:r>
          </a:p>
        </p:txBody>
      </p:sp>
      <p:sp>
        <p:nvSpPr>
          <p:cNvPr name="TextBox 27" id="27"/>
          <p:cNvSpPr txBox="true"/>
          <p:nvPr/>
        </p:nvSpPr>
        <p:spPr>
          <a:xfrm rot="0">
            <a:off x="9615488" y="3597173"/>
            <a:ext cx="7600950" cy="376533"/>
          </a:xfrm>
          <a:prstGeom prst="rect">
            <a:avLst/>
          </a:prstGeom>
        </p:spPr>
        <p:txBody>
          <a:bodyPr anchor="t" rtlCol="false" tIns="0" lIns="0" bIns="0" rIns="0">
            <a:spAutoFit/>
          </a:bodyPr>
          <a:lstStyle/>
          <a:p>
            <a:pPr algn="l">
              <a:lnSpc>
                <a:spcPts val="2440"/>
              </a:lnSpc>
            </a:pPr>
            <a:r>
              <a:rPr lang="en-US" sz="1575">
                <a:solidFill>
                  <a:srgbClr val="475569"/>
                </a:solidFill>
                <a:latin typeface="Poppins"/>
                <a:ea typeface="Poppins"/>
                <a:cs typeface="Poppins"/>
                <a:sym typeface="Poppins"/>
              </a:rPr>
              <a:t>Since $p = 0.0003 &lt; 0.05$, the result is </a:t>
            </a:r>
            <a:r>
              <a:rPr lang="en-US" sz="1575">
                <a:solidFill>
                  <a:srgbClr val="0A1A23"/>
                </a:solidFill>
                <a:latin typeface="Poppins"/>
                <a:ea typeface="Poppins"/>
                <a:cs typeface="Poppins"/>
                <a:sym typeface="Poppins"/>
              </a:rPr>
              <a:t>statistically significant</a:t>
            </a:r>
            <a:r>
              <a:rPr lang="en-US" sz="1575">
                <a:solidFill>
                  <a:srgbClr val="475569"/>
                </a:solidFill>
                <a:latin typeface="Poppins"/>
                <a:ea typeface="Poppins"/>
                <a:cs typeface="Poppins"/>
                <a:sym typeface="Poppins"/>
              </a:rPr>
              <a:t>.</a:t>
            </a:r>
          </a:p>
        </p:txBody>
      </p:sp>
      <p:sp>
        <p:nvSpPr>
          <p:cNvPr name="TextBox 28" id="28"/>
          <p:cNvSpPr txBox="true"/>
          <p:nvPr/>
        </p:nvSpPr>
        <p:spPr>
          <a:xfrm rot="0">
            <a:off x="9615488" y="4049906"/>
            <a:ext cx="7600950" cy="686391"/>
          </a:xfrm>
          <a:prstGeom prst="rect">
            <a:avLst/>
          </a:prstGeom>
        </p:spPr>
        <p:txBody>
          <a:bodyPr anchor="t" rtlCol="false" tIns="0" lIns="0" bIns="0" rIns="0">
            <a:spAutoFit/>
          </a:bodyPr>
          <a:lstStyle/>
          <a:p>
            <a:pPr algn="l">
              <a:lnSpc>
                <a:spcPts val="2440"/>
              </a:lnSpc>
            </a:pPr>
            <a:r>
              <a:rPr lang="en-US" sz="1575">
                <a:solidFill>
                  <a:srgbClr val="475569"/>
                </a:solidFill>
                <a:latin typeface="Poppins"/>
                <a:ea typeface="Poppins"/>
                <a:cs typeface="Poppins"/>
                <a:sym typeface="Poppins"/>
              </a:rPr>
              <a:t>Combined with a substantial +14% mean increase, this represents genuine sales growth rather than random noise.</a:t>
            </a:r>
          </a:p>
        </p:txBody>
      </p:sp>
      <p:grpSp>
        <p:nvGrpSpPr>
          <p:cNvPr name="Group 29" id="29"/>
          <p:cNvGrpSpPr/>
          <p:nvPr/>
        </p:nvGrpSpPr>
        <p:grpSpPr>
          <a:xfrm rot="0">
            <a:off x="9615488" y="5424564"/>
            <a:ext cx="7600950" cy="1241450"/>
            <a:chOff x="0" y="0"/>
            <a:chExt cx="10134600" cy="1655267"/>
          </a:xfrm>
        </p:grpSpPr>
        <p:sp>
          <p:nvSpPr>
            <p:cNvPr name="Freeform 30" id="30" descr="image.png"/>
            <p:cNvSpPr/>
            <p:nvPr/>
          </p:nvSpPr>
          <p:spPr>
            <a:xfrm flipH="false" flipV="false" rot="0">
              <a:off x="0" y="0"/>
              <a:ext cx="10134600" cy="1655318"/>
            </a:xfrm>
            <a:custGeom>
              <a:avLst/>
              <a:gdLst/>
              <a:ahLst/>
              <a:cxnLst/>
              <a:rect r="r" b="b" t="t" l="l"/>
              <a:pathLst>
                <a:path h="1655318" w="10134600">
                  <a:moveTo>
                    <a:pt x="0" y="0"/>
                  </a:moveTo>
                  <a:lnTo>
                    <a:pt x="10134600" y="0"/>
                  </a:lnTo>
                  <a:lnTo>
                    <a:pt x="10134600" y="1655318"/>
                  </a:lnTo>
                  <a:lnTo>
                    <a:pt x="0" y="1655318"/>
                  </a:lnTo>
                  <a:lnTo>
                    <a:pt x="0" y="0"/>
                  </a:lnTo>
                  <a:close/>
                </a:path>
              </a:pathLst>
            </a:custGeom>
            <a:blipFill>
              <a:blip r:embed="rId12"/>
              <a:stretch>
                <a:fillRect l="0" t="-448" r="0" b="-445"/>
              </a:stretch>
            </a:blipFill>
          </p:spPr>
        </p:sp>
      </p:grpSp>
      <p:sp>
        <p:nvSpPr>
          <p:cNvPr name="TextBox 31" id="31"/>
          <p:cNvSpPr txBox="true"/>
          <p:nvPr/>
        </p:nvSpPr>
        <p:spPr>
          <a:xfrm rot="0">
            <a:off x="9801225" y="5553151"/>
            <a:ext cx="7229475" cy="344910"/>
          </a:xfrm>
          <a:prstGeom prst="rect">
            <a:avLst/>
          </a:prstGeom>
        </p:spPr>
        <p:txBody>
          <a:bodyPr anchor="t" rtlCol="false" tIns="0" lIns="0" bIns="0" rIns="0">
            <a:spAutoFit/>
          </a:bodyPr>
          <a:lstStyle/>
          <a:p>
            <a:pPr algn="l">
              <a:lnSpc>
                <a:spcPts val="2266"/>
              </a:lnSpc>
            </a:pPr>
            <a:r>
              <a:rPr lang="en-US" sz="1462">
                <a:solidFill>
                  <a:srgbClr val="0A1A23"/>
                </a:solidFill>
                <a:latin typeface="Poppins"/>
                <a:ea typeface="Poppins"/>
                <a:cs typeface="Poppins"/>
                <a:sym typeface="Poppins"/>
              </a:rPr>
              <a:t>Business Recommendation:</a:t>
            </a:r>
          </a:p>
        </p:txBody>
      </p:sp>
      <p:sp>
        <p:nvSpPr>
          <p:cNvPr name="TextBox 32" id="32"/>
          <p:cNvSpPr txBox="true"/>
          <p:nvPr/>
        </p:nvSpPr>
        <p:spPr>
          <a:xfrm rot="0">
            <a:off x="9801225" y="5859961"/>
            <a:ext cx="7229475" cy="620316"/>
          </a:xfrm>
          <a:prstGeom prst="rect">
            <a:avLst/>
          </a:prstGeom>
        </p:spPr>
        <p:txBody>
          <a:bodyPr anchor="t" rtlCol="false" tIns="0" lIns="0" bIns="0" rIns="0">
            <a:spAutoFit/>
          </a:bodyPr>
          <a:lstStyle/>
          <a:p>
            <a:pPr algn="l">
              <a:lnSpc>
                <a:spcPts val="2179"/>
              </a:lnSpc>
            </a:pPr>
            <a:r>
              <a:rPr lang="en-US" sz="1405">
                <a:solidFill>
                  <a:srgbClr val="475569"/>
                </a:solidFill>
                <a:latin typeface="Poppins"/>
                <a:ea typeface="Poppins"/>
                <a:cs typeface="Poppins"/>
                <a:sym typeface="Poppins"/>
              </a:rPr>
              <a:t>"The pilot shows a statistically significant and meaningful increase in daily sales at Ikeja branch. Recommend testing at further branches."</a:t>
            </a:r>
          </a:p>
        </p:txBody>
      </p:sp>
      <p:sp>
        <p:nvSpPr>
          <p:cNvPr name="TextBox 33" id="33"/>
          <p:cNvSpPr txBox="true"/>
          <p:nvPr/>
        </p:nvSpPr>
        <p:spPr>
          <a:xfrm rot="0">
            <a:off x="874886" y="2226511"/>
            <a:ext cx="14656594" cy="356250"/>
          </a:xfrm>
          <a:prstGeom prst="rect">
            <a:avLst/>
          </a:prstGeom>
        </p:spPr>
        <p:txBody>
          <a:bodyPr anchor="t" rtlCol="false" tIns="0" lIns="0" bIns="0" rIns="0">
            <a:spAutoFit/>
          </a:bodyPr>
          <a:lstStyle/>
          <a:p>
            <a:pPr algn="ctr">
              <a:lnSpc>
                <a:spcPts val="2856"/>
              </a:lnSpc>
              <a:spcBef>
                <a:spcPct val="0"/>
              </a:spcBef>
            </a:pPr>
            <a:r>
              <a:rPr lang="en-US" sz="1842">
                <a:solidFill>
                  <a:srgbClr val="000000"/>
                </a:solidFill>
                <a:latin typeface="Poppins"/>
                <a:ea typeface="Poppins"/>
                <a:cs typeface="Poppins"/>
                <a:sym typeface="Poppins"/>
              </a:rPr>
              <a:t>Dataset: 20 days </a:t>
            </a:r>
            <a:r>
              <a:rPr lang="en-US" sz="1842">
                <a:solidFill>
                  <a:srgbClr val="000000"/>
                </a:solidFill>
                <a:latin typeface="Poppins"/>
                <a:ea typeface="Poppins"/>
                <a:cs typeface="Poppins"/>
                <a:sym typeface="Poppins"/>
              </a:rPr>
              <a:t>of daily sales before the checkout lane pilot (October 2025), and 20 days after it launched (November 2025).</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TextBox 7" id="7"/>
          <p:cNvSpPr txBox="true"/>
          <p:nvPr/>
        </p:nvSpPr>
        <p:spPr>
          <a:xfrm rot="0">
            <a:off x="1143000" y="762000"/>
            <a:ext cx="12255698"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Your</a:t>
            </a:r>
            <a:r>
              <a:rPr lang="en-US" sz="5000">
                <a:solidFill>
                  <a:srgbClr val="388080"/>
                </a:solidFill>
                <a:latin typeface="Poppins"/>
                <a:ea typeface="Poppins"/>
                <a:cs typeface="Poppins"/>
                <a:sym typeface="Poppins"/>
              </a:rPr>
              <a:t> Turn: Did the Yaba Pilot Work Too?</a:t>
            </a:r>
          </a:p>
        </p:txBody>
      </p:sp>
      <p:grpSp>
        <p:nvGrpSpPr>
          <p:cNvPr name="Group 8" id="8"/>
          <p:cNvGrpSpPr/>
          <p:nvPr/>
        </p:nvGrpSpPr>
        <p:grpSpPr>
          <a:xfrm rot="0">
            <a:off x="16497824" y="8924125"/>
            <a:ext cx="647224" cy="571500"/>
            <a:chOff x="0" y="0"/>
            <a:chExt cx="862965" cy="762000"/>
          </a:xfrm>
        </p:grpSpPr>
        <p:sp>
          <p:nvSpPr>
            <p:cNvPr name="Freeform 9" id="9"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6"/>
              <a:stretch>
                <a:fillRect l="-772" t="0" r="-772" b="0"/>
              </a:stretch>
            </a:blipFill>
          </p:spPr>
        </p:sp>
      </p:grpSp>
      <p:grpSp>
        <p:nvGrpSpPr>
          <p:cNvPr name="Group 10" id="10"/>
          <p:cNvGrpSpPr/>
          <p:nvPr/>
        </p:nvGrpSpPr>
        <p:grpSpPr>
          <a:xfrm rot="0">
            <a:off x="800100" y="2628233"/>
            <a:ext cx="8143875" cy="4559046"/>
            <a:chOff x="0" y="0"/>
            <a:chExt cx="10858500" cy="6078728"/>
          </a:xfrm>
        </p:grpSpPr>
        <p:sp>
          <p:nvSpPr>
            <p:cNvPr name="Freeform 11" id="11" descr="image.png"/>
            <p:cNvSpPr/>
            <p:nvPr/>
          </p:nvSpPr>
          <p:spPr>
            <a:xfrm flipH="false" flipV="false" rot="0">
              <a:off x="0" y="0"/>
              <a:ext cx="10858500" cy="6078728"/>
            </a:xfrm>
            <a:custGeom>
              <a:avLst/>
              <a:gdLst/>
              <a:ahLst/>
              <a:cxnLst/>
              <a:rect r="r" b="b" t="t" l="l"/>
              <a:pathLst>
                <a:path h="6078728" w="10858500">
                  <a:moveTo>
                    <a:pt x="0" y="0"/>
                  </a:moveTo>
                  <a:lnTo>
                    <a:pt x="10858500" y="0"/>
                  </a:lnTo>
                  <a:lnTo>
                    <a:pt x="10858500" y="6078728"/>
                  </a:lnTo>
                  <a:lnTo>
                    <a:pt x="0" y="6078728"/>
                  </a:lnTo>
                  <a:lnTo>
                    <a:pt x="0" y="0"/>
                  </a:lnTo>
                  <a:close/>
                </a:path>
              </a:pathLst>
            </a:custGeom>
            <a:blipFill>
              <a:blip r:embed="rId7"/>
              <a:stretch>
                <a:fillRect l="0" t="-298" r="0" b="-298"/>
              </a:stretch>
            </a:blipFill>
          </p:spPr>
        </p:sp>
      </p:grpSp>
      <p:grpSp>
        <p:nvGrpSpPr>
          <p:cNvPr name="Group 12" id="12"/>
          <p:cNvGrpSpPr/>
          <p:nvPr/>
        </p:nvGrpSpPr>
        <p:grpSpPr>
          <a:xfrm rot="0">
            <a:off x="1128712" y="2956846"/>
            <a:ext cx="7486650" cy="400050"/>
            <a:chOff x="0" y="0"/>
            <a:chExt cx="9982200" cy="533400"/>
          </a:xfrm>
        </p:grpSpPr>
        <p:sp>
          <p:nvSpPr>
            <p:cNvPr name="Freeform 13" id="13" descr="image.png"/>
            <p:cNvSpPr/>
            <p:nvPr/>
          </p:nvSpPr>
          <p:spPr>
            <a:xfrm flipH="false" flipV="false" rot="0">
              <a:off x="0" y="0"/>
              <a:ext cx="9982200" cy="533400"/>
            </a:xfrm>
            <a:custGeom>
              <a:avLst/>
              <a:gdLst/>
              <a:ahLst/>
              <a:cxnLst/>
              <a:rect r="r" b="b" t="t" l="l"/>
              <a:pathLst>
                <a:path h="533400" w="9982200">
                  <a:moveTo>
                    <a:pt x="0" y="0"/>
                  </a:moveTo>
                  <a:lnTo>
                    <a:pt x="9982200" y="0"/>
                  </a:lnTo>
                  <a:lnTo>
                    <a:pt x="9982200" y="533400"/>
                  </a:lnTo>
                  <a:lnTo>
                    <a:pt x="0" y="533400"/>
                  </a:lnTo>
                  <a:lnTo>
                    <a:pt x="0" y="0"/>
                  </a:lnTo>
                  <a:close/>
                </a:path>
              </a:pathLst>
            </a:custGeom>
            <a:blipFill>
              <a:blip r:embed="rId8"/>
              <a:stretch>
                <a:fillRect l="0" t="-1588" r="0" b="-1590"/>
              </a:stretch>
            </a:blipFill>
          </p:spPr>
        </p:sp>
      </p:grpSp>
      <p:sp>
        <p:nvSpPr>
          <p:cNvPr name="TextBox 14" id="14"/>
          <p:cNvSpPr txBox="true"/>
          <p:nvPr/>
        </p:nvSpPr>
        <p:spPr>
          <a:xfrm rot="0">
            <a:off x="1128712" y="3537871"/>
            <a:ext cx="7860982" cy="404812"/>
          </a:xfrm>
          <a:prstGeom prst="rect">
            <a:avLst/>
          </a:prstGeom>
        </p:spPr>
        <p:txBody>
          <a:bodyPr anchor="t" rtlCol="false" tIns="0" lIns="0" bIns="0" rIns="0">
            <a:spAutoFit/>
          </a:bodyPr>
          <a:lstStyle/>
          <a:p>
            <a:pPr algn="l">
              <a:lnSpc>
                <a:spcPts val="2430"/>
              </a:lnSpc>
            </a:pPr>
            <a:r>
              <a:rPr lang="en-US" sz="2025">
                <a:solidFill>
                  <a:srgbClr val="0A1A23"/>
                </a:solidFill>
                <a:latin typeface="Poppins"/>
                <a:ea typeface="Poppins"/>
                <a:cs typeface="Poppins"/>
                <a:sym typeface="Poppins"/>
              </a:rPr>
              <a:t>Task Instructions</a:t>
            </a:r>
          </a:p>
        </p:txBody>
      </p:sp>
      <p:grpSp>
        <p:nvGrpSpPr>
          <p:cNvPr name="Group 15" id="15"/>
          <p:cNvGrpSpPr/>
          <p:nvPr/>
        </p:nvGrpSpPr>
        <p:grpSpPr>
          <a:xfrm rot="0">
            <a:off x="1128712" y="4114133"/>
            <a:ext cx="157162" cy="200025"/>
            <a:chOff x="0" y="0"/>
            <a:chExt cx="209550" cy="266700"/>
          </a:xfrm>
        </p:grpSpPr>
        <p:sp>
          <p:nvSpPr>
            <p:cNvPr name="Freeform 16" id="16" descr="image.png"/>
            <p:cNvSpPr/>
            <p:nvPr/>
          </p:nvSpPr>
          <p:spPr>
            <a:xfrm flipH="false" flipV="false" rot="0">
              <a:off x="0" y="0"/>
              <a:ext cx="209550" cy="266700"/>
            </a:xfrm>
            <a:custGeom>
              <a:avLst/>
              <a:gdLst/>
              <a:ahLst/>
              <a:cxnLst/>
              <a:rect r="r" b="b" t="t" l="l"/>
              <a:pathLst>
                <a:path h="266700" w="209550">
                  <a:moveTo>
                    <a:pt x="0" y="0"/>
                  </a:moveTo>
                  <a:lnTo>
                    <a:pt x="209550" y="0"/>
                  </a:lnTo>
                  <a:lnTo>
                    <a:pt x="209550" y="266700"/>
                  </a:lnTo>
                  <a:lnTo>
                    <a:pt x="0" y="266700"/>
                  </a:lnTo>
                  <a:lnTo>
                    <a:pt x="0" y="0"/>
                  </a:lnTo>
                  <a:close/>
                </a:path>
              </a:pathLst>
            </a:custGeom>
            <a:blipFill>
              <a:blip r:embed="rId9"/>
              <a:stretch>
                <a:fillRect l="0" t="0" r="0" b="0"/>
              </a:stretch>
            </a:blipFill>
          </p:spPr>
        </p:sp>
      </p:grpSp>
      <p:grpSp>
        <p:nvGrpSpPr>
          <p:cNvPr name="Group 17" id="17"/>
          <p:cNvGrpSpPr/>
          <p:nvPr/>
        </p:nvGrpSpPr>
        <p:grpSpPr>
          <a:xfrm rot="0">
            <a:off x="1128712" y="4600127"/>
            <a:ext cx="157162" cy="200025"/>
            <a:chOff x="0" y="0"/>
            <a:chExt cx="209550" cy="266700"/>
          </a:xfrm>
        </p:grpSpPr>
        <p:sp>
          <p:nvSpPr>
            <p:cNvPr name="Freeform 18" id="18" descr="image.png"/>
            <p:cNvSpPr/>
            <p:nvPr/>
          </p:nvSpPr>
          <p:spPr>
            <a:xfrm flipH="false" flipV="false" rot="0">
              <a:off x="0" y="0"/>
              <a:ext cx="209550" cy="266700"/>
            </a:xfrm>
            <a:custGeom>
              <a:avLst/>
              <a:gdLst/>
              <a:ahLst/>
              <a:cxnLst/>
              <a:rect r="r" b="b" t="t" l="l"/>
              <a:pathLst>
                <a:path h="266700" w="209550">
                  <a:moveTo>
                    <a:pt x="0" y="0"/>
                  </a:moveTo>
                  <a:lnTo>
                    <a:pt x="209550" y="0"/>
                  </a:lnTo>
                  <a:lnTo>
                    <a:pt x="209550" y="266700"/>
                  </a:lnTo>
                  <a:lnTo>
                    <a:pt x="0" y="266700"/>
                  </a:lnTo>
                  <a:lnTo>
                    <a:pt x="0" y="0"/>
                  </a:lnTo>
                  <a:close/>
                </a:path>
              </a:pathLst>
            </a:custGeom>
            <a:blipFill>
              <a:blip r:embed="rId9"/>
              <a:stretch>
                <a:fillRect l="0" t="0" r="0" b="0"/>
              </a:stretch>
            </a:blipFill>
          </p:spPr>
        </p:sp>
      </p:grpSp>
      <p:grpSp>
        <p:nvGrpSpPr>
          <p:cNvPr name="Group 19" id="19"/>
          <p:cNvGrpSpPr/>
          <p:nvPr/>
        </p:nvGrpSpPr>
        <p:grpSpPr>
          <a:xfrm rot="0">
            <a:off x="1128712" y="5086131"/>
            <a:ext cx="157162" cy="200025"/>
            <a:chOff x="0" y="0"/>
            <a:chExt cx="209550" cy="266700"/>
          </a:xfrm>
        </p:grpSpPr>
        <p:sp>
          <p:nvSpPr>
            <p:cNvPr name="Freeform 20" id="20" descr="image.png"/>
            <p:cNvSpPr/>
            <p:nvPr/>
          </p:nvSpPr>
          <p:spPr>
            <a:xfrm flipH="false" flipV="false" rot="0">
              <a:off x="0" y="0"/>
              <a:ext cx="209550" cy="266700"/>
            </a:xfrm>
            <a:custGeom>
              <a:avLst/>
              <a:gdLst/>
              <a:ahLst/>
              <a:cxnLst/>
              <a:rect r="r" b="b" t="t" l="l"/>
              <a:pathLst>
                <a:path h="266700" w="209550">
                  <a:moveTo>
                    <a:pt x="0" y="0"/>
                  </a:moveTo>
                  <a:lnTo>
                    <a:pt x="209550" y="0"/>
                  </a:lnTo>
                  <a:lnTo>
                    <a:pt x="209550" y="266700"/>
                  </a:lnTo>
                  <a:lnTo>
                    <a:pt x="0" y="266700"/>
                  </a:lnTo>
                  <a:lnTo>
                    <a:pt x="0" y="0"/>
                  </a:lnTo>
                  <a:close/>
                </a:path>
              </a:pathLst>
            </a:custGeom>
            <a:blipFill>
              <a:blip r:embed="rId9"/>
              <a:stretch>
                <a:fillRect l="0" t="0" r="0" b="0"/>
              </a:stretch>
            </a:blipFill>
          </p:spPr>
        </p:sp>
      </p:grpSp>
      <p:grpSp>
        <p:nvGrpSpPr>
          <p:cNvPr name="Group 21" id="21"/>
          <p:cNvGrpSpPr/>
          <p:nvPr/>
        </p:nvGrpSpPr>
        <p:grpSpPr>
          <a:xfrm rot="0">
            <a:off x="1128712" y="5572125"/>
            <a:ext cx="157162" cy="200025"/>
            <a:chOff x="0" y="0"/>
            <a:chExt cx="209550" cy="266700"/>
          </a:xfrm>
        </p:grpSpPr>
        <p:sp>
          <p:nvSpPr>
            <p:cNvPr name="Freeform 22" id="22" descr="image.png"/>
            <p:cNvSpPr/>
            <p:nvPr/>
          </p:nvSpPr>
          <p:spPr>
            <a:xfrm flipH="false" flipV="false" rot="0">
              <a:off x="0" y="0"/>
              <a:ext cx="209550" cy="266700"/>
            </a:xfrm>
            <a:custGeom>
              <a:avLst/>
              <a:gdLst/>
              <a:ahLst/>
              <a:cxnLst/>
              <a:rect r="r" b="b" t="t" l="l"/>
              <a:pathLst>
                <a:path h="266700" w="209550">
                  <a:moveTo>
                    <a:pt x="0" y="0"/>
                  </a:moveTo>
                  <a:lnTo>
                    <a:pt x="209550" y="0"/>
                  </a:lnTo>
                  <a:lnTo>
                    <a:pt x="209550" y="266700"/>
                  </a:lnTo>
                  <a:lnTo>
                    <a:pt x="0" y="266700"/>
                  </a:lnTo>
                  <a:lnTo>
                    <a:pt x="0" y="0"/>
                  </a:lnTo>
                  <a:close/>
                </a:path>
              </a:pathLst>
            </a:custGeom>
            <a:blipFill>
              <a:blip r:embed="rId9"/>
              <a:stretch>
                <a:fillRect l="0" t="0" r="0" b="0"/>
              </a:stretch>
            </a:blipFill>
          </p:spPr>
        </p:sp>
      </p:grpSp>
      <p:grpSp>
        <p:nvGrpSpPr>
          <p:cNvPr name="Group 23" id="23"/>
          <p:cNvGrpSpPr/>
          <p:nvPr/>
        </p:nvGrpSpPr>
        <p:grpSpPr>
          <a:xfrm rot="0">
            <a:off x="11277905" y="5043488"/>
            <a:ext cx="157162" cy="200025"/>
            <a:chOff x="0" y="0"/>
            <a:chExt cx="209550" cy="266700"/>
          </a:xfrm>
        </p:grpSpPr>
        <p:sp>
          <p:nvSpPr>
            <p:cNvPr name="Freeform 24" id="24" descr="image.png"/>
            <p:cNvSpPr/>
            <p:nvPr/>
          </p:nvSpPr>
          <p:spPr>
            <a:xfrm flipH="false" flipV="false" rot="0">
              <a:off x="0" y="0"/>
              <a:ext cx="209550" cy="266700"/>
            </a:xfrm>
            <a:custGeom>
              <a:avLst/>
              <a:gdLst/>
              <a:ahLst/>
              <a:cxnLst/>
              <a:rect r="r" b="b" t="t" l="l"/>
              <a:pathLst>
                <a:path h="266700" w="209550">
                  <a:moveTo>
                    <a:pt x="0" y="0"/>
                  </a:moveTo>
                  <a:lnTo>
                    <a:pt x="209550" y="0"/>
                  </a:lnTo>
                  <a:lnTo>
                    <a:pt x="209550" y="266700"/>
                  </a:lnTo>
                  <a:lnTo>
                    <a:pt x="0" y="266700"/>
                  </a:lnTo>
                  <a:lnTo>
                    <a:pt x="0" y="0"/>
                  </a:lnTo>
                  <a:close/>
                </a:path>
              </a:pathLst>
            </a:custGeom>
            <a:blipFill>
              <a:blip r:embed="rId9"/>
              <a:stretch>
                <a:fillRect l="0" t="0" r="0" b="0"/>
              </a:stretch>
            </a:blipFill>
          </p:spPr>
        </p:sp>
      </p:grpSp>
      <p:sp>
        <p:nvSpPr>
          <p:cNvPr name="TextBox 25" id="25"/>
          <p:cNvSpPr txBox="true"/>
          <p:nvPr/>
        </p:nvSpPr>
        <p:spPr>
          <a:xfrm rot="0">
            <a:off x="1471612" y="4009358"/>
            <a:ext cx="7143750" cy="419319"/>
          </a:xfrm>
          <a:prstGeom prst="rect">
            <a:avLst/>
          </a:prstGeom>
        </p:spPr>
        <p:txBody>
          <a:bodyPr anchor="t" rtlCol="false" tIns="0" lIns="0" bIns="0" rIns="0">
            <a:spAutoFit/>
          </a:bodyPr>
          <a:lstStyle/>
          <a:p>
            <a:pPr algn="l">
              <a:lnSpc>
                <a:spcPts val="2701"/>
              </a:lnSpc>
            </a:pPr>
            <a:r>
              <a:rPr lang="en-US" sz="1743">
                <a:solidFill>
                  <a:srgbClr val="475569"/>
                </a:solidFill>
                <a:latin typeface="Poppins"/>
                <a:ea typeface="Poppins"/>
                <a:cs typeface="Poppins"/>
                <a:sym typeface="Poppins"/>
              </a:rPr>
              <a:t>Open Yaba branch checkout pilot data in lab pack.</a:t>
            </a:r>
          </a:p>
        </p:txBody>
      </p:sp>
      <p:sp>
        <p:nvSpPr>
          <p:cNvPr name="TextBox 26" id="26"/>
          <p:cNvSpPr txBox="true"/>
          <p:nvPr/>
        </p:nvSpPr>
        <p:spPr>
          <a:xfrm rot="0">
            <a:off x="1471612" y="4495352"/>
            <a:ext cx="7143750" cy="341644"/>
          </a:xfrm>
          <a:prstGeom prst="rect">
            <a:avLst/>
          </a:prstGeom>
        </p:spPr>
        <p:txBody>
          <a:bodyPr anchor="t" rtlCol="false" tIns="0" lIns="0" bIns="0" rIns="0">
            <a:spAutoFit/>
          </a:bodyPr>
          <a:lstStyle/>
          <a:p>
            <a:pPr algn="l">
              <a:lnSpc>
                <a:spcPts val="2701"/>
              </a:lnSpc>
            </a:pPr>
            <a:r>
              <a:rPr lang="en-US" sz="1743">
                <a:solidFill>
                  <a:srgbClr val="475569"/>
                </a:solidFill>
                <a:latin typeface="Poppins"/>
                <a:ea typeface="Poppins"/>
                <a:cs typeface="Poppins"/>
                <a:sym typeface="Poppins"/>
              </a:rPr>
              <a:t>State H₀ and H₁ for Yaba branch.</a:t>
            </a:r>
          </a:p>
        </p:txBody>
      </p:sp>
      <p:sp>
        <p:nvSpPr>
          <p:cNvPr name="TextBox 27" id="27"/>
          <p:cNvSpPr txBox="true"/>
          <p:nvPr/>
        </p:nvSpPr>
        <p:spPr>
          <a:xfrm rot="0">
            <a:off x="1471612" y="4981356"/>
            <a:ext cx="7143750" cy="419319"/>
          </a:xfrm>
          <a:prstGeom prst="rect">
            <a:avLst/>
          </a:prstGeom>
        </p:spPr>
        <p:txBody>
          <a:bodyPr anchor="t" rtlCol="false" tIns="0" lIns="0" bIns="0" rIns="0">
            <a:spAutoFit/>
          </a:bodyPr>
          <a:lstStyle/>
          <a:p>
            <a:pPr algn="l">
              <a:lnSpc>
                <a:spcPts val="2701"/>
              </a:lnSpc>
            </a:pPr>
            <a:r>
              <a:rPr lang="en-US" sz="1743">
                <a:solidFill>
                  <a:srgbClr val="475569"/>
                </a:solidFill>
                <a:latin typeface="Poppins"/>
                <a:ea typeface="Poppins"/>
                <a:cs typeface="Poppins"/>
                <a:sym typeface="Poppins"/>
              </a:rPr>
              <a:t>Calculate p-value using `=T.TEST(array1, array2, 2, 3)`.</a:t>
            </a:r>
          </a:p>
        </p:txBody>
      </p:sp>
      <p:sp>
        <p:nvSpPr>
          <p:cNvPr name="TextBox 28" id="28"/>
          <p:cNvSpPr txBox="true"/>
          <p:nvPr/>
        </p:nvSpPr>
        <p:spPr>
          <a:xfrm rot="0">
            <a:off x="1471612" y="5467350"/>
            <a:ext cx="7143750" cy="419319"/>
          </a:xfrm>
          <a:prstGeom prst="rect">
            <a:avLst/>
          </a:prstGeom>
        </p:spPr>
        <p:txBody>
          <a:bodyPr anchor="t" rtlCol="false" tIns="0" lIns="0" bIns="0" rIns="0">
            <a:spAutoFit/>
          </a:bodyPr>
          <a:lstStyle/>
          <a:p>
            <a:pPr algn="l">
              <a:lnSpc>
                <a:spcPts val="2701"/>
              </a:lnSpc>
            </a:pPr>
            <a:r>
              <a:rPr lang="en-US" sz="1743">
                <a:solidFill>
                  <a:srgbClr val="475569"/>
                </a:solidFill>
                <a:latin typeface="Poppins"/>
                <a:ea typeface="Poppins"/>
                <a:cs typeface="Poppins"/>
                <a:sym typeface="Poppins"/>
              </a:rPr>
              <a:t>Determine whether the result is statistically significant.</a:t>
            </a:r>
          </a:p>
        </p:txBody>
      </p:sp>
      <p:grpSp>
        <p:nvGrpSpPr>
          <p:cNvPr name="Group 29" id="29"/>
          <p:cNvGrpSpPr/>
          <p:nvPr/>
        </p:nvGrpSpPr>
        <p:grpSpPr>
          <a:xfrm rot="0">
            <a:off x="1128712" y="6058119"/>
            <a:ext cx="157162" cy="200025"/>
            <a:chOff x="0" y="0"/>
            <a:chExt cx="209550" cy="266700"/>
          </a:xfrm>
        </p:grpSpPr>
        <p:sp>
          <p:nvSpPr>
            <p:cNvPr name="Freeform 30" id="30" descr="image.png"/>
            <p:cNvSpPr/>
            <p:nvPr/>
          </p:nvSpPr>
          <p:spPr>
            <a:xfrm flipH="false" flipV="false" rot="0">
              <a:off x="0" y="0"/>
              <a:ext cx="209550" cy="266700"/>
            </a:xfrm>
            <a:custGeom>
              <a:avLst/>
              <a:gdLst/>
              <a:ahLst/>
              <a:cxnLst/>
              <a:rect r="r" b="b" t="t" l="l"/>
              <a:pathLst>
                <a:path h="266700" w="209550">
                  <a:moveTo>
                    <a:pt x="0" y="0"/>
                  </a:moveTo>
                  <a:lnTo>
                    <a:pt x="209550" y="0"/>
                  </a:lnTo>
                  <a:lnTo>
                    <a:pt x="209550" y="266700"/>
                  </a:lnTo>
                  <a:lnTo>
                    <a:pt x="0" y="266700"/>
                  </a:lnTo>
                  <a:lnTo>
                    <a:pt x="0" y="0"/>
                  </a:lnTo>
                  <a:close/>
                </a:path>
              </a:pathLst>
            </a:custGeom>
            <a:blipFill>
              <a:blip r:embed="rId9"/>
              <a:stretch>
                <a:fillRect l="0" t="0" r="0" b="0"/>
              </a:stretch>
            </a:blipFill>
          </p:spPr>
        </p:sp>
      </p:grpSp>
      <p:sp>
        <p:nvSpPr>
          <p:cNvPr name="TextBox 31" id="31"/>
          <p:cNvSpPr txBox="true"/>
          <p:nvPr/>
        </p:nvSpPr>
        <p:spPr>
          <a:xfrm rot="0">
            <a:off x="1471612" y="5953344"/>
            <a:ext cx="7143750" cy="762448"/>
          </a:xfrm>
          <a:prstGeom prst="rect">
            <a:avLst/>
          </a:prstGeom>
        </p:spPr>
        <p:txBody>
          <a:bodyPr anchor="t" rtlCol="false" tIns="0" lIns="0" bIns="0" rIns="0">
            <a:spAutoFit/>
          </a:bodyPr>
          <a:lstStyle/>
          <a:p>
            <a:pPr algn="l">
              <a:lnSpc>
                <a:spcPts val="2701"/>
              </a:lnSpc>
            </a:pPr>
            <a:r>
              <a:rPr lang="en-US" sz="1743">
                <a:solidFill>
                  <a:srgbClr val="475569"/>
                </a:solidFill>
                <a:latin typeface="Poppins"/>
                <a:ea typeface="Poppins"/>
                <a:cs typeface="Poppins"/>
                <a:sym typeface="Poppins"/>
              </a:rPr>
              <a:t>Write </a:t>
            </a:r>
            <a:r>
              <a:rPr lang="en-US" sz="1743">
                <a:solidFill>
                  <a:srgbClr val="0A1A23"/>
                </a:solidFill>
                <a:latin typeface="Poppins"/>
                <a:ea typeface="Poppins"/>
                <a:cs typeface="Poppins"/>
                <a:sym typeface="Poppins"/>
              </a:rPr>
              <a:t>one sentence</a:t>
            </a:r>
            <a:r>
              <a:rPr lang="en-US" sz="1743">
                <a:solidFill>
                  <a:srgbClr val="475569"/>
                </a:solidFill>
                <a:latin typeface="Poppins"/>
                <a:ea typeface="Poppins"/>
                <a:cs typeface="Poppins"/>
                <a:sym typeface="Poppins"/>
              </a:rPr>
              <a:t> for the Yaba branch manager using careful phrasing.</a:t>
            </a:r>
          </a:p>
        </p:txBody>
      </p:sp>
      <p:grpSp>
        <p:nvGrpSpPr>
          <p:cNvPr name="Group 32" id="32"/>
          <p:cNvGrpSpPr/>
          <p:nvPr/>
        </p:nvGrpSpPr>
        <p:grpSpPr>
          <a:xfrm rot="0">
            <a:off x="9144000" y="2628233"/>
            <a:ext cx="8179594" cy="4559046"/>
            <a:chOff x="0" y="0"/>
            <a:chExt cx="10906125" cy="6078728"/>
          </a:xfrm>
        </p:grpSpPr>
        <p:sp>
          <p:nvSpPr>
            <p:cNvPr name="Freeform 33" id="33" descr="image.png"/>
            <p:cNvSpPr/>
            <p:nvPr/>
          </p:nvSpPr>
          <p:spPr>
            <a:xfrm flipH="false" flipV="false" rot="0">
              <a:off x="0" y="0"/>
              <a:ext cx="10906125" cy="6078693"/>
            </a:xfrm>
            <a:custGeom>
              <a:avLst/>
              <a:gdLst/>
              <a:ahLst/>
              <a:cxnLst/>
              <a:rect r="r" b="b" t="t" l="l"/>
              <a:pathLst>
                <a:path h="6078693" w="10906125">
                  <a:moveTo>
                    <a:pt x="0" y="0"/>
                  </a:moveTo>
                  <a:lnTo>
                    <a:pt x="10906125" y="0"/>
                  </a:lnTo>
                  <a:lnTo>
                    <a:pt x="10906125" y="6078693"/>
                  </a:lnTo>
                  <a:lnTo>
                    <a:pt x="0" y="6078693"/>
                  </a:lnTo>
                  <a:lnTo>
                    <a:pt x="0" y="0"/>
                  </a:lnTo>
                  <a:close/>
                </a:path>
              </a:pathLst>
            </a:custGeom>
            <a:blipFill>
              <a:blip r:embed="rId10"/>
              <a:stretch>
                <a:fillRect l="0" t="-22329" r="0" b="-22330"/>
              </a:stretch>
            </a:blipFill>
          </p:spPr>
        </p:sp>
      </p:grpSp>
      <p:sp>
        <p:nvSpPr>
          <p:cNvPr name="Freeform 34" id="34"/>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35" id="35"/>
          <p:cNvGrpSpPr/>
          <p:nvPr/>
        </p:nvGrpSpPr>
        <p:grpSpPr>
          <a:xfrm rot="0">
            <a:off x="9527429" y="3923633"/>
            <a:ext cx="7522369" cy="2014538"/>
            <a:chOff x="0" y="0"/>
            <a:chExt cx="10029825" cy="2686050"/>
          </a:xfrm>
        </p:grpSpPr>
        <p:sp>
          <p:nvSpPr>
            <p:cNvPr name="Freeform 36" id="36" descr="image.png"/>
            <p:cNvSpPr/>
            <p:nvPr/>
          </p:nvSpPr>
          <p:spPr>
            <a:xfrm flipH="false" flipV="false" rot="0">
              <a:off x="0" y="0"/>
              <a:ext cx="10029825" cy="2686050"/>
            </a:xfrm>
            <a:custGeom>
              <a:avLst/>
              <a:gdLst/>
              <a:ahLst/>
              <a:cxnLst/>
              <a:rect r="r" b="b" t="t" l="l"/>
              <a:pathLst>
                <a:path h="2686050" w="10029825">
                  <a:moveTo>
                    <a:pt x="0" y="0"/>
                  </a:moveTo>
                  <a:lnTo>
                    <a:pt x="10029825" y="0"/>
                  </a:lnTo>
                  <a:lnTo>
                    <a:pt x="10029825" y="2686050"/>
                  </a:lnTo>
                  <a:lnTo>
                    <a:pt x="0" y="2686050"/>
                  </a:lnTo>
                  <a:lnTo>
                    <a:pt x="0" y="0"/>
                  </a:lnTo>
                  <a:close/>
                </a:path>
              </a:pathLst>
            </a:custGeom>
            <a:blipFill>
              <a:blip r:embed="rId13"/>
              <a:stretch>
                <a:fillRect l="0" t="-116" r="0" b="-116"/>
              </a:stretch>
            </a:blipFill>
          </p:spPr>
        </p:sp>
      </p:grpSp>
      <p:grpSp>
        <p:nvGrpSpPr>
          <p:cNvPr name="Group 37" id="37"/>
          <p:cNvGrpSpPr/>
          <p:nvPr/>
        </p:nvGrpSpPr>
        <p:grpSpPr>
          <a:xfrm rot="0">
            <a:off x="9613754" y="4467225"/>
            <a:ext cx="7388419" cy="968356"/>
            <a:chOff x="0" y="0"/>
            <a:chExt cx="9851225" cy="1291142"/>
          </a:xfrm>
        </p:grpSpPr>
        <p:sp>
          <p:nvSpPr>
            <p:cNvPr name="TextBox 38" id="38"/>
            <p:cNvSpPr txBox="true"/>
            <p:nvPr/>
          </p:nvSpPr>
          <p:spPr>
            <a:xfrm rot="0">
              <a:off x="0" y="-19050"/>
              <a:ext cx="9851225" cy="495300"/>
            </a:xfrm>
            <a:prstGeom prst="rect">
              <a:avLst/>
            </a:prstGeom>
          </p:spPr>
          <p:txBody>
            <a:bodyPr anchor="t" rtlCol="false" tIns="0" lIns="0" bIns="0" rIns="0">
              <a:spAutoFit/>
            </a:bodyPr>
            <a:lstStyle/>
            <a:p>
              <a:pPr algn="ctr">
                <a:lnSpc>
                  <a:spcPts val="2160"/>
                </a:lnSpc>
              </a:pPr>
              <a:r>
                <a:rPr lang="en-US" sz="1800" b="true">
                  <a:solidFill>
                    <a:srgbClr val="20494A"/>
                  </a:solidFill>
                  <a:latin typeface="Poppins Bold"/>
                  <a:ea typeface="Poppins Bold"/>
                  <a:cs typeface="Poppins Bold"/>
                  <a:sym typeface="Poppins Bold"/>
                </a:rPr>
                <a:t>Worksheet Deliverable</a:t>
              </a:r>
            </a:p>
          </p:txBody>
        </p:sp>
        <p:sp>
          <p:nvSpPr>
            <p:cNvPr name="TextBox 39" id="39"/>
            <p:cNvSpPr txBox="true"/>
            <p:nvPr/>
          </p:nvSpPr>
          <p:spPr>
            <a:xfrm rot="0">
              <a:off x="234556" y="581025"/>
              <a:ext cx="9382125" cy="710117"/>
            </a:xfrm>
            <a:prstGeom prst="rect">
              <a:avLst/>
            </a:prstGeom>
          </p:spPr>
          <p:txBody>
            <a:bodyPr anchor="t" rtlCol="false" tIns="0" lIns="0" bIns="0" rIns="0">
              <a:spAutoFit/>
            </a:bodyPr>
            <a:lstStyle/>
            <a:p>
              <a:pPr algn="ctr">
                <a:lnSpc>
                  <a:spcPts val="2193"/>
                </a:lnSpc>
              </a:pPr>
              <a:r>
                <a:rPr lang="en-US" sz="1462">
                  <a:solidFill>
                    <a:srgbClr val="475569"/>
                  </a:solidFill>
                  <a:latin typeface="Poppins"/>
                  <a:ea typeface="Poppins"/>
                  <a:cs typeface="Poppins"/>
                  <a:sym typeface="Poppins"/>
                </a:rPr>
                <a:t>Left: Your hypotheses and p-value</a:t>
              </a:r>
            </a:p>
            <a:p>
              <a:pPr algn="ctr">
                <a:lnSpc>
                  <a:spcPts val="2192"/>
                </a:lnSpc>
              </a:pPr>
              <a:r>
                <a:rPr lang="en-US" sz="1462">
                  <a:solidFill>
                    <a:srgbClr val="475569"/>
                  </a:solidFill>
                  <a:latin typeface="Poppins"/>
                  <a:ea typeface="Poppins"/>
                  <a:cs typeface="Poppins"/>
                  <a:sym typeface="Poppins"/>
                </a:rPr>
                <a:t>Right: Your one-sentence conclusion</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68" r="0" b="-68"/>
            </a:stretch>
          </a:blipFill>
        </p:spPr>
      </p:sp>
      <p:sp>
        <p:nvSpPr>
          <p:cNvPr name="TextBox 8" id="8"/>
          <p:cNvSpPr txBox="true"/>
          <p:nvPr/>
        </p:nvSpPr>
        <p:spPr>
          <a:xfrm rot="0">
            <a:off x="1143000" y="714375"/>
            <a:ext cx="17102138" cy="90487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Key Takeaways</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15419508" y="4186238"/>
            <a:ext cx="457200" cy="457200"/>
            <a:chOff x="0" y="0"/>
            <a:chExt cx="609600" cy="609600"/>
          </a:xfrm>
        </p:grpSpPr>
        <p:sp>
          <p:nvSpPr>
            <p:cNvPr name="Freeform 12" id="12" descr="image.png"/>
            <p:cNvSpPr/>
            <p:nvPr/>
          </p:nvSpPr>
          <p:spPr>
            <a:xfrm flipH="false" flipV="false" rot="0">
              <a:off x="0" y="0"/>
              <a:ext cx="609600" cy="609600"/>
            </a:xfrm>
            <a:custGeom>
              <a:avLst/>
              <a:gdLst/>
              <a:ahLst/>
              <a:cxnLst/>
              <a:rect r="r" b="b" t="t" l="l"/>
              <a:pathLst>
                <a:path h="609600" w="609600">
                  <a:moveTo>
                    <a:pt x="0" y="0"/>
                  </a:moveTo>
                  <a:lnTo>
                    <a:pt x="609600" y="0"/>
                  </a:lnTo>
                  <a:lnTo>
                    <a:pt x="609600" y="609600"/>
                  </a:lnTo>
                  <a:lnTo>
                    <a:pt x="0" y="609600"/>
                  </a:lnTo>
                  <a:lnTo>
                    <a:pt x="0" y="0"/>
                  </a:lnTo>
                  <a:close/>
                </a:path>
              </a:pathLst>
            </a:custGeom>
            <a:blipFill>
              <a:blip r:embed="rId9"/>
              <a:stretch>
                <a:fillRect l="0" t="-1562" r="0" b="-1562"/>
              </a:stretch>
            </a:blipFill>
          </p:spPr>
        </p:sp>
      </p:grpSp>
      <p:grpSp>
        <p:nvGrpSpPr>
          <p:cNvPr name="Group 13" id="13"/>
          <p:cNvGrpSpPr/>
          <p:nvPr/>
        </p:nvGrpSpPr>
        <p:grpSpPr>
          <a:xfrm rot="0">
            <a:off x="857250" y="2671762"/>
            <a:ext cx="371475" cy="385762"/>
            <a:chOff x="0" y="0"/>
            <a:chExt cx="495300" cy="514350"/>
          </a:xfrm>
        </p:grpSpPr>
        <p:sp>
          <p:nvSpPr>
            <p:cNvPr name="Freeform 14" id="14" descr="image.png"/>
            <p:cNvSpPr/>
            <p:nvPr/>
          </p:nvSpPr>
          <p:spPr>
            <a:xfrm flipH="false" flipV="false" rot="0">
              <a:off x="0" y="0"/>
              <a:ext cx="495300" cy="514350"/>
            </a:xfrm>
            <a:custGeom>
              <a:avLst/>
              <a:gdLst/>
              <a:ahLst/>
              <a:cxnLst/>
              <a:rect r="r" b="b" t="t" l="l"/>
              <a:pathLst>
                <a:path h="514350" w="495300">
                  <a:moveTo>
                    <a:pt x="0" y="0"/>
                  </a:moveTo>
                  <a:lnTo>
                    <a:pt x="495300" y="0"/>
                  </a:lnTo>
                  <a:lnTo>
                    <a:pt x="495300" y="514350"/>
                  </a:lnTo>
                  <a:lnTo>
                    <a:pt x="0" y="514350"/>
                  </a:lnTo>
                  <a:lnTo>
                    <a:pt x="0" y="0"/>
                  </a:lnTo>
                  <a:close/>
                </a:path>
              </a:pathLst>
            </a:custGeom>
            <a:blipFill>
              <a:blip r:embed="rId10"/>
              <a:stretch>
                <a:fillRect l="0" t="0" r="0" b="0"/>
              </a:stretch>
            </a:blipFill>
          </p:spPr>
        </p:sp>
      </p:grpSp>
      <p:sp>
        <p:nvSpPr>
          <p:cNvPr name="TextBox 15" id="15"/>
          <p:cNvSpPr txBox="true"/>
          <p:nvPr/>
        </p:nvSpPr>
        <p:spPr>
          <a:xfrm rot="0">
            <a:off x="9694069" y="3905250"/>
            <a:ext cx="5392064" cy="2720340"/>
          </a:xfrm>
          <a:prstGeom prst="rect">
            <a:avLst/>
          </a:prstGeom>
        </p:spPr>
        <p:txBody>
          <a:bodyPr anchor="t" rtlCol="false" tIns="0" lIns="0" bIns="0" rIns="0">
            <a:spAutoFit/>
          </a:bodyPr>
          <a:lstStyle/>
          <a:p>
            <a:pPr algn="r">
              <a:lnSpc>
                <a:spcPts val="5400"/>
              </a:lnSpc>
            </a:pPr>
            <a:r>
              <a:rPr lang="en-US" sz="3600">
                <a:solidFill>
                  <a:srgbClr val="387F7F"/>
                </a:solidFill>
                <a:latin typeface="Inter"/>
                <a:ea typeface="Inter"/>
                <a:cs typeface="Inter"/>
                <a:sym typeface="Inter"/>
              </a:rPr>
              <a:t>Up Next:</a:t>
            </a:r>
          </a:p>
          <a:p>
            <a:pPr algn="r">
              <a:lnSpc>
                <a:spcPts val="5400"/>
              </a:lnSpc>
            </a:pPr>
            <a:r>
              <a:rPr lang="en-US" sz="3600">
                <a:solidFill>
                  <a:srgbClr val="387F7F"/>
                </a:solidFill>
                <a:latin typeface="Inter"/>
                <a:ea typeface="Inter"/>
                <a:cs typeface="Inter"/>
                <a:sym typeface="Inter"/>
              </a:rPr>
              <a:t>AI as Statistics Tutor and</a:t>
            </a:r>
          </a:p>
          <a:p>
            <a:pPr algn="r">
              <a:lnSpc>
                <a:spcPts val="5400"/>
              </a:lnSpc>
            </a:pPr>
            <a:r>
              <a:rPr lang="en-US" sz="3600">
                <a:solidFill>
                  <a:srgbClr val="387F7F"/>
                </a:solidFill>
                <a:latin typeface="Inter"/>
                <a:ea typeface="Inter"/>
                <a:cs typeface="Inter"/>
                <a:sym typeface="Inter"/>
              </a:rPr>
              <a:t>Interpreter</a:t>
            </a:r>
          </a:p>
          <a:p>
            <a:pPr algn="r">
              <a:lnSpc>
                <a:spcPts val="5400"/>
              </a:lnSpc>
            </a:pPr>
          </a:p>
        </p:txBody>
      </p:sp>
      <p:sp>
        <p:nvSpPr>
          <p:cNvPr name="TextBox 16" id="16"/>
          <p:cNvSpPr txBox="true"/>
          <p:nvPr/>
        </p:nvSpPr>
        <p:spPr>
          <a:xfrm rot="0">
            <a:off x="1595438" y="2600325"/>
            <a:ext cx="7703934" cy="500063"/>
          </a:xfrm>
          <a:prstGeom prst="rect">
            <a:avLst/>
          </a:prstGeom>
        </p:spPr>
        <p:txBody>
          <a:bodyPr anchor="t" rtlCol="false" tIns="0" lIns="0" bIns="0" rIns="0">
            <a:spAutoFit/>
          </a:bodyPr>
          <a:lstStyle/>
          <a:p>
            <a:pPr algn="l">
              <a:lnSpc>
                <a:spcPts val="2970"/>
              </a:lnSpc>
            </a:pPr>
            <a:r>
              <a:rPr lang="en-US" sz="2475">
                <a:solidFill>
                  <a:srgbClr val="20494A"/>
                </a:solidFill>
                <a:latin typeface="Poppins"/>
                <a:ea typeface="Poppins"/>
                <a:cs typeface="Poppins"/>
                <a:sym typeface="Poppins"/>
              </a:rPr>
              <a:t>Technical Skills</a:t>
            </a:r>
          </a:p>
        </p:txBody>
      </p:sp>
      <p:sp>
        <p:nvSpPr>
          <p:cNvPr name="TextBox 17" id="17"/>
          <p:cNvSpPr txBox="true"/>
          <p:nvPr/>
        </p:nvSpPr>
        <p:spPr>
          <a:xfrm rot="0">
            <a:off x="1921964" y="3171825"/>
            <a:ext cx="7127081" cy="386334"/>
          </a:xfrm>
          <a:prstGeom prst="rect">
            <a:avLst/>
          </a:prstGeom>
        </p:spPr>
        <p:txBody>
          <a:bodyPr anchor="t" rtlCol="false" tIns="0" lIns="0" bIns="0" rIns="0">
            <a:spAutoFit/>
          </a:bodyPr>
          <a:lstStyle/>
          <a:p>
            <a:pPr algn="l">
              <a:lnSpc>
                <a:spcPts val="3138"/>
              </a:lnSpc>
            </a:pPr>
            <a:r>
              <a:rPr lang="en-US" sz="2025">
                <a:solidFill>
                  <a:srgbClr val="1F2937"/>
                </a:solidFill>
                <a:latin typeface="Poppins"/>
                <a:ea typeface="Poppins"/>
                <a:cs typeface="Poppins"/>
                <a:sym typeface="Poppins"/>
              </a:rPr>
              <a:t>State null (H₀) and alternative (H₁) hypotheses clearly.</a:t>
            </a:r>
          </a:p>
        </p:txBody>
      </p:sp>
      <p:sp>
        <p:nvSpPr>
          <p:cNvPr name="TextBox 18" id="18"/>
          <p:cNvSpPr txBox="true"/>
          <p:nvPr/>
        </p:nvSpPr>
        <p:spPr>
          <a:xfrm rot="0">
            <a:off x="1738312" y="3257550"/>
            <a:ext cx="100012" cy="419100"/>
          </a:xfrm>
          <a:prstGeom prst="rect">
            <a:avLst/>
          </a:prstGeom>
        </p:spPr>
        <p:txBody>
          <a:bodyPr anchor="t" rtlCol="false" tIns="0" lIns="0" bIns="0" rIns="0">
            <a:spAutoFit/>
          </a:bodyPr>
          <a:lstStyle/>
          <a:p>
            <a:pPr algn="l">
              <a:lnSpc>
                <a:spcPts val="2430"/>
              </a:lnSpc>
            </a:pPr>
            <a:r>
              <a:rPr lang="en-US" sz="2025">
                <a:solidFill>
                  <a:srgbClr val="1F2937"/>
                </a:solidFill>
                <a:latin typeface="Poppins"/>
                <a:ea typeface="Poppins"/>
                <a:cs typeface="Poppins"/>
                <a:sym typeface="Poppins"/>
              </a:rPr>
              <a:t>•</a:t>
            </a:r>
          </a:p>
        </p:txBody>
      </p:sp>
      <p:grpSp>
        <p:nvGrpSpPr>
          <p:cNvPr name="Group 19" id="19"/>
          <p:cNvGrpSpPr/>
          <p:nvPr/>
        </p:nvGrpSpPr>
        <p:grpSpPr>
          <a:xfrm rot="0">
            <a:off x="1738312" y="3857625"/>
            <a:ext cx="7310733" cy="798538"/>
            <a:chOff x="0" y="0"/>
            <a:chExt cx="9747644" cy="1064717"/>
          </a:xfrm>
        </p:grpSpPr>
        <p:sp>
          <p:nvSpPr>
            <p:cNvPr name="TextBox 20" id="20"/>
            <p:cNvSpPr txBox="true"/>
            <p:nvPr/>
          </p:nvSpPr>
          <p:spPr>
            <a:xfrm rot="0">
              <a:off x="244869" y="-83642"/>
              <a:ext cx="9502775" cy="1148359"/>
            </a:xfrm>
            <a:prstGeom prst="rect">
              <a:avLst/>
            </a:prstGeom>
          </p:spPr>
          <p:txBody>
            <a:bodyPr anchor="t" rtlCol="false" tIns="0" lIns="0" bIns="0" rIns="0">
              <a:spAutoFit/>
            </a:bodyPr>
            <a:lstStyle/>
            <a:p>
              <a:pPr algn="l">
                <a:lnSpc>
                  <a:spcPts val="3138"/>
                </a:lnSpc>
              </a:pPr>
              <a:r>
                <a:rPr lang="en-US" sz="2025">
                  <a:solidFill>
                    <a:srgbClr val="1F2937"/>
                  </a:solidFill>
                  <a:latin typeface="Poppins"/>
                  <a:ea typeface="Poppins"/>
                  <a:cs typeface="Poppins"/>
                  <a:sym typeface="Poppins"/>
                </a:rPr>
                <a:t>Run =T.TEST(array1, array2, 2, 3) in Excel accurately.</a:t>
              </a:r>
            </a:p>
          </p:txBody>
        </p:sp>
        <p:sp>
          <p:nvSpPr>
            <p:cNvPr name="TextBox 21" id="21"/>
            <p:cNvSpPr txBox="true"/>
            <p:nvPr/>
          </p:nvSpPr>
          <p:spPr>
            <a:xfrm rot="0">
              <a:off x="0" y="-19050"/>
              <a:ext cx="133350" cy="552450"/>
            </a:xfrm>
            <a:prstGeom prst="rect">
              <a:avLst/>
            </a:prstGeom>
          </p:spPr>
          <p:txBody>
            <a:bodyPr anchor="t" rtlCol="false" tIns="0" lIns="0" bIns="0" rIns="0">
              <a:spAutoFit/>
            </a:bodyPr>
            <a:lstStyle/>
            <a:p>
              <a:pPr algn="l">
                <a:lnSpc>
                  <a:spcPts val="2430"/>
                </a:lnSpc>
              </a:pPr>
              <a:r>
                <a:rPr lang="en-US" sz="2025">
                  <a:solidFill>
                    <a:srgbClr val="1F2937"/>
                  </a:solidFill>
                  <a:latin typeface="Poppins"/>
                  <a:ea typeface="Poppins"/>
                  <a:cs typeface="Poppins"/>
                  <a:sym typeface="Poppins"/>
                </a:rPr>
                <a:t>•</a:t>
              </a:r>
            </a:p>
          </p:txBody>
        </p:sp>
      </p:grpSp>
      <p:grpSp>
        <p:nvGrpSpPr>
          <p:cNvPr name="Group 22" id="22"/>
          <p:cNvGrpSpPr/>
          <p:nvPr/>
        </p:nvGrpSpPr>
        <p:grpSpPr>
          <a:xfrm rot="0">
            <a:off x="857250" y="4851425"/>
            <a:ext cx="8442122" cy="2379764"/>
            <a:chOff x="0" y="0"/>
            <a:chExt cx="11256162" cy="3173019"/>
          </a:xfrm>
        </p:grpSpPr>
        <p:grpSp>
          <p:nvGrpSpPr>
            <p:cNvPr name="Group 23" id="23"/>
            <p:cNvGrpSpPr/>
            <p:nvPr/>
          </p:nvGrpSpPr>
          <p:grpSpPr>
            <a:xfrm rot="0">
              <a:off x="0" y="102629"/>
              <a:ext cx="495300" cy="514350"/>
              <a:chOff x="0" y="0"/>
              <a:chExt cx="495300" cy="514350"/>
            </a:xfrm>
          </p:grpSpPr>
          <p:sp>
            <p:nvSpPr>
              <p:cNvPr name="Freeform 24" id="24" descr="image.png"/>
              <p:cNvSpPr/>
              <p:nvPr/>
            </p:nvSpPr>
            <p:spPr>
              <a:xfrm flipH="false" flipV="false" rot="0">
                <a:off x="0" y="0"/>
                <a:ext cx="495300" cy="514350"/>
              </a:xfrm>
              <a:custGeom>
                <a:avLst/>
                <a:gdLst/>
                <a:ahLst/>
                <a:cxnLst/>
                <a:rect r="r" b="b" t="t" l="l"/>
                <a:pathLst>
                  <a:path h="514350" w="495300">
                    <a:moveTo>
                      <a:pt x="0" y="0"/>
                    </a:moveTo>
                    <a:lnTo>
                      <a:pt x="495300" y="0"/>
                    </a:lnTo>
                    <a:lnTo>
                      <a:pt x="495300" y="514350"/>
                    </a:lnTo>
                    <a:lnTo>
                      <a:pt x="0" y="514350"/>
                    </a:lnTo>
                    <a:lnTo>
                      <a:pt x="0" y="0"/>
                    </a:lnTo>
                    <a:close/>
                  </a:path>
                </a:pathLst>
              </a:custGeom>
              <a:blipFill>
                <a:blip r:embed="rId10"/>
                <a:stretch>
                  <a:fillRect l="0" t="0" r="0" b="0"/>
                </a:stretch>
              </a:blipFill>
            </p:spPr>
          </p:sp>
        </p:grpSp>
        <p:sp>
          <p:nvSpPr>
            <p:cNvPr name="TextBox 25" id="25"/>
            <p:cNvSpPr txBox="true"/>
            <p:nvPr/>
          </p:nvSpPr>
          <p:spPr>
            <a:xfrm rot="0">
              <a:off x="984250" y="-28575"/>
              <a:ext cx="10271912" cy="657225"/>
            </a:xfrm>
            <a:prstGeom prst="rect">
              <a:avLst/>
            </a:prstGeom>
          </p:spPr>
          <p:txBody>
            <a:bodyPr anchor="t" rtlCol="false" tIns="0" lIns="0" bIns="0" rIns="0">
              <a:spAutoFit/>
            </a:bodyPr>
            <a:lstStyle/>
            <a:p>
              <a:pPr algn="l">
                <a:lnSpc>
                  <a:spcPts val="2970"/>
                </a:lnSpc>
              </a:pPr>
              <a:r>
                <a:rPr lang="en-US" sz="2475">
                  <a:solidFill>
                    <a:srgbClr val="20494A"/>
                  </a:solidFill>
                  <a:latin typeface="Poppins"/>
                  <a:ea typeface="Poppins"/>
                  <a:cs typeface="Poppins"/>
                  <a:sym typeface="Poppins"/>
                </a:rPr>
                <a:t>Executive Judgment</a:t>
              </a:r>
            </a:p>
          </p:txBody>
        </p:sp>
        <p:sp>
          <p:nvSpPr>
            <p:cNvPr name="TextBox 26" id="26"/>
            <p:cNvSpPr txBox="true"/>
            <p:nvPr/>
          </p:nvSpPr>
          <p:spPr>
            <a:xfrm rot="0">
              <a:off x="1028700" y="837248"/>
              <a:ext cx="133350" cy="552450"/>
            </a:xfrm>
            <a:prstGeom prst="rect">
              <a:avLst/>
            </a:prstGeom>
          </p:spPr>
          <p:txBody>
            <a:bodyPr anchor="t" rtlCol="false" tIns="0" lIns="0" bIns="0" rIns="0">
              <a:spAutoFit/>
            </a:bodyPr>
            <a:lstStyle/>
            <a:p>
              <a:pPr algn="l">
                <a:lnSpc>
                  <a:spcPts val="2430"/>
                </a:lnSpc>
              </a:pPr>
              <a:r>
                <a:rPr lang="en-US" sz="2025">
                  <a:solidFill>
                    <a:srgbClr val="1F2937"/>
                  </a:solidFill>
                  <a:latin typeface="Poppins"/>
                  <a:ea typeface="Poppins"/>
                  <a:cs typeface="Poppins"/>
                  <a:sym typeface="Poppins"/>
                </a:rPr>
                <a:t>•</a:t>
              </a:r>
            </a:p>
          </p:txBody>
        </p:sp>
        <p:sp>
          <p:nvSpPr>
            <p:cNvPr name="TextBox 27" id="27"/>
            <p:cNvSpPr txBox="true"/>
            <p:nvPr/>
          </p:nvSpPr>
          <p:spPr>
            <a:xfrm rot="0">
              <a:off x="1250950" y="771525"/>
              <a:ext cx="9502775" cy="1148359"/>
            </a:xfrm>
            <a:prstGeom prst="rect">
              <a:avLst/>
            </a:prstGeom>
          </p:spPr>
          <p:txBody>
            <a:bodyPr anchor="t" rtlCol="false" tIns="0" lIns="0" bIns="0" rIns="0">
              <a:spAutoFit/>
            </a:bodyPr>
            <a:lstStyle/>
            <a:p>
              <a:pPr algn="l">
                <a:lnSpc>
                  <a:spcPts val="3138"/>
                </a:lnSpc>
              </a:pPr>
              <a:r>
                <a:rPr lang="en-US" sz="2025">
                  <a:solidFill>
                    <a:srgbClr val="1F2937"/>
                  </a:solidFill>
                  <a:latin typeface="Poppins"/>
                  <a:ea typeface="Poppins"/>
                  <a:cs typeface="Poppins"/>
                  <a:sym typeface="Poppins"/>
                </a:rPr>
                <a:t>Interpret p-values correctly using "fail to reject H₀" language.</a:t>
              </a:r>
            </a:p>
          </p:txBody>
        </p:sp>
        <p:sp>
          <p:nvSpPr>
            <p:cNvPr name="TextBox 28" id="28"/>
            <p:cNvSpPr txBox="true"/>
            <p:nvPr/>
          </p:nvSpPr>
          <p:spPr>
            <a:xfrm rot="0">
              <a:off x="1028700" y="2090382"/>
              <a:ext cx="133350" cy="552450"/>
            </a:xfrm>
            <a:prstGeom prst="rect">
              <a:avLst/>
            </a:prstGeom>
          </p:spPr>
          <p:txBody>
            <a:bodyPr anchor="t" rtlCol="false" tIns="0" lIns="0" bIns="0" rIns="0">
              <a:spAutoFit/>
            </a:bodyPr>
            <a:lstStyle/>
            <a:p>
              <a:pPr algn="l">
                <a:lnSpc>
                  <a:spcPts val="2430"/>
                </a:lnSpc>
              </a:pPr>
              <a:r>
                <a:rPr lang="en-US" sz="2025">
                  <a:solidFill>
                    <a:srgbClr val="1F2937"/>
                  </a:solidFill>
                  <a:latin typeface="Poppins"/>
                  <a:ea typeface="Poppins"/>
                  <a:cs typeface="Poppins"/>
                  <a:sym typeface="Poppins"/>
                </a:rPr>
                <a:t>•</a:t>
              </a:r>
            </a:p>
          </p:txBody>
        </p:sp>
        <p:sp>
          <p:nvSpPr>
            <p:cNvPr name="TextBox 29" id="29"/>
            <p:cNvSpPr txBox="true"/>
            <p:nvPr/>
          </p:nvSpPr>
          <p:spPr>
            <a:xfrm rot="0">
              <a:off x="1250950" y="2024659"/>
              <a:ext cx="9502775" cy="1148359"/>
            </a:xfrm>
            <a:prstGeom prst="rect">
              <a:avLst/>
            </a:prstGeom>
          </p:spPr>
          <p:txBody>
            <a:bodyPr anchor="t" rtlCol="false" tIns="0" lIns="0" bIns="0" rIns="0">
              <a:spAutoFit/>
            </a:bodyPr>
            <a:lstStyle/>
            <a:p>
              <a:pPr algn="l">
                <a:lnSpc>
                  <a:spcPts val="3138"/>
                </a:lnSpc>
              </a:pPr>
              <a:r>
                <a:rPr lang="en-US" sz="2025">
                  <a:solidFill>
                    <a:srgbClr val="1F2937"/>
                  </a:solidFill>
                  <a:latin typeface="Poppins"/>
                  <a:ea typeface="Poppins"/>
                  <a:cs typeface="Poppins"/>
                  <a:sym typeface="Poppins"/>
                </a:rPr>
                <a:t>Balance statistical significance against practical business value.</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TextBox 7" id="7"/>
          <p:cNvSpPr txBox="true"/>
          <p:nvPr/>
        </p:nvSpPr>
        <p:spPr>
          <a:xfrm rot="0">
            <a:off x="1143000" y="762000"/>
            <a:ext cx="12763649"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Up </a:t>
            </a:r>
            <a:r>
              <a:rPr lang="en-US" sz="5000">
                <a:solidFill>
                  <a:srgbClr val="388080"/>
                </a:solidFill>
                <a:latin typeface="Poppins"/>
                <a:ea typeface="Poppins"/>
                <a:cs typeface="Poppins"/>
                <a:sym typeface="Poppins"/>
              </a:rPr>
              <a:t>Next: Topic 4.5 — AI as Statistics Tutor</a:t>
            </a:r>
          </a:p>
        </p:txBody>
      </p:sp>
      <p:grpSp>
        <p:nvGrpSpPr>
          <p:cNvPr name="Group 8" id="8"/>
          <p:cNvGrpSpPr/>
          <p:nvPr/>
        </p:nvGrpSpPr>
        <p:grpSpPr>
          <a:xfrm rot="0">
            <a:off x="16497824" y="8924125"/>
            <a:ext cx="647224" cy="571500"/>
            <a:chOff x="0" y="0"/>
            <a:chExt cx="862965" cy="762000"/>
          </a:xfrm>
        </p:grpSpPr>
        <p:sp>
          <p:nvSpPr>
            <p:cNvPr name="Freeform 9" id="9"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6"/>
              <a:stretch>
                <a:fillRect l="-772" t="0" r="-772" b="0"/>
              </a:stretch>
            </a:blipFill>
          </p:spPr>
        </p:sp>
      </p:grpSp>
      <p:grpSp>
        <p:nvGrpSpPr>
          <p:cNvPr name="Group 10" id="10"/>
          <p:cNvGrpSpPr/>
          <p:nvPr/>
        </p:nvGrpSpPr>
        <p:grpSpPr>
          <a:xfrm rot="0">
            <a:off x="714375" y="2428875"/>
            <a:ext cx="8251031" cy="6457950"/>
            <a:chOff x="0" y="0"/>
            <a:chExt cx="11001375" cy="8610600"/>
          </a:xfrm>
        </p:grpSpPr>
        <p:sp>
          <p:nvSpPr>
            <p:cNvPr name="Freeform 11" id="11" descr="image.png"/>
            <p:cNvSpPr/>
            <p:nvPr/>
          </p:nvSpPr>
          <p:spPr>
            <a:xfrm flipH="false" flipV="false" rot="0">
              <a:off x="0" y="0"/>
              <a:ext cx="11001375" cy="8610600"/>
            </a:xfrm>
            <a:custGeom>
              <a:avLst/>
              <a:gdLst/>
              <a:ahLst/>
              <a:cxnLst/>
              <a:rect r="r" b="b" t="t" l="l"/>
              <a:pathLst>
                <a:path h="8610600" w="11001375">
                  <a:moveTo>
                    <a:pt x="0" y="0"/>
                  </a:moveTo>
                  <a:lnTo>
                    <a:pt x="11001375" y="0"/>
                  </a:lnTo>
                  <a:lnTo>
                    <a:pt x="11001375" y="8610600"/>
                  </a:lnTo>
                  <a:lnTo>
                    <a:pt x="0" y="8610600"/>
                  </a:lnTo>
                  <a:lnTo>
                    <a:pt x="0" y="0"/>
                  </a:lnTo>
                  <a:close/>
                </a:path>
              </a:pathLst>
            </a:custGeom>
            <a:blipFill>
              <a:blip r:embed="rId7"/>
              <a:stretch>
                <a:fillRect l="-43" t="0" r="-43" b="0"/>
              </a:stretch>
            </a:blipFill>
          </p:spPr>
        </p:sp>
      </p:grpSp>
      <p:sp>
        <p:nvSpPr>
          <p:cNvPr name="TextBox 12" id="12"/>
          <p:cNvSpPr txBox="true"/>
          <p:nvPr/>
        </p:nvSpPr>
        <p:spPr>
          <a:xfrm rot="0">
            <a:off x="1338262" y="2757487"/>
            <a:ext cx="7646784" cy="500063"/>
          </a:xfrm>
          <a:prstGeom prst="rect">
            <a:avLst/>
          </a:prstGeom>
        </p:spPr>
        <p:txBody>
          <a:bodyPr anchor="t" rtlCol="false" tIns="0" lIns="0" bIns="0" rIns="0">
            <a:spAutoFit/>
          </a:bodyPr>
          <a:lstStyle/>
          <a:p>
            <a:pPr algn="l">
              <a:lnSpc>
                <a:spcPts val="2970"/>
              </a:lnSpc>
            </a:pPr>
            <a:r>
              <a:rPr lang="en-US" sz="2475">
                <a:solidFill>
                  <a:srgbClr val="20494A"/>
                </a:solidFill>
                <a:latin typeface="Poppins"/>
                <a:ea typeface="Poppins"/>
                <a:cs typeface="Poppins"/>
                <a:sym typeface="Poppins"/>
              </a:rPr>
              <a:t>Bringing AI into Statistics</a:t>
            </a:r>
          </a:p>
        </p:txBody>
      </p:sp>
      <p:sp>
        <p:nvSpPr>
          <p:cNvPr name="TextBox 13" id="13"/>
          <p:cNvSpPr txBox="true"/>
          <p:nvPr/>
        </p:nvSpPr>
        <p:spPr>
          <a:xfrm rot="0">
            <a:off x="1481138" y="3343275"/>
            <a:ext cx="7127081" cy="882701"/>
          </a:xfrm>
          <a:prstGeom prst="rect">
            <a:avLst/>
          </a:prstGeom>
        </p:spPr>
        <p:txBody>
          <a:bodyPr anchor="t" rtlCol="false" tIns="0" lIns="0" bIns="0" rIns="0">
            <a:spAutoFit/>
          </a:bodyPr>
          <a:lstStyle/>
          <a:p>
            <a:pPr algn="l">
              <a:lnSpc>
                <a:spcPts val="3138"/>
              </a:lnSpc>
            </a:pPr>
            <a:r>
              <a:rPr lang="en-US" sz="2025">
                <a:solidFill>
                  <a:srgbClr val="1F2937"/>
                </a:solidFill>
                <a:latin typeface="Poppins"/>
                <a:ea typeface="Poppins"/>
                <a:cs typeface="Poppins"/>
                <a:sym typeface="Poppins"/>
              </a:rPr>
              <a:t>In 4.1–4.4, you built every statistical skill </a:t>
            </a:r>
            <a:r>
              <a:rPr lang="en-US" sz="2025" b="true">
                <a:solidFill>
                  <a:srgbClr val="1F2937"/>
                </a:solidFill>
                <a:latin typeface="Poppins Bold"/>
                <a:ea typeface="Poppins Bold"/>
                <a:cs typeface="Poppins Bold"/>
                <a:sym typeface="Poppins Bold"/>
              </a:rPr>
              <a:t>by hand in Excel</a:t>
            </a:r>
            <a:r>
              <a:rPr lang="en-US" sz="2025">
                <a:solidFill>
                  <a:srgbClr val="1F2937"/>
                </a:solidFill>
                <a:latin typeface="Poppins"/>
                <a:ea typeface="Poppins"/>
                <a:cs typeface="Poppins"/>
                <a:sym typeface="Poppins"/>
              </a:rPr>
              <a:t>.</a:t>
            </a:r>
          </a:p>
        </p:txBody>
      </p:sp>
      <p:sp>
        <p:nvSpPr>
          <p:cNvPr name="TextBox 14" id="14"/>
          <p:cNvSpPr txBox="true"/>
          <p:nvPr/>
        </p:nvSpPr>
        <p:spPr>
          <a:xfrm rot="0">
            <a:off x="1481138" y="4283126"/>
            <a:ext cx="7127081" cy="882701"/>
          </a:xfrm>
          <a:prstGeom prst="rect">
            <a:avLst/>
          </a:prstGeom>
        </p:spPr>
        <p:txBody>
          <a:bodyPr anchor="t" rtlCol="false" tIns="0" lIns="0" bIns="0" rIns="0">
            <a:spAutoFit/>
          </a:bodyPr>
          <a:lstStyle/>
          <a:p>
            <a:pPr algn="l">
              <a:lnSpc>
                <a:spcPts val="3138"/>
              </a:lnSpc>
            </a:pPr>
            <a:r>
              <a:rPr lang="en-US" sz="2025">
                <a:solidFill>
                  <a:srgbClr val="1F2937"/>
                </a:solidFill>
                <a:latin typeface="Poppins"/>
                <a:ea typeface="Poppins"/>
                <a:cs typeface="Poppins"/>
                <a:sym typeface="Poppins"/>
              </a:rPr>
              <a:t>In Topic 4.5, AI enters as a </a:t>
            </a:r>
            <a:r>
              <a:rPr lang="en-US" sz="2025" b="true">
                <a:solidFill>
                  <a:srgbClr val="1F2937"/>
                </a:solidFill>
                <a:latin typeface="Poppins Bold"/>
                <a:ea typeface="Poppins Bold"/>
                <a:cs typeface="Poppins Bold"/>
                <a:sym typeface="Poppins Bold"/>
              </a:rPr>
              <a:t>tutor and second pair of eyes</a:t>
            </a:r>
            <a:r>
              <a:rPr lang="en-US" sz="2025">
                <a:solidFill>
                  <a:srgbClr val="1F2937"/>
                </a:solidFill>
                <a:latin typeface="Poppins"/>
                <a:ea typeface="Poppins"/>
                <a:cs typeface="Poppins"/>
                <a:sym typeface="Poppins"/>
              </a:rPr>
              <a:t>—never a shortcut.</a:t>
            </a:r>
          </a:p>
        </p:txBody>
      </p:sp>
      <p:sp>
        <p:nvSpPr>
          <p:cNvPr name="TextBox 15" id="15"/>
          <p:cNvSpPr txBox="true"/>
          <p:nvPr/>
        </p:nvSpPr>
        <p:spPr>
          <a:xfrm rot="0">
            <a:off x="1481138" y="5222977"/>
            <a:ext cx="7127081" cy="882701"/>
          </a:xfrm>
          <a:prstGeom prst="rect">
            <a:avLst/>
          </a:prstGeom>
        </p:spPr>
        <p:txBody>
          <a:bodyPr anchor="t" rtlCol="false" tIns="0" lIns="0" bIns="0" rIns="0">
            <a:spAutoFit/>
          </a:bodyPr>
          <a:lstStyle/>
          <a:p>
            <a:pPr algn="l">
              <a:lnSpc>
                <a:spcPts val="3138"/>
              </a:lnSpc>
            </a:pPr>
            <a:r>
              <a:rPr lang="en-US" sz="2025">
                <a:solidFill>
                  <a:srgbClr val="1F2937"/>
                </a:solidFill>
                <a:latin typeface="Poppins"/>
                <a:ea typeface="Poppins"/>
                <a:cs typeface="Poppins"/>
                <a:sym typeface="Poppins"/>
              </a:rPr>
              <a:t>You now know what correct interpretation looks like, making you ready to critique AI outputs.</a:t>
            </a:r>
          </a:p>
        </p:txBody>
      </p:sp>
      <p:grpSp>
        <p:nvGrpSpPr>
          <p:cNvPr name="Group 16" id="16"/>
          <p:cNvGrpSpPr/>
          <p:nvPr/>
        </p:nvGrpSpPr>
        <p:grpSpPr>
          <a:xfrm rot="0">
            <a:off x="1071562" y="6391427"/>
            <a:ext cx="7536656" cy="1614488"/>
            <a:chOff x="0" y="0"/>
            <a:chExt cx="10048875" cy="2152650"/>
          </a:xfrm>
        </p:grpSpPr>
        <p:sp>
          <p:nvSpPr>
            <p:cNvPr name="Freeform 17" id="17" descr="image.png"/>
            <p:cNvSpPr/>
            <p:nvPr/>
          </p:nvSpPr>
          <p:spPr>
            <a:xfrm flipH="false" flipV="false" rot="0">
              <a:off x="0" y="0"/>
              <a:ext cx="10048875" cy="2152650"/>
            </a:xfrm>
            <a:custGeom>
              <a:avLst/>
              <a:gdLst/>
              <a:ahLst/>
              <a:cxnLst/>
              <a:rect r="r" b="b" t="t" l="l"/>
              <a:pathLst>
                <a:path h="2152650" w="10048875">
                  <a:moveTo>
                    <a:pt x="0" y="0"/>
                  </a:moveTo>
                  <a:lnTo>
                    <a:pt x="10048875" y="0"/>
                  </a:lnTo>
                  <a:lnTo>
                    <a:pt x="10048875" y="2152650"/>
                  </a:lnTo>
                  <a:lnTo>
                    <a:pt x="0" y="2152650"/>
                  </a:lnTo>
                  <a:lnTo>
                    <a:pt x="0" y="0"/>
                  </a:lnTo>
                  <a:close/>
                </a:path>
              </a:pathLst>
            </a:custGeom>
            <a:blipFill>
              <a:blip r:embed="rId8"/>
              <a:stretch>
                <a:fillRect l="0" t="-204" r="0" b="-204"/>
              </a:stretch>
            </a:blipFill>
          </p:spPr>
        </p:sp>
      </p:grpSp>
      <p:sp>
        <p:nvSpPr>
          <p:cNvPr name="TextBox 18" id="18"/>
          <p:cNvSpPr txBox="true"/>
          <p:nvPr/>
        </p:nvSpPr>
        <p:spPr>
          <a:xfrm rot="0">
            <a:off x="1314450" y="5288937"/>
            <a:ext cx="100012" cy="419100"/>
          </a:xfrm>
          <a:prstGeom prst="rect">
            <a:avLst/>
          </a:prstGeom>
        </p:spPr>
        <p:txBody>
          <a:bodyPr anchor="t" rtlCol="false" tIns="0" lIns="0" bIns="0" rIns="0">
            <a:spAutoFit/>
          </a:bodyPr>
          <a:lstStyle/>
          <a:p>
            <a:pPr algn="l">
              <a:lnSpc>
                <a:spcPts val="2430"/>
              </a:lnSpc>
            </a:pPr>
            <a:r>
              <a:rPr lang="en-US" sz="2025">
                <a:solidFill>
                  <a:srgbClr val="1F2937"/>
                </a:solidFill>
                <a:latin typeface="Poppins"/>
                <a:ea typeface="Poppins"/>
                <a:cs typeface="Poppins"/>
                <a:sym typeface="Poppins"/>
              </a:rPr>
              <a:t>•</a:t>
            </a:r>
          </a:p>
        </p:txBody>
      </p:sp>
      <p:sp>
        <p:nvSpPr>
          <p:cNvPr name="TextBox 19" id="19"/>
          <p:cNvSpPr txBox="true"/>
          <p:nvPr/>
        </p:nvSpPr>
        <p:spPr>
          <a:xfrm rot="0">
            <a:off x="1314450" y="3409236"/>
            <a:ext cx="100012" cy="419100"/>
          </a:xfrm>
          <a:prstGeom prst="rect">
            <a:avLst/>
          </a:prstGeom>
        </p:spPr>
        <p:txBody>
          <a:bodyPr anchor="t" rtlCol="false" tIns="0" lIns="0" bIns="0" rIns="0">
            <a:spAutoFit/>
          </a:bodyPr>
          <a:lstStyle/>
          <a:p>
            <a:pPr algn="l">
              <a:lnSpc>
                <a:spcPts val="2430"/>
              </a:lnSpc>
            </a:pPr>
            <a:r>
              <a:rPr lang="en-US" sz="2025">
                <a:solidFill>
                  <a:srgbClr val="1F2937"/>
                </a:solidFill>
                <a:latin typeface="Poppins"/>
                <a:ea typeface="Poppins"/>
                <a:cs typeface="Poppins"/>
                <a:sym typeface="Poppins"/>
              </a:rPr>
              <a:t>•</a:t>
            </a:r>
          </a:p>
        </p:txBody>
      </p:sp>
      <p:sp>
        <p:nvSpPr>
          <p:cNvPr name="TextBox 20" id="20"/>
          <p:cNvSpPr txBox="true"/>
          <p:nvPr/>
        </p:nvSpPr>
        <p:spPr>
          <a:xfrm rot="0">
            <a:off x="1314450" y="4349086"/>
            <a:ext cx="100012" cy="419100"/>
          </a:xfrm>
          <a:prstGeom prst="rect">
            <a:avLst/>
          </a:prstGeom>
        </p:spPr>
        <p:txBody>
          <a:bodyPr anchor="t" rtlCol="false" tIns="0" lIns="0" bIns="0" rIns="0">
            <a:spAutoFit/>
          </a:bodyPr>
          <a:lstStyle/>
          <a:p>
            <a:pPr algn="l">
              <a:lnSpc>
                <a:spcPts val="2430"/>
              </a:lnSpc>
            </a:pPr>
            <a:r>
              <a:rPr lang="en-US" sz="2025">
                <a:solidFill>
                  <a:srgbClr val="1F2937"/>
                </a:solidFill>
                <a:latin typeface="Poppins"/>
                <a:ea typeface="Poppins"/>
                <a:cs typeface="Poppins"/>
                <a:sym typeface="Poppins"/>
              </a:rPr>
              <a:t>•</a:t>
            </a:r>
          </a:p>
        </p:txBody>
      </p:sp>
      <p:grpSp>
        <p:nvGrpSpPr>
          <p:cNvPr name="Group 21" id="21"/>
          <p:cNvGrpSpPr/>
          <p:nvPr/>
        </p:nvGrpSpPr>
        <p:grpSpPr>
          <a:xfrm rot="0">
            <a:off x="9336881" y="2443162"/>
            <a:ext cx="8222456" cy="6429375"/>
            <a:chOff x="0" y="0"/>
            <a:chExt cx="10963275" cy="8572500"/>
          </a:xfrm>
        </p:grpSpPr>
        <p:sp>
          <p:nvSpPr>
            <p:cNvPr name="Freeform 22" id="22" descr="image.png"/>
            <p:cNvSpPr/>
            <p:nvPr/>
          </p:nvSpPr>
          <p:spPr>
            <a:xfrm flipH="false" flipV="false" rot="0">
              <a:off x="0" y="0"/>
              <a:ext cx="10963275" cy="8572500"/>
            </a:xfrm>
            <a:custGeom>
              <a:avLst/>
              <a:gdLst/>
              <a:ahLst/>
              <a:cxnLst/>
              <a:rect r="r" b="b" t="t" l="l"/>
              <a:pathLst>
                <a:path h="8572500" w="10963275">
                  <a:moveTo>
                    <a:pt x="0" y="0"/>
                  </a:moveTo>
                  <a:lnTo>
                    <a:pt x="10963275" y="0"/>
                  </a:lnTo>
                  <a:lnTo>
                    <a:pt x="10963275" y="8572500"/>
                  </a:lnTo>
                  <a:lnTo>
                    <a:pt x="0" y="8572500"/>
                  </a:lnTo>
                  <a:lnTo>
                    <a:pt x="0" y="0"/>
                  </a:lnTo>
                  <a:close/>
                </a:path>
              </a:pathLst>
            </a:custGeom>
            <a:blipFill>
              <a:blip r:embed="rId9"/>
              <a:stretch>
                <a:fillRect l="0" t="-5" r="0" b="-4"/>
              </a:stretch>
            </a:blipFill>
          </p:spPr>
        </p:sp>
      </p:grpSp>
      <p:sp>
        <p:nvSpPr>
          <p:cNvPr name="Freeform 23" id="23"/>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DAHUJYlQ4V4</dc:identifier>
  <dcterms:modified xsi:type="dcterms:W3CDTF">2011-08-01T06:04:30Z</dcterms:modified>
  <cp:revision>1</cp:revision>
  <dc:title>4.4_Hypothesis Testing.pptx</dc:title>
</cp:coreProperties>
</file>