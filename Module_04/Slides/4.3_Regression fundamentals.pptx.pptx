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nter" charset="1" panose="02000503000000020004"/>
      <p:regular r:id="rId25"/>
    </p:embeddedFont>
    <p:embeddedFont>
      <p:font typeface="Poppins Bold" charset="1" panose="00000800000000000000"/>
      <p:regular r:id="rId26"/>
    </p:embeddedFont>
    <p:embeddedFont>
      <p:font typeface="Poppins" charset="1" panose="00000500000000000000"/>
      <p:regular r:id="rId28"/>
    </p:embeddedFont>
    <p:embeddedFont>
      <p:font typeface="Poppins Italics" charset="1" panose="00000500000000000000"/>
      <p:regular r:id="rId30"/>
    </p:embeddedFont>
    <p:embeddedFont>
      <p:font typeface="Poppins Medium" charset="1" panose="000006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jpe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jpe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5.jpe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5.jpe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17" Target="../media/image24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14" Target="../media/image43.png" Type="http://schemas.openxmlformats.org/officeDocument/2006/relationships/image"/><Relationship Id="rId15" Target="../media/image24.png" Type="http://schemas.openxmlformats.org/officeDocument/2006/relationships/image"/><Relationship Id="rId16" Target="../media/image44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35.png" Type="http://schemas.openxmlformats.org/officeDocument/2006/relationships/image"/><Relationship Id="rId12" Target="../media/image46.png" Type="http://schemas.openxmlformats.org/officeDocument/2006/relationships/image"/><Relationship Id="rId13" Target="../media/image24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47.png" Type="http://schemas.openxmlformats.org/officeDocument/2006/relationships/image"/><Relationship Id="rId17" Target="../media/image48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12" Target="../media/image51.png" Type="http://schemas.openxmlformats.org/officeDocument/2006/relationships/image"/><Relationship Id="rId13" Target="../media/image52.png" Type="http://schemas.openxmlformats.org/officeDocument/2006/relationships/image"/><Relationship Id="rId14" Target="../media/image24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35.png" Type="http://schemas.openxmlformats.org/officeDocument/2006/relationships/image"/><Relationship Id="rId12" Target="../media/image54.png" Type="http://schemas.openxmlformats.org/officeDocument/2006/relationships/image"/><Relationship Id="rId13" Target="../media/image24.png" Type="http://schemas.openxmlformats.org/officeDocument/2006/relationships/image"/><Relationship Id="rId14" Target="../media/image55.png" Type="http://schemas.openxmlformats.org/officeDocument/2006/relationships/image"/><Relationship Id="rId15" Target="../media/image56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62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5.jpeg" Type="http://schemas.openxmlformats.org/officeDocument/2006/relationships/image"/><Relationship Id="rId12" Target="../media/image65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16" Target="../media/image72.png" Type="http://schemas.openxmlformats.org/officeDocument/2006/relationships/image"/><Relationship Id="rId17" Target="../media/image73.png" Type="http://schemas.openxmlformats.org/officeDocument/2006/relationships/image"/><Relationship Id="rId18" Target="../media/image74.png" Type="http://schemas.openxmlformats.org/officeDocument/2006/relationships/image"/><Relationship Id="rId19" Target="../media/image75.png" Type="http://schemas.openxmlformats.org/officeDocument/2006/relationships/image"/><Relationship Id="rId2" Target="../notesSlides/notesSlide12.xml" Type="http://schemas.openxmlformats.org/officeDocument/2006/relationships/notesSlide"/><Relationship Id="rId20" Target="../media/image76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24.png" Type="http://schemas.openxmlformats.org/officeDocument/2006/relationships/image"/><Relationship Id="rId12" Target="../media/image78.png" Type="http://schemas.openxmlformats.org/officeDocument/2006/relationships/image"/><Relationship Id="rId13" Target="../media/image79.png" Type="http://schemas.openxmlformats.org/officeDocument/2006/relationships/image"/><Relationship Id="rId14" Target="../media/image80.pn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82.png" Type="http://schemas.openxmlformats.org/officeDocument/2006/relationships/image"/><Relationship Id="rId12" Target="../media/image24.png" Type="http://schemas.openxmlformats.org/officeDocument/2006/relationships/image"/><Relationship Id="rId13" Target="../media/image83.png" Type="http://schemas.openxmlformats.org/officeDocument/2006/relationships/image"/><Relationship Id="rId14" Target="../media/image84.png" Type="http://schemas.openxmlformats.org/officeDocument/2006/relationships/image"/><Relationship Id="rId15" Target="../media/image85.png" Type="http://schemas.openxmlformats.org/officeDocument/2006/relationships/image"/><Relationship Id="rId16" Target="../media/image86.pn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png" Type="http://schemas.openxmlformats.org/officeDocument/2006/relationships/image"/><Relationship Id="rId12" Target="../media/image5.jpeg" Type="http://schemas.openxmlformats.org/officeDocument/2006/relationships/image"/><Relationship Id="rId13" Target="../media/image90.pn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5.jpeg" Type="http://schemas.openxmlformats.org/officeDocument/2006/relationships/image"/><Relationship Id="rId12" Target="../media/image93.png" Type="http://schemas.openxmlformats.org/officeDocument/2006/relationships/image"/><Relationship Id="rId13" Target="../media/image94.png" Type="http://schemas.openxmlformats.org/officeDocument/2006/relationships/image"/><Relationship Id="rId14" Target="../media/image95.png" Type="http://schemas.openxmlformats.org/officeDocument/2006/relationships/image"/><Relationship Id="rId15" Target="../media/image24.pn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9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" r="0" b="-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8" t="0" r="-1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2944759"/>
            <a:ext cx="16002000" cy="438950"/>
            <a:chOff x="0" y="0"/>
            <a:chExt cx="21336000" cy="585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585267"/>
            </a:xfrm>
            <a:custGeom>
              <a:avLst/>
              <a:gdLst/>
              <a:ahLst/>
              <a:cxnLst/>
              <a:rect r="r" b="b" t="t" l="l"/>
              <a:pathLst>
                <a:path h="58526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585267"/>
                  </a:lnTo>
                  <a:lnTo>
                    <a:pt x="0" y="585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73526" r="0" b="-6471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336000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DATA ANALYSIS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3342427"/>
            <a:ext cx="16002000" cy="698283"/>
            <a:chOff x="0" y="0"/>
            <a:chExt cx="21336000" cy="931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931038"/>
            </a:xfrm>
            <a:custGeom>
              <a:avLst/>
              <a:gdLst/>
              <a:ahLst/>
              <a:cxnLst/>
              <a:rect r="r" b="b" t="t" l="l"/>
              <a:pathLst>
                <a:path h="931038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31038"/>
                  </a:lnTo>
                  <a:lnTo>
                    <a:pt x="0" y="9310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6525" r="0" b="-39652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336000" cy="940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Module 4: Statistic for Analytics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9001125"/>
            <a:ext cx="385667" cy="342900"/>
            <a:chOff x="0" y="0"/>
            <a:chExt cx="514223" cy="457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" t="0" r="-1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7754" cy="585216"/>
            </a:xfrm>
            <a:custGeom>
              <a:avLst/>
              <a:gdLst/>
              <a:ahLst/>
              <a:cxnLst/>
              <a:rect r="r" b="b" t="t" l="l"/>
              <a:pathLst>
                <a:path h="585216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080" r="-1" b="-4509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7805" cy="585267"/>
            </a:xfrm>
            <a:custGeom>
              <a:avLst/>
              <a:gdLst/>
              <a:ahLst/>
              <a:cxnLst/>
              <a:rect r="r" b="b" t="t" l="l"/>
              <a:pathLst>
                <a:path h="585267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585267"/>
                  </a:lnTo>
                  <a:lnTo>
                    <a:pt x="0" y="585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143" r="0" b="-451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3 of 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3000" y="552450"/>
            <a:ext cx="2124666" cy="1845802"/>
            <a:chOff x="0" y="0"/>
            <a:chExt cx="2832887" cy="24610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1" r="0" b="-49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43000" y="3992404"/>
            <a:ext cx="7455091" cy="2513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Regression</a:t>
            </a:r>
          </a:p>
          <a:p>
            <a:pPr algn="l">
              <a:lnSpc>
                <a:spcPts val="9625"/>
              </a:lnSpc>
            </a:pPr>
            <a:r>
              <a:rPr lang="en-US" sz="77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Fundamentals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001070" y="1733550"/>
            <a:ext cx="6258230" cy="6258230"/>
            <a:chOff x="0" y="0"/>
            <a:chExt cx="8344306" cy="83443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10"/>
              <a:stretch>
                <a:fillRect l="-292" t="0" r="-292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4338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49033" y="2071783"/>
            <a:ext cx="6714934" cy="6714934"/>
            <a:chOff x="0" y="0"/>
            <a:chExt cx="8953246" cy="89532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53246" cy="8953246"/>
            </a:xfrm>
            <a:custGeom>
              <a:avLst/>
              <a:gdLst/>
              <a:ahLst/>
              <a:cxnLst/>
              <a:rect r="r" b="b" t="t" l="l"/>
              <a:pathLst>
                <a:path h="8953246" w="8953246">
                  <a:moveTo>
                    <a:pt x="254508" y="0"/>
                  </a:moveTo>
                  <a:lnTo>
                    <a:pt x="8698738" y="0"/>
                  </a:lnTo>
                  <a:cubicBezTo>
                    <a:pt x="8766302" y="0"/>
                    <a:pt x="8830945" y="26797"/>
                    <a:pt x="8878697" y="74549"/>
                  </a:cubicBezTo>
                  <a:cubicBezTo>
                    <a:pt x="8926449" y="122301"/>
                    <a:pt x="8953246" y="187071"/>
                    <a:pt x="8953246" y="254508"/>
                  </a:cubicBezTo>
                  <a:lnTo>
                    <a:pt x="8953246" y="8698738"/>
                  </a:lnTo>
                  <a:cubicBezTo>
                    <a:pt x="8953246" y="8839327"/>
                    <a:pt x="8839327" y="8953246"/>
                    <a:pt x="8698738" y="8953246"/>
                  </a:cubicBezTo>
                  <a:lnTo>
                    <a:pt x="254508" y="8953246"/>
                  </a:lnTo>
                  <a:cubicBezTo>
                    <a:pt x="113919" y="8953246"/>
                    <a:pt x="0" y="8839327"/>
                    <a:pt x="0" y="8698738"/>
                  </a:cubicBezTo>
                  <a:lnTo>
                    <a:pt x="0" y="254508"/>
                  </a:lnTo>
                  <a:cubicBezTo>
                    <a:pt x="0" y="113919"/>
                    <a:pt x="113919" y="0"/>
                    <a:pt x="25450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43000" y="714375"/>
            <a:ext cx="1710213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72" t="0" r="-77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43000" y="2919041"/>
            <a:ext cx="8955387" cy="1408557"/>
            <a:chOff x="0" y="0"/>
            <a:chExt cx="11940516" cy="187807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675878" y="0"/>
              <a:ext cx="11264637" cy="747522"/>
              <a:chOff x="0" y="0"/>
              <a:chExt cx="11264637" cy="74752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264637" cy="747522"/>
              </a:xfrm>
              <a:custGeom>
                <a:avLst/>
                <a:gdLst/>
                <a:ahLst/>
                <a:cxnLst/>
                <a:rect r="r" b="b" t="t" l="l"/>
                <a:pathLst>
                  <a:path h="747522" w="11264637">
                    <a:moveTo>
                      <a:pt x="0" y="0"/>
                    </a:moveTo>
                    <a:lnTo>
                      <a:pt x="11264637" y="0"/>
                    </a:lnTo>
                    <a:lnTo>
                      <a:pt x="11264637" y="747522"/>
                    </a:lnTo>
                    <a:lnTo>
                      <a:pt x="0" y="747522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210054" r="15443" b="-186506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11264637" cy="7760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20494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1. Fit a Regression Line</a:t>
                </a: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811911"/>
              <a:ext cx="11940516" cy="989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Fit a simple linear regression line to a dataset in Excel using built-in statistical functions                   ( and )                              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183261"/>
              <a:ext cx="450585" cy="381000"/>
              <a:chOff x="0" y="0"/>
              <a:chExt cx="450585" cy="381000"/>
            </a:xfrm>
          </p:grpSpPr>
          <p:sp>
            <p:nvSpPr>
              <p:cNvPr name="Freeform 19" id="19" descr="image.png"/>
              <p:cNvSpPr/>
              <p:nvPr/>
            </p:nvSpPr>
            <p:spPr>
              <a:xfrm flipH="false" flipV="false" rot="0">
                <a:off x="0" y="0"/>
                <a:ext cx="450585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450585">
                    <a:moveTo>
                      <a:pt x="0" y="0"/>
                    </a:moveTo>
                    <a:lnTo>
                      <a:pt x="450585" y="0"/>
                    </a:lnTo>
                    <a:lnTo>
                      <a:pt x="450585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-12088" r="0" b="-12088"/>
                </a:stretch>
              </a:blip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3405005" y="1344676"/>
              <a:ext cx="1667512" cy="533400"/>
              <a:chOff x="0" y="0"/>
              <a:chExt cx="1667512" cy="533400"/>
            </a:xfrm>
          </p:grpSpPr>
          <p:sp>
            <p:nvSpPr>
              <p:cNvPr name="Freeform 21" id="21" descr="image.png"/>
              <p:cNvSpPr/>
              <p:nvPr/>
            </p:nvSpPr>
            <p:spPr>
              <a:xfrm flipH="false" flipV="false" rot="0">
                <a:off x="0" y="0"/>
                <a:ext cx="1667467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1667467">
                    <a:moveTo>
                      <a:pt x="0" y="0"/>
                    </a:moveTo>
                    <a:lnTo>
                      <a:pt x="1667467" y="0"/>
                    </a:lnTo>
                    <a:lnTo>
                      <a:pt x="1667467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10441" r="-2" b="-10438"/>
                </a:stretch>
              </a:blip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6308197" y="1344676"/>
              <a:ext cx="2640852" cy="533400"/>
              <a:chOff x="0" y="0"/>
              <a:chExt cx="2640852" cy="533400"/>
            </a:xfrm>
          </p:grpSpPr>
          <p:sp>
            <p:nvSpPr>
              <p:cNvPr name="Freeform 23" id="23" descr="image.png"/>
              <p:cNvSpPr/>
              <p:nvPr/>
            </p:nvSpPr>
            <p:spPr>
              <a:xfrm flipH="false" flipV="false" rot="0">
                <a:off x="0" y="0"/>
                <a:ext cx="2640877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2640877">
                    <a:moveTo>
                      <a:pt x="0" y="0"/>
                    </a:moveTo>
                    <a:lnTo>
                      <a:pt x="2640877" y="0"/>
                    </a:lnTo>
                    <a:lnTo>
                      <a:pt x="2640877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-1" t="-10839" r="0" b="-10839"/>
                </a:stretch>
              </a:blipFill>
            </p:spPr>
          </p:sp>
        </p:grpSp>
      </p:grpSp>
      <p:sp>
        <p:nvSpPr>
          <p:cNvPr name="TextBox 24" id="24"/>
          <p:cNvSpPr txBox="true"/>
          <p:nvPr/>
        </p:nvSpPr>
        <p:spPr>
          <a:xfrm rot="0">
            <a:off x="857250" y="2099667"/>
            <a:ext cx="17573625" cy="58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By the end of this topic, you can...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3000" y="4357867"/>
            <a:ext cx="8955387" cy="1350931"/>
            <a:chOff x="0" y="0"/>
            <a:chExt cx="11940516" cy="180124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675878" y="0"/>
              <a:ext cx="11264637" cy="747522"/>
              <a:chOff x="0" y="0"/>
              <a:chExt cx="11264637" cy="74752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264637" cy="747522"/>
              </a:xfrm>
              <a:custGeom>
                <a:avLst/>
                <a:gdLst/>
                <a:ahLst/>
                <a:cxnLst/>
                <a:rect r="r" b="b" t="t" l="l"/>
                <a:pathLst>
                  <a:path h="747522" w="11264637">
                    <a:moveTo>
                      <a:pt x="0" y="0"/>
                    </a:moveTo>
                    <a:lnTo>
                      <a:pt x="11264637" y="0"/>
                    </a:lnTo>
                    <a:lnTo>
                      <a:pt x="11264637" y="747522"/>
                    </a:lnTo>
                    <a:lnTo>
                      <a:pt x="0" y="747522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210054" r="15443" b="-186506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11264637" cy="7760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20494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2. Interpret Parameters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811911"/>
              <a:ext cx="11940516" cy="989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Interpret the slope and intercept of a regression line accurately using clear, plain business language for decision-makers.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0" y="183261"/>
              <a:ext cx="450585" cy="381000"/>
              <a:chOff x="0" y="0"/>
              <a:chExt cx="450585" cy="381000"/>
            </a:xfrm>
          </p:grpSpPr>
          <p:sp>
            <p:nvSpPr>
              <p:cNvPr name="Freeform 31" id="31" descr="image.png"/>
              <p:cNvSpPr/>
              <p:nvPr/>
            </p:nvSpPr>
            <p:spPr>
              <a:xfrm flipH="false" flipV="false" rot="0">
                <a:off x="0" y="0"/>
                <a:ext cx="450585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450585">
                    <a:moveTo>
                      <a:pt x="0" y="0"/>
                    </a:moveTo>
                    <a:lnTo>
                      <a:pt x="450585" y="0"/>
                    </a:lnTo>
                    <a:lnTo>
                      <a:pt x="450585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0" t="-12088" r="0" b="-12088"/>
                </a:stretch>
              </a:blipFill>
            </p:spPr>
          </p:sp>
        </p:grpSp>
      </p:grpSp>
      <p:grpSp>
        <p:nvGrpSpPr>
          <p:cNvPr name="Group 32" id="32"/>
          <p:cNvGrpSpPr/>
          <p:nvPr/>
        </p:nvGrpSpPr>
        <p:grpSpPr>
          <a:xfrm rot="0">
            <a:off x="1143000" y="5802121"/>
            <a:ext cx="9188187" cy="1332548"/>
            <a:chOff x="0" y="0"/>
            <a:chExt cx="12250915" cy="177673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762793" y="0"/>
              <a:ext cx="11488123" cy="747522"/>
              <a:chOff x="0" y="0"/>
              <a:chExt cx="11488123" cy="74752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1488123" cy="747522"/>
              </a:xfrm>
              <a:custGeom>
                <a:avLst/>
                <a:gdLst/>
                <a:ahLst/>
                <a:cxnLst/>
                <a:rect r="r" b="b" t="t" l="l"/>
                <a:pathLst>
                  <a:path h="747522" w="11488123">
                    <a:moveTo>
                      <a:pt x="0" y="0"/>
                    </a:moveTo>
                    <a:lnTo>
                      <a:pt x="11488123" y="0"/>
                    </a:lnTo>
                    <a:lnTo>
                      <a:pt x="11488123" y="747522"/>
                    </a:lnTo>
                    <a:lnTo>
                      <a:pt x="0" y="747522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208564" r="17585" b="-185016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28575"/>
                <a:ext cx="11488123" cy="7760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20494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3. Interpret R-Squared (R²)</a:t>
                </a: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0" y="787400"/>
              <a:ext cx="12250915" cy="989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Interpret R² as a direct measure of how much variation in the business outcome your statistical model actually explains.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0">
              <a:off x="0" y="158750"/>
              <a:ext cx="531643" cy="381000"/>
              <a:chOff x="0" y="0"/>
              <a:chExt cx="531643" cy="381000"/>
            </a:xfrm>
          </p:grpSpPr>
          <p:sp>
            <p:nvSpPr>
              <p:cNvPr name="Freeform 38" id="38" descr="image.png"/>
              <p:cNvSpPr/>
              <p:nvPr/>
            </p:nvSpPr>
            <p:spPr>
              <a:xfrm flipH="false" flipV="false" rot="0">
                <a:off x="0" y="0"/>
                <a:ext cx="531644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531644">
                    <a:moveTo>
                      <a:pt x="0" y="0"/>
                    </a:moveTo>
                    <a:lnTo>
                      <a:pt x="531644" y="0"/>
                    </a:lnTo>
                    <a:lnTo>
                      <a:pt x="531644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0" t="-13702" r="0" b="-13702"/>
                </a:stretch>
              </a:blipFill>
            </p:spPr>
          </p:sp>
        </p:grpSp>
      </p:grpSp>
      <p:grpSp>
        <p:nvGrpSpPr>
          <p:cNvPr name="Group 39" id="39"/>
          <p:cNvGrpSpPr/>
          <p:nvPr/>
        </p:nvGrpSpPr>
        <p:grpSpPr>
          <a:xfrm rot="0">
            <a:off x="1143000" y="7144193"/>
            <a:ext cx="9048624" cy="1350931"/>
            <a:chOff x="0" y="0"/>
            <a:chExt cx="12064831" cy="1801241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682915" y="0"/>
              <a:ext cx="11381916" cy="747522"/>
              <a:chOff x="0" y="0"/>
              <a:chExt cx="11381916" cy="74752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1381916" cy="747522"/>
              </a:xfrm>
              <a:custGeom>
                <a:avLst/>
                <a:gdLst/>
                <a:ahLst/>
                <a:cxnLst/>
                <a:rect r="r" b="b" t="t" l="l"/>
                <a:pathLst>
                  <a:path h="747522" w="11381916">
                    <a:moveTo>
                      <a:pt x="0" y="0"/>
                    </a:moveTo>
                    <a:lnTo>
                      <a:pt x="11381916" y="0"/>
                    </a:lnTo>
                    <a:lnTo>
                      <a:pt x="11381916" y="747522"/>
                    </a:lnTo>
                    <a:lnTo>
                      <a:pt x="0" y="747522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210054" r="16314" b="-186506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11381916" cy="7760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D97706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4. State Model Limits</a:t>
                </a: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0" y="811911"/>
              <a:ext cx="12064831" cy="989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State the limits of regression models, including the severe dangers of </a:t>
              </a: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extrapolation</a:t>
              </a: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 and forcing a straight line onto a curved relationship.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0" y="183261"/>
              <a:ext cx="455277" cy="381000"/>
              <a:chOff x="0" y="0"/>
              <a:chExt cx="455277" cy="381000"/>
            </a:xfrm>
          </p:grpSpPr>
          <p:sp>
            <p:nvSpPr>
              <p:cNvPr name="Freeform 45" id="45" descr="image.png"/>
              <p:cNvSpPr/>
              <p:nvPr/>
            </p:nvSpPr>
            <p:spPr>
              <a:xfrm flipH="false" flipV="false" rot="0">
                <a:off x="0" y="0"/>
                <a:ext cx="455277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455277">
                    <a:moveTo>
                      <a:pt x="0" y="0"/>
                    </a:moveTo>
                    <a:lnTo>
                      <a:pt x="455277" y="0"/>
                    </a:lnTo>
                    <a:lnTo>
                      <a:pt x="455277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6"/>
                <a:stretch>
                  <a:fillRect l="0" t="-12734" r="0" b="-12734"/>
                </a:stretch>
              </a:blipFill>
            </p:spPr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622" y="3428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4500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If we spend ₦40,000 tomorrow, what sales can we expect?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4375" y="2291582"/>
            <a:ext cx="8251031" cy="6908006"/>
            <a:chOff x="0" y="0"/>
            <a:chExt cx="11001375" cy="9210675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1001375" cy="9210675"/>
            </a:xfrm>
            <a:custGeom>
              <a:avLst/>
              <a:gdLst/>
              <a:ahLst/>
              <a:cxnLst/>
              <a:rect r="r" b="b" t="t" l="l"/>
              <a:pathLst>
                <a:path h="9210675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9210675"/>
                  </a:lnTo>
                  <a:lnTo>
                    <a:pt x="0" y="9210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" r="0" b="-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71562" y="2620194"/>
            <a:ext cx="7065169" cy="428625"/>
            <a:chOff x="0" y="0"/>
            <a:chExt cx="9420225" cy="571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20224" cy="571500"/>
            </a:xfrm>
            <a:custGeom>
              <a:avLst/>
              <a:gdLst/>
              <a:ahLst/>
              <a:cxnLst/>
              <a:rect r="r" b="b" t="t" l="l"/>
              <a:pathLst>
                <a:path h="571500" w="9420224">
                  <a:moveTo>
                    <a:pt x="0" y="0"/>
                  </a:moveTo>
                  <a:lnTo>
                    <a:pt x="9420224" y="0"/>
                  </a:lnTo>
                  <a:lnTo>
                    <a:pt x="942022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1178" r="0" b="-27117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42022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The Ikeja Branch Challenge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71562" y="3144069"/>
            <a:ext cx="753665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The Ikeja branch manager liked Topic 4.2's finding that ad spend and daily sales move together ($r \approx 0.78$).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1562" y="4087044"/>
            <a:ext cx="753665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Now, they want something far more practical than </a:t>
            </a:r>
            <a:r>
              <a:rPr lang="en-US" sz="2025" i="true">
                <a:solidFill>
                  <a:srgbClr val="0A1A2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"they are related"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14512" y="5530082"/>
            <a:ext cx="650795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"If I commit to spending exactly ₦40,000 on ads tomorrow, what sales figure should I plan around?"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28750" y="5792019"/>
            <a:ext cx="214312" cy="228600"/>
            <a:chOff x="0" y="0"/>
            <a:chExt cx="285750" cy="3048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85750" cy="304800"/>
            </a:xfrm>
            <a:custGeom>
              <a:avLst/>
              <a:gdLst/>
              <a:ahLst/>
              <a:cxnLst/>
              <a:rect r="r" b="b" t="t" l="l"/>
              <a:pathLst>
                <a:path h="3048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125" r="0" b="-312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71612" y="6639744"/>
            <a:ext cx="7136606" cy="11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 alone cannot answer this: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It shows variables move together, but not by how much, or what value to expect.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1612" y="7904188"/>
            <a:ext cx="7136606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Regression is built for this: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Draws the best-fitting straight line to make specific numeric predictions.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71562" y="6734994"/>
            <a:ext cx="185738" cy="214312"/>
            <a:chOff x="0" y="0"/>
            <a:chExt cx="247650" cy="2857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71562" y="7999438"/>
            <a:ext cx="185738" cy="214312"/>
            <a:chOff x="0" y="0"/>
            <a:chExt cx="247650" cy="2857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322594" y="2291582"/>
            <a:ext cx="7936706" cy="6908006"/>
            <a:chOff x="0" y="0"/>
            <a:chExt cx="10582275" cy="9210675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0582275" cy="9210675"/>
            </a:xfrm>
            <a:custGeom>
              <a:avLst/>
              <a:gdLst/>
              <a:ahLst/>
              <a:cxnLst/>
              <a:rect r="r" b="b" t="t" l="l"/>
              <a:pathLst>
                <a:path h="9210675" w="10582275">
                  <a:moveTo>
                    <a:pt x="0" y="0"/>
                  </a:moveTo>
                  <a:lnTo>
                    <a:pt x="10582275" y="0"/>
                  </a:lnTo>
                  <a:lnTo>
                    <a:pt x="10582275" y="9210675"/>
                  </a:lnTo>
                  <a:lnTo>
                    <a:pt x="0" y="9210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971" t="0" r="-1971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790397" y="3966791"/>
            <a:ext cx="331541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72E6C8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Predicting From Data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65494" y="4638304"/>
            <a:ext cx="7565231" cy="2857500"/>
            <a:chOff x="0" y="0"/>
            <a:chExt cx="10086975" cy="38100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10086975" cy="3810000"/>
            </a:xfrm>
            <a:custGeom>
              <a:avLst/>
              <a:gdLst/>
              <a:ahLst/>
              <a:cxnLst/>
              <a:rect r="r" b="b" t="t" l="l"/>
              <a:pathLst>
                <a:path h="3810000" w="10086975">
                  <a:moveTo>
                    <a:pt x="0" y="0"/>
                  </a:moveTo>
                  <a:lnTo>
                    <a:pt x="10086975" y="0"/>
                  </a:lnTo>
                  <a:lnTo>
                    <a:pt x="10086975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02" r="0" b="-20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What is a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Regression Line?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375" y="2205857"/>
            <a:ext cx="16859250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13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13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regression line</a:t>
            </a:r>
            <a:r>
              <a:rPr lang="en-US" sz="213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is the single straight line that best fits a scatter plot of two variables, positioned so that it is, on average, as close as possible to every data dot.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14375" y="3391719"/>
            <a:ext cx="8251031" cy="2328862"/>
            <a:chOff x="0" y="0"/>
            <a:chExt cx="11001375" cy="31051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1001375" cy="3105150"/>
            </a:xfrm>
            <a:custGeom>
              <a:avLst/>
              <a:gdLst/>
              <a:ahLst/>
              <a:cxnLst/>
              <a:rect r="r" b="b" t="t" l="l"/>
              <a:pathLst>
                <a:path h="3105150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3105150"/>
                  </a:lnTo>
                  <a:lnTo>
                    <a:pt x="0" y="3105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3" r="0" b="-26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98442" y="3391719"/>
            <a:ext cx="7746558" cy="2328862"/>
            <a:chOff x="0" y="0"/>
            <a:chExt cx="10328744" cy="31051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0328745" cy="3105150"/>
            </a:xfrm>
            <a:custGeom>
              <a:avLst/>
              <a:gdLst/>
              <a:ahLst/>
              <a:cxnLst/>
              <a:rect r="r" b="b" t="t" l="l"/>
              <a:pathLst>
                <a:path h="3105150" w="10328745">
                  <a:moveTo>
                    <a:pt x="0" y="0"/>
                  </a:moveTo>
                  <a:lnTo>
                    <a:pt x="10328745" y="0"/>
                  </a:lnTo>
                  <a:lnTo>
                    <a:pt x="10328745" y="3105150"/>
                  </a:lnTo>
                  <a:lnTo>
                    <a:pt x="0" y="3105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977" t="0" r="-2977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00175" y="3763194"/>
            <a:ext cx="7208044" cy="428625"/>
            <a:chOff x="0" y="0"/>
            <a:chExt cx="9610725" cy="57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10724" cy="571500"/>
            </a:xfrm>
            <a:custGeom>
              <a:avLst/>
              <a:gdLst/>
              <a:ahLst/>
              <a:cxnLst/>
              <a:rect r="r" b="b" t="t" l="l"/>
              <a:pathLst>
                <a:path h="571500" w="9610724">
                  <a:moveTo>
                    <a:pt x="0" y="0"/>
                  </a:moveTo>
                  <a:lnTo>
                    <a:pt x="9610724" y="0"/>
                  </a:lnTo>
                  <a:lnTo>
                    <a:pt x="961072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77673" r="0" b="-2776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61072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Dependent Variable ($Y$)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679781" y="4287069"/>
            <a:ext cx="753665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What you know / input factor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(e.g., Marketing Spend).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1562" y="4287069"/>
            <a:ext cx="753665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What you are trying to predict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(e.g., Daily Sales).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79781" y="4863332"/>
            <a:ext cx="7536656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4B635E"/>
                </a:solidFill>
                <a:latin typeface="Poppins"/>
                <a:ea typeface="Poppins"/>
                <a:cs typeface="Poppins"/>
                <a:sym typeface="Poppins"/>
              </a:rPr>
              <a:t>Plotted on the </a:t>
            </a:r>
            <a:r>
              <a:rPr lang="en-US" sz="1687" b="true">
                <a:solidFill>
                  <a:srgbClr val="4B635E"/>
                </a:solidFill>
                <a:latin typeface="Poppins Bold"/>
                <a:ea typeface="Poppins Bold"/>
                <a:cs typeface="Poppins Bold"/>
                <a:sym typeface="Poppins Bold"/>
              </a:rPr>
              <a:t>horizontal axis (X-axis)</a:t>
            </a:r>
            <a:r>
              <a:rPr lang="en-US" sz="1687">
                <a:solidFill>
                  <a:srgbClr val="4B635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1562" y="4863332"/>
            <a:ext cx="7536656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4B635E"/>
                </a:solidFill>
                <a:latin typeface="Poppins"/>
                <a:ea typeface="Poppins"/>
                <a:cs typeface="Poppins"/>
                <a:sym typeface="Poppins"/>
              </a:rPr>
              <a:t>Plotted on the </a:t>
            </a:r>
            <a:r>
              <a:rPr lang="en-US" sz="1687" b="true">
                <a:solidFill>
                  <a:srgbClr val="4B635E"/>
                </a:solidFill>
                <a:latin typeface="Poppins Bold"/>
                <a:ea typeface="Poppins Bold"/>
                <a:cs typeface="Poppins Bold"/>
                <a:sym typeface="Poppins Bold"/>
              </a:rPr>
              <a:t>vertical axis (Y-axis)</a:t>
            </a:r>
            <a:r>
              <a:rPr lang="en-US" sz="1687">
                <a:solidFill>
                  <a:srgbClr val="4B635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108406" y="3763194"/>
            <a:ext cx="7108031" cy="428625"/>
            <a:chOff x="0" y="0"/>
            <a:chExt cx="9477375" cy="571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77374" cy="571500"/>
            </a:xfrm>
            <a:custGeom>
              <a:avLst/>
              <a:gdLst/>
              <a:ahLst/>
              <a:cxnLst/>
              <a:rect r="r" b="b" t="t" l="l"/>
              <a:pathLst>
                <a:path h="571500" w="9477374">
                  <a:moveTo>
                    <a:pt x="0" y="0"/>
                  </a:moveTo>
                  <a:lnTo>
                    <a:pt x="9477374" y="0"/>
                  </a:lnTo>
                  <a:lnTo>
                    <a:pt x="94773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73126" r="0" b="-27312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4773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Independent Variable ($X$)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71562" y="3834632"/>
            <a:ext cx="185738" cy="285750"/>
            <a:chOff x="0" y="0"/>
            <a:chExt cx="247650" cy="381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24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500" r="0" b="-250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79781" y="3834632"/>
            <a:ext cx="285750" cy="285750"/>
            <a:chOff x="0" y="0"/>
            <a:chExt cx="381000" cy="3810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14375" y="6006332"/>
            <a:ext cx="16430673" cy="2114550"/>
            <a:chOff x="0" y="0"/>
            <a:chExt cx="21907564" cy="28194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21907564" cy="2819400"/>
            </a:xfrm>
            <a:custGeom>
              <a:avLst/>
              <a:gdLst/>
              <a:ahLst/>
              <a:cxnLst/>
              <a:rect r="r" b="b" t="t" l="l"/>
              <a:pathLst>
                <a:path h="2819400" w="21907564">
                  <a:moveTo>
                    <a:pt x="0" y="0"/>
                  </a:moveTo>
                  <a:lnTo>
                    <a:pt x="21907564" y="0"/>
                  </a:lnTo>
                  <a:lnTo>
                    <a:pt x="21907564" y="2819400"/>
                  </a:lnTo>
                  <a:lnTo>
                    <a:pt x="0" y="281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959" t="0" r="-959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43000" y="6663557"/>
            <a:ext cx="160020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Sales = Intercept + (Slope × Marketing Spend)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4431" y="7306494"/>
            <a:ext cx="15821025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This is the exact same concept as </a:t>
            </a:r>
            <a:r>
              <a:rPr lang="en-US" sz="1687" b="true">
                <a:solidFill>
                  <a:srgbClr val="CBD5E1"/>
                </a:solidFill>
                <a:latin typeface="Poppins Bold"/>
                <a:ea typeface="Poppins Bold"/>
                <a:cs typeface="Poppins Bold"/>
                <a:sym typeface="Poppins Bold"/>
              </a:rPr>
              <a:t>y = mx + c</a:t>
            </a:r>
            <a:r>
              <a:rPr lang="en-US" sz="1687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 from school mathematics, relabelled with practical business terms!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3000" y="6263507"/>
            <a:ext cx="16002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72E6C8"/>
                </a:solidFill>
                <a:latin typeface="Poppins"/>
                <a:ea typeface="Poppins"/>
                <a:cs typeface="Poppins"/>
                <a:sym typeface="Poppins"/>
              </a:rPr>
              <a:t>Every straight line can be written in the same simple form: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 Slope: Definition &amp; Excel Formula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4375" y="2291582"/>
            <a:ext cx="8251031" cy="5850731"/>
            <a:chOff x="0" y="0"/>
            <a:chExt cx="11001375" cy="7800975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1001375" cy="7800975"/>
            </a:xfrm>
            <a:custGeom>
              <a:avLst/>
              <a:gdLst/>
              <a:ahLst/>
              <a:cxnLst/>
              <a:rect r="r" b="b" t="t" l="l"/>
              <a:pathLst>
                <a:path h="7800975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7800975"/>
                  </a:lnTo>
                  <a:lnTo>
                    <a:pt x="0" y="7800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7" r="0" b="-1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22594" y="2291582"/>
            <a:ext cx="7822454" cy="5850731"/>
            <a:chOff x="0" y="0"/>
            <a:chExt cx="10429939" cy="7800975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10429939" cy="7800975"/>
            </a:xfrm>
            <a:custGeom>
              <a:avLst/>
              <a:gdLst/>
              <a:ahLst/>
              <a:cxnLst/>
              <a:rect r="r" b="b" t="t" l="l"/>
              <a:pathLst>
                <a:path h="7800975" w="10429939">
                  <a:moveTo>
                    <a:pt x="0" y="0"/>
                  </a:moveTo>
                  <a:lnTo>
                    <a:pt x="10429939" y="0"/>
                  </a:lnTo>
                  <a:lnTo>
                    <a:pt x="10429939" y="7800975"/>
                  </a:lnTo>
                  <a:lnTo>
                    <a:pt x="0" y="7800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720" t="0" r="-272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71562" y="2663057"/>
            <a:ext cx="7108031" cy="428625"/>
            <a:chOff x="0" y="0"/>
            <a:chExt cx="9477375" cy="571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77374" cy="571500"/>
            </a:xfrm>
            <a:custGeom>
              <a:avLst/>
              <a:gdLst/>
              <a:ahLst/>
              <a:cxnLst/>
              <a:rect r="r" b="b" t="t" l="l"/>
              <a:pathLst>
                <a:path h="571500" w="9477374">
                  <a:moveTo>
                    <a:pt x="0" y="0"/>
                  </a:moveTo>
                  <a:lnTo>
                    <a:pt x="9477374" y="0"/>
                  </a:lnTo>
                  <a:lnTo>
                    <a:pt x="94773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73126" r="0" b="-27312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4773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What is the Slope?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71562" y="3186932"/>
            <a:ext cx="7536656" cy="12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slope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measures how much the dependent variable (sales) changes, on average, for every </a:t>
            </a: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one-unit increase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in the independent variable (spend).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91649" y="3661991"/>
            <a:ext cx="6405801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Visualizing Slope (Rise / Run)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75254" y="4181104"/>
            <a:ext cx="7536656" cy="2571750"/>
            <a:chOff x="0" y="0"/>
            <a:chExt cx="10048875" cy="34290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0048875" cy="3429000"/>
            </a:xfrm>
            <a:custGeom>
              <a:avLst/>
              <a:gdLst/>
              <a:ahLst/>
              <a:cxnLst/>
              <a:rect r="r" b="b" t="t" l="l"/>
              <a:pathLst>
                <a:path h="342900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40" r="0" b="-4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71612" y="6061767"/>
            <a:ext cx="7136606" cy="71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CRITICAL ORDER: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Enter (Sales) first                      , then (Spend) second!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71562" y="4550197"/>
            <a:ext cx="7536656" cy="1314450"/>
            <a:chOff x="0" y="0"/>
            <a:chExt cx="10048875" cy="17526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0048875" cy="1752600"/>
            </a:xfrm>
            <a:custGeom>
              <a:avLst/>
              <a:gdLst/>
              <a:ahLst/>
              <a:cxnLst/>
              <a:rect r="r" b="b" t="t" l="l"/>
              <a:pathLst>
                <a:path h="175260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05" r="0" b="-30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638949" y="4864522"/>
            <a:ext cx="5683520" cy="685800"/>
            <a:chOff x="0" y="0"/>
            <a:chExt cx="7578027" cy="9144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7578090" cy="914400"/>
            </a:xfrm>
            <a:custGeom>
              <a:avLst/>
              <a:gdLst/>
              <a:ahLst/>
              <a:cxnLst/>
              <a:rect r="r" b="b" t="t" l="l"/>
              <a:pathLst>
                <a:path h="914400" w="7578090">
                  <a:moveTo>
                    <a:pt x="0" y="0"/>
                  </a:moveTo>
                  <a:lnTo>
                    <a:pt x="7578090" y="0"/>
                  </a:lnTo>
                  <a:lnTo>
                    <a:pt x="757809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33" r="0" b="-13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680734" y="6070625"/>
            <a:ext cx="1366237" cy="400050"/>
            <a:chOff x="0" y="0"/>
            <a:chExt cx="1821650" cy="5334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821688" cy="533400"/>
            </a:xfrm>
            <a:custGeom>
              <a:avLst/>
              <a:gdLst/>
              <a:ahLst/>
              <a:cxnLst/>
              <a:rect r="r" b="b" t="t" l="l"/>
              <a:pathLst>
                <a:path h="533400" w="1821688">
                  <a:moveTo>
                    <a:pt x="0" y="0"/>
                  </a:moveTo>
                  <a:lnTo>
                    <a:pt x="1821688" y="0"/>
                  </a:lnTo>
                  <a:lnTo>
                    <a:pt x="1821688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583" r="2" b="-158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549853" y="6463532"/>
            <a:ext cx="1366237" cy="400050"/>
            <a:chOff x="0" y="0"/>
            <a:chExt cx="1821650" cy="5334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1821688" cy="533400"/>
            </a:xfrm>
            <a:custGeom>
              <a:avLst/>
              <a:gdLst/>
              <a:ahLst/>
              <a:cxnLst/>
              <a:rect r="r" b="b" t="t" l="l"/>
              <a:pathLst>
                <a:path h="533400" w="1821688">
                  <a:moveTo>
                    <a:pt x="0" y="0"/>
                  </a:moveTo>
                  <a:lnTo>
                    <a:pt x="1821688" y="0"/>
                  </a:lnTo>
                  <a:lnTo>
                    <a:pt x="1821688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583" r="2" b="-1583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71562" y="7306494"/>
            <a:ext cx="185738" cy="214312"/>
            <a:chOff x="0" y="0"/>
            <a:chExt cx="247650" cy="2857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71612" y="6901682"/>
            <a:ext cx="7136606" cy="107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Calculates: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The steepness and direction of the line.  Positive slope = sales rise with spend; negative slope = sales fall with spend.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71562" y="6363519"/>
            <a:ext cx="185738" cy="214312"/>
            <a:chOff x="0" y="0"/>
            <a:chExt cx="247650" cy="28575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Slope: Business Interpretation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4375" y="2291582"/>
            <a:ext cx="8251031" cy="4572000"/>
            <a:chOff x="0" y="0"/>
            <a:chExt cx="11001375" cy="60960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1001375" cy="6096000"/>
            </a:xfrm>
            <a:custGeom>
              <a:avLst/>
              <a:gdLst/>
              <a:ahLst/>
              <a:cxnLst/>
              <a:rect r="r" b="b" t="t" l="l"/>
              <a:pathLst>
                <a:path h="6096000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12" r="0" b="-11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71612" y="2663057"/>
            <a:ext cx="7136606" cy="428625"/>
            <a:chOff x="0" y="0"/>
            <a:chExt cx="9515475" cy="571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15474" cy="571500"/>
            </a:xfrm>
            <a:custGeom>
              <a:avLst/>
              <a:gdLst/>
              <a:ahLst/>
              <a:cxnLst/>
              <a:rect r="r" b="b" t="t" l="l"/>
              <a:pathLst>
                <a:path h="571500" w="9515474">
                  <a:moveTo>
                    <a:pt x="0" y="0"/>
                  </a:moveTo>
                  <a:lnTo>
                    <a:pt x="9515474" y="0"/>
                  </a:lnTo>
                  <a:lnTo>
                    <a:pt x="95154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4425" r="0" b="-2744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5154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Analyst Usage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1562" y="2734494"/>
            <a:ext cx="257175" cy="285750"/>
            <a:chOff x="0" y="0"/>
            <a:chExt cx="342900" cy="381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500" r="0" b="-250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71562" y="3186932"/>
            <a:ext cx="753665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When an analyst uses it: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1562" y="3763194"/>
            <a:ext cx="753665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To quantify a relationship already confirmed with correlation, turning </a:t>
            </a:r>
            <a:r>
              <a:rPr lang="en-US" sz="1687" i="true">
                <a:solidFill>
                  <a:srgbClr val="0A1A2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"they move together"</a:t>
            </a: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into </a:t>
            </a:r>
            <a:r>
              <a:rPr lang="en-US" sz="168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"here is roughly how much."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1562" y="4806182"/>
            <a:ext cx="7536656" cy="1243012"/>
            <a:chOff x="0" y="0"/>
            <a:chExt cx="10048875" cy="16573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0048875" cy="1657350"/>
            </a:xfrm>
            <a:custGeom>
              <a:avLst/>
              <a:gdLst/>
              <a:ahLst/>
              <a:cxnLst/>
              <a:rect r="r" b="b" t="t" l="l"/>
              <a:pathLst>
                <a:path h="165735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1657350"/>
                  </a:lnTo>
                  <a:lnTo>
                    <a:pt x="0" y="1657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36" r="0" b="-33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85875" y="5049069"/>
            <a:ext cx="710803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3.47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875" y="5525319"/>
            <a:ext cx="7108031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20494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Calculated Slope Example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79719" y="2291582"/>
            <a:ext cx="8079581" cy="4572000"/>
            <a:chOff x="0" y="0"/>
            <a:chExt cx="10772775" cy="60960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0772775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772775">
                  <a:moveTo>
                    <a:pt x="0" y="0"/>
                  </a:moveTo>
                  <a:lnTo>
                    <a:pt x="10772775" y="0"/>
                  </a:lnTo>
                  <a:lnTo>
                    <a:pt x="10772775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946" t="0" r="-946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41656" y="3205982"/>
            <a:ext cx="7565231" cy="1328738"/>
            <a:chOff x="0" y="0"/>
            <a:chExt cx="10086975" cy="17716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10086975" cy="1771650"/>
            </a:xfrm>
            <a:custGeom>
              <a:avLst/>
              <a:gdLst/>
              <a:ahLst/>
              <a:cxnLst/>
              <a:rect r="r" b="b" t="t" l="l"/>
              <a:pathLst>
                <a:path h="1771650" w="10086975">
                  <a:moveTo>
                    <a:pt x="0" y="0"/>
                  </a:moveTo>
                  <a:lnTo>
                    <a:pt x="10086975" y="0"/>
                  </a:lnTo>
                  <a:lnTo>
                    <a:pt x="10086975" y="1771650"/>
                  </a:lnTo>
                  <a:lnTo>
                    <a:pt x="0" y="177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489" r="0" b="-49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05988" y="2605907"/>
            <a:ext cx="7136606" cy="428625"/>
            <a:chOff x="0" y="0"/>
            <a:chExt cx="9515475" cy="571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15474" cy="571500"/>
            </a:xfrm>
            <a:custGeom>
              <a:avLst/>
              <a:gdLst/>
              <a:ahLst/>
              <a:cxnLst/>
              <a:rect r="r" b="b" t="t" l="l"/>
              <a:pathLst>
                <a:path h="571500" w="9515474">
                  <a:moveTo>
                    <a:pt x="0" y="0"/>
                  </a:moveTo>
                  <a:lnTo>
                    <a:pt x="9515474" y="0"/>
                  </a:lnTo>
                  <a:lnTo>
                    <a:pt x="95154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4425" r="0" b="-2744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5154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72E6C8"/>
                  </a:solidFill>
                  <a:latin typeface="Poppins"/>
                  <a:ea typeface="Poppins"/>
                  <a:cs typeface="Poppins"/>
                  <a:sym typeface="Poppins"/>
                </a:rPr>
                <a:t>Plain Language Translation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777412" y="4682357"/>
            <a:ext cx="7165181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This describes </a:t>
            </a:r>
            <a:r>
              <a:rPr lang="en-US" sz="1912" b="true">
                <a:solidFill>
                  <a:srgbClr val="E2E8F0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revenue trends</a:t>
            </a:r>
            <a:r>
              <a:rPr lang="en-US" sz="1912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across many days, not a guarantee for a single day.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91700" y="5582469"/>
            <a:ext cx="7165181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E2E8F0"/>
                </a:solidFill>
                <a:latin typeface="Poppins Bold"/>
                <a:ea typeface="Poppins Bold"/>
                <a:cs typeface="Poppins Bold"/>
                <a:sym typeface="Poppins Bold"/>
              </a:rPr>
              <a:t>Not Profit:</a:t>
            </a:r>
            <a:r>
              <a:rPr lang="en-US" sz="1912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This calculates sales revenue, not net profit (cost of goods sold is separate).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465469" y="4777607"/>
            <a:ext cx="185738" cy="214312"/>
            <a:chOff x="0" y="0"/>
            <a:chExt cx="247650" cy="2857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41656" y="5677719"/>
            <a:ext cx="185738" cy="214312"/>
            <a:chOff x="0" y="0"/>
            <a:chExt cx="247650" cy="2857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701212" y="3353619"/>
            <a:ext cx="7136606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"For every extra </a:t>
            </a:r>
            <a:r>
              <a:rPr lang="en-US" sz="191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₦1 spent on ads</a:t>
            </a: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daily sales tend to rise by about </a:t>
            </a:r>
            <a:r>
              <a:rPr lang="en-US" sz="191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₦3.47</a:t>
            </a: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on average, based on the days tested."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415462" y="2677344"/>
            <a:ext cx="285750" cy="285750"/>
            <a:chOff x="0" y="0"/>
            <a:chExt cx="381000" cy="3810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Intercept: Baseline Starting Point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4375" y="2291582"/>
            <a:ext cx="8251031" cy="6215062"/>
            <a:chOff x="0" y="0"/>
            <a:chExt cx="11001375" cy="82867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1001375" cy="8286750"/>
            </a:xfrm>
            <a:custGeom>
              <a:avLst/>
              <a:gdLst/>
              <a:ahLst/>
              <a:cxnLst/>
              <a:rect r="r" b="b" t="t" l="l"/>
              <a:pathLst>
                <a:path h="8286750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8286750"/>
                  </a:lnTo>
                  <a:lnTo>
                    <a:pt x="0" y="828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71" r="0" b="-7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2663057"/>
            <a:ext cx="7136606" cy="428625"/>
            <a:chOff x="0" y="0"/>
            <a:chExt cx="9515475" cy="571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15474" cy="571500"/>
            </a:xfrm>
            <a:custGeom>
              <a:avLst/>
              <a:gdLst/>
              <a:ahLst/>
              <a:cxnLst/>
              <a:rect r="r" b="b" t="t" l="l"/>
              <a:pathLst>
                <a:path h="571500" w="9515474">
                  <a:moveTo>
                    <a:pt x="0" y="0"/>
                  </a:moveTo>
                  <a:lnTo>
                    <a:pt x="9515474" y="0"/>
                  </a:lnTo>
                  <a:lnTo>
                    <a:pt x="95154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4425" r="0" b="-2744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5154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What is the Intercept?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71562" y="3186932"/>
            <a:ext cx="7536656" cy="12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intercept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is the predicted value of the dependent variable (sales) when the independent variable (spend) is </a:t>
            </a: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exactly zero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71562" y="4806182"/>
            <a:ext cx="7536656" cy="1314450"/>
            <a:chOff x="0" y="0"/>
            <a:chExt cx="10048875" cy="17526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0048875" cy="1752600"/>
            </a:xfrm>
            <a:custGeom>
              <a:avLst/>
              <a:gdLst/>
              <a:ahLst/>
              <a:cxnLst/>
              <a:rect r="r" b="b" t="t" l="l"/>
              <a:pathLst>
                <a:path h="175260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05" r="0" b="-30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71612" y="6268269"/>
            <a:ext cx="7275818" cy="71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Uses the exact same two ranges (                      ,                      ) in the exact same order.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554786" y="5120507"/>
            <a:ext cx="5767683" cy="685800"/>
            <a:chOff x="0" y="0"/>
            <a:chExt cx="7690244" cy="914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690231" cy="914400"/>
            </a:xfrm>
            <a:custGeom>
              <a:avLst/>
              <a:gdLst/>
              <a:ahLst/>
              <a:cxnLst/>
              <a:rect r="r" b="b" t="t" l="l"/>
              <a:pathLst>
                <a:path h="914400" w="7690231">
                  <a:moveTo>
                    <a:pt x="0" y="0"/>
                  </a:moveTo>
                  <a:lnTo>
                    <a:pt x="7690231" y="0"/>
                  </a:lnTo>
                  <a:lnTo>
                    <a:pt x="7690231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33" r="0" b="-13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1562" y="6363519"/>
            <a:ext cx="185738" cy="214312"/>
            <a:chOff x="0" y="0"/>
            <a:chExt cx="247650" cy="2857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71612" y="7211244"/>
            <a:ext cx="7136606" cy="107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Calculates: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Where the regression line crosses the vertical axis. the baseline prediction before accounting for any spend at all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71562" y="7306494"/>
            <a:ext cx="185738" cy="214312"/>
            <a:chOff x="0" y="0"/>
            <a:chExt cx="247650" cy="2857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610225" y="6270650"/>
            <a:ext cx="1366237" cy="400050"/>
            <a:chOff x="0" y="0"/>
            <a:chExt cx="1821650" cy="5334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821688" cy="533400"/>
            </a:xfrm>
            <a:custGeom>
              <a:avLst/>
              <a:gdLst/>
              <a:ahLst/>
              <a:cxnLst/>
              <a:rect r="r" b="b" t="t" l="l"/>
              <a:pathLst>
                <a:path h="533400" w="1821688">
                  <a:moveTo>
                    <a:pt x="0" y="0"/>
                  </a:moveTo>
                  <a:lnTo>
                    <a:pt x="1821688" y="0"/>
                  </a:lnTo>
                  <a:lnTo>
                    <a:pt x="1821688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583" r="2" b="-158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122572" y="6270650"/>
            <a:ext cx="1366237" cy="400050"/>
            <a:chOff x="0" y="0"/>
            <a:chExt cx="1821650" cy="5334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1821688" cy="533400"/>
            </a:xfrm>
            <a:custGeom>
              <a:avLst/>
              <a:gdLst/>
              <a:ahLst/>
              <a:cxnLst/>
              <a:rect r="r" b="b" t="t" l="l"/>
              <a:pathLst>
                <a:path h="533400" w="1821688">
                  <a:moveTo>
                    <a:pt x="0" y="0"/>
                  </a:moveTo>
                  <a:lnTo>
                    <a:pt x="1821688" y="0"/>
                  </a:lnTo>
                  <a:lnTo>
                    <a:pt x="1821688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583" r="2" b="-1583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322594" y="2291582"/>
            <a:ext cx="7893844" cy="6215062"/>
            <a:chOff x="0" y="0"/>
            <a:chExt cx="10525125" cy="82867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10525125" cy="8286750"/>
            </a:xfrm>
            <a:custGeom>
              <a:avLst/>
              <a:gdLst/>
              <a:ahLst/>
              <a:cxnLst/>
              <a:rect r="r" b="b" t="t" l="l"/>
              <a:pathLst>
                <a:path h="8286750" w="10525125">
                  <a:moveTo>
                    <a:pt x="0" y="0"/>
                  </a:moveTo>
                  <a:lnTo>
                    <a:pt x="10525125" y="0"/>
                  </a:lnTo>
                  <a:lnTo>
                    <a:pt x="10525125" y="8286750"/>
                  </a:lnTo>
                  <a:lnTo>
                    <a:pt x="0" y="828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2187" t="0" r="-2187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369278" y="3844157"/>
            <a:ext cx="43655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Visualizing the Intercept (X = 0)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9781" y="4363269"/>
            <a:ext cx="7536656" cy="2571750"/>
            <a:chOff x="0" y="0"/>
            <a:chExt cx="10048875" cy="34290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10048875" cy="3429000"/>
            </a:xfrm>
            <a:custGeom>
              <a:avLst/>
              <a:gdLst/>
              <a:ahLst/>
              <a:cxnLst/>
              <a:rect r="r" b="b" t="t" l="l"/>
              <a:pathLst>
                <a:path h="342900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40" r="0" b="-4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Intercept: Business Interpretation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71562" y="2663057"/>
            <a:ext cx="7065169" cy="428625"/>
            <a:chOff x="0" y="0"/>
            <a:chExt cx="9420225" cy="571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20224" cy="571500"/>
            </a:xfrm>
            <a:custGeom>
              <a:avLst/>
              <a:gdLst/>
              <a:ahLst/>
              <a:cxnLst/>
              <a:rect r="r" b="b" t="t" l="l"/>
              <a:pathLst>
                <a:path h="571500" w="9420224">
                  <a:moveTo>
                    <a:pt x="0" y="0"/>
                  </a:moveTo>
                  <a:lnTo>
                    <a:pt x="9420224" y="0"/>
                  </a:lnTo>
                  <a:lnTo>
                    <a:pt x="942022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71178" r="0" b="-2711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42022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Interpretation Example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71562" y="3186932"/>
            <a:ext cx="753665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In our Ikeja branch analysis, the calculated intercept is approximately </a:t>
            </a: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₦171,491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71562" y="4420419"/>
            <a:ext cx="7536656" cy="1528762"/>
            <a:chOff x="0" y="0"/>
            <a:chExt cx="10048875" cy="20383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10048875" cy="2038350"/>
            </a:xfrm>
            <a:custGeom>
              <a:avLst/>
              <a:gdLst/>
              <a:ahLst/>
              <a:cxnLst/>
              <a:rect r="r" b="b" t="t" l="l"/>
              <a:pathLst>
                <a:path h="203835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2038350"/>
                  </a:lnTo>
                  <a:lnTo>
                    <a:pt x="0" y="203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29" r="0" b="-22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71562" y="6377807"/>
            <a:ext cx="7150894" cy="371475"/>
            <a:chOff x="0" y="0"/>
            <a:chExt cx="9534525" cy="495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34524" cy="495300"/>
            </a:xfrm>
            <a:custGeom>
              <a:avLst/>
              <a:gdLst/>
              <a:ahLst/>
              <a:cxnLst/>
              <a:rect r="r" b="b" t="t" l="l"/>
              <a:pathLst>
                <a:path h="495300" w="9534524">
                  <a:moveTo>
                    <a:pt x="0" y="0"/>
                  </a:moveTo>
                  <a:lnTo>
                    <a:pt x="9534524" y="0"/>
                  </a:lnTo>
                  <a:lnTo>
                    <a:pt x="9534524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9534525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Complete Formula Assembly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1562" y="6920732"/>
            <a:ext cx="7536656" cy="700088"/>
            <a:chOff x="0" y="0"/>
            <a:chExt cx="10048875" cy="9334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0048875" cy="933450"/>
            </a:xfrm>
            <a:custGeom>
              <a:avLst/>
              <a:gdLst/>
              <a:ahLst/>
              <a:cxnLst/>
              <a:rect r="r" b="b" t="t" l="l"/>
              <a:pathLst>
                <a:path h="93345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933450"/>
                  </a:lnTo>
                  <a:lnTo>
                    <a:pt x="0" y="933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779" r="0" b="-77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020175" y="2291582"/>
            <a:ext cx="8124873" cy="5657850"/>
            <a:chOff x="0" y="0"/>
            <a:chExt cx="10833164" cy="7543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0833164" cy="7543800"/>
            </a:xfrm>
            <a:custGeom>
              <a:avLst/>
              <a:gdLst/>
              <a:ahLst/>
              <a:cxnLst/>
              <a:rect r="r" b="b" t="t" l="l"/>
              <a:pathLst>
                <a:path h="7543800" w="10833164">
                  <a:moveTo>
                    <a:pt x="0" y="0"/>
                  </a:moveTo>
                  <a:lnTo>
                    <a:pt x="10833164" y="0"/>
                  </a:lnTo>
                  <a:lnTo>
                    <a:pt x="10833164" y="7543800"/>
                  </a:lnTo>
                  <a:lnTo>
                    <a:pt x="0" y="754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692" t="0" r="-692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875091" y="4960963"/>
            <a:ext cx="7165181" cy="11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In some financial models, intercepts can yield negative numbers—a natural mathematical artifact that does not invalidate the model.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22656" y="2605907"/>
            <a:ext cx="7136606" cy="428625"/>
            <a:chOff x="0" y="0"/>
            <a:chExt cx="9515475" cy="571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15474" cy="571500"/>
            </a:xfrm>
            <a:custGeom>
              <a:avLst/>
              <a:gdLst/>
              <a:ahLst/>
              <a:cxnLst/>
              <a:rect r="r" b="b" t="t" l="l"/>
              <a:pathLst>
                <a:path h="571500" w="9515474">
                  <a:moveTo>
                    <a:pt x="0" y="0"/>
                  </a:moveTo>
                  <a:lnTo>
                    <a:pt x="9515474" y="0"/>
                  </a:lnTo>
                  <a:lnTo>
                    <a:pt x="95154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74425" r="0" b="-27442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5154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rPr>
                <a:t>Cautionary Analyst Note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79744" y="2677344"/>
            <a:ext cx="285750" cy="285750"/>
            <a:chOff x="0" y="0"/>
            <a:chExt cx="381000" cy="3810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379791" y="3129782"/>
            <a:ext cx="7565231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Treat baseline intercept figures with professional caution: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29750" y="3801294"/>
            <a:ext cx="185738" cy="214312"/>
            <a:chOff x="0" y="0"/>
            <a:chExt cx="247650" cy="2857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29750" y="5056213"/>
            <a:ext cx="185738" cy="214312"/>
            <a:chOff x="0" y="0"/>
            <a:chExt cx="247650" cy="2857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865566" y="3696519"/>
            <a:ext cx="7165181" cy="11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It is a mathematical starting point, not necessarily a day that was ever actually observed in historical test data.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R-Squared (R²): How Much Does Model Explain?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4375" y="2291582"/>
            <a:ext cx="8251031" cy="5807869"/>
            <a:chOff x="0" y="0"/>
            <a:chExt cx="11001375" cy="7743825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1001375" cy="7743825"/>
            </a:xfrm>
            <a:custGeom>
              <a:avLst/>
              <a:gdLst/>
              <a:ahLst/>
              <a:cxnLst/>
              <a:rect r="r" b="b" t="t" l="l"/>
              <a:pathLst>
                <a:path h="7743825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7743825"/>
                  </a:lnTo>
                  <a:lnTo>
                    <a:pt x="0" y="7743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8" r="0" b="-1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1562" y="3186932"/>
            <a:ext cx="7536656" cy="12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R-squared ($R^2$)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measures how much of the variation in the dependent variable (sales) is explained by the regression model, on a scale from </a:t>
            </a: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0 to 1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(or 0% to 100%).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71562" y="2663057"/>
            <a:ext cx="7108031" cy="428625"/>
            <a:chOff x="0" y="0"/>
            <a:chExt cx="9477375" cy="571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77374" cy="571500"/>
            </a:xfrm>
            <a:custGeom>
              <a:avLst/>
              <a:gdLst/>
              <a:ahLst/>
              <a:cxnLst/>
              <a:rect r="r" b="b" t="t" l="l"/>
              <a:pathLst>
                <a:path h="571500" w="9477374">
                  <a:moveTo>
                    <a:pt x="0" y="0"/>
                  </a:moveTo>
                  <a:lnTo>
                    <a:pt x="9477374" y="0"/>
                  </a:lnTo>
                  <a:lnTo>
                    <a:pt x="94773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3126" r="0" b="-2731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4773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What is R-Squared?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71562" y="4538291"/>
            <a:ext cx="7536656" cy="1314450"/>
            <a:chOff x="0" y="0"/>
            <a:chExt cx="10048875" cy="17526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0048875" cy="1752600"/>
            </a:xfrm>
            <a:custGeom>
              <a:avLst/>
              <a:gdLst/>
              <a:ahLst/>
              <a:cxnLst/>
              <a:rect r="r" b="b" t="t" l="l"/>
              <a:pathLst>
                <a:path h="175260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05" r="0" b="-30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686945" y="4840710"/>
            <a:ext cx="5635523" cy="685800"/>
            <a:chOff x="0" y="0"/>
            <a:chExt cx="7514031" cy="9144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7514082" cy="914400"/>
            </a:xfrm>
            <a:custGeom>
              <a:avLst/>
              <a:gdLst/>
              <a:ahLst/>
              <a:cxnLst/>
              <a:rect r="r" b="b" t="t" l="l"/>
              <a:pathLst>
                <a:path h="914400" w="7514082">
                  <a:moveTo>
                    <a:pt x="0" y="0"/>
                  </a:moveTo>
                  <a:lnTo>
                    <a:pt x="7514082" y="0"/>
                  </a:lnTo>
                  <a:lnTo>
                    <a:pt x="7514082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06" r="0" b="-20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71612" y="6049861"/>
            <a:ext cx="7136606" cy="71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Calculates: 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the proportion of the ups and downs in sales that spend, through this straight line, actually accounts for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71562" y="6170638"/>
            <a:ext cx="185738" cy="214312"/>
            <a:chOff x="0" y="0"/>
            <a:chExt cx="247650" cy="2857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71612" y="6804050"/>
            <a:ext cx="7136606" cy="107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Judges how much confidence to place in the modeol, separately from whether the slope's direction makes sense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71562" y="6899300"/>
            <a:ext cx="185738" cy="214312"/>
            <a:chOff x="0" y="0"/>
            <a:chExt cx="247650" cy="2857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322594" y="2291582"/>
            <a:ext cx="7822454" cy="5807869"/>
            <a:chOff x="0" y="0"/>
            <a:chExt cx="10429939" cy="7743825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0429939" cy="7743825"/>
            </a:xfrm>
            <a:custGeom>
              <a:avLst/>
              <a:gdLst/>
              <a:ahLst/>
              <a:cxnLst/>
              <a:rect r="r" b="b" t="t" l="l"/>
              <a:pathLst>
                <a:path h="7743825" w="10429939">
                  <a:moveTo>
                    <a:pt x="0" y="0"/>
                  </a:moveTo>
                  <a:lnTo>
                    <a:pt x="10429939" y="0"/>
                  </a:lnTo>
                  <a:lnTo>
                    <a:pt x="10429939" y="7743825"/>
                  </a:lnTo>
                  <a:lnTo>
                    <a:pt x="0" y="7743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720" t="0" r="-272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167824" y="3559597"/>
            <a:ext cx="456057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72E6C8"/>
                </a:solidFill>
                <a:latin typeface="Poppins Bold"/>
                <a:ea typeface="Poppins Bold"/>
                <a:cs typeface="Poppins Bold"/>
                <a:sym typeface="Poppins Bold"/>
              </a:rPr>
              <a:t>Decomposing Sales Variance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62234" y="4231110"/>
            <a:ext cx="2571750" cy="2571750"/>
            <a:chOff x="0" y="0"/>
            <a:chExt cx="3429000" cy="34290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4290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R-Squared (R²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): Business Meaning &amp; Shortcut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4375" y="2291582"/>
            <a:ext cx="8251031" cy="4479131"/>
            <a:chOff x="0" y="0"/>
            <a:chExt cx="11001375" cy="5972175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1001375" cy="5972175"/>
            </a:xfrm>
            <a:custGeom>
              <a:avLst/>
              <a:gdLst/>
              <a:ahLst/>
              <a:cxnLst/>
              <a:rect r="r" b="b" t="t" l="l"/>
              <a:pathLst>
                <a:path h="5972175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5972175"/>
                  </a:lnTo>
                  <a:lnTo>
                    <a:pt x="0" y="5972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6" r="0" b="-3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71625" y="2663057"/>
            <a:ext cx="7036594" cy="428625"/>
            <a:chOff x="0" y="0"/>
            <a:chExt cx="9382125" cy="571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82124" cy="571500"/>
            </a:xfrm>
            <a:custGeom>
              <a:avLst/>
              <a:gdLst/>
              <a:ahLst/>
              <a:cxnLst/>
              <a:rect r="r" b="b" t="t" l="l"/>
              <a:pathLst>
                <a:path h="571500" w="9382124">
                  <a:moveTo>
                    <a:pt x="0" y="0"/>
                  </a:moveTo>
                  <a:lnTo>
                    <a:pt x="9382124" y="0"/>
                  </a:lnTo>
                  <a:lnTo>
                    <a:pt x="938212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69879" r="0" b="-2698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38212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Business Interpretation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1562" y="2734494"/>
            <a:ext cx="357188" cy="285750"/>
            <a:chOff x="0" y="0"/>
            <a:chExt cx="476250" cy="381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500" r="0" b="-250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71562" y="3186932"/>
            <a:ext cx="7536656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An R² value of </a:t>
            </a:r>
            <a:r>
              <a:rPr lang="en-US" sz="202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0.61</a:t>
            </a: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means: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71562" y="4034657"/>
            <a:ext cx="7536656" cy="1421606"/>
            <a:chOff x="0" y="0"/>
            <a:chExt cx="10048875" cy="1895475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0048875" cy="1895475"/>
            </a:xfrm>
            <a:custGeom>
              <a:avLst/>
              <a:gdLst/>
              <a:ahLst/>
              <a:cxnLst/>
              <a:rect r="r" b="b" t="t" l="l"/>
              <a:pathLst>
                <a:path h="1895475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1895475"/>
                  </a:lnTo>
                  <a:lnTo>
                    <a:pt x="0" y="1895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4" r="0" b="-1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14438" y="5613425"/>
            <a:ext cx="739378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4B635E"/>
                </a:solidFill>
                <a:latin typeface="Poppins"/>
                <a:ea typeface="Poppins"/>
                <a:cs typeface="Poppins"/>
                <a:sym typeface="Poppins"/>
              </a:rPr>
              <a:t>Gives executives realistic expectations rather than claiming 100% perfection.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17819" y="2291582"/>
            <a:ext cx="8049394" cy="4479131"/>
            <a:chOff x="0" y="0"/>
            <a:chExt cx="10732525" cy="5972175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0732525" cy="5972175"/>
            </a:xfrm>
            <a:custGeom>
              <a:avLst/>
              <a:gdLst/>
              <a:ahLst/>
              <a:cxnLst/>
              <a:rect r="r" b="b" t="t" l="l"/>
              <a:pathLst>
                <a:path h="5972175" w="10732525">
                  <a:moveTo>
                    <a:pt x="0" y="0"/>
                  </a:moveTo>
                  <a:lnTo>
                    <a:pt x="10732525" y="0"/>
                  </a:lnTo>
                  <a:lnTo>
                    <a:pt x="10732525" y="5972175"/>
                  </a:lnTo>
                  <a:lnTo>
                    <a:pt x="0" y="5972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215" t="0" r="-1215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65494" y="2677344"/>
            <a:ext cx="257175" cy="285750"/>
            <a:chOff x="0" y="0"/>
            <a:chExt cx="342900" cy="3810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62" t="0" r="-266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65544" y="2605907"/>
            <a:ext cx="7165181" cy="428625"/>
            <a:chOff x="0" y="0"/>
            <a:chExt cx="9553575" cy="571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53574" cy="571500"/>
            </a:xfrm>
            <a:custGeom>
              <a:avLst/>
              <a:gdLst/>
              <a:ahLst/>
              <a:cxnLst/>
              <a:rect r="r" b="b" t="t" l="l"/>
              <a:pathLst>
                <a:path h="571500" w="9553574">
                  <a:moveTo>
                    <a:pt x="0" y="0"/>
                  </a:moveTo>
                  <a:lnTo>
                    <a:pt x="9553574" y="0"/>
                  </a:lnTo>
                  <a:lnTo>
                    <a:pt x="95535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5724" r="0" b="-2757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5535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72E6C8"/>
                  </a:solidFill>
                  <a:latin typeface="Poppins"/>
                  <a:ea typeface="Poppins"/>
                  <a:cs typeface="Poppins"/>
                  <a:sym typeface="Poppins"/>
                </a:rPr>
                <a:t>Mathematical Shortcut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665494" y="3129782"/>
            <a:ext cx="7565231" cy="76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For simple two-variable regression, R² is simply the correlation coefficient </a:t>
            </a:r>
            <a:r>
              <a:rPr lang="en-US" sz="2025" b="true">
                <a:solidFill>
                  <a:srgbClr val="E2E8F0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sz="2025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, squared!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36859" y="4363269"/>
            <a:ext cx="7479554" cy="857250"/>
            <a:chOff x="0" y="0"/>
            <a:chExt cx="9972739" cy="11430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9972739" cy="1143000"/>
            </a:xfrm>
            <a:custGeom>
              <a:avLst/>
              <a:gdLst/>
              <a:ahLst/>
              <a:cxnLst/>
              <a:rect r="r" b="b" t="t" l="l"/>
              <a:pathLst>
                <a:path h="1143000" w="9972739">
                  <a:moveTo>
                    <a:pt x="0" y="0"/>
                  </a:moveTo>
                  <a:lnTo>
                    <a:pt x="9972739" y="0"/>
                  </a:lnTo>
                  <a:lnTo>
                    <a:pt x="9972739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10" r="0" b="-21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784556" y="4549007"/>
            <a:ext cx="713660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 = 0.78 ⟹ R² = (0.78)² ≈ 0.61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65494" y="5377682"/>
            <a:ext cx="7565231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687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emember in Topic 4.2's r = 0.78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Limits of a Regression Model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375" y="2215382"/>
            <a:ext cx="1685925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A regression model is only trustworthy within the range of data from which it was built. Beware of two major analytical traps: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14375" y="2891657"/>
            <a:ext cx="8251031" cy="2928938"/>
            <a:chOff x="0" y="0"/>
            <a:chExt cx="11001375" cy="39052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1001375" cy="3905250"/>
            </a:xfrm>
            <a:custGeom>
              <a:avLst/>
              <a:gdLst/>
              <a:ahLst/>
              <a:cxnLst/>
              <a:rect r="r" b="b" t="t" l="l"/>
              <a:pathLst>
                <a:path h="3905250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3905250"/>
                  </a:lnTo>
                  <a:lnTo>
                    <a:pt x="0" y="3905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00" r="0" b="-2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51144" y="2891657"/>
            <a:ext cx="8108156" cy="2928938"/>
            <a:chOff x="0" y="0"/>
            <a:chExt cx="10810875" cy="39052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0810875" cy="3905250"/>
            </a:xfrm>
            <a:custGeom>
              <a:avLst/>
              <a:gdLst/>
              <a:ahLst/>
              <a:cxnLst/>
              <a:rect r="r" b="b" t="t" l="l"/>
              <a:pathLst>
                <a:path h="3905250" w="10810875">
                  <a:moveTo>
                    <a:pt x="0" y="0"/>
                  </a:moveTo>
                  <a:lnTo>
                    <a:pt x="10810875" y="0"/>
                  </a:lnTo>
                  <a:lnTo>
                    <a:pt x="10810875" y="3905250"/>
                  </a:lnTo>
                  <a:lnTo>
                    <a:pt x="0" y="3905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678" t="0" r="-678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71562" y="3263132"/>
            <a:ext cx="7108031" cy="428625"/>
            <a:chOff x="0" y="0"/>
            <a:chExt cx="9477375" cy="57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77374" cy="571500"/>
            </a:xfrm>
            <a:custGeom>
              <a:avLst/>
              <a:gdLst/>
              <a:ahLst/>
              <a:cxnLst/>
              <a:rect r="r" b="b" t="t" l="l"/>
              <a:pathLst>
                <a:path h="571500" w="9477374">
                  <a:moveTo>
                    <a:pt x="0" y="0"/>
                  </a:moveTo>
                  <a:lnTo>
                    <a:pt x="9477374" y="0"/>
                  </a:lnTo>
                  <a:lnTo>
                    <a:pt x="94773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73126" r="0" b="-27312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4773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DC2626"/>
                  </a:solidFill>
                  <a:latin typeface="Poppins"/>
                  <a:ea typeface="Poppins"/>
                  <a:cs typeface="Poppins"/>
                  <a:sym typeface="Poppins"/>
                </a:rPr>
                <a:t>1. Extrapolation Danger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7381" y="3263132"/>
            <a:ext cx="7036594" cy="428625"/>
            <a:chOff x="0" y="0"/>
            <a:chExt cx="9382125" cy="571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82124" cy="571500"/>
            </a:xfrm>
            <a:custGeom>
              <a:avLst/>
              <a:gdLst/>
              <a:ahLst/>
              <a:cxnLst/>
              <a:rect r="r" b="b" t="t" l="l"/>
              <a:pathLst>
                <a:path h="571500" w="9382124">
                  <a:moveTo>
                    <a:pt x="0" y="0"/>
                  </a:moveTo>
                  <a:lnTo>
                    <a:pt x="9382124" y="0"/>
                  </a:lnTo>
                  <a:lnTo>
                    <a:pt x="938212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69879" r="0" b="-26987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38212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D97706"/>
                  </a:solidFill>
                  <a:latin typeface="Poppins"/>
                  <a:ea typeface="Poppins"/>
                  <a:cs typeface="Poppins"/>
                  <a:sym typeface="Poppins"/>
                </a:rPr>
                <a:t>2. Forcing Lines on Curves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71562" y="3787007"/>
            <a:ext cx="753665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Predicting far beyond tested spend ranges.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41716" y="3787007"/>
            <a:ext cx="753665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Assuming non-linear data is linear.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1562" y="4363269"/>
            <a:ext cx="753665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If tested spend is ₦8,500 to ₦69,500, predicting at </a:t>
            </a:r>
            <a:r>
              <a:rPr lang="en-US" sz="168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₦150,000 spend</a:t>
            </a: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is a wild guess dressed up as a calculation. You have no data out there!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17856" y="4363269"/>
            <a:ext cx="7536656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Relationships like floor staffing often hit diminishing returns (curving downwards). A straight line produces poor, biased predictions at both ends.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14375" y="6077769"/>
            <a:ext cx="16544925" cy="1428750"/>
            <a:chOff x="0" y="0"/>
            <a:chExt cx="22059900" cy="1905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220599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45" t="0" r="-445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04948" y="6273032"/>
            <a:ext cx="16011525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2E6C8"/>
                </a:solidFill>
                <a:latin typeface="Poppins"/>
                <a:ea typeface="Poppins"/>
                <a:cs typeface="Poppins"/>
                <a:sym typeface="Poppins"/>
              </a:rPr>
              <a:t>Professional Analyst Habit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1562" y="6573069"/>
            <a:ext cx="16144875" cy="64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ALWAYS plot the scatter plot before trusting R²!</a:t>
            </a:r>
            <a:r>
              <a:rPr lang="en-US" sz="16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 R² number can look high while the visual shape reveals a curved pattern that invalidates linear regression.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Aduke Stores (Ikeja): Live Excel Execution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4375" y="2291582"/>
            <a:ext cx="8251031" cy="4300538"/>
            <a:chOff x="0" y="0"/>
            <a:chExt cx="11001375" cy="57340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1001375" cy="5734050"/>
            </a:xfrm>
            <a:custGeom>
              <a:avLst/>
              <a:gdLst/>
              <a:ahLst/>
              <a:cxnLst/>
              <a:rect r="r" b="b" t="t" l="l"/>
              <a:pathLst>
                <a:path h="5734050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5734050"/>
                  </a:lnTo>
                  <a:lnTo>
                    <a:pt x="0" y="573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2" r="0" b="-12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00188" y="2663057"/>
            <a:ext cx="7108031" cy="428625"/>
            <a:chOff x="0" y="0"/>
            <a:chExt cx="9477375" cy="571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77374" cy="571500"/>
            </a:xfrm>
            <a:custGeom>
              <a:avLst/>
              <a:gdLst/>
              <a:ahLst/>
              <a:cxnLst/>
              <a:rect r="r" b="b" t="t" l="l"/>
              <a:pathLst>
                <a:path h="571500" w="9477374">
                  <a:moveTo>
                    <a:pt x="0" y="0"/>
                  </a:moveTo>
                  <a:lnTo>
                    <a:pt x="9477374" y="0"/>
                  </a:lnTo>
                  <a:lnTo>
                    <a:pt x="94773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3126" r="0" b="-2731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4773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Ikeja 24-Day Marketing Dataset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71562" y="3186932"/>
            <a:ext cx="7536656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Using daily spend (X, C5:C28) and sales (Y, D5:D28):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71562" y="2734494"/>
            <a:ext cx="285750" cy="285750"/>
            <a:chOff x="0" y="0"/>
            <a:chExt cx="381000" cy="3810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500" r="0" b="-250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71562" y="3963219"/>
            <a:ext cx="7536656" cy="671512"/>
            <a:chOff x="0" y="0"/>
            <a:chExt cx="10048875" cy="8953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0048875" cy="895350"/>
            </a:xfrm>
            <a:custGeom>
              <a:avLst/>
              <a:gdLst/>
              <a:ahLst/>
              <a:cxnLst/>
              <a:rect r="r" b="b" t="t" l="l"/>
              <a:pathLst>
                <a:path h="89535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895350"/>
                  </a:lnTo>
                  <a:lnTo>
                    <a:pt x="0" y="895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822" r="0" b="-82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14438" y="4120382"/>
            <a:ext cx="3681041" cy="400050"/>
            <a:chOff x="0" y="0"/>
            <a:chExt cx="4908055" cy="5334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4908042" cy="533400"/>
            </a:xfrm>
            <a:custGeom>
              <a:avLst/>
              <a:gdLst/>
              <a:ahLst/>
              <a:cxnLst/>
              <a:rect r="r" b="b" t="t" l="l"/>
              <a:pathLst>
                <a:path h="533400" w="4908042">
                  <a:moveTo>
                    <a:pt x="0" y="0"/>
                  </a:moveTo>
                  <a:lnTo>
                    <a:pt x="4908042" y="0"/>
                  </a:lnTo>
                  <a:lnTo>
                    <a:pt x="4908042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714" r="0" b="-171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71562" y="4777607"/>
            <a:ext cx="7536656" cy="671512"/>
            <a:chOff x="0" y="0"/>
            <a:chExt cx="10048875" cy="8953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0048875" cy="895350"/>
            </a:xfrm>
            <a:custGeom>
              <a:avLst/>
              <a:gdLst/>
              <a:ahLst/>
              <a:cxnLst/>
              <a:rect r="r" b="b" t="t" l="l"/>
              <a:pathLst>
                <a:path h="89535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895350"/>
                  </a:lnTo>
                  <a:lnTo>
                    <a:pt x="0" y="895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822" r="0" b="-82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14438" y="4934769"/>
            <a:ext cx="4298528" cy="400050"/>
            <a:chOff x="0" y="0"/>
            <a:chExt cx="5731370" cy="5334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5731383" cy="533400"/>
            </a:xfrm>
            <a:custGeom>
              <a:avLst/>
              <a:gdLst/>
              <a:ahLst/>
              <a:cxnLst/>
              <a:rect r="r" b="b" t="t" l="l"/>
              <a:pathLst>
                <a:path h="533400" w="5731383">
                  <a:moveTo>
                    <a:pt x="0" y="0"/>
                  </a:moveTo>
                  <a:lnTo>
                    <a:pt x="5731383" y="0"/>
                  </a:lnTo>
                  <a:lnTo>
                    <a:pt x="5731383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761" r="0" b="-1761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1562" y="5591994"/>
            <a:ext cx="7536656" cy="671512"/>
            <a:chOff x="0" y="0"/>
            <a:chExt cx="10048875" cy="8953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0048875" cy="895350"/>
            </a:xfrm>
            <a:custGeom>
              <a:avLst/>
              <a:gdLst/>
              <a:ahLst/>
              <a:cxnLst/>
              <a:rect r="r" b="b" t="t" l="l"/>
              <a:pathLst>
                <a:path h="89535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895350"/>
                  </a:lnTo>
                  <a:lnTo>
                    <a:pt x="0" y="895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822" r="0" b="-82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14437" y="5749157"/>
            <a:ext cx="3372517" cy="400050"/>
            <a:chOff x="0" y="0"/>
            <a:chExt cx="4496689" cy="5334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4496689" cy="533400"/>
            </a:xfrm>
            <a:custGeom>
              <a:avLst/>
              <a:gdLst/>
              <a:ahLst/>
              <a:cxnLst/>
              <a:rect r="r" b="b" t="t" l="l"/>
              <a:pathLst>
                <a:path h="533400" w="4496689">
                  <a:moveTo>
                    <a:pt x="0" y="0"/>
                  </a:moveTo>
                  <a:lnTo>
                    <a:pt x="4496689" y="0"/>
                  </a:lnTo>
                  <a:lnTo>
                    <a:pt x="4496689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578" r="0" b="-1576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322594" y="2291582"/>
            <a:ext cx="7936706" cy="4300538"/>
            <a:chOff x="0" y="0"/>
            <a:chExt cx="10582275" cy="57340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10582275" cy="5734050"/>
            </a:xfrm>
            <a:custGeom>
              <a:avLst/>
              <a:gdLst/>
              <a:ahLst/>
              <a:cxnLst/>
              <a:rect r="r" b="b" t="t" l="l"/>
              <a:pathLst>
                <a:path h="5734050" w="10582275">
                  <a:moveTo>
                    <a:pt x="0" y="0"/>
                  </a:moveTo>
                  <a:lnTo>
                    <a:pt x="10582275" y="0"/>
                  </a:lnTo>
                  <a:lnTo>
                    <a:pt x="10582275" y="5734050"/>
                  </a:lnTo>
                  <a:lnTo>
                    <a:pt x="0" y="573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1852" t="0" r="-1852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65494" y="2677344"/>
            <a:ext cx="328612" cy="285750"/>
            <a:chOff x="0" y="0"/>
            <a:chExt cx="438150" cy="3810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4381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13" r="0" b="-31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6981" y="2605907"/>
            <a:ext cx="7093744" cy="428625"/>
            <a:chOff x="0" y="0"/>
            <a:chExt cx="9458325" cy="571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58324" cy="571500"/>
            </a:xfrm>
            <a:custGeom>
              <a:avLst/>
              <a:gdLst/>
              <a:ahLst/>
              <a:cxnLst/>
              <a:rect r="r" b="b" t="t" l="l"/>
              <a:pathLst>
                <a:path h="571500" w="9458324">
                  <a:moveTo>
                    <a:pt x="0" y="0"/>
                  </a:moveTo>
                  <a:lnTo>
                    <a:pt x="9458324" y="0"/>
                  </a:lnTo>
                  <a:lnTo>
                    <a:pt x="945832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2477" r="0" b="-27247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945832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72E6C8"/>
                  </a:solidFill>
                  <a:latin typeface="Poppins"/>
                  <a:ea typeface="Poppins"/>
                  <a:cs typeface="Poppins"/>
                  <a:sym typeface="Poppins"/>
                </a:rPr>
                <a:t>Resulting Prediction Formula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65494" y="4017988"/>
            <a:ext cx="7155942" cy="1042988"/>
            <a:chOff x="0" y="0"/>
            <a:chExt cx="9541256" cy="139065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9541256" cy="1390650"/>
            </a:xfrm>
            <a:custGeom>
              <a:avLst/>
              <a:gdLst/>
              <a:ahLst/>
              <a:cxnLst/>
              <a:rect r="r" b="b" t="t" l="l"/>
              <a:pathLst>
                <a:path h="1390650" w="9541256">
                  <a:moveTo>
                    <a:pt x="0" y="0"/>
                  </a:moveTo>
                  <a:lnTo>
                    <a:pt x="9541256" y="0"/>
                  </a:lnTo>
                  <a:lnTo>
                    <a:pt x="9541256" y="1390650"/>
                  </a:lnTo>
                  <a:lnTo>
                    <a:pt x="0" y="139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2195" t="0" r="-2195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727549" y="4310882"/>
            <a:ext cx="6993731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Sales = 171,491 + (3.47 × Spend)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2291582"/>
            <a:ext cx="8251031" cy="4922044"/>
            <a:chOff x="0" y="0"/>
            <a:chExt cx="11001375" cy="6562725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1001375" cy="6562725"/>
            </a:xfrm>
            <a:custGeom>
              <a:avLst/>
              <a:gdLst/>
              <a:ahLst/>
              <a:cxnLst/>
              <a:rect r="r" b="b" t="t" l="l"/>
              <a:pathLst>
                <a:path h="6562725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6562725"/>
                  </a:lnTo>
                  <a:lnTo>
                    <a:pt x="0" y="6562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9" r="0" b="-2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8750" y="2663057"/>
            <a:ext cx="7179469" cy="428625"/>
            <a:chOff x="0" y="0"/>
            <a:chExt cx="9572625" cy="571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72624" cy="571500"/>
            </a:xfrm>
            <a:custGeom>
              <a:avLst/>
              <a:gdLst/>
              <a:ahLst/>
              <a:cxnLst/>
              <a:rect r="r" b="b" t="t" l="l"/>
              <a:pathLst>
                <a:path h="571500" w="9572624">
                  <a:moveTo>
                    <a:pt x="0" y="0"/>
                  </a:moveTo>
                  <a:lnTo>
                    <a:pt x="9572624" y="0"/>
                  </a:lnTo>
                  <a:lnTo>
                    <a:pt x="957262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6374" r="0" b="-27637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57262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Step-by-Step Calculation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1562" y="6377807"/>
            <a:ext cx="185738" cy="214312"/>
            <a:chOff x="0" y="0"/>
            <a:chExt cx="247650" cy="2857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71562" y="5477694"/>
            <a:ext cx="185738" cy="214312"/>
            <a:chOff x="0" y="0"/>
            <a:chExt cx="247650" cy="2857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22594" y="2291582"/>
            <a:ext cx="8251031" cy="4922044"/>
            <a:chOff x="0" y="0"/>
            <a:chExt cx="11001375" cy="6562725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1001375" cy="6562725"/>
            </a:xfrm>
            <a:custGeom>
              <a:avLst/>
              <a:gdLst/>
              <a:ahLst/>
              <a:cxnLst/>
              <a:rect r="r" b="b" t="t" l="l"/>
              <a:pathLst>
                <a:path h="6562725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6562725"/>
                  </a:lnTo>
                  <a:lnTo>
                    <a:pt x="0" y="6562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9" r="0" b="-29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94119" y="2605907"/>
            <a:ext cx="7136606" cy="428625"/>
            <a:chOff x="0" y="0"/>
            <a:chExt cx="9515475" cy="571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15474" cy="571500"/>
            </a:xfrm>
            <a:custGeom>
              <a:avLst/>
              <a:gdLst/>
              <a:ahLst/>
              <a:cxnLst/>
              <a:rect r="r" b="b" t="t" l="l"/>
              <a:pathLst>
                <a:path h="571500" w="9515474">
                  <a:moveTo>
                    <a:pt x="0" y="0"/>
                  </a:moveTo>
                  <a:lnTo>
                    <a:pt x="9515474" y="0"/>
                  </a:lnTo>
                  <a:lnTo>
                    <a:pt x="95154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4425" r="0" b="-274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95154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72E6C8"/>
                  </a:solidFill>
                  <a:latin typeface="Poppins"/>
                  <a:ea typeface="Poppins"/>
                  <a:cs typeface="Poppins"/>
                  <a:sym typeface="Poppins"/>
                </a:rPr>
                <a:t>Executive Business Statement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65494" y="3205982"/>
            <a:ext cx="7565231" cy="1714500"/>
            <a:chOff x="0" y="0"/>
            <a:chExt cx="10086975" cy="22860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0086975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086975">
                  <a:moveTo>
                    <a:pt x="0" y="0"/>
                  </a:moveTo>
                  <a:lnTo>
                    <a:pt x="10086975" y="0"/>
                  </a:lnTo>
                  <a:lnTo>
                    <a:pt x="10086975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68" r="0" b="-369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Aduke Stores: Answering ₦40,000 Question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1562" y="3186932"/>
            <a:ext cx="753665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Apply ₦40,000 to our regression formula: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1612" y="5382444"/>
            <a:ext cx="7136606" cy="71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Validity Check: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₦40,000 falls comfortably within tested spend range (₦8,584 to ₦69,535).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1612" y="6282557"/>
            <a:ext cx="7136606" cy="43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Verdict: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Valid, evidence-based estimation!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08369" y="5034782"/>
            <a:ext cx="7422356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true">
                <a:solidFill>
                  <a:srgbClr val="F87171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WOULD NOT DO:</a:t>
            </a:r>
            <a:r>
              <a:rPr lang="en-US" sz="1687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 Predict sales for ₦150,000 spend (Extrapolation Trap).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42988" y="3996557"/>
            <a:ext cx="7362681" cy="1028700"/>
            <a:chOff x="0" y="0"/>
            <a:chExt cx="9816908" cy="13716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9816908" cy="1371600"/>
              <a:chOff x="0" y="0"/>
              <a:chExt cx="1514955" cy="21166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514955" cy="211667"/>
              </a:xfrm>
              <a:custGeom>
                <a:avLst/>
                <a:gdLst/>
                <a:ahLst/>
                <a:cxnLst/>
                <a:rect r="r" b="b" t="t" l="l"/>
                <a:pathLst>
                  <a:path h="211667" w="1514955">
                    <a:moveTo>
                      <a:pt x="20537" y="0"/>
                    </a:moveTo>
                    <a:lnTo>
                      <a:pt x="1494418" y="0"/>
                    </a:lnTo>
                    <a:cubicBezTo>
                      <a:pt x="1499865" y="0"/>
                      <a:pt x="1505088" y="2164"/>
                      <a:pt x="1508940" y="6015"/>
                    </a:cubicBezTo>
                    <a:cubicBezTo>
                      <a:pt x="1512791" y="9867"/>
                      <a:pt x="1514955" y="15090"/>
                      <a:pt x="1514955" y="20537"/>
                    </a:cubicBezTo>
                    <a:lnTo>
                      <a:pt x="1514955" y="191129"/>
                    </a:lnTo>
                    <a:cubicBezTo>
                      <a:pt x="1514955" y="196576"/>
                      <a:pt x="1512791" y="201800"/>
                      <a:pt x="1508940" y="205651"/>
                    </a:cubicBezTo>
                    <a:cubicBezTo>
                      <a:pt x="1505088" y="209503"/>
                      <a:pt x="1499865" y="211667"/>
                      <a:pt x="1494418" y="211667"/>
                    </a:cubicBezTo>
                    <a:lnTo>
                      <a:pt x="20537" y="211667"/>
                    </a:lnTo>
                    <a:cubicBezTo>
                      <a:pt x="15090" y="211667"/>
                      <a:pt x="9867" y="209503"/>
                      <a:pt x="6015" y="205651"/>
                    </a:cubicBezTo>
                    <a:cubicBezTo>
                      <a:pt x="2164" y="201800"/>
                      <a:pt x="0" y="196576"/>
                      <a:pt x="0" y="191129"/>
                    </a:cubicBezTo>
                    <a:lnTo>
                      <a:pt x="0" y="20537"/>
                    </a:lnTo>
                    <a:cubicBezTo>
                      <a:pt x="0" y="15090"/>
                      <a:pt x="2164" y="9867"/>
                      <a:pt x="6015" y="6015"/>
                    </a:cubicBezTo>
                    <a:cubicBezTo>
                      <a:pt x="9867" y="2164"/>
                      <a:pt x="15090" y="0"/>
                      <a:pt x="20537" y="0"/>
                    </a:cubicBezTo>
                    <a:close/>
                  </a:path>
                </a:pathLst>
              </a:custGeom>
              <a:solidFill>
                <a:srgbClr val="FFF5D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1514955" cy="2402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sp>
          <p:nvSpPr>
            <p:cNvPr name="AutoShape 35" id="35"/>
            <p:cNvSpPr/>
            <p:nvPr/>
          </p:nvSpPr>
          <p:spPr>
            <a:xfrm flipH="true" flipV="true">
              <a:off x="95250" y="0"/>
              <a:ext cx="0" cy="1371600"/>
            </a:xfrm>
            <a:prstGeom prst="line">
              <a:avLst/>
            </a:prstGeom>
            <a:ln cap="flat" w="127000">
              <a:solidFill>
                <a:srgbClr val="E67E22"/>
              </a:solidFill>
              <a:prstDash val="solid"/>
              <a:headEnd type="none" len="sm" w="sm"/>
              <a:tailEnd type="none" len="sm" w="sm"/>
            </a:ln>
          </p:spPr>
        </p:sp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19041" y="3720063"/>
            <a:ext cx="7830712" cy="16197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Turn: Is Yaba's Line Worth Trusting?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4375" y="2291582"/>
            <a:ext cx="8251031" cy="4407694"/>
            <a:chOff x="0" y="0"/>
            <a:chExt cx="11001375" cy="5876925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1001375" cy="5876925"/>
            </a:xfrm>
            <a:custGeom>
              <a:avLst/>
              <a:gdLst/>
              <a:ahLst/>
              <a:cxnLst/>
              <a:rect r="r" b="b" t="t" l="l"/>
              <a:pathLst>
                <a:path h="5876925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5876925"/>
                  </a:lnTo>
                  <a:lnTo>
                    <a:pt x="0" y="5876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7" r="0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00188" y="2531040"/>
            <a:ext cx="7108031" cy="560642"/>
            <a:chOff x="0" y="0"/>
            <a:chExt cx="9477375" cy="7475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77374" cy="747522"/>
            </a:xfrm>
            <a:custGeom>
              <a:avLst/>
              <a:gdLst/>
              <a:ahLst/>
              <a:cxnLst/>
              <a:rect r="r" b="b" t="t" l="l"/>
              <a:pathLst>
                <a:path h="747522" w="9477374">
                  <a:moveTo>
                    <a:pt x="0" y="0"/>
                  </a:moveTo>
                  <a:lnTo>
                    <a:pt x="9477374" y="0"/>
                  </a:lnTo>
                  <a:lnTo>
                    <a:pt x="9477374" y="747522"/>
                  </a:lnTo>
                  <a:lnTo>
                    <a:pt x="0" y="74752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8812" r="0" b="-18526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477375" cy="776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Activity Task (6 Mins)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1562" y="2734494"/>
            <a:ext cx="285750" cy="285750"/>
            <a:chOff x="0" y="0"/>
            <a:chExt cx="381000" cy="381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500" r="0" b="-250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71562" y="3205982"/>
            <a:ext cx="753665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Open Yaba branch test data in lab pack (same dataset from Topic 4.2).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1612" y="3967982"/>
            <a:ext cx="7136606" cy="35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1. Calculate: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Slope, Intercept, and R² in Excel.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1612" y="4503763"/>
            <a:ext cx="7136606" cy="71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2. Decide: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Should Yaba's manager use this line to plan spend? Justify using R².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1612" y="5403875"/>
            <a:ext cx="7136606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3. Write:</a:t>
            </a: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 One sentence recommendation to Yaba's manager.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71562" y="5499125"/>
            <a:ext cx="185738" cy="214312"/>
            <a:chOff x="0" y="0"/>
            <a:chExt cx="247650" cy="2857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71562" y="4599013"/>
            <a:ext cx="185738" cy="214312"/>
            <a:chOff x="0" y="0"/>
            <a:chExt cx="247650" cy="2857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1562" y="4063232"/>
            <a:ext cx="185738" cy="214312"/>
            <a:chOff x="0" y="0"/>
            <a:chExt cx="247650" cy="2857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22594" y="2291582"/>
            <a:ext cx="7936706" cy="4407694"/>
            <a:chOff x="0" y="0"/>
            <a:chExt cx="10582275" cy="5876925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10582275" cy="5876925"/>
            </a:xfrm>
            <a:custGeom>
              <a:avLst/>
              <a:gdLst/>
              <a:ahLst/>
              <a:cxnLst/>
              <a:rect r="r" b="b" t="t" l="l"/>
              <a:pathLst>
                <a:path h="5876925" w="10582275">
                  <a:moveTo>
                    <a:pt x="0" y="0"/>
                  </a:moveTo>
                  <a:lnTo>
                    <a:pt x="10582275" y="0"/>
                  </a:lnTo>
                  <a:lnTo>
                    <a:pt x="10582275" y="5876925"/>
                  </a:lnTo>
                  <a:lnTo>
                    <a:pt x="0" y="5876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941" t="0" r="-1941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094119" y="2569140"/>
            <a:ext cx="7136606" cy="560642"/>
            <a:chOff x="0" y="0"/>
            <a:chExt cx="9515475" cy="7475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15474" cy="747522"/>
            </a:xfrm>
            <a:custGeom>
              <a:avLst/>
              <a:gdLst/>
              <a:ahLst/>
              <a:cxnLst/>
              <a:rect r="r" b="b" t="t" l="l"/>
              <a:pathLst>
                <a:path h="747522" w="9515474">
                  <a:moveTo>
                    <a:pt x="0" y="0"/>
                  </a:moveTo>
                  <a:lnTo>
                    <a:pt x="9515474" y="0"/>
                  </a:lnTo>
                  <a:lnTo>
                    <a:pt x="9515474" y="747522"/>
                  </a:lnTo>
                  <a:lnTo>
                    <a:pt x="0" y="74752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9805" r="0" b="-18625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9515475" cy="776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72E6C8"/>
                  </a:solidFill>
                  <a:latin typeface="Poppins"/>
                  <a:ea typeface="Poppins"/>
                  <a:cs typeface="Poppins"/>
                  <a:sym typeface="Poppins"/>
                </a:rPr>
                <a:t>Worksheet Mockup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65494" y="2677344"/>
            <a:ext cx="285750" cy="285750"/>
            <a:chOff x="0" y="0"/>
            <a:chExt cx="381000" cy="3810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65494" y="3205982"/>
            <a:ext cx="7155942" cy="1228725"/>
            <a:chOff x="0" y="0"/>
            <a:chExt cx="9541256" cy="16383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9541256" cy="1638300"/>
            </a:xfrm>
            <a:custGeom>
              <a:avLst/>
              <a:gdLst/>
              <a:ahLst/>
              <a:cxnLst/>
              <a:rect r="r" b="b" t="t" l="l"/>
              <a:pathLst>
                <a:path h="1638300" w="9541256">
                  <a:moveTo>
                    <a:pt x="0" y="0"/>
                  </a:moveTo>
                  <a:lnTo>
                    <a:pt x="9541256" y="0"/>
                  </a:lnTo>
                  <a:lnTo>
                    <a:pt x="9541256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2301" t="0" r="-2301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894094" y="3482207"/>
            <a:ext cx="2243138" cy="280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Your Calculated Metrics: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94094" y="3791769"/>
            <a:ext cx="7108031" cy="2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Slope: _____ | Intercept: _____ |  R²: _____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665494" y="4577582"/>
            <a:ext cx="7155942" cy="1600200"/>
            <a:chOff x="0" y="0"/>
            <a:chExt cx="9541256" cy="21336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9541256" cy="2133600"/>
            </a:xfrm>
            <a:custGeom>
              <a:avLst/>
              <a:gdLst/>
              <a:ahLst/>
              <a:cxnLst/>
              <a:rect r="r" b="b" t="t" l="l"/>
              <a:pathLst>
                <a:path h="2133600" w="9541256">
                  <a:moveTo>
                    <a:pt x="0" y="0"/>
                  </a:moveTo>
                  <a:lnTo>
                    <a:pt x="9541256" y="0"/>
                  </a:lnTo>
                  <a:lnTo>
                    <a:pt x="9541256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2441" t="0" r="-2441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894094" y="4853807"/>
            <a:ext cx="3300412" cy="280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Your 1-Sentence Recommendation: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73986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419508" y="4186238"/>
            <a:ext cx="457200" cy="457200"/>
            <a:chOff x="0" y="0"/>
            <a:chExt cx="609600" cy="6096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250" y="3424238"/>
            <a:ext cx="371475" cy="385762"/>
            <a:chOff x="0" y="0"/>
            <a:chExt cx="495300" cy="5143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4329589"/>
            <a:ext cx="371475" cy="385762"/>
            <a:chOff x="0" y="0"/>
            <a:chExt cx="495300" cy="5143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7250" y="5229701"/>
            <a:ext cx="371475" cy="385762"/>
            <a:chOff x="0" y="0"/>
            <a:chExt cx="495300" cy="5143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57250" y="6149159"/>
            <a:ext cx="371475" cy="385762"/>
            <a:chOff x="0" y="0"/>
            <a:chExt cx="495300" cy="5143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51596" y="3905250"/>
            <a:ext cx="4834538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Up Next:</a:t>
            </a:r>
          </a:p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Hypothesis testing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71562" y="2734494"/>
            <a:ext cx="257175" cy="285750"/>
            <a:chOff x="0" y="0"/>
            <a:chExt cx="342900" cy="3810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500" r="0" b="-250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71612" y="2663057"/>
            <a:ext cx="7136606" cy="428625"/>
            <a:chOff x="0" y="0"/>
            <a:chExt cx="9515475" cy="571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15474" cy="571500"/>
            </a:xfrm>
            <a:custGeom>
              <a:avLst/>
              <a:gdLst/>
              <a:ahLst/>
              <a:cxnLst/>
              <a:rect r="r" b="b" t="t" l="l"/>
              <a:pathLst>
                <a:path h="571500" w="9515474">
                  <a:moveTo>
                    <a:pt x="0" y="0"/>
                  </a:moveTo>
                  <a:lnTo>
                    <a:pt x="9515474" y="0"/>
                  </a:lnTo>
                  <a:lnTo>
                    <a:pt x="95154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274425" r="0" b="-2744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5154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Key Capabilities Mastered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71612" y="3357563"/>
            <a:ext cx="713660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Fit a regression line in Excel using and , and write standard prediction formulas.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1612" y="4262914"/>
            <a:ext cx="7136606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Explain slope and intercept in plain, crisp business language.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1612" y="5163026"/>
            <a:ext cx="7136606" cy="71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Interpret R² as the share of outcome explained and link it back to correlation  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71612" y="6082484"/>
            <a:ext cx="7136606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Recognize model limits: extrapolation risks &amp; non-linear curves.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789897" y="5669233"/>
            <a:ext cx="158495" cy="1605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Up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Next: Topic 4.4 — Hypothesis Testing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95325" y="2291582"/>
            <a:ext cx="8251031" cy="4557712"/>
            <a:chOff x="0" y="0"/>
            <a:chExt cx="11001375" cy="60769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1001375" cy="6076950"/>
            </a:xfrm>
            <a:custGeom>
              <a:avLst/>
              <a:gdLst/>
              <a:ahLst/>
              <a:cxnLst/>
              <a:rect r="r" b="b" t="t" l="l"/>
              <a:pathLst>
                <a:path h="6076950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6076950"/>
                  </a:lnTo>
                  <a:lnTo>
                    <a:pt x="0" y="6076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13" r="0" b="-11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1562" y="3186932"/>
            <a:ext cx="753665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Today you learned to quantify relationships and predict outcomes.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1562" y="4148957"/>
            <a:ext cx="753665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Regression models describe what data shows, but don't tell you if observed differences are </a:t>
            </a:r>
            <a:r>
              <a:rPr lang="en-US" sz="1687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real or random noise</a:t>
            </a:r>
            <a:r>
              <a:rPr lang="en-US" sz="1687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71562" y="5191944"/>
            <a:ext cx="7536656" cy="1114425"/>
            <a:chOff x="0" y="0"/>
            <a:chExt cx="10048875" cy="14859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10048875" cy="1485900"/>
            </a:xfrm>
            <a:custGeom>
              <a:avLst/>
              <a:gdLst/>
              <a:ahLst/>
              <a:cxnLst/>
              <a:rect r="r" b="b" t="t" l="l"/>
              <a:pathLst>
                <a:path h="1485900" w="10048875">
                  <a:moveTo>
                    <a:pt x="0" y="0"/>
                  </a:moveTo>
                  <a:lnTo>
                    <a:pt x="10048875" y="0"/>
                  </a:lnTo>
                  <a:lnTo>
                    <a:pt x="10048875" y="1485900"/>
                  </a:lnTo>
                  <a:lnTo>
                    <a:pt x="0" y="148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02" r="0" b="-40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00188" y="2663057"/>
            <a:ext cx="7108031" cy="428625"/>
            <a:chOff x="0" y="0"/>
            <a:chExt cx="9477375" cy="571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77374" cy="571500"/>
            </a:xfrm>
            <a:custGeom>
              <a:avLst/>
              <a:gdLst/>
              <a:ahLst/>
              <a:cxnLst/>
              <a:rect r="r" b="b" t="t" l="l"/>
              <a:pathLst>
                <a:path h="571500" w="9477374">
                  <a:moveTo>
                    <a:pt x="0" y="0"/>
                  </a:moveTo>
                  <a:lnTo>
                    <a:pt x="9477374" y="0"/>
                  </a:lnTo>
                  <a:lnTo>
                    <a:pt x="94773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73126" r="0" b="-2731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4773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494A"/>
                  </a:solidFill>
                  <a:latin typeface="Poppins"/>
                  <a:ea typeface="Poppins"/>
                  <a:cs typeface="Poppins"/>
                  <a:sym typeface="Poppins"/>
                </a:rPr>
                <a:t>The Bridge to Topic 4.4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1562" y="2734494"/>
            <a:ext cx="285750" cy="285750"/>
            <a:chOff x="0" y="0"/>
            <a:chExt cx="381000" cy="3810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500" r="0" b="-25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22594" y="2291582"/>
            <a:ext cx="8251031" cy="4557712"/>
            <a:chOff x="0" y="0"/>
            <a:chExt cx="11001375" cy="60769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1001375" cy="6076950"/>
            </a:xfrm>
            <a:custGeom>
              <a:avLst/>
              <a:gdLst/>
              <a:ahLst/>
              <a:cxnLst/>
              <a:rect r="r" b="b" t="t" l="l"/>
              <a:pathLst>
                <a:path h="6076950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6076950"/>
                  </a:lnTo>
                  <a:lnTo>
                    <a:pt x="0" y="6076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13" r="0" b="-113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94119" y="2605907"/>
            <a:ext cx="7136606" cy="428625"/>
            <a:chOff x="0" y="0"/>
            <a:chExt cx="9515475" cy="571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15474" cy="571500"/>
            </a:xfrm>
            <a:custGeom>
              <a:avLst/>
              <a:gdLst/>
              <a:ahLst/>
              <a:cxnLst/>
              <a:rect r="r" b="b" t="t" l="l"/>
              <a:pathLst>
                <a:path h="571500" w="9515474">
                  <a:moveTo>
                    <a:pt x="0" y="0"/>
                  </a:moveTo>
                  <a:lnTo>
                    <a:pt x="9515474" y="0"/>
                  </a:lnTo>
                  <a:lnTo>
                    <a:pt x="9515474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74425" r="0" b="-2744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515475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72E6C8"/>
                  </a:solidFill>
                  <a:latin typeface="Poppins"/>
                  <a:ea typeface="Poppins"/>
                  <a:cs typeface="Poppins"/>
                  <a:sym typeface="Poppins"/>
                </a:rPr>
                <a:t>Action Items Before Next Session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65494" y="2677344"/>
            <a:ext cx="285750" cy="285750"/>
            <a:chOff x="0" y="0"/>
            <a:chExt cx="381000" cy="381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065544" y="3139307"/>
            <a:ext cx="7165181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Complete Topic 4.3 Lab Exercises (Guided &amp; Semi-Guided).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65544" y="4039419"/>
            <a:ext cx="7165181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Complete LMS Practice Questions on </a:t>
            </a:r>
            <a:r>
              <a:rPr lang="en-US" sz="191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publica.academy</a:t>
            </a: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65494" y="3234557"/>
            <a:ext cx="185738" cy="214312"/>
            <a:chOff x="0" y="0"/>
            <a:chExt cx="247650" cy="2857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65494" y="5034782"/>
            <a:ext cx="185738" cy="214312"/>
            <a:chOff x="0" y="0"/>
            <a:chExt cx="247650" cy="2857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065544" y="4939532"/>
            <a:ext cx="7165181" cy="7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Tackle the Independent Lab Tier (introduces a non-linear dataset!).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665494" y="4134669"/>
            <a:ext cx="185738" cy="214312"/>
            <a:chOff x="0" y="0"/>
            <a:chExt cx="247650" cy="28575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DAHUDRqI7N4</dc:identifier>
  <dcterms:modified xsi:type="dcterms:W3CDTF">2011-08-01T06:04:30Z</dcterms:modified>
  <cp:revision>1</cp:revision>
  <dc:title> 4.3_Regression fundamentals.pptx</dc:title>
</cp:coreProperties>
</file>