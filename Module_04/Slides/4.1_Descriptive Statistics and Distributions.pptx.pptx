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Inter" charset="1" panose="02000503000000020004"/>
      <p:regular r:id="rId25"/>
    </p:embeddedFont>
    <p:embeddedFont>
      <p:font typeface="Inter Bold" charset="1" panose="02000503000000020004"/>
      <p:regular r:id="rId26"/>
    </p:embeddedFont>
    <p:embeddedFont>
      <p:font typeface="Poppins Bold" charset="1" panose="00000800000000000000"/>
      <p:regular r:id="rId27"/>
    </p:embeddedFont>
    <p:embeddedFont>
      <p:font typeface="Poppins" charset="1" panose="00000500000000000000"/>
      <p:regular r:id="rId31"/>
    </p:embeddedFont>
    <p:embeddedFont>
      <p:font typeface="Poppins Semi-Bold" charset="1" panose="00000700000000000000"/>
      <p:regular r:id="rId34"/>
    </p:embeddedFont>
    <p:embeddedFont>
      <p:font typeface="Poppins Italics" charset="1" panose="00000500000000000000"/>
      <p:regular r:id="rId38"/>
    </p:embeddedFont>
    <p:embeddedFont>
      <p:font typeface="Poppins Medium" charset="1" panose="000006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4.xml" Type="http://schemas.openxmlformats.org/officeDocument/2006/relationships/notesSlide"/><Relationship Id="rId36" Target="notesSlides/notesSlide5.xml" Type="http://schemas.openxmlformats.org/officeDocument/2006/relationships/notesSlide"/><Relationship Id="rId37" Target="notesSlides/notesSlide6.xml" Type="http://schemas.openxmlformats.org/officeDocument/2006/relationships/notesSlide"/><Relationship Id="rId38" Target="fonts/font38.fntdata" Type="http://schemas.openxmlformats.org/officeDocument/2006/relationships/font"/><Relationship Id="rId39" Target="notesSlides/notesSlide7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8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9.xml" Type="http://schemas.openxmlformats.org/officeDocument/2006/relationships/notesSlide"/><Relationship Id="rId43" Target="notesSlides/notesSlide10.xml" Type="http://schemas.openxmlformats.org/officeDocument/2006/relationships/notesSlide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46" Target="notesSlides/notesSlide13.xml" Type="http://schemas.openxmlformats.org/officeDocument/2006/relationships/notesSlide"/><Relationship Id="rId47" Target="notesSlides/notesSlide14.xml" Type="http://schemas.openxmlformats.org/officeDocument/2006/relationships/notesSlide"/><Relationship Id="rId48" Target="notesSlides/notesSlide15.xml" Type="http://schemas.openxmlformats.org/officeDocument/2006/relationships/notesSlide"/><Relationship Id="rId49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7.xml" Type="http://schemas.openxmlformats.org/officeDocument/2006/relationships/notesSlide"/><Relationship Id="rId51" Target="notesSlides/notesSlide18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9.jpeg" Type="http://schemas.openxmlformats.org/officeDocument/2006/relationships/image"/><Relationship Id="rId6" Target="../media/image10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jpe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jpe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0.png" Type="http://schemas.openxmlformats.org/officeDocument/2006/relationships/image"/><Relationship Id="rId9" Target="../media/image2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0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0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0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media/image39.png" Type="http://schemas.openxmlformats.org/officeDocument/2006/relationships/image"/><Relationship Id="rId13" Target="../media/image40.png" Type="http://schemas.openxmlformats.org/officeDocument/2006/relationships/image"/><Relationship Id="rId14" Target="../media/image41.jpe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0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12" Target="../media/image45.jpe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0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png" Type="http://schemas.openxmlformats.org/officeDocument/2006/relationships/image"/><Relationship Id="rId12" Target="../media/image49.jpe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0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png" Type="http://schemas.openxmlformats.org/officeDocument/2006/relationships/image"/><Relationship Id="rId12" Target="../media/image48.png" Type="http://schemas.openxmlformats.org/officeDocument/2006/relationships/image"/><Relationship Id="rId13" Target="../media/image52.jpe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1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0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png" Type="http://schemas.openxmlformats.org/officeDocument/2006/relationships/image"/><Relationship Id="rId12" Target="../media/image55.png" Type="http://schemas.openxmlformats.org/officeDocument/2006/relationships/image"/><Relationship Id="rId13" Target="../media/image56.png" Type="http://schemas.openxmlformats.org/officeDocument/2006/relationships/image"/><Relationship Id="rId14" Target="../media/image57.png" Type="http://schemas.openxmlformats.org/officeDocument/2006/relationships/image"/><Relationship Id="rId15" Target="../media/image58.jpe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1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0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46.png" Type="http://schemas.openxmlformats.org/officeDocument/2006/relationships/image"/><Relationship Id="rId12" Target="../media/image61.png" Type="http://schemas.openxmlformats.org/officeDocument/2006/relationships/image"/><Relationship Id="rId13" Target="../media/image62.pn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1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0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46.png" Type="http://schemas.openxmlformats.org/officeDocument/2006/relationships/image"/><Relationship Id="rId12" Target="../media/image65.png" Type="http://schemas.openxmlformats.org/officeDocument/2006/relationships/image"/><Relationship Id="rId13" Target="../media/image66.png" Type="http://schemas.openxmlformats.org/officeDocument/2006/relationships/image"/><Relationship Id="rId2" Target="../notesSlides/notesSlide14.xml" Type="http://schemas.openxmlformats.org/officeDocument/2006/relationships/notesSlide"/><Relationship Id="rId3" Target="../media/image1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0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png" Type="http://schemas.openxmlformats.org/officeDocument/2006/relationships/image"/><Relationship Id="rId12" Target="../media/image70.png" Type="http://schemas.openxmlformats.org/officeDocument/2006/relationships/image"/><Relationship Id="rId13" Target="../media/image71.png" Type="http://schemas.openxmlformats.org/officeDocument/2006/relationships/image"/><Relationship Id="rId2" Target="../notesSlides/notesSlide15.xml" Type="http://schemas.openxmlformats.org/officeDocument/2006/relationships/notesSlide"/><Relationship Id="rId3" Target="../media/image1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0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png" Type="http://schemas.openxmlformats.org/officeDocument/2006/relationships/image"/><Relationship Id="rId12" Target="../media/image75.png" Type="http://schemas.openxmlformats.org/officeDocument/2006/relationships/image"/><Relationship Id="rId13" Target="../media/image76.png" Type="http://schemas.openxmlformats.org/officeDocument/2006/relationships/image"/><Relationship Id="rId14" Target="../media/image77.png" Type="http://schemas.openxmlformats.org/officeDocument/2006/relationships/image"/><Relationship Id="rId15" Target="../media/image78.png" Type="http://schemas.openxmlformats.org/officeDocument/2006/relationships/image"/><Relationship Id="rId2" Target="../notesSlides/notesSlide16.xml" Type="http://schemas.openxmlformats.org/officeDocument/2006/relationships/notesSlide"/><Relationship Id="rId3" Target="../media/image1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0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notesSlides/notesSlide17.xml" Type="http://schemas.openxmlformats.org/officeDocument/2006/relationships/notesSlide"/><Relationship Id="rId3" Target="../media/image1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0.pn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png" Type="http://schemas.openxmlformats.org/officeDocument/2006/relationships/image"/><Relationship Id="rId12" Target="../media/image83.png" Type="http://schemas.openxmlformats.org/officeDocument/2006/relationships/image"/><Relationship Id="rId13" Target="../media/image84.png" Type="http://schemas.openxmlformats.org/officeDocument/2006/relationships/image"/><Relationship Id="rId14" Target="../media/image85.png" Type="http://schemas.openxmlformats.org/officeDocument/2006/relationships/image"/><Relationship Id="rId2" Target="../notesSlides/notesSlide18.xml" Type="http://schemas.openxmlformats.org/officeDocument/2006/relationships/notesSlide"/><Relationship Id="rId3" Target="../media/image11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0.png" Type="http://schemas.openxmlformats.org/officeDocument/2006/relationships/image"/><Relationship Id="rId9" Target="../media/image8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0" y="0"/>
            <a:ext cx="2286000" cy="1907572"/>
            <a:chOff x="0" y="0"/>
            <a:chExt cx="3048000" cy="25434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8000" cy="2543429"/>
            </a:xfrm>
            <a:custGeom>
              <a:avLst/>
              <a:gdLst/>
              <a:ahLst/>
              <a:cxnLst/>
              <a:rect r="r" b="b" t="t" l="l"/>
              <a:pathLst>
                <a:path h="254342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543429"/>
                  </a:lnTo>
                  <a:lnTo>
                    <a:pt x="0" y="254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0" r="0" b="-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6429375"/>
            <a:ext cx="1907572" cy="1286066"/>
            <a:chOff x="0" y="0"/>
            <a:chExt cx="2543429" cy="17147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3429" cy="1714754"/>
            </a:xfrm>
            <a:custGeom>
              <a:avLst/>
              <a:gdLst/>
              <a:ahLst/>
              <a:cxnLst/>
              <a:rect r="r" b="b" t="t" l="l"/>
              <a:pathLst>
                <a:path h="1714754" w="2543429">
                  <a:moveTo>
                    <a:pt x="0" y="0"/>
                  </a:moveTo>
                  <a:lnTo>
                    <a:pt x="2543429" y="0"/>
                  </a:lnTo>
                  <a:lnTo>
                    <a:pt x="2543429" y="1714754"/>
                  </a:lnTo>
                  <a:lnTo>
                    <a:pt x="0" y="171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8" t="0" r="-14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2944759"/>
            <a:ext cx="16002000" cy="323088"/>
            <a:chOff x="0" y="0"/>
            <a:chExt cx="21336000" cy="4307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430784"/>
            </a:xfrm>
            <a:custGeom>
              <a:avLst/>
              <a:gdLst/>
              <a:ahLst/>
              <a:cxnLst/>
              <a:rect r="r" b="b" t="t" l="l"/>
              <a:pathLst>
                <a:path h="43078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14389" r="0" b="-91438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000" y="2944759"/>
            <a:ext cx="16002000" cy="323098"/>
            <a:chOff x="0" y="0"/>
            <a:chExt cx="21336000" cy="4307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00" cy="430784"/>
            </a:xfrm>
            <a:custGeom>
              <a:avLst/>
              <a:gdLst/>
              <a:ahLst/>
              <a:cxnLst/>
              <a:rect r="r" b="b" t="t" l="l"/>
              <a:pathLst>
                <a:path h="43078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14386" r="0" b="-91439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43000" y="2944759"/>
            <a:ext cx="16002000" cy="438950"/>
            <a:chOff x="0" y="0"/>
            <a:chExt cx="21336000" cy="5852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585267"/>
            </a:xfrm>
            <a:custGeom>
              <a:avLst/>
              <a:gdLst/>
              <a:ahLst/>
              <a:cxnLst/>
              <a:rect r="r" b="b" t="t" l="l"/>
              <a:pathLst>
                <a:path h="585267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585267"/>
                  </a:lnTo>
                  <a:lnTo>
                    <a:pt x="0" y="5852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73526" r="0" b="-64713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336000" cy="585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87F7F"/>
                  </a:solidFill>
                  <a:latin typeface="Inter"/>
                  <a:ea typeface="Inter"/>
                  <a:cs typeface="Inter"/>
                  <a:sym typeface="Inter"/>
                </a:rPr>
                <a:t>DATA ANALYSIS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3000" y="3349571"/>
            <a:ext cx="16002000" cy="691134"/>
            <a:chOff x="0" y="0"/>
            <a:chExt cx="21336000" cy="9215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36000" cy="921512"/>
            </a:xfrm>
            <a:custGeom>
              <a:avLst/>
              <a:gdLst/>
              <a:ahLst/>
              <a:cxnLst/>
              <a:rect r="r" b="b" t="t" l="l"/>
              <a:pathLst>
                <a:path h="9215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21512"/>
                  </a:lnTo>
                  <a:lnTo>
                    <a:pt x="0" y="9215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0828" r="0" b="-400828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43000" y="3342427"/>
            <a:ext cx="16002000" cy="698278"/>
            <a:chOff x="0" y="0"/>
            <a:chExt cx="21336000" cy="9310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336000" cy="931037"/>
            </a:xfrm>
            <a:custGeom>
              <a:avLst/>
              <a:gdLst/>
              <a:ahLst/>
              <a:cxnLst/>
              <a:rect r="r" b="b" t="t" l="l"/>
              <a:pathLst>
                <a:path h="931037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31037"/>
                  </a:lnTo>
                  <a:lnTo>
                    <a:pt x="0" y="93103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6216" r="0" b="-396216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43000" y="3335284"/>
            <a:ext cx="16002000" cy="705431"/>
            <a:chOff x="0" y="0"/>
            <a:chExt cx="21336000" cy="9405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36000" cy="940574"/>
            </a:xfrm>
            <a:custGeom>
              <a:avLst/>
              <a:gdLst/>
              <a:ahLst/>
              <a:cxnLst/>
              <a:rect r="r" b="b" t="t" l="l"/>
              <a:pathLst>
                <a:path h="94057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40574"/>
                  </a:lnTo>
                  <a:lnTo>
                    <a:pt x="0" y="94057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91998" r="0" b="-39199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1336000" cy="9500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Module 4: Statistic for Analytics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43000" y="8572500"/>
            <a:ext cx="16002000" cy="28766"/>
            <a:chOff x="0" y="0"/>
            <a:chExt cx="21336000" cy="383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336000" cy="38354"/>
            </a:xfrm>
            <a:custGeom>
              <a:avLst/>
              <a:gdLst/>
              <a:ahLst/>
              <a:cxnLst/>
              <a:rect r="r" b="b" t="t" l="l"/>
              <a:pathLst>
                <a:path h="383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8354"/>
                  </a:lnTo>
                  <a:lnTo>
                    <a:pt x="0" y="3835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43000" y="9001125"/>
            <a:ext cx="385667" cy="342900"/>
            <a:chOff x="0" y="0"/>
            <a:chExt cx="514223" cy="457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4223" cy="457200"/>
            </a:xfrm>
            <a:custGeom>
              <a:avLst/>
              <a:gdLst/>
              <a:ahLst/>
              <a:cxnLst/>
              <a:rect r="r" b="b" t="t" l="l"/>
              <a:pathLst>
                <a:path h="457200" w="514223">
                  <a:moveTo>
                    <a:pt x="0" y="0"/>
                  </a:moveTo>
                  <a:lnTo>
                    <a:pt x="514223" y="0"/>
                  </a:lnTo>
                  <a:lnTo>
                    <a:pt x="51422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" t="0" r="-12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43062" y="9001125"/>
            <a:ext cx="2143316" cy="323088"/>
            <a:chOff x="0" y="0"/>
            <a:chExt cx="2857754" cy="4307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57754" cy="430784"/>
            </a:xfrm>
            <a:custGeom>
              <a:avLst/>
              <a:gdLst/>
              <a:ahLst/>
              <a:cxnLst/>
              <a:rect r="r" b="b" t="t" l="l"/>
              <a:pathLst>
                <a:path h="430784" w="2857754">
                  <a:moveTo>
                    <a:pt x="0" y="0"/>
                  </a:moveTo>
                  <a:lnTo>
                    <a:pt x="2857754" y="0"/>
                  </a:lnTo>
                  <a:lnTo>
                    <a:pt x="2857754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171" r="0" b="-7916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43062" y="9001125"/>
            <a:ext cx="2143354" cy="323098"/>
            <a:chOff x="0" y="0"/>
            <a:chExt cx="2857805" cy="4307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57754" cy="430784"/>
            </a:xfrm>
            <a:custGeom>
              <a:avLst/>
              <a:gdLst/>
              <a:ahLst/>
              <a:cxnLst/>
              <a:rect r="r" b="b" t="t" l="l"/>
              <a:pathLst>
                <a:path h="430784" w="2857754">
                  <a:moveTo>
                    <a:pt x="0" y="0"/>
                  </a:moveTo>
                  <a:lnTo>
                    <a:pt x="2857754" y="0"/>
                  </a:lnTo>
                  <a:lnTo>
                    <a:pt x="2857754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9171" r="-1" b="-79174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43062" y="9001125"/>
            <a:ext cx="2143354" cy="438950"/>
            <a:chOff x="0" y="0"/>
            <a:chExt cx="2857805" cy="58526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57805" cy="585267"/>
            </a:xfrm>
            <a:custGeom>
              <a:avLst/>
              <a:gdLst/>
              <a:ahLst/>
              <a:cxnLst/>
              <a:rect r="r" b="b" t="t" l="l"/>
              <a:pathLst>
                <a:path h="585267" w="2857805">
                  <a:moveTo>
                    <a:pt x="0" y="0"/>
                  </a:moveTo>
                  <a:lnTo>
                    <a:pt x="2857805" y="0"/>
                  </a:lnTo>
                  <a:lnTo>
                    <a:pt x="2857805" y="585267"/>
                  </a:lnTo>
                  <a:lnTo>
                    <a:pt x="0" y="5852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8340" r="0" b="-3194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857805" cy="585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Topic 1 of 5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43000" y="552450"/>
            <a:ext cx="2124646" cy="1845850"/>
            <a:chOff x="0" y="0"/>
            <a:chExt cx="2832862" cy="246113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32862" cy="2461133"/>
            </a:xfrm>
            <a:custGeom>
              <a:avLst/>
              <a:gdLst/>
              <a:ahLst/>
              <a:cxnLst/>
              <a:rect r="r" b="b" t="t" l="l"/>
              <a:pathLst>
                <a:path h="2461133" w="2832862">
                  <a:moveTo>
                    <a:pt x="0" y="0"/>
                  </a:moveTo>
                  <a:lnTo>
                    <a:pt x="2832862" y="0"/>
                  </a:lnTo>
                  <a:lnTo>
                    <a:pt x="2832862" y="2461133"/>
                  </a:lnTo>
                  <a:lnTo>
                    <a:pt x="0" y="2461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68" r="0" b="-68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001070" y="1733550"/>
            <a:ext cx="6258211" cy="6258211"/>
            <a:chOff x="0" y="0"/>
            <a:chExt cx="8344281" cy="834428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344281" cy="8344281"/>
            </a:xfrm>
            <a:custGeom>
              <a:avLst/>
              <a:gdLst/>
              <a:ahLst/>
              <a:cxnLst/>
              <a:rect r="r" b="b" t="t" l="l"/>
              <a:pathLst>
                <a:path h="8344281" w="8344281">
                  <a:moveTo>
                    <a:pt x="254000" y="0"/>
                  </a:moveTo>
                  <a:lnTo>
                    <a:pt x="8090281" y="0"/>
                  </a:lnTo>
                  <a:cubicBezTo>
                    <a:pt x="8230616" y="0"/>
                    <a:pt x="8344281" y="113665"/>
                    <a:pt x="8344281" y="254000"/>
                  </a:cubicBezTo>
                  <a:lnTo>
                    <a:pt x="8344281" y="8090281"/>
                  </a:lnTo>
                  <a:cubicBezTo>
                    <a:pt x="8344281" y="8230616"/>
                    <a:pt x="8230616" y="8344281"/>
                    <a:pt x="8090281" y="8344281"/>
                  </a:cubicBezTo>
                  <a:lnTo>
                    <a:pt x="254000" y="8344281"/>
                  </a:lnTo>
                  <a:cubicBezTo>
                    <a:pt x="113665" y="8344281"/>
                    <a:pt x="0" y="8230616"/>
                    <a:pt x="0" y="8090281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close/>
                </a:path>
              </a:pathLst>
            </a:custGeom>
            <a:blipFill>
              <a:blip r:embed="rId10"/>
              <a:stretch>
                <a:fillRect l="-292" t="0" r="-292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772" t="0" r="-772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143000" y="3878104"/>
            <a:ext cx="9573125" cy="366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0"/>
              </a:lnSpc>
            </a:pPr>
            <a:r>
              <a:rPr lang="en-US" sz="7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Descriptive Statistics &amp; </a:t>
            </a:r>
          </a:p>
          <a:p>
            <a:pPr algn="l">
              <a:lnSpc>
                <a:spcPts val="9500"/>
              </a:lnSpc>
            </a:pPr>
            <a:r>
              <a:rPr lang="en-US" sz="7600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Distributions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857250"/>
            <a:ext cx="142875" cy="742950"/>
            <a:chOff x="0" y="0"/>
            <a:chExt cx="190500" cy="990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500" cy="990600"/>
            </a:xfrm>
            <a:custGeom>
              <a:avLst/>
              <a:gdLst/>
              <a:ahLst/>
              <a:cxnLst/>
              <a:rect r="r" b="b" t="t" l="l"/>
              <a:pathLst>
                <a:path h="9906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70180" y="1028700"/>
            <a:ext cx="1189101" cy="1033082"/>
            <a:chOff x="0" y="0"/>
            <a:chExt cx="1585468" cy="13774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5468" cy="1377442"/>
            </a:xfrm>
            <a:custGeom>
              <a:avLst/>
              <a:gdLst/>
              <a:ahLst/>
              <a:cxnLst/>
              <a:rect r="r" b="b" t="t" l="l"/>
              <a:pathLst>
                <a:path h="1377442" w="1585468">
                  <a:moveTo>
                    <a:pt x="0" y="0"/>
                  </a:moveTo>
                  <a:lnTo>
                    <a:pt x="1585468" y="0"/>
                  </a:lnTo>
                  <a:lnTo>
                    <a:pt x="1585468" y="1377442"/>
                  </a:lnTo>
                  <a:lnTo>
                    <a:pt x="0" y="1377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6" r="0" b="-5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01070" y="2333473"/>
            <a:ext cx="6258211" cy="6258211"/>
            <a:chOff x="0" y="0"/>
            <a:chExt cx="8344281" cy="83442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44281" cy="8344281"/>
            </a:xfrm>
            <a:custGeom>
              <a:avLst/>
              <a:gdLst/>
              <a:ahLst/>
              <a:cxnLst/>
              <a:rect r="r" b="b" t="t" l="l"/>
              <a:pathLst>
                <a:path h="8344281" w="8344281">
                  <a:moveTo>
                    <a:pt x="254000" y="0"/>
                  </a:moveTo>
                  <a:lnTo>
                    <a:pt x="8090281" y="0"/>
                  </a:lnTo>
                  <a:cubicBezTo>
                    <a:pt x="8230616" y="0"/>
                    <a:pt x="8344281" y="113665"/>
                    <a:pt x="8344281" y="254000"/>
                  </a:cubicBezTo>
                  <a:lnTo>
                    <a:pt x="8344281" y="8090281"/>
                  </a:lnTo>
                  <a:cubicBezTo>
                    <a:pt x="8344281" y="8230616"/>
                    <a:pt x="8230616" y="8344281"/>
                    <a:pt x="8090281" y="8344281"/>
                  </a:cubicBezTo>
                  <a:lnTo>
                    <a:pt x="254000" y="8344281"/>
                  </a:lnTo>
                  <a:cubicBezTo>
                    <a:pt x="113665" y="8344281"/>
                    <a:pt x="0" y="8230616"/>
                    <a:pt x="0" y="8090281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close/>
                </a:path>
              </a:pathLst>
            </a:custGeom>
            <a:blipFill>
              <a:blip r:embed="rId5"/>
              <a:stretch>
                <a:fillRect l="-292" t="0" r="-29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85900" y="714375"/>
            <a:ext cx="945286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MODULE 4 OBJECTIVES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43000" y="2333473"/>
            <a:ext cx="457200" cy="485775"/>
            <a:chOff x="0" y="0"/>
            <a:chExt cx="609600" cy="6477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609600" cy="647700"/>
            </a:xfrm>
            <a:custGeom>
              <a:avLst/>
              <a:gdLst/>
              <a:ahLst/>
              <a:cxnLst/>
              <a:rect r="r" b="b" t="t" l="l"/>
              <a:pathLst>
                <a:path h="6477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857375" y="2219173"/>
            <a:ext cx="7892664" cy="1539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23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Cal</a:t>
            </a:r>
            <a:r>
              <a:rPr lang="en-US" sz="23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culate and interpret mean, median, mode, range and standard deviation, and know when to trust the mean vs. the median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43000" y="3957386"/>
            <a:ext cx="457200" cy="485775"/>
            <a:chOff x="0" y="0"/>
            <a:chExt cx="609600" cy="6477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609600" cy="647700"/>
            </a:xfrm>
            <a:custGeom>
              <a:avLst/>
              <a:gdLst/>
              <a:ahLst/>
              <a:cxnLst/>
              <a:rect r="r" b="b" t="t" l="l"/>
              <a:pathLst>
                <a:path h="6477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857375" y="3845944"/>
            <a:ext cx="7892664" cy="101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23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Calculate and interpret a c</a:t>
            </a:r>
            <a:r>
              <a:rPr lang="en-US" sz="23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orrelation coefficient, and explain why correlation isn't causation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3000" y="4961222"/>
            <a:ext cx="466725" cy="495895"/>
            <a:chOff x="0" y="0"/>
            <a:chExt cx="609600" cy="6477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609600" cy="647700"/>
            </a:xfrm>
            <a:custGeom>
              <a:avLst/>
              <a:gdLst/>
              <a:ahLst/>
              <a:cxnLst/>
              <a:rect r="r" b="b" t="t" l="l"/>
              <a:pathLst>
                <a:path h="6477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857375" y="4906739"/>
            <a:ext cx="7892664" cy="101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23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Fit a r</a:t>
            </a:r>
            <a:r>
              <a:rPr lang="en-US" sz="23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egression line to predict outcomes, and recognise the limits of the model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3000" y="6198328"/>
            <a:ext cx="466725" cy="495895"/>
            <a:chOff x="0" y="0"/>
            <a:chExt cx="609600" cy="6477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609600" cy="647700"/>
            </a:xfrm>
            <a:custGeom>
              <a:avLst/>
              <a:gdLst/>
              <a:ahLst/>
              <a:cxnLst/>
              <a:rect r="r" b="b" t="t" l="l"/>
              <a:pathLst>
                <a:path h="6477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857375" y="6089011"/>
            <a:ext cx="7892664" cy="965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2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Tes</a:t>
            </a:r>
            <a:r>
              <a:rPr lang="en-US" sz="22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 whether a difference is statistically significant, using a correctly interpreted p-value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33475" y="7359338"/>
            <a:ext cx="8616564" cy="918507"/>
            <a:chOff x="0" y="0"/>
            <a:chExt cx="11488752" cy="122467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07222" cy="661194"/>
              <a:chOff x="0" y="0"/>
              <a:chExt cx="692789" cy="647700"/>
            </a:xfrm>
          </p:grpSpPr>
          <p:sp>
            <p:nvSpPr>
              <p:cNvPr name="Freeform 27" id="27" descr="image.png"/>
              <p:cNvSpPr/>
              <p:nvPr/>
            </p:nvSpPr>
            <p:spPr>
              <a:xfrm flipH="false" flipV="false" rot="0">
                <a:off x="0" y="0"/>
                <a:ext cx="692789" cy="647700"/>
              </a:xfrm>
              <a:custGeom>
                <a:avLst/>
                <a:gdLst/>
                <a:ahLst/>
                <a:cxnLst/>
                <a:rect r="r" b="b" t="t" l="l"/>
                <a:pathLst>
                  <a:path h="647700" w="692789">
                    <a:moveTo>
                      <a:pt x="0" y="0"/>
                    </a:moveTo>
                    <a:lnTo>
                      <a:pt x="692789" y="0"/>
                    </a:lnTo>
                    <a:lnTo>
                      <a:pt x="692789" y="647700"/>
                    </a:lnTo>
                    <a:lnTo>
                      <a:pt x="0" y="6477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-6823" r="0" b="-6823"/>
                </a:stretch>
              </a:blip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1096916" y="-81518"/>
              <a:ext cx="10391836" cy="1306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40"/>
                </a:lnSpc>
              </a:pPr>
              <a:r>
                <a:rPr lang="en-US" sz="23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Use AI t</a:t>
              </a:r>
              <a:r>
                <a:rPr lang="en-US" sz="23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o interpret statistical results responsibly, catching claims that overstate the evidence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549033" y="2071783"/>
            <a:ext cx="6714934" cy="6714934"/>
            <a:chOff x="0" y="0"/>
            <a:chExt cx="8953246" cy="89532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53246" cy="8953246"/>
            </a:xfrm>
            <a:custGeom>
              <a:avLst/>
              <a:gdLst/>
              <a:ahLst/>
              <a:cxnLst/>
              <a:rect r="r" b="b" t="t" l="l"/>
              <a:pathLst>
                <a:path h="8953246" w="8953246">
                  <a:moveTo>
                    <a:pt x="254508" y="0"/>
                  </a:moveTo>
                  <a:lnTo>
                    <a:pt x="8698738" y="0"/>
                  </a:lnTo>
                  <a:cubicBezTo>
                    <a:pt x="8766302" y="0"/>
                    <a:pt x="8830945" y="26797"/>
                    <a:pt x="8878697" y="74549"/>
                  </a:cubicBezTo>
                  <a:cubicBezTo>
                    <a:pt x="8926449" y="122301"/>
                    <a:pt x="8953246" y="187071"/>
                    <a:pt x="8953246" y="254508"/>
                  </a:cubicBezTo>
                  <a:lnTo>
                    <a:pt x="8953246" y="8698738"/>
                  </a:lnTo>
                  <a:cubicBezTo>
                    <a:pt x="8953246" y="8839327"/>
                    <a:pt x="8839327" y="8953246"/>
                    <a:pt x="8698738" y="8953246"/>
                  </a:cubicBezTo>
                  <a:lnTo>
                    <a:pt x="254508" y="8953246"/>
                  </a:lnTo>
                  <a:cubicBezTo>
                    <a:pt x="113919" y="8953246"/>
                    <a:pt x="0" y="8839327"/>
                    <a:pt x="0" y="8698738"/>
                  </a:cubicBezTo>
                  <a:lnTo>
                    <a:pt x="0" y="254508"/>
                  </a:lnTo>
                  <a:cubicBezTo>
                    <a:pt x="0" y="113919"/>
                    <a:pt x="113919" y="0"/>
                    <a:pt x="254508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772" t="0" r="-77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Learning outcome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57250" y="3289132"/>
            <a:ext cx="10279783" cy="974152"/>
            <a:chOff x="0" y="0"/>
            <a:chExt cx="13706378" cy="129887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784001" y="-19050"/>
              <a:ext cx="12922377" cy="450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0"/>
                </a:lnSpc>
              </a:pPr>
              <a:r>
                <a:rPr lang="en-US" sz="2150">
                  <a:solidFill>
                    <a:srgbClr val="20494A"/>
                  </a:solidFill>
                  <a:latin typeface="Poppins"/>
                  <a:ea typeface="Poppins"/>
                  <a:cs typeface="Poppins"/>
                  <a:sym typeface="Poppins"/>
                </a:rPr>
                <a:t>1. Calculate Summary Stats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784001" y="399710"/>
              <a:ext cx="12135679" cy="899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2C3E50"/>
                  </a:solidFill>
                  <a:latin typeface="Poppins"/>
                  <a:ea typeface="Poppins"/>
                  <a:cs typeface="Poppins"/>
                  <a:sym typeface="Poppins"/>
                </a:rPr>
                <a:t>Calculate and interpret the mean, median, mode, range, and standard deviation of any business dataset using Excel.</a:t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0" y="0"/>
              <a:ext cx="553504" cy="449802"/>
              <a:chOff x="0" y="0"/>
              <a:chExt cx="1172098" cy="952500"/>
            </a:xfrm>
          </p:grpSpPr>
          <p:sp>
            <p:nvSpPr>
              <p:cNvPr name="Freeform 17" id="17" descr="image.png"/>
              <p:cNvSpPr/>
              <p:nvPr/>
            </p:nvSpPr>
            <p:spPr>
              <a:xfrm flipH="false" flipV="false" rot="0">
                <a:off x="0" y="0"/>
                <a:ext cx="1172098" cy="952500"/>
              </a:xfrm>
              <a:custGeom>
                <a:avLst/>
                <a:gdLst/>
                <a:ahLst/>
                <a:cxnLst/>
                <a:rect r="r" b="b" t="t" l="l"/>
                <a:pathLst>
                  <a:path h="952500" w="1172098">
                    <a:moveTo>
                      <a:pt x="0" y="0"/>
                    </a:moveTo>
                    <a:lnTo>
                      <a:pt x="1172098" y="0"/>
                    </a:lnTo>
                    <a:lnTo>
                      <a:pt x="1172098" y="952500"/>
                    </a:lnTo>
                    <a:lnTo>
                      <a:pt x="0" y="9525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-12757" r="0" b="-12757"/>
                </a:stretch>
              </a:blip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2656" y="125945"/>
              <a:ext cx="188191" cy="197913"/>
              <a:chOff x="0" y="0"/>
              <a:chExt cx="398513" cy="419100"/>
            </a:xfrm>
          </p:grpSpPr>
          <p:sp>
            <p:nvSpPr>
              <p:cNvPr name="Freeform 19" id="19" descr="image.png"/>
              <p:cNvSpPr/>
              <p:nvPr/>
            </p:nvSpPr>
            <p:spPr>
              <a:xfrm flipH="false" flipV="false" rot="0">
                <a:off x="0" y="0"/>
                <a:ext cx="398513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398513">
                    <a:moveTo>
                      <a:pt x="0" y="0"/>
                    </a:moveTo>
                    <a:lnTo>
                      <a:pt x="398513" y="0"/>
                    </a:lnTo>
                    <a:lnTo>
                      <a:pt x="398513" y="419100"/>
                    </a:lnTo>
                    <a:lnTo>
                      <a:pt x="0" y="4191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0" t="-10750" r="0" b="-10750"/>
                </a:stretch>
              </a:blipFill>
            </p:spPr>
          </p:sp>
        </p:grpSp>
      </p:grpSp>
      <p:grpSp>
        <p:nvGrpSpPr>
          <p:cNvPr name="Group 20" id="20"/>
          <p:cNvGrpSpPr/>
          <p:nvPr/>
        </p:nvGrpSpPr>
        <p:grpSpPr>
          <a:xfrm rot="0">
            <a:off x="904875" y="4549034"/>
            <a:ext cx="9549435" cy="1055961"/>
            <a:chOff x="0" y="0"/>
            <a:chExt cx="12732579" cy="1407948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720501" y="14682"/>
              <a:ext cx="10501312" cy="450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0"/>
                </a:lnSpc>
              </a:pPr>
              <a:r>
                <a:rPr lang="en-US" sz="2150">
                  <a:solidFill>
                    <a:srgbClr val="20494A"/>
                  </a:solidFill>
                  <a:latin typeface="Poppins"/>
                  <a:ea typeface="Poppins"/>
                  <a:cs typeface="Poppins"/>
                  <a:sym typeface="Poppins"/>
                </a:rPr>
                <a:t>2. Handle Data Skew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720501" y="518313"/>
              <a:ext cx="12012079" cy="889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99"/>
                </a:lnSpc>
              </a:pPr>
              <a:r>
                <a:rPr lang="en-US" sz="1799">
                  <a:solidFill>
                    <a:srgbClr val="2C3E50"/>
                  </a:solidFill>
                  <a:latin typeface="Poppins"/>
                  <a:ea typeface="Poppins"/>
                  <a:cs typeface="Poppins"/>
                  <a:sym typeface="Poppins"/>
                </a:rPr>
                <a:t>Choose accurately between the mean and median when data is skewed, and explain the mathematical reason why.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0" y="0"/>
              <a:ext cx="550063" cy="550063"/>
              <a:chOff x="0" y="0"/>
              <a:chExt cx="952500" cy="952500"/>
            </a:xfrm>
          </p:grpSpPr>
          <p:sp>
            <p:nvSpPr>
              <p:cNvPr name="Freeform 24" id="24" descr="image.png"/>
              <p:cNvSpPr/>
              <p:nvPr/>
            </p:nvSpPr>
            <p:spPr>
              <a:xfrm flipH="false" flipV="false" rot="0">
                <a:off x="0" y="0"/>
                <a:ext cx="952500" cy="952500"/>
              </a:xfrm>
              <a:custGeom>
                <a:avLst/>
                <a:gdLst/>
                <a:ahLst/>
                <a:cxnLst/>
                <a:rect r="r" b="b" t="t" l="l"/>
                <a:pathLst>
                  <a:path h="952500" w="952500">
                    <a:moveTo>
                      <a:pt x="0" y="0"/>
                    </a:moveTo>
                    <a:lnTo>
                      <a:pt x="952500" y="0"/>
                    </a:lnTo>
                    <a:lnTo>
                      <a:pt x="952500" y="952500"/>
                    </a:lnTo>
                    <a:lnTo>
                      <a:pt x="0" y="9525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0" t="-1000" r="0" b="-1000"/>
                </a:stretch>
              </a:blip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121014" y="154018"/>
              <a:ext cx="308035" cy="242028"/>
              <a:chOff x="0" y="0"/>
              <a:chExt cx="533400" cy="419100"/>
            </a:xfrm>
          </p:grpSpPr>
          <p:sp>
            <p:nvSpPr>
              <p:cNvPr name="Freeform 26" id="26" descr="image.png"/>
              <p:cNvSpPr/>
              <p:nvPr/>
            </p:nvSpPr>
            <p:spPr>
              <a:xfrm flipH="false" flipV="false" rot="0">
                <a:off x="0" y="0"/>
                <a:ext cx="5334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533400">
                    <a:moveTo>
                      <a:pt x="0" y="0"/>
                    </a:moveTo>
                    <a:lnTo>
                      <a:pt x="533400" y="0"/>
                    </a:lnTo>
                    <a:lnTo>
                      <a:pt x="533400" y="419100"/>
                    </a:lnTo>
                    <a:lnTo>
                      <a:pt x="0" y="4191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 l="0" t="-2272" r="0" b="-2272"/>
                </a:stretch>
              </a:blipFill>
            </p:spPr>
          </p:sp>
        </p:grpSp>
      </p:grpSp>
      <p:grpSp>
        <p:nvGrpSpPr>
          <p:cNvPr name="Group 27" id="27"/>
          <p:cNvGrpSpPr/>
          <p:nvPr/>
        </p:nvGrpSpPr>
        <p:grpSpPr>
          <a:xfrm rot="0">
            <a:off x="924947" y="5900270"/>
            <a:ext cx="9529362" cy="1026795"/>
            <a:chOff x="0" y="0"/>
            <a:chExt cx="12705816" cy="1369060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693738" y="-19050"/>
              <a:ext cx="10501312" cy="450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0"/>
                </a:lnSpc>
              </a:pPr>
              <a:r>
                <a:rPr lang="en-US" sz="2150">
                  <a:solidFill>
                    <a:srgbClr val="20494A"/>
                  </a:solidFill>
                  <a:latin typeface="Poppins"/>
                  <a:ea typeface="Poppins"/>
                  <a:cs typeface="Poppins"/>
                  <a:sym typeface="Poppins"/>
                </a:rPr>
                <a:t>3. Identify Outliers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693738" y="469900"/>
              <a:ext cx="12012079" cy="899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2C3E50"/>
                  </a:solidFill>
                  <a:latin typeface="Poppins"/>
                  <a:ea typeface="Poppins"/>
                  <a:cs typeface="Poppins"/>
                  <a:sym typeface="Poppins"/>
                </a:rPr>
                <a:t>Detect outliers in a dataset and evaluate their specific distortions on summary statistics before taking action.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0" y="24100"/>
              <a:ext cx="523300" cy="523300"/>
              <a:chOff x="0" y="0"/>
              <a:chExt cx="952500" cy="952500"/>
            </a:xfrm>
          </p:grpSpPr>
          <p:sp>
            <p:nvSpPr>
              <p:cNvPr name="Freeform 31" id="31" descr="image.png"/>
              <p:cNvSpPr/>
              <p:nvPr/>
            </p:nvSpPr>
            <p:spPr>
              <a:xfrm flipH="false" flipV="false" rot="0">
                <a:off x="0" y="0"/>
                <a:ext cx="952500" cy="952500"/>
              </a:xfrm>
              <a:custGeom>
                <a:avLst/>
                <a:gdLst/>
                <a:ahLst/>
                <a:cxnLst/>
                <a:rect r="r" b="b" t="t" l="l"/>
                <a:pathLst>
                  <a:path h="952500" w="952500">
                    <a:moveTo>
                      <a:pt x="0" y="0"/>
                    </a:moveTo>
                    <a:lnTo>
                      <a:pt x="952500" y="0"/>
                    </a:lnTo>
                    <a:lnTo>
                      <a:pt x="952500" y="952500"/>
                    </a:lnTo>
                    <a:lnTo>
                      <a:pt x="0" y="9525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l="0" t="-1000" r="0" b="-1000"/>
                </a:stretch>
              </a:blip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146524" y="170624"/>
              <a:ext cx="230252" cy="230252"/>
              <a:chOff x="0" y="0"/>
              <a:chExt cx="419100" cy="419100"/>
            </a:xfrm>
          </p:grpSpPr>
          <p:sp>
            <p:nvSpPr>
              <p:cNvPr name="Freeform 33" id="33" descr="image.png"/>
              <p:cNvSpPr/>
              <p:nvPr/>
            </p:nvSpPr>
            <p:spPr>
              <a:xfrm flipH="false" flipV="false" rot="0">
                <a:off x="0" y="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0" y="0"/>
                    </a:moveTo>
                    <a:lnTo>
                      <a:pt x="419100" y="0"/>
                    </a:lnTo>
                    <a:lnTo>
                      <a:pt x="419100" y="419100"/>
                    </a:lnTo>
                    <a:lnTo>
                      <a:pt x="0" y="4191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l="0" t="-2272" r="0" b="-2272"/>
                </a:stretch>
              </a:blipFill>
            </p:spPr>
          </p:sp>
        </p:grpSp>
      </p:grpSp>
      <p:grpSp>
        <p:nvGrpSpPr>
          <p:cNvPr name="Group 34" id="34"/>
          <p:cNvGrpSpPr/>
          <p:nvPr/>
        </p:nvGrpSpPr>
        <p:grpSpPr>
          <a:xfrm rot="0">
            <a:off x="904875" y="7264735"/>
            <a:ext cx="9549435" cy="1074420"/>
            <a:chOff x="0" y="0"/>
            <a:chExt cx="12732579" cy="1432560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720501" y="-19050"/>
              <a:ext cx="10501312" cy="450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0"/>
                </a:lnSpc>
              </a:pPr>
              <a:r>
                <a:rPr lang="en-US" sz="2150">
                  <a:solidFill>
                    <a:srgbClr val="20494A"/>
                  </a:solidFill>
                  <a:latin typeface="Poppins"/>
                  <a:ea typeface="Poppins"/>
                  <a:cs typeface="Poppins"/>
                  <a:sym typeface="Poppins"/>
                </a:rPr>
                <a:t>4. Business Translation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720501" y="542925"/>
              <a:ext cx="12012079" cy="889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99"/>
                </a:lnSpc>
              </a:pPr>
              <a:r>
                <a:rPr lang="en-US" sz="1799">
                  <a:solidFill>
                    <a:srgbClr val="2C3E50"/>
                  </a:solidFill>
                  <a:latin typeface="Poppins"/>
                  <a:ea typeface="Poppins"/>
                  <a:cs typeface="Poppins"/>
                  <a:sym typeface="Poppins"/>
                </a:rPr>
                <a:t>Translate statistical summaries into clear, plain-language statements that store managers and executives can act on.</a:t>
              </a:r>
            </a:p>
          </p:txBody>
        </p:sp>
        <p:grpSp>
          <p:nvGrpSpPr>
            <p:cNvPr name="Group 37" id="37"/>
            <p:cNvGrpSpPr/>
            <p:nvPr/>
          </p:nvGrpSpPr>
          <p:grpSpPr>
            <a:xfrm rot="0">
              <a:off x="0" y="19804"/>
              <a:ext cx="490004" cy="490004"/>
              <a:chOff x="0" y="0"/>
              <a:chExt cx="952500" cy="952500"/>
            </a:xfrm>
          </p:grpSpPr>
          <p:sp>
            <p:nvSpPr>
              <p:cNvPr name="Freeform 38" id="38" descr="image.png"/>
              <p:cNvSpPr/>
              <p:nvPr/>
            </p:nvSpPr>
            <p:spPr>
              <a:xfrm flipH="false" flipV="false" rot="0">
                <a:off x="0" y="0"/>
                <a:ext cx="952500" cy="952500"/>
              </a:xfrm>
              <a:custGeom>
                <a:avLst/>
                <a:gdLst/>
                <a:ahLst/>
                <a:cxnLst/>
                <a:rect r="r" b="b" t="t" l="l"/>
                <a:pathLst>
                  <a:path h="952500" w="952500">
                    <a:moveTo>
                      <a:pt x="0" y="0"/>
                    </a:moveTo>
                    <a:lnTo>
                      <a:pt x="952500" y="0"/>
                    </a:lnTo>
                    <a:lnTo>
                      <a:pt x="952500" y="952500"/>
                    </a:lnTo>
                    <a:lnTo>
                      <a:pt x="0" y="9525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0" t="-1000" r="0" b="-1000"/>
                </a:stretch>
              </a:blip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107801" y="157005"/>
              <a:ext cx="274402" cy="215602"/>
              <a:chOff x="0" y="0"/>
              <a:chExt cx="533400" cy="419100"/>
            </a:xfrm>
          </p:grpSpPr>
          <p:sp>
            <p:nvSpPr>
              <p:cNvPr name="Freeform 40" id="40" descr="image.png"/>
              <p:cNvSpPr/>
              <p:nvPr/>
            </p:nvSpPr>
            <p:spPr>
              <a:xfrm flipH="false" flipV="false" rot="0">
                <a:off x="0" y="0"/>
                <a:ext cx="5334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533400">
                    <a:moveTo>
                      <a:pt x="0" y="0"/>
                    </a:moveTo>
                    <a:lnTo>
                      <a:pt x="533400" y="0"/>
                    </a:lnTo>
                    <a:lnTo>
                      <a:pt x="533400" y="419100"/>
                    </a:lnTo>
                    <a:lnTo>
                      <a:pt x="0" y="4191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6"/>
                <a:stretch>
                  <a:fillRect l="0" t="-2272" r="0" b="-2272"/>
                </a:stretch>
              </a:blipFill>
            </p:spPr>
          </p:sp>
        </p:grpSp>
      </p:grpSp>
      <p:sp>
        <p:nvSpPr>
          <p:cNvPr name="TextBox 41" id="41"/>
          <p:cNvSpPr txBox="true"/>
          <p:nvPr/>
        </p:nvSpPr>
        <p:spPr>
          <a:xfrm rot="0">
            <a:off x="857250" y="2309962"/>
            <a:ext cx="959706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By the end of this session, you will be able to perform and explain these four core analytical capabilities: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What is Statistics?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43000" y="2343731"/>
            <a:ext cx="15678436" cy="128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Statistics is the science of conducting studies to collect, organize, summarize, analyze, and draw conclusions from data.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4032455"/>
            <a:ext cx="832902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true">
                <a:solidFill>
                  <a:srgbClr val="22454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What statistics means in data analytics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1625" y="4527755"/>
            <a:ext cx="16316432" cy="180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Statistics in data analytics refers to the mathematical discipline of collecting, organizing, analyzing, interpreting, and presenting data to uncover patterns, trends, and actionable insights from raw datasets.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9415516" y="2809693"/>
            <a:ext cx="5115564" cy="5115564"/>
          </a:xfrm>
          <a:custGeom>
            <a:avLst/>
            <a:gdLst/>
            <a:ahLst/>
            <a:cxnLst/>
            <a:rect r="r" b="b" t="t" l="l"/>
            <a:pathLst>
              <a:path h="5115564" w="5115564">
                <a:moveTo>
                  <a:pt x="0" y="0"/>
                </a:moveTo>
                <a:lnTo>
                  <a:pt x="5115564" y="0"/>
                </a:lnTo>
                <a:lnTo>
                  <a:pt x="5115564" y="5115564"/>
                </a:lnTo>
                <a:lnTo>
                  <a:pt x="0" y="51155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4136" y="3127795"/>
            <a:ext cx="6863064" cy="4517460"/>
          </a:xfrm>
          <a:custGeom>
            <a:avLst/>
            <a:gdLst/>
            <a:ahLst/>
            <a:cxnLst/>
            <a:rect r="r" b="b" t="t" l="l"/>
            <a:pathLst>
              <a:path h="4517460" w="6863064">
                <a:moveTo>
                  <a:pt x="0" y="0"/>
                </a:moveTo>
                <a:lnTo>
                  <a:pt x="6863064" y="0"/>
                </a:lnTo>
                <a:lnTo>
                  <a:pt x="6863064" y="4517460"/>
                </a:lnTo>
                <a:lnTo>
                  <a:pt x="0" y="45174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What is Statistics?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2000035"/>
            <a:ext cx="16316432" cy="58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Rreal-World Use Cases of Statistic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72550" y="8053539"/>
            <a:ext cx="6412340" cy="638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data analyzing patient vitals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4136" y="8053539"/>
            <a:ext cx="6412340" cy="638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business looking at sales trends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4136" y="9019375"/>
            <a:ext cx="14786104" cy="638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Statistics helps us make sense of data so we can make informed decisions.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905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438560" y="2715208"/>
            <a:ext cx="4763180" cy="4897733"/>
          </a:xfrm>
          <a:custGeom>
            <a:avLst/>
            <a:gdLst/>
            <a:ahLst/>
            <a:cxnLst/>
            <a:rect r="r" b="b" t="t" l="l"/>
            <a:pathLst>
              <a:path h="4897733" w="4763180">
                <a:moveTo>
                  <a:pt x="0" y="0"/>
                </a:moveTo>
                <a:lnTo>
                  <a:pt x="4763180" y="0"/>
                </a:lnTo>
                <a:lnTo>
                  <a:pt x="4763180" y="4897732"/>
                </a:lnTo>
                <a:lnTo>
                  <a:pt x="0" y="48977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Class Tasks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8537448"/>
            <a:ext cx="16316432" cy="887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"Can you tell us of a time you used data to make a decision?"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Case Study: Aduke Stores Lagos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142720" y="2187420"/>
            <a:ext cx="6002328" cy="6263927"/>
            <a:chOff x="0" y="0"/>
            <a:chExt cx="13143180" cy="137160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3143181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143181">
                  <a:moveTo>
                    <a:pt x="0" y="0"/>
                  </a:moveTo>
                  <a:lnTo>
                    <a:pt x="13143181" y="0"/>
                  </a:lnTo>
                  <a:lnTo>
                    <a:pt x="1314318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5639" r="0" b="-563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57250" y="2317699"/>
            <a:ext cx="9738694" cy="1876250"/>
            <a:chOff x="0" y="0"/>
            <a:chExt cx="10763250" cy="2073641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10763250" cy="2073640"/>
            </a:xfrm>
            <a:custGeom>
              <a:avLst/>
              <a:gdLst/>
              <a:ahLst/>
              <a:cxnLst/>
              <a:rect r="r" b="b" t="t" l="l"/>
              <a:pathLst>
                <a:path h="207364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2073640"/>
                  </a:lnTo>
                  <a:lnTo>
                    <a:pt x="0" y="2073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661" r="0" b="-466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43000" y="2508199"/>
            <a:ext cx="8778397" cy="935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8"/>
              </a:lnSpc>
            </a:pPr>
            <a:r>
              <a:rPr lang="en-US" sz="2459" i="true">
                <a:solidFill>
                  <a:srgbClr val="20494A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"On a normal day, how many daily customers should I be staffing for at our Ikeja branch?"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3000" y="3506198"/>
            <a:ext cx="8551069" cy="332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1783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— Branch Manager, Aduke Stores Lagos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85813" y="4629150"/>
            <a:ext cx="357188" cy="377031"/>
            <a:chOff x="0" y="0"/>
            <a:chExt cx="342900" cy="3619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38263" y="4552950"/>
            <a:ext cx="8355806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Problem:</a:t>
            </a: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The manager logged footfall across 30 consecutive days. The raw list of 30 numbers does not answer the staffing question by itself.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71525" y="5891955"/>
            <a:ext cx="371475" cy="392113"/>
            <a:chOff x="0" y="0"/>
            <a:chExt cx="342900" cy="3619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38263" y="5815755"/>
            <a:ext cx="835580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The Analyst's Job:</a:t>
            </a: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Summarise a raw list of numbers into 1 or 2 actionable metrics management can use.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What is a Data Distribution?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85812" y="2317699"/>
            <a:ext cx="8143875" cy="6084378"/>
            <a:chOff x="0" y="0"/>
            <a:chExt cx="10858500" cy="8112503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0858500" cy="8112503"/>
            </a:xfrm>
            <a:custGeom>
              <a:avLst/>
              <a:gdLst/>
              <a:ahLst/>
              <a:cxnLst/>
              <a:rect r="r" b="b" t="t" l="l"/>
              <a:pathLst>
                <a:path h="8112503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8112503"/>
                  </a:lnTo>
                  <a:lnTo>
                    <a:pt x="0" y="8112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8657" t="0" r="-8657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43000" y="6422974"/>
            <a:ext cx="7429500" cy="1628775"/>
            <a:chOff x="0" y="0"/>
            <a:chExt cx="9906000" cy="21717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9906000" cy="2171700"/>
            </a:xfrm>
            <a:custGeom>
              <a:avLst/>
              <a:gdLst/>
              <a:ahLst/>
              <a:cxnLst/>
              <a:rect r="r" b="b" t="t" l="l"/>
              <a:pathLst>
                <a:path h="21717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2171700"/>
                  </a:lnTo>
                  <a:lnTo>
                    <a:pt x="0" y="217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45" r="0" b="-245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43000" y="2646312"/>
            <a:ext cx="7800975" cy="50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22454E"/>
                </a:solidFill>
                <a:latin typeface="Poppins"/>
                <a:ea typeface="Poppins"/>
                <a:cs typeface="Poppins"/>
                <a:sym typeface="Poppins"/>
              </a:rPr>
              <a:t>Defining "Distribution"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3000" y="3213049"/>
            <a:ext cx="74295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1800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distribution</a:t>
            </a: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is simply the full set of values a variable takes, alongside how often each value occurs.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000" y="4113162"/>
            <a:ext cx="74295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If you list the customer footfall recorded on all 30 days at Ikeja branch, that list of 30 numbers represents the distribution of </a:t>
            </a:r>
            <a:r>
              <a:rPr lang="en-US" sz="1800" i="true">
                <a:solidFill>
                  <a:srgbClr val="2C3E5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"Daily Customers"</a:t>
            </a: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7312" y="6624904"/>
            <a:ext cx="700087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0494A"/>
                </a:solidFill>
                <a:latin typeface="Poppins"/>
                <a:ea typeface="Poppins"/>
                <a:cs typeface="Poppins"/>
                <a:sym typeface="Poppins"/>
              </a:rPr>
              <a:t>Two Questions Every Analyst Must Answer: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28762" y="7024954"/>
            <a:ext cx="1143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9262" y="6967804"/>
            <a:ext cx="6638925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Where is the center of the data?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1612" y="7339279"/>
            <a:ext cx="1714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57362" y="7251649"/>
            <a:ext cx="660082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How spread out is the data around that center?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067800" y="2317699"/>
            <a:ext cx="8143875" cy="6084378"/>
            <a:chOff x="0" y="0"/>
            <a:chExt cx="10858500" cy="8112503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10858500" cy="8112503"/>
            </a:xfrm>
            <a:custGeom>
              <a:avLst/>
              <a:gdLst/>
              <a:ahLst/>
              <a:cxnLst/>
              <a:rect r="r" b="b" t="t" l="l"/>
              <a:pathLst>
                <a:path h="8112503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8112503"/>
                  </a:lnTo>
                  <a:lnTo>
                    <a:pt x="0" y="8112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8657" t="0" r="-8657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991230" y="3360942"/>
            <a:ext cx="4635579" cy="50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22454E"/>
                </a:solidFill>
                <a:latin typeface="Poppins"/>
                <a:ea typeface="Poppins"/>
                <a:cs typeface="Poppins"/>
                <a:sym typeface="Poppins"/>
              </a:rPr>
              <a:t>Visualizing Dot Plot Scatter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465469" y="4100779"/>
            <a:ext cx="7429500" cy="2571750"/>
            <a:chOff x="0" y="0"/>
            <a:chExt cx="9906000" cy="34290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99060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85" r="0" b="-85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551319" y="6764351"/>
            <a:ext cx="5757862" cy="54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3"/>
              </a:lnSpc>
            </a:pPr>
            <a:r>
              <a:rPr lang="en-US" sz="1462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30 daily customer counts mapped along a single number line.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3000" y="5293213"/>
            <a:ext cx="74295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De</a:t>
            </a:r>
            <a:r>
              <a:rPr lang="en-US" sz="1800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scriptive statistics</a:t>
            </a: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are the small set of numbers analysts use to describe a distribution without listing every value: a typical value, and how spread out the values are.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5812" y="3217812"/>
            <a:ext cx="8143875" cy="885825"/>
            <a:chOff x="0" y="0"/>
            <a:chExt cx="10858500" cy="11811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8585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806" r="0" b="-80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28712" y="3475181"/>
            <a:ext cx="1035427" cy="399661"/>
            <a:chOff x="0" y="0"/>
            <a:chExt cx="1130503" cy="436359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130554" cy="436372"/>
            </a:xfrm>
            <a:custGeom>
              <a:avLst/>
              <a:gdLst/>
              <a:ahLst/>
              <a:cxnLst/>
              <a:rect r="r" b="b" t="t" l="l"/>
              <a:pathLst>
                <a:path h="436372" w="1130554">
                  <a:moveTo>
                    <a:pt x="0" y="0"/>
                  </a:moveTo>
                  <a:lnTo>
                    <a:pt x="1130554" y="0"/>
                  </a:lnTo>
                  <a:lnTo>
                    <a:pt x="1130554" y="436372"/>
                  </a:lnTo>
                  <a:lnTo>
                    <a:pt x="0" y="436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813" r="4" b="-181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85812" y="4353668"/>
            <a:ext cx="157162" cy="271462"/>
            <a:chOff x="0" y="0"/>
            <a:chExt cx="209550" cy="3619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09550" cy="361950"/>
            </a:xfrm>
            <a:custGeom>
              <a:avLst/>
              <a:gdLst/>
              <a:ahLst/>
              <a:cxnLst/>
              <a:rect r="r" b="b" t="t" l="l"/>
              <a:pathLst>
                <a:path h="3619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85812" y="4896593"/>
            <a:ext cx="157162" cy="271462"/>
            <a:chOff x="0" y="0"/>
            <a:chExt cx="209550" cy="3619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209550" cy="361950"/>
            </a:xfrm>
            <a:custGeom>
              <a:avLst/>
              <a:gdLst/>
              <a:ahLst/>
              <a:cxnLst/>
              <a:rect r="r" b="b" t="t" l="l"/>
              <a:pathLst>
                <a:path h="3619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43012" y="5327599"/>
            <a:ext cx="768667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Excel Formula: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043238" y="5403799"/>
            <a:ext cx="2144296" cy="328612"/>
            <a:chOff x="0" y="0"/>
            <a:chExt cx="2610447" cy="4000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2610485" cy="400050"/>
            </a:xfrm>
            <a:custGeom>
              <a:avLst/>
              <a:gdLst/>
              <a:ahLst/>
              <a:cxnLst/>
              <a:rect r="r" b="b" t="t" l="l"/>
              <a:pathLst>
                <a:path h="400050" w="2610485">
                  <a:moveTo>
                    <a:pt x="0" y="0"/>
                  </a:moveTo>
                  <a:lnTo>
                    <a:pt x="2610485" y="0"/>
                  </a:lnTo>
                  <a:lnTo>
                    <a:pt x="2610485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012" r="1" b="-2012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234488" y="2317699"/>
            <a:ext cx="7910560" cy="3257550"/>
            <a:chOff x="0" y="0"/>
            <a:chExt cx="10547414" cy="43434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10547414" cy="4343400"/>
            </a:xfrm>
            <a:custGeom>
              <a:avLst/>
              <a:gdLst/>
              <a:ahLst/>
              <a:cxnLst/>
              <a:rect r="r" b="b" t="t" l="l"/>
              <a:pathLst>
                <a:path h="4343400" w="10547414">
                  <a:moveTo>
                    <a:pt x="0" y="0"/>
                  </a:moveTo>
                  <a:lnTo>
                    <a:pt x="10547414" y="0"/>
                  </a:lnTo>
                  <a:lnTo>
                    <a:pt x="10547414" y="4343400"/>
                  </a:lnTo>
                  <a:lnTo>
                    <a:pt x="0" y="434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4318" r="0" b="-4318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772650" y="3889324"/>
            <a:ext cx="7372350" cy="14288"/>
            <a:chOff x="0" y="0"/>
            <a:chExt cx="9829800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29800" cy="19050"/>
            </a:xfrm>
            <a:custGeom>
              <a:avLst/>
              <a:gdLst/>
              <a:ahLst/>
              <a:cxnLst/>
              <a:rect r="r" b="b" t="t" l="l"/>
              <a:pathLst>
                <a:path h="19050" w="9829800">
                  <a:moveTo>
                    <a:pt x="0" y="0"/>
                  </a:moveTo>
                  <a:lnTo>
                    <a:pt x="9829800" y="0"/>
                  </a:lnTo>
                  <a:lnTo>
                    <a:pt x="9829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3624262" y="6603949"/>
            <a:ext cx="9834562" cy="2046818"/>
          </a:xfrm>
          <a:custGeom>
            <a:avLst/>
            <a:gdLst/>
            <a:ahLst/>
            <a:cxnLst/>
            <a:rect r="r" b="b" t="t" l="l"/>
            <a:pathLst>
              <a:path h="2046818" w="9834562">
                <a:moveTo>
                  <a:pt x="0" y="0"/>
                </a:moveTo>
                <a:lnTo>
                  <a:pt x="9834563" y="0"/>
                </a:lnTo>
                <a:lnTo>
                  <a:pt x="9834563" y="2046819"/>
                </a:lnTo>
                <a:lnTo>
                  <a:pt x="0" y="20468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e Mean: Balancing Point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5812" y="2241499"/>
            <a:ext cx="814387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1800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mean</a:t>
            </a: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(often referred to as the average) is the sum of all data values divided by the total number of values.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3012" y="4241749"/>
            <a:ext cx="768667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Σx (Sigma x):</a:t>
            </a: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Sum of all values in the dataset.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3012" y="4784674"/>
            <a:ext cx="768667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n:</a:t>
            </a: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Count of observations (30 days recorded).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72650" y="2646312"/>
            <a:ext cx="7740968" cy="50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22454E"/>
                </a:solidFill>
                <a:latin typeface="Poppins"/>
                <a:ea typeface="Poppins"/>
                <a:cs typeface="Poppins"/>
                <a:sym typeface="Poppins"/>
              </a:rPr>
              <a:t>Business Interpretation: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72650" y="3213049"/>
            <a:ext cx="737235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 b="true">
                <a:solidFill>
                  <a:srgbClr val="20494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"On an average day, Ikeja branch served 113 customers."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72650" y="4041724"/>
            <a:ext cx="7372350" cy="95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2"/>
              </a:lnSpc>
            </a:pPr>
            <a:r>
              <a:rPr lang="en-US" sz="1674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When to use:</a:t>
            </a:r>
            <a:r>
              <a:rPr lang="en-US" sz="1674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Excellent as a single planning figure when data is evenly balanced. However, it can be strongly pulled off-centre by a few unusually large or small days.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43000" y="3555949"/>
            <a:ext cx="7800975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2454E"/>
                </a:solidFill>
                <a:latin typeface="Poppins"/>
                <a:ea typeface="Poppins"/>
                <a:cs typeface="Poppins"/>
                <a:sym typeface="Poppins"/>
              </a:rPr>
              <a:t>How to calculate the median: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5812" y="3217812"/>
            <a:ext cx="8143875" cy="2243138"/>
            <a:chOff x="0" y="0"/>
            <a:chExt cx="10858500" cy="299085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0858500" cy="2990850"/>
            </a:xfrm>
            <a:custGeom>
              <a:avLst/>
              <a:gdLst/>
              <a:ahLst/>
              <a:cxnLst/>
              <a:rect r="r" b="b" t="t" l="l"/>
              <a:pathLst>
                <a:path h="299085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2990850"/>
                  </a:lnTo>
                  <a:lnTo>
                    <a:pt x="0" y="2990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18" r="0" b="-31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72575" y="2317699"/>
            <a:ext cx="8086725" cy="3700462"/>
            <a:chOff x="0" y="0"/>
            <a:chExt cx="10782300" cy="493395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10782300" cy="4933950"/>
            </a:xfrm>
            <a:custGeom>
              <a:avLst/>
              <a:gdLst/>
              <a:ahLst/>
              <a:cxnLst/>
              <a:rect r="r" b="b" t="t" l="l"/>
              <a:pathLst>
                <a:path h="4933950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4933950"/>
                  </a:lnTo>
                  <a:lnTo>
                    <a:pt x="0" y="4933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59" t="0" r="-159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00112" y="5599062"/>
            <a:ext cx="80295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Excel Formula: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814638" y="5689549"/>
            <a:ext cx="1934127" cy="314325"/>
            <a:chOff x="0" y="0"/>
            <a:chExt cx="2461616" cy="4000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2461641" cy="400050"/>
            </a:xfrm>
            <a:custGeom>
              <a:avLst/>
              <a:gdLst/>
              <a:ahLst/>
              <a:cxnLst/>
              <a:rect r="r" b="b" t="t" l="l"/>
              <a:pathLst>
                <a:path h="400050" w="2461641">
                  <a:moveTo>
                    <a:pt x="0" y="0"/>
                  </a:moveTo>
                  <a:lnTo>
                    <a:pt x="2461641" y="0"/>
                  </a:lnTo>
                  <a:lnTo>
                    <a:pt x="2461641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066" r="1" b="-206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772650" y="4275087"/>
            <a:ext cx="7372350" cy="14288"/>
            <a:chOff x="0" y="0"/>
            <a:chExt cx="9829800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29800" cy="19050"/>
            </a:xfrm>
            <a:custGeom>
              <a:avLst/>
              <a:gdLst/>
              <a:ahLst/>
              <a:cxnLst/>
              <a:rect r="r" b="b" t="t" l="l"/>
              <a:pathLst>
                <a:path h="19050" w="9829800">
                  <a:moveTo>
                    <a:pt x="0" y="0"/>
                  </a:moveTo>
                  <a:lnTo>
                    <a:pt x="9829800" y="0"/>
                  </a:lnTo>
                  <a:lnTo>
                    <a:pt x="9829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4758289" y="6989712"/>
            <a:ext cx="8022498" cy="1363825"/>
          </a:xfrm>
          <a:custGeom>
            <a:avLst/>
            <a:gdLst/>
            <a:ahLst/>
            <a:cxnLst/>
            <a:rect r="r" b="b" t="t" l="l"/>
            <a:pathLst>
              <a:path h="1363825" w="8022498">
                <a:moveTo>
                  <a:pt x="0" y="0"/>
                </a:moveTo>
                <a:lnTo>
                  <a:pt x="8022498" y="0"/>
                </a:lnTo>
                <a:lnTo>
                  <a:pt x="8022498" y="1363824"/>
                </a:lnTo>
                <a:lnTo>
                  <a:pt x="0" y="1363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The Median: Middle Value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5812" y="2241499"/>
            <a:ext cx="81438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1999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median</a:t>
            </a: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is the exact middle value when all data points are sorted from smallest to largest.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5400" y="3708349"/>
            <a:ext cx="780097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22454E"/>
                </a:solidFill>
                <a:latin typeface="Poppins"/>
                <a:ea typeface="Poppins"/>
                <a:cs typeface="Poppins"/>
                <a:sym typeface="Poppins"/>
              </a:rPr>
              <a:t>How to calculate the median: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4450" y="4056012"/>
            <a:ext cx="1143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04950" y="3998862"/>
            <a:ext cx="70675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Sort all values from smallest to largest.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7300" y="4398912"/>
            <a:ext cx="17145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2.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3050" y="4341762"/>
            <a:ext cx="70294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Odd count:</a:t>
            </a: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Take the single middle value.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7300" y="4741812"/>
            <a:ext cx="17145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43050" y="4684662"/>
            <a:ext cx="70294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Even count:</a:t>
            </a: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Take the average of the 2 middle values.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72650" y="2646312"/>
            <a:ext cx="7740968" cy="50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22454E"/>
                </a:solidFill>
                <a:latin typeface="Poppins"/>
                <a:ea typeface="Poppins"/>
                <a:cs typeface="Poppins"/>
                <a:sym typeface="Poppins"/>
              </a:rPr>
              <a:t>Business Interpretation: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72650" y="3213049"/>
            <a:ext cx="73723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 b="true">
                <a:solidFill>
                  <a:srgbClr val="20494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"Half of all days at Ikeja branch had 96 customers or fewer, and half had more."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72650" y="4437012"/>
            <a:ext cx="7372350" cy="99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sz="1774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When to use:</a:t>
            </a:r>
            <a:r>
              <a:rPr lang="en-US" sz="1774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Use when extreme high or low values could distort the mean. The median provides a more robust reflection of a true "normal day".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5812" y="3001118"/>
            <a:ext cx="228600" cy="271462"/>
            <a:chOff x="0" y="0"/>
            <a:chExt cx="304800" cy="3619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5812" y="3886943"/>
            <a:ext cx="228600" cy="271462"/>
            <a:chOff x="0" y="0"/>
            <a:chExt cx="304800" cy="3619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43012" y="4641799"/>
            <a:ext cx="76866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Excel Formula: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243262" y="4738823"/>
            <a:ext cx="2236957" cy="307788"/>
            <a:chOff x="0" y="0"/>
            <a:chExt cx="2907500" cy="4000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2907538" cy="400050"/>
            </a:xfrm>
            <a:custGeom>
              <a:avLst/>
              <a:gdLst/>
              <a:ahLst/>
              <a:cxnLst/>
              <a:rect r="r" b="b" t="t" l="l"/>
              <a:pathLst>
                <a:path h="400050" w="2907538">
                  <a:moveTo>
                    <a:pt x="0" y="0"/>
                  </a:moveTo>
                  <a:lnTo>
                    <a:pt x="2907538" y="0"/>
                  </a:lnTo>
                  <a:lnTo>
                    <a:pt x="2907538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253" r="1" b="-225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58288" y="2317699"/>
            <a:ext cx="8101012" cy="3443288"/>
            <a:chOff x="0" y="0"/>
            <a:chExt cx="10801350" cy="45910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10801350" cy="4591050"/>
            </a:xfrm>
            <a:custGeom>
              <a:avLst/>
              <a:gdLst/>
              <a:ahLst/>
              <a:cxnLst/>
              <a:rect r="r" b="b" t="t" l="l"/>
              <a:pathLst>
                <a:path h="4591050" w="10801350">
                  <a:moveTo>
                    <a:pt x="0" y="0"/>
                  </a:moveTo>
                  <a:lnTo>
                    <a:pt x="10801350" y="0"/>
                  </a:lnTo>
                  <a:lnTo>
                    <a:pt x="10801350" y="4591050"/>
                  </a:lnTo>
                  <a:lnTo>
                    <a:pt x="0" y="459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56" t="0" r="-56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053651" y="6084837"/>
            <a:ext cx="7455797" cy="2772625"/>
          </a:xfrm>
          <a:custGeom>
            <a:avLst/>
            <a:gdLst/>
            <a:ahLst/>
            <a:cxnLst/>
            <a:rect r="r" b="b" t="t" l="l"/>
            <a:pathLst>
              <a:path h="2772625" w="7455797">
                <a:moveTo>
                  <a:pt x="0" y="0"/>
                </a:moveTo>
                <a:lnTo>
                  <a:pt x="7455798" y="0"/>
                </a:lnTo>
                <a:lnTo>
                  <a:pt x="7455798" y="2772624"/>
                </a:lnTo>
                <a:lnTo>
                  <a:pt x="0" y="27726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e Mode: Most Frequent Value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5812" y="2241499"/>
            <a:ext cx="81438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1999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mode</a:t>
            </a: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is the specific value that occurs most frequently in a dataset.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3012" y="2889199"/>
            <a:ext cx="76866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Characteristics:</a:t>
            </a: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It measures frequency of occurrence, not a calculated balancing point.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3012" y="3755974"/>
            <a:ext cx="76866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Flexibility:</a:t>
            </a: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A dataset can have one mode, multiple modes (bimodal/multimodal), or no mode at all.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72650" y="2646312"/>
            <a:ext cx="7740968" cy="50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22454E"/>
                </a:solidFill>
                <a:latin typeface="Poppins"/>
                <a:ea typeface="Poppins"/>
                <a:cs typeface="Poppins"/>
                <a:sym typeface="Poppins"/>
              </a:rPr>
              <a:t>Business Interpretation: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72650" y="3213049"/>
            <a:ext cx="73723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 b="true">
                <a:solidFill>
                  <a:srgbClr val="20494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"82 customers was the single most common day count at Ikeja branch, occurring 4 times in the month."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72650" y="4446537"/>
            <a:ext cx="7372350" cy="957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When to use:</a:t>
            </a:r>
            <a:r>
              <a:rPr lang="en-US" sz="1575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Highly effective for categorical data (e.g., most popular payment method) or identifying exact inventory/staffing recurring targets.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5812" y="3217812"/>
            <a:ext cx="8143875" cy="885825"/>
            <a:chOff x="0" y="0"/>
            <a:chExt cx="10858500" cy="11811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8585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806" r="0" b="-80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1441" y="3483172"/>
            <a:ext cx="5928414" cy="313283"/>
            <a:chOff x="0" y="0"/>
            <a:chExt cx="6849364" cy="3619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6849364" cy="361950"/>
            </a:xfrm>
            <a:custGeom>
              <a:avLst/>
              <a:gdLst/>
              <a:ahLst/>
              <a:cxnLst/>
              <a:rect r="r" b="b" t="t" l="l"/>
              <a:pathLst>
                <a:path h="361950" w="6849364">
                  <a:moveTo>
                    <a:pt x="0" y="0"/>
                  </a:moveTo>
                  <a:lnTo>
                    <a:pt x="6849364" y="0"/>
                  </a:lnTo>
                  <a:lnTo>
                    <a:pt x="6849364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564" r="0" b="-256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00112" y="4241749"/>
            <a:ext cx="80295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Excel Formula: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814638" y="4345019"/>
            <a:ext cx="2975712" cy="301543"/>
            <a:chOff x="0" y="0"/>
            <a:chExt cx="3947808" cy="4000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3947795" cy="400050"/>
            </a:xfrm>
            <a:custGeom>
              <a:avLst/>
              <a:gdLst/>
              <a:ahLst/>
              <a:cxnLst/>
              <a:rect r="r" b="b" t="t" l="l"/>
              <a:pathLst>
                <a:path h="400050" w="3947795">
                  <a:moveTo>
                    <a:pt x="0" y="0"/>
                  </a:moveTo>
                  <a:lnTo>
                    <a:pt x="3947795" y="0"/>
                  </a:lnTo>
                  <a:lnTo>
                    <a:pt x="3947795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187" r="0" b="-219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052119" y="2317699"/>
            <a:ext cx="8092929" cy="3443288"/>
            <a:chOff x="0" y="0"/>
            <a:chExt cx="10790572" cy="45910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10790572" cy="4591050"/>
            </a:xfrm>
            <a:custGeom>
              <a:avLst/>
              <a:gdLst/>
              <a:ahLst/>
              <a:cxnLst/>
              <a:rect r="r" b="b" t="t" l="l"/>
              <a:pathLst>
                <a:path h="4591050" w="10790572">
                  <a:moveTo>
                    <a:pt x="0" y="0"/>
                  </a:moveTo>
                  <a:lnTo>
                    <a:pt x="10790572" y="0"/>
                  </a:lnTo>
                  <a:lnTo>
                    <a:pt x="10790572" y="4591050"/>
                  </a:lnTo>
                  <a:lnTo>
                    <a:pt x="0" y="459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06" t="0" r="-106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772650" y="4275087"/>
            <a:ext cx="7372350" cy="14288"/>
            <a:chOff x="0" y="0"/>
            <a:chExt cx="9829800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829800" cy="19050"/>
            </a:xfrm>
            <a:custGeom>
              <a:avLst/>
              <a:gdLst/>
              <a:ahLst/>
              <a:cxnLst/>
              <a:rect r="r" b="b" t="t" l="l"/>
              <a:pathLst>
                <a:path h="19050" w="9829800">
                  <a:moveTo>
                    <a:pt x="0" y="0"/>
                  </a:moveTo>
                  <a:lnTo>
                    <a:pt x="9829800" y="0"/>
                  </a:lnTo>
                  <a:lnTo>
                    <a:pt x="9829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595312" y="5941962"/>
            <a:ext cx="8940414" cy="1347647"/>
          </a:xfrm>
          <a:custGeom>
            <a:avLst/>
            <a:gdLst/>
            <a:ahLst/>
            <a:cxnLst/>
            <a:rect r="r" b="b" t="t" l="l"/>
            <a:pathLst>
              <a:path h="1347647" w="8940414">
                <a:moveTo>
                  <a:pt x="0" y="0"/>
                </a:moveTo>
                <a:lnTo>
                  <a:pt x="8940414" y="0"/>
                </a:lnTo>
                <a:lnTo>
                  <a:pt x="8940414" y="1347647"/>
                </a:lnTo>
                <a:lnTo>
                  <a:pt x="0" y="13476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377" r="0" b="-377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The Rang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e: Total Data Spread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5812" y="2241499"/>
            <a:ext cx="81438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1999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range</a:t>
            </a: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represents the difference between the absolute highest and lowest values in a dataset.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72650" y="2646312"/>
            <a:ext cx="7740968" cy="50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22454E"/>
                </a:solidFill>
                <a:latin typeface="Poppins"/>
                <a:ea typeface="Poppins"/>
                <a:cs typeface="Poppins"/>
                <a:sym typeface="Poppins"/>
              </a:rPr>
              <a:t>Business Interpretation: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72650" y="3213049"/>
            <a:ext cx="73723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 b="true">
                <a:solidFill>
                  <a:srgbClr val="20494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"Customer numbers ranged across 345 customers between the quietest and busiest day."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72650" y="4446537"/>
            <a:ext cx="7372350" cy="957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Caution:</a:t>
            </a:r>
            <a:r>
              <a:rPr lang="en-US" sz="1575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Range uses only two extreme values. A single unusual promotion day can make the dataset look far more volatile than it normally is.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5812" y="3217812"/>
            <a:ext cx="8143875" cy="885825"/>
            <a:chOff x="0" y="0"/>
            <a:chExt cx="10858500" cy="11811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8585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806" r="0" b="-80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28712" y="3447708"/>
            <a:ext cx="1271577" cy="426033"/>
            <a:chOff x="0" y="0"/>
            <a:chExt cx="1505839" cy="50452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505839" cy="504571"/>
            </a:xfrm>
            <a:custGeom>
              <a:avLst/>
              <a:gdLst/>
              <a:ahLst/>
              <a:cxnLst/>
              <a:rect r="r" b="b" t="t" l="l"/>
              <a:pathLst>
                <a:path h="504571" w="1505839">
                  <a:moveTo>
                    <a:pt x="0" y="0"/>
                  </a:moveTo>
                  <a:lnTo>
                    <a:pt x="1505839" y="0"/>
                  </a:lnTo>
                  <a:lnTo>
                    <a:pt x="1505839" y="504571"/>
                  </a:lnTo>
                  <a:lnTo>
                    <a:pt x="0" y="504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64" r="0" b="-357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00112" y="4677299"/>
            <a:ext cx="80295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Excel Formula: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947540" y="4734449"/>
            <a:ext cx="1957835" cy="300038"/>
            <a:chOff x="0" y="0"/>
            <a:chExt cx="2610447" cy="4000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2610485" cy="400050"/>
            </a:xfrm>
            <a:custGeom>
              <a:avLst/>
              <a:gdLst/>
              <a:ahLst/>
              <a:cxnLst/>
              <a:rect r="r" b="b" t="t" l="l"/>
              <a:pathLst>
                <a:path h="400050" w="2610485">
                  <a:moveTo>
                    <a:pt x="0" y="0"/>
                  </a:moveTo>
                  <a:lnTo>
                    <a:pt x="2610485" y="0"/>
                  </a:lnTo>
                  <a:lnTo>
                    <a:pt x="2610485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012" r="1" b="-201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0" y="2317699"/>
            <a:ext cx="8115300" cy="4000500"/>
            <a:chOff x="0" y="0"/>
            <a:chExt cx="10820400" cy="53340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108204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10820400">
                  <a:moveTo>
                    <a:pt x="0" y="0"/>
                  </a:moveTo>
                  <a:lnTo>
                    <a:pt x="10820400" y="0"/>
                  </a:lnTo>
                  <a:lnTo>
                    <a:pt x="10820400" y="5334000"/>
                  </a:lnTo>
                  <a:lnTo>
                    <a:pt x="0" y="533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" r="0" b="-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772650" y="4225080"/>
            <a:ext cx="257175" cy="271462"/>
            <a:chOff x="0" y="0"/>
            <a:chExt cx="342900" cy="3619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772650" y="5110905"/>
            <a:ext cx="257175" cy="271462"/>
            <a:chOff x="0" y="0"/>
            <a:chExt cx="342900" cy="36195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942975" y="5277374"/>
            <a:ext cx="6688158" cy="2787441"/>
          </a:xfrm>
          <a:custGeom>
            <a:avLst/>
            <a:gdLst/>
            <a:ahLst/>
            <a:cxnLst/>
            <a:rect r="r" b="b" t="t" l="l"/>
            <a:pathLst>
              <a:path h="2787441" w="6688158">
                <a:moveTo>
                  <a:pt x="0" y="0"/>
                </a:moveTo>
                <a:lnTo>
                  <a:pt x="6688158" y="0"/>
                </a:lnTo>
                <a:lnTo>
                  <a:pt x="6688158" y="2787441"/>
                </a:lnTo>
                <a:lnTo>
                  <a:pt x="0" y="278744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Standard Deviation Explained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5812" y="2241499"/>
            <a:ext cx="81438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1999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standard deviation</a:t>
            </a: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measures how far values typically sit from the mean.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5812" y="4255818"/>
            <a:ext cx="8143875" cy="268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462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s: Sample standard deviation</a:t>
            </a:r>
            <a:r>
              <a:rPr lang="en-US" sz="1462" b="true">
                <a:solidFill>
                  <a:srgbClr val="64748B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462" b="true">
                <a:solidFill>
                  <a:srgbClr val="64748B"/>
                </a:solidFill>
                <a:latin typeface="Poppins Bold"/>
                <a:ea typeface="Poppins Bold"/>
                <a:cs typeface="Poppins Bold"/>
                <a:sym typeface="Poppins Bold"/>
              </a:rPr>
              <a:t>(x - x̄):</a:t>
            </a:r>
            <a:r>
              <a:rPr lang="en-US" sz="1462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 deviation from mean | </a:t>
            </a:r>
            <a:r>
              <a:rPr lang="en-US" sz="1462" b="true">
                <a:solidFill>
                  <a:srgbClr val="64748B"/>
                </a:solidFill>
                <a:latin typeface="Poppins Bold"/>
                <a:ea typeface="Poppins Bold"/>
                <a:cs typeface="Poppins Bold"/>
                <a:sym typeface="Poppins Bold"/>
              </a:rPr>
              <a:t>n - 1:</a:t>
            </a:r>
            <a:r>
              <a:rPr lang="en-US" sz="1462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 sample adjustment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72650" y="2646312"/>
            <a:ext cx="7740968" cy="50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22454E"/>
                </a:solidFill>
                <a:latin typeface="Poppins"/>
                <a:ea typeface="Poppins"/>
                <a:cs typeface="Poppins"/>
                <a:sym typeface="Poppins"/>
              </a:rPr>
              <a:t>Business Interpretation: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72650" y="3222574"/>
            <a:ext cx="7372350" cy="7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 b="true">
                <a:solidFill>
                  <a:srgbClr val="20494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"Daily customer numbers at Ikeja typically sit about 62 customers away from the average."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29850" y="4113162"/>
            <a:ext cx="69151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Small STDEV:</a:t>
            </a: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Consistent, predictable performance. Easy staffing.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29850" y="4998987"/>
            <a:ext cx="69151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Large STDEV:</a:t>
            </a: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Daily result swings widely. Demands buffer staffing (which is a planning risk).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Choosing M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ean vs. Median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5812" y="2241499"/>
            <a:ext cx="167163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The decision depends on whether the distribution is symmetric or skewed by extreme events.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5812" y="3917899"/>
            <a:ext cx="8143875" cy="3857625"/>
            <a:chOff x="0" y="0"/>
            <a:chExt cx="10858500" cy="51435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0858500" cy="5143500"/>
            </a:xfrm>
            <a:custGeom>
              <a:avLst/>
              <a:gdLst/>
              <a:ahLst/>
              <a:cxnLst/>
              <a:rect r="r" b="b" t="t" l="l"/>
              <a:pathLst>
                <a:path h="514350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5143500"/>
                  </a:lnTo>
                  <a:lnTo>
                    <a:pt x="0" y="514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85" r="0" b="-18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43000" y="4263180"/>
            <a:ext cx="2100262" cy="442912"/>
            <a:chOff x="0" y="0"/>
            <a:chExt cx="2800350" cy="5905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800350" cy="590550"/>
            </a:xfrm>
            <a:custGeom>
              <a:avLst/>
              <a:gdLst/>
              <a:ahLst/>
              <a:cxnLst/>
              <a:rect r="r" b="b" t="t" l="l"/>
              <a:pathLst>
                <a:path h="590550" w="2800350">
                  <a:moveTo>
                    <a:pt x="0" y="0"/>
                  </a:moveTo>
                  <a:lnTo>
                    <a:pt x="2800350" y="0"/>
                  </a:lnTo>
                  <a:lnTo>
                    <a:pt x="280035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612" r="0" b="-1612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43000" y="4808487"/>
            <a:ext cx="7800975" cy="50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22454E"/>
                </a:solidFill>
                <a:latin typeface="Poppins"/>
                <a:ea typeface="Poppins"/>
                <a:cs typeface="Poppins"/>
                <a:sym typeface="Poppins"/>
              </a:rPr>
              <a:t>Use the Mean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000" y="5379987"/>
            <a:ext cx="74295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When data is evenly spread without major outliers, mean and median sit close together.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43000" y="6325343"/>
            <a:ext cx="228600" cy="271462"/>
            <a:chOff x="0" y="0"/>
            <a:chExt cx="304800" cy="3619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600200" y="6237237"/>
            <a:ext cx="69723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Utilizes every data point in the dataset.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43000" y="6815881"/>
            <a:ext cx="228600" cy="271462"/>
            <a:chOff x="0" y="0"/>
            <a:chExt cx="304800" cy="36195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600200" y="6727774"/>
            <a:ext cx="69723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Standard input for advanced statistical models.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038952" y="3917899"/>
            <a:ext cx="8125146" cy="3857625"/>
            <a:chOff x="0" y="0"/>
            <a:chExt cx="10833528" cy="51435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10833528" cy="5143500"/>
            </a:xfrm>
            <a:custGeom>
              <a:avLst/>
              <a:gdLst/>
              <a:ahLst/>
              <a:cxnLst/>
              <a:rect r="r" b="b" t="t" l="l"/>
              <a:pathLst>
                <a:path h="5143500" w="10833528">
                  <a:moveTo>
                    <a:pt x="0" y="0"/>
                  </a:moveTo>
                  <a:lnTo>
                    <a:pt x="10833528" y="0"/>
                  </a:lnTo>
                  <a:lnTo>
                    <a:pt x="10833528" y="5143500"/>
                  </a:lnTo>
                  <a:lnTo>
                    <a:pt x="0" y="514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69" r="0" b="-6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772650" y="4195762"/>
            <a:ext cx="1743075" cy="414338"/>
            <a:chOff x="0" y="0"/>
            <a:chExt cx="2324100" cy="55245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2324100" cy="552450"/>
            </a:xfrm>
            <a:custGeom>
              <a:avLst/>
              <a:gdLst/>
              <a:ahLst/>
              <a:cxnLst/>
              <a:rect r="r" b="b" t="t" l="l"/>
              <a:pathLst>
                <a:path h="552450" w="2324100">
                  <a:moveTo>
                    <a:pt x="0" y="0"/>
                  </a:moveTo>
                  <a:lnTo>
                    <a:pt x="2324100" y="0"/>
                  </a:lnTo>
                  <a:lnTo>
                    <a:pt x="23241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724" r="0" b="-1724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772650" y="4743450"/>
            <a:ext cx="774096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22454E"/>
                </a:solidFill>
                <a:latin typeface="Poppins"/>
                <a:ea typeface="Poppins"/>
                <a:cs typeface="Poppins"/>
                <a:sym typeface="Poppins"/>
              </a:rPr>
              <a:t>Use </a:t>
            </a:r>
            <a:r>
              <a:rPr lang="en-US" sz="2475">
                <a:solidFill>
                  <a:srgbClr val="22454E"/>
                </a:solidFill>
                <a:latin typeface="Poppins"/>
                <a:ea typeface="Poppins"/>
                <a:cs typeface="Poppins"/>
                <a:sym typeface="Poppins"/>
              </a:rPr>
              <a:t>the Median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72650" y="5379987"/>
            <a:ext cx="737235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When extreme high or low values pull the mean away from the bulk of the data.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772650" y="6325343"/>
            <a:ext cx="228600" cy="271462"/>
            <a:chOff x="0" y="0"/>
            <a:chExt cx="304800" cy="36195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229850" y="6237237"/>
            <a:ext cx="69151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Resists distortion from extreme promo spikes.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772650" y="6815881"/>
            <a:ext cx="228600" cy="271462"/>
            <a:chOff x="0" y="0"/>
            <a:chExt cx="304800" cy="36195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229850" y="6727774"/>
            <a:ext cx="69151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Reflects the true experience of a normal day.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85812" y="2817019"/>
            <a:ext cx="167163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A dataset is skewed when it has a "long tail" of unusually high or low values pulling away from the bulk of the data. While not skewed when the mean and median sit close together, and either is a fair summary.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Und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erstanding Outliers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5812" y="2241499"/>
            <a:ext cx="81438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An </a:t>
            </a:r>
            <a:r>
              <a:rPr lang="en-US" sz="1999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outlier</a:t>
            </a: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is a value that sits unusually far from the rest of the data, either much higher or much lower.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38188" y="3217812"/>
            <a:ext cx="8143875" cy="2843212"/>
            <a:chOff x="0" y="0"/>
            <a:chExt cx="10858500" cy="37909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0858500" cy="3790950"/>
            </a:xfrm>
            <a:custGeom>
              <a:avLst/>
              <a:gdLst/>
              <a:ahLst/>
              <a:cxnLst/>
              <a:rect r="r" b="b" t="t" l="l"/>
              <a:pathLst>
                <a:path h="379095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3790950"/>
                  </a:lnTo>
                  <a:lnTo>
                    <a:pt x="0" y="379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51" r="0" b="-25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85863" y="3555949"/>
            <a:ext cx="775596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E07A5F"/>
                </a:solidFill>
                <a:latin typeface="Poppins"/>
                <a:ea typeface="Poppins"/>
                <a:cs typeface="Poppins"/>
                <a:sym typeface="Poppins"/>
              </a:rPr>
              <a:t>How Outliers Distort Statistics: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3062" y="3998862"/>
            <a:ext cx="692943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Mean:</a:t>
            </a: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Strongly pulled towards the outlier.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85862" y="4110780"/>
            <a:ext cx="185738" cy="271462"/>
            <a:chOff x="0" y="0"/>
            <a:chExt cx="247650" cy="3619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247650" cy="361950"/>
            </a:xfrm>
            <a:custGeom>
              <a:avLst/>
              <a:gdLst/>
              <a:ahLst/>
              <a:cxnLst/>
              <a:rect r="r" b="b" t="t" l="l"/>
              <a:pathLst>
                <a:path h="3619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643062" y="4541787"/>
            <a:ext cx="692943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Median:</a:t>
            </a: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Remains steady and protected.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85862" y="4653705"/>
            <a:ext cx="228600" cy="271462"/>
            <a:chOff x="0" y="0"/>
            <a:chExt cx="304800" cy="3619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85862" y="5196630"/>
            <a:ext cx="185738" cy="271462"/>
            <a:chOff x="0" y="0"/>
            <a:chExt cx="247650" cy="36195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247650" cy="361950"/>
            </a:xfrm>
            <a:custGeom>
              <a:avLst/>
              <a:gdLst/>
              <a:ahLst/>
              <a:cxnLst/>
              <a:rect r="r" b="b" t="t" l="l"/>
              <a:pathLst>
                <a:path h="3619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643062" y="5084712"/>
            <a:ext cx="692943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Range &amp; STDEV:</a:t>
            </a: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Inflated dramatically.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358312" y="2317699"/>
            <a:ext cx="7900988" cy="3743325"/>
            <a:chOff x="0" y="0"/>
            <a:chExt cx="10534650" cy="49911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10534650" cy="4991100"/>
            </a:xfrm>
            <a:custGeom>
              <a:avLst/>
              <a:gdLst/>
              <a:ahLst/>
              <a:cxnLst/>
              <a:rect r="r" b="b" t="t" l="l"/>
              <a:pathLst>
                <a:path h="4991100" w="10534650">
                  <a:moveTo>
                    <a:pt x="0" y="0"/>
                  </a:moveTo>
                  <a:lnTo>
                    <a:pt x="10534650" y="0"/>
                  </a:lnTo>
                  <a:lnTo>
                    <a:pt x="10534650" y="4991100"/>
                  </a:lnTo>
                  <a:lnTo>
                    <a:pt x="0" y="499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341" t="0" r="-1341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715500" y="2646312"/>
            <a:ext cx="78009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22454E"/>
                </a:solidFill>
                <a:latin typeface="Poppins"/>
                <a:ea typeface="Poppins"/>
                <a:cs typeface="Poppins"/>
                <a:sym typeface="Poppins"/>
              </a:rPr>
              <a:t>Analyst's Golden Rule: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15500" y="3222574"/>
            <a:ext cx="7429500" cy="66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1787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Always run your analysis </a:t>
            </a:r>
            <a:r>
              <a:rPr lang="en-US" sz="1787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twice</a:t>
            </a:r>
            <a:r>
              <a:rPr lang="en-US" sz="1787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— once with the suspected outlier included, and once with it excluded.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715500" y="4146499"/>
            <a:ext cx="7429500" cy="1435894"/>
            <a:chOff x="0" y="0"/>
            <a:chExt cx="9906000" cy="1914525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9906000" cy="1914525"/>
            </a:xfrm>
            <a:custGeom>
              <a:avLst/>
              <a:gdLst/>
              <a:ahLst/>
              <a:cxnLst/>
              <a:rect r="r" b="b" t="t" l="l"/>
              <a:pathLst>
                <a:path h="1914525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1914525"/>
                  </a:lnTo>
                  <a:lnTo>
                    <a:pt x="0" y="1914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56" r="0" b="-56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929812" y="4303662"/>
            <a:ext cx="7000875" cy="29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562">
                <a:solidFill>
                  <a:srgbClr val="20494A"/>
                </a:solidFill>
                <a:latin typeface="Poppins"/>
                <a:ea typeface="Poppins"/>
                <a:cs typeface="Poppins"/>
                <a:sym typeface="Poppins"/>
              </a:rPr>
              <a:t>Never quietly delete an outlier!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29812" y="4753718"/>
            <a:ext cx="7000875" cy="58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562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Investigate if it is an entry error (typo) or a genuine business event (Black Friday promotion). Report both figures transparently.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Work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ed Example: Ikeja Branch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5812" y="2241499"/>
            <a:ext cx="1671637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Impact of 1 Black Friday Promo Day (28 Nov) on 30 Days of Customer Data: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5812" y="2874912"/>
            <a:ext cx="8143875" cy="3429000"/>
            <a:chOff x="0" y="0"/>
            <a:chExt cx="10858500" cy="45720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08585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08" r="0" b="-20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43000" y="3255912"/>
            <a:ext cx="7800975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E07A5F"/>
                </a:solidFill>
                <a:latin typeface="Poppins"/>
                <a:ea typeface="Poppins"/>
                <a:cs typeface="Poppins"/>
                <a:sym typeface="Poppins"/>
              </a:rPr>
              <a:t>All 30 Days (Promo Included)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58312" y="2874912"/>
            <a:ext cx="8143875" cy="3429000"/>
            <a:chOff x="0" y="0"/>
            <a:chExt cx="10858500" cy="45720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108585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08" r="0" b="-208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715500" y="3255912"/>
            <a:ext cx="7800975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87F7F"/>
                </a:solidFill>
                <a:latin typeface="Poppins"/>
                <a:ea typeface="Poppins"/>
                <a:cs typeface="Poppins"/>
                <a:sym typeface="Poppins"/>
              </a:rPr>
              <a:t>29 Ordinary Days (Promo Excluded)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715500" y="3803599"/>
            <a:ext cx="3643312" cy="1000125"/>
            <a:chOff x="0" y="0"/>
            <a:chExt cx="4857750" cy="13335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4857750" cy="1333500"/>
            </a:xfrm>
            <a:custGeom>
              <a:avLst/>
              <a:gdLst/>
              <a:ahLst/>
              <a:cxnLst/>
              <a:rect r="r" b="b" t="t" l="l"/>
              <a:pathLst>
                <a:path h="1333500" w="4857750">
                  <a:moveTo>
                    <a:pt x="0" y="0"/>
                  </a:moveTo>
                  <a:lnTo>
                    <a:pt x="4857750" y="0"/>
                  </a:lnTo>
                  <a:lnTo>
                    <a:pt x="4857750" y="1333500"/>
                  </a:lnTo>
                  <a:lnTo>
                    <a:pt x="0" y="133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516" r="0" b="-51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3000" y="3803599"/>
            <a:ext cx="3643312" cy="971550"/>
            <a:chOff x="0" y="0"/>
            <a:chExt cx="4857750" cy="12954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857750" cy="1295400"/>
            </a:xfrm>
            <a:custGeom>
              <a:avLst/>
              <a:gdLst/>
              <a:ahLst/>
              <a:cxnLst/>
              <a:rect r="r" b="b" t="t" l="l"/>
              <a:pathLst>
                <a:path h="1295400" w="4857750">
                  <a:moveTo>
                    <a:pt x="0" y="0"/>
                  </a:moveTo>
                  <a:lnTo>
                    <a:pt x="4857750" y="0"/>
                  </a:lnTo>
                  <a:lnTo>
                    <a:pt x="4857750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537" r="0" b="-537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15700" y="4008387"/>
            <a:ext cx="44291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7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MEAN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44088" y="4270324"/>
            <a:ext cx="3386138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102.3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501688" y="3803599"/>
            <a:ext cx="3643312" cy="1000125"/>
            <a:chOff x="0" y="0"/>
            <a:chExt cx="4857750" cy="13335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4857750" cy="1333500"/>
            </a:xfrm>
            <a:custGeom>
              <a:avLst/>
              <a:gdLst/>
              <a:ahLst/>
              <a:cxnLst/>
              <a:rect r="r" b="b" t="t" l="l"/>
              <a:pathLst>
                <a:path h="1333500" w="4857750">
                  <a:moveTo>
                    <a:pt x="0" y="0"/>
                  </a:moveTo>
                  <a:lnTo>
                    <a:pt x="4857750" y="0"/>
                  </a:lnTo>
                  <a:lnTo>
                    <a:pt x="4857750" y="1333500"/>
                  </a:lnTo>
                  <a:lnTo>
                    <a:pt x="0" y="133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516" r="0" b="-516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5030450" y="4008387"/>
            <a:ext cx="58578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7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MEDIAN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630275" y="4270324"/>
            <a:ext cx="3386138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20494A"/>
                </a:solidFill>
                <a:latin typeface="Poppins Bold"/>
                <a:ea typeface="Poppins Bold"/>
                <a:cs typeface="Poppins Bold"/>
                <a:sym typeface="Poppins Bold"/>
              </a:rPr>
              <a:t>94.0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715500" y="4946599"/>
            <a:ext cx="3643312" cy="1000125"/>
            <a:chOff x="0" y="0"/>
            <a:chExt cx="4857750" cy="13335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4857750" cy="1333500"/>
            </a:xfrm>
            <a:custGeom>
              <a:avLst/>
              <a:gdLst/>
              <a:ahLst/>
              <a:cxnLst/>
              <a:rect r="r" b="b" t="t" l="l"/>
              <a:pathLst>
                <a:path h="1333500" w="4857750">
                  <a:moveTo>
                    <a:pt x="0" y="0"/>
                  </a:moveTo>
                  <a:lnTo>
                    <a:pt x="4857750" y="0"/>
                  </a:lnTo>
                  <a:lnTo>
                    <a:pt x="4857750" y="1333500"/>
                  </a:lnTo>
                  <a:lnTo>
                    <a:pt x="0" y="133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516" r="0" b="-516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501688" y="4946599"/>
            <a:ext cx="3643312" cy="1000125"/>
            <a:chOff x="0" y="0"/>
            <a:chExt cx="4857750" cy="13335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4857750" cy="1333500"/>
            </a:xfrm>
            <a:custGeom>
              <a:avLst/>
              <a:gdLst/>
              <a:ahLst/>
              <a:cxnLst/>
              <a:rect r="r" b="b" t="t" l="l"/>
              <a:pathLst>
                <a:path h="1333500" w="4857750">
                  <a:moveTo>
                    <a:pt x="0" y="0"/>
                  </a:moveTo>
                  <a:lnTo>
                    <a:pt x="4857750" y="0"/>
                  </a:lnTo>
                  <a:lnTo>
                    <a:pt x="4857750" y="1333500"/>
                  </a:lnTo>
                  <a:lnTo>
                    <a:pt x="0" y="133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516" r="0" b="-516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272838" y="5151387"/>
            <a:ext cx="52863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7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RANGE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44088" y="5413324"/>
            <a:ext cx="3386138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74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087600" y="5151387"/>
            <a:ext cx="47148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7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STDEV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630275" y="5413324"/>
            <a:ext cx="3386138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21.4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743200" y="3994099"/>
            <a:ext cx="44291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7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MEAN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57300" y="4256037"/>
            <a:ext cx="3414712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E07A5F"/>
                </a:solidFill>
                <a:latin typeface="Poppins Bold"/>
                <a:ea typeface="Poppins Bold"/>
                <a:cs typeface="Poppins Bold"/>
                <a:sym typeface="Poppins Bold"/>
              </a:rPr>
              <a:t>112.9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4929188" y="3803599"/>
            <a:ext cx="3643312" cy="971550"/>
            <a:chOff x="0" y="0"/>
            <a:chExt cx="4857750" cy="12954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4857750" cy="1295400"/>
            </a:xfrm>
            <a:custGeom>
              <a:avLst/>
              <a:gdLst/>
              <a:ahLst/>
              <a:cxnLst/>
              <a:rect r="r" b="b" t="t" l="l"/>
              <a:pathLst>
                <a:path h="1295400" w="4857750">
                  <a:moveTo>
                    <a:pt x="0" y="0"/>
                  </a:moveTo>
                  <a:lnTo>
                    <a:pt x="4857750" y="0"/>
                  </a:lnTo>
                  <a:lnTo>
                    <a:pt x="4857750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537" r="0" b="-537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6457950" y="3994099"/>
            <a:ext cx="58578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7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MEDIAN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043488" y="4256037"/>
            <a:ext cx="3414712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20494A"/>
                </a:solidFill>
                <a:latin typeface="Poppins Bold"/>
                <a:ea typeface="Poppins Bold"/>
                <a:cs typeface="Poppins Bold"/>
                <a:sym typeface="Poppins Bold"/>
              </a:rPr>
              <a:t>96.0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143000" y="4918024"/>
            <a:ext cx="3643312" cy="971550"/>
            <a:chOff x="0" y="0"/>
            <a:chExt cx="4857750" cy="129540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4857750" cy="1295400"/>
            </a:xfrm>
            <a:custGeom>
              <a:avLst/>
              <a:gdLst/>
              <a:ahLst/>
              <a:cxnLst/>
              <a:rect r="r" b="b" t="t" l="l"/>
              <a:pathLst>
                <a:path h="1295400" w="4857750">
                  <a:moveTo>
                    <a:pt x="0" y="0"/>
                  </a:moveTo>
                  <a:lnTo>
                    <a:pt x="4857750" y="0"/>
                  </a:lnTo>
                  <a:lnTo>
                    <a:pt x="4857750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537" r="0" b="-537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2700338" y="5108524"/>
            <a:ext cx="52863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7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RANGE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57300" y="5370462"/>
            <a:ext cx="3414712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345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4929188" y="4918024"/>
            <a:ext cx="3643312" cy="971550"/>
            <a:chOff x="0" y="0"/>
            <a:chExt cx="4857750" cy="1295400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4857750" cy="1295400"/>
            </a:xfrm>
            <a:custGeom>
              <a:avLst/>
              <a:gdLst/>
              <a:ahLst/>
              <a:cxnLst/>
              <a:rect r="r" b="b" t="t" l="l"/>
              <a:pathLst>
                <a:path h="1295400" w="4857750">
                  <a:moveTo>
                    <a:pt x="0" y="0"/>
                  </a:moveTo>
                  <a:lnTo>
                    <a:pt x="4857750" y="0"/>
                  </a:lnTo>
                  <a:lnTo>
                    <a:pt x="4857750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537" r="0" b="-537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6515100" y="5108524"/>
            <a:ext cx="47148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7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STDEV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043488" y="5370462"/>
            <a:ext cx="3414712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E07A5F"/>
                </a:solidFill>
                <a:latin typeface="Poppins Bold"/>
                <a:ea typeface="Poppins Bold"/>
                <a:cs typeface="Poppins Bold"/>
                <a:sym typeface="Poppins Bold"/>
              </a:rPr>
              <a:t>61.7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785812" y="6518224"/>
            <a:ext cx="16716375" cy="1714500"/>
            <a:chOff x="0" y="0"/>
            <a:chExt cx="22288500" cy="2286000"/>
          </a:xfrm>
        </p:grpSpPr>
        <p:sp>
          <p:nvSpPr>
            <p:cNvPr name="Freeform 51" id="51" descr="image.png"/>
            <p:cNvSpPr/>
            <p:nvPr/>
          </p:nvSpPr>
          <p:spPr>
            <a:xfrm flipH="false" flipV="false" rot="0">
              <a:off x="0" y="0"/>
              <a:ext cx="22288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416" r="0" b="-416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200150" y="6846837"/>
            <a:ext cx="16742093" cy="35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22454E"/>
                </a:solidFill>
                <a:latin typeface="Poppins"/>
                <a:ea typeface="Poppins"/>
                <a:cs typeface="Poppins"/>
                <a:sym typeface="Poppins"/>
              </a:rPr>
              <a:t>Manager Recommendation: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00150" y="7218312"/>
            <a:ext cx="1594485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20494A"/>
                </a:solidFill>
                <a:latin typeface="Poppins"/>
                <a:ea typeface="Poppins"/>
                <a:cs typeface="Poppins"/>
                <a:sym typeface="Poppins"/>
              </a:rPr>
              <a:t>"For everyday staffing, plan around a typical baseline of </a:t>
            </a:r>
            <a:r>
              <a:rPr lang="en-US" sz="1575" b="true">
                <a:solidFill>
                  <a:srgbClr val="20494A"/>
                </a:solidFill>
                <a:latin typeface="Poppins Bold"/>
                <a:ea typeface="Poppins Bold"/>
                <a:cs typeface="Poppins Bold"/>
                <a:sym typeface="Poppins Bold"/>
              </a:rPr>
              <a:t>94 to 102 customers</a:t>
            </a:r>
            <a:r>
              <a:rPr lang="en-US" sz="1575">
                <a:solidFill>
                  <a:srgbClr val="20494A"/>
                </a:solidFill>
                <a:latin typeface="Poppins"/>
                <a:ea typeface="Poppins"/>
                <a:cs typeface="Poppins"/>
                <a:sym typeface="Poppins"/>
              </a:rPr>
              <a:t>. Do not use the 113-customer mean which is artificially inflated by Black Friday. Treat promo days under a separate event staffing plan."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Guided Pr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actice: Aduke Stores, Yaba Branch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5812" y="2241499"/>
            <a:ext cx="167163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Open your practice workbook in Excel and analyze the </a:t>
            </a:r>
            <a:r>
              <a:rPr lang="en-US" sz="1999" b="true">
                <a:solidFill>
                  <a:srgbClr val="2C3E50"/>
                </a:solidFill>
                <a:latin typeface="Poppins Bold"/>
                <a:ea typeface="Poppins Bold"/>
                <a:cs typeface="Poppins Bold"/>
                <a:sym typeface="Poppins Bold"/>
              </a:rPr>
              <a:t>Aduke Stores Yaba branch</a:t>
            </a:r>
            <a:r>
              <a:rPr lang="en-US" sz="1999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dataset (in pairs — 8 minutes):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5812" y="2946349"/>
            <a:ext cx="8143875" cy="4114800"/>
            <a:chOff x="0" y="0"/>
            <a:chExt cx="10858500" cy="54864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08585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73" r="0" b="-17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358312" y="2946349"/>
            <a:ext cx="8143875" cy="4114800"/>
            <a:chOff x="0" y="0"/>
            <a:chExt cx="10858500" cy="54864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08585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73" r="0" b="-17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43050" y="3274962"/>
            <a:ext cx="7591425" cy="50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22454E"/>
                </a:solidFill>
                <a:latin typeface="Poppins"/>
                <a:ea typeface="Poppins"/>
                <a:cs typeface="Poppins"/>
                <a:sym typeface="Poppins"/>
              </a:rPr>
              <a:t>Your Tasks: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43000" y="3374974"/>
            <a:ext cx="314325" cy="314325"/>
            <a:chOff x="0" y="0"/>
            <a:chExt cx="419100" cy="4191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272" r="0" b="-2272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600200" y="3913137"/>
            <a:ext cx="69723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Calculate the Mean, Median, Mode, Range, and Standard Deviation in Excel.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00200" y="4798962"/>
            <a:ext cx="69723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Determine whether the dataset is skewed or evenly distributed. Justify using numbers.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00200" y="5684787"/>
            <a:ext cx="69723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Draft a 1-sentence manager recommendation.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3000" y="4025055"/>
            <a:ext cx="128588" cy="271462"/>
            <a:chOff x="0" y="0"/>
            <a:chExt cx="171450" cy="3619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171450" cy="361950"/>
            </a:xfrm>
            <a:custGeom>
              <a:avLst/>
              <a:gdLst/>
              <a:ahLst/>
              <a:cxnLst/>
              <a:rect r="r" b="b" t="t" l="l"/>
              <a:pathLst>
                <a:path h="36195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43000" y="4910880"/>
            <a:ext cx="171450" cy="271462"/>
            <a:chOff x="0" y="0"/>
            <a:chExt cx="228600" cy="36195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228600" cy="361950"/>
            </a:xfrm>
            <a:custGeom>
              <a:avLst/>
              <a:gdLst/>
              <a:ahLst/>
              <a:cxnLst/>
              <a:rect r="r" b="b" t="t" l="l"/>
              <a:pathLst>
                <a:path h="36195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43000" y="5796705"/>
            <a:ext cx="171450" cy="271462"/>
            <a:chOff x="0" y="0"/>
            <a:chExt cx="228600" cy="36195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228600" cy="361950"/>
            </a:xfrm>
            <a:custGeom>
              <a:avLst/>
              <a:gdLst/>
              <a:ahLst/>
              <a:cxnLst/>
              <a:rect r="r" b="b" t="t" l="l"/>
              <a:pathLst>
                <a:path h="36195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934575" y="3274962"/>
            <a:ext cx="7579043" cy="50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22454E"/>
                </a:solidFill>
                <a:latin typeface="Poppins"/>
                <a:ea typeface="Poppins"/>
                <a:cs typeface="Poppins"/>
                <a:sym typeface="Poppins"/>
              </a:rPr>
              <a:t>Key Excel Formulas Needed: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29850" y="3913137"/>
            <a:ext cx="69151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=AVERAGE(B2:B31)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772650" y="4025055"/>
            <a:ext cx="328612" cy="271462"/>
            <a:chOff x="0" y="0"/>
            <a:chExt cx="438150" cy="36195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438150" cy="361950"/>
            </a:xfrm>
            <a:custGeom>
              <a:avLst/>
              <a:gdLst/>
              <a:ahLst/>
              <a:cxnLst/>
              <a:rect r="r" b="b" t="t" l="l"/>
              <a:pathLst>
                <a:path h="3619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72650" y="4567980"/>
            <a:ext cx="328612" cy="271462"/>
            <a:chOff x="0" y="0"/>
            <a:chExt cx="438150" cy="36195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438150" cy="361950"/>
            </a:xfrm>
            <a:custGeom>
              <a:avLst/>
              <a:gdLst/>
              <a:ahLst/>
              <a:cxnLst/>
              <a:rect r="r" b="b" t="t" l="l"/>
              <a:pathLst>
                <a:path h="3619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229850" y="4456062"/>
            <a:ext cx="69151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=MEDIAN(B2:B31)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772650" y="5110905"/>
            <a:ext cx="328612" cy="271462"/>
            <a:chOff x="0" y="0"/>
            <a:chExt cx="438150" cy="36195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438150" cy="361950"/>
            </a:xfrm>
            <a:custGeom>
              <a:avLst/>
              <a:gdLst/>
              <a:ahLst/>
              <a:cxnLst/>
              <a:rect r="r" b="b" t="t" l="l"/>
              <a:pathLst>
                <a:path h="3619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229850" y="4998987"/>
            <a:ext cx="69151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=MODE.SNGL(B2:B31)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772650" y="5653830"/>
            <a:ext cx="328612" cy="271462"/>
            <a:chOff x="0" y="0"/>
            <a:chExt cx="438150" cy="36195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438150" cy="361950"/>
            </a:xfrm>
            <a:custGeom>
              <a:avLst/>
              <a:gdLst/>
              <a:ahLst/>
              <a:cxnLst/>
              <a:rect r="r" b="b" t="t" l="l"/>
              <a:pathLst>
                <a:path h="3619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229850" y="5541912"/>
            <a:ext cx="69151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=MAX(B2:B31) - MIN(B2:B31)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772650" y="6196755"/>
            <a:ext cx="328612" cy="271462"/>
            <a:chOff x="0" y="0"/>
            <a:chExt cx="438150" cy="36195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438150" cy="361950"/>
            </a:xfrm>
            <a:custGeom>
              <a:avLst/>
              <a:gdLst/>
              <a:ahLst/>
              <a:cxnLst/>
              <a:rect r="r" b="b" t="t" l="l"/>
              <a:pathLst>
                <a:path h="3619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0229850" y="6084837"/>
            <a:ext cx="69151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=STDEV.S(B2:B31)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710213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Key Takeaways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928812" y="2927032"/>
            <a:ext cx="9489714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25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Calculate the mean, median, mode, range and standard deviation of a dataset in Excel, and explain what each one measures.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28812" y="4667218"/>
            <a:ext cx="9489714" cy="101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Decide whether to trust the mean or the median for a given dataset, based on whether the data is skewed.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28812" y="6005422"/>
            <a:ext cx="9489714" cy="101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3Spot an outlier in a dataset and explain how it distorts summary statistics if left unaddressed.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28812" y="7313716"/>
            <a:ext cx="9680214" cy="101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Turn a set of statistics into a single, plain-language recommendation a manager could act 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19033" y="4095750"/>
            <a:ext cx="450532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>
                <a:solidFill>
                  <a:srgbClr val="387F7F"/>
                </a:solidFill>
                <a:latin typeface="Poppins"/>
                <a:ea typeface="Poppins"/>
                <a:cs typeface="Poppins"/>
                <a:sym typeface="Poppins"/>
              </a:rPr>
              <a:t>Up Next: Correlation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373761" y="4186238"/>
            <a:ext cx="457200" cy="457200"/>
            <a:chOff x="0" y="0"/>
            <a:chExt cx="609600" cy="6096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562" r="0" b="-156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3057525"/>
            <a:ext cx="457200" cy="485775"/>
            <a:chOff x="0" y="0"/>
            <a:chExt cx="609600" cy="6477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609600" cy="647700"/>
            </a:xfrm>
            <a:custGeom>
              <a:avLst/>
              <a:gdLst/>
              <a:ahLst/>
              <a:cxnLst/>
              <a:rect r="r" b="b" t="t" l="l"/>
              <a:pathLst>
                <a:path h="6477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3000" y="4810093"/>
            <a:ext cx="457200" cy="485775"/>
            <a:chOff x="0" y="0"/>
            <a:chExt cx="609600" cy="6477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609600" cy="647700"/>
            </a:xfrm>
            <a:custGeom>
              <a:avLst/>
              <a:gdLst/>
              <a:ahLst/>
              <a:cxnLst/>
              <a:rect r="r" b="b" t="t" l="l"/>
              <a:pathLst>
                <a:path h="6477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43000" y="6119722"/>
            <a:ext cx="457200" cy="485775"/>
            <a:chOff x="0" y="0"/>
            <a:chExt cx="609600" cy="6477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609600" cy="647700"/>
            </a:xfrm>
            <a:custGeom>
              <a:avLst/>
              <a:gdLst/>
              <a:ahLst/>
              <a:cxnLst/>
              <a:rect r="r" b="b" t="t" l="l"/>
              <a:pathLst>
                <a:path h="6477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43000" y="7415646"/>
            <a:ext cx="457200" cy="485775"/>
            <a:chOff x="0" y="0"/>
            <a:chExt cx="609600" cy="6477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609600" cy="647700"/>
            </a:xfrm>
            <a:custGeom>
              <a:avLst/>
              <a:gdLst/>
              <a:ahLst/>
              <a:cxnLst/>
              <a:rect r="r" b="b" t="t" l="l"/>
              <a:pathLst>
                <a:path h="6477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825877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388080"/>
                </a:solidFill>
                <a:latin typeface="Poppins Bold"/>
                <a:ea typeface="Poppins Bold"/>
                <a:cs typeface="Poppins Bold"/>
                <a:sym typeface="Poppins Bold"/>
              </a:rPr>
              <a:t>Up N</a:t>
            </a:r>
            <a:r>
              <a:rPr lang="en-US" sz="5000" b="true">
                <a:solidFill>
                  <a:srgbClr val="388080"/>
                </a:solidFill>
                <a:latin typeface="Poppins Bold"/>
                <a:ea typeface="Poppins Bold"/>
                <a:cs typeface="Poppins Bold"/>
                <a:sym typeface="Poppins Bold"/>
              </a:rPr>
              <a:t>ext: Correlation (4.2)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85812" y="2317699"/>
            <a:ext cx="8143875" cy="2600325"/>
            <a:chOff x="0" y="0"/>
            <a:chExt cx="10858500" cy="34671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0858500" cy="3467100"/>
            </a:xfrm>
            <a:custGeom>
              <a:avLst/>
              <a:gdLst/>
              <a:ahLst/>
              <a:cxnLst/>
              <a:rect r="r" b="b" t="t" l="l"/>
              <a:pathLst>
                <a:path h="346710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3467100"/>
                  </a:lnTo>
                  <a:lnTo>
                    <a:pt x="0" y="346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74" r="0" b="-27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358312" y="2317699"/>
            <a:ext cx="8143875" cy="2600325"/>
            <a:chOff x="0" y="0"/>
            <a:chExt cx="10858500" cy="34671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10858500" cy="3467100"/>
            </a:xfrm>
            <a:custGeom>
              <a:avLst/>
              <a:gdLst/>
              <a:ahLst/>
              <a:cxnLst/>
              <a:rect r="r" b="b" t="t" l="l"/>
              <a:pathLst>
                <a:path h="346710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3467100"/>
                  </a:lnTo>
                  <a:lnTo>
                    <a:pt x="0" y="346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74" r="0" b="-274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3000" y="2674887"/>
            <a:ext cx="2185988" cy="442912"/>
            <a:chOff x="0" y="0"/>
            <a:chExt cx="2914650" cy="5905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2914650" cy="590550"/>
            </a:xfrm>
            <a:custGeom>
              <a:avLst/>
              <a:gdLst/>
              <a:ahLst/>
              <a:cxnLst/>
              <a:rect r="r" b="b" t="t" l="l"/>
              <a:pathLst>
                <a:path h="590550" w="2914650">
                  <a:moveTo>
                    <a:pt x="0" y="0"/>
                  </a:moveTo>
                  <a:lnTo>
                    <a:pt x="2914650" y="0"/>
                  </a:lnTo>
                  <a:lnTo>
                    <a:pt x="291465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612" r="0" b="-161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43000" y="3232099"/>
            <a:ext cx="7800975" cy="50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22454E"/>
                </a:solidFill>
                <a:latin typeface="Poppins"/>
                <a:ea typeface="Poppins"/>
                <a:cs typeface="Poppins"/>
                <a:sym typeface="Poppins"/>
              </a:rPr>
              <a:t>One Variable at a Time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3798837"/>
            <a:ext cx="74295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Analyzing univariate distributions: understanding footfall, averages, and variability on a single metric.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772650" y="2674887"/>
            <a:ext cx="2028825" cy="414338"/>
            <a:chOff x="0" y="0"/>
            <a:chExt cx="2705100" cy="5524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2705100" cy="552450"/>
            </a:xfrm>
            <a:custGeom>
              <a:avLst/>
              <a:gdLst/>
              <a:ahLst/>
              <a:cxnLst/>
              <a:rect r="r" b="b" t="t" l="l"/>
              <a:pathLst>
                <a:path h="552450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724" r="0" b="-1724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772650" y="3203524"/>
            <a:ext cx="7740968" cy="50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22454E"/>
                </a:solidFill>
                <a:latin typeface="Poppins"/>
                <a:ea typeface="Poppins"/>
                <a:cs typeface="Poppins"/>
                <a:sym typeface="Poppins"/>
              </a:rPr>
              <a:t>Two Variables Together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72650" y="3770262"/>
            <a:ext cx="73723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Analyzing bivariate relationships: Does higher marketing spend at Aduke Stores drive higher daily sales?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85812" y="5203774"/>
            <a:ext cx="16359188" cy="1328738"/>
            <a:chOff x="0" y="0"/>
            <a:chExt cx="21812250" cy="177165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21812250" cy="1771650"/>
            </a:xfrm>
            <a:custGeom>
              <a:avLst/>
              <a:gdLst/>
              <a:ahLst/>
              <a:cxnLst/>
              <a:rect r="r" b="b" t="t" l="l"/>
              <a:pathLst>
                <a:path h="1771650" w="21812250">
                  <a:moveTo>
                    <a:pt x="0" y="0"/>
                  </a:moveTo>
                  <a:lnTo>
                    <a:pt x="21812250" y="0"/>
                  </a:lnTo>
                  <a:lnTo>
                    <a:pt x="21812250" y="1771650"/>
                  </a:lnTo>
                  <a:lnTo>
                    <a:pt x="0" y="1771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548" t="0" r="-548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14438" y="5470474"/>
            <a:ext cx="84010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Action Items Before Next Class: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4438" y="5889574"/>
            <a:ext cx="8001000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EBF3F3"/>
                </a:solidFill>
                <a:latin typeface="Poppins"/>
                <a:ea typeface="Poppins"/>
                <a:cs typeface="Poppins"/>
                <a:sym typeface="Poppins"/>
              </a:rPr>
              <a:t>Complete Topic 4.1 LMS Practice Questions &amp; Lab Exercises on publica.academy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6644938" y="5653830"/>
            <a:ext cx="428625" cy="428625"/>
            <a:chOff x="0" y="0"/>
            <a:chExt cx="571500" cy="5715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571500" cy="571500"/>
            </a:xfrm>
            <a:custGeom>
              <a:avLst/>
              <a:gdLst/>
              <a:ahLst/>
              <a:cxnLst/>
              <a:rect r="r" b="b" t="t" l="l"/>
              <a:pathLst>
                <a:path h="5715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666" r="0" b="-1666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DAHTqGct3ks</dc:identifier>
  <dcterms:modified xsi:type="dcterms:W3CDTF">2011-08-01T06:04:30Z</dcterms:modified>
  <cp:revision>1</cp:revision>
  <dc:title>4.1_Descriptive Statistics and Distributions.pptx</dc:title>
</cp:coreProperties>
</file>