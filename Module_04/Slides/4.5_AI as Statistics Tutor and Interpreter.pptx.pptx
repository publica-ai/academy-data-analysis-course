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" charset="1" panose="02000503000000020004"/>
      <p:regular r:id="rId21"/>
    </p:embeddedFont>
    <p:embeddedFont>
      <p:font typeface="Inter Bold" charset="1" panose="02000503000000020004"/>
      <p:regular r:id="rId22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5"/>
    </p:embeddedFont>
    <p:embeddedFont>
      <p:font typeface="Poppins Italics" charset="1" panose="00000500000000000000"/>
      <p:regular r:id="rId27"/>
    </p:embeddedFont>
    <p:embeddedFont>
      <p:font typeface="DM Sans Bold" charset="1" panose="00000000000000000000"/>
      <p:regular r:id="rId36"/>
    </p:embeddedFont>
    <p:embeddedFont>
      <p:font typeface="DM Sans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5.jpe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5.jpe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16" Target="../media/image51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5.jpeg" Type="http://schemas.openxmlformats.org/officeDocument/2006/relationships/image"/><Relationship Id="rId13" Target="../media/image63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438950"/>
            <a:chOff x="0" y="0"/>
            <a:chExt cx="21336000" cy="585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585267"/>
            </a:xfrm>
            <a:custGeom>
              <a:avLst/>
              <a:gdLst/>
              <a:ahLst/>
              <a:cxnLst/>
              <a:rect r="r" b="b" t="t" l="l"/>
              <a:pathLst>
                <a:path h="58526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73526" r="0" b="-6471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3342427"/>
            <a:ext cx="16002000" cy="698283"/>
            <a:chOff x="0" y="0"/>
            <a:chExt cx="21336000" cy="931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31038"/>
            </a:xfrm>
            <a:custGeom>
              <a:avLst/>
              <a:gdLst/>
              <a:ahLst/>
              <a:cxnLst/>
              <a:rect r="r" b="b" t="t" l="l"/>
              <a:pathLst>
                <a:path h="93103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525" r="0" b="-3965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3600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4: Statistic for Analytics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" t="0" r="-1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7754" cy="585216"/>
            </a:xfrm>
            <a:custGeom>
              <a:avLst/>
              <a:gdLst/>
              <a:ahLst/>
              <a:cxnLst/>
              <a:rect r="r" b="b" t="t" l="l"/>
              <a:pathLst>
                <a:path h="585216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080" r="-1" b="-4509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805" cy="585267"/>
            </a:xfrm>
            <a:custGeom>
              <a:avLst/>
              <a:gdLst/>
              <a:ahLst/>
              <a:cxnLst/>
              <a:rect r="r" b="b" t="t" l="l"/>
              <a:pathLst>
                <a:path h="58526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143" r="0" b="-451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5 of 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1" r="0" b="-49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4011454"/>
            <a:ext cx="8756202" cy="343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5"/>
              </a:lnSpc>
            </a:pPr>
            <a:r>
              <a:rPr lang="en-US" sz="7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as Statistics Tutor and</a:t>
            </a:r>
          </a:p>
          <a:p>
            <a:pPr algn="l">
              <a:lnSpc>
                <a:spcPts val="8875"/>
              </a:lnSpc>
            </a:pPr>
            <a:r>
              <a:rPr lang="en-US" sz="71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Interpreter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0"/>
              <a:stretch>
                <a:fillRect l="-292" t="0" r="-292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49033" y="2071783"/>
            <a:ext cx="6714934" cy="6714934"/>
            <a:chOff x="0" y="0"/>
            <a:chExt cx="8953246" cy="895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3246" cy="8953246"/>
            </a:xfrm>
            <a:custGeom>
              <a:avLst/>
              <a:gdLst/>
              <a:ahLst/>
              <a:cxnLst/>
              <a:rect r="r" b="b" t="t" l="l"/>
              <a:pathLst>
                <a:path h="8953246" w="8953246">
                  <a:moveTo>
                    <a:pt x="254508" y="0"/>
                  </a:moveTo>
                  <a:lnTo>
                    <a:pt x="8698738" y="0"/>
                  </a:lnTo>
                  <a:cubicBezTo>
                    <a:pt x="8766302" y="0"/>
                    <a:pt x="8830945" y="26797"/>
                    <a:pt x="8878697" y="74549"/>
                  </a:cubicBezTo>
                  <a:cubicBezTo>
                    <a:pt x="8926449" y="122301"/>
                    <a:pt x="8953246" y="187071"/>
                    <a:pt x="8953246" y="254508"/>
                  </a:cubicBezTo>
                  <a:lnTo>
                    <a:pt x="8953246" y="8698738"/>
                  </a:lnTo>
                  <a:cubicBezTo>
                    <a:pt x="8953246" y="8839327"/>
                    <a:pt x="8839327" y="8953246"/>
                    <a:pt x="8698738" y="8953246"/>
                  </a:cubicBezTo>
                  <a:lnTo>
                    <a:pt x="254508" y="8953246"/>
                  </a:lnTo>
                  <a:cubicBezTo>
                    <a:pt x="113919" y="8953246"/>
                    <a:pt x="0" y="8839327"/>
                    <a:pt x="0" y="8698738"/>
                  </a:cubicBezTo>
                  <a:lnTo>
                    <a:pt x="0" y="254508"/>
                  </a:lnTo>
                  <a:cubicBezTo>
                    <a:pt x="0" y="113919"/>
                    <a:pt x="113919" y="0"/>
                    <a:pt x="25450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t="0" r="-3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59163" y="2995241"/>
            <a:ext cx="8780334" cy="471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By the end of this topic,  you can…</a:t>
            </a:r>
          </a:p>
          <a:p>
            <a:pPr algn="l">
              <a:lnSpc>
                <a:spcPts val="314"/>
              </a:lnSpc>
            </a:pP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</a:t>
            </a:r>
            <a:r>
              <a:rPr lang="en-US" sz="2300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Write structured prompts</a:t>
            </a: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asking an AI assistant to explain statistical output in clear, plain language.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</a:t>
            </a:r>
            <a:r>
              <a:rPr lang="en-US" sz="2300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Identify common ways </a:t>
            </a: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AI-generated interpretations overstate or misstate what analysis actually proves.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</a:t>
            </a:r>
            <a:r>
              <a:rPr lang="en-US" sz="2300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Verify AI interpretations </a:t>
            </a: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against your own manual calculations to catch critical errors before managers see them.</a:t>
            </a:r>
          </a:p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4- </a:t>
            </a:r>
            <a:r>
              <a:rPr lang="en-US" sz="2300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Rewrite flawed AI interpretation</a:t>
            </a:r>
            <a:r>
              <a:rPr lang="en-US" sz="2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 into accurate, robust, and business-ready executive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622" y="3428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771465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AI sounded so sure...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2611707"/>
            <a:ext cx="9806807" cy="5624294"/>
            <a:chOff x="0" y="0"/>
            <a:chExt cx="13075742" cy="7499059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3075793" cy="7499071"/>
            </a:xfrm>
            <a:custGeom>
              <a:avLst/>
              <a:gdLst/>
              <a:ahLst/>
              <a:cxnLst/>
              <a:rect r="r" b="b" t="t" l="l"/>
              <a:pathLst>
                <a:path h="7499071" w="13075793">
                  <a:moveTo>
                    <a:pt x="0" y="0"/>
                  </a:moveTo>
                  <a:lnTo>
                    <a:pt x="13075793" y="0"/>
                  </a:lnTo>
                  <a:lnTo>
                    <a:pt x="13075793" y="7499071"/>
                  </a:lnTo>
                  <a:lnTo>
                    <a:pt x="0" y="7499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858" t="0" r="-1985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71612" y="2940320"/>
            <a:ext cx="8720957" cy="125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 junior analyst at </a:t>
            </a: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Aduke Stores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pastes regression and hypothesis test results into an AI assistant and asks for a plain-language summary for the branch manager.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2562" y="4334246"/>
            <a:ext cx="8740007" cy="86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AI replies confidently with strong claims, precise numbers, a firm recommendation, and zero hedging.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2562" y="5339725"/>
            <a:ext cx="8740007" cy="75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junior analyst is tempted to copy it straight into an email because arguing with a confident answer feels awkward.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52525" y="3083195"/>
            <a:ext cx="271462" cy="242888"/>
            <a:chOff x="0" y="0"/>
            <a:chExt cx="361950" cy="3238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61950" cy="323850"/>
            </a:xfrm>
            <a:custGeom>
              <a:avLst/>
              <a:gdLst/>
              <a:ahLst/>
              <a:cxnLst/>
              <a:rect r="r" b="b" t="t" l="l"/>
              <a:pathLst>
                <a:path h="3238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941" r="0" b="-294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2525" y="5482600"/>
            <a:ext cx="242888" cy="242888"/>
            <a:chOff x="0" y="0"/>
            <a:chExt cx="323850" cy="3238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941" r="0" b="-29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525" y="4477121"/>
            <a:ext cx="242888" cy="242888"/>
            <a:chOff x="0" y="0"/>
            <a:chExt cx="323850" cy="3238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941" r="0" b="-294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52562" y="6309559"/>
            <a:ext cx="8740007" cy="151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problem: some of what it says is wrong, not because the AI is careless on purpose, but because confident, fluent language is not the same thing as a correct statistical interpretation. This topic trains you to catch the difference, every time.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49807" y="3899105"/>
            <a:ext cx="6538093" cy="3014662"/>
            <a:chOff x="0" y="0"/>
            <a:chExt cx="8717458" cy="401955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209550"/>
              <a:ext cx="8717458" cy="3810000"/>
              <a:chOff x="0" y="0"/>
              <a:chExt cx="8717458" cy="3810000"/>
            </a:xfrm>
          </p:grpSpPr>
          <p:sp>
            <p:nvSpPr>
              <p:cNvPr name="Freeform 25" id="25" descr="image.png"/>
              <p:cNvSpPr/>
              <p:nvPr/>
            </p:nvSpPr>
            <p:spPr>
              <a:xfrm flipH="false" flipV="false" rot="0">
                <a:off x="0" y="0"/>
                <a:ext cx="8717407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8717407">
                    <a:moveTo>
                      <a:pt x="0" y="0"/>
                    </a:moveTo>
                    <a:lnTo>
                      <a:pt x="8717407" y="0"/>
                    </a:lnTo>
                    <a:lnTo>
                      <a:pt x="8717407" y="3810000"/>
                    </a:lnTo>
                    <a:lnTo>
                      <a:pt x="0" y="3810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-206" r="0" b="-207"/>
                </a:stretch>
              </a:blip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476250" y="590550"/>
              <a:ext cx="7764958" cy="192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687" i="true">
                  <a:solidFill>
                    <a:srgbClr val="1E293B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"Our regression model proves conclusively that increasing ad spend directly causes sales to grow. Furthermore, the R² of 0.61 shows our predictions will be 61% accurate in all future quarters!"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41350" y="2771775"/>
              <a:ext cx="7599858" cy="77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DC2626"/>
                  </a:solidFill>
                  <a:latin typeface="Poppins"/>
                  <a:ea typeface="Poppins"/>
                  <a:cs typeface="Poppins"/>
                  <a:sym typeface="Poppins"/>
                </a:rPr>
                <a:t>Confident, fluent language is NOT the same thing as a correct statistical interpretation!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393700" y="2794889"/>
              <a:ext cx="247650" cy="247650"/>
              <a:chOff x="0" y="0"/>
              <a:chExt cx="247650" cy="247650"/>
            </a:xfrm>
          </p:grpSpPr>
          <p:sp>
            <p:nvSpPr>
              <p:cNvPr name="Freeform 29" id="29" descr="image.png"/>
              <p:cNvSpPr/>
              <p:nvPr/>
            </p:nvSpPr>
            <p:spPr>
              <a:xfrm flipH="false" flipV="false" rot="0">
                <a:off x="0" y="0"/>
                <a:ext cx="247650" cy="247650"/>
              </a:xfrm>
              <a:custGeom>
                <a:avLst/>
                <a:gdLst/>
                <a:ahLst/>
                <a:cxnLst/>
                <a:rect r="r" b="b" t="t" l="l"/>
                <a:pathLst>
                  <a:path h="247650" w="247650">
                    <a:moveTo>
                      <a:pt x="0" y="0"/>
                    </a:moveTo>
                    <a:lnTo>
                      <a:pt x="247650" y="0"/>
                    </a:lnTo>
                    <a:lnTo>
                      <a:pt x="247650" y="247650"/>
                    </a:lnTo>
                    <a:lnTo>
                      <a:pt x="0" y="2476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678858" y="0"/>
              <a:ext cx="3638550" cy="495300"/>
              <a:chOff x="0" y="0"/>
              <a:chExt cx="3638550" cy="495300"/>
            </a:xfrm>
          </p:grpSpPr>
          <p:sp>
            <p:nvSpPr>
              <p:cNvPr name="Freeform 31" id="31" descr="image.png"/>
              <p:cNvSpPr/>
              <p:nvPr/>
            </p:nvSpPr>
            <p:spPr>
              <a:xfrm flipH="false" flipV="false" rot="0">
                <a:off x="0" y="0"/>
                <a:ext cx="363855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3638550">
                    <a:moveTo>
                      <a:pt x="0" y="0"/>
                    </a:moveTo>
                    <a:lnTo>
                      <a:pt x="3638550" y="0"/>
                    </a:lnTo>
                    <a:lnTo>
                      <a:pt x="3638550" y="495300"/>
                    </a:lnTo>
                    <a:lnTo>
                      <a:pt x="0" y="49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-5094" r="0" b="-5097"/>
                </a:stretch>
              </a:blipFill>
            </p:spPr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Why use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AI for statistical interpretation at all?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2611707"/>
            <a:ext cx="8143875" cy="4629150"/>
            <a:chOff x="0" y="0"/>
            <a:chExt cx="10858500" cy="61722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0858500" cy="6172200"/>
            </a:xfrm>
            <a:custGeom>
              <a:avLst/>
              <a:gdLst/>
              <a:ahLst/>
              <a:cxnLst/>
              <a:rect r="r" b="b" t="t" l="l"/>
              <a:pathLst>
                <a:path h="61722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6172200"/>
                  </a:lnTo>
                  <a:lnTo>
                    <a:pt x="0" y="61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4" r="0" b="-15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44025" y="2611707"/>
            <a:ext cx="8143875" cy="4629150"/>
            <a:chOff x="0" y="0"/>
            <a:chExt cx="10858500" cy="61722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858500" cy="6172200"/>
            </a:xfrm>
            <a:custGeom>
              <a:avLst/>
              <a:gdLst/>
              <a:ahLst/>
              <a:cxnLst/>
              <a:rect r="r" b="b" t="t" l="l"/>
              <a:pathLst>
                <a:path h="61722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6172200"/>
                  </a:lnTo>
                  <a:lnTo>
                    <a:pt x="0" y="61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54" r="0" b="-15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5862" y="3126057"/>
            <a:ext cx="285750" cy="285750"/>
            <a:chOff x="0" y="0"/>
            <a:chExt cx="381000" cy="3810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14488" y="3054620"/>
            <a:ext cx="7290911" cy="428625"/>
            <a:chOff x="0" y="0"/>
            <a:chExt cx="9721215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21214" cy="571500"/>
            </a:xfrm>
            <a:custGeom>
              <a:avLst/>
              <a:gdLst/>
              <a:ahLst/>
              <a:cxnLst/>
              <a:rect r="r" b="b" t="t" l="l"/>
              <a:pathLst>
                <a:path h="571500" w="9721214">
                  <a:moveTo>
                    <a:pt x="0" y="0"/>
                  </a:moveTo>
                  <a:lnTo>
                    <a:pt x="9721214" y="0"/>
                  </a:lnTo>
                  <a:lnTo>
                    <a:pt x="972121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81440" r="0" b="-2814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72121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AI is genuinely useful for: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29788" y="3126057"/>
            <a:ext cx="285750" cy="285750"/>
            <a:chOff x="0" y="0"/>
            <a:chExt cx="381000" cy="381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500" r="0" b="-25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158412" y="3054620"/>
            <a:ext cx="7290911" cy="428625"/>
            <a:chOff x="0" y="0"/>
            <a:chExt cx="9721215" cy="57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21214" cy="571500"/>
            </a:xfrm>
            <a:custGeom>
              <a:avLst/>
              <a:gdLst/>
              <a:ahLst/>
              <a:cxnLst/>
              <a:rect r="r" b="b" t="t" l="l"/>
              <a:pathLst>
                <a:path h="571500" w="9721214">
                  <a:moveTo>
                    <a:pt x="0" y="0"/>
                  </a:moveTo>
                  <a:lnTo>
                    <a:pt x="9721214" y="0"/>
                  </a:lnTo>
                  <a:lnTo>
                    <a:pt x="972121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81440" r="0" b="-2814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72121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AI is NOT a substitute for: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8762" y="3635645"/>
            <a:ext cx="70294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Drafting a first-pass explanation: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Converts raw technical output into a plain-language draft in seconds.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8762" y="4521470"/>
            <a:ext cx="70294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Translating complex jargon: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Explains statistical findings clearly for non-technical branch managers who don't know R² or p-values.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8762" y="5750195"/>
            <a:ext cx="70294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Acting as a second pair of eyes: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Helps audit your own written interpretations to ensure key aspects were not missed.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72688" y="3635645"/>
            <a:ext cx="70294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Calculating the numbers first: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You must do the math yourself first (Topics 4.1–4.4 exist for this exact reason).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72688" y="4521470"/>
            <a:ext cx="70294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Deciding business meaning: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Context and strategic trade-offs require human domain expertise.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72688" y="5407295"/>
            <a:ext cx="70294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accountability: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You take full responsibility for any report sent under your name.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85862" y="3740420"/>
            <a:ext cx="114300" cy="185738"/>
            <a:chOff x="0" y="0"/>
            <a:chExt cx="152400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729788" y="3740420"/>
            <a:ext cx="114300" cy="185738"/>
            <a:chOff x="0" y="0"/>
            <a:chExt cx="152400" cy="2476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5862" y="4626245"/>
            <a:ext cx="114300" cy="185738"/>
            <a:chOff x="0" y="0"/>
            <a:chExt cx="152400" cy="2476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29788" y="4626245"/>
            <a:ext cx="114300" cy="185738"/>
            <a:chOff x="0" y="0"/>
            <a:chExt cx="152400" cy="2476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85862" y="5854970"/>
            <a:ext cx="114300" cy="185738"/>
            <a:chOff x="0" y="0"/>
            <a:chExt cx="15240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729788" y="5512070"/>
            <a:ext cx="114300" cy="185738"/>
            <a:chOff x="0" y="0"/>
            <a:chExt cx="152400" cy="2476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600497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Writing a good prompt for statistical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interpretation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0100" y="2592657"/>
            <a:ext cx="166878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 weak prompt pastes numbers and says "explain this." A reliable prompt supplies a </a:t>
            </a: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Role, Context, Data, and Constraints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0100" y="3340370"/>
            <a:ext cx="4000500" cy="2886075"/>
            <a:chOff x="0" y="0"/>
            <a:chExt cx="5334000" cy="3848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340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47" r="0" b="-24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00138" y="4207145"/>
            <a:ext cx="357044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Role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0138" y="4669107"/>
            <a:ext cx="34004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Who should the AI act as?</a:t>
            </a:r>
          </a:p>
          <a:p>
            <a:pPr algn="l">
              <a:lnSpc>
                <a:spcPts val="2362"/>
              </a:lnSpc>
            </a:pPr>
            <a:r>
              <a:rPr lang="en-US" sz="1575" i="true">
                <a:solidFill>
                  <a:srgbClr val="47556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Ex: "You are a data analyst assistant helping a branch manager."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00138" y="3683270"/>
            <a:ext cx="400050" cy="400050"/>
            <a:chOff x="0" y="0"/>
            <a:chExt cx="533400" cy="533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85" r="0" b="-178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29200" y="3340370"/>
            <a:ext cx="4000500" cy="2886075"/>
            <a:chOff x="0" y="0"/>
            <a:chExt cx="5334000" cy="38481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3340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47" r="0" b="-24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29238" y="3683270"/>
            <a:ext cx="400050" cy="400050"/>
            <a:chOff x="0" y="0"/>
            <a:chExt cx="53340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785" r="0" b="-178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329238" y="4207145"/>
            <a:ext cx="357044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29238" y="4669107"/>
            <a:ext cx="34004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What is the business situation?</a:t>
            </a:r>
          </a:p>
          <a:p>
            <a:pPr algn="l">
              <a:lnSpc>
                <a:spcPts val="2362"/>
              </a:lnSpc>
            </a:pPr>
            <a:r>
              <a:rPr lang="en-US" sz="1575" i="true">
                <a:solidFill>
                  <a:srgbClr val="47556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Ex: "Explain what was tested, why, and what business problem it addresses."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8300" y="3340370"/>
            <a:ext cx="4000500" cy="2886075"/>
            <a:chOff x="0" y="0"/>
            <a:chExt cx="5334000" cy="38481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340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47" r="0" b="-24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58338" y="3683270"/>
            <a:ext cx="400050" cy="400050"/>
            <a:chOff x="0" y="0"/>
            <a:chExt cx="533400" cy="533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85" r="0" b="-178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58338" y="4207145"/>
            <a:ext cx="357044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58338" y="4669107"/>
            <a:ext cx="34004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Supply accurate numbers.</a:t>
            </a:r>
          </a:p>
          <a:p>
            <a:pPr algn="l">
              <a:lnSpc>
                <a:spcPts val="2362"/>
              </a:lnSpc>
            </a:pPr>
            <a:r>
              <a:rPr lang="en-US" sz="1575" i="true">
                <a:solidFill>
                  <a:srgbClr val="47556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Ex: Input figures calculated and verified by you first—never invented by AI.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487400" y="3340370"/>
            <a:ext cx="4000500" cy="2886075"/>
            <a:chOff x="0" y="0"/>
            <a:chExt cx="5334000" cy="38481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53340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47" r="0" b="-24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87438" y="3683270"/>
            <a:ext cx="400050" cy="400050"/>
            <a:chOff x="0" y="0"/>
            <a:chExt cx="533400" cy="5334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785" r="0" b="-1785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787438" y="4207145"/>
            <a:ext cx="357044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Constraints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87438" y="4669107"/>
            <a:ext cx="34004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Set strict rules.</a:t>
            </a:r>
          </a:p>
          <a:p>
            <a:pPr algn="l">
              <a:lnSpc>
                <a:spcPts val="2362"/>
              </a:lnSpc>
            </a:pPr>
            <a:r>
              <a:rPr lang="en-US" sz="1575" i="true">
                <a:solidFill>
                  <a:srgbClr val="47556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Ex: "Under 150 words, explain jargon, and do not claim causation without proof."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57338" y="6733651"/>
            <a:ext cx="15401925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Why this matters: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A vague prompt invites an overconfident or hallucinated answer. A specific prompt with constraints forces accurate bounds.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00138" y="6755082"/>
            <a:ext cx="257175" cy="342900"/>
            <a:chOff x="0" y="0"/>
            <a:chExt cx="342900" cy="4572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083" r="0" b="-208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42354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Four ways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AI commonly gets statistics wrong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3241810"/>
            <a:ext cx="8272462" cy="1657350"/>
            <a:chOff x="0" y="0"/>
            <a:chExt cx="11029950" cy="22098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953750" cy="2209800"/>
              <a:chOff x="0" y="0"/>
              <a:chExt cx="10953750" cy="2209800"/>
            </a:xfrm>
          </p:grpSpPr>
          <p:sp>
            <p:nvSpPr>
              <p:cNvPr name="Freeform 13" id="13" descr="image.png"/>
              <p:cNvSpPr/>
              <p:nvPr/>
            </p:nvSpPr>
            <p:spPr>
              <a:xfrm flipH="false" flipV="false" rot="0">
                <a:off x="0" y="0"/>
                <a:ext cx="10953750" cy="2209800"/>
              </a:xfrm>
              <a:custGeom>
                <a:avLst/>
                <a:gdLst/>
                <a:ahLst/>
                <a:cxnLst/>
                <a:rect r="r" b="b" t="t" l="l"/>
                <a:pathLst>
                  <a:path h="2209800" w="10953750">
                    <a:moveTo>
                      <a:pt x="0" y="0"/>
                    </a:moveTo>
                    <a:lnTo>
                      <a:pt x="10953750" y="0"/>
                    </a:lnTo>
                    <a:lnTo>
                      <a:pt x="10953750" y="2209800"/>
                    </a:lnTo>
                    <a:lnTo>
                      <a:pt x="0" y="2209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431" r="0" b="-431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028700" y="400050"/>
              <a:ext cx="10001250" cy="495300"/>
              <a:chOff x="0" y="0"/>
              <a:chExt cx="10001250" cy="4953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00125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10001250">
                    <a:moveTo>
                      <a:pt x="0" y="0"/>
                    </a:moveTo>
                    <a:lnTo>
                      <a:pt x="10001250" y="0"/>
                    </a:lnTo>
                    <a:lnTo>
                      <a:pt x="10001250" y="495300"/>
                    </a:lnTo>
                    <a:lnTo>
                      <a:pt x="0" y="495300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343447" r="0" b="-34344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10001250" cy="504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95"/>
                  </a:lnSpc>
                </a:pPr>
                <a:r>
                  <a:rPr lang="en-US" sz="1912">
                    <a:solidFill>
                      <a:srgbClr val="DC262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1. Overstating Causation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76250" y="952500"/>
              <a:ext cx="10077450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Turning "these move together" into "this proves X causes Y". Correlation and regression describe association, never proof of cause on their own.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476250" y="485775"/>
              <a:ext cx="400050" cy="323850"/>
              <a:chOff x="0" y="0"/>
              <a:chExt cx="400050" cy="32385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400050" cy="323850"/>
              </a:xfrm>
              <a:custGeom>
                <a:avLst/>
                <a:gdLst/>
                <a:ahLst/>
                <a:cxnLst/>
                <a:rect r="r" b="b" t="t" l="l"/>
                <a:pathLst>
                  <a:path h="323850" w="400050">
                    <a:moveTo>
                      <a:pt x="0" y="0"/>
                    </a:moveTo>
                    <a:lnTo>
                      <a:pt x="400050" y="0"/>
                    </a:lnTo>
                    <a:lnTo>
                      <a:pt x="400050" y="323850"/>
                    </a:lnTo>
                    <a:lnTo>
                      <a:pt x="0" y="323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-2941" r="0" b="-2941"/>
                </a:stretch>
              </a:blipFill>
            </p:spPr>
          </p:sp>
        </p:grpSp>
      </p:grpSp>
      <p:grpSp>
        <p:nvGrpSpPr>
          <p:cNvPr name="Group 20" id="20"/>
          <p:cNvGrpSpPr/>
          <p:nvPr/>
        </p:nvGrpSpPr>
        <p:grpSpPr>
          <a:xfrm rot="0">
            <a:off x="9272588" y="3241810"/>
            <a:ext cx="8278178" cy="1657350"/>
            <a:chOff x="0" y="0"/>
            <a:chExt cx="11037570" cy="22098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953750" cy="2209800"/>
              <a:chOff x="0" y="0"/>
              <a:chExt cx="10953750" cy="2209800"/>
            </a:xfrm>
          </p:grpSpPr>
          <p:sp>
            <p:nvSpPr>
              <p:cNvPr name="Freeform 22" id="22" descr="image.png"/>
              <p:cNvSpPr/>
              <p:nvPr/>
            </p:nvSpPr>
            <p:spPr>
              <a:xfrm flipH="false" flipV="false" rot="0">
                <a:off x="0" y="0"/>
                <a:ext cx="10953750" cy="2209800"/>
              </a:xfrm>
              <a:custGeom>
                <a:avLst/>
                <a:gdLst/>
                <a:ahLst/>
                <a:cxnLst/>
                <a:rect r="r" b="b" t="t" l="l"/>
                <a:pathLst>
                  <a:path h="2209800" w="10953750">
                    <a:moveTo>
                      <a:pt x="0" y="0"/>
                    </a:moveTo>
                    <a:lnTo>
                      <a:pt x="10953750" y="0"/>
                    </a:lnTo>
                    <a:lnTo>
                      <a:pt x="10953750" y="2209800"/>
                    </a:lnTo>
                    <a:lnTo>
                      <a:pt x="0" y="2209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431" r="0" b="-431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76300" y="400050"/>
              <a:ext cx="10161270" cy="495300"/>
              <a:chOff x="0" y="0"/>
              <a:chExt cx="10161270" cy="4953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16127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10161270">
                    <a:moveTo>
                      <a:pt x="0" y="0"/>
                    </a:moveTo>
                    <a:lnTo>
                      <a:pt x="10161270" y="0"/>
                    </a:lnTo>
                    <a:lnTo>
                      <a:pt x="10161270" y="495300"/>
                    </a:lnTo>
                    <a:lnTo>
                      <a:pt x="0" y="495300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349743" r="0" b="-349743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0161270" cy="504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95"/>
                  </a:lnSpc>
                </a:pPr>
                <a:r>
                  <a:rPr lang="en-US" sz="1912">
                    <a:solidFill>
                      <a:srgbClr val="DC262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2. Misreading p-values or R²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76250" y="485775"/>
              <a:ext cx="247650" cy="323850"/>
              <a:chOff x="0" y="0"/>
              <a:chExt cx="247650" cy="323850"/>
            </a:xfrm>
          </p:grpSpPr>
          <p:sp>
            <p:nvSpPr>
              <p:cNvPr name="Freeform 27" id="27" descr="image.png"/>
              <p:cNvSpPr/>
              <p:nvPr/>
            </p:nvSpPr>
            <p:spPr>
              <a:xfrm flipH="false" flipV="false" rot="0">
                <a:off x="0" y="0"/>
                <a:ext cx="247650" cy="323850"/>
              </a:xfrm>
              <a:custGeom>
                <a:avLst/>
                <a:gdLst/>
                <a:ahLst/>
                <a:cxnLst/>
                <a:rect r="r" b="b" t="t" l="l"/>
                <a:pathLst>
                  <a:path h="323850" w="247650">
                    <a:moveTo>
                      <a:pt x="0" y="0"/>
                    </a:moveTo>
                    <a:lnTo>
                      <a:pt x="247650" y="0"/>
                    </a:lnTo>
                    <a:lnTo>
                      <a:pt x="247650" y="323850"/>
                    </a:lnTo>
                    <a:lnTo>
                      <a:pt x="0" y="323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-2941" r="0" b="-2941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476250" y="952500"/>
              <a:ext cx="10077450" cy="1158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Saying a p-value is "the probability the result is due to chance being wrong", or that R² means the model is "correct X% of the time" (not what R² measures at all).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0100" y="5153025"/>
            <a:ext cx="8275320" cy="1657350"/>
            <a:chOff x="0" y="0"/>
            <a:chExt cx="11033760" cy="22098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953750" cy="2209800"/>
              <a:chOff x="0" y="0"/>
              <a:chExt cx="10953750" cy="2209800"/>
            </a:xfrm>
          </p:grpSpPr>
          <p:sp>
            <p:nvSpPr>
              <p:cNvPr name="Freeform 31" id="31" descr="image.png"/>
              <p:cNvSpPr/>
              <p:nvPr/>
            </p:nvSpPr>
            <p:spPr>
              <a:xfrm flipH="false" flipV="false" rot="0">
                <a:off x="0" y="0"/>
                <a:ext cx="10953750" cy="2209800"/>
              </a:xfrm>
              <a:custGeom>
                <a:avLst/>
                <a:gdLst/>
                <a:ahLst/>
                <a:cxnLst/>
                <a:rect r="r" b="b" t="t" l="l"/>
                <a:pathLst>
                  <a:path h="2209800" w="10953750">
                    <a:moveTo>
                      <a:pt x="0" y="0"/>
                    </a:moveTo>
                    <a:lnTo>
                      <a:pt x="10953750" y="0"/>
                    </a:lnTo>
                    <a:lnTo>
                      <a:pt x="10953750" y="2209800"/>
                    </a:lnTo>
                    <a:lnTo>
                      <a:pt x="0" y="2209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431" r="0" b="-431"/>
                </a:stretch>
              </a:blip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952500" y="400050"/>
              <a:ext cx="10081260" cy="495300"/>
              <a:chOff x="0" y="0"/>
              <a:chExt cx="10081260" cy="4953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08126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10081260">
                    <a:moveTo>
                      <a:pt x="0" y="0"/>
                    </a:moveTo>
                    <a:lnTo>
                      <a:pt x="10081260" y="0"/>
                    </a:lnTo>
                    <a:lnTo>
                      <a:pt x="10081260" y="495300"/>
                    </a:lnTo>
                    <a:lnTo>
                      <a:pt x="0" y="495300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346595" r="0" b="-346595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10081260" cy="504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95"/>
                  </a:lnSpc>
                </a:pPr>
                <a:r>
                  <a:rPr lang="en-US" sz="1912">
                    <a:solidFill>
                      <a:srgbClr val="DC262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3. Ignoring Data Limits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76250" y="952500"/>
              <a:ext cx="10077450" cy="857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Making confident predictions far outside the range actually tested (extrapolation), or treating small/noisy samples as absolute certainty.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476250" y="485775"/>
              <a:ext cx="323850" cy="323850"/>
              <a:chOff x="0" y="0"/>
              <a:chExt cx="323850" cy="323850"/>
            </a:xfrm>
          </p:grpSpPr>
          <p:sp>
            <p:nvSpPr>
              <p:cNvPr name="Freeform 37" id="37" descr="image.png"/>
              <p:cNvSpPr/>
              <p:nvPr/>
            </p:nvSpPr>
            <p:spPr>
              <a:xfrm flipH="false" flipV="false" rot="0">
                <a:off x="0" y="0"/>
                <a:ext cx="323850" cy="323850"/>
              </a:xfrm>
              <a:custGeom>
                <a:avLst/>
                <a:gdLst/>
                <a:ahLst/>
                <a:cxnLst/>
                <a:rect r="r" b="b" t="t" l="l"/>
                <a:pathLst>
                  <a:path h="323850" w="323850">
                    <a:moveTo>
                      <a:pt x="0" y="0"/>
                    </a:moveTo>
                    <a:lnTo>
                      <a:pt x="323850" y="0"/>
                    </a:lnTo>
                    <a:lnTo>
                      <a:pt x="323850" y="323850"/>
                    </a:lnTo>
                    <a:lnTo>
                      <a:pt x="0" y="323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-2941" r="0" b="-2941"/>
                </a:stretch>
              </a:blipFill>
            </p:spPr>
          </p:sp>
        </p:grpSp>
      </p:grpSp>
      <p:grpSp>
        <p:nvGrpSpPr>
          <p:cNvPr name="Group 38" id="38"/>
          <p:cNvGrpSpPr/>
          <p:nvPr/>
        </p:nvGrpSpPr>
        <p:grpSpPr>
          <a:xfrm rot="0">
            <a:off x="9272588" y="5153025"/>
            <a:ext cx="8272462" cy="1657350"/>
            <a:chOff x="0" y="0"/>
            <a:chExt cx="11029950" cy="22098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953750" cy="2209800"/>
              <a:chOff x="0" y="0"/>
              <a:chExt cx="10953750" cy="2209800"/>
            </a:xfrm>
          </p:grpSpPr>
          <p:sp>
            <p:nvSpPr>
              <p:cNvPr name="Freeform 40" id="40" descr="image.png"/>
              <p:cNvSpPr/>
              <p:nvPr/>
            </p:nvSpPr>
            <p:spPr>
              <a:xfrm flipH="false" flipV="false" rot="0">
                <a:off x="0" y="0"/>
                <a:ext cx="10953750" cy="2209800"/>
              </a:xfrm>
              <a:custGeom>
                <a:avLst/>
                <a:gdLst/>
                <a:ahLst/>
                <a:cxnLst/>
                <a:rect r="r" b="b" t="t" l="l"/>
                <a:pathLst>
                  <a:path h="2209800" w="10953750">
                    <a:moveTo>
                      <a:pt x="0" y="0"/>
                    </a:moveTo>
                    <a:lnTo>
                      <a:pt x="10953750" y="0"/>
                    </a:lnTo>
                    <a:lnTo>
                      <a:pt x="10953750" y="2209800"/>
                    </a:lnTo>
                    <a:lnTo>
                      <a:pt x="0" y="2209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431" r="0" b="-431"/>
                </a:stretch>
              </a:blip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28700" y="400050"/>
              <a:ext cx="10001250" cy="495300"/>
              <a:chOff x="0" y="0"/>
              <a:chExt cx="10001250" cy="4953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00125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10001250">
                    <a:moveTo>
                      <a:pt x="0" y="0"/>
                    </a:moveTo>
                    <a:lnTo>
                      <a:pt x="10001250" y="0"/>
                    </a:lnTo>
                    <a:lnTo>
                      <a:pt x="10001250" y="495300"/>
                    </a:lnTo>
                    <a:lnTo>
                      <a:pt x="0" y="495300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343447" r="0" b="-343447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9525"/>
                <a:ext cx="10001250" cy="504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95"/>
                  </a:lnSpc>
                </a:pPr>
                <a:r>
                  <a:rPr lang="en-US" sz="1912">
                    <a:solidFill>
                      <a:srgbClr val="DC262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4. Confusing Significance &amp; Importance</a:t>
                </a: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476250" y="952500"/>
              <a:ext cx="10077450" cy="857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Treating "p &lt; 0.05" as automatic permission to act, without checking whether the actual size of the effect is large enough to matter financially.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476250" y="485775"/>
              <a:ext cx="400050" cy="323850"/>
              <a:chOff x="0" y="0"/>
              <a:chExt cx="400050" cy="323850"/>
            </a:xfrm>
          </p:grpSpPr>
          <p:sp>
            <p:nvSpPr>
              <p:cNvPr name="Freeform 46" id="46" descr="image.png"/>
              <p:cNvSpPr/>
              <p:nvPr/>
            </p:nvSpPr>
            <p:spPr>
              <a:xfrm flipH="false" flipV="false" rot="0">
                <a:off x="0" y="0"/>
                <a:ext cx="400050" cy="323850"/>
              </a:xfrm>
              <a:custGeom>
                <a:avLst/>
                <a:gdLst/>
                <a:ahLst/>
                <a:cxnLst/>
                <a:rect r="r" b="b" t="t" l="l"/>
                <a:pathLst>
                  <a:path h="323850" w="400050">
                    <a:moveTo>
                      <a:pt x="0" y="0"/>
                    </a:moveTo>
                    <a:lnTo>
                      <a:pt x="400050" y="0"/>
                    </a:lnTo>
                    <a:lnTo>
                      <a:pt x="400050" y="323850"/>
                    </a:lnTo>
                    <a:lnTo>
                      <a:pt x="0" y="323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-2941" r="0" b="-2941"/>
                </a:stretch>
              </a:blipFill>
            </p:spPr>
          </p:sp>
        </p:grpSp>
      </p:grpSp>
      <p:sp>
        <p:nvSpPr>
          <p:cNvPr name="TextBox 47" id="47"/>
          <p:cNvSpPr txBox="true"/>
          <p:nvPr/>
        </p:nvSpPr>
        <p:spPr>
          <a:xfrm rot="0">
            <a:off x="800100" y="2592657"/>
            <a:ext cx="166878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ese are not rare glitches. They are common, predictable fai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tt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erns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wor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checki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 every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sin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gle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ime.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05064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verification checklist for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AI-assisted interpretation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00138" y="2230540"/>
            <a:ext cx="166878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efore sending any AI-drafted interpretation to anyone, run it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rough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his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checklist, every t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ime, no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excep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9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ions: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0138" y="2826020"/>
            <a:ext cx="10858500" cy="665712"/>
            <a:chOff x="0" y="0"/>
            <a:chExt cx="14478000" cy="88761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38100"/>
              <a:ext cx="342900" cy="381000"/>
              <a:chOff x="0" y="0"/>
              <a:chExt cx="342900" cy="381000"/>
            </a:xfrm>
          </p:grpSpPr>
          <p:sp>
            <p:nvSpPr>
              <p:cNvPr name="Freeform 14" id="14" descr="image.png"/>
              <p:cNvSpPr/>
              <p:nvPr/>
            </p:nvSpPr>
            <p:spPr>
              <a:xfrm flipH="false" flipV="false" rot="0">
                <a:off x="0" y="0"/>
                <a:ext cx="3429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647700" y="-19050"/>
              <a:ext cx="138303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1. Do the numbers match?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47700" y="466725"/>
              <a:ext cx="13830300" cy="420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Compare every figure stated by the AI against your own calculations. Never trust an unverified number.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0138" y="4091807"/>
            <a:ext cx="10944225" cy="665712"/>
            <a:chOff x="0" y="0"/>
            <a:chExt cx="14592300" cy="8876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38100"/>
              <a:ext cx="342900" cy="381000"/>
              <a:chOff x="0" y="0"/>
              <a:chExt cx="342900" cy="38100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3429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647700" y="-19050"/>
              <a:ext cx="139446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2. Is causal language justified?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47700" y="466725"/>
              <a:ext cx="13944600" cy="420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Flag words like "proves," "causes," or "guarantees" unless supported by controlled experimental evidence.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00138" y="5357593"/>
            <a:ext cx="8729662" cy="665712"/>
            <a:chOff x="0" y="0"/>
            <a:chExt cx="11639550" cy="88761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38100"/>
              <a:ext cx="342900" cy="381000"/>
              <a:chOff x="0" y="0"/>
              <a:chExt cx="342900" cy="381000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3429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647700" y="-19050"/>
              <a:ext cx="109918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3. Are the data's limits respected?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47700" y="466725"/>
              <a:ext cx="10991850" cy="420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Check for predictions or claims that extrapolate beyond the tested range of data.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0138" y="6623371"/>
            <a:ext cx="8701088" cy="621982"/>
            <a:chOff x="0" y="0"/>
            <a:chExt cx="11601450" cy="82931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38100"/>
              <a:ext cx="342900" cy="381000"/>
              <a:chOff x="0" y="0"/>
              <a:chExt cx="342900" cy="381000"/>
            </a:xfrm>
          </p:grpSpPr>
          <p:sp>
            <p:nvSpPr>
              <p:cNvPr name="Freeform 29" id="29" descr="image.png"/>
              <p:cNvSpPr/>
              <p:nvPr/>
            </p:nvSpPr>
            <p:spPr>
              <a:xfrm flipH="false" flipV="false" rot="0">
                <a:off x="0" y="0"/>
                <a:ext cx="3429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647700" y="-19050"/>
              <a:ext cx="109537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4. Is statistical significance kept separate from business importance?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47700" y="466725"/>
              <a:ext cx="10953750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Ch</a:t>
              </a:r>
              <a:r>
                <a:rPr lang="en-US" sz="157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eck that a recommendation is not based on the p-value alone.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0138" y="7889157"/>
            <a:ext cx="9429750" cy="665712"/>
            <a:chOff x="0" y="0"/>
            <a:chExt cx="12573000" cy="887616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38100"/>
              <a:ext cx="342900" cy="381000"/>
              <a:chOff x="0" y="0"/>
              <a:chExt cx="342900" cy="381000"/>
            </a:xfrm>
          </p:grpSpPr>
          <p:sp>
            <p:nvSpPr>
              <p:cNvPr name="Freeform 34" id="34" descr="image.png"/>
              <p:cNvSpPr/>
              <p:nvPr/>
            </p:nvSpPr>
            <p:spPr>
              <a:xfrm flipH="false" flipV="false" rot="0">
                <a:off x="0" y="0"/>
                <a:ext cx="3429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647700" y="-19050"/>
              <a:ext cx="119253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5. Is anything important missing?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47700" y="466725"/>
              <a:ext cx="11925300" cy="420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Watch for omission errors—such as ignoring confounding variables or sample boundaries.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45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Catching errors: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Ikeja's regression &amp; checkout pilot results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2611707"/>
            <a:ext cx="16687800" cy="1000125"/>
            <a:chOff x="0" y="0"/>
            <a:chExt cx="22250400" cy="13335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222504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14" r="0" b="-71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1562" y="2816495"/>
            <a:ext cx="1443038" cy="28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Prompt Input: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0100" y="3840432"/>
            <a:ext cx="16687800" cy="4491628"/>
            <a:chOff x="0" y="0"/>
            <a:chExt cx="22250400" cy="5988837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250400" cy="5988812"/>
            </a:xfrm>
            <a:custGeom>
              <a:avLst/>
              <a:gdLst/>
              <a:ahLst/>
              <a:cxnLst/>
              <a:rect r="r" b="b" t="t" l="l"/>
              <a:pathLst>
                <a:path h="5988812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5988812"/>
                  </a:lnTo>
                  <a:lnTo>
                    <a:pt x="0" y="5988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58" r="0" b="-25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0188" y="4169045"/>
            <a:ext cx="16442055" cy="385762"/>
            <a:chOff x="0" y="0"/>
            <a:chExt cx="21922740" cy="514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22739" cy="514350"/>
            </a:xfrm>
            <a:custGeom>
              <a:avLst/>
              <a:gdLst/>
              <a:ahLst/>
              <a:cxnLst/>
              <a:rect r="r" b="b" t="t" l="l"/>
              <a:pathLst>
                <a:path h="514350" w="21922739">
                  <a:moveTo>
                    <a:pt x="0" y="0"/>
                  </a:moveTo>
                  <a:lnTo>
                    <a:pt x="21922739" y="0"/>
                  </a:lnTo>
                  <a:lnTo>
                    <a:pt x="21922739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780495" r="0" b="-7804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92274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DC2626"/>
                  </a:solidFill>
                  <a:latin typeface="Poppins"/>
                  <a:ea typeface="Poppins"/>
                  <a:cs typeface="Poppins"/>
                  <a:sym typeface="Poppins"/>
                </a:rPr>
                <a:t>Fabricated AI Response (With Planted Mistakes)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8712" y="4233339"/>
            <a:ext cx="257175" cy="257175"/>
            <a:chOff x="0" y="0"/>
            <a:chExt cx="342900" cy="3429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777" r="0" b="-277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28712" y="4659582"/>
            <a:ext cx="16030575" cy="60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"The data </a:t>
            </a:r>
            <a:r>
              <a:rPr lang="en-US" sz="1575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proves conclusively that spend causes sales</a:t>
            </a:r>
            <a:r>
              <a:rPr lang="en-US" sz="1575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. The R² value means our model is </a:t>
            </a:r>
            <a:r>
              <a:rPr lang="en-US" sz="1575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correct 61% of the time</a:t>
            </a:r>
            <a:r>
              <a:rPr lang="en-US" sz="1575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. If we increase spend to ₦150,000, sales will reach ₦691,991. Furthermore, the checkout pilot p-value shows </a:t>
            </a:r>
            <a:r>
              <a:rPr lang="en-US" sz="1575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99.97% certainty that the checkout lane caused the sales increase</a:t>
            </a:r>
            <a:r>
              <a:rPr lang="en-US" sz="1575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8712" y="5603157"/>
            <a:ext cx="16030575" cy="514350"/>
            <a:chOff x="0" y="0"/>
            <a:chExt cx="213741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1374100" cy="685800"/>
            </a:xfrm>
            <a:custGeom>
              <a:avLst/>
              <a:gdLst/>
              <a:ahLst/>
              <a:cxnLst/>
              <a:rect r="r" b="b" t="t" l="l"/>
              <a:pathLst>
                <a:path h="685800" w="21374100">
                  <a:moveTo>
                    <a:pt x="0" y="0"/>
                  </a:moveTo>
                  <a:lnTo>
                    <a:pt x="21374100" y="0"/>
                  </a:lnTo>
                  <a:lnTo>
                    <a:pt x="213741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298" r="0" b="-129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28712" y="6231807"/>
            <a:ext cx="16030575" cy="514350"/>
            <a:chOff x="0" y="0"/>
            <a:chExt cx="213741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1374100" cy="685800"/>
            </a:xfrm>
            <a:custGeom>
              <a:avLst/>
              <a:gdLst/>
              <a:ahLst/>
              <a:cxnLst/>
              <a:rect r="r" b="b" t="t" l="l"/>
              <a:pathLst>
                <a:path h="685800" w="21374100">
                  <a:moveTo>
                    <a:pt x="0" y="0"/>
                  </a:moveTo>
                  <a:lnTo>
                    <a:pt x="21374100" y="0"/>
                  </a:lnTo>
                  <a:lnTo>
                    <a:pt x="213741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298" r="0" b="-129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8712" y="6860457"/>
            <a:ext cx="16030575" cy="514350"/>
            <a:chOff x="0" y="0"/>
            <a:chExt cx="21374100" cy="685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1374100" cy="685800"/>
            </a:xfrm>
            <a:custGeom>
              <a:avLst/>
              <a:gdLst/>
              <a:ahLst/>
              <a:cxnLst/>
              <a:rect r="r" b="b" t="t" l="l"/>
              <a:pathLst>
                <a:path h="685800" w="21374100">
                  <a:moveTo>
                    <a:pt x="0" y="0"/>
                  </a:moveTo>
                  <a:lnTo>
                    <a:pt x="21374100" y="0"/>
                  </a:lnTo>
                  <a:lnTo>
                    <a:pt x="213741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298" r="0" b="-129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8712" y="7489107"/>
            <a:ext cx="16030575" cy="514350"/>
            <a:chOff x="0" y="0"/>
            <a:chExt cx="21374100" cy="6858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21374100" cy="685800"/>
            </a:xfrm>
            <a:custGeom>
              <a:avLst/>
              <a:gdLst/>
              <a:ahLst/>
              <a:cxnLst/>
              <a:rect r="r" b="b" t="t" l="l"/>
              <a:pathLst>
                <a:path h="685800" w="21374100">
                  <a:moveTo>
                    <a:pt x="0" y="0"/>
                  </a:moveTo>
                  <a:lnTo>
                    <a:pt x="21374100" y="0"/>
                  </a:lnTo>
                  <a:lnTo>
                    <a:pt x="213741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298" r="0" b="-129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507480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Auditing &amp; rewriting into business-ready quality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2611707"/>
            <a:ext cx="16687800" cy="7046643"/>
            <a:chOff x="0" y="0"/>
            <a:chExt cx="22250400" cy="9395524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22250400" cy="9395460"/>
            </a:xfrm>
            <a:custGeom>
              <a:avLst/>
              <a:gdLst/>
              <a:ahLst/>
              <a:cxnLst/>
              <a:rect r="r" b="b" t="t" l="l"/>
              <a:pathLst>
                <a:path h="939546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9395460"/>
                  </a:lnTo>
                  <a:lnTo>
                    <a:pt x="0" y="9395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0" r="0" b="-8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14488" y="3766766"/>
            <a:ext cx="16202025" cy="385762"/>
            <a:chOff x="0" y="0"/>
            <a:chExt cx="21602700" cy="514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02700" cy="514350"/>
            </a:xfrm>
            <a:custGeom>
              <a:avLst/>
              <a:gdLst/>
              <a:ahLst/>
              <a:cxnLst/>
              <a:rect r="r" b="b" t="t" l="l"/>
              <a:pathLst>
                <a:path h="514350" w="21602700">
                  <a:moveTo>
                    <a:pt x="0" y="0"/>
                  </a:moveTo>
                  <a:lnTo>
                    <a:pt x="21602700" y="0"/>
                  </a:lnTo>
                  <a:lnTo>
                    <a:pt x="2160270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68371" r="0" b="-7683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6027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6A34A"/>
                  </a:solidFill>
                  <a:latin typeface="Poppins"/>
                  <a:ea typeface="Poppins"/>
                  <a:cs typeface="Poppins"/>
                  <a:sym typeface="Poppins"/>
                </a:rPr>
                <a:t>Rewritten, Business-Ready Interpretation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3012" y="3831060"/>
            <a:ext cx="257175" cy="257175"/>
            <a:chOff x="0" y="0"/>
            <a:chExt cx="342900" cy="342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777" r="0" b="-2777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3012" y="4238254"/>
            <a:ext cx="15801975" cy="319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"Spend and sales are strongly associated (R² = 0.61 means spend explains about 61% of the variation in sales); however, </a:t>
            </a: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this does not prove spend directly causes the increase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058"/>
              </a:lnSpc>
            </a:pPr>
          </a:p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This model is reliable strictly within the tested range of </a:t>
            </a: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₦8,584 to ₦69,535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, and should not be used to predict higher spend levels.</a:t>
            </a:r>
          </a:p>
          <a:p>
            <a:pPr algn="l">
              <a:lnSpc>
                <a:spcPts val="3058"/>
              </a:lnSpc>
            </a:pPr>
          </a:p>
          <a:p>
            <a:pPr algn="l">
              <a:lnSpc>
                <a:spcPts val="305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The checkout lane result (p = 0.0003) is very unlikely to be due to random chance, but </a:t>
            </a: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this alone does not prove the lane design itself was the sole cause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3012" y="7831560"/>
            <a:ext cx="15801975" cy="671512"/>
            <a:chOff x="0" y="0"/>
            <a:chExt cx="21069300" cy="8953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1069300" cy="895350"/>
            </a:xfrm>
            <a:custGeom>
              <a:avLst/>
              <a:gdLst/>
              <a:ahLst/>
              <a:cxnLst/>
              <a:rect r="r" b="b" t="t" l="l"/>
              <a:pathLst>
                <a:path h="895350" w="21069300">
                  <a:moveTo>
                    <a:pt x="0" y="0"/>
                  </a:moveTo>
                  <a:lnTo>
                    <a:pt x="21069300" y="0"/>
                  </a:lnTo>
                  <a:lnTo>
                    <a:pt x="21069300" y="895350"/>
                  </a:lnTo>
                  <a:lnTo>
                    <a:pt x="0" y="895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971" r="0" b="-97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45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Your turn: audit the sachet water &amp; generator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fuel claim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2592657"/>
            <a:ext cx="166878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In pairs, open the </a:t>
            </a:r>
            <a:r>
              <a:rPr lang="en-US" sz="18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"AI Response - SemiGuided"</a:t>
            </a: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sheet in the lab pack (Topic 4.2 data).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00100" y="3197498"/>
          <a:ext cx="16459200" cy="3048000"/>
        </p:xfrm>
        <a:graphic>
          <a:graphicData uri="http://schemas.openxmlformats.org/drawingml/2006/table">
            <a:tbl>
              <a:tblPr/>
              <a:tblGrid>
                <a:gridCol w="4994836"/>
                <a:gridCol w="11464364"/>
              </a:tblGrid>
              <a:tr h="761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Task Step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Action Required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3"/>
                    </a:solidFill>
                  </a:tcPr>
                </a:tc>
              </a:tr>
              <a:tr h="761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A1A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1. Audit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0A1A2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Using the 5-point checklist, find every error or missing caveat in the AI text.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9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A1A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2. Identify Omissions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0A1A2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Watch for missing context (e.g., failure to mention confounding variables like heatwave/power outage).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A1A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3. Rewrite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0A1A2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Write a corrected version that is accurate and business-ready.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800100" y="6540770"/>
            <a:ext cx="16687800" cy="871538"/>
            <a:chOff x="0" y="0"/>
            <a:chExt cx="22250400" cy="11620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22250400" cy="1162050"/>
            </a:xfrm>
            <a:custGeom>
              <a:avLst/>
              <a:gdLst/>
              <a:ahLst/>
              <a:cxnLst/>
              <a:rect r="r" b="b" t="t" l="l"/>
              <a:pathLst>
                <a:path h="116205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19" r="0" b="-81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530512" y="6769370"/>
            <a:ext cx="1643062" cy="414338"/>
            <a:chOff x="0" y="0"/>
            <a:chExt cx="2190750" cy="5524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190750" cy="552450"/>
            </a:xfrm>
            <a:custGeom>
              <a:avLst/>
              <a:gdLst/>
              <a:ahLst/>
              <a:cxnLst/>
              <a:rect r="r" b="b" t="t" l="l"/>
              <a:pathLst>
                <a:path h="552450" w="2190750">
                  <a:moveTo>
                    <a:pt x="0" y="0"/>
                  </a:moveTo>
                  <a:lnTo>
                    <a:pt x="2190750" y="0"/>
                  </a:lnTo>
                  <a:lnTo>
                    <a:pt x="219075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24" r="0" b="-172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0600" y="6871764"/>
            <a:ext cx="228600" cy="228600"/>
            <a:chOff x="0" y="0"/>
            <a:chExt cx="304800" cy="304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125" r="0" b="-312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19508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2519363"/>
            <a:ext cx="7643812" cy="91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Write structured prompts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using Role, Context, Data, and Constraints to guide AI assistants.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6715897"/>
            <a:ext cx="8336756" cy="91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Rewrite flawed AI text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into accurate, robust, business-ready executive communication.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3818329"/>
            <a:ext cx="8979694" cy="1305940"/>
            <a:chOff x="0" y="0"/>
            <a:chExt cx="11972925" cy="174125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857250" y="-76200"/>
              <a:ext cx="11115675" cy="18174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2"/>
                </a:lnSpc>
              </a:pPr>
              <a:r>
                <a:rPr lang="en-US" sz="2475" b="true">
                  <a:solidFill>
                    <a:srgbClr val="47556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Name the 4 common AI failure patterns:</a:t>
              </a:r>
              <a:r>
                <a:rPr lang="en-US" sz="2475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overstated causation, misread statistics, ignored limits, and confused significance..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101600"/>
              <a:ext cx="495300" cy="514350"/>
              <a:chOff x="0" y="0"/>
              <a:chExt cx="495300" cy="514350"/>
            </a:xfrm>
          </p:grpSpPr>
          <p:sp>
            <p:nvSpPr>
              <p:cNvPr name="Freeform 20" id="20" descr="image.png"/>
              <p:cNvSpPr/>
              <p:nvPr/>
            </p:nvSpPr>
            <p:spPr>
              <a:xfrm flipH="false" flipV="false" rot="0">
                <a:off x="0" y="0"/>
                <a:ext cx="495300" cy="514350"/>
              </a:xfrm>
              <a:custGeom>
                <a:avLst/>
                <a:gdLst/>
                <a:ahLst/>
                <a:cxnLst/>
                <a:rect r="r" b="b" t="t" l="l"/>
                <a:pathLst>
                  <a:path h="514350" w="495300">
                    <a:moveTo>
                      <a:pt x="0" y="0"/>
                    </a:moveTo>
                    <a:lnTo>
                      <a:pt x="495300" y="0"/>
                    </a:lnTo>
                    <a:lnTo>
                      <a:pt x="495300" y="514350"/>
                    </a:lnTo>
                    <a:lnTo>
                      <a:pt x="0" y="514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21" id="21"/>
          <p:cNvGrpSpPr/>
          <p:nvPr/>
        </p:nvGrpSpPr>
        <p:grpSpPr>
          <a:xfrm rot="0">
            <a:off x="857250" y="5486219"/>
            <a:ext cx="8979694" cy="839215"/>
            <a:chOff x="0" y="0"/>
            <a:chExt cx="11972925" cy="111895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857250" y="-76200"/>
              <a:ext cx="11115675" cy="1195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2"/>
                </a:lnSpc>
              </a:pPr>
              <a:r>
                <a:rPr lang="en-US" sz="2475" b="true">
                  <a:solidFill>
                    <a:srgbClr val="47556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Run the 5-point checklist</a:t>
              </a:r>
              <a:r>
                <a:rPr lang="en-US" sz="2475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to verify numbers, bounds, logic, and missing context before trusting output.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101600"/>
              <a:ext cx="495300" cy="514350"/>
              <a:chOff x="0" y="0"/>
              <a:chExt cx="495300" cy="514350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495300" cy="514350"/>
              </a:xfrm>
              <a:custGeom>
                <a:avLst/>
                <a:gdLst/>
                <a:ahLst/>
                <a:cxnLst/>
                <a:rect r="r" b="b" t="t" l="l"/>
                <a:pathLst>
                  <a:path h="514350" w="495300">
                    <a:moveTo>
                      <a:pt x="0" y="0"/>
                    </a:moveTo>
                    <a:lnTo>
                      <a:pt x="495300" y="0"/>
                    </a:lnTo>
                    <a:lnTo>
                      <a:pt x="495300" y="514350"/>
                    </a:lnTo>
                    <a:lnTo>
                      <a:pt x="0" y="5143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25" id="25"/>
          <p:cNvGrpSpPr/>
          <p:nvPr/>
        </p:nvGrpSpPr>
        <p:grpSpPr>
          <a:xfrm rot="0">
            <a:off x="857250" y="6868297"/>
            <a:ext cx="371475" cy="385762"/>
            <a:chOff x="0" y="0"/>
            <a:chExt cx="495300" cy="5143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251596" y="4018597"/>
            <a:ext cx="4834538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 Python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562978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Up Next: Module 4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Assessment &amp; Module 5 Teaser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2611707"/>
            <a:ext cx="8172450" cy="3607594"/>
            <a:chOff x="0" y="0"/>
            <a:chExt cx="10896600" cy="4810125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0896600" cy="4810125"/>
            </a:xfrm>
            <a:custGeom>
              <a:avLst/>
              <a:gdLst/>
              <a:ahLst/>
              <a:cxnLst/>
              <a:rect r="r" b="b" t="t" l="l"/>
              <a:pathLst>
                <a:path h="481012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4810125"/>
                  </a:lnTo>
                  <a:lnTo>
                    <a:pt x="0" y="481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97" r="0" b="-29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15450" y="2611707"/>
            <a:ext cx="8172450" cy="3607594"/>
            <a:chOff x="0" y="0"/>
            <a:chExt cx="10896600" cy="4810125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896600" cy="4810125"/>
            </a:xfrm>
            <a:custGeom>
              <a:avLst/>
              <a:gdLst/>
              <a:ahLst/>
              <a:cxnLst/>
              <a:rect r="r" b="b" t="t" l="l"/>
              <a:pathLst>
                <a:path h="481012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4810125"/>
                  </a:lnTo>
                  <a:lnTo>
                    <a:pt x="0" y="481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97" r="0" b="-29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5862" y="3111770"/>
            <a:ext cx="328612" cy="285750"/>
            <a:chOff x="0" y="0"/>
            <a:chExt cx="438150" cy="3810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57350" y="3040332"/>
            <a:ext cx="7275909" cy="428625"/>
            <a:chOff x="0" y="0"/>
            <a:chExt cx="9701212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01212" cy="571500"/>
            </a:xfrm>
            <a:custGeom>
              <a:avLst/>
              <a:gdLst/>
              <a:ahLst/>
              <a:cxnLst/>
              <a:rect r="r" b="b" t="t" l="l"/>
              <a:pathLst>
                <a:path h="571500" w="9701212">
                  <a:moveTo>
                    <a:pt x="0" y="0"/>
                  </a:moveTo>
                  <a:lnTo>
                    <a:pt x="9701212" y="0"/>
                  </a:lnTo>
                  <a:lnTo>
                    <a:pt x="9701212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80758" r="0" b="-2807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701212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4 Assessment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00188" y="3602307"/>
            <a:ext cx="7086600" cy="68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 Worksheet: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Assesses reading &amp; explaining statistical results accurately without calculations.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0188" y="4366689"/>
            <a:ext cx="7086600" cy="68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Lab Completion: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Finish all 3 tiers of Topic 4.5 lab exercises in the lab pack.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0188" y="5131070"/>
            <a:ext cx="7086600" cy="68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LMS Practice: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Complete practice questions &amp; mini project on publica.academy.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3012" y="3564207"/>
            <a:ext cx="128588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3012" y="4328589"/>
            <a:ext cx="128588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3012" y="5092970"/>
            <a:ext cx="128588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101262" y="3040332"/>
            <a:ext cx="7350919" cy="428625"/>
            <a:chOff x="0" y="0"/>
            <a:chExt cx="9801225" cy="571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01224" cy="571500"/>
            </a:xfrm>
            <a:custGeom>
              <a:avLst/>
              <a:gdLst/>
              <a:ahLst/>
              <a:cxnLst/>
              <a:rect r="r" b="b" t="t" l="l"/>
              <a:pathLst>
                <a:path h="571500" w="9801224">
                  <a:moveTo>
                    <a:pt x="0" y="0"/>
                  </a:moveTo>
                  <a:lnTo>
                    <a:pt x="9801224" y="0"/>
                  </a:lnTo>
                  <a:lnTo>
                    <a:pt x="98012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84168" r="0" b="-2841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8012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Module 5: Python Preview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01212" y="3111770"/>
            <a:ext cx="257175" cy="285750"/>
            <a:chOff x="0" y="0"/>
            <a:chExt cx="342900" cy="3810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500" r="0" b="-250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015538" y="3602307"/>
            <a:ext cx="7086600" cy="70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Starts Week 6: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Transition from Excel to Python for Data Analysis using pandas.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15538" y="4380976"/>
            <a:ext cx="7086600" cy="68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Zero Deadline: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Must complete Python Zero pre-work on publica.academy before Week 6 concept session.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15538" y="5145357"/>
            <a:ext cx="7086600" cy="68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Power Shift: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Everything done by hand in Excel this week will be computed in 3 lines of pandas code!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58362" y="3564207"/>
            <a:ext cx="128588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58362" y="5107257"/>
            <a:ext cx="128588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58362" y="4342876"/>
            <a:ext cx="128588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DAHULWE7pTk</dc:identifier>
  <dcterms:modified xsi:type="dcterms:W3CDTF">2011-08-01T06:04:30Z</dcterms:modified>
  <cp:revision>1</cp:revision>
  <dc:title>4.5_AI as Statistics Tutor and Interpreter.pptx</dc:title>
</cp:coreProperties>
</file>