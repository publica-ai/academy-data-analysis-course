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Inter" charset="1" panose="02000503000000020004"/>
      <p:regular r:id="rId28"/>
    </p:embeddedFont>
    <p:embeddedFont>
      <p:font typeface="Inter Medium" charset="1" panose="02000503000000020004"/>
      <p:regular r:id="rId29"/>
    </p:embeddedFont>
    <p:embeddedFont>
      <p:font typeface="Poppins Bold" charset="1" panose="00000800000000000000"/>
      <p:regular r:id="rId30"/>
    </p:embeddedFont>
    <p:embeddedFont>
      <p:font typeface="Poppins" charset="1" panose="00000500000000000000"/>
      <p:regular r:id="rId31"/>
    </p:embeddedFont>
    <p:embeddedFont>
      <p:font typeface="Poppins Italics" charset="1" panose="00000500000000000000"/>
      <p:regular r:id="rId33"/>
    </p:embeddedFont>
    <p:embeddedFont>
      <p:font typeface="Courier New" charset="1" panose="02070309020205020404"/>
      <p:regular r:id="rId36"/>
    </p:embeddedFont>
    <p:embeddedFont>
      <p:font typeface="Inter Bold" charset="1" panose="02000503000000020004"/>
      <p:regular r:id="rId37"/>
    </p:embeddedFont>
    <p:embeddedFont>
      <p:font typeface="Inter Italics" charset="1" panose="02000503000000020004"/>
      <p:regular r:id="rId38"/>
    </p:embeddedFont>
    <p:embeddedFont>
      <p:font typeface="Courier New Bold" charset="1" panose="020706090202050204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7.png" Type="http://schemas.openxmlformats.org/officeDocument/2006/relationships/image"/><Relationship Id="rId4" Target="../media/image10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30000" y="0"/>
            <a:ext cx="2286000" cy="1907553"/>
            <a:chOff x="0" y="0"/>
            <a:chExt cx="3048000" cy="2543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01875" y="714375"/>
            <a:ext cx="2857500" cy="2857500"/>
            <a:chOff x="0" y="0"/>
            <a:chExt cx="381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1905000"/>
                  </a:moveTo>
                  <a:cubicBezTo>
                    <a:pt x="0" y="852932"/>
                    <a:pt x="852932" y="0"/>
                    <a:pt x="1905000" y="0"/>
                  </a:cubicBezTo>
                  <a:cubicBezTo>
                    <a:pt x="2957068" y="0"/>
                    <a:pt x="3810000" y="852932"/>
                    <a:pt x="3810000" y="1905000"/>
                  </a:cubicBezTo>
                  <a:cubicBezTo>
                    <a:pt x="3810000" y="2957068"/>
                    <a:pt x="2957068" y="3810000"/>
                    <a:pt x="1905000" y="3810000"/>
                  </a:cubicBezTo>
                  <a:cubicBezTo>
                    <a:pt x="852932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387F7F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6429375"/>
            <a:ext cx="1907553" cy="1286104"/>
            <a:chOff x="0" y="0"/>
            <a:chExt cx="2543404" cy="17148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0" y="2944759"/>
            <a:ext cx="16002000" cy="438950"/>
            <a:chOff x="0" y="0"/>
            <a:chExt cx="21336000" cy="5852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36000" cy="585270"/>
            </a:xfrm>
            <a:custGeom>
              <a:avLst/>
              <a:gdLst/>
              <a:ahLst/>
              <a:cxnLst/>
              <a:rect r="r" b="b" t="t" l="l"/>
              <a:pathLst>
                <a:path h="58527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3523" r="0" b="-6471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3349571"/>
            <a:ext cx="16002000" cy="691139"/>
            <a:chOff x="0" y="0"/>
            <a:chExt cx="21336000" cy="9215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4387" r="0" b="-3878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33600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5: Python for Data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8572500"/>
            <a:ext cx="16002000" cy="28804"/>
            <a:chOff x="0" y="0"/>
            <a:chExt cx="21336000" cy="38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9001125"/>
            <a:ext cx="385648" cy="342900"/>
            <a:chOff x="0" y="0"/>
            <a:chExt cx="514198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7800" cy="585270"/>
            </a:xfrm>
            <a:custGeom>
              <a:avLst/>
              <a:gdLst/>
              <a:ahLst/>
              <a:cxnLst/>
              <a:rect r="r" b="b" t="t" l="l"/>
              <a:pathLst>
                <a:path h="585270" w="2857800">
                  <a:moveTo>
                    <a:pt x="0" y="0"/>
                  </a:moveTo>
                  <a:lnTo>
                    <a:pt x="2857800" y="0"/>
                  </a:lnTo>
                  <a:lnTo>
                    <a:pt x="28578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339" r="0" b="-319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3 of 4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43000" y="552450"/>
            <a:ext cx="2124669" cy="1845806"/>
          </a:xfrm>
          <a:custGeom>
            <a:avLst/>
            <a:gdLst/>
            <a:ahLst/>
            <a:cxnLst/>
            <a:rect r="r" b="b" t="t" l="l"/>
            <a:pathLst>
              <a:path h="1845806" w="2124669">
                <a:moveTo>
                  <a:pt x="0" y="0"/>
                </a:moveTo>
                <a:lnTo>
                  <a:pt x="2124669" y="0"/>
                </a:lnTo>
                <a:lnTo>
                  <a:pt x="2124669" y="1845806"/>
                </a:lnTo>
                <a:lnTo>
                  <a:pt x="0" y="18458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72" t="0" r="-772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28700" y="3935935"/>
            <a:ext cx="9419080" cy="362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75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Data Manipulation</a:t>
            </a:r>
            <a:r>
              <a:rPr lang="en-US" sz="7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75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with P</a:t>
            </a:r>
            <a:r>
              <a:rPr lang="en-US" b="true" sz="7500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andas and</a:t>
            </a: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NumP</a:t>
            </a: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121338" y="2143125"/>
            <a:ext cx="6137962" cy="5700886"/>
            <a:chOff x="0" y="0"/>
            <a:chExt cx="9571580" cy="889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71580" cy="8890000"/>
            </a:xfrm>
            <a:custGeom>
              <a:avLst/>
              <a:gdLst/>
              <a:ahLst/>
              <a:cxnLst/>
              <a:rect r="r" b="b" t="t" l="l"/>
              <a:pathLst>
                <a:path h="8890000" w="9571580">
                  <a:moveTo>
                    <a:pt x="275913" y="0"/>
                  </a:moveTo>
                  <a:lnTo>
                    <a:pt x="9295667" y="0"/>
                  </a:lnTo>
                  <a:cubicBezTo>
                    <a:pt x="9448050" y="0"/>
                    <a:pt x="9571580" y="123531"/>
                    <a:pt x="9571580" y="275913"/>
                  </a:cubicBezTo>
                  <a:lnTo>
                    <a:pt x="9571580" y="8614087"/>
                  </a:lnTo>
                  <a:cubicBezTo>
                    <a:pt x="9571580" y="8766470"/>
                    <a:pt x="9448050" y="8890000"/>
                    <a:pt x="9295667" y="8890000"/>
                  </a:cubicBezTo>
                  <a:lnTo>
                    <a:pt x="275913" y="8890000"/>
                  </a:lnTo>
                  <a:cubicBezTo>
                    <a:pt x="123531" y="8890000"/>
                    <a:pt x="0" y="8766470"/>
                    <a:pt x="0" y="8614087"/>
                  </a:cubicBezTo>
                  <a:lnTo>
                    <a:pt x="0" y="275913"/>
                  </a:lnTo>
                  <a:cubicBezTo>
                    <a:pt x="0" y="123531"/>
                    <a:pt x="123531" y="0"/>
                    <a:pt x="275913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833" r="0" b="-383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78925" y="800100"/>
            <a:ext cx="598854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  <a:spcBef>
                <a:spcPct val="0"/>
              </a:spcBef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MODULE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3025" y="2303825"/>
            <a:ext cx="13374886" cy="47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 pandas and NumPy as tools for data manipulation and numerical analysis.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28662" y="2395265"/>
            <a:ext cx="371475" cy="385762"/>
            <a:chOff x="0" y="0"/>
            <a:chExt cx="495300" cy="5143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8662" y="3088089"/>
            <a:ext cx="371475" cy="385762"/>
            <a:chOff x="0" y="0"/>
            <a:chExt cx="495300" cy="5143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28662" y="4469214"/>
            <a:ext cx="371475" cy="385762"/>
            <a:chOff x="0" y="0"/>
            <a:chExt cx="495300" cy="5143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28662" y="3778651"/>
            <a:ext cx="371475" cy="385762"/>
            <a:chOff x="0" y="0"/>
            <a:chExt cx="495300" cy="5143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43025" y="2996649"/>
            <a:ext cx="11399937" cy="47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learners' ability to filter, sort, group, and aggregate tabular data.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3025" y="3692926"/>
            <a:ext cx="13265497" cy="47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learners to create calculated columns and perform data-driven calculations.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3025" y="4389204"/>
            <a:ext cx="15496282" cy="47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4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the ability to combine data manipulation techniques to solve practical business problems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2096" y="2050771"/>
            <a:ext cx="12543146" cy="7444854"/>
          </a:xfrm>
          <a:custGeom>
            <a:avLst/>
            <a:gdLst/>
            <a:ahLst/>
            <a:cxnLst/>
            <a:rect r="r" b="b" t="t" l="l"/>
            <a:pathLst>
              <a:path h="7444854" w="12543146">
                <a:moveTo>
                  <a:pt x="0" y="0"/>
                </a:moveTo>
                <a:lnTo>
                  <a:pt x="12543146" y="0"/>
                </a:lnTo>
                <a:lnTo>
                  <a:pt x="12543146" y="7444854"/>
                </a:lnTo>
                <a:lnTo>
                  <a:pt x="0" y="7444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3000" y="762000"/>
            <a:ext cx="578539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1550" y="2993499"/>
            <a:ext cx="11757009" cy="65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2213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By the end of this topic, the trainee can…</a:t>
            </a:r>
          </a:p>
          <a:p>
            <a:pPr algn="l">
              <a:lnSpc>
                <a:spcPts val="3983"/>
              </a:lnSpc>
            </a:pPr>
          </a:p>
          <a:p>
            <a:pPr algn="l">
              <a:lnSpc>
                <a:spcPts val="3983"/>
              </a:lnSpc>
            </a:pPr>
            <a:r>
              <a:rPr lang="en-US" sz="2213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1- Apply pandas filtering and sorting techniques to select relevant records and organize data based on business requirements.</a:t>
            </a:r>
          </a:p>
          <a:p>
            <a:pPr algn="l">
              <a:lnSpc>
                <a:spcPts val="3983"/>
              </a:lnSpc>
            </a:pPr>
          </a:p>
          <a:p>
            <a:pPr algn="l">
              <a:lnSpc>
                <a:spcPts val="3983"/>
              </a:lnSpc>
            </a:pPr>
            <a:r>
              <a:rPr lang="en-US" sz="2213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2- Use groupby() and aggregation functions such as sum(), mean(), and count() to summarize and compare data across groups.</a:t>
            </a:r>
          </a:p>
          <a:p>
            <a:pPr algn="l">
              <a:lnSpc>
                <a:spcPts val="3983"/>
              </a:lnSpc>
            </a:pPr>
          </a:p>
          <a:p>
            <a:pPr algn="l">
              <a:lnSpc>
                <a:spcPts val="3983"/>
              </a:lnSpc>
            </a:pPr>
            <a:r>
              <a:rPr lang="en-US" sz="2213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3- Create calculated columns and perform numerical operations using pandas and NumPy, including conditional calculations and rounding.</a:t>
            </a:r>
          </a:p>
          <a:p>
            <a:pPr algn="l">
              <a:lnSpc>
                <a:spcPts val="3983"/>
              </a:lnSpc>
            </a:pPr>
          </a:p>
          <a:p>
            <a:pPr algn="l">
              <a:lnSpc>
                <a:spcPts val="3983"/>
              </a:lnSpc>
            </a:pPr>
            <a:r>
              <a:rPr lang="en-US" sz="2213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4- Combine pandas and NumPy operations into an analytical workflow to answer practical business questions and verify that the results are accurate.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5577" y="754380"/>
            <a:ext cx="16676846" cy="9623508"/>
            <a:chOff x="0" y="0"/>
            <a:chExt cx="22235795" cy="128313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418211" y="0"/>
              <a:ext cx="17007840" cy="1661160"/>
              <a:chOff x="0" y="0"/>
              <a:chExt cx="17007840" cy="166116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Filtering: One Condition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5875" y="2194560"/>
              <a:ext cx="10698480" cy="1645920"/>
              <a:chOff x="0" y="0"/>
              <a:chExt cx="10698480" cy="164592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418211" y="2560320"/>
              <a:ext cx="237744" cy="237744"/>
              <a:chOff x="0" y="0"/>
              <a:chExt cx="237744" cy="2377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857123" y="2560320"/>
              <a:ext cx="237744" cy="237744"/>
              <a:chOff x="0" y="0"/>
              <a:chExt cx="237744" cy="23774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96035" y="2560320"/>
              <a:ext cx="237744" cy="237744"/>
              <a:chOff x="0" y="0"/>
              <a:chExt cx="237744" cy="23774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27939" y="303276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df[df["Sales"] &gt; 100000]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190365"/>
              <a:ext cx="10730230" cy="1403350"/>
              <a:chOff x="0" y="0"/>
              <a:chExt cx="10730230" cy="14033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30230" cy="1403350"/>
              </a:xfrm>
              <a:custGeom>
                <a:avLst/>
                <a:gdLst/>
                <a:ahLst/>
                <a:cxnLst/>
                <a:rect r="r" b="b" t="t" l="l"/>
                <a:pathLst>
                  <a:path h="1403350" w="10730230">
                    <a:moveTo>
                      <a:pt x="0" y="112268"/>
                    </a:moveTo>
                    <a:cubicBezTo>
                      <a:pt x="0" y="50292"/>
                      <a:pt x="50292" y="0"/>
                      <a:pt x="112268" y="0"/>
                    </a:cubicBezTo>
                    <a:lnTo>
                      <a:pt x="10617962" y="0"/>
                    </a:lnTo>
                    <a:cubicBezTo>
                      <a:pt x="10679938" y="0"/>
                      <a:pt x="10730230" y="50292"/>
                      <a:pt x="10730230" y="112268"/>
                    </a:cubicBezTo>
                    <a:lnTo>
                      <a:pt x="10730230" y="1291082"/>
                    </a:lnTo>
                    <a:cubicBezTo>
                      <a:pt x="10730230" y="1353058"/>
                      <a:pt x="10679938" y="1403350"/>
                      <a:pt x="10617962" y="1403350"/>
                    </a:cubicBezTo>
                    <a:lnTo>
                      <a:pt x="112268" y="1403350"/>
                    </a:lnTo>
                    <a:cubicBezTo>
                      <a:pt x="50292" y="1403350"/>
                      <a:pt x="0" y="1353058"/>
                      <a:pt x="0" y="1291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18211" y="4425696"/>
              <a:ext cx="9966960" cy="498348"/>
              <a:chOff x="0" y="0"/>
              <a:chExt cx="9966960" cy="4983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18211" y="4797933"/>
              <a:ext cx="9893808" cy="457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10 rows match, out of 20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1445875" y="2651760"/>
              <a:ext cx="146304" cy="146304"/>
              <a:chOff x="0" y="0"/>
              <a:chExt cx="146304" cy="1463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1903075" y="2402205"/>
              <a:ext cx="1033272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df["Sales"] &gt; 100000 checks every row and produces True or False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11445875" y="4114800"/>
              <a:ext cx="146304" cy="146304"/>
              <a:chOff x="0" y="0"/>
              <a:chExt cx="146304" cy="14630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903075" y="3827272"/>
              <a:ext cx="10332720" cy="508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wrapping it in df[...] keeps only the rows marked True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1445875" y="5577840"/>
              <a:ext cx="146304" cy="146304"/>
              <a:chOff x="0" y="0"/>
              <a:chExt cx="146304" cy="14630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1903075" y="5364861"/>
              <a:ext cx="1033272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recap from Module 5.2: the pattern is the same, this module goes further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564515" y="7040880"/>
              <a:ext cx="21086064" cy="1371600"/>
              <a:chOff x="0" y="0"/>
              <a:chExt cx="21086064" cy="1371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086065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9549" r="0" b="-249549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21086064" cy="14287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Excel task → pandas: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Excel Filter, keep only rows where Sales is greater than 100,000  →  df[df["Sales"] &gt; 100000]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64515" y="12161520"/>
              <a:ext cx="21086064" cy="669823"/>
              <a:chOff x="0" y="0"/>
              <a:chExt cx="21086064" cy="66982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1086065" cy="669823"/>
              </a:xfrm>
              <a:custGeom>
                <a:avLst/>
                <a:gdLst/>
                <a:ahLst/>
                <a:cxnLst/>
                <a:rect r="r" b="b" t="t" l="l"/>
                <a:pathLst>
                  <a:path h="669823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69823"/>
                    </a:lnTo>
                    <a:lnTo>
                      <a:pt x="0" y="66982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72435" r="0" b="-554343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21086064" cy="7269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Same filter arrow logic. The condition just moves from a dropdown menu into one line of code.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1054" y="794385"/>
            <a:ext cx="16676846" cy="8007191"/>
            <a:chOff x="0" y="0"/>
            <a:chExt cx="22235795" cy="1067625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527939" y="0"/>
              <a:ext cx="17007840" cy="1661160"/>
              <a:chOff x="0" y="0"/>
              <a:chExt cx="17007840" cy="166116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Filtering: Multiple Conditions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5875" y="2156460"/>
              <a:ext cx="10698480" cy="2377440"/>
              <a:chOff x="0" y="0"/>
              <a:chExt cx="10698480" cy="23774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698480" cy="2377440"/>
              </a:xfrm>
              <a:custGeom>
                <a:avLst/>
                <a:gdLst/>
                <a:ahLst/>
                <a:cxnLst/>
                <a:rect r="r" b="b" t="t" l="l"/>
                <a:pathLst>
                  <a:path h="237744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2231136"/>
                    </a:lnTo>
                    <a:cubicBezTo>
                      <a:pt x="10698480" y="2311908"/>
                      <a:pt x="10632948" y="2377440"/>
                      <a:pt x="10552176" y="2377440"/>
                    </a:cubicBezTo>
                    <a:lnTo>
                      <a:pt x="146304" y="2377440"/>
                    </a:lnTo>
                    <a:cubicBezTo>
                      <a:pt x="65532" y="2377440"/>
                      <a:pt x="0" y="2311908"/>
                      <a:pt x="0" y="223113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18211" y="2522220"/>
              <a:ext cx="237744" cy="237744"/>
              <a:chOff x="0" y="0"/>
              <a:chExt cx="237744" cy="23774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857123" y="2522220"/>
              <a:ext cx="237744" cy="237744"/>
              <a:chOff x="0" y="0"/>
              <a:chExt cx="237744" cy="23774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296035" y="2522220"/>
              <a:ext cx="237744" cy="237744"/>
              <a:chOff x="0" y="0"/>
              <a:chExt cx="237744" cy="23774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527939" y="2449068"/>
              <a:ext cx="9674352" cy="498348"/>
              <a:chOff x="0" y="0"/>
              <a:chExt cx="9674352" cy="49834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674352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674352">
                    <a:moveTo>
                      <a:pt x="0" y="0"/>
                    </a:moveTo>
                    <a:lnTo>
                      <a:pt x="9674352" y="0"/>
                    </a:lnTo>
                    <a:lnTo>
                      <a:pt x="9674352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332388" r="0" b="-324131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9674352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1800"/>
                  </a:lnSpc>
                </a:pPr>
                <a:r>
                  <a:rPr lang="en-US" sz="1500">
                    <a:solidFill>
                      <a:srgbClr val="8FA3A5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AND</a:t>
                </a: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27939" y="2994660"/>
              <a:ext cx="9674352" cy="9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df[(df["Sales"] &gt; 100000) &amp;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   (df["Region"] == "South West")]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4792345"/>
              <a:ext cx="10730230" cy="1403350"/>
              <a:chOff x="0" y="0"/>
              <a:chExt cx="10730230" cy="14033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30230" cy="1403350"/>
              </a:xfrm>
              <a:custGeom>
                <a:avLst/>
                <a:gdLst/>
                <a:ahLst/>
                <a:cxnLst/>
                <a:rect r="r" b="b" t="t" l="l"/>
                <a:pathLst>
                  <a:path h="1403350" w="10730230">
                    <a:moveTo>
                      <a:pt x="0" y="112268"/>
                    </a:moveTo>
                    <a:cubicBezTo>
                      <a:pt x="0" y="50292"/>
                      <a:pt x="50292" y="0"/>
                      <a:pt x="112268" y="0"/>
                    </a:cubicBezTo>
                    <a:lnTo>
                      <a:pt x="10617962" y="0"/>
                    </a:lnTo>
                    <a:cubicBezTo>
                      <a:pt x="10679938" y="0"/>
                      <a:pt x="10730230" y="50292"/>
                      <a:pt x="10730230" y="112268"/>
                    </a:cubicBezTo>
                    <a:lnTo>
                      <a:pt x="10730230" y="1291082"/>
                    </a:lnTo>
                    <a:cubicBezTo>
                      <a:pt x="10730230" y="1353058"/>
                      <a:pt x="10679938" y="1403350"/>
                      <a:pt x="10617962" y="1403350"/>
                    </a:cubicBezTo>
                    <a:lnTo>
                      <a:pt x="112268" y="1403350"/>
                    </a:lnTo>
                    <a:cubicBezTo>
                      <a:pt x="50292" y="1403350"/>
                      <a:pt x="0" y="1353058"/>
                      <a:pt x="0" y="1291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418211" y="5027676"/>
              <a:ext cx="9966960" cy="498348"/>
              <a:chOff x="0" y="0"/>
              <a:chExt cx="9966960" cy="4983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18211" y="5399913"/>
              <a:ext cx="9893808" cy="457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5 rows match, out of 20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15875" y="6637020"/>
              <a:ext cx="10698480" cy="2377440"/>
              <a:chOff x="0" y="0"/>
              <a:chExt cx="10698480" cy="237744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698480" cy="2377440"/>
              </a:xfrm>
              <a:custGeom>
                <a:avLst/>
                <a:gdLst/>
                <a:ahLst/>
                <a:cxnLst/>
                <a:rect r="r" b="b" t="t" l="l"/>
                <a:pathLst>
                  <a:path h="237744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2231136"/>
                    </a:lnTo>
                    <a:cubicBezTo>
                      <a:pt x="10698480" y="2311908"/>
                      <a:pt x="10632948" y="2377440"/>
                      <a:pt x="10552176" y="2377440"/>
                    </a:cubicBezTo>
                    <a:lnTo>
                      <a:pt x="146304" y="2377440"/>
                    </a:lnTo>
                    <a:cubicBezTo>
                      <a:pt x="65532" y="2377440"/>
                      <a:pt x="0" y="2311908"/>
                      <a:pt x="0" y="223113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418211" y="7002780"/>
              <a:ext cx="237744" cy="237744"/>
              <a:chOff x="0" y="0"/>
              <a:chExt cx="237744" cy="23774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857123" y="7002780"/>
              <a:ext cx="237744" cy="237744"/>
              <a:chOff x="0" y="0"/>
              <a:chExt cx="237744" cy="23774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96035" y="7002780"/>
              <a:ext cx="237744" cy="237744"/>
              <a:chOff x="0" y="0"/>
              <a:chExt cx="237744" cy="23774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7939" y="6929628"/>
              <a:ext cx="9674352" cy="498348"/>
              <a:chOff x="0" y="0"/>
              <a:chExt cx="9674352" cy="49834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674352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674352">
                    <a:moveTo>
                      <a:pt x="0" y="0"/>
                    </a:moveTo>
                    <a:lnTo>
                      <a:pt x="9674352" y="0"/>
                    </a:lnTo>
                    <a:lnTo>
                      <a:pt x="9674352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332388" r="0" b="-324131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9674352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1800"/>
                  </a:lnSpc>
                </a:pPr>
                <a:r>
                  <a:rPr lang="en-US" sz="1500">
                    <a:solidFill>
                      <a:srgbClr val="8FA3A5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OR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527939" y="7475220"/>
              <a:ext cx="9674352" cy="98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df[(df["Region"] == "South West") |</a:t>
              </a:r>
            </a:p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   (df["Region"] == "North West")]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9272905"/>
              <a:ext cx="10730230" cy="1403350"/>
              <a:chOff x="0" y="0"/>
              <a:chExt cx="10730230" cy="140335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730230" cy="1403350"/>
              </a:xfrm>
              <a:custGeom>
                <a:avLst/>
                <a:gdLst/>
                <a:ahLst/>
                <a:cxnLst/>
                <a:rect r="r" b="b" t="t" l="l"/>
                <a:pathLst>
                  <a:path h="1403350" w="10730230">
                    <a:moveTo>
                      <a:pt x="0" y="112268"/>
                    </a:moveTo>
                    <a:cubicBezTo>
                      <a:pt x="0" y="50292"/>
                      <a:pt x="50292" y="0"/>
                      <a:pt x="112268" y="0"/>
                    </a:cubicBezTo>
                    <a:lnTo>
                      <a:pt x="10617962" y="0"/>
                    </a:lnTo>
                    <a:cubicBezTo>
                      <a:pt x="10679938" y="0"/>
                      <a:pt x="10730230" y="50292"/>
                      <a:pt x="10730230" y="112268"/>
                    </a:cubicBezTo>
                    <a:lnTo>
                      <a:pt x="10730230" y="1291082"/>
                    </a:lnTo>
                    <a:cubicBezTo>
                      <a:pt x="10730230" y="1353058"/>
                      <a:pt x="10679938" y="1403350"/>
                      <a:pt x="10617962" y="1403350"/>
                    </a:cubicBezTo>
                    <a:lnTo>
                      <a:pt x="112268" y="1403350"/>
                    </a:lnTo>
                    <a:cubicBezTo>
                      <a:pt x="50292" y="1403350"/>
                      <a:pt x="0" y="1353058"/>
                      <a:pt x="0" y="1291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418211" y="9508236"/>
              <a:ext cx="9966960" cy="498348"/>
              <a:chOff x="0" y="0"/>
              <a:chExt cx="9966960" cy="49834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418211" y="9880473"/>
              <a:ext cx="9893808" cy="457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15 rows match, out of 20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11445875" y="2613660"/>
              <a:ext cx="146304" cy="146304"/>
              <a:chOff x="0" y="0"/>
              <a:chExt cx="146304" cy="14630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52" id="52"/>
            <p:cNvSpPr txBox="true"/>
            <p:nvPr/>
          </p:nvSpPr>
          <p:spPr>
            <a:xfrm rot="0">
              <a:off x="11903075" y="2181225"/>
              <a:ext cx="10332720" cy="508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&amp; means both conditions must be true</a:t>
              </a:r>
            </a:p>
          </p:txBody>
        </p:sp>
        <p:grpSp>
          <p:nvGrpSpPr>
            <p:cNvPr name="Group 53" id="53"/>
            <p:cNvGrpSpPr/>
            <p:nvPr/>
          </p:nvGrpSpPr>
          <p:grpSpPr>
            <a:xfrm rot="0">
              <a:off x="11445875" y="3930396"/>
              <a:ext cx="146304" cy="146304"/>
              <a:chOff x="0" y="0"/>
              <a:chExt cx="146304" cy="14630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55" id="55"/>
            <p:cNvSpPr txBox="true"/>
            <p:nvPr/>
          </p:nvSpPr>
          <p:spPr>
            <a:xfrm rot="0">
              <a:off x="11903075" y="3497961"/>
              <a:ext cx="10332720" cy="508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| means either condition can be true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11445875" y="5247132"/>
              <a:ext cx="146304" cy="146304"/>
              <a:chOff x="0" y="0"/>
              <a:chExt cx="146304" cy="14630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11903075" y="4814697"/>
              <a:ext cx="10332720" cy="1016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every condition needs its own parentheses, this is not optional in pandas</a:t>
              </a:r>
            </a:p>
          </p:txBody>
        </p:sp>
        <p:grpSp>
          <p:nvGrpSpPr>
            <p:cNvPr name="Group 59" id="59"/>
            <p:cNvGrpSpPr/>
            <p:nvPr/>
          </p:nvGrpSpPr>
          <p:grpSpPr>
            <a:xfrm rot="0">
              <a:off x="11994515" y="7185660"/>
              <a:ext cx="9692640" cy="2834640"/>
              <a:chOff x="0" y="0"/>
              <a:chExt cx="9692640" cy="283464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9692640" cy="2834640"/>
              </a:xfrm>
              <a:custGeom>
                <a:avLst/>
                <a:gdLst/>
                <a:ahLst/>
                <a:cxnLst/>
                <a:rect r="r" b="b" t="t" l="l"/>
                <a:pathLst>
                  <a:path h="283464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2834640"/>
                    </a:lnTo>
                    <a:lnTo>
                      <a:pt x="0" y="283464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0" t="-16626" r="0" b="-16626"/>
                </a:stretch>
              </a:blip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57150"/>
                <a:ext cx="9692640" cy="28917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Excel parallel: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the same result as Excel's Filter with two criteria applied at once, or "Custom Filter" with AND / OR, except both filters are visible in the code itself, not hidden in a dialog box.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97824" y="3010286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008" y="748665"/>
            <a:ext cx="12755880" cy="1245870"/>
            <a:chOff x="0" y="0"/>
            <a:chExt cx="17007840" cy="1661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Sorting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057400"/>
            <a:ext cx="8023860" cy="1234440"/>
            <a:chOff x="0" y="0"/>
            <a:chExt cx="1069848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9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1499616"/>
                  </a:lnTo>
                  <a:cubicBezTo>
                    <a:pt x="10698480" y="1580388"/>
                    <a:pt x="10632948" y="1645920"/>
                    <a:pt x="10552176" y="1645920"/>
                  </a:cubicBezTo>
                  <a:lnTo>
                    <a:pt x="146304" y="1645920"/>
                  </a:lnTo>
                  <a:cubicBezTo>
                    <a:pt x="65532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24712" y="2331720"/>
            <a:ext cx="178308" cy="178308"/>
            <a:chOff x="0" y="0"/>
            <a:chExt cx="237744" cy="2377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53896" y="2331720"/>
            <a:ext cx="178308" cy="178308"/>
            <a:chOff x="0" y="0"/>
            <a:chExt cx="237744" cy="2377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E8B93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83080" y="2331720"/>
            <a:ext cx="178308" cy="178308"/>
            <a:chOff x="0" y="0"/>
            <a:chExt cx="237744" cy="2377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3FA76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7008" y="2676525"/>
            <a:ext cx="725576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E4F1EF"/>
                </a:solidFill>
                <a:latin typeface="Courier New"/>
                <a:ea typeface="Courier New"/>
                <a:cs typeface="Courier New"/>
                <a:sym typeface="Courier New"/>
              </a:rPr>
              <a:t>df.sort_values("Sales", ascending=False)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1054" y="3622834"/>
            <a:ext cx="8047672" cy="2012633"/>
            <a:chOff x="0" y="0"/>
            <a:chExt cx="10730230" cy="26835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230" cy="2683510"/>
            </a:xfrm>
            <a:custGeom>
              <a:avLst/>
              <a:gdLst/>
              <a:ahLst/>
              <a:cxnLst/>
              <a:rect r="r" b="b" t="t" l="l"/>
              <a:pathLst>
                <a:path h="2683510" w="10730230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10619232" y="0"/>
                  </a:lnTo>
                  <a:cubicBezTo>
                    <a:pt x="10680573" y="0"/>
                    <a:pt x="10730230" y="49657"/>
                    <a:pt x="10730230" y="110998"/>
                  </a:cubicBezTo>
                  <a:lnTo>
                    <a:pt x="10730230" y="2572512"/>
                  </a:lnTo>
                  <a:cubicBezTo>
                    <a:pt x="10730230" y="2633853"/>
                    <a:pt x="10680573" y="2683510"/>
                    <a:pt x="10619232" y="2683510"/>
                  </a:cubicBezTo>
                  <a:lnTo>
                    <a:pt x="110998" y="2683510"/>
                  </a:lnTo>
                  <a:cubicBezTo>
                    <a:pt x="49657" y="2683510"/>
                    <a:pt x="0" y="2633853"/>
                    <a:pt x="0" y="2572512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24712" y="3799332"/>
            <a:ext cx="7475220" cy="329184"/>
            <a:chOff x="0" y="0"/>
            <a:chExt cx="9966960" cy="438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66960" cy="438912"/>
            </a:xfrm>
            <a:custGeom>
              <a:avLst/>
              <a:gdLst/>
              <a:ahLst/>
              <a:cxnLst/>
              <a:rect r="r" b="b" t="t" l="l"/>
              <a:pathLst>
                <a:path h="438912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92472" r="0" b="-3924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96696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387F7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OUTPUT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24712" y="4080891"/>
            <a:ext cx="7420356" cy="1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0A1A23"/>
                </a:solidFill>
                <a:latin typeface="Courier New"/>
                <a:ea typeface="Courier New"/>
                <a:cs typeface="Courier New"/>
                <a:sym typeface="Courier New"/>
              </a:rPr>
              <a:t>Branch   Product          Sales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0A1A23"/>
                </a:solidFill>
                <a:latin typeface="Courier New"/>
                <a:ea typeface="Courier New"/>
                <a:cs typeface="Courier New"/>
                <a:sym typeface="Courier New"/>
              </a:rPr>
              <a:t>Lagos    Rice 50kg       205000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0A1A23"/>
                </a:solidFill>
                <a:latin typeface="Courier New"/>
                <a:ea typeface="Courier New"/>
                <a:cs typeface="Courier New"/>
                <a:sym typeface="Courier New"/>
              </a:rPr>
              <a:t>Kano     Rice 50kg       178000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0A1A23"/>
                </a:solidFill>
                <a:latin typeface="Courier New"/>
                <a:ea typeface="Courier New"/>
                <a:cs typeface="Courier New"/>
                <a:sym typeface="Courier New"/>
              </a:rPr>
              <a:t>Kano     Beverages Crate 167000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95460" y="2400300"/>
            <a:ext cx="109728" cy="109728"/>
            <a:chOff x="0" y="0"/>
            <a:chExt cx="146304" cy="1463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738360" y="2177034"/>
            <a:ext cx="7749540" cy="36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0A1A23"/>
                </a:solidFill>
                <a:latin typeface="Inter"/>
                <a:ea typeface="Inter"/>
                <a:cs typeface="Inter"/>
                <a:sym typeface="Inter"/>
              </a:rPr>
              <a:t>ascending=False sorts largest to smallest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95460" y="3387852"/>
            <a:ext cx="109728" cy="109728"/>
            <a:chOff x="0" y="0"/>
            <a:chExt cx="146304" cy="1463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38360" y="3184112"/>
            <a:ext cx="7749540" cy="36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0A1A23"/>
                </a:solidFill>
                <a:latin typeface="Inter"/>
                <a:ea typeface="Inter"/>
                <a:cs typeface="Inter"/>
                <a:sym typeface="Inter"/>
              </a:rPr>
              <a:t>ascending=True, or leaving it out, sorts smallest to largest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95460" y="4375404"/>
            <a:ext cx="109728" cy="109728"/>
            <a:chOff x="0" y="0"/>
            <a:chExt cx="146304" cy="1463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738360" y="4191667"/>
            <a:ext cx="7749540" cy="95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175">
                <a:solidFill>
                  <a:srgbClr val="0A1A23"/>
                </a:solidFill>
                <a:latin typeface="Inter"/>
                <a:ea typeface="Inter"/>
                <a:cs typeface="Inter"/>
                <a:sym typeface="Inter"/>
              </a:rPr>
              <a:t>sort_values() never changes df itself, it returns a new sorted view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34440" y="6103620"/>
            <a:ext cx="15814548" cy="1028700"/>
            <a:chOff x="0" y="0"/>
            <a:chExt cx="21086064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08606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9549" r="0" b="-24954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1086064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b="true">
                  <a:solidFill>
                    <a:srgbClr val="387F7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Excel task → pandas:  </a:t>
              </a:r>
              <a:r>
                <a:rPr lang="en-US" sz="2025">
                  <a:solidFill>
                    <a:srgbClr val="0A1A23"/>
                  </a:solidFill>
                  <a:latin typeface="Inter"/>
                  <a:ea typeface="Inter"/>
                  <a:cs typeface="Inter"/>
                  <a:sym typeface="Inter"/>
                </a:rPr>
                <a:t>Excel Sort, Largest to Smallest on the Sales column  →  df.sort_values("Sales", ascending=False)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4440" y="9532620"/>
            <a:ext cx="15814548" cy="411480"/>
            <a:chOff x="0" y="0"/>
            <a:chExt cx="21086064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86065" cy="548640"/>
            </a:xfrm>
            <a:custGeom>
              <a:avLst/>
              <a:gdLst/>
              <a:ahLst/>
              <a:cxnLst/>
              <a:rect r="r" b="b" t="t" l="l"/>
              <a:pathLst>
                <a:path h="54864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98874" r="0" b="-69887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086064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Misreading ascending is the single most common sorting mistake, always read the order of the first two rows to check.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7" id="7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9806940" y="4866894"/>
            <a:ext cx="7452360" cy="877824"/>
            <a:chOff x="0" y="0"/>
            <a:chExt cx="9936480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36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36480">
                  <a:moveTo>
                    <a:pt x="0" y="109728"/>
                  </a:moveTo>
                  <a:cubicBezTo>
                    <a:pt x="0" y="49149"/>
                    <a:pt x="47686" y="0"/>
                    <a:pt x="106462" y="0"/>
                  </a:cubicBezTo>
                  <a:lnTo>
                    <a:pt x="9830018" y="0"/>
                  </a:lnTo>
                  <a:cubicBezTo>
                    <a:pt x="9888794" y="0"/>
                    <a:pt x="9936480" y="49149"/>
                    <a:pt x="9936480" y="109728"/>
                  </a:cubicBezTo>
                  <a:lnTo>
                    <a:pt x="9936480" y="1060704"/>
                  </a:lnTo>
                  <a:cubicBezTo>
                    <a:pt x="9936480" y="1121283"/>
                    <a:pt x="9888794" y="1170432"/>
                    <a:pt x="9830018" y="1170432"/>
                  </a:cubicBezTo>
                  <a:lnTo>
                    <a:pt x="106462" y="1170432"/>
                  </a:lnTo>
                  <a:cubicBezTo>
                    <a:pt x="47686" y="1170432"/>
                    <a:pt x="0" y="1121283"/>
                    <a:pt x="0" y="1060704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06940" y="6019038"/>
            <a:ext cx="7452360" cy="877824"/>
            <a:chOff x="0" y="0"/>
            <a:chExt cx="9936480" cy="117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36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36480">
                  <a:moveTo>
                    <a:pt x="0" y="109728"/>
                  </a:moveTo>
                  <a:cubicBezTo>
                    <a:pt x="0" y="49149"/>
                    <a:pt x="47686" y="0"/>
                    <a:pt x="106462" y="0"/>
                  </a:cubicBezTo>
                  <a:lnTo>
                    <a:pt x="9830018" y="0"/>
                  </a:lnTo>
                  <a:cubicBezTo>
                    <a:pt x="9888794" y="0"/>
                    <a:pt x="9936480" y="49149"/>
                    <a:pt x="9936480" y="109728"/>
                  </a:cubicBezTo>
                  <a:lnTo>
                    <a:pt x="9936480" y="1060704"/>
                  </a:lnTo>
                  <a:cubicBezTo>
                    <a:pt x="9936480" y="1121283"/>
                    <a:pt x="9888794" y="1170432"/>
                    <a:pt x="9830018" y="1170432"/>
                  </a:cubicBezTo>
                  <a:lnTo>
                    <a:pt x="106462" y="1170432"/>
                  </a:lnTo>
                  <a:cubicBezTo>
                    <a:pt x="47686" y="1170432"/>
                    <a:pt x="0" y="1121283"/>
                    <a:pt x="0" y="1060704"/>
                  </a:cubicBezTo>
                  <a:close/>
                </a:path>
              </a:pathLst>
            </a:custGeom>
            <a:solidFill>
              <a:srgbClr val="8A7CC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06940" y="3714750"/>
            <a:ext cx="7452360" cy="877824"/>
            <a:chOff x="0" y="0"/>
            <a:chExt cx="9936480" cy="11704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36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36480">
                  <a:moveTo>
                    <a:pt x="0" y="109728"/>
                  </a:moveTo>
                  <a:cubicBezTo>
                    <a:pt x="0" y="49149"/>
                    <a:pt x="47686" y="0"/>
                    <a:pt x="106462" y="0"/>
                  </a:cubicBezTo>
                  <a:lnTo>
                    <a:pt x="9830018" y="0"/>
                  </a:lnTo>
                  <a:cubicBezTo>
                    <a:pt x="9888794" y="0"/>
                    <a:pt x="9936480" y="49149"/>
                    <a:pt x="9936480" y="109728"/>
                  </a:cubicBezTo>
                  <a:lnTo>
                    <a:pt x="9936480" y="1060704"/>
                  </a:lnTo>
                  <a:cubicBezTo>
                    <a:pt x="9936480" y="1121283"/>
                    <a:pt x="9888794" y="1170432"/>
                    <a:pt x="9830018" y="1170432"/>
                  </a:cubicBezTo>
                  <a:lnTo>
                    <a:pt x="106462" y="1170432"/>
                  </a:lnTo>
                  <a:cubicBezTo>
                    <a:pt x="47686" y="1170432"/>
                    <a:pt x="0" y="1121283"/>
                    <a:pt x="0" y="1060704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576072"/>
            <a:ext cx="16637508" cy="7143750"/>
            <a:chOff x="0" y="0"/>
            <a:chExt cx="22183344" cy="9525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499616" y="0"/>
              <a:ext cx="17007840" cy="1661160"/>
              <a:chOff x="0" y="0"/>
              <a:chExt cx="17007840" cy="166116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Grouping: The Logic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356104"/>
              <a:ext cx="22183344" cy="1280160"/>
              <a:chOff x="0" y="0"/>
              <a:chExt cx="22183344" cy="12801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183344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22183344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22073615" y="0"/>
                    </a:lnTo>
                    <a:cubicBezTo>
                      <a:pt x="22134195" y="0"/>
                      <a:pt x="22183344" y="49149"/>
                      <a:pt x="22183344" y="109728"/>
                    </a:cubicBezTo>
                    <a:lnTo>
                      <a:pt x="22183344" y="1170432"/>
                    </a:lnTo>
                    <a:cubicBezTo>
                      <a:pt x="22183344" y="1231011"/>
                      <a:pt x="22134195" y="1280160"/>
                      <a:pt x="22073615" y="1280160"/>
                    </a:cubicBezTo>
                    <a:lnTo>
                      <a:pt x="109728" y="1280160"/>
                    </a:lnTo>
                    <a:cubicBezTo>
                      <a:pt x="49149" y="1280160"/>
                      <a:pt x="0" y="1231011"/>
                      <a:pt x="0" y="117043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2356104"/>
              <a:ext cx="22183344" cy="1280160"/>
              <a:chOff x="0" y="0"/>
              <a:chExt cx="22183344" cy="128016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2183344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22183344">
                    <a:moveTo>
                      <a:pt x="0" y="0"/>
                    </a:moveTo>
                    <a:lnTo>
                      <a:pt x="22183344" y="0"/>
                    </a:lnTo>
                    <a:lnTo>
                      <a:pt x="22183344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87647" r="0" b="-287647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2183344" cy="130873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sz="33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GROUP  →  SELECT  →  AGGREGATE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4184904"/>
              <a:ext cx="10058400" cy="768096"/>
              <a:chOff x="0" y="0"/>
              <a:chExt cx="10058400" cy="7680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05840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0058400">
                    <a:moveTo>
                      <a:pt x="0" y="54864"/>
                    </a:moveTo>
                    <a:cubicBezTo>
                      <a:pt x="0" y="24511"/>
                      <a:pt x="24511" y="0"/>
                      <a:pt x="54864" y="0"/>
                    </a:cubicBezTo>
                    <a:lnTo>
                      <a:pt x="10003536" y="0"/>
                    </a:lnTo>
                    <a:cubicBezTo>
                      <a:pt x="10033889" y="0"/>
                      <a:pt x="10058400" y="24511"/>
                      <a:pt x="10058400" y="54864"/>
                    </a:cubicBezTo>
                    <a:lnTo>
                      <a:pt x="10058400" y="713232"/>
                    </a:lnTo>
                    <a:cubicBezTo>
                      <a:pt x="10058400" y="743585"/>
                      <a:pt x="10033889" y="768096"/>
                      <a:pt x="10003536" y="768096"/>
                    </a:cubicBezTo>
                    <a:lnTo>
                      <a:pt x="54864" y="768096"/>
                    </a:lnTo>
                    <a:cubicBezTo>
                      <a:pt x="24511" y="768096"/>
                      <a:pt x="0" y="743585"/>
                      <a:pt x="0" y="713232"/>
                    </a:cubicBezTo>
                    <a:close/>
                  </a:path>
                </a:pathLst>
              </a:custGeom>
              <a:solidFill>
                <a:srgbClr val="EAF2F1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4184904"/>
              <a:ext cx="146304" cy="768096"/>
              <a:chOff x="0" y="0"/>
              <a:chExt cx="146304" cy="76809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6304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548640" y="4184904"/>
              <a:ext cx="9326880" cy="768096"/>
              <a:chOff x="0" y="0"/>
              <a:chExt cx="9326880" cy="76809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268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9326880">
                    <a:moveTo>
                      <a:pt x="0" y="0"/>
                    </a:moveTo>
                    <a:lnTo>
                      <a:pt x="9326880" y="0"/>
                    </a:lnTo>
                    <a:lnTo>
                      <a:pt x="93268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6604" r="0" b="-186604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9050"/>
                <a:ext cx="93268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Lagos  ·  South West  ·  ₦145,000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5099304"/>
              <a:ext cx="10058400" cy="768096"/>
              <a:chOff x="0" y="0"/>
              <a:chExt cx="10058400" cy="76809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05840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0058400">
                    <a:moveTo>
                      <a:pt x="0" y="54864"/>
                    </a:moveTo>
                    <a:cubicBezTo>
                      <a:pt x="0" y="24511"/>
                      <a:pt x="24511" y="0"/>
                      <a:pt x="54864" y="0"/>
                    </a:cubicBezTo>
                    <a:lnTo>
                      <a:pt x="10003536" y="0"/>
                    </a:lnTo>
                    <a:cubicBezTo>
                      <a:pt x="10033889" y="0"/>
                      <a:pt x="10058400" y="24511"/>
                      <a:pt x="10058400" y="54864"/>
                    </a:cubicBezTo>
                    <a:lnTo>
                      <a:pt x="10058400" y="713232"/>
                    </a:lnTo>
                    <a:cubicBezTo>
                      <a:pt x="10058400" y="743585"/>
                      <a:pt x="10033889" y="768096"/>
                      <a:pt x="10003536" y="768096"/>
                    </a:cubicBezTo>
                    <a:lnTo>
                      <a:pt x="54864" y="768096"/>
                    </a:lnTo>
                    <a:cubicBezTo>
                      <a:pt x="24511" y="768096"/>
                      <a:pt x="0" y="743585"/>
                      <a:pt x="0" y="713232"/>
                    </a:cubicBezTo>
                    <a:close/>
                  </a:path>
                </a:pathLst>
              </a:custGeom>
              <a:solidFill>
                <a:srgbClr val="EAF2F1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5099304"/>
              <a:ext cx="146304" cy="768096"/>
              <a:chOff x="0" y="0"/>
              <a:chExt cx="146304" cy="76809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6304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solidFill>
                <a:srgbClr val="D9A441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548640" y="5099304"/>
              <a:ext cx="9326880" cy="768096"/>
              <a:chOff x="0" y="0"/>
              <a:chExt cx="9326880" cy="76809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268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9326880">
                    <a:moveTo>
                      <a:pt x="0" y="0"/>
                    </a:moveTo>
                    <a:lnTo>
                      <a:pt x="9326880" y="0"/>
                    </a:lnTo>
                    <a:lnTo>
                      <a:pt x="93268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6604" r="0" b="-186604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93268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Abuja  ·  North Central  ·  ₦98,000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6013704"/>
              <a:ext cx="10058400" cy="768096"/>
              <a:chOff x="0" y="0"/>
              <a:chExt cx="10058400" cy="76809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05840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0058400">
                    <a:moveTo>
                      <a:pt x="0" y="54864"/>
                    </a:moveTo>
                    <a:cubicBezTo>
                      <a:pt x="0" y="24511"/>
                      <a:pt x="24511" y="0"/>
                      <a:pt x="54864" y="0"/>
                    </a:cubicBezTo>
                    <a:lnTo>
                      <a:pt x="10003536" y="0"/>
                    </a:lnTo>
                    <a:cubicBezTo>
                      <a:pt x="10033889" y="0"/>
                      <a:pt x="10058400" y="24511"/>
                      <a:pt x="10058400" y="54864"/>
                    </a:cubicBezTo>
                    <a:lnTo>
                      <a:pt x="10058400" y="713232"/>
                    </a:lnTo>
                    <a:cubicBezTo>
                      <a:pt x="10058400" y="743585"/>
                      <a:pt x="10033889" y="768096"/>
                      <a:pt x="10003536" y="768096"/>
                    </a:cubicBezTo>
                    <a:lnTo>
                      <a:pt x="54864" y="768096"/>
                    </a:lnTo>
                    <a:cubicBezTo>
                      <a:pt x="24511" y="768096"/>
                      <a:pt x="0" y="743585"/>
                      <a:pt x="0" y="713232"/>
                    </a:cubicBezTo>
                    <a:close/>
                  </a:path>
                </a:pathLst>
              </a:custGeom>
              <a:solidFill>
                <a:srgbClr val="EAF2F1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6013704"/>
              <a:ext cx="146304" cy="768096"/>
              <a:chOff x="0" y="0"/>
              <a:chExt cx="146304" cy="76809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46304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solidFill>
                <a:srgbClr val="8A7CC7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548640" y="6013704"/>
              <a:ext cx="9326880" cy="768096"/>
              <a:chOff x="0" y="0"/>
              <a:chExt cx="9326880" cy="76809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3268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9326880">
                    <a:moveTo>
                      <a:pt x="0" y="0"/>
                    </a:moveTo>
                    <a:lnTo>
                      <a:pt x="9326880" y="0"/>
                    </a:lnTo>
                    <a:lnTo>
                      <a:pt x="93268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6604" r="0" b="-186604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93268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Kano  ·  North West  ·  ₦52,000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6928104"/>
              <a:ext cx="10058400" cy="768096"/>
              <a:chOff x="0" y="0"/>
              <a:chExt cx="10058400" cy="768096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05840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0058400">
                    <a:moveTo>
                      <a:pt x="0" y="54864"/>
                    </a:moveTo>
                    <a:cubicBezTo>
                      <a:pt x="0" y="24511"/>
                      <a:pt x="24511" y="0"/>
                      <a:pt x="54864" y="0"/>
                    </a:cubicBezTo>
                    <a:lnTo>
                      <a:pt x="10003536" y="0"/>
                    </a:lnTo>
                    <a:cubicBezTo>
                      <a:pt x="10033889" y="0"/>
                      <a:pt x="10058400" y="24511"/>
                      <a:pt x="10058400" y="54864"/>
                    </a:cubicBezTo>
                    <a:lnTo>
                      <a:pt x="10058400" y="713232"/>
                    </a:lnTo>
                    <a:cubicBezTo>
                      <a:pt x="10058400" y="743585"/>
                      <a:pt x="10033889" y="768096"/>
                      <a:pt x="10003536" y="768096"/>
                    </a:cubicBezTo>
                    <a:lnTo>
                      <a:pt x="54864" y="768096"/>
                    </a:lnTo>
                    <a:cubicBezTo>
                      <a:pt x="24511" y="768096"/>
                      <a:pt x="0" y="743585"/>
                      <a:pt x="0" y="713232"/>
                    </a:cubicBezTo>
                    <a:close/>
                  </a:path>
                </a:pathLst>
              </a:custGeom>
              <a:solidFill>
                <a:srgbClr val="EAF2F1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6928104"/>
              <a:ext cx="146304" cy="768096"/>
              <a:chOff x="0" y="0"/>
              <a:chExt cx="146304" cy="76809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46304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548640" y="6928104"/>
              <a:ext cx="9326880" cy="768096"/>
              <a:chOff x="0" y="0"/>
              <a:chExt cx="9326880" cy="76809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3268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9326880">
                    <a:moveTo>
                      <a:pt x="0" y="0"/>
                    </a:moveTo>
                    <a:lnTo>
                      <a:pt x="9326880" y="0"/>
                    </a:lnTo>
                    <a:lnTo>
                      <a:pt x="93268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6604" r="0" b="-186604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19050"/>
                <a:ext cx="93268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Lagos  ·  South West  ·  ₦132,000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7842504"/>
              <a:ext cx="10058400" cy="768096"/>
              <a:chOff x="0" y="0"/>
              <a:chExt cx="10058400" cy="76809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05840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0058400">
                    <a:moveTo>
                      <a:pt x="0" y="54864"/>
                    </a:moveTo>
                    <a:cubicBezTo>
                      <a:pt x="0" y="24511"/>
                      <a:pt x="24511" y="0"/>
                      <a:pt x="54864" y="0"/>
                    </a:cubicBezTo>
                    <a:lnTo>
                      <a:pt x="10003536" y="0"/>
                    </a:lnTo>
                    <a:cubicBezTo>
                      <a:pt x="10033889" y="0"/>
                      <a:pt x="10058400" y="24511"/>
                      <a:pt x="10058400" y="54864"/>
                    </a:cubicBezTo>
                    <a:lnTo>
                      <a:pt x="10058400" y="713232"/>
                    </a:lnTo>
                    <a:cubicBezTo>
                      <a:pt x="10058400" y="743585"/>
                      <a:pt x="10033889" y="768096"/>
                      <a:pt x="10003536" y="768096"/>
                    </a:cubicBezTo>
                    <a:lnTo>
                      <a:pt x="54864" y="768096"/>
                    </a:lnTo>
                    <a:cubicBezTo>
                      <a:pt x="24511" y="768096"/>
                      <a:pt x="0" y="743585"/>
                      <a:pt x="0" y="713232"/>
                    </a:cubicBezTo>
                    <a:close/>
                  </a:path>
                </a:pathLst>
              </a:custGeom>
              <a:solidFill>
                <a:srgbClr val="EAF2F1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7842504"/>
              <a:ext cx="146304" cy="768096"/>
              <a:chOff x="0" y="0"/>
              <a:chExt cx="146304" cy="768096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46304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solidFill>
                <a:srgbClr val="D9A441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548640" y="7842504"/>
              <a:ext cx="9326880" cy="768096"/>
              <a:chOff x="0" y="0"/>
              <a:chExt cx="9326880" cy="768096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3268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9326880">
                    <a:moveTo>
                      <a:pt x="0" y="0"/>
                    </a:moveTo>
                    <a:lnTo>
                      <a:pt x="9326880" y="0"/>
                    </a:lnTo>
                    <a:lnTo>
                      <a:pt x="93268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6604" r="0" b="-186604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93268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Abuja  ·  North Central  ·  ₦156,000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8756904"/>
              <a:ext cx="10058400" cy="768096"/>
              <a:chOff x="0" y="0"/>
              <a:chExt cx="10058400" cy="768096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005840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0058400">
                    <a:moveTo>
                      <a:pt x="0" y="54864"/>
                    </a:moveTo>
                    <a:cubicBezTo>
                      <a:pt x="0" y="24511"/>
                      <a:pt x="24511" y="0"/>
                      <a:pt x="54864" y="0"/>
                    </a:cubicBezTo>
                    <a:lnTo>
                      <a:pt x="10003536" y="0"/>
                    </a:lnTo>
                    <a:cubicBezTo>
                      <a:pt x="10033889" y="0"/>
                      <a:pt x="10058400" y="24511"/>
                      <a:pt x="10058400" y="54864"/>
                    </a:cubicBezTo>
                    <a:lnTo>
                      <a:pt x="10058400" y="713232"/>
                    </a:lnTo>
                    <a:cubicBezTo>
                      <a:pt x="10058400" y="743585"/>
                      <a:pt x="10033889" y="768096"/>
                      <a:pt x="10003536" y="768096"/>
                    </a:cubicBezTo>
                    <a:lnTo>
                      <a:pt x="54864" y="768096"/>
                    </a:lnTo>
                    <a:cubicBezTo>
                      <a:pt x="24511" y="768096"/>
                      <a:pt x="0" y="743585"/>
                      <a:pt x="0" y="713232"/>
                    </a:cubicBezTo>
                    <a:close/>
                  </a:path>
                </a:pathLst>
              </a:custGeom>
              <a:solidFill>
                <a:srgbClr val="EAF2F1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8756904"/>
              <a:ext cx="146304" cy="768096"/>
              <a:chOff x="0" y="0"/>
              <a:chExt cx="146304" cy="768096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46304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solidFill>
                <a:srgbClr val="8A7CC7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548640" y="8756904"/>
              <a:ext cx="9326880" cy="768096"/>
              <a:chOff x="0" y="0"/>
              <a:chExt cx="9326880" cy="768096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932688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9326880">
                    <a:moveTo>
                      <a:pt x="0" y="0"/>
                    </a:moveTo>
                    <a:lnTo>
                      <a:pt x="9326880" y="0"/>
                    </a:lnTo>
                    <a:lnTo>
                      <a:pt x="932688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86604" r="0" b="-186604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932688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Kano  ·  North West  ·  ₦64,000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0515600" y="6836664"/>
              <a:ext cx="1097280" cy="1086206"/>
              <a:chOff x="0" y="0"/>
              <a:chExt cx="1097280" cy="1086206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097280" cy="1086206"/>
              </a:xfrm>
              <a:custGeom>
                <a:avLst/>
                <a:gdLst/>
                <a:ahLst/>
                <a:cxnLst/>
                <a:rect r="r" b="b" t="t" l="l"/>
                <a:pathLst>
                  <a:path h="1086206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86206"/>
                    </a:lnTo>
                    <a:lnTo>
                      <a:pt x="0" y="108620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56919" t="0" r="-56919" b="15817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28575"/>
                <a:ext cx="1097280" cy="11147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sz="3300">
                    <a:solidFill>
                      <a:srgbClr val="5B6B6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→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7190720" y="4184904"/>
              <a:ext cx="4754880" cy="1170432"/>
              <a:chOff x="0" y="0"/>
              <a:chExt cx="4754880" cy="1170432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475488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4754880">
                    <a:moveTo>
                      <a:pt x="0" y="0"/>
                    </a:moveTo>
                    <a:lnTo>
                      <a:pt x="4754880" y="0"/>
                    </a:lnTo>
                    <a:lnTo>
                      <a:pt x="475488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9157" r="0" b="-29157"/>
                </a:stretch>
              </a:blip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19050"/>
                <a:ext cx="4754880" cy="11894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340"/>
                  </a:lnSpc>
                </a:pPr>
                <a:r>
                  <a:rPr lang="en-US" sz="1950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Sum of Sales: ₦277,000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2527280" y="5721096"/>
              <a:ext cx="5120640" cy="1170432"/>
              <a:chOff x="0" y="0"/>
              <a:chExt cx="5120640" cy="1170432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512064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5247" r="0" b="-35247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28575"/>
                <a:ext cx="5120640" cy="119900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 b="true">
                    <a:solidFill>
                      <a:srgbClr val="0A1A2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North Central</a:t>
                </a: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12527280" y="7257288"/>
              <a:ext cx="5120640" cy="1170432"/>
              <a:chOff x="0" y="0"/>
              <a:chExt cx="5120640" cy="117043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512064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5247" r="0" b="-35247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28575"/>
                <a:ext cx="5120640" cy="119900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00"/>
                  </a:lnSpc>
                </a:pPr>
                <a:r>
                  <a:rPr lang="en-US" sz="2250" b="true">
                    <a:solidFill>
                      <a:srgbClr val="0A1A2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North West</a:t>
                </a:r>
              </a:p>
            </p:txBody>
          </p:sp>
        </p:grpSp>
      </p:grpSp>
      <p:grpSp>
        <p:nvGrpSpPr>
          <p:cNvPr name="Group 77" id="77"/>
          <p:cNvGrpSpPr/>
          <p:nvPr/>
        </p:nvGrpSpPr>
        <p:grpSpPr>
          <a:xfrm rot="0">
            <a:off x="13408923" y="6019038"/>
            <a:ext cx="3566160" cy="877824"/>
            <a:chOff x="0" y="0"/>
            <a:chExt cx="4754880" cy="11704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754880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Sum of Sales: ₦116,000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533120" y="4866894"/>
            <a:ext cx="3566160" cy="877824"/>
            <a:chOff x="0" y="0"/>
            <a:chExt cx="4754880" cy="1170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5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4754880" cy="1189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Sum of Sales: ₦254,000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218420" y="3714750"/>
            <a:ext cx="3840480" cy="877824"/>
            <a:chOff x="0" y="0"/>
            <a:chExt cx="5120640" cy="117043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206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5120640" cy="1199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South West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8217569"/>
            <a:ext cx="15814548" cy="891540"/>
            <a:chOff x="0" y="0"/>
            <a:chExt cx="21086064" cy="1188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08606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5634" r="0" b="-29563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21086064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Excel parallel:  </a:t>
              </a: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this is exactly a PivotTable: drag Region into Rows, drag Sales into Values, Excel groups and sums for you the same way groupby does.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7" id="7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805577" y="754380"/>
            <a:ext cx="16676846" cy="9623508"/>
            <a:chOff x="0" y="0"/>
            <a:chExt cx="22235795" cy="1283134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537083" y="0"/>
              <a:ext cx="17007840" cy="1661160"/>
              <a:chOff x="0" y="0"/>
              <a:chExt cx="17007840" cy="166116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Grouping: In Code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5875" y="2194560"/>
              <a:ext cx="10698480" cy="1645920"/>
              <a:chOff x="0" y="0"/>
              <a:chExt cx="10698480" cy="164592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418211" y="2560320"/>
              <a:ext cx="237744" cy="237744"/>
              <a:chOff x="0" y="0"/>
              <a:chExt cx="237744" cy="23774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857123" y="2560320"/>
              <a:ext cx="237744" cy="237744"/>
              <a:chOff x="0" y="0"/>
              <a:chExt cx="237744" cy="23774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96035" y="2560320"/>
              <a:ext cx="237744" cy="237744"/>
              <a:chOff x="0" y="0"/>
              <a:chExt cx="237744" cy="23774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527939" y="303276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df.groupby("Region")["Sales"].sum()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0" y="4190365"/>
              <a:ext cx="10730230" cy="2957830"/>
              <a:chOff x="0" y="0"/>
              <a:chExt cx="10730230" cy="295783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730230" cy="2957830"/>
              </a:xfrm>
              <a:custGeom>
                <a:avLst/>
                <a:gdLst/>
                <a:ahLst/>
                <a:cxnLst/>
                <a:rect r="r" b="b" t="t" l="l"/>
                <a:pathLst>
                  <a:path h="2957830" w="10730230">
                    <a:moveTo>
                      <a:pt x="0" y="110871"/>
                    </a:moveTo>
                    <a:cubicBezTo>
                      <a:pt x="0" y="49657"/>
                      <a:pt x="49657" y="0"/>
                      <a:pt x="110871" y="0"/>
                    </a:cubicBezTo>
                    <a:lnTo>
                      <a:pt x="10619359" y="0"/>
                    </a:lnTo>
                    <a:cubicBezTo>
                      <a:pt x="10680573" y="0"/>
                      <a:pt x="10730230" y="49657"/>
                      <a:pt x="10730230" y="110871"/>
                    </a:cubicBezTo>
                    <a:lnTo>
                      <a:pt x="10730230" y="2846959"/>
                    </a:lnTo>
                    <a:cubicBezTo>
                      <a:pt x="10730230" y="2908173"/>
                      <a:pt x="10680573" y="2957830"/>
                      <a:pt x="10619359" y="2957830"/>
                    </a:cubicBezTo>
                    <a:lnTo>
                      <a:pt x="110871" y="2957830"/>
                    </a:lnTo>
                    <a:cubicBezTo>
                      <a:pt x="49657" y="2957830"/>
                      <a:pt x="0" y="2908173"/>
                      <a:pt x="0" y="28469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18211" y="4425696"/>
              <a:ext cx="9966960" cy="498348"/>
              <a:chOff x="0" y="0"/>
              <a:chExt cx="9966960" cy="49834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18211" y="4797933"/>
              <a:ext cx="9893808" cy="1867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Region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North Central     546000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North West        537000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South West       1032000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11445875" y="2651760"/>
              <a:ext cx="146304" cy="146304"/>
              <a:chOff x="0" y="0"/>
              <a:chExt cx="146304" cy="14630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11903075" y="2407666"/>
              <a:ext cx="10332720" cy="455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groupby("Region") groups every row by its Region value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11445875" y="4023360"/>
              <a:ext cx="146304" cy="146304"/>
              <a:chOff x="0" y="0"/>
              <a:chExt cx="146304" cy="14630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1903075" y="3792855"/>
              <a:ext cx="10332720" cy="455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["Sales"] selects the column to work on inside each group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11445875" y="5394960"/>
              <a:ext cx="146304" cy="146304"/>
              <a:chOff x="0" y="0"/>
              <a:chExt cx="146304" cy="14630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1903075" y="5143246"/>
              <a:ext cx="10332720" cy="455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.sum() aggregates each group down to one number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1445875" y="6766560"/>
              <a:ext cx="146304" cy="146304"/>
              <a:chOff x="0" y="0"/>
              <a:chExt cx="146304" cy="14630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11903075" y="6529324"/>
              <a:ext cx="10076823" cy="925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the group labels become the new index, sorted alphabetically by default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11994515" y="8321040"/>
              <a:ext cx="9692640" cy="1737360"/>
              <a:chOff x="0" y="0"/>
              <a:chExt cx="9692640" cy="173736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692640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58706" r="0" b="-58705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9692640" cy="1794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Try a different column: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swap ["Sales"] for ["Profit"] to group by profit instead. The groupby("Region") part never changes, only what you select and aggregate.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564515" y="12161520"/>
              <a:ext cx="21086064" cy="669823"/>
              <a:chOff x="0" y="0"/>
              <a:chExt cx="21086064" cy="66982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1086065" cy="669823"/>
              </a:xfrm>
              <a:custGeom>
                <a:avLst/>
                <a:gdLst/>
                <a:ahLst/>
                <a:cxnLst/>
                <a:rect r="r" b="b" t="t" l="l"/>
                <a:pathLst>
                  <a:path h="669823" w="21086065">
                    <a:moveTo>
                      <a:pt x="0" y="0"/>
                    </a:moveTo>
                    <a:lnTo>
                      <a:pt x="21086065" y="0"/>
                    </a:lnTo>
                    <a:lnTo>
                      <a:pt x="21086065" y="669823"/>
                    </a:lnTo>
                    <a:lnTo>
                      <a:pt x="0" y="669823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572435" r="0" b="-554343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21086064" cy="7269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South West alone outsells the other two regions combined, from ten of the twenty transactions.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7" id="7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165860" y="748665"/>
            <a:ext cx="12755880" cy="1245870"/>
            <a:chOff x="0" y="0"/>
            <a:chExt cx="17007840" cy="1661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Aggregation Functions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860" y="2139696"/>
            <a:ext cx="2057400" cy="576072"/>
            <a:chOff x="0" y="0"/>
            <a:chExt cx="2743200" cy="768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359152" y="0"/>
                  </a:lnTo>
                  <a:cubicBezTo>
                    <a:pt x="2571242" y="0"/>
                    <a:pt x="2743200" y="171958"/>
                    <a:pt x="2743200" y="384048"/>
                  </a:cubicBezTo>
                  <a:cubicBezTo>
                    <a:pt x="2743200" y="596138"/>
                    <a:pt x="2571242" y="768096"/>
                    <a:pt x="23591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139696"/>
            <a:ext cx="2057400" cy="576072"/>
            <a:chOff x="0" y="0"/>
            <a:chExt cx="274320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7432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sum()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34740" y="2057400"/>
            <a:ext cx="2880360" cy="740664"/>
            <a:chOff x="0" y="0"/>
            <a:chExt cx="3840480" cy="9875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40480" cy="987552"/>
            </a:xfrm>
            <a:custGeom>
              <a:avLst/>
              <a:gdLst/>
              <a:ahLst/>
              <a:cxnLst/>
              <a:rect r="r" b="b" t="t" l="l"/>
              <a:pathLst>
                <a:path h="98755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840480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₦2,115,000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52260" y="2057400"/>
            <a:ext cx="10396728" cy="740664"/>
            <a:chOff x="0" y="0"/>
            <a:chExt cx="13862304" cy="9875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62304" cy="987552"/>
            </a:xfrm>
            <a:custGeom>
              <a:avLst/>
              <a:gdLst/>
              <a:ahLst/>
              <a:cxnLst/>
              <a:rect r="r" b="b" t="t" l="l"/>
              <a:pathLst>
                <a:path h="987552" w="13862304">
                  <a:moveTo>
                    <a:pt x="0" y="0"/>
                  </a:moveTo>
                  <a:lnTo>
                    <a:pt x="13862304" y="0"/>
                  </a:lnTo>
                  <a:lnTo>
                    <a:pt x="1386230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3512" r="0" b="-22351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3862304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Inter"/>
                  <a:ea typeface="Inter"/>
                  <a:cs typeface="Inter"/>
                  <a:sym typeface="Inter"/>
                </a:rPr>
                <a:t>Total revenue across every transaction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5860" y="2990088"/>
            <a:ext cx="2057400" cy="576072"/>
            <a:chOff x="0" y="0"/>
            <a:chExt cx="274320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359152" y="0"/>
                  </a:lnTo>
                  <a:cubicBezTo>
                    <a:pt x="2571242" y="0"/>
                    <a:pt x="2743200" y="171958"/>
                    <a:pt x="2743200" y="384048"/>
                  </a:cubicBezTo>
                  <a:cubicBezTo>
                    <a:pt x="2743200" y="596138"/>
                    <a:pt x="2571242" y="768096"/>
                    <a:pt x="23591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2990088"/>
            <a:ext cx="2057400" cy="576072"/>
            <a:chOff x="0" y="0"/>
            <a:chExt cx="274320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7432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mean()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34740" y="2907792"/>
            <a:ext cx="2880360" cy="740664"/>
            <a:chOff x="0" y="0"/>
            <a:chExt cx="3840480" cy="9875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40480" cy="987552"/>
            </a:xfrm>
            <a:custGeom>
              <a:avLst/>
              <a:gdLst/>
              <a:ahLst/>
              <a:cxnLst/>
              <a:rect r="r" b="b" t="t" l="l"/>
              <a:pathLst>
                <a:path h="98755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840480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₦105,750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652260" y="2907792"/>
            <a:ext cx="10396728" cy="740664"/>
            <a:chOff x="0" y="0"/>
            <a:chExt cx="13862304" cy="9875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862304" cy="987552"/>
            </a:xfrm>
            <a:custGeom>
              <a:avLst/>
              <a:gdLst/>
              <a:ahLst/>
              <a:cxnLst/>
              <a:rect r="r" b="b" t="t" l="l"/>
              <a:pathLst>
                <a:path h="987552" w="13862304">
                  <a:moveTo>
                    <a:pt x="0" y="0"/>
                  </a:moveTo>
                  <a:lnTo>
                    <a:pt x="13862304" y="0"/>
                  </a:lnTo>
                  <a:lnTo>
                    <a:pt x="1386230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3512" r="0" b="-2235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3862304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Inter"/>
                  <a:ea typeface="Inter"/>
                  <a:cs typeface="Inter"/>
                  <a:sym typeface="Inter"/>
                </a:rPr>
                <a:t>The typical transaction size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5860" y="3840480"/>
            <a:ext cx="2057400" cy="576072"/>
            <a:chOff x="0" y="0"/>
            <a:chExt cx="274320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359152" y="0"/>
                  </a:lnTo>
                  <a:cubicBezTo>
                    <a:pt x="2571242" y="0"/>
                    <a:pt x="2743200" y="171958"/>
                    <a:pt x="2743200" y="384048"/>
                  </a:cubicBezTo>
                  <a:cubicBezTo>
                    <a:pt x="2743200" y="596138"/>
                    <a:pt x="2571242" y="768096"/>
                    <a:pt x="23591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65860" y="3840480"/>
            <a:ext cx="2057400" cy="576072"/>
            <a:chOff x="0" y="0"/>
            <a:chExt cx="274320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7432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count()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634740" y="3758184"/>
            <a:ext cx="2880360" cy="740664"/>
            <a:chOff x="0" y="0"/>
            <a:chExt cx="3840480" cy="9875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40480" cy="987552"/>
            </a:xfrm>
            <a:custGeom>
              <a:avLst/>
              <a:gdLst/>
              <a:ahLst/>
              <a:cxnLst/>
              <a:rect r="r" b="b" t="t" l="l"/>
              <a:pathLst>
                <a:path h="98755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840480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52260" y="3758184"/>
            <a:ext cx="10396728" cy="740664"/>
            <a:chOff x="0" y="0"/>
            <a:chExt cx="13862304" cy="9875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862304" cy="987552"/>
            </a:xfrm>
            <a:custGeom>
              <a:avLst/>
              <a:gdLst/>
              <a:ahLst/>
              <a:cxnLst/>
              <a:rect r="r" b="b" t="t" l="l"/>
              <a:pathLst>
                <a:path h="987552" w="13862304">
                  <a:moveTo>
                    <a:pt x="0" y="0"/>
                  </a:moveTo>
                  <a:lnTo>
                    <a:pt x="13862304" y="0"/>
                  </a:lnTo>
                  <a:lnTo>
                    <a:pt x="1386230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3512" r="0" b="-2235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3862304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Inter"/>
                  <a:ea typeface="Inter"/>
                  <a:cs typeface="Inter"/>
                  <a:sym typeface="Inter"/>
                </a:rPr>
                <a:t>How many transactions were recorded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5860" y="4690872"/>
            <a:ext cx="2057400" cy="576072"/>
            <a:chOff x="0" y="0"/>
            <a:chExt cx="274320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359152" y="0"/>
                  </a:lnTo>
                  <a:cubicBezTo>
                    <a:pt x="2571242" y="0"/>
                    <a:pt x="2743200" y="171958"/>
                    <a:pt x="2743200" y="384048"/>
                  </a:cubicBezTo>
                  <a:cubicBezTo>
                    <a:pt x="2743200" y="596138"/>
                    <a:pt x="2571242" y="768096"/>
                    <a:pt x="23591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4690872"/>
            <a:ext cx="2057400" cy="576072"/>
            <a:chOff x="0" y="0"/>
            <a:chExt cx="2743200" cy="7680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7432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min()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634740" y="4608576"/>
            <a:ext cx="2880360" cy="740664"/>
            <a:chOff x="0" y="0"/>
            <a:chExt cx="3840480" cy="9875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40480" cy="987552"/>
            </a:xfrm>
            <a:custGeom>
              <a:avLst/>
              <a:gdLst/>
              <a:ahLst/>
              <a:cxnLst/>
              <a:rect r="r" b="b" t="t" l="l"/>
              <a:pathLst>
                <a:path h="98755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840480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₦38,000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652260" y="4608576"/>
            <a:ext cx="10396728" cy="740664"/>
            <a:chOff x="0" y="0"/>
            <a:chExt cx="13862304" cy="9875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862304" cy="987552"/>
            </a:xfrm>
            <a:custGeom>
              <a:avLst/>
              <a:gdLst/>
              <a:ahLst/>
              <a:cxnLst/>
              <a:rect r="r" b="b" t="t" l="l"/>
              <a:pathLst>
                <a:path h="987552" w="13862304">
                  <a:moveTo>
                    <a:pt x="0" y="0"/>
                  </a:moveTo>
                  <a:lnTo>
                    <a:pt x="13862304" y="0"/>
                  </a:lnTo>
                  <a:lnTo>
                    <a:pt x="1386230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3512" r="0" b="-22351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3862304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Inter"/>
                  <a:ea typeface="Inter"/>
                  <a:cs typeface="Inter"/>
                  <a:sym typeface="Inter"/>
                </a:rPr>
                <a:t>The smallest transaction, worth checking it isn't an error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5860" y="5541264"/>
            <a:ext cx="2057400" cy="576072"/>
            <a:chOff x="0" y="0"/>
            <a:chExt cx="2743200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lnTo>
                    <a:pt x="2359152" y="0"/>
                  </a:lnTo>
                  <a:cubicBezTo>
                    <a:pt x="2571242" y="0"/>
                    <a:pt x="2743200" y="171958"/>
                    <a:pt x="2743200" y="384048"/>
                  </a:cubicBezTo>
                  <a:cubicBezTo>
                    <a:pt x="2743200" y="596138"/>
                    <a:pt x="2571242" y="768096"/>
                    <a:pt x="2359152" y="768096"/>
                  </a:cubicBezTo>
                  <a:lnTo>
                    <a:pt x="384048" y="768096"/>
                  </a:ln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65860" y="5541264"/>
            <a:ext cx="2057400" cy="576072"/>
            <a:chOff x="0" y="0"/>
            <a:chExt cx="274320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43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7432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max()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634740" y="5458968"/>
            <a:ext cx="2880360" cy="740664"/>
            <a:chOff x="0" y="0"/>
            <a:chExt cx="3840480" cy="9875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840480" cy="987552"/>
            </a:xfrm>
            <a:custGeom>
              <a:avLst/>
              <a:gdLst/>
              <a:ahLst/>
              <a:cxnLst/>
              <a:rect r="r" b="b" t="t" l="l"/>
              <a:pathLst>
                <a:path h="98755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840480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387F7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₦205,000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652260" y="5458968"/>
            <a:ext cx="10396728" cy="740664"/>
            <a:chOff x="0" y="0"/>
            <a:chExt cx="13862304" cy="9875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862304" cy="987552"/>
            </a:xfrm>
            <a:custGeom>
              <a:avLst/>
              <a:gdLst/>
              <a:ahLst/>
              <a:cxnLst/>
              <a:rect r="r" b="b" t="t" l="l"/>
              <a:pathLst>
                <a:path h="987552" w="13862304">
                  <a:moveTo>
                    <a:pt x="0" y="0"/>
                  </a:moveTo>
                  <a:lnTo>
                    <a:pt x="13862304" y="0"/>
                  </a:lnTo>
                  <a:lnTo>
                    <a:pt x="1386230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3512" r="0" b="-22351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3862304" cy="997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Inter"/>
                  <a:ea typeface="Inter"/>
                  <a:cs typeface="Inter"/>
                  <a:sym typeface="Inter"/>
                </a:rPr>
                <a:t>The largest transaction, worth checking it isn't a fluke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34440" y="6611112"/>
            <a:ext cx="15814548" cy="617220"/>
            <a:chOff x="0" y="0"/>
            <a:chExt cx="21086064" cy="822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086065" cy="822960"/>
            </a:xfrm>
            <a:custGeom>
              <a:avLst/>
              <a:gdLst/>
              <a:ahLst/>
              <a:cxnLst/>
              <a:rect r="r" b="b" t="t" l="l"/>
              <a:pathLst>
                <a:path h="82296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249" r="0" b="-44924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1086064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Every one of these is df["Sales"].sum(), df["Sales"].mean(), and so on. Five business questions, five short commands.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4440" y="7639812"/>
            <a:ext cx="15814548" cy="795528"/>
            <a:chOff x="0" y="0"/>
            <a:chExt cx="21086064" cy="106070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086065" cy="1060704"/>
            </a:xfrm>
            <a:custGeom>
              <a:avLst/>
              <a:gdLst/>
              <a:ahLst/>
              <a:cxnLst/>
              <a:rect r="r" b="b" t="t" l="l"/>
              <a:pathLst>
                <a:path h="1060704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7349" r="0" b="-33734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1086064" cy="11083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b="true">
                  <a:solidFill>
                    <a:srgbClr val="387F7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Try it grouped:  </a:t>
              </a:r>
              <a:r>
                <a:rPr lang="en-US" sz="2025">
                  <a:solidFill>
                    <a:srgbClr val="0A1A23"/>
                  </a:solidFill>
                  <a:latin typeface="Inter"/>
                  <a:ea typeface="Inter"/>
                  <a:cs typeface="Inter"/>
                  <a:sym typeface="Inter"/>
                </a:rPr>
                <a:t>df.groupby("Branch")["Sales"].sum() answers "which branch sells the most" in the same one line, this module’s next step.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1199" y="2290362"/>
            <a:ext cx="8116133" cy="1234440"/>
            <a:chOff x="0" y="0"/>
            <a:chExt cx="1082151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2151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821510">
                  <a:moveTo>
                    <a:pt x="0" y="146304"/>
                  </a:moveTo>
                  <a:cubicBezTo>
                    <a:pt x="0" y="65532"/>
                    <a:pt x="31968" y="0"/>
                    <a:pt x="71370" y="0"/>
                  </a:cubicBezTo>
                  <a:lnTo>
                    <a:pt x="10750140" y="0"/>
                  </a:lnTo>
                  <a:cubicBezTo>
                    <a:pt x="10789542" y="0"/>
                    <a:pt x="10821510" y="65532"/>
                    <a:pt x="10821510" y="146304"/>
                  </a:cubicBezTo>
                  <a:lnTo>
                    <a:pt x="10821510" y="1499616"/>
                  </a:lnTo>
                  <a:cubicBezTo>
                    <a:pt x="10821510" y="1580388"/>
                    <a:pt x="10789542" y="1645920"/>
                    <a:pt x="10750140" y="1645920"/>
                  </a:cubicBezTo>
                  <a:lnTo>
                    <a:pt x="71370" y="1645920"/>
                  </a:lnTo>
                  <a:cubicBezTo>
                    <a:pt x="31968" y="1645920"/>
                    <a:pt x="0" y="1580388"/>
                    <a:pt x="0" y="1499616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9293" y="711117"/>
            <a:ext cx="16519112" cy="9235936"/>
            <a:chOff x="0" y="0"/>
            <a:chExt cx="22025483" cy="1231458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18211" y="0"/>
              <a:ext cx="17007840" cy="1661160"/>
              <a:chOff x="0" y="0"/>
              <a:chExt cx="17007840" cy="166116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Multiple Aggregations at Once: .agg()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418211" y="2471420"/>
              <a:ext cx="237744" cy="237744"/>
              <a:chOff x="0" y="0"/>
              <a:chExt cx="237744" cy="2377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857123" y="2471420"/>
              <a:ext cx="237744" cy="237744"/>
              <a:chOff x="0" y="0"/>
              <a:chExt cx="237744" cy="23774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96035" y="2471420"/>
              <a:ext cx="237744" cy="237744"/>
              <a:chOff x="0" y="0"/>
              <a:chExt cx="237744" cy="23774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27939" y="2943860"/>
              <a:ext cx="21159216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df.groupby("Region")["Sales"].agg(["sum", "mean", "count"])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4101465"/>
              <a:ext cx="10750901" cy="2957830"/>
              <a:chOff x="0" y="0"/>
              <a:chExt cx="10750901" cy="295783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50901" cy="2957830"/>
              </a:xfrm>
              <a:custGeom>
                <a:avLst/>
                <a:gdLst/>
                <a:ahLst/>
                <a:cxnLst/>
                <a:rect r="r" b="b" t="t" l="l"/>
                <a:pathLst>
                  <a:path h="2957830" w="10750901">
                    <a:moveTo>
                      <a:pt x="0" y="110871"/>
                    </a:moveTo>
                    <a:cubicBezTo>
                      <a:pt x="0" y="49657"/>
                      <a:pt x="24031" y="0"/>
                      <a:pt x="53656" y="0"/>
                    </a:cubicBezTo>
                    <a:lnTo>
                      <a:pt x="10697246" y="0"/>
                    </a:lnTo>
                    <a:cubicBezTo>
                      <a:pt x="10726871" y="0"/>
                      <a:pt x="10750901" y="49657"/>
                      <a:pt x="10750901" y="110871"/>
                    </a:cubicBezTo>
                    <a:lnTo>
                      <a:pt x="10750901" y="2846959"/>
                    </a:lnTo>
                    <a:cubicBezTo>
                      <a:pt x="10750901" y="2908173"/>
                      <a:pt x="10726870" y="2957830"/>
                      <a:pt x="10697246" y="2957830"/>
                    </a:cubicBezTo>
                    <a:lnTo>
                      <a:pt x="53656" y="2957830"/>
                    </a:lnTo>
                    <a:cubicBezTo>
                      <a:pt x="24031" y="2957830"/>
                      <a:pt x="0" y="2908173"/>
                      <a:pt x="0" y="28469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18211" y="4336796"/>
              <a:ext cx="21451824" cy="498348"/>
              <a:chOff x="0" y="0"/>
              <a:chExt cx="21451824" cy="4983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451824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21451824">
                    <a:moveTo>
                      <a:pt x="0" y="0"/>
                    </a:moveTo>
                    <a:lnTo>
                      <a:pt x="21451824" y="0"/>
                    </a:lnTo>
                    <a:lnTo>
                      <a:pt x="21451824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94713" r="0" b="-782787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21451824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18211" y="4709033"/>
              <a:ext cx="8660583" cy="1867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Region              sum      mean  count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North Central    546000  109200.0      5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North West       537000  107400.0      5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South West      1032000  103200.0     10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07315" y="7866380"/>
              <a:ext cx="146304" cy="146304"/>
              <a:chOff x="0" y="0"/>
              <a:chExt cx="146304" cy="14630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527939" y="7652004"/>
              <a:ext cx="21488400" cy="508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instead of three separate groupby lines, .agg([...]) runs all three at once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107315" y="8689340"/>
              <a:ext cx="146304" cy="146304"/>
              <a:chOff x="0" y="0"/>
              <a:chExt cx="146304" cy="14630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537083" y="8449310"/>
              <a:ext cx="21488400" cy="508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the result is one table, easy to compare regions side by side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07315" y="9512300"/>
              <a:ext cx="146304" cy="146304"/>
              <a:chOff x="0" y="0"/>
              <a:chExt cx="146304" cy="14630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537083" y="9371076"/>
              <a:ext cx="21488400" cy="5083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1"/>
                </a:lnSpc>
              </a:pPr>
              <a:r>
                <a:rPr lang="en-US" sz="217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this is the pandas version of a PivotTable with several value fields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11162157"/>
              <a:ext cx="19601861" cy="1152423"/>
              <a:chOff x="0" y="0"/>
              <a:chExt cx="19601861" cy="115242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601861" cy="1152423"/>
              </a:xfrm>
              <a:custGeom>
                <a:avLst/>
                <a:gdLst/>
                <a:ahLst/>
                <a:cxnLst/>
                <a:rect r="r" b="b" t="t" l="l"/>
                <a:pathLst>
                  <a:path h="1152423" w="19601861">
                    <a:moveTo>
                      <a:pt x="0" y="0"/>
                    </a:moveTo>
                    <a:lnTo>
                      <a:pt x="19601861" y="0"/>
                    </a:lnTo>
                    <a:lnTo>
                      <a:pt x="19601861" y="1152423"/>
                    </a:lnTo>
                    <a:lnTo>
                      <a:pt x="0" y="115242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2880" r="-7571" b="-30016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19601861" cy="12095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i="true">
                    <a:solidFill>
                      <a:srgbClr val="0A1A23"/>
                    </a:solidFill>
                    <a:latin typeface="Poppins Italics"/>
                    <a:ea typeface="Poppins Italics"/>
                    <a:cs typeface="Poppins Italics"/>
                    <a:sym typeface="Poppins Italics"/>
                  </a:rPr>
                  <a:t>South West has the most transactions and the highest total, but the lowest average transaction size, three numbers tell a fuller story than one.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7" id="37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38" id="38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39" id="39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7" id="7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805577" y="857250"/>
            <a:ext cx="16676846" cy="6709220"/>
            <a:chOff x="0" y="0"/>
            <a:chExt cx="22235795" cy="894562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527939" y="0"/>
              <a:ext cx="17007840" cy="1661160"/>
              <a:chOff x="0" y="0"/>
              <a:chExt cx="17007840" cy="166116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Calculated Columns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5875" y="2131060"/>
              <a:ext cx="10698480" cy="1645920"/>
              <a:chOff x="0" y="0"/>
              <a:chExt cx="10698480" cy="164592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698480" cy="1645920"/>
              </a:xfrm>
              <a:custGeom>
                <a:avLst/>
                <a:gdLst/>
                <a:ahLst/>
                <a:cxnLst/>
                <a:rect r="r" b="b" t="t" l="l"/>
                <a:pathLst>
                  <a:path h="164592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1499616"/>
                    </a:lnTo>
                    <a:cubicBezTo>
                      <a:pt x="10698480" y="1580388"/>
                      <a:pt x="10632948" y="1645920"/>
                      <a:pt x="10552176" y="1645920"/>
                    </a:cubicBezTo>
                    <a:lnTo>
                      <a:pt x="146304" y="1645920"/>
                    </a:lnTo>
                    <a:cubicBezTo>
                      <a:pt x="65532" y="1645920"/>
                      <a:pt x="0" y="1580388"/>
                      <a:pt x="0" y="14996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418211" y="2496820"/>
              <a:ext cx="237744" cy="237744"/>
              <a:chOff x="0" y="0"/>
              <a:chExt cx="237744" cy="23774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857123" y="2496820"/>
              <a:ext cx="237744" cy="237744"/>
              <a:chOff x="0" y="0"/>
              <a:chExt cx="237744" cy="23774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96035" y="2496820"/>
              <a:ext cx="237744" cy="237744"/>
              <a:chOff x="0" y="0"/>
              <a:chExt cx="237744" cy="23774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527939" y="2969260"/>
              <a:ext cx="967435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df["Profit_check"] = df["Sales"] - df["Cost"]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0" y="4126865"/>
              <a:ext cx="10730230" cy="2409190"/>
              <a:chOff x="0" y="0"/>
              <a:chExt cx="10730230" cy="24091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730230" cy="2409190"/>
              </a:xfrm>
              <a:custGeom>
                <a:avLst/>
                <a:gdLst/>
                <a:ahLst/>
                <a:cxnLst/>
                <a:rect r="r" b="b" t="t" l="l"/>
                <a:pathLst>
                  <a:path h="2409190" w="1073023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lnTo>
                      <a:pt x="10619105" y="0"/>
                    </a:lnTo>
                    <a:cubicBezTo>
                      <a:pt x="10680574" y="0"/>
                      <a:pt x="10730230" y="49784"/>
                      <a:pt x="10730230" y="111125"/>
                    </a:cubicBezTo>
                    <a:lnTo>
                      <a:pt x="10730230" y="2298065"/>
                    </a:lnTo>
                    <a:cubicBezTo>
                      <a:pt x="10730230" y="2359533"/>
                      <a:pt x="10680447" y="2409190"/>
                      <a:pt x="10619105" y="2409190"/>
                    </a:cubicBezTo>
                    <a:lnTo>
                      <a:pt x="111125" y="2409190"/>
                    </a:lnTo>
                    <a:cubicBezTo>
                      <a:pt x="49657" y="2409190"/>
                      <a:pt x="0" y="2359406"/>
                      <a:pt x="0" y="2298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18211" y="4362196"/>
              <a:ext cx="9966960" cy="498348"/>
              <a:chOff x="0" y="0"/>
              <a:chExt cx="9966960" cy="49834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18211" y="4743958"/>
              <a:ext cx="9893808" cy="127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Sales    Cost   Profit  Profit_check</a:t>
              </a:r>
            </a:p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145000  123250   21750         21750</a:t>
              </a:r>
            </a:p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 98000   83300   14700         14700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11445875" y="2588260"/>
              <a:ext cx="146304" cy="146304"/>
              <a:chOff x="0" y="0"/>
              <a:chExt cx="146304" cy="14630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11903075" y="2370709"/>
              <a:ext cx="1033272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one line creates a brand-new column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11445875" y="3959860"/>
              <a:ext cx="146304" cy="146304"/>
              <a:chOff x="0" y="0"/>
              <a:chExt cx="146304" cy="14630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1903075" y="3852291"/>
              <a:ext cx="10332720" cy="94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the calculation applies to all twenty rows at once, no dragging a formula down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11445875" y="5331460"/>
              <a:ext cx="146304" cy="146304"/>
              <a:chOff x="0" y="0"/>
              <a:chExt cx="146304" cy="14630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1903075" y="5192649"/>
              <a:ext cx="10332720" cy="94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df["New Column"] = ... is the general pattern for any calculation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1903075" y="7208266"/>
              <a:ext cx="9692640" cy="1737360"/>
              <a:chOff x="0" y="0"/>
              <a:chExt cx="9692640" cy="173736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692640" cy="1737360"/>
              </a:xfrm>
              <a:custGeom>
                <a:avLst/>
                <a:gdLst/>
                <a:ahLst/>
                <a:cxnLst/>
                <a:rect r="r" b="b" t="t" l="l"/>
                <a:pathLst>
                  <a:path h="1737360" w="9692640">
                    <a:moveTo>
                      <a:pt x="0" y="0"/>
                    </a:moveTo>
                    <a:lnTo>
                      <a:pt x="9692640" y="0"/>
                    </a:lnTo>
                    <a:lnTo>
                      <a:pt x="9692640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58706" r="0" b="-58705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9692640" cy="1794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Verify it: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(df["Profit_check"] == df["Profit"]).all() → True. The recomputed figure matches the one already in the source file, on every row.</a:t>
                </a: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805577" y="8070916"/>
            <a:ext cx="15814548" cy="1028700"/>
            <a:chOff x="0" y="0"/>
            <a:chExt cx="21086064" cy="137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08606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9549" r="0" b="-24954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1086064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Excel parallel:  </a:t>
              </a: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the same idea as typing =Sales-Cost into one cell and filling it down the column, except one line does all twenty rows immediately, and would do a million just as fast.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463534" y="3432516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63534" y="9346355"/>
            <a:ext cx="647224" cy="571500"/>
            <a:chOff x="0" y="0"/>
            <a:chExt cx="862965" cy="762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2" t="0" r="-77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250" y="2479630"/>
            <a:ext cx="109728" cy="109728"/>
            <a:chOff x="0" y="0"/>
            <a:chExt cx="146304" cy="146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4075" y="2375622"/>
            <a:ext cx="16116300" cy="72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NumPy is the numerical engine pandas is built on. Every pandas column is a NumPy array underneath, which is why dtypes are named int64 and float64, NumPy's names, not pandas' own.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7250" y="3489666"/>
            <a:ext cx="16388810" cy="5155406"/>
            <a:chOff x="0" y="0"/>
            <a:chExt cx="21851747" cy="687387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15875" y="0"/>
              <a:ext cx="10698480" cy="4754880"/>
              <a:chOff x="0" y="0"/>
              <a:chExt cx="10698480" cy="47548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698480" cy="4754880"/>
              </a:xfrm>
              <a:custGeom>
                <a:avLst/>
                <a:gdLst/>
                <a:ahLst/>
                <a:cxnLst/>
                <a:rect r="r" b="b" t="t" l="l"/>
                <a:pathLst>
                  <a:path h="4754880" w="10698480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10552176" y="0"/>
                    </a:lnTo>
                    <a:cubicBezTo>
                      <a:pt x="10632948" y="0"/>
                      <a:pt x="10698480" y="65532"/>
                      <a:pt x="10698480" y="146304"/>
                    </a:cubicBezTo>
                    <a:lnTo>
                      <a:pt x="10698480" y="4608576"/>
                    </a:lnTo>
                    <a:cubicBezTo>
                      <a:pt x="10698480" y="4689348"/>
                      <a:pt x="10632948" y="4754880"/>
                      <a:pt x="10552176" y="4754880"/>
                    </a:cubicBezTo>
                    <a:lnTo>
                      <a:pt x="146304" y="4754880"/>
                    </a:lnTo>
                    <a:cubicBezTo>
                      <a:pt x="65532" y="4754880"/>
                      <a:pt x="0" y="4689348"/>
                      <a:pt x="0" y="460857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18211" y="365760"/>
              <a:ext cx="237744" cy="237744"/>
              <a:chOff x="0" y="0"/>
              <a:chExt cx="237744" cy="23774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857123" y="365760"/>
              <a:ext cx="237744" cy="237744"/>
              <a:chOff x="0" y="0"/>
              <a:chExt cx="237744" cy="23774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96035" y="365760"/>
              <a:ext cx="237744" cy="237744"/>
              <a:chOff x="0" y="0"/>
              <a:chExt cx="237744" cy="2377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527939" y="292608"/>
              <a:ext cx="9674352" cy="498348"/>
              <a:chOff x="0" y="0"/>
              <a:chExt cx="9674352" cy="4983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674352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674352">
                    <a:moveTo>
                      <a:pt x="0" y="0"/>
                    </a:moveTo>
                    <a:lnTo>
                      <a:pt x="9674352" y="0"/>
                    </a:lnTo>
                    <a:lnTo>
                      <a:pt x="9674352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32388" r="0" b="-324131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9674352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1800"/>
                  </a:lnSpc>
                </a:pPr>
                <a:r>
                  <a:rPr lang="en-US" sz="1500">
                    <a:solidFill>
                      <a:srgbClr val="8FA3A5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conditional calculation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27939" y="838200"/>
              <a:ext cx="9674352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import numpy as np</a:t>
              </a:r>
            </a:p>
            <a:p>
              <a:pPr algn="l">
                <a:lnSpc>
                  <a:spcPts val="2812"/>
                </a:lnSpc>
              </a:pP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df["Sales_Tier"] = np.where(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    df["Sales"] &gt; 100000,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    "High", "Low"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5013325"/>
              <a:ext cx="10730230" cy="1860550"/>
              <a:chOff x="0" y="0"/>
              <a:chExt cx="10730230" cy="18605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730230" cy="1860550"/>
              </a:xfrm>
              <a:custGeom>
                <a:avLst/>
                <a:gdLst/>
                <a:ahLst/>
                <a:cxnLst/>
                <a:rect r="r" b="b" t="t" l="l"/>
                <a:pathLst>
                  <a:path h="1860550" w="10730230">
                    <a:moveTo>
                      <a:pt x="0" y="111633"/>
                    </a:moveTo>
                    <a:cubicBezTo>
                      <a:pt x="0" y="50038"/>
                      <a:pt x="50038" y="0"/>
                      <a:pt x="111633" y="0"/>
                    </a:cubicBezTo>
                    <a:lnTo>
                      <a:pt x="10618597" y="0"/>
                    </a:lnTo>
                    <a:cubicBezTo>
                      <a:pt x="10680192" y="0"/>
                      <a:pt x="10730230" y="50038"/>
                      <a:pt x="10730230" y="111633"/>
                    </a:cubicBezTo>
                    <a:lnTo>
                      <a:pt x="10730230" y="1748917"/>
                    </a:lnTo>
                    <a:cubicBezTo>
                      <a:pt x="10730230" y="1810512"/>
                      <a:pt x="10680192" y="1860550"/>
                      <a:pt x="10618597" y="1860550"/>
                    </a:cubicBezTo>
                    <a:lnTo>
                      <a:pt x="111633" y="1860550"/>
                    </a:lnTo>
                    <a:cubicBezTo>
                      <a:pt x="50038" y="1860550"/>
                      <a:pt x="0" y="1810512"/>
                      <a:pt x="0" y="17489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18211" y="5248656"/>
              <a:ext cx="9966960" cy="498348"/>
              <a:chOff x="0" y="0"/>
              <a:chExt cx="9966960" cy="49834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18211" y="5620893"/>
              <a:ext cx="9893808" cy="927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High: 10 transactions</a:t>
              </a:r>
            </a:p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Low:  10 transactions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11482451" y="0"/>
              <a:ext cx="10296144" cy="2560320"/>
              <a:chOff x="0" y="0"/>
              <a:chExt cx="10296144" cy="256032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296144" cy="2560320"/>
              </a:xfrm>
              <a:custGeom>
                <a:avLst/>
                <a:gdLst/>
                <a:ahLst/>
                <a:cxnLst/>
                <a:rect r="r" b="b" t="t" l="l"/>
                <a:pathLst>
                  <a:path h="2560320" w="10296144">
                    <a:moveTo>
                      <a:pt x="0" y="146304"/>
                    </a:moveTo>
                    <a:cubicBezTo>
                      <a:pt x="0" y="65532"/>
                      <a:pt x="63068" y="0"/>
                      <a:pt x="140802" y="0"/>
                    </a:cubicBezTo>
                    <a:lnTo>
                      <a:pt x="10155342" y="0"/>
                    </a:lnTo>
                    <a:cubicBezTo>
                      <a:pt x="10233076" y="0"/>
                      <a:pt x="10296144" y="65532"/>
                      <a:pt x="10296144" y="146304"/>
                    </a:cubicBezTo>
                    <a:lnTo>
                      <a:pt x="10296144" y="2414016"/>
                    </a:lnTo>
                    <a:cubicBezTo>
                      <a:pt x="10296144" y="2494788"/>
                      <a:pt x="10233076" y="2560320"/>
                      <a:pt x="10155342" y="2560320"/>
                    </a:cubicBezTo>
                    <a:lnTo>
                      <a:pt x="140802" y="2560320"/>
                    </a:lnTo>
                    <a:cubicBezTo>
                      <a:pt x="63068" y="2560320"/>
                      <a:pt x="0" y="2494788"/>
                      <a:pt x="0" y="2414016"/>
                    </a:cubicBezTo>
                    <a:close/>
                  </a:path>
                </a:pathLst>
              </a:custGeom>
              <a:solidFill>
                <a:srgbClr val="0A1A23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884787" y="365760"/>
              <a:ext cx="237744" cy="237744"/>
              <a:chOff x="0" y="0"/>
              <a:chExt cx="237744" cy="23774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323699" y="365760"/>
              <a:ext cx="237744" cy="237744"/>
              <a:chOff x="0" y="0"/>
              <a:chExt cx="237744" cy="23774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E8B93F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762611" y="365760"/>
              <a:ext cx="237744" cy="237744"/>
              <a:chOff x="0" y="0"/>
              <a:chExt cx="237744" cy="23774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37744" cy="237744"/>
              </a:xfrm>
              <a:custGeom>
                <a:avLst/>
                <a:gdLst/>
                <a:ahLst/>
                <a:cxnLst/>
                <a:rect r="r" b="b" t="t" l="l"/>
                <a:pathLst>
                  <a:path h="237744" w="237744">
                    <a:moveTo>
                      <a:pt x="0" y="118872"/>
                    </a:moveTo>
                    <a:cubicBezTo>
                      <a:pt x="0" y="53213"/>
                      <a:pt x="53213" y="0"/>
                      <a:pt x="118872" y="0"/>
                    </a:cubicBezTo>
                    <a:cubicBezTo>
                      <a:pt x="184531" y="0"/>
                      <a:pt x="237744" y="53213"/>
                      <a:pt x="237744" y="118872"/>
                    </a:cubicBezTo>
                    <a:cubicBezTo>
                      <a:pt x="237744" y="184531"/>
                      <a:pt x="184531" y="237744"/>
                      <a:pt x="118872" y="237744"/>
                    </a:cubicBezTo>
                    <a:cubicBezTo>
                      <a:pt x="53213" y="237744"/>
                      <a:pt x="0" y="184531"/>
                      <a:pt x="0" y="118872"/>
                    </a:cubicBezTo>
                    <a:close/>
                  </a:path>
                </a:pathLst>
              </a:custGeom>
              <a:solidFill>
                <a:srgbClr val="3FA76B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994515" y="292608"/>
              <a:ext cx="9674352" cy="498348"/>
              <a:chOff x="0" y="0"/>
              <a:chExt cx="9674352" cy="498348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9674352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674352">
                    <a:moveTo>
                      <a:pt x="0" y="0"/>
                    </a:moveTo>
                    <a:lnTo>
                      <a:pt x="9674352" y="0"/>
                    </a:lnTo>
                    <a:lnTo>
                      <a:pt x="9674352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32388" r="0" b="-324131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9050"/>
                <a:ext cx="9674352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1800"/>
                  </a:lnSpc>
                </a:pPr>
                <a:r>
                  <a:rPr lang="en-US" sz="1500">
                    <a:solidFill>
                      <a:srgbClr val="8FA3A5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rounded math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1994515" y="838200"/>
              <a:ext cx="9674352" cy="1390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df["Estimated_Units"] = np.round(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    df["Sales"] / df["Price"], 1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11466576" y="2818765"/>
              <a:ext cx="10312019" cy="1860550"/>
              <a:chOff x="0" y="0"/>
              <a:chExt cx="10312019" cy="186055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312019" cy="1860550"/>
              </a:xfrm>
              <a:custGeom>
                <a:avLst/>
                <a:gdLst/>
                <a:ahLst/>
                <a:cxnLst/>
                <a:rect r="r" b="b" t="t" l="l"/>
                <a:pathLst>
                  <a:path h="1860550" w="10312019">
                    <a:moveTo>
                      <a:pt x="0" y="111633"/>
                    </a:moveTo>
                    <a:cubicBezTo>
                      <a:pt x="0" y="50038"/>
                      <a:pt x="48088" y="0"/>
                      <a:pt x="107282" y="0"/>
                    </a:cubicBezTo>
                    <a:lnTo>
                      <a:pt x="10204737" y="0"/>
                    </a:lnTo>
                    <a:cubicBezTo>
                      <a:pt x="10263931" y="0"/>
                      <a:pt x="10312019" y="50038"/>
                      <a:pt x="10312019" y="111633"/>
                    </a:cubicBezTo>
                    <a:lnTo>
                      <a:pt x="10312019" y="1748917"/>
                    </a:lnTo>
                    <a:cubicBezTo>
                      <a:pt x="10312019" y="1810512"/>
                      <a:pt x="10263931" y="1860550"/>
                      <a:pt x="10204737" y="1860550"/>
                    </a:cubicBezTo>
                    <a:lnTo>
                      <a:pt x="107282" y="1860550"/>
                    </a:lnTo>
                    <a:cubicBezTo>
                      <a:pt x="48088" y="1860550"/>
                      <a:pt x="0" y="1810512"/>
                      <a:pt x="0" y="17489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12" cap="sq">
                <a:solidFill>
                  <a:srgbClr val="387F7F"/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1884787" y="3054096"/>
              <a:ext cx="9966960" cy="498348"/>
              <a:chOff x="0" y="0"/>
              <a:chExt cx="9966960" cy="498348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966960" cy="498348"/>
              </a:xfrm>
              <a:custGeom>
                <a:avLst/>
                <a:gdLst/>
                <a:ahLst/>
                <a:cxnLst/>
                <a:rect r="r" b="b" t="t" l="l"/>
                <a:pathLst>
                  <a:path h="498348" w="9966960">
                    <a:moveTo>
                      <a:pt x="0" y="0"/>
                    </a:moveTo>
                    <a:lnTo>
                      <a:pt x="9966960" y="0"/>
                    </a:lnTo>
                    <a:lnTo>
                      <a:pt x="9966960" y="498348"/>
                    </a:lnTo>
                    <a:lnTo>
                      <a:pt x="0" y="498348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345664" r="0" b="-333737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9966960" cy="517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b="true" sz="1500" spc="150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</a:t>
                </a: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1884787" y="3435858"/>
              <a:ext cx="9893808" cy="847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Sales=145000, Price=29000  →  5.0</a:t>
              </a:r>
            </a:p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Sales=98000,  Price=NaN    →  NaN</a:t>
              </a:r>
            </a:p>
          </p:txBody>
        </p:sp>
        <p:grpSp>
          <p:nvGrpSpPr>
            <p:cNvPr name="Group 47" id="47"/>
            <p:cNvGrpSpPr/>
            <p:nvPr/>
          </p:nvGrpSpPr>
          <p:grpSpPr>
            <a:xfrm rot="0">
              <a:off x="12031091" y="5120640"/>
              <a:ext cx="9601200" cy="1635023"/>
              <a:chOff x="0" y="0"/>
              <a:chExt cx="9601200" cy="163502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601200" cy="1635023"/>
              </a:xfrm>
              <a:custGeom>
                <a:avLst/>
                <a:gdLst/>
                <a:ahLst/>
                <a:cxnLst/>
                <a:rect r="r" b="b" t="t" l="l"/>
                <a:pathLst>
                  <a:path h="1635023" w="9601200">
                    <a:moveTo>
                      <a:pt x="0" y="0"/>
                    </a:moveTo>
                    <a:lnTo>
                      <a:pt x="9601200" y="0"/>
                    </a:lnTo>
                    <a:lnTo>
                      <a:pt x="9601200" y="1635023"/>
                    </a:lnTo>
                    <a:lnTo>
                      <a:pt x="0" y="1635023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69679" r="0" b="-59160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9601200" cy="16921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67"/>
                  </a:lnSpc>
                </a:pPr>
                <a:r>
                  <a:rPr lang="en-US" sz="2025" b="true">
                    <a:solidFill>
                      <a:srgbClr val="387F7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Notice:  </a:t>
                </a:r>
                <a:r>
                  <a:rPr lang="en-US" sz="202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 missing Price produces a missing result. NaN spreads through arithmetic, exactly why Module 5.2 checks isna() first.</a:t>
                </a:r>
              </a:p>
            </p:txBody>
          </p:sp>
        </p:grpSp>
      </p:grpSp>
      <p:grpSp>
        <p:nvGrpSpPr>
          <p:cNvPr name="Group 50" id="50"/>
          <p:cNvGrpSpPr/>
          <p:nvPr/>
        </p:nvGrpSpPr>
        <p:grpSpPr>
          <a:xfrm rot="0">
            <a:off x="1195981" y="844002"/>
            <a:ext cx="12755880" cy="1245870"/>
            <a:chOff x="0" y="0"/>
            <a:chExt cx="17007840" cy="1661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NumPy Essentials for Analysts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46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748665"/>
            <a:ext cx="12755880" cy="1245870"/>
            <a:chOff x="0" y="0"/>
            <a:chExt cx="1700784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Combining Operations: One Workflow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2057400"/>
            <a:ext cx="15814548" cy="891540"/>
            <a:chOff x="0" y="0"/>
            <a:chExt cx="21086064" cy="1188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8606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634" r="0" b="-29563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086064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 </a:t>
              </a: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among high-value transactions (Sales above ₦100,000), which region generated the most profit, and how many estimated units did it move?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360420"/>
            <a:ext cx="16226028" cy="754380"/>
            <a:chOff x="0" y="0"/>
            <a:chExt cx="21634704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347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634704">
                  <a:moveTo>
                    <a:pt x="0" y="109728"/>
                  </a:moveTo>
                  <a:cubicBezTo>
                    <a:pt x="0" y="49149"/>
                    <a:pt x="47933" y="0"/>
                    <a:pt x="107014" y="0"/>
                  </a:cubicBezTo>
                  <a:lnTo>
                    <a:pt x="21527689" y="0"/>
                  </a:lnTo>
                  <a:cubicBezTo>
                    <a:pt x="21586771" y="0"/>
                    <a:pt x="21634704" y="49149"/>
                    <a:pt x="21634704" y="109728"/>
                  </a:cubicBezTo>
                  <a:lnTo>
                    <a:pt x="21634704" y="896112"/>
                  </a:lnTo>
                  <a:cubicBezTo>
                    <a:pt x="21634704" y="956691"/>
                    <a:pt x="21586771" y="1005840"/>
                    <a:pt x="21527689" y="1005840"/>
                  </a:cubicBezTo>
                  <a:lnTo>
                    <a:pt x="107014" y="1005840"/>
                  </a:lnTo>
                  <a:cubicBezTo>
                    <a:pt x="47933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360420"/>
            <a:ext cx="3566160" cy="754380"/>
            <a:chOff x="0" y="0"/>
            <a:chExt cx="475488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754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FD1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 Filter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74920" y="3360420"/>
            <a:ext cx="11974068" cy="754380"/>
            <a:chOff x="0" y="0"/>
            <a:chExt cx="15965424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654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965424">
                  <a:moveTo>
                    <a:pt x="0" y="0"/>
                  </a:moveTo>
                  <a:lnTo>
                    <a:pt x="15965424" y="0"/>
                  </a:lnTo>
                  <a:lnTo>
                    <a:pt x="1596542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280" r="0" b="-2592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965424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df[df["Sales"] &gt; 100000]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251960"/>
            <a:ext cx="16226028" cy="754380"/>
            <a:chOff x="0" y="0"/>
            <a:chExt cx="21634704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6347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634704">
                  <a:moveTo>
                    <a:pt x="0" y="109728"/>
                  </a:moveTo>
                  <a:cubicBezTo>
                    <a:pt x="0" y="49149"/>
                    <a:pt x="47933" y="0"/>
                    <a:pt x="107014" y="0"/>
                  </a:cubicBezTo>
                  <a:lnTo>
                    <a:pt x="21527689" y="0"/>
                  </a:lnTo>
                  <a:cubicBezTo>
                    <a:pt x="21586771" y="0"/>
                    <a:pt x="21634704" y="49149"/>
                    <a:pt x="21634704" y="109728"/>
                  </a:cubicBezTo>
                  <a:lnTo>
                    <a:pt x="21634704" y="896112"/>
                  </a:lnTo>
                  <a:cubicBezTo>
                    <a:pt x="21634704" y="956691"/>
                    <a:pt x="21586771" y="1005840"/>
                    <a:pt x="21527689" y="1005840"/>
                  </a:cubicBezTo>
                  <a:lnTo>
                    <a:pt x="107014" y="1005840"/>
                  </a:lnTo>
                  <a:cubicBezTo>
                    <a:pt x="47933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4440" y="4251960"/>
            <a:ext cx="3566160" cy="754380"/>
            <a:chOff x="0" y="0"/>
            <a:chExt cx="475488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754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FD1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 Calculate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74920" y="4251960"/>
            <a:ext cx="11974068" cy="754380"/>
            <a:chOff x="0" y="0"/>
            <a:chExt cx="15965424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9654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965424">
                  <a:moveTo>
                    <a:pt x="0" y="0"/>
                  </a:moveTo>
                  <a:lnTo>
                    <a:pt x="15965424" y="0"/>
                  </a:lnTo>
                  <a:lnTo>
                    <a:pt x="1596542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280" r="0" b="-2592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5965424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df["Estimated_Units"] = np.round(df["Sales"]/df["Price"], 1)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5143500"/>
            <a:ext cx="16226028" cy="754380"/>
            <a:chOff x="0" y="0"/>
            <a:chExt cx="21634704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347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634704">
                  <a:moveTo>
                    <a:pt x="0" y="109728"/>
                  </a:moveTo>
                  <a:cubicBezTo>
                    <a:pt x="0" y="49149"/>
                    <a:pt x="47933" y="0"/>
                    <a:pt x="107014" y="0"/>
                  </a:cubicBezTo>
                  <a:lnTo>
                    <a:pt x="21527689" y="0"/>
                  </a:lnTo>
                  <a:cubicBezTo>
                    <a:pt x="21586771" y="0"/>
                    <a:pt x="21634704" y="49149"/>
                    <a:pt x="21634704" y="109728"/>
                  </a:cubicBezTo>
                  <a:lnTo>
                    <a:pt x="21634704" y="896112"/>
                  </a:lnTo>
                  <a:cubicBezTo>
                    <a:pt x="21634704" y="956691"/>
                    <a:pt x="21586771" y="1005840"/>
                    <a:pt x="21527689" y="1005840"/>
                  </a:cubicBezTo>
                  <a:lnTo>
                    <a:pt x="107014" y="1005840"/>
                  </a:lnTo>
                  <a:cubicBezTo>
                    <a:pt x="47933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5143500"/>
            <a:ext cx="3566160" cy="754380"/>
            <a:chOff x="0" y="0"/>
            <a:chExt cx="475488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754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FD1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3. Sort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74920" y="5143500"/>
            <a:ext cx="11974068" cy="754380"/>
            <a:chOff x="0" y="0"/>
            <a:chExt cx="15965424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9654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965424">
                  <a:moveTo>
                    <a:pt x="0" y="0"/>
                  </a:moveTo>
                  <a:lnTo>
                    <a:pt x="15965424" y="0"/>
                  </a:lnTo>
                  <a:lnTo>
                    <a:pt x="1596542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280" r="0" b="-2592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5965424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df.sort_values("Sales", ascending=False)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6035040"/>
            <a:ext cx="16226028" cy="754380"/>
            <a:chOff x="0" y="0"/>
            <a:chExt cx="21634704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6347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634704">
                  <a:moveTo>
                    <a:pt x="0" y="109728"/>
                  </a:moveTo>
                  <a:cubicBezTo>
                    <a:pt x="0" y="49149"/>
                    <a:pt x="47933" y="0"/>
                    <a:pt x="107014" y="0"/>
                  </a:cubicBezTo>
                  <a:lnTo>
                    <a:pt x="21527689" y="0"/>
                  </a:lnTo>
                  <a:cubicBezTo>
                    <a:pt x="21586771" y="0"/>
                    <a:pt x="21634704" y="49149"/>
                    <a:pt x="21634704" y="109728"/>
                  </a:cubicBezTo>
                  <a:lnTo>
                    <a:pt x="21634704" y="896112"/>
                  </a:lnTo>
                  <a:cubicBezTo>
                    <a:pt x="21634704" y="956691"/>
                    <a:pt x="21586771" y="1005840"/>
                    <a:pt x="21527689" y="1005840"/>
                  </a:cubicBezTo>
                  <a:lnTo>
                    <a:pt x="107014" y="1005840"/>
                  </a:lnTo>
                  <a:cubicBezTo>
                    <a:pt x="47933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4440" y="6035040"/>
            <a:ext cx="3566160" cy="754380"/>
            <a:chOff x="0" y="0"/>
            <a:chExt cx="475488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754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FD1B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4. Group + aggregate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74920" y="6035040"/>
            <a:ext cx="11974068" cy="754380"/>
            <a:chOff x="0" y="0"/>
            <a:chExt cx="15965424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9654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965424">
                  <a:moveTo>
                    <a:pt x="0" y="0"/>
                  </a:moveTo>
                  <a:lnTo>
                    <a:pt x="15965424" y="0"/>
                  </a:lnTo>
                  <a:lnTo>
                    <a:pt x="1596542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280" r="0" b="-2592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965424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4F1EF"/>
                  </a:solidFill>
                  <a:latin typeface="Poppins"/>
                  <a:ea typeface="Poppins"/>
                  <a:cs typeface="Poppins"/>
                  <a:sym typeface="Poppins"/>
                </a:rPr>
                <a:t>.groupby("Region").agg(...)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1054" y="7051834"/>
            <a:ext cx="16237934" cy="2218372"/>
            <a:chOff x="0" y="0"/>
            <a:chExt cx="21650579" cy="29578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650579" cy="2957830"/>
            </a:xfrm>
            <a:custGeom>
              <a:avLst/>
              <a:gdLst/>
              <a:ahLst/>
              <a:cxnLst/>
              <a:rect r="r" b="b" t="t" l="l"/>
              <a:pathLst>
                <a:path h="2957830" w="21650579">
                  <a:moveTo>
                    <a:pt x="0" y="110871"/>
                  </a:moveTo>
                  <a:cubicBezTo>
                    <a:pt x="0" y="49657"/>
                    <a:pt x="48395" y="0"/>
                    <a:pt x="108054" y="0"/>
                  </a:cubicBezTo>
                  <a:lnTo>
                    <a:pt x="21542525" y="0"/>
                  </a:lnTo>
                  <a:cubicBezTo>
                    <a:pt x="21602185" y="0"/>
                    <a:pt x="21650579" y="49657"/>
                    <a:pt x="21650579" y="110871"/>
                  </a:cubicBezTo>
                  <a:lnTo>
                    <a:pt x="21650579" y="2846959"/>
                  </a:lnTo>
                  <a:cubicBezTo>
                    <a:pt x="21650579" y="2908173"/>
                    <a:pt x="21602184" y="2957830"/>
                    <a:pt x="21542525" y="2957830"/>
                  </a:cubicBezTo>
                  <a:lnTo>
                    <a:pt x="108054" y="2957830"/>
                  </a:lnTo>
                  <a:cubicBezTo>
                    <a:pt x="48395" y="2957830"/>
                    <a:pt x="0" y="2908173"/>
                    <a:pt x="0" y="2846959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24712" y="7228332"/>
            <a:ext cx="16088868" cy="373761"/>
            <a:chOff x="0" y="0"/>
            <a:chExt cx="21451824" cy="4983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451824" cy="498348"/>
            </a:xfrm>
            <a:custGeom>
              <a:avLst/>
              <a:gdLst/>
              <a:ahLst/>
              <a:cxnLst/>
              <a:rect r="r" b="b" t="t" l="l"/>
              <a:pathLst>
                <a:path h="498348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498348"/>
                  </a:lnTo>
                  <a:lnTo>
                    <a:pt x="0" y="498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713" r="0" b="-7827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1451824" cy="51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OUTPUT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24712" y="7490841"/>
            <a:ext cx="1603400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Region          Total_Sales  Total_Profit  Total_Estimated_Units  Transactions</a:t>
            </a:r>
          </a:p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South West           711000        106650                   40.0             5</a:t>
            </a:r>
          </a:p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North Central        399000         59850                   22.8             3</a:t>
            </a:r>
          </a:p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North West           345000         51750                   21.9             2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6463534" y="3432516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6463534" y="9346355"/>
            <a:ext cx="647224" cy="571500"/>
            <a:chOff x="0" y="0"/>
            <a:chExt cx="862965" cy="7620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309360"/>
            <a:ext cx="16637508" cy="740664"/>
            <a:chOff x="0" y="0"/>
            <a:chExt cx="22183344" cy="987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3344" cy="987552"/>
            </a:xfrm>
            <a:custGeom>
              <a:avLst/>
              <a:gdLst/>
              <a:ahLst/>
              <a:cxnLst/>
              <a:rect r="r" b="b" t="t" l="l"/>
              <a:pathLst>
                <a:path h="987552" w="22183344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2091904" y="0"/>
                  </a:lnTo>
                  <a:cubicBezTo>
                    <a:pt x="22142450" y="0"/>
                    <a:pt x="22183344" y="40894"/>
                    <a:pt x="22183344" y="91440"/>
                  </a:cubicBezTo>
                  <a:lnTo>
                    <a:pt x="22183344" y="896112"/>
                  </a:lnTo>
                  <a:cubicBezTo>
                    <a:pt x="22183344" y="946658"/>
                    <a:pt x="22142450" y="987552"/>
                    <a:pt x="22091904" y="987552"/>
                  </a:cubicBezTo>
                  <a:lnTo>
                    <a:pt x="91440" y="987552"/>
                  </a:lnTo>
                  <a:cubicBezTo>
                    <a:pt x="40894" y="987552"/>
                    <a:pt x="0" y="946658"/>
                    <a:pt x="0" y="89611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286" y="0"/>
            <a:ext cx="18288000" cy="10287000"/>
            <a:chOff x="0" y="0"/>
            <a:chExt cx="243840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748665"/>
            <a:ext cx="12755880" cy="1245870"/>
            <a:chOff x="0" y="0"/>
            <a:chExt cx="17007840" cy="1661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Excel → Pandas Translation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057400"/>
            <a:ext cx="16637508" cy="740664"/>
            <a:chOff x="0" y="0"/>
            <a:chExt cx="22183344" cy="9875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987552"/>
            </a:xfrm>
            <a:custGeom>
              <a:avLst/>
              <a:gdLst/>
              <a:ahLst/>
              <a:cxnLst/>
              <a:rect r="r" b="b" t="t" l="l"/>
              <a:pathLst>
                <a:path h="987552" w="22183344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2091904" y="0"/>
                  </a:lnTo>
                  <a:cubicBezTo>
                    <a:pt x="22142450" y="0"/>
                    <a:pt x="22183344" y="40894"/>
                    <a:pt x="22183344" y="91440"/>
                  </a:cubicBezTo>
                  <a:lnTo>
                    <a:pt x="22183344" y="896112"/>
                  </a:lnTo>
                  <a:cubicBezTo>
                    <a:pt x="22183344" y="946658"/>
                    <a:pt x="22142450" y="987552"/>
                    <a:pt x="22091904" y="987552"/>
                  </a:cubicBezTo>
                  <a:lnTo>
                    <a:pt x="91440" y="987552"/>
                  </a:lnTo>
                  <a:cubicBezTo>
                    <a:pt x="40894" y="987552"/>
                    <a:pt x="0" y="946658"/>
                    <a:pt x="0" y="89611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2057400"/>
            <a:ext cx="3703320" cy="740664"/>
            <a:chOff x="0" y="0"/>
            <a:chExt cx="4937760" cy="9875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37760" cy="987552"/>
            </a:xfrm>
            <a:custGeom>
              <a:avLst/>
              <a:gdLst/>
              <a:ahLst/>
              <a:cxnLst/>
              <a:rect r="r" b="b" t="t" l="l"/>
              <a:pathLst>
                <a:path h="9875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93776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Filter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74920" y="2057400"/>
            <a:ext cx="3977640" cy="740664"/>
            <a:chOff x="0" y="0"/>
            <a:chExt cx="5303520" cy="9875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03520" cy="987552"/>
            </a:xfrm>
            <a:custGeom>
              <a:avLst/>
              <a:gdLst/>
              <a:ahLst/>
              <a:cxnLst/>
              <a:rect r="r" b="b" t="t" l="l"/>
              <a:pathLst>
                <a:path h="98755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1" r="0" b="-546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30352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Filter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2366010"/>
            <a:ext cx="123444" cy="123444"/>
            <a:chOff x="0" y="0"/>
            <a:chExt cx="164592" cy="164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69780" y="2057400"/>
            <a:ext cx="7379208" cy="740664"/>
            <a:chOff x="0" y="0"/>
            <a:chExt cx="9838944" cy="9875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38944" cy="987552"/>
            </a:xfrm>
            <a:custGeom>
              <a:avLst/>
              <a:gdLst/>
              <a:ahLst/>
              <a:cxnLst/>
              <a:rect r="r" b="b" t="t" l="l"/>
              <a:pathLst>
                <a:path h="987552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28" r="0" b="-14412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838944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Boolean condition, e.g. df[df["Sales"] &gt; 100000]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2907792"/>
            <a:ext cx="16637508" cy="740664"/>
            <a:chOff x="0" y="0"/>
            <a:chExt cx="22183344" cy="9875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83344" cy="987552"/>
            </a:xfrm>
            <a:custGeom>
              <a:avLst/>
              <a:gdLst/>
              <a:ahLst/>
              <a:cxnLst/>
              <a:rect r="r" b="b" t="t" l="l"/>
              <a:pathLst>
                <a:path h="987552" w="22183344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2091904" y="0"/>
                  </a:lnTo>
                  <a:cubicBezTo>
                    <a:pt x="22142450" y="0"/>
                    <a:pt x="22183344" y="40894"/>
                    <a:pt x="22183344" y="91440"/>
                  </a:cubicBezTo>
                  <a:lnTo>
                    <a:pt x="22183344" y="896112"/>
                  </a:lnTo>
                  <a:cubicBezTo>
                    <a:pt x="22183344" y="946658"/>
                    <a:pt x="22142450" y="987552"/>
                    <a:pt x="22091904" y="987552"/>
                  </a:cubicBezTo>
                  <a:lnTo>
                    <a:pt x="91440" y="987552"/>
                  </a:lnTo>
                  <a:cubicBezTo>
                    <a:pt x="40894" y="987552"/>
                    <a:pt x="0" y="946658"/>
                    <a:pt x="0" y="89611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440" y="2907792"/>
            <a:ext cx="3703320" cy="740664"/>
            <a:chOff x="0" y="0"/>
            <a:chExt cx="4937760" cy="9875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37760" cy="987552"/>
            </a:xfrm>
            <a:custGeom>
              <a:avLst/>
              <a:gdLst/>
              <a:ahLst/>
              <a:cxnLst/>
              <a:rect r="r" b="b" t="t" l="l"/>
              <a:pathLst>
                <a:path h="9875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3776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Sort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74920" y="2907792"/>
            <a:ext cx="3977640" cy="740664"/>
            <a:chOff x="0" y="0"/>
            <a:chExt cx="5303520" cy="9875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3520" cy="987552"/>
            </a:xfrm>
            <a:custGeom>
              <a:avLst/>
              <a:gdLst/>
              <a:ahLst/>
              <a:cxnLst/>
              <a:rect r="r" b="b" t="t" l="l"/>
              <a:pathLst>
                <a:path h="98755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1" r="0" b="-546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30352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Sort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26880" y="3216402"/>
            <a:ext cx="123444" cy="123444"/>
            <a:chOff x="0" y="0"/>
            <a:chExt cx="164592" cy="164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69780" y="2907792"/>
            <a:ext cx="7379208" cy="740664"/>
            <a:chOff x="0" y="0"/>
            <a:chExt cx="9838944" cy="9875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38944" cy="987552"/>
            </a:xfrm>
            <a:custGeom>
              <a:avLst/>
              <a:gdLst/>
              <a:ahLst/>
              <a:cxnLst/>
              <a:rect r="r" b="b" t="t" l="l"/>
              <a:pathLst>
                <a:path h="987552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28" r="0" b="-14412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838944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.sort_values()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3758184"/>
            <a:ext cx="16637508" cy="740664"/>
            <a:chOff x="0" y="0"/>
            <a:chExt cx="22183344" cy="9875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83344" cy="987552"/>
            </a:xfrm>
            <a:custGeom>
              <a:avLst/>
              <a:gdLst/>
              <a:ahLst/>
              <a:cxnLst/>
              <a:rect r="r" b="b" t="t" l="l"/>
              <a:pathLst>
                <a:path h="987552" w="22183344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2091904" y="0"/>
                  </a:lnTo>
                  <a:cubicBezTo>
                    <a:pt x="22142450" y="0"/>
                    <a:pt x="22183344" y="40894"/>
                    <a:pt x="22183344" y="91440"/>
                  </a:cubicBezTo>
                  <a:lnTo>
                    <a:pt x="22183344" y="896112"/>
                  </a:lnTo>
                  <a:cubicBezTo>
                    <a:pt x="22183344" y="946658"/>
                    <a:pt x="22142450" y="987552"/>
                    <a:pt x="22091904" y="987552"/>
                  </a:cubicBezTo>
                  <a:lnTo>
                    <a:pt x="91440" y="987552"/>
                  </a:lnTo>
                  <a:cubicBezTo>
                    <a:pt x="40894" y="987552"/>
                    <a:pt x="0" y="946658"/>
                    <a:pt x="0" y="89611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" y="3758184"/>
            <a:ext cx="3703320" cy="740664"/>
            <a:chOff x="0" y="0"/>
            <a:chExt cx="4937760" cy="9875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37760" cy="987552"/>
            </a:xfrm>
            <a:custGeom>
              <a:avLst/>
              <a:gdLst/>
              <a:ahLst/>
              <a:cxnLst/>
              <a:rect r="r" b="b" t="t" l="l"/>
              <a:pathLst>
                <a:path h="9875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93776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Pivot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074920" y="3758184"/>
            <a:ext cx="3977640" cy="740664"/>
            <a:chOff x="0" y="0"/>
            <a:chExt cx="5303520" cy="9875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03520" cy="987552"/>
            </a:xfrm>
            <a:custGeom>
              <a:avLst/>
              <a:gdLst/>
              <a:ahLst/>
              <a:cxnLst/>
              <a:rect r="r" b="b" t="t" l="l"/>
              <a:pathLst>
                <a:path h="98755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1" r="0" b="-5464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30352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PivotTable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26880" y="4066794"/>
            <a:ext cx="123444" cy="123444"/>
            <a:chOff x="0" y="0"/>
            <a:chExt cx="164592" cy="164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69780" y="3758184"/>
            <a:ext cx="7379208" cy="740664"/>
            <a:chOff x="0" y="0"/>
            <a:chExt cx="9838944" cy="9875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838944" cy="987552"/>
            </a:xfrm>
            <a:custGeom>
              <a:avLst/>
              <a:gdLst/>
              <a:ahLst/>
              <a:cxnLst/>
              <a:rect r="r" b="b" t="t" l="l"/>
              <a:pathLst>
                <a:path h="987552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28" r="0" b="-14412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838944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.groupby()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4608576"/>
            <a:ext cx="16637508" cy="740664"/>
            <a:chOff x="0" y="0"/>
            <a:chExt cx="22183344" cy="9875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83344" cy="987552"/>
            </a:xfrm>
            <a:custGeom>
              <a:avLst/>
              <a:gdLst/>
              <a:ahLst/>
              <a:cxnLst/>
              <a:rect r="r" b="b" t="t" l="l"/>
              <a:pathLst>
                <a:path h="987552" w="22183344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2091904" y="0"/>
                  </a:lnTo>
                  <a:cubicBezTo>
                    <a:pt x="22142450" y="0"/>
                    <a:pt x="22183344" y="40894"/>
                    <a:pt x="22183344" y="91440"/>
                  </a:cubicBezTo>
                  <a:lnTo>
                    <a:pt x="22183344" y="896112"/>
                  </a:lnTo>
                  <a:cubicBezTo>
                    <a:pt x="22183344" y="946658"/>
                    <a:pt x="22142450" y="987552"/>
                    <a:pt x="22091904" y="987552"/>
                  </a:cubicBezTo>
                  <a:lnTo>
                    <a:pt x="91440" y="987552"/>
                  </a:lnTo>
                  <a:cubicBezTo>
                    <a:pt x="40894" y="987552"/>
                    <a:pt x="0" y="946658"/>
                    <a:pt x="0" y="89611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" y="4608576"/>
            <a:ext cx="3703320" cy="740664"/>
            <a:chOff x="0" y="0"/>
            <a:chExt cx="4937760" cy="9875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37760" cy="987552"/>
            </a:xfrm>
            <a:custGeom>
              <a:avLst/>
              <a:gdLst/>
              <a:ahLst/>
              <a:cxnLst/>
              <a:rect r="r" b="b" t="t" l="l"/>
              <a:pathLst>
                <a:path h="9875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93776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74920" y="4608576"/>
            <a:ext cx="3977640" cy="740664"/>
            <a:chOff x="0" y="0"/>
            <a:chExt cx="5303520" cy="9875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03520" cy="987552"/>
            </a:xfrm>
            <a:custGeom>
              <a:avLst/>
              <a:gdLst/>
              <a:ahLst/>
              <a:cxnLst/>
              <a:rect r="r" b="b" t="t" l="l"/>
              <a:pathLst>
                <a:path h="98755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1" r="0" b="-546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30352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SUM()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26880" y="4917186"/>
            <a:ext cx="123444" cy="123444"/>
            <a:chOff x="0" y="0"/>
            <a:chExt cx="164592" cy="164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69780" y="4608576"/>
            <a:ext cx="7379208" cy="740664"/>
            <a:chOff x="0" y="0"/>
            <a:chExt cx="9838944" cy="9875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838944" cy="987552"/>
            </a:xfrm>
            <a:custGeom>
              <a:avLst/>
              <a:gdLst/>
              <a:ahLst/>
              <a:cxnLst/>
              <a:rect r="r" b="b" t="t" l="l"/>
              <a:pathLst>
                <a:path h="987552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28" r="0" b="-14412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9838944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.sum()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5458968"/>
            <a:ext cx="16637508" cy="740664"/>
            <a:chOff x="0" y="0"/>
            <a:chExt cx="22183344" cy="9875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183344" cy="987552"/>
            </a:xfrm>
            <a:custGeom>
              <a:avLst/>
              <a:gdLst/>
              <a:ahLst/>
              <a:cxnLst/>
              <a:rect r="r" b="b" t="t" l="l"/>
              <a:pathLst>
                <a:path h="987552" w="22183344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2091904" y="0"/>
                  </a:lnTo>
                  <a:cubicBezTo>
                    <a:pt x="22142450" y="0"/>
                    <a:pt x="22183344" y="40894"/>
                    <a:pt x="22183344" y="91440"/>
                  </a:cubicBezTo>
                  <a:lnTo>
                    <a:pt x="22183344" y="896112"/>
                  </a:lnTo>
                  <a:cubicBezTo>
                    <a:pt x="22183344" y="946658"/>
                    <a:pt x="22142450" y="987552"/>
                    <a:pt x="22091904" y="987552"/>
                  </a:cubicBezTo>
                  <a:lnTo>
                    <a:pt x="91440" y="987552"/>
                  </a:lnTo>
                  <a:cubicBezTo>
                    <a:pt x="40894" y="987552"/>
                    <a:pt x="0" y="946658"/>
                    <a:pt x="0" y="89611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34440" y="5458968"/>
            <a:ext cx="3703320" cy="740664"/>
            <a:chOff x="0" y="0"/>
            <a:chExt cx="4937760" cy="9875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37760" cy="987552"/>
            </a:xfrm>
            <a:custGeom>
              <a:avLst/>
              <a:gdLst/>
              <a:ahLst/>
              <a:cxnLst/>
              <a:rect r="r" b="b" t="t" l="l"/>
              <a:pathLst>
                <a:path h="9875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93776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Average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074920" y="5458968"/>
            <a:ext cx="3977640" cy="740664"/>
            <a:chOff x="0" y="0"/>
            <a:chExt cx="5303520" cy="9875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03520" cy="987552"/>
            </a:xfrm>
            <a:custGeom>
              <a:avLst/>
              <a:gdLst/>
              <a:ahLst/>
              <a:cxnLst/>
              <a:rect r="r" b="b" t="t" l="l"/>
              <a:pathLst>
                <a:path h="98755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1" r="0" b="-546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30352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AVERAGE()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26880" y="5767578"/>
            <a:ext cx="123444" cy="123444"/>
            <a:chOff x="0" y="0"/>
            <a:chExt cx="164592" cy="164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69780" y="5458968"/>
            <a:ext cx="7379208" cy="740664"/>
            <a:chOff x="0" y="0"/>
            <a:chExt cx="9838944" cy="9875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838944" cy="987552"/>
            </a:xfrm>
            <a:custGeom>
              <a:avLst/>
              <a:gdLst/>
              <a:ahLst/>
              <a:cxnLst/>
              <a:rect r="r" b="b" t="t" l="l"/>
              <a:pathLst>
                <a:path h="987552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28" r="0" b="-14412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9838944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.mean()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57250" y="6461760"/>
            <a:ext cx="16755618" cy="740664"/>
            <a:chOff x="0" y="0"/>
            <a:chExt cx="22340824" cy="9875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340824" cy="987552"/>
            </a:xfrm>
            <a:custGeom>
              <a:avLst/>
              <a:gdLst/>
              <a:ahLst/>
              <a:cxnLst/>
              <a:rect r="r" b="b" t="t" l="l"/>
              <a:pathLst>
                <a:path h="987552" w="22340824">
                  <a:moveTo>
                    <a:pt x="0" y="91440"/>
                  </a:moveTo>
                  <a:cubicBezTo>
                    <a:pt x="0" y="40894"/>
                    <a:pt x="41184" y="0"/>
                    <a:pt x="92089" y="0"/>
                  </a:cubicBezTo>
                  <a:lnTo>
                    <a:pt x="22248735" y="0"/>
                  </a:lnTo>
                  <a:cubicBezTo>
                    <a:pt x="22299640" y="0"/>
                    <a:pt x="22340824" y="40894"/>
                    <a:pt x="22340824" y="91440"/>
                  </a:cubicBezTo>
                  <a:lnTo>
                    <a:pt x="22340824" y="896112"/>
                  </a:lnTo>
                  <a:cubicBezTo>
                    <a:pt x="22340824" y="946658"/>
                    <a:pt x="22299640" y="987552"/>
                    <a:pt x="22248735" y="987552"/>
                  </a:cubicBezTo>
                  <a:lnTo>
                    <a:pt x="92089" y="987552"/>
                  </a:lnTo>
                  <a:cubicBezTo>
                    <a:pt x="41184" y="987552"/>
                    <a:pt x="0" y="946658"/>
                    <a:pt x="0" y="89611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34440" y="6309360"/>
            <a:ext cx="3703320" cy="740664"/>
            <a:chOff x="0" y="0"/>
            <a:chExt cx="4937760" cy="9875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37760" cy="987552"/>
            </a:xfrm>
            <a:custGeom>
              <a:avLst/>
              <a:gdLst/>
              <a:ahLst/>
              <a:cxnLst/>
              <a:rect r="r" b="b" t="t" l="l"/>
              <a:pathLst>
                <a:path h="98755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93776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B6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Calculated field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074920" y="6309360"/>
            <a:ext cx="3977640" cy="740664"/>
            <a:chOff x="0" y="0"/>
            <a:chExt cx="5303520" cy="9875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03520" cy="987552"/>
            </a:xfrm>
            <a:custGeom>
              <a:avLst/>
              <a:gdLst/>
              <a:ahLst/>
              <a:cxnLst/>
              <a:rect r="r" b="b" t="t" l="l"/>
              <a:pathLst>
                <a:path h="987552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1" r="0" b="-5464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303520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Formula filled down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326880" y="6617970"/>
            <a:ext cx="123444" cy="123444"/>
            <a:chOff x="0" y="0"/>
            <a:chExt cx="164592" cy="1645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69780" y="6309360"/>
            <a:ext cx="7379208" cy="740664"/>
            <a:chOff x="0" y="0"/>
            <a:chExt cx="9838944" cy="9875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838944" cy="987552"/>
            </a:xfrm>
            <a:custGeom>
              <a:avLst/>
              <a:gdLst/>
              <a:ahLst/>
              <a:cxnLst/>
              <a:rect r="r" b="b" t="t" l="l"/>
              <a:pathLst>
                <a:path h="987552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28" r="0" b="-14412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9838944" cy="100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New column, e.g. df["Profit"] = ...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34440" y="9532620"/>
            <a:ext cx="15814548" cy="502368"/>
            <a:chOff x="0" y="0"/>
            <a:chExt cx="21086064" cy="66982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086065" cy="669823"/>
            </a:xfrm>
            <a:custGeom>
              <a:avLst/>
              <a:gdLst/>
              <a:ahLst/>
              <a:cxnLst/>
              <a:rect r="r" b="b" t="t" l="l"/>
              <a:pathLst>
                <a:path h="669823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669823"/>
                  </a:lnTo>
                  <a:lnTo>
                    <a:pt x="0" y="669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435" r="0" b="-55434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21086064" cy="726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Six familiar Excel tasks, six pandas equivalents. The thinking behind each one hasn't changed.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2" id="92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93" id="93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94" id="9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7" id="7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221729" y="748665"/>
            <a:ext cx="12755880" cy="1245870"/>
            <a:chOff x="0" y="0"/>
            <a:chExt cx="17007840" cy="1661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078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3718" r="0" b="-1352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078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Reproducing an Excel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5830" y="2157920"/>
            <a:ext cx="7818120" cy="467201"/>
            <a:chOff x="0" y="0"/>
            <a:chExt cx="10424160" cy="6229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24160" cy="622935"/>
            </a:xfrm>
            <a:custGeom>
              <a:avLst/>
              <a:gdLst/>
              <a:ahLst/>
              <a:cxnLst/>
              <a:rect r="r" b="b" t="t" l="l"/>
              <a:pathLst>
                <a:path h="622935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22935"/>
                  </a:lnTo>
                  <a:lnTo>
                    <a:pt x="0" y="6229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2024" r="0" b="-27009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424160" cy="641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75">
                  <a:solidFill>
                    <a:srgbClr val="5B6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 EXCEL, YOU WOULD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5830" y="2596832"/>
            <a:ext cx="8023860" cy="2674620"/>
            <a:chOff x="0" y="0"/>
            <a:chExt cx="10698480" cy="3566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588752" y="0"/>
                  </a:lnTo>
                  <a:cubicBezTo>
                    <a:pt x="10649331" y="0"/>
                    <a:pt x="10698480" y="49149"/>
                    <a:pt x="10698480" y="109728"/>
                  </a:cubicBezTo>
                  <a:lnTo>
                    <a:pt x="10698480" y="3456432"/>
                  </a:lnTo>
                  <a:cubicBezTo>
                    <a:pt x="10698480" y="3517011"/>
                    <a:pt x="10649331" y="3566160"/>
                    <a:pt x="10588752" y="3566160"/>
                  </a:cubicBezTo>
                  <a:lnTo>
                    <a:pt x="109728" y="3566160"/>
                  </a:lnTo>
                  <a:cubicBezTo>
                    <a:pt x="49149" y="3566160"/>
                    <a:pt x="0" y="3517011"/>
                    <a:pt x="0" y="3456432"/>
                  </a:cubicBezTo>
                  <a:close/>
                </a:path>
              </a:pathLst>
            </a:custGeom>
            <a:solidFill>
              <a:srgbClr val="EAF2F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7310" y="2980880"/>
            <a:ext cx="109728" cy="109728"/>
            <a:chOff x="0" y="0"/>
            <a:chExt cx="146304" cy="1463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7310" y="3803840"/>
            <a:ext cx="109728" cy="109728"/>
            <a:chOff x="0" y="0"/>
            <a:chExt cx="146304" cy="1463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80210" y="3670585"/>
            <a:ext cx="692658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Add a second value field: Average of Profit Margin %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7310" y="4626800"/>
            <a:ext cx="109728" cy="109728"/>
            <a:chOff x="0" y="0"/>
            <a:chExt cx="146304" cy="1463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80210" y="4493545"/>
            <a:ext cx="692658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Sort the PivotTable by Sales, largest to smallest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25762" y="2157920"/>
            <a:ext cx="8023860" cy="467201"/>
            <a:chOff x="0" y="0"/>
            <a:chExt cx="10698480" cy="6229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8480" cy="622935"/>
            </a:xfrm>
            <a:custGeom>
              <a:avLst/>
              <a:gdLst/>
              <a:ahLst/>
              <a:cxnLst/>
              <a:rect r="r" b="b" t="t" l="l"/>
              <a:pathLst>
                <a:path h="622935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622935"/>
                  </a:lnTo>
                  <a:lnTo>
                    <a:pt x="0" y="6229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0605" r="0" b="-27867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698480" cy="641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75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 PANDAS, YOU WRITE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5762" y="2596832"/>
            <a:ext cx="7639812" cy="2674620"/>
            <a:chOff x="0" y="0"/>
            <a:chExt cx="10186416" cy="3566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86416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186416">
                  <a:moveTo>
                    <a:pt x="0" y="146304"/>
                  </a:moveTo>
                  <a:cubicBezTo>
                    <a:pt x="0" y="65532"/>
                    <a:pt x="62395" y="0"/>
                    <a:pt x="139301" y="0"/>
                  </a:cubicBezTo>
                  <a:lnTo>
                    <a:pt x="10047115" y="0"/>
                  </a:lnTo>
                  <a:cubicBezTo>
                    <a:pt x="10124021" y="0"/>
                    <a:pt x="10186416" y="65532"/>
                    <a:pt x="10186416" y="146304"/>
                  </a:cubicBezTo>
                  <a:lnTo>
                    <a:pt x="10186416" y="3419856"/>
                  </a:lnTo>
                  <a:cubicBezTo>
                    <a:pt x="10186416" y="3500628"/>
                    <a:pt x="10124021" y="3566160"/>
                    <a:pt x="10047115" y="3566160"/>
                  </a:cubicBezTo>
                  <a:lnTo>
                    <a:pt x="139301" y="3566160"/>
                  </a:lnTo>
                  <a:cubicBezTo>
                    <a:pt x="62395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0A1A2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27514" y="2871152"/>
            <a:ext cx="178308" cy="178308"/>
            <a:chOff x="0" y="0"/>
            <a:chExt cx="237744" cy="2377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56698" y="2871152"/>
            <a:ext cx="178308" cy="178308"/>
            <a:chOff x="0" y="0"/>
            <a:chExt cx="237744" cy="2377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E8B93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85882" y="2871152"/>
            <a:ext cx="178308" cy="178308"/>
            <a:chOff x="0" y="0"/>
            <a:chExt cx="237744" cy="2377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3FA7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909810" y="3225482"/>
            <a:ext cx="7255764" cy="147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E4F1EF"/>
                </a:solidFill>
                <a:latin typeface="Poppins"/>
                <a:ea typeface="Poppins"/>
                <a:cs typeface="Poppins"/>
                <a:sym typeface="Poppins"/>
              </a:rPr>
              <a:t>df["Margin_%"] = (df["Profit"]/df["Sales"]*100).round(1)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E4F1EF"/>
                </a:solidFill>
                <a:latin typeface="Poppins"/>
                <a:ea typeface="Poppins"/>
                <a:cs typeface="Poppins"/>
                <a:sym typeface="Poppins"/>
              </a:rPr>
              <a:t>df.groupby("Region").agg(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E4F1EF"/>
                </a:solidFill>
                <a:latin typeface="Poppins"/>
                <a:ea typeface="Poppins"/>
                <a:cs typeface="Poppins"/>
                <a:sym typeface="Poppins"/>
              </a:rPr>
              <a:t>    Total_Sales=("Sales","sum"),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E4F1EF"/>
                </a:solidFill>
                <a:latin typeface="Poppins"/>
                <a:ea typeface="Poppins"/>
                <a:cs typeface="Poppins"/>
                <a:sym typeface="Poppins"/>
              </a:rPr>
              <a:t>    Avg_Margin=("Margin_%","mean")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E4F1EF"/>
                </a:solidFill>
                <a:latin typeface="Poppins"/>
                <a:ea typeface="Poppins"/>
                <a:cs typeface="Poppins"/>
                <a:sym typeface="Poppins"/>
              </a:rPr>
              <a:t>).sort_values("Total_Sales", ascending=False)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3924" y="5506433"/>
            <a:ext cx="16251650" cy="2012633"/>
            <a:chOff x="0" y="0"/>
            <a:chExt cx="21668867" cy="26835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668867" cy="2683510"/>
            </a:xfrm>
            <a:custGeom>
              <a:avLst/>
              <a:gdLst/>
              <a:ahLst/>
              <a:cxnLst/>
              <a:rect r="r" b="b" t="t" l="l"/>
              <a:pathLst>
                <a:path h="2683510" w="21668867">
                  <a:moveTo>
                    <a:pt x="0" y="110998"/>
                  </a:moveTo>
                  <a:cubicBezTo>
                    <a:pt x="0" y="49657"/>
                    <a:pt x="48436" y="0"/>
                    <a:pt x="108269" y="0"/>
                  </a:cubicBezTo>
                  <a:lnTo>
                    <a:pt x="21560599" y="0"/>
                  </a:lnTo>
                  <a:cubicBezTo>
                    <a:pt x="21620431" y="0"/>
                    <a:pt x="21668867" y="49657"/>
                    <a:pt x="21668867" y="110998"/>
                  </a:cubicBezTo>
                  <a:lnTo>
                    <a:pt x="21668867" y="2572512"/>
                  </a:lnTo>
                  <a:cubicBezTo>
                    <a:pt x="21668867" y="2633853"/>
                    <a:pt x="21620431" y="2683510"/>
                    <a:pt x="21560599" y="2683510"/>
                  </a:cubicBezTo>
                  <a:lnTo>
                    <a:pt x="108269" y="2683510"/>
                  </a:lnTo>
                  <a:cubicBezTo>
                    <a:pt x="48436" y="2683510"/>
                    <a:pt x="0" y="2633853"/>
                    <a:pt x="0" y="2572512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27582" y="5682932"/>
            <a:ext cx="16088868" cy="373761"/>
            <a:chOff x="0" y="0"/>
            <a:chExt cx="21451824" cy="4983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451824" cy="498348"/>
            </a:xfrm>
            <a:custGeom>
              <a:avLst/>
              <a:gdLst/>
              <a:ahLst/>
              <a:cxnLst/>
              <a:rect r="r" b="b" t="t" l="l"/>
              <a:pathLst>
                <a:path h="498348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498348"/>
                  </a:lnTo>
                  <a:lnTo>
                    <a:pt x="0" y="4983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4713" r="0" b="-7827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451824" cy="51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OUTPUT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27582" y="5945441"/>
            <a:ext cx="16034004" cy="141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95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Region           Total_Sales  Avg_Margin</a:t>
            </a:r>
          </a:p>
          <a:p>
            <a:pPr algn="l">
              <a:lnSpc>
                <a:spcPts val="2808"/>
              </a:lnSpc>
            </a:pPr>
            <a:r>
              <a:rPr lang="en-US" sz="195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South West           1032000        15.0</a:t>
            </a:r>
          </a:p>
          <a:p>
            <a:pPr algn="l">
              <a:lnSpc>
                <a:spcPts val="2808"/>
              </a:lnSpc>
            </a:pPr>
            <a:r>
              <a:rPr lang="en-US" sz="195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North Central         546000        15.0</a:t>
            </a:r>
          </a:p>
          <a:p>
            <a:pPr algn="l">
              <a:lnSpc>
                <a:spcPts val="2808"/>
              </a:lnSpc>
            </a:pPr>
            <a:r>
              <a:rPr lang="en-US" sz="195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North West            537000        15.0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57250" y="9319291"/>
            <a:ext cx="15499080" cy="1028700"/>
            <a:chOff x="0" y="0"/>
            <a:chExt cx="20665440" cy="137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665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06654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i="true">
                  <a:solidFill>
                    <a:srgbClr val="0A1A23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"Python is not replacing analytical thinking. It is changing how we execute the analysis."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57250" y="7823866"/>
            <a:ext cx="15814548" cy="1066800"/>
            <a:chOff x="0" y="0"/>
            <a:chExt cx="21086064" cy="1422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086065" cy="1422400"/>
            </a:xfrm>
            <a:custGeom>
              <a:avLst/>
              <a:gdLst/>
              <a:ahLst/>
              <a:cxnLst/>
              <a:rect r="r" b="b" t="t" l="l"/>
              <a:pathLst>
                <a:path h="1422400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422400"/>
                  </a:lnTo>
                  <a:lnTo>
                    <a:pt x="0" y="1422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9566" r="0" b="-2081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21086064" cy="1479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Every region's margin comes out at exactly 15.0%, matching the PivotTable exactly, confirming the company's pricing policy is applied consistently.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58148" y="2846010"/>
            <a:ext cx="6926580" cy="3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Build a PivotTable: Region in Rows, Sum of Sales in Values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86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801243"/>
            <a:ext cx="13581148" cy="1245870"/>
            <a:chOff x="0" y="0"/>
            <a:chExt cx="18108198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08197" cy="1661160"/>
            </a:xfrm>
            <a:custGeom>
              <a:avLst/>
              <a:gdLst/>
              <a:ahLst/>
              <a:cxnLst/>
              <a:rect r="r" b="b" t="t" l="l"/>
              <a:pathLst>
                <a:path h="1661160" w="18108197">
                  <a:moveTo>
                    <a:pt x="0" y="0"/>
                  </a:moveTo>
                  <a:lnTo>
                    <a:pt x="18108197" y="0"/>
                  </a:lnTo>
                  <a:lnTo>
                    <a:pt x="18108197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718" r="6076" b="-1352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108198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Practice: Six Exercises on branch_sales.csv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674731"/>
            <a:ext cx="16527780" cy="4526280"/>
            <a:chOff x="0" y="0"/>
            <a:chExt cx="22037040" cy="603504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840480" cy="822960"/>
              <a:chOff x="0" y="0"/>
              <a:chExt cx="3840480" cy="8229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84048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3840480">
                    <a:moveTo>
                      <a:pt x="0" y="411480"/>
                    </a:moveTo>
                    <a:cubicBezTo>
                      <a:pt x="0" y="184277"/>
                      <a:pt x="184277" y="0"/>
                      <a:pt x="411480" y="0"/>
                    </a:cubicBezTo>
                    <a:lnTo>
                      <a:pt x="3429000" y="0"/>
                    </a:lnTo>
                    <a:cubicBezTo>
                      <a:pt x="3656203" y="0"/>
                      <a:pt x="3840480" y="184277"/>
                      <a:pt x="3840480" y="411480"/>
                    </a:cubicBezTo>
                    <a:cubicBezTo>
                      <a:pt x="3840480" y="638683"/>
                      <a:pt x="3656203" y="822960"/>
                      <a:pt x="3429000" y="822960"/>
                    </a:cubicBezTo>
                    <a:lnTo>
                      <a:pt x="411480" y="822960"/>
                    </a:lnTo>
                    <a:cubicBezTo>
                      <a:pt x="184277" y="822960"/>
                      <a:pt x="0" y="638683"/>
                      <a:pt x="0" y="411480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3840480" cy="822960"/>
              <a:chOff x="0" y="0"/>
              <a:chExt cx="3840480" cy="82296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84048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3840480">
                    <a:moveTo>
                      <a:pt x="0" y="0"/>
                    </a:moveTo>
                    <a:lnTo>
                      <a:pt x="3840480" y="0"/>
                    </a:lnTo>
                    <a:lnTo>
                      <a:pt x="3840480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0930" r="0" b="-40930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3840480" cy="8420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b="true" sz="1875" spc="1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GUIDED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297680" y="146304"/>
              <a:ext cx="146304" cy="146304"/>
              <a:chOff x="0" y="0"/>
              <a:chExt cx="146304" cy="14630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754880" y="-37465"/>
              <a:ext cx="1728216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1. Filter: Kano transactions with Sales above ₦60,000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4297680" y="877824"/>
              <a:ext cx="146304" cy="146304"/>
              <a:chOff x="0" y="0"/>
              <a:chExt cx="146304" cy="14630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754880" y="775335"/>
              <a:ext cx="1728216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2. Sort: find the single highest-Profit transaction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4297680" y="1609344"/>
              <a:ext cx="146304" cy="146304"/>
              <a:chOff x="0" y="0"/>
              <a:chExt cx="146304" cy="14630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4754880" y="1415415"/>
              <a:ext cx="1728216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3. Group + aggregate: total and average Sales per Branch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3017520"/>
              <a:ext cx="3840480" cy="822960"/>
              <a:chOff x="0" y="0"/>
              <a:chExt cx="3840480" cy="82296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84048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3840480">
                    <a:moveTo>
                      <a:pt x="0" y="411480"/>
                    </a:moveTo>
                    <a:cubicBezTo>
                      <a:pt x="0" y="184277"/>
                      <a:pt x="184277" y="0"/>
                      <a:pt x="411480" y="0"/>
                    </a:cubicBezTo>
                    <a:lnTo>
                      <a:pt x="3429000" y="0"/>
                    </a:lnTo>
                    <a:cubicBezTo>
                      <a:pt x="3656203" y="0"/>
                      <a:pt x="3840480" y="184277"/>
                      <a:pt x="3840480" y="411480"/>
                    </a:cubicBezTo>
                    <a:cubicBezTo>
                      <a:pt x="3840480" y="638683"/>
                      <a:pt x="3656203" y="822960"/>
                      <a:pt x="3429000" y="822960"/>
                    </a:cubicBezTo>
                    <a:lnTo>
                      <a:pt x="411480" y="822960"/>
                    </a:lnTo>
                    <a:cubicBezTo>
                      <a:pt x="184277" y="822960"/>
                      <a:pt x="0" y="638683"/>
                      <a:pt x="0" y="411480"/>
                    </a:cubicBezTo>
                    <a:close/>
                  </a:path>
                </a:pathLst>
              </a:custGeom>
              <a:solidFill>
                <a:srgbClr val="D9A441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3017520"/>
              <a:ext cx="3840480" cy="822960"/>
              <a:chOff x="0" y="0"/>
              <a:chExt cx="3840480" cy="8229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84048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3840480">
                    <a:moveTo>
                      <a:pt x="0" y="0"/>
                    </a:moveTo>
                    <a:lnTo>
                      <a:pt x="3840480" y="0"/>
                    </a:lnTo>
                    <a:lnTo>
                      <a:pt x="3840480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0930" r="0" b="-4093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3840480" cy="8420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b="true" sz="1875" spc="1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INDEPENDENT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297680" y="3163824"/>
              <a:ext cx="146304" cy="146304"/>
              <a:chOff x="0" y="0"/>
              <a:chExt cx="146304" cy="14630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4754880" y="2969895"/>
              <a:ext cx="1728216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4. Calculated column: Cost as a percentage of Sales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4297680" y="3895344"/>
              <a:ext cx="146304" cy="146304"/>
              <a:chOff x="0" y="0"/>
              <a:chExt cx="146304" cy="14630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4754880" y="3792855"/>
              <a:ext cx="1728216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5. NumPy: flag transactions as Large Cost or Small Cost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0" y="5212080"/>
              <a:ext cx="3840480" cy="822960"/>
              <a:chOff x="0" y="0"/>
              <a:chExt cx="3840480" cy="82296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84048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3840480">
                    <a:moveTo>
                      <a:pt x="0" y="411480"/>
                    </a:moveTo>
                    <a:cubicBezTo>
                      <a:pt x="0" y="184277"/>
                      <a:pt x="184277" y="0"/>
                      <a:pt x="411480" y="0"/>
                    </a:cubicBezTo>
                    <a:lnTo>
                      <a:pt x="3429000" y="0"/>
                    </a:lnTo>
                    <a:cubicBezTo>
                      <a:pt x="3656203" y="0"/>
                      <a:pt x="3840480" y="184277"/>
                      <a:pt x="3840480" y="411480"/>
                    </a:cubicBezTo>
                    <a:cubicBezTo>
                      <a:pt x="3840480" y="638683"/>
                      <a:pt x="3656203" y="822960"/>
                      <a:pt x="3429000" y="822960"/>
                    </a:cubicBezTo>
                    <a:lnTo>
                      <a:pt x="411480" y="822960"/>
                    </a:lnTo>
                    <a:cubicBezTo>
                      <a:pt x="184277" y="822960"/>
                      <a:pt x="0" y="638683"/>
                      <a:pt x="0" y="411480"/>
                    </a:cubicBezTo>
                    <a:close/>
                  </a:path>
                </a:pathLst>
              </a:custGeom>
              <a:solidFill>
                <a:srgbClr val="B5534A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5212080"/>
              <a:ext cx="3840480" cy="822960"/>
              <a:chOff x="0" y="0"/>
              <a:chExt cx="3840480" cy="82296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840480" cy="822960"/>
              </a:xfrm>
              <a:custGeom>
                <a:avLst/>
                <a:gdLst/>
                <a:ahLst/>
                <a:cxnLst/>
                <a:rect r="r" b="b" t="t" l="l"/>
                <a:pathLst>
                  <a:path h="822960" w="3840480">
                    <a:moveTo>
                      <a:pt x="0" y="0"/>
                    </a:moveTo>
                    <a:lnTo>
                      <a:pt x="3840480" y="0"/>
                    </a:lnTo>
                    <a:lnTo>
                      <a:pt x="3840480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0930" r="0" b="-40930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3840480" cy="8420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50"/>
                  </a:lnSpc>
                </a:pPr>
                <a:r>
                  <a:rPr lang="en-US" b="true" sz="1875" spc="15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CHALLENGE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4297680" y="5358384"/>
              <a:ext cx="146304" cy="146304"/>
              <a:chOff x="0" y="0"/>
              <a:chExt cx="146304" cy="14630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46304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146304">
                    <a:moveTo>
                      <a:pt x="0" y="73152"/>
                    </a:moveTo>
                    <a:cubicBezTo>
                      <a:pt x="0" y="32766"/>
                      <a:pt x="32766" y="0"/>
                      <a:pt x="73152" y="0"/>
                    </a:cubicBezTo>
                    <a:cubicBezTo>
                      <a:pt x="113538" y="0"/>
                      <a:pt x="146304" y="32766"/>
                      <a:pt x="146304" y="73152"/>
                    </a:cubicBezTo>
                    <a:cubicBezTo>
                      <a:pt x="146304" y="113538"/>
                      <a:pt x="113538" y="146304"/>
                      <a:pt x="73152" y="146304"/>
                    </a:cubicBezTo>
                    <a:cubicBezTo>
                      <a:pt x="32766" y="146304"/>
                      <a:pt x="0" y="113538"/>
                      <a:pt x="0" y="73152"/>
                    </a:cubicBezTo>
                    <a:close/>
                  </a:path>
                </a:pathLst>
              </a:custGeom>
              <a:solidFill>
                <a:srgbClr val="387F7F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4754880" y="5255895"/>
              <a:ext cx="17282160" cy="46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6. Combine filter, median, and group to analyse South West's above-median sales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4440" y="10237470"/>
            <a:ext cx="15814548" cy="864318"/>
            <a:chOff x="0" y="0"/>
            <a:chExt cx="21086064" cy="11524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86065" cy="1152423"/>
            </a:xfrm>
            <a:custGeom>
              <a:avLst/>
              <a:gdLst/>
              <a:ahLst/>
              <a:cxnLst/>
              <a:rect r="r" b="b" t="t" l="l"/>
              <a:pathLst>
                <a:path h="1152423" w="21086065">
                  <a:moveTo>
                    <a:pt x="0" y="0"/>
                  </a:moveTo>
                  <a:lnTo>
                    <a:pt x="21086065" y="0"/>
                  </a:lnTo>
                  <a:lnTo>
                    <a:pt x="21086065" y="1152423"/>
                  </a:lnTo>
                  <a:lnTo>
                    <a:pt x="0" y="11524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880" r="0" b="-3001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1086064" cy="1209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7"/>
                </a:lnSpc>
              </a:pPr>
              <a:r>
                <a:rPr lang="en-US" sz="2025" i="true">
                  <a:solidFill>
                    <a:srgbClr val="0A1A23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Full details (dataset context, business question, required operation, expected outcome) are in the lab notebook and handout.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497824" y="3010286"/>
            <a:ext cx="6200137" cy="6485339"/>
            <a:chOff x="0" y="0"/>
            <a:chExt cx="8266849" cy="86471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66849" cy="8077949"/>
            </a:xfrm>
            <a:custGeom>
              <a:avLst/>
              <a:gdLst/>
              <a:ahLst/>
              <a:cxnLst/>
              <a:rect r="r" b="b" t="t" l="l"/>
              <a:pathLst>
                <a:path h="8077949" w="8266849">
                  <a:moveTo>
                    <a:pt x="0" y="0"/>
                  </a:moveTo>
                  <a:lnTo>
                    <a:pt x="8266849" y="0"/>
                  </a:lnTo>
                  <a:lnTo>
                    <a:pt x="8266849" y="8077949"/>
                  </a:lnTo>
                  <a:lnTo>
                    <a:pt x="0" y="807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6" id="46"/>
            <p:cNvGrpSpPr/>
            <p:nvPr/>
          </p:nvGrpSpPr>
          <p:grpSpPr>
            <a:xfrm rot="0">
              <a:off x="0" y="7885119"/>
              <a:ext cx="862965" cy="762000"/>
              <a:chOff x="0" y="0"/>
              <a:chExt cx="862965" cy="762000"/>
            </a:xfrm>
          </p:grpSpPr>
          <p:sp>
            <p:nvSpPr>
              <p:cNvPr name="Freeform 47" id="47" descr="image.png"/>
              <p:cNvSpPr/>
              <p:nvPr/>
            </p:nvSpPr>
            <p:spPr>
              <a:xfrm flipH="false" flipV="false" rot="0">
                <a:off x="0" y="0"/>
                <a:ext cx="862965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862965">
                    <a:moveTo>
                      <a:pt x="0" y="0"/>
                    </a:moveTo>
                    <a:lnTo>
                      <a:pt x="862965" y="0"/>
                    </a:lnTo>
                    <a:lnTo>
                      <a:pt x="862965" y="762000"/>
                    </a:lnTo>
                    <a:lnTo>
                      <a:pt x="0" y="762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772" t="0" r="-772" b="0"/>
                </a:stretch>
              </a:blipFill>
            </p:spPr>
          </p:sp>
        </p:grpSp>
      </p:grpSp>
      <p:grpSp>
        <p:nvGrpSpPr>
          <p:cNvPr name="Group 48" id="48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87187"/>
            <a:ext cx="16426393" cy="7160168"/>
            <a:chOff x="0" y="0"/>
            <a:chExt cx="21901857" cy="954689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457200" y="0"/>
              <a:ext cx="17007840" cy="1661160"/>
              <a:chOff x="0" y="0"/>
              <a:chExt cx="17007840" cy="166116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07839" cy="1661160"/>
              </a:xfrm>
              <a:custGeom>
                <a:avLst/>
                <a:gdLst/>
                <a:ahLst/>
                <a:cxnLst/>
                <a:rect r="r" b="b" t="t" l="l"/>
                <a:pathLst>
                  <a:path h="1661160" w="17007839">
                    <a:moveTo>
                      <a:pt x="0" y="0"/>
                    </a:moveTo>
                    <a:lnTo>
                      <a:pt x="17007839" y="0"/>
                    </a:lnTo>
                    <a:lnTo>
                      <a:pt x="17007839" y="1661160"/>
                    </a:lnTo>
                    <a:lnTo>
                      <a:pt x="0" y="1661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3718" r="0" b="-135277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7007840" cy="17087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>
                    <a:solidFill>
                      <a:srgbClr val="38808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Common Beginner Mistakes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2166057"/>
              <a:ext cx="21901857" cy="914400"/>
              <a:chOff x="0" y="0"/>
              <a:chExt cx="21901857" cy="914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901857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21901857">
                    <a:moveTo>
                      <a:pt x="0" y="91440"/>
                    </a:moveTo>
                    <a:cubicBezTo>
                      <a:pt x="0" y="40894"/>
                      <a:pt x="40375" y="0"/>
                      <a:pt x="90280" y="0"/>
                    </a:cubicBezTo>
                    <a:lnTo>
                      <a:pt x="21811577" y="0"/>
                    </a:lnTo>
                    <a:cubicBezTo>
                      <a:pt x="21861483" y="0"/>
                      <a:pt x="21901857" y="40894"/>
                      <a:pt x="21901857" y="91440"/>
                    </a:cubicBezTo>
                    <a:lnTo>
                      <a:pt x="21901857" y="822960"/>
                    </a:lnTo>
                    <a:cubicBezTo>
                      <a:pt x="21901857" y="873506"/>
                      <a:pt x="21861483" y="914400"/>
                      <a:pt x="21811577" y="914400"/>
                    </a:cubicBezTo>
                    <a:lnTo>
                      <a:pt x="90280" y="914400"/>
                    </a:lnTo>
                    <a:cubicBezTo>
                      <a:pt x="40375" y="914400"/>
                      <a:pt x="0" y="873506"/>
                      <a:pt x="0" y="822960"/>
                    </a:cubicBezTo>
                    <a:close/>
                  </a:path>
                </a:pathLst>
              </a:custGeom>
              <a:solidFill>
                <a:srgbClr val="FBEAEA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457200" y="2239209"/>
              <a:ext cx="4663440" cy="768096"/>
              <a:chOff x="0" y="0"/>
              <a:chExt cx="4663440" cy="7680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4279392" y="0"/>
                    </a:lnTo>
                    <a:cubicBezTo>
                      <a:pt x="4491482" y="0"/>
                      <a:pt x="4663440" y="171958"/>
                      <a:pt x="4663440" y="384048"/>
                    </a:cubicBezTo>
                    <a:cubicBezTo>
                      <a:pt x="4663440" y="596138"/>
                      <a:pt x="4491482" y="768096"/>
                      <a:pt x="427939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8C3A3A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57200" y="2239209"/>
              <a:ext cx="4663440" cy="768096"/>
              <a:chOff x="0" y="0"/>
              <a:chExt cx="4663440" cy="7680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0"/>
                    </a:moveTo>
                    <a:lnTo>
                      <a:pt x="4663440" y="0"/>
                    </a:lnTo>
                    <a:lnTo>
                      <a:pt x="466344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302" r="0" b="-68302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466344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Wrong column name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5669280" y="2166057"/>
              <a:ext cx="15965424" cy="914400"/>
              <a:chOff x="0" y="0"/>
              <a:chExt cx="15965424" cy="914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596542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5965424">
                    <a:moveTo>
                      <a:pt x="0" y="0"/>
                    </a:moveTo>
                    <a:lnTo>
                      <a:pt x="15965424" y="0"/>
                    </a:lnTo>
                    <a:lnTo>
                      <a:pt x="15965424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08" r="0" b="-290208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15965424" cy="933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df["Slaes"] → KeyError. Check spelling and capitalisation against df.columns.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3226761"/>
              <a:ext cx="21901857" cy="914400"/>
              <a:chOff x="0" y="0"/>
              <a:chExt cx="21901857" cy="914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901857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21901857">
                    <a:moveTo>
                      <a:pt x="0" y="91440"/>
                    </a:moveTo>
                    <a:cubicBezTo>
                      <a:pt x="0" y="40894"/>
                      <a:pt x="40375" y="0"/>
                      <a:pt x="90280" y="0"/>
                    </a:cubicBezTo>
                    <a:lnTo>
                      <a:pt x="21811577" y="0"/>
                    </a:lnTo>
                    <a:cubicBezTo>
                      <a:pt x="21861483" y="0"/>
                      <a:pt x="21901857" y="40894"/>
                      <a:pt x="21901857" y="91440"/>
                    </a:cubicBezTo>
                    <a:lnTo>
                      <a:pt x="21901857" y="822960"/>
                    </a:lnTo>
                    <a:cubicBezTo>
                      <a:pt x="21901857" y="873506"/>
                      <a:pt x="21861483" y="914400"/>
                      <a:pt x="21811577" y="914400"/>
                    </a:cubicBezTo>
                    <a:lnTo>
                      <a:pt x="90280" y="914400"/>
                    </a:lnTo>
                    <a:cubicBezTo>
                      <a:pt x="40375" y="914400"/>
                      <a:pt x="0" y="873506"/>
                      <a:pt x="0" y="822960"/>
                    </a:cubicBezTo>
                    <a:close/>
                  </a:path>
                </a:pathLst>
              </a:custGeom>
              <a:solidFill>
                <a:srgbClr val="FBEAEA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57200" y="3299913"/>
              <a:ext cx="4663440" cy="768096"/>
              <a:chOff x="0" y="0"/>
              <a:chExt cx="4663440" cy="76809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4279392" y="0"/>
                    </a:lnTo>
                    <a:cubicBezTo>
                      <a:pt x="4491482" y="0"/>
                      <a:pt x="4663440" y="171958"/>
                      <a:pt x="4663440" y="384048"/>
                    </a:cubicBezTo>
                    <a:cubicBezTo>
                      <a:pt x="4663440" y="596138"/>
                      <a:pt x="4491482" y="768096"/>
                      <a:pt x="427939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8C3A3A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457200" y="3299913"/>
              <a:ext cx="4663440" cy="768096"/>
              <a:chOff x="0" y="0"/>
              <a:chExt cx="4663440" cy="76809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0"/>
                    </a:moveTo>
                    <a:lnTo>
                      <a:pt x="4663440" y="0"/>
                    </a:lnTo>
                    <a:lnTo>
                      <a:pt x="466344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302" r="0" b="-68302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466344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Missing quotation marks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5669280" y="3226761"/>
              <a:ext cx="15965424" cy="914400"/>
              <a:chOff x="0" y="0"/>
              <a:chExt cx="15965424" cy="914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596542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5965424">
                    <a:moveTo>
                      <a:pt x="0" y="0"/>
                    </a:moveTo>
                    <a:lnTo>
                      <a:pt x="15965424" y="0"/>
                    </a:lnTo>
                    <a:lnTo>
                      <a:pt x="15965424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08" r="0" b="-290208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15965424" cy="933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df[Sales] → NameError. Column names are text, they need quotes.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4287465"/>
              <a:ext cx="21901857" cy="914400"/>
              <a:chOff x="0" y="0"/>
              <a:chExt cx="21901857" cy="914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901857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21901857">
                    <a:moveTo>
                      <a:pt x="0" y="91440"/>
                    </a:moveTo>
                    <a:cubicBezTo>
                      <a:pt x="0" y="40894"/>
                      <a:pt x="40375" y="0"/>
                      <a:pt x="90280" y="0"/>
                    </a:cubicBezTo>
                    <a:lnTo>
                      <a:pt x="21811577" y="0"/>
                    </a:lnTo>
                    <a:cubicBezTo>
                      <a:pt x="21861483" y="0"/>
                      <a:pt x="21901857" y="40894"/>
                      <a:pt x="21901857" y="91440"/>
                    </a:cubicBezTo>
                    <a:lnTo>
                      <a:pt x="21901857" y="822960"/>
                    </a:lnTo>
                    <a:cubicBezTo>
                      <a:pt x="21901857" y="873506"/>
                      <a:pt x="21861483" y="914400"/>
                      <a:pt x="21811577" y="914400"/>
                    </a:cubicBezTo>
                    <a:lnTo>
                      <a:pt x="90280" y="914400"/>
                    </a:lnTo>
                    <a:cubicBezTo>
                      <a:pt x="40375" y="914400"/>
                      <a:pt x="0" y="873506"/>
                      <a:pt x="0" y="822960"/>
                    </a:cubicBezTo>
                    <a:close/>
                  </a:path>
                </a:pathLst>
              </a:custGeom>
              <a:solidFill>
                <a:srgbClr val="FBEAEA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57200" y="4360617"/>
              <a:ext cx="4663440" cy="768096"/>
              <a:chOff x="0" y="0"/>
              <a:chExt cx="4663440" cy="76809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4279392" y="0"/>
                    </a:lnTo>
                    <a:cubicBezTo>
                      <a:pt x="4491482" y="0"/>
                      <a:pt x="4663440" y="171958"/>
                      <a:pt x="4663440" y="384048"/>
                    </a:cubicBezTo>
                    <a:cubicBezTo>
                      <a:pt x="4663440" y="596138"/>
                      <a:pt x="4491482" y="768096"/>
                      <a:pt x="427939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8C3A3A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457200" y="4360617"/>
              <a:ext cx="4663440" cy="768096"/>
              <a:chOff x="0" y="0"/>
              <a:chExt cx="4663440" cy="76809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0"/>
                    </a:moveTo>
                    <a:lnTo>
                      <a:pt x="4663440" y="0"/>
                    </a:lnTo>
                    <a:lnTo>
                      <a:pt x="466344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302" r="0" b="-68302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466344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= instead of ==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669280" y="4287465"/>
              <a:ext cx="15965424" cy="914400"/>
              <a:chOff x="0" y="0"/>
              <a:chExt cx="15965424" cy="914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96542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5965424">
                    <a:moveTo>
                      <a:pt x="0" y="0"/>
                    </a:moveTo>
                    <a:lnTo>
                      <a:pt x="15965424" y="0"/>
                    </a:lnTo>
                    <a:lnTo>
                      <a:pt x="15965424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08" r="0" b="-290208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15965424" cy="933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= assigns a value, == compares one. Filtering always needs ==.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5348169"/>
              <a:ext cx="21901857" cy="914400"/>
              <a:chOff x="0" y="0"/>
              <a:chExt cx="21901857" cy="914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901857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21901857">
                    <a:moveTo>
                      <a:pt x="0" y="91440"/>
                    </a:moveTo>
                    <a:cubicBezTo>
                      <a:pt x="0" y="40894"/>
                      <a:pt x="40375" y="0"/>
                      <a:pt x="90280" y="0"/>
                    </a:cubicBezTo>
                    <a:lnTo>
                      <a:pt x="21811577" y="0"/>
                    </a:lnTo>
                    <a:cubicBezTo>
                      <a:pt x="21861483" y="0"/>
                      <a:pt x="21901857" y="40894"/>
                      <a:pt x="21901857" y="91440"/>
                    </a:cubicBezTo>
                    <a:lnTo>
                      <a:pt x="21901857" y="822960"/>
                    </a:lnTo>
                    <a:cubicBezTo>
                      <a:pt x="21901857" y="873506"/>
                      <a:pt x="21861483" y="914400"/>
                      <a:pt x="21811577" y="914400"/>
                    </a:cubicBezTo>
                    <a:lnTo>
                      <a:pt x="90280" y="914400"/>
                    </a:lnTo>
                    <a:cubicBezTo>
                      <a:pt x="40375" y="914400"/>
                      <a:pt x="0" y="873506"/>
                      <a:pt x="0" y="822960"/>
                    </a:cubicBezTo>
                    <a:close/>
                  </a:path>
                </a:pathLst>
              </a:custGeom>
              <a:solidFill>
                <a:srgbClr val="FBEAEA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457200" y="5421321"/>
              <a:ext cx="4663440" cy="768096"/>
              <a:chOff x="0" y="0"/>
              <a:chExt cx="4663440" cy="76809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4279392" y="0"/>
                    </a:lnTo>
                    <a:cubicBezTo>
                      <a:pt x="4491482" y="0"/>
                      <a:pt x="4663440" y="171958"/>
                      <a:pt x="4663440" y="384048"/>
                    </a:cubicBezTo>
                    <a:cubicBezTo>
                      <a:pt x="4663440" y="596138"/>
                      <a:pt x="4491482" y="768096"/>
                      <a:pt x="427939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8C3A3A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457200" y="5421321"/>
              <a:ext cx="4663440" cy="768096"/>
              <a:chOff x="0" y="0"/>
              <a:chExt cx="4663440" cy="76809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0"/>
                    </a:moveTo>
                    <a:lnTo>
                      <a:pt x="4663440" y="0"/>
                    </a:lnTo>
                    <a:lnTo>
                      <a:pt x="466344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302" r="0" b="-68302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466344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Forgetting parentheses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5669280" y="5348169"/>
              <a:ext cx="15965424" cy="914400"/>
              <a:chOff x="0" y="0"/>
              <a:chExt cx="15965424" cy="914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596542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5965424">
                    <a:moveTo>
                      <a:pt x="0" y="0"/>
                    </a:moveTo>
                    <a:lnTo>
                      <a:pt x="15965424" y="0"/>
                    </a:lnTo>
                    <a:lnTo>
                      <a:pt x="15965424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08" r="0" b="-290208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9050"/>
                <a:ext cx="15965424" cy="933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df.describe (no parentheses) shows a method, not a result. Always call it: df.describe().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6408873"/>
              <a:ext cx="21901857" cy="914400"/>
              <a:chOff x="0" y="0"/>
              <a:chExt cx="21901857" cy="914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1901857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21901857">
                    <a:moveTo>
                      <a:pt x="0" y="91440"/>
                    </a:moveTo>
                    <a:cubicBezTo>
                      <a:pt x="0" y="40894"/>
                      <a:pt x="40375" y="0"/>
                      <a:pt x="90280" y="0"/>
                    </a:cubicBezTo>
                    <a:lnTo>
                      <a:pt x="21811577" y="0"/>
                    </a:lnTo>
                    <a:cubicBezTo>
                      <a:pt x="21861483" y="0"/>
                      <a:pt x="21901857" y="40894"/>
                      <a:pt x="21901857" y="91440"/>
                    </a:cubicBezTo>
                    <a:lnTo>
                      <a:pt x="21901857" y="822960"/>
                    </a:lnTo>
                    <a:cubicBezTo>
                      <a:pt x="21901857" y="873506"/>
                      <a:pt x="21861483" y="914400"/>
                      <a:pt x="21811577" y="914400"/>
                    </a:cubicBezTo>
                    <a:lnTo>
                      <a:pt x="90280" y="914400"/>
                    </a:lnTo>
                    <a:cubicBezTo>
                      <a:pt x="40375" y="914400"/>
                      <a:pt x="0" y="873506"/>
                      <a:pt x="0" y="822960"/>
                    </a:cubicBezTo>
                    <a:close/>
                  </a:path>
                </a:pathLst>
              </a:custGeom>
              <a:solidFill>
                <a:srgbClr val="FBEAEA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457200" y="6482025"/>
              <a:ext cx="4663440" cy="768096"/>
              <a:chOff x="0" y="0"/>
              <a:chExt cx="4663440" cy="768096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4279392" y="0"/>
                    </a:lnTo>
                    <a:cubicBezTo>
                      <a:pt x="4491482" y="0"/>
                      <a:pt x="4663440" y="171958"/>
                      <a:pt x="4663440" y="384048"/>
                    </a:cubicBezTo>
                    <a:cubicBezTo>
                      <a:pt x="4663440" y="596138"/>
                      <a:pt x="4491482" y="768096"/>
                      <a:pt x="427939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8C3A3A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457200" y="6482025"/>
              <a:ext cx="4663440" cy="768096"/>
              <a:chOff x="0" y="0"/>
              <a:chExt cx="4663440" cy="76809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0"/>
                    </a:moveTo>
                    <a:lnTo>
                      <a:pt x="4663440" y="0"/>
                    </a:lnTo>
                    <a:lnTo>
                      <a:pt x="466344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302" r="0" b="-68302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466344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Comparing the wrong thing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5669280" y="6408873"/>
              <a:ext cx="15965424" cy="1003935"/>
              <a:chOff x="0" y="0"/>
              <a:chExt cx="15965424" cy="1003935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5965424" cy="1003935"/>
              </a:xfrm>
              <a:custGeom>
                <a:avLst/>
                <a:gdLst/>
                <a:ahLst/>
                <a:cxnLst/>
                <a:rect r="r" b="b" t="t" l="l"/>
                <a:pathLst>
                  <a:path h="1003935" w="15965424">
                    <a:moveTo>
                      <a:pt x="0" y="0"/>
                    </a:moveTo>
                    <a:lnTo>
                      <a:pt x="15965424" y="0"/>
                    </a:lnTo>
                    <a:lnTo>
                      <a:pt x="15965424" y="1003935"/>
                    </a:lnTo>
                    <a:lnTo>
                      <a:pt x="0" y="100393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64326" r="0" b="-255408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15965424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"Sales" &gt; 100000 compares text to a number and fails. Compare the column’s values: df["Sales"] &gt; 100000.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7469577"/>
              <a:ext cx="21901857" cy="914400"/>
              <a:chOff x="0" y="0"/>
              <a:chExt cx="21901857" cy="9144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1901857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21901857">
                    <a:moveTo>
                      <a:pt x="0" y="91440"/>
                    </a:moveTo>
                    <a:cubicBezTo>
                      <a:pt x="0" y="40894"/>
                      <a:pt x="40375" y="0"/>
                      <a:pt x="90280" y="0"/>
                    </a:cubicBezTo>
                    <a:lnTo>
                      <a:pt x="21811577" y="0"/>
                    </a:lnTo>
                    <a:cubicBezTo>
                      <a:pt x="21861483" y="0"/>
                      <a:pt x="21901857" y="40894"/>
                      <a:pt x="21901857" y="91440"/>
                    </a:cubicBezTo>
                    <a:lnTo>
                      <a:pt x="21901857" y="822960"/>
                    </a:lnTo>
                    <a:cubicBezTo>
                      <a:pt x="21901857" y="873506"/>
                      <a:pt x="21861483" y="914400"/>
                      <a:pt x="21811577" y="914400"/>
                    </a:cubicBezTo>
                    <a:lnTo>
                      <a:pt x="90280" y="914400"/>
                    </a:lnTo>
                    <a:cubicBezTo>
                      <a:pt x="40375" y="914400"/>
                      <a:pt x="0" y="873506"/>
                      <a:pt x="0" y="822960"/>
                    </a:cubicBezTo>
                    <a:close/>
                  </a:path>
                </a:pathLst>
              </a:custGeom>
              <a:solidFill>
                <a:srgbClr val="FBEAEA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457200" y="7542729"/>
              <a:ext cx="4663440" cy="768096"/>
              <a:chOff x="0" y="0"/>
              <a:chExt cx="4663440" cy="768096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4279392" y="0"/>
                    </a:lnTo>
                    <a:cubicBezTo>
                      <a:pt x="4491482" y="0"/>
                      <a:pt x="4663440" y="171958"/>
                      <a:pt x="4663440" y="384048"/>
                    </a:cubicBezTo>
                    <a:cubicBezTo>
                      <a:pt x="4663440" y="596138"/>
                      <a:pt x="4491482" y="768096"/>
                      <a:pt x="427939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8C3A3A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457200" y="7542729"/>
              <a:ext cx="4663440" cy="768096"/>
              <a:chOff x="0" y="0"/>
              <a:chExt cx="4663440" cy="768096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0"/>
                    </a:moveTo>
                    <a:lnTo>
                      <a:pt x="4663440" y="0"/>
                    </a:lnTo>
                    <a:lnTo>
                      <a:pt x="4663440" y="768096"/>
                    </a:lnTo>
                    <a:lnTo>
                      <a:pt x="0" y="76809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8302" r="0" b="-68302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4663440" cy="7871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Sorting the wrong direction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5669280" y="7469577"/>
              <a:ext cx="15965424" cy="914400"/>
              <a:chOff x="0" y="0"/>
              <a:chExt cx="15965424" cy="9144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596542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15965424">
                    <a:moveTo>
                      <a:pt x="0" y="0"/>
                    </a:moveTo>
                    <a:lnTo>
                      <a:pt x="15965424" y="0"/>
                    </a:lnTo>
                    <a:lnTo>
                      <a:pt x="15965424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0208" r="0" b="-290208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19050"/>
                <a:ext cx="15965424" cy="933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ascending=True when you meant False. Always check the first two rows after sorting.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8530281"/>
              <a:ext cx="21901857" cy="914400"/>
              <a:chOff x="0" y="0"/>
              <a:chExt cx="21901857" cy="9144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1901857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21901857">
                    <a:moveTo>
                      <a:pt x="0" y="91440"/>
                    </a:moveTo>
                    <a:cubicBezTo>
                      <a:pt x="0" y="40894"/>
                      <a:pt x="40375" y="0"/>
                      <a:pt x="90280" y="0"/>
                    </a:cubicBezTo>
                    <a:lnTo>
                      <a:pt x="21811577" y="0"/>
                    </a:lnTo>
                    <a:cubicBezTo>
                      <a:pt x="21861483" y="0"/>
                      <a:pt x="21901857" y="40894"/>
                      <a:pt x="21901857" y="91440"/>
                    </a:cubicBezTo>
                    <a:lnTo>
                      <a:pt x="21901857" y="822960"/>
                    </a:lnTo>
                    <a:cubicBezTo>
                      <a:pt x="21901857" y="873506"/>
                      <a:pt x="21861483" y="914400"/>
                      <a:pt x="21811577" y="914400"/>
                    </a:cubicBezTo>
                    <a:lnTo>
                      <a:pt x="90280" y="914400"/>
                    </a:lnTo>
                    <a:cubicBezTo>
                      <a:pt x="40375" y="914400"/>
                      <a:pt x="0" y="873506"/>
                      <a:pt x="0" y="822960"/>
                    </a:cubicBezTo>
                    <a:close/>
                  </a:path>
                </a:pathLst>
              </a:custGeom>
              <a:solidFill>
                <a:srgbClr val="FBEAEA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457200" y="8603433"/>
              <a:ext cx="4663440" cy="768096"/>
              <a:chOff x="0" y="0"/>
              <a:chExt cx="4663440" cy="768096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4663440" cy="768096"/>
              </a:xfrm>
              <a:custGeom>
                <a:avLst/>
                <a:gdLst/>
                <a:ahLst/>
                <a:cxnLst/>
                <a:rect r="r" b="b" t="t" l="l"/>
                <a:pathLst>
                  <a:path h="768096" w="4663440">
                    <a:moveTo>
                      <a:pt x="0" y="384048"/>
                    </a:moveTo>
                    <a:cubicBezTo>
                      <a:pt x="0" y="171958"/>
                      <a:pt x="171958" y="0"/>
                      <a:pt x="384048" y="0"/>
                    </a:cubicBezTo>
                    <a:lnTo>
                      <a:pt x="4279392" y="0"/>
                    </a:lnTo>
                    <a:cubicBezTo>
                      <a:pt x="4491482" y="0"/>
                      <a:pt x="4663440" y="171958"/>
                      <a:pt x="4663440" y="384048"/>
                    </a:cubicBezTo>
                    <a:cubicBezTo>
                      <a:pt x="4663440" y="596138"/>
                      <a:pt x="4491482" y="768096"/>
                      <a:pt x="4279392" y="768096"/>
                    </a:cubicBezTo>
                    <a:lnTo>
                      <a:pt x="384048" y="768096"/>
                    </a:lnTo>
                    <a:cubicBezTo>
                      <a:pt x="171958" y="768096"/>
                      <a:pt x="0" y="596138"/>
                      <a:pt x="0" y="384048"/>
                    </a:cubicBezTo>
                    <a:close/>
                  </a:path>
                </a:pathLst>
              </a:custGeom>
              <a:solidFill>
                <a:srgbClr val="8C3A3A"/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457200" y="8603433"/>
              <a:ext cx="4663440" cy="943458"/>
              <a:chOff x="0" y="0"/>
              <a:chExt cx="4663440" cy="943458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4663440" cy="943458"/>
              </a:xfrm>
              <a:custGeom>
                <a:avLst/>
                <a:gdLst/>
                <a:ahLst/>
                <a:cxnLst/>
                <a:rect r="r" b="b" t="t" l="l"/>
                <a:pathLst>
                  <a:path h="943458" w="4663440">
                    <a:moveTo>
                      <a:pt x="0" y="0"/>
                    </a:moveTo>
                    <a:lnTo>
                      <a:pt x="4663440" y="0"/>
                    </a:lnTo>
                    <a:lnTo>
                      <a:pt x="4663440" y="943458"/>
                    </a:lnTo>
                    <a:lnTo>
                      <a:pt x="0" y="94345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606" r="0" b="-37019"/>
                </a:stretch>
              </a:blip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4663440" cy="9625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Grouping by the wrong column</a:t>
                </a: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5669280" y="8530281"/>
              <a:ext cx="15965424" cy="1003935"/>
              <a:chOff x="0" y="0"/>
              <a:chExt cx="15965424" cy="1003935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5965424" cy="1003935"/>
              </a:xfrm>
              <a:custGeom>
                <a:avLst/>
                <a:gdLst/>
                <a:ahLst/>
                <a:cxnLst/>
                <a:rect r="r" b="b" t="t" l="l"/>
                <a:pathLst>
                  <a:path h="1003935" w="15965424">
                    <a:moveTo>
                      <a:pt x="0" y="0"/>
                    </a:moveTo>
                    <a:lnTo>
                      <a:pt x="15965424" y="0"/>
                    </a:lnTo>
                    <a:lnTo>
                      <a:pt x="15965424" y="1003935"/>
                    </a:lnTo>
                    <a:lnTo>
                      <a:pt x="0" y="100393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64326" r="0" b="-255408"/>
                </a:stretch>
              </a:blip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19050"/>
                <a:ext cx="15965424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50"/>
                  </a:lnSpc>
                </a:pPr>
                <a:r>
                  <a:rPr lang="en-US" sz="1875">
                    <a:solidFill>
                      <a:srgbClr val="0A1A23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groupby("Branch") when the question asks about Region. Reread the business question before writing the code.</a:t>
                </a:r>
              </a:p>
            </p:txBody>
          </p:sp>
        </p:grpSp>
      </p:grpSp>
      <p:grpSp>
        <p:nvGrpSpPr>
          <p:cNvPr name="Group 78" id="7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79" id="7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" t="0" r="-772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85862" y="10287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85975" y="5225552"/>
            <a:ext cx="457200" cy="457200"/>
            <a:chOff x="0" y="0"/>
            <a:chExt cx="609600" cy="6096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00188" y="2566987"/>
            <a:ext cx="11846923" cy="94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Filter and sort data</a:t>
            </a:r>
            <a:r>
              <a:rPr lang="en-US" sz="24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to focus on relevant records and identify key insights.</a:t>
            </a:r>
          </a:p>
          <a:p>
            <a:pPr algn="l">
              <a:lnSpc>
                <a:spcPts val="371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00188" y="3583600"/>
            <a:ext cx="10716600" cy="94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Gro</a:t>
            </a:r>
            <a:r>
              <a:rPr lang="en-US" b="true" sz="2475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up and aggregate data</a:t>
            </a:r>
            <a:r>
              <a:rPr lang="en-US" sz="24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to summarize performance across categories or regions.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0188" y="4603728"/>
            <a:ext cx="10716600" cy="94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Cr</a:t>
            </a:r>
            <a:r>
              <a:rPr lang="en-US" b="true" sz="2475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eate calculated columns </a:t>
            </a:r>
            <a:r>
              <a:rPr lang="en-US" sz="24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 generate new insights from existing data.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0188" y="5714819"/>
            <a:ext cx="11042869" cy="94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Use NumPy for efficient calculations </a:t>
            </a:r>
            <a:r>
              <a:rPr lang="en-US" sz="24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such as conditional logic and numerical operations.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3722189"/>
            <a:ext cx="371475" cy="385762"/>
            <a:chOff x="0" y="0"/>
            <a:chExt cx="495300" cy="5143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4770892"/>
            <a:ext cx="371475" cy="385762"/>
            <a:chOff x="0" y="0"/>
            <a:chExt cx="495300" cy="5143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7250" y="5819594"/>
            <a:ext cx="371475" cy="385762"/>
            <a:chOff x="0" y="0"/>
            <a:chExt cx="495300" cy="5143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741697" y="4477522"/>
            <a:ext cx="4517603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Up Next: AI-Assisted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73137" y="5064262"/>
            <a:ext cx="157601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Coding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748665"/>
            <a:ext cx="14401800" cy="1245870"/>
            <a:chOff x="0" y="0"/>
            <a:chExt cx="1920240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661160"/>
            </a:xfrm>
            <a:custGeom>
              <a:avLst/>
              <a:gdLst/>
              <a:ahLst/>
              <a:cxnLst/>
              <a:rect r="r" b="b" t="t" l="l"/>
              <a:pathLst>
                <a:path h="1661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60" r="0" b="-16101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2024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Mini-Assessment: Five Business Questions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1598" y="2145411"/>
            <a:ext cx="14401800" cy="548640"/>
            <a:chOff x="0" y="0"/>
            <a:chExt cx="192024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9202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Answer every question with pandas code on branch_sales.csv. No answers are given here.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3008" y="2934081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3008" y="2934081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83128" y="2865501"/>
            <a:ext cx="15361920" cy="822960"/>
            <a:chOff x="0" y="0"/>
            <a:chExt cx="2048256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4825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Which single transaction generated the highest Sales, and which branch was it from?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3008" y="3921633"/>
            <a:ext cx="685800" cy="685800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3008" y="3921633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83128" y="3853053"/>
            <a:ext cx="15361920" cy="822960"/>
            <a:chOff x="0" y="0"/>
            <a:chExt cx="2048256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04825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What is the total Profit generated by the North Central region?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3008" y="4909185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3008" y="4909185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83128" y="4840605"/>
            <a:ext cx="15361920" cy="822960"/>
            <a:chOff x="0" y="0"/>
            <a:chExt cx="2048256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04825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Sort all transactions by Cost, descending. Which product is at the top?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3008" y="5896737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3008" y="5896737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83128" y="5828157"/>
            <a:ext cx="15361920" cy="822960"/>
            <a:chOff x="0" y="0"/>
            <a:chExt cx="2048256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04825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Using groupby, find the average Sales per Region. Which region has the highest average?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3008" y="6884289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3008" y="6884289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83128" y="6815709"/>
            <a:ext cx="15361920" cy="903542"/>
            <a:chOff x="0" y="0"/>
            <a:chExt cx="20482560" cy="120472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482561" cy="1204722"/>
            </a:xfrm>
            <a:custGeom>
              <a:avLst/>
              <a:gdLst/>
              <a:ahLst/>
              <a:cxnLst/>
              <a:rect r="r" b="b" t="t" l="l"/>
              <a:pathLst>
                <a:path h="120472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04722"/>
                  </a:lnTo>
                  <a:lnTo>
                    <a:pt x="0" y="1204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1" r="0" b="-27682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0482560" cy="1233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Create a calculated column for Profit as a percentage of Sales. Is the margin consistent across all transactions?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4488" y="8036433"/>
            <a:ext cx="15910560" cy="960120"/>
            <a:chOff x="0" y="0"/>
            <a:chExt cx="2121408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214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12140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Verify as you go:  </a:t>
              </a: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state what you expect before you run the code, then check the output matches.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DAHTyrJufcI</dc:identifier>
  <dcterms:modified xsi:type="dcterms:W3CDTF">2011-08-01T06:04:30Z</dcterms:modified>
  <cp:revision>1</cp:revision>
  <dc:title>Module 5.3 Data Manipulation with Pandas and Numpy</dc:title>
</cp:coreProperties>
</file>