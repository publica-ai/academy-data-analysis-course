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Poppins" charset="1" panose="00000500000000000000"/>
      <p:regular r:id="rId29"/>
    </p:embeddedFont>
    <p:embeddedFont>
      <p:font typeface="Poppins Medium" charset="1" panose="00000600000000000000"/>
      <p:regular r:id="rId30"/>
    </p:embeddedFont>
    <p:embeddedFont>
      <p:font typeface="Inter" charset="1" panose="02000503000000020004"/>
      <p:regular r:id="rId31"/>
    </p:embeddedFont>
    <p:embeddedFont>
      <p:font typeface="Poppins Bold" charset="1" panose="00000800000000000000"/>
      <p:regular r:id="rId32"/>
    </p:embeddedFont>
    <p:embeddedFont>
      <p:font typeface="Poppins Italics" charset="1" panose="00000500000000000000"/>
      <p:regular r:id="rId34"/>
    </p:embeddedFont>
    <p:embeddedFont>
      <p:font typeface="Inter Italics" charset="1" panose="02000503000000020004"/>
      <p:regular r:id="rId35"/>
    </p:embeddedFont>
    <p:embeddedFont>
      <p:font typeface="Inter Bold" charset="1" panose="02000503000000020004"/>
      <p:regular r:id="rId36"/>
    </p:embeddedFont>
    <p:embeddedFont>
      <p:font typeface="Courier New" charset="1" panose="02070309020205020404"/>
      <p:regular r:id="rId37"/>
    </p:embeddedFont>
    <p:embeddedFont>
      <p:font typeface="DM Sans Bold" charset="1" panose="00000000000000000000"/>
      <p:regular r:id="rId39"/>
    </p:embeddedFont>
    <p:embeddedFont>
      <p:font typeface="DM Sans" charset="1" panose="0000000000000000000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2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3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4.jpe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8.png" Type="http://schemas.openxmlformats.org/officeDocument/2006/relationships/image"/><Relationship Id="rId9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30000" y="0"/>
            <a:ext cx="2286000" cy="1907553"/>
            <a:chOff x="0" y="0"/>
            <a:chExt cx="3048000" cy="25434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" b="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001875" y="714375"/>
            <a:ext cx="2857500" cy="2857500"/>
            <a:chOff x="0" y="0"/>
            <a:chExt cx="3810000" cy="381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0" y="1905000"/>
                  </a:moveTo>
                  <a:cubicBezTo>
                    <a:pt x="0" y="852932"/>
                    <a:pt x="852932" y="0"/>
                    <a:pt x="1905000" y="0"/>
                  </a:cubicBezTo>
                  <a:cubicBezTo>
                    <a:pt x="2957068" y="0"/>
                    <a:pt x="3810000" y="852932"/>
                    <a:pt x="3810000" y="1905000"/>
                  </a:cubicBezTo>
                  <a:cubicBezTo>
                    <a:pt x="3810000" y="2957068"/>
                    <a:pt x="2957068" y="3810000"/>
                    <a:pt x="1905000" y="3810000"/>
                  </a:cubicBezTo>
                  <a:cubicBezTo>
                    <a:pt x="852932" y="3810000"/>
                    <a:pt x="0" y="2957068"/>
                    <a:pt x="0" y="1905000"/>
                  </a:cubicBezTo>
                  <a:close/>
                </a:path>
              </a:pathLst>
            </a:custGeom>
            <a:solidFill>
              <a:srgbClr val="387F7F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5955700"/>
            <a:ext cx="1907553" cy="1286104"/>
            <a:chOff x="0" y="0"/>
            <a:chExt cx="2543404" cy="17148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7" b="-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43000" y="2471084"/>
            <a:ext cx="16002000" cy="517550"/>
            <a:chOff x="0" y="0"/>
            <a:chExt cx="21336000" cy="6900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336000" cy="690071"/>
            </a:xfrm>
            <a:custGeom>
              <a:avLst/>
              <a:gdLst/>
              <a:ahLst/>
              <a:cxnLst/>
              <a:rect r="r" b="b" t="t" l="l"/>
              <a:pathLst>
                <a:path h="690071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690071"/>
                  </a:lnTo>
                  <a:lnTo>
                    <a:pt x="0" y="6900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1235" r="0" b="-5336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336000" cy="709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Poppins"/>
                  <a:ea typeface="Poppins"/>
                  <a:cs typeface="Poppins"/>
                  <a:sym typeface="Poppins"/>
                </a:rPr>
                <a:t>D</a:t>
              </a:r>
              <a:r>
                <a:rPr lang="en-US" sz="2100">
                  <a:solidFill>
                    <a:srgbClr val="387F7F"/>
                  </a:solidFill>
                  <a:latin typeface="Poppins"/>
                  <a:ea typeface="Poppins"/>
                  <a:cs typeface="Poppins"/>
                  <a:sym typeface="Poppins"/>
                </a:rPr>
                <a:t>ATA ANALYSIS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3000" y="2875896"/>
            <a:ext cx="16002000" cy="814654"/>
            <a:chOff x="0" y="0"/>
            <a:chExt cx="21336000" cy="10862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1086197"/>
            </a:xfrm>
            <a:custGeom>
              <a:avLst/>
              <a:gdLst/>
              <a:ahLst/>
              <a:cxnLst/>
              <a:rect r="r" b="b" t="t" l="l"/>
              <a:pathLst>
                <a:path h="1086197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86197"/>
                  </a:lnTo>
                  <a:lnTo>
                    <a:pt x="0" y="108619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1559" r="0" b="-31392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1336000" cy="1114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>
                  <a:solidFill>
                    <a:srgbClr val="64748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Module 5: PYTHON FOR DATA ANALYSIS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3000" y="8572500"/>
            <a:ext cx="16002000" cy="28804"/>
            <a:chOff x="0" y="0"/>
            <a:chExt cx="21336000" cy="384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3000" y="9001125"/>
            <a:ext cx="385648" cy="342900"/>
            <a:chOff x="0" y="0"/>
            <a:chExt cx="514198" cy="457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4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43062" y="9001125"/>
            <a:ext cx="2143354" cy="438950"/>
            <a:chOff x="0" y="0"/>
            <a:chExt cx="2857805" cy="5852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7800" cy="585270"/>
            </a:xfrm>
            <a:custGeom>
              <a:avLst/>
              <a:gdLst/>
              <a:ahLst/>
              <a:cxnLst/>
              <a:rect r="r" b="b" t="t" l="l"/>
              <a:pathLst>
                <a:path h="585270" w="2857800">
                  <a:moveTo>
                    <a:pt x="0" y="0"/>
                  </a:moveTo>
                  <a:lnTo>
                    <a:pt x="2857800" y="0"/>
                  </a:lnTo>
                  <a:lnTo>
                    <a:pt x="2857800" y="585270"/>
                  </a:lnTo>
                  <a:lnTo>
                    <a:pt x="0" y="58527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339" r="0" b="-3194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857805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2 of 4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143000" y="552450"/>
            <a:ext cx="2124669" cy="1845806"/>
          </a:xfrm>
          <a:custGeom>
            <a:avLst/>
            <a:gdLst/>
            <a:ahLst/>
            <a:cxnLst/>
            <a:rect r="r" b="b" t="t" l="l"/>
            <a:pathLst>
              <a:path h="1845806" w="2124669">
                <a:moveTo>
                  <a:pt x="0" y="0"/>
                </a:moveTo>
                <a:lnTo>
                  <a:pt x="2124669" y="0"/>
                </a:lnTo>
                <a:lnTo>
                  <a:pt x="2124669" y="1845806"/>
                </a:lnTo>
                <a:lnTo>
                  <a:pt x="0" y="18458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43000" y="3642554"/>
            <a:ext cx="8644167" cy="387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8000" b="true">
                <a:solidFill>
                  <a:srgbClr val="388080"/>
                </a:solidFill>
                <a:latin typeface="Poppins Bold"/>
                <a:ea typeface="Poppins Bold"/>
                <a:cs typeface="Poppins Bold"/>
                <a:sym typeface="Poppins Bold"/>
              </a:rPr>
              <a:t>Loading and Inspecting </a:t>
            </a:r>
            <a:r>
              <a:rPr lang="en-US" b="true" sz="8000">
                <a:solidFill>
                  <a:srgbClr val="388080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  <a:r>
              <a:rPr lang="en-US" b="true" sz="8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8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with Panda</a:t>
            </a:r>
            <a:r>
              <a:rPr lang="en-US" b="true" sz="8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121338" y="2143125"/>
            <a:ext cx="6137962" cy="5700886"/>
            <a:chOff x="0" y="0"/>
            <a:chExt cx="9571580" cy="889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71580" cy="8890000"/>
            </a:xfrm>
            <a:custGeom>
              <a:avLst/>
              <a:gdLst/>
              <a:ahLst/>
              <a:cxnLst/>
              <a:rect r="r" b="b" t="t" l="l"/>
              <a:pathLst>
                <a:path h="8890000" w="9571580">
                  <a:moveTo>
                    <a:pt x="275913" y="0"/>
                  </a:moveTo>
                  <a:lnTo>
                    <a:pt x="9295667" y="0"/>
                  </a:lnTo>
                  <a:cubicBezTo>
                    <a:pt x="9448050" y="0"/>
                    <a:pt x="9571580" y="123531"/>
                    <a:pt x="9571580" y="275913"/>
                  </a:cubicBezTo>
                  <a:lnTo>
                    <a:pt x="9571580" y="8614087"/>
                  </a:lnTo>
                  <a:cubicBezTo>
                    <a:pt x="9571580" y="8766470"/>
                    <a:pt x="9448050" y="8890000"/>
                    <a:pt x="9295667" y="8890000"/>
                  </a:cubicBezTo>
                  <a:lnTo>
                    <a:pt x="275913" y="8890000"/>
                  </a:lnTo>
                  <a:cubicBezTo>
                    <a:pt x="123531" y="8890000"/>
                    <a:pt x="0" y="8766470"/>
                    <a:pt x="0" y="8614087"/>
                  </a:cubicBezTo>
                  <a:lnTo>
                    <a:pt x="0" y="275913"/>
                  </a:lnTo>
                  <a:cubicBezTo>
                    <a:pt x="0" y="123531"/>
                    <a:pt x="123531" y="0"/>
                    <a:pt x="275913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3833" r="0" b="-38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4384000" cy="13716000"/>
              <a:chOff x="0" y="0"/>
              <a:chExt cx="24384000" cy="13716000"/>
            </a:xfrm>
          </p:grpSpPr>
          <p:sp>
            <p:nvSpPr>
              <p:cNvPr name="Freeform 6" id="6" descr="image.png"/>
              <p:cNvSpPr/>
              <p:nvPr/>
            </p:nvSpPr>
            <p:spPr>
              <a:xfrm flipH="false" flipV="false" rot="0">
                <a:off x="0" y="0"/>
                <a:ext cx="24384000" cy="137160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716000"/>
                    </a:lnTo>
                    <a:lnTo>
                      <a:pt x="0" y="13716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143000" y="1126769"/>
              <a:ext cx="152400" cy="1371600"/>
              <a:chOff x="0" y="0"/>
              <a:chExt cx="152400" cy="13716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524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388080"/>
              </a:solidFill>
            </p:spPr>
          </p:sp>
        </p:grpSp>
      </p:grpSp>
      <p:sp>
        <p:nvSpPr>
          <p:cNvPr name="TextBox 9" id="9"/>
          <p:cNvSpPr txBox="true"/>
          <p:nvPr/>
        </p:nvSpPr>
        <p:spPr>
          <a:xfrm rot="0">
            <a:off x="1188212" y="981075"/>
            <a:ext cx="692958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MODULE 5 OBJECTIVES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6076" y="2585275"/>
            <a:ext cx="10604748" cy="47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1"/>
              </a:lnSpc>
              <a:spcBef>
                <a:spcPct val="0"/>
              </a:spcBef>
            </a:pPr>
            <a:r>
              <a:rPr lang="en-US" sz="2674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Load CSV data into a pandas DataFrame using pd.read_csv().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57250" y="2671762"/>
            <a:ext cx="371475" cy="385762"/>
            <a:chOff x="0" y="0"/>
            <a:chExt cx="495300" cy="51435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7250" y="3399931"/>
            <a:ext cx="371475" cy="385762"/>
            <a:chOff x="0" y="0"/>
            <a:chExt cx="495300" cy="5143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4128594"/>
            <a:ext cx="371475" cy="385762"/>
            <a:chOff x="0" y="0"/>
            <a:chExt cx="495300" cy="5143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7250" y="4857256"/>
            <a:ext cx="371475" cy="385762"/>
            <a:chOff x="0" y="0"/>
            <a:chExt cx="495300" cy="5143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36076" y="4052394"/>
            <a:ext cx="11249241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dentify data types and missing values before beginning analysis</a:t>
            </a:r>
          </a:p>
          <a:p>
            <a:pPr algn="ctr">
              <a:lnSpc>
                <a:spcPts val="378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536076" y="3323731"/>
            <a:ext cx="14276263" cy="49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9"/>
              </a:lnSpc>
              <a:spcBef>
                <a:spcPct val="0"/>
              </a:spcBef>
            </a:pPr>
            <a:r>
              <a:rPr lang="en-US" sz="27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Inspect and understand the structure of a dataset using pandas inspection tools.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6076" y="4781056"/>
            <a:ext cx="10884247" cy="49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9"/>
              </a:lnSpc>
              <a:spcBef>
                <a:spcPct val="0"/>
              </a:spcBef>
            </a:pPr>
            <a:r>
              <a:rPr lang="en-US" sz="27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Select and filter data to answer practical analytical questions.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12173"/>
            <a:ext cx="18288000" cy="10287000"/>
            <a:chOff x="0" y="0"/>
            <a:chExt cx="24384000" cy="13716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4384000" cy="13716000"/>
              <a:chOff x="0" y="0"/>
              <a:chExt cx="24384000" cy="13716000"/>
            </a:xfrm>
          </p:grpSpPr>
          <p:sp>
            <p:nvSpPr>
              <p:cNvPr name="Freeform 8" id="8" descr="image.png"/>
              <p:cNvSpPr/>
              <p:nvPr/>
            </p:nvSpPr>
            <p:spPr>
              <a:xfrm flipH="false" flipV="false" rot="0">
                <a:off x="0" y="0"/>
                <a:ext cx="24384000" cy="137160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716000"/>
                    </a:lnTo>
                    <a:lnTo>
                      <a:pt x="0" y="13716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143000" y="1126769"/>
              <a:ext cx="152400" cy="1371600"/>
              <a:chOff x="0" y="0"/>
              <a:chExt cx="152400" cy="13716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524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388080"/>
              </a:solidFill>
            </p:spPr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219200" y="2552624"/>
              <a:ext cx="14507462" cy="8610753"/>
            </a:xfrm>
            <a:custGeom>
              <a:avLst/>
              <a:gdLst/>
              <a:ahLst/>
              <a:cxnLst/>
              <a:rect r="r" b="b" t="t" l="l"/>
              <a:pathLst>
                <a:path h="8610753" w="14507462">
                  <a:moveTo>
                    <a:pt x="0" y="0"/>
                  </a:moveTo>
                  <a:lnTo>
                    <a:pt x="14507462" y="0"/>
                  </a:lnTo>
                  <a:lnTo>
                    <a:pt x="14507462" y="8610752"/>
                  </a:lnTo>
                  <a:lnTo>
                    <a:pt x="0" y="8610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524000" y="1015644"/>
              <a:ext cx="22802850" cy="1127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Learning outcome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524000" y="3918115"/>
              <a:ext cx="14614113" cy="7771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By the end of this topic, the trainee can…</a:t>
              </a:r>
            </a:p>
            <a:p>
              <a:pPr algn="l">
                <a:lnSpc>
                  <a:spcPts val="4680"/>
                </a:lnSpc>
              </a:pP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1- Create and work with pandas DataFrames from CSV datasets.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2- Identify data types and missing values before beginning analysis.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3-Identify data types and missing values before beginning analysis.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4-Select and filter data using pandas to answer practical business and analytical questions.</a:t>
              </a:r>
            </a:p>
            <a:p>
              <a:pPr algn="l">
                <a:lnSpc>
                  <a:spcPts val="468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3985" y="2715025"/>
            <a:ext cx="16459200" cy="2716816"/>
            <a:chOff x="0" y="0"/>
            <a:chExt cx="21945600" cy="362242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46304" cy="146304"/>
              <a:chOff x="0" y="0"/>
              <a:chExt cx="146304" cy="14630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1133856"/>
              <a:ext cx="146304" cy="146304"/>
              <a:chOff x="0" y="0"/>
              <a:chExt cx="146304" cy="14630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457200" y="701421"/>
              <a:ext cx="21488400" cy="1016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Analysts use it because it turns the lists of dictionaries you built in Module 5.1 into one structured table you can sort, filter, summarise and clean in a few lines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0" y="2267712"/>
              <a:ext cx="146304" cy="146304"/>
              <a:chOff x="0" y="0"/>
              <a:chExt cx="146304" cy="14630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457200" y="1835277"/>
              <a:ext cx="21488400" cy="1016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It solves the problem Excel runs into: a spreadsheet slows down and resists automation past a certain size; pandas loads, cleans and analyses tables of any realistic size, and the exact same code runs again next month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0" y="3401568"/>
              <a:ext cx="146304" cy="146304"/>
              <a:chOff x="0" y="0"/>
              <a:chExt cx="146304" cy="14630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457200" y="3114040"/>
              <a:ext cx="21488400" cy="508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Its core object is the DataFrame: a table with labelled rows and columns that Python can compute on directly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17556" y="2540137"/>
            <a:ext cx="16116300" cy="39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17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pandas is Python's library for working with tables of data: rows and columns, just like a spreadsheet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54716" y="6000007"/>
            <a:ext cx="15499080" cy="1577340"/>
            <a:chOff x="0" y="0"/>
            <a:chExt cx="20665440" cy="2103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665439" cy="2103120"/>
            </a:xfrm>
            <a:custGeom>
              <a:avLst/>
              <a:gdLst/>
              <a:ahLst/>
              <a:cxnLst/>
              <a:rect r="r" b="b" t="t" l="l"/>
              <a:pathLst>
                <a:path h="21031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61" r="0" b="-14146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066544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"</a:t>
              </a:r>
              <a:r>
                <a:rPr lang="en-US" sz="2850" i="true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 pandas DataFrame is like an Excel worksheet that Python can manipulate programmatically."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6726" y="9701643"/>
            <a:ext cx="15814548" cy="502368"/>
            <a:chOff x="0" y="0"/>
            <a:chExt cx="21086064" cy="6698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086065" cy="669823"/>
            </a:xfrm>
            <a:custGeom>
              <a:avLst/>
              <a:gdLst/>
              <a:ahLst/>
              <a:cxnLst/>
              <a:rect r="r" b="b" t="t" l="l"/>
              <a:pathLst>
                <a:path h="669823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669823"/>
                  </a:lnTo>
                  <a:lnTo>
                    <a:pt x="0" y="6698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2435" r="0" b="-5543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1086064" cy="726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025" i="true">
                  <a:solidFill>
                    <a:srgbClr val="0A1A23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This session builds the habits you will use on every dataset for the rest of the programme: load it, inspect it, then trust it.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57250" y="845077"/>
            <a:ext cx="13116186" cy="1245870"/>
            <a:chOff x="0" y="0"/>
            <a:chExt cx="17488248" cy="166116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480408" y="0"/>
              <a:ext cx="17007840" cy="1661160"/>
              <a:chOff x="0" y="0"/>
              <a:chExt cx="17007840" cy="166116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7007839" cy="1661160"/>
              </a:xfrm>
              <a:custGeom>
                <a:avLst/>
                <a:gdLst/>
                <a:ahLst/>
                <a:cxnLst/>
                <a:rect r="r" b="b" t="t" l="l"/>
                <a:pathLst>
                  <a:path h="1661160" w="17007839">
                    <a:moveTo>
                      <a:pt x="0" y="0"/>
                    </a:moveTo>
                    <a:lnTo>
                      <a:pt x="17007839" y="0"/>
                    </a:lnTo>
                    <a:lnTo>
                      <a:pt x="17007839" y="1661160"/>
                    </a:lnTo>
                    <a:lnTo>
                      <a:pt x="0" y="16611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3718" r="0" b="-135277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17007840" cy="17087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000"/>
                  </a:lnSpc>
                </a:pPr>
                <a:r>
                  <a:rPr lang="en-US" sz="5000">
                    <a:solidFill>
                      <a:srgbClr val="3880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What Is Pandas?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0"/>
              <a:ext cx="152400" cy="1371600"/>
              <a:chOff x="0" y="0"/>
              <a:chExt cx="152400" cy="13716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524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388080"/>
              </a:solidFill>
            </p:spPr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048827"/>
            <a:ext cx="16664940" cy="5074920"/>
            <a:chOff x="0" y="0"/>
            <a:chExt cx="22219920" cy="676656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698480" cy="1645920"/>
              <a:chOff x="0" y="0"/>
              <a:chExt cx="10698480" cy="164592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698480" cy="1645920"/>
              </a:xfrm>
              <a:custGeom>
                <a:avLst/>
                <a:gdLst/>
                <a:ahLst/>
                <a:cxnLst/>
                <a:rect r="r" b="b" t="t" l="l"/>
                <a:pathLst>
                  <a:path h="1645920" w="1069848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10552176" y="0"/>
                    </a:lnTo>
                    <a:cubicBezTo>
                      <a:pt x="10632948" y="0"/>
                      <a:pt x="10698480" y="65532"/>
                      <a:pt x="10698480" y="146304"/>
                    </a:cubicBezTo>
                    <a:lnTo>
                      <a:pt x="10698480" y="1499616"/>
                    </a:lnTo>
                    <a:cubicBezTo>
                      <a:pt x="10698480" y="1580388"/>
                      <a:pt x="10632948" y="1645920"/>
                      <a:pt x="10552176" y="1645920"/>
                    </a:cubicBezTo>
                    <a:lnTo>
                      <a:pt x="146304" y="1645920"/>
                    </a:lnTo>
                    <a:cubicBezTo>
                      <a:pt x="65532" y="1645920"/>
                      <a:pt x="0" y="1580388"/>
                      <a:pt x="0" y="1499616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02336" y="365760"/>
              <a:ext cx="237744" cy="237744"/>
              <a:chOff x="0" y="0"/>
              <a:chExt cx="237744" cy="23774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841248" y="365760"/>
              <a:ext cx="237744" cy="237744"/>
              <a:chOff x="0" y="0"/>
              <a:chExt cx="237744" cy="23774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1280160" y="365760"/>
              <a:ext cx="237744" cy="237744"/>
              <a:chOff x="0" y="0"/>
              <a:chExt cx="237744" cy="23774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512064" y="838200"/>
              <a:ext cx="9674352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import pandas as pd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548640" y="2194560"/>
              <a:ext cx="9601200" cy="2103120"/>
              <a:chOff x="0" y="0"/>
              <a:chExt cx="9601200" cy="210312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601200" cy="2103120"/>
              </a:xfrm>
              <a:custGeom>
                <a:avLst/>
                <a:gdLst/>
                <a:ahLst/>
                <a:cxnLst/>
                <a:rect r="r" b="b" t="t" l="l"/>
                <a:pathLst>
                  <a:path h="2103120" w="9601200">
                    <a:moveTo>
                      <a:pt x="0" y="0"/>
                    </a:moveTo>
                    <a:lnTo>
                      <a:pt x="9601200" y="0"/>
                    </a:lnTo>
                    <a:lnTo>
                      <a:pt x="9601200" y="2103120"/>
                    </a:lnTo>
                    <a:lnTo>
                      <a:pt x="0" y="21031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8953" r="0" b="-38953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9601200" cy="21602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i="true">
                    <a:solidFill>
                      <a:srgbClr val="0A1A23"/>
                    </a:solidFill>
                    <a:latin typeface="Poppins Italics"/>
                    <a:ea typeface="Poppins Italics"/>
                    <a:cs typeface="Poppins Italics"/>
                    <a:sym typeface="Poppins Italics"/>
                  </a:rPr>
                  <a:t>as pd is a nickname, not a rule the language enforces — the whole community follows it anyway, so unfamiliar code still reads instantly.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1430000" y="457200"/>
              <a:ext cx="146304" cy="146304"/>
              <a:chOff x="0" y="0"/>
              <a:chExt cx="146304" cy="14630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11887200" y="24765"/>
              <a:ext cx="10332720" cy="1016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import — brings a library into this notebook, exactly as in Module 5.1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11430000" y="2011680"/>
              <a:ext cx="146304" cy="146304"/>
              <a:chOff x="0" y="0"/>
              <a:chExt cx="146304" cy="14630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1887200" y="1579245"/>
              <a:ext cx="10332720" cy="1016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pandas — the library itself, already installed in Google Colab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11430000" y="3566160"/>
              <a:ext cx="146304" cy="146304"/>
              <a:chOff x="0" y="0"/>
              <a:chExt cx="146304" cy="14630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11887200" y="3133725"/>
              <a:ext cx="10332720" cy="1016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as pd — gives it a short nickname, so every later line reads pd.something instead of pandas.something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548640" y="5394960"/>
              <a:ext cx="21086064" cy="1371600"/>
              <a:chOff x="0" y="0"/>
              <a:chExt cx="21086064" cy="13716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1086065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9549" r="0" b="-249549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21086064" cy="14287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Convention, not requirement:  </a:t>
                </a:r>
                <a:r>
                  <a:rPr lang="en-US" sz="202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every pandas user writes pd. Following it means your code reads like everyone else's, including the code an AI assistant drafts for you.</a:t>
                </a: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1236726" y="9751071"/>
            <a:ext cx="15814548" cy="411480"/>
            <a:chOff x="0" y="0"/>
            <a:chExt cx="21086064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086065" cy="548640"/>
            </a:xfrm>
            <a:custGeom>
              <a:avLst/>
              <a:gdLst/>
              <a:ahLst/>
              <a:cxnLst/>
              <a:rect r="r" b="b" t="t" l="l"/>
              <a:pathLst>
                <a:path h="548640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8874" r="0" b="-6988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1086064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025" i="true">
                  <a:solidFill>
                    <a:srgbClr val="0A1A23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Run this cell once at the top of a notebook. Every pandas command in this session builds on it.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236726" y="802957"/>
            <a:ext cx="12755880" cy="1245870"/>
            <a:chOff x="0" y="0"/>
            <a:chExt cx="17007840" cy="1661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Import Pandas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7250" y="845077"/>
            <a:ext cx="114300" cy="1028700"/>
            <a:chOff x="0" y="0"/>
            <a:chExt cx="152400" cy="1371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23367" y="773830"/>
            <a:ext cx="12755880" cy="1245870"/>
            <a:chOff x="0" y="0"/>
            <a:chExt cx="17007840" cy="1661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Loading a CSV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399332"/>
            <a:ext cx="16664940" cy="3351657"/>
            <a:chOff x="0" y="0"/>
            <a:chExt cx="22219920" cy="446887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698480" cy="1645920"/>
              <a:chOff x="0" y="0"/>
              <a:chExt cx="10698480" cy="164592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698480" cy="1645920"/>
              </a:xfrm>
              <a:custGeom>
                <a:avLst/>
                <a:gdLst/>
                <a:ahLst/>
                <a:cxnLst/>
                <a:rect r="r" b="b" t="t" l="l"/>
                <a:pathLst>
                  <a:path h="1645920" w="1069848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10552176" y="0"/>
                    </a:lnTo>
                    <a:cubicBezTo>
                      <a:pt x="10632948" y="0"/>
                      <a:pt x="10698480" y="65532"/>
                      <a:pt x="10698480" y="146304"/>
                    </a:cubicBezTo>
                    <a:lnTo>
                      <a:pt x="10698480" y="1499616"/>
                    </a:lnTo>
                    <a:cubicBezTo>
                      <a:pt x="10698480" y="1580388"/>
                      <a:pt x="10632948" y="1645920"/>
                      <a:pt x="10552176" y="1645920"/>
                    </a:cubicBezTo>
                    <a:lnTo>
                      <a:pt x="146304" y="1645920"/>
                    </a:lnTo>
                    <a:cubicBezTo>
                      <a:pt x="65532" y="1645920"/>
                      <a:pt x="0" y="1580388"/>
                      <a:pt x="0" y="1499616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402336" y="365760"/>
              <a:ext cx="237744" cy="237744"/>
              <a:chOff x="0" y="0"/>
              <a:chExt cx="237744" cy="23774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841248" y="365760"/>
              <a:ext cx="237744" cy="237744"/>
              <a:chOff x="0" y="0"/>
              <a:chExt cx="237744" cy="23774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280160" y="365760"/>
              <a:ext cx="237744" cy="237744"/>
              <a:chOff x="0" y="0"/>
              <a:chExt cx="237744" cy="23774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512064" y="838200"/>
              <a:ext cx="9674352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 = pd.read_csv("data.csv")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2286000"/>
              <a:ext cx="10698480" cy="1645920"/>
              <a:chOff x="0" y="0"/>
              <a:chExt cx="10698480" cy="164592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698480" cy="1645920"/>
              </a:xfrm>
              <a:custGeom>
                <a:avLst/>
                <a:gdLst/>
                <a:ahLst/>
                <a:cxnLst/>
                <a:rect r="r" b="b" t="t" l="l"/>
                <a:pathLst>
                  <a:path h="1645920" w="1069848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10552176" y="0"/>
                    </a:lnTo>
                    <a:cubicBezTo>
                      <a:pt x="10632948" y="0"/>
                      <a:pt x="10698480" y="65532"/>
                      <a:pt x="10698480" y="146304"/>
                    </a:cubicBezTo>
                    <a:lnTo>
                      <a:pt x="10698480" y="1499616"/>
                    </a:lnTo>
                    <a:cubicBezTo>
                      <a:pt x="10698480" y="1580388"/>
                      <a:pt x="10632948" y="1645920"/>
                      <a:pt x="10552176" y="1645920"/>
                    </a:cubicBezTo>
                    <a:lnTo>
                      <a:pt x="146304" y="1645920"/>
                    </a:lnTo>
                    <a:cubicBezTo>
                      <a:pt x="65532" y="1645920"/>
                      <a:pt x="0" y="1580388"/>
                      <a:pt x="0" y="1499616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402336" y="2651760"/>
              <a:ext cx="237744" cy="237744"/>
              <a:chOff x="0" y="0"/>
              <a:chExt cx="237744" cy="23774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841248" y="2651760"/>
              <a:ext cx="237744" cy="237744"/>
              <a:chOff x="0" y="0"/>
              <a:chExt cx="237744" cy="23774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1280160" y="2651760"/>
              <a:ext cx="237744" cy="237744"/>
              <a:chOff x="0" y="0"/>
              <a:chExt cx="237744" cy="23774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512064" y="2578608"/>
              <a:ext cx="9674352" cy="498348"/>
              <a:chOff x="0" y="0"/>
              <a:chExt cx="9674352" cy="49834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674352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674352">
                    <a:moveTo>
                      <a:pt x="0" y="0"/>
                    </a:moveTo>
                    <a:lnTo>
                      <a:pt x="9674352" y="0"/>
                    </a:lnTo>
                    <a:lnTo>
                      <a:pt x="9674352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32388" r="0" b="-324131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19050"/>
                <a:ext cx="9674352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1800"/>
                  </a:lnSpc>
                </a:pPr>
                <a:r>
                  <a:rPr lang="en-US" sz="1500">
                    <a:solidFill>
                      <a:srgbClr val="8FA3A5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today's file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512064" y="3124200"/>
              <a:ext cx="9674352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 = pd.read_csv("branch_sales.csv")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11430000" y="274320"/>
              <a:ext cx="146304" cy="146304"/>
              <a:chOff x="0" y="0"/>
              <a:chExt cx="146304" cy="14630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430000" y="1517904"/>
              <a:ext cx="146304" cy="146304"/>
              <a:chOff x="0" y="0"/>
              <a:chExt cx="146304" cy="14630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11887200" y="1271905"/>
              <a:ext cx="10332720" cy="432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it reads every row and column into memory</a:t>
              </a:r>
            </a:p>
          </p:txBody>
        </p:sp>
        <p:grpSp>
          <p:nvGrpSpPr>
            <p:cNvPr name="Group 34" id="34"/>
            <p:cNvGrpSpPr/>
            <p:nvPr/>
          </p:nvGrpSpPr>
          <p:grpSpPr>
            <a:xfrm rot="0">
              <a:off x="11430000" y="2761488"/>
              <a:ext cx="146304" cy="146304"/>
              <a:chOff x="0" y="0"/>
              <a:chExt cx="146304" cy="14630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11887200" y="2348103"/>
              <a:ext cx="10332720" cy="877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the first row of the file becomes the column names, unless told otherwise</a:t>
              </a:r>
            </a:p>
          </p:txBody>
        </p:sp>
        <p:grpSp>
          <p:nvGrpSpPr>
            <p:cNvPr name="Group 37" id="37"/>
            <p:cNvGrpSpPr/>
            <p:nvPr/>
          </p:nvGrpSpPr>
          <p:grpSpPr>
            <a:xfrm rot="0">
              <a:off x="11430000" y="4005072"/>
              <a:ext cx="146304" cy="146304"/>
              <a:chOff x="0" y="0"/>
              <a:chExt cx="146304" cy="146304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39" id="39"/>
            <p:cNvSpPr txBox="true"/>
            <p:nvPr/>
          </p:nvSpPr>
          <p:spPr>
            <a:xfrm rot="0">
              <a:off x="11887200" y="3591687"/>
              <a:ext cx="10332720" cy="877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the whole table is stored in the variable df, ready for the next command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829800" y="2475050"/>
            <a:ext cx="7749540" cy="33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pandas opens the file named data.csv in your working folder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14400" y="6445552"/>
            <a:ext cx="15814548" cy="1028700"/>
            <a:chOff x="0" y="0"/>
            <a:chExt cx="21086064" cy="1371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086065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549" r="0" b="-24954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21086064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025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Excel parallel:  </a:t>
              </a: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this is the Python equivalent of double-clicking a CSV to open it in Excel, except the result is a variable you can compute on, not a window you look at.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57250" y="845077"/>
            <a:ext cx="114300" cy="1028700"/>
            <a:chOff x="0" y="0"/>
            <a:chExt cx="152400" cy="1371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45077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2200046"/>
            <a:ext cx="17350740" cy="4103370"/>
            <a:chOff x="0" y="0"/>
            <a:chExt cx="23134320" cy="547116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2743200" y="0"/>
              <a:ext cx="9144000" cy="548640"/>
              <a:chOff x="0" y="0"/>
              <a:chExt cx="9144000" cy="54864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14400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74750" r="0" b="-274750"/>
                </a:stretch>
              </a:blip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9525"/>
                <a:ext cx="9144000" cy="5581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340"/>
                  </a:lnSpc>
                </a:pPr>
                <a:r>
                  <a:rPr lang="en-US" sz="1950" b="true">
                    <a:solidFill>
                      <a:srgbClr val="387F7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COLUMNS — named fields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2011680"/>
              <a:ext cx="2468880" cy="1097280"/>
              <a:chOff x="0" y="0"/>
              <a:chExt cx="2468880" cy="109728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46888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2468880">
                    <a:moveTo>
                      <a:pt x="0" y="0"/>
                    </a:moveTo>
                    <a:lnTo>
                      <a:pt x="2468880" y="0"/>
                    </a:lnTo>
                    <a:lnTo>
                      <a:pt x="246888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023" t="0" r="-7023" b="0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9050"/>
                <a:ext cx="2468880" cy="11163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376"/>
                  </a:lnSpc>
                </a:pPr>
                <a:r>
                  <a:rPr lang="en-US" sz="1800" b="true">
                    <a:solidFill>
                      <a:srgbClr val="387F7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← INDEX</a:t>
                </a:r>
              </a:p>
              <a:p>
                <a:pPr algn="r">
                  <a:lnSpc>
                    <a:spcPts val="2376"/>
                  </a:lnSpc>
                </a:pPr>
                <a:r>
                  <a:rPr lang="en-US" sz="1800" b="true">
                    <a:solidFill>
                      <a:srgbClr val="387F7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(row labels)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8379440" y="2322576"/>
              <a:ext cx="4754880" cy="731520"/>
              <a:chOff x="0" y="0"/>
              <a:chExt cx="4754880" cy="73152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75488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4754880">
                    <a:moveTo>
                      <a:pt x="0" y="0"/>
                    </a:moveTo>
                    <a:lnTo>
                      <a:pt x="4754880" y="0"/>
                    </a:lnTo>
                    <a:lnTo>
                      <a:pt x="475488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6652" r="0" b="-76652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0"/>
                <a:ext cx="4754880" cy="7315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B9791A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ROW — one full record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5819120" y="4206240"/>
              <a:ext cx="4754880" cy="548640"/>
              <a:chOff x="0" y="0"/>
              <a:chExt cx="4754880" cy="54864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75488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4754880">
                    <a:moveTo>
                      <a:pt x="0" y="0"/>
                    </a:moveTo>
                    <a:lnTo>
                      <a:pt x="4754880" y="0"/>
                    </a:lnTo>
                    <a:lnTo>
                      <a:pt x="4754880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8870" r="0" b="-118870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4754880" cy="5486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B9791A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VALUE — one cell</a:t>
                </a:r>
              </a:p>
            </p:txBody>
          </p:sp>
        </p:grp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2160270" y="560070"/>
          <a:ext cx="11487150" cy="3543300"/>
        </p:xfrm>
        <a:graphic>
          <a:graphicData uri="http://schemas.openxmlformats.org/drawingml/2006/table">
            <a:tbl>
              <a:tblPr/>
              <a:tblGrid>
                <a:gridCol w="979061"/>
                <a:gridCol w="2526127"/>
                <a:gridCol w="3669610"/>
                <a:gridCol w="2189808"/>
                <a:gridCol w="2122544"/>
              </a:tblGrid>
              <a:tr h="590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7F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Branch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7F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Product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7F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Sales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7F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Price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7F7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Lagos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Rice 50kg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145000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Abuja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Cooking Oil 25L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98000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Kano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Detergent Carton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52000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8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Lagos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Beverages Crate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132000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Ibadan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Flour 50kg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87000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A1A2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234440" y="9417577"/>
            <a:ext cx="15814548" cy="411480"/>
            <a:chOff x="0" y="0"/>
            <a:chExt cx="21086064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086065" cy="548640"/>
            </a:xfrm>
            <a:custGeom>
              <a:avLst/>
              <a:gdLst/>
              <a:ahLst/>
              <a:cxnLst/>
              <a:rect r="r" b="b" t="t" l="l"/>
              <a:pathLst>
                <a:path h="548640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8874" r="0" b="-69887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086064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025" i="true">
                  <a:solidFill>
                    <a:srgbClr val="0A1A23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Rows and an index down the left, named columns across the top, one value in every cell, exactly like a worksheet.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9981" y="736492"/>
            <a:ext cx="12755880" cy="1245870"/>
            <a:chOff x="0" y="0"/>
            <a:chExt cx="17007840" cy="1661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Understanding the DataFrame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45077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210938"/>
            <a:ext cx="16661320" cy="7977588"/>
            <a:chOff x="0" y="0"/>
            <a:chExt cx="22215094" cy="1063678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473075" y="109728"/>
              <a:ext cx="3383280" cy="768096"/>
              <a:chOff x="0" y="0"/>
              <a:chExt cx="3383280" cy="76809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3832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3383280">
                    <a:moveTo>
                      <a:pt x="0" y="384048"/>
                    </a:moveTo>
                    <a:cubicBezTo>
                      <a:pt x="0" y="171958"/>
                      <a:pt x="171958" y="0"/>
                      <a:pt x="384048" y="0"/>
                    </a:cubicBezTo>
                    <a:lnTo>
                      <a:pt x="2999232" y="0"/>
                    </a:lnTo>
                    <a:cubicBezTo>
                      <a:pt x="3211322" y="0"/>
                      <a:pt x="3383280" y="171958"/>
                      <a:pt x="3383280" y="384048"/>
                    </a:cubicBezTo>
                    <a:cubicBezTo>
                      <a:pt x="3383280" y="596138"/>
                      <a:pt x="3211322" y="768096"/>
                      <a:pt x="2999232" y="768096"/>
                    </a:cubicBezTo>
                    <a:lnTo>
                      <a:pt x="384048" y="768096"/>
                    </a:lnTo>
                    <a:cubicBezTo>
                      <a:pt x="171958" y="768096"/>
                      <a:pt x="0" y="596138"/>
                      <a:pt x="0" y="384048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473075" y="109728"/>
              <a:ext cx="3383280" cy="768096"/>
              <a:chOff x="0" y="0"/>
              <a:chExt cx="3383280" cy="76809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3832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3383280">
                    <a:moveTo>
                      <a:pt x="0" y="0"/>
                    </a:moveTo>
                    <a:lnTo>
                      <a:pt x="3383280" y="0"/>
                    </a:lnTo>
                    <a:lnTo>
                      <a:pt x="338328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5826" r="0" b="-35826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9050"/>
                <a:ext cx="338328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50"/>
                  </a:lnSpc>
                </a:pPr>
                <a:r>
                  <a:rPr lang="en-US" sz="1875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df.head()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4404995" y="0"/>
              <a:ext cx="17245584" cy="987552"/>
              <a:chOff x="0" y="0"/>
              <a:chExt cx="17245584" cy="98755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7245585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17245585">
                    <a:moveTo>
                      <a:pt x="0" y="0"/>
                    </a:moveTo>
                    <a:lnTo>
                      <a:pt x="17245585" y="0"/>
                    </a:lnTo>
                    <a:lnTo>
                      <a:pt x="17245585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0266" r="0" b="-290266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9050"/>
                <a:ext cx="17245584" cy="10066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30"/>
                  </a:lnSpc>
                </a:pPr>
                <a:r>
                  <a:rPr lang="en-US" sz="202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See the first 5 rows, to sanity-check the load worked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473075" y="1243584"/>
              <a:ext cx="3383280" cy="768096"/>
              <a:chOff x="0" y="0"/>
              <a:chExt cx="3383280" cy="76809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3832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3383280">
                    <a:moveTo>
                      <a:pt x="0" y="384048"/>
                    </a:moveTo>
                    <a:cubicBezTo>
                      <a:pt x="0" y="171958"/>
                      <a:pt x="171958" y="0"/>
                      <a:pt x="384048" y="0"/>
                    </a:cubicBezTo>
                    <a:lnTo>
                      <a:pt x="2999232" y="0"/>
                    </a:lnTo>
                    <a:cubicBezTo>
                      <a:pt x="3211322" y="0"/>
                      <a:pt x="3383280" y="171958"/>
                      <a:pt x="3383280" y="384048"/>
                    </a:cubicBezTo>
                    <a:cubicBezTo>
                      <a:pt x="3383280" y="596138"/>
                      <a:pt x="3211322" y="768096"/>
                      <a:pt x="2999232" y="768096"/>
                    </a:cubicBezTo>
                    <a:lnTo>
                      <a:pt x="384048" y="768096"/>
                    </a:lnTo>
                    <a:cubicBezTo>
                      <a:pt x="171958" y="768096"/>
                      <a:pt x="0" y="596138"/>
                      <a:pt x="0" y="384048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473075" y="1243584"/>
              <a:ext cx="3383280" cy="768096"/>
              <a:chOff x="0" y="0"/>
              <a:chExt cx="3383280" cy="7680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3832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3383280">
                    <a:moveTo>
                      <a:pt x="0" y="0"/>
                    </a:moveTo>
                    <a:lnTo>
                      <a:pt x="3383280" y="0"/>
                    </a:lnTo>
                    <a:lnTo>
                      <a:pt x="338328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5826" r="0" b="-35826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"/>
                <a:ext cx="338328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50"/>
                  </a:lnSpc>
                </a:pPr>
                <a:r>
                  <a:rPr lang="en-US" sz="1875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df.tail()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4404995" y="1133856"/>
              <a:ext cx="17245584" cy="987552"/>
              <a:chOff x="0" y="0"/>
              <a:chExt cx="17245584" cy="98755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7245585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17245585">
                    <a:moveTo>
                      <a:pt x="0" y="0"/>
                    </a:moveTo>
                    <a:lnTo>
                      <a:pt x="17245585" y="0"/>
                    </a:lnTo>
                    <a:lnTo>
                      <a:pt x="17245585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0266" r="0" b="-290266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9050"/>
                <a:ext cx="17245584" cy="10066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30"/>
                  </a:lnSpc>
                </a:pPr>
                <a:r>
                  <a:rPr lang="en-US" sz="202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See the last 5 rows, useful for checking where a file ends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473075" y="2377440"/>
              <a:ext cx="3383280" cy="768096"/>
              <a:chOff x="0" y="0"/>
              <a:chExt cx="3383280" cy="76809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3832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3383280">
                    <a:moveTo>
                      <a:pt x="0" y="384048"/>
                    </a:moveTo>
                    <a:cubicBezTo>
                      <a:pt x="0" y="171958"/>
                      <a:pt x="171958" y="0"/>
                      <a:pt x="384048" y="0"/>
                    </a:cubicBezTo>
                    <a:lnTo>
                      <a:pt x="2999232" y="0"/>
                    </a:lnTo>
                    <a:cubicBezTo>
                      <a:pt x="3211322" y="0"/>
                      <a:pt x="3383280" y="171958"/>
                      <a:pt x="3383280" y="384048"/>
                    </a:cubicBezTo>
                    <a:cubicBezTo>
                      <a:pt x="3383280" y="596138"/>
                      <a:pt x="3211322" y="768096"/>
                      <a:pt x="2999232" y="768096"/>
                    </a:cubicBezTo>
                    <a:lnTo>
                      <a:pt x="384048" y="768096"/>
                    </a:lnTo>
                    <a:cubicBezTo>
                      <a:pt x="171958" y="768096"/>
                      <a:pt x="0" y="596138"/>
                      <a:pt x="0" y="384048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473075" y="2377440"/>
              <a:ext cx="3383280" cy="768096"/>
              <a:chOff x="0" y="0"/>
              <a:chExt cx="3383280" cy="76809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3832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3383280">
                    <a:moveTo>
                      <a:pt x="0" y="0"/>
                    </a:moveTo>
                    <a:lnTo>
                      <a:pt x="3383280" y="0"/>
                    </a:lnTo>
                    <a:lnTo>
                      <a:pt x="338328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5826" r="0" b="-35826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19050"/>
                <a:ext cx="338328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50"/>
                  </a:lnSpc>
                </a:pPr>
                <a:r>
                  <a:rPr lang="en-US" sz="1875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df.shape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73075" y="3511296"/>
              <a:ext cx="3383280" cy="768096"/>
              <a:chOff x="0" y="0"/>
              <a:chExt cx="3383280" cy="76809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33832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3383280">
                    <a:moveTo>
                      <a:pt x="0" y="384048"/>
                    </a:moveTo>
                    <a:cubicBezTo>
                      <a:pt x="0" y="171958"/>
                      <a:pt x="171958" y="0"/>
                      <a:pt x="384048" y="0"/>
                    </a:cubicBezTo>
                    <a:lnTo>
                      <a:pt x="2999232" y="0"/>
                    </a:lnTo>
                    <a:cubicBezTo>
                      <a:pt x="3211322" y="0"/>
                      <a:pt x="3383280" y="171958"/>
                      <a:pt x="3383280" y="384048"/>
                    </a:cubicBezTo>
                    <a:cubicBezTo>
                      <a:pt x="3383280" y="596138"/>
                      <a:pt x="3211322" y="768096"/>
                      <a:pt x="2999232" y="768096"/>
                    </a:cubicBezTo>
                    <a:lnTo>
                      <a:pt x="384048" y="768096"/>
                    </a:lnTo>
                    <a:cubicBezTo>
                      <a:pt x="171958" y="768096"/>
                      <a:pt x="0" y="596138"/>
                      <a:pt x="0" y="384048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473075" y="3511296"/>
              <a:ext cx="3383280" cy="768096"/>
              <a:chOff x="0" y="0"/>
              <a:chExt cx="3383280" cy="76809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3832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3383280">
                    <a:moveTo>
                      <a:pt x="0" y="0"/>
                    </a:moveTo>
                    <a:lnTo>
                      <a:pt x="3383280" y="0"/>
                    </a:lnTo>
                    <a:lnTo>
                      <a:pt x="338328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5826" r="0" b="-35826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19050"/>
                <a:ext cx="338328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50"/>
                  </a:lnSpc>
                </a:pPr>
                <a:r>
                  <a:rPr lang="en-US" sz="1875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df.info()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4404995" y="3401568"/>
              <a:ext cx="17245584" cy="987552"/>
              <a:chOff x="0" y="0"/>
              <a:chExt cx="17245584" cy="987552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7245585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17245585">
                    <a:moveTo>
                      <a:pt x="0" y="0"/>
                    </a:moveTo>
                    <a:lnTo>
                      <a:pt x="17245585" y="0"/>
                    </a:lnTo>
                    <a:lnTo>
                      <a:pt x="17245585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0266" r="0" b="-290266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19050"/>
                <a:ext cx="17245584" cy="10066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30"/>
                  </a:lnSpc>
                </a:pPr>
                <a:r>
                  <a:rPr lang="en-US" sz="202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See every column, its data type and how many values are non-missing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473075" y="4645152"/>
              <a:ext cx="3383280" cy="768096"/>
              <a:chOff x="0" y="0"/>
              <a:chExt cx="3383280" cy="76809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3832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3383280">
                    <a:moveTo>
                      <a:pt x="0" y="384048"/>
                    </a:moveTo>
                    <a:cubicBezTo>
                      <a:pt x="0" y="171958"/>
                      <a:pt x="171958" y="0"/>
                      <a:pt x="384048" y="0"/>
                    </a:cubicBezTo>
                    <a:lnTo>
                      <a:pt x="2999232" y="0"/>
                    </a:lnTo>
                    <a:cubicBezTo>
                      <a:pt x="3211322" y="0"/>
                      <a:pt x="3383280" y="171958"/>
                      <a:pt x="3383280" y="384048"/>
                    </a:cubicBezTo>
                    <a:cubicBezTo>
                      <a:pt x="3383280" y="596138"/>
                      <a:pt x="3211322" y="768096"/>
                      <a:pt x="2999232" y="768096"/>
                    </a:cubicBezTo>
                    <a:lnTo>
                      <a:pt x="384048" y="768096"/>
                    </a:lnTo>
                    <a:cubicBezTo>
                      <a:pt x="171958" y="768096"/>
                      <a:pt x="0" y="596138"/>
                      <a:pt x="0" y="384048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473075" y="4645152"/>
              <a:ext cx="3383280" cy="768096"/>
              <a:chOff x="0" y="0"/>
              <a:chExt cx="3383280" cy="768096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3832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3383280">
                    <a:moveTo>
                      <a:pt x="0" y="0"/>
                    </a:moveTo>
                    <a:lnTo>
                      <a:pt x="3383280" y="0"/>
                    </a:lnTo>
                    <a:lnTo>
                      <a:pt x="338328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5826" r="0" b="-35826"/>
                </a:stretch>
              </a:blip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19050"/>
                <a:ext cx="338328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50"/>
                  </a:lnSpc>
                </a:pPr>
                <a:r>
                  <a:rPr lang="en-US" sz="1875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df.describe()</a:t>
                </a: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4404995" y="4535424"/>
              <a:ext cx="17245584" cy="987552"/>
              <a:chOff x="0" y="0"/>
              <a:chExt cx="17245584" cy="98755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7245585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17245585">
                    <a:moveTo>
                      <a:pt x="0" y="0"/>
                    </a:moveTo>
                    <a:lnTo>
                      <a:pt x="17245585" y="0"/>
                    </a:lnTo>
                    <a:lnTo>
                      <a:pt x="17245585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0266" r="0" b="-290266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19050"/>
                <a:ext cx="17245584" cy="10066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30"/>
                  </a:lnSpc>
                </a:pPr>
                <a:r>
                  <a:rPr lang="en-US" sz="202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Get summary statistics for the numeric columns, at a glance</a:t>
                </a: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5836285"/>
              <a:ext cx="22215094" cy="1220470"/>
              <a:chOff x="0" y="0"/>
              <a:chExt cx="22215094" cy="122047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2215094" cy="1220470"/>
              </a:xfrm>
              <a:custGeom>
                <a:avLst/>
                <a:gdLst/>
                <a:ahLst/>
                <a:cxnLst/>
                <a:rect r="r" b="b" t="t" l="l"/>
                <a:pathLst>
                  <a:path h="1220470" w="22215094">
                    <a:moveTo>
                      <a:pt x="0" y="112649"/>
                    </a:moveTo>
                    <a:cubicBezTo>
                      <a:pt x="0" y="50419"/>
                      <a:pt x="50419" y="0"/>
                      <a:pt x="112649" y="0"/>
                    </a:cubicBezTo>
                    <a:lnTo>
                      <a:pt x="22102445" y="0"/>
                    </a:lnTo>
                    <a:cubicBezTo>
                      <a:pt x="22164675" y="0"/>
                      <a:pt x="22215094" y="50419"/>
                      <a:pt x="22215094" y="112649"/>
                    </a:cubicBezTo>
                    <a:lnTo>
                      <a:pt x="22215094" y="1107821"/>
                    </a:lnTo>
                    <a:cubicBezTo>
                      <a:pt x="22215094" y="1170051"/>
                      <a:pt x="22164675" y="1220470"/>
                      <a:pt x="22102445" y="1220470"/>
                    </a:cubicBezTo>
                    <a:lnTo>
                      <a:pt x="112649" y="1220470"/>
                    </a:lnTo>
                    <a:cubicBezTo>
                      <a:pt x="50419" y="1220470"/>
                      <a:pt x="0" y="1170051"/>
                      <a:pt x="0" y="11078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812" cap="sq">
                <a:solidFill>
                  <a:srgbClr val="387F7F"/>
                </a:solidFill>
                <a:prstDash val="solid"/>
                <a:miter/>
              </a:ln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418211" y="6071616"/>
              <a:ext cx="21451824" cy="498348"/>
              <a:chOff x="0" y="0"/>
              <a:chExt cx="21451824" cy="498348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1451824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21451824">
                    <a:moveTo>
                      <a:pt x="0" y="0"/>
                    </a:moveTo>
                    <a:lnTo>
                      <a:pt x="21451824" y="0"/>
                    </a:lnTo>
                    <a:lnTo>
                      <a:pt x="21451824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94713" r="0" b="-782787"/>
                </a:stretch>
              </a:blip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19050"/>
                <a:ext cx="21451824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b="true" sz="1500" spc="150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OUTPUT</a:t>
                </a: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418211" y="6443853"/>
              <a:ext cx="21378672" cy="457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df.shape  →  (20, 9)     # 20 transactions, 9 columns</a:t>
              </a:r>
            </a:p>
          </p:txBody>
        </p:sp>
        <p:grpSp>
          <p:nvGrpSpPr>
            <p:cNvPr name="Group 50" id="50"/>
            <p:cNvGrpSpPr/>
            <p:nvPr/>
          </p:nvGrpSpPr>
          <p:grpSpPr>
            <a:xfrm rot="0">
              <a:off x="564515" y="9966960"/>
              <a:ext cx="21086064" cy="669823"/>
              <a:chOff x="0" y="0"/>
              <a:chExt cx="21086064" cy="669823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21086065" cy="669823"/>
              </a:xfrm>
              <a:custGeom>
                <a:avLst/>
                <a:gdLst/>
                <a:ahLst/>
                <a:cxnLst/>
                <a:rect r="r" b="b" t="t" l="l"/>
                <a:pathLst>
                  <a:path h="669823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669823"/>
                    </a:lnTo>
                    <a:lnTo>
                      <a:pt x="0" y="66982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72435" r="0" b="-554343"/>
                </a:stretch>
              </a:blip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57150"/>
                <a:ext cx="21086064" cy="7269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i="true">
                    <a:solidFill>
                      <a:srgbClr val="0A1A23"/>
                    </a:solidFill>
                    <a:latin typeface="Poppins Italics"/>
                    <a:ea typeface="Poppins Italics"/>
                    <a:cs typeface="Poppins Italics"/>
                    <a:sym typeface="Poppins Italics"/>
                  </a:rPr>
                  <a:t>Make head(), shape and info() the first three commands you run on any new file, before you write a single line of analysis.</a:t>
                </a: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4404995" y="2267712"/>
              <a:ext cx="17245584" cy="987552"/>
              <a:chOff x="0" y="0"/>
              <a:chExt cx="17245584" cy="987552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7245585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17245585">
                    <a:moveTo>
                      <a:pt x="0" y="0"/>
                    </a:moveTo>
                    <a:lnTo>
                      <a:pt x="17245585" y="0"/>
                    </a:lnTo>
                    <a:lnTo>
                      <a:pt x="17245585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0266" r="0" b="-290266"/>
                </a:stretch>
              </a:blip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19050"/>
                <a:ext cx="17245584" cy="10066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30"/>
                  </a:lnSpc>
                </a:pPr>
                <a:r>
                  <a:rPr lang="en-US" sz="202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Confirm the row and column count matches what you expect</a:t>
                </a:r>
              </a:p>
            </p:txBody>
          </p:sp>
        </p:grpSp>
      </p:grpSp>
      <p:grpSp>
        <p:nvGrpSpPr>
          <p:cNvPr name="Group 56" id="56"/>
          <p:cNvGrpSpPr/>
          <p:nvPr/>
        </p:nvGrpSpPr>
        <p:grpSpPr>
          <a:xfrm rot="0">
            <a:off x="1160788" y="736492"/>
            <a:ext cx="12755880" cy="1245870"/>
            <a:chOff x="0" y="0"/>
            <a:chExt cx="17007840" cy="16611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First Inspection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61" id="61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309412"/>
            <a:ext cx="16664940" cy="7977588"/>
            <a:chOff x="0" y="0"/>
            <a:chExt cx="22219920" cy="1063678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698480" cy="4937760"/>
              <a:chOff x="0" y="0"/>
              <a:chExt cx="10698480" cy="493776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698480" cy="4937760"/>
              </a:xfrm>
              <a:custGeom>
                <a:avLst/>
                <a:gdLst/>
                <a:ahLst/>
                <a:cxnLst/>
                <a:rect r="r" b="b" t="t" l="l"/>
                <a:pathLst>
                  <a:path h="4937760" w="1069848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10552176" y="0"/>
                    </a:lnTo>
                    <a:cubicBezTo>
                      <a:pt x="10632948" y="0"/>
                      <a:pt x="10698480" y="65532"/>
                      <a:pt x="10698480" y="146304"/>
                    </a:cubicBezTo>
                    <a:lnTo>
                      <a:pt x="10698480" y="4791456"/>
                    </a:lnTo>
                    <a:cubicBezTo>
                      <a:pt x="10698480" y="4872228"/>
                      <a:pt x="10632948" y="4937760"/>
                      <a:pt x="10552176" y="4937760"/>
                    </a:cubicBezTo>
                    <a:lnTo>
                      <a:pt x="146304" y="4937760"/>
                    </a:lnTo>
                    <a:cubicBezTo>
                      <a:pt x="65532" y="4937760"/>
                      <a:pt x="0" y="4872228"/>
                      <a:pt x="0" y="4791456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02336" y="365760"/>
              <a:ext cx="237744" cy="237744"/>
              <a:chOff x="0" y="0"/>
              <a:chExt cx="237744" cy="23774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841248" y="365760"/>
              <a:ext cx="237744" cy="237744"/>
              <a:chOff x="0" y="0"/>
              <a:chExt cx="237744" cy="23774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1280160" y="365760"/>
              <a:ext cx="237744" cy="237744"/>
              <a:chOff x="0" y="0"/>
              <a:chExt cx="237744" cy="23774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512064" y="838200"/>
              <a:ext cx="9674352" cy="3529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df.dtypes</a:t>
              </a:r>
            </a:p>
            <a:p>
              <a:pPr algn="l">
                <a:lnSpc>
                  <a:spcPts val="3037"/>
                </a:lnSpc>
              </a:pPr>
            </a:p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TransactionID     int64</a:t>
              </a:r>
            </a:p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Branch           object</a:t>
              </a:r>
            </a:p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Sales             int64</a:t>
              </a:r>
            </a:p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Price           float64</a:t>
              </a:r>
            </a:p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Date             object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11430000" y="457200"/>
              <a:ext cx="146304" cy="146304"/>
              <a:chOff x="0" y="0"/>
              <a:chExt cx="146304" cy="14630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11430000" y="1828800"/>
              <a:ext cx="146304" cy="146304"/>
              <a:chOff x="0" y="0"/>
              <a:chExt cx="146304" cy="14630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11887200" y="1415415"/>
              <a:ext cx="10332720" cy="925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float64 — numbers with decimals, or a numeric column that contains missing values, e.g. Price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11430000" y="3200400"/>
              <a:ext cx="146304" cy="146304"/>
              <a:chOff x="0" y="0"/>
              <a:chExt cx="146304" cy="14630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430000" y="4572000"/>
              <a:ext cx="146304" cy="146304"/>
              <a:chOff x="0" y="0"/>
              <a:chExt cx="146304" cy="14630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548640" y="6675120"/>
              <a:ext cx="21086064" cy="1371600"/>
              <a:chOff x="0" y="0"/>
              <a:chExt cx="21086064" cy="13716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1086065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9549" r="0" b="-249549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21086064" cy="14287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Why it matters:  </a:t>
                </a:r>
                <a:r>
                  <a:rPr lang="en-US" sz="202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pandas cannot average a column it thinks is text, and a column with even one missing value often becomes float64 instead of int64. Both are diagnostic clues, not accidents.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548640" y="9966960"/>
              <a:ext cx="21086064" cy="669823"/>
              <a:chOff x="0" y="0"/>
              <a:chExt cx="21086064" cy="66982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1086065" cy="669823"/>
              </a:xfrm>
              <a:custGeom>
                <a:avLst/>
                <a:gdLst/>
                <a:ahLst/>
                <a:cxnLst/>
                <a:rect r="r" b="b" t="t" l="l"/>
                <a:pathLst>
                  <a:path h="669823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669823"/>
                    </a:lnTo>
                    <a:lnTo>
                      <a:pt x="0" y="66982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72435" r="0" b="-554343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21086064" cy="7269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i="true">
                    <a:solidFill>
                      <a:srgbClr val="0A1A23"/>
                    </a:solidFill>
                    <a:latin typeface="Poppins Italics"/>
                    <a:ea typeface="Poppins Italics"/>
                    <a:cs typeface="Poppins Italics"/>
                    <a:sym typeface="Poppins Italics"/>
                  </a:rPr>
                  <a:t>Checking dtypes takes five seconds and prevents an afternoon of confusing errors later.</a:t>
                </a:r>
              </a:p>
            </p:txBody>
          </p:sp>
        </p:grpSp>
      </p:grpSp>
      <p:sp>
        <p:nvSpPr>
          <p:cNvPr name="TextBox 29" id="29"/>
          <p:cNvSpPr txBox="true"/>
          <p:nvPr/>
        </p:nvSpPr>
        <p:spPr>
          <a:xfrm rot="0">
            <a:off x="9829800" y="5566579"/>
            <a:ext cx="7749540" cy="35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bool — a True or False check, as in Module 5.1's target_met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29800" y="4522113"/>
            <a:ext cx="7749540" cy="35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object — text, e.g. Branch, Product, Date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29800" y="2464713"/>
            <a:ext cx="7749540" cy="35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02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int64 — whole numbers, e.g. TransactionID, Sales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99173" y="736492"/>
            <a:ext cx="12755880" cy="1245870"/>
            <a:chOff x="0" y="0"/>
            <a:chExt cx="17007840" cy="16611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Data Types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57250" y="845077"/>
            <a:ext cx="114300" cy="1028700"/>
            <a:chOff x="0" y="0"/>
            <a:chExt cx="152400" cy="1371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6594234" y="2891107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249323"/>
            <a:ext cx="16676846" cy="5760720"/>
            <a:chOff x="0" y="0"/>
            <a:chExt cx="22235795" cy="768096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15875" y="0"/>
              <a:ext cx="10698480" cy="1645920"/>
              <a:chOff x="0" y="0"/>
              <a:chExt cx="10698480" cy="164592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698480" cy="1645920"/>
              </a:xfrm>
              <a:custGeom>
                <a:avLst/>
                <a:gdLst/>
                <a:ahLst/>
                <a:cxnLst/>
                <a:rect r="r" b="b" t="t" l="l"/>
                <a:pathLst>
                  <a:path h="1645920" w="1069848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10552176" y="0"/>
                    </a:lnTo>
                    <a:cubicBezTo>
                      <a:pt x="10632948" y="0"/>
                      <a:pt x="10698480" y="65532"/>
                      <a:pt x="10698480" y="146304"/>
                    </a:cubicBezTo>
                    <a:lnTo>
                      <a:pt x="10698480" y="1499616"/>
                    </a:lnTo>
                    <a:cubicBezTo>
                      <a:pt x="10698480" y="1580388"/>
                      <a:pt x="10632948" y="1645920"/>
                      <a:pt x="10552176" y="1645920"/>
                    </a:cubicBezTo>
                    <a:lnTo>
                      <a:pt x="146304" y="1645920"/>
                    </a:lnTo>
                    <a:cubicBezTo>
                      <a:pt x="65532" y="1645920"/>
                      <a:pt x="0" y="1580388"/>
                      <a:pt x="0" y="1499616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18211" y="365760"/>
              <a:ext cx="237744" cy="237744"/>
              <a:chOff x="0" y="0"/>
              <a:chExt cx="237744" cy="23774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857123" y="365760"/>
              <a:ext cx="237744" cy="237744"/>
              <a:chOff x="0" y="0"/>
              <a:chExt cx="237744" cy="23774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1296035" y="365760"/>
              <a:ext cx="237744" cy="237744"/>
              <a:chOff x="0" y="0"/>
              <a:chExt cx="237744" cy="23774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527939" y="838200"/>
              <a:ext cx="9674352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df.isna().sum()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1904365"/>
              <a:ext cx="10730230" cy="3872230"/>
              <a:chOff x="0" y="0"/>
              <a:chExt cx="10730230" cy="387223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730230" cy="3872230"/>
              </a:xfrm>
              <a:custGeom>
                <a:avLst/>
                <a:gdLst/>
                <a:ahLst/>
                <a:cxnLst/>
                <a:rect r="r" b="b" t="t" l="l"/>
                <a:pathLst>
                  <a:path h="3872230" w="10730230">
                    <a:moveTo>
                      <a:pt x="0" y="110617"/>
                    </a:moveTo>
                    <a:cubicBezTo>
                      <a:pt x="0" y="49530"/>
                      <a:pt x="49530" y="0"/>
                      <a:pt x="110617" y="0"/>
                    </a:cubicBezTo>
                    <a:lnTo>
                      <a:pt x="10619613" y="0"/>
                    </a:lnTo>
                    <a:cubicBezTo>
                      <a:pt x="10680700" y="0"/>
                      <a:pt x="10730230" y="49530"/>
                      <a:pt x="10730230" y="110617"/>
                    </a:cubicBezTo>
                    <a:lnTo>
                      <a:pt x="10730230" y="3761613"/>
                    </a:lnTo>
                    <a:cubicBezTo>
                      <a:pt x="10730230" y="3822700"/>
                      <a:pt x="10680700" y="3872230"/>
                      <a:pt x="10619613" y="3872230"/>
                    </a:cubicBezTo>
                    <a:lnTo>
                      <a:pt x="110617" y="3872230"/>
                    </a:lnTo>
                    <a:cubicBezTo>
                      <a:pt x="49530" y="3872230"/>
                      <a:pt x="0" y="3822700"/>
                      <a:pt x="0" y="37616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812" cap="sq">
                <a:solidFill>
                  <a:srgbClr val="387F7F"/>
                </a:solidFill>
                <a:prstDash val="solid"/>
                <a:miter/>
              </a:ln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418211" y="2139696"/>
              <a:ext cx="9966960" cy="498348"/>
              <a:chOff x="0" y="0"/>
              <a:chExt cx="9966960" cy="49834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966960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966960">
                    <a:moveTo>
                      <a:pt x="0" y="0"/>
                    </a:moveTo>
                    <a:lnTo>
                      <a:pt x="9966960" y="0"/>
                    </a:lnTo>
                    <a:lnTo>
                      <a:pt x="9966960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45664" r="0" b="-333737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9966960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b="true" sz="1500" spc="150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OUTPUT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18211" y="2511933"/>
              <a:ext cx="9893808" cy="28068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TransactionID    0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Branch           0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Region           0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Sales            0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Price            4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Date             0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11445875" y="457200"/>
              <a:ext cx="146304" cy="146304"/>
              <a:chOff x="0" y="0"/>
              <a:chExt cx="146304" cy="14630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1903075" y="200279"/>
              <a:ext cx="10332720" cy="466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isna() marks every missing cell True, everything else False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11445875" y="2011680"/>
              <a:ext cx="146304" cy="146304"/>
              <a:chOff x="0" y="0"/>
              <a:chExt cx="146304" cy="14630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11903075" y="1598295"/>
              <a:ext cx="10332720" cy="94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sum() adds the Trues down each column, one number per column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11445875" y="3566160"/>
              <a:ext cx="146304" cy="146304"/>
              <a:chOff x="0" y="0"/>
              <a:chExt cx="146304" cy="14630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11903075" y="3152775"/>
              <a:ext cx="10332720" cy="94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Price shows 4: four of the twenty transactions have no recorded unit price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564515" y="6309360"/>
              <a:ext cx="21086064" cy="1371600"/>
              <a:chOff x="0" y="0"/>
              <a:chExt cx="21086064" cy="13716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1086065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9549" r="0" b="-249549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21086064" cy="14287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Why analysts check this first:  </a:t>
                </a:r>
                <a:r>
                  <a:rPr lang="en-US" sz="202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 missing price left unnoticed can silently break a calculation later. This is exactly the check that would have caught Module 5.1's currency-formatting error before it became one.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337786" y="9724543"/>
            <a:ext cx="15814548" cy="502368"/>
            <a:chOff x="0" y="0"/>
            <a:chExt cx="21086064" cy="66982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086065" cy="669823"/>
            </a:xfrm>
            <a:custGeom>
              <a:avLst/>
              <a:gdLst/>
              <a:ahLst/>
              <a:cxnLst/>
              <a:rect r="r" b="b" t="t" l="l"/>
              <a:pathLst>
                <a:path h="669823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669823"/>
                  </a:lnTo>
                  <a:lnTo>
                    <a:pt x="0" y="6698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2435" r="0" b="-55434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21086064" cy="726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025" i="true">
                  <a:solidFill>
                    <a:srgbClr val="0A1A23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Run this before any analysis, not after something looks wrong.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18365" y="736492"/>
            <a:ext cx="12755880" cy="1245870"/>
            <a:chOff x="0" y="0"/>
            <a:chExt cx="17007840" cy="1661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Missing Values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57250" y="845077"/>
            <a:ext cx="114300" cy="1028700"/>
            <a:chOff x="0" y="0"/>
            <a:chExt cx="152400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16594234" y="2891107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594234" y="2891107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" y="2268515"/>
            <a:ext cx="16647604" cy="7977588"/>
            <a:chOff x="0" y="0"/>
            <a:chExt cx="22196806" cy="1063678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5875" y="0"/>
              <a:ext cx="10424160" cy="645312"/>
              <a:chOff x="0" y="0"/>
              <a:chExt cx="10424160" cy="64531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424160" cy="645312"/>
              </a:xfrm>
              <a:custGeom>
                <a:avLst/>
                <a:gdLst/>
                <a:ahLst/>
                <a:cxnLst/>
                <a:rect r="r" b="b" t="t" l="l"/>
                <a:pathLst>
                  <a:path h="645312" w="10424160">
                    <a:moveTo>
                      <a:pt x="0" y="0"/>
                    </a:moveTo>
                    <a:lnTo>
                      <a:pt x="10424160" y="0"/>
                    </a:lnTo>
                    <a:lnTo>
                      <a:pt x="10424160" y="645312"/>
                    </a:lnTo>
                    <a:lnTo>
                      <a:pt x="0" y="645312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72245" r="0" b="-257264"/>
                </a:stretch>
              </a:blip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9050"/>
                <a:ext cx="10424160" cy="6643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340"/>
                  </a:lnSpc>
                </a:pPr>
                <a:r>
                  <a:rPr lang="en-US" sz="1950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ONE COLUMN → a Series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5875" y="640080"/>
              <a:ext cx="10698480" cy="1645920"/>
              <a:chOff x="0" y="0"/>
              <a:chExt cx="10698480" cy="164592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698480" cy="1645920"/>
              </a:xfrm>
              <a:custGeom>
                <a:avLst/>
                <a:gdLst/>
                <a:ahLst/>
                <a:cxnLst/>
                <a:rect r="r" b="b" t="t" l="l"/>
                <a:pathLst>
                  <a:path h="1645920" w="1069848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10552176" y="0"/>
                    </a:lnTo>
                    <a:cubicBezTo>
                      <a:pt x="10632948" y="0"/>
                      <a:pt x="10698480" y="65532"/>
                      <a:pt x="10698480" y="146304"/>
                    </a:cubicBezTo>
                    <a:lnTo>
                      <a:pt x="10698480" y="1499616"/>
                    </a:lnTo>
                    <a:cubicBezTo>
                      <a:pt x="10698480" y="1580388"/>
                      <a:pt x="10632948" y="1645920"/>
                      <a:pt x="10552176" y="1645920"/>
                    </a:cubicBezTo>
                    <a:lnTo>
                      <a:pt x="146304" y="1645920"/>
                    </a:lnTo>
                    <a:cubicBezTo>
                      <a:pt x="65532" y="1645920"/>
                      <a:pt x="0" y="1580388"/>
                      <a:pt x="0" y="1499616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418211" y="1005840"/>
              <a:ext cx="237744" cy="237744"/>
              <a:chOff x="0" y="0"/>
              <a:chExt cx="237744" cy="23774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857123" y="1005840"/>
              <a:ext cx="237744" cy="237744"/>
              <a:chOff x="0" y="0"/>
              <a:chExt cx="237744" cy="23774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296035" y="1005840"/>
              <a:ext cx="237744" cy="237744"/>
              <a:chOff x="0" y="0"/>
              <a:chExt cx="237744" cy="23774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527939" y="1478280"/>
              <a:ext cx="9674352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df["Sales"]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0" y="2544445"/>
              <a:ext cx="10730230" cy="2774950"/>
              <a:chOff x="0" y="0"/>
              <a:chExt cx="10730230" cy="277495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730230" cy="2774950"/>
              </a:xfrm>
              <a:custGeom>
                <a:avLst/>
                <a:gdLst/>
                <a:ahLst/>
                <a:cxnLst/>
                <a:rect r="r" b="b" t="t" l="l"/>
                <a:pathLst>
                  <a:path h="2774950" w="10730230">
                    <a:moveTo>
                      <a:pt x="0" y="110998"/>
                    </a:moveTo>
                    <a:cubicBezTo>
                      <a:pt x="0" y="49657"/>
                      <a:pt x="49657" y="0"/>
                      <a:pt x="110998" y="0"/>
                    </a:cubicBezTo>
                    <a:lnTo>
                      <a:pt x="10619232" y="0"/>
                    </a:lnTo>
                    <a:cubicBezTo>
                      <a:pt x="10680573" y="0"/>
                      <a:pt x="10730230" y="49657"/>
                      <a:pt x="10730230" y="110998"/>
                    </a:cubicBezTo>
                    <a:lnTo>
                      <a:pt x="10730230" y="2663952"/>
                    </a:lnTo>
                    <a:cubicBezTo>
                      <a:pt x="10730230" y="2725293"/>
                      <a:pt x="10680573" y="2774950"/>
                      <a:pt x="10619232" y="2774950"/>
                    </a:cubicBezTo>
                    <a:lnTo>
                      <a:pt x="110998" y="2774950"/>
                    </a:lnTo>
                    <a:cubicBezTo>
                      <a:pt x="49657" y="2774950"/>
                      <a:pt x="0" y="2725293"/>
                      <a:pt x="0" y="26639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812" cap="sq">
                <a:solidFill>
                  <a:srgbClr val="387F7F"/>
                </a:solidFill>
                <a:prstDash val="solid"/>
                <a:miter/>
              </a:ln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418211" y="2779776"/>
              <a:ext cx="9966960" cy="498348"/>
              <a:chOff x="0" y="0"/>
              <a:chExt cx="9966960" cy="49834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966960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966960">
                    <a:moveTo>
                      <a:pt x="0" y="0"/>
                    </a:moveTo>
                    <a:lnTo>
                      <a:pt x="9966960" y="0"/>
                    </a:lnTo>
                    <a:lnTo>
                      <a:pt x="9966960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45664" r="0" b="-333737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9050"/>
                <a:ext cx="9966960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b="true" sz="1500" spc="150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OUTPUT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18211" y="3152013"/>
              <a:ext cx="9893808" cy="1867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0    145000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1     98000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2     52000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Name: Sales, dtype: int64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11482451" y="0"/>
              <a:ext cx="10698480" cy="645312"/>
              <a:chOff x="0" y="0"/>
              <a:chExt cx="10698480" cy="64531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698480" cy="645312"/>
              </a:xfrm>
              <a:custGeom>
                <a:avLst/>
                <a:gdLst/>
                <a:ahLst/>
                <a:cxnLst/>
                <a:rect r="r" b="b" t="t" l="l"/>
                <a:pathLst>
                  <a:path h="645312" w="10698480">
                    <a:moveTo>
                      <a:pt x="0" y="0"/>
                    </a:moveTo>
                    <a:lnTo>
                      <a:pt x="10698480" y="0"/>
                    </a:lnTo>
                    <a:lnTo>
                      <a:pt x="10698480" y="645312"/>
                    </a:lnTo>
                    <a:lnTo>
                      <a:pt x="0" y="645312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80528" r="0" b="-265547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10698480" cy="6643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340"/>
                  </a:lnSpc>
                </a:pPr>
                <a:r>
                  <a:rPr lang="en-US" sz="1950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TWO OR MORE COLUMNS → a DataFrame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1482451" y="640080"/>
              <a:ext cx="10698480" cy="1645920"/>
              <a:chOff x="0" y="0"/>
              <a:chExt cx="10698480" cy="164592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698480" cy="1645920"/>
              </a:xfrm>
              <a:custGeom>
                <a:avLst/>
                <a:gdLst/>
                <a:ahLst/>
                <a:cxnLst/>
                <a:rect r="r" b="b" t="t" l="l"/>
                <a:pathLst>
                  <a:path h="1645920" w="1069848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10552176" y="0"/>
                    </a:lnTo>
                    <a:cubicBezTo>
                      <a:pt x="10632948" y="0"/>
                      <a:pt x="10698480" y="65532"/>
                      <a:pt x="10698480" y="146304"/>
                    </a:cubicBezTo>
                    <a:lnTo>
                      <a:pt x="10698480" y="1499616"/>
                    </a:lnTo>
                    <a:cubicBezTo>
                      <a:pt x="10698480" y="1580388"/>
                      <a:pt x="10632948" y="1645920"/>
                      <a:pt x="10552176" y="1645920"/>
                    </a:cubicBezTo>
                    <a:lnTo>
                      <a:pt x="146304" y="1645920"/>
                    </a:lnTo>
                    <a:cubicBezTo>
                      <a:pt x="65532" y="1645920"/>
                      <a:pt x="0" y="1580388"/>
                      <a:pt x="0" y="1499616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11884787" y="1005840"/>
              <a:ext cx="237744" cy="237744"/>
              <a:chOff x="0" y="0"/>
              <a:chExt cx="237744" cy="23774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12323699" y="1005840"/>
              <a:ext cx="237744" cy="237744"/>
              <a:chOff x="0" y="0"/>
              <a:chExt cx="237744" cy="23774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12762611" y="1005840"/>
              <a:ext cx="237744" cy="237744"/>
              <a:chOff x="0" y="0"/>
              <a:chExt cx="237744" cy="23774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11994515" y="1478280"/>
              <a:ext cx="9674352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df[["Sales", "Profit"]]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11466576" y="2544445"/>
              <a:ext cx="10730230" cy="2134870"/>
              <a:chOff x="0" y="0"/>
              <a:chExt cx="10730230" cy="213487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730230" cy="2134870"/>
              </a:xfrm>
              <a:custGeom>
                <a:avLst/>
                <a:gdLst/>
                <a:ahLst/>
                <a:cxnLst/>
                <a:rect r="r" b="b" t="t" l="l"/>
                <a:pathLst>
                  <a:path h="2134870" w="10730230">
                    <a:moveTo>
                      <a:pt x="0" y="111379"/>
                    </a:moveTo>
                    <a:cubicBezTo>
                      <a:pt x="0" y="49911"/>
                      <a:pt x="49911" y="0"/>
                      <a:pt x="111379" y="0"/>
                    </a:cubicBezTo>
                    <a:lnTo>
                      <a:pt x="10618851" y="0"/>
                    </a:lnTo>
                    <a:cubicBezTo>
                      <a:pt x="10680319" y="0"/>
                      <a:pt x="10730230" y="49911"/>
                      <a:pt x="10730230" y="111379"/>
                    </a:cubicBezTo>
                    <a:lnTo>
                      <a:pt x="10730230" y="2023491"/>
                    </a:lnTo>
                    <a:cubicBezTo>
                      <a:pt x="10730230" y="2084959"/>
                      <a:pt x="10680319" y="2134870"/>
                      <a:pt x="10618851" y="2134870"/>
                    </a:cubicBezTo>
                    <a:lnTo>
                      <a:pt x="111379" y="2134870"/>
                    </a:lnTo>
                    <a:cubicBezTo>
                      <a:pt x="49911" y="2134870"/>
                      <a:pt x="0" y="2084959"/>
                      <a:pt x="0" y="2023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812" cap="sq">
                <a:solidFill>
                  <a:srgbClr val="387F7F"/>
                </a:solidFill>
                <a:prstDash val="solid"/>
                <a:miter/>
              </a:ln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11884787" y="2779776"/>
              <a:ext cx="9966960" cy="498348"/>
              <a:chOff x="0" y="0"/>
              <a:chExt cx="9966960" cy="498348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9966960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966960">
                    <a:moveTo>
                      <a:pt x="0" y="0"/>
                    </a:moveTo>
                    <a:lnTo>
                      <a:pt x="9966960" y="0"/>
                    </a:lnTo>
                    <a:lnTo>
                      <a:pt x="9966960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45664" r="0" b="-333737"/>
                </a:stretch>
              </a:blip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19050"/>
                <a:ext cx="9966960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b="true" sz="1500" spc="150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OUTPUT</a:t>
                </a: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11884787" y="3152013"/>
              <a:ext cx="9893808" cy="1397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    Sales  Profit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0  145000   21750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1   98000   14700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564515" y="5943600"/>
              <a:ext cx="21086064" cy="1737360"/>
              <a:chOff x="0" y="0"/>
              <a:chExt cx="21086064" cy="173736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1086065" cy="1737360"/>
              </a:xfrm>
              <a:custGeom>
                <a:avLst/>
                <a:gdLst/>
                <a:ahLst/>
                <a:cxnLst/>
                <a:rect r="r" b="b" t="t" l="l"/>
                <a:pathLst>
                  <a:path h="1737360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1737360"/>
                    </a:lnTo>
                    <a:lnTo>
                      <a:pt x="0" y="173736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186486" r="0" b="-186486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57150"/>
                <a:ext cx="21086064" cy="17945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The difference:  </a:t>
                </a:r>
                <a:r>
                  <a:rPr lang="en-US" sz="202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single brackets with one name return a Series, a single labelled column, like clicking one column header in Excel. Double brackets with a list of names return a DataFrame, a smaller table, like ctrl-selecting several columns and copying them to a new sheet.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564515" y="9966960"/>
              <a:ext cx="21086064" cy="669823"/>
              <a:chOff x="0" y="0"/>
              <a:chExt cx="21086064" cy="66982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1086065" cy="669823"/>
              </a:xfrm>
              <a:custGeom>
                <a:avLst/>
                <a:gdLst/>
                <a:ahLst/>
                <a:cxnLst/>
                <a:rect r="r" b="b" t="t" l="l"/>
                <a:pathLst>
                  <a:path h="669823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669823"/>
                    </a:lnTo>
                    <a:lnTo>
                      <a:pt x="0" y="669823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572435" r="0" b="-554343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57150"/>
                <a:ext cx="21086064" cy="7269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i="true">
                    <a:solidFill>
                      <a:srgbClr val="0A1A23"/>
                    </a:solidFill>
                    <a:latin typeface="Poppins Italics"/>
                    <a:ea typeface="Poppins Italics"/>
                    <a:cs typeface="Poppins Italics"/>
                    <a:sym typeface="Poppins Italics"/>
                  </a:rPr>
                  <a:t>Note the double square brackets for more than one column: df[[...]], not df[...].</a:t>
                </a:r>
              </a:p>
            </p:txBody>
          </p:sp>
        </p:grpSp>
      </p:grpSp>
      <p:grpSp>
        <p:nvGrpSpPr>
          <p:cNvPr name="Group 48" id="48"/>
          <p:cNvGrpSpPr/>
          <p:nvPr/>
        </p:nvGrpSpPr>
        <p:grpSpPr>
          <a:xfrm rot="0">
            <a:off x="1252476" y="736492"/>
            <a:ext cx="12755880" cy="1245870"/>
            <a:chOff x="0" y="0"/>
            <a:chExt cx="17007840" cy="16611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Selecting Columns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57250" y="845077"/>
            <a:ext cx="114300" cy="1028700"/>
            <a:chOff x="0" y="0"/>
            <a:chExt cx="152400" cy="1371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54" id="54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89185"/>
            <a:ext cx="16676846" cy="7977588"/>
            <a:chOff x="0" y="0"/>
            <a:chExt cx="22235795" cy="1063678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15875" y="0"/>
              <a:ext cx="10698480" cy="1645920"/>
              <a:chOff x="0" y="0"/>
              <a:chExt cx="10698480" cy="164592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698480" cy="1645920"/>
              </a:xfrm>
              <a:custGeom>
                <a:avLst/>
                <a:gdLst/>
                <a:ahLst/>
                <a:cxnLst/>
                <a:rect r="r" b="b" t="t" l="l"/>
                <a:pathLst>
                  <a:path h="1645920" w="1069848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10552176" y="0"/>
                    </a:lnTo>
                    <a:cubicBezTo>
                      <a:pt x="10632948" y="0"/>
                      <a:pt x="10698480" y="65532"/>
                      <a:pt x="10698480" y="146304"/>
                    </a:cubicBezTo>
                    <a:lnTo>
                      <a:pt x="10698480" y="1499616"/>
                    </a:lnTo>
                    <a:cubicBezTo>
                      <a:pt x="10698480" y="1580388"/>
                      <a:pt x="10632948" y="1645920"/>
                      <a:pt x="10552176" y="1645920"/>
                    </a:cubicBezTo>
                    <a:lnTo>
                      <a:pt x="146304" y="1645920"/>
                    </a:lnTo>
                    <a:cubicBezTo>
                      <a:pt x="65532" y="1645920"/>
                      <a:pt x="0" y="1580388"/>
                      <a:pt x="0" y="1499616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18211" y="365760"/>
              <a:ext cx="237744" cy="237744"/>
              <a:chOff x="0" y="0"/>
              <a:chExt cx="237744" cy="23774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857123" y="365760"/>
              <a:ext cx="237744" cy="237744"/>
              <a:chOff x="0" y="0"/>
              <a:chExt cx="237744" cy="23774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1296035" y="365760"/>
              <a:ext cx="237744" cy="237744"/>
              <a:chOff x="0" y="0"/>
              <a:chExt cx="237744" cy="23774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527939" y="838200"/>
              <a:ext cx="9674352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df[df["Sales"] &gt; 100000]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2087245"/>
              <a:ext cx="10730230" cy="3689350"/>
              <a:chOff x="0" y="0"/>
              <a:chExt cx="10730230" cy="368935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730230" cy="3689350"/>
              </a:xfrm>
              <a:custGeom>
                <a:avLst/>
                <a:gdLst/>
                <a:ahLst/>
                <a:cxnLst/>
                <a:rect r="r" b="b" t="t" l="l"/>
                <a:pathLst>
                  <a:path h="3689350" w="10730230">
                    <a:moveTo>
                      <a:pt x="0" y="110617"/>
                    </a:moveTo>
                    <a:cubicBezTo>
                      <a:pt x="0" y="49530"/>
                      <a:pt x="49530" y="0"/>
                      <a:pt x="110617" y="0"/>
                    </a:cubicBezTo>
                    <a:lnTo>
                      <a:pt x="10619486" y="0"/>
                    </a:lnTo>
                    <a:cubicBezTo>
                      <a:pt x="10680573" y="0"/>
                      <a:pt x="10730230" y="49530"/>
                      <a:pt x="10730230" y="110617"/>
                    </a:cubicBezTo>
                    <a:lnTo>
                      <a:pt x="10730230" y="3578606"/>
                    </a:lnTo>
                    <a:cubicBezTo>
                      <a:pt x="10730230" y="3639693"/>
                      <a:pt x="10680700" y="3689350"/>
                      <a:pt x="10619486" y="3689350"/>
                    </a:cubicBezTo>
                    <a:lnTo>
                      <a:pt x="110617" y="3689350"/>
                    </a:lnTo>
                    <a:cubicBezTo>
                      <a:pt x="49530" y="3689350"/>
                      <a:pt x="0" y="3639820"/>
                      <a:pt x="0" y="35786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812" cap="sq">
                <a:solidFill>
                  <a:srgbClr val="387F7F"/>
                </a:solidFill>
                <a:prstDash val="solid"/>
                <a:miter/>
              </a:ln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418211" y="2322576"/>
              <a:ext cx="9966960" cy="498348"/>
              <a:chOff x="0" y="0"/>
              <a:chExt cx="9966960" cy="49834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966960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966960">
                    <a:moveTo>
                      <a:pt x="0" y="0"/>
                    </a:moveTo>
                    <a:lnTo>
                      <a:pt x="9966960" y="0"/>
                    </a:lnTo>
                    <a:lnTo>
                      <a:pt x="9966960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45664" r="0" b="-333737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9966960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b="true" sz="1500" spc="150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OUTPUT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18211" y="2694813"/>
              <a:ext cx="9893808" cy="2733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   Branch    Product      Sales</a:t>
              </a:r>
            </a:p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0  Lagos    Rice 50kg   145000</a:t>
              </a:r>
            </a:p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3  Lagos    Beverages   132000</a:t>
              </a:r>
            </a:p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5  Abuja    Rice 50kg   156000</a:t>
              </a:r>
            </a:p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...</a:t>
              </a:r>
            </a:p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10 rows match, out of 20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11445875" y="457200"/>
              <a:ext cx="146304" cy="146304"/>
              <a:chOff x="0" y="0"/>
              <a:chExt cx="146304" cy="14630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1903075" y="43815"/>
              <a:ext cx="10332720" cy="94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df["Sales"] &gt; 100000 checks every row and produces True or False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11445875" y="1773936"/>
              <a:ext cx="146304" cy="146304"/>
              <a:chOff x="0" y="0"/>
              <a:chExt cx="146304" cy="14630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11903075" y="1517015"/>
              <a:ext cx="10332720" cy="466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wrapping it in df[...] keeps only the rows marked True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11445875" y="3090672"/>
              <a:ext cx="146304" cy="146304"/>
              <a:chOff x="0" y="0"/>
              <a:chExt cx="146304" cy="14630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11903075" y="2833751"/>
              <a:ext cx="10332720" cy="466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the result is a smaller DataFrame, with the same columns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11994515" y="4937760"/>
              <a:ext cx="9692640" cy="2117623"/>
              <a:chOff x="0" y="0"/>
              <a:chExt cx="9692640" cy="211762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692640" cy="2117623"/>
              </a:xfrm>
              <a:custGeom>
                <a:avLst/>
                <a:gdLst/>
                <a:ahLst/>
                <a:cxnLst/>
                <a:rect r="r" b="b" t="t" l="l"/>
                <a:pathLst>
                  <a:path h="2117623" w="9692640">
                    <a:moveTo>
                      <a:pt x="0" y="0"/>
                    </a:moveTo>
                    <a:lnTo>
                      <a:pt x="9692640" y="0"/>
                    </a:lnTo>
                    <a:lnTo>
                      <a:pt x="9692640" y="2117623"/>
                    </a:lnTo>
                    <a:lnTo>
                      <a:pt x="0" y="211762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9528" r="0" b="-38843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9692640" cy="21747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Excel parallel:  </a:t>
                </a:r>
                <a:r>
                  <a:rPr lang="en-US" sz="202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the same result as clicking Excel's filter arrow and keeping only Sales greater than 100,000, except this filter is one line you can rerun on next month's file instantly.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564515" y="9966960"/>
              <a:ext cx="21086064" cy="669823"/>
              <a:chOff x="0" y="0"/>
              <a:chExt cx="21086064" cy="66982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1086065" cy="669823"/>
              </a:xfrm>
              <a:custGeom>
                <a:avLst/>
                <a:gdLst/>
                <a:ahLst/>
                <a:cxnLst/>
                <a:rect r="r" b="b" t="t" l="l"/>
                <a:pathLst>
                  <a:path h="669823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669823"/>
                    </a:lnTo>
                    <a:lnTo>
                      <a:pt x="0" y="66982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72435" r="0" b="-554343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21086064" cy="7269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i="true">
                    <a:solidFill>
                      <a:srgbClr val="0A1A23"/>
                    </a:solidFill>
                    <a:latin typeface="Poppins Italics"/>
                    <a:ea typeface="Poppins Italics"/>
                    <a:cs typeface="Poppins Italics"/>
                    <a:sym typeface="Poppins Italics"/>
                  </a:rPr>
                  <a:t>Combine conditions with &amp; (and) or | (or). Always wrap each condition in its own parentheses.</a:t>
                </a: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1160788" y="736492"/>
            <a:ext cx="12755880" cy="1245870"/>
            <a:chOff x="0" y="0"/>
            <a:chExt cx="17007840" cy="1661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Filtering Rows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57250" y="845077"/>
            <a:ext cx="114300" cy="1028700"/>
            <a:chOff x="0" y="0"/>
            <a:chExt cx="152400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16594234" y="2891107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375530"/>
            <a:ext cx="15814548" cy="7722108"/>
            <a:chOff x="0" y="0"/>
            <a:chExt cx="21086064" cy="1029614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1086064" cy="640080"/>
              <a:chOff x="0" y="0"/>
              <a:chExt cx="21086064" cy="64008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086065" cy="640080"/>
              </a:xfrm>
              <a:custGeom>
                <a:avLst/>
                <a:gdLst/>
                <a:ahLst/>
                <a:cxnLst/>
                <a:rect r="r" b="b" t="t" l="l"/>
                <a:pathLst>
                  <a:path h="640080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91892" r="0" b="-591892"/>
                </a:stretch>
              </a:blip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0"/>
                <a:ext cx="21086064" cy="6400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10"/>
                  </a:lnSpc>
                </a:pPr>
                <a:r>
                  <a:rPr lang="en-US" sz="2175" b="true">
                    <a:solidFill>
                      <a:srgbClr val="0A1A23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Which customers have sales above ₦150,000?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786384"/>
              <a:ext cx="8412480" cy="1005840"/>
              <a:chOff x="0" y="0"/>
              <a:chExt cx="8412480" cy="100584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41248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8412480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8302752" y="0"/>
                    </a:lnTo>
                    <a:cubicBezTo>
                      <a:pt x="8363331" y="0"/>
                      <a:pt x="8412480" y="49149"/>
                      <a:pt x="8412480" y="109728"/>
                    </a:cubicBezTo>
                    <a:lnTo>
                      <a:pt x="8412480" y="896112"/>
                    </a:lnTo>
                    <a:cubicBezTo>
                      <a:pt x="8412480" y="956691"/>
                      <a:pt x="8363331" y="1005840"/>
                      <a:pt x="8302752" y="1005840"/>
                    </a:cubicBezTo>
                    <a:lnTo>
                      <a:pt x="109728" y="1005840"/>
                    </a:lnTo>
                    <a:cubicBezTo>
                      <a:pt x="49149" y="1005840"/>
                      <a:pt x="0" y="956691"/>
                      <a:pt x="0" y="896112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365760" y="786384"/>
              <a:ext cx="7680960" cy="1005840"/>
              <a:chOff x="0" y="0"/>
              <a:chExt cx="7680960" cy="100584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68096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7680960">
                    <a:moveTo>
                      <a:pt x="0" y="0"/>
                    </a:moveTo>
                    <a:lnTo>
                      <a:pt x="7680960" y="0"/>
                    </a:lnTo>
                    <a:lnTo>
                      <a:pt x="7680960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8794" r="0" b="-98794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"/>
                <a:ext cx="7680960" cy="10153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340"/>
                  </a:lnSpc>
                </a:pPr>
                <a:r>
                  <a:rPr lang="en-US" sz="1950">
                    <a:solidFill>
                      <a:srgbClr val="5FD1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df[df["Sales"] &gt; 150000]["Customer"]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8961120" y="786384"/>
              <a:ext cx="12124944" cy="1005840"/>
              <a:chOff x="0" y="0"/>
              <a:chExt cx="12124944" cy="100584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124944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12124944">
                    <a:moveTo>
                      <a:pt x="0" y="0"/>
                    </a:moveTo>
                    <a:lnTo>
                      <a:pt x="12124944" y="0"/>
                    </a:lnTo>
                    <a:lnTo>
                      <a:pt x="12124944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883" r="0" b="-184883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12124944" cy="10153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340"/>
                  </a:lnSpc>
                </a:pPr>
                <a:r>
                  <a:rPr lang="en-US" sz="1950" i="true">
                    <a:solidFill>
                      <a:srgbClr val="387F7F"/>
                    </a:solidFill>
                    <a:latin typeface="Inter Italics"/>
                    <a:ea typeface="Inter Italics"/>
                    <a:cs typeface="Inter Italics"/>
                    <a:sym typeface="Inter Italics"/>
                  </a:rPr>
                  <a:t>4 transactions, from 3 customers, Kings Mart appears twice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2834640"/>
              <a:ext cx="21086064" cy="640080"/>
              <a:chOff x="0" y="0"/>
              <a:chExt cx="21086064" cy="64008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086065" cy="640080"/>
              </a:xfrm>
              <a:custGeom>
                <a:avLst/>
                <a:gdLst/>
                <a:ahLst/>
                <a:cxnLst/>
                <a:rect r="r" b="b" t="t" l="l"/>
                <a:pathLst>
                  <a:path h="640080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91892" r="0" b="-591892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21086064" cy="6400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10"/>
                  </a:lnSpc>
                </a:pPr>
                <a:r>
                  <a:rPr lang="en-US" sz="2175" b="true">
                    <a:solidFill>
                      <a:srgbClr val="0A1A23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Which transactions occurred in the North West region?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3621024"/>
              <a:ext cx="8412480" cy="1005840"/>
              <a:chOff x="0" y="0"/>
              <a:chExt cx="8412480" cy="100584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41248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8412480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8302752" y="0"/>
                    </a:lnTo>
                    <a:cubicBezTo>
                      <a:pt x="8363331" y="0"/>
                      <a:pt x="8412480" y="49149"/>
                      <a:pt x="8412480" y="109728"/>
                    </a:cubicBezTo>
                    <a:lnTo>
                      <a:pt x="8412480" y="896112"/>
                    </a:lnTo>
                    <a:cubicBezTo>
                      <a:pt x="8412480" y="956691"/>
                      <a:pt x="8363331" y="1005840"/>
                      <a:pt x="8302752" y="1005840"/>
                    </a:cubicBezTo>
                    <a:lnTo>
                      <a:pt x="109728" y="1005840"/>
                    </a:lnTo>
                    <a:cubicBezTo>
                      <a:pt x="49149" y="1005840"/>
                      <a:pt x="0" y="956691"/>
                      <a:pt x="0" y="896112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365760" y="3621024"/>
              <a:ext cx="7680960" cy="1005840"/>
              <a:chOff x="0" y="0"/>
              <a:chExt cx="7680960" cy="100584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68096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7680960">
                    <a:moveTo>
                      <a:pt x="0" y="0"/>
                    </a:moveTo>
                    <a:lnTo>
                      <a:pt x="7680960" y="0"/>
                    </a:lnTo>
                    <a:lnTo>
                      <a:pt x="7680960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8794" r="0" b="-98794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7680960" cy="10153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340"/>
                  </a:lnSpc>
                </a:pPr>
                <a:r>
                  <a:rPr lang="en-US" sz="1950">
                    <a:solidFill>
                      <a:srgbClr val="5FD1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df[df["Region"] == "North West"]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8961120" y="3621024"/>
              <a:ext cx="12124944" cy="1005840"/>
              <a:chOff x="0" y="0"/>
              <a:chExt cx="12124944" cy="100584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124944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12124944">
                    <a:moveTo>
                      <a:pt x="0" y="0"/>
                    </a:moveTo>
                    <a:lnTo>
                      <a:pt x="12124944" y="0"/>
                    </a:lnTo>
                    <a:lnTo>
                      <a:pt x="12124944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883" r="0" b="-184883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12124944" cy="10153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340"/>
                  </a:lnSpc>
                </a:pPr>
                <a:r>
                  <a:rPr lang="en-US" sz="1950" i="true">
                    <a:solidFill>
                      <a:srgbClr val="387F7F"/>
                    </a:solidFill>
                    <a:latin typeface="Inter Italics"/>
                    <a:ea typeface="Inter Italics"/>
                    <a:cs typeface="Inter Italics"/>
                    <a:sym typeface="Inter Italics"/>
                  </a:rPr>
                  <a:t>5 transactions, all from the Kano branch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5669280"/>
              <a:ext cx="21086064" cy="640080"/>
              <a:chOff x="0" y="0"/>
              <a:chExt cx="21086064" cy="64008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1086065" cy="640080"/>
              </a:xfrm>
              <a:custGeom>
                <a:avLst/>
                <a:gdLst/>
                <a:ahLst/>
                <a:cxnLst/>
                <a:rect r="r" b="b" t="t" l="l"/>
                <a:pathLst>
                  <a:path h="640080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91892" r="0" b="-591892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0"/>
                <a:ext cx="21086064" cy="6400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10"/>
                  </a:lnSpc>
                </a:pPr>
                <a:r>
                  <a:rPr lang="en-US" sz="2175" b="true">
                    <a:solidFill>
                      <a:srgbClr val="0A1A23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Which products have missing prices?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6455664"/>
              <a:ext cx="8412480" cy="1005840"/>
              <a:chOff x="0" y="0"/>
              <a:chExt cx="8412480" cy="100584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41248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8412480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8302752" y="0"/>
                    </a:lnTo>
                    <a:cubicBezTo>
                      <a:pt x="8363331" y="0"/>
                      <a:pt x="8412480" y="49149"/>
                      <a:pt x="8412480" y="109728"/>
                    </a:cubicBezTo>
                    <a:lnTo>
                      <a:pt x="8412480" y="896112"/>
                    </a:lnTo>
                    <a:cubicBezTo>
                      <a:pt x="8412480" y="956691"/>
                      <a:pt x="8363331" y="1005840"/>
                      <a:pt x="8302752" y="1005840"/>
                    </a:cubicBezTo>
                    <a:lnTo>
                      <a:pt x="109728" y="1005840"/>
                    </a:lnTo>
                    <a:cubicBezTo>
                      <a:pt x="49149" y="1005840"/>
                      <a:pt x="0" y="956691"/>
                      <a:pt x="0" y="896112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365760" y="6455664"/>
              <a:ext cx="7680960" cy="1005840"/>
              <a:chOff x="0" y="0"/>
              <a:chExt cx="7680960" cy="100584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768096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7680960">
                    <a:moveTo>
                      <a:pt x="0" y="0"/>
                    </a:moveTo>
                    <a:lnTo>
                      <a:pt x="7680960" y="0"/>
                    </a:lnTo>
                    <a:lnTo>
                      <a:pt x="7680960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8794" r="0" b="-98794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9525"/>
                <a:ext cx="7680960" cy="10153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340"/>
                  </a:lnSpc>
                </a:pPr>
                <a:r>
                  <a:rPr lang="en-US" sz="1950">
                    <a:solidFill>
                      <a:srgbClr val="5FD1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df[df["Price"].isna()]["Product"]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8961120" y="6455664"/>
              <a:ext cx="12124944" cy="1005840"/>
              <a:chOff x="0" y="0"/>
              <a:chExt cx="12124944" cy="100584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2124944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12124944">
                    <a:moveTo>
                      <a:pt x="0" y="0"/>
                    </a:moveTo>
                    <a:lnTo>
                      <a:pt x="12124944" y="0"/>
                    </a:lnTo>
                    <a:lnTo>
                      <a:pt x="12124944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883" r="0" b="-184883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9525"/>
                <a:ext cx="12124944" cy="10153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340"/>
                  </a:lnSpc>
                </a:pPr>
                <a:r>
                  <a:rPr lang="en-US" sz="1950" i="true">
                    <a:solidFill>
                      <a:srgbClr val="387F7F"/>
                    </a:solidFill>
                    <a:latin typeface="Inter Italics"/>
                    <a:ea typeface="Inter Italics"/>
                    <a:cs typeface="Inter Italics"/>
                    <a:sym typeface="Inter Italics"/>
                  </a:rPr>
                  <a:t>Cooking Oil 25L, Flour 50kg, Detergent Carton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9747504"/>
              <a:ext cx="21086064" cy="548640"/>
              <a:chOff x="0" y="0"/>
              <a:chExt cx="21086064" cy="5486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1086065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98874" r="0" b="-698874"/>
                </a:stretch>
              </a:blip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47625"/>
                <a:ext cx="21086064" cy="5962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i="true">
                    <a:solidFill>
                      <a:srgbClr val="0A1A23"/>
                    </a:solidFill>
                    <a:latin typeface="Inter Italics"/>
                    <a:ea typeface="Inter Italics"/>
                    <a:cs typeface="Inter Italics"/>
                    <a:sym typeface="Inter Italics"/>
                  </a:rPr>
                  <a:t>Every one of these is a business question first, and a line of pandas second. Start from the question, not the syntax.</a:t>
                </a: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0">
            <a:off x="1218365" y="736492"/>
            <a:ext cx="12755880" cy="1245870"/>
            <a:chOff x="0" y="0"/>
            <a:chExt cx="17007840" cy="1661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Asking Analytical Questions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57250" y="845077"/>
            <a:ext cx="114300" cy="1028700"/>
            <a:chOff x="0" y="0"/>
            <a:chExt cx="152400" cy="1371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16594234" y="2891107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400300"/>
            <a:ext cx="15814548" cy="7886700"/>
            <a:chOff x="0" y="0"/>
            <a:chExt cx="21086064" cy="105156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7132320" cy="987552"/>
              <a:chOff x="0" y="0"/>
              <a:chExt cx="7132320" cy="98755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132320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7132320">
                    <a:moveTo>
                      <a:pt x="0" y="0"/>
                    </a:moveTo>
                    <a:lnTo>
                      <a:pt x="7132320" y="0"/>
                    </a:lnTo>
                    <a:lnTo>
                      <a:pt x="7132320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0725" r="0" b="-90725"/>
                </a:stretch>
              </a:blip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0"/>
                <a:ext cx="7132320" cy="9875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20"/>
                  </a:lnSpc>
                </a:pPr>
                <a:r>
                  <a:rPr lang="en-US" sz="2100" b="true">
                    <a:solidFill>
                      <a:srgbClr val="0A1A23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Open CSV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7680960" y="411480"/>
              <a:ext cx="164592" cy="164592"/>
              <a:chOff x="0" y="0"/>
              <a:chExt cx="164592" cy="16459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64592" cy="164592"/>
              </a:xfrm>
              <a:custGeom>
                <a:avLst/>
                <a:gdLst/>
                <a:ahLst/>
                <a:cxnLst/>
                <a:rect r="r" b="b" t="t" l="l"/>
                <a:pathLst>
                  <a:path h="164592" w="164592">
                    <a:moveTo>
                      <a:pt x="0" y="82296"/>
                    </a:moveTo>
                    <a:cubicBezTo>
                      <a:pt x="0" y="36830"/>
                      <a:pt x="36830" y="0"/>
                      <a:pt x="82296" y="0"/>
                    </a:cubicBezTo>
                    <a:cubicBezTo>
                      <a:pt x="127762" y="0"/>
                      <a:pt x="164592" y="36830"/>
                      <a:pt x="164592" y="82296"/>
                    </a:cubicBezTo>
                    <a:cubicBezTo>
                      <a:pt x="164592" y="127762"/>
                      <a:pt x="127762" y="164592"/>
                      <a:pt x="82296" y="164592"/>
                    </a:cubicBezTo>
                    <a:cubicBezTo>
                      <a:pt x="36830" y="164592"/>
                      <a:pt x="0" y="127762"/>
                      <a:pt x="0" y="82296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8138160" y="0"/>
              <a:ext cx="12947904" cy="987552"/>
              <a:chOff x="0" y="0"/>
              <a:chExt cx="12947904" cy="98755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947904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12947904">
                    <a:moveTo>
                      <a:pt x="0" y="0"/>
                    </a:moveTo>
                    <a:lnTo>
                      <a:pt x="12947904" y="0"/>
                    </a:lnTo>
                    <a:lnTo>
                      <a:pt x="12947904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5470" r="0" b="-205470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"/>
                <a:ext cx="12947904" cy="9970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30"/>
                  </a:lnSpc>
                </a:pPr>
                <a:r>
                  <a:rPr lang="en-US" sz="2025">
                    <a:solidFill>
                      <a:srgbClr val="387F7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pd.read_csv()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1133856"/>
              <a:ext cx="7132320" cy="987552"/>
              <a:chOff x="0" y="0"/>
              <a:chExt cx="7132320" cy="98755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132320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7132320">
                    <a:moveTo>
                      <a:pt x="0" y="0"/>
                    </a:moveTo>
                    <a:lnTo>
                      <a:pt x="7132320" y="0"/>
                    </a:lnTo>
                    <a:lnTo>
                      <a:pt x="7132320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0725" r="0" b="-90725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7132320" cy="9875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20"/>
                  </a:lnSpc>
                </a:pPr>
                <a:r>
                  <a:rPr lang="en-US" sz="2100" b="true">
                    <a:solidFill>
                      <a:srgbClr val="0A1A23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Filter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680960" y="1545336"/>
              <a:ext cx="164592" cy="164592"/>
              <a:chOff x="0" y="0"/>
              <a:chExt cx="164592" cy="16459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64592" cy="164592"/>
              </a:xfrm>
              <a:custGeom>
                <a:avLst/>
                <a:gdLst/>
                <a:ahLst/>
                <a:cxnLst/>
                <a:rect r="r" b="b" t="t" l="l"/>
                <a:pathLst>
                  <a:path h="164592" w="164592">
                    <a:moveTo>
                      <a:pt x="0" y="82296"/>
                    </a:moveTo>
                    <a:cubicBezTo>
                      <a:pt x="0" y="36830"/>
                      <a:pt x="36830" y="0"/>
                      <a:pt x="82296" y="0"/>
                    </a:cubicBezTo>
                    <a:cubicBezTo>
                      <a:pt x="127762" y="0"/>
                      <a:pt x="164592" y="36830"/>
                      <a:pt x="164592" y="82296"/>
                    </a:cubicBezTo>
                    <a:cubicBezTo>
                      <a:pt x="164592" y="127762"/>
                      <a:pt x="127762" y="164592"/>
                      <a:pt x="82296" y="164592"/>
                    </a:cubicBezTo>
                    <a:cubicBezTo>
                      <a:pt x="36830" y="164592"/>
                      <a:pt x="0" y="127762"/>
                      <a:pt x="0" y="82296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8138160" y="1133856"/>
              <a:ext cx="12947904" cy="987552"/>
              <a:chOff x="0" y="0"/>
              <a:chExt cx="12947904" cy="98755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2947904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12947904">
                    <a:moveTo>
                      <a:pt x="0" y="0"/>
                    </a:moveTo>
                    <a:lnTo>
                      <a:pt x="12947904" y="0"/>
                    </a:lnTo>
                    <a:lnTo>
                      <a:pt x="12947904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5470" r="0" b="-205470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12947904" cy="9970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30"/>
                  </a:lnSpc>
                </a:pPr>
                <a:r>
                  <a:rPr lang="en-US" sz="2025">
                    <a:solidFill>
                      <a:srgbClr val="387F7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Boolean filtering, e.g. df[df["Sales"] &gt; 100000]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2267712"/>
              <a:ext cx="7132320" cy="987552"/>
              <a:chOff x="0" y="0"/>
              <a:chExt cx="7132320" cy="98755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132320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7132320">
                    <a:moveTo>
                      <a:pt x="0" y="0"/>
                    </a:moveTo>
                    <a:lnTo>
                      <a:pt x="7132320" y="0"/>
                    </a:lnTo>
                    <a:lnTo>
                      <a:pt x="7132320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0725" r="0" b="-90725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7132320" cy="9875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20"/>
                  </a:lnSpc>
                </a:pPr>
                <a:r>
                  <a:rPr lang="en-US" sz="2100" b="true">
                    <a:solidFill>
                      <a:srgbClr val="0A1A23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View first rows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7680960" y="2679192"/>
              <a:ext cx="164592" cy="164592"/>
              <a:chOff x="0" y="0"/>
              <a:chExt cx="164592" cy="16459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64592" cy="164592"/>
              </a:xfrm>
              <a:custGeom>
                <a:avLst/>
                <a:gdLst/>
                <a:ahLst/>
                <a:cxnLst/>
                <a:rect r="r" b="b" t="t" l="l"/>
                <a:pathLst>
                  <a:path h="164592" w="164592">
                    <a:moveTo>
                      <a:pt x="0" y="82296"/>
                    </a:moveTo>
                    <a:cubicBezTo>
                      <a:pt x="0" y="36830"/>
                      <a:pt x="36830" y="0"/>
                      <a:pt x="82296" y="0"/>
                    </a:cubicBezTo>
                    <a:cubicBezTo>
                      <a:pt x="127762" y="0"/>
                      <a:pt x="164592" y="36830"/>
                      <a:pt x="164592" y="82296"/>
                    </a:cubicBezTo>
                    <a:cubicBezTo>
                      <a:pt x="164592" y="127762"/>
                      <a:pt x="127762" y="164592"/>
                      <a:pt x="82296" y="164592"/>
                    </a:cubicBezTo>
                    <a:cubicBezTo>
                      <a:pt x="36830" y="164592"/>
                      <a:pt x="0" y="127762"/>
                      <a:pt x="0" y="82296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8138160" y="2267712"/>
              <a:ext cx="12947904" cy="987552"/>
              <a:chOff x="0" y="0"/>
              <a:chExt cx="12947904" cy="98755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947904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12947904">
                    <a:moveTo>
                      <a:pt x="0" y="0"/>
                    </a:moveTo>
                    <a:lnTo>
                      <a:pt x="12947904" y="0"/>
                    </a:lnTo>
                    <a:lnTo>
                      <a:pt x="12947904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5470" r="0" b="-205470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9525"/>
                <a:ext cx="12947904" cy="9970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30"/>
                  </a:lnSpc>
                </a:pPr>
                <a:r>
                  <a:rPr lang="en-US" sz="2025">
                    <a:solidFill>
                      <a:srgbClr val="387F7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.head()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3401568"/>
              <a:ext cx="7132320" cy="987552"/>
              <a:chOff x="0" y="0"/>
              <a:chExt cx="7132320" cy="98755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132320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7132320">
                    <a:moveTo>
                      <a:pt x="0" y="0"/>
                    </a:moveTo>
                    <a:lnTo>
                      <a:pt x="7132320" y="0"/>
                    </a:lnTo>
                    <a:lnTo>
                      <a:pt x="7132320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0725" r="0" b="-90725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0"/>
                <a:ext cx="7132320" cy="9875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20"/>
                  </a:lnSpc>
                </a:pPr>
                <a:r>
                  <a:rPr lang="en-US" sz="2100" b="true">
                    <a:solidFill>
                      <a:srgbClr val="0A1A23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Count rows/columns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7680960" y="3813048"/>
              <a:ext cx="164592" cy="164592"/>
              <a:chOff x="0" y="0"/>
              <a:chExt cx="164592" cy="16459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64592" cy="164592"/>
              </a:xfrm>
              <a:custGeom>
                <a:avLst/>
                <a:gdLst/>
                <a:ahLst/>
                <a:cxnLst/>
                <a:rect r="r" b="b" t="t" l="l"/>
                <a:pathLst>
                  <a:path h="164592" w="164592">
                    <a:moveTo>
                      <a:pt x="0" y="82296"/>
                    </a:moveTo>
                    <a:cubicBezTo>
                      <a:pt x="0" y="36830"/>
                      <a:pt x="36830" y="0"/>
                      <a:pt x="82296" y="0"/>
                    </a:cubicBezTo>
                    <a:cubicBezTo>
                      <a:pt x="127762" y="0"/>
                      <a:pt x="164592" y="36830"/>
                      <a:pt x="164592" y="82296"/>
                    </a:cubicBezTo>
                    <a:cubicBezTo>
                      <a:pt x="164592" y="127762"/>
                      <a:pt x="127762" y="164592"/>
                      <a:pt x="82296" y="164592"/>
                    </a:cubicBezTo>
                    <a:cubicBezTo>
                      <a:pt x="36830" y="164592"/>
                      <a:pt x="0" y="127762"/>
                      <a:pt x="0" y="82296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8138160" y="3401568"/>
              <a:ext cx="12947904" cy="987552"/>
              <a:chOff x="0" y="0"/>
              <a:chExt cx="12947904" cy="98755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2947904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12947904">
                    <a:moveTo>
                      <a:pt x="0" y="0"/>
                    </a:moveTo>
                    <a:lnTo>
                      <a:pt x="12947904" y="0"/>
                    </a:lnTo>
                    <a:lnTo>
                      <a:pt x="12947904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5470" r="0" b="-205470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9525"/>
                <a:ext cx="12947904" cy="9970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30"/>
                  </a:lnSpc>
                </a:pPr>
                <a:r>
                  <a:rPr lang="en-US" sz="2025">
                    <a:solidFill>
                      <a:srgbClr val="387F7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.shape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4535424"/>
              <a:ext cx="7132320" cy="987552"/>
              <a:chOff x="0" y="0"/>
              <a:chExt cx="7132320" cy="987552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7132320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7132320">
                    <a:moveTo>
                      <a:pt x="0" y="0"/>
                    </a:moveTo>
                    <a:lnTo>
                      <a:pt x="7132320" y="0"/>
                    </a:lnTo>
                    <a:lnTo>
                      <a:pt x="7132320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0725" r="0" b="-90725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7132320" cy="9875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20"/>
                  </a:lnSpc>
                </a:pPr>
                <a:r>
                  <a:rPr lang="en-US" sz="2100" b="true">
                    <a:solidFill>
                      <a:srgbClr val="0A1A23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Inspect columns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7680960" y="4946904"/>
              <a:ext cx="164592" cy="164592"/>
              <a:chOff x="0" y="0"/>
              <a:chExt cx="164592" cy="16459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64592" cy="164592"/>
              </a:xfrm>
              <a:custGeom>
                <a:avLst/>
                <a:gdLst/>
                <a:ahLst/>
                <a:cxnLst/>
                <a:rect r="r" b="b" t="t" l="l"/>
                <a:pathLst>
                  <a:path h="164592" w="164592">
                    <a:moveTo>
                      <a:pt x="0" y="82296"/>
                    </a:moveTo>
                    <a:cubicBezTo>
                      <a:pt x="0" y="36830"/>
                      <a:pt x="36830" y="0"/>
                      <a:pt x="82296" y="0"/>
                    </a:cubicBezTo>
                    <a:cubicBezTo>
                      <a:pt x="127762" y="0"/>
                      <a:pt x="164592" y="36830"/>
                      <a:pt x="164592" y="82296"/>
                    </a:cubicBezTo>
                    <a:cubicBezTo>
                      <a:pt x="164592" y="127762"/>
                      <a:pt x="127762" y="164592"/>
                      <a:pt x="82296" y="164592"/>
                    </a:cubicBezTo>
                    <a:cubicBezTo>
                      <a:pt x="36830" y="164592"/>
                      <a:pt x="0" y="127762"/>
                      <a:pt x="0" y="82296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8138160" y="4535424"/>
              <a:ext cx="12947904" cy="987552"/>
              <a:chOff x="0" y="0"/>
              <a:chExt cx="12947904" cy="987552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2947904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12947904">
                    <a:moveTo>
                      <a:pt x="0" y="0"/>
                    </a:moveTo>
                    <a:lnTo>
                      <a:pt x="12947904" y="0"/>
                    </a:lnTo>
                    <a:lnTo>
                      <a:pt x="12947904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5470" r="0" b="-205470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12947904" cy="9970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30"/>
                  </a:lnSpc>
                </a:pPr>
                <a:r>
                  <a:rPr lang="en-US" sz="2025">
                    <a:solidFill>
                      <a:srgbClr val="387F7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.info()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5669280"/>
              <a:ext cx="7132320" cy="987552"/>
              <a:chOff x="0" y="0"/>
              <a:chExt cx="7132320" cy="987552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7132320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7132320">
                    <a:moveTo>
                      <a:pt x="0" y="0"/>
                    </a:moveTo>
                    <a:lnTo>
                      <a:pt x="7132320" y="0"/>
                    </a:lnTo>
                    <a:lnTo>
                      <a:pt x="7132320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0725" r="0" b="-90725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0"/>
                <a:ext cx="7132320" cy="9875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20"/>
                  </a:lnSpc>
                </a:pPr>
                <a:r>
                  <a:rPr lang="en-US" sz="2100" b="true">
                    <a:solidFill>
                      <a:srgbClr val="0A1A23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Check missing values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7680960" y="6080760"/>
              <a:ext cx="164592" cy="164592"/>
              <a:chOff x="0" y="0"/>
              <a:chExt cx="164592" cy="16459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64592" cy="164592"/>
              </a:xfrm>
              <a:custGeom>
                <a:avLst/>
                <a:gdLst/>
                <a:ahLst/>
                <a:cxnLst/>
                <a:rect r="r" b="b" t="t" l="l"/>
                <a:pathLst>
                  <a:path h="164592" w="164592">
                    <a:moveTo>
                      <a:pt x="0" y="82296"/>
                    </a:moveTo>
                    <a:cubicBezTo>
                      <a:pt x="0" y="36830"/>
                      <a:pt x="36830" y="0"/>
                      <a:pt x="82296" y="0"/>
                    </a:cubicBezTo>
                    <a:cubicBezTo>
                      <a:pt x="127762" y="0"/>
                      <a:pt x="164592" y="36830"/>
                      <a:pt x="164592" y="82296"/>
                    </a:cubicBezTo>
                    <a:cubicBezTo>
                      <a:pt x="164592" y="127762"/>
                      <a:pt x="127762" y="164592"/>
                      <a:pt x="82296" y="164592"/>
                    </a:cubicBezTo>
                    <a:cubicBezTo>
                      <a:pt x="36830" y="164592"/>
                      <a:pt x="0" y="127762"/>
                      <a:pt x="0" y="82296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8138160" y="5669280"/>
              <a:ext cx="12947904" cy="987552"/>
              <a:chOff x="0" y="0"/>
              <a:chExt cx="12947904" cy="987552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2947904" cy="987552"/>
              </a:xfrm>
              <a:custGeom>
                <a:avLst/>
                <a:gdLst/>
                <a:ahLst/>
                <a:cxnLst/>
                <a:rect r="r" b="b" t="t" l="l"/>
                <a:pathLst>
                  <a:path h="987552" w="12947904">
                    <a:moveTo>
                      <a:pt x="0" y="0"/>
                    </a:moveTo>
                    <a:lnTo>
                      <a:pt x="12947904" y="0"/>
                    </a:lnTo>
                    <a:lnTo>
                      <a:pt x="12947904" y="987552"/>
                    </a:lnTo>
                    <a:lnTo>
                      <a:pt x="0" y="987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5470" r="0" b="-205470"/>
                </a:stretch>
              </a:blip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9525"/>
                <a:ext cx="12947904" cy="9970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30"/>
                  </a:lnSpc>
                </a:pPr>
                <a:r>
                  <a:rPr lang="en-US" sz="2025">
                    <a:solidFill>
                      <a:srgbClr val="387F7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.isna()</a:t>
                </a: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9966960"/>
              <a:ext cx="21086064" cy="548640"/>
              <a:chOff x="0" y="0"/>
              <a:chExt cx="21086064" cy="54864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1086065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98874" r="0" b="-698874"/>
                </a:stretch>
              </a:blip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47625"/>
                <a:ext cx="21086064" cy="5962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i="true">
                    <a:solidFill>
                      <a:srgbClr val="0A1A23"/>
                    </a:solidFill>
                    <a:latin typeface="Inter Italics"/>
                    <a:ea typeface="Inter Italics"/>
                    <a:cs typeface="Inter Italics"/>
                    <a:sym typeface="Inter Italics"/>
                  </a:rPr>
                  <a:t>Nothing here is a new idea, only a new way of writing something you already know how to do in Excel.</a:t>
                </a:r>
              </a:p>
            </p:txBody>
          </p:sp>
        </p:grpSp>
      </p:grpSp>
      <p:grpSp>
        <p:nvGrpSpPr>
          <p:cNvPr name="Group 56" id="56"/>
          <p:cNvGrpSpPr/>
          <p:nvPr/>
        </p:nvGrpSpPr>
        <p:grpSpPr>
          <a:xfrm rot="0">
            <a:off x="1218365" y="736492"/>
            <a:ext cx="12755880" cy="1245870"/>
            <a:chOff x="0" y="0"/>
            <a:chExt cx="17007840" cy="16611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Excel → Pandas Translation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57250" y="845077"/>
            <a:ext cx="114300" cy="1028700"/>
            <a:chOff x="0" y="0"/>
            <a:chExt cx="152400" cy="1371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1" id="61"/>
          <p:cNvSpPr/>
          <p:nvPr/>
        </p:nvSpPr>
        <p:spPr>
          <a:xfrm flipH="false" flipV="false" rot="0">
            <a:off x="16594234" y="2891107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63" id="63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636894"/>
            <a:ext cx="17387888" cy="5313537"/>
            <a:chOff x="0" y="0"/>
            <a:chExt cx="23183850" cy="708471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63500"/>
              <a:ext cx="152400" cy="1371600"/>
              <a:chOff x="0" y="0"/>
              <a:chExt cx="152400" cy="13716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524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388080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381000" y="-47625"/>
              <a:ext cx="22802850" cy="1127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Key Takeaways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89050" y="2925445"/>
              <a:ext cx="13441170" cy="719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60"/>
                </a:lnSpc>
              </a:pPr>
              <a:r>
                <a:rPr lang="en-US" sz="27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27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oad data into a pandas DataFrame using pd.read_csv().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289050" y="4131945"/>
              <a:ext cx="12024972" cy="719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60"/>
                </a:lnSpc>
              </a:pPr>
              <a:r>
                <a:rPr lang="en-US" sz="27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Inspe</a:t>
              </a:r>
              <a:r>
                <a:rPr lang="en-US" sz="27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ct datasets using .head(), .shape(), and .info().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4527352" y="4311015"/>
              <a:ext cx="8256222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20"/>
                </a:lnSpc>
              </a:pPr>
              <a:r>
                <a:rPr lang="en-US" sz="3600">
                  <a:solidFill>
                    <a:srgbClr val="387F7F"/>
                  </a:solidFill>
                  <a:latin typeface="Poppins"/>
                  <a:ea typeface="Poppins"/>
                  <a:cs typeface="Poppins"/>
                  <a:sym typeface="Poppins"/>
                </a:rPr>
                <a:t>Up Next: Data Manipulation    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22173974" y="5228590"/>
              <a:ext cx="609600" cy="609600"/>
              <a:chOff x="0" y="0"/>
              <a:chExt cx="609600" cy="609600"/>
            </a:xfrm>
          </p:grpSpPr>
          <p:sp>
            <p:nvSpPr>
              <p:cNvPr name="Freeform 12" id="12" descr="image.png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609600"/>
                    </a:lnTo>
                    <a:lnTo>
                      <a:pt x="0" y="609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1562" r="0" b="-1562"/>
                </a:stretch>
              </a:blip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381000" y="2997200"/>
              <a:ext cx="609600" cy="647700"/>
              <a:chOff x="0" y="0"/>
              <a:chExt cx="609600" cy="647700"/>
            </a:xfrm>
          </p:grpSpPr>
          <p:sp>
            <p:nvSpPr>
              <p:cNvPr name="Freeform 14" id="14" descr="image.png"/>
              <p:cNvSpPr/>
              <p:nvPr/>
            </p:nvSpPr>
            <p:spPr>
              <a:xfrm flipH="false" flipV="false" rot="0">
                <a:off x="0" y="0"/>
                <a:ext cx="609600" cy="647700"/>
              </a:xfrm>
              <a:custGeom>
                <a:avLst/>
                <a:gdLst/>
                <a:ahLst/>
                <a:cxnLst/>
                <a:rect r="r" b="b" t="t" l="l"/>
                <a:pathLst>
                  <a:path h="6477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647700"/>
                    </a:lnTo>
                    <a:lnTo>
                      <a:pt x="0" y="6477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381000" y="4159250"/>
              <a:ext cx="609600" cy="647700"/>
              <a:chOff x="0" y="0"/>
              <a:chExt cx="609600" cy="647700"/>
            </a:xfrm>
          </p:grpSpPr>
          <p:sp>
            <p:nvSpPr>
              <p:cNvPr name="Freeform 16" id="16" descr="image.png"/>
              <p:cNvSpPr/>
              <p:nvPr/>
            </p:nvSpPr>
            <p:spPr>
              <a:xfrm flipH="false" flipV="false" rot="0">
                <a:off x="0" y="0"/>
                <a:ext cx="609600" cy="647700"/>
              </a:xfrm>
              <a:custGeom>
                <a:avLst/>
                <a:gdLst/>
                <a:ahLst/>
                <a:cxnLst/>
                <a:rect r="r" b="b" t="t" l="l"/>
                <a:pathLst>
                  <a:path h="6477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647700"/>
                    </a:lnTo>
                    <a:lnTo>
                      <a:pt x="0" y="6477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381000" y="5340350"/>
              <a:ext cx="609600" cy="647700"/>
              <a:chOff x="0" y="0"/>
              <a:chExt cx="609600" cy="647700"/>
            </a:xfrm>
          </p:grpSpPr>
          <p:sp>
            <p:nvSpPr>
              <p:cNvPr name="Freeform 18" id="18" descr="image.png"/>
              <p:cNvSpPr/>
              <p:nvPr/>
            </p:nvSpPr>
            <p:spPr>
              <a:xfrm flipH="false" flipV="false" rot="0">
                <a:off x="0" y="0"/>
                <a:ext cx="609600" cy="647700"/>
              </a:xfrm>
              <a:custGeom>
                <a:avLst/>
                <a:gdLst/>
                <a:ahLst/>
                <a:cxnLst/>
                <a:rect r="r" b="b" t="t" l="l"/>
                <a:pathLst>
                  <a:path h="6477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647700"/>
                    </a:lnTo>
                    <a:lnTo>
                      <a:pt x="0" y="6477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1289050" y="5352415"/>
              <a:ext cx="12459997" cy="719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6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Ch</a:t>
              </a: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eck data types and missing values before analysis.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381000" y="6437016"/>
              <a:ext cx="609600" cy="647700"/>
              <a:chOff x="0" y="0"/>
              <a:chExt cx="609600" cy="647700"/>
            </a:xfrm>
          </p:grpSpPr>
          <p:sp>
            <p:nvSpPr>
              <p:cNvPr name="Freeform 21" id="21" descr="image.png"/>
              <p:cNvSpPr/>
              <p:nvPr/>
            </p:nvSpPr>
            <p:spPr>
              <a:xfrm flipH="false" flipV="false" rot="0">
                <a:off x="0" y="0"/>
                <a:ext cx="609600" cy="647700"/>
              </a:xfrm>
              <a:custGeom>
                <a:avLst/>
                <a:gdLst/>
                <a:ahLst/>
                <a:cxnLst/>
                <a:rect r="r" b="b" t="t" l="l"/>
                <a:pathLst>
                  <a:path h="6477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647700"/>
                    </a:lnTo>
                    <a:lnTo>
                      <a:pt x="0" y="6477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289050" y="6365261"/>
              <a:ext cx="14314186" cy="719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6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elect and filter data to answer analytical questions efficiently.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4527352" y="4968875"/>
              <a:ext cx="7646622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with Pandas and Numpy 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6709388" y="3199838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85800"/>
            <a:ext cx="16322040" cy="8778240"/>
            <a:chOff x="0" y="0"/>
            <a:chExt cx="21762720" cy="1170432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1499616" y="0"/>
              <a:ext cx="18288000" cy="1188720"/>
              <a:chOff x="0" y="0"/>
              <a:chExt cx="18288000" cy="118872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8288000" cy="1188720"/>
              </a:xfrm>
              <a:custGeom>
                <a:avLst/>
                <a:gdLst/>
                <a:ahLst/>
                <a:cxnLst/>
                <a:rect r="r" b="b" t="t" l="l"/>
                <a:pathLst>
                  <a:path h="1188720" w="18288000">
                    <a:moveTo>
                      <a:pt x="0" y="0"/>
                    </a:moveTo>
                    <a:lnTo>
                      <a:pt x="18288000" y="0"/>
                    </a:lnTo>
                    <a:lnTo>
                      <a:pt x="18288000" y="1188720"/>
                    </a:lnTo>
                    <a:lnTo>
                      <a:pt x="0" y="11887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9769" r="0" b="-249769"/>
                </a:stretch>
              </a:blip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8288000" cy="12268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680"/>
                  </a:lnSpc>
                </a:pPr>
                <a:r>
                  <a:rPr lang="en-US" b="true" sz="3900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Guided Exercise: branch_sales.csv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463040"/>
              <a:ext cx="17373600" cy="731520"/>
              <a:chOff x="0" y="0"/>
              <a:chExt cx="17373600" cy="73152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3736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7373600">
                    <a:moveTo>
                      <a:pt x="0" y="0"/>
                    </a:moveTo>
                    <a:lnTo>
                      <a:pt x="17373600" y="0"/>
                    </a:lnTo>
                    <a:lnTo>
                      <a:pt x="173736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12769" r="0" b="-412769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0"/>
                <a:ext cx="17373600" cy="7315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20"/>
                  </a:lnSpc>
                </a:pPr>
                <a:r>
                  <a:rPr lang="en-US" sz="2100" i="true">
                    <a:solidFill>
                      <a:srgbClr val="000000"/>
                    </a:solidFill>
                    <a:latin typeface="Inter Italics"/>
                    <a:ea typeface="Inter Italics"/>
                    <a:cs typeface="Inter Italics"/>
                    <a:sym typeface="Inter Italics"/>
                  </a:rPr>
                  <a:t>Twenty transactions, four branches, one missing-price column to find.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2651760"/>
              <a:ext cx="914400" cy="914400"/>
              <a:chOff x="0" y="0"/>
              <a:chExt cx="914400" cy="914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457200"/>
                    </a:moveTo>
                    <a:cubicBezTo>
                      <a:pt x="0" y="204724"/>
                      <a:pt x="204724" y="0"/>
                      <a:pt x="457200" y="0"/>
                    </a:cubicBezTo>
                    <a:cubicBezTo>
                      <a:pt x="709676" y="0"/>
                      <a:pt x="914400" y="204724"/>
                      <a:pt x="914400" y="457200"/>
                    </a:cubicBezTo>
                    <a:cubicBezTo>
                      <a:pt x="914400" y="709676"/>
                      <a:pt x="709676" y="914400"/>
                      <a:pt x="457200" y="914400"/>
                    </a:cubicBezTo>
                    <a:cubicBezTo>
                      <a:pt x="204724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280160" y="2560320"/>
              <a:ext cx="20116800" cy="1097280"/>
              <a:chOff x="0" y="0"/>
              <a:chExt cx="20116800" cy="10972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011680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20116800">
                    <a:moveTo>
                      <a:pt x="0" y="0"/>
                    </a:moveTo>
                    <a:lnTo>
                      <a:pt x="20116800" y="0"/>
                    </a:lnTo>
                    <a:lnTo>
                      <a:pt x="2011680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07225" r="0" b="-307225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20116800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90"/>
                  </a:lnSpc>
                </a:pPr>
                <a:r>
                  <a:rPr lang="en-US" sz="2325">
                    <a:solidFill>
                      <a:srgbClr val="000000"/>
                    </a:solidFill>
                    <a:latin typeface="Inter"/>
                    <a:ea typeface="Inter"/>
                    <a:cs typeface="Inter"/>
                    <a:sym typeface="Inter"/>
                  </a:rPr>
                  <a:t>Load branch_sales.csv into a DataFrame named df.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3968496"/>
              <a:ext cx="914400" cy="914400"/>
              <a:chOff x="0" y="0"/>
              <a:chExt cx="914400" cy="914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457200"/>
                    </a:moveTo>
                    <a:cubicBezTo>
                      <a:pt x="0" y="204724"/>
                      <a:pt x="204724" y="0"/>
                      <a:pt x="457200" y="0"/>
                    </a:cubicBezTo>
                    <a:cubicBezTo>
                      <a:pt x="709676" y="0"/>
                      <a:pt x="914400" y="204724"/>
                      <a:pt x="914400" y="457200"/>
                    </a:cubicBezTo>
                    <a:cubicBezTo>
                      <a:pt x="914400" y="709676"/>
                      <a:pt x="709676" y="914400"/>
                      <a:pt x="457200" y="914400"/>
                    </a:cubicBezTo>
                    <a:cubicBezTo>
                      <a:pt x="204724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3968496"/>
              <a:ext cx="914400" cy="914400"/>
              <a:chOff x="0" y="0"/>
              <a:chExt cx="914400" cy="914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914400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00"/>
                  </a:lnSpc>
                </a:pPr>
                <a:r>
                  <a:rPr lang="en-US" b="true" sz="2250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2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280160" y="3877056"/>
              <a:ext cx="20116800" cy="1097280"/>
              <a:chOff x="0" y="0"/>
              <a:chExt cx="20116800" cy="109728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11680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20116800">
                    <a:moveTo>
                      <a:pt x="0" y="0"/>
                    </a:moveTo>
                    <a:lnTo>
                      <a:pt x="20116800" y="0"/>
                    </a:lnTo>
                    <a:lnTo>
                      <a:pt x="2011680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07225" r="0" b="-307225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20116800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90"/>
                  </a:lnSpc>
                </a:pPr>
                <a:r>
                  <a:rPr lang="en-US" sz="2325">
                    <a:solidFill>
                      <a:srgbClr val="000000"/>
                    </a:solidFill>
                    <a:latin typeface="Inter"/>
                    <a:ea typeface="Inter"/>
                    <a:cs typeface="Inter"/>
                    <a:sym typeface="Inter"/>
                  </a:rPr>
                  <a:t>How many rows and columns does df have, and what are the column data types?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5285232"/>
              <a:ext cx="914400" cy="914400"/>
              <a:chOff x="0" y="0"/>
              <a:chExt cx="914400" cy="914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457200"/>
                    </a:moveTo>
                    <a:cubicBezTo>
                      <a:pt x="0" y="204724"/>
                      <a:pt x="204724" y="0"/>
                      <a:pt x="457200" y="0"/>
                    </a:cubicBezTo>
                    <a:cubicBezTo>
                      <a:pt x="709676" y="0"/>
                      <a:pt x="914400" y="204724"/>
                      <a:pt x="914400" y="457200"/>
                    </a:cubicBezTo>
                    <a:cubicBezTo>
                      <a:pt x="914400" y="709676"/>
                      <a:pt x="709676" y="914400"/>
                      <a:pt x="457200" y="914400"/>
                    </a:cubicBezTo>
                    <a:cubicBezTo>
                      <a:pt x="204724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5285232"/>
              <a:ext cx="914400" cy="914400"/>
              <a:chOff x="0" y="0"/>
              <a:chExt cx="914400" cy="914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28575"/>
                <a:ext cx="914400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00"/>
                  </a:lnSpc>
                </a:pPr>
                <a:r>
                  <a:rPr lang="en-US" b="true" sz="2250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3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280160" y="5193792"/>
              <a:ext cx="20116800" cy="1097280"/>
              <a:chOff x="0" y="0"/>
              <a:chExt cx="20116800" cy="109728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011680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20116800">
                    <a:moveTo>
                      <a:pt x="0" y="0"/>
                    </a:moveTo>
                    <a:lnTo>
                      <a:pt x="20116800" y="0"/>
                    </a:lnTo>
                    <a:lnTo>
                      <a:pt x="2011680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07225" r="0" b="-307225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0"/>
                <a:ext cx="20116800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90"/>
                  </a:lnSpc>
                </a:pPr>
                <a:r>
                  <a:rPr lang="en-US" sz="2325">
                    <a:solidFill>
                      <a:srgbClr val="000000"/>
                    </a:solidFill>
                    <a:latin typeface="Inter"/>
                    <a:ea typeface="Inter"/>
                    <a:cs typeface="Inter"/>
                    <a:sym typeface="Inter"/>
                  </a:rPr>
                  <a:t>Which column has missing values, and how many are missing?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6601968"/>
              <a:ext cx="914400" cy="914400"/>
              <a:chOff x="0" y="0"/>
              <a:chExt cx="914400" cy="914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457200"/>
                    </a:moveTo>
                    <a:cubicBezTo>
                      <a:pt x="0" y="204724"/>
                      <a:pt x="204724" y="0"/>
                      <a:pt x="457200" y="0"/>
                    </a:cubicBezTo>
                    <a:cubicBezTo>
                      <a:pt x="709676" y="0"/>
                      <a:pt x="914400" y="204724"/>
                      <a:pt x="914400" y="457200"/>
                    </a:cubicBezTo>
                    <a:cubicBezTo>
                      <a:pt x="914400" y="709676"/>
                      <a:pt x="709676" y="914400"/>
                      <a:pt x="457200" y="914400"/>
                    </a:cubicBezTo>
                    <a:cubicBezTo>
                      <a:pt x="204724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6601968"/>
              <a:ext cx="914400" cy="914400"/>
              <a:chOff x="0" y="0"/>
              <a:chExt cx="914400" cy="9144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914400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00"/>
                  </a:lnSpc>
                </a:pPr>
                <a:r>
                  <a:rPr lang="en-US" b="true" sz="2250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4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280160" y="6510528"/>
              <a:ext cx="20116800" cy="1097280"/>
              <a:chOff x="0" y="0"/>
              <a:chExt cx="20116800" cy="109728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011680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20116800">
                    <a:moveTo>
                      <a:pt x="0" y="0"/>
                    </a:moveTo>
                    <a:lnTo>
                      <a:pt x="20116800" y="0"/>
                    </a:lnTo>
                    <a:lnTo>
                      <a:pt x="2011680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07225" r="0" b="-307225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20116800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90"/>
                  </a:lnSpc>
                </a:pPr>
                <a:r>
                  <a:rPr lang="en-US" sz="2325">
                    <a:solidFill>
                      <a:srgbClr val="000000"/>
                    </a:solidFill>
                    <a:latin typeface="Inter"/>
                    <a:ea typeface="Inter"/>
                    <a:cs typeface="Inter"/>
                    <a:sym typeface="Inter"/>
                  </a:rPr>
                  <a:t>Create a new DataFrame with only the Branch, Product and Price columns.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7918704"/>
              <a:ext cx="914400" cy="914400"/>
              <a:chOff x="0" y="0"/>
              <a:chExt cx="914400" cy="9144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457200"/>
                    </a:moveTo>
                    <a:cubicBezTo>
                      <a:pt x="0" y="204724"/>
                      <a:pt x="204724" y="0"/>
                      <a:pt x="457200" y="0"/>
                    </a:cubicBezTo>
                    <a:cubicBezTo>
                      <a:pt x="709676" y="0"/>
                      <a:pt x="914400" y="204724"/>
                      <a:pt x="914400" y="457200"/>
                    </a:cubicBezTo>
                    <a:cubicBezTo>
                      <a:pt x="914400" y="709676"/>
                      <a:pt x="709676" y="914400"/>
                      <a:pt x="457200" y="914400"/>
                    </a:cubicBezTo>
                    <a:cubicBezTo>
                      <a:pt x="204724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7918704"/>
              <a:ext cx="914400" cy="914400"/>
              <a:chOff x="0" y="0"/>
              <a:chExt cx="914400" cy="9144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28575"/>
                <a:ext cx="914400" cy="9429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700"/>
                  </a:lnSpc>
                </a:pPr>
                <a:r>
                  <a:rPr lang="en-US" b="true" sz="2250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5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280160" y="7827264"/>
              <a:ext cx="20116800" cy="1097280"/>
              <a:chOff x="0" y="0"/>
              <a:chExt cx="20116800" cy="109728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011680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20116800">
                    <a:moveTo>
                      <a:pt x="0" y="0"/>
                    </a:moveTo>
                    <a:lnTo>
                      <a:pt x="20116800" y="0"/>
                    </a:lnTo>
                    <a:lnTo>
                      <a:pt x="2011680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07225" r="0" b="-307225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0"/>
                <a:ext cx="20116800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90"/>
                  </a:lnSpc>
                </a:pPr>
                <a:r>
                  <a:rPr lang="en-US" sz="2325">
                    <a:solidFill>
                      <a:srgbClr val="000000"/>
                    </a:solidFill>
                    <a:latin typeface="Inter"/>
                    <a:ea typeface="Inter"/>
                    <a:cs typeface="Inter"/>
                    <a:sym typeface="Inter"/>
                  </a:rPr>
                  <a:t>Show only the transactions where Region is "South West" and Sales is above ₦100,000.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548640" y="9454896"/>
              <a:ext cx="21214080" cy="1280160"/>
              <a:chOff x="0" y="0"/>
              <a:chExt cx="21214080" cy="128016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1214080" cy="1280160"/>
              </a:xfrm>
              <a:custGeom>
                <a:avLst/>
                <a:gdLst/>
                <a:ahLst/>
                <a:cxnLst/>
                <a:rect r="r" b="b" t="t" l="l"/>
                <a:pathLst>
                  <a:path h="1280160" w="21214080">
                    <a:moveTo>
                      <a:pt x="0" y="0"/>
                    </a:moveTo>
                    <a:lnTo>
                      <a:pt x="21214080" y="0"/>
                    </a:lnTo>
                    <a:lnTo>
                      <a:pt x="21214080" y="1280160"/>
                    </a:lnTo>
                    <a:lnTo>
                      <a:pt x="0" y="12801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72894" r="0" b="-272894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0"/>
                <a:ext cx="21214080" cy="12801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20"/>
                  </a:lnSpc>
                </a:pPr>
                <a:r>
                  <a:rPr lang="en-US" b="true" sz="2100">
                    <a:solidFill>
                      <a:srgbClr val="00000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Time-box: 20 minutes.  </a:t>
                </a:r>
                <a:r>
                  <a:rPr lang="en-US" sz="2100">
                    <a:solidFill>
                      <a:srgbClr val="000000"/>
                    </a:solidFill>
                    <a:latin typeface="Inter"/>
                    <a:ea typeface="Inter"/>
                    <a:cs typeface="Inter"/>
                    <a:sym typeface="Inter"/>
                  </a:rPr>
                  <a:t>Try every task yourself before checking the instructor answer key.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1064240"/>
              <a:ext cx="19202400" cy="640080"/>
              <a:chOff x="0" y="0"/>
              <a:chExt cx="19202400" cy="64008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9202400" cy="640080"/>
              </a:xfrm>
              <a:custGeom>
                <a:avLst/>
                <a:gdLst/>
                <a:ahLst/>
                <a:cxnLst/>
                <a:rect r="r" b="b" t="t" l="l"/>
                <a:pathLst>
                  <a:path h="640080" w="19202400">
                    <a:moveTo>
                      <a:pt x="0" y="0"/>
                    </a:moveTo>
                    <a:lnTo>
                      <a:pt x="19202400" y="0"/>
                    </a:lnTo>
                    <a:lnTo>
                      <a:pt x="192024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34551" r="0" b="-534551"/>
                </a:stretch>
              </a:blip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0"/>
                <a:ext cx="19202400" cy="6400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70"/>
                  </a:lnSpc>
                </a:pPr>
                <a:r>
                  <a:rPr lang="en-US" sz="1725" i="true">
                    <a:solidFill>
                      <a:srgbClr val="000000"/>
                    </a:solidFill>
                    <a:latin typeface="Inter Italics"/>
                    <a:ea typeface="Inter Italics"/>
                    <a:cs typeface="Inter Italics"/>
                    <a:sym typeface="Inter Italics"/>
                  </a:rPr>
                  <a:t>Dataset and answer key: publica.academy · Lab notebook: Module_5.2_Loading_and_Inspecting_Data.ipynb</a:t>
                </a: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0">
            <a:off x="822960" y="2674620"/>
            <a:ext cx="685800" cy="685800"/>
            <a:chOff x="0" y="0"/>
            <a:chExt cx="9144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9144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6594234" y="2891107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59" id="5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710213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419508" y="4186238"/>
            <a:ext cx="457200" cy="457200"/>
            <a:chOff x="0" y="0"/>
            <a:chExt cx="609600" cy="6096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62" r="0" b="-156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00188" y="2595562"/>
            <a:ext cx="7643812" cy="91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Five key primitives:</a:t>
            </a:r>
            <a:r>
              <a:rPr lang="en-US" sz="24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string, number, boolean, null, and undefined.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0188" y="3645989"/>
            <a:ext cx="8336756" cy="91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Quotes matter:</a:t>
            </a:r>
            <a:r>
              <a:rPr lang="en-US" sz="24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Strings need them; numbers fail with them. Mixing them causes major bugs.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0188" y="4694692"/>
            <a:ext cx="8336756" cy="91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Booleans are logical:</a:t>
            </a:r>
            <a:r>
              <a:rPr lang="en-US" sz="24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Use them for true/false states, never wrap them in quotes.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0188" y="5743394"/>
            <a:ext cx="8336756" cy="91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Empty states:</a:t>
            </a:r>
            <a:r>
              <a:rPr lang="en-US" sz="24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Use null for intentional emptiness; undefined is the "missing" default.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0188" y="6792097"/>
            <a:ext cx="8336756" cy="91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The Inspection Tool:</a:t>
            </a:r>
            <a:r>
              <a:rPr lang="en-US" sz="24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Use typeof to verify data types while coding.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7250" y="2671762"/>
            <a:ext cx="371475" cy="385762"/>
            <a:chOff x="0" y="0"/>
            <a:chExt cx="495300" cy="5143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57250" y="3722189"/>
            <a:ext cx="371475" cy="385762"/>
            <a:chOff x="0" y="0"/>
            <a:chExt cx="495300" cy="5143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4770892"/>
            <a:ext cx="371475" cy="385762"/>
            <a:chOff x="0" y="0"/>
            <a:chExt cx="495300" cy="5143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57250" y="5819594"/>
            <a:ext cx="371475" cy="385762"/>
            <a:chOff x="0" y="0"/>
            <a:chExt cx="495300" cy="5143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57250" y="6868297"/>
            <a:ext cx="371475" cy="385762"/>
            <a:chOff x="0" y="0"/>
            <a:chExt cx="495300" cy="5143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251600" y="4019550"/>
            <a:ext cx="4834533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Inter"/>
                <a:ea typeface="Inter"/>
                <a:cs typeface="Inter"/>
                <a:sym typeface="Inter"/>
              </a:rPr>
              <a:t>Up Next:</a:t>
            </a:r>
          </a:p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Inter"/>
                <a:ea typeface="Inter"/>
                <a:cs typeface="Inter"/>
                <a:sym typeface="Inter"/>
              </a:rPr>
              <a:t>Arithmetic &amp; Operators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DAHTZ879HhA</dc:identifier>
  <dcterms:modified xsi:type="dcterms:W3CDTF">2011-08-01T06:04:30Z</dcterms:modified>
  <cp:revision>1</cp:revision>
  <dc:title>Module 5.2 Loading and Inspecting Data with Pandas </dc:title>
</cp:coreProperties>
</file>