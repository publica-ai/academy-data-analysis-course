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56616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E8B93F"/>
                </a:solidFill>
                <a:latin typeface="Poppins Bold"/>
              </a:rPr>
              <a:t>MODULE 1 · TOPICS 1–10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297680"/>
            <a:ext cx="14630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Poppins Bold"/>
              </a:rPr>
              <a:t>Recap: Python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943600"/>
            <a:ext cx="1417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E4F1EF"/>
                </a:solidFill>
                <a:latin typeface="Poppins"/>
              </a:rPr>
              <a:t>Everything you already know — from your first print() statement to writing your own functions.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The road you have already travelled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834640"/>
            <a:ext cx="7863840" cy="93268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07238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0A1A23"/>
                </a:solidFill>
                <a:latin typeface="Poppins"/>
              </a:rPr>
              <a:t>Introduction to 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2834640"/>
            <a:ext cx="7863840" cy="93268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04120" y="307238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0A1A23"/>
                </a:solidFill>
                <a:latin typeface="Poppins"/>
              </a:rPr>
              <a:t>Python Syntax &amp; Basics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023360"/>
            <a:ext cx="7863840" cy="93268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26110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2976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0A1A23"/>
                </a:solidFill>
                <a:latin typeface="Poppins"/>
              </a:rPr>
              <a:t>Variables &amp; Data Types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4023360"/>
            <a:ext cx="7863840" cy="93268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426110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429768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0A1A23"/>
                </a:solidFill>
                <a:latin typeface="Poppins"/>
              </a:rPr>
              <a:t>Operators &amp; Expressions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5212080"/>
            <a:ext cx="7863840" cy="93268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544982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4864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0A1A23"/>
                </a:solidFill>
                <a:latin typeface="Poppins"/>
              </a:rPr>
              <a:t>Conditional Statements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5212080"/>
            <a:ext cx="7863840" cy="93268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544982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548640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0A1A23"/>
                </a:solidFill>
                <a:latin typeface="Poppins"/>
              </a:rPr>
              <a:t>Loops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6400800"/>
            <a:ext cx="7863840" cy="93268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663854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66751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0A1A23"/>
                </a:solidFill>
                <a:latin typeface="Poppins"/>
              </a:rPr>
              <a:t>Strings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6400800"/>
            <a:ext cx="7863840" cy="93268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663854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6751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0A1A23"/>
                </a:solidFill>
                <a:latin typeface="Poppins"/>
              </a:rPr>
              <a:t>Lists &amp; Tuples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7589520"/>
            <a:ext cx="7863840" cy="93268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782726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78638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0A1A23"/>
                </a:solidFill>
                <a:latin typeface="Poppins"/>
              </a:rPr>
              <a:t>Sets &amp; Dictionaries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7589520"/>
            <a:ext cx="7863840" cy="93268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7827264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78638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0">
                <a:solidFill>
                  <a:srgbClr val="0A1A23"/>
                </a:solidFill>
                <a:latin typeface="Poppins"/>
              </a:rPr>
              <a:t>Functions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Roughly 3 hours of taught content · Topics 11–18 (error handling, modules, files, OOP) come later in Module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TOPICS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Getting started &amp; the rules of the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8229600" cy="603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Programming is</a:t>
            </a:r>
            <a:r>
              <a:rPr sz="2300">
                <a:solidFill>
                  <a:srgbClr val="334155"/>
                </a:solidFill>
                <a:latin typeface="Poppins"/>
              </a:rPr>
              <a:t> precise, step-by-step instructions — logic, not maths genius.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Python powers</a:t>
            </a:r>
            <a:r>
              <a:rPr sz="2300">
                <a:solidFill>
                  <a:srgbClr val="334155"/>
                </a:solidFill>
                <a:latin typeface="Poppins"/>
              </a:rPr>
              <a:t> web development, data science and automation.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Indentation</a:t>
            </a:r>
            <a:r>
              <a:rPr sz="2300">
                <a:solidFill>
                  <a:srgbClr val="334155"/>
                </a:solidFill>
                <a:latin typeface="Poppins"/>
              </a:rPr>
              <a:t> — 4 spaces defines a block, in place of { }.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Comments</a:t>
            </a:r>
            <a:r>
              <a:rPr sz="2300">
                <a:solidFill>
                  <a:srgbClr val="334155"/>
                </a:solidFill>
                <a:latin typeface="Poppins"/>
              </a:rPr>
              <a:t> start with # — explain the WHY, not the what.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print()</a:t>
            </a:r>
            <a:r>
              <a:rPr sz="2300">
                <a:solidFill>
                  <a:srgbClr val="334155"/>
                </a:solidFill>
                <a:latin typeface="Poppins"/>
              </a:rPr>
              <a:t> displays output; sep and end control the formatting.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input()</a:t>
            </a:r>
            <a:r>
              <a:rPr sz="2300">
                <a:solidFill>
                  <a:srgbClr val="334155"/>
                </a:solidFill>
                <a:latin typeface="Poppins"/>
              </a:rPr>
              <a:t> ALWAYS returns a string, even when you type digits.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926080"/>
            <a:ext cx="7315200" cy="576072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32136" y="3163824"/>
            <a:ext cx="6693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87F7F"/>
                </a:solidFill>
                <a:latin typeface="Poppins Bold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2136" y="3584448"/>
            <a:ext cx="669340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000">
                <a:solidFill>
                  <a:srgbClr val="387F7F"/>
                </a:solidFill>
                <a:latin typeface="Consolas"/>
              </a:rPr>
              <a:t># input() gives you text, never a number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name = input("Your name: ")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print("Hello,", name)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387F7F"/>
                </a:solidFill>
                <a:latin typeface="Consolas"/>
              </a:rPr>
              <a:t># Indentation defines the block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if name: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print("Welcome aboard!")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Errors to recognise: IndentationError · SyntaxError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TOPIC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Variables &amp; Data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8229600" cy="603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Variables</a:t>
            </a:r>
            <a:r>
              <a:rPr sz="2300">
                <a:solidFill>
                  <a:srgbClr val="334155"/>
                </a:solidFill>
                <a:latin typeface="Poppins"/>
              </a:rPr>
              <a:t> are named containers. = assigns, == compares.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snake_case</a:t>
            </a:r>
            <a:r>
              <a:rPr sz="2300">
                <a:solidFill>
                  <a:srgbClr val="334155"/>
                </a:solidFill>
                <a:latin typeface="Poppins"/>
              </a:rPr>
              <a:t> — descriptive, no spaces, no leading digits, no keywords.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int</a:t>
            </a:r>
            <a:r>
              <a:rPr sz="2300">
                <a:solidFill>
                  <a:srgbClr val="334155"/>
                </a:solidFill>
                <a:latin typeface="Poppins"/>
              </a:rPr>
              <a:t> whole numbers · float decimals · str text · bool True/False.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type()</a:t>
            </a:r>
            <a:r>
              <a:rPr sz="2300">
                <a:solidFill>
                  <a:srgbClr val="334155"/>
                </a:solidFill>
                <a:latin typeface="Poppins"/>
              </a:rPr>
              <a:t> tells you what a value actually is.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Casting</a:t>
            </a:r>
            <a:r>
              <a:rPr sz="2300">
                <a:solidFill>
                  <a:srgbClr val="334155"/>
                </a:solidFill>
                <a:latin typeface="Poppins"/>
              </a:rPr>
              <a:t> int(), float(), str() converts between types.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The core pattern</a:t>
            </a:r>
            <a:r>
              <a:rPr sz="2300">
                <a:solidFill>
                  <a:srgbClr val="334155"/>
                </a:solidFill>
                <a:latin typeface="Poppins"/>
              </a:rPr>
              <a:t> — cast input() before doing any maths.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926080"/>
            <a:ext cx="7315200" cy="576072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32136" y="3163824"/>
            <a:ext cx="6693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87F7F"/>
                </a:solidFill>
                <a:latin typeface="Poppins Bold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2136" y="3584448"/>
            <a:ext cx="669340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000">
                <a:solidFill>
                  <a:srgbClr val="387F7F"/>
                </a:solidFill>
                <a:latin typeface="Consolas"/>
              </a:rPr>
              <a:t># The single most useful pattern so far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age = int(input("Age: "))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price = 19.99      # float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active = True      # bool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print(type(age))   # &lt;class 'int'&gt;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"42" and 42 are not the same thing — one is text, one is a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TOPIC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Operators &amp; Expressions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8229600" cy="603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Arithmetic</a:t>
            </a:r>
            <a:r>
              <a:rPr sz="2100">
                <a:solidFill>
                  <a:srgbClr val="334155"/>
                </a:solidFill>
                <a:latin typeface="Poppins"/>
              </a:rPr>
              <a:t> +  -  *  /  //  %  **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/ always returns a float</a:t>
            </a:r>
            <a:r>
              <a:rPr sz="2100">
                <a:solidFill>
                  <a:srgbClr val="334155"/>
                </a:solidFill>
                <a:latin typeface="Poppins"/>
              </a:rPr>
              <a:t> — 10 / 2 gives 5.0, not 5.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// floors</a:t>
            </a:r>
            <a:r>
              <a:rPr sz="2100">
                <a:solidFill>
                  <a:srgbClr val="334155"/>
                </a:solidFill>
                <a:latin typeface="Poppins"/>
              </a:rPr>
              <a:t> and % gives the remainder (the even/odd test).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Assignment</a:t>
            </a:r>
            <a:r>
              <a:rPr sz="2100">
                <a:solidFill>
                  <a:srgbClr val="334155"/>
                </a:solidFill>
                <a:latin typeface="Poppins"/>
              </a:rPr>
              <a:t> +=  -=  *=  /=  updates a variable in place.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Comparison</a:t>
            </a:r>
            <a:r>
              <a:rPr sz="2100">
                <a:solidFill>
                  <a:srgbClr val="334155"/>
                </a:solidFill>
                <a:latin typeface="Poppins"/>
              </a:rPr>
              <a:t> ==  !=  &lt;  &gt;  &lt;=  &gt;=  always return True or False.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Logical</a:t>
            </a:r>
            <a:r>
              <a:rPr sz="2100">
                <a:solidFill>
                  <a:srgbClr val="334155"/>
                </a:solidFill>
                <a:latin typeface="Poppins"/>
              </a:rPr>
              <a:t> and (both) · or (at least one) · not (flip).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Precedence</a:t>
            </a:r>
            <a:r>
              <a:rPr sz="2100">
                <a:solidFill>
                  <a:srgbClr val="334155"/>
                </a:solidFill>
                <a:latin typeface="Poppins"/>
              </a:rPr>
              <a:t> ()  &gt;  **  &gt;  * / // %  &gt;  + -  &gt;  comparisons  &gt;  and / 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926080"/>
            <a:ext cx="7315200" cy="576072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32136" y="3163824"/>
            <a:ext cx="6693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87F7F"/>
                </a:solidFill>
                <a:latin typeface="Poppins Bold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2136" y="3584448"/>
            <a:ext cx="669340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17 / 5     # 3.4   true division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17 // 5    # 3     floor division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17 % 5     # 2     remainder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2 ** 3     # 8     power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387F7F"/>
                </a:solidFill>
                <a:latin typeface="Consolas"/>
              </a:rPr>
              <a:t># Write a full comparison on each side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if age &gt; 6 and age &lt; 60: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print("Eligible")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Trap: if x == 5 or 6 is always True — 6 on its own is truthy.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TOPIC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Control Flow: Conditional Statements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8229600" cy="603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if condition:</a:t>
            </a:r>
            <a:r>
              <a:rPr sz="2300">
                <a:solidFill>
                  <a:srgbClr val="334155"/>
                </a:solidFill>
                <a:latin typeface="Poppins"/>
              </a:rPr>
              <a:t> runs the block only when True. The colon is required.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if / else</a:t>
            </a:r>
            <a:r>
              <a:rPr sz="2300">
                <a:solidFill>
                  <a:srgbClr val="334155"/>
                </a:solidFill>
                <a:latin typeface="Poppins"/>
              </a:rPr>
              <a:t> gives exactly two paths — one always runs.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if / elif / else</a:t>
            </a:r>
            <a:r>
              <a:rPr sz="2300">
                <a:solidFill>
                  <a:srgbClr val="334155"/>
                </a:solidFill>
                <a:latin typeface="Poppins"/>
              </a:rPr>
              <a:t> — the first matching condition wins.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Use elif</a:t>
            </a:r>
            <a:r>
              <a:rPr sz="2300">
                <a:solidFill>
                  <a:srgbClr val="334155"/>
                </a:solidFill>
                <a:latin typeface="Poppins"/>
              </a:rPr>
              <a:t> rather than stacked ifs for exclusive cases.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Falsy values:</a:t>
            </a:r>
            <a:r>
              <a:rPr sz="2300">
                <a:solidFill>
                  <a:srgbClr val="334155"/>
                </a:solidFill>
                <a:latin typeface="Poppins"/>
              </a:rPr>
              <a:t> 0, "", [], {}, None. Everything else is truthy.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So</a:t>
            </a:r>
            <a:r>
              <a:rPr sz="2300">
                <a:solidFill>
                  <a:srgbClr val="334155"/>
                </a:solidFill>
                <a:latin typeface="Poppins"/>
              </a:rPr>
              <a:t> if my_list: reads better than if len(my_list) &gt; 0: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926080"/>
            <a:ext cx="7315200" cy="576072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32136" y="3163824"/>
            <a:ext cx="6693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87F7F"/>
                </a:solidFill>
                <a:latin typeface="Poppins Bold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2136" y="3584448"/>
            <a:ext cx="669340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if score &gt;= 90: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grade = "A"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elif score &gt;= 80: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grade = "B"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else: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grade = "F"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if name:          # truthy check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print("Hello,", name)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The colon and the 4-space indent are not optional.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TOPIC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Control Flow: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8229600" cy="603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while condition:</a:t>
            </a:r>
            <a:r>
              <a:rPr sz="2100">
                <a:solidFill>
                  <a:srgbClr val="334155"/>
                </a:solidFill>
                <a:latin typeface="Poppins"/>
              </a:rPr>
              <a:t> repeats while True — use when the count is unknown.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You must update</a:t>
            </a:r>
            <a:r>
              <a:rPr sz="2100">
                <a:solidFill>
                  <a:srgbClr val="334155"/>
                </a:solidFill>
                <a:latin typeface="Poppins"/>
              </a:rPr>
              <a:t> the loop variable, or you create an infinite loop.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for item in sequence:</a:t>
            </a:r>
            <a:r>
              <a:rPr sz="2100">
                <a:solidFill>
                  <a:srgbClr val="334155"/>
                </a:solidFill>
                <a:latin typeface="Poppins"/>
              </a:rPr>
              <a:t> runs once per item — cleaner for known sequences.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range(stop)</a:t>
            </a:r>
            <a:r>
              <a:rPr sz="2100">
                <a:solidFill>
                  <a:srgbClr val="334155"/>
                </a:solidFill>
                <a:latin typeface="Poppins"/>
              </a:rPr>
              <a:t> , range(start, stop), range(start, stop, step).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stop is EXCLUSIVE</a:t>
            </a:r>
            <a:r>
              <a:rPr sz="2100">
                <a:solidFill>
                  <a:srgbClr val="334155"/>
                </a:solidFill>
                <a:latin typeface="Poppins"/>
              </a:rPr>
              <a:t> — range(10) gives 0–9, not 0–10.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break</a:t>
            </a:r>
            <a:r>
              <a:rPr sz="2100">
                <a:solidFill>
                  <a:srgbClr val="334155"/>
                </a:solidFill>
                <a:latin typeface="Poppins"/>
              </a:rPr>
              <a:t> exits the loop · continue skips to the next iteration.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enumerate()</a:t>
            </a:r>
            <a:r>
              <a:rPr sz="2100">
                <a:solidFill>
                  <a:srgbClr val="334155"/>
                </a:solidFill>
                <a:latin typeface="Poppins"/>
              </a:rPr>
              <a:t> gives you the index and the value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926080"/>
            <a:ext cx="7315200" cy="576072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32136" y="3163824"/>
            <a:ext cx="6693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87F7F"/>
                </a:solidFill>
                <a:latin typeface="Poppins Bold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2136" y="3584448"/>
            <a:ext cx="669340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for i in range(1, 6):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print(i)          # 1 2 3 4 5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count = 1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while count &lt;= 5: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print(count)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count += 1        # critical!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for i, item in enumerate(items):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print(i, item)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The most common loop bug: forgetting count += 1 inside a while.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TOPIC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Strings in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8229600" cy="603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Indexing</a:t>
            </a:r>
            <a:r>
              <a:rPr sz="2300">
                <a:solidFill>
                  <a:srgbClr val="334155"/>
                </a:solidFill>
                <a:latin typeface="Poppins"/>
              </a:rPr>
              <a:t> s[0] is first, s[-1] is last — zero-based.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Slicing</a:t>
            </a:r>
            <a:r>
              <a:rPr sz="2300">
                <a:solidFill>
                  <a:srgbClr val="334155"/>
                </a:solidFill>
                <a:latin typeface="Poppins"/>
              </a:rPr>
              <a:t> s[start:stop:step] — stop excluded; s[::-1] reverses.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Strings are immutable</a:t>
            </a:r>
            <a:r>
              <a:rPr sz="2300">
                <a:solidFill>
                  <a:srgbClr val="334155"/>
                </a:solidFill>
                <a:latin typeface="Poppins"/>
              </a:rPr>
              <a:t> — you cannot change one in place.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So always reassign</a:t>
            </a:r>
            <a:r>
              <a:rPr sz="2300">
                <a:solidFill>
                  <a:srgbClr val="334155"/>
                </a:solidFill>
                <a:latin typeface="Poppins"/>
              </a:rPr>
              <a:t> — text = text.strip(), never text.strip() alone.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Key methods</a:t>
            </a:r>
            <a:r>
              <a:rPr sz="2300">
                <a:solidFill>
                  <a:srgbClr val="334155"/>
                </a:solidFill>
                <a:latin typeface="Poppins"/>
              </a:rPr>
              <a:t> .lower() .upper() .strip() .replace() .split() .join() .find() .count()</a:t>
            </a:r>
          </a:p>
          <a:p>
            <a:pPr>
              <a:spcAft>
                <a:spcPts val="2600"/>
              </a:spcAft>
            </a:pPr>
            <a:r>
              <a:rPr sz="2300" b="1">
                <a:solidFill>
                  <a:srgbClr val="0A1A23"/>
                </a:solidFill>
                <a:latin typeface="Poppins Bold"/>
              </a:rPr>
              <a:t>› f-strings</a:t>
            </a:r>
            <a:r>
              <a:rPr sz="2300">
                <a:solidFill>
                  <a:srgbClr val="334155"/>
                </a:solidFill>
                <a:latin typeface="Poppins"/>
              </a:rPr>
              <a:t> f"{name} scored {score:.2f}" — the modern way to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926080"/>
            <a:ext cx="7315200" cy="576072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32136" y="3163824"/>
            <a:ext cx="6693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87F7F"/>
                </a:solidFill>
                <a:latin typeface="Poppins Bold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2136" y="3584448"/>
            <a:ext cx="669340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text = "  Data Science  "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clean = text.strip().lower()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words = "a b c".split()   # ['a','b','c']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"-".join(words)           # 'a-b-c'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print(f"{clean} has {len(clean)} chars")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text.strip() on its own changes nothing — the result must be captured.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TOPIC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Data Structures: Lists &amp; Tuples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8229600" cy="603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List [a, b, c]</a:t>
            </a:r>
            <a:r>
              <a:rPr sz="2100">
                <a:solidFill>
                  <a:srgbClr val="334155"/>
                </a:solidFill>
                <a:latin typeface="Poppins"/>
              </a:rPr>
              <a:t> — mutable, ordered, zero-indexed.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Add</a:t>
            </a:r>
            <a:r>
              <a:rPr sz="2100">
                <a:solidFill>
                  <a:srgbClr val="334155"/>
                </a:solidFill>
                <a:latin typeface="Poppins"/>
              </a:rPr>
              <a:t> .append(v) at the end · .insert(i, v) at a position.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Remove</a:t>
            </a:r>
            <a:r>
              <a:rPr sz="2100">
                <a:solidFill>
                  <a:srgbClr val="334155"/>
                </a:solidFill>
                <a:latin typeface="Poppins"/>
              </a:rPr>
              <a:t> .pop(i) takes an INDEX · .remove(v) takes a VALUE.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Also</a:t>
            </a:r>
            <a:r>
              <a:rPr sz="2100">
                <a:solidFill>
                  <a:srgbClr val="334155"/>
                </a:solidFill>
                <a:latin typeface="Poppins"/>
              </a:rPr>
              <a:t> .sort(), len(), sum(), max(), min(), and in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Tuple (a, b, c)</a:t>
            </a:r>
            <a:r>
              <a:rPr sz="2100">
                <a:solidFill>
                  <a:srgbClr val="334155"/>
                </a:solidFill>
                <a:latin typeface="Poppins"/>
              </a:rPr>
              <a:t> — immutable and ordered; for fixed data.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A one-item tuple</a:t>
            </a:r>
            <a:r>
              <a:rPr sz="2100">
                <a:solidFill>
                  <a:srgbClr val="334155"/>
                </a:solidFill>
                <a:latin typeface="Poppins"/>
              </a:rPr>
              <a:t> needs the comma: (x,)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Unpacking</a:t>
            </a:r>
            <a:r>
              <a:rPr sz="2100">
                <a:solidFill>
                  <a:srgbClr val="334155"/>
                </a:solidFill>
                <a:latin typeface="Poppins"/>
              </a:rPr>
              <a:t> name, age, course = 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926080"/>
            <a:ext cx="7315200" cy="576072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32136" y="3163824"/>
            <a:ext cx="6693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87F7F"/>
                </a:solidFill>
                <a:latin typeface="Poppins Bold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2136" y="3584448"/>
            <a:ext cx="669340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scores = [82, 91, 74]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scores.append(88)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scores.sort()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print(max(scores), sum(scores))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387F7F"/>
                </a:solidFill>
                <a:latin typeface="Consolas"/>
              </a:rPr>
              <a:t># Tuples cannot be changed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point = (10, 20)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x, y = point      # unpacking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Mixing up .pop() and .remove() is the classic list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TOPIC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Data Structures: Sets &amp; Dictionaries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8229600" cy="603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Set {a, b, c}</a:t>
            </a:r>
            <a:r>
              <a:rPr sz="2100">
                <a:solidFill>
                  <a:srgbClr val="334155"/>
                </a:solidFill>
                <a:latin typeface="Poppins"/>
              </a:rPr>
              <a:t> — unique and unordered; duplicates disappear.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set()</a:t>
            </a:r>
            <a:r>
              <a:rPr sz="2100">
                <a:solidFill>
                  <a:srgbClr val="334155"/>
                </a:solidFill>
                <a:latin typeface="Poppins"/>
              </a:rPr>
              <a:t> creates an empty set — {} creates a dictionary!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Set operations</a:t>
            </a:r>
            <a:r>
              <a:rPr sz="2100">
                <a:solidFill>
                  <a:srgbClr val="334155"/>
                </a:solidFill>
                <a:latin typeface="Poppins"/>
              </a:rPr>
              <a:t> | union · &amp; intersection · - difference · ^ symmetric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Dictionary</a:t>
            </a:r>
            <a:r>
              <a:rPr sz="2100">
                <a:solidFill>
                  <a:srgbClr val="334155"/>
                </a:solidFill>
                <a:latin typeface="Poppins"/>
              </a:rPr>
              <a:t> {"key": value} — labelled records, accessed by key.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d[key] = v</a:t>
            </a:r>
            <a:r>
              <a:rPr sz="2100">
                <a:solidFill>
                  <a:srgbClr val="334155"/>
                </a:solidFill>
                <a:latin typeface="Poppins"/>
              </a:rPr>
              <a:t> adds or updates · .get(key) is the safe read.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Iterate with</a:t>
            </a:r>
            <a:r>
              <a:rPr sz="2100">
                <a:solidFill>
                  <a:srgbClr val="334155"/>
                </a:solidFill>
                <a:latin typeface="Poppins"/>
              </a:rPr>
              <a:t> .keys(), .values(), .items()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Careful:</a:t>
            </a:r>
            <a:r>
              <a:rPr sz="2100">
                <a:solidFill>
                  <a:srgbClr val="334155"/>
                </a:solidFill>
                <a:latin typeface="Poppins"/>
              </a:rPr>
              <a:t> for x in d gives you the KEYS, not the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926080"/>
            <a:ext cx="7315200" cy="576072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32136" y="3163824"/>
            <a:ext cx="6693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87F7F"/>
                </a:solidFill>
                <a:latin typeface="Poppins Bold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2136" y="3584448"/>
            <a:ext cx="669340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000">
                <a:solidFill>
                  <a:srgbClr val="387F7F"/>
                </a:solidFill>
                <a:latin typeface="Consolas"/>
              </a:rPr>
              <a:t># Sets remove duplicates instantly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unique = set([1, 2, 2, 3])   # {1, 2, 3}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student = {"name": "Ada", "age": 22}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student["city"] = "Abuja"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for key, value in student.items():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print(key, ":", value)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A dictionary is the closest thing yet to one row of a spreadsheet.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TOPIC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8229600" cy="603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def name():</a:t>
            </a:r>
            <a:r>
              <a:rPr sz="2100">
                <a:solidFill>
                  <a:srgbClr val="334155"/>
                </a:solidFill>
                <a:latin typeface="Poppins"/>
              </a:rPr>
              <a:t> defines it — nothing runs until you call it.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name()</a:t>
            </a:r>
            <a:r>
              <a:rPr sz="2100">
                <a:solidFill>
                  <a:srgbClr val="334155"/>
                </a:solidFill>
                <a:latin typeface="Poppins"/>
              </a:rPr>
              <a:t> calls it. Without the (), you only print the function object.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Parameters</a:t>
            </a:r>
            <a:r>
              <a:rPr sz="2100">
                <a:solidFill>
                  <a:srgbClr val="334155"/>
                </a:solidFill>
                <a:latin typeface="Poppins"/>
              </a:rPr>
              <a:t> live in the definition; arguments are the values you pass.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return</a:t>
            </a:r>
            <a:r>
              <a:rPr sz="2100">
                <a:solidFill>
                  <a:srgbClr val="334155"/>
                </a:solidFill>
                <a:latin typeface="Poppins"/>
              </a:rPr>
              <a:t> sends a value back so it can be used or stored.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No return</a:t>
            </a:r>
            <a:r>
              <a:rPr sz="2100">
                <a:solidFill>
                  <a:srgbClr val="334155"/>
                </a:solidFill>
                <a:latin typeface="Poppins"/>
              </a:rPr>
              <a:t> means the function gives back None.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Default arguments</a:t>
            </a:r>
            <a:r>
              <a:rPr sz="2100">
                <a:solidFill>
                  <a:srgbClr val="334155"/>
                </a:solidFill>
                <a:latin typeface="Poppins"/>
              </a:rPr>
              <a:t> def f(x, y=10): — defaults must come last.</a:t>
            </a:r>
          </a:p>
          <a:p>
            <a:pPr>
              <a:spcAft>
                <a:spcPts val="190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› Scope</a:t>
            </a:r>
            <a:r>
              <a:rPr sz="2100">
                <a:solidFill>
                  <a:srgbClr val="334155"/>
                </a:solidFill>
                <a:latin typeface="Poppins"/>
              </a:rPr>
              <a:t> — locals live only inside; prefer parameters over global.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2926080"/>
            <a:ext cx="7315200" cy="576072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32136" y="3163824"/>
            <a:ext cx="6693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87F7F"/>
                </a:solidFill>
                <a:latin typeface="Poppins Bold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2136" y="3584448"/>
            <a:ext cx="6693408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def average(numbers):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return sum(numbers) / len(numbers)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print(average([82, 91, 74]))   # 82.33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def greet(name, greeting="Hello"):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   return f"{greeting}, {name}!"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>
                <a:solidFill>
                  <a:srgbClr val="0A1A23"/>
                </a:solidFill>
                <a:latin typeface="Consolas"/>
              </a:rPr>
              <a:t>greet("Ada")                   # uses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return vs print: print shows a value, return hands it back to you.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WATCH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The seven mistakes that cost the most 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880360"/>
            <a:ext cx="16184880" cy="859536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10896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E74C3C"/>
                </a:solidFill>
                <a:latin typeface="Poppins Bold"/>
              </a:rPr>
              <a:t>Missing colon or wrong indent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310896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0A1A23"/>
                </a:solidFill>
                <a:latin typeface="Poppins"/>
              </a:rPr>
              <a:t>IndentationError / SyntaxError — four spaces, always.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840480"/>
            <a:ext cx="16184880" cy="859536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06908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E74C3C"/>
                </a:solidFill>
                <a:latin typeface="Poppins Bold"/>
              </a:rPr>
              <a:t>Treating input() as a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406908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0A1A23"/>
                </a:solidFill>
                <a:latin typeface="Poppins"/>
              </a:rPr>
              <a:t>Cast it: int(input(...)) or float(input(...)).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800600"/>
            <a:ext cx="16184880" cy="859536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0292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E74C3C"/>
                </a:solidFill>
                <a:latin typeface="Poppins Bold"/>
              </a:rPr>
              <a:t>Using = instead of ==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02920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0A1A23"/>
                </a:solidFill>
                <a:latin typeface="Poppins"/>
              </a:rPr>
              <a:t>= assigns a value, == compares two values.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760720"/>
            <a:ext cx="16184880" cy="859536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598932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E74C3C"/>
                </a:solidFill>
                <a:latin typeface="Poppins Bold"/>
              </a:rPr>
              <a:t>Assuming range(10) is 1–10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98932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0A1A23"/>
                </a:solidFill>
                <a:latin typeface="Poppins"/>
              </a:rPr>
              <a:t>It is 0–9. The stop value is always excluded.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6720840"/>
            <a:ext cx="16184880" cy="859536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694944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E74C3C"/>
                </a:solidFill>
                <a:latin typeface="Poppins Bold"/>
              </a:rPr>
              <a:t>Swapping .pop() and .remove()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694944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0A1A23"/>
                </a:solidFill>
                <a:latin typeface="Poppins"/>
              </a:rPr>
              <a:t>.pop() takes an index, .remove() takes a value.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7680960"/>
            <a:ext cx="16184880" cy="859536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790956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E74C3C"/>
                </a:solidFill>
                <a:latin typeface="Poppins Bold"/>
              </a:rPr>
              <a:t>Calling a function without 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790956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0A1A23"/>
                </a:solidFill>
                <a:latin typeface="Poppins"/>
              </a:rPr>
              <a:t>average shows the object; average(x) runs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8641080"/>
            <a:ext cx="16184880" cy="859536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886968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E74C3C"/>
                </a:solidFill>
                <a:latin typeface="Poppins Bold"/>
              </a:rPr>
              <a:t>Not reassigning a string method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886968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0A1A23"/>
                </a:solidFill>
                <a:latin typeface="Poppins"/>
              </a:rPr>
              <a:t>text.strip() is lost unless you capture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IMPORTANT FOR THIS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What has NOT been covered yet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1618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0">
                <a:solidFill>
                  <a:srgbClr val="0A1A23"/>
                </a:solidFill>
                <a:latin typeface="Poppins"/>
              </a:rPr>
              <a:t>Topics 11–18 sit AFTER Functions in Module 1. Do not assume these are known: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657600"/>
            <a:ext cx="16184880" cy="914400"/>
          </a:xfrm>
          <a:prstGeom prst="roundRect">
            <a:avLst>
              <a:gd name="adj" fmla="val 4000"/>
            </a:avLst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89534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E74C3C"/>
                </a:solidFill>
                <a:latin typeface="Poppins Bold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9534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Error Handling &amp; Debugging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389534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334155"/>
                </a:solidFill>
                <a:latin typeface="Poppins"/>
              </a:rPr>
              <a:t>try / except has not been taught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663440"/>
            <a:ext cx="16184880" cy="914400"/>
          </a:xfrm>
          <a:prstGeom prst="roundRect">
            <a:avLst>
              <a:gd name="adj" fmla="val 4000"/>
            </a:avLst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490118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E74C3C"/>
                </a:solidFill>
                <a:latin typeface="Poppins Bold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90118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Modules &amp; 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490118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334155"/>
                </a:solidFill>
                <a:latin typeface="Poppins"/>
              </a:rPr>
              <a:t>import has not been formally taught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669280"/>
            <a:ext cx="16184880" cy="914400"/>
          </a:xfrm>
          <a:prstGeom prst="roundRect">
            <a:avLst>
              <a:gd name="adj" fmla="val 4000"/>
            </a:avLst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590702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E74C3C"/>
                </a:solidFill>
                <a:latin typeface="Poppins Bold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90702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File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590702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334155"/>
                </a:solidFill>
                <a:latin typeface="Poppins"/>
              </a:rPr>
              <a:t>open(), reading and writing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6675120"/>
            <a:ext cx="16184880" cy="914400"/>
          </a:xfrm>
          <a:prstGeom prst="roundRect">
            <a:avLst>
              <a:gd name="adj" fmla="val 4000"/>
            </a:avLst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691286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E74C3C"/>
                </a:solidFill>
                <a:latin typeface="Poppins Bold"/>
              </a:rPr>
              <a:t>14–15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691286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OOP Basics &amp; Core Concepts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691286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334155"/>
                </a:solidFill>
                <a:latin typeface="Poppins"/>
              </a:rPr>
              <a:t>classes, objects, inheritance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7680960"/>
            <a:ext cx="16184880" cy="914400"/>
          </a:xfrm>
          <a:prstGeom prst="roundRect">
            <a:avLst>
              <a:gd name="adj" fmla="val 4000"/>
            </a:avLst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791870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E74C3C"/>
                </a:solidFill>
                <a:latin typeface="Poppins Bold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791870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0A1A23"/>
                </a:solidFill>
                <a:latin typeface="Poppins Bold"/>
              </a:rPr>
              <a:t>External Libraries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791870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334155"/>
                </a:solidFill>
                <a:latin typeface="Poppins"/>
              </a:rPr>
              <a:t>pip and third-party packages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8869680"/>
            <a:ext cx="1618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387F7F"/>
                </a:solidFill>
                <a:latin typeface="Poppins Bold"/>
              </a:rPr>
              <a:t>→ Introduce import explicitly today, before we reach pandas — for most trainees this is genuinely new.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WHERE THIS IS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From fundamentals to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017520"/>
            <a:ext cx="6400800" cy="91440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26440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387F7F"/>
                </a:solidFill>
                <a:latin typeface="Poppins Bold"/>
              </a:rPr>
              <a:t>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2461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E8B93F"/>
                </a:solidFill>
                <a:latin typeface="Poppins Bold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264408"/>
            <a:ext cx="7955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a column of values — a pandas Series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041648"/>
            <a:ext cx="6400800" cy="91440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28853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387F7F"/>
                </a:solidFill>
                <a:latin typeface="Poppins Bold"/>
              </a:rPr>
              <a:t>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270248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E8B93F"/>
                </a:solidFill>
                <a:latin typeface="Poppins Bold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4288536"/>
            <a:ext cx="7955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one record — a single row of a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065776"/>
            <a:ext cx="6400800" cy="91440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531266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387F7F"/>
                </a:solidFill>
                <a:latin typeface="Poppins Bold"/>
              </a:rPr>
              <a:t>list of dictionaries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29437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E8B93F"/>
                </a:solidFill>
                <a:latin typeface="Poppins Bold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312664"/>
            <a:ext cx="7955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a whole table — a DataFrame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6089904"/>
            <a:ext cx="6400800" cy="91440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633679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387F7F"/>
                </a:solidFill>
                <a:latin typeface="Poppins Bold"/>
              </a:rPr>
              <a:t>for loop + 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631850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E8B93F"/>
                </a:solidFill>
                <a:latin typeface="Poppins Bol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6336792"/>
            <a:ext cx="7955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filtering rows by a condition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7114032"/>
            <a:ext cx="6400800" cy="91440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73609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387F7F"/>
                </a:solidFill>
                <a:latin typeface="Poppins Bold"/>
              </a:rPr>
              <a:t>function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734263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E8B93F"/>
                </a:solidFill>
                <a:latin typeface="Poppins Bold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7360920"/>
            <a:ext cx="7955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a reusable transformation over a dataset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8138160"/>
            <a:ext cx="6400800" cy="914400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83850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387F7F"/>
                </a:solidFill>
                <a:latin typeface="Poppins Bold"/>
              </a:rPr>
              <a:t>f-string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83667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E8B93F"/>
                </a:solidFill>
                <a:latin typeface="Poppins Bold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8385048"/>
            <a:ext cx="7955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formatted, readable reporting of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Everything from Topics 1–10 still applies — pandas simply does it at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38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777240"/>
            <a:ext cx="16184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387F7F"/>
                </a:solidFill>
                <a:latin typeface="Poppins Bold"/>
              </a:rPr>
              <a:t>TWO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07008"/>
            <a:ext cx="1618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0A1A23"/>
                </a:solidFill>
                <a:latin typeface="Poppins Bold"/>
              </a:rPr>
              <a:t>Quick self-check before we begin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2048256"/>
            <a:ext cx="1828800" cy="50292"/>
          </a:xfrm>
          <a:prstGeom prst="rect">
            <a:avLst/>
          </a:prstGeom>
          <a:solidFill>
            <a:srgbClr val="E8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017520"/>
            <a:ext cx="16184880" cy="102412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329184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310128"/>
            <a:ext cx="1399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What does input() return when the user types 25 — the number 25, or the text "25"?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151376"/>
            <a:ext cx="16184880" cy="102412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4425696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4443984"/>
            <a:ext cx="1399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How many numbers does range(1, 10) produce, and what is the last one?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285232"/>
            <a:ext cx="16184880" cy="102412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5559552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577840"/>
            <a:ext cx="1399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What is the difference between .pop() and .remove() on a list?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6419088"/>
            <a:ext cx="16184880" cy="102412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6693408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6711696"/>
            <a:ext cx="1399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Why does text.strip() on its own leave text unchanged?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7552944"/>
            <a:ext cx="16184880" cy="1024128"/>
          </a:xfrm>
          <a:prstGeom prst="roundRect">
            <a:avLst>
              <a:gd name="adj" fmla="val 4000"/>
            </a:avLst>
          </a:prstGeom>
          <a:solidFill>
            <a:srgbClr val="E4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7827264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387F7F"/>
                </a:solidFill>
                <a:latin typeface="Poppins 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7845552"/>
            <a:ext cx="1399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0A1A23"/>
                </a:solidFill>
                <a:latin typeface="Poppins"/>
              </a:rPr>
              <a:t>What does a function return when it has no return statement?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9555480"/>
            <a:ext cx="1618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Poppins"/>
              </a:rPr>
              <a:t>Answers: the text "25" · nine numbers, last is 9 · index vs value · strings are immutable · None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