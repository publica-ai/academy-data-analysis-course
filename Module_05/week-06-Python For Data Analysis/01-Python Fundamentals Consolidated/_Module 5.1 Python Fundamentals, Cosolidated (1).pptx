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Inter" charset="1" panose="02000503000000020004"/>
      <p:regular r:id="rId24"/>
    </p:embeddedFont>
    <p:embeddedFont>
      <p:font typeface="Inter Bold" charset="1" panose="02000503000000020004"/>
      <p:regular r:id="rId25"/>
    </p:embeddedFont>
    <p:embeddedFont>
      <p:font typeface="Poppins Bold" charset="1" panose="00000800000000000000"/>
      <p:regular r:id="rId26"/>
    </p:embeddedFont>
    <p:embeddedFont>
      <p:font typeface="Poppins" charset="1" panose="00000500000000000000"/>
      <p:regular r:id="rId30"/>
    </p:embeddedFont>
    <p:embeddedFont>
      <p:font typeface="Consolas" charset="1" panose="020B0609020204030204"/>
      <p:regular r:id="rId32"/>
    </p:embeddedFont>
    <p:embeddedFont>
      <p:font typeface="Poppins Italics" charset="1" panose="0000050000000000000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Masters/notesMaster1.xml" Type="http://schemas.openxmlformats.org/officeDocument/2006/relationships/notesMaster"/><Relationship Id="rId28" Target="theme/theme2.xml" Type="http://schemas.openxmlformats.org/officeDocument/2006/relationships/theme"/><Relationship Id="rId29" Target="notesSlides/notesSlide1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notesSlides/notesSlide3.xml" Type="http://schemas.openxmlformats.org/officeDocument/2006/relationships/notesSlide"/><Relationship Id="rId35" Target="notesSlides/notesSlide4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7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9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7.pn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7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4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9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0.png" Type="http://schemas.openxmlformats.org/officeDocument/2006/relationships/image"/><Relationship Id="rId12" Target="../media/image20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7.png" Type="http://schemas.openxmlformats.org/officeDocument/2006/relationships/image"/><Relationship Id="rId9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430000" y="0"/>
            <a:ext cx="2286000" cy="1907572"/>
            <a:chOff x="0" y="0"/>
            <a:chExt cx="3048000" cy="254342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40" r="0" b="-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6429375"/>
            <a:ext cx="1907572" cy="1286066"/>
            <a:chOff x="0" y="0"/>
            <a:chExt cx="2543429" cy="17147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8" t="0" r="-14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43000" y="2944759"/>
            <a:ext cx="16002000" cy="323098"/>
            <a:chOff x="0" y="0"/>
            <a:chExt cx="21336000" cy="43079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36000" cy="430784"/>
            </a:xfrm>
            <a:custGeom>
              <a:avLst/>
              <a:gdLst/>
              <a:ahLst/>
              <a:cxnLst/>
              <a:rect r="r" b="b" t="t" l="l"/>
              <a:pathLst>
                <a:path h="43078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14386" r="0" b="-91439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8700" y="2828906"/>
            <a:ext cx="16002000" cy="438950"/>
            <a:chOff x="0" y="0"/>
            <a:chExt cx="21336000" cy="5852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336000" cy="585267"/>
            </a:xfrm>
            <a:custGeom>
              <a:avLst/>
              <a:gdLst/>
              <a:ahLst/>
              <a:cxnLst/>
              <a:rect r="r" b="b" t="t" l="l"/>
              <a:pathLst>
                <a:path h="585267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67"/>
                  </a:lnTo>
                  <a:lnTo>
                    <a:pt x="0" y="58526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73526" r="0" b="-64713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DATA ANALYSIS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43000" y="3349571"/>
            <a:ext cx="16002000" cy="691134"/>
            <a:chOff x="0" y="0"/>
            <a:chExt cx="21336000" cy="9215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336000" cy="921512"/>
            </a:xfrm>
            <a:custGeom>
              <a:avLst/>
              <a:gdLst/>
              <a:ahLst/>
              <a:cxnLst/>
              <a:rect r="r" b="b" t="t" l="l"/>
              <a:pathLst>
                <a:path h="921512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0828" r="0" b="-40082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28700" y="3349571"/>
            <a:ext cx="8553218" cy="698283"/>
            <a:chOff x="0" y="0"/>
            <a:chExt cx="11404290" cy="93104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04291" cy="931038"/>
            </a:xfrm>
            <a:custGeom>
              <a:avLst/>
              <a:gdLst/>
              <a:ahLst/>
              <a:cxnLst/>
              <a:rect r="r" b="b" t="t" l="l"/>
              <a:pathLst>
                <a:path h="931038" w="11404291">
                  <a:moveTo>
                    <a:pt x="0" y="0"/>
                  </a:moveTo>
                  <a:lnTo>
                    <a:pt x="11404291" y="0"/>
                  </a:lnTo>
                  <a:lnTo>
                    <a:pt x="11404291" y="931038"/>
                  </a:lnTo>
                  <a:lnTo>
                    <a:pt x="0" y="93103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96525" r="-87087" b="-39652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1404290" cy="9405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64748B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Module 5:  Python For Data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43000" y="8572500"/>
            <a:ext cx="16002000" cy="28766"/>
            <a:chOff x="0" y="0"/>
            <a:chExt cx="21336000" cy="383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8700" y="8981323"/>
            <a:ext cx="385667" cy="342900"/>
            <a:chOff x="0" y="0"/>
            <a:chExt cx="514223" cy="457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" t="0" r="-1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7754" cy="430784"/>
            </a:xfrm>
            <a:custGeom>
              <a:avLst/>
              <a:gdLst/>
              <a:ahLst/>
              <a:cxnLst/>
              <a:rect r="r" b="b" t="t" l="l"/>
              <a:pathLst>
                <a:path h="430784" w="2857754">
                  <a:moveTo>
                    <a:pt x="0" y="0"/>
                  </a:moveTo>
                  <a:lnTo>
                    <a:pt x="2857754" y="0"/>
                  </a:lnTo>
                  <a:lnTo>
                    <a:pt x="2857754" y="430784"/>
                  </a:lnTo>
                  <a:lnTo>
                    <a:pt x="0" y="4307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9171" r="-1" b="-7917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643062" y="9001125"/>
            <a:ext cx="2143354" cy="323098"/>
            <a:chOff x="0" y="0"/>
            <a:chExt cx="2857805" cy="4307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57805" cy="430797"/>
            </a:xfrm>
            <a:custGeom>
              <a:avLst/>
              <a:gdLst/>
              <a:ahLst/>
              <a:cxnLst/>
              <a:rect r="r" b="b" t="t" l="l"/>
              <a:pathLst>
                <a:path h="430797" w="2857805">
                  <a:moveTo>
                    <a:pt x="0" y="0"/>
                  </a:moveTo>
                  <a:lnTo>
                    <a:pt x="2857805" y="0"/>
                  </a:lnTo>
                  <a:lnTo>
                    <a:pt x="2857805" y="430797"/>
                  </a:lnTo>
                  <a:lnTo>
                    <a:pt x="0" y="43079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79259" r="0" b="-7925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857805" cy="430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1 of 4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28700" y="583054"/>
            <a:ext cx="2124666" cy="1845802"/>
            <a:chOff x="0" y="0"/>
            <a:chExt cx="2832887" cy="24610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32862" cy="2461133"/>
            </a:xfrm>
            <a:custGeom>
              <a:avLst/>
              <a:gdLst/>
              <a:ahLst/>
              <a:cxnLst/>
              <a:rect r="r" b="b" t="t" l="l"/>
              <a:pathLst>
                <a:path h="2461133" w="2832862">
                  <a:moveTo>
                    <a:pt x="0" y="0"/>
                  </a:moveTo>
                  <a:lnTo>
                    <a:pt x="2832862" y="0"/>
                  </a:lnTo>
                  <a:lnTo>
                    <a:pt x="2832862" y="2461133"/>
                  </a:lnTo>
                  <a:lnTo>
                    <a:pt x="0" y="24611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51" r="0" b="-4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28700" y="3916880"/>
            <a:ext cx="8001000" cy="387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00"/>
              </a:lnSpc>
            </a:pPr>
            <a:r>
              <a:rPr lang="en-US" sz="8000" b="true">
                <a:solidFill>
                  <a:srgbClr val="388080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Fundamentals,</a:t>
            </a: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Co</a:t>
            </a:r>
            <a:r>
              <a:rPr lang="en-US" sz="8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nsolidated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1121338" y="2143125"/>
            <a:ext cx="6137962" cy="5700886"/>
            <a:chOff x="0" y="0"/>
            <a:chExt cx="9571580" cy="88900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571580" cy="8890000"/>
            </a:xfrm>
            <a:custGeom>
              <a:avLst/>
              <a:gdLst/>
              <a:ahLst/>
              <a:cxnLst/>
              <a:rect r="r" b="b" t="t" l="l"/>
              <a:pathLst>
                <a:path h="8890000" w="9571580">
                  <a:moveTo>
                    <a:pt x="275913" y="0"/>
                  </a:moveTo>
                  <a:lnTo>
                    <a:pt x="9295667" y="0"/>
                  </a:lnTo>
                  <a:cubicBezTo>
                    <a:pt x="9448050" y="0"/>
                    <a:pt x="9571580" y="123531"/>
                    <a:pt x="9571580" y="275913"/>
                  </a:cubicBezTo>
                  <a:lnTo>
                    <a:pt x="9571580" y="8614087"/>
                  </a:lnTo>
                  <a:cubicBezTo>
                    <a:pt x="9571580" y="8766470"/>
                    <a:pt x="9448050" y="8890000"/>
                    <a:pt x="9295667" y="8890000"/>
                  </a:cubicBezTo>
                  <a:lnTo>
                    <a:pt x="275913" y="8890000"/>
                  </a:lnTo>
                  <a:cubicBezTo>
                    <a:pt x="123531" y="8890000"/>
                    <a:pt x="0" y="8766470"/>
                    <a:pt x="0" y="8614087"/>
                  </a:cubicBezTo>
                  <a:lnTo>
                    <a:pt x="0" y="275913"/>
                  </a:lnTo>
                  <a:cubicBezTo>
                    <a:pt x="0" y="123531"/>
                    <a:pt x="123531" y="0"/>
                    <a:pt x="275913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3833" r="0" b="-383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000" y="857250"/>
            <a:ext cx="142875" cy="742950"/>
            <a:chOff x="0" y="0"/>
            <a:chExt cx="190500" cy="990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0500" cy="990600"/>
            </a:xfrm>
            <a:custGeom>
              <a:avLst/>
              <a:gdLst/>
              <a:ahLst/>
              <a:cxnLst/>
              <a:rect r="r" b="b" t="t" l="l"/>
              <a:pathLst>
                <a:path h="990600" w="190500">
                  <a:moveTo>
                    <a:pt x="0" y="0"/>
                  </a:moveTo>
                  <a:lnTo>
                    <a:pt x="190500" y="0"/>
                  </a:lnTo>
                  <a:lnTo>
                    <a:pt x="190500" y="990600"/>
                  </a:lnTo>
                  <a:lnTo>
                    <a:pt x="0" y="990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85900" y="762000"/>
            <a:ext cx="692958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MODULE 5 OBJECTIVES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43000" y="2333473"/>
            <a:ext cx="457200" cy="485775"/>
            <a:chOff x="0" y="0"/>
            <a:chExt cx="609600" cy="6477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857375" y="2162975"/>
            <a:ext cx="11758428" cy="1804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se core Python building blocks — variables, data types, operators, and control flow (if/elif/else, loops).</a:t>
            </a:r>
          </a:p>
          <a:p>
            <a:pPr algn="l">
              <a:lnSpc>
                <a:spcPts val="486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57375" y="6468329"/>
            <a:ext cx="12103889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Reco</a:t>
            </a: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gnize common beginner mistakes before moving on to import and external libraries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43000" y="5258654"/>
            <a:ext cx="457200" cy="485775"/>
            <a:chOff x="0" y="0"/>
            <a:chExt cx="609600" cy="647700"/>
          </a:xfrm>
        </p:grpSpPr>
        <p:sp>
          <p:nvSpPr>
            <p:cNvPr name="Freeform 12" id="12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857375" y="5056724"/>
            <a:ext cx="11310610" cy="1194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Writ</a:t>
            </a:r>
            <a:r>
              <a:rPr lang="en-US" sz="27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 and call functions, using return, default arguments, and scope correctly.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070180" y="1028700"/>
            <a:ext cx="1189120" cy="1033053"/>
            <a:chOff x="0" y="0"/>
            <a:chExt cx="1585493" cy="137740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85468" cy="1377442"/>
            </a:xfrm>
            <a:custGeom>
              <a:avLst/>
              <a:gdLst/>
              <a:ahLst/>
              <a:cxnLst/>
              <a:rect r="r" b="b" t="t" l="l"/>
              <a:pathLst>
                <a:path h="1377442" w="1585468">
                  <a:moveTo>
                    <a:pt x="0" y="0"/>
                  </a:moveTo>
                  <a:lnTo>
                    <a:pt x="1585468" y="0"/>
                  </a:lnTo>
                  <a:lnTo>
                    <a:pt x="1585468" y="1377442"/>
                  </a:lnTo>
                  <a:lnTo>
                    <a:pt x="0" y="13774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1" r="-1" b="-4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143000" y="3723733"/>
            <a:ext cx="457200" cy="485775"/>
            <a:chOff x="0" y="0"/>
            <a:chExt cx="609600" cy="6477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6649304"/>
            <a:ext cx="457200" cy="485775"/>
            <a:chOff x="0" y="0"/>
            <a:chExt cx="609600" cy="647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857375" y="3643718"/>
            <a:ext cx="11310610" cy="584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57"/>
              </a:lnSpc>
              <a:spcBef>
                <a:spcPct val="0"/>
              </a:spcBef>
            </a:pPr>
            <a:r>
              <a:rPr lang="en-US" sz="2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 with</a:t>
            </a:r>
            <a:r>
              <a:rPr lang="en-US" sz="2698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Python's data structures, strings, lists, tuples, sets, and 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857375" y="4209302"/>
            <a:ext cx="200292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dictionaries.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" y="1885950"/>
            <a:ext cx="12602140" cy="7479869"/>
          </a:xfrm>
          <a:custGeom>
            <a:avLst/>
            <a:gdLst/>
            <a:ahLst/>
            <a:cxnLst/>
            <a:rect r="r" b="b" t="t" l="l"/>
            <a:pathLst>
              <a:path h="7479869" w="12602140">
                <a:moveTo>
                  <a:pt x="0" y="0"/>
                </a:moveTo>
                <a:lnTo>
                  <a:pt x="12602140" y="0"/>
                </a:lnTo>
                <a:lnTo>
                  <a:pt x="12602140" y="7479869"/>
                </a:lnTo>
                <a:lnTo>
                  <a:pt x="0" y="74798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0724" y="942975"/>
            <a:ext cx="5785396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Learning outcome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50724" y="2795216"/>
            <a:ext cx="9715500" cy="892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2208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By the end of this topic, the trainee can…</a:t>
            </a: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  <a:r>
              <a:rPr lang="en-US" sz="2208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1- Write and run Python code using variables, data types, operators, and control flow to apply rules to data.</a:t>
            </a: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  <a:r>
              <a:rPr lang="en-US" sz="2208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2- Create, access, and modify strings, lists, tuples, sets, and dictionaries to organize information.</a:t>
            </a: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  <a:r>
              <a:rPr lang="en-US" sz="2208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3- Define and call functions with return values and default arguments to make code reusable.</a:t>
            </a: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  <a:p>
            <a:pPr algn="l">
              <a:lnSpc>
                <a:spcPts val="397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88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497824" y="9029700"/>
            <a:ext cx="647224" cy="571500"/>
            <a:chOff x="0" y="0"/>
            <a:chExt cx="862965" cy="7620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72" t="0" r="-772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6536657" y="304366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43854" y="748665"/>
            <a:ext cx="11495440" cy="2007870"/>
            <a:chOff x="0" y="0"/>
            <a:chExt cx="15327254" cy="26771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27254" cy="2677160"/>
            </a:xfrm>
            <a:custGeom>
              <a:avLst/>
              <a:gdLst/>
              <a:ahLst/>
              <a:cxnLst/>
              <a:rect r="r" b="b" t="t" l="l"/>
              <a:pathLst>
                <a:path h="2677160" w="15327254">
                  <a:moveTo>
                    <a:pt x="0" y="0"/>
                  </a:moveTo>
                  <a:lnTo>
                    <a:pt x="15327254" y="0"/>
                  </a:lnTo>
                  <a:lnTo>
                    <a:pt x="15327254" y="2677160"/>
                  </a:lnTo>
                  <a:lnTo>
                    <a:pt x="0" y="26771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0937" r="-1419" b="-3534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15327254" cy="2724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T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he road you have already travelled</a:t>
              </a:r>
            </a:p>
            <a:p>
              <a:pPr algn="l">
                <a:lnSpc>
                  <a:spcPts val="600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57250" y="2756535"/>
            <a:ext cx="16287798" cy="5687568"/>
            <a:chOff x="0" y="0"/>
            <a:chExt cx="21717064" cy="7583424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318605" cy="1243584"/>
              <a:chOff x="0" y="0"/>
              <a:chExt cx="10318605" cy="12435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479935" y="29794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919740" y="34671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Introduction to Python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11398459" y="0"/>
              <a:ext cx="10318605" cy="1243584"/>
              <a:chOff x="0" y="0"/>
              <a:chExt cx="10318605" cy="124358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11878394" y="29794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3318199" y="34671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Python Syntax &amp; Basics</a:t>
              </a:r>
            </a:p>
          </p:txBody>
        </p:sp>
        <p:grpSp>
          <p:nvGrpSpPr>
            <p:cNvPr name="Group 21" id="21"/>
            <p:cNvGrpSpPr/>
            <p:nvPr/>
          </p:nvGrpSpPr>
          <p:grpSpPr>
            <a:xfrm rot="0">
              <a:off x="0" y="1584960"/>
              <a:ext cx="10318605" cy="1243584"/>
              <a:chOff x="0" y="0"/>
              <a:chExt cx="10318605" cy="1243584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479935" y="188290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919740" y="193167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Variables &amp; Data Types</a:t>
              </a:r>
            </a:p>
          </p:txBody>
        </p:sp>
        <p:grpSp>
          <p:nvGrpSpPr>
            <p:cNvPr name="Group 25" id="25"/>
            <p:cNvGrpSpPr/>
            <p:nvPr/>
          </p:nvGrpSpPr>
          <p:grpSpPr>
            <a:xfrm rot="0">
              <a:off x="11398459" y="1584960"/>
              <a:ext cx="10318605" cy="1243584"/>
              <a:chOff x="0" y="0"/>
              <a:chExt cx="10318605" cy="1243584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11878394" y="188290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13318199" y="193167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Operators &amp; Expressions</a:t>
              </a:r>
            </a:p>
          </p:txBody>
        </p:sp>
        <p:grpSp>
          <p:nvGrpSpPr>
            <p:cNvPr name="Group 29" id="29"/>
            <p:cNvGrpSpPr/>
            <p:nvPr/>
          </p:nvGrpSpPr>
          <p:grpSpPr>
            <a:xfrm rot="0">
              <a:off x="0" y="3169920"/>
              <a:ext cx="10318605" cy="1243584"/>
              <a:chOff x="0" y="0"/>
              <a:chExt cx="10318605" cy="124358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479935" y="346786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919740" y="351663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Conditional Statements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11398459" y="3169920"/>
              <a:ext cx="10318605" cy="1243584"/>
              <a:chOff x="0" y="0"/>
              <a:chExt cx="10318605" cy="1243584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11878394" y="346786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6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3318199" y="351663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Loops</a:t>
              </a:r>
            </a:p>
          </p:txBody>
        </p:sp>
        <p:grpSp>
          <p:nvGrpSpPr>
            <p:cNvPr name="Group 37" id="37"/>
            <p:cNvGrpSpPr/>
            <p:nvPr/>
          </p:nvGrpSpPr>
          <p:grpSpPr>
            <a:xfrm rot="0">
              <a:off x="0" y="4754880"/>
              <a:ext cx="10318605" cy="1243584"/>
              <a:chOff x="0" y="0"/>
              <a:chExt cx="10318605" cy="1243584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479935" y="505282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</a:t>
              </a:r>
            </a:p>
          </p:txBody>
        </p:sp>
        <p:sp>
          <p:nvSpPr>
            <p:cNvPr name="TextBox 40" id="40"/>
            <p:cNvSpPr txBox="true"/>
            <p:nvPr/>
          </p:nvSpPr>
          <p:spPr>
            <a:xfrm rot="0">
              <a:off x="1919740" y="510159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Strings</a:t>
              </a:r>
            </a:p>
          </p:txBody>
        </p:sp>
        <p:grpSp>
          <p:nvGrpSpPr>
            <p:cNvPr name="Group 41" id="41"/>
            <p:cNvGrpSpPr/>
            <p:nvPr/>
          </p:nvGrpSpPr>
          <p:grpSpPr>
            <a:xfrm rot="0">
              <a:off x="11398459" y="4754880"/>
              <a:ext cx="10318605" cy="1243584"/>
              <a:chOff x="0" y="0"/>
              <a:chExt cx="10318605" cy="1243584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43" id="43"/>
            <p:cNvSpPr txBox="true"/>
            <p:nvPr/>
          </p:nvSpPr>
          <p:spPr>
            <a:xfrm rot="0">
              <a:off x="11878394" y="505282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8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3318199" y="510159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Lists &amp; Tuples</a:t>
              </a:r>
            </a:p>
          </p:txBody>
        </p:sp>
        <p:grpSp>
          <p:nvGrpSpPr>
            <p:cNvPr name="Group 45" id="45"/>
            <p:cNvGrpSpPr/>
            <p:nvPr/>
          </p:nvGrpSpPr>
          <p:grpSpPr>
            <a:xfrm rot="0">
              <a:off x="0" y="6339840"/>
              <a:ext cx="10318605" cy="1243584"/>
              <a:chOff x="0" y="0"/>
              <a:chExt cx="10318605" cy="1243584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47" id="47"/>
            <p:cNvSpPr txBox="true"/>
            <p:nvPr/>
          </p:nvSpPr>
          <p:spPr>
            <a:xfrm rot="0">
              <a:off x="479935" y="663778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9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919740" y="668655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Sets &amp; Dictionaries</a:t>
              </a:r>
            </a:p>
          </p:txBody>
        </p:sp>
        <p:grpSp>
          <p:nvGrpSpPr>
            <p:cNvPr name="Group 49" id="49"/>
            <p:cNvGrpSpPr/>
            <p:nvPr/>
          </p:nvGrpSpPr>
          <p:grpSpPr>
            <a:xfrm rot="0">
              <a:off x="11398459" y="6339840"/>
              <a:ext cx="10318605" cy="1243584"/>
              <a:chOff x="0" y="0"/>
              <a:chExt cx="10318605" cy="1243584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318604" cy="1243584"/>
              </a:xfrm>
              <a:custGeom>
                <a:avLst/>
                <a:gdLst/>
                <a:ahLst/>
                <a:cxnLst/>
                <a:rect r="r" b="b" t="t" l="l"/>
                <a:pathLst>
                  <a:path h="1243584" w="10318604">
                    <a:moveTo>
                      <a:pt x="0" y="49784"/>
                    </a:moveTo>
                    <a:cubicBezTo>
                      <a:pt x="0" y="22225"/>
                      <a:pt x="21872" y="0"/>
                      <a:pt x="48993" y="0"/>
                    </a:cubicBezTo>
                    <a:lnTo>
                      <a:pt x="10269611" y="0"/>
                    </a:lnTo>
                    <a:cubicBezTo>
                      <a:pt x="10296607" y="0"/>
                      <a:pt x="10318604" y="22225"/>
                      <a:pt x="10318604" y="49784"/>
                    </a:cubicBezTo>
                    <a:lnTo>
                      <a:pt x="10318604" y="1193800"/>
                    </a:lnTo>
                    <a:cubicBezTo>
                      <a:pt x="10318604" y="1221232"/>
                      <a:pt x="10296733" y="1243584"/>
                      <a:pt x="10269611" y="1243584"/>
                    </a:cubicBezTo>
                    <a:lnTo>
                      <a:pt x="48993" y="1243584"/>
                    </a:lnTo>
                    <a:cubicBezTo>
                      <a:pt x="21872" y="1243584"/>
                      <a:pt x="0" y="1221359"/>
                      <a:pt x="0" y="1193800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51" id="51"/>
            <p:cNvSpPr txBox="true"/>
            <p:nvPr/>
          </p:nvSpPr>
          <p:spPr>
            <a:xfrm rot="0">
              <a:off x="11878394" y="6637782"/>
              <a:ext cx="1319822" cy="53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10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13318199" y="6686550"/>
              <a:ext cx="7918929" cy="438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Functions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36657" y="304366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97824" y="9029700"/>
            <a:ext cx="647224" cy="571500"/>
            <a:chOff x="0" y="0"/>
            <a:chExt cx="862965" cy="762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53508" y="800100"/>
            <a:ext cx="1358049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Getting st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arted &amp; the rules of the language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627024"/>
            <a:ext cx="8229600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Programming is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precise, step-by-step instructions,    logic, not maths genius.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Indentation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4 spaces defines a block, in place of { }.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Comments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start with # — explain the WHY, not the what.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print()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displays output; sep and end control the formatting.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829848" y="2636549"/>
            <a:ext cx="7315200" cy="3048000"/>
            <a:chOff x="0" y="0"/>
            <a:chExt cx="9753600" cy="406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53600" cy="4064000"/>
            </a:xfrm>
            <a:custGeom>
              <a:avLst/>
              <a:gdLst/>
              <a:ahLst/>
              <a:cxnLst/>
              <a:rect r="r" b="b" t="t" l="l"/>
              <a:pathLst>
                <a:path h="4064000" w="9753600">
                  <a:moveTo>
                    <a:pt x="0" y="162547"/>
                  </a:moveTo>
                  <a:cubicBezTo>
                    <a:pt x="0" y="72773"/>
                    <a:pt x="137541" y="0"/>
                    <a:pt x="307213" y="0"/>
                  </a:cubicBezTo>
                  <a:lnTo>
                    <a:pt x="9446387" y="0"/>
                  </a:lnTo>
                  <a:cubicBezTo>
                    <a:pt x="9616059" y="0"/>
                    <a:pt x="9753600" y="72773"/>
                    <a:pt x="9753600" y="162547"/>
                  </a:cubicBezTo>
                  <a:lnTo>
                    <a:pt x="9753600" y="3901453"/>
                  </a:lnTo>
                  <a:cubicBezTo>
                    <a:pt x="9753600" y="3991227"/>
                    <a:pt x="9616059" y="4064000"/>
                    <a:pt x="9446387" y="4064000"/>
                  </a:cubicBezTo>
                  <a:lnTo>
                    <a:pt x="307213" y="4064000"/>
                  </a:lnTo>
                  <a:cubicBezTo>
                    <a:pt x="137541" y="4064000"/>
                    <a:pt x="0" y="3991227"/>
                    <a:pt x="0" y="3901453"/>
                  </a:cubicBezTo>
                  <a:close/>
                </a:path>
              </a:pathLst>
            </a:custGeom>
            <a:solidFill>
              <a:srgbClr val="E4F1E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40744" y="2864768"/>
            <a:ext cx="6693408" cy="320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40744" y="3247292"/>
            <a:ext cx="6693408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387F7F"/>
                </a:solidFill>
                <a:latin typeface="Consolas"/>
                <a:ea typeface="Consolas"/>
                <a:cs typeface="Consolas"/>
                <a:sym typeface="Consolas"/>
              </a:rPr>
              <a:t># Indentation defines the block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Consolas"/>
                <a:ea typeface="Consolas"/>
                <a:cs typeface="Consolas"/>
                <a:sym typeface="Consolas"/>
              </a:rPr>
              <a:t>if name: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Consolas"/>
                <a:ea typeface="Consolas"/>
                <a:cs typeface="Consolas"/>
                <a:sym typeface="Consolas"/>
              </a:rPr>
              <a:t>    print("Welcome aboard!")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36657" y="3043666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97824" y="9029700"/>
            <a:ext cx="647224" cy="571500"/>
            <a:chOff x="0" y="0"/>
            <a:chExt cx="862965" cy="762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251536" y="857250"/>
            <a:ext cx="7363346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Variables &amp;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Data Types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560" y="2916555"/>
            <a:ext cx="8229600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Variables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are named containers. = assigns, == compares.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snake_case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descriptive, no spaces, no leading digits, no keywords.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int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whole numbers · float decimals · str text · bool True/False.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type()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tells you what a value actually is.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9944100" y="3043666"/>
            <a:ext cx="7315200" cy="2743200"/>
            <a:chOff x="0" y="0"/>
            <a:chExt cx="9753600" cy="3657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53600" cy="3657600"/>
              <a:chOff x="0" y="0"/>
              <a:chExt cx="9753600" cy="3657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753600" cy="3657600"/>
              </a:xfrm>
              <a:custGeom>
                <a:avLst/>
                <a:gdLst/>
                <a:ahLst/>
                <a:cxnLst/>
                <a:rect r="r" b="b" t="t" l="l"/>
                <a:pathLst>
                  <a:path h="3657600" w="9753600">
                    <a:moveTo>
                      <a:pt x="0" y="146292"/>
                    </a:moveTo>
                    <a:cubicBezTo>
                      <a:pt x="0" y="65496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65496"/>
                      <a:pt x="9753600" y="146292"/>
                    </a:cubicBezTo>
                    <a:lnTo>
                      <a:pt x="9753600" y="3511308"/>
                    </a:lnTo>
                    <a:cubicBezTo>
                      <a:pt x="9753600" y="3592104"/>
                      <a:pt x="9616059" y="3657600"/>
                      <a:pt x="9446387" y="3657600"/>
                    </a:cubicBezTo>
                    <a:lnTo>
                      <a:pt x="307213" y="3657600"/>
                    </a:lnTo>
                    <a:cubicBezTo>
                      <a:pt x="137541" y="3657600"/>
                      <a:pt x="0" y="3592104"/>
                      <a:pt x="0" y="3511308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14528" y="830199"/>
              <a:ext cx="8924544" cy="2486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87F7F"/>
                  </a:solidFill>
                  <a:latin typeface="Consolas"/>
                  <a:ea typeface="Consolas"/>
                  <a:cs typeface="Consolas"/>
                  <a:sym typeface="Consolas"/>
                </a:rPr>
                <a:t># The single most useful pattern so far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age = 50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price = 19.99      # float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active = True      # bool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print(type(age))   # &lt;class 'int'&gt;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89983" y="791957"/>
            <a:ext cx="11658600" cy="1245870"/>
            <a:chOff x="0" y="0"/>
            <a:chExt cx="1554480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1661160"/>
            </a:xfrm>
            <a:custGeom>
              <a:avLst/>
              <a:gdLst/>
              <a:ahLst/>
              <a:cxnLst/>
              <a:rect r="r" b="b" t="t" l="l"/>
              <a:pathLst>
                <a:path h="1661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0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5448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Ope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rators &amp; Expressions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36208" y="9458087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75042" y="3012147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51560" y="2907030"/>
            <a:ext cx="8229600" cy="441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Arithmetic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+  -  *  /  //  %  **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/ always returns a float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10 / 2 gives 5.0, not 5.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// floors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and % gives the remainder (the even/odd test).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Assignment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+=  -=  *=  /=  updates a variable in place.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Comparison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==  !=  &lt;  &gt;  &lt;=  &gt;=  always return True or False.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Logical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and (both) · or (at least one) · not (flip).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Precedence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()  &gt;  **  &gt;  * / // %  &gt;  + -  &gt;  comparisons  &gt;  and / or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1240" y="2926080"/>
            <a:ext cx="7315200" cy="3352800"/>
            <a:chOff x="0" y="0"/>
            <a:chExt cx="9753600" cy="44704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753600" cy="4470400"/>
              <a:chOff x="0" y="0"/>
              <a:chExt cx="9753600" cy="4470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753600" cy="4470400"/>
              </a:xfrm>
              <a:custGeom>
                <a:avLst/>
                <a:gdLst/>
                <a:ahLst/>
                <a:cxnLst/>
                <a:rect r="r" b="b" t="t" l="l"/>
                <a:pathLst>
                  <a:path h="4470400" w="9753600">
                    <a:moveTo>
                      <a:pt x="0" y="178801"/>
                    </a:moveTo>
                    <a:cubicBezTo>
                      <a:pt x="0" y="80050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80050"/>
                      <a:pt x="9753600" y="178801"/>
                    </a:cubicBezTo>
                    <a:lnTo>
                      <a:pt x="9753600" y="4291599"/>
                    </a:lnTo>
                    <a:cubicBezTo>
                      <a:pt x="9753600" y="4390349"/>
                      <a:pt x="9616059" y="4470400"/>
                      <a:pt x="9446387" y="4470400"/>
                    </a:cubicBezTo>
                    <a:lnTo>
                      <a:pt x="307213" y="4470400"/>
                    </a:lnTo>
                    <a:cubicBezTo>
                      <a:pt x="137541" y="4470400"/>
                      <a:pt x="0" y="4390349"/>
                      <a:pt x="0" y="4291599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4528" y="830199"/>
              <a:ext cx="8924544" cy="329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17 / 5     # 3.4   true division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17 // 5    # 3     floor division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17 % 5     # 2     remainder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2 ** 3     # 8     power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87F7F"/>
                  </a:solidFill>
                  <a:latin typeface="Consolas"/>
                  <a:ea typeface="Consolas"/>
                  <a:cs typeface="Consolas"/>
                  <a:sym typeface="Consolas"/>
                </a:rPr>
                <a:t># Write a full comparison on each side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if age &gt; 6 and age &lt; 60: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print("Eligible")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36208" y="9103756"/>
            <a:ext cx="647224" cy="571500"/>
            <a:chOff x="0" y="0"/>
            <a:chExt cx="862965" cy="762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00379" y="800100"/>
            <a:ext cx="11858613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Con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trol Flow: Conditional Statements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1560" y="2916555"/>
            <a:ext cx="8229600" cy="412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if condition: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runs the block only when True. The colon is required.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if / else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gives exactly two paths — one always runs.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if / elif / else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the first matching condition wins.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Use elif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rather than stacked ifs for exclusive cases.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Falsy values: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0, "", [], {}, None. Everything else is truthy.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So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if my_list: reads better than if len(my_list) &gt; 0: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3866" y="748665"/>
            <a:ext cx="11658600" cy="1245870"/>
            <a:chOff x="0" y="0"/>
            <a:chExt cx="1554480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4800" cy="1661160"/>
            </a:xfrm>
            <a:custGeom>
              <a:avLst/>
              <a:gdLst/>
              <a:ahLst/>
              <a:cxnLst/>
              <a:rect r="r" b="b" t="t" l="l"/>
              <a:pathLst>
                <a:path h="1661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0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54480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C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ontrol Flow: Loops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36208" y="9103756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11054" y="857250"/>
            <a:ext cx="160496" cy="1028700"/>
            <a:chOff x="0" y="0"/>
            <a:chExt cx="213995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995" cy="1371600"/>
            </a:xfrm>
            <a:custGeom>
              <a:avLst/>
              <a:gdLst/>
              <a:ahLst/>
              <a:cxnLst/>
              <a:rect r="r" b="b" t="t" l="l"/>
              <a:pathLst>
                <a:path h="1371600" w="213995">
                  <a:moveTo>
                    <a:pt x="0" y="0"/>
                  </a:moveTo>
                  <a:lnTo>
                    <a:pt x="213995" y="0"/>
                  </a:lnTo>
                  <a:lnTo>
                    <a:pt x="213995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51560" y="2907030"/>
            <a:ext cx="8229600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while condition: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repeats while True — use when the count is unknown.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You must update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the loop variable, or you create an infinite loop.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for item in sequence: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runs once per item — cleaner for known sequences.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range(stop)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, range(start, stop), range(start, stop, step).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stop is EXCLUSIVE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range(10) gives 0–9, not 0–10.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break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exits the loop · continue skips to the next iteration.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enumerate()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gives you the index and the value together.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1240" y="2926080"/>
            <a:ext cx="7315200" cy="3657600"/>
            <a:chOff x="0" y="0"/>
            <a:chExt cx="9753600" cy="48768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753600" cy="4876800"/>
              <a:chOff x="0" y="0"/>
              <a:chExt cx="9753600" cy="4876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753600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9753600">
                    <a:moveTo>
                      <a:pt x="0" y="195056"/>
                    </a:moveTo>
                    <a:cubicBezTo>
                      <a:pt x="0" y="87328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87328"/>
                      <a:pt x="9753600" y="195056"/>
                    </a:cubicBezTo>
                    <a:lnTo>
                      <a:pt x="9753600" y="4681744"/>
                    </a:lnTo>
                    <a:cubicBezTo>
                      <a:pt x="9753600" y="4789472"/>
                      <a:pt x="9616059" y="4876800"/>
                      <a:pt x="9446387" y="4876800"/>
                    </a:cubicBezTo>
                    <a:lnTo>
                      <a:pt x="307213" y="4876800"/>
                    </a:lnTo>
                    <a:cubicBezTo>
                      <a:pt x="137541" y="4876800"/>
                      <a:pt x="0" y="4789472"/>
                      <a:pt x="0" y="4681744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4528" y="830199"/>
              <a:ext cx="8924544" cy="37052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for i in range(1, 6):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print(i)          # 1 2 3 4 5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count = 1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while count &lt;= 5: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print(count)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count += 1        # critical!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36208" y="9103756"/>
            <a:ext cx="647224" cy="571500"/>
            <a:chOff x="0" y="0"/>
            <a:chExt cx="862965" cy="762000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82019" y="800100"/>
            <a:ext cx="5241206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trings in Python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1560" y="2916555"/>
            <a:ext cx="8229600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Indexing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s[0] is first, s[-1] is last — zero-based.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Slicing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s[start:stop:step] — stop excluded; s[::-1] reverses.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Strings are immutable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you cannot change one in place.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So always reassign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text = text.strip(), never text.strip() alone.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Key methods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.lower() .upper() .strip() .replace() .split() .join() .find() .count()</a:t>
            </a:r>
          </a:p>
          <a:p>
            <a:pPr algn="l">
              <a:lnSpc>
                <a:spcPts val="2760"/>
              </a:lnSpc>
            </a:pPr>
          </a:p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f-strings</a:t>
            </a:r>
            <a:r>
              <a:rPr lang="en-US" sz="23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f"{name} scored {score:.2f}" — the modern way to format.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544620" y="2938091"/>
            <a:ext cx="7315200" cy="3048000"/>
            <a:chOff x="0" y="0"/>
            <a:chExt cx="9753600" cy="4064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53600" cy="4064000"/>
              <a:chOff x="0" y="0"/>
              <a:chExt cx="9753600" cy="4064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753600" cy="4064000"/>
              </a:xfrm>
              <a:custGeom>
                <a:avLst/>
                <a:gdLst/>
                <a:ahLst/>
                <a:cxnLst/>
                <a:rect r="r" b="b" t="t" l="l"/>
                <a:pathLst>
                  <a:path h="4064000" w="9753600">
                    <a:moveTo>
                      <a:pt x="0" y="162547"/>
                    </a:moveTo>
                    <a:cubicBezTo>
                      <a:pt x="0" y="72773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72773"/>
                      <a:pt x="9753600" y="162547"/>
                    </a:cubicBezTo>
                    <a:lnTo>
                      <a:pt x="9753600" y="3901453"/>
                    </a:lnTo>
                    <a:cubicBezTo>
                      <a:pt x="9753600" y="3991227"/>
                      <a:pt x="9616059" y="4064000"/>
                      <a:pt x="9446387" y="4064000"/>
                    </a:cubicBezTo>
                    <a:lnTo>
                      <a:pt x="307213" y="4064000"/>
                    </a:lnTo>
                    <a:cubicBezTo>
                      <a:pt x="137541" y="4064000"/>
                      <a:pt x="0" y="3991227"/>
                      <a:pt x="0" y="3901453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14528" y="830199"/>
              <a:ext cx="8924544" cy="2892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text = "  Data Science  "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clean = text.strip().lower()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words = "a b c".split()   # ['a','b','c']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"-".join(words)           # 'a-b-c'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print(f"{clean} has {len(clean)} chars")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53822" y="770763"/>
            <a:ext cx="14606947" cy="1245870"/>
            <a:chOff x="0" y="0"/>
            <a:chExt cx="1947593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7592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9475929">
                  <a:moveTo>
                    <a:pt x="0" y="0"/>
                  </a:moveTo>
                  <a:lnTo>
                    <a:pt x="19475929" y="0"/>
                  </a:lnTo>
                  <a:lnTo>
                    <a:pt x="1947592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20184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47593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Da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ta Structures: Lists &amp; Tuples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536208" y="9103756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51560" y="2907030"/>
            <a:ext cx="8229600" cy="410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List [a, b, c]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mutable, ordered, zero-indexed.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Add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.append(v) at the end · .insert(i, v) at a position.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Remove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.pop(i) takes an INDEX · .remove(v) takes a VALUE.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Also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.sort(), len(), sum(), max(), min(), and in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Tuple (a, b, c)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immutable and ordered; for fixed data.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A one-item tuple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needs the comma: (x,)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Unpacking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name, age, course = record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1240" y="2926080"/>
            <a:ext cx="7315200" cy="5760720"/>
            <a:chOff x="0" y="0"/>
            <a:chExt cx="9753600" cy="768096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753600" cy="7680960"/>
              <a:chOff x="0" y="0"/>
              <a:chExt cx="9753600" cy="76809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753600" cy="7680960"/>
              </a:xfrm>
              <a:custGeom>
                <a:avLst/>
                <a:gdLst/>
                <a:ahLst/>
                <a:cxnLst/>
                <a:rect r="r" b="b" t="t" l="l"/>
                <a:pathLst>
                  <a:path h="7680960" w="9753600">
                    <a:moveTo>
                      <a:pt x="0" y="307213"/>
                    </a:moveTo>
                    <a:cubicBezTo>
                      <a:pt x="0" y="137541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137541"/>
                      <a:pt x="9753600" y="307213"/>
                    </a:cubicBezTo>
                    <a:lnTo>
                      <a:pt x="9753600" y="7373747"/>
                    </a:lnTo>
                    <a:cubicBezTo>
                      <a:pt x="9753600" y="7543419"/>
                      <a:pt x="9616059" y="7680960"/>
                      <a:pt x="9446387" y="7680960"/>
                    </a:cubicBezTo>
                    <a:lnTo>
                      <a:pt x="307213" y="7680960"/>
                    </a:lnTo>
                    <a:cubicBezTo>
                      <a:pt x="137541" y="7680960"/>
                      <a:pt x="0" y="7543419"/>
                      <a:pt x="0" y="7373747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4528" y="830199"/>
              <a:ext cx="8924544" cy="6509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scores = [82, 91, 74]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scores.append(88)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scores.sort()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print(max(scores), sum(scores))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87F7F"/>
                  </a:solidFill>
                  <a:latin typeface="Consolas"/>
                  <a:ea typeface="Consolas"/>
                  <a:cs typeface="Consolas"/>
                  <a:sym typeface="Consolas"/>
                </a:rPr>
                <a:t># Tuples cannot be changed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point = (10, 20)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x, y = point      # unpacking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0661" y="857250"/>
            <a:ext cx="14383905" cy="1245870"/>
            <a:chOff x="0" y="0"/>
            <a:chExt cx="1917854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178539" cy="1661160"/>
            </a:xfrm>
            <a:custGeom>
              <a:avLst/>
              <a:gdLst/>
              <a:ahLst/>
              <a:cxnLst/>
              <a:rect r="r" b="b" t="t" l="l"/>
              <a:pathLst>
                <a:path h="1661160" w="19178539">
                  <a:moveTo>
                    <a:pt x="0" y="0"/>
                  </a:moveTo>
                  <a:lnTo>
                    <a:pt x="19178539" y="0"/>
                  </a:lnTo>
                  <a:lnTo>
                    <a:pt x="19178539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18946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17854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Da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ta Structures: Sets &amp; Dictionaries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36208" y="10234917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36657" y="2895038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51560" y="2907030"/>
            <a:ext cx="8229600" cy="284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Set {a, b, c}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unique and unordered; duplicates disappear.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set()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creates an empty set — {} creates a dictionary!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Set operations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| union · &amp; intersection · - difference · ^ symmetric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Dictionary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{"key": value} — labelled records, accessed by key.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921240" y="2926080"/>
            <a:ext cx="7315200" cy="5760720"/>
            <a:chOff x="0" y="0"/>
            <a:chExt cx="9753600" cy="768096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9753600" cy="7680960"/>
              <a:chOff x="0" y="0"/>
              <a:chExt cx="9753600" cy="768096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9753600" cy="7680960"/>
              </a:xfrm>
              <a:custGeom>
                <a:avLst/>
                <a:gdLst/>
                <a:ahLst/>
                <a:cxnLst/>
                <a:rect r="r" b="b" t="t" l="l"/>
                <a:pathLst>
                  <a:path h="7680960" w="9753600">
                    <a:moveTo>
                      <a:pt x="0" y="307213"/>
                    </a:moveTo>
                    <a:cubicBezTo>
                      <a:pt x="0" y="137541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137541"/>
                      <a:pt x="9753600" y="307213"/>
                    </a:cubicBezTo>
                    <a:lnTo>
                      <a:pt x="9753600" y="7373747"/>
                    </a:lnTo>
                    <a:cubicBezTo>
                      <a:pt x="9753600" y="7543419"/>
                      <a:pt x="9616059" y="7680960"/>
                      <a:pt x="9446387" y="7680960"/>
                    </a:cubicBezTo>
                    <a:lnTo>
                      <a:pt x="307213" y="7680960"/>
                    </a:lnTo>
                    <a:cubicBezTo>
                      <a:pt x="137541" y="7680960"/>
                      <a:pt x="0" y="7543419"/>
                      <a:pt x="0" y="7373747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14528" y="830199"/>
              <a:ext cx="8924544" cy="6509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387F7F"/>
                  </a:solidFill>
                  <a:latin typeface="Consolas"/>
                  <a:ea typeface="Consolas"/>
                  <a:cs typeface="Consolas"/>
                  <a:sym typeface="Consolas"/>
                </a:rPr>
                <a:t># Sets remove duplicates instantly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unique = set([1, 2, 2, 3])   # {1, 2, 3}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student = {"name": "Ada", "age": 22}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student["city"] = "Abuja"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for key, value in student.items():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print(key, ":", value)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26990" y="800100"/>
            <a:ext cx="308459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00"/>
              </a:lnSpc>
              <a:spcBef>
                <a:spcPct val="0"/>
              </a:spcBef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Functions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536657" y="2895038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6536208" y="9060703"/>
            <a:ext cx="647224" cy="571500"/>
            <a:chOff x="0" y="0"/>
            <a:chExt cx="862965" cy="7620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72" t="0" r="-772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51560" y="2907030"/>
            <a:ext cx="8229600" cy="504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def name():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defines it — nothing runs until you call it.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name()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calls it. Without the (), you only print the function object.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Parameters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live in the definition; arguments are the values you pass.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return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sends a value back so it can be used or stored.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No return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means the function gives back None.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Default arguments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def f(x, y=10): — defaults must come last.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A1A23"/>
                </a:solidFill>
                <a:latin typeface="Poppins Bold"/>
                <a:ea typeface="Poppins Bold"/>
                <a:cs typeface="Poppins Bold"/>
                <a:sym typeface="Poppins Bold"/>
              </a:rPr>
              <a:t>› Scope</a:t>
            </a:r>
            <a:r>
              <a:rPr lang="en-US" sz="21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— locals live only inside; prefer parameters over global.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921240" y="2926080"/>
            <a:ext cx="7315200" cy="5760720"/>
            <a:chOff x="0" y="0"/>
            <a:chExt cx="9753600" cy="768096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9753600" cy="7680960"/>
              <a:chOff x="0" y="0"/>
              <a:chExt cx="9753600" cy="768096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753600" cy="7680960"/>
              </a:xfrm>
              <a:custGeom>
                <a:avLst/>
                <a:gdLst/>
                <a:ahLst/>
                <a:cxnLst/>
                <a:rect r="r" b="b" t="t" l="l"/>
                <a:pathLst>
                  <a:path h="7680960" w="9753600">
                    <a:moveTo>
                      <a:pt x="0" y="307213"/>
                    </a:moveTo>
                    <a:cubicBezTo>
                      <a:pt x="0" y="137541"/>
                      <a:pt x="137541" y="0"/>
                      <a:pt x="307213" y="0"/>
                    </a:cubicBezTo>
                    <a:lnTo>
                      <a:pt x="9446387" y="0"/>
                    </a:lnTo>
                    <a:cubicBezTo>
                      <a:pt x="9616059" y="0"/>
                      <a:pt x="9753600" y="137541"/>
                      <a:pt x="9753600" y="307213"/>
                    </a:cubicBezTo>
                    <a:lnTo>
                      <a:pt x="9753600" y="7373747"/>
                    </a:lnTo>
                    <a:cubicBezTo>
                      <a:pt x="9753600" y="7543419"/>
                      <a:pt x="9616059" y="7680960"/>
                      <a:pt x="9446387" y="7680960"/>
                    </a:cubicBezTo>
                    <a:lnTo>
                      <a:pt x="307213" y="7680960"/>
                    </a:lnTo>
                    <a:cubicBezTo>
                      <a:pt x="137541" y="7680960"/>
                      <a:pt x="0" y="7543419"/>
                      <a:pt x="0" y="7373747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414528" y="307467"/>
              <a:ext cx="8924544" cy="424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59"/>
                </a:lnSpc>
              </a:pPr>
              <a:r>
                <a:rPr lang="en-US" sz="12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python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14528" y="830199"/>
              <a:ext cx="8924544" cy="65093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def average(numbers):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sum(numbers) / len(numbers)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print(average([82, 91, 74]))   # 82.33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def greet(name, greeting="Hello"):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   return f"{greeting}, {name}!"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0A1A23"/>
                  </a:solidFill>
                  <a:latin typeface="Consolas"/>
                  <a:ea typeface="Consolas"/>
                  <a:cs typeface="Consolas"/>
                  <a:sym typeface="Consolas"/>
                </a:rPr>
                <a:t>greet("Ada")                   # uses default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35332" y="748665"/>
            <a:ext cx="14423960" cy="1245870"/>
            <a:chOff x="0" y="0"/>
            <a:chExt cx="19231946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31947" cy="1661160"/>
            </a:xfrm>
            <a:custGeom>
              <a:avLst/>
              <a:gdLst/>
              <a:ahLst/>
              <a:cxnLst/>
              <a:rect r="r" b="b" t="t" l="l"/>
              <a:pathLst>
                <a:path h="1661160" w="19231947">
                  <a:moveTo>
                    <a:pt x="0" y="0"/>
                  </a:moveTo>
                  <a:lnTo>
                    <a:pt x="19231947" y="0"/>
                  </a:lnTo>
                  <a:lnTo>
                    <a:pt x="19231947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19171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9231946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The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 seven mistakes that cost the most marks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857250" y="2440447"/>
            <a:ext cx="16184880" cy="5559552"/>
            <a:chOff x="0" y="0"/>
            <a:chExt cx="21579840" cy="7412736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21579840" cy="1146048"/>
              <a:chOff x="0" y="0"/>
              <a:chExt cx="21579840" cy="114604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0" id="10"/>
            <p:cNvSpPr txBox="true"/>
            <p:nvPr/>
          </p:nvSpPr>
          <p:spPr>
            <a:xfrm rot="0">
              <a:off x="548640" y="276225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Missing colon or wrong indent</a:t>
              </a:r>
            </a:p>
          </p:txBody>
        </p:sp>
        <p:grpSp>
          <p:nvGrpSpPr>
            <p:cNvPr name="Group 11" id="11"/>
            <p:cNvGrpSpPr/>
            <p:nvPr/>
          </p:nvGrpSpPr>
          <p:grpSpPr>
            <a:xfrm rot="0">
              <a:off x="0" y="1146048"/>
              <a:ext cx="21579840" cy="1146048"/>
              <a:chOff x="0" y="0"/>
              <a:chExt cx="21579840" cy="1146048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548640" y="1422273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Using = instead of ==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2426208"/>
              <a:ext cx="21579840" cy="1146048"/>
              <a:chOff x="0" y="0"/>
              <a:chExt cx="21579840" cy="114604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F2F7F6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548640" y="2702433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Assuming range(10) is 1–10</a:t>
              </a:r>
            </a:p>
          </p:txBody>
        </p:sp>
        <p:grpSp>
          <p:nvGrpSpPr>
            <p:cNvPr name="Group 17" id="17"/>
            <p:cNvGrpSpPr/>
            <p:nvPr/>
          </p:nvGrpSpPr>
          <p:grpSpPr>
            <a:xfrm rot="0">
              <a:off x="0" y="3706368"/>
              <a:ext cx="21579840" cy="1146048"/>
              <a:chOff x="0" y="0"/>
              <a:chExt cx="21579840" cy="1146048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9" id="19"/>
            <p:cNvSpPr txBox="true"/>
            <p:nvPr/>
          </p:nvSpPr>
          <p:spPr>
            <a:xfrm rot="0">
              <a:off x="548640" y="3982593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Swapping .pop() and .remove()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4986528"/>
              <a:ext cx="21579840" cy="1146048"/>
              <a:chOff x="0" y="0"/>
              <a:chExt cx="21579840" cy="1146048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F2F7F6"/>
              </a:solidFill>
            </p:spPr>
          </p:sp>
        </p:grpSp>
        <p:sp>
          <p:nvSpPr>
            <p:cNvPr name="TextBox 22" id="22"/>
            <p:cNvSpPr txBox="true"/>
            <p:nvPr/>
          </p:nvSpPr>
          <p:spPr>
            <a:xfrm rot="0">
              <a:off x="548640" y="5262753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Calling a function without ()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6266688"/>
              <a:ext cx="21579840" cy="1146048"/>
              <a:chOff x="0" y="0"/>
              <a:chExt cx="21579840" cy="1146048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1579839" cy="1146048"/>
              </a:xfrm>
              <a:custGeom>
                <a:avLst/>
                <a:gdLst/>
                <a:ahLst/>
                <a:cxnLst/>
                <a:rect r="r" b="b" t="t" l="l"/>
                <a:pathLst>
                  <a:path h="1146048" w="21579839">
                    <a:moveTo>
                      <a:pt x="0" y="45847"/>
                    </a:moveTo>
                    <a:cubicBezTo>
                      <a:pt x="0" y="20574"/>
                      <a:pt x="20574" y="0"/>
                      <a:pt x="45847" y="0"/>
                    </a:cubicBezTo>
                    <a:lnTo>
                      <a:pt x="21533993" y="0"/>
                    </a:lnTo>
                    <a:cubicBezTo>
                      <a:pt x="21559265" y="0"/>
                      <a:pt x="21579839" y="20574"/>
                      <a:pt x="21579839" y="45847"/>
                    </a:cubicBezTo>
                    <a:lnTo>
                      <a:pt x="21579839" y="1100201"/>
                    </a:lnTo>
                    <a:cubicBezTo>
                      <a:pt x="21579839" y="1125474"/>
                      <a:pt x="21559265" y="1146048"/>
                      <a:pt x="21533993" y="1146048"/>
                    </a:cubicBezTo>
                    <a:lnTo>
                      <a:pt x="45847" y="1146048"/>
                    </a:lnTo>
                    <a:cubicBezTo>
                      <a:pt x="20574" y="1146048"/>
                      <a:pt x="0" y="1125474"/>
                      <a:pt x="0" y="1100201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548640" y="6542913"/>
              <a:ext cx="9022080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E74C3C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reassigning a string method</a:t>
              </a: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6536657" y="2895038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6536208" y="9060703"/>
            <a:ext cx="647224" cy="571500"/>
            <a:chOff x="0" y="0"/>
            <a:chExt cx="862965" cy="762000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446770" y="2640472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IndentationError / SyntaxError — four spaces, always.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447312" y="3429142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= assigns a value, == compares two values.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446770" y="4505467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It is 0–9. The stop value is always excluded.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47312" y="5438494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.pop() takes an index, .remove() takes a value.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47312" y="6371944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average shows the object; average(x) runs it.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47312" y="7244857"/>
            <a:ext cx="813816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A1A23"/>
                </a:solidFill>
                <a:latin typeface="Poppins"/>
                <a:ea typeface="Poppins"/>
                <a:cs typeface="Poppins"/>
                <a:sym typeface="Poppins"/>
              </a:rPr>
              <a:t>text.strip() is lost unless you capture it.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478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77428" y="748665"/>
            <a:ext cx="11601870" cy="1245870"/>
            <a:chOff x="0" y="0"/>
            <a:chExt cx="15469160" cy="16611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469160" cy="1661160"/>
            </a:xfrm>
            <a:custGeom>
              <a:avLst/>
              <a:gdLst/>
              <a:ahLst/>
              <a:cxnLst/>
              <a:rect r="r" b="b" t="t" l="l"/>
              <a:pathLst>
                <a:path h="1661160" w="15469160">
                  <a:moveTo>
                    <a:pt x="0" y="0"/>
                  </a:moveTo>
                  <a:lnTo>
                    <a:pt x="15469160" y="0"/>
                  </a:lnTo>
                  <a:lnTo>
                    <a:pt x="15469160" y="1661160"/>
                  </a:lnTo>
                  <a:lnTo>
                    <a:pt x="0" y="1661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557" r="-488" b="-11811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15469160" cy="17087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From fund</a:t>
              </a: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amentals to data analysis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517016" y="9454396"/>
            <a:ext cx="647224" cy="571500"/>
            <a:chOff x="0" y="0"/>
            <a:chExt cx="862965" cy="76200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2" t="0" r="-772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517465" y="293440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51560" y="3017520"/>
            <a:ext cx="15727680" cy="6035040"/>
            <a:chOff x="0" y="0"/>
            <a:chExt cx="20970240" cy="804672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534400" cy="1219200"/>
              <a:chOff x="0" y="0"/>
              <a:chExt cx="8534400" cy="12192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548640" y="310134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022080" y="285750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0363200" y="310134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 column of values — a pandas Series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0" y="1365504"/>
              <a:ext cx="8534400" cy="1219200"/>
              <a:chOff x="0" y="0"/>
              <a:chExt cx="8534400" cy="12192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548640" y="1675638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dictionary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9022080" y="1651254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0363200" y="1675638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one record — a single row of a table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2731008"/>
              <a:ext cx="8534400" cy="1219200"/>
              <a:chOff x="0" y="0"/>
              <a:chExt cx="8534400" cy="12192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25" id="25"/>
            <p:cNvSpPr txBox="true"/>
            <p:nvPr/>
          </p:nvSpPr>
          <p:spPr>
            <a:xfrm rot="0">
              <a:off x="548640" y="3041142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list of dictionaries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9022080" y="3016758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0363200" y="3041142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 whole table — a DataFrame</a:t>
              </a:r>
            </a:p>
          </p:txBody>
        </p:sp>
        <p:grpSp>
          <p:nvGrpSpPr>
            <p:cNvPr name="Group 28" id="28"/>
            <p:cNvGrpSpPr/>
            <p:nvPr/>
          </p:nvGrpSpPr>
          <p:grpSpPr>
            <a:xfrm rot="0">
              <a:off x="0" y="4096512"/>
              <a:ext cx="8534400" cy="1219200"/>
              <a:chOff x="0" y="0"/>
              <a:chExt cx="8534400" cy="12192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30" id="30"/>
            <p:cNvSpPr txBox="true"/>
            <p:nvPr/>
          </p:nvSpPr>
          <p:spPr>
            <a:xfrm rot="0">
              <a:off x="548640" y="4406646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for loop + if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9022080" y="4382262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10363200" y="4406646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filtering rows by a condition</a:t>
              </a:r>
            </a:p>
          </p:txBody>
        </p:sp>
        <p:grpSp>
          <p:nvGrpSpPr>
            <p:cNvPr name="Group 33" id="33"/>
            <p:cNvGrpSpPr/>
            <p:nvPr/>
          </p:nvGrpSpPr>
          <p:grpSpPr>
            <a:xfrm rot="0">
              <a:off x="0" y="5462016"/>
              <a:ext cx="8534400" cy="1219200"/>
              <a:chOff x="0" y="0"/>
              <a:chExt cx="8534400" cy="12192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35" id="35"/>
            <p:cNvSpPr txBox="true"/>
            <p:nvPr/>
          </p:nvSpPr>
          <p:spPr>
            <a:xfrm rot="0">
              <a:off x="548640" y="5772150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function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9022080" y="5747766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0363200" y="5772150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a reusable transformation over a dataset</a:t>
              </a:r>
            </a:p>
          </p:txBody>
        </p:sp>
        <p:grpSp>
          <p:nvGrpSpPr>
            <p:cNvPr name="Group 38" id="38"/>
            <p:cNvGrpSpPr/>
            <p:nvPr/>
          </p:nvGrpSpPr>
          <p:grpSpPr>
            <a:xfrm rot="0">
              <a:off x="0" y="6827520"/>
              <a:ext cx="8534400" cy="1219200"/>
              <a:chOff x="0" y="0"/>
              <a:chExt cx="8534400" cy="12192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534400" cy="1219200"/>
              </a:xfrm>
              <a:custGeom>
                <a:avLst/>
                <a:gdLst/>
                <a:ahLst/>
                <a:cxnLst/>
                <a:rect r="r" b="b" t="t" l="l"/>
                <a:pathLst>
                  <a:path h="1219200" w="8534400">
                    <a:moveTo>
                      <a:pt x="0" y="48768"/>
                    </a:moveTo>
                    <a:cubicBezTo>
                      <a:pt x="0" y="21844"/>
                      <a:pt x="21844" y="0"/>
                      <a:pt x="48768" y="0"/>
                    </a:cubicBezTo>
                    <a:lnTo>
                      <a:pt x="8485632" y="0"/>
                    </a:lnTo>
                    <a:cubicBezTo>
                      <a:pt x="8512556" y="0"/>
                      <a:pt x="8534400" y="21844"/>
                      <a:pt x="8534400" y="48768"/>
                    </a:cubicBezTo>
                    <a:lnTo>
                      <a:pt x="8534400" y="1170432"/>
                    </a:lnTo>
                    <a:cubicBezTo>
                      <a:pt x="8534400" y="1197356"/>
                      <a:pt x="8512556" y="1219200"/>
                      <a:pt x="8485632" y="1219200"/>
                    </a:cubicBezTo>
                    <a:lnTo>
                      <a:pt x="48768" y="1219200"/>
                    </a:lnTo>
                    <a:cubicBezTo>
                      <a:pt x="21844" y="1219200"/>
                      <a:pt x="0" y="1197356"/>
                      <a:pt x="0" y="1170432"/>
                    </a:cubicBezTo>
                    <a:close/>
                  </a:path>
                </a:pathLst>
              </a:custGeom>
              <a:solidFill>
                <a:srgbClr val="E4F1EF"/>
              </a:solidFill>
            </p:spPr>
          </p:sp>
        </p:grpSp>
        <p:sp>
          <p:nvSpPr>
            <p:cNvPr name="TextBox 40" id="40"/>
            <p:cNvSpPr txBox="true"/>
            <p:nvPr/>
          </p:nvSpPr>
          <p:spPr>
            <a:xfrm rot="0">
              <a:off x="548640" y="7137654"/>
              <a:ext cx="7559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f-string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9022080" y="7113270"/>
              <a:ext cx="109728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8B93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10363200" y="7137654"/>
              <a:ext cx="10607040" cy="6286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0A1A23"/>
                  </a:solidFill>
                  <a:latin typeface="Poppins"/>
                  <a:ea typeface="Poppins"/>
                  <a:cs typeface="Poppins"/>
                  <a:sym typeface="Poppins"/>
                </a:rPr>
                <a:t>formatted, readable reporting of results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1777079"/>
            <a:ext cx="10972800" cy="548640"/>
            <a:chOff x="0" y="0"/>
            <a:chExt cx="146304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46304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000000"/>
                  </a:solidFill>
                  <a:latin typeface="Poppins Italics"/>
                  <a:ea typeface="Poppins Italics"/>
                  <a:cs typeface="Poppins Italics"/>
                  <a:sym typeface="Poppins Italics"/>
                </a:rPr>
                <a:t>Answer from memory before opening your notebook.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696051"/>
            <a:ext cx="754380" cy="754380"/>
            <a:chOff x="0" y="0"/>
            <a:chExt cx="1005840" cy="10058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28700" y="2696051"/>
            <a:ext cx="754380" cy="754380"/>
            <a:chOff x="0" y="0"/>
            <a:chExt cx="1005840" cy="1005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057400" y="2654903"/>
            <a:ext cx="14401800" cy="891540"/>
            <a:chOff x="0" y="0"/>
            <a:chExt cx="19202400" cy="1188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202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92024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Which data type would you use to store one full transaction record with named fields?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3930491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28700" y="3930491"/>
            <a:ext cx="754380" cy="754380"/>
            <a:chOff x="0" y="0"/>
            <a:chExt cx="1005840" cy="10058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057400" y="3889343"/>
            <a:ext cx="14401800" cy="891540"/>
            <a:chOff x="0" y="0"/>
            <a:chExt cx="19202400" cy="1188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192024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What is the practical difference between a list and a dictionary?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28700" y="5164931"/>
            <a:ext cx="754380" cy="754380"/>
            <a:chOff x="0" y="0"/>
            <a:chExt cx="100584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8700" y="5164931"/>
            <a:ext cx="754380" cy="754380"/>
            <a:chOff x="0" y="0"/>
            <a:chExt cx="1005840" cy="1005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57400" y="5143500"/>
            <a:ext cx="14401800" cy="891540"/>
            <a:chOff x="0" y="0"/>
            <a:chExt cx="19202400" cy="11887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202400" cy="1188720"/>
            </a:xfrm>
            <a:custGeom>
              <a:avLst/>
              <a:gdLst/>
              <a:ahLst/>
              <a:cxnLst/>
              <a:rect r="r" b="b" t="t" l="l"/>
              <a:pathLst>
                <a:path h="118872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4758" r="0" b="-26475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9202400" cy="1198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Why would an analyst write a function instead of repeating the same code for every branch?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43854" y="810959"/>
            <a:ext cx="12344400" cy="1121283"/>
            <a:chOff x="0" y="0"/>
            <a:chExt cx="16459200" cy="149504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459200" cy="1495044"/>
            </a:xfrm>
            <a:custGeom>
              <a:avLst/>
              <a:gdLst/>
              <a:ahLst/>
              <a:cxnLst/>
              <a:rect r="r" b="b" t="t" l="l"/>
              <a:pathLst>
                <a:path h="1495044" w="16459200">
                  <a:moveTo>
                    <a:pt x="0" y="0"/>
                  </a:moveTo>
                  <a:lnTo>
                    <a:pt x="16459200" y="0"/>
                  </a:lnTo>
                  <a:lnTo>
                    <a:pt x="16459200" y="1495044"/>
                  </a:lnTo>
                  <a:lnTo>
                    <a:pt x="0" y="14950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1700" r="0" b="-15732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6459200" cy="15426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Python Analyst Readiness Check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6517465" y="2934400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6446556" y="9002387"/>
            <a:ext cx="647224" cy="571500"/>
            <a:chOff x="0" y="0"/>
            <a:chExt cx="862965" cy="762000"/>
          </a:xfrm>
        </p:grpSpPr>
        <p:sp>
          <p:nvSpPr>
            <p:cNvPr name="Freeform 36" id="3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772" t="0" r="-772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57250" y="809625"/>
            <a:ext cx="17387888" cy="4970145"/>
            <a:chOff x="0" y="0"/>
            <a:chExt cx="23183850" cy="6626861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63500"/>
              <a:ext cx="152400" cy="1371600"/>
              <a:chOff x="0" y="0"/>
              <a:chExt cx="152400" cy="1371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524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152400">
                    <a:moveTo>
                      <a:pt x="0" y="0"/>
                    </a:moveTo>
                    <a:lnTo>
                      <a:pt x="152400" y="0"/>
                    </a:lnTo>
                    <a:lnTo>
                      <a:pt x="1524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388080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81000" y="-47625"/>
              <a:ext cx="22802850" cy="1127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-US" sz="5000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Key Takeaways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289050" y="2925445"/>
              <a:ext cx="10353675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60"/>
                </a:lnSpc>
              </a:pP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U</a:t>
              </a: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se Python data structures to organize data.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289050" y="4131945"/>
              <a:ext cx="11078152" cy="1532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60"/>
                </a:lnSpc>
              </a:pP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Apply </a:t>
              </a:r>
              <a:r>
                <a:rPr lang="en-US" sz="2700">
                  <a:solidFill>
                    <a:srgbClr val="334155"/>
                  </a:solidFill>
                  <a:latin typeface="Poppins"/>
                  <a:ea typeface="Poppins"/>
                  <a:cs typeface="Poppins"/>
                  <a:sym typeface="Poppins"/>
                </a:rPr>
                <a:t>control flow and loops to process data.</a:t>
              </a:r>
            </a:p>
            <a:p>
              <a:pPr algn="l">
                <a:lnSpc>
                  <a:spcPts val="4860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2810991" y="4349750"/>
              <a:ext cx="6464942" cy="762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320"/>
                </a:lnSpc>
              </a:pPr>
              <a:r>
                <a:rPr lang="en-US" sz="3600">
                  <a:solidFill>
                    <a:srgbClr val="387F7F"/>
                  </a:solidFill>
                  <a:latin typeface="Poppins"/>
                  <a:ea typeface="Poppins"/>
                  <a:cs typeface="Poppins"/>
                  <a:sym typeface="Poppins"/>
                </a:rPr>
                <a:t>Up Next: Loading and </a:t>
              </a:r>
            </a:p>
          </p:txBody>
        </p:sp>
        <p:grpSp>
          <p:nvGrpSpPr>
            <p:cNvPr name="Group 15" id="15"/>
            <p:cNvGrpSpPr/>
            <p:nvPr/>
          </p:nvGrpSpPr>
          <p:grpSpPr>
            <a:xfrm rot="0">
              <a:off x="15603236" y="6017261"/>
              <a:ext cx="609600" cy="609600"/>
              <a:chOff x="0" y="0"/>
              <a:chExt cx="609600" cy="609600"/>
            </a:xfrm>
          </p:grpSpPr>
          <p:sp>
            <p:nvSpPr>
              <p:cNvPr name="Freeform 16" id="16" descr="image.png"/>
              <p:cNvSpPr/>
              <p:nvPr/>
            </p:nvSpPr>
            <p:spPr>
              <a:xfrm flipH="false" flipV="false" rot="0">
                <a:off x="0" y="0"/>
                <a:ext cx="609600" cy="609600"/>
              </a:xfrm>
              <a:custGeom>
                <a:avLst/>
                <a:gdLst/>
                <a:ahLst/>
                <a:cxnLst/>
                <a:rect r="r" b="b" t="t" l="l"/>
                <a:pathLst>
                  <a:path h="6096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09600"/>
                    </a:lnTo>
                    <a:lnTo>
                      <a:pt x="0" y="6096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-1562" r="0" b="-1562"/>
                </a:stretch>
              </a:blipFill>
            </p:spPr>
          </p:sp>
        </p:grpSp>
        <p:grpSp>
          <p:nvGrpSpPr>
            <p:cNvPr name="Group 17" id="17"/>
            <p:cNvGrpSpPr/>
            <p:nvPr/>
          </p:nvGrpSpPr>
          <p:grpSpPr>
            <a:xfrm rot="0">
              <a:off x="381000" y="2997200"/>
              <a:ext cx="609600" cy="647700"/>
              <a:chOff x="0" y="0"/>
              <a:chExt cx="609600" cy="647700"/>
            </a:xfrm>
          </p:grpSpPr>
          <p:sp>
            <p:nvSpPr>
              <p:cNvPr name="Freeform 18" id="18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381000" y="4159250"/>
              <a:ext cx="609600" cy="647700"/>
              <a:chOff x="0" y="0"/>
              <a:chExt cx="609600" cy="647700"/>
            </a:xfrm>
          </p:grpSpPr>
          <p:sp>
            <p:nvSpPr>
              <p:cNvPr name="Freeform 20" id="20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381000" y="5340350"/>
              <a:ext cx="609600" cy="647700"/>
              <a:chOff x="0" y="0"/>
              <a:chExt cx="609600" cy="647700"/>
            </a:xfrm>
          </p:grpSpPr>
          <p:sp>
            <p:nvSpPr>
              <p:cNvPr name="Freeform 22" id="22" descr="image.png"/>
              <p:cNvSpPr/>
              <p:nvPr/>
            </p:nvSpPr>
            <p:spPr>
              <a:xfrm flipH="false" flipV="false" rot="0">
                <a:off x="0" y="0"/>
                <a:ext cx="609600" cy="647700"/>
              </a:xfrm>
              <a:custGeom>
                <a:avLst/>
                <a:gdLst/>
                <a:ahLst/>
                <a:cxnLst/>
                <a:rect r="r" b="b" t="t" l="l"/>
                <a:pathLst>
                  <a:path h="647700" w="609600">
                    <a:moveTo>
                      <a:pt x="0" y="0"/>
                    </a:moveTo>
                    <a:lnTo>
                      <a:pt x="609600" y="0"/>
                    </a:lnTo>
                    <a:lnTo>
                      <a:pt x="609600" y="647700"/>
                    </a:lnTo>
                    <a:lnTo>
                      <a:pt x="0" y="64770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1289050" y="5213985"/>
              <a:ext cx="11078152" cy="719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60"/>
                </a:lnSpc>
                <a:spcBef>
                  <a:spcPct val="0"/>
                </a:spcBef>
              </a:pPr>
              <a:r>
                <a:rPr lang="en-US" sz="270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Write reusable code with functions and libraries.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2856777" y="5064125"/>
              <a:ext cx="6419155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Inspecting Data with 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856777" y="5793105"/>
              <a:ext cx="2297410" cy="833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388080"/>
                  </a:solidFill>
                  <a:latin typeface="Poppins"/>
                  <a:ea typeface="Poppins"/>
                  <a:cs typeface="Poppins"/>
                  <a:sym typeface="Poppins"/>
                </a:rPr>
                <a:t>Pandas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02138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Key Takeaways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928812" y="2724150"/>
            <a:ext cx="6786562" cy="5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Variables name and save your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28812" y="3595687"/>
            <a:ext cx="6786562" cy="5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const</a:t>
            </a:r>
            <a:r>
              <a:rPr lang="en-US" sz="2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the standard choice.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8812" y="4467225"/>
            <a:ext cx="6786562" cy="5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let</a:t>
            </a:r>
            <a:r>
              <a:rPr lang="en-US" sz="2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 is for specific updates.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28812" y="5338763"/>
            <a:ext cx="6786562" cy="584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2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Never use </a:t>
            </a:r>
            <a:r>
              <a:rPr lang="en-US" sz="2700" b="true">
                <a:solidFill>
                  <a:srgbClr val="334155"/>
                </a:solidFill>
                <a:latin typeface="Poppins Bold"/>
                <a:ea typeface="Poppins Bold"/>
                <a:cs typeface="Poppins Bold"/>
                <a:sym typeface="Poppins Bold"/>
              </a:rPr>
              <a:t>var</a:t>
            </a:r>
            <a:r>
              <a:rPr lang="en-US" sz="2700">
                <a:solidFill>
                  <a:srgbClr val="334155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143000" y="5729288"/>
            <a:ext cx="457200" cy="485775"/>
            <a:chOff x="0" y="0"/>
            <a:chExt cx="609600" cy="647700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570802" y="4095750"/>
            <a:ext cx="4515331" cy="5809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320"/>
              </a:lnSpc>
            </a:pPr>
            <a:r>
              <a:rPr lang="en-US" sz="3600">
                <a:solidFill>
                  <a:srgbClr val="387F7F"/>
                </a:solidFill>
                <a:latin typeface="Poppins"/>
                <a:ea typeface="Poppins"/>
                <a:cs typeface="Poppins"/>
                <a:sym typeface="Poppins"/>
              </a:rPr>
              <a:t>Up Next: Data Types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5419508" y="4186238"/>
            <a:ext cx="457200" cy="457200"/>
            <a:chOff x="0" y="0"/>
            <a:chExt cx="609600" cy="609600"/>
          </a:xfrm>
        </p:grpSpPr>
        <p:sp>
          <p:nvSpPr>
            <p:cNvPr name="Freeform 19" id="19" descr="image.p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1562" r="0" b="-15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43000" y="3057525"/>
            <a:ext cx="457200" cy="485775"/>
            <a:chOff x="0" y="0"/>
            <a:chExt cx="609600" cy="6477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43000" y="3929062"/>
            <a:ext cx="457200" cy="485775"/>
            <a:chOff x="0" y="0"/>
            <a:chExt cx="609600" cy="647700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3000" y="4814888"/>
            <a:ext cx="457200" cy="485775"/>
            <a:chOff x="0" y="0"/>
            <a:chExt cx="609600" cy="647700"/>
          </a:xfrm>
        </p:grpSpPr>
        <p:sp>
          <p:nvSpPr>
            <p:cNvPr name="Freeform 25" id="25" descr="image.png"/>
            <p:cNvSpPr/>
            <p:nvPr/>
          </p:nvSpPr>
          <p:spPr>
            <a:xfrm flipH="false" flipV="false" rot="0">
              <a:off x="0" y="0"/>
              <a:ext cx="609600" cy="647700"/>
            </a:xfrm>
            <a:custGeom>
              <a:avLst/>
              <a:gdLst/>
              <a:ahLst/>
              <a:cxnLst/>
              <a:rect r="r" b="b" t="t" l="l"/>
              <a:pathLst>
                <a:path h="6477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47700"/>
                  </a:lnTo>
                  <a:lnTo>
                    <a:pt x="0" y="647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DAHTZxu-wm0</dc:identifier>
  <dcterms:modified xsi:type="dcterms:W3CDTF">2011-08-01T06:04:30Z</dcterms:modified>
  <cp:revision>1</cp:revision>
  <dc:title> Module 5.1 Python Fundamentals, Cosolidated</dc:title>
</cp:coreProperties>
</file>