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Inter" charset="1" panose="02000503000000020004"/>
      <p:regular r:id="rId22"/>
    </p:embeddedFont>
    <p:embeddedFont>
      <p:font typeface="Inter Bold" charset="1" panose="02000503000000020004"/>
      <p:regular r:id="rId23"/>
    </p:embeddedFont>
    <p:embeddedFont>
      <p:font typeface="Poppins Bold" charset="1" panose="00000800000000000000"/>
      <p:regular r:id="rId24"/>
    </p:embeddedFont>
    <p:embeddedFont>
      <p:font typeface="Poppins" charset="1" panose="00000500000000000000"/>
      <p:regular r:id="rId28"/>
    </p:embeddedFont>
    <p:embeddedFont>
      <p:font typeface="Poppins Italics" charset="1" panose="00000500000000000000"/>
      <p:regular r:id="rId31"/>
    </p:embeddedFont>
    <p:embeddedFont>
      <p:font typeface="Poppins Bold Italics" charset="1" panose="000008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fonts/font28.fntdata" Type="http://schemas.openxmlformats.org/officeDocument/2006/relationships/font"/><Relationship Id="rId29" Target="notesSlides/notesSlide2.xml" Type="http://schemas.openxmlformats.org/officeDocument/2006/relationships/notesSlide"/><Relationship Id="rId3" Target="viewProps.xml" Type="http://schemas.openxmlformats.org/officeDocument/2006/relationships/viewProps"/><Relationship Id="rId30" Target="notesSlides/notesSlide3.xml" Type="http://schemas.openxmlformats.org/officeDocument/2006/relationships/notesSlide"/><Relationship Id="rId31" Target="fonts/font31.fntdata" Type="http://schemas.openxmlformats.org/officeDocument/2006/relationships/font"/><Relationship Id="rId32" Target="fonts/font32.fntdata" Type="http://schemas.openxmlformats.org/officeDocument/2006/relationships/font"/><Relationship Id="rId33" Target="notesSlides/notesSlide4.xml" Type="http://schemas.openxmlformats.org/officeDocument/2006/relationships/notesSlide"/><Relationship Id="rId34" Target="notesSlides/notesSlide5.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7.pn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2" Target="../notesSlides/notesSlide2.xml" Type="http://schemas.openxmlformats.org/officeDocument/2006/relationships/notesSlide"/><Relationship Id="rId3" Target="../media/image9.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9.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7.png" Type="http://schemas.openxmlformats.org/officeDocument/2006/relationships/image"/><Relationship Id="rId9"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jpeg" Type="http://schemas.openxmlformats.org/officeDocument/2006/relationships/image"/><Relationship Id="rId4" Target="../media/image7.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jpeg" Type="http://schemas.openxmlformats.org/officeDocument/2006/relationships/image"/><Relationship Id="rId4" Target="../media/image7.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jpeg" Type="http://schemas.openxmlformats.org/officeDocument/2006/relationships/image"/><Relationship Id="rId4" Target="../media/image7.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jpe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jpeg" Type="http://schemas.openxmlformats.org/officeDocument/2006/relationships/image"/><Relationship Id="rId4" Target="../media/image7.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jpe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jpeg" Type="http://schemas.openxmlformats.org/officeDocument/2006/relationships/image"/><Relationship Id="rId4" Target="../media/image7.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jpeg" Type="http://schemas.openxmlformats.org/officeDocument/2006/relationships/image"/><Relationship Id="rId4" Target="../media/image7.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jpe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jpe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2" Target="../notesSlides/notesSlide4.xml" Type="http://schemas.openxmlformats.org/officeDocument/2006/relationships/notesSlide"/><Relationship Id="rId3" Target="../media/image9.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7.png" Type="http://schemas.openxmlformats.org/officeDocument/2006/relationships/image"/><Relationship Id="rId9" Target="../media/image1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0.png" Type="http://schemas.openxmlformats.org/officeDocument/2006/relationships/image"/><Relationship Id="rId12" Target="../media/image20.png" Type="http://schemas.openxmlformats.org/officeDocument/2006/relationships/image"/><Relationship Id="rId2" Target="../notesSlides/notesSlide5.xml" Type="http://schemas.openxmlformats.org/officeDocument/2006/relationships/notesSlide"/><Relationship Id="rId3" Target="../media/image9.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7.png" Type="http://schemas.openxmlformats.org/officeDocument/2006/relationships/image"/><Relationship Id="rId9" Target="../media/image1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430000" y="0"/>
            <a:ext cx="2286000" cy="1907572"/>
            <a:chOff x="0" y="0"/>
            <a:chExt cx="3048000" cy="2543429"/>
          </a:xfrm>
        </p:grpSpPr>
        <p:sp>
          <p:nvSpPr>
            <p:cNvPr name="Freeform 3" id="3"/>
            <p:cNvSpPr/>
            <p:nvPr/>
          </p:nvSpPr>
          <p:spPr>
            <a:xfrm flipH="false" flipV="false" rot="0">
              <a:off x="0" y="0"/>
              <a:ext cx="3048000" cy="2543429"/>
            </a:xfrm>
            <a:custGeom>
              <a:avLst/>
              <a:gdLst/>
              <a:ahLst/>
              <a:cxnLst/>
              <a:rect r="r" b="b" t="t" l="l"/>
              <a:pathLst>
                <a:path h="2543429" w="3048000">
                  <a:moveTo>
                    <a:pt x="0" y="0"/>
                  </a:moveTo>
                  <a:lnTo>
                    <a:pt x="3048000" y="0"/>
                  </a:lnTo>
                  <a:lnTo>
                    <a:pt x="3048000" y="2543429"/>
                  </a:lnTo>
                  <a:lnTo>
                    <a:pt x="0" y="2543429"/>
                  </a:lnTo>
                  <a:lnTo>
                    <a:pt x="0" y="0"/>
                  </a:lnTo>
                  <a:close/>
                </a:path>
              </a:pathLst>
            </a:custGeom>
            <a:blipFill>
              <a:blip r:embed="rId2"/>
              <a:stretch>
                <a:fillRect l="0" t="-140" r="0" b="-140"/>
              </a:stretch>
            </a:blipFill>
          </p:spPr>
        </p:sp>
      </p:grpSp>
      <p:grpSp>
        <p:nvGrpSpPr>
          <p:cNvPr name="Group 4" id="4"/>
          <p:cNvGrpSpPr/>
          <p:nvPr/>
        </p:nvGrpSpPr>
        <p:grpSpPr>
          <a:xfrm rot="0">
            <a:off x="0" y="6429375"/>
            <a:ext cx="1907572" cy="1286066"/>
            <a:chOff x="0" y="0"/>
            <a:chExt cx="2543429" cy="1714754"/>
          </a:xfrm>
        </p:grpSpPr>
        <p:sp>
          <p:nvSpPr>
            <p:cNvPr name="Freeform 5" id="5"/>
            <p:cNvSpPr/>
            <p:nvPr/>
          </p:nvSpPr>
          <p:spPr>
            <a:xfrm flipH="false" flipV="false" rot="0">
              <a:off x="0" y="0"/>
              <a:ext cx="2543429" cy="1714754"/>
            </a:xfrm>
            <a:custGeom>
              <a:avLst/>
              <a:gdLst/>
              <a:ahLst/>
              <a:cxnLst/>
              <a:rect r="r" b="b" t="t" l="l"/>
              <a:pathLst>
                <a:path h="1714754" w="2543429">
                  <a:moveTo>
                    <a:pt x="0" y="0"/>
                  </a:moveTo>
                  <a:lnTo>
                    <a:pt x="2543429" y="0"/>
                  </a:lnTo>
                  <a:lnTo>
                    <a:pt x="2543429" y="1714754"/>
                  </a:lnTo>
                  <a:lnTo>
                    <a:pt x="0" y="1714754"/>
                  </a:lnTo>
                  <a:lnTo>
                    <a:pt x="0" y="0"/>
                  </a:lnTo>
                  <a:close/>
                </a:path>
              </a:pathLst>
            </a:custGeom>
            <a:blipFill>
              <a:blip r:embed="rId3"/>
              <a:stretch>
                <a:fillRect l="-148" t="0" r="-147" b="0"/>
              </a:stretch>
            </a:blipFill>
          </p:spPr>
        </p:sp>
      </p:grpSp>
      <p:grpSp>
        <p:nvGrpSpPr>
          <p:cNvPr name="Group 6" id="6"/>
          <p:cNvGrpSpPr/>
          <p:nvPr/>
        </p:nvGrpSpPr>
        <p:grpSpPr>
          <a:xfrm rot="0">
            <a:off x="1143000" y="2944759"/>
            <a:ext cx="16002000" cy="323098"/>
            <a:chOff x="0" y="0"/>
            <a:chExt cx="21336000" cy="430797"/>
          </a:xfrm>
        </p:grpSpPr>
        <p:sp>
          <p:nvSpPr>
            <p:cNvPr name="Freeform 7" id="7"/>
            <p:cNvSpPr/>
            <p:nvPr/>
          </p:nvSpPr>
          <p:spPr>
            <a:xfrm flipH="false" flipV="false" rot="0">
              <a:off x="0" y="0"/>
              <a:ext cx="21336000" cy="430784"/>
            </a:xfrm>
            <a:custGeom>
              <a:avLst/>
              <a:gdLst/>
              <a:ahLst/>
              <a:cxnLst/>
              <a:rect r="r" b="b" t="t" l="l"/>
              <a:pathLst>
                <a:path h="430784" w="21336000">
                  <a:moveTo>
                    <a:pt x="0" y="0"/>
                  </a:moveTo>
                  <a:lnTo>
                    <a:pt x="21336000" y="0"/>
                  </a:lnTo>
                  <a:lnTo>
                    <a:pt x="21336000" y="430784"/>
                  </a:lnTo>
                  <a:lnTo>
                    <a:pt x="0" y="430784"/>
                  </a:lnTo>
                  <a:close/>
                </a:path>
              </a:pathLst>
            </a:custGeom>
            <a:blipFill>
              <a:blip r:embed="rId4">
                <a:alphaModFix amt="0"/>
              </a:blip>
              <a:stretch>
                <a:fillRect l="0" t="-914386" r="0" b="-914392"/>
              </a:stretch>
            </a:blipFill>
          </p:spPr>
        </p:sp>
      </p:grpSp>
      <p:grpSp>
        <p:nvGrpSpPr>
          <p:cNvPr name="Group 8" id="8"/>
          <p:cNvGrpSpPr/>
          <p:nvPr/>
        </p:nvGrpSpPr>
        <p:grpSpPr>
          <a:xfrm rot="0">
            <a:off x="1028700" y="2828906"/>
            <a:ext cx="16002000" cy="438950"/>
            <a:chOff x="0" y="0"/>
            <a:chExt cx="21336000" cy="585267"/>
          </a:xfrm>
        </p:grpSpPr>
        <p:sp>
          <p:nvSpPr>
            <p:cNvPr name="Freeform 9" id="9"/>
            <p:cNvSpPr/>
            <p:nvPr/>
          </p:nvSpPr>
          <p:spPr>
            <a:xfrm flipH="false" flipV="false" rot="0">
              <a:off x="0" y="0"/>
              <a:ext cx="21336000" cy="585267"/>
            </a:xfrm>
            <a:custGeom>
              <a:avLst/>
              <a:gdLst/>
              <a:ahLst/>
              <a:cxnLst/>
              <a:rect r="r" b="b" t="t" l="l"/>
              <a:pathLst>
                <a:path h="585267" w="21336000">
                  <a:moveTo>
                    <a:pt x="0" y="0"/>
                  </a:moveTo>
                  <a:lnTo>
                    <a:pt x="21336000" y="0"/>
                  </a:lnTo>
                  <a:lnTo>
                    <a:pt x="21336000" y="585267"/>
                  </a:lnTo>
                  <a:lnTo>
                    <a:pt x="0" y="585267"/>
                  </a:lnTo>
                  <a:close/>
                </a:path>
              </a:pathLst>
            </a:custGeom>
            <a:blipFill>
              <a:blip r:embed="rId5">
                <a:alphaModFix amt="0"/>
              </a:blip>
              <a:stretch>
                <a:fillRect l="0" t="-673526" r="0" b="-647133"/>
              </a:stretch>
            </a:blipFill>
          </p:spPr>
        </p:sp>
        <p:sp>
          <p:nvSpPr>
            <p:cNvPr name="TextBox 10" id="10"/>
            <p:cNvSpPr txBox="true"/>
            <p:nvPr/>
          </p:nvSpPr>
          <p:spPr>
            <a:xfrm>
              <a:off x="0" y="0"/>
              <a:ext cx="21336000" cy="585267"/>
            </a:xfrm>
            <a:prstGeom prst="rect">
              <a:avLst/>
            </a:prstGeom>
          </p:spPr>
          <p:txBody>
            <a:bodyPr anchor="ctr" rtlCol="false" tIns="0" lIns="0" bIns="0" rIns="0"/>
            <a:lstStyle/>
            <a:p>
              <a:pPr algn="l">
                <a:lnSpc>
                  <a:spcPts val="2520"/>
                </a:lnSpc>
              </a:pPr>
              <a:r>
                <a:rPr lang="en-US" sz="2100">
                  <a:solidFill>
                    <a:srgbClr val="387F7F"/>
                  </a:solidFill>
                  <a:latin typeface="Inter"/>
                  <a:ea typeface="Inter"/>
                  <a:cs typeface="Inter"/>
                  <a:sym typeface="Inter"/>
                </a:rPr>
                <a:t>DATA ANALYSIS</a:t>
              </a:r>
            </a:p>
          </p:txBody>
        </p:sp>
      </p:grpSp>
      <p:grpSp>
        <p:nvGrpSpPr>
          <p:cNvPr name="Group 11" id="11"/>
          <p:cNvGrpSpPr/>
          <p:nvPr/>
        </p:nvGrpSpPr>
        <p:grpSpPr>
          <a:xfrm rot="0">
            <a:off x="1143000" y="3349571"/>
            <a:ext cx="16002000" cy="691134"/>
            <a:chOff x="0" y="0"/>
            <a:chExt cx="21336000" cy="921512"/>
          </a:xfrm>
        </p:grpSpPr>
        <p:sp>
          <p:nvSpPr>
            <p:cNvPr name="Freeform 12" id="12"/>
            <p:cNvSpPr/>
            <p:nvPr/>
          </p:nvSpPr>
          <p:spPr>
            <a:xfrm flipH="false" flipV="false" rot="0">
              <a:off x="0" y="0"/>
              <a:ext cx="21336000" cy="921512"/>
            </a:xfrm>
            <a:custGeom>
              <a:avLst/>
              <a:gdLst/>
              <a:ahLst/>
              <a:cxnLst/>
              <a:rect r="r" b="b" t="t" l="l"/>
              <a:pathLst>
                <a:path h="921512" w="21336000">
                  <a:moveTo>
                    <a:pt x="0" y="0"/>
                  </a:moveTo>
                  <a:lnTo>
                    <a:pt x="21336000" y="0"/>
                  </a:lnTo>
                  <a:lnTo>
                    <a:pt x="21336000" y="921512"/>
                  </a:lnTo>
                  <a:lnTo>
                    <a:pt x="0" y="921512"/>
                  </a:lnTo>
                  <a:close/>
                </a:path>
              </a:pathLst>
            </a:custGeom>
            <a:blipFill>
              <a:blip r:embed="rId4">
                <a:alphaModFix amt="0"/>
              </a:blip>
              <a:stretch>
                <a:fillRect l="0" t="-400828" r="0" b="-400828"/>
              </a:stretch>
            </a:blipFill>
          </p:spPr>
        </p:sp>
      </p:grpSp>
      <p:grpSp>
        <p:nvGrpSpPr>
          <p:cNvPr name="Group 13" id="13"/>
          <p:cNvGrpSpPr/>
          <p:nvPr/>
        </p:nvGrpSpPr>
        <p:grpSpPr>
          <a:xfrm rot="0">
            <a:off x="1028700" y="3349571"/>
            <a:ext cx="8553218" cy="698283"/>
            <a:chOff x="0" y="0"/>
            <a:chExt cx="11404290" cy="931044"/>
          </a:xfrm>
        </p:grpSpPr>
        <p:sp>
          <p:nvSpPr>
            <p:cNvPr name="Freeform 14" id="14"/>
            <p:cNvSpPr/>
            <p:nvPr/>
          </p:nvSpPr>
          <p:spPr>
            <a:xfrm flipH="false" flipV="false" rot="0">
              <a:off x="0" y="0"/>
              <a:ext cx="11404291" cy="931038"/>
            </a:xfrm>
            <a:custGeom>
              <a:avLst/>
              <a:gdLst/>
              <a:ahLst/>
              <a:cxnLst/>
              <a:rect r="r" b="b" t="t" l="l"/>
              <a:pathLst>
                <a:path h="931038" w="11404291">
                  <a:moveTo>
                    <a:pt x="0" y="0"/>
                  </a:moveTo>
                  <a:lnTo>
                    <a:pt x="11404291" y="0"/>
                  </a:lnTo>
                  <a:lnTo>
                    <a:pt x="11404291" y="931038"/>
                  </a:lnTo>
                  <a:lnTo>
                    <a:pt x="0" y="931038"/>
                  </a:lnTo>
                  <a:close/>
                </a:path>
              </a:pathLst>
            </a:custGeom>
            <a:blipFill>
              <a:blip r:embed="rId5">
                <a:alphaModFix amt="0"/>
              </a:blip>
              <a:stretch>
                <a:fillRect l="0" t="-396525" r="-87087" b="-396526"/>
              </a:stretch>
            </a:blipFill>
          </p:spPr>
        </p:sp>
        <p:sp>
          <p:nvSpPr>
            <p:cNvPr name="TextBox 15" id="15"/>
            <p:cNvSpPr txBox="true"/>
            <p:nvPr/>
          </p:nvSpPr>
          <p:spPr>
            <a:xfrm>
              <a:off x="0" y="-9525"/>
              <a:ext cx="11404290" cy="940569"/>
            </a:xfrm>
            <a:prstGeom prst="rect">
              <a:avLst/>
            </a:prstGeom>
          </p:spPr>
          <p:txBody>
            <a:bodyPr anchor="ctr" rtlCol="false" tIns="0" lIns="0" bIns="0" rIns="0"/>
            <a:lstStyle/>
            <a:p>
              <a:pPr algn="l">
                <a:lnSpc>
                  <a:spcPts val="3960"/>
                </a:lnSpc>
              </a:pPr>
              <a:r>
                <a:rPr lang="en-US" sz="3300" b="true">
                  <a:solidFill>
                    <a:srgbClr val="64748B"/>
                  </a:solidFill>
                  <a:latin typeface="Inter Bold"/>
                  <a:ea typeface="Inter Bold"/>
                  <a:cs typeface="Inter Bold"/>
                  <a:sym typeface="Inter Bold"/>
                </a:rPr>
                <a:t>Module 5:  Python For Data Analysis</a:t>
              </a:r>
            </a:p>
          </p:txBody>
        </p:sp>
      </p:grpSp>
      <p:grpSp>
        <p:nvGrpSpPr>
          <p:cNvPr name="Group 16" id="16"/>
          <p:cNvGrpSpPr/>
          <p:nvPr/>
        </p:nvGrpSpPr>
        <p:grpSpPr>
          <a:xfrm rot="0">
            <a:off x="1143000" y="8572500"/>
            <a:ext cx="16002000" cy="28766"/>
            <a:chOff x="0" y="0"/>
            <a:chExt cx="21336000" cy="38354"/>
          </a:xfrm>
        </p:grpSpPr>
        <p:sp>
          <p:nvSpPr>
            <p:cNvPr name="Freeform 17" id="17"/>
            <p:cNvSpPr/>
            <p:nvPr/>
          </p:nvSpPr>
          <p:spPr>
            <a:xfrm flipH="false" flipV="false" rot="0">
              <a:off x="0" y="0"/>
              <a:ext cx="21336000" cy="38354"/>
            </a:xfrm>
            <a:custGeom>
              <a:avLst/>
              <a:gdLst/>
              <a:ahLst/>
              <a:cxnLst/>
              <a:rect r="r" b="b" t="t" l="l"/>
              <a:pathLst>
                <a:path h="38354" w="21336000">
                  <a:moveTo>
                    <a:pt x="0" y="0"/>
                  </a:moveTo>
                  <a:lnTo>
                    <a:pt x="21336000" y="0"/>
                  </a:lnTo>
                  <a:lnTo>
                    <a:pt x="21336000" y="38354"/>
                  </a:lnTo>
                  <a:lnTo>
                    <a:pt x="0" y="38354"/>
                  </a:lnTo>
                  <a:close/>
                </a:path>
              </a:pathLst>
            </a:custGeom>
            <a:solidFill>
              <a:srgbClr val="E2E8F0"/>
            </a:solidFill>
          </p:spPr>
        </p:sp>
      </p:grpSp>
      <p:grpSp>
        <p:nvGrpSpPr>
          <p:cNvPr name="Group 18" id="18"/>
          <p:cNvGrpSpPr/>
          <p:nvPr/>
        </p:nvGrpSpPr>
        <p:grpSpPr>
          <a:xfrm rot="0">
            <a:off x="1028700" y="8981323"/>
            <a:ext cx="385667" cy="342900"/>
            <a:chOff x="0" y="0"/>
            <a:chExt cx="514223" cy="457200"/>
          </a:xfrm>
        </p:grpSpPr>
        <p:sp>
          <p:nvSpPr>
            <p:cNvPr name="Freeform 19" id="19"/>
            <p:cNvSpPr/>
            <p:nvPr/>
          </p:nvSpPr>
          <p:spPr>
            <a:xfrm flipH="false" flipV="false" rot="0">
              <a:off x="0" y="0"/>
              <a:ext cx="514223" cy="457200"/>
            </a:xfrm>
            <a:custGeom>
              <a:avLst/>
              <a:gdLst/>
              <a:ahLst/>
              <a:cxnLst/>
              <a:rect r="r" b="b" t="t" l="l"/>
              <a:pathLst>
                <a:path h="457200" w="514223">
                  <a:moveTo>
                    <a:pt x="0" y="0"/>
                  </a:moveTo>
                  <a:lnTo>
                    <a:pt x="514223" y="0"/>
                  </a:lnTo>
                  <a:lnTo>
                    <a:pt x="514223" y="457200"/>
                  </a:lnTo>
                  <a:lnTo>
                    <a:pt x="0" y="457200"/>
                  </a:lnTo>
                  <a:lnTo>
                    <a:pt x="0" y="0"/>
                  </a:lnTo>
                  <a:close/>
                </a:path>
              </a:pathLst>
            </a:custGeom>
            <a:blipFill>
              <a:blip r:embed="rId6"/>
              <a:stretch>
                <a:fillRect l="-12" t="0" r="-12" b="0"/>
              </a:stretch>
            </a:blipFill>
          </p:spPr>
        </p:sp>
      </p:grpSp>
      <p:grpSp>
        <p:nvGrpSpPr>
          <p:cNvPr name="Group 20" id="20"/>
          <p:cNvGrpSpPr/>
          <p:nvPr/>
        </p:nvGrpSpPr>
        <p:grpSpPr>
          <a:xfrm rot="0">
            <a:off x="1643062" y="9001125"/>
            <a:ext cx="2143354" cy="323098"/>
            <a:chOff x="0" y="0"/>
            <a:chExt cx="2857805" cy="430797"/>
          </a:xfrm>
        </p:grpSpPr>
        <p:sp>
          <p:nvSpPr>
            <p:cNvPr name="Freeform 21" id="21"/>
            <p:cNvSpPr/>
            <p:nvPr/>
          </p:nvSpPr>
          <p:spPr>
            <a:xfrm flipH="false" flipV="false" rot="0">
              <a:off x="0" y="0"/>
              <a:ext cx="2857754" cy="430784"/>
            </a:xfrm>
            <a:custGeom>
              <a:avLst/>
              <a:gdLst/>
              <a:ahLst/>
              <a:cxnLst/>
              <a:rect r="r" b="b" t="t" l="l"/>
              <a:pathLst>
                <a:path h="430784" w="2857754">
                  <a:moveTo>
                    <a:pt x="0" y="0"/>
                  </a:moveTo>
                  <a:lnTo>
                    <a:pt x="2857754" y="0"/>
                  </a:lnTo>
                  <a:lnTo>
                    <a:pt x="2857754" y="430784"/>
                  </a:lnTo>
                  <a:lnTo>
                    <a:pt x="0" y="430784"/>
                  </a:lnTo>
                  <a:close/>
                </a:path>
              </a:pathLst>
            </a:custGeom>
            <a:blipFill>
              <a:blip r:embed="rId4">
                <a:alphaModFix amt="0"/>
              </a:blip>
              <a:stretch>
                <a:fillRect l="0" t="-79171" r="-1" b="-79174"/>
              </a:stretch>
            </a:blipFill>
          </p:spPr>
        </p:sp>
      </p:grpSp>
      <p:grpSp>
        <p:nvGrpSpPr>
          <p:cNvPr name="Group 22" id="22"/>
          <p:cNvGrpSpPr/>
          <p:nvPr/>
        </p:nvGrpSpPr>
        <p:grpSpPr>
          <a:xfrm rot="0">
            <a:off x="1643062" y="9001125"/>
            <a:ext cx="2143354" cy="323098"/>
            <a:chOff x="0" y="0"/>
            <a:chExt cx="2857805" cy="430797"/>
          </a:xfrm>
        </p:grpSpPr>
        <p:sp>
          <p:nvSpPr>
            <p:cNvPr name="Freeform 23" id="23"/>
            <p:cNvSpPr/>
            <p:nvPr/>
          </p:nvSpPr>
          <p:spPr>
            <a:xfrm flipH="false" flipV="false" rot="0">
              <a:off x="0" y="0"/>
              <a:ext cx="2857805" cy="430797"/>
            </a:xfrm>
            <a:custGeom>
              <a:avLst/>
              <a:gdLst/>
              <a:ahLst/>
              <a:cxnLst/>
              <a:rect r="r" b="b" t="t" l="l"/>
              <a:pathLst>
                <a:path h="430797" w="2857805">
                  <a:moveTo>
                    <a:pt x="0" y="0"/>
                  </a:moveTo>
                  <a:lnTo>
                    <a:pt x="2857805" y="0"/>
                  </a:lnTo>
                  <a:lnTo>
                    <a:pt x="2857805" y="430797"/>
                  </a:lnTo>
                  <a:lnTo>
                    <a:pt x="0" y="430797"/>
                  </a:lnTo>
                  <a:close/>
                </a:path>
              </a:pathLst>
            </a:custGeom>
            <a:blipFill>
              <a:blip r:embed="rId5">
                <a:alphaModFix amt="0"/>
              </a:blip>
              <a:stretch>
                <a:fillRect l="0" t="-79259" r="0" b="-79258"/>
              </a:stretch>
            </a:blipFill>
          </p:spPr>
        </p:sp>
        <p:sp>
          <p:nvSpPr>
            <p:cNvPr name="TextBox 24" id="24"/>
            <p:cNvSpPr txBox="true"/>
            <p:nvPr/>
          </p:nvSpPr>
          <p:spPr>
            <a:xfrm>
              <a:off x="0" y="0"/>
              <a:ext cx="2857805" cy="430797"/>
            </a:xfrm>
            <a:prstGeom prst="rect">
              <a:avLst/>
            </a:prstGeom>
          </p:spPr>
          <p:txBody>
            <a:bodyPr anchor="ctr" rtlCol="false" tIns="0" lIns="0" bIns="0" rIns="0"/>
            <a:lstStyle/>
            <a:p>
              <a:pPr algn="l">
                <a:lnSpc>
                  <a:spcPts val="2520"/>
                </a:lnSpc>
              </a:pPr>
              <a:r>
                <a:rPr lang="en-US" sz="2100">
                  <a:solidFill>
                    <a:srgbClr val="64748B"/>
                  </a:solidFill>
                  <a:latin typeface="Inter"/>
                  <a:ea typeface="Inter"/>
                  <a:cs typeface="Inter"/>
                  <a:sym typeface="Inter"/>
                </a:rPr>
                <a:t>Topic 1 of 4</a:t>
              </a:r>
            </a:p>
          </p:txBody>
        </p:sp>
      </p:grpSp>
      <p:grpSp>
        <p:nvGrpSpPr>
          <p:cNvPr name="Group 25" id="25"/>
          <p:cNvGrpSpPr/>
          <p:nvPr/>
        </p:nvGrpSpPr>
        <p:grpSpPr>
          <a:xfrm rot="0">
            <a:off x="1028700" y="583054"/>
            <a:ext cx="2124666" cy="1845802"/>
            <a:chOff x="0" y="0"/>
            <a:chExt cx="2832887" cy="2461070"/>
          </a:xfrm>
        </p:grpSpPr>
        <p:sp>
          <p:nvSpPr>
            <p:cNvPr name="Freeform 26" id="26"/>
            <p:cNvSpPr/>
            <p:nvPr/>
          </p:nvSpPr>
          <p:spPr>
            <a:xfrm flipH="false" flipV="false" rot="0">
              <a:off x="0" y="0"/>
              <a:ext cx="2832862" cy="2461133"/>
            </a:xfrm>
            <a:custGeom>
              <a:avLst/>
              <a:gdLst/>
              <a:ahLst/>
              <a:cxnLst/>
              <a:rect r="r" b="b" t="t" l="l"/>
              <a:pathLst>
                <a:path h="2461133" w="2832862">
                  <a:moveTo>
                    <a:pt x="0" y="0"/>
                  </a:moveTo>
                  <a:lnTo>
                    <a:pt x="2832862" y="0"/>
                  </a:lnTo>
                  <a:lnTo>
                    <a:pt x="2832862" y="2461133"/>
                  </a:lnTo>
                  <a:lnTo>
                    <a:pt x="0" y="2461133"/>
                  </a:lnTo>
                  <a:lnTo>
                    <a:pt x="0" y="0"/>
                  </a:lnTo>
                  <a:close/>
                </a:path>
              </a:pathLst>
            </a:custGeom>
            <a:blipFill>
              <a:blip r:embed="rId7"/>
              <a:stretch>
                <a:fillRect l="0" t="-51" r="0" b="-49"/>
              </a:stretch>
            </a:blipFill>
          </p:spPr>
        </p:sp>
      </p:grpSp>
      <p:grpSp>
        <p:nvGrpSpPr>
          <p:cNvPr name="Group 27" id="27"/>
          <p:cNvGrpSpPr/>
          <p:nvPr/>
        </p:nvGrpSpPr>
        <p:grpSpPr>
          <a:xfrm rot="0">
            <a:off x="16497824" y="8924125"/>
            <a:ext cx="647224" cy="571500"/>
            <a:chOff x="0" y="0"/>
            <a:chExt cx="862965" cy="762000"/>
          </a:xfrm>
        </p:grpSpPr>
        <p:sp>
          <p:nvSpPr>
            <p:cNvPr name="Freeform 28" id="28"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sp>
        <p:nvSpPr>
          <p:cNvPr name="TextBox 29" id="29"/>
          <p:cNvSpPr txBox="true"/>
          <p:nvPr/>
        </p:nvSpPr>
        <p:spPr>
          <a:xfrm rot="0">
            <a:off x="1028700" y="3916880"/>
            <a:ext cx="8001000" cy="3873498"/>
          </a:xfrm>
          <a:prstGeom prst="rect">
            <a:avLst/>
          </a:prstGeom>
        </p:spPr>
        <p:txBody>
          <a:bodyPr anchor="t" rtlCol="false" tIns="0" lIns="0" bIns="0" rIns="0">
            <a:spAutoFit/>
          </a:bodyPr>
          <a:lstStyle/>
          <a:p>
            <a:pPr algn="l">
              <a:lnSpc>
                <a:spcPts val="10000"/>
              </a:lnSpc>
            </a:pPr>
            <a:r>
              <a:rPr lang="en-US" sz="8000" b="true">
                <a:solidFill>
                  <a:srgbClr val="388080"/>
                </a:solidFill>
                <a:latin typeface="Poppins Bold"/>
                <a:ea typeface="Poppins Bold"/>
                <a:cs typeface="Poppins Bold"/>
                <a:sym typeface="Poppins Bold"/>
              </a:rPr>
              <a:t>Python Fundamentals,</a:t>
            </a:r>
            <a:r>
              <a:rPr lang="en-US" sz="8000" b="true">
                <a:solidFill>
                  <a:srgbClr val="000000"/>
                </a:solidFill>
                <a:latin typeface="Poppins Bold"/>
                <a:ea typeface="Poppins Bold"/>
                <a:cs typeface="Poppins Bold"/>
                <a:sym typeface="Poppins Bold"/>
              </a:rPr>
              <a:t> Co</a:t>
            </a:r>
            <a:r>
              <a:rPr lang="en-US" sz="8000" b="true">
                <a:solidFill>
                  <a:srgbClr val="000000"/>
                </a:solidFill>
                <a:latin typeface="Poppins Bold"/>
                <a:ea typeface="Poppins Bold"/>
                <a:cs typeface="Poppins Bold"/>
                <a:sym typeface="Poppins Bold"/>
              </a:rPr>
              <a:t>nsolidated</a:t>
            </a:r>
          </a:p>
        </p:txBody>
      </p:sp>
      <p:grpSp>
        <p:nvGrpSpPr>
          <p:cNvPr name="Group 30" id="30"/>
          <p:cNvGrpSpPr/>
          <p:nvPr/>
        </p:nvGrpSpPr>
        <p:grpSpPr>
          <a:xfrm rot="0">
            <a:off x="11121338" y="2143125"/>
            <a:ext cx="6137962" cy="5700886"/>
            <a:chOff x="0" y="0"/>
            <a:chExt cx="9571580" cy="8890000"/>
          </a:xfrm>
        </p:grpSpPr>
        <p:sp>
          <p:nvSpPr>
            <p:cNvPr name="Freeform 31" id="31"/>
            <p:cNvSpPr/>
            <p:nvPr/>
          </p:nvSpPr>
          <p:spPr>
            <a:xfrm flipH="false" flipV="false" rot="0">
              <a:off x="0" y="0"/>
              <a:ext cx="9571580" cy="8890000"/>
            </a:xfrm>
            <a:custGeom>
              <a:avLst/>
              <a:gdLst/>
              <a:ahLst/>
              <a:cxnLst/>
              <a:rect r="r" b="b" t="t" l="l"/>
              <a:pathLst>
                <a:path h="8890000" w="9571580">
                  <a:moveTo>
                    <a:pt x="275913" y="0"/>
                  </a:moveTo>
                  <a:lnTo>
                    <a:pt x="9295667" y="0"/>
                  </a:lnTo>
                  <a:cubicBezTo>
                    <a:pt x="9448050" y="0"/>
                    <a:pt x="9571580" y="123531"/>
                    <a:pt x="9571580" y="275913"/>
                  </a:cubicBezTo>
                  <a:lnTo>
                    <a:pt x="9571580" y="8614087"/>
                  </a:lnTo>
                  <a:cubicBezTo>
                    <a:pt x="9571580" y="8766470"/>
                    <a:pt x="9448050" y="8890000"/>
                    <a:pt x="9295667" y="8890000"/>
                  </a:cubicBezTo>
                  <a:lnTo>
                    <a:pt x="275913" y="8890000"/>
                  </a:lnTo>
                  <a:cubicBezTo>
                    <a:pt x="123531" y="8890000"/>
                    <a:pt x="0" y="8766470"/>
                    <a:pt x="0" y="8614087"/>
                  </a:cubicBezTo>
                  <a:lnTo>
                    <a:pt x="0" y="275913"/>
                  </a:lnTo>
                  <a:cubicBezTo>
                    <a:pt x="0" y="123531"/>
                    <a:pt x="123531" y="0"/>
                    <a:pt x="275913" y="0"/>
                  </a:cubicBezTo>
                  <a:close/>
                </a:path>
              </a:pathLst>
            </a:custGeom>
            <a:blipFill>
              <a:blip r:embed="rId9"/>
              <a:stretch>
                <a:fillRect l="0" t="-3833" r="0" b="-3833"/>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1143000" y="857250"/>
            <a:ext cx="142875" cy="742950"/>
            <a:chOff x="0" y="0"/>
            <a:chExt cx="190500" cy="990600"/>
          </a:xfrm>
        </p:grpSpPr>
        <p:sp>
          <p:nvSpPr>
            <p:cNvPr name="Freeform 5" id="5"/>
            <p:cNvSpPr/>
            <p:nvPr/>
          </p:nvSpPr>
          <p:spPr>
            <a:xfrm flipH="false" flipV="false" rot="0">
              <a:off x="0" y="0"/>
              <a:ext cx="190500" cy="990600"/>
            </a:xfrm>
            <a:custGeom>
              <a:avLst/>
              <a:gdLst/>
              <a:ahLst/>
              <a:cxnLst/>
              <a:rect r="r" b="b" t="t" l="l"/>
              <a:pathLst>
                <a:path h="990600" w="190500">
                  <a:moveTo>
                    <a:pt x="0" y="0"/>
                  </a:moveTo>
                  <a:lnTo>
                    <a:pt x="190500" y="0"/>
                  </a:lnTo>
                  <a:lnTo>
                    <a:pt x="190500" y="990600"/>
                  </a:lnTo>
                  <a:lnTo>
                    <a:pt x="0" y="990600"/>
                  </a:lnTo>
                  <a:close/>
                </a:path>
              </a:pathLst>
            </a:custGeom>
            <a:solidFill>
              <a:srgbClr val="388080"/>
            </a:solidFill>
          </p:spPr>
        </p:sp>
      </p:grpSp>
      <p:sp>
        <p:nvSpPr>
          <p:cNvPr name="TextBox 6" id="6"/>
          <p:cNvSpPr txBox="true"/>
          <p:nvPr/>
        </p:nvSpPr>
        <p:spPr>
          <a:xfrm rot="0">
            <a:off x="1485900" y="762000"/>
            <a:ext cx="6929586"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MODULE 5 OBJECTIVES</a:t>
            </a:r>
          </a:p>
        </p:txBody>
      </p:sp>
      <p:grpSp>
        <p:nvGrpSpPr>
          <p:cNvPr name="Group 7" id="7"/>
          <p:cNvGrpSpPr/>
          <p:nvPr/>
        </p:nvGrpSpPr>
        <p:grpSpPr>
          <a:xfrm rot="0">
            <a:off x="1143000" y="2333473"/>
            <a:ext cx="457200" cy="485775"/>
            <a:chOff x="0" y="0"/>
            <a:chExt cx="609600" cy="647700"/>
          </a:xfrm>
        </p:grpSpPr>
        <p:sp>
          <p:nvSpPr>
            <p:cNvPr name="Freeform 8" id="8" descr="image.png"/>
            <p:cNvSpPr/>
            <p:nvPr/>
          </p:nvSpPr>
          <p:spPr>
            <a:xfrm flipH="false" flipV="false" rot="0">
              <a:off x="0" y="0"/>
              <a:ext cx="609600" cy="647700"/>
            </a:xfrm>
            <a:custGeom>
              <a:avLst/>
              <a:gdLst/>
              <a:ahLst/>
              <a:cxnLst/>
              <a:rect r="r" b="b" t="t" l="l"/>
              <a:pathLst>
                <a:path h="647700" w="609600">
                  <a:moveTo>
                    <a:pt x="0" y="0"/>
                  </a:moveTo>
                  <a:lnTo>
                    <a:pt x="609600" y="0"/>
                  </a:lnTo>
                  <a:lnTo>
                    <a:pt x="609600" y="647700"/>
                  </a:lnTo>
                  <a:lnTo>
                    <a:pt x="0" y="647700"/>
                  </a:lnTo>
                  <a:lnTo>
                    <a:pt x="0" y="0"/>
                  </a:lnTo>
                  <a:close/>
                </a:path>
              </a:pathLst>
            </a:custGeom>
            <a:blipFill>
              <a:blip r:embed="rId4"/>
              <a:stretch>
                <a:fillRect l="0" t="0" r="0" b="0"/>
              </a:stretch>
            </a:blipFill>
          </p:spPr>
        </p:sp>
      </p:grpSp>
      <p:sp>
        <p:nvSpPr>
          <p:cNvPr name="TextBox 9" id="9"/>
          <p:cNvSpPr txBox="true"/>
          <p:nvPr/>
        </p:nvSpPr>
        <p:spPr>
          <a:xfrm rot="0">
            <a:off x="1857375" y="2162975"/>
            <a:ext cx="11758428" cy="2413635"/>
          </a:xfrm>
          <a:prstGeom prst="rect">
            <a:avLst/>
          </a:prstGeom>
        </p:spPr>
        <p:txBody>
          <a:bodyPr anchor="t" rtlCol="false" tIns="0" lIns="0" bIns="0" rIns="0">
            <a:spAutoFit/>
          </a:bodyPr>
          <a:lstStyle/>
          <a:p>
            <a:pPr algn="l">
              <a:lnSpc>
                <a:spcPts val="4860"/>
              </a:lnSpc>
            </a:pPr>
            <a:r>
              <a:rPr lang="en-US" sz="2700">
                <a:solidFill>
                  <a:srgbClr val="1E293B"/>
                </a:solidFill>
                <a:latin typeface="Poppins"/>
                <a:ea typeface="Poppins"/>
                <a:cs typeface="Poppins"/>
                <a:sym typeface="Poppins"/>
              </a:rPr>
              <a:t>Und</a:t>
            </a:r>
            <a:r>
              <a:rPr lang="en-US" sz="2700">
                <a:solidFill>
                  <a:srgbClr val="1E293B"/>
                </a:solidFill>
                <a:latin typeface="Poppins"/>
                <a:ea typeface="Poppins"/>
                <a:cs typeface="Poppins"/>
                <a:sym typeface="Poppins"/>
              </a:rPr>
              <a:t>erstand and use core Python data structures: variables, data types lists, and dictionaries to represent and organize data</a:t>
            </a:r>
          </a:p>
          <a:p>
            <a:pPr algn="l">
              <a:lnSpc>
                <a:spcPts val="4860"/>
              </a:lnSpc>
            </a:pPr>
          </a:p>
          <a:p>
            <a:pPr algn="l">
              <a:lnSpc>
                <a:spcPts val="4860"/>
              </a:lnSpc>
            </a:pPr>
          </a:p>
        </p:txBody>
      </p:sp>
      <p:sp>
        <p:nvSpPr>
          <p:cNvPr name="TextBox 10" id="10"/>
          <p:cNvSpPr txBox="true"/>
          <p:nvPr/>
        </p:nvSpPr>
        <p:spPr>
          <a:xfrm rot="0">
            <a:off x="1857375" y="6468329"/>
            <a:ext cx="12103889" cy="1194435"/>
          </a:xfrm>
          <a:prstGeom prst="rect">
            <a:avLst/>
          </a:prstGeom>
        </p:spPr>
        <p:txBody>
          <a:bodyPr anchor="t" rtlCol="false" tIns="0" lIns="0" bIns="0" rIns="0">
            <a:spAutoFit/>
          </a:bodyPr>
          <a:lstStyle/>
          <a:p>
            <a:pPr algn="l">
              <a:lnSpc>
                <a:spcPts val="4860"/>
              </a:lnSpc>
            </a:pPr>
            <a:r>
              <a:rPr lang="en-US" sz="2700">
                <a:solidFill>
                  <a:srgbClr val="1E293B"/>
                </a:solidFill>
                <a:latin typeface="Poppins"/>
                <a:ea typeface="Poppins"/>
                <a:cs typeface="Poppins"/>
                <a:sym typeface="Poppins"/>
              </a:rPr>
              <a:t>Read,</a:t>
            </a:r>
            <a:r>
              <a:rPr lang="en-US" sz="2700">
                <a:solidFill>
                  <a:srgbClr val="1E293B"/>
                </a:solidFill>
                <a:latin typeface="Poppins"/>
                <a:ea typeface="Poppins"/>
                <a:cs typeface="Poppins"/>
                <a:sym typeface="Poppins"/>
              </a:rPr>
              <a:t> debug, and verify Python code: interpret common Python errors, fix problems, rerun code, and verify results against expected values.</a:t>
            </a:r>
          </a:p>
        </p:txBody>
      </p:sp>
      <p:grpSp>
        <p:nvGrpSpPr>
          <p:cNvPr name="Group 11" id="11"/>
          <p:cNvGrpSpPr/>
          <p:nvPr/>
        </p:nvGrpSpPr>
        <p:grpSpPr>
          <a:xfrm rot="0">
            <a:off x="1143000" y="5258654"/>
            <a:ext cx="457200" cy="485775"/>
            <a:chOff x="0" y="0"/>
            <a:chExt cx="609600" cy="647700"/>
          </a:xfrm>
        </p:grpSpPr>
        <p:sp>
          <p:nvSpPr>
            <p:cNvPr name="Freeform 12" id="12" descr="image.png"/>
            <p:cNvSpPr/>
            <p:nvPr/>
          </p:nvSpPr>
          <p:spPr>
            <a:xfrm flipH="false" flipV="false" rot="0">
              <a:off x="0" y="0"/>
              <a:ext cx="609600" cy="647700"/>
            </a:xfrm>
            <a:custGeom>
              <a:avLst/>
              <a:gdLst/>
              <a:ahLst/>
              <a:cxnLst/>
              <a:rect r="r" b="b" t="t" l="l"/>
              <a:pathLst>
                <a:path h="647700" w="609600">
                  <a:moveTo>
                    <a:pt x="0" y="0"/>
                  </a:moveTo>
                  <a:lnTo>
                    <a:pt x="609600" y="0"/>
                  </a:lnTo>
                  <a:lnTo>
                    <a:pt x="609600" y="647700"/>
                  </a:lnTo>
                  <a:lnTo>
                    <a:pt x="0" y="647700"/>
                  </a:lnTo>
                  <a:lnTo>
                    <a:pt x="0" y="0"/>
                  </a:lnTo>
                  <a:close/>
                </a:path>
              </a:pathLst>
            </a:custGeom>
            <a:blipFill>
              <a:blip r:embed="rId4"/>
              <a:stretch>
                <a:fillRect l="0" t="0" r="0" b="0"/>
              </a:stretch>
            </a:blipFill>
          </p:spPr>
        </p:sp>
      </p:grpSp>
      <p:sp>
        <p:nvSpPr>
          <p:cNvPr name="TextBox 13" id="13"/>
          <p:cNvSpPr txBox="true"/>
          <p:nvPr/>
        </p:nvSpPr>
        <p:spPr>
          <a:xfrm rot="0">
            <a:off x="1857375" y="5056724"/>
            <a:ext cx="11310610" cy="1194435"/>
          </a:xfrm>
          <a:prstGeom prst="rect">
            <a:avLst/>
          </a:prstGeom>
        </p:spPr>
        <p:txBody>
          <a:bodyPr anchor="t" rtlCol="false" tIns="0" lIns="0" bIns="0" rIns="0">
            <a:spAutoFit/>
          </a:bodyPr>
          <a:lstStyle/>
          <a:p>
            <a:pPr algn="l">
              <a:lnSpc>
                <a:spcPts val="4860"/>
              </a:lnSpc>
            </a:pPr>
            <a:r>
              <a:rPr lang="en-US" sz="2700">
                <a:solidFill>
                  <a:srgbClr val="1E293B"/>
                </a:solidFill>
                <a:latin typeface="Poppins"/>
                <a:ea typeface="Poppins"/>
                <a:cs typeface="Poppins"/>
                <a:sym typeface="Poppins"/>
              </a:rPr>
              <a:t>Create reusable Python code: import l</a:t>
            </a:r>
            <a:r>
              <a:rPr lang="en-US" sz="2700">
                <a:solidFill>
                  <a:srgbClr val="1E293B"/>
                </a:solidFill>
                <a:latin typeface="Poppins"/>
                <a:ea typeface="Poppins"/>
                <a:cs typeface="Poppins"/>
                <a:sym typeface="Poppins"/>
              </a:rPr>
              <a:t>ibraries and write functions to perform calculations and repeat common analysis tasks.</a:t>
            </a:r>
          </a:p>
        </p:txBody>
      </p:sp>
      <p:grpSp>
        <p:nvGrpSpPr>
          <p:cNvPr name="Group 14" id="14"/>
          <p:cNvGrpSpPr/>
          <p:nvPr/>
        </p:nvGrpSpPr>
        <p:grpSpPr>
          <a:xfrm rot="0">
            <a:off x="16070180" y="1028700"/>
            <a:ext cx="1189120" cy="1033053"/>
            <a:chOff x="0" y="0"/>
            <a:chExt cx="1585493" cy="1377404"/>
          </a:xfrm>
        </p:grpSpPr>
        <p:sp>
          <p:nvSpPr>
            <p:cNvPr name="Freeform 15" id="15"/>
            <p:cNvSpPr/>
            <p:nvPr/>
          </p:nvSpPr>
          <p:spPr>
            <a:xfrm flipH="false" flipV="false" rot="0">
              <a:off x="0" y="0"/>
              <a:ext cx="1585468" cy="1377442"/>
            </a:xfrm>
            <a:custGeom>
              <a:avLst/>
              <a:gdLst/>
              <a:ahLst/>
              <a:cxnLst/>
              <a:rect r="r" b="b" t="t" l="l"/>
              <a:pathLst>
                <a:path h="1377442" w="1585468">
                  <a:moveTo>
                    <a:pt x="0" y="0"/>
                  </a:moveTo>
                  <a:lnTo>
                    <a:pt x="1585468" y="0"/>
                  </a:lnTo>
                  <a:lnTo>
                    <a:pt x="1585468" y="1377442"/>
                  </a:lnTo>
                  <a:lnTo>
                    <a:pt x="0" y="1377442"/>
                  </a:lnTo>
                  <a:lnTo>
                    <a:pt x="0" y="0"/>
                  </a:lnTo>
                  <a:close/>
                </a:path>
              </a:pathLst>
            </a:custGeom>
            <a:blipFill>
              <a:blip r:embed="rId5"/>
              <a:stretch>
                <a:fillRect l="0" t="-51" r="-1" b="-48"/>
              </a:stretch>
            </a:blipFill>
          </p:spPr>
        </p:sp>
      </p:grpSp>
      <p:grpSp>
        <p:nvGrpSpPr>
          <p:cNvPr name="Group 16" id="16"/>
          <p:cNvGrpSpPr/>
          <p:nvPr/>
        </p:nvGrpSpPr>
        <p:grpSpPr>
          <a:xfrm rot="0">
            <a:off x="16497824" y="8924125"/>
            <a:ext cx="647224" cy="571500"/>
            <a:chOff x="0" y="0"/>
            <a:chExt cx="862965" cy="762000"/>
          </a:xfrm>
        </p:grpSpPr>
        <p:sp>
          <p:nvSpPr>
            <p:cNvPr name="Freeform 17" id="17"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nvGrpSpPr>
          <p:cNvPr name="Group 18" id="18"/>
          <p:cNvGrpSpPr/>
          <p:nvPr/>
        </p:nvGrpSpPr>
        <p:grpSpPr>
          <a:xfrm rot="0">
            <a:off x="1143000" y="3723733"/>
            <a:ext cx="457200" cy="485775"/>
            <a:chOff x="0" y="0"/>
            <a:chExt cx="609600" cy="647700"/>
          </a:xfrm>
        </p:grpSpPr>
        <p:sp>
          <p:nvSpPr>
            <p:cNvPr name="Freeform 19" id="19" descr="image.png"/>
            <p:cNvSpPr/>
            <p:nvPr/>
          </p:nvSpPr>
          <p:spPr>
            <a:xfrm flipH="false" flipV="false" rot="0">
              <a:off x="0" y="0"/>
              <a:ext cx="609600" cy="647700"/>
            </a:xfrm>
            <a:custGeom>
              <a:avLst/>
              <a:gdLst/>
              <a:ahLst/>
              <a:cxnLst/>
              <a:rect r="r" b="b" t="t" l="l"/>
              <a:pathLst>
                <a:path h="647700" w="609600">
                  <a:moveTo>
                    <a:pt x="0" y="0"/>
                  </a:moveTo>
                  <a:lnTo>
                    <a:pt x="609600" y="0"/>
                  </a:lnTo>
                  <a:lnTo>
                    <a:pt x="609600" y="647700"/>
                  </a:lnTo>
                  <a:lnTo>
                    <a:pt x="0" y="647700"/>
                  </a:lnTo>
                  <a:lnTo>
                    <a:pt x="0" y="0"/>
                  </a:lnTo>
                  <a:close/>
                </a:path>
              </a:pathLst>
            </a:custGeom>
            <a:blipFill>
              <a:blip r:embed="rId4"/>
              <a:stretch>
                <a:fillRect l="0" t="0" r="0" b="0"/>
              </a:stretch>
            </a:blipFill>
          </p:spPr>
        </p:sp>
      </p:grpSp>
      <p:grpSp>
        <p:nvGrpSpPr>
          <p:cNvPr name="Group 20" id="20"/>
          <p:cNvGrpSpPr/>
          <p:nvPr/>
        </p:nvGrpSpPr>
        <p:grpSpPr>
          <a:xfrm rot="0">
            <a:off x="1143000" y="6649304"/>
            <a:ext cx="457200" cy="485775"/>
            <a:chOff x="0" y="0"/>
            <a:chExt cx="609600" cy="647700"/>
          </a:xfrm>
        </p:grpSpPr>
        <p:sp>
          <p:nvSpPr>
            <p:cNvPr name="Freeform 21" id="21" descr="image.png"/>
            <p:cNvSpPr/>
            <p:nvPr/>
          </p:nvSpPr>
          <p:spPr>
            <a:xfrm flipH="false" flipV="false" rot="0">
              <a:off x="0" y="0"/>
              <a:ext cx="609600" cy="647700"/>
            </a:xfrm>
            <a:custGeom>
              <a:avLst/>
              <a:gdLst/>
              <a:ahLst/>
              <a:cxnLst/>
              <a:rect r="r" b="b" t="t" l="l"/>
              <a:pathLst>
                <a:path h="647700" w="609600">
                  <a:moveTo>
                    <a:pt x="0" y="0"/>
                  </a:moveTo>
                  <a:lnTo>
                    <a:pt x="609600" y="0"/>
                  </a:lnTo>
                  <a:lnTo>
                    <a:pt x="609600" y="647700"/>
                  </a:lnTo>
                  <a:lnTo>
                    <a:pt x="0" y="647700"/>
                  </a:lnTo>
                  <a:lnTo>
                    <a:pt x="0" y="0"/>
                  </a:lnTo>
                  <a:close/>
                </a:path>
              </a:pathLst>
            </a:custGeom>
            <a:blipFill>
              <a:blip r:embed="rId4"/>
              <a:stretch>
                <a:fillRect l="0" t="0" r="0" b="0"/>
              </a:stretch>
            </a:blipFill>
          </p:spPr>
        </p:sp>
      </p:grpSp>
      <p:sp>
        <p:nvSpPr>
          <p:cNvPr name="TextBox 22" id="22"/>
          <p:cNvSpPr txBox="true"/>
          <p:nvPr/>
        </p:nvSpPr>
        <p:spPr>
          <a:xfrm rot="0">
            <a:off x="1857375" y="3643718"/>
            <a:ext cx="9756231" cy="1193931"/>
          </a:xfrm>
          <a:prstGeom prst="rect">
            <a:avLst/>
          </a:prstGeom>
        </p:spPr>
        <p:txBody>
          <a:bodyPr anchor="t" rtlCol="false" tIns="0" lIns="0" bIns="0" rIns="0">
            <a:spAutoFit/>
          </a:bodyPr>
          <a:lstStyle/>
          <a:p>
            <a:pPr algn="ctr">
              <a:lnSpc>
                <a:spcPts val="4857"/>
              </a:lnSpc>
              <a:spcBef>
                <a:spcPct val="0"/>
              </a:spcBef>
            </a:pPr>
            <a:r>
              <a:rPr lang="en-US" sz="2698">
                <a:solidFill>
                  <a:srgbClr val="000000"/>
                </a:solidFill>
                <a:latin typeface="Poppins"/>
                <a:ea typeface="Poppins"/>
                <a:cs typeface="Poppins"/>
                <a:sym typeface="Poppins"/>
              </a:rPr>
              <a:t>Apply Python control flow: use if statements and for loop to apply rules and process multiple records efficiently.</a:t>
            </a:r>
          </a:p>
        </p:txBody>
      </p:sp>
      <p:sp>
        <p:nvSpPr>
          <p:cNvPr name="Freeform 23" id="23"/>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914400" y="1885950"/>
            <a:ext cx="12111996" cy="7188949"/>
          </a:xfrm>
          <a:custGeom>
            <a:avLst/>
            <a:gdLst/>
            <a:ahLst/>
            <a:cxnLst/>
            <a:rect r="r" b="b" t="t" l="l"/>
            <a:pathLst>
              <a:path h="7188949" w="12111996">
                <a:moveTo>
                  <a:pt x="0" y="0"/>
                </a:moveTo>
                <a:lnTo>
                  <a:pt x="12111996" y="0"/>
                </a:lnTo>
                <a:lnTo>
                  <a:pt x="12111996" y="7188949"/>
                </a:lnTo>
                <a:lnTo>
                  <a:pt x="0" y="718894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10"/>
              <a:stretch>
                <a:fillRect l="-772" t="0" r="-772" b="0"/>
              </a:stretch>
            </a:blipFill>
          </p:spPr>
        </p:sp>
      </p:grpSp>
      <p:sp>
        <p:nvSpPr>
          <p:cNvPr name="TextBox 11" id="11"/>
          <p:cNvSpPr txBox="true"/>
          <p:nvPr/>
        </p:nvSpPr>
        <p:spPr>
          <a:xfrm rot="0">
            <a:off x="1150724" y="942975"/>
            <a:ext cx="5785396"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Learning outcome</a:t>
            </a:r>
          </a:p>
        </p:txBody>
      </p:sp>
      <p:sp>
        <p:nvSpPr>
          <p:cNvPr name="TextBox 12" id="12"/>
          <p:cNvSpPr txBox="true"/>
          <p:nvPr/>
        </p:nvSpPr>
        <p:spPr>
          <a:xfrm rot="0">
            <a:off x="1432592" y="3053323"/>
            <a:ext cx="9715500" cy="6442302"/>
          </a:xfrm>
          <a:prstGeom prst="rect">
            <a:avLst/>
          </a:prstGeom>
        </p:spPr>
        <p:txBody>
          <a:bodyPr anchor="t" rtlCol="false" tIns="0" lIns="0" bIns="0" rIns="0">
            <a:spAutoFit/>
          </a:bodyPr>
          <a:lstStyle/>
          <a:p>
            <a:pPr algn="l">
              <a:lnSpc>
                <a:spcPts val="3974"/>
              </a:lnSpc>
            </a:pPr>
            <a:r>
              <a:rPr lang="en-US" sz="2208">
                <a:solidFill>
                  <a:srgbClr val="1E293B"/>
                </a:solidFill>
                <a:latin typeface="Poppins"/>
                <a:ea typeface="Poppins"/>
                <a:cs typeface="Poppins"/>
                <a:sym typeface="Poppins"/>
              </a:rPr>
              <a:t>By the end of this topic, the trainee can…</a:t>
            </a:r>
          </a:p>
          <a:p>
            <a:pPr algn="l">
              <a:lnSpc>
                <a:spcPts val="3974"/>
              </a:lnSpc>
            </a:pPr>
          </a:p>
          <a:p>
            <a:pPr algn="l">
              <a:lnSpc>
                <a:spcPts val="3974"/>
              </a:lnSpc>
            </a:pPr>
            <a:r>
              <a:rPr lang="en-US" sz="2208">
                <a:solidFill>
                  <a:srgbClr val="1E293B"/>
                </a:solidFill>
                <a:latin typeface="Poppins"/>
                <a:ea typeface="Poppins"/>
                <a:cs typeface="Poppins"/>
                <a:sym typeface="Poppins"/>
              </a:rPr>
              <a:t>1- Understand and apply core Python data structures: Use      variables, data types, lists, and Understand and apply core Python data structures: Use variables, data types, lists, and</a:t>
            </a:r>
          </a:p>
          <a:p>
            <a:pPr algn="l">
              <a:lnSpc>
                <a:spcPts val="3974"/>
              </a:lnSpc>
            </a:pPr>
          </a:p>
          <a:p>
            <a:pPr algn="l">
              <a:lnSpc>
                <a:spcPts val="3974"/>
              </a:lnSpc>
            </a:pPr>
            <a:r>
              <a:rPr lang="en-US" sz="2208">
                <a:solidFill>
                  <a:srgbClr val="1E293B"/>
                </a:solidFill>
                <a:latin typeface="Poppins"/>
                <a:ea typeface="Poppins"/>
                <a:cs typeface="Poppins"/>
                <a:sym typeface="Poppins"/>
              </a:rPr>
              <a:t>2- Implement Python control flow: Use if statements and for loops to apply rules and process multiple records efficiently.</a:t>
            </a:r>
          </a:p>
          <a:p>
            <a:pPr algn="l">
              <a:lnSpc>
                <a:spcPts val="3974"/>
              </a:lnSpc>
            </a:pPr>
          </a:p>
          <a:p>
            <a:pPr algn="l">
              <a:lnSpc>
                <a:spcPts val="3974"/>
              </a:lnSpc>
            </a:pPr>
            <a:r>
              <a:rPr lang="en-US" sz="2208">
                <a:solidFill>
                  <a:srgbClr val="1E293B"/>
                </a:solidFill>
                <a:latin typeface="Poppins"/>
                <a:ea typeface="Poppins"/>
                <a:cs typeface="Poppins"/>
                <a:sym typeface="Poppins"/>
              </a:rPr>
              <a:t>3- Develop reusable Python code: Import libraries and write functions to perform  calculations and repeat common analysis tasks.</a:t>
            </a:r>
          </a:p>
          <a:p>
            <a:pPr algn="l">
              <a:lnSpc>
                <a:spcPts val="3974"/>
              </a:lnSpc>
            </a:pPr>
          </a:p>
          <a:p>
            <a:pPr algn="l">
              <a:lnSpc>
                <a:spcPts val="3974"/>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5" id="5"/>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497824" y="8924125"/>
            <a:ext cx="647224" cy="571500"/>
            <a:chOff x="0" y="0"/>
            <a:chExt cx="862965" cy="762000"/>
          </a:xfrm>
        </p:grpSpPr>
        <p:sp>
          <p:nvSpPr>
            <p:cNvPr name="Freeform 7" id="7"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8" id="8"/>
          <p:cNvGrpSpPr/>
          <p:nvPr/>
        </p:nvGrpSpPr>
        <p:grpSpPr>
          <a:xfrm rot="0">
            <a:off x="1160232" y="753429"/>
            <a:ext cx="11965677" cy="1236342"/>
            <a:chOff x="0" y="0"/>
            <a:chExt cx="15954235" cy="1648455"/>
          </a:xfrm>
        </p:grpSpPr>
        <p:sp>
          <p:nvSpPr>
            <p:cNvPr name="Freeform 9" id="9"/>
            <p:cNvSpPr/>
            <p:nvPr/>
          </p:nvSpPr>
          <p:spPr>
            <a:xfrm flipH="false" flipV="false" rot="0">
              <a:off x="0" y="0"/>
              <a:ext cx="15954235" cy="1648455"/>
            </a:xfrm>
            <a:custGeom>
              <a:avLst/>
              <a:gdLst/>
              <a:ahLst/>
              <a:cxnLst/>
              <a:rect r="r" b="b" t="t" l="l"/>
              <a:pathLst>
                <a:path h="1648455" w="15954235">
                  <a:moveTo>
                    <a:pt x="0" y="0"/>
                  </a:moveTo>
                  <a:lnTo>
                    <a:pt x="15954235" y="0"/>
                  </a:lnTo>
                  <a:lnTo>
                    <a:pt x="15954235" y="1648455"/>
                  </a:lnTo>
                  <a:lnTo>
                    <a:pt x="0" y="1648455"/>
                  </a:lnTo>
                  <a:close/>
                </a:path>
              </a:pathLst>
            </a:custGeom>
            <a:blipFill>
              <a:blip r:embed="rId9">
                <a:alphaModFix amt="0"/>
              </a:blip>
              <a:stretch>
                <a:fillRect l="0" t="-147686" r="2566" b="-119797"/>
              </a:stretch>
            </a:blipFill>
          </p:spPr>
        </p:sp>
        <p:sp>
          <p:nvSpPr>
            <p:cNvPr name="TextBox 10" id="10"/>
            <p:cNvSpPr txBox="true"/>
            <p:nvPr/>
          </p:nvSpPr>
          <p:spPr>
            <a:xfrm>
              <a:off x="0" y="-38100"/>
              <a:ext cx="15954235" cy="1686555"/>
            </a:xfrm>
            <a:prstGeom prst="rect">
              <a:avLst/>
            </a:prstGeom>
          </p:spPr>
          <p:txBody>
            <a:bodyPr anchor="ctr" rtlCol="false" tIns="0" lIns="0" bIns="0" rIns="0"/>
            <a:lstStyle/>
            <a:p>
              <a:pPr algn="l">
                <a:lnSpc>
                  <a:spcPts val="5999"/>
                </a:lnSpc>
              </a:pPr>
              <a:r>
                <a:rPr lang="en-US" sz="4999">
                  <a:solidFill>
                    <a:srgbClr val="388080"/>
                  </a:solidFill>
                  <a:latin typeface="Poppins"/>
                  <a:ea typeface="Poppins"/>
                  <a:cs typeface="Poppins"/>
                  <a:sym typeface="Poppins"/>
                </a:rPr>
                <a:t>Why Python Matters for Data Analysts</a:t>
              </a:r>
            </a:p>
          </p:txBody>
        </p:sp>
      </p:grpSp>
      <p:grpSp>
        <p:nvGrpSpPr>
          <p:cNvPr name="Group 11" id="11"/>
          <p:cNvGrpSpPr/>
          <p:nvPr/>
        </p:nvGrpSpPr>
        <p:grpSpPr>
          <a:xfrm rot="0">
            <a:off x="1001268" y="1988820"/>
            <a:ext cx="15814548" cy="891540"/>
            <a:chOff x="0" y="0"/>
            <a:chExt cx="21086064" cy="1188720"/>
          </a:xfrm>
        </p:grpSpPr>
        <p:sp>
          <p:nvSpPr>
            <p:cNvPr name="Freeform 12" id="12"/>
            <p:cNvSpPr/>
            <p:nvPr/>
          </p:nvSpPr>
          <p:spPr>
            <a:xfrm flipH="false" flipV="false" rot="0">
              <a:off x="0" y="0"/>
              <a:ext cx="21086065" cy="1188720"/>
            </a:xfrm>
            <a:custGeom>
              <a:avLst/>
              <a:gdLst/>
              <a:ahLst/>
              <a:cxnLst/>
              <a:rect r="r" b="b" t="t" l="l"/>
              <a:pathLst>
                <a:path h="1188720" w="21086065">
                  <a:moveTo>
                    <a:pt x="0" y="0"/>
                  </a:moveTo>
                  <a:lnTo>
                    <a:pt x="21086065" y="0"/>
                  </a:lnTo>
                  <a:lnTo>
                    <a:pt x="21086065" y="1188720"/>
                  </a:lnTo>
                  <a:lnTo>
                    <a:pt x="0" y="1188720"/>
                  </a:lnTo>
                  <a:close/>
                </a:path>
              </a:pathLst>
            </a:custGeom>
            <a:blipFill>
              <a:blip r:embed="rId9">
                <a:alphaModFix amt="0"/>
              </a:blip>
              <a:stretch>
                <a:fillRect l="0" t="-295634" r="0" b="-295634"/>
              </a:stretch>
            </a:blipFill>
          </p:spPr>
        </p:sp>
        <p:sp>
          <p:nvSpPr>
            <p:cNvPr name="TextBox 13" id="13"/>
            <p:cNvSpPr txBox="true"/>
            <p:nvPr/>
          </p:nvSpPr>
          <p:spPr>
            <a:xfrm>
              <a:off x="0" y="-47625"/>
              <a:ext cx="21086064" cy="1236345"/>
            </a:xfrm>
            <a:prstGeom prst="rect">
              <a:avLst/>
            </a:prstGeom>
          </p:spPr>
          <p:txBody>
            <a:bodyPr anchor="ctr" rtlCol="false" tIns="0" lIns="0" bIns="0" rIns="0"/>
            <a:lstStyle/>
            <a:p>
              <a:pPr algn="l">
                <a:lnSpc>
                  <a:spcPts val="2794"/>
                </a:lnSpc>
              </a:pPr>
              <a:r>
                <a:rPr lang="en-US" sz="2025" b="true">
                  <a:solidFill>
                    <a:srgbClr val="387F7F"/>
                  </a:solidFill>
                  <a:latin typeface="Poppins Bold"/>
                  <a:ea typeface="Poppins Bold"/>
                  <a:cs typeface="Poppins Bold"/>
                  <a:sym typeface="Poppins Bold"/>
                </a:rPr>
                <a:t>The scenario:  </a:t>
              </a:r>
              <a:r>
                <a:rPr lang="en-US" sz="2025">
                  <a:solidFill>
                    <a:srgbClr val="0A1A23"/>
                  </a:solidFill>
                  <a:latin typeface="Poppins"/>
                  <a:ea typeface="Poppins"/>
                  <a:cs typeface="Poppins"/>
                  <a:sym typeface="Poppins"/>
                </a:rPr>
                <a:t>a Lagos retail chain logs around 40,000 transactions a month across twelve branches. Excel opens the file slowly, and the finance team repeats the same cleaning steps by hand, every month, on every branch file.</a:t>
              </a:r>
            </a:p>
          </p:txBody>
        </p:sp>
      </p:grpSp>
      <p:grpSp>
        <p:nvGrpSpPr>
          <p:cNvPr name="Group 14" id="14"/>
          <p:cNvGrpSpPr/>
          <p:nvPr/>
        </p:nvGrpSpPr>
        <p:grpSpPr>
          <a:xfrm rot="0">
            <a:off x="891540" y="3360420"/>
            <a:ext cx="8092440" cy="712280"/>
            <a:chOff x="0" y="0"/>
            <a:chExt cx="10789920" cy="949706"/>
          </a:xfrm>
        </p:grpSpPr>
        <p:grpSp>
          <p:nvGrpSpPr>
            <p:cNvPr name="Group 15" id="15"/>
            <p:cNvGrpSpPr/>
            <p:nvPr/>
          </p:nvGrpSpPr>
          <p:grpSpPr>
            <a:xfrm rot="0">
              <a:off x="0" y="365760"/>
              <a:ext cx="146304" cy="146304"/>
              <a:chOff x="0" y="0"/>
              <a:chExt cx="146304" cy="146304"/>
            </a:xfrm>
          </p:grpSpPr>
          <p:sp>
            <p:nvSpPr>
              <p:cNvPr name="Freeform 16" id="16"/>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17" id="17"/>
            <p:cNvSpPr txBox="true"/>
            <p:nvPr/>
          </p:nvSpPr>
          <p:spPr>
            <a:xfrm rot="0">
              <a:off x="457200" y="-66675"/>
              <a:ext cx="10332720" cy="1016381"/>
            </a:xfrm>
            <a:prstGeom prst="rect">
              <a:avLst/>
            </a:prstGeom>
          </p:spPr>
          <p:txBody>
            <a:bodyPr anchor="t" rtlCol="false" tIns="0" lIns="0" bIns="0" rIns="0">
              <a:spAutoFit/>
            </a:bodyPr>
            <a:lstStyle/>
            <a:p>
              <a:pPr algn="l">
                <a:lnSpc>
                  <a:spcPts val="3001"/>
                </a:lnSpc>
              </a:pPr>
              <a:r>
                <a:rPr lang="en-US" sz="2175">
                  <a:solidFill>
                    <a:srgbClr val="0A1A23"/>
                  </a:solidFill>
                  <a:latin typeface="Poppins"/>
                  <a:ea typeface="Poppins"/>
                  <a:cs typeface="Poppins"/>
                  <a:sym typeface="Poppins"/>
                </a:rPr>
                <a:t>Handles data too large or too messy for a spreadsheet to open comfortably</a:t>
              </a:r>
            </a:p>
          </p:txBody>
        </p:sp>
      </p:grpSp>
      <p:grpSp>
        <p:nvGrpSpPr>
          <p:cNvPr name="Group 18" id="18"/>
          <p:cNvGrpSpPr/>
          <p:nvPr/>
        </p:nvGrpSpPr>
        <p:grpSpPr>
          <a:xfrm rot="0">
            <a:off x="891540" y="4526280"/>
            <a:ext cx="8092440" cy="712280"/>
            <a:chOff x="0" y="0"/>
            <a:chExt cx="10789920" cy="949706"/>
          </a:xfrm>
        </p:grpSpPr>
        <p:grpSp>
          <p:nvGrpSpPr>
            <p:cNvPr name="Group 19" id="19"/>
            <p:cNvGrpSpPr/>
            <p:nvPr/>
          </p:nvGrpSpPr>
          <p:grpSpPr>
            <a:xfrm rot="0">
              <a:off x="0" y="365760"/>
              <a:ext cx="146304" cy="146304"/>
              <a:chOff x="0" y="0"/>
              <a:chExt cx="146304" cy="146304"/>
            </a:xfrm>
          </p:grpSpPr>
          <p:sp>
            <p:nvSpPr>
              <p:cNvPr name="Freeform 20" id="20"/>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21" id="21"/>
            <p:cNvSpPr txBox="true"/>
            <p:nvPr/>
          </p:nvSpPr>
          <p:spPr>
            <a:xfrm rot="0">
              <a:off x="457200" y="-66675"/>
              <a:ext cx="10332720" cy="1016381"/>
            </a:xfrm>
            <a:prstGeom prst="rect">
              <a:avLst/>
            </a:prstGeom>
          </p:spPr>
          <p:txBody>
            <a:bodyPr anchor="t" rtlCol="false" tIns="0" lIns="0" bIns="0" rIns="0">
              <a:spAutoFit/>
            </a:bodyPr>
            <a:lstStyle/>
            <a:p>
              <a:pPr algn="l">
                <a:lnSpc>
                  <a:spcPts val="3001"/>
                </a:lnSpc>
              </a:pPr>
              <a:r>
                <a:rPr lang="en-US" sz="2175">
                  <a:solidFill>
                    <a:srgbClr val="0A1A23"/>
                  </a:solidFill>
                  <a:latin typeface="Poppins"/>
                  <a:ea typeface="Poppins"/>
                  <a:cs typeface="Poppins"/>
                  <a:sym typeface="Poppins"/>
                </a:rPr>
                <a:t>Repeats a cleaning or analysis routine exactly the same way, every time, with no copy-paste drift</a:t>
              </a:r>
            </a:p>
          </p:txBody>
        </p:sp>
      </p:grpSp>
      <p:grpSp>
        <p:nvGrpSpPr>
          <p:cNvPr name="Group 22" id="22"/>
          <p:cNvGrpSpPr/>
          <p:nvPr/>
        </p:nvGrpSpPr>
        <p:grpSpPr>
          <a:xfrm rot="0">
            <a:off x="891540" y="5692140"/>
            <a:ext cx="8092440" cy="712280"/>
            <a:chOff x="0" y="0"/>
            <a:chExt cx="10789920" cy="949706"/>
          </a:xfrm>
        </p:grpSpPr>
        <p:grpSp>
          <p:nvGrpSpPr>
            <p:cNvPr name="Group 23" id="23"/>
            <p:cNvGrpSpPr/>
            <p:nvPr/>
          </p:nvGrpSpPr>
          <p:grpSpPr>
            <a:xfrm rot="0">
              <a:off x="0" y="365760"/>
              <a:ext cx="146304" cy="146304"/>
              <a:chOff x="0" y="0"/>
              <a:chExt cx="146304" cy="146304"/>
            </a:xfrm>
          </p:grpSpPr>
          <p:sp>
            <p:nvSpPr>
              <p:cNvPr name="Freeform 24" id="24"/>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25" id="25"/>
            <p:cNvSpPr txBox="true"/>
            <p:nvPr/>
          </p:nvSpPr>
          <p:spPr>
            <a:xfrm rot="0">
              <a:off x="457200" y="-66675"/>
              <a:ext cx="10332720" cy="1016381"/>
            </a:xfrm>
            <a:prstGeom prst="rect">
              <a:avLst/>
            </a:prstGeom>
          </p:spPr>
          <p:txBody>
            <a:bodyPr anchor="t" rtlCol="false" tIns="0" lIns="0" bIns="0" rIns="0">
              <a:spAutoFit/>
            </a:bodyPr>
            <a:lstStyle/>
            <a:p>
              <a:pPr algn="l">
                <a:lnSpc>
                  <a:spcPts val="3001"/>
                </a:lnSpc>
              </a:pPr>
              <a:r>
                <a:rPr lang="en-US" sz="2175">
                  <a:solidFill>
                    <a:srgbClr val="0A1A23"/>
                  </a:solidFill>
                  <a:latin typeface="Poppins"/>
                  <a:ea typeface="Poppins"/>
                  <a:cs typeface="Poppins"/>
                  <a:sym typeface="Poppins"/>
                </a:rPr>
                <a:t>Connects directly to databases, APIs and the AI tools you already use</a:t>
              </a:r>
            </a:p>
          </p:txBody>
        </p:sp>
      </p:grpSp>
      <p:grpSp>
        <p:nvGrpSpPr>
          <p:cNvPr name="Group 26" id="26"/>
          <p:cNvGrpSpPr/>
          <p:nvPr/>
        </p:nvGrpSpPr>
        <p:grpSpPr>
          <a:xfrm rot="0">
            <a:off x="891540" y="6858000"/>
            <a:ext cx="8092440" cy="712280"/>
            <a:chOff x="0" y="0"/>
            <a:chExt cx="10789920" cy="949706"/>
          </a:xfrm>
        </p:grpSpPr>
        <p:grpSp>
          <p:nvGrpSpPr>
            <p:cNvPr name="Group 27" id="27"/>
            <p:cNvGrpSpPr/>
            <p:nvPr/>
          </p:nvGrpSpPr>
          <p:grpSpPr>
            <a:xfrm rot="0">
              <a:off x="0" y="365760"/>
              <a:ext cx="146304" cy="146304"/>
              <a:chOff x="0" y="0"/>
              <a:chExt cx="146304" cy="146304"/>
            </a:xfrm>
          </p:grpSpPr>
          <p:sp>
            <p:nvSpPr>
              <p:cNvPr name="Freeform 28" id="28"/>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29" id="29"/>
            <p:cNvSpPr txBox="true"/>
            <p:nvPr/>
          </p:nvSpPr>
          <p:spPr>
            <a:xfrm rot="0">
              <a:off x="457200" y="-66675"/>
              <a:ext cx="10332720" cy="1016381"/>
            </a:xfrm>
            <a:prstGeom prst="rect">
              <a:avLst/>
            </a:prstGeom>
          </p:spPr>
          <p:txBody>
            <a:bodyPr anchor="t" rtlCol="false" tIns="0" lIns="0" bIns="0" rIns="0">
              <a:spAutoFit/>
            </a:bodyPr>
            <a:lstStyle/>
            <a:p>
              <a:pPr algn="l">
                <a:lnSpc>
                  <a:spcPts val="3001"/>
                </a:lnSpc>
              </a:pPr>
              <a:r>
                <a:rPr lang="en-US" sz="2175">
                  <a:solidFill>
                    <a:srgbClr val="0A1A23"/>
                  </a:solidFill>
                  <a:latin typeface="Poppins"/>
                  <a:ea typeface="Poppins"/>
                  <a:cs typeface="Poppins"/>
                  <a:sym typeface="Poppins"/>
                </a:rPr>
                <a:t>The same script that cleans forty thousand rows also cleans four million</a:t>
              </a:r>
            </a:p>
          </p:txBody>
        </p:sp>
      </p:grpSp>
      <p:grpSp>
        <p:nvGrpSpPr>
          <p:cNvPr name="Group 30" id="30"/>
          <p:cNvGrpSpPr/>
          <p:nvPr/>
        </p:nvGrpSpPr>
        <p:grpSpPr>
          <a:xfrm rot="0">
            <a:off x="450014" y="9625371"/>
            <a:ext cx="17383400" cy="502101"/>
            <a:chOff x="0" y="0"/>
            <a:chExt cx="23177866" cy="669468"/>
          </a:xfrm>
        </p:grpSpPr>
        <p:sp>
          <p:nvSpPr>
            <p:cNvPr name="Freeform 31" id="31"/>
            <p:cNvSpPr/>
            <p:nvPr/>
          </p:nvSpPr>
          <p:spPr>
            <a:xfrm flipH="false" flipV="false" rot="0">
              <a:off x="0" y="0"/>
              <a:ext cx="23177867" cy="669468"/>
            </a:xfrm>
            <a:custGeom>
              <a:avLst/>
              <a:gdLst/>
              <a:ahLst/>
              <a:cxnLst/>
              <a:rect r="r" b="b" t="t" l="l"/>
              <a:pathLst>
                <a:path h="669468" w="23177867">
                  <a:moveTo>
                    <a:pt x="0" y="0"/>
                  </a:moveTo>
                  <a:lnTo>
                    <a:pt x="23177867" y="0"/>
                  </a:lnTo>
                  <a:lnTo>
                    <a:pt x="23177867" y="669468"/>
                  </a:lnTo>
                  <a:lnTo>
                    <a:pt x="0" y="669468"/>
                  </a:lnTo>
                  <a:close/>
                </a:path>
              </a:pathLst>
            </a:custGeom>
            <a:blipFill>
              <a:blip r:embed="rId9">
                <a:alphaModFix amt="0"/>
              </a:blip>
              <a:stretch>
                <a:fillRect l="0" t="-572739" r="9025" b="-554691"/>
              </a:stretch>
            </a:blipFill>
          </p:spPr>
        </p:sp>
        <p:sp>
          <p:nvSpPr>
            <p:cNvPr name="TextBox 32" id="32"/>
            <p:cNvSpPr txBox="true"/>
            <p:nvPr/>
          </p:nvSpPr>
          <p:spPr>
            <a:xfrm>
              <a:off x="0" y="-47625"/>
              <a:ext cx="23177866" cy="717093"/>
            </a:xfrm>
            <a:prstGeom prst="rect">
              <a:avLst/>
            </a:prstGeom>
          </p:spPr>
          <p:txBody>
            <a:bodyPr anchor="ctr" rtlCol="false" tIns="0" lIns="0" bIns="0" rIns="0"/>
            <a:lstStyle/>
            <a:p>
              <a:pPr algn="l">
                <a:lnSpc>
                  <a:spcPts val="2794"/>
                </a:lnSpc>
              </a:pPr>
              <a:r>
                <a:rPr lang="en-US" sz="2025" i="true">
                  <a:solidFill>
                    <a:srgbClr val="0A1A23"/>
                  </a:solidFill>
                  <a:latin typeface="Poppins Italics"/>
                  <a:ea typeface="Poppins Italics"/>
                  <a:cs typeface="Poppins Italics"/>
                  <a:sym typeface="Poppins Italics"/>
                </a:rPr>
                <a:t>Excel: manual, click by click. Python: written once, run forever.</a:t>
              </a:r>
            </a:p>
          </p:txBody>
        </p:sp>
      </p:grpSp>
      <p:grpSp>
        <p:nvGrpSpPr>
          <p:cNvPr name="Group 33" id="33"/>
          <p:cNvGrpSpPr/>
          <p:nvPr/>
        </p:nvGrpSpPr>
        <p:grpSpPr>
          <a:xfrm rot="0">
            <a:off x="9441180" y="3407950"/>
            <a:ext cx="7818120" cy="2948940"/>
            <a:chOff x="0" y="0"/>
            <a:chExt cx="10424160" cy="3931920"/>
          </a:xfrm>
        </p:grpSpPr>
        <p:grpSp>
          <p:nvGrpSpPr>
            <p:cNvPr name="Group 34" id="34"/>
            <p:cNvGrpSpPr/>
            <p:nvPr/>
          </p:nvGrpSpPr>
          <p:grpSpPr>
            <a:xfrm rot="0">
              <a:off x="0" y="0"/>
              <a:ext cx="10424160" cy="3931920"/>
              <a:chOff x="0" y="0"/>
              <a:chExt cx="10424160" cy="3931920"/>
            </a:xfrm>
          </p:grpSpPr>
          <p:sp>
            <p:nvSpPr>
              <p:cNvPr name="Freeform 35" id="35"/>
              <p:cNvSpPr/>
              <p:nvPr/>
            </p:nvSpPr>
            <p:spPr>
              <a:xfrm flipH="false" flipV="false" rot="0">
                <a:off x="0" y="0"/>
                <a:ext cx="10424161" cy="3931920"/>
              </a:xfrm>
              <a:custGeom>
                <a:avLst/>
                <a:gdLst/>
                <a:ahLst/>
                <a:cxnLst/>
                <a:rect r="r" b="b" t="t" l="l"/>
                <a:pathLst>
                  <a:path h="3931920" w="10424161">
                    <a:moveTo>
                      <a:pt x="0" y="146304"/>
                    </a:moveTo>
                    <a:cubicBezTo>
                      <a:pt x="0" y="65532"/>
                      <a:pt x="65532" y="0"/>
                      <a:pt x="146304" y="0"/>
                    </a:cubicBezTo>
                    <a:lnTo>
                      <a:pt x="10277856" y="0"/>
                    </a:lnTo>
                    <a:cubicBezTo>
                      <a:pt x="10358628" y="0"/>
                      <a:pt x="10424161" y="65532"/>
                      <a:pt x="10424161" y="146304"/>
                    </a:cubicBezTo>
                    <a:lnTo>
                      <a:pt x="10424161" y="3785616"/>
                    </a:lnTo>
                    <a:cubicBezTo>
                      <a:pt x="10424161" y="3866388"/>
                      <a:pt x="10358628" y="3931920"/>
                      <a:pt x="10277856" y="3931920"/>
                    </a:cubicBezTo>
                    <a:lnTo>
                      <a:pt x="146304" y="3931920"/>
                    </a:lnTo>
                    <a:cubicBezTo>
                      <a:pt x="65532" y="3931920"/>
                      <a:pt x="0" y="3866388"/>
                      <a:pt x="0" y="3785616"/>
                    </a:cubicBezTo>
                    <a:close/>
                  </a:path>
                </a:pathLst>
              </a:custGeom>
              <a:solidFill>
                <a:srgbClr val="0A1A23"/>
              </a:solidFill>
            </p:spPr>
          </p:sp>
        </p:grpSp>
        <p:sp>
          <p:nvSpPr>
            <p:cNvPr name="TextBox 36" id="36"/>
            <p:cNvSpPr txBox="true"/>
            <p:nvPr/>
          </p:nvSpPr>
          <p:spPr>
            <a:xfrm rot="0">
              <a:off x="512064" y="1040257"/>
              <a:ext cx="9400032" cy="2005330"/>
            </a:xfrm>
            <a:prstGeom prst="rect">
              <a:avLst/>
            </a:prstGeom>
          </p:spPr>
          <p:txBody>
            <a:bodyPr anchor="t" rtlCol="false" tIns="0" lIns="0" bIns="0" rIns="0">
              <a:spAutoFit/>
            </a:bodyPr>
            <a:lstStyle/>
            <a:p>
              <a:pPr algn="l">
                <a:lnSpc>
                  <a:spcPts val="3037"/>
                </a:lnSpc>
              </a:pPr>
              <a:r>
                <a:rPr lang="en-US" sz="2025">
                  <a:solidFill>
                    <a:srgbClr val="E4F1EF"/>
                  </a:solidFill>
                  <a:latin typeface="Poppins"/>
                  <a:ea typeface="Poppins"/>
                  <a:cs typeface="Poppins"/>
                  <a:sym typeface="Poppins"/>
                </a:rPr>
                <a:t># one script, run monthly</a:t>
              </a:r>
            </a:p>
            <a:p>
              <a:pPr algn="l">
                <a:lnSpc>
                  <a:spcPts val="3037"/>
                </a:lnSpc>
              </a:pPr>
              <a:r>
                <a:rPr lang="en-US" sz="2025">
                  <a:solidFill>
                    <a:srgbClr val="E4F1EF"/>
                  </a:solidFill>
                  <a:latin typeface="Poppins"/>
                  <a:ea typeface="Poppins"/>
                  <a:cs typeface="Poppins"/>
                  <a:sym typeface="Poppins"/>
                </a:rPr>
                <a:t>clean_transactions(march_file)</a:t>
              </a:r>
            </a:p>
            <a:p>
              <a:pPr algn="l">
                <a:lnSpc>
                  <a:spcPts val="3037"/>
                </a:lnSpc>
              </a:pPr>
              <a:r>
                <a:rPr lang="en-US" sz="2025">
                  <a:solidFill>
                    <a:srgbClr val="E4F1EF"/>
                  </a:solidFill>
                  <a:latin typeface="Poppins"/>
                  <a:ea typeface="Poppins"/>
                  <a:cs typeface="Poppins"/>
                  <a:sym typeface="Poppins"/>
                </a:rPr>
                <a:t>clean_transactions(april_file)</a:t>
              </a:r>
            </a:p>
            <a:p>
              <a:pPr algn="l">
                <a:lnSpc>
                  <a:spcPts val="3037"/>
                </a:lnSpc>
              </a:pPr>
              <a:r>
                <a:rPr lang="en-US" sz="2025">
                  <a:solidFill>
                    <a:srgbClr val="E4F1EF"/>
                  </a:solidFill>
                  <a:latin typeface="Poppins"/>
                  <a:ea typeface="Poppins"/>
                  <a:cs typeface="Poppins"/>
                  <a:sym typeface="Poppins"/>
                </a:rPr>
                <a:t>clean_transactions(may_file)</a:t>
              </a:r>
            </a:p>
          </p:txBody>
        </p:sp>
        <p:grpSp>
          <p:nvGrpSpPr>
            <p:cNvPr name="Group 37" id="37"/>
            <p:cNvGrpSpPr/>
            <p:nvPr/>
          </p:nvGrpSpPr>
          <p:grpSpPr>
            <a:xfrm rot="0">
              <a:off x="228600" y="80010"/>
              <a:ext cx="9966960" cy="548640"/>
              <a:chOff x="0" y="0"/>
              <a:chExt cx="9966960" cy="548640"/>
            </a:xfrm>
          </p:grpSpPr>
          <p:sp>
            <p:nvSpPr>
              <p:cNvPr name="Freeform 38" id="38"/>
              <p:cNvSpPr/>
              <p:nvPr/>
            </p:nvSpPr>
            <p:spPr>
              <a:xfrm flipH="false" flipV="false" rot="0">
                <a:off x="0" y="0"/>
                <a:ext cx="9966960" cy="548640"/>
              </a:xfrm>
              <a:custGeom>
                <a:avLst/>
                <a:gdLst/>
                <a:ahLst/>
                <a:cxnLst/>
                <a:rect r="r" b="b" t="t" l="l"/>
                <a:pathLst>
                  <a:path h="548640" w="9966960">
                    <a:moveTo>
                      <a:pt x="0" y="0"/>
                    </a:moveTo>
                    <a:lnTo>
                      <a:pt x="9966960" y="0"/>
                    </a:lnTo>
                    <a:lnTo>
                      <a:pt x="9966960" y="548640"/>
                    </a:lnTo>
                    <a:lnTo>
                      <a:pt x="0" y="548640"/>
                    </a:lnTo>
                    <a:close/>
                  </a:path>
                </a:pathLst>
              </a:custGeom>
              <a:blipFill>
                <a:blip r:embed="rId9">
                  <a:alphaModFix amt="0"/>
                </a:blip>
                <a:stretch>
                  <a:fillRect l="0" t="-303978" r="0" b="-303978"/>
                </a:stretch>
              </a:blipFill>
            </p:spPr>
          </p:sp>
          <p:sp>
            <p:nvSpPr>
              <p:cNvPr name="TextBox 39" id="39"/>
              <p:cNvSpPr txBox="true"/>
              <p:nvPr/>
            </p:nvSpPr>
            <p:spPr>
              <a:xfrm>
                <a:off x="0" y="-19050"/>
                <a:ext cx="9966960" cy="567690"/>
              </a:xfrm>
              <a:prstGeom prst="rect">
                <a:avLst/>
              </a:prstGeom>
            </p:spPr>
            <p:txBody>
              <a:bodyPr anchor="ctr" rtlCol="false" tIns="0" lIns="0" bIns="0" rIns="0"/>
              <a:lstStyle/>
              <a:p>
                <a:pPr algn="r">
                  <a:lnSpc>
                    <a:spcPts val="1800"/>
                  </a:lnSpc>
                </a:pPr>
                <a:r>
                  <a:rPr lang="en-US" sz="1500">
                    <a:solidFill>
                      <a:srgbClr val="8FA3A5"/>
                    </a:solidFill>
                    <a:latin typeface="Poppins"/>
                    <a:ea typeface="Poppins"/>
                    <a:cs typeface="Poppins"/>
                    <a:sym typeface="Poppins"/>
                  </a:rPr>
                  <a:t>reused every month</a:t>
                </a:r>
              </a:p>
            </p:txBody>
          </p:sp>
        </p:grpSp>
        <p:grpSp>
          <p:nvGrpSpPr>
            <p:cNvPr name="Group 40" id="40"/>
            <p:cNvGrpSpPr/>
            <p:nvPr/>
          </p:nvGrpSpPr>
          <p:grpSpPr>
            <a:xfrm rot="0">
              <a:off x="228600" y="292608"/>
              <a:ext cx="237744" cy="237744"/>
              <a:chOff x="0" y="0"/>
              <a:chExt cx="237744" cy="237744"/>
            </a:xfrm>
          </p:grpSpPr>
          <p:sp>
            <p:nvSpPr>
              <p:cNvPr name="Freeform 41" id="41"/>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74C3C"/>
              </a:solidFill>
            </p:spPr>
          </p:sp>
        </p:grpSp>
        <p:grpSp>
          <p:nvGrpSpPr>
            <p:cNvPr name="Group 42" id="42"/>
            <p:cNvGrpSpPr/>
            <p:nvPr/>
          </p:nvGrpSpPr>
          <p:grpSpPr>
            <a:xfrm rot="0">
              <a:off x="667512" y="292608"/>
              <a:ext cx="237744" cy="237744"/>
              <a:chOff x="0" y="0"/>
              <a:chExt cx="237744" cy="237744"/>
            </a:xfrm>
          </p:grpSpPr>
          <p:sp>
            <p:nvSpPr>
              <p:cNvPr name="Freeform 43" id="43"/>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8B93F"/>
              </a:solidFill>
            </p:spPr>
          </p:sp>
        </p:grpSp>
        <p:grpSp>
          <p:nvGrpSpPr>
            <p:cNvPr name="Group 44" id="44"/>
            <p:cNvGrpSpPr/>
            <p:nvPr/>
          </p:nvGrpSpPr>
          <p:grpSpPr>
            <a:xfrm rot="0">
              <a:off x="1106424" y="292608"/>
              <a:ext cx="237744" cy="237744"/>
              <a:chOff x="0" y="0"/>
              <a:chExt cx="237744" cy="237744"/>
            </a:xfrm>
          </p:grpSpPr>
          <p:sp>
            <p:nvSpPr>
              <p:cNvPr name="Freeform 45" id="45"/>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3FA76B"/>
              </a:solidFill>
            </p:spPr>
          </p:sp>
        </p:grpSp>
      </p:grpSp>
      <p:grpSp>
        <p:nvGrpSpPr>
          <p:cNvPr name="Group 46" id="46"/>
          <p:cNvGrpSpPr/>
          <p:nvPr/>
        </p:nvGrpSpPr>
        <p:grpSpPr>
          <a:xfrm rot="0">
            <a:off x="9441180" y="6923191"/>
            <a:ext cx="7818120" cy="1074191"/>
            <a:chOff x="0" y="0"/>
            <a:chExt cx="10424160" cy="1432255"/>
          </a:xfrm>
        </p:grpSpPr>
        <p:grpSp>
          <p:nvGrpSpPr>
            <p:cNvPr name="Group 47" id="47"/>
            <p:cNvGrpSpPr/>
            <p:nvPr/>
          </p:nvGrpSpPr>
          <p:grpSpPr>
            <a:xfrm rot="0">
              <a:off x="0" y="0"/>
              <a:ext cx="10424160" cy="1432255"/>
              <a:chOff x="0" y="0"/>
              <a:chExt cx="10424160" cy="1432255"/>
            </a:xfrm>
          </p:grpSpPr>
          <p:sp>
            <p:nvSpPr>
              <p:cNvPr name="Freeform 48" id="48"/>
              <p:cNvSpPr/>
              <p:nvPr/>
            </p:nvSpPr>
            <p:spPr>
              <a:xfrm flipH="false" flipV="false" rot="0">
                <a:off x="0" y="0"/>
                <a:ext cx="10424160" cy="1432255"/>
              </a:xfrm>
              <a:custGeom>
                <a:avLst/>
                <a:gdLst/>
                <a:ahLst/>
                <a:cxnLst/>
                <a:rect r="r" b="b" t="t" l="l"/>
                <a:pathLst>
                  <a:path h="1432255" w="10424160">
                    <a:moveTo>
                      <a:pt x="0" y="114580"/>
                    </a:moveTo>
                    <a:cubicBezTo>
                      <a:pt x="0" y="51322"/>
                      <a:pt x="49149" y="0"/>
                      <a:pt x="109728" y="0"/>
                    </a:cubicBezTo>
                    <a:lnTo>
                      <a:pt x="10314432" y="0"/>
                    </a:lnTo>
                    <a:cubicBezTo>
                      <a:pt x="10375011" y="0"/>
                      <a:pt x="10424160" y="51322"/>
                      <a:pt x="10424160" y="114580"/>
                    </a:cubicBezTo>
                    <a:lnTo>
                      <a:pt x="10424160" y="1317675"/>
                    </a:lnTo>
                    <a:cubicBezTo>
                      <a:pt x="10424160" y="1380932"/>
                      <a:pt x="10375011" y="1432255"/>
                      <a:pt x="10314432" y="1432255"/>
                    </a:cubicBezTo>
                    <a:lnTo>
                      <a:pt x="109728" y="1432255"/>
                    </a:lnTo>
                    <a:cubicBezTo>
                      <a:pt x="49149" y="1432255"/>
                      <a:pt x="0" y="1380932"/>
                      <a:pt x="0" y="1317675"/>
                    </a:cubicBezTo>
                    <a:close/>
                  </a:path>
                </a:pathLst>
              </a:custGeom>
              <a:solidFill>
                <a:srgbClr val="EAF2F1"/>
              </a:solidFill>
            </p:spPr>
          </p:sp>
        </p:grpSp>
        <p:grpSp>
          <p:nvGrpSpPr>
            <p:cNvPr name="Group 49" id="49"/>
            <p:cNvGrpSpPr/>
            <p:nvPr/>
          </p:nvGrpSpPr>
          <p:grpSpPr>
            <a:xfrm rot="0">
              <a:off x="548640" y="182880"/>
              <a:ext cx="9326880" cy="1200023"/>
              <a:chOff x="0" y="0"/>
              <a:chExt cx="9326880" cy="1200023"/>
            </a:xfrm>
          </p:grpSpPr>
          <p:sp>
            <p:nvSpPr>
              <p:cNvPr name="Freeform 50" id="50"/>
              <p:cNvSpPr/>
              <p:nvPr/>
            </p:nvSpPr>
            <p:spPr>
              <a:xfrm flipH="false" flipV="false" rot="0">
                <a:off x="0" y="0"/>
                <a:ext cx="9326880" cy="1200023"/>
              </a:xfrm>
              <a:custGeom>
                <a:avLst/>
                <a:gdLst/>
                <a:ahLst/>
                <a:cxnLst/>
                <a:rect r="r" b="b" t="t" l="l"/>
                <a:pathLst>
                  <a:path h="1200023" w="9326880">
                    <a:moveTo>
                      <a:pt x="0" y="0"/>
                    </a:moveTo>
                    <a:lnTo>
                      <a:pt x="9326880" y="0"/>
                    </a:lnTo>
                    <a:lnTo>
                      <a:pt x="9326880" y="1200023"/>
                    </a:lnTo>
                    <a:lnTo>
                      <a:pt x="0" y="1200023"/>
                    </a:lnTo>
                    <a:close/>
                  </a:path>
                </a:pathLst>
              </a:custGeom>
              <a:blipFill>
                <a:blip r:embed="rId9">
                  <a:alphaModFix amt="0"/>
                </a:blip>
                <a:stretch>
                  <a:fillRect l="0" t="-109533" r="0" b="-93351"/>
                </a:stretch>
              </a:blipFill>
            </p:spPr>
          </p:sp>
          <p:sp>
            <p:nvSpPr>
              <p:cNvPr name="TextBox 51" id="51"/>
              <p:cNvSpPr txBox="true"/>
              <p:nvPr/>
            </p:nvSpPr>
            <p:spPr>
              <a:xfrm>
                <a:off x="0" y="-57150"/>
                <a:ext cx="9326880" cy="1257173"/>
              </a:xfrm>
              <a:prstGeom prst="rect">
                <a:avLst/>
              </a:prstGeom>
            </p:spPr>
            <p:txBody>
              <a:bodyPr anchor="ctr" rtlCol="false" tIns="0" lIns="0" bIns="0" rIns="0"/>
              <a:lstStyle/>
              <a:p>
                <a:pPr algn="l">
                  <a:lnSpc>
                    <a:spcPts val="2932"/>
                  </a:lnSpc>
                </a:pPr>
                <a:r>
                  <a:rPr lang="en-US" sz="2124" b="true">
                    <a:solidFill>
                      <a:srgbClr val="387F7F"/>
                    </a:solidFill>
                    <a:latin typeface="Poppins Bold"/>
                    <a:ea typeface="Poppins Bold"/>
                    <a:cs typeface="Poppins Bold"/>
                    <a:sym typeface="Poppins Bold"/>
                  </a:rPr>
                  <a:t>The result:  </a:t>
                </a:r>
                <a:r>
                  <a:rPr lang="en-US" sz="2124">
                    <a:solidFill>
                      <a:srgbClr val="0A1A23"/>
                    </a:solidFill>
                    <a:latin typeface="Poppins"/>
                    <a:ea typeface="Poppins"/>
                    <a:cs typeface="Poppins"/>
                    <a:sym typeface="Poppins"/>
                  </a:rPr>
                  <a:t>the same reliability whether the file has forty rows or forty thousand.</a:t>
                </a:r>
              </a:p>
            </p:txBody>
          </p:sp>
        </p:grpSp>
      </p:grpSp>
      <p:grpSp>
        <p:nvGrpSpPr>
          <p:cNvPr name="Group 52" id="52"/>
          <p:cNvGrpSpPr/>
          <p:nvPr/>
        </p:nvGrpSpPr>
        <p:grpSpPr>
          <a:xfrm rot="0">
            <a:off x="857250" y="857250"/>
            <a:ext cx="114300" cy="1028700"/>
            <a:chOff x="0" y="0"/>
            <a:chExt cx="152400" cy="1371600"/>
          </a:xfrm>
        </p:grpSpPr>
        <p:sp>
          <p:nvSpPr>
            <p:cNvPr name="Freeform 53" id="53"/>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288"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8627364" y="2182167"/>
            <a:ext cx="8023860" cy="5692140"/>
            <a:chOff x="0" y="0"/>
            <a:chExt cx="10698480" cy="7589520"/>
          </a:xfrm>
        </p:grpSpPr>
        <p:grpSp>
          <p:nvGrpSpPr>
            <p:cNvPr name="Group 5" id="5"/>
            <p:cNvGrpSpPr/>
            <p:nvPr/>
          </p:nvGrpSpPr>
          <p:grpSpPr>
            <a:xfrm rot="0">
              <a:off x="0" y="0"/>
              <a:ext cx="10698480" cy="7589520"/>
              <a:chOff x="0" y="0"/>
              <a:chExt cx="10698480" cy="7589520"/>
            </a:xfrm>
          </p:grpSpPr>
          <p:sp>
            <p:nvSpPr>
              <p:cNvPr name="Freeform 6" id="6"/>
              <p:cNvSpPr/>
              <p:nvPr/>
            </p:nvSpPr>
            <p:spPr>
              <a:xfrm flipH="false" flipV="false" rot="0">
                <a:off x="0" y="0"/>
                <a:ext cx="10698480" cy="7589520"/>
              </a:xfrm>
              <a:custGeom>
                <a:avLst/>
                <a:gdLst/>
                <a:ahLst/>
                <a:cxnLst/>
                <a:rect r="r" b="b" t="t" l="l"/>
                <a:pathLst>
                  <a:path h="7589520" w="10698480">
                    <a:moveTo>
                      <a:pt x="0" y="146304"/>
                    </a:moveTo>
                    <a:cubicBezTo>
                      <a:pt x="0" y="65532"/>
                      <a:pt x="65532" y="0"/>
                      <a:pt x="146304" y="0"/>
                    </a:cubicBezTo>
                    <a:lnTo>
                      <a:pt x="10552176" y="0"/>
                    </a:lnTo>
                    <a:cubicBezTo>
                      <a:pt x="10632948" y="0"/>
                      <a:pt x="10698480" y="65532"/>
                      <a:pt x="10698480" y="146304"/>
                    </a:cubicBezTo>
                    <a:lnTo>
                      <a:pt x="10698480" y="7443216"/>
                    </a:lnTo>
                    <a:cubicBezTo>
                      <a:pt x="10698480" y="7523988"/>
                      <a:pt x="10632948" y="7589520"/>
                      <a:pt x="10552176" y="7589520"/>
                    </a:cubicBezTo>
                    <a:lnTo>
                      <a:pt x="146304" y="7589520"/>
                    </a:lnTo>
                    <a:cubicBezTo>
                      <a:pt x="65532" y="7589520"/>
                      <a:pt x="0" y="7523988"/>
                      <a:pt x="0" y="7443216"/>
                    </a:cubicBezTo>
                    <a:close/>
                  </a:path>
                </a:pathLst>
              </a:custGeom>
              <a:solidFill>
                <a:srgbClr val="387F7F"/>
              </a:solidFill>
            </p:spPr>
          </p:sp>
        </p:grpSp>
        <p:grpSp>
          <p:nvGrpSpPr>
            <p:cNvPr name="Group 7" id="7"/>
            <p:cNvGrpSpPr/>
            <p:nvPr/>
          </p:nvGrpSpPr>
          <p:grpSpPr>
            <a:xfrm rot="0">
              <a:off x="548640" y="365760"/>
              <a:ext cx="7315200" cy="640080"/>
              <a:chOff x="0" y="0"/>
              <a:chExt cx="7315200" cy="640080"/>
            </a:xfrm>
          </p:grpSpPr>
          <p:sp>
            <p:nvSpPr>
              <p:cNvPr name="Freeform 8" id="8"/>
              <p:cNvSpPr/>
              <p:nvPr/>
            </p:nvSpPr>
            <p:spPr>
              <a:xfrm flipH="false" flipV="false" rot="0">
                <a:off x="0" y="0"/>
                <a:ext cx="7315200" cy="640080"/>
              </a:xfrm>
              <a:custGeom>
                <a:avLst/>
                <a:gdLst/>
                <a:ahLst/>
                <a:cxnLst/>
                <a:rect r="r" b="b" t="t" l="l"/>
                <a:pathLst>
                  <a:path h="640080" w="7315200">
                    <a:moveTo>
                      <a:pt x="0" y="0"/>
                    </a:moveTo>
                    <a:lnTo>
                      <a:pt x="7315200" y="0"/>
                    </a:lnTo>
                    <a:lnTo>
                      <a:pt x="7315200" y="640080"/>
                    </a:lnTo>
                    <a:lnTo>
                      <a:pt x="0" y="640080"/>
                    </a:lnTo>
                    <a:close/>
                  </a:path>
                </a:pathLst>
              </a:custGeom>
              <a:blipFill>
                <a:blip r:embed="rId3">
                  <a:alphaModFix amt="0"/>
                </a:blip>
                <a:stretch>
                  <a:fillRect l="0" t="-172686" r="0" b="-172686"/>
                </a:stretch>
              </a:blipFill>
            </p:spPr>
          </p:sp>
          <p:sp>
            <p:nvSpPr>
              <p:cNvPr name="TextBox 9" id="9"/>
              <p:cNvSpPr txBox="true"/>
              <p:nvPr/>
            </p:nvSpPr>
            <p:spPr>
              <a:xfrm>
                <a:off x="0" y="-19050"/>
                <a:ext cx="7315200" cy="659130"/>
              </a:xfrm>
              <a:prstGeom prst="rect">
                <a:avLst/>
              </a:prstGeom>
            </p:spPr>
            <p:txBody>
              <a:bodyPr anchor="ctr" rtlCol="false" tIns="0" lIns="0" bIns="0" rIns="0"/>
              <a:lstStyle/>
              <a:p>
                <a:pPr algn="l">
                  <a:lnSpc>
                    <a:spcPts val="2160"/>
                  </a:lnSpc>
                </a:pPr>
                <a:r>
                  <a:rPr lang="en-US" b="true" sz="1800" spc="149">
                    <a:solidFill>
                      <a:srgbClr val="FFFFFF"/>
                    </a:solidFill>
                    <a:latin typeface="Poppins Bold"/>
                    <a:ea typeface="Poppins Bold"/>
                    <a:cs typeface="Poppins Bold"/>
                    <a:sym typeface="Poppins Bold"/>
                  </a:rPr>
                  <a:t>PYTHON</a:t>
                </a:r>
              </a:p>
            </p:txBody>
          </p:sp>
        </p:grpSp>
        <p:grpSp>
          <p:nvGrpSpPr>
            <p:cNvPr name="Group 10" id="10"/>
            <p:cNvGrpSpPr/>
            <p:nvPr/>
          </p:nvGrpSpPr>
          <p:grpSpPr>
            <a:xfrm rot="0">
              <a:off x="640080" y="1463040"/>
              <a:ext cx="146304" cy="146304"/>
              <a:chOff x="0" y="0"/>
              <a:chExt cx="146304" cy="146304"/>
            </a:xfrm>
          </p:grpSpPr>
          <p:sp>
            <p:nvSpPr>
              <p:cNvPr name="Freeform 11" id="11"/>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FFFFFF"/>
              </a:solidFill>
            </p:spPr>
          </p:sp>
        </p:grpSp>
        <p:sp>
          <p:nvSpPr>
            <p:cNvPr name="TextBox 12" id="12"/>
            <p:cNvSpPr txBox="true"/>
            <p:nvPr/>
          </p:nvSpPr>
          <p:spPr>
            <a:xfrm rot="0">
              <a:off x="1218844" y="1274953"/>
              <a:ext cx="9326880" cy="487680"/>
            </a:xfrm>
            <a:prstGeom prst="rect">
              <a:avLst/>
            </a:prstGeom>
          </p:spPr>
          <p:txBody>
            <a:bodyPr anchor="t" rtlCol="false" tIns="0" lIns="0" bIns="0" rIns="0">
              <a:spAutoFit/>
            </a:bodyPr>
            <a:lstStyle/>
            <a:p>
              <a:pPr algn="l">
                <a:lnSpc>
                  <a:spcPts val="2932"/>
                </a:lnSpc>
              </a:pPr>
              <a:r>
                <a:rPr lang="en-US" sz="2124">
                  <a:solidFill>
                    <a:srgbClr val="FFFFFF"/>
                  </a:solidFill>
                  <a:latin typeface="Poppins"/>
                  <a:ea typeface="Poppins"/>
                  <a:cs typeface="Poppins"/>
                  <a:sym typeface="Poppins"/>
                </a:rPr>
                <a:t>No practical row limit for analyst-scale data</a:t>
              </a:r>
            </a:p>
          </p:txBody>
        </p:sp>
        <p:grpSp>
          <p:nvGrpSpPr>
            <p:cNvPr name="Group 13" id="13"/>
            <p:cNvGrpSpPr/>
            <p:nvPr/>
          </p:nvGrpSpPr>
          <p:grpSpPr>
            <a:xfrm rot="0">
              <a:off x="640080" y="3017520"/>
              <a:ext cx="146304" cy="146304"/>
              <a:chOff x="0" y="0"/>
              <a:chExt cx="146304" cy="146304"/>
            </a:xfrm>
          </p:grpSpPr>
          <p:sp>
            <p:nvSpPr>
              <p:cNvPr name="Freeform 14" id="14"/>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FFFFFF"/>
              </a:solidFill>
            </p:spPr>
          </p:sp>
        </p:grpSp>
        <p:sp>
          <p:nvSpPr>
            <p:cNvPr name="TextBox 15" id="15"/>
            <p:cNvSpPr txBox="true"/>
            <p:nvPr/>
          </p:nvSpPr>
          <p:spPr>
            <a:xfrm rot="0">
              <a:off x="1218844" y="2838831"/>
              <a:ext cx="9326880" cy="487680"/>
            </a:xfrm>
            <a:prstGeom prst="rect">
              <a:avLst/>
            </a:prstGeom>
          </p:spPr>
          <p:txBody>
            <a:bodyPr anchor="t" rtlCol="false" tIns="0" lIns="0" bIns="0" rIns="0">
              <a:spAutoFit/>
            </a:bodyPr>
            <a:lstStyle/>
            <a:p>
              <a:pPr algn="l">
                <a:lnSpc>
                  <a:spcPts val="2932"/>
                </a:lnSpc>
              </a:pPr>
              <a:r>
                <a:rPr lang="en-US" sz="2124">
                  <a:solidFill>
                    <a:srgbClr val="FFFFFF"/>
                  </a:solidFill>
                  <a:latin typeface="Poppins"/>
                  <a:ea typeface="Poppins"/>
                  <a:cs typeface="Poppins"/>
                  <a:sym typeface="Poppins"/>
                </a:rPr>
                <a:t>Code documents every step, in order, in plain text</a:t>
              </a:r>
            </a:p>
          </p:txBody>
        </p:sp>
        <p:grpSp>
          <p:nvGrpSpPr>
            <p:cNvPr name="Group 16" id="16"/>
            <p:cNvGrpSpPr/>
            <p:nvPr/>
          </p:nvGrpSpPr>
          <p:grpSpPr>
            <a:xfrm rot="0">
              <a:off x="640080" y="4572000"/>
              <a:ext cx="146304" cy="146304"/>
              <a:chOff x="0" y="0"/>
              <a:chExt cx="146304" cy="146304"/>
            </a:xfrm>
          </p:grpSpPr>
          <p:sp>
            <p:nvSpPr>
              <p:cNvPr name="Freeform 17" id="17"/>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FFFFFF"/>
              </a:solidFill>
            </p:spPr>
          </p:sp>
        </p:grpSp>
        <p:sp>
          <p:nvSpPr>
            <p:cNvPr name="TextBox 18" id="18"/>
            <p:cNvSpPr txBox="true"/>
            <p:nvPr/>
          </p:nvSpPr>
          <p:spPr>
            <a:xfrm rot="0">
              <a:off x="1218844" y="4320286"/>
              <a:ext cx="9326880" cy="455803"/>
            </a:xfrm>
            <a:prstGeom prst="rect">
              <a:avLst/>
            </a:prstGeom>
          </p:spPr>
          <p:txBody>
            <a:bodyPr anchor="t" rtlCol="false" tIns="0" lIns="0" bIns="0" rIns="0">
              <a:spAutoFit/>
            </a:bodyPr>
            <a:lstStyle/>
            <a:p>
              <a:pPr algn="l">
                <a:lnSpc>
                  <a:spcPts val="2794"/>
                </a:lnSpc>
              </a:pPr>
              <a:r>
                <a:rPr lang="en-US" sz="2025">
                  <a:solidFill>
                    <a:srgbClr val="FFFFFF"/>
                  </a:solidFill>
                  <a:latin typeface="Poppins"/>
                  <a:ea typeface="Poppins"/>
                  <a:cs typeface="Poppins"/>
                  <a:sym typeface="Poppins"/>
                </a:rPr>
                <a:t>Rerun the exact same script on a new file in seconds</a:t>
              </a:r>
            </a:p>
          </p:txBody>
        </p:sp>
        <p:grpSp>
          <p:nvGrpSpPr>
            <p:cNvPr name="Group 19" id="19"/>
            <p:cNvGrpSpPr/>
            <p:nvPr/>
          </p:nvGrpSpPr>
          <p:grpSpPr>
            <a:xfrm rot="0">
              <a:off x="640080" y="6126480"/>
              <a:ext cx="146304" cy="146304"/>
              <a:chOff x="0" y="0"/>
              <a:chExt cx="146304" cy="146304"/>
            </a:xfrm>
          </p:grpSpPr>
          <p:sp>
            <p:nvSpPr>
              <p:cNvPr name="Freeform 20" id="20"/>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FFFFFF"/>
              </a:solidFill>
            </p:spPr>
          </p:sp>
        </p:grpSp>
        <p:sp>
          <p:nvSpPr>
            <p:cNvPr name="TextBox 21" id="21"/>
            <p:cNvSpPr txBox="true"/>
            <p:nvPr/>
          </p:nvSpPr>
          <p:spPr>
            <a:xfrm rot="0">
              <a:off x="1371600" y="5948045"/>
              <a:ext cx="9326880" cy="455803"/>
            </a:xfrm>
            <a:prstGeom prst="rect">
              <a:avLst/>
            </a:prstGeom>
          </p:spPr>
          <p:txBody>
            <a:bodyPr anchor="t" rtlCol="false" tIns="0" lIns="0" bIns="0" rIns="0">
              <a:spAutoFit/>
            </a:bodyPr>
            <a:lstStyle/>
            <a:p>
              <a:pPr algn="l">
                <a:lnSpc>
                  <a:spcPts val="2794"/>
                </a:lnSpc>
              </a:pPr>
              <a:r>
                <a:rPr lang="en-US" sz="2025">
                  <a:solidFill>
                    <a:srgbClr val="FFFFFF"/>
                  </a:solidFill>
                  <a:latin typeface="Poppins"/>
                  <a:ea typeface="Poppins"/>
                  <a:cs typeface="Poppins"/>
                  <a:sym typeface="Poppins"/>
                </a:rPr>
                <a:t>One script works on one hundred rows or ten million</a:t>
              </a:r>
            </a:p>
          </p:txBody>
        </p:sp>
      </p:grpSp>
      <p:grpSp>
        <p:nvGrpSpPr>
          <p:cNvPr name="Group 22" id="22"/>
          <p:cNvGrpSpPr/>
          <p:nvPr/>
        </p:nvGrpSpPr>
        <p:grpSpPr>
          <a:xfrm rot="0">
            <a:off x="438912" y="9738360"/>
            <a:ext cx="15814548" cy="502101"/>
            <a:chOff x="0" y="0"/>
            <a:chExt cx="21086064" cy="669468"/>
          </a:xfrm>
        </p:grpSpPr>
        <p:sp>
          <p:nvSpPr>
            <p:cNvPr name="Freeform 23" id="23"/>
            <p:cNvSpPr/>
            <p:nvPr/>
          </p:nvSpPr>
          <p:spPr>
            <a:xfrm flipH="false" flipV="false" rot="0">
              <a:off x="0" y="0"/>
              <a:ext cx="21086065" cy="669468"/>
            </a:xfrm>
            <a:custGeom>
              <a:avLst/>
              <a:gdLst/>
              <a:ahLst/>
              <a:cxnLst/>
              <a:rect r="r" b="b" t="t" l="l"/>
              <a:pathLst>
                <a:path h="669468" w="21086065">
                  <a:moveTo>
                    <a:pt x="0" y="0"/>
                  </a:moveTo>
                  <a:lnTo>
                    <a:pt x="21086065" y="0"/>
                  </a:lnTo>
                  <a:lnTo>
                    <a:pt x="21086065" y="669468"/>
                  </a:lnTo>
                  <a:lnTo>
                    <a:pt x="0" y="669468"/>
                  </a:lnTo>
                  <a:close/>
                </a:path>
              </a:pathLst>
            </a:custGeom>
            <a:blipFill>
              <a:blip r:embed="rId3">
                <a:alphaModFix amt="0"/>
              </a:blip>
              <a:stretch>
                <a:fillRect l="0" t="-572739" r="0" b="-554691"/>
              </a:stretch>
            </a:blipFill>
          </p:spPr>
        </p:sp>
        <p:sp>
          <p:nvSpPr>
            <p:cNvPr name="TextBox 24" id="24"/>
            <p:cNvSpPr txBox="true"/>
            <p:nvPr/>
          </p:nvSpPr>
          <p:spPr>
            <a:xfrm>
              <a:off x="0" y="-47625"/>
              <a:ext cx="21086064" cy="717093"/>
            </a:xfrm>
            <a:prstGeom prst="rect">
              <a:avLst/>
            </a:prstGeom>
          </p:spPr>
          <p:txBody>
            <a:bodyPr anchor="ctr" rtlCol="false" tIns="0" lIns="0" bIns="0" rIns="0"/>
            <a:lstStyle/>
            <a:p>
              <a:pPr algn="l">
                <a:lnSpc>
                  <a:spcPts val="2794"/>
                </a:lnSpc>
              </a:pPr>
              <a:r>
                <a:rPr lang="en-US" sz="2025" i="true">
                  <a:solidFill>
                    <a:srgbClr val="0A1A23"/>
                  </a:solidFill>
                  <a:latin typeface="Poppins Italics"/>
                  <a:ea typeface="Poppins Italics"/>
                  <a:cs typeface="Poppins Italics"/>
                  <a:sym typeface="Poppins Italics"/>
                </a:rPr>
                <a:t>This is exactly why next session introduces pandas, the library built to load and work with tables like these.</a:t>
              </a:r>
            </a:p>
          </p:txBody>
        </p:sp>
      </p:grpSp>
      <p:grpSp>
        <p:nvGrpSpPr>
          <p:cNvPr name="Group 25" id="25"/>
          <p:cNvGrpSpPr/>
          <p:nvPr/>
        </p:nvGrpSpPr>
        <p:grpSpPr>
          <a:xfrm rot="0">
            <a:off x="16497824" y="9029700"/>
            <a:ext cx="647224" cy="571500"/>
            <a:chOff x="0" y="0"/>
            <a:chExt cx="862965" cy="762000"/>
          </a:xfrm>
        </p:grpSpPr>
        <p:sp>
          <p:nvSpPr>
            <p:cNvPr name="Freeform 26" id="26"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4"/>
              <a:stretch>
                <a:fillRect l="-772" t="0" r="-772" b="0"/>
              </a:stretch>
            </a:blipFill>
          </p:spPr>
        </p:sp>
      </p:grpSp>
      <p:sp>
        <p:nvSpPr>
          <p:cNvPr name="Freeform 27" id="27"/>
          <p:cNvSpPr/>
          <p:nvPr/>
        </p:nvSpPr>
        <p:spPr>
          <a:xfrm flipH="false" flipV="false" rot="0">
            <a:off x="16536657" y="3043666"/>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8" id="28"/>
          <p:cNvGrpSpPr/>
          <p:nvPr/>
        </p:nvGrpSpPr>
        <p:grpSpPr>
          <a:xfrm rot="0">
            <a:off x="971550" y="2182167"/>
            <a:ext cx="8023860" cy="5692140"/>
            <a:chOff x="0" y="0"/>
            <a:chExt cx="10698480" cy="7589520"/>
          </a:xfrm>
        </p:grpSpPr>
        <p:grpSp>
          <p:nvGrpSpPr>
            <p:cNvPr name="Group 29" id="29"/>
            <p:cNvGrpSpPr/>
            <p:nvPr/>
          </p:nvGrpSpPr>
          <p:grpSpPr>
            <a:xfrm rot="0">
              <a:off x="0" y="0"/>
              <a:ext cx="10698480" cy="7589520"/>
              <a:chOff x="0" y="0"/>
              <a:chExt cx="10698480" cy="7589520"/>
            </a:xfrm>
          </p:grpSpPr>
          <p:sp>
            <p:nvSpPr>
              <p:cNvPr name="Freeform 30" id="30"/>
              <p:cNvSpPr/>
              <p:nvPr/>
            </p:nvSpPr>
            <p:spPr>
              <a:xfrm flipH="false" flipV="false" rot="0">
                <a:off x="0" y="0"/>
                <a:ext cx="10698480" cy="7589520"/>
              </a:xfrm>
              <a:custGeom>
                <a:avLst/>
                <a:gdLst/>
                <a:ahLst/>
                <a:cxnLst/>
                <a:rect r="r" b="b" t="t" l="l"/>
                <a:pathLst>
                  <a:path h="7589520" w="10698480">
                    <a:moveTo>
                      <a:pt x="0" y="146304"/>
                    </a:moveTo>
                    <a:cubicBezTo>
                      <a:pt x="0" y="65532"/>
                      <a:pt x="65532" y="0"/>
                      <a:pt x="146304" y="0"/>
                    </a:cubicBezTo>
                    <a:lnTo>
                      <a:pt x="10552176" y="0"/>
                    </a:lnTo>
                    <a:cubicBezTo>
                      <a:pt x="10632948" y="0"/>
                      <a:pt x="10698480" y="65532"/>
                      <a:pt x="10698480" y="146304"/>
                    </a:cubicBezTo>
                    <a:lnTo>
                      <a:pt x="10698480" y="7443216"/>
                    </a:lnTo>
                    <a:cubicBezTo>
                      <a:pt x="10698480" y="7523988"/>
                      <a:pt x="10632948" y="7589520"/>
                      <a:pt x="10552176" y="7589520"/>
                    </a:cubicBezTo>
                    <a:lnTo>
                      <a:pt x="146304" y="7589520"/>
                    </a:lnTo>
                    <a:cubicBezTo>
                      <a:pt x="65532" y="7589520"/>
                      <a:pt x="0" y="7523988"/>
                      <a:pt x="0" y="7443216"/>
                    </a:cubicBezTo>
                    <a:close/>
                  </a:path>
                </a:pathLst>
              </a:custGeom>
              <a:solidFill>
                <a:srgbClr val="EAF2F1"/>
              </a:solidFill>
            </p:spPr>
          </p:sp>
        </p:grpSp>
        <p:grpSp>
          <p:nvGrpSpPr>
            <p:cNvPr name="Group 31" id="31"/>
            <p:cNvGrpSpPr/>
            <p:nvPr/>
          </p:nvGrpSpPr>
          <p:grpSpPr>
            <a:xfrm rot="0">
              <a:off x="237744" y="365760"/>
              <a:ext cx="7315200" cy="640080"/>
              <a:chOff x="0" y="0"/>
              <a:chExt cx="7315200" cy="640080"/>
            </a:xfrm>
          </p:grpSpPr>
          <p:sp>
            <p:nvSpPr>
              <p:cNvPr name="Freeform 32" id="32"/>
              <p:cNvSpPr/>
              <p:nvPr/>
            </p:nvSpPr>
            <p:spPr>
              <a:xfrm flipH="false" flipV="false" rot="0">
                <a:off x="0" y="0"/>
                <a:ext cx="7315200" cy="640080"/>
              </a:xfrm>
              <a:custGeom>
                <a:avLst/>
                <a:gdLst/>
                <a:ahLst/>
                <a:cxnLst/>
                <a:rect r="r" b="b" t="t" l="l"/>
                <a:pathLst>
                  <a:path h="640080" w="7315200">
                    <a:moveTo>
                      <a:pt x="0" y="0"/>
                    </a:moveTo>
                    <a:lnTo>
                      <a:pt x="7315200" y="0"/>
                    </a:lnTo>
                    <a:lnTo>
                      <a:pt x="7315200" y="640080"/>
                    </a:lnTo>
                    <a:lnTo>
                      <a:pt x="0" y="640080"/>
                    </a:lnTo>
                    <a:close/>
                  </a:path>
                </a:pathLst>
              </a:custGeom>
              <a:blipFill>
                <a:blip r:embed="rId3">
                  <a:alphaModFix amt="0"/>
                </a:blip>
                <a:stretch>
                  <a:fillRect l="0" t="-172686" r="0" b="-172686"/>
                </a:stretch>
              </a:blipFill>
            </p:spPr>
          </p:sp>
          <p:sp>
            <p:nvSpPr>
              <p:cNvPr name="TextBox 33" id="33"/>
              <p:cNvSpPr txBox="true"/>
              <p:nvPr/>
            </p:nvSpPr>
            <p:spPr>
              <a:xfrm>
                <a:off x="0" y="-19050"/>
                <a:ext cx="7315200" cy="659130"/>
              </a:xfrm>
              <a:prstGeom prst="rect">
                <a:avLst/>
              </a:prstGeom>
            </p:spPr>
            <p:txBody>
              <a:bodyPr anchor="ctr" rtlCol="false" tIns="0" lIns="0" bIns="0" rIns="0"/>
              <a:lstStyle/>
              <a:p>
                <a:pPr algn="l">
                  <a:lnSpc>
                    <a:spcPts val="2160"/>
                  </a:lnSpc>
                </a:pPr>
                <a:r>
                  <a:rPr lang="en-US" b="true" sz="1800" spc="149">
                    <a:solidFill>
                      <a:srgbClr val="5B6B6E"/>
                    </a:solidFill>
                    <a:latin typeface="Poppins Bold"/>
                    <a:ea typeface="Poppins Bold"/>
                    <a:cs typeface="Poppins Bold"/>
                    <a:sym typeface="Poppins Bold"/>
                  </a:rPr>
                  <a:t>EXCEL</a:t>
                </a:r>
              </a:p>
            </p:txBody>
          </p:sp>
        </p:grpSp>
        <p:grpSp>
          <p:nvGrpSpPr>
            <p:cNvPr name="Group 34" id="34"/>
            <p:cNvGrpSpPr/>
            <p:nvPr/>
          </p:nvGrpSpPr>
          <p:grpSpPr>
            <a:xfrm rot="0">
              <a:off x="329184" y="1463040"/>
              <a:ext cx="146304" cy="146304"/>
              <a:chOff x="0" y="0"/>
              <a:chExt cx="146304" cy="146304"/>
            </a:xfrm>
          </p:grpSpPr>
          <p:sp>
            <p:nvSpPr>
              <p:cNvPr name="Freeform 35" id="35"/>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36" id="36"/>
            <p:cNvSpPr txBox="true"/>
            <p:nvPr/>
          </p:nvSpPr>
          <p:spPr>
            <a:xfrm rot="0">
              <a:off x="786384" y="1332611"/>
              <a:ext cx="9052560" cy="982980"/>
            </a:xfrm>
            <a:prstGeom prst="rect">
              <a:avLst/>
            </a:prstGeom>
          </p:spPr>
          <p:txBody>
            <a:bodyPr anchor="t" rtlCol="false" tIns="0" lIns="0" bIns="0" rIns="0">
              <a:spAutoFit/>
            </a:bodyPr>
            <a:lstStyle/>
            <a:p>
              <a:pPr algn="l">
                <a:lnSpc>
                  <a:spcPts val="2932"/>
                </a:lnSpc>
              </a:pPr>
              <a:r>
                <a:rPr lang="en-US" sz="2124">
                  <a:solidFill>
                    <a:srgbClr val="0A1A23"/>
                  </a:solidFill>
                  <a:latin typeface="Poppins"/>
                  <a:ea typeface="Poppins"/>
                  <a:cs typeface="Poppins"/>
                  <a:sym typeface="Poppins"/>
                </a:rPr>
                <a:t>About 1,048,576 rows per sheet, and performance drops well before that</a:t>
              </a:r>
            </a:p>
          </p:txBody>
        </p:sp>
        <p:grpSp>
          <p:nvGrpSpPr>
            <p:cNvPr name="Group 37" id="37"/>
            <p:cNvGrpSpPr/>
            <p:nvPr/>
          </p:nvGrpSpPr>
          <p:grpSpPr>
            <a:xfrm rot="0">
              <a:off x="329184" y="3017520"/>
              <a:ext cx="146304" cy="146304"/>
              <a:chOff x="0" y="0"/>
              <a:chExt cx="146304" cy="146304"/>
            </a:xfrm>
          </p:grpSpPr>
          <p:sp>
            <p:nvSpPr>
              <p:cNvPr name="Freeform 38" id="38"/>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39" id="39"/>
            <p:cNvSpPr txBox="true"/>
            <p:nvPr/>
          </p:nvSpPr>
          <p:spPr>
            <a:xfrm rot="0">
              <a:off x="786384" y="2902585"/>
              <a:ext cx="9052560" cy="487680"/>
            </a:xfrm>
            <a:prstGeom prst="rect">
              <a:avLst/>
            </a:prstGeom>
          </p:spPr>
          <p:txBody>
            <a:bodyPr anchor="t" rtlCol="false" tIns="0" lIns="0" bIns="0" rIns="0">
              <a:spAutoFit/>
            </a:bodyPr>
            <a:lstStyle/>
            <a:p>
              <a:pPr algn="l">
                <a:lnSpc>
                  <a:spcPts val="2932"/>
                </a:lnSpc>
              </a:pPr>
              <a:r>
                <a:rPr lang="en-US" sz="2124">
                  <a:solidFill>
                    <a:srgbClr val="0A1A23"/>
                  </a:solidFill>
                  <a:latin typeface="Poppins"/>
                  <a:ea typeface="Poppins"/>
                  <a:cs typeface="Poppins"/>
                  <a:sym typeface="Poppins"/>
                </a:rPr>
                <a:t>Every formula is rebuilt or dragged down by hand</a:t>
              </a:r>
            </a:p>
          </p:txBody>
        </p:sp>
        <p:grpSp>
          <p:nvGrpSpPr>
            <p:cNvPr name="Group 40" id="40"/>
            <p:cNvGrpSpPr/>
            <p:nvPr/>
          </p:nvGrpSpPr>
          <p:grpSpPr>
            <a:xfrm rot="0">
              <a:off x="329184" y="4572000"/>
              <a:ext cx="146304" cy="146304"/>
              <a:chOff x="0" y="0"/>
              <a:chExt cx="146304" cy="146304"/>
            </a:xfrm>
          </p:grpSpPr>
          <p:sp>
            <p:nvSpPr>
              <p:cNvPr name="Freeform 41" id="41"/>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42" id="42"/>
            <p:cNvSpPr txBox="true"/>
            <p:nvPr/>
          </p:nvSpPr>
          <p:spPr>
            <a:xfrm rot="0">
              <a:off x="822960" y="4353179"/>
              <a:ext cx="9052560" cy="982980"/>
            </a:xfrm>
            <a:prstGeom prst="rect">
              <a:avLst/>
            </a:prstGeom>
          </p:spPr>
          <p:txBody>
            <a:bodyPr anchor="t" rtlCol="false" tIns="0" lIns="0" bIns="0" rIns="0">
              <a:spAutoFit/>
            </a:bodyPr>
            <a:lstStyle/>
            <a:p>
              <a:pPr algn="l">
                <a:lnSpc>
                  <a:spcPts val="2932"/>
                </a:lnSpc>
              </a:pPr>
              <a:r>
                <a:rPr lang="en-US" sz="2124">
                  <a:solidFill>
                    <a:srgbClr val="0A1A23"/>
                  </a:solidFill>
                  <a:latin typeface="Poppins"/>
                  <a:ea typeface="Poppins"/>
                  <a:cs typeface="Poppins"/>
                  <a:sym typeface="Poppins"/>
                </a:rPr>
                <a:t>Recalculates on open; easy to change a cell by accident</a:t>
              </a:r>
            </a:p>
          </p:txBody>
        </p:sp>
        <p:grpSp>
          <p:nvGrpSpPr>
            <p:cNvPr name="Group 43" id="43"/>
            <p:cNvGrpSpPr/>
            <p:nvPr/>
          </p:nvGrpSpPr>
          <p:grpSpPr>
            <a:xfrm rot="0">
              <a:off x="329184" y="6126480"/>
              <a:ext cx="146304" cy="146304"/>
              <a:chOff x="0" y="0"/>
              <a:chExt cx="146304" cy="146304"/>
            </a:xfrm>
          </p:grpSpPr>
          <p:sp>
            <p:nvSpPr>
              <p:cNvPr name="Freeform 44" id="44"/>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45" id="45"/>
            <p:cNvSpPr txBox="true"/>
            <p:nvPr/>
          </p:nvSpPr>
          <p:spPr>
            <a:xfrm rot="0">
              <a:off x="822960" y="5907659"/>
              <a:ext cx="9052560" cy="982980"/>
            </a:xfrm>
            <a:prstGeom prst="rect">
              <a:avLst/>
            </a:prstGeom>
          </p:spPr>
          <p:txBody>
            <a:bodyPr anchor="t" rtlCol="false" tIns="0" lIns="0" bIns="0" rIns="0">
              <a:spAutoFit/>
            </a:bodyPr>
            <a:lstStyle/>
            <a:p>
              <a:pPr algn="l">
                <a:lnSpc>
                  <a:spcPts val="2932"/>
                </a:lnSpc>
              </a:pPr>
              <a:r>
                <a:rPr lang="en-US" sz="2124">
                  <a:solidFill>
                    <a:srgbClr val="0A1A23"/>
                  </a:solidFill>
                  <a:latin typeface="Poppins"/>
                  <a:ea typeface="Poppins"/>
                  <a:cs typeface="Poppins"/>
                  <a:sym typeface="Poppins"/>
                </a:rPr>
                <a:t>Hard to prove the same steps ran twice, the same way</a:t>
              </a:r>
            </a:p>
          </p:txBody>
        </p:sp>
      </p:grpSp>
      <p:grpSp>
        <p:nvGrpSpPr>
          <p:cNvPr name="Group 46" id="46"/>
          <p:cNvGrpSpPr/>
          <p:nvPr/>
        </p:nvGrpSpPr>
        <p:grpSpPr>
          <a:xfrm rot="0">
            <a:off x="1143854" y="748665"/>
            <a:ext cx="12001500" cy="1245870"/>
            <a:chOff x="0" y="0"/>
            <a:chExt cx="16002000" cy="1661160"/>
          </a:xfrm>
        </p:grpSpPr>
        <p:sp>
          <p:nvSpPr>
            <p:cNvPr name="Freeform 47" id="47"/>
            <p:cNvSpPr/>
            <p:nvPr/>
          </p:nvSpPr>
          <p:spPr>
            <a:xfrm flipH="false" flipV="false" rot="0">
              <a:off x="0" y="0"/>
              <a:ext cx="16002000" cy="1661160"/>
            </a:xfrm>
            <a:custGeom>
              <a:avLst/>
              <a:gdLst/>
              <a:ahLst/>
              <a:cxnLst/>
              <a:rect r="r" b="b" t="t" l="l"/>
              <a:pathLst>
                <a:path h="1661160" w="16002000">
                  <a:moveTo>
                    <a:pt x="0" y="0"/>
                  </a:moveTo>
                  <a:lnTo>
                    <a:pt x="16002000" y="0"/>
                  </a:lnTo>
                  <a:lnTo>
                    <a:pt x="16002000" y="1661160"/>
                  </a:lnTo>
                  <a:lnTo>
                    <a:pt x="0" y="1661160"/>
                  </a:lnTo>
                  <a:close/>
                </a:path>
              </a:pathLst>
            </a:custGeom>
            <a:blipFill>
              <a:blip r:embed="rId3">
                <a:alphaModFix amt="0"/>
              </a:blip>
              <a:stretch>
                <a:fillRect l="0" t="-146557" r="2857" b="-118116"/>
              </a:stretch>
            </a:blipFill>
          </p:spPr>
        </p:sp>
        <p:sp>
          <p:nvSpPr>
            <p:cNvPr name="TextBox 48" id="48"/>
            <p:cNvSpPr txBox="true"/>
            <p:nvPr/>
          </p:nvSpPr>
          <p:spPr>
            <a:xfrm>
              <a:off x="0" y="-47625"/>
              <a:ext cx="16002000" cy="1708785"/>
            </a:xfrm>
            <a:prstGeom prst="rect">
              <a:avLst/>
            </a:prstGeom>
          </p:spPr>
          <p:txBody>
            <a:bodyPr anchor="ctr" rtlCol="false" tIns="0" lIns="0" bIns="0" rIns="0"/>
            <a:lstStyle/>
            <a:p>
              <a:pPr algn="l">
                <a:lnSpc>
                  <a:spcPts val="6000"/>
                </a:lnSpc>
              </a:pPr>
              <a:r>
                <a:rPr lang="en-US" sz="5000">
                  <a:solidFill>
                    <a:srgbClr val="388080"/>
                  </a:solidFill>
                  <a:latin typeface="Poppins"/>
                  <a:ea typeface="Poppins"/>
                  <a:cs typeface="Poppins"/>
                  <a:sym typeface="Poppins"/>
                </a:rPr>
                <a:t>Python as a Tool for Scalable Analysis</a:t>
              </a:r>
            </a:p>
          </p:txBody>
        </p:sp>
      </p:grpSp>
      <p:grpSp>
        <p:nvGrpSpPr>
          <p:cNvPr name="Group 49" id="49"/>
          <p:cNvGrpSpPr/>
          <p:nvPr/>
        </p:nvGrpSpPr>
        <p:grpSpPr>
          <a:xfrm rot="0">
            <a:off x="857250" y="857250"/>
            <a:ext cx="114300" cy="1028700"/>
            <a:chOff x="0" y="0"/>
            <a:chExt cx="152400" cy="1371600"/>
          </a:xfrm>
        </p:grpSpPr>
        <p:sp>
          <p:nvSpPr>
            <p:cNvPr name="Freeform 50" id="50"/>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788231" y="791957"/>
            <a:ext cx="16788308" cy="9237630"/>
            <a:chOff x="0" y="0"/>
            <a:chExt cx="22384410" cy="12316840"/>
          </a:xfrm>
        </p:grpSpPr>
        <p:grpSp>
          <p:nvGrpSpPr>
            <p:cNvPr name="Group 5" id="5"/>
            <p:cNvGrpSpPr/>
            <p:nvPr/>
          </p:nvGrpSpPr>
          <p:grpSpPr>
            <a:xfrm rot="0">
              <a:off x="402336" y="0"/>
              <a:ext cx="15544800" cy="1661160"/>
              <a:chOff x="0" y="0"/>
              <a:chExt cx="15544800" cy="1661160"/>
            </a:xfrm>
          </p:grpSpPr>
          <p:sp>
            <p:nvSpPr>
              <p:cNvPr name="Freeform 6" id="6"/>
              <p:cNvSpPr/>
              <p:nvPr/>
            </p:nvSpPr>
            <p:spPr>
              <a:xfrm flipH="false" flipV="false" rot="0">
                <a:off x="0" y="0"/>
                <a:ext cx="15544800" cy="1661160"/>
              </a:xfrm>
              <a:custGeom>
                <a:avLst/>
                <a:gdLst/>
                <a:ahLst/>
                <a:cxnLst/>
                <a:rect r="r" b="b" t="t" l="l"/>
                <a:pathLst>
                  <a:path h="1661160" w="15544800">
                    <a:moveTo>
                      <a:pt x="0" y="0"/>
                    </a:moveTo>
                    <a:lnTo>
                      <a:pt x="15544800" y="0"/>
                    </a:lnTo>
                    <a:lnTo>
                      <a:pt x="15544800" y="1661160"/>
                    </a:lnTo>
                    <a:lnTo>
                      <a:pt x="0" y="1661160"/>
                    </a:lnTo>
                    <a:close/>
                  </a:path>
                </a:pathLst>
              </a:custGeom>
              <a:blipFill>
                <a:blip r:embed="rId3">
                  <a:alphaModFix amt="0"/>
                </a:blip>
                <a:stretch>
                  <a:fillRect l="0" t="-146557" r="0" b="-118116"/>
                </a:stretch>
              </a:blipFill>
            </p:spPr>
          </p:sp>
          <p:sp>
            <p:nvSpPr>
              <p:cNvPr name="TextBox 7" id="7"/>
              <p:cNvSpPr txBox="true"/>
              <p:nvPr/>
            </p:nvSpPr>
            <p:spPr>
              <a:xfrm>
                <a:off x="0" y="-47625"/>
                <a:ext cx="15544800" cy="1708785"/>
              </a:xfrm>
              <a:prstGeom prst="rect">
                <a:avLst/>
              </a:prstGeom>
            </p:spPr>
            <p:txBody>
              <a:bodyPr anchor="ctr" rtlCol="false" tIns="0" lIns="0" bIns="0" rIns="0"/>
              <a:lstStyle/>
              <a:p>
                <a:pPr algn="l">
                  <a:lnSpc>
                    <a:spcPts val="6000"/>
                  </a:lnSpc>
                </a:pPr>
                <a:r>
                  <a:rPr lang="en-US" sz="5000">
                    <a:solidFill>
                      <a:srgbClr val="388080"/>
                    </a:solidFill>
                    <a:latin typeface="Poppins"/>
                    <a:ea typeface="Poppins"/>
                    <a:cs typeface="Poppins"/>
                    <a:sym typeface="Poppins"/>
                  </a:rPr>
                  <a:t>Recap: Variables and Data Types</a:t>
                </a:r>
              </a:p>
            </p:txBody>
          </p:sp>
        </p:grpSp>
        <p:grpSp>
          <p:nvGrpSpPr>
            <p:cNvPr name="Group 8" id="8"/>
            <p:cNvGrpSpPr/>
            <p:nvPr/>
          </p:nvGrpSpPr>
          <p:grpSpPr>
            <a:xfrm rot="0">
              <a:off x="0" y="2207260"/>
              <a:ext cx="10698480" cy="3383280"/>
              <a:chOff x="0" y="0"/>
              <a:chExt cx="10698480" cy="3383280"/>
            </a:xfrm>
          </p:grpSpPr>
          <p:sp>
            <p:nvSpPr>
              <p:cNvPr name="Freeform 9" id="9"/>
              <p:cNvSpPr/>
              <p:nvPr/>
            </p:nvSpPr>
            <p:spPr>
              <a:xfrm flipH="false" flipV="false" rot="0">
                <a:off x="0" y="0"/>
                <a:ext cx="10698480" cy="3383280"/>
              </a:xfrm>
              <a:custGeom>
                <a:avLst/>
                <a:gdLst/>
                <a:ahLst/>
                <a:cxnLst/>
                <a:rect r="r" b="b" t="t" l="l"/>
                <a:pathLst>
                  <a:path h="3383280" w="10698480">
                    <a:moveTo>
                      <a:pt x="0" y="146304"/>
                    </a:moveTo>
                    <a:cubicBezTo>
                      <a:pt x="0" y="65532"/>
                      <a:pt x="65532" y="0"/>
                      <a:pt x="146304" y="0"/>
                    </a:cubicBezTo>
                    <a:lnTo>
                      <a:pt x="10552176" y="0"/>
                    </a:lnTo>
                    <a:cubicBezTo>
                      <a:pt x="10632948" y="0"/>
                      <a:pt x="10698480" y="65532"/>
                      <a:pt x="10698480" y="146304"/>
                    </a:cubicBezTo>
                    <a:lnTo>
                      <a:pt x="10698480" y="3236976"/>
                    </a:lnTo>
                    <a:cubicBezTo>
                      <a:pt x="10698480" y="3317748"/>
                      <a:pt x="10632948" y="3383280"/>
                      <a:pt x="10552176" y="3383280"/>
                    </a:cubicBezTo>
                    <a:lnTo>
                      <a:pt x="146304" y="3383280"/>
                    </a:lnTo>
                    <a:cubicBezTo>
                      <a:pt x="65532" y="3383280"/>
                      <a:pt x="0" y="3317748"/>
                      <a:pt x="0" y="3236976"/>
                    </a:cubicBezTo>
                    <a:close/>
                  </a:path>
                </a:pathLst>
              </a:custGeom>
              <a:solidFill>
                <a:srgbClr val="0A1A23"/>
              </a:solidFill>
            </p:spPr>
          </p:sp>
        </p:grpSp>
        <p:grpSp>
          <p:nvGrpSpPr>
            <p:cNvPr name="Group 10" id="10"/>
            <p:cNvGrpSpPr/>
            <p:nvPr/>
          </p:nvGrpSpPr>
          <p:grpSpPr>
            <a:xfrm rot="0">
              <a:off x="402336" y="2573020"/>
              <a:ext cx="237744" cy="237744"/>
              <a:chOff x="0" y="0"/>
              <a:chExt cx="237744" cy="237744"/>
            </a:xfrm>
          </p:grpSpPr>
          <p:sp>
            <p:nvSpPr>
              <p:cNvPr name="Freeform 11" id="11"/>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74C3C"/>
              </a:solidFill>
            </p:spPr>
          </p:sp>
        </p:grpSp>
        <p:grpSp>
          <p:nvGrpSpPr>
            <p:cNvPr name="Group 12" id="12"/>
            <p:cNvGrpSpPr/>
            <p:nvPr/>
          </p:nvGrpSpPr>
          <p:grpSpPr>
            <a:xfrm rot="0">
              <a:off x="841248" y="2573020"/>
              <a:ext cx="237744" cy="237744"/>
              <a:chOff x="0" y="0"/>
              <a:chExt cx="237744" cy="237744"/>
            </a:xfrm>
          </p:grpSpPr>
          <p:sp>
            <p:nvSpPr>
              <p:cNvPr name="Freeform 13" id="13"/>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8B93F"/>
              </a:solidFill>
            </p:spPr>
          </p:sp>
        </p:grpSp>
        <p:grpSp>
          <p:nvGrpSpPr>
            <p:cNvPr name="Group 14" id="14"/>
            <p:cNvGrpSpPr/>
            <p:nvPr/>
          </p:nvGrpSpPr>
          <p:grpSpPr>
            <a:xfrm rot="0">
              <a:off x="1280160" y="2573020"/>
              <a:ext cx="237744" cy="237744"/>
              <a:chOff x="0" y="0"/>
              <a:chExt cx="237744" cy="237744"/>
            </a:xfrm>
          </p:grpSpPr>
          <p:sp>
            <p:nvSpPr>
              <p:cNvPr name="Freeform 15" id="15"/>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3FA76B"/>
              </a:solidFill>
            </p:spPr>
          </p:sp>
        </p:grpSp>
        <p:sp>
          <p:nvSpPr>
            <p:cNvPr name="TextBox 16" id="16"/>
            <p:cNvSpPr txBox="true"/>
            <p:nvPr/>
          </p:nvSpPr>
          <p:spPr>
            <a:xfrm rot="0">
              <a:off x="402336" y="2876296"/>
              <a:ext cx="9674352" cy="2101850"/>
            </a:xfrm>
            <a:prstGeom prst="rect">
              <a:avLst/>
            </a:prstGeom>
          </p:spPr>
          <p:txBody>
            <a:bodyPr anchor="t" rtlCol="false" tIns="0" lIns="0" bIns="0" rIns="0">
              <a:spAutoFit/>
            </a:bodyPr>
            <a:lstStyle/>
            <a:p>
              <a:pPr algn="l">
                <a:lnSpc>
                  <a:spcPts val="3187"/>
                </a:lnSpc>
              </a:pPr>
              <a:r>
                <a:rPr lang="en-US" sz="2124">
                  <a:solidFill>
                    <a:srgbClr val="E4F1EF"/>
                  </a:solidFill>
                  <a:latin typeface="Poppins"/>
                  <a:ea typeface="Poppins"/>
                  <a:cs typeface="Poppins"/>
                  <a:sym typeface="Poppins"/>
                </a:rPr>
                <a:t>branch_name  = "Lagos"</a:t>
              </a:r>
            </a:p>
            <a:p>
              <a:pPr algn="l">
                <a:lnSpc>
                  <a:spcPts val="3187"/>
                </a:lnSpc>
              </a:pPr>
              <a:r>
                <a:rPr lang="en-US" sz="2124">
                  <a:solidFill>
                    <a:srgbClr val="E4F1EF"/>
                  </a:solidFill>
                  <a:latin typeface="Poppins"/>
                  <a:ea typeface="Poppins"/>
                  <a:cs typeface="Poppins"/>
                  <a:sym typeface="Poppins"/>
                </a:rPr>
                <a:t>total_sales  = 245000</a:t>
              </a:r>
            </a:p>
            <a:p>
              <a:pPr algn="l">
                <a:lnSpc>
                  <a:spcPts val="3187"/>
                </a:lnSpc>
              </a:pPr>
              <a:r>
                <a:rPr lang="en-US" sz="2124">
                  <a:solidFill>
                    <a:srgbClr val="E4F1EF"/>
                  </a:solidFill>
                  <a:latin typeface="Poppins"/>
                  <a:ea typeface="Poppins"/>
                  <a:cs typeface="Poppins"/>
                  <a:sym typeface="Poppins"/>
                </a:rPr>
                <a:t>average_sale = 15312.50</a:t>
              </a:r>
            </a:p>
            <a:p>
              <a:pPr algn="l">
                <a:lnSpc>
                  <a:spcPts val="3187"/>
                </a:lnSpc>
              </a:pPr>
              <a:r>
                <a:rPr lang="en-US" sz="2124">
                  <a:solidFill>
                    <a:srgbClr val="E4F1EF"/>
                  </a:solidFill>
                  <a:latin typeface="Poppins"/>
                  <a:ea typeface="Poppins"/>
                  <a:cs typeface="Poppins"/>
                  <a:sym typeface="Poppins"/>
                </a:rPr>
                <a:t>target_met   = True</a:t>
              </a:r>
            </a:p>
          </p:txBody>
        </p:sp>
        <p:grpSp>
          <p:nvGrpSpPr>
            <p:cNvPr name="Group 17" id="17"/>
            <p:cNvGrpSpPr/>
            <p:nvPr/>
          </p:nvGrpSpPr>
          <p:grpSpPr>
            <a:xfrm rot="0">
              <a:off x="11430000" y="2664460"/>
              <a:ext cx="146304" cy="146304"/>
              <a:chOff x="0" y="0"/>
              <a:chExt cx="146304" cy="146304"/>
            </a:xfrm>
          </p:grpSpPr>
          <p:sp>
            <p:nvSpPr>
              <p:cNvPr name="Freeform 18" id="18"/>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19" id="19"/>
            <p:cNvSpPr txBox="true"/>
            <p:nvPr/>
          </p:nvSpPr>
          <p:spPr>
            <a:xfrm rot="0">
              <a:off x="12038990" y="2465578"/>
              <a:ext cx="10332720" cy="486918"/>
            </a:xfrm>
            <a:prstGeom prst="rect">
              <a:avLst/>
            </a:prstGeom>
          </p:spPr>
          <p:txBody>
            <a:bodyPr anchor="t" rtlCol="false" tIns="0" lIns="0" bIns="0" rIns="0">
              <a:spAutoFit/>
            </a:bodyPr>
            <a:lstStyle/>
            <a:p>
              <a:pPr algn="l">
                <a:lnSpc>
                  <a:spcPts val="2967"/>
                </a:lnSpc>
              </a:pPr>
              <a:r>
                <a:rPr lang="en-US" sz="2150">
                  <a:solidFill>
                    <a:srgbClr val="0A1A23"/>
                  </a:solidFill>
                  <a:latin typeface="Poppins"/>
                  <a:ea typeface="Poppins"/>
                  <a:cs typeface="Poppins"/>
                  <a:sym typeface="Poppins"/>
                </a:rPr>
                <a:t>str — text labels, e.g. "Lagos"</a:t>
              </a:r>
            </a:p>
          </p:txBody>
        </p:sp>
        <p:grpSp>
          <p:nvGrpSpPr>
            <p:cNvPr name="Group 20" id="20"/>
            <p:cNvGrpSpPr/>
            <p:nvPr/>
          </p:nvGrpSpPr>
          <p:grpSpPr>
            <a:xfrm rot="0">
              <a:off x="11430000" y="3578860"/>
              <a:ext cx="146304" cy="146304"/>
              <a:chOff x="0" y="0"/>
              <a:chExt cx="146304" cy="146304"/>
            </a:xfrm>
          </p:grpSpPr>
          <p:sp>
            <p:nvSpPr>
              <p:cNvPr name="Freeform 21" id="21"/>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22" id="22"/>
            <p:cNvSpPr txBox="true"/>
            <p:nvPr/>
          </p:nvSpPr>
          <p:spPr>
            <a:xfrm rot="0">
              <a:off x="12051690" y="3379978"/>
              <a:ext cx="10332720" cy="486918"/>
            </a:xfrm>
            <a:prstGeom prst="rect">
              <a:avLst/>
            </a:prstGeom>
          </p:spPr>
          <p:txBody>
            <a:bodyPr anchor="t" rtlCol="false" tIns="0" lIns="0" bIns="0" rIns="0">
              <a:spAutoFit/>
            </a:bodyPr>
            <a:lstStyle/>
            <a:p>
              <a:pPr algn="l">
                <a:lnSpc>
                  <a:spcPts val="2967"/>
                </a:lnSpc>
              </a:pPr>
              <a:r>
                <a:rPr lang="en-US" sz="2150">
                  <a:solidFill>
                    <a:srgbClr val="0A1A23"/>
                  </a:solidFill>
                  <a:latin typeface="Poppins"/>
                  <a:ea typeface="Poppins"/>
                  <a:cs typeface="Poppins"/>
                  <a:sym typeface="Poppins"/>
                </a:rPr>
                <a:t>int / float — numbers you calculate with</a:t>
              </a:r>
            </a:p>
          </p:txBody>
        </p:sp>
        <p:grpSp>
          <p:nvGrpSpPr>
            <p:cNvPr name="Group 23" id="23"/>
            <p:cNvGrpSpPr/>
            <p:nvPr/>
          </p:nvGrpSpPr>
          <p:grpSpPr>
            <a:xfrm rot="0">
              <a:off x="11430000" y="4493260"/>
              <a:ext cx="146304" cy="146304"/>
              <a:chOff x="0" y="0"/>
              <a:chExt cx="146304" cy="146304"/>
            </a:xfrm>
          </p:grpSpPr>
          <p:sp>
            <p:nvSpPr>
              <p:cNvPr name="Freeform 24" id="24"/>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25" id="25"/>
            <p:cNvSpPr txBox="true"/>
            <p:nvPr/>
          </p:nvSpPr>
          <p:spPr>
            <a:xfrm rot="0">
              <a:off x="12051690" y="4294378"/>
              <a:ext cx="10332720" cy="486918"/>
            </a:xfrm>
            <a:prstGeom prst="rect">
              <a:avLst/>
            </a:prstGeom>
          </p:spPr>
          <p:txBody>
            <a:bodyPr anchor="t" rtlCol="false" tIns="0" lIns="0" bIns="0" rIns="0">
              <a:spAutoFit/>
            </a:bodyPr>
            <a:lstStyle/>
            <a:p>
              <a:pPr algn="l">
                <a:lnSpc>
                  <a:spcPts val="2967"/>
                </a:lnSpc>
              </a:pPr>
              <a:r>
                <a:rPr lang="en-US" sz="2150">
                  <a:solidFill>
                    <a:srgbClr val="0A1A23"/>
                  </a:solidFill>
                  <a:latin typeface="Poppins"/>
                  <a:ea typeface="Poppins"/>
                  <a:cs typeface="Poppins"/>
                  <a:sym typeface="Poppins"/>
                </a:rPr>
                <a:t>bool — a True or False check</a:t>
              </a:r>
            </a:p>
          </p:txBody>
        </p:sp>
        <p:grpSp>
          <p:nvGrpSpPr>
            <p:cNvPr name="Group 26" id="26"/>
            <p:cNvGrpSpPr/>
            <p:nvPr/>
          </p:nvGrpSpPr>
          <p:grpSpPr>
            <a:xfrm rot="0">
              <a:off x="0" y="6212840"/>
              <a:ext cx="21086064" cy="1200023"/>
              <a:chOff x="0" y="0"/>
              <a:chExt cx="21086064" cy="1200023"/>
            </a:xfrm>
          </p:grpSpPr>
          <p:sp>
            <p:nvSpPr>
              <p:cNvPr name="Freeform 27" id="27"/>
              <p:cNvSpPr/>
              <p:nvPr/>
            </p:nvSpPr>
            <p:spPr>
              <a:xfrm flipH="false" flipV="false" rot="0">
                <a:off x="0" y="0"/>
                <a:ext cx="21086065" cy="1200023"/>
              </a:xfrm>
              <a:custGeom>
                <a:avLst/>
                <a:gdLst/>
                <a:ahLst/>
                <a:cxnLst/>
                <a:rect r="r" b="b" t="t" l="l"/>
                <a:pathLst>
                  <a:path h="1200023" w="21086065">
                    <a:moveTo>
                      <a:pt x="0" y="0"/>
                    </a:moveTo>
                    <a:lnTo>
                      <a:pt x="21086065" y="0"/>
                    </a:lnTo>
                    <a:lnTo>
                      <a:pt x="21086065" y="1200023"/>
                    </a:lnTo>
                    <a:lnTo>
                      <a:pt x="0" y="1200023"/>
                    </a:lnTo>
                    <a:close/>
                  </a:path>
                </a:pathLst>
              </a:custGeom>
              <a:blipFill>
                <a:blip r:embed="rId3">
                  <a:alphaModFix amt="0"/>
                </a:blip>
                <a:stretch>
                  <a:fillRect l="0" t="-292850" r="0" b="-291908"/>
                </a:stretch>
              </a:blipFill>
            </p:spPr>
          </p:sp>
          <p:sp>
            <p:nvSpPr>
              <p:cNvPr name="TextBox 28" id="28"/>
              <p:cNvSpPr txBox="true"/>
              <p:nvPr/>
            </p:nvSpPr>
            <p:spPr>
              <a:xfrm>
                <a:off x="0" y="-57150"/>
                <a:ext cx="21086064" cy="1257173"/>
              </a:xfrm>
              <a:prstGeom prst="rect">
                <a:avLst/>
              </a:prstGeom>
            </p:spPr>
            <p:txBody>
              <a:bodyPr anchor="ctr" rtlCol="false" tIns="0" lIns="0" bIns="0" rIns="0"/>
              <a:lstStyle/>
              <a:p>
                <a:pPr algn="l">
                  <a:lnSpc>
                    <a:spcPts val="2932"/>
                  </a:lnSpc>
                </a:pPr>
                <a:r>
                  <a:rPr lang="en-US" sz="2124" i="true">
                    <a:solidFill>
                      <a:srgbClr val="0A1A23"/>
                    </a:solidFill>
                    <a:latin typeface="Poppins Italics"/>
                    <a:ea typeface="Poppins Italics"/>
                    <a:cs typeface="Poppins Italics"/>
                    <a:sym typeface="Poppins Italics"/>
                  </a:rPr>
                  <a:t>Excel parallel: a Python variable is a named cell. total_sales = 245000 stores a value the way typing 245000 into a cell does, except the name can be reused anywhere in your code.</a:t>
                </a:r>
              </a:p>
            </p:txBody>
          </p:sp>
        </p:grpSp>
        <p:grpSp>
          <p:nvGrpSpPr>
            <p:cNvPr name="Group 29" id="29"/>
            <p:cNvGrpSpPr/>
            <p:nvPr/>
          </p:nvGrpSpPr>
          <p:grpSpPr>
            <a:xfrm rot="0">
              <a:off x="0" y="7895463"/>
              <a:ext cx="21086064" cy="1200023"/>
              <a:chOff x="0" y="0"/>
              <a:chExt cx="21086064" cy="1200023"/>
            </a:xfrm>
          </p:grpSpPr>
          <p:sp>
            <p:nvSpPr>
              <p:cNvPr name="Freeform 30" id="30"/>
              <p:cNvSpPr/>
              <p:nvPr/>
            </p:nvSpPr>
            <p:spPr>
              <a:xfrm flipH="false" flipV="false" rot="0">
                <a:off x="0" y="0"/>
                <a:ext cx="21086065" cy="1200023"/>
              </a:xfrm>
              <a:custGeom>
                <a:avLst/>
                <a:gdLst/>
                <a:ahLst/>
                <a:cxnLst/>
                <a:rect r="r" b="b" t="t" l="l"/>
                <a:pathLst>
                  <a:path h="1200023" w="21086065">
                    <a:moveTo>
                      <a:pt x="0" y="0"/>
                    </a:moveTo>
                    <a:lnTo>
                      <a:pt x="21086065" y="0"/>
                    </a:lnTo>
                    <a:lnTo>
                      <a:pt x="21086065" y="1200023"/>
                    </a:lnTo>
                    <a:lnTo>
                      <a:pt x="0" y="1200023"/>
                    </a:lnTo>
                    <a:close/>
                  </a:path>
                </a:pathLst>
              </a:custGeom>
              <a:blipFill>
                <a:blip r:embed="rId3">
                  <a:alphaModFix amt="0"/>
                </a:blip>
                <a:stretch>
                  <a:fillRect l="0" t="-300469" r="0" b="-284288"/>
                </a:stretch>
              </a:blipFill>
            </p:spPr>
          </p:sp>
          <p:sp>
            <p:nvSpPr>
              <p:cNvPr name="TextBox 31" id="31"/>
              <p:cNvSpPr txBox="true"/>
              <p:nvPr/>
            </p:nvSpPr>
            <p:spPr>
              <a:xfrm>
                <a:off x="0" y="-57150"/>
                <a:ext cx="21086064" cy="1257173"/>
              </a:xfrm>
              <a:prstGeom prst="rect">
                <a:avLst/>
              </a:prstGeom>
            </p:spPr>
            <p:txBody>
              <a:bodyPr anchor="ctr" rtlCol="false" tIns="0" lIns="0" bIns="0" rIns="0"/>
              <a:lstStyle/>
              <a:p>
                <a:pPr algn="l">
                  <a:lnSpc>
                    <a:spcPts val="2932"/>
                  </a:lnSpc>
                </a:pPr>
                <a:r>
                  <a:rPr lang="en-US" sz="2124" b="true">
                    <a:solidFill>
                      <a:srgbClr val="387F7F"/>
                    </a:solidFill>
                    <a:latin typeface="Poppins Bold"/>
                    <a:ea typeface="Poppins Bold"/>
                    <a:cs typeface="Poppins Bold"/>
                    <a:sym typeface="Poppins Bold"/>
                  </a:rPr>
                  <a:t>Why an analyst uses it:  </a:t>
                </a:r>
                <a:r>
                  <a:rPr lang="en-US" sz="2124">
                    <a:solidFill>
                      <a:srgbClr val="0A1A23"/>
                    </a:solidFill>
                    <a:latin typeface="Poppins"/>
                    <a:ea typeface="Poppins"/>
                    <a:cs typeface="Poppins"/>
                    <a:sym typeface="Poppins"/>
                  </a:rPr>
                  <a:t>store a calculated result once, then reuse it in every later step without retyping or recalculating it.</a:t>
                </a:r>
              </a:p>
            </p:txBody>
          </p:sp>
        </p:grpSp>
        <p:grpSp>
          <p:nvGrpSpPr>
            <p:cNvPr name="Group 32" id="32"/>
            <p:cNvGrpSpPr/>
            <p:nvPr/>
          </p:nvGrpSpPr>
          <p:grpSpPr>
            <a:xfrm rot="0">
              <a:off x="0" y="9641586"/>
              <a:ext cx="21086064" cy="1188720"/>
              <a:chOff x="0" y="0"/>
              <a:chExt cx="21086064" cy="1188720"/>
            </a:xfrm>
          </p:grpSpPr>
          <p:sp>
            <p:nvSpPr>
              <p:cNvPr name="Freeform 33" id="33"/>
              <p:cNvSpPr/>
              <p:nvPr/>
            </p:nvSpPr>
            <p:spPr>
              <a:xfrm flipH="false" flipV="false" rot="0">
                <a:off x="0" y="0"/>
                <a:ext cx="21086065" cy="1188720"/>
              </a:xfrm>
              <a:custGeom>
                <a:avLst/>
                <a:gdLst/>
                <a:ahLst/>
                <a:cxnLst/>
                <a:rect r="r" b="b" t="t" l="l"/>
                <a:pathLst>
                  <a:path h="1188720" w="21086065">
                    <a:moveTo>
                      <a:pt x="0" y="0"/>
                    </a:moveTo>
                    <a:lnTo>
                      <a:pt x="21086065" y="0"/>
                    </a:lnTo>
                    <a:lnTo>
                      <a:pt x="21086065" y="1188720"/>
                    </a:lnTo>
                    <a:lnTo>
                      <a:pt x="0" y="1188720"/>
                    </a:lnTo>
                    <a:close/>
                  </a:path>
                </a:pathLst>
              </a:custGeom>
              <a:blipFill>
                <a:blip r:embed="rId3">
                  <a:alphaModFix amt="0"/>
                </a:blip>
                <a:stretch>
                  <a:fillRect l="0" t="-295634" r="0" b="-295634"/>
                </a:stretch>
              </a:blipFill>
            </p:spPr>
          </p:sp>
          <p:sp>
            <p:nvSpPr>
              <p:cNvPr name="TextBox 34" id="34"/>
              <p:cNvSpPr txBox="true"/>
              <p:nvPr/>
            </p:nvSpPr>
            <p:spPr>
              <a:xfrm>
                <a:off x="0" y="-57150"/>
                <a:ext cx="21086064" cy="1245870"/>
              </a:xfrm>
              <a:prstGeom prst="rect">
                <a:avLst/>
              </a:prstGeom>
            </p:spPr>
            <p:txBody>
              <a:bodyPr anchor="ctr" rtlCol="false" tIns="0" lIns="0" bIns="0" rIns="0"/>
              <a:lstStyle/>
              <a:p>
                <a:pPr algn="l">
                  <a:lnSpc>
                    <a:spcPts val="2932"/>
                  </a:lnSpc>
                </a:pPr>
                <a:r>
                  <a:rPr lang="en-US" b="true" sz="2124" i="true">
                    <a:solidFill>
                      <a:srgbClr val="387F7F"/>
                    </a:solidFill>
                    <a:latin typeface="Poppins Bold Italics"/>
                    <a:ea typeface="Poppins Bold Italics"/>
                    <a:cs typeface="Poppins Bold Italics"/>
                    <a:sym typeface="Poppins Bold Italics"/>
                  </a:rPr>
                  <a:t>Retrieval check:  </a:t>
                </a:r>
                <a:r>
                  <a:rPr lang="en-US" sz="2124" i="true">
                    <a:solidFill>
                      <a:srgbClr val="0A1A23"/>
                    </a:solidFill>
                    <a:latin typeface="Poppins Italics"/>
                    <a:ea typeface="Poppins Italics"/>
                    <a:cs typeface="Poppins Italics"/>
                    <a:sym typeface="Poppins Italics"/>
                  </a:rPr>
                  <a:t>from Python Zero, what data type would target_met become if you wrote "True" in quotes instead?</a:t>
                </a:r>
              </a:p>
            </p:txBody>
          </p:sp>
        </p:grpSp>
        <p:grpSp>
          <p:nvGrpSpPr>
            <p:cNvPr name="Group 35" id="35"/>
            <p:cNvGrpSpPr/>
            <p:nvPr/>
          </p:nvGrpSpPr>
          <p:grpSpPr>
            <a:xfrm rot="0">
              <a:off x="20997304" y="11554840"/>
              <a:ext cx="862965" cy="762000"/>
              <a:chOff x="0" y="0"/>
              <a:chExt cx="862965" cy="762000"/>
            </a:xfrm>
          </p:grpSpPr>
          <p:sp>
            <p:nvSpPr>
              <p:cNvPr name="Freeform 36" id="36"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4"/>
                <a:stretch>
                  <a:fillRect l="-772" t="0" r="-772" b="0"/>
                </a:stretch>
              </a:blipFill>
            </p:spPr>
          </p:sp>
        </p:grpSp>
      </p:grpSp>
      <p:sp>
        <p:nvSpPr>
          <p:cNvPr name="Freeform 37" id="37"/>
          <p:cNvSpPr/>
          <p:nvPr/>
        </p:nvSpPr>
        <p:spPr>
          <a:xfrm flipH="false" flipV="false" rot="0">
            <a:off x="16575042" y="3012147"/>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38" id="38"/>
          <p:cNvGrpSpPr/>
          <p:nvPr/>
        </p:nvGrpSpPr>
        <p:grpSpPr>
          <a:xfrm rot="0">
            <a:off x="857250" y="857250"/>
            <a:ext cx="114300" cy="1028700"/>
            <a:chOff x="0" y="0"/>
            <a:chExt cx="152400" cy="1371600"/>
          </a:xfrm>
        </p:grpSpPr>
        <p:sp>
          <p:nvSpPr>
            <p:cNvPr name="Freeform 39" id="39"/>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811054" y="939165"/>
            <a:ext cx="16635698" cy="8736091"/>
            <a:chOff x="0" y="0"/>
            <a:chExt cx="22180931" cy="11648122"/>
          </a:xfrm>
        </p:grpSpPr>
        <p:grpSp>
          <p:nvGrpSpPr>
            <p:cNvPr name="Group 5" id="5"/>
            <p:cNvGrpSpPr/>
            <p:nvPr/>
          </p:nvGrpSpPr>
          <p:grpSpPr>
            <a:xfrm rot="0">
              <a:off x="564515" y="0"/>
              <a:ext cx="15544800" cy="1188720"/>
              <a:chOff x="0" y="0"/>
              <a:chExt cx="15544800" cy="1188720"/>
            </a:xfrm>
          </p:grpSpPr>
          <p:sp>
            <p:nvSpPr>
              <p:cNvPr name="Freeform 6" id="6"/>
              <p:cNvSpPr/>
              <p:nvPr/>
            </p:nvSpPr>
            <p:spPr>
              <a:xfrm flipH="false" flipV="false" rot="0">
                <a:off x="0" y="0"/>
                <a:ext cx="15544800" cy="1188720"/>
              </a:xfrm>
              <a:custGeom>
                <a:avLst/>
                <a:gdLst/>
                <a:ahLst/>
                <a:cxnLst/>
                <a:rect r="r" b="b" t="t" l="l"/>
                <a:pathLst>
                  <a:path h="1188720" w="15544800">
                    <a:moveTo>
                      <a:pt x="0" y="0"/>
                    </a:moveTo>
                    <a:lnTo>
                      <a:pt x="15544800" y="0"/>
                    </a:lnTo>
                    <a:lnTo>
                      <a:pt x="15544800" y="1188720"/>
                    </a:lnTo>
                    <a:lnTo>
                      <a:pt x="0" y="1188720"/>
                    </a:lnTo>
                    <a:close/>
                  </a:path>
                </a:pathLst>
              </a:custGeom>
              <a:blipFill>
                <a:blip r:embed="rId3">
                  <a:alphaModFix amt="0"/>
                </a:blip>
                <a:stretch>
                  <a:fillRect l="0" t="-204804" r="0" b="-204804"/>
                </a:stretch>
              </a:blipFill>
            </p:spPr>
          </p:sp>
          <p:sp>
            <p:nvSpPr>
              <p:cNvPr name="TextBox 7" id="7"/>
              <p:cNvSpPr txBox="true"/>
              <p:nvPr/>
            </p:nvSpPr>
            <p:spPr>
              <a:xfrm>
                <a:off x="0" y="-38100"/>
                <a:ext cx="15544800" cy="1226820"/>
              </a:xfrm>
              <a:prstGeom prst="rect">
                <a:avLst/>
              </a:prstGeom>
            </p:spPr>
            <p:txBody>
              <a:bodyPr anchor="ctr" rtlCol="false" tIns="0" lIns="0" bIns="0" rIns="0"/>
              <a:lstStyle/>
              <a:p>
                <a:pPr algn="l">
                  <a:lnSpc>
                    <a:spcPts val="4320"/>
                  </a:lnSpc>
                </a:pPr>
                <a:r>
                  <a:rPr lang="en-US" sz="3600">
                    <a:solidFill>
                      <a:srgbClr val="388080"/>
                    </a:solidFill>
                    <a:latin typeface="Poppins"/>
                    <a:ea typeface="Poppins"/>
                    <a:cs typeface="Poppins"/>
                    <a:sym typeface="Poppins"/>
                  </a:rPr>
                  <a:t>Lists and Dictionaries in Data-Analysis Contexts</a:t>
                </a:r>
              </a:p>
            </p:txBody>
          </p:sp>
        </p:grpSp>
        <p:grpSp>
          <p:nvGrpSpPr>
            <p:cNvPr name="Group 8" id="8"/>
            <p:cNvGrpSpPr/>
            <p:nvPr/>
          </p:nvGrpSpPr>
          <p:grpSpPr>
            <a:xfrm rot="0">
              <a:off x="15875" y="1582420"/>
              <a:ext cx="10424160" cy="645312"/>
              <a:chOff x="0" y="0"/>
              <a:chExt cx="10424160" cy="645312"/>
            </a:xfrm>
          </p:grpSpPr>
          <p:sp>
            <p:nvSpPr>
              <p:cNvPr name="Freeform 9" id="9"/>
              <p:cNvSpPr/>
              <p:nvPr/>
            </p:nvSpPr>
            <p:spPr>
              <a:xfrm flipH="false" flipV="false" rot="0">
                <a:off x="0" y="0"/>
                <a:ext cx="10424160" cy="645312"/>
              </a:xfrm>
              <a:custGeom>
                <a:avLst/>
                <a:gdLst/>
                <a:ahLst/>
                <a:cxnLst/>
                <a:rect r="r" b="b" t="t" l="l"/>
                <a:pathLst>
                  <a:path h="645312" w="10424160">
                    <a:moveTo>
                      <a:pt x="0" y="0"/>
                    </a:moveTo>
                    <a:lnTo>
                      <a:pt x="10424160" y="0"/>
                    </a:lnTo>
                    <a:lnTo>
                      <a:pt x="10424160" y="645312"/>
                    </a:lnTo>
                    <a:lnTo>
                      <a:pt x="0" y="645312"/>
                    </a:lnTo>
                    <a:close/>
                  </a:path>
                </a:pathLst>
              </a:custGeom>
              <a:blipFill>
                <a:blip r:embed="rId3">
                  <a:alphaModFix amt="0"/>
                </a:blip>
                <a:stretch>
                  <a:fillRect l="0" t="-269411" r="0" b="-260098"/>
                </a:stretch>
              </a:blipFill>
            </p:spPr>
          </p:sp>
          <p:sp>
            <p:nvSpPr>
              <p:cNvPr name="TextBox 10" id="10"/>
              <p:cNvSpPr txBox="true"/>
              <p:nvPr/>
            </p:nvSpPr>
            <p:spPr>
              <a:xfrm>
                <a:off x="0" y="-19050"/>
                <a:ext cx="10424160" cy="664362"/>
              </a:xfrm>
              <a:prstGeom prst="rect">
                <a:avLst/>
              </a:prstGeom>
            </p:spPr>
            <p:txBody>
              <a:bodyPr anchor="ctr" rtlCol="false" tIns="0" lIns="0" bIns="0" rIns="0"/>
              <a:lstStyle/>
              <a:p>
                <a:pPr algn="l">
                  <a:lnSpc>
                    <a:spcPts val="2340"/>
                  </a:lnSpc>
                </a:pPr>
                <a:r>
                  <a:rPr lang="en-US" sz="1950" b="true">
                    <a:solidFill>
                      <a:srgbClr val="387F7F"/>
                    </a:solidFill>
                    <a:latin typeface="Poppins Bold"/>
                    <a:ea typeface="Poppins Bold"/>
                    <a:cs typeface="Poppins Bold"/>
                    <a:sym typeface="Poppins Bold"/>
                  </a:rPr>
                  <a:t>LIST — a collection of values</a:t>
                </a:r>
              </a:p>
            </p:txBody>
          </p:sp>
        </p:grpSp>
        <p:grpSp>
          <p:nvGrpSpPr>
            <p:cNvPr name="Group 11" id="11"/>
            <p:cNvGrpSpPr/>
            <p:nvPr/>
          </p:nvGrpSpPr>
          <p:grpSpPr>
            <a:xfrm rot="0">
              <a:off x="15875" y="2259076"/>
              <a:ext cx="10424160" cy="3200400"/>
              <a:chOff x="0" y="0"/>
              <a:chExt cx="10424160" cy="3200400"/>
            </a:xfrm>
          </p:grpSpPr>
          <p:sp>
            <p:nvSpPr>
              <p:cNvPr name="Freeform 12" id="12"/>
              <p:cNvSpPr/>
              <p:nvPr/>
            </p:nvSpPr>
            <p:spPr>
              <a:xfrm flipH="false" flipV="false" rot="0">
                <a:off x="0" y="0"/>
                <a:ext cx="10424161" cy="3200400"/>
              </a:xfrm>
              <a:custGeom>
                <a:avLst/>
                <a:gdLst/>
                <a:ahLst/>
                <a:cxnLst/>
                <a:rect r="r" b="b" t="t" l="l"/>
                <a:pathLst>
                  <a:path h="3200400" w="10424161">
                    <a:moveTo>
                      <a:pt x="0" y="146304"/>
                    </a:moveTo>
                    <a:cubicBezTo>
                      <a:pt x="0" y="65532"/>
                      <a:pt x="65532" y="0"/>
                      <a:pt x="146304" y="0"/>
                    </a:cubicBezTo>
                    <a:lnTo>
                      <a:pt x="10277856" y="0"/>
                    </a:lnTo>
                    <a:cubicBezTo>
                      <a:pt x="10358628" y="0"/>
                      <a:pt x="10424161" y="65532"/>
                      <a:pt x="10424161" y="146304"/>
                    </a:cubicBezTo>
                    <a:lnTo>
                      <a:pt x="10424161" y="3054096"/>
                    </a:lnTo>
                    <a:cubicBezTo>
                      <a:pt x="10424161" y="3134868"/>
                      <a:pt x="10358628" y="3200400"/>
                      <a:pt x="10277856" y="3200400"/>
                    </a:cubicBezTo>
                    <a:lnTo>
                      <a:pt x="146304" y="3200400"/>
                    </a:lnTo>
                    <a:cubicBezTo>
                      <a:pt x="65532" y="3200400"/>
                      <a:pt x="0" y="3134868"/>
                      <a:pt x="0" y="3054096"/>
                    </a:cubicBezTo>
                    <a:close/>
                  </a:path>
                </a:pathLst>
              </a:custGeom>
              <a:solidFill>
                <a:srgbClr val="0A1A23"/>
              </a:solidFill>
            </p:spPr>
          </p:sp>
        </p:grpSp>
        <p:grpSp>
          <p:nvGrpSpPr>
            <p:cNvPr name="Group 13" id="13"/>
            <p:cNvGrpSpPr/>
            <p:nvPr/>
          </p:nvGrpSpPr>
          <p:grpSpPr>
            <a:xfrm rot="0">
              <a:off x="418211" y="2624836"/>
              <a:ext cx="237744" cy="237744"/>
              <a:chOff x="0" y="0"/>
              <a:chExt cx="237744" cy="237744"/>
            </a:xfrm>
          </p:grpSpPr>
          <p:sp>
            <p:nvSpPr>
              <p:cNvPr name="Freeform 14" id="14"/>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74C3C"/>
              </a:solidFill>
            </p:spPr>
          </p:sp>
        </p:grpSp>
        <p:grpSp>
          <p:nvGrpSpPr>
            <p:cNvPr name="Group 15" id="15"/>
            <p:cNvGrpSpPr/>
            <p:nvPr/>
          </p:nvGrpSpPr>
          <p:grpSpPr>
            <a:xfrm rot="0">
              <a:off x="857123" y="2624836"/>
              <a:ext cx="237744" cy="237744"/>
              <a:chOff x="0" y="0"/>
              <a:chExt cx="237744" cy="237744"/>
            </a:xfrm>
          </p:grpSpPr>
          <p:sp>
            <p:nvSpPr>
              <p:cNvPr name="Freeform 16" id="16"/>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8B93F"/>
              </a:solidFill>
            </p:spPr>
          </p:sp>
        </p:grpSp>
        <p:grpSp>
          <p:nvGrpSpPr>
            <p:cNvPr name="Group 17" id="17"/>
            <p:cNvGrpSpPr/>
            <p:nvPr/>
          </p:nvGrpSpPr>
          <p:grpSpPr>
            <a:xfrm rot="0">
              <a:off x="1296035" y="2624836"/>
              <a:ext cx="237744" cy="237744"/>
              <a:chOff x="0" y="0"/>
              <a:chExt cx="237744" cy="237744"/>
            </a:xfrm>
          </p:grpSpPr>
          <p:sp>
            <p:nvSpPr>
              <p:cNvPr name="Freeform 18" id="18"/>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3FA76B"/>
              </a:solidFill>
            </p:spPr>
          </p:sp>
        </p:grpSp>
        <p:sp>
          <p:nvSpPr>
            <p:cNvPr name="TextBox 19" id="19"/>
            <p:cNvSpPr txBox="true"/>
            <p:nvPr/>
          </p:nvSpPr>
          <p:spPr>
            <a:xfrm rot="0">
              <a:off x="527939" y="3097276"/>
              <a:ext cx="9400032" cy="2005330"/>
            </a:xfrm>
            <a:prstGeom prst="rect">
              <a:avLst/>
            </a:prstGeom>
          </p:spPr>
          <p:txBody>
            <a:bodyPr anchor="t" rtlCol="false" tIns="0" lIns="0" bIns="0" rIns="0">
              <a:spAutoFit/>
            </a:bodyPr>
            <a:lstStyle/>
            <a:p>
              <a:pPr algn="l">
                <a:lnSpc>
                  <a:spcPts val="3037"/>
                </a:lnSpc>
              </a:pPr>
              <a:r>
                <a:rPr lang="en-US" sz="2025">
                  <a:solidFill>
                    <a:srgbClr val="E4F1EF"/>
                  </a:solidFill>
                  <a:latin typeface="Poppins"/>
                  <a:ea typeface="Poppins"/>
                  <a:cs typeface="Poppins"/>
                  <a:sym typeface="Poppins"/>
                </a:rPr>
                <a:t>daily_sales = [</a:t>
              </a:r>
            </a:p>
            <a:p>
              <a:pPr algn="l">
                <a:lnSpc>
                  <a:spcPts val="3037"/>
                </a:lnSpc>
              </a:pPr>
              <a:r>
                <a:rPr lang="en-US" sz="2025">
                  <a:solidFill>
                    <a:srgbClr val="E4F1EF"/>
                  </a:solidFill>
                  <a:latin typeface="Poppins"/>
                  <a:ea typeface="Poppins"/>
                  <a:cs typeface="Poppins"/>
                  <a:sym typeface="Poppins"/>
                </a:rPr>
                <a:t>    15000, 9500,</a:t>
              </a:r>
            </a:p>
            <a:p>
              <a:pPr algn="l">
                <a:lnSpc>
                  <a:spcPts val="3037"/>
                </a:lnSpc>
              </a:pPr>
              <a:r>
                <a:rPr lang="en-US" sz="2025">
                  <a:solidFill>
                    <a:srgbClr val="E4F1EF"/>
                  </a:solidFill>
                  <a:latin typeface="Poppins"/>
                  <a:ea typeface="Poppins"/>
                  <a:cs typeface="Poppins"/>
                  <a:sym typeface="Poppins"/>
                </a:rPr>
                <a:t>    21000, 18000</a:t>
              </a:r>
            </a:p>
            <a:p>
              <a:pPr algn="l">
                <a:lnSpc>
                  <a:spcPts val="3037"/>
                </a:lnSpc>
              </a:pPr>
              <a:r>
                <a:rPr lang="en-US" sz="2025">
                  <a:solidFill>
                    <a:srgbClr val="E4F1EF"/>
                  </a:solidFill>
                  <a:latin typeface="Poppins"/>
                  <a:ea typeface="Poppins"/>
                  <a:cs typeface="Poppins"/>
                  <a:sym typeface="Poppins"/>
                </a:rPr>
                <a:t>]</a:t>
              </a:r>
            </a:p>
          </p:txBody>
        </p:sp>
        <p:grpSp>
          <p:nvGrpSpPr>
            <p:cNvPr name="Group 20" id="20"/>
            <p:cNvGrpSpPr/>
            <p:nvPr/>
          </p:nvGrpSpPr>
          <p:grpSpPr>
            <a:xfrm rot="0">
              <a:off x="15875" y="5697220"/>
              <a:ext cx="10424160" cy="587858"/>
              <a:chOff x="0" y="0"/>
              <a:chExt cx="10424160" cy="587858"/>
            </a:xfrm>
          </p:grpSpPr>
          <p:sp>
            <p:nvSpPr>
              <p:cNvPr name="Freeform 21" id="21"/>
              <p:cNvSpPr/>
              <p:nvPr/>
            </p:nvSpPr>
            <p:spPr>
              <a:xfrm flipH="false" flipV="false" rot="0">
                <a:off x="0" y="0"/>
                <a:ext cx="10424160" cy="587858"/>
              </a:xfrm>
              <a:custGeom>
                <a:avLst/>
                <a:gdLst/>
                <a:ahLst/>
                <a:cxnLst/>
                <a:rect r="r" b="b" t="t" l="l"/>
                <a:pathLst>
                  <a:path h="587858" w="10424160">
                    <a:moveTo>
                      <a:pt x="0" y="0"/>
                    </a:moveTo>
                    <a:lnTo>
                      <a:pt x="10424160" y="0"/>
                    </a:lnTo>
                    <a:lnTo>
                      <a:pt x="10424160" y="587858"/>
                    </a:lnTo>
                    <a:lnTo>
                      <a:pt x="0" y="587858"/>
                    </a:lnTo>
                    <a:close/>
                  </a:path>
                </a:pathLst>
              </a:custGeom>
              <a:blipFill>
                <a:blip r:embed="rId3">
                  <a:alphaModFix amt="0"/>
                </a:blip>
                <a:stretch>
                  <a:fillRect l="0" t="-298853" r="0" b="-292181"/>
                </a:stretch>
              </a:blipFill>
            </p:spPr>
          </p:sp>
          <p:sp>
            <p:nvSpPr>
              <p:cNvPr name="TextBox 22" id="22"/>
              <p:cNvSpPr txBox="true"/>
              <p:nvPr/>
            </p:nvSpPr>
            <p:spPr>
              <a:xfrm>
                <a:off x="0" y="-19050"/>
                <a:ext cx="10424160" cy="606908"/>
              </a:xfrm>
              <a:prstGeom prst="rect">
                <a:avLst/>
              </a:prstGeom>
            </p:spPr>
            <p:txBody>
              <a:bodyPr anchor="ctr" rtlCol="false" tIns="0" lIns="0" bIns="0" rIns="0"/>
              <a:lstStyle/>
              <a:p>
                <a:pPr algn="l">
                  <a:lnSpc>
                    <a:spcPts val="2160"/>
                  </a:lnSpc>
                </a:pPr>
                <a:r>
                  <a:rPr lang="en-US" sz="1800" i="true">
                    <a:solidFill>
                      <a:srgbClr val="5B6B6E"/>
                    </a:solidFill>
                    <a:latin typeface="Poppins Italics"/>
                    <a:ea typeface="Poppins Italics"/>
                    <a:cs typeface="Poppins Italics"/>
                    <a:sym typeface="Poppins Italics"/>
                  </a:rPr>
                  <a:t>One branch's sales across four days.</a:t>
                </a:r>
              </a:p>
            </p:txBody>
          </p:sp>
        </p:grpSp>
        <p:grpSp>
          <p:nvGrpSpPr>
            <p:cNvPr name="Group 23" id="23"/>
            <p:cNvGrpSpPr/>
            <p:nvPr/>
          </p:nvGrpSpPr>
          <p:grpSpPr>
            <a:xfrm rot="0">
              <a:off x="0" y="6376289"/>
              <a:ext cx="10455910" cy="1769110"/>
              <a:chOff x="0" y="0"/>
              <a:chExt cx="10455910" cy="1769110"/>
            </a:xfrm>
          </p:grpSpPr>
          <p:sp>
            <p:nvSpPr>
              <p:cNvPr name="Freeform 24" id="24"/>
              <p:cNvSpPr/>
              <p:nvPr/>
            </p:nvSpPr>
            <p:spPr>
              <a:xfrm flipH="false" flipV="false" rot="0">
                <a:off x="0" y="0"/>
                <a:ext cx="10455910" cy="1769110"/>
              </a:xfrm>
              <a:custGeom>
                <a:avLst/>
                <a:gdLst/>
                <a:ahLst/>
                <a:cxnLst/>
                <a:rect r="r" b="b" t="t" l="l"/>
                <a:pathLst>
                  <a:path h="1769110" w="10455910">
                    <a:moveTo>
                      <a:pt x="0" y="111760"/>
                    </a:moveTo>
                    <a:cubicBezTo>
                      <a:pt x="0" y="50038"/>
                      <a:pt x="50038" y="0"/>
                      <a:pt x="111760" y="0"/>
                    </a:cubicBezTo>
                    <a:lnTo>
                      <a:pt x="10344150" y="0"/>
                    </a:lnTo>
                    <a:cubicBezTo>
                      <a:pt x="10405872" y="0"/>
                      <a:pt x="10455910" y="50038"/>
                      <a:pt x="10455910" y="111760"/>
                    </a:cubicBezTo>
                    <a:lnTo>
                      <a:pt x="10455910" y="1657350"/>
                    </a:lnTo>
                    <a:cubicBezTo>
                      <a:pt x="10455910" y="1719072"/>
                      <a:pt x="10405872" y="1769110"/>
                      <a:pt x="10344150" y="1769110"/>
                    </a:cubicBezTo>
                    <a:lnTo>
                      <a:pt x="111760" y="1769110"/>
                    </a:lnTo>
                    <a:cubicBezTo>
                      <a:pt x="50038" y="1769110"/>
                      <a:pt x="0" y="1719072"/>
                      <a:pt x="0" y="1657350"/>
                    </a:cubicBezTo>
                    <a:close/>
                  </a:path>
                </a:pathLst>
              </a:custGeom>
              <a:solidFill>
                <a:srgbClr val="FFFFFF"/>
              </a:solidFill>
              <a:ln w="23812" cap="sq">
                <a:solidFill>
                  <a:srgbClr val="387F7F"/>
                </a:solidFill>
                <a:prstDash val="solid"/>
                <a:miter/>
              </a:ln>
            </p:spPr>
          </p:sp>
        </p:grpSp>
        <p:grpSp>
          <p:nvGrpSpPr>
            <p:cNvPr name="Group 25" id="25"/>
            <p:cNvGrpSpPr/>
            <p:nvPr/>
          </p:nvGrpSpPr>
          <p:grpSpPr>
            <a:xfrm rot="0">
              <a:off x="418211" y="6611620"/>
              <a:ext cx="9692640" cy="498348"/>
              <a:chOff x="0" y="0"/>
              <a:chExt cx="9692640" cy="498348"/>
            </a:xfrm>
          </p:grpSpPr>
          <p:sp>
            <p:nvSpPr>
              <p:cNvPr name="Freeform 26" id="26"/>
              <p:cNvSpPr/>
              <p:nvPr/>
            </p:nvSpPr>
            <p:spPr>
              <a:xfrm flipH="false" flipV="false" rot="0">
                <a:off x="0" y="0"/>
                <a:ext cx="9692640" cy="498348"/>
              </a:xfrm>
              <a:custGeom>
                <a:avLst/>
                <a:gdLst/>
                <a:ahLst/>
                <a:cxnLst/>
                <a:rect r="r" b="b" t="t" l="l"/>
                <a:pathLst>
                  <a:path h="498348" w="9692640">
                    <a:moveTo>
                      <a:pt x="0" y="0"/>
                    </a:moveTo>
                    <a:lnTo>
                      <a:pt x="9692640" y="0"/>
                    </a:lnTo>
                    <a:lnTo>
                      <a:pt x="9692640" y="498348"/>
                    </a:lnTo>
                    <a:lnTo>
                      <a:pt x="0" y="498348"/>
                    </a:lnTo>
                    <a:close/>
                  </a:path>
                </a:pathLst>
              </a:custGeom>
              <a:blipFill>
                <a:blip r:embed="rId3">
                  <a:alphaModFix amt="0"/>
                </a:blip>
                <a:stretch>
                  <a:fillRect l="0" t="-334938" r="0" b="-323011"/>
                </a:stretch>
              </a:blipFill>
            </p:spPr>
          </p:sp>
          <p:sp>
            <p:nvSpPr>
              <p:cNvPr name="TextBox 27" id="27"/>
              <p:cNvSpPr txBox="true"/>
              <p:nvPr/>
            </p:nvSpPr>
            <p:spPr>
              <a:xfrm>
                <a:off x="0" y="-19050"/>
                <a:ext cx="9692640" cy="517398"/>
              </a:xfrm>
              <a:prstGeom prst="rect">
                <a:avLst/>
              </a:prstGeom>
            </p:spPr>
            <p:txBody>
              <a:bodyPr anchor="ctr" rtlCol="false" tIns="0" lIns="0" bIns="0" rIns="0"/>
              <a:lstStyle/>
              <a:p>
                <a:pPr algn="l">
                  <a:lnSpc>
                    <a:spcPts val="1800"/>
                  </a:lnSpc>
                </a:pPr>
                <a:r>
                  <a:rPr lang="en-US" b="true" sz="1500" spc="150">
                    <a:solidFill>
                      <a:srgbClr val="387F7F"/>
                    </a:solidFill>
                    <a:latin typeface="Poppins Bold"/>
                    <a:ea typeface="Poppins Bold"/>
                    <a:cs typeface="Poppins Bold"/>
                    <a:sym typeface="Poppins Bold"/>
                  </a:rPr>
                  <a:t>OUTPUT</a:t>
                </a:r>
              </a:p>
            </p:txBody>
          </p:sp>
        </p:grpSp>
        <p:sp>
          <p:nvSpPr>
            <p:cNvPr name="TextBox 28" id="28"/>
            <p:cNvSpPr txBox="true"/>
            <p:nvPr/>
          </p:nvSpPr>
          <p:spPr>
            <a:xfrm rot="0">
              <a:off x="418211" y="6983857"/>
              <a:ext cx="9619488" cy="949579"/>
            </a:xfrm>
            <a:prstGeom prst="rect">
              <a:avLst/>
            </a:prstGeom>
          </p:spPr>
          <p:txBody>
            <a:bodyPr anchor="t" rtlCol="false" tIns="0" lIns="0" bIns="0" rIns="0">
              <a:spAutoFit/>
            </a:bodyPr>
            <a:lstStyle/>
            <a:p>
              <a:pPr algn="l">
                <a:lnSpc>
                  <a:spcPts val="2916"/>
                </a:lnSpc>
              </a:pPr>
              <a:r>
                <a:rPr lang="en-US" sz="2025">
                  <a:solidFill>
                    <a:srgbClr val="0A1A23"/>
                  </a:solidFill>
                  <a:latin typeface="Poppins"/>
                  <a:ea typeface="Poppins"/>
                  <a:cs typeface="Poppins"/>
                  <a:sym typeface="Poppins"/>
                </a:rPr>
                <a:t>print(transaction["branch"])</a:t>
              </a:r>
            </a:p>
            <a:p>
              <a:pPr algn="l">
                <a:lnSpc>
                  <a:spcPts val="2916"/>
                </a:lnSpc>
              </a:pPr>
              <a:r>
                <a:rPr lang="en-US" sz="2025">
                  <a:solidFill>
                    <a:srgbClr val="0A1A23"/>
                  </a:solidFill>
                  <a:latin typeface="Poppins"/>
                  <a:ea typeface="Poppins"/>
                  <a:cs typeface="Poppins"/>
                  <a:sym typeface="Poppins"/>
                </a:rPr>
                <a:t>Lagos</a:t>
              </a:r>
            </a:p>
          </p:txBody>
        </p:sp>
        <p:grpSp>
          <p:nvGrpSpPr>
            <p:cNvPr name="Group 29" id="29"/>
            <p:cNvGrpSpPr/>
            <p:nvPr/>
          </p:nvGrpSpPr>
          <p:grpSpPr>
            <a:xfrm rot="0">
              <a:off x="11482451" y="1582420"/>
              <a:ext cx="10698480" cy="645312"/>
              <a:chOff x="0" y="0"/>
              <a:chExt cx="10698480" cy="645312"/>
            </a:xfrm>
          </p:grpSpPr>
          <p:sp>
            <p:nvSpPr>
              <p:cNvPr name="Freeform 30" id="30"/>
              <p:cNvSpPr/>
              <p:nvPr/>
            </p:nvSpPr>
            <p:spPr>
              <a:xfrm flipH="false" flipV="false" rot="0">
                <a:off x="0" y="0"/>
                <a:ext cx="10698480" cy="645312"/>
              </a:xfrm>
              <a:custGeom>
                <a:avLst/>
                <a:gdLst/>
                <a:ahLst/>
                <a:cxnLst/>
                <a:rect r="r" b="b" t="t" l="l"/>
                <a:pathLst>
                  <a:path h="645312" w="10698480">
                    <a:moveTo>
                      <a:pt x="0" y="0"/>
                    </a:moveTo>
                    <a:lnTo>
                      <a:pt x="10698480" y="0"/>
                    </a:lnTo>
                    <a:lnTo>
                      <a:pt x="10698480" y="645312"/>
                    </a:lnTo>
                    <a:lnTo>
                      <a:pt x="0" y="645312"/>
                    </a:lnTo>
                    <a:close/>
                  </a:path>
                </a:pathLst>
              </a:custGeom>
              <a:blipFill>
                <a:blip r:embed="rId3">
                  <a:alphaModFix amt="0"/>
                </a:blip>
                <a:stretch>
                  <a:fillRect l="0" t="-277694" r="0" b="-268381"/>
                </a:stretch>
              </a:blipFill>
            </p:spPr>
          </p:sp>
          <p:sp>
            <p:nvSpPr>
              <p:cNvPr name="TextBox 31" id="31"/>
              <p:cNvSpPr txBox="true"/>
              <p:nvPr/>
            </p:nvSpPr>
            <p:spPr>
              <a:xfrm>
                <a:off x="0" y="-19050"/>
                <a:ext cx="10698480" cy="664362"/>
              </a:xfrm>
              <a:prstGeom prst="rect">
                <a:avLst/>
              </a:prstGeom>
            </p:spPr>
            <p:txBody>
              <a:bodyPr anchor="ctr" rtlCol="false" tIns="0" lIns="0" bIns="0" rIns="0"/>
              <a:lstStyle/>
              <a:p>
                <a:pPr algn="l">
                  <a:lnSpc>
                    <a:spcPts val="2340"/>
                  </a:lnSpc>
                </a:pPr>
                <a:r>
                  <a:rPr lang="en-US" sz="1950" b="true">
                    <a:solidFill>
                      <a:srgbClr val="387F7F"/>
                    </a:solidFill>
                    <a:latin typeface="Poppins Bold"/>
                    <a:ea typeface="Poppins Bold"/>
                    <a:cs typeface="Poppins Bold"/>
                    <a:sym typeface="Poppins Bold"/>
                  </a:rPr>
                  <a:t>DICTIONARY — one structured record</a:t>
                </a:r>
              </a:p>
            </p:txBody>
          </p:sp>
        </p:grpSp>
        <p:grpSp>
          <p:nvGrpSpPr>
            <p:cNvPr name="Group 32" id="32"/>
            <p:cNvGrpSpPr/>
            <p:nvPr/>
          </p:nvGrpSpPr>
          <p:grpSpPr>
            <a:xfrm rot="0">
              <a:off x="11482451" y="2259076"/>
              <a:ext cx="10347387" cy="3749040"/>
              <a:chOff x="0" y="0"/>
              <a:chExt cx="10347387" cy="3749040"/>
            </a:xfrm>
          </p:grpSpPr>
          <p:sp>
            <p:nvSpPr>
              <p:cNvPr name="Freeform 33" id="33"/>
              <p:cNvSpPr/>
              <p:nvPr/>
            </p:nvSpPr>
            <p:spPr>
              <a:xfrm flipH="false" flipV="false" rot="0">
                <a:off x="0" y="0"/>
                <a:ext cx="10347387" cy="3749040"/>
              </a:xfrm>
              <a:custGeom>
                <a:avLst/>
                <a:gdLst/>
                <a:ahLst/>
                <a:cxnLst/>
                <a:rect r="r" b="b" t="t" l="l"/>
                <a:pathLst>
                  <a:path h="3749040" w="10347387">
                    <a:moveTo>
                      <a:pt x="0" y="146304"/>
                    </a:moveTo>
                    <a:cubicBezTo>
                      <a:pt x="0" y="65532"/>
                      <a:pt x="63381" y="0"/>
                      <a:pt x="141503" y="0"/>
                    </a:cubicBezTo>
                    <a:lnTo>
                      <a:pt x="10205884" y="0"/>
                    </a:lnTo>
                    <a:cubicBezTo>
                      <a:pt x="10284006" y="0"/>
                      <a:pt x="10347387" y="65532"/>
                      <a:pt x="10347387" y="146304"/>
                    </a:cubicBezTo>
                    <a:lnTo>
                      <a:pt x="10347387" y="3602736"/>
                    </a:lnTo>
                    <a:cubicBezTo>
                      <a:pt x="10347387" y="3683508"/>
                      <a:pt x="10284006" y="3749040"/>
                      <a:pt x="10205884" y="3749040"/>
                    </a:cubicBezTo>
                    <a:lnTo>
                      <a:pt x="141503" y="3749040"/>
                    </a:lnTo>
                    <a:cubicBezTo>
                      <a:pt x="63381" y="3749040"/>
                      <a:pt x="0" y="3683508"/>
                      <a:pt x="0" y="3602736"/>
                    </a:cubicBezTo>
                    <a:close/>
                  </a:path>
                </a:pathLst>
              </a:custGeom>
              <a:solidFill>
                <a:srgbClr val="0A1A23"/>
              </a:solidFill>
            </p:spPr>
          </p:sp>
        </p:grpSp>
        <p:grpSp>
          <p:nvGrpSpPr>
            <p:cNvPr name="Group 34" id="34"/>
            <p:cNvGrpSpPr/>
            <p:nvPr/>
          </p:nvGrpSpPr>
          <p:grpSpPr>
            <a:xfrm rot="0">
              <a:off x="11884787" y="2624836"/>
              <a:ext cx="237744" cy="237744"/>
              <a:chOff x="0" y="0"/>
              <a:chExt cx="237744" cy="237744"/>
            </a:xfrm>
          </p:grpSpPr>
          <p:sp>
            <p:nvSpPr>
              <p:cNvPr name="Freeform 35" id="35"/>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74C3C"/>
              </a:solidFill>
            </p:spPr>
          </p:sp>
        </p:grpSp>
        <p:grpSp>
          <p:nvGrpSpPr>
            <p:cNvPr name="Group 36" id="36"/>
            <p:cNvGrpSpPr/>
            <p:nvPr/>
          </p:nvGrpSpPr>
          <p:grpSpPr>
            <a:xfrm rot="0">
              <a:off x="12323699" y="2624836"/>
              <a:ext cx="237744" cy="237744"/>
              <a:chOff x="0" y="0"/>
              <a:chExt cx="237744" cy="237744"/>
            </a:xfrm>
          </p:grpSpPr>
          <p:sp>
            <p:nvSpPr>
              <p:cNvPr name="Freeform 37" id="37"/>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8B93F"/>
              </a:solidFill>
            </p:spPr>
          </p:sp>
        </p:grpSp>
        <p:grpSp>
          <p:nvGrpSpPr>
            <p:cNvPr name="Group 38" id="38"/>
            <p:cNvGrpSpPr/>
            <p:nvPr/>
          </p:nvGrpSpPr>
          <p:grpSpPr>
            <a:xfrm rot="0">
              <a:off x="12762611" y="2624836"/>
              <a:ext cx="237744" cy="237744"/>
              <a:chOff x="0" y="0"/>
              <a:chExt cx="237744" cy="237744"/>
            </a:xfrm>
          </p:grpSpPr>
          <p:sp>
            <p:nvSpPr>
              <p:cNvPr name="Freeform 39" id="39"/>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3FA76B"/>
              </a:solidFill>
            </p:spPr>
          </p:sp>
        </p:grpSp>
        <p:sp>
          <p:nvSpPr>
            <p:cNvPr name="TextBox 40" id="40"/>
            <p:cNvSpPr txBox="true"/>
            <p:nvPr/>
          </p:nvSpPr>
          <p:spPr>
            <a:xfrm rot="0">
              <a:off x="11994515" y="3097276"/>
              <a:ext cx="9674352" cy="2513330"/>
            </a:xfrm>
            <a:prstGeom prst="rect">
              <a:avLst/>
            </a:prstGeom>
          </p:spPr>
          <p:txBody>
            <a:bodyPr anchor="t" rtlCol="false" tIns="0" lIns="0" bIns="0" rIns="0">
              <a:spAutoFit/>
            </a:bodyPr>
            <a:lstStyle/>
            <a:p>
              <a:pPr algn="l">
                <a:lnSpc>
                  <a:spcPts val="3037"/>
                </a:lnSpc>
              </a:pPr>
              <a:r>
                <a:rPr lang="en-US" sz="2025">
                  <a:solidFill>
                    <a:srgbClr val="E4F1EF"/>
                  </a:solidFill>
                  <a:latin typeface="Poppins"/>
                  <a:ea typeface="Poppins"/>
                  <a:cs typeface="Poppins"/>
                  <a:sym typeface="Poppins"/>
                </a:rPr>
                <a:t>transaction = {</a:t>
              </a:r>
            </a:p>
            <a:p>
              <a:pPr algn="l">
                <a:lnSpc>
                  <a:spcPts val="3037"/>
                </a:lnSpc>
              </a:pPr>
              <a:r>
                <a:rPr lang="en-US" sz="2025">
                  <a:solidFill>
                    <a:srgbClr val="E4F1EF"/>
                  </a:solidFill>
                  <a:latin typeface="Poppins"/>
                  <a:ea typeface="Poppins"/>
                  <a:cs typeface="Poppins"/>
                  <a:sym typeface="Poppins"/>
                </a:rPr>
                <a:t>    "branch": "Lagos",</a:t>
              </a:r>
            </a:p>
            <a:p>
              <a:pPr algn="l">
                <a:lnSpc>
                  <a:spcPts val="3037"/>
                </a:lnSpc>
              </a:pPr>
              <a:r>
                <a:rPr lang="en-US" sz="2025">
                  <a:solidFill>
                    <a:srgbClr val="E4F1EF"/>
                  </a:solidFill>
                  <a:latin typeface="Poppins"/>
                  <a:ea typeface="Poppins"/>
                  <a:cs typeface="Poppins"/>
                  <a:sym typeface="Poppins"/>
                </a:rPr>
                <a:t>    "amount": "15,000",</a:t>
              </a:r>
            </a:p>
            <a:p>
              <a:pPr algn="l">
                <a:lnSpc>
                  <a:spcPts val="3037"/>
                </a:lnSpc>
              </a:pPr>
              <a:r>
                <a:rPr lang="en-US" sz="2025">
                  <a:solidFill>
                    <a:srgbClr val="E4F1EF"/>
                  </a:solidFill>
                  <a:latin typeface="Poppins"/>
                  <a:ea typeface="Poppins"/>
                  <a:cs typeface="Poppins"/>
                  <a:sym typeface="Poppins"/>
                </a:rPr>
                <a:t>    "date": "2026-03-01"</a:t>
              </a:r>
            </a:p>
            <a:p>
              <a:pPr algn="l">
                <a:lnSpc>
                  <a:spcPts val="3037"/>
                </a:lnSpc>
              </a:pPr>
              <a:r>
                <a:rPr lang="en-US" sz="2025">
                  <a:solidFill>
                    <a:srgbClr val="E4F1EF"/>
                  </a:solidFill>
                  <a:latin typeface="Poppins"/>
                  <a:ea typeface="Poppins"/>
                  <a:cs typeface="Poppins"/>
                  <a:sym typeface="Poppins"/>
                </a:rPr>
                <a:t>}</a:t>
              </a:r>
            </a:p>
          </p:txBody>
        </p:sp>
        <p:grpSp>
          <p:nvGrpSpPr>
            <p:cNvPr name="Group 41" id="41"/>
            <p:cNvGrpSpPr/>
            <p:nvPr/>
          </p:nvGrpSpPr>
          <p:grpSpPr>
            <a:xfrm rot="0">
              <a:off x="11482451" y="6245860"/>
              <a:ext cx="10698480" cy="1015594"/>
              <a:chOff x="0" y="0"/>
              <a:chExt cx="10698480" cy="1015594"/>
            </a:xfrm>
          </p:grpSpPr>
          <p:sp>
            <p:nvSpPr>
              <p:cNvPr name="Freeform 42" id="42"/>
              <p:cNvSpPr/>
              <p:nvPr/>
            </p:nvSpPr>
            <p:spPr>
              <a:xfrm flipH="false" flipV="false" rot="0">
                <a:off x="0" y="0"/>
                <a:ext cx="10698480" cy="1015594"/>
              </a:xfrm>
              <a:custGeom>
                <a:avLst/>
                <a:gdLst/>
                <a:ahLst/>
                <a:cxnLst/>
                <a:rect r="r" b="b" t="t" l="l"/>
                <a:pathLst>
                  <a:path h="1015594" w="10698480">
                    <a:moveTo>
                      <a:pt x="0" y="0"/>
                    </a:moveTo>
                    <a:lnTo>
                      <a:pt x="10698480" y="0"/>
                    </a:lnTo>
                    <a:lnTo>
                      <a:pt x="10698480" y="1015594"/>
                    </a:lnTo>
                    <a:lnTo>
                      <a:pt x="0" y="1015594"/>
                    </a:lnTo>
                    <a:close/>
                  </a:path>
                </a:pathLst>
              </a:custGeom>
              <a:blipFill>
                <a:blip r:embed="rId3">
                  <a:alphaModFix amt="0"/>
                </a:blip>
                <a:stretch>
                  <a:fillRect l="0" t="-160241" r="0" b="-150277"/>
                </a:stretch>
              </a:blipFill>
            </p:spPr>
          </p:sp>
          <p:sp>
            <p:nvSpPr>
              <p:cNvPr name="TextBox 43" id="43"/>
              <p:cNvSpPr txBox="true"/>
              <p:nvPr/>
            </p:nvSpPr>
            <p:spPr>
              <a:xfrm>
                <a:off x="0" y="-47625"/>
                <a:ext cx="10698480" cy="1063219"/>
              </a:xfrm>
              <a:prstGeom prst="rect">
                <a:avLst/>
              </a:prstGeom>
            </p:spPr>
            <p:txBody>
              <a:bodyPr anchor="ctr" rtlCol="false" tIns="0" lIns="0" bIns="0" rIns="0"/>
              <a:lstStyle/>
              <a:p>
                <a:pPr algn="l">
                  <a:lnSpc>
                    <a:spcPts val="2483"/>
                  </a:lnSpc>
                </a:pPr>
                <a:r>
                  <a:rPr lang="en-US" sz="1800" i="true">
                    <a:solidFill>
                      <a:srgbClr val="5B6B6E"/>
                    </a:solidFill>
                    <a:latin typeface="Poppins Italics"/>
                    <a:ea typeface="Poppins Italics"/>
                    <a:cs typeface="Poppins Italics"/>
                    <a:sym typeface="Poppins Italics"/>
                  </a:rPr>
                  <a:t>One record, with named fields, the way one spreadsheet row has named columns.</a:t>
                </a:r>
              </a:p>
            </p:txBody>
          </p:sp>
        </p:grpSp>
        <p:grpSp>
          <p:nvGrpSpPr>
            <p:cNvPr name="Group 44" id="44"/>
            <p:cNvGrpSpPr/>
            <p:nvPr/>
          </p:nvGrpSpPr>
          <p:grpSpPr>
            <a:xfrm rot="0">
              <a:off x="15875" y="8742299"/>
              <a:ext cx="21086064" cy="1139368"/>
              <a:chOff x="0" y="0"/>
              <a:chExt cx="21086064" cy="1139368"/>
            </a:xfrm>
          </p:grpSpPr>
          <p:sp>
            <p:nvSpPr>
              <p:cNvPr name="Freeform 45" id="45"/>
              <p:cNvSpPr/>
              <p:nvPr/>
            </p:nvSpPr>
            <p:spPr>
              <a:xfrm flipH="false" flipV="false" rot="0">
                <a:off x="0" y="0"/>
                <a:ext cx="21086065" cy="1139368"/>
              </a:xfrm>
              <a:custGeom>
                <a:avLst/>
                <a:gdLst/>
                <a:ahLst/>
                <a:cxnLst/>
                <a:rect r="r" b="b" t="t" l="l"/>
                <a:pathLst>
                  <a:path h="1139368" w="21086065">
                    <a:moveTo>
                      <a:pt x="0" y="0"/>
                    </a:moveTo>
                    <a:lnTo>
                      <a:pt x="21086065" y="0"/>
                    </a:lnTo>
                    <a:lnTo>
                      <a:pt x="21086065" y="1139368"/>
                    </a:lnTo>
                    <a:lnTo>
                      <a:pt x="0" y="1139368"/>
                    </a:lnTo>
                    <a:close/>
                  </a:path>
                </a:pathLst>
              </a:custGeom>
              <a:blipFill>
                <a:blip r:embed="rId3">
                  <a:alphaModFix amt="0"/>
                </a:blip>
                <a:stretch>
                  <a:fillRect l="0" t="-316465" r="0" b="-304746"/>
                </a:stretch>
              </a:blipFill>
            </p:spPr>
          </p:sp>
          <p:sp>
            <p:nvSpPr>
              <p:cNvPr name="TextBox 46" id="46"/>
              <p:cNvSpPr txBox="true"/>
              <p:nvPr/>
            </p:nvSpPr>
            <p:spPr>
              <a:xfrm>
                <a:off x="0" y="-47625"/>
                <a:ext cx="21086064" cy="1186993"/>
              </a:xfrm>
              <a:prstGeom prst="rect">
                <a:avLst/>
              </a:prstGeom>
            </p:spPr>
            <p:txBody>
              <a:bodyPr anchor="ctr" rtlCol="false" tIns="0" lIns="0" bIns="0" rIns="0"/>
              <a:lstStyle/>
              <a:p>
                <a:pPr algn="l">
                  <a:lnSpc>
                    <a:spcPts val="2794"/>
                  </a:lnSpc>
                </a:pPr>
                <a:r>
                  <a:rPr lang="en-US" sz="2025" b="true">
                    <a:solidFill>
                      <a:srgbClr val="387F7F"/>
                    </a:solidFill>
                    <a:latin typeface="Poppins Bold"/>
                    <a:ea typeface="Poppins Bold"/>
                    <a:cs typeface="Poppins Bold"/>
                    <a:sym typeface="Poppins Bold"/>
                  </a:rPr>
                  <a:t>Why an analyst uses it:  </a:t>
                </a:r>
                <a:r>
                  <a:rPr lang="en-US" sz="2025">
                    <a:solidFill>
                      <a:srgbClr val="0A1A23"/>
                    </a:solidFill>
                    <a:latin typeface="Poppins"/>
                    <a:ea typeface="Poppins"/>
                    <a:cs typeface="Poppins"/>
                    <a:sym typeface="Poppins"/>
                  </a:rPr>
                  <a:t>a list of dictionaries is exactly what a small dataset looks like before you load it into pandas next session.</a:t>
                </a:r>
              </a:p>
            </p:txBody>
          </p:sp>
        </p:grpSp>
        <p:grpSp>
          <p:nvGrpSpPr>
            <p:cNvPr name="Group 47" id="47"/>
            <p:cNvGrpSpPr/>
            <p:nvPr/>
          </p:nvGrpSpPr>
          <p:grpSpPr>
            <a:xfrm rot="0">
              <a:off x="20966873" y="10886122"/>
              <a:ext cx="862965" cy="762000"/>
              <a:chOff x="0" y="0"/>
              <a:chExt cx="862965" cy="762000"/>
            </a:xfrm>
          </p:grpSpPr>
          <p:sp>
            <p:nvSpPr>
              <p:cNvPr name="Freeform 48" id="48"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4"/>
                <a:stretch>
                  <a:fillRect l="-772" t="0" r="-772" b="0"/>
                </a:stretch>
              </a:blipFill>
            </p:spPr>
          </p:sp>
        </p:grpSp>
      </p:grpSp>
      <p:sp>
        <p:nvSpPr>
          <p:cNvPr name="Freeform 49" id="49"/>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0" id="50"/>
          <p:cNvGrpSpPr/>
          <p:nvPr/>
        </p:nvGrpSpPr>
        <p:grpSpPr>
          <a:xfrm rot="0">
            <a:off x="811054" y="857250"/>
            <a:ext cx="160496" cy="1028700"/>
            <a:chOff x="0" y="0"/>
            <a:chExt cx="213995" cy="1371600"/>
          </a:xfrm>
        </p:grpSpPr>
        <p:sp>
          <p:nvSpPr>
            <p:cNvPr name="Freeform 51" id="51"/>
            <p:cNvSpPr/>
            <p:nvPr/>
          </p:nvSpPr>
          <p:spPr>
            <a:xfrm flipH="false" flipV="false" rot="0">
              <a:off x="0" y="0"/>
              <a:ext cx="213995" cy="1371600"/>
            </a:xfrm>
            <a:custGeom>
              <a:avLst/>
              <a:gdLst/>
              <a:ahLst/>
              <a:cxnLst/>
              <a:rect r="r" b="b" t="t" l="l"/>
              <a:pathLst>
                <a:path h="1371600" w="213995">
                  <a:moveTo>
                    <a:pt x="0" y="0"/>
                  </a:moveTo>
                  <a:lnTo>
                    <a:pt x="213995" y="0"/>
                  </a:lnTo>
                  <a:lnTo>
                    <a:pt x="213995" y="1371600"/>
                  </a:lnTo>
                  <a:lnTo>
                    <a:pt x="0" y="1371600"/>
                  </a:lnTo>
                  <a:close/>
                </a:path>
              </a:pathLst>
            </a:custGeom>
            <a:solidFill>
              <a:srgbClr val="388080"/>
            </a:solid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153822" y="770763"/>
            <a:ext cx="14606947" cy="1245870"/>
            <a:chOff x="0" y="0"/>
            <a:chExt cx="19475930" cy="1661160"/>
          </a:xfrm>
        </p:grpSpPr>
        <p:sp>
          <p:nvSpPr>
            <p:cNvPr name="Freeform 5" id="5"/>
            <p:cNvSpPr/>
            <p:nvPr/>
          </p:nvSpPr>
          <p:spPr>
            <a:xfrm flipH="false" flipV="false" rot="0">
              <a:off x="0" y="0"/>
              <a:ext cx="19475929" cy="1661160"/>
            </a:xfrm>
            <a:custGeom>
              <a:avLst/>
              <a:gdLst/>
              <a:ahLst/>
              <a:cxnLst/>
              <a:rect r="r" b="b" t="t" l="l"/>
              <a:pathLst>
                <a:path h="1661160" w="19475929">
                  <a:moveTo>
                    <a:pt x="0" y="0"/>
                  </a:moveTo>
                  <a:lnTo>
                    <a:pt x="19475929" y="0"/>
                  </a:lnTo>
                  <a:lnTo>
                    <a:pt x="19475929" y="1661160"/>
                  </a:lnTo>
                  <a:lnTo>
                    <a:pt x="0" y="1661160"/>
                  </a:lnTo>
                  <a:close/>
                </a:path>
              </a:pathLst>
            </a:custGeom>
            <a:blipFill>
              <a:blip r:embed="rId3">
                <a:alphaModFix amt="0"/>
              </a:blip>
              <a:stretch>
                <a:fillRect l="0" t="-146557" r="20184" b="-118116"/>
              </a:stretch>
            </a:blipFill>
          </p:spPr>
        </p:sp>
        <p:sp>
          <p:nvSpPr>
            <p:cNvPr name="TextBox 6" id="6"/>
            <p:cNvSpPr txBox="true"/>
            <p:nvPr/>
          </p:nvSpPr>
          <p:spPr>
            <a:xfrm>
              <a:off x="0" y="-47625"/>
              <a:ext cx="19475930" cy="1708785"/>
            </a:xfrm>
            <a:prstGeom prst="rect">
              <a:avLst/>
            </a:prstGeom>
          </p:spPr>
          <p:txBody>
            <a:bodyPr anchor="ctr" rtlCol="false" tIns="0" lIns="0" bIns="0" rIns="0"/>
            <a:lstStyle/>
            <a:p>
              <a:pPr algn="l">
                <a:lnSpc>
                  <a:spcPts val="6000"/>
                </a:lnSpc>
              </a:pPr>
              <a:r>
                <a:rPr lang="en-US" sz="5000">
                  <a:solidFill>
                    <a:srgbClr val="388080"/>
                  </a:solidFill>
                  <a:latin typeface="Poppins"/>
                  <a:ea typeface="Poppins"/>
                  <a:cs typeface="Poppins"/>
                  <a:sym typeface="Poppins"/>
                </a:rPr>
                <a:t>Conditions and Loops: Applying Rules at Scale</a:t>
              </a:r>
            </a:p>
          </p:txBody>
        </p:sp>
      </p:grpSp>
      <p:grpSp>
        <p:nvGrpSpPr>
          <p:cNvPr name="Group 7" id="7"/>
          <p:cNvGrpSpPr/>
          <p:nvPr/>
        </p:nvGrpSpPr>
        <p:grpSpPr>
          <a:xfrm rot="0">
            <a:off x="817483" y="3073908"/>
            <a:ext cx="8023860" cy="3291840"/>
            <a:chOff x="0" y="0"/>
            <a:chExt cx="10698480" cy="4389120"/>
          </a:xfrm>
        </p:grpSpPr>
        <p:sp>
          <p:nvSpPr>
            <p:cNvPr name="Freeform 8" id="8"/>
            <p:cNvSpPr/>
            <p:nvPr/>
          </p:nvSpPr>
          <p:spPr>
            <a:xfrm flipH="false" flipV="false" rot="0">
              <a:off x="0" y="0"/>
              <a:ext cx="10698480" cy="4389120"/>
            </a:xfrm>
            <a:custGeom>
              <a:avLst/>
              <a:gdLst/>
              <a:ahLst/>
              <a:cxnLst/>
              <a:rect r="r" b="b" t="t" l="l"/>
              <a:pathLst>
                <a:path h="4389120" w="10698480">
                  <a:moveTo>
                    <a:pt x="0" y="146304"/>
                  </a:moveTo>
                  <a:cubicBezTo>
                    <a:pt x="0" y="65532"/>
                    <a:pt x="65532" y="0"/>
                    <a:pt x="146304" y="0"/>
                  </a:cubicBezTo>
                  <a:lnTo>
                    <a:pt x="10552176" y="0"/>
                  </a:lnTo>
                  <a:cubicBezTo>
                    <a:pt x="10632948" y="0"/>
                    <a:pt x="10698480" y="65532"/>
                    <a:pt x="10698480" y="146304"/>
                  </a:cubicBezTo>
                  <a:lnTo>
                    <a:pt x="10698480" y="4242816"/>
                  </a:lnTo>
                  <a:cubicBezTo>
                    <a:pt x="10698480" y="4323588"/>
                    <a:pt x="10632948" y="4389120"/>
                    <a:pt x="10552176" y="4389120"/>
                  </a:cubicBezTo>
                  <a:lnTo>
                    <a:pt x="146304" y="4389120"/>
                  </a:lnTo>
                  <a:cubicBezTo>
                    <a:pt x="65532" y="4389120"/>
                    <a:pt x="0" y="4323588"/>
                    <a:pt x="0" y="4242816"/>
                  </a:cubicBezTo>
                  <a:close/>
                </a:path>
              </a:pathLst>
            </a:custGeom>
            <a:solidFill>
              <a:srgbClr val="0A1A23"/>
            </a:solidFill>
          </p:spPr>
        </p:sp>
      </p:grpSp>
      <p:grpSp>
        <p:nvGrpSpPr>
          <p:cNvPr name="Group 9" id="9"/>
          <p:cNvGrpSpPr/>
          <p:nvPr/>
        </p:nvGrpSpPr>
        <p:grpSpPr>
          <a:xfrm rot="0">
            <a:off x="1119235" y="3348228"/>
            <a:ext cx="178308" cy="178308"/>
            <a:chOff x="0" y="0"/>
            <a:chExt cx="237744" cy="237744"/>
          </a:xfrm>
        </p:grpSpPr>
        <p:sp>
          <p:nvSpPr>
            <p:cNvPr name="Freeform 10" id="10"/>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74C3C"/>
            </a:solidFill>
          </p:spPr>
        </p:sp>
      </p:grpSp>
      <p:grpSp>
        <p:nvGrpSpPr>
          <p:cNvPr name="Group 11" id="11"/>
          <p:cNvGrpSpPr/>
          <p:nvPr/>
        </p:nvGrpSpPr>
        <p:grpSpPr>
          <a:xfrm rot="0">
            <a:off x="1448419" y="3348228"/>
            <a:ext cx="178308" cy="178308"/>
            <a:chOff x="0" y="0"/>
            <a:chExt cx="237744" cy="237744"/>
          </a:xfrm>
        </p:grpSpPr>
        <p:sp>
          <p:nvSpPr>
            <p:cNvPr name="Freeform 12" id="12"/>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8B93F"/>
            </a:solidFill>
          </p:spPr>
        </p:sp>
      </p:grpSp>
      <p:grpSp>
        <p:nvGrpSpPr>
          <p:cNvPr name="Group 13" id="13"/>
          <p:cNvGrpSpPr/>
          <p:nvPr/>
        </p:nvGrpSpPr>
        <p:grpSpPr>
          <a:xfrm rot="0">
            <a:off x="1777603" y="3348228"/>
            <a:ext cx="178308" cy="178308"/>
            <a:chOff x="0" y="0"/>
            <a:chExt cx="237744" cy="237744"/>
          </a:xfrm>
        </p:grpSpPr>
        <p:sp>
          <p:nvSpPr>
            <p:cNvPr name="Freeform 14" id="14"/>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3FA76B"/>
            </a:solidFill>
          </p:spPr>
        </p:sp>
      </p:grpSp>
      <p:sp>
        <p:nvSpPr>
          <p:cNvPr name="TextBox 15" id="15"/>
          <p:cNvSpPr txBox="true"/>
          <p:nvPr/>
        </p:nvSpPr>
        <p:spPr>
          <a:xfrm rot="0">
            <a:off x="1201531" y="3683508"/>
            <a:ext cx="7255764" cy="2119312"/>
          </a:xfrm>
          <a:prstGeom prst="rect">
            <a:avLst/>
          </a:prstGeom>
        </p:spPr>
        <p:txBody>
          <a:bodyPr anchor="t" rtlCol="false" tIns="0" lIns="0" bIns="0" rIns="0">
            <a:spAutoFit/>
          </a:bodyPr>
          <a:lstStyle/>
          <a:p>
            <a:pPr algn="l">
              <a:lnSpc>
                <a:spcPts val="2812"/>
              </a:lnSpc>
            </a:pPr>
            <a:r>
              <a:rPr lang="en-US" sz="1875">
                <a:solidFill>
                  <a:srgbClr val="E4F1EF"/>
                </a:solidFill>
                <a:latin typeface="Poppins"/>
                <a:ea typeface="Poppins"/>
                <a:cs typeface="Poppins"/>
                <a:sym typeface="Poppins"/>
              </a:rPr>
              <a:t>target = 12000</a:t>
            </a:r>
          </a:p>
          <a:p>
            <a:pPr algn="l">
              <a:lnSpc>
                <a:spcPts val="2812"/>
              </a:lnSpc>
            </a:pPr>
            <a:r>
              <a:rPr lang="en-US" sz="1875">
                <a:solidFill>
                  <a:srgbClr val="E4F1EF"/>
                </a:solidFill>
                <a:latin typeface="Poppins"/>
                <a:ea typeface="Poppins"/>
                <a:cs typeface="Poppins"/>
                <a:sym typeface="Poppins"/>
              </a:rPr>
              <a:t>for sale in daily_sales:</a:t>
            </a:r>
          </a:p>
          <a:p>
            <a:pPr algn="l">
              <a:lnSpc>
                <a:spcPts val="2812"/>
              </a:lnSpc>
            </a:pPr>
            <a:r>
              <a:rPr lang="en-US" sz="1875">
                <a:solidFill>
                  <a:srgbClr val="E4F1EF"/>
                </a:solidFill>
                <a:latin typeface="Poppins"/>
                <a:ea typeface="Poppins"/>
                <a:cs typeface="Poppins"/>
                <a:sym typeface="Poppins"/>
              </a:rPr>
              <a:t>    if sale &gt;= target:</a:t>
            </a:r>
          </a:p>
          <a:p>
            <a:pPr algn="l">
              <a:lnSpc>
                <a:spcPts val="2812"/>
              </a:lnSpc>
            </a:pPr>
            <a:r>
              <a:rPr lang="en-US" sz="1875">
                <a:solidFill>
                  <a:srgbClr val="E4F1EF"/>
                </a:solidFill>
                <a:latin typeface="Poppins"/>
                <a:ea typeface="Poppins"/>
                <a:cs typeface="Poppins"/>
                <a:sym typeface="Poppins"/>
              </a:rPr>
              <a:t>        print(sale, "Above target")</a:t>
            </a:r>
          </a:p>
          <a:p>
            <a:pPr algn="l">
              <a:lnSpc>
                <a:spcPts val="2812"/>
              </a:lnSpc>
            </a:pPr>
            <a:r>
              <a:rPr lang="en-US" sz="1875">
                <a:solidFill>
                  <a:srgbClr val="E4F1EF"/>
                </a:solidFill>
                <a:latin typeface="Poppins"/>
                <a:ea typeface="Poppins"/>
                <a:cs typeface="Poppins"/>
                <a:sym typeface="Poppins"/>
              </a:rPr>
              <a:t>    else:</a:t>
            </a:r>
          </a:p>
          <a:p>
            <a:pPr algn="l">
              <a:lnSpc>
                <a:spcPts val="2812"/>
              </a:lnSpc>
            </a:pPr>
            <a:r>
              <a:rPr lang="en-US" sz="1875">
                <a:solidFill>
                  <a:srgbClr val="E4F1EF"/>
                </a:solidFill>
                <a:latin typeface="Poppins"/>
                <a:ea typeface="Poppins"/>
                <a:cs typeface="Poppins"/>
                <a:sym typeface="Poppins"/>
              </a:rPr>
              <a:t>        print(sale, "Below target")</a:t>
            </a:r>
          </a:p>
        </p:txBody>
      </p:sp>
      <p:grpSp>
        <p:nvGrpSpPr>
          <p:cNvPr name="Group 16" id="16"/>
          <p:cNvGrpSpPr/>
          <p:nvPr/>
        </p:nvGrpSpPr>
        <p:grpSpPr>
          <a:xfrm rot="0">
            <a:off x="805577" y="6518434"/>
            <a:ext cx="8047672" cy="2081212"/>
            <a:chOff x="0" y="0"/>
            <a:chExt cx="10730230" cy="2774950"/>
          </a:xfrm>
        </p:grpSpPr>
        <p:sp>
          <p:nvSpPr>
            <p:cNvPr name="Freeform 17" id="17"/>
            <p:cNvSpPr/>
            <p:nvPr/>
          </p:nvSpPr>
          <p:spPr>
            <a:xfrm flipH="false" flipV="false" rot="0">
              <a:off x="0" y="0"/>
              <a:ext cx="10730230" cy="2774950"/>
            </a:xfrm>
            <a:custGeom>
              <a:avLst/>
              <a:gdLst/>
              <a:ahLst/>
              <a:cxnLst/>
              <a:rect r="r" b="b" t="t" l="l"/>
              <a:pathLst>
                <a:path h="2774950" w="10730230">
                  <a:moveTo>
                    <a:pt x="0" y="110998"/>
                  </a:moveTo>
                  <a:cubicBezTo>
                    <a:pt x="0" y="49657"/>
                    <a:pt x="49657" y="0"/>
                    <a:pt x="110998" y="0"/>
                  </a:cubicBezTo>
                  <a:lnTo>
                    <a:pt x="10619232" y="0"/>
                  </a:lnTo>
                  <a:cubicBezTo>
                    <a:pt x="10680573" y="0"/>
                    <a:pt x="10730230" y="49657"/>
                    <a:pt x="10730230" y="110998"/>
                  </a:cubicBezTo>
                  <a:lnTo>
                    <a:pt x="10730230" y="2663952"/>
                  </a:lnTo>
                  <a:cubicBezTo>
                    <a:pt x="10730230" y="2725293"/>
                    <a:pt x="10680573" y="2774950"/>
                    <a:pt x="10619232" y="2774950"/>
                  </a:cubicBezTo>
                  <a:lnTo>
                    <a:pt x="110998" y="2774950"/>
                  </a:lnTo>
                  <a:cubicBezTo>
                    <a:pt x="49657" y="2774950"/>
                    <a:pt x="0" y="2725293"/>
                    <a:pt x="0" y="2663952"/>
                  </a:cubicBezTo>
                  <a:close/>
                </a:path>
              </a:pathLst>
            </a:custGeom>
            <a:solidFill>
              <a:srgbClr val="FFFFFF"/>
            </a:solidFill>
            <a:ln w="23812" cap="sq">
              <a:solidFill>
                <a:srgbClr val="387F7F"/>
              </a:solidFill>
              <a:prstDash val="solid"/>
              <a:miter/>
            </a:ln>
          </p:spPr>
        </p:sp>
      </p:grpSp>
      <p:grpSp>
        <p:nvGrpSpPr>
          <p:cNvPr name="Group 18" id="18"/>
          <p:cNvGrpSpPr/>
          <p:nvPr/>
        </p:nvGrpSpPr>
        <p:grpSpPr>
          <a:xfrm rot="0">
            <a:off x="1119235" y="6694932"/>
            <a:ext cx="7475220" cy="373761"/>
            <a:chOff x="0" y="0"/>
            <a:chExt cx="9966960" cy="498348"/>
          </a:xfrm>
        </p:grpSpPr>
        <p:sp>
          <p:nvSpPr>
            <p:cNvPr name="Freeform 19" id="19"/>
            <p:cNvSpPr/>
            <p:nvPr/>
          </p:nvSpPr>
          <p:spPr>
            <a:xfrm flipH="false" flipV="false" rot="0">
              <a:off x="0" y="0"/>
              <a:ext cx="9966960" cy="498348"/>
            </a:xfrm>
            <a:custGeom>
              <a:avLst/>
              <a:gdLst/>
              <a:ahLst/>
              <a:cxnLst/>
              <a:rect r="r" b="b" t="t" l="l"/>
              <a:pathLst>
                <a:path h="498348" w="9966960">
                  <a:moveTo>
                    <a:pt x="0" y="0"/>
                  </a:moveTo>
                  <a:lnTo>
                    <a:pt x="9966960" y="0"/>
                  </a:lnTo>
                  <a:lnTo>
                    <a:pt x="9966960" y="498348"/>
                  </a:lnTo>
                  <a:lnTo>
                    <a:pt x="0" y="498348"/>
                  </a:lnTo>
                  <a:close/>
                </a:path>
              </a:pathLst>
            </a:custGeom>
            <a:blipFill>
              <a:blip r:embed="rId3">
                <a:alphaModFix amt="0"/>
              </a:blip>
              <a:stretch>
                <a:fillRect l="0" t="-345664" r="0" b="-333737"/>
              </a:stretch>
            </a:blipFill>
          </p:spPr>
        </p:sp>
        <p:sp>
          <p:nvSpPr>
            <p:cNvPr name="TextBox 20" id="20"/>
            <p:cNvSpPr txBox="true"/>
            <p:nvPr/>
          </p:nvSpPr>
          <p:spPr>
            <a:xfrm>
              <a:off x="0" y="-19050"/>
              <a:ext cx="9966960" cy="517398"/>
            </a:xfrm>
            <a:prstGeom prst="rect">
              <a:avLst/>
            </a:prstGeom>
          </p:spPr>
          <p:txBody>
            <a:bodyPr anchor="ctr" rtlCol="false" tIns="0" lIns="0" bIns="0" rIns="0"/>
            <a:lstStyle/>
            <a:p>
              <a:pPr algn="l">
                <a:lnSpc>
                  <a:spcPts val="1800"/>
                </a:lnSpc>
              </a:pPr>
              <a:r>
                <a:rPr lang="en-US" b="true" sz="1500" spc="150">
                  <a:solidFill>
                    <a:srgbClr val="387F7F"/>
                  </a:solidFill>
                  <a:latin typeface="Poppins Bold"/>
                  <a:ea typeface="Poppins Bold"/>
                  <a:cs typeface="Poppins Bold"/>
                  <a:sym typeface="Poppins Bold"/>
                </a:rPr>
                <a:t>OUTPUT</a:t>
              </a:r>
            </a:p>
          </p:txBody>
        </p:sp>
      </p:grpSp>
      <p:sp>
        <p:nvSpPr>
          <p:cNvPr name="TextBox 21" id="21"/>
          <p:cNvSpPr txBox="true"/>
          <p:nvPr/>
        </p:nvSpPr>
        <p:spPr>
          <a:xfrm rot="0">
            <a:off x="1119235" y="6957441"/>
            <a:ext cx="7420356" cy="1452753"/>
          </a:xfrm>
          <a:prstGeom prst="rect">
            <a:avLst/>
          </a:prstGeom>
        </p:spPr>
        <p:txBody>
          <a:bodyPr anchor="t" rtlCol="false" tIns="0" lIns="0" bIns="0" rIns="0">
            <a:spAutoFit/>
          </a:bodyPr>
          <a:lstStyle/>
          <a:p>
            <a:pPr algn="l">
              <a:lnSpc>
                <a:spcPts val="2916"/>
              </a:lnSpc>
            </a:pPr>
            <a:r>
              <a:rPr lang="en-US" sz="2025">
                <a:solidFill>
                  <a:srgbClr val="0A1A23"/>
                </a:solidFill>
                <a:latin typeface="Poppins"/>
                <a:ea typeface="Poppins"/>
                <a:cs typeface="Poppins"/>
                <a:sym typeface="Poppins"/>
              </a:rPr>
              <a:t>15000 Above target</a:t>
            </a:r>
          </a:p>
          <a:p>
            <a:pPr algn="l">
              <a:lnSpc>
                <a:spcPts val="2916"/>
              </a:lnSpc>
            </a:pPr>
            <a:r>
              <a:rPr lang="en-US" sz="2025">
                <a:solidFill>
                  <a:srgbClr val="0A1A23"/>
                </a:solidFill>
                <a:latin typeface="Poppins"/>
                <a:ea typeface="Poppins"/>
                <a:cs typeface="Poppins"/>
                <a:sym typeface="Poppins"/>
              </a:rPr>
              <a:t>9500 Below target</a:t>
            </a:r>
          </a:p>
          <a:p>
            <a:pPr algn="l">
              <a:lnSpc>
                <a:spcPts val="2916"/>
              </a:lnSpc>
            </a:pPr>
            <a:r>
              <a:rPr lang="en-US" sz="2025">
                <a:solidFill>
                  <a:srgbClr val="0A1A23"/>
                </a:solidFill>
                <a:latin typeface="Poppins"/>
                <a:ea typeface="Poppins"/>
                <a:cs typeface="Poppins"/>
                <a:sym typeface="Poppins"/>
              </a:rPr>
              <a:t>21000 Above target</a:t>
            </a:r>
          </a:p>
          <a:p>
            <a:pPr algn="l">
              <a:lnSpc>
                <a:spcPts val="2916"/>
              </a:lnSpc>
            </a:pPr>
            <a:r>
              <a:rPr lang="en-US" sz="2025">
                <a:solidFill>
                  <a:srgbClr val="0A1A23"/>
                </a:solidFill>
                <a:latin typeface="Poppins"/>
                <a:ea typeface="Poppins"/>
                <a:cs typeface="Poppins"/>
                <a:sym typeface="Poppins"/>
              </a:rPr>
              <a:t>18000 Above target</a:t>
            </a:r>
          </a:p>
        </p:txBody>
      </p:sp>
      <p:grpSp>
        <p:nvGrpSpPr>
          <p:cNvPr name="Group 22" id="22"/>
          <p:cNvGrpSpPr/>
          <p:nvPr/>
        </p:nvGrpSpPr>
        <p:grpSpPr>
          <a:xfrm rot="0">
            <a:off x="817483" y="8834628"/>
            <a:ext cx="7200900" cy="854526"/>
            <a:chOff x="0" y="0"/>
            <a:chExt cx="9601200" cy="1139368"/>
          </a:xfrm>
        </p:grpSpPr>
        <p:sp>
          <p:nvSpPr>
            <p:cNvPr name="Freeform 23" id="23"/>
            <p:cNvSpPr/>
            <p:nvPr/>
          </p:nvSpPr>
          <p:spPr>
            <a:xfrm flipH="false" flipV="false" rot="0">
              <a:off x="0" y="0"/>
              <a:ext cx="9601200" cy="1139368"/>
            </a:xfrm>
            <a:custGeom>
              <a:avLst/>
              <a:gdLst/>
              <a:ahLst/>
              <a:cxnLst/>
              <a:rect r="r" b="b" t="t" l="l"/>
              <a:pathLst>
                <a:path h="1139368" w="9601200">
                  <a:moveTo>
                    <a:pt x="0" y="0"/>
                  </a:moveTo>
                  <a:lnTo>
                    <a:pt x="9601200" y="0"/>
                  </a:lnTo>
                  <a:lnTo>
                    <a:pt x="9601200" y="1139368"/>
                  </a:lnTo>
                  <a:lnTo>
                    <a:pt x="0" y="1139368"/>
                  </a:lnTo>
                  <a:close/>
                </a:path>
              </a:pathLst>
            </a:custGeom>
            <a:blipFill>
              <a:blip r:embed="rId3">
                <a:alphaModFix amt="0"/>
              </a:blip>
              <a:stretch>
                <a:fillRect l="0" t="-124068" r="0" b="-104323"/>
              </a:stretch>
            </a:blipFill>
          </p:spPr>
        </p:sp>
        <p:sp>
          <p:nvSpPr>
            <p:cNvPr name="TextBox 24" id="24"/>
            <p:cNvSpPr txBox="true"/>
            <p:nvPr/>
          </p:nvSpPr>
          <p:spPr>
            <a:xfrm>
              <a:off x="0" y="-47625"/>
              <a:ext cx="9601200" cy="1186993"/>
            </a:xfrm>
            <a:prstGeom prst="rect">
              <a:avLst/>
            </a:prstGeom>
          </p:spPr>
          <p:txBody>
            <a:bodyPr anchor="ctr" rtlCol="false" tIns="0" lIns="0" bIns="0" rIns="0"/>
            <a:lstStyle/>
            <a:p>
              <a:pPr algn="l">
                <a:lnSpc>
                  <a:spcPts val="2794"/>
                </a:lnSpc>
              </a:pPr>
              <a:r>
                <a:rPr lang="en-US" sz="2025" b="true">
                  <a:solidFill>
                    <a:srgbClr val="387F7F"/>
                  </a:solidFill>
                  <a:latin typeface="Poppins Bold"/>
                  <a:ea typeface="Poppins Bold"/>
                  <a:cs typeface="Poppins Bold"/>
                  <a:sym typeface="Poppins Bold"/>
                </a:rPr>
                <a:t>Excel parallel:  </a:t>
              </a:r>
              <a:r>
                <a:rPr lang="en-US" sz="2025">
                  <a:solidFill>
                    <a:srgbClr val="0A1A23"/>
                  </a:solidFill>
                  <a:latin typeface="Poppins"/>
                  <a:ea typeface="Poppins"/>
                  <a:cs typeface="Poppins"/>
                  <a:sym typeface="Poppins"/>
                </a:rPr>
                <a:t>if is IF(); looping is filling a formula down every row.</a:t>
              </a:r>
            </a:p>
          </p:txBody>
        </p:sp>
      </p:grpSp>
      <p:grpSp>
        <p:nvGrpSpPr>
          <p:cNvPr name="Group 25" id="25"/>
          <p:cNvGrpSpPr/>
          <p:nvPr/>
        </p:nvGrpSpPr>
        <p:grpSpPr>
          <a:xfrm rot="0">
            <a:off x="9389983" y="3416808"/>
            <a:ext cx="109728" cy="109728"/>
            <a:chOff x="0" y="0"/>
            <a:chExt cx="146304" cy="146304"/>
          </a:xfrm>
        </p:grpSpPr>
        <p:sp>
          <p:nvSpPr>
            <p:cNvPr name="Freeform 26" id="26"/>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27" id="27"/>
          <p:cNvSpPr txBox="true"/>
          <p:nvPr/>
        </p:nvSpPr>
        <p:spPr>
          <a:xfrm rot="0">
            <a:off x="9732883" y="3075813"/>
            <a:ext cx="7749540" cy="397955"/>
          </a:xfrm>
          <a:prstGeom prst="rect">
            <a:avLst/>
          </a:prstGeom>
        </p:spPr>
        <p:txBody>
          <a:bodyPr anchor="t" rtlCol="false" tIns="0" lIns="0" bIns="0" rIns="0">
            <a:spAutoFit/>
          </a:bodyPr>
          <a:lstStyle/>
          <a:p>
            <a:pPr algn="l">
              <a:lnSpc>
                <a:spcPts val="3001"/>
              </a:lnSpc>
            </a:pPr>
            <a:r>
              <a:rPr lang="en-US" sz="2175">
                <a:solidFill>
                  <a:srgbClr val="0A1A23"/>
                </a:solidFill>
                <a:latin typeface="Poppins"/>
                <a:ea typeface="Poppins"/>
                <a:cs typeface="Poppins"/>
                <a:sym typeface="Poppins"/>
              </a:rPr>
              <a:t>if applies a business rule to one value</a:t>
            </a:r>
          </a:p>
        </p:txBody>
      </p:sp>
      <p:grpSp>
        <p:nvGrpSpPr>
          <p:cNvPr name="Group 28" id="28"/>
          <p:cNvGrpSpPr/>
          <p:nvPr/>
        </p:nvGrpSpPr>
        <p:grpSpPr>
          <a:xfrm rot="0">
            <a:off x="9389983" y="4308348"/>
            <a:ext cx="109728" cy="109728"/>
            <a:chOff x="0" y="0"/>
            <a:chExt cx="146304" cy="146304"/>
          </a:xfrm>
        </p:grpSpPr>
        <p:sp>
          <p:nvSpPr>
            <p:cNvPr name="Freeform 29" id="29"/>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30" id="30"/>
          <p:cNvSpPr txBox="true"/>
          <p:nvPr/>
        </p:nvSpPr>
        <p:spPr>
          <a:xfrm rot="0">
            <a:off x="9732883" y="3967353"/>
            <a:ext cx="7749540" cy="397955"/>
          </a:xfrm>
          <a:prstGeom prst="rect">
            <a:avLst/>
          </a:prstGeom>
        </p:spPr>
        <p:txBody>
          <a:bodyPr anchor="t" rtlCol="false" tIns="0" lIns="0" bIns="0" rIns="0">
            <a:spAutoFit/>
          </a:bodyPr>
          <a:lstStyle/>
          <a:p>
            <a:pPr algn="l">
              <a:lnSpc>
                <a:spcPts val="3001"/>
              </a:lnSpc>
            </a:pPr>
            <a:r>
              <a:rPr lang="en-US" sz="2175">
                <a:solidFill>
                  <a:srgbClr val="0A1A23"/>
                </a:solidFill>
                <a:latin typeface="Poppins"/>
                <a:ea typeface="Poppins"/>
                <a:cs typeface="Poppins"/>
                <a:sym typeface="Poppins"/>
              </a:rPr>
              <a:t>for repeats that check across an entire list</a:t>
            </a:r>
          </a:p>
        </p:txBody>
      </p:sp>
      <p:grpSp>
        <p:nvGrpSpPr>
          <p:cNvPr name="Group 31" id="31"/>
          <p:cNvGrpSpPr/>
          <p:nvPr/>
        </p:nvGrpSpPr>
        <p:grpSpPr>
          <a:xfrm rot="0">
            <a:off x="9389983" y="5199888"/>
            <a:ext cx="109728" cy="109728"/>
            <a:chOff x="0" y="0"/>
            <a:chExt cx="146304" cy="146304"/>
          </a:xfrm>
        </p:grpSpPr>
        <p:sp>
          <p:nvSpPr>
            <p:cNvPr name="Freeform 32" id="32"/>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33" id="33"/>
          <p:cNvSpPr txBox="true"/>
          <p:nvPr/>
        </p:nvSpPr>
        <p:spPr>
          <a:xfrm rot="0">
            <a:off x="9732883" y="4858893"/>
            <a:ext cx="7749540" cy="778955"/>
          </a:xfrm>
          <a:prstGeom prst="rect">
            <a:avLst/>
          </a:prstGeom>
        </p:spPr>
        <p:txBody>
          <a:bodyPr anchor="t" rtlCol="false" tIns="0" lIns="0" bIns="0" rIns="0">
            <a:spAutoFit/>
          </a:bodyPr>
          <a:lstStyle/>
          <a:p>
            <a:pPr algn="l">
              <a:lnSpc>
                <a:spcPts val="3001"/>
              </a:lnSpc>
            </a:pPr>
            <a:r>
              <a:rPr lang="en-US" sz="2175">
                <a:solidFill>
                  <a:srgbClr val="0A1A23"/>
                </a:solidFill>
                <a:latin typeface="Poppins"/>
                <a:ea typeface="Poppins"/>
                <a:cs typeface="Poppins"/>
                <a:sym typeface="Poppins"/>
              </a:rPr>
              <a:t>Together, they flag every record against a threshold in a single pass</a:t>
            </a:r>
          </a:p>
        </p:txBody>
      </p:sp>
      <p:grpSp>
        <p:nvGrpSpPr>
          <p:cNvPr name="Group 34" id="34"/>
          <p:cNvGrpSpPr/>
          <p:nvPr/>
        </p:nvGrpSpPr>
        <p:grpSpPr>
          <a:xfrm rot="0">
            <a:off x="9389983" y="6476048"/>
            <a:ext cx="8092440" cy="1165860"/>
            <a:chOff x="0" y="0"/>
            <a:chExt cx="10789920" cy="1554480"/>
          </a:xfrm>
        </p:grpSpPr>
        <p:sp>
          <p:nvSpPr>
            <p:cNvPr name="Freeform 35" id="35"/>
            <p:cNvSpPr/>
            <p:nvPr/>
          </p:nvSpPr>
          <p:spPr>
            <a:xfrm flipH="false" flipV="false" rot="0">
              <a:off x="0" y="0"/>
              <a:ext cx="10789920" cy="1554480"/>
            </a:xfrm>
            <a:custGeom>
              <a:avLst/>
              <a:gdLst/>
              <a:ahLst/>
              <a:cxnLst/>
              <a:rect r="r" b="b" t="t" l="l"/>
              <a:pathLst>
                <a:path h="1554480" w="10789920">
                  <a:moveTo>
                    <a:pt x="0" y="109728"/>
                  </a:moveTo>
                  <a:cubicBezTo>
                    <a:pt x="0" y="49149"/>
                    <a:pt x="49149" y="0"/>
                    <a:pt x="109728" y="0"/>
                  </a:cubicBezTo>
                  <a:lnTo>
                    <a:pt x="10680192" y="0"/>
                  </a:lnTo>
                  <a:cubicBezTo>
                    <a:pt x="10740772" y="0"/>
                    <a:pt x="10789920" y="49149"/>
                    <a:pt x="10789920" y="109728"/>
                  </a:cubicBezTo>
                  <a:lnTo>
                    <a:pt x="10789920" y="1444752"/>
                  </a:lnTo>
                  <a:cubicBezTo>
                    <a:pt x="10789920" y="1505331"/>
                    <a:pt x="10740772" y="1554480"/>
                    <a:pt x="10680192" y="1554480"/>
                  </a:cubicBezTo>
                  <a:lnTo>
                    <a:pt x="109728" y="1554480"/>
                  </a:lnTo>
                  <a:cubicBezTo>
                    <a:pt x="49149" y="1554480"/>
                    <a:pt x="0" y="1505331"/>
                    <a:pt x="0" y="1444752"/>
                  </a:cubicBezTo>
                  <a:close/>
                </a:path>
              </a:pathLst>
            </a:custGeom>
            <a:solidFill>
              <a:srgbClr val="EAF2F1"/>
            </a:solidFill>
          </p:spPr>
        </p:sp>
      </p:grpSp>
      <p:grpSp>
        <p:nvGrpSpPr>
          <p:cNvPr name="Group 36" id="36"/>
          <p:cNvGrpSpPr/>
          <p:nvPr/>
        </p:nvGrpSpPr>
        <p:grpSpPr>
          <a:xfrm rot="0">
            <a:off x="9801463" y="6502908"/>
            <a:ext cx="7269480" cy="1206951"/>
            <a:chOff x="0" y="0"/>
            <a:chExt cx="9692640" cy="1609268"/>
          </a:xfrm>
        </p:grpSpPr>
        <p:sp>
          <p:nvSpPr>
            <p:cNvPr name="Freeform 37" id="37"/>
            <p:cNvSpPr/>
            <p:nvPr/>
          </p:nvSpPr>
          <p:spPr>
            <a:xfrm flipH="false" flipV="false" rot="0">
              <a:off x="0" y="0"/>
              <a:ext cx="9692640" cy="1609268"/>
            </a:xfrm>
            <a:custGeom>
              <a:avLst/>
              <a:gdLst/>
              <a:ahLst/>
              <a:cxnLst/>
              <a:rect r="r" b="b" t="t" l="l"/>
              <a:pathLst>
                <a:path h="1609268" w="9692640">
                  <a:moveTo>
                    <a:pt x="0" y="0"/>
                  </a:moveTo>
                  <a:lnTo>
                    <a:pt x="9692640" y="0"/>
                  </a:lnTo>
                  <a:lnTo>
                    <a:pt x="9692640" y="1609268"/>
                  </a:lnTo>
                  <a:lnTo>
                    <a:pt x="0" y="1609268"/>
                  </a:lnTo>
                  <a:close/>
                </a:path>
              </a:pathLst>
            </a:custGeom>
            <a:blipFill>
              <a:blip r:embed="rId3">
                <a:alphaModFix amt="0"/>
              </a:blip>
              <a:stretch>
                <a:fillRect l="0" t="-80425" r="0" b="-54292"/>
              </a:stretch>
            </a:blipFill>
          </p:spPr>
        </p:sp>
        <p:sp>
          <p:nvSpPr>
            <p:cNvPr name="TextBox 38" id="38"/>
            <p:cNvSpPr txBox="true"/>
            <p:nvPr/>
          </p:nvSpPr>
          <p:spPr>
            <a:xfrm>
              <a:off x="0" y="-47625"/>
              <a:ext cx="9692640" cy="1656893"/>
            </a:xfrm>
            <a:prstGeom prst="rect">
              <a:avLst/>
            </a:prstGeom>
          </p:spPr>
          <p:txBody>
            <a:bodyPr anchor="ctr" rtlCol="false" tIns="0" lIns="0" bIns="0" rIns="0"/>
            <a:lstStyle/>
            <a:p>
              <a:pPr algn="l">
                <a:lnSpc>
                  <a:spcPts val="2794"/>
                </a:lnSpc>
              </a:pPr>
              <a:r>
                <a:rPr lang="en-US" sz="2025" b="true">
                  <a:solidFill>
                    <a:srgbClr val="387F7F"/>
                  </a:solidFill>
                  <a:latin typeface="Poppins Bold"/>
                  <a:ea typeface="Poppins Bold"/>
                  <a:cs typeface="Poppins Bold"/>
                  <a:sym typeface="Poppins Bold"/>
                </a:rPr>
                <a:t>Why an analyst uses it:  </a:t>
              </a:r>
              <a:r>
                <a:rPr lang="en-US" sz="2025">
                  <a:solidFill>
                    <a:srgbClr val="0A1A23"/>
                  </a:solidFill>
                  <a:latin typeface="Poppins"/>
                  <a:ea typeface="Poppins"/>
                  <a:cs typeface="Poppins"/>
                  <a:sym typeface="Poppins"/>
                </a:rPr>
                <a:t>flag every record against a target, threshold or category across a whole dataset, not just the row in front of you.</a:t>
              </a:r>
            </a:p>
          </p:txBody>
        </p:sp>
      </p:grpSp>
      <p:grpSp>
        <p:nvGrpSpPr>
          <p:cNvPr name="Group 39" id="39"/>
          <p:cNvGrpSpPr/>
          <p:nvPr/>
        </p:nvGrpSpPr>
        <p:grpSpPr>
          <a:xfrm rot="0">
            <a:off x="9389983" y="7737348"/>
            <a:ext cx="8092440" cy="1097280"/>
            <a:chOff x="0" y="0"/>
            <a:chExt cx="10789920" cy="1463040"/>
          </a:xfrm>
        </p:grpSpPr>
        <p:sp>
          <p:nvSpPr>
            <p:cNvPr name="Freeform 40" id="40"/>
            <p:cNvSpPr/>
            <p:nvPr/>
          </p:nvSpPr>
          <p:spPr>
            <a:xfrm flipH="false" flipV="false" rot="0">
              <a:off x="0" y="0"/>
              <a:ext cx="10789920" cy="1463040"/>
            </a:xfrm>
            <a:custGeom>
              <a:avLst/>
              <a:gdLst/>
              <a:ahLst/>
              <a:cxnLst/>
              <a:rect r="r" b="b" t="t" l="l"/>
              <a:pathLst>
                <a:path h="1463040" w="10789920">
                  <a:moveTo>
                    <a:pt x="0" y="109728"/>
                  </a:moveTo>
                  <a:cubicBezTo>
                    <a:pt x="0" y="49149"/>
                    <a:pt x="49149" y="0"/>
                    <a:pt x="109728" y="0"/>
                  </a:cubicBezTo>
                  <a:lnTo>
                    <a:pt x="10680192" y="0"/>
                  </a:lnTo>
                  <a:cubicBezTo>
                    <a:pt x="10740772" y="0"/>
                    <a:pt x="10789920" y="49149"/>
                    <a:pt x="10789920" y="109728"/>
                  </a:cubicBezTo>
                  <a:lnTo>
                    <a:pt x="10789920" y="1353312"/>
                  </a:lnTo>
                  <a:cubicBezTo>
                    <a:pt x="10789920" y="1413891"/>
                    <a:pt x="10740772" y="1463040"/>
                    <a:pt x="10680192" y="1463040"/>
                  </a:cubicBezTo>
                  <a:lnTo>
                    <a:pt x="109728" y="1463040"/>
                  </a:lnTo>
                  <a:cubicBezTo>
                    <a:pt x="49149" y="1463040"/>
                    <a:pt x="0" y="1413891"/>
                    <a:pt x="0" y="1353312"/>
                  </a:cubicBezTo>
                  <a:close/>
                </a:path>
              </a:pathLst>
            </a:custGeom>
            <a:solidFill>
              <a:srgbClr val="EAF2F1"/>
            </a:solidFill>
          </p:spPr>
        </p:sp>
      </p:grpSp>
      <p:grpSp>
        <p:nvGrpSpPr>
          <p:cNvPr name="Group 41" id="41"/>
          <p:cNvGrpSpPr/>
          <p:nvPr/>
        </p:nvGrpSpPr>
        <p:grpSpPr>
          <a:xfrm rot="0">
            <a:off x="9801463" y="7874508"/>
            <a:ext cx="7269480" cy="854526"/>
            <a:chOff x="0" y="0"/>
            <a:chExt cx="9692640" cy="1139368"/>
          </a:xfrm>
        </p:grpSpPr>
        <p:sp>
          <p:nvSpPr>
            <p:cNvPr name="Freeform 42" id="42"/>
            <p:cNvSpPr/>
            <p:nvPr/>
          </p:nvSpPr>
          <p:spPr>
            <a:xfrm flipH="false" flipV="false" rot="0">
              <a:off x="0" y="0"/>
              <a:ext cx="9692640" cy="1139368"/>
            </a:xfrm>
            <a:custGeom>
              <a:avLst/>
              <a:gdLst/>
              <a:ahLst/>
              <a:cxnLst/>
              <a:rect r="r" b="b" t="t" l="l"/>
              <a:pathLst>
                <a:path h="1139368" w="9692640">
                  <a:moveTo>
                    <a:pt x="0" y="0"/>
                  </a:moveTo>
                  <a:lnTo>
                    <a:pt x="9692640" y="0"/>
                  </a:lnTo>
                  <a:lnTo>
                    <a:pt x="9692640" y="1139368"/>
                  </a:lnTo>
                  <a:lnTo>
                    <a:pt x="0" y="1139368"/>
                  </a:lnTo>
                  <a:close/>
                </a:path>
              </a:pathLst>
            </a:custGeom>
            <a:blipFill>
              <a:blip r:embed="rId3">
                <a:alphaModFix amt="0"/>
              </a:blip>
              <a:stretch>
                <a:fillRect l="0" t="-117606" r="0" b="-113912"/>
              </a:stretch>
            </a:blipFill>
          </p:spPr>
        </p:sp>
        <p:sp>
          <p:nvSpPr>
            <p:cNvPr name="TextBox 43" id="43"/>
            <p:cNvSpPr txBox="true"/>
            <p:nvPr/>
          </p:nvSpPr>
          <p:spPr>
            <a:xfrm>
              <a:off x="0" y="-47625"/>
              <a:ext cx="9692640" cy="1186993"/>
            </a:xfrm>
            <a:prstGeom prst="rect">
              <a:avLst/>
            </a:prstGeom>
          </p:spPr>
          <p:txBody>
            <a:bodyPr anchor="ctr" rtlCol="false" tIns="0" lIns="0" bIns="0" rIns="0"/>
            <a:lstStyle/>
            <a:p>
              <a:pPr algn="l">
                <a:lnSpc>
                  <a:spcPts val="2794"/>
                </a:lnSpc>
              </a:pPr>
              <a:r>
                <a:rPr lang="en-US" b="true" sz="2025" i="true">
                  <a:solidFill>
                    <a:srgbClr val="387F7F"/>
                  </a:solidFill>
                  <a:latin typeface="Poppins Bold Italics"/>
                  <a:ea typeface="Poppins Bold Italics"/>
                  <a:cs typeface="Poppins Bold Italics"/>
                  <a:sym typeface="Poppins Bold Italics"/>
                </a:rPr>
                <a:t>Retrieval check:  </a:t>
              </a:r>
              <a:r>
                <a:rPr lang="en-US" sz="2025" i="true">
                  <a:solidFill>
                    <a:srgbClr val="0A1A23"/>
                  </a:solidFill>
                  <a:latin typeface="Poppins Italics"/>
                  <a:ea typeface="Poppins Italics"/>
                  <a:cs typeface="Poppins Italics"/>
                  <a:sym typeface="Poppins Italics"/>
                </a:rPr>
                <a:t>from Week 4, what would a GROUP BY and this loop have in common?</a:t>
              </a:r>
            </a:p>
          </p:txBody>
        </p:sp>
      </p:grpSp>
      <p:sp>
        <p:nvSpPr>
          <p:cNvPr name="Freeform 44" id="44"/>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5" id="45"/>
          <p:cNvGrpSpPr/>
          <p:nvPr/>
        </p:nvGrpSpPr>
        <p:grpSpPr>
          <a:xfrm rot="0">
            <a:off x="16536208" y="9103756"/>
            <a:ext cx="647224" cy="571500"/>
            <a:chOff x="0" y="0"/>
            <a:chExt cx="862965" cy="762000"/>
          </a:xfrm>
        </p:grpSpPr>
        <p:sp>
          <p:nvSpPr>
            <p:cNvPr name="Freeform 46" id="46"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nvGrpSpPr>
          <p:cNvPr name="Group 47" id="47"/>
          <p:cNvGrpSpPr/>
          <p:nvPr/>
        </p:nvGrpSpPr>
        <p:grpSpPr>
          <a:xfrm rot="0">
            <a:off x="857250" y="857250"/>
            <a:ext cx="114300" cy="1028700"/>
            <a:chOff x="0" y="0"/>
            <a:chExt cx="152400" cy="1371600"/>
          </a:xfrm>
        </p:grpSpPr>
        <p:sp>
          <p:nvSpPr>
            <p:cNvPr name="Freeform 48" id="48"/>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857250"/>
            <a:ext cx="18288000" cy="10603964"/>
            <a:chOff x="0" y="0"/>
            <a:chExt cx="24384000" cy="14138618"/>
          </a:xfrm>
        </p:grpSpPr>
        <p:grpSp>
          <p:nvGrpSpPr>
            <p:cNvPr name="Group 5" id="5"/>
            <p:cNvGrpSpPr/>
            <p:nvPr/>
          </p:nvGrpSpPr>
          <p:grpSpPr>
            <a:xfrm rot="0">
              <a:off x="1102150" y="3112008"/>
              <a:ext cx="10698480" cy="2834640"/>
              <a:chOff x="0" y="0"/>
              <a:chExt cx="10698480" cy="2834640"/>
            </a:xfrm>
          </p:grpSpPr>
          <p:sp>
            <p:nvSpPr>
              <p:cNvPr name="Freeform 6" id="6"/>
              <p:cNvSpPr/>
              <p:nvPr/>
            </p:nvSpPr>
            <p:spPr>
              <a:xfrm flipH="false" flipV="false" rot="0">
                <a:off x="0" y="0"/>
                <a:ext cx="10698480" cy="2834640"/>
              </a:xfrm>
              <a:custGeom>
                <a:avLst/>
                <a:gdLst/>
                <a:ahLst/>
                <a:cxnLst/>
                <a:rect r="r" b="b" t="t" l="l"/>
                <a:pathLst>
                  <a:path h="2834640" w="10698480">
                    <a:moveTo>
                      <a:pt x="0" y="146304"/>
                    </a:moveTo>
                    <a:cubicBezTo>
                      <a:pt x="0" y="65532"/>
                      <a:pt x="65532" y="0"/>
                      <a:pt x="146304" y="0"/>
                    </a:cubicBezTo>
                    <a:lnTo>
                      <a:pt x="10552176" y="0"/>
                    </a:lnTo>
                    <a:cubicBezTo>
                      <a:pt x="10632948" y="0"/>
                      <a:pt x="10698480" y="65532"/>
                      <a:pt x="10698480" y="146304"/>
                    </a:cubicBezTo>
                    <a:lnTo>
                      <a:pt x="10698480" y="2688336"/>
                    </a:lnTo>
                    <a:cubicBezTo>
                      <a:pt x="10698480" y="2769108"/>
                      <a:pt x="10632948" y="2834640"/>
                      <a:pt x="10552176" y="2834640"/>
                    </a:cubicBezTo>
                    <a:lnTo>
                      <a:pt x="146304" y="2834640"/>
                    </a:lnTo>
                    <a:cubicBezTo>
                      <a:pt x="65532" y="2834640"/>
                      <a:pt x="0" y="2769108"/>
                      <a:pt x="0" y="2688336"/>
                    </a:cubicBezTo>
                    <a:close/>
                  </a:path>
                </a:pathLst>
              </a:custGeom>
              <a:solidFill>
                <a:srgbClr val="0A1A23"/>
              </a:solidFill>
            </p:spPr>
          </p:sp>
        </p:grpSp>
        <p:grpSp>
          <p:nvGrpSpPr>
            <p:cNvPr name="Group 7" id="7"/>
            <p:cNvGrpSpPr/>
            <p:nvPr/>
          </p:nvGrpSpPr>
          <p:grpSpPr>
            <a:xfrm rot="0">
              <a:off x="1504486" y="3477768"/>
              <a:ext cx="237744" cy="237744"/>
              <a:chOff x="0" y="0"/>
              <a:chExt cx="237744" cy="237744"/>
            </a:xfrm>
          </p:grpSpPr>
          <p:sp>
            <p:nvSpPr>
              <p:cNvPr name="Freeform 8" id="8"/>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74C3C"/>
              </a:solidFill>
            </p:spPr>
          </p:sp>
        </p:grpSp>
        <p:grpSp>
          <p:nvGrpSpPr>
            <p:cNvPr name="Group 9" id="9"/>
            <p:cNvGrpSpPr/>
            <p:nvPr/>
          </p:nvGrpSpPr>
          <p:grpSpPr>
            <a:xfrm rot="0">
              <a:off x="1943398" y="3477768"/>
              <a:ext cx="237744" cy="237744"/>
              <a:chOff x="0" y="0"/>
              <a:chExt cx="237744" cy="237744"/>
            </a:xfrm>
          </p:grpSpPr>
          <p:sp>
            <p:nvSpPr>
              <p:cNvPr name="Freeform 10" id="10"/>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8B93F"/>
              </a:solidFill>
            </p:spPr>
          </p:sp>
        </p:grpSp>
        <p:grpSp>
          <p:nvGrpSpPr>
            <p:cNvPr name="Group 11" id="11"/>
            <p:cNvGrpSpPr/>
            <p:nvPr/>
          </p:nvGrpSpPr>
          <p:grpSpPr>
            <a:xfrm rot="0">
              <a:off x="2382310" y="3477768"/>
              <a:ext cx="237744" cy="237744"/>
              <a:chOff x="0" y="0"/>
              <a:chExt cx="237744" cy="237744"/>
            </a:xfrm>
          </p:grpSpPr>
          <p:sp>
            <p:nvSpPr>
              <p:cNvPr name="Freeform 12" id="12"/>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3FA76B"/>
              </a:solidFill>
            </p:spPr>
          </p:sp>
        </p:grpSp>
        <p:sp>
          <p:nvSpPr>
            <p:cNvPr name="TextBox 13" id="13"/>
            <p:cNvSpPr txBox="true"/>
            <p:nvPr/>
          </p:nvSpPr>
          <p:spPr>
            <a:xfrm rot="0">
              <a:off x="1614214" y="3950208"/>
              <a:ext cx="9674352" cy="1497330"/>
            </a:xfrm>
            <a:prstGeom prst="rect">
              <a:avLst/>
            </a:prstGeom>
          </p:spPr>
          <p:txBody>
            <a:bodyPr anchor="t" rtlCol="false" tIns="0" lIns="0" bIns="0" rIns="0">
              <a:spAutoFit/>
            </a:bodyPr>
            <a:lstStyle/>
            <a:p>
              <a:pPr algn="l">
                <a:lnSpc>
                  <a:spcPts val="3037"/>
                </a:lnSpc>
              </a:pPr>
              <a:r>
                <a:rPr lang="en-US" sz="2025">
                  <a:solidFill>
                    <a:srgbClr val="E4F1EF"/>
                  </a:solidFill>
                  <a:latin typeface="Poppins"/>
                  <a:ea typeface="Poppins"/>
                  <a:cs typeface="Poppins"/>
                  <a:sym typeface="Poppins"/>
                </a:rPr>
                <a:t>import statistics</a:t>
              </a:r>
            </a:p>
            <a:p>
              <a:pPr algn="l">
                <a:lnSpc>
                  <a:spcPts val="3037"/>
                </a:lnSpc>
              </a:pPr>
            </a:p>
            <a:p>
              <a:pPr algn="l">
                <a:lnSpc>
                  <a:spcPts val="3037"/>
                </a:lnSpc>
              </a:pPr>
              <a:r>
                <a:rPr lang="en-US" sz="2025">
                  <a:solidFill>
                    <a:srgbClr val="E4F1EF"/>
                  </a:solidFill>
                  <a:latin typeface="Poppins"/>
                  <a:ea typeface="Poppins"/>
                  <a:cs typeface="Poppins"/>
                  <a:sym typeface="Poppins"/>
                </a:rPr>
                <a:t>statistics.mean(daily_sales)</a:t>
              </a:r>
            </a:p>
          </p:txBody>
        </p:sp>
        <p:grpSp>
          <p:nvGrpSpPr>
            <p:cNvPr name="Group 14" id="14"/>
            <p:cNvGrpSpPr/>
            <p:nvPr/>
          </p:nvGrpSpPr>
          <p:grpSpPr>
            <a:xfrm rot="0">
              <a:off x="1614214" y="0"/>
              <a:ext cx="19178540" cy="1661160"/>
              <a:chOff x="0" y="0"/>
              <a:chExt cx="19178540" cy="1661160"/>
            </a:xfrm>
          </p:grpSpPr>
          <p:sp>
            <p:nvSpPr>
              <p:cNvPr name="Freeform 15" id="15"/>
              <p:cNvSpPr/>
              <p:nvPr/>
            </p:nvSpPr>
            <p:spPr>
              <a:xfrm flipH="false" flipV="false" rot="0">
                <a:off x="0" y="0"/>
                <a:ext cx="19178539" cy="1661160"/>
              </a:xfrm>
              <a:custGeom>
                <a:avLst/>
                <a:gdLst/>
                <a:ahLst/>
                <a:cxnLst/>
                <a:rect r="r" b="b" t="t" l="l"/>
                <a:pathLst>
                  <a:path h="1661160" w="19178539">
                    <a:moveTo>
                      <a:pt x="0" y="0"/>
                    </a:moveTo>
                    <a:lnTo>
                      <a:pt x="19178539" y="0"/>
                    </a:lnTo>
                    <a:lnTo>
                      <a:pt x="19178539" y="1661160"/>
                    </a:lnTo>
                    <a:lnTo>
                      <a:pt x="0" y="1661160"/>
                    </a:lnTo>
                    <a:close/>
                  </a:path>
                </a:pathLst>
              </a:custGeom>
              <a:blipFill>
                <a:blip r:embed="rId3">
                  <a:alphaModFix amt="0"/>
                </a:blip>
                <a:stretch>
                  <a:fillRect l="0" t="-146557" r="18946" b="-118116"/>
                </a:stretch>
              </a:blipFill>
            </p:spPr>
          </p:sp>
          <p:sp>
            <p:nvSpPr>
              <p:cNvPr name="TextBox 16" id="16"/>
              <p:cNvSpPr txBox="true"/>
              <p:nvPr/>
            </p:nvSpPr>
            <p:spPr>
              <a:xfrm>
                <a:off x="0" y="-47625"/>
                <a:ext cx="19178540" cy="1708785"/>
              </a:xfrm>
              <a:prstGeom prst="rect">
                <a:avLst/>
              </a:prstGeom>
            </p:spPr>
            <p:txBody>
              <a:bodyPr anchor="ctr" rtlCol="false" tIns="0" lIns="0" bIns="0" rIns="0"/>
              <a:lstStyle/>
              <a:p>
                <a:pPr algn="l">
                  <a:lnSpc>
                    <a:spcPts val="6000"/>
                  </a:lnSpc>
                </a:pPr>
                <a:r>
                  <a:rPr lang="en-US" sz="5000">
                    <a:solidFill>
                      <a:srgbClr val="388080"/>
                    </a:solidFill>
                    <a:latin typeface="Poppins"/>
                    <a:ea typeface="Poppins"/>
                    <a:cs typeface="Poppins"/>
                    <a:sym typeface="Poppins"/>
                  </a:rPr>
                  <a:t>Importing Libraries: Standing on Tested Code</a:t>
                </a:r>
              </a:p>
            </p:txBody>
          </p:sp>
        </p:grpSp>
        <p:grpSp>
          <p:nvGrpSpPr>
            <p:cNvPr name="Group 17" id="17"/>
            <p:cNvGrpSpPr/>
            <p:nvPr/>
          </p:nvGrpSpPr>
          <p:grpSpPr>
            <a:xfrm rot="0">
              <a:off x="996727" y="6049645"/>
              <a:ext cx="10730230" cy="1403350"/>
              <a:chOff x="0" y="0"/>
              <a:chExt cx="10730230" cy="1403350"/>
            </a:xfrm>
          </p:grpSpPr>
          <p:sp>
            <p:nvSpPr>
              <p:cNvPr name="Freeform 18" id="18"/>
              <p:cNvSpPr/>
              <p:nvPr/>
            </p:nvSpPr>
            <p:spPr>
              <a:xfrm flipH="false" flipV="false" rot="0">
                <a:off x="0" y="0"/>
                <a:ext cx="10730230" cy="1403350"/>
              </a:xfrm>
              <a:custGeom>
                <a:avLst/>
                <a:gdLst/>
                <a:ahLst/>
                <a:cxnLst/>
                <a:rect r="r" b="b" t="t" l="l"/>
                <a:pathLst>
                  <a:path h="1403350" w="10730230">
                    <a:moveTo>
                      <a:pt x="0" y="112268"/>
                    </a:moveTo>
                    <a:cubicBezTo>
                      <a:pt x="0" y="50292"/>
                      <a:pt x="50292" y="0"/>
                      <a:pt x="112268" y="0"/>
                    </a:cubicBezTo>
                    <a:lnTo>
                      <a:pt x="10617962" y="0"/>
                    </a:lnTo>
                    <a:cubicBezTo>
                      <a:pt x="10679938" y="0"/>
                      <a:pt x="10730230" y="50292"/>
                      <a:pt x="10730230" y="112268"/>
                    </a:cubicBezTo>
                    <a:lnTo>
                      <a:pt x="10730230" y="1291082"/>
                    </a:lnTo>
                    <a:cubicBezTo>
                      <a:pt x="10730230" y="1353058"/>
                      <a:pt x="10679938" y="1403350"/>
                      <a:pt x="10617962" y="1403350"/>
                    </a:cubicBezTo>
                    <a:lnTo>
                      <a:pt x="112268" y="1403350"/>
                    </a:lnTo>
                    <a:cubicBezTo>
                      <a:pt x="50292" y="1403350"/>
                      <a:pt x="0" y="1353058"/>
                      <a:pt x="0" y="1291082"/>
                    </a:cubicBezTo>
                    <a:close/>
                  </a:path>
                </a:pathLst>
              </a:custGeom>
              <a:solidFill>
                <a:srgbClr val="FFFFFF"/>
              </a:solidFill>
              <a:ln w="23812" cap="sq">
                <a:solidFill>
                  <a:srgbClr val="387F7F"/>
                </a:solidFill>
                <a:prstDash val="solid"/>
                <a:miter/>
              </a:ln>
            </p:spPr>
          </p:sp>
        </p:grpSp>
        <p:grpSp>
          <p:nvGrpSpPr>
            <p:cNvPr name="Group 19" id="19"/>
            <p:cNvGrpSpPr/>
            <p:nvPr/>
          </p:nvGrpSpPr>
          <p:grpSpPr>
            <a:xfrm rot="0">
              <a:off x="1414938" y="6284976"/>
              <a:ext cx="9966960" cy="498348"/>
              <a:chOff x="0" y="0"/>
              <a:chExt cx="9966960" cy="498348"/>
            </a:xfrm>
          </p:grpSpPr>
          <p:sp>
            <p:nvSpPr>
              <p:cNvPr name="Freeform 20" id="20"/>
              <p:cNvSpPr/>
              <p:nvPr/>
            </p:nvSpPr>
            <p:spPr>
              <a:xfrm flipH="false" flipV="false" rot="0">
                <a:off x="0" y="0"/>
                <a:ext cx="9966960" cy="498348"/>
              </a:xfrm>
              <a:custGeom>
                <a:avLst/>
                <a:gdLst/>
                <a:ahLst/>
                <a:cxnLst/>
                <a:rect r="r" b="b" t="t" l="l"/>
                <a:pathLst>
                  <a:path h="498348" w="9966960">
                    <a:moveTo>
                      <a:pt x="0" y="0"/>
                    </a:moveTo>
                    <a:lnTo>
                      <a:pt x="9966960" y="0"/>
                    </a:lnTo>
                    <a:lnTo>
                      <a:pt x="9966960" y="498348"/>
                    </a:lnTo>
                    <a:lnTo>
                      <a:pt x="0" y="498348"/>
                    </a:lnTo>
                    <a:close/>
                  </a:path>
                </a:pathLst>
              </a:custGeom>
              <a:blipFill>
                <a:blip r:embed="rId3">
                  <a:alphaModFix amt="0"/>
                </a:blip>
                <a:stretch>
                  <a:fillRect l="0" t="-345664" r="0" b="-333737"/>
                </a:stretch>
              </a:blipFill>
            </p:spPr>
          </p:sp>
          <p:sp>
            <p:nvSpPr>
              <p:cNvPr name="TextBox 21" id="21"/>
              <p:cNvSpPr txBox="true"/>
              <p:nvPr/>
            </p:nvSpPr>
            <p:spPr>
              <a:xfrm>
                <a:off x="0" y="-19050"/>
                <a:ext cx="9966960" cy="517398"/>
              </a:xfrm>
              <a:prstGeom prst="rect">
                <a:avLst/>
              </a:prstGeom>
            </p:spPr>
            <p:txBody>
              <a:bodyPr anchor="ctr" rtlCol="false" tIns="0" lIns="0" bIns="0" rIns="0"/>
              <a:lstStyle/>
              <a:p>
                <a:pPr algn="l">
                  <a:lnSpc>
                    <a:spcPts val="1800"/>
                  </a:lnSpc>
                </a:pPr>
                <a:r>
                  <a:rPr lang="en-US" b="true" sz="1500" spc="150">
                    <a:solidFill>
                      <a:srgbClr val="387F7F"/>
                    </a:solidFill>
                    <a:latin typeface="Poppins Bold"/>
                    <a:ea typeface="Poppins Bold"/>
                    <a:cs typeface="Poppins Bold"/>
                    <a:sym typeface="Poppins Bold"/>
                  </a:rPr>
                  <a:t>OUTPUT</a:t>
                </a:r>
              </a:p>
            </p:txBody>
          </p:sp>
        </p:grpSp>
        <p:sp>
          <p:nvSpPr>
            <p:cNvPr name="TextBox 22" id="22"/>
            <p:cNvSpPr txBox="true"/>
            <p:nvPr/>
          </p:nvSpPr>
          <p:spPr>
            <a:xfrm rot="0">
              <a:off x="1414938" y="6657213"/>
              <a:ext cx="9893808" cy="466979"/>
            </a:xfrm>
            <a:prstGeom prst="rect">
              <a:avLst/>
            </a:prstGeom>
          </p:spPr>
          <p:txBody>
            <a:bodyPr anchor="t" rtlCol="false" tIns="0" lIns="0" bIns="0" rIns="0">
              <a:spAutoFit/>
            </a:bodyPr>
            <a:lstStyle/>
            <a:p>
              <a:pPr algn="l">
                <a:lnSpc>
                  <a:spcPts val="2916"/>
                </a:lnSpc>
              </a:pPr>
              <a:r>
                <a:rPr lang="en-US" sz="2025">
                  <a:solidFill>
                    <a:srgbClr val="0A1A23"/>
                  </a:solidFill>
                  <a:latin typeface="Poppins"/>
                  <a:ea typeface="Poppins"/>
                  <a:cs typeface="Poppins"/>
                  <a:sym typeface="Poppins"/>
                </a:rPr>
                <a:t>15875.0</a:t>
              </a:r>
            </a:p>
          </p:txBody>
        </p:sp>
        <p:grpSp>
          <p:nvGrpSpPr>
            <p:cNvPr name="Group 23" id="23"/>
            <p:cNvGrpSpPr/>
            <p:nvPr/>
          </p:nvGrpSpPr>
          <p:grpSpPr>
            <a:xfrm rot="0">
              <a:off x="12442602" y="3322320"/>
              <a:ext cx="146304" cy="146304"/>
              <a:chOff x="0" y="0"/>
              <a:chExt cx="146304" cy="146304"/>
            </a:xfrm>
          </p:grpSpPr>
          <p:sp>
            <p:nvSpPr>
              <p:cNvPr name="Freeform 24" id="24"/>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25" id="25"/>
            <p:cNvSpPr txBox="true"/>
            <p:nvPr/>
          </p:nvSpPr>
          <p:spPr>
            <a:xfrm rot="0">
              <a:off x="12899802" y="2889885"/>
              <a:ext cx="10332720" cy="1016381"/>
            </a:xfrm>
            <a:prstGeom prst="rect">
              <a:avLst/>
            </a:prstGeom>
          </p:spPr>
          <p:txBody>
            <a:bodyPr anchor="t" rtlCol="false" tIns="0" lIns="0" bIns="0" rIns="0">
              <a:spAutoFit/>
            </a:bodyPr>
            <a:lstStyle/>
            <a:p>
              <a:pPr algn="l">
                <a:lnSpc>
                  <a:spcPts val="3001"/>
                </a:lnSpc>
              </a:pPr>
              <a:r>
                <a:rPr lang="en-US" sz="2175">
                  <a:solidFill>
                    <a:srgbClr val="0A1A23"/>
                  </a:solidFill>
                  <a:latin typeface="Poppins"/>
                  <a:ea typeface="Poppins"/>
                  <a:cs typeface="Poppins"/>
                  <a:sym typeface="Poppins"/>
                </a:rPr>
                <a:t>A library is code someone else already wrote, tested and maintained</a:t>
              </a:r>
            </a:p>
          </p:txBody>
        </p:sp>
        <p:grpSp>
          <p:nvGrpSpPr>
            <p:cNvPr name="Group 26" id="26"/>
            <p:cNvGrpSpPr/>
            <p:nvPr/>
          </p:nvGrpSpPr>
          <p:grpSpPr>
            <a:xfrm rot="0">
              <a:off x="12442602" y="4693920"/>
              <a:ext cx="146304" cy="146304"/>
              <a:chOff x="0" y="0"/>
              <a:chExt cx="146304" cy="146304"/>
            </a:xfrm>
          </p:grpSpPr>
          <p:sp>
            <p:nvSpPr>
              <p:cNvPr name="Freeform 27" id="27"/>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28" id="28"/>
            <p:cNvSpPr txBox="true"/>
            <p:nvPr/>
          </p:nvSpPr>
          <p:spPr>
            <a:xfrm rot="0">
              <a:off x="12899802" y="4261485"/>
              <a:ext cx="10332720" cy="508381"/>
            </a:xfrm>
            <a:prstGeom prst="rect">
              <a:avLst/>
            </a:prstGeom>
          </p:spPr>
          <p:txBody>
            <a:bodyPr anchor="t" rtlCol="false" tIns="0" lIns="0" bIns="0" rIns="0">
              <a:spAutoFit/>
            </a:bodyPr>
            <a:lstStyle/>
            <a:p>
              <a:pPr algn="l">
                <a:lnSpc>
                  <a:spcPts val="3001"/>
                </a:lnSpc>
              </a:pPr>
              <a:r>
                <a:rPr lang="en-US" sz="2175">
                  <a:solidFill>
                    <a:srgbClr val="0A1A23"/>
                  </a:solidFill>
                  <a:latin typeface="Poppins"/>
                  <a:ea typeface="Poppins"/>
                  <a:cs typeface="Poppins"/>
                  <a:sym typeface="Poppins"/>
                </a:rPr>
                <a:t>import brings it into your notebook, ready to use</a:t>
              </a:r>
            </a:p>
          </p:txBody>
        </p:sp>
        <p:grpSp>
          <p:nvGrpSpPr>
            <p:cNvPr name="Group 29" id="29"/>
            <p:cNvGrpSpPr/>
            <p:nvPr/>
          </p:nvGrpSpPr>
          <p:grpSpPr>
            <a:xfrm rot="0">
              <a:off x="12442602" y="6065520"/>
              <a:ext cx="146304" cy="146304"/>
              <a:chOff x="0" y="0"/>
              <a:chExt cx="146304" cy="146304"/>
            </a:xfrm>
          </p:grpSpPr>
          <p:sp>
            <p:nvSpPr>
              <p:cNvPr name="Freeform 30" id="30"/>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31" id="31"/>
            <p:cNvSpPr txBox="true"/>
            <p:nvPr/>
          </p:nvSpPr>
          <p:spPr>
            <a:xfrm rot="0">
              <a:off x="12899802" y="5633085"/>
              <a:ext cx="10332720" cy="1016381"/>
            </a:xfrm>
            <a:prstGeom prst="rect">
              <a:avLst/>
            </a:prstGeom>
          </p:spPr>
          <p:txBody>
            <a:bodyPr anchor="t" rtlCol="false" tIns="0" lIns="0" bIns="0" rIns="0">
              <a:spAutoFit/>
            </a:bodyPr>
            <a:lstStyle/>
            <a:p>
              <a:pPr algn="l">
                <a:lnSpc>
                  <a:spcPts val="3001"/>
                </a:lnSpc>
              </a:pPr>
              <a:r>
                <a:rPr lang="en-US" sz="2175">
                  <a:solidFill>
                    <a:srgbClr val="0A1A23"/>
                  </a:solidFill>
                  <a:latin typeface="Poppins"/>
                  <a:ea typeface="Poppins"/>
                  <a:cs typeface="Poppins"/>
                  <a:sym typeface="Poppins"/>
                </a:rPr>
                <a:t>Analysts rarely calculate statistics by hand; they import a trusted library instead</a:t>
              </a:r>
            </a:p>
          </p:txBody>
        </p:sp>
        <p:grpSp>
          <p:nvGrpSpPr>
            <p:cNvPr name="Group 32" id="32"/>
            <p:cNvGrpSpPr/>
            <p:nvPr/>
          </p:nvGrpSpPr>
          <p:grpSpPr>
            <a:xfrm rot="0">
              <a:off x="12442602" y="7711440"/>
              <a:ext cx="10789920" cy="1554480"/>
              <a:chOff x="0" y="0"/>
              <a:chExt cx="10789920" cy="1554480"/>
            </a:xfrm>
          </p:grpSpPr>
          <p:sp>
            <p:nvSpPr>
              <p:cNvPr name="Freeform 33" id="33"/>
              <p:cNvSpPr/>
              <p:nvPr/>
            </p:nvSpPr>
            <p:spPr>
              <a:xfrm flipH="false" flipV="false" rot="0">
                <a:off x="0" y="0"/>
                <a:ext cx="10789920" cy="1554480"/>
              </a:xfrm>
              <a:custGeom>
                <a:avLst/>
                <a:gdLst/>
                <a:ahLst/>
                <a:cxnLst/>
                <a:rect r="r" b="b" t="t" l="l"/>
                <a:pathLst>
                  <a:path h="1554480" w="10789920">
                    <a:moveTo>
                      <a:pt x="0" y="109728"/>
                    </a:moveTo>
                    <a:cubicBezTo>
                      <a:pt x="0" y="49149"/>
                      <a:pt x="49149" y="0"/>
                      <a:pt x="109728" y="0"/>
                    </a:cubicBezTo>
                    <a:lnTo>
                      <a:pt x="10680192" y="0"/>
                    </a:lnTo>
                    <a:cubicBezTo>
                      <a:pt x="10740772" y="0"/>
                      <a:pt x="10789920" y="49149"/>
                      <a:pt x="10789920" y="109728"/>
                    </a:cubicBezTo>
                    <a:lnTo>
                      <a:pt x="10789920" y="1444752"/>
                    </a:lnTo>
                    <a:cubicBezTo>
                      <a:pt x="10789920" y="1505331"/>
                      <a:pt x="10740772" y="1554480"/>
                      <a:pt x="10680192" y="1554480"/>
                    </a:cubicBezTo>
                    <a:lnTo>
                      <a:pt x="109728" y="1554480"/>
                    </a:lnTo>
                    <a:cubicBezTo>
                      <a:pt x="49149" y="1554480"/>
                      <a:pt x="0" y="1505331"/>
                      <a:pt x="0" y="1444752"/>
                    </a:cubicBezTo>
                    <a:close/>
                  </a:path>
                </a:pathLst>
              </a:custGeom>
              <a:solidFill>
                <a:srgbClr val="EAF2F1"/>
              </a:solidFill>
            </p:spPr>
          </p:sp>
        </p:grpSp>
        <p:grpSp>
          <p:nvGrpSpPr>
            <p:cNvPr name="Group 34" id="34"/>
            <p:cNvGrpSpPr/>
            <p:nvPr/>
          </p:nvGrpSpPr>
          <p:grpSpPr>
            <a:xfrm rot="0">
              <a:off x="12899802" y="7894320"/>
              <a:ext cx="9692640" cy="1188720"/>
              <a:chOff x="0" y="0"/>
              <a:chExt cx="9692640" cy="1188720"/>
            </a:xfrm>
          </p:grpSpPr>
          <p:sp>
            <p:nvSpPr>
              <p:cNvPr name="Freeform 35" id="35"/>
              <p:cNvSpPr/>
              <p:nvPr/>
            </p:nvSpPr>
            <p:spPr>
              <a:xfrm flipH="false" flipV="false" rot="0">
                <a:off x="0" y="0"/>
                <a:ext cx="9692640" cy="1188720"/>
              </a:xfrm>
              <a:custGeom>
                <a:avLst/>
                <a:gdLst/>
                <a:ahLst/>
                <a:cxnLst/>
                <a:rect r="r" b="b" t="t" l="l"/>
                <a:pathLst>
                  <a:path h="1188720" w="9692640">
                    <a:moveTo>
                      <a:pt x="0" y="0"/>
                    </a:moveTo>
                    <a:lnTo>
                      <a:pt x="9692640" y="0"/>
                    </a:lnTo>
                    <a:lnTo>
                      <a:pt x="9692640" y="1188720"/>
                    </a:lnTo>
                    <a:lnTo>
                      <a:pt x="0" y="1188720"/>
                    </a:lnTo>
                    <a:close/>
                  </a:path>
                </a:pathLst>
              </a:custGeom>
              <a:blipFill>
                <a:blip r:embed="rId3">
                  <a:alphaModFix amt="0"/>
                </a:blip>
                <a:stretch>
                  <a:fillRect l="0" t="-108878" r="0" b="-108878"/>
                </a:stretch>
              </a:blipFill>
            </p:spPr>
          </p:sp>
          <p:sp>
            <p:nvSpPr>
              <p:cNvPr name="TextBox 36" id="36"/>
              <p:cNvSpPr txBox="true"/>
              <p:nvPr/>
            </p:nvSpPr>
            <p:spPr>
              <a:xfrm>
                <a:off x="0" y="-47625"/>
                <a:ext cx="9692640" cy="1236345"/>
              </a:xfrm>
              <a:prstGeom prst="rect">
                <a:avLst/>
              </a:prstGeom>
            </p:spPr>
            <p:txBody>
              <a:bodyPr anchor="ctr" rtlCol="false" tIns="0" lIns="0" bIns="0" rIns="0"/>
              <a:lstStyle/>
              <a:p>
                <a:pPr algn="l">
                  <a:lnSpc>
                    <a:spcPts val="2794"/>
                  </a:lnSpc>
                </a:pPr>
                <a:r>
                  <a:rPr lang="en-US" sz="2025" b="true">
                    <a:solidFill>
                      <a:srgbClr val="387F7F"/>
                    </a:solidFill>
                    <a:latin typeface="Poppins Bold"/>
                    <a:ea typeface="Poppins Bold"/>
                    <a:cs typeface="Poppins Bold"/>
                    <a:sym typeface="Poppins Bold"/>
                  </a:rPr>
                  <a:t>Coming next:  </a:t>
                </a:r>
                <a:r>
                  <a:rPr lang="en-US" sz="2025">
                    <a:solidFill>
                      <a:srgbClr val="0A1A23"/>
                    </a:solidFill>
                    <a:latin typeface="Poppins"/>
                    <a:ea typeface="Poppins"/>
                    <a:cs typeface="Poppins"/>
                    <a:sym typeface="Poppins"/>
                  </a:rPr>
                  <a:t>you will import pandas, the library built specifically for tables of data.</a:t>
                </a:r>
              </a:p>
            </p:txBody>
          </p:sp>
        </p:grpSp>
        <p:grpSp>
          <p:nvGrpSpPr>
            <p:cNvPr name="Group 37" id="37"/>
            <p:cNvGrpSpPr/>
            <p:nvPr/>
          </p:nvGrpSpPr>
          <p:grpSpPr>
            <a:xfrm rot="0">
              <a:off x="0" y="13224218"/>
              <a:ext cx="24384000" cy="914400"/>
              <a:chOff x="0" y="0"/>
              <a:chExt cx="24384000" cy="914400"/>
            </a:xfrm>
          </p:grpSpPr>
          <p:sp>
            <p:nvSpPr>
              <p:cNvPr name="Freeform 38" id="38"/>
              <p:cNvSpPr/>
              <p:nvPr/>
            </p:nvSpPr>
            <p:spPr>
              <a:xfrm flipH="false" flipV="false" rot="0">
                <a:off x="0" y="0"/>
                <a:ext cx="24384000" cy="914400"/>
              </a:xfrm>
              <a:custGeom>
                <a:avLst/>
                <a:gdLst/>
                <a:ahLst/>
                <a:cxnLst/>
                <a:rect r="r" b="b" t="t" l="l"/>
                <a:pathLst>
                  <a:path h="914400" w="24384000">
                    <a:moveTo>
                      <a:pt x="0" y="109728"/>
                    </a:moveTo>
                    <a:cubicBezTo>
                      <a:pt x="0" y="49149"/>
                      <a:pt x="54025" y="0"/>
                      <a:pt x="120613" y="0"/>
                    </a:cubicBezTo>
                    <a:lnTo>
                      <a:pt x="24263386" y="0"/>
                    </a:lnTo>
                    <a:cubicBezTo>
                      <a:pt x="24329975" y="0"/>
                      <a:pt x="24384000" y="49149"/>
                      <a:pt x="24384000" y="109728"/>
                    </a:cubicBezTo>
                    <a:lnTo>
                      <a:pt x="24384000" y="804672"/>
                    </a:lnTo>
                    <a:cubicBezTo>
                      <a:pt x="24384000" y="865251"/>
                      <a:pt x="24329975" y="914400"/>
                      <a:pt x="24263386" y="914400"/>
                    </a:cubicBezTo>
                    <a:lnTo>
                      <a:pt x="120613" y="914400"/>
                    </a:lnTo>
                    <a:cubicBezTo>
                      <a:pt x="54025" y="914400"/>
                      <a:pt x="0" y="865251"/>
                      <a:pt x="0" y="804672"/>
                    </a:cubicBezTo>
                    <a:close/>
                  </a:path>
                </a:pathLst>
              </a:custGeom>
              <a:solidFill>
                <a:srgbClr val="EAF2F1"/>
              </a:solidFill>
            </p:spPr>
          </p:sp>
        </p:grpSp>
        <p:grpSp>
          <p:nvGrpSpPr>
            <p:cNvPr name="Group 39" id="39"/>
            <p:cNvGrpSpPr/>
            <p:nvPr/>
          </p:nvGrpSpPr>
          <p:grpSpPr>
            <a:xfrm rot="0">
              <a:off x="2086247" y="13346684"/>
              <a:ext cx="21174900" cy="669468"/>
              <a:chOff x="0" y="0"/>
              <a:chExt cx="21174900" cy="669468"/>
            </a:xfrm>
          </p:grpSpPr>
          <p:sp>
            <p:nvSpPr>
              <p:cNvPr name="Freeform 40" id="40"/>
              <p:cNvSpPr/>
              <p:nvPr/>
            </p:nvSpPr>
            <p:spPr>
              <a:xfrm flipH="false" flipV="false" rot="0">
                <a:off x="0" y="0"/>
                <a:ext cx="21174901" cy="669468"/>
              </a:xfrm>
              <a:custGeom>
                <a:avLst/>
                <a:gdLst/>
                <a:ahLst/>
                <a:cxnLst/>
                <a:rect r="r" b="b" t="t" l="l"/>
                <a:pathLst>
                  <a:path h="669468" w="21174901">
                    <a:moveTo>
                      <a:pt x="0" y="0"/>
                    </a:moveTo>
                    <a:lnTo>
                      <a:pt x="21174901" y="0"/>
                    </a:lnTo>
                    <a:lnTo>
                      <a:pt x="21174901" y="669468"/>
                    </a:lnTo>
                    <a:lnTo>
                      <a:pt x="0" y="669468"/>
                    </a:lnTo>
                    <a:close/>
                  </a:path>
                </a:pathLst>
              </a:custGeom>
              <a:blipFill>
                <a:blip r:embed="rId3">
                  <a:alphaModFix amt="0"/>
                </a:blip>
                <a:stretch>
                  <a:fillRect l="0" t="-572739" r="419" b="-554691"/>
                </a:stretch>
              </a:blipFill>
            </p:spPr>
          </p:sp>
          <p:sp>
            <p:nvSpPr>
              <p:cNvPr name="TextBox 41" id="41"/>
              <p:cNvSpPr txBox="true"/>
              <p:nvPr/>
            </p:nvSpPr>
            <p:spPr>
              <a:xfrm>
                <a:off x="0" y="-47625"/>
                <a:ext cx="21174900" cy="717093"/>
              </a:xfrm>
              <a:prstGeom prst="rect">
                <a:avLst/>
              </a:prstGeom>
            </p:spPr>
            <p:txBody>
              <a:bodyPr anchor="ctr" rtlCol="false" tIns="0" lIns="0" bIns="0" rIns="0"/>
              <a:lstStyle/>
              <a:p>
                <a:pPr algn="l">
                  <a:lnSpc>
                    <a:spcPts val="2794"/>
                  </a:lnSpc>
                </a:pPr>
                <a:r>
                  <a:rPr lang="en-US" sz="2025" i="true">
                    <a:solidFill>
                      <a:srgbClr val="0A1A23"/>
                    </a:solidFill>
                    <a:latin typeface="Poppins Italics"/>
                    <a:ea typeface="Poppins Italics"/>
                    <a:cs typeface="Poppins Italics"/>
                    <a:sym typeface="Poppins Italics"/>
                  </a:rPr>
                  <a:t>Excel parallel: importing a library is like turning on an add-in, the tools appear, but you still decide how to use them.</a:t>
                </a:r>
              </a:p>
            </p:txBody>
          </p:sp>
        </p:grpSp>
        <p:grpSp>
          <p:nvGrpSpPr>
            <p:cNvPr name="Group 42" id="42"/>
            <p:cNvGrpSpPr/>
            <p:nvPr/>
          </p:nvGrpSpPr>
          <p:grpSpPr>
            <a:xfrm rot="0">
              <a:off x="22048278" y="12503556"/>
              <a:ext cx="862965" cy="762000"/>
              <a:chOff x="0" y="0"/>
              <a:chExt cx="862965" cy="762000"/>
            </a:xfrm>
          </p:grpSpPr>
          <p:sp>
            <p:nvSpPr>
              <p:cNvPr name="Freeform 43" id="43"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4"/>
                <a:stretch>
                  <a:fillRect l="-772" t="0" r="-772" b="0"/>
                </a:stretch>
              </a:blipFill>
            </p:spPr>
          </p:sp>
        </p:grpSp>
      </p:grpSp>
      <p:sp>
        <p:nvSpPr>
          <p:cNvPr name="Freeform 44" id="44"/>
          <p:cNvSpPr/>
          <p:nvPr/>
        </p:nvSpPr>
        <p:spPr>
          <a:xfrm flipH="false" flipV="false" rot="0">
            <a:off x="16536657" y="2895038"/>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5" id="45"/>
          <p:cNvGrpSpPr/>
          <p:nvPr/>
        </p:nvGrpSpPr>
        <p:grpSpPr>
          <a:xfrm rot="0">
            <a:off x="857250" y="857250"/>
            <a:ext cx="114300" cy="1028700"/>
            <a:chOff x="0" y="0"/>
            <a:chExt cx="152400" cy="1371600"/>
          </a:xfrm>
        </p:grpSpPr>
        <p:sp>
          <p:nvSpPr>
            <p:cNvPr name="Freeform 46" id="46"/>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28766" y="795051"/>
            <a:ext cx="18230468" cy="10608280"/>
            <a:chOff x="0" y="0"/>
            <a:chExt cx="24307290" cy="14144373"/>
          </a:xfrm>
        </p:grpSpPr>
        <p:grpSp>
          <p:nvGrpSpPr>
            <p:cNvPr name="Group 5" id="5"/>
            <p:cNvGrpSpPr/>
            <p:nvPr/>
          </p:nvGrpSpPr>
          <p:grpSpPr>
            <a:xfrm rot="0">
              <a:off x="1087547" y="3743960"/>
              <a:ext cx="10698480" cy="2834640"/>
              <a:chOff x="0" y="0"/>
              <a:chExt cx="10698480" cy="2834640"/>
            </a:xfrm>
          </p:grpSpPr>
          <p:sp>
            <p:nvSpPr>
              <p:cNvPr name="Freeform 6" id="6"/>
              <p:cNvSpPr/>
              <p:nvPr/>
            </p:nvSpPr>
            <p:spPr>
              <a:xfrm flipH="false" flipV="false" rot="0">
                <a:off x="0" y="0"/>
                <a:ext cx="10698480" cy="2834640"/>
              </a:xfrm>
              <a:custGeom>
                <a:avLst/>
                <a:gdLst/>
                <a:ahLst/>
                <a:cxnLst/>
                <a:rect r="r" b="b" t="t" l="l"/>
                <a:pathLst>
                  <a:path h="2834640" w="10698480">
                    <a:moveTo>
                      <a:pt x="0" y="146304"/>
                    </a:moveTo>
                    <a:cubicBezTo>
                      <a:pt x="0" y="65532"/>
                      <a:pt x="65532" y="0"/>
                      <a:pt x="146304" y="0"/>
                    </a:cubicBezTo>
                    <a:lnTo>
                      <a:pt x="10552176" y="0"/>
                    </a:lnTo>
                    <a:cubicBezTo>
                      <a:pt x="10632948" y="0"/>
                      <a:pt x="10698480" y="65532"/>
                      <a:pt x="10698480" y="146304"/>
                    </a:cubicBezTo>
                    <a:lnTo>
                      <a:pt x="10698480" y="2688336"/>
                    </a:lnTo>
                    <a:cubicBezTo>
                      <a:pt x="10698480" y="2769108"/>
                      <a:pt x="10632948" y="2834640"/>
                      <a:pt x="10552176" y="2834640"/>
                    </a:cubicBezTo>
                    <a:lnTo>
                      <a:pt x="146304" y="2834640"/>
                    </a:lnTo>
                    <a:cubicBezTo>
                      <a:pt x="65532" y="2834640"/>
                      <a:pt x="0" y="2769108"/>
                      <a:pt x="0" y="2688336"/>
                    </a:cubicBezTo>
                    <a:close/>
                  </a:path>
                </a:pathLst>
              </a:custGeom>
              <a:solidFill>
                <a:srgbClr val="0A1A23"/>
              </a:solidFill>
            </p:spPr>
          </p:sp>
        </p:grpSp>
        <p:grpSp>
          <p:nvGrpSpPr>
            <p:cNvPr name="Group 7" id="7"/>
            <p:cNvGrpSpPr/>
            <p:nvPr/>
          </p:nvGrpSpPr>
          <p:grpSpPr>
            <a:xfrm rot="0">
              <a:off x="1489883" y="4109720"/>
              <a:ext cx="237744" cy="237744"/>
              <a:chOff x="0" y="0"/>
              <a:chExt cx="237744" cy="237744"/>
            </a:xfrm>
          </p:grpSpPr>
          <p:sp>
            <p:nvSpPr>
              <p:cNvPr name="Freeform 8" id="8"/>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74C3C"/>
              </a:solidFill>
            </p:spPr>
          </p:sp>
        </p:grpSp>
        <p:grpSp>
          <p:nvGrpSpPr>
            <p:cNvPr name="Group 9" id="9"/>
            <p:cNvGrpSpPr/>
            <p:nvPr/>
          </p:nvGrpSpPr>
          <p:grpSpPr>
            <a:xfrm rot="0">
              <a:off x="1928795" y="4109720"/>
              <a:ext cx="237744" cy="237744"/>
              <a:chOff x="0" y="0"/>
              <a:chExt cx="237744" cy="237744"/>
            </a:xfrm>
          </p:grpSpPr>
          <p:sp>
            <p:nvSpPr>
              <p:cNvPr name="Freeform 10" id="10"/>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8B93F"/>
              </a:solidFill>
            </p:spPr>
          </p:sp>
        </p:grpSp>
        <p:grpSp>
          <p:nvGrpSpPr>
            <p:cNvPr name="Group 11" id="11"/>
            <p:cNvGrpSpPr/>
            <p:nvPr/>
          </p:nvGrpSpPr>
          <p:grpSpPr>
            <a:xfrm rot="0">
              <a:off x="2367707" y="4109720"/>
              <a:ext cx="237744" cy="237744"/>
              <a:chOff x="0" y="0"/>
              <a:chExt cx="237744" cy="237744"/>
            </a:xfrm>
          </p:grpSpPr>
          <p:sp>
            <p:nvSpPr>
              <p:cNvPr name="Freeform 12" id="12"/>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3FA76B"/>
              </a:solidFill>
            </p:spPr>
          </p:sp>
        </p:grpSp>
        <p:sp>
          <p:nvSpPr>
            <p:cNvPr name="TextBox 13" id="13"/>
            <p:cNvSpPr txBox="true"/>
            <p:nvPr/>
          </p:nvSpPr>
          <p:spPr>
            <a:xfrm rot="0">
              <a:off x="1599611" y="4582160"/>
              <a:ext cx="9674352" cy="1860550"/>
            </a:xfrm>
            <a:prstGeom prst="rect">
              <a:avLst/>
            </a:prstGeom>
          </p:spPr>
          <p:txBody>
            <a:bodyPr anchor="t" rtlCol="false" tIns="0" lIns="0" bIns="0" rIns="0">
              <a:spAutoFit/>
            </a:bodyPr>
            <a:lstStyle/>
            <a:p>
              <a:pPr algn="l">
                <a:lnSpc>
                  <a:spcPts val="2812"/>
                </a:lnSpc>
              </a:pPr>
              <a:r>
                <a:rPr lang="en-US" sz="1875">
                  <a:solidFill>
                    <a:srgbClr val="E4F1EF"/>
                  </a:solidFill>
                  <a:latin typeface="Poppins"/>
                  <a:ea typeface="Poppins"/>
                  <a:cs typeface="Poppins"/>
                  <a:sym typeface="Poppins"/>
                </a:rPr>
                <a:t>def average_sale(sales_list):</a:t>
              </a:r>
            </a:p>
            <a:p>
              <a:pPr algn="l">
                <a:lnSpc>
                  <a:spcPts val="2812"/>
                </a:lnSpc>
              </a:pPr>
              <a:r>
                <a:rPr lang="en-US" sz="1875">
                  <a:solidFill>
                    <a:srgbClr val="E4F1EF"/>
                  </a:solidFill>
                  <a:latin typeface="Poppins"/>
                  <a:ea typeface="Poppins"/>
                  <a:cs typeface="Poppins"/>
                  <a:sym typeface="Poppins"/>
                </a:rPr>
                <a:t>    return statistics.mean(sales_list)</a:t>
              </a:r>
            </a:p>
            <a:p>
              <a:pPr algn="l">
                <a:lnSpc>
                  <a:spcPts val="2812"/>
                </a:lnSpc>
              </a:pPr>
            </a:p>
            <a:p>
              <a:pPr algn="l">
                <a:lnSpc>
                  <a:spcPts val="2812"/>
                </a:lnSpc>
              </a:pPr>
              <a:r>
                <a:rPr lang="en-US" sz="1875">
                  <a:solidFill>
                    <a:srgbClr val="E4F1EF"/>
                  </a:solidFill>
                  <a:latin typeface="Poppins"/>
                  <a:ea typeface="Poppins"/>
                  <a:cs typeface="Poppins"/>
                  <a:sym typeface="Poppins"/>
                </a:rPr>
                <a:t>average_sale(daily_sales)</a:t>
              </a:r>
            </a:p>
          </p:txBody>
        </p:sp>
        <p:grpSp>
          <p:nvGrpSpPr>
            <p:cNvPr name="Group 14" id="14"/>
            <p:cNvGrpSpPr/>
            <p:nvPr/>
          </p:nvGrpSpPr>
          <p:grpSpPr>
            <a:xfrm rot="0">
              <a:off x="1608755" y="0"/>
              <a:ext cx="17139244" cy="1661160"/>
              <a:chOff x="0" y="0"/>
              <a:chExt cx="17139244" cy="1661160"/>
            </a:xfrm>
          </p:grpSpPr>
          <p:sp>
            <p:nvSpPr>
              <p:cNvPr name="Freeform 15" id="15"/>
              <p:cNvSpPr/>
              <p:nvPr/>
            </p:nvSpPr>
            <p:spPr>
              <a:xfrm flipH="false" flipV="false" rot="0">
                <a:off x="0" y="0"/>
                <a:ext cx="17139244" cy="1661160"/>
              </a:xfrm>
              <a:custGeom>
                <a:avLst/>
                <a:gdLst/>
                <a:ahLst/>
                <a:cxnLst/>
                <a:rect r="r" b="b" t="t" l="l"/>
                <a:pathLst>
                  <a:path h="1661160" w="17139244">
                    <a:moveTo>
                      <a:pt x="0" y="0"/>
                    </a:moveTo>
                    <a:lnTo>
                      <a:pt x="17139244" y="0"/>
                    </a:lnTo>
                    <a:lnTo>
                      <a:pt x="17139244" y="1661160"/>
                    </a:lnTo>
                    <a:lnTo>
                      <a:pt x="0" y="1661160"/>
                    </a:lnTo>
                    <a:close/>
                  </a:path>
                </a:pathLst>
              </a:custGeom>
              <a:blipFill>
                <a:blip r:embed="rId3">
                  <a:alphaModFix amt="0"/>
                </a:blip>
                <a:stretch>
                  <a:fillRect l="0" t="-146557" r="9302" b="-118116"/>
                </a:stretch>
              </a:blipFill>
            </p:spPr>
          </p:sp>
          <p:sp>
            <p:nvSpPr>
              <p:cNvPr name="TextBox 16" id="16"/>
              <p:cNvSpPr txBox="true"/>
              <p:nvPr/>
            </p:nvSpPr>
            <p:spPr>
              <a:xfrm>
                <a:off x="0" y="-47625"/>
                <a:ext cx="17139244" cy="1708785"/>
              </a:xfrm>
              <a:prstGeom prst="rect">
                <a:avLst/>
              </a:prstGeom>
            </p:spPr>
            <p:txBody>
              <a:bodyPr anchor="ctr" rtlCol="false" tIns="0" lIns="0" bIns="0" rIns="0"/>
              <a:lstStyle/>
              <a:p>
                <a:pPr algn="l">
                  <a:lnSpc>
                    <a:spcPts val="6000"/>
                  </a:lnSpc>
                </a:pPr>
                <a:r>
                  <a:rPr lang="en-US" sz="5000">
                    <a:solidFill>
                      <a:srgbClr val="388080"/>
                    </a:solidFill>
                    <a:latin typeface="Poppins"/>
                    <a:ea typeface="Poppins"/>
                    <a:cs typeface="Poppins"/>
                    <a:sym typeface="Poppins"/>
                  </a:rPr>
                  <a:t>Calling Functions: Reusing a Calculation</a:t>
                </a:r>
              </a:p>
            </p:txBody>
          </p:sp>
        </p:grpSp>
        <p:grpSp>
          <p:nvGrpSpPr>
            <p:cNvPr name="Group 17" id="17"/>
            <p:cNvGrpSpPr/>
            <p:nvPr/>
          </p:nvGrpSpPr>
          <p:grpSpPr>
            <a:xfrm rot="0">
              <a:off x="982124" y="6681597"/>
              <a:ext cx="10730230" cy="1403350"/>
              <a:chOff x="0" y="0"/>
              <a:chExt cx="10730230" cy="1403350"/>
            </a:xfrm>
          </p:grpSpPr>
          <p:sp>
            <p:nvSpPr>
              <p:cNvPr name="Freeform 18" id="18"/>
              <p:cNvSpPr/>
              <p:nvPr/>
            </p:nvSpPr>
            <p:spPr>
              <a:xfrm flipH="false" flipV="false" rot="0">
                <a:off x="0" y="0"/>
                <a:ext cx="10730230" cy="1403350"/>
              </a:xfrm>
              <a:custGeom>
                <a:avLst/>
                <a:gdLst/>
                <a:ahLst/>
                <a:cxnLst/>
                <a:rect r="r" b="b" t="t" l="l"/>
                <a:pathLst>
                  <a:path h="1403350" w="10730230">
                    <a:moveTo>
                      <a:pt x="0" y="112268"/>
                    </a:moveTo>
                    <a:cubicBezTo>
                      <a:pt x="0" y="50292"/>
                      <a:pt x="50292" y="0"/>
                      <a:pt x="112268" y="0"/>
                    </a:cubicBezTo>
                    <a:lnTo>
                      <a:pt x="10617962" y="0"/>
                    </a:lnTo>
                    <a:cubicBezTo>
                      <a:pt x="10679938" y="0"/>
                      <a:pt x="10730230" y="50292"/>
                      <a:pt x="10730230" y="112268"/>
                    </a:cubicBezTo>
                    <a:lnTo>
                      <a:pt x="10730230" y="1291082"/>
                    </a:lnTo>
                    <a:cubicBezTo>
                      <a:pt x="10730230" y="1353058"/>
                      <a:pt x="10679938" y="1403350"/>
                      <a:pt x="10617962" y="1403350"/>
                    </a:cubicBezTo>
                    <a:lnTo>
                      <a:pt x="112268" y="1403350"/>
                    </a:lnTo>
                    <a:cubicBezTo>
                      <a:pt x="50292" y="1403350"/>
                      <a:pt x="0" y="1353058"/>
                      <a:pt x="0" y="1291082"/>
                    </a:cubicBezTo>
                    <a:close/>
                  </a:path>
                </a:pathLst>
              </a:custGeom>
              <a:solidFill>
                <a:srgbClr val="FFFFFF"/>
              </a:solidFill>
              <a:ln w="23812" cap="sq">
                <a:solidFill>
                  <a:srgbClr val="387F7F"/>
                </a:solidFill>
                <a:prstDash val="solid"/>
                <a:miter/>
              </a:ln>
            </p:spPr>
          </p:sp>
        </p:grpSp>
        <p:grpSp>
          <p:nvGrpSpPr>
            <p:cNvPr name="Group 19" id="19"/>
            <p:cNvGrpSpPr/>
            <p:nvPr/>
          </p:nvGrpSpPr>
          <p:grpSpPr>
            <a:xfrm rot="0">
              <a:off x="1400335" y="6916928"/>
              <a:ext cx="9966960" cy="498348"/>
              <a:chOff x="0" y="0"/>
              <a:chExt cx="9966960" cy="498348"/>
            </a:xfrm>
          </p:grpSpPr>
          <p:sp>
            <p:nvSpPr>
              <p:cNvPr name="Freeform 20" id="20"/>
              <p:cNvSpPr/>
              <p:nvPr/>
            </p:nvSpPr>
            <p:spPr>
              <a:xfrm flipH="false" flipV="false" rot="0">
                <a:off x="0" y="0"/>
                <a:ext cx="9966960" cy="498348"/>
              </a:xfrm>
              <a:custGeom>
                <a:avLst/>
                <a:gdLst/>
                <a:ahLst/>
                <a:cxnLst/>
                <a:rect r="r" b="b" t="t" l="l"/>
                <a:pathLst>
                  <a:path h="498348" w="9966960">
                    <a:moveTo>
                      <a:pt x="0" y="0"/>
                    </a:moveTo>
                    <a:lnTo>
                      <a:pt x="9966960" y="0"/>
                    </a:lnTo>
                    <a:lnTo>
                      <a:pt x="9966960" y="498348"/>
                    </a:lnTo>
                    <a:lnTo>
                      <a:pt x="0" y="498348"/>
                    </a:lnTo>
                    <a:close/>
                  </a:path>
                </a:pathLst>
              </a:custGeom>
              <a:blipFill>
                <a:blip r:embed="rId3">
                  <a:alphaModFix amt="0"/>
                </a:blip>
                <a:stretch>
                  <a:fillRect l="0" t="-345664" r="0" b="-333737"/>
                </a:stretch>
              </a:blipFill>
            </p:spPr>
          </p:sp>
          <p:sp>
            <p:nvSpPr>
              <p:cNvPr name="TextBox 21" id="21"/>
              <p:cNvSpPr txBox="true"/>
              <p:nvPr/>
            </p:nvSpPr>
            <p:spPr>
              <a:xfrm>
                <a:off x="0" y="-19050"/>
                <a:ext cx="9966960" cy="517398"/>
              </a:xfrm>
              <a:prstGeom prst="rect">
                <a:avLst/>
              </a:prstGeom>
            </p:spPr>
            <p:txBody>
              <a:bodyPr anchor="ctr" rtlCol="false" tIns="0" lIns="0" bIns="0" rIns="0"/>
              <a:lstStyle/>
              <a:p>
                <a:pPr algn="l">
                  <a:lnSpc>
                    <a:spcPts val="1800"/>
                  </a:lnSpc>
                </a:pPr>
                <a:r>
                  <a:rPr lang="en-US" b="true" sz="1500" spc="150">
                    <a:solidFill>
                      <a:srgbClr val="387F7F"/>
                    </a:solidFill>
                    <a:latin typeface="Poppins Bold"/>
                    <a:ea typeface="Poppins Bold"/>
                    <a:cs typeface="Poppins Bold"/>
                    <a:sym typeface="Poppins Bold"/>
                  </a:rPr>
                  <a:t>OUTPUT</a:t>
                </a:r>
              </a:p>
            </p:txBody>
          </p:sp>
        </p:grpSp>
        <p:sp>
          <p:nvSpPr>
            <p:cNvPr name="TextBox 22" id="22"/>
            <p:cNvSpPr txBox="true"/>
            <p:nvPr/>
          </p:nvSpPr>
          <p:spPr>
            <a:xfrm rot="0">
              <a:off x="1400335" y="7289165"/>
              <a:ext cx="9893808" cy="466979"/>
            </a:xfrm>
            <a:prstGeom prst="rect">
              <a:avLst/>
            </a:prstGeom>
          </p:spPr>
          <p:txBody>
            <a:bodyPr anchor="t" rtlCol="false" tIns="0" lIns="0" bIns="0" rIns="0">
              <a:spAutoFit/>
            </a:bodyPr>
            <a:lstStyle/>
            <a:p>
              <a:pPr algn="l">
                <a:lnSpc>
                  <a:spcPts val="2916"/>
                </a:lnSpc>
              </a:pPr>
              <a:r>
                <a:rPr lang="en-US" sz="2025">
                  <a:solidFill>
                    <a:srgbClr val="0A1A23"/>
                  </a:solidFill>
                  <a:latin typeface="Poppins"/>
                  <a:ea typeface="Poppins"/>
                  <a:cs typeface="Poppins"/>
                  <a:sym typeface="Poppins"/>
                </a:rPr>
                <a:t>15875.0</a:t>
              </a:r>
            </a:p>
          </p:txBody>
        </p:sp>
        <p:grpSp>
          <p:nvGrpSpPr>
            <p:cNvPr name="Group 23" id="23"/>
            <p:cNvGrpSpPr/>
            <p:nvPr/>
          </p:nvGrpSpPr>
          <p:grpSpPr>
            <a:xfrm rot="0">
              <a:off x="12427999" y="3954272"/>
              <a:ext cx="146304" cy="146304"/>
              <a:chOff x="0" y="0"/>
              <a:chExt cx="146304" cy="146304"/>
            </a:xfrm>
          </p:grpSpPr>
          <p:sp>
            <p:nvSpPr>
              <p:cNvPr name="Freeform 24" id="24"/>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25" id="25"/>
            <p:cNvSpPr txBox="true"/>
            <p:nvPr/>
          </p:nvSpPr>
          <p:spPr>
            <a:xfrm rot="0">
              <a:off x="12958351" y="3784854"/>
              <a:ext cx="10332720" cy="1016381"/>
            </a:xfrm>
            <a:prstGeom prst="rect">
              <a:avLst/>
            </a:prstGeom>
          </p:spPr>
          <p:txBody>
            <a:bodyPr anchor="t" rtlCol="false" tIns="0" lIns="0" bIns="0" rIns="0">
              <a:spAutoFit/>
            </a:bodyPr>
            <a:lstStyle/>
            <a:p>
              <a:pPr algn="l">
                <a:lnSpc>
                  <a:spcPts val="3001"/>
                </a:lnSpc>
              </a:pPr>
              <a:r>
                <a:rPr lang="en-US" sz="2175">
                  <a:solidFill>
                    <a:srgbClr val="0A1A23"/>
                  </a:solidFill>
                  <a:latin typeface="Poppins"/>
                  <a:ea typeface="Poppins"/>
                  <a:cs typeface="Poppins"/>
                  <a:sym typeface="Poppins"/>
                </a:rPr>
                <a:t>A function packages a calculation so you can reuse it without retyping it</a:t>
              </a:r>
            </a:p>
          </p:txBody>
        </p:sp>
        <p:grpSp>
          <p:nvGrpSpPr>
            <p:cNvPr name="Group 26" id="26"/>
            <p:cNvGrpSpPr/>
            <p:nvPr/>
          </p:nvGrpSpPr>
          <p:grpSpPr>
            <a:xfrm rot="0">
              <a:off x="12427999" y="5325872"/>
              <a:ext cx="146304" cy="146304"/>
              <a:chOff x="0" y="0"/>
              <a:chExt cx="146304" cy="146304"/>
            </a:xfrm>
          </p:grpSpPr>
          <p:sp>
            <p:nvSpPr>
              <p:cNvPr name="Freeform 27" id="27"/>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28" id="28"/>
            <p:cNvSpPr txBox="true"/>
            <p:nvPr/>
          </p:nvSpPr>
          <p:spPr>
            <a:xfrm rot="0">
              <a:off x="12958351" y="5094605"/>
              <a:ext cx="10332720" cy="1016381"/>
            </a:xfrm>
            <a:prstGeom prst="rect">
              <a:avLst/>
            </a:prstGeom>
          </p:spPr>
          <p:txBody>
            <a:bodyPr anchor="t" rtlCol="false" tIns="0" lIns="0" bIns="0" rIns="0">
              <a:spAutoFit/>
            </a:bodyPr>
            <a:lstStyle/>
            <a:p>
              <a:pPr algn="l">
                <a:lnSpc>
                  <a:spcPts val="3001"/>
                </a:lnSpc>
              </a:pPr>
              <a:r>
                <a:rPr lang="en-US" sz="2175">
                  <a:solidFill>
                    <a:srgbClr val="0A1A23"/>
                  </a:solidFill>
                  <a:latin typeface="Poppins"/>
                  <a:ea typeface="Poppins"/>
                  <a:cs typeface="Poppins"/>
                  <a:sym typeface="Poppins"/>
                </a:rPr>
                <a:t>Call it once per branch, once per month, on any list you give it</a:t>
              </a:r>
            </a:p>
          </p:txBody>
        </p:sp>
        <p:grpSp>
          <p:nvGrpSpPr>
            <p:cNvPr name="Group 29" id="29"/>
            <p:cNvGrpSpPr/>
            <p:nvPr/>
          </p:nvGrpSpPr>
          <p:grpSpPr>
            <a:xfrm rot="0">
              <a:off x="12427999" y="6697472"/>
              <a:ext cx="146304" cy="146304"/>
              <a:chOff x="0" y="0"/>
              <a:chExt cx="146304" cy="146304"/>
            </a:xfrm>
          </p:grpSpPr>
          <p:sp>
            <p:nvSpPr>
              <p:cNvPr name="Freeform 30" id="30"/>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31" id="31"/>
            <p:cNvSpPr txBox="true"/>
            <p:nvPr/>
          </p:nvSpPr>
          <p:spPr>
            <a:xfrm rot="0">
              <a:off x="13049689" y="6511925"/>
              <a:ext cx="10332720" cy="508381"/>
            </a:xfrm>
            <a:prstGeom prst="rect">
              <a:avLst/>
            </a:prstGeom>
          </p:spPr>
          <p:txBody>
            <a:bodyPr anchor="t" rtlCol="false" tIns="0" lIns="0" bIns="0" rIns="0">
              <a:spAutoFit/>
            </a:bodyPr>
            <a:lstStyle/>
            <a:p>
              <a:pPr algn="l">
                <a:lnSpc>
                  <a:spcPts val="3001"/>
                </a:lnSpc>
              </a:pPr>
              <a:r>
                <a:rPr lang="en-US" sz="2175">
                  <a:solidFill>
                    <a:srgbClr val="0A1A23"/>
                  </a:solidFill>
                  <a:latin typeface="Poppins"/>
                  <a:ea typeface="Poppins"/>
                  <a:cs typeface="Poppins"/>
                  <a:sym typeface="Poppins"/>
                </a:rPr>
                <a:t>def names the function; return sends the result back</a:t>
              </a:r>
            </a:p>
          </p:txBody>
        </p:sp>
        <p:grpSp>
          <p:nvGrpSpPr>
            <p:cNvPr name="Group 32" id="32"/>
            <p:cNvGrpSpPr/>
            <p:nvPr/>
          </p:nvGrpSpPr>
          <p:grpSpPr>
            <a:xfrm rot="0">
              <a:off x="12501151" y="8526272"/>
              <a:ext cx="10789920" cy="1554480"/>
              <a:chOff x="0" y="0"/>
              <a:chExt cx="10789920" cy="1554480"/>
            </a:xfrm>
          </p:grpSpPr>
          <p:sp>
            <p:nvSpPr>
              <p:cNvPr name="Freeform 33" id="33"/>
              <p:cNvSpPr/>
              <p:nvPr/>
            </p:nvSpPr>
            <p:spPr>
              <a:xfrm flipH="false" flipV="false" rot="0">
                <a:off x="0" y="0"/>
                <a:ext cx="10789920" cy="1554480"/>
              </a:xfrm>
              <a:custGeom>
                <a:avLst/>
                <a:gdLst/>
                <a:ahLst/>
                <a:cxnLst/>
                <a:rect r="r" b="b" t="t" l="l"/>
                <a:pathLst>
                  <a:path h="1554480" w="10789920">
                    <a:moveTo>
                      <a:pt x="0" y="109728"/>
                    </a:moveTo>
                    <a:cubicBezTo>
                      <a:pt x="0" y="49149"/>
                      <a:pt x="49149" y="0"/>
                      <a:pt x="109728" y="0"/>
                    </a:cubicBezTo>
                    <a:lnTo>
                      <a:pt x="10680192" y="0"/>
                    </a:lnTo>
                    <a:cubicBezTo>
                      <a:pt x="10740772" y="0"/>
                      <a:pt x="10789920" y="49149"/>
                      <a:pt x="10789920" y="109728"/>
                    </a:cubicBezTo>
                    <a:lnTo>
                      <a:pt x="10789920" y="1444752"/>
                    </a:lnTo>
                    <a:cubicBezTo>
                      <a:pt x="10789920" y="1505331"/>
                      <a:pt x="10740772" y="1554480"/>
                      <a:pt x="10680192" y="1554480"/>
                    </a:cubicBezTo>
                    <a:lnTo>
                      <a:pt x="109728" y="1554480"/>
                    </a:lnTo>
                    <a:cubicBezTo>
                      <a:pt x="49149" y="1554480"/>
                      <a:pt x="0" y="1505331"/>
                      <a:pt x="0" y="1444752"/>
                    </a:cubicBezTo>
                    <a:close/>
                  </a:path>
                </a:pathLst>
              </a:custGeom>
              <a:solidFill>
                <a:srgbClr val="EAF2F1"/>
              </a:solidFill>
            </p:spPr>
          </p:sp>
        </p:grpSp>
        <p:grpSp>
          <p:nvGrpSpPr>
            <p:cNvPr name="Group 34" id="34"/>
            <p:cNvGrpSpPr/>
            <p:nvPr/>
          </p:nvGrpSpPr>
          <p:grpSpPr>
            <a:xfrm rot="0">
              <a:off x="12976639" y="8526272"/>
              <a:ext cx="9692640" cy="1609268"/>
              <a:chOff x="0" y="0"/>
              <a:chExt cx="9692640" cy="1609268"/>
            </a:xfrm>
          </p:grpSpPr>
          <p:sp>
            <p:nvSpPr>
              <p:cNvPr name="Freeform 35" id="35"/>
              <p:cNvSpPr/>
              <p:nvPr/>
            </p:nvSpPr>
            <p:spPr>
              <a:xfrm flipH="false" flipV="false" rot="0">
                <a:off x="0" y="0"/>
                <a:ext cx="9692640" cy="1609268"/>
              </a:xfrm>
              <a:custGeom>
                <a:avLst/>
                <a:gdLst/>
                <a:ahLst/>
                <a:cxnLst/>
                <a:rect r="r" b="b" t="t" l="l"/>
                <a:pathLst>
                  <a:path h="1609268" w="9692640">
                    <a:moveTo>
                      <a:pt x="0" y="0"/>
                    </a:moveTo>
                    <a:lnTo>
                      <a:pt x="9692640" y="0"/>
                    </a:lnTo>
                    <a:lnTo>
                      <a:pt x="9692640" y="1609268"/>
                    </a:lnTo>
                    <a:lnTo>
                      <a:pt x="0" y="1609268"/>
                    </a:lnTo>
                    <a:close/>
                  </a:path>
                </a:pathLst>
              </a:custGeom>
              <a:blipFill>
                <a:blip r:embed="rId3">
                  <a:alphaModFix amt="0"/>
                </a:blip>
                <a:stretch>
                  <a:fillRect l="0" t="-80425" r="0" b="-54292"/>
                </a:stretch>
              </a:blipFill>
            </p:spPr>
          </p:sp>
          <p:sp>
            <p:nvSpPr>
              <p:cNvPr name="TextBox 36" id="36"/>
              <p:cNvSpPr txBox="true"/>
              <p:nvPr/>
            </p:nvSpPr>
            <p:spPr>
              <a:xfrm>
                <a:off x="0" y="-47625"/>
                <a:ext cx="9692640" cy="1656893"/>
              </a:xfrm>
              <a:prstGeom prst="rect">
                <a:avLst/>
              </a:prstGeom>
            </p:spPr>
            <p:txBody>
              <a:bodyPr anchor="ctr" rtlCol="false" tIns="0" lIns="0" bIns="0" rIns="0"/>
              <a:lstStyle/>
              <a:p>
                <a:pPr algn="l">
                  <a:lnSpc>
                    <a:spcPts val="2794"/>
                  </a:lnSpc>
                </a:pPr>
                <a:r>
                  <a:rPr lang="en-US" sz="2025" b="true">
                    <a:solidFill>
                      <a:srgbClr val="387F7F"/>
                    </a:solidFill>
                    <a:latin typeface="Poppins Bold"/>
                    <a:ea typeface="Poppins Bold"/>
                    <a:cs typeface="Poppins Bold"/>
                    <a:sym typeface="Poppins Bold"/>
                  </a:rPr>
                  <a:t>Excel parallel:  </a:t>
                </a:r>
                <a:r>
                  <a:rPr lang="en-US" sz="2025">
                    <a:solidFill>
                      <a:srgbClr val="0A1A23"/>
                    </a:solidFill>
                    <a:latin typeface="Poppins"/>
                    <a:ea typeface="Poppins"/>
                    <a:cs typeface="Poppins"/>
                    <a:sym typeface="Poppins"/>
                  </a:rPr>
                  <a:t>the same idea as naming a formula once, then referencing that name everywhere instead of rebuilding it in every cell.</a:t>
                </a:r>
              </a:p>
            </p:txBody>
          </p:sp>
        </p:grpSp>
        <p:grpSp>
          <p:nvGrpSpPr>
            <p:cNvPr name="Group 37" id="37"/>
            <p:cNvGrpSpPr/>
            <p:nvPr/>
          </p:nvGrpSpPr>
          <p:grpSpPr>
            <a:xfrm rot="0">
              <a:off x="0" y="13281152"/>
              <a:ext cx="24307290" cy="863221"/>
              <a:chOff x="0" y="0"/>
              <a:chExt cx="24307290" cy="863221"/>
            </a:xfrm>
          </p:grpSpPr>
          <p:sp>
            <p:nvSpPr>
              <p:cNvPr name="Freeform 38" id="38"/>
              <p:cNvSpPr/>
              <p:nvPr/>
            </p:nvSpPr>
            <p:spPr>
              <a:xfrm flipH="false" flipV="false" rot="0">
                <a:off x="0" y="0"/>
                <a:ext cx="24307290" cy="863221"/>
              </a:xfrm>
              <a:custGeom>
                <a:avLst/>
                <a:gdLst/>
                <a:ahLst/>
                <a:cxnLst/>
                <a:rect r="r" b="b" t="t" l="l"/>
                <a:pathLst>
                  <a:path h="863221" w="24307290">
                    <a:moveTo>
                      <a:pt x="0" y="103586"/>
                    </a:moveTo>
                    <a:cubicBezTo>
                      <a:pt x="0" y="46398"/>
                      <a:pt x="53855" y="0"/>
                      <a:pt x="120234" y="0"/>
                    </a:cubicBezTo>
                    <a:lnTo>
                      <a:pt x="24187055" y="0"/>
                    </a:lnTo>
                    <a:cubicBezTo>
                      <a:pt x="24253436" y="0"/>
                      <a:pt x="24307290" y="46398"/>
                      <a:pt x="24307290" y="103586"/>
                    </a:cubicBezTo>
                    <a:lnTo>
                      <a:pt x="24307290" y="759634"/>
                    </a:lnTo>
                    <a:cubicBezTo>
                      <a:pt x="24307290" y="816822"/>
                      <a:pt x="24253436" y="863221"/>
                      <a:pt x="24187055" y="863221"/>
                    </a:cubicBezTo>
                    <a:lnTo>
                      <a:pt x="120234" y="863221"/>
                    </a:lnTo>
                    <a:cubicBezTo>
                      <a:pt x="53855" y="863221"/>
                      <a:pt x="0" y="816822"/>
                      <a:pt x="0" y="759634"/>
                    </a:cubicBezTo>
                    <a:close/>
                  </a:path>
                </a:pathLst>
              </a:custGeom>
              <a:solidFill>
                <a:srgbClr val="EAF2F1"/>
              </a:solidFill>
            </p:spPr>
          </p:sp>
        </p:grpSp>
        <p:grpSp>
          <p:nvGrpSpPr>
            <p:cNvPr name="Group 39" id="39"/>
            <p:cNvGrpSpPr/>
            <p:nvPr/>
          </p:nvGrpSpPr>
          <p:grpSpPr>
            <a:xfrm rot="0">
              <a:off x="1572258" y="13429029"/>
              <a:ext cx="21086064" cy="669468"/>
              <a:chOff x="0" y="0"/>
              <a:chExt cx="21086064" cy="669468"/>
            </a:xfrm>
          </p:grpSpPr>
          <p:sp>
            <p:nvSpPr>
              <p:cNvPr name="Freeform 40" id="40"/>
              <p:cNvSpPr/>
              <p:nvPr/>
            </p:nvSpPr>
            <p:spPr>
              <a:xfrm flipH="false" flipV="false" rot="0">
                <a:off x="0" y="0"/>
                <a:ext cx="21086065" cy="669468"/>
              </a:xfrm>
              <a:custGeom>
                <a:avLst/>
                <a:gdLst/>
                <a:ahLst/>
                <a:cxnLst/>
                <a:rect r="r" b="b" t="t" l="l"/>
                <a:pathLst>
                  <a:path h="669468" w="21086065">
                    <a:moveTo>
                      <a:pt x="0" y="0"/>
                    </a:moveTo>
                    <a:lnTo>
                      <a:pt x="21086065" y="0"/>
                    </a:lnTo>
                    <a:lnTo>
                      <a:pt x="21086065" y="669468"/>
                    </a:lnTo>
                    <a:lnTo>
                      <a:pt x="0" y="669468"/>
                    </a:lnTo>
                    <a:close/>
                  </a:path>
                </a:pathLst>
              </a:custGeom>
              <a:blipFill>
                <a:blip r:embed="rId3">
                  <a:alphaModFix amt="0"/>
                </a:blip>
                <a:stretch>
                  <a:fillRect l="0" t="-572739" r="0" b="-554691"/>
                </a:stretch>
              </a:blipFill>
            </p:spPr>
          </p:sp>
          <p:sp>
            <p:nvSpPr>
              <p:cNvPr name="TextBox 41" id="41"/>
              <p:cNvSpPr txBox="true"/>
              <p:nvPr/>
            </p:nvSpPr>
            <p:spPr>
              <a:xfrm>
                <a:off x="0" y="-47625"/>
                <a:ext cx="21086064" cy="717093"/>
              </a:xfrm>
              <a:prstGeom prst="rect">
                <a:avLst/>
              </a:prstGeom>
            </p:spPr>
            <p:txBody>
              <a:bodyPr anchor="ctr" rtlCol="false" tIns="0" lIns="0" bIns="0" rIns="0"/>
              <a:lstStyle/>
              <a:p>
                <a:pPr algn="l">
                  <a:lnSpc>
                    <a:spcPts val="2794"/>
                  </a:lnSpc>
                </a:pPr>
                <a:r>
                  <a:rPr lang="en-US" sz="2025" i="true">
                    <a:solidFill>
                      <a:srgbClr val="0A1A23"/>
                    </a:solidFill>
                    <a:latin typeface="Poppins Italics"/>
                    <a:ea typeface="Poppins Italics"/>
                    <a:cs typeface="Poppins Italics"/>
                    <a:sym typeface="Poppins Italics"/>
                  </a:rPr>
                  <a:t>This clean, well-behaved function is about to meet real, messy data. That is next.</a:t>
                </a:r>
              </a:p>
            </p:txBody>
          </p:sp>
        </p:grpSp>
      </p:grpSp>
      <p:sp>
        <p:nvSpPr>
          <p:cNvPr name="Freeform 42" id="42"/>
          <p:cNvSpPr/>
          <p:nvPr/>
        </p:nvSpPr>
        <p:spPr>
          <a:xfrm flipH="false" flipV="false" rot="0">
            <a:off x="16536657" y="2895038"/>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3" id="43"/>
          <p:cNvGrpSpPr/>
          <p:nvPr/>
        </p:nvGrpSpPr>
        <p:grpSpPr>
          <a:xfrm rot="0">
            <a:off x="16536208" y="9060703"/>
            <a:ext cx="647224" cy="571500"/>
            <a:chOff x="0" y="0"/>
            <a:chExt cx="862965" cy="762000"/>
          </a:xfrm>
        </p:grpSpPr>
        <p:sp>
          <p:nvSpPr>
            <p:cNvPr name="Freeform 44" id="44"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nvGrpSpPr>
          <p:cNvPr name="Group 45" id="45"/>
          <p:cNvGrpSpPr/>
          <p:nvPr/>
        </p:nvGrpSpPr>
        <p:grpSpPr>
          <a:xfrm rot="0">
            <a:off x="857250" y="857250"/>
            <a:ext cx="114300" cy="1028700"/>
            <a:chOff x="0" y="0"/>
            <a:chExt cx="152400" cy="1371600"/>
          </a:xfrm>
        </p:grpSpPr>
        <p:sp>
          <p:nvSpPr>
            <p:cNvPr name="Freeform 46" id="46"/>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146668" y="730588"/>
            <a:ext cx="16017572" cy="9295308"/>
            <a:chOff x="0" y="0"/>
            <a:chExt cx="21356763" cy="12393744"/>
          </a:xfrm>
        </p:grpSpPr>
        <p:grpSp>
          <p:nvGrpSpPr>
            <p:cNvPr name="Group 5" id="5"/>
            <p:cNvGrpSpPr/>
            <p:nvPr/>
          </p:nvGrpSpPr>
          <p:grpSpPr>
            <a:xfrm rot="0">
              <a:off x="91440" y="0"/>
              <a:ext cx="15544800" cy="1661160"/>
              <a:chOff x="0" y="0"/>
              <a:chExt cx="15544800" cy="1661160"/>
            </a:xfrm>
          </p:grpSpPr>
          <p:sp>
            <p:nvSpPr>
              <p:cNvPr name="Freeform 6" id="6"/>
              <p:cNvSpPr/>
              <p:nvPr/>
            </p:nvSpPr>
            <p:spPr>
              <a:xfrm flipH="false" flipV="false" rot="0">
                <a:off x="0" y="0"/>
                <a:ext cx="15544800" cy="1661160"/>
              </a:xfrm>
              <a:custGeom>
                <a:avLst/>
                <a:gdLst/>
                <a:ahLst/>
                <a:cxnLst/>
                <a:rect r="r" b="b" t="t" l="l"/>
                <a:pathLst>
                  <a:path h="1661160" w="15544800">
                    <a:moveTo>
                      <a:pt x="0" y="0"/>
                    </a:moveTo>
                    <a:lnTo>
                      <a:pt x="15544800" y="0"/>
                    </a:lnTo>
                    <a:lnTo>
                      <a:pt x="15544800" y="1661160"/>
                    </a:lnTo>
                    <a:lnTo>
                      <a:pt x="0" y="1661160"/>
                    </a:lnTo>
                    <a:close/>
                  </a:path>
                </a:pathLst>
              </a:custGeom>
              <a:blipFill>
                <a:blip r:embed="rId3">
                  <a:alphaModFix amt="0"/>
                </a:blip>
                <a:stretch>
                  <a:fillRect l="0" t="-146557" r="0" b="-118116"/>
                </a:stretch>
              </a:blipFill>
            </p:spPr>
          </p:sp>
          <p:sp>
            <p:nvSpPr>
              <p:cNvPr name="TextBox 7" id="7"/>
              <p:cNvSpPr txBox="true"/>
              <p:nvPr/>
            </p:nvSpPr>
            <p:spPr>
              <a:xfrm>
                <a:off x="0" y="-47625"/>
                <a:ext cx="15544800" cy="1708785"/>
              </a:xfrm>
              <a:prstGeom prst="rect">
                <a:avLst/>
              </a:prstGeom>
            </p:spPr>
            <p:txBody>
              <a:bodyPr anchor="ctr" rtlCol="false" tIns="0" lIns="0" bIns="0" rIns="0"/>
              <a:lstStyle/>
              <a:p>
                <a:pPr algn="l">
                  <a:lnSpc>
                    <a:spcPts val="6000"/>
                  </a:lnSpc>
                </a:pPr>
                <a:r>
                  <a:rPr lang="en-US" sz="5000">
                    <a:solidFill>
                      <a:srgbClr val="388080"/>
                    </a:solidFill>
                    <a:latin typeface="Poppins"/>
                    <a:ea typeface="Poppins"/>
                    <a:cs typeface="Poppins"/>
                    <a:sym typeface="Poppins"/>
                  </a:rPr>
                  <a:t>Reading Python Error Messages</a:t>
                </a:r>
              </a:p>
            </p:txBody>
          </p:sp>
        </p:grpSp>
        <p:grpSp>
          <p:nvGrpSpPr>
            <p:cNvPr name="Group 8" id="8"/>
            <p:cNvGrpSpPr/>
            <p:nvPr/>
          </p:nvGrpSpPr>
          <p:grpSpPr>
            <a:xfrm rot="0">
              <a:off x="0" y="2403734"/>
              <a:ext cx="3474720" cy="768096"/>
              <a:chOff x="0" y="0"/>
              <a:chExt cx="3474720" cy="768096"/>
            </a:xfrm>
          </p:grpSpPr>
          <p:sp>
            <p:nvSpPr>
              <p:cNvPr name="Freeform 9" id="9"/>
              <p:cNvSpPr/>
              <p:nvPr/>
            </p:nvSpPr>
            <p:spPr>
              <a:xfrm flipH="false" flipV="false" rot="0">
                <a:off x="0" y="0"/>
                <a:ext cx="3474720" cy="768096"/>
              </a:xfrm>
              <a:custGeom>
                <a:avLst/>
                <a:gdLst/>
                <a:ahLst/>
                <a:cxnLst/>
                <a:rect r="r" b="b" t="t" l="l"/>
                <a:pathLst>
                  <a:path h="768096" w="3474720">
                    <a:moveTo>
                      <a:pt x="0" y="384048"/>
                    </a:moveTo>
                    <a:cubicBezTo>
                      <a:pt x="0" y="171958"/>
                      <a:pt x="171958" y="0"/>
                      <a:pt x="384048" y="0"/>
                    </a:cubicBezTo>
                    <a:lnTo>
                      <a:pt x="3090672" y="0"/>
                    </a:lnTo>
                    <a:cubicBezTo>
                      <a:pt x="3302762" y="0"/>
                      <a:pt x="3474720" y="171958"/>
                      <a:pt x="3474720" y="384048"/>
                    </a:cubicBezTo>
                    <a:cubicBezTo>
                      <a:pt x="3474720" y="596138"/>
                      <a:pt x="3302762" y="768096"/>
                      <a:pt x="3090672" y="768096"/>
                    </a:cubicBezTo>
                    <a:lnTo>
                      <a:pt x="384048" y="768096"/>
                    </a:lnTo>
                    <a:cubicBezTo>
                      <a:pt x="171958" y="768096"/>
                      <a:pt x="0" y="596138"/>
                      <a:pt x="0" y="384048"/>
                    </a:cubicBezTo>
                    <a:close/>
                  </a:path>
                </a:pathLst>
              </a:custGeom>
              <a:solidFill>
                <a:srgbClr val="387F7F"/>
              </a:solidFill>
            </p:spPr>
          </p:sp>
        </p:grpSp>
        <p:grpSp>
          <p:nvGrpSpPr>
            <p:cNvPr name="Group 10" id="10"/>
            <p:cNvGrpSpPr/>
            <p:nvPr/>
          </p:nvGrpSpPr>
          <p:grpSpPr>
            <a:xfrm rot="0">
              <a:off x="0" y="2403734"/>
              <a:ext cx="3474720" cy="768096"/>
              <a:chOff x="0" y="0"/>
              <a:chExt cx="3474720" cy="768096"/>
            </a:xfrm>
          </p:grpSpPr>
          <p:sp>
            <p:nvSpPr>
              <p:cNvPr name="Freeform 11" id="11"/>
              <p:cNvSpPr/>
              <p:nvPr/>
            </p:nvSpPr>
            <p:spPr>
              <a:xfrm flipH="false" flipV="false" rot="0">
                <a:off x="0" y="0"/>
                <a:ext cx="3474720" cy="768096"/>
              </a:xfrm>
              <a:custGeom>
                <a:avLst/>
                <a:gdLst/>
                <a:ahLst/>
                <a:cxnLst/>
                <a:rect r="r" b="b" t="t" l="l"/>
                <a:pathLst>
                  <a:path h="768096" w="3474720">
                    <a:moveTo>
                      <a:pt x="0" y="0"/>
                    </a:moveTo>
                    <a:lnTo>
                      <a:pt x="3474720" y="0"/>
                    </a:lnTo>
                    <a:lnTo>
                      <a:pt x="3474720" y="768096"/>
                    </a:lnTo>
                    <a:lnTo>
                      <a:pt x="0" y="768096"/>
                    </a:lnTo>
                    <a:close/>
                  </a:path>
                </a:pathLst>
              </a:custGeom>
              <a:blipFill>
                <a:blip r:embed="rId3">
                  <a:alphaModFix amt="0"/>
                </a:blip>
                <a:stretch>
                  <a:fillRect l="0" t="-38146" r="0" b="-38146"/>
                </a:stretch>
              </a:blipFill>
            </p:spPr>
          </p:sp>
          <p:sp>
            <p:nvSpPr>
              <p:cNvPr name="TextBox 12" id="12"/>
              <p:cNvSpPr txBox="true"/>
              <p:nvPr/>
            </p:nvSpPr>
            <p:spPr>
              <a:xfrm>
                <a:off x="0" y="-19050"/>
                <a:ext cx="3474720" cy="787146"/>
              </a:xfrm>
              <a:prstGeom prst="rect">
                <a:avLst/>
              </a:prstGeom>
            </p:spPr>
            <p:txBody>
              <a:bodyPr anchor="ctr" rtlCol="false" tIns="0" lIns="0" bIns="0" rIns="0"/>
              <a:lstStyle/>
              <a:p>
                <a:pPr algn="ctr">
                  <a:lnSpc>
                    <a:spcPts val="2340"/>
                  </a:lnSpc>
                </a:pPr>
                <a:r>
                  <a:rPr lang="en-US" sz="1950" b="true">
                    <a:solidFill>
                      <a:srgbClr val="FFFFFF"/>
                    </a:solidFill>
                    <a:latin typeface="Poppins Bold"/>
                    <a:ea typeface="Poppins Bold"/>
                    <a:cs typeface="Poppins Bold"/>
                    <a:sym typeface="Poppins Bold"/>
                  </a:rPr>
                  <a:t>NameError</a:t>
                </a:r>
              </a:p>
            </p:txBody>
          </p:sp>
        </p:grpSp>
        <p:grpSp>
          <p:nvGrpSpPr>
            <p:cNvPr name="Group 13" id="13"/>
            <p:cNvGrpSpPr/>
            <p:nvPr/>
          </p:nvGrpSpPr>
          <p:grpSpPr>
            <a:xfrm rot="0">
              <a:off x="3931920" y="2294006"/>
              <a:ext cx="17373600" cy="987552"/>
              <a:chOff x="0" y="0"/>
              <a:chExt cx="17373600" cy="987552"/>
            </a:xfrm>
          </p:grpSpPr>
          <p:sp>
            <p:nvSpPr>
              <p:cNvPr name="Freeform 14" id="14"/>
              <p:cNvSpPr/>
              <p:nvPr/>
            </p:nvSpPr>
            <p:spPr>
              <a:xfrm flipH="false" flipV="false" rot="0">
                <a:off x="0" y="0"/>
                <a:ext cx="17373600" cy="987552"/>
              </a:xfrm>
              <a:custGeom>
                <a:avLst/>
                <a:gdLst/>
                <a:ahLst/>
                <a:cxnLst/>
                <a:rect r="r" b="b" t="t" l="l"/>
                <a:pathLst>
                  <a:path h="987552" w="17373600">
                    <a:moveTo>
                      <a:pt x="0" y="0"/>
                    </a:moveTo>
                    <a:lnTo>
                      <a:pt x="17373600" y="0"/>
                    </a:lnTo>
                    <a:lnTo>
                      <a:pt x="17373600" y="987552"/>
                    </a:lnTo>
                    <a:lnTo>
                      <a:pt x="0" y="987552"/>
                    </a:lnTo>
                    <a:close/>
                  </a:path>
                </a:pathLst>
              </a:custGeom>
              <a:blipFill>
                <a:blip r:embed="rId3">
                  <a:alphaModFix amt="0"/>
                </a:blip>
                <a:stretch>
                  <a:fillRect l="0" t="-292792" r="0" b="-292792"/>
                </a:stretch>
              </a:blipFill>
            </p:spPr>
          </p:sp>
          <p:sp>
            <p:nvSpPr>
              <p:cNvPr name="TextBox 15" id="15"/>
              <p:cNvSpPr txBox="true"/>
              <p:nvPr/>
            </p:nvSpPr>
            <p:spPr>
              <a:xfrm>
                <a:off x="0" y="-19050"/>
                <a:ext cx="17373600" cy="1006602"/>
              </a:xfrm>
              <a:prstGeom prst="rect">
                <a:avLst/>
              </a:prstGeom>
            </p:spPr>
            <p:txBody>
              <a:bodyPr anchor="ctr" rtlCol="false" tIns="0" lIns="0" bIns="0" rIns="0"/>
              <a:lstStyle/>
              <a:p>
                <a:pPr algn="l">
                  <a:lnSpc>
                    <a:spcPts val="2520"/>
                  </a:lnSpc>
                </a:pPr>
                <a:r>
                  <a:rPr lang="en-US" sz="2100">
                    <a:solidFill>
                      <a:srgbClr val="0A1A23"/>
                    </a:solidFill>
                    <a:latin typeface="Poppins"/>
                    <a:ea typeface="Poppins"/>
                    <a:cs typeface="Poppins"/>
                    <a:sym typeface="Poppins"/>
                  </a:rPr>
                  <a:t>A variable or function name was never defined. Check the spelling.</a:t>
                </a:r>
              </a:p>
            </p:txBody>
          </p:sp>
        </p:grpSp>
        <p:grpSp>
          <p:nvGrpSpPr>
            <p:cNvPr name="Group 16" id="16"/>
            <p:cNvGrpSpPr/>
            <p:nvPr/>
          </p:nvGrpSpPr>
          <p:grpSpPr>
            <a:xfrm rot="0">
              <a:off x="0" y="3537590"/>
              <a:ext cx="3474720" cy="768096"/>
              <a:chOff x="0" y="0"/>
              <a:chExt cx="3474720" cy="768096"/>
            </a:xfrm>
          </p:grpSpPr>
          <p:sp>
            <p:nvSpPr>
              <p:cNvPr name="Freeform 17" id="17"/>
              <p:cNvSpPr/>
              <p:nvPr/>
            </p:nvSpPr>
            <p:spPr>
              <a:xfrm flipH="false" flipV="false" rot="0">
                <a:off x="0" y="0"/>
                <a:ext cx="3474720" cy="768096"/>
              </a:xfrm>
              <a:custGeom>
                <a:avLst/>
                <a:gdLst/>
                <a:ahLst/>
                <a:cxnLst/>
                <a:rect r="r" b="b" t="t" l="l"/>
                <a:pathLst>
                  <a:path h="768096" w="3474720">
                    <a:moveTo>
                      <a:pt x="0" y="384048"/>
                    </a:moveTo>
                    <a:cubicBezTo>
                      <a:pt x="0" y="171958"/>
                      <a:pt x="171958" y="0"/>
                      <a:pt x="384048" y="0"/>
                    </a:cubicBezTo>
                    <a:lnTo>
                      <a:pt x="3090672" y="0"/>
                    </a:lnTo>
                    <a:cubicBezTo>
                      <a:pt x="3302762" y="0"/>
                      <a:pt x="3474720" y="171958"/>
                      <a:pt x="3474720" y="384048"/>
                    </a:cubicBezTo>
                    <a:cubicBezTo>
                      <a:pt x="3474720" y="596138"/>
                      <a:pt x="3302762" y="768096"/>
                      <a:pt x="3090672" y="768096"/>
                    </a:cubicBezTo>
                    <a:lnTo>
                      <a:pt x="384048" y="768096"/>
                    </a:lnTo>
                    <a:cubicBezTo>
                      <a:pt x="171958" y="768096"/>
                      <a:pt x="0" y="596138"/>
                      <a:pt x="0" y="384048"/>
                    </a:cubicBezTo>
                    <a:close/>
                  </a:path>
                </a:pathLst>
              </a:custGeom>
              <a:solidFill>
                <a:srgbClr val="387F7F"/>
              </a:solidFill>
            </p:spPr>
          </p:sp>
        </p:grpSp>
        <p:grpSp>
          <p:nvGrpSpPr>
            <p:cNvPr name="Group 18" id="18"/>
            <p:cNvGrpSpPr/>
            <p:nvPr/>
          </p:nvGrpSpPr>
          <p:grpSpPr>
            <a:xfrm rot="0">
              <a:off x="0" y="3537590"/>
              <a:ext cx="3474720" cy="768096"/>
              <a:chOff x="0" y="0"/>
              <a:chExt cx="3474720" cy="768096"/>
            </a:xfrm>
          </p:grpSpPr>
          <p:sp>
            <p:nvSpPr>
              <p:cNvPr name="Freeform 19" id="19"/>
              <p:cNvSpPr/>
              <p:nvPr/>
            </p:nvSpPr>
            <p:spPr>
              <a:xfrm flipH="false" flipV="false" rot="0">
                <a:off x="0" y="0"/>
                <a:ext cx="3474720" cy="768096"/>
              </a:xfrm>
              <a:custGeom>
                <a:avLst/>
                <a:gdLst/>
                <a:ahLst/>
                <a:cxnLst/>
                <a:rect r="r" b="b" t="t" l="l"/>
                <a:pathLst>
                  <a:path h="768096" w="3474720">
                    <a:moveTo>
                      <a:pt x="0" y="0"/>
                    </a:moveTo>
                    <a:lnTo>
                      <a:pt x="3474720" y="0"/>
                    </a:lnTo>
                    <a:lnTo>
                      <a:pt x="3474720" y="768096"/>
                    </a:lnTo>
                    <a:lnTo>
                      <a:pt x="0" y="768096"/>
                    </a:lnTo>
                    <a:close/>
                  </a:path>
                </a:pathLst>
              </a:custGeom>
              <a:blipFill>
                <a:blip r:embed="rId3">
                  <a:alphaModFix amt="0"/>
                </a:blip>
                <a:stretch>
                  <a:fillRect l="0" t="-38146" r="0" b="-38146"/>
                </a:stretch>
              </a:blipFill>
            </p:spPr>
          </p:sp>
          <p:sp>
            <p:nvSpPr>
              <p:cNvPr name="TextBox 20" id="20"/>
              <p:cNvSpPr txBox="true"/>
              <p:nvPr/>
            </p:nvSpPr>
            <p:spPr>
              <a:xfrm>
                <a:off x="0" y="-19050"/>
                <a:ext cx="3474720" cy="787146"/>
              </a:xfrm>
              <a:prstGeom prst="rect">
                <a:avLst/>
              </a:prstGeom>
            </p:spPr>
            <p:txBody>
              <a:bodyPr anchor="ctr" rtlCol="false" tIns="0" lIns="0" bIns="0" rIns="0"/>
              <a:lstStyle/>
              <a:p>
                <a:pPr algn="ctr">
                  <a:lnSpc>
                    <a:spcPts val="2340"/>
                  </a:lnSpc>
                </a:pPr>
                <a:r>
                  <a:rPr lang="en-US" sz="1950" b="true">
                    <a:solidFill>
                      <a:srgbClr val="FFFFFF"/>
                    </a:solidFill>
                    <a:latin typeface="Poppins Bold"/>
                    <a:ea typeface="Poppins Bold"/>
                    <a:cs typeface="Poppins Bold"/>
                    <a:sym typeface="Poppins Bold"/>
                  </a:rPr>
                  <a:t>TypeError</a:t>
                </a:r>
              </a:p>
            </p:txBody>
          </p:sp>
        </p:grpSp>
        <p:grpSp>
          <p:nvGrpSpPr>
            <p:cNvPr name="Group 21" id="21"/>
            <p:cNvGrpSpPr/>
            <p:nvPr/>
          </p:nvGrpSpPr>
          <p:grpSpPr>
            <a:xfrm rot="0">
              <a:off x="3931920" y="3427862"/>
              <a:ext cx="17373600" cy="987552"/>
              <a:chOff x="0" y="0"/>
              <a:chExt cx="17373600" cy="987552"/>
            </a:xfrm>
          </p:grpSpPr>
          <p:sp>
            <p:nvSpPr>
              <p:cNvPr name="Freeform 22" id="22"/>
              <p:cNvSpPr/>
              <p:nvPr/>
            </p:nvSpPr>
            <p:spPr>
              <a:xfrm flipH="false" flipV="false" rot="0">
                <a:off x="0" y="0"/>
                <a:ext cx="17373600" cy="987552"/>
              </a:xfrm>
              <a:custGeom>
                <a:avLst/>
                <a:gdLst/>
                <a:ahLst/>
                <a:cxnLst/>
                <a:rect r="r" b="b" t="t" l="l"/>
                <a:pathLst>
                  <a:path h="987552" w="17373600">
                    <a:moveTo>
                      <a:pt x="0" y="0"/>
                    </a:moveTo>
                    <a:lnTo>
                      <a:pt x="17373600" y="0"/>
                    </a:lnTo>
                    <a:lnTo>
                      <a:pt x="17373600" y="987552"/>
                    </a:lnTo>
                    <a:lnTo>
                      <a:pt x="0" y="987552"/>
                    </a:lnTo>
                    <a:close/>
                  </a:path>
                </a:pathLst>
              </a:custGeom>
              <a:blipFill>
                <a:blip r:embed="rId3">
                  <a:alphaModFix amt="0"/>
                </a:blip>
                <a:stretch>
                  <a:fillRect l="0" t="-292792" r="0" b="-292792"/>
                </a:stretch>
              </a:blipFill>
            </p:spPr>
          </p:sp>
          <p:sp>
            <p:nvSpPr>
              <p:cNvPr name="TextBox 23" id="23"/>
              <p:cNvSpPr txBox="true"/>
              <p:nvPr/>
            </p:nvSpPr>
            <p:spPr>
              <a:xfrm>
                <a:off x="0" y="-19050"/>
                <a:ext cx="17373600" cy="1006602"/>
              </a:xfrm>
              <a:prstGeom prst="rect">
                <a:avLst/>
              </a:prstGeom>
            </p:spPr>
            <p:txBody>
              <a:bodyPr anchor="ctr" rtlCol="false" tIns="0" lIns="0" bIns="0" rIns="0"/>
              <a:lstStyle/>
              <a:p>
                <a:pPr algn="l">
                  <a:lnSpc>
                    <a:spcPts val="2520"/>
                  </a:lnSpc>
                </a:pPr>
                <a:r>
                  <a:rPr lang="en-US" sz="2100">
                    <a:solidFill>
                      <a:srgbClr val="0A1A23"/>
                    </a:solidFill>
                    <a:latin typeface="Poppins"/>
                    <a:ea typeface="Poppins"/>
                    <a:cs typeface="Poppins"/>
                    <a:sym typeface="Poppins"/>
                  </a:rPr>
                  <a:t>Two incompatible types were mixed, e.g. text and a number.</a:t>
                </a:r>
              </a:p>
            </p:txBody>
          </p:sp>
        </p:grpSp>
        <p:grpSp>
          <p:nvGrpSpPr>
            <p:cNvPr name="Group 24" id="24"/>
            <p:cNvGrpSpPr/>
            <p:nvPr/>
          </p:nvGrpSpPr>
          <p:grpSpPr>
            <a:xfrm rot="0">
              <a:off x="0" y="4671446"/>
              <a:ext cx="3474720" cy="768096"/>
              <a:chOff x="0" y="0"/>
              <a:chExt cx="3474720" cy="768096"/>
            </a:xfrm>
          </p:grpSpPr>
          <p:sp>
            <p:nvSpPr>
              <p:cNvPr name="Freeform 25" id="25"/>
              <p:cNvSpPr/>
              <p:nvPr/>
            </p:nvSpPr>
            <p:spPr>
              <a:xfrm flipH="false" flipV="false" rot="0">
                <a:off x="0" y="0"/>
                <a:ext cx="3474720" cy="768096"/>
              </a:xfrm>
              <a:custGeom>
                <a:avLst/>
                <a:gdLst/>
                <a:ahLst/>
                <a:cxnLst/>
                <a:rect r="r" b="b" t="t" l="l"/>
                <a:pathLst>
                  <a:path h="768096" w="3474720">
                    <a:moveTo>
                      <a:pt x="0" y="384048"/>
                    </a:moveTo>
                    <a:cubicBezTo>
                      <a:pt x="0" y="171958"/>
                      <a:pt x="171958" y="0"/>
                      <a:pt x="384048" y="0"/>
                    </a:cubicBezTo>
                    <a:lnTo>
                      <a:pt x="3090672" y="0"/>
                    </a:lnTo>
                    <a:cubicBezTo>
                      <a:pt x="3302762" y="0"/>
                      <a:pt x="3474720" y="171958"/>
                      <a:pt x="3474720" y="384048"/>
                    </a:cubicBezTo>
                    <a:cubicBezTo>
                      <a:pt x="3474720" y="596138"/>
                      <a:pt x="3302762" y="768096"/>
                      <a:pt x="3090672" y="768096"/>
                    </a:cubicBezTo>
                    <a:lnTo>
                      <a:pt x="384048" y="768096"/>
                    </a:lnTo>
                    <a:cubicBezTo>
                      <a:pt x="171958" y="768096"/>
                      <a:pt x="0" y="596138"/>
                      <a:pt x="0" y="384048"/>
                    </a:cubicBezTo>
                    <a:close/>
                  </a:path>
                </a:pathLst>
              </a:custGeom>
              <a:solidFill>
                <a:srgbClr val="387F7F"/>
              </a:solidFill>
            </p:spPr>
          </p:sp>
        </p:grpSp>
        <p:grpSp>
          <p:nvGrpSpPr>
            <p:cNvPr name="Group 26" id="26"/>
            <p:cNvGrpSpPr/>
            <p:nvPr/>
          </p:nvGrpSpPr>
          <p:grpSpPr>
            <a:xfrm rot="0">
              <a:off x="0" y="4671446"/>
              <a:ext cx="3474720" cy="768096"/>
              <a:chOff x="0" y="0"/>
              <a:chExt cx="3474720" cy="768096"/>
            </a:xfrm>
          </p:grpSpPr>
          <p:sp>
            <p:nvSpPr>
              <p:cNvPr name="Freeform 27" id="27"/>
              <p:cNvSpPr/>
              <p:nvPr/>
            </p:nvSpPr>
            <p:spPr>
              <a:xfrm flipH="false" flipV="false" rot="0">
                <a:off x="0" y="0"/>
                <a:ext cx="3474720" cy="768096"/>
              </a:xfrm>
              <a:custGeom>
                <a:avLst/>
                <a:gdLst/>
                <a:ahLst/>
                <a:cxnLst/>
                <a:rect r="r" b="b" t="t" l="l"/>
                <a:pathLst>
                  <a:path h="768096" w="3474720">
                    <a:moveTo>
                      <a:pt x="0" y="0"/>
                    </a:moveTo>
                    <a:lnTo>
                      <a:pt x="3474720" y="0"/>
                    </a:lnTo>
                    <a:lnTo>
                      <a:pt x="3474720" y="768096"/>
                    </a:lnTo>
                    <a:lnTo>
                      <a:pt x="0" y="768096"/>
                    </a:lnTo>
                    <a:close/>
                  </a:path>
                </a:pathLst>
              </a:custGeom>
              <a:blipFill>
                <a:blip r:embed="rId3">
                  <a:alphaModFix amt="0"/>
                </a:blip>
                <a:stretch>
                  <a:fillRect l="0" t="-38146" r="0" b="-38146"/>
                </a:stretch>
              </a:blipFill>
            </p:spPr>
          </p:sp>
          <p:sp>
            <p:nvSpPr>
              <p:cNvPr name="TextBox 28" id="28"/>
              <p:cNvSpPr txBox="true"/>
              <p:nvPr/>
            </p:nvSpPr>
            <p:spPr>
              <a:xfrm>
                <a:off x="0" y="-19050"/>
                <a:ext cx="3474720" cy="787146"/>
              </a:xfrm>
              <a:prstGeom prst="rect">
                <a:avLst/>
              </a:prstGeom>
            </p:spPr>
            <p:txBody>
              <a:bodyPr anchor="ctr" rtlCol="false" tIns="0" lIns="0" bIns="0" rIns="0"/>
              <a:lstStyle/>
              <a:p>
                <a:pPr algn="ctr">
                  <a:lnSpc>
                    <a:spcPts val="2340"/>
                  </a:lnSpc>
                </a:pPr>
                <a:r>
                  <a:rPr lang="en-US" sz="1950" b="true">
                    <a:solidFill>
                      <a:srgbClr val="FFFFFF"/>
                    </a:solidFill>
                    <a:latin typeface="Poppins Bold"/>
                    <a:ea typeface="Poppins Bold"/>
                    <a:cs typeface="Poppins Bold"/>
                    <a:sym typeface="Poppins Bold"/>
                  </a:rPr>
                  <a:t>ValueError</a:t>
                </a:r>
              </a:p>
            </p:txBody>
          </p:sp>
        </p:grpSp>
        <p:grpSp>
          <p:nvGrpSpPr>
            <p:cNvPr name="Group 29" id="29"/>
            <p:cNvGrpSpPr/>
            <p:nvPr/>
          </p:nvGrpSpPr>
          <p:grpSpPr>
            <a:xfrm rot="0">
              <a:off x="3931920" y="4561718"/>
              <a:ext cx="17373600" cy="987552"/>
              <a:chOff x="0" y="0"/>
              <a:chExt cx="17373600" cy="987552"/>
            </a:xfrm>
          </p:grpSpPr>
          <p:sp>
            <p:nvSpPr>
              <p:cNvPr name="Freeform 30" id="30"/>
              <p:cNvSpPr/>
              <p:nvPr/>
            </p:nvSpPr>
            <p:spPr>
              <a:xfrm flipH="false" flipV="false" rot="0">
                <a:off x="0" y="0"/>
                <a:ext cx="17373600" cy="987552"/>
              </a:xfrm>
              <a:custGeom>
                <a:avLst/>
                <a:gdLst/>
                <a:ahLst/>
                <a:cxnLst/>
                <a:rect r="r" b="b" t="t" l="l"/>
                <a:pathLst>
                  <a:path h="987552" w="17373600">
                    <a:moveTo>
                      <a:pt x="0" y="0"/>
                    </a:moveTo>
                    <a:lnTo>
                      <a:pt x="17373600" y="0"/>
                    </a:lnTo>
                    <a:lnTo>
                      <a:pt x="17373600" y="987552"/>
                    </a:lnTo>
                    <a:lnTo>
                      <a:pt x="0" y="987552"/>
                    </a:lnTo>
                    <a:close/>
                  </a:path>
                </a:pathLst>
              </a:custGeom>
              <a:blipFill>
                <a:blip r:embed="rId3">
                  <a:alphaModFix amt="0"/>
                </a:blip>
                <a:stretch>
                  <a:fillRect l="0" t="-292792" r="0" b="-292792"/>
                </a:stretch>
              </a:blipFill>
            </p:spPr>
          </p:sp>
          <p:sp>
            <p:nvSpPr>
              <p:cNvPr name="TextBox 31" id="31"/>
              <p:cNvSpPr txBox="true"/>
              <p:nvPr/>
            </p:nvSpPr>
            <p:spPr>
              <a:xfrm>
                <a:off x="0" y="-19050"/>
                <a:ext cx="17373600" cy="1006602"/>
              </a:xfrm>
              <a:prstGeom prst="rect">
                <a:avLst/>
              </a:prstGeom>
            </p:spPr>
            <p:txBody>
              <a:bodyPr anchor="ctr" rtlCol="false" tIns="0" lIns="0" bIns="0" rIns="0"/>
              <a:lstStyle/>
              <a:p>
                <a:pPr algn="l">
                  <a:lnSpc>
                    <a:spcPts val="2520"/>
                  </a:lnSpc>
                </a:pPr>
                <a:r>
                  <a:rPr lang="en-US" sz="2100">
                    <a:solidFill>
                      <a:srgbClr val="0A1A23"/>
                    </a:solidFill>
                    <a:latin typeface="Poppins"/>
                    <a:ea typeface="Poppins"/>
                    <a:cs typeface="Poppins"/>
                    <a:sym typeface="Poppins"/>
                  </a:rPr>
                  <a:t>The right type, but a value Python cannot use, e.g. text with a currency symbol passed to float().</a:t>
                </a:r>
              </a:p>
            </p:txBody>
          </p:sp>
        </p:grpSp>
        <p:grpSp>
          <p:nvGrpSpPr>
            <p:cNvPr name="Group 32" id="32"/>
            <p:cNvGrpSpPr/>
            <p:nvPr/>
          </p:nvGrpSpPr>
          <p:grpSpPr>
            <a:xfrm rot="0">
              <a:off x="0" y="5805302"/>
              <a:ext cx="3474720" cy="768096"/>
              <a:chOff x="0" y="0"/>
              <a:chExt cx="3474720" cy="768096"/>
            </a:xfrm>
          </p:grpSpPr>
          <p:sp>
            <p:nvSpPr>
              <p:cNvPr name="Freeform 33" id="33"/>
              <p:cNvSpPr/>
              <p:nvPr/>
            </p:nvSpPr>
            <p:spPr>
              <a:xfrm flipH="false" flipV="false" rot="0">
                <a:off x="0" y="0"/>
                <a:ext cx="3474720" cy="768096"/>
              </a:xfrm>
              <a:custGeom>
                <a:avLst/>
                <a:gdLst/>
                <a:ahLst/>
                <a:cxnLst/>
                <a:rect r="r" b="b" t="t" l="l"/>
                <a:pathLst>
                  <a:path h="768096" w="3474720">
                    <a:moveTo>
                      <a:pt x="0" y="384048"/>
                    </a:moveTo>
                    <a:cubicBezTo>
                      <a:pt x="0" y="171958"/>
                      <a:pt x="171958" y="0"/>
                      <a:pt x="384048" y="0"/>
                    </a:cubicBezTo>
                    <a:lnTo>
                      <a:pt x="3090672" y="0"/>
                    </a:lnTo>
                    <a:cubicBezTo>
                      <a:pt x="3302762" y="0"/>
                      <a:pt x="3474720" y="171958"/>
                      <a:pt x="3474720" y="384048"/>
                    </a:cubicBezTo>
                    <a:cubicBezTo>
                      <a:pt x="3474720" y="596138"/>
                      <a:pt x="3302762" y="768096"/>
                      <a:pt x="3090672" y="768096"/>
                    </a:cubicBezTo>
                    <a:lnTo>
                      <a:pt x="384048" y="768096"/>
                    </a:lnTo>
                    <a:cubicBezTo>
                      <a:pt x="171958" y="768096"/>
                      <a:pt x="0" y="596138"/>
                      <a:pt x="0" y="384048"/>
                    </a:cubicBezTo>
                    <a:close/>
                  </a:path>
                </a:pathLst>
              </a:custGeom>
              <a:solidFill>
                <a:srgbClr val="387F7F"/>
              </a:solidFill>
            </p:spPr>
          </p:sp>
        </p:grpSp>
        <p:grpSp>
          <p:nvGrpSpPr>
            <p:cNvPr name="Group 34" id="34"/>
            <p:cNvGrpSpPr/>
            <p:nvPr/>
          </p:nvGrpSpPr>
          <p:grpSpPr>
            <a:xfrm rot="0">
              <a:off x="0" y="5805302"/>
              <a:ext cx="3474720" cy="768096"/>
              <a:chOff x="0" y="0"/>
              <a:chExt cx="3474720" cy="768096"/>
            </a:xfrm>
          </p:grpSpPr>
          <p:sp>
            <p:nvSpPr>
              <p:cNvPr name="Freeform 35" id="35"/>
              <p:cNvSpPr/>
              <p:nvPr/>
            </p:nvSpPr>
            <p:spPr>
              <a:xfrm flipH="false" flipV="false" rot="0">
                <a:off x="0" y="0"/>
                <a:ext cx="3474720" cy="768096"/>
              </a:xfrm>
              <a:custGeom>
                <a:avLst/>
                <a:gdLst/>
                <a:ahLst/>
                <a:cxnLst/>
                <a:rect r="r" b="b" t="t" l="l"/>
                <a:pathLst>
                  <a:path h="768096" w="3474720">
                    <a:moveTo>
                      <a:pt x="0" y="0"/>
                    </a:moveTo>
                    <a:lnTo>
                      <a:pt x="3474720" y="0"/>
                    </a:lnTo>
                    <a:lnTo>
                      <a:pt x="3474720" y="768096"/>
                    </a:lnTo>
                    <a:lnTo>
                      <a:pt x="0" y="768096"/>
                    </a:lnTo>
                    <a:close/>
                  </a:path>
                </a:pathLst>
              </a:custGeom>
              <a:blipFill>
                <a:blip r:embed="rId3">
                  <a:alphaModFix amt="0"/>
                </a:blip>
                <a:stretch>
                  <a:fillRect l="0" t="-38146" r="0" b="-38146"/>
                </a:stretch>
              </a:blipFill>
            </p:spPr>
          </p:sp>
          <p:sp>
            <p:nvSpPr>
              <p:cNvPr name="TextBox 36" id="36"/>
              <p:cNvSpPr txBox="true"/>
              <p:nvPr/>
            </p:nvSpPr>
            <p:spPr>
              <a:xfrm>
                <a:off x="0" y="-19050"/>
                <a:ext cx="3474720" cy="787146"/>
              </a:xfrm>
              <a:prstGeom prst="rect">
                <a:avLst/>
              </a:prstGeom>
            </p:spPr>
            <p:txBody>
              <a:bodyPr anchor="ctr" rtlCol="false" tIns="0" lIns="0" bIns="0" rIns="0"/>
              <a:lstStyle/>
              <a:p>
                <a:pPr algn="ctr">
                  <a:lnSpc>
                    <a:spcPts val="2340"/>
                  </a:lnSpc>
                </a:pPr>
                <a:r>
                  <a:rPr lang="en-US" sz="1950" b="true">
                    <a:solidFill>
                      <a:srgbClr val="FFFFFF"/>
                    </a:solidFill>
                    <a:latin typeface="Poppins Bold"/>
                    <a:ea typeface="Poppins Bold"/>
                    <a:cs typeface="Poppins Bold"/>
                    <a:sym typeface="Poppins Bold"/>
                  </a:rPr>
                  <a:t>KeyError</a:t>
                </a:r>
              </a:p>
            </p:txBody>
          </p:sp>
        </p:grpSp>
        <p:grpSp>
          <p:nvGrpSpPr>
            <p:cNvPr name="Group 37" id="37"/>
            <p:cNvGrpSpPr/>
            <p:nvPr/>
          </p:nvGrpSpPr>
          <p:grpSpPr>
            <a:xfrm rot="0">
              <a:off x="3931920" y="5695574"/>
              <a:ext cx="17373600" cy="987552"/>
              <a:chOff x="0" y="0"/>
              <a:chExt cx="17373600" cy="987552"/>
            </a:xfrm>
          </p:grpSpPr>
          <p:sp>
            <p:nvSpPr>
              <p:cNvPr name="Freeform 38" id="38"/>
              <p:cNvSpPr/>
              <p:nvPr/>
            </p:nvSpPr>
            <p:spPr>
              <a:xfrm flipH="false" flipV="false" rot="0">
                <a:off x="0" y="0"/>
                <a:ext cx="17373600" cy="987552"/>
              </a:xfrm>
              <a:custGeom>
                <a:avLst/>
                <a:gdLst/>
                <a:ahLst/>
                <a:cxnLst/>
                <a:rect r="r" b="b" t="t" l="l"/>
                <a:pathLst>
                  <a:path h="987552" w="17373600">
                    <a:moveTo>
                      <a:pt x="0" y="0"/>
                    </a:moveTo>
                    <a:lnTo>
                      <a:pt x="17373600" y="0"/>
                    </a:lnTo>
                    <a:lnTo>
                      <a:pt x="17373600" y="987552"/>
                    </a:lnTo>
                    <a:lnTo>
                      <a:pt x="0" y="987552"/>
                    </a:lnTo>
                    <a:close/>
                  </a:path>
                </a:pathLst>
              </a:custGeom>
              <a:blipFill>
                <a:blip r:embed="rId3">
                  <a:alphaModFix amt="0"/>
                </a:blip>
                <a:stretch>
                  <a:fillRect l="0" t="-292792" r="0" b="-292792"/>
                </a:stretch>
              </a:blipFill>
            </p:spPr>
          </p:sp>
          <p:sp>
            <p:nvSpPr>
              <p:cNvPr name="TextBox 39" id="39"/>
              <p:cNvSpPr txBox="true"/>
              <p:nvPr/>
            </p:nvSpPr>
            <p:spPr>
              <a:xfrm>
                <a:off x="0" y="-19050"/>
                <a:ext cx="17373600" cy="1006602"/>
              </a:xfrm>
              <a:prstGeom prst="rect">
                <a:avLst/>
              </a:prstGeom>
            </p:spPr>
            <p:txBody>
              <a:bodyPr anchor="ctr" rtlCol="false" tIns="0" lIns="0" bIns="0" rIns="0"/>
              <a:lstStyle/>
              <a:p>
                <a:pPr algn="l">
                  <a:lnSpc>
                    <a:spcPts val="2520"/>
                  </a:lnSpc>
                </a:pPr>
                <a:r>
                  <a:rPr lang="en-US" sz="2100">
                    <a:solidFill>
                      <a:srgbClr val="0A1A23"/>
                    </a:solidFill>
                    <a:latin typeface="Poppins"/>
                    <a:ea typeface="Poppins"/>
                    <a:cs typeface="Poppins"/>
                    <a:sym typeface="Poppins"/>
                  </a:rPr>
                  <a:t>The dictionary does not contain the key you asked for.</a:t>
                </a:r>
              </a:p>
            </p:txBody>
          </p:sp>
        </p:grpSp>
        <p:grpSp>
          <p:nvGrpSpPr>
            <p:cNvPr name="Group 40" id="40"/>
            <p:cNvGrpSpPr/>
            <p:nvPr/>
          </p:nvGrpSpPr>
          <p:grpSpPr>
            <a:xfrm rot="0">
              <a:off x="0" y="6939158"/>
              <a:ext cx="3474720" cy="768096"/>
              <a:chOff x="0" y="0"/>
              <a:chExt cx="3474720" cy="768096"/>
            </a:xfrm>
          </p:grpSpPr>
          <p:sp>
            <p:nvSpPr>
              <p:cNvPr name="Freeform 41" id="41"/>
              <p:cNvSpPr/>
              <p:nvPr/>
            </p:nvSpPr>
            <p:spPr>
              <a:xfrm flipH="false" flipV="false" rot="0">
                <a:off x="0" y="0"/>
                <a:ext cx="3474720" cy="768096"/>
              </a:xfrm>
              <a:custGeom>
                <a:avLst/>
                <a:gdLst/>
                <a:ahLst/>
                <a:cxnLst/>
                <a:rect r="r" b="b" t="t" l="l"/>
                <a:pathLst>
                  <a:path h="768096" w="3474720">
                    <a:moveTo>
                      <a:pt x="0" y="384048"/>
                    </a:moveTo>
                    <a:cubicBezTo>
                      <a:pt x="0" y="171958"/>
                      <a:pt x="171958" y="0"/>
                      <a:pt x="384048" y="0"/>
                    </a:cubicBezTo>
                    <a:lnTo>
                      <a:pt x="3090672" y="0"/>
                    </a:lnTo>
                    <a:cubicBezTo>
                      <a:pt x="3302762" y="0"/>
                      <a:pt x="3474720" y="171958"/>
                      <a:pt x="3474720" y="384048"/>
                    </a:cubicBezTo>
                    <a:cubicBezTo>
                      <a:pt x="3474720" y="596138"/>
                      <a:pt x="3302762" y="768096"/>
                      <a:pt x="3090672" y="768096"/>
                    </a:cubicBezTo>
                    <a:lnTo>
                      <a:pt x="384048" y="768096"/>
                    </a:lnTo>
                    <a:cubicBezTo>
                      <a:pt x="171958" y="768096"/>
                      <a:pt x="0" y="596138"/>
                      <a:pt x="0" y="384048"/>
                    </a:cubicBezTo>
                    <a:close/>
                  </a:path>
                </a:pathLst>
              </a:custGeom>
              <a:solidFill>
                <a:srgbClr val="387F7F"/>
              </a:solidFill>
            </p:spPr>
          </p:sp>
        </p:grpSp>
        <p:grpSp>
          <p:nvGrpSpPr>
            <p:cNvPr name="Group 42" id="42"/>
            <p:cNvGrpSpPr/>
            <p:nvPr/>
          </p:nvGrpSpPr>
          <p:grpSpPr>
            <a:xfrm rot="0">
              <a:off x="0" y="6939158"/>
              <a:ext cx="3474720" cy="768096"/>
              <a:chOff x="0" y="0"/>
              <a:chExt cx="3474720" cy="768096"/>
            </a:xfrm>
          </p:grpSpPr>
          <p:sp>
            <p:nvSpPr>
              <p:cNvPr name="Freeform 43" id="43"/>
              <p:cNvSpPr/>
              <p:nvPr/>
            </p:nvSpPr>
            <p:spPr>
              <a:xfrm flipH="false" flipV="false" rot="0">
                <a:off x="0" y="0"/>
                <a:ext cx="3474720" cy="768096"/>
              </a:xfrm>
              <a:custGeom>
                <a:avLst/>
                <a:gdLst/>
                <a:ahLst/>
                <a:cxnLst/>
                <a:rect r="r" b="b" t="t" l="l"/>
                <a:pathLst>
                  <a:path h="768096" w="3474720">
                    <a:moveTo>
                      <a:pt x="0" y="0"/>
                    </a:moveTo>
                    <a:lnTo>
                      <a:pt x="3474720" y="0"/>
                    </a:lnTo>
                    <a:lnTo>
                      <a:pt x="3474720" y="768096"/>
                    </a:lnTo>
                    <a:lnTo>
                      <a:pt x="0" y="768096"/>
                    </a:lnTo>
                    <a:close/>
                  </a:path>
                </a:pathLst>
              </a:custGeom>
              <a:blipFill>
                <a:blip r:embed="rId3">
                  <a:alphaModFix amt="0"/>
                </a:blip>
                <a:stretch>
                  <a:fillRect l="0" t="-38146" r="0" b="-38146"/>
                </a:stretch>
              </a:blipFill>
            </p:spPr>
          </p:sp>
          <p:sp>
            <p:nvSpPr>
              <p:cNvPr name="TextBox 44" id="44"/>
              <p:cNvSpPr txBox="true"/>
              <p:nvPr/>
            </p:nvSpPr>
            <p:spPr>
              <a:xfrm>
                <a:off x="0" y="-19050"/>
                <a:ext cx="3474720" cy="787146"/>
              </a:xfrm>
              <a:prstGeom prst="rect">
                <a:avLst/>
              </a:prstGeom>
            </p:spPr>
            <p:txBody>
              <a:bodyPr anchor="ctr" rtlCol="false" tIns="0" lIns="0" bIns="0" rIns="0"/>
              <a:lstStyle/>
              <a:p>
                <a:pPr algn="ctr">
                  <a:lnSpc>
                    <a:spcPts val="2340"/>
                  </a:lnSpc>
                </a:pPr>
                <a:r>
                  <a:rPr lang="en-US" sz="1950" b="true">
                    <a:solidFill>
                      <a:srgbClr val="FFFFFF"/>
                    </a:solidFill>
                    <a:latin typeface="Poppins Bold"/>
                    <a:ea typeface="Poppins Bold"/>
                    <a:cs typeface="Poppins Bold"/>
                    <a:sym typeface="Poppins Bold"/>
                  </a:rPr>
                  <a:t>IndexError</a:t>
                </a:r>
              </a:p>
            </p:txBody>
          </p:sp>
        </p:grpSp>
        <p:grpSp>
          <p:nvGrpSpPr>
            <p:cNvPr name="Group 45" id="45"/>
            <p:cNvGrpSpPr/>
            <p:nvPr/>
          </p:nvGrpSpPr>
          <p:grpSpPr>
            <a:xfrm rot="0">
              <a:off x="3931920" y="6829430"/>
              <a:ext cx="17373600" cy="987552"/>
              <a:chOff x="0" y="0"/>
              <a:chExt cx="17373600" cy="987552"/>
            </a:xfrm>
          </p:grpSpPr>
          <p:sp>
            <p:nvSpPr>
              <p:cNvPr name="Freeform 46" id="46"/>
              <p:cNvSpPr/>
              <p:nvPr/>
            </p:nvSpPr>
            <p:spPr>
              <a:xfrm flipH="false" flipV="false" rot="0">
                <a:off x="0" y="0"/>
                <a:ext cx="17373600" cy="987552"/>
              </a:xfrm>
              <a:custGeom>
                <a:avLst/>
                <a:gdLst/>
                <a:ahLst/>
                <a:cxnLst/>
                <a:rect r="r" b="b" t="t" l="l"/>
                <a:pathLst>
                  <a:path h="987552" w="17373600">
                    <a:moveTo>
                      <a:pt x="0" y="0"/>
                    </a:moveTo>
                    <a:lnTo>
                      <a:pt x="17373600" y="0"/>
                    </a:lnTo>
                    <a:lnTo>
                      <a:pt x="17373600" y="987552"/>
                    </a:lnTo>
                    <a:lnTo>
                      <a:pt x="0" y="987552"/>
                    </a:lnTo>
                    <a:close/>
                  </a:path>
                </a:pathLst>
              </a:custGeom>
              <a:blipFill>
                <a:blip r:embed="rId3">
                  <a:alphaModFix amt="0"/>
                </a:blip>
                <a:stretch>
                  <a:fillRect l="0" t="-292792" r="0" b="-292792"/>
                </a:stretch>
              </a:blipFill>
            </p:spPr>
          </p:sp>
          <p:sp>
            <p:nvSpPr>
              <p:cNvPr name="TextBox 47" id="47"/>
              <p:cNvSpPr txBox="true"/>
              <p:nvPr/>
            </p:nvSpPr>
            <p:spPr>
              <a:xfrm>
                <a:off x="0" y="-19050"/>
                <a:ext cx="17373600" cy="1006602"/>
              </a:xfrm>
              <a:prstGeom prst="rect">
                <a:avLst/>
              </a:prstGeom>
            </p:spPr>
            <p:txBody>
              <a:bodyPr anchor="ctr" rtlCol="false" tIns="0" lIns="0" bIns="0" rIns="0"/>
              <a:lstStyle/>
              <a:p>
                <a:pPr algn="l">
                  <a:lnSpc>
                    <a:spcPts val="2520"/>
                  </a:lnSpc>
                </a:pPr>
                <a:r>
                  <a:rPr lang="en-US" sz="2100">
                    <a:solidFill>
                      <a:srgbClr val="0A1A23"/>
                    </a:solidFill>
                    <a:latin typeface="Poppins"/>
                    <a:ea typeface="Poppins"/>
                    <a:cs typeface="Poppins"/>
                    <a:sym typeface="Poppins"/>
                  </a:rPr>
                  <a:t>You asked for a list position that does not exist.</a:t>
                </a:r>
              </a:p>
            </p:txBody>
          </p:sp>
        </p:grpSp>
        <p:grpSp>
          <p:nvGrpSpPr>
            <p:cNvPr name="Group 48" id="48"/>
            <p:cNvGrpSpPr/>
            <p:nvPr/>
          </p:nvGrpSpPr>
          <p:grpSpPr>
            <a:xfrm rot="0">
              <a:off x="91440" y="8365622"/>
              <a:ext cx="21086064" cy="1188720"/>
              <a:chOff x="0" y="0"/>
              <a:chExt cx="21086064" cy="1188720"/>
            </a:xfrm>
          </p:grpSpPr>
          <p:sp>
            <p:nvSpPr>
              <p:cNvPr name="Freeform 49" id="49"/>
              <p:cNvSpPr/>
              <p:nvPr/>
            </p:nvSpPr>
            <p:spPr>
              <a:xfrm flipH="false" flipV="false" rot="0">
                <a:off x="0" y="0"/>
                <a:ext cx="21086065" cy="1188720"/>
              </a:xfrm>
              <a:custGeom>
                <a:avLst/>
                <a:gdLst/>
                <a:ahLst/>
                <a:cxnLst/>
                <a:rect r="r" b="b" t="t" l="l"/>
                <a:pathLst>
                  <a:path h="1188720" w="21086065">
                    <a:moveTo>
                      <a:pt x="0" y="0"/>
                    </a:moveTo>
                    <a:lnTo>
                      <a:pt x="21086065" y="0"/>
                    </a:lnTo>
                    <a:lnTo>
                      <a:pt x="21086065" y="1188720"/>
                    </a:lnTo>
                    <a:lnTo>
                      <a:pt x="0" y="1188720"/>
                    </a:lnTo>
                    <a:close/>
                  </a:path>
                </a:pathLst>
              </a:custGeom>
              <a:blipFill>
                <a:blip r:embed="rId3">
                  <a:alphaModFix amt="0"/>
                </a:blip>
                <a:stretch>
                  <a:fillRect l="0" t="-295634" r="0" b="-295634"/>
                </a:stretch>
              </a:blipFill>
            </p:spPr>
          </p:sp>
          <p:sp>
            <p:nvSpPr>
              <p:cNvPr name="TextBox 50" id="50"/>
              <p:cNvSpPr txBox="true"/>
              <p:nvPr/>
            </p:nvSpPr>
            <p:spPr>
              <a:xfrm>
                <a:off x="0" y="-47625"/>
                <a:ext cx="21086064" cy="1236345"/>
              </a:xfrm>
              <a:prstGeom prst="rect">
                <a:avLst/>
              </a:prstGeom>
            </p:spPr>
            <p:txBody>
              <a:bodyPr anchor="ctr" rtlCol="false" tIns="0" lIns="0" bIns="0" rIns="0"/>
              <a:lstStyle/>
              <a:p>
                <a:pPr algn="l">
                  <a:lnSpc>
                    <a:spcPts val="2794"/>
                  </a:lnSpc>
                </a:pPr>
                <a:r>
                  <a:rPr lang="en-US" sz="2025" i="true">
                    <a:solidFill>
                      <a:srgbClr val="0A1A23"/>
                    </a:solidFill>
                    <a:latin typeface="Poppins Italics"/>
                    <a:ea typeface="Poppins Italics"/>
                    <a:cs typeface="Poppins Italics"/>
                    <a:sym typeface="Poppins Italics"/>
                  </a:rPr>
                  <a:t>Read the last line of the traceback first, it names the problem. Then look upward to find the line that caused it. An error is Python telling you exactly what went wrong, not a verdict on you.</a:t>
                </a:r>
              </a:p>
            </p:txBody>
          </p:sp>
        </p:grpSp>
        <p:grpSp>
          <p:nvGrpSpPr>
            <p:cNvPr name="Group 51" id="51"/>
            <p:cNvGrpSpPr/>
            <p:nvPr/>
          </p:nvGrpSpPr>
          <p:grpSpPr>
            <a:xfrm rot="0">
              <a:off x="20493798" y="11631744"/>
              <a:ext cx="862965" cy="762000"/>
              <a:chOff x="0" y="0"/>
              <a:chExt cx="862965" cy="762000"/>
            </a:xfrm>
          </p:grpSpPr>
          <p:sp>
            <p:nvSpPr>
              <p:cNvPr name="Freeform 52" id="52"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4"/>
                <a:stretch>
                  <a:fillRect l="-772" t="0" r="-772" b="0"/>
                </a:stretch>
              </a:blipFill>
            </p:spPr>
          </p:sp>
        </p:grpSp>
      </p:grpSp>
      <p:sp>
        <p:nvSpPr>
          <p:cNvPr name="Freeform 53" id="53"/>
          <p:cNvSpPr/>
          <p:nvPr/>
        </p:nvSpPr>
        <p:spPr>
          <a:xfrm flipH="false" flipV="false" rot="0">
            <a:off x="16517465" y="2934400"/>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4" id="54"/>
          <p:cNvGrpSpPr/>
          <p:nvPr/>
        </p:nvGrpSpPr>
        <p:grpSpPr>
          <a:xfrm rot="0">
            <a:off x="857250" y="857250"/>
            <a:ext cx="114300" cy="1028700"/>
            <a:chOff x="0" y="0"/>
            <a:chExt cx="152400" cy="1371600"/>
          </a:xfrm>
        </p:grpSpPr>
        <p:sp>
          <p:nvSpPr>
            <p:cNvPr name="Freeform 55" id="5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28700" y="2070127"/>
            <a:ext cx="16623792" cy="8216873"/>
            <a:chOff x="0" y="0"/>
            <a:chExt cx="22165056" cy="10955831"/>
          </a:xfrm>
        </p:grpSpPr>
        <p:grpSp>
          <p:nvGrpSpPr>
            <p:cNvPr name="Group 5" id="5"/>
            <p:cNvGrpSpPr/>
            <p:nvPr/>
          </p:nvGrpSpPr>
          <p:grpSpPr>
            <a:xfrm rot="0">
              <a:off x="524764" y="0"/>
              <a:ext cx="10424160" cy="622935"/>
              <a:chOff x="0" y="0"/>
              <a:chExt cx="10424160" cy="622935"/>
            </a:xfrm>
          </p:grpSpPr>
          <p:sp>
            <p:nvSpPr>
              <p:cNvPr name="Freeform 6" id="6"/>
              <p:cNvSpPr/>
              <p:nvPr/>
            </p:nvSpPr>
            <p:spPr>
              <a:xfrm flipH="false" flipV="false" rot="0">
                <a:off x="0" y="0"/>
                <a:ext cx="10424160" cy="622935"/>
              </a:xfrm>
              <a:custGeom>
                <a:avLst/>
                <a:gdLst/>
                <a:ahLst/>
                <a:cxnLst/>
                <a:rect r="r" b="b" t="t" l="l"/>
                <a:pathLst>
                  <a:path h="622935" w="10424160">
                    <a:moveTo>
                      <a:pt x="0" y="0"/>
                    </a:moveTo>
                    <a:lnTo>
                      <a:pt x="10424160" y="0"/>
                    </a:lnTo>
                    <a:lnTo>
                      <a:pt x="10424160" y="622935"/>
                    </a:lnTo>
                    <a:lnTo>
                      <a:pt x="0" y="622935"/>
                    </a:lnTo>
                    <a:close/>
                  </a:path>
                </a:pathLst>
              </a:custGeom>
              <a:blipFill>
                <a:blip r:embed="rId3">
                  <a:alphaModFix amt="0"/>
                </a:blip>
                <a:stretch>
                  <a:fillRect l="0" t="-282024" r="0" b="-270098"/>
                </a:stretch>
              </a:blipFill>
            </p:spPr>
          </p:sp>
          <p:sp>
            <p:nvSpPr>
              <p:cNvPr name="TextBox 7" id="7"/>
              <p:cNvSpPr txBox="true"/>
              <p:nvPr/>
            </p:nvSpPr>
            <p:spPr>
              <a:xfrm>
                <a:off x="0" y="-19050"/>
                <a:ext cx="10424160" cy="641985"/>
              </a:xfrm>
              <a:prstGeom prst="rect">
                <a:avLst/>
              </a:prstGeom>
            </p:spPr>
            <p:txBody>
              <a:bodyPr anchor="ctr" rtlCol="false" tIns="0" lIns="0" bIns="0" rIns="0"/>
              <a:lstStyle/>
              <a:p>
                <a:pPr algn="l">
                  <a:lnSpc>
                    <a:spcPts val="2250"/>
                  </a:lnSpc>
                </a:pPr>
                <a:r>
                  <a:rPr lang="en-US" sz="1875" b="true">
                    <a:solidFill>
                      <a:srgbClr val="B3261E"/>
                    </a:solidFill>
                    <a:latin typeface="Poppins Bold"/>
                    <a:ea typeface="Poppins Bold"/>
                    <a:cs typeface="Poppins Bold"/>
                    <a:sym typeface="Poppins Bold"/>
                  </a:rPr>
                  <a:t>BEFORE — the broken cell</a:t>
                </a:r>
              </a:p>
            </p:txBody>
          </p:sp>
        </p:grpSp>
        <p:grpSp>
          <p:nvGrpSpPr>
            <p:cNvPr name="Group 8" id="8"/>
            <p:cNvGrpSpPr/>
            <p:nvPr/>
          </p:nvGrpSpPr>
          <p:grpSpPr>
            <a:xfrm rot="0">
              <a:off x="58420" y="652780"/>
              <a:ext cx="10698480" cy="3200400"/>
              <a:chOff x="0" y="0"/>
              <a:chExt cx="10698480" cy="3200400"/>
            </a:xfrm>
          </p:grpSpPr>
          <p:sp>
            <p:nvSpPr>
              <p:cNvPr name="Freeform 9" id="9"/>
              <p:cNvSpPr/>
              <p:nvPr/>
            </p:nvSpPr>
            <p:spPr>
              <a:xfrm flipH="false" flipV="false" rot="0">
                <a:off x="0" y="0"/>
                <a:ext cx="10698480" cy="3200400"/>
              </a:xfrm>
              <a:custGeom>
                <a:avLst/>
                <a:gdLst/>
                <a:ahLst/>
                <a:cxnLst/>
                <a:rect r="r" b="b" t="t" l="l"/>
                <a:pathLst>
                  <a:path h="3200400" w="10698480">
                    <a:moveTo>
                      <a:pt x="0" y="146304"/>
                    </a:moveTo>
                    <a:cubicBezTo>
                      <a:pt x="0" y="65532"/>
                      <a:pt x="65532" y="0"/>
                      <a:pt x="146304" y="0"/>
                    </a:cubicBezTo>
                    <a:lnTo>
                      <a:pt x="10552176" y="0"/>
                    </a:lnTo>
                    <a:cubicBezTo>
                      <a:pt x="10632948" y="0"/>
                      <a:pt x="10698480" y="65532"/>
                      <a:pt x="10698480" y="146304"/>
                    </a:cubicBezTo>
                    <a:lnTo>
                      <a:pt x="10698480" y="3054096"/>
                    </a:lnTo>
                    <a:cubicBezTo>
                      <a:pt x="10698480" y="3134868"/>
                      <a:pt x="10632948" y="3200400"/>
                      <a:pt x="10552176" y="3200400"/>
                    </a:cubicBezTo>
                    <a:lnTo>
                      <a:pt x="146304" y="3200400"/>
                    </a:lnTo>
                    <a:cubicBezTo>
                      <a:pt x="65532" y="3200400"/>
                      <a:pt x="0" y="3134868"/>
                      <a:pt x="0" y="3054096"/>
                    </a:cubicBezTo>
                    <a:close/>
                  </a:path>
                </a:pathLst>
              </a:custGeom>
              <a:solidFill>
                <a:srgbClr val="0A1A23"/>
              </a:solidFill>
            </p:spPr>
          </p:sp>
        </p:grpSp>
        <p:grpSp>
          <p:nvGrpSpPr>
            <p:cNvPr name="Group 10" id="10"/>
            <p:cNvGrpSpPr/>
            <p:nvPr/>
          </p:nvGrpSpPr>
          <p:grpSpPr>
            <a:xfrm rot="0">
              <a:off x="415036" y="1018540"/>
              <a:ext cx="237744" cy="237744"/>
              <a:chOff x="0" y="0"/>
              <a:chExt cx="237744" cy="237744"/>
            </a:xfrm>
          </p:grpSpPr>
          <p:sp>
            <p:nvSpPr>
              <p:cNvPr name="Freeform 11" id="11"/>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74C3C"/>
              </a:solidFill>
            </p:spPr>
          </p:sp>
        </p:grpSp>
        <p:grpSp>
          <p:nvGrpSpPr>
            <p:cNvPr name="Group 12" id="12"/>
            <p:cNvGrpSpPr/>
            <p:nvPr/>
          </p:nvGrpSpPr>
          <p:grpSpPr>
            <a:xfrm rot="0">
              <a:off x="853948" y="1018540"/>
              <a:ext cx="237744" cy="237744"/>
              <a:chOff x="0" y="0"/>
              <a:chExt cx="237744" cy="237744"/>
            </a:xfrm>
          </p:grpSpPr>
          <p:sp>
            <p:nvSpPr>
              <p:cNvPr name="Freeform 13" id="13"/>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8B93F"/>
              </a:solidFill>
            </p:spPr>
          </p:sp>
        </p:grpSp>
        <p:grpSp>
          <p:nvGrpSpPr>
            <p:cNvPr name="Group 14" id="14"/>
            <p:cNvGrpSpPr/>
            <p:nvPr/>
          </p:nvGrpSpPr>
          <p:grpSpPr>
            <a:xfrm rot="0">
              <a:off x="1292860" y="1018540"/>
              <a:ext cx="237744" cy="237744"/>
              <a:chOff x="0" y="0"/>
              <a:chExt cx="237744" cy="237744"/>
            </a:xfrm>
          </p:grpSpPr>
          <p:sp>
            <p:nvSpPr>
              <p:cNvPr name="Freeform 15" id="15"/>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3FA76B"/>
              </a:solidFill>
            </p:spPr>
          </p:sp>
        </p:grpSp>
        <p:sp>
          <p:nvSpPr>
            <p:cNvPr name="TextBox 16" id="16"/>
            <p:cNvSpPr txBox="true"/>
            <p:nvPr/>
          </p:nvSpPr>
          <p:spPr>
            <a:xfrm rot="0">
              <a:off x="524764" y="1490980"/>
              <a:ext cx="9674352" cy="1860550"/>
            </a:xfrm>
            <a:prstGeom prst="rect">
              <a:avLst/>
            </a:prstGeom>
          </p:spPr>
          <p:txBody>
            <a:bodyPr anchor="t" rtlCol="false" tIns="0" lIns="0" bIns="0" rIns="0">
              <a:spAutoFit/>
            </a:bodyPr>
            <a:lstStyle/>
            <a:p>
              <a:pPr algn="l">
                <a:lnSpc>
                  <a:spcPts val="2812"/>
                </a:lnSpc>
              </a:pPr>
              <a:r>
                <a:rPr lang="en-US" sz="1875">
                  <a:solidFill>
                    <a:srgbClr val="E4F1EF"/>
                  </a:solidFill>
                  <a:latin typeface="Poppins"/>
                  <a:ea typeface="Poppins"/>
                  <a:cs typeface="Poppins"/>
                  <a:sym typeface="Poppins"/>
                </a:rPr>
                <a:t>def clean_amount(value):</a:t>
              </a:r>
            </a:p>
            <a:p>
              <a:pPr algn="l">
                <a:lnSpc>
                  <a:spcPts val="2812"/>
                </a:lnSpc>
              </a:pPr>
              <a:r>
                <a:rPr lang="en-US" sz="1875">
                  <a:solidFill>
                    <a:srgbClr val="E4F1EF"/>
                  </a:solidFill>
                  <a:latin typeface="Poppins"/>
                  <a:ea typeface="Poppins"/>
                  <a:cs typeface="Poppins"/>
                  <a:sym typeface="Poppins"/>
                </a:rPr>
                <a:t>    return float(value)</a:t>
              </a:r>
            </a:p>
            <a:p>
              <a:pPr algn="l">
                <a:lnSpc>
                  <a:spcPts val="2812"/>
                </a:lnSpc>
              </a:pPr>
            </a:p>
            <a:p>
              <a:pPr algn="l">
                <a:lnSpc>
                  <a:spcPts val="2812"/>
                </a:lnSpc>
              </a:pPr>
              <a:r>
                <a:rPr lang="en-US" sz="1875">
                  <a:solidFill>
                    <a:srgbClr val="E4F1EF"/>
                  </a:solidFill>
                  <a:latin typeface="Poppins"/>
                  <a:ea typeface="Poppins"/>
                  <a:cs typeface="Poppins"/>
                  <a:sym typeface="Poppins"/>
                </a:rPr>
                <a:t>clean_amount("₦15,000")</a:t>
              </a:r>
            </a:p>
          </p:txBody>
        </p:sp>
        <p:grpSp>
          <p:nvGrpSpPr>
            <p:cNvPr name="Group 17" id="17"/>
            <p:cNvGrpSpPr/>
            <p:nvPr/>
          </p:nvGrpSpPr>
          <p:grpSpPr>
            <a:xfrm rot="0">
              <a:off x="0" y="4078224"/>
              <a:ext cx="10723880" cy="1342136"/>
              <a:chOff x="0" y="0"/>
              <a:chExt cx="10723880" cy="1342136"/>
            </a:xfrm>
          </p:grpSpPr>
          <p:sp>
            <p:nvSpPr>
              <p:cNvPr name="Freeform 18" id="18"/>
              <p:cNvSpPr/>
              <p:nvPr/>
            </p:nvSpPr>
            <p:spPr>
              <a:xfrm flipH="false" flipV="false" rot="0">
                <a:off x="0" y="0"/>
                <a:ext cx="10723880" cy="1342136"/>
              </a:xfrm>
              <a:custGeom>
                <a:avLst/>
                <a:gdLst/>
                <a:ahLst/>
                <a:cxnLst/>
                <a:rect r="r" b="b" t="t" l="l"/>
                <a:pathLst>
                  <a:path h="1342136" w="10723880">
                    <a:moveTo>
                      <a:pt x="0" y="111887"/>
                    </a:moveTo>
                    <a:cubicBezTo>
                      <a:pt x="0" y="50038"/>
                      <a:pt x="50038" y="0"/>
                      <a:pt x="111887" y="0"/>
                    </a:cubicBezTo>
                    <a:lnTo>
                      <a:pt x="10611993" y="0"/>
                    </a:lnTo>
                    <a:cubicBezTo>
                      <a:pt x="10673715" y="0"/>
                      <a:pt x="10723880" y="50038"/>
                      <a:pt x="10723880" y="111887"/>
                    </a:cubicBezTo>
                    <a:lnTo>
                      <a:pt x="10723880" y="1230249"/>
                    </a:lnTo>
                    <a:cubicBezTo>
                      <a:pt x="10723880" y="1291971"/>
                      <a:pt x="10673842" y="1342136"/>
                      <a:pt x="10611993" y="1342136"/>
                    </a:cubicBezTo>
                    <a:lnTo>
                      <a:pt x="111887" y="1342136"/>
                    </a:lnTo>
                    <a:cubicBezTo>
                      <a:pt x="50165" y="1342136"/>
                      <a:pt x="0" y="1292098"/>
                      <a:pt x="0" y="1230249"/>
                    </a:cubicBezTo>
                    <a:close/>
                  </a:path>
                </a:pathLst>
              </a:custGeom>
              <a:solidFill>
                <a:srgbClr val="FBEAEA"/>
              </a:solidFill>
              <a:ln w="19050" cap="sq">
                <a:solidFill>
                  <a:srgbClr val="B3261E"/>
                </a:solidFill>
                <a:prstDash val="solid"/>
                <a:miter/>
              </a:ln>
            </p:spPr>
          </p:sp>
        </p:grpSp>
        <p:grpSp>
          <p:nvGrpSpPr>
            <p:cNvPr name="Group 19" id="19"/>
            <p:cNvGrpSpPr/>
            <p:nvPr/>
          </p:nvGrpSpPr>
          <p:grpSpPr>
            <a:xfrm rot="0">
              <a:off x="378460" y="4090924"/>
              <a:ext cx="10058400" cy="1316736"/>
              <a:chOff x="0" y="0"/>
              <a:chExt cx="10058400" cy="1316736"/>
            </a:xfrm>
          </p:grpSpPr>
          <p:sp>
            <p:nvSpPr>
              <p:cNvPr name="Freeform 20" id="20"/>
              <p:cNvSpPr/>
              <p:nvPr/>
            </p:nvSpPr>
            <p:spPr>
              <a:xfrm flipH="false" flipV="false" rot="0">
                <a:off x="0" y="0"/>
                <a:ext cx="10058400" cy="1316736"/>
              </a:xfrm>
              <a:custGeom>
                <a:avLst/>
                <a:gdLst/>
                <a:ahLst/>
                <a:cxnLst/>
                <a:rect r="r" b="b" t="t" l="l"/>
                <a:pathLst>
                  <a:path h="1316736" w="10058400">
                    <a:moveTo>
                      <a:pt x="0" y="0"/>
                    </a:moveTo>
                    <a:lnTo>
                      <a:pt x="10058400" y="0"/>
                    </a:lnTo>
                    <a:lnTo>
                      <a:pt x="10058400" y="1316736"/>
                    </a:lnTo>
                    <a:lnTo>
                      <a:pt x="0" y="1316736"/>
                    </a:lnTo>
                    <a:close/>
                  </a:path>
                </a:pathLst>
              </a:custGeom>
              <a:blipFill>
                <a:blip r:embed="rId3">
                  <a:alphaModFix amt="0"/>
                </a:blip>
                <a:stretch>
                  <a:fillRect l="0" t="-98844" r="0" b="-98844"/>
                </a:stretch>
              </a:blipFill>
            </p:spPr>
          </p:sp>
          <p:sp>
            <p:nvSpPr>
              <p:cNvPr name="TextBox 21" id="21"/>
              <p:cNvSpPr txBox="true"/>
              <p:nvPr/>
            </p:nvSpPr>
            <p:spPr>
              <a:xfrm>
                <a:off x="0" y="-9525"/>
                <a:ext cx="10058400" cy="1326261"/>
              </a:xfrm>
              <a:prstGeom prst="rect">
                <a:avLst/>
              </a:prstGeom>
            </p:spPr>
            <p:txBody>
              <a:bodyPr anchor="ctr" rtlCol="false" tIns="0" lIns="0" bIns="0" rIns="0"/>
              <a:lstStyle/>
              <a:p>
                <a:pPr algn="l">
                  <a:lnSpc>
                    <a:spcPts val="2070"/>
                  </a:lnSpc>
                </a:pPr>
                <a:r>
                  <a:rPr lang="en-US" sz="1725">
                    <a:solidFill>
                      <a:srgbClr val="B3261E"/>
                    </a:solidFill>
                    <a:latin typeface="Poppins"/>
                    <a:ea typeface="Poppins"/>
                    <a:cs typeface="Poppins"/>
                    <a:sym typeface="Poppins"/>
                  </a:rPr>
                  <a:t>ValueError: could not convert string to float: '₦15,000'</a:t>
                </a:r>
              </a:p>
            </p:txBody>
          </p:sp>
        </p:grpSp>
        <p:grpSp>
          <p:nvGrpSpPr>
            <p:cNvPr name="Group 22" id="22"/>
            <p:cNvGrpSpPr/>
            <p:nvPr/>
          </p:nvGrpSpPr>
          <p:grpSpPr>
            <a:xfrm rot="0">
              <a:off x="11479276" y="652780"/>
              <a:ext cx="9864662" cy="4206240"/>
              <a:chOff x="0" y="0"/>
              <a:chExt cx="9864662" cy="4206240"/>
            </a:xfrm>
          </p:grpSpPr>
          <p:sp>
            <p:nvSpPr>
              <p:cNvPr name="Freeform 23" id="23"/>
              <p:cNvSpPr/>
              <p:nvPr/>
            </p:nvSpPr>
            <p:spPr>
              <a:xfrm flipH="false" flipV="false" rot="0">
                <a:off x="0" y="0"/>
                <a:ext cx="9864661" cy="4206240"/>
              </a:xfrm>
              <a:custGeom>
                <a:avLst/>
                <a:gdLst/>
                <a:ahLst/>
                <a:cxnLst/>
                <a:rect r="r" b="b" t="t" l="l"/>
                <a:pathLst>
                  <a:path h="4206240" w="9864661">
                    <a:moveTo>
                      <a:pt x="0" y="146304"/>
                    </a:moveTo>
                    <a:cubicBezTo>
                      <a:pt x="0" y="65532"/>
                      <a:pt x="60425" y="0"/>
                      <a:pt x="134901" y="0"/>
                    </a:cubicBezTo>
                    <a:lnTo>
                      <a:pt x="9729760" y="0"/>
                    </a:lnTo>
                    <a:cubicBezTo>
                      <a:pt x="9804236" y="0"/>
                      <a:pt x="9864661" y="65532"/>
                      <a:pt x="9864661" y="146304"/>
                    </a:cubicBezTo>
                    <a:lnTo>
                      <a:pt x="9864661" y="4059936"/>
                    </a:lnTo>
                    <a:cubicBezTo>
                      <a:pt x="9864661" y="4140708"/>
                      <a:pt x="9804236" y="4206240"/>
                      <a:pt x="9729760" y="4206240"/>
                    </a:cubicBezTo>
                    <a:lnTo>
                      <a:pt x="134901" y="4206240"/>
                    </a:lnTo>
                    <a:cubicBezTo>
                      <a:pt x="60425" y="4206240"/>
                      <a:pt x="0" y="4140708"/>
                      <a:pt x="0" y="4059936"/>
                    </a:cubicBezTo>
                    <a:close/>
                  </a:path>
                </a:pathLst>
              </a:custGeom>
              <a:solidFill>
                <a:srgbClr val="0A1A23"/>
              </a:solidFill>
            </p:spPr>
          </p:sp>
        </p:grpSp>
        <p:grpSp>
          <p:nvGrpSpPr>
            <p:cNvPr name="Group 24" id="24"/>
            <p:cNvGrpSpPr/>
            <p:nvPr/>
          </p:nvGrpSpPr>
          <p:grpSpPr>
            <a:xfrm rot="0">
              <a:off x="11881612" y="1018540"/>
              <a:ext cx="237744" cy="237744"/>
              <a:chOff x="0" y="0"/>
              <a:chExt cx="237744" cy="237744"/>
            </a:xfrm>
          </p:grpSpPr>
          <p:sp>
            <p:nvSpPr>
              <p:cNvPr name="Freeform 25" id="25"/>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74C3C"/>
              </a:solidFill>
            </p:spPr>
          </p:sp>
        </p:grpSp>
        <p:grpSp>
          <p:nvGrpSpPr>
            <p:cNvPr name="Group 26" id="26"/>
            <p:cNvGrpSpPr/>
            <p:nvPr/>
          </p:nvGrpSpPr>
          <p:grpSpPr>
            <a:xfrm rot="0">
              <a:off x="12320524" y="1018540"/>
              <a:ext cx="237744" cy="237744"/>
              <a:chOff x="0" y="0"/>
              <a:chExt cx="237744" cy="237744"/>
            </a:xfrm>
          </p:grpSpPr>
          <p:sp>
            <p:nvSpPr>
              <p:cNvPr name="Freeform 27" id="27"/>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8B93F"/>
              </a:solidFill>
            </p:spPr>
          </p:sp>
        </p:grpSp>
        <p:grpSp>
          <p:nvGrpSpPr>
            <p:cNvPr name="Group 28" id="28"/>
            <p:cNvGrpSpPr/>
            <p:nvPr/>
          </p:nvGrpSpPr>
          <p:grpSpPr>
            <a:xfrm rot="0">
              <a:off x="12759436" y="1018540"/>
              <a:ext cx="237744" cy="237744"/>
              <a:chOff x="0" y="0"/>
              <a:chExt cx="237744" cy="237744"/>
            </a:xfrm>
          </p:grpSpPr>
          <p:sp>
            <p:nvSpPr>
              <p:cNvPr name="Freeform 29" id="29"/>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3FA76B"/>
              </a:solidFill>
            </p:spPr>
          </p:sp>
        </p:grpSp>
        <p:sp>
          <p:nvSpPr>
            <p:cNvPr name="TextBox 30" id="30"/>
            <p:cNvSpPr txBox="true"/>
            <p:nvPr/>
          </p:nvSpPr>
          <p:spPr>
            <a:xfrm rot="0">
              <a:off x="11991340" y="1490980"/>
              <a:ext cx="9674352" cy="2727960"/>
            </a:xfrm>
            <a:prstGeom prst="rect">
              <a:avLst/>
            </a:prstGeom>
          </p:spPr>
          <p:txBody>
            <a:bodyPr anchor="t" rtlCol="false" tIns="0" lIns="0" bIns="0" rIns="0">
              <a:spAutoFit/>
            </a:bodyPr>
            <a:lstStyle/>
            <a:p>
              <a:pPr algn="l">
                <a:lnSpc>
                  <a:spcPts val="2700"/>
                </a:lnSpc>
              </a:pPr>
              <a:r>
                <a:rPr lang="en-US" sz="1800">
                  <a:solidFill>
                    <a:srgbClr val="E4F1EF"/>
                  </a:solidFill>
                  <a:latin typeface="Poppins"/>
                  <a:ea typeface="Poppins"/>
                  <a:cs typeface="Poppins"/>
                  <a:sym typeface="Poppins"/>
                </a:rPr>
                <a:t>def clean_amount(value):</a:t>
              </a:r>
            </a:p>
            <a:p>
              <a:pPr algn="l">
                <a:lnSpc>
                  <a:spcPts val="2700"/>
                </a:lnSpc>
              </a:pPr>
              <a:r>
                <a:rPr lang="en-US" sz="1800">
                  <a:solidFill>
                    <a:srgbClr val="E4F1EF"/>
                  </a:solidFill>
                  <a:latin typeface="Poppins"/>
                  <a:ea typeface="Poppins"/>
                  <a:cs typeface="Poppins"/>
                  <a:sym typeface="Poppins"/>
                </a:rPr>
                <a:t>    value = value.replace("₦", "")</a:t>
              </a:r>
            </a:p>
            <a:p>
              <a:pPr algn="l">
                <a:lnSpc>
                  <a:spcPts val="2700"/>
                </a:lnSpc>
              </a:pPr>
              <a:r>
                <a:rPr lang="en-US" sz="1800">
                  <a:solidFill>
                    <a:srgbClr val="E4F1EF"/>
                  </a:solidFill>
                  <a:latin typeface="Poppins"/>
                  <a:ea typeface="Poppins"/>
                  <a:cs typeface="Poppins"/>
                  <a:sym typeface="Poppins"/>
                </a:rPr>
                <a:t>    value = value.replace(",", "")</a:t>
              </a:r>
            </a:p>
            <a:p>
              <a:pPr algn="l">
                <a:lnSpc>
                  <a:spcPts val="2700"/>
                </a:lnSpc>
              </a:pPr>
              <a:r>
                <a:rPr lang="en-US" sz="1800">
                  <a:solidFill>
                    <a:srgbClr val="E4F1EF"/>
                  </a:solidFill>
                  <a:latin typeface="Poppins"/>
                  <a:ea typeface="Poppins"/>
                  <a:cs typeface="Poppins"/>
                  <a:sym typeface="Poppins"/>
                </a:rPr>
                <a:t>    return float(value)</a:t>
              </a:r>
            </a:p>
            <a:p>
              <a:pPr algn="l">
                <a:lnSpc>
                  <a:spcPts val="2700"/>
                </a:lnSpc>
              </a:pPr>
            </a:p>
            <a:p>
              <a:pPr algn="l">
                <a:lnSpc>
                  <a:spcPts val="2700"/>
                </a:lnSpc>
              </a:pPr>
              <a:r>
                <a:rPr lang="en-US" sz="1800">
                  <a:solidFill>
                    <a:srgbClr val="E4F1EF"/>
                  </a:solidFill>
                  <a:latin typeface="Poppins"/>
                  <a:ea typeface="Poppins"/>
                  <a:cs typeface="Poppins"/>
                  <a:sym typeface="Poppins"/>
                </a:rPr>
                <a:t>clean_amount("₦15,000")</a:t>
              </a:r>
            </a:p>
          </p:txBody>
        </p:sp>
        <p:grpSp>
          <p:nvGrpSpPr>
            <p:cNvPr name="Group 31" id="31"/>
            <p:cNvGrpSpPr/>
            <p:nvPr/>
          </p:nvGrpSpPr>
          <p:grpSpPr>
            <a:xfrm rot="0">
              <a:off x="11463401" y="5117465"/>
              <a:ext cx="9880536" cy="1403350"/>
              <a:chOff x="0" y="0"/>
              <a:chExt cx="9880536" cy="1403350"/>
            </a:xfrm>
          </p:grpSpPr>
          <p:sp>
            <p:nvSpPr>
              <p:cNvPr name="Freeform 32" id="32"/>
              <p:cNvSpPr/>
              <p:nvPr/>
            </p:nvSpPr>
            <p:spPr>
              <a:xfrm flipH="false" flipV="false" rot="0">
                <a:off x="0" y="0"/>
                <a:ext cx="9880536" cy="1403350"/>
              </a:xfrm>
              <a:custGeom>
                <a:avLst/>
                <a:gdLst/>
                <a:ahLst/>
                <a:cxnLst/>
                <a:rect r="r" b="b" t="t" l="l"/>
                <a:pathLst>
                  <a:path h="1403350" w="9880536">
                    <a:moveTo>
                      <a:pt x="0" y="112268"/>
                    </a:moveTo>
                    <a:cubicBezTo>
                      <a:pt x="0" y="50292"/>
                      <a:pt x="46310" y="0"/>
                      <a:pt x="103378" y="0"/>
                    </a:cubicBezTo>
                    <a:lnTo>
                      <a:pt x="9777158" y="0"/>
                    </a:lnTo>
                    <a:cubicBezTo>
                      <a:pt x="9834227" y="0"/>
                      <a:pt x="9880536" y="50292"/>
                      <a:pt x="9880536" y="112268"/>
                    </a:cubicBezTo>
                    <a:lnTo>
                      <a:pt x="9880536" y="1291082"/>
                    </a:lnTo>
                    <a:cubicBezTo>
                      <a:pt x="9880536" y="1353058"/>
                      <a:pt x="9834227" y="1403350"/>
                      <a:pt x="9777158" y="1403350"/>
                    </a:cubicBezTo>
                    <a:lnTo>
                      <a:pt x="103378" y="1403350"/>
                    </a:lnTo>
                    <a:cubicBezTo>
                      <a:pt x="46310" y="1403350"/>
                      <a:pt x="0" y="1353058"/>
                      <a:pt x="0" y="1291082"/>
                    </a:cubicBezTo>
                    <a:close/>
                  </a:path>
                </a:pathLst>
              </a:custGeom>
              <a:solidFill>
                <a:srgbClr val="FFFFFF"/>
              </a:solidFill>
              <a:ln w="23812" cap="sq">
                <a:solidFill>
                  <a:srgbClr val="387F7F"/>
                </a:solidFill>
                <a:prstDash val="solid"/>
                <a:miter/>
              </a:ln>
            </p:spPr>
          </p:sp>
        </p:grpSp>
        <p:grpSp>
          <p:nvGrpSpPr>
            <p:cNvPr name="Group 33" id="33"/>
            <p:cNvGrpSpPr/>
            <p:nvPr/>
          </p:nvGrpSpPr>
          <p:grpSpPr>
            <a:xfrm rot="0">
              <a:off x="11881612" y="5352796"/>
              <a:ext cx="9966960" cy="498348"/>
              <a:chOff x="0" y="0"/>
              <a:chExt cx="9966960" cy="498348"/>
            </a:xfrm>
          </p:grpSpPr>
          <p:sp>
            <p:nvSpPr>
              <p:cNvPr name="Freeform 34" id="34"/>
              <p:cNvSpPr/>
              <p:nvPr/>
            </p:nvSpPr>
            <p:spPr>
              <a:xfrm flipH="false" flipV="false" rot="0">
                <a:off x="0" y="0"/>
                <a:ext cx="9966960" cy="498348"/>
              </a:xfrm>
              <a:custGeom>
                <a:avLst/>
                <a:gdLst/>
                <a:ahLst/>
                <a:cxnLst/>
                <a:rect r="r" b="b" t="t" l="l"/>
                <a:pathLst>
                  <a:path h="498348" w="9966960">
                    <a:moveTo>
                      <a:pt x="0" y="0"/>
                    </a:moveTo>
                    <a:lnTo>
                      <a:pt x="9966960" y="0"/>
                    </a:lnTo>
                    <a:lnTo>
                      <a:pt x="9966960" y="498348"/>
                    </a:lnTo>
                    <a:lnTo>
                      <a:pt x="0" y="498348"/>
                    </a:lnTo>
                    <a:close/>
                  </a:path>
                </a:pathLst>
              </a:custGeom>
              <a:blipFill>
                <a:blip r:embed="rId3">
                  <a:alphaModFix amt="0"/>
                </a:blip>
                <a:stretch>
                  <a:fillRect l="0" t="-345664" r="0" b="-333737"/>
                </a:stretch>
              </a:blipFill>
            </p:spPr>
          </p:sp>
          <p:sp>
            <p:nvSpPr>
              <p:cNvPr name="TextBox 35" id="35"/>
              <p:cNvSpPr txBox="true"/>
              <p:nvPr/>
            </p:nvSpPr>
            <p:spPr>
              <a:xfrm>
                <a:off x="0" y="-19050"/>
                <a:ext cx="9966960" cy="517398"/>
              </a:xfrm>
              <a:prstGeom prst="rect">
                <a:avLst/>
              </a:prstGeom>
            </p:spPr>
            <p:txBody>
              <a:bodyPr anchor="ctr" rtlCol="false" tIns="0" lIns="0" bIns="0" rIns="0"/>
              <a:lstStyle/>
              <a:p>
                <a:pPr algn="l">
                  <a:lnSpc>
                    <a:spcPts val="1800"/>
                  </a:lnSpc>
                </a:pPr>
                <a:r>
                  <a:rPr lang="en-US" b="true" sz="1500" spc="150">
                    <a:solidFill>
                      <a:srgbClr val="387F7F"/>
                    </a:solidFill>
                    <a:latin typeface="Poppins Bold"/>
                    <a:ea typeface="Poppins Bold"/>
                    <a:cs typeface="Poppins Bold"/>
                    <a:sym typeface="Poppins Bold"/>
                  </a:rPr>
                  <a:t>OUTPUT</a:t>
                </a:r>
              </a:p>
            </p:txBody>
          </p:sp>
        </p:grpSp>
        <p:sp>
          <p:nvSpPr>
            <p:cNvPr name="TextBox 36" id="36"/>
            <p:cNvSpPr txBox="true"/>
            <p:nvPr/>
          </p:nvSpPr>
          <p:spPr>
            <a:xfrm rot="0">
              <a:off x="11881612" y="5725033"/>
              <a:ext cx="9893808" cy="466979"/>
            </a:xfrm>
            <a:prstGeom prst="rect">
              <a:avLst/>
            </a:prstGeom>
          </p:spPr>
          <p:txBody>
            <a:bodyPr anchor="t" rtlCol="false" tIns="0" lIns="0" bIns="0" rIns="0">
              <a:spAutoFit/>
            </a:bodyPr>
            <a:lstStyle/>
            <a:p>
              <a:pPr algn="l">
                <a:lnSpc>
                  <a:spcPts val="2916"/>
                </a:lnSpc>
              </a:pPr>
              <a:r>
                <a:rPr lang="en-US" sz="2025">
                  <a:solidFill>
                    <a:srgbClr val="0A1A23"/>
                  </a:solidFill>
                  <a:latin typeface="Poppins"/>
                  <a:ea typeface="Poppins"/>
                  <a:cs typeface="Poppins"/>
                  <a:sym typeface="Poppins"/>
                </a:rPr>
                <a:t>15000.0</a:t>
              </a:r>
            </a:p>
          </p:txBody>
        </p:sp>
        <p:grpSp>
          <p:nvGrpSpPr>
            <p:cNvPr name="Group 37" id="37"/>
            <p:cNvGrpSpPr/>
            <p:nvPr/>
          </p:nvGrpSpPr>
          <p:grpSpPr>
            <a:xfrm rot="0">
              <a:off x="0" y="5670548"/>
              <a:ext cx="10698480" cy="2108835"/>
              <a:chOff x="0" y="0"/>
              <a:chExt cx="10698480" cy="2108835"/>
            </a:xfrm>
          </p:grpSpPr>
          <p:sp>
            <p:nvSpPr>
              <p:cNvPr name="Freeform 38" id="38"/>
              <p:cNvSpPr/>
              <p:nvPr/>
            </p:nvSpPr>
            <p:spPr>
              <a:xfrm flipH="false" flipV="false" rot="0">
                <a:off x="0" y="0"/>
                <a:ext cx="10698480" cy="2108835"/>
              </a:xfrm>
              <a:custGeom>
                <a:avLst/>
                <a:gdLst/>
                <a:ahLst/>
                <a:cxnLst/>
                <a:rect r="r" b="b" t="t" l="l"/>
                <a:pathLst>
                  <a:path h="2108835" w="10698480">
                    <a:moveTo>
                      <a:pt x="0" y="0"/>
                    </a:moveTo>
                    <a:lnTo>
                      <a:pt x="10698480" y="0"/>
                    </a:lnTo>
                    <a:lnTo>
                      <a:pt x="10698480" y="2108835"/>
                    </a:lnTo>
                    <a:lnTo>
                      <a:pt x="0" y="2108835"/>
                    </a:lnTo>
                    <a:close/>
                  </a:path>
                </a:pathLst>
              </a:custGeom>
              <a:blipFill>
                <a:blip r:embed="rId3">
                  <a:alphaModFix amt="0"/>
                </a:blip>
                <a:stretch>
                  <a:fillRect l="0" t="-55490" r="0" b="-42211"/>
                </a:stretch>
              </a:blipFill>
            </p:spPr>
          </p:sp>
          <p:sp>
            <p:nvSpPr>
              <p:cNvPr name="TextBox 39" id="39"/>
              <p:cNvSpPr txBox="true"/>
              <p:nvPr/>
            </p:nvSpPr>
            <p:spPr>
              <a:xfrm>
                <a:off x="0" y="-85725"/>
                <a:ext cx="10698480" cy="2194560"/>
              </a:xfrm>
              <a:prstGeom prst="rect">
                <a:avLst/>
              </a:prstGeom>
            </p:spPr>
            <p:txBody>
              <a:bodyPr anchor="ctr" rtlCol="false" tIns="0" lIns="0" bIns="0" rIns="0"/>
              <a:lstStyle/>
              <a:p>
                <a:pPr algn="l">
                  <a:lnSpc>
                    <a:spcPts val="2925"/>
                  </a:lnSpc>
                </a:pPr>
                <a:r>
                  <a:rPr lang="en-US" sz="1875" b="true">
                    <a:solidFill>
                      <a:srgbClr val="0A1A23"/>
                    </a:solidFill>
                    <a:latin typeface="Poppins Bold"/>
                    <a:ea typeface="Poppins Bold"/>
                    <a:cs typeface="Poppins Bold"/>
                    <a:sym typeface="Poppins Bold"/>
                  </a:rPr>
                  <a:t>Means: </a:t>
                </a:r>
                <a:r>
                  <a:rPr lang="en-US" sz="1875">
                    <a:solidFill>
                      <a:srgbClr val="0A1A23"/>
                    </a:solidFill>
                    <a:latin typeface="Poppins"/>
                    <a:ea typeface="Poppins"/>
                    <a:cs typeface="Poppins"/>
                    <a:sym typeface="Poppins"/>
                  </a:rPr>
                  <a:t>float() needs digits only. The ₦ symbol and comma are not valid parts of a number.</a:t>
                </a:r>
              </a:p>
              <a:p>
                <a:pPr algn="l">
                  <a:lnSpc>
                    <a:spcPts val="2925"/>
                  </a:lnSpc>
                </a:pPr>
                <a:r>
                  <a:rPr lang="en-US" sz="1875" b="true">
                    <a:solidFill>
                      <a:srgbClr val="0A1A23"/>
                    </a:solidFill>
                    <a:latin typeface="Poppins Bold"/>
                    <a:ea typeface="Poppins Bold"/>
                    <a:cs typeface="Poppins Bold"/>
                    <a:sym typeface="Poppins Bold"/>
                  </a:rPr>
                  <a:t>Locate it: </a:t>
                </a:r>
                <a:r>
                  <a:rPr lang="en-US" sz="1875">
                    <a:solidFill>
                      <a:srgbClr val="0A1A23"/>
                    </a:solidFill>
                    <a:latin typeface="Poppins"/>
                    <a:ea typeface="Poppins"/>
                    <a:cs typeface="Poppins"/>
                    <a:sym typeface="Poppins"/>
                  </a:rPr>
                  <a:t>the input still carries currency formatting from the source file.</a:t>
                </a:r>
              </a:p>
            </p:txBody>
          </p:sp>
        </p:grpSp>
        <p:grpSp>
          <p:nvGrpSpPr>
            <p:cNvPr name="Group 40" id="40"/>
            <p:cNvGrpSpPr/>
            <p:nvPr/>
          </p:nvGrpSpPr>
          <p:grpSpPr>
            <a:xfrm rot="0">
              <a:off x="11466576" y="6767828"/>
              <a:ext cx="10698480" cy="1080135"/>
              <a:chOff x="0" y="0"/>
              <a:chExt cx="10698480" cy="1080135"/>
            </a:xfrm>
          </p:grpSpPr>
          <p:sp>
            <p:nvSpPr>
              <p:cNvPr name="Freeform 41" id="41"/>
              <p:cNvSpPr/>
              <p:nvPr/>
            </p:nvSpPr>
            <p:spPr>
              <a:xfrm flipH="false" flipV="false" rot="0">
                <a:off x="0" y="0"/>
                <a:ext cx="10698480" cy="1080135"/>
              </a:xfrm>
              <a:custGeom>
                <a:avLst/>
                <a:gdLst/>
                <a:ahLst/>
                <a:cxnLst/>
                <a:rect r="r" b="b" t="t" l="l"/>
                <a:pathLst>
                  <a:path h="1080135" w="10698480">
                    <a:moveTo>
                      <a:pt x="0" y="0"/>
                    </a:moveTo>
                    <a:lnTo>
                      <a:pt x="10698480" y="0"/>
                    </a:lnTo>
                    <a:lnTo>
                      <a:pt x="10698480" y="1080135"/>
                    </a:lnTo>
                    <a:lnTo>
                      <a:pt x="0" y="1080135"/>
                    </a:lnTo>
                    <a:close/>
                  </a:path>
                </a:pathLst>
              </a:custGeom>
              <a:blipFill>
                <a:blip r:embed="rId3">
                  <a:alphaModFix amt="0"/>
                </a:blip>
                <a:stretch>
                  <a:fillRect l="0" t="-146433" r="0" b="-139555"/>
                </a:stretch>
              </a:blipFill>
            </p:spPr>
          </p:sp>
          <p:sp>
            <p:nvSpPr>
              <p:cNvPr name="TextBox 42" id="42"/>
              <p:cNvSpPr txBox="true"/>
              <p:nvPr/>
            </p:nvSpPr>
            <p:spPr>
              <a:xfrm>
                <a:off x="0" y="-66675"/>
                <a:ext cx="10698480" cy="1146810"/>
              </a:xfrm>
              <a:prstGeom prst="rect">
                <a:avLst/>
              </a:prstGeom>
            </p:spPr>
            <p:txBody>
              <a:bodyPr anchor="ctr" rtlCol="false" tIns="0" lIns="0" bIns="0" rIns="0"/>
              <a:lstStyle/>
              <a:p>
                <a:pPr algn="l">
                  <a:lnSpc>
                    <a:spcPts val="2700"/>
                  </a:lnSpc>
                </a:pPr>
                <a:r>
                  <a:rPr lang="en-US" sz="1875" b="true">
                    <a:solidFill>
                      <a:srgbClr val="0A1A23"/>
                    </a:solidFill>
                    <a:latin typeface="Poppins Bold"/>
                    <a:ea typeface="Poppins Bold"/>
                    <a:cs typeface="Poppins Bold"/>
                    <a:sym typeface="Poppins Bold"/>
                  </a:rPr>
                  <a:t>Verify: </a:t>
                </a:r>
                <a:r>
                  <a:rPr lang="en-US" sz="1875">
                    <a:solidFill>
                      <a:srgbClr val="0A1A23"/>
                    </a:solidFill>
                    <a:latin typeface="Poppins"/>
                    <a:ea typeface="Poppins"/>
                    <a:cs typeface="Poppins"/>
                    <a:sym typeface="Poppins"/>
                  </a:rPr>
                  <a:t>₦15,000 in the source file now matches 15000.0 in the notebook.</a:t>
                </a:r>
              </a:p>
            </p:txBody>
          </p:sp>
        </p:grpSp>
        <p:grpSp>
          <p:nvGrpSpPr>
            <p:cNvPr name="Group 43" id="43"/>
            <p:cNvGrpSpPr/>
            <p:nvPr/>
          </p:nvGrpSpPr>
          <p:grpSpPr>
            <a:xfrm rot="0">
              <a:off x="652780" y="10286363"/>
              <a:ext cx="21086064" cy="669468"/>
              <a:chOff x="0" y="0"/>
              <a:chExt cx="21086064" cy="669468"/>
            </a:xfrm>
          </p:grpSpPr>
          <p:sp>
            <p:nvSpPr>
              <p:cNvPr name="Freeform 44" id="44"/>
              <p:cNvSpPr/>
              <p:nvPr/>
            </p:nvSpPr>
            <p:spPr>
              <a:xfrm flipH="false" flipV="false" rot="0">
                <a:off x="0" y="0"/>
                <a:ext cx="21086065" cy="669468"/>
              </a:xfrm>
              <a:custGeom>
                <a:avLst/>
                <a:gdLst/>
                <a:ahLst/>
                <a:cxnLst/>
                <a:rect r="r" b="b" t="t" l="l"/>
                <a:pathLst>
                  <a:path h="669468" w="21086065">
                    <a:moveTo>
                      <a:pt x="0" y="0"/>
                    </a:moveTo>
                    <a:lnTo>
                      <a:pt x="21086065" y="0"/>
                    </a:lnTo>
                    <a:lnTo>
                      <a:pt x="21086065" y="669468"/>
                    </a:lnTo>
                    <a:lnTo>
                      <a:pt x="0" y="669468"/>
                    </a:lnTo>
                    <a:close/>
                  </a:path>
                </a:pathLst>
              </a:custGeom>
              <a:blipFill>
                <a:blip r:embed="rId3">
                  <a:alphaModFix amt="0"/>
                </a:blip>
                <a:stretch>
                  <a:fillRect l="0" t="-572739" r="0" b="-554691"/>
                </a:stretch>
              </a:blipFill>
            </p:spPr>
          </p:sp>
          <p:sp>
            <p:nvSpPr>
              <p:cNvPr name="TextBox 45" id="45"/>
              <p:cNvSpPr txBox="true"/>
              <p:nvPr/>
            </p:nvSpPr>
            <p:spPr>
              <a:xfrm>
                <a:off x="0" y="-47625"/>
                <a:ext cx="21086064" cy="717093"/>
              </a:xfrm>
              <a:prstGeom prst="rect">
                <a:avLst/>
              </a:prstGeom>
            </p:spPr>
            <p:txBody>
              <a:bodyPr anchor="ctr" rtlCol="false" tIns="0" lIns="0" bIns="0" rIns="0"/>
              <a:lstStyle/>
              <a:p>
                <a:pPr algn="l">
                  <a:lnSpc>
                    <a:spcPts val="2794"/>
                  </a:lnSpc>
                </a:pPr>
                <a:r>
                  <a:rPr lang="en-US" sz="2025" i="true">
                    <a:solidFill>
                      <a:srgbClr val="0A1A23"/>
                    </a:solidFill>
                    <a:latin typeface="Poppins Italics"/>
                    <a:ea typeface="Poppins Italics"/>
                    <a:cs typeface="Poppins Italics"/>
                    <a:sym typeface="Poppins Italics"/>
                  </a:rPr>
                  <a:t>Do not panic at an error. Read it, locate the line, fix one thing, rerun, and verify against a known value.</a:t>
                </a:r>
              </a:p>
            </p:txBody>
          </p:sp>
        </p:grpSp>
        <p:grpSp>
          <p:nvGrpSpPr>
            <p:cNvPr name="Group 46" id="46"/>
            <p:cNvGrpSpPr/>
            <p:nvPr/>
          </p:nvGrpSpPr>
          <p:grpSpPr>
            <a:xfrm rot="0">
              <a:off x="20912455" y="9312944"/>
              <a:ext cx="862965" cy="762000"/>
              <a:chOff x="0" y="0"/>
              <a:chExt cx="862965" cy="762000"/>
            </a:xfrm>
          </p:grpSpPr>
          <p:sp>
            <p:nvSpPr>
              <p:cNvPr name="Freeform 47" id="47"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4"/>
                <a:stretch>
                  <a:fillRect l="-772" t="0" r="-772" b="0"/>
                </a:stretch>
              </a:blipFill>
            </p:spPr>
          </p:sp>
        </p:grpSp>
      </p:grpSp>
      <p:grpSp>
        <p:nvGrpSpPr>
          <p:cNvPr name="Group 48" id="48"/>
          <p:cNvGrpSpPr/>
          <p:nvPr/>
        </p:nvGrpSpPr>
        <p:grpSpPr>
          <a:xfrm rot="0">
            <a:off x="10002810" y="2070127"/>
            <a:ext cx="8023860" cy="467201"/>
            <a:chOff x="0" y="0"/>
            <a:chExt cx="10698480" cy="622935"/>
          </a:xfrm>
        </p:grpSpPr>
        <p:sp>
          <p:nvSpPr>
            <p:cNvPr name="Freeform 49" id="49"/>
            <p:cNvSpPr/>
            <p:nvPr/>
          </p:nvSpPr>
          <p:spPr>
            <a:xfrm flipH="false" flipV="false" rot="0">
              <a:off x="0" y="0"/>
              <a:ext cx="10698480" cy="622935"/>
            </a:xfrm>
            <a:custGeom>
              <a:avLst/>
              <a:gdLst/>
              <a:ahLst/>
              <a:cxnLst/>
              <a:rect r="r" b="b" t="t" l="l"/>
              <a:pathLst>
                <a:path h="622935" w="10698480">
                  <a:moveTo>
                    <a:pt x="0" y="0"/>
                  </a:moveTo>
                  <a:lnTo>
                    <a:pt x="10698480" y="0"/>
                  </a:lnTo>
                  <a:lnTo>
                    <a:pt x="10698480" y="622935"/>
                  </a:lnTo>
                  <a:lnTo>
                    <a:pt x="0" y="622935"/>
                  </a:lnTo>
                  <a:close/>
                </a:path>
              </a:pathLst>
            </a:custGeom>
            <a:blipFill>
              <a:blip r:embed="rId3">
                <a:alphaModFix amt="0"/>
              </a:blip>
              <a:stretch>
                <a:fillRect l="0" t="-290605" r="0" b="-278678"/>
              </a:stretch>
            </a:blipFill>
          </p:spPr>
        </p:sp>
        <p:sp>
          <p:nvSpPr>
            <p:cNvPr name="TextBox 50" id="50"/>
            <p:cNvSpPr txBox="true"/>
            <p:nvPr/>
          </p:nvSpPr>
          <p:spPr>
            <a:xfrm>
              <a:off x="0" y="-19050"/>
              <a:ext cx="10698480" cy="641985"/>
            </a:xfrm>
            <a:prstGeom prst="rect">
              <a:avLst/>
            </a:prstGeom>
          </p:spPr>
          <p:txBody>
            <a:bodyPr anchor="ctr" rtlCol="false" tIns="0" lIns="0" bIns="0" rIns="0"/>
            <a:lstStyle/>
            <a:p>
              <a:pPr algn="l">
                <a:lnSpc>
                  <a:spcPts val="2250"/>
                </a:lnSpc>
              </a:pPr>
              <a:r>
                <a:rPr lang="en-US" sz="1875" b="true">
                  <a:solidFill>
                    <a:srgbClr val="387F7F"/>
                  </a:solidFill>
                  <a:latin typeface="Poppins Bold"/>
                  <a:ea typeface="Poppins Bold"/>
                  <a:cs typeface="Poppins Bold"/>
                  <a:sym typeface="Poppins Bold"/>
                </a:rPr>
                <a:t>AFTER — the fix</a:t>
              </a:r>
            </a:p>
          </p:txBody>
        </p:sp>
      </p:grpSp>
      <p:grpSp>
        <p:nvGrpSpPr>
          <p:cNvPr name="Group 51" id="51"/>
          <p:cNvGrpSpPr/>
          <p:nvPr/>
        </p:nvGrpSpPr>
        <p:grpSpPr>
          <a:xfrm rot="0">
            <a:off x="1172773" y="748665"/>
            <a:ext cx="11658600" cy="1245870"/>
            <a:chOff x="0" y="0"/>
            <a:chExt cx="15544800" cy="1661160"/>
          </a:xfrm>
        </p:grpSpPr>
        <p:sp>
          <p:nvSpPr>
            <p:cNvPr name="Freeform 52" id="52"/>
            <p:cNvSpPr/>
            <p:nvPr/>
          </p:nvSpPr>
          <p:spPr>
            <a:xfrm flipH="false" flipV="false" rot="0">
              <a:off x="0" y="0"/>
              <a:ext cx="15544800" cy="1661160"/>
            </a:xfrm>
            <a:custGeom>
              <a:avLst/>
              <a:gdLst/>
              <a:ahLst/>
              <a:cxnLst/>
              <a:rect r="r" b="b" t="t" l="l"/>
              <a:pathLst>
                <a:path h="1661160" w="15544800">
                  <a:moveTo>
                    <a:pt x="0" y="0"/>
                  </a:moveTo>
                  <a:lnTo>
                    <a:pt x="15544800" y="0"/>
                  </a:lnTo>
                  <a:lnTo>
                    <a:pt x="15544800" y="1661160"/>
                  </a:lnTo>
                  <a:lnTo>
                    <a:pt x="0" y="1661160"/>
                  </a:lnTo>
                  <a:close/>
                </a:path>
              </a:pathLst>
            </a:custGeom>
            <a:blipFill>
              <a:blip r:embed="rId3">
                <a:alphaModFix amt="0"/>
              </a:blip>
              <a:stretch>
                <a:fillRect l="0" t="-146557" r="0" b="-118116"/>
              </a:stretch>
            </a:blipFill>
          </p:spPr>
        </p:sp>
        <p:sp>
          <p:nvSpPr>
            <p:cNvPr name="TextBox 53" id="53"/>
            <p:cNvSpPr txBox="true"/>
            <p:nvPr/>
          </p:nvSpPr>
          <p:spPr>
            <a:xfrm>
              <a:off x="0" y="-47625"/>
              <a:ext cx="15544800" cy="1708785"/>
            </a:xfrm>
            <a:prstGeom prst="rect">
              <a:avLst/>
            </a:prstGeom>
          </p:spPr>
          <p:txBody>
            <a:bodyPr anchor="ctr" rtlCol="false" tIns="0" lIns="0" bIns="0" rIns="0"/>
            <a:lstStyle/>
            <a:p>
              <a:pPr algn="l">
                <a:lnSpc>
                  <a:spcPts val="6000"/>
                </a:lnSpc>
              </a:pPr>
              <a:r>
                <a:rPr lang="en-US" sz="5000">
                  <a:solidFill>
                    <a:srgbClr val="388080"/>
                  </a:solidFill>
                  <a:latin typeface="Poppins"/>
                  <a:ea typeface="Poppins"/>
                  <a:cs typeface="Poppins"/>
                  <a:sym typeface="Poppins"/>
                </a:rPr>
                <a:t>Debug It: Before and After</a:t>
              </a:r>
            </a:p>
          </p:txBody>
        </p:sp>
      </p:grpSp>
      <p:sp>
        <p:nvSpPr>
          <p:cNvPr name="Freeform 54" id="54"/>
          <p:cNvSpPr/>
          <p:nvPr/>
        </p:nvSpPr>
        <p:spPr>
          <a:xfrm flipH="false" flipV="false" rot="0">
            <a:off x="16517465" y="2934400"/>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5" id="55"/>
          <p:cNvGrpSpPr/>
          <p:nvPr/>
        </p:nvGrpSpPr>
        <p:grpSpPr>
          <a:xfrm rot="0">
            <a:off x="857250" y="857250"/>
            <a:ext cx="114300" cy="1028700"/>
            <a:chOff x="0" y="0"/>
            <a:chExt cx="152400" cy="1371600"/>
          </a:xfrm>
        </p:grpSpPr>
        <p:sp>
          <p:nvSpPr>
            <p:cNvPr name="Freeform 56" id="56"/>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9237" y="886644"/>
            <a:ext cx="18307237" cy="9400356"/>
            <a:chOff x="0" y="0"/>
            <a:chExt cx="24409649" cy="12533808"/>
          </a:xfrm>
        </p:grpSpPr>
        <p:grpSp>
          <p:nvGrpSpPr>
            <p:cNvPr name="Group 5" id="5"/>
            <p:cNvGrpSpPr/>
            <p:nvPr/>
          </p:nvGrpSpPr>
          <p:grpSpPr>
            <a:xfrm rot="0">
              <a:off x="979526" y="1687068"/>
              <a:ext cx="10698480" cy="3200400"/>
              <a:chOff x="0" y="0"/>
              <a:chExt cx="10698480" cy="3200400"/>
            </a:xfrm>
          </p:grpSpPr>
          <p:sp>
            <p:nvSpPr>
              <p:cNvPr name="Freeform 6" id="6"/>
              <p:cNvSpPr/>
              <p:nvPr/>
            </p:nvSpPr>
            <p:spPr>
              <a:xfrm flipH="false" flipV="false" rot="0">
                <a:off x="0" y="0"/>
                <a:ext cx="10698480" cy="3200400"/>
              </a:xfrm>
              <a:custGeom>
                <a:avLst/>
                <a:gdLst/>
                <a:ahLst/>
                <a:cxnLst/>
                <a:rect r="r" b="b" t="t" l="l"/>
                <a:pathLst>
                  <a:path h="3200400" w="10698480">
                    <a:moveTo>
                      <a:pt x="0" y="146304"/>
                    </a:moveTo>
                    <a:cubicBezTo>
                      <a:pt x="0" y="65532"/>
                      <a:pt x="65532" y="0"/>
                      <a:pt x="146304" y="0"/>
                    </a:cubicBezTo>
                    <a:lnTo>
                      <a:pt x="10552176" y="0"/>
                    </a:lnTo>
                    <a:cubicBezTo>
                      <a:pt x="10632948" y="0"/>
                      <a:pt x="10698480" y="65532"/>
                      <a:pt x="10698480" y="146304"/>
                    </a:cubicBezTo>
                    <a:lnTo>
                      <a:pt x="10698480" y="3054096"/>
                    </a:lnTo>
                    <a:cubicBezTo>
                      <a:pt x="10698480" y="3134868"/>
                      <a:pt x="10632948" y="3200400"/>
                      <a:pt x="10552176" y="3200400"/>
                    </a:cubicBezTo>
                    <a:lnTo>
                      <a:pt x="146304" y="3200400"/>
                    </a:lnTo>
                    <a:cubicBezTo>
                      <a:pt x="65532" y="3200400"/>
                      <a:pt x="0" y="3134868"/>
                      <a:pt x="0" y="3054096"/>
                    </a:cubicBezTo>
                    <a:close/>
                  </a:path>
                </a:pathLst>
              </a:custGeom>
              <a:solidFill>
                <a:srgbClr val="0A1A23"/>
              </a:solidFill>
            </p:spPr>
          </p:sp>
        </p:grpSp>
        <p:grpSp>
          <p:nvGrpSpPr>
            <p:cNvPr name="Group 7" id="7"/>
            <p:cNvGrpSpPr/>
            <p:nvPr/>
          </p:nvGrpSpPr>
          <p:grpSpPr>
            <a:xfrm rot="0">
              <a:off x="1381862" y="2052828"/>
              <a:ext cx="237744" cy="237744"/>
              <a:chOff x="0" y="0"/>
              <a:chExt cx="237744" cy="237744"/>
            </a:xfrm>
          </p:grpSpPr>
          <p:sp>
            <p:nvSpPr>
              <p:cNvPr name="Freeform 8" id="8"/>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74C3C"/>
              </a:solidFill>
            </p:spPr>
          </p:sp>
        </p:grpSp>
        <p:grpSp>
          <p:nvGrpSpPr>
            <p:cNvPr name="Group 9" id="9"/>
            <p:cNvGrpSpPr/>
            <p:nvPr/>
          </p:nvGrpSpPr>
          <p:grpSpPr>
            <a:xfrm rot="0">
              <a:off x="1820774" y="2052828"/>
              <a:ext cx="237744" cy="237744"/>
              <a:chOff x="0" y="0"/>
              <a:chExt cx="237744" cy="237744"/>
            </a:xfrm>
          </p:grpSpPr>
          <p:sp>
            <p:nvSpPr>
              <p:cNvPr name="Freeform 10" id="10"/>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8B93F"/>
              </a:solidFill>
            </p:spPr>
          </p:sp>
        </p:grpSp>
        <p:grpSp>
          <p:nvGrpSpPr>
            <p:cNvPr name="Group 11" id="11"/>
            <p:cNvGrpSpPr/>
            <p:nvPr/>
          </p:nvGrpSpPr>
          <p:grpSpPr>
            <a:xfrm rot="0">
              <a:off x="2259686" y="2052828"/>
              <a:ext cx="237744" cy="237744"/>
              <a:chOff x="0" y="0"/>
              <a:chExt cx="237744" cy="237744"/>
            </a:xfrm>
          </p:grpSpPr>
          <p:sp>
            <p:nvSpPr>
              <p:cNvPr name="Freeform 12" id="12"/>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3FA76B"/>
              </a:solidFill>
            </p:spPr>
          </p:sp>
        </p:grpSp>
        <p:sp>
          <p:nvSpPr>
            <p:cNvPr name="TextBox 13" id="13"/>
            <p:cNvSpPr txBox="true"/>
            <p:nvPr/>
          </p:nvSpPr>
          <p:spPr>
            <a:xfrm rot="0">
              <a:off x="1491590" y="2525268"/>
              <a:ext cx="9674352" cy="1860550"/>
            </a:xfrm>
            <a:prstGeom prst="rect">
              <a:avLst/>
            </a:prstGeom>
          </p:spPr>
          <p:txBody>
            <a:bodyPr anchor="t" rtlCol="false" tIns="0" lIns="0" bIns="0" rIns="0">
              <a:spAutoFit/>
            </a:bodyPr>
            <a:lstStyle/>
            <a:p>
              <a:pPr algn="l">
                <a:lnSpc>
                  <a:spcPts val="2812"/>
                </a:lnSpc>
              </a:pPr>
              <a:r>
                <a:rPr lang="en-US" sz="1875">
                  <a:solidFill>
                    <a:srgbClr val="E4F1EF"/>
                  </a:solidFill>
                  <a:latin typeface="Poppins"/>
                  <a:ea typeface="Poppins"/>
                  <a:cs typeface="Poppins"/>
                  <a:sym typeface="Poppins"/>
                </a:rPr>
                <a:t>transactions = [</a:t>
              </a:r>
            </a:p>
            <a:p>
              <a:pPr algn="l">
                <a:lnSpc>
                  <a:spcPts val="2812"/>
                </a:lnSpc>
              </a:pPr>
              <a:r>
                <a:rPr lang="en-US" sz="1875">
                  <a:solidFill>
                    <a:srgbClr val="E4F1EF"/>
                  </a:solidFill>
                  <a:latin typeface="Poppins"/>
                  <a:ea typeface="Poppins"/>
                  <a:cs typeface="Poppins"/>
                  <a:sym typeface="Poppins"/>
                </a:rPr>
                <a:t>    {"branch": "Abuja", "amount": "NGN 9,500"},</a:t>
              </a:r>
            </a:p>
            <a:p>
              <a:pPr algn="l">
                <a:lnSpc>
                  <a:spcPts val="2812"/>
                </a:lnSpc>
              </a:pPr>
              <a:r>
                <a:rPr lang="en-US" sz="1875">
                  <a:solidFill>
                    <a:srgbClr val="E4F1EF"/>
                  </a:solidFill>
                  <a:latin typeface="Poppins"/>
                  <a:ea typeface="Poppins"/>
                  <a:cs typeface="Poppins"/>
                  <a:sym typeface="Poppins"/>
                </a:rPr>
                <a:t>    {"branch": "Kano",  "amount": "NGN 21,000"},</a:t>
              </a:r>
            </a:p>
            <a:p>
              <a:pPr algn="l">
                <a:lnSpc>
                  <a:spcPts val="2812"/>
                </a:lnSpc>
              </a:pPr>
              <a:r>
                <a:rPr lang="en-US" sz="1875">
                  <a:solidFill>
                    <a:srgbClr val="E4F1EF"/>
                  </a:solidFill>
                  <a:latin typeface="Poppins"/>
                  <a:ea typeface="Poppins"/>
                  <a:cs typeface="Poppins"/>
                  <a:sym typeface="Poppins"/>
                </a:rPr>
                <a:t>]</a:t>
              </a:r>
            </a:p>
          </p:txBody>
        </p:sp>
        <p:grpSp>
          <p:nvGrpSpPr>
            <p:cNvPr name="Group 14" id="14"/>
            <p:cNvGrpSpPr/>
            <p:nvPr/>
          </p:nvGrpSpPr>
          <p:grpSpPr>
            <a:xfrm rot="0">
              <a:off x="1500734" y="0"/>
              <a:ext cx="15544800" cy="1188720"/>
              <a:chOff x="0" y="0"/>
              <a:chExt cx="15544800" cy="1188720"/>
            </a:xfrm>
          </p:grpSpPr>
          <p:sp>
            <p:nvSpPr>
              <p:cNvPr name="Freeform 15" id="15"/>
              <p:cNvSpPr/>
              <p:nvPr/>
            </p:nvSpPr>
            <p:spPr>
              <a:xfrm flipH="false" flipV="false" rot="0">
                <a:off x="0" y="0"/>
                <a:ext cx="15544800" cy="1188720"/>
              </a:xfrm>
              <a:custGeom>
                <a:avLst/>
                <a:gdLst/>
                <a:ahLst/>
                <a:cxnLst/>
                <a:rect r="r" b="b" t="t" l="l"/>
                <a:pathLst>
                  <a:path h="1188720" w="15544800">
                    <a:moveTo>
                      <a:pt x="0" y="0"/>
                    </a:moveTo>
                    <a:lnTo>
                      <a:pt x="15544800" y="0"/>
                    </a:lnTo>
                    <a:lnTo>
                      <a:pt x="15544800" y="1188720"/>
                    </a:lnTo>
                    <a:lnTo>
                      <a:pt x="0" y="1188720"/>
                    </a:lnTo>
                    <a:close/>
                  </a:path>
                </a:pathLst>
              </a:custGeom>
              <a:blipFill>
                <a:blip r:embed="rId3">
                  <a:alphaModFix amt="0"/>
                </a:blip>
                <a:stretch>
                  <a:fillRect l="0" t="-204804" r="0" b="-204804"/>
                </a:stretch>
              </a:blipFill>
            </p:spPr>
          </p:sp>
          <p:sp>
            <p:nvSpPr>
              <p:cNvPr name="TextBox 16" id="16"/>
              <p:cNvSpPr txBox="true"/>
              <p:nvPr/>
            </p:nvSpPr>
            <p:spPr>
              <a:xfrm>
                <a:off x="0" y="-38100"/>
                <a:ext cx="15544800" cy="1226820"/>
              </a:xfrm>
              <a:prstGeom prst="rect">
                <a:avLst/>
              </a:prstGeom>
            </p:spPr>
            <p:txBody>
              <a:bodyPr anchor="ctr" rtlCol="false" tIns="0" lIns="0" bIns="0" rIns="0"/>
              <a:lstStyle/>
              <a:p>
                <a:pPr algn="l">
                  <a:lnSpc>
                    <a:spcPts val="4320"/>
                  </a:lnSpc>
                </a:pPr>
                <a:r>
                  <a:rPr lang="en-US" sz="3600">
                    <a:solidFill>
                      <a:srgbClr val="388080"/>
                    </a:solidFill>
                    <a:latin typeface="Poppins"/>
                    <a:ea typeface="Poppins"/>
                    <a:cs typeface="Poppins"/>
                    <a:sym typeface="Poppins"/>
                  </a:rPr>
                  <a:t>Your Turn: Fix and Extend</a:t>
                </a:r>
              </a:p>
            </p:txBody>
          </p:sp>
        </p:grpSp>
        <p:grpSp>
          <p:nvGrpSpPr>
            <p:cNvPr name="Group 17" id="17"/>
            <p:cNvGrpSpPr/>
            <p:nvPr/>
          </p:nvGrpSpPr>
          <p:grpSpPr>
            <a:xfrm rot="0">
              <a:off x="874103" y="5173345"/>
              <a:ext cx="10730230" cy="1769110"/>
              <a:chOff x="0" y="0"/>
              <a:chExt cx="10730230" cy="1769110"/>
            </a:xfrm>
          </p:grpSpPr>
          <p:sp>
            <p:nvSpPr>
              <p:cNvPr name="Freeform 18" id="18"/>
              <p:cNvSpPr/>
              <p:nvPr/>
            </p:nvSpPr>
            <p:spPr>
              <a:xfrm flipH="false" flipV="false" rot="0">
                <a:off x="0" y="0"/>
                <a:ext cx="10730230" cy="1769110"/>
              </a:xfrm>
              <a:custGeom>
                <a:avLst/>
                <a:gdLst/>
                <a:ahLst/>
                <a:cxnLst/>
                <a:rect r="r" b="b" t="t" l="l"/>
                <a:pathLst>
                  <a:path h="1769110" w="10730230">
                    <a:moveTo>
                      <a:pt x="0" y="111760"/>
                    </a:moveTo>
                    <a:cubicBezTo>
                      <a:pt x="0" y="50038"/>
                      <a:pt x="50038" y="0"/>
                      <a:pt x="111760" y="0"/>
                    </a:cubicBezTo>
                    <a:lnTo>
                      <a:pt x="10618470" y="0"/>
                    </a:lnTo>
                    <a:cubicBezTo>
                      <a:pt x="10680192" y="0"/>
                      <a:pt x="10730230" y="50038"/>
                      <a:pt x="10730230" y="111760"/>
                    </a:cubicBezTo>
                    <a:lnTo>
                      <a:pt x="10730230" y="1657350"/>
                    </a:lnTo>
                    <a:cubicBezTo>
                      <a:pt x="10730230" y="1719072"/>
                      <a:pt x="10680192" y="1769110"/>
                      <a:pt x="10618470" y="1769110"/>
                    </a:cubicBezTo>
                    <a:lnTo>
                      <a:pt x="111760" y="1769110"/>
                    </a:lnTo>
                    <a:cubicBezTo>
                      <a:pt x="50038" y="1769110"/>
                      <a:pt x="0" y="1719072"/>
                      <a:pt x="0" y="1657350"/>
                    </a:cubicBezTo>
                    <a:close/>
                  </a:path>
                </a:pathLst>
              </a:custGeom>
              <a:solidFill>
                <a:srgbClr val="FFFFFF"/>
              </a:solidFill>
              <a:ln w="23812" cap="sq">
                <a:solidFill>
                  <a:srgbClr val="387F7F"/>
                </a:solidFill>
                <a:prstDash val="solid"/>
                <a:miter/>
              </a:ln>
            </p:spPr>
          </p:sp>
        </p:grpSp>
        <p:grpSp>
          <p:nvGrpSpPr>
            <p:cNvPr name="Group 19" id="19"/>
            <p:cNvGrpSpPr/>
            <p:nvPr/>
          </p:nvGrpSpPr>
          <p:grpSpPr>
            <a:xfrm rot="0">
              <a:off x="1292314" y="5408676"/>
              <a:ext cx="9966960" cy="498348"/>
              <a:chOff x="0" y="0"/>
              <a:chExt cx="9966960" cy="498348"/>
            </a:xfrm>
          </p:grpSpPr>
          <p:sp>
            <p:nvSpPr>
              <p:cNvPr name="Freeform 20" id="20"/>
              <p:cNvSpPr/>
              <p:nvPr/>
            </p:nvSpPr>
            <p:spPr>
              <a:xfrm flipH="false" flipV="false" rot="0">
                <a:off x="0" y="0"/>
                <a:ext cx="9966960" cy="498348"/>
              </a:xfrm>
              <a:custGeom>
                <a:avLst/>
                <a:gdLst/>
                <a:ahLst/>
                <a:cxnLst/>
                <a:rect r="r" b="b" t="t" l="l"/>
                <a:pathLst>
                  <a:path h="498348" w="9966960">
                    <a:moveTo>
                      <a:pt x="0" y="0"/>
                    </a:moveTo>
                    <a:lnTo>
                      <a:pt x="9966960" y="0"/>
                    </a:lnTo>
                    <a:lnTo>
                      <a:pt x="9966960" y="498348"/>
                    </a:lnTo>
                    <a:lnTo>
                      <a:pt x="0" y="498348"/>
                    </a:lnTo>
                    <a:close/>
                  </a:path>
                </a:pathLst>
              </a:custGeom>
              <a:blipFill>
                <a:blip r:embed="rId3">
                  <a:alphaModFix amt="0"/>
                </a:blip>
                <a:stretch>
                  <a:fillRect l="0" t="-345664" r="0" b="-333737"/>
                </a:stretch>
              </a:blipFill>
            </p:spPr>
          </p:sp>
          <p:sp>
            <p:nvSpPr>
              <p:cNvPr name="TextBox 21" id="21"/>
              <p:cNvSpPr txBox="true"/>
              <p:nvPr/>
            </p:nvSpPr>
            <p:spPr>
              <a:xfrm>
                <a:off x="0" y="-19050"/>
                <a:ext cx="9966960" cy="517398"/>
              </a:xfrm>
              <a:prstGeom prst="rect">
                <a:avLst/>
              </a:prstGeom>
            </p:spPr>
            <p:txBody>
              <a:bodyPr anchor="ctr" rtlCol="false" tIns="0" lIns="0" bIns="0" rIns="0"/>
              <a:lstStyle/>
              <a:p>
                <a:pPr algn="l">
                  <a:lnSpc>
                    <a:spcPts val="1800"/>
                  </a:lnSpc>
                </a:pPr>
                <a:r>
                  <a:rPr lang="en-US" b="true" sz="1500" spc="150">
                    <a:solidFill>
                      <a:srgbClr val="387F7F"/>
                    </a:solidFill>
                    <a:latin typeface="Poppins Bold"/>
                    <a:ea typeface="Poppins Bold"/>
                    <a:cs typeface="Poppins Bold"/>
                    <a:sym typeface="Poppins Bold"/>
                  </a:rPr>
                  <a:t>OUTPUT</a:t>
                </a:r>
              </a:p>
            </p:txBody>
          </p:sp>
        </p:grpSp>
        <p:sp>
          <p:nvSpPr>
            <p:cNvPr name="TextBox 22" id="22"/>
            <p:cNvSpPr txBox="true"/>
            <p:nvPr/>
          </p:nvSpPr>
          <p:spPr>
            <a:xfrm rot="0">
              <a:off x="1292314" y="5780913"/>
              <a:ext cx="9893808" cy="949579"/>
            </a:xfrm>
            <a:prstGeom prst="rect">
              <a:avLst/>
            </a:prstGeom>
          </p:spPr>
          <p:txBody>
            <a:bodyPr anchor="t" rtlCol="false" tIns="0" lIns="0" bIns="0" rIns="0">
              <a:spAutoFit/>
            </a:bodyPr>
            <a:lstStyle/>
            <a:p>
              <a:pPr algn="l">
                <a:lnSpc>
                  <a:spcPts val="2916"/>
                </a:lnSpc>
              </a:pPr>
              <a:r>
                <a:rPr lang="en-US" sz="2025">
                  <a:solidFill>
                    <a:srgbClr val="0A1A23"/>
                  </a:solidFill>
                  <a:latin typeface="Poppins"/>
                  <a:ea typeface="Poppins"/>
                  <a:cs typeface="Poppins"/>
                  <a:sym typeface="Poppins"/>
                </a:rPr>
                <a:t>Abuja: 9500.0</a:t>
              </a:r>
            </a:p>
            <a:p>
              <a:pPr algn="l">
                <a:lnSpc>
                  <a:spcPts val="2916"/>
                </a:lnSpc>
              </a:pPr>
              <a:r>
                <a:rPr lang="en-US" sz="2025">
                  <a:solidFill>
                    <a:srgbClr val="0A1A23"/>
                  </a:solidFill>
                  <a:latin typeface="Poppins"/>
                  <a:ea typeface="Poppins"/>
                  <a:cs typeface="Poppins"/>
                  <a:sym typeface="Poppins"/>
                </a:rPr>
                <a:t>Kano: 21000.0</a:t>
              </a:r>
            </a:p>
          </p:txBody>
        </p:sp>
        <p:grpSp>
          <p:nvGrpSpPr>
            <p:cNvPr name="Group 23" id="23"/>
            <p:cNvGrpSpPr/>
            <p:nvPr/>
          </p:nvGrpSpPr>
          <p:grpSpPr>
            <a:xfrm rot="0">
              <a:off x="12319978" y="1897380"/>
              <a:ext cx="146304" cy="146304"/>
              <a:chOff x="0" y="0"/>
              <a:chExt cx="146304" cy="146304"/>
            </a:xfrm>
          </p:grpSpPr>
          <p:sp>
            <p:nvSpPr>
              <p:cNvPr name="Freeform 24" id="24"/>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25" id="25"/>
            <p:cNvSpPr txBox="true"/>
            <p:nvPr/>
          </p:nvSpPr>
          <p:spPr>
            <a:xfrm rot="0">
              <a:off x="12777178" y="1464945"/>
              <a:ext cx="10332720" cy="508381"/>
            </a:xfrm>
            <a:prstGeom prst="rect">
              <a:avLst/>
            </a:prstGeom>
          </p:spPr>
          <p:txBody>
            <a:bodyPr anchor="t" rtlCol="false" tIns="0" lIns="0" bIns="0" rIns="0">
              <a:spAutoFit/>
            </a:bodyPr>
            <a:lstStyle/>
            <a:p>
              <a:pPr algn="l">
                <a:lnSpc>
                  <a:spcPts val="3001"/>
                </a:lnSpc>
              </a:pPr>
              <a:r>
                <a:rPr lang="en-US" sz="2175">
                  <a:solidFill>
                    <a:srgbClr val="0A1A23"/>
                  </a:solidFill>
                  <a:latin typeface="Poppins"/>
                  <a:ea typeface="Poppins"/>
                  <a:cs typeface="Poppins"/>
                  <a:sym typeface="Poppins"/>
                </a:rPr>
                <a:t>Extend clean_amount so it also removes "NGN "</a:t>
              </a:r>
            </a:p>
          </p:txBody>
        </p:sp>
        <p:grpSp>
          <p:nvGrpSpPr>
            <p:cNvPr name="Group 26" id="26"/>
            <p:cNvGrpSpPr/>
            <p:nvPr/>
          </p:nvGrpSpPr>
          <p:grpSpPr>
            <a:xfrm rot="0">
              <a:off x="12319978" y="3086100"/>
              <a:ext cx="146304" cy="146304"/>
              <a:chOff x="0" y="0"/>
              <a:chExt cx="146304" cy="146304"/>
            </a:xfrm>
          </p:grpSpPr>
          <p:sp>
            <p:nvSpPr>
              <p:cNvPr name="Freeform 27" id="27"/>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28" id="28"/>
            <p:cNvSpPr txBox="true"/>
            <p:nvPr/>
          </p:nvSpPr>
          <p:spPr>
            <a:xfrm rot="0">
              <a:off x="12777178" y="2653665"/>
              <a:ext cx="10332720" cy="1016381"/>
            </a:xfrm>
            <a:prstGeom prst="rect">
              <a:avLst/>
            </a:prstGeom>
          </p:spPr>
          <p:txBody>
            <a:bodyPr anchor="t" rtlCol="false" tIns="0" lIns="0" bIns="0" rIns="0">
              <a:spAutoFit/>
            </a:bodyPr>
            <a:lstStyle/>
            <a:p>
              <a:pPr algn="l">
                <a:lnSpc>
                  <a:spcPts val="3001"/>
                </a:lnSpc>
              </a:pPr>
              <a:r>
                <a:rPr lang="en-US" sz="2175">
                  <a:solidFill>
                    <a:srgbClr val="0A1A23"/>
                  </a:solidFill>
                  <a:latin typeface="Poppins"/>
                  <a:ea typeface="Poppins"/>
                  <a:cs typeface="Poppins"/>
                  <a:sym typeface="Poppins"/>
                </a:rPr>
                <a:t>Write a loop that prints each branch with its cleaned amount</a:t>
              </a:r>
            </a:p>
          </p:txBody>
        </p:sp>
        <p:grpSp>
          <p:nvGrpSpPr>
            <p:cNvPr name="Group 29" id="29"/>
            <p:cNvGrpSpPr/>
            <p:nvPr/>
          </p:nvGrpSpPr>
          <p:grpSpPr>
            <a:xfrm rot="0">
              <a:off x="12319978" y="4549140"/>
              <a:ext cx="10789920" cy="1554480"/>
              <a:chOff x="0" y="0"/>
              <a:chExt cx="10789920" cy="1554480"/>
            </a:xfrm>
          </p:grpSpPr>
          <p:sp>
            <p:nvSpPr>
              <p:cNvPr name="Freeform 30" id="30"/>
              <p:cNvSpPr/>
              <p:nvPr/>
            </p:nvSpPr>
            <p:spPr>
              <a:xfrm flipH="false" flipV="false" rot="0">
                <a:off x="0" y="0"/>
                <a:ext cx="10789920" cy="1554480"/>
              </a:xfrm>
              <a:custGeom>
                <a:avLst/>
                <a:gdLst/>
                <a:ahLst/>
                <a:cxnLst/>
                <a:rect r="r" b="b" t="t" l="l"/>
                <a:pathLst>
                  <a:path h="1554480" w="10789920">
                    <a:moveTo>
                      <a:pt x="0" y="109728"/>
                    </a:moveTo>
                    <a:cubicBezTo>
                      <a:pt x="0" y="49149"/>
                      <a:pt x="49149" y="0"/>
                      <a:pt x="109728" y="0"/>
                    </a:cubicBezTo>
                    <a:lnTo>
                      <a:pt x="10680192" y="0"/>
                    </a:lnTo>
                    <a:cubicBezTo>
                      <a:pt x="10740772" y="0"/>
                      <a:pt x="10789920" y="49149"/>
                      <a:pt x="10789920" y="109728"/>
                    </a:cubicBezTo>
                    <a:lnTo>
                      <a:pt x="10789920" y="1444752"/>
                    </a:lnTo>
                    <a:cubicBezTo>
                      <a:pt x="10789920" y="1505331"/>
                      <a:pt x="10740772" y="1554480"/>
                      <a:pt x="10680192" y="1554480"/>
                    </a:cubicBezTo>
                    <a:lnTo>
                      <a:pt x="109728" y="1554480"/>
                    </a:lnTo>
                    <a:cubicBezTo>
                      <a:pt x="49149" y="1554480"/>
                      <a:pt x="0" y="1505331"/>
                      <a:pt x="0" y="1444752"/>
                    </a:cubicBezTo>
                    <a:close/>
                  </a:path>
                </a:pathLst>
              </a:custGeom>
              <a:solidFill>
                <a:srgbClr val="EAF2F1"/>
              </a:solidFill>
            </p:spPr>
          </p:sp>
        </p:grpSp>
        <p:grpSp>
          <p:nvGrpSpPr>
            <p:cNvPr name="Group 31" id="31"/>
            <p:cNvGrpSpPr/>
            <p:nvPr/>
          </p:nvGrpSpPr>
          <p:grpSpPr>
            <a:xfrm rot="0">
              <a:off x="12868618" y="4732020"/>
              <a:ext cx="9692640" cy="1188720"/>
              <a:chOff x="0" y="0"/>
              <a:chExt cx="9692640" cy="1188720"/>
            </a:xfrm>
          </p:grpSpPr>
          <p:sp>
            <p:nvSpPr>
              <p:cNvPr name="Freeform 32" id="32"/>
              <p:cNvSpPr/>
              <p:nvPr/>
            </p:nvSpPr>
            <p:spPr>
              <a:xfrm flipH="false" flipV="false" rot="0">
                <a:off x="0" y="0"/>
                <a:ext cx="9692640" cy="1188720"/>
              </a:xfrm>
              <a:custGeom>
                <a:avLst/>
                <a:gdLst/>
                <a:ahLst/>
                <a:cxnLst/>
                <a:rect r="r" b="b" t="t" l="l"/>
                <a:pathLst>
                  <a:path h="1188720" w="9692640">
                    <a:moveTo>
                      <a:pt x="0" y="0"/>
                    </a:moveTo>
                    <a:lnTo>
                      <a:pt x="9692640" y="0"/>
                    </a:lnTo>
                    <a:lnTo>
                      <a:pt x="9692640" y="1188720"/>
                    </a:lnTo>
                    <a:lnTo>
                      <a:pt x="0" y="1188720"/>
                    </a:lnTo>
                    <a:close/>
                  </a:path>
                </a:pathLst>
              </a:custGeom>
              <a:blipFill>
                <a:blip r:embed="rId3">
                  <a:alphaModFix amt="0"/>
                </a:blip>
                <a:stretch>
                  <a:fillRect l="0" t="-108878" r="0" b="-108878"/>
                </a:stretch>
              </a:blipFill>
            </p:spPr>
          </p:sp>
          <p:sp>
            <p:nvSpPr>
              <p:cNvPr name="TextBox 33" id="33"/>
              <p:cNvSpPr txBox="true"/>
              <p:nvPr/>
            </p:nvSpPr>
            <p:spPr>
              <a:xfrm>
                <a:off x="0" y="-47625"/>
                <a:ext cx="9692640" cy="1236345"/>
              </a:xfrm>
              <a:prstGeom prst="rect">
                <a:avLst/>
              </a:prstGeom>
            </p:spPr>
            <p:txBody>
              <a:bodyPr anchor="ctr" rtlCol="false" tIns="0" lIns="0" bIns="0" rIns="0"/>
              <a:lstStyle/>
              <a:p>
                <a:pPr algn="l">
                  <a:lnSpc>
                    <a:spcPts val="2794"/>
                  </a:lnSpc>
                </a:pPr>
                <a:r>
                  <a:rPr lang="en-US" sz="2025" b="true">
                    <a:solidFill>
                      <a:srgbClr val="387F7F"/>
                    </a:solidFill>
                    <a:latin typeface="Poppins Bold"/>
                    <a:ea typeface="Poppins Bold"/>
                    <a:cs typeface="Poppins Bold"/>
                    <a:sym typeface="Poppins Bold"/>
                  </a:rPr>
                  <a:t>Time-box:  </a:t>
                </a:r>
                <a:r>
                  <a:rPr lang="en-US" sz="2025">
                    <a:solidFill>
                      <a:srgbClr val="0A1A23"/>
                    </a:solidFill>
                    <a:latin typeface="Poppins"/>
                    <a:ea typeface="Poppins"/>
                    <a:cs typeface="Poppins"/>
                    <a:sym typeface="Poppins"/>
                  </a:rPr>
                  <a:t>10 minutes, in pairs. Explain your fix to your partner before you run it.</a:t>
                </a:r>
              </a:p>
            </p:txBody>
          </p:sp>
        </p:grpSp>
        <p:grpSp>
          <p:nvGrpSpPr>
            <p:cNvPr name="Group 34" id="34"/>
            <p:cNvGrpSpPr/>
            <p:nvPr/>
          </p:nvGrpSpPr>
          <p:grpSpPr>
            <a:xfrm rot="0">
              <a:off x="0" y="11619408"/>
              <a:ext cx="24409649" cy="914400"/>
              <a:chOff x="0" y="0"/>
              <a:chExt cx="24409649" cy="914400"/>
            </a:xfrm>
          </p:grpSpPr>
          <p:sp>
            <p:nvSpPr>
              <p:cNvPr name="Freeform 35" id="35"/>
              <p:cNvSpPr/>
              <p:nvPr/>
            </p:nvSpPr>
            <p:spPr>
              <a:xfrm flipH="false" flipV="false" rot="0">
                <a:off x="0" y="0"/>
                <a:ext cx="24409650" cy="914400"/>
              </a:xfrm>
              <a:custGeom>
                <a:avLst/>
                <a:gdLst/>
                <a:ahLst/>
                <a:cxnLst/>
                <a:rect r="r" b="b" t="t" l="l"/>
                <a:pathLst>
                  <a:path h="914400" w="24409650">
                    <a:moveTo>
                      <a:pt x="0" y="109728"/>
                    </a:moveTo>
                    <a:cubicBezTo>
                      <a:pt x="0" y="49149"/>
                      <a:pt x="54082" y="0"/>
                      <a:pt x="120740" y="0"/>
                    </a:cubicBezTo>
                    <a:lnTo>
                      <a:pt x="24288908" y="0"/>
                    </a:lnTo>
                    <a:cubicBezTo>
                      <a:pt x="24355568" y="0"/>
                      <a:pt x="24409650" y="49149"/>
                      <a:pt x="24409650" y="109728"/>
                    </a:cubicBezTo>
                    <a:lnTo>
                      <a:pt x="24409650" y="804672"/>
                    </a:lnTo>
                    <a:cubicBezTo>
                      <a:pt x="24409650" y="865251"/>
                      <a:pt x="24355568" y="914400"/>
                      <a:pt x="24288908" y="914400"/>
                    </a:cubicBezTo>
                    <a:lnTo>
                      <a:pt x="120740" y="914400"/>
                    </a:lnTo>
                    <a:cubicBezTo>
                      <a:pt x="54082" y="914400"/>
                      <a:pt x="0" y="865251"/>
                      <a:pt x="0" y="804672"/>
                    </a:cubicBezTo>
                    <a:close/>
                  </a:path>
                </a:pathLst>
              </a:custGeom>
              <a:solidFill>
                <a:srgbClr val="EAF2F1"/>
              </a:solidFill>
            </p:spPr>
          </p:sp>
        </p:grpSp>
        <p:grpSp>
          <p:nvGrpSpPr>
            <p:cNvPr name="Group 36" id="36"/>
            <p:cNvGrpSpPr/>
            <p:nvPr/>
          </p:nvGrpSpPr>
          <p:grpSpPr>
            <a:xfrm rot="0">
              <a:off x="1820774" y="11692255"/>
              <a:ext cx="20625449" cy="669468"/>
              <a:chOff x="0" y="0"/>
              <a:chExt cx="20625449" cy="669468"/>
            </a:xfrm>
          </p:grpSpPr>
          <p:sp>
            <p:nvSpPr>
              <p:cNvPr name="Freeform 37" id="37"/>
              <p:cNvSpPr/>
              <p:nvPr/>
            </p:nvSpPr>
            <p:spPr>
              <a:xfrm flipH="false" flipV="false" rot="0">
                <a:off x="0" y="0"/>
                <a:ext cx="20625450" cy="669468"/>
              </a:xfrm>
              <a:custGeom>
                <a:avLst/>
                <a:gdLst/>
                <a:ahLst/>
                <a:cxnLst/>
                <a:rect r="r" b="b" t="t" l="l"/>
                <a:pathLst>
                  <a:path h="669468" w="20625450">
                    <a:moveTo>
                      <a:pt x="0" y="0"/>
                    </a:moveTo>
                    <a:lnTo>
                      <a:pt x="20625450" y="0"/>
                    </a:lnTo>
                    <a:lnTo>
                      <a:pt x="20625450" y="669468"/>
                    </a:lnTo>
                    <a:lnTo>
                      <a:pt x="0" y="669468"/>
                    </a:lnTo>
                    <a:close/>
                  </a:path>
                </a:pathLst>
              </a:custGeom>
              <a:blipFill>
                <a:blip r:embed="rId3">
                  <a:alphaModFix amt="0"/>
                </a:blip>
                <a:stretch>
                  <a:fillRect l="0" t="-572739" r="-2233" b="-554691"/>
                </a:stretch>
              </a:blipFill>
            </p:spPr>
          </p:sp>
          <p:sp>
            <p:nvSpPr>
              <p:cNvPr name="TextBox 38" id="38"/>
              <p:cNvSpPr txBox="true"/>
              <p:nvPr/>
            </p:nvSpPr>
            <p:spPr>
              <a:xfrm>
                <a:off x="0" y="-47625"/>
                <a:ext cx="20625449" cy="717093"/>
              </a:xfrm>
              <a:prstGeom prst="rect">
                <a:avLst/>
              </a:prstGeom>
            </p:spPr>
            <p:txBody>
              <a:bodyPr anchor="ctr" rtlCol="false" tIns="0" lIns="0" bIns="0" rIns="0"/>
              <a:lstStyle/>
              <a:p>
                <a:pPr algn="l">
                  <a:lnSpc>
                    <a:spcPts val="2794"/>
                  </a:lnSpc>
                </a:pPr>
                <a:r>
                  <a:rPr lang="en-US" sz="2025" i="true">
                    <a:solidFill>
                      <a:srgbClr val="0A1A23"/>
                    </a:solidFill>
                    <a:latin typeface="Poppins Italics"/>
                    <a:ea typeface="Poppins Italics"/>
                    <a:cs typeface="Poppins Italics"/>
                    <a:sym typeface="Poppins Italics"/>
                  </a:rPr>
                  <a:t>A worked solution file is on publica.academy. Try it yourself first, then compare and verify.</a:t>
                </a:r>
              </a:p>
            </p:txBody>
          </p:sp>
        </p:grpSp>
      </p:grpSp>
      <p:sp>
        <p:nvSpPr>
          <p:cNvPr name="Freeform 39" id="39"/>
          <p:cNvSpPr/>
          <p:nvPr/>
        </p:nvSpPr>
        <p:spPr>
          <a:xfrm flipH="false" flipV="false" rot="0">
            <a:off x="16517465" y="2934400"/>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0" id="40"/>
          <p:cNvGrpSpPr/>
          <p:nvPr/>
        </p:nvGrpSpPr>
        <p:grpSpPr>
          <a:xfrm rot="0">
            <a:off x="16446556" y="9002387"/>
            <a:ext cx="647224" cy="571500"/>
            <a:chOff x="0" y="0"/>
            <a:chExt cx="862965" cy="762000"/>
          </a:xfrm>
        </p:grpSpPr>
        <p:sp>
          <p:nvSpPr>
            <p:cNvPr name="Freeform 41" id="41"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nvGrpSpPr>
          <p:cNvPr name="Group 42" id="42"/>
          <p:cNvGrpSpPr/>
          <p:nvPr/>
        </p:nvGrpSpPr>
        <p:grpSpPr>
          <a:xfrm rot="0">
            <a:off x="857250" y="857250"/>
            <a:ext cx="114300" cy="1028700"/>
            <a:chOff x="0" y="0"/>
            <a:chExt cx="152400" cy="1371600"/>
          </a:xfrm>
        </p:grpSpPr>
        <p:sp>
          <p:nvSpPr>
            <p:cNvPr name="Freeform 43" id="43"/>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28700" y="1777079"/>
            <a:ext cx="15430500" cy="6707124"/>
            <a:chOff x="0" y="0"/>
            <a:chExt cx="20574000" cy="8942832"/>
          </a:xfrm>
        </p:grpSpPr>
        <p:grpSp>
          <p:nvGrpSpPr>
            <p:cNvPr name="Group 5" id="5"/>
            <p:cNvGrpSpPr/>
            <p:nvPr/>
          </p:nvGrpSpPr>
          <p:grpSpPr>
            <a:xfrm rot="0">
              <a:off x="0" y="0"/>
              <a:ext cx="14630400" cy="731520"/>
              <a:chOff x="0" y="0"/>
              <a:chExt cx="14630400" cy="731520"/>
            </a:xfrm>
          </p:grpSpPr>
          <p:sp>
            <p:nvSpPr>
              <p:cNvPr name="Freeform 6" id="6"/>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3">
                  <a:alphaModFix amt="0"/>
                </a:blip>
                <a:stretch>
                  <a:fillRect l="0" t="-339700" r="0" b="-339700"/>
                </a:stretch>
              </a:blipFill>
            </p:spPr>
          </p:sp>
          <p:sp>
            <p:nvSpPr>
              <p:cNvPr name="TextBox 7" id="7"/>
              <p:cNvSpPr txBox="true"/>
              <p:nvPr/>
            </p:nvSpPr>
            <p:spPr>
              <a:xfrm>
                <a:off x="0" y="-19050"/>
                <a:ext cx="14630400" cy="750570"/>
              </a:xfrm>
              <a:prstGeom prst="rect">
                <a:avLst/>
              </a:prstGeom>
            </p:spPr>
            <p:txBody>
              <a:bodyPr anchor="ctr" rtlCol="false" tIns="0" lIns="0" bIns="0" rIns="0"/>
              <a:lstStyle/>
              <a:p>
                <a:pPr algn="l">
                  <a:lnSpc>
                    <a:spcPts val="2520"/>
                  </a:lnSpc>
                </a:pPr>
                <a:r>
                  <a:rPr lang="en-US" sz="2100" i="true">
                    <a:solidFill>
                      <a:srgbClr val="000000"/>
                    </a:solidFill>
                    <a:latin typeface="Poppins Italics"/>
                    <a:ea typeface="Poppins Italics"/>
                    <a:cs typeface="Poppins Italics"/>
                    <a:sym typeface="Poppins Italics"/>
                  </a:rPr>
                  <a:t>Answer from memory before opening your notebook.</a:t>
                </a:r>
              </a:p>
            </p:txBody>
          </p:sp>
        </p:grpSp>
        <p:grpSp>
          <p:nvGrpSpPr>
            <p:cNvPr name="Group 8" id="8"/>
            <p:cNvGrpSpPr/>
            <p:nvPr/>
          </p:nvGrpSpPr>
          <p:grpSpPr>
            <a:xfrm rot="0">
              <a:off x="0" y="1225296"/>
              <a:ext cx="1005840" cy="1005840"/>
              <a:chOff x="0" y="0"/>
              <a:chExt cx="1005840" cy="1005840"/>
            </a:xfrm>
          </p:grpSpPr>
          <p:sp>
            <p:nvSpPr>
              <p:cNvPr name="Freeform 9" id="9"/>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387F7F"/>
              </a:solidFill>
            </p:spPr>
          </p:sp>
        </p:grpSp>
        <p:grpSp>
          <p:nvGrpSpPr>
            <p:cNvPr name="Group 10" id="10"/>
            <p:cNvGrpSpPr/>
            <p:nvPr/>
          </p:nvGrpSpPr>
          <p:grpSpPr>
            <a:xfrm rot="0">
              <a:off x="0" y="1225296"/>
              <a:ext cx="1005840" cy="1005840"/>
              <a:chOff x="0" y="0"/>
              <a:chExt cx="1005840" cy="1005840"/>
            </a:xfrm>
          </p:grpSpPr>
          <p:sp>
            <p:nvSpPr>
              <p:cNvPr name="Freeform 11" id="11"/>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12" id="12"/>
              <p:cNvSpPr txBox="true"/>
              <p:nvPr/>
            </p:nvSpPr>
            <p:spPr>
              <a:xfrm>
                <a:off x="0" y="-28575"/>
                <a:ext cx="1005840" cy="1034415"/>
              </a:xfrm>
              <a:prstGeom prst="rect">
                <a:avLst/>
              </a:prstGeom>
            </p:spPr>
            <p:txBody>
              <a:bodyPr anchor="ctr" rtlCol="false" tIns="0" lIns="0" bIns="0" rIns="0"/>
              <a:lstStyle/>
              <a:p>
                <a:pPr algn="ctr">
                  <a:lnSpc>
                    <a:spcPts val="2700"/>
                  </a:lnSpc>
                </a:pPr>
                <a:r>
                  <a:rPr lang="en-US" sz="2250" b="true">
                    <a:solidFill>
                      <a:srgbClr val="FFFFFF"/>
                    </a:solidFill>
                    <a:latin typeface="Poppins Bold"/>
                    <a:ea typeface="Poppins Bold"/>
                    <a:cs typeface="Poppins Bold"/>
                    <a:sym typeface="Poppins Bold"/>
                  </a:rPr>
                  <a:t>1</a:t>
                </a:r>
              </a:p>
            </p:txBody>
          </p:sp>
        </p:grpSp>
        <p:grpSp>
          <p:nvGrpSpPr>
            <p:cNvPr name="Group 13" id="13"/>
            <p:cNvGrpSpPr/>
            <p:nvPr/>
          </p:nvGrpSpPr>
          <p:grpSpPr>
            <a:xfrm rot="0">
              <a:off x="1371600" y="1170432"/>
              <a:ext cx="19202400" cy="1188720"/>
              <a:chOff x="0" y="0"/>
              <a:chExt cx="19202400" cy="1188720"/>
            </a:xfrm>
          </p:grpSpPr>
          <p:sp>
            <p:nvSpPr>
              <p:cNvPr name="Freeform 14" id="14"/>
              <p:cNvSpPr/>
              <p:nvPr/>
            </p:nvSpPr>
            <p:spPr>
              <a:xfrm flipH="false" flipV="false" rot="0">
                <a:off x="0" y="0"/>
                <a:ext cx="19202400" cy="1188720"/>
              </a:xfrm>
              <a:custGeom>
                <a:avLst/>
                <a:gdLst/>
                <a:ahLst/>
                <a:cxnLst/>
                <a:rect r="r" b="b" t="t" l="l"/>
                <a:pathLst>
                  <a:path h="1188720" w="19202400">
                    <a:moveTo>
                      <a:pt x="0" y="0"/>
                    </a:moveTo>
                    <a:lnTo>
                      <a:pt x="19202400" y="0"/>
                    </a:lnTo>
                    <a:lnTo>
                      <a:pt x="19202400" y="1188720"/>
                    </a:lnTo>
                    <a:lnTo>
                      <a:pt x="0" y="1188720"/>
                    </a:lnTo>
                    <a:close/>
                  </a:path>
                </a:pathLst>
              </a:custGeom>
              <a:blipFill>
                <a:blip r:embed="rId3">
                  <a:alphaModFix amt="0"/>
                </a:blip>
                <a:stretch>
                  <a:fillRect l="0" t="-264758" r="0" b="-264758"/>
                </a:stretch>
              </a:blipFill>
            </p:spPr>
          </p:sp>
          <p:sp>
            <p:nvSpPr>
              <p:cNvPr name="TextBox 15" id="15"/>
              <p:cNvSpPr txBox="true"/>
              <p:nvPr/>
            </p:nvSpPr>
            <p:spPr>
              <a:xfrm>
                <a:off x="0" y="-9525"/>
                <a:ext cx="19202400" cy="1198245"/>
              </a:xfrm>
              <a:prstGeom prst="rect">
                <a:avLst/>
              </a:prstGeom>
            </p:spPr>
            <p:txBody>
              <a:bodyPr anchor="ctr" rtlCol="false" tIns="0" lIns="0" bIns="0" rIns="0"/>
              <a:lstStyle/>
              <a:p>
                <a:pPr algn="l">
                  <a:lnSpc>
                    <a:spcPts val="2790"/>
                  </a:lnSpc>
                </a:pPr>
                <a:r>
                  <a:rPr lang="en-US" sz="2325">
                    <a:solidFill>
                      <a:srgbClr val="000000"/>
                    </a:solidFill>
                    <a:latin typeface="Poppins"/>
                    <a:ea typeface="Poppins"/>
                    <a:cs typeface="Poppins"/>
                    <a:sym typeface="Poppins"/>
                  </a:rPr>
                  <a:t>Which data type would you use to store one full transaction record with named fields?</a:t>
                </a:r>
              </a:p>
            </p:txBody>
          </p:sp>
        </p:grpSp>
        <p:grpSp>
          <p:nvGrpSpPr>
            <p:cNvPr name="Group 16" id="16"/>
            <p:cNvGrpSpPr/>
            <p:nvPr/>
          </p:nvGrpSpPr>
          <p:grpSpPr>
            <a:xfrm rot="0">
              <a:off x="0" y="2871216"/>
              <a:ext cx="1005840" cy="1005840"/>
              <a:chOff x="0" y="0"/>
              <a:chExt cx="1005840" cy="1005840"/>
            </a:xfrm>
          </p:grpSpPr>
          <p:sp>
            <p:nvSpPr>
              <p:cNvPr name="Freeform 17" id="17"/>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387F7F"/>
              </a:solidFill>
            </p:spPr>
          </p:sp>
        </p:grpSp>
        <p:grpSp>
          <p:nvGrpSpPr>
            <p:cNvPr name="Group 18" id="18"/>
            <p:cNvGrpSpPr/>
            <p:nvPr/>
          </p:nvGrpSpPr>
          <p:grpSpPr>
            <a:xfrm rot="0">
              <a:off x="0" y="2871216"/>
              <a:ext cx="1005840" cy="1005840"/>
              <a:chOff x="0" y="0"/>
              <a:chExt cx="1005840" cy="1005840"/>
            </a:xfrm>
          </p:grpSpPr>
          <p:sp>
            <p:nvSpPr>
              <p:cNvPr name="Freeform 19" id="19"/>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20" id="20"/>
              <p:cNvSpPr txBox="true"/>
              <p:nvPr/>
            </p:nvSpPr>
            <p:spPr>
              <a:xfrm>
                <a:off x="0" y="-28575"/>
                <a:ext cx="1005840" cy="1034415"/>
              </a:xfrm>
              <a:prstGeom prst="rect">
                <a:avLst/>
              </a:prstGeom>
            </p:spPr>
            <p:txBody>
              <a:bodyPr anchor="ctr" rtlCol="false" tIns="0" lIns="0" bIns="0" rIns="0"/>
              <a:lstStyle/>
              <a:p>
                <a:pPr algn="ctr">
                  <a:lnSpc>
                    <a:spcPts val="2700"/>
                  </a:lnSpc>
                </a:pPr>
                <a:r>
                  <a:rPr lang="en-US" sz="2250" b="true">
                    <a:solidFill>
                      <a:srgbClr val="FFFFFF"/>
                    </a:solidFill>
                    <a:latin typeface="Poppins Bold"/>
                    <a:ea typeface="Poppins Bold"/>
                    <a:cs typeface="Poppins Bold"/>
                    <a:sym typeface="Poppins Bold"/>
                  </a:rPr>
                  <a:t>2</a:t>
                </a:r>
              </a:p>
            </p:txBody>
          </p:sp>
        </p:grpSp>
        <p:grpSp>
          <p:nvGrpSpPr>
            <p:cNvPr name="Group 21" id="21"/>
            <p:cNvGrpSpPr/>
            <p:nvPr/>
          </p:nvGrpSpPr>
          <p:grpSpPr>
            <a:xfrm rot="0">
              <a:off x="1371600" y="2816352"/>
              <a:ext cx="19202400" cy="1188720"/>
              <a:chOff x="0" y="0"/>
              <a:chExt cx="19202400" cy="1188720"/>
            </a:xfrm>
          </p:grpSpPr>
          <p:sp>
            <p:nvSpPr>
              <p:cNvPr name="Freeform 22" id="22"/>
              <p:cNvSpPr/>
              <p:nvPr/>
            </p:nvSpPr>
            <p:spPr>
              <a:xfrm flipH="false" flipV="false" rot="0">
                <a:off x="0" y="0"/>
                <a:ext cx="19202400" cy="1188720"/>
              </a:xfrm>
              <a:custGeom>
                <a:avLst/>
                <a:gdLst/>
                <a:ahLst/>
                <a:cxnLst/>
                <a:rect r="r" b="b" t="t" l="l"/>
                <a:pathLst>
                  <a:path h="1188720" w="19202400">
                    <a:moveTo>
                      <a:pt x="0" y="0"/>
                    </a:moveTo>
                    <a:lnTo>
                      <a:pt x="19202400" y="0"/>
                    </a:lnTo>
                    <a:lnTo>
                      <a:pt x="19202400" y="1188720"/>
                    </a:lnTo>
                    <a:lnTo>
                      <a:pt x="0" y="1188720"/>
                    </a:lnTo>
                    <a:close/>
                  </a:path>
                </a:pathLst>
              </a:custGeom>
              <a:blipFill>
                <a:blip r:embed="rId3">
                  <a:alphaModFix amt="0"/>
                </a:blip>
                <a:stretch>
                  <a:fillRect l="0" t="-264758" r="0" b="-264758"/>
                </a:stretch>
              </a:blipFill>
            </p:spPr>
          </p:sp>
          <p:sp>
            <p:nvSpPr>
              <p:cNvPr name="TextBox 23" id="23"/>
              <p:cNvSpPr txBox="true"/>
              <p:nvPr/>
            </p:nvSpPr>
            <p:spPr>
              <a:xfrm>
                <a:off x="0" y="-9525"/>
                <a:ext cx="19202400" cy="1198245"/>
              </a:xfrm>
              <a:prstGeom prst="rect">
                <a:avLst/>
              </a:prstGeom>
            </p:spPr>
            <p:txBody>
              <a:bodyPr anchor="ctr" rtlCol="false" tIns="0" lIns="0" bIns="0" rIns="0"/>
              <a:lstStyle/>
              <a:p>
                <a:pPr algn="l">
                  <a:lnSpc>
                    <a:spcPts val="2790"/>
                  </a:lnSpc>
                </a:pPr>
                <a:r>
                  <a:rPr lang="en-US" sz="2325">
                    <a:solidFill>
                      <a:srgbClr val="000000"/>
                    </a:solidFill>
                    <a:latin typeface="Poppins"/>
                    <a:ea typeface="Poppins"/>
                    <a:cs typeface="Poppins"/>
                    <a:sym typeface="Poppins"/>
                  </a:rPr>
                  <a:t>What is the practical difference between a list and a dictionary?</a:t>
                </a:r>
              </a:p>
            </p:txBody>
          </p:sp>
        </p:grpSp>
        <p:grpSp>
          <p:nvGrpSpPr>
            <p:cNvPr name="Group 24" id="24"/>
            <p:cNvGrpSpPr/>
            <p:nvPr/>
          </p:nvGrpSpPr>
          <p:grpSpPr>
            <a:xfrm rot="0">
              <a:off x="0" y="4517136"/>
              <a:ext cx="1005840" cy="1005840"/>
              <a:chOff x="0" y="0"/>
              <a:chExt cx="1005840" cy="1005840"/>
            </a:xfrm>
          </p:grpSpPr>
          <p:sp>
            <p:nvSpPr>
              <p:cNvPr name="Freeform 25" id="25"/>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387F7F"/>
              </a:solidFill>
            </p:spPr>
          </p:sp>
        </p:grpSp>
        <p:grpSp>
          <p:nvGrpSpPr>
            <p:cNvPr name="Group 26" id="26"/>
            <p:cNvGrpSpPr/>
            <p:nvPr/>
          </p:nvGrpSpPr>
          <p:grpSpPr>
            <a:xfrm rot="0">
              <a:off x="0" y="4517136"/>
              <a:ext cx="1005840" cy="1005840"/>
              <a:chOff x="0" y="0"/>
              <a:chExt cx="1005840" cy="1005840"/>
            </a:xfrm>
          </p:grpSpPr>
          <p:sp>
            <p:nvSpPr>
              <p:cNvPr name="Freeform 27" id="27"/>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28" id="28"/>
              <p:cNvSpPr txBox="true"/>
              <p:nvPr/>
            </p:nvSpPr>
            <p:spPr>
              <a:xfrm>
                <a:off x="0" y="-28575"/>
                <a:ext cx="1005840" cy="1034415"/>
              </a:xfrm>
              <a:prstGeom prst="rect">
                <a:avLst/>
              </a:prstGeom>
            </p:spPr>
            <p:txBody>
              <a:bodyPr anchor="ctr" rtlCol="false" tIns="0" lIns="0" bIns="0" rIns="0"/>
              <a:lstStyle/>
              <a:p>
                <a:pPr algn="ctr">
                  <a:lnSpc>
                    <a:spcPts val="2700"/>
                  </a:lnSpc>
                </a:pPr>
                <a:r>
                  <a:rPr lang="en-US" sz="2250" b="true">
                    <a:solidFill>
                      <a:srgbClr val="FFFFFF"/>
                    </a:solidFill>
                    <a:latin typeface="Poppins Bold"/>
                    <a:ea typeface="Poppins Bold"/>
                    <a:cs typeface="Poppins Bold"/>
                    <a:sym typeface="Poppins Bold"/>
                  </a:rPr>
                  <a:t>3</a:t>
                </a:r>
              </a:p>
            </p:txBody>
          </p:sp>
        </p:grpSp>
        <p:grpSp>
          <p:nvGrpSpPr>
            <p:cNvPr name="Group 29" id="29"/>
            <p:cNvGrpSpPr/>
            <p:nvPr/>
          </p:nvGrpSpPr>
          <p:grpSpPr>
            <a:xfrm rot="0">
              <a:off x="1371600" y="4462272"/>
              <a:ext cx="19202400" cy="1188720"/>
              <a:chOff x="0" y="0"/>
              <a:chExt cx="19202400" cy="1188720"/>
            </a:xfrm>
          </p:grpSpPr>
          <p:sp>
            <p:nvSpPr>
              <p:cNvPr name="Freeform 30" id="30"/>
              <p:cNvSpPr/>
              <p:nvPr/>
            </p:nvSpPr>
            <p:spPr>
              <a:xfrm flipH="false" flipV="false" rot="0">
                <a:off x="0" y="0"/>
                <a:ext cx="19202400" cy="1188720"/>
              </a:xfrm>
              <a:custGeom>
                <a:avLst/>
                <a:gdLst/>
                <a:ahLst/>
                <a:cxnLst/>
                <a:rect r="r" b="b" t="t" l="l"/>
                <a:pathLst>
                  <a:path h="1188720" w="19202400">
                    <a:moveTo>
                      <a:pt x="0" y="0"/>
                    </a:moveTo>
                    <a:lnTo>
                      <a:pt x="19202400" y="0"/>
                    </a:lnTo>
                    <a:lnTo>
                      <a:pt x="19202400" y="1188720"/>
                    </a:lnTo>
                    <a:lnTo>
                      <a:pt x="0" y="1188720"/>
                    </a:lnTo>
                    <a:close/>
                  </a:path>
                </a:pathLst>
              </a:custGeom>
              <a:blipFill>
                <a:blip r:embed="rId3">
                  <a:alphaModFix amt="0"/>
                </a:blip>
                <a:stretch>
                  <a:fillRect l="0" t="-264758" r="0" b="-264758"/>
                </a:stretch>
              </a:blipFill>
            </p:spPr>
          </p:sp>
          <p:sp>
            <p:nvSpPr>
              <p:cNvPr name="TextBox 31" id="31"/>
              <p:cNvSpPr txBox="true"/>
              <p:nvPr/>
            </p:nvSpPr>
            <p:spPr>
              <a:xfrm>
                <a:off x="0" y="-9525"/>
                <a:ext cx="19202400" cy="1198245"/>
              </a:xfrm>
              <a:prstGeom prst="rect">
                <a:avLst/>
              </a:prstGeom>
            </p:spPr>
            <p:txBody>
              <a:bodyPr anchor="ctr" rtlCol="false" tIns="0" lIns="0" bIns="0" rIns="0"/>
              <a:lstStyle/>
              <a:p>
                <a:pPr algn="l">
                  <a:lnSpc>
                    <a:spcPts val="2790"/>
                  </a:lnSpc>
                </a:pPr>
                <a:r>
                  <a:rPr lang="en-US" sz="2325">
                    <a:solidFill>
                      <a:srgbClr val="000000"/>
                    </a:solidFill>
                    <a:latin typeface="Poppins"/>
                    <a:ea typeface="Poppins"/>
                    <a:cs typeface="Poppins"/>
                    <a:sym typeface="Poppins"/>
                  </a:rPr>
                  <a:t>Which Python error appears when you try to convert "₦2,000" directly into a number?</a:t>
                </a:r>
              </a:p>
            </p:txBody>
          </p:sp>
        </p:grpSp>
        <p:grpSp>
          <p:nvGrpSpPr>
            <p:cNvPr name="Group 32" id="32"/>
            <p:cNvGrpSpPr/>
            <p:nvPr/>
          </p:nvGrpSpPr>
          <p:grpSpPr>
            <a:xfrm rot="0">
              <a:off x="0" y="6163056"/>
              <a:ext cx="1005840" cy="1005840"/>
              <a:chOff x="0" y="0"/>
              <a:chExt cx="1005840" cy="1005840"/>
            </a:xfrm>
          </p:grpSpPr>
          <p:sp>
            <p:nvSpPr>
              <p:cNvPr name="Freeform 33" id="33"/>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387F7F"/>
              </a:solidFill>
            </p:spPr>
          </p:sp>
        </p:grpSp>
        <p:grpSp>
          <p:nvGrpSpPr>
            <p:cNvPr name="Group 34" id="34"/>
            <p:cNvGrpSpPr/>
            <p:nvPr/>
          </p:nvGrpSpPr>
          <p:grpSpPr>
            <a:xfrm rot="0">
              <a:off x="0" y="6163056"/>
              <a:ext cx="1005840" cy="1005840"/>
              <a:chOff x="0" y="0"/>
              <a:chExt cx="1005840" cy="1005840"/>
            </a:xfrm>
          </p:grpSpPr>
          <p:sp>
            <p:nvSpPr>
              <p:cNvPr name="Freeform 35" id="35"/>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36" id="36"/>
              <p:cNvSpPr txBox="true"/>
              <p:nvPr/>
            </p:nvSpPr>
            <p:spPr>
              <a:xfrm>
                <a:off x="0" y="-28575"/>
                <a:ext cx="1005840" cy="1034415"/>
              </a:xfrm>
              <a:prstGeom prst="rect">
                <a:avLst/>
              </a:prstGeom>
            </p:spPr>
            <p:txBody>
              <a:bodyPr anchor="ctr" rtlCol="false" tIns="0" lIns="0" bIns="0" rIns="0"/>
              <a:lstStyle/>
              <a:p>
                <a:pPr algn="ctr">
                  <a:lnSpc>
                    <a:spcPts val="2700"/>
                  </a:lnSpc>
                </a:pPr>
                <a:r>
                  <a:rPr lang="en-US" sz="2250" b="true">
                    <a:solidFill>
                      <a:srgbClr val="FFFFFF"/>
                    </a:solidFill>
                    <a:latin typeface="Poppins Bold"/>
                    <a:ea typeface="Poppins Bold"/>
                    <a:cs typeface="Poppins Bold"/>
                    <a:sym typeface="Poppins Bold"/>
                  </a:rPr>
                  <a:t>4</a:t>
                </a:r>
              </a:p>
            </p:txBody>
          </p:sp>
        </p:grpSp>
        <p:grpSp>
          <p:nvGrpSpPr>
            <p:cNvPr name="Group 37" id="37"/>
            <p:cNvGrpSpPr/>
            <p:nvPr/>
          </p:nvGrpSpPr>
          <p:grpSpPr>
            <a:xfrm rot="0">
              <a:off x="1371600" y="6108192"/>
              <a:ext cx="19202400" cy="1188720"/>
              <a:chOff x="0" y="0"/>
              <a:chExt cx="19202400" cy="1188720"/>
            </a:xfrm>
          </p:grpSpPr>
          <p:sp>
            <p:nvSpPr>
              <p:cNvPr name="Freeform 38" id="38"/>
              <p:cNvSpPr/>
              <p:nvPr/>
            </p:nvSpPr>
            <p:spPr>
              <a:xfrm flipH="false" flipV="false" rot="0">
                <a:off x="0" y="0"/>
                <a:ext cx="19202400" cy="1188720"/>
              </a:xfrm>
              <a:custGeom>
                <a:avLst/>
                <a:gdLst/>
                <a:ahLst/>
                <a:cxnLst/>
                <a:rect r="r" b="b" t="t" l="l"/>
                <a:pathLst>
                  <a:path h="1188720" w="19202400">
                    <a:moveTo>
                      <a:pt x="0" y="0"/>
                    </a:moveTo>
                    <a:lnTo>
                      <a:pt x="19202400" y="0"/>
                    </a:lnTo>
                    <a:lnTo>
                      <a:pt x="19202400" y="1188720"/>
                    </a:lnTo>
                    <a:lnTo>
                      <a:pt x="0" y="1188720"/>
                    </a:lnTo>
                    <a:close/>
                  </a:path>
                </a:pathLst>
              </a:custGeom>
              <a:blipFill>
                <a:blip r:embed="rId3">
                  <a:alphaModFix amt="0"/>
                </a:blip>
                <a:stretch>
                  <a:fillRect l="0" t="-264758" r="0" b="-264758"/>
                </a:stretch>
              </a:blipFill>
            </p:spPr>
          </p:sp>
          <p:sp>
            <p:nvSpPr>
              <p:cNvPr name="TextBox 39" id="39"/>
              <p:cNvSpPr txBox="true"/>
              <p:nvPr/>
            </p:nvSpPr>
            <p:spPr>
              <a:xfrm>
                <a:off x="0" y="-9525"/>
                <a:ext cx="19202400" cy="1198245"/>
              </a:xfrm>
              <a:prstGeom prst="rect">
                <a:avLst/>
              </a:prstGeom>
            </p:spPr>
            <p:txBody>
              <a:bodyPr anchor="ctr" rtlCol="false" tIns="0" lIns="0" bIns="0" rIns="0"/>
              <a:lstStyle/>
              <a:p>
                <a:pPr algn="l">
                  <a:lnSpc>
                    <a:spcPts val="2790"/>
                  </a:lnSpc>
                </a:pPr>
                <a:r>
                  <a:rPr lang="en-US" sz="2325">
                    <a:solidFill>
                      <a:srgbClr val="000000"/>
                    </a:solidFill>
                    <a:latin typeface="Poppins"/>
                    <a:ea typeface="Poppins"/>
                    <a:cs typeface="Poppins"/>
                    <a:sym typeface="Poppins"/>
                  </a:rPr>
                  <a:t>Where should you look first in an error message to find out what went wrong?</a:t>
                </a:r>
              </a:p>
            </p:txBody>
          </p:sp>
        </p:grpSp>
        <p:grpSp>
          <p:nvGrpSpPr>
            <p:cNvPr name="Group 40" id="40"/>
            <p:cNvGrpSpPr/>
            <p:nvPr/>
          </p:nvGrpSpPr>
          <p:grpSpPr>
            <a:xfrm rot="0">
              <a:off x="0" y="7808976"/>
              <a:ext cx="1005840" cy="1005840"/>
              <a:chOff x="0" y="0"/>
              <a:chExt cx="1005840" cy="1005840"/>
            </a:xfrm>
          </p:grpSpPr>
          <p:sp>
            <p:nvSpPr>
              <p:cNvPr name="Freeform 41" id="41"/>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387F7F"/>
              </a:solidFill>
            </p:spPr>
          </p:sp>
        </p:grpSp>
        <p:grpSp>
          <p:nvGrpSpPr>
            <p:cNvPr name="Group 42" id="42"/>
            <p:cNvGrpSpPr/>
            <p:nvPr/>
          </p:nvGrpSpPr>
          <p:grpSpPr>
            <a:xfrm rot="0">
              <a:off x="0" y="7808976"/>
              <a:ext cx="1005840" cy="1005840"/>
              <a:chOff x="0" y="0"/>
              <a:chExt cx="1005840" cy="1005840"/>
            </a:xfrm>
          </p:grpSpPr>
          <p:sp>
            <p:nvSpPr>
              <p:cNvPr name="Freeform 43" id="43"/>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3">
                  <a:alphaModFix amt="0"/>
                </a:blip>
                <a:stretch>
                  <a:fillRect l="-78303" t="0" r="-78303" b="0"/>
                </a:stretch>
              </a:blipFill>
            </p:spPr>
          </p:sp>
          <p:sp>
            <p:nvSpPr>
              <p:cNvPr name="TextBox 44" id="44"/>
              <p:cNvSpPr txBox="true"/>
              <p:nvPr/>
            </p:nvSpPr>
            <p:spPr>
              <a:xfrm>
                <a:off x="0" y="-28575"/>
                <a:ext cx="1005840" cy="1034415"/>
              </a:xfrm>
              <a:prstGeom prst="rect">
                <a:avLst/>
              </a:prstGeom>
            </p:spPr>
            <p:txBody>
              <a:bodyPr anchor="ctr" rtlCol="false" tIns="0" lIns="0" bIns="0" rIns="0"/>
              <a:lstStyle/>
              <a:p>
                <a:pPr algn="ctr">
                  <a:lnSpc>
                    <a:spcPts val="2700"/>
                  </a:lnSpc>
                </a:pPr>
                <a:r>
                  <a:rPr lang="en-US" sz="2250" b="true">
                    <a:solidFill>
                      <a:srgbClr val="FFFFFF"/>
                    </a:solidFill>
                    <a:latin typeface="Poppins Bold"/>
                    <a:ea typeface="Poppins Bold"/>
                    <a:cs typeface="Poppins Bold"/>
                    <a:sym typeface="Poppins Bold"/>
                  </a:rPr>
                  <a:t>5</a:t>
                </a:r>
              </a:p>
            </p:txBody>
          </p:sp>
        </p:grpSp>
        <p:grpSp>
          <p:nvGrpSpPr>
            <p:cNvPr name="Group 45" id="45"/>
            <p:cNvGrpSpPr/>
            <p:nvPr/>
          </p:nvGrpSpPr>
          <p:grpSpPr>
            <a:xfrm rot="0">
              <a:off x="1371600" y="7754112"/>
              <a:ext cx="19202400" cy="1188720"/>
              <a:chOff x="0" y="0"/>
              <a:chExt cx="19202400" cy="1188720"/>
            </a:xfrm>
          </p:grpSpPr>
          <p:sp>
            <p:nvSpPr>
              <p:cNvPr name="Freeform 46" id="46"/>
              <p:cNvSpPr/>
              <p:nvPr/>
            </p:nvSpPr>
            <p:spPr>
              <a:xfrm flipH="false" flipV="false" rot="0">
                <a:off x="0" y="0"/>
                <a:ext cx="19202400" cy="1188720"/>
              </a:xfrm>
              <a:custGeom>
                <a:avLst/>
                <a:gdLst/>
                <a:ahLst/>
                <a:cxnLst/>
                <a:rect r="r" b="b" t="t" l="l"/>
                <a:pathLst>
                  <a:path h="1188720" w="19202400">
                    <a:moveTo>
                      <a:pt x="0" y="0"/>
                    </a:moveTo>
                    <a:lnTo>
                      <a:pt x="19202400" y="0"/>
                    </a:lnTo>
                    <a:lnTo>
                      <a:pt x="19202400" y="1188720"/>
                    </a:lnTo>
                    <a:lnTo>
                      <a:pt x="0" y="1188720"/>
                    </a:lnTo>
                    <a:close/>
                  </a:path>
                </a:pathLst>
              </a:custGeom>
              <a:blipFill>
                <a:blip r:embed="rId3">
                  <a:alphaModFix amt="0"/>
                </a:blip>
                <a:stretch>
                  <a:fillRect l="0" t="-264758" r="0" b="-264758"/>
                </a:stretch>
              </a:blipFill>
            </p:spPr>
          </p:sp>
          <p:sp>
            <p:nvSpPr>
              <p:cNvPr name="TextBox 47" id="47"/>
              <p:cNvSpPr txBox="true"/>
              <p:nvPr/>
            </p:nvSpPr>
            <p:spPr>
              <a:xfrm>
                <a:off x="0" y="-9525"/>
                <a:ext cx="19202400" cy="1198245"/>
              </a:xfrm>
              <a:prstGeom prst="rect">
                <a:avLst/>
              </a:prstGeom>
            </p:spPr>
            <p:txBody>
              <a:bodyPr anchor="ctr" rtlCol="false" tIns="0" lIns="0" bIns="0" rIns="0"/>
              <a:lstStyle/>
              <a:p>
                <a:pPr algn="l">
                  <a:lnSpc>
                    <a:spcPts val="2790"/>
                  </a:lnSpc>
                </a:pPr>
                <a:r>
                  <a:rPr lang="en-US" sz="2325">
                    <a:solidFill>
                      <a:srgbClr val="000000"/>
                    </a:solidFill>
                    <a:latin typeface="Poppins"/>
                    <a:ea typeface="Poppins"/>
                    <a:cs typeface="Poppins"/>
                    <a:sym typeface="Poppins"/>
                  </a:rPr>
                  <a:t>Why would an analyst write a function instead of repeating the same code for every branch?</a:t>
                </a:r>
              </a:p>
            </p:txBody>
          </p:sp>
        </p:grpSp>
      </p:grpSp>
      <p:grpSp>
        <p:nvGrpSpPr>
          <p:cNvPr name="Group 48" id="48"/>
          <p:cNvGrpSpPr/>
          <p:nvPr/>
        </p:nvGrpSpPr>
        <p:grpSpPr>
          <a:xfrm rot="0">
            <a:off x="1143854" y="810959"/>
            <a:ext cx="12344400" cy="1121283"/>
            <a:chOff x="0" y="0"/>
            <a:chExt cx="16459200" cy="1495044"/>
          </a:xfrm>
        </p:grpSpPr>
        <p:sp>
          <p:nvSpPr>
            <p:cNvPr name="Freeform 49" id="49"/>
            <p:cNvSpPr/>
            <p:nvPr/>
          </p:nvSpPr>
          <p:spPr>
            <a:xfrm flipH="false" flipV="false" rot="0">
              <a:off x="0" y="0"/>
              <a:ext cx="16459200" cy="1495044"/>
            </a:xfrm>
            <a:custGeom>
              <a:avLst/>
              <a:gdLst/>
              <a:ahLst/>
              <a:cxnLst/>
              <a:rect r="r" b="b" t="t" l="l"/>
              <a:pathLst>
                <a:path h="1495044" w="16459200">
                  <a:moveTo>
                    <a:pt x="0" y="0"/>
                  </a:moveTo>
                  <a:lnTo>
                    <a:pt x="16459200" y="0"/>
                  </a:lnTo>
                  <a:lnTo>
                    <a:pt x="16459200" y="1495044"/>
                  </a:lnTo>
                  <a:lnTo>
                    <a:pt x="0" y="1495044"/>
                  </a:lnTo>
                  <a:close/>
                </a:path>
              </a:pathLst>
            </a:custGeom>
            <a:blipFill>
              <a:blip r:embed="rId3">
                <a:alphaModFix amt="0"/>
              </a:blip>
              <a:stretch>
                <a:fillRect l="0" t="-171700" r="0" b="-157327"/>
              </a:stretch>
            </a:blipFill>
          </p:spPr>
        </p:sp>
        <p:sp>
          <p:nvSpPr>
            <p:cNvPr name="TextBox 50" id="50"/>
            <p:cNvSpPr txBox="true"/>
            <p:nvPr/>
          </p:nvSpPr>
          <p:spPr>
            <a:xfrm>
              <a:off x="0" y="-47625"/>
              <a:ext cx="16459200" cy="1542669"/>
            </a:xfrm>
            <a:prstGeom prst="rect">
              <a:avLst/>
            </a:prstGeom>
          </p:spPr>
          <p:txBody>
            <a:bodyPr anchor="ctr" rtlCol="false" tIns="0" lIns="0" bIns="0" rIns="0"/>
            <a:lstStyle/>
            <a:p>
              <a:pPr algn="l">
                <a:lnSpc>
                  <a:spcPts val="5400"/>
                </a:lnSpc>
              </a:pPr>
              <a:r>
                <a:rPr lang="en-US" sz="4500">
                  <a:solidFill>
                    <a:srgbClr val="388080"/>
                  </a:solidFill>
                  <a:latin typeface="Poppins"/>
                  <a:ea typeface="Poppins"/>
                  <a:cs typeface="Poppins"/>
                  <a:sym typeface="Poppins"/>
                </a:rPr>
                <a:t>Python Analyst Readiness Check</a:t>
              </a:r>
            </a:p>
          </p:txBody>
        </p:sp>
      </p:grpSp>
      <p:sp>
        <p:nvSpPr>
          <p:cNvPr name="Freeform 51" id="51"/>
          <p:cNvSpPr/>
          <p:nvPr/>
        </p:nvSpPr>
        <p:spPr>
          <a:xfrm flipH="false" flipV="false" rot="0">
            <a:off x="16517465" y="2934400"/>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2" id="52"/>
          <p:cNvGrpSpPr/>
          <p:nvPr/>
        </p:nvGrpSpPr>
        <p:grpSpPr>
          <a:xfrm rot="0">
            <a:off x="16446556" y="9002387"/>
            <a:ext cx="647224" cy="571500"/>
            <a:chOff x="0" y="0"/>
            <a:chExt cx="862965" cy="762000"/>
          </a:xfrm>
        </p:grpSpPr>
        <p:sp>
          <p:nvSpPr>
            <p:cNvPr name="Freeform 53" id="53"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nvGrpSpPr>
          <p:cNvPr name="Group 54" id="54"/>
          <p:cNvGrpSpPr/>
          <p:nvPr/>
        </p:nvGrpSpPr>
        <p:grpSpPr>
          <a:xfrm rot="0">
            <a:off x="857250" y="857250"/>
            <a:ext cx="114300" cy="1028700"/>
            <a:chOff x="0" y="0"/>
            <a:chExt cx="152400" cy="1371600"/>
          </a:xfrm>
        </p:grpSpPr>
        <p:sp>
          <p:nvSpPr>
            <p:cNvPr name="Freeform 55" id="5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5" id="5"/>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497824" y="8924125"/>
            <a:ext cx="647224" cy="571500"/>
            <a:chOff x="0" y="0"/>
            <a:chExt cx="862965" cy="762000"/>
          </a:xfrm>
        </p:grpSpPr>
        <p:sp>
          <p:nvSpPr>
            <p:cNvPr name="Freeform 7" id="7"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8" id="8"/>
          <p:cNvGrpSpPr/>
          <p:nvPr/>
        </p:nvGrpSpPr>
        <p:grpSpPr>
          <a:xfrm rot="0">
            <a:off x="857250" y="809625"/>
            <a:ext cx="17387888" cy="5313537"/>
            <a:chOff x="0" y="0"/>
            <a:chExt cx="23183850" cy="7084716"/>
          </a:xfrm>
        </p:grpSpPr>
        <p:grpSp>
          <p:nvGrpSpPr>
            <p:cNvPr name="Group 9" id="9"/>
            <p:cNvGrpSpPr/>
            <p:nvPr/>
          </p:nvGrpSpPr>
          <p:grpSpPr>
            <a:xfrm rot="0">
              <a:off x="0" y="63500"/>
              <a:ext cx="152400" cy="1371600"/>
              <a:chOff x="0" y="0"/>
              <a:chExt cx="152400" cy="1371600"/>
            </a:xfrm>
          </p:grpSpPr>
          <p:sp>
            <p:nvSpPr>
              <p:cNvPr name="Freeform 10" id="10"/>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TextBox 11" id="11"/>
            <p:cNvSpPr txBox="true"/>
            <p:nvPr/>
          </p:nvSpPr>
          <p:spPr>
            <a:xfrm rot="0">
              <a:off x="381000" y="-47625"/>
              <a:ext cx="22802850" cy="11271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Key Takeaways</a:t>
              </a:r>
            </a:p>
          </p:txBody>
        </p:sp>
        <p:sp>
          <p:nvSpPr>
            <p:cNvPr name="TextBox 12" id="12"/>
            <p:cNvSpPr txBox="true"/>
            <p:nvPr/>
          </p:nvSpPr>
          <p:spPr>
            <a:xfrm rot="0">
              <a:off x="1289050" y="2925445"/>
              <a:ext cx="10353675" cy="719455"/>
            </a:xfrm>
            <a:prstGeom prst="rect">
              <a:avLst/>
            </a:prstGeom>
          </p:spPr>
          <p:txBody>
            <a:bodyPr anchor="t" rtlCol="false" tIns="0" lIns="0" bIns="0" rIns="0">
              <a:spAutoFit/>
            </a:bodyPr>
            <a:lstStyle/>
            <a:p>
              <a:pPr algn="l">
                <a:lnSpc>
                  <a:spcPts val="4860"/>
                </a:lnSpc>
              </a:pPr>
              <a:r>
                <a:rPr lang="en-US" sz="2700">
                  <a:solidFill>
                    <a:srgbClr val="334155"/>
                  </a:solidFill>
                  <a:latin typeface="Poppins"/>
                  <a:ea typeface="Poppins"/>
                  <a:cs typeface="Poppins"/>
                  <a:sym typeface="Poppins"/>
                </a:rPr>
                <a:t>U</a:t>
              </a:r>
              <a:r>
                <a:rPr lang="en-US" sz="2700">
                  <a:solidFill>
                    <a:srgbClr val="334155"/>
                  </a:solidFill>
                  <a:latin typeface="Poppins"/>
                  <a:ea typeface="Poppins"/>
                  <a:cs typeface="Poppins"/>
                  <a:sym typeface="Poppins"/>
                </a:rPr>
                <a:t>se Python data structures to organize data.</a:t>
              </a:r>
            </a:p>
          </p:txBody>
        </p:sp>
        <p:sp>
          <p:nvSpPr>
            <p:cNvPr name="TextBox 13" id="13"/>
            <p:cNvSpPr txBox="true"/>
            <p:nvPr/>
          </p:nvSpPr>
          <p:spPr>
            <a:xfrm rot="0">
              <a:off x="1289050" y="4131945"/>
              <a:ext cx="11078152" cy="1532255"/>
            </a:xfrm>
            <a:prstGeom prst="rect">
              <a:avLst/>
            </a:prstGeom>
          </p:spPr>
          <p:txBody>
            <a:bodyPr anchor="t" rtlCol="false" tIns="0" lIns="0" bIns="0" rIns="0">
              <a:spAutoFit/>
            </a:bodyPr>
            <a:lstStyle/>
            <a:p>
              <a:pPr algn="l">
                <a:lnSpc>
                  <a:spcPts val="4860"/>
                </a:lnSpc>
              </a:pPr>
              <a:r>
                <a:rPr lang="en-US" sz="2700">
                  <a:solidFill>
                    <a:srgbClr val="334155"/>
                  </a:solidFill>
                  <a:latin typeface="Poppins"/>
                  <a:ea typeface="Poppins"/>
                  <a:cs typeface="Poppins"/>
                  <a:sym typeface="Poppins"/>
                </a:rPr>
                <a:t>Apply </a:t>
              </a:r>
              <a:r>
                <a:rPr lang="en-US" sz="2700">
                  <a:solidFill>
                    <a:srgbClr val="334155"/>
                  </a:solidFill>
                  <a:latin typeface="Poppins"/>
                  <a:ea typeface="Poppins"/>
                  <a:cs typeface="Poppins"/>
                  <a:sym typeface="Poppins"/>
                </a:rPr>
                <a:t>control flow and loops to process data.</a:t>
              </a:r>
            </a:p>
            <a:p>
              <a:pPr algn="l">
                <a:lnSpc>
                  <a:spcPts val="4860"/>
                </a:lnSpc>
              </a:pPr>
            </a:p>
          </p:txBody>
        </p:sp>
        <p:sp>
          <p:nvSpPr>
            <p:cNvPr name="TextBox 14" id="14"/>
            <p:cNvSpPr txBox="true"/>
            <p:nvPr/>
          </p:nvSpPr>
          <p:spPr>
            <a:xfrm rot="0">
              <a:off x="12810991" y="4349750"/>
              <a:ext cx="6464942" cy="762000"/>
            </a:xfrm>
            <a:prstGeom prst="rect">
              <a:avLst/>
            </a:prstGeom>
          </p:spPr>
          <p:txBody>
            <a:bodyPr anchor="t" rtlCol="false" tIns="0" lIns="0" bIns="0" rIns="0">
              <a:spAutoFit/>
            </a:bodyPr>
            <a:lstStyle/>
            <a:p>
              <a:pPr algn="r">
                <a:lnSpc>
                  <a:spcPts val="4320"/>
                </a:lnSpc>
              </a:pPr>
              <a:r>
                <a:rPr lang="en-US" sz="3600">
                  <a:solidFill>
                    <a:srgbClr val="387F7F"/>
                  </a:solidFill>
                  <a:latin typeface="Poppins"/>
                  <a:ea typeface="Poppins"/>
                  <a:cs typeface="Poppins"/>
                  <a:sym typeface="Poppins"/>
                </a:rPr>
                <a:t>Up Next: Loading and </a:t>
              </a:r>
            </a:p>
          </p:txBody>
        </p:sp>
        <p:grpSp>
          <p:nvGrpSpPr>
            <p:cNvPr name="Group 15" id="15"/>
            <p:cNvGrpSpPr/>
            <p:nvPr/>
          </p:nvGrpSpPr>
          <p:grpSpPr>
            <a:xfrm rot="0">
              <a:off x="15603236" y="6017261"/>
              <a:ext cx="609600" cy="609600"/>
              <a:chOff x="0" y="0"/>
              <a:chExt cx="609600" cy="609600"/>
            </a:xfrm>
          </p:grpSpPr>
          <p:sp>
            <p:nvSpPr>
              <p:cNvPr name="Freeform 16" id="16"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9"/>
                <a:stretch>
                  <a:fillRect l="0" t="-1562" r="0" b="-1562"/>
                </a:stretch>
              </a:blipFill>
            </p:spPr>
          </p:sp>
        </p:grpSp>
        <p:grpSp>
          <p:nvGrpSpPr>
            <p:cNvPr name="Group 17" id="17"/>
            <p:cNvGrpSpPr/>
            <p:nvPr/>
          </p:nvGrpSpPr>
          <p:grpSpPr>
            <a:xfrm rot="0">
              <a:off x="381000" y="2997200"/>
              <a:ext cx="609600" cy="647700"/>
              <a:chOff x="0" y="0"/>
              <a:chExt cx="609600" cy="647700"/>
            </a:xfrm>
          </p:grpSpPr>
          <p:sp>
            <p:nvSpPr>
              <p:cNvPr name="Freeform 18" id="18" descr="image.png"/>
              <p:cNvSpPr/>
              <p:nvPr/>
            </p:nvSpPr>
            <p:spPr>
              <a:xfrm flipH="false" flipV="false" rot="0">
                <a:off x="0" y="0"/>
                <a:ext cx="609600" cy="647700"/>
              </a:xfrm>
              <a:custGeom>
                <a:avLst/>
                <a:gdLst/>
                <a:ahLst/>
                <a:cxnLst/>
                <a:rect r="r" b="b" t="t" l="l"/>
                <a:pathLst>
                  <a:path h="647700" w="609600">
                    <a:moveTo>
                      <a:pt x="0" y="0"/>
                    </a:moveTo>
                    <a:lnTo>
                      <a:pt x="609600" y="0"/>
                    </a:lnTo>
                    <a:lnTo>
                      <a:pt x="609600" y="647700"/>
                    </a:lnTo>
                    <a:lnTo>
                      <a:pt x="0" y="647700"/>
                    </a:lnTo>
                    <a:lnTo>
                      <a:pt x="0" y="0"/>
                    </a:lnTo>
                    <a:close/>
                  </a:path>
                </a:pathLst>
              </a:custGeom>
              <a:blipFill>
                <a:blip r:embed="rId10"/>
                <a:stretch>
                  <a:fillRect l="0" t="0" r="0" b="0"/>
                </a:stretch>
              </a:blipFill>
            </p:spPr>
          </p:sp>
        </p:grpSp>
        <p:grpSp>
          <p:nvGrpSpPr>
            <p:cNvPr name="Group 19" id="19"/>
            <p:cNvGrpSpPr/>
            <p:nvPr/>
          </p:nvGrpSpPr>
          <p:grpSpPr>
            <a:xfrm rot="0">
              <a:off x="381000" y="4159250"/>
              <a:ext cx="609600" cy="647700"/>
              <a:chOff x="0" y="0"/>
              <a:chExt cx="609600" cy="647700"/>
            </a:xfrm>
          </p:grpSpPr>
          <p:sp>
            <p:nvSpPr>
              <p:cNvPr name="Freeform 20" id="20" descr="image.png"/>
              <p:cNvSpPr/>
              <p:nvPr/>
            </p:nvSpPr>
            <p:spPr>
              <a:xfrm flipH="false" flipV="false" rot="0">
                <a:off x="0" y="0"/>
                <a:ext cx="609600" cy="647700"/>
              </a:xfrm>
              <a:custGeom>
                <a:avLst/>
                <a:gdLst/>
                <a:ahLst/>
                <a:cxnLst/>
                <a:rect r="r" b="b" t="t" l="l"/>
                <a:pathLst>
                  <a:path h="647700" w="609600">
                    <a:moveTo>
                      <a:pt x="0" y="0"/>
                    </a:moveTo>
                    <a:lnTo>
                      <a:pt x="609600" y="0"/>
                    </a:lnTo>
                    <a:lnTo>
                      <a:pt x="609600" y="647700"/>
                    </a:lnTo>
                    <a:lnTo>
                      <a:pt x="0" y="647700"/>
                    </a:lnTo>
                    <a:lnTo>
                      <a:pt x="0" y="0"/>
                    </a:lnTo>
                    <a:close/>
                  </a:path>
                </a:pathLst>
              </a:custGeom>
              <a:blipFill>
                <a:blip r:embed="rId10"/>
                <a:stretch>
                  <a:fillRect l="0" t="0" r="0" b="0"/>
                </a:stretch>
              </a:blipFill>
            </p:spPr>
          </p:sp>
        </p:grpSp>
        <p:grpSp>
          <p:nvGrpSpPr>
            <p:cNvPr name="Group 21" id="21"/>
            <p:cNvGrpSpPr/>
            <p:nvPr/>
          </p:nvGrpSpPr>
          <p:grpSpPr>
            <a:xfrm rot="0">
              <a:off x="381000" y="5340350"/>
              <a:ext cx="609600" cy="647700"/>
              <a:chOff x="0" y="0"/>
              <a:chExt cx="609600" cy="647700"/>
            </a:xfrm>
          </p:grpSpPr>
          <p:sp>
            <p:nvSpPr>
              <p:cNvPr name="Freeform 22" id="22" descr="image.png"/>
              <p:cNvSpPr/>
              <p:nvPr/>
            </p:nvSpPr>
            <p:spPr>
              <a:xfrm flipH="false" flipV="false" rot="0">
                <a:off x="0" y="0"/>
                <a:ext cx="609600" cy="647700"/>
              </a:xfrm>
              <a:custGeom>
                <a:avLst/>
                <a:gdLst/>
                <a:ahLst/>
                <a:cxnLst/>
                <a:rect r="r" b="b" t="t" l="l"/>
                <a:pathLst>
                  <a:path h="647700" w="609600">
                    <a:moveTo>
                      <a:pt x="0" y="0"/>
                    </a:moveTo>
                    <a:lnTo>
                      <a:pt x="609600" y="0"/>
                    </a:lnTo>
                    <a:lnTo>
                      <a:pt x="609600" y="647700"/>
                    </a:lnTo>
                    <a:lnTo>
                      <a:pt x="0" y="647700"/>
                    </a:lnTo>
                    <a:lnTo>
                      <a:pt x="0" y="0"/>
                    </a:lnTo>
                    <a:close/>
                  </a:path>
                </a:pathLst>
              </a:custGeom>
              <a:blipFill>
                <a:blip r:embed="rId10"/>
                <a:stretch>
                  <a:fillRect l="0" t="0" r="0" b="0"/>
                </a:stretch>
              </a:blipFill>
            </p:spPr>
          </p:sp>
        </p:grpSp>
        <p:sp>
          <p:nvSpPr>
            <p:cNvPr name="TextBox 23" id="23"/>
            <p:cNvSpPr txBox="true"/>
            <p:nvPr/>
          </p:nvSpPr>
          <p:spPr>
            <a:xfrm rot="0">
              <a:off x="1289050" y="5213985"/>
              <a:ext cx="11078152" cy="719455"/>
            </a:xfrm>
            <a:prstGeom prst="rect">
              <a:avLst/>
            </a:prstGeom>
          </p:spPr>
          <p:txBody>
            <a:bodyPr anchor="t" rtlCol="false" tIns="0" lIns="0" bIns="0" rIns="0">
              <a:spAutoFit/>
            </a:bodyPr>
            <a:lstStyle/>
            <a:p>
              <a:pPr algn="ctr">
                <a:lnSpc>
                  <a:spcPts val="4860"/>
                </a:lnSpc>
                <a:spcBef>
                  <a:spcPct val="0"/>
                </a:spcBef>
              </a:pPr>
              <a:r>
                <a:rPr lang="en-US" sz="2700">
                  <a:solidFill>
                    <a:srgbClr val="000000"/>
                  </a:solidFill>
                  <a:latin typeface="Poppins"/>
                  <a:ea typeface="Poppins"/>
                  <a:cs typeface="Poppins"/>
                  <a:sym typeface="Poppins"/>
                </a:rPr>
                <a:t>Write reusable code with functions and libraries.</a:t>
              </a:r>
            </a:p>
          </p:txBody>
        </p:sp>
        <p:grpSp>
          <p:nvGrpSpPr>
            <p:cNvPr name="Group 24" id="24"/>
            <p:cNvGrpSpPr/>
            <p:nvPr/>
          </p:nvGrpSpPr>
          <p:grpSpPr>
            <a:xfrm rot="0">
              <a:off x="381000" y="6437016"/>
              <a:ext cx="609600" cy="647700"/>
              <a:chOff x="0" y="0"/>
              <a:chExt cx="609600" cy="647700"/>
            </a:xfrm>
          </p:grpSpPr>
          <p:sp>
            <p:nvSpPr>
              <p:cNvPr name="Freeform 25" id="25" descr="image.png"/>
              <p:cNvSpPr/>
              <p:nvPr/>
            </p:nvSpPr>
            <p:spPr>
              <a:xfrm flipH="false" flipV="false" rot="0">
                <a:off x="0" y="0"/>
                <a:ext cx="609600" cy="647700"/>
              </a:xfrm>
              <a:custGeom>
                <a:avLst/>
                <a:gdLst/>
                <a:ahLst/>
                <a:cxnLst/>
                <a:rect r="r" b="b" t="t" l="l"/>
                <a:pathLst>
                  <a:path h="647700" w="609600">
                    <a:moveTo>
                      <a:pt x="0" y="0"/>
                    </a:moveTo>
                    <a:lnTo>
                      <a:pt x="609600" y="0"/>
                    </a:lnTo>
                    <a:lnTo>
                      <a:pt x="609600" y="647700"/>
                    </a:lnTo>
                    <a:lnTo>
                      <a:pt x="0" y="647700"/>
                    </a:lnTo>
                    <a:lnTo>
                      <a:pt x="0" y="0"/>
                    </a:lnTo>
                    <a:close/>
                  </a:path>
                </a:pathLst>
              </a:custGeom>
              <a:blipFill>
                <a:blip r:embed="rId10"/>
                <a:stretch>
                  <a:fillRect l="0" t="0" r="0" b="0"/>
                </a:stretch>
              </a:blipFill>
            </p:spPr>
          </p:sp>
        </p:grpSp>
        <p:sp>
          <p:nvSpPr>
            <p:cNvPr name="TextBox 26" id="26"/>
            <p:cNvSpPr txBox="true"/>
            <p:nvPr/>
          </p:nvSpPr>
          <p:spPr>
            <a:xfrm rot="0">
              <a:off x="1289050" y="6365261"/>
              <a:ext cx="9918800" cy="719455"/>
            </a:xfrm>
            <a:prstGeom prst="rect">
              <a:avLst/>
            </a:prstGeom>
          </p:spPr>
          <p:txBody>
            <a:bodyPr anchor="t" rtlCol="false" tIns="0" lIns="0" bIns="0" rIns="0">
              <a:spAutoFit/>
            </a:bodyPr>
            <a:lstStyle/>
            <a:p>
              <a:pPr algn="ctr">
                <a:lnSpc>
                  <a:spcPts val="4860"/>
                </a:lnSpc>
                <a:spcBef>
                  <a:spcPct val="0"/>
                </a:spcBef>
              </a:pPr>
              <a:r>
                <a:rPr lang="en-US" sz="2700">
                  <a:solidFill>
                    <a:srgbClr val="000000"/>
                  </a:solidFill>
                  <a:latin typeface="Poppins"/>
                  <a:ea typeface="Poppins"/>
                  <a:cs typeface="Poppins"/>
                  <a:sym typeface="Poppins"/>
                </a:rPr>
                <a:t>Debug and verify code for accurate results.</a:t>
              </a:r>
            </a:p>
          </p:txBody>
        </p:sp>
        <p:sp>
          <p:nvSpPr>
            <p:cNvPr name="TextBox 27" id="27"/>
            <p:cNvSpPr txBox="true"/>
            <p:nvPr/>
          </p:nvSpPr>
          <p:spPr>
            <a:xfrm rot="0">
              <a:off x="12856777" y="5064125"/>
              <a:ext cx="6419155" cy="833755"/>
            </a:xfrm>
            <a:prstGeom prst="rect">
              <a:avLst/>
            </a:prstGeom>
          </p:spPr>
          <p:txBody>
            <a:bodyPr anchor="t" rtlCol="false" tIns="0" lIns="0" bIns="0" rIns="0">
              <a:spAutoFit/>
            </a:bodyPr>
            <a:lstStyle/>
            <a:p>
              <a:pPr algn="ctr">
                <a:lnSpc>
                  <a:spcPts val="5039"/>
                </a:lnSpc>
              </a:pPr>
              <a:r>
                <a:rPr lang="en-US" sz="3599">
                  <a:solidFill>
                    <a:srgbClr val="388080"/>
                  </a:solidFill>
                  <a:latin typeface="Poppins"/>
                  <a:ea typeface="Poppins"/>
                  <a:cs typeface="Poppins"/>
                  <a:sym typeface="Poppins"/>
                </a:rPr>
                <a:t>Inspecting Data with </a:t>
              </a:r>
            </a:p>
          </p:txBody>
        </p:sp>
        <p:sp>
          <p:nvSpPr>
            <p:cNvPr name="TextBox 28" id="28"/>
            <p:cNvSpPr txBox="true"/>
            <p:nvPr/>
          </p:nvSpPr>
          <p:spPr>
            <a:xfrm rot="0">
              <a:off x="12856777" y="5793105"/>
              <a:ext cx="2297410" cy="833755"/>
            </a:xfrm>
            <a:prstGeom prst="rect">
              <a:avLst/>
            </a:prstGeom>
          </p:spPr>
          <p:txBody>
            <a:bodyPr anchor="t" rtlCol="false" tIns="0" lIns="0" bIns="0" rIns="0">
              <a:spAutoFit/>
            </a:bodyPr>
            <a:lstStyle/>
            <a:p>
              <a:pPr algn="ctr">
                <a:lnSpc>
                  <a:spcPts val="5039"/>
                </a:lnSpc>
              </a:pPr>
              <a:r>
                <a:rPr lang="en-US" sz="3599">
                  <a:solidFill>
                    <a:srgbClr val="388080"/>
                  </a:solidFill>
                  <a:latin typeface="Poppins"/>
                  <a:ea typeface="Poppins"/>
                  <a:cs typeface="Poppins"/>
                  <a:sym typeface="Poppins"/>
                </a:rPr>
                <a:t>Pandas</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17102138" cy="857250"/>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Key Takeaways</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sp>
        <p:nvSpPr>
          <p:cNvPr name="TextBox 11" id="11"/>
          <p:cNvSpPr txBox="true"/>
          <p:nvPr/>
        </p:nvSpPr>
        <p:spPr>
          <a:xfrm rot="0">
            <a:off x="1928812" y="2724150"/>
            <a:ext cx="6786562" cy="584860"/>
          </a:xfrm>
          <a:prstGeom prst="rect">
            <a:avLst/>
          </a:prstGeom>
        </p:spPr>
        <p:txBody>
          <a:bodyPr anchor="t" rtlCol="false" tIns="0" lIns="0" bIns="0" rIns="0">
            <a:spAutoFit/>
          </a:bodyPr>
          <a:lstStyle/>
          <a:p>
            <a:pPr algn="l">
              <a:lnSpc>
                <a:spcPts val="4860"/>
              </a:lnSpc>
            </a:pPr>
            <a:r>
              <a:rPr lang="en-US" sz="2700">
                <a:solidFill>
                  <a:srgbClr val="334155"/>
                </a:solidFill>
                <a:latin typeface="Poppins"/>
                <a:ea typeface="Poppins"/>
                <a:cs typeface="Poppins"/>
                <a:sym typeface="Poppins"/>
              </a:rPr>
              <a:t>Variables name and save your data.</a:t>
            </a:r>
          </a:p>
        </p:txBody>
      </p:sp>
      <p:sp>
        <p:nvSpPr>
          <p:cNvPr name="TextBox 12" id="12"/>
          <p:cNvSpPr txBox="true"/>
          <p:nvPr/>
        </p:nvSpPr>
        <p:spPr>
          <a:xfrm rot="0">
            <a:off x="1928812" y="3595687"/>
            <a:ext cx="6786562" cy="584860"/>
          </a:xfrm>
          <a:prstGeom prst="rect">
            <a:avLst/>
          </a:prstGeom>
        </p:spPr>
        <p:txBody>
          <a:bodyPr anchor="t" rtlCol="false" tIns="0" lIns="0" bIns="0" rIns="0">
            <a:spAutoFit/>
          </a:bodyPr>
          <a:lstStyle/>
          <a:p>
            <a:pPr algn="l">
              <a:lnSpc>
                <a:spcPts val="4860"/>
              </a:lnSpc>
            </a:pPr>
            <a:r>
              <a:rPr lang="en-US" sz="2700" b="true">
                <a:solidFill>
                  <a:srgbClr val="334155"/>
                </a:solidFill>
                <a:latin typeface="Poppins Bold"/>
                <a:ea typeface="Poppins Bold"/>
                <a:cs typeface="Poppins Bold"/>
                <a:sym typeface="Poppins Bold"/>
              </a:rPr>
              <a:t>const</a:t>
            </a:r>
            <a:r>
              <a:rPr lang="en-US" sz="2700">
                <a:solidFill>
                  <a:srgbClr val="334155"/>
                </a:solidFill>
                <a:latin typeface="Poppins"/>
                <a:ea typeface="Poppins"/>
                <a:cs typeface="Poppins"/>
                <a:sym typeface="Poppins"/>
              </a:rPr>
              <a:t> is the standard choice.</a:t>
            </a:r>
          </a:p>
        </p:txBody>
      </p:sp>
      <p:sp>
        <p:nvSpPr>
          <p:cNvPr name="TextBox 13" id="13"/>
          <p:cNvSpPr txBox="true"/>
          <p:nvPr/>
        </p:nvSpPr>
        <p:spPr>
          <a:xfrm rot="0">
            <a:off x="1928812" y="4467225"/>
            <a:ext cx="6786562" cy="584860"/>
          </a:xfrm>
          <a:prstGeom prst="rect">
            <a:avLst/>
          </a:prstGeom>
        </p:spPr>
        <p:txBody>
          <a:bodyPr anchor="t" rtlCol="false" tIns="0" lIns="0" bIns="0" rIns="0">
            <a:spAutoFit/>
          </a:bodyPr>
          <a:lstStyle/>
          <a:p>
            <a:pPr algn="l">
              <a:lnSpc>
                <a:spcPts val="4860"/>
              </a:lnSpc>
            </a:pPr>
            <a:r>
              <a:rPr lang="en-US" sz="2700" b="true">
                <a:solidFill>
                  <a:srgbClr val="334155"/>
                </a:solidFill>
                <a:latin typeface="Poppins Bold"/>
                <a:ea typeface="Poppins Bold"/>
                <a:cs typeface="Poppins Bold"/>
                <a:sym typeface="Poppins Bold"/>
              </a:rPr>
              <a:t>let</a:t>
            </a:r>
            <a:r>
              <a:rPr lang="en-US" sz="2700">
                <a:solidFill>
                  <a:srgbClr val="334155"/>
                </a:solidFill>
                <a:latin typeface="Poppins"/>
                <a:ea typeface="Poppins"/>
                <a:cs typeface="Poppins"/>
                <a:sym typeface="Poppins"/>
              </a:rPr>
              <a:t> is for specific updates.</a:t>
            </a:r>
          </a:p>
        </p:txBody>
      </p:sp>
      <p:sp>
        <p:nvSpPr>
          <p:cNvPr name="TextBox 14" id="14"/>
          <p:cNvSpPr txBox="true"/>
          <p:nvPr/>
        </p:nvSpPr>
        <p:spPr>
          <a:xfrm rot="0">
            <a:off x="1928812" y="5338763"/>
            <a:ext cx="6786562" cy="584860"/>
          </a:xfrm>
          <a:prstGeom prst="rect">
            <a:avLst/>
          </a:prstGeom>
        </p:spPr>
        <p:txBody>
          <a:bodyPr anchor="t" rtlCol="false" tIns="0" lIns="0" bIns="0" rIns="0">
            <a:spAutoFit/>
          </a:bodyPr>
          <a:lstStyle/>
          <a:p>
            <a:pPr algn="l">
              <a:lnSpc>
                <a:spcPts val="4860"/>
              </a:lnSpc>
            </a:pPr>
            <a:r>
              <a:rPr lang="en-US" sz="2700">
                <a:solidFill>
                  <a:srgbClr val="334155"/>
                </a:solidFill>
                <a:latin typeface="Poppins"/>
                <a:ea typeface="Poppins"/>
                <a:cs typeface="Poppins"/>
                <a:sym typeface="Poppins"/>
              </a:rPr>
              <a:t>Never use </a:t>
            </a:r>
            <a:r>
              <a:rPr lang="en-US" sz="2700" b="true">
                <a:solidFill>
                  <a:srgbClr val="334155"/>
                </a:solidFill>
                <a:latin typeface="Poppins Bold"/>
                <a:ea typeface="Poppins Bold"/>
                <a:cs typeface="Poppins Bold"/>
                <a:sym typeface="Poppins Bold"/>
              </a:rPr>
              <a:t>var</a:t>
            </a:r>
            <a:r>
              <a:rPr lang="en-US" sz="2700">
                <a:solidFill>
                  <a:srgbClr val="334155"/>
                </a:solidFill>
                <a:latin typeface="Poppins"/>
                <a:ea typeface="Poppins"/>
                <a:cs typeface="Poppins"/>
                <a:sym typeface="Poppins"/>
              </a:rPr>
              <a:t>.</a:t>
            </a:r>
          </a:p>
        </p:txBody>
      </p:sp>
      <p:grpSp>
        <p:nvGrpSpPr>
          <p:cNvPr name="Group 15" id="15"/>
          <p:cNvGrpSpPr/>
          <p:nvPr/>
        </p:nvGrpSpPr>
        <p:grpSpPr>
          <a:xfrm rot="0">
            <a:off x="1143000" y="5729288"/>
            <a:ext cx="457200" cy="485775"/>
            <a:chOff x="0" y="0"/>
            <a:chExt cx="609600" cy="647700"/>
          </a:xfrm>
        </p:grpSpPr>
        <p:sp>
          <p:nvSpPr>
            <p:cNvPr name="Freeform 16" id="16" descr="image.png"/>
            <p:cNvSpPr/>
            <p:nvPr/>
          </p:nvSpPr>
          <p:spPr>
            <a:xfrm flipH="false" flipV="false" rot="0">
              <a:off x="0" y="0"/>
              <a:ext cx="609600" cy="647700"/>
            </a:xfrm>
            <a:custGeom>
              <a:avLst/>
              <a:gdLst/>
              <a:ahLst/>
              <a:cxnLst/>
              <a:rect r="r" b="b" t="t" l="l"/>
              <a:pathLst>
                <a:path h="647700" w="609600">
                  <a:moveTo>
                    <a:pt x="0" y="0"/>
                  </a:moveTo>
                  <a:lnTo>
                    <a:pt x="609600" y="0"/>
                  </a:lnTo>
                  <a:lnTo>
                    <a:pt x="609600" y="647700"/>
                  </a:lnTo>
                  <a:lnTo>
                    <a:pt x="0" y="647700"/>
                  </a:lnTo>
                  <a:lnTo>
                    <a:pt x="0" y="0"/>
                  </a:lnTo>
                  <a:close/>
                </a:path>
              </a:pathLst>
            </a:custGeom>
            <a:blipFill>
              <a:blip r:embed="rId9"/>
              <a:stretch>
                <a:fillRect l="0" t="0" r="0" b="0"/>
              </a:stretch>
            </a:blipFill>
          </p:spPr>
        </p:sp>
      </p:grpSp>
      <p:sp>
        <p:nvSpPr>
          <p:cNvPr name="TextBox 17" id="17"/>
          <p:cNvSpPr txBox="true"/>
          <p:nvPr/>
        </p:nvSpPr>
        <p:spPr>
          <a:xfrm rot="0">
            <a:off x="10570802" y="4095750"/>
            <a:ext cx="4515331" cy="580993"/>
          </a:xfrm>
          <a:prstGeom prst="rect">
            <a:avLst/>
          </a:prstGeom>
        </p:spPr>
        <p:txBody>
          <a:bodyPr anchor="t" rtlCol="false" tIns="0" lIns="0" bIns="0" rIns="0">
            <a:spAutoFit/>
          </a:bodyPr>
          <a:lstStyle/>
          <a:p>
            <a:pPr algn="r">
              <a:lnSpc>
                <a:spcPts val="4320"/>
              </a:lnSpc>
            </a:pPr>
            <a:r>
              <a:rPr lang="en-US" sz="3600">
                <a:solidFill>
                  <a:srgbClr val="387F7F"/>
                </a:solidFill>
                <a:latin typeface="Poppins"/>
                <a:ea typeface="Poppins"/>
                <a:cs typeface="Poppins"/>
                <a:sym typeface="Poppins"/>
              </a:rPr>
              <a:t>Up Next: Data Types</a:t>
            </a:r>
          </a:p>
        </p:txBody>
      </p:sp>
      <p:grpSp>
        <p:nvGrpSpPr>
          <p:cNvPr name="Group 18" id="18"/>
          <p:cNvGrpSpPr/>
          <p:nvPr/>
        </p:nvGrpSpPr>
        <p:grpSpPr>
          <a:xfrm rot="0">
            <a:off x="15419508" y="4186238"/>
            <a:ext cx="457200" cy="457200"/>
            <a:chOff x="0" y="0"/>
            <a:chExt cx="609600" cy="609600"/>
          </a:xfrm>
        </p:grpSpPr>
        <p:sp>
          <p:nvSpPr>
            <p:cNvPr name="Freeform 19" id="19"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10"/>
              <a:stretch>
                <a:fillRect l="0" t="-1562" r="0" b="-1562"/>
              </a:stretch>
            </a:blipFill>
          </p:spPr>
        </p:sp>
      </p:grpSp>
      <p:grpSp>
        <p:nvGrpSpPr>
          <p:cNvPr name="Group 20" id="20"/>
          <p:cNvGrpSpPr/>
          <p:nvPr/>
        </p:nvGrpSpPr>
        <p:grpSpPr>
          <a:xfrm rot="0">
            <a:off x="1143000" y="3057525"/>
            <a:ext cx="457200" cy="485775"/>
            <a:chOff x="0" y="0"/>
            <a:chExt cx="609600" cy="647700"/>
          </a:xfrm>
        </p:grpSpPr>
        <p:sp>
          <p:nvSpPr>
            <p:cNvPr name="Freeform 21" id="21" descr="image.png"/>
            <p:cNvSpPr/>
            <p:nvPr/>
          </p:nvSpPr>
          <p:spPr>
            <a:xfrm flipH="false" flipV="false" rot="0">
              <a:off x="0" y="0"/>
              <a:ext cx="609600" cy="647700"/>
            </a:xfrm>
            <a:custGeom>
              <a:avLst/>
              <a:gdLst/>
              <a:ahLst/>
              <a:cxnLst/>
              <a:rect r="r" b="b" t="t" l="l"/>
              <a:pathLst>
                <a:path h="647700" w="609600">
                  <a:moveTo>
                    <a:pt x="0" y="0"/>
                  </a:moveTo>
                  <a:lnTo>
                    <a:pt x="609600" y="0"/>
                  </a:lnTo>
                  <a:lnTo>
                    <a:pt x="609600" y="647700"/>
                  </a:lnTo>
                  <a:lnTo>
                    <a:pt x="0" y="647700"/>
                  </a:lnTo>
                  <a:lnTo>
                    <a:pt x="0" y="0"/>
                  </a:lnTo>
                  <a:close/>
                </a:path>
              </a:pathLst>
            </a:custGeom>
            <a:blipFill>
              <a:blip r:embed="rId11"/>
              <a:stretch>
                <a:fillRect l="0" t="0" r="0" b="0"/>
              </a:stretch>
            </a:blipFill>
          </p:spPr>
        </p:sp>
      </p:grpSp>
      <p:grpSp>
        <p:nvGrpSpPr>
          <p:cNvPr name="Group 22" id="22"/>
          <p:cNvGrpSpPr/>
          <p:nvPr/>
        </p:nvGrpSpPr>
        <p:grpSpPr>
          <a:xfrm rot="0">
            <a:off x="1143000" y="3929062"/>
            <a:ext cx="457200" cy="485775"/>
            <a:chOff x="0" y="0"/>
            <a:chExt cx="609600" cy="647700"/>
          </a:xfrm>
        </p:grpSpPr>
        <p:sp>
          <p:nvSpPr>
            <p:cNvPr name="Freeform 23" id="23" descr="image.png"/>
            <p:cNvSpPr/>
            <p:nvPr/>
          </p:nvSpPr>
          <p:spPr>
            <a:xfrm flipH="false" flipV="false" rot="0">
              <a:off x="0" y="0"/>
              <a:ext cx="609600" cy="647700"/>
            </a:xfrm>
            <a:custGeom>
              <a:avLst/>
              <a:gdLst/>
              <a:ahLst/>
              <a:cxnLst/>
              <a:rect r="r" b="b" t="t" l="l"/>
              <a:pathLst>
                <a:path h="647700" w="609600">
                  <a:moveTo>
                    <a:pt x="0" y="0"/>
                  </a:moveTo>
                  <a:lnTo>
                    <a:pt x="609600" y="0"/>
                  </a:lnTo>
                  <a:lnTo>
                    <a:pt x="609600" y="647700"/>
                  </a:lnTo>
                  <a:lnTo>
                    <a:pt x="0" y="647700"/>
                  </a:lnTo>
                  <a:lnTo>
                    <a:pt x="0" y="0"/>
                  </a:lnTo>
                  <a:close/>
                </a:path>
              </a:pathLst>
            </a:custGeom>
            <a:blipFill>
              <a:blip r:embed="rId11"/>
              <a:stretch>
                <a:fillRect l="0" t="0" r="0" b="0"/>
              </a:stretch>
            </a:blipFill>
          </p:spPr>
        </p:sp>
      </p:grpSp>
      <p:grpSp>
        <p:nvGrpSpPr>
          <p:cNvPr name="Group 24" id="24"/>
          <p:cNvGrpSpPr/>
          <p:nvPr/>
        </p:nvGrpSpPr>
        <p:grpSpPr>
          <a:xfrm rot="0">
            <a:off x="1143000" y="4814888"/>
            <a:ext cx="457200" cy="485775"/>
            <a:chOff x="0" y="0"/>
            <a:chExt cx="609600" cy="647700"/>
          </a:xfrm>
        </p:grpSpPr>
        <p:sp>
          <p:nvSpPr>
            <p:cNvPr name="Freeform 25" id="25" descr="image.png"/>
            <p:cNvSpPr/>
            <p:nvPr/>
          </p:nvSpPr>
          <p:spPr>
            <a:xfrm flipH="false" flipV="false" rot="0">
              <a:off x="0" y="0"/>
              <a:ext cx="609600" cy="647700"/>
            </a:xfrm>
            <a:custGeom>
              <a:avLst/>
              <a:gdLst/>
              <a:ahLst/>
              <a:cxnLst/>
              <a:rect r="r" b="b" t="t" l="l"/>
              <a:pathLst>
                <a:path h="647700" w="609600">
                  <a:moveTo>
                    <a:pt x="0" y="0"/>
                  </a:moveTo>
                  <a:lnTo>
                    <a:pt x="609600" y="0"/>
                  </a:lnTo>
                  <a:lnTo>
                    <a:pt x="609600" y="647700"/>
                  </a:lnTo>
                  <a:lnTo>
                    <a:pt x="0" y="647700"/>
                  </a:lnTo>
                  <a:lnTo>
                    <a:pt x="0" y="0"/>
                  </a:lnTo>
                  <a:close/>
                </a:path>
              </a:pathLst>
            </a:custGeom>
            <a:blipFill>
              <a:blip r:embed="rId11"/>
              <a:stretch>
                <a:fillRect l="0" t="0" r="0" b="0"/>
              </a:stretch>
            </a:blipFill>
          </p:spPr>
        </p:sp>
      </p:grpSp>
      <p:grpSp>
        <p:nvGrpSpPr>
          <p:cNvPr name="Group 26" id="26"/>
          <p:cNvGrpSpPr/>
          <p:nvPr/>
        </p:nvGrpSpPr>
        <p:grpSpPr>
          <a:xfrm rot="0">
            <a:off x="28575" y="0"/>
            <a:ext cx="18288000" cy="10287000"/>
            <a:chOff x="0" y="0"/>
            <a:chExt cx="24384000" cy="13716000"/>
          </a:xfrm>
        </p:grpSpPr>
        <p:sp>
          <p:nvSpPr>
            <p:cNvPr name="Freeform 27" id="27"/>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12"/>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DAHTZxu-wm0</dc:identifier>
  <dcterms:modified xsi:type="dcterms:W3CDTF">2011-08-01T06:04:30Z</dcterms:modified>
  <cp:revision>1</cp:revision>
  <dc:title> Module 5.1 Python Fundamentals, Cosolidated</dc:title>
</cp:coreProperties>
</file>