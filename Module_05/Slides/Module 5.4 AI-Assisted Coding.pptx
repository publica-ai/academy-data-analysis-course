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Inter" charset="1" panose="02000503000000020004"/>
      <p:regular r:id="rId26"/>
    </p:embeddedFont>
    <p:embeddedFont>
      <p:font typeface="Inter Medium" charset="1" panose="02000503000000020004"/>
      <p:regular r:id="rId27"/>
    </p:embeddedFont>
    <p:embeddedFont>
      <p:font typeface="Poppins Bold" charset="1" panose="00000800000000000000"/>
      <p:regular r:id="rId28"/>
    </p:embeddedFont>
    <p:embeddedFont>
      <p:font typeface="Poppins" charset="1" panose="00000500000000000000"/>
      <p:regular r:id="rId29"/>
    </p:embeddedFont>
    <p:embeddedFont>
      <p:font typeface="Inter Bold" charset="1" panose="02000503000000020004"/>
      <p:regular r:id="rId32"/>
    </p:embeddedFont>
    <p:embeddedFont>
      <p:font typeface="Inter Italics" charset="1" panose="02000503000000020004"/>
      <p:regular r:id="rId33"/>
    </p:embeddedFont>
    <p:embeddedFont>
      <p:font typeface="Poppins Italics" charset="1" panose="00000500000000000000"/>
      <p:regular r:id="rId34"/>
    </p:embeddedFont>
    <p:embeddedFont>
      <p:font typeface="DM Sans Bold" charset="1" panose="00000000000000000000"/>
      <p:regular r:id="rId36"/>
    </p:embeddedFont>
    <p:embeddedFont>
      <p:font typeface="DM Sans" charset="1" panose="0000000000000000000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notesMasters/notesMaster1.xml" Type="http://schemas.openxmlformats.org/officeDocument/2006/relationships/notesMaster"/><Relationship Id="rId24" Target="theme/theme2.xml" Type="http://schemas.openxmlformats.org/officeDocument/2006/relationships/theme"/><Relationship Id="rId25" Target="notesSlides/notesSlide1.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notesSlides/notesSlide4.xml" Type="http://schemas.openxmlformats.org/officeDocument/2006/relationships/notesSlide"/><Relationship Id="rId36" Target="fonts/font36.fntdata" Type="http://schemas.openxmlformats.org/officeDocument/2006/relationships/font"/><Relationship Id="rId37" Target="fonts/font37.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jpe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2" Target="../notesSlides/notesSlide2.xml" Type="http://schemas.openxmlformats.org/officeDocument/2006/relationships/notesSlide"/><Relationship Id="rId3" Target="../media/image9.pn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9.pn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7.png" Type="http://schemas.openxmlformats.org/officeDocument/2006/relationships/image"/><Relationship Id="rId9"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7.png" Type="http://schemas.openxmlformats.org/officeDocument/2006/relationships/image"/><Relationship Id="rId6" Target="../media/image4.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jpe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7.png" Type="http://schemas.openxmlformats.org/officeDocument/2006/relationships/image"/><Relationship Id="rId6" Target="../media/image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7.png" Type="http://schemas.openxmlformats.org/officeDocument/2006/relationships/image"/><Relationship Id="rId6" Target="../media/image4.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7.png" Type="http://schemas.openxmlformats.org/officeDocument/2006/relationships/image"/><Relationship Id="rId6" Target="../media/image4.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7.png" Type="http://schemas.openxmlformats.org/officeDocument/2006/relationships/image"/><Relationship Id="rId6" Target="../media/image4.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7.png" Type="http://schemas.openxmlformats.org/officeDocument/2006/relationships/image"/><Relationship Id="rId6" Target="../media/image4.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7.png" Type="http://schemas.openxmlformats.org/officeDocument/2006/relationships/image"/><Relationship Id="rId6" Target="../media/image4.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jpe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jpe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7.png" Type="http://schemas.openxmlformats.org/officeDocument/2006/relationships/image"/><Relationship Id="rId6" Target="../media/image1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7.png" Type="http://schemas.openxmlformats.org/officeDocument/2006/relationships/image"/><Relationship Id="rId6" Target="../media/image4.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2" Target="../notesSlides/notesSlide4.xml" Type="http://schemas.openxmlformats.org/officeDocument/2006/relationships/notesSlide"/><Relationship Id="rId3" Target="../media/image9.pn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7.png" Type="http://schemas.openxmlformats.org/officeDocument/2006/relationships/image"/><Relationship Id="rId9" Target="../media/image1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1430000" y="0"/>
            <a:ext cx="2286000" cy="1907553"/>
            <a:chOff x="0" y="0"/>
            <a:chExt cx="3048000" cy="2543404"/>
          </a:xfrm>
        </p:grpSpPr>
        <p:sp>
          <p:nvSpPr>
            <p:cNvPr name="Freeform 4" id="4"/>
            <p:cNvSpPr/>
            <p:nvPr/>
          </p:nvSpPr>
          <p:spPr>
            <a:xfrm flipH="false" flipV="false" rot="0">
              <a:off x="0" y="0"/>
              <a:ext cx="3048000" cy="2543429"/>
            </a:xfrm>
            <a:custGeom>
              <a:avLst/>
              <a:gdLst/>
              <a:ahLst/>
              <a:cxnLst/>
              <a:rect r="r" b="b" t="t" l="l"/>
              <a:pathLst>
                <a:path h="2543429" w="3048000">
                  <a:moveTo>
                    <a:pt x="0" y="0"/>
                  </a:moveTo>
                  <a:lnTo>
                    <a:pt x="3048000" y="0"/>
                  </a:lnTo>
                  <a:lnTo>
                    <a:pt x="3048000" y="2543429"/>
                  </a:lnTo>
                  <a:lnTo>
                    <a:pt x="0" y="2543429"/>
                  </a:lnTo>
                  <a:lnTo>
                    <a:pt x="0" y="0"/>
                  </a:lnTo>
                  <a:close/>
                </a:path>
              </a:pathLst>
            </a:custGeom>
            <a:blipFill>
              <a:blip r:embed="rId4"/>
              <a:stretch>
                <a:fillRect l="0" t="0" r="-8" b="1"/>
              </a:stretch>
            </a:blipFill>
          </p:spPr>
        </p:sp>
      </p:grpSp>
      <p:grpSp>
        <p:nvGrpSpPr>
          <p:cNvPr name="Group 5" id="5"/>
          <p:cNvGrpSpPr/>
          <p:nvPr/>
        </p:nvGrpSpPr>
        <p:grpSpPr>
          <a:xfrm rot="0">
            <a:off x="15001875" y="714375"/>
            <a:ext cx="2857500" cy="2857500"/>
            <a:chOff x="0" y="0"/>
            <a:chExt cx="3810000" cy="3810000"/>
          </a:xfrm>
        </p:grpSpPr>
        <p:sp>
          <p:nvSpPr>
            <p:cNvPr name="Freeform 6" id="6"/>
            <p:cNvSpPr/>
            <p:nvPr/>
          </p:nvSpPr>
          <p:spPr>
            <a:xfrm flipH="false" flipV="false" rot="0">
              <a:off x="0" y="0"/>
              <a:ext cx="3810000" cy="3810000"/>
            </a:xfrm>
            <a:custGeom>
              <a:avLst/>
              <a:gdLst/>
              <a:ahLst/>
              <a:cxnLst/>
              <a:rect r="r" b="b" t="t" l="l"/>
              <a:pathLst>
                <a:path h="3810000" w="3810000">
                  <a:moveTo>
                    <a:pt x="0" y="1905000"/>
                  </a:moveTo>
                  <a:cubicBezTo>
                    <a:pt x="0" y="852932"/>
                    <a:pt x="852932" y="0"/>
                    <a:pt x="1905000" y="0"/>
                  </a:cubicBezTo>
                  <a:cubicBezTo>
                    <a:pt x="2957068" y="0"/>
                    <a:pt x="3810000" y="852932"/>
                    <a:pt x="3810000" y="1905000"/>
                  </a:cubicBezTo>
                  <a:cubicBezTo>
                    <a:pt x="3810000" y="2957068"/>
                    <a:pt x="2957068" y="3810000"/>
                    <a:pt x="1905000" y="3810000"/>
                  </a:cubicBezTo>
                  <a:cubicBezTo>
                    <a:pt x="852932" y="3810000"/>
                    <a:pt x="0" y="2957068"/>
                    <a:pt x="0" y="1905000"/>
                  </a:cubicBezTo>
                  <a:close/>
                </a:path>
              </a:pathLst>
            </a:custGeom>
            <a:solidFill>
              <a:srgbClr val="387F7F">
                <a:alpha val="0"/>
              </a:srgbClr>
            </a:solidFill>
          </p:spPr>
        </p:sp>
      </p:grpSp>
      <p:grpSp>
        <p:nvGrpSpPr>
          <p:cNvPr name="Group 7" id="7"/>
          <p:cNvGrpSpPr/>
          <p:nvPr/>
        </p:nvGrpSpPr>
        <p:grpSpPr>
          <a:xfrm rot="0">
            <a:off x="0" y="6429375"/>
            <a:ext cx="1907553" cy="1286104"/>
            <a:chOff x="0" y="0"/>
            <a:chExt cx="2543404" cy="1714805"/>
          </a:xfrm>
        </p:grpSpPr>
        <p:sp>
          <p:nvSpPr>
            <p:cNvPr name="Freeform 8" id="8"/>
            <p:cNvSpPr/>
            <p:nvPr/>
          </p:nvSpPr>
          <p:spPr>
            <a:xfrm flipH="false" flipV="false" rot="0">
              <a:off x="0" y="0"/>
              <a:ext cx="2543429" cy="1714754"/>
            </a:xfrm>
            <a:custGeom>
              <a:avLst/>
              <a:gdLst/>
              <a:ahLst/>
              <a:cxnLst/>
              <a:rect r="r" b="b" t="t" l="l"/>
              <a:pathLst>
                <a:path h="1714754" w="2543429">
                  <a:moveTo>
                    <a:pt x="0" y="0"/>
                  </a:moveTo>
                  <a:lnTo>
                    <a:pt x="2543429" y="0"/>
                  </a:lnTo>
                  <a:lnTo>
                    <a:pt x="2543429" y="1714754"/>
                  </a:lnTo>
                  <a:lnTo>
                    <a:pt x="0" y="1714754"/>
                  </a:lnTo>
                  <a:lnTo>
                    <a:pt x="0" y="0"/>
                  </a:lnTo>
                  <a:close/>
                </a:path>
              </a:pathLst>
            </a:custGeom>
            <a:blipFill>
              <a:blip r:embed="rId5"/>
              <a:stretch>
                <a:fillRect l="0" t="0" r="-7" b="-2"/>
              </a:stretch>
            </a:blipFill>
          </p:spPr>
        </p:sp>
      </p:grpSp>
      <p:grpSp>
        <p:nvGrpSpPr>
          <p:cNvPr name="Group 9" id="9"/>
          <p:cNvGrpSpPr/>
          <p:nvPr/>
        </p:nvGrpSpPr>
        <p:grpSpPr>
          <a:xfrm rot="0">
            <a:off x="1143000" y="2944759"/>
            <a:ext cx="16002000" cy="438950"/>
            <a:chOff x="0" y="0"/>
            <a:chExt cx="21336000" cy="585267"/>
          </a:xfrm>
        </p:grpSpPr>
        <p:sp>
          <p:nvSpPr>
            <p:cNvPr name="Freeform 10" id="10"/>
            <p:cNvSpPr/>
            <p:nvPr/>
          </p:nvSpPr>
          <p:spPr>
            <a:xfrm flipH="false" flipV="false" rot="0">
              <a:off x="0" y="0"/>
              <a:ext cx="21336000" cy="585270"/>
            </a:xfrm>
            <a:custGeom>
              <a:avLst/>
              <a:gdLst/>
              <a:ahLst/>
              <a:cxnLst/>
              <a:rect r="r" b="b" t="t" l="l"/>
              <a:pathLst>
                <a:path h="585270" w="21336000">
                  <a:moveTo>
                    <a:pt x="0" y="0"/>
                  </a:moveTo>
                  <a:lnTo>
                    <a:pt x="21336000" y="0"/>
                  </a:lnTo>
                  <a:lnTo>
                    <a:pt x="21336000" y="585270"/>
                  </a:lnTo>
                  <a:lnTo>
                    <a:pt x="0" y="585270"/>
                  </a:lnTo>
                  <a:close/>
                </a:path>
              </a:pathLst>
            </a:custGeom>
            <a:blipFill>
              <a:blip r:embed="rId6">
                <a:alphaModFix amt="0"/>
              </a:blip>
              <a:stretch>
                <a:fillRect l="0" t="-673523" r="0" b="-647129"/>
              </a:stretch>
            </a:blipFill>
          </p:spPr>
        </p:sp>
        <p:sp>
          <p:nvSpPr>
            <p:cNvPr name="TextBox 11" id="11"/>
            <p:cNvSpPr txBox="true"/>
            <p:nvPr/>
          </p:nvSpPr>
          <p:spPr>
            <a:xfrm>
              <a:off x="0" y="0"/>
              <a:ext cx="21336000" cy="585267"/>
            </a:xfrm>
            <a:prstGeom prst="rect">
              <a:avLst/>
            </a:prstGeom>
          </p:spPr>
          <p:txBody>
            <a:bodyPr anchor="ctr" rtlCol="false" tIns="0" lIns="0" bIns="0" rIns="0"/>
            <a:lstStyle/>
            <a:p>
              <a:pPr algn="l">
                <a:lnSpc>
                  <a:spcPts val="2520"/>
                </a:lnSpc>
              </a:pPr>
              <a:r>
                <a:rPr lang="en-US" sz="2100">
                  <a:solidFill>
                    <a:srgbClr val="387F7F"/>
                  </a:solidFill>
                  <a:latin typeface="Inter"/>
                  <a:ea typeface="Inter"/>
                  <a:cs typeface="Inter"/>
                  <a:sym typeface="Inter"/>
                </a:rPr>
                <a:t>DATA ANALYSIS</a:t>
              </a:r>
            </a:p>
          </p:txBody>
        </p:sp>
      </p:grpSp>
      <p:grpSp>
        <p:nvGrpSpPr>
          <p:cNvPr name="Group 12" id="12"/>
          <p:cNvGrpSpPr/>
          <p:nvPr/>
        </p:nvGrpSpPr>
        <p:grpSpPr>
          <a:xfrm rot="0">
            <a:off x="1143000" y="3349571"/>
            <a:ext cx="16002000" cy="691139"/>
            <a:chOff x="0" y="0"/>
            <a:chExt cx="21336000" cy="921519"/>
          </a:xfrm>
        </p:grpSpPr>
        <p:sp>
          <p:nvSpPr>
            <p:cNvPr name="Freeform 13" id="13"/>
            <p:cNvSpPr/>
            <p:nvPr/>
          </p:nvSpPr>
          <p:spPr>
            <a:xfrm flipH="false" flipV="false" rot="0">
              <a:off x="0" y="0"/>
              <a:ext cx="21336000" cy="921512"/>
            </a:xfrm>
            <a:custGeom>
              <a:avLst/>
              <a:gdLst/>
              <a:ahLst/>
              <a:cxnLst/>
              <a:rect r="r" b="b" t="t" l="l"/>
              <a:pathLst>
                <a:path h="921512" w="21336000">
                  <a:moveTo>
                    <a:pt x="0" y="0"/>
                  </a:moveTo>
                  <a:lnTo>
                    <a:pt x="21336000" y="0"/>
                  </a:lnTo>
                  <a:lnTo>
                    <a:pt x="21336000" y="921512"/>
                  </a:lnTo>
                  <a:lnTo>
                    <a:pt x="0" y="921512"/>
                  </a:lnTo>
                  <a:close/>
                </a:path>
              </a:pathLst>
            </a:custGeom>
            <a:blipFill>
              <a:blip r:embed="rId6">
                <a:alphaModFix amt="0"/>
              </a:blip>
              <a:stretch>
                <a:fillRect l="0" t="-414387" r="0" b="-387897"/>
              </a:stretch>
            </a:blipFill>
          </p:spPr>
        </p:sp>
        <p:sp>
          <p:nvSpPr>
            <p:cNvPr name="TextBox 14" id="14"/>
            <p:cNvSpPr txBox="true"/>
            <p:nvPr/>
          </p:nvSpPr>
          <p:spPr>
            <a:xfrm>
              <a:off x="0" y="-9525"/>
              <a:ext cx="21336000" cy="931044"/>
            </a:xfrm>
            <a:prstGeom prst="rect">
              <a:avLst/>
            </a:prstGeom>
          </p:spPr>
          <p:txBody>
            <a:bodyPr anchor="ctr" rtlCol="false" tIns="0" lIns="0" bIns="0" rIns="0"/>
            <a:lstStyle/>
            <a:p>
              <a:pPr algn="l">
                <a:lnSpc>
                  <a:spcPts val="3960"/>
                </a:lnSpc>
              </a:pPr>
              <a:r>
                <a:rPr lang="en-US" b="true" sz="3300">
                  <a:solidFill>
                    <a:srgbClr val="64748B"/>
                  </a:solidFill>
                  <a:latin typeface="Inter Medium"/>
                  <a:ea typeface="Inter Medium"/>
                  <a:cs typeface="Inter Medium"/>
                  <a:sym typeface="Inter Medium"/>
                </a:rPr>
                <a:t>Module 5: Python for Data Analysis</a:t>
              </a:r>
            </a:p>
          </p:txBody>
        </p:sp>
      </p:grpSp>
      <p:grpSp>
        <p:nvGrpSpPr>
          <p:cNvPr name="Group 15" id="15"/>
          <p:cNvGrpSpPr/>
          <p:nvPr/>
        </p:nvGrpSpPr>
        <p:grpSpPr>
          <a:xfrm rot="0">
            <a:off x="1143000" y="8572500"/>
            <a:ext cx="16002000" cy="28804"/>
            <a:chOff x="0" y="0"/>
            <a:chExt cx="21336000" cy="38405"/>
          </a:xfrm>
        </p:grpSpPr>
        <p:sp>
          <p:nvSpPr>
            <p:cNvPr name="Freeform 16" id="16"/>
            <p:cNvSpPr/>
            <p:nvPr/>
          </p:nvSpPr>
          <p:spPr>
            <a:xfrm flipH="false" flipV="false" rot="0">
              <a:off x="0" y="0"/>
              <a:ext cx="21336000" cy="38354"/>
            </a:xfrm>
            <a:custGeom>
              <a:avLst/>
              <a:gdLst/>
              <a:ahLst/>
              <a:cxnLst/>
              <a:rect r="r" b="b" t="t" l="l"/>
              <a:pathLst>
                <a:path h="38354" w="21336000">
                  <a:moveTo>
                    <a:pt x="0" y="0"/>
                  </a:moveTo>
                  <a:lnTo>
                    <a:pt x="21336000" y="0"/>
                  </a:lnTo>
                  <a:lnTo>
                    <a:pt x="21336000" y="38354"/>
                  </a:lnTo>
                  <a:lnTo>
                    <a:pt x="0" y="38354"/>
                  </a:lnTo>
                  <a:close/>
                </a:path>
              </a:pathLst>
            </a:custGeom>
            <a:solidFill>
              <a:srgbClr val="E2E8F0"/>
            </a:solidFill>
          </p:spPr>
        </p:sp>
      </p:grpSp>
      <p:grpSp>
        <p:nvGrpSpPr>
          <p:cNvPr name="Group 17" id="17"/>
          <p:cNvGrpSpPr/>
          <p:nvPr/>
        </p:nvGrpSpPr>
        <p:grpSpPr>
          <a:xfrm rot="0">
            <a:off x="1143000" y="9001125"/>
            <a:ext cx="385648" cy="342900"/>
            <a:chOff x="0" y="0"/>
            <a:chExt cx="514198" cy="457200"/>
          </a:xfrm>
        </p:grpSpPr>
        <p:sp>
          <p:nvSpPr>
            <p:cNvPr name="Freeform 18" id="18"/>
            <p:cNvSpPr/>
            <p:nvPr/>
          </p:nvSpPr>
          <p:spPr>
            <a:xfrm flipH="false" flipV="false" rot="0">
              <a:off x="0" y="0"/>
              <a:ext cx="514223" cy="457200"/>
            </a:xfrm>
            <a:custGeom>
              <a:avLst/>
              <a:gdLst/>
              <a:ahLst/>
              <a:cxnLst/>
              <a:rect r="r" b="b" t="t" l="l"/>
              <a:pathLst>
                <a:path h="457200" w="514223">
                  <a:moveTo>
                    <a:pt x="0" y="0"/>
                  </a:moveTo>
                  <a:lnTo>
                    <a:pt x="514223" y="0"/>
                  </a:lnTo>
                  <a:lnTo>
                    <a:pt x="514223" y="457200"/>
                  </a:lnTo>
                  <a:lnTo>
                    <a:pt x="0" y="457200"/>
                  </a:lnTo>
                  <a:lnTo>
                    <a:pt x="0" y="0"/>
                  </a:lnTo>
                  <a:close/>
                </a:path>
              </a:pathLst>
            </a:custGeom>
            <a:blipFill>
              <a:blip r:embed="rId7"/>
              <a:stretch>
                <a:fillRect l="0" t="0" r="-24" b="0"/>
              </a:stretch>
            </a:blipFill>
          </p:spPr>
        </p:sp>
      </p:grpSp>
      <p:grpSp>
        <p:nvGrpSpPr>
          <p:cNvPr name="Group 19" id="19"/>
          <p:cNvGrpSpPr/>
          <p:nvPr/>
        </p:nvGrpSpPr>
        <p:grpSpPr>
          <a:xfrm rot="0">
            <a:off x="1643062" y="9001125"/>
            <a:ext cx="2143354" cy="438950"/>
            <a:chOff x="0" y="0"/>
            <a:chExt cx="2857805" cy="585267"/>
          </a:xfrm>
        </p:grpSpPr>
        <p:sp>
          <p:nvSpPr>
            <p:cNvPr name="Freeform 20" id="20"/>
            <p:cNvSpPr/>
            <p:nvPr/>
          </p:nvSpPr>
          <p:spPr>
            <a:xfrm flipH="false" flipV="false" rot="0">
              <a:off x="0" y="0"/>
              <a:ext cx="2857800" cy="585270"/>
            </a:xfrm>
            <a:custGeom>
              <a:avLst/>
              <a:gdLst/>
              <a:ahLst/>
              <a:cxnLst/>
              <a:rect r="r" b="b" t="t" l="l"/>
              <a:pathLst>
                <a:path h="585270" w="2857800">
                  <a:moveTo>
                    <a:pt x="0" y="0"/>
                  </a:moveTo>
                  <a:lnTo>
                    <a:pt x="2857800" y="0"/>
                  </a:lnTo>
                  <a:lnTo>
                    <a:pt x="2857800" y="585270"/>
                  </a:lnTo>
                  <a:lnTo>
                    <a:pt x="0" y="585270"/>
                  </a:lnTo>
                  <a:close/>
                </a:path>
              </a:pathLst>
            </a:custGeom>
            <a:blipFill>
              <a:blip r:embed="rId6">
                <a:alphaModFix amt="0"/>
              </a:blip>
              <a:stretch>
                <a:fillRect l="0" t="-58339" r="0" b="-31946"/>
              </a:stretch>
            </a:blipFill>
          </p:spPr>
        </p:sp>
        <p:sp>
          <p:nvSpPr>
            <p:cNvPr name="TextBox 21" id="21"/>
            <p:cNvSpPr txBox="true"/>
            <p:nvPr/>
          </p:nvSpPr>
          <p:spPr>
            <a:xfrm>
              <a:off x="0" y="0"/>
              <a:ext cx="2857805" cy="585267"/>
            </a:xfrm>
            <a:prstGeom prst="rect">
              <a:avLst/>
            </a:prstGeom>
          </p:spPr>
          <p:txBody>
            <a:bodyPr anchor="ctr" rtlCol="false" tIns="0" lIns="0" bIns="0" rIns="0"/>
            <a:lstStyle/>
            <a:p>
              <a:pPr algn="l">
                <a:lnSpc>
                  <a:spcPts val="2520"/>
                </a:lnSpc>
              </a:pPr>
              <a:r>
                <a:rPr lang="en-US" sz="2100">
                  <a:solidFill>
                    <a:srgbClr val="64748B"/>
                  </a:solidFill>
                  <a:latin typeface="Inter"/>
                  <a:ea typeface="Inter"/>
                  <a:cs typeface="Inter"/>
                  <a:sym typeface="Inter"/>
                </a:rPr>
                <a:t>Topic 4 of 4</a:t>
              </a:r>
            </a:p>
          </p:txBody>
        </p:sp>
      </p:grpSp>
      <p:sp>
        <p:nvSpPr>
          <p:cNvPr name="Freeform 22" id="22"/>
          <p:cNvSpPr/>
          <p:nvPr/>
        </p:nvSpPr>
        <p:spPr>
          <a:xfrm flipH="false" flipV="false" rot="0">
            <a:off x="1143000" y="552450"/>
            <a:ext cx="2124669" cy="1845806"/>
          </a:xfrm>
          <a:custGeom>
            <a:avLst/>
            <a:gdLst/>
            <a:ahLst/>
            <a:cxnLst/>
            <a:rect r="r" b="b" t="t" l="l"/>
            <a:pathLst>
              <a:path h="1845806" w="2124669">
                <a:moveTo>
                  <a:pt x="0" y="0"/>
                </a:moveTo>
                <a:lnTo>
                  <a:pt x="2124669" y="0"/>
                </a:lnTo>
                <a:lnTo>
                  <a:pt x="2124669" y="1845806"/>
                </a:lnTo>
                <a:lnTo>
                  <a:pt x="0" y="1845806"/>
                </a:lnTo>
                <a:lnTo>
                  <a:pt x="0" y="0"/>
                </a:lnTo>
                <a:close/>
              </a:path>
            </a:pathLst>
          </a:custGeom>
          <a:blipFill>
            <a:blip r:embed="rId8"/>
            <a:stretch>
              <a:fillRect l="0" t="0" r="0" b="0"/>
            </a:stretch>
          </a:blipFill>
        </p:spPr>
      </p:sp>
      <p:sp>
        <p:nvSpPr>
          <p:cNvPr name="TextBox 23" id="23"/>
          <p:cNvSpPr txBox="true"/>
          <p:nvPr/>
        </p:nvSpPr>
        <p:spPr>
          <a:xfrm rot="0">
            <a:off x="1143000" y="4116229"/>
            <a:ext cx="7350581" cy="2924175"/>
          </a:xfrm>
          <a:prstGeom prst="rect">
            <a:avLst/>
          </a:prstGeom>
        </p:spPr>
        <p:txBody>
          <a:bodyPr anchor="t" rtlCol="false" tIns="0" lIns="0" bIns="0" rIns="0">
            <a:spAutoFit/>
          </a:bodyPr>
          <a:lstStyle/>
          <a:p>
            <a:pPr algn="l">
              <a:lnSpc>
                <a:spcPts val="11250"/>
              </a:lnSpc>
            </a:pPr>
            <a:r>
              <a:rPr lang="en-US" sz="9000" b="true">
                <a:solidFill>
                  <a:srgbClr val="388080"/>
                </a:solidFill>
                <a:latin typeface="Poppins Bold"/>
                <a:ea typeface="Poppins Bold"/>
                <a:cs typeface="Poppins Bold"/>
                <a:sym typeface="Poppins Bold"/>
              </a:rPr>
              <a:t>AI-Assist</a:t>
            </a:r>
            <a:r>
              <a:rPr lang="en-US" b="true" sz="9000">
                <a:solidFill>
                  <a:srgbClr val="388080"/>
                </a:solidFill>
                <a:latin typeface="Poppins Bold"/>
                <a:ea typeface="Poppins Bold"/>
                <a:cs typeface="Poppins Bold"/>
                <a:sym typeface="Poppins Bold"/>
              </a:rPr>
              <a:t>ed </a:t>
            </a:r>
            <a:r>
              <a:rPr lang="en-US" b="true" sz="9000">
                <a:solidFill>
                  <a:srgbClr val="000000"/>
                </a:solidFill>
                <a:latin typeface="Poppins Bold"/>
                <a:ea typeface="Poppins Bold"/>
                <a:cs typeface="Poppins Bold"/>
                <a:sym typeface="Poppins Bold"/>
              </a:rPr>
              <a:t>Coding</a:t>
            </a:r>
          </a:p>
        </p:txBody>
      </p:sp>
      <p:grpSp>
        <p:nvGrpSpPr>
          <p:cNvPr name="Group 24" id="24"/>
          <p:cNvGrpSpPr/>
          <p:nvPr/>
        </p:nvGrpSpPr>
        <p:grpSpPr>
          <a:xfrm rot="0">
            <a:off x="16497824" y="8924125"/>
            <a:ext cx="647224" cy="571500"/>
            <a:chOff x="0" y="0"/>
            <a:chExt cx="862965" cy="762000"/>
          </a:xfrm>
        </p:grpSpPr>
        <p:sp>
          <p:nvSpPr>
            <p:cNvPr name="Freeform 25" id="25"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9"/>
              <a:stretch>
                <a:fillRect l="-772" t="0" r="-772" b="0"/>
              </a:stretch>
            </a:blipFill>
          </p:spPr>
        </p:sp>
      </p:grpSp>
      <p:grpSp>
        <p:nvGrpSpPr>
          <p:cNvPr name="Group 26" id="26"/>
          <p:cNvGrpSpPr/>
          <p:nvPr/>
        </p:nvGrpSpPr>
        <p:grpSpPr>
          <a:xfrm rot="0">
            <a:off x="11121338" y="2143125"/>
            <a:ext cx="6137962" cy="5700886"/>
            <a:chOff x="0" y="0"/>
            <a:chExt cx="9571580" cy="8890000"/>
          </a:xfrm>
        </p:grpSpPr>
        <p:sp>
          <p:nvSpPr>
            <p:cNvPr name="Freeform 27" id="27"/>
            <p:cNvSpPr/>
            <p:nvPr/>
          </p:nvSpPr>
          <p:spPr>
            <a:xfrm flipH="false" flipV="false" rot="0">
              <a:off x="0" y="0"/>
              <a:ext cx="9571580" cy="8890000"/>
            </a:xfrm>
            <a:custGeom>
              <a:avLst/>
              <a:gdLst/>
              <a:ahLst/>
              <a:cxnLst/>
              <a:rect r="r" b="b" t="t" l="l"/>
              <a:pathLst>
                <a:path h="8890000" w="9571580">
                  <a:moveTo>
                    <a:pt x="275913" y="0"/>
                  </a:moveTo>
                  <a:lnTo>
                    <a:pt x="9295667" y="0"/>
                  </a:lnTo>
                  <a:cubicBezTo>
                    <a:pt x="9448050" y="0"/>
                    <a:pt x="9571580" y="123531"/>
                    <a:pt x="9571580" y="275913"/>
                  </a:cubicBezTo>
                  <a:lnTo>
                    <a:pt x="9571580" y="8614087"/>
                  </a:lnTo>
                  <a:cubicBezTo>
                    <a:pt x="9571580" y="8766470"/>
                    <a:pt x="9448050" y="8890000"/>
                    <a:pt x="9295667" y="8890000"/>
                  </a:cubicBezTo>
                  <a:lnTo>
                    <a:pt x="275913" y="8890000"/>
                  </a:lnTo>
                  <a:cubicBezTo>
                    <a:pt x="123531" y="8890000"/>
                    <a:pt x="0" y="8766470"/>
                    <a:pt x="0" y="8614087"/>
                  </a:cubicBezTo>
                  <a:lnTo>
                    <a:pt x="0" y="275913"/>
                  </a:lnTo>
                  <a:cubicBezTo>
                    <a:pt x="0" y="123531"/>
                    <a:pt x="123531" y="0"/>
                    <a:pt x="275913" y="0"/>
                  </a:cubicBezTo>
                  <a:close/>
                </a:path>
              </a:pathLst>
            </a:custGeom>
            <a:blipFill>
              <a:blip r:embed="rId10"/>
              <a:stretch>
                <a:fillRect l="0" t="-3833" r="0" b="-3833"/>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334687" y="2288059"/>
            <a:ext cx="13238783" cy="409575"/>
          </a:xfrm>
          <a:prstGeom prst="rect">
            <a:avLst/>
          </a:prstGeom>
        </p:spPr>
        <p:txBody>
          <a:bodyPr anchor="t" rtlCol="false" tIns="0" lIns="0" bIns="0" rIns="0">
            <a:spAutoFit/>
          </a:bodyPr>
          <a:lstStyle/>
          <a:p>
            <a:pPr algn="ctr">
              <a:lnSpc>
                <a:spcPts val="3120"/>
              </a:lnSpc>
              <a:spcBef>
                <a:spcPct val="0"/>
              </a:spcBef>
            </a:pPr>
            <a:r>
              <a:rPr lang="en-US" sz="2600">
                <a:solidFill>
                  <a:srgbClr val="000000"/>
                </a:solidFill>
                <a:latin typeface="Poppins"/>
                <a:ea typeface="Poppins"/>
                <a:cs typeface="Poppins"/>
                <a:sym typeface="Poppins"/>
              </a:rPr>
              <a:t>Introduce learners to the use of AI assistants for coding and data-analysis tasks.</a:t>
            </a:r>
          </a:p>
        </p:txBody>
      </p:sp>
      <p:grpSp>
        <p:nvGrpSpPr>
          <p:cNvPr name="Group 5" id="5"/>
          <p:cNvGrpSpPr/>
          <p:nvPr/>
        </p:nvGrpSpPr>
        <p:grpSpPr>
          <a:xfrm rot="0">
            <a:off x="728662" y="2307109"/>
            <a:ext cx="371475" cy="385762"/>
            <a:chOff x="0" y="0"/>
            <a:chExt cx="495300" cy="514350"/>
          </a:xfrm>
        </p:grpSpPr>
        <p:sp>
          <p:nvSpPr>
            <p:cNvPr name="Freeform 6" id="6" descr="image.png"/>
            <p:cNvSpPr/>
            <p:nvPr/>
          </p:nvSpPr>
          <p:spPr>
            <a:xfrm flipH="false" flipV="false" rot="0">
              <a:off x="0" y="0"/>
              <a:ext cx="495300" cy="514350"/>
            </a:xfrm>
            <a:custGeom>
              <a:avLst/>
              <a:gdLst/>
              <a:ahLst/>
              <a:cxnLst/>
              <a:rect r="r" b="b" t="t" l="l"/>
              <a:pathLst>
                <a:path h="514350" w="495300">
                  <a:moveTo>
                    <a:pt x="0" y="0"/>
                  </a:moveTo>
                  <a:lnTo>
                    <a:pt x="495300" y="0"/>
                  </a:lnTo>
                  <a:lnTo>
                    <a:pt x="495300" y="514350"/>
                  </a:lnTo>
                  <a:lnTo>
                    <a:pt x="0" y="514350"/>
                  </a:lnTo>
                  <a:lnTo>
                    <a:pt x="0" y="0"/>
                  </a:lnTo>
                  <a:close/>
                </a:path>
              </a:pathLst>
            </a:custGeom>
            <a:blipFill>
              <a:blip r:embed="rId3"/>
              <a:stretch>
                <a:fillRect l="0" t="0" r="0" b="0"/>
              </a:stretch>
            </a:blipFill>
          </p:spPr>
        </p:sp>
      </p:grpSp>
      <p:grpSp>
        <p:nvGrpSpPr>
          <p:cNvPr name="Group 7" id="7"/>
          <p:cNvGrpSpPr/>
          <p:nvPr/>
        </p:nvGrpSpPr>
        <p:grpSpPr>
          <a:xfrm rot="0">
            <a:off x="728662" y="4950619"/>
            <a:ext cx="371475" cy="385762"/>
            <a:chOff x="0" y="0"/>
            <a:chExt cx="495300" cy="514350"/>
          </a:xfrm>
        </p:grpSpPr>
        <p:sp>
          <p:nvSpPr>
            <p:cNvPr name="Freeform 8" id="8" descr="image.png"/>
            <p:cNvSpPr/>
            <p:nvPr/>
          </p:nvSpPr>
          <p:spPr>
            <a:xfrm flipH="false" flipV="false" rot="0">
              <a:off x="0" y="0"/>
              <a:ext cx="495300" cy="514350"/>
            </a:xfrm>
            <a:custGeom>
              <a:avLst/>
              <a:gdLst/>
              <a:ahLst/>
              <a:cxnLst/>
              <a:rect r="r" b="b" t="t" l="l"/>
              <a:pathLst>
                <a:path h="514350" w="495300">
                  <a:moveTo>
                    <a:pt x="0" y="0"/>
                  </a:moveTo>
                  <a:lnTo>
                    <a:pt x="495300" y="0"/>
                  </a:lnTo>
                  <a:lnTo>
                    <a:pt x="495300" y="514350"/>
                  </a:lnTo>
                  <a:lnTo>
                    <a:pt x="0" y="514350"/>
                  </a:lnTo>
                  <a:lnTo>
                    <a:pt x="0" y="0"/>
                  </a:lnTo>
                  <a:close/>
                </a:path>
              </a:pathLst>
            </a:custGeom>
            <a:blipFill>
              <a:blip r:embed="rId3"/>
              <a:stretch>
                <a:fillRect l="0" t="0" r="0" b="0"/>
              </a:stretch>
            </a:blipFill>
          </p:spPr>
        </p:sp>
      </p:grpSp>
      <p:grpSp>
        <p:nvGrpSpPr>
          <p:cNvPr name="Group 9" id="9"/>
          <p:cNvGrpSpPr/>
          <p:nvPr/>
        </p:nvGrpSpPr>
        <p:grpSpPr>
          <a:xfrm rot="0">
            <a:off x="728662" y="4050184"/>
            <a:ext cx="371475" cy="385762"/>
            <a:chOff x="0" y="0"/>
            <a:chExt cx="495300" cy="514350"/>
          </a:xfrm>
        </p:grpSpPr>
        <p:sp>
          <p:nvSpPr>
            <p:cNvPr name="Freeform 10" id="10" descr="image.png"/>
            <p:cNvSpPr/>
            <p:nvPr/>
          </p:nvSpPr>
          <p:spPr>
            <a:xfrm flipH="false" flipV="false" rot="0">
              <a:off x="0" y="0"/>
              <a:ext cx="495300" cy="514350"/>
            </a:xfrm>
            <a:custGeom>
              <a:avLst/>
              <a:gdLst/>
              <a:ahLst/>
              <a:cxnLst/>
              <a:rect r="r" b="b" t="t" l="l"/>
              <a:pathLst>
                <a:path h="514350" w="495300">
                  <a:moveTo>
                    <a:pt x="0" y="0"/>
                  </a:moveTo>
                  <a:lnTo>
                    <a:pt x="495300" y="0"/>
                  </a:lnTo>
                  <a:lnTo>
                    <a:pt x="495300" y="514350"/>
                  </a:lnTo>
                  <a:lnTo>
                    <a:pt x="0" y="514350"/>
                  </a:lnTo>
                  <a:lnTo>
                    <a:pt x="0" y="0"/>
                  </a:lnTo>
                  <a:close/>
                </a:path>
              </a:pathLst>
            </a:custGeom>
            <a:blipFill>
              <a:blip r:embed="rId3"/>
              <a:stretch>
                <a:fillRect l="0" t="0" r="0" b="0"/>
              </a:stretch>
            </a:blipFill>
          </p:spPr>
        </p:sp>
      </p:grpSp>
      <p:grpSp>
        <p:nvGrpSpPr>
          <p:cNvPr name="Group 11" id="11"/>
          <p:cNvGrpSpPr/>
          <p:nvPr/>
        </p:nvGrpSpPr>
        <p:grpSpPr>
          <a:xfrm rot="0">
            <a:off x="728662" y="3111972"/>
            <a:ext cx="371475" cy="385762"/>
            <a:chOff x="0" y="0"/>
            <a:chExt cx="495300" cy="514350"/>
          </a:xfrm>
        </p:grpSpPr>
        <p:sp>
          <p:nvSpPr>
            <p:cNvPr name="Freeform 12" id="12" descr="image.png"/>
            <p:cNvSpPr/>
            <p:nvPr/>
          </p:nvSpPr>
          <p:spPr>
            <a:xfrm flipH="false" flipV="false" rot="0">
              <a:off x="0" y="0"/>
              <a:ext cx="495300" cy="514350"/>
            </a:xfrm>
            <a:custGeom>
              <a:avLst/>
              <a:gdLst/>
              <a:ahLst/>
              <a:cxnLst/>
              <a:rect r="r" b="b" t="t" l="l"/>
              <a:pathLst>
                <a:path h="514350" w="495300">
                  <a:moveTo>
                    <a:pt x="0" y="0"/>
                  </a:moveTo>
                  <a:lnTo>
                    <a:pt x="495300" y="0"/>
                  </a:lnTo>
                  <a:lnTo>
                    <a:pt x="495300" y="514350"/>
                  </a:lnTo>
                  <a:lnTo>
                    <a:pt x="0" y="514350"/>
                  </a:lnTo>
                  <a:lnTo>
                    <a:pt x="0" y="0"/>
                  </a:lnTo>
                  <a:close/>
                </a:path>
              </a:pathLst>
            </a:custGeom>
            <a:blipFill>
              <a:blip r:embed="rId3"/>
              <a:stretch>
                <a:fillRect l="0" t="0" r="0" b="0"/>
              </a:stretch>
            </a:blipFill>
          </p:spPr>
        </p:sp>
      </p:grpSp>
      <p:grpSp>
        <p:nvGrpSpPr>
          <p:cNvPr name="Group 13" id="13"/>
          <p:cNvGrpSpPr/>
          <p:nvPr/>
        </p:nvGrpSpPr>
        <p:grpSpPr>
          <a:xfrm rot="0">
            <a:off x="857250" y="857250"/>
            <a:ext cx="114300" cy="1028700"/>
            <a:chOff x="0" y="0"/>
            <a:chExt cx="152400" cy="1371600"/>
          </a:xfrm>
        </p:grpSpPr>
        <p:sp>
          <p:nvSpPr>
            <p:cNvPr name="Freeform 14" id="14"/>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TextBox 15" id="15"/>
          <p:cNvSpPr txBox="true"/>
          <p:nvPr/>
        </p:nvSpPr>
        <p:spPr>
          <a:xfrm rot="0">
            <a:off x="1100138" y="942975"/>
            <a:ext cx="5841876"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Module Objectives</a:t>
            </a:r>
          </a:p>
        </p:txBody>
      </p:sp>
      <p:sp>
        <p:nvSpPr>
          <p:cNvPr name="TextBox 16" id="16"/>
          <p:cNvSpPr txBox="true"/>
          <p:nvPr/>
        </p:nvSpPr>
        <p:spPr>
          <a:xfrm rot="0">
            <a:off x="1257095" y="3092922"/>
            <a:ext cx="13393967" cy="409575"/>
          </a:xfrm>
          <a:prstGeom prst="rect">
            <a:avLst/>
          </a:prstGeom>
        </p:spPr>
        <p:txBody>
          <a:bodyPr anchor="t" rtlCol="false" tIns="0" lIns="0" bIns="0" rIns="0">
            <a:spAutoFit/>
          </a:bodyPr>
          <a:lstStyle/>
          <a:p>
            <a:pPr algn="ctr">
              <a:lnSpc>
                <a:spcPts val="3120"/>
              </a:lnSpc>
              <a:spcBef>
                <a:spcPct val="0"/>
              </a:spcBef>
            </a:pPr>
            <a:r>
              <a:rPr lang="en-US" sz="2600">
                <a:solidFill>
                  <a:srgbClr val="000000"/>
                </a:solidFill>
                <a:latin typeface="Poppins"/>
                <a:ea typeface="Poppins"/>
                <a:cs typeface="Poppins"/>
                <a:sym typeface="Poppins"/>
              </a:rPr>
              <a:t>Develop learners’ ability to write effective prompts that provide AI with clear data, </a:t>
            </a:r>
          </a:p>
        </p:txBody>
      </p:sp>
      <p:sp>
        <p:nvSpPr>
          <p:cNvPr name="TextBox 17" id="17"/>
          <p:cNvSpPr txBox="true"/>
          <p:nvPr/>
        </p:nvSpPr>
        <p:spPr>
          <a:xfrm rot="0">
            <a:off x="1257095" y="3483447"/>
            <a:ext cx="6113041" cy="409575"/>
          </a:xfrm>
          <a:prstGeom prst="rect">
            <a:avLst/>
          </a:prstGeom>
        </p:spPr>
        <p:txBody>
          <a:bodyPr anchor="t" rtlCol="false" tIns="0" lIns="0" bIns="0" rIns="0">
            <a:spAutoFit/>
          </a:bodyPr>
          <a:lstStyle/>
          <a:p>
            <a:pPr algn="ctr">
              <a:lnSpc>
                <a:spcPts val="3120"/>
              </a:lnSpc>
              <a:spcBef>
                <a:spcPct val="0"/>
              </a:spcBef>
            </a:pPr>
            <a:r>
              <a:rPr lang="en-US" sz="2600">
                <a:solidFill>
                  <a:srgbClr val="000000"/>
                </a:solidFill>
                <a:latin typeface="Poppins"/>
                <a:ea typeface="Poppins"/>
                <a:cs typeface="Poppins"/>
                <a:sym typeface="Poppins"/>
              </a:rPr>
              <a:t>objectives, and coding requirements.</a:t>
            </a:r>
          </a:p>
        </p:txBody>
      </p:sp>
      <p:sp>
        <p:nvSpPr>
          <p:cNvPr name="TextBox 18" id="18"/>
          <p:cNvSpPr txBox="true"/>
          <p:nvPr/>
        </p:nvSpPr>
        <p:spPr>
          <a:xfrm rot="0">
            <a:off x="1257095" y="4026372"/>
            <a:ext cx="13726641" cy="409575"/>
          </a:xfrm>
          <a:prstGeom prst="rect">
            <a:avLst/>
          </a:prstGeom>
        </p:spPr>
        <p:txBody>
          <a:bodyPr anchor="t" rtlCol="false" tIns="0" lIns="0" bIns="0" rIns="0">
            <a:spAutoFit/>
          </a:bodyPr>
          <a:lstStyle/>
          <a:p>
            <a:pPr algn="ctr">
              <a:lnSpc>
                <a:spcPts val="3120"/>
              </a:lnSpc>
              <a:spcBef>
                <a:spcPct val="0"/>
              </a:spcBef>
            </a:pPr>
            <a:r>
              <a:rPr lang="en-US" sz="2600">
                <a:solidFill>
                  <a:srgbClr val="000000"/>
                </a:solidFill>
                <a:latin typeface="Poppins"/>
                <a:ea typeface="Poppins"/>
                <a:cs typeface="Poppins"/>
                <a:sym typeface="Poppins"/>
              </a:rPr>
              <a:t>Develop learners’ ability to review, test, debug, and verify AI-generated code before </a:t>
            </a:r>
          </a:p>
        </p:txBody>
      </p:sp>
      <p:sp>
        <p:nvSpPr>
          <p:cNvPr name="TextBox 19" id="19"/>
          <p:cNvSpPr txBox="true"/>
          <p:nvPr/>
        </p:nvSpPr>
        <p:spPr>
          <a:xfrm rot="0">
            <a:off x="1257095" y="4416897"/>
            <a:ext cx="3906738" cy="409575"/>
          </a:xfrm>
          <a:prstGeom prst="rect">
            <a:avLst/>
          </a:prstGeom>
        </p:spPr>
        <p:txBody>
          <a:bodyPr anchor="t" rtlCol="false" tIns="0" lIns="0" bIns="0" rIns="0">
            <a:spAutoFit/>
          </a:bodyPr>
          <a:lstStyle/>
          <a:p>
            <a:pPr algn="ctr">
              <a:lnSpc>
                <a:spcPts val="3120"/>
              </a:lnSpc>
              <a:spcBef>
                <a:spcPct val="0"/>
              </a:spcBef>
            </a:pPr>
            <a:r>
              <a:rPr lang="en-US" sz="2600">
                <a:solidFill>
                  <a:srgbClr val="000000"/>
                </a:solidFill>
                <a:latin typeface="Poppins"/>
                <a:ea typeface="Poppins"/>
                <a:cs typeface="Poppins"/>
                <a:sym typeface="Poppins"/>
              </a:rPr>
              <a:t>using it in their analysis.</a:t>
            </a:r>
          </a:p>
        </p:txBody>
      </p:sp>
      <p:sp>
        <p:nvSpPr>
          <p:cNvPr name="TextBox 20" id="20"/>
          <p:cNvSpPr txBox="true"/>
          <p:nvPr/>
        </p:nvSpPr>
        <p:spPr>
          <a:xfrm rot="0">
            <a:off x="1257095" y="4969347"/>
            <a:ext cx="12799006" cy="800100"/>
          </a:xfrm>
          <a:prstGeom prst="rect">
            <a:avLst/>
          </a:prstGeom>
        </p:spPr>
        <p:txBody>
          <a:bodyPr anchor="t" rtlCol="false" tIns="0" lIns="0" bIns="0" rIns="0">
            <a:spAutoFit/>
          </a:bodyPr>
          <a:lstStyle/>
          <a:p>
            <a:pPr algn="ctr">
              <a:lnSpc>
                <a:spcPts val="3120"/>
              </a:lnSpc>
              <a:spcBef>
                <a:spcPct val="0"/>
              </a:spcBef>
            </a:pPr>
            <a:r>
              <a:rPr lang="en-US" sz="2600">
                <a:solidFill>
                  <a:srgbClr val="000000"/>
                </a:solidFill>
                <a:latin typeface="Poppins"/>
                <a:ea typeface="Poppins"/>
                <a:cs typeface="Poppins"/>
                <a:sym typeface="Poppins"/>
              </a:rPr>
              <a:t>Promote responsible use of AI in data analysis, including understanding code, protecting sensitive information, and taking responsibility for submitted work.</a:t>
            </a:r>
          </a:p>
        </p:txBody>
      </p:sp>
      <p:grpSp>
        <p:nvGrpSpPr>
          <p:cNvPr name="Group 21" id="21"/>
          <p:cNvGrpSpPr/>
          <p:nvPr/>
        </p:nvGrpSpPr>
        <p:grpSpPr>
          <a:xfrm rot="0">
            <a:off x="16497824" y="2938091"/>
            <a:ext cx="6238970" cy="6557534"/>
            <a:chOff x="0" y="0"/>
            <a:chExt cx="8318627" cy="8743378"/>
          </a:xfrm>
        </p:grpSpPr>
        <p:sp>
          <p:nvSpPr>
            <p:cNvPr name="Freeform 22" id="22"/>
            <p:cNvSpPr/>
            <p:nvPr/>
          </p:nvSpPr>
          <p:spPr>
            <a:xfrm flipH="false" flipV="false" rot="0">
              <a:off x="51778" y="0"/>
              <a:ext cx="8266849" cy="8077949"/>
            </a:xfrm>
            <a:custGeom>
              <a:avLst/>
              <a:gdLst/>
              <a:ahLst/>
              <a:cxnLst/>
              <a:rect r="r" b="b" t="t" l="l"/>
              <a:pathLst>
                <a:path h="8077949" w="8266849">
                  <a:moveTo>
                    <a:pt x="0" y="0"/>
                  </a:moveTo>
                  <a:lnTo>
                    <a:pt x="8266849" y="0"/>
                  </a:lnTo>
                  <a:lnTo>
                    <a:pt x="8266849" y="8077949"/>
                  </a:lnTo>
                  <a:lnTo>
                    <a:pt x="0" y="80779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3" id="23"/>
            <p:cNvGrpSpPr/>
            <p:nvPr/>
          </p:nvGrpSpPr>
          <p:grpSpPr>
            <a:xfrm rot="0">
              <a:off x="0" y="7981379"/>
              <a:ext cx="862965" cy="762000"/>
              <a:chOff x="0" y="0"/>
              <a:chExt cx="862965" cy="762000"/>
            </a:xfrm>
          </p:grpSpPr>
          <p:sp>
            <p:nvSpPr>
              <p:cNvPr name="Freeform 24" id="24"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857250" y="1885950"/>
            <a:ext cx="12574711" cy="7463589"/>
          </a:xfrm>
          <a:custGeom>
            <a:avLst/>
            <a:gdLst/>
            <a:ahLst/>
            <a:cxnLst/>
            <a:rect r="r" b="b" t="t" l="l"/>
            <a:pathLst>
              <a:path h="7463589" w="12574711">
                <a:moveTo>
                  <a:pt x="0" y="0"/>
                </a:moveTo>
                <a:lnTo>
                  <a:pt x="12574711" y="0"/>
                </a:lnTo>
                <a:lnTo>
                  <a:pt x="12574711" y="7463589"/>
                </a:lnTo>
                <a:lnTo>
                  <a:pt x="0" y="74635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5785396"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Learning outcome</a:t>
            </a:r>
          </a:p>
        </p:txBody>
      </p:sp>
      <p:grpSp>
        <p:nvGrpSpPr>
          <p:cNvPr name="Group 9" id="9"/>
          <p:cNvGrpSpPr/>
          <p:nvPr/>
        </p:nvGrpSpPr>
        <p:grpSpPr>
          <a:xfrm rot="0">
            <a:off x="16497824" y="2938091"/>
            <a:ext cx="6238970" cy="6557534"/>
            <a:chOff x="0" y="0"/>
            <a:chExt cx="8318627" cy="8743378"/>
          </a:xfrm>
        </p:grpSpPr>
        <p:sp>
          <p:nvSpPr>
            <p:cNvPr name="Freeform 10" id="10"/>
            <p:cNvSpPr/>
            <p:nvPr/>
          </p:nvSpPr>
          <p:spPr>
            <a:xfrm flipH="false" flipV="false" rot="0">
              <a:off x="51778" y="0"/>
              <a:ext cx="8266849" cy="8077949"/>
            </a:xfrm>
            <a:custGeom>
              <a:avLst/>
              <a:gdLst/>
              <a:ahLst/>
              <a:cxnLst/>
              <a:rect r="r" b="b" t="t" l="l"/>
              <a:pathLst>
                <a:path h="8077949" w="8266849">
                  <a:moveTo>
                    <a:pt x="0" y="0"/>
                  </a:moveTo>
                  <a:lnTo>
                    <a:pt x="8266849" y="0"/>
                  </a:lnTo>
                  <a:lnTo>
                    <a:pt x="8266849" y="8077949"/>
                  </a:lnTo>
                  <a:lnTo>
                    <a:pt x="0" y="807794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1" id="11"/>
            <p:cNvGrpSpPr/>
            <p:nvPr/>
          </p:nvGrpSpPr>
          <p:grpSpPr>
            <a:xfrm rot="0">
              <a:off x="0" y="7981379"/>
              <a:ext cx="862965" cy="762000"/>
              <a:chOff x="0" y="0"/>
              <a:chExt cx="862965" cy="762000"/>
            </a:xfrm>
          </p:grpSpPr>
          <p:sp>
            <p:nvSpPr>
              <p:cNvPr name="Freeform 12" id="12"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10"/>
                <a:stretch>
                  <a:fillRect l="-772" t="0" r="-772" b="0"/>
                </a:stretch>
              </a:blipFill>
            </p:spPr>
          </p:sp>
        </p:grpSp>
      </p:grpSp>
      <p:sp>
        <p:nvSpPr>
          <p:cNvPr name="TextBox 13" id="13"/>
          <p:cNvSpPr txBox="true"/>
          <p:nvPr/>
        </p:nvSpPr>
        <p:spPr>
          <a:xfrm rot="0">
            <a:off x="1143000" y="3054875"/>
            <a:ext cx="12288961" cy="5869250"/>
          </a:xfrm>
          <a:prstGeom prst="rect">
            <a:avLst/>
          </a:prstGeom>
        </p:spPr>
        <p:txBody>
          <a:bodyPr anchor="t" rtlCol="false" tIns="0" lIns="0" bIns="0" rIns="0">
            <a:spAutoFit/>
          </a:bodyPr>
          <a:lstStyle/>
          <a:p>
            <a:pPr algn="l">
              <a:lnSpc>
                <a:spcPts val="4681"/>
              </a:lnSpc>
            </a:pPr>
            <a:r>
              <a:rPr lang="en-US" sz="2600">
                <a:solidFill>
                  <a:srgbClr val="1E293B"/>
                </a:solidFill>
                <a:latin typeface="Poppins"/>
                <a:ea typeface="Poppins"/>
                <a:cs typeface="Poppins"/>
                <a:sym typeface="Poppins"/>
              </a:rPr>
              <a:t>By the end of this topic, the trainee can…</a:t>
            </a:r>
          </a:p>
          <a:p>
            <a:pPr algn="l">
              <a:lnSpc>
                <a:spcPts val="4681"/>
              </a:lnSpc>
            </a:pPr>
          </a:p>
          <a:p>
            <a:pPr algn="l">
              <a:lnSpc>
                <a:spcPts val="4681"/>
              </a:lnSpc>
            </a:pPr>
            <a:r>
              <a:rPr lang="en-US" sz="2600">
                <a:solidFill>
                  <a:srgbClr val="1E293B"/>
                </a:solidFill>
                <a:latin typeface="Poppins"/>
                <a:ea typeface="Poppins"/>
                <a:cs typeface="Poppins"/>
                <a:sym typeface="Poppins"/>
              </a:rPr>
              <a:t>1- Use AI assistants to generate, explain, and debug Python and pandas code for data-analysis tasks.</a:t>
            </a:r>
          </a:p>
          <a:p>
            <a:pPr algn="l">
              <a:lnSpc>
                <a:spcPts val="4681"/>
              </a:lnSpc>
            </a:pPr>
            <a:r>
              <a:rPr lang="en-US" sz="2600">
                <a:solidFill>
                  <a:srgbClr val="1E293B"/>
                </a:solidFill>
                <a:latin typeface="Poppins"/>
                <a:ea typeface="Poppins"/>
                <a:cs typeface="Poppins"/>
                <a:sym typeface="Poppins"/>
              </a:rPr>
              <a:t>2- Evaluate and verify AI-generated code by checking its syntax, columns, logic, outputs, and alignment with the original analytical question.</a:t>
            </a:r>
          </a:p>
          <a:p>
            <a:pPr algn="l">
              <a:lnSpc>
                <a:spcPts val="4681"/>
              </a:lnSpc>
            </a:pPr>
            <a:r>
              <a:rPr lang="en-US" sz="2600">
                <a:solidFill>
                  <a:srgbClr val="1E293B"/>
                </a:solidFill>
                <a:latin typeface="Poppins"/>
                <a:ea typeface="Poppins"/>
                <a:cs typeface="Poppins"/>
                <a:sym typeface="Poppins"/>
              </a:rPr>
              <a:t>3- Identify and correct AI-generated errors and hallucinations, including incorrect functions, column names, assumptions, and logical errors.</a:t>
            </a:r>
          </a:p>
          <a:p>
            <a:pPr algn="l">
              <a:lnSpc>
                <a:spcPts val="4681"/>
              </a:lnSpc>
            </a:pPr>
            <a:r>
              <a:rPr lang="en-US" sz="2600">
                <a:solidFill>
                  <a:srgbClr val="1E293B"/>
                </a:solidFill>
                <a:latin typeface="Poppins"/>
                <a:ea typeface="Poppins"/>
                <a:cs typeface="Poppins"/>
                <a:sym typeface="Poppins"/>
              </a:rPr>
              <a:t>4- Explain and take responsibility for AI-assisted code by understanding every line before running, submitting, or using it in an analysis.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0">
            <a:off x="16497824" y="8924125"/>
            <a:ext cx="647224" cy="571500"/>
            <a:chOff x="0" y="0"/>
            <a:chExt cx="862965" cy="762000"/>
          </a:xfrm>
        </p:grpSpPr>
        <p:sp>
          <p:nvSpPr>
            <p:cNvPr name="Freeform 9" id="9"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0" id="10"/>
          <p:cNvGrpSpPr/>
          <p:nvPr/>
        </p:nvGrpSpPr>
        <p:grpSpPr>
          <a:xfrm rot="0">
            <a:off x="9144000" y="2050542"/>
            <a:ext cx="8023860" cy="5349240"/>
            <a:chOff x="0" y="0"/>
            <a:chExt cx="10698480" cy="7132320"/>
          </a:xfrm>
        </p:grpSpPr>
        <p:sp>
          <p:nvSpPr>
            <p:cNvPr name="Freeform 11" id="11"/>
            <p:cNvSpPr/>
            <p:nvPr/>
          </p:nvSpPr>
          <p:spPr>
            <a:xfrm flipH="false" flipV="false" rot="0">
              <a:off x="0" y="0"/>
              <a:ext cx="10698480" cy="7132320"/>
            </a:xfrm>
            <a:custGeom>
              <a:avLst/>
              <a:gdLst/>
              <a:ahLst/>
              <a:cxnLst/>
              <a:rect r="r" b="b" t="t" l="l"/>
              <a:pathLst>
                <a:path h="7132320" w="10698480">
                  <a:moveTo>
                    <a:pt x="0" y="146304"/>
                  </a:moveTo>
                  <a:cubicBezTo>
                    <a:pt x="0" y="65532"/>
                    <a:pt x="65532" y="0"/>
                    <a:pt x="146304" y="0"/>
                  </a:cubicBezTo>
                  <a:lnTo>
                    <a:pt x="10552176" y="0"/>
                  </a:lnTo>
                  <a:cubicBezTo>
                    <a:pt x="10632948" y="0"/>
                    <a:pt x="10698480" y="65532"/>
                    <a:pt x="10698480" y="146304"/>
                  </a:cubicBezTo>
                  <a:lnTo>
                    <a:pt x="10698480" y="6986016"/>
                  </a:lnTo>
                  <a:cubicBezTo>
                    <a:pt x="10698480" y="7066788"/>
                    <a:pt x="10632948" y="7132320"/>
                    <a:pt x="10552176" y="7132320"/>
                  </a:cubicBezTo>
                  <a:lnTo>
                    <a:pt x="146304" y="7132320"/>
                  </a:lnTo>
                  <a:cubicBezTo>
                    <a:pt x="65532" y="7132320"/>
                    <a:pt x="0" y="7066788"/>
                    <a:pt x="0" y="6986016"/>
                  </a:cubicBezTo>
                  <a:close/>
                </a:path>
              </a:pathLst>
            </a:custGeom>
            <a:solidFill>
              <a:srgbClr val="E74C3C"/>
            </a:solidFill>
          </p:spPr>
        </p:sp>
      </p:grpSp>
      <p:grpSp>
        <p:nvGrpSpPr>
          <p:cNvPr name="Group 12" id="12"/>
          <p:cNvGrpSpPr/>
          <p:nvPr/>
        </p:nvGrpSpPr>
        <p:grpSpPr>
          <a:xfrm rot="0">
            <a:off x="9834372" y="2434590"/>
            <a:ext cx="7063740" cy="480060"/>
            <a:chOff x="0" y="0"/>
            <a:chExt cx="9418320" cy="640080"/>
          </a:xfrm>
        </p:grpSpPr>
        <p:sp>
          <p:nvSpPr>
            <p:cNvPr name="Freeform 13" id="13"/>
            <p:cNvSpPr/>
            <p:nvPr/>
          </p:nvSpPr>
          <p:spPr>
            <a:xfrm flipH="false" flipV="false" rot="0">
              <a:off x="0" y="0"/>
              <a:ext cx="9418320" cy="640080"/>
            </a:xfrm>
            <a:custGeom>
              <a:avLst/>
              <a:gdLst/>
              <a:ahLst/>
              <a:cxnLst/>
              <a:rect r="r" b="b" t="t" l="l"/>
              <a:pathLst>
                <a:path h="640080" w="9418320">
                  <a:moveTo>
                    <a:pt x="0" y="0"/>
                  </a:moveTo>
                  <a:lnTo>
                    <a:pt x="9418320" y="0"/>
                  </a:lnTo>
                  <a:lnTo>
                    <a:pt x="9418320" y="640080"/>
                  </a:lnTo>
                  <a:lnTo>
                    <a:pt x="0" y="640080"/>
                  </a:lnTo>
                  <a:close/>
                </a:path>
              </a:pathLst>
            </a:custGeom>
            <a:blipFill>
              <a:blip r:embed="rId9">
                <a:alphaModFix amt="0"/>
              </a:blip>
              <a:stretch>
                <a:fillRect l="0" t="-236708" r="0" b="-236708"/>
              </a:stretch>
            </a:blipFill>
          </p:spPr>
        </p:sp>
        <p:sp>
          <p:nvSpPr>
            <p:cNvPr name="TextBox 14" id="14"/>
            <p:cNvSpPr txBox="true"/>
            <p:nvPr/>
          </p:nvSpPr>
          <p:spPr>
            <a:xfrm>
              <a:off x="0" y="-9525"/>
              <a:ext cx="9418320" cy="649605"/>
            </a:xfrm>
            <a:prstGeom prst="rect">
              <a:avLst/>
            </a:prstGeom>
          </p:spPr>
          <p:txBody>
            <a:bodyPr anchor="ctr" rtlCol="false" tIns="0" lIns="0" bIns="0" rIns="0"/>
            <a:lstStyle/>
            <a:p>
              <a:pPr algn="l">
                <a:lnSpc>
                  <a:spcPts val="2340"/>
                </a:lnSpc>
              </a:pPr>
              <a:r>
                <a:rPr lang="en-US" b="true" sz="1950" spc="150">
                  <a:solidFill>
                    <a:srgbClr val="FFFFFF"/>
                  </a:solidFill>
                  <a:latin typeface="Inter Bold"/>
                  <a:ea typeface="Inter Bold"/>
                  <a:cs typeface="Inter Bold"/>
                  <a:sym typeface="Inter Bold"/>
                </a:rPr>
                <a:t>AI CANNOT REPLACE</a:t>
              </a:r>
            </a:p>
          </p:txBody>
        </p:sp>
      </p:grpSp>
      <p:grpSp>
        <p:nvGrpSpPr>
          <p:cNvPr name="Group 15" id="15"/>
          <p:cNvGrpSpPr/>
          <p:nvPr/>
        </p:nvGrpSpPr>
        <p:grpSpPr>
          <a:xfrm rot="0">
            <a:off x="9902952" y="3353562"/>
            <a:ext cx="96012" cy="96012"/>
            <a:chOff x="0" y="0"/>
            <a:chExt cx="128016" cy="128016"/>
          </a:xfrm>
        </p:grpSpPr>
        <p:sp>
          <p:nvSpPr>
            <p:cNvPr name="Freeform 16" id="16"/>
            <p:cNvSpPr/>
            <p:nvPr/>
          </p:nvSpPr>
          <p:spPr>
            <a:xfrm flipH="false" flipV="false" rot="0">
              <a:off x="0" y="0"/>
              <a:ext cx="128016" cy="128016"/>
            </a:xfrm>
            <a:custGeom>
              <a:avLst/>
              <a:gdLst/>
              <a:ahLst/>
              <a:cxnLst/>
              <a:rect r="r" b="b" t="t" l="l"/>
              <a:pathLst>
                <a:path h="128016" w="128016">
                  <a:moveTo>
                    <a:pt x="0" y="64008"/>
                  </a:moveTo>
                  <a:cubicBezTo>
                    <a:pt x="0" y="28702"/>
                    <a:pt x="28702" y="0"/>
                    <a:pt x="64008" y="0"/>
                  </a:cubicBezTo>
                  <a:cubicBezTo>
                    <a:pt x="99314" y="0"/>
                    <a:pt x="128016" y="28702"/>
                    <a:pt x="128016" y="64008"/>
                  </a:cubicBezTo>
                  <a:cubicBezTo>
                    <a:pt x="128016" y="99314"/>
                    <a:pt x="99314" y="128016"/>
                    <a:pt x="64008" y="128016"/>
                  </a:cubicBezTo>
                  <a:cubicBezTo>
                    <a:pt x="28702" y="128016"/>
                    <a:pt x="0" y="99314"/>
                    <a:pt x="0" y="64008"/>
                  </a:cubicBezTo>
                  <a:close/>
                </a:path>
              </a:pathLst>
            </a:custGeom>
            <a:solidFill>
              <a:srgbClr val="FFFFFF"/>
            </a:solidFill>
          </p:spPr>
        </p:sp>
      </p:grpSp>
      <p:sp>
        <p:nvSpPr>
          <p:cNvPr name="TextBox 17" id="17"/>
          <p:cNvSpPr txBox="true"/>
          <p:nvPr/>
        </p:nvSpPr>
        <p:spPr>
          <a:xfrm rot="0">
            <a:off x="10204704" y="3041142"/>
            <a:ext cx="6693408" cy="723900"/>
          </a:xfrm>
          <a:prstGeom prst="rect">
            <a:avLst/>
          </a:prstGeom>
        </p:spPr>
        <p:txBody>
          <a:bodyPr anchor="t" rtlCol="false" tIns="0" lIns="0" bIns="0" rIns="0">
            <a:spAutoFit/>
          </a:bodyPr>
          <a:lstStyle/>
          <a:p>
            <a:pPr algn="l">
              <a:lnSpc>
                <a:spcPts val="3001"/>
              </a:lnSpc>
            </a:pPr>
            <a:r>
              <a:rPr lang="en-US" sz="2175">
                <a:solidFill>
                  <a:srgbClr val="FFFFFF"/>
                </a:solidFill>
                <a:latin typeface="Inter"/>
                <a:ea typeface="Inter"/>
                <a:cs typeface="Inter"/>
                <a:sym typeface="Inter"/>
              </a:rPr>
              <a:t>Analytical judgment</a:t>
            </a:r>
          </a:p>
        </p:txBody>
      </p:sp>
      <p:grpSp>
        <p:nvGrpSpPr>
          <p:cNvPr name="Group 18" id="18"/>
          <p:cNvGrpSpPr/>
          <p:nvPr/>
        </p:nvGrpSpPr>
        <p:grpSpPr>
          <a:xfrm rot="0">
            <a:off x="9902952" y="4011930"/>
            <a:ext cx="96012" cy="96012"/>
            <a:chOff x="0" y="0"/>
            <a:chExt cx="128016" cy="128016"/>
          </a:xfrm>
        </p:grpSpPr>
        <p:sp>
          <p:nvSpPr>
            <p:cNvPr name="Freeform 19" id="19"/>
            <p:cNvSpPr/>
            <p:nvPr/>
          </p:nvSpPr>
          <p:spPr>
            <a:xfrm flipH="false" flipV="false" rot="0">
              <a:off x="0" y="0"/>
              <a:ext cx="128016" cy="128016"/>
            </a:xfrm>
            <a:custGeom>
              <a:avLst/>
              <a:gdLst/>
              <a:ahLst/>
              <a:cxnLst/>
              <a:rect r="r" b="b" t="t" l="l"/>
              <a:pathLst>
                <a:path h="128016" w="128016">
                  <a:moveTo>
                    <a:pt x="0" y="64008"/>
                  </a:moveTo>
                  <a:cubicBezTo>
                    <a:pt x="0" y="28702"/>
                    <a:pt x="28702" y="0"/>
                    <a:pt x="64008" y="0"/>
                  </a:cubicBezTo>
                  <a:cubicBezTo>
                    <a:pt x="99314" y="0"/>
                    <a:pt x="128016" y="28702"/>
                    <a:pt x="128016" y="64008"/>
                  </a:cubicBezTo>
                  <a:cubicBezTo>
                    <a:pt x="128016" y="99314"/>
                    <a:pt x="99314" y="128016"/>
                    <a:pt x="64008" y="128016"/>
                  </a:cubicBezTo>
                  <a:cubicBezTo>
                    <a:pt x="28702" y="128016"/>
                    <a:pt x="0" y="99314"/>
                    <a:pt x="0" y="64008"/>
                  </a:cubicBezTo>
                  <a:close/>
                </a:path>
              </a:pathLst>
            </a:custGeom>
            <a:solidFill>
              <a:srgbClr val="FFFFFF"/>
            </a:solidFill>
          </p:spPr>
        </p:sp>
      </p:grpSp>
      <p:sp>
        <p:nvSpPr>
          <p:cNvPr name="TextBox 20" id="20"/>
          <p:cNvSpPr txBox="true"/>
          <p:nvPr/>
        </p:nvSpPr>
        <p:spPr>
          <a:xfrm rot="0">
            <a:off x="10204704" y="3699510"/>
            <a:ext cx="6693408" cy="723900"/>
          </a:xfrm>
          <a:prstGeom prst="rect">
            <a:avLst/>
          </a:prstGeom>
        </p:spPr>
        <p:txBody>
          <a:bodyPr anchor="t" rtlCol="false" tIns="0" lIns="0" bIns="0" rIns="0">
            <a:spAutoFit/>
          </a:bodyPr>
          <a:lstStyle/>
          <a:p>
            <a:pPr algn="l">
              <a:lnSpc>
                <a:spcPts val="3001"/>
              </a:lnSpc>
            </a:pPr>
            <a:r>
              <a:rPr lang="en-US" sz="2175">
                <a:solidFill>
                  <a:srgbClr val="FFFFFF"/>
                </a:solidFill>
                <a:latin typeface="Inter"/>
                <a:ea typeface="Inter"/>
                <a:cs typeface="Inter"/>
                <a:sym typeface="Inter"/>
              </a:rPr>
              <a:t>Data validation</a:t>
            </a:r>
          </a:p>
        </p:txBody>
      </p:sp>
      <p:grpSp>
        <p:nvGrpSpPr>
          <p:cNvPr name="Group 21" id="21"/>
          <p:cNvGrpSpPr/>
          <p:nvPr/>
        </p:nvGrpSpPr>
        <p:grpSpPr>
          <a:xfrm rot="0">
            <a:off x="9902952" y="4670298"/>
            <a:ext cx="96012" cy="96012"/>
            <a:chOff x="0" y="0"/>
            <a:chExt cx="128016" cy="128016"/>
          </a:xfrm>
        </p:grpSpPr>
        <p:sp>
          <p:nvSpPr>
            <p:cNvPr name="Freeform 22" id="22"/>
            <p:cNvSpPr/>
            <p:nvPr/>
          </p:nvSpPr>
          <p:spPr>
            <a:xfrm flipH="false" flipV="false" rot="0">
              <a:off x="0" y="0"/>
              <a:ext cx="128016" cy="128016"/>
            </a:xfrm>
            <a:custGeom>
              <a:avLst/>
              <a:gdLst/>
              <a:ahLst/>
              <a:cxnLst/>
              <a:rect r="r" b="b" t="t" l="l"/>
              <a:pathLst>
                <a:path h="128016" w="128016">
                  <a:moveTo>
                    <a:pt x="0" y="64008"/>
                  </a:moveTo>
                  <a:cubicBezTo>
                    <a:pt x="0" y="28702"/>
                    <a:pt x="28702" y="0"/>
                    <a:pt x="64008" y="0"/>
                  </a:cubicBezTo>
                  <a:cubicBezTo>
                    <a:pt x="99314" y="0"/>
                    <a:pt x="128016" y="28702"/>
                    <a:pt x="128016" y="64008"/>
                  </a:cubicBezTo>
                  <a:cubicBezTo>
                    <a:pt x="128016" y="99314"/>
                    <a:pt x="99314" y="128016"/>
                    <a:pt x="64008" y="128016"/>
                  </a:cubicBezTo>
                  <a:cubicBezTo>
                    <a:pt x="28702" y="128016"/>
                    <a:pt x="0" y="99314"/>
                    <a:pt x="0" y="64008"/>
                  </a:cubicBezTo>
                  <a:close/>
                </a:path>
              </a:pathLst>
            </a:custGeom>
            <a:solidFill>
              <a:srgbClr val="FFFFFF"/>
            </a:solidFill>
          </p:spPr>
        </p:sp>
      </p:grpSp>
      <p:sp>
        <p:nvSpPr>
          <p:cNvPr name="TextBox 23" id="23"/>
          <p:cNvSpPr txBox="true"/>
          <p:nvPr/>
        </p:nvSpPr>
        <p:spPr>
          <a:xfrm rot="0">
            <a:off x="10204704" y="4357878"/>
            <a:ext cx="6693408" cy="723900"/>
          </a:xfrm>
          <a:prstGeom prst="rect">
            <a:avLst/>
          </a:prstGeom>
        </p:spPr>
        <p:txBody>
          <a:bodyPr anchor="t" rtlCol="false" tIns="0" lIns="0" bIns="0" rIns="0">
            <a:spAutoFit/>
          </a:bodyPr>
          <a:lstStyle/>
          <a:p>
            <a:pPr algn="l">
              <a:lnSpc>
                <a:spcPts val="3001"/>
              </a:lnSpc>
            </a:pPr>
            <a:r>
              <a:rPr lang="en-US" sz="2175">
                <a:solidFill>
                  <a:srgbClr val="FFFFFF"/>
                </a:solidFill>
                <a:latin typeface="Inter"/>
                <a:ea typeface="Inter"/>
                <a:cs typeface="Inter"/>
                <a:sym typeface="Inter"/>
              </a:rPr>
              <a:t>Output verification</a:t>
            </a:r>
          </a:p>
        </p:txBody>
      </p:sp>
      <p:grpSp>
        <p:nvGrpSpPr>
          <p:cNvPr name="Group 24" id="24"/>
          <p:cNvGrpSpPr/>
          <p:nvPr/>
        </p:nvGrpSpPr>
        <p:grpSpPr>
          <a:xfrm rot="0">
            <a:off x="9902952" y="5328666"/>
            <a:ext cx="96012" cy="96012"/>
            <a:chOff x="0" y="0"/>
            <a:chExt cx="128016" cy="128016"/>
          </a:xfrm>
        </p:grpSpPr>
        <p:sp>
          <p:nvSpPr>
            <p:cNvPr name="Freeform 25" id="25"/>
            <p:cNvSpPr/>
            <p:nvPr/>
          </p:nvSpPr>
          <p:spPr>
            <a:xfrm flipH="false" flipV="false" rot="0">
              <a:off x="0" y="0"/>
              <a:ext cx="128016" cy="128016"/>
            </a:xfrm>
            <a:custGeom>
              <a:avLst/>
              <a:gdLst/>
              <a:ahLst/>
              <a:cxnLst/>
              <a:rect r="r" b="b" t="t" l="l"/>
              <a:pathLst>
                <a:path h="128016" w="128016">
                  <a:moveTo>
                    <a:pt x="0" y="64008"/>
                  </a:moveTo>
                  <a:cubicBezTo>
                    <a:pt x="0" y="28702"/>
                    <a:pt x="28702" y="0"/>
                    <a:pt x="64008" y="0"/>
                  </a:cubicBezTo>
                  <a:cubicBezTo>
                    <a:pt x="99314" y="0"/>
                    <a:pt x="128016" y="28702"/>
                    <a:pt x="128016" y="64008"/>
                  </a:cubicBezTo>
                  <a:cubicBezTo>
                    <a:pt x="128016" y="99314"/>
                    <a:pt x="99314" y="128016"/>
                    <a:pt x="64008" y="128016"/>
                  </a:cubicBezTo>
                  <a:cubicBezTo>
                    <a:pt x="28702" y="128016"/>
                    <a:pt x="0" y="99314"/>
                    <a:pt x="0" y="64008"/>
                  </a:cubicBezTo>
                  <a:close/>
                </a:path>
              </a:pathLst>
            </a:custGeom>
            <a:solidFill>
              <a:srgbClr val="FFFFFF"/>
            </a:solidFill>
          </p:spPr>
        </p:sp>
      </p:grpSp>
      <p:sp>
        <p:nvSpPr>
          <p:cNvPr name="TextBox 26" id="26"/>
          <p:cNvSpPr txBox="true"/>
          <p:nvPr/>
        </p:nvSpPr>
        <p:spPr>
          <a:xfrm rot="0">
            <a:off x="10204704" y="5016246"/>
            <a:ext cx="6693408" cy="723900"/>
          </a:xfrm>
          <a:prstGeom prst="rect">
            <a:avLst/>
          </a:prstGeom>
        </p:spPr>
        <p:txBody>
          <a:bodyPr anchor="t" rtlCol="false" tIns="0" lIns="0" bIns="0" rIns="0">
            <a:spAutoFit/>
          </a:bodyPr>
          <a:lstStyle/>
          <a:p>
            <a:pPr algn="l">
              <a:lnSpc>
                <a:spcPts val="3001"/>
              </a:lnSpc>
            </a:pPr>
            <a:r>
              <a:rPr lang="en-US" sz="2175">
                <a:solidFill>
                  <a:srgbClr val="FFFFFF"/>
                </a:solidFill>
                <a:latin typeface="Inter"/>
                <a:ea typeface="Inter"/>
                <a:cs typeface="Inter"/>
                <a:sym typeface="Inter"/>
              </a:rPr>
              <a:t>Understanding</a:t>
            </a:r>
          </a:p>
        </p:txBody>
      </p:sp>
      <p:grpSp>
        <p:nvGrpSpPr>
          <p:cNvPr name="Group 27" id="27"/>
          <p:cNvGrpSpPr/>
          <p:nvPr/>
        </p:nvGrpSpPr>
        <p:grpSpPr>
          <a:xfrm rot="0">
            <a:off x="857250" y="2050542"/>
            <a:ext cx="8023860" cy="5349240"/>
            <a:chOff x="0" y="0"/>
            <a:chExt cx="10698480" cy="7132320"/>
          </a:xfrm>
        </p:grpSpPr>
        <p:grpSp>
          <p:nvGrpSpPr>
            <p:cNvPr name="Group 28" id="28"/>
            <p:cNvGrpSpPr/>
            <p:nvPr/>
          </p:nvGrpSpPr>
          <p:grpSpPr>
            <a:xfrm rot="0">
              <a:off x="0" y="0"/>
              <a:ext cx="10698480" cy="7132320"/>
              <a:chOff x="0" y="0"/>
              <a:chExt cx="10698480" cy="7132320"/>
            </a:xfrm>
          </p:grpSpPr>
          <p:sp>
            <p:nvSpPr>
              <p:cNvPr name="Freeform 29" id="29"/>
              <p:cNvSpPr/>
              <p:nvPr/>
            </p:nvSpPr>
            <p:spPr>
              <a:xfrm flipH="false" flipV="false" rot="0">
                <a:off x="0" y="0"/>
                <a:ext cx="10698480" cy="7132320"/>
              </a:xfrm>
              <a:custGeom>
                <a:avLst/>
                <a:gdLst/>
                <a:ahLst/>
                <a:cxnLst/>
                <a:rect r="r" b="b" t="t" l="l"/>
                <a:pathLst>
                  <a:path h="7132320" w="10698480">
                    <a:moveTo>
                      <a:pt x="0" y="146304"/>
                    </a:moveTo>
                    <a:cubicBezTo>
                      <a:pt x="0" y="65532"/>
                      <a:pt x="65532" y="0"/>
                      <a:pt x="146304" y="0"/>
                    </a:cubicBezTo>
                    <a:lnTo>
                      <a:pt x="10552176" y="0"/>
                    </a:lnTo>
                    <a:cubicBezTo>
                      <a:pt x="10632948" y="0"/>
                      <a:pt x="10698480" y="65532"/>
                      <a:pt x="10698480" y="146304"/>
                    </a:cubicBezTo>
                    <a:lnTo>
                      <a:pt x="10698480" y="6986016"/>
                    </a:lnTo>
                    <a:cubicBezTo>
                      <a:pt x="10698480" y="7066788"/>
                      <a:pt x="10632948" y="7132320"/>
                      <a:pt x="10552176" y="7132320"/>
                    </a:cubicBezTo>
                    <a:lnTo>
                      <a:pt x="146304" y="7132320"/>
                    </a:lnTo>
                    <a:cubicBezTo>
                      <a:pt x="65532" y="7132320"/>
                      <a:pt x="0" y="7066788"/>
                      <a:pt x="0" y="6986016"/>
                    </a:cubicBezTo>
                    <a:close/>
                  </a:path>
                </a:pathLst>
              </a:custGeom>
              <a:solidFill>
                <a:srgbClr val="387F7F"/>
              </a:solidFill>
            </p:spPr>
          </p:sp>
        </p:grpSp>
        <p:grpSp>
          <p:nvGrpSpPr>
            <p:cNvPr name="Group 30" id="30"/>
            <p:cNvGrpSpPr/>
            <p:nvPr/>
          </p:nvGrpSpPr>
          <p:grpSpPr>
            <a:xfrm rot="0">
              <a:off x="640080" y="512064"/>
              <a:ext cx="9418320" cy="640080"/>
              <a:chOff x="0" y="0"/>
              <a:chExt cx="9418320" cy="640080"/>
            </a:xfrm>
          </p:grpSpPr>
          <p:sp>
            <p:nvSpPr>
              <p:cNvPr name="Freeform 31" id="31"/>
              <p:cNvSpPr/>
              <p:nvPr/>
            </p:nvSpPr>
            <p:spPr>
              <a:xfrm flipH="false" flipV="false" rot="0">
                <a:off x="0" y="0"/>
                <a:ext cx="9418320" cy="640080"/>
              </a:xfrm>
              <a:custGeom>
                <a:avLst/>
                <a:gdLst/>
                <a:ahLst/>
                <a:cxnLst/>
                <a:rect r="r" b="b" t="t" l="l"/>
                <a:pathLst>
                  <a:path h="640080" w="9418320">
                    <a:moveTo>
                      <a:pt x="0" y="0"/>
                    </a:moveTo>
                    <a:lnTo>
                      <a:pt x="9418320" y="0"/>
                    </a:lnTo>
                    <a:lnTo>
                      <a:pt x="9418320" y="640080"/>
                    </a:lnTo>
                    <a:lnTo>
                      <a:pt x="0" y="640080"/>
                    </a:lnTo>
                    <a:close/>
                  </a:path>
                </a:pathLst>
              </a:custGeom>
              <a:blipFill>
                <a:blip r:embed="rId9">
                  <a:alphaModFix amt="0"/>
                </a:blip>
                <a:stretch>
                  <a:fillRect l="0" t="-236708" r="0" b="-236708"/>
                </a:stretch>
              </a:blipFill>
            </p:spPr>
          </p:sp>
          <p:sp>
            <p:nvSpPr>
              <p:cNvPr name="TextBox 32" id="32"/>
              <p:cNvSpPr txBox="true"/>
              <p:nvPr/>
            </p:nvSpPr>
            <p:spPr>
              <a:xfrm>
                <a:off x="0" y="-9525"/>
                <a:ext cx="9418320" cy="649605"/>
              </a:xfrm>
              <a:prstGeom prst="rect">
                <a:avLst/>
              </a:prstGeom>
            </p:spPr>
            <p:txBody>
              <a:bodyPr anchor="ctr" rtlCol="false" tIns="0" lIns="0" bIns="0" rIns="0"/>
              <a:lstStyle/>
              <a:p>
                <a:pPr algn="l">
                  <a:lnSpc>
                    <a:spcPts val="2340"/>
                  </a:lnSpc>
                </a:pPr>
                <a:r>
                  <a:rPr lang="en-US" b="true" sz="1950" spc="150">
                    <a:solidFill>
                      <a:srgbClr val="FFFFFF"/>
                    </a:solidFill>
                    <a:latin typeface="Inter Bold"/>
                    <a:ea typeface="Inter Bold"/>
                    <a:cs typeface="Inter Bold"/>
                    <a:sym typeface="Inter Bold"/>
                  </a:rPr>
                  <a:t>AI CAN</a:t>
                </a:r>
              </a:p>
            </p:txBody>
          </p:sp>
        </p:grpSp>
        <p:grpSp>
          <p:nvGrpSpPr>
            <p:cNvPr name="Group 33" id="33"/>
            <p:cNvGrpSpPr/>
            <p:nvPr/>
          </p:nvGrpSpPr>
          <p:grpSpPr>
            <a:xfrm rot="0">
              <a:off x="731520" y="1737360"/>
              <a:ext cx="128016" cy="128016"/>
              <a:chOff x="0" y="0"/>
              <a:chExt cx="128016" cy="128016"/>
            </a:xfrm>
          </p:grpSpPr>
          <p:sp>
            <p:nvSpPr>
              <p:cNvPr name="Freeform 34" id="34"/>
              <p:cNvSpPr/>
              <p:nvPr/>
            </p:nvSpPr>
            <p:spPr>
              <a:xfrm flipH="false" flipV="false" rot="0">
                <a:off x="0" y="0"/>
                <a:ext cx="128016" cy="128016"/>
              </a:xfrm>
              <a:custGeom>
                <a:avLst/>
                <a:gdLst/>
                <a:ahLst/>
                <a:cxnLst/>
                <a:rect r="r" b="b" t="t" l="l"/>
                <a:pathLst>
                  <a:path h="128016" w="128016">
                    <a:moveTo>
                      <a:pt x="0" y="64008"/>
                    </a:moveTo>
                    <a:cubicBezTo>
                      <a:pt x="0" y="28702"/>
                      <a:pt x="28702" y="0"/>
                      <a:pt x="64008" y="0"/>
                    </a:cubicBezTo>
                    <a:cubicBezTo>
                      <a:pt x="99314" y="0"/>
                      <a:pt x="128016" y="28702"/>
                      <a:pt x="128016" y="64008"/>
                    </a:cubicBezTo>
                    <a:cubicBezTo>
                      <a:pt x="128016" y="99314"/>
                      <a:pt x="99314" y="128016"/>
                      <a:pt x="64008" y="128016"/>
                    </a:cubicBezTo>
                    <a:cubicBezTo>
                      <a:pt x="28702" y="128016"/>
                      <a:pt x="0" y="99314"/>
                      <a:pt x="0" y="64008"/>
                    </a:cubicBezTo>
                    <a:close/>
                  </a:path>
                </a:pathLst>
              </a:custGeom>
              <a:solidFill>
                <a:srgbClr val="FFFFFF"/>
              </a:solidFill>
            </p:spPr>
          </p:sp>
        </p:grpSp>
        <p:sp>
          <p:nvSpPr>
            <p:cNvPr name="TextBox 35" id="35"/>
            <p:cNvSpPr txBox="true"/>
            <p:nvPr/>
          </p:nvSpPr>
          <p:spPr>
            <a:xfrm rot="0">
              <a:off x="1133856" y="1333500"/>
              <a:ext cx="8924544" cy="952500"/>
            </a:xfrm>
            <a:prstGeom prst="rect">
              <a:avLst/>
            </a:prstGeom>
          </p:spPr>
          <p:txBody>
            <a:bodyPr anchor="t" rtlCol="false" tIns="0" lIns="0" bIns="0" rIns="0">
              <a:spAutoFit/>
            </a:bodyPr>
            <a:lstStyle/>
            <a:p>
              <a:pPr algn="l">
                <a:lnSpc>
                  <a:spcPts val="3001"/>
                </a:lnSpc>
              </a:pPr>
              <a:r>
                <a:rPr lang="en-US" sz="2175">
                  <a:solidFill>
                    <a:srgbClr val="FFFFFF"/>
                  </a:solidFill>
                  <a:latin typeface="Inter"/>
                  <a:ea typeface="Inter"/>
                  <a:cs typeface="Inter"/>
                  <a:sym typeface="Inter"/>
                </a:rPr>
                <a:t>Generate code</a:t>
              </a:r>
            </a:p>
          </p:txBody>
        </p:sp>
        <p:grpSp>
          <p:nvGrpSpPr>
            <p:cNvPr name="Group 36" id="36"/>
            <p:cNvGrpSpPr/>
            <p:nvPr/>
          </p:nvGrpSpPr>
          <p:grpSpPr>
            <a:xfrm rot="0">
              <a:off x="731520" y="2615184"/>
              <a:ext cx="128016" cy="128016"/>
              <a:chOff x="0" y="0"/>
              <a:chExt cx="128016" cy="128016"/>
            </a:xfrm>
          </p:grpSpPr>
          <p:sp>
            <p:nvSpPr>
              <p:cNvPr name="Freeform 37" id="37"/>
              <p:cNvSpPr/>
              <p:nvPr/>
            </p:nvSpPr>
            <p:spPr>
              <a:xfrm flipH="false" flipV="false" rot="0">
                <a:off x="0" y="0"/>
                <a:ext cx="128016" cy="128016"/>
              </a:xfrm>
              <a:custGeom>
                <a:avLst/>
                <a:gdLst/>
                <a:ahLst/>
                <a:cxnLst/>
                <a:rect r="r" b="b" t="t" l="l"/>
                <a:pathLst>
                  <a:path h="128016" w="128016">
                    <a:moveTo>
                      <a:pt x="0" y="64008"/>
                    </a:moveTo>
                    <a:cubicBezTo>
                      <a:pt x="0" y="28702"/>
                      <a:pt x="28702" y="0"/>
                      <a:pt x="64008" y="0"/>
                    </a:cubicBezTo>
                    <a:cubicBezTo>
                      <a:pt x="99314" y="0"/>
                      <a:pt x="128016" y="28702"/>
                      <a:pt x="128016" y="64008"/>
                    </a:cubicBezTo>
                    <a:cubicBezTo>
                      <a:pt x="128016" y="99314"/>
                      <a:pt x="99314" y="128016"/>
                      <a:pt x="64008" y="128016"/>
                    </a:cubicBezTo>
                    <a:cubicBezTo>
                      <a:pt x="28702" y="128016"/>
                      <a:pt x="0" y="99314"/>
                      <a:pt x="0" y="64008"/>
                    </a:cubicBezTo>
                    <a:close/>
                  </a:path>
                </a:pathLst>
              </a:custGeom>
              <a:solidFill>
                <a:srgbClr val="FFFFFF"/>
              </a:solidFill>
            </p:spPr>
          </p:sp>
        </p:grpSp>
        <p:sp>
          <p:nvSpPr>
            <p:cNvPr name="TextBox 38" id="38"/>
            <p:cNvSpPr txBox="true"/>
            <p:nvPr/>
          </p:nvSpPr>
          <p:spPr>
            <a:xfrm rot="0">
              <a:off x="1133856" y="2211324"/>
              <a:ext cx="8924544" cy="952500"/>
            </a:xfrm>
            <a:prstGeom prst="rect">
              <a:avLst/>
            </a:prstGeom>
          </p:spPr>
          <p:txBody>
            <a:bodyPr anchor="t" rtlCol="false" tIns="0" lIns="0" bIns="0" rIns="0">
              <a:spAutoFit/>
            </a:bodyPr>
            <a:lstStyle/>
            <a:p>
              <a:pPr algn="l">
                <a:lnSpc>
                  <a:spcPts val="3001"/>
                </a:lnSpc>
              </a:pPr>
              <a:r>
                <a:rPr lang="en-US" sz="2175">
                  <a:solidFill>
                    <a:srgbClr val="FFFFFF"/>
                  </a:solidFill>
                  <a:latin typeface="Inter"/>
                  <a:ea typeface="Inter"/>
                  <a:cs typeface="Inter"/>
                  <a:sym typeface="Inter"/>
                </a:rPr>
                <a:t>Explain code</a:t>
              </a:r>
            </a:p>
          </p:txBody>
        </p:sp>
        <p:grpSp>
          <p:nvGrpSpPr>
            <p:cNvPr name="Group 39" id="39"/>
            <p:cNvGrpSpPr/>
            <p:nvPr/>
          </p:nvGrpSpPr>
          <p:grpSpPr>
            <a:xfrm rot="0">
              <a:off x="731520" y="3493008"/>
              <a:ext cx="128016" cy="128016"/>
              <a:chOff x="0" y="0"/>
              <a:chExt cx="128016" cy="128016"/>
            </a:xfrm>
          </p:grpSpPr>
          <p:sp>
            <p:nvSpPr>
              <p:cNvPr name="Freeform 40" id="40"/>
              <p:cNvSpPr/>
              <p:nvPr/>
            </p:nvSpPr>
            <p:spPr>
              <a:xfrm flipH="false" flipV="false" rot="0">
                <a:off x="0" y="0"/>
                <a:ext cx="128016" cy="128016"/>
              </a:xfrm>
              <a:custGeom>
                <a:avLst/>
                <a:gdLst/>
                <a:ahLst/>
                <a:cxnLst/>
                <a:rect r="r" b="b" t="t" l="l"/>
                <a:pathLst>
                  <a:path h="128016" w="128016">
                    <a:moveTo>
                      <a:pt x="0" y="64008"/>
                    </a:moveTo>
                    <a:cubicBezTo>
                      <a:pt x="0" y="28702"/>
                      <a:pt x="28702" y="0"/>
                      <a:pt x="64008" y="0"/>
                    </a:cubicBezTo>
                    <a:cubicBezTo>
                      <a:pt x="99314" y="0"/>
                      <a:pt x="128016" y="28702"/>
                      <a:pt x="128016" y="64008"/>
                    </a:cubicBezTo>
                    <a:cubicBezTo>
                      <a:pt x="128016" y="99314"/>
                      <a:pt x="99314" y="128016"/>
                      <a:pt x="64008" y="128016"/>
                    </a:cubicBezTo>
                    <a:cubicBezTo>
                      <a:pt x="28702" y="128016"/>
                      <a:pt x="0" y="99314"/>
                      <a:pt x="0" y="64008"/>
                    </a:cubicBezTo>
                    <a:close/>
                  </a:path>
                </a:pathLst>
              </a:custGeom>
              <a:solidFill>
                <a:srgbClr val="FFFFFF"/>
              </a:solidFill>
            </p:spPr>
          </p:sp>
        </p:grpSp>
        <p:sp>
          <p:nvSpPr>
            <p:cNvPr name="TextBox 41" id="41"/>
            <p:cNvSpPr txBox="true"/>
            <p:nvPr/>
          </p:nvSpPr>
          <p:spPr>
            <a:xfrm rot="0">
              <a:off x="1133856" y="3089148"/>
              <a:ext cx="8924544" cy="952500"/>
            </a:xfrm>
            <a:prstGeom prst="rect">
              <a:avLst/>
            </a:prstGeom>
          </p:spPr>
          <p:txBody>
            <a:bodyPr anchor="t" rtlCol="false" tIns="0" lIns="0" bIns="0" rIns="0">
              <a:spAutoFit/>
            </a:bodyPr>
            <a:lstStyle/>
            <a:p>
              <a:pPr algn="l">
                <a:lnSpc>
                  <a:spcPts val="3001"/>
                </a:lnSpc>
              </a:pPr>
              <a:r>
                <a:rPr lang="en-US" sz="2175">
                  <a:solidFill>
                    <a:srgbClr val="FFFFFF"/>
                  </a:solidFill>
                  <a:latin typeface="Inter"/>
                  <a:ea typeface="Inter"/>
                  <a:cs typeface="Inter"/>
                  <a:sym typeface="Inter"/>
                </a:rPr>
                <a:t>Suggest alternatives</a:t>
              </a:r>
            </a:p>
          </p:txBody>
        </p:sp>
        <p:grpSp>
          <p:nvGrpSpPr>
            <p:cNvPr name="Group 42" id="42"/>
            <p:cNvGrpSpPr/>
            <p:nvPr/>
          </p:nvGrpSpPr>
          <p:grpSpPr>
            <a:xfrm rot="0">
              <a:off x="731520" y="4370832"/>
              <a:ext cx="128016" cy="128016"/>
              <a:chOff x="0" y="0"/>
              <a:chExt cx="128016" cy="128016"/>
            </a:xfrm>
          </p:grpSpPr>
          <p:sp>
            <p:nvSpPr>
              <p:cNvPr name="Freeform 43" id="43"/>
              <p:cNvSpPr/>
              <p:nvPr/>
            </p:nvSpPr>
            <p:spPr>
              <a:xfrm flipH="false" flipV="false" rot="0">
                <a:off x="0" y="0"/>
                <a:ext cx="128016" cy="128016"/>
              </a:xfrm>
              <a:custGeom>
                <a:avLst/>
                <a:gdLst/>
                <a:ahLst/>
                <a:cxnLst/>
                <a:rect r="r" b="b" t="t" l="l"/>
                <a:pathLst>
                  <a:path h="128016" w="128016">
                    <a:moveTo>
                      <a:pt x="0" y="64008"/>
                    </a:moveTo>
                    <a:cubicBezTo>
                      <a:pt x="0" y="28702"/>
                      <a:pt x="28702" y="0"/>
                      <a:pt x="64008" y="0"/>
                    </a:cubicBezTo>
                    <a:cubicBezTo>
                      <a:pt x="99314" y="0"/>
                      <a:pt x="128016" y="28702"/>
                      <a:pt x="128016" y="64008"/>
                    </a:cubicBezTo>
                    <a:cubicBezTo>
                      <a:pt x="128016" y="99314"/>
                      <a:pt x="99314" y="128016"/>
                      <a:pt x="64008" y="128016"/>
                    </a:cubicBezTo>
                    <a:cubicBezTo>
                      <a:pt x="28702" y="128016"/>
                      <a:pt x="0" y="99314"/>
                      <a:pt x="0" y="64008"/>
                    </a:cubicBezTo>
                    <a:close/>
                  </a:path>
                </a:pathLst>
              </a:custGeom>
              <a:solidFill>
                <a:srgbClr val="FFFFFF"/>
              </a:solidFill>
            </p:spPr>
          </p:sp>
        </p:grpSp>
        <p:sp>
          <p:nvSpPr>
            <p:cNvPr name="TextBox 44" id="44"/>
            <p:cNvSpPr txBox="true"/>
            <p:nvPr/>
          </p:nvSpPr>
          <p:spPr>
            <a:xfrm rot="0">
              <a:off x="1133856" y="3966972"/>
              <a:ext cx="8924544" cy="952500"/>
            </a:xfrm>
            <a:prstGeom prst="rect">
              <a:avLst/>
            </a:prstGeom>
          </p:spPr>
          <p:txBody>
            <a:bodyPr anchor="t" rtlCol="false" tIns="0" lIns="0" bIns="0" rIns="0">
              <a:spAutoFit/>
            </a:bodyPr>
            <a:lstStyle/>
            <a:p>
              <a:pPr algn="l">
                <a:lnSpc>
                  <a:spcPts val="3001"/>
                </a:lnSpc>
              </a:pPr>
              <a:r>
                <a:rPr lang="en-US" sz="2175">
                  <a:solidFill>
                    <a:srgbClr val="FFFFFF"/>
                  </a:solidFill>
                  <a:latin typeface="Inter"/>
                  <a:ea typeface="Inter"/>
                  <a:cs typeface="Inter"/>
                  <a:sym typeface="Inter"/>
                </a:rPr>
                <a:t>Debug errors</a:t>
              </a:r>
            </a:p>
          </p:txBody>
        </p:sp>
        <p:grpSp>
          <p:nvGrpSpPr>
            <p:cNvPr name="Group 45" id="45"/>
            <p:cNvGrpSpPr/>
            <p:nvPr/>
          </p:nvGrpSpPr>
          <p:grpSpPr>
            <a:xfrm rot="0">
              <a:off x="731520" y="5248656"/>
              <a:ext cx="128016" cy="128016"/>
              <a:chOff x="0" y="0"/>
              <a:chExt cx="128016" cy="128016"/>
            </a:xfrm>
          </p:grpSpPr>
          <p:sp>
            <p:nvSpPr>
              <p:cNvPr name="Freeform 46" id="46"/>
              <p:cNvSpPr/>
              <p:nvPr/>
            </p:nvSpPr>
            <p:spPr>
              <a:xfrm flipH="false" flipV="false" rot="0">
                <a:off x="0" y="0"/>
                <a:ext cx="128016" cy="128016"/>
              </a:xfrm>
              <a:custGeom>
                <a:avLst/>
                <a:gdLst/>
                <a:ahLst/>
                <a:cxnLst/>
                <a:rect r="r" b="b" t="t" l="l"/>
                <a:pathLst>
                  <a:path h="128016" w="128016">
                    <a:moveTo>
                      <a:pt x="0" y="64008"/>
                    </a:moveTo>
                    <a:cubicBezTo>
                      <a:pt x="0" y="28702"/>
                      <a:pt x="28702" y="0"/>
                      <a:pt x="64008" y="0"/>
                    </a:cubicBezTo>
                    <a:cubicBezTo>
                      <a:pt x="99314" y="0"/>
                      <a:pt x="128016" y="28702"/>
                      <a:pt x="128016" y="64008"/>
                    </a:cubicBezTo>
                    <a:cubicBezTo>
                      <a:pt x="128016" y="99314"/>
                      <a:pt x="99314" y="128016"/>
                      <a:pt x="64008" y="128016"/>
                    </a:cubicBezTo>
                    <a:cubicBezTo>
                      <a:pt x="28702" y="128016"/>
                      <a:pt x="0" y="99314"/>
                      <a:pt x="0" y="64008"/>
                    </a:cubicBezTo>
                    <a:close/>
                  </a:path>
                </a:pathLst>
              </a:custGeom>
              <a:solidFill>
                <a:srgbClr val="FFFFFF"/>
              </a:solidFill>
            </p:spPr>
          </p:sp>
        </p:grpSp>
        <p:sp>
          <p:nvSpPr>
            <p:cNvPr name="TextBox 47" id="47"/>
            <p:cNvSpPr txBox="true"/>
            <p:nvPr/>
          </p:nvSpPr>
          <p:spPr>
            <a:xfrm rot="0">
              <a:off x="1133856" y="4844796"/>
              <a:ext cx="8924544" cy="952500"/>
            </a:xfrm>
            <a:prstGeom prst="rect">
              <a:avLst/>
            </a:prstGeom>
          </p:spPr>
          <p:txBody>
            <a:bodyPr anchor="t" rtlCol="false" tIns="0" lIns="0" bIns="0" rIns="0">
              <a:spAutoFit/>
            </a:bodyPr>
            <a:lstStyle/>
            <a:p>
              <a:pPr algn="l">
                <a:lnSpc>
                  <a:spcPts val="3001"/>
                </a:lnSpc>
              </a:pPr>
              <a:r>
                <a:rPr lang="en-US" sz="2175">
                  <a:solidFill>
                    <a:srgbClr val="FFFFFF"/>
                  </a:solidFill>
                  <a:latin typeface="Inter"/>
                  <a:ea typeface="Inter"/>
                  <a:cs typeface="Inter"/>
                  <a:sym typeface="Inter"/>
                </a:rPr>
                <a:t>Help interpret syntax</a:t>
              </a:r>
            </a:p>
          </p:txBody>
        </p:sp>
      </p:grpSp>
      <p:grpSp>
        <p:nvGrpSpPr>
          <p:cNvPr name="Group 48" id="48"/>
          <p:cNvGrpSpPr/>
          <p:nvPr/>
        </p:nvGrpSpPr>
        <p:grpSpPr>
          <a:xfrm rot="0">
            <a:off x="1444752" y="9532620"/>
            <a:ext cx="15814548" cy="411480"/>
            <a:chOff x="0" y="0"/>
            <a:chExt cx="21086064" cy="548640"/>
          </a:xfrm>
        </p:grpSpPr>
        <p:sp>
          <p:nvSpPr>
            <p:cNvPr name="Freeform 49" id="49"/>
            <p:cNvSpPr/>
            <p:nvPr/>
          </p:nvSpPr>
          <p:spPr>
            <a:xfrm flipH="false" flipV="false" rot="0">
              <a:off x="0" y="0"/>
              <a:ext cx="21086065" cy="548640"/>
            </a:xfrm>
            <a:custGeom>
              <a:avLst/>
              <a:gdLst/>
              <a:ahLst/>
              <a:cxnLst/>
              <a:rect r="r" b="b" t="t" l="l"/>
              <a:pathLst>
                <a:path h="548640" w="21086065">
                  <a:moveTo>
                    <a:pt x="0" y="0"/>
                  </a:moveTo>
                  <a:lnTo>
                    <a:pt x="21086065" y="0"/>
                  </a:lnTo>
                  <a:lnTo>
                    <a:pt x="21086065" y="548640"/>
                  </a:lnTo>
                  <a:lnTo>
                    <a:pt x="0" y="548640"/>
                  </a:lnTo>
                  <a:close/>
                </a:path>
              </a:pathLst>
            </a:custGeom>
            <a:blipFill>
              <a:blip r:embed="rId9">
                <a:alphaModFix amt="0"/>
              </a:blip>
              <a:stretch>
                <a:fillRect l="0" t="-698874" r="0" b="-698874"/>
              </a:stretch>
            </a:blipFill>
          </p:spPr>
        </p:sp>
        <p:sp>
          <p:nvSpPr>
            <p:cNvPr name="TextBox 50" id="50"/>
            <p:cNvSpPr txBox="true"/>
            <p:nvPr/>
          </p:nvSpPr>
          <p:spPr>
            <a:xfrm>
              <a:off x="0" y="-47625"/>
              <a:ext cx="21086064" cy="596265"/>
            </a:xfrm>
            <a:prstGeom prst="rect">
              <a:avLst/>
            </a:prstGeom>
          </p:spPr>
          <p:txBody>
            <a:bodyPr anchor="ctr" rtlCol="false" tIns="0" lIns="0" bIns="0" rIns="0"/>
            <a:lstStyle/>
            <a:p>
              <a:pPr algn="l">
                <a:lnSpc>
                  <a:spcPts val="2867"/>
                </a:lnSpc>
              </a:pPr>
              <a:r>
                <a:rPr lang="en-US" sz="2025" i="true">
                  <a:solidFill>
                    <a:srgbClr val="0A1A23"/>
                  </a:solidFill>
                  <a:latin typeface="Inter Italics"/>
                  <a:ea typeface="Inter Italics"/>
                  <a:cs typeface="Inter Italics"/>
                  <a:sym typeface="Inter Italics"/>
                </a:rPr>
                <a:t>This module isn't about avoiding AI. It's about staying the one who's responsible for the answer.</a:t>
              </a:r>
            </a:p>
          </p:txBody>
        </p:sp>
      </p:grpSp>
      <p:grpSp>
        <p:nvGrpSpPr>
          <p:cNvPr name="Group 51" id="51"/>
          <p:cNvGrpSpPr/>
          <p:nvPr/>
        </p:nvGrpSpPr>
        <p:grpSpPr>
          <a:xfrm rot="0">
            <a:off x="1179981" y="748665"/>
            <a:ext cx="12755880" cy="1245870"/>
            <a:chOff x="0" y="0"/>
            <a:chExt cx="17007840" cy="1661160"/>
          </a:xfrm>
        </p:grpSpPr>
        <p:sp>
          <p:nvSpPr>
            <p:cNvPr name="Freeform 52" id="52"/>
            <p:cNvSpPr/>
            <p:nvPr/>
          </p:nvSpPr>
          <p:spPr>
            <a:xfrm flipH="false" flipV="false" rot="0">
              <a:off x="0" y="0"/>
              <a:ext cx="17007839" cy="1661160"/>
            </a:xfrm>
            <a:custGeom>
              <a:avLst/>
              <a:gdLst/>
              <a:ahLst/>
              <a:cxnLst/>
              <a:rect r="r" b="b" t="t" l="l"/>
              <a:pathLst>
                <a:path h="1661160" w="17007839">
                  <a:moveTo>
                    <a:pt x="0" y="0"/>
                  </a:moveTo>
                  <a:lnTo>
                    <a:pt x="17007839" y="0"/>
                  </a:lnTo>
                  <a:lnTo>
                    <a:pt x="17007839" y="1661160"/>
                  </a:lnTo>
                  <a:lnTo>
                    <a:pt x="0" y="1661160"/>
                  </a:lnTo>
                  <a:close/>
                </a:path>
              </a:pathLst>
            </a:custGeom>
            <a:blipFill>
              <a:blip r:embed="rId9">
                <a:alphaModFix amt="0"/>
              </a:blip>
              <a:stretch>
                <a:fillRect l="0" t="-163718" r="0" b="-135277"/>
              </a:stretch>
            </a:blipFill>
          </p:spPr>
        </p:sp>
        <p:sp>
          <p:nvSpPr>
            <p:cNvPr name="TextBox 53" id="53"/>
            <p:cNvSpPr txBox="true"/>
            <p:nvPr/>
          </p:nvSpPr>
          <p:spPr>
            <a:xfrm>
              <a:off x="0" y="-47625"/>
              <a:ext cx="17007840" cy="1708785"/>
            </a:xfrm>
            <a:prstGeom prst="rect">
              <a:avLst/>
            </a:prstGeom>
          </p:spPr>
          <p:txBody>
            <a:bodyPr anchor="ctr" rtlCol="false" tIns="0" lIns="0" bIns="0" rIns="0"/>
            <a:lstStyle/>
            <a:p>
              <a:pPr algn="l">
                <a:lnSpc>
                  <a:spcPts val="6000"/>
                </a:lnSpc>
              </a:pPr>
              <a:r>
                <a:rPr lang="en-US" sz="5000">
                  <a:solidFill>
                    <a:srgbClr val="388080"/>
                  </a:solidFill>
                  <a:latin typeface="Poppins"/>
                  <a:ea typeface="Poppins"/>
                  <a:cs typeface="Poppins"/>
                  <a:sym typeface="Poppins"/>
                </a:rPr>
                <a:t>What AI Can and Cannot Do</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6497824" y="8924125"/>
            <a:ext cx="647224" cy="571500"/>
            <a:chOff x="0" y="0"/>
            <a:chExt cx="862965" cy="762000"/>
          </a:xfrm>
        </p:grpSpPr>
        <p:sp>
          <p:nvSpPr>
            <p:cNvPr name="Freeform 6" id="6"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5"/>
              <a:stretch>
                <a:fillRect l="-772" t="0" r="-772" b="0"/>
              </a:stretch>
            </a:blipFill>
          </p:spPr>
        </p:sp>
      </p:grpSp>
      <p:grpSp>
        <p:nvGrpSpPr>
          <p:cNvPr name="Group 7" id="7"/>
          <p:cNvGrpSpPr/>
          <p:nvPr/>
        </p:nvGrpSpPr>
        <p:grpSpPr>
          <a:xfrm rot="0">
            <a:off x="857250" y="857250"/>
            <a:ext cx="114300" cy="1028700"/>
            <a:chOff x="0" y="0"/>
            <a:chExt cx="152400" cy="1371600"/>
          </a:xfrm>
        </p:grpSpPr>
        <p:sp>
          <p:nvSpPr>
            <p:cNvPr name="Freeform 8" id="8"/>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grpSp>
        <p:nvGrpSpPr>
          <p:cNvPr name="Group 9" id="9"/>
          <p:cNvGrpSpPr/>
          <p:nvPr/>
        </p:nvGrpSpPr>
        <p:grpSpPr>
          <a:xfrm rot="0">
            <a:off x="857250" y="1989771"/>
            <a:ext cx="16280892" cy="6213558"/>
            <a:chOff x="0" y="0"/>
            <a:chExt cx="21707856" cy="8284743"/>
          </a:xfrm>
        </p:grpSpPr>
        <p:grpSp>
          <p:nvGrpSpPr>
            <p:cNvPr name="Group 10" id="10"/>
            <p:cNvGrpSpPr/>
            <p:nvPr/>
          </p:nvGrpSpPr>
          <p:grpSpPr>
            <a:xfrm rot="0">
              <a:off x="0" y="4115949"/>
              <a:ext cx="21707856" cy="2103120"/>
              <a:chOff x="0" y="0"/>
              <a:chExt cx="21707856" cy="2103120"/>
            </a:xfrm>
          </p:grpSpPr>
          <p:sp>
            <p:nvSpPr>
              <p:cNvPr name="Freeform 11" id="11"/>
              <p:cNvSpPr/>
              <p:nvPr/>
            </p:nvSpPr>
            <p:spPr>
              <a:xfrm flipH="false" flipV="false" rot="0">
                <a:off x="0" y="0"/>
                <a:ext cx="21707856" cy="2103120"/>
              </a:xfrm>
              <a:custGeom>
                <a:avLst/>
                <a:gdLst/>
                <a:ahLst/>
                <a:cxnLst/>
                <a:rect r="r" b="b" t="t" l="l"/>
                <a:pathLst>
                  <a:path h="2103120" w="21707856">
                    <a:moveTo>
                      <a:pt x="0" y="109728"/>
                    </a:moveTo>
                    <a:cubicBezTo>
                      <a:pt x="0" y="49149"/>
                      <a:pt x="48096" y="0"/>
                      <a:pt x="107376" y="0"/>
                    </a:cubicBezTo>
                    <a:lnTo>
                      <a:pt x="21600480" y="0"/>
                    </a:lnTo>
                    <a:cubicBezTo>
                      <a:pt x="21659760" y="0"/>
                      <a:pt x="21707856" y="49149"/>
                      <a:pt x="21707856" y="109728"/>
                    </a:cubicBezTo>
                    <a:lnTo>
                      <a:pt x="21707856" y="1993392"/>
                    </a:lnTo>
                    <a:cubicBezTo>
                      <a:pt x="21707856" y="2053971"/>
                      <a:pt x="21659760" y="2103120"/>
                      <a:pt x="21600480" y="2103120"/>
                    </a:cubicBezTo>
                    <a:lnTo>
                      <a:pt x="107376" y="2103120"/>
                    </a:lnTo>
                    <a:cubicBezTo>
                      <a:pt x="48096" y="2103120"/>
                      <a:pt x="0" y="2053971"/>
                      <a:pt x="0" y="1993392"/>
                    </a:cubicBezTo>
                    <a:close/>
                  </a:path>
                </a:pathLst>
              </a:custGeom>
              <a:solidFill>
                <a:srgbClr val="FBEAEA"/>
              </a:solidFill>
            </p:spPr>
          </p:sp>
        </p:grpSp>
        <p:grpSp>
          <p:nvGrpSpPr>
            <p:cNvPr name="Group 12" id="12"/>
            <p:cNvGrpSpPr/>
            <p:nvPr/>
          </p:nvGrpSpPr>
          <p:grpSpPr>
            <a:xfrm rot="0">
              <a:off x="12819888" y="411480"/>
              <a:ext cx="731520" cy="792277"/>
              <a:chOff x="0" y="0"/>
              <a:chExt cx="731520" cy="792277"/>
            </a:xfrm>
          </p:grpSpPr>
          <p:sp>
            <p:nvSpPr>
              <p:cNvPr name="Freeform 13" id="13"/>
              <p:cNvSpPr/>
              <p:nvPr/>
            </p:nvSpPr>
            <p:spPr>
              <a:xfrm flipH="false" flipV="false" rot="0">
                <a:off x="0" y="0"/>
                <a:ext cx="731520" cy="792277"/>
              </a:xfrm>
              <a:custGeom>
                <a:avLst/>
                <a:gdLst/>
                <a:ahLst/>
                <a:cxnLst/>
                <a:rect r="r" b="b" t="t" l="l"/>
                <a:pathLst>
                  <a:path h="792277" w="731520">
                    <a:moveTo>
                      <a:pt x="0" y="0"/>
                    </a:moveTo>
                    <a:lnTo>
                      <a:pt x="731520" y="0"/>
                    </a:lnTo>
                    <a:lnTo>
                      <a:pt x="731520" y="792277"/>
                    </a:lnTo>
                    <a:lnTo>
                      <a:pt x="0" y="792277"/>
                    </a:lnTo>
                    <a:close/>
                  </a:path>
                </a:pathLst>
              </a:custGeom>
              <a:blipFill>
                <a:blip r:embed="rId6">
                  <a:alphaModFix amt="0"/>
                </a:blip>
                <a:stretch>
                  <a:fillRect l="-78303" t="0" r="-78303" b="7668"/>
                </a:stretch>
              </a:blipFill>
            </p:spPr>
          </p:sp>
          <p:sp>
            <p:nvSpPr>
              <p:cNvPr name="TextBox 14" id="14"/>
              <p:cNvSpPr txBox="true"/>
              <p:nvPr/>
            </p:nvSpPr>
            <p:spPr>
              <a:xfrm>
                <a:off x="0" y="-19050"/>
                <a:ext cx="731520" cy="811327"/>
              </a:xfrm>
              <a:prstGeom prst="rect">
                <a:avLst/>
              </a:prstGeom>
            </p:spPr>
            <p:txBody>
              <a:bodyPr anchor="ctr" rtlCol="false" tIns="0" lIns="0" bIns="0" rIns="0"/>
              <a:lstStyle/>
              <a:p>
                <a:pPr algn="ctr">
                  <a:lnSpc>
                    <a:spcPts val="2879"/>
                  </a:lnSpc>
                </a:pPr>
                <a:r>
                  <a:rPr lang="en-US" sz="2400">
                    <a:solidFill>
                      <a:srgbClr val="5B6B6E"/>
                    </a:solidFill>
                    <a:latin typeface="Poppins"/>
                    <a:ea typeface="Poppins"/>
                    <a:cs typeface="Poppins"/>
                    <a:sym typeface="Poppins"/>
                  </a:rPr>
                  <a:t>→</a:t>
                </a:r>
              </a:p>
            </p:txBody>
          </p:sp>
        </p:grpSp>
        <p:grpSp>
          <p:nvGrpSpPr>
            <p:cNvPr name="Group 15" id="15"/>
            <p:cNvGrpSpPr/>
            <p:nvPr/>
          </p:nvGrpSpPr>
          <p:grpSpPr>
            <a:xfrm rot="0">
              <a:off x="13331952" y="0"/>
              <a:ext cx="3931920" cy="1554480"/>
              <a:chOff x="0" y="0"/>
              <a:chExt cx="3931920" cy="1554480"/>
            </a:xfrm>
          </p:grpSpPr>
          <p:sp>
            <p:nvSpPr>
              <p:cNvPr name="Freeform 16" id="16"/>
              <p:cNvSpPr/>
              <p:nvPr/>
            </p:nvSpPr>
            <p:spPr>
              <a:xfrm flipH="false" flipV="false" rot="0">
                <a:off x="0" y="0"/>
                <a:ext cx="3931920" cy="1554480"/>
              </a:xfrm>
              <a:custGeom>
                <a:avLst/>
                <a:gdLst/>
                <a:ahLst/>
                <a:cxnLst/>
                <a:rect r="r" b="b" t="t" l="l"/>
                <a:pathLst>
                  <a:path h="1554480" w="3931920">
                    <a:moveTo>
                      <a:pt x="0" y="109728"/>
                    </a:moveTo>
                    <a:cubicBezTo>
                      <a:pt x="0" y="49149"/>
                      <a:pt x="49149" y="0"/>
                      <a:pt x="109728" y="0"/>
                    </a:cubicBezTo>
                    <a:lnTo>
                      <a:pt x="3822192" y="0"/>
                    </a:lnTo>
                    <a:cubicBezTo>
                      <a:pt x="3882771" y="0"/>
                      <a:pt x="3931920" y="49149"/>
                      <a:pt x="3931920" y="109728"/>
                    </a:cubicBezTo>
                    <a:lnTo>
                      <a:pt x="3931920" y="1444752"/>
                    </a:lnTo>
                    <a:cubicBezTo>
                      <a:pt x="3931920" y="1505331"/>
                      <a:pt x="3882771" y="1554480"/>
                      <a:pt x="3822192" y="1554480"/>
                    </a:cubicBezTo>
                    <a:lnTo>
                      <a:pt x="109728" y="1554480"/>
                    </a:lnTo>
                    <a:cubicBezTo>
                      <a:pt x="49149" y="1554480"/>
                      <a:pt x="0" y="1505331"/>
                      <a:pt x="0" y="1444752"/>
                    </a:cubicBezTo>
                    <a:close/>
                  </a:path>
                </a:pathLst>
              </a:custGeom>
              <a:solidFill>
                <a:srgbClr val="0A1A23"/>
              </a:solidFill>
            </p:spPr>
          </p:sp>
        </p:grpSp>
        <p:grpSp>
          <p:nvGrpSpPr>
            <p:cNvPr name="Group 17" id="17"/>
            <p:cNvGrpSpPr/>
            <p:nvPr/>
          </p:nvGrpSpPr>
          <p:grpSpPr>
            <a:xfrm rot="0">
              <a:off x="13514832" y="0"/>
              <a:ext cx="3566160" cy="1554480"/>
              <a:chOff x="0" y="0"/>
              <a:chExt cx="3566160" cy="1554480"/>
            </a:xfrm>
          </p:grpSpPr>
          <p:sp>
            <p:nvSpPr>
              <p:cNvPr name="Freeform 18" id="18"/>
              <p:cNvSpPr/>
              <p:nvPr/>
            </p:nvSpPr>
            <p:spPr>
              <a:xfrm flipH="false" flipV="false" rot="0">
                <a:off x="0" y="0"/>
                <a:ext cx="3566160" cy="1554480"/>
              </a:xfrm>
              <a:custGeom>
                <a:avLst/>
                <a:gdLst/>
                <a:ahLst/>
                <a:cxnLst/>
                <a:rect r="r" b="b" t="t" l="l"/>
                <a:pathLst>
                  <a:path h="1554480" w="3566160">
                    <a:moveTo>
                      <a:pt x="0" y="0"/>
                    </a:moveTo>
                    <a:lnTo>
                      <a:pt x="3566160" y="0"/>
                    </a:lnTo>
                    <a:lnTo>
                      <a:pt x="3566160" y="1554480"/>
                    </a:lnTo>
                    <a:lnTo>
                      <a:pt x="0" y="1554480"/>
                    </a:lnTo>
                    <a:close/>
                  </a:path>
                </a:pathLst>
              </a:custGeom>
              <a:blipFill>
                <a:blip r:embed="rId6">
                  <a:alphaModFix amt="0"/>
                </a:blip>
                <a:stretch>
                  <a:fillRect l="-5927" t="0" r="-5927" b="0"/>
                </a:stretch>
              </a:blipFill>
            </p:spPr>
          </p:sp>
          <p:sp>
            <p:nvSpPr>
              <p:cNvPr name="TextBox 19" id="19"/>
              <p:cNvSpPr txBox="true"/>
              <p:nvPr/>
            </p:nvSpPr>
            <p:spPr>
              <a:xfrm>
                <a:off x="0" y="-38100"/>
                <a:ext cx="3566160" cy="1592580"/>
              </a:xfrm>
              <a:prstGeom prst="rect">
                <a:avLst/>
              </a:prstGeom>
            </p:spPr>
            <p:txBody>
              <a:bodyPr anchor="ctr" rtlCol="false" tIns="0" lIns="0" bIns="0" rIns="0"/>
              <a:lstStyle/>
              <a:p>
                <a:pPr algn="ctr">
                  <a:lnSpc>
                    <a:spcPts val="2574"/>
                  </a:lnSpc>
                </a:pPr>
                <a:r>
                  <a:rPr lang="en-US" sz="1950" b="true">
                    <a:solidFill>
                      <a:srgbClr val="5FD1B8"/>
                    </a:solidFill>
                    <a:latin typeface="Poppins Bold"/>
                    <a:ea typeface="Poppins Bold"/>
                    <a:cs typeface="Poppins Bold"/>
                    <a:sym typeface="Poppins Bold"/>
                  </a:rPr>
                  <a:t>Read</a:t>
                </a:r>
              </a:p>
              <a:p>
                <a:pPr algn="ctr">
                  <a:lnSpc>
                    <a:spcPts val="2574"/>
                  </a:lnSpc>
                </a:pPr>
                <a:r>
                  <a:rPr lang="en-US" sz="1950" b="true">
                    <a:solidFill>
                      <a:srgbClr val="5FD1B8"/>
                    </a:solidFill>
                    <a:latin typeface="Poppins Bold"/>
                    <a:ea typeface="Poppins Bold"/>
                    <a:cs typeface="Poppins Bold"/>
                    <a:sym typeface="Poppins Bold"/>
                  </a:rPr>
                  <a:t>code</a:t>
                </a:r>
              </a:p>
            </p:txBody>
          </p:sp>
        </p:grpSp>
        <p:grpSp>
          <p:nvGrpSpPr>
            <p:cNvPr name="Group 20" id="20"/>
            <p:cNvGrpSpPr/>
            <p:nvPr/>
          </p:nvGrpSpPr>
          <p:grpSpPr>
            <a:xfrm rot="0">
              <a:off x="17263872" y="411480"/>
              <a:ext cx="731520" cy="792277"/>
              <a:chOff x="0" y="0"/>
              <a:chExt cx="731520" cy="792277"/>
            </a:xfrm>
          </p:grpSpPr>
          <p:sp>
            <p:nvSpPr>
              <p:cNvPr name="Freeform 21" id="21"/>
              <p:cNvSpPr/>
              <p:nvPr/>
            </p:nvSpPr>
            <p:spPr>
              <a:xfrm flipH="false" flipV="false" rot="0">
                <a:off x="0" y="0"/>
                <a:ext cx="731520" cy="792277"/>
              </a:xfrm>
              <a:custGeom>
                <a:avLst/>
                <a:gdLst/>
                <a:ahLst/>
                <a:cxnLst/>
                <a:rect r="r" b="b" t="t" l="l"/>
                <a:pathLst>
                  <a:path h="792277" w="731520">
                    <a:moveTo>
                      <a:pt x="0" y="0"/>
                    </a:moveTo>
                    <a:lnTo>
                      <a:pt x="731520" y="0"/>
                    </a:lnTo>
                    <a:lnTo>
                      <a:pt x="731520" y="792277"/>
                    </a:lnTo>
                    <a:lnTo>
                      <a:pt x="0" y="792277"/>
                    </a:lnTo>
                    <a:close/>
                  </a:path>
                </a:pathLst>
              </a:custGeom>
              <a:blipFill>
                <a:blip r:embed="rId6">
                  <a:alphaModFix amt="0"/>
                </a:blip>
                <a:stretch>
                  <a:fillRect l="-78303" t="0" r="-78303" b="7668"/>
                </a:stretch>
              </a:blipFill>
            </p:spPr>
          </p:sp>
          <p:sp>
            <p:nvSpPr>
              <p:cNvPr name="TextBox 22" id="22"/>
              <p:cNvSpPr txBox="true"/>
              <p:nvPr/>
            </p:nvSpPr>
            <p:spPr>
              <a:xfrm>
                <a:off x="0" y="-19050"/>
                <a:ext cx="731520" cy="811327"/>
              </a:xfrm>
              <a:prstGeom prst="rect">
                <a:avLst/>
              </a:prstGeom>
            </p:spPr>
            <p:txBody>
              <a:bodyPr anchor="ctr" rtlCol="false" tIns="0" lIns="0" bIns="0" rIns="0"/>
              <a:lstStyle/>
              <a:p>
                <a:pPr algn="ctr">
                  <a:lnSpc>
                    <a:spcPts val="2879"/>
                  </a:lnSpc>
                </a:pPr>
                <a:r>
                  <a:rPr lang="en-US" sz="2400">
                    <a:solidFill>
                      <a:srgbClr val="5B6B6E"/>
                    </a:solidFill>
                    <a:latin typeface="Poppins"/>
                    <a:ea typeface="Poppins"/>
                    <a:cs typeface="Poppins"/>
                    <a:sym typeface="Poppins"/>
                  </a:rPr>
                  <a:t>→</a:t>
                </a:r>
              </a:p>
            </p:txBody>
          </p:sp>
        </p:grpSp>
        <p:grpSp>
          <p:nvGrpSpPr>
            <p:cNvPr name="Group 23" id="23"/>
            <p:cNvGrpSpPr/>
            <p:nvPr/>
          </p:nvGrpSpPr>
          <p:grpSpPr>
            <a:xfrm rot="0">
              <a:off x="17775936" y="0"/>
              <a:ext cx="3931920" cy="1554480"/>
              <a:chOff x="0" y="0"/>
              <a:chExt cx="3931920" cy="1554480"/>
            </a:xfrm>
          </p:grpSpPr>
          <p:sp>
            <p:nvSpPr>
              <p:cNvPr name="Freeform 24" id="24"/>
              <p:cNvSpPr/>
              <p:nvPr/>
            </p:nvSpPr>
            <p:spPr>
              <a:xfrm flipH="false" flipV="false" rot="0">
                <a:off x="0" y="0"/>
                <a:ext cx="3931920" cy="1554480"/>
              </a:xfrm>
              <a:custGeom>
                <a:avLst/>
                <a:gdLst/>
                <a:ahLst/>
                <a:cxnLst/>
                <a:rect r="r" b="b" t="t" l="l"/>
                <a:pathLst>
                  <a:path h="1554480" w="3931920">
                    <a:moveTo>
                      <a:pt x="0" y="109728"/>
                    </a:moveTo>
                    <a:cubicBezTo>
                      <a:pt x="0" y="49149"/>
                      <a:pt x="49149" y="0"/>
                      <a:pt x="109728" y="0"/>
                    </a:cubicBezTo>
                    <a:lnTo>
                      <a:pt x="3822192" y="0"/>
                    </a:lnTo>
                    <a:cubicBezTo>
                      <a:pt x="3882771" y="0"/>
                      <a:pt x="3931920" y="49149"/>
                      <a:pt x="3931920" y="109728"/>
                    </a:cubicBezTo>
                    <a:lnTo>
                      <a:pt x="3931920" y="1444752"/>
                    </a:lnTo>
                    <a:cubicBezTo>
                      <a:pt x="3931920" y="1505331"/>
                      <a:pt x="3882771" y="1554480"/>
                      <a:pt x="3822192" y="1554480"/>
                    </a:cubicBezTo>
                    <a:lnTo>
                      <a:pt x="109728" y="1554480"/>
                    </a:lnTo>
                    <a:cubicBezTo>
                      <a:pt x="49149" y="1554480"/>
                      <a:pt x="0" y="1505331"/>
                      <a:pt x="0" y="1444752"/>
                    </a:cubicBezTo>
                    <a:close/>
                  </a:path>
                </a:pathLst>
              </a:custGeom>
              <a:solidFill>
                <a:srgbClr val="0A1A23"/>
              </a:solidFill>
            </p:spPr>
          </p:sp>
        </p:grpSp>
        <p:grpSp>
          <p:nvGrpSpPr>
            <p:cNvPr name="Group 25" id="25"/>
            <p:cNvGrpSpPr/>
            <p:nvPr/>
          </p:nvGrpSpPr>
          <p:grpSpPr>
            <a:xfrm rot="0">
              <a:off x="17958816" y="0"/>
              <a:ext cx="3566160" cy="1554480"/>
              <a:chOff x="0" y="0"/>
              <a:chExt cx="3566160" cy="1554480"/>
            </a:xfrm>
          </p:grpSpPr>
          <p:sp>
            <p:nvSpPr>
              <p:cNvPr name="Freeform 26" id="26"/>
              <p:cNvSpPr/>
              <p:nvPr/>
            </p:nvSpPr>
            <p:spPr>
              <a:xfrm flipH="false" flipV="false" rot="0">
                <a:off x="0" y="0"/>
                <a:ext cx="3566160" cy="1554480"/>
              </a:xfrm>
              <a:custGeom>
                <a:avLst/>
                <a:gdLst/>
                <a:ahLst/>
                <a:cxnLst/>
                <a:rect r="r" b="b" t="t" l="l"/>
                <a:pathLst>
                  <a:path h="1554480" w="3566160">
                    <a:moveTo>
                      <a:pt x="0" y="0"/>
                    </a:moveTo>
                    <a:lnTo>
                      <a:pt x="3566160" y="0"/>
                    </a:lnTo>
                    <a:lnTo>
                      <a:pt x="3566160" y="1554480"/>
                    </a:lnTo>
                    <a:lnTo>
                      <a:pt x="0" y="1554480"/>
                    </a:lnTo>
                    <a:close/>
                  </a:path>
                </a:pathLst>
              </a:custGeom>
              <a:blipFill>
                <a:blip r:embed="rId6">
                  <a:alphaModFix amt="0"/>
                </a:blip>
                <a:stretch>
                  <a:fillRect l="-5927" t="0" r="-5927" b="0"/>
                </a:stretch>
              </a:blipFill>
            </p:spPr>
          </p:sp>
          <p:sp>
            <p:nvSpPr>
              <p:cNvPr name="TextBox 27" id="27"/>
              <p:cNvSpPr txBox="true"/>
              <p:nvPr/>
            </p:nvSpPr>
            <p:spPr>
              <a:xfrm>
                <a:off x="0" y="-38100"/>
                <a:ext cx="3566160" cy="1592580"/>
              </a:xfrm>
              <a:prstGeom prst="rect">
                <a:avLst/>
              </a:prstGeom>
            </p:spPr>
            <p:txBody>
              <a:bodyPr anchor="ctr" rtlCol="false" tIns="0" lIns="0" bIns="0" rIns="0"/>
              <a:lstStyle/>
              <a:p>
                <a:pPr algn="ctr">
                  <a:lnSpc>
                    <a:spcPts val="2574"/>
                  </a:lnSpc>
                </a:pPr>
                <a:r>
                  <a:rPr lang="en-US" sz="1950" b="true">
                    <a:solidFill>
                      <a:srgbClr val="5FD1B8"/>
                    </a:solidFill>
                    <a:latin typeface="Poppins Bold"/>
                    <a:ea typeface="Poppins Bold"/>
                    <a:cs typeface="Poppins Bold"/>
                    <a:sym typeface="Poppins Bold"/>
                  </a:rPr>
                  <a:t>Run</a:t>
                </a:r>
              </a:p>
              <a:p>
                <a:pPr algn="ctr">
                  <a:lnSpc>
                    <a:spcPts val="2574"/>
                  </a:lnSpc>
                </a:pPr>
                <a:r>
                  <a:rPr lang="en-US" sz="1950" b="true">
                    <a:solidFill>
                      <a:srgbClr val="5FD1B8"/>
                    </a:solidFill>
                    <a:latin typeface="Poppins Bold"/>
                    <a:ea typeface="Poppins Bold"/>
                    <a:cs typeface="Poppins Bold"/>
                    <a:sym typeface="Poppins Bold"/>
                  </a:rPr>
                  <a:t>code</a:t>
                </a:r>
              </a:p>
            </p:txBody>
          </p:sp>
        </p:grpSp>
        <p:grpSp>
          <p:nvGrpSpPr>
            <p:cNvPr name="Group 28" id="28"/>
            <p:cNvGrpSpPr/>
            <p:nvPr/>
          </p:nvGrpSpPr>
          <p:grpSpPr>
            <a:xfrm rot="0">
              <a:off x="12819888" y="2606040"/>
              <a:ext cx="731520" cy="792277"/>
              <a:chOff x="0" y="0"/>
              <a:chExt cx="731520" cy="792277"/>
            </a:xfrm>
          </p:grpSpPr>
          <p:sp>
            <p:nvSpPr>
              <p:cNvPr name="Freeform 29" id="29"/>
              <p:cNvSpPr/>
              <p:nvPr/>
            </p:nvSpPr>
            <p:spPr>
              <a:xfrm flipH="false" flipV="false" rot="0">
                <a:off x="0" y="0"/>
                <a:ext cx="731520" cy="792277"/>
              </a:xfrm>
              <a:custGeom>
                <a:avLst/>
                <a:gdLst/>
                <a:ahLst/>
                <a:cxnLst/>
                <a:rect r="r" b="b" t="t" l="l"/>
                <a:pathLst>
                  <a:path h="792277" w="731520">
                    <a:moveTo>
                      <a:pt x="0" y="0"/>
                    </a:moveTo>
                    <a:lnTo>
                      <a:pt x="731520" y="0"/>
                    </a:lnTo>
                    <a:lnTo>
                      <a:pt x="731520" y="792277"/>
                    </a:lnTo>
                    <a:lnTo>
                      <a:pt x="0" y="792277"/>
                    </a:lnTo>
                    <a:close/>
                  </a:path>
                </a:pathLst>
              </a:custGeom>
              <a:blipFill>
                <a:blip r:embed="rId6">
                  <a:alphaModFix amt="0"/>
                </a:blip>
                <a:stretch>
                  <a:fillRect l="-78303" t="0" r="-78303" b="7668"/>
                </a:stretch>
              </a:blipFill>
            </p:spPr>
          </p:sp>
          <p:sp>
            <p:nvSpPr>
              <p:cNvPr name="TextBox 30" id="30"/>
              <p:cNvSpPr txBox="true"/>
              <p:nvPr/>
            </p:nvSpPr>
            <p:spPr>
              <a:xfrm>
                <a:off x="0" y="-19050"/>
                <a:ext cx="731520" cy="811327"/>
              </a:xfrm>
              <a:prstGeom prst="rect">
                <a:avLst/>
              </a:prstGeom>
            </p:spPr>
            <p:txBody>
              <a:bodyPr anchor="ctr" rtlCol="false" tIns="0" lIns="0" bIns="0" rIns="0"/>
              <a:lstStyle/>
              <a:p>
                <a:pPr algn="ctr">
                  <a:lnSpc>
                    <a:spcPts val="2879"/>
                  </a:lnSpc>
                </a:pPr>
                <a:r>
                  <a:rPr lang="en-US" sz="2400">
                    <a:solidFill>
                      <a:srgbClr val="5B6B6E"/>
                    </a:solidFill>
                    <a:latin typeface="Poppins"/>
                    <a:ea typeface="Poppins"/>
                    <a:cs typeface="Poppins"/>
                    <a:sym typeface="Poppins"/>
                  </a:rPr>
                  <a:t>→</a:t>
                </a:r>
              </a:p>
            </p:txBody>
          </p:sp>
        </p:grpSp>
        <p:grpSp>
          <p:nvGrpSpPr>
            <p:cNvPr name="Group 31" id="31"/>
            <p:cNvGrpSpPr/>
            <p:nvPr/>
          </p:nvGrpSpPr>
          <p:grpSpPr>
            <a:xfrm rot="0">
              <a:off x="13331952" y="2194560"/>
              <a:ext cx="3931920" cy="1554480"/>
              <a:chOff x="0" y="0"/>
              <a:chExt cx="3931920" cy="1554480"/>
            </a:xfrm>
          </p:grpSpPr>
          <p:sp>
            <p:nvSpPr>
              <p:cNvPr name="Freeform 32" id="32"/>
              <p:cNvSpPr/>
              <p:nvPr/>
            </p:nvSpPr>
            <p:spPr>
              <a:xfrm flipH="false" flipV="false" rot="0">
                <a:off x="0" y="0"/>
                <a:ext cx="3931920" cy="1554480"/>
              </a:xfrm>
              <a:custGeom>
                <a:avLst/>
                <a:gdLst/>
                <a:ahLst/>
                <a:cxnLst/>
                <a:rect r="r" b="b" t="t" l="l"/>
                <a:pathLst>
                  <a:path h="1554480" w="3931920">
                    <a:moveTo>
                      <a:pt x="0" y="109728"/>
                    </a:moveTo>
                    <a:cubicBezTo>
                      <a:pt x="0" y="49149"/>
                      <a:pt x="49149" y="0"/>
                      <a:pt x="109728" y="0"/>
                    </a:cubicBezTo>
                    <a:lnTo>
                      <a:pt x="3822192" y="0"/>
                    </a:lnTo>
                    <a:cubicBezTo>
                      <a:pt x="3882771" y="0"/>
                      <a:pt x="3931920" y="49149"/>
                      <a:pt x="3931920" y="109728"/>
                    </a:cubicBezTo>
                    <a:lnTo>
                      <a:pt x="3931920" y="1444752"/>
                    </a:lnTo>
                    <a:cubicBezTo>
                      <a:pt x="3931920" y="1505331"/>
                      <a:pt x="3882771" y="1554480"/>
                      <a:pt x="3822192" y="1554480"/>
                    </a:cubicBezTo>
                    <a:lnTo>
                      <a:pt x="109728" y="1554480"/>
                    </a:lnTo>
                    <a:cubicBezTo>
                      <a:pt x="49149" y="1554480"/>
                      <a:pt x="0" y="1505331"/>
                      <a:pt x="0" y="1444752"/>
                    </a:cubicBezTo>
                    <a:close/>
                  </a:path>
                </a:pathLst>
              </a:custGeom>
              <a:solidFill>
                <a:srgbClr val="0A1A23"/>
              </a:solidFill>
            </p:spPr>
          </p:sp>
        </p:grpSp>
        <p:grpSp>
          <p:nvGrpSpPr>
            <p:cNvPr name="Group 33" id="33"/>
            <p:cNvGrpSpPr/>
            <p:nvPr/>
          </p:nvGrpSpPr>
          <p:grpSpPr>
            <a:xfrm rot="0">
              <a:off x="13514832" y="2194560"/>
              <a:ext cx="3566160" cy="1554480"/>
              <a:chOff x="0" y="0"/>
              <a:chExt cx="3566160" cy="1554480"/>
            </a:xfrm>
          </p:grpSpPr>
          <p:sp>
            <p:nvSpPr>
              <p:cNvPr name="Freeform 34" id="34"/>
              <p:cNvSpPr/>
              <p:nvPr/>
            </p:nvSpPr>
            <p:spPr>
              <a:xfrm flipH="false" flipV="false" rot="0">
                <a:off x="0" y="0"/>
                <a:ext cx="3566160" cy="1554480"/>
              </a:xfrm>
              <a:custGeom>
                <a:avLst/>
                <a:gdLst/>
                <a:ahLst/>
                <a:cxnLst/>
                <a:rect r="r" b="b" t="t" l="l"/>
                <a:pathLst>
                  <a:path h="1554480" w="3566160">
                    <a:moveTo>
                      <a:pt x="0" y="0"/>
                    </a:moveTo>
                    <a:lnTo>
                      <a:pt x="3566160" y="0"/>
                    </a:lnTo>
                    <a:lnTo>
                      <a:pt x="3566160" y="1554480"/>
                    </a:lnTo>
                    <a:lnTo>
                      <a:pt x="0" y="1554480"/>
                    </a:lnTo>
                    <a:close/>
                  </a:path>
                </a:pathLst>
              </a:custGeom>
              <a:blipFill>
                <a:blip r:embed="rId6">
                  <a:alphaModFix amt="0"/>
                </a:blip>
                <a:stretch>
                  <a:fillRect l="-5927" t="0" r="-5927" b="0"/>
                </a:stretch>
              </a:blipFill>
            </p:spPr>
          </p:sp>
          <p:sp>
            <p:nvSpPr>
              <p:cNvPr name="TextBox 35" id="35"/>
              <p:cNvSpPr txBox="true"/>
              <p:nvPr/>
            </p:nvSpPr>
            <p:spPr>
              <a:xfrm>
                <a:off x="0" y="-38100"/>
                <a:ext cx="3566160" cy="1592580"/>
              </a:xfrm>
              <a:prstGeom prst="rect">
                <a:avLst/>
              </a:prstGeom>
            </p:spPr>
            <p:txBody>
              <a:bodyPr anchor="ctr" rtlCol="false" tIns="0" lIns="0" bIns="0" rIns="0"/>
              <a:lstStyle/>
              <a:p>
                <a:pPr algn="ctr">
                  <a:lnSpc>
                    <a:spcPts val="2574"/>
                  </a:lnSpc>
                </a:pPr>
                <a:r>
                  <a:rPr lang="en-US" sz="1950" b="true">
                    <a:solidFill>
                      <a:srgbClr val="5FD1B8"/>
                    </a:solidFill>
                    <a:latin typeface="Poppins Bold"/>
                    <a:ea typeface="Poppins Bold"/>
                    <a:cs typeface="Poppins Bold"/>
                    <a:sym typeface="Poppins Bold"/>
                  </a:rPr>
                  <a:t>Explain</a:t>
                </a:r>
              </a:p>
              <a:p>
                <a:pPr algn="ctr">
                  <a:lnSpc>
                    <a:spcPts val="2574"/>
                  </a:lnSpc>
                </a:pPr>
                <a:r>
                  <a:rPr lang="en-US" sz="1950" b="true">
                    <a:solidFill>
                      <a:srgbClr val="5FD1B8"/>
                    </a:solidFill>
                    <a:latin typeface="Poppins Bold"/>
                    <a:ea typeface="Poppins Bold"/>
                    <a:cs typeface="Poppins Bold"/>
                    <a:sym typeface="Poppins Bold"/>
                  </a:rPr>
                  <a:t>code</a:t>
                </a:r>
              </a:p>
            </p:txBody>
          </p:sp>
        </p:grpSp>
        <p:grpSp>
          <p:nvGrpSpPr>
            <p:cNvPr name="Group 36" id="36"/>
            <p:cNvGrpSpPr/>
            <p:nvPr/>
          </p:nvGrpSpPr>
          <p:grpSpPr>
            <a:xfrm rot="0">
              <a:off x="17263872" y="2606040"/>
              <a:ext cx="731520" cy="792277"/>
              <a:chOff x="0" y="0"/>
              <a:chExt cx="731520" cy="792277"/>
            </a:xfrm>
          </p:grpSpPr>
          <p:sp>
            <p:nvSpPr>
              <p:cNvPr name="Freeform 37" id="37"/>
              <p:cNvSpPr/>
              <p:nvPr/>
            </p:nvSpPr>
            <p:spPr>
              <a:xfrm flipH="false" flipV="false" rot="0">
                <a:off x="0" y="0"/>
                <a:ext cx="731520" cy="792277"/>
              </a:xfrm>
              <a:custGeom>
                <a:avLst/>
                <a:gdLst/>
                <a:ahLst/>
                <a:cxnLst/>
                <a:rect r="r" b="b" t="t" l="l"/>
                <a:pathLst>
                  <a:path h="792277" w="731520">
                    <a:moveTo>
                      <a:pt x="0" y="0"/>
                    </a:moveTo>
                    <a:lnTo>
                      <a:pt x="731520" y="0"/>
                    </a:lnTo>
                    <a:lnTo>
                      <a:pt x="731520" y="792277"/>
                    </a:lnTo>
                    <a:lnTo>
                      <a:pt x="0" y="792277"/>
                    </a:lnTo>
                    <a:close/>
                  </a:path>
                </a:pathLst>
              </a:custGeom>
              <a:blipFill>
                <a:blip r:embed="rId6">
                  <a:alphaModFix amt="0"/>
                </a:blip>
                <a:stretch>
                  <a:fillRect l="-78303" t="0" r="-78303" b="7668"/>
                </a:stretch>
              </a:blipFill>
            </p:spPr>
          </p:sp>
          <p:sp>
            <p:nvSpPr>
              <p:cNvPr name="TextBox 38" id="38"/>
              <p:cNvSpPr txBox="true"/>
              <p:nvPr/>
            </p:nvSpPr>
            <p:spPr>
              <a:xfrm>
                <a:off x="0" y="-19050"/>
                <a:ext cx="731520" cy="811327"/>
              </a:xfrm>
              <a:prstGeom prst="rect">
                <a:avLst/>
              </a:prstGeom>
            </p:spPr>
            <p:txBody>
              <a:bodyPr anchor="ctr" rtlCol="false" tIns="0" lIns="0" bIns="0" rIns="0"/>
              <a:lstStyle/>
              <a:p>
                <a:pPr algn="ctr">
                  <a:lnSpc>
                    <a:spcPts val="2879"/>
                  </a:lnSpc>
                </a:pPr>
                <a:r>
                  <a:rPr lang="en-US" sz="2400">
                    <a:solidFill>
                      <a:srgbClr val="5B6B6E"/>
                    </a:solidFill>
                    <a:latin typeface="Poppins"/>
                    <a:ea typeface="Poppins"/>
                    <a:cs typeface="Poppins"/>
                    <a:sym typeface="Poppins"/>
                  </a:rPr>
                  <a:t>→</a:t>
                </a:r>
              </a:p>
            </p:txBody>
          </p:sp>
        </p:grpSp>
        <p:grpSp>
          <p:nvGrpSpPr>
            <p:cNvPr name="Group 39" id="39"/>
            <p:cNvGrpSpPr/>
            <p:nvPr/>
          </p:nvGrpSpPr>
          <p:grpSpPr>
            <a:xfrm rot="0">
              <a:off x="17775936" y="2194560"/>
              <a:ext cx="3931920" cy="1554480"/>
              <a:chOff x="0" y="0"/>
              <a:chExt cx="3931920" cy="1554480"/>
            </a:xfrm>
          </p:grpSpPr>
          <p:sp>
            <p:nvSpPr>
              <p:cNvPr name="Freeform 40" id="40"/>
              <p:cNvSpPr/>
              <p:nvPr/>
            </p:nvSpPr>
            <p:spPr>
              <a:xfrm flipH="false" flipV="false" rot="0">
                <a:off x="0" y="0"/>
                <a:ext cx="3931920" cy="1554480"/>
              </a:xfrm>
              <a:custGeom>
                <a:avLst/>
                <a:gdLst/>
                <a:ahLst/>
                <a:cxnLst/>
                <a:rect r="r" b="b" t="t" l="l"/>
                <a:pathLst>
                  <a:path h="1554480" w="3931920">
                    <a:moveTo>
                      <a:pt x="0" y="109728"/>
                    </a:moveTo>
                    <a:cubicBezTo>
                      <a:pt x="0" y="49149"/>
                      <a:pt x="49149" y="0"/>
                      <a:pt x="109728" y="0"/>
                    </a:cubicBezTo>
                    <a:lnTo>
                      <a:pt x="3822192" y="0"/>
                    </a:lnTo>
                    <a:cubicBezTo>
                      <a:pt x="3882771" y="0"/>
                      <a:pt x="3931920" y="49149"/>
                      <a:pt x="3931920" y="109728"/>
                    </a:cubicBezTo>
                    <a:lnTo>
                      <a:pt x="3931920" y="1444752"/>
                    </a:lnTo>
                    <a:cubicBezTo>
                      <a:pt x="3931920" y="1505331"/>
                      <a:pt x="3882771" y="1554480"/>
                      <a:pt x="3822192" y="1554480"/>
                    </a:cubicBezTo>
                    <a:lnTo>
                      <a:pt x="109728" y="1554480"/>
                    </a:lnTo>
                    <a:cubicBezTo>
                      <a:pt x="49149" y="1554480"/>
                      <a:pt x="0" y="1505331"/>
                      <a:pt x="0" y="1444752"/>
                    </a:cubicBezTo>
                    <a:close/>
                  </a:path>
                </a:pathLst>
              </a:custGeom>
              <a:solidFill>
                <a:srgbClr val="0A1A23"/>
              </a:solidFill>
            </p:spPr>
          </p:sp>
        </p:grpSp>
        <p:grpSp>
          <p:nvGrpSpPr>
            <p:cNvPr name="Group 41" id="41"/>
            <p:cNvGrpSpPr/>
            <p:nvPr/>
          </p:nvGrpSpPr>
          <p:grpSpPr>
            <a:xfrm rot="0">
              <a:off x="17958816" y="2194560"/>
              <a:ext cx="3566160" cy="1554480"/>
              <a:chOff x="0" y="0"/>
              <a:chExt cx="3566160" cy="1554480"/>
            </a:xfrm>
          </p:grpSpPr>
          <p:sp>
            <p:nvSpPr>
              <p:cNvPr name="Freeform 42" id="42"/>
              <p:cNvSpPr/>
              <p:nvPr/>
            </p:nvSpPr>
            <p:spPr>
              <a:xfrm flipH="false" flipV="false" rot="0">
                <a:off x="0" y="0"/>
                <a:ext cx="3566160" cy="1554480"/>
              </a:xfrm>
              <a:custGeom>
                <a:avLst/>
                <a:gdLst/>
                <a:ahLst/>
                <a:cxnLst/>
                <a:rect r="r" b="b" t="t" l="l"/>
                <a:pathLst>
                  <a:path h="1554480" w="3566160">
                    <a:moveTo>
                      <a:pt x="0" y="0"/>
                    </a:moveTo>
                    <a:lnTo>
                      <a:pt x="3566160" y="0"/>
                    </a:lnTo>
                    <a:lnTo>
                      <a:pt x="3566160" y="1554480"/>
                    </a:lnTo>
                    <a:lnTo>
                      <a:pt x="0" y="1554480"/>
                    </a:lnTo>
                    <a:close/>
                  </a:path>
                </a:pathLst>
              </a:custGeom>
              <a:blipFill>
                <a:blip r:embed="rId6">
                  <a:alphaModFix amt="0"/>
                </a:blip>
                <a:stretch>
                  <a:fillRect l="-5927" t="0" r="-5927" b="0"/>
                </a:stretch>
              </a:blipFill>
            </p:spPr>
          </p:sp>
          <p:sp>
            <p:nvSpPr>
              <p:cNvPr name="TextBox 43" id="43"/>
              <p:cNvSpPr txBox="true"/>
              <p:nvPr/>
            </p:nvSpPr>
            <p:spPr>
              <a:xfrm>
                <a:off x="0" y="-38100"/>
                <a:ext cx="3566160" cy="1592580"/>
              </a:xfrm>
              <a:prstGeom prst="rect">
                <a:avLst/>
              </a:prstGeom>
            </p:spPr>
            <p:txBody>
              <a:bodyPr anchor="ctr" rtlCol="false" tIns="0" lIns="0" bIns="0" rIns="0"/>
              <a:lstStyle/>
              <a:p>
                <a:pPr algn="ctr">
                  <a:lnSpc>
                    <a:spcPts val="2574"/>
                  </a:lnSpc>
                </a:pPr>
                <a:r>
                  <a:rPr lang="en-US" sz="1950" b="true">
                    <a:solidFill>
                      <a:srgbClr val="5FD1B8"/>
                    </a:solidFill>
                    <a:latin typeface="Poppins Bold"/>
                    <a:ea typeface="Poppins Bold"/>
                    <a:cs typeface="Poppins Bold"/>
                    <a:sym typeface="Poppins Bold"/>
                  </a:rPr>
                  <a:t>Submit</a:t>
                </a:r>
              </a:p>
            </p:txBody>
          </p:sp>
        </p:grpSp>
        <p:grpSp>
          <p:nvGrpSpPr>
            <p:cNvPr name="Group 44" id="44"/>
            <p:cNvGrpSpPr/>
            <p:nvPr/>
          </p:nvGrpSpPr>
          <p:grpSpPr>
            <a:xfrm rot="0">
              <a:off x="0" y="0"/>
              <a:ext cx="3931920" cy="1554480"/>
              <a:chOff x="0" y="0"/>
              <a:chExt cx="3931920" cy="1554480"/>
            </a:xfrm>
          </p:grpSpPr>
          <p:sp>
            <p:nvSpPr>
              <p:cNvPr name="Freeform 45" id="45"/>
              <p:cNvSpPr/>
              <p:nvPr/>
            </p:nvSpPr>
            <p:spPr>
              <a:xfrm flipH="false" flipV="false" rot="0">
                <a:off x="0" y="0"/>
                <a:ext cx="3931920" cy="1554480"/>
              </a:xfrm>
              <a:custGeom>
                <a:avLst/>
                <a:gdLst/>
                <a:ahLst/>
                <a:cxnLst/>
                <a:rect r="r" b="b" t="t" l="l"/>
                <a:pathLst>
                  <a:path h="1554480" w="3931920">
                    <a:moveTo>
                      <a:pt x="0" y="109728"/>
                    </a:moveTo>
                    <a:cubicBezTo>
                      <a:pt x="0" y="49149"/>
                      <a:pt x="49149" y="0"/>
                      <a:pt x="109728" y="0"/>
                    </a:cubicBezTo>
                    <a:lnTo>
                      <a:pt x="3822192" y="0"/>
                    </a:lnTo>
                    <a:cubicBezTo>
                      <a:pt x="3882771" y="0"/>
                      <a:pt x="3931920" y="49149"/>
                      <a:pt x="3931920" y="109728"/>
                    </a:cubicBezTo>
                    <a:lnTo>
                      <a:pt x="3931920" y="1444752"/>
                    </a:lnTo>
                    <a:cubicBezTo>
                      <a:pt x="3931920" y="1505331"/>
                      <a:pt x="3882771" y="1554480"/>
                      <a:pt x="3822192" y="1554480"/>
                    </a:cubicBezTo>
                    <a:lnTo>
                      <a:pt x="109728" y="1554480"/>
                    </a:lnTo>
                    <a:cubicBezTo>
                      <a:pt x="49149" y="1554480"/>
                      <a:pt x="0" y="1505331"/>
                      <a:pt x="0" y="1444752"/>
                    </a:cubicBezTo>
                    <a:close/>
                  </a:path>
                </a:pathLst>
              </a:custGeom>
              <a:solidFill>
                <a:srgbClr val="0A1A23"/>
              </a:solidFill>
            </p:spPr>
          </p:sp>
        </p:grpSp>
        <p:grpSp>
          <p:nvGrpSpPr>
            <p:cNvPr name="Group 46" id="46"/>
            <p:cNvGrpSpPr/>
            <p:nvPr/>
          </p:nvGrpSpPr>
          <p:grpSpPr>
            <a:xfrm rot="0">
              <a:off x="182880" y="0"/>
              <a:ext cx="3566160" cy="1554480"/>
              <a:chOff x="0" y="0"/>
              <a:chExt cx="3566160" cy="1554480"/>
            </a:xfrm>
          </p:grpSpPr>
          <p:sp>
            <p:nvSpPr>
              <p:cNvPr name="Freeform 47" id="47"/>
              <p:cNvSpPr/>
              <p:nvPr/>
            </p:nvSpPr>
            <p:spPr>
              <a:xfrm flipH="false" flipV="false" rot="0">
                <a:off x="0" y="0"/>
                <a:ext cx="3566160" cy="1554480"/>
              </a:xfrm>
              <a:custGeom>
                <a:avLst/>
                <a:gdLst/>
                <a:ahLst/>
                <a:cxnLst/>
                <a:rect r="r" b="b" t="t" l="l"/>
                <a:pathLst>
                  <a:path h="1554480" w="3566160">
                    <a:moveTo>
                      <a:pt x="0" y="0"/>
                    </a:moveTo>
                    <a:lnTo>
                      <a:pt x="3566160" y="0"/>
                    </a:lnTo>
                    <a:lnTo>
                      <a:pt x="3566160" y="1554480"/>
                    </a:lnTo>
                    <a:lnTo>
                      <a:pt x="0" y="1554480"/>
                    </a:lnTo>
                    <a:close/>
                  </a:path>
                </a:pathLst>
              </a:custGeom>
              <a:blipFill>
                <a:blip r:embed="rId6">
                  <a:alphaModFix amt="0"/>
                </a:blip>
                <a:stretch>
                  <a:fillRect l="-5927" t="0" r="-5927" b="0"/>
                </a:stretch>
              </a:blipFill>
            </p:spPr>
          </p:sp>
          <p:sp>
            <p:nvSpPr>
              <p:cNvPr name="TextBox 48" id="48"/>
              <p:cNvSpPr txBox="true"/>
              <p:nvPr/>
            </p:nvSpPr>
            <p:spPr>
              <a:xfrm>
                <a:off x="0" y="-38100"/>
                <a:ext cx="3566160" cy="1592580"/>
              </a:xfrm>
              <a:prstGeom prst="rect">
                <a:avLst/>
              </a:prstGeom>
            </p:spPr>
            <p:txBody>
              <a:bodyPr anchor="ctr" rtlCol="false" tIns="0" lIns="0" bIns="0" rIns="0"/>
              <a:lstStyle/>
              <a:p>
                <a:pPr algn="ctr">
                  <a:lnSpc>
                    <a:spcPts val="2574"/>
                  </a:lnSpc>
                </a:pPr>
                <a:r>
                  <a:rPr lang="en-US" sz="1950" b="true">
                    <a:solidFill>
                      <a:srgbClr val="5FD1B8"/>
                    </a:solidFill>
                    <a:latin typeface="Poppins Bold"/>
                    <a:ea typeface="Poppins Bold"/>
                    <a:cs typeface="Poppins Bold"/>
                    <a:sym typeface="Poppins Bold"/>
                  </a:rPr>
                  <a:t>Define</a:t>
                </a:r>
              </a:p>
              <a:p>
                <a:pPr algn="ctr">
                  <a:lnSpc>
                    <a:spcPts val="2574"/>
                  </a:lnSpc>
                </a:pPr>
                <a:r>
                  <a:rPr lang="en-US" sz="1950" b="true">
                    <a:solidFill>
                      <a:srgbClr val="5FD1B8"/>
                    </a:solidFill>
                    <a:latin typeface="Poppins Bold"/>
                    <a:ea typeface="Poppins Bold"/>
                    <a:cs typeface="Poppins Bold"/>
                    <a:sym typeface="Poppins Bold"/>
                  </a:rPr>
                  <a:t>problem</a:t>
                </a:r>
              </a:p>
            </p:txBody>
          </p:sp>
        </p:grpSp>
        <p:grpSp>
          <p:nvGrpSpPr>
            <p:cNvPr name="Group 49" id="49"/>
            <p:cNvGrpSpPr/>
            <p:nvPr/>
          </p:nvGrpSpPr>
          <p:grpSpPr>
            <a:xfrm rot="0">
              <a:off x="3931920" y="411480"/>
              <a:ext cx="731520" cy="792277"/>
              <a:chOff x="0" y="0"/>
              <a:chExt cx="731520" cy="792277"/>
            </a:xfrm>
          </p:grpSpPr>
          <p:sp>
            <p:nvSpPr>
              <p:cNvPr name="Freeform 50" id="50"/>
              <p:cNvSpPr/>
              <p:nvPr/>
            </p:nvSpPr>
            <p:spPr>
              <a:xfrm flipH="false" flipV="false" rot="0">
                <a:off x="0" y="0"/>
                <a:ext cx="731520" cy="792277"/>
              </a:xfrm>
              <a:custGeom>
                <a:avLst/>
                <a:gdLst/>
                <a:ahLst/>
                <a:cxnLst/>
                <a:rect r="r" b="b" t="t" l="l"/>
                <a:pathLst>
                  <a:path h="792277" w="731520">
                    <a:moveTo>
                      <a:pt x="0" y="0"/>
                    </a:moveTo>
                    <a:lnTo>
                      <a:pt x="731520" y="0"/>
                    </a:lnTo>
                    <a:lnTo>
                      <a:pt x="731520" y="792277"/>
                    </a:lnTo>
                    <a:lnTo>
                      <a:pt x="0" y="792277"/>
                    </a:lnTo>
                    <a:close/>
                  </a:path>
                </a:pathLst>
              </a:custGeom>
              <a:blipFill>
                <a:blip r:embed="rId6">
                  <a:alphaModFix amt="0"/>
                </a:blip>
                <a:stretch>
                  <a:fillRect l="-78303" t="0" r="-78303" b="7668"/>
                </a:stretch>
              </a:blipFill>
            </p:spPr>
          </p:sp>
          <p:sp>
            <p:nvSpPr>
              <p:cNvPr name="TextBox 51" id="51"/>
              <p:cNvSpPr txBox="true"/>
              <p:nvPr/>
            </p:nvSpPr>
            <p:spPr>
              <a:xfrm>
                <a:off x="0" y="-19050"/>
                <a:ext cx="731520" cy="811327"/>
              </a:xfrm>
              <a:prstGeom prst="rect">
                <a:avLst/>
              </a:prstGeom>
            </p:spPr>
            <p:txBody>
              <a:bodyPr anchor="ctr" rtlCol="false" tIns="0" lIns="0" bIns="0" rIns="0"/>
              <a:lstStyle/>
              <a:p>
                <a:pPr algn="ctr">
                  <a:lnSpc>
                    <a:spcPts val="2879"/>
                  </a:lnSpc>
                </a:pPr>
                <a:r>
                  <a:rPr lang="en-US" sz="2400">
                    <a:solidFill>
                      <a:srgbClr val="5B6B6E"/>
                    </a:solidFill>
                    <a:latin typeface="Poppins"/>
                    <a:ea typeface="Poppins"/>
                    <a:cs typeface="Poppins"/>
                    <a:sym typeface="Poppins"/>
                  </a:rPr>
                  <a:t>→</a:t>
                </a:r>
              </a:p>
            </p:txBody>
          </p:sp>
        </p:grpSp>
        <p:grpSp>
          <p:nvGrpSpPr>
            <p:cNvPr name="Group 52" id="52"/>
            <p:cNvGrpSpPr/>
            <p:nvPr/>
          </p:nvGrpSpPr>
          <p:grpSpPr>
            <a:xfrm rot="0">
              <a:off x="4443984" y="0"/>
              <a:ext cx="3931920" cy="1554480"/>
              <a:chOff x="0" y="0"/>
              <a:chExt cx="3931920" cy="1554480"/>
            </a:xfrm>
          </p:grpSpPr>
          <p:sp>
            <p:nvSpPr>
              <p:cNvPr name="Freeform 53" id="53"/>
              <p:cNvSpPr/>
              <p:nvPr/>
            </p:nvSpPr>
            <p:spPr>
              <a:xfrm flipH="false" flipV="false" rot="0">
                <a:off x="0" y="0"/>
                <a:ext cx="3931920" cy="1554480"/>
              </a:xfrm>
              <a:custGeom>
                <a:avLst/>
                <a:gdLst/>
                <a:ahLst/>
                <a:cxnLst/>
                <a:rect r="r" b="b" t="t" l="l"/>
                <a:pathLst>
                  <a:path h="1554480" w="3931920">
                    <a:moveTo>
                      <a:pt x="0" y="109728"/>
                    </a:moveTo>
                    <a:cubicBezTo>
                      <a:pt x="0" y="49149"/>
                      <a:pt x="49149" y="0"/>
                      <a:pt x="109728" y="0"/>
                    </a:cubicBezTo>
                    <a:lnTo>
                      <a:pt x="3822192" y="0"/>
                    </a:lnTo>
                    <a:cubicBezTo>
                      <a:pt x="3882771" y="0"/>
                      <a:pt x="3931920" y="49149"/>
                      <a:pt x="3931920" y="109728"/>
                    </a:cubicBezTo>
                    <a:lnTo>
                      <a:pt x="3931920" y="1444752"/>
                    </a:lnTo>
                    <a:cubicBezTo>
                      <a:pt x="3931920" y="1505331"/>
                      <a:pt x="3882771" y="1554480"/>
                      <a:pt x="3822192" y="1554480"/>
                    </a:cubicBezTo>
                    <a:lnTo>
                      <a:pt x="109728" y="1554480"/>
                    </a:lnTo>
                    <a:cubicBezTo>
                      <a:pt x="49149" y="1554480"/>
                      <a:pt x="0" y="1505331"/>
                      <a:pt x="0" y="1444752"/>
                    </a:cubicBezTo>
                    <a:close/>
                  </a:path>
                </a:pathLst>
              </a:custGeom>
              <a:solidFill>
                <a:srgbClr val="0A1A23"/>
              </a:solidFill>
            </p:spPr>
          </p:sp>
        </p:grpSp>
        <p:grpSp>
          <p:nvGrpSpPr>
            <p:cNvPr name="Group 54" id="54"/>
            <p:cNvGrpSpPr/>
            <p:nvPr/>
          </p:nvGrpSpPr>
          <p:grpSpPr>
            <a:xfrm rot="0">
              <a:off x="4626864" y="0"/>
              <a:ext cx="3566160" cy="1554480"/>
              <a:chOff x="0" y="0"/>
              <a:chExt cx="3566160" cy="1554480"/>
            </a:xfrm>
          </p:grpSpPr>
          <p:sp>
            <p:nvSpPr>
              <p:cNvPr name="Freeform 55" id="55"/>
              <p:cNvSpPr/>
              <p:nvPr/>
            </p:nvSpPr>
            <p:spPr>
              <a:xfrm flipH="false" flipV="false" rot="0">
                <a:off x="0" y="0"/>
                <a:ext cx="3566160" cy="1554480"/>
              </a:xfrm>
              <a:custGeom>
                <a:avLst/>
                <a:gdLst/>
                <a:ahLst/>
                <a:cxnLst/>
                <a:rect r="r" b="b" t="t" l="l"/>
                <a:pathLst>
                  <a:path h="1554480" w="3566160">
                    <a:moveTo>
                      <a:pt x="0" y="0"/>
                    </a:moveTo>
                    <a:lnTo>
                      <a:pt x="3566160" y="0"/>
                    </a:lnTo>
                    <a:lnTo>
                      <a:pt x="3566160" y="1554480"/>
                    </a:lnTo>
                    <a:lnTo>
                      <a:pt x="0" y="1554480"/>
                    </a:lnTo>
                    <a:close/>
                  </a:path>
                </a:pathLst>
              </a:custGeom>
              <a:blipFill>
                <a:blip r:embed="rId6">
                  <a:alphaModFix amt="0"/>
                </a:blip>
                <a:stretch>
                  <a:fillRect l="-5927" t="0" r="-5927" b="0"/>
                </a:stretch>
              </a:blipFill>
            </p:spPr>
          </p:sp>
          <p:sp>
            <p:nvSpPr>
              <p:cNvPr name="TextBox 56" id="56"/>
              <p:cNvSpPr txBox="true"/>
              <p:nvPr/>
            </p:nvSpPr>
            <p:spPr>
              <a:xfrm>
                <a:off x="0" y="-38100"/>
                <a:ext cx="3566160" cy="1592580"/>
              </a:xfrm>
              <a:prstGeom prst="rect">
                <a:avLst/>
              </a:prstGeom>
            </p:spPr>
            <p:txBody>
              <a:bodyPr anchor="ctr" rtlCol="false" tIns="0" lIns="0" bIns="0" rIns="0"/>
              <a:lstStyle/>
              <a:p>
                <a:pPr algn="ctr">
                  <a:lnSpc>
                    <a:spcPts val="2574"/>
                  </a:lnSpc>
                </a:pPr>
                <a:r>
                  <a:rPr lang="en-US" sz="1950" b="true">
                    <a:solidFill>
                      <a:srgbClr val="5FD1B8"/>
                    </a:solidFill>
                    <a:latin typeface="Poppins Bold"/>
                    <a:ea typeface="Poppins Bold"/>
                    <a:cs typeface="Poppins Bold"/>
                    <a:sym typeface="Poppins Bold"/>
                  </a:rPr>
                  <a:t>Write</a:t>
                </a:r>
              </a:p>
              <a:p>
                <a:pPr algn="ctr">
                  <a:lnSpc>
                    <a:spcPts val="2574"/>
                  </a:lnSpc>
                </a:pPr>
                <a:r>
                  <a:rPr lang="en-US" sz="1950" b="true">
                    <a:solidFill>
                      <a:srgbClr val="5FD1B8"/>
                    </a:solidFill>
                    <a:latin typeface="Poppins Bold"/>
                    <a:ea typeface="Poppins Bold"/>
                    <a:cs typeface="Poppins Bold"/>
                    <a:sym typeface="Poppins Bold"/>
                  </a:rPr>
                  <a:t>prompt</a:t>
                </a:r>
              </a:p>
            </p:txBody>
          </p:sp>
        </p:grpSp>
        <p:grpSp>
          <p:nvGrpSpPr>
            <p:cNvPr name="Group 57" id="57"/>
            <p:cNvGrpSpPr/>
            <p:nvPr/>
          </p:nvGrpSpPr>
          <p:grpSpPr>
            <a:xfrm rot="0">
              <a:off x="8375904" y="411480"/>
              <a:ext cx="731520" cy="792277"/>
              <a:chOff x="0" y="0"/>
              <a:chExt cx="731520" cy="792277"/>
            </a:xfrm>
          </p:grpSpPr>
          <p:sp>
            <p:nvSpPr>
              <p:cNvPr name="Freeform 58" id="58"/>
              <p:cNvSpPr/>
              <p:nvPr/>
            </p:nvSpPr>
            <p:spPr>
              <a:xfrm flipH="false" flipV="false" rot="0">
                <a:off x="0" y="0"/>
                <a:ext cx="731520" cy="792277"/>
              </a:xfrm>
              <a:custGeom>
                <a:avLst/>
                <a:gdLst/>
                <a:ahLst/>
                <a:cxnLst/>
                <a:rect r="r" b="b" t="t" l="l"/>
                <a:pathLst>
                  <a:path h="792277" w="731520">
                    <a:moveTo>
                      <a:pt x="0" y="0"/>
                    </a:moveTo>
                    <a:lnTo>
                      <a:pt x="731520" y="0"/>
                    </a:lnTo>
                    <a:lnTo>
                      <a:pt x="731520" y="792277"/>
                    </a:lnTo>
                    <a:lnTo>
                      <a:pt x="0" y="792277"/>
                    </a:lnTo>
                    <a:close/>
                  </a:path>
                </a:pathLst>
              </a:custGeom>
              <a:blipFill>
                <a:blip r:embed="rId6">
                  <a:alphaModFix amt="0"/>
                </a:blip>
                <a:stretch>
                  <a:fillRect l="-78303" t="0" r="-78303" b="7668"/>
                </a:stretch>
              </a:blipFill>
            </p:spPr>
          </p:sp>
          <p:sp>
            <p:nvSpPr>
              <p:cNvPr name="TextBox 59" id="59"/>
              <p:cNvSpPr txBox="true"/>
              <p:nvPr/>
            </p:nvSpPr>
            <p:spPr>
              <a:xfrm>
                <a:off x="0" y="-19050"/>
                <a:ext cx="731520" cy="811327"/>
              </a:xfrm>
              <a:prstGeom prst="rect">
                <a:avLst/>
              </a:prstGeom>
            </p:spPr>
            <p:txBody>
              <a:bodyPr anchor="ctr" rtlCol="false" tIns="0" lIns="0" bIns="0" rIns="0"/>
              <a:lstStyle/>
              <a:p>
                <a:pPr algn="ctr">
                  <a:lnSpc>
                    <a:spcPts val="2879"/>
                  </a:lnSpc>
                </a:pPr>
                <a:r>
                  <a:rPr lang="en-US" sz="2400">
                    <a:solidFill>
                      <a:srgbClr val="5B6B6E"/>
                    </a:solidFill>
                    <a:latin typeface="Poppins"/>
                    <a:ea typeface="Poppins"/>
                    <a:cs typeface="Poppins"/>
                    <a:sym typeface="Poppins"/>
                  </a:rPr>
                  <a:t>→</a:t>
                </a:r>
              </a:p>
            </p:txBody>
          </p:sp>
        </p:grpSp>
        <p:grpSp>
          <p:nvGrpSpPr>
            <p:cNvPr name="Group 60" id="60"/>
            <p:cNvGrpSpPr/>
            <p:nvPr/>
          </p:nvGrpSpPr>
          <p:grpSpPr>
            <a:xfrm rot="0">
              <a:off x="8887968" y="0"/>
              <a:ext cx="3931920" cy="1554480"/>
              <a:chOff x="0" y="0"/>
              <a:chExt cx="3931920" cy="1554480"/>
            </a:xfrm>
          </p:grpSpPr>
          <p:sp>
            <p:nvSpPr>
              <p:cNvPr name="Freeform 61" id="61"/>
              <p:cNvSpPr/>
              <p:nvPr/>
            </p:nvSpPr>
            <p:spPr>
              <a:xfrm flipH="false" flipV="false" rot="0">
                <a:off x="0" y="0"/>
                <a:ext cx="3931920" cy="1554480"/>
              </a:xfrm>
              <a:custGeom>
                <a:avLst/>
                <a:gdLst/>
                <a:ahLst/>
                <a:cxnLst/>
                <a:rect r="r" b="b" t="t" l="l"/>
                <a:pathLst>
                  <a:path h="1554480" w="3931920">
                    <a:moveTo>
                      <a:pt x="0" y="109728"/>
                    </a:moveTo>
                    <a:cubicBezTo>
                      <a:pt x="0" y="49149"/>
                      <a:pt x="49149" y="0"/>
                      <a:pt x="109728" y="0"/>
                    </a:cubicBezTo>
                    <a:lnTo>
                      <a:pt x="3822192" y="0"/>
                    </a:lnTo>
                    <a:cubicBezTo>
                      <a:pt x="3882771" y="0"/>
                      <a:pt x="3931920" y="49149"/>
                      <a:pt x="3931920" y="109728"/>
                    </a:cubicBezTo>
                    <a:lnTo>
                      <a:pt x="3931920" y="1444752"/>
                    </a:lnTo>
                    <a:cubicBezTo>
                      <a:pt x="3931920" y="1505331"/>
                      <a:pt x="3882771" y="1554480"/>
                      <a:pt x="3822192" y="1554480"/>
                    </a:cubicBezTo>
                    <a:lnTo>
                      <a:pt x="109728" y="1554480"/>
                    </a:lnTo>
                    <a:cubicBezTo>
                      <a:pt x="49149" y="1554480"/>
                      <a:pt x="0" y="1505331"/>
                      <a:pt x="0" y="1444752"/>
                    </a:cubicBezTo>
                    <a:close/>
                  </a:path>
                </a:pathLst>
              </a:custGeom>
              <a:solidFill>
                <a:srgbClr val="0A1A23"/>
              </a:solidFill>
            </p:spPr>
          </p:sp>
        </p:grpSp>
        <p:grpSp>
          <p:nvGrpSpPr>
            <p:cNvPr name="Group 62" id="62"/>
            <p:cNvGrpSpPr/>
            <p:nvPr/>
          </p:nvGrpSpPr>
          <p:grpSpPr>
            <a:xfrm rot="0">
              <a:off x="9070848" y="0"/>
              <a:ext cx="3566160" cy="1554480"/>
              <a:chOff x="0" y="0"/>
              <a:chExt cx="3566160" cy="1554480"/>
            </a:xfrm>
          </p:grpSpPr>
          <p:sp>
            <p:nvSpPr>
              <p:cNvPr name="Freeform 63" id="63"/>
              <p:cNvSpPr/>
              <p:nvPr/>
            </p:nvSpPr>
            <p:spPr>
              <a:xfrm flipH="false" flipV="false" rot="0">
                <a:off x="0" y="0"/>
                <a:ext cx="3566160" cy="1554480"/>
              </a:xfrm>
              <a:custGeom>
                <a:avLst/>
                <a:gdLst/>
                <a:ahLst/>
                <a:cxnLst/>
                <a:rect r="r" b="b" t="t" l="l"/>
                <a:pathLst>
                  <a:path h="1554480" w="3566160">
                    <a:moveTo>
                      <a:pt x="0" y="0"/>
                    </a:moveTo>
                    <a:lnTo>
                      <a:pt x="3566160" y="0"/>
                    </a:lnTo>
                    <a:lnTo>
                      <a:pt x="3566160" y="1554480"/>
                    </a:lnTo>
                    <a:lnTo>
                      <a:pt x="0" y="1554480"/>
                    </a:lnTo>
                    <a:close/>
                  </a:path>
                </a:pathLst>
              </a:custGeom>
              <a:blipFill>
                <a:blip r:embed="rId6">
                  <a:alphaModFix amt="0"/>
                </a:blip>
                <a:stretch>
                  <a:fillRect l="-5927" t="0" r="-5927" b="0"/>
                </a:stretch>
              </a:blipFill>
            </p:spPr>
          </p:sp>
          <p:sp>
            <p:nvSpPr>
              <p:cNvPr name="TextBox 64" id="64"/>
              <p:cNvSpPr txBox="true"/>
              <p:nvPr/>
            </p:nvSpPr>
            <p:spPr>
              <a:xfrm>
                <a:off x="0" y="-38100"/>
                <a:ext cx="3566160" cy="1592580"/>
              </a:xfrm>
              <a:prstGeom prst="rect">
                <a:avLst/>
              </a:prstGeom>
            </p:spPr>
            <p:txBody>
              <a:bodyPr anchor="ctr" rtlCol="false" tIns="0" lIns="0" bIns="0" rIns="0"/>
              <a:lstStyle/>
              <a:p>
                <a:pPr algn="ctr">
                  <a:lnSpc>
                    <a:spcPts val="2574"/>
                  </a:lnSpc>
                </a:pPr>
                <a:r>
                  <a:rPr lang="en-US" sz="1950" b="true">
                    <a:solidFill>
                      <a:srgbClr val="5FD1B8"/>
                    </a:solidFill>
                    <a:latin typeface="Poppins Bold"/>
                    <a:ea typeface="Poppins Bold"/>
                    <a:cs typeface="Poppins Bold"/>
                    <a:sym typeface="Poppins Bold"/>
                  </a:rPr>
                  <a:t>Generate</a:t>
                </a:r>
              </a:p>
              <a:p>
                <a:pPr algn="ctr">
                  <a:lnSpc>
                    <a:spcPts val="2574"/>
                  </a:lnSpc>
                </a:pPr>
                <a:r>
                  <a:rPr lang="en-US" sz="1950" b="true">
                    <a:solidFill>
                      <a:srgbClr val="5FD1B8"/>
                    </a:solidFill>
                    <a:latin typeface="Poppins Bold"/>
                    <a:ea typeface="Poppins Bold"/>
                    <a:cs typeface="Poppins Bold"/>
                    <a:sym typeface="Poppins Bold"/>
                  </a:rPr>
                  <a:t>code</a:t>
                </a:r>
              </a:p>
            </p:txBody>
          </p:sp>
        </p:grpSp>
        <p:grpSp>
          <p:nvGrpSpPr>
            <p:cNvPr name="Group 65" id="65"/>
            <p:cNvGrpSpPr/>
            <p:nvPr/>
          </p:nvGrpSpPr>
          <p:grpSpPr>
            <a:xfrm rot="0">
              <a:off x="4443984" y="2194560"/>
              <a:ext cx="3931920" cy="1554480"/>
              <a:chOff x="0" y="0"/>
              <a:chExt cx="3931920" cy="1554480"/>
            </a:xfrm>
          </p:grpSpPr>
          <p:sp>
            <p:nvSpPr>
              <p:cNvPr name="Freeform 66" id="66"/>
              <p:cNvSpPr/>
              <p:nvPr/>
            </p:nvSpPr>
            <p:spPr>
              <a:xfrm flipH="false" flipV="false" rot="0">
                <a:off x="0" y="0"/>
                <a:ext cx="3931920" cy="1554480"/>
              </a:xfrm>
              <a:custGeom>
                <a:avLst/>
                <a:gdLst/>
                <a:ahLst/>
                <a:cxnLst/>
                <a:rect r="r" b="b" t="t" l="l"/>
                <a:pathLst>
                  <a:path h="1554480" w="3931920">
                    <a:moveTo>
                      <a:pt x="0" y="109728"/>
                    </a:moveTo>
                    <a:cubicBezTo>
                      <a:pt x="0" y="49149"/>
                      <a:pt x="49149" y="0"/>
                      <a:pt x="109728" y="0"/>
                    </a:cubicBezTo>
                    <a:lnTo>
                      <a:pt x="3822192" y="0"/>
                    </a:lnTo>
                    <a:cubicBezTo>
                      <a:pt x="3882771" y="0"/>
                      <a:pt x="3931920" y="49149"/>
                      <a:pt x="3931920" y="109728"/>
                    </a:cubicBezTo>
                    <a:lnTo>
                      <a:pt x="3931920" y="1444752"/>
                    </a:lnTo>
                    <a:cubicBezTo>
                      <a:pt x="3931920" y="1505331"/>
                      <a:pt x="3882771" y="1554480"/>
                      <a:pt x="3822192" y="1554480"/>
                    </a:cubicBezTo>
                    <a:lnTo>
                      <a:pt x="109728" y="1554480"/>
                    </a:lnTo>
                    <a:cubicBezTo>
                      <a:pt x="49149" y="1554480"/>
                      <a:pt x="0" y="1505331"/>
                      <a:pt x="0" y="1444752"/>
                    </a:cubicBezTo>
                    <a:close/>
                  </a:path>
                </a:pathLst>
              </a:custGeom>
              <a:solidFill>
                <a:srgbClr val="0A1A23"/>
              </a:solidFill>
            </p:spPr>
          </p:sp>
        </p:grpSp>
        <p:grpSp>
          <p:nvGrpSpPr>
            <p:cNvPr name="Group 67" id="67"/>
            <p:cNvGrpSpPr/>
            <p:nvPr/>
          </p:nvGrpSpPr>
          <p:grpSpPr>
            <a:xfrm rot="0">
              <a:off x="4626864" y="2194560"/>
              <a:ext cx="3566160" cy="1554480"/>
              <a:chOff x="0" y="0"/>
              <a:chExt cx="3566160" cy="1554480"/>
            </a:xfrm>
          </p:grpSpPr>
          <p:sp>
            <p:nvSpPr>
              <p:cNvPr name="Freeform 68" id="68"/>
              <p:cNvSpPr/>
              <p:nvPr/>
            </p:nvSpPr>
            <p:spPr>
              <a:xfrm flipH="false" flipV="false" rot="0">
                <a:off x="0" y="0"/>
                <a:ext cx="3566160" cy="1554480"/>
              </a:xfrm>
              <a:custGeom>
                <a:avLst/>
                <a:gdLst/>
                <a:ahLst/>
                <a:cxnLst/>
                <a:rect r="r" b="b" t="t" l="l"/>
                <a:pathLst>
                  <a:path h="1554480" w="3566160">
                    <a:moveTo>
                      <a:pt x="0" y="0"/>
                    </a:moveTo>
                    <a:lnTo>
                      <a:pt x="3566160" y="0"/>
                    </a:lnTo>
                    <a:lnTo>
                      <a:pt x="3566160" y="1554480"/>
                    </a:lnTo>
                    <a:lnTo>
                      <a:pt x="0" y="1554480"/>
                    </a:lnTo>
                    <a:close/>
                  </a:path>
                </a:pathLst>
              </a:custGeom>
              <a:blipFill>
                <a:blip r:embed="rId6">
                  <a:alphaModFix amt="0"/>
                </a:blip>
                <a:stretch>
                  <a:fillRect l="-5927" t="0" r="-5927" b="0"/>
                </a:stretch>
              </a:blipFill>
            </p:spPr>
          </p:sp>
          <p:sp>
            <p:nvSpPr>
              <p:cNvPr name="TextBox 69" id="69"/>
              <p:cNvSpPr txBox="true"/>
              <p:nvPr/>
            </p:nvSpPr>
            <p:spPr>
              <a:xfrm>
                <a:off x="0" y="-38100"/>
                <a:ext cx="3566160" cy="1592580"/>
              </a:xfrm>
              <a:prstGeom prst="rect">
                <a:avLst/>
              </a:prstGeom>
            </p:spPr>
            <p:txBody>
              <a:bodyPr anchor="ctr" rtlCol="false" tIns="0" lIns="0" bIns="0" rIns="0"/>
              <a:lstStyle/>
              <a:p>
                <a:pPr algn="ctr">
                  <a:lnSpc>
                    <a:spcPts val="2574"/>
                  </a:lnSpc>
                </a:pPr>
                <a:r>
                  <a:rPr lang="en-US" sz="1950" b="true">
                    <a:solidFill>
                      <a:srgbClr val="5FD1B8"/>
                    </a:solidFill>
                    <a:latin typeface="Poppins Bold"/>
                    <a:ea typeface="Poppins Bold"/>
                    <a:cs typeface="Poppins Bold"/>
                    <a:sym typeface="Poppins Bold"/>
                  </a:rPr>
                  <a:t>Check</a:t>
                </a:r>
              </a:p>
              <a:p>
                <a:pPr algn="ctr">
                  <a:lnSpc>
                    <a:spcPts val="2574"/>
                  </a:lnSpc>
                </a:pPr>
                <a:r>
                  <a:rPr lang="en-US" sz="1950" b="true">
                    <a:solidFill>
                      <a:srgbClr val="5FD1B8"/>
                    </a:solidFill>
                    <a:latin typeface="Poppins Bold"/>
                    <a:ea typeface="Poppins Bold"/>
                    <a:cs typeface="Poppins Bold"/>
                    <a:sym typeface="Poppins Bold"/>
                  </a:rPr>
                  <a:t>output</a:t>
                </a:r>
              </a:p>
            </p:txBody>
          </p:sp>
        </p:grpSp>
        <p:grpSp>
          <p:nvGrpSpPr>
            <p:cNvPr name="Group 70" id="70"/>
            <p:cNvGrpSpPr/>
            <p:nvPr/>
          </p:nvGrpSpPr>
          <p:grpSpPr>
            <a:xfrm rot="0">
              <a:off x="8375904" y="2606040"/>
              <a:ext cx="731520" cy="792277"/>
              <a:chOff x="0" y="0"/>
              <a:chExt cx="731520" cy="792277"/>
            </a:xfrm>
          </p:grpSpPr>
          <p:sp>
            <p:nvSpPr>
              <p:cNvPr name="Freeform 71" id="71"/>
              <p:cNvSpPr/>
              <p:nvPr/>
            </p:nvSpPr>
            <p:spPr>
              <a:xfrm flipH="false" flipV="false" rot="0">
                <a:off x="0" y="0"/>
                <a:ext cx="731520" cy="792277"/>
              </a:xfrm>
              <a:custGeom>
                <a:avLst/>
                <a:gdLst/>
                <a:ahLst/>
                <a:cxnLst/>
                <a:rect r="r" b="b" t="t" l="l"/>
                <a:pathLst>
                  <a:path h="792277" w="731520">
                    <a:moveTo>
                      <a:pt x="0" y="0"/>
                    </a:moveTo>
                    <a:lnTo>
                      <a:pt x="731520" y="0"/>
                    </a:lnTo>
                    <a:lnTo>
                      <a:pt x="731520" y="792277"/>
                    </a:lnTo>
                    <a:lnTo>
                      <a:pt x="0" y="792277"/>
                    </a:lnTo>
                    <a:close/>
                  </a:path>
                </a:pathLst>
              </a:custGeom>
              <a:blipFill>
                <a:blip r:embed="rId6">
                  <a:alphaModFix amt="0"/>
                </a:blip>
                <a:stretch>
                  <a:fillRect l="-78303" t="0" r="-78303" b="7668"/>
                </a:stretch>
              </a:blipFill>
            </p:spPr>
          </p:sp>
          <p:sp>
            <p:nvSpPr>
              <p:cNvPr name="TextBox 72" id="72"/>
              <p:cNvSpPr txBox="true"/>
              <p:nvPr/>
            </p:nvSpPr>
            <p:spPr>
              <a:xfrm>
                <a:off x="0" y="-19050"/>
                <a:ext cx="731520" cy="811327"/>
              </a:xfrm>
              <a:prstGeom prst="rect">
                <a:avLst/>
              </a:prstGeom>
            </p:spPr>
            <p:txBody>
              <a:bodyPr anchor="ctr" rtlCol="false" tIns="0" lIns="0" bIns="0" rIns="0"/>
              <a:lstStyle/>
              <a:p>
                <a:pPr algn="ctr">
                  <a:lnSpc>
                    <a:spcPts val="2879"/>
                  </a:lnSpc>
                </a:pPr>
                <a:r>
                  <a:rPr lang="en-US" sz="2400">
                    <a:solidFill>
                      <a:srgbClr val="5B6B6E"/>
                    </a:solidFill>
                    <a:latin typeface="Poppins"/>
                    <a:ea typeface="Poppins"/>
                    <a:cs typeface="Poppins"/>
                    <a:sym typeface="Poppins"/>
                  </a:rPr>
                  <a:t>→</a:t>
                </a:r>
              </a:p>
            </p:txBody>
          </p:sp>
        </p:grpSp>
        <p:grpSp>
          <p:nvGrpSpPr>
            <p:cNvPr name="Group 73" id="73"/>
            <p:cNvGrpSpPr/>
            <p:nvPr/>
          </p:nvGrpSpPr>
          <p:grpSpPr>
            <a:xfrm rot="0">
              <a:off x="8887968" y="2194560"/>
              <a:ext cx="3931920" cy="1554480"/>
              <a:chOff x="0" y="0"/>
              <a:chExt cx="3931920" cy="1554480"/>
            </a:xfrm>
          </p:grpSpPr>
          <p:sp>
            <p:nvSpPr>
              <p:cNvPr name="Freeform 74" id="74"/>
              <p:cNvSpPr/>
              <p:nvPr/>
            </p:nvSpPr>
            <p:spPr>
              <a:xfrm flipH="false" flipV="false" rot="0">
                <a:off x="0" y="0"/>
                <a:ext cx="3931920" cy="1554480"/>
              </a:xfrm>
              <a:custGeom>
                <a:avLst/>
                <a:gdLst/>
                <a:ahLst/>
                <a:cxnLst/>
                <a:rect r="r" b="b" t="t" l="l"/>
                <a:pathLst>
                  <a:path h="1554480" w="3931920">
                    <a:moveTo>
                      <a:pt x="0" y="109728"/>
                    </a:moveTo>
                    <a:cubicBezTo>
                      <a:pt x="0" y="49149"/>
                      <a:pt x="49149" y="0"/>
                      <a:pt x="109728" y="0"/>
                    </a:cubicBezTo>
                    <a:lnTo>
                      <a:pt x="3822192" y="0"/>
                    </a:lnTo>
                    <a:cubicBezTo>
                      <a:pt x="3882771" y="0"/>
                      <a:pt x="3931920" y="49149"/>
                      <a:pt x="3931920" y="109728"/>
                    </a:cubicBezTo>
                    <a:lnTo>
                      <a:pt x="3931920" y="1444752"/>
                    </a:lnTo>
                    <a:cubicBezTo>
                      <a:pt x="3931920" y="1505331"/>
                      <a:pt x="3882771" y="1554480"/>
                      <a:pt x="3822192" y="1554480"/>
                    </a:cubicBezTo>
                    <a:lnTo>
                      <a:pt x="109728" y="1554480"/>
                    </a:lnTo>
                    <a:cubicBezTo>
                      <a:pt x="49149" y="1554480"/>
                      <a:pt x="0" y="1505331"/>
                      <a:pt x="0" y="1444752"/>
                    </a:cubicBezTo>
                    <a:close/>
                  </a:path>
                </a:pathLst>
              </a:custGeom>
              <a:solidFill>
                <a:srgbClr val="0A1A23"/>
              </a:solidFill>
            </p:spPr>
          </p:sp>
        </p:grpSp>
        <p:grpSp>
          <p:nvGrpSpPr>
            <p:cNvPr name="Group 75" id="75"/>
            <p:cNvGrpSpPr/>
            <p:nvPr/>
          </p:nvGrpSpPr>
          <p:grpSpPr>
            <a:xfrm rot="0">
              <a:off x="9070848" y="2194560"/>
              <a:ext cx="3566160" cy="1554480"/>
              <a:chOff x="0" y="0"/>
              <a:chExt cx="3566160" cy="1554480"/>
            </a:xfrm>
          </p:grpSpPr>
          <p:sp>
            <p:nvSpPr>
              <p:cNvPr name="Freeform 76" id="76"/>
              <p:cNvSpPr/>
              <p:nvPr/>
            </p:nvSpPr>
            <p:spPr>
              <a:xfrm flipH="false" flipV="false" rot="0">
                <a:off x="0" y="0"/>
                <a:ext cx="3566160" cy="1554480"/>
              </a:xfrm>
              <a:custGeom>
                <a:avLst/>
                <a:gdLst/>
                <a:ahLst/>
                <a:cxnLst/>
                <a:rect r="r" b="b" t="t" l="l"/>
                <a:pathLst>
                  <a:path h="1554480" w="3566160">
                    <a:moveTo>
                      <a:pt x="0" y="0"/>
                    </a:moveTo>
                    <a:lnTo>
                      <a:pt x="3566160" y="0"/>
                    </a:lnTo>
                    <a:lnTo>
                      <a:pt x="3566160" y="1554480"/>
                    </a:lnTo>
                    <a:lnTo>
                      <a:pt x="0" y="1554480"/>
                    </a:lnTo>
                    <a:close/>
                  </a:path>
                </a:pathLst>
              </a:custGeom>
              <a:blipFill>
                <a:blip r:embed="rId6">
                  <a:alphaModFix amt="0"/>
                </a:blip>
                <a:stretch>
                  <a:fillRect l="-5927" t="0" r="-5927" b="0"/>
                </a:stretch>
              </a:blipFill>
            </p:spPr>
          </p:sp>
          <p:sp>
            <p:nvSpPr>
              <p:cNvPr name="TextBox 77" id="77"/>
              <p:cNvSpPr txBox="true"/>
              <p:nvPr/>
            </p:nvSpPr>
            <p:spPr>
              <a:xfrm>
                <a:off x="0" y="-38100"/>
                <a:ext cx="3566160" cy="1592580"/>
              </a:xfrm>
              <a:prstGeom prst="rect">
                <a:avLst/>
              </a:prstGeom>
            </p:spPr>
            <p:txBody>
              <a:bodyPr anchor="ctr" rtlCol="false" tIns="0" lIns="0" bIns="0" rIns="0"/>
              <a:lstStyle/>
              <a:p>
                <a:pPr algn="ctr">
                  <a:lnSpc>
                    <a:spcPts val="2574"/>
                  </a:lnSpc>
                </a:pPr>
                <a:r>
                  <a:rPr lang="en-US" sz="1950" b="true">
                    <a:solidFill>
                      <a:srgbClr val="5FD1B8"/>
                    </a:solidFill>
                    <a:latin typeface="Poppins Bold"/>
                    <a:ea typeface="Poppins Bold"/>
                    <a:cs typeface="Poppins Bold"/>
                    <a:sym typeface="Poppins Bold"/>
                  </a:rPr>
                  <a:t>Verify</a:t>
                </a:r>
              </a:p>
              <a:p>
                <a:pPr algn="ctr">
                  <a:lnSpc>
                    <a:spcPts val="2574"/>
                  </a:lnSpc>
                </a:pPr>
                <a:r>
                  <a:rPr lang="en-US" sz="1950" b="true">
                    <a:solidFill>
                      <a:srgbClr val="5FD1B8"/>
                    </a:solidFill>
                    <a:latin typeface="Poppins Bold"/>
                    <a:ea typeface="Poppins Bold"/>
                    <a:cs typeface="Poppins Bold"/>
                    <a:sym typeface="Poppins Bold"/>
                  </a:rPr>
                  <a:t>result</a:t>
                </a:r>
              </a:p>
            </p:txBody>
          </p:sp>
        </p:grpSp>
        <p:grpSp>
          <p:nvGrpSpPr>
            <p:cNvPr name="Group 78" id="78"/>
            <p:cNvGrpSpPr/>
            <p:nvPr/>
          </p:nvGrpSpPr>
          <p:grpSpPr>
            <a:xfrm rot="0">
              <a:off x="548640" y="4754880"/>
              <a:ext cx="21086064" cy="1737360"/>
              <a:chOff x="0" y="0"/>
              <a:chExt cx="21086064" cy="1737360"/>
            </a:xfrm>
          </p:grpSpPr>
          <p:sp>
            <p:nvSpPr>
              <p:cNvPr name="Freeform 79" id="79"/>
              <p:cNvSpPr/>
              <p:nvPr/>
            </p:nvSpPr>
            <p:spPr>
              <a:xfrm flipH="false" flipV="false" rot="0">
                <a:off x="0" y="0"/>
                <a:ext cx="21086065" cy="1737360"/>
              </a:xfrm>
              <a:custGeom>
                <a:avLst/>
                <a:gdLst/>
                <a:ahLst/>
                <a:cxnLst/>
                <a:rect r="r" b="b" t="t" l="l"/>
                <a:pathLst>
                  <a:path h="1737360" w="21086065">
                    <a:moveTo>
                      <a:pt x="0" y="0"/>
                    </a:moveTo>
                    <a:lnTo>
                      <a:pt x="21086065" y="0"/>
                    </a:lnTo>
                    <a:lnTo>
                      <a:pt x="21086065" y="1737360"/>
                    </a:lnTo>
                    <a:lnTo>
                      <a:pt x="0" y="1737360"/>
                    </a:lnTo>
                    <a:close/>
                  </a:path>
                </a:pathLst>
              </a:custGeom>
              <a:blipFill>
                <a:blip r:embed="rId6">
                  <a:alphaModFix amt="0"/>
                </a:blip>
                <a:stretch>
                  <a:fillRect l="0" t="-186486" r="0" b="-186486"/>
                </a:stretch>
              </a:blipFill>
            </p:spPr>
          </p:sp>
          <p:sp>
            <p:nvSpPr>
              <p:cNvPr name="TextBox 80" id="80"/>
              <p:cNvSpPr txBox="true"/>
              <p:nvPr/>
            </p:nvSpPr>
            <p:spPr>
              <a:xfrm>
                <a:off x="0" y="-57150"/>
                <a:ext cx="21086064" cy="1794510"/>
              </a:xfrm>
              <a:prstGeom prst="rect">
                <a:avLst/>
              </a:prstGeom>
            </p:spPr>
            <p:txBody>
              <a:bodyPr anchor="ctr" rtlCol="false" tIns="0" lIns="0" bIns="0" rIns="0"/>
              <a:lstStyle/>
              <a:p>
                <a:pPr algn="l">
                  <a:lnSpc>
                    <a:spcPts val="2867"/>
                  </a:lnSpc>
                </a:pPr>
                <a:r>
                  <a:rPr lang="en-US" sz="2025" b="true">
                    <a:solidFill>
                      <a:srgbClr val="8C3A3A"/>
                    </a:solidFill>
                    <a:latin typeface="Poppins Bold"/>
                    <a:ea typeface="Poppins Bold"/>
                    <a:cs typeface="Poppins Bold"/>
                    <a:sym typeface="Poppins Bold"/>
                  </a:rPr>
                  <a:t>Non-negotiable:  </a:t>
                </a:r>
                <a:r>
                  <a:rPr lang="en-US" sz="2025">
                    <a:solidFill>
                      <a:srgbClr val="0A1A23"/>
                    </a:solidFill>
                    <a:latin typeface="Poppins"/>
                    <a:ea typeface="Poppins"/>
                    <a:cs typeface="Poppins"/>
                    <a:sym typeface="Poppins"/>
                  </a:rPr>
                  <a:t>copying code you can't explain is not submission-ready, no matter how correct the output looks. "Read code", "Verify result" and "Explain code" are not optional steps you skip when you're in a hurry.</a:t>
                </a:r>
              </a:p>
            </p:txBody>
          </p:sp>
        </p:grpSp>
        <p:grpSp>
          <p:nvGrpSpPr>
            <p:cNvPr name="Group 81" id="81"/>
            <p:cNvGrpSpPr/>
            <p:nvPr/>
          </p:nvGrpSpPr>
          <p:grpSpPr>
            <a:xfrm rot="0">
              <a:off x="548640" y="7132320"/>
              <a:ext cx="21086064" cy="1152423"/>
              <a:chOff x="0" y="0"/>
              <a:chExt cx="21086064" cy="1152423"/>
            </a:xfrm>
          </p:grpSpPr>
          <p:sp>
            <p:nvSpPr>
              <p:cNvPr name="Freeform 82" id="82"/>
              <p:cNvSpPr/>
              <p:nvPr/>
            </p:nvSpPr>
            <p:spPr>
              <a:xfrm flipH="false" flipV="false" rot="0">
                <a:off x="0" y="0"/>
                <a:ext cx="21086065" cy="1152423"/>
              </a:xfrm>
              <a:custGeom>
                <a:avLst/>
                <a:gdLst/>
                <a:ahLst/>
                <a:cxnLst/>
                <a:rect r="r" b="b" t="t" l="l"/>
                <a:pathLst>
                  <a:path h="1152423" w="21086065">
                    <a:moveTo>
                      <a:pt x="0" y="0"/>
                    </a:moveTo>
                    <a:lnTo>
                      <a:pt x="21086065" y="0"/>
                    </a:lnTo>
                    <a:lnTo>
                      <a:pt x="21086065" y="1152423"/>
                    </a:lnTo>
                    <a:lnTo>
                      <a:pt x="0" y="1152423"/>
                    </a:lnTo>
                    <a:close/>
                  </a:path>
                </a:pathLst>
              </a:custGeom>
              <a:blipFill>
                <a:blip r:embed="rId6">
                  <a:alphaModFix amt="0"/>
                </a:blip>
                <a:stretch>
                  <a:fillRect l="0" t="-312880" r="0" b="-300160"/>
                </a:stretch>
              </a:blipFill>
            </p:spPr>
          </p:sp>
          <p:sp>
            <p:nvSpPr>
              <p:cNvPr name="TextBox 83" id="83"/>
              <p:cNvSpPr txBox="true"/>
              <p:nvPr/>
            </p:nvSpPr>
            <p:spPr>
              <a:xfrm>
                <a:off x="0" y="-57150"/>
                <a:ext cx="21086064" cy="1209573"/>
              </a:xfrm>
              <a:prstGeom prst="rect">
                <a:avLst/>
              </a:prstGeom>
            </p:spPr>
            <p:txBody>
              <a:bodyPr anchor="ctr" rtlCol="false" tIns="0" lIns="0" bIns="0" rIns="0"/>
              <a:lstStyle/>
              <a:p>
                <a:pPr algn="l">
                  <a:lnSpc>
                    <a:spcPts val="2867"/>
                  </a:lnSpc>
                </a:pPr>
                <a:r>
                  <a:rPr lang="en-US" sz="2025" i="true">
                    <a:solidFill>
                      <a:srgbClr val="0A1A23"/>
                    </a:solidFill>
                    <a:latin typeface="Poppins Italics"/>
                    <a:ea typeface="Poppins Italics"/>
                    <a:cs typeface="Poppins Italics"/>
                    <a:sym typeface="Poppins Italics"/>
                  </a:rPr>
                  <a:t>Nine steps, but only three involve AI at all: write prompt, generate code, and optionally ask for an explanation. The rest is you.</a:t>
                </a:r>
              </a:p>
            </p:txBody>
          </p:sp>
        </p:grpSp>
      </p:grpSp>
      <p:grpSp>
        <p:nvGrpSpPr>
          <p:cNvPr name="Group 84" id="84"/>
          <p:cNvGrpSpPr/>
          <p:nvPr/>
        </p:nvGrpSpPr>
        <p:grpSpPr>
          <a:xfrm rot="0">
            <a:off x="1201582" y="753429"/>
            <a:ext cx="12755880" cy="1236342"/>
            <a:chOff x="0" y="0"/>
            <a:chExt cx="17007840" cy="1648455"/>
          </a:xfrm>
        </p:grpSpPr>
        <p:sp>
          <p:nvSpPr>
            <p:cNvPr name="Freeform 85" id="85"/>
            <p:cNvSpPr/>
            <p:nvPr/>
          </p:nvSpPr>
          <p:spPr>
            <a:xfrm flipH="false" flipV="false" rot="0">
              <a:off x="0" y="0"/>
              <a:ext cx="17007839" cy="1648455"/>
            </a:xfrm>
            <a:custGeom>
              <a:avLst/>
              <a:gdLst/>
              <a:ahLst/>
              <a:cxnLst/>
              <a:rect r="r" b="b" t="t" l="l"/>
              <a:pathLst>
                <a:path h="1648455" w="17007839">
                  <a:moveTo>
                    <a:pt x="0" y="0"/>
                  </a:moveTo>
                  <a:lnTo>
                    <a:pt x="17007839" y="0"/>
                  </a:lnTo>
                  <a:lnTo>
                    <a:pt x="17007839" y="1648455"/>
                  </a:lnTo>
                  <a:lnTo>
                    <a:pt x="0" y="1648455"/>
                  </a:lnTo>
                  <a:close/>
                </a:path>
              </a:pathLst>
            </a:custGeom>
            <a:blipFill>
              <a:blip r:embed="rId6">
                <a:alphaModFix amt="0"/>
              </a:blip>
              <a:stretch>
                <a:fillRect l="0" t="-164980" r="0" b="-137091"/>
              </a:stretch>
            </a:blipFill>
          </p:spPr>
        </p:sp>
        <p:sp>
          <p:nvSpPr>
            <p:cNvPr name="TextBox 86" id="86"/>
            <p:cNvSpPr txBox="true"/>
            <p:nvPr/>
          </p:nvSpPr>
          <p:spPr>
            <a:xfrm>
              <a:off x="0" y="-38100"/>
              <a:ext cx="17007840" cy="1686555"/>
            </a:xfrm>
            <a:prstGeom prst="rect">
              <a:avLst/>
            </a:prstGeom>
          </p:spPr>
          <p:txBody>
            <a:bodyPr anchor="ctr" rtlCol="false" tIns="0" lIns="0" bIns="0" rIns="0"/>
            <a:lstStyle/>
            <a:p>
              <a:pPr algn="l">
                <a:lnSpc>
                  <a:spcPts val="5999"/>
                </a:lnSpc>
              </a:pPr>
              <a:r>
                <a:rPr lang="en-US" sz="4999">
                  <a:solidFill>
                    <a:srgbClr val="388080"/>
                  </a:solidFill>
                  <a:latin typeface="Poppins"/>
                  <a:ea typeface="Poppins"/>
                  <a:cs typeface="Poppins"/>
                  <a:sym typeface="Poppins"/>
                </a:rPr>
                <a:t>The AI-Assisted Coding Workflow</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028700" y="2391198"/>
            <a:ext cx="16623792" cy="7479144"/>
            <a:chOff x="0" y="0"/>
            <a:chExt cx="22165056" cy="9972192"/>
          </a:xfrm>
        </p:grpSpPr>
        <p:grpSp>
          <p:nvGrpSpPr>
            <p:cNvPr name="Group 5" id="5"/>
            <p:cNvGrpSpPr/>
            <p:nvPr/>
          </p:nvGrpSpPr>
          <p:grpSpPr>
            <a:xfrm rot="0">
              <a:off x="0" y="0"/>
              <a:ext cx="10424160" cy="622935"/>
              <a:chOff x="0" y="0"/>
              <a:chExt cx="10424160" cy="622935"/>
            </a:xfrm>
          </p:grpSpPr>
          <p:sp>
            <p:nvSpPr>
              <p:cNvPr name="Freeform 6" id="6"/>
              <p:cNvSpPr/>
              <p:nvPr/>
            </p:nvSpPr>
            <p:spPr>
              <a:xfrm flipH="false" flipV="false" rot="0">
                <a:off x="0" y="0"/>
                <a:ext cx="10424160" cy="622935"/>
              </a:xfrm>
              <a:custGeom>
                <a:avLst/>
                <a:gdLst/>
                <a:ahLst/>
                <a:cxnLst/>
                <a:rect r="r" b="b" t="t" l="l"/>
                <a:pathLst>
                  <a:path h="622935" w="10424160">
                    <a:moveTo>
                      <a:pt x="0" y="0"/>
                    </a:moveTo>
                    <a:lnTo>
                      <a:pt x="10424160" y="0"/>
                    </a:lnTo>
                    <a:lnTo>
                      <a:pt x="10424160" y="622935"/>
                    </a:lnTo>
                    <a:lnTo>
                      <a:pt x="0" y="622935"/>
                    </a:lnTo>
                    <a:close/>
                  </a:path>
                </a:pathLst>
              </a:custGeom>
              <a:blipFill>
                <a:blip r:embed="rId3">
                  <a:alphaModFix amt="0"/>
                </a:blip>
                <a:stretch>
                  <a:fillRect l="0" t="-282024" r="0" b="-270098"/>
                </a:stretch>
              </a:blipFill>
            </p:spPr>
          </p:sp>
          <p:sp>
            <p:nvSpPr>
              <p:cNvPr name="TextBox 7" id="7"/>
              <p:cNvSpPr txBox="true"/>
              <p:nvPr/>
            </p:nvSpPr>
            <p:spPr>
              <a:xfrm>
                <a:off x="0" y="-19050"/>
                <a:ext cx="10424160" cy="641985"/>
              </a:xfrm>
              <a:prstGeom prst="rect">
                <a:avLst/>
              </a:prstGeom>
            </p:spPr>
            <p:txBody>
              <a:bodyPr anchor="ctr" rtlCol="false" tIns="0" lIns="0" bIns="0" rIns="0"/>
              <a:lstStyle/>
              <a:p>
                <a:pPr algn="l">
                  <a:lnSpc>
                    <a:spcPts val="2250"/>
                  </a:lnSpc>
                </a:pPr>
                <a:r>
                  <a:rPr lang="en-US" sz="1875" b="true">
                    <a:solidFill>
                      <a:srgbClr val="8C3A3A"/>
                    </a:solidFill>
                    <a:latin typeface="Poppins Bold"/>
                    <a:ea typeface="Poppins Bold"/>
                    <a:cs typeface="Poppins Bold"/>
                    <a:sym typeface="Poppins Bold"/>
                  </a:rPr>
                  <a:t>WEAK PROMPT</a:t>
                </a:r>
              </a:p>
            </p:txBody>
          </p:sp>
        </p:grpSp>
        <p:grpSp>
          <p:nvGrpSpPr>
            <p:cNvPr name="Group 8" id="8"/>
            <p:cNvGrpSpPr/>
            <p:nvPr/>
          </p:nvGrpSpPr>
          <p:grpSpPr>
            <a:xfrm rot="0">
              <a:off x="0" y="603504"/>
              <a:ext cx="10698480" cy="2103120"/>
              <a:chOff x="0" y="0"/>
              <a:chExt cx="10698480" cy="2103120"/>
            </a:xfrm>
          </p:grpSpPr>
          <p:sp>
            <p:nvSpPr>
              <p:cNvPr name="Freeform 9" id="9"/>
              <p:cNvSpPr/>
              <p:nvPr/>
            </p:nvSpPr>
            <p:spPr>
              <a:xfrm flipH="false" flipV="false" rot="0">
                <a:off x="0" y="0"/>
                <a:ext cx="10698480" cy="2103120"/>
              </a:xfrm>
              <a:custGeom>
                <a:avLst/>
                <a:gdLst/>
                <a:ahLst/>
                <a:cxnLst/>
                <a:rect r="r" b="b" t="t" l="l"/>
                <a:pathLst>
                  <a:path h="2103120" w="10698480">
                    <a:moveTo>
                      <a:pt x="0" y="109728"/>
                    </a:moveTo>
                    <a:cubicBezTo>
                      <a:pt x="0" y="49149"/>
                      <a:pt x="49149" y="0"/>
                      <a:pt x="109728" y="0"/>
                    </a:cubicBezTo>
                    <a:lnTo>
                      <a:pt x="10588752" y="0"/>
                    </a:lnTo>
                    <a:cubicBezTo>
                      <a:pt x="10649331" y="0"/>
                      <a:pt x="10698480" y="49149"/>
                      <a:pt x="10698480" y="109728"/>
                    </a:cubicBezTo>
                    <a:lnTo>
                      <a:pt x="10698480" y="1993392"/>
                    </a:lnTo>
                    <a:cubicBezTo>
                      <a:pt x="10698480" y="2053971"/>
                      <a:pt x="10649331" y="2103120"/>
                      <a:pt x="10588752" y="2103120"/>
                    </a:cubicBezTo>
                    <a:lnTo>
                      <a:pt x="109728" y="2103120"/>
                    </a:lnTo>
                    <a:cubicBezTo>
                      <a:pt x="49149" y="2103120"/>
                      <a:pt x="0" y="2053971"/>
                      <a:pt x="0" y="1993392"/>
                    </a:cubicBezTo>
                    <a:close/>
                  </a:path>
                </a:pathLst>
              </a:custGeom>
              <a:solidFill>
                <a:srgbClr val="FBEAEA"/>
              </a:solidFill>
            </p:spPr>
          </p:sp>
        </p:grpSp>
        <p:grpSp>
          <p:nvGrpSpPr>
            <p:cNvPr name="Group 10" id="10"/>
            <p:cNvGrpSpPr/>
            <p:nvPr/>
          </p:nvGrpSpPr>
          <p:grpSpPr>
            <a:xfrm rot="0">
              <a:off x="512064" y="932688"/>
              <a:ext cx="9674352" cy="543103"/>
              <a:chOff x="0" y="0"/>
              <a:chExt cx="9674352" cy="543103"/>
            </a:xfrm>
          </p:grpSpPr>
          <p:sp>
            <p:nvSpPr>
              <p:cNvPr name="Freeform 11" id="11"/>
              <p:cNvSpPr/>
              <p:nvPr/>
            </p:nvSpPr>
            <p:spPr>
              <a:xfrm flipH="false" flipV="false" rot="0">
                <a:off x="0" y="0"/>
                <a:ext cx="9674352" cy="543103"/>
              </a:xfrm>
              <a:custGeom>
                <a:avLst/>
                <a:gdLst/>
                <a:ahLst/>
                <a:cxnLst/>
                <a:rect r="r" b="b" t="t" l="l"/>
                <a:pathLst>
                  <a:path h="543103" w="9674352">
                    <a:moveTo>
                      <a:pt x="0" y="0"/>
                    </a:moveTo>
                    <a:lnTo>
                      <a:pt x="9674352" y="0"/>
                    </a:lnTo>
                    <a:lnTo>
                      <a:pt x="9674352" y="543103"/>
                    </a:lnTo>
                    <a:lnTo>
                      <a:pt x="0" y="543103"/>
                    </a:lnTo>
                    <a:close/>
                  </a:path>
                </a:pathLst>
              </a:custGeom>
              <a:blipFill>
                <a:blip r:embed="rId3">
                  <a:alphaModFix amt="0"/>
                </a:blip>
                <a:stretch>
                  <a:fillRect l="0" t="-299946" r="0" b="-294231"/>
                </a:stretch>
              </a:blipFill>
            </p:spPr>
          </p:sp>
          <p:sp>
            <p:nvSpPr>
              <p:cNvPr name="TextBox 12" id="12"/>
              <p:cNvSpPr txBox="true"/>
              <p:nvPr/>
            </p:nvSpPr>
            <p:spPr>
              <a:xfrm>
                <a:off x="0" y="-9525"/>
                <a:ext cx="9674352" cy="552628"/>
              </a:xfrm>
              <a:prstGeom prst="rect">
                <a:avLst/>
              </a:prstGeom>
            </p:spPr>
            <p:txBody>
              <a:bodyPr anchor="ctr" rtlCol="false" tIns="0" lIns="0" bIns="0" rIns="0"/>
              <a:lstStyle/>
              <a:p>
                <a:pPr algn="l">
                  <a:lnSpc>
                    <a:spcPts val="1980"/>
                  </a:lnSpc>
                </a:pPr>
                <a:r>
                  <a:rPr lang="en-US" b="true" sz="1650" spc="74">
                    <a:solidFill>
                      <a:srgbClr val="8C3A3A"/>
                    </a:solidFill>
                    <a:latin typeface="Poppins Bold"/>
                    <a:ea typeface="Poppins Bold"/>
                    <a:cs typeface="Poppins Bold"/>
                    <a:sym typeface="Poppins Bold"/>
                  </a:rPr>
                  <a:t>PROMPT</a:t>
                </a:r>
              </a:p>
            </p:txBody>
          </p:sp>
        </p:grpSp>
        <p:sp>
          <p:nvSpPr>
            <p:cNvPr name="TextBox 13" id="13"/>
            <p:cNvSpPr txBox="true"/>
            <p:nvPr/>
          </p:nvSpPr>
          <p:spPr>
            <a:xfrm rot="0">
              <a:off x="512064" y="1441704"/>
              <a:ext cx="9674352" cy="472440"/>
            </a:xfrm>
            <a:prstGeom prst="rect">
              <a:avLst/>
            </a:prstGeom>
          </p:spPr>
          <p:txBody>
            <a:bodyPr anchor="t" rtlCol="false" tIns="0" lIns="0" bIns="0" rIns="0">
              <a:spAutoFit/>
            </a:bodyPr>
            <a:lstStyle/>
            <a:p>
              <a:pPr algn="l">
                <a:lnSpc>
                  <a:spcPts val="2925"/>
                </a:lnSpc>
              </a:pPr>
              <a:r>
                <a:rPr lang="en-US" sz="1950" i="true">
                  <a:solidFill>
                    <a:srgbClr val="0A1A23"/>
                  </a:solidFill>
                  <a:latin typeface="Poppins Italics"/>
                  <a:ea typeface="Poppins Italics"/>
                  <a:cs typeface="Poppins Italics"/>
                  <a:sym typeface="Poppins Italics"/>
                </a:rPr>
                <a:t>"Write pandas code."</a:t>
              </a:r>
            </a:p>
          </p:txBody>
        </p:sp>
        <p:grpSp>
          <p:nvGrpSpPr>
            <p:cNvPr name="Group 14" id="14"/>
            <p:cNvGrpSpPr/>
            <p:nvPr/>
          </p:nvGrpSpPr>
          <p:grpSpPr>
            <a:xfrm rot="0">
              <a:off x="91440" y="3291840"/>
              <a:ext cx="146304" cy="146304"/>
              <a:chOff x="0" y="0"/>
              <a:chExt cx="146304" cy="146304"/>
            </a:xfrm>
          </p:grpSpPr>
          <p:sp>
            <p:nvSpPr>
              <p:cNvPr name="Freeform 15" id="15"/>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387F7F"/>
              </a:solidFill>
            </p:spPr>
          </p:sp>
        </p:grpSp>
        <p:sp>
          <p:nvSpPr>
            <p:cNvPr name="TextBox 16" id="16"/>
            <p:cNvSpPr txBox="true"/>
            <p:nvPr/>
          </p:nvSpPr>
          <p:spPr>
            <a:xfrm rot="0">
              <a:off x="548640" y="3161919"/>
              <a:ext cx="10332720" cy="432689"/>
            </a:xfrm>
            <a:prstGeom prst="rect">
              <a:avLst/>
            </a:prstGeom>
          </p:spPr>
          <p:txBody>
            <a:bodyPr anchor="t" rtlCol="false" tIns="0" lIns="0" bIns="0" rIns="0">
              <a:spAutoFit/>
            </a:bodyPr>
            <a:lstStyle/>
            <a:p>
              <a:pPr algn="l">
                <a:lnSpc>
                  <a:spcPts val="2690"/>
                </a:lnSpc>
              </a:pPr>
              <a:r>
                <a:rPr lang="en-US" sz="1950">
                  <a:solidFill>
                    <a:srgbClr val="0A1A23"/>
                  </a:solidFill>
                  <a:latin typeface="Poppins"/>
                  <a:ea typeface="Poppins"/>
                  <a:cs typeface="Poppins"/>
                  <a:sym typeface="Poppins"/>
                </a:rPr>
                <a:t>No dataset, no columns, no goal</a:t>
              </a:r>
            </a:p>
          </p:txBody>
        </p:sp>
        <p:grpSp>
          <p:nvGrpSpPr>
            <p:cNvPr name="Group 17" id="17"/>
            <p:cNvGrpSpPr/>
            <p:nvPr/>
          </p:nvGrpSpPr>
          <p:grpSpPr>
            <a:xfrm rot="0">
              <a:off x="91440" y="4206240"/>
              <a:ext cx="146304" cy="146304"/>
              <a:chOff x="0" y="0"/>
              <a:chExt cx="146304" cy="146304"/>
            </a:xfrm>
          </p:grpSpPr>
          <p:sp>
            <p:nvSpPr>
              <p:cNvPr name="Freeform 18" id="18"/>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387F7F"/>
              </a:solidFill>
            </p:spPr>
          </p:sp>
        </p:grpSp>
        <p:sp>
          <p:nvSpPr>
            <p:cNvPr name="TextBox 19" id="19"/>
            <p:cNvSpPr txBox="true"/>
            <p:nvPr/>
          </p:nvSpPr>
          <p:spPr>
            <a:xfrm rot="0">
              <a:off x="512064" y="4054983"/>
              <a:ext cx="10332720" cy="877189"/>
            </a:xfrm>
            <a:prstGeom prst="rect">
              <a:avLst/>
            </a:prstGeom>
          </p:spPr>
          <p:txBody>
            <a:bodyPr anchor="t" rtlCol="false" tIns="0" lIns="0" bIns="0" rIns="0">
              <a:spAutoFit/>
            </a:bodyPr>
            <a:lstStyle/>
            <a:p>
              <a:pPr algn="l">
                <a:lnSpc>
                  <a:spcPts val="2690"/>
                </a:lnSpc>
              </a:pPr>
              <a:r>
                <a:rPr lang="en-US" sz="1950">
                  <a:solidFill>
                    <a:srgbClr val="0A1A23"/>
                  </a:solidFill>
                  <a:latin typeface="Poppins"/>
                  <a:ea typeface="Poppins"/>
                  <a:cs typeface="Poppins"/>
                  <a:sym typeface="Poppins"/>
                </a:rPr>
                <a:t>AI has to guess everything, including what "pandas code" should even do</a:t>
              </a:r>
            </a:p>
          </p:txBody>
        </p:sp>
        <p:grpSp>
          <p:nvGrpSpPr>
            <p:cNvPr name="Group 20" id="20"/>
            <p:cNvGrpSpPr/>
            <p:nvPr/>
          </p:nvGrpSpPr>
          <p:grpSpPr>
            <a:xfrm rot="0">
              <a:off x="91440" y="5120640"/>
              <a:ext cx="146304" cy="146304"/>
              <a:chOff x="0" y="0"/>
              <a:chExt cx="146304" cy="146304"/>
            </a:xfrm>
          </p:grpSpPr>
          <p:sp>
            <p:nvSpPr>
              <p:cNvPr name="Freeform 21" id="21"/>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387F7F"/>
              </a:solidFill>
            </p:spPr>
          </p:sp>
        </p:grpSp>
        <p:sp>
          <p:nvSpPr>
            <p:cNvPr name="TextBox 22" id="22"/>
            <p:cNvSpPr txBox="true"/>
            <p:nvPr/>
          </p:nvSpPr>
          <p:spPr>
            <a:xfrm rot="0">
              <a:off x="548640" y="4953635"/>
              <a:ext cx="10332720" cy="432689"/>
            </a:xfrm>
            <a:prstGeom prst="rect">
              <a:avLst/>
            </a:prstGeom>
          </p:spPr>
          <p:txBody>
            <a:bodyPr anchor="t" rtlCol="false" tIns="0" lIns="0" bIns="0" rIns="0">
              <a:spAutoFit/>
            </a:bodyPr>
            <a:lstStyle/>
            <a:p>
              <a:pPr algn="l">
                <a:lnSpc>
                  <a:spcPts val="2690"/>
                </a:lnSpc>
              </a:pPr>
              <a:r>
                <a:rPr lang="en-US" sz="1950">
                  <a:solidFill>
                    <a:srgbClr val="0A1A23"/>
                  </a:solidFill>
                  <a:latin typeface="Poppins"/>
                  <a:ea typeface="Poppins"/>
                  <a:cs typeface="Poppins"/>
                  <a:sym typeface="Poppins"/>
                </a:rPr>
                <a:t>Guessed assumptions are where hallucinations start</a:t>
              </a:r>
            </a:p>
          </p:txBody>
        </p:sp>
        <p:grpSp>
          <p:nvGrpSpPr>
            <p:cNvPr name="Group 23" id="23"/>
            <p:cNvGrpSpPr/>
            <p:nvPr/>
          </p:nvGrpSpPr>
          <p:grpSpPr>
            <a:xfrm rot="0">
              <a:off x="11466576" y="0"/>
              <a:ext cx="10698480" cy="622935"/>
              <a:chOff x="0" y="0"/>
              <a:chExt cx="10698480" cy="622935"/>
            </a:xfrm>
          </p:grpSpPr>
          <p:sp>
            <p:nvSpPr>
              <p:cNvPr name="Freeform 24" id="24"/>
              <p:cNvSpPr/>
              <p:nvPr/>
            </p:nvSpPr>
            <p:spPr>
              <a:xfrm flipH="false" flipV="false" rot="0">
                <a:off x="0" y="0"/>
                <a:ext cx="10698480" cy="622935"/>
              </a:xfrm>
              <a:custGeom>
                <a:avLst/>
                <a:gdLst/>
                <a:ahLst/>
                <a:cxnLst/>
                <a:rect r="r" b="b" t="t" l="l"/>
                <a:pathLst>
                  <a:path h="622935" w="10698480">
                    <a:moveTo>
                      <a:pt x="0" y="0"/>
                    </a:moveTo>
                    <a:lnTo>
                      <a:pt x="10698480" y="0"/>
                    </a:lnTo>
                    <a:lnTo>
                      <a:pt x="10698480" y="622935"/>
                    </a:lnTo>
                    <a:lnTo>
                      <a:pt x="0" y="622935"/>
                    </a:lnTo>
                    <a:close/>
                  </a:path>
                </a:pathLst>
              </a:custGeom>
              <a:blipFill>
                <a:blip r:embed="rId3">
                  <a:alphaModFix amt="0"/>
                </a:blip>
                <a:stretch>
                  <a:fillRect l="0" t="-290605" r="0" b="-278678"/>
                </a:stretch>
              </a:blipFill>
            </p:spPr>
          </p:sp>
          <p:sp>
            <p:nvSpPr>
              <p:cNvPr name="TextBox 25" id="25"/>
              <p:cNvSpPr txBox="true"/>
              <p:nvPr/>
            </p:nvSpPr>
            <p:spPr>
              <a:xfrm>
                <a:off x="0" y="-19050"/>
                <a:ext cx="10698480" cy="641985"/>
              </a:xfrm>
              <a:prstGeom prst="rect">
                <a:avLst/>
              </a:prstGeom>
            </p:spPr>
            <p:txBody>
              <a:bodyPr anchor="ctr" rtlCol="false" tIns="0" lIns="0" bIns="0" rIns="0"/>
              <a:lstStyle/>
              <a:p>
                <a:pPr algn="l">
                  <a:lnSpc>
                    <a:spcPts val="2250"/>
                  </a:lnSpc>
                </a:pPr>
                <a:r>
                  <a:rPr lang="en-US" sz="1875" b="true">
                    <a:solidFill>
                      <a:srgbClr val="387F7F"/>
                    </a:solidFill>
                    <a:latin typeface="Poppins Bold"/>
                    <a:ea typeface="Poppins Bold"/>
                    <a:cs typeface="Poppins Bold"/>
                    <a:sym typeface="Poppins Bold"/>
                  </a:rPr>
                  <a:t>STRONG PROMPT</a:t>
                </a:r>
              </a:p>
            </p:txBody>
          </p:sp>
        </p:grpSp>
        <p:grpSp>
          <p:nvGrpSpPr>
            <p:cNvPr name="Group 26" id="26"/>
            <p:cNvGrpSpPr/>
            <p:nvPr/>
          </p:nvGrpSpPr>
          <p:grpSpPr>
            <a:xfrm rot="0">
              <a:off x="11466576" y="603504"/>
              <a:ext cx="10698480" cy="5212080"/>
              <a:chOff x="0" y="0"/>
              <a:chExt cx="10698480" cy="5212080"/>
            </a:xfrm>
          </p:grpSpPr>
          <p:sp>
            <p:nvSpPr>
              <p:cNvPr name="Freeform 27" id="27"/>
              <p:cNvSpPr/>
              <p:nvPr/>
            </p:nvSpPr>
            <p:spPr>
              <a:xfrm flipH="false" flipV="false" rot="0">
                <a:off x="0" y="0"/>
                <a:ext cx="10698480" cy="5212080"/>
              </a:xfrm>
              <a:custGeom>
                <a:avLst/>
                <a:gdLst/>
                <a:ahLst/>
                <a:cxnLst/>
                <a:rect r="r" b="b" t="t" l="l"/>
                <a:pathLst>
                  <a:path h="5212080" w="10698480">
                    <a:moveTo>
                      <a:pt x="0" y="109728"/>
                    </a:moveTo>
                    <a:cubicBezTo>
                      <a:pt x="0" y="49149"/>
                      <a:pt x="49149" y="0"/>
                      <a:pt x="109728" y="0"/>
                    </a:cubicBezTo>
                    <a:lnTo>
                      <a:pt x="10588752" y="0"/>
                    </a:lnTo>
                    <a:cubicBezTo>
                      <a:pt x="10649331" y="0"/>
                      <a:pt x="10698480" y="49149"/>
                      <a:pt x="10698480" y="109728"/>
                    </a:cubicBezTo>
                    <a:lnTo>
                      <a:pt x="10698480" y="5102352"/>
                    </a:lnTo>
                    <a:cubicBezTo>
                      <a:pt x="10698480" y="5162931"/>
                      <a:pt x="10649331" y="5212080"/>
                      <a:pt x="10588752" y="5212080"/>
                    </a:cubicBezTo>
                    <a:lnTo>
                      <a:pt x="109728" y="5212080"/>
                    </a:lnTo>
                    <a:cubicBezTo>
                      <a:pt x="49149" y="5212080"/>
                      <a:pt x="0" y="5162931"/>
                      <a:pt x="0" y="5102352"/>
                    </a:cubicBezTo>
                    <a:close/>
                  </a:path>
                </a:pathLst>
              </a:custGeom>
              <a:solidFill>
                <a:srgbClr val="EAF2F1"/>
              </a:solidFill>
            </p:spPr>
          </p:sp>
        </p:grpSp>
        <p:grpSp>
          <p:nvGrpSpPr>
            <p:cNvPr name="Group 28" id="28"/>
            <p:cNvGrpSpPr/>
            <p:nvPr/>
          </p:nvGrpSpPr>
          <p:grpSpPr>
            <a:xfrm rot="0">
              <a:off x="11978640" y="932688"/>
              <a:ext cx="9674352" cy="543103"/>
              <a:chOff x="0" y="0"/>
              <a:chExt cx="9674352" cy="543103"/>
            </a:xfrm>
          </p:grpSpPr>
          <p:sp>
            <p:nvSpPr>
              <p:cNvPr name="Freeform 29" id="29"/>
              <p:cNvSpPr/>
              <p:nvPr/>
            </p:nvSpPr>
            <p:spPr>
              <a:xfrm flipH="false" flipV="false" rot="0">
                <a:off x="0" y="0"/>
                <a:ext cx="9674352" cy="543103"/>
              </a:xfrm>
              <a:custGeom>
                <a:avLst/>
                <a:gdLst/>
                <a:ahLst/>
                <a:cxnLst/>
                <a:rect r="r" b="b" t="t" l="l"/>
                <a:pathLst>
                  <a:path h="543103" w="9674352">
                    <a:moveTo>
                      <a:pt x="0" y="0"/>
                    </a:moveTo>
                    <a:lnTo>
                      <a:pt x="9674352" y="0"/>
                    </a:lnTo>
                    <a:lnTo>
                      <a:pt x="9674352" y="543103"/>
                    </a:lnTo>
                    <a:lnTo>
                      <a:pt x="0" y="543103"/>
                    </a:lnTo>
                    <a:close/>
                  </a:path>
                </a:pathLst>
              </a:custGeom>
              <a:blipFill>
                <a:blip r:embed="rId3">
                  <a:alphaModFix amt="0"/>
                </a:blip>
                <a:stretch>
                  <a:fillRect l="0" t="-299946" r="0" b="-294231"/>
                </a:stretch>
              </a:blipFill>
            </p:spPr>
          </p:sp>
          <p:sp>
            <p:nvSpPr>
              <p:cNvPr name="TextBox 30" id="30"/>
              <p:cNvSpPr txBox="true"/>
              <p:nvPr/>
            </p:nvSpPr>
            <p:spPr>
              <a:xfrm>
                <a:off x="0" y="-9525"/>
                <a:ext cx="9674352" cy="552628"/>
              </a:xfrm>
              <a:prstGeom prst="rect">
                <a:avLst/>
              </a:prstGeom>
            </p:spPr>
            <p:txBody>
              <a:bodyPr anchor="ctr" rtlCol="false" tIns="0" lIns="0" bIns="0" rIns="0"/>
              <a:lstStyle/>
              <a:p>
                <a:pPr algn="l">
                  <a:lnSpc>
                    <a:spcPts val="1980"/>
                  </a:lnSpc>
                </a:pPr>
                <a:r>
                  <a:rPr lang="en-US" b="true" sz="1650" spc="74">
                    <a:solidFill>
                      <a:srgbClr val="387F7F"/>
                    </a:solidFill>
                    <a:latin typeface="Poppins Bold"/>
                    <a:ea typeface="Poppins Bold"/>
                    <a:cs typeface="Poppins Bold"/>
                    <a:sym typeface="Poppins Bold"/>
                  </a:rPr>
                  <a:t>PROMPT</a:t>
                </a:r>
              </a:p>
            </p:txBody>
          </p:sp>
        </p:grpSp>
        <p:sp>
          <p:nvSpPr>
            <p:cNvPr name="TextBox 31" id="31"/>
            <p:cNvSpPr txBox="true"/>
            <p:nvPr/>
          </p:nvSpPr>
          <p:spPr>
            <a:xfrm rot="0">
              <a:off x="11978640" y="1441704"/>
              <a:ext cx="9674352" cy="3444240"/>
            </a:xfrm>
            <a:prstGeom prst="rect">
              <a:avLst/>
            </a:prstGeom>
          </p:spPr>
          <p:txBody>
            <a:bodyPr anchor="t" rtlCol="false" tIns="0" lIns="0" bIns="0" rIns="0">
              <a:spAutoFit/>
            </a:bodyPr>
            <a:lstStyle/>
            <a:p>
              <a:pPr algn="l">
                <a:lnSpc>
                  <a:spcPts val="2925"/>
                </a:lnSpc>
              </a:pPr>
              <a:r>
                <a:rPr lang="en-US" sz="1950" i="true">
                  <a:solidFill>
                    <a:srgbClr val="0A1A23"/>
                  </a:solidFill>
                  <a:latin typeface="Poppins Italics"/>
                  <a:ea typeface="Poppins Italics"/>
                  <a:cs typeface="Poppins Italics"/>
                  <a:sym typeface="Poppins Italics"/>
                </a:rPr>
                <a:t>I have a pandas DataFrame `df` from branch_sales.csv with columns: Branch, Region, Sales, Cost, Profit, Price. Write code that filters transactions where Sales is above 100000, groups the result by Region, and shows total Sales and total Profit per region. Use only boolean filtering, groupby and sum. I expect a small table with 3 rows, one per region.</a:t>
              </a:r>
            </a:p>
          </p:txBody>
        </p:sp>
        <p:grpSp>
          <p:nvGrpSpPr>
            <p:cNvPr name="Group 32" id="32"/>
            <p:cNvGrpSpPr/>
            <p:nvPr/>
          </p:nvGrpSpPr>
          <p:grpSpPr>
            <a:xfrm rot="0">
              <a:off x="91440" y="6400800"/>
              <a:ext cx="21945600" cy="645312"/>
              <a:chOff x="0" y="0"/>
              <a:chExt cx="21945600" cy="645312"/>
            </a:xfrm>
          </p:grpSpPr>
          <p:sp>
            <p:nvSpPr>
              <p:cNvPr name="Freeform 33" id="33"/>
              <p:cNvSpPr/>
              <p:nvPr/>
            </p:nvSpPr>
            <p:spPr>
              <a:xfrm flipH="false" flipV="false" rot="0">
                <a:off x="0" y="0"/>
                <a:ext cx="21945600" cy="645312"/>
              </a:xfrm>
              <a:custGeom>
                <a:avLst/>
                <a:gdLst/>
                <a:ahLst/>
                <a:cxnLst/>
                <a:rect r="r" b="b" t="t" l="l"/>
                <a:pathLst>
                  <a:path h="645312" w="21945600">
                    <a:moveTo>
                      <a:pt x="0" y="0"/>
                    </a:moveTo>
                    <a:lnTo>
                      <a:pt x="21945600" y="0"/>
                    </a:lnTo>
                    <a:lnTo>
                      <a:pt x="21945600" y="645312"/>
                    </a:lnTo>
                    <a:lnTo>
                      <a:pt x="0" y="645312"/>
                    </a:lnTo>
                    <a:close/>
                  </a:path>
                </a:pathLst>
              </a:custGeom>
              <a:blipFill>
                <a:blip r:embed="rId3">
                  <a:alphaModFix amt="0"/>
                </a:blip>
                <a:stretch>
                  <a:fillRect l="0" t="-613047" r="0" b="-612236"/>
                </a:stretch>
              </a:blipFill>
            </p:spPr>
          </p:sp>
          <p:sp>
            <p:nvSpPr>
              <p:cNvPr name="TextBox 34" id="34"/>
              <p:cNvSpPr txBox="true"/>
              <p:nvPr/>
            </p:nvSpPr>
            <p:spPr>
              <a:xfrm>
                <a:off x="0" y="-19050"/>
                <a:ext cx="21945600" cy="664362"/>
              </a:xfrm>
              <a:prstGeom prst="rect">
                <a:avLst/>
              </a:prstGeom>
            </p:spPr>
            <p:txBody>
              <a:bodyPr anchor="ctr" rtlCol="false" tIns="0" lIns="0" bIns="0" rIns="0"/>
              <a:lstStyle/>
              <a:p>
                <a:pPr algn="l">
                  <a:lnSpc>
                    <a:spcPts val="2340"/>
                  </a:lnSpc>
                </a:pPr>
                <a:r>
                  <a:rPr lang="en-US" sz="1950" b="true">
                    <a:solidFill>
                      <a:srgbClr val="387F7F"/>
                    </a:solidFill>
                    <a:latin typeface="Poppins Bold"/>
                    <a:ea typeface="Poppins Bold"/>
                    <a:cs typeface="Poppins Bold"/>
                    <a:sym typeface="Poppins Bold"/>
                  </a:rPr>
                  <a:t>Dataset structure  —  </a:t>
                </a:r>
                <a:r>
                  <a:rPr lang="en-US" sz="1950">
                    <a:solidFill>
                      <a:srgbClr val="0A1A23"/>
                    </a:solidFill>
                    <a:latin typeface="Poppins"/>
                    <a:ea typeface="Poppins"/>
                    <a:cs typeface="Poppins"/>
                    <a:sym typeface="Poppins"/>
                  </a:rPr>
                  <a:t>"a pandas DataFrame df from branch_sales.csv"</a:t>
                </a:r>
              </a:p>
            </p:txBody>
          </p:sp>
        </p:grpSp>
        <p:grpSp>
          <p:nvGrpSpPr>
            <p:cNvPr name="Group 35" id="35"/>
            <p:cNvGrpSpPr/>
            <p:nvPr/>
          </p:nvGrpSpPr>
          <p:grpSpPr>
            <a:xfrm rot="0">
              <a:off x="91440" y="7132320"/>
              <a:ext cx="21945600" cy="645312"/>
              <a:chOff x="0" y="0"/>
              <a:chExt cx="21945600" cy="645312"/>
            </a:xfrm>
          </p:grpSpPr>
          <p:sp>
            <p:nvSpPr>
              <p:cNvPr name="Freeform 36" id="36"/>
              <p:cNvSpPr/>
              <p:nvPr/>
            </p:nvSpPr>
            <p:spPr>
              <a:xfrm flipH="false" flipV="false" rot="0">
                <a:off x="0" y="0"/>
                <a:ext cx="21945600" cy="645312"/>
              </a:xfrm>
              <a:custGeom>
                <a:avLst/>
                <a:gdLst/>
                <a:ahLst/>
                <a:cxnLst/>
                <a:rect r="r" b="b" t="t" l="l"/>
                <a:pathLst>
                  <a:path h="645312" w="21945600">
                    <a:moveTo>
                      <a:pt x="0" y="0"/>
                    </a:moveTo>
                    <a:lnTo>
                      <a:pt x="21945600" y="0"/>
                    </a:lnTo>
                    <a:lnTo>
                      <a:pt x="21945600" y="645312"/>
                    </a:lnTo>
                    <a:lnTo>
                      <a:pt x="0" y="645312"/>
                    </a:lnTo>
                    <a:close/>
                  </a:path>
                </a:pathLst>
              </a:custGeom>
              <a:blipFill>
                <a:blip r:embed="rId3">
                  <a:alphaModFix amt="0"/>
                </a:blip>
                <a:stretch>
                  <a:fillRect l="0" t="-613047" r="0" b="-612236"/>
                </a:stretch>
              </a:blipFill>
            </p:spPr>
          </p:sp>
          <p:sp>
            <p:nvSpPr>
              <p:cNvPr name="TextBox 37" id="37"/>
              <p:cNvSpPr txBox="true"/>
              <p:nvPr/>
            </p:nvSpPr>
            <p:spPr>
              <a:xfrm>
                <a:off x="0" y="-19050"/>
                <a:ext cx="21945600" cy="664362"/>
              </a:xfrm>
              <a:prstGeom prst="rect">
                <a:avLst/>
              </a:prstGeom>
            </p:spPr>
            <p:txBody>
              <a:bodyPr anchor="ctr" rtlCol="false" tIns="0" lIns="0" bIns="0" rIns="0"/>
              <a:lstStyle/>
              <a:p>
                <a:pPr algn="l">
                  <a:lnSpc>
                    <a:spcPts val="2340"/>
                  </a:lnSpc>
                </a:pPr>
                <a:r>
                  <a:rPr lang="en-US" sz="1950" b="true">
                    <a:solidFill>
                      <a:srgbClr val="387F7F"/>
                    </a:solidFill>
                    <a:latin typeface="Poppins Bold"/>
                    <a:ea typeface="Poppins Bold"/>
                    <a:cs typeface="Poppins Bold"/>
                    <a:sym typeface="Poppins Bold"/>
                  </a:rPr>
                  <a:t>Column names  —  </a:t>
                </a:r>
                <a:r>
                  <a:rPr lang="en-US" sz="1950">
                    <a:solidFill>
                      <a:srgbClr val="0A1A23"/>
                    </a:solidFill>
                    <a:latin typeface="Poppins"/>
                    <a:ea typeface="Poppins"/>
                    <a:cs typeface="Poppins"/>
                    <a:sym typeface="Poppins"/>
                  </a:rPr>
                  <a:t>"Branch, Region, Sales, Cost, Profit, Price"</a:t>
                </a:r>
              </a:p>
            </p:txBody>
          </p:sp>
        </p:grpSp>
        <p:grpSp>
          <p:nvGrpSpPr>
            <p:cNvPr name="Group 38" id="38"/>
            <p:cNvGrpSpPr/>
            <p:nvPr/>
          </p:nvGrpSpPr>
          <p:grpSpPr>
            <a:xfrm rot="0">
              <a:off x="91440" y="7863840"/>
              <a:ext cx="21945600" cy="645312"/>
              <a:chOff x="0" y="0"/>
              <a:chExt cx="21945600" cy="645312"/>
            </a:xfrm>
          </p:grpSpPr>
          <p:sp>
            <p:nvSpPr>
              <p:cNvPr name="Freeform 39" id="39"/>
              <p:cNvSpPr/>
              <p:nvPr/>
            </p:nvSpPr>
            <p:spPr>
              <a:xfrm flipH="false" flipV="false" rot="0">
                <a:off x="0" y="0"/>
                <a:ext cx="21945600" cy="645312"/>
              </a:xfrm>
              <a:custGeom>
                <a:avLst/>
                <a:gdLst/>
                <a:ahLst/>
                <a:cxnLst/>
                <a:rect r="r" b="b" t="t" l="l"/>
                <a:pathLst>
                  <a:path h="645312" w="21945600">
                    <a:moveTo>
                      <a:pt x="0" y="0"/>
                    </a:moveTo>
                    <a:lnTo>
                      <a:pt x="21945600" y="0"/>
                    </a:lnTo>
                    <a:lnTo>
                      <a:pt x="21945600" y="645312"/>
                    </a:lnTo>
                    <a:lnTo>
                      <a:pt x="0" y="645312"/>
                    </a:lnTo>
                    <a:close/>
                  </a:path>
                </a:pathLst>
              </a:custGeom>
              <a:blipFill>
                <a:blip r:embed="rId3">
                  <a:alphaModFix amt="0"/>
                </a:blip>
                <a:stretch>
                  <a:fillRect l="0" t="-613047" r="0" b="-612236"/>
                </a:stretch>
              </a:blipFill>
            </p:spPr>
          </p:sp>
          <p:sp>
            <p:nvSpPr>
              <p:cNvPr name="TextBox 40" id="40"/>
              <p:cNvSpPr txBox="true"/>
              <p:nvPr/>
            </p:nvSpPr>
            <p:spPr>
              <a:xfrm>
                <a:off x="0" y="-19050"/>
                <a:ext cx="21945600" cy="664362"/>
              </a:xfrm>
              <a:prstGeom prst="rect">
                <a:avLst/>
              </a:prstGeom>
            </p:spPr>
            <p:txBody>
              <a:bodyPr anchor="ctr" rtlCol="false" tIns="0" lIns="0" bIns="0" rIns="0"/>
              <a:lstStyle/>
              <a:p>
                <a:pPr algn="l">
                  <a:lnSpc>
                    <a:spcPts val="2340"/>
                  </a:lnSpc>
                </a:pPr>
                <a:r>
                  <a:rPr lang="en-US" sz="1950" b="true">
                    <a:solidFill>
                      <a:srgbClr val="387F7F"/>
                    </a:solidFill>
                    <a:latin typeface="Poppins Bold"/>
                    <a:ea typeface="Poppins Bold"/>
                    <a:cs typeface="Poppins Bold"/>
                    <a:sym typeface="Poppins Bold"/>
                  </a:rPr>
                  <a:t>Analytical objective  —  </a:t>
                </a:r>
                <a:r>
                  <a:rPr lang="en-US" sz="1950">
                    <a:solidFill>
                      <a:srgbClr val="0A1A23"/>
                    </a:solidFill>
                    <a:latin typeface="Poppins"/>
                    <a:ea typeface="Poppins"/>
                    <a:cs typeface="Poppins"/>
                    <a:sym typeface="Poppins"/>
                  </a:rPr>
                  <a:t>"filters... groups... shows total Sales and Profit"</a:t>
                </a:r>
              </a:p>
            </p:txBody>
          </p:sp>
        </p:grpSp>
        <p:grpSp>
          <p:nvGrpSpPr>
            <p:cNvPr name="Group 41" id="41"/>
            <p:cNvGrpSpPr/>
            <p:nvPr/>
          </p:nvGrpSpPr>
          <p:grpSpPr>
            <a:xfrm rot="0">
              <a:off x="91440" y="8595360"/>
              <a:ext cx="21945600" cy="645312"/>
              <a:chOff x="0" y="0"/>
              <a:chExt cx="21945600" cy="645312"/>
            </a:xfrm>
          </p:grpSpPr>
          <p:sp>
            <p:nvSpPr>
              <p:cNvPr name="Freeform 42" id="42"/>
              <p:cNvSpPr/>
              <p:nvPr/>
            </p:nvSpPr>
            <p:spPr>
              <a:xfrm flipH="false" flipV="false" rot="0">
                <a:off x="0" y="0"/>
                <a:ext cx="21945600" cy="645312"/>
              </a:xfrm>
              <a:custGeom>
                <a:avLst/>
                <a:gdLst/>
                <a:ahLst/>
                <a:cxnLst/>
                <a:rect r="r" b="b" t="t" l="l"/>
                <a:pathLst>
                  <a:path h="645312" w="21945600">
                    <a:moveTo>
                      <a:pt x="0" y="0"/>
                    </a:moveTo>
                    <a:lnTo>
                      <a:pt x="21945600" y="0"/>
                    </a:lnTo>
                    <a:lnTo>
                      <a:pt x="21945600" y="645312"/>
                    </a:lnTo>
                    <a:lnTo>
                      <a:pt x="0" y="645312"/>
                    </a:lnTo>
                    <a:close/>
                  </a:path>
                </a:pathLst>
              </a:custGeom>
              <a:blipFill>
                <a:blip r:embed="rId3">
                  <a:alphaModFix amt="0"/>
                </a:blip>
                <a:stretch>
                  <a:fillRect l="0" t="-613047" r="0" b="-612236"/>
                </a:stretch>
              </a:blipFill>
            </p:spPr>
          </p:sp>
          <p:sp>
            <p:nvSpPr>
              <p:cNvPr name="TextBox 43" id="43"/>
              <p:cNvSpPr txBox="true"/>
              <p:nvPr/>
            </p:nvSpPr>
            <p:spPr>
              <a:xfrm>
                <a:off x="0" y="-19050"/>
                <a:ext cx="21945600" cy="664362"/>
              </a:xfrm>
              <a:prstGeom prst="rect">
                <a:avLst/>
              </a:prstGeom>
            </p:spPr>
            <p:txBody>
              <a:bodyPr anchor="ctr" rtlCol="false" tIns="0" lIns="0" bIns="0" rIns="0"/>
              <a:lstStyle/>
              <a:p>
                <a:pPr algn="l">
                  <a:lnSpc>
                    <a:spcPts val="2340"/>
                  </a:lnSpc>
                </a:pPr>
                <a:r>
                  <a:rPr lang="en-US" sz="1950" b="true">
                    <a:solidFill>
                      <a:srgbClr val="387F7F"/>
                    </a:solidFill>
                    <a:latin typeface="Poppins Bold"/>
                    <a:ea typeface="Poppins Bold"/>
                    <a:cs typeface="Poppins Bold"/>
                    <a:sym typeface="Poppins Bold"/>
                  </a:rPr>
                  <a:t>Expected output  —  </a:t>
                </a:r>
                <a:r>
                  <a:rPr lang="en-US" sz="1950">
                    <a:solidFill>
                      <a:srgbClr val="0A1A23"/>
                    </a:solidFill>
                    <a:latin typeface="Poppins"/>
                    <a:ea typeface="Poppins"/>
                    <a:cs typeface="Poppins"/>
                    <a:sym typeface="Poppins"/>
                  </a:rPr>
                  <a:t>"a small table with 3 rows, one per region"</a:t>
                </a:r>
              </a:p>
            </p:txBody>
          </p:sp>
        </p:grpSp>
        <p:grpSp>
          <p:nvGrpSpPr>
            <p:cNvPr name="Group 44" id="44"/>
            <p:cNvGrpSpPr/>
            <p:nvPr/>
          </p:nvGrpSpPr>
          <p:grpSpPr>
            <a:xfrm rot="0">
              <a:off x="91440" y="9326880"/>
              <a:ext cx="21945600" cy="645312"/>
              <a:chOff x="0" y="0"/>
              <a:chExt cx="21945600" cy="645312"/>
            </a:xfrm>
          </p:grpSpPr>
          <p:sp>
            <p:nvSpPr>
              <p:cNvPr name="Freeform 45" id="45"/>
              <p:cNvSpPr/>
              <p:nvPr/>
            </p:nvSpPr>
            <p:spPr>
              <a:xfrm flipH="false" flipV="false" rot="0">
                <a:off x="0" y="0"/>
                <a:ext cx="21945600" cy="645312"/>
              </a:xfrm>
              <a:custGeom>
                <a:avLst/>
                <a:gdLst/>
                <a:ahLst/>
                <a:cxnLst/>
                <a:rect r="r" b="b" t="t" l="l"/>
                <a:pathLst>
                  <a:path h="645312" w="21945600">
                    <a:moveTo>
                      <a:pt x="0" y="0"/>
                    </a:moveTo>
                    <a:lnTo>
                      <a:pt x="21945600" y="0"/>
                    </a:lnTo>
                    <a:lnTo>
                      <a:pt x="21945600" y="645312"/>
                    </a:lnTo>
                    <a:lnTo>
                      <a:pt x="0" y="645312"/>
                    </a:lnTo>
                    <a:close/>
                  </a:path>
                </a:pathLst>
              </a:custGeom>
              <a:blipFill>
                <a:blip r:embed="rId3">
                  <a:alphaModFix amt="0"/>
                </a:blip>
                <a:stretch>
                  <a:fillRect l="0" t="-613047" r="0" b="-612236"/>
                </a:stretch>
              </a:blipFill>
            </p:spPr>
          </p:sp>
          <p:sp>
            <p:nvSpPr>
              <p:cNvPr name="TextBox 46" id="46"/>
              <p:cNvSpPr txBox="true"/>
              <p:nvPr/>
            </p:nvSpPr>
            <p:spPr>
              <a:xfrm>
                <a:off x="0" y="-19050"/>
                <a:ext cx="21945600" cy="664362"/>
              </a:xfrm>
              <a:prstGeom prst="rect">
                <a:avLst/>
              </a:prstGeom>
            </p:spPr>
            <p:txBody>
              <a:bodyPr anchor="ctr" rtlCol="false" tIns="0" lIns="0" bIns="0" rIns="0"/>
              <a:lstStyle/>
              <a:p>
                <a:pPr algn="l">
                  <a:lnSpc>
                    <a:spcPts val="2340"/>
                  </a:lnSpc>
                </a:pPr>
                <a:r>
                  <a:rPr lang="en-US" sz="1950" b="true">
                    <a:solidFill>
                      <a:srgbClr val="387F7F"/>
                    </a:solidFill>
                    <a:latin typeface="Poppins Bold"/>
                    <a:ea typeface="Poppins Bold"/>
                    <a:cs typeface="Poppins Bold"/>
                    <a:sym typeface="Poppins Bold"/>
                  </a:rPr>
                  <a:t>Constraints  —  </a:t>
                </a:r>
                <a:r>
                  <a:rPr lang="en-US" sz="1950">
                    <a:solidFill>
                      <a:srgbClr val="0A1A23"/>
                    </a:solidFill>
                    <a:latin typeface="Poppins"/>
                    <a:ea typeface="Poppins"/>
                    <a:cs typeface="Poppins"/>
                    <a:sym typeface="Poppins"/>
                  </a:rPr>
                  <a:t>"use only boolean filtering, groupby and sum"</a:t>
                </a:r>
              </a:p>
            </p:txBody>
          </p:sp>
        </p:grpSp>
      </p:grpSp>
      <p:grpSp>
        <p:nvGrpSpPr>
          <p:cNvPr name="Group 47" id="47"/>
          <p:cNvGrpSpPr/>
          <p:nvPr/>
        </p:nvGrpSpPr>
        <p:grpSpPr>
          <a:xfrm rot="0">
            <a:off x="1160788" y="753429"/>
            <a:ext cx="12755880" cy="1236342"/>
            <a:chOff x="0" y="0"/>
            <a:chExt cx="17007840" cy="1648455"/>
          </a:xfrm>
        </p:grpSpPr>
        <p:sp>
          <p:nvSpPr>
            <p:cNvPr name="Freeform 48" id="48"/>
            <p:cNvSpPr/>
            <p:nvPr/>
          </p:nvSpPr>
          <p:spPr>
            <a:xfrm flipH="false" flipV="false" rot="0">
              <a:off x="0" y="0"/>
              <a:ext cx="17007839" cy="1648455"/>
            </a:xfrm>
            <a:custGeom>
              <a:avLst/>
              <a:gdLst/>
              <a:ahLst/>
              <a:cxnLst/>
              <a:rect r="r" b="b" t="t" l="l"/>
              <a:pathLst>
                <a:path h="1648455" w="17007839">
                  <a:moveTo>
                    <a:pt x="0" y="0"/>
                  </a:moveTo>
                  <a:lnTo>
                    <a:pt x="17007839" y="0"/>
                  </a:lnTo>
                  <a:lnTo>
                    <a:pt x="17007839" y="1648455"/>
                  </a:lnTo>
                  <a:lnTo>
                    <a:pt x="0" y="1648455"/>
                  </a:lnTo>
                  <a:close/>
                </a:path>
              </a:pathLst>
            </a:custGeom>
            <a:blipFill>
              <a:blip r:embed="rId3">
                <a:alphaModFix amt="0"/>
              </a:blip>
              <a:stretch>
                <a:fillRect l="0" t="-164980" r="0" b="-137091"/>
              </a:stretch>
            </a:blipFill>
          </p:spPr>
        </p:sp>
        <p:sp>
          <p:nvSpPr>
            <p:cNvPr name="TextBox 49" id="49"/>
            <p:cNvSpPr txBox="true"/>
            <p:nvPr/>
          </p:nvSpPr>
          <p:spPr>
            <a:xfrm>
              <a:off x="0" y="-38100"/>
              <a:ext cx="17007840" cy="1686555"/>
            </a:xfrm>
            <a:prstGeom prst="rect">
              <a:avLst/>
            </a:prstGeom>
          </p:spPr>
          <p:txBody>
            <a:bodyPr anchor="ctr" rtlCol="false" tIns="0" lIns="0" bIns="0" rIns="0"/>
            <a:lstStyle/>
            <a:p>
              <a:pPr algn="l">
                <a:lnSpc>
                  <a:spcPts val="5999"/>
                </a:lnSpc>
              </a:pPr>
              <a:r>
                <a:rPr lang="en-US" sz="4999">
                  <a:solidFill>
                    <a:srgbClr val="388080"/>
                  </a:solidFill>
                  <a:latin typeface="Poppins"/>
                  <a:ea typeface="Poppins"/>
                  <a:cs typeface="Poppins"/>
                  <a:sym typeface="Poppins"/>
                </a:rPr>
                <a:t>Weak vs Strong Prompts</a:t>
              </a:r>
            </a:p>
          </p:txBody>
        </p:sp>
      </p:grpSp>
      <p:grpSp>
        <p:nvGrpSpPr>
          <p:cNvPr name="Group 50" id="50"/>
          <p:cNvGrpSpPr/>
          <p:nvPr/>
        </p:nvGrpSpPr>
        <p:grpSpPr>
          <a:xfrm rot="0">
            <a:off x="857250" y="857250"/>
            <a:ext cx="114300" cy="1028700"/>
            <a:chOff x="0" y="0"/>
            <a:chExt cx="152400" cy="1371600"/>
          </a:xfrm>
        </p:grpSpPr>
        <p:sp>
          <p:nvSpPr>
            <p:cNvPr name="Freeform 51" id="51"/>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52" id="52"/>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3" id="53"/>
          <p:cNvGrpSpPr/>
          <p:nvPr/>
        </p:nvGrpSpPr>
        <p:grpSpPr>
          <a:xfrm rot="0">
            <a:off x="16497824" y="8924125"/>
            <a:ext cx="647224" cy="571500"/>
            <a:chOff x="0" y="0"/>
            <a:chExt cx="862965" cy="762000"/>
          </a:xfrm>
        </p:grpSpPr>
        <p:sp>
          <p:nvSpPr>
            <p:cNvPr name="Freeform 54" id="54"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6497824" y="8924125"/>
            <a:ext cx="647224" cy="571500"/>
            <a:chOff x="0" y="0"/>
            <a:chExt cx="862965" cy="762000"/>
          </a:xfrm>
        </p:grpSpPr>
        <p:sp>
          <p:nvSpPr>
            <p:cNvPr name="Freeform 6" id="6"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5"/>
              <a:stretch>
                <a:fillRect l="-772" t="0" r="-772" b="0"/>
              </a:stretch>
            </a:blipFill>
          </p:spPr>
        </p:sp>
      </p:grpSp>
      <p:grpSp>
        <p:nvGrpSpPr>
          <p:cNvPr name="Group 7" id="7"/>
          <p:cNvGrpSpPr/>
          <p:nvPr/>
        </p:nvGrpSpPr>
        <p:grpSpPr>
          <a:xfrm rot="0">
            <a:off x="914400" y="2152702"/>
            <a:ext cx="15938040" cy="7970040"/>
            <a:chOff x="0" y="0"/>
            <a:chExt cx="21250720" cy="10626721"/>
          </a:xfrm>
        </p:grpSpPr>
        <p:grpSp>
          <p:nvGrpSpPr>
            <p:cNvPr name="Group 8" id="8"/>
            <p:cNvGrpSpPr/>
            <p:nvPr/>
          </p:nvGrpSpPr>
          <p:grpSpPr>
            <a:xfrm rot="0">
              <a:off x="0" y="329184"/>
              <a:ext cx="9487665" cy="543103"/>
              <a:chOff x="0" y="0"/>
              <a:chExt cx="9487665" cy="543103"/>
            </a:xfrm>
          </p:grpSpPr>
          <p:sp>
            <p:nvSpPr>
              <p:cNvPr name="Freeform 9" id="9"/>
              <p:cNvSpPr/>
              <p:nvPr/>
            </p:nvSpPr>
            <p:spPr>
              <a:xfrm flipH="false" flipV="false" rot="0">
                <a:off x="0" y="0"/>
                <a:ext cx="9487664" cy="543103"/>
              </a:xfrm>
              <a:custGeom>
                <a:avLst/>
                <a:gdLst/>
                <a:ahLst/>
                <a:cxnLst/>
                <a:rect r="r" b="b" t="t" l="l"/>
                <a:pathLst>
                  <a:path h="543103" w="9487664">
                    <a:moveTo>
                      <a:pt x="0" y="0"/>
                    </a:moveTo>
                    <a:lnTo>
                      <a:pt x="9487664" y="0"/>
                    </a:lnTo>
                    <a:lnTo>
                      <a:pt x="9487664" y="543103"/>
                    </a:lnTo>
                    <a:lnTo>
                      <a:pt x="0" y="543103"/>
                    </a:lnTo>
                    <a:close/>
                  </a:path>
                </a:pathLst>
              </a:custGeom>
              <a:blipFill>
                <a:blip r:embed="rId6">
                  <a:alphaModFix amt="0"/>
                </a:blip>
                <a:stretch>
                  <a:fillRect l="0" t="-299946" r="-1967" b="-294231"/>
                </a:stretch>
              </a:blipFill>
            </p:spPr>
          </p:sp>
          <p:sp>
            <p:nvSpPr>
              <p:cNvPr name="TextBox 10" id="10"/>
              <p:cNvSpPr txBox="true"/>
              <p:nvPr/>
            </p:nvSpPr>
            <p:spPr>
              <a:xfrm>
                <a:off x="0" y="-9525"/>
                <a:ext cx="9487665" cy="552628"/>
              </a:xfrm>
              <a:prstGeom prst="rect">
                <a:avLst/>
              </a:prstGeom>
            </p:spPr>
            <p:txBody>
              <a:bodyPr anchor="ctr" rtlCol="false" tIns="0" lIns="0" bIns="0" rIns="0"/>
              <a:lstStyle/>
              <a:p>
                <a:pPr algn="l">
                  <a:lnSpc>
                    <a:spcPts val="1980"/>
                  </a:lnSpc>
                </a:pPr>
                <a:r>
                  <a:rPr lang="en-US" b="true" sz="1650" spc="74">
                    <a:solidFill>
                      <a:srgbClr val="387F7F"/>
                    </a:solidFill>
                    <a:latin typeface="Poppins Bold"/>
                    <a:ea typeface="Poppins Bold"/>
                    <a:cs typeface="Poppins Bold"/>
                    <a:sym typeface="Poppins Bold"/>
                  </a:rPr>
                  <a:t>USER PROMPT</a:t>
                </a:r>
              </a:p>
            </p:txBody>
          </p:sp>
        </p:grpSp>
        <p:sp>
          <p:nvSpPr>
            <p:cNvPr name="TextBox 11" id="11"/>
            <p:cNvSpPr txBox="true"/>
            <p:nvPr/>
          </p:nvSpPr>
          <p:spPr>
            <a:xfrm rot="0">
              <a:off x="0" y="838200"/>
              <a:ext cx="9487665" cy="1958340"/>
            </a:xfrm>
            <a:prstGeom prst="rect">
              <a:avLst/>
            </a:prstGeom>
          </p:spPr>
          <p:txBody>
            <a:bodyPr anchor="t" rtlCol="false" tIns="0" lIns="0" bIns="0" rIns="0">
              <a:spAutoFit/>
            </a:bodyPr>
            <a:lstStyle/>
            <a:p>
              <a:pPr algn="l">
                <a:lnSpc>
                  <a:spcPts val="2925"/>
                </a:lnSpc>
              </a:pPr>
              <a:r>
                <a:rPr lang="en-US" sz="1950" i="true">
                  <a:solidFill>
                    <a:srgbClr val="0A1A23"/>
                  </a:solidFill>
                  <a:latin typeface="Poppins Italics"/>
                  <a:ea typeface="Poppins Italics"/>
                  <a:cs typeface="Poppins Italics"/>
                  <a:sym typeface="Poppins Italics"/>
                </a:rPr>
                <a:t>My DataFrame df has columns Branch, Region, Sales, Profit. Write pandas code to filter transactions with Sales above 100000, then group by Region and sum Sales and Profit.</a:t>
              </a:r>
            </a:p>
          </p:txBody>
        </p:sp>
        <p:sp>
          <p:nvSpPr>
            <p:cNvPr name="TextBox 12" id="12"/>
            <p:cNvSpPr txBox="true"/>
            <p:nvPr/>
          </p:nvSpPr>
          <p:spPr>
            <a:xfrm rot="0">
              <a:off x="0" y="3544824"/>
              <a:ext cx="9487665" cy="1958340"/>
            </a:xfrm>
            <a:prstGeom prst="rect">
              <a:avLst/>
            </a:prstGeom>
          </p:spPr>
          <p:txBody>
            <a:bodyPr anchor="t" rtlCol="false" tIns="0" lIns="0" bIns="0" rIns="0">
              <a:spAutoFit/>
            </a:bodyPr>
            <a:lstStyle/>
            <a:p>
              <a:pPr algn="l">
                <a:lnSpc>
                  <a:spcPts val="2925"/>
                </a:lnSpc>
              </a:pPr>
              <a:r>
                <a:rPr lang="en-US" sz="1950" b="true">
                  <a:solidFill>
                    <a:srgbClr val="387F7F"/>
                  </a:solidFill>
                  <a:latin typeface="Poppins Bold"/>
                  <a:ea typeface="Poppins Bold"/>
                  <a:cs typeface="Poppins Bold"/>
                  <a:sym typeface="Poppins Bold"/>
                </a:rPr>
                <a:t>Human review:  </a:t>
              </a:r>
              <a:r>
                <a:rPr lang="en-US" sz="1950">
                  <a:solidFill>
                    <a:srgbClr val="0A1A23"/>
                  </a:solidFill>
                  <a:latin typeface="Poppins"/>
                  <a:ea typeface="Poppins"/>
                  <a:cs typeface="Poppins"/>
                  <a:sym typeface="Poppins"/>
                </a:rPr>
                <a:t>Sales and Profit and Region are real column names in df.columns. Sales &gt; 100000 matches what "high value" means here. Grouping by Region matches the question, not Branch.</a:t>
              </a:r>
            </a:p>
          </p:txBody>
        </p:sp>
        <p:grpSp>
          <p:nvGrpSpPr>
            <p:cNvPr name="Group 13" id="13"/>
            <p:cNvGrpSpPr/>
            <p:nvPr/>
          </p:nvGrpSpPr>
          <p:grpSpPr>
            <a:xfrm rot="0">
              <a:off x="10743121" y="0"/>
              <a:ext cx="10492030" cy="3108960"/>
              <a:chOff x="0" y="0"/>
              <a:chExt cx="10492030" cy="3108960"/>
            </a:xfrm>
          </p:grpSpPr>
          <p:sp>
            <p:nvSpPr>
              <p:cNvPr name="Freeform 14" id="14"/>
              <p:cNvSpPr/>
              <p:nvPr/>
            </p:nvSpPr>
            <p:spPr>
              <a:xfrm flipH="false" flipV="false" rot="0">
                <a:off x="0" y="0"/>
                <a:ext cx="10492030" cy="3108960"/>
              </a:xfrm>
              <a:custGeom>
                <a:avLst/>
                <a:gdLst/>
                <a:ahLst/>
                <a:cxnLst/>
                <a:rect r="r" b="b" t="t" l="l"/>
                <a:pathLst>
                  <a:path h="3108960" w="10492030">
                    <a:moveTo>
                      <a:pt x="0" y="146304"/>
                    </a:moveTo>
                    <a:cubicBezTo>
                      <a:pt x="0" y="65532"/>
                      <a:pt x="64267" y="0"/>
                      <a:pt x="143481" y="0"/>
                    </a:cubicBezTo>
                    <a:lnTo>
                      <a:pt x="10348549" y="0"/>
                    </a:lnTo>
                    <a:cubicBezTo>
                      <a:pt x="10427762" y="0"/>
                      <a:pt x="10492030" y="65532"/>
                      <a:pt x="10492030" y="146304"/>
                    </a:cubicBezTo>
                    <a:lnTo>
                      <a:pt x="10492030" y="2962656"/>
                    </a:lnTo>
                    <a:cubicBezTo>
                      <a:pt x="10492030" y="3043428"/>
                      <a:pt x="10427762" y="3108960"/>
                      <a:pt x="10348549" y="3108960"/>
                    </a:cubicBezTo>
                    <a:lnTo>
                      <a:pt x="143481" y="3108960"/>
                    </a:lnTo>
                    <a:cubicBezTo>
                      <a:pt x="64267" y="3108960"/>
                      <a:pt x="0" y="3043428"/>
                      <a:pt x="0" y="2962656"/>
                    </a:cubicBezTo>
                    <a:close/>
                  </a:path>
                </a:pathLst>
              </a:custGeom>
              <a:solidFill>
                <a:srgbClr val="0A1A23"/>
              </a:solidFill>
            </p:spPr>
          </p:sp>
        </p:grpSp>
        <p:grpSp>
          <p:nvGrpSpPr>
            <p:cNvPr name="Group 15" id="15"/>
            <p:cNvGrpSpPr/>
            <p:nvPr/>
          </p:nvGrpSpPr>
          <p:grpSpPr>
            <a:xfrm rot="0">
              <a:off x="11137693" y="365760"/>
              <a:ext cx="233156" cy="237744"/>
              <a:chOff x="0" y="0"/>
              <a:chExt cx="233156" cy="237744"/>
            </a:xfrm>
          </p:grpSpPr>
          <p:sp>
            <p:nvSpPr>
              <p:cNvPr name="Freeform 16" id="16"/>
              <p:cNvSpPr/>
              <p:nvPr/>
            </p:nvSpPr>
            <p:spPr>
              <a:xfrm flipH="false" flipV="false" rot="0">
                <a:off x="0" y="0"/>
                <a:ext cx="233156" cy="237744"/>
              </a:xfrm>
              <a:custGeom>
                <a:avLst/>
                <a:gdLst/>
                <a:ahLst/>
                <a:cxnLst/>
                <a:rect r="r" b="b" t="t" l="l"/>
                <a:pathLst>
                  <a:path h="237744" w="233156">
                    <a:moveTo>
                      <a:pt x="0" y="118872"/>
                    </a:moveTo>
                    <a:cubicBezTo>
                      <a:pt x="0" y="53213"/>
                      <a:pt x="52186" y="0"/>
                      <a:pt x="116578" y="0"/>
                    </a:cubicBezTo>
                    <a:cubicBezTo>
                      <a:pt x="180970" y="0"/>
                      <a:pt x="233156" y="53213"/>
                      <a:pt x="233156" y="118872"/>
                    </a:cubicBezTo>
                    <a:cubicBezTo>
                      <a:pt x="233156" y="184531"/>
                      <a:pt x="180970" y="237744"/>
                      <a:pt x="116578" y="237744"/>
                    </a:cubicBezTo>
                    <a:cubicBezTo>
                      <a:pt x="52186" y="237744"/>
                      <a:pt x="0" y="184531"/>
                      <a:pt x="0" y="118872"/>
                    </a:cubicBezTo>
                    <a:close/>
                  </a:path>
                </a:pathLst>
              </a:custGeom>
              <a:solidFill>
                <a:srgbClr val="E74C3C"/>
              </a:solidFill>
            </p:spPr>
          </p:sp>
        </p:grpSp>
        <p:grpSp>
          <p:nvGrpSpPr>
            <p:cNvPr name="Group 17" id="17"/>
            <p:cNvGrpSpPr/>
            <p:nvPr/>
          </p:nvGrpSpPr>
          <p:grpSpPr>
            <a:xfrm rot="0">
              <a:off x="11568135" y="365760"/>
              <a:ext cx="233156" cy="237744"/>
              <a:chOff x="0" y="0"/>
              <a:chExt cx="233156" cy="237744"/>
            </a:xfrm>
          </p:grpSpPr>
          <p:sp>
            <p:nvSpPr>
              <p:cNvPr name="Freeform 18" id="18"/>
              <p:cNvSpPr/>
              <p:nvPr/>
            </p:nvSpPr>
            <p:spPr>
              <a:xfrm flipH="false" flipV="false" rot="0">
                <a:off x="0" y="0"/>
                <a:ext cx="233156" cy="237744"/>
              </a:xfrm>
              <a:custGeom>
                <a:avLst/>
                <a:gdLst/>
                <a:ahLst/>
                <a:cxnLst/>
                <a:rect r="r" b="b" t="t" l="l"/>
                <a:pathLst>
                  <a:path h="237744" w="233156">
                    <a:moveTo>
                      <a:pt x="0" y="118872"/>
                    </a:moveTo>
                    <a:cubicBezTo>
                      <a:pt x="0" y="53213"/>
                      <a:pt x="52186" y="0"/>
                      <a:pt x="116578" y="0"/>
                    </a:cubicBezTo>
                    <a:cubicBezTo>
                      <a:pt x="180970" y="0"/>
                      <a:pt x="233156" y="53213"/>
                      <a:pt x="233156" y="118872"/>
                    </a:cubicBezTo>
                    <a:cubicBezTo>
                      <a:pt x="233156" y="184531"/>
                      <a:pt x="180970" y="237744"/>
                      <a:pt x="116578" y="237744"/>
                    </a:cubicBezTo>
                    <a:cubicBezTo>
                      <a:pt x="52186" y="237744"/>
                      <a:pt x="0" y="184531"/>
                      <a:pt x="0" y="118872"/>
                    </a:cubicBezTo>
                    <a:close/>
                  </a:path>
                </a:pathLst>
              </a:custGeom>
              <a:solidFill>
                <a:srgbClr val="E8B93F"/>
              </a:solidFill>
            </p:spPr>
          </p:sp>
        </p:grpSp>
        <p:grpSp>
          <p:nvGrpSpPr>
            <p:cNvPr name="Group 19" id="19"/>
            <p:cNvGrpSpPr/>
            <p:nvPr/>
          </p:nvGrpSpPr>
          <p:grpSpPr>
            <a:xfrm rot="0">
              <a:off x="11998578" y="365760"/>
              <a:ext cx="233156" cy="237744"/>
              <a:chOff x="0" y="0"/>
              <a:chExt cx="233156" cy="237744"/>
            </a:xfrm>
          </p:grpSpPr>
          <p:sp>
            <p:nvSpPr>
              <p:cNvPr name="Freeform 20" id="20"/>
              <p:cNvSpPr/>
              <p:nvPr/>
            </p:nvSpPr>
            <p:spPr>
              <a:xfrm flipH="false" flipV="false" rot="0">
                <a:off x="0" y="0"/>
                <a:ext cx="233156" cy="237744"/>
              </a:xfrm>
              <a:custGeom>
                <a:avLst/>
                <a:gdLst/>
                <a:ahLst/>
                <a:cxnLst/>
                <a:rect r="r" b="b" t="t" l="l"/>
                <a:pathLst>
                  <a:path h="237744" w="233156">
                    <a:moveTo>
                      <a:pt x="0" y="118872"/>
                    </a:moveTo>
                    <a:cubicBezTo>
                      <a:pt x="0" y="53213"/>
                      <a:pt x="52186" y="0"/>
                      <a:pt x="116578" y="0"/>
                    </a:cubicBezTo>
                    <a:cubicBezTo>
                      <a:pt x="180970" y="0"/>
                      <a:pt x="233156" y="53213"/>
                      <a:pt x="233156" y="118872"/>
                    </a:cubicBezTo>
                    <a:cubicBezTo>
                      <a:pt x="233156" y="184531"/>
                      <a:pt x="180970" y="237744"/>
                      <a:pt x="116578" y="237744"/>
                    </a:cubicBezTo>
                    <a:cubicBezTo>
                      <a:pt x="52186" y="237744"/>
                      <a:pt x="0" y="184531"/>
                      <a:pt x="0" y="118872"/>
                    </a:cubicBezTo>
                    <a:close/>
                  </a:path>
                </a:pathLst>
              </a:custGeom>
              <a:solidFill>
                <a:srgbClr val="3FA76B"/>
              </a:solidFill>
            </p:spPr>
          </p:sp>
        </p:grpSp>
        <p:grpSp>
          <p:nvGrpSpPr>
            <p:cNvPr name="Group 21" id="21"/>
            <p:cNvGrpSpPr/>
            <p:nvPr/>
          </p:nvGrpSpPr>
          <p:grpSpPr>
            <a:xfrm rot="0">
              <a:off x="11245304" y="292608"/>
              <a:ext cx="9487665" cy="498348"/>
              <a:chOff x="0" y="0"/>
              <a:chExt cx="9487665" cy="498348"/>
            </a:xfrm>
          </p:grpSpPr>
          <p:sp>
            <p:nvSpPr>
              <p:cNvPr name="Freeform 22" id="22"/>
              <p:cNvSpPr/>
              <p:nvPr/>
            </p:nvSpPr>
            <p:spPr>
              <a:xfrm flipH="false" flipV="false" rot="0">
                <a:off x="0" y="0"/>
                <a:ext cx="9487664" cy="498348"/>
              </a:xfrm>
              <a:custGeom>
                <a:avLst/>
                <a:gdLst/>
                <a:ahLst/>
                <a:cxnLst/>
                <a:rect r="r" b="b" t="t" l="l"/>
                <a:pathLst>
                  <a:path h="498348" w="9487664">
                    <a:moveTo>
                      <a:pt x="0" y="0"/>
                    </a:moveTo>
                    <a:lnTo>
                      <a:pt x="9487664" y="0"/>
                    </a:lnTo>
                    <a:lnTo>
                      <a:pt x="9487664" y="498348"/>
                    </a:lnTo>
                    <a:lnTo>
                      <a:pt x="0" y="498348"/>
                    </a:lnTo>
                    <a:close/>
                  </a:path>
                </a:pathLst>
              </a:custGeom>
              <a:blipFill>
                <a:blip r:embed="rId6">
                  <a:alphaModFix amt="0"/>
                </a:blip>
                <a:stretch>
                  <a:fillRect l="0" t="-332388" r="-1967" b="-324131"/>
                </a:stretch>
              </a:blipFill>
            </p:spPr>
          </p:sp>
          <p:sp>
            <p:nvSpPr>
              <p:cNvPr name="TextBox 23" id="23"/>
              <p:cNvSpPr txBox="true"/>
              <p:nvPr/>
            </p:nvSpPr>
            <p:spPr>
              <a:xfrm>
                <a:off x="0" y="-19050"/>
                <a:ext cx="9487665" cy="517398"/>
              </a:xfrm>
              <a:prstGeom prst="rect">
                <a:avLst/>
              </a:prstGeom>
            </p:spPr>
            <p:txBody>
              <a:bodyPr anchor="ctr" rtlCol="false" tIns="0" lIns="0" bIns="0" rIns="0"/>
              <a:lstStyle/>
              <a:p>
                <a:pPr algn="r">
                  <a:lnSpc>
                    <a:spcPts val="1800"/>
                  </a:lnSpc>
                </a:pPr>
                <a:r>
                  <a:rPr lang="en-US" sz="1500">
                    <a:solidFill>
                      <a:srgbClr val="8FA3A5"/>
                    </a:solidFill>
                    <a:latin typeface="Poppins"/>
                    <a:ea typeface="Poppins"/>
                    <a:cs typeface="Poppins"/>
                    <a:sym typeface="Poppins"/>
                  </a:rPr>
                  <a:t>AI-generated</a:t>
                </a:r>
              </a:p>
            </p:txBody>
          </p:sp>
        </p:grpSp>
        <p:sp>
          <p:nvSpPr>
            <p:cNvPr name="TextBox 24" id="24"/>
            <p:cNvSpPr txBox="true"/>
            <p:nvPr/>
          </p:nvSpPr>
          <p:spPr>
            <a:xfrm rot="0">
              <a:off x="11245304" y="838200"/>
              <a:ext cx="9487665" cy="1860550"/>
            </a:xfrm>
            <a:prstGeom prst="rect">
              <a:avLst/>
            </a:prstGeom>
          </p:spPr>
          <p:txBody>
            <a:bodyPr anchor="t" rtlCol="false" tIns="0" lIns="0" bIns="0" rIns="0">
              <a:spAutoFit/>
            </a:bodyPr>
            <a:lstStyle/>
            <a:p>
              <a:pPr algn="l">
                <a:lnSpc>
                  <a:spcPts val="2812"/>
                </a:lnSpc>
              </a:pPr>
              <a:r>
                <a:rPr lang="en-US" sz="1875">
                  <a:solidFill>
                    <a:srgbClr val="E4F1EF"/>
                  </a:solidFill>
                  <a:latin typeface="Poppins"/>
                  <a:ea typeface="Poppins"/>
                  <a:cs typeface="Poppins"/>
                  <a:sym typeface="Poppins"/>
                </a:rPr>
                <a:t>high_value = df[df["Sales"] &gt; 100000]</a:t>
              </a:r>
            </a:p>
            <a:p>
              <a:pPr algn="l">
                <a:lnSpc>
                  <a:spcPts val="2812"/>
                </a:lnSpc>
              </a:pPr>
              <a:r>
                <a:rPr lang="en-US" sz="1875">
                  <a:solidFill>
                    <a:srgbClr val="E4F1EF"/>
                  </a:solidFill>
                  <a:latin typeface="Poppins"/>
                  <a:ea typeface="Poppins"/>
                  <a:cs typeface="Poppins"/>
                  <a:sym typeface="Poppins"/>
                </a:rPr>
                <a:t>result = high_value.groupby("Region")</a:t>
              </a:r>
            </a:p>
            <a:p>
              <a:pPr algn="l">
                <a:lnSpc>
                  <a:spcPts val="2812"/>
                </a:lnSpc>
              </a:pPr>
              <a:r>
                <a:rPr lang="en-US" sz="1875">
                  <a:solidFill>
                    <a:srgbClr val="E4F1EF"/>
                  </a:solidFill>
                  <a:latin typeface="Poppins"/>
                  <a:ea typeface="Poppins"/>
                  <a:cs typeface="Poppins"/>
                  <a:sym typeface="Poppins"/>
                </a:rPr>
                <a:t>    [["Sales","Profit"]].sum()</a:t>
              </a:r>
            </a:p>
            <a:p>
              <a:pPr algn="l">
                <a:lnSpc>
                  <a:spcPts val="2812"/>
                </a:lnSpc>
              </a:pPr>
              <a:r>
                <a:rPr lang="en-US" sz="1875">
                  <a:solidFill>
                    <a:srgbClr val="E4F1EF"/>
                  </a:solidFill>
                  <a:latin typeface="Poppins"/>
                  <a:ea typeface="Poppins"/>
                  <a:cs typeface="Poppins"/>
                  <a:sym typeface="Poppins"/>
                </a:rPr>
                <a:t>result</a:t>
              </a:r>
            </a:p>
          </p:txBody>
        </p:sp>
        <p:grpSp>
          <p:nvGrpSpPr>
            <p:cNvPr name="Group 25" id="25"/>
            <p:cNvGrpSpPr/>
            <p:nvPr/>
          </p:nvGrpSpPr>
          <p:grpSpPr>
            <a:xfrm rot="0">
              <a:off x="10727552" y="3367405"/>
              <a:ext cx="10523167" cy="2592070"/>
              <a:chOff x="0" y="0"/>
              <a:chExt cx="10523167" cy="2592070"/>
            </a:xfrm>
          </p:grpSpPr>
          <p:sp>
            <p:nvSpPr>
              <p:cNvPr name="Freeform 26" id="26"/>
              <p:cNvSpPr/>
              <p:nvPr/>
            </p:nvSpPr>
            <p:spPr>
              <a:xfrm flipH="false" flipV="false" rot="0">
                <a:off x="0" y="0"/>
                <a:ext cx="10523168" cy="2592070"/>
              </a:xfrm>
              <a:custGeom>
                <a:avLst/>
                <a:gdLst/>
                <a:ahLst/>
                <a:cxnLst/>
                <a:rect r="r" b="b" t="t" l="l"/>
                <a:pathLst>
                  <a:path h="2592070" w="10523168">
                    <a:moveTo>
                      <a:pt x="0" y="111125"/>
                    </a:moveTo>
                    <a:cubicBezTo>
                      <a:pt x="0" y="49784"/>
                      <a:pt x="48823" y="0"/>
                      <a:pt x="108981" y="0"/>
                    </a:cubicBezTo>
                    <a:lnTo>
                      <a:pt x="10414187" y="0"/>
                    </a:lnTo>
                    <a:cubicBezTo>
                      <a:pt x="10474344" y="0"/>
                      <a:pt x="10523168" y="49784"/>
                      <a:pt x="10523168" y="111125"/>
                    </a:cubicBezTo>
                    <a:lnTo>
                      <a:pt x="10523168" y="2480945"/>
                    </a:lnTo>
                    <a:cubicBezTo>
                      <a:pt x="10523168" y="2542286"/>
                      <a:pt x="10474344" y="2592070"/>
                      <a:pt x="10414187" y="2592070"/>
                    </a:cubicBezTo>
                    <a:lnTo>
                      <a:pt x="108981" y="2592070"/>
                    </a:lnTo>
                    <a:cubicBezTo>
                      <a:pt x="48823" y="2592070"/>
                      <a:pt x="0" y="2542286"/>
                      <a:pt x="0" y="2480945"/>
                    </a:cubicBezTo>
                    <a:close/>
                  </a:path>
                </a:pathLst>
              </a:custGeom>
              <a:solidFill>
                <a:srgbClr val="FFFFFF"/>
              </a:solidFill>
              <a:ln w="23812" cap="sq">
                <a:solidFill>
                  <a:srgbClr val="387F7F"/>
                </a:solidFill>
                <a:prstDash val="solid"/>
                <a:miter/>
              </a:ln>
            </p:spPr>
          </p:sp>
        </p:grpSp>
        <p:grpSp>
          <p:nvGrpSpPr>
            <p:cNvPr name="Group 27" id="27"/>
            <p:cNvGrpSpPr/>
            <p:nvPr/>
          </p:nvGrpSpPr>
          <p:grpSpPr>
            <a:xfrm rot="0">
              <a:off x="11137693" y="3602736"/>
              <a:ext cx="9774626" cy="498348"/>
              <a:chOff x="0" y="0"/>
              <a:chExt cx="9774626" cy="498348"/>
            </a:xfrm>
          </p:grpSpPr>
          <p:sp>
            <p:nvSpPr>
              <p:cNvPr name="Freeform 28" id="28"/>
              <p:cNvSpPr/>
              <p:nvPr/>
            </p:nvSpPr>
            <p:spPr>
              <a:xfrm flipH="false" flipV="false" rot="0">
                <a:off x="0" y="0"/>
                <a:ext cx="9774626" cy="498348"/>
              </a:xfrm>
              <a:custGeom>
                <a:avLst/>
                <a:gdLst/>
                <a:ahLst/>
                <a:cxnLst/>
                <a:rect r="r" b="b" t="t" l="l"/>
                <a:pathLst>
                  <a:path h="498348" w="9774626">
                    <a:moveTo>
                      <a:pt x="0" y="0"/>
                    </a:moveTo>
                    <a:lnTo>
                      <a:pt x="9774626" y="0"/>
                    </a:lnTo>
                    <a:lnTo>
                      <a:pt x="9774626" y="498348"/>
                    </a:lnTo>
                    <a:lnTo>
                      <a:pt x="0" y="498348"/>
                    </a:lnTo>
                    <a:close/>
                  </a:path>
                </a:pathLst>
              </a:custGeom>
              <a:blipFill>
                <a:blip r:embed="rId6">
                  <a:alphaModFix amt="0"/>
                </a:blip>
                <a:stretch>
                  <a:fillRect l="0" t="-345664" r="-1967" b="-333737"/>
                </a:stretch>
              </a:blipFill>
            </p:spPr>
          </p:sp>
          <p:sp>
            <p:nvSpPr>
              <p:cNvPr name="TextBox 29" id="29"/>
              <p:cNvSpPr txBox="true"/>
              <p:nvPr/>
            </p:nvSpPr>
            <p:spPr>
              <a:xfrm>
                <a:off x="0" y="-19050"/>
                <a:ext cx="9774626" cy="517398"/>
              </a:xfrm>
              <a:prstGeom prst="rect">
                <a:avLst/>
              </a:prstGeom>
            </p:spPr>
            <p:txBody>
              <a:bodyPr anchor="ctr" rtlCol="false" tIns="0" lIns="0" bIns="0" rIns="0"/>
              <a:lstStyle/>
              <a:p>
                <a:pPr algn="l">
                  <a:lnSpc>
                    <a:spcPts val="1800"/>
                  </a:lnSpc>
                </a:pPr>
                <a:r>
                  <a:rPr lang="en-US" b="true" sz="1500" spc="150">
                    <a:solidFill>
                      <a:srgbClr val="387F7F"/>
                    </a:solidFill>
                    <a:latin typeface="Poppins Bold"/>
                    <a:ea typeface="Poppins Bold"/>
                    <a:cs typeface="Poppins Bold"/>
                    <a:sym typeface="Poppins Bold"/>
                  </a:rPr>
                  <a:t>OUTPUT</a:t>
                </a:r>
              </a:p>
            </p:txBody>
          </p:sp>
        </p:grpSp>
        <p:sp>
          <p:nvSpPr>
            <p:cNvPr name="TextBox 30" id="30"/>
            <p:cNvSpPr txBox="true"/>
            <p:nvPr/>
          </p:nvSpPr>
          <p:spPr>
            <a:xfrm rot="0">
              <a:off x="11137693" y="3984498"/>
              <a:ext cx="9702886" cy="1711198"/>
            </a:xfrm>
            <a:prstGeom prst="rect">
              <a:avLst/>
            </a:prstGeom>
          </p:spPr>
          <p:txBody>
            <a:bodyPr anchor="t" rtlCol="false" tIns="0" lIns="0" bIns="0" rIns="0">
              <a:spAutoFit/>
            </a:bodyPr>
            <a:lstStyle/>
            <a:p>
              <a:pPr algn="l">
                <a:lnSpc>
                  <a:spcPts val="2592"/>
                </a:lnSpc>
              </a:pPr>
              <a:r>
                <a:rPr lang="en-US" sz="1800">
                  <a:solidFill>
                    <a:srgbClr val="0A1A23"/>
                  </a:solidFill>
                  <a:latin typeface="Poppins"/>
                  <a:ea typeface="Poppins"/>
                  <a:cs typeface="Poppins"/>
                  <a:sym typeface="Poppins"/>
                </a:rPr>
                <a:t>Region              Sales  Profit</a:t>
              </a:r>
            </a:p>
            <a:p>
              <a:pPr algn="l">
                <a:lnSpc>
                  <a:spcPts val="2592"/>
                </a:lnSpc>
              </a:pPr>
              <a:r>
                <a:rPr lang="en-US" sz="1800">
                  <a:solidFill>
                    <a:srgbClr val="0A1A23"/>
                  </a:solidFill>
                  <a:latin typeface="Poppins"/>
                  <a:ea typeface="Poppins"/>
                  <a:cs typeface="Poppins"/>
                  <a:sym typeface="Poppins"/>
                </a:rPr>
                <a:t>North Central      399000   59850</a:t>
              </a:r>
            </a:p>
            <a:p>
              <a:pPr algn="l">
                <a:lnSpc>
                  <a:spcPts val="2592"/>
                </a:lnSpc>
              </a:pPr>
              <a:r>
                <a:rPr lang="en-US" sz="1800">
                  <a:solidFill>
                    <a:srgbClr val="0A1A23"/>
                  </a:solidFill>
                  <a:latin typeface="Poppins"/>
                  <a:ea typeface="Poppins"/>
                  <a:cs typeface="Poppins"/>
                  <a:sym typeface="Poppins"/>
                </a:rPr>
                <a:t>North West         345000   51750</a:t>
              </a:r>
            </a:p>
            <a:p>
              <a:pPr algn="l">
                <a:lnSpc>
                  <a:spcPts val="2592"/>
                </a:lnSpc>
              </a:pPr>
              <a:r>
                <a:rPr lang="en-US" sz="1800">
                  <a:solidFill>
                    <a:srgbClr val="0A1A23"/>
                  </a:solidFill>
                  <a:latin typeface="Poppins"/>
                  <a:ea typeface="Poppins"/>
                  <a:cs typeface="Poppins"/>
                  <a:sym typeface="Poppins"/>
                </a:rPr>
                <a:t>South West         711000  106650</a:t>
              </a:r>
            </a:p>
          </p:txBody>
        </p:sp>
        <p:grpSp>
          <p:nvGrpSpPr>
            <p:cNvPr name="Group 31" id="31"/>
            <p:cNvGrpSpPr/>
            <p:nvPr/>
          </p:nvGrpSpPr>
          <p:grpSpPr>
            <a:xfrm rot="0">
              <a:off x="35870" y="9956897"/>
              <a:ext cx="20679163" cy="669823"/>
              <a:chOff x="0" y="0"/>
              <a:chExt cx="20679163" cy="669823"/>
            </a:xfrm>
          </p:grpSpPr>
          <p:sp>
            <p:nvSpPr>
              <p:cNvPr name="Freeform 32" id="32"/>
              <p:cNvSpPr/>
              <p:nvPr/>
            </p:nvSpPr>
            <p:spPr>
              <a:xfrm flipH="false" flipV="false" rot="0">
                <a:off x="0" y="0"/>
                <a:ext cx="20679164" cy="669823"/>
              </a:xfrm>
              <a:custGeom>
                <a:avLst/>
                <a:gdLst/>
                <a:ahLst/>
                <a:cxnLst/>
                <a:rect r="r" b="b" t="t" l="l"/>
                <a:pathLst>
                  <a:path h="669823" w="20679164">
                    <a:moveTo>
                      <a:pt x="0" y="0"/>
                    </a:moveTo>
                    <a:lnTo>
                      <a:pt x="20679164" y="0"/>
                    </a:lnTo>
                    <a:lnTo>
                      <a:pt x="20679164" y="669823"/>
                    </a:lnTo>
                    <a:lnTo>
                      <a:pt x="0" y="669823"/>
                    </a:lnTo>
                    <a:close/>
                  </a:path>
                </a:pathLst>
              </a:custGeom>
              <a:blipFill>
                <a:blip r:embed="rId6">
                  <a:alphaModFix amt="0"/>
                </a:blip>
                <a:stretch>
                  <a:fillRect l="0" t="-572435" r="-1967" b="-554343"/>
                </a:stretch>
              </a:blipFill>
            </p:spPr>
          </p:sp>
          <p:sp>
            <p:nvSpPr>
              <p:cNvPr name="TextBox 33" id="33"/>
              <p:cNvSpPr txBox="true"/>
              <p:nvPr/>
            </p:nvSpPr>
            <p:spPr>
              <a:xfrm>
                <a:off x="0" y="-57150"/>
                <a:ext cx="20679163" cy="726973"/>
              </a:xfrm>
              <a:prstGeom prst="rect">
                <a:avLst/>
              </a:prstGeom>
            </p:spPr>
            <p:txBody>
              <a:bodyPr anchor="ctr" rtlCol="false" tIns="0" lIns="0" bIns="0" rIns="0"/>
              <a:lstStyle/>
              <a:p>
                <a:pPr algn="l">
                  <a:lnSpc>
                    <a:spcPts val="2867"/>
                  </a:lnSpc>
                </a:pPr>
                <a:r>
                  <a:rPr lang="en-US" sz="2025" i="true">
                    <a:solidFill>
                      <a:srgbClr val="0A1A23"/>
                    </a:solidFill>
                    <a:latin typeface="Poppins Italics"/>
                    <a:ea typeface="Poppins Italics"/>
                    <a:cs typeface="Poppins Italics"/>
                    <a:sym typeface="Poppins Italics"/>
                  </a:rPr>
                  <a:t>The code is only "final" after it's read and checked against the question, not the moment it runs without an error.</a:t>
                </a:r>
              </a:p>
            </p:txBody>
          </p:sp>
        </p:grpSp>
      </p:grpSp>
      <p:grpSp>
        <p:nvGrpSpPr>
          <p:cNvPr name="Group 34" id="34"/>
          <p:cNvGrpSpPr/>
          <p:nvPr/>
        </p:nvGrpSpPr>
        <p:grpSpPr>
          <a:xfrm rot="0">
            <a:off x="1207008" y="753429"/>
            <a:ext cx="12509728" cy="1236342"/>
            <a:chOff x="0" y="0"/>
            <a:chExt cx="16679637" cy="1648455"/>
          </a:xfrm>
        </p:grpSpPr>
        <p:sp>
          <p:nvSpPr>
            <p:cNvPr name="Freeform 35" id="35"/>
            <p:cNvSpPr/>
            <p:nvPr/>
          </p:nvSpPr>
          <p:spPr>
            <a:xfrm flipH="false" flipV="false" rot="0">
              <a:off x="0" y="0"/>
              <a:ext cx="16679636" cy="1648455"/>
            </a:xfrm>
            <a:custGeom>
              <a:avLst/>
              <a:gdLst/>
              <a:ahLst/>
              <a:cxnLst/>
              <a:rect r="r" b="b" t="t" l="l"/>
              <a:pathLst>
                <a:path h="1648455" w="16679636">
                  <a:moveTo>
                    <a:pt x="0" y="0"/>
                  </a:moveTo>
                  <a:lnTo>
                    <a:pt x="16679636" y="0"/>
                  </a:lnTo>
                  <a:lnTo>
                    <a:pt x="16679636" y="1648455"/>
                  </a:lnTo>
                  <a:lnTo>
                    <a:pt x="0" y="1648455"/>
                  </a:lnTo>
                  <a:close/>
                </a:path>
              </a:pathLst>
            </a:custGeom>
            <a:blipFill>
              <a:blip r:embed="rId6">
                <a:alphaModFix amt="0"/>
              </a:blip>
              <a:stretch>
                <a:fillRect l="0" t="-164980" r="-1967" b="-137091"/>
              </a:stretch>
            </a:blipFill>
          </p:spPr>
        </p:sp>
        <p:sp>
          <p:nvSpPr>
            <p:cNvPr name="TextBox 36" id="36"/>
            <p:cNvSpPr txBox="true"/>
            <p:nvPr/>
          </p:nvSpPr>
          <p:spPr>
            <a:xfrm>
              <a:off x="0" y="-38100"/>
              <a:ext cx="16679637" cy="1686555"/>
            </a:xfrm>
            <a:prstGeom prst="rect">
              <a:avLst/>
            </a:prstGeom>
          </p:spPr>
          <p:txBody>
            <a:bodyPr anchor="ctr" rtlCol="false" tIns="0" lIns="0" bIns="0" rIns="0"/>
            <a:lstStyle/>
            <a:p>
              <a:pPr algn="l">
                <a:lnSpc>
                  <a:spcPts val="5999"/>
                </a:lnSpc>
              </a:pPr>
              <a:r>
                <a:rPr lang="en-US" sz="4999">
                  <a:solidFill>
                    <a:srgbClr val="388080"/>
                  </a:solidFill>
                  <a:latin typeface="Poppins"/>
                  <a:ea typeface="Poppins"/>
                  <a:cs typeface="Poppins"/>
                  <a:sym typeface="Poppins"/>
                </a:rPr>
                <a:t>Prompting AI for pandas</a:t>
              </a:r>
            </a:p>
          </p:txBody>
        </p:sp>
      </p:grpSp>
      <p:grpSp>
        <p:nvGrpSpPr>
          <p:cNvPr name="Group 37" id="37"/>
          <p:cNvGrpSpPr/>
          <p:nvPr/>
        </p:nvGrpSpPr>
        <p:grpSpPr>
          <a:xfrm rot="0">
            <a:off x="857250" y="857250"/>
            <a:ext cx="114300" cy="1028700"/>
            <a:chOff x="0" y="0"/>
            <a:chExt cx="152400" cy="1371600"/>
          </a:xfrm>
        </p:grpSpPr>
        <p:sp>
          <p:nvSpPr>
            <p:cNvPr name="Freeform 38" id="38"/>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6497824" y="8924125"/>
            <a:ext cx="647224" cy="571500"/>
            <a:chOff x="0" y="0"/>
            <a:chExt cx="862965" cy="762000"/>
          </a:xfrm>
        </p:grpSpPr>
        <p:sp>
          <p:nvSpPr>
            <p:cNvPr name="Freeform 6" id="6"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5"/>
              <a:stretch>
                <a:fillRect l="-772" t="0" r="-772" b="0"/>
              </a:stretch>
            </a:blipFill>
          </p:spPr>
        </p:sp>
      </p:grpSp>
      <p:grpSp>
        <p:nvGrpSpPr>
          <p:cNvPr name="Group 7" id="7"/>
          <p:cNvGrpSpPr/>
          <p:nvPr/>
        </p:nvGrpSpPr>
        <p:grpSpPr>
          <a:xfrm rot="0">
            <a:off x="857250" y="857250"/>
            <a:ext cx="114300" cy="1028700"/>
            <a:chOff x="0" y="0"/>
            <a:chExt cx="152400" cy="1371600"/>
          </a:xfrm>
        </p:grpSpPr>
        <p:sp>
          <p:nvSpPr>
            <p:cNvPr name="Freeform 8" id="8"/>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grpSp>
        <p:nvGrpSpPr>
          <p:cNvPr name="Group 9" id="9"/>
          <p:cNvGrpSpPr/>
          <p:nvPr/>
        </p:nvGrpSpPr>
        <p:grpSpPr>
          <a:xfrm rot="0">
            <a:off x="914400" y="2384108"/>
            <a:ext cx="16230648" cy="6402857"/>
            <a:chOff x="0" y="0"/>
            <a:chExt cx="21640864" cy="8537143"/>
          </a:xfrm>
        </p:grpSpPr>
        <p:grpSp>
          <p:nvGrpSpPr>
            <p:cNvPr name="Group 10" id="10"/>
            <p:cNvGrpSpPr/>
            <p:nvPr/>
          </p:nvGrpSpPr>
          <p:grpSpPr>
            <a:xfrm rot="0">
              <a:off x="0" y="0"/>
              <a:ext cx="20641780" cy="543103"/>
              <a:chOff x="0" y="0"/>
              <a:chExt cx="20641780" cy="543103"/>
            </a:xfrm>
          </p:grpSpPr>
          <p:sp>
            <p:nvSpPr>
              <p:cNvPr name="Freeform 11" id="11"/>
              <p:cNvSpPr/>
              <p:nvPr/>
            </p:nvSpPr>
            <p:spPr>
              <a:xfrm flipH="false" flipV="false" rot="0">
                <a:off x="0" y="0"/>
                <a:ext cx="20641779" cy="543103"/>
              </a:xfrm>
              <a:custGeom>
                <a:avLst/>
                <a:gdLst/>
                <a:ahLst/>
                <a:cxnLst/>
                <a:rect r="r" b="b" t="t" l="l"/>
                <a:pathLst>
                  <a:path h="543103" w="20641779">
                    <a:moveTo>
                      <a:pt x="0" y="0"/>
                    </a:moveTo>
                    <a:lnTo>
                      <a:pt x="20641779" y="0"/>
                    </a:lnTo>
                    <a:lnTo>
                      <a:pt x="20641779" y="543103"/>
                    </a:lnTo>
                    <a:lnTo>
                      <a:pt x="0" y="543103"/>
                    </a:lnTo>
                    <a:close/>
                  </a:path>
                </a:pathLst>
              </a:custGeom>
              <a:blipFill>
                <a:blip r:embed="rId6">
                  <a:alphaModFix amt="0"/>
                </a:blip>
                <a:stretch>
                  <a:fillRect l="0" t="-711992" r="-2506" b="-706277"/>
                </a:stretch>
              </a:blipFill>
            </p:spPr>
          </p:sp>
          <p:sp>
            <p:nvSpPr>
              <p:cNvPr name="TextBox 12" id="12"/>
              <p:cNvSpPr txBox="true"/>
              <p:nvPr/>
            </p:nvSpPr>
            <p:spPr>
              <a:xfrm>
                <a:off x="0" y="-9525"/>
                <a:ext cx="20641780" cy="552628"/>
              </a:xfrm>
              <a:prstGeom prst="rect">
                <a:avLst/>
              </a:prstGeom>
            </p:spPr>
            <p:txBody>
              <a:bodyPr anchor="ctr" rtlCol="false" tIns="0" lIns="0" bIns="0" rIns="0"/>
              <a:lstStyle/>
              <a:p>
                <a:pPr algn="l">
                  <a:lnSpc>
                    <a:spcPts val="1980"/>
                  </a:lnSpc>
                </a:pPr>
                <a:r>
                  <a:rPr lang="en-US" b="true" sz="1650" spc="74">
                    <a:solidFill>
                      <a:srgbClr val="387F7F"/>
                    </a:solidFill>
                    <a:latin typeface="Poppins Bold"/>
                    <a:ea typeface="Poppins Bold"/>
                    <a:cs typeface="Poppins Bold"/>
                    <a:sym typeface="Poppins Bold"/>
                  </a:rPr>
                  <a:t>PROMPT</a:t>
                </a:r>
              </a:p>
            </p:txBody>
          </p:sp>
        </p:grpSp>
        <p:sp>
          <p:nvSpPr>
            <p:cNvPr name="TextBox 13" id="13"/>
            <p:cNvSpPr txBox="true"/>
            <p:nvPr/>
          </p:nvSpPr>
          <p:spPr>
            <a:xfrm rot="0">
              <a:off x="0" y="466903"/>
              <a:ext cx="20641780" cy="967740"/>
            </a:xfrm>
            <a:prstGeom prst="rect">
              <a:avLst/>
            </a:prstGeom>
          </p:spPr>
          <p:txBody>
            <a:bodyPr anchor="t" rtlCol="false" tIns="0" lIns="0" bIns="0" rIns="0">
              <a:spAutoFit/>
            </a:bodyPr>
            <a:lstStyle/>
            <a:p>
              <a:pPr algn="l">
                <a:lnSpc>
                  <a:spcPts val="2925"/>
                </a:lnSpc>
              </a:pPr>
              <a:r>
                <a:rPr lang="en-US" sz="1950" i="true">
                  <a:solidFill>
                    <a:srgbClr val="0A1A23"/>
                  </a:solidFill>
                  <a:latin typeface="Poppins Italics"/>
                  <a:ea typeface="Poppins Italics"/>
                  <a:cs typeface="Poppins Italics"/>
                  <a:sym typeface="Poppins Italics"/>
                </a:rPr>
                <a:t>"Explain this pandas code line by line as if I am a beginner data analyst:" high_value = df[df["Sales"] &gt; 100000]  ·  result = high_value.groupby("Region")[["Sales","Profit"]].sum()</a:t>
              </a:r>
            </a:p>
          </p:txBody>
        </p:sp>
        <p:grpSp>
          <p:nvGrpSpPr>
            <p:cNvPr name="Group 14" id="14"/>
            <p:cNvGrpSpPr/>
            <p:nvPr/>
          </p:nvGrpSpPr>
          <p:grpSpPr>
            <a:xfrm rot="0">
              <a:off x="61301" y="2171243"/>
              <a:ext cx="20695302" cy="667690"/>
              <a:chOff x="0" y="0"/>
              <a:chExt cx="20695302" cy="667690"/>
            </a:xfrm>
          </p:grpSpPr>
          <p:sp>
            <p:nvSpPr>
              <p:cNvPr name="Freeform 15" id="15"/>
              <p:cNvSpPr/>
              <p:nvPr/>
            </p:nvSpPr>
            <p:spPr>
              <a:xfrm flipH="false" flipV="false" rot="0">
                <a:off x="0" y="0"/>
                <a:ext cx="20695303" cy="667690"/>
              </a:xfrm>
              <a:custGeom>
                <a:avLst/>
                <a:gdLst/>
                <a:ahLst/>
                <a:cxnLst/>
                <a:rect r="r" b="b" t="t" l="l"/>
                <a:pathLst>
                  <a:path h="667690" w="20695303">
                    <a:moveTo>
                      <a:pt x="0" y="0"/>
                    </a:moveTo>
                    <a:lnTo>
                      <a:pt x="20695303" y="0"/>
                    </a:lnTo>
                    <a:lnTo>
                      <a:pt x="20695303" y="667690"/>
                    </a:lnTo>
                    <a:lnTo>
                      <a:pt x="0" y="667690"/>
                    </a:lnTo>
                    <a:close/>
                  </a:path>
                </a:pathLst>
              </a:custGeom>
              <a:blipFill>
                <a:blip r:embed="rId6">
                  <a:alphaModFix amt="0"/>
                </a:blip>
                <a:stretch>
                  <a:fillRect l="0" t="-578000" r="-2506" b="-560170"/>
                </a:stretch>
              </a:blipFill>
            </p:spPr>
          </p:sp>
          <p:sp>
            <p:nvSpPr>
              <p:cNvPr name="TextBox 16" id="16"/>
              <p:cNvSpPr txBox="true"/>
              <p:nvPr/>
            </p:nvSpPr>
            <p:spPr>
              <a:xfrm>
                <a:off x="0" y="-19050"/>
                <a:ext cx="20695302" cy="686740"/>
              </a:xfrm>
              <a:prstGeom prst="rect">
                <a:avLst/>
              </a:prstGeom>
            </p:spPr>
            <p:txBody>
              <a:bodyPr anchor="ctr" rtlCol="false" tIns="0" lIns="0" bIns="0" rIns="0"/>
              <a:lstStyle/>
              <a:p>
                <a:pPr algn="l">
                  <a:lnSpc>
                    <a:spcPts val="2430"/>
                  </a:lnSpc>
                </a:pPr>
                <a:r>
                  <a:rPr lang="en-US" sz="2025" b="true">
                    <a:solidFill>
                      <a:srgbClr val="387F7F"/>
                    </a:solidFill>
                    <a:latin typeface="Poppins Bold"/>
                    <a:ea typeface="Poppins Bold"/>
                    <a:cs typeface="Poppins Bold"/>
                    <a:sym typeface="Poppins Bold"/>
                  </a:rPr>
                  <a:t>high_value = df[df["Sales"] &gt; 100000]</a:t>
                </a:r>
              </a:p>
            </p:txBody>
          </p:sp>
        </p:grpSp>
        <p:grpSp>
          <p:nvGrpSpPr>
            <p:cNvPr name="Group 17" id="17"/>
            <p:cNvGrpSpPr/>
            <p:nvPr/>
          </p:nvGrpSpPr>
          <p:grpSpPr>
            <a:xfrm rot="0">
              <a:off x="61301" y="2719883"/>
              <a:ext cx="20695302" cy="645312"/>
              <a:chOff x="0" y="0"/>
              <a:chExt cx="20695302" cy="645312"/>
            </a:xfrm>
          </p:grpSpPr>
          <p:sp>
            <p:nvSpPr>
              <p:cNvPr name="Freeform 18" id="18"/>
              <p:cNvSpPr/>
              <p:nvPr/>
            </p:nvSpPr>
            <p:spPr>
              <a:xfrm flipH="false" flipV="false" rot="0">
                <a:off x="0" y="0"/>
                <a:ext cx="20695303" cy="645312"/>
              </a:xfrm>
              <a:custGeom>
                <a:avLst/>
                <a:gdLst/>
                <a:ahLst/>
                <a:cxnLst/>
                <a:rect r="r" b="b" t="t" l="l"/>
                <a:pathLst>
                  <a:path h="645312" w="20695303">
                    <a:moveTo>
                      <a:pt x="0" y="0"/>
                    </a:moveTo>
                    <a:lnTo>
                      <a:pt x="20695303" y="0"/>
                    </a:lnTo>
                    <a:lnTo>
                      <a:pt x="20695303" y="645312"/>
                    </a:lnTo>
                    <a:lnTo>
                      <a:pt x="0" y="645312"/>
                    </a:lnTo>
                    <a:close/>
                  </a:path>
                </a:pathLst>
              </a:custGeom>
              <a:blipFill>
                <a:blip r:embed="rId6">
                  <a:alphaModFix amt="0"/>
                </a:blip>
                <a:stretch>
                  <a:fillRect l="0" t="-590958" r="-2506" b="-590148"/>
                </a:stretch>
              </a:blipFill>
            </p:spPr>
          </p:sp>
          <p:sp>
            <p:nvSpPr>
              <p:cNvPr name="TextBox 19" id="19"/>
              <p:cNvSpPr txBox="true"/>
              <p:nvPr/>
            </p:nvSpPr>
            <p:spPr>
              <a:xfrm>
                <a:off x="0" y="-19050"/>
                <a:ext cx="20695302" cy="664362"/>
              </a:xfrm>
              <a:prstGeom prst="rect">
                <a:avLst/>
              </a:prstGeom>
            </p:spPr>
            <p:txBody>
              <a:bodyPr anchor="ctr" rtlCol="false" tIns="0" lIns="0" bIns="0" rIns="0"/>
              <a:lstStyle/>
              <a:p>
                <a:pPr algn="l">
                  <a:lnSpc>
                    <a:spcPts val="2340"/>
                  </a:lnSpc>
                </a:pPr>
                <a:r>
                  <a:rPr lang="en-US" sz="1950">
                    <a:solidFill>
                      <a:srgbClr val="0A1A23"/>
                    </a:solidFill>
                    <a:latin typeface="Poppins"/>
                    <a:ea typeface="Poppins"/>
                    <a:cs typeface="Poppins"/>
                    <a:sym typeface="Poppins"/>
                  </a:rPr>
                  <a:t>Keeps only the rows where Sales is more than 100,000, and stores that smaller table as high_value.</a:t>
                </a:r>
              </a:p>
            </p:txBody>
          </p:sp>
        </p:grpSp>
        <p:grpSp>
          <p:nvGrpSpPr>
            <p:cNvPr name="Group 20" id="20"/>
            <p:cNvGrpSpPr/>
            <p:nvPr/>
          </p:nvGrpSpPr>
          <p:grpSpPr>
            <a:xfrm rot="0">
              <a:off x="61301" y="3963467"/>
              <a:ext cx="20695302" cy="667690"/>
              <a:chOff x="0" y="0"/>
              <a:chExt cx="20695302" cy="667690"/>
            </a:xfrm>
          </p:grpSpPr>
          <p:sp>
            <p:nvSpPr>
              <p:cNvPr name="Freeform 21" id="21"/>
              <p:cNvSpPr/>
              <p:nvPr/>
            </p:nvSpPr>
            <p:spPr>
              <a:xfrm flipH="false" flipV="false" rot="0">
                <a:off x="0" y="0"/>
                <a:ext cx="20695303" cy="667690"/>
              </a:xfrm>
              <a:custGeom>
                <a:avLst/>
                <a:gdLst/>
                <a:ahLst/>
                <a:cxnLst/>
                <a:rect r="r" b="b" t="t" l="l"/>
                <a:pathLst>
                  <a:path h="667690" w="20695303">
                    <a:moveTo>
                      <a:pt x="0" y="0"/>
                    </a:moveTo>
                    <a:lnTo>
                      <a:pt x="20695303" y="0"/>
                    </a:lnTo>
                    <a:lnTo>
                      <a:pt x="20695303" y="667690"/>
                    </a:lnTo>
                    <a:lnTo>
                      <a:pt x="0" y="667690"/>
                    </a:lnTo>
                    <a:close/>
                  </a:path>
                </a:pathLst>
              </a:custGeom>
              <a:blipFill>
                <a:blip r:embed="rId6">
                  <a:alphaModFix amt="0"/>
                </a:blip>
                <a:stretch>
                  <a:fillRect l="0" t="-578000" r="-2506" b="-560170"/>
                </a:stretch>
              </a:blipFill>
            </p:spPr>
          </p:sp>
          <p:sp>
            <p:nvSpPr>
              <p:cNvPr name="TextBox 22" id="22"/>
              <p:cNvSpPr txBox="true"/>
              <p:nvPr/>
            </p:nvSpPr>
            <p:spPr>
              <a:xfrm>
                <a:off x="0" y="-19050"/>
                <a:ext cx="20695302" cy="686740"/>
              </a:xfrm>
              <a:prstGeom prst="rect">
                <a:avLst/>
              </a:prstGeom>
            </p:spPr>
            <p:txBody>
              <a:bodyPr anchor="ctr" rtlCol="false" tIns="0" lIns="0" bIns="0" rIns="0"/>
              <a:lstStyle/>
              <a:p>
                <a:pPr algn="l">
                  <a:lnSpc>
                    <a:spcPts val="2430"/>
                  </a:lnSpc>
                </a:pPr>
                <a:r>
                  <a:rPr lang="en-US" sz="2025" b="true">
                    <a:solidFill>
                      <a:srgbClr val="387F7F"/>
                    </a:solidFill>
                    <a:latin typeface="Poppins Bold"/>
                    <a:ea typeface="Poppins Bold"/>
                    <a:cs typeface="Poppins Bold"/>
                    <a:sym typeface="Poppins Bold"/>
                  </a:rPr>
                  <a:t>.groupby("Region")[["Sales","Profit"]].sum()</a:t>
                </a:r>
              </a:p>
            </p:txBody>
          </p:sp>
        </p:grpSp>
        <p:grpSp>
          <p:nvGrpSpPr>
            <p:cNvPr name="Group 23" id="23"/>
            <p:cNvGrpSpPr/>
            <p:nvPr/>
          </p:nvGrpSpPr>
          <p:grpSpPr>
            <a:xfrm rot="0">
              <a:off x="61301" y="4512107"/>
              <a:ext cx="20695302" cy="645312"/>
              <a:chOff x="0" y="0"/>
              <a:chExt cx="20695302" cy="645312"/>
            </a:xfrm>
          </p:grpSpPr>
          <p:sp>
            <p:nvSpPr>
              <p:cNvPr name="Freeform 24" id="24"/>
              <p:cNvSpPr/>
              <p:nvPr/>
            </p:nvSpPr>
            <p:spPr>
              <a:xfrm flipH="false" flipV="false" rot="0">
                <a:off x="0" y="0"/>
                <a:ext cx="20695303" cy="645312"/>
              </a:xfrm>
              <a:custGeom>
                <a:avLst/>
                <a:gdLst/>
                <a:ahLst/>
                <a:cxnLst/>
                <a:rect r="r" b="b" t="t" l="l"/>
                <a:pathLst>
                  <a:path h="645312" w="20695303">
                    <a:moveTo>
                      <a:pt x="0" y="0"/>
                    </a:moveTo>
                    <a:lnTo>
                      <a:pt x="20695303" y="0"/>
                    </a:lnTo>
                    <a:lnTo>
                      <a:pt x="20695303" y="645312"/>
                    </a:lnTo>
                    <a:lnTo>
                      <a:pt x="0" y="645312"/>
                    </a:lnTo>
                    <a:close/>
                  </a:path>
                </a:pathLst>
              </a:custGeom>
              <a:blipFill>
                <a:blip r:embed="rId6">
                  <a:alphaModFix amt="0"/>
                </a:blip>
                <a:stretch>
                  <a:fillRect l="0" t="-590958" r="-2506" b="-590148"/>
                </a:stretch>
              </a:blipFill>
            </p:spPr>
          </p:sp>
          <p:sp>
            <p:nvSpPr>
              <p:cNvPr name="TextBox 25" id="25"/>
              <p:cNvSpPr txBox="true"/>
              <p:nvPr/>
            </p:nvSpPr>
            <p:spPr>
              <a:xfrm>
                <a:off x="0" y="-19050"/>
                <a:ext cx="20695302" cy="664362"/>
              </a:xfrm>
              <a:prstGeom prst="rect">
                <a:avLst/>
              </a:prstGeom>
            </p:spPr>
            <p:txBody>
              <a:bodyPr anchor="ctr" rtlCol="false" tIns="0" lIns="0" bIns="0" rIns="0"/>
              <a:lstStyle/>
              <a:p>
                <a:pPr algn="l">
                  <a:lnSpc>
                    <a:spcPts val="2340"/>
                  </a:lnSpc>
                </a:pPr>
                <a:r>
                  <a:rPr lang="en-US" sz="1950">
                    <a:solidFill>
                      <a:srgbClr val="0A1A23"/>
                    </a:solidFill>
                    <a:latin typeface="Poppins"/>
                    <a:ea typeface="Poppins"/>
                    <a:cs typeface="Poppins"/>
                    <a:sym typeface="Poppins"/>
                  </a:rPr>
                  <a:t>Groups those rows by Region, then adds up Sales and Profit within each group.</a:t>
                </a:r>
              </a:p>
            </p:txBody>
          </p:sp>
        </p:grpSp>
        <p:grpSp>
          <p:nvGrpSpPr>
            <p:cNvPr name="Group 26" id="26"/>
            <p:cNvGrpSpPr/>
            <p:nvPr/>
          </p:nvGrpSpPr>
          <p:grpSpPr>
            <a:xfrm rot="0">
              <a:off x="61301" y="5755691"/>
              <a:ext cx="20695302" cy="667690"/>
              <a:chOff x="0" y="0"/>
              <a:chExt cx="20695302" cy="667690"/>
            </a:xfrm>
          </p:grpSpPr>
          <p:sp>
            <p:nvSpPr>
              <p:cNvPr name="Freeform 27" id="27"/>
              <p:cNvSpPr/>
              <p:nvPr/>
            </p:nvSpPr>
            <p:spPr>
              <a:xfrm flipH="false" flipV="false" rot="0">
                <a:off x="0" y="0"/>
                <a:ext cx="20695303" cy="667690"/>
              </a:xfrm>
              <a:custGeom>
                <a:avLst/>
                <a:gdLst/>
                <a:ahLst/>
                <a:cxnLst/>
                <a:rect r="r" b="b" t="t" l="l"/>
                <a:pathLst>
                  <a:path h="667690" w="20695303">
                    <a:moveTo>
                      <a:pt x="0" y="0"/>
                    </a:moveTo>
                    <a:lnTo>
                      <a:pt x="20695303" y="0"/>
                    </a:lnTo>
                    <a:lnTo>
                      <a:pt x="20695303" y="667690"/>
                    </a:lnTo>
                    <a:lnTo>
                      <a:pt x="0" y="667690"/>
                    </a:lnTo>
                    <a:close/>
                  </a:path>
                </a:pathLst>
              </a:custGeom>
              <a:blipFill>
                <a:blip r:embed="rId6">
                  <a:alphaModFix amt="0"/>
                </a:blip>
                <a:stretch>
                  <a:fillRect l="0" t="-578000" r="-2506" b="-560170"/>
                </a:stretch>
              </a:blipFill>
            </p:spPr>
          </p:sp>
          <p:sp>
            <p:nvSpPr>
              <p:cNvPr name="TextBox 28" id="28"/>
              <p:cNvSpPr txBox="true"/>
              <p:nvPr/>
            </p:nvSpPr>
            <p:spPr>
              <a:xfrm>
                <a:off x="0" y="-19050"/>
                <a:ext cx="20695302" cy="686740"/>
              </a:xfrm>
              <a:prstGeom prst="rect">
                <a:avLst/>
              </a:prstGeom>
            </p:spPr>
            <p:txBody>
              <a:bodyPr anchor="ctr" rtlCol="false" tIns="0" lIns="0" bIns="0" rIns="0"/>
              <a:lstStyle/>
              <a:p>
                <a:pPr algn="l">
                  <a:lnSpc>
                    <a:spcPts val="2430"/>
                  </a:lnSpc>
                </a:pPr>
                <a:r>
                  <a:rPr lang="en-US" sz="2025" b="true">
                    <a:solidFill>
                      <a:srgbClr val="387F7F"/>
                    </a:solidFill>
                    <a:latin typeface="Poppins Bold"/>
                    <a:ea typeface="Poppins Bold"/>
                    <a:cs typeface="Poppins Bold"/>
                    <a:sym typeface="Poppins Bold"/>
                  </a:rPr>
                  <a:t>result</a:t>
                </a:r>
              </a:p>
            </p:txBody>
          </p:sp>
        </p:grpSp>
        <p:grpSp>
          <p:nvGrpSpPr>
            <p:cNvPr name="Group 29" id="29"/>
            <p:cNvGrpSpPr/>
            <p:nvPr/>
          </p:nvGrpSpPr>
          <p:grpSpPr>
            <a:xfrm rot="0">
              <a:off x="61301" y="6304331"/>
              <a:ext cx="20695302" cy="645312"/>
              <a:chOff x="0" y="0"/>
              <a:chExt cx="20695302" cy="645312"/>
            </a:xfrm>
          </p:grpSpPr>
          <p:sp>
            <p:nvSpPr>
              <p:cNvPr name="Freeform 30" id="30"/>
              <p:cNvSpPr/>
              <p:nvPr/>
            </p:nvSpPr>
            <p:spPr>
              <a:xfrm flipH="false" flipV="false" rot="0">
                <a:off x="0" y="0"/>
                <a:ext cx="20695303" cy="645312"/>
              </a:xfrm>
              <a:custGeom>
                <a:avLst/>
                <a:gdLst/>
                <a:ahLst/>
                <a:cxnLst/>
                <a:rect r="r" b="b" t="t" l="l"/>
                <a:pathLst>
                  <a:path h="645312" w="20695303">
                    <a:moveTo>
                      <a:pt x="0" y="0"/>
                    </a:moveTo>
                    <a:lnTo>
                      <a:pt x="20695303" y="0"/>
                    </a:lnTo>
                    <a:lnTo>
                      <a:pt x="20695303" y="645312"/>
                    </a:lnTo>
                    <a:lnTo>
                      <a:pt x="0" y="645312"/>
                    </a:lnTo>
                    <a:close/>
                  </a:path>
                </a:pathLst>
              </a:custGeom>
              <a:blipFill>
                <a:blip r:embed="rId6">
                  <a:alphaModFix amt="0"/>
                </a:blip>
                <a:stretch>
                  <a:fillRect l="0" t="-590958" r="-2506" b="-590148"/>
                </a:stretch>
              </a:blipFill>
            </p:spPr>
          </p:sp>
          <p:sp>
            <p:nvSpPr>
              <p:cNvPr name="TextBox 31" id="31"/>
              <p:cNvSpPr txBox="true"/>
              <p:nvPr/>
            </p:nvSpPr>
            <p:spPr>
              <a:xfrm>
                <a:off x="0" y="-19050"/>
                <a:ext cx="20695302" cy="664362"/>
              </a:xfrm>
              <a:prstGeom prst="rect">
                <a:avLst/>
              </a:prstGeom>
            </p:spPr>
            <p:txBody>
              <a:bodyPr anchor="ctr" rtlCol="false" tIns="0" lIns="0" bIns="0" rIns="0"/>
              <a:lstStyle/>
              <a:p>
                <a:pPr algn="l">
                  <a:lnSpc>
                    <a:spcPts val="2340"/>
                  </a:lnSpc>
                </a:pPr>
                <a:r>
                  <a:rPr lang="en-US" sz="1950">
                    <a:solidFill>
                      <a:srgbClr val="0A1A23"/>
                    </a:solidFill>
                    <a:latin typeface="Poppins"/>
                    <a:ea typeface="Poppins"/>
                    <a:cs typeface="Poppins"/>
                    <a:sym typeface="Poppins"/>
                  </a:rPr>
                  <a:t>Displays the final summary table, one row per region.</a:t>
                </a:r>
              </a:p>
            </p:txBody>
          </p:sp>
        </p:grpSp>
        <p:grpSp>
          <p:nvGrpSpPr>
            <p:cNvPr name="Group 32" id="32"/>
            <p:cNvGrpSpPr/>
            <p:nvPr/>
          </p:nvGrpSpPr>
          <p:grpSpPr>
            <a:xfrm rot="0">
              <a:off x="0" y="7165543"/>
              <a:ext cx="21640864" cy="1371600"/>
              <a:chOff x="0" y="0"/>
              <a:chExt cx="21640864" cy="1371600"/>
            </a:xfrm>
          </p:grpSpPr>
          <p:sp>
            <p:nvSpPr>
              <p:cNvPr name="Freeform 33" id="33"/>
              <p:cNvSpPr/>
              <p:nvPr/>
            </p:nvSpPr>
            <p:spPr>
              <a:xfrm flipH="false" flipV="false" rot="0">
                <a:off x="0" y="0"/>
                <a:ext cx="21640864" cy="1371600"/>
              </a:xfrm>
              <a:custGeom>
                <a:avLst/>
                <a:gdLst/>
                <a:ahLst/>
                <a:cxnLst/>
                <a:rect r="r" b="b" t="t" l="l"/>
                <a:pathLst>
                  <a:path h="1371600" w="21640864">
                    <a:moveTo>
                      <a:pt x="0" y="96819"/>
                    </a:moveTo>
                    <a:cubicBezTo>
                      <a:pt x="0" y="43367"/>
                      <a:pt x="47947" y="0"/>
                      <a:pt x="107045" y="0"/>
                    </a:cubicBezTo>
                    <a:lnTo>
                      <a:pt x="21533819" y="0"/>
                    </a:lnTo>
                    <a:cubicBezTo>
                      <a:pt x="21592916" y="0"/>
                      <a:pt x="21640864" y="43367"/>
                      <a:pt x="21640864" y="96819"/>
                    </a:cubicBezTo>
                    <a:lnTo>
                      <a:pt x="21640864" y="1274781"/>
                    </a:lnTo>
                    <a:cubicBezTo>
                      <a:pt x="21640864" y="1328233"/>
                      <a:pt x="21592916" y="1371600"/>
                      <a:pt x="21533819" y="1371600"/>
                    </a:cubicBezTo>
                    <a:lnTo>
                      <a:pt x="107045" y="1371600"/>
                    </a:lnTo>
                    <a:cubicBezTo>
                      <a:pt x="47947" y="1371600"/>
                      <a:pt x="0" y="1328233"/>
                      <a:pt x="0" y="1274781"/>
                    </a:cubicBezTo>
                    <a:close/>
                  </a:path>
                </a:pathLst>
              </a:custGeom>
              <a:solidFill>
                <a:srgbClr val="FBEAEA"/>
              </a:solidFill>
            </p:spPr>
          </p:sp>
        </p:grpSp>
        <p:grpSp>
          <p:nvGrpSpPr>
            <p:cNvPr name="Group 34" id="34"/>
            <p:cNvGrpSpPr/>
            <p:nvPr/>
          </p:nvGrpSpPr>
          <p:grpSpPr>
            <a:xfrm rot="0">
              <a:off x="409585" y="7348423"/>
              <a:ext cx="20570417" cy="1188720"/>
              <a:chOff x="0" y="0"/>
              <a:chExt cx="20570417" cy="1188720"/>
            </a:xfrm>
          </p:grpSpPr>
          <p:sp>
            <p:nvSpPr>
              <p:cNvPr name="Freeform 35" id="35"/>
              <p:cNvSpPr/>
              <p:nvPr/>
            </p:nvSpPr>
            <p:spPr>
              <a:xfrm flipH="false" flipV="false" rot="0">
                <a:off x="0" y="0"/>
                <a:ext cx="20570417" cy="1188720"/>
              </a:xfrm>
              <a:custGeom>
                <a:avLst/>
                <a:gdLst/>
                <a:ahLst/>
                <a:cxnLst/>
                <a:rect r="r" b="b" t="t" l="l"/>
                <a:pathLst>
                  <a:path h="1188720" w="20570417">
                    <a:moveTo>
                      <a:pt x="0" y="0"/>
                    </a:moveTo>
                    <a:lnTo>
                      <a:pt x="20570417" y="0"/>
                    </a:lnTo>
                    <a:lnTo>
                      <a:pt x="20570417" y="1188720"/>
                    </a:lnTo>
                    <a:lnTo>
                      <a:pt x="0" y="1188720"/>
                    </a:lnTo>
                    <a:close/>
                  </a:path>
                </a:pathLst>
              </a:custGeom>
              <a:blipFill>
                <a:blip r:embed="rId6">
                  <a:alphaModFix amt="0"/>
                </a:blip>
                <a:stretch>
                  <a:fillRect l="0" t="-295634" r="-2506" b="-295634"/>
                </a:stretch>
              </a:blipFill>
            </p:spPr>
          </p:sp>
          <p:sp>
            <p:nvSpPr>
              <p:cNvPr name="TextBox 36" id="36"/>
              <p:cNvSpPr txBox="true"/>
              <p:nvPr/>
            </p:nvSpPr>
            <p:spPr>
              <a:xfrm>
                <a:off x="0" y="-57150"/>
                <a:ext cx="20570417" cy="1245870"/>
              </a:xfrm>
              <a:prstGeom prst="rect">
                <a:avLst/>
              </a:prstGeom>
            </p:spPr>
            <p:txBody>
              <a:bodyPr anchor="ctr" rtlCol="false" tIns="0" lIns="0" bIns="0" rIns="0"/>
              <a:lstStyle/>
              <a:p>
                <a:pPr algn="l">
                  <a:lnSpc>
                    <a:spcPts val="2867"/>
                  </a:lnSpc>
                </a:pPr>
                <a:r>
                  <a:rPr lang="en-US" sz="2025" b="true">
                    <a:solidFill>
                      <a:srgbClr val="8C3A3A"/>
                    </a:solidFill>
                    <a:latin typeface="Poppins Bold"/>
                    <a:ea typeface="Poppins Bold"/>
                    <a:cs typeface="Poppins Bold"/>
                    <a:sym typeface="Poppins Bold"/>
                  </a:rPr>
                  <a:t>Still verify it yourself:  </a:t>
                </a:r>
                <a:r>
                  <a:rPr lang="en-US" sz="2025">
                    <a:solidFill>
                      <a:srgbClr val="0A1A23"/>
                    </a:solidFill>
                    <a:latin typeface="Poppins"/>
                    <a:ea typeface="Poppins"/>
                    <a:cs typeface="Poppins"/>
                    <a:sym typeface="Poppins"/>
                  </a:rPr>
                  <a:t>an explanation is a draft, not a verdict. Check it against something you already know: does the row count and totals match what you computed in Module 5.3?</a:t>
                </a:r>
              </a:p>
            </p:txBody>
          </p:sp>
        </p:grpSp>
      </p:grpSp>
      <p:grpSp>
        <p:nvGrpSpPr>
          <p:cNvPr name="Group 37" id="37"/>
          <p:cNvGrpSpPr/>
          <p:nvPr/>
        </p:nvGrpSpPr>
        <p:grpSpPr>
          <a:xfrm rot="0">
            <a:off x="1165860" y="753429"/>
            <a:ext cx="12755880" cy="1236342"/>
            <a:chOff x="0" y="0"/>
            <a:chExt cx="17007840" cy="1648455"/>
          </a:xfrm>
        </p:grpSpPr>
        <p:sp>
          <p:nvSpPr>
            <p:cNvPr name="Freeform 38" id="38"/>
            <p:cNvSpPr/>
            <p:nvPr/>
          </p:nvSpPr>
          <p:spPr>
            <a:xfrm flipH="false" flipV="false" rot="0">
              <a:off x="0" y="0"/>
              <a:ext cx="17007839" cy="1648455"/>
            </a:xfrm>
            <a:custGeom>
              <a:avLst/>
              <a:gdLst/>
              <a:ahLst/>
              <a:cxnLst/>
              <a:rect r="r" b="b" t="t" l="l"/>
              <a:pathLst>
                <a:path h="1648455" w="17007839">
                  <a:moveTo>
                    <a:pt x="0" y="0"/>
                  </a:moveTo>
                  <a:lnTo>
                    <a:pt x="17007839" y="0"/>
                  </a:lnTo>
                  <a:lnTo>
                    <a:pt x="17007839" y="1648455"/>
                  </a:lnTo>
                  <a:lnTo>
                    <a:pt x="0" y="1648455"/>
                  </a:lnTo>
                  <a:close/>
                </a:path>
              </a:pathLst>
            </a:custGeom>
            <a:blipFill>
              <a:blip r:embed="rId6">
                <a:alphaModFix amt="0"/>
              </a:blip>
              <a:stretch>
                <a:fillRect l="0" t="-164980" r="0" b="-137091"/>
              </a:stretch>
            </a:blipFill>
          </p:spPr>
        </p:sp>
        <p:sp>
          <p:nvSpPr>
            <p:cNvPr name="TextBox 39" id="39"/>
            <p:cNvSpPr txBox="true"/>
            <p:nvPr/>
          </p:nvSpPr>
          <p:spPr>
            <a:xfrm>
              <a:off x="0" y="-38100"/>
              <a:ext cx="17007840" cy="1686555"/>
            </a:xfrm>
            <a:prstGeom prst="rect">
              <a:avLst/>
            </a:prstGeom>
          </p:spPr>
          <p:txBody>
            <a:bodyPr anchor="ctr" rtlCol="false" tIns="0" lIns="0" bIns="0" rIns="0"/>
            <a:lstStyle/>
            <a:p>
              <a:pPr algn="l">
                <a:lnSpc>
                  <a:spcPts val="5999"/>
                </a:lnSpc>
              </a:pPr>
              <a:r>
                <a:rPr lang="en-US" sz="4999">
                  <a:solidFill>
                    <a:srgbClr val="388080"/>
                  </a:solidFill>
                  <a:latin typeface="Poppins"/>
                  <a:ea typeface="Poppins"/>
                  <a:cs typeface="Poppins"/>
                  <a:sym typeface="Poppins"/>
                </a:rPr>
                <a:t>Ask AI to Explain Code</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6497824" y="8924125"/>
            <a:ext cx="647224" cy="571500"/>
            <a:chOff x="0" y="0"/>
            <a:chExt cx="862965" cy="762000"/>
          </a:xfrm>
        </p:grpSpPr>
        <p:sp>
          <p:nvSpPr>
            <p:cNvPr name="Freeform 6" id="6"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5"/>
              <a:stretch>
                <a:fillRect l="-772" t="0" r="-772" b="0"/>
              </a:stretch>
            </a:blipFill>
          </p:spPr>
        </p:sp>
      </p:grpSp>
      <p:grpSp>
        <p:nvGrpSpPr>
          <p:cNvPr name="Group 7" id="7"/>
          <p:cNvGrpSpPr/>
          <p:nvPr/>
        </p:nvGrpSpPr>
        <p:grpSpPr>
          <a:xfrm rot="0">
            <a:off x="857250" y="857250"/>
            <a:ext cx="114300" cy="1028700"/>
            <a:chOff x="0" y="0"/>
            <a:chExt cx="152400" cy="1371600"/>
          </a:xfrm>
        </p:grpSpPr>
        <p:sp>
          <p:nvSpPr>
            <p:cNvPr name="Freeform 8" id="8"/>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grpSp>
        <p:nvGrpSpPr>
          <p:cNvPr name="Group 9" id="9"/>
          <p:cNvGrpSpPr/>
          <p:nvPr/>
        </p:nvGrpSpPr>
        <p:grpSpPr>
          <a:xfrm rot="0">
            <a:off x="813435" y="1988820"/>
            <a:ext cx="16633317" cy="8046168"/>
            <a:chOff x="0" y="0"/>
            <a:chExt cx="22177756" cy="10728223"/>
          </a:xfrm>
        </p:grpSpPr>
        <p:grpSp>
          <p:nvGrpSpPr>
            <p:cNvPr name="Group 10" id="10"/>
            <p:cNvGrpSpPr/>
            <p:nvPr/>
          </p:nvGrpSpPr>
          <p:grpSpPr>
            <a:xfrm rot="0">
              <a:off x="12700" y="0"/>
              <a:ext cx="10424160" cy="622935"/>
              <a:chOff x="0" y="0"/>
              <a:chExt cx="10424160" cy="622935"/>
            </a:xfrm>
          </p:grpSpPr>
          <p:sp>
            <p:nvSpPr>
              <p:cNvPr name="Freeform 11" id="11"/>
              <p:cNvSpPr/>
              <p:nvPr/>
            </p:nvSpPr>
            <p:spPr>
              <a:xfrm flipH="false" flipV="false" rot="0">
                <a:off x="0" y="0"/>
                <a:ext cx="10424160" cy="622935"/>
              </a:xfrm>
              <a:custGeom>
                <a:avLst/>
                <a:gdLst/>
                <a:ahLst/>
                <a:cxnLst/>
                <a:rect r="r" b="b" t="t" l="l"/>
                <a:pathLst>
                  <a:path h="622935" w="10424160">
                    <a:moveTo>
                      <a:pt x="0" y="0"/>
                    </a:moveTo>
                    <a:lnTo>
                      <a:pt x="10424160" y="0"/>
                    </a:lnTo>
                    <a:lnTo>
                      <a:pt x="10424160" y="622935"/>
                    </a:lnTo>
                    <a:lnTo>
                      <a:pt x="0" y="622935"/>
                    </a:lnTo>
                    <a:close/>
                  </a:path>
                </a:pathLst>
              </a:custGeom>
              <a:blipFill>
                <a:blip r:embed="rId6">
                  <a:alphaModFix amt="0"/>
                </a:blip>
                <a:stretch>
                  <a:fillRect l="0" t="-282024" r="0" b="-270098"/>
                </a:stretch>
              </a:blipFill>
            </p:spPr>
          </p:sp>
          <p:sp>
            <p:nvSpPr>
              <p:cNvPr name="TextBox 12" id="12"/>
              <p:cNvSpPr txBox="true"/>
              <p:nvPr/>
            </p:nvSpPr>
            <p:spPr>
              <a:xfrm>
                <a:off x="0" y="-19050"/>
                <a:ext cx="10424160" cy="641985"/>
              </a:xfrm>
              <a:prstGeom prst="rect">
                <a:avLst/>
              </a:prstGeom>
            </p:spPr>
            <p:txBody>
              <a:bodyPr anchor="ctr" rtlCol="false" tIns="0" lIns="0" bIns="0" rIns="0"/>
              <a:lstStyle/>
              <a:p>
                <a:pPr algn="l">
                  <a:lnSpc>
                    <a:spcPts val="2250"/>
                  </a:lnSpc>
                </a:pPr>
                <a:r>
                  <a:rPr lang="en-US" sz="1875" b="true">
                    <a:solidFill>
                      <a:srgbClr val="8C3A3A"/>
                    </a:solidFill>
                    <a:latin typeface="Poppins Bold"/>
                    <a:ea typeface="Poppins Bold"/>
                    <a:cs typeface="Poppins Bold"/>
                    <a:sym typeface="Poppins Bold"/>
                  </a:rPr>
                  <a:t>THE BROKEN CELL</a:t>
                </a:r>
              </a:p>
            </p:txBody>
          </p:sp>
        </p:grpSp>
        <p:grpSp>
          <p:nvGrpSpPr>
            <p:cNvPr name="Group 13" id="13"/>
            <p:cNvGrpSpPr/>
            <p:nvPr/>
          </p:nvGrpSpPr>
          <p:grpSpPr>
            <a:xfrm rot="0">
              <a:off x="12700" y="603504"/>
              <a:ext cx="10698480" cy="1645920"/>
              <a:chOff x="0" y="0"/>
              <a:chExt cx="10698480" cy="1645920"/>
            </a:xfrm>
          </p:grpSpPr>
          <p:sp>
            <p:nvSpPr>
              <p:cNvPr name="Freeform 14" id="14"/>
              <p:cNvSpPr/>
              <p:nvPr/>
            </p:nvSpPr>
            <p:spPr>
              <a:xfrm flipH="false" flipV="false" rot="0">
                <a:off x="0" y="0"/>
                <a:ext cx="10698480" cy="1645920"/>
              </a:xfrm>
              <a:custGeom>
                <a:avLst/>
                <a:gdLst/>
                <a:ahLst/>
                <a:cxnLst/>
                <a:rect r="r" b="b" t="t" l="l"/>
                <a:pathLst>
                  <a:path h="1645920" w="10698480">
                    <a:moveTo>
                      <a:pt x="0" y="146304"/>
                    </a:moveTo>
                    <a:cubicBezTo>
                      <a:pt x="0" y="65532"/>
                      <a:pt x="65532" y="0"/>
                      <a:pt x="146304" y="0"/>
                    </a:cubicBezTo>
                    <a:lnTo>
                      <a:pt x="10552176" y="0"/>
                    </a:lnTo>
                    <a:cubicBezTo>
                      <a:pt x="10632948" y="0"/>
                      <a:pt x="10698480" y="65532"/>
                      <a:pt x="10698480" y="146304"/>
                    </a:cubicBezTo>
                    <a:lnTo>
                      <a:pt x="10698480" y="1499616"/>
                    </a:lnTo>
                    <a:cubicBezTo>
                      <a:pt x="10698480" y="1580388"/>
                      <a:pt x="10632948" y="1645920"/>
                      <a:pt x="10552176" y="1645920"/>
                    </a:cubicBezTo>
                    <a:lnTo>
                      <a:pt x="146304" y="1645920"/>
                    </a:lnTo>
                    <a:cubicBezTo>
                      <a:pt x="65532" y="1645920"/>
                      <a:pt x="0" y="1580388"/>
                      <a:pt x="0" y="1499616"/>
                    </a:cubicBezTo>
                    <a:close/>
                  </a:path>
                </a:pathLst>
              </a:custGeom>
              <a:solidFill>
                <a:srgbClr val="0A1A23"/>
              </a:solidFill>
            </p:spPr>
          </p:sp>
        </p:grpSp>
        <p:grpSp>
          <p:nvGrpSpPr>
            <p:cNvPr name="Group 15" id="15"/>
            <p:cNvGrpSpPr/>
            <p:nvPr/>
          </p:nvGrpSpPr>
          <p:grpSpPr>
            <a:xfrm rot="0">
              <a:off x="415036" y="969264"/>
              <a:ext cx="237744" cy="237744"/>
              <a:chOff x="0" y="0"/>
              <a:chExt cx="237744" cy="237744"/>
            </a:xfrm>
          </p:grpSpPr>
          <p:sp>
            <p:nvSpPr>
              <p:cNvPr name="Freeform 16" id="16"/>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74C3C"/>
              </a:solidFill>
            </p:spPr>
          </p:sp>
        </p:grpSp>
        <p:grpSp>
          <p:nvGrpSpPr>
            <p:cNvPr name="Group 17" id="17"/>
            <p:cNvGrpSpPr/>
            <p:nvPr/>
          </p:nvGrpSpPr>
          <p:grpSpPr>
            <a:xfrm rot="0">
              <a:off x="853948" y="969264"/>
              <a:ext cx="237744" cy="237744"/>
              <a:chOff x="0" y="0"/>
              <a:chExt cx="237744" cy="237744"/>
            </a:xfrm>
          </p:grpSpPr>
          <p:sp>
            <p:nvSpPr>
              <p:cNvPr name="Freeform 18" id="18"/>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8B93F"/>
              </a:solidFill>
            </p:spPr>
          </p:sp>
        </p:grpSp>
        <p:grpSp>
          <p:nvGrpSpPr>
            <p:cNvPr name="Group 19" id="19"/>
            <p:cNvGrpSpPr/>
            <p:nvPr/>
          </p:nvGrpSpPr>
          <p:grpSpPr>
            <a:xfrm rot="0">
              <a:off x="1292860" y="969264"/>
              <a:ext cx="237744" cy="237744"/>
              <a:chOff x="0" y="0"/>
              <a:chExt cx="237744" cy="237744"/>
            </a:xfrm>
          </p:grpSpPr>
          <p:sp>
            <p:nvSpPr>
              <p:cNvPr name="Freeform 20" id="20"/>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3FA76B"/>
              </a:solidFill>
            </p:spPr>
          </p:sp>
        </p:grpSp>
        <p:sp>
          <p:nvSpPr>
            <p:cNvPr name="TextBox 21" id="21"/>
            <p:cNvSpPr txBox="true"/>
            <p:nvPr/>
          </p:nvSpPr>
          <p:spPr>
            <a:xfrm rot="0">
              <a:off x="524764" y="1441704"/>
              <a:ext cx="9674352" cy="481330"/>
            </a:xfrm>
            <a:prstGeom prst="rect">
              <a:avLst/>
            </a:prstGeom>
          </p:spPr>
          <p:txBody>
            <a:bodyPr anchor="t" rtlCol="false" tIns="0" lIns="0" bIns="0" rIns="0">
              <a:spAutoFit/>
            </a:bodyPr>
            <a:lstStyle/>
            <a:p>
              <a:pPr algn="l">
                <a:lnSpc>
                  <a:spcPts val="3037"/>
                </a:lnSpc>
              </a:pPr>
              <a:r>
                <a:rPr lang="en-US" sz="2025">
                  <a:solidFill>
                    <a:srgbClr val="E4F1EF"/>
                  </a:solidFill>
                  <a:latin typeface="Poppins"/>
                  <a:ea typeface="Poppins"/>
                  <a:cs typeface="Poppins"/>
                  <a:sym typeface="Poppins"/>
                </a:rPr>
                <a:t>df.groupby("region")["Sales"].sum()</a:t>
              </a:r>
            </a:p>
          </p:txBody>
        </p:sp>
        <p:grpSp>
          <p:nvGrpSpPr>
            <p:cNvPr name="Group 22" id="22"/>
            <p:cNvGrpSpPr/>
            <p:nvPr/>
          </p:nvGrpSpPr>
          <p:grpSpPr>
            <a:xfrm rot="0">
              <a:off x="0" y="2419604"/>
              <a:ext cx="10723880" cy="1122680"/>
              <a:chOff x="0" y="0"/>
              <a:chExt cx="10723880" cy="1122680"/>
            </a:xfrm>
          </p:grpSpPr>
          <p:sp>
            <p:nvSpPr>
              <p:cNvPr name="Freeform 23" id="23"/>
              <p:cNvSpPr/>
              <p:nvPr/>
            </p:nvSpPr>
            <p:spPr>
              <a:xfrm flipH="false" flipV="false" rot="0">
                <a:off x="0" y="0"/>
                <a:ext cx="10723880" cy="1122680"/>
              </a:xfrm>
              <a:custGeom>
                <a:avLst/>
                <a:gdLst/>
                <a:ahLst/>
                <a:cxnLst/>
                <a:rect r="r" b="b" t="t" l="l"/>
                <a:pathLst>
                  <a:path h="1122680" w="10723880">
                    <a:moveTo>
                      <a:pt x="0" y="112268"/>
                    </a:moveTo>
                    <a:cubicBezTo>
                      <a:pt x="0" y="50292"/>
                      <a:pt x="50292" y="0"/>
                      <a:pt x="112268" y="0"/>
                    </a:cubicBezTo>
                    <a:lnTo>
                      <a:pt x="10611612" y="0"/>
                    </a:lnTo>
                    <a:cubicBezTo>
                      <a:pt x="10673588" y="0"/>
                      <a:pt x="10723880" y="50292"/>
                      <a:pt x="10723880" y="112268"/>
                    </a:cubicBezTo>
                    <a:lnTo>
                      <a:pt x="10723880" y="1010412"/>
                    </a:lnTo>
                    <a:cubicBezTo>
                      <a:pt x="10723880" y="1072388"/>
                      <a:pt x="10673588" y="1122680"/>
                      <a:pt x="10611612" y="1122680"/>
                    </a:cubicBezTo>
                    <a:lnTo>
                      <a:pt x="112268" y="1122680"/>
                    </a:lnTo>
                    <a:cubicBezTo>
                      <a:pt x="50292" y="1122680"/>
                      <a:pt x="0" y="1072388"/>
                      <a:pt x="0" y="1010412"/>
                    </a:cubicBezTo>
                    <a:close/>
                  </a:path>
                </a:pathLst>
              </a:custGeom>
              <a:solidFill>
                <a:srgbClr val="FBEAEA"/>
              </a:solidFill>
              <a:ln w="19050" cap="sq">
                <a:solidFill>
                  <a:srgbClr val="8C3A3A"/>
                </a:solidFill>
                <a:prstDash val="solid"/>
                <a:miter/>
              </a:ln>
            </p:spPr>
          </p:sp>
        </p:grpSp>
        <p:grpSp>
          <p:nvGrpSpPr>
            <p:cNvPr name="Group 24" id="24"/>
            <p:cNvGrpSpPr/>
            <p:nvPr/>
          </p:nvGrpSpPr>
          <p:grpSpPr>
            <a:xfrm rot="0">
              <a:off x="469900" y="2432304"/>
              <a:ext cx="9875520" cy="1097280"/>
              <a:chOff x="0" y="0"/>
              <a:chExt cx="9875520" cy="1097280"/>
            </a:xfrm>
          </p:grpSpPr>
          <p:sp>
            <p:nvSpPr>
              <p:cNvPr name="Freeform 25" id="25"/>
              <p:cNvSpPr/>
              <p:nvPr/>
            </p:nvSpPr>
            <p:spPr>
              <a:xfrm flipH="false" flipV="false" rot="0">
                <a:off x="0" y="0"/>
                <a:ext cx="9875520" cy="1097280"/>
              </a:xfrm>
              <a:custGeom>
                <a:avLst/>
                <a:gdLst/>
                <a:ahLst/>
                <a:cxnLst/>
                <a:rect r="r" b="b" t="t" l="l"/>
                <a:pathLst>
                  <a:path h="1097280" w="9875520">
                    <a:moveTo>
                      <a:pt x="0" y="0"/>
                    </a:moveTo>
                    <a:lnTo>
                      <a:pt x="9875520" y="0"/>
                    </a:lnTo>
                    <a:lnTo>
                      <a:pt x="9875520" y="1097280"/>
                    </a:lnTo>
                    <a:lnTo>
                      <a:pt x="0" y="1097280"/>
                    </a:lnTo>
                    <a:close/>
                  </a:path>
                </a:pathLst>
              </a:custGeom>
              <a:blipFill>
                <a:blip r:embed="rId6">
                  <a:alphaModFix amt="0"/>
                </a:blip>
                <a:stretch>
                  <a:fillRect l="0" t="-125365" r="0" b="-125365"/>
                </a:stretch>
              </a:blipFill>
            </p:spPr>
          </p:sp>
          <p:sp>
            <p:nvSpPr>
              <p:cNvPr name="TextBox 26" id="26"/>
              <p:cNvSpPr txBox="true"/>
              <p:nvPr/>
            </p:nvSpPr>
            <p:spPr>
              <a:xfrm>
                <a:off x="0" y="-19050"/>
                <a:ext cx="9875520" cy="1116330"/>
              </a:xfrm>
              <a:prstGeom prst="rect">
                <a:avLst/>
              </a:prstGeom>
            </p:spPr>
            <p:txBody>
              <a:bodyPr anchor="ctr" rtlCol="false" tIns="0" lIns="0" bIns="0" rIns="0"/>
              <a:lstStyle/>
              <a:p>
                <a:pPr algn="l">
                  <a:lnSpc>
                    <a:spcPts val="2430"/>
                  </a:lnSpc>
                </a:pPr>
                <a:r>
                  <a:rPr lang="en-US" sz="2025">
                    <a:solidFill>
                      <a:srgbClr val="8C3A3A"/>
                    </a:solidFill>
                    <a:latin typeface="Poppins"/>
                    <a:ea typeface="Poppins"/>
                    <a:cs typeface="Poppins"/>
                    <a:sym typeface="Poppins"/>
                  </a:rPr>
                  <a:t>KeyError: 'region'</a:t>
                </a:r>
              </a:p>
            </p:txBody>
          </p:sp>
        </p:grpSp>
        <p:grpSp>
          <p:nvGrpSpPr>
            <p:cNvPr name="Group 27" id="27"/>
            <p:cNvGrpSpPr/>
            <p:nvPr/>
          </p:nvGrpSpPr>
          <p:grpSpPr>
            <a:xfrm rot="0">
              <a:off x="12700" y="4005072"/>
              <a:ext cx="9674352" cy="543103"/>
              <a:chOff x="0" y="0"/>
              <a:chExt cx="9674352" cy="543103"/>
            </a:xfrm>
          </p:grpSpPr>
          <p:sp>
            <p:nvSpPr>
              <p:cNvPr name="Freeform 28" id="28"/>
              <p:cNvSpPr/>
              <p:nvPr/>
            </p:nvSpPr>
            <p:spPr>
              <a:xfrm flipH="false" flipV="false" rot="0">
                <a:off x="0" y="0"/>
                <a:ext cx="9674352" cy="543103"/>
              </a:xfrm>
              <a:custGeom>
                <a:avLst/>
                <a:gdLst/>
                <a:ahLst/>
                <a:cxnLst/>
                <a:rect r="r" b="b" t="t" l="l"/>
                <a:pathLst>
                  <a:path h="543103" w="9674352">
                    <a:moveTo>
                      <a:pt x="0" y="0"/>
                    </a:moveTo>
                    <a:lnTo>
                      <a:pt x="9674352" y="0"/>
                    </a:lnTo>
                    <a:lnTo>
                      <a:pt x="9674352" y="543103"/>
                    </a:lnTo>
                    <a:lnTo>
                      <a:pt x="0" y="543103"/>
                    </a:lnTo>
                    <a:close/>
                  </a:path>
                </a:pathLst>
              </a:custGeom>
              <a:blipFill>
                <a:blip r:embed="rId6">
                  <a:alphaModFix amt="0"/>
                </a:blip>
                <a:stretch>
                  <a:fillRect l="0" t="-299946" r="0" b="-294231"/>
                </a:stretch>
              </a:blipFill>
            </p:spPr>
          </p:sp>
          <p:sp>
            <p:nvSpPr>
              <p:cNvPr name="TextBox 29" id="29"/>
              <p:cNvSpPr txBox="true"/>
              <p:nvPr/>
            </p:nvSpPr>
            <p:spPr>
              <a:xfrm>
                <a:off x="0" y="-9525"/>
                <a:ext cx="9674352" cy="552628"/>
              </a:xfrm>
              <a:prstGeom prst="rect">
                <a:avLst/>
              </a:prstGeom>
            </p:spPr>
            <p:txBody>
              <a:bodyPr anchor="ctr" rtlCol="false" tIns="0" lIns="0" bIns="0" rIns="0"/>
              <a:lstStyle/>
              <a:p>
                <a:pPr algn="l">
                  <a:lnSpc>
                    <a:spcPts val="1980"/>
                  </a:lnSpc>
                </a:pPr>
                <a:r>
                  <a:rPr lang="en-US" b="true" sz="1650" spc="74">
                    <a:solidFill>
                      <a:srgbClr val="387F7F"/>
                    </a:solidFill>
                    <a:latin typeface="Poppins Bold"/>
                    <a:ea typeface="Poppins Bold"/>
                    <a:cs typeface="Poppins Bold"/>
                    <a:sym typeface="Poppins Bold"/>
                  </a:rPr>
                  <a:t>PROMPT SENT TO AI</a:t>
                </a:r>
              </a:p>
            </p:txBody>
          </p:sp>
        </p:grpSp>
        <p:sp>
          <p:nvSpPr>
            <p:cNvPr name="TextBox 30" id="30"/>
            <p:cNvSpPr txBox="true"/>
            <p:nvPr/>
          </p:nvSpPr>
          <p:spPr>
            <a:xfrm rot="0">
              <a:off x="0" y="4642104"/>
              <a:ext cx="9674352" cy="1958340"/>
            </a:xfrm>
            <a:prstGeom prst="rect">
              <a:avLst/>
            </a:prstGeom>
          </p:spPr>
          <p:txBody>
            <a:bodyPr anchor="t" rtlCol="false" tIns="0" lIns="0" bIns="0" rIns="0">
              <a:spAutoFit/>
            </a:bodyPr>
            <a:lstStyle/>
            <a:p>
              <a:pPr algn="l">
                <a:lnSpc>
                  <a:spcPts val="2925"/>
                </a:lnSpc>
              </a:pPr>
              <a:r>
                <a:rPr lang="en-US" sz="1950" i="true">
                  <a:solidFill>
                    <a:srgbClr val="0A1A23"/>
                  </a:solidFill>
                  <a:latin typeface="Poppins Italics"/>
                  <a:ea typeface="Poppins Italics"/>
                  <a:cs typeface="Poppins Italics"/>
                  <a:sym typeface="Poppins Italics"/>
                </a:rPr>
                <a:t>I got this error: KeyError: 'region', from running df.groupby("region")["Sales"].sum() on a DataFrame whose columns are Branch, Region, Sales, Cost, Profit, Price. What's wrong?</a:t>
              </a:r>
            </a:p>
          </p:txBody>
        </p:sp>
        <p:grpSp>
          <p:nvGrpSpPr>
            <p:cNvPr name="Group 31" id="31"/>
            <p:cNvGrpSpPr/>
            <p:nvPr/>
          </p:nvGrpSpPr>
          <p:grpSpPr>
            <a:xfrm rot="0">
              <a:off x="11479276" y="0"/>
              <a:ext cx="10698480" cy="622935"/>
              <a:chOff x="0" y="0"/>
              <a:chExt cx="10698480" cy="622935"/>
            </a:xfrm>
          </p:grpSpPr>
          <p:sp>
            <p:nvSpPr>
              <p:cNvPr name="Freeform 32" id="32"/>
              <p:cNvSpPr/>
              <p:nvPr/>
            </p:nvSpPr>
            <p:spPr>
              <a:xfrm flipH="false" flipV="false" rot="0">
                <a:off x="0" y="0"/>
                <a:ext cx="10698480" cy="622935"/>
              </a:xfrm>
              <a:custGeom>
                <a:avLst/>
                <a:gdLst/>
                <a:ahLst/>
                <a:cxnLst/>
                <a:rect r="r" b="b" t="t" l="l"/>
                <a:pathLst>
                  <a:path h="622935" w="10698480">
                    <a:moveTo>
                      <a:pt x="0" y="0"/>
                    </a:moveTo>
                    <a:lnTo>
                      <a:pt x="10698480" y="0"/>
                    </a:lnTo>
                    <a:lnTo>
                      <a:pt x="10698480" y="622935"/>
                    </a:lnTo>
                    <a:lnTo>
                      <a:pt x="0" y="622935"/>
                    </a:lnTo>
                    <a:close/>
                  </a:path>
                </a:pathLst>
              </a:custGeom>
              <a:blipFill>
                <a:blip r:embed="rId6">
                  <a:alphaModFix amt="0"/>
                </a:blip>
                <a:stretch>
                  <a:fillRect l="0" t="-290605" r="0" b="-278678"/>
                </a:stretch>
              </a:blipFill>
            </p:spPr>
          </p:sp>
          <p:sp>
            <p:nvSpPr>
              <p:cNvPr name="TextBox 33" id="33"/>
              <p:cNvSpPr txBox="true"/>
              <p:nvPr/>
            </p:nvSpPr>
            <p:spPr>
              <a:xfrm>
                <a:off x="0" y="-19050"/>
                <a:ext cx="10698480" cy="641985"/>
              </a:xfrm>
              <a:prstGeom prst="rect">
                <a:avLst/>
              </a:prstGeom>
            </p:spPr>
            <p:txBody>
              <a:bodyPr anchor="ctr" rtlCol="false" tIns="0" lIns="0" bIns="0" rIns="0"/>
              <a:lstStyle/>
              <a:p>
                <a:pPr algn="l">
                  <a:lnSpc>
                    <a:spcPts val="2250"/>
                  </a:lnSpc>
                </a:pPr>
                <a:r>
                  <a:rPr lang="en-US" sz="1875" b="true">
                    <a:solidFill>
                      <a:srgbClr val="387F7F"/>
                    </a:solidFill>
                    <a:latin typeface="Poppins Bold"/>
                    <a:ea typeface="Poppins Bold"/>
                    <a:cs typeface="Poppins Bold"/>
                    <a:sym typeface="Poppins Bold"/>
                  </a:rPr>
                  <a:t>AI'S CORRECTION, VERIFIED</a:t>
                </a:r>
              </a:p>
            </p:txBody>
          </p:sp>
        </p:grpSp>
        <p:sp>
          <p:nvSpPr>
            <p:cNvPr name="TextBox 34" id="34"/>
            <p:cNvSpPr txBox="true"/>
            <p:nvPr/>
          </p:nvSpPr>
          <p:spPr>
            <a:xfrm rot="0">
              <a:off x="11479276" y="737616"/>
              <a:ext cx="9674352" cy="1463040"/>
            </a:xfrm>
            <a:prstGeom prst="rect">
              <a:avLst/>
            </a:prstGeom>
          </p:spPr>
          <p:txBody>
            <a:bodyPr anchor="t" rtlCol="false" tIns="0" lIns="0" bIns="0" rIns="0">
              <a:spAutoFit/>
            </a:bodyPr>
            <a:lstStyle/>
            <a:p>
              <a:pPr algn="l">
                <a:lnSpc>
                  <a:spcPts val="2925"/>
                </a:lnSpc>
              </a:pPr>
              <a:r>
                <a:rPr lang="en-US" sz="1950" b="true">
                  <a:solidFill>
                    <a:srgbClr val="387F7F"/>
                  </a:solidFill>
                  <a:latin typeface="Poppins Bold"/>
                  <a:ea typeface="Poppins Bold"/>
                  <a:cs typeface="Poppins Bold"/>
                  <a:sym typeface="Poppins Bold"/>
                </a:rPr>
                <a:t>AI replies:  </a:t>
              </a:r>
              <a:r>
                <a:rPr lang="en-US" sz="1950">
                  <a:solidFill>
                    <a:srgbClr val="0A1A23"/>
                  </a:solidFill>
                  <a:latin typeface="Poppins"/>
                  <a:ea typeface="Poppins"/>
                  <a:cs typeface="Poppins"/>
                  <a:sym typeface="Poppins"/>
                </a:rPr>
                <a:t>pandas column names are case-sensitive. Your DataFrame has a column called "Region" (capital R), not "region". Use df.groupby("Region")["Sales"].sum().</a:t>
              </a:r>
            </a:p>
          </p:txBody>
        </p:sp>
        <p:grpSp>
          <p:nvGrpSpPr>
            <p:cNvPr name="Group 35" id="35"/>
            <p:cNvGrpSpPr/>
            <p:nvPr/>
          </p:nvGrpSpPr>
          <p:grpSpPr>
            <a:xfrm rot="0">
              <a:off x="11479276" y="3346704"/>
              <a:ext cx="10369296" cy="1645920"/>
              <a:chOff x="0" y="0"/>
              <a:chExt cx="10369296" cy="1645920"/>
            </a:xfrm>
          </p:grpSpPr>
          <p:sp>
            <p:nvSpPr>
              <p:cNvPr name="Freeform 36" id="36"/>
              <p:cNvSpPr/>
              <p:nvPr/>
            </p:nvSpPr>
            <p:spPr>
              <a:xfrm flipH="false" flipV="false" rot="0">
                <a:off x="0" y="0"/>
                <a:ext cx="10369297" cy="1645920"/>
              </a:xfrm>
              <a:custGeom>
                <a:avLst/>
                <a:gdLst/>
                <a:ahLst/>
                <a:cxnLst/>
                <a:rect r="r" b="b" t="t" l="l"/>
                <a:pathLst>
                  <a:path h="1645920" w="10369297">
                    <a:moveTo>
                      <a:pt x="0" y="146304"/>
                    </a:moveTo>
                    <a:cubicBezTo>
                      <a:pt x="0" y="65532"/>
                      <a:pt x="63516" y="0"/>
                      <a:pt x="141802" y="0"/>
                    </a:cubicBezTo>
                    <a:lnTo>
                      <a:pt x="10227494" y="0"/>
                    </a:lnTo>
                    <a:cubicBezTo>
                      <a:pt x="10305780" y="0"/>
                      <a:pt x="10369297" y="65532"/>
                      <a:pt x="10369297" y="146304"/>
                    </a:cubicBezTo>
                    <a:lnTo>
                      <a:pt x="10369297" y="1499616"/>
                    </a:lnTo>
                    <a:cubicBezTo>
                      <a:pt x="10369297" y="1580388"/>
                      <a:pt x="10305780" y="1645920"/>
                      <a:pt x="10227494" y="1645920"/>
                    </a:cubicBezTo>
                    <a:lnTo>
                      <a:pt x="141802" y="1645920"/>
                    </a:lnTo>
                    <a:cubicBezTo>
                      <a:pt x="63516" y="1645920"/>
                      <a:pt x="0" y="1580388"/>
                      <a:pt x="0" y="1499616"/>
                    </a:cubicBezTo>
                    <a:close/>
                  </a:path>
                </a:pathLst>
              </a:custGeom>
              <a:solidFill>
                <a:srgbClr val="0A1A23"/>
              </a:solidFill>
            </p:spPr>
          </p:sp>
        </p:grpSp>
        <p:grpSp>
          <p:nvGrpSpPr>
            <p:cNvPr name="Group 37" id="37"/>
            <p:cNvGrpSpPr/>
            <p:nvPr/>
          </p:nvGrpSpPr>
          <p:grpSpPr>
            <a:xfrm rot="0">
              <a:off x="11881612" y="3712464"/>
              <a:ext cx="237744" cy="237744"/>
              <a:chOff x="0" y="0"/>
              <a:chExt cx="237744" cy="237744"/>
            </a:xfrm>
          </p:grpSpPr>
          <p:sp>
            <p:nvSpPr>
              <p:cNvPr name="Freeform 38" id="38"/>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74C3C"/>
              </a:solidFill>
            </p:spPr>
          </p:sp>
        </p:grpSp>
        <p:grpSp>
          <p:nvGrpSpPr>
            <p:cNvPr name="Group 39" id="39"/>
            <p:cNvGrpSpPr/>
            <p:nvPr/>
          </p:nvGrpSpPr>
          <p:grpSpPr>
            <a:xfrm rot="0">
              <a:off x="12320524" y="3712464"/>
              <a:ext cx="237744" cy="237744"/>
              <a:chOff x="0" y="0"/>
              <a:chExt cx="237744" cy="237744"/>
            </a:xfrm>
          </p:grpSpPr>
          <p:sp>
            <p:nvSpPr>
              <p:cNvPr name="Freeform 40" id="40"/>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8B93F"/>
              </a:solidFill>
            </p:spPr>
          </p:sp>
        </p:grpSp>
        <p:grpSp>
          <p:nvGrpSpPr>
            <p:cNvPr name="Group 41" id="41"/>
            <p:cNvGrpSpPr/>
            <p:nvPr/>
          </p:nvGrpSpPr>
          <p:grpSpPr>
            <a:xfrm rot="0">
              <a:off x="12759436" y="3712464"/>
              <a:ext cx="237744" cy="237744"/>
              <a:chOff x="0" y="0"/>
              <a:chExt cx="237744" cy="237744"/>
            </a:xfrm>
          </p:grpSpPr>
          <p:sp>
            <p:nvSpPr>
              <p:cNvPr name="Freeform 42" id="42"/>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3FA76B"/>
              </a:solidFill>
            </p:spPr>
          </p:sp>
        </p:grpSp>
        <p:sp>
          <p:nvSpPr>
            <p:cNvPr name="TextBox 43" id="43"/>
            <p:cNvSpPr txBox="true"/>
            <p:nvPr/>
          </p:nvSpPr>
          <p:spPr>
            <a:xfrm rot="0">
              <a:off x="11991340" y="4184904"/>
              <a:ext cx="9674352" cy="481330"/>
            </a:xfrm>
            <a:prstGeom prst="rect">
              <a:avLst/>
            </a:prstGeom>
          </p:spPr>
          <p:txBody>
            <a:bodyPr anchor="t" rtlCol="false" tIns="0" lIns="0" bIns="0" rIns="0">
              <a:spAutoFit/>
            </a:bodyPr>
            <a:lstStyle/>
            <a:p>
              <a:pPr algn="l">
                <a:lnSpc>
                  <a:spcPts val="3037"/>
                </a:lnSpc>
              </a:pPr>
              <a:r>
                <a:rPr lang="en-US" sz="2025">
                  <a:solidFill>
                    <a:srgbClr val="E4F1EF"/>
                  </a:solidFill>
                  <a:latin typeface="Poppins"/>
                  <a:ea typeface="Poppins"/>
                  <a:cs typeface="Poppins"/>
                  <a:sym typeface="Poppins"/>
                </a:rPr>
                <a:t>df.groupby("Region")["Sales"].sum()</a:t>
              </a:r>
            </a:p>
          </p:txBody>
        </p:sp>
        <p:grpSp>
          <p:nvGrpSpPr>
            <p:cNvPr name="Group 44" id="44"/>
            <p:cNvGrpSpPr/>
            <p:nvPr/>
          </p:nvGrpSpPr>
          <p:grpSpPr>
            <a:xfrm rot="0">
              <a:off x="11463401" y="5159629"/>
              <a:ext cx="10385171" cy="2409190"/>
              <a:chOff x="0" y="0"/>
              <a:chExt cx="10385171" cy="2409190"/>
            </a:xfrm>
          </p:grpSpPr>
          <p:sp>
            <p:nvSpPr>
              <p:cNvPr name="Freeform 45" id="45"/>
              <p:cNvSpPr/>
              <p:nvPr/>
            </p:nvSpPr>
            <p:spPr>
              <a:xfrm flipH="false" flipV="false" rot="0">
                <a:off x="0" y="0"/>
                <a:ext cx="10385172" cy="2409190"/>
              </a:xfrm>
              <a:custGeom>
                <a:avLst/>
                <a:gdLst/>
                <a:ahLst/>
                <a:cxnLst/>
                <a:rect r="r" b="b" t="t" l="l"/>
                <a:pathLst>
                  <a:path h="2409190" w="10385172">
                    <a:moveTo>
                      <a:pt x="0" y="111125"/>
                    </a:moveTo>
                    <a:cubicBezTo>
                      <a:pt x="0" y="49784"/>
                      <a:pt x="48183" y="0"/>
                      <a:pt x="107551" y="0"/>
                    </a:cubicBezTo>
                    <a:lnTo>
                      <a:pt x="10277620" y="0"/>
                    </a:lnTo>
                    <a:cubicBezTo>
                      <a:pt x="10337112" y="0"/>
                      <a:pt x="10385172" y="49784"/>
                      <a:pt x="10385172" y="111125"/>
                    </a:cubicBezTo>
                    <a:lnTo>
                      <a:pt x="10385172" y="2298065"/>
                    </a:lnTo>
                    <a:cubicBezTo>
                      <a:pt x="10385172" y="2359533"/>
                      <a:pt x="10336988" y="2409190"/>
                      <a:pt x="10277620" y="2409190"/>
                    </a:cubicBezTo>
                    <a:lnTo>
                      <a:pt x="107551" y="2409190"/>
                    </a:lnTo>
                    <a:cubicBezTo>
                      <a:pt x="48060" y="2409190"/>
                      <a:pt x="0" y="2359406"/>
                      <a:pt x="0" y="2298065"/>
                    </a:cubicBezTo>
                    <a:close/>
                  </a:path>
                </a:pathLst>
              </a:custGeom>
              <a:solidFill>
                <a:srgbClr val="FFFFFF"/>
              </a:solidFill>
              <a:ln w="23812" cap="sq">
                <a:solidFill>
                  <a:srgbClr val="387F7F"/>
                </a:solidFill>
                <a:prstDash val="solid"/>
                <a:miter/>
              </a:ln>
            </p:spPr>
          </p:sp>
        </p:grpSp>
        <p:grpSp>
          <p:nvGrpSpPr>
            <p:cNvPr name="Group 46" id="46"/>
            <p:cNvGrpSpPr/>
            <p:nvPr/>
          </p:nvGrpSpPr>
          <p:grpSpPr>
            <a:xfrm rot="0">
              <a:off x="11881612" y="5394960"/>
              <a:ext cx="9966960" cy="498348"/>
              <a:chOff x="0" y="0"/>
              <a:chExt cx="9966960" cy="498348"/>
            </a:xfrm>
          </p:grpSpPr>
          <p:sp>
            <p:nvSpPr>
              <p:cNvPr name="Freeform 47" id="47"/>
              <p:cNvSpPr/>
              <p:nvPr/>
            </p:nvSpPr>
            <p:spPr>
              <a:xfrm flipH="false" flipV="false" rot="0">
                <a:off x="0" y="0"/>
                <a:ext cx="9966960" cy="498348"/>
              </a:xfrm>
              <a:custGeom>
                <a:avLst/>
                <a:gdLst/>
                <a:ahLst/>
                <a:cxnLst/>
                <a:rect r="r" b="b" t="t" l="l"/>
                <a:pathLst>
                  <a:path h="498348" w="9966960">
                    <a:moveTo>
                      <a:pt x="0" y="0"/>
                    </a:moveTo>
                    <a:lnTo>
                      <a:pt x="9966960" y="0"/>
                    </a:lnTo>
                    <a:lnTo>
                      <a:pt x="9966960" y="498348"/>
                    </a:lnTo>
                    <a:lnTo>
                      <a:pt x="0" y="498348"/>
                    </a:lnTo>
                    <a:close/>
                  </a:path>
                </a:pathLst>
              </a:custGeom>
              <a:blipFill>
                <a:blip r:embed="rId6">
                  <a:alphaModFix amt="0"/>
                </a:blip>
                <a:stretch>
                  <a:fillRect l="0" t="-345664" r="0" b="-333737"/>
                </a:stretch>
              </a:blipFill>
            </p:spPr>
          </p:sp>
          <p:sp>
            <p:nvSpPr>
              <p:cNvPr name="TextBox 48" id="48"/>
              <p:cNvSpPr txBox="true"/>
              <p:nvPr/>
            </p:nvSpPr>
            <p:spPr>
              <a:xfrm>
                <a:off x="0" y="-19050"/>
                <a:ext cx="9966960" cy="517398"/>
              </a:xfrm>
              <a:prstGeom prst="rect">
                <a:avLst/>
              </a:prstGeom>
            </p:spPr>
            <p:txBody>
              <a:bodyPr anchor="ctr" rtlCol="false" tIns="0" lIns="0" bIns="0" rIns="0"/>
              <a:lstStyle/>
              <a:p>
                <a:pPr algn="l">
                  <a:lnSpc>
                    <a:spcPts val="1800"/>
                  </a:lnSpc>
                </a:pPr>
                <a:r>
                  <a:rPr lang="en-US" b="true" sz="1500" spc="150">
                    <a:solidFill>
                      <a:srgbClr val="387F7F"/>
                    </a:solidFill>
                    <a:latin typeface="Poppins Bold"/>
                    <a:ea typeface="Poppins Bold"/>
                    <a:cs typeface="Poppins Bold"/>
                    <a:sym typeface="Poppins Bold"/>
                  </a:rPr>
                  <a:t>OUTPUT</a:t>
                </a:r>
              </a:p>
            </p:txBody>
          </p:sp>
        </p:grpSp>
        <p:sp>
          <p:nvSpPr>
            <p:cNvPr name="TextBox 49" id="49"/>
            <p:cNvSpPr txBox="true"/>
            <p:nvPr/>
          </p:nvSpPr>
          <p:spPr>
            <a:xfrm rot="0">
              <a:off x="11881612" y="5767197"/>
              <a:ext cx="9893808" cy="1397127"/>
            </a:xfrm>
            <a:prstGeom prst="rect">
              <a:avLst/>
            </a:prstGeom>
          </p:spPr>
          <p:txBody>
            <a:bodyPr anchor="t" rtlCol="false" tIns="0" lIns="0" bIns="0" rIns="0">
              <a:spAutoFit/>
            </a:bodyPr>
            <a:lstStyle/>
            <a:p>
              <a:pPr algn="l">
                <a:lnSpc>
                  <a:spcPts val="2808"/>
                </a:lnSpc>
              </a:pPr>
              <a:r>
                <a:rPr lang="en-US" sz="1950">
                  <a:solidFill>
                    <a:srgbClr val="0A1A23"/>
                  </a:solidFill>
                  <a:latin typeface="Poppins"/>
                  <a:ea typeface="Poppins"/>
                  <a:cs typeface="Poppins"/>
                  <a:sym typeface="Poppins"/>
                </a:rPr>
                <a:t>North Central     546000</a:t>
              </a:r>
            </a:p>
            <a:p>
              <a:pPr algn="l">
                <a:lnSpc>
                  <a:spcPts val="2808"/>
                </a:lnSpc>
              </a:pPr>
              <a:r>
                <a:rPr lang="en-US" sz="1950">
                  <a:solidFill>
                    <a:srgbClr val="0A1A23"/>
                  </a:solidFill>
                  <a:latin typeface="Poppins"/>
                  <a:ea typeface="Poppins"/>
                  <a:cs typeface="Poppins"/>
                  <a:sym typeface="Poppins"/>
                </a:rPr>
                <a:t>North West        537000</a:t>
              </a:r>
            </a:p>
            <a:p>
              <a:pPr algn="l">
                <a:lnSpc>
                  <a:spcPts val="2808"/>
                </a:lnSpc>
              </a:pPr>
              <a:r>
                <a:rPr lang="en-US" sz="1950">
                  <a:solidFill>
                    <a:srgbClr val="0A1A23"/>
                  </a:solidFill>
                  <a:latin typeface="Poppins"/>
                  <a:ea typeface="Poppins"/>
                  <a:cs typeface="Poppins"/>
                  <a:sym typeface="Poppins"/>
                </a:rPr>
                <a:t>South West       1032000</a:t>
              </a:r>
            </a:p>
          </p:txBody>
        </p:sp>
        <p:grpSp>
          <p:nvGrpSpPr>
            <p:cNvPr name="Group 50" id="50"/>
            <p:cNvGrpSpPr/>
            <p:nvPr/>
          </p:nvGrpSpPr>
          <p:grpSpPr>
            <a:xfrm rot="0">
              <a:off x="561340" y="10058400"/>
              <a:ext cx="21086064" cy="669823"/>
              <a:chOff x="0" y="0"/>
              <a:chExt cx="21086064" cy="669823"/>
            </a:xfrm>
          </p:grpSpPr>
          <p:sp>
            <p:nvSpPr>
              <p:cNvPr name="Freeform 51" id="51"/>
              <p:cNvSpPr/>
              <p:nvPr/>
            </p:nvSpPr>
            <p:spPr>
              <a:xfrm flipH="false" flipV="false" rot="0">
                <a:off x="0" y="0"/>
                <a:ext cx="21086065" cy="669823"/>
              </a:xfrm>
              <a:custGeom>
                <a:avLst/>
                <a:gdLst/>
                <a:ahLst/>
                <a:cxnLst/>
                <a:rect r="r" b="b" t="t" l="l"/>
                <a:pathLst>
                  <a:path h="669823" w="21086065">
                    <a:moveTo>
                      <a:pt x="0" y="0"/>
                    </a:moveTo>
                    <a:lnTo>
                      <a:pt x="21086065" y="0"/>
                    </a:lnTo>
                    <a:lnTo>
                      <a:pt x="21086065" y="669823"/>
                    </a:lnTo>
                    <a:lnTo>
                      <a:pt x="0" y="669823"/>
                    </a:lnTo>
                    <a:close/>
                  </a:path>
                </a:pathLst>
              </a:custGeom>
              <a:blipFill>
                <a:blip r:embed="rId6">
                  <a:alphaModFix amt="0"/>
                </a:blip>
                <a:stretch>
                  <a:fillRect l="0" t="-572435" r="0" b="-554343"/>
                </a:stretch>
              </a:blipFill>
            </p:spPr>
          </p:sp>
          <p:sp>
            <p:nvSpPr>
              <p:cNvPr name="TextBox 52" id="52"/>
              <p:cNvSpPr txBox="true"/>
              <p:nvPr/>
            </p:nvSpPr>
            <p:spPr>
              <a:xfrm>
                <a:off x="0" y="-57150"/>
                <a:ext cx="21086064" cy="726973"/>
              </a:xfrm>
              <a:prstGeom prst="rect">
                <a:avLst/>
              </a:prstGeom>
            </p:spPr>
            <p:txBody>
              <a:bodyPr anchor="ctr" rtlCol="false" tIns="0" lIns="0" bIns="0" rIns="0"/>
              <a:lstStyle/>
              <a:p>
                <a:pPr algn="l">
                  <a:lnSpc>
                    <a:spcPts val="2867"/>
                  </a:lnSpc>
                </a:pPr>
                <a:r>
                  <a:rPr lang="en-US" sz="2025" i="true">
                    <a:solidFill>
                      <a:srgbClr val="0A1A23"/>
                    </a:solidFill>
                    <a:latin typeface="Poppins Italics"/>
                    <a:ea typeface="Poppins Italics"/>
                    <a:cs typeface="Poppins Italics"/>
                    <a:sym typeface="Poppins Italics"/>
                  </a:rPr>
                  <a:t>Send the full error message and the exact code, not "it doesn't work". Vague reports get vague answers.</a:t>
                </a:r>
              </a:p>
            </p:txBody>
          </p:sp>
        </p:grpSp>
      </p:grpSp>
      <p:grpSp>
        <p:nvGrpSpPr>
          <p:cNvPr name="Group 53" id="53"/>
          <p:cNvGrpSpPr/>
          <p:nvPr/>
        </p:nvGrpSpPr>
        <p:grpSpPr>
          <a:xfrm rot="0">
            <a:off x="1179981" y="753429"/>
            <a:ext cx="12755880" cy="1236342"/>
            <a:chOff x="0" y="0"/>
            <a:chExt cx="17007840" cy="1648455"/>
          </a:xfrm>
        </p:grpSpPr>
        <p:sp>
          <p:nvSpPr>
            <p:cNvPr name="Freeform 54" id="54"/>
            <p:cNvSpPr/>
            <p:nvPr/>
          </p:nvSpPr>
          <p:spPr>
            <a:xfrm flipH="false" flipV="false" rot="0">
              <a:off x="0" y="0"/>
              <a:ext cx="17007839" cy="1648455"/>
            </a:xfrm>
            <a:custGeom>
              <a:avLst/>
              <a:gdLst/>
              <a:ahLst/>
              <a:cxnLst/>
              <a:rect r="r" b="b" t="t" l="l"/>
              <a:pathLst>
                <a:path h="1648455" w="17007839">
                  <a:moveTo>
                    <a:pt x="0" y="0"/>
                  </a:moveTo>
                  <a:lnTo>
                    <a:pt x="17007839" y="0"/>
                  </a:lnTo>
                  <a:lnTo>
                    <a:pt x="17007839" y="1648455"/>
                  </a:lnTo>
                  <a:lnTo>
                    <a:pt x="0" y="1648455"/>
                  </a:lnTo>
                  <a:close/>
                </a:path>
              </a:pathLst>
            </a:custGeom>
            <a:blipFill>
              <a:blip r:embed="rId6">
                <a:alphaModFix amt="0"/>
              </a:blip>
              <a:stretch>
                <a:fillRect l="0" t="-164980" r="0" b="-137091"/>
              </a:stretch>
            </a:blipFill>
          </p:spPr>
        </p:sp>
        <p:sp>
          <p:nvSpPr>
            <p:cNvPr name="TextBox 55" id="55"/>
            <p:cNvSpPr txBox="true"/>
            <p:nvPr/>
          </p:nvSpPr>
          <p:spPr>
            <a:xfrm>
              <a:off x="0" y="-38100"/>
              <a:ext cx="17007840" cy="1686555"/>
            </a:xfrm>
            <a:prstGeom prst="rect">
              <a:avLst/>
            </a:prstGeom>
          </p:spPr>
          <p:txBody>
            <a:bodyPr anchor="ctr" rtlCol="false" tIns="0" lIns="0" bIns="0" rIns="0"/>
            <a:lstStyle/>
            <a:p>
              <a:pPr algn="l">
                <a:lnSpc>
                  <a:spcPts val="5999"/>
                </a:lnSpc>
              </a:pPr>
              <a:r>
                <a:rPr lang="en-US" sz="4999">
                  <a:solidFill>
                    <a:srgbClr val="388080"/>
                  </a:solidFill>
                  <a:latin typeface="Poppins"/>
                  <a:ea typeface="Poppins"/>
                  <a:cs typeface="Poppins"/>
                  <a:sym typeface="Poppins"/>
                </a:rPr>
                <a:t>AI-Assisted Debugging</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6497824" y="8924125"/>
            <a:ext cx="647224" cy="571500"/>
            <a:chOff x="0" y="0"/>
            <a:chExt cx="862965" cy="762000"/>
          </a:xfrm>
        </p:grpSpPr>
        <p:sp>
          <p:nvSpPr>
            <p:cNvPr name="Freeform 6" id="6"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5"/>
              <a:stretch>
                <a:fillRect l="-772" t="0" r="-772" b="0"/>
              </a:stretch>
            </a:blipFill>
          </p:spPr>
        </p:sp>
      </p:grpSp>
      <p:grpSp>
        <p:nvGrpSpPr>
          <p:cNvPr name="Group 7" id="7"/>
          <p:cNvGrpSpPr/>
          <p:nvPr/>
        </p:nvGrpSpPr>
        <p:grpSpPr>
          <a:xfrm rot="0">
            <a:off x="857250" y="857250"/>
            <a:ext cx="114300" cy="1028700"/>
            <a:chOff x="0" y="0"/>
            <a:chExt cx="152400" cy="1371600"/>
          </a:xfrm>
        </p:grpSpPr>
        <p:sp>
          <p:nvSpPr>
            <p:cNvPr name="Freeform 8" id="8"/>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grpSp>
        <p:nvGrpSpPr>
          <p:cNvPr name="Group 9" id="9"/>
          <p:cNvGrpSpPr/>
          <p:nvPr/>
        </p:nvGrpSpPr>
        <p:grpSpPr>
          <a:xfrm rot="0">
            <a:off x="722109" y="2165985"/>
            <a:ext cx="15814548" cy="6830568"/>
            <a:chOff x="0" y="0"/>
            <a:chExt cx="21086064" cy="9107424"/>
          </a:xfrm>
        </p:grpSpPr>
        <p:grpSp>
          <p:nvGrpSpPr>
            <p:cNvPr name="Group 10" id="10"/>
            <p:cNvGrpSpPr/>
            <p:nvPr/>
          </p:nvGrpSpPr>
          <p:grpSpPr>
            <a:xfrm rot="0">
              <a:off x="0" y="182880"/>
              <a:ext cx="621792" cy="621792"/>
              <a:chOff x="0" y="0"/>
              <a:chExt cx="621792" cy="621792"/>
            </a:xfrm>
          </p:grpSpPr>
          <p:sp>
            <p:nvSpPr>
              <p:cNvPr name="Freeform 11" id="11"/>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387F7F"/>
              </a:solidFill>
            </p:spPr>
          </p:sp>
        </p:grpSp>
        <p:grpSp>
          <p:nvGrpSpPr>
            <p:cNvPr name="Group 12" id="12"/>
            <p:cNvGrpSpPr/>
            <p:nvPr/>
          </p:nvGrpSpPr>
          <p:grpSpPr>
            <a:xfrm rot="0">
              <a:off x="0" y="182880"/>
              <a:ext cx="621792" cy="645312"/>
              <a:chOff x="0" y="0"/>
              <a:chExt cx="621792" cy="645312"/>
            </a:xfrm>
          </p:grpSpPr>
          <p:sp>
            <p:nvSpPr>
              <p:cNvPr name="Freeform 13" id="13"/>
              <p:cNvSpPr/>
              <p:nvPr/>
            </p:nvSpPr>
            <p:spPr>
              <a:xfrm flipH="false" flipV="false" rot="0">
                <a:off x="0" y="0"/>
                <a:ext cx="621792" cy="645312"/>
              </a:xfrm>
              <a:custGeom>
                <a:avLst/>
                <a:gdLst/>
                <a:ahLst/>
                <a:cxnLst/>
                <a:rect r="r" b="b" t="t" l="l"/>
                <a:pathLst>
                  <a:path h="645312" w="621792">
                    <a:moveTo>
                      <a:pt x="0" y="0"/>
                    </a:moveTo>
                    <a:lnTo>
                      <a:pt x="621792" y="0"/>
                    </a:lnTo>
                    <a:lnTo>
                      <a:pt x="621792" y="645312"/>
                    </a:lnTo>
                    <a:lnTo>
                      <a:pt x="0" y="645312"/>
                    </a:lnTo>
                    <a:close/>
                  </a:path>
                </a:pathLst>
              </a:custGeom>
              <a:blipFill>
                <a:blip r:embed="rId6">
                  <a:alphaModFix amt="0"/>
                </a:blip>
                <a:stretch>
                  <a:fillRect l="-78303" t="0" r="-78303" b="3644"/>
                </a:stretch>
              </a:blipFill>
            </p:spPr>
          </p:sp>
          <p:sp>
            <p:nvSpPr>
              <p:cNvPr name="TextBox 14" id="14"/>
              <p:cNvSpPr txBox="true"/>
              <p:nvPr/>
            </p:nvSpPr>
            <p:spPr>
              <a:xfrm>
                <a:off x="0" y="-19050"/>
                <a:ext cx="621792" cy="664362"/>
              </a:xfrm>
              <a:prstGeom prst="rect">
                <a:avLst/>
              </a:prstGeom>
            </p:spPr>
            <p:txBody>
              <a:bodyPr anchor="ctr" rtlCol="false" tIns="0" lIns="0" bIns="0" rIns="0"/>
              <a:lstStyle/>
              <a:p>
                <a:pPr algn="ctr">
                  <a:lnSpc>
                    <a:spcPts val="2340"/>
                  </a:lnSpc>
                </a:pPr>
                <a:r>
                  <a:rPr lang="en-US" sz="1950" b="true">
                    <a:solidFill>
                      <a:srgbClr val="FFFFFF"/>
                    </a:solidFill>
                    <a:latin typeface="Poppins Bold"/>
                    <a:ea typeface="Poppins Bold"/>
                    <a:cs typeface="Poppins Bold"/>
                    <a:sym typeface="Poppins Bold"/>
                  </a:rPr>
                  <a:t>✓</a:t>
                </a:r>
              </a:p>
            </p:txBody>
          </p:sp>
        </p:grpSp>
        <p:grpSp>
          <p:nvGrpSpPr>
            <p:cNvPr name="Group 15" id="15"/>
            <p:cNvGrpSpPr/>
            <p:nvPr/>
          </p:nvGrpSpPr>
          <p:grpSpPr>
            <a:xfrm rot="0">
              <a:off x="1078992" y="0"/>
              <a:ext cx="19403568" cy="1005840"/>
              <a:chOff x="0" y="0"/>
              <a:chExt cx="19403568" cy="1005840"/>
            </a:xfrm>
          </p:grpSpPr>
          <p:sp>
            <p:nvSpPr>
              <p:cNvPr name="Freeform 16" id="16"/>
              <p:cNvSpPr/>
              <p:nvPr/>
            </p:nvSpPr>
            <p:spPr>
              <a:xfrm flipH="false" flipV="false" rot="0">
                <a:off x="0" y="0"/>
                <a:ext cx="19403568" cy="1005840"/>
              </a:xfrm>
              <a:custGeom>
                <a:avLst/>
                <a:gdLst/>
                <a:ahLst/>
                <a:cxnLst/>
                <a:rect r="r" b="b" t="t" l="l"/>
                <a:pathLst>
                  <a:path h="1005840" w="19403568">
                    <a:moveTo>
                      <a:pt x="0" y="0"/>
                    </a:moveTo>
                    <a:lnTo>
                      <a:pt x="19403568" y="0"/>
                    </a:lnTo>
                    <a:lnTo>
                      <a:pt x="19403568" y="1005840"/>
                    </a:lnTo>
                    <a:lnTo>
                      <a:pt x="0" y="1005840"/>
                    </a:lnTo>
                    <a:close/>
                  </a:path>
                </a:pathLst>
              </a:custGeom>
              <a:blipFill>
                <a:blip r:embed="rId6">
                  <a:alphaModFix amt="0"/>
                </a:blip>
                <a:stretch>
                  <a:fillRect l="0" t="-325884" r="0" b="-325884"/>
                </a:stretch>
              </a:blipFill>
            </p:spPr>
          </p:sp>
          <p:sp>
            <p:nvSpPr>
              <p:cNvPr name="TextBox 17" id="17"/>
              <p:cNvSpPr txBox="true"/>
              <p:nvPr/>
            </p:nvSpPr>
            <p:spPr>
              <a:xfrm>
                <a:off x="0" y="-19050"/>
                <a:ext cx="19403568" cy="1024890"/>
              </a:xfrm>
              <a:prstGeom prst="rect">
                <a:avLst/>
              </a:prstGeom>
            </p:spPr>
            <p:txBody>
              <a:bodyPr anchor="ctr" rtlCol="false" tIns="0" lIns="0" bIns="0" rIns="0"/>
              <a:lstStyle/>
              <a:p>
                <a:pPr algn="l">
                  <a:lnSpc>
                    <a:spcPts val="2879"/>
                  </a:lnSpc>
                </a:pPr>
                <a:r>
                  <a:rPr lang="en-US" sz="2400">
                    <a:solidFill>
                      <a:srgbClr val="0A1A23"/>
                    </a:solidFill>
                    <a:latin typeface="Poppins"/>
                    <a:ea typeface="Poppins"/>
                    <a:cs typeface="Poppins"/>
                    <a:sym typeface="Poppins"/>
                  </a:rPr>
                  <a:t>1.  Does the code run?</a:t>
                </a:r>
              </a:p>
            </p:txBody>
          </p:sp>
        </p:grpSp>
        <p:grpSp>
          <p:nvGrpSpPr>
            <p:cNvPr name="Group 18" id="18"/>
            <p:cNvGrpSpPr/>
            <p:nvPr/>
          </p:nvGrpSpPr>
          <p:grpSpPr>
            <a:xfrm rot="0">
              <a:off x="0" y="1463040"/>
              <a:ext cx="621792" cy="621792"/>
              <a:chOff x="0" y="0"/>
              <a:chExt cx="621792" cy="621792"/>
            </a:xfrm>
          </p:grpSpPr>
          <p:sp>
            <p:nvSpPr>
              <p:cNvPr name="Freeform 19" id="19"/>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387F7F"/>
              </a:solidFill>
            </p:spPr>
          </p:sp>
        </p:grpSp>
        <p:grpSp>
          <p:nvGrpSpPr>
            <p:cNvPr name="Group 20" id="20"/>
            <p:cNvGrpSpPr/>
            <p:nvPr/>
          </p:nvGrpSpPr>
          <p:grpSpPr>
            <a:xfrm rot="0">
              <a:off x="0" y="1463040"/>
              <a:ext cx="621792" cy="645312"/>
              <a:chOff x="0" y="0"/>
              <a:chExt cx="621792" cy="645312"/>
            </a:xfrm>
          </p:grpSpPr>
          <p:sp>
            <p:nvSpPr>
              <p:cNvPr name="Freeform 21" id="21"/>
              <p:cNvSpPr/>
              <p:nvPr/>
            </p:nvSpPr>
            <p:spPr>
              <a:xfrm flipH="false" flipV="false" rot="0">
                <a:off x="0" y="0"/>
                <a:ext cx="621792" cy="645312"/>
              </a:xfrm>
              <a:custGeom>
                <a:avLst/>
                <a:gdLst/>
                <a:ahLst/>
                <a:cxnLst/>
                <a:rect r="r" b="b" t="t" l="l"/>
                <a:pathLst>
                  <a:path h="645312" w="621792">
                    <a:moveTo>
                      <a:pt x="0" y="0"/>
                    </a:moveTo>
                    <a:lnTo>
                      <a:pt x="621792" y="0"/>
                    </a:lnTo>
                    <a:lnTo>
                      <a:pt x="621792" y="645312"/>
                    </a:lnTo>
                    <a:lnTo>
                      <a:pt x="0" y="645312"/>
                    </a:lnTo>
                    <a:close/>
                  </a:path>
                </a:pathLst>
              </a:custGeom>
              <a:blipFill>
                <a:blip r:embed="rId6">
                  <a:alphaModFix amt="0"/>
                </a:blip>
                <a:stretch>
                  <a:fillRect l="-78303" t="0" r="-78303" b="3644"/>
                </a:stretch>
              </a:blipFill>
            </p:spPr>
          </p:sp>
          <p:sp>
            <p:nvSpPr>
              <p:cNvPr name="TextBox 22" id="22"/>
              <p:cNvSpPr txBox="true"/>
              <p:nvPr/>
            </p:nvSpPr>
            <p:spPr>
              <a:xfrm>
                <a:off x="0" y="-19050"/>
                <a:ext cx="621792" cy="664362"/>
              </a:xfrm>
              <a:prstGeom prst="rect">
                <a:avLst/>
              </a:prstGeom>
            </p:spPr>
            <p:txBody>
              <a:bodyPr anchor="ctr" rtlCol="false" tIns="0" lIns="0" bIns="0" rIns="0"/>
              <a:lstStyle/>
              <a:p>
                <a:pPr algn="ctr">
                  <a:lnSpc>
                    <a:spcPts val="2340"/>
                  </a:lnSpc>
                </a:pPr>
                <a:r>
                  <a:rPr lang="en-US" sz="1950" b="true">
                    <a:solidFill>
                      <a:srgbClr val="FFFFFF"/>
                    </a:solidFill>
                    <a:latin typeface="Poppins Bold"/>
                    <a:ea typeface="Poppins Bold"/>
                    <a:cs typeface="Poppins Bold"/>
                    <a:sym typeface="Poppins Bold"/>
                  </a:rPr>
                  <a:t>✓</a:t>
                </a:r>
              </a:p>
            </p:txBody>
          </p:sp>
        </p:grpSp>
        <p:grpSp>
          <p:nvGrpSpPr>
            <p:cNvPr name="Group 23" id="23"/>
            <p:cNvGrpSpPr/>
            <p:nvPr/>
          </p:nvGrpSpPr>
          <p:grpSpPr>
            <a:xfrm rot="0">
              <a:off x="1078992" y="1280160"/>
              <a:ext cx="19403568" cy="1005840"/>
              <a:chOff x="0" y="0"/>
              <a:chExt cx="19403568" cy="1005840"/>
            </a:xfrm>
          </p:grpSpPr>
          <p:sp>
            <p:nvSpPr>
              <p:cNvPr name="Freeform 24" id="24"/>
              <p:cNvSpPr/>
              <p:nvPr/>
            </p:nvSpPr>
            <p:spPr>
              <a:xfrm flipH="false" flipV="false" rot="0">
                <a:off x="0" y="0"/>
                <a:ext cx="19403568" cy="1005840"/>
              </a:xfrm>
              <a:custGeom>
                <a:avLst/>
                <a:gdLst/>
                <a:ahLst/>
                <a:cxnLst/>
                <a:rect r="r" b="b" t="t" l="l"/>
                <a:pathLst>
                  <a:path h="1005840" w="19403568">
                    <a:moveTo>
                      <a:pt x="0" y="0"/>
                    </a:moveTo>
                    <a:lnTo>
                      <a:pt x="19403568" y="0"/>
                    </a:lnTo>
                    <a:lnTo>
                      <a:pt x="19403568" y="1005840"/>
                    </a:lnTo>
                    <a:lnTo>
                      <a:pt x="0" y="1005840"/>
                    </a:lnTo>
                    <a:close/>
                  </a:path>
                </a:pathLst>
              </a:custGeom>
              <a:blipFill>
                <a:blip r:embed="rId6">
                  <a:alphaModFix amt="0"/>
                </a:blip>
                <a:stretch>
                  <a:fillRect l="0" t="-325884" r="0" b="-325884"/>
                </a:stretch>
              </a:blipFill>
            </p:spPr>
          </p:sp>
          <p:sp>
            <p:nvSpPr>
              <p:cNvPr name="TextBox 25" id="25"/>
              <p:cNvSpPr txBox="true"/>
              <p:nvPr/>
            </p:nvSpPr>
            <p:spPr>
              <a:xfrm>
                <a:off x="0" y="-19050"/>
                <a:ext cx="19403568" cy="1024890"/>
              </a:xfrm>
              <a:prstGeom prst="rect">
                <a:avLst/>
              </a:prstGeom>
            </p:spPr>
            <p:txBody>
              <a:bodyPr anchor="ctr" rtlCol="false" tIns="0" lIns="0" bIns="0" rIns="0"/>
              <a:lstStyle/>
              <a:p>
                <a:pPr algn="l">
                  <a:lnSpc>
                    <a:spcPts val="2879"/>
                  </a:lnSpc>
                </a:pPr>
                <a:r>
                  <a:rPr lang="en-US" sz="2400">
                    <a:solidFill>
                      <a:srgbClr val="0A1A23"/>
                    </a:solidFill>
                    <a:latin typeface="Poppins"/>
                    <a:ea typeface="Poppins"/>
                    <a:cs typeface="Poppins"/>
                    <a:sym typeface="Poppins"/>
                  </a:rPr>
                  <a:t>2.  Does it use the correct columns?</a:t>
                </a:r>
              </a:p>
            </p:txBody>
          </p:sp>
        </p:grpSp>
        <p:grpSp>
          <p:nvGrpSpPr>
            <p:cNvPr name="Group 26" id="26"/>
            <p:cNvGrpSpPr/>
            <p:nvPr/>
          </p:nvGrpSpPr>
          <p:grpSpPr>
            <a:xfrm rot="0">
              <a:off x="0" y="2743200"/>
              <a:ext cx="621792" cy="621792"/>
              <a:chOff x="0" y="0"/>
              <a:chExt cx="621792" cy="621792"/>
            </a:xfrm>
          </p:grpSpPr>
          <p:sp>
            <p:nvSpPr>
              <p:cNvPr name="Freeform 27" id="27"/>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387F7F"/>
              </a:solidFill>
            </p:spPr>
          </p:sp>
        </p:grpSp>
        <p:grpSp>
          <p:nvGrpSpPr>
            <p:cNvPr name="Group 28" id="28"/>
            <p:cNvGrpSpPr/>
            <p:nvPr/>
          </p:nvGrpSpPr>
          <p:grpSpPr>
            <a:xfrm rot="0">
              <a:off x="0" y="2743200"/>
              <a:ext cx="621792" cy="645312"/>
              <a:chOff x="0" y="0"/>
              <a:chExt cx="621792" cy="645312"/>
            </a:xfrm>
          </p:grpSpPr>
          <p:sp>
            <p:nvSpPr>
              <p:cNvPr name="Freeform 29" id="29"/>
              <p:cNvSpPr/>
              <p:nvPr/>
            </p:nvSpPr>
            <p:spPr>
              <a:xfrm flipH="false" flipV="false" rot="0">
                <a:off x="0" y="0"/>
                <a:ext cx="621792" cy="645312"/>
              </a:xfrm>
              <a:custGeom>
                <a:avLst/>
                <a:gdLst/>
                <a:ahLst/>
                <a:cxnLst/>
                <a:rect r="r" b="b" t="t" l="l"/>
                <a:pathLst>
                  <a:path h="645312" w="621792">
                    <a:moveTo>
                      <a:pt x="0" y="0"/>
                    </a:moveTo>
                    <a:lnTo>
                      <a:pt x="621792" y="0"/>
                    </a:lnTo>
                    <a:lnTo>
                      <a:pt x="621792" y="645312"/>
                    </a:lnTo>
                    <a:lnTo>
                      <a:pt x="0" y="645312"/>
                    </a:lnTo>
                    <a:close/>
                  </a:path>
                </a:pathLst>
              </a:custGeom>
              <a:blipFill>
                <a:blip r:embed="rId6">
                  <a:alphaModFix amt="0"/>
                </a:blip>
                <a:stretch>
                  <a:fillRect l="-78303" t="0" r="-78303" b="3644"/>
                </a:stretch>
              </a:blipFill>
            </p:spPr>
          </p:sp>
          <p:sp>
            <p:nvSpPr>
              <p:cNvPr name="TextBox 30" id="30"/>
              <p:cNvSpPr txBox="true"/>
              <p:nvPr/>
            </p:nvSpPr>
            <p:spPr>
              <a:xfrm>
                <a:off x="0" y="-19050"/>
                <a:ext cx="621792" cy="664362"/>
              </a:xfrm>
              <a:prstGeom prst="rect">
                <a:avLst/>
              </a:prstGeom>
            </p:spPr>
            <p:txBody>
              <a:bodyPr anchor="ctr" rtlCol="false" tIns="0" lIns="0" bIns="0" rIns="0"/>
              <a:lstStyle/>
              <a:p>
                <a:pPr algn="ctr">
                  <a:lnSpc>
                    <a:spcPts val="2340"/>
                  </a:lnSpc>
                </a:pPr>
                <a:r>
                  <a:rPr lang="en-US" sz="1950" b="true">
                    <a:solidFill>
                      <a:srgbClr val="FFFFFF"/>
                    </a:solidFill>
                    <a:latin typeface="Poppins Bold"/>
                    <a:ea typeface="Poppins Bold"/>
                    <a:cs typeface="Poppins Bold"/>
                    <a:sym typeface="Poppins Bold"/>
                  </a:rPr>
                  <a:t>✓</a:t>
                </a:r>
              </a:p>
            </p:txBody>
          </p:sp>
        </p:grpSp>
        <p:grpSp>
          <p:nvGrpSpPr>
            <p:cNvPr name="Group 31" id="31"/>
            <p:cNvGrpSpPr/>
            <p:nvPr/>
          </p:nvGrpSpPr>
          <p:grpSpPr>
            <a:xfrm rot="0">
              <a:off x="1078992" y="2560320"/>
              <a:ext cx="19403568" cy="1005840"/>
              <a:chOff x="0" y="0"/>
              <a:chExt cx="19403568" cy="1005840"/>
            </a:xfrm>
          </p:grpSpPr>
          <p:sp>
            <p:nvSpPr>
              <p:cNvPr name="Freeform 32" id="32"/>
              <p:cNvSpPr/>
              <p:nvPr/>
            </p:nvSpPr>
            <p:spPr>
              <a:xfrm flipH="false" flipV="false" rot="0">
                <a:off x="0" y="0"/>
                <a:ext cx="19403568" cy="1005840"/>
              </a:xfrm>
              <a:custGeom>
                <a:avLst/>
                <a:gdLst/>
                <a:ahLst/>
                <a:cxnLst/>
                <a:rect r="r" b="b" t="t" l="l"/>
                <a:pathLst>
                  <a:path h="1005840" w="19403568">
                    <a:moveTo>
                      <a:pt x="0" y="0"/>
                    </a:moveTo>
                    <a:lnTo>
                      <a:pt x="19403568" y="0"/>
                    </a:lnTo>
                    <a:lnTo>
                      <a:pt x="19403568" y="1005840"/>
                    </a:lnTo>
                    <a:lnTo>
                      <a:pt x="0" y="1005840"/>
                    </a:lnTo>
                    <a:close/>
                  </a:path>
                </a:pathLst>
              </a:custGeom>
              <a:blipFill>
                <a:blip r:embed="rId6">
                  <a:alphaModFix amt="0"/>
                </a:blip>
                <a:stretch>
                  <a:fillRect l="0" t="-325884" r="0" b="-325884"/>
                </a:stretch>
              </a:blipFill>
            </p:spPr>
          </p:sp>
          <p:sp>
            <p:nvSpPr>
              <p:cNvPr name="TextBox 33" id="33"/>
              <p:cNvSpPr txBox="true"/>
              <p:nvPr/>
            </p:nvSpPr>
            <p:spPr>
              <a:xfrm>
                <a:off x="0" y="-19050"/>
                <a:ext cx="19403568" cy="1024890"/>
              </a:xfrm>
              <a:prstGeom prst="rect">
                <a:avLst/>
              </a:prstGeom>
            </p:spPr>
            <p:txBody>
              <a:bodyPr anchor="ctr" rtlCol="false" tIns="0" lIns="0" bIns="0" rIns="0"/>
              <a:lstStyle/>
              <a:p>
                <a:pPr algn="l">
                  <a:lnSpc>
                    <a:spcPts val="2879"/>
                  </a:lnSpc>
                </a:pPr>
                <a:r>
                  <a:rPr lang="en-US" sz="2400">
                    <a:solidFill>
                      <a:srgbClr val="0A1A23"/>
                    </a:solidFill>
                    <a:latin typeface="Poppins"/>
                    <a:ea typeface="Poppins"/>
                    <a:cs typeface="Poppins"/>
                    <a:sym typeface="Poppins"/>
                  </a:rPr>
                  <a:t>3.  Does the output make sense?</a:t>
                </a:r>
              </a:p>
            </p:txBody>
          </p:sp>
        </p:grpSp>
        <p:grpSp>
          <p:nvGrpSpPr>
            <p:cNvPr name="Group 34" id="34"/>
            <p:cNvGrpSpPr/>
            <p:nvPr/>
          </p:nvGrpSpPr>
          <p:grpSpPr>
            <a:xfrm rot="0">
              <a:off x="0" y="4023360"/>
              <a:ext cx="621792" cy="621792"/>
              <a:chOff x="0" y="0"/>
              <a:chExt cx="621792" cy="621792"/>
            </a:xfrm>
          </p:grpSpPr>
          <p:sp>
            <p:nvSpPr>
              <p:cNvPr name="Freeform 35" id="35"/>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387F7F"/>
              </a:solidFill>
            </p:spPr>
          </p:sp>
        </p:grpSp>
        <p:grpSp>
          <p:nvGrpSpPr>
            <p:cNvPr name="Group 36" id="36"/>
            <p:cNvGrpSpPr/>
            <p:nvPr/>
          </p:nvGrpSpPr>
          <p:grpSpPr>
            <a:xfrm rot="0">
              <a:off x="0" y="4023360"/>
              <a:ext cx="621792" cy="645312"/>
              <a:chOff x="0" y="0"/>
              <a:chExt cx="621792" cy="645312"/>
            </a:xfrm>
          </p:grpSpPr>
          <p:sp>
            <p:nvSpPr>
              <p:cNvPr name="Freeform 37" id="37"/>
              <p:cNvSpPr/>
              <p:nvPr/>
            </p:nvSpPr>
            <p:spPr>
              <a:xfrm flipH="false" flipV="false" rot="0">
                <a:off x="0" y="0"/>
                <a:ext cx="621792" cy="645312"/>
              </a:xfrm>
              <a:custGeom>
                <a:avLst/>
                <a:gdLst/>
                <a:ahLst/>
                <a:cxnLst/>
                <a:rect r="r" b="b" t="t" l="l"/>
                <a:pathLst>
                  <a:path h="645312" w="621792">
                    <a:moveTo>
                      <a:pt x="0" y="0"/>
                    </a:moveTo>
                    <a:lnTo>
                      <a:pt x="621792" y="0"/>
                    </a:lnTo>
                    <a:lnTo>
                      <a:pt x="621792" y="645312"/>
                    </a:lnTo>
                    <a:lnTo>
                      <a:pt x="0" y="645312"/>
                    </a:lnTo>
                    <a:close/>
                  </a:path>
                </a:pathLst>
              </a:custGeom>
              <a:blipFill>
                <a:blip r:embed="rId6">
                  <a:alphaModFix amt="0"/>
                </a:blip>
                <a:stretch>
                  <a:fillRect l="-78303" t="0" r="-78303" b="3644"/>
                </a:stretch>
              </a:blipFill>
            </p:spPr>
          </p:sp>
          <p:sp>
            <p:nvSpPr>
              <p:cNvPr name="TextBox 38" id="38"/>
              <p:cNvSpPr txBox="true"/>
              <p:nvPr/>
            </p:nvSpPr>
            <p:spPr>
              <a:xfrm>
                <a:off x="0" y="-19050"/>
                <a:ext cx="621792" cy="664362"/>
              </a:xfrm>
              <a:prstGeom prst="rect">
                <a:avLst/>
              </a:prstGeom>
            </p:spPr>
            <p:txBody>
              <a:bodyPr anchor="ctr" rtlCol="false" tIns="0" lIns="0" bIns="0" rIns="0"/>
              <a:lstStyle/>
              <a:p>
                <a:pPr algn="ctr">
                  <a:lnSpc>
                    <a:spcPts val="2340"/>
                  </a:lnSpc>
                </a:pPr>
                <a:r>
                  <a:rPr lang="en-US" sz="1950" b="true">
                    <a:solidFill>
                      <a:srgbClr val="FFFFFF"/>
                    </a:solidFill>
                    <a:latin typeface="Poppins Bold"/>
                    <a:ea typeface="Poppins Bold"/>
                    <a:cs typeface="Poppins Bold"/>
                    <a:sym typeface="Poppins Bold"/>
                  </a:rPr>
                  <a:t>✓</a:t>
                </a:r>
              </a:p>
            </p:txBody>
          </p:sp>
        </p:grpSp>
        <p:grpSp>
          <p:nvGrpSpPr>
            <p:cNvPr name="Group 39" id="39"/>
            <p:cNvGrpSpPr/>
            <p:nvPr/>
          </p:nvGrpSpPr>
          <p:grpSpPr>
            <a:xfrm rot="0">
              <a:off x="1078992" y="3840480"/>
              <a:ext cx="19403568" cy="1005840"/>
              <a:chOff x="0" y="0"/>
              <a:chExt cx="19403568" cy="1005840"/>
            </a:xfrm>
          </p:grpSpPr>
          <p:sp>
            <p:nvSpPr>
              <p:cNvPr name="Freeform 40" id="40"/>
              <p:cNvSpPr/>
              <p:nvPr/>
            </p:nvSpPr>
            <p:spPr>
              <a:xfrm flipH="false" flipV="false" rot="0">
                <a:off x="0" y="0"/>
                <a:ext cx="19403568" cy="1005840"/>
              </a:xfrm>
              <a:custGeom>
                <a:avLst/>
                <a:gdLst/>
                <a:ahLst/>
                <a:cxnLst/>
                <a:rect r="r" b="b" t="t" l="l"/>
                <a:pathLst>
                  <a:path h="1005840" w="19403568">
                    <a:moveTo>
                      <a:pt x="0" y="0"/>
                    </a:moveTo>
                    <a:lnTo>
                      <a:pt x="19403568" y="0"/>
                    </a:lnTo>
                    <a:lnTo>
                      <a:pt x="19403568" y="1005840"/>
                    </a:lnTo>
                    <a:lnTo>
                      <a:pt x="0" y="1005840"/>
                    </a:lnTo>
                    <a:close/>
                  </a:path>
                </a:pathLst>
              </a:custGeom>
              <a:blipFill>
                <a:blip r:embed="rId6">
                  <a:alphaModFix amt="0"/>
                </a:blip>
                <a:stretch>
                  <a:fillRect l="0" t="-325884" r="0" b="-325884"/>
                </a:stretch>
              </a:blipFill>
            </p:spPr>
          </p:sp>
          <p:sp>
            <p:nvSpPr>
              <p:cNvPr name="TextBox 41" id="41"/>
              <p:cNvSpPr txBox="true"/>
              <p:nvPr/>
            </p:nvSpPr>
            <p:spPr>
              <a:xfrm>
                <a:off x="0" y="-19050"/>
                <a:ext cx="19403568" cy="1024890"/>
              </a:xfrm>
              <a:prstGeom prst="rect">
                <a:avLst/>
              </a:prstGeom>
            </p:spPr>
            <p:txBody>
              <a:bodyPr anchor="ctr" rtlCol="false" tIns="0" lIns="0" bIns="0" rIns="0"/>
              <a:lstStyle/>
              <a:p>
                <a:pPr algn="l">
                  <a:lnSpc>
                    <a:spcPts val="2879"/>
                  </a:lnSpc>
                </a:pPr>
                <a:r>
                  <a:rPr lang="en-US" sz="2400">
                    <a:solidFill>
                      <a:srgbClr val="0A1A23"/>
                    </a:solidFill>
                    <a:latin typeface="Poppins"/>
                    <a:ea typeface="Poppins"/>
                    <a:cs typeface="Poppins"/>
                    <a:sym typeface="Poppins"/>
                  </a:rPr>
                  <a:t>4.  Does the result answer the original question?</a:t>
                </a:r>
              </a:p>
            </p:txBody>
          </p:sp>
        </p:grpSp>
        <p:grpSp>
          <p:nvGrpSpPr>
            <p:cNvPr name="Group 42" id="42"/>
            <p:cNvGrpSpPr/>
            <p:nvPr/>
          </p:nvGrpSpPr>
          <p:grpSpPr>
            <a:xfrm rot="0">
              <a:off x="0" y="5303520"/>
              <a:ext cx="621792" cy="621792"/>
              <a:chOff x="0" y="0"/>
              <a:chExt cx="621792" cy="621792"/>
            </a:xfrm>
          </p:grpSpPr>
          <p:sp>
            <p:nvSpPr>
              <p:cNvPr name="Freeform 43" id="43"/>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387F7F"/>
              </a:solidFill>
            </p:spPr>
          </p:sp>
        </p:grpSp>
        <p:grpSp>
          <p:nvGrpSpPr>
            <p:cNvPr name="Group 44" id="44"/>
            <p:cNvGrpSpPr/>
            <p:nvPr/>
          </p:nvGrpSpPr>
          <p:grpSpPr>
            <a:xfrm rot="0">
              <a:off x="0" y="5303520"/>
              <a:ext cx="621792" cy="645312"/>
              <a:chOff x="0" y="0"/>
              <a:chExt cx="621792" cy="645312"/>
            </a:xfrm>
          </p:grpSpPr>
          <p:sp>
            <p:nvSpPr>
              <p:cNvPr name="Freeform 45" id="45"/>
              <p:cNvSpPr/>
              <p:nvPr/>
            </p:nvSpPr>
            <p:spPr>
              <a:xfrm flipH="false" flipV="false" rot="0">
                <a:off x="0" y="0"/>
                <a:ext cx="621792" cy="645312"/>
              </a:xfrm>
              <a:custGeom>
                <a:avLst/>
                <a:gdLst/>
                <a:ahLst/>
                <a:cxnLst/>
                <a:rect r="r" b="b" t="t" l="l"/>
                <a:pathLst>
                  <a:path h="645312" w="621792">
                    <a:moveTo>
                      <a:pt x="0" y="0"/>
                    </a:moveTo>
                    <a:lnTo>
                      <a:pt x="621792" y="0"/>
                    </a:lnTo>
                    <a:lnTo>
                      <a:pt x="621792" y="645312"/>
                    </a:lnTo>
                    <a:lnTo>
                      <a:pt x="0" y="645312"/>
                    </a:lnTo>
                    <a:close/>
                  </a:path>
                </a:pathLst>
              </a:custGeom>
              <a:blipFill>
                <a:blip r:embed="rId6">
                  <a:alphaModFix amt="0"/>
                </a:blip>
                <a:stretch>
                  <a:fillRect l="-78303" t="0" r="-78303" b="3644"/>
                </a:stretch>
              </a:blipFill>
            </p:spPr>
          </p:sp>
          <p:sp>
            <p:nvSpPr>
              <p:cNvPr name="TextBox 46" id="46"/>
              <p:cNvSpPr txBox="true"/>
              <p:nvPr/>
            </p:nvSpPr>
            <p:spPr>
              <a:xfrm>
                <a:off x="0" y="-19050"/>
                <a:ext cx="621792" cy="664362"/>
              </a:xfrm>
              <a:prstGeom prst="rect">
                <a:avLst/>
              </a:prstGeom>
            </p:spPr>
            <p:txBody>
              <a:bodyPr anchor="ctr" rtlCol="false" tIns="0" lIns="0" bIns="0" rIns="0"/>
              <a:lstStyle/>
              <a:p>
                <a:pPr algn="ctr">
                  <a:lnSpc>
                    <a:spcPts val="2340"/>
                  </a:lnSpc>
                </a:pPr>
                <a:r>
                  <a:rPr lang="en-US" sz="1950" b="true">
                    <a:solidFill>
                      <a:srgbClr val="FFFFFF"/>
                    </a:solidFill>
                    <a:latin typeface="Poppins Bold"/>
                    <a:ea typeface="Poppins Bold"/>
                    <a:cs typeface="Poppins Bold"/>
                    <a:sym typeface="Poppins Bold"/>
                  </a:rPr>
                  <a:t>✓</a:t>
                </a:r>
              </a:p>
            </p:txBody>
          </p:sp>
        </p:grpSp>
        <p:grpSp>
          <p:nvGrpSpPr>
            <p:cNvPr name="Group 47" id="47"/>
            <p:cNvGrpSpPr/>
            <p:nvPr/>
          </p:nvGrpSpPr>
          <p:grpSpPr>
            <a:xfrm rot="0">
              <a:off x="1078992" y="5120640"/>
              <a:ext cx="19403568" cy="1005840"/>
              <a:chOff x="0" y="0"/>
              <a:chExt cx="19403568" cy="1005840"/>
            </a:xfrm>
          </p:grpSpPr>
          <p:sp>
            <p:nvSpPr>
              <p:cNvPr name="Freeform 48" id="48"/>
              <p:cNvSpPr/>
              <p:nvPr/>
            </p:nvSpPr>
            <p:spPr>
              <a:xfrm flipH="false" flipV="false" rot="0">
                <a:off x="0" y="0"/>
                <a:ext cx="19403568" cy="1005840"/>
              </a:xfrm>
              <a:custGeom>
                <a:avLst/>
                <a:gdLst/>
                <a:ahLst/>
                <a:cxnLst/>
                <a:rect r="r" b="b" t="t" l="l"/>
                <a:pathLst>
                  <a:path h="1005840" w="19403568">
                    <a:moveTo>
                      <a:pt x="0" y="0"/>
                    </a:moveTo>
                    <a:lnTo>
                      <a:pt x="19403568" y="0"/>
                    </a:lnTo>
                    <a:lnTo>
                      <a:pt x="19403568" y="1005840"/>
                    </a:lnTo>
                    <a:lnTo>
                      <a:pt x="0" y="1005840"/>
                    </a:lnTo>
                    <a:close/>
                  </a:path>
                </a:pathLst>
              </a:custGeom>
              <a:blipFill>
                <a:blip r:embed="rId6">
                  <a:alphaModFix amt="0"/>
                </a:blip>
                <a:stretch>
                  <a:fillRect l="0" t="-325884" r="0" b="-325884"/>
                </a:stretch>
              </a:blipFill>
            </p:spPr>
          </p:sp>
          <p:sp>
            <p:nvSpPr>
              <p:cNvPr name="TextBox 49" id="49"/>
              <p:cNvSpPr txBox="true"/>
              <p:nvPr/>
            </p:nvSpPr>
            <p:spPr>
              <a:xfrm>
                <a:off x="0" y="-19050"/>
                <a:ext cx="19403568" cy="1024890"/>
              </a:xfrm>
              <a:prstGeom prst="rect">
                <a:avLst/>
              </a:prstGeom>
            </p:spPr>
            <p:txBody>
              <a:bodyPr anchor="ctr" rtlCol="false" tIns="0" lIns="0" bIns="0" rIns="0"/>
              <a:lstStyle/>
              <a:p>
                <a:pPr algn="l">
                  <a:lnSpc>
                    <a:spcPts val="2879"/>
                  </a:lnSpc>
                </a:pPr>
                <a:r>
                  <a:rPr lang="en-US" sz="2400">
                    <a:solidFill>
                      <a:srgbClr val="0A1A23"/>
                    </a:solidFill>
                    <a:latin typeface="Poppins"/>
                    <a:ea typeface="Poppins"/>
                    <a:cs typeface="Poppins"/>
                    <a:sym typeface="Poppins"/>
                  </a:rPr>
                  <a:t>5.  Can I reproduce the result another way?</a:t>
                </a:r>
              </a:p>
            </p:txBody>
          </p:sp>
        </p:grpSp>
        <p:grpSp>
          <p:nvGrpSpPr>
            <p:cNvPr name="Group 50" id="50"/>
            <p:cNvGrpSpPr/>
            <p:nvPr/>
          </p:nvGrpSpPr>
          <p:grpSpPr>
            <a:xfrm rot="0">
              <a:off x="0" y="6583680"/>
              <a:ext cx="621792" cy="621792"/>
              <a:chOff x="0" y="0"/>
              <a:chExt cx="621792" cy="621792"/>
            </a:xfrm>
          </p:grpSpPr>
          <p:sp>
            <p:nvSpPr>
              <p:cNvPr name="Freeform 51" id="51"/>
              <p:cNvSpPr/>
              <p:nvPr/>
            </p:nvSpPr>
            <p:spPr>
              <a:xfrm flipH="false" flipV="false" rot="0">
                <a:off x="0" y="0"/>
                <a:ext cx="621792" cy="621792"/>
              </a:xfrm>
              <a:custGeom>
                <a:avLst/>
                <a:gdLst/>
                <a:ahLst/>
                <a:cxnLst/>
                <a:rect r="r" b="b" t="t" l="l"/>
                <a:pathLst>
                  <a:path h="621792" w="621792">
                    <a:moveTo>
                      <a:pt x="0" y="310896"/>
                    </a:moveTo>
                    <a:cubicBezTo>
                      <a:pt x="0" y="139192"/>
                      <a:pt x="139192" y="0"/>
                      <a:pt x="310896" y="0"/>
                    </a:cubicBezTo>
                    <a:cubicBezTo>
                      <a:pt x="482600" y="0"/>
                      <a:pt x="621792" y="139192"/>
                      <a:pt x="621792" y="310896"/>
                    </a:cubicBezTo>
                    <a:cubicBezTo>
                      <a:pt x="621792" y="482600"/>
                      <a:pt x="482600" y="621792"/>
                      <a:pt x="310896" y="621792"/>
                    </a:cubicBezTo>
                    <a:cubicBezTo>
                      <a:pt x="139192" y="621792"/>
                      <a:pt x="0" y="482600"/>
                      <a:pt x="0" y="310896"/>
                    </a:cubicBezTo>
                    <a:close/>
                  </a:path>
                </a:pathLst>
              </a:custGeom>
              <a:solidFill>
                <a:srgbClr val="387F7F"/>
              </a:solidFill>
            </p:spPr>
          </p:sp>
        </p:grpSp>
        <p:grpSp>
          <p:nvGrpSpPr>
            <p:cNvPr name="Group 52" id="52"/>
            <p:cNvGrpSpPr/>
            <p:nvPr/>
          </p:nvGrpSpPr>
          <p:grpSpPr>
            <a:xfrm rot="0">
              <a:off x="0" y="6583680"/>
              <a:ext cx="621792" cy="645312"/>
              <a:chOff x="0" y="0"/>
              <a:chExt cx="621792" cy="645312"/>
            </a:xfrm>
          </p:grpSpPr>
          <p:sp>
            <p:nvSpPr>
              <p:cNvPr name="Freeform 53" id="53"/>
              <p:cNvSpPr/>
              <p:nvPr/>
            </p:nvSpPr>
            <p:spPr>
              <a:xfrm flipH="false" flipV="false" rot="0">
                <a:off x="0" y="0"/>
                <a:ext cx="621792" cy="645312"/>
              </a:xfrm>
              <a:custGeom>
                <a:avLst/>
                <a:gdLst/>
                <a:ahLst/>
                <a:cxnLst/>
                <a:rect r="r" b="b" t="t" l="l"/>
                <a:pathLst>
                  <a:path h="645312" w="621792">
                    <a:moveTo>
                      <a:pt x="0" y="0"/>
                    </a:moveTo>
                    <a:lnTo>
                      <a:pt x="621792" y="0"/>
                    </a:lnTo>
                    <a:lnTo>
                      <a:pt x="621792" y="645312"/>
                    </a:lnTo>
                    <a:lnTo>
                      <a:pt x="0" y="645312"/>
                    </a:lnTo>
                    <a:close/>
                  </a:path>
                </a:pathLst>
              </a:custGeom>
              <a:blipFill>
                <a:blip r:embed="rId6">
                  <a:alphaModFix amt="0"/>
                </a:blip>
                <a:stretch>
                  <a:fillRect l="-78303" t="0" r="-78303" b="3644"/>
                </a:stretch>
              </a:blipFill>
            </p:spPr>
          </p:sp>
          <p:sp>
            <p:nvSpPr>
              <p:cNvPr name="TextBox 54" id="54"/>
              <p:cNvSpPr txBox="true"/>
              <p:nvPr/>
            </p:nvSpPr>
            <p:spPr>
              <a:xfrm>
                <a:off x="0" y="-19050"/>
                <a:ext cx="621792" cy="664362"/>
              </a:xfrm>
              <a:prstGeom prst="rect">
                <a:avLst/>
              </a:prstGeom>
            </p:spPr>
            <p:txBody>
              <a:bodyPr anchor="ctr" rtlCol="false" tIns="0" lIns="0" bIns="0" rIns="0"/>
              <a:lstStyle/>
              <a:p>
                <a:pPr algn="ctr">
                  <a:lnSpc>
                    <a:spcPts val="2340"/>
                  </a:lnSpc>
                </a:pPr>
                <a:r>
                  <a:rPr lang="en-US" sz="1950" b="true">
                    <a:solidFill>
                      <a:srgbClr val="FFFFFF"/>
                    </a:solidFill>
                    <a:latin typeface="Poppins Bold"/>
                    <a:ea typeface="Poppins Bold"/>
                    <a:cs typeface="Poppins Bold"/>
                    <a:sym typeface="Poppins Bold"/>
                  </a:rPr>
                  <a:t>✓</a:t>
                </a:r>
              </a:p>
            </p:txBody>
          </p:sp>
        </p:grpSp>
        <p:grpSp>
          <p:nvGrpSpPr>
            <p:cNvPr name="Group 55" id="55"/>
            <p:cNvGrpSpPr/>
            <p:nvPr/>
          </p:nvGrpSpPr>
          <p:grpSpPr>
            <a:xfrm rot="0">
              <a:off x="1078992" y="6400800"/>
              <a:ext cx="19403568" cy="1005840"/>
              <a:chOff x="0" y="0"/>
              <a:chExt cx="19403568" cy="1005840"/>
            </a:xfrm>
          </p:grpSpPr>
          <p:sp>
            <p:nvSpPr>
              <p:cNvPr name="Freeform 56" id="56"/>
              <p:cNvSpPr/>
              <p:nvPr/>
            </p:nvSpPr>
            <p:spPr>
              <a:xfrm flipH="false" flipV="false" rot="0">
                <a:off x="0" y="0"/>
                <a:ext cx="19403568" cy="1005840"/>
              </a:xfrm>
              <a:custGeom>
                <a:avLst/>
                <a:gdLst/>
                <a:ahLst/>
                <a:cxnLst/>
                <a:rect r="r" b="b" t="t" l="l"/>
                <a:pathLst>
                  <a:path h="1005840" w="19403568">
                    <a:moveTo>
                      <a:pt x="0" y="0"/>
                    </a:moveTo>
                    <a:lnTo>
                      <a:pt x="19403568" y="0"/>
                    </a:lnTo>
                    <a:lnTo>
                      <a:pt x="19403568" y="1005840"/>
                    </a:lnTo>
                    <a:lnTo>
                      <a:pt x="0" y="1005840"/>
                    </a:lnTo>
                    <a:close/>
                  </a:path>
                </a:pathLst>
              </a:custGeom>
              <a:blipFill>
                <a:blip r:embed="rId6">
                  <a:alphaModFix amt="0"/>
                </a:blip>
                <a:stretch>
                  <a:fillRect l="0" t="-325884" r="0" b="-325884"/>
                </a:stretch>
              </a:blipFill>
            </p:spPr>
          </p:sp>
          <p:sp>
            <p:nvSpPr>
              <p:cNvPr name="TextBox 57" id="57"/>
              <p:cNvSpPr txBox="true"/>
              <p:nvPr/>
            </p:nvSpPr>
            <p:spPr>
              <a:xfrm>
                <a:off x="0" y="-19050"/>
                <a:ext cx="19403568" cy="1024890"/>
              </a:xfrm>
              <a:prstGeom prst="rect">
                <a:avLst/>
              </a:prstGeom>
            </p:spPr>
            <p:txBody>
              <a:bodyPr anchor="ctr" rtlCol="false" tIns="0" lIns="0" bIns="0" rIns="0"/>
              <a:lstStyle/>
              <a:p>
                <a:pPr algn="l">
                  <a:lnSpc>
                    <a:spcPts val="2879"/>
                  </a:lnSpc>
                </a:pPr>
                <a:r>
                  <a:rPr lang="en-US" sz="2400">
                    <a:solidFill>
                      <a:srgbClr val="0A1A23"/>
                    </a:solidFill>
                    <a:latin typeface="Poppins"/>
                    <a:ea typeface="Poppins"/>
                    <a:cs typeface="Poppins"/>
                    <a:sym typeface="Poppins"/>
                  </a:rPr>
                  <a:t>6.  Can I explain every line?</a:t>
                </a:r>
              </a:p>
            </p:txBody>
          </p:sp>
        </p:grpSp>
        <p:grpSp>
          <p:nvGrpSpPr>
            <p:cNvPr name="Group 58" id="58"/>
            <p:cNvGrpSpPr/>
            <p:nvPr/>
          </p:nvGrpSpPr>
          <p:grpSpPr>
            <a:xfrm rot="0">
              <a:off x="0" y="8284464"/>
              <a:ext cx="21086064" cy="822960"/>
              <a:chOff x="0" y="0"/>
              <a:chExt cx="21086064" cy="822960"/>
            </a:xfrm>
          </p:grpSpPr>
          <p:sp>
            <p:nvSpPr>
              <p:cNvPr name="Freeform 59" id="59"/>
              <p:cNvSpPr/>
              <p:nvPr/>
            </p:nvSpPr>
            <p:spPr>
              <a:xfrm flipH="false" flipV="false" rot="0">
                <a:off x="0" y="0"/>
                <a:ext cx="21086065" cy="822960"/>
              </a:xfrm>
              <a:custGeom>
                <a:avLst/>
                <a:gdLst/>
                <a:ahLst/>
                <a:cxnLst/>
                <a:rect r="r" b="b" t="t" l="l"/>
                <a:pathLst>
                  <a:path h="822960" w="21086065">
                    <a:moveTo>
                      <a:pt x="0" y="0"/>
                    </a:moveTo>
                    <a:lnTo>
                      <a:pt x="21086065" y="0"/>
                    </a:lnTo>
                    <a:lnTo>
                      <a:pt x="21086065" y="822960"/>
                    </a:lnTo>
                    <a:lnTo>
                      <a:pt x="0" y="822960"/>
                    </a:lnTo>
                    <a:close/>
                  </a:path>
                </a:pathLst>
              </a:custGeom>
              <a:blipFill>
                <a:blip r:embed="rId6">
                  <a:alphaModFix amt="0"/>
                </a:blip>
                <a:stretch>
                  <a:fillRect l="0" t="-449249" r="0" b="-449249"/>
                </a:stretch>
              </a:blipFill>
            </p:spPr>
          </p:sp>
          <p:sp>
            <p:nvSpPr>
              <p:cNvPr name="TextBox 60" id="60"/>
              <p:cNvSpPr txBox="true"/>
              <p:nvPr/>
            </p:nvSpPr>
            <p:spPr>
              <a:xfrm>
                <a:off x="0" y="-57150"/>
                <a:ext cx="21086064" cy="880110"/>
              </a:xfrm>
              <a:prstGeom prst="rect">
                <a:avLst/>
              </a:prstGeom>
            </p:spPr>
            <p:txBody>
              <a:bodyPr anchor="ctr" rtlCol="false" tIns="0" lIns="0" bIns="0" rIns="0"/>
              <a:lstStyle/>
              <a:p>
                <a:pPr algn="l">
                  <a:lnSpc>
                    <a:spcPts val="2867"/>
                  </a:lnSpc>
                </a:pPr>
                <a:r>
                  <a:rPr lang="en-US" sz="2025" i="true">
                    <a:solidFill>
                      <a:srgbClr val="0A1A23"/>
                    </a:solidFill>
                    <a:latin typeface="Poppins Italics"/>
                    <a:ea typeface="Poppins Italics"/>
                    <a:cs typeface="Poppins Italics"/>
                    <a:sym typeface="Poppins Italics"/>
                  </a:rPr>
                  <a:t>Six short questions, every time, on every piece of AI-generated code before it goes anywhere near a submission.</a:t>
                </a:r>
              </a:p>
            </p:txBody>
          </p:sp>
        </p:grpSp>
      </p:grpSp>
      <p:grpSp>
        <p:nvGrpSpPr>
          <p:cNvPr name="Group 61" id="61"/>
          <p:cNvGrpSpPr/>
          <p:nvPr/>
        </p:nvGrpSpPr>
        <p:grpSpPr>
          <a:xfrm rot="0">
            <a:off x="1234440" y="753429"/>
            <a:ext cx="12755880" cy="1236342"/>
            <a:chOff x="0" y="0"/>
            <a:chExt cx="17007840" cy="1648455"/>
          </a:xfrm>
        </p:grpSpPr>
        <p:sp>
          <p:nvSpPr>
            <p:cNvPr name="Freeform 62" id="62"/>
            <p:cNvSpPr/>
            <p:nvPr/>
          </p:nvSpPr>
          <p:spPr>
            <a:xfrm flipH="false" flipV="false" rot="0">
              <a:off x="0" y="0"/>
              <a:ext cx="17007839" cy="1648455"/>
            </a:xfrm>
            <a:custGeom>
              <a:avLst/>
              <a:gdLst/>
              <a:ahLst/>
              <a:cxnLst/>
              <a:rect r="r" b="b" t="t" l="l"/>
              <a:pathLst>
                <a:path h="1648455" w="17007839">
                  <a:moveTo>
                    <a:pt x="0" y="0"/>
                  </a:moveTo>
                  <a:lnTo>
                    <a:pt x="17007839" y="0"/>
                  </a:lnTo>
                  <a:lnTo>
                    <a:pt x="17007839" y="1648455"/>
                  </a:lnTo>
                  <a:lnTo>
                    <a:pt x="0" y="1648455"/>
                  </a:lnTo>
                  <a:close/>
                </a:path>
              </a:pathLst>
            </a:custGeom>
            <a:blipFill>
              <a:blip r:embed="rId6">
                <a:alphaModFix amt="0"/>
              </a:blip>
              <a:stretch>
                <a:fillRect l="0" t="-164980" r="0" b="-137091"/>
              </a:stretch>
            </a:blipFill>
          </p:spPr>
        </p:sp>
        <p:sp>
          <p:nvSpPr>
            <p:cNvPr name="TextBox 63" id="63"/>
            <p:cNvSpPr txBox="true"/>
            <p:nvPr/>
          </p:nvSpPr>
          <p:spPr>
            <a:xfrm>
              <a:off x="0" y="-38100"/>
              <a:ext cx="17007840" cy="1686555"/>
            </a:xfrm>
            <a:prstGeom prst="rect">
              <a:avLst/>
            </a:prstGeom>
          </p:spPr>
          <p:txBody>
            <a:bodyPr anchor="ctr" rtlCol="false" tIns="0" lIns="0" bIns="0" rIns="0"/>
            <a:lstStyle/>
            <a:p>
              <a:pPr algn="l">
                <a:lnSpc>
                  <a:spcPts val="5999"/>
                </a:lnSpc>
              </a:pPr>
              <a:r>
                <a:rPr lang="en-US" sz="4999">
                  <a:solidFill>
                    <a:srgbClr val="388080"/>
                  </a:solidFill>
                  <a:latin typeface="Poppins"/>
                  <a:ea typeface="Poppins"/>
                  <a:cs typeface="Poppins"/>
                  <a:sym typeface="Poppins"/>
                </a:rPr>
                <a:t>Verify AI-Generated Code: A Checklist</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6497824" y="8924125"/>
            <a:ext cx="647224" cy="571500"/>
            <a:chOff x="0" y="0"/>
            <a:chExt cx="862965" cy="762000"/>
          </a:xfrm>
        </p:grpSpPr>
        <p:sp>
          <p:nvSpPr>
            <p:cNvPr name="Freeform 6" id="6"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5"/>
              <a:stretch>
                <a:fillRect l="-772" t="0" r="-772" b="0"/>
              </a:stretch>
            </a:blipFill>
          </p:spPr>
        </p:sp>
      </p:grpSp>
      <p:grpSp>
        <p:nvGrpSpPr>
          <p:cNvPr name="Group 7" id="7"/>
          <p:cNvGrpSpPr/>
          <p:nvPr/>
        </p:nvGrpSpPr>
        <p:grpSpPr>
          <a:xfrm rot="0">
            <a:off x="857250" y="857250"/>
            <a:ext cx="114300" cy="1028700"/>
            <a:chOff x="0" y="0"/>
            <a:chExt cx="152400" cy="1371600"/>
          </a:xfrm>
        </p:grpSpPr>
        <p:sp>
          <p:nvSpPr>
            <p:cNvPr name="Freeform 8" id="8"/>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grpSp>
        <p:nvGrpSpPr>
          <p:cNvPr name="Group 9" id="9"/>
          <p:cNvGrpSpPr/>
          <p:nvPr/>
        </p:nvGrpSpPr>
        <p:grpSpPr>
          <a:xfrm rot="0">
            <a:off x="816293" y="2263615"/>
            <a:ext cx="16637508" cy="7777640"/>
            <a:chOff x="0" y="0"/>
            <a:chExt cx="22183344" cy="10370186"/>
          </a:xfrm>
        </p:grpSpPr>
        <p:grpSp>
          <p:nvGrpSpPr>
            <p:cNvPr name="Group 10" id="10"/>
            <p:cNvGrpSpPr/>
            <p:nvPr/>
          </p:nvGrpSpPr>
          <p:grpSpPr>
            <a:xfrm rot="0">
              <a:off x="54610" y="137160"/>
              <a:ext cx="146304" cy="146304"/>
              <a:chOff x="0" y="0"/>
              <a:chExt cx="146304" cy="146304"/>
            </a:xfrm>
          </p:grpSpPr>
          <p:sp>
            <p:nvSpPr>
              <p:cNvPr name="Freeform 11" id="11"/>
              <p:cNvSpPr/>
              <p:nvPr/>
            </p:nvSpPr>
            <p:spPr>
              <a:xfrm flipH="false" flipV="false" rot="0">
                <a:off x="0" y="0"/>
                <a:ext cx="146304" cy="146304"/>
              </a:xfrm>
              <a:custGeom>
                <a:avLst/>
                <a:gdLst/>
                <a:ahLst/>
                <a:cxnLst/>
                <a:rect r="r" b="b" t="t" l="l"/>
                <a:pathLst>
                  <a:path h="146304" w="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387F7F"/>
              </a:solidFill>
            </p:spPr>
          </p:sp>
        </p:grpSp>
        <p:sp>
          <p:nvSpPr>
            <p:cNvPr name="TextBox 12" id="12"/>
            <p:cNvSpPr txBox="true"/>
            <p:nvPr/>
          </p:nvSpPr>
          <p:spPr>
            <a:xfrm rot="0">
              <a:off x="365506" y="-47625"/>
              <a:ext cx="21488400" cy="925703"/>
            </a:xfrm>
            <a:prstGeom prst="rect">
              <a:avLst/>
            </a:prstGeom>
          </p:spPr>
          <p:txBody>
            <a:bodyPr anchor="t" rtlCol="false" tIns="0" lIns="0" bIns="0" rIns="0">
              <a:spAutoFit/>
            </a:bodyPr>
            <a:lstStyle/>
            <a:p>
              <a:pPr algn="l">
                <a:lnSpc>
                  <a:spcPts val="2794"/>
                </a:lnSpc>
              </a:pPr>
              <a:r>
                <a:rPr lang="en-US" sz="2025">
                  <a:solidFill>
                    <a:srgbClr val="0A1A23"/>
                  </a:solidFill>
                  <a:latin typeface="Poppins"/>
                  <a:ea typeface="Poppins"/>
                  <a:cs typeface="Poppins"/>
                  <a:sym typeface="Poppins"/>
                </a:rPr>
                <a:t>AI can produce incorrect syntax, non-existent functions, wrong column names, incorrect assumptions, or logically incorrect analysis, all delivered in the same confident tone as correct code.</a:t>
              </a:r>
            </a:p>
          </p:txBody>
        </p:sp>
        <p:grpSp>
          <p:nvGrpSpPr>
            <p:cNvPr name="Group 13" id="13"/>
            <p:cNvGrpSpPr/>
            <p:nvPr/>
          </p:nvGrpSpPr>
          <p:grpSpPr>
            <a:xfrm rot="0">
              <a:off x="54610" y="1206691"/>
              <a:ext cx="10424160" cy="587858"/>
              <a:chOff x="0" y="0"/>
              <a:chExt cx="10424160" cy="587858"/>
            </a:xfrm>
          </p:grpSpPr>
          <p:sp>
            <p:nvSpPr>
              <p:cNvPr name="Freeform 14" id="14"/>
              <p:cNvSpPr/>
              <p:nvPr/>
            </p:nvSpPr>
            <p:spPr>
              <a:xfrm flipH="false" flipV="false" rot="0">
                <a:off x="0" y="0"/>
                <a:ext cx="10424160" cy="587858"/>
              </a:xfrm>
              <a:custGeom>
                <a:avLst/>
                <a:gdLst/>
                <a:ahLst/>
                <a:cxnLst/>
                <a:rect r="r" b="b" t="t" l="l"/>
                <a:pathLst>
                  <a:path h="587858" w="10424160">
                    <a:moveTo>
                      <a:pt x="0" y="0"/>
                    </a:moveTo>
                    <a:lnTo>
                      <a:pt x="10424160" y="0"/>
                    </a:lnTo>
                    <a:lnTo>
                      <a:pt x="10424160" y="587858"/>
                    </a:lnTo>
                    <a:lnTo>
                      <a:pt x="0" y="587858"/>
                    </a:lnTo>
                    <a:close/>
                  </a:path>
                </a:pathLst>
              </a:custGeom>
              <a:blipFill>
                <a:blip r:embed="rId6">
                  <a:alphaModFix amt="0"/>
                </a:blip>
                <a:stretch>
                  <a:fillRect l="0" t="-298853" r="0" b="-292181"/>
                </a:stretch>
              </a:blipFill>
            </p:spPr>
          </p:sp>
          <p:sp>
            <p:nvSpPr>
              <p:cNvPr name="TextBox 15" id="15"/>
              <p:cNvSpPr txBox="true"/>
              <p:nvPr/>
            </p:nvSpPr>
            <p:spPr>
              <a:xfrm>
                <a:off x="0" y="-19050"/>
                <a:ext cx="10424160" cy="606908"/>
              </a:xfrm>
              <a:prstGeom prst="rect">
                <a:avLst/>
              </a:prstGeom>
            </p:spPr>
            <p:txBody>
              <a:bodyPr anchor="ctr" rtlCol="false" tIns="0" lIns="0" bIns="0" rIns="0"/>
              <a:lstStyle/>
              <a:p>
                <a:pPr algn="l">
                  <a:lnSpc>
                    <a:spcPts val="2160"/>
                  </a:lnSpc>
                </a:pPr>
                <a:r>
                  <a:rPr lang="en-US" sz="1800" b="true">
                    <a:solidFill>
                      <a:srgbClr val="8C3A3A"/>
                    </a:solidFill>
                    <a:latin typeface="Poppins Bold"/>
                    <a:ea typeface="Poppins Bold"/>
                    <a:cs typeface="Poppins Bold"/>
                    <a:sym typeface="Poppins Bold"/>
                  </a:rPr>
                  <a:t>A FUNCTION THAT DOESN'T EXIST</a:t>
                </a:r>
              </a:p>
            </p:txBody>
          </p:sp>
        </p:grpSp>
        <p:grpSp>
          <p:nvGrpSpPr>
            <p:cNvPr name="Group 16" id="16"/>
            <p:cNvGrpSpPr/>
            <p:nvPr/>
          </p:nvGrpSpPr>
          <p:grpSpPr>
            <a:xfrm rot="0">
              <a:off x="54610" y="2047622"/>
              <a:ext cx="10698480" cy="1645920"/>
              <a:chOff x="0" y="0"/>
              <a:chExt cx="10698480" cy="1645920"/>
            </a:xfrm>
          </p:grpSpPr>
          <p:sp>
            <p:nvSpPr>
              <p:cNvPr name="Freeform 17" id="17"/>
              <p:cNvSpPr/>
              <p:nvPr/>
            </p:nvSpPr>
            <p:spPr>
              <a:xfrm flipH="false" flipV="false" rot="0">
                <a:off x="0" y="0"/>
                <a:ext cx="10698480" cy="1645920"/>
              </a:xfrm>
              <a:custGeom>
                <a:avLst/>
                <a:gdLst/>
                <a:ahLst/>
                <a:cxnLst/>
                <a:rect r="r" b="b" t="t" l="l"/>
                <a:pathLst>
                  <a:path h="1645920" w="10698480">
                    <a:moveTo>
                      <a:pt x="0" y="146304"/>
                    </a:moveTo>
                    <a:cubicBezTo>
                      <a:pt x="0" y="65532"/>
                      <a:pt x="65532" y="0"/>
                      <a:pt x="146304" y="0"/>
                    </a:cubicBezTo>
                    <a:lnTo>
                      <a:pt x="10552176" y="0"/>
                    </a:lnTo>
                    <a:cubicBezTo>
                      <a:pt x="10632948" y="0"/>
                      <a:pt x="10698480" y="65532"/>
                      <a:pt x="10698480" y="146304"/>
                    </a:cubicBezTo>
                    <a:lnTo>
                      <a:pt x="10698480" y="1499616"/>
                    </a:lnTo>
                    <a:cubicBezTo>
                      <a:pt x="10698480" y="1580388"/>
                      <a:pt x="10632948" y="1645920"/>
                      <a:pt x="10552176" y="1645920"/>
                    </a:cubicBezTo>
                    <a:lnTo>
                      <a:pt x="146304" y="1645920"/>
                    </a:lnTo>
                    <a:cubicBezTo>
                      <a:pt x="65532" y="1645920"/>
                      <a:pt x="0" y="1580388"/>
                      <a:pt x="0" y="1499616"/>
                    </a:cubicBezTo>
                    <a:close/>
                  </a:path>
                </a:pathLst>
              </a:custGeom>
              <a:solidFill>
                <a:srgbClr val="0A1A23"/>
              </a:solidFill>
            </p:spPr>
          </p:sp>
        </p:grpSp>
        <p:grpSp>
          <p:nvGrpSpPr>
            <p:cNvPr name="Group 18" id="18"/>
            <p:cNvGrpSpPr/>
            <p:nvPr/>
          </p:nvGrpSpPr>
          <p:grpSpPr>
            <a:xfrm rot="0">
              <a:off x="420624" y="2321942"/>
              <a:ext cx="237744" cy="237744"/>
              <a:chOff x="0" y="0"/>
              <a:chExt cx="237744" cy="237744"/>
            </a:xfrm>
          </p:grpSpPr>
          <p:sp>
            <p:nvSpPr>
              <p:cNvPr name="Freeform 19" id="19"/>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74C3C"/>
              </a:solidFill>
            </p:spPr>
          </p:sp>
        </p:grpSp>
        <p:grpSp>
          <p:nvGrpSpPr>
            <p:cNvPr name="Group 20" id="20"/>
            <p:cNvGrpSpPr/>
            <p:nvPr/>
          </p:nvGrpSpPr>
          <p:grpSpPr>
            <a:xfrm rot="0">
              <a:off x="859536" y="2321942"/>
              <a:ext cx="237744" cy="237744"/>
              <a:chOff x="0" y="0"/>
              <a:chExt cx="237744" cy="237744"/>
            </a:xfrm>
          </p:grpSpPr>
          <p:sp>
            <p:nvSpPr>
              <p:cNvPr name="Freeform 21" id="21"/>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8B93F"/>
              </a:solidFill>
            </p:spPr>
          </p:sp>
        </p:grpSp>
        <p:grpSp>
          <p:nvGrpSpPr>
            <p:cNvPr name="Group 22" id="22"/>
            <p:cNvGrpSpPr/>
            <p:nvPr/>
          </p:nvGrpSpPr>
          <p:grpSpPr>
            <a:xfrm rot="0">
              <a:off x="1298448" y="2321942"/>
              <a:ext cx="237744" cy="237744"/>
              <a:chOff x="0" y="0"/>
              <a:chExt cx="237744" cy="237744"/>
            </a:xfrm>
          </p:grpSpPr>
          <p:sp>
            <p:nvSpPr>
              <p:cNvPr name="Freeform 23" id="23"/>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3FA76B"/>
              </a:solidFill>
            </p:spPr>
          </p:sp>
        </p:grpSp>
        <p:sp>
          <p:nvSpPr>
            <p:cNvPr name="TextBox 24" id="24"/>
            <p:cNvSpPr txBox="true"/>
            <p:nvPr/>
          </p:nvSpPr>
          <p:spPr>
            <a:xfrm rot="0">
              <a:off x="530352" y="2794382"/>
              <a:ext cx="9674352" cy="481330"/>
            </a:xfrm>
            <a:prstGeom prst="rect">
              <a:avLst/>
            </a:prstGeom>
          </p:spPr>
          <p:txBody>
            <a:bodyPr anchor="t" rtlCol="false" tIns="0" lIns="0" bIns="0" rIns="0">
              <a:spAutoFit/>
            </a:bodyPr>
            <a:lstStyle/>
            <a:p>
              <a:pPr algn="l">
                <a:lnSpc>
                  <a:spcPts val="3037"/>
                </a:lnSpc>
              </a:pPr>
              <a:r>
                <a:rPr lang="en-US" sz="2025">
                  <a:solidFill>
                    <a:srgbClr val="E4F1EF"/>
                  </a:solidFill>
                  <a:latin typeface="Poppins"/>
                  <a:ea typeface="Poppins"/>
                  <a:cs typeface="Poppins"/>
                  <a:sym typeface="Poppins"/>
                </a:rPr>
                <a:t>df.sort("Sales", ascending=False)</a:t>
              </a:r>
            </a:p>
          </p:txBody>
        </p:sp>
        <p:grpSp>
          <p:nvGrpSpPr>
            <p:cNvPr name="Group 25" id="25"/>
            <p:cNvGrpSpPr/>
            <p:nvPr/>
          </p:nvGrpSpPr>
          <p:grpSpPr>
            <a:xfrm rot="0">
              <a:off x="54610" y="3839846"/>
              <a:ext cx="10723880" cy="1214120"/>
              <a:chOff x="0" y="0"/>
              <a:chExt cx="10723880" cy="1214120"/>
            </a:xfrm>
          </p:grpSpPr>
          <p:sp>
            <p:nvSpPr>
              <p:cNvPr name="Freeform 26" id="26"/>
              <p:cNvSpPr/>
              <p:nvPr/>
            </p:nvSpPr>
            <p:spPr>
              <a:xfrm flipH="false" flipV="false" rot="0">
                <a:off x="0" y="0"/>
                <a:ext cx="10723880" cy="1214120"/>
              </a:xfrm>
              <a:custGeom>
                <a:avLst/>
                <a:gdLst/>
                <a:ahLst/>
                <a:cxnLst/>
                <a:rect r="r" b="b" t="t" l="l"/>
                <a:pathLst>
                  <a:path h="1214120" w="10723880">
                    <a:moveTo>
                      <a:pt x="0" y="112014"/>
                    </a:moveTo>
                    <a:cubicBezTo>
                      <a:pt x="0" y="50165"/>
                      <a:pt x="50165" y="0"/>
                      <a:pt x="112014" y="0"/>
                    </a:cubicBezTo>
                    <a:lnTo>
                      <a:pt x="10611866" y="0"/>
                    </a:lnTo>
                    <a:cubicBezTo>
                      <a:pt x="10673715" y="0"/>
                      <a:pt x="10723880" y="50165"/>
                      <a:pt x="10723880" y="112014"/>
                    </a:cubicBezTo>
                    <a:lnTo>
                      <a:pt x="10723880" y="1102106"/>
                    </a:lnTo>
                    <a:cubicBezTo>
                      <a:pt x="10723880" y="1163955"/>
                      <a:pt x="10673715" y="1214120"/>
                      <a:pt x="10611866" y="1214120"/>
                    </a:cubicBezTo>
                    <a:lnTo>
                      <a:pt x="112014" y="1214120"/>
                    </a:lnTo>
                    <a:cubicBezTo>
                      <a:pt x="50165" y="1214120"/>
                      <a:pt x="0" y="1163955"/>
                      <a:pt x="0" y="1102106"/>
                    </a:cubicBezTo>
                    <a:close/>
                  </a:path>
                </a:pathLst>
              </a:custGeom>
              <a:solidFill>
                <a:srgbClr val="FBEAEA"/>
              </a:solidFill>
              <a:ln w="19050" cap="sq">
                <a:solidFill>
                  <a:srgbClr val="8C3A3A"/>
                </a:solidFill>
                <a:prstDash val="solid"/>
                <a:miter/>
              </a:ln>
            </p:spPr>
          </p:sp>
        </p:grpSp>
        <p:grpSp>
          <p:nvGrpSpPr>
            <p:cNvPr name="Group 27" id="27"/>
            <p:cNvGrpSpPr/>
            <p:nvPr/>
          </p:nvGrpSpPr>
          <p:grpSpPr>
            <a:xfrm rot="0">
              <a:off x="524510" y="3962274"/>
              <a:ext cx="9875520" cy="1005840"/>
              <a:chOff x="0" y="0"/>
              <a:chExt cx="9875520" cy="1005840"/>
            </a:xfrm>
          </p:grpSpPr>
          <p:sp>
            <p:nvSpPr>
              <p:cNvPr name="Freeform 28" id="28"/>
              <p:cNvSpPr/>
              <p:nvPr/>
            </p:nvSpPr>
            <p:spPr>
              <a:xfrm flipH="false" flipV="false" rot="0">
                <a:off x="0" y="0"/>
                <a:ext cx="9875520" cy="1005840"/>
              </a:xfrm>
              <a:custGeom>
                <a:avLst/>
                <a:gdLst/>
                <a:ahLst/>
                <a:cxnLst/>
                <a:rect r="r" b="b" t="t" l="l"/>
                <a:pathLst>
                  <a:path h="1005840" w="9875520">
                    <a:moveTo>
                      <a:pt x="0" y="0"/>
                    </a:moveTo>
                    <a:lnTo>
                      <a:pt x="9875520" y="0"/>
                    </a:lnTo>
                    <a:lnTo>
                      <a:pt x="9875520" y="1005840"/>
                    </a:lnTo>
                    <a:lnTo>
                      <a:pt x="0" y="1005840"/>
                    </a:lnTo>
                    <a:close/>
                  </a:path>
                </a:pathLst>
              </a:custGeom>
              <a:blipFill>
                <a:blip r:embed="rId6">
                  <a:alphaModFix amt="0"/>
                </a:blip>
                <a:stretch>
                  <a:fillRect l="0" t="-141307" r="0" b="-141307"/>
                </a:stretch>
              </a:blipFill>
            </p:spPr>
          </p:sp>
          <p:sp>
            <p:nvSpPr>
              <p:cNvPr name="TextBox 29" id="29"/>
              <p:cNvSpPr txBox="true"/>
              <p:nvPr/>
            </p:nvSpPr>
            <p:spPr>
              <a:xfrm>
                <a:off x="0" y="-28575"/>
                <a:ext cx="9875520" cy="1034415"/>
              </a:xfrm>
              <a:prstGeom prst="rect">
                <a:avLst/>
              </a:prstGeom>
            </p:spPr>
            <p:txBody>
              <a:bodyPr anchor="ctr" rtlCol="false" tIns="0" lIns="0" bIns="0" rIns="0"/>
              <a:lstStyle/>
              <a:p>
                <a:pPr algn="l">
                  <a:lnSpc>
                    <a:spcPts val="2277"/>
                  </a:lnSpc>
                </a:pPr>
                <a:r>
                  <a:rPr lang="en-US" sz="1725">
                    <a:solidFill>
                      <a:srgbClr val="8C3A3A"/>
                    </a:solidFill>
                    <a:latin typeface="Poppins"/>
                    <a:ea typeface="Poppins"/>
                    <a:cs typeface="Poppins"/>
                    <a:sym typeface="Poppins"/>
                  </a:rPr>
                  <a:t>AttributeError: 'DataFrame' object</a:t>
                </a:r>
              </a:p>
              <a:p>
                <a:pPr algn="l">
                  <a:lnSpc>
                    <a:spcPts val="2277"/>
                  </a:lnSpc>
                </a:pPr>
                <a:r>
                  <a:rPr lang="en-US" sz="1725">
                    <a:solidFill>
                      <a:srgbClr val="8C3A3A"/>
                    </a:solidFill>
                    <a:latin typeface="Poppins"/>
                    <a:ea typeface="Poppins"/>
                    <a:cs typeface="Poppins"/>
                    <a:sym typeface="Poppins"/>
                  </a:rPr>
                  <a:t>has no attribute 'sort'</a:t>
                </a:r>
              </a:p>
            </p:txBody>
          </p:sp>
        </p:grpSp>
        <p:grpSp>
          <p:nvGrpSpPr>
            <p:cNvPr name="Group 30" id="30"/>
            <p:cNvGrpSpPr/>
            <p:nvPr/>
          </p:nvGrpSpPr>
          <p:grpSpPr>
            <a:xfrm rot="0">
              <a:off x="54610" y="5206366"/>
              <a:ext cx="10698480" cy="1005840"/>
              <a:chOff x="0" y="0"/>
              <a:chExt cx="10698480" cy="1005840"/>
            </a:xfrm>
          </p:grpSpPr>
          <p:sp>
            <p:nvSpPr>
              <p:cNvPr name="Freeform 31" id="31"/>
              <p:cNvSpPr/>
              <p:nvPr/>
            </p:nvSpPr>
            <p:spPr>
              <a:xfrm flipH="false" flipV="false" rot="0">
                <a:off x="0" y="0"/>
                <a:ext cx="10698480" cy="1005840"/>
              </a:xfrm>
              <a:custGeom>
                <a:avLst/>
                <a:gdLst/>
                <a:ahLst/>
                <a:cxnLst/>
                <a:rect r="r" b="b" t="t" l="l"/>
                <a:pathLst>
                  <a:path h="1005840" w="10698480">
                    <a:moveTo>
                      <a:pt x="0" y="0"/>
                    </a:moveTo>
                    <a:lnTo>
                      <a:pt x="10698480" y="0"/>
                    </a:lnTo>
                    <a:lnTo>
                      <a:pt x="10698480" y="1005840"/>
                    </a:lnTo>
                    <a:lnTo>
                      <a:pt x="0" y="1005840"/>
                    </a:lnTo>
                    <a:close/>
                  </a:path>
                </a:pathLst>
              </a:custGeom>
              <a:blipFill>
                <a:blip r:embed="rId6">
                  <a:alphaModFix amt="0"/>
                </a:blip>
                <a:stretch>
                  <a:fillRect l="0" t="-157249" r="0" b="-157249"/>
                </a:stretch>
              </a:blipFill>
            </p:spPr>
          </p:sp>
          <p:sp>
            <p:nvSpPr>
              <p:cNvPr name="TextBox 32" id="32"/>
              <p:cNvSpPr txBox="true"/>
              <p:nvPr/>
            </p:nvSpPr>
            <p:spPr>
              <a:xfrm>
                <a:off x="0" y="-47625"/>
                <a:ext cx="10698480" cy="1053465"/>
              </a:xfrm>
              <a:prstGeom prst="rect">
                <a:avLst/>
              </a:prstGeom>
            </p:spPr>
            <p:txBody>
              <a:bodyPr anchor="ctr" rtlCol="false" tIns="0" lIns="0" bIns="0" rIns="0"/>
              <a:lstStyle/>
              <a:p>
                <a:pPr algn="l">
                  <a:lnSpc>
                    <a:spcPts val="2484"/>
                  </a:lnSpc>
                </a:pPr>
                <a:r>
                  <a:rPr lang="en-US" sz="1725" i="true">
                    <a:solidFill>
                      <a:srgbClr val="5B6B6E"/>
                    </a:solidFill>
                    <a:latin typeface="Poppins Italics"/>
                    <a:ea typeface="Poppins Italics"/>
                    <a:cs typeface="Poppins Italics"/>
                    <a:sym typeface="Poppins Italics"/>
                  </a:rPr>
                  <a:t>AI recalled an old pandas method removed years ago. The fix is sort_values(), taught in Module 5.3.</a:t>
                </a:r>
              </a:p>
            </p:txBody>
          </p:sp>
        </p:grpSp>
        <p:grpSp>
          <p:nvGrpSpPr>
            <p:cNvPr name="Group 33" id="33"/>
            <p:cNvGrpSpPr/>
            <p:nvPr/>
          </p:nvGrpSpPr>
          <p:grpSpPr>
            <a:xfrm rot="0">
              <a:off x="11472164" y="1270382"/>
              <a:ext cx="10698480" cy="587858"/>
              <a:chOff x="0" y="0"/>
              <a:chExt cx="10698480" cy="587858"/>
            </a:xfrm>
          </p:grpSpPr>
          <p:sp>
            <p:nvSpPr>
              <p:cNvPr name="Freeform 34" id="34"/>
              <p:cNvSpPr/>
              <p:nvPr/>
            </p:nvSpPr>
            <p:spPr>
              <a:xfrm flipH="false" flipV="false" rot="0">
                <a:off x="0" y="0"/>
                <a:ext cx="10698480" cy="587858"/>
              </a:xfrm>
              <a:custGeom>
                <a:avLst/>
                <a:gdLst/>
                <a:ahLst/>
                <a:cxnLst/>
                <a:rect r="r" b="b" t="t" l="l"/>
                <a:pathLst>
                  <a:path h="587858" w="10698480">
                    <a:moveTo>
                      <a:pt x="0" y="0"/>
                    </a:moveTo>
                    <a:lnTo>
                      <a:pt x="10698480" y="0"/>
                    </a:lnTo>
                    <a:lnTo>
                      <a:pt x="10698480" y="587858"/>
                    </a:lnTo>
                    <a:lnTo>
                      <a:pt x="0" y="587858"/>
                    </a:lnTo>
                    <a:close/>
                  </a:path>
                </a:pathLst>
              </a:custGeom>
              <a:blipFill>
                <a:blip r:embed="rId6">
                  <a:alphaModFix amt="0"/>
                </a:blip>
                <a:stretch>
                  <a:fillRect l="0" t="-307945" r="0" b="-301274"/>
                </a:stretch>
              </a:blipFill>
            </p:spPr>
          </p:sp>
          <p:sp>
            <p:nvSpPr>
              <p:cNvPr name="TextBox 35" id="35"/>
              <p:cNvSpPr txBox="true"/>
              <p:nvPr/>
            </p:nvSpPr>
            <p:spPr>
              <a:xfrm>
                <a:off x="0" y="-19050"/>
                <a:ext cx="10698480" cy="606908"/>
              </a:xfrm>
              <a:prstGeom prst="rect">
                <a:avLst/>
              </a:prstGeom>
            </p:spPr>
            <p:txBody>
              <a:bodyPr anchor="ctr" rtlCol="false" tIns="0" lIns="0" bIns="0" rIns="0"/>
              <a:lstStyle/>
              <a:p>
                <a:pPr algn="l">
                  <a:lnSpc>
                    <a:spcPts val="2160"/>
                  </a:lnSpc>
                </a:pPr>
                <a:r>
                  <a:rPr lang="en-US" sz="1800" b="true">
                    <a:solidFill>
                      <a:srgbClr val="8C3A3A"/>
                    </a:solidFill>
                    <a:latin typeface="Poppins Bold"/>
                    <a:ea typeface="Poppins Bold"/>
                    <a:cs typeface="Poppins Bold"/>
                    <a:sym typeface="Poppins Bold"/>
                  </a:rPr>
                  <a:t>A COLUMN THAT DOESN'T EXIST</a:t>
                </a:r>
              </a:p>
            </p:txBody>
          </p:sp>
        </p:grpSp>
        <p:grpSp>
          <p:nvGrpSpPr>
            <p:cNvPr name="Group 36" id="36"/>
            <p:cNvGrpSpPr/>
            <p:nvPr/>
          </p:nvGrpSpPr>
          <p:grpSpPr>
            <a:xfrm rot="0">
              <a:off x="11484864" y="2047622"/>
              <a:ext cx="10186416" cy="1645920"/>
              <a:chOff x="0" y="0"/>
              <a:chExt cx="10186416" cy="1645920"/>
            </a:xfrm>
          </p:grpSpPr>
          <p:sp>
            <p:nvSpPr>
              <p:cNvPr name="Freeform 37" id="37"/>
              <p:cNvSpPr/>
              <p:nvPr/>
            </p:nvSpPr>
            <p:spPr>
              <a:xfrm flipH="false" flipV="false" rot="0">
                <a:off x="0" y="0"/>
                <a:ext cx="10186416" cy="1645920"/>
              </a:xfrm>
              <a:custGeom>
                <a:avLst/>
                <a:gdLst/>
                <a:ahLst/>
                <a:cxnLst/>
                <a:rect r="r" b="b" t="t" l="l"/>
                <a:pathLst>
                  <a:path h="1645920" w="10186416">
                    <a:moveTo>
                      <a:pt x="0" y="146304"/>
                    </a:moveTo>
                    <a:cubicBezTo>
                      <a:pt x="0" y="65532"/>
                      <a:pt x="62395" y="0"/>
                      <a:pt x="139301" y="0"/>
                    </a:cubicBezTo>
                    <a:lnTo>
                      <a:pt x="10047115" y="0"/>
                    </a:lnTo>
                    <a:cubicBezTo>
                      <a:pt x="10124021" y="0"/>
                      <a:pt x="10186416" y="65532"/>
                      <a:pt x="10186416" y="146304"/>
                    </a:cubicBezTo>
                    <a:lnTo>
                      <a:pt x="10186416" y="1499616"/>
                    </a:lnTo>
                    <a:cubicBezTo>
                      <a:pt x="10186416" y="1580388"/>
                      <a:pt x="10124021" y="1645920"/>
                      <a:pt x="10047115" y="1645920"/>
                    </a:cubicBezTo>
                    <a:lnTo>
                      <a:pt x="139301" y="1645920"/>
                    </a:lnTo>
                    <a:cubicBezTo>
                      <a:pt x="62395" y="1645920"/>
                      <a:pt x="0" y="1580388"/>
                      <a:pt x="0" y="1499616"/>
                    </a:cubicBezTo>
                    <a:close/>
                  </a:path>
                </a:pathLst>
              </a:custGeom>
              <a:solidFill>
                <a:srgbClr val="0A1A23"/>
              </a:solidFill>
            </p:spPr>
          </p:sp>
        </p:grpSp>
        <p:grpSp>
          <p:nvGrpSpPr>
            <p:cNvPr name="Group 38" id="38"/>
            <p:cNvGrpSpPr/>
            <p:nvPr/>
          </p:nvGrpSpPr>
          <p:grpSpPr>
            <a:xfrm rot="0">
              <a:off x="11887200" y="2321942"/>
              <a:ext cx="237744" cy="237744"/>
              <a:chOff x="0" y="0"/>
              <a:chExt cx="237744" cy="237744"/>
            </a:xfrm>
          </p:grpSpPr>
          <p:sp>
            <p:nvSpPr>
              <p:cNvPr name="Freeform 39" id="39"/>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74C3C"/>
              </a:solidFill>
            </p:spPr>
          </p:sp>
        </p:grpSp>
        <p:grpSp>
          <p:nvGrpSpPr>
            <p:cNvPr name="Group 40" id="40"/>
            <p:cNvGrpSpPr/>
            <p:nvPr/>
          </p:nvGrpSpPr>
          <p:grpSpPr>
            <a:xfrm rot="0">
              <a:off x="12326112" y="2321942"/>
              <a:ext cx="237744" cy="237744"/>
              <a:chOff x="0" y="0"/>
              <a:chExt cx="237744" cy="237744"/>
            </a:xfrm>
          </p:grpSpPr>
          <p:sp>
            <p:nvSpPr>
              <p:cNvPr name="Freeform 41" id="41"/>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E8B93F"/>
              </a:solidFill>
            </p:spPr>
          </p:sp>
        </p:grpSp>
        <p:grpSp>
          <p:nvGrpSpPr>
            <p:cNvPr name="Group 42" id="42"/>
            <p:cNvGrpSpPr/>
            <p:nvPr/>
          </p:nvGrpSpPr>
          <p:grpSpPr>
            <a:xfrm rot="0">
              <a:off x="12765024" y="2321942"/>
              <a:ext cx="237744" cy="237744"/>
              <a:chOff x="0" y="0"/>
              <a:chExt cx="237744" cy="237744"/>
            </a:xfrm>
          </p:grpSpPr>
          <p:sp>
            <p:nvSpPr>
              <p:cNvPr name="Freeform 43" id="43"/>
              <p:cNvSpPr/>
              <p:nvPr/>
            </p:nvSpPr>
            <p:spPr>
              <a:xfrm flipH="false" flipV="false" rot="0">
                <a:off x="0" y="0"/>
                <a:ext cx="237744" cy="237744"/>
              </a:xfrm>
              <a:custGeom>
                <a:avLst/>
                <a:gdLst/>
                <a:ahLst/>
                <a:cxnLst/>
                <a:rect r="r" b="b" t="t" l="l"/>
                <a:pathLst>
                  <a:path h="237744" w="237744">
                    <a:moveTo>
                      <a:pt x="0" y="118872"/>
                    </a:moveTo>
                    <a:cubicBezTo>
                      <a:pt x="0" y="53213"/>
                      <a:pt x="53213" y="0"/>
                      <a:pt x="118872" y="0"/>
                    </a:cubicBezTo>
                    <a:cubicBezTo>
                      <a:pt x="184531" y="0"/>
                      <a:pt x="237744" y="53213"/>
                      <a:pt x="237744" y="118872"/>
                    </a:cubicBezTo>
                    <a:cubicBezTo>
                      <a:pt x="237744" y="184531"/>
                      <a:pt x="184531" y="237744"/>
                      <a:pt x="118872" y="237744"/>
                    </a:cubicBezTo>
                    <a:cubicBezTo>
                      <a:pt x="53213" y="237744"/>
                      <a:pt x="0" y="184531"/>
                      <a:pt x="0" y="118872"/>
                    </a:cubicBezTo>
                    <a:close/>
                  </a:path>
                </a:pathLst>
              </a:custGeom>
              <a:solidFill>
                <a:srgbClr val="3FA76B"/>
              </a:solidFill>
            </p:spPr>
          </p:sp>
        </p:grpSp>
        <p:sp>
          <p:nvSpPr>
            <p:cNvPr name="TextBox 44" id="44"/>
            <p:cNvSpPr txBox="true"/>
            <p:nvPr/>
          </p:nvSpPr>
          <p:spPr>
            <a:xfrm rot="0">
              <a:off x="11996928" y="2794382"/>
              <a:ext cx="9674352" cy="481330"/>
            </a:xfrm>
            <a:prstGeom prst="rect">
              <a:avLst/>
            </a:prstGeom>
          </p:spPr>
          <p:txBody>
            <a:bodyPr anchor="t" rtlCol="false" tIns="0" lIns="0" bIns="0" rIns="0">
              <a:spAutoFit/>
            </a:bodyPr>
            <a:lstStyle/>
            <a:p>
              <a:pPr algn="l">
                <a:lnSpc>
                  <a:spcPts val="3037"/>
                </a:lnSpc>
              </a:pPr>
              <a:r>
                <a:rPr lang="en-US" sz="2025">
                  <a:solidFill>
                    <a:srgbClr val="E4F1EF"/>
                  </a:solidFill>
                  <a:latin typeface="Poppins"/>
                  <a:ea typeface="Poppins"/>
                  <a:cs typeface="Poppins"/>
                  <a:sym typeface="Poppins"/>
                </a:rPr>
                <a:t>df["Amount"].sum()</a:t>
              </a:r>
            </a:p>
          </p:txBody>
        </p:sp>
        <p:grpSp>
          <p:nvGrpSpPr>
            <p:cNvPr name="Group 45" id="45"/>
            <p:cNvGrpSpPr/>
            <p:nvPr/>
          </p:nvGrpSpPr>
          <p:grpSpPr>
            <a:xfrm rot="0">
              <a:off x="11472164" y="3772282"/>
              <a:ext cx="10199116" cy="1214120"/>
              <a:chOff x="0" y="0"/>
              <a:chExt cx="10199116" cy="1214120"/>
            </a:xfrm>
          </p:grpSpPr>
          <p:sp>
            <p:nvSpPr>
              <p:cNvPr name="Freeform 46" id="46"/>
              <p:cNvSpPr/>
              <p:nvPr/>
            </p:nvSpPr>
            <p:spPr>
              <a:xfrm flipH="false" flipV="false" rot="0">
                <a:off x="0" y="0"/>
                <a:ext cx="10199116" cy="1214120"/>
              </a:xfrm>
              <a:custGeom>
                <a:avLst/>
                <a:gdLst/>
                <a:ahLst/>
                <a:cxnLst/>
                <a:rect r="r" b="b" t="t" l="l"/>
                <a:pathLst>
                  <a:path h="1214120" w="10199116">
                    <a:moveTo>
                      <a:pt x="0" y="112014"/>
                    </a:moveTo>
                    <a:cubicBezTo>
                      <a:pt x="0" y="50165"/>
                      <a:pt x="47710" y="0"/>
                      <a:pt x="106533" y="0"/>
                    </a:cubicBezTo>
                    <a:lnTo>
                      <a:pt x="10092583" y="0"/>
                    </a:lnTo>
                    <a:cubicBezTo>
                      <a:pt x="10151406" y="0"/>
                      <a:pt x="10199116" y="50165"/>
                      <a:pt x="10199116" y="112014"/>
                    </a:cubicBezTo>
                    <a:lnTo>
                      <a:pt x="10199116" y="1102106"/>
                    </a:lnTo>
                    <a:cubicBezTo>
                      <a:pt x="10199116" y="1163955"/>
                      <a:pt x="10151406" y="1214120"/>
                      <a:pt x="10092583" y="1214120"/>
                    </a:cubicBezTo>
                    <a:lnTo>
                      <a:pt x="106533" y="1214120"/>
                    </a:lnTo>
                    <a:cubicBezTo>
                      <a:pt x="47710" y="1214120"/>
                      <a:pt x="0" y="1163955"/>
                      <a:pt x="0" y="1102106"/>
                    </a:cubicBezTo>
                    <a:close/>
                  </a:path>
                </a:pathLst>
              </a:custGeom>
              <a:solidFill>
                <a:srgbClr val="FBEAEA"/>
              </a:solidFill>
              <a:ln w="19050" cap="sq">
                <a:solidFill>
                  <a:srgbClr val="8C3A3A"/>
                </a:solidFill>
                <a:prstDash val="solid"/>
                <a:miter/>
              </a:ln>
            </p:spPr>
          </p:sp>
        </p:grpSp>
        <p:grpSp>
          <p:nvGrpSpPr>
            <p:cNvPr name="Group 47" id="47"/>
            <p:cNvGrpSpPr/>
            <p:nvPr/>
          </p:nvGrpSpPr>
          <p:grpSpPr>
            <a:xfrm rot="0">
              <a:off x="11942064" y="3784982"/>
              <a:ext cx="9875520" cy="1188720"/>
              <a:chOff x="0" y="0"/>
              <a:chExt cx="9875520" cy="1188720"/>
            </a:xfrm>
          </p:grpSpPr>
          <p:sp>
            <p:nvSpPr>
              <p:cNvPr name="Freeform 48" id="48"/>
              <p:cNvSpPr/>
              <p:nvPr/>
            </p:nvSpPr>
            <p:spPr>
              <a:xfrm flipH="false" flipV="false" rot="0">
                <a:off x="0" y="0"/>
                <a:ext cx="9875520" cy="1188720"/>
              </a:xfrm>
              <a:custGeom>
                <a:avLst/>
                <a:gdLst/>
                <a:ahLst/>
                <a:cxnLst/>
                <a:rect r="r" b="b" t="t" l="l"/>
                <a:pathLst>
                  <a:path h="1188720" w="9875520">
                    <a:moveTo>
                      <a:pt x="0" y="0"/>
                    </a:moveTo>
                    <a:lnTo>
                      <a:pt x="9875520" y="0"/>
                    </a:lnTo>
                    <a:lnTo>
                      <a:pt x="9875520" y="1188720"/>
                    </a:lnTo>
                    <a:lnTo>
                      <a:pt x="0" y="1188720"/>
                    </a:lnTo>
                    <a:close/>
                  </a:path>
                </a:pathLst>
              </a:custGeom>
              <a:blipFill>
                <a:blip r:embed="rId6">
                  <a:alphaModFix amt="0"/>
                </a:blip>
                <a:stretch>
                  <a:fillRect l="0" t="-111875" r="0" b="-111875"/>
                </a:stretch>
              </a:blipFill>
            </p:spPr>
          </p:sp>
          <p:sp>
            <p:nvSpPr>
              <p:cNvPr name="TextBox 49" id="49"/>
              <p:cNvSpPr txBox="true"/>
              <p:nvPr/>
            </p:nvSpPr>
            <p:spPr>
              <a:xfrm>
                <a:off x="0" y="-19050"/>
                <a:ext cx="9875520" cy="1207770"/>
              </a:xfrm>
              <a:prstGeom prst="rect">
                <a:avLst/>
              </a:prstGeom>
            </p:spPr>
            <p:txBody>
              <a:bodyPr anchor="ctr" rtlCol="false" tIns="0" lIns="0" bIns="0" rIns="0"/>
              <a:lstStyle/>
              <a:p>
                <a:pPr algn="l">
                  <a:lnSpc>
                    <a:spcPts val="2250"/>
                  </a:lnSpc>
                </a:pPr>
                <a:r>
                  <a:rPr lang="en-US" sz="1875">
                    <a:solidFill>
                      <a:srgbClr val="8C3A3A"/>
                    </a:solidFill>
                    <a:latin typeface="Poppins"/>
                    <a:ea typeface="Poppins"/>
                    <a:cs typeface="Poppins"/>
                    <a:sym typeface="Poppins"/>
                  </a:rPr>
                  <a:t>KeyError: 'Amount'</a:t>
                </a:r>
              </a:p>
            </p:txBody>
          </p:sp>
        </p:grpSp>
        <p:grpSp>
          <p:nvGrpSpPr>
            <p:cNvPr name="Group 50" id="50"/>
            <p:cNvGrpSpPr/>
            <p:nvPr/>
          </p:nvGrpSpPr>
          <p:grpSpPr>
            <a:xfrm rot="0">
              <a:off x="11484864" y="5211446"/>
              <a:ext cx="10698480" cy="1005840"/>
              <a:chOff x="0" y="0"/>
              <a:chExt cx="10698480" cy="1005840"/>
            </a:xfrm>
          </p:grpSpPr>
          <p:sp>
            <p:nvSpPr>
              <p:cNvPr name="Freeform 51" id="51"/>
              <p:cNvSpPr/>
              <p:nvPr/>
            </p:nvSpPr>
            <p:spPr>
              <a:xfrm flipH="false" flipV="false" rot="0">
                <a:off x="0" y="0"/>
                <a:ext cx="10698480" cy="1005840"/>
              </a:xfrm>
              <a:custGeom>
                <a:avLst/>
                <a:gdLst/>
                <a:ahLst/>
                <a:cxnLst/>
                <a:rect r="r" b="b" t="t" l="l"/>
                <a:pathLst>
                  <a:path h="1005840" w="10698480">
                    <a:moveTo>
                      <a:pt x="0" y="0"/>
                    </a:moveTo>
                    <a:lnTo>
                      <a:pt x="10698480" y="0"/>
                    </a:lnTo>
                    <a:lnTo>
                      <a:pt x="10698480" y="1005840"/>
                    </a:lnTo>
                    <a:lnTo>
                      <a:pt x="0" y="1005840"/>
                    </a:lnTo>
                    <a:close/>
                  </a:path>
                </a:pathLst>
              </a:custGeom>
              <a:blipFill>
                <a:blip r:embed="rId6">
                  <a:alphaModFix amt="0"/>
                </a:blip>
                <a:stretch>
                  <a:fillRect l="0" t="-157249" r="0" b="-157249"/>
                </a:stretch>
              </a:blipFill>
            </p:spPr>
          </p:sp>
          <p:sp>
            <p:nvSpPr>
              <p:cNvPr name="TextBox 52" id="52"/>
              <p:cNvSpPr txBox="true"/>
              <p:nvPr/>
            </p:nvSpPr>
            <p:spPr>
              <a:xfrm>
                <a:off x="0" y="-47625"/>
                <a:ext cx="10698480" cy="1053465"/>
              </a:xfrm>
              <a:prstGeom prst="rect">
                <a:avLst/>
              </a:prstGeom>
            </p:spPr>
            <p:txBody>
              <a:bodyPr anchor="ctr" rtlCol="false" tIns="0" lIns="0" bIns="0" rIns="0"/>
              <a:lstStyle/>
              <a:p>
                <a:pPr algn="l">
                  <a:lnSpc>
                    <a:spcPts val="2484"/>
                  </a:lnSpc>
                </a:pPr>
                <a:r>
                  <a:rPr lang="en-US" sz="1725" i="true">
                    <a:solidFill>
                      <a:srgbClr val="5B6B6E"/>
                    </a:solidFill>
                    <a:latin typeface="Poppins Italics"/>
                    <a:ea typeface="Poppins Italics"/>
                    <a:cs typeface="Poppins Italics"/>
                    <a:sym typeface="Poppins Italics"/>
                  </a:rPr>
                  <a:t>AI guessed a common column name from other datasets it has seen. This dataset calls it Sales.</a:t>
                </a:r>
              </a:p>
            </p:txBody>
          </p:sp>
        </p:grpSp>
        <p:grpSp>
          <p:nvGrpSpPr>
            <p:cNvPr name="Group 53" id="53"/>
            <p:cNvGrpSpPr/>
            <p:nvPr/>
          </p:nvGrpSpPr>
          <p:grpSpPr>
            <a:xfrm rot="0">
              <a:off x="54610" y="6458586"/>
              <a:ext cx="21086064" cy="1152423"/>
              <a:chOff x="0" y="0"/>
              <a:chExt cx="21086064" cy="1152423"/>
            </a:xfrm>
          </p:grpSpPr>
          <p:sp>
            <p:nvSpPr>
              <p:cNvPr name="Freeform 54" id="54"/>
              <p:cNvSpPr/>
              <p:nvPr/>
            </p:nvSpPr>
            <p:spPr>
              <a:xfrm flipH="false" flipV="false" rot="0">
                <a:off x="0" y="0"/>
                <a:ext cx="21086065" cy="1152423"/>
              </a:xfrm>
              <a:custGeom>
                <a:avLst/>
                <a:gdLst/>
                <a:ahLst/>
                <a:cxnLst/>
                <a:rect r="r" b="b" t="t" l="l"/>
                <a:pathLst>
                  <a:path h="1152423" w="21086065">
                    <a:moveTo>
                      <a:pt x="0" y="0"/>
                    </a:moveTo>
                    <a:lnTo>
                      <a:pt x="21086065" y="0"/>
                    </a:lnTo>
                    <a:lnTo>
                      <a:pt x="21086065" y="1152423"/>
                    </a:lnTo>
                    <a:lnTo>
                      <a:pt x="0" y="1152423"/>
                    </a:lnTo>
                    <a:close/>
                  </a:path>
                </a:pathLst>
              </a:custGeom>
              <a:blipFill>
                <a:blip r:embed="rId6">
                  <a:alphaModFix amt="0"/>
                </a:blip>
                <a:stretch>
                  <a:fillRect l="0" t="-320815" r="0" b="-292226"/>
                </a:stretch>
              </a:blipFill>
            </p:spPr>
          </p:sp>
          <p:sp>
            <p:nvSpPr>
              <p:cNvPr name="TextBox 55" id="55"/>
              <p:cNvSpPr txBox="true"/>
              <p:nvPr/>
            </p:nvSpPr>
            <p:spPr>
              <a:xfrm>
                <a:off x="0" y="-57150"/>
                <a:ext cx="21086064" cy="1209573"/>
              </a:xfrm>
              <a:prstGeom prst="rect">
                <a:avLst/>
              </a:prstGeom>
            </p:spPr>
            <p:txBody>
              <a:bodyPr anchor="ctr" rtlCol="false" tIns="0" lIns="0" bIns="0" rIns="0"/>
              <a:lstStyle/>
              <a:p>
                <a:pPr algn="l">
                  <a:lnSpc>
                    <a:spcPts val="2867"/>
                  </a:lnSpc>
                </a:pPr>
                <a:r>
                  <a:rPr lang="en-US" sz="2025" i="true">
                    <a:solidFill>
                      <a:srgbClr val="0A1A23"/>
                    </a:solidFill>
                    <a:latin typeface="Poppins Italics"/>
                    <a:ea typeface="Poppins Italics"/>
                    <a:cs typeface="Poppins Italics"/>
                    <a:sym typeface="Poppins Italics"/>
                  </a:rPr>
                  <a:t>Both mistakes are caught the same way: run the code, read the message, and check df.columns before trusting any column name AI suggests.</a:t>
                </a:r>
              </a:p>
            </p:txBody>
          </p:sp>
        </p:grpSp>
        <p:grpSp>
          <p:nvGrpSpPr>
            <p:cNvPr name="Group 56" id="56"/>
            <p:cNvGrpSpPr/>
            <p:nvPr/>
          </p:nvGrpSpPr>
          <p:grpSpPr>
            <a:xfrm rot="0">
              <a:off x="0" y="7535546"/>
              <a:ext cx="20627438" cy="2834640"/>
              <a:chOff x="0" y="0"/>
              <a:chExt cx="20627438" cy="2834640"/>
            </a:xfrm>
          </p:grpSpPr>
          <p:sp>
            <p:nvSpPr>
              <p:cNvPr name="Freeform 57" id="57"/>
              <p:cNvSpPr/>
              <p:nvPr/>
            </p:nvSpPr>
            <p:spPr>
              <a:xfrm flipH="false" flipV="false" rot="0">
                <a:off x="0" y="0"/>
                <a:ext cx="20627437" cy="2834640"/>
              </a:xfrm>
              <a:custGeom>
                <a:avLst/>
                <a:gdLst/>
                <a:ahLst/>
                <a:cxnLst/>
                <a:rect r="r" b="b" t="t" l="l"/>
                <a:pathLst>
                  <a:path h="2834640" w="20627437">
                    <a:moveTo>
                      <a:pt x="0" y="109728"/>
                    </a:moveTo>
                    <a:cubicBezTo>
                      <a:pt x="0" y="49149"/>
                      <a:pt x="45702" y="0"/>
                      <a:pt x="102032" y="0"/>
                    </a:cubicBezTo>
                    <a:lnTo>
                      <a:pt x="20525406" y="0"/>
                    </a:lnTo>
                    <a:cubicBezTo>
                      <a:pt x="20581736" y="0"/>
                      <a:pt x="20627437" y="49149"/>
                      <a:pt x="20627437" y="109728"/>
                    </a:cubicBezTo>
                    <a:lnTo>
                      <a:pt x="20627437" y="2724912"/>
                    </a:lnTo>
                    <a:cubicBezTo>
                      <a:pt x="20627437" y="2785491"/>
                      <a:pt x="20581736" y="2834640"/>
                      <a:pt x="20525406" y="2834640"/>
                    </a:cubicBezTo>
                    <a:lnTo>
                      <a:pt x="102032" y="2834640"/>
                    </a:lnTo>
                    <a:cubicBezTo>
                      <a:pt x="45702" y="2834640"/>
                      <a:pt x="0" y="2785491"/>
                      <a:pt x="0" y="2724912"/>
                    </a:cubicBezTo>
                    <a:close/>
                  </a:path>
                </a:pathLst>
              </a:custGeom>
              <a:solidFill>
                <a:srgbClr val="FBEAEA"/>
              </a:solidFill>
            </p:spPr>
          </p:sp>
        </p:grpSp>
        <p:grpSp>
          <p:nvGrpSpPr>
            <p:cNvPr name="Group 58" id="58"/>
            <p:cNvGrpSpPr/>
            <p:nvPr/>
          </p:nvGrpSpPr>
          <p:grpSpPr>
            <a:xfrm rot="0">
              <a:off x="457200" y="7809866"/>
              <a:ext cx="14630400" cy="587858"/>
              <a:chOff x="0" y="0"/>
              <a:chExt cx="14630400" cy="587858"/>
            </a:xfrm>
          </p:grpSpPr>
          <p:sp>
            <p:nvSpPr>
              <p:cNvPr name="Freeform 59" id="59"/>
              <p:cNvSpPr/>
              <p:nvPr/>
            </p:nvSpPr>
            <p:spPr>
              <a:xfrm flipH="false" flipV="false" rot="0">
                <a:off x="0" y="0"/>
                <a:ext cx="14630400" cy="587858"/>
              </a:xfrm>
              <a:custGeom>
                <a:avLst/>
                <a:gdLst/>
                <a:ahLst/>
                <a:cxnLst/>
                <a:rect r="r" b="b" t="t" l="l"/>
                <a:pathLst>
                  <a:path h="587858" w="14630400">
                    <a:moveTo>
                      <a:pt x="0" y="0"/>
                    </a:moveTo>
                    <a:lnTo>
                      <a:pt x="14630400" y="0"/>
                    </a:lnTo>
                    <a:lnTo>
                      <a:pt x="14630400" y="587858"/>
                    </a:lnTo>
                    <a:lnTo>
                      <a:pt x="0" y="587858"/>
                    </a:lnTo>
                    <a:close/>
                  </a:path>
                </a:pathLst>
              </a:custGeom>
              <a:blipFill>
                <a:blip r:embed="rId6">
                  <a:alphaModFix amt="0"/>
                </a:blip>
                <a:stretch>
                  <a:fillRect l="0" t="-438272" r="0" b="-431601"/>
                </a:stretch>
              </a:blipFill>
            </p:spPr>
          </p:sp>
          <p:sp>
            <p:nvSpPr>
              <p:cNvPr name="TextBox 60" id="60"/>
              <p:cNvSpPr txBox="true"/>
              <p:nvPr/>
            </p:nvSpPr>
            <p:spPr>
              <a:xfrm>
                <a:off x="0" y="-19050"/>
                <a:ext cx="14630400" cy="606908"/>
              </a:xfrm>
              <a:prstGeom prst="rect">
                <a:avLst/>
              </a:prstGeom>
            </p:spPr>
            <p:txBody>
              <a:bodyPr anchor="ctr" rtlCol="false" tIns="0" lIns="0" bIns="0" rIns="0"/>
              <a:lstStyle/>
              <a:p>
                <a:pPr algn="l">
                  <a:lnSpc>
                    <a:spcPts val="2160"/>
                  </a:lnSpc>
                </a:pPr>
                <a:r>
                  <a:rPr lang="en-US" sz="1800" b="true">
                    <a:solidFill>
                      <a:srgbClr val="8C3A3A"/>
                    </a:solidFill>
                    <a:latin typeface="Poppins Bold"/>
                    <a:ea typeface="Poppins Bold"/>
                    <a:cs typeface="Poppins Bold"/>
                    <a:sym typeface="Poppins Bold"/>
                  </a:rPr>
                  <a:t>A LOGICAL ERROR THAT RUNS FINE</a:t>
                </a:r>
              </a:p>
            </p:txBody>
          </p:sp>
        </p:grpSp>
        <p:sp>
          <p:nvSpPr>
            <p:cNvPr name="TextBox 61" id="61"/>
            <p:cNvSpPr txBox="true"/>
            <p:nvPr/>
          </p:nvSpPr>
          <p:spPr>
            <a:xfrm rot="0">
              <a:off x="457200" y="8324419"/>
              <a:ext cx="10424160" cy="1356360"/>
            </a:xfrm>
            <a:prstGeom prst="rect">
              <a:avLst/>
            </a:prstGeom>
          </p:spPr>
          <p:txBody>
            <a:bodyPr anchor="t" rtlCol="false" tIns="0" lIns="0" bIns="0" rIns="0">
              <a:spAutoFit/>
            </a:bodyPr>
            <a:lstStyle/>
            <a:p>
              <a:pPr algn="l">
                <a:lnSpc>
                  <a:spcPts val="2700"/>
                </a:lnSpc>
              </a:pPr>
              <a:r>
                <a:rPr lang="en-US" sz="1800">
                  <a:solidFill>
                    <a:srgbClr val="0A1A23"/>
                  </a:solidFill>
                  <a:latin typeface="Poppins"/>
                  <a:ea typeface="Poppins"/>
                  <a:cs typeface="Poppins"/>
                  <a:sym typeface="Poppins"/>
                </a:rPr>
                <a:t>df["Margin_%"] = df["Profit"] / df["Sales"] * 100</a:t>
              </a:r>
            </a:p>
            <a:p>
              <a:pPr algn="l">
                <a:lnSpc>
                  <a:spcPts val="2700"/>
                </a:lnSpc>
              </a:pPr>
              <a:r>
                <a:rPr lang="en-US" sz="1800">
                  <a:solidFill>
                    <a:srgbClr val="0A1A23"/>
                  </a:solidFill>
                  <a:latin typeface="Poppins"/>
                  <a:ea typeface="Poppins"/>
                  <a:cs typeface="Poppins"/>
                  <a:sym typeface="Poppins"/>
                </a:rPr>
                <a:t>avg_margin = df["Margin_%"].sum()</a:t>
              </a:r>
            </a:p>
            <a:p>
              <a:pPr algn="l">
                <a:lnSpc>
                  <a:spcPts val="2700"/>
                </a:lnSpc>
              </a:pPr>
              <a:r>
                <a:rPr lang="en-US" sz="1800">
                  <a:solidFill>
                    <a:srgbClr val="0A1A23"/>
                  </a:solidFill>
                  <a:latin typeface="Poppins"/>
                  <a:ea typeface="Poppins"/>
                  <a:cs typeface="Poppins"/>
                  <a:sym typeface="Poppins"/>
                </a:rPr>
                <a:t>print(avg_margin)   # 300.0</a:t>
              </a:r>
            </a:p>
          </p:txBody>
        </p:sp>
        <p:sp>
          <p:nvSpPr>
            <p:cNvPr name="TextBox 62" id="62"/>
            <p:cNvSpPr txBox="true"/>
            <p:nvPr/>
          </p:nvSpPr>
          <p:spPr>
            <a:xfrm rot="0">
              <a:off x="10186416" y="8310881"/>
              <a:ext cx="10698480" cy="1653921"/>
            </a:xfrm>
            <a:prstGeom prst="rect">
              <a:avLst/>
            </a:prstGeom>
          </p:spPr>
          <p:txBody>
            <a:bodyPr anchor="t" rtlCol="false" tIns="0" lIns="0" bIns="0" rIns="0">
              <a:spAutoFit/>
            </a:bodyPr>
            <a:lstStyle/>
            <a:p>
              <a:pPr algn="l">
                <a:lnSpc>
                  <a:spcPts val="2484"/>
                </a:lnSpc>
              </a:pPr>
              <a:r>
                <a:rPr lang="en-US" sz="1725" i="true">
                  <a:solidFill>
                    <a:srgbClr val="0A1A23"/>
                  </a:solidFill>
                  <a:latin typeface="Poppins Italics"/>
                  <a:ea typeface="Poppins Italics"/>
                  <a:cs typeface="Poppins Italics"/>
                  <a:sym typeface="Poppins Italics"/>
                </a:rPr>
                <a:t>No error, no traceback, code runs perfectly. sum() adds every row’s margin instead of averaging them. An average per-transaction margin of 300% is impossible — only checking whether the output makes sense catches it. Fix: .mean() instead of .sum() → 15.0.</a:t>
              </a:r>
            </a:p>
          </p:txBody>
        </p:sp>
      </p:grpSp>
      <p:grpSp>
        <p:nvGrpSpPr>
          <p:cNvPr name="Group 63" id="63"/>
          <p:cNvGrpSpPr/>
          <p:nvPr/>
        </p:nvGrpSpPr>
        <p:grpSpPr>
          <a:xfrm rot="0">
            <a:off x="1237557" y="753429"/>
            <a:ext cx="12755880" cy="1236342"/>
            <a:chOff x="0" y="0"/>
            <a:chExt cx="17007840" cy="1648455"/>
          </a:xfrm>
        </p:grpSpPr>
        <p:sp>
          <p:nvSpPr>
            <p:cNvPr name="Freeform 64" id="64"/>
            <p:cNvSpPr/>
            <p:nvPr/>
          </p:nvSpPr>
          <p:spPr>
            <a:xfrm flipH="false" flipV="false" rot="0">
              <a:off x="0" y="0"/>
              <a:ext cx="17007839" cy="1648455"/>
            </a:xfrm>
            <a:custGeom>
              <a:avLst/>
              <a:gdLst/>
              <a:ahLst/>
              <a:cxnLst/>
              <a:rect r="r" b="b" t="t" l="l"/>
              <a:pathLst>
                <a:path h="1648455" w="17007839">
                  <a:moveTo>
                    <a:pt x="0" y="0"/>
                  </a:moveTo>
                  <a:lnTo>
                    <a:pt x="17007839" y="0"/>
                  </a:lnTo>
                  <a:lnTo>
                    <a:pt x="17007839" y="1648455"/>
                  </a:lnTo>
                  <a:lnTo>
                    <a:pt x="0" y="1648455"/>
                  </a:lnTo>
                  <a:close/>
                </a:path>
              </a:pathLst>
            </a:custGeom>
            <a:blipFill>
              <a:blip r:embed="rId6">
                <a:alphaModFix amt="0"/>
              </a:blip>
              <a:stretch>
                <a:fillRect l="0" t="-164980" r="0" b="-137091"/>
              </a:stretch>
            </a:blipFill>
          </p:spPr>
        </p:sp>
        <p:sp>
          <p:nvSpPr>
            <p:cNvPr name="TextBox 65" id="65"/>
            <p:cNvSpPr txBox="true"/>
            <p:nvPr/>
          </p:nvSpPr>
          <p:spPr>
            <a:xfrm>
              <a:off x="0" y="-38100"/>
              <a:ext cx="17007840" cy="1686555"/>
            </a:xfrm>
            <a:prstGeom prst="rect">
              <a:avLst/>
            </a:prstGeom>
          </p:spPr>
          <p:txBody>
            <a:bodyPr anchor="ctr" rtlCol="false" tIns="0" lIns="0" bIns="0" rIns="0"/>
            <a:lstStyle/>
            <a:p>
              <a:pPr algn="l">
                <a:lnSpc>
                  <a:spcPts val="5999"/>
                </a:lnSpc>
              </a:pPr>
              <a:r>
                <a:rPr lang="en-US" sz="4999">
                  <a:solidFill>
                    <a:srgbClr val="388080"/>
                  </a:solidFill>
                  <a:latin typeface="Poppins"/>
                  <a:ea typeface="Poppins"/>
                  <a:cs typeface="Poppins"/>
                  <a:sym typeface="Poppins"/>
                </a:rPr>
                <a:t>AI Hallucinations and Incorrect Code</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6497824" y="8924125"/>
            <a:ext cx="647224" cy="571500"/>
            <a:chOff x="0" y="0"/>
            <a:chExt cx="862965" cy="762000"/>
          </a:xfrm>
        </p:grpSpPr>
        <p:sp>
          <p:nvSpPr>
            <p:cNvPr name="Freeform 6" id="6"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5"/>
              <a:stretch>
                <a:fillRect l="-772" t="0" r="-772" b="0"/>
              </a:stretch>
            </a:blipFill>
          </p:spPr>
        </p:sp>
      </p:grpSp>
      <p:grpSp>
        <p:nvGrpSpPr>
          <p:cNvPr name="Group 7" id="7"/>
          <p:cNvGrpSpPr/>
          <p:nvPr/>
        </p:nvGrpSpPr>
        <p:grpSpPr>
          <a:xfrm rot="0">
            <a:off x="857250" y="857250"/>
            <a:ext cx="114300" cy="1028700"/>
            <a:chOff x="0" y="0"/>
            <a:chExt cx="152400" cy="1371600"/>
          </a:xfrm>
        </p:grpSpPr>
        <p:sp>
          <p:nvSpPr>
            <p:cNvPr name="Freeform 8" id="8"/>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grpSp>
        <p:nvGrpSpPr>
          <p:cNvPr name="Group 9" id="9"/>
          <p:cNvGrpSpPr/>
          <p:nvPr/>
        </p:nvGrpSpPr>
        <p:grpSpPr>
          <a:xfrm rot="0">
            <a:off x="822960" y="1920240"/>
            <a:ext cx="15294048" cy="7612380"/>
            <a:chOff x="0" y="0"/>
            <a:chExt cx="20392064" cy="10149840"/>
          </a:xfrm>
        </p:grpSpPr>
        <p:grpSp>
          <p:nvGrpSpPr>
            <p:cNvPr name="Group 10" id="10"/>
            <p:cNvGrpSpPr/>
            <p:nvPr/>
          </p:nvGrpSpPr>
          <p:grpSpPr>
            <a:xfrm rot="0">
              <a:off x="0" y="0"/>
              <a:ext cx="20173517" cy="731520"/>
              <a:chOff x="0" y="0"/>
              <a:chExt cx="20173517" cy="731520"/>
            </a:xfrm>
          </p:grpSpPr>
          <p:sp>
            <p:nvSpPr>
              <p:cNvPr name="Freeform 11" id="11"/>
              <p:cNvSpPr/>
              <p:nvPr/>
            </p:nvSpPr>
            <p:spPr>
              <a:xfrm flipH="false" flipV="false" rot="0">
                <a:off x="0" y="0"/>
                <a:ext cx="20173517" cy="731520"/>
              </a:xfrm>
              <a:custGeom>
                <a:avLst/>
                <a:gdLst/>
                <a:ahLst/>
                <a:cxnLst/>
                <a:rect r="r" b="b" t="t" l="l"/>
                <a:pathLst>
                  <a:path h="731520" w="20173517">
                    <a:moveTo>
                      <a:pt x="0" y="0"/>
                    </a:moveTo>
                    <a:lnTo>
                      <a:pt x="20173517" y="0"/>
                    </a:lnTo>
                    <a:lnTo>
                      <a:pt x="20173517" y="731520"/>
                    </a:lnTo>
                    <a:lnTo>
                      <a:pt x="0" y="731520"/>
                    </a:lnTo>
                    <a:close/>
                  </a:path>
                </a:pathLst>
              </a:custGeom>
              <a:blipFill>
                <a:blip r:embed="rId6">
                  <a:alphaModFix amt="0"/>
                </a:blip>
                <a:stretch>
                  <a:fillRect l="0" t="-534551" r="-8784" b="-534551"/>
                </a:stretch>
              </a:blipFill>
            </p:spPr>
          </p:sp>
          <p:sp>
            <p:nvSpPr>
              <p:cNvPr name="TextBox 12" id="12"/>
              <p:cNvSpPr txBox="true"/>
              <p:nvPr/>
            </p:nvSpPr>
            <p:spPr>
              <a:xfrm>
                <a:off x="0" y="-19050"/>
                <a:ext cx="20173517" cy="750570"/>
              </a:xfrm>
              <a:prstGeom prst="rect">
                <a:avLst/>
              </a:prstGeom>
            </p:spPr>
            <p:txBody>
              <a:bodyPr anchor="ctr" rtlCol="false" tIns="0" lIns="0" bIns="0" rIns="0"/>
              <a:lstStyle/>
              <a:p>
                <a:pPr algn="l">
                  <a:lnSpc>
                    <a:spcPts val="2520"/>
                  </a:lnSpc>
                </a:pPr>
                <a:r>
                  <a:rPr lang="en-US" sz="2100">
                    <a:solidFill>
                      <a:srgbClr val="0A1A23"/>
                    </a:solidFill>
                    <a:latin typeface="Poppins"/>
                    <a:ea typeface="Poppins"/>
                    <a:cs typeface="Poppins"/>
                    <a:sym typeface="Poppins"/>
                  </a:rPr>
                  <a:t>Avoid sending an AI tool anything you wouldn't want stored on someone else's server:</a:t>
                </a:r>
              </a:p>
            </p:txBody>
          </p:sp>
        </p:grpSp>
        <p:grpSp>
          <p:nvGrpSpPr>
            <p:cNvPr name="Group 13" id="13"/>
            <p:cNvGrpSpPr/>
            <p:nvPr/>
          </p:nvGrpSpPr>
          <p:grpSpPr>
            <a:xfrm rot="0">
              <a:off x="0" y="914400"/>
              <a:ext cx="20392064" cy="1005840"/>
              <a:chOff x="0" y="0"/>
              <a:chExt cx="20392064" cy="1005840"/>
            </a:xfrm>
          </p:grpSpPr>
          <p:sp>
            <p:nvSpPr>
              <p:cNvPr name="Freeform 14" id="14"/>
              <p:cNvSpPr/>
              <p:nvPr/>
            </p:nvSpPr>
            <p:spPr>
              <a:xfrm flipH="false" flipV="false" rot="0">
                <a:off x="0" y="0"/>
                <a:ext cx="20392064" cy="1005840"/>
              </a:xfrm>
              <a:custGeom>
                <a:avLst/>
                <a:gdLst/>
                <a:ahLst/>
                <a:cxnLst/>
                <a:rect r="r" b="b" t="t" l="l"/>
                <a:pathLst>
                  <a:path h="1005840" w="20392064">
                    <a:moveTo>
                      <a:pt x="0" y="91440"/>
                    </a:moveTo>
                    <a:cubicBezTo>
                      <a:pt x="0" y="40894"/>
                      <a:pt x="37592" y="0"/>
                      <a:pt x="84056" y="0"/>
                    </a:cubicBezTo>
                    <a:lnTo>
                      <a:pt x="20308008" y="0"/>
                    </a:lnTo>
                    <a:cubicBezTo>
                      <a:pt x="20354472" y="0"/>
                      <a:pt x="20392064" y="40894"/>
                      <a:pt x="20392064" y="91440"/>
                    </a:cubicBezTo>
                    <a:lnTo>
                      <a:pt x="20392064" y="914400"/>
                    </a:lnTo>
                    <a:cubicBezTo>
                      <a:pt x="20392064" y="964946"/>
                      <a:pt x="20354472" y="1005840"/>
                      <a:pt x="20308008" y="1005840"/>
                    </a:cubicBezTo>
                    <a:lnTo>
                      <a:pt x="84056" y="1005840"/>
                    </a:lnTo>
                    <a:cubicBezTo>
                      <a:pt x="37592" y="1005840"/>
                      <a:pt x="0" y="964946"/>
                      <a:pt x="0" y="914400"/>
                    </a:cubicBezTo>
                    <a:close/>
                  </a:path>
                </a:pathLst>
              </a:custGeom>
              <a:solidFill>
                <a:srgbClr val="FBEAEA"/>
              </a:solidFill>
            </p:spPr>
          </p:sp>
        </p:grpSp>
        <p:grpSp>
          <p:nvGrpSpPr>
            <p:cNvPr name="Group 15" id="15"/>
            <p:cNvGrpSpPr/>
            <p:nvPr/>
          </p:nvGrpSpPr>
          <p:grpSpPr>
            <a:xfrm rot="0">
              <a:off x="504338" y="914400"/>
              <a:ext cx="19383388" cy="1005840"/>
              <a:chOff x="0" y="0"/>
              <a:chExt cx="19383388" cy="1005840"/>
            </a:xfrm>
          </p:grpSpPr>
          <p:sp>
            <p:nvSpPr>
              <p:cNvPr name="Freeform 16" id="16"/>
              <p:cNvSpPr/>
              <p:nvPr/>
            </p:nvSpPr>
            <p:spPr>
              <a:xfrm flipH="false" flipV="false" rot="0">
                <a:off x="0" y="0"/>
                <a:ext cx="19383389" cy="1005840"/>
              </a:xfrm>
              <a:custGeom>
                <a:avLst/>
                <a:gdLst/>
                <a:ahLst/>
                <a:cxnLst/>
                <a:rect r="r" b="b" t="t" l="l"/>
                <a:pathLst>
                  <a:path h="1005840" w="19383389">
                    <a:moveTo>
                      <a:pt x="0" y="0"/>
                    </a:moveTo>
                    <a:lnTo>
                      <a:pt x="19383389" y="0"/>
                    </a:lnTo>
                    <a:lnTo>
                      <a:pt x="19383389" y="1005840"/>
                    </a:lnTo>
                    <a:lnTo>
                      <a:pt x="0" y="1005840"/>
                    </a:lnTo>
                    <a:close/>
                  </a:path>
                </a:pathLst>
              </a:custGeom>
              <a:blipFill>
                <a:blip r:embed="rId6">
                  <a:alphaModFix amt="0"/>
                </a:blip>
                <a:stretch>
                  <a:fillRect l="0" t="-358477" r="-8784" b="-358477"/>
                </a:stretch>
              </a:blipFill>
            </p:spPr>
          </p:sp>
          <p:sp>
            <p:nvSpPr>
              <p:cNvPr name="TextBox 17" id="17"/>
              <p:cNvSpPr txBox="true"/>
              <p:nvPr/>
            </p:nvSpPr>
            <p:spPr>
              <a:xfrm>
                <a:off x="0" y="-19050"/>
                <a:ext cx="19383388" cy="1024890"/>
              </a:xfrm>
              <a:prstGeom prst="rect">
                <a:avLst/>
              </a:prstGeom>
            </p:spPr>
            <p:txBody>
              <a:bodyPr anchor="ctr" rtlCol="false" tIns="0" lIns="0" bIns="0" rIns="0"/>
              <a:lstStyle/>
              <a:p>
                <a:pPr algn="l">
                  <a:lnSpc>
                    <a:spcPts val="2520"/>
                  </a:lnSpc>
                </a:pPr>
                <a:r>
                  <a:rPr lang="en-US" sz="2100" b="true">
                    <a:solidFill>
                      <a:srgbClr val="8C3A3A"/>
                    </a:solidFill>
                    <a:latin typeface="Poppins Bold"/>
                    <a:ea typeface="Poppins Bold"/>
                    <a:cs typeface="Poppins Bold"/>
                    <a:sym typeface="Poppins Bold"/>
                  </a:rPr>
                  <a:t>Personal information</a:t>
                </a:r>
              </a:p>
            </p:txBody>
          </p:sp>
        </p:grpSp>
        <p:grpSp>
          <p:nvGrpSpPr>
            <p:cNvPr name="Group 18" id="18"/>
            <p:cNvGrpSpPr/>
            <p:nvPr/>
          </p:nvGrpSpPr>
          <p:grpSpPr>
            <a:xfrm rot="0">
              <a:off x="0" y="2066544"/>
              <a:ext cx="20392064" cy="1005840"/>
              <a:chOff x="0" y="0"/>
              <a:chExt cx="20392064" cy="1005840"/>
            </a:xfrm>
          </p:grpSpPr>
          <p:sp>
            <p:nvSpPr>
              <p:cNvPr name="Freeform 19" id="19"/>
              <p:cNvSpPr/>
              <p:nvPr/>
            </p:nvSpPr>
            <p:spPr>
              <a:xfrm flipH="false" flipV="false" rot="0">
                <a:off x="0" y="0"/>
                <a:ext cx="20392064" cy="1005840"/>
              </a:xfrm>
              <a:custGeom>
                <a:avLst/>
                <a:gdLst/>
                <a:ahLst/>
                <a:cxnLst/>
                <a:rect r="r" b="b" t="t" l="l"/>
                <a:pathLst>
                  <a:path h="1005840" w="20392064">
                    <a:moveTo>
                      <a:pt x="0" y="91440"/>
                    </a:moveTo>
                    <a:cubicBezTo>
                      <a:pt x="0" y="40894"/>
                      <a:pt x="37592" y="0"/>
                      <a:pt x="84056" y="0"/>
                    </a:cubicBezTo>
                    <a:lnTo>
                      <a:pt x="20308008" y="0"/>
                    </a:lnTo>
                    <a:cubicBezTo>
                      <a:pt x="20354472" y="0"/>
                      <a:pt x="20392064" y="40894"/>
                      <a:pt x="20392064" y="91440"/>
                    </a:cubicBezTo>
                    <a:lnTo>
                      <a:pt x="20392064" y="914400"/>
                    </a:lnTo>
                    <a:cubicBezTo>
                      <a:pt x="20392064" y="964946"/>
                      <a:pt x="20354472" y="1005840"/>
                      <a:pt x="20308008" y="1005840"/>
                    </a:cubicBezTo>
                    <a:lnTo>
                      <a:pt x="84056" y="1005840"/>
                    </a:lnTo>
                    <a:cubicBezTo>
                      <a:pt x="37592" y="1005840"/>
                      <a:pt x="0" y="964946"/>
                      <a:pt x="0" y="914400"/>
                    </a:cubicBezTo>
                    <a:close/>
                  </a:path>
                </a:pathLst>
              </a:custGeom>
              <a:solidFill>
                <a:srgbClr val="FBEAEA"/>
              </a:solidFill>
            </p:spPr>
          </p:sp>
        </p:grpSp>
        <p:grpSp>
          <p:nvGrpSpPr>
            <p:cNvPr name="Group 20" id="20"/>
            <p:cNvGrpSpPr/>
            <p:nvPr/>
          </p:nvGrpSpPr>
          <p:grpSpPr>
            <a:xfrm rot="0">
              <a:off x="504338" y="2066544"/>
              <a:ext cx="19383388" cy="1005840"/>
              <a:chOff x="0" y="0"/>
              <a:chExt cx="19383388" cy="1005840"/>
            </a:xfrm>
          </p:grpSpPr>
          <p:sp>
            <p:nvSpPr>
              <p:cNvPr name="Freeform 21" id="21"/>
              <p:cNvSpPr/>
              <p:nvPr/>
            </p:nvSpPr>
            <p:spPr>
              <a:xfrm flipH="false" flipV="false" rot="0">
                <a:off x="0" y="0"/>
                <a:ext cx="19383389" cy="1005840"/>
              </a:xfrm>
              <a:custGeom>
                <a:avLst/>
                <a:gdLst/>
                <a:ahLst/>
                <a:cxnLst/>
                <a:rect r="r" b="b" t="t" l="l"/>
                <a:pathLst>
                  <a:path h="1005840" w="19383389">
                    <a:moveTo>
                      <a:pt x="0" y="0"/>
                    </a:moveTo>
                    <a:lnTo>
                      <a:pt x="19383389" y="0"/>
                    </a:lnTo>
                    <a:lnTo>
                      <a:pt x="19383389" y="1005840"/>
                    </a:lnTo>
                    <a:lnTo>
                      <a:pt x="0" y="1005840"/>
                    </a:lnTo>
                    <a:close/>
                  </a:path>
                </a:pathLst>
              </a:custGeom>
              <a:blipFill>
                <a:blip r:embed="rId6">
                  <a:alphaModFix amt="0"/>
                </a:blip>
                <a:stretch>
                  <a:fillRect l="0" t="-358477" r="-8784" b="-358477"/>
                </a:stretch>
              </a:blipFill>
            </p:spPr>
          </p:sp>
          <p:sp>
            <p:nvSpPr>
              <p:cNvPr name="TextBox 22" id="22"/>
              <p:cNvSpPr txBox="true"/>
              <p:nvPr/>
            </p:nvSpPr>
            <p:spPr>
              <a:xfrm>
                <a:off x="0" y="-19050"/>
                <a:ext cx="19383388" cy="1024890"/>
              </a:xfrm>
              <a:prstGeom prst="rect">
                <a:avLst/>
              </a:prstGeom>
            </p:spPr>
            <p:txBody>
              <a:bodyPr anchor="ctr" rtlCol="false" tIns="0" lIns="0" bIns="0" rIns="0"/>
              <a:lstStyle/>
              <a:p>
                <a:pPr algn="l">
                  <a:lnSpc>
                    <a:spcPts val="2520"/>
                  </a:lnSpc>
                </a:pPr>
                <a:r>
                  <a:rPr lang="en-US" sz="2100" b="true">
                    <a:solidFill>
                      <a:srgbClr val="8C3A3A"/>
                    </a:solidFill>
                    <a:latin typeface="Poppins Bold"/>
                    <a:ea typeface="Poppins Bold"/>
                    <a:cs typeface="Poppins Bold"/>
                    <a:sym typeface="Poppins Bold"/>
                  </a:rPr>
                  <a:t>Passwords</a:t>
                </a:r>
              </a:p>
            </p:txBody>
          </p:sp>
        </p:grpSp>
        <p:grpSp>
          <p:nvGrpSpPr>
            <p:cNvPr name="Group 23" id="23"/>
            <p:cNvGrpSpPr/>
            <p:nvPr/>
          </p:nvGrpSpPr>
          <p:grpSpPr>
            <a:xfrm rot="0">
              <a:off x="0" y="3218688"/>
              <a:ext cx="20392064" cy="1005840"/>
              <a:chOff x="0" y="0"/>
              <a:chExt cx="20392064" cy="1005840"/>
            </a:xfrm>
          </p:grpSpPr>
          <p:sp>
            <p:nvSpPr>
              <p:cNvPr name="Freeform 24" id="24"/>
              <p:cNvSpPr/>
              <p:nvPr/>
            </p:nvSpPr>
            <p:spPr>
              <a:xfrm flipH="false" flipV="false" rot="0">
                <a:off x="0" y="0"/>
                <a:ext cx="20392064" cy="1005840"/>
              </a:xfrm>
              <a:custGeom>
                <a:avLst/>
                <a:gdLst/>
                <a:ahLst/>
                <a:cxnLst/>
                <a:rect r="r" b="b" t="t" l="l"/>
                <a:pathLst>
                  <a:path h="1005840" w="20392064">
                    <a:moveTo>
                      <a:pt x="0" y="91440"/>
                    </a:moveTo>
                    <a:cubicBezTo>
                      <a:pt x="0" y="40894"/>
                      <a:pt x="37592" y="0"/>
                      <a:pt x="84056" y="0"/>
                    </a:cubicBezTo>
                    <a:lnTo>
                      <a:pt x="20308008" y="0"/>
                    </a:lnTo>
                    <a:cubicBezTo>
                      <a:pt x="20354472" y="0"/>
                      <a:pt x="20392064" y="40894"/>
                      <a:pt x="20392064" y="91440"/>
                    </a:cubicBezTo>
                    <a:lnTo>
                      <a:pt x="20392064" y="914400"/>
                    </a:lnTo>
                    <a:cubicBezTo>
                      <a:pt x="20392064" y="964946"/>
                      <a:pt x="20354472" y="1005840"/>
                      <a:pt x="20308008" y="1005840"/>
                    </a:cubicBezTo>
                    <a:lnTo>
                      <a:pt x="84056" y="1005840"/>
                    </a:lnTo>
                    <a:cubicBezTo>
                      <a:pt x="37592" y="1005840"/>
                      <a:pt x="0" y="964946"/>
                      <a:pt x="0" y="914400"/>
                    </a:cubicBezTo>
                    <a:close/>
                  </a:path>
                </a:pathLst>
              </a:custGeom>
              <a:solidFill>
                <a:srgbClr val="FBEAEA"/>
              </a:solidFill>
            </p:spPr>
          </p:sp>
        </p:grpSp>
        <p:grpSp>
          <p:nvGrpSpPr>
            <p:cNvPr name="Group 25" id="25"/>
            <p:cNvGrpSpPr/>
            <p:nvPr/>
          </p:nvGrpSpPr>
          <p:grpSpPr>
            <a:xfrm rot="0">
              <a:off x="504338" y="3218688"/>
              <a:ext cx="19383388" cy="1005840"/>
              <a:chOff x="0" y="0"/>
              <a:chExt cx="19383388" cy="1005840"/>
            </a:xfrm>
          </p:grpSpPr>
          <p:sp>
            <p:nvSpPr>
              <p:cNvPr name="Freeform 26" id="26"/>
              <p:cNvSpPr/>
              <p:nvPr/>
            </p:nvSpPr>
            <p:spPr>
              <a:xfrm flipH="false" flipV="false" rot="0">
                <a:off x="0" y="0"/>
                <a:ext cx="19383389" cy="1005840"/>
              </a:xfrm>
              <a:custGeom>
                <a:avLst/>
                <a:gdLst/>
                <a:ahLst/>
                <a:cxnLst/>
                <a:rect r="r" b="b" t="t" l="l"/>
                <a:pathLst>
                  <a:path h="1005840" w="19383389">
                    <a:moveTo>
                      <a:pt x="0" y="0"/>
                    </a:moveTo>
                    <a:lnTo>
                      <a:pt x="19383389" y="0"/>
                    </a:lnTo>
                    <a:lnTo>
                      <a:pt x="19383389" y="1005840"/>
                    </a:lnTo>
                    <a:lnTo>
                      <a:pt x="0" y="1005840"/>
                    </a:lnTo>
                    <a:close/>
                  </a:path>
                </a:pathLst>
              </a:custGeom>
              <a:blipFill>
                <a:blip r:embed="rId6">
                  <a:alphaModFix amt="0"/>
                </a:blip>
                <a:stretch>
                  <a:fillRect l="0" t="-358477" r="-8784" b="-358477"/>
                </a:stretch>
              </a:blipFill>
            </p:spPr>
          </p:sp>
          <p:sp>
            <p:nvSpPr>
              <p:cNvPr name="TextBox 27" id="27"/>
              <p:cNvSpPr txBox="true"/>
              <p:nvPr/>
            </p:nvSpPr>
            <p:spPr>
              <a:xfrm>
                <a:off x="0" y="-19050"/>
                <a:ext cx="19383388" cy="1024890"/>
              </a:xfrm>
              <a:prstGeom prst="rect">
                <a:avLst/>
              </a:prstGeom>
            </p:spPr>
            <p:txBody>
              <a:bodyPr anchor="ctr" rtlCol="false" tIns="0" lIns="0" bIns="0" rIns="0"/>
              <a:lstStyle/>
              <a:p>
                <a:pPr algn="l">
                  <a:lnSpc>
                    <a:spcPts val="2520"/>
                  </a:lnSpc>
                </a:pPr>
                <a:r>
                  <a:rPr lang="en-US" sz="2100" b="true">
                    <a:solidFill>
                      <a:srgbClr val="8C3A3A"/>
                    </a:solidFill>
                    <a:latin typeface="Poppins Bold"/>
                    <a:ea typeface="Poppins Bold"/>
                    <a:cs typeface="Poppins Bold"/>
                    <a:sym typeface="Poppins Bold"/>
                  </a:rPr>
                  <a:t>API keys</a:t>
                </a:r>
              </a:p>
            </p:txBody>
          </p:sp>
        </p:grpSp>
        <p:grpSp>
          <p:nvGrpSpPr>
            <p:cNvPr name="Group 28" id="28"/>
            <p:cNvGrpSpPr/>
            <p:nvPr/>
          </p:nvGrpSpPr>
          <p:grpSpPr>
            <a:xfrm rot="0">
              <a:off x="0" y="4370832"/>
              <a:ext cx="20392064" cy="1005840"/>
              <a:chOff x="0" y="0"/>
              <a:chExt cx="20392064" cy="1005840"/>
            </a:xfrm>
          </p:grpSpPr>
          <p:sp>
            <p:nvSpPr>
              <p:cNvPr name="Freeform 29" id="29"/>
              <p:cNvSpPr/>
              <p:nvPr/>
            </p:nvSpPr>
            <p:spPr>
              <a:xfrm flipH="false" flipV="false" rot="0">
                <a:off x="0" y="0"/>
                <a:ext cx="20392064" cy="1005840"/>
              </a:xfrm>
              <a:custGeom>
                <a:avLst/>
                <a:gdLst/>
                <a:ahLst/>
                <a:cxnLst/>
                <a:rect r="r" b="b" t="t" l="l"/>
                <a:pathLst>
                  <a:path h="1005840" w="20392064">
                    <a:moveTo>
                      <a:pt x="0" y="91440"/>
                    </a:moveTo>
                    <a:cubicBezTo>
                      <a:pt x="0" y="40894"/>
                      <a:pt x="37592" y="0"/>
                      <a:pt x="84056" y="0"/>
                    </a:cubicBezTo>
                    <a:lnTo>
                      <a:pt x="20308008" y="0"/>
                    </a:lnTo>
                    <a:cubicBezTo>
                      <a:pt x="20354472" y="0"/>
                      <a:pt x="20392064" y="40894"/>
                      <a:pt x="20392064" y="91440"/>
                    </a:cubicBezTo>
                    <a:lnTo>
                      <a:pt x="20392064" y="914400"/>
                    </a:lnTo>
                    <a:cubicBezTo>
                      <a:pt x="20392064" y="964946"/>
                      <a:pt x="20354472" y="1005840"/>
                      <a:pt x="20308008" y="1005840"/>
                    </a:cubicBezTo>
                    <a:lnTo>
                      <a:pt x="84056" y="1005840"/>
                    </a:lnTo>
                    <a:cubicBezTo>
                      <a:pt x="37592" y="1005840"/>
                      <a:pt x="0" y="964946"/>
                      <a:pt x="0" y="914400"/>
                    </a:cubicBezTo>
                    <a:close/>
                  </a:path>
                </a:pathLst>
              </a:custGeom>
              <a:solidFill>
                <a:srgbClr val="FBEAEA"/>
              </a:solidFill>
            </p:spPr>
          </p:sp>
        </p:grpSp>
        <p:grpSp>
          <p:nvGrpSpPr>
            <p:cNvPr name="Group 30" id="30"/>
            <p:cNvGrpSpPr/>
            <p:nvPr/>
          </p:nvGrpSpPr>
          <p:grpSpPr>
            <a:xfrm rot="0">
              <a:off x="504338" y="4370832"/>
              <a:ext cx="19383388" cy="1005840"/>
              <a:chOff x="0" y="0"/>
              <a:chExt cx="19383388" cy="1005840"/>
            </a:xfrm>
          </p:grpSpPr>
          <p:sp>
            <p:nvSpPr>
              <p:cNvPr name="Freeform 31" id="31"/>
              <p:cNvSpPr/>
              <p:nvPr/>
            </p:nvSpPr>
            <p:spPr>
              <a:xfrm flipH="false" flipV="false" rot="0">
                <a:off x="0" y="0"/>
                <a:ext cx="19383389" cy="1005840"/>
              </a:xfrm>
              <a:custGeom>
                <a:avLst/>
                <a:gdLst/>
                <a:ahLst/>
                <a:cxnLst/>
                <a:rect r="r" b="b" t="t" l="l"/>
                <a:pathLst>
                  <a:path h="1005840" w="19383389">
                    <a:moveTo>
                      <a:pt x="0" y="0"/>
                    </a:moveTo>
                    <a:lnTo>
                      <a:pt x="19383389" y="0"/>
                    </a:lnTo>
                    <a:lnTo>
                      <a:pt x="19383389" y="1005840"/>
                    </a:lnTo>
                    <a:lnTo>
                      <a:pt x="0" y="1005840"/>
                    </a:lnTo>
                    <a:close/>
                  </a:path>
                </a:pathLst>
              </a:custGeom>
              <a:blipFill>
                <a:blip r:embed="rId6">
                  <a:alphaModFix amt="0"/>
                </a:blip>
                <a:stretch>
                  <a:fillRect l="0" t="-358477" r="-8784" b="-358477"/>
                </a:stretch>
              </a:blipFill>
            </p:spPr>
          </p:sp>
          <p:sp>
            <p:nvSpPr>
              <p:cNvPr name="TextBox 32" id="32"/>
              <p:cNvSpPr txBox="true"/>
              <p:nvPr/>
            </p:nvSpPr>
            <p:spPr>
              <a:xfrm>
                <a:off x="0" y="-19050"/>
                <a:ext cx="19383388" cy="1024890"/>
              </a:xfrm>
              <a:prstGeom prst="rect">
                <a:avLst/>
              </a:prstGeom>
            </p:spPr>
            <p:txBody>
              <a:bodyPr anchor="ctr" rtlCol="false" tIns="0" lIns="0" bIns="0" rIns="0"/>
              <a:lstStyle/>
              <a:p>
                <a:pPr algn="l">
                  <a:lnSpc>
                    <a:spcPts val="2520"/>
                  </a:lnSpc>
                </a:pPr>
                <a:r>
                  <a:rPr lang="en-US" sz="2100" b="true">
                    <a:solidFill>
                      <a:srgbClr val="8C3A3A"/>
                    </a:solidFill>
                    <a:latin typeface="Poppins Bold"/>
                    <a:ea typeface="Poppins Bold"/>
                    <a:cs typeface="Poppins Bold"/>
                    <a:sym typeface="Poppins Bold"/>
                  </a:rPr>
                  <a:t>Confidential business information</a:t>
                </a:r>
              </a:p>
            </p:txBody>
          </p:sp>
        </p:grpSp>
        <p:grpSp>
          <p:nvGrpSpPr>
            <p:cNvPr name="Group 33" id="33"/>
            <p:cNvGrpSpPr/>
            <p:nvPr/>
          </p:nvGrpSpPr>
          <p:grpSpPr>
            <a:xfrm rot="0">
              <a:off x="0" y="5522976"/>
              <a:ext cx="20392064" cy="1005840"/>
              <a:chOff x="0" y="0"/>
              <a:chExt cx="20392064" cy="1005840"/>
            </a:xfrm>
          </p:grpSpPr>
          <p:sp>
            <p:nvSpPr>
              <p:cNvPr name="Freeform 34" id="34"/>
              <p:cNvSpPr/>
              <p:nvPr/>
            </p:nvSpPr>
            <p:spPr>
              <a:xfrm flipH="false" flipV="false" rot="0">
                <a:off x="0" y="0"/>
                <a:ext cx="20392064" cy="1005840"/>
              </a:xfrm>
              <a:custGeom>
                <a:avLst/>
                <a:gdLst/>
                <a:ahLst/>
                <a:cxnLst/>
                <a:rect r="r" b="b" t="t" l="l"/>
                <a:pathLst>
                  <a:path h="1005840" w="20392064">
                    <a:moveTo>
                      <a:pt x="0" y="91440"/>
                    </a:moveTo>
                    <a:cubicBezTo>
                      <a:pt x="0" y="40894"/>
                      <a:pt x="37592" y="0"/>
                      <a:pt x="84056" y="0"/>
                    </a:cubicBezTo>
                    <a:lnTo>
                      <a:pt x="20308008" y="0"/>
                    </a:lnTo>
                    <a:cubicBezTo>
                      <a:pt x="20354472" y="0"/>
                      <a:pt x="20392064" y="40894"/>
                      <a:pt x="20392064" y="91440"/>
                    </a:cubicBezTo>
                    <a:lnTo>
                      <a:pt x="20392064" y="914400"/>
                    </a:lnTo>
                    <a:cubicBezTo>
                      <a:pt x="20392064" y="964946"/>
                      <a:pt x="20354472" y="1005840"/>
                      <a:pt x="20308008" y="1005840"/>
                    </a:cubicBezTo>
                    <a:lnTo>
                      <a:pt x="84056" y="1005840"/>
                    </a:lnTo>
                    <a:cubicBezTo>
                      <a:pt x="37592" y="1005840"/>
                      <a:pt x="0" y="964946"/>
                      <a:pt x="0" y="914400"/>
                    </a:cubicBezTo>
                    <a:close/>
                  </a:path>
                </a:pathLst>
              </a:custGeom>
              <a:solidFill>
                <a:srgbClr val="FBEAEA"/>
              </a:solidFill>
            </p:spPr>
          </p:sp>
        </p:grpSp>
        <p:grpSp>
          <p:nvGrpSpPr>
            <p:cNvPr name="Group 35" id="35"/>
            <p:cNvGrpSpPr/>
            <p:nvPr/>
          </p:nvGrpSpPr>
          <p:grpSpPr>
            <a:xfrm rot="0">
              <a:off x="504338" y="5522976"/>
              <a:ext cx="19383388" cy="1005840"/>
              <a:chOff x="0" y="0"/>
              <a:chExt cx="19383388" cy="1005840"/>
            </a:xfrm>
          </p:grpSpPr>
          <p:sp>
            <p:nvSpPr>
              <p:cNvPr name="Freeform 36" id="36"/>
              <p:cNvSpPr/>
              <p:nvPr/>
            </p:nvSpPr>
            <p:spPr>
              <a:xfrm flipH="false" flipV="false" rot="0">
                <a:off x="0" y="0"/>
                <a:ext cx="19383389" cy="1005840"/>
              </a:xfrm>
              <a:custGeom>
                <a:avLst/>
                <a:gdLst/>
                <a:ahLst/>
                <a:cxnLst/>
                <a:rect r="r" b="b" t="t" l="l"/>
                <a:pathLst>
                  <a:path h="1005840" w="19383389">
                    <a:moveTo>
                      <a:pt x="0" y="0"/>
                    </a:moveTo>
                    <a:lnTo>
                      <a:pt x="19383389" y="0"/>
                    </a:lnTo>
                    <a:lnTo>
                      <a:pt x="19383389" y="1005840"/>
                    </a:lnTo>
                    <a:lnTo>
                      <a:pt x="0" y="1005840"/>
                    </a:lnTo>
                    <a:close/>
                  </a:path>
                </a:pathLst>
              </a:custGeom>
              <a:blipFill>
                <a:blip r:embed="rId6">
                  <a:alphaModFix amt="0"/>
                </a:blip>
                <a:stretch>
                  <a:fillRect l="0" t="-358477" r="-8784" b="-358477"/>
                </a:stretch>
              </a:blipFill>
            </p:spPr>
          </p:sp>
          <p:sp>
            <p:nvSpPr>
              <p:cNvPr name="TextBox 37" id="37"/>
              <p:cNvSpPr txBox="true"/>
              <p:nvPr/>
            </p:nvSpPr>
            <p:spPr>
              <a:xfrm>
                <a:off x="0" y="-19050"/>
                <a:ext cx="19383388" cy="1024890"/>
              </a:xfrm>
              <a:prstGeom prst="rect">
                <a:avLst/>
              </a:prstGeom>
            </p:spPr>
            <p:txBody>
              <a:bodyPr anchor="ctr" rtlCol="false" tIns="0" lIns="0" bIns="0" rIns="0"/>
              <a:lstStyle/>
              <a:p>
                <a:pPr algn="l">
                  <a:lnSpc>
                    <a:spcPts val="2520"/>
                  </a:lnSpc>
                </a:pPr>
                <a:r>
                  <a:rPr lang="en-US" sz="2100" b="true">
                    <a:solidFill>
                      <a:srgbClr val="8C3A3A"/>
                    </a:solidFill>
                    <a:latin typeface="Poppins Bold"/>
                    <a:ea typeface="Poppins Bold"/>
                    <a:cs typeface="Poppins Bold"/>
                    <a:sym typeface="Poppins Bold"/>
                  </a:rPr>
                  <a:t>Sensitive datasets</a:t>
                </a:r>
              </a:p>
            </p:txBody>
          </p:sp>
        </p:grpSp>
        <p:grpSp>
          <p:nvGrpSpPr>
            <p:cNvPr name="Group 38" id="38"/>
            <p:cNvGrpSpPr/>
            <p:nvPr/>
          </p:nvGrpSpPr>
          <p:grpSpPr>
            <a:xfrm rot="0">
              <a:off x="0" y="6858000"/>
              <a:ext cx="20392064" cy="1737360"/>
              <a:chOff x="0" y="0"/>
              <a:chExt cx="20392064" cy="1737360"/>
            </a:xfrm>
          </p:grpSpPr>
          <p:sp>
            <p:nvSpPr>
              <p:cNvPr name="Freeform 39" id="39"/>
              <p:cNvSpPr/>
              <p:nvPr/>
            </p:nvSpPr>
            <p:spPr>
              <a:xfrm flipH="false" flipV="false" rot="0">
                <a:off x="0" y="0"/>
                <a:ext cx="20392064" cy="1737360"/>
              </a:xfrm>
              <a:custGeom>
                <a:avLst/>
                <a:gdLst/>
                <a:ahLst/>
                <a:cxnLst/>
                <a:rect r="r" b="b" t="t" l="l"/>
                <a:pathLst>
                  <a:path h="1737360" w="20392064">
                    <a:moveTo>
                      <a:pt x="0" y="109728"/>
                    </a:moveTo>
                    <a:cubicBezTo>
                      <a:pt x="0" y="49149"/>
                      <a:pt x="45180" y="0"/>
                      <a:pt x="100868" y="0"/>
                    </a:cubicBezTo>
                    <a:lnTo>
                      <a:pt x="20291196" y="0"/>
                    </a:lnTo>
                    <a:cubicBezTo>
                      <a:pt x="20346884" y="0"/>
                      <a:pt x="20392064" y="49149"/>
                      <a:pt x="20392064" y="109728"/>
                    </a:cubicBezTo>
                    <a:lnTo>
                      <a:pt x="20392064" y="1627632"/>
                    </a:lnTo>
                    <a:cubicBezTo>
                      <a:pt x="20392064" y="1688211"/>
                      <a:pt x="20346884" y="1737360"/>
                      <a:pt x="20291196" y="1737360"/>
                    </a:cubicBezTo>
                    <a:lnTo>
                      <a:pt x="100868" y="1737360"/>
                    </a:lnTo>
                    <a:cubicBezTo>
                      <a:pt x="45180" y="1737360"/>
                      <a:pt x="0" y="1688211"/>
                      <a:pt x="0" y="1627632"/>
                    </a:cubicBezTo>
                    <a:close/>
                  </a:path>
                </a:pathLst>
              </a:custGeom>
              <a:solidFill>
                <a:srgbClr val="EAF2F1"/>
              </a:solidFill>
            </p:spPr>
          </p:sp>
        </p:grpSp>
        <p:grpSp>
          <p:nvGrpSpPr>
            <p:cNvPr name="Group 40" id="40"/>
            <p:cNvGrpSpPr/>
            <p:nvPr/>
          </p:nvGrpSpPr>
          <p:grpSpPr>
            <a:xfrm rot="0">
              <a:off x="504338" y="7040880"/>
              <a:ext cx="19383388" cy="1635023"/>
              <a:chOff x="0" y="0"/>
              <a:chExt cx="19383388" cy="1635023"/>
            </a:xfrm>
          </p:grpSpPr>
          <p:sp>
            <p:nvSpPr>
              <p:cNvPr name="Freeform 41" id="41"/>
              <p:cNvSpPr/>
              <p:nvPr/>
            </p:nvSpPr>
            <p:spPr>
              <a:xfrm flipH="false" flipV="false" rot="0">
                <a:off x="0" y="0"/>
                <a:ext cx="19383389" cy="1635023"/>
              </a:xfrm>
              <a:custGeom>
                <a:avLst/>
                <a:gdLst/>
                <a:ahLst/>
                <a:cxnLst/>
                <a:rect r="r" b="b" t="t" l="l"/>
                <a:pathLst>
                  <a:path h="1635023" w="19383389">
                    <a:moveTo>
                      <a:pt x="0" y="0"/>
                    </a:moveTo>
                    <a:lnTo>
                      <a:pt x="19383389" y="0"/>
                    </a:lnTo>
                    <a:lnTo>
                      <a:pt x="19383389" y="1635023"/>
                    </a:lnTo>
                    <a:lnTo>
                      <a:pt x="0" y="1635023"/>
                    </a:lnTo>
                    <a:close/>
                  </a:path>
                </a:pathLst>
              </a:custGeom>
              <a:blipFill>
                <a:blip r:embed="rId6">
                  <a:alphaModFix amt="0"/>
                </a:blip>
                <a:stretch>
                  <a:fillRect l="0" t="-209344" r="-8784" b="-193232"/>
                </a:stretch>
              </a:blipFill>
            </p:spPr>
          </p:sp>
          <p:sp>
            <p:nvSpPr>
              <p:cNvPr name="TextBox 42" id="42"/>
              <p:cNvSpPr txBox="true"/>
              <p:nvPr/>
            </p:nvSpPr>
            <p:spPr>
              <a:xfrm>
                <a:off x="0" y="-57150"/>
                <a:ext cx="19383388" cy="1692173"/>
              </a:xfrm>
              <a:prstGeom prst="rect">
                <a:avLst/>
              </a:prstGeom>
            </p:spPr>
            <p:txBody>
              <a:bodyPr anchor="ctr" rtlCol="false" tIns="0" lIns="0" bIns="0" rIns="0"/>
              <a:lstStyle/>
              <a:p>
                <a:pPr algn="l">
                  <a:lnSpc>
                    <a:spcPts val="2867"/>
                  </a:lnSpc>
                </a:pPr>
                <a:r>
                  <a:rPr lang="en-US" sz="2025" b="true">
                    <a:solidFill>
                      <a:srgbClr val="387F7F"/>
                    </a:solidFill>
                    <a:latin typeface="Poppins Bold"/>
                    <a:ea typeface="Poppins Bold"/>
                    <a:cs typeface="Poppins Bold"/>
                    <a:sym typeface="Poppins Bold"/>
                  </a:rPr>
                  <a:t>Why branch_sales.csv is safe to paste anywhere:  </a:t>
                </a:r>
                <a:r>
                  <a:rPr lang="en-US" sz="2025">
                    <a:solidFill>
                      <a:srgbClr val="0A1A23"/>
                    </a:solidFill>
                    <a:latin typeface="Poppins"/>
                    <a:ea typeface="Poppins"/>
                    <a:cs typeface="Poppins"/>
                    <a:sym typeface="Poppins"/>
                  </a:rPr>
                  <a:t>every customer in it, Sunrise Stores, Coastal Mart, and the rest, is a fictional business name. No real client or personal data ever needs to touch an AI tool for this course to work.</a:t>
                </a:r>
              </a:p>
            </p:txBody>
          </p:sp>
        </p:grpSp>
        <p:grpSp>
          <p:nvGrpSpPr>
            <p:cNvPr name="Group 43" id="43"/>
            <p:cNvGrpSpPr/>
            <p:nvPr/>
          </p:nvGrpSpPr>
          <p:grpSpPr>
            <a:xfrm rot="0">
              <a:off x="0" y="8778240"/>
              <a:ext cx="20392064" cy="1371600"/>
              <a:chOff x="0" y="0"/>
              <a:chExt cx="20392064" cy="1371600"/>
            </a:xfrm>
          </p:grpSpPr>
          <p:sp>
            <p:nvSpPr>
              <p:cNvPr name="Freeform 44" id="44"/>
              <p:cNvSpPr/>
              <p:nvPr/>
            </p:nvSpPr>
            <p:spPr>
              <a:xfrm flipH="false" flipV="false" rot="0">
                <a:off x="0" y="0"/>
                <a:ext cx="20392064" cy="1371600"/>
              </a:xfrm>
              <a:custGeom>
                <a:avLst/>
                <a:gdLst/>
                <a:ahLst/>
                <a:cxnLst/>
                <a:rect r="r" b="b" t="t" l="l"/>
                <a:pathLst>
                  <a:path h="1371600" w="20392064">
                    <a:moveTo>
                      <a:pt x="0" y="109728"/>
                    </a:moveTo>
                    <a:cubicBezTo>
                      <a:pt x="0" y="49149"/>
                      <a:pt x="45180" y="0"/>
                      <a:pt x="100868" y="0"/>
                    </a:cubicBezTo>
                    <a:lnTo>
                      <a:pt x="20291196" y="0"/>
                    </a:lnTo>
                    <a:cubicBezTo>
                      <a:pt x="20346884" y="0"/>
                      <a:pt x="20392064" y="49149"/>
                      <a:pt x="20392064" y="109728"/>
                    </a:cubicBezTo>
                    <a:lnTo>
                      <a:pt x="20392064" y="1261872"/>
                    </a:lnTo>
                    <a:cubicBezTo>
                      <a:pt x="20392064" y="1322451"/>
                      <a:pt x="20346884" y="1371600"/>
                      <a:pt x="20291196" y="1371600"/>
                    </a:cubicBezTo>
                    <a:lnTo>
                      <a:pt x="100868" y="1371600"/>
                    </a:lnTo>
                    <a:cubicBezTo>
                      <a:pt x="45180" y="1371600"/>
                      <a:pt x="0" y="1322451"/>
                      <a:pt x="0" y="1261872"/>
                    </a:cubicBezTo>
                    <a:close/>
                  </a:path>
                </a:pathLst>
              </a:custGeom>
              <a:solidFill>
                <a:srgbClr val="EAF2F1"/>
              </a:solidFill>
            </p:spPr>
          </p:sp>
        </p:grpSp>
        <p:grpSp>
          <p:nvGrpSpPr>
            <p:cNvPr name="Group 45" id="45"/>
            <p:cNvGrpSpPr/>
            <p:nvPr/>
          </p:nvGrpSpPr>
          <p:grpSpPr>
            <a:xfrm rot="0">
              <a:off x="504338" y="8938357"/>
              <a:ext cx="19383388" cy="1152423"/>
              <a:chOff x="0" y="0"/>
              <a:chExt cx="19383388" cy="1152423"/>
            </a:xfrm>
          </p:grpSpPr>
          <p:sp>
            <p:nvSpPr>
              <p:cNvPr name="Freeform 46" id="46"/>
              <p:cNvSpPr/>
              <p:nvPr/>
            </p:nvSpPr>
            <p:spPr>
              <a:xfrm flipH="false" flipV="false" rot="0">
                <a:off x="0" y="0"/>
                <a:ext cx="19383389" cy="1152423"/>
              </a:xfrm>
              <a:custGeom>
                <a:avLst/>
                <a:gdLst/>
                <a:ahLst/>
                <a:cxnLst/>
                <a:rect r="r" b="b" t="t" l="l"/>
                <a:pathLst>
                  <a:path h="1152423" w="19383389">
                    <a:moveTo>
                      <a:pt x="0" y="0"/>
                    </a:moveTo>
                    <a:lnTo>
                      <a:pt x="19383389" y="0"/>
                    </a:lnTo>
                    <a:lnTo>
                      <a:pt x="19383389" y="1152423"/>
                    </a:lnTo>
                    <a:lnTo>
                      <a:pt x="0" y="1152423"/>
                    </a:lnTo>
                    <a:close/>
                  </a:path>
                </a:pathLst>
              </a:custGeom>
              <a:blipFill>
                <a:blip r:embed="rId6">
                  <a:alphaModFix amt="0"/>
                </a:blip>
                <a:stretch>
                  <a:fillRect l="0" t="-312880" r="-8784" b="-300160"/>
                </a:stretch>
              </a:blipFill>
            </p:spPr>
          </p:sp>
          <p:sp>
            <p:nvSpPr>
              <p:cNvPr name="TextBox 47" id="47"/>
              <p:cNvSpPr txBox="true"/>
              <p:nvPr/>
            </p:nvSpPr>
            <p:spPr>
              <a:xfrm>
                <a:off x="0" y="-57150"/>
                <a:ext cx="19383388" cy="1209573"/>
              </a:xfrm>
              <a:prstGeom prst="rect">
                <a:avLst/>
              </a:prstGeom>
            </p:spPr>
            <p:txBody>
              <a:bodyPr anchor="ctr" rtlCol="false" tIns="0" lIns="0" bIns="0" rIns="0"/>
              <a:lstStyle/>
              <a:p>
                <a:pPr algn="l">
                  <a:lnSpc>
                    <a:spcPts val="2867"/>
                  </a:lnSpc>
                </a:pPr>
                <a:r>
                  <a:rPr lang="en-US" sz="2025" i="true">
                    <a:solidFill>
                      <a:srgbClr val="0A1A23"/>
                    </a:solidFill>
                    <a:latin typeface="Poppins Italics"/>
                    <a:ea typeface="Poppins Italics"/>
                    <a:cs typeface="Poppins Italics"/>
                    <a:sym typeface="Poppins Italics"/>
                  </a:rPr>
                  <a:t>Working with real company data on the job? Anonymise it or use a small representative sample before it goes anywhere near an AI tool.</a:t>
                </a:r>
              </a:p>
            </p:txBody>
          </p:sp>
        </p:grpSp>
      </p:grpSp>
      <p:grpSp>
        <p:nvGrpSpPr>
          <p:cNvPr name="Group 48" id="48"/>
          <p:cNvGrpSpPr/>
          <p:nvPr/>
        </p:nvGrpSpPr>
        <p:grpSpPr>
          <a:xfrm rot="0">
            <a:off x="1237557" y="753429"/>
            <a:ext cx="12755880" cy="1236342"/>
            <a:chOff x="0" y="0"/>
            <a:chExt cx="17007840" cy="1648455"/>
          </a:xfrm>
        </p:grpSpPr>
        <p:sp>
          <p:nvSpPr>
            <p:cNvPr name="Freeform 49" id="49"/>
            <p:cNvSpPr/>
            <p:nvPr/>
          </p:nvSpPr>
          <p:spPr>
            <a:xfrm flipH="false" flipV="false" rot="0">
              <a:off x="0" y="0"/>
              <a:ext cx="17007839" cy="1648455"/>
            </a:xfrm>
            <a:custGeom>
              <a:avLst/>
              <a:gdLst/>
              <a:ahLst/>
              <a:cxnLst/>
              <a:rect r="r" b="b" t="t" l="l"/>
              <a:pathLst>
                <a:path h="1648455" w="17007839">
                  <a:moveTo>
                    <a:pt x="0" y="0"/>
                  </a:moveTo>
                  <a:lnTo>
                    <a:pt x="17007839" y="0"/>
                  </a:lnTo>
                  <a:lnTo>
                    <a:pt x="17007839" y="1648455"/>
                  </a:lnTo>
                  <a:lnTo>
                    <a:pt x="0" y="1648455"/>
                  </a:lnTo>
                  <a:close/>
                </a:path>
              </a:pathLst>
            </a:custGeom>
            <a:blipFill>
              <a:blip r:embed="rId6">
                <a:alphaModFix amt="0"/>
              </a:blip>
              <a:stretch>
                <a:fillRect l="0" t="-164980" r="0" b="-137091"/>
              </a:stretch>
            </a:blipFill>
          </p:spPr>
        </p:sp>
        <p:sp>
          <p:nvSpPr>
            <p:cNvPr name="TextBox 50" id="50"/>
            <p:cNvSpPr txBox="true"/>
            <p:nvPr/>
          </p:nvSpPr>
          <p:spPr>
            <a:xfrm>
              <a:off x="0" y="-38100"/>
              <a:ext cx="17007840" cy="1686555"/>
            </a:xfrm>
            <a:prstGeom prst="rect">
              <a:avLst/>
            </a:prstGeom>
          </p:spPr>
          <p:txBody>
            <a:bodyPr anchor="ctr" rtlCol="false" tIns="0" lIns="0" bIns="0" rIns="0"/>
            <a:lstStyle/>
            <a:p>
              <a:pPr algn="l">
                <a:lnSpc>
                  <a:spcPts val="5999"/>
                </a:lnSpc>
              </a:pPr>
              <a:r>
                <a:rPr lang="en-US" sz="4999">
                  <a:solidFill>
                    <a:srgbClr val="388080"/>
                  </a:solidFill>
                  <a:latin typeface="Poppins"/>
                  <a:ea typeface="Poppins"/>
                  <a:cs typeface="Poppins"/>
                  <a:sym typeface="Poppins"/>
                </a:rPr>
                <a:t>Privacy and Responsible AI Use</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857250" y="2252291"/>
            <a:ext cx="11833291" cy="1371600"/>
            <a:chOff x="0" y="0"/>
            <a:chExt cx="15777721" cy="1828800"/>
          </a:xfrm>
        </p:grpSpPr>
        <p:sp>
          <p:nvSpPr>
            <p:cNvPr name="Freeform 5" id="5"/>
            <p:cNvSpPr/>
            <p:nvPr/>
          </p:nvSpPr>
          <p:spPr>
            <a:xfrm flipH="false" flipV="false" rot="0">
              <a:off x="0" y="0"/>
              <a:ext cx="15777721" cy="1828800"/>
            </a:xfrm>
            <a:custGeom>
              <a:avLst/>
              <a:gdLst/>
              <a:ahLst/>
              <a:cxnLst/>
              <a:rect r="r" b="b" t="t" l="l"/>
              <a:pathLst>
                <a:path h="1828800" w="15777721">
                  <a:moveTo>
                    <a:pt x="0" y="0"/>
                  </a:moveTo>
                  <a:lnTo>
                    <a:pt x="15777721" y="0"/>
                  </a:lnTo>
                  <a:lnTo>
                    <a:pt x="15777721" y="1828800"/>
                  </a:lnTo>
                  <a:lnTo>
                    <a:pt x="0" y="1828800"/>
                  </a:lnTo>
                  <a:close/>
                </a:path>
              </a:pathLst>
            </a:custGeom>
            <a:blipFill>
              <a:blip r:embed="rId3">
                <a:alphaModFix amt="0"/>
              </a:blip>
              <a:stretch>
                <a:fillRect l="0" t="-174077" r="-33296" b="-174077"/>
              </a:stretch>
            </a:blipFill>
          </p:spPr>
        </p:sp>
        <p:sp>
          <p:nvSpPr>
            <p:cNvPr name="TextBox 6" id="6"/>
            <p:cNvSpPr txBox="true"/>
            <p:nvPr/>
          </p:nvSpPr>
          <p:spPr>
            <a:xfrm>
              <a:off x="0" y="-28575"/>
              <a:ext cx="15777721" cy="1857375"/>
            </a:xfrm>
            <a:prstGeom prst="rect">
              <a:avLst/>
            </a:prstGeom>
          </p:spPr>
          <p:txBody>
            <a:bodyPr anchor="ctr" rtlCol="false" tIns="0" lIns="0" bIns="0" rIns="0"/>
            <a:lstStyle/>
            <a:p>
              <a:pPr algn="ctr">
                <a:lnSpc>
                  <a:spcPts val="3600"/>
                </a:lnSpc>
              </a:pPr>
              <a:r>
                <a:rPr lang="en-US" sz="3000" b="true">
                  <a:solidFill>
                    <a:srgbClr val="0A1A23"/>
                  </a:solidFill>
                  <a:latin typeface="Poppins Bold"/>
                  <a:ea typeface="Poppins Bold"/>
                  <a:cs typeface="Poppins Bold"/>
                  <a:sym typeface="Poppins Bold"/>
                </a:rPr>
                <a:t>If you cannot explain the code, you cannot submit the code.</a:t>
              </a:r>
            </a:p>
          </p:txBody>
        </p:sp>
      </p:grpSp>
      <p:grpSp>
        <p:nvGrpSpPr>
          <p:cNvPr name="Group 7" id="7"/>
          <p:cNvGrpSpPr/>
          <p:nvPr/>
        </p:nvGrpSpPr>
        <p:grpSpPr>
          <a:xfrm rot="0">
            <a:off x="857250" y="3623891"/>
            <a:ext cx="16322040" cy="4334256"/>
            <a:chOff x="0" y="0"/>
            <a:chExt cx="21762720" cy="5779008"/>
          </a:xfrm>
        </p:grpSpPr>
        <p:grpSp>
          <p:nvGrpSpPr>
            <p:cNvPr name="Group 8" id="8"/>
            <p:cNvGrpSpPr/>
            <p:nvPr/>
          </p:nvGrpSpPr>
          <p:grpSpPr>
            <a:xfrm rot="0">
              <a:off x="0" y="0"/>
              <a:ext cx="10972800" cy="587858"/>
              <a:chOff x="0" y="0"/>
              <a:chExt cx="10972800" cy="587858"/>
            </a:xfrm>
          </p:grpSpPr>
          <p:sp>
            <p:nvSpPr>
              <p:cNvPr name="Freeform 9" id="9"/>
              <p:cNvSpPr/>
              <p:nvPr/>
            </p:nvSpPr>
            <p:spPr>
              <a:xfrm flipH="false" flipV="false" rot="0">
                <a:off x="0" y="0"/>
                <a:ext cx="10972800" cy="587858"/>
              </a:xfrm>
              <a:custGeom>
                <a:avLst/>
                <a:gdLst/>
                <a:ahLst/>
                <a:cxnLst/>
                <a:rect r="r" b="b" t="t" l="l"/>
                <a:pathLst>
                  <a:path h="587858" w="10972800">
                    <a:moveTo>
                      <a:pt x="0" y="0"/>
                    </a:moveTo>
                    <a:lnTo>
                      <a:pt x="10972800" y="0"/>
                    </a:lnTo>
                    <a:lnTo>
                      <a:pt x="10972800" y="587858"/>
                    </a:lnTo>
                    <a:lnTo>
                      <a:pt x="0" y="587858"/>
                    </a:lnTo>
                    <a:close/>
                  </a:path>
                </a:pathLst>
              </a:custGeom>
              <a:blipFill>
                <a:blip r:embed="rId3">
                  <a:alphaModFix amt="0"/>
                </a:blip>
                <a:stretch>
                  <a:fillRect l="0" t="-317038" r="0" b="-310367"/>
                </a:stretch>
              </a:blipFill>
            </p:spPr>
          </p:sp>
          <p:sp>
            <p:nvSpPr>
              <p:cNvPr name="TextBox 10" id="10"/>
              <p:cNvSpPr txBox="true"/>
              <p:nvPr/>
            </p:nvSpPr>
            <p:spPr>
              <a:xfrm>
                <a:off x="0" y="-19050"/>
                <a:ext cx="10972800" cy="606908"/>
              </a:xfrm>
              <a:prstGeom prst="rect">
                <a:avLst/>
              </a:prstGeom>
            </p:spPr>
            <p:txBody>
              <a:bodyPr anchor="ctr" rtlCol="false" tIns="0" lIns="0" bIns="0" rIns="0"/>
              <a:lstStyle/>
              <a:p>
                <a:pPr algn="l">
                  <a:lnSpc>
                    <a:spcPts val="2160"/>
                  </a:lnSpc>
                </a:pPr>
                <a:r>
                  <a:rPr lang="en-US" b="true" sz="1800" spc="149">
                    <a:solidFill>
                      <a:srgbClr val="388080"/>
                    </a:solidFill>
                    <a:latin typeface="Poppins Bold"/>
                    <a:ea typeface="Poppins Bold"/>
                    <a:cs typeface="Poppins Bold"/>
                    <a:sym typeface="Poppins Bold"/>
                  </a:rPr>
                  <a:t>PAIRED ACTIVITY</a:t>
                </a:r>
              </a:p>
            </p:txBody>
          </p:sp>
        </p:grpSp>
        <p:grpSp>
          <p:nvGrpSpPr>
            <p:cNvPr name="Group 11" id="11"/>
            <p:cNvGrpSpPr/>
            <p:nvPr/>
          </p:nvGrpSpPr>
          <p:grpSpPr>
            <a:xfrm rot="0">
              <a:off x="0" y="731520"/>
              <a:ext cx="914400" cy="914400"/>
              <a:chOff x="0" y="0"/>
              <a:chExt cx="914400" cy="914400"/>
            </a:xfrm>
          </p:grpSpPr>
          <p:sp>
            <p:nvSpPr>
              <p:cNvPr name="Freeform 12" id="1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87F7F"/>
              </a:solidFill>
            </p:spPr>
          </p:sp>
        </p:grpSp>
        <p:grpSp>
          <p:nvGrpSpPr>
            <p:cNvPr name="Group 13" id="13"/>
            <p:cNvGrpSpPr/>
            <p:nvPr/>
          </p:nvGrpSpPr>
          <p:grpSpPr>
            <a:xfrm rot="0">
              <a:off x="0" y="731520"/>
              <a:ext cx="914400" cy="914400"/>
              <a:chOff x="0" y="0"/>
              <a:chExt cx="914400" cy="914400"/>
            </a:xfrm>
          </p:grpSpPr>
          <p:sp>
            <p:nvSpPr>
              <p:cNvPr name="Freeform 14" id="1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15" id="15"/>
              <p:cNvSpPr txBox="true"/>
              <p:nvPr/>
            </p:nvSpPr>
            <p:spPr>
              <a:xfrm>
                <a:off x="0" y="-28575"/>
                <a:ext cx="914400" cy="942975"/>
              </a:xfrm>
              <a:prstGeom prst="rect">
                <a:avLst/>
              </a:prstGeom>
            </p:spPr>
            <p:txBody>
              <a:bodyPr anchor="ctr" rtlCol="false" tIns="0" lIns="0" bIns="0" rIns="0"/>
              <a:lstStyle/>
              <a:p>
                <a:pPr algn="ctr">
                  <a:lnSpc>
                    <a:spcPts val="2700"/>
                  </a:lnSpc>
                </a:pPr>
                <a:r>
                  <a:rPr lang="en-US" sz="2250" b="true">
                    <a:solidFill>
                      <a:srgbClr val="0A1A23"/>
                    </a:solidFill>
                    <a:latin typeface="Poppins Bold"/>
                    <a:ea typeface="Poppins Bold"/>
                    <a:cs typeface="Poppins Bold"/>
                    <a:sym typeface="Poppins Bold"/>
                  </a:rPr>
                  <a:t>1</a:t>
                </a:r>
              </a:p>
            </p:txBody>
          </p:sp>
        </p:grpSp>
        <p:grpSp>
          <p:nvGrpSpPr>
            <p:cNvPr name="Group 16" id="16"/>
            <p:cNvGrpSpPr/>
            <p:nvPr/>
          </p:nvGrpSpPr>
          <p:grpSpPr>
            <a:xfrm rot="0">
              <a:off x="1280160" y="640080"/>
              <a:ext cx="20482560" cy="1188720"/>
              <a:chOff x="0" y="0"/>
              <a:chExt cx="20482560" cy="1188720"/>
            </a:xfrm>
          </p:grpSpPr>
          <p:sp>
            <p:nvSpPr>
              <p:cNvPr name="Freeform 17" id="17"/>
              <p:cNvSpPr/>
              <p:nvPr/>
            </p:nvSpPr>
            <p:spPr>
              <a:xfrm flipH="false" flipV="false" rot="0">
                <a:off x="0" y="0"/>
                <a:ext cx="20482561" cy="1188720"/>
              </a:xfrm>
              <a:custGeom>
                <a:avLst/>
                <a:gdLst/>
                <a:ahLst/>
                <a:cxnLst/>
                <a:rect r="r" b="b" t="t" l="l"/>
                <a:pathLst>
                  <a:path h="1188720" w="20482561">
                    <a:moveTo>
                      <a:pt x="0" y="0"/>
                    </a:moveTo>
                    <a:lnTo>
                      <a:pt x="20482561" y="0"/>
                    </a:lnTo>
                    <a:lnTo>
                      <a:pt x="20482561" y="1188720"/>
                    </a:lnTo>
                    <a:lnTo>
                      <a:pt x="0" y="1188720"/>
                    </a:lnTo>
                    <a:close/>
                  </a:path>
                </a:pathLst>
              </a:custGeom>
              <a:blipFill>
                <a:blip r:embed="rId3">
                  <a:alphaModFix amt="0"/>
                </a:blip>
                <a:stretch>
                  <a:fillRect l="0" t="-285742" r="0" b="-285742"/>
                </a:stretch>
              </a:blipFill>
            </p:spPr>
          </p:sp>
          <p:sp>
            <p:nvSpPr>
              <p:cNvPr name="TextBox 18" id="18"/>
              <p:cNvSpPr txBox="true"/>
              <p:nvPr/>
            </p:nvSpPr>
            <p:spPr>
              <a:xfrm>
                <a:off x="0" y="-66675"/>
                <a:ext cx="20482560" cy="1255395"/>
              </a:xfrm>
              <a:prstGeom prst="rect">
                <a:avLst/>
              </a:prstGeom>
            </p:spPr>
            <p:txBody>
              <a:bodyPr anchor="ctr" rtlCol="false" tIns="0" lIns="0" bIns="0" rIns="0"/>
              <a:lstStyle/>
              <a:p>
                <a:pPr algn="l">
                  <a:lnSpc>
                    <a:spcPts val="3001"/>
                  </a:lnSpc>
                </a:pPr>
                <a:r>
                  <a:rPr lang="en-US" sz="2175">
                    <a:solidFill>
                      <a:srgbClr val="0A1A23"/>
                    </a:solidFill>
                    <a:latin typeface="Poppins"/>
                    <a:ea typeface="Poppins"/>
                    <a:cs typeface="Poppins"/>
                    <a:sym typeface="Poppins"/>
                  </a:rPr>
                  <a:t>Partner A explains the code, line by line, out loud</a:t>
                </a:r>
              </a:p>
            </p:txBody>
          </p:sp>
        </p:grpSp>
        <p:grpSp>
          <p:nvGrpSpPr>
            <p:cNvPr name="Group 19" id="19"/>
            <p:cNvGrpSpPr/>
            <p:nvPr/>
          </p:nvGrpSpPr>
          <p:grpSpPr>
            <a:xfrm rot="0">
              <a:off x="0" y="2048256"/>
              <a:ext cx="914400" cy="914400"/>
              <a:chOff x="0" y="0"/>
              <a:chExt cx="914400" cy="914400"/>
            </a:xfrm>
          </p:grpSpPr>
          <p:sp>
            <p:nvSpPr>
              <p:cNvPr name="Freeform 20" id="2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87F7F"/>
              </a:solidFill>
            </p:spPr>
          </p:sp>
        </p:grpSp>
        <p:grpSp>
          <p:nvGrpSpPr>
            <p:cNvPr name="Group 21" id="21"/>
            <p:cNvGrpSpPr/>
            <p:nvPr/>
          </p:nvGrpSpPr>
          <p:grpSpPr>
            <a:xfrm rot="0">
              <a:off x="0" y="2048256"/>
              <a:ext cx="914400" cy="914400"/>
              <a:chOff x="0" y="0"/>
              <a:chExt cx="914400" cy="914400"/>
            </a:xfrm>
          </p:grpSpPr>
          <p:sp>
            <p:nvSpPr>
              <p:cNvPr name="Freeform 22" id="22"/>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23" id="23"/>
              <p:cNvSpPr txBox="true"/>
              <p:nvPr/>
            </p:nvSpPr>
            <p:spPr>
              <a:xfrm>
                <a:off x="0" y="-28575"/>
                <a:ext cx="914400" cy="942975"/>
              </a:xfrm>
              <a:prstGeom prst="rect">
                <a:avLst/>
              </a:prstGeom>
            </p:spPr>
            <p:txBody>
              <a:bodyPr anchor="ctr" rtlCol="false" tIns="0" lIns="0" bIns="0" rIns="0"/>
              <a:lstStyle/>
              <a:p>
                <a:pPr algn="ctr">
                  <a:lnSpc>
                    <a:spcPts val="2700"/>
                  </a:lnSpc>
                </a:pPr>
                <a:r>
                  <a:rPr lang="en-US" sz="2250" b="true">
                    <a:solidFill>
                      <a:srgbClr val="0A1A23"/>
                    </a:solidFill>
                    <a:latin typeface="Poppins Bold"/>
                    <a:ea typeface="Poppins Bold"/>
                    <a:cs typeface="Poppins Bold"/>
                    <a:sym typeface="Poppins Bold"/>
                  </a:rPr>
                  <a:t>2</a:t>
                </a:r>
              </a:p>
            </p:txBody>
          </p:sp>
        </p:grpSp>
        <p:grpSp>
          <p:nvGrpSpPr>
            <p:cNvPr name="Group 24" id="24"/>
            <p:cNvGrpSpPr/>
            <p:nvPr/>
          </p:nvGrpSpPr>
          <p:grpSpPr>
            <a:xfrm rot="0">
              <a:off x="1280160" y="1956816"/>
              <a:ext cx="20482560" cy="1188720"/>
              <a:chOff x="0" y="0"/>
              <a:chExt cx="20482560" cy="1188720"/>
            </a:xfrm>
          </p:grpSpPr>
          <p:sp>
            <p:nvSpPr>
              <p:cNvPr name="Freeform 25" id="25"/>
              <p:cNvSpPr/>
              <p:nvPr/>
            </p:nvSpPr>
            <p:spPr>
              <a:xfrm flipH="false" flipV="false" rot="0">
                <a:off x="0" y="0"/>
                <a:ext cx="20482561" cy="1188720"/>
              </a:xfrm>
              <a:custGeom>
                <a:avLst/>
                <a:gdLst/>
                <a:ahLst/>
                <a:cxnLst/>
                <a:rect r="r" b="b" t="t" l="l"/>
                <a:pathLst>
                  <a:path h="1188720" w="20482561">
                    <a:moveTo>
                      <a:pt x="0" y="0"/>
                    </a:moveTo>
                    <a:lnTo>
                      <a:pt x="20482561" y="0"/>
                    </a:lnTo>
                    <a:lnTo>
                      <a:pt x="20482561" y="1188720"/>
                    </a:lnTo>
                    <a:lnTo>
                      <a:pt x="0" y="1188720"/>
                    </a:lnTo>
                    <a:close/>
                  </a:path>
                </a:pathLst>
              </a:custGeom>
              <a:blipFill>
                <a:blip r:embed="rId3">
                  <a:alphaModFix amt="0"/>
                </a:blip>
                <a:stretch>
                  <a:fillRect l="0" t="-285742" r="0" b="-285742"/>
                </a:stretch>
              </a:blipFill>
            </p:spPr>
          </p:sp>
          <p:sp>
            <p:nvSpPr>
              <p:cNvPr name="TextBox 26" id="26"/>
              <p:cNvSpPr txBox="true"/>
              <p:nvPr/>
            </p:nvSpPr>
            <p:spPr>
              <a:xfrm>
                <a:off x="0" y="-66675"/>
                <a:ext cx="20482560" cy="1255395"/>
              </a:xfrm>
              <a:prstGeom prst="rect">
                <a:avLst/>
              </a:prstGeom>
            </p:spPr>
            <p:txBody>
              <a:bodyPr anchor="ctr" rtlCol="false" tIns="0" lIns="0" bIns="0" rIns="0"/>
              <a:lstStyle/>
              <a:p>
                <a:pPr algn="l">
                  <a:lnSpc>
                    <a:spcPts val="3001"/>
                  </a:lnSpc>
                </a:pPr>
                <a:r>
                  <a:rPr lang="en-US" sz="2175">
                    <a:solidFill>
                      <a:srgbClr val="0A1A23"/>
                    </a:solidFill>
                    <a:latin typeface="Poppins"/>
                    <a:ea typeface="Poppins"/>
                    <a:cs typeface="Poppins"/>
                    <a:sym typeface="Poppins"/>
                  </a:rPr>
                  <a:t>Partner B asks questions, especially about any line that sounded rehearsed rather than understood</a:t>
                </a:r>
              </a:p>
            </p:txBody>
          </p:sp>
        </p:grpSp>
        <p:grpSp>
          <p:nvGrpSpPr>
            <p:cNvPr name="Group 27" id="27"/>
            <p:cNvGrpSpPr/>
            <p:nvPr/>
          </p:nvGrpSpPr>
          <p:grpSpPr>
            <a:xfrm rot="0">
              <a:off x="0" y="3364992"/>
              <a:ext cx="914400" cy="914400"/>
              <a:chOff x="0" y="0"/>
              <a:chExt cx="914400" cy="914400"/>
            </a:xfrm>
          </p:grpSpPr>
          <p:sp>
            <p:nvSpPr>
              <p:cNvPr name="Freeform 28" id="2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87F7F"/>
              </a:solidFill>
            </p:spPr>
          </p:sp>
        </p:grpSp>
        <p:grpSp>
          <p:nvGrpSpPr>
            <p:cNvPr name="Group 29" id="29"/>
            <p:cNvGrpSpPr/>
            <p:nvPr/>
          </p:nvGrpSpPr>
          <p:grpSpPr>
            <a:xfrm rot="0">
              <a:off x="0" y="3364992"/>
              <a:ext cx="914400" cy="9144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31" id="31"/>
              <p:cNvSpPr txBox="true"/>
              <p:nvPr/>
            </p:nvSpPr>
            <p:spPr>
              <a:xfrm>
                <a:off x="0" y="-28575"/>
                <a:ext cx="914400" cy="942975"/>
              </a:xfrm>
              <a:prstGeom prst="rect">
                <a:avLst/>
              </a:prstGeom>
            </p:spPr>
            <p:txBody>
              <a:bodyPr anchor="ctr" rtlCol="false" tIns="0" lIns="0" bIns="0" rIns="0"/>
              <a:lstStyle/>
              <a:p>
                <a:pPr algn="ctr">
                  <a:lnSpc>
                    <a:spcPts val="2700"/>
                  </a:lnSpc>
                </a:pPr>
                <a:r>
                  <a:rPr lang="en-US" sz="2250" b="true">
                    <a:solidFill>
                      <a:srgbClr val="0A1A23"/>
                    </a:solidFill>
                    <a:latin typeface="Poppins Bold"/>
                    <a:ea typeface="Poppins Bold"/>
                    <a:cs typeface="Poppins Bold"/>
                    <a:sym typeface="Poppins Bold"/>
                  </a:rPr>
                  <a:t>3</a:t>
                </a:r>
              </a:p>
            </p:txBody>
          </p:sp>
        </p:grpSp>
        <p:grpSp>
          <p:nvGrpSpPr>
            <p:cNvPr name="Group 32" id="32"/>
            <p:cNvGrpSpPr/>
            <p:nvPr/>
          </p:nvGrpSpPr>
          <p:grpSpPr>
            <a:xfrm rot="0">
              <a:off x="1280160" y="3273552"/>
              <a:ext cx="20482560" cy="1188720"/>
              <a:chOff x="0" y="0"/>
              <a:chExt cx="20482560" cy="1188720"/>
            </a:xfrm>
          </p:grpSpPr>
          <p:sp>
            <p:nvSpPr>
              <p:cNvPr name="Freeform 33" id="33"/>
              <p:cNvSpPr/>
              <p:nvPr/>
            </p:nvSpPr>
            <p:spPr>
              <a:xfrm flipH="false" flipV="false" rot="0">
                <a:off x="0" y="0"/>
                <a:ext cx="20482561" cy="1188720"/>
              </a:xfrm>
              <a:custGeom>
                <a:avLst/>
                <a:gdLst/>
                <a:ahLst/>
                <a:cxnLst/>
                <a:rect r="r" b="b" t="t" l="l"/>
                <a:pathLst>
                  <a:path h="1188720" w="20482561">
                    <a:moveTo>
                      <a:pt x="0" y="0"/>
                    </a:moveTo>
                    <a:lnTo>
                      <a:pt x="20482561" y="0"/>
                    </a:lnTo>
                    <a:lnTo>
                      <a:pt x="20482561" y="1188720"/>
                    </a:lnTo>
                    <a:lnTo>
                      <a:pt x="0" y="1188720"/>
                    </a:lnTo>
                    <a:close/>
                  </a:path>
                </a:pathLst>
              </a:custGeom>
              <a:blipFill>
                <a:blip r:embed="rId3">
                  <a:alphaModFix amt="0"/>
                </a:blip>
                <a:stretch>
                  <a:fillRect l="0" t="-285742" r="0" b="-285742"/>
                </a:stretch>
              </a:blipFill>
            </p:spPr>
          </p:sp>
          <p:sp>
            <p:nvSpPr>
              <p:cNvPr name="TextBox 34" id="34"/>
              <p:cNvSpPr txBox="true"/>
              <p:nvPr/>
            </p:nvSpPr>
            <p:spPr>
              <a:xfrm>
                <a:off x="0" y="-66675"/>
                <a:ext cx="20482560" cy="1255395"/>
              </a:xfrm>
              <a:prstGeom prst="rect">
                <a:avLst/>
              </a:prstGeom>
            </p:spPr>
            <p:txBody>
              <a:bodyPr anchor="ctr" rtlCol="false" tIns="0" lIns="0" bIns="0" rIns="0"/>
              <a:lstStyle/>
              <a:p>
                <a:pPr algn="l">
                  <a:lnSpc>
                    <a:spcPts val="3001"/>
                  </a:lnSpc>
                </a:pPr>
                <a:r>
                  <a:rPr lang="en-US" sz="2175">
                    <a:solidFill>
                      <a:srgbClr val="0A1A23"/>
                    </a:solidFill>
                    <a:latin typeface="Poppins"/>
                    <a:ea typeface="Poppins"/>
                    <a:cs typeface="Poppins"/>
                    <a:sym typeface="Poppins"/>
                  </a:rPr>
                  <a:t>Swap roles with a different piece of code</a:t>
                </a:r>
              </a:p>
            </p:txBody>
          </p:sp>
        </p:grpSp>
        <p:grpSp>
          <p:nvGrpSpPr>
            <p:cNvPr name="Group 35" id="35"/>
            <p:cNvGrpSpPr/>
            <p:nvPr/>
          </p:nvGrpSpPr>
          <p:grpSpPr>
            <a:xfrm rot="0">
              <a:off x="0" y="4681728"/>
              <a:ext cx="914400" cy="914400"/>
              <a:chOff x="0" y="0"/>
              <a:chExt cx="914400" cy="914400"/>
            </a:xfrm>
          </p:grpSpPr>
          <p:sp>
            <p:nvSpPr>
              <p:cNvPr name="Freeform 36" id="3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87F7F"/>
              </a:solidFill>
            </p:spPr>
          </p:sp>
        </p:grpSp>
        <p:grpSp>
          <p:nvGrpSpPr>
            <p:cNvPr name="Group 37" id="37"/>
            <p:cNvGrpSpPr/>
            <p:nvPr/>
          </p:nvGrpSpPr>
          <p:grpSpPr>
            <a:xfrm rot="0">
              <a:off x="0" y="4681728"/>
              <a:ext cx="914400" cy="914400"/>
              <a:chOff x="0" y="0"/>
              <a:chExt cx="914400" cy="914400"/>
            </a:xfrm>
          </p:grpSpPr>
          <p:sp>
            <p:nvSpPr>
              <p:cNvPr name="Freeform 38" id="3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39" id="39"/>
              <p:cNvSpPr txBox="true"/>
              <p:nvPr/>
            </p:nvSpPr>
            <p:spPr>
              <a:xfrm>
                <a:off x="0" y="-28575"/>
                <a:ext cx="914400" cy="942975"/>
              </a:xfrm>
              <a:prstGeom prst="rect">
                <a:avLst/>
              </a:prstGeom>
            </p:spPr>
            <p:txBody>
              <a:bodyPr anchor="ctr" rtlCol="false" tIns="0" lIns="0" bIns="0" rIns="0"/>
              <a:lstStyle/>
              <a:p>
                <a:pPr algn="ctr">
                  <a:lnSpc>
                    <a:spcPts val="2700"/>
                  </a:lnSpc>
                </a:pPr>
                <a:r>
                  <a:rPr lang="en-US" sz="2250" b="true">
                    <a:solidFill>
                      <a:srgbClr val="0A1A23"/>
                    </a:solidFill>
                    <a:latin typeface="Poppins Bold"/>
                    <a:ea typeface="Poppins Bold"/>
                    <a:cs typeface="Poppins Bold"/>
                    <a:sym typeface="Poppins Bold"/>
                  </a:rPr>
                  <a:t>4</a:t>
                </a:r>
              </a:p>
            </p:txBody>
          </p:sp>
        </p:grpSp>
        <p:grpSp>
          <p:nvGrpSpPr>
            <p:cNvPr name="Group 40" id="40"/>
            <p:cNvGrpSpPr/>
            <p:nvPr/>
          </p:nvGrpSpPr>
          <p:grpSpPr>
            <a:xfrm rot="0">
              <a:off x="1280160" y="4590288"/>
              <a:ext cx="20482560" cy="1188720"/>
              <a:chOff x="0" y="0"/>
              <a:chExt cx="20482560" cy="1188720"/>
            </a:xfrm>
          </p:grpSpPr>
          <p:sp>
            <p:nvSpPr>
              <p:cNvPr name="Freeform 41" id="41"/>
              <p:cNvSpPr/>
              <p:nvPr/>
            </p:nvSpPr>
            <p:spPr>
              <a:xfrm flipH="false" flipV="false" rot="0">
                <a:off x="0" y="0"/>
                <a:ext cx="20482561" cy="1188720"/>
              </a:xfrm>
              <a:custGeom>
                <a:avLst/>
                <a:gdLst/>
                <a:ahLst/>
                <a:cxnLst/>
                <a:rect r="r" b="b" t="t" l="l"/>
                <a:pathLst>
                  <a:path h="1188720" w="20482561">
                    <a:moveTo>
                      <a:pt x="0" y="0"/>
                    </a:moveTo>
                    <a:lnTo>
                      <a:pt x="20482561" y="0"/>
                    </a:lnTo>
                    <a:lnTo>
                      <a:pt x="20482561" y="1188720"/>
                    </a:lnTo>
                    <a:lnTo>
                      <a:pt x="0" y="1188720"/>
                    </a:lnTo>
                    <a:close/>
                  </a:path>
                </a:pathLst>
              </a:custGeom>
              <a:blipFill>
                <a:blip r:embed="rId3">
                  <a:alphaModFix amt="0"/>
                </a:blip>
                <a:stretch>
                  <a:fillRect l="0" t="-285742" r="0" b="-285742"/>
                </a:stretch>
              </a:blipFill>
            </p:spPr>
          </p:sp>
          <p:sp>
            <p:nvSpPr>
              <p:cNvPr name="TextBox 42" id="42"/>
              <p:cNvSpPr txBox="true"/>
              <p:nvPr/>
            </p:nvSpPr>
            <p:spPr>
              <a:xfrm>
                <a:off x="0" y="-66675"/>
                <a:ext cx="20482560" cy="1255395"/>
              </a:xfrm>
              <a:prstGeom prst="rect">
                <a:avLst/>
              </a:prstGeom>
            </p:spPr>
            <p:txBody>
              <a:bodyPr anchor="ctr" rtlCol="false" tIns="0" lIns="0" bIns="0" rIns="0"/>
              <a:lstStyle/>
              <a:p>
                <a:pPr algn="l">
                  <a:lnSpc>
                    <a:spcPts val="3001"/>
                  </a:lnSpc>
                </a:pPr>
                <a:r>
                  <a:rPr lang="en-US" sz="2175">
                    <a:solidFill>
                      <a:srgbClr val="0A1A23"/>
                    </a:solidFill>
                    <a:latin typeface="Poppins"/>
                    <a:ea typeface="Poppins"/>
                    <a:cs typeface="Poppins"/>
                    <a:sym typeface="Poppins"/>
                  </a:rPr>
                  <a:t>Any line neither partner can explain must be investigated before submission, not waved through</a:t>
                </a:r>
              </a:p>
            </p:txBody>
          </p:sp>
        </p:grpSp>
      </p:grpSp>
      <p:grpSp>
        <p:nvGrpSpPr>
          <p:cNvPr name="Group 43" id="43"/>
          <p:cNvGrpSpPr/>
          <p:nvPr/>
        </p:nvGrpSpPr>
        <p:grpSpPr>
          <a:xfrm rot="0">
            <a:off x="1204245" y="753429"/>
            <a:ext cx="13716000" cy="1236342"/>
            <a:chOff x="0" y="0"/>
            <a:chExt cx="18288000" cy="1648456"/>
          </a:xfrm>
        </p:grpSpPr>
        <p:sp>
          <p:nvSpPr>
            <p:cNvPr name="Freeform 44" id="44"/>
            <p:cNvSpPr/>
            <p:nvPr/>
          </p:nvSpPr>
          <p:spPr>
            <a:xfrm flipH="false" flipV="false" rot="0">
              <a:off x="0" y="0"/>
              <a:ext cx="18288000" cy="1648456"/>
            </a:xfrm>
            <a:custGeom>
              <a:avLst/>
              <a:gdLst/>
              <a:ahLst/>
              <a:cxnLst/>
              <a:rect r="r" b="b" t="t" l="l"/>
              <a:pathLst>
                <a:path h="1648456" w="18288000">
                  <a:moveTo>
                    <a:pt x="0" y="0"/>
                  </a:moveTo>
                  <a:lnTo>
                    <a:pt x="18288000" y="0"/>
                  </a:lnTo>
                  <a:lnTo>
                    <a:pt x="18288000" y="1648456"/>
                  </a:lnTo>
                  <a:lnTo>
                    <a:pt x="0" y="1648456"/>
                  </a:lnTo>
                  <a:close/>
                </a:path>
              </a:pathLst>
            </a:custGeom>
            <a:blipFill>
              <a:blip r:embed="rId3">
                <a:alphaModFix amt="0"/>
              </a:blip>
              <a:stretch>
                <a:fillRect l="0" t="-180111" r="0" b="-152222"/>
              </a:stretch>
            </a:blipFill>
          </p:spPr>
        </p:sp>
        <p:sp>
          <p:nvSpPr>
            <p:cNvPr name="TextBox 45" id="45"/>
            <p:cNvSpPr txBox="true"/>
            <p:nvPr/>
          </p:nvSpPr>
          <p:spPr>
            <a:xfrm>
              <a:off x="0" y="-38100"/>
              <a:ext cx="18288000" cy="1686556"/>
            </a:xfrm>
            <a:prstGeom prst="rect">
              <a:avLst/>
            </a:prstGeom>
          </p:spPr>
          <p:txBody>
            <a:bodyPr anchor="ctr" rtlCol="false" tIns="0" lIns="0" bIns="0" rIns="0"/>
            <a:lstStyle/>
            <a:p>
              <a:pPr algn="l">
                <a:lnSpc>
                  <a:spcPts val="5999"/>
                </a:lnSpc>
              </a:pPr>
              <a:r>
                <a:rPr lang="en-US" sz="4999">
                  <a:solidFill>
                    <a:srgbClr val="388080"/>
                  </a:solidFill>
                  <a:latin typeface="Poppins"/>
                  <a:ea typeface="Poppins"/>
                  <a:cs typeface="Poppins"/>
                  <a:sym typeface="Poppins"/>
                </a:rPr>
                <a:t>The “Explain It Back” Rule</a:t>
              </a:r>
            </a:p>
          </p:txBody>
        </p:sp>
      </p:grpSp>
      <p:grpSp>
        <p:nvGrpSpPr>
          <p:cNvPr name="Group 46" id="46"/>
          <p:cNvGrpSpPr/>
          <p:nvPr/>
        </p:nvGrpSpPr>
        <p:grpSpPr>
          <a:xfrm rot="0">
            <a:off x="857250" y="857250"/>
            <a:ext cx="114300" cy="1028700"/>
            <a:chOff x="0" y="0"/>
            <a:chExt cx="152400" cy="1371600"/>
          </a:xfrm>
        </p:grpSpPr>
        <p:sp>
          <p:nvSpPr>
            <p:cNvPr name="Freeform 47" id="47"/>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48" id="48"/>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9" id="49"/>
          <p:cNvGrpSpPr/>
          <p:nvPr/>
        </p:nvGrpSpPr>
        <p:grpSpPr>
          <a:xfrm rot="0">
            <a:off x="16497824" y="8924125"/>
            <a:ext cx="647224" cy="571500"/>
            <a:chOff x="0" y="0"/>
            <a:chExt cx="862965" cy="762000"/>
          </a:xfrm>
        </p:grpSpPr>
        <p:sp>
          <p:nvSpPr>
            <p:cNvPr name="Freeform 50" id="5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822960" y="2057400"/>
            <a:ext cx="16342614" cy="7977588"/>
            <a:chOff x="0" y="0"/>
            <a:chExt cx="21790152" cy="10636783"/>
          </a:xfrm>
        </p:grpSpPr>
        <p:grpSp>
          <p:nvGrpSpPr>
            <p:cNvPr name="Group 5" id="5"/>
            <p:cNvGrpSpPr/>
            <p:nvPr/>
          </p:nvGrpSpPr>
          <p:grpSpPr>
            <a:xfrm rot="0">
              <a:off x="0" y="0"/>
              <a:ext cx="10698480" cy="7132320"/>
              <a:chOff x="0" y="0"/>
              <a:chExt cx="10698480" cy="7132320"/>
            </a:xfrm>
          </p:grpSpPr>
          <p:sp>
            <p:nvSpPr>
              <p:cNvPr name="Freeform 6" id="6"/>
              <p:cNvSpPr/>
              <p:nvPr/>
            </p:nvSpPr>
            <p:spPr>
              <a:xfrm flipH="false" flipV="false" rot="0">
                <a:off x="0" y="0"/>
                <a:ext cx="10698480" cy="7132320"/>
              </a:xfrm>
              <a:custGeom>
                <a:avLst/>
                <a:gdLst/>
                <a:ahLst/>
                <a:cxnLst/>
                <a:rect r="r" b="b" t="t" l="l"/>
                <a:pathLst>
                  <a:path h="7132320" w="10698480">
                    <a:moveTo>
                      <a:pt x="0" y="146304"/>
                    </a:moveTo>
                    <a:cubicBezTo>
                      <a:pt x="0" y="65532"/>
                      <a:pt x="65532" y="0"/>
                      <a:pt x="146304" y="0"/>
                    </a:cubicBezTo>
                    <a:lnTo>
                      <a:pt x="10552176" y="0"/>
                    </a:lnTo>
                    <a:cubicBezTo>
                      <a:pt x="10632948" y="0"/>
                      <a:pt x="10698480" y="65532"/>
                      <a:pt x="10698480" y="146304"/>
                    </a:cubicBezTo>
                    <a:lnTo>
                      <a:pt x="10698480" y="6986016"/>
                    </a:lnTo>
                    <a:cubicBezTo>
                      <a:pt x="10698480" y="7066788"/>
                      <a:pt x="10632948" y="7132320"/>
                      <a:pt x="10552176" y="7132320"/>
                    </a:cubicBezTo>
                    <a:lnTo>
                      <a:pt x="146304" y="7132320"/>
                    </a:lnTo>
                    <a:cubicBezTo>
                      <a:pt x="65532" y="7132320"/>
                      <a:pt x="0" y="7066788"/>
                      <a:pt x="0" y="6986016"/>
                    </a:cubicBezTo>
                    <a:close/>
                  </a:path>
                </a:pathLst>
              </a:custGeom>
              <a:solidFill>
                <a:srgbClr val="E74C3C"/>
              </a:solidFill>
            </p:spPr>
          </p:sp>
        </p:grpSp>
        <p:grpSp>
          <p:nvGrpSpPr>
            <p:cNvPr name="Group 7" id="7"/>
            <p:cNvGrpSpPr/>
            <p:nvPr/>
          </p:nvGrpSpPr>
          <p:grpSpPr>
            <a:xfrm rot="0">
              <a:off x="640080" y="457200"/>
              <a:ext cx="9144000" cy="645312"/>
              <a:chOff x="0" y="0"/>
              <a:chExt cx="9144000" cy="645312"/>
            </a:xfrm>
          </p:grpSpPr>
          <p:sp>
            <p:nvSpPr>
              <p:cNvPr name="Freeform 8" id="8"/>
              <p:cNvSpPr/>
              <p:nvPr/>
            </p:nvSpPr>
            <p:spPr>
              <a:xfrm flipH="false" flipV="false" rot="0">
                <a:off x="0" y="0"/>
                <a:ext cx="9144000" cy="645312"/>
              </a:xfrm>
              <a:custGeom>
                <a:avLst/>
                <a:gdLst/>
                <a:ahLst/>
                <a:cxnLst/>
                <a:rect r="r" b="b" t="t" l="l"/>
                <a:pathLst>
                  <a:path h="645312" w="9144000">
                    <a:moveTo>
                      <a:pt x="0" y="0"/>
                    </a:moveTo>
                    <a:lnTo>
                      <a:pt x="9144000" y="0"/>
                    </a:lnTo>
                    <a:lnTo>
                      <a:pt x="9144000" y="645312"/>
                    </a:lnTo>
                    <a:lnTo>
                      <a:pt x="0" y="645312"/>
                    </a:lnTo>
                    <a:close/>
                  </a:path>
                </a:pathLst>
              </a:custGeom>
              <a:blipFill>
                <a:blip r:embed="rId3">
                  <a:alphaModFix amt="0"/>
                </a:blip>
                <a:stretch>
                  <a:fillRect l="0" t="-226506" r="0" b="-225695"/>
                </a:stretch>
              </a:blipFill>
            </p:spPr>
          </p:sp>
          <p:sp>
            <p:nvSpPr>
              <p:cNvPr name="TextBox 9" id="9"/>
              <p:cNvSpPr txBox="true"/>
              <p:nvPr/>
            </p:nvSpPr>
            <p:spPr>
              <a:xfrm>
                <a:off x="0" y="-19050"/>
                <a:ext cx="9144000" cy="664362"/>
              </a:xfrm>
              <a:prstGeom prst="rect">
                <a:avLst/>
              </a:prstGeom>
            </p:spPr>
            <p:txBody>
              <a:bodyPr anchor="ctr" rtlCol="false" tIns="0" lIns="0" bIns="0" rIns="0"/>
              <a:lstStyle/>
              <a:p>
                <a:pPr algn="l">
                  <a:lnSpc>
                    <a:spcPts val="2340"/>
                  </a:lnSpc>
                </a:pPr>
                <a:r>
                  <a:rPr lang="en-US" b="true" sz="1950" spc="150">
                    <a:solidFill>
                      <a:srgbClr val="FFFFFF"/>
                    </a:solidFill>
                    <a:latin typeface="Poppins Bold"/>
                    <a:ea typeface="Poppins Bold"/>
                    <a:cs typeface="Poppins Bold"/>
                    <a:sym typeface="Poppins Bold"/>
                  </a:rPr>
                  <a:t>BAD</a:t>
                </a:r>
              </a:p>
            </p:txBody>
          </p:sp>
        </p:grpSp>
        <p:grpSp>
          <p:nvGrpSpPr>
            <p:cNvPr name="Group 10" id="10"/>
            <p:cNvGrpSpPr/>
            <p:nvPr/>
          </p:nvGrpSpPr>
          <p:grpSpPr>
            <a:xfrm rot="0">
              <a:off x="640080" y="1280160"/>
              <a:ext cx="9509760" cy="914400"/>
              <a:chOff x="0" y="0"/>
              <a:chExt cx="9509760" cy="914400"/>
            </a:xfrm>
          </p:grpSpPr>
          <p:sp>
            <p:nvSpPr>
              <p:cNvPr name="Freeform 11" id="11"/>
              <p:cNvSpPr/>
              <p:nvPr/>
            </p:nvSpPr>
            <p:spPr>
              <a:xfrm flipH="false" flipV="false" rot="0">
                <a:off x="0" y="0"/>
                <a:ext cx="9509760" cy="914400"/>
              </a:xfrm>
              <a:custGeom>
                <a:avLst/>
                <a:gdLst/>
                <a:ahLst/>
                <a:cxnLst/>
                <a:rect r="r" b="b" t="t" l="l"/>
                <a:pathLst>
                  <a:path h="914400" w="9509760">
                    <a:moveTo>
                      <a:pt x="0" y="0"/>
                    </a:moveTo>
                    <a:lnTo>
                      <a:pt x="9509760" y="0"/>
                    </a:lnTo>
                    <a:lnTo>
                      <a:pt x="9509760" y="914400"/>
                    </a:lnTo>
                    <a:lnTo>
                      <a:pt x="0" y="914400"/>
                    </a:lnTo>
                    <a:close/>
                  </a:path>
                </a:pathLst>
              </a:custGeom>
              <a:blipFill>
                <a:blip r:embed="rId3">
                  <a:alphaModFix amt="0"/>
                </a:blip>
                <a:stretch>
                  <a:fillRect l="0" t="-152644" r="0" b="-152644"/>
                </a:stretch>
              </a:blipFill>
            </p:spPr>
          </p:sp>
          <p:sp>
            <p:nvSpPr>
              <p:cNvPr name="TextBox 12" id="12"/>
              <p:cNvSpPr txBox="true"/>
              <p:nvPr/>
            </p:nvSpPr>
            <p:spPr>
              <a:xfrm>
                <a:off x="0" y="-28575"/>
                <a:ext cx="9509760" cy="942975"/>
              </a:xfrm>
              <a:prstGeom prst="rect">
                <a:avLst/>
              </a:prstGeom>
            </p:spPr>
            <p:txBody>
              <a:bodyPr anchor="ctr" rtlCol="false" tIns="0" lIns="0" bIns="0" rIns="0"/>
              <a:lstStyle/>
              <a:p>
                <a:pPr algn="l">
                  <a:lnSpc>
                    <a:spcPts val="2610"/>
                  </a:lnSpc>
                </a:pPr>
                <a:r>
                  <a:rPr lang="en-US" sz="2175" b="true">
                    <a:solidFill>
                      <a:srgbClr val="FFFFFF"/>
                    </a:solidFill>
                    <a:latin typeface="Poppins Bold"/>
                    <a:ea typeface="Poppins Bold"/>
                    <a:cs typeface="Poppins Bold"/>
                    <a:sym typeface="Poppins Bold"/>
                  </a:rPr>
                  <a:t>Ask AI  →  Copy code  →  Submit</a:t>
                </a:r>
              </a:p>
            </p:txBody>
          </p:sp>
        </p:grpSp>
        <p:grpSp>
          <p:nvGrpSpPr>
            <p:cNvPr name="Group 13" id="13"/>
            <p:cNvGrpSpPr/>
            <p:nvPr/>
          </p:nvGrpSpPr>
          <p:grpSpPr>
            <a:xfrm rot="0">
              <a:off x="731520" y="2834640"/>
              <a:ext cx="128016" cy="128016"/>
              <a:chOff x="0" y="0"/>
              <a:chExt cx="128016" cy="128016"/>
            </a:xfrm>
          </p:grpSpPr>
          <p:sp>
            <p:nvSpPr>
              <p:cNvPr name="Freeform 14" id="14"/>
              <p:cNvSpPr/>
              <p:nvPr/>
            </p:nvSpPr>
            <p:spPr>
              <a:xfrm flipH="false" flipV="false" rot="0">
                <a:off x="0" y="0"/>
                <a:ext cx="128016" cy="128016"/>
              </a:xfrm>
              <a:custGeom>
                <a:avLst/>
                <a:gdLst/>
                <a:ahLst/>
                <a:cxnLst/>
                <a:rect r="r" b="b" t="t" l="l"/>
                <a:pathLst>
                  <a:path h="128016" w="128016">
                    <a:moveTo>
                      <a:pt x="0" y="64008"/>
                    </a:moveTo>
                    <a:cubicBezTo>
                      <a:pt x="0" y="28702"/>
                      <a:pt x="28702" y="0"/>
                      <a:pt x="64008" y="0"/>
                    </a:cubicBezTo>
                    <a:cubicBezTo>
                      <a:pt x="99314" y="0"/>
                      <a:pt x="128016" y="28702"/>
                      <a:pt x="128016" y="64008"/>
                    </a:cubicBezTo>
                    <a:cubicBezTo>
                      <a:pt x="128016" y="99314"/>
                      <a:pt x="99314" y="128016"/>
                      <a:pt x="64008" y="128016"/>
                    </a:cubicBezTo>
                    <a:cubicBezTo>
                      <a:pt x="28702" y="128016"/>
                      <a:pt x="0" y="99314"/>
                      <a:pt x="0" y="64008"/>
                    </a:cubicBezTo>
                    <a:close/>
                  </a:path>
                </a:pathLst>
              </a:custGeom>
              <a:solidFill>
                <a:srgbClr val="FFFFFF"/>
              </a:solidFill>
            </p:spPr>
          </p:sp>
        </p:grpSp>
        <p:grpSp>
          <p:nvGrpSpPr>
            <p:cNvPr name="Group 15" id="15"/>
            <p:cNvGrpSpPr/>
            <p:nvPr/>
          </p:nvGrpSpPr>
          <p:grpSpPr>
            <a:xfrm rot="0">
              <a:off x="731520" y="3968496"/>
              <a:ext cx="128016" cy="128016"/>
              <a:chOff x="0" y="0"/>
              <a:chExt cx="128016" cy="128016"/>
            </a:xfrm>
          </p:grpSpPr>
          <p:sp>
            <p:nvSpPr>
              <p:cNvPr name="Freeform 16" id="16"/>
              <p:cNvSpPr/>
              <p:nvPr/>
            </p:nvSpPr>
            <p:spPr>
              <a:xfrm flipH="false" flipV="false" rot="0">
                <a:off x="0" y="0"/>
                <a:ext cx="128016" cy="128016"/>
              </a:xfrm>
              <a:custGeom>
                <a:avLst/>
                <a:gdLst/>
                <a:ahLst/>
                <a:cxnLst/>
                <a:rect r="r" b="b" t="t" l="l"/>
                <a:pathLst>
                  <a:path h="128016" w="128016">
                    <a:moveTo>
                      <a:pt x="0" y="64008"/>
                    </a:moveTo>
                    <a:cubicBezTo>
                      <a:pt x="0" y="28702"/>
                      <a:pt x="28702" y="0"/>
                      <a:pt x="64008" y="0"/>
                    </a:cubicBezTo>
                    <a:cubicBezTo>
                      <a:pt x="99314" y="0"/>
                      <a:pt x="128016" y="28702"/>
                      <a:pt x="128016" y="64008"/>
                    </a:cubicBezTo>
                    <a:cubicBezTo>
                      <a:pt x="128016" y="99314"/>
                      <a:pt x="99314" y="128016"/>
                      <a:pt x="64008" y="128016"/>
                    </a:cubicBezTo>
                    <a:cubicBezTo>
                      <a:pt x="28702" y="128016"/>
                      <a:pt x="0" y="99314"/>
                      <a:pt x="0" y="64008"/>
                    </a:cubicBezTo>
                    <a:close/>
                  </a:path>
                </a:pathLst>
              </a:custGeom>
              <a:solidFill>
                <a:srgbClr val="FFFFFF"/>
              </a:solidFill>
            </p:spPr>
          </p:sp>
        </p:grpSp>
        <p:sp>
          <p:nvSpPr>
            <p:cNvPr name="TextBox 17" id="17"/>
            <p:cNvSpPr txBox="true"/>
            <p:nvPr/>
          </p:nvSpPr>
          <p:spPr>
            <a:xfrm rot="0">
              <a:off x="1005840" y="3816985"/>
              <a:ext cx="9144000" cy="877189"/>
            </a:xfrm>
            <a:prstGeom prst="rect">
              <a:avLst/>
            </a:prstGeom>
          </p:spPr>
          <p:txBody>
            <a:bodyPr anchor="t" rtlCol="false" tIns="0" lIns="0" bIns="0" rIns="0">
              <a:spAutoFit/>
            </a:bodyPr>
            <a:lstStyle/>
            <a:p>
              <a:pPr algn="l">
                <a:lnSpc>
                  <a:spcPts val="2690"/>
                </a:lnSpc>
              </a:pPr>
              <a:r>
                <a:rPr lang="en-US" sz="1950">
                  <a:solidFill>
                    <a:srgbClr val="FFFFFF"/>
                  </a:solidFill>
                  <a:latin typeface="Poppins"/>
                  <a:ea typeface="Poppins"/>
                  <a:cs typeface="Poppins"/>
                  <a:sym typeface="Poppins"/>
                </a:rPr>
                <a:t>You can't defend your own analysis in review or on the capstone panel</a:t>
              </a:r>
            </a:p>
          </p:txBody>
        </p:sp>
        <p:grpSp>
          <p:nvGrpSpPr>
            <p:cNvPr name="Group 18" id="18"/>
            <p:cNvGrpSpPr/>
            <p:nvPr/>
          </p:nvGrpSpPr>
          <p:grpSpPr>
            <a:xfrm rot="0">
              <a:off x="731520" y="5102352"/>
              <a:ext cx="128016" cy="128016"/>
              <a:chOff x="0" y="0"/>
              <a:chExt cx="128016" cy="128016"/>
            </a:xfrm>
          </p:grpSpPr>
          <p:sp>
            <p:nvSpPr>
              <p:cNvPr name="Freeform 19" id="19"/>
              <p:cNvSpPr/>
              <p:nvPr/>
            </p:nvSpPr>
            <p:spPr>
              <a:xfrm flipH="false" flipV="false" rot="0">
                <a:off x="0" y="0"/>
                <a:ext cx="128016" cy="128016"/>
              </a:xfrm>
              <a:custGeom>
                <a:avLst/>
                <a:gdLst/>
                <a:ahLst/>
                <a:cxnLst/>
                <a:rect r="r" b="b" t="t" l="l"/>
                <a:pathLst>
                  <a:path h="128016" w="128016">
                    <a:moveTo>
                      <a:pt x="0" y="64008"/>
                    </a:moveTo>
                    <a:cubicBezTo>
                      <a:pt x="0" y="28702"/>
                      <a:pt x="28702" y="0"/>
                      <a:pt x="64008" y="0"/>
                    </a:cubicBezTo>
                    <a:cubicBezTo>
                      <a:pt x="99314" y="0"/>
                      <a:pt x="128016" y="28702"/>
                      <a:pt x="128016" y="64008"/>
                    </a:cubicBezTo>
                    <a:cubicBezTo>
                      <a:pt x="128016" y="99314"/>
                      <a:pt x="99314" y="128016"/>
                      <a:pt x="64008" y="128016"/>
                    </a:cubicBezTo>
                    <a:cubicBezTo>
                      <a:pt x="28702" y="128016"/>
                      <a:pt x="0" y="99314"/>
                      <a:pt x="0" y="64008"/>
                    </a:cubicBezTo>
                    <a:close/>
                  </a:path>
                </a:pathLst>
              </a:custGeom>
              <a:solidFill>
                <a:srgbClr val="FFFFFF"/>
              </a:solidFill>
            </p:spPr>
          </p:sp>
        </p:grpSp>
        <p:sp>
          <p:nvSpPr>
            <p:cNvPr name="TextBox 20" id="20"/>
            <p:cNvSpPr txBox="true"/>
            <p:nvPr/>
          </p:nvSpPr>
          <p:spPr>
            <a:xfrm rot="0">
              <a:off x="1005840" y="4950841"/>
              <a:ext cx="9144000" cy="877189"/>
            </a:xfrm>
            <a:prstGeom prst="rect">
              <a:avLst/>
            </a:prstGeom>
          </p:spPr>
          <p:txBody>
            <a:bodyPr anchor="t" rtlCol="false" tIns="0" lIns="0" bIns="0" rIns="0">
              <a:spAutoFit/>
            </a:bodyPr>
            <a:lstStyle/>
            <a:p>
              <a:pPr algn="l">
                <a:lnSpc>
                  <a:spcPts val="2690"/>
                </a:lnSpc>
              </a:pPr>
              <a:r>
                <a:rPr lang="en-US" sz="1950">
                  <a:solidFill>
                    <a:srgbClr val="FFFFFF"/>
                  </a:solidFill>
                  <a:latin typeface="Poppins"/>
                  <a:ea typeface="Poppins"/>
                  <a:cs typeface="Poppins"/>
                  <a:sym typeface="Poppins"/>
                </a:rPr>
                <a:t>One wrong assumption from AI becomes your wrong conclusion</a:t>
              </a:r>
            </a:p>
          </p:txBody>
        </p:sp>
        <p:grpSp>
          <p:nvGrpSpPr>
            <p:cNvPr name="Group 21" id="21"/>
            <p:cNvGrpSpPr/>
            <p:nvPr/>
          </p:nvGrpSpPr>
          <p:grpSpPr>
            <a:xfrm rot="0">
              <a:off x="11091672" y="0"/>
              <a:ext cx="10698480" cy="7132320"/>
              <a:chOff x="0" y="0"/>
              <a:chExt cx="10698480" cy="7132320"/>
            </a:xfrm>
          </p:grpSpPr>
          <p:sp>
            <p:nvSpPr>
              <p:cNvPr name="Freeform 22" id="22"/>
              <p:cNvSpPr/>
              <p:nvPr/>
            </p:nvSpPr>
            <p:spPr>
              <a:xfrm flipH="false" flipV="false" rot="0">
                <a:off x="0" y="0"/>
                <a:ext cx="10698480" cy="7132320"/>
              </a:xfrm>
              <a:custGeom>
                <a:avLst/>
                <a:gdLst/>
                <a:ahLst/>
                <a:cxnLst/>
                <a:rect r="r" b="b" t="t" l="l"/>
                <a:pathLst>
                  <a:path h="7132320" w="10698480">
                    <a:moveTo>
                      <a:pt x="0" y="146304"/>
                    </a:moveTo>
                    <a:cubicBezTo>
                      <a:pt x="0" y="65532"/>
                      <a:pt x="65532" y="0"/>
                      <a:pt x="146304" y="0"/>
                    </a:cubicBezTo>
                    <a:lnTo>
                      <a:pt x="10552176" y="0"/>
                    </a:lnTo>
                    <a:cubicBezTo>
                      <a:pt x="10632948" y="0"/>
                      <a:pt x="10698480" y="65532"/>
                      <a:pt x="10698480" y="146304"/>
                    </a:cubicBezTo>
                    <a:lnTo>
                      <a:pt x="10698480" y="6986016"/>
                    </a:lnTo>
                    <a:cubicBezTo>
                      <a:pt x="10698480" y="7066788"/>
                      <a:pt x="10632948" y="7132320"/>
                      <a:pt x="10552176" y="7132320"/>
                    </a:cubicBezTo>
                    <a:lnTo>
                      <a:pt x="146304" y="7132320"/>
                    </a:lnTo>
                    <a:cubicBezTo>
                      <a:pt x="65532" y="7132320"/>
                      <a:pt x="0" y="7066788"/>
                      <a:pt x="0" y="6986016"/>
                    </a:cubicBezTo>
                    <a:close/>
                  </a:path>
                </a:pathLst>
              </a:custGeom>
              <a:solidFill>
                <a:srgbClr val="387F7F"/>
              </a:solidFill>
            </p:spPr>
          </p:sp>
        </p:grpSp>
        <p:grpSp>
          <p:nvGrpSpPr>
            <p:cNvPr name="Group 23" id="23"/>
            <p:cNvGrpSpPr/>
            <p:nvPr/>
          </p:nvGrpSpPr>
          <p:grpSpPr>
            <a:xfrm rot="0">
              <a:off x="11731752" y="457200"/>
              <a:ext cx="9144000" cy="645312"/>
              <a:chOff x="0" y="0"/>
              <a:chExt cx="9144000" cy="645312"/>
            </a:xfrm>
          </p:grpSpPr>
          <p:sp>
            <p:nvSpPr>
              <p:cNvPr name="Freeform 24" id="24"/>
              <p:cNvSpPr/>
              <p:nvPr/>
            </p:nvSpPr>
            <p:spPr>
              <a:xfrm flipH="false" flipV="false" rot="0">
                <a:off x="0" y="0"/>
                <a:ext cx="9144000" cy="645312"/>
              </a:xfrm>
              <a:custGeom>
                <a:avLst/>
                <a:gdLst/>
                <a:ahLst/>
                <a:cxnLst/>
                <a:rect r="r" b="b" t="t" l="l"/>
                <a:pathLst>
                  <a:path h="645312" w="9144000">
                    <a:moveTo>
                      <a:pt x="0" y="0"/>
                    </a:moveTo>
                    <a:lnTo>
                      <a:pt x="9144000" y="0"/>
                    </a:lnTo>
                    <a:lnTo>
                      <a:pt x="9144000" y="645312"/>
                    </a:lnTo>
                    <a:lnTo>
                      <a:pt x="0" y="645312"/>
                    </a:lnTo>
                    <a:close/>
                  </a:path>
                </a:pathLst>
              </a:custGeom>
              <a:blipFill>
                <a:blip r:embed="rId3">
                  <a:alphaModFix amt="0"/>
                </a:blip>
                <a:stretch>
                  <a:fillRect l="0" t="-226506" r="0" b="-225695"/>
                </a:stretch>
              </a:blipFill>
            </p:spPr>
          </p:sp>
          <p:sp>
            <p:nvSpPr>
              <p:cNvPr name="TextBox 25" id="25"/>
              <p:cNvSpPr txBox="true"/>
              <p:nvPr/>
            </p:nvSpPr>
            <p:spPr>
              <a:xfrm>
                <a:off x="0" y="-19050"/>
                <a:ext cx="9144000" cy="664362"/>
              </a:xfrm>
              <a:prstGeom prst="rect">
                <a:avLst/>
              </a:prstGeom>
            </p:spPr>
            <p:txBody>
              <a:bodyPr anchor="ctr" rtlCol="false" tIns="0" lIns="0" bIns="0" rIns="0"/>
              <a:lstStyle/>
              <a:p>
                <a:pPr algn="l">
                  <a:lnSpc>
                    <a:spcPts val="2340"/>
                  </a:lnSpc>
                </a:pPr>
                <a:r>
                  <a:rPr lang="en-US" b="true" sz="1950" spc="150">
                    <a:solidFill>
                      <a:srgbClr val="FFFFFF"/>
                    </a:solidFill>
                    <a:latin typeface="Poppins Bold"/>
                    <a:ea typeface="Poppins Bold"/>
                    <a:cs typeface="Poppins Bold"/>
                    <a:sym typeface="Poppins Bold"/>
                  </a:rPr>
                  <a:t>GOOD</a:t>
                </a:r>
              </a:p>
            </p:txBody>
          </p:sp>
        </p:grpSp>
        <p:grpSp>
          <p:nvGrpSpPr>
            <p:cNvPr name="Group 26" id="26"/>
            <p:cNvGrpSpPr/>
            <p:nvPr/>
          </p:nvGrpSpPr>
          <p:grpSpPr>
            <a:xfrm rot="0">
              <a:off x="11731752" y="1188720"/>
              <a:ext cx="9692640" cy="1188720"/>
              <a:chOff x="0" y="0"/>
              <a:chExt cx="9692640" cy="1188720"/>
            </a:xfrm>
          </p:grpSpPr>
          <p:sp>
            <p:nvSpPr>
              <p:cNvPr name="Freeform 27" id="27"/>
              <p:cNvSpPr/>
              <p:nvPr/>
            </p:nvSpPr>
            <p:spPr>
              <a:xfrm flipH="false" flipV="false" rot="0">
                <a:off x="0" y="0"/>
                <a:ext cx="9692640" cy="1188720"/>
              </a:xfrm>
              <a:custGeom>
                <a:avLst/>
                <a:gdLst/>
                <a:ahLst/>
                <a:cxnLst/>
                <a:rect r="r" b="b" t="t" l="l"/>
                <a:pathLst>
                  <a:path h="1188720" w="9692640">
                    <a:moveTo>
                      <a:pt x="0" y="0"/>
                    </a:moveTo>
                    <a:lnTo>
                      <a:pt x="9692640" y="0"/>
                    </a:lnTo>
                    <a:lnTo>
                      <a:pt x="9692640" y="1188720"/>
                    </a:lnTo>
                    <a:lnTo>
                      <a:pt x="0" y="1188720"/>
                    </a:lnTo>
                    <a:close/>
                  </a:path>
                </a:pathLst>
              </a:custGeom>
              <a:blipFill>
                <a:blip r:embed="rId3">
                  <a:alphaModFix amt="0"/>
                </a:blip>
                <a:stretch>
                  <a:fillRect l="0" t="-108878" r="0" b="-108878"/>
                </a:stretch>
              </a:blipFill>
            </p:spPr>
          </p:sp>
          <p:sp>
            <p:nvSpPr>
              <p:cNvPr name="TextBox 28" id="28"/>
              <p:cNvSpPr txBox="true"/>
              <p:nvPr/>
            </p:nvSpPr>
            <p:spPr>
              <a:xfrm>
                <a:off x="0" y="-66675"/>
                <a:ext cx="9692640" cy="1255395"/>
              </a:xfrm>
              <a:prstGeom prst="rect">
                <a:avLst/>
              </a:prstGeom>
            </p:spPr>
            <p:txBody>
              <a:bodyPr anchor="ctr" rtlCol="false" tIns="0" lIns="0" bIns="0" rIns="0"/>
              <a:lstStyle/>
              <a:p>
                <a:pPr algn="l">
                  <a:lnSpc>
                    <a:spcPts val="2808"/>
                  </a:lnSpc>
                </a:pPr>
                <a:r>
                  <a:rPr lang="en-US" sz="1950" b="true">
                    <a:solidFill>
                      <a:srgbClr val="FFFFFF"/>
                    </a:solidFill>
                    <a:latin typeface="Poppins Bold"/>
                    <a:ea typeface="Poppins Bold"/>
                    <a:cs typeface="Poppins Bold"/>
                    <a:sym typeface="Poppins Bold"/>
                  </a:rPr>
                  <a:t>Define → Prompt → Review → Run → Verify → Explain → Submit</a:t>
                </a:r>
              </a:p>
            </p:txBody>
          </p:sp>
        </p:grpSp>
        <p:grpSp>
          <p:nvGrpSpPr>
            <p:cNvPr name="Group 29" id="29"/>
            <p:cNvGrpSpPr/>
            <p:nvPr/>
          </p:nvGrpSpPr>
          <p:grpSpPr>
            <a:xfrm rot="0">
              <a:off x="11823192" y="3017520"/>
              <a:ext cx="128016" cy="128016"/>
              <a:chOff x="0" y="0"/>
              <a:chExt cx="128016" cy="128016"/>
            </a:xfrm>
          </p:grpSpPr>
          <p:sp>
            <p:nvSpPr>
              <p:cNvPr name="Freeform 30" id="30"/>
              <p:cNvSpPr/>
              <p:nvPr/>
            </p:nvSpPr>
            <p:spPr>
              <a:xfrm flipH="false" flipV="false" rot="0">
                <a:off x="0" y="0"/>
                <a:ext cx="128016" cy="128016"/>
              </a:xfrm>
              <a:custGeom>
                <a:avLst/>
                <a:gdLst/>
                <a:ahLst/>
                <a:cxnLst/>
                <a:rect r="r" b="b" t="t" l="l"/>
                <a:pathLst>
                  <a:path h="128016" w="128016">
                    <a:moveTo>
                      <a:pt x="0" y="64008"/>
                    </a:moveTo>
                    <a:cubicBezTo>
                      <a:pt x="0" y="28702"/>
                      <a:pt x="28702" y="0"/>
                      <a:pt x="64008" y="0"/>
                    </a:cubicBezTo>
                    <a:cubicBezTo>
                      <a:pt x="99314" y="0"/>
                      <a:pt x="128016" y="28702"/>
                      <a:pt x="128016" y="64008"/>
                    </a:cubicBezTo>
                    <a:cubicBezTo>
                      <a:pt x="128016" y="99314"/>
                      <a:pt x="99314" y="128016"/>
                      <a:pt x="64008" y="128016"/>
                    </a:cubicBezTo>
                    <a:cubicBezTo>
                      <a:pt x="28702" y="128016"/>
                      <a:pt x="0" y="99314"/>
                      <a:pt x="0" y="64008"/>
                    </a:cubicBezTo>
                    <a:close/>
                  </a:path>
                </a:pathLst>
              </a:custGeom>
              <a:solidFill>
                <a:srgbClr val="FFFFFF"/>
              </a:solidFill>
            </p:spPr>
          </p:sp>
        </p:grpSp>
        <p:sp>
          <p:nvSpPr>
            <p:cNvPr name="TextBox 31" id="31"/>
            <p:cNvSpPr txBox="true"/>
            <p:nvPr/>
          </p:nvSpPr>
          <p:spPr>
            <a:xfrm rot="0">
              <a:off x="12103608" y="2857627"/>
              <a:ext cx="9144000" cy="877189"/>
            </a:xfrm>
            <a:prstGeom prst="rect">
              <a:avLst/>
            </a:prstGeom>
          </p:spPr>
          <p:txBody>
            <a:bodyPr anchor="t" rtlCol="false" tIns="0" lIns="0" bIns="0" rIns="0">
              <a:spAutoFit/>
            </a:bodyPr>
            <a:lstStyle/>
            <a:p>
              <a:pPr algn="l">
                <a:lnSpc>
                  <a:spcPts val="2690"/>
                </a:lnSpc>
              </a:pPr>
              <a:r>
                <a:rPr lang="en-US" sz="1950">
                  <a:solidFill>
                    <a:srgbClr val="FFFFFF"/>
                  </a:solidFill>
                  <a:latin typeface="Poppins"/>
                  <a:ea typeface="Poppins"/>
                  <a:cs typeface="Poppins"/>
                  <a:sym typeface="Poppins"/>
                </a:rPr>
                <a:t>Every step is a checkpoint where a mistake gets caught early</a:t>
              </a:r>
            </a:p>
          </p:txBody>
        </p:sp>
        <p:grpSp>
          <p:nvGrpSpPr>
            <p:cNvPr name="Group 32" id="32"/>
            <p:cNvGrpSpPr/>
            <p:nvPr/>
          </p:nvGrpSpPr>
          <p:grpSpPr>
            <a:xfrm rot="0">
              <a:off x="11823192" y="4151376"/>
              <a:ext cx="128016" cy="128016"/>
              <a:chOff x="0" y="0"/>
              <a:chExt cx="128016" cy="128016"/>
            </a:xfrm>
          </p:grpSpPr>
          <p:sp>
            <p:nvSpPr>
              <p:cNvPr name="Freeform 33" id="33"/>
              <p:cNvSpPr/>
              <p:nvPr/>
            </p:nvSpPr>
            <p:spPr>
              <a:xfrm flipH="false" flipV="false" rot="0">
                <a:off x="0" y="0"/>
                <a:ext cx="128016" cy="128016"/>
              </a:xfrm>
              <a:custGeom>
                <a:avLst/>
                <a:gdLst/>
                <a:ahLst/>
                <a:cxnLst/>
                <a:rect r="r" b="b" t="t" l="l"/>
                <a:pathLst>
                  <a:path h="128016" w="128016">
                    <a:moveTo>
                      <a:pt x="0" y="64008"/>
                    </a:moveTo>
                    <a:cubicBezTo>
                      <a:pt x="0" y="28702"/>
                      <a:pt x="28702" y="0"/>
                      <a:pt x="64008" y="0"/>
                    </a:cubicBezTo>
                    <a:cubicBezTo>
                      <a:pt x="99314" y="0"/>
                      <a:pt x="128016" y="28702"/>
                      <a:pt x="128016" y="64008"/>
                    </a:cubicBezTo>
                    <a:cubicBezTo>
                      <a:pt x="128016" y="99314"/>
                      <a:pt x="99314" y="128016"/>
                      <a:pt x="64008" y="128016"/>
                    </a:cubicBezTo>
                    <a:cubicBezTo>
                      <a:pt x="28702" y="128016"/>
                      <a:pt x="0" y="99314"/>
                      <a:pt x="0" y="64008"/>
                    </a:cubicBezTo>
                    <a:close/>
                  </a:path>
                </a:pathLst>
              </a:custGeom>
              <a:solidFill>
                <a:srgbClr val="FFFFFF"/>
              </a:solidFill>
            </p:spPr>
          </p:sp>
        </p:grpSp>
        <p:sp>
          <p:nvSpPr>
            <p:cNvPr name="TextBox 34" id="34"/>
            <p:cNvSpPr txBox="true"/>
            <p:nvPr/>
          </p:nvSpPr>
          <p:spPr>
            <a:xfrm rot="0">
              <a:off x="12103608" y="3984879"/>
              <a:ext cx="9144000" cy="877189"/>
            </a:xfrm>
            <a:prstGeom prst="rect">
              <a:avLst/>
            </a:prstGeom>
          </p:spPr>
          <p:txBody>
            <a:bodyPr anchor="t" rtlCol="false" tIns="0" lIns="0" bIns="0" rIns="0">
              <a:spAutoFit/>
            </a:bodyPr>
            <a:lstStyle/>
            <a:p>
              <a:pPr algn="l">
                <a:lnSpc>
                  <a:spcPts val="2690"/>
                </a:lnSpc>
              </a:pPr>
              <a:r>
                <a:rPr lang="en-US" sz="1950">
                  <a:solidFill>
                    <a:srgbClr val="FFFFFF"/>
                  </a:solidFill>
                  <a:latin typeface="Poppins"/>
                  <a:ea typeface="Poppins"/>
                  <a:cs typeface="Poppins"/>
                  <a:sym typeface="Poppins"/>
                </a:rPr>
                <a:t>You can defend every line to a manager, a peer, or a panel judge</a:t>
              </a:r>
            </a:p>
          </p:txBody>
        </p:sp>
        <p:grpSp>
          <p:nvGrpSpPr>
            <p:cNvPr name="Group 35" id="35"/>
            <p:cNvGrpSpPr/>
            <p:nvPr/>
          </p:nvGrpSpPr>
          <p:grpSpPr>
            <a:xfrm rot="0">
              <a:off x="11823192" y="5285232"/>
              <a:ext cx="128016" cy="128016"/>
              <a:chOff x="0" y="0"/>
              <a:chExt cx="128016" cy="128016"/>
            </a:xfrm>
          </p:grpSpPr>
          <p:sp>
            <p:nvSpPr>
              <p:cNvPr name="Freeform 36" id="36"/>
              <p:cNvSpPr/>
              <p:nvPr/>
            </p:nvSpPr>
            <p:spPr>
              <a:xfrm flipH="false" flipV="false" rot="0">
                <a:off x="0" y="0"/>
                <a:ext cx="128016" cy="128016"/>
              </a:xfrm>
              <a:custGeom>
                <a:avLst/>
                <a:gdLst/>
                <a:ahLst/>
                <a:cxnLst/>
                <a:rect r="r" b="b" t="t" l="l"/>
                <a:pathLst>
                  <a:path h="128016" w="128016">
                    <a:moveTo>
                      <a:pt x="0" y="64008"/>
                    </a:moveTo>
                    <a:cubicBezTo>
                      <a:pt x="0" y="28702"/>
                      <a:pt x="28702" y="0"/>
                      <a:pt x="64008" y="0"/>
                    </a:cubicBezTo>
                    <a:cubicBezTo>
                      <a:pt x="99314" y="0"/>
                      <a:pt x="128016" y="28702"/>
                      <a:pt x="128016" y="64008"/>
                    </a:cubicBezTo>
                    <a:cubicBezTo>
                      <a:pt x="128016" y="99314"/>
                      <a:pt x="99314" y="128016"/>
                      <a:pt x="64008" y="128016"/>
                    </a:cubicBezTo>
                    <a:cubicBezTo>
                      <a:pt x="28702" y="128016"/>
                      <a:pt x="0" y="99314"/>
                      <a:pt x="0" y="64008"/>
                    </a:cubicBezTo>
                    <a:close/>
                  </a:path>
                </a:pathLst>
              </a:custGeom>
              <a:solidFill>
                <a:srgbClr val="FFFFFF"/>
              </a:solidFill>
            </p:spPr>
          </p:sp>
        </p:grpSp>
        <p:sp>
          <p:nvSpPr>
            <p:cNvPr name="TextBox 37" id="37"/>
            <p:cNvSpPr txBox="true"/>
            <p:nvPr/>
          </p:nvSpPr>
          <p:spPr>
            <a:xfrm rot="0">
              <a:off x="12103608" y="5118735"/>
              <a:ext cx="9144000" cy="432689"/>
            </a:xfrm>
            <a:prstGeom prst="rect">
              <a:avLst/>
            </a:prstGeom>
          </p:spPr>
          <p:txBody>
            <a:bodyPr anchor="t" rtlCol="false" tIns="0" lIns="0" bIns="0" rIns="0">
              <a:spAutoFit/>
            </a:bodyPr>
            <a:lstStyle/>
            <a:p>
              <a:pPr algn="l">
                <a:lnSpc>
                  <a:spcPts val="2690"/>
                </a:lnSpc>
              </a:pPr>
              <a:r>
                <a:rPr lang="en-US" sz="1950">
                  <a:solidFill>
                    <a:srgbClr val="FFFFFF"/>
                  </a:solidFill>
                  <a:latin typeface="Poppins"/>
                  <a:ea typeface="Poppins"/>
                  <a:cs typeface="Poppins"/>
                  <a:sym typeface="Poppins"/>
                </a:rPr>
                <a:t>AI made you faster, it didn't make you less responsible</a:t>
              </a:r>
            </a:p>
          </p:txBody>
        </p:sp>
        <p:grpSp>
          <p:nvGrpSpPr>
            <p:cNvPr name="Group 38" id="38"/>
            <p:cNvGrpSpPr/>
            <p:nvPr/>
          </p:nvGrpSpPr>
          <p:grpSpPr>
            <a:xfrm rot="0">
              <a:off x="548640" y="9966960"/>
              <a:ext cx="21086064" cy="669823"/>
              <a:chOff x="0" y="0"/>
              <a:chExt cx="21086064" cy="669823"/>
            </a:xfrm>
          </p:grpSpPr>
          <p:sp>
            <p:nvSpPr>
              <p:cNvPr name="Freeform 39" id="39"/>
              <p:cNvSpPr/>
              <p:nvPr/>
            </p:nvSpPr>
            <p:spPr>
              <a:xfrm flipH="false" flipV="false" rot="0">
                <a:off x="0" y="0"/>
                <a:ext cx="21086065" cy="669823"/>
              </a:xfrm>
              <a:custGeom>
                <a:avLst/>
                <a:gdLst/>
                <a:ahLst/>
                <a:cxnLst/>
                <a:rect r="r" b="b" t="t" l="l"/>
                <a:pathLst>
                  <a:path h="669823" w="21086065">
                    <a:moveTo>
                      <a:pt x="0" y="0"/>
                    </a:moveTo>
                    <a:lnTo>
                      <a:pt x="21086065" y="0"/>
                    </a:lnTo>
                    <a:lnTo>
                      <a:pt x="21086065" y="669823"/>
                    </a:lnTo>
                    <a:lnTo>
                      <a:pt x="0" y="669823"/>
                    </a:lnTo>
                    <a:close/>
                  </a:path>
                </a:pathLst>
              </a:custGeom>
              <a:blipFill>
                <a:blip r:embed="rId3">
                  <a:alphaModFix amt="0"/>
                </a:blip>
                <a:stretch>
                  <a:fillRect l="0" t="-572435" r="0" b="-554343"/>
                </a:stretch>
              </a:blipFill>
            </p:spPr>
          </p:sp>
          <p:sp>
            <p:nvSpPr>
              <p:cNvPr name="TextBox 40" id="40"/>
              <p:cNvSpPr txBox="true"/>
              <p:nvPr/>
            </p:nvSpPr>
            <p:spPr>
              <a:xfrm>
                <a:off x="0" y="-57150"/>
                <a:ext cx="21086064" cy="726973"/>
              </a:xfrm>
              <a:prstGeom prst="rect">
                <a:avLst/>
              </a:prstGeom>
            </p:spPr>
            <p:txBody>
              <a:bodyPr anchor="ctr" rtlCol="false" tIns="0" lIns="0" bIns="0" rIns="0"/>
              <a:lstStyle/>
              <a:p>
                <a:pPr algn="l">
                  <a:lnSpc>
                    <a:spcPts val="2867"/>
                  </a:lnSpc>
                </a:pPr>
                <a:r>
                  <a:rPr lang="en-US" sz="2025" i="true">
                    <a:solidFill>
                      <a:srgbClr val="0A1A23"/>
                    </a:solidFill>
                    <a:latin typeface="Poppins Italics"/>
                    <a:ea typeface="Poppins Italics"/>
                    <a:cs typeface="Poppins Italics"/>
                    <a:sym typeface="Poppins Italics"/>
                  </a:rPr>
                  <a:t>Same tool, same AI assistant, two completely different outcomes. The difference is entirely in the steps you refuse to skip.</a:t>
                </a:r>
              </a:p>
            </p:txBody>
          </p:sp>
        </p:grpSp>
        <p:sp>
          <p:nvSpPr>
            <p:cNvPr name="TextBox 41" id="41"/>
            <p:cNvSpPr txBox="true"/>
            <p:nvPr/>
          </p:nvSpPr>
          <p:spPr>
            <a:xfrm rot="0">
              <a:off x="1005840" y="2683129"/>
              <a:ext cx="9144000" cy="877189"/>
            </a:xfrm>
            <a:prstGeom prst="rect">
              <a:avLst/>
            </a:prstGeom>
          </p:spPr>
          <p:txBody>
            <a:bodyPr anchor="t" rtlCol="false" tIns="0" lIns="0" bIns="0" rIns="0">
              <a:spAutoFit/>
            </a:bodyPr>
            <a:lstStyle/>
            <a:p>
              <a:pPr algn="l">
                <a:lnSpc>
                  <a:spcPts val="2690"/>
                </a:lnSpc>
              </a:pPr>
              <a:r>
                <a:rPr lang="en-US" sz="1950">
                  <a:solidFill>
                    <a:srgbClr val="FFFFFF"/>
                  </a:solidFill>
                  <a:latin typeface="Poppins"/>
                  <a:ea typeface="Poppins"/>
                  <a:cs typeface="Poppins"/>
                  <a:sym typeface="Poppins"/>
                </a:rPr>
                <a:t>Errors ship silently, hidden inside a working-looking output</a:t>
              </a:r>
            </a:p>
          </p:txBody>
        </p:sp>
      </p:grpSp>
      <p:grpSp>
        <p:nvGrpSpPr>
          <p:cNvPr name="Group 42" id="42"/>
          <p:cNvGrpSpPr/>
          <p:nvPr/>
        </p:nvGrpSpPr>
        <p:grpSpPr>
          <a:xfrm rot="0">
            <a:off x="1199173" y="753429"/>
            <a:ext cx="12755880" cy="1236342"/>
            <a:chOff x="0" y="0"/>
            <a:chExt cx="17007840" cy="1648455"/>
          </a:xfrm>
        </p:grpSpPr>
        <p:sp>
          <p:nvSpPr>
            <p:cNvPr name="Freeform 43" id="43"/>
            <p:cNvSpPr/>
            <p:nvPr/>
          </p:nvSpPr>
          <p:spPr>
            <a:xfrm flipH="false" flipV="false" rot="0">
              <a:off x="0" y="0"/>
              <a:ext cx="17007839" cy="1648455"/>
            </a:xfrm>
            <a:custGeom>
              <a:avLst/>
              <a:gdLst/>
              <a:ahLst/>
              <a:cxnLst/>
              <a:rect r="r" b="b" t="t" l="l"/>
              <a:pathLst>
                <a:path h="1648455" w="17007839">
                  <a:moveTo>
                    <a:pt x="0" y="0"/>
                  </a:moveTo>
                  <a:lnTo>
                    <a:pt x="17007839" y="0"/>
                  </a:lnTo>
                  <a:lnTo>
                    <a:pt x="17007839" y="1648455"/>
                  </a:lnTo>
                  <a:lnTo>
                    <a:pt x="0" y="1648455"/>
                  </a:lnTo>
                  <a:close/>
                </a:path>
              </a:pathLst>
            </a:custGeom>
            <a:blipFill>
              <a:blip r:embed="rId3">
                <a:alphaModFix amt="0"/>
              </a:blip>
              <a:stretch>
                <a:fillRect l="0" t="-164980" r="0" b="-137091"/>
              </a:stretch>
            </a:blipFill>
          </p:spPr>
        </p:sp>
        <p:sp>
          <p:nvSpPr>
            <p:cNvPr name="TextBox 44" id="44"/>
            <p:cNvSpPr txBox="true"/>
            <p:nvPr/>
          </p:nvSpPr>
          <p:spPr>
            <a:xfrm>
              <a:off x="0" y="-38100"/>
              <a:ext cx="17007840" cy="1686555"/>
            </a:xfrm>
            <a:prstGeom prst="rect">
              <a:avLst/>
            </a:prstGeom>
          </p:spPr>
          <p:txBody>
            <a:bodyPr anchor="ctr" rtlCol="false" tIns="0" lIns="0" bIns="0" rIns="0"/>
            <a:lstStyle/>
            <a:p>
              <a:pPr algn="l">
                <a:lnSpc>
                  <a:spcPts val="5999"/>
                </a:lnSpc>
              </a:pPr>
              <a:r>
                <a:rPr lang="en-US" sz="4999">
                  <a:solidFill>
                    <a:srgbClr val="388080"/>
                  </a:solidFill>
                  <a:latin typeface="Poppins"/>
                  <a:ea typeface="Poppins"/>
                  <a:cs typeface="Poppins"/>
                  <a:sym typeface="Poppins"/>
                </a:rPr>
                <a:t>Good vs Bad AI-Assisted Analysis</a:t>
              </a:r>
            </a:p>
          </p:txBody>
        </p:sp>
      </p:grpSp>
      <p:sp>
        <p:nvSpPr>
          <p:cNvPr name="Freeform 45" id="45"/>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6" id="46"/>
          <p:cNvGrpSpPr/>
          <p:nvPr/>
        </p:nvGrpSpPr>
        <p:grpSpPr>
          <a:xfrm rot="0">
            <a:off x="16497824" y="8924125"/>
            <a:ext cx="647224" cy="571500"/>
            <a:chOff x="0" y="0"/>
            <a:chExt cx="862965" cy="762000"/>
          </a:xfrm>
        </p:grpSpPr>
        <p:sp>
          <p:nvSpPr>
            <p:cNvPr name="Freeform 47" id="47"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6"/>
              <a:stretch>
                <a:fillRect l="-772" t="0" r="-772" b="0"/>
              </a:stretch>
            </a:blipFill>
          </p:spPr>
        </p:sp>
      </p:grpSp>
      <p:grpSp>
        <p:nvGrpSpPr>
          <p:cNvPr name="Group 48" id="48"/>
          <p:cNvGrpSpPr/>
          <p:nvPr/>
        </p:nvGrpSpPr>
        <p:grpSpPr>
          <a:xfrm rot="0">
            <a:off x="857250" y="857250"/>
            <a:ext cx="114300" cy="1028700"/>
            <a:chOff x="0" y="0"/>
            <a:chExt cx="152400" cy="1371600"/>
          </a:xfrm>
        </p:grpSpPr>
        <p:sp>
          <p:nvSpPr>
            <p:cNvPr name="Freeform 49" id="49"/>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6497824" y="8924125"/>
            <a:ext cx="647224" cy="571500"/>
            <a:chOff x="0" y="0"/>
            <a:chExt cx="862965" cy="762000"/>
          </a:xfrm>
        </p:grpSpPr>
        <p:sp>
          <p:nvSpPr>
            <p:cNvPr name="Freeform 6" id="6"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5"/>
              <a:stretch>
                <a:fillRect l="-772" t="0" r="-772" b="0"/>
              </a:stretch>
            </a:blipFill>
          </p:spPr>
        </p:sp>
      </p:grpSp>
      <p:grpSp>
        <p:nvGrpSpPr>
          <p:cNvPr name="Group 7" id="7"/>
          <p:cNvGrpSpPr/>
          <p:nvPr/>
        </p:nvGrpSpPr>
        <p:grpSpPr>
          <a:xfrm rot="0">
            <a:off x="857250" y="857250"/>
            <a:ext cx="114300" cy="1028700"/>
            <a:chOff x="0" y="0"/>
            <a:chExt cx="152400" cy="1371600"/>
          </a:xfrm>
        </p:grpSpPr>
        <p:sp>
          <p:nvSpPr>
            <p:cNvPr name="Freeform 8" id="8"/>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TextBox 9" id="9"/>
          <p:cNvSpPr txBox="true"/>
          <p:nvPr/>
        </p:nvSpPr>
        <p:spPr>
          <a:xfrm rot="0">
            <a:off x="1281215" y="942975"/>
            <a:ext cx="4862736" cy="809625"/>
          </a:xfrm>
          <a:prstGeom prst="rect">
            <a:avLst/>
          </a:prstGeom>
        </p:spPr>
        <p:txBody>
          <a:bodyPr anchor="t" rtlCol="false" tIns="0" lIns="0" bIns="0" rIns="0">
            <a:spAutoFit/>
          </a:bodyPr>
          <a:lstStyle/>
          <a:p>
            <a:pPr algn="ctr">
              <a:lnSpc>
                <a:spcPts val="6000"/>
              </a:lnSpc>
              <a:spcBef>
                <a:spcPct val="0"/>
              </a:spcBef>
            </a:pPr>
            <a:r>
              <a:rPr lang="en-US" sz="5000">
                <a:solidFill>
                  <a:srgbClr val="388080"/>
                </a:solidFill>
                <a:latin typeface="Poppins"/>
                <a:ea typeface="Poppins"/>
                <a:cs typeface="Poppins"/>
                <a:sym typeface="Poppins"/>
              </a:rPr>
              <a:t>Key Takeaways</a:t>
            </a:r>
          </a:p>
        </p:txBody>
      </p:sp>
      <p:grpSp>
        <p:nvGrpSpPr>
          <p:cNvPr name="Group 10" id="10"/>
          <p:cNvGrpSpPr/>
          <p:nvPr/>
        </p:nvGrpSpPr>
        <p:grpSpPr>
          <a:xfrm rot="0">
            <a:off x="657225" y="2347823"/>
            <a:ext cx="371475" cy="385762"/>
            <a:chOff x="0" y="0"/>
            <a:chExt cx="495300" cy="514350"/>
          </a:xfrm>
        </p:grpSpPr>
        <p:sp>
          <p:nvSpPr>
            <p:cNvPr name="Freeform 11" id="11" descr="image.png"/>
            <p:cNvSpPr/>
            <p:nvPr/>
          </p:nvSpPr>
          <p:spPr>
            <a:xfrm flipH="false" flipV="false" rot="0">
              <a:off x="0" y="0"/>
              <a:ext cx="495300" cy="514350"/>
            </a:xfrm>
            <a:custGeom>
              <a:avLst/>
              <a:gdLst/>
              <a:ahLst/>
              <a:cxnLst/>
              <a:rect r="r" b="b" t="t" l="l"/>
              <a:pathLst>
                <a:path h="514350" w="495300">
                  <a:moveTo>
                    <a:pt x="0" y="0"/>
                  </a:moveTo>
                  <a:lnTo>
                    <a:pt x="495300" y="0"/>
                  </a:lnTo>
                  <a:lnTo>
                    <a:pt x="495300" y="514350"/>
                  </a:lnTo>
                  <a:lnTo>
                    <a:pt x="0" y="514350"/>
                  </a:lnTo>
                  <a:lnTo>
                    <a:pt x="0" y="0"/>
                  </a:lnTo>
                  <a:close/>
                </a:path>
              </a:pathLst>
            </a:custGeom>
            <a:blipFill>
              <a:blip r:embed="rId6"/>
              <a:stretch>
                <a:fillRect l="0" t="0" r="0" b="0"/>
              </a:stretch>
            </a:blipFill>
          </p:spPr>
        </p:sp>
      </p:grpSp>
      <p:grpSp>
        <p:nvGrpSpPr>
          <p:cNvPr name="Group 12" id="12"/>
          <p:cNvGrpSpPr/>
          <p:nvPr/>
        </p:nvGrpSpPr>
        <p:grpSpPr>
          <a:xfrm rot="0">
            <a:off x="657225" y="4705260"/>
            <a:ext cx="371475" cy="385762"/>
            <a:chOff x="0" y="0"/>
            <a:chExt cx="495300" cy="514350"/>
          </a:xfrm>
        </p:grpSpPr>
        <p:sp>
          <p:nvSpPr>
            <p:cNvPr name="Freeform 13" id="13" descr="image.png"/>
            <p:cNvSpPr/>
            <p:nvPr/>
          </p:nvSpPr>
          <p:spPr>
            <a:xfrm flipH="false" flipV="false" rot="0">
              <a:off x="0" y="0"/>
              <a:ext cx="495300" cy="514350"/>
            </a:xfrm>
            <a:custGeom>
              <a:avLst/>
              <a:gdLst/>
              <a:ahLst/>
              <a:cxnLst/>
              <a:rect r="r" b="b" t="t" l="l"/>
              <a:pathLst>
                <a:path h="514350" w="495300">
                  <a:moveTo>
                    <a:pt x="0" y="0"/>
                  </a:moveTo>
                  <a:lnTo>
                    <a:pt x="495300" y="0"/>
                  </a:lnTo>
                  <a:lnTo>
                    <a:pt x="495300" y="514350"/>
                  </a:lnTo>
                  <a:lnTo>
                    <a:pt x="0" y="514350"/>
                  </a:lnTo>
                  <a:lnTo>
                    <a:pt x="0" y="0"/>
                  </a:lnTo>
                  <a:close/>
                </a:path>
              </a:pathLst>
            </a:custGeom>
            <a:blipFill>
              <a:blip r:embed="rId6"/>
              <a:stretch>
                <a:fillRect l="0" t="0" r="0" b="0"/>
              </a:stretch>
            </a:blipFill>
          </p:spPr>
        </p:sp>
      </p:grpSp>
      <p:grpSp>
        <p:nvGrpSpPr>
          <p:cNvPr name="Group 14" id="14"/>
          <p:cNvGrpSpPr/>
          <p:nvPr/>
        </p:nvGrpSpPr>
        <p:grpSpPr>
          <a:xfrm rot="0">
            <a:off x="671512" y="3133635"/>
            <a:ext cx="371475" cy="385762"/>
            <a:chOff x="0" y="0"/>
            <a:chExt cx="495300" cy="514350"/>
          </a:xfrm>
        </p:grpSpPr>
        <p:sp>
          <p:nvSpPr>
            <p:cNvPr name="Freeform 15" id="15" descr="image.png"/>
            <p:cNvSpPr/>
            <p:nvPr/>
          </p:nvSpPr>
          <p:spPr>
            <a:xfrm flipH="false" flipV="false" rot="0">
              <a:off x="0" y="0"/>
              <a:ext cx="495300" cy="514350"/>
            </a:xfrm>
            <a:custGeom>
              <a:avLst/>
              <a:gdLst/>
              <a:ahLst/>
              <a:cxnLst/>
              <a:rect r="r" b="b" t="t" l="l"/>
              <a:pathLst>
                <a:path h="514350" w="495300">
                  <a:moveTo>
                    <a:pt x="0" y="0"/>
                  </a:moveTo>
                  <a:lnTo>
                    <a:pt x="495300" y="0"/>
                  </a:lnTo>
                  <a:lnTo>
                    <a:pt x="495300" y="514350"/>
                  </a:lnTo>
                  <a:lnTo>
                    <a:pt x="0" y="514350"/>
                  </a:lnTo>
                  <a:lnTo>
                    <a:pt x="0" y="0"/>
                  </a:lnTo>
                  <a:close/>
                </a:path>
              </a:pathLst>
            </a:custGeom>
            <a:blipFill>
              <a:blip r:embed="rId6"/>
              <a:stretch>
                <a:fillRect l="0" t="0" r="0" b="0"/>
              </a:stretch>
            </a:blipFill>
          </p:spPr>
        </p:sp>
      </p:grpSp>
      <p:grpSp>
        <p:nvGrpSpPr>
          <p:cNvPr name="Group 16" id="16"/>
          <p:cNvGrpSpPr/>
          <p:nvPr/>
        </p:nvGrpSpPr>
        <p:grpSpPr>
          <a:xfrm rot="0">
            <a:off x="657225" y="3919448"/>
            <a:ext cx="371475" cy="385762"/>
            <a:chOff x="0" y="0"/>
            <a:chExt cx="495300" cy="514350"/>
          </a:xfrm>
        </p:grpSpPr>
        <p:sp>
          <p:nvSpPr>
            <p:cNvPr name="Freeform 17" id="17" descr="image.png"/>
            <p:cNvSpPr/>
            <p:nvPr/>
          </p:nvSpPr>
          <p:spPr>
            <a:xfrm flipH="false" flipV="false" rot="0">
              <a:off x="0" y="0"/>
              <a:ext cx="495300" cy="514350"/>
            </a:xfrm>
            <a:custGeom>
              <a:avLst/>
              <a:gdLst/>
              <a:ahLst/>
              <a:cxnLst/>
              <a:rect r="r" b="b" t="t" l="l"/>
              <a:pathLst>
                <a:path h="514350" w="495300">
                  <a:moveTo>
                    <a:pt x="0" y="0"/>
                  </a:moveTo>
                  <a:lnTo>
                    <a:pt x="495300" y="0"/>
                  </a:lnTo>
                  <a:lnTo>
                    <a:pt x="495300" y="514350"/>
                  </a:lnTo>
                  <a:lnTo>
                    <a:pt x="0" y="514350"/>
                  </a:lnTo>
                  <a:lnTo>
                    <a:pt x="0" y="0"/>
                  </a:lnTo>
                  <a:close/>
                </a:path>
              </a:pathLst>
            </a:custGeom>
            <a:blipFill>
              <a:blip r:embed="rId6"/>
              <a:stretch>
                <a:fillRect l="0" t="0" r="0" b="0"/>
              </a:stretch>
            </a:blipFill>
          </p:spPr>
        </p:sp>
      </p:grpSp>
      <p:grpSp>
        <p:nvGrpSpPr>
          <p:cNvPr name="Group 18" id="18"/>
          <p:cNvGrpSpPr/>
          <p:nvPr/>
        </p:nvGrpSpPr>
        <p:grpSpPr>
          <a:xfrm rot="0">
            <a:off x="1281215" y="2369306"/>
            <a:ext cx="6840931" cy="2774194"/>
            <a:chOff x="0" y="0"/>
            <a:chExt cx="9121241" cy="3698925"/>
          </a:xfrm>
        </p:grpSpPr>
        <p:sp>
          <p:nvSpPr>
            <p:cNvPr name="TextBox 19" id="19"/>
            <p:cNvSpPr txBox="true"/>
            <p:nvPr/>
          </p:nvSpPr>
          <p:spPr>
            <a:xfrm rot="0">
              <a:off x="6213" y="-19050"/>
              <a:ext cx="6621264" cy="501650"/>
            </a:xfrm>
            <a:prstGeom prst="rect">
              <a:avLst/>
            </a:prstGeom>
          </p:spPr>
          <p:txBody>
            <a:bodyPr anchor="t" rtlCol="false" tIns="0" lIns="0" bIns="0" rIns="0">
              <a:spAutoFit/>
            </a:bodyPr>
            <a:lstStyle/>
            <a:p>
              <a:pPr algn="ctr">
                <a:lnSpc>
                  <a:spcPts val="2879"/>
                </a:lnSpc>
                <a:spcBef>
                  <a:spcPct val="0"/>
                </a:spcBef>
              </a:pPr>
              <a:r>
                <a:rPr lang="en-US" sz="2399">
                  <a:solidFill>
                    <a:srgbClr val="000000"/>
                  </a:solidFill>
                  <a:latin typeface="Poppins"/>
                  <a:ea typeface="Poppins"/>
                  <a:cs typeface="Poppins"/>
                  <a:sym typeface="Poppins"/>
                </a:rPr>
                <a:t>Write clear and specific prompts</a:t>
              </a:r>
            </a:p>
          </p:txBody>
        </p:sp>
        <p:sp>
          <p:nvSpPr>
            <p:cNvPr name="TextBox 20" id="20"/>
            <p:cNvSpPr txBox="true"/>
            <p:nvPr/>
          </p:nvSpPr>
          <p:spPr>
            <a:xfrm rot="0">
              <a:off x="0" y="1000055"/>
              <a:ext cx="8793559" cy="501650"/>
            </a:xfrm>
            <a:prstGeom prst="rect">
              <a:avLst/>
            </a:prstGeom>
          </p:spPr>
          <p:txBody>
            <a:bodyPr anchor="t" rtlCol="false" tIns="0" lIns="0" bIns="0" rIns="0">
              <a:spAutoFit/>
            </a:bodyPr>
            <a:lstStyle/>
            <a:p>
              <a:pPr algn="ctr">
                <a:lnSpc>
                  <a:spcPts val="2879"/>
                </a:lnSpc>
                <a:spcBef>
                  <a:spcPct val="0"/>
                </a:spcBef>
              </a:pPr>
              <a:r>
                <a:rPr lang="en-US" sz="2399">
                  <a:solidFill>
                    <a:srgbClr val="000000"/>
                  </a:solidFill>
                  <a:latin typeface="Poppins"/>
                  <a:ea typeface="Poppins"/>
                  <a:cs typeface="Poppins"/>
                  <a:sym typeface="Poppins"/>
                </a:rPr>
                <a:t>Review and understand AI-generated code</a:t>
              </a:r>
            </a:p>
          </p:txBody>
        </p:sp>
        <p:sp>
          <p:nvSpPr>
            <p:cNvPr name="TextBox 21" id="21"/>
            <p:cNvSpPr txBox="true"/>
            <p:nvPr/>
          </p:nvSpPr>
          <p:spPr>
            <a:xfrm rot="0">
              <a:off x="0" y="2079555"/>
              <a:ext cx="8246666" cy="501650"/>
            </a:xfrm>
            <a:prstGeom prst="rect">
              <a:avLst/>
            </a:prstGeom>
          </p:spPr>
          <p:txBody>
            <a:bodyPr anchor="t" rtlCol="false" tIns="0" lIns="0" bIns="0" rIns="0">
              <a:spAutoFit/>
            </a:bodyPr>
            <a:lstStyle/>
            <a:p>
              <a:pPr algn="ctr">
                <a:lnSpc>
                  <a:spcPts val="2879"/>
                </a:lnSpc>
                <a:spcBef>
                  <a:spcPct val="0"/>
                </a:spcBef>
              </a:pPr>
              <a:r>
                <a:rPr lang="en-US" sz="2399">
                  <a:solidFill>
                    <a:srgbClr val="000000"/>
                  </a:solidFill>
                  <a:latin typeface="Poppins"/>
                  <a:ea typeface="Poppins"/>
                  <a:cs typeface="Poppins"/>
                  <a:sym typeface="Poppins"/>
                </a:rPr>
                <a:t>Test and verify results before submission</a:t>
              </a:r>
            </a:p>
          </p:txBody>
        </p:sp>
        <p:sp>
          <p:nvSpPr>
            <p:cNvPr name="TextBox 22" id="22"/>
            <p:cNvSpPr txBox="true"/>
            <p:nvPr/>
          </p:nvSpPr>
          <p:spPr>
            <a:xfrm rot="0">
              <a:off x="6213" y="3197275"/>
              <a:ext cx="9115028" cy="501650"/>
            </a:xfrm>
            <a:prstGeom prst="rect">
              <a:avLst/>
            </a:prstGeom>
          </p:spPr>
          <p:txBody>
            <a:bodyPr anchor="t" rtlCol="false" tIns="0" lIns="0" bIns="0" rIns="0">
              <a:spAutoFit/>
            </a:bodyPr>
            <a:lstStyle/>
            <a:p>
              <a:pPr algn="ctr">
                <a:lnSpc>
                  <a:spcPts val="2879"/>
                </a:lnSpc>
                <a:spcBef>
                  <a:spcPct val="0"/>
                </a:spcBef>
              </a:pPr>
              <a:r>
                <a:rPr lang="en-US" sz="2399">
                  <a:solidFill>
                    <a:srgbClr val="000000"/>
                  </a:solidFill>
                  <a:latin typeface="Poppins"/>
                  <a:ea typeface="Poppins"/>
                  <a:cs typeface="Poppins"/>
                  <a:sym typeface="Poppins"/>
                </a:rPr>
                <a:t>Use AI responsibly and protect sensitive data</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3716"/>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6497824" y="8924125"/>
            <a:ext cx="647224" cy="571500"/>
            <a:chOff x="0" y="0"/>
            <a:chExt cx="862965" cy="762000"/>
          </a:xfrm>
        </p:grpSpPr>
        <p:sp>
          <p:nvSpPr>
            <p:cNvPr name="Freeform 6" id="6"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5"/>
              <a:stretch>
                <a:fillRect l="-772" t="0" r="-772" b="0"/>
              </a:stretch>
            </a:blipFill>
          </p:spPr>
        </p:sp>
      </p:grpSp>
      <p:grpSp>
        <p:nvGrpSpPr>
          <p:cNvPr name="Group 7" id="7"/>
          <p:cNvGrpSpPr/>
          <p:nvPr/>
        </p:nvGrpSpPr>
        <p:grpSpPr>
          <a:xfrm rot="0">
            <a:off x="1138428" y="753429"/>
            <a:ext cx="14401800" cy="1236342"/>
            <a:chOff x="0" y="0"/>
            <a:chExt cx="19202400" cy="1648455"/>
          </a:xfrm>
        </p:grpSpPr>
        <p:sp>
          <p:nvSpPr>
            <p:cNvPr name="Freeform 8" id="8"/>
            <p:cNvSpPr/>
            <p:nvPr/>
          </p:nvSpPr>
          <p:spPr>
            <a:xfrm flipH="false" flipV="false" rot="0">
              <a:off x="0" y="0"/>
              <a:ext cx="19202400" cy="1648455"/>
            </a:xfrm>
            <a:custGeom>
              <a:avLst/>
              <a:gdLst/>
              <a:ahLst/>
              <a:cxnLst/>
              <a:rect r="r" b="b" t="t" l="l"/>
              <a:pathLst>
                <a:path h="1648455" w="19202400">
                  <a:moveTo>
                    <a:pt x="0" y="0"/>
                  </a:moveTo>
                  <a:lnTo>
                    <a:pt x="19202400" y="0"/>
                  </a:lnTo>
                  <a:lnTo>
                    <a:pt x="19202400" y="1648455"/>
                  </a:lnTo>
                  <a:lnTo>
                    <a:pt x="0" y="1648455"/>
                  </a:lnTo>
                  <a:close/>
                </a:path>
              </a:pathLst>
            </a:custGeom>
            <a:blipFill>
              <a:blip r:embed="rId6">
                <a:alphaModFix amt="0"/>
              </a:blip>
              <a:stretch>
                <a:fillRect l="0" t="-190920" r="0" b="-163031"/>
              </a:stretch>
            </a:blipFill>
          </p:spPr>
        </p:sp>
        <p:sp>
          <p:nvSpPr>
            <p:cNvPr name="TextBox 9" id="9"/>
            <p:cNvSpPr txBox="true"/>
            <p:nvPr/>
          </p:nvSpPr>
          <p:spPr>
            <a:xfrm>
              <a:off x="0" y="-38100"/>
              <a:ext cx="19202400" cy="1686555"/>
            </a:xfrm>
            <a:prstGeom prst="rect">
              <a:avLst/>
            </a:prstGeom>
          </p:spPr>
          <p:txBody>
            <a:bodyPr anchor="ctr" rtlCol="false" tIns="0" lIns="0" bIns="0" rIns="0"/>
            <a:lstStyle/>
            <a:p>
              <a:pPr algn="l">
                <a:lnSpc>
                  <a:spcPts val="5999"/>
                </a:lnSpc>
              </a:pPr>
              <a:r>
                <a:rPr lang="en-US" sz="4999">
                  <a:solidFill>
                    <a:srgbClr val="388080"/>
                  </a:solidFill>
                  <a:latin typeface="Poppins"/>
                  <a:ea typeface="Poppins"/>
                  <a:cs typeface="Poppins"/>
                  <a:sym typeface="Poppins"/>
                </a:rPr>
                <a:t>Practical Challenge: AI-Assisted Analysis</a:t>
              </a:r>
            </a:p>
          </p:txBody>
        </p:sp>
      </p:grpSp>
      <p:grpSp>
        <p:nvGrpSpPr>
          <p:cNvPr name="Group 10" id="10"/>
          <p:cNvGrpSpPr/>
          <p:nvPr/>
        </p:nvGrpSpPr>
        <p:grpSpPr>
          <a:xfrm rot="0">
            <a:off x="822960" y="1851660"/>
            <a:ext cx="16390620" cy="7406640"/>
            <a:chOff x="0" y="0"/>
            <a:chExt cx="21854160" cy="9875520"/>
          </a:xfrm>
        </p:grpSpPr>
        <p:grpSp>
          <p:nvGrpSpPr>
            <p:cNvPr name="Group 11" id="11"/>
            <p:cNvGrpSpPr/>
            <p:nvPr/>
          </p:nvGrpSpPr>
          <p:grpSpPr>
            <a:xfrm rot="0">
              <a:off x="548640" y="0"/>
              <a:ext cx="21031200" cy="1554480"/>
              <a:chOff x="0" y="0"/>
              <a:chExt cx="21031200" cy="1554480"/>
            </a:xfrm>
          </p:grpSpPr>
          <p:sp>
            <p:nvSpPr>
              <p:cNvPr name="Freeform 12" id="12"/>
              <p:cNvSpPr/>
              <p:nvPr/>
            </p:nvSpPr>
            <p:spPr>
              <a:xfrm flipH="false" flipV="false" rot="0">
                <a:off x="0" y="0"/>
                <a:ext cx="21031200" cy="1554480"/>
              </a:xfrm>
              <a:custGeom>
                <a:avLst/>
                <a:gdLst/>
                <a:ahLst/>
                <a:cxnLst/>
                <a:rect r="r" b="b" t="t" l="l"/>
                <a:pathLst>
                  <a:path h="1554480" w="21031200">
                    <a:moveTo>
                      <a:pt x="0" y="0"/>
                    </a:moveTo>
                    <a:lnTo>
                      <a:pt x="21031200" y="0"/>
                    </a:lnTo>
                    <a:lnTo>
                      <a:pt x="21031200" y="1554480"/>
                    </a:lnTo>
                    <a:lnTo>
                      <a:pt x="0" y="1554480"/>
                    </a:lnTo>
                    <a:close/>
                  </a:path>
                </a:pathLst>
              </a:custGeom>
              <a:blipFill>
                <a:blip r:embed="rId6">
                  <a:alphaModFix amt="0"/>
                </a:blip>
                <a:stretch>
                  <a:fillRect l="0" t="-213621" r="0" b="-213621"/>
                </a:stretch>
              </a:blipFill>
            </p:spPr>
          </p:sp>
          <p:sp>
            <p:nvSpPr>
              <p:cNvPr name="TextBox 13" id="13"/>
              <p:cNvSpPr txBox="true"/>
              <p:nvPr/>
            </p:nvSpPr>
            <p:spPr>
              <a:xfrm>
                <a:off x="0" y="-66675"/>
                <a:ext cx="21031200" cy="1621155"/>
              </a:xfrm>
              <a:prstGeom prst="rect">
                <a:avLst/>
              </a:prstGeom>
            </p:spPr>
            <p:txBody>
              <a:bodyPr anchor="ctr" rtlCol="false" tIns="0" lIns="0" bIns="0" rIns="0"/>
              <a:lstStyle/>
              <a:p>
                <a:pPr algn="l">
                  <a:lnSpc>
                    <a:spcPts val="2808"/>
                  </a:lnSpc>
                </a:pPr>
                <a:r>
                  <a:rPr lang="en-US" sz="1950">
                    <a:solidFill>
                      <a:srgbClr val="1E293B"/>
                    </a:solidFill>
                    <a:latin typeface="Poppins"/>
                    <a:ea typeface="Poppins"/>
                    <a:cs typeface="Poppins"/>
                    <a:sym typeface="Poppins"/>
                  </a:rPr>
                  <a:t>Business question:  on branch_sales.csv, which branch has the highest average Sales among transactions above ₦80,000, and which single transaction is the most profitable company-wide?</a:t>
                </a:r>
              </a:p>
            </p:txBody>
          </p:sp>
        </p:grpSp>
        <p:grpSp>
          <p:nvGrpSpPr>
            <p:cNvPr name="Group 14" id="14"/>
            <p:cNvGrpSpPr/>
            <p:nvPr/>
          </p:nvGrpSpPr>
          <p:grpSpPr>
            <a:xfrm rot="0">
              <a:off x="0" y="1920240"/>
              <a:ext cx="841248" cy="841248"/>
              <a:chOff x="0" y="0"/>
              <a:chExt cx="841248" cy="841248"/>
            </a:xfrm>
          </p:grpSpPr>
          <p:sp>
            <p:nvSpPr>
              <p:cNvPr name="Freeform 15" id="15"/>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87F7F"/>
              </a:solidFill>
            </p:spPr>
          </p:sp>
        </p:grpSp>
        <p:grpSp>
          <p:nvGrpSpPr>
            <p:cNvPr name="Group 16" id="16"/>
            <p:cNvGrpSpPr/>
            <p:nvPr/>
          </p:nvGrpSpPr>
          <p:grpSpPr>
            <a:xfrm rot="0">
              <a:off x="0" y="1920240"/>
              <a:ext cx="841248" cy="841248"/>
              <a:chOff x="0" y="0"/>
              <a:chExt cx="841248" cy="841248"/>
            </a:xfrm>
          </p:grpSpPr>
          <p:sp>
            <p:nvSpPr>
              <p:cNvPr name="Freeform 17" id="17"/>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6">
                  <a:alphaModFix amt="0"/>
                </a:blip>
                <a:stretch>
                  <a:fillRect l="-78303" t="0" r="-78303" b="0"/>
                </a:stretch>
              </a:blipFill>
            </p:spPr>
          </p:sp>
          <p:sp>
            <p:nvSpPr>
              <p:cNvPr name="TextBox 18" id="18"/>
              <p:cNvSpPr txBox="true"/>
              <p:nvPr/>
            </p:nvSpPr>
            <p:spPr>
              <a:xfrm>
                <a:off x="0" y="-19050"/>
                <a:ext cx="841248" cy="860298"/>
              </a:xfrm>
              <a:prstGeom prst="rect">
                <a:avLst/>
              </a:prstGeom>
            </p:spPr>
            <p:txBody>
              <a:bodyPr anchor="ctr" rtlCol="false" tIns="0" lIns="0" bIns="0" rIns="0"/>
              <a:lstStyle/>
              <a:p>
                <a:pPr algn="ctr">
                  <a:lnSpc>
                    <a:spcPts val="2520"/>
                  </a:lnSpc>
                </a:pPr>
                <a:r>
                  <a:rPr lang="en-US" sz="2100" b="true">
                    <a:solidFill>
                      <a:srgbClr val="0A1A23"/>
                    </a:solidFill>
                    <a:latin typeface="Poppins Bold"/>
                    <a:ea typeface="Poppins Bold"/>
                    <a:cs typeface="Poppins Bold"/>
                    <a:sym typeface="Poppins Bold"/>
                  </a:rPr>
                  <a:t>1</a:t>
                </a:r>
              </a:p>
            </p:txBody>
          </p:sp>
        </p:grpSp>
        <p:grpSp>
          <p:nvGrpSpPr>
            <p:cNvPr name="Group 19" id="19"/>
            <p:cNvGrpSpPr/>
            <p:nvPr/>
          </p:nvGrpSpPr>
          <p:grpSpPr>
            <a:xfrm rot="0">
              <a:off x="1188720" y="1865376"/>
              <a:ext cx="20665440" cy="950976"/>
              <a:chOff x="0" y="0"/>
              <a:chExt cx="20665440" cy="950976"/>
            </a:xfrm>
          </p:grpSpPr>
          <p:sp>
            <p:nvSpPr>
              <p:cNvPr name="Freeform 20" id="20"/>
              <p:cNvSpPr/>
              <p:nvPr/>
            </p:nvSpPr>
            <p:spPr>
              <a:xfrm flipH="false" flipV="false" rot="0">
                <a:off x="0" y="0"/>
                <a:ext cx="20665439" cy="950976"/>
              </a:xfrm>
              <a:custGeom>
                <a:avLst/>
                <a:gdLst/>
                <a:ahLst/>
                <a:cxnLst/>
                <a:rect r="r" b="b" t="t" l="l"/>
                <a:pathLst>
                  <a:path h="950976" w="20665439">
                    <a:moveTo>
                      <a:pt x="0" y="0"/>
                    </a:moveTo>
                    <a:lnTo>
                      <a:pt x="20665439" y="0"/>
                    </a:lnTo>
                    <a:lnTo>
                      <a:pt x="20665439" y="950976"/>
                    </a:lnTo>
                    <a:lnTo>
                      <a:pt x="0" y="950976"/>
                    </a:lnTo>
                    <a:close/>
                  </a:path>
                </a:pathLst>
              </a:custGeom>
              <a:blipFill>
                <a:blip r:embed="rId6">
                  <a:alphaModFix amt="0"/>
                </a:blip>
                <a:stretch>
                  <a:fillRect l="0" t="-373424" r="0" b="-373424"/>
                </a:stretch>
              </a:blipFill>
            </p:spPr>
          </p:sp>
          <p:sp>
            <p:nvSpPr>
              <p:cNvPr name="TextBox 21" id="21"/>
              <p:cNvSpPr txBox="true"/>
              <p:nvPr/>
            </p:nvSpPr>
            <p:spPr>
              <a:xfrm>
                <a:off x="0" y="-19050"/>
                <a:ext cx="20665440" cy="970026"/>
              </a:xfrm>
              <a:prstGeom prst="rect">
                <a:avLst/>
              </a:prstGeom>
            </p:spPr>
            <p:txBody>
              <a:bodyPr anchor="ctr" rtlCol="false" tIns="0" lIns="0" bIns="0" rIns="0"/>
              <a:lstStyle/>
              <a:p>
                <a:pPr algn="l">
                  <a:lnSpc>
                    <a:spcPts val="2520"/>
                  </a:lnSpc>
                </a:pPr>
                <a:r>
                  <a:rPr lang="en-US" sz="2100">
                    <a:solidFill>
                      <a:srgbClr val="000000"/>
                    </a:solidFill>
                    <a:latin typeface="Poppins"/>
                    <a:ea typeface="Poppins"/>
                    <a:cs typeface="Poppins"/>
                    <a:sym typeface="Poppins"/>
                  </a:rPr>
                  <a:t>Write the analytical question in your own words</a:t>
                </a:r>
              </a:p>
            </p:txBody>
          </p:sp>
        </p:grpSp>
        <p:grpSp>
          <p:nvGrpSpPr>
            <p:cNvPr name="Group 22" id="22"/>
            <p:cNvGrpSpPr/>
            <p:nvPr/>
          </p:nvGrpSpPr>
          <p:grpSpPr>
            <a:xfrm rot="0">
              <a:off x="0" y="2980944"/>
              <a:ext cx="841248" cy="841248"/>
              <a:chOff x="0" y="0"/>
              <a:chExt cx="841248" cy="841248"/>
            </a:xfrm>
          </p:grpSpPr>
          <p:sp>
            <p:nvSpPr>
              <p:cNvPr name="Freeform 23" id="23"/>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87F7F"/>
              </a:solidFill>
            </p:spPr>
          </p:sp>
        </p:grpSp>
        <p:grpSp>
          <p:nvGrpSpPr>
            <p:cNvPr name="Group 24" id="24"/>
            <p:cNvGrpSpPr/>
            <p:nvPr/>
          </p:nvGrpSpPr>
          <p:grpSpPr>
            <a:xfrm rot="0">
              <a:off x="0" y="2980944"/>
              <a:ext cx="841248" cy="841248"/>
              <a:chOff x="0" y="0"/>
              <a:chExt cx="841248" cy="841248"/>
            </a:xfrm>
          </p:grpSpPr>
          <p:sp>
            <p:nvSpPr>
              <p:cNvPr name="Freeform 25" id="25"/>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6">
                  <a:alphaModFix amt="0"/>
                </a:blip>
                <a:stretch>
                  <a:fillRect l="-78303" t="0" r="-78303" b="0"/>
                </a:stretch>
              </a:blipFill>
            </p:spPr>
          </p:sp>
          <p:sp>
            <p:nvSpPr>
              <p:cNvPr name="TextBox 26" id="26"/>
              <p:cNvSpPr txBox="true"/>
              <p:nvPr/>
            </p:nvSpPr>
            <p:spPr>
              <a:xfrm>
                <a:off x="0" y="-19050"/>
                <a:ext cx="841248" cy="860298"/>
              </a:xfrm>
              <a:prstGeom prst="rect">
                <a:avLst/>
              </a:prstGeom>
            </p:spPr>
            <p:txBody>
              <a:bodyPr anchor="ctr" rtlCol="false" tIns="0" lIns="0" bIns="0" rIns="0"/>
              <a:lstStyle/>
              <a:p>
                <a:pPr algn="ctr">
                  <a:lnSpc>
                    <a:spcPts val="2520"/>
                  </a:lnSpc>
                </a:pPr>
                <a:r>
                  <a:rPr lang="en-US" sz="2100" b="true">
                    <a:solidFill>
                      <a:srgbClr val="0A1A23"/>
                    </a:solidFill>
                    <a:latin typeface="Poppins Bold"/>
                    <a:ea typeface="Poppins Bold"/>
                    <a:cs typeface="Poppins Bold"/>
                    <a:sym typeface="Poppins Bold"/>
                  </a:rPr>
                  <a:t>2</a:t>
                </a:r>
              </a:p>
            </p:txBody>
          </p:sp>
        </p:grpSp>
        <p:grpSp>
          <p:nvGrpSpPr>
            <p:cNvPr name="Group 27" id="27"/>
            <p:cNvGrpSpPr/>
            <p:nvPr/>
          </p:nvGrpSpPr>
          <p:grpSpPr>
            <a:xfrm rot="0">
              <a:off x="1188720" y="2926080"/>
              <a:ext cx="20665440" cy="950976"/>
              <a:chOff x="0" y="0"/>
              <a:chExt cx="20665440" cy="950976"/>
            </a:xfrm>
          </p:grpSpPr>
          <p:sp>
            <p:nvSpPr>
              <p:cNvPr name="Freeform 28" id="28"/>
              <p:cNvSpPr/>
              <p:nvPr/>
            </p:nvSpPr>
            <p:spPr>
              <a:xfrm flipH="false" flipV="false" rot="0">
                <a:off x="0" y="0"/>
                <a:ext cx="20665439" cy="950976"/>
              </a:xfrm>
              <a:custGeom>
                <a:avLst/>
                <a:gdLst/>
                <a:ahLst/>
                <a:cxnLst/>
                <a:rect r="r" b="b" t="t" l="l"/>
                <a:pathLst>
                  <a:path h="950976" w="20665439">
                    <a:moveTo>
                      <a:pt x="0" y="0"/>
                    </a:moveTo>
                    <a:lnTo>
                      <a:pt x="20665439" y="0"/>
                    </a:lnTo>
                    <a:lnTo>
                      <a:pt x="20665439" y="950976"/>
                    </a:lnTo>
                    <a:lnTo>
                      <a:pt x="0" y="950976"/>
                    </a:lnTo>
                    <a:close/>
                  </a:path>
                </a:pathLst>
              </a:custGeom>
              <a:blipFill>
                <a:blip r:embed="rId6">
                  <a:alphaModFix amt="0"/>
                </a:blip>
                <a:stretch>
                  <a:fillRect l="0" t="-373424" r="0" b="-373424"/>
                </a:stretch>
              </a:blipFill>
            </p:spPr>
          </p:sp>
          <p:sp>
            <p:nvSpPr>
              <p:cNvPr name="TextBox 29" id="29"/>
              <p:cNvSpPr txBox="true"/>
              <p:nvPr/>
            </p:nvSpPr>
            <p:spPr>
              <a:xfrm>
                <a:off x="0" y="-19050"/>
                <a:ext cx="20665440" cy="970026"/>
              </a:xfrm>
              <a:prstGeom prst="rect">
                <a:avLst/>
              </a:prstGeom>
            </p:spPr>
            <p:txBody>
              <a:bodyPr anchor="ctr" rtlCol="false" tIns="0" lIns="0" bIns="0" rIns="0"/>
              <a:lstStyle/>
              <a:p>
                <a:pPr algn="l">
                  <a:lnSpc>
                    <a:spcPts val="2520"/>
                  </a:lnSpc>
                </a:pPr>
                <a:r>
                  <a:rPr lang="en-US" sz="2100">
                    <a:solidFill>
                      <a:srgbClr val="000000"/>
                    </a:solidFill>
                    <a:latin typeface="Poppins"/>
                    <a:ea typeface="Poppins"/>
                    <a:cs typeface="Poppins"/>
                    <a:sym typeface="Poppins"/>
                  </a:rPr>
                  <a:t>Ask an AI assistant for help generating the code</a:t>
                </a:r>
              </a:p>
            </p:txBody>
          </p:sp>
        </p:grpSp>
        <p:grpSp>
          <p:nvGrpSpPr>
            <p:cNvPr name="Group 30" id="30"/>
            <p:cNvGrpSpPr/>
            <p:nvPr/>
          </p:nvGrpSpPr>
          <p:grpSpPr>
            <a:xfrm rot="0">
              <a:off x="0" y="4041648"/>
              <a:ext cx="841248" cy="841248"/>
              <a:chOff x="0" y="0"/>
              <a:chExt cx="841248" cy="841248"/>
            </a:xfrm>
          </p:grpSpPr>
          <p:sp>
            <p:nvSpPr>
              <p:cNvPr name="Freeform 31" id="31"/>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87F7F"/>
              </a:solidFill>
            </p:spPr>
          </p:sp>
        </p:grpSp>
        <p:grpSp>
          <p:nvGrpSpPr>
            <p:cNvPr name="Group 32" id="32"/>
            <p:cNvGrpSpPr/>
            <p:nvPr/>
          </p:nvGrpSpPr>
          <p:grpSpPr>
            <a:xfrm rot="0">
              <a:off x="0" y="4041648"/>
              <a:ext cx="841248" cy="841248"/>
              <a:chOff x="0" y="0"/>
              <a:chExt cx="841248" cy="841248"/>
            </a:xfrm>
          </p:grpSpPr>
          <p:sp>
            <p:nvSpPr>
              <p:cNvPr name="Freeform 33" id="33"/>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6">
                  <a:alphaModFix amt="0"/>
                </a:blip>
                <a:stretch>
                  <a:fillRect l="-78303" t="0" r="-78303" b="0"/>
                </a:stretch>
              </a:blipFill>
            </p:spPr>
          </p:sp>
          <p:sp>
            <p:nvSpPr>
              <p:cNvPr name="TextBox 34" id="34"/>
              <p:cNvSpPr txBox="true"/>
              <p:nvPr/>
            </p:nvSpPr>
            <p:spPr>
              <a:xfrm>
                <a:off x="0" y="-19050"/>
                <a:ext cx="841248" cy="860298"/>
              </a:xfrm>
              <a:prstGeom prst="rect">
                <a:avLst/>
              </a:prstGeom>
            </p:spPr>
            <p:txBody>
              <a:bodyPr anchor="ctr" rtlCol="false" tIns="0" lIns="0" bIns="0" rIns="0"/>
              <a:lstStyle/>
              <a:p>
                <a:pPr algn="ctr">
                  <a:lnSpc>
                    <a:spcPts val="2520"/>
                  </a:lnSpc>
                </a:pPr>
                <a:r>
                  <a:rPr lang="en-US" sz="2100" b="true">
                    <a:solidFill>
                      <a:srgbClr val="0A1A23"/>
                    </a:solidFill>
                    <a:latin typeface="Poppins Bold"/>
                    <a:ea typeface="Poppins Bold"/>
                    <a:cs typeface="Poppins Bold"/>
                    <a:sym typeface="Poppins Bold"/>
                  </a:rPr>
                  <a:t>3</a:t>
                </a:r>
              </a:p>
            </p:txBody>
          </p:sp>
        </p:grpSp>
        <p:grpSp>
          <p:nvGrpSpPr>
            <p:cNvPr name="Group 35" id="35"/>
            <p:cNvGrpSpPr/>
            <p:nvPr/>
          </p:nvGrpSpPr>
          <p:grpSpPr>
            <a:xfrm rot="0">
              <a:off x="1188720" y="3986784"/>
              <a:ext cx="20665440" cy="950976"/>
              <a:chOff x="0" y="0"/>
              <a:chExt cx="20665440" cy="950976"/>
            </a:xfrm>
          </p:grpSpPr>
          <p:sp>
            <p:nvSpPr>
              <p:cNvPr name="Freeform 36" id="36"/>
              <p:cNvSpPr/>
              <p:nvPr/>
            </p:nvSpPr>
            <p:spPr>
              <a:xfrm flipH="false" flipV="false" rot="0">
                <a:off x="0" y="0"/>
                <a:ext cx="20665439" cy="950976"/>
              </a:xfrm>
              <a:custGeom>
                <a:avLst/>
                <a:gdLst/>
                <a:ahLst/>
                <a:cxnLst/>
                <a:rect r="r" b="b" t="t" l="l"/>
                <a:pathLst>
                  <a:path h="950976" w="20665439">
                    <a:moveTo>
                      <a:pt x="0" y="0"/>
                    </a:moveTo>
                    <a:lnTo>
                      <a:pt x="20665439" y="0"/>
                    </a:lnTo>
                    <a:lnTo>
                      <a:pt x="20665439" y="950976"/>
                    </a:lnTo>
                    <a:lnTo>
                      <a:pt x="0" y="950976"/>
                    </a:lnTo>
                    <a:close/>
                  </a:path>
                </a:pathLst>
              </a:custGeom>
              <a:blipFill>
                <a:blip r:embed="rId6">
                  <a:alphaModFix amt="0"/>
                </a:blip>
                <a:stretch>
                  <a:fillRect l="0" t="-373424" r="0" b="-373424"/>
                </a:stretch>
              </a:blipFill>
            </p:spPr>
          </p:sp>
          <p:sp>
            <p:nvSpPr>
              <p:cNvPr name="TextBox 37" id="37"/>
              <p:cNvSpPr txBox="true"/>
              <p:nvPr/>
            </p:nvSpPr>
            <p:spPr>
              <a:xfrm>
                <a:off x="0" y="-19050"/>
                <a:ext cx="20665440" cy="970026"/>
              </a:xfrm>
              <a:prstGeom prst="rect">
                <a:avLst/>
              </a:prstGeom>
            </p:spPr>
            <p:txBody>
              <a:bodyPr anchor="ctr" rtlCol="false" tIns="0" lIns="0" bIns="0" rIns="0"/>
              <a:lstStyle/>
              <a:p>
                <a:pPr algn="l">
                  <a:lnSpc>
                    <a:spcPts val="2520"/>
                  </a:lnSpc>
                </a:pPr>
                <a:r>
                  <a:rPr lang="en-US" sz="2100">
                    <a:solidFill>
                      <a:srgbClr val="000000"/>
                    </a:solidFill>
                    <a:latin typeface="Poppins"/>
                    <a:ea typeface="Poppins"/>
                    <a:cs typeface="Poppins"/>
                    <a:sym typeface="Poppins"/>
                  </a:rPr>
                  <a:t>Review the generated code before running anything</a:t>
                </a:r>
              </a:p>
            </p:txBody>
          </p:sp>
        </p:grpSp>
        <p:grpSp>
          <p:nvGrpSpPr>
            <p:cNvPr name="Group 38" id="38"/>
            <p:cNvGrpSpPr/>
            <p:nvPr/>
          </p:nvGrpSpPr>
          <p:grpSpPr>
            <a:xfrm rot="0">
              <a:off x="0" y="5102352"/>
              <a:ext cx="841248" cy="841248"/>
              <a:chOff x="0" y="0"/>
              <a:chExt cx="841248" cy="841248"/>
            </a:xfrm>
          </p:grpSpPr>
          <p:sp>
            <p:nvSpPr>
              <p:cNvPr name="Freeform 39" id="39"/>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87F7F"/>
              </a:solidFill>
            </p:spPr>
          </p:sp>
        </p:grpSp>
        <p:grpSp>
          <p:nvGrpSpPr>
            <p:cNvPr name="Group 40" id="40"/>
            <p:cNvGrpSpPr/>
            <p:nvPr/>
          </p:nvGrpSpPr>
          <p:grpSpPr>
            <a:xfrm rot="0">
              <a:off x="0" y="5102352"/>
              <a:ext cx="841248" cy="841248"/>
              <a:chOff x="0" y="0"/>
              <a:chExt cx="841248" cy="841248"/>
            </a:xfrm>
          </p:grpSpPr>
          <p:sp>
            <p:nvSpPr>
              <p:cNvPr name="Freeform 41" id="41"/>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6">
                  <a:alphaModFix amt="0"/>
                </a:blip>
                <a:stretch>
                  <a:fillRect l="-78303" t="0" r="-78303" b="0"/>
                </a:stretch>
              </a:blipFill>
            </p:spPr>
          </p:sp>
          <p:sp>
            <p:nvSpPr>
              <p:cNvPr name="TextBox 42" id="42"/>
              <p:cNvSpPr txBox="true"/>
              <p:nvPr/>
            </p:nvSpPr>
            <p:spPr>
              <a:xfrm>
                <a:off x="0" y="-19050"/>
                <a:ext cx="841248" cy="860298"/>
              </a:xfrm>
              <a:prstGeom prst="rect">
                <a:avLst/>
              </a:prstGeom>
            </p:spPr>
            <p:txBody>
              <a:bodyPr anchor="ctr" rtlCol="false" tIns="0" lIns="0" bIns="0" rIns="0"/>
              <a:lstStyle/>
              <a:p>
                <a:pPr algn="ctr">
                  <a:lnSpc>
                    <a:spcPts val="2520"/>
                  </a:lnSpc>
                </a:pPr>
                <a:r>
                  <a:rPr lang="en-US" sz="2100" b="true">
                    <a:solidFill>
                      <a:srgbClr val="0A1A23"/>
                    </a:solidFill>
                    <a:latin typeface="Poppins Bold"/>
                    <a:ea typeface="Poppins Bold"/>
                    <a:cs typeface="Poppins Bold"/>
                    <a:sym typeface="Poppins Bold"/>
                  </a:rPr>
                  <a:t>4</a:t>
                </a:r>
              </a:p>
            </p:txBody>
          </p:sp>
        </p:grpSp>
        <p:grpSp>
          <p:nvGrpSpPr>
            <p:cNvPr name="Group 43" id="43"/>
            <p:cNvGrpSpPr/>
            <p:nvPr/>
          </p:nvGrpSpPr>
          <p:grpSpPr>
            <a:xfrm rot="0">
              <a:off x="1188720" y="5047488"/>
              <a:ext cx="20665440" cy="950976"/>
              <a:chOff x="0" y="0"/>
              <a:chExt cx="20665440" cy="950976"/>
            </a:xfrm>
          </p:grpSpPr>
          <p:sp>
            <p:nvSpPr>
              <p:cNvPr name="Freeform 44" id="44"/>
              <p:cNvSpPr/>
              <p:nvPr/>
            </p:nvSpPr>
            <p:spPr>
              <a:xfrm flipH="false" flipV="false" rot="0">
                <a:off x="0" y="0"/>
                <a:ext cx="20665439" cy="950976"/>
              </a:xfrm>
              <a:custGeom>
                <a:avLst/>
                <a:gdLst/>
                <a:ahLst/>
                <a:cxnLst/>
                <a:rect r="r" b="b" t="t" l="l"/>
                <a:pathLst>
                  <a:path h="950976" w="20665439">
                    <a:moveTo>
                      <a:pt x="0" y="0"/>
                    </a:moveTo>
                    <a:lnTo>
                      <a:pt x="20665439" y="0"/>
                    </a:lnTo>
                    <a:lnTo>
                      <a:pt x="20665439" y="950976"/>
                    </a:lnTo>
                    <a:lnTo>
                      <a:pt x="0" y="950976"/>
                    </a:lnTo>
                    <a:close/>
                  </a:path>
                </a:pathLst>
              </a:custGeom>
              <a:blipFill>
                <a:blip r:embed="rId6">
                  <a:alphaModFix amt="0"/>
                </a:blip>
                <a:stretch>
                  <a:fillRect l="0" t="-373424" r="0" b="-373424"/>
                </a:stretch>
              </a:blipFill>
            </p:spPr>
          </p:sp>
          <p:sp>
            <p:nvSpPr>
              <p:cNvPr name="TextBox 45" id="45"/>
              <p:cNvSpPr txBox="true"/>
              <p:nvPr/>
            </p:nvSpPr>
            <p:spPr>
              <a:xfrm>
                <a:off x="0" y="-19050"/>
                <a:ext cx="20665440" cy="970026"/>
              </a:xfrm>
              <a:prstGeom prst="rect">
                <a:avLst/>
              </a:prstGeom>
            </p:spPr>
            <p:txBody>
              <a:bodyPr anchor="ctr" rtlCol="false" tIns="0" lIns="0" bIns="0" rIns="0"/>
              <a:lstStyle/>
              <a:p>
                <a:pPr algn="l">
                  <a:lnSpc>
                    <a:spcPts val="2520"/>
                  </a:lnSpc>
                </a:pPr>
                <a:r>
                  <a:rPr lang="en-US" sz="2100">
                    <a:solidFill>
                      <a:srgbClr val="000000"/>
                    </a:solidFill>
                    <a:latin typeface="Poppins"/>
                    <a:ea typeface="Poppins"/>
                    <a:cs typeface="Poppins"/>
                    <a:sym typeface="Poppins"/>
                  </a:rPr>
                  <a:t>Run it in Google Colab</a:t>
                </a:r>
              </a:p>
            </p:txBody>
          </p:sp>
        </p:grpSp>
        <p:grpSp>
          <p:nvGrpSpPr>
            <p:cNvPr name="Group 46" id="46"/>
            <p:cNvGrpSpPr/>
            <p:nvPr/>
          </p:nvGrpSpPr>
          <p:grpSpPr>
            <a:xfrm rot="0">
              <a:off x="0" y="6163056"/>
              <a:ext cx="841248" cy="841248"/>
              <a:chOff x="0" y="0"/>
              <a:chExt cx="841248" cy="841248"/>
            </a:xfrm>
          </p:grpSpPr>
          <p:sp>
            <p:nvSpPr>
              <p:cNvPr name="Freeform 47" id="47"/>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87F7F"/>
              </a:solidFill>
            </p:spPr>
          </p:sp>
        </p:grpSp>
        <p:grpSp>
          <p:nvGrpSpPr>
            <p:cNvPr name="Group 48" id="48"/>
            <p:cNvGrpSpPr/>
            <p:nvPr/>
          </p:nvGrpSpPr>
          <p:grpSpPr>
            <a:xfrm rot="0">
              <a:off x="0" y="6163056"/>
              <a:ext cx="841248" cy="841248"/>
              <a:chOff x="0" y="0"/>
              <a:chExt cx="841248" cy="841248"/>
            </a:xfrm>
          </p:grpSpPr>
          <p:sp>
            <p:nvSpPr>
              <p:cNvPr name="Freeform 49" id="49"/>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6">
                  <a:alphaModFix amt="0"/>
                </a:blip>
                <a:stretch>
                  <a:fillRect l="-78303" t="0" r="-78303" b="0"/>
                </a:stretch>
              </a:blipFill>
            </p:spPr>
          </p:sp>
          <p:sp>
            <p:nvSpPr>
              <p:cNvPr name="TextBox 50" id="50"/>
              <p:cNvSpPr txBox="true"/>
              <p:nvPr/>
            </p:nvSpPr>
            <p:spPr>
              <a:xfrm>
                <a:off x="0" y="-19050"/>
                <a:ext cx="841248" cy="860298"/>
              </a:xfrm>
              <a:prstGeom prst="rect">
                <a:avLst/>
              </a:prstGeom>
            </p:spPr>
            <p:txBody>
              <a:bodyPr anchor="ctr" rtlCol="false" tIns="0" lIns="0" bIns="0" rIns="0"/>
              <a:lstStyle/>
              <a:p>
                <a:pPr algn="ctr">
                  <a:lnSpc>
                    <a:spcPts val="2520"/>
                  </a:lnSpc>
                </a:pPr>
                <a:r>
                  <a:rPr lang="en-US" sz="2100" b="true">
                    <a:solidFill>
                      <a:srgbClr val="0A1A23"/>
                    </a:solidFill>
                    <a:latin typeface="Poppins Bold"/>
                    <a:ea typeface="Poppins Bold"/>
                    <a:cs typeface="Poppins Bold"/>
                    <a:sym typeface="Poppins Bold"/>
                  </a:rPr>
                  <a:t>5</a:t>
                </a:r>
              </a:p>
            </p:txBody>
          </p:sp>
        </p:grpSp>
        <p:grpSp>
          <p:nvGrpSpPr>
            <p:cNvPr name="Group 51" id="51"/>
            <p:cNvGrpSpPr/>
            <p:nvPr/>
          </p:nvGrpSpPr>
          <p:grpSpPr>
            <a:xfrm rot="0">
              <a:off x="1188720" y="6108192"/>
              <a:ext cx="20665440" cy="950976"/>
              <a:chOff x="0" y="0"/>
              <a:chExt cx="20665440" cy="950976"/>
            </a:xfrm>
          </p:grpSpPr>
          <p:sp>
            <p:nvSpPr>
              <p:cNvPr name="Freeform 52" id="52"/>
              <p:cNvSpPr/>
              <p:nvPr/>
            </p:nvSpPr>
            <p:spPr>
              <a:xfrm flipH="false" flipV="false" rot="0">
                <a:off x="0" y="0"/>
                <a:ext cx="20665439" cy="950976"/>
              </a:xfrm>
              <a:custGeom>
                <a:avLst/>
                <a:gdLst/>
                <a:ahLst/>
                <a:cxnLst/>
                <a:rect r="r" b="b" t="t" l="l"/>
                <a:pathLst>
                  <a:path h="950976" w="20665439">
                    <a:moveTo>
                      <a:pt x="0" y="0"/>
                    </a:moveTo>
                    <a:lnTo>
                      <a:pt x="20665439" y="0"/>
                    </a:lnTo>
                    <a:lnTo>
                      <a:pt x="20665439" y="950976"/>
                    </a:lnTo>
                    <a:lnTo>
                      <a:pt x="0" y="950976"/>
                    </a:lnTo>
                    <a:close/>
                  </a:path>
                </a:pathLst>
              </a:custGeom>
              <a:blipFill>
                <a:blip r:embed="rId6">
                  <a:alphaModFix amt="0"/>
                </a:blip>
                <a:stretch>
                  <a:fillRect l="0" t="-373424" r="0" b="-373424"/>
                </a:stretch>
              </a:blipFill>
            </p:spPr>
          </p:sp>
          <p:sp>
            <p:nvSpPr>
              <p:cNvPr name="TextBox 53" id="53"/>
              <p:cNvSpPr txBox="true"/>
              <p:nvPr/>
            </p:nvSpPr>
            <p:spPr>
              <a:xfrm>
                <a:off x="0" y="-19050"/>
                <a:ext cx="20665440" cy="970026"/>
              </a:xfrm>
              <a:prstGeom prst="rect">
                <a:avLst/>
              </a:prstGeom>
            </p:spPr>
            <p:txBody>
              <a:bodyPr anchor="ctr" rtlCol="false" tIns="0" lIns="0" bIns="0" rIns="0"/>
              <a:lstStyle/>
              <a:p>
                <a:pPr algn="l">
                  <a:lnSpc>
                    <a:spcPts val="2520"/>
                  </a:lnSpc>
                </a:pPr>
                <a:r>
                  <a:rPr lang="en-US" sz="2100">
                    <a:solidFill>
                      <a:srgbClr val="000000"/>
                    </a:solidFill>
                    <a:latin typeface="Poppins"/>
                    <a:ea typeface="Poppins"/>
                    <a:cs typeface="Poppins"/>
                    <a:sym typeface="Poppins"/>
                  </a:rPr>
                  <a:t>Verify the result against the checklist from this session</a:t>
                </a:r>
              </a:p>
            </p:txBody>
          </p:sp>
        </p:grpSp>
        <p:grpSp>
          <p:nvGrpSpPr>
            <p:cNvPr name="Group 54" id="54"/>
            <p:cNvGrpSpPr/>
            <p:nvPr/>
          </p:nvGrpSpPr>
          <p:grpSpPr>
            <a:xfrm rot="0">
              <a:off x="0" y="7223760"/>
              <a:ext cx="841248" cy="841248"/>
              <a:chOff x="0" y="0"/>
              <a:chExt cx="841248" cy="841248"/>
            </a:xfrm>
          </p:grpSpPr>
          <p:sp>
            <p:nvSpPr>
              <p:cNvPr name="Freeform 55" id="55"/>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87F7F"/>
              </a:solidFill>
            </p:spPr>
          </p:sp>
        </p:grpSp>
        <p:grpSp>
          <p:nvGrpSpPr>
            <p:cNvPr name="Group 56" id="56"/>
            <p:cNvGrpSpPr/>
            <p:nvPr/>
          </p:nvGrpSpPr>
          <p:grpSpPr>
            <a:xfrm rot="0">
              <a:off x="0" y="7223760"/>
              <a:ext cx="841248" cy="841248"/>
              <a:chOff x="0" y="0"/>
              <a:chExt cx="841248" cy="841248"/>
            </a:xfrm>
          </p:grpSpPr>
          <p:sp>
            <p:nvSpPr>
              <p:cNvPr name="Freeform 57" id="57"/>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6">
                  <a:alphaModFix amt="0"/>
                </a:blip>
                <a:stretch>
                  <a:fillRect l="-78303" t="0" r="-78303" b="0"/>
                </a:stretch>
              </a:blipFill>
            </p:spPr>
          </p:sp>
          <p:sp>
            <p:nvSpPr>
              <p:cNvPr name="TextBox 58" id="58"/>
              <p:cNvSpPr txBox="true"/>
              <p:nvPr/>
            </p:nvSpPr>
            <p:spPr>
              <a:xfrm>
                <a:off x="0" y="-19050"/>
                <a:ext cx="841248" cy="860298"/>
              </a:xfrm>
              <a:prstGeom prst="rect">
                <a:avLst/>
              </a:prstGeom>
            </p:spPr>
            <p:txBody>
              <a:bodyPr anchor="ctr" rtlCol="false" tIns="0" lIns="0" bIns="0" rIns="0"/>
              <a:lstStyle/>
              <a:p>
                <a:pPr algn="ctr">
                  <a:lnSpc>
                    <a:spcPts val="2520"/>
                  </a:lnSpc>
                </a:pPr>
                <a:r>
                  <a:rPr lang="en-US" sz="2100" b="true">
                    <a:solidFill>
                      <a:srgbClr val="0A1A23"/>
                    </a:solidFill>
                    <a:latin typeface="Poppins Bold"/>
                    <a:ea typeface="Poppins Bold"/>
                    <a:cs typeface="Poppins Bold"/>
                    <a:sym typeface="Poppins Bold"/>
                  </a:rPr>
                  <a:t>6</a:t>
                </a:r>
              </a:p>
            </p:txBody>
          </p:sp>
        </p:grpSp>
        <p:grpSp>
          <p:nvGrpSpPr>
            <p:cNvPr name="Group 59" id="59"/>
            <p:cNvGrpSpPr/>
            <p:nvPr/>
          </p:nvGrpSpPr>
          <p:grpSpPr>
            <a:xfrm rot="0">
              <a:off x="1188720" y="7168896"/>
              <a:ext cx="20665440" cy="950976"/>
              <a:chOff x="0" y="0"/>
              <a:chExt cx="20665440" cy="950976"/>
            </a:xfrm>
          </p:grpSpPr>
          <p:sp>
            <p:nvSpPr>
              <p:cNvPr name="Freeform 60" id="60"/>
              <p:cNvSpPr/>
              <p:nvPr/>
            </p:nvSpPr>
            <p:spPr>
              <a:xfrm flipH="false" flipV="false" rot="0">
                <a:off x="0" y="0"/>
                <a:ext cx="20665439" cy="950976"/>
              </a:xfrm>
              <a:custGeom>
                <a:avLst/>
                <a:gdLst/>
                <a:ahLst/>
                <a:cxnLst/>
                <a:rect r="r" b="b" t="t" l="l"/>
                <a:pathLst>
                  <a:path h="950976" w="20665439">
                    <a:moveTo>
                      <a:pt x="0" y="0"/>
                    </a:moveTo>
                    <a:lnTo>
                      <a:pt x="20665439" y="0"/>
                    </a:lnTo>
                    <a:lnTo>
                      <a:pt x="20665439" y="950976"/>
                    </a:lnTo>
                    <a:lnTo>
                      <a:pt x="0" y="950976"/>
                    </a:lnTo>
                    <a:close/>
                  </a:path>
                </a:pathLst>
              </a:custGeom>
              <a:blipFill>
                <a:blip r:embed="rId6">
                  <a:alphaModFix amt="0"/>
                </a:blip>
                <a:stretch>
                  <a:fillRect l="0" t="-373424" r="0" b="-373424"/>
                </a:stretch>
              </a:blipFill>
            </p:spPr>
          </p:sp>
          <p:sp>
            <p:nvSpPr>
              <p:cNvPr name="TextBox 61" id="61"/>
              <p:cNvSpPr txBox="true"/>
              <p:nvPr/>
            </p:nvSpPr>
            <p:spPr>
              <a:xfrm>
                <a:off x="0" y="-19050"/>
                <a:ext cx="20665440" cy="970026"/>
              </a:xfrm>
              <a:prstGeom prst="rect">
                <a:avLst/>
              </a:prstGeom>
            </p:spPr>
            <p:txBody>
              <a:bodyPr anchor="ctr" rtlCol="false" tIns="0" lIns="0" bIns="0" rIns="0"/>
              <a:lstStyle/>
              <a:p>
                <a:pPr algn="l">
                  <a:lnSpc>
                    <a:spcPts val="2520"/>
                  </a:lnSpc>
                </a:pPr>
                <a:r>
                  <a:rPr lang="en-US" sz="2100">
                    <a:solidFill>
                      <a:srgbClr val="000000"/>
                    </a:solidFill>
                    <a:latin typeface="Poppins"/>
                    <a:ea typeface="Poppins"/>
                    <a:cs typeface="Poppins"/>
                    <a:sym typeface="Poppins"/>
                  </a:rPr>
                  <a:t>Explain every line, then submit with a short note on how AI was used</a:t>
                </a:r>
              </a:p>
            </p:txBody>
          </p:sp>
        </p:grpSp>
        <p:grpSp>
          <p:nvGrpSpPr>
            <p:cNvPr name="Group 62" id="62"/>
            <p:cNvGrpSpPr/>
            <p:nvPr/>
          </p:nvGrpSpPr>
          <p:grpSpPr>
            <a:xfrm rot="0">
              <a:off x="548640" y="8503920"/>
              <a:ext cx="21031200" cy="1371600"/>
              <a:chOff x="0" y="0"/>
              <a:chExt cx="21031200" cy="1371600"/>
            </a:xfrm>
          </p:grpSpPr>
          <p:sp>
            <p:nvSpPr>
              <p:cNvPr name="Freeform 63" id="63"/>
              <p:cNvSpPr/>
              <p:nvPr/>
            </p:nvSpPr>
            <p:spPr>
              <a:xfrm flipH="false" flipV="false" rot="0">
                <a:off x="0" y="0"/>
                <a:ext cx="21031200" cy="1371600"/>
              </a:xfrm>
              <a:custGeom>
                <a:avLst/>
                <a:gdLst/>
                <a:ahLst/>
                <a:cxnLst/>
                <a:rect r="r" b="b" t="t" l="l"/>
                <a:pathLst>
                  <a:path h="1371600" w="21031200">
                    <a:moveTo>
                      <a:pt x="0" y="0"/>
                    </a:moveTo>
                    <a:lnTo>
                      <a:pt x="21031200" y="0"/>
                    </a:lnTo>
                    <a:lnTo>
                      <a:pt x="21031200" y="1371600"/>
                    </a:lnTo>
                    <a:lnTo>
                      <a:pt x="0" y="1371600"/>
                    </a:lnTo>
                    <a:close/>
                  </a:path>
                </a:pathLst>
              </a:custGeom>
              <a:blipFill>
                <a:blip r:embed="rId6">
                  <a:alphaModFix amt="0"/>
                </a:blip>
                <a:stretch>
                  <a:fillRect l="0" t="-248770" r="0" b="-248770"/>
                </a:stretch>
              </a:blipFill>
            </p:spPr>
          </p:sp>
          <p:sp>
            <p:nvSpPr>
              <p:cNvPr name="TextBox 64" id="64"/>
              <p:cNvSpPr txBox="true"/>
              <p:nvPr/>
            </p:nvSpPr>
            <p:spPr>
              <a:xfrm>
                <a:off x="0" y="-19050"/>
                <a:ext cx="21031200" cy="1390650"/>
              </a:xfrm>
              <a:prstGeom prst="rect">
                <a:avLst/>
              </a:prstGeom>
            </p:spPr>
            <p:txBody>
              <a:bodyPr anchor="ctr" rtlCol="false" tIns="0" lIns="0" bIns="0" rIns="0"/>
              <a:lstStyle/>
              <a:p>
                <a:pPr algn="l">
                  <a:lnSpc>
                    <a:spcPts val="2430"/>
                  </a:lnSpc>
                </a:pPr>
                <a:r>
                  <a:rPr lang="en-US" sz="2025" b="true">
                    <a:solidFill>
                      <a:srgbClr val="0A1A23"/>
                    </a:solidFill>
                    <a:latin typeface="Poppins Bold"/>
                    <a:ea typeface="Poppins Bold"/>
                    <a:cs typeface="Poppins Bold"/>
                    <a:sym typeface="Poppins Bold"/>
                  </a:rPr>
                  <a:t>Reflection:  </a:t>
                </a:r>
                <a:r>
                  <a:rPr lang="en-US" sz="2025" i="true">
                    <a:solidFill>
                      <a:srgbClr val="0A1A23"/>
                    </a:solidFill>
                    <a:latin typeface="Poppins Italics"/>
                    <a:ea typeface="Poppins Italics"/>
                    <a:cs typeface="Poppins Italics"/>
                    <a:sym typeface="Poppins Italics"/>
                  </a:rPr>
                  <a:t>"What part of the analysis did AI help with, and what part still required your judgment?"</a:t>
                </a:r>
              </a:p>
            </p:txBody>
          </p:sp>
        </p:grpSp>
      </p:grpSp>
      <p:grpSp>
        <p:nvGrpSpPr>
          <p:cNvPr name="Group 65" id="65"/>
          <p:cNvGrpSpPr/>
          <p:nvPr/>
        </p:nvGrpSpPr>
        <p:grpSpPr>
          <a:xfrm rot="0">
            <a:off x="857250" y="857250"/>
            <a:ext cx="114300" cy="1028700"/>
            <a:chOff x="0" y="0"/>
            <a:chExt cx="152400" cy="1371600"/>
          </a:xfrm>
        </p:grpSpPr>
        <p:sp>
          <p:nvSpPr>
            <p:cNvPr name="Freeform 66" id="66"/>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image.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857250" y="857250"/>
            <a:ext cx="114300" cy="1028700"/>
            <a:chOff x="0" y="0"/>
            <a:chExt cx="152400" cy="1371600"/>
          </a:xfrm>
        </p:grpSpPr>
        <p:sp>
          <p:nvSpPr>
            <p:cNvPr name="Freeform 5" id="5"/>
            <p:cNvSpPr/>
            <p:nvPr/>
          </p:nvSpPr>
          <p:spPr>
            <a:xfrm flipH="false" flipV="false" rot="0">
              <a:off x="0" y="0"/>
              <a:ext cx="152400" cy="1371600"/>
            </a:xfrm>
            <a:custGeom>
              <a:avLst/>
              <a:gdLst/>
              <a:ahLst/>
              <a:cxnLst/>
              <a:rect r="r" b="b" t="t" l="l"/>
              <a:pathLst>
                <a:path h="1371600" w="152400">
                  <a:moveTo>
                    <a:pt x="0" y="0"/>
                  </a:moveTo>
                  <a:lnTo>
                    <a:pt x="152400" y="0"/>
                  </a:lnTo>
                  <a:lnTo>
                    <a:pt x="152400" y="1371600"/>
                  </a:lnTo>
                  <a:lnTo>
                    <a:pt x="0" y="1371600"/>
                  </a:lnTo>
                  <a:close/>
                </a:path>
              </a:pathLst>
            </a:custGeom>
            <a:solidFill>
              <a:srgbClr val="388080"/>
            </a:solidFill>
          </p:spPr>
        </p:sp>
      </p:grpSp>
      <p:sp>
        <p:nvSpPr>
          <p:cNvPr name="Freeform 6" id="6"/>
          <p:cNvSpPr/>
          <p:nvPr/>
        </p:nvSpPr>
        <p:spPr>
          <a:xfrm flipH="false" flipV="false" rot="1655820">
            <a:off x="16974979" y="4013225"/>
            <a:ext cx="1577149" cy="3243520"/>
          </a:xfrm>
          <a:custGeom>
            <a:avLst/>
            <a:gdLst/>
            <a:ahLst/>
            <a:cxnLst/>
            <a:rect r="r" b="b" t="t" l="l"/>
            <a:pathLst>
              <a:path h="3243520" w="1577149">
                <a:moveTo>
                  <a:pt x="0" y="0"/>
                </a:moveTo>
                <a:lnTo>
                  <a:pt x="1577149" y="0"/>
                </a:lnTo>
                <a:lnTo>
                  <a:pt x="1577149" y="3243520"/>
                </a:lnTo>
                <a:lnTo>
                  <a:pt x="0" y="3243520"/>
                </a:lnTo>
                <a:lnTo>
                  <a:pt x="0" y="0"/>
                </a:lnTo>
                <a:close/>
              </a:path>
            </a:pathLst>
          </a:custGeom>
          <a:blipFill>
            <a:blip r:embed="rId4">
              <a:extLst>
                <a:ext uri="{96DAC541-7B7A-43D3-8B79-37D633B846F1}">
                  <asvg:svgBlip xmlns:asvg="http://schemas.microsoft.com/office/drawing/2016/SVG/main" r:embed="rId5"/>
                </a:ext>
              </a:extLst>
            </a:blip>
            <a:stretch>
              <a:fillRect l="-101378" t="0" r="-101378" b="0"/>
            </a:stretch>
          </a:blipFill>
        </p:spPr>
      </p:sp>
      <p:sp>
        <p:nvSpPr>
          <p:cNvPr name="Freeform 7" id="7"/>
          <p:cNvSpPr/>
          <p:nvPr/>
        </p:nvSpPr>
        <p:spPr>
          <a:xfrm flipH="false" flipV="false" rot="0">
            <a:off x="16536657" y="2938091"/>
            <a:ext cx="6200137" cy="6058462"/>
          </a:xfrm>
          <a:custGeom>
            <a:avLst/>
            <a:gdLst/>
            <a:ahLst/>
            <a:cxnLst/>
            <a:rect r="r" b="b" t="t" l="l"/>
            <a:pathLst>
              <a:path h="6058462" w="6200137">
                <a:moveTo>
                  <a:pt x="0" y="0"/>
                </a:moveTo>
                <a:lnTo>
                  <a:pt x="6200137" y="0"/>
                </a:lnTo>
                <a:lnTo>
                  <a:pt x="6200137" y="6058462"/>
                </a:lnTo>
                <a:lnTo>
                  <a:pt x="0" y="60584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143000" y="762000"/>
            <a:ext cx="4862736" cy="809625"/>
          </a:xfrm>
          <a:prstGeom prst="rect">
            <a:avLst/>
          </a:prstGeom>
        </p:spPr>
        <p:txBody>
          <a:bodyPr anchor="t" rtlCol="false" tIns="0" lIns="0" bIns="0" rIns="0">
            <a:spAutoFit/>
          </a:bodyPr>
          <a:lstStyle/>
          <a:p>
            <a:pPr algn="l">
              <a:lnSpc>
                <a:spcPts val="6000"/>
              </a:lnSpc>
            </a:pPr>
            <a:r>
              <a:rPr lang="en-US" sz="5000">
                <a:solidFill>
                  <a:srgbClr val="388080"/>
                </a:solidFill>
                <a:latin typeface="Poppins"/>
                <a:ea typeface="Poppins"/>
                <a:cs typeface="Poppins"/>
                <a:sym typeface="Poppins"/>
              </a:rPr>
              <a:t>Key Takeaways</a:t>
            </a:r>
          </a:p>
        </p:txBody>
      </p:sp>
      <p:grpSp>
        <p:nvGrpSpPr>
          <p:cNvPr name="Group 9" id="9"/>
          <p:cNvGrpSpPr/>
          <p:nvPr/>
        </p:nvGrpSpPr>
        <p:grpSpPr>
          <a:xfrm rot="0">
            <a:off x="16497824" y="8924125"/>
            <a:ext cx="647224" cy="571500"/>
            <a:chOff x="0" y="0"/>
            <a:chExt cx="862965" cy="762000"/>
          </a:xfrm>
        </p:grpSpPr>
        <p:sp>
          <p:nvSpPr>
            <p:cNvPr name="Freeform 10" id="10" descr="image.png"/>
            <p:cNvSpPr/>
            <p:nvPr/>
          </p:nvSpPr>
          <p:spPr>
            <a:xfrm flipH="false" flipV="false" rot="0">
              <a:off x="0" y="0"/>
              <a:ext cx="862965" cy="762000"/>
            </a:xfrm>
            <a:custGeom>
              <a:avLst/>
              <a:gdLst/>
              <a:ahLst/>
              <a:cxnLst/>
              <a:rect r="r" b="b" t="t" l="l"/>
              <a:pathLst>
                <a:path h="762000" w="862965">
                  <a:moveTo>
                    <a:pt x="0" y="0"/>
                  </a:moveTo>
                  <a:lnTo>
                    <a:pt x="862965" y="0"/>
                  </a:lnTo>
                  <a:lnTo>
                    <a:pt x="862965" y="762000"/>
                  </a:lnTo>
                  <a:lnTo>
                    <a:pt x="0" y="762000"/>
                  </a:lnTo>
                  <a:lnTo>
                    <a:pt x="0" y="0"/>
                  </a:lnTo>
                  <a:close/>
                </a:path>
              </a:pathLst>
            </a:custGeom>
            <a:blipFill>
              <a:blip r:embed="rId8"/>
              <a:stretch>
                <a:fillRect l="-772" t="0" r="-772" b="0"/>
              </a:stretch>
            </a:blipFill>
          </p:spPr>
        </p:sp>
      </p:grpSp>
      <p:grpSp>
        <p:nvGrpSpPr>
          <p:cNvPr name="Group 11" id="11"/>
          <p:cNvGrpSpPr/>
          <p:nvPr/>
        </p:nvGrpSpPr>
        <p:grpSpPr>
          <a:xfrm rot="0">
            <a:off x="15419508" y="4186238"/>
            <a:ext cx="457200" cy="457200"/>
            <a:chOff x="0" y="0"/>
            <a:chExt cx="609600" cy="609600"/>
          </a:xfrm>
        </p:grpSpPr>
        <p:sp>
          <p:nvSpPr>
            <p:cNvPr name="Freeform 12" id="12" descr="image.png"/>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9"/>
              <a:stretch>
                <a:fillRect l="0" t="-1562" r="0" b="-1562"/>
              </a:stretch>
            </a:blipFill>
          </p:spPr>
        </p:sp>
      </p:grpSp>
      <p:sp>
        <p:nvSpPr>
          <p:cNvPr name="TextBox 13" id="13"/>
          <p:cNvSpPr txBox="true"/>
          <p:nvPr/>
        </p:nvSpPr>
        <p:spPr>
          <a:xfrm rot="0">
            <a:off x="1500188" y="2595562"/>
            <a:ext cx="7643812" cy="915352"/>
          </a:xfrm>
          <a:prstGeom prst="rect">
            <a:avLst/>
          </a:prstGeom>
        </p:spPr>
        <p:txBody>
          <a:bodyPr anchor="t" rtlCol="false" tIns="0" lIns="0" bIns="0" rIns="0">
            <a:spAutoFit/>
          </a:bodyPr>
          <a:lstStyle/>
          <a:p>
            <a:pPr algn="l">
              <a:lnSpc>
                <a:spcPts val="3712"/>
              </a:lnSpc>
            </a:pPr>
            <a:r>
              <a:rPr lang="en-US" b="true" sz="2475">
                <a:solidFill>
                  <a:srgbClr val="475569"/>
                </a:solidFill>
                <a:latin typeface="DM Sans Bold"/>
                <a:ea typeface="DM Sans Bold"/>
                <a:cs typeface="DM Sans Bold"/>
                <a:sym typeface="DM Sans Bold"/>
              </a:rPr>
              <a:t>Five key primitives:</a:t>
            </a:r>
            <a:r>
              <a:rPr lang="en-US" sz="2475">
                <a:solidFill>
                  <a:srgbClr val="475569"/>
                </a:solidFill>
                <a:latin typeface="DM Sans"/>
                <a:ea typeface="DM Sans"/>
                <a:cs typeface="DM Sans"/>
                <a:sym typeface="DM Sans"/>
              </a:rPr>
              <a:t> string, number, boolean, null, and undefined.</a:t>
            </a:r>
          </a:p>
        </p:txBody>
      </p:sp>
      <p:sp>
        <p:nvSpPr>
          <p:cNvPr name="TextBox 14" id="14"/>
          <p:cNvSpPr txBox="true"/>
          <p:nvPr/>
        </p:nvSpPr>
        <p:spPr>
          <a:xfrm rot="0">
            <a:off x="1500188" y="3645989"/>
            <a:ext cx="8336756" cy="915352"/>
          </a:xfrm>
          <a:prstGeom prst="rect">
            <a:avLst/>
          </a:prstGeom>
        </p:spPr>
        <p:txBody>
          <a:bodyPr anchor="t" rtlCol="false" tIns="0" lIns="0" bIns="0" rIns="0">
            <a:spAutoFit/>
          </a:bodyPr>
          <a:lstStyle/>
          <a:p>
            <a:pPr algn="l">
              <a:lnSpc>
                <a:spcPts val="3712"/>
              </a:lnSpc>
            </a:pPr>
            <a:r>
              <a:rPr lang="en-US" b="true" sz="2475">
                <a:solidFill>
                  <a:srgbClr val="475569"/>
                </a:solidFill>
                <a:latin typeface="DM Sans Bold"/>
                <a:ea typeface="DM Sans Bold"/>
                <a:cs typeface="DM Sans Bold"/>
                <a:sym typeface="DM Sans Bold"/>
              </a:rPr>
              <a:t>Quotes matter:</a:t>
            </a:r>
            <a:r>
              <a:rPr lang="en-US" sz="2475">
                <a:solidFill>
                  <a:srgbClr val="475569"/>
                </a:solidFill>
                <a:latin typeface="DM Sans"/>
                <a:ea typeface="DM Sans"/>
                <a:cs typeface="DM Sans"/>
                <a:sym typeface="DM Sans"/>
              </a:rPr>
              <a:t> Strings need them; numbers fail with them. Mixing them causes major bugs.</a:t>
            </a:r>
          </a:p>
        </p:txBody>
      </p:sp>
      <p:sp>
        <p:nvSpPr>
          <p:cNvPr name="TextBox 15" id="15"/>
          <p:cNvSpPr txBox="true"/>
          <p:nvPr/>
        </p:nvSpPr>
        <p:spPr>
          <a:xfrm rot="0">
            <a:off x="1500188" y="4694692"/>
            <a:ext cx="8336756" cy="915352"/>
          </a:xfrm>
          <a:prstGeom prst="rect">
            <a:avLst/>
          </a:prstGeom>
        </p:spPr>
        <p:txBody>
          <a:bodyPr anchor="t" rtlCol="false" tIns="0" lIns="0" bIns="0" rIns="0">
            <a:spAutoFit/>
          </a:bodyPr>
          <a:lstStyle/>
          <a:p>
            <a:pPr algn="l">
              <a:lnSpc>
                <a:spcPts val="3712"/>
              </a:lnSpc>
            </a:pPr>
            <a:r>
              <a:rPr lang="en-US" b="true" sz="2475">
                <a:solidFill>
                  <a:srgbClr val="475569"/>
                </a:solidFill>
                <a:latin typeface="DM Sans Bold"/>
                <a:ea typeface="DM Sans Bold"/>
                <a:cs typeface="DM Sans Bold"/>
                <a:sym typeface="DM Sans Bold"/>
              </a:rPr>
              <a:t>Booleans are logical:</a:t>
            </a:r>
            <a:r>
              <a:rPr lang="en-US" sz="2475">
                <a:solidFill>
                  <a:srgbClr val="475569"/>
                </a:solidFill>
                <a:latin typeface="DM Sans"/>
                <a:ea typeface="DM Sans"/>
                <a:cs typeface="DM Sans"/>
                <a:sym typeface="DM Sans"/>
              </a:rPr>
              <a:t> Use them for true/false states, never wrap them in quotes.</a:t>
            </a:r>
          </a:p>
        </p:txBody>
      </p:sp>
      <p:sp>
        <p:nvSpPr>
          <p:cNvPr name="TextBox 16" id="16"/>
          <p:cNvSpPr txBox="true"/>
          <p:nvPr/>
        </p:nvSpPr>
        <p:spPr>
          <a:xfrm rot="0">
            <a:off x="1500188" y="5743394"/>
            <a:ext cx="8336756" cy="915352"/>
          </a:xfrm>
          <a:prstGeom prst="rect">
            <a:avLst/>
          </a:prstGeom>
        </p:spPr>
        <p:txBody>
          <a:bodyPr anchor="t" rtlCol="false" tIns="0" lIns="0" bIns="0" rIns="0">
            <a:spAutoFit/>
          </a:bodyPr>
          <a:lstStyle/>
          <a:p>
            <a:pPr algn="l">
              <a:lnSpc>
                <a:spcPts val="3712"/>
              </a:lnSpc>
            </a:pPr>
            <a:r>
              <a:rPr lang="en-US" b="true" sz="2475">
                <a:solidFill>
                  <a:srgbClr val="475569"/>
                </a:solidFill>
                <a:latin typeface="DM Sans Bold"/>
                <a:ea typeface="DM Sans Bold"/>
                <a:cs typeface="DM Sans Bold"/>
                <a:sym typeface="DM Sans Bold"/>
              </a:rPr>
              <a:t>Empty states:</a:t>
            </a:r>
            <a:r>
              <a:rPr lang="en-US" sz="2475">
                <a:solidFill>
                  <a:srgbClr val="475569"/>
                </a:solidFill>
                <a:latin typeface="DM Sans"/>
                <a:ea typeface="DM Sans"/>
                <a:cs typeface="DM Sans"/>
                <a:sym typeface="DM Sans"/>
              </a:rPr>
              <a:t> Use null for intentional emptiness; undefined is the "missing" default.</a:t>
            </a:r>
          </a:p>
        </p:txBody>
      </p:sp>
      <p:sp>
        <p:nvSpPr>
          <p:cNvPr name="TextBox 17" id="17"/>
          <p:cNvSpPr txBox="true"/>
          <p:nvPr/>
        </p:nvSpPr>
        <p:spPr>
          <a:xfrm rot="0">
            <a:off x="1500188" y="6792097"/>
            <a:ext cx="8336756" cy="915352"/>
          </a:xfrm>
          <a:prstGeom prst="rect">
            <a:avLst/>
          </a:prstGeom>
        </p:spPr>
        <p:txBody>
          <a:bodyPr anchor="t" rtlCol="false" tIns="0" lIns="0" bIns="0" rIns="0">
            <a:spAutoFit/>
          </a:bodyPr>
          <a:lstStyle/>
          <a:p>
            <a:pPr algn="l">
              <a:lnSpc>
                <a:spcPts val="3712"/>
              </a:lnSpc>
            </a:pPr>
            <a:r>
              <a:rPr lang="en-US" b="true" sz="2475">
                <a:solidFill>
                  <a:srgbClr val="475569"/>
                </a:solidFill>
                <a:latin typeface="DM Sans Bold"/>
                <a:ea typeface="DM Sans Bold"/>
                <a:cs typeface="DM Sans Bold"/>
                <a:sym typeface="DM Sans Bold"/>
              </a:rPr>
              <a:t>The Inspection Tool:</a:t>
            </a:r>
            <a:r>
              <a:rPr lang="en-US" sz="2475">
                <a:solidFill>
                  <a:srgbClr val="475569"/>
                </a:solidFill>
                <a:latin typeface="DM Sans"/>
                <a:ea typeface="DM Sans"/>
                <a:cs typeface="DM Sans"/>
                <a:sym typeface="DM Sans"/>
              </a:rPr>
              <a:t> Use typeof to verify data types while coding.</a:t>
            </a:r>
          </a:p>
        </p:txBody>
      </p:sp>
      <p:grpSp>
        <p:nvGrpSpPr>
          <p:cNvPr name="Group 18" id="18"/>
          <p:cNvGrpSpPr/>
          <p:nvPr/>
        </p:nvGrpSpPr>
        <p:grpSpPr>
          <a:xfrm rot="0">
            <a:off x="914400" y="2671762"/>
            <a:ext cx="371475" cy="385762"/>
            <a:chOff x="0" y="0"/>
            <a:chExt cx="495300" cy="514350"/>
          </a:xfrm>
        </p:grpSpPr>
        <p:sp>
          <p:nvSpPr>
            <p:cNvPr name="Freeform 19" id="19" descr="image.png"/>
            <p:cNvSpPr/>
            <p:nvPr/>
          </p:nvSpPr>
          <p:spPr>
            <a:xfrm flipH="false" flipV="false" rot="0">
              <a:off x="0" y="0"/>
              <a:ext cx="495300" cy="514350"/>
            </a:xfrm>
            <a:custGeom>
              <a:avLst/>
              <a:gdLst/>
              <a:ahLst/>
              <a:cxnLst/>
              <a:rect r="r" b="b" t="t" l="l"/>
              <a:pathLst>
                <a:path h="514350" w="495300">
                  <a:moveTo>
                    <a:pt x="0" y="0"/>
                  </a:moveTo>
                  <a:lnTo>
                    <a:pt x="495300" y="0"/>
                  </a:lnTo>
                  <a:lnTo>
                    <a:pt x="495300" y="514350"/>
                  </a:lnTo>
                  <a:lnTo>
                    <a:pt x="0" y="514350"/>
                  </a:lnTo>
                  <a:lnTo>
                    <a:pt x="0" y="0"/>
                  </a:lnTo>
                  <a:close/>
                </a:path>
              </a:pathLst>
            </a:custGeom>
            <a:blipFill>
              <a:blip r:embed="rId10"/>
              <a:stretch>
                <a:fillRect l="0" t="0" r="0" b="0"/>
              </a:stretch>
            </a:blipFill>
          </p:spPr>
        </p:sp>
      </p:grpSp>
      <p:grpSp>
        <p:nvGrpSpPr>
          <p:cNvPr name="Group 20" id="20"/>
          <p:cNvGrpSpPr/>
          <p:nvPr/>
        </p:nvGrpSpPr>
        <p:grpSpPr>
          <a:xfrm rot="0">
            <a:off x="857250" y="3722189"/>
            <a:ext cx="371475" cy="385762"/>
            <a:chOff x="0" y="0"/>
            <a:chExt cx="495300" cy="514350"/>
          </a:xfrm>
        </p:grpSpPr>
        <p:sp>
          <p:nvSpPr>
            <p:cNvPr name="Freeform 21" id="21" descr="image.png"/>
            <p:cNvSpPr/>
            <p:nvPr/>
          </p:nvSpPr>
          <p:spPr>
            <a:xfrm flipH="false" flipV="false" rot="0">
              <a:off x="0" y="0"/>
              <a:ext cx="495300" cy="514350"/>
            </a:xfrm>
            <a:custGeom>
              <a:avLst/>
              <a:gdLst/>
              <a:ahLst/>
              <a:cxnLst/>
              <a:rect r="r" b="b" t="t" l="l"/>
              <a:pathLst>
                <a:path h="514350" w="495300">
                  <a:moveTo>
                    <a:pt x="0" y="0"/>
                  </a:moveTo>
                  <a:lnTo>
                    <a:pt x="495300" y="0"/>
                  </a:lnTo>
                  <a:lnTo>
                    <a:pt x="495300" y="514350"/>
                  </a:lnTo>
                  <a:lnTo>
                    <a:pt x="0" y="514350"/>
                  </a:lnTo>
                  <a:lnTo>
                    <a:pt x="0" y="0"/>
                  </a:lnTo>
                  <a:close/>
                </a:path>
              </a:pathLst>
            </a:custGeom>
            <a:blipFill>
              <a:blip r:embed="rId10"/>
              <a:stretch>
                <a:fillRect l="0" t="0" r="0" b="0"/>
              </a:stretch>
            </a:blipFill>
          </p:spPr>
        </p:sp>
      </p:grpSp>
      <p:grpSp>
        <p:nvGrpSpPr>
          <p:cNvPr name="Group 22" id="22"/>
          <p:cNvGrpSpPr/>
          <p:nvPr/>
        </p:nvGrpSpPr>
        <p:grpSpPr>
          <a:xfrm rot="0">
            <a:off x="857250" y="4770892"/>
            <a:ext cx="371475" cy="385762"/>
            <a:chOff x="0" y="0"/>
            <a:chExt cx="495300" cy="514350"/>
          </a:xfrm>
        </p:grpSpPr>
        <p:sp>
          <p:nvSpPr>
            <p:cNvPr name="Freeform 23" id="23" descr="image.png"/>
            <p:cNvSpPr/>
            <p:nvPr/>
          </p:nvSpPr>
          <p:spPr>
            <a:xfrm flipH="false" flipV="false" rot="0">
              <a:off x="0" y="0"/>
              <a:ext cx="495300" cy="514350"/>
            </a:xfrm>
            <a:custGeom>
              <a:avLst/>
              <a:gdLst/>
              <a:ahLst/>
              <a:cxnLst/>
              <a:rect r="r" b="b" t="t" l="l"/>
              <a:pathLst>
                <a:path h="514350" w="495300">
                  <a:moveTo>
                    <a:pt x="0" y="0"/>
                  </a:moveTo>
                  <a:lnTo>
                    <a:pt x="495300" y="0"/>
                  </a:lnTo>
                  <a:lnTo>
                    <a:pt x="495300" y="514350"/>
                  </a:lnTo>
                  <a:lnTo>
                    <a:pt x="0" y="514350"/>
                  </a:lnTo>
                  <a:lnTo>
                    <a:pt x="0" y="0"/>
                  </a:lnTo>
                  <a:close/>
                </a:path>
              </a:pathLst>
            </a:custGeom>
            <a:blipFill>
              <a:blip r:embed="rId10"/>
              <a:stretch>
                <a:fillRect l="0" t="0" r="0" b="0"/>
              </a:stretch>
            </a:blipFill>
          </p:spPr>
        </p:sp>
      </p:grpSp>
      <p:grpSp>
        <p:nvGrpSpPr>
          <p:cNvPr name="Group 24" id="24"/>
          <p:cNvGrpSpPr/>
          <p:nvPr/>
        </p:nvGrpSpPr>
        <p:grpSpPr>
          <a:xfrm rot="0">
            <a:off x="857250" y="5819594"/>
            <a:ext cx="371475" cy="385762"/>
            <a:chOff x="0" y="0"/>
            <a:chExt cx="495300" cy="514350"/>
          </a:xfrm>
        </p:grpSpPr>
        <p:sp>
          <p:nvSpPr>
            <p:cNvPr name="Freeform 25" id="25" descr="image.png"/>
            <p:cNvSpPr/>
            <p:nvPr/>
          </p:nvSpPr>
          <p:spPr>
            <a:xfrm flipH="false" flipV="false" rot="0">
              <a:off x="0" y="0"/>
              <a:ext cx="495300" cy="514350"/>
            </a:xfrm>
            <a:custGeom>
              <a:avLst/>
              <a:gdLst/>
              <a:ahLst/>
              <a:cxnLst/>
              <a:rect r="r" b="b" t="t" l="l"/>
              <a:pathLst>
                <a:path h="514350" w="495300">
                  <a:moveTo>
                    <a:pt x="0" y="0"/>
                  </a:moveTo>
                  <a:lnTo>
                    <a:pt x="495300" y="0"/>
                  </a:lnTo>
                  <a:lnTo>
                    <a:pt x="495300" y="514350"/>
                  </a:lnTo>
                  <a:lnTo>
                    <a:pt x="0" y="514350"/>
                  </a:lnTo>
                  <a:lnTo>
                    <a:pt x="0" y="0"/>
                  </a:lnTo>
                  <a:close/>
                </a:path>
              </a:pathLst>
            </a:custGeom>
            <a:blipFill>
              <a:blip r:embed="rId10"/>
              <a:stretch>
                <a:fillRect l="0" t="0" r="0" b="0"/>
              </a:stretch>
            </a:blipFill>
          </p:spPr>
        </p:sp>
      </p:grpSp>
      <p:grpSp>
        <p:nvGrpSpPr>
          <p:cNvPr name="Group 26" id="26"/>
          <p:cNvGrpSpPr/>
          <p:nvPr/>
        </p:nvGrpSpPr>
        <p:grpSpPr>
          <a:xfrm rot="0">
            <a:off x="857250" y="6868297"/>
            <a:ext cx="371475" cy="385762"/>
            <a:chOff x="0" y="0"/>
            <a:chExt cx="495300" cy="514350"/>
          </a:xfrm>
        </p:grpSpPr>
        <p:sp>
          <p:nvSpPr>
            <p:cNvPr name="Freeform 27" id="27" descr="image.png"/>
            <p:cNvSpPr/>
            <p:nvPr/>
          </p:nvSpPr>
          <p:spPr>
            <a:xfrm flipH="false" flipV="false" rot="0">
              <a:off x="0" y="0"/>
              <a:ext cx="495300" cy="514350"/>
            </a:xfrm>
            <a:custGeom>
              <a:avLst/>
              <a:gdLst/>
              <a:ahLst/>
              <a:cxnLst/>
              <a:rect r="r" b="b" t="t" l="l"/>
              <a:pathLst>
                <a:path h="514350" w="495300">
                  <a:moveTo>
                    <a:pt x="0" y="0"/>
                  </a:moveTo>
                  <a:lnTo>
                    <a:pt x="495300" y="0"/>
                  </a:lnTo>
                  <a:lnTo>
                    <a:pt x="495300" y="514350"/>
                  </a:lnTo>
                  <a:lnTo>
                    <a:pt x="0" y="514350"/>
                  </a:lnTo>
                  <a:lnTo>
                    <a:pt x="0" y="0"/>
                  </a:lnTo>
                  <a:close/>
                </a:path>
              </a:pathLst>
            </a:custGeom>
            <a:blipFill>
              <a:blip r:embed="rId10"/>
              <a:stretch>
                <a:fillRect l="0" t="0" r="0" b="0"/>
              </a:stretch>
            </a:blipFill>
          </p:spPr>
        </p:sp>
      </p:grpSp>
      <p:sp>
        <p:nvSpPr>
          <p:cNvPr name="TextBox 28" id="28"/>
          <p:cNvSpPr txBox="true"/>
          <p:nvPr/>
        </p:nvSpPr>
        <p:spPr>
          <a:xfrm rot="0">
            <a:off x="10251600" y="4019550"/>
            <a:ext cx="4834533" cy="1348740"/>
          </a:xfrm>
          <a:prstGeom prst="rect">
            <a:avLst/>
          </a:prstGeom>
        </p:spPr>
        <p:txBody>
          <a:bodyPr anchor="t" rtlCol="false" tIns="0" lIns="0" bIns="0" rIns="0">
            <a:spAutoFit/>
          </a:bodyPr>
          <a:lstStyle/>
          <a:p>
            <a:pPr algn="r">
              <a:lnSpc>
                <a:spcPts val="5400"/>
              </a:lnSpc>
            </a:pPr>
            <a:r>
              <a:rPr lang="en-US" sz="3600">
                <a:solidFill>
                  <a:srgbClr val="387F7F"/>
                </a:solidFill>
                <a:latin typeface="Inter"/>
                <a:ea typeface="Inter"/>
                <a:cs typeface="Inter"/>
                <a:sym typeface="Inter"/>
              </a:rPr>
              <a:t>Up Next:</a:t>
            </a:r>
          </a:p>
          <a:p>
            <a:pPr algn="r">
              <a:lnSpc>
                <a:spcPts val="5400"/>
              </a:lnSpc>
            </a:pPr>
            <a:r>
              <a:rPr lang="en-US" sz="3600">
                <a:solidFill>
                  <a:srgbClr val="387F7F"/>
                </a:solidFill>
                <a:latin typeface="Inter"/>
                <a:ea typeface="Inter"/>
                <a:cs typeface="Inter"/>
                <a:sym typeface="Inter"/>
              </a:rPr>
              <a:t>Arithmetic &amp; Operators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DAHT8ba5QOk</dc:identifier>
  <dcterms:modified xsi:type="dcterms:W3CDTF">2011-08-01T06:04:30Z</dcterms:modified>
  <cp:revision>1</cp:revision>
  <dc:title>Module 5.4 AI-Assisted Coding</dc:title>
</cp:coreProperties>
</file>