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Lst>
  <p:notesMasterIdLst>
    <p:notesMasterId r:id="rId21"/>
  </p:notesMasterIdLst>
  <p:sldSz cx="12191695" cy="6858000"/>
  <p:notesSz cx="6858000" cy="12191695"/>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notesMaster" Target="notesMasters/notesMaster1.xml"/><Relationship Id="rId22" Type="http://schemas.openxmlformats.org/officeDocument/2006/relationships/presProps" Target="presProps.xml"/><Relationship Id="rId23" Type="http://schemas.openxmlformats.org/officeDocument/2006/relationships/viewProps" Target="viewProps.xml"/><Relationship Id="rId24" Type="http://schemas.openxmlformats.org/officeDocument/2006/relationships/theme" Target="theme/theme1.xml"/><Relationship Id="rId25"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CONTENT: Module-level cover slide, shown once, at the start of the first topic of Module 8 only (matching Module_Template.pptx). Topics 8.2 through 8.5 and the capstone panel do not repeat this slide -- they open directly with their own topic title slide.
WHAT TO SAY: "Welcome to Module 8: AI-Assisted Data Analysis. Over six topics we go from a raw, messy file to a short, verified report, and along the way cover forecasting, machine learning literacy, automation, and the limits and risks of AI-assisted work -- closing with your capstone proposal panel."
DELIVERY CUE: This is a module-opening moment, not a topic-opening one -- give it a beat longer than a normal topic title slide before moving to the module objectives.
TIMING: 1 minute.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CONTENT: The module-level objectives slide Module_Template.pptx defines (distinct from a topic's own learning outcomes slide, which appears later for Topic 8.1 specifically). Each line maps directly to one of the six items in the module's topic breakdown: 8.1 pipeline, 8.2 forecasting, 8.3 ML literacy, 8.4 automation, 8.5 verification checklist and failure modes, and the capstone proposal panel.
WHAT TO SAY: "Here's what the whole module builds toward. By the end: you can run a full AI-assisted pipeline end to end. You can build a simple forecast with AI support and be honest about its uncertainty. You can explain classification, regression and clustering well enough to know which fits a given business problem, without building any models yourself. You can automate a repetitive analyst task so it survives a data refresh. You can apply the verification checklist to catch AI's failure modes specifically. And you'll pitch your capstone proposal in five minutes, panel-style, which is a rehearsal for the real panel in Module 9."
DELIVERY CUE: Come back to this slide conceptually at the end of Topic 8.5 -- by then every line should be checked off.
TIMING: 1-2 minutes.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CONTENT: This is the opening slide of Module 8, and of the whole second half of the programme's applied-analysis track. Topic 8.1 sets up the module's centrepiece: a full-day pipeline lab where each trainee takes one raw file from mess to a short, verified report, AI-assisted at every stage, against a verification checklist. Everything taught in this topic is scaffolding for that lab, not an isolated lesson.
WHAT TO SAY: "Welcome to Module 8. In Module 7 we learned to model and query clean data. Today we go back to the beginning of the story: data before anyone has cleaned it. We're going to build a repeatable pipeline - clean, analyse, visualise, report - and we're going to use AI at every stage of it. But there's a catch, and it's the whole point of this topic: every single claim that comes out of that pipeline has to be checked against the data before it goes in a report. AI is fast. AI is also confidently wrong often enough that 'fast and unverified' is not a professional standard. By the end of this topic you'll have a verification checklist you'll use for the rest of the programme, and you'll have started the pipeline lab that runs through the rest of today."
DELIVERY CUE: Keep energy up here - this is a mode-shift from Module 7's modelling focus into hands-on production work. Signal that today is heavier on doing than on new theory.
TIMING: 1–2 minutes.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CONTENT: Deliberate retrieval practice, not a review lecture. Three prompts pull forward exactly the ideas Topic 8.1 depends on: schema literacy (needed to design the cleaned output), predict-then-run (the specific technique we reapply to AI pipeline output today), and a live example that AI output can be wrong in ways that look right (the whole justification for the verification checklist that follows).
WHAT TO SAY: "Ninety seconds, no notes. Question one: fact table versus dimension table, with a SwiftRoute example of each - go... Question two: what is predict-then-run, and why did we drill it in Module 7?... Question three: tell your neighbour one thing that went wrong when we let Gemini build slides for us back in Topic 7.1, and what we did differently afterwards."
DELIVERY CUE: Cold-call two or three trainees rather than opening it to volunteers only - retrieval practice works better when everyone has to be ready to answer. Accept partial answers and complete them yourself rather than lingering.
TIMING: 3–4 minutes including cold-calling.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CONTENT: The hook grounds the abstract 'AI-augmented pipeline' idea in the concrete artefact trainees will actually open this session: swiftroute_q3_raw.xlsx. It previews three of the real faults in that file (mixed date formats, text-formatted naira fees, messy rider names) without yet naming the full fault list - that comes later once the pipeline concept is in place.
WHAT TO SAY: "Picture Adaeze on a Monday morning. Quarter just closed. She's got a raw export sitting in her inbox - three sheets, thousands of rows, nobody's cleaned it yet. Dates typed five different ways in the same column. Some delivery fees are proper numbers, some are text that says something like naira-sign, four-five-thousand, comma. A rider's name is lowercase in one row and uppercase with a trailing space in another - which, by the way, to a computer, are two different riders. And somewhere in there, at least one delivery is logged twice. The board wants a verified one-pager by Wednesday. That file is not hypothetical - it's the one you're about to open."
DELIVERY CUE: Slow down on 'a computer, are two different riders' - it's the single clearest illustration of why messy text data breaks downstream analysis, and it's worth letting land before moving on.
TIMING: 2 minutes.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CONTENT: Four outcome cards, each an action verb, matching the topic scope in the programme's own breakdown: pipeline literacy, verification checklist application, predict-then-run transfer, and the practical on-ramp into the pipeline lab that structures the rest of the day.
WHAT TO SAY: "Four things you'll walk out able to do. Run a raw file through all four pipeline stages with AI helping at each one. Apply the verification checklist to anything AI hands you before it goes near a report. Explain predict-then-run as it applies to a whole pipeline's output, not just one formula. And start your own run of the pipeline lab on the SwiftRoute Q3 file, with your first cleaning pass already verified by the time you leave this topic."
DELIVERY CUE: Point at card four specifically - flag that this isn't just theory, they'll have real, checked output by the end of the session.
TIMING: 1 minute.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CONTENT: Section divider. Signals the shift from the hook/motivation framing into the core teaching content: naming and defining the four pipeline stages.
WHAT TO SAY: "Part one: the four-stage pipeline. We'll name each stage, say what it actually produces, and - for each one - where AI is genuinely useful versus where you still have to check its work yourself."
DELIVERY CUE: Brief. Let the slide do the work; move straight into content.
TIMING: 20–30 seconds.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CONTENT: Establishes the four-stage vocabulary trainees will use for the rest of the module: clean, analyse, visualise, report. Frames AI as an accelerant applied inside each stage, not a replacement for the stage sequence or for human verification.
WHAT TO SAY: "Four stages, always in this order. Clean: get the raw data to a state you can trust. Analyse: use that clean data to answer specific questions - not 'explore the data', specific questions. Visualise: turn the answers into something someone can read in five seconds. Report: write it up short, sourced, and ready for someone outside this room to act on. AI can help inside every one of those four stages. What it cannot do is skip the verification step, and neither can you."
DELIVERY CUE: Write the four words on a whiteboard or repeat them as a chant if the room allows it - clean, analyse, visualise, report - trainees will use this vocabulary for the rest of the lab.
TIMING: 2–3 minutes.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CONTENT: Concrete pairing of pipeline activity with what AI assistance typically looks like in practice. Visualise and report are combined into one card here purely for layout reasons (the two are shown separately as stage 3 and stage 4 on the concept slide just before this one) -- say so explicitly rather than let the shift in count go unremarked. Deliberately every 'tag' says 'AI HELPS', not 'AI DOES' -- the pull line underneath is the actual teaching point: verification against source data happens after every stage, not just at the end.
WHAT TO SAY: "Walk along this with me -- I've paired visualise and report into one card here just to fit the slide, they're still two distinct steps. Cleaning: AI is good at spotting 'this date column has five formats in it' and drafting the code to fix it. Analysis: AI can draft the aggregation, suggest a metric you hadn't thought of, explain what a calculation is doing. Visualise and report: AI is genuinely useful for picking a chart type, writing starter code, drafting prose and tightening your phrasing. Notice what's underneath all three cards: 'AI drafts, you verify against the source file before it moves forward.' That's not a caveat, that's the actual workflow. Verification isn't a step at the end, it's a habit inside every stage."
DELIVERY CUE: If someone asks 'so what does AI NOT help with' -- the honest answer is: deciding whether the output is actually correct. That judgement call stays human at every stage, always.
TIMING: 3-4 minutes.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CONTENT: Section divider into the verification content - the topic's other main teaching block, and the one most directly assessed later in 8.5.
WHAT TO SAY: "Part two. We know AI helps at every stage of the pipeline. Now the harder question: how do you actually check it? We're going to name the technique, build a checklist you'll reuse for the rest of the programme, and look at what AI genuinely gets wrong."
DELIVERY CUE: Brief, move into content quickly.
TIMING: 20–30 seconds.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CONTENT: Transfers predict-then-run (named in 7.2, 7.3, 7.5) explicitly to pipeline-scale AI output, per the handover's instruction that this technique needs repeating in Module 8 for it to actually transfer.
WHAT TO SAY: "You've done predict-then-run three times already this programme - predict what a formula should return, then run it and compare. Today we scale that up. Before you accept an AI-drafted cleaning step: what do you expect to change, and roughly how many rows? Before you accept a chart: what shape should it have? Before you accept a sentence in the report: what number does it cite, and have you found that number yourself in the file? If your answer to 'what did I expect before I looked' is nothing - you have no way to catch a wrong answer, however confident it sounds."
DELIVERY CUE: This is the conceptual core of the whole topic - slow down, consider a show-of-hands check ('who predicted an answer before running code last week, hands up') to make it concrete rather than abstract.
TIMING: 3 minutes.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CONTENT: A concrete before/after pair showing the exact failure mode (silent assumption change - AI quietly filtering data without saying so) that the verification checklist exists to catch. This is one of the three named AI failure modes assessed later in 8.5 (hallucinated values, plausible wrong code, silent assumption changes) - here it's shown in a realistic scenario rather than named abstractly.
WHAT TO SAY: "Same AI, same claim, two different outcomes. Left: AI says on-time rate improved to 91 percent. It sounds plausible, it goes straight in the slide. Nobody re-ran the number, nobody checked which rows it actually used. Turns out AI quietly filtered to one region without saying so - the real figure for the whole quarter is different. Right: same claim, but it doesn't go anywhere until someone recomputes it from the cleaned file and checks the row count and the filter logic. That's where the silent assumption gets caught. The AI didn't behave any differently between these two columns - the human habit did."
DELIVERY CUE: Emphasise the footnote out loud - it's the whole lesson in one sentence.
TIMING: 2–3 minutes.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CONTENT: The programme's reusable verification checklist, named across 7.3 and 7.5 per the handover and formally built out here, ready to be assessed in Topic 8.5. Five questions: source traceability, logic match, assumption sensitivity, reproducibility, and honest disclosure of limitations.
WHAT TO SAY: "Here's the checklist, five questions, and I want you writing these down because you'll use them for the rest of the programme. One: can you point to exactly where in the file this number comes from - not 'roughly', exactly. Two: does the logic actually match what was asked, or did it quietly answer a nearby but different question? Three: if you'd made a different reasonable choice - different filter, different date range - would the answer change? Four: could a colleague reproduce this from the raw file in under five minutes, using only what you wrote down? Five: are you stating the limitations honestly, or smoothing them over because the clean story is more satisfying?"
DELIVERY CUE: Have trainees copy these five questions into their own responsible data and AI record - the running document from 7.6 - right now, not later. This is the artefact they carry into the capstone.
TIMING: 4–5 minutes, including copy-down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CONTENT: Divider into the applied section, where the pipeline lab begins in earnest on the real swiftroute_q3_raw.xlsx file.
WHAT TO SAY: "Part three - and this is where we open the actual file. We'll look at exactly what's wrong with it, walk through a first cleaning pass together, and then it's your turn to verify it yourself."
DELIVERY CUE: This is the cue to have everyone actually open swiftroute_q3_raw.xlsx on their own machine if they haven't already.
TIMING: 20–30 seconds.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CONTENT: The complete, verified fault inventory for swiftroute_q3_raw.xlsx, matching SWIFTROUTE_Q3_FAULT_LOG.md exactly. Every count here (3,640 rows, 628, 288, 116, 6, 40) was recomputed from the actual generated file with verify_swiftroute_q3.py, not asserted from the generation script's internal bookkeeping - per the module's hard rule that every real-data number must be checked against the actual file, every time.
WHAT TO SAY: "Here's the full list, and I want you to notice something: I'm not telling you these numbers from memory, I ran a script against the actual file to get them, and you're going to do the same thing in a minute. Dates: every one of the 3,640 rows has its date typed in one of five different formats. Fees: every row's fee is stored as text with a naira sign and commas, not a number. Rider names: 628 rows have trailing spaces or inconsistent casing. Route codes: 288 rows belong to route LAG-07, but it's spelled two different ways. Statuses: 116 rows have a blank status - not a clearly-missing marker, an actual empty cell. Six rows have genuinely impossible values - four negative durations, two dates in 2027, which is outside this quarter entirely. And forty delivery IDs are duplicated, so eighty rows total are affected by that one."
DELIVERY CUE: Ask, before revealing the row: 'if delivery_id 40 rows are duplicated, how does that break a sum of total revenue?' - let someone answer (you'd double-count those deliveries) before moving to the next row.
TIMING: 4 minutes.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CONTENT: A single, honest worked example of predict-then-run applied to a real cleaning step on the real file: predicting the expected shape of the output before running AI-drafted code, then checking the actual result against that prediction and against the checklist. The numbers cited (3,640 rows, 0 parse failures, ₦640-₦6,160 actual range) are the true values from the generated file, recomputed directly from swiftroute_q3_raw.xlsx.
WHAT TO SAY: "Watch the sequence, not just the code. I asked AI for one thing: parse the messy dates, strip the naira formatting off the fees. It handed back this pandas snippet. Before I ran it, I predicted two things: dates should come out clean with zero parse errors, and fees should land somewhere between about four hundred naira and eight thousand, because that's roughly what I saw scrolling through the raw file by eye. Then I ran it. Zero parse failures across all 3,640 rows. Fees ranged ₦640 to ₦6,160 - inside my predicted range. Row count before and after: still 3,640, so nothing got silently dropped in the process. That matches my prediction, the row count is intact, and I can point to exactly where each of those numbers came from. This step passes the checklist. That's what 'verified' looks like in practice, not just in theory."
DELIVERY CUE: If time allows, actually run this cell live rather than just showing it as a screenshot-style slide - trainees trust a live run more than a static result.
TIMING: 4–5 minutes.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CONTENT: The first individually-run verification exercise of the pipeline lab. Trainees reproduce, with their own tools and their own AI assistance, three of the seven fault figures already shown on the fault-inventory slide  - deliberately reusing already-disclosed numbers so the exercise tests verification skill, not lucky guessing, and so facilitators can mark it instantly by eye.
WHAT TO SAY: "Twelve minutes, on your own machine. Open the raw file. Use AI if you want to, that's the point of the exercise, but you check its output before you trust it. Three questions: how many delivery IDs show up more than once, how many rows have a blank status, and how many different spellings does route LAG-07 have in this file. When you've got an answer, check it against the numbers on this slide. If yours doesn't match, don't just believe whatever AI tells you about why - go find the actual rows and work out what happened."
DELIVERY CUE: Circulate during the twelve minutes. The most common failure mode here will be trainees accepting an AI explanation of a mismatch without opening the file to check it themselves - that's the exact habit this topic is trying to build, so intervene on it directly when you see it.
TIMING: 12 minutes independent work, plus 2–3 minutes debrief.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CONTENT: Straight recap of the topic's five load-bearing ideas, closing on the topic's core message.
WHAT TO SAY: "Quick recap before we move on. The pipeline is always four stages in that order. AI helps at every stage but never removes the need to check. Predict-then-run now applies to whole pipeline outputs, not just one formula. You've got a five-question checklist you'll use for the rest of the programme. And you've already verified real numbers from this file yourself, not taken my word for them."
DELIVERY CUE: Read the pull line out loud, deliberately, as the closing line of the section: 'Fast is not the standard. Fast and verified is the standard.'
TIMING: 1–2 minutes.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CONTENT: Bridges from this topic into the rest of the pipeline lab (which continues beyond this deck's scope), previews Topic 8.2, and reinforces the 7.6 open thread on the responsible data and AI record.
WHAT TO SAY: "Here's where this goes. For the rest of today, you continue the pipeline lab on this same file - finish cleaning, move into analysis and visualisation, and build toward a one-page verified report, the same kind Adaeze needs by Wednesday. Next topic, 8.2, we look at forecasting with AI support - a simple trend forecast, stress-tested, with honest uncertainty. And on an ongoing basis: keep your responsible data and AI record updated. Log every place today where you actually applied the verification checklist - that record is part of your capstone evidence."
DELIVERY CUE: Confirm logistics for the rest of the pipeline lab session (room, break time, when the one-pager is due) before releasing the room.
TIMING: 1–2 minutes.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Slide-1-image-1.png"/><Relationship Id="rId2" Type="http://schemas.openxmlformats.org/officeDocument/2006/relationships/image" Target="../media/image-1-2.png"/><Relationship Id="rId3" Type="http://schemas.openxmlformats.org/officeDocument/2006/relationships/image" Target="../media/image-1-3.png"/><Relationship Id="rId4" Type="http://schemas.openxmlformats.org/officeDocument/2006/relationships/image" Target="../media/image-1-2.png"/><Relationship Id="rId5" Type="http://schemas.openxmlformats.org/officeDocument/2006/relationships/slideLayout" Target="../slideLayouts/slideLayout1.xml"/><Relationship Id="rId6"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Slide-2-image-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3.png"/><Relationship Id="rId5" Type="http://schemas.openxmlformats.org/officeDocument/2006/relationships/image" Target="../media/image-2-3.png"/><Relationship Id="rId6" Type="http://schemas.openxmlformats.org/officeDocument/2006/relationships/image" Target="../media/image-2-3.png"/><Relationship Id="rId7" Type="http://schemas.openxmlformats.org/officeDocument/2006/relationships/image" Target="../media/image-2-3.png"/><Relationship Id="rId8" Type="http://schemas.openxmlformats.org/officeDocument/2006/relationships/image" Target="../media/image-2-3.png"/><Relationship Id="rId9" Type="http://schemas.openxmlformats.org/officeDocument/2006/relationships/image" Target="../media/image-2-2.png"/><Relationship Id="rId10" Type="http://schemas.openxmlformats.org/officeDocument/2006/relationships/slideLayout" Target="../slideLayouts/slideLayout1.xml"/><Relationship Id="rId11"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Slide-3-image-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slideLayout" Target="../slideLayouts/slideLayout1.xml"/><Relationship Id="rId5"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Slide-4-image-1.png"/><Relationship Id="rId2" Type="http://schemas.openxmlformats.org/officeDocument/2006/relationships/image" Target="../media/image-4-2.png"/><Relationship Id="rId3" Type="http://schemas.openxmlformats.org/officeDocument/2006/relationships/slideLayout" Target="../slideLayouts/slideLayout1.xml"/><Relationship Id="rId4"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Slide-5-image-1.png"/><Relationship Id="rId2" Type="http://schemas.openxmlformats.org/officeDocument/2006/relationships/image" Target="../media/image-5-2.png"/><Relationship Id="rId3" Type="http://schemas.openxmlformats.org/officeDocument/2006/relationships/slideLayout" Target="../slideLayouts/slideLayout1.xml"/><Relationship Id="rId4"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Slide-6-image-1.png"/><Relationship Id="rId2" Type="http://schemas.openxmlformats.org/officeDocument/2006/relationships/image" Target="../media/image-6-2.png"/><Relationship Id="rId3" Type="http://schemas.openxmlformats.org/officeDocument/2006/relationships/slideLayout" Target="../slideLayouts/slideLayout1.xml"/><Relationship Id="rId4"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Slide-7-image-1.png"/><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Slide-8-image-1.png"/><Relationship Id="rId2" Type="http://schemas.openxmlformats.org/officeDocument/2006/relationships/image" Target="../media/image-8-2.png"/><Relationship Id="rId3" Type="http://schemas.openxmlformats.org/officeDocument/2006/relationships/slideLayout" Target="../slideLayouts/slideLayout1.xml"/><Relationship Id="rId4"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Slide-9-image-1.png"/><Relationship Id="rId2" Type="http://schemas.openxmlformats.org/officeDocument/2006/relationships/image" Target="../media/image-9-2.png"/><Relationship Id="rId3" Type="http://schemas.openxmlformats.org/officeDocument/2006/relationships/slideLayout" Target="../slideLayouts/slideLayout1.xml"/><Relationship Id="rId4"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Slide-10-image-1.png"/><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Slide-11-image-1.png"/><Relationship Id="rId2" Type="http://schemas.openxmlformats.org/officeDocument/2006/relationships/image" Target="../media/image-11-2.png"/><Relationship Id="rId3" Type="http://schemas.openxmlformats.org/officeDocument/2006/relationships/slideLayout" Target="../slideLayouts/slideLayout1.xml"/><Relationship Id="rId4"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Slide-12-image-1.png"/><Relationship Id="rId2" Type="http://schemas.openxmlformats.org/officeDocument/2006/relationships/image" Target="../media/image-12-2.png"/><Relationship Id="rId3" Type="http://schemas.openxmlformats.org/officeDocument/2006/relationships/slideLayout" Target="../slideLayouts/slideLayout1.xml"/><Relationship Id="rId4"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Slide-13-image-1.png"/><Relationship Id="rId2" Type="http://schemas.openxmlformats.org/officeDocument/2006/relationships/image" Target="../media/image-13-2.png"/><Relationship Id="rId3" Type="http://schemas.openxmlformats.org/officeDocument/2006/relationships/slideLayout" Target="../slideLayouts/slideLayout1.xml"/><Relationship Id="rId4"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Slide-14-image-1.png"/><Relationship Id="rId2" Type="http://schemas.openxmlformats.org/officeDocument/2006/relationships/slideLayout" Target="../slideLayouts/slideLayout1.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Slide-15-image-1.png"/><Relationship Id="rId2" Type="http://schemas.openxmlformats.org/officeDocument/2006/relationships/image" Target="../media/image-15-2.png"/><Relationship Id="rId3" Type="http://schemas.openxmlformats.org/officeDocument/2006/relationships/slideLayout" Target="../slideLayouts/slideLayout1.xml"/><Relationship Id="rId4"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Slide-16-image-1.png"/><Relationship Id="rId2" Type="http://schemas.openxmlformats.org/officeDocument/2006/relationships/image" Target="../media/image-16-2.png"/><Relationship Id="rId3" Type="http://schemas.openxmlformats.org/officeDocument/2006/relationships/slideLayout" Target="../slideLayouts/slideLayout1.xml"/><Relationship Id="rId4"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Slide-17-image-1.png"/><Relationship Id="rId2" Type="http://schemas.openxmlformats.org/officeDocument/2006/relationships/image" Target="../media/image-17-2.png"/><Relationship Id="rId3" Type="http://schemas.openxmlformats.org/officeDocument/2006/relationships/slideLayout" Target="../slideLayouts/slideLayout1.xml"/><Relationship Id="rId4"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Slide-18-image-1.png"/><Relationship Id="rId2" Type="http://schemas.openxmlformats.org/officeDocument/2006/relationships/image" Target="../media/image-18-2.png"/><Relationship Id="rId3" Type="http://schemas.openxmlformats.org/officeDocument/2006/relationships/image" Target="../media/image-18-2.png"/><Relationship Id="rId4" Type="http://schemas.openxmlformats.org/officeDocument/2006/relationships/image" Target="../media/image-18-2.png"/><Relationship Id="rId5" Type="http://schemas.openxmlformats.org/officeDocument/2006/relationships/image" Target="../media/image-18-2.png"/><Relationship Id="rId6" Type="http://schemas.openxmlformats.org/officeDocument/2006/relationships/image" Target="../media/image-18-2.png"/><Relationship Id="rId7" Type="http://schemas.openxmlformats.org/officeDocument/2006/relationships/image" Target="../media/image-18-7.png"/><Relationship Id="rId8" Type="http://schemas.openxmlformats.org/officeDocument/2006/relationships/slideLayout" Target="../slideLayouts/slideLayout1.xml"/><Relationship Id="rId9"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Slide-19-image-1.png"/><Relationship Id="rId2" Type="http://schemas.openxmlformats.org/officeDocument/2006/relationships/image" Target="../media/image-19-2.png"/><Relationship Id="rId3" Type="http://schemas.openxmlformats.org/officeDocument/2006/relationships/slideLayout" Target="../slideLayouts/slideLayout1.xml"/><Relationship Id="rId4" Type="http://schemas.openxmlformats.org/officeDocument/2006/relationships/notesSlide" Target="../notesSlides/notesSlide19.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pic>
        <p:nvPicPr>
          <p:cNvPr id="2" name="Image 0" descr="/home/claude/assets/logo_full.png">    </p:cNvPr>
          <p:cNvPicPr>
            <a:picLocks noChangeAspect="1"/>
          </p:cNvPicPr>
          <p:nvPr/>
        </p:nvPicPr>
        <p:blipFill>
          <a:blip r:embed="rId2"/>
          <a:stretch>
            <a:fillRect/>
          </a:stretch>
        </p:blipFill>
        <p:spPr>
          <a:xfrm>
            <a:off x="685800" y="502920"/>
            <a:ext cx="1371600" cy="1192807"/>
          </a:xfrm>
          <a:prstGeom prst="rect">
            <a:avLst/>
          </a:prstGeom>
        </p:spPr>
      </p:pic>
      <p:sp>
        <p:nvSpPr>
          <p:cNvPr id="3" name="Text 0"/>
          <p:cNvSpPr txBox="1"/>
          <p:nvPr/>
        </p:nvSpPr>
        <p:spPr>
          <a:xfrm>
            <a:off x="685800" y="2377440"/>
            <a:ext cx="9601200" cy="411480"/>
          </a:xfrm>
          <a:prstGeom prst="rect">
            <a:avLst/>
          </a:prstGeom>
          <a:noFill/>
          <a:ln/>
        </p:spPr>
        <p:txBody>
          <a:bodyPr wrap="square" lIns="0" tIns="0" rIns="0" bIns="0" rtlCol="0" anchor="ctr"/>
          <a:lstStyle/>
          <a:p>
            <a:pPr indent="0" marL="0">
              <a:buNone/>
            </a:pPr>
            <a:r>
              <a:rPr lang="en-US" sz="1950" b="1" dirty="0">
                <a:solidFill>
                  <a:srgbClr val="64748B"/>
                </a:solidFill>
                <a:latin typeface="Inter Bold" pitchFamily="34" charset="0"/>
                <a:ea typeface="Inter Bold" pitchFamily="34" charset="-122"/>
                <a:cs typeface="Inter Bold" pitchFamily="34" charset="-120"/>
              </a:rPr>
              <a:t>Module 8: AI-Assisted Data Analysis</a:t>
            </a:r>
            <a:endParaRPr lang="en-US" sz="1950" dirty="0"/>
          </a:p>
        </p:txBody>
      </p:sp>
      <p:sp>
        <p:nvSpPr>
          <p:cNvPr id="4" name="Text 1"/>
          <p:cNvSpPr txBox="1"/>
          <p:nvPr/>
        </p:nvSpPr>
        <p:spPr>
          <a:xfrm>
            <a:off x="658368" y="2880360"/>
            <a:ext cx="10058400" cy="2011680"/>
          </a:xfrm>
          <a:prstGeom prst="rect">
            <a:avLst/>
          </a:prstGeom>
          <a:noFill/>
          <a:ln/>
        </p:spPr>
        <p:txBody>
          <a:bodyPr wrap="square" lIns="0" tIns="0" rIns="0" bIns="0" rtlCol="0" anchor="ctr"/>
          <a:lstStyle/>
          <a:p>
            <a:pPr indent="0" marL="0">
              <a:lnSpc>
                <a:spcPct val="103000"/>
              </a:lnSpc>
              <a:buNone/>
            </a:pPr>
            <a:r>
              <a:rPr lang="en-US" sz="5800" b="1" dirty="0">
                <a:solidFill>
                  <a:srgbClr val="000000"/>
                </a:solidFill>
                <a:latin typeface="Poppins" pitchFamily="34" charset="0"/>
                <a:ea typeface="Poppins" pitchFamily="34" charset="-122"/>
                <a:cs typeface="Poppins" pitchFamily="34" charset="-120"/>
              </a:rPr>
              <a:t>From Raw Data to</a:t>
            </a:r>
            <a:endParaRPr lang="en-US" sz="5800" dirty="0"/>
          </a:p>
          <a:p>
            <a:pPr indent="0" marL="0">
              <a:lnSpc>
                <a:spcPct val="103000"/>
              </a:lnSpc>
              <a:buNone/>
            </a:pPr>
            <a:r>
              <a:rPr lang="en-US" sz="5800" b="1" dirty="0">
                <a:solidFill>
                  <a:srgbClr val="000000"/>
                </a:solidFill>
                <a:latin typeface="Poppins" pitchFamily="34" charset="0"/>
                <a:ea typeface="Poppins" pitchFamily="34" charset="-122"/>
                <a:cs typeface="Poppins" pitchFamily="34" charset="-120"/>
              </a:rPr>
              <a:t>Verified Report</a:t>
            </a:r>
            <a:endParaRPr lang="en-US" sz="5800" dirty="0"/>
          </a:p>
        </p:txBody>
      </p:sp>
      <p:sp>
        <p:nvSpPr>
          <p:cNvPr id="5" name="Shape 2"/>
          <p:cNvSpPr/>
          <p:nvPr/>
        </p:nvSpPr>
        <p:spPr>
          <a:xfrm>
            <a:off x="685800" y="5806440"/>
            <a:ext cx="10817352" cy="0"/>
          </a:xfrm>
          <a:prstGeom prst="line">
            <a:avLst/>
          </a:prstGeom>
          <a:noFill/>
          <a:ln w="12700">
            <a:solidFill>
              <a:srgbClr val="E2E8F0"/>
            </a:solidFill>
            <a:prstDash val="solid"/>
          </a:ln>
        </p:spPr>
      </p:sp>
      <p:pic>
        <p:nvPicPr>
          <p:cNvPr id="6" name="Image 1" descr="/home/claude/assets/icon_stack.png">    </p:cNvPr>
          <p:cNvPicPr>
            <a:picLocks noChangeAspect="1"/>
          </p:cNvPicPr>
          <p:nvPr/>
        </p:nvPicPr>
        <p:blipFill>
          <a:blip r:embed="rId3"/>
          <a:stretch>
            <a:fillRect/>
          </a:stretch>
        </p:blipFill>
        <p:spPr>
          <a:xfrm>
            <a:off x="685800" y="5989320"/>
            <a:ext cx="201168" cy="182880"/>
          </a:xfrm>
          <a:prstGeom prst="rect">
            <a:avLst/>
          </a:prstGeom>
        </p:spPr>
      </p:pic>
      <p:sp>
        <p:nvSpPr>
          <p:cNvPr id="7" name="Text 3"/>
          <p:cNvSpPr txBox="1"/>
          <p:nvPr/>
        </p:nvSpPr>
        <p:spPr>
          <a:xfrm>
            <a:off x="960120" y="5943600"/>
            <a:ext cx="3657600" cy="274320"/>
          </a:xfrm>
          <a:prstGeom prst="rect">
            <a:avLst/>
          </a:prstGeom>
          <a:noFill/>
          <a:ln/>
        </p:spPr>
        <p:txBody>
          <a:bodyPr wrap="square" lIns="0" tIns="0" rIns="0" bIns="0" rtlCol="0" anchor="ctr"/>
          <a:lstStyle/>
          <a:p>
            <a:pPr indent="0" marL="0">
              <a:buNone/>
            </a:pPr>
            <a:r>
              <a:rPr lang="en-US" sz="1400" dirty="0">
                <a:solidFill>
                  <a:srgbClr val="64748B"/>
                </a:solidFill>
                <a:latin typeface="Inter" pitchFamily="34" charset="0"/>
                <a:ea typeface="Inter" pitchFamily="34" charset="-122"/>
                <a:cs typeface="Inter" pitchFamily="34" charset="-120"/>
              </a:rPr>
              <a:t>Topic 8.1 of 6</a:t>
            </a:r>
            <a:endParaRPr lang="en-US" sz="1400" dirty="0"/>
          </a:p>
        </p:txBody>
      </p:sp>
      <p:pic>
        <p:nvPicPr>
          <p:cNvPr id="8" name="Image 2" descr="/home/claude/assets/logo_full.png">    </p:cNvPr>
          <p:cNvPicPr>
            <a:picLocks noChangeAspect="1"/>
          </p:cNvPicPr>
          <p:nvPr/>
        </p:nvPicPr>
        <p:blipFill>
          <a:blip r:embed="rId4"/>
          <a:stretch>
            <a:fillRect/>
          </a:stretch>
        </p:blipFill>
        <p:spPr>
          <a:xfrm>
            <a:off x="11002975" y="6355080"/>
            <a:ext cx="502920" cy="437362"/>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11024006" y="1958645"/>
            <a:ext cx="4133088" cy="4038905"/>
          </a:xfrm>
          <a:prstGeom prst="ellipse">
            <a:avLst/>
          </a:prstGeom>
          <a:solidFill>
            <a:srgbClr val="387F7F"/>
          </a:solidFill>
          <a:ln/>
        </p:spPr>
      </p:sp>
      <p:sp>
        <p:nvSpPr>
          <p:cNvPr id="3" name="Shape 1"/>
          <p:cNvSpPr/>
          <p:nvPr/>
        </p:nvSpPr>
        <p:spPr>
          <a:xfrm>
            <a:off x="11316614" y="2675534"/>
            <a:ext cx="1051560" cy="2162556"/>
          </a:xfrm>
          <a:prstGeom prst="ellipse">
            <a:avLst/>
          </a:prstGeom>
          <a:solidFill>
            <a:srgbClr val="387F7F"/>
          </a:solidFill>
          <a:ln/>
        </p:spPr>
      </p:sp>
      <p:pic>
        <p:nvPicPr>
          <p:cNvPr id="4" name="Image 0" descr="/home/claude/assets/logo_full.png">    </p:cNvPr>
          <p:cNvPicPr>
            <a:picLocks noChangeAspect="1"/>
          </p:cNvPicPr>
          <p:nvPr/>
        </p:nvPicPr>
        <p:blipFill>
          <a:blip r:embed="rId2"/>
          <a:stretch>
            <a:fillRect/>
          </a:stretch>
        </p:blipFill>
        <p:spPr>
          <a:xfrm>
            <a:off x="10545775" y="457200"/>
            <a:ext cx="960120" cy="834965"/>
          </a:xfrm>
          <a:prstGeom prst="rect">
            <a:avLst/>
          </a:prstGeom>
        </p:spPr>
      </p:pic>
      <p:sp>
        <p:nvSpPr>
          <p:cNvPr id="5" name="Shape 2"/>
          <p:cNvSpPr/>
          <p:nvPr/>
        </p:nvSpPr>
        <p:spPr>
          <a:xfrm>
            <a:off x="685800" y="548640"/>
            <a:ext cx="54864" cy="411480"/>
          </a:xfrm>
          <a:prstGeom prst="rect">
            <a:avLst/>
          </a:prstGeom>
          <a:solidFill>
            <a:srgbClr val="387F7F"/>
          </a:solidFill>
          <a:ln/>
        </p:spPr>
      </p:sp>
      <p:sp>
        <p:nvSpPr>
          <p:cNvPr id="6" name="Text 3"/>
          <p:cNvSpPr txBox="1"/>
          <p:nvPr/>
        </p:nvSpPr>
        <p:spPr>
          <a:xfrm>
            <a:off x="868680" y="502920"/>
            <a:ext cx="6400800" cy="685800"/>
          </a:xfrm>
          <a:prstGeom prst="rect">
            <a:avLst/>
          </a:prstGeom>
          <a:noFill/>
          <a:ln/>
        </p:spPr>
        <p:txBody>
          <a:bodyPr wrap="square" lIns="0" tIns="0" rIns="0" bIns="0" rtlCol="0" anchor="t"/>
          <a:lstStyle/>
          <a:p>
            <a:pPr indent="0" marL="0">
              <a:lnSpc>
                <a:spcPct val="110000"/>
              </a:lnSpc>
              <a:buNone/>
            </a:pPr>
            <a:r>
              <a:rPr lang="en-US" sz="3300" dirty="0">
                <a:solidFill>
                  <a:srgbClr val="387F7F"/>
                </a:solidFill>
                <a:latin typeface="Poppins" pitchFamily="34" charset="0"/>
                <a:ea typeface="Poppins" pitchFamily="34" charset="-122"/>
                <a:cs typeface="Poppins" pitchFamily="34" charset="-120"/>
              </a:rPr>
              <a:t>MODULE 8 OBJECTIVES</a:t>
            </a:r>
            <a:endParaRPr lang="en-US" sz="3300" dirty="0"/>
          </a:p>
        </p:txBody>
      </p:sp>
      <p:pic>
        <p:nvPicPr>
          <p:cNvPr id="7" name="Image 1" descr="/home/claude/assets/icon_check.png">    </p:cNvPr>
          <p:cNvPicPr>
            <a:picLocks noChangeAspect="1"/>
          </p:cNvPicPr>
          <p:nvPr/>
        </p:nvPicPr>
        <p:blipFill>
          <a:blip r:embed="rId3"/>
          <a:stretch>
            <a:fillRect/>
          </a:stretch>
        </p:blipFill>
        <p:spPr>
          <a:xfrm>
            <a:off x="777240" y="1709928"/>
            <a:ext cx="274320" cy="274320"/>
          </a:xfrm>
          <a:prstGeom prst="rect">
            <a:avLst/>
          </a:prstGeom>
        </p:spPr>
      </p:pic>
      <p:sp>
        <p:nvSpPr>
          <p:cNvPr id="8" name="Text 4"/>
          <p:cNvSpPr txBox="1"/>
          <p:nvPr/>
        </p:nvSpPr>
        <p:spPr>
          <a:xfrm>
            <a:off x="1207008" y="1645920"/>
            <a:ext cx="6217920" cy="457200"/>
          </a:xfrm>
          <a:prstGeom prst="rect">
            <a:avLst/>
          </a:prstGeom>
          <a:noFill/>
          <a:ln/>
        </p:spPr>
        <p:txBody>
          <a:bodyPr wrap="square" lIns="0" tIns="0" rIns="0" bIns="0" rtlCol="0" anchor="t"/>
          <a:lstStyle/>
          <a:p>
            <a:pPr algn="l" indent="0" marL="0">
              <a:lnSpc>
                <a:spcPct val="130000"/>
              </a:lnSpc>
              <a:buNone/>
            </a:pPr>
            <a:r>
              <a:rPr lang="en-US" sz="1450" dirty="0">
                <a:solidFill>
                  <a:srgbClr val="475569"/>
                </a:solidFill>
                <a:latin typeface="Poppins" pitchFamily="34" charset="0"/>
                <a:ea typeface="Poppins" pitchFamily="34" charset="-122"/>
                <a:cs typeface="Poppins" pitchFamily="34" charset="-120"/>
              </a:rPr>
              <a:t>Run a full AI-assisted pipeline: clean, analyse, visualise, report.</a:t>
            </a:r>
            <a:endParaRPr lang="en-US" sz="1450" dirty="0"/>
          </a:p>
        </p:txBody>
      </p:sp>
      <p:pic>
        <p:nvPicPr>
          <p:cNvPr id="9" name="Image 2" descr="/home/claude/assets/icon_check.png">    </p:cNvPr>
          <p:cNvPicPr>
            <a:picLocks noChangeAspect="1"/>
          </p:cNvPicPr>
          <p:nvPr/>
        </p:nvPicPr>
        <p:blipFill>
          <a:blip r:embed="rId4"/>
          <a:stretch>
            <a:fillRect/>
          </a:stretch>
        </p:blipFill>
        <p:spPr>
          <a:xfrm>
            <a:off x="777240" y="2331720"/>
            <a:ext cx="274320" cy="274320"/>
          </a:xfrm>
          <a:prstGeom prst="rect">
            <a:avLst/>
          </a:prstGeom>
        </p:spPr>
      </p:pic>
      <p:sp>
        <p:nvSpPr>
          <p:cNvPr id="10" name="Text 5"/>
          <p:cNvSpPr txBox="1"/>
          <p:nvPr/>
        </p:nvSpPr>
        <p:spPr>
          <a:xfrm>
            <a:off x="1207008" y="2267712"/>
            <a:ext cx="6217920" cy="457200"/>
          </a:xfrm>
          <a:prstGeom prst="rect">
            <a:avLst/>
          </a:prstGeom>
          <a:noFill/>
          <a:ln/>
        </p:spPr>
        <p:txBody>
          <a:bodyPr wrap="square" lIns="0" tIns="0" rIns="0" bIns="0" rtlCol="0" anchor="t"/>
          <a:lstStyle/>
          <a:p>
            <a:pPr algn="l" indent="0" marL="0">
              <a:lnSpc>
                <a:spcPct val="130000"/>
              </a:lnSpc>
              <a:buNone/>
            </a:pPr>
            <a:r>
              <a:rPr lang="en-US" sz="1450" dirty="0">
                <a:solidFill>
                  <a:srgbClr val="475569"/>
                </a:solidFill>
                <a:latin typeface="Poppins" pitchFamily="34" charset="0"/>
                <a:ea typeface="Poppins" pitchFamily="34" charset="-122"/>
                <a:cs typeface="Poppins" pitchFamily="34" charset="-120"/>
              </a:rPr>
              <a:t>Build a simple AI-assisted forecast and communicate its uncertainty.</a:t>
            </a:r>
            <a:endParaRPr lang="en-US" sz="1450" dirty="0"/>
          </a:p>
        </p:txBody>
      </p:sp>
      <p:pic>
        <p:nvPicPr>
          <p:cNvPr id="11" name="Image 3" descr="/home/claude/assets/icon_check.png">    </p:cNvPr>
          <p:cNvPicPr>
            <a:picLocks noChangeAspect="1"/>
          </p:cNvPicPr>
          <p:nvPr/>
        </p:nvPicPr>
        <p:blipFill>
          <a:blip r:embed="rId5"/>
          <a:stretch>
            <a:fillRect/>
          </a:stretch>
        </p:blipFill>
        <p:spPr>
          <a:xfrm>
            <a:off x="777240" y="2953512"/>
            <a:ext cx="274320" cy="274320"/>
          </a:xfrm>
          <a:prstGeom prst="rect">
            <a:avLst/>
          </a:prstGeom>
        </p:spPr>
      </p:pic>
      <p:sp>
        <p:nvSpPr>
          <p:cNvPr id="12" name="Text 6"/>
          <p:cNvSpPr txBox="1"/>
          <p:nvPr/>
        </p:nvSpPr>
        <p:spPr>
          <a:xfrm>
            <a:off x="1207008" y="2889504"/>
            <a:ext cx="6217920" cy="457200"/>
          </a:xfrm>
          <a:prstGeom prst="rect">
            <a:avLst/>
          </a:prstGeom>
          <a:noFill/>
          <a:ln/>
        </p:spPr>
        <p:txBody>
          <a:bodyPr wrap="square" lIns="0" tIns="0" rIns="0" bIns="0" rtlCol="0" anchor="t"/>
          <a:lstStyle/>
          <a:p>
            <a:pPr algn="l" indent="0" marL="0">
              <a:lnSpc>
                <a:spcPct val="130000"/>
              </a:lnSpc>
              <a:buNone/>
            </a:pPr>
            <a:r>
              <a:rPr lang="en-US" sz="1450" dirty="0">
                <a:solidFill>
                  <a:srgbClr val="475569"/>
                </a:solidFill>
                <a:latin typeface="Poppins" pitchFamily="34" charset="0"/>
                <a:ea typeface="Poppins" pitchFamily="34" charset="-122"/>
                <a:cs typeface="Poppins" pitchFamily="34" charset="-120"/>
              </a:rPr>
              <a:t>Explain classification, regression and clustering in plain language.</a:t>
            </a:r>
            <a:endParaRPr lang="en-US" sz="1450" dirty="0"/>
          </a:p>
        </p:txBody>
      </p:sp>
      <p:pic>
        <p:nvPicPr>
          <p:cNvPr id="13" name="Image 4" descr="/home/claude/assets/icon_check.png">    </p:cNvPr>
          <p:cNvPicPr>
            <a:picLocks noChangeAspect="1"/>
          </p:cNvPicPr>
          <p:nvPr/>
        </p:nvPicPr>
        <p:blipFill>
          <a:blip r:embed="rId6"/>
          <a:stretch>
            <a:fillRect/>
          </a:stretch>
        </p:blipFill>
        <p:spPr>
          <a:xfrm>
            <a:off x="777240" y="3575304"/>
            <a:ext cx="274320" cy="274320"/>
          </a:xfrm>
          <a:prstGeom prst="rect">
            <a:avLst/>
          </a:prstGeom>
        </p:spPr>
      </p:pic>
      <p:sp>
        <p:nvSpPr>
          <p:cNvPr id="14" name="Text 7"/>
          <p:cNvSpPr txBox="1"/>
          <p:nvPr/>
        </p:nvSpPr>
        <p:spPr>
          <a:xfrm>
            <a:off x="1207008" y="3511296"/>
            <a:ext cx="6217920" cy="457200"/>
          </a:xfrm>
          <a:prstGeom prst="rect">
            <a:avLst/>
          </a:prstGeom>
          <a:noFill/>
          <a:ln/>
        </p:spPr>
        <p:txBody>
          <a:bodyPr wrap="square" lIns="0" tIns="0" rIns="0" bIns="0" rtlCol="0" anchor="t"/>
          <a:lstStyle/>
          <a:p>
            <a:pPr algn="l" indent="0" marL="0">
              <a:lnSpc>
                <a:spcPct val="130000"/>
              </a:lnSpc>
              <a:buNone/>
            </a:pPr>
            <a:r>
              <a:rPr lang="en-US" sz="1450" dirty="0">
                <a:solidFill>
                  <a:srgbClr val="475569"/>
                </a:solidFill>
                <a:latin typeface="Poppins" pitchFamily="34" charset="0"/>
                <a:ea typeface="Poppins" pitchFamily="34" charset="-122"/>
                <a:cs typeface="Poppins" pitchFamily="34" charset="-120"/>
              </a:rPr>
              <a:t>Automate a repetitive analyst task so it survives a data refresh.</a:t>
            </a:r>
            <a:endParaRPr lang="en-US" sz="1450" dirty="0"/>
          </a:p>
        </p:txBody>
      </p:sp>
      <p:pic>
        <p:nvPicPr>
          <p:cNvPr id="15" name="Image 5" descr="/home/claude/assets/icon_check.png">    </p:cNvPr>
          <p:cNvPicPr>
            <a:picLocks noChangeAspect="1"/>
          </p:cNvPicPr>
          <p:nvPr/>
        </p:nvPicPr>
        <p:blipFill>
          <a:blip r:embed="rId7"/>
          <a:stretch>
            <a:fillRect/>
          </a:stretch>
        </p:blipFill>
        <p:spPr>
          <a:xfrm>
            <a:off x="777240" y="4197096"/>
            <a:ext cx="274320" cy="274320"/>
          </a:xfrm>
          <a:prstGeom prst="rect">
            <a:avLst/>
          </a:prstGeom>
        </p:spPr>
      </p:pic>
      <p:sp>
        <p:nvSpPr>
          <p:cNvPr id="16" name="Text 8"/>
          <p:cNvSpPr txBox="1"/>
          <p:nvPr/>
        </p:nvSpPr>
        <p:spPr>
          <a:xfrm>
            <a:off x="1207008" y="4133088"/>
            <a:ext cx="6217920" cy="457200"/>
          </a:xfrm>
          <a:prstGeom prst="rect">
            <a:avLst/>
          </a:prstGeom>
          <a:noFill/>
          <a:ln/>
        </p:spPr>
        <p:txBody>
          <a:bodyPr wrap="square" lIns="0" tIns="0" rIns="0" bIns="0" rtlCol="0" anchor="t"/>
          <a:lstStyle/>
          <a:p>
            <a:pPr algn="l" indent="0" marL="0">
              <a:lnSpc>
                <a:spcPct val="130000"/>
              </a:lnSpc>
              <a:buNone/>
            </a:pPr>
            <a:r>
              <a:rPr lang="en-US" sz="1450" dirty="0">
                <a:solidFill>
                  <a:srgbClr val="475569"/>
                </a:solidFill>
                <a:latin typeface="Poppins" pitchFamily="34" charset="0"/>
                <a:ea typeface="Poppins" pitchFamily="34" charset="-122"/>
                <a:cs typeface="Poppins" pitchFamily="34" charset="-120"/>
              </a:rPr>
              <a:t>Apply the verification checklist to catch AI's failure modes.</a:t>
            </a:r>
            <a:endParaRPr lang="en-US" sz="1450" dirty="0"/>
          </a:p>
        </p:txBody>
      </p:sp>
      <p:pic>
        <p:nvPicPr>
          <p:cNvPr id="17" name="Image 6" descr="/home/claude/assets/icon_check.png">    </p:cNvPr>
          <p:cNvPicPr>
            <a:picLocks noChangeAspect="1"/>
          </p:cNvPicPr>
          <p:nvPr/>
        </p:nvPicPr>
        <p:blipFill>
          <a:blip r:embed="rId8"/>
          <a:stretch>
            <a:fillRect/>
          </a:stretch>
        </p:blipFill>
        <p:spPr>
          <a:xfrm>
            <a:off x="777240" y="4818888"/>
            <a:ext cx="274320" cy="274320"/>
          </a:xfrm>
          <a:prstGeom prst="rect">
            <a:avLst/>
          </a:prstGeom>
        </p:spPr>
      </p:pic>
      <p:sp>
        <p:nvSpPr>
          <p:cNvPr id="18" name="Text 9"/>
          <p:cNvSpPr txBox="1"/>
          <p:nvPr/>
        </p:nvSpPr>
        <p:spPr>
          <a:xfrm>
            <a:off x="1207008" y="4754880"/>
            <a:ext cx="6217920" cy="457200"/>
          </a:xfrm>
          <a:prstGeom prst="rect">
            <a:avLst/>
          </a:prstGeom>
          <a:noFill/>
          <a:ln/>
        </p:spPr>
        <p:txBody>
          <a:bodyPr wrap="square" lIns="0" tIns="0" rIns="0" bIns="0" rtlCol="0" anchor="t"/>
          <a:lstStyle/>
          <a:p>
            <a:pPr algn="l" indent="0" marL="0">
              <a:lnSpc>
                <a:spcPct val="130000"/>
              </a:lnSpc>
              <a:buNone/>
            </a:pPr>
            <a:r>
              <a:rPr lang="en-US" sz="1450" dirty="0">
                <a:solidFill>
                  <a:srgbClr val="475569"/>
                </a:solidFill>
                <a:latin typeface="Poppins" pitchFamily="34" charset="0"/>
                <a:ea typeface="Poppins" pitchFamily="34" charset="-122"/>
                <a:cs typeface="Poppins" pitchFamily="34" charset="-120"/>
              </a:rPr>
              <a:t>Pitch your capstone proposal in five minutes, panel-style.</a:t>
            </a:r>
            <a:endParaRPr lang="en-US" sz="1450" dirty="0"/>
          </a:p>
        </p:txBody>
      </p:sp>
      <p:sp>
        <p:nvSpPr>
          <p:cNvPr id="19" name="Shape 10"/>
          <p:cNvSpPr/>
          <p:nvPr/>
        </p:nvSpPr>
        <p:spPr>
          <a:xfrm>
            <a:off x="8092440" y="1417320"/>
            <a:ext cx="3383280" cy="4206240"/>
          </a:xfrm>
          <a:prstGeom prst="roundRect">
            <a:avLst>
              <a:gd name="adj" fmla="val 3243"/>
            </a:avLst>
          </a:prstGeom>
          <a:solidFill>
            <a:srgbClr val="F4F7F7"/>
          </a:solidFill>
          <a:ln w="12700">
            <a:solidFill>
              <a:srgbClr val="E2E8F0"/>
            </a:solidFill>
            <a:prstDash val="solid"/>
          </a:ln>
        </p:spPr>
      </p:sp>
      <p:sp>
        <p:nvSpPr>
          <p:cNvPr id="20" name="Text 11"/>
          <p:cNvSpPr txBox="1"/>
          <p:nvPr/>
        </p:nvSpPr>
        <p:spPr>
          <a:xfrm>
            <a:off x="8092440" y="2880360"/>
            <a:ext cx="3383280" cy="640080"/>
          </a:xfrm>
          <a:prstGeom prst="rect">
            <a:avLst/>
          </a:prstGeom>
          <a:noFill/>
          <a:ln/>
        </p:spPr>
        <p:txBody>
          <a:bodyPr wrap="square" lIns="0" tIns="0" rIns="0" bIns="0" rtlCol="0" anchor="ctr"/>
          <a:lstStyle/>
          <a:p>
            <a:pPr algn="ctr" indent="0" marL="0">
              <a:buNone/>
            </a:pPr>
            <a:r>
              <a:rPr lang="en-US" sz="3000" dirty="0">
                <a:solidFill>
                  <a:srgbClr val="64748B"/>
                </a:solidFill>
                <a:latin typeface="Poppins" pitchFamily="34" charset="0"/>
                <a:ea typeface="Poppins" pitchFamily="34" charset="-122"/>
                <a:cs typeface="Poppins" pitchFamily="34" charset="-120"/>
              </a:rPr>
              <a:t>▦</a:t>
            </a:r>
            <a:endParaRPr lang="en-US" sz="3000" dirty="0"/>
          </a:p>
        </p:txBody>
      </p:sp>
      <p:sp>
        <p:nvSpPr>
          <p:cNvPr id="21" name="Text 12"/>
          <p:cNvSpPr txBox="1"/>
          <p:nvPr/>
        </p:nvSpPr>
        <p:spPr>
          <a:xfrm>
            <a:off x="8321040" y="3474720"/>
            <a:ext cx="2926080" cy="320040"/>
          </a:xfrm>
          <a:prstGeom prst="rect">
            <a:avLst/>
          </a:prstGeom>
          <a:noFill/>
          <a:ln/>
        </p:spPr>
        <p:txBody>
          <a:bodyPr wrap="square" lIns="0" tIns="0" rIns="0" bIns="0" rtlCol="0" anchor="ctr"/>
          <a:lstStyle/>
          <a:p>
            <a:pPr algn="ctr" indent="0" marL="0">
              <a:buNone/>
            </a:pPr>
            <a:r>
              <a:rPr lang="en-US" sz="1100" b="1" dirty="0">
                <a:solidFill>
                  <a:srgbClr val="64748B"/>
                </a:solidFill>
                <a:latin typeface="Poppins" pitchFamily="34" charset="0"/>
                <a:ea typeface="Poppins" pitchFamily="34" charset="-122"/>
                <a:cs typeface="Poppins" pitchFamily="34" charset="-120"/>
              </a:rPr>
              <a:t>IMAGE PLACEHOLDER</a:t>
            </a:r>
            <a:endParaRPr lang="en-US" sz="1100" dirty="0"/>
          </a:p>
        </p:txBody>
      </p:sp>
      <p:sp>
        <p:nvSpPr>
          <p:cNvPr id="22" name="Text 13"/>
          <p:cNvSpPr txBox="1"/>
          <p:nvPr/>
        </p:nvSpPr>
        <p:spPr>
          <a:xfrm>
            <a:off x="8321040" y="3840480"/>
            <a:ext cx="2926080" cy="548640"/>
          </a:xfrm>
          <a:prstGeom prst="rect">
            <a:avLst/>
          </a:prstGeom>
          <a:noFill/>
          <a:ln/>
        </p:spPr>
        <p:txBody>
          <a:bodyPr wrap="square" lIns="0" tIns="0" rIns="0" bIns="0" rtlCol="0" anchor="ctr"/>
          <a:lstStyle/>
          <a:p>
            <a:pPr algn="ctr" indent="0" marL="0">
              <a:lnSpc>
                <a:spcPct val="120000"/>
              </a:lnSpc>
              <a:buNone/>
            </a:pPr>
            <a:r>
              <a:rPr lang="en-US" sz="950" i="1" dirty="0">
                <a:solidFill>
                  <a:srgbClr val="64748B"/>
                </a:solidFill>
                <a:latin typeface="Poppins" pitchFamily="34" charset="0"/>
                <a:ea typeface="Poppins" pitchFamily="34" charset="-122"/>
                <a:cs typeface="Poppins" pitchFamily="34" charset="-120"/>
              </a:rPr>
              <a:t>Replace with a Publica-approved</a:t>
            </a:r>
            <a:endParaRPr lang="en-US" sz="950" dirty="0"/>
          </a:p>
          <a:p>
            <a:pPr algn="ctr" indent="0" marL="0">
              <a:lnSpc>
                <a:spcPct val="120000"/>
              </a:lnSpc>
              <a:buNone/>
            </a:pPr>
            <a:r>
              <a:rPr lang="en-US" sz="950" i="1" dirty="0">
                <a:solidFill>
                  <a:srgbClr val="64748B"/>
                </a:solidFill>
                <a:latin typeface="Poppins" pitchFamily="34" charset="0"/>
                <a:ea typeface="Poppins" pitchFamily="34" charset="-122"/>
                <a:cs typeface="Poppins" pitchFamily="34" charset="-120"/>
              </a:rPr>
              <a:t>illustration or photograph</a:t>
            </a:r>
            <a:endParaRPr lang="en-US" sz="950" dirty="0"/>
          </a:p>
        </p:txBody>
      </p:sp>
      <p:pic>
        <p:nvPicPr>
          <p:cNvPr id="23" name="Image 7" descr="/home/claude/assets/logo_full.png">    </p:cNvPr>
          <p:cNvPicPr>
            <a:picLocks noChangeAspect="1"/>
          </p:cNvPicPr>
          <p:nvPr/>
        </p:nvPicPr>
        <p:blipFill>
          <a:blip r:embed="rId9"/>
          <a:stretch>
            <a:fillRect/>
          </a:stretch>
        </p:blipFill>
        <p:spPr>
          <a:xfrm>
            <a:off x="10998403" y="5949086"/>
            <a:ext cx="431597" cy="375337"/>
          </a:xfrm>
          <a:prstGeom prst="rect">
            <a:avLst/>
          </a:prstGeom>
        </p:spPr>
      </p:pic>
      <p:sp>
        <p:nvSpPr>
          <p:cNvPr id="24" name="Text 14"/>
          <p:cNvSpPr txBox="1"/>
          <p:nvPr/>
        </p:nvSpPr>
        <p:spPr>
          <a:xfrm>
            <a:off x="11688775" y="6473952"/>
            <a:ext cx="365760" cy="274320"/>
          </a:xfrm>
          <a:prstGeom prst="rect">
            <a:avLst/>
          </a:prstGeom>
          <a:noFill/>
          <a:ln/>
        </p:spPr>
        <p:txBody>
          <a:bodyPr wrap="square" lIns="0" tIns="0" rIns="0" bIns="0" rtlCol="0" anchor="ctr"/>
          <a:lstStyle/>
          <a:p>
            <a:pPr algn="r" indent="0" marL="0">
              <a:buNone/>
            </a:pPr>
            <a:r>
              <a:rPr lang="en-US" sz="1100" dirty="0">
                <a:solidFill>
                  <a:srgbClr val="64748B"/>
                </a:solidFill>
                <a:latin typeface="Poppins" pitchFamily="34" charset="0"/>
                <a:ea typeface="Poppins" pitchFamily="34" charset="-122"/>
                <a:cs typeface="Poppins" pitchFamily="34" charset="-120"/>
              </a:rPr>
              <a:t>2</a:t>
            </a:r>
            <a:endParaRPr lang="en-US" sz="11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pic>
        <p:nvPicPr>
          <p:cNvPr id="2" name="Image 0" descr="/home/claude/assets/logo_full.png">    </p:cNvPr>
          <p:cNvPicPr>
            <a:picLocks noChangeAspect="1"/>
          </p:cNvPicPr>
          <p:nvPr/>
        </p:nvPicPr>
        <p:blipFill>
          <a:blip r:embed="rId2"/>
          <a:stretch>
            <a:fillRect/>
          </a:stretch>
        </p:blipFill>
        <p:spPr>
          <a:xfrm>
            <a:off x="685800" y="502920"/>
            <a:ext cx="1371600" cy="1192807"/>
          </a:xfrm>
          <a:prstGeom prst="rect">
            <a:avLst/>
          </a:prstGeom>
        </p:spPr>
      </p:pic>
      <p:sp>
        <p:nvSpPr>
          <p:cNvPr id="3" name="Text 0"/>
          <p:cNvSpPr txBox="1"/>
          <p:nvPr/>
        </p:nvSpPr>
        <p:spPr>
          <a:xfrm>
            <a:off x="685800" y="2331720"/>
            <a:ext cx="6949440" cy="320040"/>
          </a:xfrm>
          <a:prstGeom prst="rect">
            <a:avLst/>
          </a:prstGeom>
          <a:noFill/>
          <a:ln/>
        </p:spPr>
        <p:txBody>
          <a:bodyPr wrap="square" lIns="0" tIns="0" rIns="0" bIns="0" rtlCol="0" anchor="ctr"/>
          <a:lstStyle/>
          <a:p>
            <a:pPr indent="0" marL="0">
              <a:buNone/>
            </a:pPr>
            <a:r>
              <a:rPr lang="en-US" sz="1400" spc="150" kern="0" dirty="0">
                <a:solidFill>
                  <a:srgbClr val="387F7F"/>
                </a:solidFill>
                <a:latin typeface="Inter" pitchFamily="34" charset="0"/>
                <a:ea typeface="Inter" pitchFamily="34" charset="-122"/>
                <a:cs typeface="Inter" pitchFamily="34" charset="-120"/>
              </a:rPr>
              <a:t>MODULE 8 · AI-ASSISTED DATA ANALYSIS</a:t>
            </a:r>
            <a:endParaRPr lang="en-US" sz="1400" dirty="0"/>
          </a:p>
        </p:txBody>
      </p:sp>
      <p:sp>
        <p:nvSpPr>
          <p:cNvPr id="4" name="Text 1"/>
          <p:cNvSpPr txBox="1"/>
          <p:nvPr/>
        </p:nvSpPr>
        <p:spPr>
          <a:xfrm>
            <a:off x="685800" y="2670048"/>
            <a:ext cx="6949440" cy="411480"/>
          </a:xfrm>
          <a:prstGeom prst="rect">
            <a:avLst/>
          </a:prstGeom>
          <a:noFill/>
          <a:ln/>
        </p:spPr>
        <p:txBody>
          <a:bodyPr wrap="square" lIns="0" tIns="0" rIns="0" bIns="0" rtlCol="0" anchor="ctr"/>
          <a:lstStyle/>
          <a:p>
            <a:pPr indent="0" marL="0">
              <a:buNone/>
            </a:pPr>
            <a:r>
              <a:rPr lang="en-US" sz="1950" b="1" dirty="0">
                <a:solidFill>
                  <a:srgbClr val="64748B"/>
                </a:solidFill>
                <a:latin typeface="Inter Bold" pitchFamily="34" charset="0"/>
                <a:ea typeface="Inter Bold" pitchFamily="34" charset="-122"/>
                <a:cs typeface="Inter Bold" pitchFamily="34" charset="-120"/>
              </a:rPr>
              <a:t>Topic 8.1 of 6</a:t>
            </a:r>
            <a:endParaRPr lang="en-US" sz="1950" dirty="0"/>
          </a:p>
        </p:txBody>
      </p:sp>
      <p:sp>
        <p:nvSpPr>
          <p:cNvPr id="5" name="Text 2"/>
          <p:cNvSpPr txBox="1"/>
          <p:nvPr/>
        </p:nvSpPr>
        <p:spPr>
          <a:xfrm>
            <a:off x="658368" y="3108960"/>
            <a:ext cx="7223760" cy="1828800"/>
          </a:xfrm>
          <a:prstGeom prst="rect">
            <a:avLst/>
          </a:prstGeom>
          <a:noFill/>
          <a:ln/>
        </p:spPr>
        <p:txBody>
          <a:bodyPr wrap="square" lIns="0" tIns="0" rIns="0" bIns="0" rtlCol="0" anchor="ctr"/>
          <a:lstStyle/>
          <a:p>
            <a:pPr indent="0" marL="0">
              <a:lnSpc>
                <a:spcPct val="103000"/>
              </a:lnSpc>
              <a:buNone/>
            </a:pPr>
            <a:r>
              <a:rPr lang="en-US" sz="5400" b="1" dirty="0">
                <a:solidFill>
                  <a:srgbClr val="000000"/>
                </a:solidFill>
                <a:latin typeface="Poppins" pitchFamily="34" charset="0"/>
                <a:ea typeface="Poppins" pitchFamily="34" charset="-122"/>
                <a:cs typeface="Poppins" pitchFamily="34" charset="-120"/>
              </a:rPr>
              <a:t>The AI-Augmented
</a:t>
            </a:r>
            <a:pPr indent="0" marL="0">
              <a:lnSpc>
                <a:spcPct val="103000"/>
              </a:lnSpc>
              <a:buNone/>
            </a:pPr>
            <a:r>
              <a:rPr lang="en-US" sz="5400" b="1" dirty="0">
                <a:solidFill>
                  <a:srgbClr val="387F7F"/>
                </a:solidFill>
                <a:latin typeface="Poppins" pitchFamily="34" charset="0"/>
                <a:ea typeface="Poppins" pitchFamily="34" charset="-122"/>
                <a:cs typeface="Poppins" pitchFamily="34" charset="-120"/>
              </a:rPr>
              <a:t>Pipeline, End to End</a:t>
            </a:r>
            <a:endParaRPr lang="en-US" sz="5400" dirty="0"/>
          </a:p>
        </p:txBody>
      </p:sp>
      <p:sp>
        <p:nvSpPr>
          <p:cNvPr id="6" name="Shape 3"/>
          <p:cNvSpPr/>
          <p:nvPr/>
        </p:nvSpPr>
        <p:spPr>
          <a:xfrm>
            <a:off x="8092440" y="1417320"/>
            <a:ext cx="3383280" cy="3383280"/>
          </a:xfrm>
          <a:prstGeom prst="roundRect">
            <a:avLst>
              <a:gd name="adj" fmla="val 3243"/>
            </a:avLst>
          </a:prstGeom>
          <a:solidFill>
            <a:srgbClr val="F4F7F7"/>
          </a:solidFill>
          <a:ln w="12700">
            <a:solidFill>
              <a:srgbClr val="E2E8F0"/>
            </a:solidFill>
            <a:prstDash val="solid"/>
          </a:ln>
        </p:spPr>
      </p:sp>
      <p:sp>
        <p:nvSpPr>
          <p:cNvPr id="7" name="Text 4"/>
          <p:cNvSpPr txBox="1"/>
          <p:nvPr/>
        </p:nvSpPr>
        <p:spPr>
          <a:xfrm>
            <a:off x="8092440" y="2286000"/>
            <a:ext cx="3383280" cy="640080"/>
          </a:xfrm>
          <a:prstGeom prst="rect">
            <a:avLst/>
          </a:prstGeom>
          <a:noFill/>
          <a:ln/>
        </p:spPr>
        <p:txBody>
          <a:bodyPr wrap="square" lIns="0" tIns="0" rIns="0" bIns="0" rtlCol="0" anchor="ctr"/>
          <a:lstStyle/>
          <a:p>
            <a:pPr algn="ctr" indent="0" marL="0">
              <a:buNone/>
            </a:pPr>
            <a:r>
              <a:rPr lang="en-US" sz="3000" dirty="0">
                <a:solidFill>
                  <a:srgbClr val="64748B"/>
                </a:solidFill>
                <a:latin typeface="Poppins" pitchFamily="34" charset="0"/>
                <a:ea typeface="Poppins" pitchFamily="34" charset="-122"/>
                <a:cs typeface="Poppins" pitchFamily="34" charset="-120"/>
              </a:rPr>
              <a:t>▦</a:t>
            </a:r>
            <a:endParaRPr lang="en-US" sz="3000" dirty="0"/>
          </a:p>
        </p:txBody>
      </p:sp>
      <p:sp>
        <p:nvSpPr>
          <p:cNvPr id="8" name="Text 5"/>
          <p:cNvSpPr txBox="1"/>
          <p:nvPr/>
        </p:nvSpPr>
        <p:spPr>
          <a:xfrm>
            <a:off x="8321040" y="2880360"/>
            <a:ext cx="2926080" cy="320040"/>
          </a:xfrm>
          <a:prstGeom prst="rect">
            <a:avLst/>
          </a:prstGeom>
          <a:noFill/>
          <a:ln/>
        </p:spPr>
        <p:txBody>
          <a:bodyPr wrap="square" lIns="0" tIns="0" rIns="0" bIns="0" rtlCol="0" anchor="ctr"/>
          <a:lstStyle/>
          <a:p>
            <a:pPr algn="ctr" indent="0" marL="0">
              <a:buNone/>
            </a:pPr>
            <a:r>
              <a:rPr lang="en-US" sz="1100" b="1" dirty="0">
                <a:solidFill>
                  <a:srgbClr val="64748B"/>
                </a:solidFill>
                <a:latin typeface="Poppins" pitchFamily="34" charset="0"/>
                <a:ea typeface="Poppins" pitchFamily="34" charset="-122"/>
                <a:cs typeface="Poppins" pitchFamily="34" charset="-120"/>
              </a:rPr>
              <a:t>IMAGE PLACEHOLDER</a:t>
            </a:r>
            <a:endParaRPr lang="en-US" sz="1100" dirty="0"/>
          </a:p>
        </p:txBody>
      </p:sp>
      <p:sp>
        <p:nvSpPr>
          <p:cNvPr id="9" name="Text 6"/>
          <p:cNvSpPr txBox="1"/>
          <p:nvPr/>
        </p:nvSpPr>
        <p:spPr>
          <a:xfrm>
            <a:off x="8321040" y="3246120"/>
            <a:ext cx="2926080" cy="548640"/>
          </a:xfrm>
          <a:prstGeom prst="rect">
            <a:avLst/>
          </a:prstGeom>
          <a:noFill/>
          <a:ln/>
        </p:spPr>
        <p:txBody>
          <a:bodyPr wrap="square" lIns="0" tIns="0" rIns="0" bIns="0" rtlCol="0" anchor="ctr"/>
          <a:lstStyle/>
          <a:p>
            <a:pPr algn="ctr" indent="0" marL="0">
              <a:lnSpc>
                <a:spcPct val="120000"/>
              </a:lnSpc>
              <a:buNone/>
            </a:pPr>
            <a:r>
              <a:rPr lang="en-US" sz="950" i="1" dirty="0">
                <a:solidFill>
                  <a:srgbClr val="64748B"/>
                </a:solidFill>
                <a:latin typeface="Poppins" pitchFamily="34" charset="0"/>
                <a:ea typeface="Poppins" pitchFamily="34" charset="-122"/>
                <a:cs typeface="Poppins" pitchFamily="34" charset="-120"/>
              </a:rPr>
              <a:t>Replace with a Publica-approved</a:t>
            </a:r>
            <a:endParaRPr lang="en-US" sz="950" dirty="0"/>
          </a:p>
          <a:p>
            <a:pPr algn="ctr" indent="0" marL="0">
              <a:lnSpc>
                <a:spcPct val="120000"/>
              </a:lnSpc>
              <a:buNone/>
            </a:pPr>
            <a:r>
              <a:rPr lang="en-US" sz="950" i="1" dirty="0">
                <a:solidFill>
                  <a:srgbClr val="64748B"/>
                </a:solidFill>
                <a:latin typeface="Poppins" pitchFamily="34" charset="0"/>
                <a:ea typeface="Poppins" pitchFamily="34" charset="-122"/>
                <a:cs typeface="Poppins" pitchFamily="34" charset="-120"/>
              </a:rPr>
              <a:t>illustration or photograph</a:t>
            </a:r>
            <a:endParaRPr lang="en-US" sz="950" dirty="0"/>
          </a:p>
        </p:txBody>
      </p:sp>
      <p:sp>
        <p:nvSpPr>
          <p:cNvPr id="10" name="Shape 7"/>
          <p:cNvSpPr/>
          <p:nvPr/>
        </p:nvSpPr>
        <p:spPr>
          <a:xfrm>
            <a:off x="685800" y="5806440"/>
            <a:ext cx="10817352" cy="0"/>
          </a:xfrm>
          <a:prstGeom prst="line">
            <a:avLst/>
          </a:prstGeom>
          <a:noFill/>
          <a:ln w="12700">
            <a:solidFill>
              <a:srgbClr val="E2E8F0"/>
            </a:solidFill>
            <a:prstDash val="solid"/>
          </a:ln>
        </p:spPr>
      </p:sp>
      <p:pic>
        <p:nvPicPr>
          <p:cNvPr id="11" name="Image 1" descr="/home/claude/assets/icon_stack.png">    </p:cNvPr>
          <p:cNvPicPr>
            <a:picLocks noChangeAspect="1"/>
          </p:cNvPicPr>
          <p:nvPr/>
        </p:nvPicPr>
        <p:blipFill>
          <a:blip r:embed="rId3"/>
          <a:stretch>
            <a:fillRect/>
          </a:stretch>
        </p:blipFill>
        <p:spPr>
          <a:xfrm>
            <a:off x="685800" y="5989320"/>
            <a:ext cx="201168" cy="182880"/>
          </a:xfrm>
          <a:prstGeom prst="rect">
            <a:avLst/>
          </a:prstGeom>
        </p:spPr>
      </p:pic>
      <p:sp>
        <p:nvSpPr>
          <p:cNvPr id="12" name="Text 8"/>
          <p:cNvSpPr txBox="1"/>
          <p:nvPr/>
        </p:nvSpPr>
        <p:spPr>
          <a:xfrm>
            <a:off x="960120" y="5943600"/>
            <a:ext cx="2743200" cy="274320"/>
          </a:xfrm>
          <a:prstGeom prst="rect">
            <a:avLst/>
          </a:prstGeom>
          <a:noFill/>
          <a:ln/>
        </p:spPr>
        <p:txBody>
          <a:bodyPr wrap="square" lIns="0" tIns="0" rIns="0" bIns="0" rtlCol="0" anchor="ctr"/>
          <a:lstStyle/>
          <a:p>
            <a:pPr indent="0" marL="0">
              <a:buNone/>
            </a:pPr>
            <a:r>
              <a:rPr lang="en-US" sz="1400" dirty="0">
                <a:solidFill>
                  <a:srgbClr val="64748B"/>
                </a:solidFill>
                <a:latin typeface="Inter" pitchFamily="34" charset="0"/>
                <a:ea typeface="Inter" pitchFamily="34" charset="-122"/>
                <a:cs typeface="Inter" pitchFamily="34" charset="-120"/>
              </a:rPr>
              <a:t>Topic 8.1</a:t>
            </a:r>
            <a:endParaRPr lang="en-US" sz="1400" dirty="0"/>
          </a:p>
        </p:txBody>
      </p:sp>
      <p:sp>
        <p:nvSpPr>
          <p:cNvPr id="13" name="Text 9"/>
          <p:cNvSpPr txBox="1"/>
          <p:nvPr/>
        </p:nvSpPr>
        <p:spPr>
          <a:xfrm>
            <a:off x="685800" y="6446520"/>
            <a:ext cx="3657600" cy="274320"/>
          </a:xfrm>
          <a:prstGeom prst="rect">
            <a:avLst/>
          </a:prstGeom>
          <a:noFill/>
          <a:ln/>
        </p:spPr>
        <p:txBody>
          <a:bodyPr wrap="square" lIns="0" tIns="0" rIns="0" bIns="0" rtlCol="0" anchor="ctr"/>
          <a:lstStyle/>
          <a:p>
            <a:pPr indent="0" marL="0">
              <a:buNone/>
            </a:pPr>
            <a:r>
              <a:rPr lang="en-US" sz="1000" b="1" spc="100" kern="0" dirty="0">
                <a:solidFill>
                  <a:srgbClr val="387F7F"/>
                </a:solidFill>
                <a:latin typeface="Poppins" pitchFamily="34" charset="0"/>
                <a:ea typeface="Poppins" pitchFamily="34" charset="-122"/>
                <a:cs typeface="Poppins" pitchFamily="34" charset="-120"/>
              </a:rPr>
              <a:t>PUBLICA ACADEMY</a:t>
            </a:r>
            <a:endParaRPr lang="en-US" sz="10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11024006" y="1958645"/>
            <a:ext cx="4133088" cy="4038905"/>
          </a:xfrm>
          <a:prstGeom prst="ellipse">
            <a:avLst/>
          </a:prstGeom>
          <a:solidFill>
            <a:srgbClr val="387F7F"/>
          </a:solidFill>
          <a:ln/>
        </p:spPr>
      </p:sp>
      <p:sp>
        <p:nvSpPr>
          <p:cNvPr id="3" name="Shape 1"/>
          <p:cNvSpPr/>
          <p:nvPr/>
        </p:nvSpPr>
        <p:spPr>
          <a:xfrm>
            <a:off x="11316614" y="2675534"/>
            <a:ext cx="1051560" cy="2162556"/>
          </a:xfrm>
          <a:prstGeom prst="ellipse">
            <a:avLst/>
          </a:prstGeom>
          <a:solidFill>
            <a:srgbClr val="387F7F"/>
          </a:solidFill>
          <a:ln/>
        </p:spPr>
      </p:sp>
      <p:sp>
        <p:nvSpPr>
          <p:cNvPr id="4" name="Text 2"/>
          <p:cNvSpPr txBox="1"/>
          <p:nvPr/>
        </p:nvSpPr>
        <p:spPr>
          <a:xfrm>
            <a:off x="868680" y="292608"/>
            <a:ext cx="7772400" cy="274320"/>
          </a:xfrm>
          <a:prstGeom prst="rect">
            <a:avLst/>
          </a:prstGeom>
          <a:noFill/>
          <a:ln/>
        </p:spPr>
        <p:txBody>
          <a:bodyPr wrap="square" lIns="0" tIns="0" rIns="0" bIns="0" rtlCol="0" anchor="ctr"/>
          <a:lstStyle/>
          <a:p>
            <a:pPr indent="0" marL="0">
              <a:buNone/>
            </a:pPr>
            <a:r>
              <a:rPr lang="en-US" sz="1150" b="1" spc="200" kern="0" dirty="0">
                <a:solidFill>
                  <a:srgbClr val="64748B"/>
                </a:solidFill>
                <a:latin typeface="Poppins" pitchFamily="34" charset="0"/>
                <a:ea typeface="Poppins" pitchFamily="34" charset="-122"/>
                <a:cs typeface="Poppins" pitchFamily="34" charset="-120"/>
              </a:rPr>
              <a:t>RETRIEVAL PRACTICE</a:t>
            </a:r>
            <a:endParaRPr lang="en-US" sz="1150" dirty="0"/>
          </a:p>
        </p:txBody>
      </p:sp>
      <p:sp>
        <p:nvSpPr>
          <p:cNvPr id="5" name="Shape 3"/>
          <p:cNvSpPr/>
          <p:nvPr/>
        </p:nvSpPr>
        <p:spPr>
          <a:xfrm>
            <a:off x="685800" y="612648"/>
            <a:ext cx="54864" cy="411480"/>
          </a:xfrm>
          <a:prstGeom prst="rect">
            <a:avLst/>
          </a:prstGeom>
          <a:solidFill>
            <a:srgbClr val="387F7F"/>
          </a:solidFill>
          <a:ln/>
        </p:spPr>
      </p:sp>
      <p:sp>
        <p:nvSpPr>
          <p:cNvPr id="6" name="Text 4"/>
          <p:cNvSpPr txBox="1"/>
          <p:nvPr/>
        </p:nvSpPr>
        <p:spPr>
          <a:xfrm>
            <a:off x="868680" y="566928"/>
            <a:ext cx="9006840" cy="685800"/>
          </a:xfrm>
          <a:prstGeom prst="rect">
            <a:avLst/>
          </a:prstGeom>
          <a:noFill/>
          <a:ln/>
        </p:spPr>
        <p:txBody>
          <a:bodyPr wrap="square" lIns="0" tIns="0" rIns="0" bIns="0" rtlCol="0" anchor="t"/>
          <a:lstStyle/>
          <a:p>
            <a:pPr indent="0" marL="0">
              <a:lnSpc>
                <a:spcPct val="110000"/>
              </a:lnSpc>
              <a:buNone/>
            </a:pPr>
            <a:r>
              <a:rPr lang="en-US" sz="3300" dirty="0">
                <a:solidFill>
                  <a:srgbClr val="387F7F"/>
                </a:solidFill>
                <a:latin typeface="Poppins" pitchFamily="34" charset="0"/>
                <a:ea typeface="Poppins" pitchFamily="34" charset="-122"/>
                <a:cs typeface="Poppins" pitchFamily="34" charset="-120"/>
              </a:rPr>
              <a:t>Before we go further, name these</a:t>
            </a:r>
            <a:endParaRPr lang="en-US" sz="3300" dirty="0"/>
          </a:p>
        </p:txBody>
      </p:sp>
      <p:sp>
        <p:nvSpPr>
          <p:cNvPr id="7" name="Shape 5"/>
          <p:cNvSpPr/>
          <p:nvPr/>
        </p:nvSpPr>
        <p:spPr>
          <a:xfrm>
            <a:off x="10058400" y="457200"/>
            <a:ext cx="1234440" cy="457200"/>
          </a:xfrm>
          <a:prstGeom prst="roundRect">
            <a:avLst>
              <a:gd name="adj" fmla="val 50000"/>
            </a:avLst>
          </a:prstGeom>
          <a:solidFill>
            <a:srgbClr val="387F7F"/>
          </a:solidFill>
          <a:ln/>
        </p:spPr>
      </p:sp>
      <p:sp>
        <p:nvSpPr>
          <p:cNvPr id="8" name="Text 6"/>
          <p:cNvSpPr txBox="1"/>
          <p:nvPr/>
        </p:nvSpPr>
        <p:spPr>
          <a:xfrm>
            <a:off x="10058400" y="457200"/>
            <a:ext cx="1234440" cy="457200"/>
          </a:xfrm>
          <a:prstGeom prst="rect">
            <a:avLst/>
          </a:prstGeom>
          <a:noFill/>
          <a:ln/>
        </p:spPr>
        <p:txBody>
          <a:bodyPr wrap="square" lIns="0" tIns="0" rIns="0" bIns="0" rtlCol="0" anchor="ctr"/>
          <a:lstStyle/>
          <a:p>
            <a:pPr algn="ctr" indent="0" marL="0">
              <a:buNone/>
            </a:pPr>
            <a:r>
              <a:rPr lang="en-US" sz="1300" b="1" dirty="0">
                <a:solidFill>
                  <a:srgbClr val="FFFFFF"/>
                </a:solidFill>
                <a:latin typeface="Poppins" pitchFamily="34" charset="0"/>
                <a:ea typeface="Poppins" pitchFamily="34" charset="-122"/>
                <a:cs typeface="Poppins" pitchFamily="34" charset="-120"/>
              </a:rPr>
              <a:t>90 SEC</a:t>
            </a:r>
            <a:endParaRPr lang="en-US" sz="1300" dirty="0"/>
          </a:p>
        </p:txBody>
      </p:sp>
      <p:sp>
        <p:nvSpPr>
          <p:cNvPr id="9" name="Text 7"/>
          <p:cNvSpPr txBox="1"/>
          <p:nvPr/>
        </p:nvSpPr>
        <p:spPr>
          <a:xfrm>
            <a:off x="868680" y="1207008"/>
            <a:ext cx="9601200" cy="365760"/>
          </a:xfrm>
          <a:prstGeom prst="rect">
            <a:avLst/>
          </a:prstGeom>
          <a:noFill/>
          <a:ln/>
        </p:spPr>
        <p:txBody>
          <a:bodyPr wrap="square" lIns="0" tIns="0" rIns="0" bIns="0" rtlCol="0" anchor="ctr"/>
          <a:lstStyle/>
          <a:p>
            <a:pPr indent="0" marL="0">
              <a:buNone/>
            </a:pPr>
            <a:r>
              <a:rPr lang="en-US" sz="1500" i="1" dirty="0">
                <a:solidFill>
                  <a:srgbClr val="64748B"/>
                </a:solidFill>
                <a:latin typeface="Poppins" pitchFamily="34" charset="0"/>
                <a:ea typeface="Poppins" pitchFamily="34" charset="-122"/>
                <a:cs typeface="Poppins" pitchFamily="34" charset="-120"/>
              </a:rPr>
              <a:t>Answer out loud or on paper - no notes. 90 seconds.</a:t>
            </a:r>
            <a:endParaRPr lang="en-US" sz="1500" dirty="0"/>
          </a:p>
        </p:txBody>
      </p:sp>
      <p:sp>
        <p:nvSpPr>
          <p:cNvPr id="10" name="Shape 8"/>
          <p:cNvSpPr/>
          <p:nvPr/>
        </p:nvSpPr>
        <p:spPr>
          <a:xfrm>
            <a:off x="685800" y="1874520"/>
            <a:ext cx="10424160" cy="914400"/>
          </a:xfrm>
          <a:prstGeom prst="roundRect">
            <a:avLst>
              <a:gd name="adj" fmla="val 9000"/>
            </a:avLst>
          </a:prstGeom>
          <a:solidFill>
            <a:srgbClr val="FFFFFF"/>
          </a:solidFill>
          <a:ln/>
          <a:effectLst>
            <a:outerShdw sx="100000" sy="100000" kx="0" ky="0" algn="bl" rotWithShape="0" blurRad="127000" dist="38100" dir="5400000">
              <a:srgbClr val="1B2A2E">
                <a:alpha val="12000"/>
              </a:srgbClr>
            </a:outerShdw>
          </a:effectLst>
        </p:spPr>
      </p:sp>
      <p:sp>
        <p:nvSpPr>
          <p:cNvPr id="11" name="Shape 9"/>
          <p:cNvSpPr/>
          <p:nvPr/>
        </p:nvSpPr>
        <p:spPr>
          <a:xfrm>
            <a:off x="960120" y="2103120"/>
            <a:ext cx="457200" cy="457200"/>
          </a:xfrm>
          <a:prstGeom prst="ellipse">
            <a:avLst/>
          </a:prstGeom>
          <a:solidFill>
            <a:srgbClr val="387F7F"/>
          </a:solidFill>
          <a:ln/>
        </p:spPr>
      </p:sp>
      <p:sp>
        <p:nvSpPr>
          <p:cNvPr id="12" name="Text 10"/>
          <p:cNvSpPr txBox="1"/>
          <p:nvPr/>
        </p:nvSpPr>
        <p:spPr>
          <a:xfrm>
            <a:off x="960120" y="2103120"/>
            <a:ext cx="457200" cy="457200"/>
          </a:xfrm>
          <a:prstGeom prst="rect">
            <a:avLst/>
          </a:prstGeom>
          <a:noFill/>
          <a:ln/>
        </p:spPr>
        <p:txBody>
          <a:bodyPr wrap="square" lIns="0" tIns="0" rIns="0" bIns="0" rtlCol="0" anchor="ctr"/>
          <a:lstStyle/>
          <a:p>
            <a:pPr algn="ctr" indent="0" marL="0">
              <a:buNone/>
            </a:pPr>
            <a:r>
              <a:rPr lang="en-US" sz="1900" b="1" dirty="0">
                <a:solidFill>
                  <a:srgbClr val="FFFFFF"/>
                </a:solidFill>
                <a:latin typeface="Poppins" pitchFamily="34" charset="0"/>
                <a:ea typeface="Poppins" pitchFamily="34" charset="-122"/>
                <a:cs typeface="Poppins" pitchFamily="34" charset="-120"/>
              </a:rPr>
              <a:t>1</a:t>
            </a:r>
            <a:endParaRPr lang="en-US" sz="1900" dirty="0"/>
          </a:p>
        </p:txBody>
      </p:sp>
      <p:sp>
        <p:nvSpPr>
          <p:cNvPr id="13" name="Text 11"/>
          <p:cNvSpPr txBox="1"/>
          <p:nvPr/>
        </p:nvSpPr>
        <p:spPr>
          <a:xfrm>
            <a:off x="1645920" y="1874520"/>
            <a:ext cx="9326880" cy="914400"/>
          </a:xfrm>
          <a:prstGeom prst="rect">
            <a:avLst/>
          </a:prstGeom>
          <a:noFill/>
          <a:ln/>
        </p:spPr>
        <p:txBody>
          <a:bodyPr wrap="square" lIns="0" tIns="0" rIns="0" bIns="0" rtlCol="0" anchor="ctr"/>
          <a:lstStyle/>
          <a:p>
            <a:pPr indent="0" marL="0">
              <a:lnSpc>
                <a:spcPct val="120000"/>
              </a:lnSpc>
              <a:buNone/>
            </a:pPr>
            <a:r>
              <a:rPr lang="en-US" sz="1700" dirty="0">
                <a:solidFill>
                  <a:srgbClr val="475569"/>
                </a:solidFill>
                <a:latin typeface="Poppins" pitchFamily="34" charset="0"/>
                <a:ea typeface="Poppins" pitchFamily="34" charset="-122"/>
                <a:cs typeface="Poppins" pitchFamily="34" charset="-120"/>
              </a:rPr>
              <a:t>In a star schema, what's the difference between a fact table and a dimension table? Give SwiftRoute examples of each.</a:t>
            </a:r>
            <a:endParaRPr lang="en-US" sz="1700" dirty="0"/>
          </a:p>
        </p:txBody>
      </p:sp>
      <p:sp>
        <p:nvSpPr>
          <p:cNvPr id="14" name="Shape 12"/>
          <p:cNvSpPr/>
          <p:nvPr/>
        </p:nvSpPr>
        <p:spPr>
          <a:xfrm>
            <a:off x="685800" y="2926080"/>
            <a:ext cx="10424160" cy="914400"/>
          </a:xfrm>
          <a:prstGeom prst="roundRect">
            <a:avLst>
              <a:gd name="adj" fmla="val 9000"/>
            </a:avLst>
          </a:prstGeom>
          <a:solidFill>
            <a:srgbClr val="FFFFFF"/>
          </a:solidFill>
          <a:ln/>
          <a:effectLst>
            <a:outerShdw sx="100000" sy="100000" kx="0" ky="0" algn="bl" rotWithShape="0" blurRad="127000" dist="38100" dir="5400000">
              <a:srgbClr val="1B2A2E">
                <a:alpha val="12000"/>
              </a:srgbClr>
            </a:outerShdw>
          </a:effectLst>
        </p:spPr>
      </p:sp>
      <p:sp>
        <p:nvSpPr>
          <p:cNvPr id="15" name="Shape 13"/>
          <p:cNvSpPr/>
          <p:nvPr/>
        </p:nvSpPr>
        <p:spPr>
          <a:xfrm>
            <a:off x="960120" y="3154680"/>
            <a:ext cx="457200" cy="457200"/>
          </a:xfrm>
          <a:prstGeom prst="ellipse">
            <a:avLst/>
          </a:prstGeom>
          <a:solidFill>
            <a:srgbClr val="387F7F"/>
          </a:solidFill>
          <a:ln/>
        </p:spPr>
      </p:sp>
      <p:sp>
        <p:nvSpPr>
          <p:cNvPr id="16" name="Text 14"/>
          <p:cNvSpPr txBox="1"/>
          <p:nvPr/>
        </p:nvSpPr>
        <p:spPr>
          <a:xfrm>
            <a:off x="960120" y="3154680"/>
            <a:ext cx="457200" cy="457200"/>
          </a:xfrm>
          <a:prstGeom prst="rect">
            <a:avLst/>
          </a:prstGeom>
          <a:noFill/>
          <a:ln/>
        </p:spPr>
        <p:txBody>
          <a:bodyPr wrap="square" lIns="0" tIns="0" rIns="0" bIns="0" rtlCol="0" anchor="ctr"/>
          <a:lstStyle/>
          <a:p>
            <a:pPr algn="ctr" indent="0" marL="0">
              <a:buNone/>
            </a:pPr>
            <a:r>
              <a:rPr lang="en-US" sz="1900" b="1" dirty="0">
                <a:solidFill>
                  <a:srgbClr val="FFFFFF"/>
                </a:solidFill>
                <a:latin typeface="Poppins" pitchFamily="34" charset="0"/>
                <a:ea typeface="Poppins" pitchFamily="34" charset="-122"/>
                <a:cs typeface="Poppins" pitchFamily="34" charset="-120"/>
              </a:rPr>
              <a:t>2</a:t>
            </a:r>
            <a:endParaRPr lang="en-US" sz="1900" dirty="0"/>
          </a:p>
        </p:txBody>
      </p:sp>
      <p:sp>
        <p:nvSpPr>
          <p:cNvPr id="17" name="Text 15"/>
          <p:cNvSpPr txBox="1"/>
          <p:nvPr/>
        </p:nvSpPr>
        <p:spPr>
          <a:xfrm>
            <a:off x="1645920" y="2926080"/>
            <a:ext cx="9326880" cy="914400"/>
          </a:xfrm>
          <a:prstGeom prst="rect">
            <a:avLst/>
          </a:prstGeom>
          <a:noFill/>
          <a:ln/>
        </p:spPr>
        <p:txBody>
          <a:bodyPr wrap="square" lIns="0" tIns="0" rIns="0" bIns="0" rtlCol="0" anchor="ctr"/>
          <a:lstStyle/>
          <a:p>
            <a:pPr indent="0" marL="0">
              <a:lnSpc>
                <a:spcPct val="120000"/>
              </a:lnSpc>
              <a:buNone/>
            </a:pPr>
            <a:r>
              <a:rPr lang="en-US" sz="1700" dirty="0">
                <a:solidFill>
                  <a:srgbClr val="475569"/>
                </a:solidFill>
                <a:latin typeface="Poppins" pitchFamily="34" charset="0"/>
                <a:ea typeface="Poppins" pitchFamily="34" charset="-122"/>
                <a:cs typeface="Poppins" pitchFamily="34" charset="-120"/>
              </a:rPr>
              <a:t>What does "predict-then-run" mean, and why did we insist on it in Module 7?</a:t>
            </a:r>
            <a:endParaRPr lang="en-US" sz="1700" dirty="0"/>
          </a:p>
        </p:txBody>
      </p:sp>
      <p:sp>
        <p:nvSpPr>
          <p:cNvPr id="18" name="Shape 16"/>
          <p:cNvSpPr/>
          <p:nvPr/>
        </p:nvSpPr>
        <p:spPr>
          <a:xfrm>
            <a:off x="685800" y="3977640"/>
            <a:ext cx="10424160" cy="914400"/>
          </a:xfrm>
          <a:prstGeom prst="roundRect">
            <a:avLst>
              <a:gd name="adj" fmla="val 9000"/>
            </a:avLst>
          </a:prstGeom>
          <a:solidFill>
            <a:srgbClr val="FFFFFF"/>
          </a:solidFill>
          <a:ln/>
          <a:effectLst>
            <a:outerShdw sx="100000" sy="100000" kx="0" ky="0" algn="bl" rotWithShape="0" blurRad="127000" dist="38100" dir="5400000">
              <a:srgbClr val="1B2A2E">
                <a:alpha val="12000"/>
              </a:srgbClr>
            </a:outerShdw>
          </a:effectLst>
        </p:spPr>
      </p:sp>
      <p:sp>
        <p:nvSpPr>
          <p:cNvPr id="19" name="Shape 17"/>
          <p:cNvSpPr/>
          <p:nvPr/>
        </p:nvSpPr>
        <p:spPr>
          <a:xfrm>
            <a:off x="960120" y="4206240"/>
            <a:ext cx="457200" cy="457200"/>
          </a:xfrm>
          <a:prstGeom prst="ellipse">
            <a:avLst/>
          </a:prstGeom>
          <a:solidFill>
            <a:srgbClr val="387F7F"/>
          </a:solidFill>
          <a:ln/>
        </p:spPr>
      </p:sp>
      <p:sp>
        <p:nvSpPr>
          <p:cNvPr id="20" name="Text 18"/>
          <p:cNvSpPr txBox="1"/>
          <p:nvPr/>
        </p:nvSpPr>
        <p:spPr>
          <a:xfrm>
            <a:off x="960120" y="4206240"/>
            <a:ext cx="457200" cy="457200"/>
          </a:xfrm>
          <a:prstGeom prst="rect">
            <a:avLst/>
          </a:prstGeom>
          <a:noFill/>
          <a:ln/>
        </p:spPr>
        <p:txBody>
          <a:bodyPr wrap="square" lIns="0" tIns="0" rIns="0" bIns="0" rtlCol="0" anchor="ctr"/>
          <a:lstStyle/>
          <a:p>
            <a:pPr algn="ctr" indent="0" marL="0">
              <a:buNone/>
            </a:pPr>
            <a:r>
              <a:rPr lang="en-US" sz="1900" b="1" dirty="0">
                <a:solidFill>
                  <a:srgbClr val="FFFFFF"/>
                </a:solidFill>
                <a:latin typeface="Poppins" pitchFamily="34" charset="0"/>
                <a:ea typeface="Poppins" pitchFamily="34" charset="-122"/>
                <a:cs typeface="Poppins" pitchFamily="34" charset="-120"/>
              </a:rPr>
              <a:t>3</a:t>
            </a:r>
            <a:endParaRPr lang="en-US" sz="1900" dirty="0"/>
          </a:p>
        </p:txBody>
      </p:sp>
      <p:sp>
        <p:nvSpPr>
          <p:cNvPr id="21" name="Text 19"/>
          <p:cNvSpPr txBox="1"/>
          <p:nvPr/>
        </p:nvSpPr>
        <p:spPr>
          <a:xfrm>
            <a:off x="1645920" y="3977640"/>
            <a:ext cx="9326880" cy="914400"/>
          </a:xfrm>
          <a:prstGeom prst="rect">
            <a:avLst/>
          </a:prstGeom>
          <a:noFill/>
          <a:ln/>
        </p:spPr>
        <p:txBody>
          <a:bodyPr wrap="square" lIns="0" tIns="0" rIns="0" bIns="0" rtlCol="0" anchor="ctr"/>
          <a:lstStyle/>
          <a:p>
            <a:pPr indent="0" marL="0">
              <a:lnSpc>
                <a:spcPct val="120000"/>
              </a:lnSpc>
              <a:buNone/>
            </a:pPr>
            <a:r>
              <a:rPr lang="en-US" sz="1700" dirty="0">
                <a:solidFill>
                  <a:srgbClr val="475569"/>
                </a:solidFill>
                <a:latin typeface="Poppins" pitchFamily="34" charset="0"/>
                <a:ea typeface="Poppins" pitchFamily="34" charset="-122"/>
                <a:cs typeface="Poppins" pitchFamily="34" charset="-120"/>
              </a:rPr>
              <a:t>Name one thing Gemini got wrong when we tried AI-built slides in Topic 7.1 - and what we changed because of it.</a:t>
            </a:r>
            <a:endParaRPr lang="en-US" sz="1700" dirty="0"/>
          </a:p>
        </p:txBody>
      </p:sp>
      <p:pic>
        <p:nvPicPr>
          <p:cNvPr id="22" name="Image 0" descr="/home/claude/assets/logo_full.png">    </p:cNvPr>
          <p:cNvPicPr>
            <a:picLocks noChangeAspect="1"/>
          </p:cNvPicPr>
          <p:nvPr/>
        </p:nvPicPr>
        <p:blipFill>
          <a:blip r:embed="rId2"/>
          <a:stretch>
            <a:fillRect/>
          </a:stretch>
        </p:blipFill>
        <p:spPr>
          <a:xfrm>
            <a:off x="10998403" y="5949086"/>
            <a:ext cx="431597" cy="375337"/>
          </a:xfrm>
          <a:prstGeom prst="rect">
            <a:avLst/>
          </a:prstGeom>
        </p:spPr>
      </p:pic>
      <p:sp>
        <p:nvSpPr>
          <p:cNvPr id="23" name="Text 20"/>
          <p:cNvSpPr txBox="1"/>
          <p:nvPr/>
        </p:nvSpPr>
        <p:spPr>
          <a:xfrm>
            <a:off x="11688775" y="6473952"/>
            <a:ext cx="365760" cy="274320"/>
          </a:xfrm>
          <a:prstGeom prst="rect">
            <a:avLst/>
          </a:prstGeom>
          <a:noFill/>
          <a:ln/>
        </p:spPr>
        <p:txBody>
          <a:bodyPr wrap="square" lIns="0" tIns="0" rIns="0" bIns="0" rtlCol="0" anchor="ctr"/>
          <a:lstStyle/>
          <a:p>
            <a:pPr algn="r" indent="0" marL="0">
              <a:buNone/>
            </a:pPr>
            <a:r>
              <a:rPr lang="en-US" sz="1100" dirty="0">
                <a:solidFill>
                  <a:srgbClr val="64748B"/>
                </a:solidFill>
                <a:latin typeface="Poppins" pitchFamily="34" charset="0"/>
                <a:ea typeface="Poppins" pitchFamily="34" charset="-122"/>
                <a:cs typeface="Poppins" pitchFamily="34" charset="-120"/>
              </a:rPr>
              <a:t>3</a:t>
            </a:r>
            <a:endParaRPr lang="en-US" sz="11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7863840" y="0"/>
            <a:ext cx="4325112" cy="6858000"/>
          </a:xfrm>
          <a:prstGeom prst="rect">
            <a:avLst/>
          </a:prstGeom>
          <a:solidFill>
            <a:srgbClr val="20494A"/>
          </a:solidFill>
          <a:ln/>
        </p:spPr>
      </p:sp>
      <p:sp>
        <p:nvSpPr>
          <p:cNvPr id="3" name="Shape 1"/>
          <p:cNvSpPr/>
          <p:nvPr/>
        </p:nvSpPr>
        <p:spPr>
          <a:xfrm>
            <a:off x="9784080" y="-1280160"/>
            <a:ext cx="4572000" cy="4572000"/>
          </a:xfrm>
          <a:prstGeom prst="ellipse">
            <a:avLst/>
          </a:prstGeom>
          <a:solidFill>
            <a:srgbClr val="2E5E5E"/>
          </a:solidFill>
          <a:ln/>
        </p:spPr>
      </p:sp>
      <p:sp>
        <p:nvSpPr>
          <p:cNvPr id="4" name="Text 2"/>
          <p:cNvSpPr txBox="1"/>
          <p:nvPr/>
        </p:nvSpPr>
        <p:spPr>
          <a:xfrm>
            <a:off x="7863840" y="1965960"/>
            <a:ext cx="4206240" cy="1554480"/>
          </a:xfrm>
          <a:prstGeom prst="rect">
            <a:avLst/>
          </a:prstGeom>
          <a:noFill/>
          <a:ln/>
        </p:spPr>
        <p:txBody>
          <a:bodyPr wrap="square" lIns="0" tIns="0" rIns="0" bIns="0" rtlCol="0" anchor="ctr"/>
          <a:lstStyle/>
          <a:p>
            <a:pPr algn="ctr" indent="0" marL="0">
              <a:lnSpc>
                <a:spcPct val="100000"/>
              </a:lnSpc>
              <a:buNone/>
            </a:pPr>
            <a:r>
              <a:rPr lang="en-US" sz="4600" b="1" dirty="0">
                <a:solidFill>
                  <a:srgbClr val="FFFFFF"/>
                </a:solidFill>
                <a:latin typeface="Poppins" pitchFamily="34" charset="0"/>
                <a:ea typeface="Poppins" pitchFamily="34" charset="-122"/>
                <a:cs typeface="Poppins" pitchFamily="34" charset="-120"/>
              </a:rPr>
              <a:t>Every</a:t>
            </a:r>
            <a:endParaRPr lang="en-US" sz="4600" dirty="0"/>
          </a:p>
          <a:p>
            <a:pPr algn="ctr" indent="0" marL="0">
              <a:lnSpc>
                <a:spcPct val="100000"/>
              </a:lnSpc>
              <a:buNone/>
            </a:pPr>
            <a:r>
              <a:rPr lang="en-US" sz="4600" b="1" dirty="0">
                <a:solidFill>
                  <a:srgbClr val="FFFFFF"/>
                </a:solidFill>
                <a:latin typeface="Poppins" pitchFamily="34" charset="0"/>
                <a:ea typeface="Poppins" pitchFamily="34" charset="-122"/>
                <a:cs typeface="Poppins" pitchFamily="34" charset="-120"/>
              </a:rPr>
              <a:t>morning</a:t>
            </a:r>
            <a:endParaRPr lang="en-US" sz="4600" dirty="0"/>
          </a:p>
        </p:txBody>
      </p:sp>
      <p:sp>
        <p:nvSpPr>
          <p:cNvPr id="5" name="Text 3"/>
          <p:cNvSpPr txBox="1"/>
          <p:nvPr/>
        </p:nvSpPr>
        <p:spPr>
          <a:xfrm>
            <a:off x="7863840" y="3611880"/>
            <a:ext cx="4206240" cy="914400"/>
          </a:xfrm>
          <a:prstGeom prst="rect">
            <a:avLst/>
          </a:prstGeom>
          <a:noFill/>
          <a:ln/>
        </p:spPr>
        <p:txBody>
          <a:bodyPr wrap="square" lIns="0" tIns="0" rIns="0" bIns="0" rtlCol="0" anchor="ctr"/>
          <a:lstStyle/>
          <a:p>
            <a:pPr algn="ctr" indent="0" marL="0">
              <a:lnSpc>
                <a:spcPct val="130000"/>
              </a:lnSpc>
              <a:buNone/>
            </a:pPr>
            <a:r>
              <a:rPr lang="en-US" sz="1700" dirty="0">
                <a:solidFill>
                  <a:srgbClr val="B9D3D3"/>
                </a:solidFill>
                <a:latin typeface="Poppins" pitchFamily="34" charset="0"/>
                <a:ea typeface="Poppins" pitchFamily="34" charset="-122"/>
                <a:cs typeface="Poppins" pitchFamily="34" charset="-120"/>
              </a:rPr>
              <a:t>before the riders leave,</a:t>
            </a:r>
            <a:endParaRPr lang="en-US" sz="1700" dirty="0"/>
          </a:p>
          <a:p>
            <a:pPr algn="ctr" indent="0" marL="0">
              <a:lnSpc>
                <a:spcPct val="130000"/>
              </a:lnSpc>
              <a:buNone/>
            </a:pPr>
            <a:r>
              <a:rPr lang="en-US" sz="1700" dirty="0">
                <a:solidFill>
                  <a:srgbClr val="B9D3D3"/>
                </a:solidFill>
                <a:latin typeface="Poppins" pitchFamily="34" charset="0"/>
                <a:ea typeface="Poppins" pitchFamily="34" charset="-122"/>
                <a:cs typeface="Poppins" pitchFamily="34" charset="-120"/>
              </a:rPr>
              <a:t>she opens one screen</a:t>
            </a:r>
            <a:endParaRPr lang="en-US" sz="1700" dirty="0"/>
          </a:p>
        </p:txBody>
      </p:sp>
      <p:sp>
        <p:nvSpPr>
          <p:cNvPr id="6" name="Shape 4"/>
          <p:cNvSpPr/>
          <p:nvPr/>
        </p:nvSpPr>
        <p:spPr>
          <a:xfrm>
            <a:off x="685800" y="548640"/>
            <a:ext cx="54864" cy="411480"/>
          </a:xfrm>
          <a:prstGeom prst="rect">
            <a:avLst/>
          </a:prstGeom>
          <a:solidFill>
            <a:srgbClr val="387F7F"/>
          </a:solidFill>
          <a:ln/>
        </p:spPr>
      </p:sp>
      <p:sp>
        <p:nvSpPr>
          <p:cNvPr id="7" name="Text 5"/>
          <p:cNvSpPr txBox="1"/>
          <p:nvPr/>
        </p:nvSpPr>
        <p:spPr>
          <a:xfrm>
            <a:off x="868680" y="502920"/>
            <a:ext cx="6766560" cy="685800"/>
          </a:xfrm>
          <a:prstGeom prst="rect">
            <a:avLst/>
          </a:prstGeom>
          <a:noFill/>
          <a:ln/>
        </p:spPr>
        <p:txBody>
          <a:bodyPr wrap="square" lIns="0" tIns="0" rIns="0" bIns="0" rtlCol="0" anchor="t"/>
          <a:lstStyle/>
          <a:p>
            <a:pPr indent="0" marL="0">
              <a:lnSpc>
                <a:spcPct val="110000"/>
              </a:lnSpc>
              <a:buNone/>
            </a:pPr>
            <a:r>
              <a:rPr lang="en-US" sz="3300" dirty="0">
                <a:solidFill>
                  <a:srgbClr val="387F7F"/>
                </a:solidFill>
                <a:latin typeface="Poppins" pitchFamily="34" charset="0"/>
                <a:ea typeface="Poppins" pitchFamily="34" charset="-122"/>
                <a:cs typeface="Poppins" pitchFamily="34" charset="-120"/>
              </a:rPr>
              <a:t>Adaeze's Monday morning problem</a:t>
            </a:r>
            <a:endParaRPr lang="en-US" sz="3300" dirty="0"/>
          </a:p>
        </p:txBody>
      </p:sp>
      <p:sp>
        <p:nvSpPr>
          <p:cNvPr id="8" name="Text 6"/>
          <p:cNvSpPr txBox="1"/>
          <p:nvPr/>
        </p:nvSpPr>
        <p:spPr>
          <a:xfrm>
            <a:off x="713232" y="1417320"/>
            <a:ext cx="6766560" cy="1371600"/>
          </a:xfrm>
          <a:prstGeom prst="rect">
            <a:avLst/>
          </a:prstGeom>
          <a:noFill/>
          <a:ln/>
        </p:spPr>
        <p:txBody>
          <a:bodyPr wrap="square" lIns="0" tIns="0" rIns="0" bIns="0" rtlCol="0" anchor="ctr"/>
          <a:lstStyle/>
          <a:p>
            <a:pPr indent="0" marL="0">
              <a:lnSpc>
                <a:spcPct val="135000"/>
              </a:lnSpc>
              <a:buNone/>
            </a:pPr>
            <a:r>
              <a:rPr lang="en-US" sz="1700" dirty="0">
                <a:solidFill>
                  <a:srgbClr val="475569"/>
                </a:solidFill>
                <a:latin typeface="Poppins" pitchFamily="34" charset="0"/>
                <a:ea typeface="Poppins" pitchFamily="34" charset="-122"/>
                <a:cs typeface="Poppins" pitchFamily="34" charset="-120"/>
              </a:rPr>
              <a:t>It's the Monday after quarter close. Adaeze Nwosu opens SwiftRoute's raw Q3 export: three sheets, thousands of rows, one quarter of deliveries, fuel spend and complaints.</a:t>
            </a:r>
            <a:endParaRPr lang="en-US" sz="1700" dirty="0"/>
          </a:p>
        </p:txBody>
      </p:sp>
      <p:sp>
        <p:nvSpPr>
          <p:cNvPr id="9" name="Text 7"/>
          <p:cNvSpPr txBox="1"/>
          <p:nvPr/>
        </p:nvSpPr>
        <p:spPr>
          <a:xfrm>
            <a:off x="713232" y="2459736"/>
            <a:ext cx="6766560" cy="1371600"/>
          </a:xfrm>
          <a:prstGeom prst="rect">
            <a:avLst/>
          </a:prstGeom>
          <a:noFill/>
          <a:ln/>
        </p:spPr>
        <p:txBody>
          <a:bodyPr wrap="square" lIns="0" tIns="0" rIns="0" bIns="0" rtlCol="0" anchor="ctr"/>
          <a:lstStyle/>
          <a:p>
            <a:pPr indent="0" marL="0">
              <a:lnSpc>
                <a:spcPct val="135000"/>
              </a:lnSpc>
              <a:buNone/>
            </a:pPr>
            <a:r>
              <a:rPr lang="en-US" sz="1700" dirty="0">
                <a:solidFill>
                  <a:srgbClr val="475569"/>
                </a:solidFill>
                <a:latin typeface="Poppins" pitchFamily="34" charset="0"/>
                <a:ea typeface="Poppins" pitchFamily="34" charset="-122"/>
                <a:cs typeface="Poppins" pitchFamily="34" charset="-120"/>
              </a:rPr>
              <a:t>Dates written five ways. Fees stored as text. "peace etim" and "PEACE ETIM " look like two different riders to a computer. At least one delivery is logged twice.</a:t>
            </a:r>
            <a:endParaRPr lang="en-US" sz="1700" dirty="0"/>
          </a:p>
        </p:txBody>
      </p:sp>
      <p:sp>
        <p:nvSpPr>
          <p:cNvPr id="10" name="Text 8"/>
          <p:cNvSpPr txBox="1"/>
          <p:nvPr/>
        </p:nvSpPr>
        <p:spPr>
          <a:xfrm>
            <a:off x="713232" y="3502152"/>
            <a:ext cx="6766560" cy="1371600"/>
          </a:xfrm>
          <a:prstGeom prst="rect">
            <a:avLst/>
          </a:prstGeom>
          <a:noFill/>
          <a:ln/>
        </p:spPr>
        <p:txBody>
          <a:bodyPr wrap="square" lIns="0" tIns="0" rIns="0" bIns="0" rtlCol="0" anchor="ctr"/>
          <a:lstStyle/>
          <a:p>
            <a:pPr indent="0" marL="0">
              <a:lnSpc>
                <a:spcPct val="135000"/>
              </a:lnSpc>
              <a:buNone/>
            </a:pPr>
            <a:r>
              <a:rPr lang="en-US" sz="1700" dirty="0">
                <a:solidFill>
                  <a:srgbClr val="475569"/>
                </a:solidFill>
                <a:latin typeface="Poppins" pitchFamily="34" charset="0"/>
                <a:ea typeface="Poppins" pitchFamily="34" charset="-122"/>
                <a:cs typeface="Poppins" pitchFamily="34" charset="-120"/>
              </a:rPr>
              <a:t>The board wants a verified one-pager by Wednesday. This is the file you're about to open.</a:t>
            </a:r>
            <a:endParaRPr lang="en-US" sz="1700" dirty="0"/>
          </a:p>
        </p:txBody>
      </p:sp>
      <p:sp>
        <p:nvSpPr>
          <p:cNvPr id="11" name="Shape 9"/>
          <p:cNvSpPr/>
          <p:nvPr/>
        </p:nvSpPr>
        <p:spPr>
          <a:xfrm>
            <a:off x="713232" y="5806440"/>
            <a:ext cx="6766560" cy="0"/>
          </a:xfrm>
          <a:prstGeom prst="line">
            <a:avLst/>
          </a:prstGeom>
          <a:noFill/>
          <a:ln w="12700">
            <a:solidFill>
              <a:srgbClr val="E2E8F0"/>
            </a:solidFill>
            <a:prstDash val="solid"/>
          </a:ln>
        </p:spPr>
      </p:sp>
      <p:sp>
        <p:nvSpPr>
          <p:cNvPr id="12" name="Text 10"/>
          <p:cNvSpPr txBox="1"/>
          <p:nvPr/>
        </p:nvSpPr>
        <p:spPr>
          <a:xfrm>
            <a:off x="713232" y="5943600"/>
            <a:ext cx="6766560" cy="502920"/>
          </a:xfrm>
          <a:prstGeom prst="rect">
            <a:avLst/>
          </a:prstGeom>
          <a:noFill/>
          <a:ln/>
        </p:spPr>
        <p:txBody>
          <a:bodyPr wrap="square" lIns="0" tIns="0" rIns="0" bIns="0" rtlCol="0" anchor="ctr"/>
          <a:lstStyle/>
          <a:p>
            <a:pPr indent="0" marL="0">
              <a:lnSpc>
                <a:spcPct val="115000"/>
              </a:lnSpc>
              <a:buNone/>
            </a:pPr>
            <a:r>
              <a:rPr lang="en-US" sz="1300" i="1" dirty="0">
                <a:solidFill>
                  <a:srgbClr val="64748B"/>
                </a:solidFill>
                <a:latin typeface="Poppins" pitchFamily="34" charset="0"/>
                <a:ea typeface="Poppins" pitchFamily="34" charset="-122"/>
                <a:cs typeface="Poppins" pitchFamily="34" charset="-120"/>
              </a:rPr>
              <a:t>SwiftRoute Logistics - the same fictional company from Module 7, continuous story, new raw extract.</a:t>
            </a:r>
            <a:endParaRPr lang="en-US" sz="1300" dirty="0"/>
          </a:p>
        </p:txBody>
      </p:sp>
      <p:pic>
        <p:nvPicPr>
          <p:cNvPr id="13" name="Image 0" descr="/home/claude/assets/logo_full.png">    </p:cNvPr>
          <p:cNvPicPr>
            <a:picLocks noChangeAspect="1"/>
          </p:cNvPicPr>
          <p:nvPr/>
        </p:nvPicPr>
        <p:blipFill>
          <a:blip r:embed="rId2"/>
          <a:stretch>
            <a:fillRect/>
          </a:stretch>
        </p:blipFill>
        <p:spPr>
          <a:xfrm>
            <a:off x="10998403" y="5949086"/>
            <a:ext cx="431597" cy="375337"/>
          </a:xfrm>
          <a:prstGeom prst="rect">
            <a:avLst/>
          </a:prstGeom>
        </p:spPr>
      </p:pic>
      <p:sp>
        <p:nvSpPr>
          <p:cNvPr id="14" name="Text 11"/>
          <p:cNvSpPr txBox="1"/>
          <p:nvPr/>
        </p:nvSpPr>
        <p:spPr>
          <a:xfrm>
            <a:off x="11688775" y="6473952"/>
            <a:ext cx="365760" cy="274320"/>
          </a:xfrm>
          <a:prstGeom prst="rect">
            <a:avLst/>
          </a:prstGeom>
          <a:noFill/>
          <a:ln/>
        </p:spPr>
        <p:txBody>
          <a:bodyPr wrap="square" lIns="0" tIns="0" rIns="0" bIns="0" rtlCol="0" anchor="ctr"/>
          <a:lstStyle/>
          <a:p>
            <a:pPr algn="r" indent="0" marL="0">
              <a:buNone/>
            </a:pPr>
            <a:r>
              <a:rPr lang="en-US" sz="1100" dirty="0">
                <a:solidFill>
                  <a:srgbClr val="64748B"/>
                </a:solidFill>
                <a:latin typeface="Poppins" pitchFamily="34" charset="0"/>
                <a:ea typeface="Poppins" pitchFamily="34" charset="-122"/>
                <a:cs typeface="Poppins" pitchFamily="34" charset="-120"/>
              </a:rPr>
              <a:t>4</a:t>
            </a:r>
            <a:endParaRPr lang="en-US" sz="11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11024006" y="1958645"/>
            <a:ext cx="4133088" cy="4038905"/>
          </a:xfrm>
          <a:prstGeom prst="ellipse">
            <a:avLst/>
          </a:prstGeom>
          <a:solidFill>
            <a:srgbClr val="387F7F"/>
          </a:solidFill>
          <a:ln/>
        </p:spPr>
      </p:sp>
      <p:sp>
        <p:nvSpPr>
          <p:cNvPr id="3" name="Shape 1"/>
          <p:cNvSpPr/>
          <p:nvPr/>
        </p:nvSpPr>
        <p:spPr>
          <a:xfrm>
            <a:off x="11316614" y="2675534"/>
            <a:ext cx="1051560" cy="2162556"/>
          </a:xfrm>
          <a:prstGeom prst="ellipse">
            <a:avLst/>
          </a:prstGeom>
          <a:solidFill>
            <a:srgbClr val="387F7F"/>
          </a:solidFill>
          <a:ln/>
        </p:spPr>
      </p:sp>
      <p:sp>
        <p:nvSpPr>
          <p:cNvPr id="4" name="Shape 2"/>
          <p:cNvSpPr/>
          <p:nvPr/>
        </p:nvSpPr>
        <p:spPr>
          <a:xfrm>
            <a:off x="685800" y="548640"/>
            <a:ext cx="54864" cy="411480"/>
          </a:xfrm>
          <a:prstGeom prst="rect">
            <a:avLst/>
          </a:prstGeom>
          <a:solidFill>
            <a:srgbClr val="387F7F"/>
          </a:solidFill>
          <a:ln/>
        </p:spPr>
      </p:sp>
      <p:sp>
        <p:nvSpPr>
          <p:cNvPr id="5" name="Text 3"/>
          <p:cNvSpPr txBox="1"/>
          <p:nvPr/>
        </p:nvSpPr>
        <p:spPr>
          <a:xfrm>
            <a:off x="868680" y="502920"/>
            <a:ext cx="9966960" cy="685800"/>
          </a:xfrm>
          <a:prstGeom prst="rect">
            <a:avLst/>
          </a:prstGeom>
          <a:noFill/>
          <a:ln/>
        </p:spPr>
        <p:txBody>
          <a:bodyPr wrap="square" lIns="0" tIns="0" rIns="0" bIns="0" rtlCol="0" anchor="t"/>
          <a:lstStyle/>
          <a:p>
            <a:pPr indent="0" marL="0">
              <a:lnSpc>
                <a:spcPct val="110000"/>
              </a:lnSpc>
              <a:buNone/>
            </a:pPr>
            <a:r>
              <a:rPr lang="en-US" sz="3300" dirty="0">
                <a:solidFill>
                  <a:srgbClr val="387F7F"/>
                </a:solidFill>
                <a:latin typeface="Poppins" pitchFamily="34" charset="0"/>
                <a:ea typeface="Poppins" pitchFamily="34" charset="-122"/>
                <a:cs typeface="Poppins" pitchFamily="34" charset="-120"/>
              </a:rPr>
              <a:t>By the end of Topic 8.1, you can</a:t>
            </a:r>
            <a:endParaRPr lang="en-US" sz="3300" dirty="0"/>
          </a:p>
        </p:txBody>
      </p:sp>
      <p:sp>
        <p:nvSpPr>
          <p:cNvPr id="6" name="Shape 4"/>
          <p:cNvSpPr/>
          <p:nvPr/>
        </p:nvSpPr>
        <p:spPr>
          <a:xfrm>
            <a:off x="685800" y="1600200"/>
            <a:ext cx="2366010" cy="3794760"/>
          </a:xfrm>
          <a:prstGeom prst="roundRect">
            <a:avLst>
              <a:gd name="adj" fmla="val 3478"/>
            </a:avLst>
          </a:prstGeom>
          <a:solidFill>
            <a:srgbClr val="FFFFFF"/>
          </a:solidFill>
          <a:ln/>
          <a:effectLst>
            <a:outerShdw sx="100000" sy="100000" kx="0" ky="0" algn="bl" rotWithShape="0" blurRad="127000" dist="38100" dir="5400000">
              <a:srgbClr val="1B2A2E">
                <a:alpha val="12000"/>
              </a:srgbClr>
            </a:outerShdw>
          </a:effectLst>
        </p:spPr>
      </p:sp>
      <p:sp>
        <p:nvSpPr>
          <p:cNvPr id="7" name="Shape 5"/>
          <p:cNvSpPr/>
          <p:nvPr/>
        </p:nvSpPr>
        <p:spPr>
          <a:xfrm>
            <a:off x="685800" y="1600200"/>
            <a:ext cx="2366010" cy="1051560"/>
          </a:xfrm>
          <a:prstGeom prst="roundRect">
            <a:avLst>
              <a:gd name="adj" fmla="val 7826"/>
            </a:avLst>
          </a:prstGeom>
          <a:solidFill>
            <a:srgbClr val="387F7F"/>
          </a:solidFill>
          <a:ln/>
        </p:spPr>
      </p:sp>
      <p:sp>
        <p:nvSpPr>
          <p:cNvPr id="8" name="Shape 6"/>
          <p:cNvSpPr/>
          <p:nvPr/>
        </p:nvSpPr>
        <p:spPr>
          <a:xfrm>
            <a:off x="685800" y="2057400"/>
            <a:ext cx="2366010" cy="594360"/>
          </a:xfrm>
          <a:prstGeom prst="rect">
            <a:avLst/>
          </a:prstGeom>
          <a:solidFill>
            <a:srgbClr val="387F7F"/>
          </a:solidFill>
          <a:ln/>
        </p:spPr>
      </p:sp>
      <p:sp>
        <p:nvSpPr>
          <p:cNvPr id="9" name="Text 7"/>
          <p:cNvSpPr txBox="1"/>
          <p:nvPr/>
        </p:nvSpPr>
        <p:spPr>
          <a:xfrm>
            <a:off x="2091690" y="1554480"/>
            <a:ext cx="914400" cy="1097280"/>
          </a:xfrm>
          <a:prstGeom prst="rect">
            <a:avLst/>
          </a:prstGeom>
          <a:noFill/>
          <a:ln/>
        </p:spPr>
        <p:txBody>
          <a:bodyPr wrap="square" lIns="0" tIns="0" rIns="0" bIns="0" rtlCol="0" anchor="ctr"/>
          <a:lstStyle/>
          <a:p>
            <a:pPr algn="r" indent="0" marL="0">
              <a:buNone/>
            </a:pPr>
            <a:r>
              <a:rPr lang="en-US" sz="5800" b="1" dirty="0">
                <a:solidFill>
                  <a:srgbClr val="5A9A9A"/>
                </a:solidFill>
                <a:latin typeface="Poppins" pitchFamily="34" charset="0"/>
                <a:ea typeface="Poppins" pitchFamily="34" charset="-122"/>
                <a:cs typeface="Poppins" pitchFamily="34" charset="-120"/>
              </a:rPr>
              <a:t>1</a:t>
            </a:r>
            <a:endParaRPr lang="en-US" sz="5800" dirty="0"/>
          </a:p>
        </p:txBody>
      </p:sp>
      <p:sp>
        <p:nvSpPr>
          <p:cNvPr id="10" name="Text 8"/>
          <p:cNvSpPr txBox="1"/>
          <p:nvPr/>
        </p:nvSpPr>
        <p:spPr>
          <a:xfrm>
            <a:off x="941832" y="1600200"/>
            <a:ext cx="1817370" cy="1051560"/>
          </a:xfrm>
          <a:prstGeom prst="rect">
            <a:avLst/>
          </a:prstGeom>
          <a:noFill/>
          <a:ln/>
        </p:spPr>
        <p:txBody>
          <a:bodyPr wrap="square" lIns="0" tIns="0" rIns="0" bIns="0" rtlCol="0" anchor="ctr"/>
          <a:lstStyle/>
          <a:p>
            <a:pPr indent="0" marL="0">
              <a:buNone/>
            </a:pPr>
            <a:r>
              <a:rPr lang="en-US" sz="2100" b="1" dirty="0">
                <a:solidFill>
                  <a:srgbClr val="FFFFFF"/>
                </a:solidFill>
                <a:latin typeface="Poppins" pitchFamily="34" charset="0"/>
                <a:ea typeface="Poppins" pitchFamily="34" charset="-122"/>
                <a:cs typeface="Poppins" pitchFamily="34" charset="-120"/>
              </a:rPr>
              <a:t>Run</a:t>
            </a:r>
            <a:endParaRPr lang="en-US" sz="2100" dirty="0"/>
          </a:p>
        </p:txBody>
      </p:sp>
      <p:sp>
        <p:nvSpPr>
          <p:cNvPr id="11" name="Text 9"/>
          <p:cNvSpPr txBox="1"/>
          <p:nvPr/>
        </p:nvSpPr>
        <p:spPr>
          <a:xfrm>
            <a:off x="941832" y="2880360"/>
            <a:ext cx="1853946" cy="2286000"/>
          </a:xfrm>
          <a:prstGeom prst="rect">
            <a:avLst/>
          </a:prstGeom>
          <a:noFill/>
          <a:ln/>
        </p:spPr>
        <p:txBody>
          <a:bodyPr wrap="square" lIns="0" tIns="0" rIns="0" bIns="0" rtlCol="0" anchor="t"/>
          <a:lstStyle/>
          <a:p>
            <a:pPr indent="0" marL="0">
              <a:lnSpc>
                <a:spcPct val="135000"/>
              </a:lnSpc>
              <a:buNone/>
            </a:pPr>
            <a:r>
              <a:rPr lang="en-US" sz="1450" dirty="0">
                <a:solidFill>
                  <a:srgbClr val="475569"/>
                </a:solidFill>
                <a:latin typeface="Poppins" pitchFamily="34" charset="0"/>
                <a:ea typeface="Poppins" pitchFamily="34" charset="-122"/>
                <a:cs typeface="Poppins" pitchFamily="34" charset="-120"/>
              </a:rPr>
              <a:t>a raw file through all four pipeline stages - clean, analyse, visualise, report - with AI assistance at each one.</a:t>
            </a:r>
            <a:endParaRPr lang="en-US" sz="1450" dirty="0"/>
          </a:p>
        </p:txBody>
      </p:sp>
      <p:sp>
        <p:nvSpPr>
          <p:cNvPr id="12" name="Shape 10"/>
          <p:cNvSpPr/>
          <p:nvPr/>
        </p:nvSpPr>
        <p:spPr>
          <a:xfrm>
            <a:off x="3371850" y="1600200"/>
            <a:ext cx="2366010" cy="3794760"/>
          </a:xfrm>
          <a:prstGeom prst="roundRect">
            <a:avLst>
              <a:gd name="adj" fmla="val 3478"/>
            </a:avLst>
          </a:prstGeom>
          <a:solidFill>
            <a:srgbClr val="FFFFFF"/>
          </a:solidFill>
          <a:ln/>
          <a:effectLst>
            <a:outerShdw sx="100000" sy="100000" kx="0" ky="0" algn="bl" rotWithShape="0" blurRad="127000" dist="38100" dir="5400000">
              <a:srgbClr val="1B2A2E">
                <a:alpha val="12000"/>
              </a:srgbClr>
            </a:outerShdw>
          </a:effectLst>
        </p:spPr>
      </p:sp>
      <p:sp>
        <p:nvSpPr>
          <p:cNvPr id="13" name="Shape 11"/>
          <p:cNvSpPr/>
          <p:nvPr/>
        </p:nvSpPr>
        <p:spPr>
          <a:xfrm>
            <a:off x="3371850" y="1600200"/>
            <a:ext cx="2366010" cy="1051560"/>
          </a:xfrm>
          <a:prstGeom prst="roundRect">
            <a:avLst>
              <a:gd name="adj" fmla="val 7826"/>
            </a:avLst>
          </a:prstGeom>
          <a:solidFill>
            <a:srgbClr val="387F7F"/>
          </a:solidFill>
          <a:ln/>
        </p:spPr>
      </p:sp>
      <p:sp>
        <p:nvSpPr>
          <p:cNvPr id="14" name="Shape 12"/>
          <p:cNvSpPr/>
          <p:nvPr/>
        </p:nvSpPr>
        <p:spPr>
          <a:xfrm>
            <a:off x="3371850" y="2057400"/>
            <a:ext cx="2366010" cy="594360"/>
          </a:xfrm>
          <a:prstGeom prst="rect">
            <a:avLst/>
          </a:prstGeom>
          <a:solidFill>
            <a:srgbClr val="387F7F"/>
          </a:solidFill>
          <a:ln/>
        </p:spPr>
      </p:sp>
      <p:sp>
        <p:nvSpPr>
          <p:cNvPr id="15" name="Text 13"/>
          <p:cNvSpPr txBox="1"/>
          <p:nvPr/>
        </p:nvSpPr>
        <p:spPr>
          <a:xfrm>
            <a:off x="4777740" y="1554480"/>
            <a:ext cx="914400" cy="1097280"/>
          </a:xfrm>
          <a:prstGeom prst="rect">
            <a:avLst/>
          </a:prstGeom>
          <a:noFill/>
          <a:ln/>
        </p:spPr>
        <p:txBody>
          <a:bodyPr wrap="square" lIns="0" tIns="0" rIns="0" bIns="0" rtlCol="0" anchor="ctr"/>
          <a:lstStyle/>
          <a:p>
            <a:pPr algn="r" indent="0" marL="0">
              <a:buNone/>
            </a:pPr>
            <a:r>
              <a:rPr lang="en-US" sz="5800" b="1" dirty="0">
                <a:solidFill>
                  <a:srgbClr val="5A9A9A"/>
                </a:solidFill>
                <a:latin typeface="Poppins" pitchFamily="34" charset="0"/>
                <a:ea typeface="Poppins" pitchFamily="34" charset="-122"/>
                <a:cs typeface="Poppins" pitchFamily="34" charset="-120"/>
              </a:rPr>
              <a:t>2</a:t>
            </a:r>
            <a:endParaRPr lang="en-US" sz="5800" dirty="0"/>
          </a:p>
        </p:txBody>
      </p:sp>
      <p:sp>
        <p:nvSpPr>
          <p:cNvPr id="16" name="Text 14"/>
          <p:cNvSpPr txBox="1"/>
          <p:nvPr/>
        </p:nvSpPr>
        <p:spPr>
          <a:xfrm>
            <a:off x="3627882" y="1600200"/>
            <a:ext cx="1817370" cy="1051560"/>
          </a:xfrm>
          <a:prstGeom prst="rect">
            <a:avLst/>
          </a:prstGeom>
          <a:noFill/>
          <a:ln/>
        </p:spPr>
        <p:txBody>
          <a:bodyPr wrap="square" lIns="0" tIns="0" rIns="0" bIns="0" rtlCol="0" anchor="ctr"/>
          <a:lstStyle/>
          <a:p>
            <a:pPr indent="0" marL="0">
              <a:buNone/>
            </a:pPr>
            <a:r>
              <a:rPr lang="en-US" sz="2100" b="1" dirty="0">
                <a:solidFill>
                  <a:srgbClr val="FFFFFF"/>
                </a:solidFill>
                <a:latin typeface="Poppins" pitchFamily="34" charset="0"/>
                <a:ea typeface="Poppins" pitchFamily="34" charset="-122"/>
                <a:cs typeface="Poppins" pitchFamily="34" charset="-120"/>
              </a:rPr>
              <a:t>Apply</a:t>
            </a:r>
            <a:endParaRPr lang="en-US" sz="2100" dirty="0"/>
          </a:p>
        </p:txBody>
      </p:sp>
      <p:sp>
        <p:nvSpPr>
          <p:cNvPr id="17" name="Text 15"/>
          <p:cNvSpPr txBox="1"/>
          <p:nvPr/>
        </p:nvSpPr>
        <p:spPr>
          <a:xfrm>
            <a:off x="3627882" y="2880360"/>
            <a:ext cx="1853946" cy="2286000"/>
          </a:xfrm>
          <a:prstGeom prst="rect">
            <a:avLst/>
          </a:prstGeom>
          <a:noFill/>
          <a:ln/>
        </p:spPr>
        <p:txBody>
          <a:bodyPr wrap="square" lIns="0" tIns="0" rIns="0" bIns="0" rtlCol="0" anchor="t"/>
          <a:lstStyle/>
          <a:p>
            <a:pPr indent="0" marL="0">
              <a:lnSpc>
                <a:spcPct val="135000"/>
              </a:lnSpc>
              <a:buNone/>
            </a:pPr>
            <a:r>
              <a:rPr lang="en-US" sz="1450" dirty="0">
                <a:solidFill>
                  <a:srgbClr val="475569"/>
                </a:solidFill>
                <a:latin typeface="Poppins" pitchFamily="34" charset="0"/>
                <a:ea typeface="Poppins" pitchFamily="34" charset="-122"/>
                <a:cs typeface="Poppins" pitchFamily="34" charset="-120"/>
              </a:rPr>
              <a:t>the verification checklist to any AI-produced number, chart or claim before it goes in a report.</a:t>
            </a:r>
            <a:endParaRPr lang="en-US" sz="1450" dirty="0"/>
          </a:p>
        </p:txBody>
      </p:sp>
      <p:sp>
        <p:nvSpPr>
          <p:cNvPr id="18" name="Shape 16"/>
          <p:cNvSpPr/>
          <p:nvPr/>
        </p:nvSpPr>
        <p:spPr>
          <a:xfrm>
            <a:off x="6057900" y="1600200"/>
            <a:ext cx="2366010" cy="3794760"/>
          </a:xfrm>
          <a:prstGeom prst="roundRect">
            <a:avLst>
              <a:gd name="adj" fmla="val 3478"/>
            </a:avLst>
          </a:prstGeom>
          <a:solidFill>
            <a:srgbClr val="FFFFFF"/>
          </a:solidFill>
          <a:ln/>
          <a:effectLst>
            <a:outerShdw sx="100000" sy="100000" kx="0" ky="0" algn="bl" rotWithShape="0" blurRad="127000" dist="38100" dir="5400000">
              <a:srgbClr val="1B2A2E">
                <a:alpha val="12000"/>
              </a:srgbClr>
            </a:outerShdw>
          </a:effectLst>
        </p:spPr>
      </p:sp>
      <p:sp>
        <p:nvSpPr>
          <p:cNvPr id="19" name="Shape 17"/>
          <p:cNvSpPr/>
          <p:nvPr/>
        </p:nvSpPr>
        <p:spPr>
          <a:xfrm>
            <a:off x="6057900" y="1600200"/>
            <a:ext cx="2366010" cy="1051560"/>
          </a:xfrm>
          <a:prstGeom prst="roundRect">
            <a:avLst>
              <a:gd name="adj" fmla="val 7826"/>
            </a:avLst>
          </a:prstGeom>
          <a:solidFill>
            <a:srgbClr val="387F7F"/>
          </a:solidFill>
          <a:ln/>
        </p:spPr>
      </p:sp>
      <p:sp>
        <p:nvSpPr>
          <p:cNvPr id="20" name="Shape 18"/>
          <p:cNvSpPr/>
          <p:nvPr/>
        </p:nvSpPr>
        <p:spPr>
          <a:xfrm>
            <a:off x="6057900" y="2057400"/>
            <a:ext cx="2366010" cy="594360"/>
          </a:xfrm>
          <a:prstGeom prst="rect">
            <a:avLst/>
          </a:prstGeom>
          <a:solidFill>
            <a:srgbClr val="387F7F"/>
          </a:solidFill>
          <a:ln/>
        </p:spPr>
      </p:sp>
      <p:sp>
        <p:nvSpPr>
          <p:cNvPr id="21" name="Text 19"/>
          <p:cNvSpPr txBox="1"/>
          <p:nvPr/>
        </p:nvSpPr>
        <p:spPr>
          <a:xfrm>
            <a:off x="7463790" y="1554480"/>
            <a:ext cx="914400" cy="1097280"/>
          </a:xfrm>
          <a:prstGeom prst="rect">
            <a:avLst/>
          </a:prstGeom>
          <a:noFill/>
          <a:ln/>
        </p:spPr>
        <p:txBody>
          <a:bodyPr wrap="square" lIns="0" tIns="0" rIns="0" bIns="0" rtlCol="0" anchor="ctr"/>
          <a:lstStyle/>
          <a:p>
            <a:pPr algn="r" indent="0" marL="0">
              <a:buNone/>
            </a:pPr>
            <a:r>
              <a:rPr lang="en-US" sz="5800" b="1" dirty="0">
                <a:solidFill>
                  <a:srgbClr val="5A9A9A"/>
                </a:solidFill>
                <a:latin typeface="Poppins" pitchFamily="34" charset="0"/>
                <a:ea typeface="Poppins" pitchFamily="34" charset="-122"/>
                <a:cs typeface="Poppins" pitchFamily="34" charset="-120"/>
              </a:rPr>
              <a:t>3</a:t>
            </a:r>
            <a:endParaRPr lang="en-US" sz="5800" dirty="0"/>
          </a:p>
        </p:txBody>
      </p:sp>
      <p:sp>
        <p:nvSpPr>
          <p:cNvPr id="22" name="Text 20"/>
          <p:cNvSpPr txBox="1"/>
          <p:nvPr/>
        </p:nvSpPr>
        <p:spPr>
          <a:xfrm>
            <a:off x="6313932" y="1600200"/>
            <a:ext cx="1817370" cy="1051560"/>
          </a:xfrm>
          <a:prstGeom prst="rect">
            <a:avLst/>
          </a:prstGeom>
          <a:noFill/>
          <a:ln/>
        </p:spPr>
        <p:txBody>
          <a:bodyPr wrap="square" lIns="0" tIns="0" rIns="0" bIns="0" rtlCol="0" anchor="ctr"/>
          <a:lstStyle/>
          <a:p>
            <a:pPr indent="0" marL="0">
              <a:buNone/>
            </a:pPr>
            <a:r>
              <a:rPr lang="en-US" sz="2100" b="1" dirty="0">
                <a:solidFill>
                  <a:srgbClr val="FFFFFF"/>
                </a:solidFill>
                <a:latin typeface="Poppins" pitchFamily="34" charset="0"/>
                <a:ea typeface="Poppins" pitchFamily="34" charset="-122"/>
                <a:cs typeface="Poppins" pitchFamily="34" charset="-120"/>
              </a:rPr>
              <a:t>Explain</a:t>
            </a:r>
            <a:endParaRPr lang="en-US" sz="2100" dirty="0"/>
          </a:p>
        </p:txBody>
      </p:sp>
      <p:sp>
        <p:nvSpPr>
          <p:cNvPr id="23" name="Text 21"/>
          <p:cNvSpPr txBox="1"/>
          <p:nvPr/>
        </p:nvSpPr>
        <p:spPr>
          <a:xfrm>
            <a:off x="6313932" y="2880360"/>
            <a:ext cx="1853946" cy="2286000"/>
          </a:xfrm>
          <a:prstGeom prst="rect">
            <a:avLst/>
          </a:prstGeom>
          <a:noFill/>
          <a:ln/>
        </p:spPr>
        <p:txBody>
          <a:bodyPr wrap="square" lIns="0" tIns="0" rIns="0" bIns="0" rtlCol="0" anchor="t"/>
          <a:lstStyle/>
          <a:p>
            <a:pPr indent="0" marL="0">
              <a:lnSpc>
                <a:spcPct val="135000"/>
              </a:lnSpc>
              <a:buNone/>
            </a:pPr>
            <a:r>
              <a:rPr lang="en-US" sz="1450" dirty="0">
                <a:solidFill>
                  <a:srgbClr val="475569"/>
                </a:solidFill>
                <a:latin typeface="Poppins" pitchFamily="34" charset="0"/>
                <a:ea typeface="Poppins" pitchFamily="34" charset="-122"/>
                <a:cs typeface="Poppins" pitchFamily="34" charset="-120"/>
              </a:rPr>
              <a:t>predict-then-run as it applies to pipeline output, not just individual formulas.</a:t>
            </a:r>
            <a:endParaRPr lang="en-US" sz="1450" dirty="0"/>
          </a:p>
        </p:txBody>
      </p:sp>
      <p:sp>
        <p:nvSpPr>
          <p:cNvPr id="24" name="Shape 22"/>
          <p:cNvSpPr/>
          <p:nvPr/>
        </p:nvSpPr>
        <p:spPr>
          <a:xfrm>
            <a:off x="8743950" y="1600200"/>
            <a:ext cx="2366010" cy="3794760"/>
          </a:xfrm>
          <a:prstGeom prst="roundRect">
            <a:avLst>
              <a:gd name="adj" fmla="val 3478"/>
            </a:avLst>
          </a:prstGeom>
          <a:solidFill>
            <a:srgbClr val="FFFFFF"/>
          </a:solidFill>
          <a:ln/>
          <a:effectLst>
            <a:outerShdw sx="100000" sy="100000" kx="0" ky="0" algn="bl" rotWithShape="0" blurRad="127000" dist="38100" dir="5400000">
              <a:srgbClr val="1B2A2E">
                <a:alpha val="12000"/>
              </a:srgbClr>
            </a:outerShdw>
          </a:effectLst>
        </p:spPr>
      </p:sp>
      <p:sp>
        <p:nvSpPr>
          <p:cNvPr id="25" name="Shape 23"/>
          <p:cNvSpPr/>
          <p:nvPr/>
        </p:nvSpPr>
        <p:spPr>
          <a:xfrm>
            <a:off x="8743950" y="1600200"/>
            <a:ext cx="2366010" cy="1051560"/>
          </a:xfrm>
          <a:prstGeom prst="roundRect">
            <a:avLst>
              <a:gd name="adj" fmla="val 7826"/>
            </a:avLst>
          </a:prstGeom>
          <a:solidFill>
            <a:srgbClr val="387F7F"/>
          </a:solidFill>
          <a:ln/>
        </p:spPr>
      </p:sp>
      <p:sp>
        <p:nvSpPr>
          <p:cNvPr id="26" name="Shape 24"/>
          <p:cNvSpPr/>
          <p:nvPr/>
        </p:nvSpPr>
        <p:spPr>
          <a:xfrm>
            <a:off x="8743950" y="2057400"/>
            <a:ext cx="2366010" cy="594360"/>
          </a:xfrm>
          <a:prstGeom prst="rect">
            <a:avLst/>
          </a:prstGeom>
          <a:solidFill>
            <a:srgbClr val="387F7F"/>
          </a:solidFill>
          <a:ln/>
        </p:spPr>
      </p:sp>
      <p:sp>
        <p:nvSpPr>
          <p:cNvPr id="27" name="Text 25"/>
          <p:cNvSpPr txBox="1"/>
          <p:nvPr/>
        </p:nvSpPr>
        <p:spPr>
          <a:xfrm>
            <a:off x="10149840" y="1554480"/>
            <a:ext cx="914400" cy="1097280"/>
          </a:xfrm>
          <a:prstGeom prst="rect">
            <a:avLst/>
          </a:prstGeom>
          <a:noFill/>
          <a:ln/>
        </p:spPr>
        <p:txBody>
          <a:bodyPr wrap="square" lIns="0" tIns="0" rIns="0" bIns="0" rtlCol="0" anchor="ctr"/>
          <a:lstStyle/>
          <a:p>
            <a:pPr algn="r" indent="0" marL="0">
              <a:buNone/>
            </a:pPr>
            <a:r>
              <a:rPr lang="en-US" sz="5800" b="1" dirty="0">
                <a:solidFill>
                  <a:srgbClr val="5A9A9A"/>
                </a:solidFill>
                <a:latin typeface="Poppins" pitchFamily="34" charset="0"/>
                <a:ea typeface="Poppins" pitchFamily="34" charset="-122"/>
                <a:cs typeface="Poppins" pitchFamily="34" charset="-120"/>
              </a:rPr>
              <a:t>4</a:t>
            </a:r>
            <a:endParaRPr lang="en-US" sz="5800" dirty="0"/>
          </a:p>
        </p:txBody>
      </p:sp>
      <p:sp>
        <p:nvSpPr>
          <p:cNvPr id="28" name="Text 26"/>
          <p:cNvSpPr txBox="1"/>
          <p:nvPr/>
        </p:nvSpPr>
        <p:spPr>
          <a:xfrm>
            <a:off x="8999982" y="1600200"/>
            <a:ext cx="1817370" cy="1051560"/>
          </a:xfrm>
          <a:prstGeom prst="rect">
            <a:avLst/>
          </a:prstGeom>
          <a:noFill/>
          <a:ln/>
        </p:spPr>
        <p:txBody>
          <a:bodyPr wrap="square" lIns="0" tIns="0" rIns="0" bIns="0" rtlCol="0" anchor="ctr"/>
          <a:lstStyle/>
          <a:p>
            <a:pPr indent="0" marL="0">
              <a:buNone/>
            </a:pPr>
            <a:r>
              <a:rPr lang="en-US" sz="2100" b="1" dirty="0">
                <a:solidFill>
                  <a:srgbClr val="FFFFFF"/>
                </a:solidFill>
                <a:latin typeface="Poppins" pitchFamily="34" charset="0"/>
                <a:ea typeface="Poppins" pitchFamily="34" charset="-122"/>
                <a:cs typeface="Poppins" pitchFamily="34" charset="-120"/>
              </a:rPr>
              <a:t>Start</a:t>
            </a:r>
            <a:endParaRPr lang="en-US" sz="2100" dirty="0"/>
          </a:p>
        </p:txBody>
      </p:sp>
      <p:sp>
        <p:nvSpPr>
          <p:cNvPr id="29" name="Text 27"/>
          <p:cNvSpPr txBox="1"/>
          <p:nvPr/>
        </p:nvSpPr>
        <p:spPr>
          <a:xfrm>
            <a:off x="8999982" y="2880360"/>
            <a:ext cx="1853946" cy="2286000"/>
          </a:xfrm>
          <a:prstGeom prst="rect">
            <a:avLst/>
          </a:prstGeom>
          <a:noFill/>
          <a:ln/>
        </p:spPr>
        <p:txBody>
          <a:bodyPr wrap="square" lIns="0" tIns="0" rIns="0" bIns="0" rtlCol="0" anchor="t"/>
          <a:lstStyle/>
          <a:p>
            <a:pPr indent="0" marL="0">
              <a:lnSpc>
                <a:spcPct val="135000"/>
              </a:lnSpc>
              <a:buNone/>
            </a:pPr>
            <a:r>
              <a:rPr lang="en-US" sz="1450" dirty="0">
                <a:solidFill>
                  <a:srgbClr val="475569"/>
                </a:solidFill>
                <a:latin typeface="Poppins" pitchFamily="34" charset="0"/>
                <a:ea typeface="Poppins" pitchFamily="34" charset="-122"/>
                <a:cs typeface="Poppins" pitchFamily="34" charset="-120"/>
              </a:rPr>
              <a:t>your own pipeline lab run on swiftroute_q3_raw.xlsx, with the first cleaning pass verified.</a:t>
            </a:r>
            <a:endParaRPr lang="en-US" sz="1450" dirty="0"/>
          </a:p>
        </p:txBody>
      </p:sp>
      <p:pic>
        <p:nvPicPr>
          <p:cNvPr id="30" name="Image 0" descr="/home/claude/assets/logo_full.png">    </p:cNvPr>
          <p:cNvPicPr>
            <a:picLocks noChangeAspect="1"/>
          </p:cNvPicPr>
          <p:nvPr/>
        </p:nvPicPr>
        <p:blipFill>
          <a:blip r:embed="rId2"/>
          <a:stretch>
            <a:fillRect/>
          </a:stretch>
        </p:blipFill>
        <p:spPr>
          <a:xfrm>
            <a:off x="10998403" y="5949086"/>
            <a:ext cx="431597" cy="375337"/>
          </a:xfrm>
          <a:prstGeom prst="rect">
            <a:avLst/>
          </a:prstGeom>
        </p:spPr>
      </p:pic>
      <p:sp>
        <p:nvSpPr>
          <p:cNvPr id="31" name="Text 28"/>
          <p:cNvSpPr txBox="1"/>
          <p:nvPr/>
        </p:nvSpPr>
        <p:spPr>
          <a:xfrm>
            <a:off x="11688775" y="6473952"/>
            <a:ext cx="365760" cy="274320"/>
          </a:xfrm>
          <a:prstGeom prst="rect">
            <a:avLst/>
          </a:prstGeom>
          <a:noFill/>
          <a:ln/>
        </p:spPr>
        <p:txBody>
          <a:bodyPr wrap="square" lIns="0" tIns="0" rIns="0" bIns="0" rtlCol="0" anchor="ctr"/>
          <a:lstStyle/>
          <a:p>
            <a:pPr algn="r" indent="0" marL="0">
              <a:buNone/>
            </a:pPr>
            <a:r>
              <a:rPr lang="en-US" sz="1100" dirty="0">
                <a:solidFill>
                  <a:srgbClr val="64748B"/>
                </a:solidFill>
                <a:latin typeface="Poppins" pitchFamily="34" charset="0"/>
                <a:ea typeface="Poppins" pitchFamily="34" charset="-122"/>
                <a:cs typeface="Poppins" pitchFamily="34" charset="-120"/>
              </a:rPr>
              <a:t>5</a:t>
            </a:r>
            <a:endParaRPr lang="en-US" sz="11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20494A"/>
          </a:solidFill>
          <a:ln/>
        </p:spPr>
      </p:sp>
      <p:sp>
        <p:nvSpPr>
          <p:cNvPr id="3" name="Shape 1"/>
          <p:cNvSpPr/>
          <p:nvPr/>
        </p:nvSpPr>
        <p:spPr>
          <a:xfrm>
            <a:off x="7680960" y="-2926080"/>
            <a:ext cx="8595360" cy="8595360"/>
          </a:xfrm>
          <a:prstGeom prst="ellipse">
            <a:avLst/>
          </a:prstGeom>
          <a:solidFill>
            <a:srgbClr val="1B4041"/>
          </a:solidFill>
          <a:ln/>
        </p:spPr>
      </p:sp>
      <p:sp>
        <p:nvSpPr>
          <p:cNvPr id="4" name="Shape 2"/>
          <p:cNvSpPr/>
          <p:nvPr/>
        </p:nvSpPr>
        <p:spPr>
          <a:xfrm>
            <a:off x="9326880" y="2834640"/>
            <a:ext cx="5669280" cy="5669280"/>
          </a:xfrm>
          <a:prstGeom prst="ellipse">
            <a:avLst/>
          </a:prstGeom>
          <a:solidFill>
            <a:srgbClr val="387F7F"/>
          </a:solidFill>
          <a:ln/>
        </p:spPr>
      </p:sp>
      <p:sp>
        <p:nvSpPr>
          <p:cNvPr id="5" name="Text 3"/>
          <p:cNvSpPr txBox="1"/>
          <p:nvPr/>
        </p:nvSpPr>
        <p:spPr>
          <a:xfrm>
            <a:off x="566928" y="320040"/>
            <a:ext cx="2926080" cy="1920240"/>
          </a:xfrm>
          <a:prstGeom prst="rect">
            <a:avLst/>
          </a:prstGeom>
          <a:noFill/>
          <a:ln/>
        </p:spPr>
        <p:txBody>
          <a:bodyPr wrap="square" lIns="0" tIns="0" rIns="0" bIns="0" rtlCol="0" anchor="ctr"/>
          <a:lstStyle/>
          <a:p>
            <a:pPr indent="0" marL="0">
              <a:buNone/>
            </a:pPr>
            <a:r>
              <a:rPr lang="en-US" sz="13000" b="1" dirty="0">
                <a:solidFill>
                  <a:srgbClr val="2F6364"/>
                </a:solidFill>
                <a:latin typeface="Poppins" pitchFamily="34" charset="0"/>
                <a:ea typeface="Poppins" pitchFamily="34" charset="-122"/>
                <a:cs typeface="Poppins" pitchFamily="34" charset="-120"/>
              </a:rPr>
              <a:t>01</a:t>
            </a:r>
            <a:endParaRPr lang="en-US" sz="13000" dirty="0"/>
          </a:p>
        </p:txBody>
      </p:sp>
      <p:sp>
        <p:nvSpPr>
          <p:cNvPr id="6" name="Text 4"/>
          <p:cNvSpPr txBox="1"/>
          <p:nvPr/>
        </p:nvSpPr>
        <p:spPr>
          <a:xfrm>
            <a:off x="713232" y="2487168"/>
            <a:ext cx="6766560" cy="310896"/>
          </a:xfrm>
          <a:prstGeom prst="rect">
            <a:avLst/>
          </a:prstGeom>
          <a:noFill/>
          <a:ln/>
        </p:spPr>
        <p:txBody>
          <a:bodyPr wrap="square" lIns="0" tIns="0" rIns="0" bIns="0" rtlCol="0" anchor="ctr"/>
          <a:lstStyle/>
          <a:p>
            <a:pPr indent="0" marL="0">
              <a:buNone/>
            </a:pPr>
            <a:r>
              <a:rPr lang="en-US" sz="1300" b="1" spc="250" kern="0" dirty="0">
                <a:solidFill>
                  <a:srgbClr val="8FBEBE"/>
                </a:solidFill>
                <a:latin typeface="Poppins" pitchFamily="34" charset="0"/>
                <a:ea typeface="Poppins" pitchFamily="34" charset="-122"/>
                <a:cs typeface="Poppins" pitchFamily="34" charset="-120"/>
              </a:rPr>
              <a:t>PART ONE</a:t>
            </a:r>
            <a:endParaRPr lang="en-US" sz="1300" dirty="0"/>
          </a:p>
        </p:txBody>
      </p:sp>
      <p:sp>
        <p:nvSpPr>
          <p:cNvPr id="7" name="Shape 5"/>
          <p:cNvSpPr/>
          <p:nvPr/>
        </p:nvSpPr>
        <p:spPr>
          <a:xfrm>
            <a:off x="713232" y="2907792"/>
            <a:ext cx="1234440" cy="77724"/>
          </a:xfrm>
          <a:prstGeom prst="rect">
            <a:avLst/>
          </a:prstGeom>
          <a:solidFill>
            <a:srgbClr val="387F7F"/>
          </a:solidFill>
          <a:ln/>
        </p:spPr>
      </p:sp>
      <p:sp>
        <p:nvSpPr>
          <p:cNvPr id="8" name="Text 6"/>
          <p:cNvSpPr txBox="1"/>
          <p:nvPr/>
        </p:nvSpPr>
        <p:spPr>
          <a:xfrm>
            <a:off x="713232" y="3154680"/>
            <a:ext cx="7406640" cy="1463040"/>
          </a:xfrm>
          <a:prstGeom prst="rect">
            <a:avLst/>
          </a:prstGeom>
          <a:noFill/>
          <a:ln/>
        </p:spPr>
        <p:txBody>
          <a:bodyPr wrap="square" lIns="0" tIns="0" rIns="0" bIns="0" rtlCol="0" anchor="ctr"/>
          <a:lstStyle/>
          <a:p>
            <a:pPr indent="0" marL="0">
              <a:lnSpc>
                <a:spcPct val="108000"/>
              </a:lnSpc>
              <a:buNone/>
            </a:pPr>
            <a:r>
              <a:rPr lang="en-US" sz="3600" b="1" dirty="0">
                <a:solidFill>
                  <a:srgbClr val="FFFFFF"/>
                </a:solidFill>
                <a:latin typeface="Poppins" pitchFamily="34" charset="0"/>
                <a:ea typeface="Poppins" pitchFamily="34" charset="-122"/>
                <a:cs typeface="Poppins" pitchFamily="34" charset="-120"/>
              </a:rPr>
              <a:t>The four-stage pipeline</a:t>
            </a:r>
            <a:endParaRPr lang="en-US" sz="3600" dirty="0"/>
          </a:p>
        </p:txBody>
      </p:sp>
      <p:sp>
        <p:nvSpPr>
          <p:cNvPr id="9" name="Shape 7"/>
          <p:cNvSpPr/>
          <p:nvPr/>
        </p:nvSpPr>
        <p:spPr>
          <a:xfrm>
            <a:off x="749808" y="4933188"/>
            <a:ext cx="146304" cy="146304"/>
          </a:xfrm>
          <a:prstGeom prst="ellipse">
            <a:avLst/>
          </a:prstGeom>
          <a:solidFill>
            <a:srgbClr val="387F7F"/>
          </a:solidFill>
          <a:ln/>
        </p:spPr>
      </p:sp>
      <p:sp>
        <p:nvSpPr>
          <p:cNvPr id="10" name="Text 8"/>
          <p:cNvSpPr txBox="1"/>
          <p:nvPr/>
        </p:nvSpPr>
        <p:spPr>
          <a:xfrm>
            <a:off x="1097280" y="4855464"/>
            <a:ext cx="6583680" cy="310896"/>
          </a:xfrm>
          <a:prstGeom prst="rect">
            <a:avLst/>
          </a:prstGeom>
          <a:noFill/>
          <a:ln/>
        </p:spPr>
        <p:txBody>
          <a:bodyPr wrap="square" lIns="0" tIns="0" rIns="0" bIns="0" rtlCol="0" anchor="ctr"/>
          <a:lstStyle/>
          <a:p>
            <a:pPr indent="0" marL="0">
              <a:buNone/>
            </a:pPr>
            <a:r>
              <a:rPr lang="en-US" sz="1350" dirty="0">
                <a:solidFill>
                  <a:srgbClr val="C3DAD9"/>
                </a:solidFill>
                <a:latin typeface="Poppins" pitchFamily="34" charset="0"/>
                <a:ea typeface="Poppins" pitchFamily="34" charset="-122"/>
                <a:cs typeface="Poppins" pitchFamily="34" charset="-120"/>
              </a:rPr>
              <a:t>What each stage actually does</a:t>
            </a:r>
            <a:endParaRPr lang="en-US" sz="1350" dirty="0"/>
          </a:p>
        </p:txBody>
      </p:sp>
      <p:sp>
        <p:nvSpPr>
          <p:cNvPr id="11" name="Shape 9"/>
          <p:cNvSpPr/>
          <p:nvPr/>
        </p:nvSpPr>
        <p:spPr>
          <a:xfrm>
            <a:off x="749808" y="5317236"/>
            <a:ext cx="146304" cy="146304"/>
          </a:xfrm>
          <a:prstGeom prst="ellipse">
            <a:avLst/>
          </a:prstGeom>
          <a:solidFill>
            <a:srgbClr val="387F7F"/>
          </a:solidFill>
          <a:ln/>
        </p:spPr>
      </p:sp>
      <p:sp>
        <p:nvSpPr>
          <p:cNvPr id="12" name="Text 10"/>
          <p:cNvSpPr txBox="1"/>
          <p:nvPr/>
        </p:nvSpPr>
        <p:spPr>
          <a:xfrm>
            <a:off x="1097280" y="5239512"/>
            <a:ext cx="6583680" cy="310896"/>
          </a:xfrm>
          <a:prstGeom prst="rect">
            <a:avLst/>
          </a:prstGeom>
          <a:noFill/>
          <a:ln/>
        </p:spPr>
        <p:txBody>
          <a:bodyPr wrap="square" lIns="0" tIns="0" rIns="0" bIns="0" rtlCol="0" anchor="ctr"/>
          <a:lstStyle/>
          <a:p>
            <a:pPr indent="0" marL="0">
              <a:buNone/>
            </a:pPr>
            <a:r>
              <a:rPr lang="en-US" sz="1350" dirty="0">
                <a:solidFill>
                  <a:srgbClr val="C3DAD9"/>
                </a:solidFill>
                <a:latin typeface="Poppins" pitchFamily="34" charset="0"/>
                <a:ea typeface="Poppins" pitchFamily="34" charset="-122"/>
                <a:cs typeface="Poppins" pitchFamily="34" charset="-120"/>
              </a:rPr>
              <a:t>Where AI genuinely helps at each one</a:t>
            </a:r>
            <a:endParaRPr lang="en-US" sz="1350" dirty="0"/>
          </a:p>
        </p:txBody>
      </p:sp>
      <p:sp>
        <p:nvSpPr>
          <p:cNvPr id="13" name="Shape 11"/>
          <p:cNvSpPr/>
          <p:nvPr/>
        </p:nvSpPr>
        <p:spPr>
          <a:xfrm>
            <a:off x="749808" y="5701284"/>
            <a:ext cx="146304" cy="146304"/>
          </a:xfrm>
          <a:prstGeom prst="ellipse">
            <a:avLst/>
          </a:prstGeom>
          <a:solidFill>
            <a:srgbClr val="387F7F"/>
          </a:solidFill>
          <a:ln/>
        </p:spPr>
      </p:sp>
      <p:sp>
        <p:nvSpPr>
          <p:cNvPr id="14" name="Text 12"/>
          <p:cNvSpPr txBox="1"/>
          <p:nvPr/>
        </p:nvSpPr>
        <p:spPr>
          <a:xfrm>
            <a:off x="1097280" y="5623560"/>
            <a:ext cx="6583680" cy="310896"/>
          </a:xfrm>
          <a:prstGeom prst="rect">
            <a:avLst/>
          </a:prstGeom>
          <a:noFill/>
          <a:ln/>
        </p:spPr>
        <p:txBody>
          <a:bodyPr wrap="square" lIns="0" tIns="0" rIns="0" bIns="0" rtlCol="0" anchor="ctr"/>
          <a:lstStyle/>
          <a:p>
            <a:pPr indent="0" marL="0">
              <a:buNone/>
            </a:pPr>
            <a:r>
              <a:rPr lang="en-US" sz="1350" dirty="0">
                <a:solidFill>
                  <a:srgbClr val="C3DAD9"/>
                </a:solidFill>
                <a:latin typeface="Poppins" pitchFamily="34" charset="0"/>
                <a:ea typeface="Poppins" pitchFamily="34" charset="-122"/>
                <a:cs typeface="Poppins" pitchFamily="34" charset="-120"/>
              </a:rPr>
              <a:t>Where AI still needs a human check</a:t>
            </a:r>
            <a:endParaRPr lang="en-US" sz="1350" dirty="0"/>
          </a:p>
        </p:txBody>
      </p:sp>
      <p:sp>
        <p:nvSpPr>
          <p:cNvPr id="15" name="Text 13"/>
          <p:cNvSpPr txBox="1"/>
          <p:nvPr/>
        </p:nvSpPr>
        <p:spPr>
          <a:xfrm>
            <a:off x="11688775" y="6473952"/>
            <a:ext cx="365760" cy="274320"/>
          </a:xfrm>
          <a:prstGeom prst="rect">
            <a:avLst/>
          </a:prstGeom>
          <a:noFill/>
          <a:ln/>
        </p:spPr>
        <p:txBody>
          <a:bodyPr wrap="square" lIns="0" tIns="0" rIns="0" bIns="0" rtlCol="0" anchor="ctr"/>
          <a:lstStyle/>
          <a:p>
            <a:pPr algn="r" indent="0" marL="0">
              <a:buNone/>
            </a:pPr>
            <a:r>
              <a:rPr lang="en-US" sz="1100" dirty="0">
                <a:solidFill>
                  <a:srgbClr val="7FA3A3"/>
                </a:solidFill>
                <a:latin typeface="Poppins" pitchFamily="34" charset="0"/>
                <a:ea typeface="Poppins" pitchFamily="34" charset="-122"/>
                <a:cs typeface="Poppins" pitchFamily="34" charset="-120"/>
              </a:rPr>
              <a:t>6</a:t>
            </a:r>
            <a:endParaRPr lang="en-US" sz="11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11024006" y="1958645"/>
            <a:ext cx="4133088" cy="4038905"/>
          </a:xfrm>
          <a:prstGeom prst="ellipse">
            <a:avLst/>
          </a:prstGeom>
          <a:solidFill>
            <a:srgbClr val="387F7F"/>
          </a:solidFill>
          <a:ln/>
        </p:spPr>
      </p:sp>
      <p:sp>
        <p:nvSpPr>
          <p:cNvPr id="3" name="Shape 1"/>
          <p:cNvSpPr/>
          <p:nvPr/>
        </p:nvSpPr>
        <p:spPr>
          <a:xfrm>
            <a:off x="11316614" y="2675534"/>
            <a:ext cx="1051560" cy="2162556"/>
          </a:xfrm>
          <a:prstGeom prst="ellipse">
            <a:avLst/>
          </a:prstGeom>
          <a:solidFill>
            <a:srgbClr val="387F7F"/>
          </a:solidFill>
          <a:ln/>
        </p:spPr>
      </p:sp>
      <p:sp>
        <p:nvSpPr>
          <p:cNvPr id="4" name="Shape 2"/>
          <p:cNvSpPr/>
          <p:nvPr/>
        </p:nvSpPr>
        <p:spPr>
          <a:xfrm>
            <a:off x="685800" y="548640"/>
            <a:ext cx="54864" cy="411480"/>
          </a:xfrm>
          <a:prstGeom prst="rect">
            <a:avLst/>
          </a:prstGeom>
          <a:solidFill>
            <a:srgbClr val="387F7F"/>
          </a:solidFill>
          <a:ln/>
        </p:spPr>
      </p:sp>
      <p:sp>
        <p:nvSpPr>
          <p:cNvPr id="5" name="Text 3"/>
          <p:cNvSpPr txBox="1"/>
          <p:nvPr/>
        </p:nvSpPr>
        <p:spPr>
          <a:xfrm>
            <a:off x="868680" y="502920"/>
            <a:ext cx="9966960" cy="685800"/>
          </a:xfrm>
          <a:prstGeom prst="rect">
            <a:avLst/>
          </a:prstGeom>
          <a:noFill/>
          <a:ln/>
        </p:spPr>
        <p:txBody>
          <a:bodyPr wrap="square" lIns="0" tIns="0" rIns="0" bIns="0" rtlCol="0" anchor="t"/>
          <a:lstStyle/>
          <a:p>
            <a:pPr indent="0" marL="0">
              <a:lnSpc>
                <a:spcPct val="110000"/>
              </a:lnSpc>
              <a:buNone/>
            </a:pPr>
            <a:r>
              <a:rPr lang="en-US" sz="3300" dirty="0">
                <a:solidFill>
                  <a:srgbClr val="387F7F"/>
                </a:solidFill>
                <a:latin typeface="Poppins" pitchFamily="34" charset="0"/>
                <a:ea typeface="Poppins" pitchFamily="34" charset="-122"/>
                <a:cs typeface="Poppins" pitchFamily="34" charset="-120"/>
              </a:rPr>
              <a:t>One dataset, four stages, one session</a:t>
            </a:r>
            <a:endParaRPr lang="en-US" sz="3300" dirty="0"/>
          </a:p>
        </p:txBody>
      </p:sp>
      <p:sp>
        <p:nvSpPr>
          <p:cNvPr id="6" name="Shape 4"/>
          <p:cNvSpPr/>
          <p:nvPr/>
        </p:nvSpPr>
        <p:spPr>
          <a:xfrm>
            <a:off x="685800" y="1508760"/>
            <a:ext cx="9921240" cy="3063240"/>
          </a:xfrm>
          <a:prstGeom prst="roundRect">
            <a:avLst>
              <a:gd name="adj" fmla="val 2687"/>
            </a:avLst>
          </a:prstGeom>
          <a:solidFill>
            <a:srgbClr val="FFFFFF"/>
          </a:solidFill>
          <a:ln/>
          <a:effectLst>
            <a:outerShdw sx="100000" sy="100000" kx="0" ky="0" algn="bl" rotWithShape="0" blurRad="127000" dist="38100" dir="5400000">
              <a:srgbClr val="1B2A2E">
                <a:alpha val="12000"/>
              </a:srgbClr>
            </a:outerShdw>
          </a:effectLst>
        </p:spPr>
      </p:sp>
      <p:sp>
        <p:nvSpPr>
          <p:cNvPr id="7" name="Text 5"/>
          <p:cNvSpPr txBox="1"/>
          <p:nvPr/>
        </p:nvSpPr>
        <p:spPr>
          <a:xfrm>
            <a:off x="1051560" y="1828800"/>
            <a:ext cx="9189720" cy="2514600"/>
          </a:xfrm>
          <a:prstGeom prst="rect">
            <a:avLst/>
          </a:prstGeom>
          <a:noFill/>
          <a:ln/>
        </p:spPr>
        <p:txBody>
          <a:bodyPr wrap="square" lIns="0" tIns="0" rIns="0" bIns="0" rtlCol="0" anchor="t"/>
          <a:lstStyle/>
          <a:p>
            <a:pPr algn="l" indent="0" marL="0">
              <a:lnSpc>
                <a:spcPct val="130000"/>
              </a:lnSpc>
              <a:buNone/>
            </a:pPr>
            <a:r>
              <a:rPr lang="en-US" sz="1800" dirty="0">
                <a:solidFill>
                  <a:srgbClr val="475569"/>
                </a:solidFill>
                <a:latin typeface="Poppins" pitchFamily="34" charset="0"/>
                <a:ea typeface="Poppins" pitchFamily="34" charset="-122"/>
                <a:cs typeface="Poppins" pitchFamily="34" charset="-120"/>
              </a:rPr>
              <a:t>The AI-augmented pipeline is the same shape every time: clean the raw data until it's trustworthy, analyse it to answer specific questions, visualise the answers so they're easy to read at a glance, and report them as a short, sourced write-up someone outside the room can act on. AI can assist at every stage. What changes with AI in the loop is speed, not the need to check the work.</a:t>
            </a:r>
            <a:endParaRPr lang="en-US" sz="1800" dirty="0"/>
          </a:p>
        </p:txBody>
      </p:sp>
      <p:sp>
        <p:nvSpPr>
          <p:cNvPr id="8" name="Shape 6"/>
          <p:cNvSpPr/>
          <p:nvPr/>
        </p:nvSpPr>
        <p:spPr>
          <a:xfrm>
            <a:off x="685800" y="4800600"/>
            <a:ext cx="9921240" cy="914400"/>
          </a:xfrm>
          <a:prstGeom prst="roundRect">
            <a:avLst>
              <a:gd name="adj" fmla="val 9000"/>
            </a:avLst>
          </a:prstGeom>
          <a:solidFill>
            <a:srgbClr val="F4F7F7"/>
          </a:solidFill>
          <a:ln/>
        </p:spPr>
      </p:sp>
      <p:sp>
        <p:nvSpPr>
          <p:cNvPr id="9" name="Shape 7"/>
          <p:cNvSpPr/>
          <p:nvPr/>
        </p:nvSpPr>
        <p:spPr>
          <a:xfrm>
            <a:off x="685800" y="4800600"/>
            <a:ext cx="54864" cy="914400"/>
          </a:xfrm>
          <a:prstGeom prst="rect">
            <a:avLst/>
          </a:prstGeom>
          <a:solidFill>
            <a:srgbClr val="387F7F"/>
          </a:solidFill>
          <a:ln/>
        </p:spPr>
      </p:sp>
      <p:sp>
        <p:nvSpPr>
          <p:cNvPr id="10" name="Text 8"/>
          <p:cNvSpPr txBox="1"/>
          <p:nvPr/>
        </p:nvSpPr>
        <p:spPr>
          <a:xfrm>
            <a:off x="1051560" y="4800600"/>
            <a:ext cx="9189720" cy="914400"/>
          </a:xfrm>
          <a:prstGeom prst="rect">
            <a:avLst/>
          </a:prstGeom>
          <a:noFill/>
          <a:ln/>
        </p:spPr>
        <p:txBody>
          <a:bodyPr wrap="square" lIns="0" tIns="0" rIns="0" bIns="0" rtlCol="0" anchor="ctr"/>
          <a:lstStyle/>
          <a:p>
            <a:pPr algn="l" indent="0" marL="0">
              <a:lnSpc>
                <a:spcPct val="130000"/>
              </a:lnSpc>
              <a:buNone/>
            </a:pPr>
            <a:r>
              <a:rPr lang="en-US" sz="1600" b="1" dirty="0">
                <a:solidFill>
                  <a:srgbClr val="387F7F"/>
                </a:solidFill>
                <a:latin typeface="Poppins" pitchFamily="34" charset="0"/>
                <a:ea typeface="Poppins" pitchFamily="34" charset="-122"/>
                <a:cs typeface="Poppins" pitchFamily="34" charset="-120"/>
              </a:rPr>
              <a:t>Speed changes. The need to verify does not.</a:t>
            </a:r>
            <a:endParaRPr lang="en-US" sz="1600" dirty="0"/>
          </a:p>
        </p:txBody>
      </p:sp>
      <p:pic>
        <p:nvPicPr>
          <p:cNvPr id="11" name="Image 0" descr="/home/claude/assets/logo_full.png">    </p:cNvPr>
          <p:cNvPicPr>
            <a:picLocks noChangeAspect="1"/>
          </p:cNvPicPr>
          <p:nvPr/>
        </p:nvPicPr>
        <p:blipFill>
          <a:blip r:embed="rId2"/>
          <a:stretch>
            <a:fillRect/>
          </a:stretch>
        </p:blipFill>
        <p:spPr>
          <a:xfrm>
            <a:off x="10998403" y="5949086"/>
            <a:ext cx="431597" cy="375337"/>
          </a:xfrm>
          <a:prstGeom prst="rect">
            <a:avLst/>
          </a:prstGeom>
        </p:spPr>
      </p:pic>
      <p:sp>
        <p:nvSpPr>
          <p:cNvPr id="12" name="Text 9"/>
          <p:cNvSpPr txBox="1"/>
          <p:nvPr/>
        </p:nvSpPr>
        <p:spPr>
          <a:xfrm>
            <a:off x="11688775" y="6473952"/>
            <a:ext cx="365760" cy="274320"/>
          </a:xfrm>
          <a:prstGeom prst="rect">
            <a:avLst/>
          </a:prstGeom>
          <a:noFill/>
          <a:ln/>
        </p:spPr>
        <p:txBody>
          <a:bodyPr wrap="square" lIns="0" tIns="0" rIns="0" bIns="0" rtlCol="0" anchor="ctr"/>
          <a:lstStyle/>
          <a:p>
            <a:pPr algn="r" indent="0" marL="0">
              <a:buNone/>
            </a:pPr>
            <a:r>
              <a:rPr lang="en-US" sz="1100" dirty="0">
                <a:solidFill>
                  <a:srgbClr val="64748B"/>
                </a:solidFill>
                <a:latin typeface="Poppins" pitchFamily="34" charset="0"/>
                <a:ea typeface="Poppins" pitchFamily="34" charset="-122"/>
                <a:cs typeface="Poppins" pitchFamily="34" charset="-120"/>
              </a:rPr>
              <a:t>7</a:t>
            </a:r>
            <a:endParaRPr lang="en-US" sz="11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11024006" y="1958645"/>
            <a:ext cx="4133088" cy="4038905"/>
          </a:xfrm>
          <a:prstGeom prst="ellipse">
            <a:avLst/>
          </a:prstGeom>
          <a:solidFill>
            <a:srgbClr val="387F7F"/>
          </a:solidFill>
          <a:ln/>
        </p:spPr>
      </p:sp>
      <p:sp>
        <p:nvSpPr>
          <p:cNvPr id="3" name="Shape 1"/>
          <p:cNvSpPr/>
          <p:nvPr/>
        </p:nvSpPr>
        <p:spPr>
          <a:xfrm>
            <a:off x="11316614" y="2675534"/>
            <a:ext cx="1051560" cy="2162556"/>
          </a:xfrm>
          <a:prstGeom prst="ellipse">
            <a:avLst/>
          </a:prstGeom>
          <a:solidFill>
            <a:srgbClr val="387F7F"/>
          </a:solidFill>
          <a:ln/>
        </p:spPr>
      </p:sp>
      <p:sp>
        <p:nvSpPr>
          <p:cNvPr id="4" name="Shape 2"/>
          <p:cNvSpPr/>
          <p:nvPr/>
        </p:nvSpPr>
        <p:spPr>
          <a:xfrm>
            <a:off x="685800" y="548640"/>
            <a:ext cx="54864" cy="411480"/>
          </a:xfrm>
          <a:prstGeom prst="rect">
            <a:avLst/>
          </a:prstGeom>
          <a:solidFill>
            <a:srgbClr val="387F7F"/>
          </a:solidFill>
          <a:ln/>
        </p:spPr>
      </p:sp>
      <p:sp>
        <p:nvSpPr>
          <p:cNvPr id="5" name="Text 3"/>
          <p:cNvSpPr txBox="1"/>
          <p:nvPr/>
        </p:nvSpPr>
        <p:spPr>
          <a:xfrm>
            <a:off x="868680" y="502920"/>
            <a:ext cx="9966960" cy="685800"/>
          </a:xfrm>
          <a:prstGeom prst="rect">
            <a:avLst/>
          </a:prstGeom>
          <a:noFill/>
          <a:ln/>
        </p:spPr>
        <p:txBody>
          <a:bodyPr wrap="square" lIns="0" tIns="0" rIns="0" bIns="0" rtlCol="0" anchor="t"/>
          <a:lstStyle/>
          <a:p>
            <a:pPr indent="0" marL="0">
              <a:lnSpc>
                <a:spcPct val="110000"/>
              </a:lnSpc>
              <a:buNone/>
            </a:pPr>
            <a:r>
              <a:rPr lang="en-US" sz="3300" dirty="0">
                <a:solidFill>
                  <a:srgbClr val="387F7F"/>
                </a:solidFill>
                <a:latin typeface="Poppins" pitchFamily="34" charset="0"/>
                <a:ea typeface="Poppins" pitchFamily="34" charset="-122"/>
                <a:cs typeface="Poppins" pitchFamily="34" charset="-120"/>
              </a:rPr>
              <a:t>Where AI helps, and where you still check</a:t>
            </a:r>
            <a:endParaRPr lang="en-US" sz="3300" dirty="0"/>
          </a:p>
        </p:txBody>
      </p:sp>
      <p:sp>
        <p:nvSpPr>
          <p:cNvPr id="6" name="Shape 4"/>
          <p:cNvSpPr/>
          <p:nvPr/>
        </p:nvSpPr>
        <p:spPr>
          <a:xfrm>
            <a:off x="685800" y="1691640"/>
            <a:ext cx="3124200" cy="1920240"/>
          </a:xfrm>
          <a:prstGeom prst="roundRect">
            <a:avLst>
              <a:gd name="adj" fmla="val 4286"/>
            </a:avLst>
          </a:prstGeom>
          <a:solidFill>
            <a:srgbClr val="FFFFFF"/>
          </a:solidFill>
          <a:ln/>
          <a:effectLst>
            <a:outerShdw sx="100000" sy="100000" kx="0" ky="0" algn="bl" rotWithShape="0" blurRad="127000" dist="38100" dir="5400000">
              <a:srgbClr val="1B2A2E">
                <a:alpha val="12000"/>
              </a:srgbClr>
            </a:outerShdw>
          </a:effectLst>
        </p:spPr>
      </p:sp>
      <p:sp>
        <p:nvSpPr>
          <p:cNvPr id="7" name="Shape 5"/>
          <p:cNvSpPr/>
          <p:nvPr/>
        </p:nvSpPr>
        <p:spPr>
          <a:xfrm>
            <a:off x="685800" y="1691640"/>
            <a:ext cx="3124200" cy="566928"/>
          </a:xfrm>
          <a:prstGeom prst="roundRect">
            <a:avLst>
              <a:gd name="adj" fmla="val 14516"/>
            </a:avLst>
          </a:prstGeom>
          <a:solidFill>
            <a:srgbClr val="387F7F"/>
          </a:solidFill>
          <a:ln/>
        </p:spPr>
      </p:sp>
      <p:sp>
        <p:nvSpPr>
          <p:cNvPr id="8" name="Shape 6"/>
          <p:cNvSpPr/>
          <p:nvPr/>
        </p:nvSpPr>
        <p:spPr>
          <a:xfrm>
            <a:off x="685800" y="1975104"/>
            <a:ext cx="3124200" cy="283464"/>
          </a:xfrm>
          <a:prstGeom prst="rect">
            <a:avLst/>
          </a:prstGeom>
          <a:solidFill>
            <a:srgbClr val="387F7F"/>
          </a:solidFill>
          <a:ln/>
        </p:spPr>
      </p:sp>
      <p:sp>
        <p:nvSpPr>
          <p:cNvPr id="9" name="Text 7"/>
          <p:cNvSpPr txBox="1"/>
          <p:nvPr/>
        </p:nvSpPr>
        <p:spPr>
          <a:xfrm>
            <a:off x="685800" y="1691640"/>
            <a:ext cx="3124200" cy="566928"/>
          </a:xfrm>
          <a:prstGeom prst="rect">
            <a:avLst/>
          </a:prstGeom>
          <a:noFill/>
          <a:ln/>
        </p:spPr>
        <p:txBody>
          <a:bodyPr wrap="square" lIns="0" tIns="0" rIns="0" bIns="0" rtlCol="0" anchor="ctr"/>
          <a:lstStyle/>
          <a:p>
            <a:pPr algn="ctr" indent="0" marL="0">
              <a:buNone/>
            </a:pPr>
            <a:r>
              <a:rPr lang="en-US" sz="1600" b="1" dirty="0">
                <a:solidFill>
                  <a:srgbClr val="FFFFFF"/>
                </a:solidFill>
                <a:latin typeface="Poppins" pitchFamily="34" charset="0"/>
                <a:ea typeface="Poppins" pitchFamily="34" charset="-122"/>
                <a:cs typeface="Poppins" pitchFamily="34" charset="-120"/>
              </a:rPr>
              <a:t>CLEAN</a:t>
            </a:r>
            <a:endParaRPr lang="en-US" sz="1600" dirty="0"/>
          </a:p>
        </p:txBody>
      </p:sp>
      <p:sp>
        <p:nvSpPr>
          <p:cNvPr id="10" name="Text 8"/>
          <p:cNvSpPr txBox="1"/>
          <p:nvPr/>
        </p:nvSpPr>
        <p:spPr>
          <a:xfrm>
            <a:off x="850392" y="2404872"/>
            <a:ext cx="2795016" cy="1051560"/>
          </a:xfrm>
          <a:prstGeom prst="rect">
            <a:avLst/>
          </a:prstGeom>
          <a:noFill/>
          <a:ln/>
        </p:spPr>
        <p:txBody>
          <a:bodyPr wrap="square" lIns="0" tIns="0" rIns="0" bIns="0" rtlCol="0" anchor="ctr"/>
          <a:lstStyle/>
          <a:p>
            <a:pPr algn="ctr" indent="0" marL="0">
              <a:lnSpc>
                <a:spcPct val="125000"/>
              </a:lnSpc>
              <a:buNone/>
            </a:pPr>
            <a:r>
              <a:rPr lang="en-US" sz="1350" b="1" dirty="0">
                <a:solidFill>
                  <a:srgbClr val="387F7F"/>
                </a:solidFill>
                <a:latin typeface="Poppins" pitchFamily="34" charset="0"/>
                <a:ea typeface="Poppins" pitchFamily="34" charset="-122"/>
                <a:cs typeface="Poppins" pitchFamily="34" charset="-120"/>
              </a:rPr>
              <a:t>AI HELPS
</a:t>
            </a:r>
            <a:endParaRPr lang="en-US" sz="1350" dirty="0"/>
          </a:p>
          <a:p>
            <a:pPr algn="ctr" indent="0" marL="0">
              <a:lnSpc>
                <a:spcPct val="125000"/>
              </a:lnSpc>
              <a:buNone/>
            </a:pPr>
            <a:r>
              <a:rPr lang="en-US" sz="1350" dirty="0">
                <a:solidFill>
                  <a:srgbClr val="475569"/>
                </a:solidFill>
                <a:latin typeface="Poppins" pitchFamily="34" charset="0"/>
                <a:ea typeface="Poppins" pitchFamily="34" charset="-122"/>
                <a:cs typeface="Poppins" pitchFamily="34" charset="-120"/>
              </a:rPr>
              <a:t>Spotting format inconsistencies, drafting standardisation code, flagging likely duplicates.</a:t>
            </a:r>
            <a:endParaRPr lang="en-US" sz="1350" dirty="0"/>
          </a:p>
        </p:txBody>
      </p:sp>
      <p:sp>
        <p:nvSpPr>
          <p:cNvPr id="11" name="Shape 9"/>
          <p:cNvSpPr/>
          <p:nvPr/>
        </p:nvSpPr>
        <p:spPr>
          <a:xfrm>
            <a:off x="4084320" y="1691640"/>
            <a:ext cx="3124200" cy="1920240"/>
          </a:xfrm>
          <a:prstGeom prst="roundRect">
            <a:avLst>
              <a:gd name="adj" fmla="val 4286"/>
            </a:avLst>
          </a:prstGeom>
          <a:solidFill>
            <a:srgbClr val="FFFFFF"/>
          </a:solidFill>
          <a:ln/>
          <a:effectLst>
            <a:outerShdw sx="100000" sy="100000" kx="0" ky="0" algn="bl" rotWithShape="0" blurRad="127000" dist="38100" dir="5400000">
              <a:srgbClr val="1B2A2E">
                <a:alpha val="12000"/>
              </a:srgbClr>
            </a:outerShdw>
          </a:effectLst>
        </p:spPr>
      </p:sp>
      <p:sp>
        <p:nvSpPr>
          <p:cNvPr id="12" name="Shape 10"/>
          <p:cNvSpPr/>
          <p:nvPr/>
        </p:nvSpPr>
        <p:spPr>
          <a:xfrm>
            <a:off x="4084320" y="1691640"/>
            <a:ext cx="3124200" cy="566928"/>
          </a:xfrm>
          <a:prstGeom prst="roundRect">
            <a:avLst>
              <a:gd name="adj" fmla="val 14516"/>
            </a:avLst>
          </a:prstGeom>
          <a:solidFill>
            <a:srgbClr val="387F7F"/>
          </a:solidFill>
          <a:ln/>
        </p:spPr>
      </p:sp>
      <p:sp>
        <p:nvSpPr>
          <p:cNvPr id="13" name="Shape 11"/>
          <p:cNvSpPr/>
          <p:nvPr/>
        </p:nvSpPr>
        <p:spPr>
          <a:xfrm>
            <a:off x="4084320" y="1975104"/>
            <a:ext cx="3124200" cy="283464"/>
          </a:xfrm>
          <a:prstGeom prst="rect">
            <a:avLst/>
          </a:prstGeom>
          <a:solidFill>
            <a:srgbClr val="387F7F"/>
          </a:solidFill>
          <a:ln/>
        </p:spPr>
      </p:sp>
      <p:sp>
        <p:nvSpPr>
          <p:cNvPr id="14" name="Text 12"/>
          <p:cNvSpPr txBox="1"/>
          <p:nvPr/>
        </p:nvSpPr>
        <p:spPr>
          <a:xfrm>
            <a:off x="4084320" y="1691640"/>
            <a:ext cx="3124200" cy="566928"/>
          </a:xfrm>
          <a:prstGeom prst="rect">
            <a:avLst/>
          </a:prstGeom>
          <a:noFill/>
          <a:ln/>
        </p:spPr>
        <p:txBody>
          <a:bodyPr wrap="square" lIns="0" tIns="0" rIns="0" bIns="0" rtlCol="0" anchor="ctr"/>
          <a:lstStyle/>
          <a:p>
            <a:pPr algn="ctr" indent="0" marL="0">
              <a:buNone/>
            </a:pPr>
            <a:r>
              <a:rPr lang="en-US" sz="1600" b="1" dirty="0">
                <a:solidFill>
                  <a:srgbClr val="FFFFFF"/>
                </a:solidFill>
                <a:latin typeface="Poppins" pitchFamily="34" charset="0"/>
                <a:ea typeface="Poppins" pitchFamily="34" charset="-122"/>
                <a:cs typeface="Poppins" pitchFamily="34" charset="-120"/>
              </a:rPr>
              <a:t>ANALYSE</a:t>
            </a:r>
            <a:endParaRPr lang="en-US" sz="1600" dirty="0"/>
          </a:p>
        </p:txBody>
      </p:sp>
      <p:sp>
        <p:nvSpPr>
          <p:cNvPr id="15" name="Text 13"/>
          <p:cNvSpPr txBox="1"/>
          <p:nvPr/>
        </p:nvSpPr>
        <p:spPr>
          <a:xfrm>
            <a:off x="4248912" y="2404872"/>
            <a:ext cx="2795016" cy="1051560"/>
          </a:xfrm>
          <a:prstGeom prst="rect">
            <a:avLst/>
          </a:prstGeom>
          <a:noFill/>
          <a:ln/>
        </p:spPr>
        <p:txBody>
          <a:bodyPr wrap="square" lIns="0" tIns="0" rIns="0" bIns="0" rtlCol="0" anchor="ctr"/>
          <a:lstStyle/>
          <a:p>
            <a:pPr algn="ctr" indent="0" marL="0">
              <a:lnSpc>
                <a:spcPct val="125000"/>
              </a:lnSpc>
              <a:buNone/>
            </a:pPr>
            <a:r>
              <a:rPr lang="en-US" sz="1350" b="1" dirty="0">
                <a:solidFill>
                  <a:srgbClr val="387F7F"/>
                </a:solidFill>
                <a:latin typeface="Poppins" pitchFamily="34" charset="0"/>
                <a:ea typeface="Poppins" pitchFamily="34" charset="-122"/>
                <a:cs typeface="Poppins" pitchFamily="34" charset="-120"/>
              </a:rPr>
              <a:t>AI HELPS
</a:t>
            </a:r>
            <a:endParaRPr lang="en-US" sz="1350" dirty="0"/>
          </a:p>
          <a:p>
            <a:pPr algn="ctr" indent="0" marL="0">
              <a:lnSpc>
                <a:spcPct val="125000"/>
              </a:lnSpc>
              <a:buNone/>
            </a:pPr>
            <a:r>
              <a:rPr lang="en-US" sz="1350" dirty="0">
                <a:solidFill>
                  <a:srgbClr val="475569"/>
                </a:solidFill>
                <a:latin typeface="Poppins" pitchFamily="34" charset="0"/>
                <a:ea typeface="Poppins" pitchFamily="34" charset="-122"/>
                <a:cs typeface="Poppins" pitchFamily="34" charset="-120"/>
              </a:rPr>
              <a:t>Drafting aggregation code, suggesting metrics, explaining a calculation in plain language.</a:t>
            </a:r>
            <a:endParaRPr lang="en-US" sz="1350" dirty="0"/>
          </a:p>
        </p:txBody>
      </p:sp>
      <p:sp>
        <p:nvSpPr>
          <p:cNvPr id="16" name="Shape 14"/>
          <p:cNvSpPr/>
          <p:nvPr/>
        </p:nvSpPr>
        <p:spPr>
          <a:xfrm>
            <a:off x="7482840" y="1691640"/>
            <a:ext cx="3124200" cy="1920240"/>
          </a:xfrm>
          <a:prstGeom prst="roundRect">
            <a:avLst>
              <a:gd name="adj" fmla="val 4286"/>
            </a:avLst>
          </a:prstGeom>
          <a:solidFill>
            <a:srgbClr val="FFFFFF"/>
          </a:solidFill>
          <a:ln/>
          <a:effectLst>
            <a:outerShdw sx="100000" sy="100000" kx="0" ky="0" algn="bl" rotWithShape="0" blurRad="127000" dist="38100" dir="5400000">
              <a:srgbClr val="1B2A2E">
                <a:alpha val="12000"/>
              </a:srgbClr>
            </a:outerShdw>
          </a:effectLst>
        </p:spPr>
      </p:sp>
      <p:sp>
        <p:nvSpPr>
          <p:cNvPr id="17" name="Shape 15"/>
          <p:cNvSpPr/>
          <p:nvPr/>
        </p:nvSpPr>
        <p:spPr>
          <a:xfrm>
            <a:off x="7482840" y="1691640"/>
            <a:ext cx="3124200" cy="566928"/>
          </a:xfrm>
          <a:prstGeom prst="roundRect">
            <a:avLst>
              <a:gd name="adj" fmla="val 14516"/>
            </a:avLst>
          </a:prstGeom>
          <a:solidFill>
            <a:srgbClr val="387F7F"/>
          </a:solidFill>
          <a:ln/>
        </p:spPr>
      </p:sp>
      <p:sp>
        <p:nvSpPr>
          <p:cNvPr id="18" name="Shape 16"/>
          <p:cNvSpPr/>
          <p:nvPr/>
        </p:nvSpPr>
        <p:spPr>
          <a:xfrm>
            <a:off x="7482840" y="1975104"/>
            <a:ext cx="3124200" cy="283464"/>
          </a:xfrm>
          <a:prstGeom prst="rect">
            <a:avLst/>
          </a:prstGeom>
          <a:solidFill>
            <a:srgbClr val="387F7F"/>
          </a:solidFill>
          <a:ln/>
        </p:spPr>
      </p:sp>
      <p:sp>
        <p:nvSpPr>
          <p:cNvPr id="19" name="Text 17"/>
          <p:cNvSpPr txBox="1"/>
          <p:nvPr/>
        </p:nvSpPr>
        <p:spPr>
          <a:xfrm>
            <a:off x="7482840" y="1691640"/>
            <a:ext cx="3124200" cy="566928"/>
          </a:xfrm>
          <a:prstGeom prst="rect">
            <a:avLst/>
          </a:prstGeom>
          <a:noFill/>
          <a:ln/>
        </p:spPr>
        <p:txBody>
          <a:bodyPr wrap="square" lIns="0" tIns="0" rIns="0" bIns="0" rtlCol="0" anchor="ctr"/>
          <a:lstStyle/>
          <a:p>
            <a:pPr algn="ctr" indent="0" marL="0">
              <a:buNone/>
            </a:pPr>
            <a:r>
              <a:rPr lang="en-US" sz="1600" b="1" dirty="0">
                <a:solidFill>
                  <a:srgbClr val="FFFFFF"/>
                </a:solidFill>
                <a:latin typeface="Poppins" pitchFamily="34" charset="0"/>
                <a:ea typeface="Poppins" pitchFamily="34" charset="-122"/>
                <a:cs typeface="Poppins" pitchFamily="34" charset="-120"/>
              </a:rPr>
              <a:t>VISUALISE + REPORT</a:t>
            </a:r>
            <a:endParaRPr lang="en-US" sz="1600" dirty="0"/>
          </a:p>
        </p:txBody>
      </p:sp>
      <p:sp>
        <p:nvSpPr>
          <p:cNvPr id="20" name="Text 18"/>
          <p:cNvSpPr txBox="1"/>
          <p:nvPr/>
        </p:nvSpPr>
        <p:spPr>
          <a:xfrm>
            <a:off x="7647432" y="2404872"/>
            <a:ext cx="2795016" cy="1051560"/>
          </a:xfrm>
          <a:prstGeom prst="rect">
            <a:avLst/>
          </a:prstGeom>
          <a:noFill/>
          <a:ln/>
        </p:spPr>
        <p:txBody>
          <a:bodyPr wrap="square" lIns="0" tIns="0" rIns="0" bIns="0" rtlCol="0" anchor="ctr"/>
          <a:lstStyle/>
          <a:p>
            <a:pPr algn="ctr" indent="0" marL="0">
              <a:lnSpc>
                <a:spcPct val="125000"/>
              </a:lnSpc>
              <a:buNone/>
            </a:pPr>
            <a:r>
              <a:rPr lang="en-US" sz="1350" b="1" dirty="0">
                <a:solidFill>
                  <a:srgbClr val="387F7F"/>
                </a:solidFill>
                <a:latin typeface="Poppins" pitchFamily="34" charset="0"/>
                <a:ea typeface="Poppins" pitchFamily="34" charset="-122"/>
                <a:cs typeface="Poppins" pitchFamily="34" charset="-120"/>
              </a:rPr>
              <a:t>AI HELPS
</a:t>
            </a:r>
            <a:endParaRPr lang="en-US" sz="1350" dirty="0"/>
          </a:p>
          <a:p>
            <a:pPr algn="ctr" indent="0" marL="0">
              <a:lnSpc>
                <a:spcPct val="125000"/>
              </a:lnSpc>
              <a:buNone/>
            </a:pPr>
            <a:r>
              <a:rPr lang="en-US" sz="1350" dirty="0">
                <a:solidFill>
                  <a:srgbClr val="475569"/>
                </a:solidFill>
                <a:latin typeface="Poppins" pitchFamily="34" charset="0"/>
                <a:ea typeface="Poppins" pitchFamily="34" charset="-122"/>
                <a:cs typeface="Poppins" pitchFamily="34" charset="-120"/>
              </a:rPr>
              <a:t>Picking a chart type, drafting starter code, drafting and tightening report prose.</a:t>
            </a:r>
            <a:endParaRPr lang="en-US" sz="1350" dirty="0"/>
          </a:p>
        </p:txBody>
      </p:sp>
      <p:sp>
        <p:nvSpPr>
          <p:cNvPr id="21" name="Shape 19"/>
          <p:cNvSpPr/>
          <p:nvPr/>
        </p:nvSpPr>
        <p:spPr>
          <a:xfrm>
            <a:off x="685800" y="3977640"/>
            <a:ext cx="9921240" cy="1051560"/>
          </a:xfrm>
          <a:prstGeom prst="roundRect">
            <a:avLst>
              <a:gd name="adj" fmla="val 7826"/>
            </a:avLst>
          </a:prstGeom>
          <a:solidFill>
            <a:srgbClr val="F4F7F7"/>
          </a:solidFill>
          <a:ln/>
        </p:spPr>
      </p:sp>
      <p:sp>
        <p:nvSpPr>
          <p:cNvPr id="22" name="Shape 20"/>
          <p:cNvSpPr/>
          <p:nvPr/>
        </p:nvSpPr>
        <p:spPr>
          <a:xfrm>
            <a:off x="685800" y="3977640"/>
            <a:ext cx="54864" cy="1051560"/>
          </a:xfrm>
          <a:prstGeom prst="rect">
            <a:avLst/>
          </a:prstGeom>
          <a:solidFill>
            <a:srgbClr val="387F7F"/>
          </a:solidFill>
          <a:ln/>
        </p:spPr>
      </p:sp>
      <p:sp>
        <p:nvSpPr>
          <p:cNvPr id="23" name="Text 21"/>
          <p:cNvSpPr txBox="1"/>
          <p:nvPr/>
        </p:nvSpPr>
        <p:spPr>
          <a:xfrm>
            <a:off x="1051560" y="3977640"/>
            <a:ext cx="9189720" cy="1051560"/>
          </a:xfrm>
          <a:prstGeom prst="rect">
            <a:avLst/>
          </a:prstGeom>
          <a:noFill/>
          <a:ln/>
        </p:spPr>
        <p:txBody>
          <a:bodyPr wrap="square" lIns="0" tIns="0" rIns="0" bIns="0" rtlCol="0" anchor="ctr"/>
          <a:lstStyle/>
          <a:p>
            <a:pPr algn="l" indent="0" marL="0">
              <a:lnSpc>
                <a:spcPct val="130000"/>
              </a:lnSpc>
              <a:buNone/>
            </a:pPr>
            <a:r>
              <a:rPr lang="en-US" sz="1650" b="1" dirty="0">
                <a:solidFill>
                  <a:srgbClr val="387F7F"/>
                </a:solidFill>
                <a:latin typeface="Poppins" pitchFamily="34" charset="0"/>
                <a:ea typeface="Poppins" pitchFamily="34" charset="-122"/>
                <a:cs typeface="Poppins" pitchFamily="34" charset="-120"/>
              </a:rPr>
              <a:t>At every stage: AI drafts, you verify against the source file before it moves forward.</a:t>
            </a:r>
            <a:endParaRPr lang="en-US" sz="1650" dirty="0"/>
          </a:p>
        </p:txBody>
      </p:sp>
      <p:pic>
        <p:nvPicPr>
          <p:cNvPr id="24" name="Image 0" descr="/home/claude/assets/logo_full.png">    </p:cNvPr>
          <p:cNvPicPr>
            <a:picLocks noChangeAspect="1"/>
          </p:cNvPicPr>
          <p:nvPr/>
        </p:nvPicPr>
        <p:blipFill>
          <a:blip r:embed="rId2"/>
          <a:stretch>
            <a:fillRect/>
          </a:stretch>
        </p:blipFill>
        <p:spPr>
          <a:xfrm>
            <a:off x="10998403" y="5949086"/>
            <a:ext cx="431597" cy="375337"/>
          </a:xfrm>
          <a:prstGeom prst="rect">
            <a:avLst/>
          </a:prstGeom>
        </p:spPr>
      </p:pic>
      <p:sp>
        <p:nvSpPr>
          <p:cNvPr id="25" name="Text 22"/>
          <p:cNvSpPr txBox="1"/>
          <p:nvPr/>
        </p:nvSpPr>
        <p:spPr>
          <a:xfrm>
            <a:off x="11688775" y="6473952"/>
            <a:ext cx="365760" cy="274320"/>
          </a:xfrm>
          <a:prstGeom prst="rect">
            <a:avLst/>
          </a:prstGeom>
          <a:noFill/>
          <a:ln/>
        </p:spPr>
        <p:txBody>
          <a:bodyPr wrap="square" lIns="0" tIns="0" rIns="0" bIns="0" rtlCol="0" anchor="ctr"/>
          <a:lstStyle/>
          <a:p>
            <a:pPr algn="r" indent="0" marL="0">
              <a:buNone/>
            </a:pPr>
            <a:r>
              <a:rPr lang="en-US" sz="1100" dirty="0">
                <a:solidFill>
                  <a:srgbClr val="64748B"/>
                </a:solidFill>
                <a:latin typeface="Poppins" pitchFamily="34" charset="0"/>
                <a:ea typeface="Poppins" pitchFamily="34" charset="-122"/>
                <a:cs typeface="Poppins" pitchFamily="34" charset="-120"/>
              </a:rPr>
              <a:t>8</a:t>
            </a:r>
            <a:endParaRPr lang="en-US" sz="11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20494A"/>
          </a:solidFill>
          <a:ln/>
        </p:spPr>
      </p:sp>
      <p:sp>
        <p:nvSpPr>
          <p:cNvPr id="3" name="Shape 1"/>
          <p:cNvSpPr/>
          <p:nvPr/>
        </p:nvSpPr>
        <p:spPr>
          <a:xfrm>
            <a:off x="7680960" y="-2926080"/>
            <a:ext cx="8595360" cy="8595360"/>
          </a:xfrm>
          <a:prstGeom prst="ellipse">
            <a:avLst/>
          </a:prstGeom>
          <a:solidFill>
            <a:srgbClr val="1B4041"/>
          </a:solidFill>
          <a:ln/>
        </p:spPr>
      </p:sp>
      <p:sp>
        <p:nvSpPr>
          <p:cNvPr id="4" name="Shape 2"/>
          <p:cNvSpPr/>
          <p:nvPr/>
        </p:nvSpPr>
        <p:spPr>
          <a:xfrm>
            <a:off x="9326880" y="2834640"/>
            <a:ext cx="5669280" cy="5669280"/>
          </a:xfrm>
          <a:prstGeom prst="ellipse">
            <a:avLst/>
          </a:prstGeom>
          <a:solidFill>
            <a:srgbClr val="387F7F"/>
          </a:solidFill>
          <a:ln/>
        </p:spPr>
      </p:sp>
      <p:sp>
        <p:nvSpPr>
          <p:cNvPr id="5" name="Text 3"/>
          <p:cNvSpPr txBox="1"/>
          <p:nvPr/>
        </p:nvSpPr>
        <p:spPr>
          <a:xfrm>
            <a:off x="566928" y="320040"/>
            <a:ext cx="2926080" cy="1920240"/>
          </a:xfrm>
          <a:prstGeom prst="rect">
            <a:avLst/>
          </a:prstGeom>
          <a:noFill/>
          <a:ln/>
        </p:spPr>
        <p:txBody>
          <a:bodyPr wrap="square" lIns="0" tIns="0" rIns="0" bIns="0" rtlCol="0" anchor="ctr"/>
          <a:lstStyle/>
          <a:p>
            <a:pPr indent="0" marL="0">
              <a:buNone/>
            </a:pPr>
            <a:r>
              <a:rPr lang="en-US" sz="13000" b="1" dirty="0">
                <a:solidFill>
                  <a:srgbClr val="2F6364"/>
                </a:solidFill>
                <a:latin typeface="Poppins" pitchFamily="34" charset="0"/>
                <a:ea typeface="Poppins" pitchFamily="34" charset="-122"/>
                <a:cs typeface="Poppins" pitchFamily="34" charset="-120"/>
              </a:rPr>
              <a:t>02</a:t>
            </a:r>
            <a:endParaRPr lang="en-US" sz="13000" dirty="0"/>
          </a:p>
        </p:txBody>
      </p:sp>
      <p:sp>
        <p:nvSpPr>
          <p:cNvPr id="6" name="Text 4"/>
          <p:cNvSpPr txBox="1"/>
          <p:nvPr/>
        </p:nvSpPr>
        <p:spPr>
          <a:xfrm>
            <a:off x="713232" y="2487168"/>
            <a:ext cx="6766560" cy="310896"/>
          </a:xfrm>
          <a:prstGeom prst="rect">
            <a:avLst/>
          </a:prstGeom>
          <a:noFill/>
          <a:ln/>
        </p:spPr>
        <p:txBody>
          <a:bodyPr wrap="square" lIns="0" tIns="0" rIns="0" bIns="0" rtlCol="0" anchor="ctr"/>
          <a:lstStyle/>
          <a:p>
            <a:pPr indent="0" marL="0">
              <a:buNone/>
            </a:pPr>
            <a:r>
              <a:rPr lang="en-US" sz="1300" b="1" spc="250" kern="0" dirty="0">
                <a:solidFill>
                  <a:srgbClr val="8FBEBE"/>
                </a:solidFill>
                <a:latin typeface="Poppins" pitchFamily="34" charset="0"/>
                <a:ea typeface="Poppins" pitchFamily="34" charset="-122"/>
                <a:cs typeface="Poppins" pitchFamily="34" charset="-120"/>
              </a:rPr>
              <a:t>PART TWO</a:t>
            </a:r>
            <a:endParaRPr lang="en-US" sz="1300" dirty="0"/>
          </a:p>
        </p:txBody>
      </p:sp>
      <p:sp>
        <p:nvSpPr>
          <p:cNvPr id="7" name="Shape 5"/>
          <p:cNvSpPr/>
          <p:nvPr/>
        </p:nvSpPr>
        <p:spPr>
          <a:xfrm>
            <a:off x="713232" y="2907792"/>
            <a:ext cx="1234440" cy="77724"/>
          </a:xfrm>
          <a:prstGeom prst="rect">
            <a:avLst/>
          </a:prstGeom>
          <a:solidFill>
            <a:srgbClr val="387F7F"/>
          </a:solidFill>
          <a:ln/>
        </p:spPr>
      </p:sp>
      <p:sp>
        <p:nvSpPr>
          <p:cNvPr id="8" name="Text 6"/>
          <p:cNvSpPr txBox="1"/>
          <p:nvPr/>
        </p:nvSpPr>
        <p:spPr>
          <a:xfrm>
            <a:off x="713232" y="3154680"/>
            <a:ext cx="7406640" cy="1463040"/>
          </a:xfrm>
          <a:prstGeom prst="rect">
            <a:avLst/>
          </a:prstGeom>
          <a:noFill/>
          <a:ln/>
        </p:spPr>
        <p:txBody>
          <a:bodyPr wrap="square" lIns="0" tIns="0" rIns="0" bIns="0" rtlCol="0" anchor="ctr"/>
          <a:lstStyle/>
          <a:p>
            <a:pPr indent="0" marL="0">
              <a:lnSpc>
                <a:spcPct val="108000"/>
              </a:lnSpc>
              <a:buNone/>
            </a:pPr>
            <a:r>
              <a:rPr lang="en-US" sz="3600" b="1" dirty="0">
                <a:solidFill>
                  <a:srgbClr val="FFFFFF"/>
                </a:solidFill>
                <a:latin typeface="Poppins" pitchFamily="34" charset="0"/>
                <a:ea typeface="Poppins" pitchFamily="34" charset="-122"/>
                <a:cs typeface="Poppins" pitchFamily="34" charset="-120"/>
              </a:rPr>
              <a:t>Trust but verify</a:t>
            </a:r>
            <a:endParaRPr lang="en-US" sz="3600" dirty="0"/>
          </a:p>
        </p:txBody>
      </p:sp>
      <p:sp>
        <p:nvSpPr>
          <p:cNvPr id="9" name="Shape 7"/>
          <p:cNvSpPr/>
          <p:nvPr/>
        </p:nvSpPr>
        <p:spPr>
          <a:xfrm>
            <a:off x="749808" y="4933188"/>
            <a:ext cx="146304" cy="146304"/>
          </a:xfrm>
          <a:prstGeom prst="ellipse">
            <a:avLst/>
          </a:prstGeom>
          <a:solidFill>
            <a:srgbClr val="387F7F"/>
          </a:solidFill>
          <a:ln/>
        </p:spPr>
      </p:sp>
      <p:sp>
        <p:nvSpPr>
          <p:cNvPr id="10" name="Text 8"/>
          <p:cNvSpPr txBox="1"/>
          <p:nvPr/>
        </p:nvSpPr>
        <p:spPr>
          <a:xfrm>
            <a:off x="1097280" y="4855464"/>
            <a:ext cx="6583680" cy="310896"/>
          </a:xfrm>
          <a:prstGeom prst="rect">
            <a:avLst/>
          </a:prstGeom>
          <a:noFill/>
          <a:ln/>
        </p:spPr>
        <p:txBody>
          <a:bodyPr wrap="square" lIns="0" tIns="0" rIns="0" bIns="0" rtlCol="0" anchor="ctr"/>
          <a:lstStyle/>
          <a:p>
            <a:pPr indent="0" marL="0">
              <a:buNone/>
            </a:pPr>
            <a:r>
              <a:rPr lang="en-US" sz="1350" dirty="0">
                <a:solidFill>
                  <a:srgbClr val="C3DAD9"/>
                </a:solidFill>
                <a:latin typeface="Poppins" pitchFamily="34" charset="0"/>
                <a:ea typeface="Poppins" pitchFamily="34" charset="-122"/>
                <a:cs typeface="Poppins" pitchFamily="34" charset="-120"/>
              </a:rPr>
              <a:t>Predict-then-run, applied to a whole pipeline</a:t>
            </a:r>
            <a:endParaRPr lang="en-US" sz="1350" dirty="0"/>
          </a:p>
        </p:txBody>
      </p:sp>
      <p:sp>
        <p:nvSpPr>
          <p:cNvPr id="11" name="Shape 9"/>
          <p:cNvSpPr/>
          <p:nvPr/>
        </p:nvSpPr>
        <p:spPr>
          <a:xfrm>
            <a:off x="749808" y="5317236"/>
            <a:ext cx="146304" cy="146304"/>
          </a:xfrm>
          <a:prstGeom prst="ellipse">
            <a:avLst/>
          </a:prstGeom>
          <a:solidFill>
            <a:srgbClr val="387F7F"/>
          </a:solidFill>
          <a:ln/>
        </p:spPr>
      </p:sp>
      <p:sp>
        <p:nvSpPr>
          <p:cNvPr id="12" name="Text 10"/>
          <p:cNvSpPr txBox="1"/>
          <p:nvPr/>
        </p:nvSpPr>
        <p:spPr>
          <a:xfrm>
            <a:off x="1097280" y="5239512"/>
            <a:ext cx="6583680" cy="310896"/>
          </a:xfrm>
          <a:prstGeom prst="rect">
            <a:avLst/>
          </a:prstGeom>
          <a:noFill/>
          <a:ln/>
        </p:spPr>
        <p:txBody>
          <a:bodyPr wrap="square" lIns="0" tIns="0" rIns="0" bIns="0" rtlCol="0" anchor="ctr"/>
          <a:lstStyle/>
          <a:p>
            <a:pPr indent="0" marL="0">
              <a:buNone/>
            </a:pPr>
            <a:r>
              <a:rPr lang="en-US" sz="1350" dirty="0">
                <a:solidFill>
                  <a:srgbClr val="C3DAD9"/>
                </a:solidFill>
                <a:latin typeface="Poppins" pitchFamily="34" charset="0"/>
                <a:ea typeface="Poppins" pitchFamily="34" charset="-122"/>
                <a:cs typeface="Poppins" pitchFamily="34" charset="-120"/>
              </a:rPr>
              <a:t>The verification checklist, built once, used all programme</a:t>
            </a:r>
            <a:endParaRPr lang="en-US" sz="1350" dirty="0"/>
          </a:p>
        </p:txBody>
      </p:sp>
      <p:sp>
        <p:nvSpPr>
          <p:cNvPr id="13" name="Shape 11"/>
          <p:cNvSpPr/>
          <p:nvPr/>
        </p:nvSpPr>
        <p:spPr>
          <a:xfrm>
            <a:off x="749808" y="5701284"/>
            <a:ext cx="146304" cy="146304"/>
          </a:xfrm>
          <a:prstGeom prst="ellipse">
            <a:avLst/>
          </a:prstGeom>
          <a:solidFill>
            <a:srgbClr val="387F7F"/>
          </a:solidFill>
          <a:ln/>
        </p:spPr>
      </p:sp>
      <p:sp>
        <p:nvSpPr>
          <p:cNvPr id="14" name="Text 12"/>
          <p:cNvSpPr txBox="1"/>
          <p:nvPr/>
        </p:nvSpPr>
        <p:spPr>
          <a:xfrm>
            <a:off x="1097280" y="5623560"/>
            <a:ext cx="6583680" cy="310896"/>
          </a:xfrm>
          <a:prstGeom prst="rect">
            <a:avLst/>
          </a:prstGeom>
          <a:noFill/>
          <a:ln/>
        </p:spPr>
        <p:txBody>
          <a:bodyPr wrap="square" lIns="0" tIns="0" rIns="0" bIns="0" rtlCol="0" anchor="ctr"/>
          <a:lstStyle/>
          <a:p>
            <a:pPr indent="0" marL="0">
              <a:buNone/>
            </a:pPr>
            <a:r>
              <a:rPr lang="en-US" sz="1350" dirty="0">
                <a:solidFill>
                  <a:srgbClr val="C3DAD9"/>
                </a:solidFill>
                <a:latin typeface="Poppins" pitchFamily="34" charset="0"/>
                <a:ea typeface="Poppins" pitchFamily="34" charset="-122"/>
                <a:cs typeface="Poppins" pitchFamily="34" charset="-120"/>
              </a:rPr>
              <a:t>What AI actually gets wrong, with real examples</a:t>
            </a:r>
            <a:endParaRPr lang="en-US" sz="1350" dirty="0"/>
          </a:p>
        </p:txBody>
      </p:sp>
      <p:sp>
        <p:nvSpPr>
          <p:cNvPr id="15" name="Text 13"/>
          <p:cNvSpPr txBox="1"/>
          <p:nvPr/>
        </p:nvSpPr>
        <p:spPr>
          <a:xfrm>
            <a:off x="11688775" y="6473952"/>
            <a:ext cx="365760" cy="274320"/>
          </a:xfrm>
          <a:prstGeom prst="rect">
            <a:avLst/>
          </a:prstGeom>
          <a:noFill/>
          <a:ln/>
        </p:spPr>
        <p:txBody>
          <a:bodyPr wrap="square" lIns="0" tIns="0" rIns="0" bIns="0" rtlCol="0" anchor="ctr"/>
          <a:lstStyle/>
          <a:p>
            <a:pPr algn="r" indent="0" marL="0">
              <a:buNone/>
            </a:pPr>
            <a:r>
              <a:rPr lang="en-US" sz="1100" dirty="0">
                <a:solidFill>
                  <a:srgbClr val="7FA3A3"/>
                </a:solidFill>
                <a:latin typeface="Poppins" pitchFamily="34" charset="0"/>
                <a:ea typeface="Poppins" pitchFamily="34" charset="-122"/>
                <a:cs typeface="Poppins" pitchFamily="34" charset="-120"/>
              </a:rPr>
              <a:t>9</a:t>
            </a:r>
            <a:endParaRPr lang="en-US" sz="11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11024006" y="1958645"/>
            <a:ext cx="4133088" cy="4038905"/>
          </a:xfrm>
          <a:prstGeom prst="ellipse">
            <a:avLst/>
          </a:prstGeom>
          <a:solidFill>
            <a:srgbClr val="387F7F"/>
          </a:solidFill>
          <a:ln/>
        </p:spPr>
      </p:sp>
      <p:sp>
        <p:nvSpPr>
          <p:cNvPr id="3" name="Shape 1"/>
          <p:cNvSpPr/>
          <p:nvPr/>
        </p:nvSpPr>
        <p:spPr>
          <a:xfrm>
            <a:off x="11316614" y="2675534"/>
            <a:ext cx="1051560" cy="2162556"/>
          </a:xfrm>
          <a:prstGeom prst="ellipse">
            <a:avLst/>
          </a:prstGeom>
          <a:solidFill>
            <a:srgbClr val="387F7F"/>
          </a:solidFill>
          <a:ln/>
        </p:spPr>
      </p:sp>
      <p:sp>
        <p:nvSpPr>
          <p:cNvPr id="4" name="Shape 2"/>
          <p:cNvSpPr/>
          <p:nvPr/>
        </p:nvSpPr>
        <p:spPr>
          <a:xfrm>
            <a:off x="685800" y="548640"/>
            <a:ext cx="54864" cy="411480"/>
          </a:xfrm>
          <a:prstGeom prst="rect">
            <a:avLst/>
          </a:prstGeom>
          <a:solidFill>
            <a:srgbClr val="387F7F"/>
          </a:solidFill>
          <a:ln/>
        </p:spPr>
      </p:sp>
      <p:sp>
        <p:nvSpPr>
          <p:cNvPr id="5" name="Text 3"/>
          <p:cNvSpPr txBox="1"/>
          <p:nvPr/>
        </p:nvSpPr>
        <p:spPr>
          <a:xfrm>
            <a:off x="868680" y="502920"/>
            <a:ext cx="9966960" cy="685800"/>
          </a:xfrm>
          <a:prstGeom prst="rect">
            <a:avLst/>
          </a:prstGeom>
          <a:noFill/>
          <a:ln/>
        </p:spPr>
        <p:txBody>
          <a:bodyPr wrap="square" lIns="0" tIns="0" rIns="0" bIns="0" rtlCol="0" anchor="t"/>
          <a:lstStyle/>
          <a:p>
            <a:pPr indent="0" marL="0">
              <a:lnSpc>
                <a:spcPct val="110000"/>
              </a:lnSpc>
              <a:buNone/>
            </a:pPr>
            <a:r>
              <a:rPr lang="en-US" sz="3300" dirty="0">
                <a:solidFill>
                  <a:srgbClr val="387F7F"/>
                </a:solidFill>
                <a:latin typeface="Poppins" pitchFamily="34" charset="0"/>
                <a:ea typeface="Poppins" pitchFamily="34" charset="-122"/>
                <a:cs typeface="Poppins" pitchFamily="34" charset="-120"/>
              </a:rPr>
              <a:t>Predict-then-run, at pipeline scale</a:t>
            </a:r>
            <a:endParaRPr lang="en-US" sz="3300" dirty="0"/>
          </a:p>
        </p:txBody>
      </p:sp>
      <p:sp>
        <p:nvSpPr>
          <p:cNvPr id="6" name="Shape 4"/>
          <p:cNvSpPr/>
          <p:nvPr/>
        </p:nvSpPr>
        <p:spPr>
          <a:xfrm>
            <a:off x="685800" y="1508760"/>
            <a:ext cx="9921240" cy="3063240"/>
          </a:xfrm>
          <a:prstGeom prst="roundRect">
            <a:avLst>
              <a:gd name="adj" fmla="val 2687"/>
            </a:avLst>
          </a:prstGeom>
          <a:solidFill>
            <a:srgbClr val="FFFFFF"/>
          </a:solidFill>
          <a:ln/>
          <a:effectLst>
            <a:outerShdw sx="100000" sy="100000" kx="0" ky="0" algn="bl" rotWithShape="0" blurRad="127000" dist="38100" dir="5400000">
              <a:srgbClr val="1B2A2E">
                <a:alpha val="12000"/>
              </a:srgbClr>
            </a:outerShdw>
          </a:effectLst>
        </p:spPr>
      </p:sp>
      <p:sp>
        <p:nvSpPr>
          <p:cNvPr id="7" name="Text 5"/>
          <p:cNvSpPr txBox="1"/>
          <p:nvPr/>
        </p:nvSpPr>
        <p:spPr>
          <a:xfrm>
            <a:off x="1051560" y="1828800"/>
            <a:ext cx="9189720" cy="2514600"/>
          </a:xfrm>
          <a:prstGeom prst="rect">
            <a:avLst/>
          </a:prstGeom>
          <a:noFill/>
          <a:ln/>
        </p:spPr>
        <p:txBody>
          <a:bodyPr wrap="square" lIns="0" tIns="0" rIns="0" bIns="0" rtlCol="0" anchor="t"/>
          <a:lstStyle/>
          <a:p>
            <a:pPr algn="l" indent="0" marL="0">
              <a:lnSpc>
                <a:spcPct val="130000"/>
              </a:lnSpc>
              <a:buNone/>
            </a:pPr>
            <a:r>
              <a:rPr lang="en-US" sz="1800" dirty="0">
                <a:solidFill>
                  <a:srgbClr val="475569"/>
                </a:solidFill>
                <a:latin typeface="Poppins" pitchFamily="34" charset="0"/>
                <a:ea typeface="Poppins" pitchFamily="34" charset="-122"/>
                <a:cs typeface="Poppins" pitchFamily="34" charset="-120"/>
              </a:rPr>
              <a:t>You already know predict-then-run from Module 7: before you run a formula or a query, you predict what the answer should roughly look like, then run it and compare. The same discipline applies to a whole pipeline's output, not just one calculation. Before you accept an AI-drafted cleaning step, predict what it should change and by how much. Before you accept a chart, predict what shape it should have. Before you accept a report sentence, predict what number it should cite - and go find that number in the file yourself.</a:t>
            </a:r>
            <a:endParaRPr lang="en-US" sz="1800" dirty="0"/>
          </a:p>
        </p:txBody>
      </p:sp>
      <p:sp>
        <p:nvSpPr>
          <p:cNvPr id="8" name="Shape 6"/>
          <p:cNvSpPr/>
          <p:nvPr/>
        </p:nvSpPr>
        <p:spPr>
          <a:xfrm>
            <a:off x="685800" y="4800600"/>
            <a:ext cx="9921240" cy="914400"/>
          </a:xfrm>
          <a:prstGeom prst="roundRect">
            <a:avLst>
              <a:gd name="adj" fmla="val 9000"/>
            </a:avLst>
          </a:prstGeom>
          <a:solidFill>
            <a:srgbClr val="F4F7F7"/>
          </a:solidFill>
          <a:ln/>
        </p:spPr>
      </p:sp>
      <p:sp>
        <p:nvSpPr>
          <p:cNvPr id="9" name="Shape 7"/>
          <p:cNvSpPr/>
          <p:nvPr/>
        </p:nvSpPr>
        <p:spPr>
          <a:xfrm>
            <a:off x="685800" y="4800600"/>
            <a:ext cx="54864" cy="914400"/>
          </a:xfrm>
          <a:prstGeom prst="rect">
            <a:avLst/>
          </a:prstGeom>
          <a:solidFill>
            <a:srgbClr val="387F7F"/>
          </a:solidFill>
          <a:ln/>
        </p:spPr>
      </p:sp>
      <p:sp>
        <p:nvSpPr>
          <p:cNvPr id="10" name="Text 8"/>
          <p:cNvSpPr txBox="1"/>
          <p:nvPr/>
        </p:nvSpPr>
        <p:spPr>
          <a:xfrm>
            <a:off x="1051560" y="4800600"/>
            <a:ext cx="9189720" cy="914400"/>
          </a:xfrm>
          <a:prstGeom prst="rect">
            <a:avLst/>
          </a:prstGeom>
          <a:noFill/>
          <a:ln/>
        </p:spPr>
        <p:txBody>
          <a:bodyPr wrap="square" lIns="0" tIns="0" rIns="0" bIns="0" rtlCol="0" anchor="ctr"/>
          <a:lstStyle/>
          <a:p>
            <a:pPr algn="l" indent="0" marL="0">
              <a:lnSpc>
                <a:spcPct val="130000"/>
              </a:lnSpc>
              <a:buNone/>
            </a:pPr>
            <a:r>
              <a:rPr lang="en-US" sz="1600" b="1" dirty="0">
                <a:solidFill>
                  <a:srgbClr val="387F7F"/>
                </a:solidFill>
                <a:latin typeface="Poppins" pitchFamily="34" charset="0"/>
                <a:ea typeface="Poppins" pitchFamily="34" charset="-122"/>
                <a:cs typeface="Poppins" pitchFamily="34" charset="-120"/>
              </a:rPr>
              <a:t>If you can't say what you expected before you looked, you can't tell if the output is wrong.</a:t>
            </a:r>
            <a:endParaRPr lang="en-US" sz="1600" dirty="0"/>
          </a:p>
        </p:txBody>
      </p:sp>
      <p:pic>
        <p:nvPicPr>
          <p:cNvPr id="11" name="Image 0" descr="/home/claude/assets/logo_full.png">    </p:cNvPr>
          <p:cNvPicPr>
            <a:picLocks noChangeAspect="1"/>
          </p:cNvPicPr>
          <p:nvPr/>
        </p:nvPicPr>
        <p:blipFill>
          <a:blip r:embed="rId2"/>
          <a:stretch>
            <a:fillRect/>
          </a:stretch>
        </p:blipFill>
        <p:spPr>
          <a:xfrm>
            <a:off x="10998403" y="5949086"/>
            <a:ext cx="431597" cy="375337"/>
          </a:xfrm>
          <a:prstGeom prst="rect">
            <a:avLst/>
          </a:prstGeom>
        </p:spPr>
      </p:pic>
      <p:sp>
        <p:nvSpPr>
          <p:cNvPr id="12" name="Text 9"/>
          <p:cNvSpPr txBox="1"/>
          <p:nvPr/>
        </p:nvSpPr>
        <p:spPr>
          <a:xfrm>
            <a:off x="11688775" y="6473952"/>
            <a:ext cx="365760" cy="274320"/>
          </a:xfrm>
          <a:prstGeom prst="rect">
            <a:avLst/>
          </a:prstGeom>
          <a:noFill/>
          <a:ln/>
        </p:spPr>
        <p:txBody>
          <a:bodyPr wrap="square" lIns="0" tIns="0" rIns="0" bIns="0" rtlCol="0" anchor="ctr"/>
          <a:lstStyle/>
          <a:p>
            <a:pPr algn="r" indent="0" marL="0">
              <a:buNone/>
            </a:pPr>
            <a:r>
              <a:rPr lang="en-US" sz="1100" dirty="0">
                <a:solidFill>
                  <a:srgbClr val="64748B"/>
                </a:solidFill>
                <a:latin typeface="Poppins" pitchFamily="34" charset="0"/>
                <a:ea typeface="Poppins" pitchFamily="34" charset="-122"/>
                <a:cs typeface="Poppins" pitchFamily="34" charset="-120"/>
              </a:rPr>
              <a:t>10</a:t>
            </a:r>
            <a:endParaRPr lang="en-US" sz="11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11024006" y="1958645"/>
            <a:ext cx="4133088" cy="4038905"/>
          </a:xfrm>
          <a:prstGeom prst="ellipse">
            <a:avLst/>
          </a:prstGeom>
          <a:solidFill>
            <a:srgbClr val="387F7F"/>
          </a:solidFill>
          <a:ln/>
        </p:spPr>
      </p:sp>
      <p:sp>
        <p:nvSpPr>
          <p:cNvPr id="3" name="Shape 1"/>
          <p:cNvSpPr/>
          <p:nvPr/>
        </p:nvSpPr>
        <p:spPr>
          <a:xfrm>
            <a:off x="11316614" y="2675534"/>
            <a:ext cx="1051560" cy="2162556"/>
          </a:xfrm>
          <a:prstGeom prst="ellipse">
            <a:avLst/>
          </a:prstGeom>
          <a:solidFill>
            <a:srgbClr val="387F7F"/>
          </a:solidFill>
          <a:ln/>
        </p:spPr>
      </p:sp>
      <p:sp>
        <p:nvSpPr>
          <p:cNvPr id="4" name="Shape 2"/>
          <p:cNvSpPr/>
          <p:nvPr/>
        </p:nvSpPr>
        <p:spPr>
          <a:xfrm>
            <a:off x="685800" y="548640"/>
            <a:ext cx="54864" cy="411480"/>
          </a:xfrm>
          <a:prstGeom prst="rect">
            <a:avLst/>
          </a:prstGeom>
          <a:solidFill>
            <a:srgbClr val="387F7F"/>
          </a:solidFill>
          <a:ln/>
        </p:spPr>
      </p:sp>
      <p:sp>
        <p:nvSpPr>
          <p:cNvPr id="5" name="Text 3"/>
          <p:cNvSpPr txBox="1"/>
          <p:nvPr/>
        </p:nvSpPr>
        <p:spPr>
          <a:xfrm>
            <a:off x="868680" y="502920"/>
            <a:ext cx="9966960" cy="685800"/>
          </a:xfrm>
          <a:prstGeom prst="rect">
            <a:avLst/>
          </a:prstGeom>
          <a:noFill/>
          <a:ln/>
        </p:spPr>
        <p:txBody>
          <a:bodyPr wrap="square" lIns="0" tIns="0" rIns="0" bIns="0" rtlCol="0" anchor="t"/>
          <a:lstStyle/>
          <a:p>
            <a:pPr indent="0" marL="0">
              <a:lnSpc>
                <a:spcPct val="110000"/>
              </a:lnSpc>
              <a:buNone/>
            </a:pPr>
            <a:r>
              <a:rPr lang="en-US" sz="3300" dirty="0">
                <a:solidFill>
                  <a:srgbClr val="387F7F"/>
                </a:solidFill>
                <a:latin typeface="Poppins" pitchFamily="34" charset="0"/>
                <a:ea typeface="Poppins" pitchFamily="34" charset="-122"/>
                <a:cs typeface="Poppins" pitchFamily="34" charset="-120"/>
              </a:rPr>
              <a:t>Same AI output, two different habits</a:t>
            </a:r>
            <a:endParaRPr lang="en-US" sz="3300" dirty="0"/>
          </a:p>
        </p:txBody>
      </p:sp>
      <p:sp>
        <p:nvSpPr>
          <p:cNvPr id="6" name="Shape 4"/>
          <p:cNvSpPr/>
          <p:nvPr/>
        </p:nvSpPr>
        <p:spPr>
          <a:xfrm>
            <a:off x="685800" y="1508760"/>
            <a:ext cx="4800600" cy="3657600"/>
          </a:xfrm>
          <a:prstGeom prst="roundRect">
            <a:avLst>
              <a:gd name="adj" fmla="val 2250"/>
            </a:avLst>
          </a:prstGeom>
          <a:solidFill>
            <a:srgbClr val="FFFFFF"/>
          </a:solidFill>
          <a:ln/>
          <a:effectLst>
            <a:outerShdw sx="100000" sy="100000" kx="0" ky="0" algn="bl" rotWithShape="0" blurRad="127000" dist="38100" dir="5400000">
              <a:srgbClr val="1B2A2E">
                <a:alpha val="12000"/>
              </a:srgbClr>
            </a:outerShdw>
          </a:effectLst>
        </p:spPr>
      </p:sp>
      <p:sp>
        <p:nvSpPr>
          <p:cNvPr id="7" name="Shape 5"/>
          <p:cNvSpPr/>
          <p:nvPr/>
        </p:nvSpPr>
        <p:spPr>
          <a:xfrm>
            <a:off x="685800" y="1508760"/>
            <a:ext cx="4800600" cy="502920"/>
          </a:xfrm>
          <a:prstGeom prst="rect">
            <a:avLst/>
          </a:prstGeom>
          <a:solidFill>
            <a:srgbClr val="A8322D"/>
          </a:solidFill>
          <a:ln/>
        </p:spPr>
      </p:sp>
      <p:sp>
        <p:nvSpPr>
          <p:cNvPr id="8" name="Text 6"/>
          <p:cNvSpPr txBox="1"/>
          <p:nvPr/>
        </p:nvSpPr>
        <p:spPr>
          <a:xfrm>
            <a:off x="685800" y="1508760"/>
            <a:ext cx="4800600" cy="502920"/>
          </a:xfrm>
          <a:prstGeom prst="rect">
            <a:avLst/>
          </a:prstGeom>
          <a:noFill/>
          <a:ln/>
        </p:spPr>
        <p:txBody>
          <a:bodyPr wrap="square" lIns="0" tIns="0" rIns="0" bIns="0" rtlCol="0" anchor="ctr"/>
          <a:lstStyle/>
          <a:p>
            <a:pPr algn="ctr" indent="0" marL="0">
              <a:buNone/>
            </a:pPr>
            <a:r>
              <a:rPr lang="en-US" sz="1650" b="1" dirty="0">
                <a:solidFill>
                  <a:srgbClr val="FFFFFF"/>
                </a:solidFill>
                <a:latin typeface="Poppins" pitchFamily="34" charset="0"/>
                <a:ea typeface="Poppins" pitchFamily="34" charset="-122"/>
                <a:cs typeface="Poppins" pitchFamily="34" charset="-120"/>
              </a:rPr>
              <a:t>UNVERIFIED</a:t>
            </a:r>
            <a:endParaRPr lang="en-US" sz="1650" dirty="0"/>
          </a:p>
        </p:txBody>
      </p:sp>
      <p:sp>
        <p:nvSpPr>
          <p:cNvPr id="9" name="Text 7"/>
          <p:cNvSpPr txBox="1"/>
          <p:nvPr/>
        </p:nvSpPr>
        <p:spPr>
          <a:xfrm>
            <a:off x="960120" y="2194560"/>
            <a:ext cx="4251960" cy="2743200"/>
          </a:xfrm>
          <a:prstGeom prst="rect">
            <a:avLst/>
          </a:prstGeom>
          <a:noFill/>
          <a:ln/>
        </p:spPr>
        <p:txBody>
          <a:bodyPr wrap="square" lIns="0" tIns="0" rIns="0" bIns="0" rtlCol="0" anchor="t"/>
          <a:lstStyle/>
          <a:p>
            <a:pPr indent="0" marL="0">
              <a:lnSpc>
                <a:spcPct val="130000"/>
              </a:lnSpc>
              <a:spcAft>
                <a:spcPts val="1000"/>
              </a:spcAft>
              <a:buNone/>
            </a:pPr>
            <a:r>
              <a:rPr lang="en-US" sz="1350" dirty="0">
                <a:solidFill>
                  <a:srgbClr val="475569"/>
                </a:solidFill>
                <a:latin typeface="Poppins" pitchFamily="34" charset="0"/>
                <a:ea typeface="Poppins" pitchFamily="34" charset="-122"/>
                <a:cs typeface="Poppins" pitchFamily="34" charset="-120"/>
              </a:rPr>
              <a:t>•  AI says "on-time rate improved to 91% this quarter" - it goes straight into the slide.</a:t>
            </a:r>
            <a:endParaRPr lang="en-US" sz="1350" dirty="0"/>
          </a:p>
          <a:p>
            <a:pPr indent="0" marL="0">
              <a:lnSpc>
                <a:spcPct val="130000"/>
              </a:lnSpc>
              <a:spcAft>
                <a:spcPts val="1000"/>
              </a:spcAft>
              <a:buNone/>
            </a:pPr>
            <a:r>
              <a:rPr lang="en-US" sz="1350" dirty="0">
                <a:solidFill>
                  <a:srgbClr val="475569"/>
                </a:solidFill>
                <a:latin typeface="Poppins" pitchFamily="34" charset="0"/>
                <a:ea typeface="Poppins" pitchFamily="34" charset="-122"/>
                <a:cs typeface="Poppins" pitchFamily="34" charset="-120"/>
              </a:rPr>
              <a:t>•  Nobody re-runs the calculation. Nobody checks which rows were included.</a:t>
            </a:r>
            <a:endParaRPr lang="en-US" sz="1350" dirty="0"/>
          </a:p>
          <a:p>
            <a:pPr indent="0" marL="0">
              <a:lnSpc>
                <a:spcPct val="130000"/>
              </a:lnSpc>
              <a:spcAft>
                <a:spcPts val="1000"/>
              </a:spcAft>
              <a:buNone/>
            </a:pPr>
            <a:r>
              <a:rPr lang="en-US" sz="1350" dirty="0">
                <a:solidFill>
                  <a:srgbClr val="475569"/>
                </a:solidFill>
                <a:latin typeface="Poppins" pitchFamily="34" charset="0"/>
                <a:ea typeface="Poppins" pitchFamily="34" charset="-122"/>
                <a:cs typeface="Poppins" pitchFamily="34" charset="-120"/>
              </a:rPr>
              <a:t>•  The number is wrong: it used a filtered subset AI silently assumed, not the full quarter.</a:t>
            </a:r>
            <a:endParaRPr lang="en-US" sz="1350" dirty="0"/>
          </a:p>
        </p:txBody>
      </p:sp>
      <p:sp>
        <p:nvSpPr>
          <p:cNvPr id="10" name="Shape 8"/>
          <p:cNvSpPr/>
          <p:nvPr/>
        </p:nvSpPr>
        <p:spPr>
          <a:xfrm>
            <a:off x="5806440" y="1508760"/>
            <a:ext cx="4800600" cy="3657600"/>
          </a:xfrm>
          <a:prstGeom prst="roundRect">
            <a:avLst>
              <a:gd name="adj" fmla="val 2250"/>
            </a:avLst>
          </a:prstGeom>
          <a:solidFill>
            <a:srgbClr val="FFFFFF"/>
          </a:solidFill>
          <a:ln/>
          <a:effectLst>
            <a:outerShdw sx="100000" sy="100000" kx="0" ky="0" algn="bl" rotWithShape="0" blurRad="127000" dist="38100" dir="5400000">
              <a:srgbClr val="1B2A2E">
                <a:alpha val="12000"/>
              </a:srgbClr>
            </a:outerShdw>
          </a:effectLst>
        </p:spPr>
      </p:sp>
      <p:sp>
        <p:nvSpPr>
          <p:cNvPr id="11" name="Shape 9"/>
          <p:cNvSpPr/>
          <p:nvPr/>
        </p:nvSpPr>
        <p:spPr>
          <a:xfrm>
            <a:off x="5806440" y="1508760"/>
            <a:ext cx="4800600" cy="502920"/>
          </a:xfrm>
          <a:prstGeom prst="rect">
            <a:avLst/>
          </a:prstGeom>
          <a:solidFill>
            <a:srgbClr val="387F7F"/>
          </a:solidFill>
          <a:ln/>
        </p:spPr>
      </p:sp>
      <p:sp>
        <p:nvSpPr>
          <p:cNvPr id="12" name="Text 10"/>
          <p:cNvSpPr txBox="1"/>
          <p:nvPr/>
        </p:nvSpPr>
        <p:spPr>
          <a:xfrm>
            <a:off x="5806440" y="1508760"/>
            <a:ext cx="4800600" cy="502920"/>
          </a:xfrm>
          <a:prstGeom prst="rect">
            <a:avLst/>
          </a:prstGeom>
          <a:noFill/>
          <a:ln/>
        </p:spPr>
        <p:txBody>
          <a:bodyPr wrap="square" lIns="0" tIns="0" rIns="0" bIns="0" rtlCol="0" anchor="ctr"/>
          <a:lstStyle/>
          <a:p>
            <a:pPr algn="ctr" indent="0" marL="0">
              <a:buNone/>
            </a:pPr>
            <a:r>
              <a:rPr lang="en-US" sz="1650" b="1" dirty="0">
                <a:solidFill>
                  <a:srgbClr val="FFFFFF"/>
                </a:solidFill>
                <a:latin typeface="Poppins" pitchFamily="34" charset="0"/>
                <a:ea typeface="Poppins" pitchFamily="34" charset="-122"/>
                <a:cs typeface="Poppins" pitchFamily="34" charset="-120"/>
              </a:rPr>
              <a:t>VERIFIED</a:t>
            </a:r>
            <a:endParaRPr lang="en-US" sz="1650" dirty="0"/>
          </a:p>
        </p:txBody>
      </p:sp>
      <p:sp>
        <p:nvSpPr>
          <p:cNvPr id="13" name="Text 11"/>
          <p:cNvSpPr txBox="1"/>
          <p:nvPr/>
        </p:nvSpPr>
        <p:spPr>
          <a:xfrm>
            <a:off x="6080760" y="2194560"/>
            <a:ext cx="4251960" cy="2743200"/>
          </a:xfrm>
          <a:prstGeom prst="rect">
            <a:avLst/>
          </a:prstGeom>
          <a:noFill/>
          <a:ln/>
        </p:spPr>
        <p:txBody>
          <a:bodyPr wrap="square" lIns="0" tIns="0" rIns="0" bIns="0" rtlCol="0" anchor="t"/>
          <a:lstStyle/>
          <a:p>
            <a:pPr indent="0" marL="0">
              <a:lnSpc>
                <a:spcPct val="130000"/>
              </a:lnSpc>
              <a:spcAft>
                <a:spcPts val="1000"/>
              </a:spcAft>
              <a:buNone/>
            </a:pPr>
            <a:r>
              <a:rPr lang="en-US" sz="1350" dirty="0">
                <a:solidFill>
                  <a:srgbClr val="475569"/>
                </a:solidFill>
                <a:latin typeface="Poppins" pitchFamily="34" charset="0"/>
                <a:ea typeface="Poppins" pitchFamily="34" charset="-122"/>
                <a:cs typeface="Poppins" pitchFamily="34" charset="-120"/>
              </a:rPr>
              <a:t>•  AI says the same thing - it does NOT go in the slide yet.</a:t>
            </a:r>
            <a:endParaRPr lang="en-US" sz="1350" dirty="0"/>
          </a:p>
          <a:p>
            <a:pPr indent="0" marL="0">
              <a:lnSpc>
                <a:spcPct val="130000"/>
              </a:lnSpc>
              <a:spcAft>
                <a:spcPts val="1000"/>
              </a:spcAft>
              <a:buNone/>
            </a:pPr>
            <a:r>
              <a:rPr lang="en-US" sz="1350" dirty="0">
                <a:solidFill>
                  <a:srgbClr val="475569"/>
                </a:solidFill>
                <a:latin typeface="Poppins" pitchFamily="34" charset="0"/>
                <a:ea typeface="Poppins" pitchFamily="34" charset="-122"/>
                <a:cs typeface="Poppins" pitchFamily="34" charset="-120"/>
              </a:rPr>
              <a:t>•  You recompute it yourself from the cleaned file, checking row count and filter logic.</a:t>
            </a:r>
            <a:endParaRPr lang="en-US" sz="1350" dirty="0"/>
          </a:p>
          <a:p>
            <a:pPr indent="0" marL="0">
              <a:lnSpc>
                <a:spcPct val="130000"/>
              </a:lnSpc>
              <a:spcAft>
                <a:spcPts val="1000"/>
              </a:spcAft>
              <a:buNone/>
            </a:pPr>
            <a:r>
              <a:rPr lang="en-US" sz="1350" dirty="0">
                <a:solidFill>
                  <a:srgbClr val="475569"/>
                </a:solidFill>
                <a:latin typeface="Poppins" pitchFamily="34" charset="0"/>
                <a:ea typeface="Poppins" pitchFamily="34" charset="-122"/>
                <a:cs typeface="Poppins" pitchFamily="34" charset="-120"/>
              </a:rPr>
              <a:t>•  You catch the silent filter, correct the number, and only then does it go in the report.</a:t>
            </a:r>
            <a:endParaRPr lang="en-US" sz="1350" dirty="0"/>
          </a:p>
        </p:txBody>
      </p:sp>
      <p:sp>
        <p:nvSpPr>
          <p:cNvPr id="14" name="Text 12"/>
          <p:cNvSpPr txBox="1"/>
          <p:nvPr/>
        </p:nvSpPr>
        <p:spPr>
          <a:xfrm>
            <a:off x="685800" y="5349240"/>
            <a:ext cx="9921240" cy="457200"/>
          </a:xfrm>
          <a:prstGeom prst="rect">
            <a:avLst/>
          </a:prstGeom>
          <a:noFill/>
          <a:ln/>
        </p:spPr>
        <p:txBody>
          <a:bodyPr wrap="square" lIns="0" tIns="0" rIns="0" bIns="0" rtlCol="0" anchor="t"/>
          <a:lstStyle/>
          <a:p>
            <a:pPr algn="l" indent="0" marL="0">
              <a:lnSpc>
                <a:spcPct val="130000"/>
              </a:lnSpc>
              <a:buNone/>
            </a:pPr>
            <a:r>
              <a:rPr lang="en-US" sz="1500" i="1" dirty="0">
                <a:solidFill>
                  <a:srgbClr val="64748B"/>
                </a:solidFill>
                <a:latin typeface="Poppins" pitchFamily="34" charset="0"/>
                <a:ea typeface="Poppins" pitchFamily="34" charset="-122"/>
                <a:cs typeface="Poppins" pitchFamily="34" charset="-120"/>
              </a:rPr>
              <a:t>Same AI, same claim. The only difference is whether a human checked it against the data before it shipped.</a:t>
            </a:r>
            <a:endParaRPr lang="en-US" sz="1500" dirty="0"/>
          </a:p>
        </p:txBody>
      </p:sp>
      <p:pic>
        <p:nvPicPr>
          <p:cNvPr id="15" name="Image 0" descr="/home/claude/assets/logo_full.png">    </p:cNvPr>
          <p:cNvPicPr>
            <a:picLocks noChangeAspect="1"/>
          </p:cNvPicPr>
          <p:nvPr/>
        </p:nvPicPr>
        <p:blipFill>
          <a:blip r:embed="rId2"/>
          <a:stretch>
            <a:fillRect/>
          </a:stretch>
        </p:blipFill>
        <p:spPr>
          <a:xfrm>
            <a:off x="10998403" y="5949086"/>
            <a:ext cx="431597" cy="375337"/>
          </a:xfrm>
          <a:prstGeom prst="rect">
            <a:avLst/>
          </a:prstGeom>
        </p:spPr>
      </p:pic>
      <p:sp>
        <p:nvSpPr>
          <p:cNvPr id="16" name="Text 13"/>
          <p:cNvSpPr txBox="1"/>
          <p:nvPr/>
        </p:nvSpPr>
        <p:spPr>
          <a:xfrm>
            <a:off x="11688775" y="6473952"/>
            <a:ext cx="365760" cy="274320"/>
          </a:xfrm>
          <a:prstGeom prst="rect">
            <a:avLst/>
          </a:prstGeom>
          <a:noFill/>
          <a:ln/>
        </p:spPr>
        <p:txBody>
          <a:bodyPr wrap="square" lIns="0" tIns="0" rIns="0" bIns="0" rtlCol="0" anchor="ctr"/>
          <a:lstStyle/>
          <a:p>
            <a:pPr algn="r" indent="0" marL="0">
              <a:buNone/>
            </a:pPr>
            <a:r>
              <a:rPr lang="en-US" sz="1100" dirty="0">
                <a:solidFill>
                  <a:srgbClr val="64748B"/>
                </a:solidFill>
                <a:latin typeface="Poppins" pitchFamily="34" charset="0"/>
                <a:ea typeface="Poppins" pitchFamily="34" charset="-122"/>
                <a:cs typeface="Poppins" pitchFamily="34" charset="-120"/>
              </a:rPr>
              <a:t>11</a:t>
            </a:r>
            <a:endParaRPr lang="en-US" sz="11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11024006" y="1958645"/>
            <a:ext cx="4133088" cy="4038905"/>
          </a:xfrm>
          <a:prstGeom prst="ellipse">
            <a:avLst/>
          </a:prstGeom>
          <a:solidFill>
            <a:srgbClr val="387F7F"/>
          </a:solidFill>
          <a:ln/>
        </p:spPr>
      </p:sp>
      <p:sp>
        <p:nvSpPr>
          <p:cNvPr id="3" name="Shape 1"/>
          <p:cNvSpPr/>
          <p:nvPr/>
        </p:nvSpPr>
        <p:spPr>
          <a:xfrm>
            <a:off x="11316614" y="2675534"/>
            <a:ext cx="1051560" cy="2162556"/>
          </a:xfrm>
          <a:prstGeom prst="ellipse">
            <a:avLst/>
          </a:prstGeom>
          <a:solidFill>
            <a:srgbClr val="387F7F"/>
          </a:solidFill>
          <a:ln/>
        </p:spPr>
      </p:sp>
      <p:sp>
        <p:nvSpPr>
          <p:cNvPr id="4" name="Shape 2"/>
          <p:cNvSpPr/>
          <p:nvPr/>
        </p:nvSpPr>
        <p:spPr>
          <a:xfrm>
            <a:off x="685800" y="548640"/>
            <a:ext cx="54864" cy="411480"/>
          </a:xfrm>
          <a:prstGeom prst="rect">
            <a:avLst/>
          </a:prstGeom>
          <a:solidFill>
            <a:srgbClr val="387F7F"/>
          </a:solidFill>
          <a:ln/>
        </p:spPr>
      </p:sp>
      <p:sp>
        <p:nvSpPr>
          <p:cNvPr id="5" name="Text 3"/>
          <p:cNvSpPr txBox="1"/>
          <p:nvPr/>
        </p:nvSpPr>
        <p:spPr>
          <a:xfrm>
            <a:off x="868680" y="502920"/>
            <a:ext cx="9966960" cy="685800"/>
          </a:xfrm>
          <a:prstGeom prst="rect">
            <a:avLst/>
          </a:prstGeom>
          <a:noFill/>
          <a:ln/>
        </p:spPr>
        <p:txBody>
          <a:bodyPr wrap="square" lIns="0" tIns="0" rIns="0" bIns="0" rtlCol="0" anchor="t"/>
          <a:lstStyle/>
          <a:p>
            <a:pPr indent="0" marL="0">
              <a:lnSpc>
                <a:spcPct val="110000"/>
              </a:lnSpc>
              <a:buNone/>
            </a:pPr>
            <a:r>
              <a:rPr lang="en-US" sz="3300" dirty="0">
                <a:solidFill>
                  <a:srgbClr val="387F7F"/>
                </a:solidFill>
                <a:latin typeface="Poppins" pitchFamily="34" charset="0"/>
                <a:ea typeface="Poppins" pitchFamily="34" charset="-122"/>
                <a:cs typeface="Poppins" pitchFamily="34" charset="-120"/>
              </a:rPr>
              <a:t>The verification checklist</a:t>
            </a:r>
            <a:endParaRPr lang="en-US" sz="3300" dirty="0"/>
          </a:p>
        </p:txBody>
      </p:sp>
      <p:sp>
        <p:nvSpPr>
          <p:cNvPr id="6" name="Shape 4"/>
          <p:cNvSpPr/>
          <p:nvPr/>
        </p:nvSpPr>
        <p:spPr>
          <a:xfrm>
            <a:off x="685800" y="1508760"/>
            <a:ext cx="9921240" cy="3063240"/>
          </a:xfrm>
          <a:prstGeom prst="roundRect">
            <a:avLst>
              <a:gd name="adj" fmla="val 2687"/>
            </a:avLst>
          </a:prstGeom>
          <a:solidFill>
            <a:srgbClr val="FFFFFF"/>
          </a:solidFill>
          <a:ln/>
          <a:effectLst>
            <a:outerShdw sx="100000" sy="100000" kx="0" ky="0" algn="bl" rotWithShape="0" blurRad="127000" dist="38100" dir="5400000">
              <a:srgbClr val="1B2A2E">
                <a:alpha val="12000"/>
              </a:srgbClr>
            </a:outerShdw>
          </a:effectLst>
        </p:spPr>
      </p:sp>
      <p:sp>
        <p:nvSpPr>
          <p:cNvPr id="7" name="Text 5"/>
          <p:cNvSpPr txBox="1"/>
          <p:nvPr/>
        </p:nvSpPr>
        <p:spPr>
          <a:xfrm>
            <a:off x="1051560" y="1828800"/>
            <a:ext cx="9189720" cy="2514600"/>
          </a:xfrm>
          <a:prstGeom prst="rect">
            <a:avLst/>
          </a:prstGeom>
          <a:noFill/>
          <a:ln/>
        </p:spPr>
        <p:txBody>
          <a:bodyPr wrap="square" lIns="0" tIns="0" rIns="0" bIns="0" rtlCol="0" anchor="t"/>
          <a:lstStyle/>
          <a:p>
            <a:pPr algn="l" indent="0" marL="0">
              <a:lnSpc>
                <a:spcPct val="130000"/>
              </a:lnSpc>
              <a:buNone/>
            </a:pPr>
            <a:r>
              <a:rPr lang="en-US" sz="1800" dirty="0">
                <a:solidFill>
                  <a:srgbClr val="475569"/>
                </a:solidFill>
                <a:latin typeface="Poppins" pitchFamily="34" charset="0"/>
                <a:ea typeface="Poppins" pitchFamily="34" charset="-122"/>
                <a:cs typeface="Poppins" pitchFamily="34" charset="-120"/>
              </a:rPr>
              <a:t>Five questions, applied to any AI-assisted claim before it leaves this room. One: can you point to exactly where in the source file this number comes from? Two: does the calculation logic match what was actually asked, not a nearby but different question? Three: would a different reasonable assumption - a different filter, a different date range - change the answer? Four: could someone else reproduce this from the raw file in under five minutes using only what you've written down? Five: is every limitation or uncertainty stated openly, not smoothed over for a cleaner story?</a:t>
            </a:r>
            <a:endParaRPr lang="en-US" sz="1800" dirty="0"/>
          </a:p>
        </p:txBody>
      </p:sp>
      <p:sp>
        <p:nvSpPr>
          <p:cNvPr id="8" name="Shape 6"/>
          <p:cNvSpPr/>
          <p:nvPr/>
        </p:nvSpPr>
        <p:spPr>
          <a:xfrm>
            <a:off x="685800" y="4800600"/>
            <a:ext cx="9921240" cy="914400"/>
          </a:xfrm>
          <a:prstGeom prst="roundRect">
            <a:avLst>
              <a:gd name="adj" fmla="val 9000"/>
            </a:avLst>
          </a:prstGeom>
          <a:solidFill>
            <a:srgbClr val="F4F7F7"/>
          </a:solidFill>
          <a:ln/>
        </p:spPr>
      </p:sp>
      <p:sp>
        <p:nvSpPr>
          <p:cNvPr id="9" name="Shape 7"/>
          <p:cNvSpPr/>
          <p:nvPr/>
        </p:nvSpPr>
        <p:spPr>
          <a:xfrm>
            <a:off x="685800" y="4800600"/>
            <a:ext cx="54864" cy="914400"/>
          </a:xfrm>
          <a:prstGeom prst="rect">
            <a:avLst/>
          </a:prstGeom>
          <a:solidFill>
            <a:srgbClr val="387F7F"/>
          </a:solidFill>
          <a:ln/>
        </p:spPr>
      </p:sp>
      <p:sp>
        <p:nvSpPr>
          <p:cNvPr id="10" name="Text 8"/>
          <p:cNvSpPr txBox="1"/>
          <p:nvPr/>
        </p:nvSpPr>
        <p:spPr>
          <a:xfrm>
            <a:off x="1051560" y="4800600"/>
            <a:ext cx="9189720" cy="914400"/>
          </a:xfrm>
          <a:prstGeom prst="rect">
            <a:avLst/>
          </a:prstGeom>
          <a:noFill/>
          <a:ln/>
        </p:spPr>
        <p:txBody>
          <a:bodyPr wrap="square" lIns="0" tIns="0" rIns="0" bIns="0" rtlCol="0" anchor="ctr"/>
          <a:lstStyle/>
          <a:p>
            <a:pPr algn="l" indent="0" marL="0">
              <a:lnSpc>
                <a:spcPct val="130000"/>
              </a:lnSpc>
              <a:buNone/>
            </a:pPr>
            <a:r>
              <a:rPr lang="en-US" sz="1600" b="1" dirty="0">
                <a:solidFill>
                  <a:srgbClr val="387F7F"/>
                </a:solidFill>
                <a:latin typeface="Poppins" pitchFamily="34" charset="0"/>
                <a:ea typeface="Poppins" pitchFamily="34" charset="-122"/>
                <a:cs typeface="Poppins" pitchFamily="34" charset="-120"/>
              </a:rPr>
              <a:t>This checklist is built once, today, and reused for the rest of the programme.</a:t>
            </a:r>
            <a:endParaRPr lang="en-US" sz="1600" dirty="0"/>
          </a:p>
        </p:txBody>
      </p:sp>
      <p:pic>
        <p:nvPicPr>
          <p:cNvPr id="11" name="Image 0" descr="/home/claude/assets/logo_full.png">    </p:cNvPr>
          <p:cNvPicPr>
            <a:picLocks noChangeAspect="1"/>
          </p:cNvPicPr>
          <p:nvPr/>
        </p:nvPicPr>
        <p:blipFill>
          <a:blip r:embed="rId2"/>
          <a:stretch>
            <a:fillRect/>
          </a:stretch>
        </p:blipFill>
        <p:spPr>
          <a:xfrm>
            <a:off x="10998403" y="5949086"/>
            <a:ext cx="431597" cy="375337"/>
          </a:xfrm>
          <a:prstGeom prst="rect">
            <a:avLst/>
          </a:prstGeom>
        </p:spPr>
      </p:pic>
      <p:sp>
        <p:nvSpPr>
          <p:cNvPr id="12" name="Text 9"/>
          <p:cNvSpPr txBox="1"/>
          <p:nvPr/>
        </p:nvSpPr>
        <p:spPr>
          <a:xfrm>
            <a:off x="11688775" y="6473952"/>
            <a:ext cx="365760" cy="274320"/>
          </a:xfrm>
          <a:prstGeom prst="rect">
            <a:avLst/>
          </a:prstGeom>
          <a:noFill/>
          <a:ln/>
        </p:spPr>
        <p:txBody>
          <a:bodyPr wrap="square" lIns="0" tIns="0" rIns="0" bIns="0" rtlCol="0" anchor="ctr"/>
          <a:lstStyle/>
          <a:p>
            <a:pPr algn="r" indent="0" marL="0">
              <a:buNone/>
            </a:pPr>
            <a:r>
              <a:rPr lang="en-US" sz="1100" dirty="0">
                <a:solidFill>
                  <a:srgbClr val="64748B"/>
                </a:solidFill>
                <a:latin typeface="Poppins" pitchFamily="34" charset="0"/>
                <a:ea typeface="Poppins" pitchFamily="34" charset="-122"/>
                <a:cs typeface="Poppins" pitchFamily="34" charset="-120"/>
              </a:rPr>
              <a:t>12</a:t>
            </a:r>
            <a:endParaRPr lang="en-US" sz="11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20494A"/>
          </a:solidFill>
          <a:ln/>
        </p:spPr>
      </p:sp>
      <p:sp>
        <p:nvSpPr>
          <p:cNvPr id="3" name="Shape 1"/>
          <p:cNvSpPr/>
          <p:nvPr/>
        </p:nvSpPr>
        <p:spPr>
          <a:xfrm>
            <a:off x="7680960" y="-2926080"/>
            <a:ext cx="8595360" cy="8595360"/>
          </a:xfrm>
          <a:prstGeom prst="ellipse">
            <a:avLst/>
          </a:prstGeom>
          <a:solidFill>
            <a:srgbClr val="1B4041"/>
          </a:solidFill>
          <a:ln/>
        </p:spPr>
      </p:sp>
      <p:sp>
        <p:nvSpPr>
          <p:cNvPr id="4" name="Shape 2"/>
          <p:cNvSpPr/>
          <p:nvPr/>
        </p:nvSpPr>
        <p:spPr>
          <a:xfrm>
            <a:off x="9326880" y="2834640"/>
            <a:ext cx="5669280" cy="5669280"/>
          </a:xfrm>
          <a:prstGeom prst="ellipse">
            <a:avLst/>
          </a:prstGeom>
          <a:solidFill>
            <a:srgbClr val="387F7F"/>
          </a:solidFill>
          <a:ln/>
        </p:spPr>
      </p:sp>
      <p:sp>
        <p:nvSpPr>
          <p:cNvPr id="5" name="Text 3"/>
          <p:cNvSpPr txBox="1"/>
          <p:nvPr/>
        </p:nvSpPr>
        <p:spPr>
          <a:xfrm>
            <a:off x="566928" y="320040"/>
            <a:ext cx="2926080" cy="1920240"/>
          </a:xfrm>
          <a:prstGeom prst="rect">
            <a:avLst/>
          </a:prstGeom>
          <a:noFill/>
          <a:ln/>
        </p:spPr>
        <p:txBody>
          <a:bodyPr wrap="square" lIns="0" tIns="0" rIns="0" bIns="0" rtlCol="0" anchor="ctr"/>
          <a:lstStyle/>
          <a:p>
            <a:pPr indent="0" marL="0">
              <a:buNone/>
            </a:pPr>
            <a:r>
              <a:rPr lang="en-US" sz="13000" b="1" dirty="0">
                <a:solidFill>
                  <a:srgbClr val="2F6364"/>
                </a:solidFill>
                <a:latin typeface="Poppins" pitchFamily="34" charset="0"/>
                <a:ea typeface="Poppins" pitchFamily="34" charset="-122"/>
                <a:cs typeface="Poppins" pitchFamily="34" charset="-120"/>
              </a:rPr>
              <a:t>03</a:t>
            </a:r>
            <a:endParaRPr lang="en-US" sz="13000" dirty="0"/>
          </a:p>
        </p:txBody>
      </p:sp>
      <p:sp>
        <p:nvSpPr>
          <p:cNvPr id="6" name="Text 4"/>
          <p:cNvSpPr txBox="1"/>
          <p:nvPr/>
        </p:nvSpPr>
        <p:spPr>
          <a:xfrm>
            <a:off x="713232" y="2487168"/>
            <a:ext cx="6766560" cy="310896"/>
          </a:xfrm>
          <a:prstGeom prst="rect">
            <a:avLst/>
          </a:prstGeom>
          <a:noFill/>
          <a:ln/>
        </p:spPr>
        <p:txBody>
          <a:bodyPr wrap="square" lIns="0" tIns="0" rIns="0" bIns="0" rtlCol="0" anchor="ctr"/>
          <a:lstStyle/>
          <a:p>
            <a:pPr indent="0" marL="0">
              <a:buNone/>
            </a:pPr>
            <a:r>
              <a:rPr lang="en-US" sz="1300" b="1" spc="250" kern="0" dirty="0">
                <a:solidFill>
                  <a:srgbClr val="8FBEBE"/>
                </a:solidFill>
                <a:latin typeface="Poppins" pitchFamily="34" charset="0"/>
                <a:ea typeface="Poppins" pitchFamily="34" charset="-122"/>
                <a:cs typeface="Poppins" pitchFamily="34" charset="-120"/>
              </a:rPr>
              <a:t>PART THREE</a:t>
            </a:r>
            <a:endParaRPr lang="en-US" sz="1300" dirty="0"/>
          </a:p>
        </p:txBody>
      </p:sp>
      <p:sp>
        <p:nvSpPr>
          <p:cNvPr id="7" name="Shape 5"/>
          <p:cNvSpPr/>
          <p:nvPr/>
        </p:nvSpPr>
        <p:spPr>
          <a:xfrm>
            <a:off x="713232" y="2907792"/>
            <a:ext cx="1234440" cy="77724"/>
          </a:xfrm>
          <a:prstGeom prst="rect">
            <a:avLst/>
          </a:prstGeom>
          <a:solidFill>
            <a:srgbClr val="387F7F"/>
          </a:solidFill>
          <a:ln/>
        </p:spPr>
      </p:sp>
      <p:sp>
        <p:nvSpPr>
          <p:cNvPr id="8" name="Text 6"/>
          <p:cNvSpPr txBox="1"/>
          <p:nvPr/>
        </p:nvSpPr>
        <p:spPr>
          <a:xfrm>
            <a:off x="713232" y="3154680"/>
            <a:ext cx="7406640" cy="1463040"/>
          </a:xfrm>
          <a:prstGeom prst="rect">
            <a:avLst/>
          </a:prstGeom>
          <a:noFill/>
          <a:ln/>
        </p:spPr>
        <p:txBody>
          <a:bodyPr wrap="square" lIns="0" tIns="0" rIns="0" bIns="0" rtlCol="0" anchor="ctr"/>
          <a:lstStyle/>
          <a:p>
            <a:pPr indent="0" marL="0">
              <a:lnSpc>
                <a:spcPct val="108000"/>
              </a:lnSpc>
              <a:buNone/>
            </a:pPr>
            <a:r>
              <a:rPr lang="en-US" sz="3600" b="1" dirty="0">
                <a:solidFill>
                  <a:srgbClr val="FFFFFF"/>
                </a:solidFill>
                <a:latin typeface="Poppins" pitchFamily="34" charset="0"/>
                <a:ea typeface="Poppins" pitchFamily="34" charset="-122"/>
                <a:cs typeface="Poppins" pitchFamily="34" charset="-120"/>
              </a:rPr>
              <a:t>Applying it to SwiftRoute's Q3 extract</a:t>
            </a:r>
            <a:endParaRPr lang="en-US" sz="3600" dirty="0"/>
          </a:p>
        </p:txBody>
      </p:sp>
      <p:sp>
        <p:nvSpPr>
          <p:cNvPr id="9" name="Shape 7"/>
          <p:cNvSpPr/>
          <p:nvPr/>
        </p:nvSpPr>
        <p:spPr>
          <a:xfrm>
            <a:off x="749808" y="4933188"/>
            <a:ext cx="146304" cy="146304"/>
          </a:xfrm>
          <a:prstGeom prst="ellipse">
            <a:avLst/>
          </a:prstGeom>
          <a:solidFill>
            <a:srgbClr val="387F7F"/>
          </a:solidFill>
          <a:ln/>
        </p:spPr>
      </p:sp>
      <p:sp>
        <p:nvSpPr>
          <p:cNvPr id="10" name="Text 8"/>
          <p:cNvSpPr txBox="1"/>
          <p:nvPr/>
        </p:nvSpPr>
        <p:spPr>
          <a:xfrm>
            <a:off x="1097280" y="4855464"/>
            <a:ext cx="6583680" cy="310896"/>
          </a:xfrm>
          <a:prstGeom prst="rect">
            <a:avLst/>
          </a:prstGeom>
          <a:noFill/>
          <a:ln/>
        </p:spPr>
        <p:txBody>
          <a:bodyPr wrap="square" lIns="0" tIns="0" rIns="0" bIns="0" rtlCol="0" anchor="ctr"/>
          <a:lstStyle/>
          <a:p>
            <a:pPr indent="0" marL="0">
              <a:buNone/>
            </a:pPr>
            <a:r>
              <a:rPr lang="en-US" sz="1350" dirty="0">
                <a:solidFill>
                  <a:srgbClr val="C3DAD9"/>
                </a:solidFill>
                <a:latin typeface="Poppins" pitchFamily="34" charset="0"/>
                <a:ea typeface="Poppins" pitchFamily="34" charset="-122"/>
                <a:cs typeface="Poppins" pitchFamily="34" charset="-120"/>
              </a:rPr>
              <a:t>What's actually wrong with the raw file</a:t>
            </a:r>
            <a:endParaRPr lang="en-US" sz="1350" dirty="0"/>
          </a:p>
        </p:txBody>
      </p:sp>
      <p:sp>
        <p:nvSpPr>
          <p:cNvPr id="11" name="Shape 9"/>
          <p:cNvSpPr/>
          <p:nvPr/>
        </p:nvSpPr>
        <p:spPr>
          <a:xfrm>
            <a:off x="749808" y="5317236"/>
            <a:ext cx="146304" cy="146304"/>
          </a:xfrm>
          <a:prstGeom prst="ellipse">
            <a:avLst/>
          </a:prstGeom>
          <a:solidFill>
            <a:srgbClr val="387F7F"/>
          </a:solidFill>
          <a:ln/>
        </p:spPr>
      </p:sp>
      <p:sp>
        <p:nvSpPr>
          <p:cNvPr id="12" name="Text 10"/>
          <p:cNvSpPr txBox="1"/>
          <p:nvPr/>
        </p:nvSpPr>
        <p:spPr>
          <a:xfrm>
            <a:off x="1097280" y="5239512"/>
            <a:ext cx="6583680" cy="310896"/>
          </a:xfrm>
          <a:prstGeom prst="rect">
            <a:avLst/>
          </a:prstGeom>
          <a:noFill/>
          <a:ln/>
        </p:spPr>
        <p:txBody>
          <a:bodyPr wrap="square" lIns="0" tIns="0" rIns="0" bIns="0" rtlCol="0" anchor="ctr"/>
          <a:lstStyle/>
          <a:p>
            <a:pPr indent="0" marL="0">
              <a:buNone/>
            </a:pPr>
            <a:r>
              <a:rPr lang="en-US" sz="1350" dirty="0">
                <a:solidFill>
                  <a:srgbClr val="C3DAD9"/>
                </a:solidFill>
                <a:latin typeface="Poppins" pitchFamily="34" charset="0"/>
                <a:ea typeface="Poppins" pitchFamily="34" charset="-122"/>
                <a:cs typeface="Poppins" pitchFamily="34" charset="-120"/>
              </a:rPr>
              <a:t>A worked first cleaning pass</a:t>
            </a:r>
            <a:endParaRPr lang="en-US" sz="1350" dirty="0"/>
          </a:p>
        </p:txBody>
      </p:sp>
      <p:sp>
        <p:nvSpPr>
          <p:cNvPr id="13" name="Shape 11"/>
          <p:cNvSpPr/>
          <p:nvPr/>
        </p:nvSpPr>
        <p:spPr>
          <a:xfrm>
            <a:off x="749808" y="5701284"/>
            <a:ext cx="146304" cy="146304"/>
          </a:xfrm>
          <a:prstGeom prst="ellipse">
            <a:avLst/>
          </a:prstGeom>
          <a:solidFill>
            <a:srgbClr val="387F7F"/>
          </a:solidFill>
          <a:ln/>
        </p:spPr>
      </p:sp>
      <p:sp>
        <p:nvSpPr>
          <p:cNvPr id="14" name="Text 12"/>
          <p:cNvSpPr txBox="1"/>
          <p:nvPr/>
        </p:nvSpPr>
        <p:spPr>
          <a:xfrm>
            <a:off x="1097280" y="5623560"/>
            <a:ext cx="6583680" cy="310896"/>
          </a:xfrm>
          <a:prstGeom prst="rect">
            <a:avLst/>
          </a:prstGeom>
          <a:noFill/>
          <a:ln/>
        </p:spPr>
        <p:txBody>
          <a:bodyPr wrap="square" lIns="0" tIns="0" rIns="0" bIns="0" rtlCol="0" anchor="ctr"/>
          <a:lstStyle/>
          <a:p>
            <a:pPr indent="0" marL="0">
              <a:buNone/>
            </a:pPr>
            <a:r>
              <a:rPr lang="en-US" sz="1350" dirty="0">
                <a:solidFill>
                  <a:srgbClr val="C3DAD9"/>
                </a:solidFill>
                <a:latin typeface="Poppins" pitchFamily="34" charset="0"/>
                <a:ea typeface="Poppins" pitchFamily="34" charset="-122"/>
                <a:cs typeface="Poppins" pitchFamily="34" charset="-120"/>
              </a:rPr>
              <a:t>Your turn: verify it yourself</a:t>
            </a:r>
            <a:endParaRPr lang="en-US" sz="1350" dirty="0"/>
          </a:p>
        </p:txBody>
      </p:sp>
      <p:sp>
        <p:nvSpPr>
          <p:cNvPr id="15" name="Text 13"/>
          <p:cNvSpPr txBox="1"/>
          <p:nvPr/>
        </p:nvSpPr>
        <p:spPr>
          <a:xfrm>
            <a:off x="11688775" y="6473952"/>
            <a:ext cx="365760" cy="274320"/>
          </a:xfrm>
          <a:prstGeom prst="rect">
            <a:avLst/>
          </a:prstGeom>
          <a:noFill/>
          <a:ln/>
        </p:spPr>
        <p:txBody>
          <a:bodyPr wrap="square" lIns="0" tIns="0" rIns="0" bIns="0" rtlCol="0" anchor="ctr"/>
          <a:lstStyle/>
          <a:p>
            <a:pPr algn="r" indent="0" marL="0">
              <a:buNone/>
            </a:pPr>
            <a:r>
              <a:rPr lang="en-US" sz="1100" dirty="0">
                <a:solidFill>
                  <a:srgbClr val="7FA3A3"/>
                </a:solidFill>
                <a:latin typeface="Poppins" pitchFamily="34" charset="0"/>
                <a:ea typeface="Poppins" pitchFamily="34" charset="-122"/>
                <a:cs typeface="Poppins" pitchFamily="34" charset="-120"/>
              </a:rPr>
              <a:t>13</a:t>
            </a:r>
            <a:endParaRPr lang="en-US" sz="11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11024006" y="1958645"/>
            <a:ext cx="4133088" cy="4038905"/>
          </a:xfrm>
          <a:prstGeom prst="ellipse">
            <a:avLst/>
          </a:prstGeom>
          <a:solidFill>
            <a:srgbClr val="387F7F"/>
          </a:solidFill>
          <a:ln/>
        </p:spPr>
      </p:sp>
      <p:sp>
        <p:nvSpPr>
          <p:cNvPr id="3" name="Shape 1"/>
          <p:cNvSpPr/>
          <p:nvPr/>
        </p:nvSpPr>
        <p:spPr>
          <a:xfrm>
            <a:off x="11316614" y="2675534"/>
            <a:ext cx="1051560" cy="2162556"/>
          </a:xfrm>
          <a:prstGeom prst="ellipse">
            <a:avLst/>
          </a:prstGeom>
          <a:solidFill>
            <a:srgbClr val="387F7F"/>
          </a:solidFill>
          <a:ln/>
        </p:spPr>
      </p:sp>
      <p:sp>
        <p:nvSpPr>
          <p:cNvPr id="4" name="Shape 2"/>
          <p:cNvSpPr/>
          <p:nvPr/>
        </p:nvSpPr>
        <p:spPr>
          <a:xfrm>
            <a:off x="685800" y="548640"/>
            <a:ext cx="54864" cy="411480"/>
          </a:xfrm>
          <a:prstGeom prst="rect">
            <a:avLst/>
          </a:prstGeom>
          <a:solidFill>
            <a:srgbClr val="387F7F"/>
          </a:solidFill>
          <a:ln/>
        </p:spPr>
      </p:sp>
      <p:sp>
        <p:nvSpPr>
          <p:cNvPr id="5" name="Text 3"/>
          <p:cNvSpPr txBox="1"/>
          <p:nvPr/>
        </p:nvSpPr>
        <p:spPr>
          <a:xfrm>
            <a:off x="868680" y="502920"/>
            <a:ext cx="9966960" cy="685800"/>
          </a:xfrm>
          <a:prstGeom prst="rect">
            <a:avLst/>
          </a:prstGeom>
          <a:noFill/>
          <a:ln/>
        </p:spPr>
        <p:txBody>
          <a:bodyPr wrap="square" lIns="0" tIns="0" rIns="0" bIns="0" rtlCol="0" anchor="t"/>
          <a:lstStyle/>
          <a:p>
            <a:pPr indent="0" marL="0">
              <a:lnSpc>
                <a:spcPct val="110000"/>
              </a:lnSpc>
              <a:buNone/>
            </a:pPr>
            <a:r>
              <a:rPr lang="en-US" sz="3263" dirty="0">
                <a:solidFill>
                  <a:srgbClr val="387F7F"/>
                </a:solidFill>
                <a:latin typeface="Poppins" pitchFamily="34" charset="0"/>
                <a:ea typeface="Poppins" pitchFamily="34" charset="-122"/>
                <a:cs typeface="Poppins" pitchFamily="34" charset="-120"/>
              </a:rPr>
              <a:t>What's actually wrong with swiftroute_q3_raw.xlsx</a:t>
            </a:r>
            <a:endParaRPr lang="en-US" sz="3263" dirty="0"/>
          </a:p>
        </p:txBody>
      </p:sp>
      <p:sp>
        <p:nvSpPr>
          <p:cNvPr id="6" name="Shape 4"/>
          <p:cNvSpPr/>
          <p:nvPr/>
        </p:nvSpPr>
        <p:spPr>
          <a:xfrm>
            <a:off x="685800" y="1508760"/>
            <a:ext cx="9921240" cy="3063240"/>
          </a:xfrm>
          <a:prstGeom prst="roundRect">
            <a:avLst>
              <a:gd name="adj" fmla="val 2687"/>
            </a:avLst>
          </a:prstGeom>
          <a:solidFill>
            <a:srgbClr val="FFFFFF"/>
          </a:solidFill>
          <a:ln/>
          <a:effectLst>
            <a:outerShdw sx="100000" sy="100000" kx="0" ky="0" algn="bl" rotWithShape="0" blurRad="127000" dist="38100" dir="5400000">
              <a:srgbClr val="1B2A2E">
                <a:alpha val="12000"/>
              </a:srgbClr>
            </a:outerShdw>
          </a:effectLst>
        </p:spPr>
      </p:sp>
      <p:sp>
        <p:nvSpPr>
          <p:cNvPr id="7" name="Text 5"/>
          <p:cNvSpPr txBox="1"/>
          <p:nvPr/>
        </p:nvSpPr>
        <p:spPr>
          <a:xfrm>
            <a:off x="1051560" y="1828800"/>
            <a:ext cx="9189720" cy="2514600"/>
          </a:xfrm>
          <a:prstGeom prst="rect">
            <a:avLst/>
          </a:prstGeom>
          <a:noFill/>
          <a:ln/>
        </p:spPr>
        <p:txBody>
          <a:bodyPr wrap="square" lIns="0" tIns="0" rIns="0" bIns="0" rtlCol="0" anchor="t"/>
          <a:lstStyle/>
          <a:p>
            <a:pPr algn="l" indent="0" marL="0">
              <a:lnSpc>
                <a:spcPct val="130000"/>
              </a:lnSpc>
              <a:buNone/>
            </a:pPr>
            <a:r>
              <a:rPr lang="en-US" sz="1800" dirty="0">
                <a:solidFill>
                  <a:srgbClr val="475569"/>
                </a:solidFill>
                <a:latin typeface="Poppins" pitchFamily="34" charset="0"/>
                <a:ea typeface="Poppins" pitchFamily="34" charset="-122"/>
                <a:cs typeface="Poppins" pitchFamily="34" charset="-120"/>
              </a:rPr>
              <a:t> </a:t>
            </a:r>
            <a:endParaRPr lang="en-US" sz="1800" dirty="0"/>
          </a:p>
        </p:txBody>
      </p:sp>
      <p:pic>
        <p:nvPicPr>
          <p:cNvPr id="8" name="Image 0" descr="/home/claude/assets/logo_full.png">    </p:cNvPr>
          <p:cNvPicPr>
            <a:picLocks noChangeAspect="1"/>
          </p:cNvPicPr>
          <p:nvPr/>
        </p:nvPicPr>
        <p:blipFill>
          <a:blip r:embed="rId2"/>
          <a:stretch>
            <a:fillRect/>
          </a:stretch>
        </p:blipFill>
        <p:spPr>
          <a:xfrm>
            <a:off x="10998403" y="5949086"/>
            <a:ext cx="431597" cy="375337"/>
          </a:xfrm>
          <a:prstGeom prst="rect">
            <a:avLst/>
          </a:prstGeom>
        </p:spPr>
      </p:pic>
      <p:sp>
        <p:nvSpPr>
          <p:cNvPr id="9" name="Text 6"/>
          <p:cNvSpPr txBox="1"/>
          <p:nvPr/>
        </p:nvSpPr>
        <p:spPr>
          <a:xfrm>
            <a:off x="11688775" y="6473952"/>
            <a:ext cx="365760" cy="274320"/>
          </a:xfrm>
          <a:prstGeom prst="rect">
            <a:avLst/>
          </a:prstGeom>
          <a:noFill/>
          <a:ln/>
        </p:spPr>
        <p:txBody>
          <a:bodyPr wrap="square" lIns="0" tIns="0" rIns="0" bIns="0" rtlCol="0" anchor="ctr"/>
          <a:lstStyle/>
          <a:p>
            <a:pPr algn="r" indent="0" marL="0">
              <a:buNone/>
            </a:pPr>
            <a:r>
              <a:rPr lang="en-US" sz="1100" dirty="0">
                <a:solidFill>
                  <a:srgbClr val="64748B"/>
                </a:solidFill>
                <a:latin typeface="Poppins" pitchFamily="34" charset="0"/>
                <a:ea typeface="Poppins" pitchFamily="34" charset="-122"/>
                <a:cs typeface="Poppins" pitchFamily="34" charset="-120"/>
              </a:rPr>
              <a:t>14</a:t>
            </a:r>
            <a:endParaRPr lang="en-US" sz="1100" dirty="0"/>
          </a:p>
        </p:txBody>
      </p:sp>
      <p:sp>
        <p:nvSpPr>
          <p:cNvPr id="10" name="Shape 7"/>
          <p:cNvSpPr/>
          <p:nvPr/>
        </p:nvSpPr>
        <p:spPr>
          <a:xfrm>
            <a:off x="822960" y="1627632"/>
            <a:ext cx="9646920" cy="406908"/>
          </a:xfrm>
          <a:prstGeom prst="rect">
            <a:avLst/>
          </a:prstGeom>
          <a:solidFill>
            <a:srgbClr val="FFFFFF"/>
          </a:solidFill>
          <a:ln/>
        </p:spPr>
      </p:sp>
      <p:sp>
        <p:nvSpPr>
          <p:cNvPr id="11" name="Text 8"/>
          <p:cNvSpPr txBox="1"/>
          <p:nvPr/>
        </p:nvSpPr>
        <p:spPr>
          <a:xfrm>
            <a:off x="960120" y="1627632"/>
            <a:ext cx="2331720" cy="406908"/>
          </a:xfrm>
          <a:prstGeom prst="rect">
            <a:avLst/>
          </a:prstGeom>
          <a:noFill/>
          <a:ln/>
        </p:spPr>
        <p:txBody>
          <a:bodyPr wrap="square" lIns="0" tIns="0" rIns="0" bIns="0" rtlCol="0" anchor="ctr"/>
          <a:lstStyle/>
          <a:p>
            <a:pPr indent="0" marL="0">
              <a:buNone/>
            </a:pPr>
            <a:r>
              <a:rPr lang="en-US" sz="1150" b="1" dirty="0">
                <a:solidFill>
                  <a:srgbClr val="0A1A23"/>
                </a:solidFill>
                <a:latin typeface="Poppins" pitchFamily="34" charset="0"/>
                <a:ea typeface="Poppins" pitchFamily="34" charset="-122"/>
                <a:cs typeface="Poppins" pitchFamily="34" charset="-120"/>
              </a:rPr>
              <a:t>Mixed date formats</a:t>
            </a:r>
            <a:endParaRPr lang="en-US" sz="1150" dirty="0"/>
          </a:p>
        </p:txBody>
      </p:sp>
      <p:sp>
        <p:nvSpPr>
          <p:cNvPr id="12" name="Text 9"/>
          <p:cNvSpPr txBox="1"/>
          <p:nvPr/>
        </p:nvSpPr>
        <p:spPr>
          <a:xfrm>
            <a:off x="3337560" y="1627632"/>
            <a:ext cx="1828800" cy="406908"/>
          </a:xfrm>
          <a:prstGeom prst="rect">
            <a:avLst/>
          </a:prstGeom>
          <a:noFill/>
          <a:ln/>
        </p:spPr>
        <p:txBody>
          <a:bodyPr wrap="square" lIns="0" tIns="0" rIns="0" bIns="0" rtlCol="0" anchor="ctr"/>
          <a:lstStyle/>
          <a:p>
            <a:pPr indent="0" marL="0">
              <a:buNone/>
            </a:pPr>
            <a:r>
              <a:rPr lang="en-US" sz="1000" dirty="0">
                <a:solidFill>
                  <a:srgbClr val="387F7F"/>
                </a:solidFill>
                <a:latin typeface="Roboto Mono" pitchFamily="34" charset="0"/>
                <a:ea typeface="Roboto Mono" pitchFamily="34" charset="-122"/>
                <a:cs typeface="Roboto Mono" pitchFamily="34" charset="-120"/>
              </a:rPr>
              <a:t>date</a:t>
            </a:r>
            <a:endParaRPr lang="en-US" sz="1000" dirty="0"/>
          </a:p>
        </p:txBody>
      </p:sp>
      <p:sp>
        <p:nvSpPr>
          <p:cNvPr id="13" name="Text 10"/>
          <p:cNvSpPr txBox="1"/>
          <p:nvPr/>
        </p:nvSpPr>
        <p:spPr>
          <a:xfrm>
            <a:off x="5212080" y="1627632"/>
            <a:ext cx="1508760" cy="406908"/>
          </a:xfrm>
          <a:prstGeom prst="rect">
            <a:avLst/>
          </a:prstGeom>
          <a:noFill/>
          <a:ln/>
        </p:spPr>
        <p:txBody>
          <a:bodyPr wrap="square" lIns="0" tIns="0" rIns="0" bIns="0" rtlCol="0" anchor="ctr"/>
          <a:lstStyle/>
          <a:p>
            <a:pPr indent="0" marL="0">
              <a:buNone/>
            </a:pPr>
            <a:r>
              <a:rPr lang="en-US" sz="1100" b="1" dirty="0">
                <a:solidFill>
                  <a:srgbClr val="20494A"/>
                </a:solidFill>
                <a:latin typeface="Poppins" pitchFamily="34" charset="0"/>
                <a:ea typeface="Poppins" pitchFamily="34" charset="-122"/>
                <a:cs typeface="Poppins" pitchFamily="34" charset="-120"/>
              </a:rPr>
              <a:t>All 3,640 rows</a:t>
            </a:r>
            <a:endParaRPr lang="en-US" sz="1100" dirty="0"/>
          </a:p>
        </p:txBody>
      </p:sp>
      <p:sp>
        <p:nvSpPr>
          <p:cNvPr id="14" name="Text 11"/>
          <p:cNvSpPr txBox="1"/>
          <p:nvPr/>
        </p:nvSpPr>
        <p:spPr>
          <a:xfrm>
            <a:off x="6766560" y="1627632"/>
            <a:ext cx="3566160" cy="406908"/>
          </a:xfrm>
          <a:prstGeom prst="rect">
            <a:avLst/>
          </a:prstGeom>
          <a:noFill/>
          <a:ln/>
        </p:spPr>
        <p:txBody>
          <a:bodyPr wrap="square" lIns="0" tIns="0" rIns="0" bIns="0" rtlCol="0" anchor="ctr"/>
          <a:lstStyle/>
          <a:p>
            <a:pPr indent="0" marL="0">
              <a:lnSpc>
                <a:spcPct val="110000"/>
              </a:lnSpc>
              <a:buNone/>
            </a:pPr>
            <a:r>
              <a:rPr lang="en-US" sz="1050" dirty="0">
                <a:solidFill>
                  <a:srgbClr val="475569"/>
                </a:solidFill>
                <a:latin typeface="Poppins" pitchFamily="34" charset="0"/>
                <a:ea typeface="Poppins" pitchFamily="34" charset="-122"/>
                <a:cs typeface="Poppins" pitchFamily="34" charset="-120"/>
              </a:rPr>
              <a:t>5 formats mixed in one column</a:t>
            </a:r>
            <a:endParaRPr lang="en-US" sz="1050" dirty="0"/>
          </a:p>
        </p:txBody>
      </p:sp>
      <p:sp>
        <p:nvSpPr>
          <p:cNvPr id="15" name="Shape 12"/>
          <p:cNvSpPr/>
          <p:nvPr/>
        </p:nvSpPr>
        <p:spPr>
          <a:xfrm>
            <a:off x="822960" y="2034540"/>
            <a:ext cx="9646920" cy="406908"/>
          </a:xfrm>
          <a:prstGeom prst="rect">
            <a:avLst/>
          </a:prstGeom>
          <a:solidFill>
            <a:srgbClr val="F4F7F7"/>
          </a:solidFill>
          <a:ln/>
        </p:spPr>
      </p:sp>
      <p:sp>
        <p:nvSpPr>
          <p:cNvPr id="16" name="Text 13"/>
          <p:cNvSpPr txBox="1"/>
          <p:nvPr/>
        </p:nvSpPr>
        <p:spPr>
          <a:xfrm>
            <a:off x="960120" y="2034540"/>
            <a:ext cx="2331720" cy="406908"/>
          </a:xfrm>
          <a:prstGeom prst="rect">
            <a:avLst/>
          </a:prstGeom>
          <a:noFill/>
          <a:ln/>
        </p:spPr>
        <p:txBody>
          <a:bodyPr wrap="square" lIns="0" tIns="0" rIns="0" bIns="0" rtlCol="0" anchor="ctr"/>
          <a:lstStyle/>
          <a:p>
            <a:pPr indent="0" marL="0">
              <a:buNone/>
            </a:pPr>
            <a:r>
              <a:rPr lang="en-US" sz="1150" b="1" dirty="0">
                <a:solidFill>
                  <a:srgbClr val="0A1A23"/>
                </a:solidFill>
                <a:latin typeface="Poppins" pitchFamily="34" charset="0"/>
                <a:ea typeface="Poppins" pitchFamily="34" charset="-122"/>
                <a:cs typeface="Poppins" pitchFamily="34" charset="-120"/>
              </a:rPr>
              <a:t>Fees as text</a:t>
            </a:r>
            <a:endParaRPr lang="en-US" sz="1150" dirty="0"/>
          </a:p>
        </p:txBody>
      </p:sp>
      <p:sp>
        <p:nvSpPr>
          <p:cNvPr id="17" name="Text 14"/>
          <p:cNvSpPr txBox="1"/>
          <p:nvPr/>
        </p:nvSpPr>
        <p:spPr>
          <a:xfrm>
            <a:off x="3337560" y="2034540"/>
            <a:ext cx="1828800" cy="406908"/>
          </a:xfrm>
          <a:prstGeom prst="rect">
            <a:avLst/>
          </a:prstGeom>
          <a:noFill/>
          <a:ln/>
        </p:spPr>
        <p:txBody>
          <a:bodyPr wrap="square" lIns="0" tIns="0" rIns="0" bIns="0" rtlCol="0" anchor="ctr"/>
          <a:lstStyle/>
          <a:p>
            <a:pPr indent="0" marL="0">
              <a:buNone/>
            </a:pPr>
            <a:r>
              <a:rPr lang="en-US" sz="1000" dirty="0">
                <a:solidFill>
                  <a:srgbClr val="387F7F"/>
                </a:solidFill>
                <a:latin typeface="Roboto Mono" pitchFamily="34" charset="0"/>
                <a:ea typeface="Roboto Mono" pitchFamily="34" charset="-122"/>
                <a:cs typeface="Roboto Mono" pitchFamily="34" charset="-120"/>
              </a:rPr>
              <a:t>fee_naira</a:t>
            </a:r>
            <a:endParaRPr lang="en-US" sz="1000" dirty="0"/>
          </a:p>
        </p:txBody>
      </p:sp>
      <p:sp>
        <p:nvSpPr>
          <p:cNvPr id="18" name="Text 15"/>
          <p:cNvSpPr txBox="1"/>
          <p:nvPr/>
        </p:nvSpPr>
        <p:spPr>
          <a:xfrm>
            <a:off x="5212080" y="2034540"/>
            <a:ext cx="1508760" cy="406908"/>
          </a:xfrm>
          <a:prstGeom prst="rect">
            <a:avLst/>
          </a:prstGeom>
          <a:noFill/>
          <a:ln/>
        </p:spPr>
        <p:txBody>
          <a:bodyPr wrap="square" lIns="0" tIns="0" rIns="0" bIns="0" rtlCol="0" anchor="ctr"/>
          <a:lstStyle/>
          <a:p>
            <a:pPr indent="0" marL="0">
              <a:buNone/>
            </a:pPr>
            <a:r>
              <a:rPr lang="en-US" sz="1100" b="1" dirty="0">
                <a:solidFill>
                  <a:srgbClr val="20494A"/>
                </a:solidFill>
                <a:latin typeface="Poppins" pitchFamily="34" charset="0"/>
                <a:ea typeface="Poppins" pitchFamily="34" charset="-122"/>
                <a:cs typeface="Poppins" pitchFamily="34" charset="-120"/>
              </a:rPr>
              <a:t>All 3,640 rows</a:t>
            </a:r>
            <a:endParaRPr lang="en-US" sz="1100" dirty="0"/>
          </a:p>
        </p:txBody>
      </p:sp>
      <p:sp>
        <p:nvSpPr>
          <p:cNvPr id="19" name="Text 16"/>
          <p:cNvSpPr txBox="1"/>
          <p:nvPr/>
        </p:nvSpPr>
        <p:spPr>
          <a:xfrm>
            <a:off x="6766560" y="2034540"/>
            <a:ext cx="3566160" cy="406908"/>
          </a:xfrm>
          <a:prstGeom prst="rect">
            <a:avLst/>
          </a:prstGeom>
          <a:noFill/>
          <a:ln/>
        </p:spPr>
        <p:txBody>
          <a:bodyPr wrap="square" lIns="0" tIns="0" rIns="0" bIns="0" rtlCol="0" anchor="ctr"/>
          <a:lstStyle/>
          <a:p>
            <a:pPr indent="0" marL="0">
              <a:lnSpc>
                <a:spcPct val="110000"/>
              </a:lnSpc>
              <a:buNone/>
            </a:pPr>
            <a:r>
              <a:rPr lang="en-US" sz="1050" dirty="0">
                <a:solidFill>
                  <a:srgbClr val="475569"/>
                </a:solidFill>
                <a:latin typeface="Poppins" pitchFamily="34" charset="0"/>
                <a:ea typeface="Poppins" pitchFamily="34" charset="-122"/>
                <a:cs typeface="Poppins" pitchFamily="34" charset="-120"/>
              </a:rPr>
              <a:t>e.g. "₦45,320", not numeric</a:t>
            </a:r>
            <a:endParaRPr lang="en-US" sz="1050" dirty="0"/>
          </a:p>
        </p:txBody>
      </p:sp>
      <p:sp>
        <p:nvSpPr>
          <p:cNvPr id="20" name="Shape 17"/>
          <p:cNvSpPr/>
          <p:nvPr/>
        </p:nvSpPr>
        <p:spPr>
          <a:xfrm>
            <a:off x="822960" y="2441448"/>
            <a:ext cx="9646920" cy="406908"/>
          </a:xfrm>
          <a:prstGeom prst="rect">
            <a:avLst/>
          </a:prstGeom>
          <a:solidFill>
            <a:srgbClr val="FFFFFF"/>
          </a:solidFill>
          <a:ln/>
        </p:spPr>
      </p:sp>
      <p:sp>
        <p:nvSpPr>
          <p:cNvPr id="21" name="Text 18"/>
          <p:cNvSpPr txBox="1"/>
          <p:nvPr/>
        </p:nvSpPr>
        <p:spPr>
          <a:xfrm>
            <a:off x="960120" y="2441448"/>
            <a:ext cx="2331720" cy="406908"/>
          </a:xfrm>
          <a:prstGeom prst="rect">
            <a:avLst/>
          </a:prstGeom>
          <a:noFill/>
          <a:ln/>
        </p:spPr>
        <p:txBody>
          <a:bodyPr wrap="square" lIns="0" tIns="0" rIns="0" bIns="0" rtlCol="0" anchor="ctr"/>
          <a:lstStyle/>
          <a:p>
            <a:pPr indent="0" marL="0">
              <a:buNone/>
            </a:pPr>
            <a:r>
              <a:rPr lang="en-US" sz="1150" b="1" dirty="0">
                <a:solidFill>
                  <a:srgbClr val="0A1A23"/>
                </a:solidFill>
                <a:latin typeface="Poppins" pitchFamily="34" charset="0"/>
                <a:ea typeface="Poppins" pitchFamily="34" charset="-122"/>
                <a:cs typeface="Poppins" pitchFamily="34" charset="-120"/>
              </a:rPr>
              <a:t>Messy rider names</a:t>
            </a:r>
            <a:endParaRPr lang="en-US" sz="1150" dirty="0"/>
          </a:p>
        </p:txBody>
      </p:sp>
      <p:sp>
        <p:nvSpPr>
          <p:cNvPr id="22" name="Text 19"/>
          <p:cNvSpPr txBox="1"/>
          <p:nvPr/>
        </p:nvSpPr>
        <p:spPr>
          <a:xfrm>
            <a:off x="3337560" y="2441448"/>
            <a:ext cx="1828800" cy="406908"/>
          </a:xfrm>
          <a:prstGeom prst="rect">
            <a:avLst/>
          </a:prstGeom>
          <a:noFill/>
          <a:ln/>
        </p:spPr>
        <p:txBody>
          <a:bodyPr wrap="square" lIns="0" tIns="0" rIns="0" bIns="0" rtlCol="0" anchor="ctr"/>
          <a:lstStyle/>
          <a:p>
            <a:pPr indent="0" marL="0">
              <a:buNone/>
            </a:pPr>
            <a:r>
              <a:rPr lang="en-US" sz="1000" dirty="0">
                <a:solidFill>
                  <a:srgbClr val="387F7F"/>
                </a:solidFill>
                <a:latin typeface="Roboto Mono" pitchFamily="34" charset="0"/>
                <a:ea typeface="Roboto Mono" pitchFamily="34" charset="-122"/>
                <a:cs typeface="Roboto Mono" pitchFamily="34" charset="-120"/>
              </a:rPr>
              <a:t>rider_name</a:t>
            </a:r>
            <a:endParaRPr lang="en-US" sz="1000" dirty="0"/>
          </a:p>
        </p:txBody>
      </p:sp>
      <p:sp>
        <p:nvSpPr>
          <p:cNvPr id="23" name="Text 20"/>
          <p:cNvSpPr txBox="1"/>
          <p:nvPr/>
        </p:nvSpPr>
        <p:spPr>
          <a:xfrm>
            <a:off x="5212080" y="2441448"/>
            <a:ext cx="1508760" cy="406908"/>
          </a:xfrm>
          <a:prstGeom prst="rect">
            <a:avLst/>
          </a:prstGeom>
          <a:noFill/>
          <a:ln/>
        </p:spPr>
        <p:txBody>
          <a:bodyPr wrap="square" lIns="0" tIns="0" rIns="0" bIns="0" rtlCol="0" anchor="ctr"/>
          <a:lstStyle/>
          <a:p>
            <a:pPr indent="0" marL="0">
              <a:buNone/>
            </a:pPr>
            <a:r>
              <a:rPr lang="en-US" sz="1100" b="1" dirty="0">
                <a:solidFill>
                  <a:srgbClr val="20494A"/>
                </a:solidFill>
                <a:latin typeface="Poppins" pitchFamily="34" charset="0"/>
                <a:ea typeface="Poppins" pitchFamily="34" charset="-122"/>
                <a:cs typeface="Poppins" pitchFamily="34" charset="-120"/>
              </a:rPr>
              <a:t>628 rows</a:t>
            </a:r>
            <a:endParaRPr lang="en-US" sz="1100" dirty="0"/>
          </a:p>
        </p:txBody>
      </p:sp>
      <p:sp>
        <p:nvSpPr>
          <p:cNvPr id="24" name="Text 21"/>
          <p:cNvSpPr txBox="1"/>
          <p:nvPr/>
        </p:nvSpPr>
        <p:spPr>
          <a:xfrm>
            <a:off x="6766560" y="2441448"/>
            <a:ext cx="3566160" cy="406908"/>
          </a:xfrm>
          <a:prstGeom prst="rect">
            <a:avLst/>
          </a:prstGeom>
          <a:noFill/>
          <a:ln/>
        </p:spPr>
        <p:txBody>
          <a:bodyPr wrap="square" lIns="0" tIns="0" rIns="0" bIns="0" rtlCol="0" anchor="ctr"/>
          <a:lstStyle/>
          <a:p>
            <a:pPr indent="0" marL="0">
              <a:lnSpc>
                <a:spcPct val="110000"/>
              </a:lnSpc>
              <a:buNone/>
            </a:pPr>
            <a:r>
              <a:rPr lang="en-US" sz="1050" dirty="0">
                <a:solidFill>
                  <a:srgbClr val="475569"/>
                </a:solidFill>
                <a:latin typeface="Poppins" pitchFamily="34" charset="0"/>
                <a:ea typeface="Poppins" pitchFamily="34" charset="-122"/>
                <a:cs typeface="Poppins" pitchFamily="34" charset="-120"/>
              </a:rPr>
              <a:t>trailing spaces + inconsistent casing</a:t>
            </a:r>
            <a:endParaRPr lang="en-US" sz="1050" dirty="0"/>
          </a:p>
        </p:txBody>
      </p:sp>
      <p:sp>
        <p:nvSpPr>
          <p:cNvPr id="25" name="Shape 22"/>
          <p:cNvSpPr/>
          <p:nvPr/>
        </p:nvSpPr>
        <p:spPr>
          <a:xfrm>
            <a:off x="822960" y="2848356"/>
            <a:ext cx="9646920" cy="406908"/>
          </a:xfrm>
          <a:prstGeom prst="rect">
            <a:avLst/>
          </a:prstGeom>
          <a:solidFill>
            <a:srgbClr val="F4F7F7"/>
          </a:solidFill>
          <a:ln/>
        </p:spPr>
      </p:sp>
      <p:sp>
        <p:nvSpPr>
          <p:cNvPr id="26" name="Text 23"/>
          <p:cNvSpPr txBox="1"/>
          <p:nvPr/>
        </p:nvSpPr>
        <p:spPr>
          <a:xfrm>
            <a:off x="960120" y="2848356"/>
            <a:ext cx="2331720" cy="406908"/>
          </a:xfrm>
          <a:prstGeom prst="rect">
            <a:avLst/>
          </a:prstGeom>
          <a:noFill/>
          <a:ln/>
        </p:spPr>
        <p:txBody>
          <a:bodyPr wrap="square" lIns="0" tIns="0" rIns="0" bIns="0" rtlCol="0" anchor="ctr"/>
          <a:lstStyle/>
          <a:p>
            <a:pPr indent="0" marL="0">
              <a:buNone/>
            </a:pPr>
            <a:r>
              <a:rPr lang="en-US" sz="1150" b="1" dirty="0">
                <a:solidFill>
                  <a:srgbClr val="0A1A23"/>
                </a:solidFill>
                <a:latin typeface="Poppins" pitchFamily="34" charset="0"/>
                <a:ea typeface="Poppins" pitchFamily="34" charset="-122"/>
                <a:cs typeface="Poppins" pitchFamily="34" charset="-120"/>
              </a:rPr>
              <a:t>Route code split</a:t>
            </a:r>
            <a:endParaRPr lang="en-US" sz="1150" dirty="0"/>
          </a:p>
        </p:txBody>
      </p:sp>
      <p:sp>
        <p:nvSpPr>
          <p:cNvPr id="27" name="Text 24"/>
          <p:cNvSpPr txBox="1"/>
          <p:nvPr/>
        </p:nvSpPr>
        <p:spPr>
          <a:xfrm>
            <a:off x="3337560" y="2848356"/>
            <a:ext cx="1828800" cy="406908"/>
          </a:xfrm>
          <a:prstGeom prst="rect">
            <a:avLst/>
          </a:prstGeom>
          <a:noFill/>
          <a:ln/>
        </p:spPr>
        <p:txBody>
          <a:bodyPr wrap="square" lIns="0" tIns="0" rIns="0" bIns="0" rtlCol="0" anchor="ctr"/>
          <a:lstStyle/>
          <a:p>
            <a:pPr indent="0" marL="0">
              <a:buNone/>
            </a:pPr>
            <a:r>
              <a:rPr lang="en-US" sz="1000" dirty="0">
                <a:solidFill>
                  <a:srgbClr val="387F7F"/>
                </a:solidFill>
                <a:latin typeface="Roboto Mono" pitchFamily="34" charset="0"/>
                <a:ea typeface="Roboto Mono" pitchFamily="34" charset="-122"/>
                <a:cs typeface="Roboto Mono" pitchFamily="34" charset="-120"/>
              </a:rPr>
              <a:t>route_code</a:t>
            </a:r>
            <a:endParaRPr lang="en-US" sz="1000" dirty="0"/>
          </a:p>
        </p:txBody>
      </p:sp>
      <p:sp>
        <p:nvSpPr>
          <p:cNvPr id="28" name="Text 25"/>
          <p:cNvSpPr txBox="1"/>
          <p:nvPr/>
        </p:nvSpPr>
        <p:spPr>
          <a:xfrm>
            <a:off x="5212080" y="2848356"/>
            <a:ext cx="1508760" cy="406908"/>
          </a:xfrm>
          <a:prstGeom prst="rect">
            <a:avLst/>
          </a:prstGeom>
          <a:noFill/>
          <a:ln/>
        </p:spPr>
        <p:txBody>
          <a:bodyPr wrap="square" lIns="0" tIns="0" rIns="0" bIns="0" rtlCol="0" anchor="ctr"/>
          <a:lstStyle/>
          <a:p>
            <a:pPr indent="0" marL="0">
              <a:buNone/>
            </a:pPr>
            <a:r>
              <a:rPr lang="en-US" sz="1100" b="1" dirty="0">
                <a:solidFill>
                  <a:srgbClr val="20494A"/>
                </a:solidFill>
                <a:latin typeface="Poppins" pitchFamily="34" charset="0"/>
                <a:ea typeface="Poppins" pitchFamily="34" charset="-122"/>
                <a:cs typeface="Poppins" pitchFamily="34" charset="-120"/>
              </a:rPr>
              <a:t>288 rows</a:t>
            </a:r>
            <a:endParaRPr lang="en-US" sz="1100" dirty="0"/>
          </a:p>
        </p:txBody>
      </p:sp>
      <p:sp>
        <p:nvSpPr>
          <p:cNvPr id="29" name="Text 26"/>
          <p:cNvSpPr txBox="1"/>
          <p:nvPr/>
        </p:nvSpPr>
        <p:spPr>
          <a:xfrm>
            <a:off x="6766560" y="2848356"/>
            <a:ext cx="3566160" cy="406908"/>
          </a:xfrm>
          <a:prstGeom prst="rect">
            <a:avLst/>
          </a:prstGeom>
          <a:noFill/>
          <a:ln/>
        </p:spPr>
        <p:txBody>
          <a:bodyPr wrap="square" lIns="0" tIns="0" rIns="0" bIns="0" rtlCol="0" anchor="ctr"/>
          <a:lstStyle/>
          <a:p>
            <a:pPr indent="0" marL="0">
              <a:lnSpc>
                <a:spcPct val="110000"/>
              </a:lnSpc>
              <a:buNone/>
            </a:pPr>
            <a:r>
              <a:rPr lang="en-US" sz="1050" dirty="0">
                <a:solidFill>
                  <a:srgbClr val="475569"/>
                </a:solidFill>
                <a:latin typeface="Poppins" pitchFamily="34" charset="0"/>
                <a:ea typeface="Poppins" pitchFamily="34" charset="-122"/>
                <a:cs typeface="Poppins" pitchFamily="34" charset="-120"/>
              </a:rPr>
              <a:t>"LAG-07" vs "LAG07", same route</a:t>
            </a:r>
            <a:endParaRPr lang="en-US" sz="1050" dirty="0"/>
          </a:p>
        </p:txBody>
      </p:sp>
      <p:sp>
        <p:nvSpPr>
          <p:cNvPr id="30" name="Shape 27"/>
          <p:cNvSpPr/>
          <p:nvPr/>
        </p:nvSpPr>
        <p:spPr>
          <a:xfrm>
            <a:off x="822960" y="3255264"/>
            <a:ext cx="9646920" cy="406908"/>
          </a:xfrm>
          <a:prstGeom prst="rect">
            <a:avLst/>
          </a:prstGeom>
          <a:solidFill>
            <a:srgbClr val="FFFFFF"/>
          </a:solidFill>
          <a:ln/>
        </p:spPr>
      </p:sp>
      <p:sp>
        <p:nvSpPr>
          <p:cNvPr id="31" name="Text 28"/>
          <p:cNvSpPr txBox="1"/>
          <p:nvPr/>
        </p:nvSpPr>
        <p:spPr>
          <a:xfrm>
            <a:off x="960120" y="3255264"/>
            <a:ext cx="2331720" cy="406908"/>
          </a:xfrm>
          <a:prstGeom prst="rect">
            <a:avLst/>
          </a:prstGeom>
          <a:noFill/>
          <a:ln/>
        </p:spPr>
        <p:txBody>
          <a:bodyPr wrap="square" lIns="0" tIns="0" rIns="0" bIns="0" rtlCol="0" anchor="ctr"/>
          <a:lstStyle/>
          <a:p>
            <a:pPr indent="0" marL="0">
              <a:buNone/>
            </a:pPr>
            <a:r>
              <a:rPr lang="en-US" sz="1150" b="1" dirty="0">
                <a:solidFill>
                  <a:srgbClr val="0A1A23"/>
                </a:solidFill>
                <a:latin typeface="Poppins" pitchFamily="34" charset="0"/>
                <a:ea typeface="Poppins" pitchFamily="34" charset="-122"/>
                <a:cs typeface="Poppins" pitchFamily="34" charset="-120"/>
              </a:rPr>
              <a:t>Blank statuses</a:t>
            </a:r>
            <a:endParaRPr lang="en-US" sz="1150" dirty="0"/>
          </a:p>
        </p:txBody>
      </p:sp>
      <p:sp>
        <p:nvSpPr>
          <p:cNvPr id="32" name="Text 29"/>
          <p:cNvSpPr txBox="1"/>
          <p:nvPr/>
        </p:nvSpPr>
        <p:spPr>
          <a:xfrm>
            <a:off x="3337560" y="3255264"/>
            <a:ext cx="1828800" cy="406908"/>
          </a:xfrm>
          <a:prstGeom prst="rect">
            <a:avLst/>
          </a:prstGeom>
          <a:noFill/>
          <a:ln/>
        </p:spPr>
        <p:txBody>
          <a:bodyPr wrap="square" lIns="0" tIns="0" rIns="0" bIns="0" rtlCol="0" anchor="ctr"/>
          <a:lstStyle/>
          <a:p>
            <a:pPr indent="0" marL="0">
              <a:buNone/>
            </a:pPr>
            <a:r>
              <a:rPr lang="en-US" sz="1000" dirty="0">
                <a:solidFill>
                  <a:srgbClr val="387F7F"/>
                </a:solidFill>
                <a:latin typeface="Roboto Mono" pitchFamily="34" charset="0"/>
                <a:ea typeface="Roboto Mono" pitchFamily="34" charset="-122"/>
                <a:cs typeface="Roboto Mono" pitchFamily="34" charset="-120"/>
              </a:rPr>
              <a:t>delivery_status</a:t>
            </a:r>
            <a:endParaRPr lang="en-US" sz="1000" dirty="0"/>
          </a:p>
        </p:txBody>
      </p:sp>
      <p:sp>
        <p:nvSpPr>
          <p:cNvPr id="33" name="Text 30"/>
          <p:cNvSpPr txBox="1"/>
          <p:nvPr/>
        </p:nvSpPr>
        <p:spPr>
          <a:xfrm>
            <a:off x="5212080" y="3255264"/>
            <a:ext cx="1508760" cy="406908"/>
          </a:xfrm>
          <a:prstGeom prst="rect">
            <a:avLst/>
          </a:prstGeom>
          <a:noFill/>
          <a:ln/>
        </p:spPr>
        <p:txBody>
          <a:bodyPr wrap="square" lIns="0" tIns="0" rIns="0" bIns="0" rtlCol="0" anchor="ctr"/>
          <a:lstStyle/>
          <a:p>
            <a:pPr indent="0" marL="0">
              <a:buNone/>
            </a:pPr>
            <a:r>
              <a:rPr lang="en-US" sz="1100" b="1" dirty="0">
                <a:solidFill>
                  <a:srgbClr val="20494A"/>
                </a:solidFill>
                <a:latin typeface="Poppins" pitchFamily="34" charset="0"/>
                <a:ea typeface="Poppins" pitchFamily="34" charset="-122"/>
                <a:cs typeface="Poppins" pitchFamily="34" charset="-120"/>
              </a:rPr>
              <a:t>116 rows</a:t>
            </a:r>
            <a:endParaRPr lang="en-US" sz="1100" dirty="0"/>
          </a:p>
        </p:txBody>
      </p:sp>
      <p:sp>
        <p:nvSpPr>
          <p:cNvPr id="34" name="Text 31"/>
          <p:cNvSpPr txBox="1"/>
          <p:nvPr/>
        </p:nvSpPr>
        <p:spPr>
          <a:xfrm>
            <a:off x="6766560" y="3255264"/>
            <a:ext cx="3566160" cy="406908"/>
          </a:xfrm>
          <a:prstGeom prst="rect">
            <a:avLst/>
          </a:prstGeom>
          <a:noFill/>
          <a:ln/>
        </p:spPr>
        <p:txBody>
          <a:bodyPr wrap="square" lIns="0" tIns="0" rIns="0" bIns="0" rtlCol="0" anchor="ctr"/>
          <a:lstStyle/>
          <a:p>
            <a:pPr indent="0" marL="0">
              <a:lnSpc>
                <a:spcPct val="110000"/>
              </a:lnSpc>
              <a:buNone/>
            </a:pPr>
            <a:r>
              <a:rPr lang="en-US" sz="1050" dirty="0">
                <a:solidFill>
                  <a:srgbClr val="475569"/>
                </a:solidFill>
                <a:latin typeface="Poppins" pitchFamily="34" charset="0"/>
                <a:ea typeface="Poppins" pitchFamily="34" charset="-122"/>
                <a:cs typeface="Poppins" pitchFamily="34" charset="-120"/>
              </a:rPr>
              <a:t>empty string, not missing marker</a:t>
            </a:r>
            <a:endParaRPr lang="en-US" sz="1050" dirty="0"/>
          </a:p>
        </p:txBody>
      </p:sp>
      <p:sp>
        <p:nvSpPr>
          <p:cNvPr id="35" name="Shape 32"/>
          <p:cNvSpPr/>
          <p:nvPr/>
        </p:nvSpPr>
        <p:spPr>
          <a:xfrm>
            <a:off x="822960" y="3662172"/>
            <a:ext cx="9646920" cy="406908"/>
          </a:xfrm>
          <a:prstGeom prst="rect">
            <a:avLst/>
          </a:prstGeom>
          <a:solidFill>
            <a:srgbClr val="F4F7F7"/>
          </a:solidFill>
          <a:ln/>
        </p:spPr>
      </p:sp>
      <p:sp>
        <p:nvSpPr>
          <p:cNvPr id="36" name="Text 33"/>
          <p:cNvSpPr txBox="1"/>
          <p:nvPr/>
        </p:nvSpPr>
        <p:spPr>
          <a:xfrm>
            <a:off x="960120" y="3662172"/>
            <a:ext cx="2331720" cy="406908"/>
          </a:xfrm>
          <a:prstGeom prst="rect">
            <a:avLst/>
          </a:prstGeom>
          <a:noFill/>
          <a:ln/>
        </p:spPr>
        <p:txBody>
          <a:bodyPr wrap="square" lIns="0" tIns="0" rIns="0" bIns="0" rtlCol="0" anchor="ctr"/>
          <a:lstStyle/>
          <a:p>
            <a:pPr indent="0" marL="0">
              <a:buNone/>
            </a:pPr>
            <a:r>
              <a:rPr lang="en-US" sz="1150" b="1" dirty="0">
                <a:solidFill>
                  <a:srgbClr val="0A1A23"/>
                </a:solidFill>
                <a:latin typeface="Poppins" pitchFamily="34" charset="0"/>
                <a:ea typeface="Poppins" pitchFamily="34" charset="-122"/>
                <a:cs typeface="Poppins" pitchFamily="34" charset="-120"/>
              </a:rPr>
              <a:t>Impossible values</a:t>
            </a:r>
            <a:endParaRPr lang="en-US" sz="1150" dirty="0"/>
          </a:p>
        </p:txBody>
      </p:sp>
      <p:sp>
        <p:nvSpPr>
          <p:cNvPr id="37" name="Text 34"/>
          <p:cNvSpPr txBox="1"/>
          <p:nvPr/>
        </p:nvSpPr>
        <p:spPr>
          <a:xfrm>
            <a:off x="3337560" y="3662172"/>
            <a:ext cx="1828800" cy="406908"/>
          </a:xfrm>
          <a:prstGeom prst="rect">
            <a:avLst/>
          </a:prstGeom>
          <a:noFill/>
          <a:ln/>
        </p:spPr>
        <p:txBody>
          <a:bodyPr wrap="square" lIns="0" tIns="0" rIns="0" bIns="0" rtlCol="0" anchor="ctr"/>
          <a:lstStyle/>
          <a:p>
            <a:pPr indent="0" marL="0">
              <a:buNone/>
            </a:pPr>
            <a:r>
              <a:rPr lang="en-US" sz="1000" dirty="0">
                <a:solidFill>
                  <a:srgbClr val="387F7F"/>
                </a:solidFill>
                <a:latin typeface="Roboto Mono" pitchFamily="34" charset="0"/>
                <a:ea typeface="Roboto Mono" pitchFamily="34" charset="-122"/>
                <a:cs typeface="Roboto Mono" pitchFamily="34" charset="-120"/>
              </a:rPr>
              <a:t>duration_min / date</a:t>
            </a:r>
            <a:endParaRPr lang="en-US" sz="1000" dirty="0"/>
          </a:p>
        </p:txBody>
      </p:sp>
      <p:sp>
        <p:nvSpPr>
          <p:cNvPr id="38" name="Text 35"/>
          <p:cNvSpPr txBox="1"/>
          <p:nvPr/>
        </p:nvSpPr>
        <p:spPr>
          <a:xfrm>
            <a:off x="5212080" y="3662172"/>
            <a:ext cx="1508760" cy="406908"/>
          </a:xfrm>
          <a:prstGeom prst="rect">
            <a:avLst/>
          </a:prstGeom>
          <a:noFill/>
          <a:ln/>
        </p:spPr>
        <p:txBody>
          <a:bodyPr wrap="square" lIns="0" tIns="0" rIns="0" bIns="0" rtlCol="0" anchor="ctr"/>
          <a:lstStyle/>
          <a:p>
            <a:pPr indent="0" marL="0">
              <a:buNone/>
            </a:pPr>
            <a:r>
              <a:rPr lang="en-US" sz="1100" b="1" dirty="0">
                <a:solidFill>
                  <a:srgbClr val="20494A"/>
                </a:solidFill>
                <a:latin typeface="Poppins" pitchFamily="34" charset="0"/>
                <a:ea typeface="Poppins" pitchFamily="34" charset="-122"/>
                <a:cs typeface="Poppins" pitchFamily="34" charset="-120"/>
              </a:rPr>
              <a:t>6 rows</a:t>
            </a:r>
            <a:endParaRPr lang="en-US" sz="1100" dirty="0"/>
          </a:p>
        </p:txBody>
      </p:sp>
      <p:sp>
        <p:nvSpPr>
          <p:cNvPr id="39" name="Text 36"/>
          <p:cNvSpPr txBox="1"/>
          <p:nvPr/>
        </p:nvSpPr>
        <p:spPr>
          <a:xfrm>
            <a:off x="6766560" y="3662172"/>
            <a:ext cx="3566160" cy="406908"/>
          </a:xfrm>
          <a:prstGeom prst="rect">
            <a:avLst/>
          </a:prstGeom>
          <a:noFill/>
          <a:ln/>
        </p:spPr>
        <p:txBody>
          <a:bodyPr wrap="square" lIns="0" tIns="0" rIns="0" bIns="0" rtlCol="0" anchor="ctr"/>
          <a:lstStyle/>
          <a:p>
            <a:pPr indent="0" marL="0">
              <a:lnSpc>
                <a:spcPct val="110000"/>
              </a:lnSpc>
              <a:buNone/>
            </a:pPr>
            <a:r>
              <a:rPr lang="en-US" sz="1050" dirty="0">
                <a:solidFill>
                  <a:srgbClr val="475569"/>
                </a:solidFill>
                <a:latin typeface="Poppins" pitchFamily="34" charset="0"/>
                <a:ea typeface="Poppins" pitchFamily="34" charset="-122"/>
                <a:cs typeface="Poppins" pitchFamily="34" charset="-120"/>
              </a:rPr>
              <a:t>4 negative durations, 2 dates in 2027</a:t>
            </a:r>
            <a:endParaRPr lang="en-US" sz="1050" dirty="0"/>
          </a:p>
        </p:txBody>
      </p:sp>
      <p:sp>
        <p:nvSpPr>
          <p:cNvPr id="40" name="Shape 37"/>
          <p:cNvSpPr/>
          <p:nvPr/>
        </p:nvSpPr>
        <p:spPr>
          <a:xfrm>
            <a:off x="822960" y="4069080"/>
            <a:ext cx="9646920" cy="406908"/>
          </a:xfrm>
          <a:prstGeom prst="rect">
            <a:avLst/>
          </a:prstGeom>
          <a:solidFill>
            <a:srgbClr val="FFFFFF"/>
          </a:solidFill>
          <a:ln/>
        </p:spPr>
      </p:sp>
      <p:sp>
        <p:nvSpPr>
          <p:cNvPr id="41" name="Text 38"/>
          <p:cNvSpPr txBox="1"/>
          <p:nvPr/>
        </p:nvSpPr>
        <p:spPr>
          <a:xfrm>
            <a:off x="960120" y="4069080"/>
            <a:ext cx="2331720" cy="406908"/>
          </a:xfrm>
          <a:prstGeom prst="rect">
            <a:avLst/>
          </a:prstGeom>
          <a:noFill/>
          <a:ln/>
        </p:spPr>
        <p:txBody>
          <a:bodyPr wrap="square" lIns="0" tIns="0" rIns="0" bIns="0" rtlCol="0" anchor="ctr"/>
          <a:lstStyle/>
          <a:p>
            <a:pPr indent="0" marL="0">
              <a:buNone/>
            </a:pPr>
            <a:r>
              <a:rPr lang="en-US" sz="1150" b="1" dirty="0">
                <a:solidFill>
                  <a:srgbClr val="0A1A23"/>
                </a:solidFill>
                <a:latin typeface="Poppins" pitchFamily="34" charset="0"/>
                <a:ea typeface="Poppins" pitchFamily="34" charset="-122"/>
                <a:cs typeface="Poppins" pitchFamily="34" charset="-120"/>
              </a:rPr>
              <a:t>Duplicate IDs</a:t>
            </a:r>
            <a:endParaRPr lang="en-US" sz="1150" dirty="0"/>
          </a:p>
        </p:txBody>
      </p:sp>
      <p:sp>
        <p:nvSpPr>
          <p:cNvPr id="42" name="Text 39"/>
          <p:cNvSpPr txBox="1"/>
          <p:nvPr/>
        </p:nvSpPr>
        <p:spPr>
          <a:xfrm>
            <a:off x="3337560" y="4069080"/>
            <a:ext cx="1828800" cy="406908"/>
          </a:xfrm>
          <a:prstGeom prst="rect">
            <a:avLst/>
          </a:prstGeom>
          <a:noFill/>
          <a:ln/>
        </p:spPr>
        <p:txBody>
          <a:bodyPr wrap="square" lIns="0" tIns="0" rIns="0" bIns="0" rtlCol="0" anchor="ctr"/>
          <a:lstStyle/>
          <a:p>
            <a:pPr indent="0" marL="0">
              <a:buNone/>
            </a:pPr>
            <a:r>
              <a:rPr lang="en-US" sz="1000" dirty="0">
                <a:solidFill>
                  <a:srgbClr val="387F7F"/>
                </a:solidFill>
                <a:latin typeface="Roboto Mono" pitchFamily="34" charset="0"/>
                <a:ea typeface="Roboto Mono" pitchFamily="34" charset="-122"/>
                <a:cs typeface="Roboto Mono" pitchFamily="34" charset="-120"/>
              </a:rPr>
              <a:t>delivery_id</a:t>
            </a:r>
            <a:endParaRPr lang="en-US" sz="1000" dirty="0"/>
          </a:p>
        </p:txBody>
      </p:sp>
      <p:sp>
        <p:nvSpPr>
          <p:cNvPr id="43" name="Text 40"/>
          <p:cNvSpPr txBox="1"/>
          <p:nvPr/>
        </p:nvSpPr>
        <p:spPr>
          <a:xfrm>
            <a:off x="5212080" y="4069080"/>
            <a:ext cx="1508760" cy="406908"/>
          </a:xfrm>
          <a:prstGeom prst="rect">
            <a:avLst/>
          </a:prstGeom>
          <a:noFill/>
          <a:ln/>
        </p:spPr>
        <p:txBody>
          <a:bodyPr wrap="square" lIns="0" tIns="0" rIns="0" bIns="0" rtlCol="0" anchor="ctr"/>
          <a:lstStyle/>
          <a:p>
            <a:pPr indent="0" marL="0">
              <a:buNone/>
            </a:pPr>
            <a:r>
              <a:rPr lang="en-US" sz="1100" b="1" dirty="0">
                <a:solidFill>
                  <a:srgbClr val="20494A"/>
                </a:solidFill>
                <a:latin typeface="Poppins" pitchFamily="34" charset="0"/>
                <a:ea typeface="Poppins" pitchFamily="34" charset="-122"/>
                <a:cs typeface="Poppins" pitchFamily="34" charset="-120"/>
              </a:rPr>
              <a:t>40 IDs (80 rows)</a:t>
            </a:r>
            <a:endParaRPr lang="en-US" sz="1100" dirty="0"/>
          </a:p>
        </p:txBody>
      </p:sp>
      <p:sp>
        <p:nvSpPr>
          <p:cNvPr id="44" name="Text 41"/>
          <p:cNvSpPr txBox="1"/>
          <p:nvPr/>
        </p:nvSpPr>
        <p:spPr>
          <a:xfrm>
            <a:off x="6766560" y="4069080"/>
            <a:ext cx="3566160" cy="406908"/>
          </a:xfrm>
          <a:prstGeom prst="rect">
            <a:avLst/>
          </a:prstGeom>
          <a:noFill/>
          <a:ln/>
        </p:spPr>
        <p:txBody>
          <a:bodyPr wrap="square" lIns="0" tIns="0" rIns="0" bIns="0" rtlCol="0" anchor="ctr"/>
          <a:lstStyle/>
          <a:p>
            <a:pPr indent="0" marL="0">
              <a:lnSpc>
                <a:spcPct val="110000"/>
              </a:lnSpc>
              <a:buNone/>
            </a:pPr>
            <a:r>
              <a:rPr lang="en-US" sz="1050" dirty="0">
                <a:solidFill>
                  <a:srgbClr val="475569"/>
                </a:solidFill>
                <a:latin typeface="Poppins" pitchFamily="34" charset="0"/>
                <a:ea typeface="Poppins" pitchFamily="34" charset="-122"/>
                <a:cs typeface="Poppins" pitchFamily="34" charset="-120"/>
              </a:rPr>
              <a:t>each duplicated delivery appears twice</a:t>
            </a:r>
            <a:endParaRPr lang="en-US" sz="1050" dirty="0"/>
          </a:p>
        </p:txBody>
      </p:sp>
      <p:sp>
        <p:nvSpPr>
          <p:cNvPr id="45" name="Shape 42"/>
          <p:cNvSpPr/>
          <p:nvPr/>
        </p:nvSpPr>
        <p:spPr>
          <a:xfrm>
            <a:off x="822960" y="1627632"/>
            <a:ext cx="9646920" cy="0"/>
          </a:xfrm>
          <a:prstGeom prst="line">
            <a:avLst/>
          </a:prstGeom>
          <a:noFill/>
          <a:ln w="12700">
            <a:solidFill>
              <a:srgbClr val="E2E8F0"/>
            </a:solidFill>
            <a:prstDash val="solid"/>
          </a:ln>
        </p:spPr>
      </p:sp>
      <p:sp>
        <p:nvSpPr>
          <p:cNvPr id="46" name="Text 43"/>
          <p:cNvSpPr txBox="1"/>
          <p:nvPr/>
        </p:nvSpPr>
        <p:spPr>
          <a:xfrm>
            <a:off x="685800" y="4709160"/>
            <a:ext cx="9921240" cy="365760"/>
          </a:xfrm>
          <a:prstGeom prst="rect">
            <a:avLst/>
          </a:prstGeom>
          <a:noFill/>
          <a:ln/>
        </p:spPr>
        <p:txBody>
          <a:bodyPr wrap="square" lIns="0" tIns="0" rIns="0" bIns="0" rtlCol="0" anchor="ctr"/>
          <a:lstStyle/>
          <a:p>
            <a:pPr indent="0" marL="0">
              <a:buNone/>
            </a:pPr>
            <a:r>
              <a:rPr lang="en-US" sz="1250" i="1" dirty="0">
                <a:solidFill>
                  <a:srgbClr val="64748B"/>
                </a:solidFill>
                <a:latin typeface="Poppins" pitchFamily="34" charset="0"/>
                <a:ea typeface="Poppins" pitchFamily="34" charset="-122"/>
                <a:cs typeface="Poppins" pitchFamily="34" charset="-120"/>
              </a:rPr>
              <a:t>Every count on this slide was recomputed from the actual file with a script, not carried over from memory.</a:t>
            </a:r>
            <a:endParaRPr lang="en-US" sz="12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11024006" y="1958645"/>
            <a:ext cx="4133088" cy="4038905"/>
          </a:xfrm>
          <a:prstGeom prst="ellipse">
            <a:avLst/>
          </a:prstGeom>
          <a:solidFill>
            <a:srgbClr val="387F7F"/>
          </a:solidFill>
          <a:ln/>
        </p:spPr>
      </p:sp>
      <p:sp>
        <p:nvSpPr>
          <p:cNvPr id="3" name="Shape 1"/>
          <p:cNvSpPr/>
          <p:nvPr/>
        </p:nvSpPr>
        <p:spPr>
          <a:xfrm>
            <a:off x="11316614" y="2675534"/>
            <a:ext cx="1051560" cy="2162556"/>
          </a:xfrm>
          <a:prstGeom prst="ellipse">
            <a:avLst/>
          </a:prstGeom>
          <a:solidFill>
            <a:srgbClr val="387F7F"/>
          </a:solidFill>
          <a:ln/>
        </p:spPr>
      </p:sp>
      <p:sp>
        <p:nvSpPr>
          <p:cNvPr id="4" name="Shape 2"/>
          <p:cNvSpPr/>
          <p:nvPr/>
        </p:nvSpPr>
        <p:spPr>
          <a:xfrm>
            <a:off x="685800" y="548640"/>
            <a:ext cx="54864" cy="411480"/>
          </a:xfrm>
          <a:prstGeom prst="rect">
            <a:avLst/>
          </a:prstGeom>
          <a:solidFill>
            <a:srgbClr val="387F7F"/>
          </a:solidFill>
          <a:ln/>
        </p:spPr>
      </p:sp>
      <p:sp>
        <p:nvSpPr>
          <p:cNvPr id="5" name="Text 3"/>
          <p:cNvSpPr txBox="1"/>
          <p:nvPr/>
        </p:nvSpPr>
        <p:spPr>
          <a:xfrm>
            <a:off x="868680" y="502920"/>
            <a:ext cx="9966960" cy="685800"/>
          </a:xfrm>
          <a:prstGeom prst="rect">
            <a:avLst/>
          </a:prstGeom>
          <a:noFill/>
          <a:ln/>
        </p:spPr>
        <p:txBody>
          <a:bodyPr wrap="square" lIns="0" tIns="0" rIns="0" bIns="0" rtlCol="0" anchor="t"/>
          <a:lstStyle/>
          <a:p>
            <a:pPr indent="0" marL="0">
              <a:lnSpc>
                <a:spcPct val="110000"/>
              </a:lnSpc>
              <a:buNone/>
            </a:pPr>
            <a:r>
              <a:rPr lang="en-US" sz="3300" dirty="0">
                <a:solidFill>
                  <a:srgbClr val="387F7F"/>
                </a:solidFill>
                <a:latin typeface="Poppins" pitchFamily="34" charset="0"/>
                <a:ea typeface="Poppins" pitchFamily="34" charset="-122"/>
                <a:cs typeface="Poppins" pitchFamily="34" charset="-120"/>
              </a:rPr>
              <a:t>A worked first pass: dates and fees</a:t>
            </a:r>
            <a:endParaRPr lang="en-US" sz="3300" dirty="0"/>
          </a:p>
        </p:txBody>
      </p:sp>
      <p:sp>
        <p:nvSpPr>
          <p:cNvPr id="6" name="Shape 4"/>
          <p:cNvSpPr/>
          <p:nvPr/>
        </p:nvSpPr>
        <p:spPr>
          <a:xfrm>
            <a:off x="685800" y="1508760"/>
            <a:ext cx="3401568" cy="502920"/>
          </a:xfrm>
          <a:prstGeom prst="roundRect">
            <a:avLst>
              <a:gd name="adj" fmla="val 50909"/>
            </a:avLst>
          </a:prstGeom>
          <a:solidFill>
            <a:srgbClr val="FFFFFF"/>
          </a:solidFill>
          <a:ln w="12700">
            <a:solidFill>
              <a:srgbClr val="E2E8F0"/>
            </a:solidFill>
            <a:prstDash val="solid"/>
          </a:ln>
        </p:spPr>
      </p:sp>
      <p:sp>
        <p:nvSpPr>
          <p:cNvPr id="7" name="Text 5"/>
          <p:cNvSpPr txBox="1"/>
          <p:nvPr/>
        </p:nvSpPr>
        <p:spPr>
          <a:xfrm>
            <a:off x="685800" y="1508760"/>
            <a:ext cx="3401568" cy="502920"/>
          </a:xfrm>
          <a:prstGeom prst="rect">
            <a:avLst/>
          </a:prstGeom>
          <a:noFill/>
          <a:ln/>
        </p:spPr>
        <p:txBody>
          <a:bodyPr wrap="square" lIns="0" tIns="0" rIns="0" bIns="0" rtlCol="0" anchor="ctr"/>
          <a:lstStyle/>
          <a:p>
            <a:pPr algn="ctr" indent="0" marL="0">
              <a:buNone/>
            </a:pPr>
            <a:r>
              <a:rPr lang="en-US" sz="1200" dirty="0">
                <a:solidFill>
                  <a:srgbClr val="64748B"/>
                </a:solidFill>
                <a:latin typeface="Poppins" pitchFamily="34" charset="0"/>
                <a:ea typeface="Poppins" pitchFamily="34" charset="-122"/>
                <a:cs typeface="Poppins" pitchFamily="34" charset="-120"/>
              </a:rPr>
              <a:t>1. Load</a:t>
            </a:r>
            <a:endParaRPr lang="en-US" sz="1200" dirty="0"/>
          </a:p>
        </p:txBody>
      </p:sp>
      <p:sp>
        <p:nvSpPr>
          <p:cNvPr id="8" name="Shape 6"/>
          <p:cNvSpPr/>
          <p:nvPr/>
        </p:nvSpPr>
        <p:spPr>
          <a:xfrm>
            <a:off x="4197096" y="1508760"/>
            <a:ext cx="3401568" cy="502920"/>
          </a:xfrm>
          <a:prstGeom prst="roundRect">
            <a:avLst>
              <a:gd name="adj" fmla="val 50909"/>
            </a:avLst>
          </a:prstGeom>
          <a:solidFill>
            <a:srgbClr val="387F7F"/>
          </a:solidFill>
          <a:ln/>
        </p:spPr>
      </p:sp>
      <p:sp>
        <p:nvSpPr>
          <p:cNvPr id="9" name="Text 7"/>
          <p:cNvSpPr txBox="1"/>
          <p:nvPr/>
        </p:nvSpPr>
        <p:spPr>
          <a:xfrm>
            <a:off x="4197096" y="1508760"/>
            <a:ext cx="3401568" cy="502920"/>
          </a:xfrm>
          <a:prstGeom prst="rect">
            <a:avLst/>
          </a:prstGeom>
          <a:noFill/>
          <a:ln/>
        </p:spPr>
        <p:txBody>
          <a:bodyPr wrap="square" lIns="0" tIns="0" rIns="0" bIns="0" rtlCol="0" anchor="ctr"/>
          <a:lstStyle/>
          <a:p>
            <a:pPr algn="ctr" indent="0" marL="0">
              <a:buNone/>
            </a:pPr>
            <a:r>
              <a:rPr lang="en-US" sz="1200" b="1" dirty="0">
                <a:solidFill>
                  <a:srgbClr val="FFFFFF"/>
                </a:solidFill>
                <a:latin typeface="Poppins" pitchFamily="34" charset="0"/>
                <a:ea typeface="Poppins" pitchFamily="34" charset="-122"/>
                <a:cs typeface="Poppins" pitchFamily="34" charset="-120"/>
              </a:rPr>
              <a:t>2. Standardise</a:t>
            </a:r>
            <a:endParaRPr lang="en-US" sz="1200" dirty="0"/>
          </a:p>
        </p:txBody>
      </p:sp>
      <p:sp>
        <p:nvSpPr>
          <p:cNvPr id="10" name="Shape 8"/>
          <p:cNvSpPr/>
          <p:nvPr/>
        </p:nvSpPr>
        <p:spPr>
          <a:xfrm>
            <a:off x="7708392" y="1508760"/>
            <a:ext cx="3401568" cy="502920"/>
          </a:xfrm>
          <a:prstGeom prst="roundRect">
            <a:avLst>
              <a:gd name="adj" fmla="val 50909"/>
            </a:avLst>
          </a:prstGeom>
          <a:solidFill>
            <a:srgbClr val="FFFFFF"/>
          </a:solidFill>
          <a:ln w="12700">
            <a:solidFill>
              <a:srgbClr val="E2E8F0"/>
            </a:solidFill>
            <a:prstDash val="solid"/>
          </a:ln>
        </p:spPr>
      </p:sp>
      <p:sp>
        <p:nvSpPr>
          <p:cNvPr id="11" name="Text 9"/>
          <p:cNvSpPr txBox="1"/>
          <p:nvPr/>
        </p:nvSpPr>
        <p:spPr>
          <a:xfrm>
            <a:off x="7708392" y="1508760"/>
            <a:ext cx="3401568" cy="502920"/>
          </a:xfrm>
          <a:prstGeom prst="rect">
            <a:avLst/>
          </a:prstGeom>
          <a:noFill/>
          <a:ln/>
        </p:spPr>
        <p:txBody>
          <a:bodyPr wrap="square" lIns="0" tIns="0" rIns="0" bIns="0" rtlCol="0" anchor="ctr"/>
          <a:lstStyle/>
          <a:p>
            <a:pPr algn="ctr" indent="0" marL="0">
              <a:buNone/>
            </a:pPr>
            <a:r>
              <a:rPr lang="en-US" sz="1200" dirty="0">
                <a:solidFill>
                  <a:srgbClr val="64748B"/>
                </a:solidFill>
                <a:latin typeface="Poppins" pitchFamily="34" charset="0"/>
                <a:ea typeface="Poppins" pitchFamily="34" charset="-122"/>
                <a:cs typeface="Poppins" pitchFamily="34" charset="-120"/>
              </a:rPr>
              <a:t>3. Verify</a:t>
            </a:r>
            <a:endParaRPr lang="en-US" sz="1200" dirty="0"/>
          </a:p>
        </p:txBody>
      </p:sp>
      <p:sp>
        <p:nvSpPr>
          <p:cNvPr id="12" name="Shape 10"/>
          <p:cNvSpPr/>
          <p:nvPr/>
        </p:nvSpPr>
        <p:spPr>
          <a:xfrm>
            <a:off x="685800" y="2240280"/>
            <a:ext cx="6126480" cy="3108960"/>
          </a:xfrm>
          <a:prstGeom prst="roundRect">
            <a:avLst>
              <a:gd name="adj" fmla="val 2647"/>
            </a:avLst>
          </a:prstGeom>
          <a:solidFill>
            <a:srgbClr val="FFFFFF"/>
          </a:solidFill>
          <a:ln/>
          <a:effectLst>
            <a:outerShdw sx="100000" sy="100000" kx="0" ky="0" algn="bl" rotWithShape="0" blurRad="127000" dist="38100" dir="5400000">
              <a:srgbClr val="1B2A2E">
                <a:alpha val="12000"/>
              </a:srgbClr>
            </a:outerShdw>
          </a:effectLst>
        </p:spPr>
      </p:sp>
      <p:sp>
        <p:nvSpPr>
          <p:cNvPr id="13" name="Text 11"/>
          <p:cNvSpPr txBox="1"/>
          <p:nvPr/>
        </p:nvSpPr>
        <p:spPr>
          <a:xfrm>
            <a:off x="868680" y="2423160"/>
            <a:ext cx="5760720" cy="2834640"/>
          </a:xfrm>
          <a:prstGeom prst="rect">
            <a:avLst/>
          </a:prstGeom>
          <a:noFill/>
          <a:ln/>
        </p:spPr>
        <p:txBody>
          <a:bodyPr wrap="square" lIns="0" tIns="0" rIns="0" bIns="0" rtlCol="0" anchor="t"/>
          <a:lstStyle/>
          <a:p>
            <a:pPr algn="l" indent="0" marL="0">
              <a:lnSpc>
                <a:spcPct val="130000"/>
              </a:lnSpc>
              <a:buNone/>
            </a:pPr>
            <a:r>
              <a:rPr lang="en-US" sz="1500" dirty="0">
                <a:solidFill>
                  <a:srgbClr val="475569"/>
                </a:solidFill>
                <a:latin typeface="Poppins" pitchFamily="34" charset="0"/>
                <a:ea typeface="Poppins" pitchFamily="34" charset="-122"/>
                <a:cs typeface="Poppins" pitchFamily="34" charset="-120"/>
              </a:rPr>
              <a:t>AI drafted this from one instruction: parse the mixed-format dates and strip the naira symbol and commas from the fee column. Before running it, the prediction: dates come out with zero parse errors; fees land roughly ₦400–₦8,000, the range seen scrolling through the raw file by eye.</a:t>
            </a:r>
            <a:endParaRPr lang="en-US" sz="1500" dirty="0"/>
          </a:p>
        </p:txBody>
      </p:sp>
      <p:sp>
        <p:nvSpPr>
          <p:cNvPr id="14" name="Shape 12"/>
          <p:cNvSpPr/>
          <p:nvPr/>
        </p:nvSpPr>
        <p:spPr>
          <a:xfrm>
            <a:off x="6995160" y="2240280"/>
            <a:ext cx="4114800" cy="3108960"/>
          </a:xfrm>
          <a:prstGeom prst="roundRect">
            <a:avLst>
              <a:gd name="adj" fmla="val 2647"/>
            </a:avLst>
          </a:prstGeom>
          <a:solidFill>
            <a:srgbClr val="F4F7F7"/>
          </a:solidFill>
          <a:ln/>
          <a:effectLst>
            <a:outerShdw sx="100000" sy="100000" kx="0" ky="0" algn="bl" rotWithShape="0" blurRad="127000" dist="38100" dir="5400000">
              <a:srgbClr val="1B2A2E">
                <a:alpha val="12000"/>
              </a:srgbClr>
            </a:outerShdw>
          </a:effectLst>
        </p:spPr>
      </p:sp>
      <p:sp>
        <p:nvSpPr>
          <p:cNvPr id="15" name="Shape 13"/>
          <p:cNvSpPr/>
          <p:nvPr/>
        </p:nvSpPr>
        <p:spPr>
          <a:xfrm>
            <a:off x="6995160" y="2240280"/>
            <a:ext cx="82296" cy="3108960"/>
          </a:xfrm>
          <a:prstGeom prst="rect">
            <a:avLst/>
          </a:prstGeom>
          <a:solidFill>
            <a:srgbClr val="387F7F"/>
          </a:solidFill>
          <a:ln/>
        </p:spPr>
      </p:sp>
      <p:sp>
        <p:nvSpPr>
          <p:cNvPr id="16" name="Text 14"/>
          <p:cNvSpPr txBox="1"/>
          <p:nvPr/>
        </p:nvSpPr>
        <p:spPr>
          <a:xfrm>
            <a:off x="7269480" y="2423160"/>
            <a:ext cx="3657600" cy="274320"/>
          </a:xfrm>
          <a:prstGeom prst="rect">
            <a:avLst/>
          </a:prstGeom>
          <a:noFill/>
          <a:ln/>
        </p:spPr>
        <p:txBody>
          <a:bodyPr wrap="square" lIns="0" tIns="0" rIns="0" bIns="0" rtlCol="0" anchor="t"/>
          <a:lstStyle/>
          <a:p>
            <a:pPr algn="l" indent="0" marL="0">
              <a:lnSpc>
                <a:spcPct val="130000"/>
              </a:lnSpc>
              <a:buNone/>
            </a:pPr>
            <a:r>
              <a:rPr lang="en-US" sz="1300" b="1" dirty="0">
                <a:solidFill>
                  <a:srgbClr val="387F7F"/>
                </a:solidFill>
                <a:latin typeface="Poppins" pitchFamily="34" charset="0"/>
                <a:ea typeface="Poppins" pitchFamily="34" charset="-122"/>
                <a:cs typeface="Poppins" pitchFamily="34" charset="-120"/>
              </a:rPr>
              <a:t>VERIFICATION CHECK</a:t>
            </a:r>
            <a:endParaRPr lang="en-US" sz="1300" dirty="0"/>
          </a:p>
        </p:txBody>
      </p:sp>
      <p:sp>
        <p:nvSpPr>
          <p:cNvPr id="17" name="Text 15"/>
          <p:cNvSpPr txBox="1"/>
          <p:nvPr/>
        </p:nvSpPr>
        <p:spPr>
          <a:xfrm>
            <a:off x="7269480" y="2788920"/>
            <a:ext cx="3657600" cy="2377440"/>
          </a:xfrm>
          <a:prstGeom prst="rect">
            <a:avLst/>
          </a:prstGeom>
          <a:noFill/>
          <a:ln/>
        </p:spPr>
        <p:txBody>
          <a:bodyPr wrap="square" lIns="0" tIns="0" rIns="0" bIns="0" rtlCol="0" anchor="t"/>
          <a:lstStyle/>
          <a:p>
            <a:pPr algn="l" indent="0" marL="0">
              <a:lnSpc>
                <a:spcPct val="130000"/>
              </a:lnSpc>
              <a:buNone/>
            </a:pPr>
            <a:r>
              <a:rPr lang="en-US" sz="1500" dirty="0">
                <a:solidFill>
                  <a:srgbClr val="475569"/>
                </a:solidFill>
                <a:latin typeface="Poppins" pitchFamily="34" charset="0"/>
                <a:ea typeface="Poppins" pitchFamily="34" charset="-122"/>
                <a:cs typeface="Poppins" pitchFamily="34" charset="-120"/>
              </a:rPr>
              <a:t>After running: 0 date-parse failures on all 3,640 rows. Fees now numeric, ranging ₦640–₦6,160 - within the predicted range. Row count before and after is still 3,640: nothing silently dropped. This step passes the checklist.</a:t>
            </a:r>
            <a:endParaRPr lang="en-US" sz="1500" dirty="0"/>
          </a:p>
        </p:txBody>
      </p:sp>
      <p:pic>
        <p:nvPicPr>
          <p:cNvPr id="18" name="Image 0" descr="/home/claude/assets/logo_full.png">    </p:cNvPr>
          <p:cNvPicPr>
            <a:picLocks noChangeAspect="1"/>
          </p:cNvPicPr>
          <p:nvPr/>
        </p:nvPicPr>
        <p:blipFill>
          <a:blip r:embed="rId2"/>
          <a:stretch>
            <a:fillRect/>
          </a:stretch>
        </p:blipFill>
        <p:spPr>
          <a:xfrm>
            <a:off x="10998403" y="5949086"/>
            <a:ext cx="431597" cy="375337"/>
          </a:xfrm>
          <a:prstGeom prst="rect">
            <a:avLst/>
          </a:prstGeom>
        </p:spPr>
      </p:pic>
      <p:sp>
        <p:nvSpPr>
          <p:cNvPr id="19" name="Text 16"/>
          <p:cNvSpPr txBox="1"/>
          <p:nvPr/>
        </p:nvSpPr>
        <p:spPr>
          <a:xfrm>
            <a:off x="11688775" y="6473952"/>
            <a:ext cx="365760" cy="274320"/>
          </a:xfrm>
          <a:prstGeom prst="rect">
            <a:avLst/>
          </a:prstGeom>
          <a:noFill/>
          <a:ln/>
        </p:spPr>
        <p:txBody>
          <a:bodyPr wrap="square" lIns="0" tIns="0" rIns="0" bIns="0" rtlCol="0" anchor="ctr"/>
          <a:lstStyle/>
          <a:p>
            <a:pPr algn="r" indent="0" marL="0">
              <a:buNone/>
            </a:pPr>
            <a:r>
              <a:rPr lang="en-US" sz="1100" dirty="0">
                <a:solidFill>
                  <a:srgbClr val="64748B"/>
                </a:solidFill>
                <a:latin typeface="Poppins" pitchFamily="34" charset="0"/>
                <a:ea typeface="Poppins" pitchFamily="34" charset="-122"/>
                <a:cs typeface="Poppins" pitchFamily="34" charset="-120"/>
              </a:rPr>
              <a:t>15</a:t>
            </a:r>
            <a:endParaRPr lang="en-US" sz="1100" dirty="0"/>
          </a:p>
        </p:txBody>
      </p:sp>
      <p:sp>
        <p:nvSpPr>
          <p:cNvPr id="20" name="Shape 17"/>
          <p:cNvSpPr/>
          <p:nvPr/>
        </p:nvSpPr>
        <p:spPr>
          <a:xfrm>
            <a:off x="868680" y="4160520"/>
            <a:ext cx="5577840" cy="1051560"/>
          </a:xfrm>
          <a:prstGeom prst="roundRect">
            <a:avLst>
              <a:gd name="adj" fmla="val 7826"/>
            </a:avLst>
          </a:prstGeom>
          <a:solidFill>
            <a:srgbClr val="10312F"/>
          </a:solidFill>
          <a:ln/>
          <a:effectLst>
            <a:outerShdw sx="100000" sy="100000" kx="0" ky="0" algn="bl" rotWithShape="0" blurRad="127000" dist="38100" dir="5400000">
              <a:srgbClr val="1B2A2E">
                <a:alpha val="20000"/>
              </a:srgbClr>
            </a:outerShdw>
          </a:effectLst>
        </p:spPr>
      </p:sp>
      <p:sp>
        <p:nvSpPr>
          <p:cNvPr id="21" name="Shape 18"/>
          <p:cNvSpPr/>
          <p:nvPr/>
        </p:nvSpPr>
        <p:spPr>
          <a:xfrm>
            <a:off x="1069848" y="4023360"/>
            <a:ext cx="1005840" cy="292608"/>
          </a:xfrm>
          <a:prstGeom prst="roundRect">
            <a:avLst>
              <a:gd name="adj" fmla="val 50000"/>
            </a:avLst>
          </a:prstGeom>
          <a:solidFill>
            <a:srgbClr val="387F7F"/>
          </a:solidFill>
          <a:ln/>
        </p:spPr>
      </p:sp>
      <p:sp>
        <p:nvSpPr>
          <p:cNvPr id="22" name="Text 19"/>
          <p:cNvSpPr txBox="1"/>
          <p:nvPr/>
        </p:nvSpPr>
        <p:spPr>
          <a:xfrm>
            <a:off x="1069848" y="4023360"/>
            <a:ext cx="1005840" cy="292608"/>
          </a:xfrm>
          <a:prstGeom prst="rect">
            <a:avLst/>
          </a:prstGeom>
          <a:noFill/>
          <a:ln/>
        </p:spPr>
        <p:txBody>
          <a:bodyPr wrap="square" lIns="0" tIns="0" rIns="0" bIns="0" rtlCol="0" anchor="ctr"/>
          <a:lstStyle/>
          <a:p>
            <a:pPr algn="ctr" indent="0" marL="0">
              <a:buNone/>
            </a:pPr>
            <a:r>
              <a:rPr lang="en-US" sz="900" b="1" dirty="0">
                <a:solidFill>
                  <a:srgbClr val="FFFFFF"/>
                </a:solidFill>
                <a:latin typeface="Poppins" pitchFamily="34" charset="0"/>
                <a:ea typeface="Poppins" pitchFamily="34" charset="-122"/>
                <a:cs typeface="Poppins" pitchFamily="34" charset="-120"/>
              </a:rPr>
              <a:t>PYTHON</a:t>
            </a:r>
            <a:endParaRPr lang="en-US" sz="900" dirty="0"/>
          </a:p>
        </p:txBody>
      </p:sp>
      <p:sp>
        <p:nvSpPr>
          <p:cNvPr id="23" name="Text 20"/>
          <p:cNvSpPr txBox="1"/>
          <p:nvPr/>
        </p:nvSpPr>
        <p:spPr>
          <a:xfrm>
            <a:off x="1143000" y="4434840"/>
            <a:ext cx="5029200" cy="594360"/>
          </a:xfrm>
          <a:prstGeom prst="rect">
            <a:avLst/>
          </a:prstGeom>
          <a:noFill/>
          <a:ln/>
        </p:spPr>
        <p:txBody>
          <a:bodyPr wrap="square" lIns="0" tIns="0" rIns="0" bIns="0" rtlCol="0" anchor="ctr"/>
          <a:lstStyle/>
          <a:p>
            <a:pPr indent="0" marL="0">
              <a:lnSpc>
                <a:spcPct val="125000"/>
              </a:lnSpc>
              <a:buNone/>
            </a:pPr>
            <a:r>
              <a:rPr lang="en-US" sz="1000" dirty="0">
                <a:solidFill>
                  <a:srgbClr val="CFE6E3"/>
                </a:solidFill>
                <a:latin typeface="Roboto Mono" pitchFamily="34" charset="0"/>
                <a:ea typeface="Roboto Mono" pitchFamily="34" charset="-122"/>
                <a:cs typeface="Roboto Mono" pitchFamily="34" charset="-120"/>
              </a:rPr>
              <a:t>df['date'] = pd.to_datetime(df['date'], format='mixed', dayfirst=True)</a:t>
            </a:r>
            <a:endParaRPr lang="en-US" sz="1000" dirty="0"/>
          </a:p>
          <a:p>
            <a:pPr indent="0" marL="0">
              <a:lnSpc>
                <a:spcPct val="125000"/>
              </a:lnSpc>
              <a:buNone/>
            </a:pPr>
            <a:r>
              <a:rPr lang="en-US" sz="1000" dirty="0">
                <a:solidFill>
                  <a:srgbClr val="CFE6E3"/>
                </a:solidFill>
                <a:latin typeface="Roboto Mono" pitchFamily="34" charset="0"/>
                <a:ea typeface="Roboto Mono" pitchFamily="34" charset="-122"/>
                <a:cs typeface="Roboto Mono" pitchFamily="34" charset="-120"/>
              </a:rPr>
              <a:t>df['fee_naira'] = (df['fee_naira'].str.replace('₦', '', regex=False)</a:t>
            </a:r>
            <a:endParaRPr lang="en-US" sz="1000" dirty="0"/>
          </a:p>
          <a:p>
            <a:pPr indent="0" marL="0">
              <a:lnSpc>
                <a:spcPct val="125000"/>
              </a:lnSpc>
              <a:buNone/>
            </a:pPr>
            <a:r>
              <a:rPr lang="en-US" sz="1000" dirty="0">
                <a:solidFill>
                  <a:srgbClr val="CFE6E3"/>
                </a:solidFill>
                <a:latin typeface="Roboto Mono" pitchFamily="34" charset="0"/>
                <a:ea typeface="Roboto Mono" pitchFamily="34" charset="-122"/>
                <a:cs typeface="Roboto Mono" pitchFamily="34" charset="-120"/>
              </a:rPr>
              <a:t>    .str.replace(',', '', regex=False).astype(int))</a:t>
            </a:r>
            <a:endParaRPr lang="en-US" sz="10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11024006" y="1958645"/>
            <a:ext cx="4133088" cy="4038905"/>
          </a:xfrm>
          <a:prstGeom prst="ellipse">
            <a:avLst/>
          </a:prstGeom>
          <a:solidFill>
            <a:srgbClr val="387F7F"/>
          </a:solidFill>
          <a:ln/>
        </p:spPr>
      </p:sp>
      <p:sp>
        <p:nvSpPr>
          <p:cNvPr id="3" name="Shape 1"/>
          <p:cNvSpPr/>
          <p:nvPr/>
        </p:nvSpPr>
        <p:spPr>
          <a:xfrm>
            <a:off x="11316614" y="2675534"/>
            <a:ext cx="1051560" cy="2162556"/>
          </a:xfrm>
          <a:prstGeom prst="ellipse">
            <a:avLst/>
          </a:prstGeom>
          <a:solidFill>
            <a:srgbClr val="387F7F"/>
          </a:solidFill>
          <a:ln/>
        </p:spPr>
      </p:sp>
      <p:sp>
        <p:nvSpPr>
          <p:cNvPr id="4" name="Text 2"/>
          <p:cNvSpPr txBox="1"/>
          <p:nvPr/>
        </p:nvSpPr>
        <p:spPr>
          <a:xfrm>
            <a:off x="868680" y="292608"/>
            <a:ext cx="7772400" cy="274320"/>
          </a:xfrm>
          <a:prstGeom prst="rect">
            <a:avLst/>
          </a:prstGeom>
          <a:noFill/>
          <a:ln/>
        </p:spPr>
        <p:txBody>
          <a:bodyPr wrap="square" lIns="0" tIns="0" rIns="0" bIns="0" rtlCol="0" anchor="ctr"/>
          <a:lstStyle/>
          <a:p>
            <a:pPr indent="0" marL="0">
              <a:buNone/>
            </a:pPr>
            <a:r>
              <a:rPr lang="en-US" sz="1150" b="1" spc="200" kern="0" dirty="0">
                <a:solidFill>
                  <a:srgbClr val="64748B"/>
                </a:solidFill>
                <a:latin typeface="Poppins" pitchFamily="34" charset="0"/>
                <a:ea typeface="Poppins" pitchFamily="34" charset="-122"/>
                <a:cs typeface="Poppins" pitchFamily="34" charset="-120"/>
              </a:rPr>
              <a:t>YOUR TURN</a:t>
            </a:r>
            <a:endParaRPr lang="en-US" sz="1150" dirty="0"/>
          </a:p>
        </p:txBody>
      </p:sp>
      <p:sp>
        <p:nvSpPr>
          <p:cNvPr id="5" name="Shape 3"/>
          <p:cNvSpPr/>
          <p:nvPr/>
        </p:nvSpPr>
        <p:spPr>
          <a:xfrm>
            <a:off x="685800" y="612648"/>
            <a:ext cx="54864" cy="411480"/>
          </a:xfrm>
          <a:prstGeom prst="rect">
            <a:avLst/>
          </a:prstGeom>
          <a:solidFill>
            <a:srgbClr val="387F7F"/>
          </a:solidFill>
          <a:ln/>
        </p:spPr>
      </p:sp>
      <p:sp>
        <p:nvSpPr>
          <p:cNvPr id="6" name="Text 4"/>
          <p:cNvSpPr txBox="1"/>
          <p:nvPr/>
        </p:nvSpPr>
        <p:spPr>
          <a:xfrm>
            <a:off x="868680" y="566928"/>
            <a:ext cx="9006840" cy="685800"/>
          </a:xfrm>
          <a:prstGeom prst="rect">
            <a:avLst/>
          </a:prstGeom>
          <a:noFill/>
          <a:ln/>
        </p:spPr>
        <p:txBody>
          <a:bodyPr wrap="square" lIns="0" tIns="0" rIns="0" bIns="0" rtlCol="0" anchor="t"/>
          <a:lstStyle/>
          <a:p>
            <a:pPr indent="0" marL="0">
              <a:lnSpc>
                <a:spcPct val="110000"/>
              </a:lnSpc>
              <a:buNone/>
            </a:pPr>
            <a:r>
              <a:rPr lang="en-US" sz="3300" dirty="0">
                <a:solidFill>
                  <a:srgbClr val="387F7F"/>
                </a:solidFill>
                <a:latin typeface="Poppins" pitchFamily="34" charset="0"/>
                <a:ea typeface="Poppins" pitchFamily="34" charset="-122"/>
                <a:cs typeface="Poppins" pitchFamily="34" charset="-120"/>
              </a:rPr>
              <a:t>Your turn: verify the rest of the file</a:t>
            </a:r>
            <a:endParaRPr lang="en-US" sz="3300" dirty="0"/>
          </a:p>
        </p:txBody>
      </p:sp>
      <p:sp>
        <p:nvSpPr>
          <p:cNvPr id="7" name="Shape 5"/>
          <p:cNvSpPr/>
          <p:nvPr/>
        </p:nvSpPr>
        <p:spPr>
          <a:xfrm>
            <a:off x="10058400" y="457200"/>
            <a:ext cx="1234440" cy="457200"/>
          </a:xfrm>
          <a:prstGeom prst="roundRect">
            <a:avLst>
              <a:gd name="adj" fmla="val 50000"/>
            </a:avLst>
          </a:prstGeom>
          <a:solidFill>
            <a:srgbClr val="387F7F"/>
          </a:solidFill>
          <a:ln/>
        </p:spPr>
      </p:sp>
      <p:sp>
        <p:nvSpPr>
          <p:cNvPr id="8" name="Text 6"/>
          <p:cNvSpPr txBox="1"/>
          <p:nvPr/>
        </p:nvSpPr>
        <p:spPr>
          <a:xfrm>
            <a:off x="10058400" y="457200"/>
            <a:ext cx="1234440" cy="457200"/>
          </a:xfrm>
          <a:prstGeom prst="rect">
            <a:avLst/>
          </a:prstGeom>
          <a:noFill/>
          <a:ln/>
        </p:spPr>
        <p:txBody>
          <a:bodyPr wrap="square" lIns="0" tIns="0" rIns="0" bIns="0" rtlCol="0" anchor="ctr"/>
          <a:lstStyle/>
          <a:p>
            <a:pPr algn="ctr" indent="0" marL="0">
              <a:buNone/>
            </a:pPr>
            <a:r>
              <a:rPr lang="en-US" sz="1300" b="1" dirty="0">
                <a:solidFill>
                  <a:srgbClr val="FFFFFF"/>
                </a:solidFill>
                <a:latin typeface="Poppins" pitchFamily="34" charset="0"/>
                <a:ea typeface="Poppins" pitchFamily="34" charset="-122"/>
                <a:cs typeface="Poppins" pitchFamily="34" charset="-120"/>
              </a:rPr>
              <a:t>12 MIN</a:t>
            </a:r>
            <a:endParaRPr lang="en-US" sz="1300" dirty="0"/>
          </a:p>
        </p:txBody>
      </p:sp>
      <p:sp>
        <p:nvSpPr>
          <p:cNvPr id="9" name="Shape 7"/>
          <p:cNvSpPr/>
          <p:nvPr/>
        </p:nvSpPr>
        <p:spPr>
          <a:xfrm>
            <a:off x="685800" y="1554480"/>
            <a:ext cx="10424160" cy="1554480"/>
          </a:xfrm>
          <a:prstGeom prst="roundRect">
            <a:avLst>
              <a:gd name="adj" fmla="val 5294"/>
            </a:avLst>
          </a:prstGeom>
          <a:solidFill>
            <a:srgbClr val="FFFFFF"/>
          </a:solidFill>
          <a:ln/>
          <a:effectLst>
            <a:outerShdw sx="100000" sy="100000" kx="0" ky="0" algn="bl" rotWithShape="0" blurRad="127000" dist="38100" dir="5400000">
              <a:srgbClr val="1B2A2E">
                <a:alpha val="12000"/>
              </a:srgbClr>
            </a:outerShdw>
          </a:effectLst>
        </p:spPr>
      </p:sp>
      <p:sp>
        <p:nvSpPr>
          <p:cNvPr id="10" name="Shape 8"/>
          <p:cNvSpPr/>
          <p:nvPr/>
        </p:nvSpPr>
        <p:spPr>
          <a:xfrm>
            <a:off x="685800" y="1554480"/>
            <a:ext cx="82296" cy="1554480"/>
          </a:xfrm>
          <a:prstGeom prst="rect">
            <a:avLst/>
          </a:prstGeom>
          <a:solidFill>
            <a:srgbClr val="387F7F"/>
          </a:solidFill>
          <a:ln/>
        </p:spPr>
      </p:sp>
      <p:sp>
        <p:nvSpPr>
          <p:cNvPr id="11" name="Text 9"/>
          <p:cNvSpPr txBox="1"/>
          <p:nvPr/>
        </p:nvSpPr>
        <p:spPr>
          <a:xfrm>
            <a:off x="1005840" y="1737360"/>
            <a:ext cx="9601200" cy="274320"/>
          </a:xfrm>
          <a:prstGeom prst="rect">
            <a:avLst/>
          </a:prstGeom>
          <a:noFill/>
          <a:ln/>
        </p:spPr>
        <p:txBody>
          <a:bodyPr wrap="square" lIns="0" tIns="0" rIns="0" bIns="0" rtlCol="0" anchor="t"/>
          <a:lstStyle/>
          <a:p>
            <a:pPr algn="l" indent="0" marL="0">
              <a:lnSpc>
                <a:spcPct val="130000"/>
              </a:lnSpc>
              <a:buNone/>
            </a:pPr>
            <a:r>
              <a:rPr lang="en-US" sz="1300" b="1" dirty="0">
                <a:solidFill>
                  <a:srgbClr val="387F7F"/>
                </a:solidFill>
                <a:latin typeface="Poppins" pitchFamily="34" charset="0"/>
                <a:ea typeface="Poppins" pitchFamily="34" charset="-122"/>
                <a:cs typeface="Poppins" pitchFamily="34" charset="-120"/>
              </a:rPr>
              <a:t>THE TASK</a:t>
            </a:r>
            <a:endParaRPr lang="en-US" sz="1300" dirty="0"/>
          </a:p>
        </p:txBody>
      </p:sp>
      <p:sp>
        <p:nvSpPr>
          <p:cNvPr id="12" name="Text 10"/>
          <p:cNvSpPr txBox="1"/>
          <p:nvPr/>
        </p:nvSpPr>
        <p:spPr>
          <a:xfrm>
            <a:off x="1005840" y="2057400"/>
            <a:ext cx="9875520" cy="960120"/>
          </a:xfrm>
          <a:prstGeom prst="rect">
            <a:avLst/>
          </a:prstGeom>
          <a:noFill/>
          <a:ln/>
        </p:spPr>
        <p:txBody>
          <a:bodyPr wrap="square" lIns="0" tIns="0" rIns="0" bIns="0" rtlCol="0" anchor="t"/>
          <a:lstStyle/>
          <a:p>
            <a:pPr algn="l" indent="0" marL="0">
              <a:lnSpc>
                <a:spcPct val="130000"/>
              </a:lnSpc>
              <a:buNone/>
            </a:pPr>
            <a:r>
              <a:rPr lang="en-US" sz="1750" dirty="0">
                <a:solidFill>
                  <a:srgbClr val="475569"/>
                </a:solidFill>
                <a:latin typeface="Poppins" pitchFamily="34" charset="0"/>
                <a:ea typeface="Poppins" pitchFamily="34" charset="-122"/>
                <a:cs typeface="Poppins" pitchFamily="34" charset="-120"/>
              </a:rPr>
              <a:t>Open swiftroute_q3_raw.xlsx. With AI help if you like, find: how many delivery_id values repeat, how many rows have a blank delivery_status, and how many spellings route LAG-07 has.</a:t>
            </a:r>
            <a:endParaRPr lang="en-US" sz="1750" dirty="0"/>
          </a:p>
        </p:txBody>
      </p:sp>
      <p:sp>
        <p:nvSpPr>
          <p:cNvPr id="13" name="Shape 11"/>
          <p:cNvSpPr/>
          <p:nvPr/>
        </p:nvSpPr>
        <p:spPr>
          <a:xfrm>
            <a:off x="685800" y="3291840"/>
            <a:ext cx="10424160" cy="1463040"/>
          </a:xfrm>
          <a:prstGeom prst="roundRect">
            <a:avLst>
              <a:gd name="adj" fmla="val 5625"/>
            </a:avLst>
          </a:prstGeom>
          <a:solidFill>
            <a:srgbClr val="F4F7F7"/>
          </a:solidFill>
          <a:ln/>
        </p:spPr>
      </p:sp>
      <p:sp>
        <p:nvSpPr>
          <p:cNvPr id="14" name="Shape 12"/>
          <p:cNvSpPr/>
          <p:nvPr/>
        </p:nvSpPr>
        <p:spPr>
          <a:xfrm>
            <a:off x="685800" y="3291840"/>
            <a:ext cx="82296" cy="1463040"/>
          </a:xfrm>
          <a:prstGeom prst="rect">
            <a:avLst/>
          </a:prstGeom>
          <a:solidFill>
            <a:srgbClr val="9BB7B7"/>
          </a:solidFill>
          <a:ln/>
        </p:spPr>
      </p:sp>
      <p:sp>
        <p:nvSpPr>
          <p:cNvPr id="15" name="Text 13"/>
          <p:cNvSpPr txBox="1"/>
          <p:nvPr/>
        </p:nvSpPr>
        <p:spPr>
          <a:xfrm>
            <a:off x="1005840" y="3474720"/>
            <a:ext cx="9601200" cy="292608"/>
          </a:xfrm>
          <a:prstGeom prst="rect">
            <a:avLst/>
          </a:prstGeom>
          <a:noFill/>
          <a:ln/>
        </p:spPr>
        <p:txBody>
          <a:bodyPr wrap="square" lIns="0" tIns="0" rIns="0" bIns="0" rtlCol="0" anchor="t"/>
          <a:lstStyle/>
          <a:p>
            <a:pPr algn="l" indent="0" marL="0">
              <a:lnSpc>
                <a:spcPct val="130000"/>
              </a:lnSpc>
              <a:buNone/>
            </a:pPr>
            <a:r>
              <a:rPr lang="en-US" sz="1300" b="1" dirty="0">
                <a:solidFill>
                  <a:srgbClr val="20494A"/>
                </a:solidFill>
                <a:latin typeface="Poppins" pitchFamily="34" charset="0"/>
                <a:ea typeface="Poppins" pitchFamily="34" charset="-122"/>
                <a:cs typeface="Poppins" pitchFamily="34" charset="-120"/>
              </a:rPr>
              <a:t>SELF-CHECK YOUR ANSWER AGAINST THIS</a:t>
            </a:r>
            <a:endParaRPr lang="en-US" sz="1300" dirty="0"/>
          </a:p>
        </p:txBody>
      </p:sp>
      <p:sp>
        <p:nvSpPr>
          <p:cNvPr id="16" name="Text 14"/>
          <p:cNvSpPr txBox="1"/>
          <p:nvPr/>
        </p:nvSpPr>
        <p:spPr>
          <a:xfrm>
            <a:off x="1005840" y="3794760"/>
            <a:ext cx="9875520" cy="868680"/>
          </a:xfrm>
          <a:prstGeom prst="rect">
            <a:avLst/>
          </a:prstGeom>
          <a:noFill/>
          <a:ln/>
        </p:spPr>
        <p:txBody>
          <a:bodyPr wrap="square" lIns="0" tIns="0" rIns="0" bIns="0" rtlCol="0" anchor="t"/>
          <a:lstStyle/>
          <a:p>
            <a:pPr algn="l" indent="0" marL="0">
              <a:lnSpc>
                <a:spcPct val="130000"/>
              </a:lnSpc>
              <a:buNone/>
            </a:pPr>
            <a:r>
              <a:rPr lang="en-US" sz="1400" dirty="0">
                <a:solidFill>
                  <a:srgbClr val="475569"/>
                </a:solidFill>
                <a:latin typeface="Poppins" pitchFamily="34" charset="0"/>
                <a:ea typeface="Poppins" pitchFamily="34" charset="-122"/>
                <a:cs typeface="Poppins" pitchFamily="34" charset="-120"/>
              </a:rPr>
              <a:t>40 delivery_id values appear more than once. 116 rows have a blank delivery_status. Route LAG-07 has exactly 2 spellings in the file ("LAG-07" and "LAG07").</a:t>
            </a:r>
            <a:endParaRPr lang="en-US" sz="1400" dirty="0"/>
          </a:p>
        </p:txBody>
      </p:sp>
      <p:sp>
        <p:nvSpPr>
          <p:cNvPr id="17" name="Text 15"/>
          <p:cNvSpPr txBox="1"/>
          <p:nvPr/>
        </p:nvSpPr>
        <p:spPr>
          <a:xfrm>
            <a:off x="685800" y="4937760"/>
            <a:ext cx="10424160" cy="365760"/>
          </a:xfrm>
          <a:prstGeom prst="rect">
            <a:avLst/>
          </a:prstGeom>
          <a:noFill/>
          <a:ln/>
        </p:spPr>
        <p:txBody>
          <a:bodyPr wrap="square" lIns="0" tIns="0" rIns="0" bIns="0" rtlCol="0" anchor="t"/>
          <a:lstStyle/>
          <a:p>
            <a:pPr algn="ctr" indent="0" marL="0">
              <a:lnSpc>
                <a:spcPct val="130000"/>
              </a:lnSpc>
              <a:buNone/>
            </a:pPr>
            <a:r>
              <a:rPr lang="en-US" sz="1500" i="1" dirty="0">
                <a:solidFill>
                  <a:srgbClr val="64748B"/>
                </a:solidFill>
                <a:latin typeface="Poppins" pitchFamily="34" charset="0"/>
                <a:ea typeface="Poppins" pitchFamily="34" charset="-122"/>
                <a:cs typeface="Poppins" pitchFamily="34" charset="-120"/>
              </a:rPr>
              <a:t>If your numbers don't match, don't just accept the model's explanation - find the actual rows and see why.</a:t>
            </a:r>
            <a:endParaRPr lang="en-US" sz="1500" dirty="0"/>
          </a:p>
        </p:txBody>
      </p:sp>
      <p:pic>
        <p:nvPicPr>
          <p:cNvPr id="18" name="Image 0" descr="/home/claude/assets/logo_full.png">    </p:cNvPr>
          <p:cNvPicPr>
            <a:picLocks noChangeAspect="1"/>
          </p:cNvPicPr>
          <p:nvPr/>
        </p:nvPicPr>
        <p:blipFill>
          <a:blip r:embed="rId2"/>
          <a:stretch>
            <a:fillRect/>
          </a:stretch>
        </p:blipFill>
        <p:spPr>
          <a:xfrm>
            <a:off x="10998403" y="5949086"/>
            <a:ext cx="431597" cy="375337"/>
          </a:xfrm>
          <a:prstGeom prst="rect">
            <a:avLst/>
          </a:prstGeom>
        </p:spPr>
      </p:pic>
      <p:sp>
        <p:nvSpPr>
          <p:cNvPr id="19" name="Text 16"/>
          <p:cNvSpPr txBox="1"/>
          <p:nvPr/>
        </p:nvSpPr>
        <p:spPr>
          <a:xfrm>
            <a:off x="11688775" y="6473952"/>
            <a:ext cx="365760" cy="274320"/>
          </a:xfrm>
          <a:prstGeom prst="rect">
            <a:avLst/>
          </a:prstGeom>
          <a:noFill/>
          <a:ln/>
        </p:spPr>
        <p:txBody>
          <a:bodyPr wrap="square" lIns="0" tIns="0" rIns="0" bIns="0" rtlCol="0" anchor="ctr"/>
          <a:lstStyle/>
          <a:p>
            <a:pPr algn="r" indent="0" marL="0">
              <a:buNone/>
            </a:pPr>
            <a:r>
              <a:rPr lang="en-US" sz="1100" dirty="0">
                <a:solidFill>
                  <a:srgbClr val="64748B"/>
                </a:solidFill>
                <a:latin typeface="Poppins" pitchFamily="34" charset="0"/>
                <a:ea typeface="Poppins" pitchFamily="34" charset="-122"/>
                <a:cs typeface="Poppins" pitchFamily="34" charset="-120"/>
              </a:rPr>
              <a:t>16</a:t>
            </a:r>
            <a:endParaRPr lang="en-US" sz="11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11024006" y="1958645"/>
            <a:ext cx="4133088" cy="4038905"/>
          </a:xfrm>
          <a:prstGeom prst="ellipse">
            <a:avLst/>
          </a:prstGeom>
          <a:solidFill>
            <a:srgbClr val="387F7F"/>
          </a:solidFill>
          <a:ln/>
        </p:spPr>
      </p:sp>
      <p:sp>
        <p:nvSpPr>
          <p:cNvPr id="3" name="Shape 1"/>
          <p:cNvSpPr/>
          <p:nvPr/>
        </p:nvSpPr>
        <p:spPr>
          <a:xfrm>
            <a:off x="11316614" y="2675534"/>
            <a:ext cx="1051560" cy="2162556"/>
          </a:xfrm>
          <a:prstGeom prst="ellipse">
            <a:avLst/>
          </a:prstGeom>
          <a:solidFill>
            <a:srgbClr val="387F7F"/>
          </a:solidFill>
          <a:ln/>
        </p:spPr>
      </p:sp>
      <p:sp>
        <p:nvSpPr>
          <p:cNvPr id="4" name="Shape 2"/>
          <p:cNvSpPr/>
          <p:nvPr/>
        </p:nvSpPr>
        <p:spPr>
          <a:xfrm>
            <a:off x="685800" y="548640"/>
            <a:ext cx="54864" cy="411480"/>
          </a:xfrm>
          <a:prstGeom prst="rect">
            <a:avLst/>
          </a:prstGeom>
          <a:solidFill>
            <a:srgbClr val="387F7F"/>
          </a:solidFill>
          <a:ln/>
        </p:spPr>
      </p:sp>
      <p:sp>
        <p:nvSpPr>
          <p:cNvPr id="5" name="Text 3"/>
          <p:cNvSpPr txBox="1"/>
          <p:nvPr/>
        </p:nvSpPr>
        <p:spPr>
          <a:xfrm>
            <a:off x="868680" y="502920"/>
            <a:ext cx="9966960" cy="685800"/>
          </a:xfrm>
          <a:prstGeom prst="rect">
            <a:avLst/>
          </a:prstGeom>
          <a:noFill/>
          <a:ln/>
        </p:spPr>
        <p:txBody>
          <a:bodyPr wrap="square" lIns="0" tIns="0" rIns="0" bIns="0" rtlCol="0" anchor="t"/>
          <a:lstStyle/>
          <a:p>
            <a:pPr indent="0" marL="0">
              <a:lnSpc>
                <a:spcPct val="110000"/>
              </a:lnSpc>
              <a:buNone/>
            </a:pPr>
            <a:r>
              <a:rPr lang="en-US" sz="3300" dirty="0">
                <a:solidFill>
                  <a:srgbClr val="387F7F"/>
                </a:solidFill>
                <a:latin typeface="Poppins" pitchFamily="34" charset="0"/>
                <a:ea typeface="Poppins" pitchFamily="34" charset="-122"/>
                <a:cs typeface="Poppins" pitchFamily="34" charset="-120"/>
              </a:rPr>
              <a:t>Topic 8.1 recap</a:t>
            </a:r>
            <a:endParaRPr lang="en-US" sz="3300" dirty="0"/>
          </a:p>
        </p:txBody>
      </p:sp>
      <p:pic>
        <p:nvPicPr>
          <p:cNvPr id="6" name="Image 0" descr="/home/claude/assets/icon_check.png">    </p:cNvPr>
          <p:cNvPicPr>
            <a:picLocks noChangeAspect="1"/>
          </p:cNvPicPr>
          <p:nvPr/>
        </p:nvPicPr>
        <p:blipFill>
          <a:blip r:embed="rId2"/>
          <a:stretch>
            <a:fillRect/>
          </a:stretch>
        </p:blipFill>
        <p:spPr>
          <a:xfrm>
            <a:off x="777240" y="1755648"/>
            <a:ext cx="292608" cy="292608"/>
          </a:xfrm>
          <a:prstGeom prst="rect">
            <a:avLst/>
          </a:prstGeom>
        </p:spPr>
      </p:pic>
      <p:sp>
        <p:nvSpPr>
          <p:cNvPr id="7" name="Text 4"/>
          <p:cNvSpPr txBox="1"/>
          <p:nvPr/>
        </p:nvSpPr>
        <p:spPr>
          <a:xfrm>
            <a:off x="1234440" y="1664208"/>
            <a:ext cx="9052560" cy="594360"/>
          </a:xfrm>
          <a:prstGeom prst="rect">
            <a:avLst/>
          </a:prstGeom>
          <a:noFill/>
          <a:ln/>
        </p:spPr>
        <p:txBody>
          <a:bodyPr wrap="square" lIns="0" tIns="0" rIns="0" bIns="0" rtlCol="0" anchor="t"/>
          <a:lstStyle/>
          <a:p>
            <a:pPr algn="l" indent="0" marL="0">
              <a:lnSpc>
                <a:spcPct val="130000"/>
              </a:lnSpc>
              <a:buNone/>
            </a:pPr>
            <a:r>
              <a:rPr lang="en-US" sz="1550" dirty="0">
                <a:solidFill>
                  <a:srgbClr val="475569"/>
                </a:solidFill>
                <a:latin typeface="Poppins" pitchFamily="34" charset="0"/>
                <a:ea typeface="Poppins" pitchFamily="34" charset="-122"/>
                <a:cs typeface="Poppins" pitchFamily="34" charset="-120"/>
              </a:rPr>
              <a:t>The pipeline is always four stages, in order: clean, analyse, visualise, report.</a:t>
            </a:r>
            <a:endParaRPr lang="en-US" sz="1550" dirty="0"/>
          </a:p>
        </p:txBody>
      </p:sp>
      <p:pic>
        <p:nvPicPr>
          <p:cNvPr id="8" name="Image 1" descr="/home/claude/assets/icon_check.png">    </p:cNvPr>
          <p:cNvPicPr>
            <a:picLocks noChangeAspect="1"/>
          </p:cNvPicPr>
          <p:nvPr/>
        </p:nvPicPr>
        <p:blipFill>
          <a:blip r:embed="rId3"/>
          <a:stretch>
            <a:fillRect/>
          </a:stretch>
        </p:blipFill>
        <p:spPr>
          <a:xfrm>
            <a:off x="777240" y="2532888"/>
            <a:ext cx="292608" cy="292608"/>
          </a:xfrm>
          <a:prstGeom prst="rect">
            <a:avLst/>
          </a:prstGeom>
        </p:spPr>
      </p:pic>
      <p:sp>
        <p:nvSpPr>
          <p:cNvPr id="9" name="Text 5"/>
          <p:cNvSpPr txBox="1"/>
          <p:nvPr/>
        </p:nvSpPr>
        <p:spPr>
          <a:xfrm>
            <a:off x="1234440" y="2441448"/>
            <a:ext cx="9052560" cy="594360"/>
          </a:xfrm>
          <a:prstGeom prst="rect">
            <a:avLst/>
          </a:prstGeom>
          <a:noFill/>
          <a:ln/>
        </p:spPr>
        <p:txBody>
          <a:bodyPr wrap="square" lIns="0" tIns="0" rIns="0" bIns="0" rtlCol="0" anchor="t"/>
          <a:lstStyle/>
          <a:p>
            <a:pPr algn="l" indent="0" marL="0">
              <a:lnSpc>
                <a:spcPct val="130000"/>
              </a:lnSpc>
              <a:buNone/>
            </a:pPr>
            <a:r>
              <a:rPr lang="en-US" sz="1550" dirty="0">
                <a:solidFill>
                  <a:srgbClr val="475569"/>
                </a:solidFill>
                <a:latin typeface="Poppins" pitchFamily="34" charset="0"/>
                <a:ea typeface="Poppins" pitchFamily="34" charset="-122"/>
                <a:cs typeface="Poppins" pitchFamily="34" charset="-120"/>
              </a:rPr>
              <a:t>AI can assist inside every stage. It does not remove the need to verify.</a:t>
            </a:r>
            <a:endParaRPr lang="en-US" sz="1550" dirty="0"/>
          </a:p>
        </p:txBody>
      </p:sp>
      <p:pic>
        <p:nvPicPr>
          <p:cNvPr id="10" name="Image 2" descr="/home/claude/assets/icon_check.png">    </p:cNvPr>
          <p:cNvPicPr>
            <a:picLocks noChangeAspect="1"/>
          </p:cNvPicPr>
          <p:nvPr/>
        </p:nvPicPr>
        <p:blipFill>
          <a:blip r:embed="rId4"/>
          <a:stretch>
            <a:fillRect/>
          </a:stretch>
        </p:blipFill>
        <p:spPr>
          <a:xfrm>
            <a:off x="777240" y="3310128"/>
            <a:ext cx="292608" cy="292608"/>
          </a:xfrm>
          <a:prstGeom prst="rect">
            <a:avLst/>
          </a:prstGeom>
        </p:spPr>
      </p:pic>
      <p:sp>
        <p:nvSpPr>
          <p:cNvPr id="11" name="Text 6"/>
          <p:cNvSpPr txBox="1"/>
          <p:nvPr/>
        </p:nvSpPr>
        <p:spPr>
          <a:xfrm>
            <a:off x="1234440" y="3218688"/>
            <a:ext cx="9052560" cy="594360"/>
          </a:xfrm>
          <a:prstGeom prst="rect">
            <a:avLst/>
          </a:prstGeom>
          <a:noFill/>
          <a:ln/>
        </p:spPr>
        <p:txBody>
          <a:bodyPr wrap="square" lIns="0" tIns="0" rIns="0" bIns="0" rtlCol="0" anchor="t"/>
          <a:lstStyle/>
          <a:p>
            <a:pPr algn="l" indent="0" marL="0">
              <a:lnSpc>
                <a:spcPct val="130000"/>
              </a:lnSpc>
              <a:buNone/>
            </a:pPr>
            <a:r>
              <a:rPr lang="en-US" sz="1550" dirty="0">
                <a:solidFill>
                  <a:srgbClr val="475569"/>
                </a:solidFill>
                <a:latin typeface="Poppins" pitchFamily="34" charset="0"/>
                <a:ea typeface="Poppins" pitchFamily="34" charset="-122"/>
                <a:cs typeface="Poppins" pitchFamily="34" charset="-120"/>
              </a:rPr>
              <a:t>Predict-then-run scales up: predict the shape of pipeline output before you run it, not just formula answers.</a:t>
            </a:r>
            <a:endParaRPr lang="en-US" sz="1550" dirty="0"/>
          </a:p>
        </p:txBody>
      </p:sp>
      <p:pic>
        <p:nvPicPr>
          <p:cNvPr id="12" name="Image 3" descr="/home/claude/assets/icon_check.png">    </p:cNvPr>
          <p:cNvPicPr>
            <a:picLocks noChangeAspect="1"/>
          </p:cNvPicPr>
          <p:nvPr/>
        </p:nvPicPr>
        <p:blipFill>
          <a:blip r:embed="rId5"/>
          <a:stretch>
            <a:fillRect/>
          </a:stretch>
        </p:blipFill>
        <p:spPr>
          <a:xfrm>
            <a:off x="777240" y="4087368"/>
            <a:ext cx="292608" cy="292608"/>
          </a:xfrm>
          <a:prstGeom prst="rect">
            <a:avLst/>
          </a:prstGeom>
        </p:spPr>
      </p:pic>
      <p:sp>
        <p:nvSpPr>
          <p:cNvPr id="13" name="Text 7"/>
          <p:cNvSpPr txBox="1"/>
          <p:nvPr/>
        </p:nvSpPr>
        <p:spPr>
          <a:xfrm>
            <a:off x="1234440" y="3995928"/>
            <a:ext cx="9052560" cy="594360"/>
          </a:xfrm>
          <a:prstGeom prst="rect">
            <a:avLst/>
          </a:prstGeom>
          <a:noFill/>
          <a:ln/>
        </p:spPr>
        <p:txBody>
          <a:bodyPr wrap="square" lIns="0" tIns="0" rIns="0" bIns="0" rtlCol="0" anchor="t"/>
          <a:lstStyle/>
          <a:p>
            <a:pPr algn="l" indent="0" marL="0">
              <a:lnSpc>
                <a:spcPct val="130000"/>
              </a:lnSpc>
              <a:buNone/>
            </a:pPr>
            <a:r>
              <a:rPr lang="en-US" sz="1550" dirty="0">
                <a:solidFill>
                  <a:srgbClr val="475569"/>
                </a:solidFill>
                <a:latin typeface="Poppins" pitchFamily="34" charset="0"/>
                <a:ea typeface="Poppins" pitchFamily="34" charset="-122"/>
                <a:cs typeface="Poppins" pitchFamily="34" charset="-120"/>
              </a:rPr>
              <a:t>The five-question verification checklist is built once and reused for the rest of the programme.</a:t>
            </a:r>
            <a:endParaRPr lang="en-US" sz="1550" dirty="0"/>
          </a:p>
        </p:txBody>
      </p:sp>
      <p:pic>
        <p:nvPicPr>
          <p:cNvPr id="14" name="Image 4" descr="/home/claude/assets/icon_check.png">    </p:cNvPr>
          <p:cNvPicPr>
            <a:picLocks noChangeAspect="1"/>
          </p:cNvPicPr>
          <p:nvPr/>
        </p:nvPicPr>
        <p:blipFill>
          <a:blip r:embed="rId6"/>
          <a:stretch>
            <a:fillRect/>
          </a:stretch>
        </p:blipFill>
        <p:spPr>
          <a:xfrm>
            <a:off x="777240" y="4864608"/>
            <a:ext cx="292608" cy="292608"/>
          </a:xfrm>
          <a:prstGeom prst="rect">
            <a:avLst/>
          </a:prstGeom>
        </p:spPr>
      </p:pic>
      <p:sp>
        <p:nvSpPr>
          <p:cNvPr id="15" name="Text 8"/>
          <p:cNvSpPr txBox="1"/>
          <p:nvPr/>
        </p:nvSpPr>
        <p:spPr>
          <a:xfrm>
            <a:off x="1234440" y="4773168"/>
            <a:ext cx="9052560" cy="594360"/>
          </a:xfrm>
          <a:prstGeom prst="rect">
            <a:avLst/>
          </a:prstGeom>
          <a:noFill/>
          <a:ln/>
        </p:spPr>
        <p:txBody>
          <a:bodyPr wrap="square" lIns="0" tIns="0" rIns="0" bIns="0" rtlCol="0" anchor="t"/>
          <a:lstStyle/>
          <a:p>
            <a:pPr algn="l" indent="0" marL="0">
              <a:lnSpc>
                <a:spcPct val="130000"/>
              </a:lnSpc>
              <a:buNone/>
            </a:pPr>
            <a:r>
              <a:rPr lang="en-US" sz="1550" dirty="0">
                <a:solidFill>
                  <a:srgbClr val="475569"/>
                </a:solidFill>
                <a:latin typeface="Poppins" pitchFamily="34" charset="0"/>
                <a:ea typeface="Poppins" pitchFamily="34" charset="-122"/>
                <a:cs typeface="Poppins" pitchFamily="34" charset="-120"/>
              </a:rPr>
              <a:t>You've already verified real numbers from swiftroute_q3_raw.xlsx yourself, not taken them on trust.</a:t>
            </a:r>
            <a:endParaRPr lang="en-US" sz="1550" dirty="0"/>
          </a:p>
        </p:txBody>
      </p:sp>
      <p:sp>
        <p:nvSpPr>
          <p:cNvPr id="16" name="Shape 9"/>
          <p:cNvSpPr/>
          <p:nvPr/>
        </p:nvSpPr>
        <p:spPr>
          <a:xfrm>
            <a:off x="685800" y="5760720"/>
            <a:ext cx="9921240" cy="868680"/>
          </a:xfrm>
          <a:prstGeom prst="roundRect">
            <a:avLst>
              <a:gd name="adj" fmla="val 9474"/>
            </a:avLst>
          </a:prstGeom>
          <a:solidFill>
            <a:srgbClr val="F4F7F7"/>
          </a:solidFill>
          <a:ln/>
        </p:spPr>
      </p:sp>
      <p:sp>
        <p:nvSpPr>
          <p:cNvPr id="17" name="Text 10"/>
          <p:cNvSpPr txBox="1"/>
          <p:nvPr/>
        </p:nvSpPr>
        <p:spPr>
          <a:xfrm>
            <a:off x="1051560" y="5760720"/>
            <a:ext cx="9189720" cy="868680"/>
          </a:xfrm>
          <a:prstGeom prst="rect">
            <a:avLst/>
          </a:prstGeom>
          <a:noFill/>
          <a:ln/>
        </p:spPr>
        <p:txBody>
          <a:bodyPr wrap="square" lIns="0" tIns="0" rIns="0" bIns="0" rtlCol="0" anchor="ctr"/>
          <a:lstStyle/>
          <a:p>
            <a:pPr algn="ctr" indent="0" marL="0">
              <a:lnSpc>
                <a:spcPct val="130000"/>
              </a:lnSpc>
              <a:buNone/>
            </a:pPr>
            <a:r>
              <a:rPr lang="en-US" sz="1600" b="1" dirty="0">
                <a:solidFill>
                  <a:srgbClr val="387F7F"/>
                </a:solidFill>
                <a:latin typeface="Poppins" pitchFamily="34" charset="0"/>
                <a:ea typeface="Poppins" pitchFamily="34" charset="-122"/>
                <a:cs typeface="Poppins" pitchFamily="34" charset="-120"/>
              </a:rPr>
              <a:t>Fast is not the standard. Fast AND verified is the standard.</a:t>
            </a:r>
            <a:endParaRPr lang="en-US" sz="1600" dirty="0"/>
          </a:p>
        </p:txBody>
      </p:sp>
      <p:pic>
        <p:nvPicPr>
          <p:cNvPr id="18" name="Image 5" descr="/home/claude/assets/logo_full.png">    </p:cNvPr>
          <p:cNvPicPr>
            <a:picLocks noChangeAspect="1"/>
          </p:cNvPicPr>
          <p:nvPr/>
        </p:nvPicPr>
        <p:blipFill>
          <a:blip r:embed="rId7"/>
          <a:stretch>
            <a:fillRect/>
          </a:stretch>
        </p:blipFill>
        <p:spPr>
          <a:xfrm>
            <a:off x="10998403" y="5949086"/>
            <a:ext cx="431597" cy="375337"/>
          </a:xfrm>
          <a:prstGeom prst="rect">
            <a:avLst/>
          </a:prstGeom>
        </p:spPr>
      </p:pic>
      <p:sp>
        <p:nvSpPr>
          <p:cNvPr id="19" name="Text 11"/>
          <p:cNvSpPr txBox="1"/>
          <p:nvPr/>
        </p:nvSpPr>
        <p:spPr>
          <a:xfrm>
            <a:off x="11688775" y="6473952"/>
            <a:ext cx="365760" cy="274320"/>
          </a:xfrm>
          <a:prstGeom prst="rect">
            <a:avLst/>
          </a:prstGeom>
          <a:noFill/>
          <a:ln/>
        </p:spPr>
        <p:txBody>
          <a:bodyPr wrap="square" lIns="0" tIns="0" rIns="0" bIns="0" rtlCol="0" anchor="ctr"/>
          <a:lstStyle/>
          <a:p>
            <a:pPr algn="r" indent="0" marL="0">
              <a:buNone/>
            </a:pPr>
            <a:r>
              <a:rPr lang="en-US" sz="1100" dirty="0">
                <a:solidFill>
                  <a:srgbClr val="64748B"/>
                </a:solidFill>
                <a:latin typeface="Poppins" pitchFamily="34" charset="0"/>
                <a:ea typeface="Poppins" pitchFamily="34" charset="-122"/>
                <a:cs typeface="Poppins" pitchFamily="34" charset="-120"/>
              </a:rPr>
              <a:t>17</a:t>
            </a:r>
            <a:endParaRPr lang="en-US" sz="11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11024006" y="1958645"/>
            <a:ext cx="4133088" cy="4038905"/>
          </a:xfrm>
          <a:prstGeom prst="ellipse">
            <a:avLst/>
          </a:prstGeom>
          <a:solidFill>
            <a:srgbClr val="387F7F"/>
          </a:solidFill>
          <a:ln/>
        </p:spPr>
      </p:sp>
      <p:sp>
        <p:nvSpPr>
          <p:cNvPr id="3" name="Shape 1"/>
          <p:cNvSpPr/>
          <p:nvPr/>
        </p:nvSpPr>
        <p:spPr>
          <a:xfrm>
            <a:off x="11316614" y="2675534"/>
            <a:ext cx="1051560" cy="2162556"/>
          </a:xfrm>
          <a:prstGeom prst="ellipse">
            <a:avLst/>
          </a:prstGeom>
          <a:solidFill>
            <a:srgbClr val="387F7F"/>
          </a:solidFill>
          <a:ln/>
        </p:spPr>
      </p:sp>
      <p:sp>
        <p:nvSpPr>
          <p:cNvPr id="4" name="Shape 2"/>
          <p:cNvSpPr/>
          <p:nvPr/>
        </p:nvSpPr>
        <p:spPr>
          <a:xfrm>
            <a:off x="685800" y="548640"/>
            <a:ext cx="54864" cy="411480"/>
          </a:xfrm>
          <a:prstGeom prst="rect">
            <a:avLst/>
          </a:prstGeom>
          <a:solidFill>
            <a:srgbClr val="387F7F"/>
          </a:solidFill>
          <a:ln/>
        </p:spPr>
      </p:sp>
      <p:sp>
        <p:nvSpPr>
          <p:cNvPr id="5" name="Text 3"/>
          <p:cNvSpPr txBox="1"/>
          <p:nvPr/>
        </p:nvSpPr>
        <p:spPr>
          <a:xfrm>
            <a:off x="868680" y="502920"/>
            <a:ext cx="9966960" cy="685800"/>
          </a:xfrm>
          <a:prstGeom prst="rect">
            <a:avLst/>
          </a:prstGeom>
          <a:noFill/>
          <a:ln/>
        </p:spPr>
        <p:txBody>
          <a:bodyPr wrap="square" lIns="0" tIns="0" rIns="0" bIns="0" rtlCol="0" anchor="t"/>
          <a:lstStyle/>
          <a:p>
            <a:pPr indent="0" marL="0">
              <a:lnSpc>
                <a:spcPct val="110000"/>
              </a:lnSpc>
              <a:buNone/>
            </a:pPr>
            <a:r>
              <a:rPr lang="en-US" sz="3300" dirty="0">
                <a:solidFill>
                  <a:srgbClr val="387F7F"/>
                </a:solidFill>
                <a:latin typeface="Poppins" pitchFamily="34" charset="0"/>
                <a:ea typeface="Poppins" pitchFamily="34" charset="-122"/>
                <a:cs typeface="Poppins" pitchFamily="34" charset="-120"/>
              </a:rPr>
              <a:t>Where this goes next</a:t>
            </a:r>
            <a:endParaRPr lang="en-US" sz="3300" dirty="0"/>
          </a:p>
        </p:txBody>
      </p:sp>
      <p:sp>
        <p:nvSpPr>
          <p:cNvPr id="6" name="Shape 4"/>
          <p:cNvSpPr/>
          <p:nvPr/>
        </p:nvSpPr>
        <p:spPr>
          <a:xfrm>
            <a:off x="685800" y="1600200"/>
            <a:ext cx="3124200" cy="3291840"/>
          </a:xfrm>
          <a:prstGeom prst="roundRect">
            <a:avLst>
              <a:gd name="adj" fmla="val 2634"/>
            </a:avLst>
          </a:prstGeom>
          <a:solidFill>
            <a:srgbClr val="FFFFFF"/>
          </a:solidFill>
          <a:ln/>
          <a:effectLst>
            <a:outerShdw sx="100000" sy="100000" kx="0" ky="0" algn="bl" rotWithShape="0" blurRad="127000" dist="38100" dir="5400000">
              <a:srgbClr val="1B2A2E">
                <a:alpha val="12000"/>
              </a:srgbClr>
            </a:outerShdw>
          </a:effectLst>
        </p:spPr>
      </p:sp>
      <p:sp>
        <p:nvSpPr>
          <p:cNvPr id="7" name="Shape 5"/>
          <p:cNvSpPr/>
          <p:nvPr/>
        </p:nvSpPr>
        <p:spPr>
          <a:xfrm>
            <a:off x="685800" y="1600200"/>
            <a:ext cx="3124200" cy="457200"/>
          </a:xfrm>
          <a:prstGeom prst="rect">
            <a:avLst/>
          </a:prstGeom>
          <a:solidFill>
            <a:srgbClr val="387F7F"/>
          </a:solidFill>
          <a:ln/>
        </p:spPr>
      </p:sp>
      <p:sp>
        <p:nvSpPr>
          <p:cNvPr id="8" name="Text 6"/>
          <p:cNvSpPr txBox="1"/>
          <p:nvPr/>
        </p:nvSpPr>
        <p:spPr>
          <a:xfrm>
            <a:off x="685800" y="1600200"/>
            <a:ext cx="3124200" cy="457200"/>
          </a:xfrm>
          <a:prstGeom prst="rect">
            <a:avLst/>
          </a:prstGeom>
          <a:noFill/>
          <a:ln/>
        </p:spPr>
        <p:txBody>
          <a:bodyPr wrap="square" lIns="0" tIns="0" rIns="0" bIns="0" rtlCol="0" anchor="ctr"/>
          <a:lstStyle/>
          <a:p>
            <a:pPr algn="ctr" indent="0" marL="0">
              <a:buNone/>
            </a:pPr>
            <a:r>
              <a:rPr lang="en-US" sz="1250" b="1" dirty="0">
                <a:solidFill>
                  <a:srgbClr val="FFFFFF"/>
                </a:solidFill>
                <a:latin typeface="Poppins" pitchFamily="34" charset="0"/>
                <a:ea typeface="Poppins" pitchFamily="34" charset="-122"/>
                <a:cs typeface="Poppins" pitchFamily="34" charset="-120"/>
              </a:rPr>
              <a:t>REST OF TODAY</a:t>
            </a:r>
            <a:endParaRPr lang="en-US" sz="1250" dirty="0"/>
          </a:p>
        </p:txBody>
      </p:sp>
      <p:sp>
        <p:nvSpPr>
          <p:cNvPr id="9" name="Text 7"/>
          <p:cNvSpPr txBox="1"/>
          <p:nvPr/>
        </p:nvSpPr>
        <p:spPr>
          <a:xfrm>
            <a:off x="914400" y="2240280"/>
            <a:ext cx="2667000" cy="2468880"/>
          </a:xfrm>
          <a:prstGeom prst="rect">
            <a:avLst/>
          </a:prstGeom>
          <a:noFill/>
          <a:ln/>
        </p:spPr>
        <p:txBody>
          <a:bodyPr wrap="square" lIns="0" tIns="0" rIns="0" bIns="0" rtlCol="0" anchor="t"/>
          <a:lstStyle/>
          <a:p>
            <a:pPr algn="l" indent="0" marL="0">
              <a:lnSpc>
                <a:spcPct val="130000"/>
              </a:lnSpc>
              <a:buNone/>
            </a:pPr>
            <a:r>
              <a:rPr lang="en-US" sz="1500" dirty="0">
                <a:solidFill>
                  <a:srgbClr val="475569"/>
                </a:solidFill>
                <a:latin typeface="Poppins" pitchFamily="34" charset="0"/>
                <a:ea typeface="Poppins" pitchFamily="34" charset="-122"/>
                <a:cs typeface="Poppins" pitchFamily="34" charset="-120"/>
              </a:rPr>
              <a:t>Continue your pipeline lab run: complete the clean stage on swiftroute_q3_raw.xlsx, move into analyse and visualise, working toward your one-page report.</a:t>
            </a:r>
            <a:endParaRPr lang="en-US" sz="1500" dirty="0"/>
          </a:p>
        </p:txBody>
      </p:sp>
      <p:sp>
        <p:nvSpPr>
          <p:cNvPr id="10" name="Shape 8"/>
          <p:cNvSpPr/>
          <p:nvPr/>
        </p:nvSpPr>
        <p:spPr>
          <a:xfrm>
            <a:off x="4084320" y="1600200"/>
            <a:ext cx="3124200" cy="3291840"/>
          </a:xfrm>
          <a:prstGeom prst="roundRect">
            <a:avLst>
              <a:gd name="adj" fmla="val 2634"/>
            </a:avLst>
          </a:prstGeom>
          <a:solidFill>
            <a:srgbClr val="FFFFFF"/>
          </a:solidFill>
          <a:ln/>
          <a:effectLst>
            <a:outerShdw sx="100000" sy="100000" kx="0" ky="0" algn="bl" rotWithShape="0" blurRad="127000" dist="38100" dir="5400000">
              <a:srgbClr val="1B2A2E">
                <a:alpha val="12000"/>
              </a:srgbClr>
            </a:outerShdw>
          </a:effectLst>
        </p:spPr>
      </p:sp>
      <p:sp>
        <p:nvSpPr>
          <p:cNvPr id="11" name="Shape 9"/>
          <p:cNvSpPr/>
          <p:nvPr/>
        </p:nvSpPr>
        <p:spPr>
          <a:xfrm>
            <a:off x="4084320" y="1600200"/>
            <a:ext cx="3124200" cy="457200"/>
          </a:xfrm>
          <a:prstGeom prst="rect">
            <a:avLst/>
          </a:prstGeom>
          <a:solidFill>
            <a:srgbClr val="387F7F"/>
          </a:solidFill>
          <a:ln/>
        </p:spPr>
      </p:sp>
      <p:sp>
        <p:nvSpPr>
          <p:cNvPr id="12" name="Text 10"/>
          <p:cNvSpPr txBox="1"/>
          <p:nvPr/>
        </p:nvSpPr>
        <p:spPr>
          <a:xfrm>
            <a:off x="4084320" y="1600200"/>
            <a:ext cx="3124200" cy="457200"/>
          </a:xfrm>
          <a:prstGeom prst="rect">
            <a:avLst/>
          </a:prstGeom>
          <a:noFill/>
          <a:ln/>
        </p:spPr>
        <p:txBody>
          <a:bodyPr wrap="square" lIns="0" tIns="0" rIns="0" bIns="0" rtlCol="0" anchor="ctr"/>
          <a:lstStyle/>
          <a:p>
            <a:pPr algn="ctr" indent="0" marL="0">
              <a:buNone/>
            </a:pPr>
            <a:r>
              <a:rPr lang="en-US" sz="1250" b="1" dirty="0">
                <a:solidFill>
                  <a:srgbClr val="FFFFFF"/>
                </a:solidFill>
                <a:latin typeface="Poppins" pitchFamily="34" charset="0"/>
                <a:ea typeface="Poppins" pitchFamily="34" charset="-122"/>
                <a:cs typeface="Poppins" pitchFamily="34" charset="-120"/>
              </a:rPr>
              <a:t>TOPIC 8.2</a:t>
            </a:r>
            <a:endParaRPr lang="en-US" sz="1250" dirty="0"/>
          </a:p>
        </p:txBody>
      </p:sp>
      <p:sp>
        <p:nvSpPr>
          <p:cNvPr id="13" name="Text 11"/>
          <p:cNvSpPr txBox="1"/>
          <p:nvPr/>
        </p:nvSpPr>
        <p:spPr>
          <a:xfrm>
            <a:off x="4312920" y="2240280"/>
            <a:ext cx="2667000" cy="2468880"/>
          </a:xfrm>
          <a:prstGeom prst="rect">
            <a:avLst/>
          </a:prstGeom>
          <a:noFill/>
          <a:ln/>
        </p:spPr>
        <p:txBody>
          <a:bodyPr wrap="square" lIns="0" tIns="0" rIns="0" bIns="0" rtlCol="0" anchor="t"/>
          <a:lstStyle/>
          <a:p>
            <a:pPr algn="l" indent="0" marL="0">
              <a:lnSpc>
                <a:spcPct val="130000"/>
              </a:lnSpc>
              <a:buNone/>
            </a:pPr>
            <a:r>
              <a:rPr lang="en-US" sz="1500" dirty="0">
                <a:solidFill>
                  <a:srgbClr val="475569"/>
                </a:solidFill>
                <a:latin typeface="Poppins" pitchFamily="34" charset="0"/>
                <a:ea typeface="Poppins" pitchFamily="34" charset="-122"/>
                <a:cs typeface="Poppins" pitchFamily="34" charset="-120"/>
              </a:rPr>
              <a:t>Forecasting with AI support - a simple trend-based forecast on SwiftRoute data, stress-tested and communicated with honest uncertainty.</a:t>
            </a:r>
            <a:endParaRPr lang="en-US" sz="1500" dirty="0"/>
          </a:p>
        </p:txBody>
      </p:sp>
      <p:sp>
        <p:nvSpPr>
          <p:cNvPr id="14" name="Shape 12"/>
          <p:cNvSpPr/>
          <p:nvPr/>
        </p:nvSpPr>
        <p:spPr>
          <a:xfrm>
            <a:off x="7482840" y="1600200"/>
            <a:ext cx="3124200" cy="3291840"/>
          </a:xfrm>
          <a:prstGeom prst="roundRect">
            <a:avLst>
              <a:gd name="adj" fmla="val 2634"/>
            </a:avLst>
          </a:prstGeom>
          <a:solidFill>
            <a:srgbClr val="FFFFFF"/>
          </a:solidFill>
          <a:ln/>
          <a:effectLst>
            <a:outerShdw sx="100000" sy="100000" kx="0" ky="0" algn="bl" rotWithShape="0" blurRad="127000" dist="38100" dir="5400000">
              <a:srgbClr val="1B2A2E">
                <a:alpha val="12000"/>
              </a:srgbClr>
            </a:outerShdw>
          </a:effectLst>
        </p:spPr>
      </p:sp>
      <p:sp>
        <p:nvSpPr>
          <p:cNvPr id="15" name="Shape 13"/>
          <p:cNvSpPr/>
          <p:nvPr/>
        </p:nvSpPr>
        <p:spPr>
          <a:xfrm>
            <a:off x="7482840" y="1600200"/>
            <a:ext cx="3124200" cy="457200"/>
          </a:xfrm>
          <a:prstGeom prst="rect">
            <a:avLst/>
          </a:prstGeom>
          <a:solidFill>
            <a:srgbClr val="387F7F"/>
          </a:solidFill>
          <a:ln/>
        </p:spPr>
      </p:sp>
      <p:sp>
        <p:nvSpPr>
          <p:cNvPr id="16" name="Text 14"/>
          <p:cNvSpPr txBox="1"/>
          <p:nvPr/>
        </p:nvSpPr>
        <p:spPr>
          <a:xfrm>
            <a:off x="7482840" y="1600200"/>
            <a:ext cx="3124200" cy="457200"/>
          </a:xfrm>
          <a:prstGeom prst="rect">
            <a:avLst/>
          </a:prstGeom>
          <a:noFill/>
          <a:ln/>
        </p:spPr>
        <p:txBody>
          <a:bodyPr wrap="square" lIns="0" tIns="0" rIns="0" bIns="0" rtlCol="0" anchor="ctr"/>
          <a:lstStyle/>
          <a:p>
            <a:pPr algn="ctr" indent="0" marL="0">
              <a:buNone/>
            </a:pPr>
            <a:r>
              <a:rPr lang="en-US" sz="1250" b="1" dirty="0">
                <a:solidFill>
                  <a:srgbClr val="FFFFFF"/>
                </a:solidFill>
                <a:latin typeface="Poppins" pitchFamily="34" charset="0"/>
                <a:ea typeface="Poppins" pitchFamily="34" charset="-122"/>
                <a:cs typeface="Poppins" pitchFamily="34" charset="-120"/>
              </a:rPr>
              <a:t>ONGOING</a:t>
            </a:r>
            <a:endParaRPr lang="en-US" sz="1250" dirty="0"/>
          </a:p>
        </p:txBody>
      </p:sp>
      <p:sp>
        <p:nvSpPr>
          <p:cNvPr id="17" name="Text 15"/>
          <p:cNvSpPr txBox="1"/>
          <p:nvPr/>
        </p:nvSpPr>
        <p:spPr>
          <a:xfrm>
            <a:off x="7711440" y="2240280"/>
            <a:ext cx="2667000" cy="2468880"/>
          </a:xfrm>
          <a:prstGeom prst="rect">
            <a:avLst/>
          </a:prstGeom>
          <a:noFill/>
          <a:ln/>
        </p:spPr>
        <p:txBody>
          <a:bodyPr wrap="square" lIns="0" tIns="0" rIns="0" bIns="0" rtlCol="0" anchor="t"/>
          <a:lstStyle/>
          <a:p>
            <a:pPr algn="l" indent="0" marL="0">
              <a:lnSpc>
                <a:spcPct val="130000"/>
              </a:lnSpc>
              <a:buNone/>
            </a:pPr>
            <a:r>
              <a:rPr lang="en-US" sz="1500" dirty="0">
                <a:solidFill>
                  <a:srgbClr val="475569"/>
                </a:solidFill>
                <a:latin typeface="Poppins" pitchFamily="34" charset="0"/>
                <a:ea typeface="Poppins" pitchFamily="34" charset="-122"/>
                <a:cs typeface="Poppins" pitchFamily="34" charset="-120"/>
              </a:rPr>
              <a:t>Keep adding to your responsible data and AI record, started in 7.6. Log every place you applied the verification checklist today.</a:t>
            </a:r>
            <a:endParaRPr lang="en-US" sz="1500" dirty="0"/>
          </a:p>
        </p:txBody>
      </p:sp>
      <p:pic>
        <p:nvPicPr>
          <p:cNvPr id="18" name="Image 0" descr="/home/claude/assets/logo_full.png">    </p:cNvPr>
          <p:cNvPicPr>
            <a:picLocks noChangeAspect="1"/>
          </p:cNvPicPr>
          <p:nvPr/>
        </p:nvPicPr>
        <p:blipFill>
          <a:blip r:embed="rId2"/>
          <a:stretch>
            <a:fillRect/>
          </a:stretch>
        </p:blipFill>
        <p:spPr>
          <a:xfrm>
            <a:off x="10998403" y="5949086"/>
            <a:ext cx="431597" cy="375337"/>
          </a:xfrm>
          <a:prstGeom prst="rect">
            <a:avLst/>
          </a:prstGeom>
        </p:spPr>
      </p:pic>
      <p:sp>
        <p:nvSpPr>
          <p:cNvPr id="19" name="Text 16"/>
          <p:cNvSpPr txBox="1"/>
          <p:nvPr/>
        </p:nvSpPr>
        <p:spPr>
          <a:xfrm>
            <a:off x="11688775" y="6473952"/>
            <a:ext cx="365760" cy="274320"/>
          </a:xfrm>
          <a:prstGeom prst="rect">
            <a:avLst/>
          </a:prstGeom>
          <a:noFill/>
          <a:ln/>
        </p:spPr>
        <p:txBody>
          <a:bodyPr wrap="square" lIns="0" tIns="0" rIns="0" bIns="0" rtlCol="0" anchor="ctr"/>
          <a:lstStyle/>
          <a:p>
            <a:pPr algn="r" indent="0" marL="0">
              <a:buNone/>
            </a:pPr>
            <a:r>
              <a:rPr lang="en-US" sz="1100" dirty="0">
                <a:solidFill>
                  <a:srgbClr val="64748B"/>
                </a:solidFill>
                <a:latin typeface="Poppins" pitchFamily="34" charset="0"/>
                <a:ea typeface="Poppins" pitchFamily="34" charset="-122"/>
                <a:cs typeface="Poppins" pitchFamily="34" charset="-120"/>
              </a:rPr>
              <a:t>18</a:t>
            </a:r>
            <a:endParaRPr lang="en-US" sz="11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19</Slides>
  <Notes>19</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19</vt:i4>
      </vt:variant>
    </vt:vector>
  </HeadingPairs>
  <TitlesOfParts>
    <vt:vector size="22"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2026-09-05T22:43:07Z</dcterms:created>
  <dcterms:modified xsi:type="dcterms:W3CDTF">2026-09-05T22:43:07Z</dcterms:modified>
</cp:coreProperties>
</file>