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Inter" charset="1" panose="02000503000000020004"/>
      <p:regular r:id="rId24"/>
    </p:embeddedFont>
    <p:embeddedFont>
      <p:font typeface="Poppins Bold" charset="1" panose="00000800000000000000"/>
      <p:regular r:id="rId25"/>
    </p:embeddedFont>
    <p:embeddedFont>
      <p:font typeface="Poppins" charset="1" panose="00000500000000000000"/>
      <p:regular r:id="rId29"/>
    </p:embeddedFont>
    <p:embeddedFont>
      <p:font typeface="Poppins Italics" charset="1" panose="00000500000000000000"/>
      <p:regular r:id="rId32"/>
    </p:embeddedFont>
    <p:embeddedFont>
      <p:font typeface="Roboto Mono" charset="1" panose="000000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43" Target="fonts/font43.fntdata" Type="http://schemas.openxmlformats.org/officeDocument/2006/relationships/font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CONTENT: Section divider. Signals the shift from the hook/motivation framing into the core teaching content: naming and defining the four pipeline stages.</a:t>
            </a:r>
          </a:p>
          <a:p>
            <a:r>
              <a:rPr lang="en-US"/>
              <a:t/>
            </a:r>
          </a:p>
          <a:p>
            <a:r>
              <a:rPr lang="en-US"/>
              <a:t>WHAT TO SAY: "Part one: the four-stage pipeline. We'll name each stage, say what it actually produces, and - for each one - where AI is genuinely useful versus where you still have to check its work yourself."</a:t>
            </a:r>
          </a:p>
          <a:p>
            <a:r>
              <a:rPr lang="en-US"/>
              <a:t/>
            </a:r>
          </a:p>
          <a:p>
            <a:r>
              <a:rPr lang="en-US"/>
              <a:t>DELIVERY CUE: Brief. Let the slide do the work; move straight into content.</a:t>
            </a:r>
          </a:p>
          <a:p>
            <a:r>
              <a:rPr lang="en-US"/>
              <a:t/>
            </a:r>
          </a:p>
          <a:p>
            <a:r>
              <a:rPr lang="en-US"/>
              <a:t>TIMING: 20–30 seconds.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CONTENT: Section divider into the verification content - the topic's other main teaching block, and the one most directly assessed later in 8.5.</a:t>
            </a:r>
          </a:p>
          <a:p>
            <a:r>
              <a:rPr lang="en-US"/>
              <a:t/>
            </a:r>
          </a:p>
          <a:p>
            <a:r>
              <a:rPr lang="en-US"/>
              <a:t>WHAT TO SAY: "Part two. We know AI helps at every stage of the pipeline. Now the harder question: how do you actually check it? We're going to name the technique, build a checklist you'll reuse for the rest of the programme, and look at what AI genuinely gets wrong."</a:t>
            </a:r>
          </a:p>
          <a:p>
            <a:r>
              <a:rPr lang="en-US"/>
              <a:t/>
            </a:r>
          </a:p>
          <a:p>
            <a:r>
              <a:rPr lang="en-US"/>
              <a:t>DELIVERY CUE: Brief, move into content quickly.</a:t>
            </a:r>
          </a:p>
          <a:p>
            <a:r>
              <a:rPr lang="en-US"/>
              <a:t/>
            </a:r>
          </a:p>
          <a:p>
            <a:r>
              <a:rPr lang="en-US"/>
              <a:t>TIMING: 20–30 seconds.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CONTENT: Divider into the applied section, where the pipeline lab begins in earnest on the real swiftroute_q3_raw.xlsx file.</a:t>
            </a:r>
          </a:p>
          <a:p>
            <a:r>
              <a:rPr lang="en-US"/>
              <a:t/>
            </a:r>
          </a:p>
          <a:p>
            <a:r>
              <a:rPr lang="en-US"/>
              <a:t>WHAT TO SAY: "Part three - and this is where we open the actual file. We'll look at exactly what's wrong with it, walk through a first cleaning pass together, and then it's your turn to verify it yourself."</a:t>
            </a:r>
          </a:p>
          <a:p>
            <a:r>
              <a:rPr lang="en-US"/>
              <a:t/>
            </a:r>
          </a:p>
          <a:p>
            <a:r>
              <a:rPr lang="en-US"/>
              <a:t>DELIVERY CUE: This is the cue to have everyone actually open swiftroute_q3_raw.xlsx on their own machine if they haven't already.</a:t>
            </a:r>
          </a:p>
          <a:p>
            <a:r>
              <a:rPr lang="en-US"/>
              <a:t/>
            </a:r>
          </a:p>
          <a:p>
            <a:r>
              <a:rPr lang="en-US"/>
              <a:t>TIMING: 20–30 seconds.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9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0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9.png" Type="http://schemas.openxmlformats.org/officeDocument/2006/relationships/image"/><Relationship Id="rId9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0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9.png" Type="http://schemas.openxmlformats.org/officeDocument/2006/relationships/image"/><Relationship Id="rId9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0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9.png" Type="http://schemas.openxmlformats.org/officeDocument/2006/relationships/image"/><Relationship Id="rId7" Target="../media/image5.jpe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0.png" Type="http://schemas.openxmlformats.org/officeDocument/2006/relationships/image"/><Relationship Id="rId4" Target="../media/image5.jpe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9.png" Type="http://schemas.openxmlformats.org/officeDocument/2006/relationships/image"/><Relationship Id="rId9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9.png" Type="http://schemas.openxmlformats.org/officeDocument/2006/relationships/image"/><Relationship Id="rId9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0.png" Type="http://schemas.openxmlformats.org/officeDocument/2006/relationships/image"/><Relationship Id="rId4" Target="../media/image5.jpe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0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9.png" Type="http://schemas.openxmlformats.org/officeDocument/2006/relationships/image"/><Relationship Id="rId9" Target="../media/image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0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9.png" Type="http://schemas.openxmlformats.org/officeDocument/2006/relationships/image"/><Relationship Id="rId9" Target="../media/image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0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9.png" Type="http://schemas.openxmlformats.org/officeDocument/2006/relationships/image"/><Relationship Id="rId9" Target="../media/image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0.png" Type="http://schemas.openxmlformats.org/officeDocument/2006/relationships/image"/><Relationship Id="rId4" Target="../media/image5.jpe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0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9.png" Type="http://schemas.openxmlformats.org/officeDocument/2006/relationships/image"/><Relationship Id="rId9" Target="../media/image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0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9.png" Type="http://schemas.openxmlformats.org/officeDocument/2006/relationships/image"/><Relationship Id="rId9" Target="../media/image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0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18.png" Type="http://schemas.openxmlformats.org/officeDocument/2006/relationships/image"/><Relationship Id="rId2" Target="../notesSlides/notesSlide16.xml" Type="http://schemas.openxmlformats.org/officeDocument/2006/relationships/notesSlide"/><Relationship Id="rId3" Target="../media/image10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9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0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9.png" Type="http://schemas.openxmlformats.org/officeDocument/2006/relationships/image"/><Relationship Id="rId9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0" y="0"/>
            <a:ext cx="2286000" cy="1907572"/>
            <a:chOff x="0" y="0"/>
            <a:chExt cx="3048000" cy="25434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8000" cy="2543429"/>
            </a:xfrm>
            <a:custGeom>
              <a:avLst/>
              <a:gdLst/>
              <a:ahLst/>
              <a:cxnLst/>
              <a:rect r="r" b="b" t="t" l="l"/>
              <a:pathLst>
                <a:path h="254342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543429"/>
                  </a:lnTo>
                  <a:lnTo>
                    <a:pt x="0" y="254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0" r="0" b="-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6429375"/>
            <a:ext cx="1907572" cy="1286066"/>
            <a:chOff x="0" y="0"/>
            <a:chExt cx="2543429" cy="17147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3429" cy="1714754"/>
            </a:xfrm>
            <a:custGeom>
              <a:avLst/>
              <a:gdLst/>
              <a:ahLst/>
              <a:cxnLst/>
              <a:rect r="r" b="b" t="t" l="l"/>
              <a:pathLst>
                <a:path h="1714754" w="2543429">
                  <a:moveTo>
                    <a:pt x="0" y="0"/>
                  </a:moveTo>
                  <a:lnTo>
                    <a:pt x="2543429" y="0"/>
                  </a:lnTo>
                  <a:lnTo>
                    <a:pt x="2543429" y="1714754"/>
                  </a:lnTo>
                  <a:lnTo>
                    <a:pt x="0" y="171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8" t="0" r="-14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2944759"/>
            <a:ext cx="16002000" cy="323098"/>
            <a:chOff x="0" y="0"/>
            <a:chExt cx="21336000" cy="430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430784"/>
            </a:xfrm>
            <a:custGeom>
              <a:avLst/>
              <a:gdLst/>
              <a:ahLst/>
              <a:cxnLst/>
              <a:rect r="r" b="b" t="t" l="l"/>
              <a:pathLst>
                <a:path h="43078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14386" r="0" b="-91439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3000" y="2398252"/>
            <a:ext cx="16002000" cy="869604"/>
            <a:chOff x="0" y="0"/>
            <a:chExt cx="21336000" cy="11594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00" cy="1159473"/>
            </a:xfrm>
            <a:custGeom>
              <a:avLst/>
              <a:gdLst/>
              <a:ahLst/>
              <a:cxnLst/>
              <a:rect r="r" b="b" t="t" l="l"/>
              <a:pathLst>
                <a:path h="1159473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159473"/>
                  </a:lnTo>
                  <a:lnTo>
                    <a:pt x="0" y="115947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9976" r="0" b="-27713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336000" cy="1159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87F7F"/>
                  </a:solidFill>
                  <a:latin typeface="Inter"/>
                  <a:ea typeface="Inter"/>
                  <a:cs typeface="Inter"/>
                  <a:sym typeface="Inter"/>
                </a:rPr>
                <a:t>PRACTICAL </a:t>
              </a:r>
              <a:r>
                <a:rPr lang="en-US" sz="2100">
                  <a:solidFill>
                    <a:srgbClr val="387F7F"/>
                  </a:solidFill>
                  <a:latin typeface="Inter"/>
                  <a:ea typeface="Inter"/>
                  <a:cs typeface="Inter"/>
                  <a:sym typeface="Inter"/>
                </a:rPr>
                <a:t>AI FOR ANALYTICS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3000" y="3349571"/>
            <a:ext cx="16002000" cy="691134"/>
            <a:chOff x="0" y="0"/>
            <a:chExt cx="21336000" cy="9215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36000" cy="921512"/>
            </a:xfrm>
            <a:custGeom>
              <a:avLst/>
              <a:gdLst/>
              <a:ahLst/>
              <a:cxnLst/>
              <a:rect r="r" b="b" t="t" l="l"/>
              <a:pathLst>
                <a:path h="92151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21512"/>
                  </a:lnTo>
                  <a:lnTo>
                    <a:pt x="0" y="9215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0828" r="0" b="-400828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3000" y="3349571"/>
            <a:ext cx="10091353" cy="691144"/>
            <a:chOff x="0" y="0"/>
            <a:chExt cx="21336000" cy="14612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36000" cy="1461265"/>
            </a:xfrm>
            <a:custGeom>
              <a:avLst/>
              <a:gdLst/>
              <a:ahLst/>
              <a:cxnLst/>
              <a:rect r="r" b="b" t="t" l="l"/>
              <a:pathLst>
                <a:path h="1461265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461265"/>
                  </a:lnTo>
                  <a:lnTo>
                    <a:pt x="0" y="14612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2644" r="0" b="-21635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336000" cy="1470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Module 8: AI-Assisted Data Analysis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43000" y="8572500"/>
            <a:ext cx="16002000" cy="28766"/>
            <a:chOff x="0" y="0"/>
            <a:chExt cx="21336000" cy="383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36000" cy="38354"/>
            </a:xfrm>
            <a:custGeom>
              <a:avLst/>
              <a:gdLst/>
              <a:ahLst/>
              <a:cxnLst/>
              <a:rect r="r" b="b" t="t" l="l"/>
              <a:pathLst>
                <a:path h="383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8354"/>
                  </a:lnTo>
                  <a:lnTo>
                    <a:pt x="0" y="3835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3000" y="9001125"/>
            <a:ext cx="385667" cy="342900"/>
            <a:chOff x="0" y="0"/>
            <a:chExt cx="514223" cy="457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4223" cy="457200"/>
            </a:xfrm>
            <a:custGeom>
              <a:avLst/>
              <a:gdLst/>
              <a:ahLst/>
              <a:cxnLst/>
              <a:rect r="r" b="b" t="t" l="l"/>
              <a:pathLst>
                <a:path h="457200" w="514223">
                  <a:moveTo>
                    <a:pt x="0" y="0"/>
                  </a:moveTo>
                  <a:lnTo>
                    <a:pt x="514223" y="0"/>
                  </a:lnTo>
                  <a:lnTo>
                    <a:pt x="514223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2" t="0" r="-1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43062" y="9001125"/>
            <a:ext cx="2143354" cy="323098"/>
            <a:chOff x="0" y="0"/>
            <a:chExt cx="2857805" cy="4307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7754" cy="430784"/>
            </a:xfrm>
            <a:custGeom>
              <a:avLst/>
              <a:gdLst/>
              <a:ahLst/>
              <a:cxnLst/>
              <a:rect r="r" b="b" t="t" l="l"/>
              <a:pathLst>
                <a:path h="430784" w="2857754">
                  <a:moveTo>
                    <a:pt x="0" y="0"/>
                  </a:moveTo>
                  <a:lnTo>
                    <a:pt x="2857754" y="0"/>
                  </a:lnTo>
                  <a:lnTo>
                    <a:pt x="2857754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9171" r="-1" b="-7917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643062" y="8885273"/>
            <a:ext cx="2143354" cy="438950"/>
            <a:chOff x="0" y="0"/>
            <a:chExt cx="2857805" cy="5852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57805" cy="585267"/>
            </a:xfrm>
            <a:custGeom>
              <a:avLst/>
              <a:gdLst/>
              <a:ahLst/>
              <a:cxnLst/>
              <a:rect r="r" b="b" t="t" l="l"/>
              <a:pathLst>
                <a:path h="585267" w="2857805">
                  <a:moveTo>
                    <a:pt x="0" y="0"/>
                  </a:moveTo>
                  <a:lnTo>
                    <a:pt x="2857805" y="0"/>
                  </a:lnTo>
                  <a:lnTo>
                    <a:pt x="2857805" y="585267"/>
                  </a:lnTo>
                  <a:lnTo>
                    <a:pt x="0" y="5852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340" r="0" b="-3194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857805" cy="585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Topic 1 of 5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43000" y="552450"/>
            <a:ext cx="2124666" cy="1845802"/>
            <a:chOff x="0" y="0"/>
            <a:chExt cx="2832887" cy="24610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32862" cy="2461133"/>
            </a:xfrm>
            <a:custGeom>
              <a:avLst/>
              <a:gdLst/>
              <a:ahLst/>
              <a:cxnLst/>
              <a:rect r="r" b="b" t="t" l="l"/>
              <a:pathLst>
                <a:path h="2461133" w="2832862">
                  <a:moveTo>
                    <a:pt x="0" y="0"/>
                  </a:moveTo>
                  <a:lnTo>
                    <a:pt x="2832862" y="0"/>
                  </a:lnTo>
                  <a:lnTo>
                    <a:pt x="2832862" y="2461133"/>
                  </a:lnTo>
                  <a:lnTo>
                    <a:pt x="0" y="2461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51" r="0" b="-49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001070" y="1733550"/>
            <a:ext cx="6258230" cy="6258230"/>
            <a:chOff x="0" y="0"/>
            <a:chExt cx="8344306" cy="834430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344281" cy="8344281"/>
            </a:xfrm>
            <a:custGeom>
              <a:avLst/>
              <a:gdLst/>
              <a:ahLst/>
              <a:cxnLst/>
              <a:rect r="r" b="b" t="t" l="l"/>
              <a:pathLst>
                <a:path h="8344281" w="8344281">
                  <a:moveTo>
                    <a:pt x="254000" y="0"/>
                  </a:moveTo>
                  <a:lnTo>
                    <a:pt x="8090281" y="0"/>
                  </a:lnTo>
                  <a:cubicBezTo>
                    <a:pt x="8230616" y="0"/>
                    <a:pt x="8344281" y="113665"/>
                    <a:pt x="8344281" y="254000"/>
                  </a:cubicBezTo>
                  <a:lnTo>
                    <a:pt x="8344281" y="8090281"/>
                  </a:lnTo>
                  <a:cubicBezTo>
                    <a:pt x="8344281" y="8230616"/>
                    <a:pt x="8230616" y="8344281"/>
                    <a:pt x="8090281" y="8344281"/>
                  </a:cubicBezTo>
                  <a:lnTo>
                    <a:pt x="254000" y="8344281"/>
                  </a:lnTo>
                  <a:cubicBezTo>
                    <a:pt x="113665" y="8344281"/>
                    <a:pt x="0" y="8230616"/>
                    <a:pt x="0" y="8090281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close/>
                </a:path>
              </a:pathLst>
            </a:custGeom>
            <a:blipFill>
              <a:blip r:embed="rId9"/>
              <a:stretch>
                <a:fillRect l="-1496" t="0" r="-1496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72" t="0" r="-772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43000" y="4020979"/>
            <a:ext cx="8997268" cy="336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9"/>
              </a:lnSpc>
            </a:pPr>
            <a:r>
              <a:rPr lang="en-US" sz="6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AI-Augmen</a:t>
            </a:r>
            <a:r>
              <a:rPr lang="en-US" sz="6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ted</a:t>
            </a:r>
          </a:p>
          <a:p>
            <a:pPr algn="l">
              <a:lnSpc>
                <a:spcPts val="8749"/>
              </a:lnSpc>
            </a:pPr>
            <a:r>
              <a:rPr lang="en-US" sz="6999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Pipeline, End to End</a:t>
            </a:r>
          </a:p>
          <a:p>
            <a:pPr algn="l">
              <a:lnSpc>
                <a:spcPts val="874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857250"/>
            <a:ext cx="142875" cy="742950"/>
            <a:chOff x="0" y="0"/>
            <a:chExt cx="190500" cy="990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500" cy="990600"/>
            </a:xfrm>
            <a:custGeom>
              <a:avLst/>
              <a:gdLst/>
              <a:ahLst/>
              <a:cxnLst/>
              <a:rect r="r" b="b" t="t" l="l"/>
              <a:pathLst>
                <a:path h="9906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70180" y="1028700"/>
            <a:ext cx="1189120" cy="1033053"/>
            <a:chOff x="0" y="0"/>
            <a:chExt cx="1585493" cy="13774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5468" cy="1377442"/>
            </a:xfrm>
            <a:custGeom>
              <a:avLst/>
              <a:gdLst/>
              <a:ahLst/>
              <a:cxnLst/>
              <a:rect r="r" b="b" t="t" l="l"/>
              <a:pathLst>
                <a:path h="1377442" w="1585468">
                  <a:moveTo>
                    <a:pt x="0" y="0"/>
                  </a:moveTo>
                  <a:lnTo>
                    <a:pt x="1585468" y="0"/>
                  </a:lnTo>
                  <a:lnTo>
                    <a:pt x="1585468" y="1377442"/>
                  </a:lnTo>
                  <a:lnTo>
                    <a:pt x="0" y="1377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1" r="-1" b="-4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01070" y="2333473"/>
            <a:ext cx="6258230" cy="6258230"/>
            <a:chOff x="0" y="0"/>
            <a:chExt cx="8344306" cy="83443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44281" cy="8344281"/>
            </a:xfrm>
            <a:custGeom>
              <a:avLst/>
              <a:gdLst/>
              <a:ahLst/>
              <a:cxnLst/>
              <a:rect r="r" b="b" t="t" l="l"/>
              <a:pathLst>
                <a:path h="8344281" w="8344281">
                  <a:moveTo>
                    <a:pt x="254000" y="0"/>
                  </a:moveTo>
                  <a:lnTo>
                    <a:pt x="8090281" y="0"/>
                  </a:lnTo>
                  <a:cubicBezTo>
                    <a:pt x="8230616" y="0"/>
                    <a:pt x="8344281" y="113665"/>
                    <a:pt x="8344281" y="254000"/>
                  </a:cubicBezTo>
                  <a:lnTo>
                    <a:pt x="8344281" y="8090281"/>
                  </a:lnTo>
                  <a:cubicBezTo>
                    <a:pt x="8344281" y="8230616"/>
                    <a:pt x="8230616" y="8344281"/>
                    <a:pt x="8090281" y="8344281"/>
                  </a:cubicBezTo>
                  <a:lnTo>
                    <a:pt x="254000" y="8344281"/>
                  </a:lnTo>
                  <a:cubicBezTo>
                    <a:pt x="113665" y="8344281"/>
                    <a:pt x="0" y="8230616"/>
                    <a:pt x="0" y="8090281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close/>
                </a:path>
              </a:pathLst>
            </a:custGeom>
            <a:blipFill>
              <a:blip r:embed="rId5"/>
              <a:stretch>
                <a:fillRect l="-6663" t="0" r="-666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6774" y="2566902"/>
            <a:ext cx="386648" cy="411804"/>
            <a:chOff x="0" y="0"/>
            <a:chExt cx="515531" cy="549072"/>
          </a:xfrm>
        </p:grpSpPr>
        <p:sp>
          <p:nvSpPr>
            <p:cNvPr name="Freeform 13" id="13" descr="/home/claude/assets/icon_check.png"/>
            <p:cNvSpPr/>
            <p:nvPr/>
          </p:nvSpPr>
          <p:spPr>
            <a:xfrm flipH="false" flipV="false" rot="0">
              <a:off x="0" y="0"/>
              <a:ext cx="515483" cy="549021"/>
            </a:xfrm>
            <a:custGeom>
              <a:avLst/>
              <a:gdLst/>
              <a:ahLst/>
              <a:cxnLst/>
              <a:rect r="r" b="b" t="t" l="l"/>
              <a:pathLst>
                <a:path h="549021" w="515483">
                  <a:moveTo>
                    <a:pt x="0" y="0"/>
                  </a:moveTo>
                  <a:lnTo>
                    <a:pt x="515483" y="0"/>
                  </a:lnTo>
                  <a:lnTo>
                    <a:pt x="515483" y="549021"/>
                  </a:lnTo>
                  <a:lnTo>
                    <a:pt x="0" y="549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281" t="0" r="-1290" b="-1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6774" y="3767014"/>
            <a:ext cx="386648" cy="411804"/>
            <a:chOff x="0" y="0"/>
            <a:chExt cx="515531" cy="549072"/>
          </a:xfrm>
        </p:grpSpPr>
        <p:sp>
          <p:nvSpPr>
            <p:cNvPr name="Freeform 15" id="15" descr="/home/claude/assets/icon_check.png"/>
            <p:cNvSpPr/>
            <p:nvPr/>
          </p:nvSpPr>
          <p:spPr>
            <a:xfrm flipH="false" flipV="false" rot="0">
              <a:off x="0" y="0"/>
              <a:ext cx="515483" cy="549021"/>
            </a:xfrm>
            <a:custGeom>
              <a:avLst/>
              <a:gdLst/>
              <a:ahLst/>
              <a:cxnLst/>
              <a:rect r="r" b="b" t="t" l="l"/>
              <a:pathLst>
                <a:path h="549021" w="515483">
                  <a:moveTo>
                    <a:pt x="0" y="0"/>
                  </a:moveTo>
                  <a:lnTo>
                    <a:pt x="515483" y="0"/>
                  </a:lnTo>
                  <a:lnTo>
                    <a:pt x="515483" y="549021"/>
                  </a:lnTo>
                  <a:lnTo>
                    <a:pt x="0" y="549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281" t="0" r="-1290" b="-1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66774" y="4900870"/>
            <a:ext cx="386648" cy="411804"/>
            <a:chOff x="0" y="0"/>
            <a:chExt cx="515531" cy="549072"/>
          </a:xfrm>
        </p:grpSpPr>
        <p:sp>
          <p:nvSpPr>
            <p:cNvPr name="Freeform 17" id="17" descr="/home/claude/assets/icon_check.png"/>
            <p:cNvSpPr/>
            <p:nvPr/>
          </p:nvSpPr>
          <p:spPr>
            <a:xfrm flipH="false" flipV="false" rot="0">
              <a:off x="0" y="0"/>
              <a:ext cx="515483" cy="549021"/>
            </a:xfrm>
            <a:custGeom>
              <a:avLst/>
              <a:gdLst/>
              <a:ahLst/>
              <a:cxnLst/>
              <a:rect r="r" b="b" t="t" l="l"/>
              <a:pathLst>
                <a:path h="549021" w="515483">
                  <a:moveTo>
                    <a:pt x="0" y="0"/>
                  </a:moveTo>
                  <a:lnTo>
                    <a:pt x="515483" y="0"/>
                  </a:lnTo>
                  <a:lnTo>
                    <a:pt x="515483" y="549021"/>
                  </a:lnTo>
                  <a:lnTo>
                    <a:pt x="0" y="549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281" t="0" r="-1290" b="-1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66774" y="6187126"/>
            <a:ext cx="386648" cy="411804"/>
            <a:chOff x="0" y="0"/>
            <a:chExt cx="515531" cy="549072"/>
          </a:xfrm>
        </p:grpSpPr>
        <p:sp>
          <p:nvSpPr>
            <p:cNvPr name="Freeform 19" id="19" descr="/home/claude/assets/icon_check.png"/>
            <p:cNvSpPr/>
            <p:nvPr/>
          </p:nvSpPr>
          <p:spPr>
            <a:xfrm flipH="false" flipV="false" rot="0">
              <a:off x="0" y="0"/>
              <a:ext cx="515483" cy="549021"/>
            </a:xfrm>
            <a:custGeom>
              <a:avLst/>
              <a:gdLst/>
              <a:ahLst/>
              <a:cxnLst/>
              <a:rect r="r" b="b" t="t" l="l"/>
              <a:pathLst>
                <a:path h="549021" w="515483">
                  <a:moveTo>
                    <a:pt x="0" y="0"/>
                  </a:moveTo>
                  <a:lnTo>
                    <a:pt x="515483" y="0"/>
                  </a:lnTo>
                  <a:lnTo>
                    <a:pt x="515483" y="549021"/>
                  </a:lnTo>
                  <a:lnTo>
                    <a:pt x="0" y="549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281" t="0" r="-1290" b="-1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66774" y="7387657"/>
            <a:ext cx="386648" cy="411804"/>
            <a:chOff x="0" y="0"/>
            <a:chExt cx="515531" cy="549072"/>
          </a:xfrm>
        </p:grpSpPr>
        <p:sp>
          <p:nvSpPr>
            <p:cNvPr name="Freeform 21" id="21" descr="/home/claude/assets/icon_check.png"/>
            <p:cNvSpPr/>
            <p:nvPr/>
          </p:nvSpPr>
          <p:spPr>
            <a:xfrm flipH="false" flipV="false" rot="0">
              <a:off x="0" y="0"/>
              <a:ext cx="515483" cy="549021"/>
            </a:xfrm>
            <a:custGeom>
              <a:avLst/>
              <a:gdLst/>
              <a:ahLst/>
              <a:cxnLst/>
              <a:rect r="r" b="b" t="t" l="l"/>
              <a:pathLst>
                <a:path h="549021" w="515483">
                  <a:moveTo>
                    <a:pt x="0" y="0"/>
                  </a:moveTo>
                  <a:lnTo>
                    <a:pt x="515483" y="0"/>
                  </a:lnTo>
                  <a:lnTo>
                    <a:pt x="515483" y="549021"/>
                  </a:lnTo>
                  <a:lnTo>
                    <a:pt x="0" y="549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281" t="0" r="-1290" b="-11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85900" y="762000"/>
            <a:ext cx="693172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MODULE 8 OBJECTIVES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72521" y="2346989"/>
            <a:ext cx="8763986" cy="106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7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Run a full AI-assisted pipeline: clean, analyse, visualise, report.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72521" y="3643189"/>
            <a:ext cx="8763986" cy="106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7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Build a simple AI-assisted forecast and communicate its uncertainty.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72521" y="4777045"/>
            <a:ext cx="8763986" cy="106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7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Explain classification, regression and clustering in plain language.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72521" y="6063301"/>
            <a:ext cx="8763986" cy="106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7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Automate a repetitive analyst task so it survives a data refresh.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72521" y="7263832"/>
            <a:ext cx="8763986" cy="106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27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Apply the verification checklist to catch AI's failure modes.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004699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By the end of this Topic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you can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8187" y="2710124"/>
            <a:ext cx="3551787" cy="5696588"/>
            <a:chOff x="0" y="0"/>
            <a:chExt cx="4735716" cy="75954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35703" cy="7595488"/>
            </a:xfrm>
            <a:custGeom>
              <a:avLst/>
              <a:gdLst/>
              <a:ahLst/>
              <a:cxnLst/>
              <a:rect r="r" b="b" t="t" l="l"/>
              <a:pathLst>
                <a:path h="7595488" w="4735703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4570984" y="0"/>
                  </a:lnTo>
                  <a:cubicBezTo>
                    <a:pt x="4661916" y="0"/>
                    <a:pt x="4735703" y="73787"/>
                    <a:pt x="4735703" y="164719"/>
                  </a:cubicBezTo>
                  <a:lnTo>
                    <a:pt x="4735703" y="7430770"/>
                  </a:lnTo>
                  <a:cubicBezTo>
                    <a:pt x="4735703" y="7521701"/>
                    <a:pt x="4661916" y="7595488"/>
                    <a:pt x="4570984" y="7595488"/>
                  </a:cubicBezTo>
                  <a:lnTo>
                    <a:pt x="164719" y="7595488"/>
                  </a:lnTo>
                  <a:cubicBezTo>
                    <a:pt x="73787" y="7595489"/>
                    <a:pt x="0" y="7521702"/>
                    <a:pt x="0" y="74307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88187" y="2710124"/>
            <a:ext cx="3551787" cy="1578569"/>
            <a:chOff x="0" y="0"/>
            <a:chExt cx="4735716" cy="21047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35703" cy="2104771"/>
            </a:xfrm>
            <a:custGeom>
              <a:avLst/>
              <a:gdLst/>
              <a:ahLst/>
              <a:cxnLst/>
              <a:rect r="r" b="b" t="t" l="l"/>
              <a:pathLst>
                <a:path h="2104771" w="4735703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4570984" y="0"/>
                  </a:lnTo>
                  <a:cubicBezTo>
                    <a:pt x="4661916" y="0"/>
                    <a:pt x="4735703" y="73787"/>
                    <a:pt x="4735703" y="164719"/>
                  </a:cubicBezTo>
                  <a:lnTo>
                    <a:pt x="4735703" y="1940052"/>
                  </a:lnTo>
                  <a:cubicBezTo>
                    <a:pt x="4735703" y="2030984"/>
                    <a:pt x="4661916" y="2104771"/>
                    <a:pt x="4570984" y="2104771"/>
                  </a:cubicBezTo>
                  <a:lnTo>
                    <a:pt x="164719" y="2104771"/>
                  </a:lnTo>
                  <a:cubicBezTo>
                    <a:pt x="73787" y="2104771"/>
                    <a:pt x="0" y="2030984"/>
                    <a:pt x="0" y="1940052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88187" y="3396458"/>
            <a:ext cx="3551787" cy="892235"/>
            <a:chOff x="0" y="0"/>
            <a:chExt cx="4735716" cy="11896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35703" cy="1189609"/>
            </a:xfrm>
            <a:custGeom>
              <a:avLst/>
              <a:gdLst/>
              <a:ahLst/>
              <a:cxnLst/>
              <a:rect r="r" b="b" t="t" l="l"/>
              <a:pathLst>
                <a:path h="1189609" w="4735703">
                  <a:moveTo>
                    <a:pt x="0" y="0"/>
                  </a:moveTo>
                  <a:lnTo>
                    <a:pt x="4735703" y="0"/>
                  </a:lnTo>
                  <a:lnTo>
                    <a:pt x="4735703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998680" y="2641487"/>
            <a:ext cx="1372676" cy="1647206"/>
            <a:chOff x="0" y="0"/>
            <a:chExt cx="1830235" cy="21962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30230" cy="2196276"/>
            </a:xfrm>
            <a:custGeom>
              <a:avLst/>
              <a:gdLst/>
              <a:ahLst/>
              <a:cxnLst/>
              <a:rect r="r" b="b" t="t" l="l"/>
              <a:pathLst>
                <a:path h="2196276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2196276"/>
                  </a:lnTo>
                  <a:lnTo>
                    <a:pt x="0" y="21962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830235" cy="2281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0448"/>
                </a:lnSpc>
              </a:pPr>
              <a:r>
                <a:rPr lang="en-US" sz="8706" b="true">
                  <a:solidFill>
                    <a:srgbClr val="5A9A9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72540" y="2710124"/>
            <a:ext cx="2728189" cy="1578569"/>
            <a:chOff x="0" y="0"/>
            <a:chExt cx="3637585" cy="21047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37582" cy="2104764"/>
            </a:xfrm>
            <a:custGeom>
              <a:avLst/>
              <a:gdLst/>
              <a:ahLst/>
              <a:cxnLst/>
              <a:rect r="r" b="b" t="t" l="l"/>
              <a:pathLst>
                <a:path h="2104764" w="3637582">
                  <a:moveTo>
                    <a:pt x="0" y="0"/>
                  </a:moveTo>
                  <a:lnTo>
                    <a:pt x="3637582" y="0"/>
                  </a:lnTo>
                  <a:lnTo>
                    <a:pt x="3637582" y="2104764"/>
                  </a:lnTo>
                  <a:lnTo>
                    <a:pt x="0" y="21047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4238" t="0" r="-2423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3637585" cy="2123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2"/>
                </a:lnSpc>
              </a:pPr>
              <a:r>
                <a:rPr lang="en-US" sz="315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Run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72540" y="4517569"/>
            <a:ext cx="2783091" cy="3131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6"/>
              </a:lnSpc>
            </a:pPr>
            <a:r>
              <a:rPr lang="en-US" sz="2176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 raw file through all four pipeline stages: clean, analyse, visualise, report with AI assistance at each one.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920415" y="2710124"/>
            <a:ext cx="3551787" cy="5696588"/>
            <a:chOff x="0" y="0"/>
            <a:chExt cx="4735716" cy="75954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35703" cy="7595488"/>
            </a:xfrm>
            <a:custGeom>
              <a:avLst/>
              <a:gdLst/>
              <a:ahLst/>
              <a:cxnLst/>
              <a:rect r="r" b="b" t="t" l="l"/>
              <a:pathLst>
                <a:path h="7595488" w="4735703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4570984" y="0"/>
                  </a:lnTo>
                  <a:cubicBezTo>
                    <a:pt x="4661916" y="0"/>
                    <a:pt x="4735703" y="73787"/>
                    <a:pt x="4735703" y="164719"/>
                  </a:cubicBezTo>
                  <a:lnTo>
                    <a:pt x="4735703" y="7430770"/>
                  </a:lnTo>
                  <a:cubicBezTo>
                    <a:pt x="4735703" y="7521701"/>
                    <a:pt x="4661916" y="7595488"/>
                    <a:pt x="4570984" y="7595488"/>
                  </a:cubicBezTo>
                  <a:lnTo>
                    <a:pt x="164719" y="7595488"/>
                  </a:lnTo>
                  <a:cubicBezTo>
                    <a:pt x="73787" y="7595489"/>
                    <a:pt x="0" y="7521702"/>
                    <a:pt x="0" y="74307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920415" y="2710124"/>
            <a:ext cx="3551787" cy="1578569"/>
            <a:chOff x="0" y="0"/>
            <a:chExt cx="4735716" cy="210475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35703" cy="2104771"/>
            </a:xfrm>
            <a:custGeom>
              <a:avLst/>
              <a:gdLst/>
              <a:ahLst/>
              <a:cxnLst/>
              <a:rect r="r" b="b" t="t" l="l"/>
              <a:pathLst>
                <a:path h="2104771" w="4735703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4570984" y="0"/>
                  </a:lnTo>
                  <a:cubicBezTo>
                    <a:pt x="4661916" y="0"/>
                    <a:pt x="4735703" y="73787"/>
                    <a:pt x="4735703" y="164719"/>
                  </a:cubicBezTo>
                  <a:lnTo>
                    <a:pt x="4735703" y="1940052"/>
                  </a:lnTo>
                  <a:cubicBezTo>
                    <a:pt x="4735703" y="2030984"/>
                    <a:pt x="4661916" y="2104771"/>
                    <a:pt x="4570984" y="2104771"/>
                  </a:cubicBezTo>
                  <a:lnTo>
                    <a:pt x="164719" y="2104771"/>
                  </a:lnTo>
                  <a:cubicBezTo>
                    <a:pt x="73787" y="2104771"/>
                    <a:pt x="0" y="2030984"/>
                    <a:pt x="0" y="1940052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920415" y="3396458"/>
            <a:ext cx="3551787" cy="892235"/>
            <a:chOff x="0" y="0"/>
            <a:chExt cx="4735716" cy="118964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35703" cy="1189609"/>
            </a:xfrm>
            <a:custGeom>
              <a:avLst/>
              <a:gdLst/>
              <a:ahLst/>
              <a:cxnLst/>
              <a:rect r="r" b="b" t="t" l="l"/>
              <a:pathLst>
                <a:path h="1189609" w="4735703">
                  <a:moveTo>
                    <a:pt x="0" y="0"/>
                  </a:moveTo>
                  <a:lnTo>
                    <a:pt x="4735703" y="0"/>
                  </a:lnTo>
                  <a:lnTo>
                    <a:pt x="4735703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030898" y="2641487"/>
            <a:ext cx="1372676" cy="1647206"/>
            <a:chOff x="0" y="0"/>
            <a:chExt cx="1830235" cy="219627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30230" cy="2196276"/>
            </a:xfrm>
            <a:custGeom>
              <a:avLst/>
              <a:gdLst/>
              <a:ahLst/>
              <a:cxnLst/>
              <a:rect r="r" b="b" t="t" l="l"/>
              <a:pathLst>
                <a:path h="2196276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2196276"/>
                  </a:lnTo>
                  <a:lnTo>
                    <a:pt x="0" y="21962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1830235" cy="2281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0448"/>
                </a:lnSpc>
              </a:pPr>
              <a:r>
                <a:rPr lang="en-US" sz="8706" b="true">
                  <a:solidFill>
                    <a:srgbClr val="5A9A9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304768" y="2710124"/>
            <a:ext cx="2728189" cy="1578569"/>
            <a:chOff x="0" y="0"/>
            <a:chExt cx="3637585" cy="210475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37582" cy="2104764"/>
            </a:xfrm>
            <a:custGeom>
              <a:avLst/>
              <a:gdLst/>
              <a:ahLst/>
              <a:cxnLst/>
              <a:rect r="r" b="b" t="t" l="l"/>
              <a:pathLst>
                <a:path h="2104764" w="3637582">
                  <a:moveTo>
                    <a:pt x="0" y="0"/>
                  </a:moveTo>
                  <a:lnTo>
                    <a:pt x="3637582" y="0"/>
                  </a:lnTo>
                  <a:lnTo>
                    <a:pt x="3637582" y="2104764"/>
                  </a:lnTo>
                  <a:lnTo>
                    <a:pt x="0" y="21047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4238" t="0" r="-24238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3637585" cy="2123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2"/>
                </a:lnSpc>
              </a:pPr>
              <a:r>
                <a:rPr lang="en-US" sz="315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Apply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5304768" y="4517569"/>
            <a:ext cx="2783091" cy="268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6"/>
              </a:lnSpc>
            </a:pPr>
            <a:r>
              <a:rPr lang="en-US" sz="2176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the verification checklist to any AI produced number, chart or claim before it goes in a report.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952643" y="2710124"/>
            <a:ext cx="3551787" cy="5696588"/>
            <a:chOff x="0" y="0"/>
            <a:chExt cx="4735716" cy="759545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35703" cy="7595488"/>
            </a:xfrm>
            <a:custGeom>
              <a:avLst/>
              <a:gdLst/>
              <a:ahLst/>
              <a:cxnLst/>
              <a:rect r="r" b="b" t="t" l="l"/>
              <a:pathLst>
                <a:path h="7595488" w="4735703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4570984" y="0"/>
                  </a:lnTo>
                  <a:cubicBezTo>
                    <a:pt x="4661916" y="0"/>
                    <a:pt x="4735703" y="73787"/>
                    <a:pt x="4735703" y="164719"/>
                  </a:cubicBezTo>
                  <a:lnTo>
                    <a:pt x="4735703" y="7430770"/>
                  </a:lnTo>
                  <a:cubicBezTo>
                    <a:pt x="4735703" y="7521701"/>
                    <a:pt x="4661916" y="7595488"/>
                    <a:pt x="4570984" y="7595488"/>
                  </a:cubicBezTo>
                  <a:lnTo>
                    <a:pt x="164719" y="7595488"/>
                  </a:lnTo>
                  <a:cubicBezTo>
                    <a:pt x="73787" y="7595489"/>
                    <a:pt x="0" y="7521702"/>
                    <a:pt x="0" y="74307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952643" y="2710124"/>
            <a:ext cx="3551787" cy="1578569"/>
            <a:chOff x="0" y="0"/>
            <a:chExt cx="4735716" cy="210475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35703" cy="2104771"/>
            </a:xfrm>
            <a:custGeom>
              <a:avLst/>
              <a:gdLst/>
              <a:ahLst/>
              <a:cxnLst/>
              <a:rect r="r" b="b" t="t" l="l"/>
              <a:pathLst>
                <a:path h="2104771" w="4735703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4570984" y="0"/>
                  </a:lnTo>
                  <a:cubicBezTo>
                    <a:pt x="4661916" y="0"/>
                    <a:pt x="4735703" y="73787"/>
                    <a:pt x="4735703" y="164719"/>
                  </a:cubicBezTo>
                  <a:lnTo>
                    <a:pt x="4735703" y="1940052"/>
                  </a:lnTo>
                  <a:cubicBezTo>
                    <a:pt x="4735703" y="2030984"/>
                    <a:pt x="4661916" y="2104771"/>
                    <a:pt x="4570984" y="2104771"/>
                  </a:cubicBezTo>
                  <a:lnTo>
                    <a:pt x="164719" y="2104771"/>
                  </a:lnTo>
                  <a:cubicBezTo>
                    <a:pt x="73787" y="2104771"/>
                    <a:pt x="0" y="2030984"/>
                    <a:pt x="0" y="1940052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952643" y="3396458"/>
            <a:ext cx="3551787" cy="892235"/>
            <a:chOff x="0" y="0"/>
            <a:chExt cx="4735716" cy="118964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735703" cy="1189609"/>
            </a:xfrm>
            <a:custGeom>
              <a:avLst/>
              <a:gdLst/>
              <a:ahLst/>
              <a:cxnLst/>
              <a:rect r="r" b="b" t="t" l="l"/>
              <a:pathLst>
                <a:path h="1189609" w="4735703">
                  <a:moveTo>
                    <a:pt x="0" y="0"/>
                  </a:moveTo>
                  <a:lnTo>
                    <a:pt x="4735703" y="0"/>
                  </a:lnTo>
                  <a:lnTo>
                    <a:pt x="4735703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063126" y="2641487"/>
            <a:ext cx="1372676" cy="1647206"/>
            <a:chOff x="0" y="0"/>
            <a:chExt cx="1830235" cy="219627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30230" cy="2196276"/>
            </a:xfrm>
            <a:custGeom>
              <a:avLst/>
              <a:gdLst/>
              <a:ahLst/>
              <a:cxnLst/>
              <a:rect r="r" b="b" t="t" l="l"/>
              <a:pathLst>
                <a:path h="2196276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2196276"/>
                  </a:lnTo>
                  <a:lnTo>
                    <a:pt x="0" y="21962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85725"/>
              <a:ext cx="1830235" cy="2281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0448"/>
                </a:lnSpc>
              </a:pPr>
              <a:r>
                <a:rPr lang="en-US" sz="8706" b="true">
                  <a:solidFill>
                    <a:srgbClr val="5A9A9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336986" y="2710124"/>
            <a:ext cx="2728189" cy="1578569"/>
            <a:chOff x="0" y="0"/>
            <a:chExt cx="3637585" cy="210475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37582" cy="2104764"/>
            </a:xfrm>
            <a:custGeom>
              <a:avLst/>
              <a:gdLst/>
              <a:ahLst/>
              <a:cxnLst/>
              <a:rect r="r" b="b" t="t" l="l"/>
              <a:pathLst>
                <a:path h="2104764" w="3637582">
                  <a:moveTo>
                    <a:pt x="0" y="0"/>
                  </a:moveTo>
                  <a:lnTo>
                    <a:pt x="3637582" y="0"/>
                  </a:lnTo>
                  <a:lnTo>
                    <a:pt x="3637582" y="2104764"/>
                  </a:lnTo>
                  <a:lnTo>
                    <a:pt x="0" y="21047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4238" t="0" r="-24238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3637585" cy="2123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2"/>
                </a:lnSpc>
              </a:pPr>
              <a:r>
                <a:rPr lang="en-US" sz="315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Explain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336986" y="4517569"/>
            <a:ext cx="2783091" cy="178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6"/>
              </a:lnSpc>
            </a:pPr>
            <a:r>
              <a:rPr lang="en-US" sz="2176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predict then run as it applies to pipeline output, not just individual formulas.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2984871" y="2710124"/>
            <a:ext cx="3551787" cy="5696588"/>
            <a:chOff x="0" y="0"/>
            <a:chExt cx="4735716" cy="759545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735703" cy="7595488"/>
            </a:xfrm>
            <a:custGeom>
              <a:avLst/>
              <a:gdLst/>
              <a:ahLst/>
              <a:cxnLst/>
              <a:rect r="r" b="b" t="t" l="l"/>
              <a:pathLst>
                <a:path h="7595488" w="4735703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4570984" y="0"/>
                  </a:lnTo>
                  <a:cubicBezTo>
                    <a:pt x="4661916" y="0"/>
                    <a:pt x="4735703" y="73787"/>
                    <a:pt x="4735703" y="164719"/>
                  </a:cubicBezTo>
                  <a:lnTo>
                    <a:pt x="4735703" y="7430770"/>
                  </a:lnTo>
                  <a:cubicBezTo>
                    <a:pt x="4735703" y="7521701"/>
                    <a:pt x="4661916" y="7595488"/>
                    <a:pt x="4570984" y="7595488"/>
                  </a:cubicBezTo>
                  <a:lnTo>
                    <a:pt x="164719" y="7595488"/>
                  </a:lnTo>
                  <a:cubicBezTo>
                    <a:pt x="73787" y="7595489"/>
                    <a:pt x="0" y="7521702"/>
                    <a:pt x="0" y="74307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984871" y="2710124"/>
            <a:ext cx="3551787" cy="1578569"/>
            <a:chOff x="0" y="0"/>
            <a:chExt cx="4735716" cy="210475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735703" cy="2104771"/>
            </a:xfrm>
            <a:custGeom>
              <a:avLst/>
              <a:gdLst/>
              <a:ahLst/>
              <a:cxnLst/>
              <a:rect r="r" b="b" t="t" l="l"/>
              <a:pathLst>
                <a:path h="2104771" w="4735703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4570984" y="0"/>
                  </a:lnTo>
                  <a:cubicBezTo>
                    <a:pt x="4661916" y="0"/>
                    <a:pt x="4735703" y="73787"/>
                    <a:pt x="4735703" y="164719"/>
                  </a:cubicBezTo>
                  <a:lnTo>
                    <a:pt x="4735703" y="1940052"/>
                  </a:lnTo>
                  <a:cubicBezTo>
                    <a:pt x="4735703" y="2030984"/>
                    <a:pt x="4661916" y="2104771"/>
                    <a:pt x="4570984" y="2104771"/>
                  </a:cubicBezTo>
                  <a:lnTo>
                    <a:pt x="164719" y="2104771"/>
                  </a:lnTo>
                  <a:cubicBezTo>
                    <a:pt x="73787" y="2104771"/>
                    <a:pt x="0" y="2030984"/>
                    <a:pt x="0" y="1940052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984871" y="3396458"/>
            <a:ext cx="3551787" cy="892235"/>
            <a:chOff x="0" y="0"/>
            <a:chExt cx="4735716" cy="118964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735703" cy="1189609"/>
            </a:xfrm>
            <a:custGeom>
              <a:avLst/>
              <a:gdLst/>
              <a:ahLst/>
              <a:cxnLst/>
              <a:rect r="r" b="b" t="t" l="l"/>
              <a:pathLst>
                <a:path h="1189609" w="4735703">
                  <a:moveTo>
                    <a:pt x="0" y="0"/>
                  </a:moveTo>
                  <a:lnTo>
                    <a:pt x="4735703" y="0"/>
                  </a:lnTo>
                  <a:lnTo>
                    <a:pt x="4735703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5095353" y="2641487"/>
            <a:ext cx="1372676" cy="1647206"/>
            <a:chOff x="0" y="0"/>
            <a:chExt cx="1830235" cy="219627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230" cy="2196276"/>
            </a:xfrm>
            <a:custGeom>
              <a:avLst/>
              <a:gdLst/>
              <a:ahLst/>
              <a:cxnLst/>
              <a:rect r="r" b="b" t="t" l="l"/>
              <a:pathLst>
                <a:path h="2196276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2196276"/>
                  </a:lnTo>
                  <a:lnTo>
                    <a:pt x="0" y="21962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85725"/>
              <a:ext cx="1830235" cy="2281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0448"/>
                </a:lnSpc>
              </a:pPr>
              <a:r>
                <a:rPr lang="en-US" sz="8706" b="true">
                  <a:solidFill>
                    <a:srgbClr val="5A9A9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369214" y="2710124"/>
            <a:ext cx="2728189" cy="1578569"/>
            <a:chOff x="0" y="0"/>
            <a:chExt cx="3637585" cy="210475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637582" cy="2104764"/>
            </a:xfrm>
            <a:custGeom>
              <a:avLst/>
              <a:gdLst/>
              <a:ahLst/>
              <a:cxnLst/>
              <a:rect r="r" b="b" t="t" l="l"/>
              <a:pathLst>
                <a:path h="2104764" w="3637582">
                  <a:moveTo>
                    <a:pt x="0" y="0"/>
                  </a:moveTo>
                  <a:lnTo>
                    <a:pt x="3637582" y="0"/>
                  </a:lnTo>
                  <a:lnTo>
                    <a:pt x="3637582" y="2104764"/>
                  </a:lnTo>
                  <a:lnTo>
                    <a:pt x="0" y="21047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4238" t="0" r="-24238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3637585" cy="2123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2"/>
                </a:lnSpc>
              </a:pPr>
              <a:r>
                <a:rPr lang="en-US" sz="315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Start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3369214" y="4517569"/>
            <a:ext cx="2783091" cy="354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6"/>
              </a:lnSpc>
            </a:pPr>
            <a:r>
              <a:rPr lang="en-US" sz="2176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your own pipeline lab run on swiftroute_q3_raw.xlsx, with the first cleaning pass verified.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051252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Before we go further, name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these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27839" y="1476375"/>
            <a:ext cx="14413059" cy="549069"/>
            <a:chOff x="0" y="0"/>
            <a:chExt cx="19217411" cy="7320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217413" cy="732092"/>
            </a:xfrm>
            <a:custGeom>
              <a:avLst/>
              <a:gdLst/>
              <a:ahLst/>
              <a:cxnLst/>
              <a:rect r="r" b="b" t="t" l="l"/>
              <a:pathLst>
                <a:path h="732092" w="19217413">
                  <a:moveTo>
                    <a:pt x="0" y="0"/>
                  </a:moveTo>
                  <a:lnTo>
                    <a:pt x="19217413" y="0"/>
                  </a:lnTo>
                  <a:lnTo>
                    <a:pt x="1921741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9217411" cy="760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i="true">
                  <a:solidFill>
                    <a:srgbClr val="64748B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Answer out loud or on paper - no notes. 90 seconds.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9500" y="2813980"/>
            <a:ext cx="15648470" cy="1372676"/>
            <a:chOff x="0" y="0"/>
            <a:chExt cx="20864627" cy="18302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864576" cy="1830197"/>
            </a:xfrm>
            <a:custGeom>
              <a:avLst/>
              <a:gdLst/>
              <a:ahLst/>
              <a:cxnLst/>
              <a:rect r="r" b="b" t="t" l="l"/>
              <a:pathLst>
                <a:path h="1830197" w="2086457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20699857" y="0"/>
                  </a:lnTo>
                  <a:cubicBezTo>
                    <a:pt x="20790790" y="0"/>
                    <a:pt x="20864576" y="73787"/>
                    <a:pt x="20864576" y="164719"/>
                  </a:cubicBezTo>
                  <a:lnTo>
                    <a:pt x="20864576" y="1665478"/>
                  </a:lnTo>
                  <a:cubicBezTo>
                    <a:pt x="20864576" y="1756410"/>
                    <a:pt x="20790790" y="1830197"/>
                    <a:pt x="20699857" y="1830197"/>
                  </a:cubicBezTo>
                  <a:lnTo>
                    <a:pt x="164719" y="1830197"/>
                  </a:lnTo>
                  <a:cubicBezTo>
                    <a:pt x="73787" y="1830197"/>
                    <a:pt x="0" y="1756537"/>
                    <a:pt x="0" y="16654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1304" y="3157147"/>
            <a:ext cx="686333" cy="686333"/>
            <a:chOff x="0" y="0"/>
            <a:chExt cx="915111" cy="9151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5162" cy="915162"/>
            </a:xfrm>
            <a:custGeom>
              <a:avLst/>
              <a:gdLst/>
              <a:ahLst/>
              <a:cxnLst/>
              <a:rect r="r" b="b" t="t" l="l"/>
              <a:pathLst>
                <a:path h="915162" w="91516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162" y="204851"/>
                    <a:pt x="915162" y="457581"/>
                  </a:cubicBezTo>
                  <a:cubicBezTo>
                    <a:pt x="915162" y="710311"/>
                    <a:pt x="710311" y="915162"/>
                    <a:pt x="457581" y="915162"/>
                  </a:cubicBez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41304" y="3157147"/>
            <a:ext cx="686333" cy="686333"/>
            <a:chOff x="0" y="0"/>
            <a:chExt cx="915111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5115" cy="915115"/>
            </a:xfrm>
            <a:custGeom>
              <a:avLst/>
              <a:gdLst/>
              <a:ahLst/>
              <a:cxnLst/>
              <a:rect r="r" b="b" t="t" l="l"/>
              <a:pathLst>
                <a:path h="915115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5111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470814" y="2813980"/>
            <a:ext cx="14001255" cy="1372676"/>
            <a:chOff x="0" y="0"/>
            <a:chExt cx="18668340" cy="183023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668344" cy="1830230"/>
            </a:xfrm>
            <a:custGeom>
              <a:avLst/>
              <a:gdLst/>
              <a:ahLst/>
              <a:cxnLst/>
              <a:rect r="r" b="b" t="t" l="l"/>
              <a:pathLst>
                <a:path h="1830230" w="18668344">
                  <a:moveTo>
                    <a:pt x="0" y="0"/>
                  </a:moveTo>
                  <a:lnTo>
                    <a:pt x="18668344" y="0"/>
                  </a:lnTo>
                  <a:lnTo>
                    <a:pt x="18668344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48747" r="0" b="-14874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18668340" cy="1915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4"/>
                </a:lnSpc>
              </a:pPr>
              <a:r>
                <a:rPr lang="en-US" sz="2551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In a star schema, what's the difference between a fact table and a dimension table? Give SwiftRoute examples of each.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9500" y="4392549"/>
            <a:ext cx="15648470" cy="1372676"/>
            <a:chOff x="0" y="0"/>
            <a:chExt cx="20864627" cy="183023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864576" cy="1830197"/>
            </a:xfrm>
            <a:custGeom>
              <a:avLst/>
              <a:gdLst/>
              <a:ahLst/>
              <a:cxnLst/>
              <a:rect r="r" b="b" t="t" l="l"/>
              <a:pathLst>
                <a:path h="1830197" w="2086457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20699857" y="0"/>
                  </a:lnTo>
                  <a:cubicBezTo>
                    <a:pt x="20790790" y="0"/>
                    <a:pt x="20864576" y="73787"/>
                    <a:pt x="20864576" y="164719"/>
                  </a:cubicBezTo>
                  <a:lnTo>
                    <a:pt x="20864576" y="1665478"/>
                  </a:lnTo>
                  <a:cubicBezTo>
                    <a:pt x="20864576" y="1756410"/>
                    <a:pt x="20790790" y="1830197"/>
                    <a:pt x="20699857" y="1830197"/>
                  </a:cubicBezTo>
                  <a:lnTo>
                    <a:pt x="164719" y="1830197"/>
                  </a:lnTo>
                  <a:cubicBezTo>
                    <a:pt x="73787" y="1830197"/>
                    <a:pt x="0" y="1756537"/>
                    <a:pt x="0" y="16654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41304" y="4735716"/>
            <a:ext cx="686333" cy="686333"/>
            <a:chOff x="0" y="0"/>
            <a:chExt cx="915111" cy="9151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5162" cy="915162"/>
            </a:xfrm>
            <a:custGeom>
              <a:avLst/>
              <a:gdLst/>
              <a:ahLst/>
              <a:cxnLst/>
              <a:rect r="r" b="b" t="t" l="l"/>
              <a:pathLst>
                <a:path h="915162" w="91516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162" y="204851"/>
                    <a:pt x="915162" y="457581"/>
                  </a:cubicBezTo>
                  <a:cubicBezTo>
                    <a:pt x="915162" y="710311"/>
                    <a:pt x="710311" y="915162"/>
                    <a:pt x="457581" y="915162"/>
                  </a:cubicBez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41304" y="4735716"/>
            <a:ext cx="686333" cy="686333"/>
            <a:chOff x="0" y="0"/>
            <a:chExt cx="915111" cy="91511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5115" cy="915115"/>
            </a:xfrm>
            <a:custGeom>
              <a:avLst/>
              <a:gdLst/>
              <a:ahLst/>
              <a:cxnLst/>
              <a:rect r="r" b="b" t="t" l="l"/>
              <a:pathLst>
                <a:path h="915115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15111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470814" y="4392549"/>
            <a:ext cx="14001255" cy="1372676"/>
            <a:chOff x="0" y="0"/>
            <a:chExt cx="18668340" cy="183023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668344" cy="1830230"/>
            </a:xfrm>
            <a:custGeom>
              <a:avLst/>
              <a:gdLst/>
              <a:ahLst/>
              <a:cxnLst/>
              <a:rect r="r" b="b" t="t" l="l"/>
              <a:pathLst>
                <a:path h="1830230" w="18668344">
                  <a:moveTo>
                    <a:pt x="0" y="0"/>
                  </a:moveTo>
                  <a:lnTo>
                    <a:pt x="18668344" y="0"/>
                  </a:lnTo>
                  <a:lnTo>
                    <a:pt x="18668344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48747" r="0" b="-14874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85725"/>
              <a:ext cx="18668340" cy="1915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4"/>
                </a:lnSpc>
              </a:pPr>
              <a:r>
                <a:rPr lang="en-US" sz="2551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What does "predict-then-run" mean, and why did we insist on it in Module 7?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9500" y="5971127"/>
            <a:ext cx="15648470" cy="1372676"/>
            <a:chOff x="0" y="0"/>
            <a:chExt cx="20864627" cy="183023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864576" cy="1830197"/>
            </a:xfrm>
            <a:custGeom>
              <a:avLst/>
              <a:gdLst/>
              <a:ahLst/>
              <a:cxnLst/>
              <a:rect r="r" b="b" t="t" l="l"/>
              <a:pathLst>
                <a:path h="1830197" w="2086457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20699857" y="0"/>
                  </a:lnTo>
                  <a:cubicBezTo>
                    <a:pt x="20790790" y="0"/>
                    <a:pt x="20864576" y="73787"/>
                    <a:pt x="20864576" y="164719"/>
                  </a:cubicBezTo>
                  <a:lnTo>
                    <a:pt x="20864576" y="1665478"/>
                  </a:lnTo>
                  <a:cubicBezTo>
                    <a:pt x="20864576" y="1756410"/>
                    <a:pt x="20790790" y="1830197"/>
                    <a:pt x="20699857" y="1830197"/>
                  </a:cubicBezTo>
                  <a:lnTo>
                    <a:pt x="164719" y="1830197"/>
                  </a:lnTo>
                  <a:cubicBezTo>
                    <a:pt x="73787" y="1830197"/>
                    <a:pt x="0" y="1756537"/>
                    <a:pt x="0" y="16654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41304" y="6314294"/>
            <a:ext cx="686333" cy="686333"/>
            <a:chOff x="0" y="0"/>
            <a:chExt cx="915111" cy="91511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5162" cy="915162"/>
            </a:xfrm>
            <a:custGeom>
              <a:avLst/>
              <a:gdLst/>
              <a:ahLst/>
              <a:cxnLst/>
              <a:rect r="r" b="b" t="t" l="l"/>
              <a:pathLst>
                <a:path h="915162" w="91516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162" y="204851"/>
                    <a:pt x="915162" y="457581"/>
                  </a:cubicBezTo>
                  <a:cubicBezTo>
                    <a:pt x="915162" y="710311"/>
                    <a:pt x="710311" y="915162"/>
                    <a:pt x="457581" y="915162"/>
                  </a:cubicBez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41304" y="6314294"/>
            <a:ext cx="686333" cy="686333"/>
            <a:chOff x="0" y="0"/>
            <a:chExt cx="915111" cy="9151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5115" cy="915115"/>
            </a:xfrm>
            <a:custGeom>
              <a:avLst/>
              <a:gdLst/>
              <a:ahLst/>
              <a:cxnLst/>
              <a:rect r="r" b="b" t="t" l="l"/>
              <a:pathLst>
                <a:path h="915115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2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15111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470814" y="5971127"/>
            <a:ext cx="14001255" cy="1372676"/>
            <a:chOff x="0" y="0"/>
            <a:chExt cx="18668340" cy="183023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668344" cy="1830230"/>
            </a:xfrm>
            <a:custGeom>
              <a:avLst/>
              <a:gdLst/>
              <a:ahLst/>
              <a:cxnLst/>
              <a:rect r="r" b="b" t="t" l="l"/>
              <a:pathLst>
                <a:path h="1830230" w="18668344">
                  <a:moveTo>
                    <a:pt x="0" y="0"/>
                  </a:moveTo>
                  <a:lnTo>
                    <a:pt x="18668344" y="0"/>
                  </a:lnTo>
                  <a:lnTo>
                    <a:pt x="18668344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48747" r="0" b="-14874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18668340" cy="1915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74"/>
                </a:lnSpc>
              </a:pPr>
              <a:r>
                <a:rPr lang="en-US" sz="2551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Name one thing Gemini got wrong when we tried AI-built slides in Topic 7.1 - and what we changed because of it.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099392" y="686333"/>
            <a:ext cx="1853108" cy="686333"/>
            <a:chOff x="0" y="0"/>
            <a:chExt cx="2470810" cy="9151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70912" cy="915162"/>
            </a:xfrm>
            <a:custGeom>
              <a:avLst/>
              <a:gdLst/>
              <a:ahLst/>
              <a:cxnLst/>
              <a:rect r="r" b="b" t="t" l="l"/>
              <a:pathLst>
                <a:path h="915162" w="247091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2013331" y="0"/>
                  </a:lnTo>
                  <a:cubicBezTo>
                    <a:pt x="2266061" y="0"/>
                    <a:pt x="2470912" y="204851"/>
                    <a:pt x="2470912" y="457581"/>
                  </a:cubicBezTo>
                  <a:cubicBezTo>
                    <a:pt x="2470912" y="710311"/>
                    <a:pt x="2266061" y="915162"/>
                    <a:pt x="2013331" y="915162"/>
                  </a:cubicBezTo>
                  <a:lnTo>
                    <a:pt x="457581" y="915162"/>
                  </a:ln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099392" y="686333"/>
            <a:ext cx="1853108" cy="686333"/>
            <a:chOff x="0" y="0"/>
            <a:chExt cx="2470810" cy="91511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70810" cy="915115"/>
            </a:xfrm>
            <a:custGeom>
              <a:avLst/>
              <a:gdLst/>
              <a:ahLst/>
              <a:cxnLst/>
              <a:rect r="r" b="b" t="t" l="l"/>
              <a:pathLst>
                <a:path h="915115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609" r="0" b="-260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470810" cy="934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90 SEC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43000" y="762000"/>
            <a:ext cx="1128077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Adaeze's Monday morning problem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2538" y="2597155"/>
            <a:ext cx="11623265" cy="2059009"/>
            <a:chOff x="0" y="0"/>
            <a:chExt cx="15497687" cy="27453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497688" cy="2745343"/>
            </a:xfrm>
            <a:custGeom>
              <a:avLst/>
              <a:gdLst/>
              <a:ahLst/>
              <a:cxnLst/>
              <a:rect r="r" b="b" t="t" l="l"/>
              <a:pathLst>
                <a:path h="2745343" w="15497688">
                  <a:moveTo>
                    <a:pt x="0" y="0"/>
                  </a:moveTo>
                  <a:lnTo>
                    <a:pt x="15497688" y="0"/>
                  </a:lnTo>
                  <a:lnTo>
                    <a:pt x="15497688" y="2745343"/>
                  </a:lnTo>
                  <a:lnTo>
                    <a:pt x="0" y="27453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126" r="12608" b="-4612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52400"/>
              <a:ext cx="15497687" cy="2897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44"/>
                </a:lnSpc>
              </a:pPr>
              <a:r>
                <a:rPr lang="en-US" sz="3051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It's the Monday after quarter close. Adaeze Nwosu opens SwiftRoute's raw Q3 export: three sheets, thousands of rows, one quarter of deliveries, fuel spend and complaints.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2538" y="4931189"/>
            <a:ext cx="11623265" cy="2020592"/>
            <a:chOff x="0" y="0"/>
            <a:chExt cx="15497687" cy="26941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497688" cy="2694122"/>
            </a:xfrm>
            <a:custGeom>
              <a:avLst/>
              <a:gdLst/>
              <a:ahLst/>
              <a:cxnLst/>
              <a:rect r="r" b="b" t="t" l="l"/>
              <a:pathLst>
                <a:path h="2694122" w="15497688">
                  <a:moveTo>
                    <a:pt x="0" y="0"/>
                  </a:moveTo>
                  <a:lnTo>
                    <a:pt x="15497688" y="0"/>
                  </a:lnTo>
                  <a:lnTo>
                    <a:pt x="15497688" y="2694122"/>
                  </a:lnTo>
                  <a:lnTo>
                    <a:pt x="0" y="269412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7003" r="12608" b="-4890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52400"/>
              <a:ext cx="15497687" cy="28465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44"/>
                </a:lnSpc>
              </a:pPr>
              <a:r>
                <a:rPr lang="en-US" sz="3051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Dates written five ways. Fees stored as text. "peace etim" and "PEACE ETIM " look like two different riders to a computer. At least one delivery is logged twice.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1550" y="6657484"/>
            <a:ext cx="11623265" cy="2059009"/>
            <a:chOff x="0" y="0"/>
            <a:chExt cx="15497687" cy="27453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497688" cy="2745343"/>
            </a:xfrm>
            <a:custGeom>
              <a:avLst/>
              <a:gdLst/>
              <a:ahLst/>
              <a:cxnLst/>
              <a:rect r="r" b="b" t="t" l="l"/>
              <a:pathLst>
                <a:path h="2745343" w="15497688">
                  <a:moveTo>
                    <a:pt x="0" y="0"/>
                  </a:moveTo>
                  <a:lnTo>
                    <a:pt x="15497688" y="0"/>
                  </a:lnTo>
                  <a:lnTo>
                    <a:pt x="15497688" y="2745343"/>
                  </a:lnTo>
                  <a:lnTo>
                    <a:pt x="0" y="27453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126" r="12608" b="-4612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52400"/>
              <a:ext cx="15497687" cy="2897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44"/>
                </a:lnSpc>
              </a:pPr>
              <a:r>
                <a:rPr lang="en-US" sz="3051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The board wants a verified one-pager by Wednesday. This is the file you're about to open.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011627" y="8706968"/>
            <a:ext cx="11645087" cy="19005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022538" y="8922372"/>
            <a:ext cx="11623265" cy="1038451"/>
            <a:chOff x="0" y="0"/>
            <a:chExt cx="15497687" cy="13846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497688" cy="1384600"/>
            </a:xfrm>
            <a:custGeom>
              <a:avLst/>
              <a:gdLst/>
              <a:ahLst/>
              <a:cxnLst/>
              <a:rect r="r" b="b" t="t" l="l"/>
              <a:pathLst>
                <a:path h="1384600" w="15497688">
                  <a:moveTo>
                    <a:pt x="0" y="0"/>
                  </a:moveTo>
                  <a:lnTo>
                    <a:pt x="15497688" y="0"/>
                  </a:lnTo>
                  <a:lnTo>
                    <a:pt x="15497688" y="1384600"/>
                  </a:lnTo>
                  <a:lnTo>
                    <a:pt x="0" y="1384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4245" r="12608" b="-12694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5497687" cy="14512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3"/>
                </a:lnSpc>
              </a:pPr>
              <a:r>
                <a:rPr lang="en-US" sz="2451" i="true">
                  <a:solidFill>
                    <a:srgbClr val="64748B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SwiftRoute Logistics - the same fictional company from Module 7, continuous story, new raw extract.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951503" y="0"/>
            <a:ext cx="5346222" cy="10295039"/>
            <a:chOff x="0" y="0"/>
            <a:chExt cx="7128295" cy="137267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2826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7128264">
                  <a:moveTo>
                    <a:pt x="0" y="0"/>
                  </a:moveTo>
                  <a:lnTo>
                    <a:pt x="7128264" y="0"/>
                  </a:lnTo>
                  <a:lnTo>
                    <a:pt x="712826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494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015302" y="2736133"/>
            <a:ext cx="5123022" cy="2763762"/>
            <a:chOff x="0" y="0"/>
            <a:chExt cx="6830696" cy="368501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30695" cy="3685022"/>
            </a:xfrm>
            <a:custGeom>
              <a:avLst/>
              <a:gdLst/>
              <a:ahLst/>
              <a:cxnLst/>
              <a:rect r="r" b="b" t="t" l="l"/>
              <a:pathLst>
                <a:path h="3685022" w="6830695">
                  <a:moveTo>
                    <a:pt x="0" y="0"/>
                  </a:moveTo>
                  <a:lnTo>
                    <a:pt x="6830695" y="0"/>
                  </a:lnTo>
                  <a:lnTo>
                    <a:pt x="6830695" y="3685022"/>
                  </a:lnTo>
                  <a:lnTo>
                    <a:pt x="0" y="368502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00" r="-23253" b="1326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6830696" cy="3751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806"/>
                </a:lnSpc>
              </a:pPr>
              <a:r>
                <a:rPr lang="en-US" sz="650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Every</a:t>
              </a:r>
            </a:p>
            <a:p>
              <a:pPr algn="ctr">
                <a:lnSpc>
                  <a:spcPts val="7806"/>
                </a:lnSpc>
              </a:pPr>
              <a:r>
                <a:rPr lang="en-US" sz="650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morning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3015302" y="5422061"/>
            <a:ext cx="5103972" cy="1372672"/>
            <a:chOff x="0" y="0"/>
            <a:chExt cx="6805296" cy="183023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05295" cy="1830225"/>
            </a:xfrm>
            <a:custGeom>
              <a:avLst/>
              <a:gdLst/>
              <a:ahLst/>
              <a:cxnLst/>
              <a:rect r="r" b="b" t="t" l="l"/>
              <a:pathLst>
                <a:path h="1830225" w="6805295">
                  <a:moveTo>
                    <a:pt x="0" y="0"/>
                  </a:moveTo>
                  <a:lnTo>
                    <a:pt x="6805295" y="0"/>
                  </a:lnTo>
                  <a:lnTo>
                    <a:pt x="6805295" y="1830225"/>
                  </a:lnTo>
                  <a:lnTo>
                    <a:pt x="0" y="183022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9631" r="-23713" b="-396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14300"/>
              <a:ext cx="6805296" cy="1944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81"/>
                </a:lnSpc>
              </a:pPr>
              <a:r>
                <a:rPr lang="en-US" sz="2551">
                  <a:solidFill>
                    <a:srgbClr val="B9D3D3"/>
                  </a:solidFill>
                  <a:latin typeface="Poppins"/>
                  <a:ea typeface="Poppins"/>
                  <a:cs typeface="Poppins"/>
                  <a:sym typeface="Poppins"/>
                </a:rPr>
                <a:t>before the riders leave,</a:t>
              </a:r>
            </a:p>
            <a:p>
              <a:pPr algn="ctr">
                <a:lnSpc>
                  <a:spcPts val="3981"/>
                </a:lnSpc>
              </a:pPr>
              <a:r>
                <a:rPr lang="en-US" sz="2551">
                  <a:solidFill>
                    <a:srgbClr val="B9D3D3"/>
                  </a:solidFill>
                  <a:latin typeface="Poppins"/>
                  <a:ea typeface="Poppins"/>
                  <a:cs typeface="Poppins"/>
                  <a:sym typeface="Poppins"/>
                </a:rPr>
                <a:t>she opens one screen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494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1059" y="480431"/>
            <a:ext cx="4392549" cy="2882608"/>
            <a:chOff x="0" y="0"/>
            <a:chExt cx="5856732" cy="38434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6736" cy="3843483"/>
            </a:xfrm>
            <a:custGeom>
              <a:avLst/>
              <a:gdLst/>
              <a:ahLst/>
              <a:cxnLst/>
              <a:rect r="r" b="b" t="t" l="l"/>
              <a:pathLst>
                <a:path h="3843483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3843483"/>
                  </a:lnTo>
                  <a:lnTo>
                    <a:pt x="0" y="38434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199" t="0" r="-34199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0"/>
              <a:ext cx="5856732" cy="4033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8"/>
                </a:lnSpc>
              </a:pPr>
              <a:r>
                <a:rPr lang="en-US" sz="19515" b="true">
                  <a:solidFill>
                    <a:srgbClr val="2F63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0686" y="3733667"/>
            <a:ext cx="10157774" cy="466706"/>
            <a:chOff x="0" y="0"/>
            <a:chExt cx="13543699" cy="6222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543700" cy="622278"/>
            </a:xfrm>
            <a:custGeom>
              <a:avLst/>
              <a:gdLst/>
              <a:ahLst/>
              <a:cxnLst/>
              <a:rect r="r" b="b" t="t" l="l"/>
              <a:pathLst>
                <a:path h="622278" w="13543700">
                  <a:moveTo>
                    <a:pt x="0" y="0"/>
                  </a:moveTo>
                  <a:lnTo>
                    <a:pt x="13543700" y="0"/>
                  </a:lnTo>
                  <a:lnTo>
                    <a:pt x="13543700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4086" r="0" b="-37408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3543699" cy="641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b="true" sz="1951" spc="375">
                  <a:solidFill>
                    <a:srgbClr val="8FBEB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PART ONE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0686" y="4365098"/>
            <a:ext cx="1853108" cy="116681"/>
            <a:chOff x="0" y="0"/>
            <a:chExt cx="2470810" cy="1555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70785" cy="155575"/>
            </a:xfrm>
            <a:custGeom>
              <a:avLst/>
              <a:gdLst/>
              <a:ahLst/>
              <a:cxnLst/>
              <a:rect r="r" b="b" t="t" l="l"/>
              <a:pathLst>
                <a:path h="155575" w="2470785">
                  <a:moveTo>
                    <a:pt x="0" y="0"/>
                  </a:moveTo>
                  <a:lnTo>
                    <a:pt x="2470785" y="0"/>
                  </a:lnTo>
                  <a:lnTo>
                    <a:pt x="2470785" y="155575"/>
                  </a:lnTo>
                  <a:lnTo>
                    <a:pt x="0" y="155575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70686" y="4735716"/>
            <a:ext cx="11118647" cy="2196274"/>
            <a:chOff x="0" y="0"/>
            <a:chExt cx="14824862" cy="29283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824863" cy="2928368"/>
            </a:xfrm>
            <a:custGeom>
              <a:avLst/>
              <a:gdLst/>
              <a:ahLst/>
              <a:cxnLst/>
              <a:rect r="r" b="b" t="t" l="l"/>
              <a:pathLst>
                <a:path h="2928368" w="14824863">
                  <a:moveTo>
                    <a:pt x="0" y="0"/>
                  </a:moveTo>
                  <a:lnTo>
                    <a:pt x="14824863" y="0"/>
                  </a:lnTo>
                  <a:lnTo>
                    <a:pt x="14824863" y="2928368"/>
                  </a:lnTo>
                  <a:lnTo>
                    <a:pt x="0" y="292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643" r="0" b="-4864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14300"/>
              <a:ext cx="14824862" cy="3042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003"/>
                </a:lnSpc>
              </a:pPr>
              <a:r>
                <a:rPr lang="en-US" sz="5404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four-stage pipeline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25588" y="7405564"/>
            <a:ext cx="219627" cy="219627"/>
            <a:chOff x="0" y="0"/>
            <a:chExt cx="292837" cy="2928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cubicBezTo>
                    <a:pt x="227330" y="0"/>
                    <a:pt x="292862" y="65532"/>
                    <a:pt x="292862" y="146431"/>
                  </a:cubicBezTo>
                  <a:cubicBezTo>
                    <a:pt x="292862" y="227330"/>
                    <a:pt x="227330" y="292862"/>
                    <a:pt x="146431" y="292862"/>
                  </a:cubicBezTo>
                  <a:cubicBezTo>
                    <a:pt x="65532" y="292862"/>
                    <a:pt x="0" y="227330"/>
                    <a:pt x="0" y="146431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47206" y="7288892"/>
            <a:ext cx="9883245" cy="466706"/>
            <a:chOff x="0" y="0"/>
            <a:chExt cx="13177660" cy="6222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177655" cy="622278"/>
            </a:xfrm>
            <a:custGeom>
              <a:avLst/>
              <a:gdLst/>
              <a:ahLst/>
              <a:cxnLst/>
              <a:rect r="r" b="b" t="t" l="l"/>
              <a:pathLst>
                <a:path h="622278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3177660" cy="641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What each stage actually does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25588" y="7982093"/>
            <a:ext cx="219627" cy="219627"/>
            <a:chOff x="0" y="0"/>
            <a:chExt cx="292837" cy="2928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cubicBezTo>
                    <a:pt x="227330" y="0"/>
                    <a:pt x="292862" y="65532"/>
                    <a:pt x="292862" y="146431"/>
                  </a:cubicBezTo>
                  <a:cubicBezTo>
                    <a:pt x="292862" y="227330"/>
                    <a:pt x="227330" y="292862"/>
                    <a:pt x="146431" y="292862"/>
                  </a:cubicBezTo>
                  <a:cubicBezTo>
                    <a:pt x="65532" y="292862"/>
                    <a:pt x="0" y="227330"/>
                    <a:pt x="0" y="146431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47206" y="7865412"/>
            <a:ext cx="9883245" cy="466706"/>
            <a:chOff x="0" y="0"/>
            <a:chExt cx="13177660" cy="6222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177655" cy="622278"/>
            </a:xfrm>
            <a:custGeom>
              <a:avLst/>
              <a:gdLst/>
              <a:ahLst/>
              <a:cxnLst/>
              <a:rect r="r" b="b" t="t" l="l"/>
              <a:pathLst>
                <a:path h="622278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3177660" cy="641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Where AI genuinely helps at each one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25588" y="8558613"/>
            <a:ext cx="219627" cy="219627"/>
            <a:chOff x="0" y="0"/>
            <a:chExt cx="292837" cy="2928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cubicBezTo>
                    <a:pt x="227330" y="0"/>
                    <a:pt x="292862" y="65532"/>
                    <a:pt x="292862" y="146431"/>
                  </a:cubicBezTo>
                  <a:cubicBezTo>
                    <a:pt x="292862" y="227330"/>
                    <a:pt x="227330" y="292862"/>
                    <a:pt x="146431" y="292862"/>
                  </a:cubicBezTo>
                  <a:cubicBezTo>
                    <a:pt x="65532" y="292862"/>
                    <a:pt x="0" y="227330"/>
                    <a:pt x="0" y="146431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47206" y="8441931"/>
            <a:ext cx="9883245" cy="466706"/>
            <a:chOff x="0" y="0"/>
            <a:chExt cx="13177660" cy="6222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177655" cy="622278"/>
            </a:xfrm>
            <a:custGeom>
              <a:avLst/>
              <a:gdLst/>
              <a:ahLst/>
              <a:cxnLst/>
              <a:rect r="r" b="b" t="t" l="l"/>
              <a:pathLst>
                <a:path h="622278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3177660" cy="641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Where AI still needs a human check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546869" y="9718519"/>
            <a:ext cx="549069" cy="411804"/>
            <a:chOff x="0" y="0"/>
            <a:chExt cx="732092" cy="5490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2092" cy="549069"/>
            </a:xfrm>
            <a:custGeom>
              <a:avLst/>
              <a:gdLst/>
              <a:ahLst/>
              <a:cxnLst/>
              <a:rect r="r" b="b" t="t" l="l"/>
              <a:pathLst>
                <a:path h="549069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28" t="0" r="-46228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732092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1"/>
                </a:lnSpc>
              </a:pPr>
              <a:r>
                <a:rPr lang="en-US" sz="1651">
                  <a:solidFill>
                    <a:srgbClr val="7FA3A3"/>
                  </a:solidFill>
                  <a:latin typeface="Poppins"/>
                  <a:ea typeface="Poppins"/>
                  <a:cs typeface="Poppins"/>
                  <a:sym typeface="Poppins"/>
                </a:rPr>
                <a:t>6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184225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One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dataset, four stages, one session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76300" y="2515938"/>
            <a:ext cx="14893500" cy="4598451"/>
            <a:chOff x="0" y="0"/>
            <a:chExt cx="19857999" cy="61312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57974" cy="6131179"/>
            </a:xfrm>
            <a:custGeom>
              <a:avLst/>
              <a:gdLst/>
              <a:ahLst/>
              <a:cxnLst/>
              <a:rect r="r" b="b" t="t" l="l"/>
              <a:pathLst>
                <a:path h="6131179" w="19857974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9693255" y="0"/>
                  </a:lnTo>
                  <a:cubicBezTo>
                    <a:pt x="19784188" y="0"/>
                    <a:pt x="19857974" y="73787"/>
                    <a:pt x="19857974" y="164719"/>
                  </a:cubicBezTo>
                  <a:lnTo>
                    <a:pt x="19857974" y="5966460"/>
                  </a:lnTo>
                  <a:cubicBezTo>
                    <a:pt x="19857974" y="6057392"/>
                    <a:pt x="19784188" y="6131179"/>
                    <a:pt x="19693255" y="6131179"/>
                  </a:cubicBezTo>
                  <a:lnTo>
                    <a:pt x="164719" y="6131179"/>
                  </a:lnTo>
                  <a:cubicBezTo>
                    <a:pt x="73787" y="6131306"/>
                    <a:pt x="0" y="6057519"/>
                    <a:pt x="0" y="59664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25369" y="2872545"/>
            <a:ext cx="13795362" cy="3898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2702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The AI-augmented pipeline is the same shape every time: clean the raw data until it's trustworthy, analyse it to answer specific questions, visualise the answers so they're easy to read at a glance, and report them as a short, sourced write-up someone outside the room can act on. AI can assist at every stage. What changes with AI in the loop is speed, not the need to check the work.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76300" y="7457556"/>
            <a:ext cx="14893500" cy="1372676"/>
            <a:chOff x="0" y="0"/>
            <a:chExt cx="19857999" cy="18302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57974" cy="1830197"/>
            </a:xfrm>
            <a:custGeom>
              <a:avLst/>
              <a:gdLst/>
              <a:ahLst/>
              <a:cxnLst/>
              <a:rect r="r" b="b" t="t" l="l"/>
              <a:pathLst>
                <a:path h="1830197" w="19857974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9693255" y="0"/>
                  </a:lnTo>
                  <a:cubicBezTo>
                    <a:pt x="19784188" y="0"/>
                    <a:pt x="19857974" y="73787"/>
                    <a:pt x="19857974" y="164719"/>
                  </a:cubicBezTo>
                  <a:lnTo>
                    <a:pt x="19857974" y="1665478"/>
                  </a:lnTo>
                  <a:cubicBezTo>
                    <a:pt x="19857974" y="1756410"/>
                    <a:pt x="19784188" y="1830197"/>
                    <a:pt x="19693255" y="1830197"/>
                  </a:cubicBezTo>
                  <a:lnTo>
                    <a:pt x="164719" y="1830197"/>
                  </a:lnTo>
                  <a:cubicBezTo>
                    <a:pt x="73787" y="1830197"/>
                    <a:pt x="0" y="1756537"/>
                    <a:pt x="0" y="1665478"/>
                  </a:cubicBezTo>
                  <a:close/>
                </a:path>
              </a:pathLst>
            </a:custGeom>
            <a:solidFill>
              <a:srgbClr val="F4F7F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76300" y="7457556"/>
            <a:ext cx="82363" cy="1372676"/>
            <a:chOff x="0" y="0"/>
            <a:chExt cx="109817" cy="18302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855" cy="1830197"/>
            </a:xfrm>
            <a:custGeom>
              <a:avLst/>
              <a:gdLst/>
              <a:ahLst/>
              <a:cxnLst/>
              <a:rect r="r" b="b" t="t" l="l"/>
              <a:pathLst>
                <a:path h="1830197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25369" y="7457556"/>
            <a:ext cx="13795362" cy="1372676"/>
            <a:chOff x="0" y="0"/>
            <a:chExt cx="18393816" cy="1830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393811" cy="1830230"/>
            </a:xfrm>
            <a:custGeom>
              <a:avLst/>
              <a:gdLst/>
              <a:ahLst/>
              <a:cxnLst/>
              <a:rect r="r" b="b" t="t" l="l"/>
              <a:pathLst>
                <a:path h="1830230" w="18393811">
                  <a:moveTo>
                    <a:pt x="0" y="0"/>
                  </a:moveTo>
                  <a:lnTo>
                    <a:pt x="18393811" y="0"/>
                  </a:lnTo>
                  <a:lnTo>
                    <a:pt x="18393811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45824" r="0" b="-14582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04775"/>
              <a:ext cx="18393816" cy="1935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6"/>
                </a:lnSpc>
              </a:pPr>
              <a:r>
                <a:rPr lang="en-US" sz="2401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Speed changes. The need to verify does not.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298009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Where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AI helps, and where you still check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23925" y="2724098"/>
            <a:ext cx="4689967" cy="3599784"/>
            <a:chOff x="0" y="0"/>
            <a:chExt cx="6253290" cy="47997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53226" cy="4799764"/>
            </a:xfrm>
            <a:custGeom>
              <a:avLst/>
              <a:gdLst/>
              <a:ahLst/>
              <a:cxnLst/>
              <a:rect r="r" b="b" t="t" l="l"/>
              <a:pathLst>
                <a:path h="4799764" w="6253226">
                  <a:moveTo>
                    <a:pt x="0" y="205700"/>
                  </a:moveTo>
                  <a:cubicBezTo>
                    <a:pt x="0" y="92145"/>
                    <a:pt x="73787" y="0"/>
                    <a:pt x="164719" y="0"/>
                  </a:cubicBezTo>
                  <a:lnTo>
                    <a:pt x="6088507" y="0"/>
                  </a:lnTo>
                  <a:cubicBezTo>
                    <a:pt x="6179439" y="0"/>
                    <a:pt x="6253226" y="92145"/>
                    <a:pt x="6253226" y="205700"/>
                  </a:cubicBezTo>
                  <a:lnTo>
                    <a:pt x="6253226" y="4594076"/>
                  </a:lnTo>
                  <a:cubicBezTo>
                    <a:pt x="6253226" y="4707631"/>
                    <a:pt x="6179439" y="4799764"/>
                    <a:pt x="6088507" y="4799764"/>
                  </a:cubicBezTo>
                  <a:lnTo>
                    <a:pt x="164719" y="4799764"/>
                  </a:lnTo>
                  <a:cubicBezTo>
                    <a:pt x="73787" y="4799764"/>
                    <a:pt x="0" y="4707631"/>
                    <a:pt x="0" y="45940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23925" y="2724098"/>
            <a:ext cx="4689967" cy="851059"/>
            <a:chOff x="0" y="0"/>
            <a:chExt cx="6253290" cy="11347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53226" cy="1134745"/>
            </a:xfrm>
            <a:custGeom>
              <a:avLst/>
              <a:gdLst/>
              <a:ahLst/>
              <a:cxnLst/>
              <a:rect r="r" b="b" t="t" l="l"/>
              <a:pathLst>
                <a:path h="1134745" w="625322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6088507" y="0"/>
                  </a:lnTo>
                  <a:cubicBezTo>
                    <a:pt x="6179439" y="0"/>
                    <a:pt x="6253226" y="73787"/>
                    <a:pt x="6253226" y="164719"/>
                  </a:cubicBezTo>
                  <a:lnTo>
                    <a:pt x="6253226" y="970026"/>
                  </a:lnTo>
                  <a:cubicBezTo>
                    <a:pt x="6253226" y="1060958"/>
                    <a:pt x="6179439" y="1134745"/>
                    <a:pt x="6088507" y="1134745"/>
                  </a:cubicBezTo>
                  <a:lnTo>
                    <a:pt x="164719" y="1134745"/>
                  </a:lnTo>
                  <a:cubicBezTo>
                    <a:pt x="73787" y="1134745"/>
                    <a:pt x="0" y="1060958"/>
                    <a:pt x="0" y="970026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23925" y="3149627"/>
            <a:ext cx="4689967" cy="425529"/>
            <a:chOff x="0" y="0"/>
            <a:chExt cx="6253290" cy="5673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53226" cy="567309"/>
            </a:xfrm>
            <a:custGeom>
              <a:avLst/>
              <a:gdLst/>
              <a:ahLst/>
              <a:cxnLst/>
              <a:rect r="r" b="b" t="t" l="l"/>
              <a:pathLst>
                <a:path h="567309" w="6253226">
                  <a:moveTo>
                    <a:pt x="0" y="0"/>
                  </a:moveTo>
                  <a:lnTo>
                    <a:pt x="6253226" y="0"/>
                  </a:lnTo>
                  <a:lnTo>
                    <a:pt x="6253226" y="567309"/>
                  </a:lnTo>
                  <a:lnTo>
                    <a:pt x="0" y="567309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23925" y="2724098"/>
            <a:ext cx="4689967" cy="851059"/>
            <a:chOff x="0" y="0"/>
            <a:chExt cx="6253290" cy="11347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53285" cy="1134743"/>
            </a:xfrm>
            <a:custGeom>
              <a:avLst/>
              <a:gdLst/>
              <a:ahLst/>
              <a:cxnLst/>
              <a:rect r="r" b="b" t="t" l="l"/>
              <a:pathLst>
                <a:path h="1134743" w="6253285">
                  <a:moveTo>
                    <a:pt x="0" y="0"/>
                  </a:moveTo>
                  <a:lnTo>
                    <a:pt x="6253285" y="0"/>
                  </a:lnTo>
                  <a:lnTo>
                    <a:pt x="6253285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7377" r="0" b="-5737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253290" cy="1153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CLEAN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71013" y="4008564"/>
            <a:ext cx="4195801" cy="2023908"/>
            <a:chOff x="0" y="0"/>
            <a:chExt cx="5594401" cy="26985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594403" cy="2698550"/>
            </a:xfrm>
            <a:custGeom>
              <a:avLst/>
              <a:gdLst/>
              <a:ahLst/>
              <a:cxnLst/>
              <a:rect r="r" b="b" t="t" l="l"/>
              <a:pathLst>
                <a:path h="2698550" w="5594403">
                  <a:moveTo>
                    <a:pt x="0" y="0"/>
                  </a:moveTo>
                  <a:lnTo>
                    <a:pt x="5594403" y="0"/>
                  </a:lnTo>
                  <a:lnTo>
                    <a:pt x="5594403" y="2698550"/>
                  </a:lnTo>
                  <a:lnTo>
                    <a:pt x="0" y="26985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96" r="0" b="2060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5594401" cy="27747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39"/>
                </a:lnSpc>
              </a:pPr>
              <a:r>
                <a:rPr lang="en-US" sz="2026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 HELPS</a:t>
              </a:r>
            </a:p>
            <a:p>
              <a:pPr algn="ctr">
                <a:lnSpc>
                  <a:spcPts val="3039"/>
                </a:lnSpc>
              </a:pPr>
            </a:p>
            <a:p>
              <a:pPr algn="ctr">
                <a:lnSpc>
                  <a:spcPts val="3039"/>
                </a:lnSpc>
              </a:pPr>
              <a:r>
                <a:rPr lang="en-US" sz="2026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Spotting format inconsistencies, drafting standardisation code, flagging likely duplicates.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025696" y="2724098"/>
            <a:ext cx="4689967" cy="3599784"/>
            <a:chOff x="0" y="0"/>
            <a:chExt cx="6253290" cy="47997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53226" cy="4799764"/>
            </a:xfrm>
            <a:custGeom>
              <a:avLst/>
              <a:gdLst/>
              <a:ahLst/>
              <a:cxnLst/>
              <a:rect r="r" b="b" t="t" l="l"/>
              <a:pathLst>
                <a:path h="4799764" w="6253226">
                  <a:moveTo>
                    <a:pt x="0" y="205700"/>
                  </a:moveTo>
                  <a:cubicBezTo>
                    <a:pt x="0" y="92145"/>
                    <a:pt x="73787" y="0"/>
                    <a:pt x="164719" y="0"/>
                  </a:cubicBezTo>
                  <a:lnTo>
                    <a:pt x="6088507" y="0"/>
                  </a:lnTo>
                  <a:cubicBezTo>
                    <a:pt x="6179439" y="0"/>
                    <a:pt x="6253226" y="92145"/>
                    <a:pt x="6253226" y="205700"/>
                  </a:cubicBezTo>
                  <a:lnTo>
                    <a:pt x="6253226" y="4594076"/>
                  </a:lnTo>
                  <a:cubicBezTo>
                    <a:pt x="6253226" y="4707631"/>
                    <a:pt x="6179439" y="4799764"/>
                    <a:pt x="6088507" y="4799764"/>
                  </a:cubicBezTo>
                  <a:lnTo>
                    <a:pt x="164719" y="4799764"/>
                  </a:lnTo>
                  <a:cubicBezTo>
                    <a:pt x="73787" y="4799764"/>
                    <a:pt x="0" y="4707631"/>
                    <a:pt x="0" y="45940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025696" y="2724098"/>
            <a:ext cx="4689967" cy="851059"/>
            <a:chOff x="0" y="0"/>
            <a:chExt cx="6253290" cy="113474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53226" cy="1134745"/>
            </a:xfrm>
            <a:custGeom>
              <a:avLst/>
              <a:gdLst/>
              <a:ahLst/>
              <a:cxnLst/>
              <a:rect r="r" b="b" t="t" l="l"/>
              <a:pathLst>
                <a:path h="1134745" w="625322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6088507" y="0"/>
                  </a:lnTo>
                  <a:cubicBezTo>
                    <a:pt x="6179439" y="0"/>
                    <a:pt x="6253226" y="73787"/>
                    <a:pt x="6253226" y="164719"/>
                  </a:cubicBezTo>
                  <a:lnTo>
                    <a:pt x="6253226" y="970026"/>
                  </a:lnTo>
                  <a:cubicBezTo>
                    <a:pt x="6253226" y="1060958"/>
                    <a:pt x="6179439" y="1134745"/>
                    <a:pt x="6088507" y="1134745"/>
                  </a:cubicBezTo>
                  <a:lnTo>
                    <a:pt x="164719" y="1134745"/>
                  </a:lnTo>
                  <a:cubicBezTo>
                    <a:pt x="73787" y="1134745"/>
                    <a:pt x="0" y="1060958"/>
                    <a:pt x="0" y="970026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025696" y="3149627"/>
            <a:ext cx="4689967" cy="425529"/>
            <a:chOff x="0" y="0"/>
            <a:chExt cx="6253290" cy="5673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253226" cy="567309"/>
            </a:xfrm>
            <a:custGeom>
              <a:avLst/>
              <a:gdLst/>
              <a:ahLst/>
              <a:cxnLst/>
              <a:rect r="r" b="b" t="t" l="l"/>
              <a:pathLst>
                <a:path h="567309" w="6253226">
                  <a:moveTo>
                    <a:pt x="0" y="0"/>
                  </a:moveTo>
                  <a:lnTo>
                    <a:pt x="6253226" y="0"/>
                  </a:lnTo>
                  <a:lnTo>
                    <a:pt x="6253226" y="567309"/>
                  </a:lnTo>
                  <a:lnTo>
                    <a:pt x="0" y="567309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025696" y="2724098"/>
            <a:ext cx="4689967" cy="851059"/>
            <a:chOff x="0" y="0"/>
            <a:chExt cx="6253290" cy="11347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253285" cy="1134743"/>
            </a:xfrm>
            <a:custGeom>
              <a:avLst/>
              <a:gdLst/>
              <a:ahLst/>
              <a:cxnLst/>
              <a:rect r="r" b="b" t="t" l="l"/>
              <a:pathLst>
                <a:path h="1134743" w="6253285">
                  <a:moveTo>
                    <a:pt x="0" y="0"/>
                  </a:moveTo>
                  <a:lnTo>
                    <a:pt x="6253285" y="0"/>
                  </a:lnTo>
                  <a:lnTo>
                    <a:pt x="6253285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7377" r="0" b="-5737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253290" cy="1153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ANALYSE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272774" y="4008564"/>
            <a:ext cx="4195801" cy="2023908"/>
            <a:chOff x="0" y="0"/>
            <a:chExt cx="5594401" cy="26985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594403" cy="2698550"/>
            </a:xfrm>
            <a:custGeom>
              <a:avLst/>
              <a:gdLst/>
              <a:ahLst/>
              <a:cxnLst/>
              <a:rect r="r" b="b" t="t" l="l"/>
              <a:pathLst>
                <a:path h="2698550" w="5594403">
                  <a:moveTo>
                    <a:pt x="0" y="0"/>
                  </a:moveTo>
                  <a:lnTo>
                    <a:pt x="5594403" y="0"/>
                  </a:lnTo>
                  <a:lnTo>
                    <a:pt x="5594403" y="2698550"/>
                  </a:lnTo>
                  <a:lnTo>
                    <a:pt x="0" y="26985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96" r="0" b="2060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5594401" cy="27747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39"/>
                </a:lnSpc>
              </a:pPr>
              <a:r>
                <a:rPr lang="en-US" sz="2026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 HELPS</a:t>
              </a:r>
            </a:p>
            <a:p>
              <a:pPr algn="ctr">
                <a:lnSpc>
                  <a:spcPts val="3039"/>
                </a:lnSpc>
              </a:pPr>
            </a:p>
            <a:p>
              <a:pPr algn="ctr">
                <a:lnSpc>
                  <a:spcPts val="3039"/>
                </a:lnSpc>
              </a:pPr>
              <a:r>
                <a:rPr lang="en-US" sz="2026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Drafting aggregation code, suggesting metrics, explaining a calculation in plain language.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127457" y="2724098"/>
            <a:ext cx="4689967" cy="3599784"/>
            <a:chOff x="0" y="0"/>
            <a:chExt cx="6253290" cy="479971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253226" cy="4799764"/>
            </a:xfrm>
            <a:custGeom>
              <a:avLst/>
              <a:gdLst/>
              <a:ahLst/>
              <a:cxnLst/>
              <a:rect r="r" b="b" t="t" l="l"/>
              <a:pathLst>
                <a:path h="4799764" w="6253226">
                  <a:moveTo>
                    <a:pt x="0" y="205700"/>
                  </a:moveTo>
                  <a:cubicBezTo>
                    <a:pt x="0" y="92145"/>
                    <a:pt x="73787" y="0"/>
                    <a:pt x="164719" y="0"/>
                  </a:cubicBezTo>
                  <a:lnTo>
                    <a:pt x="6088507" y="0"/>
                  </a:lnTo>
                  <a:cubicBezTo>
                    <a:pt x="6179439" y="0"/>
                    <a:pt x="6253226" y="92145"/>
                    <a:pt x="6253226" y="205700"/>
                  </a:cubicBezTo>
                  <a:lnTo>
                    <a:pt x="6253226" y="4594076"/>
                  </a:lnTo>
                  <a:cubicBezTo>
                    <a:pt x="6253226" y="4707631"/>
                    <a:pt x="6179439" y="4799764"/>
                    <a:pt x="6088507" y="4799764"/>
                  </a:cubicBezTo>
                  <a:lnTo>
                    <a:pt x="164719" y="4799764"/>
                  </a:lnTo>
                  <a:cubicBezTo>
                    <a:pt x="73787" y="4799764"/>
                    <a:pt x="0" y="4707631"/>
                    <a:pt x="0" y="45940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127457" y="2724098"/>
            <a:ext cx="4689967" cy="851059"/>
            <a:chOff x="0" y="0"/>
            <a:chExt cx="6253290" cy="113474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53226" cy="1134745"/>
            </a:xfrm>
            <a:custGeom>
              <a:avLst/>
              <a:gdLst/>
              <a:ahLst/>
              <a:cxnLst/>
              <a:rect r="r" b="b" t="t" l="l"/>
              <a:pathLst>
                <a:path h="1134745" w="625322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6088507" y="0"/>
                  </a:lnTo>
                  <a:cubicBezTo>
                    <a:pt x="6179439" y="0"/>
                    <a:pt x="6253226" y="73787"/>
                    <a:pt x="6253226" y="164719"/>
                  </a:cubicBezTo>
                  <a:lnTo>
                    <a:pt x="6253226" y="970026"/>
                  </a:lnTo>
                  <a:cubicBezTo>
                    <a:pt x="6253226" y="1060958"/>
                    <a:pt x="6179439" y="1134745"/>
                    <a:pt x="6088507" y="1134745"/>
                  </a:cubicBezTo>
                  <a:lnTo>
                    <a:pt x="164719" y="1134745"/>
                  </a:lnTo>
                  <a:cubicBezTo>
                    <a:pt x="73787" y="1134745"/>
                    <a:pt x="0" y="1060958"/>
                    <a:pt x="0" y="970026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127457" y="3149627"/>
            <a:ext cx="4689967" cy="425529"/>
            <a:chOff x="0" y="0"/>
            <a:chExt cx="6253290" cy="56737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53226" cy="567309"/>
            </a:xfrm>
            <a:custGeom>
              <a:avLst/>
              <a:gdLst/>
              <a:ahLst/>
              <a:cxnLst/>
              <a:rect r="r" b="b" t="t" l="l"/>
              <a:pathLst>
                <a:path h="567309" w="6253226">
                  <a:moveTo>
                    <a:pt x="0" y="0"/>
                  </a:moveTo>
                  <a:lnTo>
                    <a:pt x="6253226" y="0"/>
                  </a:lnTo>
                  <a:lnTo>
                    <a:pt x="6253226" y="567309"/>
                  </a:lnTo>
                  <a:lnTo>
                    <a:pt x="0" y="567309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127457" y="2724098"/>
            <a:ext cx="4689967" cy="851059"/>
            <a:chOff x="0" y="0"/>
            <a:chExt cx="6253290" cy="11347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253285" cy="1134743"/>
            </a:xfrm>
            <a:custGeom>
              <a:avLst/>
              <a:gdLst/>
              <a:ahLst/>
              <a:cxnLst/>
              <a:rect r="r" b="b" t="t" l="l"/>
              <a:pathLst>
                <a:path h="1134743" w="6253285">
                  <a:moveTo>
                    <a:pt x="0" y="0"/>
                  </a:moveTo>
                  <a:lnTo>
                    <a:pt x="6253285" y="0"/>
                  </a:lnTo>
                  <a:lnTo>
                    <a:pt x="6253285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7377" r="0" b="-5737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6253290" cy="1153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VISUALISE + REPORT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374545" y="4008564"/>
            <a:ext cx="4195801" cy="2023908"/>
            <a:chOff x="0" y="0"/>
            <a:chExt cx="5594401" cy="26985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594403" cy="2698550"/>
            </a:xfrm>
            <a:custGeom>
              <a:avLst/>
              <a:gdLst/>
              <a:ahLst/>
              <a:cxnLst/>
              <a:rect r="r" b="b" t="t" l="l"/>
              <a:pathLst>
                <a:path h="2698550" w="5594403">
                  <a:moveTo>
                    <a:pt x="0" y="0"/>
                  </a:moveTo>
                  <a:lnTo>
                    <a:pt x="5594403" y="0"/>
                  </a:lnTo>
                  <a:lnTo>
                    <a:pt x="5594403" y="2698550"/>
                  </a:lnTo>
                  <a:lnTo>
                    <a:pt x="0" y="26985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96" r="0" b="2060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5594401" cy="27747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39"/>
                </a:lnSpc>
              </a:pPr>
              <a:r>
                <a:rPr lang="en-US" sz="2026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 HELPS</a:t>
              </a:r>
            </a:p>
            <a:p>
              <a:pPr algn="ctr">
                <a:lnSpc>
                  <a:spcPts val="3039"/>
                </a:lnSpc>
              </a:pPr>
            </a:p>
            <a:p>
              <a:pPr algn="ctr">
                <a:lnSpc>
                  <a:spcPts val="3039"/>
                </a:lnSpc>
              </a:pPr>
              <a:r>
                <a:rPr lang="en-US" sz="2026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Picking a chart type, drafting starter code, drafting and tightening report prose.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23925" y="6667307"/>
            <a:ext cx="14893500" cy="1578569"/>
            <a:chOff x="0" y="0"/>
            <a:chExt cx="19857999" cy="210475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857974" cy="2104771"/>
            </a:xfrm>
            <a:custGeom>
              <a:avLst/>
              <a:gdLst/>
              <a:ahLst/>
              <a:cxnLst/>
              <a:rect r="r" b="b" t="t" l="l"/>
              <a:pathLst>
                <a:path h="2104771" w="19857974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9693255" y="0"/>
                  </a:lnTo>
                  <a:cubicBezTo>
                    <a:pt x="19784188" y="0"/>
                    <a:pt x="19857974" y="73787"/>
                    <a:pt x="19857974" y="164719"/>
                  </a:cubicBezTo>
                  <a:lnTo>
                    <a:pt x="19857974" y="1940052"/>
                  </a:lnTo>
                  <a:cubicBezTo>
                    <a:pt x="19857974" y="2030984"/>
                    <a:pt x="19784188" y="2104771"/>
                    <a:pt x="19693255" y="2104771"/>
                  </a:cubicBezTo>
                  <a:lnTo>
                    <a:pt x="164719" y="2104771"/>
                  </a:lnTo>
                  <a:cubicBezTo>
                    <a:pt x="73787" y="2104771"/>
                    <a:pt x="0" y="2030984"/>
                    <a:pt x="0" y="1940052"/>
                  </a:cubicBezTo>
                  <a:close/>
                </a:path>
              </a:pathLst>
            </a:custGeom>
            <a:solidFill>
              <a:srgbClr val="F4F7F7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23925" y="6667307"/>
            <a:ext cx="82363" cy="1578569"/>
            <a:chOff x="0" y="0"/>
            <a:chExt cx="109817" cy="210475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855" cy="2104771"/>
            </a:xfrm>
            <a:custGeom>
              <a:avLst/>
              <a:gdLst/>
              <a:ahLst/>
              <a:cxnLst/>
              <a:rect r="r" b="b" t="t" l="l"/>
              <a:pathLst>
                <a:path h="2104771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472994" y="6667307"/>
            <a:ext cx="13795362" cy="1578569"/>
            <a:chOff x="0" y="0"/>
            <a:chExt cx="18393816" cy="210475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393811" cy="2104764"/>
            </a:xfrm>
            <a:custGeom>
              <a:avLst/>
              <a:gdLst/>
              <a:ahLst/>
              <a:cxnLst/>
              <a:rect r="r" b="b" t="t" l="l"/>
              <a:pathLst>
                <a:path h="2104764" w="18393811">
                  <a:moveTo>
                    <a:pt x="0" y="0"/>
                  </a:moveTo>
                  <a:lnTo>
                    <a:pt x="18393811" y="0"/>
                  </a:lnTo>
                  <a:lnTo>
                    <a:pt x="18393811" y="2104764"/>
                  </a:lnTo>
                  <a:lnTo>
                    <a:pt x="0" y="21047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0282" r="0" b="-12028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04775"/>
              <a:ext cx="18393816" cy="2209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64"/>
                </a:lnSpc>
              </a:pPr>
              <a:r>
                <a:rPr lang="en-US" sz="2476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At every stage: AI drafts, you verify against the source file before it moves forward.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494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1059" y="480431"/>
            <a:ext cx="4392549" cy="2882608"/>
            <a:chOff x="0" y="0"/>
            <a:chExt cx="5856732" cy="38434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6736" cy="3843483"/>
            </a:xfrm>
            <a:custGeom>
              <a:avLst/>
              <a:gdLst/>
              <a:ahLst/>
              <a:cxnLst/>
              <a:rect r="r" b="b" t="t" l="l"/>
              <a:pathLst>
                <a:path h="3843483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3843483"/>
                  </a:lnTo>
                  <a:lnTo>
                    <a:pt x="0" y="38434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199" t="0" r="-34199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0"/>
              <a:ext cx="5856732" cy="4033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8"/>
                </a:lnSpc>
              </a:pPr>
              <a:r>
                <a:rPr lang="en-US" sz="19515" b="true">
                  <a:solidFill>
                    <a:srgbClr val="2F63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0686" y="3733667"/>
            <a:ext cx="10157774" cy="466706"/>
            <a:chOff x="0" y="0"/>
            <a:chExt cx="13543699" cy="6222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543700" cy="622278"/>
            </a:xfrm>
            <a:custGeom>
              <a:avLst/>
              <a:gdLst/>
              <a:ahLst/>
              <a:cxnLst/>
              <a:rect r="r" b="b" t="t" l="l"/>
              <a:pathLst>
                <a:path h="622278" w="13543700">
                  <a:moveTo>
                    <a:pt x="0" y="0"/>
                  </a:moveTo>
                  <a:lnTo>
                    <a:pt x="13543700" y="0"/>
                  </a:lnTo>
                  <a:lnTo>
                    <a:pt x="13543700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4086" r="0" b="-37408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3543699" cy="641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b="true" sz="1951" spc="375">
                  <a:solidFill>
                    <a:srgbClr val="8FBEB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PART TWO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0686" y="4365098"/>
            <a:ext cx="1853108" cy="116681"/>
            <a:chOff x="0" y="0"/>
            <a:chExt cx="2470810" cy="1555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70785" cy="155575"/>
            </a:xfrm>
            <a:custGeom>
              <a:avLst/>
              <a:gdLst/>
              <a:ahLst/>
              <a:cxnLst/>
              <a:rect r="r" b="b" t="t" l="l"/>
              <a:pathLst>
                <a:path h="155575" w="2470785">
                  <a:moveTo>
                    <a:pt x="0" y="0"/>
                  </a:moveTo>
                  <a:lnTo>
                    <a:pt x="2470785" y="0"/>
                  </a:lnTo>
                  <a:lnTo>
                    <a:pt x="2470785" y="155575"/>
                  </a:lnTo>
                  <a:lnTo>
                    <a:pt x="0" y="155575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70686" y="4735716"/>
            <a:ext cx="11118647" cy="2196274"/>
            <a:chOff x="0" y="0"/>
            <a:chExt cx="14824862" cy="29283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824863" cy="2928368"/>
            </a:xfrm>
            <a:custGeom>
              <a:avLst/>
              <a:gdLst/>
              <a:ahLst/>
              <a:cxnLst/>
              <a:rect r="r" b="b" t="t" l="l"/>
              <a:pathLst>
                <a:path h="2928368" w="14824863">
                  <a:moveTo>
                    <a:pt x="0" y="0"/>
                  </a:moveTo>
                  <a:lnTo>
                    <a:pt x="14824863" y="0"/>
                  </a:lnTo>
                  <a:lnTo>
                    <a:pt x="14824863" y="2928368"/>
                  </a:lnTo>
                  <a:lnTo>
                    <a:pt x="0" y="292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643" r="0" b="-4864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14300"/>
              <a:ext cx="14824862" cy="3042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003"/>
                </a:lnSpc>
              </a:pPr>
              <a:r>
                <a:rPr lang="en-US" sz="5404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Trust but verify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25588" y="7405564"/>
            <a:ext cx="219627" cy="219627"/>
            <a:chOff x="0" y="0"/>
            <a:chExt cx="292837" cy="2928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cubicBezTo>
                    <a:pt x="227330" y="0"/>
                    <a:pt x="292862" y="65532"/>
                    <a:pt x="292862" y="146431"/>
                  </a:cubicBezTo>
                  <a:cubicBezTo>
                    <a:pt x="292862" y="227330"/>
                    <a:pt x="227330" y="292862"/>
                    <a:pt x="146431" y="292862"/>
                  </a:cubicBezTo>
                  <a:cubicBezTo>
                    <a:pt x="65532" y="292862"/>
                    <a:pt x="0" y="227330"/>
                    <a:pt x="0" y="146431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47206" y="7288892"/>
            <a:ext cx="9883245" cy="466706"/>
            <a:chOff x="0" y="0"/>
            <a:chExt cx="13177660" cy="6222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177655" cy="622278"/>
            </a:xfrm>
            <a:custGeom>
              <a:avLst/>
              <a:gdLst/>
              <a:ahLst/>
              <a:cxnLst/>
              <a:rect r="r" b="b" t="t" l="l"/>
              <a:pathLst>
                <a:path h="622278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3177660" cy="641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Predict-then-run, applied to a whole pipeline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25588" y="7982093"/>
            <a:ext cx="219627" cy="219627"/>
            <a:chOff x="0" y="0"/>
            <a:chExt cx="292837" cy="2928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cubicBezTo>
                    <a:pt x="227330" y="0"/>
                    <a:pt x="292862" y="65532"/>
                    <a:pt x="292862" y="146431"/>
                  </a:cubicBezTo>
                  <a:cubicBezTo>
                    <a:pt x="292862" y="227330"/>
                    <a:pt x="227330" y="292862"/>
                    <a:pt x="146431" y="292862"/>
                  </a:cubicBezTo>
                  <a:cubicBezTo>
                    <a:pt x="65532" y="292862"/>
                    <a:pt x="0" y="227330"/>
                    <a:pt x="0" y="146431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47206" y="7865412"/>
            <a:ext cx="9883245" cy="466706"/>
            <a:chOff x="0" y="0"/>
            <a:chExt cx="13177660" cy="6222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177655" cy="622278"/>
            </a:xfrm>
            <a:custGeom>
              <a:avLst/>
              <a:gdLst/>
              <a:ahLst/>
              <a:cxnLst/>
              <a:rect r="r" b="b" t="t" l="l"/>
              <a:pathLst>
                <a:path h="622278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3177660" cy="641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The verification checklist, built once, used all programme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25588" y="8558613"/>
            <a:ext cx="219627" cy="219627"/>
            <a:chOff x="0" y="0"/>
            <a:chExt cx="292837" cy="2928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cubicBezTo>
                    <a:pt x="227330" y="0"/>
                    <a:pt x="292862" y="65532"/>
                    <a:pt x="292862" y="146431"/>
                  </a:cubicBezTo>
                  <a:cubicBezTo>
                    <a:pt x="292862" y="227330"/>
                    <a:pt x="227330" y="292862"/>
                    <a:pt x="146431" y="292862"/>
                  </a:cubicBezTo>
                  <a:cubicBezTo>
                    <a:pt x="65532" y="292862"/>
                    <a:pt x="0" y="227330"/>
                    <a:pt x="0" y="146431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47206" y="8441931"/>
            <a:ext cx="9883245" cy="466706"/>
            <a:chOff x="0" y="0"/>
            <a:chExt cx="13177660" cy="6222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177655" cy="622278"/>
            </a:xfrm>
            <a:custGeom>
              <a:avLst/>
              <a:gdLst/>
              <a:ahLst/>
              <a:cxnLst/>
              <a:rect r="r" b="b" t="t" l="l"/>
              <a:pathLst>
                <a:path h="622278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3177660" cy="641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What AI actually gets wrong, with real examples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546869" y="9718519"/>
            <a:ext cx="549069" cy="411804"/>
            <a:chOff x="0" y="0"/>
            <a:chExt cx="732092" cy="5490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2092" cy="549069"/>
            </a:xfrm>
            <a:custGeom>
              <a:avLst/>
              <a:gdLst/>
              <a:ahLst/>
              <a:cxnLst/>
              <a:rect r="r" b="b" t="t" l="l"/>
              <a:pathLst>
                <a:path h="549069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28" t="0" r="-46228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732092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1"/>
                </a:lnSpc>
              </a:pPr>
              <a:r>
                <a:rPr lang="en-US" sz="1651">
                  <a:solidFill>
                    <a:srgbClr val="7FA3A3"/>
                  </a:solidFill>
                  <a:latin typeface="Poppins"/>
                  <a:ea typeface="Poppins"/>
                  <a:cs typeface="Poppins"/>
                  <a:sym typeface="Poppins"/>
                </a:rPr>
                <a:t>9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089918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Predict-then-run,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at pipeline scale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2379212"/>
            <a:ext cx="14893500" cy="4598451"/>
            <a:chOff x="0" y="0"/>
            <a:chExt cx="19857999" cy="61312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57974" cy="6131179"/>
            </a:xfrm>
            <a:custGeom>
              <a:avLst/>
              <a:gdLst/>
              <a:ahLst/>
              <a:cxnLst/>
              <a:rect r="r" b="b" t="t" l="l"/>
              <a:pathLst>
                <a:path h="6131179" w="19857974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9693255" y="0"/>
                  </a:lnTo>
                  <a:cubicBezTo>
                    <a:pt x="19784188" y="0"/>
                    <a:pt x="19857974" y="73787"/>
                    <a:pt x="19857974" y="164719"/>
                  </a:cubicBezTo>
                  <a:lnTo>
                    <a:pt x="19857974" y="5966460"/>
                  </a:lnTo>
                  <a:cubicBezTo>
                    <a:pt x="19857974" y="6057392"/>
                    <a:pt x="19784188" y="6131179"/>
                    <a:pt x="19693255" y="6131179"/>
                  </a:cubicBezTo>
                  <a:lnTo>
                    <a:pt x="164719" y="6131179"/>
                  </a:lnTo>
                  <a:cubicBezTo>
                    <a:pt x="73787" y="6131306"/>
                    <a:pt x="0" y="6057519"/>
                    <a:pt x="0" y="59664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63469" y="2735818"/>
            <a:ext cx="13795362" cy="3898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2702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You already know predict-then-run from Module 7: before you run a formula or a query, you predict what the answer should roughly look like, then run it and compare. The same discipline applies to a whole pipeline's output, not just one calculation. Before you accept an AI-drafted cleaning step, predict what it should change and by how much. Before you accept a chart, predict what shape it should have. Before you accept a report sentence, predict what number it should cite - and go find that number in the file yourself.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4400" y="7320829"/>
            <a:ext cx="14893500" cy="1372676"/>
            <a:chOff x="0" y="0"/>
            <a:chExt cx="19857999" cy="18302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57974" cy="1830197"/>
            </a:xfrm>
            <a:custGeom>
              <a:avLst/>
              <a:gdLst/>
              <a:ahLst/>
              <a:cxnLst/>
              <a:rect r="r" b="b" t="t" l="l"/>
              <a:pathLst>
                <a:path h="1830197" w="19857974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9693255" y="0"/>
                  </a:lnTo>
                  <a:cubicBezTo>
                    <a:pt x="19784188" y="0"/>
                    <a:pt x="19857974" y="73787"/>
                    <a:pt x="19857974" y="164719"/>
                  </a:cubicBezTo>
                  <a:lnTo>
                    <a:pt x="19857974" y="1665478"/>
                  </a:lnTo>
                  <a:cubicBezTo>
                    <a:pt x="19857974" y="1756410"/>
                    <a:pt x="19784188" y="1830197"/>
                    <a:pt x="19693255" y="1830197"/>
                  </a:cubicBezTo>
                  <a:lnTo>
                    <a:pt x="164719" y="1830197"/>
                  </a:lnTo>
                  <a:cubicBezTo>
                    <a:pt x="73787" y="1830197"/>
                    <a:pt x="0" y="1756537"/>
                    <a:pt x="0" y="1665478"/>
                  </a:cubicBezTo>
                  <a:close/>
                </a:path>
              </a:pathLst>
            </a:custGeom>
            <a:solidFill>
              <a:srgbClr val="F4F7F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7320829"/>
            <a:ext cx="82363" cy="1372676"/>
            <a:chOff x="0" y="0"/>
            <a:chExt cx="109817" cy="18302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855" cy="1830197"/>
            </a:xfrm>
            <a:custGeom>
              <a:avLst/>
              <a:gdLst/>
              <a:ahLst/>
              <a:cxnLst/>
              <a:rect r="r" b="b" t="t" l="l"/>
              <a:pathLst>
                <a:path h="1830197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63469" y="7320829"/>
            <a:ext cx="13795362" cy="1372676"/>
            <a:chOff x="0" y="0"/>
            <a:chExt cx="18393816" cy="1830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393811" cy="1830230"/>
            </a:xfrm>
            <a:custGeom>
              <a:avLst/>
              <a:gdLst/>
              <a:ahLst/>
              <a:cxnLst/>
              <a:rect r="r" b="b" t="t" l="l"/>
              <a:pathLst>
                <a:path h="1830230" w="18393811">
                  <a:moveTo>
                    <a:pt x="0" y="0"/>
                  </a:moveTo>
                  <a:lnTo>
                    <a:pt x="18393811" y="0"/>
                  </a:lnTo>
                  <a:lnTo>
                    <a:pt x="18393811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45824" r="0" b="-14582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04775"/>
              <a:ext cx="18393816" cy="1935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6"/>
                </a:lnSpc>
              </a:pPr>
              <a:r>
                <a:rPr lang="en-US" sz="2401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If you can't say what you expected before you looked, you can't tell if the output is wrong.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132522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Same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AI output, two different habits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95350" y="2854366"/>
            <a:ext cx="7206529" cy="5490686"/>
            <a:chOff x="0" y="0"/>
            <a:chExt cx="9608706" cy="73209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08693" cy="7320914"/>
            </a:xfrm>
            <a:custGeom>
              <a:avLst/>
              <a:gdLst/>
              <a:ahLst/>
              <a:cxnLst/>
              <a:rect r="r" b="b" t="t" l="l"/>
              <a:pathLst>
                <a:path h="7320914" w="9608693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443974" y="0"/>
                  </a:lnTo>
                  <a:cubicBezTo>
                    <a:pt x="9534906" y="0"/>
                    <a:pt x="9608693" y="73787"/>
                    <a:pt x="9608693" y="164719"/>
                  </a:cubicBezTo>
                  <a:lnTo>
                    <a:pt x="9608693" y="7156196"/>
                  </a:lnTo>
                  <a:cubicBezTo>
                    <a:pt x="9608693" y="7247127"/>
                    <a:pt x="9534906" y="7320914"/>
                    <a:pt x="9443974" y="7320914"/>
                  </a:cubicBezTo>
                  <a:lnTo>
                    <a:pt x="164719" y="7320914"/>
                  </a:lnTo>
                  <a:cubicBezTo>
                    <a:pt x="73787" y="7320915"/>
                    <a:pt x="0" y="7247128"/>
                    <a:pt x="0" y="71561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95350" y="2854366"/>
            <a:ext cx="7206529" cy="754971"/>
            <a:chOff x="0" y="0"/>
            <a:chExt cx="9608706" cy="10066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08693" cy="1006602"/>
            </a:xfrm>
            <a:custGeom>
              <a:avLst/>
              <a:gdLst/>
              <a:ahLst/>
              <a:cxnLst/>
              <a:rect r="r" b="b" t="t" l="l"/>
              <a:pathLst>
                <a:path h="1006602" w="9608693">
                  <a:moveTo>
                    <a:pt x="0" y="0"/>
                  </a:moveTo>
                  <a:lnTo>
                    <a:pt x="9608693" y="0"/>
                  </a:lnTo>
                  <a:lnTo>
                    <a:pt x="9608693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A8322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95350" y="2854366"/>
            <a:ext cx="7206529" cy="754971"/>
            <a:chOff x="0" y="0"/>
            <a:chExt cx="9608706" cy="10066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08707" cy="1006626"/>
            </a:xfrm>
            <a:custGeom>
              <a:avLst/>
              <a:gdLst/>
              <a:ahLst/>
              <a:cxnLst/>
              <a:rect r="r" b="b" t="t" l="l"/>
              <a:pathLst>
                <a:path h="1006626" w="9608707">
                  <a:moveTo>
                    <a:pt x="0" y="0"/>
                  </a:moveTo>
                  <a:lnTo>
                    <a:pt x="9608707" y="0"/>
                  </a:lnTo>
                  <a:lnTo>
                    <a:pt x="9608707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5993" r="0" b="-13599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9608706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2"/>
                </a:lnSpc>
              </a:pPr>
              <a:r>
                <a:rPr lang="en-US" sz="24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UNVERIFIED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07154" y="3798141"/>
            <a:ext cx="6382931" cy="4203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026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•  AI says "on-time rate improved to 91% this quarter" - it goes straight into the slide.</a:t>
            </a:r>
          </a:p>
          <a:p>
            <a:pPr algn="l">
              <a:lnSpc>
                <a:spcPts val="3161"/>
              </a:lnSpc>
            </a:pPr>
            <a:r>
              <a:rPr lang="en-US" sz="2026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•  Nobody re-runs the calculation. Nobody checks which rows were included.</a:t>
            </a:r>
          </a:p>
          <a:p>
            <a:pPr algn="l">
              <a:lnSpc>
                <a:spcPts val="3161"/>
              </a:lnSpc>
            </a:pPr>
            <a:r>
              <a:rPr lang="en-US" sz="2026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•  The number is wrong: it used a filtered subset AI silently assumed, not the full quarter.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582320" y="2854366"/>
            <a:ext cx="7206529" cy="5490686"/>
            <a:chOff x="0" y="0"/>
            <a:chExt cx="9608706" cy="73209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08693" cy="7320914"/>
            </a:xfrm>
            <a:custGeom>
              <a:avLst/>
              <a:gdLst/>
              <a:ahLst/>
              <a:cxnLst/>
              <a:rect r="r" b="b" t="t" l="l"/>
              <a:pathLst>
                <a:path h="7320914" w="9608693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443974" y="0"/>
                  </a:lnTo>
                  <a:cubicBezTo>
                    <a:pt x="9534906" y="0"/>
                    <a:pt x="9608693" y="73787"/>
                    <a:pt x="9608693" y="164719"/>
                  </a:cubicBezTo>
                  <a:lnTo>
                    <a:pt x="9608693" y="7156196"/>
                  </a:lnTo>
                  <a:cubicBezTo>
                    <a:pt x="9608693" y="7247127"/>
                    <a:pt x="9534906" y="7320914"/>
                    <a:pt x="9443974" y="7320914"/>
                  </a:cubicBezTo>
                  <a:lnTo>
                    <a:pt x="164719" y="7320914"/>
                  </a:lnTo>
                  <a:cubicBezTo>
                    <a:pt x="73787" y="7320915"/>
                    <a:pt x="0" y="7247128"/>
                    <a:pt x="0" y="71561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582320" y="2854366"/>
            <a:ext cx="7206529" cy="754971"/>
            <a:chOff x="0" y="0"/>
            <a:chExt cx="9608706" cy="10066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08693" cy="1006602"/>
            </a:xfrm>
            <a:custGeom>
              <a:avLst/>
              <a:gdLst/>
              <a:ahLst/>
              <a:cxnLst/>
              <a:rect r="r" b="b" t="t" l="l"/>
              <a:pathLst>
                <a:path h="1006602" w="9608693">
                  <a:moveTo>
                    <a:pt x="0" y="0"/>
                  </a:moveTo>
                  <a:lnTo>
                    <a:pt x="9608693" y="0"/>
                  </a:lnTo>
                  <a:lnTo>
                    <a:pt x="9608693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582320" y="2854366"/>
            <a:ext cx="7206529" cy="754971"/>
            <a:chOff x="0" y="0"/>
            <a:chExt cx="9608706" cy="100662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608707" cy="1006626"/>
            </a:xfrm>
            <a:custGeom>
              <a:avLst/>
              <a:gdLst/>
              <a:ahLst/>
              <a:cxnLst/>
              <a:rect r="r" b="b" t="t" l="l"/>
              <a:pathLst>
                <a:path h="1006626" w="9608707">
                  <a:moveTo>
                    <a:pt x="0" y="0"/>
                  </a:moveTo>
                  <a:lnTo>
                    <a:pt x="9608707" y="0"/>
                  </a:lnTo>
                  <a:lnTo>
                    <a:pt x="9608707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5993" r="0" b="-13599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9608706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2"/>
                </a:lnSpc>
              </a:pPr>
              <a:r>
                <a:rPr lang="en-US" sz="24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VERIFIED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994124" y="3798141"/>
            <a:ext cx="6382931" cy="4203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026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•  AI says the same thing - it does NOT go in the slide yet.</a:t>
            </a:r>
          </a:p>
          <a:p>
            <a:pPr algn="l">
              <a:lnSpc>
                <a:spcPts val="3161"/>
              </a:lnSpc>
            </a:pPr>
            <a:r>
              <a:rPr lang="en-US" sz="2026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•  You recompute it yourself from the cleaned file, checking row count and filter logic.</a:t>
            </a:r>
          </a:p>
          <a:p>
            <a:pPr algn="l">
              <a:lnSpc>
                <a:spcPts val="3161"/>
              </a:lnSpc>
            </a:pPr>
            <a:r>
              <a:rPr lang="en-US" sz="2026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•  You catch the silent filter, correct the number, and only then does it go in the report.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95350" y="8514817"/>
            <a:ext cx="14893500" cy="79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251" i="true">
                <a:solidFill>
                  <a:srgbClr val="64748B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Same AI, same claim. The only difference is whether a human checked it against the data before it shipped.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28700"/>
            <a:ext cx="21879544" cy="8686000"/>
            <a:chOff x="0" y="0"/>
            <a:chExt cx="29172726" cy="1158133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63500"/>
              <a:ext cx="152400" cy="1371600"/>
              <a:chOff x="0" y="0"/>
              <a:chExt cx="152400" cy="13716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524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388080"/>
              </a:solidFill>
            </p:spPr>
          </p:sp>
        </p:grpSp>
        <p:sp>
          <p:nvSpPr>
            <p:cNvPr name="Freeform 7" id="7"/>
            <p:cNvSpPr/>
            <p:nvPr/>
          </p:nvSpPr>
          <p:spPr>
            <a:xfrm flipH="false" flipV="false" rot="1655820">
              <a:off x="21490305" y="4271467"/>
              <a:ext cx="2102866" cy="4324693"/>
            </a:xfrm>
            <a:custGeom>
              <a:avLst/>
              <a:gdLst/>
              <a:ahLst/>
              <a:cxnLst/>
              <a:rect r="r" b="b" t="t" l="l"/>
              <a:pathLst>
                <a:path h="4324693" w="2102866">
                  <a:moveTo>
                    <a:pt x="0" y="0"/>
                  </a:moveTo>
                  <a:lnTo>
                    <a:pt x="2102866" y="0"/>
                  </a:lnTo>
                  <a:lnTo>
                    <a:pt x="2102866" y="4324693"/>
                  </a:lnTo>
                  <a:lnTo>
                    <a:pt x="0" y="4324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01378" t="0" r="-101378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905876" y="2837955"/>
              <a:ext cx="8266849" cy="8077949"/>
            </a:xfrm>
            <a:custGeom>
              <a:avLst/>
              <a:gdLst/>
              <a:ahLst/>
              <a:cxnLst/>
              <a:rect r="r" b="b" t="t" l="l"/>
              <a:pathLst>
                <a:path h="8077949" w="8266849">
                  <a:moveTo>
                    <a:pt x="0" y="0"/>
                  </a:moveTo>
                  <a:lnTo>
                    <a:pt x="8266850" y="0"/>
                  </a:lnTo>
                  <a:lnTo>
                    <a:pt x="8266850" y="8077949"/>
                  </a:lnTo>
                  <a:lnTo>
                    <a:pt x="0" y="8077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381000" y="-47625"/>
              <a:ext cx="22802850" cy="1063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The verification</a:t>
              </a: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 checklist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854098" y="10819333"/>
              <a:ext cx="862965" cy="762000"/>
              <a:chOff x="0" y="0"/>
              <a:chExt cx="862965" cy="762000"/>
            </a:xfrm>
          </p:grpSpPr>
          <p:sp>
            <p:nvSpPr>
              <p:cNvPr name="Freeform 11" id="11" descr="image.png"/>
              <p:cNvSpPr/>
              <p:nvPr/>
            </p:nvSpPr>
            <p:spPr>
              <a:xfrm flipH="false" flipV="false" rot="0">
                <a:off x="0" y="0"/>
                <a:ext cx="862965" cy="762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" w="862965">
                    <a:moveTo>
                      <a:pt x="0" y="0"/>
                    </a:moveTo>
                    <a:lnTo>
                      <a:pt x="862965" y="0"/>
                    </a:lnTo>
                    <a:lnTo>
                      <a:pt x="862965" y="762000"/>
                    </a:lnTo>
                    <a:lnTo>
                      <a:pt x="0" y="762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772" t="0" r="-772" b="0"/>
                </a:stretch>
              </a:blipFill>
            </p:spPr>
          </p:sp>
        </p:grpSp>
      </p:grpSp>
      <p:grpSp>
        <p:nvGrpSpPr>
          <p:cNvPr name="Group 12" id="12"/>
          <p:cNvGrpSpPr/>
          <p:nvPr/>
        </p:nvGrpSpPr>
        <p:grpSpPr>
          <a:xfrm rot="0">
            <a:off x="1019975" y="2474462"/>
            <a:ext cx="14893500" cy="4598451"/>
            <a:chOff x="0" y="0"/>
            <a:chExt cx="19857999" cy="61312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57974" cy="6131179"/>
            </a:xfrm>
            <a:custGeom>
              <a:avLst/>
              <a:gdLst/>
              <a:ahLst/>
              <a:cxnLst/>
              <a:rect r="r" b="b" t="t" l="l"/>
              <a:pathLst>
                <a:path h="6131179" w="19857974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9693255" y="0"/>
                  </a:lnTo>
                  <a:cubicBezTo>
                    <a:pt x="19784188" y="0"/>
                    <a:pt x="19857974" y="73787"/>
                    <a:pt x="19857974" y="164719"/>
                  </a:cubicBezTo>
                  <a:lnTo>
                    <a:pt x="19857974" y="5966460"/>
                  </a:lnTo>
                  <a:cubicBezTo>
                    <a:pt x="19857974" y="6057392"/>
                    <a:pt x="19784188" y="6131179"/>
                    <a:pt x="19693255" y="6131179"/>
                  </a:cubicBezTo>
                  <a:lnTo>
                    <a:pt x="164719" y="6131179"/>
                  </a:lnTo>
                  <a:cubicBezTo>
                    <a:pt x="73787" y="6131306"/>
                    <a:pt x="0" y="6057519"/>
                    <a:pt x="0" y="59664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69044" y="2831068"/>
            <a:ext cx="13795362" cy="3898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2702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Five questions, applied to any AI-assisted claim before it leaves this room. One: can you point to exactly where in the source file this number comes from? Two: does the calculation logic match what was actually asked, not a nearby but different question? Three: would a different reasonable assumption - a different filter, a different date range - change the answer? Four: could someone else reproduce this from the raw file in under five minutes using only what you've written down? Five: is every limitation or uncertainty stated openly, not smoothed over for a cleaner story?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19975" y="7416079"/>
            <a:ext cx="14893500" cy="1372676"/>
            <a:chOff x="0" y="0"/>
            <a:chExt cx="19857999" cy="1830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857974" cy="1830197"/>
            </a:xfrm>
            <a:custGeom>
              <a:avLst/>
              <a:gdLst/>
              <a:ahLst/>
              <a:cxnLst/>
              <a:rect r="r" b="b" t="t" l="l"/>
              <a:pathLst>
                <a:path h="1830197" w="19857974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9693255" y="0"/>
                  </a:lnTo>
                  <a:cubicBezTo>
                    <a:pt x="19784188" y="0"/>
                    <a:pt x="19857974" y="73787"/>
                    <a:pt x="19857974" y="164719"/>
                  </a:cubicBezTo>
                  <a:lnTo>
                    <a:pt x="19857974" y="1665478"/>
                  </a:lnTo>
                  <a:cubicBezTo>
                    <a:pt x="19857974" y="1756410"/>
                    <a:pt x="19784188" y="1830197"/>
                    <a:pt x="19693255" y="1830197"/>
                  </a:cubicBezTo>
                  <a:lnTo>
                    <a:pt x="164719" y="1830197"/>
                  </a:lnTo>
                  <a:cubicBezTo>
                    <a:pt x="73787" y="1830197"/>
                    <a:pt x="0" y="1756537"/>
                    <a:pt x="0" y="1665478"/>
                  </a:cubicBezTo>
                  <a:close/>
                </a:path>
              </a:pathLst>
            </a:custGeom>
            <a:solidFill>
              <a:srgbClr val="F4F7F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19975" y="7416079"/>
            <a:ext cx="82363" cy="1372676"/>
            <a:chOff x="0" y="0"/>
            <a:chExt cx="109817" cy="1830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855" cy="1830197"/>
            </a:xfrm>
            <a:custGeom>
              <a:avLst/>
              <a:gdLst/>
              <a:ahLst/>
              <a:cxnLst/>
              <a:rect r="r" b="b" t="t" l="l"/>
              <a:pathLst>
                <a:path h="1830197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69044" y="7416079"/>
            <a:ext cx="13795362" cy="1372676"/>
            <a:chOff x="0" y="0"/>
            <a:chExt cx="18393816" cy="18302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393811" cy="1830230"/>
            </a:xfrm>
            <a:custGeom>
              <a:avLst/>
              <a:gdLst/>
              <a:ahLst/>
              <a:cxnLst/>
              <a:rect r="r" b="b" t="t" l="l"/>
              <a:pathLst>
                <a:path h="1830230" w="18393811">
                  <a:moveTo>
                    <a:pt x="0" y="0"/>
                  </a:moveTo>
                  <a:lnTo>
                    <a:pt x="18393811" y="0"/>
                  </a:lnTo>
                  <a:lnTo>
                    <a:pt x="18393811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45824" r="0" b="-14582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04775"/>
              <a:ext cx="18393816" cy="1935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6"/>
                </a:lnSpc>
              </a:pPr>
              <a:r>
                <a:rPr lang="en-US" sz="2401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This checklist is built once, today, and reused for the rest of the programme.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494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1059" y="480431"/>
            <a:ext cx="4392549" cy="2882608"/>
            <a:chOff x="0" y="0"/>
            <a:chExt cx="5856732" cy="38434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6736" cy="3843483"/>
            </a:xfrm>
            <a:custGeom>
              <a:avLst/>
              <a:gdLst/>
              <a:ahLst/>
              <a:cxnLst/>
              <a:rect r="r" b="b" t="t" l="l"/>
              <a:pathLst>
                <a:path h="3843483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3843483"/>
                  </a:lnTo>
                  <a:lnTo>
                    <a:pt x="0" y="38434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199" t="0" r="-34199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0"/>
              <a:ext cx="5856732" cy="4033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8"/>
                </a:lnSpc>
              </a:pPr>
              <a:r>
                <a:rPr lang="en-US" sz="19515" b="true">
                  <a:solidFill>
                    <a:srgbClr val="2F63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0686" y="3733667"/>
            <a:ext cx="10157774" cy="466706"/>
            <a:chOff x="0" y="0"/>
            <a:chExt cx="13543699" cy="6222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543700" cy="622278"/>
            </a:xfrm>
            <a:custGeom>
              <a:avLst/>
              <a:gdLst/>
              <a:ahLst/>
              <a:cxnLst/>
              <a:rect r="r" b="b" t="t" l="l"/>
              <a:pathLst>
                <a:path h="622278" w="13543700">
                  <a:moveTo>
                    <a:pt x="0" y="0"/>
                  </a:moveTo>
                  <a:lnTo>
                    <a:pt x="13543700" y="0"/>
                  </a:lnTo>
                  <a:lnTo>
                    <a:pt x="13543700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4086" r="0" b="-37408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3543699" cy="641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b="true" sz="1951" spc="375">
                  <a:solidFill>
                    <a:srgbClr val="8FBEB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PART THREE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0686" y="4365098"/>
            <a:ext cx="1853108" cy="116681"/>
            <a:chOff x="0" y="0"/>
            <a:chExt cx="2470810" cy="1555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70785" cy="155575"/>
            </a:xfrm>
            <a:custGeom>
              <a:avLst/>
              <a:gdLst/>
              <a:ahLst/>
              <a:cxnLst/>
              <a:rect r="r" b="b" t="t" l="l"/>
              <a:pathLst>
                <a:path h="155575" w="2470785">
                  <a:moveTo>
                    <a:pt x="0" y="0"/>
                  </a:moveTo>
                  <a:lnTo>
                    <a:pt x="2470785" y="0"/>
                  </a:lnTo>
                  <a:lnTo>
                    <a:pt x="2470785" y="155575"/>
                  </a:lnTo>
                  <a:lnTo>
                    <a:pt x="0" y="155575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70686" y="4735716"/>
            <a:ext cx="11118647" cy="2196274"/>
            <a:chOff x="0" y="0"/>
            <a:chExt cx="14824862" cy="29283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824863" cy="2928368"/>
            </a:xfrm>
            <a:custGeom>
              <a:avLst/>
              <a:gdLst/>
              <a:ahLst/>
              <a:cxnLst/>
              <a:rect r="r" b="b" t="t" l="l"/>
              <a:pathLst>
                <a:path h="2928368" w="14824863">
                  <a:moveTo>
                    <a:pt x="0" y="0"/>
                  </a:moveTo>
                  <a:lnTo>
                    <a:pt x="14824863" y="0"/>
                  </a:lnTo>
                  <a:lnTo>
                    <a:pt x="14824863" y="2928368"/>
                  </a:lnTo>
                  <a:lnTo>
                    <a:pt x="0" y="292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643" r="0" b="-4864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14300"/>
              <a:ext cx="14824862" cy="3042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003"/>
                </a:lnSpc>
              </a:pPr>
              <a:r>
                <a:rPr lang="en-US" sz="5404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Applying it to SwiftRoute's Q3 extract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25588" y="7405564"/>
            <a:ext cx="219627" cy="219627"/>
            <a:chOff x="0" y="0"/>
            <a:chExt cx="292837" cy="2928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cubicBezTo>
                    <a:pt x="227330" y="0"/>
                    <a:pt x="292862" y="65532"/>
                    <a:pt x="292862" y="146431"/>
                  </a:cubicBezTo>
                  <a:cubicBezTo>
                    <a:pt x="292862" y="227330"/>
                    <a:pt x="227330" y="292862"/>
                    <a:pt x="146431" y="292862"/>
                  </a:cubicBezTo>
                  <a:cubicBezTo>
                    <a:pt x="65532" y="292862"/>
                    <a:pt x="0" y="227330"/>
                    <a:pt x="0" y="146431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47206" y="7288892"/>
            <a:ext cx="9883245" cy="466706"/>
            <a:chOff x="0" y="0"/>
            <a:chExt cx="13177660" cy="6222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177655" cy="622278"/>
            </a:xfrm>
            <a:custGeom>
              <a:avLst/>
              <a:gdLst/>
              <a:ahLst/>
              <a:cxnLst/>
              <a:rect r="r" b="b" t="t" l="l"/>
              <a:pathLst>
                <a:path h="622278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3177660" cy="641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What's actually wrong with the raw file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25588" y="7982093"/>
            <a:ext cx="219627" cy="219627"/>
            <a:chOff x="0" y="0"/>
            <a:chExt cx="292837" cy="2928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cubicBezTo>
                    <a:pt x="227330" y="0"/>
                    <a:pt x="292862" y="65532"/>
                    <a:pt x="292862" y="146431"/>
                  </a:cubicBezTo>
                  <a:cubicBezTo>
                    <a:pt x="292862" y="227330"/>
                    <a:pt x="227330" y="292862"/>
                    <a:pt x="146431" y="292862"/>
                  </a:cubicBezTo>
                  <a:cubicBezTo>
                    <a:pt x="65532" y="292862"/>
                    <a:pt x="0" y="227330"/>
                    <a:pt x="0" y="146431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47206" y="7865412"/>
            <a:ext cx="9883245" cy="466706"/>
            <a:chOff x="0" y="0"/>
            <a:chExt cx="13177660" cy="6222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177655" cy="622278"/>
            </a:xfrm>
            <a:custGeom>
              <a:avLst/>
              <a:gdLst/>
              <a:ahLst/>
              <a:cxnLst/>
              <a:rect r="r" b="b" t="t" l="l"/>
              <a:pathLst>
                <a:path h="622278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3177660" cy="641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A worked first cleaning pass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25588" y="8558613"/>
            <a:ext cx="219627" cy="219627"/>
            <a:chOff x="0" y="0"/>
            <a:chExt cx="292837" cy="2928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cubicBezTo>
                    <a:pt x="227330" y="0"/>
                    <a:pt x="292862" y="65532"/>
                    <a:pt x="292862" y="146431"/>
                  </a:cubicBezTo>
                  <a:cubicBezTo>
                    <a:pt x="292862" y="227330"/>
                    <a:pt x="227330" y="292862"/>
                    <a:pt x="146431" y="292862"/>
                  </a:cubicBezTo>
                  <a:cubicBezTo>
                    <a:pt x="65532" y="292862"/>
                    <a:pt x="0" y="227330"/>
                    <a:pt x="0" y="146431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47206" y="8441931"/>
            <a:ext cx="9883245" cy="466706"/>
            <a:chOff x="0" y="0"/>
            <a:chExt cx="13177660" cy="6222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177655" cy="622278"/>
            </a:xfrm>
            <a:custGeom>
              <a:avLst/>
              <a:gdLst/>
              <a:ahLst/>
              <a:cxnLst/>
              <a:rect r="r" b="b" t="t" l="l"/>
              <a:pathLst>
                <a:path h="622278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3177660" cy="641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Your turn: verify it yourself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546869" y="9718519"/>
            <a:ext cx="549069" cy="411804"/>
            <a:chOff x="0" y="0"/>
            <a:chExt cx="732092" cy="5490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2092" cy="549069"/>
            </a:xfrm>
            <a:custGeom>
              <a:avLst/>
              <a:gdLst/>
              <a:ahLst/>
              <a:cxnLst/>
              <a:rect r="r" b="b" t="t" l="l"/>
              <a:pathLst>
                <a:path h="549069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28" t="0" r="-46228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732092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1"/>
                </a:lnSpc>
              </a:pPr>
              <a:r>
                <a:rPr lang="en-US" sz="1651">
                  <a:solidFill>
                    <a:srgbClr val="7FA3A3"/>
                  </a:solidFill>
                  <a:latin typeface="Poppins"/>
                  <a:ea typeface="Poppins"/>
                  <a:cs typeface="Poppins"/>
                  <a:sym typeface="Poppins"/>
                </a:rPr>
                <a:t>13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6708107" y="3157166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28700"/>
            <a:ext cx="21879544" cy="8686000"/>
            <a:chOff x="0" y="0"/>
            <a:chExt cx="29172726" cy="1158133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63500"/>
              <a:ext cx="152400" cy="1371600"/>
              <a:chOff x="0" y="0"/>
              <a:chExt cx="152400" cy="13716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524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388080"/>
              </a:solidFill>
            </p:spPr>
          </p:sp>
        </p:grpSp>
        <p:sp>
          <p:nvSpPr>
            <p:cNvPr name="Freeform 7" id="7"/>
            <p:cNvSpPr/>
            <p:nvPr/>
          </p:nvSpPr>
          <p:spPr>
            <a:xfrm flipH="false" flipV="false" rot="1655820">
              <a:off x="21490305" y="4271467"/>
              <a:ext cx="2102866" cy="4324693"/>
            </a:xfrm>
            <a:custGeom>
              <a:avLst/>
              <a:gdLst/>
              <a:ahLst/>
              <a:cxnLst/>
              <a:rect r="r" b="b" t="t" l="l"/>
              <a:pathLst>
                <a:path h="4324693" w="2102866">
                  <a:moveTo>
                    <a:pt x="0" y="0"/>
                  </a:moveTo>
                  <a:lnTo>
                    <a:pt x="2102866" y="0"/>
                  </a:lnTo>
                  <a:lnTo>
                    <a:pt x="2102866" y="4324693"/>
                  </a:lnTo>
                  <a:lnTo>
                    <a:pt x="0" y="4324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01378" t="0" r="-101378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905876" y="2837955"/>
              <a:ext cx="8266849" cy="8077949"/>
            </a:xfrm>
            <a:custGeom>
              <a:avLst/>
              <a:gdLst/>
              <a:ahLst/>
              <a:cxnLst/>
              <a:rect r="r" b="b" t="t" l="l"/>
              <a:pathLst>
                <a:path h="8077949" w="8266849">
                  <a:moveTo>
                    <a:pt x="0" y="0"/>
                  </a:moveTo>
                  <a:lnTo>
                    <a:pt x="8266850" y="0"/>
                  </a:lnTo>
                  <a:lnTo>
                    <a:pt x="8266850" y="8077949"/>
                  </a:lnTo>
                  <a:lnTo>
                    <a:pt x="0" y="8077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381000" y="-47625"/>
              <a:ext cx="22802850" cy="1000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40"/>
                </a:lnSpc>
              </a:pPr>
              <a:r>
                <a:rPr lang="en-US" sz="47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What's actually</a:t>
              </a:r>
              <a:r>
                <a:rPr lang="en-US" sz="47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 wrong with swiftroute_q3_raw.xlsx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854098" y="10819333"/>
              <a:ext cx="862965" cy="762000"/>
              <a:chOff x="0" y="0"/>
              <a:chExt cx="862965" cy="762000"/>
            </a:xfrm>
          </p:grpSpPr>
          <p:sp>
            <p:nvSpPr>
              <p:cNvPr name="Freeform 11" id="11" descr="image.png"/>
              <p:cNvSpPr/>
              <p:nvPr/>
            </p:nvSpPr>
            <p:spPr>
              <a:xfrm flipH="false" flipV="false" rot="0">
                <a:off x="0" y="0"/>
                <a:ext cx="862965" cy="762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" w="862965">
                    <a:moveTo>
                      <a:pt x="0" y="0"/>
                    </a:moveTo>
                    <a:lnTo>
                      <a:pt x="862965" y="0"/>
                    </a:lnTo>
                    <a:lnTo>
                      <a:pt x="862965" y="762000"/>
                    </a:lnTo>
                    <a:lnTo>
                      <a:pt x="0" y="762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772" t="0" r="-772" b="0"/>
                </a:stretch>
              </a:blipFill>
            </p:spPr>
          </p:sp>
        </p:grpSp>
      </p:grpSp>
      <p:grpSp>
        <p:nvGrpSpPr>
          <p:cNvPr name="Group 12" id="12"/>
          <p:cNvGrpSpPr/>
          <p:nvPr/>
        </p:nvGrpSpPr>
        <p:grpSpPr>
          <a:xfrm rot="0">
            <a:off x="934250" y="3018839"/>
            <a:ext cx="14893500" cy="4598451"/>
            <a:chOff x="0" y="0"/>
            <a:chExt cx="19857999" cy="61312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57974" cy="6131179"/>
            </a:xfrm>
            <a:custGeom>
              <a:avLst/>
              <a:gdLst/>
              <a:ahLst/>
              <a:cxnLst/>
              <a:rect r="r" b="b" t="t" l="l"/>
              <a:pathLst>
                <a:path h="6131179" w="19857974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9693255" y="0"/>
                  </a:lnTo>
                  <a:cubicBezTo>
                    <a:pt x="19784188" y="0"/>
                    <a:pt x="19857974" y="73787"/>
                    <a:pt x="19857974" y="164719"/>
                  </a:cubicBezTo>
                  <a:lnTo>
                    <a:pt x="19857974" y="5966460"/>
                  </a:lnTo>
                  <a:cubicBezTo>
                    <a:pt x="19857974" y="6057392"/>
                    <a:pt x="19784188" y="6131179"/>
                    <a:pt x="19693255" y="6131179"/>
                  </a:cubicBezTo>
                  <a:lnTo>
                    <a:pt x="164719" y="6131179"/>
                  </a:lnTo>
                  <a:cubicBezTo>
                    <a:pt x="73787" y="6131306"/>
                    <a:pt x="0" y="6057519"/>
                    <a:pt x="0" y="59664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40152" y="3197281"/>
            <a:ext cx="14481696" cy="610838"/>
            <a:chOff x="0" y="0"/>
            <a:chExt cx="19308928" cy="8144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308953" cy="814451"/>
            </a:xfrm>
            <a:custGeom>
              <a:avLst/>
              <a:gdLst/>
              <a:ahLst/>
              <a:cxnLst/>
              <a:rect r="r" b="b" t="t" l="l"/>
              <a:pathLst>
                <a:path h="814451" w="19308953">
                  <a:moveTo>
                    <a:pt x="0" y="0"/>
                  </a:moveTo>
                  <a:lnTo>
                    <a:pt x="19308953" y="0"/>
                  </a:lnTo>
                  <a:lnTo>
                    <a:pt x="19308953" y="814451"/>
                  </a:lnTo>
                  <a:lnTo>
                    <a:pt x="0" y="81445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46054" y="3197281"/>
            <a:ext cx="3500314" cy="610838"/>
            <a:chOff x="0" y="0"/>
            <a:chExt cx="4667085" cy="8144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67086" cy="814452"/>
            </a:xfrm>
            <a:custGeom>
              <a:avLst/>
              <a:gdLst/>
              <a:ahLst/>
              <a:cxnLst/>
              <a:rect r="r" b="b" t="t" l="l"/>
              <a:pathLst>
                <a:path h="814452" w="4667086">
                  <a:moveTo>
                    <a:pt x="0" y="0"/>
                  </a:moveTo>
                  <a:lnTo>
                    <a:pt x="4667086" y="0"/>
                  </a:lnTo>
                  <a:lnTo>
                    <a:pt x="4667086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1655" r="0" b="-616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4667085" cy="823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Mixed date formats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915005" y="3197281"/>
            <a:ext cx="2745343" cy="610838"/>
            <a:chOff x="0" y="0"/>
            <a:chExt cx="3660458" cy="8144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60460" cy="814452"/>
            </a:xfrm>
            <a:custGeom>
              <a:avLst/>
              <a:gdLst/>
              <a:ahLst/>
              <a:cxnLst/>
              <a:rect r="r" b="b" t="t" l="l"/>
              <a:pathLst>
                <a:path h="814452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7573" r="0" b="-3757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3660458" cy="814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387F7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date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728985" y="3197281"/>
            <a:ext cx="2264912" cy="610838"/>
            <a:chOff x="0" y="0"/>
            <a:chExt cx="3019882" cy="8144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19879" cy="814452"/>
            </a:xfrm>
            <a:custGeom>
              <a:avLst/>
              <a:gdLst/>
              <a:ahLst/>
              <a:cxnLst/>
              <a:rect r="r" b="b" t="t" l="l"/>
              <a:pathLst>
                <a:path h="814452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248" r="0" b="-2224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3019882" cy="823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20494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All 3,640 rows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062524" y="3197281"/>
            <a:ext cx="5353421" cy="610838"/>
            <a:chOff x="0" y="0"/>
            <a:chExt cx="7137895" cy="8144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37897" cy="814452"/>
            </a:xfrm>
            <a:custGeom>
              <a:avLst/>
              <a:gdLst/>
              <a:ahLst/>
              <a:cxnLst/>
              <a:rect r="r" b="b" t="t" l="l"/>
              <a:pathLst>
                <a:path h="814452" w="7137897">
                  <a:moveTo>
                    <a:pt x="0" y="0"/>
                  </a:moveTo>
                  <a:lnTo>
                    <a:pt x="7137897" y="0"/>
                  </a:lnTo>
                  <a:lnTo>
                    <a:pt x="7137897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0767" r="0" b="-12076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7137895" cy="843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80"/>
                </a:lnSpc>
              </a:pPr>
              <a:r>
                <a:rPr lang="en-US" sz="1576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5 formats mixed in one column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40152" y="3808128"/>
            <a:ext cx="14481696" cy="610838"/>
            <a:chOff x="0" y="0"/>
            <a:chExt cx="19308928" cy="8144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308953" cy="814451"/>
            </a:xfrm>
            <a:custGeom>
              <a:avLst/>
              <a:gdLst/>
              <a:ahLst/>
              <a:cxnLst/>
              <a:rect r="r" b="b" t="t" l="l"/>
              <a:pathLst>
                <a:path h="814451" w="19308953">
                  <a:moveTo>
                    <a:pt x="0" y="0"/>
                  </a:moveTo>
                  <a:lnTo>
                    <a:pt x="19308953" y="0"/>
                  </a:lnTo>
                  <a:lnTo>
                    <a:pt x="19308953" y="814451"/>
                  </a:lnTo>
                  <a:lnTo>
                    <a:pt x="0" y="814451"/>
                  </a:lnTo>
                  <a:close/>
                </a:path>
              </a:pathLst>
            </a:custGeom>
            <a:solidFill>
              <a:srgbClr val="F4F7F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46054" y="3808128"/>
            <a:ext cx="3500314" cy="610838"/>
            <a:chOff x="0" y="0"/>
            <a:chExt cx="4667085" cy="81445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667086" cy="814452"/>
            </a:xfrm>
            <a:custGeom>
              <a:avLst/>
              <a:gdLst/>
              <a:ahLst/>
              <a:cxnLst/>
              <a:rect r="r" b="b" t="t" l="l"/>
              <a:pathLst>
                <a:path h="814452" w="4667086">
                  <a:moveTo>
                    <a:pt x="0" y="0"/>
                  </a:moveTo>
                  <a:lnTo>
                    <a:pt x="4667086" y="0"/>
                  </a:lnTo>
                  <a:lnTo>
                    <a:pt x="4667086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1655" r="0" b="-6165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4667085" cy="823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Fees as text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915005" y="3808128"/>
            <a:ext cx="2745343" cy="610838"/>
            <a:chOff x="0" y="0"/>
            <a:chExt cx="3660458" cy="81445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60460" cy="814452"/>
            </a:xfrm>
            <a:custGeom>
              <a:avLst/>
              <a:gdLst/>
              <a:ahLst/>
              <a:cxnLst/>
              <a:rect r="r" b="b" t="t" l="l"/>
              <a:pathLst>
                <a:path h="814452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7573" r="0" b="-3757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3660458" cy="814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387F7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fee_naira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728985" y="3808128"/>
            <a:ext cx="2264912" cy="610838"/>
            <a:chOff x="0" y="0"/>
            <a:chExt cx="3019882" cy="81445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19879" cy="814452"/>
            </a:xfrm>
            <a:custGeom>
              <a:avLst/>
              <a:gdLst/>
              <a:ahLst/>
              <a:cxnLst/>
              <a:rect r="r" b="b" t="t" l="l"/>
              <a:pathLst>
                <a:path h="814452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248" r="0" b="-2224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3019882" cy="823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20494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All 3,640 rows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062524" y="3808128"/>
            <a:ext cx="5353421" cy="610838"/>
            <a:chOff x="0" y="0"/>
            <a:chExt cx="7137895" cy="81445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137897" cy="814452"/>
            </a:xfrm>
            <a:custGeom>
              <a:avLst/>
              <a:gdLst/>
              <a:ahLst/>
              <a:cxnLst/>
              <a:rect r="r" b="b" t="t" l="l"/>
              <a:pathLst>
                <a:path h="814452" w="7137897">
                  <a:moveTo>
                    <a:pt x="0" y="0"/>
                  </a:moveTo>
                  <a:lnTo>
                    <a:pt x="7137897" y="0"/>
                  </a:lnTo>
                  <a:lnTo>
                    <a:pt x="7137897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0767" r="0" b="-12076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7137895" cy="843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80"/>
                </a:lnSpc>
              </a:pPr>
              <a:r>
                <a:rPr lang="en-US" sz="1576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e.g. "₦45,320", not numeric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40152" y="4418967"/>
            <a:ext cx="14481696" cy="610838"/>
            <a:chOff x="0" y="0"/>
            <a:chExt cx="19308928" cy="81445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308953" cy="814451"/>
            </a:xfrm>
            <a:custGeom>
              <a:avLst/>
              <a:gdLst/>
              <a:ahLst/>
              <a:cxnLst/>
              <a:rect r="r" b="b" t="t" l="l"/>
              <a:pathLst>
                <a:path h="814451" w="19308953">
                  <a:moveTo>
                    <a:pt x="0" y="0"/>
                  </a:moveTo>
                  <a:lnTo>
                    <a:pt x="19308953" y="0"/>
                  </a:lnTo>
                  <a:lnTo>
                    <a:pt x="19308953" y="814451"/>
                  </a:lnTo>
                  <a:lnTo>
                    <a:pt x="0" y="81445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46054" y="4418967"/>
            <a:ext cx="3500314" cy="610838"/>
            <a:chOff x="0" y="0"/>
            <a:chExt cx="4667085" cy="8144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667086" cy="814452"/>
            </a:xfrm>
            <a:custGeom>
              <a:avLst/>
              <a:gdLst/>
              <a:ahLst/>
              <a:cxnLst/>
              <a:rect r="r" b="b" t="t" l="l"/>
              <a:pathLst>
                <a:path h="814452" w="4667086">
                  <a:moveTo>
                    <a:pt x="0" y="0"/>
                  </a:moveTo>
                  <a:lnTo>
                    <a:pt x="4667086" y="0"/>
                  </a:lnTo>
                  <a:lnTo>
                    <a:pt x="4667086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1655" r="0" b="-6165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4667085" cy="823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Messy rider names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915005" y="4418967"/>
            <a:ext cx="2745343" cy="610838"/>
            <a:chOff x="0" y="0"/>
            <a:chExt cx="3660458" cy="81445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660460" cy="814452"/>
            </a:xfrm>
            <a:custGeom>
              <a:avLst/>
              <a:gdLst/>
              <a:ahLst/>
              <a:cxnLst/>
              <a:rect r="r" b="b" t="t" l="l"/>
              <a:pathLst>
                <a:path h="814452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7573" r="0" b="-3757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3660458" cy="814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387F7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rider_name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728985" y="4418967"/>
            <a:ext cx="2264912" cy="610838"/>
            <a:chOff x="0" y="0"/>
            <a:chExt cx="3019882" cy="81445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019879" cy="814452"/>
            </a:xfrm>
            <a:custGeom>
              <a:avLst/>
              <a:gdLst/>
              <a:ahLst/>
              <a:cxnLst/>
              <a:rect r="r" b="b" t="t" l="l"/>
              <a:pathLst>
                <a:path h="814452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248" r="0" b="-2224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3019882" cy="823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20494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628 rows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062524" y="4418967"/>
            <a:ext cx="5353421" cy="610838"/>
            <a:chOff x="0" y="0"/>
            <a:chExt cx="7137895" cy="81445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37897" cy="814452"/>
            </a:xfrm>
            <a:custGeom>
              <a:avLst/>
              <a:gdLst/>
              <a:ahLst/>
              <a:cxnLst/>
              <a:rect r="r" b="b" t="t" l="l"/>
              <a:pathLst>
                <a:path h="814452" w="7137897">
                  <a:moveTo>
                    <a:pt x="0" y="0"/>
                  </a:moveTo>
                  <a:lnTo>
                    <a:pt x="7137897" y="0"/>
                  </a:lnTo>
                  <a:lnTo>
                    <a:pt x="7137897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0767" r="0" b="-12076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7137895" cy="843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80"/>
                </a:lnSpc>
              </a:pPr>
              <a:r>
                <a:rPr lang="en-US" sz="1576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trailing spaces + inconsistent casing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40152" y="5029805"/>
            <a:ext cx="14481696" cy="610838"/>
            <a:chOff x="0" y="0"/>
            <a:chExt cx="19308928" cy="81445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9308953" cy="814451"/>
            </a:xfrm>
            <a:custGeom>
              <a:avLst/>
              <a:gdLst/>
              <a:ahLst/>
              <a:cxnLst/>
              <a:rect r="r" b="b" t="t" l="l"/>
              <a:pathLst>
                <a:path h="814451" w="19308953">
                  <a:moveTo>
                    <a:pt x="0" y="0"/>
                  </a:moveTo>
                  <a:lnTo>
                    <a:pt x="19308953" y="0"/>
                  </a:lnTo>
                  <a:lnTo>
                    <a:pt x="19308953" y="814451"/>
                  </a:lnTo>
                  <a:lnTo>
                    <a:pt x="0" y="814451"/>
                  </a:lnTo>
                  <a:close/>
                </a:path>
              </a:pathLst>
            </a:custGeom>
            <a:solidFill>
              <a:srgbClr val="F4F7F7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46054" y="5029805"/>
            <a:ext cx="3500314" cy="610838"/>
            <a:chOff x="0" y="0"/>
            <a:chExt cx="4667085" cy="81445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667086" cy="814452"/>
            </a:xfrm>
            <a:custGeom>
              <a:avLst/>
              <a:gdLst/>
              <a:ahLst/>
              <a:cxnLst/>
              <a:rect r="r" b="b" t="t" l="l"/>
              <a:pathLst>
                <a:path h="814452" w="4667086">
                  <a:moveTo>
                    <a:pt x="0" y="0"/>
                  </a:moveTo>
                  <a:lnTo>
                    <a:pt x="4667086" y="0"/>
                  </a:lnTo>
                  <a:lnTo>
                    <a:pt x="4667086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1655" r="0" b="-6165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4667085" cy="823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Route code split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4915005" y="5029805"/>
            <a:ext cx="2745343" cy="610838"/>
            <a:chOff x="0" y="0"/>
            <a:chExt cx="3660458" cy="81445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660460" cy="814452"/>
            </a:xfrm>
            <a:custGeom>
              <a:avLst/>
              <a:gdLst/>
              <a:ahLst/>
              <a:cxnLst/>
              <a:rect r="r" b="b" t="t" l="l"/>
              <a:pathLst>
                <a:path h="814452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7573" r="0" b="-3757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3660458" cy="814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387F7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route_code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728985" y="5029805"/>
            <a:ext cx="2264912" cy="610838"/>
            <a:chOff x="0" y="0"/>
            <a:chExt cx="3019882" cy="81445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019879" cy="814452"/>
            </a:xfrm>
            <a:custGeom>
              <a:avLst/>
              <a:gdLst/>
              <a:ahLst/>
              <a:cxnLst/>
              <a:rect r="r" b="b" t="t" l="l"/>
              <a:pathLst>
                <a:path h="814452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248" r="0" b="-2224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3019882" cy="823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20494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288 rows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062524" y="5029805"/>
            <a:ext cx="5353421" cy="610838"/>
            <a:chOff x="0" y="0"/>
            <a:chExt cx="7137895" cy="81445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137897" cy="814452"/>
            </a:xfrm>
            <a:custGeom>
              <a:avLst/>
              <a:gdLst/>
              <a:ahLst/>
              <a:cxnLst/>
              <a:rect r="r" b="b" t="t" l="l"/>
              <a:pathLst>
                <a:path h="814452" w="7137897">
                  <a:moveTo>
                    <a:pt x="0" y="0"/>
                  </a:moveTo>
                  <a:lnTo>
                    <a:pt x="7137897" y="0"/>
                  </a:lnTo>
                  <a:lnTo>
                    <a:pt x="7137897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0767" r="0" b="-12076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7137895" cy="843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80"/>
                </a:lnSpc>
              </a:pPr>
              <a:r>
                <a:rPr lang="en-US" sz="1576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"LAG-07" vs "LAG07", same route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40152" y="5640643"/>
            <a:ext cx="14481696" cy="610838"/>
            <a:chOff x="0" y="0"/>
            <a:chExt cx="19308928" cy="81445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9308953" cy="814451"/>
            </a:xfrm>
            <a:custGeom>
              <a:avLst/>
              <a:gdLst/>
              <a:ahLst/>
              <a:cxnLst/>
              <a:rect r="r" b="b" t="t" l="l"/>
              <a:pathLst>
                <a:path h="814451" w="19308953">
                  <a:moveTo>
                    <a:pt x="0" y="0"/>
                  </a:moveTo>
                  <a:lnTo>
                    <a:pt x="19308953" y="0"/>
                  </a:lnTo>
                  <a:lnTo>
                    <a:pt x="19308953" y="814451"/>
                  </a:lnTo>
                  <a:lnTo>
                    <a:pt x="0" y="81445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46054" y="5640643"/>
            <a:ext cx="3500314" cy="610838"/>
            <a:chOff x="0" y="0"/>
            <a:chExt cx="4667085" cy="81445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667086" cy="814452"/>
            </a:xfrm>
            <a:custGeom>
              <a:avLst/>
              <a:gdLst/>
              <a:ahLst/>
              <a:cxnLst/>
              <a:rect r="r" b="b" t="t" l="l"/>
              <a:pathLst>
                <a:path h="814452" w="4667086">
                  <a:moveTo>
                    <a:pt x="0" y="0"/>
                  </a:moveTo>
                  <a:lnTo>
                    <a:pt x="4667086" y="0"/>
                  </a:lnTo>
                  <a:lnTo>
                    <a:pt x="4667086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1655" r="0" b="-6165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4667085" cy="823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Blank statuses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4915005" y="5640643"/>
            <a:ext cx="2745343" cy="610838"/>
            <a:chOff x="0" y="0"/>
            <a:chExt cx="3660458" cy="81445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60460" cy="814452"/>
            </a:xfrm>
            <a:custGeom>
              <a:avLst/>
              <a:gdLst/>
              <a:ahLst/>
              <a:cxnLst/>
              <a:rect r="r" b="b" t="t" l="l"/>
              <a:pathLst>
                <a:path h="814452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7573" r="0" b="-3757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3660458" cy="814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387F7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delivery_status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728985" y="5640643"/>
            <a:ext cx="2264912" cy="610838"/>
            <a:chOff x="0" y="0"/>
            <a:chExt cx="3019882" cy="81445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019879" cy="814452"/>
            </a:xfrm>
            <a:custGeom>
              <a:avLst/>
              <a:gdLst/>
              <a:ahLst/>
              <a:cxnLst/>
              <a:rect r="r" b="b" t="t" l="l"/>
              <a:pathLst>
                <a:path h="814452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248" r="0" b="-2224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3019882" cy="823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20494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116 rows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062524" y="5640643"/>
            <a:ext cx="5353421" cy="610838"/>
            <a:chOff x="0" y="0"/>
            <a:chExt cx="7137895" cy="81445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137897" cy="814452"/>
            </a:xfrm>
            <a:custGeom>
              <a:avLst/>
              <a:gdLst/>
              <a:ahLst/>
              <a:cxnLst/>
              <a:rect r="r" b="b" t="t" l="l"/>
              <a:pathLst>
                <a:path h="814452" w="7137897">
                  <a:moveTo>
                    <a:pt x="0" y="0"/>
                  </a:moveTo>
                  <a:lnTo>
                    <a:pt x="7137897" y="0"/>
                  </a:lnTo>
                  <a:lnTo>
                    <a:pt x="7137897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0767" r="0" b="-120767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7137895" cy="843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80"/>
                </a:lnSpc>
              </a:pPr>
              <a:r>
                <a:rPr lang="en-US" sz="1576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empty string, not missing marker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140152" y="6251481"/>
            <a:ext cx="14481696" cy="610838"/>
            <a:chOff x="0" y="0"/>
            <a:chExt cx="19308928" cy="81445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9308953" cy="814451"/>
            </a:xfrm>
            <a:custGeom>
              <a:avLst/>
              <a:gdLst/>
              <a:ahLst/>
              <a:cxnLst/>
              <a:rect r="r" b="b" t="t" l="l"/>
              <a:pathLst>
                <a:path h="814451" w="19308953">
                  <a:moveTo>
                    <a:pt x="0" y="0"/>
                  </a:moveTo>
                  <a:lnTo>
                    <a:pt x="19308953" y="0"/>
                  </a:lnTo>
                  <a:lnTo>
                    <a:pt x="19308953" y="814451"/>
                  </a:lnTo>
                  <a:lnTo>
                    <a:pt x="0" y="814451"/>
                  </a:lnTo>
                  <a:close/>
                </a:path>
              </a:pathLst>
            </a:custGeom>
            <a:solidFill>
              <a:srgbClr val="F4F7F7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46054" y="6251481"/>
            <a:ext cx="3500314" cy="610838"/>
            <a:chOff x="0" y="0"/>
            <a:chExt cx="4667085" cy="81445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667086" cy="814452"/>
            </a:xfrm>
            <a:custGeom>
              <a:avLst/>
              <a:gdLst/>
              <a:ahLst/>
              <a:cxnLst/>
              <a:rect r="r" b="b" t="t" l="l"/>
              <a:pathLst>
                <a:path h="814452" w="4667086">
                  <a:moveTo>
                    <a:pt x="0" y="0"/>
                  </a:moveTo>
                  <a:lnTo>
                    <a:pt x="4667086" y="0"/>
                  </a:lnTo>
                  <a:lnTo>
                    <a:pt x="4667086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1655" r="0" b="-6165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4667085" cy="823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Impossible values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4915005" y="6251481"/>
            <a:ext cx="2745343" cy="610838"/>
            <a:chOff x="0" y="0"/>
            <a:chExt cx="3660458" cy="81445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660460" cy="814452"/>
            </a:xfrm>
            <a:custGeom>
              <a:avLst/>
              <a:gdLst/>
              <a:ahLst/>
              <a:cxnLst/>
              <a:rect r="r" b="b" t="t" l="l"/>
              <a:pathLst>
                <a:path h="814452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7573" r="0" b="-3757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3660458" cy="814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387F7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duration_min / date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7728985" y="6251481"/>
            <a:ext cx="2264912" cy="610838"/>
            <a:chOff x="0" y="0"/>
            <a:chExt cx="3019882" cy="81445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019879" cy="814452"/>
            </a:xfrm>
            <a:custGeom>
              <a:avLst/>
              <a:gdLst/>
              <a:ahLst/>
              <a:cxnLst/>
              <a:rect r="r" b="b" t="t" l="l"/>
              <a:pathLst>
                <a:path h="814452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248" r="0" b="-2224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3019882" cy="823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20494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 rows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062524" y="6251481"/>
            <a:ext cx="5353421" cy="610838"/>
            <a:chOff x="0" y="0"/>
            <a:chExt cx="7137895" cy="81445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137897" cy="814452"/>
            </a:xfrm>
            <a:custGeom>
              <a:avLst/>
              <a:gdLst/>
              <a:ahLst/>
              <a:cxnLst/>
              <a:rect r="r" b="b" t="t" l="l"/>
              <a:pathLst>
                <a:path h="814452" w="7137897">
                  <a:moveTo>
                    <a:pt x="0" y="0"/>
                  </a:moveTo>
                  <a:lnTo>
                    <a:pt x="7137897" y="0"/>
                  </a:lnTo>
                  <a:lnTo>
                    <a:pt x="7137897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0767" r="0" b="-12076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7137895" cy="843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80"/>
                </a:lnSpc>
              </a:pPr>
              <a:r>
                <a:rPr lang="en-US" sz="1576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4 negative durations, 2 dates in 2027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40152" y="6862320"/>
            <a:ext cx="14481696" cy="610838"/>
            <a:chOff x="0" y="0"/>
            <a:chExt cx="19308928" cy="81445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9308953" cy="814451"/>
            </a:xfrm>
            <a:custGeom>
              <a:avLst/>
              <a:gdLst/>
              <a:ahLst/>
              <a:cxnLst/>
              <a:rect r="r" b="b" t="t" l="l"/>
              <a:pathLst>
                <a:path h="814451" w="19308953">
                  <a:moveTo>
                    <a:pt x="0" y="0"/>
                  </a:moveTo>
                  <a:lnTo>
                    <a:pt x="19308953" y="0"/>
                  </a:lnTo>
                  <a:lnTo>
                    <a:pt x="19308953" y="814451"/>
                  </a:lnTo>
                  <a:lnTo>
                    <a:pt x="0" y="81445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346054" y="6862320"/>
            <a:ext cx="3500314" cy="610838"/>
            <a:chOff x="0" y="0"/>
            <a:chExt cx="4667085" cy="81445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667086" cy="814452"/>
            </a:xfrm>
            <a:custGeom>
              <a:avLst/>
              <a:gdLst/>
              <a:ahLst/>
              <a:cxnLst/>
              <a:rect r="r" b="b" t="t" l="l"/>
              <a:pathLst>
                <a:path h="814452" w="4667086">
                  <a:moveTo>
                    <a:pt x="0" y="0"/>
                  </a:moveTo>
                  <a:lnTo>
                    <a:pt x="4667086" y="0"/>
                  </a:lnTo>
                  <a:lnTo>
                    <a:pt x="4667086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1655" r="0" b="-61655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4667085" cy="823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Duplicate IDs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4915005" y="6862320"/>
            <a:ext cx="2745343" cy="610838"/>
            <a:chOff x="0" y="0"/>
            <a:chExt cx="3660458" cy="81445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660460" cy="814452"/>
            </a:xfrm>
            <a:custGeom>
              <a:avLst/>
              <a:gdLst/>
              <a:ahLst/>
              <a:cxnLst/>
              <a:rect r="r" b="b" t="t" l="l"/>
              <a:pathLst>
                <a:path h="814452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7573" r="0" b="-37573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3660458" cy="814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387F7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delivery_id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7728985" y="6862320"/>
            <a:ext cx="2264912" cy="610838"/>
            <a:chOff x="0" y="0"/>
            <a:chExt cx="3019882" cy="81445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019879" cy="814452"/>
            </a:xfrm>
            <a:custGeom>
              <a:avLst/>
              <a:gdLst/>
              <a:ahLst/>
              <a:cxnLst/>
              <a:rect r="r" b="b" t="t" l="l"/>
              <a:pathLst>
                <a:path h="814452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248" r="0" b="-22247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9525"/>
              <a:ext cx="3019882" cy="823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20494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40 IDs (80 rows)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0062524" y="6862320"/>
            <a:ext cx="5353421" cy="610838"/>
            <a:chOff x="0" y="0"/>
            <a:chExt cx="7137895" cy="814451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7137897" cy="814452"/>
            </a:xfrm>
            <a:custGeom>
              <a:avLst/>
              <a:gdLst/>
              <a:ahLst/>
              <a:cxnLst/>
              <a:rect r="r" b="b" t="t" l="l"/>
              <a:pathLst>
                <a:path h="814452" w="7137897">
                  <a:moveTo>
                    <a:pt x="0" y="0"/>
                  </a:moveTo>
                  <a:lnTo>
                    <a:pt x="7137897" y="0"/>
                  </a:lnTo>
                  <a:lnTo>
                    <a:pt x="7137897" y="814452"/>
                  </a:lnTo>
                  <a:lnTo>
                    <a:pt x="0" y="814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0767" r="0" b="-120767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7137895" cy="843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80"/>
                </a:lnSpc>
              </a:pPr>
              <a:r>
                <a:rPr lang="en-US" sz="1576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each duplicated delivery appears twice</a:t>
              </a:r>
            </a:p>
          </p:txBody>
        </p:sp>
      </p:grpSp>
      <p:sp>
        <p:nvSpPr>
          <p:cNvPr name="AutoShape 112" id="112"/>
          <p:cNvSpPr/>
          <p:nvPr/>
        </p:nvSpPr>
        <p:spPr>
          <a:xfrm>
            <a:off x="1130624" y="3187790"/>
            <a:ext cx="14500762" cy="18981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3" id="113"/>
          <p:cNvGrpSpPr/>
          <p:nvPr/>
        </p:nvGrpSpPr>
        <p:grpSpPr>
          <a:xfrm rot="0">
            <a:off x="934250" y="7823192"/>
            <a:ext cx="14893500" cy="549069"/>
            <a:chOff x="0" y="0"/>
            <a:chExt cx="19857999" cy="73209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9857994" cy="732092"/>
            </a:xfrm>
            <a:custGeom>
              <a:avLst/>
              <a:gdLst/>
              <a:ahLst/>
              <a:cxnLst/>
              <a:rect r="r" b="b" t="t" l="l"/>
              <a:pathLst>
                <a:path h="732092" w="19857994">
                  <a:moveTo>
                    <a:pt x="0" y="0"/>
                  </a:moveTo>
                  <a:lnTo>
                    <a:pt x="19857994" y="0"/>
                  </a:lnTo>
                  <a:lnTo>
                    <a:pt x="1985799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78531" r="0" b="-478531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19050"/>
              <a:ext cx="19857999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i="true">
                  <a:solidFill>
                    <a:srgbClr val="64748B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Every count on this slide was recomputed from the actual file with a script, not carried over from memory.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28700"/>
            <a:ext cx="21879544" cy="8686000"/>
            <a:chOff x="0" y="0"/>
            <a:chExt cx="29172726" cy="1158133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63500"/>
              <a:ext cx="152400" cy="1371600"/>
              <a:chOff x="0" y="0"/>
              <a:chExt cx="152400" cy="13716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524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388080"/>
              </a:solidFill>
            </p:spPr>
          </p:sp>
        </p:grpSp>
        <p:sp>
          <p:nvSpPr>
            <p:cNvPr name="Freeform 7" id="7"/>
            <p:cNvSpPr/>
            <p:nvPr/>
          </p:nvSpPr>
          <p:spPr>
            <a:xfrm flipH="false" flipV="false" rot="1655820">
              <a:off x="21490305" y="4271467"/>
              <a:ext cx="2102866" cy="4324693"/>
            </a:xfrm>
            <a:custGeom>
              <a:avLst/>
              <a:gdLst/>
              <a:ahLst/>
              <a:cxnLst/>
              <a:rect r="r" b="b" t="t" l="l"/>
              <a:pathLst>
                <a:path h="4324693" w="2102866">
                  <a:moveTo>
                    <a:pt x="0" y="0"/>
                  </a:moveTo>
                  <a:lnTo>
                    <a:pt x="2102866" y="0"/>
                  </a:lnTo>
                  <a:lnTo>
                    <a:pt x="2102866" y="4324693"/>
                  </a:lnTo>
                  <a:lnTo>
                    <a:pt x="0" y="4324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01378" t="0" r="-101378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905876" y="2837955"/>
              <a:ext cx="8266849" cy="8077949"/>
            </a:xfrm>
            <a:custGeom>
              <a:avLst/>
              <a:gdLst/>
              <a:ahLst/>
              <a:cxnLst/>
              <a:rect r="r" b="b" t="t" l="l"/>
              <a:pathLst>
                <a:path h="8077949" w="8266849">
                  <a:moveTo>
                    <a:pt x="0" y="0"/>
                  </a:moveTo>
                  <a:lnTo>
                    <a:pt x="8266850" y="0"/>
                  </a:lnTo>
                  <a:lnTo>
                    <a:pt x="8266850" y="8077949"/>
                  </a:lnTo>
                  <a:lnTo>
                    <a:pt x="0" y="8077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381000" y="-47625"/>
              <a:ext cx="22802850" cy="1063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A worked first pass: dates and fees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0854098" y="10819333"/>
              <a:ext cx="862965" cy="762000"/>
              <a:chOff x="0" y="0"/>
              <a:chExt cx="862965" cy="762000"/>
            </a:xfrm>
          </p:grpSpPr>
          <p:sp>
            <p:nvSpPr>
              <p:cNvPr name="Freeform 11" id="11" descr="image.png"/>
              <p:cNvSpPr/>
              <p:nvPr/>
            </p:nvSpPr>
            <p:spPr>
              <a:xfrm flipH="false" flipV="false" rot="0">
                <a:off x="0" y="0"/>
                <a:ext cx="862965" cy="762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" w="862965">
                    <a:moveTo>
                      <a:pt x="0" y="0"/>
                    </a:moveTo>
                    <a:lnTo>
                      <a:pt x="862965" y="0"/>
                    </a:lnTo>
                    <a:lnTo>
                      <a:pt x="862965" y="762000"/>
                    </a:lnTo>
                    <a:lnTo>
                      <a:pt x="0" y="762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772" t="0" r="-772" b="0"/>
                </a:stretch>
              </a:blipFill>
            </p:spPr>
          </p:sp>
        </p:grpSp>
      </p:grpSp>
      <p:grpSp>
        <p:nvGrpSpPr>
          <p:cNvPr name="Group 12" id="12"/>
          <p:cNvGrpSpPr/>
          <p:nvPr/>
        </p:nvGrpSpPr>
        <p:grpSpPr>
          <a:xfrm rot="0">
            <a:off x="981875" y="2474452"/>
            <a:ext cx="5125403" cy="774030"/>
            <a:chOff x="0" y="0"/>
            <a:chExt cx="6833870" cy="1032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33870" cy="1032002"/>
            </a:xfrm>
            <a:custGeom>
              <a:avLst/>
              <a:gdLst/>
              <a:ahLst/>
              <a:cxnLst/>
              <a:rect r="r" b="b" t="t" l="l"/>
              <a:pathLst>
                <a:path h="1032002" w="6833870">
                  <a:moveTo>
                    <a:pt x="0" y="516001"/>
                  </a:moveTo>
                  <a:cubicBezTo>
                    <a:pt x="0" y="231013"/>
                    <a:pt x="231013" y="0"/>
                    <a:pt x="516001" y="0"/>
                  </a:cubicBezTo>
                  <a:lnTo>
                    <a:pt x="6317869" y="0"/>
                  </a:lnTo>
                  <a:cubicBezTo>
                    <a:pt x="6602857" y="0"/>
                    <a:pt x="6833870" y="231013"/>
                    <a:pt x="6833870" y="516001"/>
                  </a:cubicBezTo>
                  <a:cubicBezTo>
                    <a:pt x="6833870" y="800989"/>
                    <a:pt x="6602857" y="1032002"/>
                    <a:pt x="6317869" y="1032002"/>
                  </a:cubicBezTo>
                  <a:lnTo>
                    <a:pt x="516001" y="1032002"/>
                  </a:lnTo>
                  <a:cubicBezTo>
                    <a:pt x="231013" y="1032002"/>
                    <a:pt x="0" y="800989"/>
                    <a:pt x="0" y="51600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91400" y="2483987"/>
            <a:ext cx="5106343" cy="754971"/>
            <a:chOff x="0" y="0"/>
            <a:chExt cx="6808457" cy="10066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08455" cy="1006626"/>
            </a:xfrm>
            <a:custGeom>
              <a:avLst/>
              <a:gdLst/>
              <a:ahLst/>
              <a:cxnLst/>
              <a:rect r="r" b="b" t="t" l="l"/>
              <a:pathLst>
                <a:path h="1006626" w="6808455">
                  <a:moveTo>
                    <a:pt x="0" y="0"/>
                  </a:moveTo>
                  <a:lnTo>
                    <a:pt x="6808455" y="0"/>
                  </a:lnTo>
                  <a:lnTo>
                    <a:pt x="680845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1789" r="0" b="-8178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6808457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1. Load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62468" y="2483987"/>
            <a:ext cx="5106343" cy="754971"/>
            <a:chOff x="0" y="0"/>
            <a:chExt cx="6808457" cy="10066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08470" cy="1006602"/>
            </a:xfrm>
            <a:custGeom>
              <a:avLst/>
              <a:gdLst/>
              <a:ahLst/>
              <a:cxnLst/>
              <a:rect r="r" b="b" t="t" l="l"/>
              <a:pathLst>
                <a:path h="1006602" w="6808470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lnTo>
                    <a:pt x="6305169" y="0"/>
                  </a:lnTo>
                  <a:cubicBezTo>
                    <a:pt x="6583172" y="0"/>
                    <a:pt x="6808470" y="225298"/>
                    <a:pt x="6808470" y="503301"/>
                  </a:cubicBezTo>
                  <a:cubicBezTo>
                    <a:pt x="6808470" y="781304"/>
                    <a:pt x="6583172" y="1006602"/>
                    <a:pt x="6305169" y="1006602"/>
                  </a:cubicBezTo>
                  <a:lnTo>
                    <a:pt x="503301" y="1006602"/>
                  </a:ln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262468" y="2483987"/>
            <a:ext cx="5106343" cy="754971"/>
            <a:chOff x="0" y="0"/>
            <a:chExt cx="6808457" cy="10066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08455" cy="1006626"/>
            </a:xfrm>
            <a:custGeom>
              <a:avLst/>
              <a:gdLst/>
              <a:ahLst/>
              <a:cxnLst/>
              <a:rect r="r" b="b" t="t" l="l"/>
              <a:pathLst>
                <a:path h="1006626" w="6808455">
                  <a:moveTo>
                    <a:pt x="0" y="0"/>
                  </a:moveTo>
                  <a:lnTo>
                    <a:pt x="6808455" y="0"/>
                  </a:lnTo>
                  <a:lnTo>
                    <a:pt x="680845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1789" r="0" b="-8178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808457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2. Standardise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523993" y="2474452"/>
            <a:ext cx="5125403" cy="774030"/>
            <a:chOff x="0" y="0"/>
            <a:chExt cx="6833870" cy="1032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33870" cy="1032002"/>
            </a:xfrm>
            <a:custGeom>
              <a:avLst/>
              <a:gdLst/>
              <a:ahLst/>
              <a:cxnLst/>
              <a:rect r="r" b="b" t="t" l="l"/>
              <a:pathLst>
                <a:path h="1032002" w="6833870">
                  <a:moveTo>
                    <a:pt x="0" y="516001"/>
                  </a:moveTo>
                  <a:cubicBezTo>
                    <a:pt x="0" y="231013"/>
                    <a:pt x="231013" y="0"/>
                    <a:pt x="516001" y="0"/>
                  </a:cubicBezTo>
                  <a:lnTo>
                    <a:pt x="6317869" y="0"/>
                  </a:lnTo>
                  <a:cubicBezTo>
                    <a:pt x="6602857" y="0"/>
                    <a:pt x="6833870" y="231013"/>
                    <a:pt x="6833870" y="516001"/>
                  </a:cubicBezTo>
                  <a:cubicBezTo>
                    <a:pt x="6833870" y="800989"/>
                    <a:pt x="6602857" y="1032002"/>
                    <a:pt x="6317869" y="1032002"/>
                  </a:cubicBezTo>
                  <a:lnTo>
                    <a:pt x="516001" y="1032002"/>
                  </a:lnTo>
                  <a:cubicBezTo>
                    <a:pt x="231013" y="1032002"/>
                    <a:pt x="0" y="800989"/>
                    <a:pt x="0" y="51600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533527" y="2483987"/>
            <a:ext cx="5106343" cy="754971"/>
            <a:chOff x="0" y="0"/>
            <a:chExt cx="6808457" cy="10066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08455" cy="1006626"/>
            </a:xfrm>
            <a:custGeom>
              <a:avLst/>
              <a:gdLst/>
              <a:ahLst/>
              <a:cxnLst/>
              <a:rect r="r" b="b" t="t" l="l"/>
              <a:pathLst>
                <a:path h="1006626" w="6808455">
                  <a:moveTo>
                    <a:pt x="0" y="0"/>
                  </a:moveTo>
                  <a:lnTo>
                    <a:pt x="6808455" y="0"/>
                  </a:lnTo>
                  <a:lnTo>
                    <a:pt x="680845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1789" r="0" b="-8178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808457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3. Verify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91400" y="3582124"/>
            <a:ext cx="9196902" cy="4667088"/>
            <a:chOff x="0" y="0"/>
            <a:chExt cx="12262536" cy="622278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262485" cy="6222746"/>
            </a:xfrm>
            <a:custGeom>
              <a:avLst/>
              <a:gdLst/>
              <a:ahLst/>
              <a:cxnLst/>
              <a:rect r="r" b="b" t="t" l="l"/>
              <a:pathLst>
                <a:path h="6222746" w="12262485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2097766" y="0"/>
                  </a:lnTo>
                  <a:cubicBezTo>
                    <a:pt x="12188698" y="0"/>
                    <a:pt x="12262485" y="73787"/>
                    <a:pt x="12262485" y="164719"/>
                  </a:cubicBezTo>
                  <a:lnTo>
                    <a:pt x="12262485" y="6058027"/>
                  </a:lnTo>
                  <a:cubicBezTo>
                    <a:pt x="12262485" y="6148959"/>
                    <a:pt x="12188698" y="6222746"/>
                    <a:pt x="12097766" y="6222746"/>
                  </a:cubicBezTo>
                  <a:lnTo>
                    <a:pt x="164719" y="6222746"/>
                  </a:lnTo>
                  <a:cubicBezTo>
                    <a:pt x="73787" y="6222746"/>
                    <a:pt x="0" y="6149086"/>
                    <a:pt x="0" y="60580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65939" y="3751878"/>
            <a:ext cx="8647833" cy="4360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251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AI drafted this from one instruction: parse the mixed-format dates and strip the naira symbol and commas from the fee column. Before running it, the prediction: dates come out with zero parse errors; fees land roughly ₦400–₦8,000, the range seen scrolling through the raw file by eye.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462841" y="3582124"/>
            <a:ext cx="6177029" cy="4667088"/>
            <a:chOff x="0" y="0"/>
            <a:chExt cx="8236039" cy="62227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236076" cy="6222746"/>
            </a:xfrm>
            <a:custGeom>
              <a:avLst/>
              <a:gdLst/>
              <a:ahLst/>
              <a:cxnLst/>
              <a:rect r="r" b="b" t="t" l="l"/>
              <a:pathLst>
                <a:path h="6222746" w="823607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8071358" y="0"/>
                  </a:lnTo>
                  <a:cubicBezTo>
                    <a:pt x="8162289" y="0"/>
                    <a:pt x="8236076" y="73787"/>
                    <a:pt x="8236076" y="164719"/>
                  </a:cubicBezTo>
                  <a:lnTo>
                    <a:pt x="8236076" y="6058027"/>
                  </a:lnTo>
                  <a:cubicBezTo>
                    <a:pt x="8236076" y="6148959"/>
                    <a:pt x="8162289" y="6222746"/>
                    <a:pt x="8071358" y="6222746"/>
                  </a:cubicBezTo>
                  <a:lnTo>
                    <a:pt x="164719" y="6222746"/>
                  </a:lnTo>
                  <a:cubicBezTo>
                    <a:pt x="73787" y="6222746"/>
                    <a:pt x="0" y="6149086"/>
                    <a:pt x="0" y="6058027"/>
                  </a:cubicBezTo>
                  <a:close/>
                </a:path>
              </a:pathLst>
            </a:custGeom>
            <a:solidFill>
              <a:srgbClr val="F4F7F7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462841" y="3582124"/>
            <a:ext cx="123539" cy="4667088"/>
            <a:chOff x="0" y="0"/>
            <a:chExt cx="164719" cy="62227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4719" cy="6222746"/>
            </a:xfrm>
            <a:custGeom>
              <a:avLst/>
              <a:gdLst/>
              <a:ahLst/>
              <a:cxnLst/>
              <a:rect r="r" b="b" t="t" l="l"/>
              <a:pathLst>
                <a:path h="6222746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6222746"/>
                  </a:lnTo>
                  <a:lnTo>
                    <a:pt x="0" y="6222746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874645" y="3770928"/>
            <a:ext cx="5490686" cy="497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4"/>
              </a:lnSpc>
            </a:pPr>
            <a:r>
              <a:rPr lang="en-US" sz="1951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VERIFICATION CHECK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874645" y="4300947"/>
            <a:ext cx="5490686" cy="367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251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After running: 0 date-parse failures on all 3,640 rows. Fees now numeric, ranging ₦640–₦6,160 - within the predicted range. Row count before and after is still 3,640: nothing silently dropped. This step passes the checklist.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65939" y="6464732"/>
            <a:ext cx="8373304" cy="1578569"/>
            <a:chOff x="0" y="0"/>
            <a:chExt cx="11164405" cy="210475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164443" cy="2104771"/>
            </a:xfrm>
            <a:custGeom>
              <a:avLst/>
              <a:gdLst/>
              <a:ahLst/>
              <a:cxnLst/>
              <a:rect r="r" b="b" t="t" l="l"/>
              <a:pathLst>
                <a:path h="2104771" w="11164443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999724" y="0"/>
                  </a:lnTo>
                  <a:cubicBezTo>
                    <a:pt x="11090656" y="0"/>
                    <a:pt x="11164443" y="73787"/>
                    <a:pt x="11164443" y="164719"/>
                  </a:cubicBezTo>
                  <a:lnTo>
                    <a:pt x="11164443" y="1940052"/>
                  </a:lnTo>
                  <a:cubicBezTo>
                    <a:pt x="11164443" y="2030984"/>
                    <a:pt x="11090656" y="2104771"/>
                    <a:pt x="10999724" y="2104771"/>
                  </a:cubicBezTo>
                  <a:lnTo>
                    <a:pt x="164719" y="2104771"/>
                  </a:lnTo>
                  <a:cubicBezTo>
                    <a:pt x="73787" y="2104771"/>
                    <a:pt x="0" y="2030984"/>
                    <a:pt x="0" y="1940052"/>
                  </a:cubicBezTo>
                  <a:close/>
                </a:path>
              </a:pathLst>
            </a:custGeom>
            <a:solidFill>
              <a:srgbClr val="10312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67929" y="6258830"/>
            <a:ext cx="1509941" cy="439255"/>
            <a:chOff x="0" y="0"/>
            <a:chExt cx="2013255" cy="585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13331" cy="585724"/>
            </a:xfrm>
            <a:custGeom>
              <a:avLst/>
              <a:gdLst/>
              <a:ahLst/>
              <a:cxnLst/>
              <a:rect r="r" b="b" t="t" l="l"/>
              <a:pathLst>
                <a:path h="585724" w="2013331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1720469" y="0"/>
                  </a:lnTo>
                  <a:cubicBezTo>
                    <a:pt x="1882140" y="0"/>
                    <a:pt x="2013331" y="131064"/>
                    <a:pt x="2013331" y="292862"/>
                  </a:cubicBezTo>
                  <a:cubicBezTo>
                    <a:pt x="2013331" y="454660"/>
                    <a:pt x="1882140" y="585724"/>
                    <a:pt x="1720469" y="585724"/>
                  </a:cubicBezTo>
                  <a:lnTo>
                    <a:pt x="292862" y="585724"/>
                  </a:lnTo>
                  <a:cubicBezTo>
                    <a:pt x="131064" y="585724"/>
                    <a:pt x="0" y="454533"/>
                    <a:pt x="0" y="292862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567929" y="6258830"/>
            <a:ext cx="1509941" cy="439255"/>
            <a:chOff x="0" y="0"/>
            <a:chExt cx="2013255" cy="58567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13253" cy="585674"/>
            </a:xfrm>
            <a:custGeom>
              <a:avLst/>
              <a:gdLst/>
              <a:ahLst/>
              <a:cxnLst/>
              <a:rect r="r" b="b" t="t" l="l"/>
              <a:pathLst>
                <a:path h="585674" w="2013253">
                  <a:moveTo>
                    <a:pt x="0" y="0"/>
                  </a:moveTo>
                  <a:lnTo>
                    <a:pt x="2013253" y="0"/>
                  </a:lnTo>
                  <a:lnTo>
                    <a:pt x="201325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979" r="0" b="-1697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2013255" cy="6047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PYTHON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677743" y="6876536"/>
            <a:ext cx="7549696" cy="892235"/>
            <a:chOff x="0" y="0"/>
            <a:chExt cx="10066261" cy="118964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66265" cy="1189649"/>
            </a:xfrm>
            <a:custGeom>
              <a:avLst/>
              <a:gdLst/>
              <a:ahLst/>
              <a:cxnLst/>
              <a:rect r="r" b="b" t="t" l="l"/>
              <a:pathLst>
                <a:path h="1189649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4873" r="0" b="-11487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0066261" cy="12277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501">
                  <a:solidFill>
                    <a:srgbClr val="CFE6E3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df['date'] = pd.to_datetime(df['date'], format='mixed', dayfirst=True)</a:t>
              </a:r>
            </a:p>
            <a:p>
              <a:pPr algn="l">
                <a:lnSpc>
                  <a:spcPts val="2251"/>
                </a:lnSpc>
              </a:pPr>
              <a:r>
                <a:rPr lang="en-US" sz="1501">
                  <a:solidFill>
                    <a:srgbClr val="CFE6E3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df['fee_naira'] = (df['fee_naira'].str.replace('₦', '', regex=False)</a:t>
              </a:r>
            </a:p>
            <a:p>
              <a:pPr algn="l">
                <a:lnSpc>
                  <a:spcPts val="2251"/>
                </a:lnSpc>
              </a:pPr>
              <a:r>
                <a:rPr lang="en-US" sz="1501">
                  <a:solidFill>
                    <a:srgbClr val="CFE6E3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.str.replace(',', '', regex=False).astype(int))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051887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Your turn: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verify the rest of the file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57250" y="2657732"/>
            <a:ext cx="15648470" cy="2333539"/>
            <a:chOff x="0" y="0"/>
            <a:chExt cx="20864627" cy="31113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864576" cy="3111373"/>
            </a:xfrm>
            <a:custGeom>
              <a:avLst/>
              <a:gdLst/>
              <a:ahLst/>
              <a:cxnLst/>
              <a:rect r="r" b="b" t="t" l="l"/>
              <a:pathLst>
                <a:path h="3111373" w="2086457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20699857" y="0"/>
                  </a:lnTo>
                  <a:cubicBezTo>
                    <a:pt x="20790790" y="0"/>
                    <a:pt x="20864576" y="73787"/>
                    <a:pt x="20864576" y="164719"/>
                  </a:cubicBezTo>
                  <a:lnTo>
                    <a:pt x="20864576" y="2946654"/>
                  </a:lnTo>
                  <a:cubicBezTo>
                    <a:pt x="20864576" y="3037586"/>
                    <a:pt x="20790790" y="3111373"/>
                    <a:pt x="20699857" y="3111373"/>
                  </a:cubicBezTo>
                  <a:lnTo>
                    <a:pt x="164719" y="3111373"/>
                  </a:lnTo>
                  <a:cubicBezTo>
                    <a:pt x="73787" y="3111373"/>
                    <a:pt x="0" y="3037586"/>
                    <a:pt x="0" y="29466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57250" y="2657732"/>
            <a:ext cx="123539" cy="2333539"/>
            <a:chOff x="0" y="0"/>
            <a:chExt cx="164719" cy="31113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719" cy="3111373"/>
            </a:xfrm>
            <a:custGeom>
              <a:avLst/>
              <a:gdLst/>
              <a:ahLst/>
              <a:cxnLst/>
              <a:rect r="r" b="b" t="t" l="l"/>
              <a:pathLst>
                <a:path h="3111373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37691" y="2846546"/>
            <a:ext cx="14413059" cy="497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4"/>
              </a:lnSpc>
            </a:pPr>
            <a:r>
              <a:rPr lang="en-US" sz="1951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THE TASK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7691" y="3307928"/>
            <a:ext cx="14824862" cy="1546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627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Open swiftroute_q3_raw.xlsx. With AI help if you like, find: how many delivery_id values repeat, how many rows have a blank delivery_status, and how many spellings route LAG-07 has.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57250" y="5265811"/>
            <a:ext cx="15648470" cy="2196274"/>
            <a:chOff x="0" y="0"/>
            <a:chExt cx="20864627" cy="29283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864576" cy="2928366"/>
            </a:xfrm>
            <a:custGeom>
              <a:avLst/>
              <a:gdLst/>
              <a:ahLst/>
              <a:cxnLst/>
              <a:rect r="r" b="b" t="t" l="l"/>
              <a:pathLst>
                <a:path h="2928366" w="2086457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20699857" y="0"/>
                  </a:lnTo>
                  <a:cubicBezTo>
                    <a:pt x="20790790" y="0"/>
                    <a:pt x="20864576" y="73787"/>
                    <a:pt x="20864576" y="164719"/>
                  </a:cubicBezTo>
                  <a:lnTo>
                    <a:pt x="20864576" y="2763647"/>
                  </a:lnTo>
                  <a:cubicBezTo>
                    <a:pt x="20864576" y="2854579"/>
                    <a:pt x="20790790" y="2928366"/>
                    <a:pt x="20699857" y="2928366"/>
                  </a:cubicBezTo>
                  <a:lnTo>
                    <a:pt x="164719" y="2928366"/>
                  </a:lnTo>
                  <a:cubicBezTo>
                    <a:pt x="73787" y="2928366"/>
                    <a:pt x="0" y="2854579"/>
                    <a:pt x="0" y="2763647"/>
                  </a:cubicBezTo>
                  <a:close/>
                </a:path>
              </a:pathLst>
            </a:custGeom>
            <a:solidFill>
              <a:srgbClr val="F4F7F7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57250" y="5265811"/>
            <a:ext cx="123539" cy="2196274"/>
            <a:chOff x="0" y="0"/>
            <a:chExt cx="164719" cy="29283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4719" cy="2928366"/>
            </a:xfrm>
            <a:custGeom>
              <a:avLst/>
              <a:gdLst/>
              <a:ahLst/>
              <a:cxnLst/>
              <a:rect r="r" b="b" t="t" l="l"/>
              <a:pathLst>
                <a:path h="2928366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2928366"/>
                  </a:lnTo>
                  <a:lnTo>
                    <a:pt x="0" y="2928366"/>
                  </a:lnTo>
                  <a:close/>
                </a:path>
              </a:pathLst>
            </a:custGeom>
            <a:solidFill>
              <a:srgbClr val="9BB7B7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37691" y="5454625"/>
            <a:ext cx="14413059" cy="52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4"/>
              </a:lnSpc>
            </a:pPr>
            <a:r>
              <a:rPr lang="en-US" sz="1951" b="true">
                <a:solidFill>
                  <a:srgbClr val="20494A"/>
                </a:solidFill>
                <a:latin typeface="Poppins Bold"/>
                <a:ea typeface="Poppins Bold"/>
                <a:cs typeface="Poppins Bold"/>
                <a:sym typeface="Poppins Bold"/>
              </a:rPr>
              <a:t>SELF-CHECK YOUR ANSWER AGAINST THIS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7691" y="5935056"/>
            <a:ext cx="14824862" cy="138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40 delivery_id values appear more than once. 116 rows have a blank delivery_status. Route LAG-07 has exactly 2 spellings in the file ("LAG-07" and "LAG07").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57250" y="7631849"/>
            <a:ext cx="15648470" cy="65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2"/>
              </a:lnSpc>
            </a:pPr>
            <a:r>
              <a:rPr lang="en-US" sz="2251" i="true">
                <a:solidFill>
                  <a:srgbClr val="64748B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If your numbers don't match, don't just accept the model's explanation - find the actual rows and see why.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467181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To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pic 8.1 recap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61174" y="2635529"/>
            <a:ext cx="439255" cy="439255"/>
            <a:chOff x="0" y="0"/>
            <a:chExt cx="585673" cy="585673"/>
          </a:xfrm>
        </p:grpSpPr>
        <p:sp>
          <p:nvSpPr>
            <p:cNvPr name="Freeform 12" id="12" descr="/home/claude/assets/icon_check.png"/>
            <p:cNvSpPr/>
            <p:nvPr/>
          </p:nvSpPr>
          <p:spPr>
            <a:xfrm flipH="false" flipV="false" rot="0">
              <a:off x="0" y="0"/>
              <a:ext cx="585724" cy="585724"/>
            </a:xfrm>
            <a:custGeom>
              <a:avLst/>
              <a:gdLst/>
              <a:ahLst/>
              <a:cxnLst/>
              <a:rect r="r" b="b" t="t" l="l"/>
              <a:pathLst>
                <a:path h="585724" w="585724">
                  <a:moveTo>
                    <a:pt x="0" y="0"/>
                  </a:moveTo>
                  <a:lnTo>
                    <a:pt x="585724" y="0"/>
                  </a:lnTo>
                  <a:lnTo>
                    <a:pt x="585724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923" r="8" b="-191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47508" y="2403015"/>
            <a:ext cx="10182199" cy="903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326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The pipeline is always four stages, in order: clean, analyse, visualise, report.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61174" y="3802304"/>
            <a:ext cx="439255" cy="439255"/>
            <a:chOff x="0" y="0"/>
            <a:chExt cx="585673" cy="585673"/>
          </a:xfrm>
        </p:grpSpPr>
        <p:sp>
          <p:nvSpPr>
            <p:cNvPr name="Freeform 15" id="15" descr="/home/claude/assets/icon_check.png"/>
            <p:cNvSpPr/>
            <p:nvPr/>
          </p:nvSpPr>
          <p:spPr>
            <a:xfrm flipH="false" flipV="false" rot="0">
              <a:off x="0" y="0"/>
              <a:ext cx="585724" cy="585724"/>
            </a:xfrm>
            <a:custGeom>
              <a:avLst/>
              <a:gdLst/>
              <a:ahLst/>
              <a:cxnLst/>
              <a:rect r="r" b="b" t="t" l="l"/>
              <a:pathLst>
                <a:path h="585724" w="585724">
                  <a:moveTo>
                    <a:pt x="0" y="0"/>
                  </a:moveTo>
                  <a:lnTo>
                    <a:pt x="585724" y="0"/>
                  </a:lnTo>
                  <a:lnTo>
                    <a:pt x="585724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923" r="8" b="-1914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47508" y="3569789"/>
            <a:ext cx="10182199" cy="903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326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AI can assist inside every stage. It does not remove the need to verify.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61174" y="4969078"/>
            <a:ext cx="439255" cy="439255"/>
            <a:chOff x="0" y="0"/>
            <a:chExt cx="585673" cy="585673"/>
          </a:xfrm>
        </p:grpSpPr>
        <p:sp>
          <p:nvSpPr>
            <p:cNvPr name="Freeform 18" id="18" descr="/home/claude/assets/icon_check.png"/>
            <p:cNvSpPr/>
            <p:nvPr/>
          </p:nvSpPr>
          <p:spPr>
            <a:xfrm flipH="false" flipV="false" rot="0">
              <a:off x="0" y="0"/>
              <a:ext cx="585724" cy="585724"/>
            </a:xfrm>
            <a:custGeom>
              <a:avLst/>
              <a:gdLst/>
              <a:ahLst/>
              <a:cxnLst/>
              <a:rect r="r" b="b" t="t" l="l"/>
              <a:pathLst>
                <a:path h="585724" w="585724">
                  <a:moveTo>
                    <a:pt x="0" y="0"/>
                  </a:moveTo>
                  <a:lnTo>
                    <a:pt x="585724" y="0"/>
                  </a:lnTo>
                  <a:lnTo>
                    <a:pt x="585724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923" r="8" b="-191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547508" y="4736554"/>
            <a:ext cx="10182199" cy="903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326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Predict-then-run scales up: predict the shape of pipeline output before you run it, not just formula answers.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61174" y="6135843"/>
            <a:ext cx="439255" cy="439255"/>
            <a:chOff x="0" y="0"/>
            <a:chExt cx="585673" cy="585673"/>
          </a:xfrm>
        </p:grpSpPr>
        <p:sp>
          <p:nvSpPr>
            <p:cNvPr name="Freeform 21" id="21" descr="/home/claude/assets/icon_check.png"/>
            <p:cNvSpPr/>
            <p:nvPr/>
          </p:nvSpPr>
          <p:spPr>
            <a:xfrm flipH="false" flipV="false" rot="0">
              <a:off x="0" y="0"/>
              <a:ext cx="585724" cy="585724"/>
            </a:xfrm>
            <a:custGeom>
              <a:avLst/>
              <a:gdLst/>
              <a:ahLst/>
              <a:cxnLst/>
              <a:rect r="r" b="b" t="t" l="l"/>
              <a:pathLst>
                <a:path h="585724" w="585724">
                  <a:moveTo>
                    <a:pt x="0" y="0"/>
                  </a:moveTo>
                  <a:lnTo>
                    <a:pt x="585724" y="0"/>
                  </a:lnTo>
                  <a:lnTo>
                    <a:pt x="585724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923" r="8" b="-1914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547508" y="5903328"/>
            <a:ext cx="10182199" cy="903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326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The five-question verification checklist is built once and reused for the rest of the programme.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61174" y="7302617"/>
            <a:ext cx="439255" cy="439255"/>
            <a:chOff x="0" y="0"/>
            <a:chExt cx="585673" cy="585673"/>
          </a:xfrm>
        </p:grpSpPr>
        <p:sp>
          <p:nvSpPr>
            <p:cNvPr name="Freeform 24" id="24" descr="/home/claude/assets/icon_check.png"/>
            <p:cNvSpPr/>
            <p:nvPr/>
          </p:nvSpPr>
          <p:spPr>
            <a:xfrm flipH="false" flipV="false" rot="0">
              <a:off x="0" y="0"/>
              <a:ext cx="585724" cy="585724"/>
            </a:xfrm>
            <a:custGeom>
              <a:avLst/>
              <a:gdLst/>
              <a:ahLst/>
              <a:cxnLst/>
              <a:rect r="r" b="b" t="t" l="l"/>
              <a:pathLst>
                <a:path h="585724" w="585724">
                  <a:moveTo>
                    <a:pt x="0" y="0"/>
                  </a:moveTo>
                  <a:lnTo>
                    <a:pt x="585724" y="0"/>
                  </a:lnTo>
                  <a:lnTo>
                    <a:pt x="585724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923" r="8" b="-1914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547508" y="7070103"/>
            <a:ext cx="10182199" cy="903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326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You've already verified real numbers from swiftroute_q3_raw.xlsx yourself, not taken them on trust.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23900" y="8647833"/>
            <a:ext cx="14893500" cy="1304039"/>
            <a:chOff x="0" y="0"/>
            <a:chExt cx="19857999" cy="17387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857974" cy="1738757"/>
            </a:xfrm>
            <a:custGeom>
              <a:avLst/>
              <a:gdLst/>
              <a:ahLst/>
              <a:cxnLst/>
              <a:rect r="r" b="b" t="t" l="l"/>
              <a:pathLst>
                <a:path h="1738757" w="19857974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9693255" y="0"/>
                  </a:lnTo>
                  <a:cubicBezTo>
                    <a:pt x="19784188" y="0"/>
                    <a:pt x="19857974" y="73787"/>
                    <a:pt x="19857974" y="164719"/>
                  </a:cubicBezTo>
                  <a:lnTo>
                    <a:pt x="19857974" y="1574038"/>
                  </a:lnTo>
                  <a:cubicBezTo>
                    <a:pt x="19857974" y="1664970"/>
                    <a:pt x="19784188" y="1738757"/>
                    <a:pt x="19693255" y="1738757"/>
                  </a:cubicBezTo>
                  <a:lnTo>
                    <a:pt x="164719" y="1738757"/>
                  </a:lnTo>
                  <a:cubicBezTo>
                    <a:pt x="73787" y="1738757"/>
                    <a:pt x="0" y="1664970"/>
                    <a:pt x="0" y="1574038"/>
                  </a:cubicBezTo>
                  <a:close/>
                </a:path>
              </a:pathLst>
            </a:custGeom>
            <a:solidFill>
              <a:srgbClr val="F4F7F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72969" y="8647833"/>
            <a:ext cx="13795362" cy="1304039"/>
            <a:chOff x="0" y="0"/>
            <a:chExt cx="18393816" cy="173871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393811" cy="1738718"/>
            </a:xfrm>
            <a:custGeom>
              <a:avLst/>
              <a:gdLst/>
              <a:ahLst/>
              <a:cxnLst/>
              <a:rect r="r" b="b" t="t" l="l"/>
              <a:pathLst>
                <a:path h="1738718" w="18393811">
                  <a:moveTo>
                    <a:pt x="0" y="0"/>
                  </a:moveTo>
                  <a:lnTo>
                    <a:pt x="18393811" y="0"/>
                  </a:lnTo>
                  <a:lnTo>
                    <a:pt x="18393811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6131" r="0" b="-15613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04775"/>
              <a:ext cx="18393816" cy="1843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6"/>
                </a:lnSpc>
              </a:pPr>
              <a:r>
                <a:rPr lang="en-US" sz="2401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Fast is not the standard. Fast AND verified is the standard.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2063082" y="4095750"/>
            <a:ext cx="3873500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3600">
                <a:solidFill>
                  <a:srgbClr val="387F7F"/>
                </a:solidFill>
                <a:latin typeface="Poppins"/>
                <a:ea typeface="Poppins"/>
                <a:cs typeface="Poppins"/>
                <a:sym typeface="Poppins"/>
              </a:rPr>
              <a:t> Forecasting with</a:t>
            </a:r>
          </a:p>
          <a:p>
            <a:pPr algn="just">
              <a:lnSpc>
                <a:spcPts val="4320"/>
              </a:lnSpc>
            </a:pPr>
            <a:r>
              <a:rPr lang="en-US" sz="3600">
                <a:solidFill>
                  <a:srgbClr val="387F7F"/>
                </a:solidFill>
                <a:latin typeface="Poppins"/>
                <a:ea typeface="Poppins"/>
                <a:cs typeface="Poppins"/>
                <a:sym typeface="Poppins"/>
              </a:rPr>
              <a:t> AI support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6269957" y="4186238"/>
            <a:ext cx="457200" cy="457200"/>
            <a:chOff x="0" y="0"/>
            <a:chExt cx="609600" cy="6096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562" r="0" b="-1562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658058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Where this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goes next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2600698"/>
            <a:ext cx="4689967" cy="4941618"/>
            <a:chOff x="0" y="0"/>
            <a:chExt cx="6253290" cy="65888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53353" cy="6588887"/>
            </a:xfrm>
            <a:custGeom>
              <a:avLst/>
              <a:gdLst/>
              <a:ahLst/>
              <a:cxnLst/>
              <a:rect r="r" b="b" t="t" l="l"/>
              <a:pathLst>
                <a:path h="6588887" w="6253353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6088634" y="0"/>
                  </a:lnTo>
                  <a:cubicBezTo>
                    <a:pt x="6179566" y="0"/>
                    <a:pt x="6253353" y="73787"/>
                    <a:pt x="6253353" y="164719"/>
                  </a:cubicBezTo>
                  <a:lnTo>
                    <a:pt x="6253353" y="6424168"/>
                  </a:lnTo>
                  <a:cubicBezTo>
                    <a:pt x="6253353" y="6515100"/>
                    <a:pt x="6179566" y="6588887"/>
                    <a:pt x="6088634" y="6588887"/>
                  </a:cubicBezTo>
                  <a:lnTo>
                    <a:pt x="164719" y="6588887"/>
                  </a:lnTo>
                  <a:cubicBezTo>
                    <a:pt x="73787" y="6588887"/>
                    <a:pt x="0" y="6515100"/>
                    <a:pt x="0" y="64241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2600698"/>
            <a:ext cx="4689967" cy="686333"/>
            <a:chOff x="0" y="0"/>
            <a:chExt cx="6253290" cy="9151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53226" cy="915162"/>
            </a:xfrm>
            <a:custGeom>
              <a:avLst/>
              <a:gdLst/>
              <a:ahLst/>
              <a:cxnLst/>
              <a:rect r="r" b="b" t="t" l="l"/>
              <a:pathLst>
                <a:path h="915162" w="6253226">
                  <a:moveTo>
                    <a:pt x="0" y="0"/>
                  </a:moveTo>
                  <a:lnTo>
                    <a:pt x="6253226" y="0"/>
                  </a:lnTo>
                  <a:lnTo>
                    <a:pt x="6253226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2600698"/>
            <a:ext cx="4689967" cy="686333"/>
            <a:chOff x="0" y="0"/>
            <a:chExt cx="6253290" cy="9151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53285" cy="915115"/>
            </a:xfrm>
            <a:custGeom>
              <a:avLst/>
              <a:gdLst/>
              <a:ahLst/>
              <a:cxnLst/>
              <a:rect r="r" b="b" t="t" l="l"/>
              <a:pathLst>
                <a:path h="915115" w="6253285">
                  <a:moveTo>
                    <a:pt x="0" y="0"/>
                  </a:moveTo>
                  <a:lnTo>
                    <a:pt x="6253285" y="0"/>
                  </a:lnTo>
                  <a:lnTo>
                    <a:pt x="6253285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3148" r="0" b="-8314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253290" cy="934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REST OF TODAY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57576" y="3456796"/>
            <a:ext cx="4003624" cy="306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251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Continue your pipeline lab run: complete the clean stage on swiftroute_q3_raw.xlsx, move into analyse and visualise, working toward your one page report.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016171" y="2600698"/>
            <a:ext cx="4689967" cy="4941618"/>
            <a:chOff x="0" y="0"/>
            <a:chExt cx="6253290" cy="658882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53353" cy="6588887"/>
            </a:xfrm>
            <a:custGeom>
              <a:avLst/>
              <a:gdLst/>
              <a:ahLst/>
              <a:cxnLst/>
              <a:rect r="r" b="b" t="t" l="l"/>
              <a:pathLst>
                <a:path h="6588887" w="6253353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6088634" y="0"/>
                  </a:lnTo>
                  <a:cubicBezTo>
                    <a:pt x="6179566" y="0"/>
                    <a:pt x="6253353" y="73787"/>
                    <a:pt x="6253353" y="164719"/>
                  </a:cubicBezTo>
                  <a:lnTo>
                    <a:pt x="6253353" y="6424168"/>
                  </a:lnTo>
                  <a:cubicBezTo>
                    <a:pt x="6253353" y="6515100"/>
                    <a:pt x="6179566" y="6588887"/>
                    <a:pt x="6088634" y="6588887"/>
                  </a:cubicBezTo>
                  <a:lnTo>
                    <a:pt x="164719" y="6588887"/>
                  </a:lnTo>
                  <a:cubicBezTo>
                    <a:pt x="73787" y="6588887"/>
                    <a:pt x="0" y="6515100"/>
                    <a:pt x="0" y="64241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016171" y="2600698"/>
            <a:ext cx="4689967" cy="686333"/>
            <a:chOff x="0" y="0"/>
            <a:chExt cx="6253290" cy="9151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53226" cy="915162"/>
            </a:xfrm>
            <a:custGeom>
              <a:avLst/>
              <a:gdLst/>
              <a:ahLst/>
              <a:cxnLst/>
              <a:rect r="r" b="b" t="t" l="l"/>
              <a:pathLst>
                <a:path h="915162" w="6253226">
                  <a:moveTo>
                    <a:pt x="0" y="0"/>
                  </a:moveTo>
                  <a:lnTo>
                    <a:pt x="6253226" y="0"/>
                  </a:lnTo>
                  <a:lnTo>
                    <a:pt x="6253226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016171" y="2600698"/>
            <a:ext cx="4689967" cy="686333"/>
            <a:chOff x="0" y="0"/>
            <a:chExt cx="6253290" cy="9151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53285" cy="915115"/>
            </a:xfrm>
            <a:custGeom>
              <a:avLst/>
              <a:gdLst/>
              <a:ahLst/>
              <a:cxnLst/>
              <a:rect r="r" b="b" t="t" l="l"/>
              <a:pathLst>
                <a:path h="915115" w="6253285">
                  <a:moveTo>
                    <a:pt x="0" y="0"/>
                  </a:moveTo>
                  <a:lnTo>
                    <a:pt x="6253285" y="0"/>
                  </a:lnTo>
                  <a:lnTo>
                    <a:pt x="6253285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3148" r="0" b="-8314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253290" cy="934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TOPIC 8.2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359338" y="3456796"/>
            <a:ext cx="4003624" cy="381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251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Forecasting with AI support - a simple trend-based forecast on SwiftRoute data, stress-tested and communicated with honest uncertainty.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117932" y="2600698"/>
            <a:ext cx="4689967" cy="4941618"/>
            <a:chOff x="0" y="0"/>
            <a:chExt cx="6253290" cy="658882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253353" cy="6588887"/>
            </a:xfrm>
            <a:custGeom>
              <a:avLst/>
              <a:gdLst/>
              <a:ahLst/>
              <a:cxnLst/>
              <a:rect r="r" b="b" t="t" l="l"/>
              <a:pathLst>
                <a:path h="6588887" w="6253353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6088634" y="0"/>
                  </a:lnTo>
                  <a:cubicBezTo>
                    <a:pt x="6179566" y="0"/>
                    <a:pt x="6253353" y="73787"/>
                    <a:pt x="6253353" y="164719"/>
                  </a:cubicBezTo>
                  <a:lnTo>
                    <a:pt x="6253353" y="6424168"/>
                  </a:lnTo>
                  <a:cubicBezTo>
                    <a:pt x="6253353" y="6515100"/>
                    <a:pt x="6179566" y="6588887"/>
                    <a:pt x="6088634" y="6588887"/>
                  </a:cubicBezTo>
                  <a:lnTo>
                    <a:pt x="164719" y="6588887"/>
                  </a:lnTo>
                  <a:cubicBezTo>
                    <a:pt x="73787" y="6588887"/>
                    <a:pt x="0" y="6515100"/>
                    <a:pt x="0" y="64241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117932" y="2600698"/>
            <a:ext cx="4689967" cy="686333"/>
            <a:chOff x="0" y="0"/>
            <a:chExt cx="6253290" cy="9151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253226" cy="915162"/>
            </a:xfrm>
            <a:custGeom>
              <a:avLst/>
              <a:gdLst/>
              <a:ahLst/>
              <a:cxnLst/>
              <a:rect r="r" b="b" t="t" l="l"/>
              <a:pathLst>
                <a:path h="915162" w="6253226">
                  <a:moveTo>
                    <a:pt x="0" y="0"/>
                  </a:moveTo>
                  <a:lnTo>
                    <a:pt x="6253226" y="0"/>
                  </a:lnTo>
                  <a:lnTo>
                    <a:pt x="6253226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117932" y="2600698"/>
            <a:ext cx="4689967" cy="686333"/>
            <a:chOff x="0" y="0"/>
            <a:chExt cx="6253290" cy="9151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53285" cy="915115"/>
            </a:xfrm>
            <a:custGeom>
              <a:avLst/>
              <a:gdLst/>
              <a:ahLst/>
              <a:cxnLst/>
              <a:rect r="r" b="b" t="t" l="l"/>
              <a:pathLst>
                <a:path h="915115" w="6253285">
                  <a:moveTo>
                    <a:pt x="0" y="0"/>
                  </a:moveTo>
                  <a:lnTo>
                    <a:pt x="6253285" y="0"/>
                  </a:lnTo>
                  <a:lnTo>
                    <a:pt x="6253285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3148" r="0" b="-8314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6253290" cy="934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ONGOING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461099" y="3456796"/>
            <a:ext cx="4003624" cy="381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251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Keep adding to your responsible data and AI record, started in 7.6. Log every place you applied the verification checklist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DAHUP3rulVY</dc:identifier>
  <dcterms:modified xsi:type="dcterms:W3CDTF">2011-08-01T06:04:30Z</dcterms:modified>
  <cp:revision>1</cp:revision>
  <dc:title>8.1_The AIAugmented Pipeline</dc:title>
</cp:coreProperties>
</file>