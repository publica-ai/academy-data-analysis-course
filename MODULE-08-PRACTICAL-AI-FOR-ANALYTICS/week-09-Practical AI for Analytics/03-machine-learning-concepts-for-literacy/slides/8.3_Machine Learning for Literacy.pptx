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Inter" charset="1" panose="02000503000000020004"/>
      <p:regular r:id="rId24"/>
    </p:embeddedFont>
    <p:embeddedFont>
      <p:font typeface="Inter Medium" charset="1" panose="02000503000000020004"/>
      <p:regular r:id="rId25"/>
    </p:embeddedFont>
    <p:embeddedFont>
      <p:font typeface="Poppins Bold" charset="1" panose="00000800000000000000"/>
      <p:regular r:id="rId26"/>
    </p:embeddedFont>
    <p:embeddedFont>
      <p:font typeface="Poppins" charset="1" panose="00000500000000000000"/>
      <p:regular r:id="rId28"/>
    </p:embeddedFont>
    <p:embeddedFont>
      <p:font typeface="Poppins Italics" charset="1" panose="000005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CONTENT: Section marker for Part One. Names the defining feature of supervised learning up front - it learns from historical examples where the right answer is already known - before splitting into its two forms.</a:t>
            </a:r>
          </a:p>
          <a:p>
            <a:r>
              <a:rPr lang="en-US"/>
              <a:t/>
            </a:r>
          </a:p>
          <a:p>
            <a:r>
              <a:rPr lang="en-US"/>
              <a:t>WHAT TO SAY: "Part one: supervised learning. Three things. What 'supervised' actually means - learning from a pile of past examples where we already know the right answer. Classification, which predicts a category. And regression, which predicts a number. Same underlying idea, two different kinds of output."</a:t>
            </a:r>
          </a:p>
          <a:p>
            <a:r>
              <a:rPr lang="en-US"/>
              <a:t/>
            </a:r>
          </a:p>
          <a:p>
            <a:r>
              <a:rPr lang="en-US"/>
              <a:t>DELIVERY CUE: Brief, forward-leaning.</a:t>
            </a:r>
          </a:p>
          <a:p>
            <a:r>
              <a:rPr lang="en-US"/>
              <a:t/>
            </a:r>
          </a:p>
          <a:p>
            <a:r>
              <a:rPr lang="en-US"/>
              <a:t>TIMING: 30-45 seconds.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CONTENT: Section marker for Part Two, moving from supervised methods (known answers) to unsupervised (no known answers). Sets up the defining contrast with Part One before naming clustering specifically.</a:t>
            </a:r>
          </a:p>
          <a:p>
            <a:r>
              <a:rPr lang="en-US"/>
              <a:t/>
            </a:r>
          </a:p>
          <a:p>
            <a:r>
              <a:rPr lang="en-US"/>
              <a:t>WHAT TO SAY: "Part two, and this is where the ground shifts. Everything in part one needed a known right answer to learn from. Clustering has no such thing. We'll look at what changes when there's no answer key, what clustering actually does instead, and a real, ungraded grouping of SwiftRoute's own customers."</a:t>
            </a:r>
          </a:p>
          <a:p>
            <a:r>
              <a:rPr lang="en-US"/>
              <a:t/>
            </a:r>
          </a:p>
          <a:p>
            <a:r>
              <a:rPr lang="en-US"/>
              <a:t>DELIVERY CUE: Brief.</a:t>
            </a:r>
          </a:p>
          <a:p>
            <a:r>
              <a:rPr lang="en-US"/>
              <a:t/>
            </a:r>
          </a:p>
          <a:p>
            <a:r>
              <a:rPr lang="en-US"/>
              <a:t>TIMING: 30-45 seconds.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CONTENT: Section marker for Part Three, moving from concepts to the practical boundary question: what can an analyst with this literacy actually do unassisted, versus what has to be hedged off to a data scientist, and how to make that hand-off a specific, useful request rather than a vague one.</a:t>
            </a:r>
          </a:p>
          <a:p>
            <a:r>
              <a:rPr lang="en-US"/>
              <a:t/>
            </a:r>
          </a:p>
          <a:p>
            <a:r>
              <a:rPr lang="en-US"/>
              <a:t>WHAT TO SAY: "Part three, and this is the practical payoff. What can you, as an analyst, actually do with today's vocabulary, with no model-building involved? What genuinely needs a data scientist, and how do you ask for it properly rather than just saying 'can someone build me an AI for this'? Then it's your turn to sort SwiftRoute's real open requests into the three buckets."</a:t>
            </a:r>
          </a:p>
          <a:p>
            <a:r>
              <a:rPr lang="en-US"/>
              <a:t/>
            </a:r>
          </a:p>
          <a:p>
            <a:r>
              <a:rPr lang="en-US"/>
              <a:t>DELIVERY CUE: Brief.</a:t>
            </a:r>
          </a:p>
          <a:p>
            <a:r>
              <a:rPr lang="en-US"/>
              <a:t/>
            </a:r>
          </a:p>
          <a:p>
            <a:r>
              <a:rPr lang="en-US"/>
              <a:t>TIMING: 30-45 seconds.</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jpeg" Type="http://schemas.openxmlformats.org/officeDocument/2006/relationships/image"/><Relationship Id="rId11" Target="../media/image15.png" Type="http://schemas.openxmlformats.org/officeDocument/2006/relationships/image"/><Relationship Id="rId2" Target="../notesSlides/notesSlide1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jpeg" Type="http://schemas.openxmlformats.org/officeDocument/2006/relationships/image"/><Relationship Id="rId2" Target="../notesSlides/notesSlide1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828906"/>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AI-ASSISTED DATA ANALYSIS</a:t>
              </a:r>
            </a:p>
          </p:txBody>
        </p:sp>
      </p:grpSp>
      <p:grpSp>
        <p:nvGrpSpPr>
          <p:cNvPr name="Group 12" id="12"/>
          <p:cNvGrpSpPr/>
          <p:nvPr/>
        </p:nvGrpSpPr>
        <p:grpSpPr>
          <a:xfrm rot="0">
            <a:off x="1143000" y="3267856"/>
            <a:ext cx="16002000" cy="772854"/>
            <a:chOff x="0" y="0"/>
            <a:chExt cx="21336000" cy="1030472"/>
          </a:xfrm>
        </p:grpSpPr>
        <p:sp>
          <p:nvSpPr>
            <p:cNvPr name="Freeform 13" id="13"/>
            <p:cNvSpPr/>
            <p:nvPr/>
          </p:nvSpPr>
          <p:spPr>
            <a:xfrm flipH="false" flipV="false" rot="0">
              <a:off x="0" y="0"/>
              <a:ext cx="21336000" cy="1030464"/>
            </a:xfrm>
            <a:custGeom>
              <a:avLst/>
              <a:gdLst/>
              <a:ahLst/>
              <a:cxnLst/>
              <a:rect r="r" b="b" t="t" l="l"/>
              <a:pathLst>
                <a:path h="1030464" w="21336000">
                  <a:moveTo>
                    <a:pt x="0" y="0"/>
                  </a:moveTo>
                  <a:lnTo>
                    <a:pt x="21336000" y="0"/>
                  </a:lnTo>
                  <a:lnTo>
                    <a:pt x="21336000" y="1030464"/>
                  </a:lnTo>
                  <a:lnTo>
                    <a:pt x="0" y="1030464"/>
                  </a:lnTo>
                  <a:close/>
                </a:path>
              </a:pathLst>
            </a:custGeom>
            <a:blipFill>
              <a:blip r:embed="rId6">
                <a:alphaModFix amt="0"/>
              </a:blip>
              <a:stretch>
                <a:fillRect l="0" t="-370573" r="0" b="-336311"/>
              </a:stretch>
            </a:blipFill>
          </p:spPr>
        </p:sp>
        <p:sp>
          <p:nvSpPr>
            <p:cNvPr name="TextBox 14" id="14"/>
            <p:cNvSpPr txBox="true"/>
            <p:nvPr/>
          </p:nvSpPr>
          <p:spPr>
            <a:xfrm>
              <a:off x="0" y="-9525"/>
              <a:ext cx="21336000" cy="1039997"/>
            </a:xfrm>
            <a:prstGeom prst="rect">
              <a:avLst/>
            </a:prstGeom>
          </p:spPr>
          <p:txBody>
            <a:bodyPr anchor="ctr" rtlCol="false" tIns="0" lIns="0" bIns="0" rIns="0"/>
            <a:lstStyle/>
            <a:p>
              <a:pPr algn="l">
                <a:lnSpc>
                  <a:spcPts val="3960"/>
                </a:lnSpc>
              </a:pPr>
              <a:r>
                <a:rPr lang="en-US" b="true" sz="3300">
                  <a:solidFill>
                    <a:srgbClr val="64748B"/>
                  </a:solidFill>
                  <a:latin typeface="Inter Medium"/>
                  <a:ea typeface="Inter Medium"/>
                  <a:cs typeface="Inter Medium"/>
                  <a:sym typeface="Inter Medium"/>
                </a:rPr>
                <a:t>MODULE 8 · AI-ASSISTED DATA ANALYSIS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2 of 3</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grpSp>
        <p:nvGrpSpPr>
          <p:cNvPr name="Group 23" id="23"/>
          <p:cNvGrpSpPr/>
          <p:nvPr/>
        </p:nvGrpSpPr>
        <p:grpSpPr>
          <a:xfrm rot="0">
            <a:off x="11001070" y="1733550"/>
            <a:ext cx="6258230" cy="6258230"/>
            <a:chOff x="0" y="0"/>
            <a:chExt cx="8890000" cy="8890000"/>
          </a:xfrm>
        </p:grpSpPr>
        <p:sp>
          <p:nvSpPr>
            <p:cNvPr name="Freeform 24" id="24"/>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31716" t="0" r="-31716" b="0"/>
              </a:stretch>
            </a:blipFill>
          </p:spPr>
        </p:sp>
      </p:grpSp>
      <p:grpSp>
        <p:nvGrpSpPr>
          <p:cNvPr name="Group 25" id="25"/>
          <p:cNvGrpSpPr/>
          <p:nvPr/>
        </p:nvGrpSpPr>
        <p:grpSpPr>
          <a:xfrm rot="0">
            <a:off x="16497824" y="8924125"/>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27" id="27"/>
          <p:cNvSpPr txBox="true"/>
          <p:nvPr/>
        </p:nvSpPr>
        <p:spPr>
          <a:xfrm rot="0">
            <a:off x="1143000" y="4125754"/>
            <a:ext cx="8875118" cy="2438398"/>
          </a:xfrm>
          <a:prstGeom prst="rect">
            <a:avLst/>
          </a:prstGeom>
        </p:spPr>
        <p:txBody>
          <a:bodyPr anchor="t" rtlCol="false" tIns="0" lIns="0" bIns="0" rIns="0">
            <a:spAutoFit/>
          </a:bodyPr>
          <a:lstStyle/>
          <a:p>
            <a:pPr algn="l">
              <a:lnSpc>
                <a:spcPts val="9500"/>
              </a:lnSpc>
            </a:pPr>
            <a:r>
              <a:rPr lang="en-US" sz="7600" b="true">
                <a:solidFill>
                  <a:srgbClr val="000000"/>
                </a:solidFill>
                <a:latin typeface="Poppins Bold"/>
                <a:ea typeface="Poppins Bold"/>
                <a:cs typeface="Poppins Bold"/>
                <a:sym typeface="Poppins Bold"/>
              </a:rPr>
              <a:t>Machin</a:t>
            </a:r>
            <a:r>
              <a:rPr lang="en-US" b="true" sz="7600">
                <a:solidFill>
                  <a:srgbClr val="000000"/>
                </a:solidFill>
                <a:latin typeface="Poppins Bold"/>
                <a:ea typeface="Poppins Bold"/>
                <a:cs typeface="Poppins Bold"/>
                <a:sym typeface="Poppins Bold"/>
              </a:rPr>
              <a:t>e Learning</a:t>
            </a:r>
          </a:p>
          <a:p>
            <a:pPr algn="l">
              <a:lnSpc>
                <a:spcPts val="9250"/>
              </a:lnSpc>
            </a:pPr>
            <a:r>
              <a:rPr lang="en-US" b="true" sz="7400">
                <a:solidFill>
                  <a:srgbClr val="387F7F"/>
                </a:solidFill>
                <a:latin typeface="Poppins Bold"/>
                <a:ea typeface="Poppins Bold"/>
                <a:cs typeface="Poppins Bold"/>
                <a:sym typeface="Poppins Bold"/>
              </a:rPr>
              <a:t>for Literacy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051252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a:t>
            </a:r>
            <a:r>
              <a:rPr lang="en-US" sz="5000">
                <a:solidFill>
                  <a:srgbClr val="388080"/>
                </a:solidFill>
                <a:latin typeface="Poppins"/>
                <a:ea typeface="Poppins"/>
                <a:cs typeface="Poppins"/>
                <a:sym typeface="Poppins"/>
              </a:rPr>
              <a:t>efore we go further, name these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43000" y="1611416"/>
            <a:ext cx="14413059" cy="549069"/>
            <a:chOff x="0" y="0"/>
            <a:chExt cx="19217411" cy="732092"/>
          </a:xfrm>
        </p:grpSpPr>
        <p:sp>
          <p:nvSpPr>
            <p:cNvPr name="Freeform 12" id="12"/>
            <p:cNvSpPr/>
            <p:nvPr/>
          </p:nvSpPr>
          <p:spPr>
            <a:xfrm flipH="false" flipV="false" rot="0">
              <a:off x="0" y="0"/>
              <a:ext cx="19217413" cy="732092"/>
            </a:xfrm>
            <a:custGeom>
              <a:avLst/>
              <a:gdLst/>
              <a:ahLst/>
              <a:cxnLst/>
              <a:rect r="r" b="b" t="t" l="l"/>
              <a:pathLst>
                <a:path h="732092" w="19217413">
                  <a:moveTo>
                    <a:pt x="0" y="0"/>
                  </a:moveTo>
                  <a:lnTo>
                    <a:pt x="19217413" y="0"/>
                  </a:lnTo>
                  <a:lnTo>
                    <a:pt x="19217413" y="732092"/>
                  </a:lnTo>
                  <a:lnTo>
                    <a:pt x="0" y="732092"/>
                  </a:lnTo>
                  <a:close/>
                </a:path>
              </a:pathLst>
            </a:custGeom>
            <a:blipFill>
              <a:blip r:embed="rId9">
                <a:alphaModFix amt="0"/>
              </a:blip>
              <a:stretch>
                <a:fillRect l="0" t="-461482" r="0" b="-461482"/>
              </a:stretch>
            </a:blipFill>
          </p:spPr>
        </p:sp>
        <p:sp>
          <p:nvSpPr>
            <p:cNvPr name="TextBox 13" id="13"/>
            <p:cNvSpPr txBox="true"/>
            <p:nvPr/>
          </p:nvSpPr>
          <p:spPr>
            <a:xfrm>
              <a:off x="0" y="-28575"/>
              <a:ext cx="19217411" cy="760667"/>
            </a:xfrm>
            <a:prstGeom prst="rect">
              <a:avLst/>
            </a:prstGeom>
          </p:spPr>
          <p:txBody>
            <a:bodyPr anchor="ctr" rtlCol="false" tIns="0" lIns="0" bIns="0" rIns="0"/>
            <a:lstStyle/>
            <a:p>
              <a:pPr algn="l">
                <a:lnSpc>
                  <a:spcPts val="2702"/>
                </a:lnSpc>
              </a:pPr>
              <a:r>
                <a:rPr lang="en-US" sz="2251" i="true">
                  <a:solidFill>
                    <a:srgbClr val="64748B"/>
                  </a:solidFill>
                  <a:latin typeface="Poppins Italics"/>
                  <a:ea typeface="Poppins Italics"/>
                  <a:cs typeface="Poppins Italics"/>
                  <a:sym typeface="Poppins Italics"/>
                </a:rPr>
                <a:t>Answer out loud or on paper - no notes. 90 seconds.</a:t>
              </a:r>
            </a:p>
          </p:txBody>
        </p:sp>
      </p:grpSp>
      <p:grpSp>
        <p:nvGrpSpPr>
          <p:cNvPr name="Group 14" id="14"/>
          <p:cNvGrpSpPr/>
          <p:nvPr/>
        </p:nvGrpSpPr>
        <p:grpSpPr>
          <a:xfrm rot="0">
            <a:off x="1189739" y="439255"/>
            <a:ext cx="11667715" cy="411804"/>
            <a:chOff x="0" y="0"/>
            <a:chExt cx="15556954" cy="549072"/>
          </a:xfrm>
        </p:grpSpPr>
        <p:sp>
          <p:nvSpPr>
            <p:cNvPr name="Freeform 15" id="15"/>
            <p:cNvSpPr/>
            <p:nvPr/>
          </p:nvSpPr>
          <p:spPr>
            <a:xfrm flipH="false" flipV="false" rot="0">
              <a:off x="0" y="0"/>
              <a:ext cx="15556954" cy="549069"/>
            </a:xfrm>
            <a:custGeom>
              <a:avLst/>
              <a:gdLst/>
              <a:ahLst/>
              <a:cxnLst/>
              <a:rect r="r" b="b" t="t" l="l"/>
              <a:pathLst>
                <a:path h="549069" w="15556954">
                  <a:moveTo>
                    <a:pt x="0" y="0"/>
                  </a:moveTo>
                  <a:lnTo>
                    <a:pt x="15556954" y="0"/>
                  </a:lnTo>
                  <a:lnTo>
                    <a:pt x="15556954" y="549069"/>
                  </a:lnTo>
                  <a:lnTo>
                    <a:pt x="0" y="549069"/>
                  </a:lnTo>
                  <a:close/>
                </a:path>
              </a:pathLst>
            </a:custGeom>
            <a:blipFill>
              <a:blip r:embed="rId9">
                <a:alphaModFix amt="0"/>
              </a:blip>
              <a:stretch>
                <a:fillRect l="0" t="-502075" r="0" b="-502076"/>
              </a:stretch>
            </a:blipFill>
          </p:spPr>
        </p:sp>
        <p:sp>
          <p:nvSpPr>
            <p:cNvPr name="TextBox 16" id="16"/>
            <p:cNvSpPr txBox="true"/>
            <p:nvPr/>
          </p:nvSpPr>
          <p:spPr>
            <a:xfrm>
              <a:off x="0" y="-9525"/>
              <a:ext cx="15556954" cy="558597"/>
            </a:xfrm>
            <a:prstGeom prst="rect">
              <a:avLst/>
            </a:prstGeom>
          </p:spPr>
          <p:txBody>
            <a:bodyPr anchor="ctr" rtlCol="false" tIns="0" lIns="0" bIns="0" rIns="0"/>
            <a:lstStyle/>
            <a:p>
              <a:pPr algn="l">
                <a:lnSpc>
                  <a:spcPts val="2071"/>
                </a:lnSpc>
              </a:pPr>
              <a:r>
                <a:rPr lang="en-US" b="true" sz="1726" spc="300">
                  <a:solidFill>
                    <a:srgbClr val="64748B"/>
                  </a:solidFill>
                  <a:latin typeface="Poppins Bold"/>
                  <a:ea typeface="Poppins Bold"/>
                  <a:cs typeface="Poppins Bold"/>
                  <a:sym typeface="Poppins Bold"/>
                </a:rPr>
                <a:t>RETRIEVAL PRACTICE</a:t>
              </a:r>
            </a:p>
          </p:txBody>
        </p:sp>
      </p:grpSp>
      <p:grpSp>
        <p:nvGrpSpPr>
          <p:cNvPr name="Group 17" id="17"/>
          <p:cNvGrpSpPr/>
          <p:nvPr/>
        </p:nvGrpSpPr>
        <p:grpSpPr>
          <a:xfrm rot="0">
            <a:off x="830304" y="2947616"/>
            <a:ext cx="15648470" cy="1372676"/>
            <a:chOff x="0" y="0"/>
            <a:chExt cx="20864627" cy="1830235"/>
          </a:xfrm>
        </p:grpSpPr>
        <p:sp>
          <p:nvSpPr>
            <p:cNvPr name="Freeform 18" id="18"/>
            <p:cNvSpPr/>
            <p:nvPr/>
          </p:nvSpPr>
          <p:spPr>
            <a:xfrm flipH="false" flipV="false" rot="0">
              <a:off x="0" y="0"/>
              <a:ext cx="20864576" cy="1830197"/>
            </a:xfrm>
            <a:custGeom>
              <a:avLst/>
              <a:gdLst/>
              <a:ahLst/>
              <a:cxnLst/>
              <a:rect r="r" b="b" t="t" l="l"/>
              <a:pathLst>
                <a:path h="1830197" w="20864576">
                  <a:moveTo>
                    <a:pt x="0" y="164719"/>
                  </a:moveTo>
                  <a:cubicBezTo>
                    <a:pt x="0" y="73787"/>
                    <a:pt x="73787" y="0"/>
                    <a:pt x="164719" y="0"/>
                  </a:cubicBezTo>
                  <a:lnTo>
                    <a:pt x="20699857" y="0"/>
                  </a:lnTo>
                  <a:cubicBezTo>
                    <a:pt x="20790790" y="0"/>
                    <a:pt x="20864576" y="73787"/>
                    <a:pt x="20864576" y="164719"/>
                  </a:cubicBezTo>
                  <a:lnTo>
                    <a:pt x="20864576" y="1665478"/>
                  </a:lnTo>
                  <a:cubicBezTo>
                    <a:pt x="20864576" y="1756410"/>
                    <a:pt x="20790790" y="1830197"/>
                    <a:pt x="20699857" y="1830197"/>
                  </a:cubicBezTo>
                  <a:lnTo>
                    <a:pt x="164719" y="1830197"/>
                  </a:lnTo>
                  <a:cubicBezTo>
                    <a:pt x="73787" y="1830197"/>
                    <a:pt x="0" y="1756537"/>
                    <a:pt x="0" y="1665478"/>
                  </a:cubicBezTo>
                  <a:close/>
                </a:path>
              </a:pathLst>
            </a:custGeom>
            <a:solidFill>
              <a:srgbClr val="FFFFFF"/>
            </a:solidFill>
          </p:spPr>
        </p:sp>
      </p:grpSp>
      <p:grpSp>
        <p:nvGrpSpPr>
          <p:cNvPr name="Group 19" id="19"/>
          <p:cNvGrpSpPr/>
          <p:nvPr/>
        </p:nvGrpSpPr>
        <p:grpSpPr>
          <a:xfrm rot="0">
            <a:off x="1242108" y="3290783"/>
            <a:ext cx="686333" cy="686333"/>
            <a:chOff x="0" y="0"/>
            <a:chExt cx="915111" cy="915111"/>
          </a:xfrm>
        </p:grpSpPr>
        <p:sp>
          <p:nvSpPr>
            <p:cNvPr name="Freeform 20" id="20"/>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387F7F"/>
            </a:solidFill>
          </p:spPr>
        </p:sp>
      </p:grpSp>
      <p:grpSp>
        <p:nvGrpSpPr>
          <p:cNvPr name="Group 21" id="21"/>
          <p:cNvGrpSpPr/>
          <p:nvPr/>
        </p:nvGrpSpPr>
        <p:grpSpPr>
          <a:xfrm rot="0">
            <a:off x="1242108" y="3290783"/>
            <a:ext cx="686333" cy="686333"/>
            <a:chOff x="0" y="0"/>
            <a:chExt cx="915111" cy="915111"/>
          </a:xfrm>
        </p:grpSpPr>
        <p:sp>
          <p:nvSpPr>
            <p:cNvPr name="Freeform 22" id="22"/>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9">
                <a:alphaModFix amt="0"/>
              </a:blip>
              <a:stretch>
                <a:fillRect l="-78303" t="0" r="-78302" b="0"/>
              </a:stretch>
            </a:blipFill>
          </p:spPr>
        </p:sp>
        <p:sp>
          <p:nvSpPr>
            <p:cNvPr name="TextBox 23" id="23"/>
            <p:cNvSpPr txBox="true"/>
            <p:nvPr/>
          </p:nvSpPr>
          <p:spPr>
            <a:xfrm>
              <a:off x="0" y="-38100"/>
              <a:ext cx="915111" cy="953211"/>
            </a:xfrm>
            <a:prstGeom prst="rect">
              <a:avLst/>
            </a:prstGeom>
          </p:spPr>
          <p:txBody>
            <a:bodyPr anchor="ctr" rtlCol="false" tIns="0" lIns="0" bIns="0" rIns="0"/>
            <a:lstStyle/>
            <a:p>
              <a:pPr algn="ctr">
                <a:lnSpc>
                  <a:spcPts val="3422"/>
                </a:lnSpc>
              </a:pPr>
              <a:r>
                <a:rPr lang="en-US" sz="2852" b="true">
                  <a:solidFill>
                    <a:srgbClr val="FFFFFF"/>
                  </a:solidFill>
                  <a:latin typeface="Poppins Bold"/>
                  <a:ea typeface="Poppins Bold"/>
                  <a:cs typeface="Poppins Bold"/>
                  <a:sym typeface="Poppins Bold"/>
                </a:rPr>
                <a:t>1</a:t>
              </a:r>
            </a:p>
          </p:txBody>
        </p:sp>
      </p:grpSp>
      <p:grpSp>
        <p:nvGrpSpPr>
          <p:cNvPr name="Group 24" id="24"/>
          <p:cNvGrpSpPr/>
          <p:nvPr/>
        </p:nvGrpSpPr>
        <p:grpSpPr>
          <a:xfrm rot="0">
            <a:off x="2271617" y="2947616"/>
            <a:ext cx="14001255" cy="1372676"/>
            <a:chOff x="0" y="0"/>
            <a:chExt cx="18668340" cy="1830235"/>
          </a:xfrm>
        </p:grpSpPr>
        <p:sp>
          <p:nvSpPr>
            <p:cNvPr name="Freeform 25" id="25"/>
            <p:cNvSpPr/>
            <p:nvPr/>
          </p:nvSpPr>
          <p:spPr>
            <a:xfrm flipH="false" flipV="false" rot="0">
              <a:off x="0" y="0"/>
              <a:ext cx="18668344" cy="1830230"/>
            </a:xfrm>
            <a:custGeom>
              <a:avLst/>
              <a:gdLst/>
              <a:ahLst/>
              <a:cxnLst/>
              <a:rect r="r" b="b" t="t" l="l"/>
              <a:pathLst>
                <a:path h="1830230" w="18668344">
                  <a:moveTo>
                    <a:pt x="0" y="0"/>
                  </a:moveTo>
                  <a:lnTo>
                    <a:pt x="18668344" y="0"/>
                  </a:lnTo>
                  <a:lnTo>
                    <a:pt x="18668344" y="1830230"/>
                  </a:lnTo>
                  <a:lnTo>
                    <a:pt x="0" y="1830230"/>
                  </a:lnTo>
                  <a:close/>
                </a:path>
              </a:pathLst>
            </a:custGeom>
            <a:blipFill>
              <a:blip r:embed="rId9">
                <a:alphaModFix amt="0"/>
              </a:blip>
              <a:stretch>
                <a:fillRect l="0" t="-148747" r="0" b="-148747"/>
              </a:stretch>
            </a:blipFill>
          </p:spPr>
        </p:sp>
        <p:sp>
          <p:nvSpPr>
            <p:cNvPr name="TextBox 26" id="26"/>
            <p:cNvSpPr txBox="true"/>
            <p:nvPr/>
          </p:nvSpPr>
          <p:spPr>
            <a:xfrm>
              <a:off x="0" y="-85725"/>
              <a:ext cx="18668340" cy="1915960"/>
            </a:xfrm>
            <a:prstGeom prst="rect">
              <a:avLst/>
            </a:prstGeom>
          </p:spPr>
          <p:txBody>
            <a:bodyPr anchor="ctr" rtlCol="false" tIns="0" lIns="0" bIns="0" rIns="0"/>
            <a:lstStyle/>
            <a:p>
              <a:pPr algn="l">
                <a:lnSpc>
                  <a:spcPts val="3674"/>
                </a:lnSpc>
              </a:pPr>
              <a:r>
                <a:rPr lang="en-US" sz="2551">
                  <a:solidFill>
                    <a:srgbClr val="475569"/>
                  </a:solidFill>
                  <a:latin typeface="Poppins"/>
                  <a:ea typeface="Poppins"/>
                  <a:cs typeface="Poppins"/>
                  <a:sym typeface="Poppins"/>
                </a:rPr>
                <a:t>What does a trend-based forecast assume about the future, and what can it never see from only three months of data?</a:t>
              </a:r>
            </a:p>
          </p:txBody>
        </p:sp>
      </p:grpSp>
      <p:grpSp>
        <p:nvGrpSpPr>
          <p:cNvPr name="Group 27" id="27"/>
          <p:cNvGrpSpPr/>
          <p:nvPr/>
        </p:nvGrpSpPr>
        <p:grpSpPr>
          <a:xfrm rot="0">
            <a:off x="830304" y="4526185"/>
            <a:ext cx="15648470" cy="1372676"/>
            <a:chOff x="0" y="0"/>
            <a:chExt cx="20864627" cy="1830235"/>
          </a:xfrm>
        </p:grpSpPr>
        <p:sp>
          <p:nvSpPr>
            <p:cNvPr name="Freeform 28" id="28"/>
            <p:cNvSpPr/>
            <p:nvPr/>
          </p:nvSpPr>
          <p:spPr>
            <a:xfrm flipH="false" flipV="false" rot="0">
              <a:off x="0" y="0"/>
              <a:ext cx="20864576" cy="1830197"/>
            </a:xfrm>
            <a:custGeom>
              <a:avLst/>
              <a:gdLst/>
              <a:ahLst/>
              <a:cxnLst/>
              <a:rect r="r" b="b" t="t" l="l"/>
              <a:pathLst>
                <a:path h="1830197" w="20864576">
                  <a:moveTo>
                    <a:pt x="0" y="164719"/>
                  </a:moveTo>
                  <a:cubicBezTo>
                    <a:pt x="0" y="73787"/>
                    <a:pt x="73787" y="0"/>
                    <a:pt x="164719" y="0"/>
                  </a:cubicBezTo>
                  <a:lnTo>
                    <a:pt x="20699857" y="0"/>
                  </a:lnTo>
                  <a:cubicBezTo>
                    <a:pt x="20790790" y="0"/>
                    <a:pt x="20864576" y="73787"/>
                    <a:pt x="20864576" y="164719"/>
                  </a:cubicBezTo>
                  <a:lnTo>
                    <a:pt x="20864576" y="1665478"/>
                  </a:lnTo>
                  <a:cubicBezTo>
                    <a:pt x="20864576" y="1756410"/>
                    <a:pt x="20790790" y="1830197"/>
                    <a:pt x="20699857" y="1830197"/>
                  </a:cubicBezTo>
                  <a:lnTo>
                    <a:pt x="164719" y="1830197"/>
                  </a:lnTo>
                  <a:cubicBezTo>
                    <a:pt x="73787" y="1830197"/>
                    <a:pt x="0" y="1756537"/>
                    <a:pt x="0" y="1665478"/>
                  </a:cubicBezTo>
                  <a:close/>
                </a:path>
              </a:pathLst>
            </a:custGeom>
            <a:solidFill>
              <a:srgbClr val="FFFFFF"/>
            </a:solidFill>
          </p:spPr>
        </p:sp>
      </p:grpSp>
      <p:grpSp>
        <p:nvGrpSpPr>
          <p:cNvPr name="Group 29" id="29"/>
          <p:cNvGrpSpPr/>
          <p:nvPr/>
        </p:nvGrpSpPr>
        <p:grpSpPr>
          <a:xfrm rot="0">
            <a:off x="1242108" y="4869351"/>
            <a:ext cx="686333" cy="686333"/>
            <a:chOff x="0" y="0"/>
            <a:chExt cx="915111" cy="915111"/>
          </a:xfrm>
        </p:grpSpPr>
        <p:sp>
          <p:nvSpPr>
            <p:cNvPr name="Freeform 30" id="30"/>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387F7F"/>
            </a:solidFill>
          </p:spPr>
        </p:sp>
      </p:grpSp>
      <p:grpSp>
        <p:nvGrpSpPr>
          <p:cNvPr name="Group 31" id="31"/>
          <p:cNvGrpSpPr/>
          <p:nvPr/>
        </p:nvGrpSpPr>
        <p:grpSpPr>
          <a:xfrm rot="0">
            <a:off x="1242108" y="4869351"/>
            <a:ext cx="686333" cy="686333"/>
            <a:chOff x="0" y="0"/>
            <a:chExt cx="915111" cy="915111"/>
          </a:xfrm>
        </p:grpSpPr>
        <p:sp>
          <p:nvSpPr>
            <p:cNvPr name="Freeform 32" id="32"/>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9">
                <a:alphaModFix amt="0"/>
              </a:blip>
              <a:stretch>
                <a:fillRect l="-78303" t="0" r="-78302" b="0"/>
              </a:stretch>
            </a:blipFill>
          </p:spPr>
        </p:sp>
        <p:sp>
          <p:nvSpPr>
            <p:cNvPr name="TextBox 33" id="33"/>
            <p:cNvSpPr txBox="true"/>
            <p:nvPr/>
          </p:nvSpPr>
          <p:spPr>
            <a:xfrm>
              <a:off x="0" y="-38100"/>
              <a:ext cx="915111" cy="953211"/>
            </a:xfrm>
            <a:prstGeom prst="rect">
              <a:avLst/>
            </a:prstGeom>
          </p:spPr>
          <p:txBody>
            <a:bodyPr anchor="ctr" rtlCol="false" tIns="0" lIns="0" bIns="0" rIns="0"/>
            <a:lstStyle/>
            <a:p>
              <a:pPr algn="ctr">
                <a:lnSpc>
                  <a:spcPts val="3422"/>
                </a:lnSpc>
              </a:pPr>
              <a:r>
                <a:rPr lang="en-US" sz="2852" b="true">
                  <a:solidFill>
                    <a:srgbClr val="FFFFFF"/>
                  </a:solidFill>
                  <a:latin typeface="Poppins Bold"/>
                  <a:ea typeface="Poppins Bold"/>
                  <a:cs typeface="Poppins Bold"/>
                  <a:sym typeface="Poppins Bold"/>
                </a:rPr>
                <a:t>2</a:t>
              </a:r>
            </a:p>
          </p:txBody>
        </p:sp>
      </p:grpSp>
      <p:grpSp>
        <p:nvGrpSpPr>
          <p:cNvPr name="Group 34" id="34"/>
          <p:cNvGrpSpPr/>
          <p:nvPr/>
        </p:nvGrpSpPr>
        <p:grpSpPr>
          <a:xfrm rot="0">
            <a:off x="2271617" y="4526185"/>
            <a:ext cx="14001255" cy="1372676"/>
            <a:chOff x="0" y="0"/>
            <a:chExt cx="18668340" cy="1830235"/>
          </a:xfrm>
        </p:grpSpPr>
        <p:sp>
          <p:nvSpPr>
            <p:cNvPr name="Freeform 35" id="35"/>
            <p:cNvSpPr/>
            <p:nvPr/>
          </p:nvSpPr>
          <p:spPr>
            <a:xfrm flipH="false" flipV="false" rot="0">
              <a:off x="0" y="0"/>
              <a:ext cx="18668344" cy="1830230"/>
            </a:xfrm>
            <a:custGeom>
              <a:avLst/>
              <a:gdLst/>
              <a:ahLst/>
              <a:cxnLst/>
              <a:rect r="r" b="b" t="t" l="l"/>
              <a:pathLst>
                <a:path h="1830230" w="18668344">
                  <a:moveTo>
                    <a:pt x="0" y="0"/>
                  </a:moveTo>
                  <a:lnTo>
                    <a:pt x="18668344" y="0"/>
                  </a:lnTo>
                  <a:lnTo>
                    <a:pt x="18668344" y="1830230"/>
                  </a:lnTo>
                  <a:lnTo>
                    <a:pt x="0" y="1830230"/>
                  </a:lnTo>
                  <a:close/>
                </a:path>
              </a:pathLst>
            </a:custGeom>
            <a:blipFill>
              <a:blip r:embed="rId9">
                <a:alphaModFix amt="0"/>
              </a:blip>
              <a:stretch>
                <a:fillRect l="0" t="-148747" r="0" b="-148747"/>
              </a:stretch>
            </a:blipFill>
          </p:spPr>
        </p:sp>
        <p:sp>
          <p:nvSpPr>
            <p:cNvPr name="TextBox 36" id="36"/>
            <p:cNvSpPr txBox="true"/>
            <p:nvPr/>
          </p:nvSpPr>
          <p:spPr>
            <a:xfrm>
              <a:off x="0" y="-85725"/>
              <a:ext cx="18668340" cy="1915960"/>
            </a:xfrm>
            <a:prstGeom prst="rect">
              <a:avLst/>
            </a:prstGeom>
          </p:spPr>
          <p:txBody>
            <a:bodyPr anchor="ctr" rtlCol="false" tIns="0" lIns="0" bIns="0" rIns="0"/>
            <a:lstStyle/>
            <a:p>
              <a:pPr algn="l">
                <a:lnSpc>
                  <a:spcPts val="3674"/>
                </a:lnSpc>
              </a:pPr>
              <a:r>
                <a:rPr lang="en-US" sz="2551">
                  <a:solidFill>
                    <a:srgbClr val="475569"/>
                  </a:solidFill>
                  <a:latin typeface="Poppins"/>
                  <a:ea typeface="Poppins"/>
                  <a:cs typeface="Poppins"/>
                  <a:sym typeface="Poppins"/>
                </a:rPr>
                <a:t>What does it mean to "stress-test" a forecast, and why did two reasonable methods giving different answers count as useful, not as a failure?</a:t>
              </a:r>
            </a:p>
          </p:txBody>
        </p:sp>
      </p:grpSp>
      <p:grpSp>
        <p:nvGrpSpPr>
          <p:cNvPr name="Group 37" id="37"/>
          <p:cNvGrpSpPr/>
          <p:nvPr/>
        </p:nvGrpSpPr>
        <p:grpSpPr>
          <a:xfrm rot="0">
            <a:off x="830304" y="6104763"/>
            <a:ext cx="15648470" cy="1372676"/>
            <a:chOff x="0" y="0"/>
            <a:chExt cx="20864627" cy="1830235"/>
          </a:xfrm>
        </p:grpSpPr>
        <p:sp>
          <p:nvSpPr>
            <p:cNvPr name="Freeform 38" id="38"/>
            <p:cNvSpPr/>
            <p:nvPr/>
          </p:nvSpPr>
          <p:spPr>
            <a:xfrm flipH="false" flipV="false" rot="0">
              <a:off x="0" y="0"/>
              <a:ext cx="20864576" cy="1830197"/>
            </a:xfrm>
            <a:custGeom>
              <a:avLst/>
              <a:gdLst/>
              <a:ahLst/>
              <a:cxnLst/>
              <a:rect r="r" b="b" t="t" l="l"/>
              <a:pathLst>
                <a:path h="1830197" w="20864576">
                  <a:moveTo>
                    <a:pt x="0" y="164719"/>
                  </a:moveTo>
                  <a:cubicBezTo>
                    <a:pt x="0" y="73787"/>
                    <a:pt x="73787" y="0"/>
                    <a:pt x="164719" y="0"/>
                  </a:cubicBezTo>
                  <a:lnTo>
                    <a:pt x="20699857" y="0"/>
                  </a:lnTo>
                  <a:cubicBezTo>
                    <a:pt x="20790790" y="0"/>
                    <a:pt x="20864576" y="73787"/>
                    <a:pt x="20864576" y="164719"/>
                  </a:cubicBezTo>
                  <a:lnTo>
                    <a:pt x="20864576" y="1665478"/>
                  </a:lnTo>
                  <a:cubicBezTo>
                    <a:pt x="20864576" y="1756410"/>
                    <a:pt x="20790790" y="1830197"/>
                    <a:pt x="20699857" y="1830197"/>
                  </a:cubicBezTo>
                  <a:lnTo>
                    <a:pt x="164719" y="1830197"/>
                  </a:lnTo>
                  <a:cubicBezTo>
                    <a:pt x="73787" y="1830197"/>
                    <a:pt x="0" y="1756537"/>
                    <a:pt x="0" y="1665478"/>
                  </a:cubicBezTo>
                  <a:close/>
                </a:path>
              </a:pathLst>
            </a:custGeom>
            <a:solidFill>
              <a:srgbClr val="FFFFFF"/>
            </a:solidFill>
          </p:spPr>
        </p:sp>
      </p:grpSp>
      <p:grpSp>
        <p:nvGrpSpPr>
          <p:cNvPr name="Group 39" id="39"/>
          <p:cNvGrpSpPr/>
          <p:nvPr/>
        </p:nvGrpSpPr>
        <p:grpSpPr>
          <a:xfrm rot="0">
            <a:off x="1242108" y="6447930"/>
            <a:ext cx="686333" cy="686333"/>
            <a:chOff x="0" y="0"/>
            <a:chExt cx="915111" cy="915111"/>
          </a:xfrm>
        </p:grpSpPr>
        <p:sp>
          <p:nvSpPr>
            <p:cNvPr name="Freeform 40" id="40"/>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387F7F"/>
            </a:solidFill>
          </p:spPr>
        </p:sp>
      </p:grpSp>
      <p:grpSp>
        <p:nvGrpSpPr>
          <p:cNvPr name="Group 41" id="41"/>
          <p:cNvGrpSpPr/>
          <p:nvPr/>
        </p:nvGrpSpPr>
        <p:grpSpPr>
          <a:xfrm rot="0">
            <a:off x="1242108" y="6447930"/>
            <a:ext cx="686333" cy="686333"/>
            <a:chOff x="0" y="0"/>
            <a:chExt cx="915111" cy="915111"/>
          </a:xfrm>
        </p:grpSpPr>
        <p:sp>
          <p:nvSpPr>
            <p:cNvPr name="Freeform 42" id="42"/>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9">
                <a:alphaModFix amt="0"/>
              </a:blip>
              <a:stretch>
                <a:fillRect l="-78303" t="0" r="-78302" b="0"/>
              </a:stretch>
            </a:blipFill>
          </p:spPr>
        </p:sp>
        <p:sp>
          <p:nvSpPr>
            <p:cNvPr name="TextBox 43" id="43"/>
            <p:cNvSpPr txBox="true"/>
            <p:nvPr/>
          </p:nvSpPr>
          <p:spPr>
            <a:xfrm>
              <a:off x="0" y="-38100"/>
              <a:ext cx="915111" cy="953211"/>
            </a:xfrm>
            <a:prstGeom prst="rect">
              <a:avLst/>
            </a:prstGeom>
          </p:spPr>
          <p:txBody>
            <a:bodyPr anchor="ctr" rtlCol="false" tIns="0" lIns="0" bIns="0" rIns="0"/>
            <a:lstStyle/>
            <a:p>
              <a:pPr algn="ctr">
                <a:lnSpc>
                  <a:spcPts val="3422"/>
                </a:lnSpc>
              </a:pPr>
              <a:r>
                <a:rPr lang="en-US" sz="2852" b="true">
                  <a:solidFill>
                    <a:srgbClr val="FFFFFF"/>
                  </a:solidFill>
                  <a:latin typeface="Poppins Bold"/>
                  <a:ea typeface="Poppins Bold"/>
                  <a:cs typeface="Poppins Bold"/>
                  <a:sym typeface="Poppins Bold"/>
                </a:rPr>
                <a:t>3</a:t>
              </a:r>
            </a:p>
          </p:txBody>
        </p:sp>
      </p:grpSp>
      <p:grpSp>
        <p:nvGrpSpPr>
          <p:cNvPr name="Group 44" id="44"/>
          <p:cNvGrpSpPr/>
          <p:nvPr/>
        </p:nvGrpSpPr>
        <p:grpSpPr>
          <a:xfrm rot="0">
            <a:off x="2271617" y="6104763"/>
            <a:ext cx="14001255" cy="1372676"/>
            <a:chOff x="0" y="0"/>
            <a:chExt cx="18668340" cy="1830235"/>
          </a:xfrm>
        </p:grpSpPr>
        <p:sp>
          <p:nvSpPr>
            <p:cNvPr name="Freeform 45" id="45"/>
            <p:cNvSpPr/>
            <p:nvPr/>
          </p:nvSpPr>
          <p:spPr>
            <a:xfrm flipH="false" flipV="false" rot="0">
              <a:off x="0" y="0"/>
              <a:ext cx="18668344" cy="1830230"/>
            </a:xfrm>
            <a:custGeom>
              <a:avLst/>
              <a:gdLst/>
              <a:ahLst/>
              <a:cxnLst/>
              <a:rect r="r" b="b" t="t" l="l"/>
              <a:pathLst>
                <a:path h="1830230" w="18668344">
                  <a:moveTo>
                    <a:pt x="0" y="0"/>
                  </a:moveTo>
                  <a:lnTo>
                    <a:pt x="18668344" y="0"/>
                  </a:lnTo>
                  <a:lnTo>
                    <a:pt x="18668344" y="1830230"/>
                  </a:lnTo>
                  <a:lnTo>
                    <a:pt x="0" y="1830230"/>
                  </a:lnTo>
                  <a:close/>
                </a:path>
              </a:pathLst>
            </a:custGeom>
            <a:blipFill>
              <a:blip r:embed="rId9">
                <a:alphaModFix amt="0"/>
              </a:blip>
              <a:stretch>
                <a:fillRect l="0" t="-148747" r="0" b="-148747"/>
              </a:stretch>
            </a:blipFill>
          </p:spPr>
        </p:sp>
        <p:sp>
          <p:nvSpPr>
            <p:cNvPr name="TextBox 46" id="46"/>
            <p:cNvSpPr txBox="true"/>
            <p:nvPr/>
          </p:nvSpPr>
          <p:spPr>
            <a:xfrm>
              <a:off x="0" y="-85725"/>
              <a:ext cx="18668340" cy="1915960"/>
            </a:xfrm>
            <a:prstGeom prst="rect">
              <a:avLst/>
            </a:prstGeom>
          </p:spPr>
          <p:txBody>
            <a:bodyPr anchor="ctr" rtlCol="false" tIns="0" lIns="0" bIns="0" rIns="0"/>
            <a:lstStyle/>
            <a:p>
              <a:pPr algn="l">
                <a:lnSpc>
                  <a:spcPts val="3674"/>
                </a:lnSpc>
              </a:pPr>
              <a:r>
                <a:rPr lang="en-US" sz="2551">
                  <a:solidFill>
                    <a:srgbClr val="475569"/>
                  </a:solidFill>
                  <a:latin typeface="Poppins"/>
                  <a:ea typeface="Poppins"/>
                  <a:cs typeface="Poppins"/>
                  <a:sym typeface="Poppins"/>
                </a:rPr>
                <a:t>Name one thing SwiftRoute's Q3 file can tell you directly, just by looking at it, without needing any kind of model.</a:t>
              </a:r>
            </a:p>
          </p:txBody>
        </p:sp>
      </p:grpSp>
      <p:grpSp>
        <p:nvGrpSpPr>
          <p:cNvPr name="Group 47" id="47"/>
          <p:cNvGrpSpPr/>
          <p:nvPr/>
        </p:nvGrpSpPr>
        <p:grpSpPr>
          <a:xfrm rot="0">
            <a:off x="15099392" y="686333"/>
            <a:ext cx="1853108" cy="686333"/>
            <a:chOff x="0" y="0"/>
            <a:chExt cx="2470810" cy="915111"/>
          </a:xfrm>
        </p:grpSpPr>
        <p:sp>
          <p:nvSpPr>
            <p:cNvPr name="Freeform 48" id="48"/>
            <p:cNvSpPr/>
            <p:nvPr/>
          </p:nvSpPr>
          <p:spPr>
            <a:xfrm flipH="false" flipV="false" rot="0">
              <a:off x="0" y="0"/>
              <a:ext cx="2470912" cy="915162"/>
            </a:xfrm>
            <a:custGeom>
              <a:avLst/>
              <a:gdLst/>
              <a:ahLst/>
              <a:cxnLst/>
              <a:rect r="r" b="b" t="t" l="l"/>
              <a:pathLst>
                <a:path h="915162" w="2470912">
                  <a:moveTo>
                    <a:pt x="0" y="457581"/>
                  </a:moveTo>
                  <a:cubicBezTo>
                    <a:pt x="0" y="204851"/>
                    <a:pt x="204851" y="0"/>
                    <a:pt x="457581" y="0"/>
                  </a:cubicBezTo>
                  <a:lnTo>
                    <a:pt x="2013331" y="0"/>
                  </a:lnTo>
                  <a:cubicBezTo>
                    <a:pt x="2266061" y="0"/>
                    <a:pt x="2470912" y="204851"/>
                    <a:pt x="2470912" y="457581"/>
                  </a:cubicBezTo>
                  <a:cubicBezTo>
                    <a:pt x="2470912" y="710311"/>
                    <a:pt x="2266061" y="915162"/>
                    <a:pt x="2013331" y="915162"/>
                  </a:cubicBezTo>
                  <a:lnTo>
                    <a:pt x="457581" y="915162"/>
                  </a:lnTo>
                  <a:cubicBezTo>
                    <a:pt x="204851" y="915162"/>
                    <a:pt x="0" y="710311"/>
                    <a:pt x="0" y="457581"/>
                  </a:cubicBezTo>
                  <a:close/>
                </a:path>
              </a:pathLst>
            </a:custGeom>
            <a:solidFill>
              <a:srgbClr val="387F7F"/>
            </a:solidFill>
          </p:spPr>
        </p:sp>
      </p:grpSp>
      <p:grpSp>
        <p:nvGrpSpPr>
          <p:cNvPr name="Group 49" id="49"/>
          <p:cNvGrpSpPr/>
          <p:nvPr/>
        </p:nvGrpSpPr>
        <p:grpSpPr>
          <a:xfrm rot="0">
            <a:off x="15099392" y="686333"/>
            <a:ext cx="1853108" cy="686333"/>
            <a:chOff x="0" y="0"/>
            <a:chExt cx="2470810" cy="915111"/>
          </a:xfrm>
        </p:grpSpPr>
        <p:sp>
          <p:nvSpPr>
            <p:cNvPr name="Freeform 50" id="50"/>
            <p:cNvSpPr/>
            <p:nvPr/>
          </p:nvSpPr>
          <p:spPr>
            <a:xfrm flipH="false" flipV="false" rot="0">
              <a:off x="0" y="0"/>
              <a:ext cx="2470810" cy="915115"/>
            </a:xfrm>
            <a:custGeom>
              <a:avLst/>
              <a:gdLst/>
              <a:ahLst/>
              <a:cxnLst/>
              <a:rect r="r" b="b" t="t" l="l"/>
              <a:pathLst>
                <a:path h="915115" w="2470810">
                  <a:moveTo>
                    <a:pt x="0" y="0"/>
                  </a:moveTo>
                  <a:lnTo>
                    <a:pt x="2470810" y="0"/>
                  </a:lnTo>
                  <a:lnTo>
                    <a:pt x="2470810" y="915115"/>
                  </a:lnTo>
                  <a:lnTo>
                    <a:pt x="0" y="915115"/>
                  </a:lnTo>
                  <a:close/>
                </a:path>
              </a:pathLst>
            </a:custGeom>
            <a:blipFill>
              <a:blip r:embed="rId9">
                <a:alphaModFix amt="0"/>
              </a:blip>
              <a:stretch>
                <a:fillRect l="0" t="-2609" r="0" b="-2609"/>
              </a:stretch>
            </a:blipFill>
          </p:spPr>
        </p:sp>
        <p:sp>
          <p:nvSpPr>
            <p:cNvPr name="TextBox 51" id="51"/>
            <p:cNvSpPr txBox="true"/>
            <p:nvPr/>
          </p:nvSpPr>
          <p:spPr>
            <a:xfrm>
              <a:off x="0" y="-19050"/>
              <a:ext cx="2470810" cy="934161"/>
            </a:xfrm>
            <a:prstGeom prst="rect">
              <a:avLst/>
            </a:prstGeom>
          </p:spPr>
          <p:txBody>
            <a:bodyPr anchor="ctr" rtlCol="false" tIns="0" lIns="0" bIns="0" rIns="0"/>
            <a:lstStyle/>
            <a:p>
              <a:pPr algn="ctr">
                <a:lnSpc>
                  <a:spcPts val="2341"/>
                </a:lnSpc>
              </a:pPr>
              <a:r>
                <a:rPr lang="en-US" sz="1951" b="true">
                  <a:solidFill>
                    <a:srgbClr val="FFFFFF"/>
                  </a:solidFill>
                  <a:latin typeface="Poppins Bold"/>
                  <a:ea typeface="Poppins Bold"/>
                  <a:cs typeface="Poppins Bold"/>
                  <a:sym typeface="Poppins Bold"/>
                </a:rPr>
                <a:t>90 SEC</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71525"/>
            <a:ext cx="10408190" cy="733425"/>
          </a:xfrm>
          <a:prstGeom prst="rect">
            <a:avLst/>
          </a:prstGeom>
        </p:spPr>
        <p:txBody>
          <a:bodyPr anchor="t" rtlCol="false" tIns="0" lIns="0" bIns="0" rIns="0">
            <a:spAutoFit/>
          </a:bodyPr>
          <a:lstStyle/>
          <a:p>
            <a:pPr algn="l">
              <a:lnSpc>
                <a:spcPts val="5520"/>
              </a:lnSpc>
            </a:pPr>
            <a:r>
              <a:rPr lang="en-US" sz="4600">
                <a:solidFill>
                  <a:srgbClr val="388080"/>
                </a:solidFill>
                <a:latin typeface="Poppins"/>
                <a:ea typeface="Poppins"/>
                <a:cs typeface="Poppins"/>
                <a:sym typeface="Poppins"/>
              </a:rPr>
              <a:t>"C</a:t>
            </a:r>
            <a:r>
              <a:rPr lang="en-US" sz="4600">
                <a:solidFill>
                  <a:srgbClr val="388080"/>
                </a:solidFill>
                <a:latin typeface="Poppins"/>
                <a:ea typeface="Poppins"/>
                <a:cs typeface="Poppins"/>
                <a:sym typeface="Poppins"/>
              </a:rPr>
              <a:t>an we just use AI to predict that?"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804980" y="0"/>
            <a:ext cx="6492745" cy="10295039"/>
            <a:chOff x="0" y="0"/>
            <a:chExt cx="8656993" cy="13726719"/>
          </a:xfrm>
        </p:grpSpPr>
        <p:sp>
          <p:nvSpPr>
            <p:cNvPr name="Freeform 12" id="12"/>
            <p:cNvSpPr/>
            <p:nvPr/>
          </p:nvSpPr>
          <p:spPr>
            <a:xfrm flipH="false" flipV="false" rot="0">
              <a:off x="0" y="0"/>
              <a:ext cx="8656955" cy="13726668"/>
            </a:xfrm>
            <a:custGeom>
              <a:avLst/>
              <a:gdLst/>
              <a:ahLst/>
              <a:cxnLst/>
              <a:rect r="r" b="b" t="t" l="l"/>
              <a:pathLst>
                <a:path h="13726668" w="8656955">
                  <a:moveTo>
                    <a:pt x="0" y="0"/>
                  </a:moveTo>
                  <a:lnTo>
                    <a:pt x="8656955" y="0"/>
                  </a:lnTo>
                  <a:lnTo>
                    <a:pt x="8656955" y="13726668"/>
                  </a:lnTo>
                  <a:lnTo>
                    <a:pt x="0" y="13726668"/>
                  </a:lnTo>
                  <a:close/>
                </a:path>
              </a:pathLst>
            </a:custGeom>
            <a:solidFill>
              <a:srgbClr val="20494A"/>
            </a:solidFill>
          </p:spPr>
        </p:sp>
      </p:grpSp>
      <p:grpSp>
        <p:nvGrpSpPr>
          <p:cNvPr name="Group 13" id="13"/>
          <p:cNvGrpSpPr/>
          <p:nvPr/>
        </p:nvGrpSpPr>
        <p:grpSpPr>
          <a:xfrm rot="0">
            <a:off x="11804980" y="2951245"/>
            <a:ext cx="6314294" cy="2333539"/>
            <a:chOff x="0" y="0"/>
            <a:chExt cx="8419059" cy="3111386"/>
          </a:xfrm>
        </p:grpSpPr>
        <p:sp>
          <p:nvSpPr>
            <p:cNvPr name="Freeform 14" id="14"/>
            <p:cNvSpPr/>
            <p:nvPr/>
          </p:nvSpPr>
          <p:spPr>
            <a:xfrm flipH="false" flipV="false" rot="0">
              <a:off x="0" y="0"/>
              <a:ext cx="8419057" cy="3111391"/>
            </a:xfrm>
            <a:custGeom>
              <a:avLst/>
              <a:gdLst/>
              <a:ahLst/>
              <a:cxnLst/>
              <a:rect r="r" b="b" t="t" l="l"/>
              <a:pathLst>
                <a:path h="3111391" w="8419057">
                  <a:moveTo>
                    <a:pt x="0" y="0"/>
                  </a:moveTo>
                  <a:lnTo>
                    <a:pt x="8419057" y="0"/>
                  </a:lnTo>
                  <a:lnTo>
                    <a:pt x="8419057" y="3111391"/>
                  </a:lnTo>
                  <a:lnTo>
                    <a:pt x="0" y="3111391"/>
                  </a:lnTo>
                  <a:close/>
                </a:path>
              </a:pathLst>
            </a:custGeom>
            <a:blipFill>
              <a:blip r:embed="rId9">
                <a:alphaModFix amt="0"/>
              </a:blip>
              <a:stretch>
                <a:fillRect l="0" t="-2724" r="0" b="-2724"/>
              </a:stretch>
            </a:blipFill>
          </p:spPr>
        </p:sp>
        <p:sp>
          <p:nvSpPr>
            <p:cNvPr name="TextBox 15" id="15"/>
            <p:cNvSpPr txBox="true"/>
            <p:nvPr/>
          </p:nvSpPr>
          <p:spPr>
            <a:xfrm>
              <a:off x="0" y="-57150"/>
              <a:ext cx="8419059" cy="3168536"/>
            </a:xfrm>
            <a:prstGeom prst="rect">
              <a:avLst/>
            </a:prstGeom>
          </p:spPr>
          <p:txBody>
            <a:bodyPr anchor="ctr" rtlCol="false" tIns="0" lIns="0" bIns="0" rIns="0"/>
            <a:lstStyle/>
            <a:p>
              <a:pPr algn="ctr">
                <a:lnSpc>
                  <a:spcPts val="8286"/>
                </a:lnSpc>
              </a:pPr>
              <a:r>
                <a:rPr lang="en-US" sz="6905" b="true">
                  <a:solidFill>
                    <a:srgbClr val="FFFFFF"/>
                  </a:solidFill>
                  <a:latin typeface="Poppins Bold"/>
                  <a:ea typeface="Poppins Bold"/>
                  <a:cs typeface="Poppins Bold"/>
                  <a:sym typeface="Poppins Bold"/>
                </a:rPr>
                <a:t>Every</a:t>
              </a:r>
            </a:p>
            <a:p>
              <a:pPr algn="ctr">
                <a:lnSpc>
                  <a:spcPts val="8286"/>
                </a:lnSpc>
              </a:pPr>
              <a:r>
                <a:rPr lang="en-US" sz="6905" b="true">
                  <a:solidFill>
                    <a:srgbClr val="FFFFFF"/>
                  </a:solidFill>
                  <a:latin typeface="Poppins Bold"/>
                  <a:ea typeface="Poppins Bold"/>
                  <a:cs typeface="Poppins Bold"/>
                  <a:sym typeface="Poppins Bold"/>
                </a:rPr>
                <a:t>morning</a:t>
              </a:r>
            </a:p>
          </p:txBody>
        </p:sp>
      </p:grpSp>
      <p:grpSp>
        <p:nvGrpSpPr>
          <p:cNvPr name="Group 16" id="16"/>
          <p:cNvGrpSpPr/>
          <p:nvPr/>
        </p:nvGrpSpPr>
        <p:grpSpPr>
          <a:xfrm rot="0">
            <a:off x="11804980" y="5422059"/>
            <a:ext cx="6314294" cy="1372676"/>
            <a:chOff x="0" y="0"/>
            <a:chExt cx="8419059" cy="1830235"/>
          </a:xfrm>
        </p:grpSpPr>
        <p:sp>
          <p:nvSpPr>
            <p:cNvPr name="Freeform 17" id="17"/>
            <p:cNvSpPr/>
            <p:nvPr/>
          </p:nvSpPr>
          <p:spPr>
            <a:xfrm flipH="false" flipV="false" rot="0">
              <a:off x="0" y="0"/>
              <a:ext cx="8419057" cy="1830230"/>
            </a:xfrm>
            <a:custGeom>
              <a:avLst/>
              <a:gdLst/>
              <a:ahLst/>
              <a:cxnLst/>
              <a:rect r="r" b="b" t="t" l="l"/>
              <a:pathLst>
                <a:path h="1830230" w="8419057">
                  <a:moveTo>
                    <a:pt x="0" y="0"/>
                  </a:moveTo>
                  <a:lnTo>
                    <a:pt x="8419057" y="0"/>
                  </a:lnTo>
                  <a:lnTo>
                    <a:pt x="8419057" y="1830230"/>
                  </a:lnTo>
                  <a:lnTo>
                    <a:pt x="0" y="1830230"/>
                  </a:lnTo>
                  <a:close/>
                </a:path>
              </a:pathLst>
            </a:custGeom>
            <a:blipFill>
              <a:blip r:embed="rId9">
                <a:alphaModFix amt="0"/>
              </a:blip>
              <a:stretch>
                <a:fillRect l="0" t="-39631" r="0" b="-39631"/>
              </a:stretch>
            </a:blipFill>
          </p:spPr>
        </p:sp>
        <p:sp>
          <p:nvSpPr>
            <p:cNvPr name="TextBox 18" id="18"/>
            <p:cNvSpPr txBox="true"/>
            <p:nvPr/>
          </p:nvSpPr>
          <p:spPr>
            <a:xfrm>
              <a:off x="0" y="-114300"/>
              <a:ext cx="8419059" cy="1944535"/>
            </a:xfrm>
            <a:prstGeom prst="rect">
              <a:avLst/>
            </a:prstGeom>
          </p:spPr>
          <p:txBody>
            <a:bodyPr anchor="ctr" rtlCol="false" tIns="0" lIns="0" bIns="0" rIns="0"/>
            <a:lstStyle/>
            <a:p>
              <a:pPr algn="ctr">
                <a:lnSpc>
                  <a:spcPts val="3981"/>
                </a:lnSpc>
              </a:pPr>
              <a:r>
                <a:rPr lang="en-US" sz="2551">
                  <a:solidFill>
                    <a:srgbClr val="B9D3D3"/>
                  </a:solidFill>
                  <a:latin typeface="Poppins"/>
                  <a:ea typeface="Poppins"/>
                  <a:cs typeface="Poppins"/>
                  <a:sym typeface="Poppins"/>
                </a:rPr>
                <a:t>before the riders leave,</a:t>
              </a:r>
            </a:p>
            <a:p>
              <a:pPr algn="ctr">
                <a:lnSpc>
                  <a:spcPts val="3981"/>
                </a:lnSpc>
              </a:pPr>
              <a:r>
                <a:rPr lang="en-US" sz="2551">
                  <a:solidFill>
                    <a:srgbClr val="B9D3D3"/>
                  </a:solidFill>
                  <a:latin typeface="Poppins"/>
                  <a:ea typeface="Poppins"/>
                  <a:cs typeface="Poppins"/>
                  <a:sym typeface="Poppins"/>
                </a:rPr>
                <a:t>she opens one screen</a:t>
              </a:r>
            </a:p>
          </p:txBody>
        </p:sp>
      </p:grpSp>
      <p:grpSp>
        <p:nvGrpSpPr>
          <p:cNvPr name="Group 19" id="19"/>
          <p:cNvGrpSpPr/>
          <p:nvPr/>
        </p:nvGrpSpPr>
        <p:grpSpPr>
          <a:xfrm rot="0">
            <a:off x="1070686" y="2127647"/>
            <a:ext cx="10157774" cy="2059010"/>
            <a:chOff x="0" y="0"/>
            <a:chExt cx="13543699" cy="2745346"/>
          </a:xfrm>
        </p:grpSpPr>
        <p:sp>
          <p:nvSpPr>
            <p:cNvPr name="Freeform 20" id="20"/>
            <p:cNvSpPr/>
            <p:nvPr/>
          </p:nvSpPr>
          <p:spPr>
            <a:xfrm flipH="false" flipV="false" rot="0">
              <a:off x="0" y="0"/>
              <a:ext cx="13543700" cy="2745345"/>
            </a:xfrm>
            <a:custGeom>
              <a:avLst/>
              <a:gdLst/>
              <a:ahLst/>
              <a:cxnLst/>
              <a:rect r="r" b="b" t="t" l="l"/>
              <a:pathLst>
                <a:path h="2745345" w="13543700">
                  <a:moveTo>
                    <a:pt x="0" y="0"/>
                  </a:moveTo>
                  <a:lnTo>
                    <a:pt x="13543700" y="0"/>
                  </a:lnTo>
                  <a:lnTo>
                    <a:pt x="13543700" y="2745345"/>
                  </a:lnTo>
                  <a:lnTo>
                    <a:pt x="0" y="2745345"/>
                  </a:lnTo>
                  <a:close/>
                </a:path>
              </a:pathLst>
            </a:custGeom>
            <a:blipFill>
              <a:blip r:embed="rId9">
                <a:alphaModFix amt="0"/>
              </a:blip>
              <a:stretch>
                <a:fillRect l="0" t="-46126" r="0" b="-46126"/>
              </a:stretch>
            </a:blipFill>
          </p:spPr>
        </p:sp>
        <p:sp>
          <p:nvSpPr>
            <p:cNvPr name="TextBox 21" id="21"/>
            <p:cNvSpPr txBox="true"/>
            <p:nvPr/>
          </p:nvSpPr>
          <p:spPr>
            <a:xfrm>
              <a:off x="0" y="-133350"/>
              <a:ext cx="13543699" cy="2878696"/>
            </a:xfrm>
            <a:prstGeom prst="rect">
              <a:avLst/>
            </a:prstGeom>
          </p:spPr>
          <p:txBody>
            <a:bodyPr anchor="ctr" rtlCol="false" tIns="0" lIns="0" bIns="0" rIns="0"/>
            <a:lstStyle/>
            <a:p>
              <a:pPr algn="l">
                <a:lnSpc>
                  <a:spcPts val="4134"/>
                </a:lnSpc>
              </a:pPr>
              <a:r>
                <a:rPr lang="en-US" sz="2551">
                  <a:solidFill>
                    <a:srgbClr val="475569"/>
                  </a:solidFill>
                  <a:latin typeface="Poppins"/>
                  <a:ea typeface="Poppins"/>
                  <a:cs typeface="Poppins"/>
                  <a:sym typeface="Poppins"/>
                </a:rPr>
                <a:t>SwiftRoute's operations meeting keeps producing the same kind of request: predict which deliveries will fail, predict how long a delivery will take, group similar customers together. Someone always adds, "can we just use AI for that?"</a:t>
              </a:r>
            </a:p>
          </p:txBody>
        </p:sp>
      </p:grpSp>
      <p:grpSp>
        <p:nvGrpSpPr>
          <p:cNvPr name="Group 22" id="22"/>
          <p:cNvGrpSpPr/>
          <p:nvPr/>
        </p:nvGrpSpPr>
        <p:grpSpPr>
          <a:xfrm rot="0">
            <a:off x="1070686" y="4598451"/>
            <a:ext cx="10157774" cy="2059010"/>
            <a:chOff x="0" y="0"/>
            <a:chExt cx="13543699" cy="2745346"/>
          </a:xfrm>
        </p:grpSpPr>
        <p:sp>
          <p:nvSpPr>
            <p:cNvPr name="Freeform 23" id="23"/>
            <p:cNvSpPr/>
            <p:nvPr/>
          </p:nvSpPr>
          <p:spPr>
            <a:xfrm flipH="false" flipV="false" rot="0">
              <a:off x="0" y="0"/>
              <a:ext cx="13543700" cy="2745345"/>
            </a:xfrm>
            <a:custGeom>
              <a:avLst/>
              <a:gdLst/>
              <a:ahLst/>
              <a:cxnLst/>
              <a:rect r="r" b="b" t="t" l="l"/>
              <a:pathLst>
                <a:path h="2745345" w="13543700">
                  <a:moveTo>
                    <a:pt x="0" y="0"/>
                  </a:moveTo>
                  <a:lnTo>
                    <a:pt x="13543700" y="0"/>
                  </a:lnTo>
                  <a:lnTo>
                    <a:pt x="13543700" y="2745345"/>
                  </a:lnTo>
                  <a:lnTo>
                    <a:pt x="0" y="2745345"/>
                  </a:lnTo>
                  <a:close/>
                </a:path>
              </a:pathLst>
            </a:custGeom>
            <a:blipFill>
              <a:blip r:embed="rId9">
                <a:alphaModFix amt="0"/>
              </a:blip>
              <a:stretch>
                <a:fillRect l="0" t="-46126" r="0" b="-46126"/>
              </a:stretch>
            </a:blipFill>
          </p:spPr>
        </p:sp>
        <p:sp>
          <p:nvSpPr>
            <p:cNvPr name="TextBox 24" id="24"/>
            <p:cNvSpPr txBox="true"/>
            <p:nvPr/>
          </p:nvSpPr>
          <p:spPr>
            <a:xfrm>
              <a:off x="0" y="-133350"/>
              <a:ext cx="13543699" cy="2878696"/>
            </a:xfrm>
            <a:prstGeom prst="rect">
              <a:avLst/>
            </a:prstGeom>
          </p:spPr>
          <p:txBody>
            <a:bodyPr anchor="ctr" rtlCol="false" tIns="0" lIns="0" bIns="0" rIns="0"/>
            <a:lstStyle/>
            <a:p>
              <a:pPr algn="l">
                <a:lnSpc>
                  <a:spcPts val="4134"/>
                </a:lnSpc>
              </a:pPr>
              <a:r>
                <a:rPr lang="en-US" sz="2551">
                  <a:solidFill>
                    <a:srgbClr val="475569"/>
                  </a:solidFill>
                  <a:latin typeface="Poppins"/>
                  <a:ea typeface="Poppins"/>
                  <a:cs typeface="Poppins"/>
                  <a:sym typeface="Poppins"/>
                </a:rPr>
                <a:t>The honest answer depends on which request is being asked. They are three different kinds of problem, and none of them can be built without a data scientist.</a:t>
              </a:r>
            </a:p>
          </p:txBody>
        </p:sp>
      </p:grpSp>
      <p:grpSp>
        <p:nvGrpSpPr>
          <p:cNvPr name="Group 25" id="25"/>
          <p:cNvGrpSpPr/>
          <p:nvPr/>
        </p:nvGrpSpPr>
        <p:grpSpPr>
          <a:xfrm rot="0">
            <a:off x="1070686" y="6163304"/>
            <a:ext cx="10157774" cy="2059010"/>
            <a:chOff x="0" y="0"/>
            <a:chExt cx="13543699" cy="2745346"/>
          </a:xfrm>
        </p:grpSpPr>
        <p:sp>
          <p:nvSpPr>
            <p:cNvPr name="Freeform 26" id="26"/>
            <p:cNvSpPr/>
            <p:nvPr/>
          </p:nvSpPr>
          <p:spPr>
            <a:xfrm flipH="false" flipV="false" rot="0">
              <a:off x="0" y="0"/>
              <a:ext cx="13543700" cy="2745345"/>
            </a:xfrm>
            <a:custGeom>
              <a:avLst/>
              <a:gdLst/>
              <a:ahLst/>
              <a:cxnLst/>
              <a:rect r="r" b="b" t="t" l="l"/>
              <a:pathLst>
                <a:path h="2745345" w="13543700">
                  <a:moveTo>
                    <a:pt x="0" y="0"/>
                  </a:moveTo>
                  <a:lnTo>
                    <a:pt x="13543700" y="0"/>
                  </a:lnTo>
                  <a:lnTo>
                    <a:pt x="13543700" y="2745345"/>
                  </a:lnTo>
                  <a:lnTo>
                    <a:pt x="0" y="2745345"/>
                  </a:lnTo>
                  <a:close/>
                </a:path>
              </a:pathLst>
            </a:custGeom>
            <a:blipFill>
              <a:blip r:embed="rId9">
                <a:alphaModFix amt="0"/>
              </a:blip>
              <a:stretch>
                <a:fillRect l="0" t="-46126" r="0" b="-46126"/>
              </a:stretch>
            </a:blipFill>
          </p:spPr>
        </p:sp>
        <p:sp>
          <p:nvSpPr>
            <p:cNvPr name="TextBox 27" id="27"/>
            <p:cNvSpPr txBox="true"/>
            <p:nvPr/>
          </p:nvSpPr>
          <p:spPr>
            <a:xfrm>
              <a:off x="0" y="-133350"/>
              <a:ext cx="13543699" cy="2878696"/>
            </a:xfrm>
            <a:prstGeom prst="rect">
              <a:avLst/>
            </a:prstGeom>
          </p:spPr>
          <p:txBody>
            <a:bodyPr anchor="ctr" rtlCol="false" tIns="0" lIns="0" bIns="0" rIns="0"/>
            <a:lstStyle/>
            <a:p>
              <a:pPr algn="l">
                <a:lnSpc>
                  <a:spcPts val="4134"/>
                </a:lnSpc>
              </a:pPr>
              <a:r>
                <a:rPr lang="en-US" sz="2551">
                  <a:solidFill>
                    <a:srgbClr val="475569"/>
                  </a:solidFill>
                  <a:latin typeface="Poppins"/>
                  <a:ea typeface="Poppins"/>
                  <a:cs typeface="Poppins"/>
                  <a:sym typeface="Poppins"/>
                </a:rPr>
                <a:t>What Adaeze's team can do today is recognise which is which, describe each accurately, and know when to say "that needs a data scientist."</a:t>
              </a:r>
            </a:p>
          </p:txBody>
        </p:sp>
      </p:grpSp>
      <p:sp>
        <p:nvSpPr>
          <p:cNvPr name="AutoShape 28" id="28"/>
          <p:cNvSpPr/>
          <p:nvPr/>
        </p:nvSpPr>
        <p:spPr>
          <a:xfrm rot="6419">
            <a:off x="1061142" y="8711708"/>
            <a:ext cx="10176862" cy="0"/>
          </a:xfrm>
          <a:prstGeom prst="line">
            <a:avLst/>
          </a:prstGeom>
          <a:ln cap="rnd" w="9525">
            <a:solidFill>
              <a:srgbClr val="E2E8F0"/>
            </a:solidFill>
            <a:prstDash val="solid"/>
            <a:headEnd type="none" len="sm" w="sm"/>
            <a:tailEnd type="none" len="sm" w="sm"/>
          </a:ln>
        </p:spPr>
      </p:sp>
      <p:grpSp>
        <p:nvGrpSpPr>
          <p:cNvPr name="Group 29" id="29"/>
          <p:cNvGrpSpPr/>
          <p:nvPr/>
        </p:nvGrpSpPr>
        <p:grpSpPr>
          <a:xfrm rot="0">
            <a:off x="1070686" y="8922372"/>
            <a:ext cx="10157774" cy="754971"/>
            <a:chOff x="0" y="0"/>
            <a:chExt cx="13543699" cy="1006627"/>
          </a:xfrm>
        </p:grpSpPr>
        <p:sp>
          <p:nvSpPr>
            <p:cNvPr name="Freeform 30" id="30"/>
            <p:cNvSpPr/>
            <p:nvPr/>
          </p:nvSpPr>
          <p:spPr>
            <a:xfrm flipH="false" flipV="false" rot="0">
              <a:off x="0" y="0"/>
              <a:ext cx="13543700" cy="1006626"/>
            </a:xfrm>
            <a:custGeom>
              <a:avLst/>
              <a:gdLst/>
              <a:ahLst/>
              <a:cxnLst/>
              <a:rect r="r" b="b" t="t" l="l"/>
              <a:pathLst>
                <a:path h="1006626" w="13543700">
                  <a:moveTo>
                    <a:pt x="0" y="0"/>
                  </a:moveTo>
                  <a:lnTo>
                    <a:pt x="13543700" y="0"/>
                  </a:lnTo>
                  <a:lnTo>
                    <a:pt x="13543700" y="1006626"/>
                  </a:lnTo>
                  <a:lnTo>
                    <a:pt x="0" y="1006626"/>
                  </a:lnTo>
                  <a:close/>
                </a:path>
              </a:pathLst>
            </a:custGeom>
            <a:blipFill>
              <a:blip r:embed="rId9">
                <a:alphaModFix amt="0"/>
              </a:blip>
              <a:stretch>
                <a:fillRect l="0" t="-212162" r="0" b="-212162"/>
              </a:stretch>
            </a:blipFill>
          </p:spPr>
        </p:sp>
        <p:sp>
          <p:nvSpPr>
            <p:cNvPr name="TextBox 31" id="31"/>
            <p:cNvSpPr txBox="true"/>
            <p:nvPr/>
          </p:nvSpPr>
          <p:spPr>
            <a:xfrm>
              <a:off x="0" y="-47625"/>
              <a:ext cx="13543699" cy="1054252"/>
            </a:xfrm>
            <a:prstGeom prst="rect">
              <a:avLst/>
            </a:prstGeom>
          </p:spPr>
          <p:txBody>
            <a:bodyPr anchor="ctr" rtlCol="false" tIns="0" lIns="0" bIns="0" rIns="0"/>
            <a:lstStyle/>
            <a:p>
              <a:pPr algn="l">
                <a:lnSpc>
                  <a:spcPts val="2693"/>
                </a:lnSpc>
              </a:pPr>
              <a:r>
                <a:rPr lang="en-US" sz="1951" i="true">
                  <a:solidFill>
                    <a:srgbClr val="64748B"/>
                  </a:solidFill>
                  <a:latin typeface="Poppins Italics"/>
                  <a:ea typeface="Poppins Italics"/>
                  <a:cs typeface="Poppins Italics"/>
                  <a:sym typeface="Poppins Italics"/>
                </a:rPr>
                <a:t>Three different questions get asked as if they're one question. They are not the same problem.</a:t>
              </a:r>
            </a:p>
          </p:txBody>
        </p:sp>
      </p:grpSp>
      <p:sp>
        <p:nvSpPr>
          <p:cNvPr name="Freeform 32" id="32"/>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006038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a:t>
            </a:r>
            <a:r>
              <a:rPr lang="en-US" sz="5000">
                <a:solidFill>
                  <a:srgbClr val="388080"/>
                </a:solidFill>
                <a:latin typeface="Poppins"/>
                <a:ea typeface="Poppins"/>
                <a:cs typeface="Poppins"/>
                <a:sym typeface="Poppins"/>
              </a:rPr>
              <a:t>e end of this topic, you can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23925" y="2500574"/>
            <a:ext cx="3551787" cy="5696588"/>
            <a:chOff x="0" y="0"/>
            <a:chExt cx="4735716" cy="7595451"/>
          </a:xfrm>
        </p:grpSpPr>
        <p:sp>
          <p:nvSpPr>
            <p:cNvPr name="Freeform 12" id="12"/>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13" id="13"/>
          <p:cNvGrpSpPr/>
          <p:nvPr/>
        </p:nvGrpSpPr>
        <p:grpSpPr>
          <a:xfrm rot="0">
            <a:off x="923925" y="2500574"/>
            <a:ext cx="3551787" cy="1578569"/>
            <a:chOff x="0" y="0"/>
            <a:chExt cx="4735716" cy="2104758"/>
          </a:xfrm>
        </p:grpSpPr>
        <p:sp>
          <p:nvSpPr>
            <p:cNvPr name="Freeform 14" id="14"/>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15" id="15"/>
          <p:cNvGrpSpPr/>
          <p:nvPr/>
        </p:nvGrpSpPr>
        <p:grpSpPr>
          <a:xfrm rot="0">
            <a:off x="923925" y="3186908"/>
            <a:ext cx="3551787" cy="892235"/>
            <a:chOff x="0" y="0"/>
            <a:chExt cx="4735716" cy="1189647"/>
          </a:xfrm>
        </p:grpSpPr>
        <p:sp>
          <p:nvSpPr>
            <p:cNvPr name="Freeform 16" id="16"/>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17" id="17"/>
          <p:cNvGrpSpPr/>
          <p:nvPr/>
        </p:nvGrpSpPr>
        <p:grpSpPr>
          <a:xfrm rot="0">
            <a:off x="3034417" y="2431937"/>
            <a:ext cx="1372676" cy="1647206"/>
            <a:chOff x="0" y="0"/>
            <a:chExt cx="1830235" cy="2196274"/>
          </a:xfrm>
        </p:grpSpPr>
        <p:sp>
          <p:nvSpPr>
            <p:cNvPr name="Freeform 18" id="18"/>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19" id="19"/>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1</a:t>
              </a:r>
            </a:p>
          </p:txBody>
        </p:sp>
      </p:grpSp>
      <p:grpSp>
        <p:nvGrpSpPr>
          <p:cNvPr name="Group 20" id="20"/>
          <p:cNvGrpSpPr/>
          <p:nvPr/>
        </p:nvGrpSpPr>
        <p:grpSpPr>
          <a:xfrm rot="0">
            <a:off x="1308278" y="2500574"/>
            <a:ext cx="2728189" cy="1578569"/>
            <a:chOff x="0" y="0"/>
            <a:chExt cx="3637585" cy="2104758"/>
          </a:xfrm>
        </p:grpSpPr>
        <p:sp>
          <p:nvSpPr>
            <p:cNvPr name="Freeform 21" id="21"/>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22" id="22"/>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Explain</a:t>
              </a:r>
            </a:p>
          </p:txBody>
        </p:sp>
      </p:grpSp>
      <p:sp>
        <p:nvSpPr>
          <p:cNvPr name="TextBox 23" id="23"/>
          <p:cNvSpPr txBox="true"/>
          <p:nvPr/>
        </p:nvSpPr>
        <p:spPr>
          <a:xfrm rot="0">
            <a:off x="1308278" y="43080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supervised learning, classification and regression in plain language, each with a SwiftRoute example.</a:t>
            </a:r>
          </a:p>
        </p:txBody>
      </p:sp>
      <p:grpSp>
        <p:nvGrpSpPr>
          <p:cNvPr name="Group 24" id="24"/>
          <p:cNvGrpSpPr/>
          <p:nvPr/>
        </p:nvGrpSpPr>
        <p:grpSpPr>
          <a:xfrm rot="0">
            <a:off x="4956153" y="2500574"/>
            <a:ext cx="3551787" cy="5696588"/>
            <a:chOff x="0" y="0"/>
            <a:chExt cx="4735716" cy="7595451"/>
          </a:xfrm>
        </p:grpSpPr>
        <p:sp>
          <p:nvSpPr>
            <p:cNvPr name="Freeform 25" id="25"/>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26" id="26"/>
          <p:cNvGrpSpPr/>
          <p:nvPr/>
        </p:nvGrpSpPr>
        <p:grpSpPr>
          <a:xfrm rot="0">
            <a:off x="4956153" y="2500574"/>
            <a:ext cx="3551787" cy="1578569"/>
            <a:chOff x="0" y="0"/>
            <a:chExt cx="4735716" cy="2104758"/>
          </a:xfrm>
        </p:grpSpPr>
        <p:sp>
          <p:nvSpPr>
            <p:cNvPr name="Freeform 27" id="27"/>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28" id="28"/>
          <p:cNvGrpSpPr/>
          <p:nvPr/>
        </p:nvGrpSpPr>
        <p:grpSpPr>
          <a:xfrm rot="0">
            <a:off x="4956153" y="3186908"/>
            <a:ext cx="3551787" cy="892235"/>
            <a:chOff x="0" y="0"/>
            <a:chExt cx="4735716" cy="1189647"/>
          </a:xfrm>
        </p:grpSpPr>
        <p:sp>
          <p:nvSpPr>
            <p:cNvPr name="Freeform 29" id="29"/>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30" id="30"/>
          <p:cNvGrpSpPr/>
          <p:nvPr/>
        </p:nvGrpSpPr>
        <p:grpSpPr>
          <a:xfrm rot="0">
            <a:off x="7066636" y="2431937"/>
            <a:ext cx="1372676" cy="1647206"/>
            <a:chOff x="0" y="0"/>
            <a:chExt cx="1830235" cy="2196274"/>
          </a:xfrm>
        </p:grpSpPr>
        <p:sp>
          <p:nvSpPr>
            <p:cNvPr name="Freeform 31" id="31"/>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32" id="32"/>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2</a:t>
              </a:r>
            </a:p>
          </p:txBody>
        </p:sp>
      </p:grpSp>
      <p:grpSp>
        <p:nvGrpSpPr>
          <p:cNvPr name="Group 33" id="33"/>
          <p:cNvGrpSpPr/>
          <p:nvPr/>
        </p:nvGrpSpPr>
        <p:grpSpPr>
          <a:xfrm rot="0">
            <a:off x="5340506" y="2500574"/>
            <a:ext cx="2728189" cy="1578569"/>
            <a:chOff x="0" y="0"/>
            <a:chExt cx="3637585" cy="2104758"/>
          </a:xfrm>
        </p:grpSpPr>
        <p:sp>
          <p:nvSpPr>
            <p:cNvPr name="Freeform 34" id="34"/>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35" id="35"/>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Explain</a:t>
              </a:r>
            </a:p>
          </p:txBody>
        </p:sp>
      </p:grpSp>
      <p:sp>
        <p:nvSpPr>
          <p:cNvPr name="TextBox 36" id="36"/>
          <p:cNvSpPr txBox="true"/>
          <p:nvPr/>
        </p:nvSpPr>
        <p:spPr>
          <a:xfrm rot="0">
            <a:off x="5340506" y="43080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clustering and unsupervised learning in plain language, and how it differs from having a right answer to check against.</a:t>
            </a:r>
          </a:p>
        </p:txBody>
      </p:sp>
      <p:grpSp>
        <p:nvGrpSpPr>
          <p:cNvPr name="Group 37" id="37"/>
          <p:cNvGrpSpPr/>
          <p:nvPr/>
        </p:nvGrpSpPr>
        <p:grpSpPr>
          <a:xfrm rot="0">
            <a:off x="8988381" y="2500574"/>
            <a:ext cx="3551787" cy="5696588"/>
            <a:chOff x="0" y="0"/>
            <a:chExt cx="4735716" cy="7595451"/>
          </a:xfrm>
        </p:grpSpPr>
        <p:sp>
          <p:nvSpPr>
            <p:cNvPr name="Freeform 38" id="38"/>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39" id="39"/>
          <p:cNvGrpSpPr/>
          <p:nvPr/>
        </p:nvGrpSpPr>
        <p:grpSpPr>
          <a:xfrm rot="0">
            <a:off x="8988381" y="2500574"/>
            <a:ext cx="3551787" cy="1578569"/>
            <a:chOff x="0" y="0"/>
            <a:chExt cx="4735716" cy="2104758"/>
          </a:xfrm>
        </p:grpSpPr>
        <p:sp>
          <p:nvSpPr>
            <p:cNvPr name="Freeform 40" id="40"/>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41" id="41"/>
          <p:cNvGrpSpPr/>
          <p:nvPr/>
        </p:nvGrpSpPr>
        <p:grpSpPr>
          <a:xfrm rot="0">
            <a:off x="8988381" y="3186908"/>
            <a:ext cx="3551787" cy="892235"/>
            <a:chOff x="0" y="0"/>
            <a:chExt cx="4735716" cy="1189647"/>
          </a:xfrm>
        </p:grpSpPr>
        <p:sp>
          <p:nvSpPr>
            <p:cNvPr name="Freeform 42" id="42"/>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43" id="43"/>
          <p:cNvGrpSpPr/>
          <p:nvPr/>
        </p:nvGrpSpPr>
        <p:grpSpPr>
          <a:xfrm rot="0">
            <a:off x="11098863" y="2431937"/>
            <a:ext cx="1372676" cy="1647206"/>
            <a:chOff x="0" y="0"/>
            <a:chExt cx="1830235" cy="2196274"/>
          </a:xfrm>
        </p:grpSpPr>
        <p:sp>
          <p:nvSpPr>
            <p:cNvPr name="Freeform 44" id="44"/>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45" id="45"/>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3</a:t>
              </a:r>
            </a:p>
          </p:txBody>
        </p:sp>
      </p:grpSp>
      <p:grpSp>
        <p:nvGrpSpPr>
          <p:cNvPr name="Group 46" id="46"/>
          <p:cNvGrpSpPr/>
          <p:nvPr/>
        </p:nvGrpSpPr>
        <p:grpSpPr>
          <a:xfrm rot="0">
            <a:off x="9372724" y="2500574"/>
            <a:ext cx="2728189" cy="1578569"/>
            <a:chOff x="0" y="0"/>
            <a:chExt cx="3637585" cy="2104758"/>
          </a:xfrm>
        </p:grpSpPr>
        <p:sp>
          <p:nvSpPr>
            <p:cNvPr name="Freeform 47" id="47"/>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48" id="48"/>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Identify</a:t>
              </a:r>
            </a:p>
          </p:txBody>
        </p:sp>
      </p:grpSp>
      <p:sp>
        <p:nvSpPr>
          <p:cNvPr name="TextBox 49" id="49"/>
          <p:cNvSpPr txBox="true"/>
          <p:nvPr/>
        </p:nvSpPr>
        <p:spPr>
          <a:xfrm rot="0">
            <a:off x="9372724" y="43080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which of the three fits a given business problem, just from how the question is phrased.</a:t>
            </a:r>
          </a:p>
        </p:txBody>
      </p:sp>
      <p:grpSp>
        <p:nvGrpSpPr>
          <p:cNvPr name="Group 50" id="50"/>
          <p:cNvGrpSpPr/>
          <p:nvPr/>
        </p:nvGrpSpPr>
        <p:grpSpPr>
          <a:xfrm rot="0">
            <a:off x="13020608" y="2500574"/>
            <a:ext cx="3551787" cy="5696588"/>
            <a:chOff x="0" y="0"/>
            <a:chExt cx="4735716" cy="7595451"/>
          </a:xfrm>
        </p:grpSpPr>
        <p:sp>
          <p:nvSpPr>
            <p:cNvPr name="Freeform 51" id="51"/>
            <p:cNvSpPr/>
            <p:nvPr/>
          </p:nvSpPr>
          <p:spPr>
            <a:xfrm flipH="false" flipV="false" rot="0">
              <a:off x="0" y="0"/>
              <a:ext cx="4735703" cy="7595488"/>
            </a:xfrm>
            <a:custGeom>
              <a:avLst/>
              <a:gdLst/>
              <a:ahLst/>
              <a:cxnLst/>
              <a:rect r="r" b="b" t="t" l="l"/>
              <a:pathLst>
                <a:path h="7595488" w="4735703">
                  <a:moveTo>
                    <a:pt x="0" y="164719"/>
                  </a:moveTo>
                  <a:cubicBezTo>
                    <a:pt x="0" y="73787"/>
                    <a:pt x="73787" y="0"/>
                    <a:pt x="164719" y="0"/>
                  </a:cubicBezTo>
                  <a:lnTo>
                    <a:pt x="4570984" y="0"/>
                  </a:lnTo>
                  <a:cubicBezTo>
                    <a:pt x="4661916" y="0"/>
                    <a:pt x="4735703" y="73787"/>
                    <a:pt x="4735703" y="164719"/>
                  </a:cubicBezTo>
                  <a:lnTo>
                    <a:pt x="4735703" y="7430770"/>
                  </a:lnTo>
                  <a:cubicBezTo>
                    <a:pt x="4735703" y="7521701"/>
                    <a:pt x="4661916" y="7595488"/>
                    <a:pt x="4570984" y="7595488"/>
                  </a:cubicBezTo>
                  <a:lnTo>
                    <a:pt x="164719" y="7595488"/>
                  </a:lnTo>
                  <a:cubicBezTo>
                    <a:pt x="73787" y="7595489"/>
                    <a:pt x="0" y="7521702"/>
                    <a:pt x="0" y="7430770"/>
                  </a:cubicBezTo>
                  <a:close/>
                </a:path>
              </a:pathLst>
            </a:custGeom>
            <a:solidFill>
              <a:srgbClr val="FFFFFF"/>
            </a:solidFill>
          </p:spPr>
        </p:sp>
      </p:grpSp>
      <p:grpSp>
        <p:nvGrpSpPr>
          <p:cNvPr name="Group 52" id="52"/>
          <p:cNvGrpSpPr/>
          <p:nvPr/>
        </p:nvGrpSpPr>
        <p:grpSpPr>
          <a:xfrm rot="0">
            <a:off x="13020608" y="2500574"/>
            <a:ext cx="3551787" cy="1578569"/>
            <a:chOff x="0" y="0"/>
            <a:chExt cx="4735716" cy="2104758"/>
          </a:xfrm>
        </p:grpSpPr>
        <p:sp>
          <p:nvSpPr>
            <p:cNvPr name="Freeform 53" id="53"/>
            <p:cNvSpPr/>
            <p:nvPr/>
          </p:nvSpPr>
          <p:spPr>
            <a:xfrm flipH="false" flipV="false" rot="0">
              <a:off x="0" y="0"/>
              <a:ext cx="4735703" cy="2104771"/>
            </a:xfrm>
            <a:custGeom>
              <a:avLst/>
              <a:gdLst/>
              <a:ahLst/>
              <a:cxnLst/>
              <a:rect r="r" b="b" t="t" l="l"/>
              <a:pathLst>
                <a:path h="2104771" w="4735703">
                  <a:moveTo>
                    <a:pt x="0" y="164719"/>
                  </a:moveTo>
                  <a:cubicBezTo>
                    <a:pt x="0" y="73787"/>
                    <a:pt x="73787" y="0"/>
                    <a:pt x="164719" y="0"/>
                  </a:cubicBezTo>
                  <a:lnTo>
                    <a:pt x="4570984" y="0"/>
                  </a:lnTo>
                  <a:cubicBezTo>
                    <a:pt x="4661916" y="0"/>
                    <a:pt x="4735703" y="73787"/>
                    <a:pt x="4735703" y="164719"/>
                  </a:cubicBezTo>
                  <a:lnTo>
                    <a:pt x="4735703" y="1940052"/>
                  </a:lnTo>
                  <a:cubicBezTo>
                    <a:pt x="4735703" y="2030984"/>
                    <a:pt x="4661916" y="2104771"/>
                    <a:pt x="4570984" y="2104771"/>
                  </a:cubicBezTo>
                  <a:lnTo>
                    <a:pt x="164719" y="2104771"/>
                  </a:lnTo>
                  <a:cubicBezTo>
                    <a:pt x="73787" y="2104771"/>
                    <a:pt x="0" y="2030984"/>
                    <a:pt x="0" y="1940052"/>
                  </a:cubicBezTo>
                  <a:close/>
                </a:path>
              </a:pathLst>
            </a:custGeom>
            <a:solidFill>
              <a:srgbClr val="387F7F"/>
            </a:solidFill>
          </p:spPr>
        </p:sp>
      </p:grpSp>
      <p:grpSp>
        <p:nvGrpSpPr>
          <p:cNvPr name="Group 54" id="54"/>
          <p:cNvGrpSpPr/>
          <p:nvPr/>
        </p:nvGrpSpPr>
        <p:grpSpPr>
          <a:xfrm rot="0">
            <a:off x="13020608" y="3186908"/>
            <a:ext cx="3551787" cy="892235"/>
            <a:chOff x="0" y="0"/>
            <a:chExt cx="4735716" cy="1189647"/>
          </a:xfrm>
        </p:grpSpPr>
        <p:sp>
          <p:nvSpPr>
            <p:cNvPr name="Freeform 55" id="55"/>
            <p:cNvSpPr/>
            <p:nvPr/>
          </p:nvSpPr>
          <p:spPr>
            <a:xfrm flipH="false" flipV="false" rot="0">
              <a:off x="0" y="0"/>
              <a:ext cx="4735703" cy="1189609"/>
            </a:xfrm>
            <a:custGeom>
              <a:avLst/>
              <a:gdLst/>
              <a:ahLst/>
              <a:cxnLst/>
              <a:rect r="r" b="b" t="t" l="l"/>
              <a:pathLst>
                <a:path h="1189609" w="4735703">
                  <a:moveTo>
                    <a:pt x="0" y="0"/>
                  </a:moveTo>
                  <a:lnTo>
                    <a:pt x="4735703" y="0"/>
                  </a:lnTo>
                  <a:lnTo>
                    <a:pt x="4735703" y="1189609"/>
                  </a:lnTo>
                  <a:lnTo>
                    <a:pt x="0" y="1189609"/>
                  </a:lnTo>
                  <a:close/>
                </a:path>
              </a:pathLst>
            </a:custGeom>
            <a:solidFill>
              <a:srgbClr val="387F7F"/>
            </a:solidFill>
          </p:spPr>
        </p:sp>
      </p:grpSp>
      <p:grpSp>
        <p:nvGrpSpPr>
          <p:cNvPr name="Group 56" id="56"/>
          <p:cNvGrpSpPr/>
          <p:nvPr/>
        </p:nvGrpSpPr>
        <p:grpSpPr>
          <a:xfrm rot="0">
            <a:off x="15131091" y="2431937"/>
            <a:ext cx="1372676" cy="1647206"/>
            <a:chOff x="0" y="0"/>
            <a:chExt cx="1830235" cy="2196274"/>
          </a:xfrm>
        </p:grpSpPr>
        <p:sp>
          <p:nvSpPr>
            <p:cNvPr name="Freeform 57" id="57"/>
            <p:cNvSpPr/>
            <p:nvPr/>
          </p:nvSpPr>
          <p:spPr>
            <a:xfrm flipH="false" flipV="false" rot="0">
              <a:off x="0" y="0"/>
              <a:ext cx="1830230" cy="2196276"/>
            </a:xfrm>
            <a:custGeom>
              <a:avLst/>
              <a:gdLst/>
              <a:ahLst/>
              <a:cxnLst/>
              <a:rect r="r" b="b" t="t" l="l"/>
              <a:pathLst>
                <a:path h="2196276" w="1830230">
                  <a:moveTo>
                    <a:pt x="0" y="0"/>
                  </a:moveTo>
                  <a:lnTo>
                    <a:pt x="1830230" y="0"/>
                  </a:lnTo>
                  <a:lnTo>
                    <a:pt x="1830230" y="2196276"/>
                  </a:lnTo>
                  <a:lnTo>
                    <a:pt x="0" y="2196276"/>
                  </a:lnTo>
                  <a:close/>
                </a:path>
              </a:pathLst>
            </a:custGeom>
            <a:blipFill>
              <a:blip r:embed="rId9">
                <a:alphaModFix amt="0"/>
              </a:blip>
              <a:stretch>
                <a:fillRect l="-103964" t="0" r="-103964" b="0"/>
              </a:stretch>
            </a:blipFill>
          </p:spPr>
        </p:sp>
        <p:sp>
          <p:nvSpPr>
            <p:cNvPr name="TextBox 58" id="58"/>
            <p:cNvSpPr txBox="true"/>
            <p:nvPr/>
          </p:nvSpPr>
          <p:spPr>
            <a:xfrm>
              <a:off x="0" y="-85725"/>
              <a:ext cx="1830235" cy="2281999"/>
            </a:xfrm>
            <a:prstGeom prst="rect">
              <a:avLst/>
            </a:prstGeom>
          </p:spPr>
          <p:txBody>
            <a:bodyPr anchor="ctr" rtlCol="false" tIns="0" lIns="0" bIns="0" rIns="0"/>
            <a:lstStyle/>
            <a:p>
              <a:pPr algn="r">
                <a:lnSpc>
                  <a:spcPts val="10448"/>
                </a:lnSpc>
              </a:pPr>
              <a:r>
                <a:rPr lang="en-US" sz="8706" b="true">
                  <a:solidFill>
                    <a:srgbClr val="5A9A9A"/>
                  </a:solidFill>
                  <a:latin typeface="Poppins Bold"/>
                  <a:ea typeface="Poppins Bold"/>
                  <a:cs typeface="Poppins Bold"/>
                  <a:sym typeface="Poppins Bold"/>
                </a:rPr>
                <a:t>4</a:t>
              </a:r>
            </a:p>
          </p:txBody>
        </p:sp>
      </p:grpSp>
      <p:grpSp>
        <p:nvGrpSpPr>
          <p:cNvPr name="Group 59" id="59"/>
          <p:cNvGrpSpPr/>
          <p:nvPr/>
        </p:nvGrpSpPr>
        <p:grpSpPr>
          <a:xfrm rot="0">
            <a:off x="13404952" y="2500574"/>
            <a:ext cx="2728189" cy="1578569"/>
            <a:chOff x="0" y="0"/>
            <a:chExt cx="3637585" cy="2104758"/>
          </a:xfrm>
        </p:grpSpPr>
        <p:sp>
          <p:nvSpPr>
            <p:cNvPr name="Freeform 60" id="60"/>
            <p:cNvSpPr/>
            <p:nvPr/>
          </p:nvSpPr>
          <p:spPr>
            <a:xfrm flipH="false" flipV="false" rot="0">
              <a:off x="0" y="0"/>
              <a:ext cx="3637582" cy="2104764"/>
            </a:xfrm>
            <a:custGeom>
              <a:avLst/>
              <a:gdLst/>
              <a:ahLst/>
              <a:cxnLst/>
              <a:rect r="r" b="b" t="t" l="l"/>
              <a:pathLst>
                <a:path h="2104764" w="3637582">
                  <a:moveTo>
                    <a:pt x="0" y="0"/>
                  </a:moveTo>
                  <a:lnTo>
                    <a:pt x="3637582" y="0"/>
                  </a:lnTo>
                  <a:lnTo>
                    <a:pt x="3637582" y="2104764"/>
                  </a:lnTo>
                  <a:lnTo>
                    <a:pt x="0" y="2104764"/>
                  </a:lnTo>
                  <a:close/>
                </a:path>
              </a:pathLst>
            </a:custGeom>
            <a:blipFill>
              <a:blip r:embed="rId9">
                <a:alphaModFix amt="0"/>
              </a:blip>
              <a:stretch>
                <a:fillRect l="-24238" t="0" r="-24238" b="0"/>
              </a:stretch>
            </a:blipFill>
          </p:spPr>
        </p:sp>
        <p:sp>
          <p:nvSpPr>
            <p:cNvPr name="TextBox 61" id="61"/>
            <p:cNvSpPr txBox="true"/>
            <p:nvPr/>
          </p:nvSpPr>
          <p:spPr>
            <a:xfrm>
              <a:off x="0" y="-19050"/>
              <a:ext cx="3637585" cy="2123808"/>
            </a:xfrm>
            <a:prstGeom prst="rect">
              <a:avLst/>
            </a:prstGeom>
          </p:spPr>
          <p:txBody>
            <a:bodyPr anchor="ctr" rtlCol="false" tIns="0" lIns="0" bIns="0" rIns="0"/>
            <a:lstStyle/>
            <a:p>
              <a:pPr algn="l">
                <a:lnSpc>
                  <a:spcPts val="3782"/>
                </a:lnSpc>
              </a:pPr>
              <a:r>
                <a:rPr lang="en-US" sz="3152" b="true">
                  <a:solidFill>
                    <a:srgbClr val="FFFFFF"/>
                  </a:solidFill>
                  <a:latin typeface="Poppins Bold"/>
                  <a:ea typeface="Poppins Bold"/>
                  <a:cs typeface="Poppins Bold"/>
                  <a:sym typeface="Poppins Bold"/>
                </a:rPr>
                <a:t>Describe</a:t>
              </a:r>
            </a:p>
          </p:txBody>
        </p:sp>
      </p:grpSp>
      <p:sp>
        <p:nvSpPr>
          <p:cNvPr name="TextBox 62" id="62"/>
          <p:cNvSpPr txBox="true"/>
          <p:nvPr/>
        </p:nvSpPr>
        <p:spPr>
          <a:xfrm rot="0">
            <a:off x="13404952" y="4308019"/>
            <a:ext cx="2783091" cy="3545977"/>
          </a:xfrm>
          <a:prstGeom prst="rect">
            <a:avLst/>
          </a:prstGeom>
        </p:spPr>
        <p:txBody>
          <a:bodyPr anchor="t" rtlCol="false" tIns="0" lIns="0" bIns="0" rIns="0">
            <a:spAutoFit/>
          </a:bodyPr>
          <a:lstStyle/>
          <a:p>
            <a:pPr algn="l">
              <a:lnSpc>
                <a:spcPts val="3526"/>
              </a:lnSpc>
            </a:pPr>
            <a:r>
              <a:rPr lang="en-US" sz="2176">
                <a:solidFill>
                  <a:srgbClr val="475569"/>
                </a:solidFill>
                <a:latin typeface="Poppins"/>
                <a:ea typeface="Poppins"/>
                <a:cs typeface="Poppins"/>
                <a:sym typeface="Poppins"/>
              </a:rPr>
              <a:t>the difference between an analyst's work and a data scientist's, and when to hand a question across that line.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301840" cy="10295039"/>
            <a:chOff x="0" y="0"/>
            <a:chExt cx="24402453" cy="13726719"/>
          </a:xfrm>
        </p:grpSpPr>
        <p:sp>
          <p:nvSpPr>
            <p:cNvPr name="Freeform 4" id="4"/>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0494A"/>
            </a:solidFill>
          </p:spPr>
        </p:sp>
      </p:grpSp>
      <p:grpSp>
        <p:nvGrpSpPr>
          <p:cNvPr name="Group 5" id="5"/>
          <p:cNvGrpSpPr/>
          <p:nvPr/>
        </p:nvGrpSpPr>
        <p:grpSpPr>
          <a:xfrm rot="0">
            <a:off x="851059" y="480431"/>
            <a:ext cx="4392549" cy="2882608"/>
            <a:chOff x="0" y="0"/>
            <a:chExt cx="5856732" cy="3843477"/>
          </a:xfrm>
        </p:grpSpPr>
        <p:sp>
          <p:nvSpPr>
            <p:cNvPr name="Freeform 6" id="6"/>
            <p:cNvSpPr/>
            <p:nvPr/>
          </p:nvSpPr>
          <p:spPr>
            <a:xfrm flipH="false" flipV="false" rot="0">
              <a:off x="0" y="0"/>
              <a:ext cx="5856736" cy="3843483"/>
            </a:xfrm>
            <a:custGeom>
              <a:avLst/>
              <a:gdLst/>
              <a:ahLst/>
              <a:cxnLst/>
              <a:rect r="r" b="b" t="t" l="l"/>
              <a:pathLst>
                <a:path h="3843483" w="5856736">
                  <a:moveTo>
                    <a:pt x="0" y="0"/>
                  </a:moveTo>
                  <a:lnTo>
                    <a:pt x="5856736" y="0"/>
                  </a:lnTo>
                  <a:lnTo>
                    <a:pt x="5856736" y="3843483"/>
                  </a:lnTo>
                  <a:lnTo>
                    <a:pt x="0" y="3843483"/>
                  </a:lnTo>
                  <a:close/>
                </a:path>
              </a:pathLst>
            </a:custGeom>
            <a:blipFill>
              <a:blip r:embed="rId4">
                <a:alphaModFix amt="0"/>
              </a:blip>
              <a:stretch>
                <a:fillRect l="-34199" t="0" r="-34199" b="0"/>
              </a:stretch>
            </a:blipFill>
          </p:spPr>
        </p:sp>
        <p:sp>
          <p:nvSpPr>
            <p:cNvPr name="TextBox 7" id="7"/>
            <p:cNvSpPr txBox="true"/>
            <p:nvPr/>
          </p:nvSpPr>
          <p:spPr>
            <a:xfrm>
              <a:off x="0" y="-190500"/>
              <a:ext cx="5856732" cy="4033977"/>
            </a:xfrm>
            <a:prstGeom prst="rect">
              <a:avLst/>
            </a:prstGeom>
          </p:spPr>
          <p:txBody>
            <a:bodyPr anchor="ctr" rtlCol="false" tIns="0" lIns="0" bIns="0" rIns="0"/>
            <a:lstStyle/>
            <a:p>
              <a:pPr algn="l">
                <a:lnSpc>
                  <a:spcPts val="23418"/>
                </a:lnSpc>
              </a:pPr>
              <a:r>
                <a:rPr lang="en-US" sz="19515" b="true">
                  <a:solidFill>
                    <a:srgbClr val="2F6364"/>
                  </a:solidFill>
                  <a:latin typeface="Poppins Bold"/>
                  <a:ea typeface="Poppins Bold"/>
                  <a:cs typeface="Poppins Bold"/>
                  <a:sym typeface="Poppins Bold"/>
                </a:rPr>
                <a:t>01</a:t>
              </a:r>
            </a:p>
          </p:txBody>
        </p:sp>
      </p:grpSp>
      <p:grpSp>
        <p:nvGrpSpPr>
          <p:cNvPr name="Group 8" id="8"/>
          <p:cNvGrpSpPr/>
          <p:nvPr/>
        </p:nvGrpSpPr>
        <p:grpSpPr>
          <a:xfrm rot="0">
            <a:off x="1070686" y="3733667"/>
            <a:ext cx="10157774" cy="466706"/>
            <a:chOff x="0" y="0"/>
            <a:chExt cx="13543699" cy="622275"/>
          </a:xfrm>
        </p:grpSpPr>
        <p:sp>
          <p:nvSpPr>
            <p:cNvPr name="Freeform 9" id="9"/>
            <p:cNvSpPr/>
            <p:nvPr/>
          </p:nvSpPr>
          <p:spPr>
            <a:xfrm flipH="false" flipV="false" rot="0">
              <a:off x="0" y="0"/>
              <a:ext cx="13543700" cy="622278"/>
            </a:xfrm>
            <a:custGeom>
              <a:avLst/>
              <a:gdLst/>
              <a:ahLst/>
              <a:cxnLst/>
              <a:rect r="r" b="b" t="t" l="l"/>
              <a:pathLst>
                <a:path h="622278" w="13543700">
                  <a:moveTo>
                    <a:pt x="0" y="0"/>
                  </a:moveTo>
                  <a:lnTo>
                    <a:pt x="13543700" y="0"/>
                  </a:lnTo>
                  <a:lnTo>
                    <a:pt x="13543700" y="622278"/>
                  </a:lnTo>
                  <a:lnTo>
                    <a:pt x="0" y="622278"/>
                  </a:lnTo>
                  <a:close/>
                </a:path>
              </a:pathLst>
            </a:custGeom>
            <a:blipFill>
              <a:blip r:embed="rId4">
                <a:alphaModFix amt="0"/>
              </a:blip>
              <a:stretch>
                <a:fillRect l="0" t="-374086" r="0" b="-374085"/>
              </a:stretch>
            </a:blipFill>
          </p:spPr>
        </p:sp>
        <p:sp>
          <p:nvSpPr>
            <p:cNvPr name="TextBox 10" id="10"/>
            <p:cNvSpPr txBox="true"/>
            <p:nvPr/>
          </p:nvSpPr>
          <p:spPr>
            <a:xfrm>
              <a:off x="0" y="-19050"/>
              <a:ext cx="13543699" cy="641325"/>
            </a:xfrm>
            <a:prstGeom prst="rect">
              <a:avLst/>
            </a:prstGeom>
          </p:spPr>
          <p:txBody>
            <a:bodyPr anchor="ctr" rtlCol="false" tIns="0" lIns="0" bIns="0" rIns="0"/>
            <a:lstStyle/>
            <a:p>
              <a:pPr algn="l">
                <a:lnSpc>
                  <a:spcPts val="2341"/>
                </a:lnSpc>
              </a:pPr>
              <a:r>
                <a:rPr lang="en-US" b="true" sz="1951" spc="375">
                  <a:solidFill>
                    <a:srgbClr val="8FBEBE"/>
                  </a:solidFill>
                  <a:latin typeface="Poppins Bold"/>
                  <a:ea typeface="Poppins Bold"/>
                  <a:cs typeface="Poppins Bold"/>
                  <a:sym typeface="Poppins Bold"/>
                </a:rPr>
                <a:t>PART ONE</a:t>
              </a:r>
            </a:p>
          </p:txBody>
        </p:sp>
      </p:grpSp>
      <p:grpSp>
        <p:nvGrpSpPr>
          <p:cNvPr name="Group 11" id="11"/>
          <p:cNvGrpSpPr/>
          <p:nvPr/>
        </p:nvGrpSpPr>
        <p:grpSpPr>
          <a:xfrm rot="0">
            <a:off x="1070686" y="4365098"/>
            <a:ext cx="1853108" cy="116681"/>
            <a:chOff x="0" y="0"/>
            <a:chExt cx="2470810" cy="155575"/>
          </a:xfrm>
        </p:grpSpPr>
        <p:sp>
          <p:nvSpPr>
            <p:cNvPr name="Freeform 12" id="12"/>
            <p:cNvSpPr/>
            <p:nvPr/>
          </p:nvSpPr>
          <p:spPr>
            <a:xfrm flipH="false" flipV="false" rot="0">
              <a:off x="0" y="0"/>
              <a:ext cx="2470785" cy="155575"/>
            </a:xfrm>
            <a:custGeom>
              <a:avLst/>
              <a:gdLst/>
              <a:ahLst/>
              <a:cxnLst/>
              <a:rect r="r" b="b" t="t" l="l"/>
              <a:pathLst>
                <a:path h="155575" w="2470785">
                  <a:moveTo>
                    <a:pt x="0" y="0"/>
                  </a:moveTo>
                  <a:lnTo>
                    <a:pt x="2470785" y="0"/>
                  </a:lnTo>
                  <a:lnTo>
                    <a:pt x="2470785" y="155575"/>
                  </a:lnTo>
                  <a:lnTo>
                    <a:pt x="0" y="155575"/>
                  </a:lnTo>
                  <a:close/>
                </a:path>
              </a:pathLst>
            </a:custGeom>
            <a:solidFill>
              <a:srgbClr val="387F7F"/>
            </a:solidFill>
          </p:spPr>
        </p:sp>
      </p:grpSp>
      <p:grpSp>
        <p:nvGrpSpPr>
          <p:cNvPr name="Group 13" id="13"/>
          <p:cNvGrpSpPr/>
          <p:nvPr/>
        </p:nvGrpSpPr>
        <p:grpSpPr>
          <a:xfrm rot="0">
            <a:off x="1070686" y="4735716"/>
            <a:ext cx="11118647" cy="2196274"/>
            <a:chOff x="0" y="0"/>
            <a:chExt cx="14824862" cy="2928366"/>
          </a:xfrm>
        </p:grpSpPr>
        <p:sp>
          <p:nvSpPr>
            <p:cNvPr name="Freeform 14" id="14"/>
            <p:cNvSpPr/>
            <p:nvPr/>
          </p:nvSpPr>
          <p:spPr>
            <a:xfrm flipH="false" flipV="false" rot="0">
              <a:off x="0" y="0"/>
              <a:ext cx="14824863" cy="2928368"/>
            </a:xfrm>
            <a:custGeom>
              <a:avLst/>
              <a:gdLst/>
              <a:ahLst/>
              <a:cxnLst/>
              <a:rect r="r" b="b" t="t" l="l"/>
              <a:pathLst>
                <a:path h="2928368" w="14824863">
                  <a:moveTo>
                    <a:pt x="0" y="0"/>
                  </a:moveTo>
                  <a:lnTo>
                    <a:pt x="14824863" y="0"/>
                  </a:lnTo>
                  <a:lnTo>
                    <a:pt x="14824863" y="2928368"/>
                  </a:lnTo>
                  <a:lnTo>
                    <a:pt x="0" y="2928368"/>
                  </a:lnTo>
                  <a:close/>
                </a:path>
              </a:pathLst>
            </a:custGeom>
            <a:blipFill>
              <a:blip r:embed="rId4">
                <a:alphaModFix amt="0"/>
              </a:blip>
              <a:stretch>
                <a:fillRect l="0" t="-48643" r="0" b="-48642"/>
              </a:stretch>
            </a:blipFill>
          </p:spPr>
        </p:sp>
        <p:sp>
          <p:nvSpPr>
            <p:cNvPr name="TextBox 15" id="15"/>
            <p:cNvSpPr txBox="true"/>
            <p:nvPr/>
          </p:nvSpPr>
          <p:spPr>
            <a:xfrm>
              <a:off x="0" y="-114300"/>
              <a:ext cx="14824862" cy="3042666"/>
            </a:xfrm>
            <a:prstGeom prst="rect">
              <a:avLst/>
            </a:prstGeom>
          </p:spPr>
          <p:txBody>
            <a:bodyPr anchor="ctr" rtlCol="false" tIns="0" lIns="0" bIns="0" rIns="0"/>
            <a:lstStyle/>
            <a:p>
              <a:pPr algn="l">
                <a:lnSpc>
                  <a:spcPts val="7003"/>
                </a:lnSpc>
              </a:pPr>
              <a:r>
                <a:rPr lang="en-US" sz="5404" b="true">
                  <a:solidFill>
                    <a:srgbClr val="FFFFFF"/>
                  </a:solidFill>
                  <a:latin typeface="Poppins Bold"/>
                  <a:ea typeface="Poppins Bold"/>
                  <a:cs typeface="Poppins Bold"/>
                  <a:sym typeface="Poppins Bold"/>
                </a:rPr>
                <a:t>Supervised learning: classification and regression</a:t>
              </a:r>
            </a:p>
          </p:txBody>
        </p:sp>
      </p:grpSp>
      <p:grpSp>
        <p:nvGrpSpPr>
          <p:cNvPr name="Group 16" id="16"/>
          <p:cNvGrpSpPr/>
          <p:nvPr/>
        </p:nvGrpSpPr>
        <p:grpSpPr>
          <a:xfrm rot="0">
            <a:off x="1125588" y="7405564"/>
            <a:ext cx="219627" cy="219627"/>
            <a:chOff x="0" y="0"/>
            <a:chExt cx="292837" cy="292837"/>
          </a:xfrm>
        </p:grpSpPr>
        <p:sp>
          <p:nvSpPr>
            <p:cNvPr name="Freeform 17" id="1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18" id="18"/>
          <p:cNvGrpSpPr/>
          <p:nvPr/>
        </p:nvGrpSpPr>
        <p:grpSpPr>
          <a:xfrm rot="0">
            <a:off x="1647206" y="7288892"/>
            <a:ext cx="9883245" cy="466706"/>
            <a:chOff x="0" y="0"/>
            <a:chExt cx="13177660" cy="622275"/>
          </a:xfrm>
        </p:grpSpPr>
        <p:sp>
          <p:nvSpPr>
            <p:cNvPr name="Freeform 19" id="1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0" id="2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What "supervised" actually means: learning from known right answers</a:t>
              </a:r>
            </a:p>
          </p:txBody>
        </p:sp>
      </p:grpSp>
      <p:grpSp>
        <p:nvGrpSpPr>
          <p:cNvPr name="Group 21" id="21"/>
          <p:cNvGrpSpPr/>
          <p:nvPr/>
        </p:nvGrpSpPr>
        <p:grpSpPr>
          <a:xfrm rot="0">
            <a:off x="1125588" y="7982093"/>
            <a:ext cx="219627" cy="219627"/>
            <a:chOff x="0" y="0"/>
            <a:chExt cx="292837" cy="292837"/>
          </a:xfrm>
        </p:grpSpPr>
        <p:sp>
          <p:nvSpPr>
            <p:cNvPr name="Freeform 22" id="2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3" id="23"/>
          <p:cNvGrpSpPr/>
          <p:nvPr/>
        </p:nvGrpSpPr>
        <p:grpSpPr>
          <a:xfrm rot="0">
            <a:off x="1647206" y="7865412"/>
            <a:ext cx="9883245" cy="466706"/>
            <a:chOff x="0" y="0"/>
            <a:chExt cx="13177660" cy="622275"/>
          </a:xfrm>
        </p:grpSpPr>
        <p:sp>
          <p:nvSpPr>
            <p:cNvPr name="Freeform 24" id="24"/>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5" id="25"/>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Classification: predicting a category</a:t>
              </a:r>
            </a:p>
          </p:txBody>
        </p:sp>
      </p:grpSp>
      <p:grpSp>
        <p:nvGrpSpPr>
          <p:cNvPr name="Group 26" id="26"/>
          <p:cNvGrpSpPr/>
          <p:nvPr/>
        </p:nvGrpSpPr>
        <p:grpSpPr>
          <a:xfrm rot="0">
            <a:off x="1125588" y="8558613"/>
            <a:ext cx="219627" cy="219627"/>
            <a:chOff x="0" y="0"/>
            <a:chExt cx="292837" cy="292837"/>
          </a:xfrm>
        </p:grpSpPr>
        <p:sp>
          <p:nvSpPr>
            <p:cNvPr name="Freeform 27" id="2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8" id="28"/>
          <p:cNvGrpSpPr/>
          <p:nvPr/>
        </p:nvGrpSpPr>
        <p:grpSpPr>
          <a:xfrm rot="0">
            <a:off x="1647206" y="8441931"/>
            <a:ext cx="9883245" cy="466706"/>
            <a:chOff x="0" y="0"/>
            <a:chExt cx="13177660" cy="622275"/>
          </a:xfrm>
        </p:grpSpPr>
        <p:sp>
          <p:nvSpPr>
            <p:cNvPr name="Freeform 29" id="2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30" id="3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Regression: predicting a number</a:t>
              </a:r>
            </a:p>
          </p:txBody>
        </p:sp>
      </p:grpSp>
      <p:grpSp>
        <p:nvGrpSpPr>
          <p:cNvPr name="Group 31" id="31"/>
          <p:cNvGrpSpPr/>
          <p:nvPr/>
        </p:nvGrpSpPr>
        <p:grpSpPr>
          <a:xfrm rot="0">
            <a:off x="17546869" y="9718519"/>
            <a:ext cx="549069" cy="411804"/>
            <a:chOff x="0" y="0"/>
            <a:chExt cx="732092" cy="549072"/>
          </a:xfrm>
        </p:grpSpPr>
        <p:sp>
          <p:nvSpPr>
            <p:cNvPr name="Freeform 32" id="32"/>
            <p:cNvSpPr/>
            <p:nvPr/>
          </p:nvSpPr>
          <p:spPr>
            <a:xfrm flipH="false" flipV="false" rot="0">
              <a:off x="0" y="0"/>
              <a:ext cx="732092" cy="549069"/>
            </a:xfrm>
            <a:custGeom>
              <a:avLst/>
              <a:gdLst/>
              <a:ahLst/>
              <a:cxnLst/>
              <a:rect r="r" b="b" t="t" l="l"/>
              <a:pathLst>
                <a:path h="549069" w="732092">
                  <a:moveTo>
                    <a:pt x="0" y="0"/>
                  </a:moveTo>
                  <a:lnTo>
                    <a:pt x="732092" y="0"/>
                  </a:lnTo>
                  <a:lnTo>
                    <a:pt x="732092" y="549069"/>
                  </a:lnTo>
                  <a:lnTo>
                    <a:pt x="0" y="549069"/>
                  </a:lnTo>
                  <a:close/>
                </a:path>
              </a:pathLst>
            </a:custGeom>
            <a:blipFill>
              <a:blip r:embed="rId4">
                <a:alphaModFix amt="0"/>
              </a:blip>
              <a:stretch>
                <a:fillRect l="-46228" t="0" r="-46228" b="0"/>
              </a:stretch>
            </a:blipFill>
          </p:spPr>
        </p:sp>
        <p:sp>
          <p:nvSpPr>
            <p:cNvPr name="TextBox 33" id="33"/>
            <p:cNvSpPr txBox="true"/>
            <p:nvPr/>
          </p:nvSpPr>
          <p:spPr>
            <a:xfrm>
              <a:off x="0" y="-9525"/>
              <a:ext cx="732092" cy="558597"/>
            </a:xfrm>
            <a:prstGeom prst="rect">
              <a:avLst/>
            </a:prstGeom>
          </p:spPr>
          <p:txBody>
            <a:bodyPr anchor="ctr" rtlCol="false" tIns="0" lIns="0" bIns="0" rIns="0"/>
            <a:lstStyle/>
            <a:p>
              <a:pPr algn="r">
                <a:lnSpc>
                  <a:spcPts val="1981"/>
                </a:lnSpc>
              </a:pPr>
              <a:r>
                <a:rPr lang="en-US" sz="1651">
                  <a:solidFill>
                    <a:srgbClr val="7FA3A3"/>
                  </a:solidFill>
                  <a:latin typeface="Poppins"/>
                  <a:ea typeface="Poppins"/>
                  <a:cs typeface="Poppins"/>
                  <a:sym typeface="Poppins"/>
                </a:rPr>
                <a:t>5</a:t>
              </a:r>
            </a:p>
          </p:txBody>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71525"/>
            <a:ext cx="15454312" cy="704850"/>
          </a:xfrm>
          <a:prstGeom prst="rect">
            <a:avLst/>
          </a:prstGeom>
        </p:spPr>
        <p:txBody>
          <a:bodyPr anchor="t" rtlCol="false" tIns="0" lIns="0" bIns="0" rIns="0">
            <a:spAutoFit/>
          </a:bodyPr>
          <a:lstStyle/>
          <a:p>
            <a:pPr algn="l">
              <a:lnSpc>
                <a:spcPts val="5280"/>
              </a:lnSpc>
            </a:pPr>
            <a:r>
              <a:rPr lang="en-US" sz="4400">
                <a:solidFill>
                  <a:srgbClr val="388080"/>
                </a:solidFill>
                <a:latin typeface="Poppins"/>
                <a:ea typeface="Poppins"/>
                <a:cs typeface="Poppins"/>
                <a:sym typeface="Poppins"/>
              </a:rPr>
              <a:t>"Supervised" means: w</a:t>
            </a:r>
            <a:r>
              <a:rPr lang="en-US" sz="4400">
                <a:solidFill>
                  <a:srgbClr val="388080"/>
                </a:solidFill>
                <a:latin typeface="Poppins"/>
                <a:ea typeface="Poppins"/>
                <a:cs typeface="Poppins"/>
                <a:sym typeface="Poppins"/>
              </a:rPr>
              <a:t>e already know the right answers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9500" y="2264912"/>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578569" y="2621518"/>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A supervised model learns from historical examples where the outcome is already recorded. SwiftRoute's Q3 file already has 3,600 deliveries where the outcome is known: each one is marked Delivered, Failed, Returned or In Transit, and each one has a real recorded duration. A supervised model studies that history and learns the pattern between the inputs, distance, route, time of day, and the known outcome, so it can estimate the outcome for a new delivery whose result is not yet known. The word "supervised" refers to that known-answer history, not to a person watching the model work.</a:t>
            </a:r>
          </a:p>
        </p:txBody>
      </p:sp>
      <p:grpSp>
        <p:nvGrpSpPr>
          <p:cNvPr name="Group 14" id="14"/>
          <p:cNvGrpSpPr/>
          <p:nvPr/>
        </p:nvGrpSpPr>
        <p:grpSpPr>
          <a:xfrm rot="0">
            <a:off x="1029500" y="7206529"/>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1029500" y="7206529"/>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578569" y="7206529"/>
            <a:ext cx="13795362" cy="1372676"/>
            <a:chOff x="0" y="0"/>
            <a:chExt cx="18393816" cy="1830235"/>
          </a:xfrm>
        </p:grpSpPr>
        <p:sp>
          <p:nvSpPr>
            <p:cNvPr name="Freeform 19" id="19"/>
            <p:cNvSpPr/>
            <p:nvPr/>
          </p:nvSpPr>
          <p:spPr>
            <a:xfrm flipH="false" flipV="false" rot="0">
              <a:off x="0" y="0"/>
              <a:ext cx="18393811" cy="1830230"/>
            </a:xfrm>
            <a:custGeom>
              <a:avLst/>
              <a:gdLst/>
              <a:ahLst/>
              <a:cxnLst/>
              <a:rect r="r" b="b" t="t" l="l"/>
              <a:pathLst>
                <a:path h="1830230" w="18393811">
                  <a:moveTo>
                    <a:pt x="0" y="0"/>
                  </a:moveTo>
                  <a:lnTo>
                    <a:pt x="18393811" y="0"/>
                  </a:lnTo>
                  <a:lnTo>
                    <a:pt x="18393811" y="1830230"/>
                  </a:lnTo>
                  <a:lnTo>
                    <a:pt x="0" y="1830230"/>
                  </a:lnTo>
                  <a:close/>
                </a:path>
              </a:pathLst>
            </a:custGeom>
            <a:blipFill>
              <a:blip r:embed="rId9">
                <a:alphaModFix amt="0"/>
              </a:blip>
              <a:stretch>
                <a:fillRect l="0" t="-145824" r="0" b="-145824"/>
              </a:stretch>
            </a:blipFill>
          </p:spPr>
        </p:sp>
        <p:sp>
          <p:nvSpPr>
            <p:cNvPr name="TextBox 20" id="20"/>
            <p:cNvSpPr txBox="true"/>
            <p:nvPr/>
          </p:nvSpPr>
          <p:spPr>
            <a:xfrm>
              <a:off x="0" y="-104775"/>
              <a:ext cx="18393816" cy="1935010"/>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No known answers in the history, no supervised learning. That single condition is worth checking before the word gets used in a meeting.</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71525"/>
            <a:ext cx="16002048" cy="1428750"/>
          </a:xfrm>
          <a:prstGeom prst="rect">
            <a:avLst/>
          </a:prstGeom>
        </p:spPr>
        <p:txBody>
          <a:bodyPr anchor="t" rtlCol="false" tIns="0" lIns="0" bIns="0" rIns="0">
            <a:spAutoFit/>
          </a:bodyPr>
          <a:lstStyle/>
          <a:p>
            <a:pPr algn="l">
              <a:lnSpc>
                <a:spcPts val="5520"/>
              </a:lnSpc>
            </a:pPr>
            <a:r>
              <a:rPr lang="en-US" sz="4600">
                <a:solidFill>
                  <a:srgbClr val="388080"/>
                </a:solidFill>
                <a:latin typeface="Poppins"/>
                <a:ea typeface="Poppins"/>
                <a:cs typeface="Poppins"/>
                <a:sym typeface="Poppins"/>
              </a:rPr>
              <a:t>Classification pr</a:t>
            </a:r>
            <a:r>
              <a:rPr lang="en-US" sz="4600">
                <a:solidFill>
                  <a:srgbClr val="388080"/>
                </a:solidFill>
                <a:latin typeface="Poppins"/>
                <a:ea typeface="Poppins"/>
                <a:cs typeface="Poppins"/>
                <a:sym typeface="Poppins"/>
              </a:rPr>
              <a:t>edicts a category. Regression predicts a number.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76300" y="2621194"/>
            <a:ext cx="7206529" cy="5952329"/>
            <a:chOff x="0" y="0"/>
            <a:chExt cx="9608706" cy="7936439"/>
          </a:xfrm>
        </p:grpSpPr>
        <p:sp>
          <p:nvSpPr>
            <p:cNvPr name="Freeform 12" id="12"/>
            <p:cNvSpPr/>
            <p:nvPr/>
          </p:nvSpPr>
          <p:spPr>
            <a:xfrm flipH="false" flipV="false" rot="0">
              <a:off x="0" y="0"/>
              <a:ext cx="9608693" cy="7936438"/>
            </a:xfrm>
            <a:custGeom>
              <a:avLst/>
              <a:gdLst/>
              <a:ahLst/>
              <a:cxnLst/>
              <a:rect r="r" b="b" t="t" l="l"/>
              <a:pathLst>
                <a:path h="7936438" w="9608693">
                  <a:moveTo>
                    <a:pt x="0" y="178568"/>
                  </a:moveTo>
                  <a:cubicBezTo>
                    <a:pt x="0" y="79991"/>
                    <a:pt x="73787" y="0"/>
                    <a:pt x="164719" y="0"/>
                  </a:cubicBezTo>
                  <a:lnTo>
                    <a:pt x="9443974" y="0"/>
                  </a:lnTo>
                  <a:cubicBezTo>
                    <a:pt x="9534906" y="0"/>
                    <a:pt x="9608693" y="79991"/>
                    <a:pt x="9608693" y="178568"/>
                  </a:cubicBezTo>
                  <a:lnTo>
                    <a:pt x="9608693" y="7757871"/>
                  </a:lnTo>
                  <a:cubicBezTo>
                    <a:pt x="9608693" y="7856448"/>
                    <a:pt x="9534906" y="7936438"/>
                    <a:pt x="9443974" y="7936438"/>
                  </a:cubicBezTo>
                  <a:lnTo>
                    <a:pt x="164719" y="7936438"/>
                  </a:lnTo>
                  <a:cubicBezTo>
                    <a:pt x="73787" y="7936439"/>
                    <a:pt x="0" y="7856448"/>
                    <a:pt x="0" y="7757871"/>
                  </a:cubicBezTo>
                  <a:close/>
                </a:path>
              </a:pathLst>
            </a:custGeom>
            <a:solidFill>
              <a:srgbClr val="FFFFFF"/>
            </a:solidFill>
          </p:spPr>
        </p:sp>
      </p:grpSp>
      <p:grpSp>
        <p:nvGrpSpPr>
          <p:cNvPr name="Group 13" id="13"/>
          <p:cNvGrpSpPr/>
          <p:nvPr/>
        </p:nvGrpSpPr>
        <p:grpSpPr>
          <a:xfrm rot="0">
            <a:off x="876300" y="2621194"/>
            <a:ext cx="7206529" cy="754971"/>
            <a:chOff x="0" y="0"/>
            <a:chExt cx="9608706" cy="1006627"/>
          </a:xfrm>
        </p:grpSpPr>
        <p:sp>
          <p:nvSpPr>
            <p:cNvPr name="Freeform 14" id="14"/>
            <p:cNvSpPr/>
            <p:nvPr/>
          </p:nvSpPr>
          <p:spPr>
            <a:xfrm flipH="false" flipV="false" rot="0">
              <a:off x="0" y="0"/>
              <a:ext cx="9608693" cy="1006602"/>
            </a:xfrm>
            <a:custGeom>
              <a:avLst/>
              <a:gdLst/>
              <a:ahLst/>
              <a:cxnLst/>
              <a:rect r="r" b="b" t="t" l="l"/>
              <a:pathLst>
                <a:path h="1006602" w="9608693">
                  <a:moveTo>
                    <a:pt x="0" y="0"/>
                  </a:moveTo>
                  <a:lnTo>
                    <a:pt x="9608693" y="0"/>
                  </a:lnTo>
                  <a:lnTo>
                    <a:pt x="9608693" y="1006602"/>
                  </a:lnTo>
                  <a:lnTo>
                    <a:pt x="0" y="1006602"/>
                  </a:lnTo>
                  <a:close/>
                </a:path>
              </a:pathLst>
            </a:custGeom>
            <a:solidFill>
              <a:srgbClr val="387F7F"/>
            </a:solidFill>
          </p:spPr>
        </p:sp>
      </p:grpSp>
      <p:grpSp>
        <p:nvGrpSpPr>
          <p:cNvPr name="Group 15" id="15"/>
          <p:cNvGrpSpPr/>
          <p:nvPr/>
        </p:nvGrpSpPr>
        <p:grpSpPr>
          <a:xfrm rot="0">
            <a:off x="876300" y="2621194"/>
            <a:ext cx="7206529" cy="754971"/>
            <a:chOff x="0" y="0"/>
            <a:chExt cx="9608706" cy="1006627"/>
          </a:xfrm>
        </p:grpSpPr>
        <p:sp>
          <p:nvSpPr>
            <p:cNvPr name="Freeform 16" id="16"/>
            <p:cNvSpPr/>
            <p:nvPr/>
          </p:nvSpPr>
          <p:spPr>
            <a:xfrm flipH="false" flipV="false" rot="0">
              <a:off x="0" y="0"/>
              <a:ext cx="9608707" cy="1006626"/>
            </a:xfrm>
            <a:custGeom>
              <a:avLst/>
              <a:gdLst/>
              <a:ahLst/>
              <a:cxnLst/>
              <a:rect r="r" b="b" t="t" l="l"/>
              <a:pathLst>
                <a:path h="1006626" w="9608707">
                  <a:moveTo>
                    <a:pt x="0" y="0"/>
                  </a:moveTo>
                  <a:lnTo>
                    <a:pt x="9608707" y="0"/>
                  </a:lnTo>
                  <a:lnTo>
                    <a:pt x="9608707" y="1006626"/>
                  </a:lnTo>
                  <a:lnTo>
                    <a:pt x="0" y="1006626"/>
                  </a:lnTo>
                  <a:close/>
                </a:path>
              </a:pathLst>
            </a:custGeom>
            <a:blipFill>
              <a:blip r:embed="rId9">
                <a:alphaModFix amt="0"/>
              </a:blip>
              <a:stretch>
                <a:fillRect l="0" t="-135993" r="0" b="-135993"/>
              </a:stretch>
            </a:blipFill>
          </p:spPr>
        </p:sp>
        <p:sp>
          <p:nvSpPr>
            <p:cNvPr name="TextBox 17" id="17"/>
            <p:cNvSpPr txBox="true"/>
            <p:nvPr/>
          </p:nvSpPr>
          <p:spPr>
            <a:xfrm>
              <a:off x="0" y="-19050"/>
              <a:ext cx="9608706" cy="1025677"/>
            </a:xfrm>
            <a:prstGeom prst="rect">
              <a:avLst/>
            </a:prstGeom>
          </p:spPr>
          <p:txBody>
            <a:bodyPr anchor="ctr" rtlCol="false" tIns="0" lIns="0" bIns="0" rIns="0"/>
            <a:lstStyle/>
            <a:p>
              <a:pPr algn="ctr">
                <a:lnSpc>
                  <a:spcPts val="2972"/>
                </a:lnSpc>
              </a:pPr>
              <a:r>
                <a:rPr lang="en-US" sz="2476" b="true">
                  <a:solidFill>
                    <a:srgbClr val="FFFFFF"/>
                  </a:solidFill>
                  <a:latin typeface="Poppins Bold"/>
                  <a:ea typeface="Poppins Bold"/>
                  <a:cs typeface="Poppins Bold"/>
                  <a:sym typeface="Poppins Bold"/>
                </a:rPr>
                <a:t>CLASSIFICATION</a:t>
              </a:r>
            </a:p>
          </p:txBody>
        </p:sp>
      </p:grpSp>
      <p:sp>
        <p:nvSpPr>
          <p:cNvPr name="TextBox 18" id="18"/>
          <p:cNvSpPr txBox="true"/>
          <p:nvPr/>
        </p:nvSpPr>
        <p:spPr>
          <a:xfrm rot="0">
            <a:off x="1288104" y="3555444"/>
            <a:ext cx="6382931" cy="4560879"/>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  The answer is one of a fixed set of categories.</a:t>
            </a:r>
          </a:p>
          <a:p>
            <a:pPr algn="l">
              <a:lnSpc>
                <a:spcPts val="3629"/>
              </a:lnSpc>
            </a:pPr>
            <a:r>
              <a:rPr lang="en-US" sz="2326">
                <a:solidFill>
                  <a:srgbClr val="475569"/>
                </a:solidFill>
                <a:latin typeface="Poppins"/>
                <a:ea typeface="Poppins"/>
                <a:cs typeface="Poppins"/>
                <a:sym typeface="Poppins"/>
              </a:rPr>
              <a:t>•  SwiftRoute example: will this delivery end up Delivered, Failed, Returned, or still In Transit at day's end?</a:t>
            </a:r>
          </a:p>
          <a:p>
            <a:pPr algn="l">
              <a:lnSpc>
                <a:spcPts val="3629"/>
              </a:lnSpc>
            </a:pPr>
            <a:r>
              <a:rPr lang="en-US" sz="2326">
                <a:solidFill>
                  <a:srgbClr val="475569"/>
                </a:solidFill>
                <a:latin typeface="Poppins"/>
                <a:ea typeface="Poppins"/>
                <a:cs typeface="Poppins"/>
                <a:sym typeface="Poppins"/>
              </a:rPr>
              <a:t>•  "Predict which" and "predict whether" are the giveaway phrasings.</a:t>
            </a:r>
          </a:p>
          <a:p>
            <a:pPr algn="l">
              <a:lnSpc>
                <a:spcPts val="3629"/>
              </a:lnSpc>
            </a:pPr>
            <a:r>
              <a:rPr lang="en-US" sz="2326">
                <a:solidFill>
                  <a:srgbClr val="475569"/>
                </a:solidFill>
                <a:latin typeface="Poppins"/>
                <a:ea typeface="Poppins"/>
                <a:cs typeface="Poppins"/>
                <a:sym typeface="Poppins"/>
              </a:rPr>
              <a:t>•  Q3 reality check: 2,541 of 3,600 deliveries were Delivered, 340 Failed - a real, if imperfect, pattern to learn from.</a:t>
            </a:r>
          </a:p>
        </p:txBody>
      </p:sp>
      <p:grpSp>
        <p:nvGrpSpPr>
          <p:cNvPr name="Group 19" id="19"/>
          <p:cNvGrpSpPr/>
          <p:nvPr/>
        </p:nvGrpSpPr>
        <p:grpSpPr>
          <a:xfrm rot="0">
            <a:off x="8563270" y="2621194"/>
            <a:ext cx="7206529" cy="5952329"/>
            <a:chOff x="0" y="0"/>
            <a:chExt cx="9608706" cy="7936439"/>
          </a:xfrm>
        </p:grpSpPr>
        <p:sp>
          <p:nvSpPr>
            <p:cNvPr name="Freeform 20" id="20"/>
            <p:cNvSpPr/>
            <p:nvPr/>
          </p:nvSpPr>
          <p:spPr>
            <a:xfrm flipH="false" flipV="false" rot="0">
              <a:off x="0" y="0"/>
              <a:ext cx="9608693" cy="7936438"/>
            </a:xfrm>
            <a:custGeom>
              <a:avLst/>
              <a:gdLst/>
              <a:ahLst/>
              <a:cxnLst/>
              <a:rect r="r" b="b" t="t" l="l"/>
              <a:pathLst>
                <a:path h="7936438" w="9608693">
                  <a:moveTo>
                    <a:pt x="0" y="178568"/>
                  </a:moveTo>
                  <a:cubicBezTo>
                    <a:pt x="0" y="79991"/>
                    <a:pt x="73787" y="0"/>
                    <a:pt x="164719" y="0"/>
                  </a:cubicBezTo>
                  <a:lnTo>
                    <a:pt x="9443974" y="0"/>
                  </a:lnTo>
                  <a:cubicBezTo>
                    <a:pt x="9534906" y="0"/>
                    <a:pt x="9608693" y="79991"/>
                    <a:pt x="9608693" y="178568"/>
                  </a:cubicBezTo>
                  <a:lnTo>
                    <a:pt x="9608693" y="7757871"/>
                  </a:lnTo>
                  <a:cubicBezTo>
                    <a:pt x="9608693" y="7856448"/>
                    <a:pt x="9534906" y="7936438"/>
                    <a:pt x="9443974" y="7936438"/>
                  </a:cubicBezTo>
                  <a:lnTo>
                    <a:pt x="164719" y="7936438"/>
                  </a:lnTo>
                  <a:cubicBezTo>
                    <a:pt x="73787" y="7936439"/>
                    <a:pt x="0" y="7856448"/>
                    <a:pt x="0" y="7757871"/>
                  </a:cubicBezTo>
                  <a:close/>
                </a:path>
              </a:pathLst>
            </a:custGeom>
            <a:solidFill>
              <a:srgbClr val="FFFFFF"/>
            </a:solidFill>
          </p:spPr>
        </p:sp>
      </p:grpSp>
      <p:grpSp>
        <p:nvGrpSpPr>
          <p:cNvPr name="Group 21" id="21"/>
          <p:cNvGrpSpPr/>
          <p:nvPr/>
        </p:nvGrpSpPr>
        <p:grpSpPr>
          <a:xfrm rot="0">
            <a:off x="8563270" y="2621194"/>
            <a:ext cx="7206529" cy="754971"/>
            <a:chOff x="0" y="0"/>
            <a:chExt cx="9608706" cy="1006627"/>
          </a:xfrm>
        </p:grpSpPr>
        <p:sp>
          <p:nvSpPr>
            <p:cNvPr name="Freeform 22" id="22"/>
            <p:cNvSpPr/>
            <p:nvPr/>
          </p:nvSpPr>
          <p:spPr>
            <a:xfrm flipH="false" flipV="false" rot="0">
              <a:off x="0" y="0"/>
              <a:ext cx="9608693" cy="1006602"/>
            </a:xfrm>
            <a:custGeom>
              <a:avLst/>
              <a:gdLst/>
              <a:ahLst/>
              <a:cxnLst/>
              <a:rect r="r" b="b" t="t" l="l"/>
              <a:pathLst>
                <a:path h="1006602" w="9608693">
                  <a:moveTo>
                    <a:pt x="0" y="0"/>
                  </a:moveTo>
                  <a:lnTo>
                    <a:pt x="9608693" y="0"/>
                  </a:lnTo>
                  <a:lnTo>
                    <a:pt x="9608693" y="1006602"/>
                  </a:lnTo>
                  <a:lnTo>
                    <a:pt x="0" y="1006602"/>
                  </a:lnTo>
                  <a:close/>
                </a:path>
              </a:pathLst>
            </a:custGeom>
            <a:solidFill>
              <a:srgbClr val="387F7F"/>
            </a:solidFill>
          </p:spPr>
        </p:sp>
      </p:grpSp>
      <p:grpSp>
        <p:nvGrpSpPr>
          <p:cNvPr name="Group 23" id="23"/>
          <p:cNvGrpSpPr/>
          <p:nvPr/>
        </p:nvGrpSpPr>
        <p:grpSpPr>
          <a:xfrm rot="0">
            <a:off x="8563270" y="2621194"/>
            <a:ext cx="7206529" cy="754971"/>
            <a:chOff x="0" y="0"/>
            <a:chExt cx="9608706" cy="1006627"/>
          </a:xfrm>
        </p:grpSpPr>
        <p:sp>
          <p:nvSpPr>
            <p:cNvPr name="Freeform 24" id="24"/>
            <p:cNvSpPr/>
            <p:nvPr/>
          </p:nvSpPr>
          <p:spPr>
            <a:xfrm flipH="false" flipV="false" rot="0">
              <a:off x="0" y="0"/>
              <a:ext cx="9608707" cy="1006626"/>
            </a:xfrm>
            <a:custGeom>
              <a:avLst/>
              <a:gdLst/>
              <a:ahLst/>
              <a:cxnLst/>
              <a:rect r="r" b="b" t="t" l="l"/>
              <a:pathLst>
                <a:path h="1006626" w="9608707">
                  <a:moveTo>
                    <a:pt x="0" y="0"/>
                  </a:moveTo>
                  <a:lnTo>
                    <a:pt x="9608707" y="0"/>
                  </a:lnTo>
                  <a:lnTo>
                    <a:pt x="9608707" y="1006626"/>
                  </a:lnTo>
                  <a:lnTo>
                    <a:pt x="0" y="1006626"/>
                  </a:lnTo>
                  <a:close/>
                </a:path>
              </a:pathLst>
            </a:custGeom>
            <a:blipFill>
              <a:blip r:embed="rId9">
                <a:alphaModFix amt="0"/>
              </a:blip>
              <a:stretch>
                <a:fillRect l="0" t="-135993" r="0" b="-135993"/>
              </a:stretch>
            </a:blipFill>
          </p:spPr>
        </p:sp>
        <p:sp>
          <p:nvSpPr>
            <p:cNvPr name="TextBox 25" id="25"/>
            <p:cNvSpPr txBox="true"/>
            <p:nvPr/>
          </p:nvSpPr>
          <p:spPr>
            <a:xfrm>
              <a:off x="0" y="-19050"/>
              <a:ext cx="9608706" cy="1025677"/>
            </a:xfrm>
            <a:prstGeom prst="rect">
              <a:avLst/>
            </a:prstGeom>
          </p:spPr>
          <p:txBody>
            <a:bodyPr anchor="ctr" rtlCol="false" tIns="0" lIns="0" bIns="0" rIns="0"/>
            <a:lstStyle/>
            <a:p>
              <a:pPr algn="ctr">
                <a:lnSpc>
                  <a:spcPts val="2972"/>
                </a:lnSpc>
              </a:pPr>
              <a:r>
                <a:rPr lang="en-US" sz="2476" b="true">
                  <a:solidFill>
                    <a:srgbClr val="FFFFFF"/>
                  </a:solidFill>
                  <a:latin typeface="Poppins Bold"/>
                  <a:ea typeface="Poppins Bold"/>
                  <a:cs typeface="Poppins Bold"/>
                  <a:sym typeface="Poppins Bold"/>
                </a:rPr>
                <a:t>REGRESSION</a:t>
              </a:r>
            </a:p>
          </p:txBody>
        </p:sp>
      </p:grpSp>
      <p:sp>
        <p:nvSpPr>
          <p:cNvPr name="TextBox 26" id="26"/>
          <p:cNvSpPr txBox="true"/>
          <p:nvPr/>
        </p:nvSpPr>
        <p:spPr>
          <a:xfrm rot="0">
            <a:off x="8975074" y="3555444"/>
            <a:ext cx="6598084" cy="5018079"/>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  The answer is a number on a continuous scale, not a category.</a:t>
            </a:r>
          </a:p>
          <a:p>
            <a:pPr algn="l">
              <a:lnSpc>
                <a:spcPts val="3629"/>
              </a:lnSpc>
            </a:pPr>
            <a:r>
              <a:rPr lang="en-US" sz="2326">
                <a:solidFill>
                  <a:srgbClr val="475569"/>
                </a:solidFill>
                <a:latin typeface="Poppins"/>
                <a:ea typeface="Poppins"/>
                <a:cs typeface="Poppins"/>
                <a:sym typeface="Poppins"/>
              </a:rPr>
              <a:t>•  SwiftRoute example: how many minutes will this delivery take, given its distance and route?</a:t>
            </a:r>
          </a:p>
          <a:p>
            <a:pPr algn="l">
              <a:lnSpc>
                <a:spcPts val="3629"/>
              </a:lnSpc>
            </a:pPr>
            <a:r>
              <a:rPr lang="en-US" sz="2326">
                <a:solidFill>
                  <a:srgbClr val="475569"/>
                </a:solidFill>
                <a:latin typeface="Poppins"/>
                <a:ea typeface="Poppins"/>
                <a:cs typeface="Poppins"/>
                <a:sym typeface="Poppins"/>
              </a:rPr>
              <a:t>•  "Predict how much" and "predict how long" are the giveaway phrasings.</a:t>
            </a:r>
          </a:p>
          <a:p>
            <a:pPr algn="l">
              <a:lnSpc>
                <a:spcPts val="3629"/>
              </a:lnSpc>
            </a:pPr>
            <a:r>
              <a:rPr lang="en-US" sz="2326">
                <a:solidFill>
                  <a:srgbClr val="475569"/>
                </a:solidFill>
                <a:latin typeface="Poppins"/>
                <a:ea typeface="Poppins"/>
                <a:cs typeface="Poppins"/>
                <a:sym typeface="Poppins"/>
              </a:rPr>
              <a:t>•  Q3 reality check: real durations ranged from 8 to 189 minutes across the quarter - the kind of spread regression is built to estimate.</a:t>
            </a:r>
          </a:p>
        </p:txBody>
      </p:sp>
      <p:sp>
        <p:nvSpPr>
          <p:cNvPr name="TextBox 27" id="27"/>
          <p:cNvSpPr txBox="true"/>
          <p:nvPr/>
        </p:nvSpPr>
        <p:spPr>
          <a:xfrm rot="0">
            <a:off x="876300" y="8735448"/>
            <a:ext cx="14893500" cy="954706"/>
          </a:xfrm>
          <a:prstGeom prst="rect">
            <a:avLst/>
          </a:prstGeom>
        </p:spPr>
        <p:txBody>
          <a:bodyPr anchor="t" rtlCol="false" tIns="0" lIns="0" bIns="0" rIns="0">
            <a:spAutoFit/>
          </a:bodyPr>
          <a:lstStyle/>
          <a:p>
            <a:pPr algn="l">
              <a:lnSpc>
                <a:spcPts val="3824"/>
              </a:lnSpc>
            </a:pPr>
            <a:r>
              <a:rPr lang="en-US" sz="2451" i="true">
                <a:solidFill>
                  <a:srgbClr val="64748B"/>
                </a:solidFill>
                <a:latin typeface="Poppins Italics"/>
                <a:ea typeface="Poppins Italics"/>
                <a:cs typeface="Poppins Italics"/>
                <a:sym typeface="Poppins Italics"/>
              </a:rPr>
              <a:t>Same underlying method, supervised learning. The only real difference is the shape of the answer: a category, or a number.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301840" cy="10295039"/>
            <a:chOff x="0" y="0"/>
            <a:chExt cx="24402453" cy="13726719"/>
          </a:xfrm>
        </p:grpSpPr>
        <p:sp>
          <p:nvSpPr>
            <p:cNvPr name="Freeform 4" id="4"/>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0494A"/>
            </a:solidFill>
          </p:spPr>
        </p:sp>
      </p:grpSp>
      <p:grpSp>
        <p:nvGrpSpPr>
          <p:cNvPr name="Group 5" id="5"/>
          <p:cNvGrpSpPr/>
          <p:nvPr/>
        </p:nvGrpSpPr>
        <p:grpSpPr>
          <a:xfrm rot="0">
            <a:off x="851059" y="480431"/>
            <a:ext cx="4392549" cy="2882608"/>
            <a:chOff x="0" y="0"/>
            <a:chExt cx="5856732" cy="3843477"/>
          </a:xfrm>
        </p:grpSpPr>
        <p:sp>
          <p:nvSpPr>
            <p:cNvPr name="Freeform 6" id="6"/>
            <p:cNvSpPr/>
            <p:nvPr/>
          </p:nvSpPr>
          <p:spPr>
            <a:xfrm flipH="false" flipV="false" rot="0">
              <a:off x="0" y="0"/>
              <a:ext cx="5856736" cy="3843483"/>
            </a:xfrm>
            <a:custGeom>
              <a:avLst/>
              <a:gdLst/>
              <a:ahLst/>
              <a:cxnLst/>
              <a:rect r="r" b="b" t="t" l="l"/>
              <a:pathLst>
                <a:path h="3843483" w="5856736">
                  <a:moveTo>
                    <a:pt x="0" y="0"/>
                  </a:moveTo>
                  <a:lnTo>
                    <a:pt x="5856736" y="0"/>
                  </a:lnTo>
                  <a:lnTo>
                    <a:pt x="5856736" y="3843483"/>
                  </a:lnTo>
                  <a:lnTo>
                    <a:pt x="0" y="3843483"/>
                  </a:lnTo>
                  <a:close/>
                </a:path>
              </a:pathLst>
            </a:custGeom>
            <a:blipFill>
              <a:blip r:embed="rId4">
                <a:alphaModFix amt="0"/>
              </a:blip>
              <a:stretch>
                <a:fillRect l="-34199" t="0" r="-34199" b="0"/>
              </a:stretch>
            </a:blipFill>
          </p:spPr>
        </p:sp>
        <p:sp>
          <p:nvSpPr>
            <p:cNvPr name="TextBox 7" id="7"/>
            <p:cNvSpPr txBox="true"/>
            <p:nvPr/>
          </p:nvSpPr>
          <p:spPr>
            <a:xfrm>
              <a:off x="0" y="-190500"/>
              <a:ext cx="5856732" cy="4033977"/>
            </a:xfrm>
            <a:prstGeom prst="rect">
              <a:avLst/>
            </a:prstGeom>
          </p:spPr>
          <p:txBody>
            <a:bodyPr anchor="ctr" rtlCol="false" tIns="0" lIns="0" bIns="0" rIns="0"/>
            <a:lstStyle/>
            <a:p>
              <a:pPr algn="l">
                <a:lnSpc>
                  <a:spcPts val="23418"/>
                </a:lnSpc>
              </a:pPr>
              <a:r>
                <a:rPr lang="en-US" sz="19515" b="true">
                  <a:solidFill>
                    <a:srgbClr val="2F6364"/>
                  </a:solidFill>
                  <a:latin typeface="Poppins Bold"/>
                  <a:ea typeface="Poppins Bold"/>
                  <a:cs typeface="Poppins Bold"/>
                  <a:sym typeface="Poppins Bold"/>
                </a:rPr>
                <a:t>02</a:t>
              </a:r>
            </a:p>
          </p:txBody>
        </p:sp>
      </p:grpSp>
      <p:grpSp>
        <p:nvGrpSpPr>
          <p:cNvPr name="Group 8" id="8"/>
          <p:cNvGrpSpPr/>
          <p:nvPr/>
        </p:nvGrpSpPr>
        <p:grpSpPr>
          <a:xfrm rot="0">
            <a:off x="1070686" y="3733667"/>
            <a:ext cx="10157774" cy="466706"/>
            <a:chOff x="0" y="0"/>
            <a:chExt cx="13543699" cy="622275"/>
          </a:xfrm>
        </p:grpSpPr>
        <p:sp>
          <p:nvSpPr>
            <p:cNvPr name="Freeform 9" id="9"/>
            <p:cNvSpPr/>
            <p:nvPr/>
          </p:nvSpPr>
          <p:spPr>
            <a:xfrm flipH="false" flipV="false" rot="0">
              <a:off x="0" y="0"/>
              <a:ext cx="13543700" cy="622278"/>
            </a:xfrm>
            <a:custGeom>
              <a:avLst/>
              <a:gdLst/>
              <a:ahLst/>
              <a:cxnLst/>
              <a:rect r="r" b="b" t="t" l="l"/>
              <a:pathLst>
                <a:path h="622278" w="13543700">
                  <a:moveTo>
                    <a:pt x="0" y="0"/>
                  </a:moveTo>
                  <a:lnTo>
                    <a:pt x="13543700" y="0"/>
                  </a:lnTo>
                  <a:lnTo>
                    <a:pt x="13543700" y="622278"/>
                  </a:lnTo>
                  <a:lnTo>
                    <a:pt x="0" y="622278"/>
                  </a:lnTo>
                  <a:close/>
                </a:path>
              </a:pathLst>
            </a:custGeom>
            <a:blipFill>
              <a:blip r:embed="rId4">
                <a:alphaModFix amt="0"/>
              </a:blip>
              <a:stretch>
                <a:fillRect l="0" t="-374086" r="0" b="-374085"/>
              </a:stretch>
            </a:blipFill>
          </p:spPr>
        </p:sp>
        <p:sp>
          <p:nvSpPr>
            <p:cNvPr name="TextBox 10" id="10"/>
            <p:cNvSpPr txBox="true"/>
            <p:nvPr/>
          </p:nvSpPr>
          <p:spPr>
            <a:xfrm>
              <a:off x="0" y="-19050"/>
              <a:ext cx="13543699" cy="641325"/>
            </a:xfrm>
            <a:prstGeom prst="rect">
              <a:avLst/>
            </a:prstGeom>
          </p:spPr>
          <p:txBody>
            <a:bodyPr anchor="ctr" rtlCol="false" tIns="0" lIns="0" bIns="0" rIns="0"/>
            <a:lstStyle/>
            <a:p>
              <a:pPr algn="l">
                <a:lnSpc>
                  <a:spcPts val="2341"/>
                </a:lnSpc>
              </a:pPr>
              <a:r>
                <a:rPr lang="en-US" b="true" sz="1951" spc="375">
                  <a:solidFill>
                    <a:srgbClr val="8FBEBE"/>
                  </a:solidFill>
                  <a:latin typeface="Poppins Bold"/>
                  <a:ea typeface="Poppins Bold"/>
                  <a:cs typeface="Poppins Bold"/>
                  <a:sym typeface="Poppins Bold"/>
                </a:rPr>
                <a:t>PART TWO</a:t>
              </a:r>
            </a:p>
          </p:txBody>
        </p:sp>
      </p:grpSp>
      <p:grpSp>
        <p:nvGrpSpPr>
          <p:cNvPr name="Group 11" id="11"/>
          <p:cNvGrpSpPr/>
          <p:nvPr/>
        </p:nvGrpSpPr>
        <p:grpSpPr>
          <a:xfrm rot="0">
            <a:off x="1070686" y="4365098"/>
            <a:ext cx="1853108" cy="116681"/>
            <a:chOff x="0" y="0"/>
            <a:chExt cx="2470810" cy="155575"/>
          </a:xfrm>
        </p:grpSpPr>
        <p:sp>
          <p:nvSpPr>
            <p:cNvPr name="Freeform 12" id="12"/>
            <p:cNvSpPr/>
            <p:nvPr/>
          </p:nvSpPr>
          <p:spPr>
            <a:xfrm flipH="false" flipV="false" rot="0">
              <a:off x="0" y="0"/>
              <a:ext cx="2470785" cy="155575"/>
            </a:xfrm>
            <a:custGeom>
              <a:avLst/>
              <a:gdLst/>
              <a:ahLst/>
              <a:cxnLst/>
              <a:rect r="r" b="b" t="t" l="l"/>
              <a:pathLst>
                <a:path h="155575" w="2470785">
                  <a:moveTo>
                    <a:pt x="0" y="0"/>
                  </a:moveTo>
                  <a:lnTo>
                    <a:pt x="2470785" y="0"/>
                  </a:lnTo>
                  <a:lnTo>
                    <a:pt x="2470785" y="155575"/>
                  </a:lnTo>
                  <a:lnTo>
                    <a:pt x="0" y="155575"/>
                  </a:lnTo>
                  <a:close/>
                </a:path>
              </a:pathLst>
            </a:custGeom>
            <a:solidFill>
              <a:srgbClr val="387F7F"/>
            </a:solidFill>
          </p:spPr>
        </p:sp>
      </p:grpSp>
      <p:grpSp>
        <p:nvGrpSpPr>
          <p:cNvPr name="Group 13" id="13"/>
          <p:cNvGrpSpPr/>
          <p:nvPr/>
        </p:nvGrpSpPr>
        <p:grpSpPr>
          <a:xfrm rot="0">
            <a:off x="1070686" y="4735716"/>
            <a:ext cx="11118647" cy="2196274"/>
            <a:chOff x="0" y="0"/>
            <a:chExt cx="14824862" cy="2928366"/>
          </a:xfrm>
        </p:grpSpPr>
        <p:sp>
          <p:nvSpPr>
            <p:cNvPr name="Freeform 14" id="14"/>
            <p:cNvSpPr/>
            <p:nvPr/>
          </p:nvSpPr>
          <p:spPr>
            <a:xfrm flipH="false" flipV="false" rot="0">
              <a:off x="0" y="0"/>
              <a:ext cx="14824863" cy="2928368"/>
            </a:xfrm>
            <a:custGeom>
              <a:avLst/>
              <a:gdLst/>
              <a:ahLst/>
              <a:cxnLst/>
              <a:rect r="r" b="b" t="t" l="l"/>
              <a:pathLst>
                <a:path h="2928368" w="14824863">
                  <a:moveTo>
                    <a:pt x="0" y="0"/>
                  </a:moveTo>
                  <a:lnTo>
                    <a:pt x="14824863" y="0"/>
                  </a:lnTo>
                  <a:lnTo>
                    <a:pt x="14824863" y="2928368"/>
                  </a:lnTo>
                  <a:lnTo>
                    <a:pt x="0" y="2928368"/>
                  </a:lnTo>
                  <a:close/>
                </a:path>
              </a:pathLst>
            </a:custGeom>
            <a:blipFill>
              <a:blip r:embed="rId4">
                <a:alphaModFix amt="0"/>
              </a:blip>
              <a:stretch>
                <a:fillRect l="0" t="-48643" r="0" b="-48642"/>
              </a:stretch>
            </a:blipFill>
          </p:spPr>
        </p:sp>
        <p:sp>
          <p:nvSpPr>
            <p:cNvPr name="TextBox 15" id="15"/>
            <p:cNvSpPr txBox="true"/>
            <p:nvPr/>
          </p:nvSpPr>
          <p:spPr>
            <a:xfrm>
              <a:off x="0" y="-114300"/>
              <a:ext cx="14824862" cy="3042666"/>
            </a:xfrm>
            <a:prstGeom prst="rect">
              <a:avLst/>
            </a:prstGeom>
          </p:spPr>
          <p:txBody>
            <a:bodyPr anchor="ctr" rtlCol="false" tIns="0" lIns="0" bIns="0" rIns="0"/>
            <a:lstStyle/>
            <a:p>
              <a:pPr algn="l">
                <a:lnSpc>
                  <a:spcPts val="7003"/>
                </a:lnSpc>
              </a:pPr>
              <a:r>
                <a:rPr lang="en-US" sz="5404" b="true">
                  <a:solidFill>
                    <a:srgbClr val="FFFFFF"/>
                  </a:solidFill>
                  <a:latin typeface="Poppins Bold"/>
                  <a:ea typeface="Poppins Bold"/>
                  <a:cs typeface="Poppins Bold"/>
                  <a:sym typeface="Poppins Bold"/>
                </a:rPr>
                <a:t>Unsupervised learning: clustering</a:t>
              </a:r>
            </a:p>
          </p:txBody>
        </p:sp>
      </p:grpSp>
      <p:grpSp>
        <p:nvGrpSpPr>
          <p:cNvPr name="Group 16" id="16"/>
          <p:cNvGrpSpPr/>
          <p:nvPr/>
        </p:nvGrpSpPr>
        <p:grpSpPr>
          <a:xfrm rot="0">
            <a:off x="1125588" y="7405564"/>
            <a:ext cx="219627" cy="219627"/>
            <a:chOff x="0" y="0"/>
            <a:chExt cx="292837" cy="292837"/>
          </a:xfrm>
        </p:grpSpPr>
        <p:sp>
          <p:nvSpPr>
            <p:cNvPr name="Freeform 17" id="1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18" id="18"/>
          <p:cNvGrpSpPr/>
          <p:nvPr/>
        </p:nvGrpSpPr>
        <p:grpSpPr>
          <a:xfrm rot="0">
            <a:off x="1647206" y="7288892"/>
            <a:ext cx="9883245" cy="466706"/>
            <a:chOff x="0" y="0"/>
            <a:chExt cx="13177660" cy="622275"/>
          </a:xfrm>
        </p:grpSpPr>
        <p:sp>
          <p:nvSpPr>
            <p:cNvPr name="Freeform 19" id="1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0" id="2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What changes when there is no known right answer to learn from</a:t>
              </a:r>
            </a:p>
          </p:txBody>
        </p:sp>
      </p:grpSp>
      <p:grpSp>
        <p:nvGrpSpPr>
          <p:cNvPr name="Group 21" id="21"/>
          <p:cNvGrpSpPr/>
          <p:nvPr/>
        </p:nvGrpSpPr>
        <p:grpSpPr>
          <a:xfrm rot="0">
            <a:off x="1125588" y="7982093"/>
            <a:ext cx="219627" cy="219627"/>
            <a:chOff x="0" y="0"/>
            <a:chExt cx="292837" cy="292837"/>
          </a:xfrm>
        </p:grpSpPr>
        <p:sp>
          <p:nvSpPr>
            <p:cNvPr name="Freeform 22" id="2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3" id="23"/>
          <p:cNvGrpSpPr/>
          <p:nvPr/>
        </p:nvGrpSpPr>
        <p:grpSpPr>
          <a:xfrm rot="0">
            <a:off x="1647206" y="7865412"/>
            <a:ext cx="9883245" cy="466706"/>
            <a:chOff x="0" y="0"/>
            <a:chExt cx="13177660" cy="622275"/>
          </a:xfrm>
        </p:grpSpPr>
        <p:sp>
          <p:nvSpPr>
            <p:cNvPr name="Freeform 24" id="24"/>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5" id="25"/>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Clustering: grouping similar things together</a:t>
              </a:r>
            </a:p>
          </p:txBody>
        </p:sp>
      </p:grpSp>
      <p:grpSp>
        <p:nvGrpSpPr>
          <p:cNvPr name="Group 26" id="26"/>
          <p:cNvGrpSpPr/>
          <p:nvPr/>
        </p:nvGrpSpPr>
        <p:grpSpPr>
          <a:xfrm rot="0">
            <a:off x="1125588" y="8558613"/>
            <a:ext cx="219627" cy="219627"/>
            <a:chOff x="0" y="0"/>
            <a:chExt cx="292837" cy="292837"/>
          </a:xfrm>
        </p:grpSpPr>
        <p:sp>
          <p:nvSpPr>
            <p:cNvPr name="Freeform 27" id="2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8" id="28"/>
          <p:cNvGrpSpPr/>
          <p:nvPr/>
        </p:nvGrpSpPr>
        <p:grpSpPr>
          <a:xfrm rot="0">
            <a:off x="1647206" y="8441931"/>
            <a:ext cx="9883245" cy="466706"/>
            <a:chOff x="0" y="0"/>
            <a:chExt cx="13177660" cy="622275"/>
          </a:xfrm>
        </p:grpSpPr>
        <p:sp>
          <p:nvSpPr>
            <p:cNvPr name="Freeform 29" id="2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30" id="3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A real, ungraded grouping of SwiftRoute's customers</a:t>
              </a:r>
            </a:p>
          </p:txBody>
        </p:sp>
      </p:grpSp>
      <p:grpSp>
        <p:nvGrpSpPr>
          <p:cNvPr name="Group 31" id="31"/>
          <p:cNvGrpSpPr/>
          <p:nvPr/>
        </p:nvGrpSpPr>
        <p:grpSpPr>
          <a:xfrm rot="0">
            <a:off x="17546869" y="9718519"/>
            <a:ext cx="549069" cy="411804"/>
            <a:chOff x="0" y="0"/>
            <a:chExt cx="732092" cy="549072"/>
          </a:xfrm>
        </p:grpSpPr>
        <p:sp>
          <p:nvSpPr>
            <p:cNvPr name="Freeform 32" id="32"/>
            <p:cNvSpPr/>
            <p:nvPr/>
          </p:nvSpPr>
          <p:spPr>
            <a:xfrm flipH="false" flipV="false" rot="0">
              <a:off x="0" y="0"/>
              <a:ext cx="732092" cy="549069"/>
            </a:xfrm>
            <a:custGeom>
              <a:avLst/>
              <a:gdLst/>
              <a:ahLst/>
              <a:cxnLst/>
              <a:rect r="r" b="b" t="t" l="l"/>
              <a:pathLst>
                <a:path h="549069" w="732092">
                  <a:moveTo>
                    <a:pt x="0" y="0"/>
                  </a:moveTo>
                  <a:lnTo>
                    <a:pt x="732092" y="0"/>
                  </a:lnTo>
                  <a:lnTo>
                    <a:pt x="732092" y="549069"/>
                  </a:lnTo>
                  <a:lnTo>
                    <a:pt x="0" y="549069"/>
                  </a:lnTo>
                  <a:close/>
                </a:path>
              </a:pathLst>
            </a:custGeom>
            <a:blipFill>
              <a:blip r:embed="rId4">
                <a:alphaModFix amt="0"/>
              </a:blip>
              <a:stretch>
                <a:fillRect l="-46228" t="0" r="-46228" b="0"/>
              </a:stretch>
            </a:blipFill>
          </p:spPr>
        </p:sp>
        <p:sp>
          <p:nvSpPr>
            <p:cNvPr name="TextBox 33" id="33"/>
            <p:cNvSpPr txBox="true"/>
            <p:nvPr/>
          </p:nvSpPr>
          <p:spPr>
            <a:xfrm>
              <a:off x="0" y="-9525"/>
              <a:ext cx="732092" cy="558597"/>
            </a:xfrm>
            <a:prstGeom prst="rect">
              <a:avLst/>
            </a:prstGeom>
          </p:spPr>
          <p:txBody>
            <a:bodyPr anchor="ctr" rtlCol="false" tIns="0" lIns="0" bIns="0" rIns="0"/>
            <a:lstStyle/>
            <a:p>
              <a:pPr algn="r">
                <a:lnSpc>
                  <a:spcPts val="1981"/>
                </a:lnSpc>
              </a:pPr>
              <a:r>
                <a:rPr lang="en-US" sz="1651">
                  <a:solidFill>
                    <a:srgbClr val="7FA3A3"/>
                  </a:solidFill>
                  <a:latin typeface="Poppins"/>
                  <a:ea typeface="Poppins"/>
                  <a:cs typeface="Poppins"/>
                  <a:sym typeface="Poppins"/>
                </a:rPr>
                <a:t>8</a:t>
              </a:r>
            </a:p>
          </p:txBody>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393657" cy="1419225"/>
          </a:xfrm>
          <a:prstGeom prst="rect">
            <a:avLst/>
          </a:prstGeom>
        </p:spPr>
        <p:txBody>
          <a:bodyPr anchor="t" rtlCol="false" tIns="0" lIns="0" bIns="0" rIns="0">
            <a:spAutoFit/>
          </a:bodyPr>
          <a:lstStyle/>
          <a:p>
            <a:pPr algn="l">
              <a:lnSpc>
                <a:spcPts val="5400"/>
              </a:lnSpc>
            </a:pPr>
            <a:r>
              <a:rPr lang="en-US" sz="4500">
                <a:solidFill>
                  <a:srgbClr val="388080"/>
                </a:solidFill>
                <a:latin typeface="Poppins"/>
                <a:ea typeface="Poppins"/>
                <a:cs typeface="Poppins"/>
                <a:sym typeface="Poppins"/>
              </a:rPr>
              <a:t>Clust</a:t>
            </a:r>
            <a:r>
              <a:rPr lang="en-US" sz="4500">
                <a:solidFill>
                  <a:srgbClr val="388080"/>
                </a:solidFill>
                <a:latin typeface="Poppins"/>
                <a:ea typeface="Poppins"/>
                <a:cs typeface="Poppins"/>
                <a:sym typeface="Poppins"/>
              </a:rPr>
              <a:t>ering finds groups. Nobody tells it what the groups are.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57250" y="2563563"/>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406319" y="2920170"/>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Unsupervised learning has no known right answer to check against, which is the opposite condition from classification and regression. Clustering looks for items that are naturally similar to each other and groups them, without anyone specifying in advance what the groups should be or how many there should be. There is no accuracy score to compute, because there is no known correct grouping to compare against. The output is judged by whether the groups make business sense, not by whether they match a predetermined answer.</a:t>
            </a:r>
          </a:p>
        </p:txBody>
      </p:sp>
      <p:grpSp>
        <p:nvGrpSpPr>
          <p:cNvPr name="Group 14" id="14"/>
          <p:cNvGrpSpPr/>
          <p:nvPr/>
        </p:nvGrpSpPr>
        <p:grpSpPr>
          <a:xfrm rot="0">
            <a:off x="857250" y="7505181"/>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857250" y="7505181"/>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406319" y="7505181"/>
            <a:ext cx="13795362" cy="1372676"/>
            <a:chOff x="0" y="0"/>
            <a:chExt cx="18393816" cy="1830235"/>
          </a:xfrm>
        </p:grpSpPr>
        <p:sp>
          <p:nvSpPr>
            <p:cNvPr name="Freeform 19" id="19"/>
            <p:cNvSpPr/>
            <p:nvPr/>
          </p:nvSpPr>
          <p:spPr>
            <a:xfrm flipH="false" flipV="false" rot="0">
              <a:off x="0" y="0"/>
              <a:ext cx="18393811" cy="1830230"/>
            </a:xfrm>
            <a:custGeom>
              <a:avLst/>
              <a:gdLst/>
              <a:ahLst/>
              <a:cxnLst/>
              <a:rect r="r" b="b" t="t" l="l"/>
              <a:pathLst>
                <a:path h="1830230" w="18393811">
                  <a:moveTo>
                    <a:pt x="0" y="0"/>
                  </a:moveTo>
                  <a:lnTo>
                    <a:pt x="18393811" y="0"/>
                  </a:lnTo>
                  <a:lnTo>
                    <a:pt x="18393811" y="1830230"/>
                  </a:lnTo>
                  <a:lnTo>
                    <a:pt x="0" y="1830230"/>
                  </a:lnTo>
                  <a:close/>
                </a:path>
              </a:pathLst>
            </a:custGeom>
            <a:blipFill>
              <a:blip r:embed="rId9">
                <a:alphaModFix amt="0"/>
              </a:blip>
              <a:stretch>
                <a:fillRect l="0" t="-145824" r="0" b="-145824"/>
              </a:stretch>
            </a:blipFill>
          </p:spPr>
        </p:sp>
        <p:sp>
          <p:nvSpPr>
            <p:cNvPr name="TextBox 20" id="20"/>
            <p:cNvSpPr txBox="true"/>
            <p:nvPr/>
          </p:nvSpPr>
          <p:spPr>
            <a:xfrm>
              <a:off x="0" y="-104775"/>
              <a:ext cx="18393816" cy="1935010"/>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You cannot grade a clustering the way you grade a classification. There is no answer key to grade it against.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417389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 r</a:t>
            </a:r>
            <a:r>
              <a:rPr lang="en-US" sz="5000">
                <a:solidFill>
                  <a:srgbClr val="388080"/>
                </a:solidFill>
                <a:latin typeface="Poppins"/>
                <a:ea typeface="Poppins"/>
                <a:cs typeface="Poppins"/>
                <a:sym typeface="Poppins"/>
              </a:rPr>
              <a:t>eal grouping of SwiftRoute's Q3 customers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47725" y="2551005"/>
            <a:ext cx="3788578" cy="754971"/>
            <a:chOff x="0" y="0"/>
            <a:chExt cx="5051438" cy="1006627"/>
          </a:xfrm>
        </p:grpSpPr>
        <p:sp>
          <p:nvSpPr>
            <p:cNvPr name="Freeform 12" id="12"/>
            <p:cNvSpPr/>
            <p:nvPr/>
          </p:nvSpPr>
          <p:spPr>
            <a:xfrm flipH="false" flipV="false" rot="0">
              <a:off x="0" y="0"/>
              <a:ext cx="5051425" cy="1006602"/>
            </a:xfrm>
            <a:custGeom>
              <a:avLst/>
              <a:gdLst/>
              <a:ahLst/>
              <a:cxnLst/>
              <a:rect r="r" b="b" t="t" l="l"/>
              <a:pathLst>
                <a:path h="1006602" w="5051425">
                  <a:moveTo>
                    <a:pt x="0" y="503301"/>
                  </a:moveTo>
                  <a:cubicBezTo>
                    <a:pt x="0" y="225298"/>
                    <a:pt x="225298" y="0"/>
                    <a:pt x="503301" y="0"/>
                  </a:cubicBezTo>
                  <a:lnTo>
                    <a:pt x="4548124" y="0"/>
                  </a:lnTo>
                  <a:cubicBezTo>
                    <a:pt x="4826127" y="0"/>
                    <a:pt x="5051425" y="225298"/>
                    <a:pt x="5051425" y="503301"/>
                  </a:cubicBezTo>
                  <a:cubicBezTo>
                    <a:pt x="5051425" y="781304"/>
                    <a:pt x="4826127" y="1006602"/>
                    <a:pt x="4548124" y="1006602"/>
                  </a:cubicBezTo>
                  <a:lnTo>
                    <a:pt x="503301" y="1006602"/>
                  </a:lnTo>
                  <a:cubicBezTo>
                    <a:pt x="225298" y="1006602"/>
                    <a:pt x="0" y="781304"/>
                    <a:pt x="0" y="503301"/>
                  </a:cubicBezTo>
                  <a:close/>
                </a:path>
              </a:pathLst>
            </a:custGeom>
            <a:solidFill>
              <a:srgbClr val="387F7F"/>
            </a:solidFill>
          </p:spPr>
        </p:sp>
      </p:grpSp>
      <p:grpSp>
        <p:nvGrpSpPr>
          <p:cNvPr name="Group 13" id="13"/>
          <p:cNvGrpSpPr/>
          <p:nvPr/>
        </p:nvGrpSpPr>
        <p:grpSpPr>
          <a:xfrm rot="0">
            <a:off x="847725" y="2551005"/>
            <a:ext cx="3788578" cy="754971"/>
            <a:chOff x="0" y="0"/>
            <a:chExt cx="5051438" cy="1006627"/>
          </a:xfrm>
        </p:grpSpPr>
        <p:sp>
          <p:nvSpPr>
            <p:cNvPr name="Freeform 14" id="14"/>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15" id="15"/>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b="true">
                  <a:solidFill>
                    <a:srgbClr val="FFFFFF"/>
                  </a:solidFill>
                  <a:latin typeface="Poppins Bold"/>
                  <a:ea typeface="Poppins Bold"/>
                  <a:cs typeface="Poppins Bold"/>
                  <a:sym typeface="Poppins Bold"/>
                </a:rPr>
                <a:t>1. COUNT ORDERS PER CUSTOMER</a:t>
              </a:r>
            </a:p>
          </p:txBody>
        </p:sp>
      </p:grpSp>
      <p:grpSp>
        <p:nvGrpSpPr>
          <p:cNvPr name="Group 16" id="16"/>
          <p:cNvGrpSpPr/>
          <p:nvPr/>
        </p:nvGrpSpPr>
        <p:grpSpPr>
          <a:xfrm rot="0">
            <a:off x="4801029" y="2551005"/>
            <a:ext cx="3788578" cy="754971"/>
            <a:chOff x="0" y="0"/>
            <a:chExt cx="5051438" cy="1006627"/>
          </a:xfrm>
        </p:grpSpPr>
        <p:sp>
          <p:nvSpPr>
            <p:cNvPr name="Freeform 17" id="17"/>
            <p:cNvSpPr/>
            <p:nvPr/>
          </p:nvSpPr>
          <p:spPr>
            <a:xfrm flipH="false" flipV="false" rot="0">
              <a:off x="0" y="0"/>
              <a:ext cx="5051425" cy="1006602"/>
            </a:xfrm>
            <a:custGeom>
              <a:avLst/>
              <a:gdLst/>
              <a:ahLst/>
              <a:cxnLst/>
              <a:rect r="r" b="b" t="t" l="l"/>
              <a:pathLst>
                <a:path h="1006602" w="5051425">
                  <a:moveTo>
                    <a:pt x="0" y="503301"/>
                  </a:moveTo>
                  <a:cubicBezTo>
                    <a:pt x="0" y="225298"/>
                    <a:pt x="225298" y="0"/>
                    <a:pt x="503301" y="0"/>
                  </a:cubicBezTo>
                  <a:lnTo>
                    <a:pt x="4548124" y="0"/>
                  </a:lnTo>
                  <a:cubicBezTo>
                    <a:pt x="4826127" y="0"/>
                    <a:pt x="5051425" y="225298"/>
                    <a:pt x="5051425" y="503301"/>
                  </a:cubicBezTo>
                  <a:cubicBezTo>
                    <a:pt x="5051425" y="781304"/>
                    <a:pt x="4826127" y="1006602"/>
                    <a:pt x="4548124" y="1006602"/>
                  </a:cubicBezTo>
                  <a:lnTo>
                    <a:pt x="503301" y="1006602"/>
                  </a:lnTo>
                  <a:cubicBezTo>
                    <a:pt x="225298" y="1006602"/>
                    <a:pt x="0" y="781304"/>
                    <a:pt x="0" y="503301"/>
                  </a:cubicBezTo>
                  <a:close/>
                </a:path>
              </a:pathLst>
            </a:custGeom>
            <a:solidFill>
              <a:srgbClr val="387F7F"/>
            </a:solidFill>
          </p:spPr>
        </p:sp>
      </p:grpSp>
      <p:grpSp>
        <p:nvGrpSpPr>
          <p:cNvPr name="Group 18" id="18"/>
          <p:cNvGrpSpPr/>
          <p:nvPr/>
        </p:nvGrpSpPr>
        <p:grpSpPr>
          <a:xfrm rot="0">
            <a:off x="4801029" y="2551005"/>
            <a:ext cx="3788578" cy="754971"/>
            <a:chOff x="0" y="0"/>
            <a:chExt cx="5051438" cy="1006627"/>
          </a:xfrm>
        </p:grpSpPr>
        <p:sp>
          <p:nvSpPr>
            <p:cNvPr name="Freeform 19" id="19"/>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20" id="20"/>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b="true">
                  <a:solidFill>
                    <a:srgbClr val="FFFFFF"/>
                  </a:solidFill>
                  <a:latin typeface="Poppins Bold"/>
                  <a:ea typeface="Poppins Bold"/>
                  <a:cs typeface="Poppins Bold"/>
                  <a:sym typeface="Poppins Bold"/>
                </a:rPr>
                <a:t>2. LOOK FOR NATURAL BREAKS</a:t>
              </a:r>
            </a:p>
          </p:txBody>
        </p:sp>
      </p:grpSp>
      <p:grpSp>
        <p:nvGrpSpPr>
          <p:cNvPr name="Group 21" id="21"/>
          <p:cNvGrpSpPr/>
          <p:nvPr/>
        </p:nvGrpSpPr>
        <p:grpSpPr>
          <a:xfrm rot="0">
            <a:off x="8744788" y="2541470"/>
            <a:ext cx="3807638" cy="774030"/>
            <a:chOff x="0" y="0"/>
            <a:chExt cx="5076850" cy="1032040"/>
          </a:xfrm>
        </p:grpSpPr>
        <p:sp>
          <p:nvSpPr>
            <p:cNvPr name="Freeform 22" id="22"/>
            <p:cNvSpPr/>
            <p:nvPr/>
          </p:nvSpPr>
          <p:spPr>
            <a:xfrm flipH="false" flipV="false" rot="0">
              <a:off x="0" y="0"/>
              <a:ext cx="5076825" cy="1032002"/>
            </a:xfrm>
            <a:custGeom>
              <a:avLst/>
              <a:gdLst/>
              <a:ahLst/>
              <a:cxnLst/>
              <a:rect r="r" b="b" t="t" l="l"/>
              <a:pathLst>
                <a:path h="1032002" w="5076825">
                  <a:moveTo>
                    <a:pt x="0" y="516001"/>
                  </a:moveTo>
                  <a:cubicBezTo>
                    <a:pt x="0" y="231013"/>
                    <a:pt x="231013" y="0"/>
                    <a:pt x="516001" y="0"/>
                  </a:cubicBezTo>
                  <a:lnTo>
                    <a:pt x="4560824" y="0"/>
                  </a:lnTo>
                  <a:cubicBezTo>
                    <a:pt x="4845812" y="0"/>
                    <a:pt x="5076825" y="231013"/>
                    <a:pt x="5076825" y="516001"/>
                  </a:cubicBezTo>
                  <a:cubicBezTo>
                    <a:pt x="5076825" y="800989"/>
                    <a:pt x="4845812" y="1032002"/>
                    <a:pt x="4560824" y="1032002"/>
                  </a:cubicBezTo>
                  <a:lnTo>
                    <a:pt x="516001" y="1032002"/>
                  </a:lnTo>
                  <a:cubicBezTo>
                    <a:pt x="231013" y="1032002"/>
                    <a:pt x="0" y="800989"/>
                    <a:pt x="0" y="516001"/>
                  </a:cubicBezTo>
                  <a:close/>
                </a:path>
              </a:pathLst>
            </a:custGeom>
            <a:solidFill>
              <a:srgbClr val="FFFFFF"/>
            </a:solidFill>
            <a:ln w="19065" cap="sq">
              <a:solidFill>
                <a:srgbClr val="E2E8F0"/>
              </a:solidFill>
              <a:prstDash val="solid"/>
              <a:miter/>
            </a:ln>
          </p:spPr>
        </p:sp>
      </p:grpSp>
      <p:grpSp>
        <p:nvGrpSpPr>
          <p:cNvPr name="Group 23" id="23"/>
          <p:cNvGrpSpPr/>
          <p:nvPr/>
        </p:nvGrpSpPr>
        <p:grpSpPr>
          <a:xfrm rot="0">
            <a:off x="8754323" y="2551005"/>
            <a:ext cx="3788578" cy="754971"/>
            <a:chOff x="0" y="0"/>
            <a:chExt cx="5051438" cy="1006627"/>
          </a:xfrm>
        </p:grpSpPr>
        <p:sp>
          <p:nvSpPr>
            <p:cNvPr name="Freeform 24" id="24"/>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25" id="25"/>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a:solidFill>
                    <a:srgbClr val="64748B"/>
                  </a:solidFill>
                  <a:latin typeface="Poppins"/>
                  <a:ea typeface="Poppins"/>
                  <a:cs typeface="Poppins"/>
                  <a:sym typeface="Poppins"/>
                </a:rPr>
                <a:t>3. NAME THE GROUPS</a:t>
              </a:r>
            </a:p>
          </p:txBody>
        </p:sp>
      </p:grpSp>
      <p:grpSp>
        <p:nvGrpSpPr>
          <p:cNvPr name="Group 26" id="26"/>
          <p:cNvGrpSpPr/>
          <p:nvPr/>
        </p:nvGrpSpPr>
        <p:grpSpPr>
          <a:xfrm rot="0">
            <a:off x="12698082" y="2541470"/>
            <a:ext cx="3807638" cy="774030"/>
            <a:chOff x="0" y="0"/>
            <a:chExt cx="5076850" cy="1032040"/>
          </a:xfrm>
        </p:grpSpPr>
        <p:sp>
          <p:nvSpPr>
            <p:cNvPr name="Freeform 27" id="27"/>
            <p:cNvSpPr/>
            <p:nvPr/>
          </p:nvSpPr>
          <p:spPr>
            <a:xfrm flipH="false" flipV="false" rot="0">
              <a:off x="0" y="0"/>
              <a:ext cx="5076825" cy="1032002"/>
            </a:xfrm>
            <a:custGeom>
              <a:avLst/>
              <a:gdLst/>
              <a:ahLst/>
              <a:cxnLst/>
              <a:rect r="r" b="b" t="t" l="l"/>
              <a:pathLst>
                <a:path h="1032002" w="5076825">
                  <a:moveTo>
                    <a:pt x="0" y="516001"/>
                  </a:moveTo>
                  <a:cubicBezTo>
                    <a:pt x="0" y="231013"/>
                    <a:pt x="231013" y="0"/>
                    <a:pt x="516001" y="0"/>
                  </a:cubicBezTo>
                  <a:lnTo>
                    <a:pt x="4560824" y="0"/>
                  </a:lnTo>
                  <a:cubicBezTo>
                    <a:pt x="4845812" y="0"/>
                    <a:pt x="5076825" y="231013"/>
                    <a:pt x="5076825" y="516001"/>
                  </a:cubicBezTo>
                  <a:cubicBezTo>
                    <a:pt x="5076825" y="800989"/>
                    <a:pt x="4845812" y="1032002"/>
                    <a:pt x="4560824" y="1032002"/>
                  </a:cubicBezTo>
                  <a:lnTo>
                    <a:pt x="516001" y="1032002"/>
                  </a:lnTo>
                  <a:cubicBezTo>
                    <a:pt x="231013" y="1032002"/>
                    <a:pt x="0" y="800989"/>
                    <a:pt x="0" y="516001"/>
                  </a:cubicBezTo>
                  <a:close/>
                </a:path>
              </a:pathLst>
            </a:custGeom>
            <a:solidFill>
              <a:srgbClr val="FFFFFF"/>
            </a:solidFill>
            <a:ln w="19065" cap="sq">
              <a:solidFill>
                <a:srgbClr val="E2E8F0"/>
              </a:solidFill>
              <a:prstDash val="solid"/>
              <a:miter/>
            </a:ln>
          </p:spPr>
        </p:sp>
      </p:grpSp>
      <p:grpSp>
        <p:nvGrpSpPr>
          <p:cNvPr name="Group 28" id="28"/>
          <p:cNvGrpSpPr/>
          <p:nvPr/>
        </p:nvGrpSpPr>
        <p:grpSpPr>
          <a:xfrm rot="0">
            <a:off x="12707617" y="2551005"/>
            <a:ext cx="3788578" cy="754971"/>
            <a:chOff x="0" y="0"/>
            <a:chExt cx="5051438" cy="1006627"/>
          </a:xfrm>
        </p:grpSpPr>
        <p:sp>
          <p:nvSpPr>
            <p:cNvPr name="Freeform 29" id="29"/>
            <p:cNvSpPr/>
            <p:nvPr/>
          </p:nvSpPr>
          <p:spPr>
            <a:xfrm flipH="false" flipV="false" rot="0">
              <a:off x="0" y="0"/>
              <a:ext cx="5051434" cy="1006626"/>
            </a:xfrm>
            <a:custGeom>
              <a:avLst/>
              <a:gdLst/>
              <a:ahLst/>
              <a:cxnLst/>
              <a:rect r="r" b="b" t="t" l="l"/>
              <a:pathLst>
                <a:path h="1006626" w="5051434">
                  <a:moveTo>
                    <a:pt x="0" y="0"/>
                  </a:moveTo>
                  <a:lnTo>
                    <a:pt x="5051434" y="0"/>
                  </a:lnTo>
                  <a:lnTo>
                    <a:pt x="5051434" y="1006626"/>
                  </a:lnTo>
                  <a:lnTo>
                    <a:pt x="0" y="1006626"/>
                  </a:lnTo>
                  <a:close/>
                </a:path>
              </a:pathLst>
            </a:custGeom>
            <a:blipFill>
              <a:blip r:embed="rId9">
                <a:alphaModFix amt="0"/>
              </a:blip>
              <a:stretch>
                <a:fillRect l="0" t="-47779" r="0" b="-47779"/>
              </a:stretch>
            </a:blipFill>
          </p:spPr>
        </p:sp>
        <p:sp>
          <p:nvSpPr>
            <p:cNvPr name="TextBox 30" id="30"/>
            <p:cNvSpPr txBox="true"/>
            <p:nvPr/>
          </p:nvSpPr>
          <p:spPr>
            <a:xfrm>
              <a:off x="0" y="-19050"/>
              <a:ext cx="5051438" cy="1025677"/>
            </a:xfrm>
            <a:prstGeom prst="rect">
              <a:avLst/>
            </a:prstGeom>
          </p:spPr>
          <p:txBody>
            <a:bodyPr anchor="ctr" rtlCol="false" tIns="0" lIns="0" bIns="0" rIns="0"/>
            <a:lstStyle/>
            <a:p>
              <a:pPr algn="ctr">
                <a:lnSpc>
                  <a:spcPts val="2161"/>
                </a:lnSpc>
              </a:pPr>
              <a:r>
                <a:rPr lang="en-US" sz="1801">
                  <a:solidFill>
                    <a:srgbClr val="64748B"/>
                  </a:solidFill>
                  <a:latin typeface="Poppins"/>
                  <a:ea typeface="Poppins"/>
                  <a:cs typeface="Poppins"/>
                  <a:sym typeface="Poppins"/>
                </a:rPr>
                <a:t>4. JUDGE BY USEFULNESS</a:t>
              </a:r>
            </a:p>
          </p:txBody>
        </p:sp>
      </p:grpSp>
      <p:grpSp>
        <p:nvGrpSpPr>
          <p:cNvPr name="Group 31" id="31"/>
          <p:cNvGrpSpPr/>
          <p:nvPr/>
        </p:nvGrpSpPr>
        <p:grpSpPr>
          <a:xfrm rot="0">
            <a:off x="847725" y="3649142"/>
            <a:ext cx="9196902" cy="4667088"/>
            <a:chOff x="0" y="0"/>
            <a:chExt cx="12262536" cy="6222784"/>
          </a:xfrm>
        </p:grpSpPr>
        <p:sp>
          <p:nvSpPr>
            <p:cNvPr name="Freeform 32" id="32"/>
            <p:cNvSpPr/>
            <p:nvPr/>
          </p:nvSpPr>
          <p:spPr>
            <a:xfrm flipH="false" flipV="false" rot="0">
              <a:off x="0" y="0"/>
              <a:ext cx="12262485" cy="6222746"/>
            </a:xfrm>
            <a:custGeom>
              <a:avLst/>
              <a:gdLst/>
              <a:ahLst/>
              <a:cxnLst/>
              <a:rect r="r" b="b" t="t" l="l"/>
              <a:pathLst>
                <a:path h="6222746" w="12262485">
                  <a:moveTo>
                    <a:pt x="0" y="164719"/>
                  </a:moveTo>
                  <a:cubicBezTo>
                    <a:pt x="0" y="73787"/>
                    <a:pt x="73787" y="0"/>
                    <a:pt x="164719" y="0"/>
                  </a:cubicBezTo>
                  <a:lnTo>
                    <a:pt x="12097766" y="0"/>
                  </a:lnTo>
                  <a:cubicBezTo>
                    <a:pt x="12188698" y="0"/>
                    <a:pt x="12262485" y="73787"/>
                    <a:pt x="12262485" y="164719"/>
                  </a:cubicBezTo>
                  <a:lnTo>
                    <a:pt x="12262485" y="6058027"/>
                  </a:lnTo>
                  <a:cubicBezTo>
                    <a:pt x="12262485" y="6148959"/>
                    <a:pt x="12188698" y="6222746"/>
                    <a:pt x="12097766" y="6222746"/>
                  </a:cubicBezTo>
                  <a:lnTo>
                    <a:pt x="164719" y="6222746"/>
                  </a:lnTo>
                  <a:cubicBezTo>
                    <a:pt x="73787" y="6222746"/>
                    <a:pt x="0" y="6149086"/>
                    <a:pt x="0" y="6058027"/>
                  </a:cubicBezTo>
                  <a:close/>
                </a:path>
              </a:pathLst>
            </a:custGeom>
            <a:solidFill>
              <a:srgbClr val="FFFFFF"/>
            </a:solidFill>
          </p:spPr>
        </p:sp>
      </p:grpSp>
      <p:sp>
        <p:nvSpPr>
          <p:cNvPr name="TextBox 33" id="33"/>
          <p:cNvSpPr txBox="true"/>
          <p:nvPr/>
        </p:nvSpPr>
        <p:spPr>
          <a:xfrm rot="0">
            <a:off x="1122264" y="3818896"/>
            <a:ext cx="8647833" cy="4360059"/>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SwiftRoute's Q3 file has 1,193 distinct customers placing 3,600 orders, averaging 3.0 orders each. But that average hides real structure: 214 customers ordered exactly once, most customers cluster around 2 to 4 orders, and a small handful, including one customer on 12 orders, are far more frequent than the rest. That is clustering by eye: three natural groups, one-time, occasional and frequent, found with nothing more than counting and looking.</a:t>
            </a:r>
          </a:p>
        </p:txBody>
      </p:sp>
      <p:grpSp>
        <p:nvGrpSpPr>
          <p:cNvPr name="Group 34" id="34"/>
          <p:cNvGrpSpPr/>
          <p:nvPr/>
        </p:nvGrpSpPr>
        <p:grpSpPr>
          <a:xfrm rot="0">
            <a:off x="10319166" y="3649142"/>
            <a:ext cx="6177029" cy="4667088"/>
            <a:chOff x="0" y="0"/>
            <a:chExt cx="8236039" cy="6222784"/>
          </a:xfrm>
        </p:grpSpPr>
        <p:sp>
          <p:nvSpPr>
            <p:cNvPr name="Freeform 35" id="35"/>
            <p:cNvSpPr/>
            <p:nvPr/>
          </p:nvSpPr>
          <p:spPr>
            <a:xfrm flipH="false" flipV="false" rot="0">
              <a:off x="0" y="0"/>
              <a:ext cx="8236076" cy="6222746"/>
            </a:xfrm>
            <a:custGeom>
              <a:avLst/>
              <a:gdLst/>
              <a:ahLst/>
              <a:cxnLst/>
              <a:rect r="r" b="b" t="t" l="l"/>
              <a:pathLst>
                <a:path h="6222746" w="8236076">
                  <a:moveTo>
                    <a:pt x="0" y="164719"/>
                  </a:moveTo>
                  <a:cubicBezTo>
                    <a:pt x="0" y="73787"/>
                    <a:pt x="73787" y="0"/>
                    <a:pt x="164719" y="0"/>
                  </a:cubicBezTo>
                  <a:lnTo>
                    <a:pt x="8071358" y="0"/>
                  </a:lnTo>
                  <a:cubicBezTo>
                    <a:pt x="8162289" y="0"/>
                    <a:pt x="8236076" y="73787"/>
                    <a:pt x="8236076" y="164719"/>
                  </a:cubicBezTo>
                  <a:lnTo>
                    <a:pt x="8236076" y="6058027"/>
                  </a:lnTo>
                  <a:cubicBezTo>
                    <a:pt x="8236076" y="6148959"/>
                    <a:pt x="8162289" y="6222746"/>
                    <a:pt x="8071358" y="6222746"/>
                  </a:cubicBezTo>
                  <a:lnTo>
                    <a:pt x="164719" y="6222746"/>
                  </a:lnTo>
                  <a:cubicBezTo>
                    <a:pt x="73787" y="6222746"/>
                    <a:pt x="0" y="6149086"/>
                    <a:pt x="0" y="6058027"/>
                  </a:cubicBezTo>
                  <a:close/>
                </a:path>
              </a:pathLst>
            </a:custGeom>
            <a:solidFill>
              <a:srgbClr val="F4F7F7"/>
            </a:solidFill>
          </p:spPr>
        </p:sp>
      </p:grpSp>
      <p:grpSp>
        <p:nvGrpSpPr>
          <p:cNvPr name="Group 36" id="36"/>
          <p:cNvGrpSpPr/>
          <p:nvPr/>
        </p:nvGrpSpPr>
        <p:grpSpPr>
          <a:xfrm rot="0">
            <a:off x="10319166" y="3649142"/>
            <a:ext cx="123539" cy="4667088"/>
            <a:chOff x="0" y="0"/>
            <a:chExt cx="164719" cy="6222784"/>
          </a:xfrm>
        </p:grpSpPr>
        <p:sp>
          <p:nvSpPr>
            <p:cNvPr name="Freeform 37" id="37"/>
            <p:cNvSpPr/>
            <p:nvPr/>
          </p:nvSpPr>
          <p:spPr>
            <a:xfrm flipH="false" flipV="false" rot="0">
              <a:off x="0" y="0"/>
              <a:ext cx="164719" cy="6222746"/>
            </a:xfrm>
            <a:custGeom>
              <a:avLst/>
              <a:gdLst/>
              <a:ahLst/>
              <a:cxnLst/>
              <a:rect r="r" b="b" t="t" l="l"/>
              <a:pathLst>
                <a:path h="6222746" w="164719">
                  <a:moveTo>
                    <a:pt x="0" y="0"/>
                  </a:moveTo>
                  <a:lnTo>
                    <a:pt x="164719" y="0"/>
                  </a:lnTo>
                  <a:lnTo>
                    <a:pt x="164719" y="6222746"/>
                  </a:lnTo>
                  <a:lnTo>
                    <a:pt x="0" y="6222746"/>
                  </a:lnTo>
                  <a:close/>
                </a:path>
              </a:pathLst>
            </a:custGeom>
            <a:solidFill>
              <a:srgbClr val="387F7F"/>
            </a:solidFill>
          </p:spPr>
        </p:sp>
      </p:grpSp>
      <p:sp>
        <p:nvSpPr>
          <p:cNvPr name="TextBox 38" id="38"/>
          <p:cNvSpPr txBox="true"/>
          <p:nvPr/>
        </p:nvSpPr>
        <p:spPr>
          <a:xfrm rot="0">
            <a:off x="10730970" y="3837946"/>
            <a:ext cx="5490686" cy="497529"/>
          </a:xfrm>
          <a:prstGeom prst="rect">
            <a:avLst/>
          </a:prstGeom>
        </p:spPr>
        <p:txBody>
          <a:bodyPr anchor="t" rtlCol="false" tIns="0" lIns="0" bIns="0" rIns="0">
            <a:spAutoFit/>
          </a:bodyPr>
          <a:lstStyle/>
          <a:p>
            <a:pPr algn="l">
              <a:lnSpc>
                <a:spcPts val="3044"/>
              </a:lnSpc>
            </a:pPr>
            <a:r>
              <a:rPr lang="en-US" sz="1951" b="true">
                <a:solidFill>
                  <a:srgbClr val="387F7F"/>
                </a:solidFill>
                <a:latin typeface="Poppins Bold"/>
                <a:ea typeface="Poppins Bold"/>
                <a:cs typeface="Poppins Bold"/>
                <a:sym typeface="Poppins Bold"/>
              </a:rPr>
              <a:t>WORTH NOTICING</a:t>
            </a:r>
          </a:p>
        </p:txBody>
      </p:sp>
      <p:sp>
        <p:nvSpPr>
          <p:cNvPr name="TextBox 39" id="39"/>
          <p:cNvSpPr txBox="true"/>
          <p:nvPr/>
        </p:nvSpPr>
        <p:spPr>
          <a:xfrm rot="0">
            <a:off x="10730970" y="4367965"/>
            <a:ext cx="5490686" cy="3673726"/>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No model was built here. A proper clustering tool would find groups like this automatically, and could use more variables at once, but the underlying idea, natural groups with no predefined labels, is exactly the same.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301840" cy="10295039"/>
            <a:chOff x="0" y="0"/>
            <a:chExt cx="24402453" cy="13726719"/>
          </a:xfrm>
        </p:grpSpPr>
        <p:sp>
          <p:nvSpPr>
            <p:cNvPr name="Freeform 4" id="4"/>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20494A"/>
            </a:solidFill>
          </p:spPr>
        </p:sp>
      </p:grpSp>
      <p:grpSp>
        <p:nvGrpSpPr>
          <p:cNvPr name="Group 5" id="5"/>
          <p:cNvGrpSpPr/>
          <p:nvPr/>
        </p:nvGrpSpPr>
        <p:grpSpPr>
          <a:xfrm rot="0">
            <a:off x="851059" y="480431"/>
            <a:ext cx="4392549" cy="2882608"/>
            <a:chOff x="0" y="0"/>
            <a:chExt cx="5856732" cy="3843477"/>
          </a:xfrm>
        </p:grpSpPr>
        <p:sp>
          <p:nvSpPr>
            <p:cNvPr name="Freeform 6" id="6"/>
            <p:cNvSpPr/>
            <p:nvPr/>
          </p:nvSpPr>
          <p:spPr>
            <a:xfrm flipH="false" flipV="false" rot="0">
              <a:off x="0" y="0"/>
              <a:ext cx="5856736" cy="3843483"/>
            </a:xfrm>
            <a:custGeom>
              <a:avLst/>
              <a:gdLst/>
              <a:ahLst/>
              <a:cxnLst/>
              <a:rect r="r" b="b" t="t" l="l"/>
              <a:pathLst>
                <a:path h="3843483" w="5856736">
                  <a:moveTo>
                    <a:pt x="0" y="0"/>
                  </a:moveTo>
                  <a:lnTo>
                    <a:pt x="5856736" y="0"/>
                  </a:lnTo>
                  <a:lnTo>
                    <a:pt x="5856736" y="3843483"/>
                  </a:lnTo>
                  <a:lnTo>
                    <a:pt x="0" y="3843483"/>
                  </a:lnTo>
                  <a:close/>
                </a:path>
              </a:pathLst>
            </a:custGeom>
            <a:blipFill>
              <a:blip r:embed="rId4">
                <a:alphaModFix amt="0"/>
              </a:blip>
              <a:stretch>
                <a:fillRect l="-34199" t="0" r="-34199" b="0"/>
              </a:stretch>
            </a:blipFill>
          </p:spPr>
        </p:sp>
        <p:sp>
          <p:nvSpPr>
            <p:cNvPr name="TextBox 7" id="7"/>
            <p:cNvSpPr txBox="true"/>
            <p:nvPr/>
          </p:nvSpPr>
          <p:spPr>
            <a:xfrm>
              <a:off x="0" y="-190500"/>
              <a:ext cx="5856732" cy="4033977"/>
            </a:xfrm>
            <a:prstGeom prst="rect">
              <a:avLst/>
            </a:prstGeom>
          </p:spPr>
          <p:txBody>
            <a:bodyPr anchor="ctr" rtlCol="false" tIns="0" lIns="0" bIns="0" rIns="0"/>
            <a:lstStyle/>
            <a:p>
              <a:pPr algn="l">
                <a:lnSpc>
                  <a:spcPts val="23418"/>
                </a:lnSpc>
              </a:pPr>
              <a:r>
                <a:rPr lang="en-US" sz="19515" b="true">
                  <a:solidFill>
                    <a:srgbClr val="2F6364"/>
                  </a:solidFill>
                  <a:latin typeface="Poppins Bold"/>
                  <a:ea typeface="Poppins Bold"/>
                  <a:cs typeface="Poppins Bold"/>
                  <a:sym typeface="Poppins Bold"/>
                </a:rPr>
                <a:t>03</a:t>
              </a:r>
            </a:p>
          </p:txBody>
        </p:sp>
      </p:grpSp>
      <p:grpSp>
        <p:nvGrpSpPr>
          <p:cNvPr name="Group 8" id="8"/>
          <p:cNvGrpSpPr/>
          <p:nvPr/>
        </p:nvGrpSpPr>
        <p:grpSpPr>
          <a:xfrm rot="0">
            <a:off x="1070686" y="3733667"/>
            <a:ext cx="10157774" cy="466706"/>
            <a:chOff x="0" y="0"/>
            <a:chExt cx="13543699" cy="622275"/>
          </a:xfrm>
        </p:grpSpPr>
        <p:sp>
          <p:nvSpPr>
            <p:cNvPr name="Freeform 9" id="9"/>
            <p:cNvSpPr/>
            <p:nvPr/>
          </p:nvSpPr>
          <p:spPr>
            <a:xfrm flipH="false" flipV="false" rot="0">
              <a:off x="0" y="0"/>
              <a:ext cx="13543700" cy="622278"/>
            </a:xfrm>
            <a:custGeom>
              <a:avLst/>
              <a:gdLst/>
              <a:ahLst/>
              <a:cxnLst/>
              <a:rect r="r" b="b" t="t" l="l"/>
              <a:pathLst>
                <a:path h="622278" w="13543700">
                  <a:moveTo>
                    <a:pt x="0" y="0"/>
                  </a:moveTo>
                  <a:lnTo>
                    <a:pt x="13543700" y="0"/>
                  </a:lnTo>
                  <a:lnTo>
                    <a:pt x="13543700" y="622278"/>
                  </a:lnTo>
                  <a:lnTo>
                    <a:pt x="0" y="622278"/>
                  </a:lnTo>
                  <a:close/>
                </a:path>
              </a:pathLst>
            </a:custGeom>
            <a:blipFill>
              <a:blip r:embed="rId4">
                <a:alphaModFix amt="0"/>
              </a:blip>
              <a:stretch>
                <a:fillRect l="0" t="-374086" r="0" b="-374085"/>
              </a:stretch>
            </a:blipFill>
          </p:spPr>
        </p:sp>
        <p:sp>
          <p:nvSpPr>
            <p:cNvPr name="TextBox 10" id="10"/>
            <p:cNvSpPr txBox="true"/>
            <p:nvPr/>
          </p:nvSpPr>
          <p:spPr>
            <a:xfrm>
              <a:off x="0" y="-19050"/>
              <a:ext cx="13543699" cy="641325"/>
            </a:xfrm>
            <a:prstGeom prst="rect">
              <a:avLst/>
            </a:prstGeom>
          </p:spPr>
          <p:txBody>
            <a:bodyPr anchor="ctr" rtlCol="false" tIns="0" lIns="0" bIns="0" rIns="0"/>
            <a:lstStyle/>
            <a:p>
              <a:pPr algn="l">
                <a:lnSpc>
                  <a:spcPts val="2341"/>
                </a:lnSpc>
              </a:pPr>
              <a:r>
                <a:rPr lang="en-US" b="true" sz="1951" spc="375">
                  <a:solidFill>
                    <a:srgbClr val="8FBEBE"/>
                  </a:solidFill>
                  <a:latin typeface="Poppins Bold"/>
                  <a:ea typeface="Poppins Bold"/>
                  <a:cs typeface="Poppins Bold"/>
                  <a:sym typeface="Poppins Bold"/>
                </a:rPr>
                <a:t>PART THREE</a:t>
              </a:r>
            </a:p>
          </p:txBody>
        </p:sp>
      </p:grpSp>
      <p:grpSp>
        <p:nvGrpSpPr>
          <p:cNvPr name="Group 11" id="11"/>
          <p:cNvGrpSpPr/>
          <p:nvPr/>
        </p:nvGrpSpPr>
        <p:grpSpPr>
          <a:xfrm rot="0">
            <a:off x="1070686" y="4365098"/>
            <a:ext cx="1853108" cy="116681"/>
            <a:chOff x="0" y="0"/>
            <a:chExt cx="2470810" cy="155575"/>
          </a:xfrm>
        </p:grpSpPr>
        <p:sp>
          <p:nvSpPr>
            <p:cNvPr name="Freeform 12" id="12"/>
            <p:cNvSpPr/>
            <p:nvPr/>
          </p:nvSpPr>
          <p:spPr>
            <a:xfrm flipH="false" flipV="false" rot="0">
              <a:off x="0" y="0"/>
              <a:ext cx="2470785" cy="155575"/>
            </a:xfrm>
            <a:custGeom>
              <a:avLst/>
              <a:gdLst/>
              <a:ahLst/>
              <a:cxnLst/>
              <a:rect r="r" b="b" t="t" l="l"/>
              <a:pathLst>
                <a:path h="155575" w="2470785">
                  <a:moveTo>
                    <a:pt x="0" y="0"/>
                  </a:moveTo>
                  <a:lnTo>
                    <a:pt x="2470785" y="0"/>
                  </a:lnTo>
                  <a:lnTo>
                    <a:pt x="2470785" y="155575"/>
                  </a:lnTo>
                  <a:lnTo>
                    <a:pt x="0" y="155575"/>
                  </a:lnTo>
                  <a:close/>
                </a:path>
              </a:pathLst>
            </a:custGeom>
            <a:solidFill>
              <a:srgbClr val="387F7F"/>
            </a:solidFill>
          </p:spPr>
        </p:sp>
      </p:grpSp>
      <p:grpSp>
        <p:nvGrpSpPr>
          <p:cNvPr name="Group 13" id="13"/>
          <p:cNvGrpSpPr/>
          <p:nvPr/>
        </p:nvGrpSpPr>
        <p:grpSpPr>
          <a:xfrm rot="0">
            <a:off x="1070686" y="4735716"/>
            <a:ext cx="11118647" cy="2196274"/>
            <a:chOff x="0" y="0"/>
            <a:chExt cx="14824862" cy="2928366"/>
          </a:xfrm>
        </p:grpSpPr>
        <p:sp>
          <p:nvSpPr>
            <p:cNvPr name="Freeform 14" id="14"/>
            <p:cNvSpPr/>
            <p:nvPr/>
          </p:nvSpPr>
          <p:spPr>
            <a:xfrm flipH="false" flipV="false" rot="0">
              <a:off x="0" y="0"/>
              <a:ext cx="14824863" cy="2928368"/>
            </a:xfrm>
            <a:custGeom>
              <a:avLst/>
              <a:gdLst/>
              <a:ahLst/>
              <a:cxnLst/>
              <a:rect r="r" b="b" t="t" l="l"/>
              <a:pathLst>
                <a:path h="2928368" w="14824863">
                  <a:moveTo>
                    <a:pt x="0" y="0"/>
                  </a:moveTo>
                  <a:lnTo>
                    <a:pt x="14824863" y="0"/>
                  </a:lnTo>
                  <a:lnTo>
                    <a:pt x="14824863" y="2928368"/>
                  </a:lnTo>
                  <a:lnTo>
                    <a:pt x="0" y="2928368"/>
                  </a:lnTo>
                  <a:close/>
                </a:path>
              </a:pathLst>
            </a:custGeom>
            <a:blipFill>
              <a:blip r:embed="rId4">
                <a:alphaModFix amt="0"/>
              </a:blip>
              <a:stretch>
                <a:fillRect l="0" t="-48643" r="0" b="-48642"/>
              </a:stretch>
            </a:blipFill>
          </p:spPr>
        </p:sp>
        <p:sp>
          <p:nvSpPr>
            <p:cNvPr name="TextBox 15" id="15"/>
            <p:cNvSpPr txBox="true"/>
            <p:nvPr/>
          </p:nvSpPr>
          <p:spPr>
            <a:xfrm>
              <a:off x="0" y="-114300"/>
              <a:ext cx="14824862" cy="3042666"/>
            </a:xfrm>
            <a:prstGeom prst="rect">
              <a:avLst/>
            </a:prstGeom>
          </p:spPr>
          <p:txBody>
            <a:bodyPr anchor="ctr" rtlCol="false" tIns="0" lIns="0" bIns="0" rIns="0"/>
            <a:lstStyle/>
            <a:p>
              <a:pPr algn="l">
                <a:lnSpc>
                  <a:spcPts val="7003"/>
                </a:lnSpc>
              </a:pPr>
              <a:r>
                <a:rPr lang="en-US" sz="5404" b="true">
                  <a:solidFill>
                    <a:srgbClr val="FFFFFF"/>
                  </a:solidFill>
                  <a:latin typeface="Poppins Bold"/>
                  <a:ea typeface="Poppins Bold"/>
                  <a:cs typeface="Poppins Bold"/>
                  <a:sym typeface="Poppins Bold"/>
                </a:rPr>
                <a:t>Where the analyst's job ends</a:t>
              </a:r>
            </a:p>
          </p:txBody>
        </p:sp>
      </p:grpSp>
      <p:grpSp>
        <p:nvGrpSpPr>
          <p:cNvPr name="Group 16" id="16"/>
          <p:cNvGrpSpPr/>
          <p:nvPr/>
        </p:nvGrpSpPr>
        <p:grpSpPr>
          <a:xfrm rot="0">
            <a:off x="1125588" y="7405564"/>
            <a:ext cx="219627" cy="219627"/>
            <a:chOff x="0" y="0"/>
            <a:chExt cx="292837" cy="292837"/>
          </a:xfrm>
        </p:grpSpPr>
        <p:sp>
          <p:nvSpPr>
            <p:cNvPr name="Freeform 17" id="1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18" id="18"/>
          <p:cNvGrpSpPr/>
          <p:nvPr/>
        </p:nvGrpSpPr>
        <p:grpSpPr>
          <a:xfrm rot="0">
            <a:off x="1647206" y="7288892"/>
            <a:ext cx="9883245" cy="466706"/>
            <a:chOff x="0" y="0"/>
            <a:chExt cx="13177660" cy="622275"/>
          </a:xfrm>
        </p:grpSpPr>
        <p:sp>
          <p:nvSpPr>
            <p:cNvPr name="Freeform 19" id="1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0" id="2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What an analyst can do with this literacy, without building a model</a:t>
              </a:r>
            </a:p>
          </p:txBody>
        </p:sp>
      </p:grpSp>
      <p:grpSp>
        <p:nvGrpSpPr>
          <p:cNvPr name="Group 21" id="21"/>
          <p:cNvGrpSpPr/>
          <p:nvPr/>
        </p:nvGrpSpPr>
        <p:grpSpPr>
          <a:xfrm rot="0">
            <a:off x="1125588" y="7982093"/>
            <a:ext cx="219627" cy="219627"/>
            <a:chOff x="0" y="0"/>
            <a:chExt cx="292837" cy="292837"/>
          </a:xfrm>
        </p:grpSpPr>
        <p:sp>
          <p:nvSpPr>
            <p:cNvPr name="Freeform 22" id="2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3" id="23"/>
          <p:cNvGrpSpPr/>
          <p:nvPr/>
        </p:nvGrpSpPr>
        <p:grpSpPr>
          <a:xfrm rot="0">
            <a:off x="1647206" y="7865412"/>
            <a:ext cx="9883245" cy="466706"/>
            <a:chOff x="0" y="0"/>
            <a:chExt cx="13177660" cy="622275"/>
          </a:xfrm>
        </p:grpSpPr>
        <p:sp>
          <p:nvSpPr>
            <p:cNvPr name="Freeform 24" id="24"/>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25" id="25"/>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What genuinely needs a data scientist, and how to ask for it</a:t>
              </a:r>
            </a:p>
          </p:txBody>
        </p:sp>
      </p:grpSp>
      <p:grpSp>
        <p:nvGrpSpPr>
          <p:cNvPr name="Group 26" id="26"/>
          <p:cNvGrpSpPr/>
          <p:nvPr/>
        </p:nvGrpSpPr>
        <p:grpSpPr>
          <a:xfrm rot="0">
            <a:off x="1125588" y="8558613"/>
            <a:ext cx="219627" cy="219627"/>
            <a:chOff x="0" y="0"/>
            <a:chExt cx="292837" cy="292837"/>
          </a:xfrm>
        </p:grpSpPr>
        <p:sp>
          <p:nvSpPr>
            <p:cNvPr name="Freeform 27" id="27"/>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387F7F"/>
            </a:solidFill>
          </p:spPr>
        </p:sp>
      </p:grpSp>
      <p:grpSp>
        <p:nvGrpSpPr>
          <p:cNvPr name="Group 28" id="28"/>
          <p:cNvGrpSpPr/>
          <p:nvPr/>
        </p:nvGrpSpPr>
        <p:grpSpPr>
          <a:xfrm rot="0">
            <a:off x="1647206" y="8441931"/>
            <a:ext cx="9883245" cy="466706"/>
            <a:chOff x="0" y="0"/>
            <a:chExt cx="13177660" cy="622275"/>
          </a:xfrm>
        </p:grpSpPr>
        <p:sp>
          <p:nvSpPr>
            <p:cNvPr name="Freeform 29" id="29"/>
            <p:cNvSpPr/>
            <p:nvPr/>
          </p:nvSpPr>
          <p:spPr>
            <a:xfrm flipH="false" flipV="false" rot="0">
              <a:off x="0" y="0"/>
              <a:ext cx="13177655" cy="622278"/>
            </a:xfrm>
            <a:custGeom>
              <a:avLst/>
              <a:gdLst/>
              <a:ahLst/>
              <a:cxnLst/>
              <a:rect r="r" b="b" t="t" l="l"/>
              <a:pathLst>
                <a:path h="622278" w="13177655">
                  <a:moveTo>
                    <a:pt x="0" y="0"/>
                  </a:moveTo>
                  <a:lnTo>
                    <a:pt x="13177655" y="0"/>
                  </a:lnTo>
                  <a:lnTo>
                    <a:pt x="13177655" y="622278"/>
                  </a:lnTo>
                  <a:lnTo>
                    <a:pt x="0" y="622278"/>
                  </a:lnTo>
                  <a:close/>
                </a:path>
              </a:pathLst>
            </a:custGeom>
            <a:blipFill>
              <a:blip r:embed="rId4">
                <a:alphaModFix amt="0"/>
              </a:blip>
              <a:stretch>
                <a:fillRect l="0" t="-362624" r="0" b="-362624"/>
              </a:stretch>
            </a:blipFill>
          </p:spPr>
        </p:sp>
        <p:sp>
          <p:nvSpPr>
            <p:cNvPr name="TextBox 30" id="30"/>
            <p:cNvSpPr txBox="true"/>
            <p:nvPr/>
          </p:nvSpPr>
          <p:spPr>
            <a:xfrm>
              <a:off x="0" y="-19050"/>
              <a:ext cx="13177660" cy="641325"/>
            </a:xfrm>
            <a:prstGeom prst="rect">
              <a:avLst/>
            </a:prstGeom>
          </p:spPr>
          <p:txBody>
            <a:bodyPr anchor="ctr" rtlCol="false" tIns="0" lIns="0" bIns="0" rIns="0"/>
            <a:lstStyle/>
            <a:p>
              <a:pPr algn="l">
                <a:lnSpc>
                  <a:spcPts val="2431"/>
                </a:lnSpc>
              </a:pPr>
              <a:r>
                <a:rPr lang="en-US" sz="2026">
                  <a:solidFill>
                    <a:srgbClr val="C3DAD9"/>
                  </a:solidFill>
                  <a:latin typeface="Poppins"/>
                  <a:ea typeface="Poppins"/>
                  <a:cs typeface="Poppins"/>
                  <a:sym typeface="Poppins"/>
                </a:rPr>
                <a:t>Your turn: sort SwiftRoute's real requests into the three buckets</a:t>
              </a:r>
            </a:p>
          </p:txBody>
        </p:sp>
      </p:grpSp>
      <p:grpSp>
        <p:nvGrpSpPr>
          <p:cNvPr name="Group 31" id="31"/>
          <p:cNvGrpSpPr/>
          <p:nvPr/>
        </p:nvGrpSpPr>
        <p:grpSpPr>
          <a:xfrm rot="0">
            <a:off x="17546869" y="9718519"/>
            <a:ext cx="549069" cy="411804"/>
            <a:chOff x="0" y="0"/>
            <a:chExt cx="732092" cy="549072"/>
          </a:xfrm>
        </p:grpSpPr>
        <p:sp>
          <p:nvSpPr>
            <p:cNvPr name="Freeform 32" id="32"/>
            <p:cNvSpPr/>
            <p:nvPr/>
          </p:nvSpPr>
          <p:spPr>
            <a:xfrm flipH="false" flipV="false" rot="0">
              <a:off x="0" y="0"/>
              <a:ext cx="732092" cy="549069"/>
            </a:xfrm>
            <a:custGeom>
              <a:avLst/>
              <a:gdLst/>
              <a:ahLst/>
              <a:cxnLst/>
              <a:rect r="r" b="b" t="t" l="l"/>
              <a:pathLst>
                <a:path h="549069" w="732092">
                  <a:moveTo>
                    <a:pt x="0" y="0"/>
                  </a:moveTo>
                  <a:lnTo>
                    <a:pt x="732092" y="0"/>
                  </a:lnTo>
                  <a:lnTo>
                    <a:pt x="732092" y="549069"/>
                  </a:lnTo>
                  <a:lnTo>
                    <a:pt x="0" y="549069"/>
                  </a:lnTo>
                  <a:close/>
                </a:path>
              </a:pathLst>
            </a:custGeom>
            <a:blipFill>
              <a:blip r:embed="rId4">
                <a:alphaModFix amt="0"/>
              </a:blip>
              <a:stretch>
                <a:fillRect l="-46228" t="0" r="-46228" b="0"/>
              </a:stretch>
            </a:blipFill>
          </p:spPr>
        </p:sp>
        <p:sp>
          <p:nvSpPr>
            <p:cNvPr name="TextBox 33" id="33"/>
            <p:cNvSpPr txBox="true"/>
            <p:nvPr/>
          </p:nvSpPr>
          <p:spPr>
            <a:xfrm>
              <a:off x="0" y="-9525"/>
              <a:ext cx="732092" cy="558597"/>
            </a:xfrm>
            <a:prstGeom prst="rect">
              <a:avLst/>
            </a:prstGeom>
          </p:spPr>
          <p:txBody>
            <a:bodyPr anchor="ctr" rtlCol="false" tIns="0" lIns="0" bIns="0" rIns="0"/>
            <a:lstStyle/>
            <a:p>
              <a:pPr algn="r">
                <a:lnSpc>
                  <a:spcPts val="1981"/>
                </a:lnSpc>
              </a:pPr>
              <a:r>
                <a:rPr lang="en-US" sz="1651">
                  <a:solidFill>
                    <a:srgbClr val="7FA3A3"/>
                  </a:solidFill>
                  <a:latin typeface="Poppins"/>
                  <a:ea typeface="Poppins"/>
                  <a:cs typeface="Poppins"/>
                  <a:sym typeface="Poppins"/>
                </a:rPr>
                <a:t>11</a:t>
              </a:r>
            </a:p>
          </p:txBody>
        </p:sp>
      </p:grpSp>
      <p:sp>
        <p:nvSpPr>
          <p:cNvPr name="Freeform 34" id="3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678436" cy="1419225"/>
          </a:xfrm>
          <a:prstGeom prst="rect">
            <a:avLst/>
          </a:prstGeom>
        </p:spPr>
        <p:txBody>
          <a:bodyPr anchor="t" rtlCol="false" tIns="0" lIns="0" bIns="0" rIns="0">
            <a:spAutoFit/>
          </a:bodyPr>
          <a:lstStyle/>
          <a:p>
            <a:pPr algn="l">
              <a:lnSpc>
                <a:spcPts val="5400"/>
              </a:lnSpc>
            </a:pPr>
            <a:r>
              <a:rPr lang="en-US" sz="4500">
                <a:solidFill>
                  <a:srgbClr val="388080"/>
                </a:solidFill>
                <a:latin typeface="Poppins"/>
                <a:ea typeface="Poppins"/>
                <a:cs typeface="Poppins"/>
                <a:sym typeface="Poppins"/>
              </a:rPr>
              <a:t>An analyst describ</a:t>
            </a:r>
            <a:r>
              <a:rPr lang="en-US" sz="4500">
                <a:solidFill>
                  <a:srgbClr val="388080"/>
                </a:solidFill>
                <a:latin typeface="Poppins"/>
                <a:ea typeface="Poppins"/>
                <a:cs typeface="Poppins"/>
                <a:sym typeface="Poppins"/>
              </a:rPr>
              <a:t>es the past. A data scientist predicts the future at scale.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436362"/>
            <a:ext cx="14893500" cy="4598451"/>
            <a:chOff x="0" y="0"/>
            <a:chExt cx="19857999" cy="6131268"/>
          </a:xfrm>
        </p:grpSpPr>
        <p:sp>
          <p:nvSpPr>
            <p:cNvPr name="Freeform 12" id="12"/>
            <p:cNvSpPr/>
            <p:nvPr/>
          </p:nvSpPr>
          <p:spPr>
            <a:xfrm flipH="false" flipV="false" rot="0">
              <a:off x="0" y="0"/>
              <a:ext cx="19857974" cy="6131179"/>
            </a:xfrm>
            <a:custGeom>
              <a:avLst/>
              <a:gdLst/>
              <a:ahLst/>
              <a:cxnLst/>
              <a:rect r="r" b="b" t="t" l="l"/>
              <a:pathLst>
                <a:path h="6131179" w="19857974">
                  <a:moveTo>
                    <a:pt x="0" y="164719"/>
                  </a:moveTo>
                  <a:cubicBezTo>
                    <a:pt x="0" y="73787"/>
                    <a:pt x="73787" y="0"/>
                    <a:pt x="164719" y="0"/>
                  </a:cubicBezTo>
                  <a:lnTo>
                    <a:pt x="19693255" y="0"/>
                  </a:lnTo>
                  <a:cubicBezTo>
                    <a:pt x="19784188" y="0"/>
                    <a:pt x="19857974" y="73787"/>
                    <a:pt x="19857974" y="164719"/>
                  </a:cubicBezTo>
                  <a:lnTo>
                    <a:pt x="19857974" y="5966460"/>
                  </a:lnTo>
                  <a:cubicBezTo>
                    <a:pt x="19857974" y="6057392"/>
                    <a:pt x="19784188" y="6131179"/>
                    <a:pt x="19693255" y="6131179"/>
                  </a:cubicBezTo>
                  <a:lnTo>
                    <a:pt x="164719" y="6131179"/>
                  </a:lnTo>
                  <a:cubicBezTo>
                    <a:pt x="73787" y="6131306"/>
                    <a:pt x="0" y="6057519"/>
                    <a:pt x="0" y="5966460"/>
                  </a:cubicBezTo>
                  <a:close/>
                </a:path>
              </a:pathLst>
            </a:custGeom>
            <a:solidFill>
              <a:srgbClr val="FFFFFF"/>
            </a:solidFill>
          </p:spPr>
        </p:sp>
      </p:grpSp>
      <p:sp>
        <p:nvSpPr>
          <p:cNvPr name="TextBox 13" id="13"/>
          <p:cNvSpPr txBox="true"/>
          <p:nvPr/>
        </p:nvSpPr>
        <p:spPr>
          <a:xfrm rot="0">
            <a:off x="1453944" y="2792968"/>
            <a:ext cx="13795362" cy="3898678"/>
          </a:xfrm>
          <a:prstGeom prst="rect">
            <a:avLst/>
          </a:prstGeom>
        </p:spPr>
        <p:txBody>
          <a:bodyPr anchor="t" rtlCol="false" tIns="0" lIns="0" bIns="0" rIns="0">
            <a:spAutoFit/>
          </a:bodyPr>
          <a:lstStyle/>
          <a:p>
            <a:pPr algn="l">
              <a:lnSpc>
                <a:spcPts val="4215"/>
              </a:lnSpc>
            </a:pPr>
            <a:r>
              <a:rPr lang="en-US" sz="2702">
                <a:solidFill>
                  <a:srgbClr val="475569"/>
                </a:solidFill>
                <a:latin typeface="Poppins"/>
                <a:ea typeface="Poppins"/>
                <a:cs typeface="Poppins"/>
                <a:sym typeface="Poppins"/>
              </a:rPr>
              <a:t>An analyst's core work, cleaning, verifying, summarising and reporting on data that already exists, covers an enormous amount of real business value without ever building a model: Topic 8.1's whole pipeline and Topic 8.2's forecast were both done this way. A data scientist's distinct skill is building, training and validating a model that generalises beyond the historical data it was built from, then maintaining it as new data arrives. The line is not about intelligence or seniority. It is about a specific technical skill set: model-building and validation, which most analyst roles, including this one, are not expected to have.</a:t>
            </a:r>
          </a:p>
        </p:txBody>
      </p:sp>
      <p:grpSp>
        <p:nvGrpSpPr>
          <p:cNvPr name="Group 14" id="14"/>
          <p:cNvGrpSpPr/>
          <p:nvPr/>
        </p:nvGrpSpPr>
        <p:grpSpPr>
          <a:xfrm rot="0">
            <a:off x="904875" y="7377979"/>
            <a:ext cx="14893500" cy="1372676"/>
            <a:chOff x="0" y="0"/>
            <a:chExt cx="19857999" cy="1830235"/>
          </a:xfrm>
        </p:grpSpPr>
        <p:sp>
          <p:nvSpPr>
            <p:cNvPr name="Freeform 15" id="15"/>
            <p:cNvSpPr/>
            <p:nvPr/>
          </p:nvSpPr>
          <p:spPr>
            <a:xfrm flipH="false" flipV="false" rot="0">
              <a:off x="0" y="0"/>
              <a:ext cx="19857974" cy="1830197"/>
            </a:xfrm>
            <a:custGeom>
              <a:avLst/>
              <a:gdLst/>
              <a:ahLst/>
              <a:cxnLst/>
              <a:rect r="r" b="b" t="t" l="l"/>
              <a:pathLst>
                <a:path h="1830197" w="19857974">
                  <a:moveTo>
                    <a:pt x="0" y="164719"/>
                  </a:moveTo>
                  <a:cubicBezTo>
                    <a:pt x="0" y="73787"/>
                    <a:pt x="73787" y="0"/>
                    <a:pt x="164719" y="0"/>
                  </a:cubicBezTo>
                  <a:lnTo>
                    <a:pt x="19693255" y="0"/>
                  </a:lnTo>
                  <a:cubicBezTo>
                    <a:pt x="19784188" y="0"/>
                    <a:pt x="19857974" y="73787"/>
                    <a:pt x="19857974" y="164719"/>
                  </a:cubicBezTo>
                  <a:lnTo>
                    <a:pt x="19857974" y="1665478"/>
                  </a:lnTo>
                  <a:cubicBezTo>
                    <a:pt x="19857974" y="1756410"/>
                    <a:pt x="19784188" y="1830197"/>
                    <a:pt x="19693255" y="1830197"/>
                  </a:cubicBezTo>
                  <a:lnTo>
                    <a:pt x="164719" y="1830197"/>
                  </a:lnTo>
                  <a:cubicBezTo>
                    <a:pt x="73787" y="1830197"/>
                    <a:pt x="0" y="1756537"/>
                    <a:pt x="0" y="1665478"/>
                  </a:cubicBezTo>
                  <a:close/>
                </a:path>
              </a:pathLst>
            </a:custGeom>
            <a:solidFill>
              <a:srgbClr val="F4F7F7"/>
            </a:solidFill>
          </p:spPr>
        </p:sp>
      </p:grpSp>
      <p:grpSp>
        <p:nvGrpSpPr>
          <p:cNvPr name="Group 16" id="16"/>
          <p:cNvGrpSpPr/>
          <p:nvPr/>
        </p:nvGrpSpPr>
        <p:grpSpPr>
          <a:xfrm rot="0">
            <a:off x="904875" y="7377979"/>
            <a:ext cx="82363" cy="1372676"/>
            <a:chOff x="0" y="0"/>
            <a:chExt cx="109817" cy="1830235"/>
          </a:xfrm>
        </p:grpSpPr>
        <p:sp>
          <p:nvSpPr>
            <p:cNvPr name="Freeform 17" id="17"/>
            <p:cNvSpPr/>
            <p:nvPr/>
          </p:nvSpPr>
          <p:spPr>
            <a:xfrm flipH="false" flipV="false" rot="0">
              <a:off x="0" y="0"/>
              <a:ext cx="109855" cy="1830197"/>
            </a:xfrm>
            <a:custGeom>
              <a:avLst/>
              <a:gdLst/>
              <a:ahLst/>
              <a:cxnLst/>
              <a:rect r="r" b="b" t="t" l="l"/>
              <a:pathLst>
                <a:path h="1830197" w="109855">
                  <a:moveTo>
                    <a:pt x="0" y="0"/>
                  </a:moveTo>
                  <a:lnTo>
                    <a:pt x="109855" y="0"/>
                  </a:lnTo>
                  <a:lnTo>
                    <a:pt x="109855" y="1830197"/>
                  </a:lnTo>
                  <a:lnTo>
                    <a:pt x="0" y="1830197"/>
                  </a:lnTo>
                  <a:close/>
                </a:path>
              </a:pathLst>
            </a:custGeom>
            <a:solidFill>
              <a:srgbClr val="387F7F"/>
            </a:solidFill>
          </p:spPr>
        </p:sp>
      </p:grpSp>
      <p:grpSp>
        <p:nvGrpSpPr>
          <p:cNvPr name="Group 18" id="18"/>
          <p:cNvGrpSpPr/>
          <p:nvPr/>
        </p:nvGrpSpPr>
        <p:grpSpPr>
          <a:xfrm rot="0">
            <a:off x="1453944" y="7377979"/>
            <a:ext cx="13795362" cy="1372676"/>
            <a:chOff x="0" y="0"/>
            <a:chExt cx="18393816" cy="1830235"/>
          </a:xfrm>
        </p:grpSpPr>
        <p:sp>
          <p:nvSpPr>
            <p:cNvPr name="Freeform 19" id="19"/>
            <p:cNvSpPr/>
            <p:nvPr/>
          </p:nvSpPr>
          <p:spPr>
            <a:xfrm flipH="false" flipV="false" rot="0">
              <a:off x="0" y="0"/>
              <a:ext cx="18393811" cy="1830230"/>
            </a:xfrm>
            <a:custGeom>
              <a:avLst/>
              <a:gdLst/>
              <a:ahLst/>
              <a:cxnLst/>
              <a:rect r="r" b="b" t="t" l="l"/>
              <a:pathLst>
                <a:path h="1830230" w="18393811">
                  <a:moveTo>
                    <a:pt x="0" y="0"/>
                  </a:moveTo>
                  <a:lnTo>
                    <a:pt x="18393811" y="0"/>
                  </a:lnTo>
                  <a:lnTo>
                    <a:pt x="18393811" y="1830230"/>
                  </a:lnTo>
                  <a:lnTo>
                    <a:pt x="0" y="1830230"/>
                  </a:lnTo>
                  <a:close/>
                </a:path>
              </a:pathLst>
            </a:custGeom>
            <a:blipFill>
              <a:blip r:embed="rId9">
                <a:alphaModFix amt="0"/>
              </a:blip>
              <a:stretch>
                <a:fillRect l="0" t="-145824" r="0" b="-145824"/>
              </a:stretch>
            </a:blipFill>
          </p:spPr>
        </p:sp>
        <p:sp>
          <p:nvSpPr>
            <p:cNvPr name="TextBox 20" id="20"/>
            <p:cNvSpPr txBox="true"/>
            <p:nvPr/>
          </p:nvSpPr>
          <p:spPr>
            <a:xfrm>
              <a:off x="0" y="-104775"/>
              <a:ext cx="18393816" cy="1935010"/>
            </a:xfrm>
            <a:prstGeom prst="rect">
              <a:avLst/>
            </a:prstGeom>
          </p:spPr>
          <p:txBody>
            <a:bodyPr anchor="ctr" rtlCol="false" tIns="0" lIns="0" bIns="0" rIns="0"/>
            <a:lstStyle/>
            <a:p>
              <a:pPr algn="l">
                <a:lnSpc>
                  <a:spcPts val="3746"/>
                </a:lnSpc>
              </a:pPr>
              <a:r>
                <a:rPr lang="en-US" sz="2401" b="true">
                  <a:solidFill>
                    <a:srgbClr val="387F7F"/>
                  </a:solidFill>
                  <a:latin typeface="Poppins Bold"/>
                  <a:ea typeface="Poppins Bold"/>
                  <a:cs typeface="Poppins Bold"/>
                  <a:sym typeface="Poppins Bold"/>
                </a:rPr>
                <a:t>"I can tell you what happened, and forecast a simple trend by hand. Building a model that predicts new cases needs a data scientist." is a complete, honest sentence.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947172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Sort Swift</a:t>
            </a:r>
            <a:r>
              <a:rPr lang="en-US" sz="5000">
                <a:solidFill>
                  <a:srgbClr val="388080"/>
                </a:solidFill>
                <a:latin typeface="Poppins"/>
                <a:ea typeface="Poppins"/>
                <a:cs typeface="Poppins"/>
                <a:sym typeface="Poppins"/>
              </a:rPr>
              <a:t>Route's real requests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9500" y="2333539"/>
            <a:ext cx="15648470" cy="2333539"/>
            <a:chOff x="0" y="0"/>
            <a:chExt cx="20864627" cy="3111386"/>
          </a:xfrm>
        </p:grpSpPr>
        <p:sp>
          <p:nvSpPr>
            <p:cNvPr name="Freeform 12" id="12"/>
            <p:cNvSpPr/>
            <p:nvPr/>
          </p:nvSpPr>
          <p:spPr>
            <a:xfrm flipH="false" flipV="false" rot="0">
              <a:off x="0" y="0"/>
              <a:ext cx="20864576" cy="3111373"/>
            </a:xfrm>
            <a:custGeom>
              <a:avLst/>
              <a:gdLst/>
              <a:ahLst/>
              <a:cxnLst/>
              <a:rect r="r" b="b" t="t" l="l"/>
              <a:pathLst>
                <a:path h="3111373" w="20864576">
                  <a:moveTo>
                    <a:pt x="0" y="164719"/>
                  </a:moveTo>
                  <a:cubicBezTo>
                    <a:pt x="0" y="73787"/>
                    <a:pt x="73787" y="0"/>
                    <a:pt x="164719" y="0"/>
                  </a:cubicBezTo>
                  <a:lnTo>
                    <a:pt x="20699857" y="0"/>
                  </a:lnTo>
                  <a:cubicBezTo>
                    <a:pt x="20790790" y="0"/>
                    <a:pt x="20864576" y="73787"/>
                    <a:pt x="20864576" y="164719"/>
                  </a:cubicBezTo>
                  <a:lnTo>
                    <a:pt x="20864576" y="2946654"/>
                  </a:lnTo>
                  <a:cubicBezTo>
                    <a:pt x="20864576" y="3037586"/>
                    <a:pt x="20790790" y="3111373"/>
                    <a:pt x="20699857" y="3111373"/>
                  </a:cubicBezTo>
                  <a:lnTo>
                    <a:pt x="164719" y="3111373"/>
                  </a:lnTo>
                  <a:cubicBezTo>
                    <a:pt x="73787" y="3111373"/>
                    <a:pt x="0" y="3037586"/>
                    <a:pt x="0" y="2946654"/>
                  </a:cubicBezTo>
                  <a:close/>
                </a:path>
              </a:pathLst>
            </a:custGeom>
            <a:solidFill>
              <a:srgbClr val="FFFFFF"/>
            </a:solidFill>
          </p:spPr>
        </p:sp>
      </p:grpSp>
      <p:grpSp>
        <p:nvGrpSpPr>
          <p:cNvPr name="Group 13" id="13"/>
          <p:cNvGrpSpPr/>
          <p:nvPr/>
        </p:nvGrpSpPr>
        <p:grpSpPr>
          <a:xfrm rot="0">
            <a:off x="1029500" y="2333539"/>
            <a:ext cx="123539" cy="2333539"/>
            <a:chOff x="0" y="0"/>
            <a:chExt cx="164719" cy="3111386"/>
          </a:xfrm>
        </p:grpSpPr>
        <p:sp>
          <p:nvSpPr>
            <p:cNvPr name="Freeform 14" id="14"/>
            <p:cNvSpPr/>
            <p:nvPr/>
          </p:nvSpPr>
          <p:spPr>
            <a:xfrm flipH="false" flipV="false" rot="0">
              <a:off x="0" y="0"/>
              <a:ext cx="164719" cy="3111373"/>
            </a:xfrm>
            <a:custGeom>
              <a:avLst/>
              <a:gdLst/>
              <a:ahLst/>
              <a:cxnLst/>
              <a:rect r="r" b="b" t="t" l="l"/>
              <a:pathLst>
                <a:path h="3111373" w="164719">
                  <a:moveTo>
                    <a:pt x="0" y="0"/>
                  </a:moveTo>
                  <a:lnTo>
                    <a:pt x="164719" y="0"/>
                  </a:lnTo>
                  <a:lnTo>
                    <a:pt x="164719" y="3111373"/>
                  </a:lnTo>
                  <a:lnTo>
                    <a:pt x="0" y="3111373"/>
                  </a:lnTo>
                  <a:close/>
                </a:path>
              </a:pathLst>
            </a:custGeom>
            <a:solidFill>
              <a:srgbClr val="387F7F"/>
            </a:solidFill>
          </p:spPr>
        </p:sp>
      </p:grpSp>
      <p:sp>
        <p:nvSpPr>
          <p:cNvPr name="TextBox 15" id="15"/>
          <p:cNvSpPr txBox="true"/>
          <p:nvPr/>
        </p:nvSpPr>
        <p:spPr>
          <a:xfrm rot="0">
            <a:off x="1509941" y="2522353"/>
            <a:ext cx="14413059" cy="497529"/>
          </a:xfrm>
          <a:prstGeom prst="rect">
            <a:avLst/>
          </a:prstGeom>
        </p:spPr>
        <p:txBody>
          <a:bodyPr anchor="t" rtlCol="false" tIns="0" lIns="0" bIns="0" rIns="0">
            <a:spAutoFit/>
          </a:bodyPr>
          <a:lstStyle/>
          <a:p>
            <a:pPr algn="l">
              <a:lnSpc>
                <a:spcPts val="3044"/>
              </a:lnSpc>
            </a:pPr>
            <a:r>
              <a:rPr lang="en-US" sz="1951" b="true">
                <a:solidFill>
                  <a:srgbClr val="387F7F"/>
                </a:solidFill>
                <a:latin typeface="Poppins Bold"/>
                <a:ea typeface="Poppins Bold"/>
                <a:cs typeface="Poppins Bold"/>
                <a:sym typeface="Poppins Bold"/>
              </a:rPr>
              <a:t>THE TASK</a:t>
            </a:r>
          </a:p>
        </p:txBody>
      </p:sp>
      <p:sp>
        <p:nvSpPr>
          <p:cNvPr name="TextBox 16" id="16"/>
          <p:cNvSpPr txBox="true"/>
          <p:nvPr/>
        </p:nvSpPr>
        <p:spPr>
          <a:xfrm rot="0">
            <a:off x="1509941" y="2983735"/>
            <a:ext cx="14824862" cy="1546079"/>
          </a:xfrm>
          <a:prstGeom prst="rect">
            <a:avLst/>
          </a:prstGeom>
        </p:spPr>
        <p:txBody>
          <a:bodyPr anchor="t" rtlCol="false" tIns="0" lIns="0" bIns="0" rIns="0">
            <a:spAutoFit/>
          </a:bodyPr>
          <a:lstStyle/>
          <a:p>
            <a:pPr algn="l">
              <a:lnSpc>
                <a:spcPts val="4098"/>
              </a:lnSpc>
            </a:pPr>
            <a:r>
              <a:rPr lang="en-US" sz="2627">
                <a:solidFill>
                  <a:srgbClr val="475569"/>
                </a:solidFill>
                <a:latin typeface="Poppins"/>
                <a:ea typeface="Poppins"/>
                <a:cs typeface="Poppins"/>
                <a:sym typeface="Poppins"/>
              </a:rPr>
              <a:t>Four requests: (1) which deliveries will fail this week, (2) how much fuel Route LAG-07 uses next month, (3) which riders behave most alike, (4) how many deliveries happened in September. Name each: classification, regression, clustering, or no model needed.</a:t>
            </a:r>
          </a:p>
        </p:txBody>
      </p:sp>
      <p:grpSp>
        <p:nvGrpSpPr>
          <p:cNvPr name="Group 17" id="17"/>
          <p:cNvGrpSpPr/>
          <p:nvPr/>
        </p:nvGrpSpPr>
        <p:grpSpPr>
          <a:xfrm rot="0">
            <a:off x="1029500" y="4941618"/>
            <a:ext cx="15648470" cy="2196274"/>
            <a:chOff x="0" y="0"/>
            <a:chExt cx="20864627" cy="2928366"/>
          </a:xfrm>
        </p:grpSpPr>
        <p:sp>
          <p:nvSpPr>
            <p:cNvPr name="Freeform 18" id="18"/>
            <p:cNvSpPr/>
            <p:nvPr/>
          </p:nvSpPr>
          <p:spPr>
            <a:xfrm flipH="false" flipV="false" rot="0">
              <a:off x="0" y="0"/>
              <a:ext cx="20864576" cy="2928366"/>
            </a:xfrm>
            <a:custGeom>
              <a:avLst/>
              <a:gdLst/>
              <a:ahLst/>
              <a:cxnLst/>
              <a:rect r="r" b="b" t="t" l="l"/>
              <a:pathLst>
                <a:path h="2928366" w="20864576">
                  <a:moveTo>
                    <a:pt x="0" y="164719"/>
                  </a:moveTo>
                  <a:cubicBezTo>
                    <a:pt x="0" y="73787"/>
                    <a:pt x="73787" y="0"/>
                    <a:pt x="164719" y="0"/>
                  </a:cubicBezTo>
                  <a:lnTo>
                    <a:pt x="20699857" y="0"/>
                  </a:lnTo>
                  <a:cubicBezTo>
                    <a:pt x="20790790" y="0"/>
                    <a:pt x="20864576" y="73787"/>
                    <a:pt x="20864576" y="164719"/>
                  </a:cubicBezTo>
                  <a:lnTo>
                    <a:pt x="20864576" y="2763647"/>
                  </a:lnTo>
                  <a:cubicBezTo>
                    <a:pt x="20864576" y="2854579"/>
                    <a:pt x="20790790" y="2928366"/>
                    <a:pt x="20699857" y="2928366"/>
                  </a:cubicBezTo>
                  <a:lnTo>
                    <a:pt x="164719" y="2928366"/>
                  </a:lnTo>
                  <a:cubicBezTo>
                    <a:pt x="73787" y="2928366"/>
                    <a:pt x="0" y="2854579"/>
                    <a:pt x="0" y="2763647"/>
                  </a:cubicBezTo>
                  <a:close/>
                </a:path>
              </a:pathLst>
            </a:custGeom>
            <a:solidFill>
              <a:srgbClr val="F4F7F7"/>
            </a:solidFill>
          </p:spPr>
        </p:sp>
      </p:grpSp>
      <p:grpSp>
        <p:nvGrpSpPr>
          <p:cNvPr name="Group 19" id="19"/>
          <p:cNvGrpSpPr/>
          <p:nvPr/>
        </p:nvGrpSpPr>
        <p:grpSpPr>
          <a:xfrm rot="0">
            <a:off x="1029500" y="4941618"/>
            <a:ext cx="123539" cy="2196274"/>
            <a:chOff x="0" y="0"/>
            <a:chExt cx="164719" cy="2928366"/>
          </a:xfrm>
        </p:grpSpPr>
        <p:sp>
          <p:nvSpPr>
            <p:cNvPr name="Freeform 20" id="20"/>
            <p:cNvSpPr/>
            <p:nvPr/>
          </p:nvSpPr>
          <p:spPr>
            <a:xfrm flipH="false" flipV="false" rot="0">
              <a:off x="0" y="0"/>
              <a:ext cx="164719" cy="2928366"/>
            </a:xfrm>
            <a:custGeom>
              <a:avLst/>
              <a:gdLst/>
              <a:ahLst/>
              <a:cxnLst/>
              <a:rect r="r" b="b" t="t" l="l"/>
              <a:pathLst>
                <a:path h="2928366" w="164719">
                  <a:moveTo>
                    <a:pt x="0" y="0"/>
                  </a:moveTo>
                  <a:lnTo>
                    <a:pt x="164719" y="0"/>
                  </a:lnTo>
                  <a:lnTo>
                    <a:pt x="164719" y="2928366"/>
                  </a:lnTo>
                  <a:lnTo>
                    <a:pt x="0" y="2928366"/>
                  </a:lnTo>
                  <a:close/>
                </a:path>
              </a:pathLst>
            </a:custGeom>
            <a:solidFill>
              <a:srgbClr val="9BB7B7"/>
            </a:solidFill>
          </p:spPr>
        </p:sp>
      </p:grpSp>
      <p:sp>
        <p:nvSpPr>
          <p:cNvPr name="TextBox 21" id="21"/>
          <p:cNvSpPr txBox="true"/>
          <p:nvPr/>
        </p:nvSpPr>
        <p:spPr>
          <a:xfrm rot="0">
            <a:off x="1509941" y="5130432"/>
            <a:ext cx="14413059" cy="524980"/>
          </a:xfrm>
          <a:prstGeom prst="rect">
            <a:avLst/>
          </a:prstGeom>
        </p:spPr>
        <p:txBody>
          <a:bodyPr anchor="t" rtlCol="false" tIns="0" lIns="0" bIns="0" rIns="0">
            <a:spAutoFit/>
          </a:bodyPr>
          <a:lstStyle/>
          <a:p>
            <a:pPr algn="l">
              <a:lnSpc>
                <a:spcPts val="3044"/>
              </a:lnSpc>
            </a:pPr>
            <a:r>
              <a:rPr lang="en-US" sz="1951" b="true">
                <a:solidFill>
                  <a:srgbClr val="20494A"/>
                </a:solidFill>
                <a:latin typeface="Poppins Bold"/>
                <a:ea typeface="Poppins Bold"/>
                <a:cs typeface="Poppins Bold"/>
                <a:sym typeface="Poppins Bold"/>
              </a:rPr>
              <a:t>SELF-CHECK</a:t>
            </a:r>
          </a:p>
        </p:txBody>
      </p:sp>
      <p:sp>
        <p:nvSpPr>
          <p:cNvPr name="TextBox 22" id="22"/>
          <p:cNvSpPr txBox="true"/>
          <p:nvPr/>
        </p:nvSpPr>
        <p:spPr>
          <a:xfrm rot="0">
            <a:off x="1509941" y="5610863"/>
            <a:ext cx="14824862" cy="1389764"/>
          </a:xfrm>
          <a:prstGeom prst="rect">
            <a:avLst/>
          </a:prstGeom>
        </p:spPr>
        <p:txBody>
          <a:bodyPr anchor="t" rtlCol="false" tIns="0" lIns="0" bIns="0" rIns="0">
            <a:spAutoFit/>
          </a:bodyPr>
          <a:lstStyle/>
          <a:p>
            <a:pPr algn="l">
              <a:lnSpc>
                <a:spcPts val="3278"/>
              </a:lnSpc>
            </a:pPr>
            <a:r>
              <a:rPr lang="en-US" sz="2101">
                <a:solidFill>
                  <a:srgbClr val="475569"/>
                </a:solidFill>
                <a:latin typeface="Poppins"/>
                <a:ea typeface="Poppins"/>
                <a:cs typeface="Poppins"/>
                <a:sym typeface="Poppins"/>
              </a:rPr>
              <a:t>(1) classification. (2) regression. (3) clustering. (4) no model needed, it's counting - an analyst task, like Topic 8.1's pipeline. Only (1)-(3) would need a data scientist to actually build.</a:t>
            </a:r>
          </a:p>
        </p:txBody>
      </p:sp>
      <p:sp>
        <p:nvSpPr>
          <p:cNvPr name="TextBox 23" id="23"/>
          <p:cNvSpPr txBox="true"/>
          <p:nvPr/>
        </p:nvSpPr>
        <p:spPr>
          <a:xfrm rot="0">
            <a:off x="1029500" y="7307656"/>
            <a:ext cx="15648470" cy="653844"/>
          </a:xfrm>
          <a:prstGeom prst="rect">
            <a:avLst/>
          </a:prstGeom>
        </p:spPr>
        <p:txBody>
          <a:bodyPr anchor="t" rtlCol="false" tIns="0" lIns="0" bIns="0" rIns="0">
            <a:spAutoFit/>
          </a:bodyPr>
          <a:lstStyle/>
          <a:p>
            <a:pPr algn="ctr">
              <a:lnSpc>
                <a:spcPts val="3512"/>
              </a:lnSpc>
            </a:pPr>
            <a:r>
              <a:rPr lang="en-US" sz="2251" i="true">
                <a:solidFill>
                  <a:srgbClr val="64748B"/>
                </a:solidFill>
                <a:latin typeface="Poppins Italics"/>
                <a:ea typeface="Poppins Italics"/>
                <a:cs typeface="Poppins Italics"/>
                <a:sym typeface="Poppins Italics"/>
              </a:rPr>
              <a:t>Compare your answers with a neighbour before the recap - disagreement on the wording is fine, disagreement on which bucket is worth discussing.</a:t>
            </a:r>
          </a:p>
        </p:txBody>
      </p:sp>
      <p:grpSp>
        <p:nvGrpSpPr>
          <p:cNvPr name="Group 24" id="24"/>
          <p:cNvGrpSpPr/>
          <p:nvPr/>
        </p:nvGrpSpPr>
        <p:grpSpPr>
          <a:xfrm rot="0">
            <a:off x="1153039" y="1571625"/>
            <a:ext cx="11667715" cy="411804"/>
            <a:chOff x="0" y="0"/>
            <a:chExt cx="15556954" cy="549072"/>
          </a:xfrm>
        </p:grpSpPr>
        <p:sp>
          <p:nvSpPr>
            <p:cNvPr name="Freeform 25" id="25"/>
            <p:cNvSpPr/>
            <p:nvPr/>
          </p:nvSpPr>
          <p:spPr>
            <a:xfrm flipH="false" flipV="false" rot="0">
              <a:off x="0" y="0"/>
              <a:ext cx="15556954" cy="549069"/>
            </a:xfrm>
            <a:custGeom>
              <a:avLst/>
              <a:gdLst/>
              <a:ahLst/>
              <a:cxnLst/>
              <a:rect r="r" b="b" t="t" l="l"/>
              <a:pathLst>
                <a:path h="549069" w="15556954">
                  <a:moveTo>
                    <a:pt x="0" y="0"/>
                  </a:moveTo>
                  <a:lnTo>
                    <a:pt x="15556954" y="0"/>
                  </a:lnTo>
                  <a:lnTo>
                    <a:pt x="15556954" y="549069"/>
                  </a:lnTo>
                  <a:lnTo>
                    <a:pt x="0" y="549069"/>
                  </a:lnTo>
                  <a:close/>
                </a:path>
              </a:pathLst>
            </a:custGeom>
            <a:blipFill>
              <a:blip r:embed="rId9">
                <a:alphaModFix amt="0"/>
              </a:blip>
              <a:stretch>
                <a:fillRect l="0" t="-502075" r="0" b="-502076"/>
              </a:stretch>
            </a:blipFill>
          </p:spPr>
        </p:sp>
        <p:sp>
          <p:nvSpPr>
            <p:cNvPr name="TextBox 26" id="26"/>
            <p:cNvSpPr txBox="true"/>
            <p:nvPr/>
          </p:nvSpPr>
          <p:spPr>
            <a:xfrm>
              <a:off x="0" y="-9525"/>
              <a:ext cx="15556954" cy="558597"/>
            </a:xfrm>
            <a:prstGeom prst="rect">
              <a:avLst/>
            </a:prstGeom>
          </p:spPr>
          <p:txBody>
            <a:bodyPr anchor="ctr" rtlCol="false" tIns="0" lIns="0" bIns="0" rIns="0"/>
            <a:lstStyle/>
            <a:p>
              <a:pPr algn="l">
                <a:lnSpc>
                  <a:spcPts val="2071"/>
                </a:lnSpc>
              </a:pPr>
              <a:r>
                <a:rPr lang="en-US" b="true" sz="1726" spc="300">
                  <a:solidFill>
                    <a:srgbClr val="64748B"/>
                  </a:solidFill>
                  <a:latin typeface="Poppins Bold"/>
                  <a:ea typeface="Poppins Bold"/>
                  <a:cs typeface="Poppins Bold"/>
                  <a:sym typeface="Poppins Bold"/>
                </a:rPr>
                <a:t>YOUR TURN</a:t>
              </a:r>
            </a:p>
          </p:txBody>
        </p:sp>
      </p:grpSp>
      <p:grpSp>
        <p:nvGrpSpPr>
          <p:cNvPr name="Group 27" id="27"/>
          <p:cNvGrpSpPr/>
          <p:nvPr/>
        </p:nvGrpSpPr>
        <p:grpSpPr>
          <a:xfrm rot="0">
            <a:off x="15099392" y="686333"/>
            <a:ext cx="1853108" cy="686333"/>
            <a:chOff x="0" y="0"/>
            <a:chExt cx="2470810" cy="915111"/>
          </a:xfrm>
        </p:grpSpPr>
        <p:sp>
          <p:nvSpPr>
            <p:cNvPr name="Freeform 28" id="28"/>
            <p:cNvSpPr/>
            <p:nvPr/>
          </p:nvSpPr>
          <p:spPr>
            <a:xfrm flipH="false" flipV="false" rot="0">
              <a:off x="0" y="0"/>
              <a:ext cx="2470912" cy="915162"/>
            </a:xfrm>
            <a:custGeom>
              <a:avLst/>
              <a:gdLst/>
              <a:ahLst/>
              <a:cxnLst/>
              <a:rect r="r" b="b" t="t" l="l"/>
              <a:pathLst>
                <a:path h="915162" w="2470912">
                  <a:moveTo>
                    <a:pt x="0" y="457581"/>
                  </a:moveTo>
                  <a:cubicBezTo>
                    <a:pt x="0" y="204851"/>
                    <a:pt x="204851" y="0"/>
                    <a:pt x="457581" y="0"/>
                  </a:cubicBezTo>
                  <a:lnTo>
                    <a:pt x="2013331" y="0"/>
                  </a:lnTo>
                  <a:cubicBezTo>
                    <a:pt x="2266061" y="0"/>
                    <a:pt x="2470912" y="204851"/>
                    <a:pt x="2470912" y="457581"/>
                  </a:cubicBezTo>
                  <a:cubicBezTo>
                    <a:pt x="2470912" y="710311"/>
                    <a:pt x="2266061" y="915162"/>
                    <a:pt x="2013331" y="915162"/>
                  </a:cubicBezTo>
                  <a:lnTo>
                    <a:pt x="457581" y="915162"/>
                  </a:lnTo>
                  <a:cubicBezTo>
                    <a:pt x="204851" y="915162"/>
                    <a:pt x="0" y="710311"/>
                    <a:pt x="0" y="457581"/>
                  </a:cubicBezTo>
                  <a:close/>
                </a:path>
              </a:pathLst>
            </a:custGeom>
            <a:solidFill>
              <a:srgbClr val="387F7F"/>
            </a:solidFill>
          </p:spPr>
        </p:sp>
      </p:grpSp>
      <p:grpSp>
        <p:nvGrpSpPr>
          <p:cNvPr name="Group 29" id="29"/>
          <p:cNvGrpSpPr/>
          <p:nvPr/>
        </p:nvGrpSpPr>
        <p:grpSpPr>
          <a:xfrm rot="0">
            <a:off x="15099392" y="686333"/>
            <a:ext cx="1853108" cy="686333"/>
            <a:chOff x="0" y="0"/>
            <a:chExt cx="2470810" cy="915111"/>
          </a:xfrm>
        </p:grpSpPr>
        <p:sp>
          <p:nvSpPr>
            <p:cNvPr name="Freeform 30" id="30"/>
            <p:cNvSpPr/>
            <p:nvPr/>
          </p:nvSpPr>
          <p:spPr>
            <a:xfrm flipH="false" flipV="false" rot="0">
              <a:off x="0" y="0"/>
              <a:ext cx="2470810" cy="915115"/>
            </a:xfrm>
            <a:custGeom>
              <a:avLst/>
              <a:gdLst/>
              <a:ahLst/>
              <a:cxnLst/>
              <a:rect r="r" b="b" t="t" l="l"/>
              <a:pathLst>
                <a:path h="915115" w="2470810">
                  <a:moveTo>
                    <a:pt x="0" y="0"/>
                  </a:moveTo>
                  <a:lnTo>
                    <a:pt x="2470810" y="0"/>
                  </a:lnTo>
                  <a:lnTo>
                    <a:pt x="2470810" y="915115"/>
                  </a:lnTo>
                  <a:lnTo>
                    <a:pt x="0" y="915115"/>
                  </a:lnTo>
                  <a:close/>
                </a:path>
              </a:pathLst>
            </a:custGeom>
            <a:blipFill>
              <a:blip r:embed="rId9">
                <a:alphaModFix amt="0"/>
              </a:blip>
              <a:stretch>
                <a:fillRect l="0" t="-2609" r="0" b="-2609"/>
              </a:stretch>
            </a:blipFill>
          </p:spPr>
        </p:sp>
        <p:sp>
          <p:nvSpPr>
            <p:cNvPr name="TextBox 31" id="31"/>
            <p:cNvSpPr txBox="true"/>
            <p:nvPr/>
          </p:nvSpPr>
          <p:spPr>
            <a:xfrm>
              <a:off x="0" y="-19050"/>
              <a:ext cx="2470810" cy="934161"/>
            </a:xfrm>
            <a:prstGeom prst="rect">
              <a:avLst/>
            </a:prstGeom>
          </p:spPr>
          <p:txBody>
            <a:bodyPr anchor="ctr" rtlCol="false" tIns="0" lIns="0" bIns="0" rIns="0"/>
            <a:lstStyle/>
            <a:p>
              <a:pPr algn="ctr">
                <a:lnSpc>
                  <a:spcPts val="2341"/>
                </a:lnSpc>
              </a:pPr>
              <a:r>
                <a:rPr lang="en-US" sz="1951" b="true">
                  <a:solidFill>
                    <a:srgbClr val="FFFFFF"/>
                  </a:solidFill>
                  <a:latin typeface="Poppins Bold"/>
                  <a:ea typeface="Poppins Bold"/>
                  <a:cs typeface="Poppins Bold"/>
                  <a:sym typeface="Poppins Bold"/>
                </a:rPr>
                <a:t>10 MIN</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76495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Topic recap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68537" y="2635529"/>
            <a:ext cx="340899" cy="439255"/>
            <a:chOff x="0" y="0"/>
            <a:chExt cx="454532" cy="585673"/>
          </a:xfrm>
        </p:grpSpPr>
        <p:sp>
          <p:nvSpPr>
            <p:cNvPr name="Freeform 12" id="12" descr="/home/claude/assets/icon_check.png"/>
            <p:cNvSpPr/>
            <p:nvPr/>
          </p:nvSpPr>
          <p:spPr>
            <a:xfrm flipH="false" flipV="false" rot="0">
              <a:off x="0" y="0"/>
              <a:ext cx="454583" cy="585724"/>
            </a:xfrm>
            <a:custGeom>
              <a:avLst/>
              <a:gdLst/>
              <a:ahLst/>
              <a:cxnLst/>
              <a:rect r="r" b="b" t="t" l="l"/>
              <a:pathLst>
                <a:path h="585724" w="454583">
                  <a:moveTo>
                    <a:pt x="0" y="0"/>
                  </a:moveTo>
                  <a:lnTo>
                    <a:pt x="454583" y="0"/>
                  </a:lnTo>
                  <a:lnTo>
                    <a:pt x="454583" y="585724"/>
                  </a:lnTo>
                  <a:lnTo>
                    <a:pt x="0" y="585724"/>
                  </a:lnTo>
                  <a:lnTo>
                    <a:pt x="0" y="0"/>
                  </a:lnTo>
                  <a:close/>
                </a:path>
              </a:pathLst>
            </a:custGeom>
            <a:blipFill>
              <a:blip r:embed="rId9"/>
              <a:stretch>
                <a:fillRect l="-12048" t="-8" r="-12037" b="0"/>
              </a:stretch>
            </a:blipFill>
          </p:spPr>
        </p:sp>
      </p:grpSp>
      <p:sp>
        <p:nvSpPr>
          <p:cNvPr name="TextBox 13" id="13"/>
          <p:cNvSpPr txBox="true"/>
          <p:nvPr/>
        </p:nvSpPr>
        <p:spPr>
          <a:xfrm rot="0">
            <a:off x="1401190" y="2403015"/>
            <a:ext cx="10546583"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Supervised learning needs a history with known right answers already recorded in it.</a:t>
            </a:r>
          </a:p>
        </p:txBody>
      </p:sp>
      <p:grpSp>
        <p:nvGrpSpPr>
          <p:cNvPr name="Group 14" id="14"/>
          <p:cNvGrpSpPr/>
          <p:nvPr/>
        </p:nvGrpSpPr>
        <p:grpSpPr>
          <a:xfrm rot="0">
            <a:off x="868537" y="3802304"/>
            <a:ext cx="340899" cy="439255"/>
            <a:chOff x="0" y="0"/>
            <a:chExt cx="454532" cy="585673"/>
          </a:xfrm>
        </p:grpSpPr>
        <p:sp>
          <p:nvSpPr>
            <p:cNvPr name="Freeform 15" id="15" descr="/home/claude/assets/icon_check.png"/>
            <p:cNvSpPr/>
            <p:nvPr/>
          </p:nvSpPr>
          <p:spPr>
            <a:xfrm flipH="false" flipV="false" rot="0">
              <a:off x="0" y="0"/>
              <a:ext cx="454583" cy="585724"/>
            </a:xfrm>
            <a:custGeom>
              <a:avLst/>
              <a:gdLst/>
              <a:ahLst/>
              <a:cxnLst/>
              <a:rect r="r" b="b" t="t" l="l"/>
              <a:pathLst>
                <a:path h="585724" w="454583">
                  <a:moveTo>
                    <a:pt x="0" y="0"/>
                  </a:moveTo>
                  <a:lnTo>
                    <a:pt x="454583" y="0"/>
                  </a:lnTo>
                  <a:lnTo>
                    <a:pt x="454583" y="585724"/>
                  </a:lnTo>
                  <a:lnTo>
                    <a:pt x="0" y="585724"/>
                  </a:lnTo>
                  <a:lnTo>
                    <a:pt x="0" y="0"/>
                  </a:lnTo>
                  <a:close/>
                </a:path>
              </a:pathLst>
            </a:custGeom>
            <a:blipFill>
              <a:blip r:embed="rId9"/>
              <a:stretch>
                <a:fillRect l="-12048" t="-8" r="-12037" b="0"/>
              </a:stretch>
            </a:blipFill>
          </p:spPr>
        </p:sp>
      </p:grpSp>
      <p:sp>
        <p:nvSpPr>
          <p:cNvPr name="TextBox 16" id="16"/>
          <p:cNvSpPr txBox="true"/>
          <p:nvPr/>
        </p:nvSpPr>
        <p:spPr>
          <a:xfrm rot="0">
            <a:off x="1401190" y="3569789"/>
            <a:ext cx="10546583"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Classification predicts a category. Regression predicts a number. Same method, different shape of answer.</a:t>
            </a:r>
          </a:p>
        </p:txBody>
      </p:sp>
      <p:grpSp>
        <p:nvGrpSpPr>
          <p:cNvPr name="Group 17" id="17"/>
          <p:cNvGrpSpPr/>
          <p:nvPr/>
        </p:nvGrpSpPr>
        <p:grpSpPr>
          <a:xfrm rot="0">
            <a:off x="868537" y="4969078"/>
            <a:ext cx="340899" cy="439255"/>
            <a:chOff x="0" y="0"/>
            <a:chExt cx="454532" cy="585673"/>
          </a:xfrm>
        </p:grpSpPr>
        <p:sp>
          <p:nvSpPr>
            <p:cNvPr name="Freeform 18" id="18" descr="/home/claude/assets/icon_check.png"/>
            <p:cNvSpPr/>
            <p:nvPr/>
          </p:nvSpPr>
          <p:spPr>
            <a:xfrm flipH="false" flipV="false" rot="0">
              <a:off x="0" y="0"/>
              <a:ext cx="454583" cy="585724"/>
            </a:xfrm>
            <a:custGeom>
              <a:avLst/>
              <a:gdLst/>
              <a:ahLst/>
              <a:cxnLst/>
              <a:rect r="r" b="b" t="t" l="l"/>
              <a:pathLst>
                <a:path h="585724" w="454583">
                  <a:moveTo>
                    <a:pt x="0" y="0"/>
                  </a:moveTo>
                  <a:lnTo>
                    <a:pt x="454583" y="0"/>
                  </a:lnTo>
                  <a:lnTo>
                    <a:pt x="454583" y="585724"/>
                  </a:lnTo>
                  <a:lnTo>
                    <a:pt x="0" y="585724"/>
                  </a:lnTo>
                  <a:lnTo>
                    <a:pt x="0" y="0"/>
                  </a:lnTo>
                  <a:close/>
                </a:path>
              </a:pathLst>
            </a:custGeom>
            <a:blipFill>
              <a:blip r:embed="rId9"/>
              <a:stretch>
                <a:fillRect l="-12048" t="-8" r="-12037" b="0"/>
              </a:stretch>
            </a:blipFill>
          </p:spPr>
        </p:sp>
      </p:grpSp>
      <p:sp>
        <p:nvSpPr>
          <p:cNvPr name="TextBox 19" id="19"/>
          <p:cNvSpPr txBox="true"/>
          <p:nvPr/>
        </p:nvSpPr>
        <p:spPr>
          <a:xfrm rot="0">
            <a:off x="1401190" y="4736554"/>
            <a:ext cx="10546583"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Clustering has no known right answer, so its groups are judged by business usefulness, not an accuracy score.</a:t>
            </a:r>
          </a:p>
        </p:txBody>
      </p:sp>
      <p:grpSp>
        <p:nvGrpSpPr>
          <p:cNvPr name="Group 20" id="20"/>
          <p:cNvGrpSpPr/>
          <p:nvPr/>
        </p:nvGrpSpPr>
        <p:grpSpPr>
          <a:xfrm rot="0">
            <a:off x="868537" y="6135843"/>
            <a:ext cx="340899" cy="439255"/>
            <a:chOff x="0" y="0"/>
            <a:chExt cx="454532" cy="585673"/>
          </a:xfrm>
        </p:grpSpPr>
        <p:sp>
          <p:nvSpPr>
            <p:cNvPr name="Freeform 21" id="21" descr="/home/claude/assets/icon_check.png"/>
            <p:cNvSpPr/>
            <p:nvPr/>
          </p:nvSpPr>
          <p:spPr>
            <a:xfrm flipH="false" flipV="false" rot="0">
              <a:off x="0" y="0"/>
              <a:ext cx="454583" cy="585724"/>
            </a:xfrm>
            <a:custGeom>
              <a:avLst/>
              <a:gdLst/>
              <a:ahLst/>
              <a:cxnLst/>
              <a:rect r="r" b="b" t="t" l="l"/>
              <a:pathLst>
                <a:path h="585724" w="454583">
                  <a:moveTo>
                    <a:pt x="0" y="0"/>
                  </a:moveTo>
                  <a:lnTo>
                    <a:pt x="454583" y="0"/>
                  </a:lnTo>
                  <a:lnTo>
                    <a:pt x="454583" y="585724"/>
                  </a:lnTo>
                  <a:lnTo>
                    <a:pt x="0" y="585724"/>
                  </a:lnTo>
                  <a:lnTo>
                    <a:pt x="0" y="0"/>
                  </a:lnTo>
                  <a:close/>
                </a:path>
              </a:pathLst>
            </a:custGeom>
            <a:blipFill>
              <a:blip r:embed="rId9"/>
              <a:stretch>
                <a:fillRect l="-12048" t="-8" r="-12037" b="0"/>
              </a:stretch>
            </a:blipFill>
          </p:spPr>
        </p:sp>
      </p:grpSp>
      <p:sp>
        <p:nvSpPr>
          <p:cNvPr name="TextBox 22" id="22"/>
          <p:cNvSpPr txBox="true"/>
          <p:nvPr/>
        </p:nvSpPr>
        <p:spPr>
          <a:xfrm rot="0">
            <a:off x="1401190" y="5903328"/>
            <a:ext cx="10546583"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An analyst can describe the past and forecast a simple trend with zero models - that alone covers real business value.</a:t>
            </a:r>
          </a:p>
        </p:txBody>
      </p:sp>
      <p:grpSp>
        <p:nvGrpSpPr>
          <p:cNvPr name="Group 23" id="23"/>
          <p:cNvGrpSpPr/>
          <p:nvPr/>
        </p:nvGrpSpPr>
        <p:grpSpPr>
          <a:xfrm rot="0">
            <a:off x="868537" y="7302617"/>
            <a:ext cx="340899" cy="439255"/>
            <a:chOff x="0" y="0"/>
            <a:chExt cx="454532" cy="585673"/>
          </a:xfrm>
        </p:grpSpPr>
        <p:sp>
          <p:nvSpPr>
            <p:cNvPr name="Freeform 24" id="24" descr="/home/claude/assets/icon_check.png"/>
            <p:cNvSpPr/>
            <p:nvPr/>
          </p:nvSpPr>
          <p:spPr>
            <a:xfrm flipH="false" flipV="false" rot="0">
              <a:off x="0" y="0"/>
              <a:ext cx="454583" cy="585724"/>
            </a:xfrm>
            <a:custGeom>
              <a:avLst/>
              <a:gdLst/>
              <a:ahLst/>
              <a:cxnLst/>
              <a:rect r="r" b="b" t="t" l="l"/>
              <a:pathLst>
                <a:path h="585724" w="454583">
                  <a:moveTo>
                    <a:pt x="0" y="0"/>
                  </a:moveTo>
                  <a:lnTo>
                    <a:pt x="454583" y="0"/>
                  </a:lnTo>
                  <a:lnTo>
                    <a:pt x="454583" y="585724"/>
                  </a:lnTo>
                  <a:lnTo>
                    <a:pt x="0" y="585724"/>
                  </a:lnTo>
                  <a:lnTo>
                    <a:pt x="0" y="0"/>
                  </a:lnTo>
                  <a:close/>
                </a:path>
              </a:pathLst>
            </a:custGeom>
            <a:blipFill>
              <a:blip r:embed="rId9"/>
              <a:stretch>
                <a:fillRect l="-12048" t="-8" r="-12037" b="0"/>
              </a:stretch>
            </a:blipFill>
          </p:spPr>
        </p:sp>
      </p:grpSp>
      <p:sp>
        <p:nvSpPr>
          <p:cNvPr name="TextBox 25" id="25"/>
          <p:cNvSpPr txBox="true"/>
          <p:nvPr/>
        </p:nvSpPr>
        <p:spPr>
          <a:xfrm rot="0">
            <a:off x="1401190" y="7070103"/>
            <a:ext cx="10546583" cy="903268"/>
          </a:xfrm>
          <a:prstGeom prst="rect">
            <a:avLst/>
          </a:prstGeom>
        </p:spPr>
        <p:txBody>
          <a:bodyPr anchor="t" rtlCol="false" tIns="0" lIns="0" bIns="0" rIns="0">
            <a:spAutoFit/>
          </a:bodyPr>
          <a:lstStyle/>
          <a:p>
            <a:pPr algn="l">
              <a:lnSpc>
                <a:spcPts val="3629"/>
              </a:lnSpc>
            </a:pPr>
            <a:r>
              <a:rPr lang="en-US" sz="2326">
                <a:solidFill>
                  <a:srgbClr val="475569"/>
                </a:solidFill>
                <a:latin typeface="Poppins"/>
                <a:ea typeface="Poppins"/>
                <a:cs typeface="Poppins"/>
                <a:sym typeface="Poppins"/>
              </a:rPr>
              <a:t>Building a model that generalises to new cases is a distinct skill: know when to hand a question to a data scientist, and how to ask for it.</a:t>
            </a:r>
          </a:p>
        </p:txBody>
      </p:sp>
      <p:grpSp>
        <p:nvGrpSpPr>
          <p:cNvPr name="Group 26" id="26"/>
          <p:cNvGrpSpPr/>
          <p:nvPr/>
        </p:nvGrpSpPr>
        <p:grpSpPr>
          <a:xfrm rot="0">
            <a:off x="762000" y="8647833"/>
            <a:ext cx="11558629" cy="1304039"/>
            <a:chOff x="0" y="0"/>
            <a:chExt cx="15411505" cy="1738719"/>
          </a:xfrm>
        </p:grpSpPr>
        <p:sp>
          <p:nvSpPr>
            <p:cNvPr name="Freeform 27" id="27"/>
            <p:cNvSpPr/>
            <p:nvPr/>
          </p:nvSpPr>
          <p:spPr>
            <a:xfrm flipH="false" flipV="false" rot="0">
              <a:off x="0" y="0"/>
              <a:ext cx="15411486" cy="1738757"/>
            </a:xfrm>
            <a:custGeom>
              <a:avLst/>
              <a:gdLst/>
              <a:ahLst/>
              <a:cxnLst/>
              <a:rect r="r" b="b" t="t" l="l"/>
              <a:pathLst>
                <a:path h="1738757" w="15411486">
                  <a:moveTo>
                    <a:pt x="0" y="164719"/>
                  </a:moveTo>
                  <a:cubicBezTo>
                    <a:pt x="0" y="73787"/>
                    <a:pt x="57265" y="0"/>
                    <a:pt x="127836" y="0"/>
                  </a:cubicBezTo>
                  <a:lnTo>
                    <a:pt x="15283650" y="0"/>
                  </a:lnTo>
                  <a:cubicBezTo>
                    <a:pt x="15354221" y="0"/>
                    <a:pt x="15411486" y="73787"/>
                    <a:pt x="15411486" y="164719"/>
                  </a:cubicBezTo>
                  <a:lnTo>
                    <a:pt x="15411486" y="1574038"/>
                  </a:lnTo>
                  <a:cubicBezTo>
                    <a:pt x="15411486" y="1664970"/>
                    <a:pt x="15354221" y="1738757"/>
                    <a:pt x="15283650" y="1738757"/>
                  </a:cubicBezTo>
                  <a:lnTo>
                    <a:pt x="127836" y="1738757"/>
                  </a:lnTo>
                  <a:cubicBezTo>
                    <a:pt x="57265" y="1738757"/>
                    <a:pt x="0" y="1664970"/>
                    <a:pt x="0" y="1574038"/>
                  </a:cubicBezTo>
                  <a:close/>
                </a:path>
              </a:pathLst>
            </a:custGeom>
            <a:solidFill>
              <a:srgbClr val="F4F7F7"/>
            </a:solidFill>
          </p:spPr>
        </p:sp>
      </p:grpSp>
      <p:grpSp>
        <p:nvGrpSpPr>
          <p:cNvPr name="Group 28" id="28"/>
          <p:cNvGrpSpPr/>
          <p:nvPr/>
        </p:nvGrpSpPr>
        <p:grpSpPr>
          <a:xfrm rot="0">
            <a:off x="1188124" y="8647833"/>
            <a:ext cx="10706381" cy="1304039"/>
            <a:chOff x="0" y="0"/>
            <a:chExt cx="14275174" cy="1738718"/>
          </a:xfrm>
        </p:grpSpPr>
        <p:sp>
          <p:nvSpPr>
            <p:cNvPr name="Freeform 29" id="29"/>
            <p:cNvSpPr/>
            <p:nvPr/>
          </p:nvSpPr>
          <p:spPr>
            <a:xfrm flipH="false" flipV="false" rot="0">
              <a:off x="0" y="0"/>
              <a:ext cx="14275169" cy="1738718"/>
            </a:xfrm>
            <a:custGeom>
              <a:avLst/>
              <a:gdLst/>
              <a:ahLst/>
              <a:cxnLst/>
              <a:rect r="r" b="b" t="t" l="l"/>
              <a:pathLst>
                <a:path h="1738718" w="14275169">
                  <a:moveTo>
                    <a:pt x="0" y="0"/>
                  </a:moveTo>
                  <a:lnTo>
                    <a:pt x="14275169" y="0"/>
                  </a:lnTo>
                  <a:lnTo>
                    <a:pt x="14275169" y="1738718"/>
                  </a:lnTo>
                  <a:lnTo>
                    <a:pt x="0" y="1738718"/>
                  </a:lnTo>
                  <a:close/>
                </a:path>
              </a:pathLst>
            </a:custGeom>
            <a:blipFill>
              <a:blip r:embed="rId10">
                <a:alphaModFix amt="0"/>
              </a:blip>
              <a:stretch>
                <a:fillRect l="0" t="-156131" r="-28851" b="-156131"/>
              </a:stretch>
            </a:blipFill>
          </p:spPr>
        </p:sp>
        <p:sp>
          <p:nvSpPr>
            <p:cNvPr name="TextBox 30" id="30"/>
            <p:cNvSpPr txBox="true"/>
            <p:nvPr/>
          </p:nvSpPr>
          <p:spPr>
            <a:xfrm>
              <a:off x="0" y="-104775"/>
              <a:ext cx="14275174" cy="1843493"/>
            </a:xfrm>
            <a:prstGeom prst="rect">
              <a:avLst/>
            </a:prstGeom>
          </p:spPr>
          <p:txBody>
            <a:bodyPr anchor="ctr" rtlCol="false" tIns="0" lIns="0" bIns="0" rIns="0"/>
            <a:lstStyle/>
            <a:p>
              <a:pPr algn="ctr">
                <a:lnSpc>
                  <a:spcPts val="3746"/>
                </a:lnSpc>
              </a:pPr>
              <a:r>
                <a:rPr lang="en-US" sz="2401" b="true">
                  <a:solidFill>
                    <a:srgbClr val="387F7F"/>
                  </a:solidFill>
                  <a:latin typeface="Poppins Bold"/>
                  <a:ea typeface="Poppins Bold"/>
                  <a:cs typeface="Poppins Bold"/>
                  <a:sym typeface="Poppins Bold"/>
                </a:rPr>
                <a:t>Next: automating the repetitive parts of an analyst's own job - so the value you already deliver survives a data refresh.</a:t>
              </a:r>
            </a:p>
          </p:txBody>
        </p:sp>
      </p:grpSp>
      <p:grpSp>
        <p:nvGrpSpPr>
          <p:cNvPr name="Group 31" id="31"/>
          <p:cNvGrpSpPr/>
          <p:nvPr/>
        </p:nvGrpSpPr>
        <p:grpSpPr>
          <a:xfrm rot="0">
            <a:off x="17488537" y="3504216"/>
            <a:ext cx="457200" cy="457200"/>
            <a:chOff x="0" y="0"/>
            <a:chExt cx="609600" cy="609600"/>
          </a:xfrm>
        </p:grpSpPr>
        <p:sp>
          <p:nvSpPr>
            <p:cNvPr name="Freeform 32" id="32"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1"/>
              <a:stretch>
                <a:fillRect l="0" t="-1562" r="0" b="-1562"/>
              </a:stretch>
            </a:blipFill>
          </p:spPr>
        </p:sp>
      </p:grpSp>
      <p:sp>
        <p:nvSpPr>
          <p:cNvPr name="TextBox 33" id="33"/>
          <p:cNvSpPr txBox="true"/>
          <p:nvPr/>
        </p:nvSpPr>
        <p:spPr>
          <a:xfrm rot="0">
            <a:off x="12600326" y="3337528"/>
            <a:ext cx="4554835" cy="20345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just">
              <a:lnSpc>
                <a:spcPts val="5400"/>
              </a:lnSpc>
            </a:pPr>
            <a:r>
              <a:rPr lang="en-US" sz="3600">
                <a:solidFill>
                  <a:srgbClr val="387F7F"/>
                </a:solidFill>
                <a:latin typeface="Inter"/>
                <a:ea typeface="Inter"/>
                <a:cs typeface="Inter"/>
                <a:sym typeface="Inter"/>
              </a:rPr>
              <a:t>Automating repetitive</a:t>
            </a:r>
          </a:p>
          <a:p>
            <a:pPr algn="just">
              <a:lnSpc>
                <a:spcPts val="5400"/>
              </a:lnSpc>
            </a:pPr>
            <a:r>
              <a:rPr lang="en-US" sz="3600">
                <a:solidFill>
                  <a:srgbClr val="387F7F"/>
                </a:solidFill>
                <a:latin typeface="Inter"/>
                <a:ea typeface="Inter"/>
                <a:cs typeface="Inter"/>
                <a:sym typeface="Inter"/>
              </a:rPr>
              <a:t> analyst tasks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658058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Wher</a:t>
            </a:r>
            <a:r>
              <a:rPr lang="en-US" sz="5000">
                <a:solidFill>
                  <a:srgbClr val="388080"/>
                </a:solidFill>
                <a:latin typeface="Poppins"/>
                <a:ea typeface="Poppins"/>
                <a:cs typeface="Poppins"/>
                <a:sym typeface="Poppins"/>
              </a:rPr>
              <a:t>e this goes next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5419508" y="4186238"/>
            <a:ext cx="457200" cy="457200"/>
            <a:chOff x="0" y="0"/>
            <a:chExt cx="609600" cy="609600"/>
          </a:xfrm>
        </p:grpSpPr>
        <p:sp>
          <p:nvSpPr>
            <p:cNvPr name="Freeform 12" id="12"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9"/>
              <a:stretch>
                <a:fillRect l="0" t="-1562" r="0" b="-1562"/>
              </a:stretch>
            </a:blipFill>
          </p:spPr>
        </p:sp>
      </p:grpSp>
      <p:grpSp>
        <p:nvGrpSpPr>
          <p:cNvPr name="Group 13" id="13"/>
          <p:cNvGrpSpPr/>
          <p:nvPr/>
        </p:nvGrpSpPr>
        <p:grpSpPr>
          <a:xfrm rot="0">
            <a:off x="904875" y="2619748"/>
            <a:ext cx="4689967" cy="4941618"/>
            <a:chOff x="0" y="0"/>
            <a:chExt cx="6253290" cy="6588823"/>
          </a:xfrm>
        </p:grpSpPr>
        <p:sp>
          <p:nvSpPr>
            <p:cNvPr name="Freeform 14" id="14"/>
            <p:cNvSpPr/>
            <p:nvPr/>
          </p:nvSpPr>
          <p:spPr>
            <a:xfrm flipH="false" flipV="false" rot="0">
              <a:off x="0" y="0"/>
              <a:ext cx="6253353" cy="6588887"/>
            </a:xfrm>
            <a:custGeom>
              <a:avLst/>
              <a:gdLst/>
              <a:ahLst/>
              <a:cxnLst/>
              <a:rect r="r" b="b" t="t" l="l"/>
              <a:pathLst>
                <a:path h="6588887" w="6253353">
                  <a:moveTo>
                    <a:pt x="0" y="164719"/>
                  </a:moveTo>
                  <a:cubicBezTo>
                    <a:pt x="0" y="73787"/>
                    <a:pt x="73787" y="0"/>
                    <a:pt x="164719" y="0"/>
                  </a:cubicBezTo>
                  <a:lnTo>
                    <a:pt x="6088634" y="0"/>
                  </a:lnTo>
                  <a:cubicBezTo>
                    <a:pt x="6179566" y="0"/>
                    <a:pt x="6253353" y="73787"/>
                    <a:pt x="6253353" y="164719"/>
                  </a:cubicBezTo>
                  <a:lnTo>
                    <a:pt x="6253353" y="6424168"/>
                  </a:lnTo>
                  <a:cubicBezTo>
                    <a:pt x="6253353" y="6515100"/>
                    <a:pt x="6179566" y="6588887"/>
                    <a:pt x="6088634" y="6588887"/>
                  </a:cubicBezTo>
                  <a:lnTo>
                    <a:pt x="164719" y="6588887"/>
                  </a:lnTo>
                  <a:cubicBezTo>
                    <a:pt x="73787" y="6588887"/>
                    <a:pt x="0" y="6515100"/>
                    <a:pt x="0" y="6424168"/>
                  </a:cubicBezTo>
                  <a:close/>
                </a:path>
              </a:pathLst>
            </a:custGeom>
            <a:solidFill>
              <a:srgbClr val="FFFFFF"/>
            </a:solidFill>
          </p:spPr>
        </p:sp>
      </p:grpSp>
      <p:grpSp>
        <p:nvGrpSpPr>
          <p:cNvPr name="Group 15" id="15"/>
          <p:cNvGrpSpPr/>
          <p:nvPr/>
        </p:nvGrpSpPr>
        <p:grpSpPr>
          <a:xfrm rot="0">
            <a:off x="904875" y="2619748"/>
            <a:ext cx="4689967" cy="686333"/>
            <a:chOff x="0" y="0"/>
            <a:chExt cx="6253290" cy="915111"/>
          </a:xfrm>
        </p:grpSpPr>
        <p:sp>
          <p:nvSpPr>
            <p:cNvPr name="Freeform 16" id="16"/>
            <p:cNvSpPr/>
            <p:nvPr/>
          </p:nvSpPr>
          <p:spPr>
            <a:xfrm flipH="false" flipV="false" rot="0">
              <a:off x="0" y="0"/>
              <a:ext cx="6253226" cy="915162"/>
            </a:xfrm>
            <a:custGeom>
              <a:avLst/>
              <a:gdLst/>
              <a:ahLst/>
              <a:cxnLst/>
              <a:rect r="r" b="b" t="t" l="l"/>
              <a:pathLst>
                <a:path h="915162" w="6253226">
                  <a:moveTo>
                    <a:pt x="0" y="0"/>
                  </a:moveTo>
                  <a:lnTo>
                    <a:pt x="6253226" y="0"/>
                  </a:lnTo>
                  <a:lnTo>
                    <a:pt x="6253226" y="915162"/>
                  </a:lnTo>
                  <a:lnTo>
                    <a:pt x="0" y="915162"/>
                  </a:lnTo>
                  <a:close/>
                </a:path>
              </a:pathLst>
            </a:custGeom>
            <a:solidFill>
              <a:srgbClr val="387F7F"/>
            </a:solidFill>
          </p:spPr>
        </p:sp>
      </p:grpSp>
      <p:grpSp>
        <p:nvGrpSpPr>
          <p:cNvPr name="Group 17" id="17"/>
          <p:cNvGrpSpPr/>
          <p:nvPr/>
        </p:nvGrpSpPr>
        <p:grpSpPr>
          <a:xfrm rot="0">
            <a:off x="904875" y="2619748"/>
            <a:ext cx="4689967" cy="686333"/>
            <a:chOff x="0" y="0"/>
            <a:chExt cx="6253290" cy="915111"/>
          </a:xfrm>
        </p:grpSpPr>
        <p:sp>
          <p:nvSpPr>
            <p:cNvPr name="Freeform 18" id="18"/>
            <p:cNvSpPr/>
            <p:nvPr/>
          </p:nvSpPr>
          <p:spPr>
            <a:xfrm flipH="false" flipV="false" rot="0">
              <a:off x="0" y="0"/>
              <a:ext cx="6253285" cy="915115"/>
            </a:xfrm>
            <a:custGeom>
              <a:avLst/>
              <a:gdLst/>
              <a:ahLst/>
              <a:cxnLst/>
              <a:rect r="r" b="b" t="t" l="l"/>
              <a:pathLst>
                <a:path h="915115" w="6253285">
                  <a:moveTo>
                    <a:pt x="0" y="0"/>
                  </a:moveTo>
                  <a:lnTo>
                    <a:pt x="6253285" y="0"/>
                  </a:lnTo>
                  <a:lnTo>
                    <a:pt x="6253285" y="915115"/>
                  </a:lnTo>
                  <a:lnTo>
                    <a:pt x="0" y="915115"/>
                  </a:lnTo>
                  <a:close/>
                </a:path>
              </a:pathLst>
            </a:custGeom>
            <a:blipFill>
              <a:blip r:embed="rId10">
                <a:alphaModFix amt="0"/>
              </a:blip>
              <a:stretch>
                <a:fillRect l="0" t="-83148" r="0" b="-83147"/>
              </a:stretch>
            </a:blipFill>
          </p:spPr>
        </p:sp>
        <p:sp>
          <p:nvSpPr>
            <p:cNvPr name="TextBox 19" id="19"/>
            <p:cNvSpPr txBox="true"/>
            <p:nvPr/>
          </p:nvSpPr>
          <p:spPr>
            <a:xfrm>
              <a:off x="0" y="-19050"/>
              <a:ext cx="6253290" cy="934161"/>
            </a:xfrm>
            <a:prstGeom prst="rect">
              <a:avLst/>
            </a:prstGeom>
          </p:spPr>
          <p:txBody>
            <a:bodyPr anchor="ctr" rtlCol="false" tIns="0" lIns="0" bIns="0" rIns="0"/>
            <a:lstStyle/>
            <a:p>
              <a:pPr algn="ctr">
                <a:lnSpc>
                  <a:spcPts val="2251"/>
                </a:lnSpc>
              </a:pPr>
              <a:r>
                <a:rPr lang="en-US" sz="1876" b="true">
                  <a:solidFill>
                    <a:srgbClr val="FFFFFF"/>
                  </a:solidFill>
                  <a:latin typeface="Poppins Bold"/>
                  <a:ea typeface="Poppins Bold"/>
                  <a:cs typeface="Poppins Bold"/>
                  <a:sym typeface="Poppins Bold"/>
                </a:rPr>
                <a:t>TOPIC 8.4</a:t>
              </a:r>
            </a:p>
          </p:txBody>
        </p:sp>
      </p:grpSp>
      <p:sp>
        <p:nvSpPr>
          <p:cNvPr name="TextBox 20" id="20"/>
          <p:cNvSpPr txBox="true"/>
          <p:nvPr/>
        </p:nvSpPr>
        <p:spPr>
          <a:xfrm rot="0">
            <a:off x="1248051" y="3475846"/>
            <a:ext cx="4003624" cy="3810991"/>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Automating repetitive analyst tasks: identifying what can be automated, and building a simple automation that survives a data refresh.</a:t>
            </a:r>
          </a:p>
        </p:txBody>
      </p:sp>
      <p:grpSp>
        <p:nvGrpSpPr>
          <p:cNvPr name="Group 21" id="21"/>
          <p:cNvGrpSpPr/>
          <p:nvPr/>
        </p:nvGrpSpPr>
        <p:grpSpPr>
          <a:xfrm rot="0">
            <a:off x="6006646" y="2619748"/>
            <a:ext cx="4689967" cy="4941618"/>
            <a:chOff x="0" y="0"/>
            <a:chExt cx="6253290" cy="6588823"/>
          </a:xfrm>
        </p:grpSpPr>
        <p:sp>
          <p:nvSpPr>
            <p:cNvPr name="Freeform 22" id="22"/>
            <p:cNvSpPr/>
            <p:nvPr/>
          </p:nvSpPr>
          <p:spPr>
            <a:xfrm flipH="false" flipV="false" rot="0">
              <a:off x="0" y="0"/>
              <a:ext cx="6253353" cy="6588887"/>
            </a:xfrm>
            <a:custGeom>
              <a:avLst/>
              <a:gdLst/>
              <a:ahLst/>
              <a:cxnLst/>
              <a:rect r="r" b="b" t="t" l="l"/>
              <a:pathLst>
                <a:path h="6588887" w="6253353">
                  <a:moveTo>
                    <a:pt x="0" y="164719"/>
                  </a:moveTo>
                  <a:cubicBezTo>
                    <a:pt x="0" y="73787"/>
                    <a:pt x="73787" y="0"/>
                    <a:pt x="164719" y="0"/>
                  </a:cubicBezTo>
                  <a:lnTo>
                    <a:pt x="6088634" y="0"/>
                  </a:lnTo>
                  <a:cubicBezTo>
                    <a:pt x="6179566" y="0"/>
                    <a:pt x="6253353" y="73787"/>
                    <a:pt x="6253353" y="164719"/>
                  </a:cubicBezTo>
                  <a:lnTo>
                    <a:pt x="6253353" y="6424168"/>
                  </a:lnTo>
                  <a:cubicBezTo>
                    <a:pt x="6253353" y="6515100"/>
                    <a:pt x="6179566" y="6588887"/>
                    <a:pt x="6088634" y="6588887"/>
                  </a:cubicBezTo>
                  <a:lnTo>
                    <a:pt x="164719" y="6588887"/>
                  </a:lnTo>
                  <a:cubicBezTo>
                    <a:pt x="73787" y="6588887"/>
                    <a:pt x="0" y="6515100"/>
                    <a:pt x="0" y="6424168"/>
                  </a:cubicBezTo>
                  <a:close/>
                </a:path>
              </a:pathLst>
            </a:custGeom>
            <a:solidFill>
              <a:srgbClr val="FFFFFF"/>
            </a:solidFill>
          </p:spPr>
        </p:sp>
      </p:grpSp>
      <p:grpSp>
        <p:nvGrpSpPr>
          <p:cNvPr name="Group 23" id="23"/>
          <p:cNvGrpSpPr/>
          <p:nvPr/>
        </p:nvGrpSpPr>
        <p:grpSpPr>
          <a:xfrm rot="0">
            <a:off x="6006646" y="2619748"/>
            <a:ext cx="4689967" cy="686333"/>
            <a:chOff x="0" y="0"/>
            <a:chExt cx="6253290" cy="915111"/>
          </a:xfrm>
        </p:grpSpPr>
        <p:sp>
          <p:nvSpPr>
            <p:cNvPr name="Freeform 24" id="24"/>
            <p:cNvSpPr/>
            <p:nvPr/>
          </p:nvSpPr>
          <p:spPr>
            <a:xfrm flipH="false" flipV="false" rot="0">
              <a:off x="0" y="0"/>
              <a:ext cx="6253226" cy="915162"/>
            </a:xfrm>
            <a:custGeom>
              <a:avLst/>
              <a:gdLst/>
              <a:ahLst/>
              <a:cxnLst/>
              <a:rect r="r" b="b" t="t" l="l"/>
              <a:pathLst>
                <a:path h="915162" w="6253226">
                  <a:moveTo>
                    <a:pt x="0" y="0"/>
                  </a:moveTo>
                  <a:lnTo>
                    <a:pt x="6253226" y="0"/>
                  </a:lnTo>
                  <a:lnTo>
                    <a:pt x="6253226" y="915162"/>
                  </a:lnTo>
                  <a:lnTo>
                    <a:pt x="0" y="915162"/>
                  </a:lnTo>
                  <a:close/>
                </a:path>
              </a:pathLst>
            </a:custGeom>
            <a:solidFill>
              <a:srgbClr val="387F7F"/>
            </a:solidFill>
          </p:spPr>
        </p:sp>
      </p:grpSp>
      <p:grpSp>
        <p:nvGrpSpPr>
          <p:cNvPr name="Group 25" id="25"/>
          <p:cNvGrpSpPr/>
          <p:nvPr/>
        </p:nvGrpSpPr>
        <p:grpSpPr>
          <a:xfrm rot="0">
            <a:off x="6006646" y="2619748"/>
            <a:ext cx="4689967" cy="686333"/>
            <a:chOff x="0" y="0"/>
            <a:chExt cx="6253290" cy="915111"/>
          </a:xfrm>
        </p:grpSpPr>
        <p:sp>
          <p:nvSpPr>
            <p:cNvPr name="Freeform 26" id="26"/>
            <p:cNvSpPr/>
            <p:nvPr/>
          </p:nvSpPr>
          <p:spPr>
            <a:xfrm flipH="false" flipV="false" rot="0">
              <a:off x="0" y="0"/>
              <a:ext cx="6253285" cy="915115"/>
            </a:xfrm>
            <a:custGeom>
              <a:avLst/>
              <a:gdLst/>
              <a:ahLst/>
              <a:cxnLst/>
              <a:rect r="r" b="b" t="t" l="l"/>
              <a:pathLst>
                <a:path h="915115" w="6253285">
                  <a:moveTo>
                    <a:pt x="0" y="0"/>
                  </a:moveTo>
                  <a:lnTo>
                    <a:pt x="6253285" y="0"/>
                  </a:lnTo>
                  <a:lnTo>
                    <a:pt x="6253285" y="915115"/>
                  </a:lnTo>
                  <a:lnTo>
                    <a:pt x="0" y="915115"/>
                  </a:lnTo>
                  <a:close/>
                </a:path>
              </a:pathLst>
            </a:custGeom>
            <a:blipFill>
              <a:blip r:embed="rId10">
                <a:alphaModFix amt="0"/>
              </a:blip>
              <a:stretch>
                <a:fillRect l="0" t="-83148" r="0" b="-83147"/>
              </a:stretch>
            </a:blipFill>
          </p:spPr>
        </p:sp>
        <p:sp>
          <p:nvSpPr>
            <p:cNvPr name="TextBox 27" id="27"/>
            <p:cNvSpPr txBox="true"/>
            <p:nvPr/>
          </p:nvSpPr>
          <p:spPr>
            <a:xfrm>
              <a:off x="0" y="-19050"/>
              <a:ext cx="6253290" cy="934161"/>
            </a:xfrm>
            <a:prstGeom prst="rect">
              <a:avLst/>
            </a:prstGeom>
          </p:spPr>
          <p:txBody>
            <a:bodyPr anchor="ctr" rtlCol="false" tIns="0" lIns="0" bIns="0" rIns="0"/>
            <a:lstStyle/>
            <a:p>
              <a:pPr algn="ctr">
                <a:lnSpc>
                  <a:spcPts val="2251"/>
                </a:lnSpc>
              </a:pPr>
              <a:r>
                <a:rPr lang="en-US" sz="1876" b="true">
                  <a:solidFill>
                    <a:srgbClr val="FFFFFF"/>
                  </a:solidFill>
                  <a:latin typeface="Poppins Bold"/>
                  <a:ea typeface="Poppins Bold"/>
                  <a:cs typeface="Poppins Bold"/>
                  <a:sym typeface="Poppins Bold"/>
                </a:rPr>
                <a:t>PIPELINE LAB</a:t>
              </a:r>
            </a:p>
          </p:txBody>
        </p:sp>
      </p:grpSp>
      <p:sp>
        <p:nvSpPr>
          <p:cNvPr name="TextBox 28" id="28"/>
          <p:cNvSpPr txBox="true"/>
          <p:nvPr/>
        </p:nvSpPr>
        <p:spPr>
          <a:xfrm rot="0">
            <a:off x="6349813" y="3475846"/>
            <a:ext cx="4003624" cy="3810991"/>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When the lab throws up a genuinely model-shaped question, name it correctly using today's vocabulary rather than guessing at a fix.</a:t>
            </a:r>
          </a:p>
        </p:txBody>
      </p:sp>
      <p:grpSp>
        <p:nvGrpSpPr>
          <p:cNvPr name="Group 29" id="29"/>
          <p:cNvGrpSpPr/>
          <p:nvPr/>
        </p:nvGrpSpPr>
        <p:grpSpPr>
          <a:xfrm rot="0">
            <a:off x="11108407" y="2619748"/>
            <a:ext cx="4689967" cy="4941618"/>
            <a:chOff x="0" y="0"/>
            <a:chExt cx="6253290" cy="6588823"/>
          </a:xfrm>
        </p:grpSpPr>
        <p:sp>
          <p:nvSpPr>
            <p:cNvPr name="Freeform 30" id="30"/>
            <p:cNvSpPr/>
            <p:nvPr/>
          </p:nvSpPr>
          <p:spPr>
            <a:xfrm flipH="false" flipV="false" rot="0">
              <a:off x="0" y="0"/>
              <a:ext cx="6253353" cy="6588887"/>
            </a:xfrm>
            <a:custGeom>
              <a:avLst/>
              <a:gdLst/>
              <a:ahLst/>
              <a:cxnLst/>
              <a:rect r="r" b="b" t="t" l="l"/>
              <a:pathLst>
                <a:path h="6588887" w="6253353">
                  <a:moveTo>
                    <a:pt x="0" y="164719"/>
                  </a:moveTo>
                  <a:cubicBezTo>
                    <a:pt x="0" y="73787"/>
                    <a:pt x="73787" y="0"/>
                    <a:pt x="164719" y="0"/>
                  </a:cubicBezTo>
                  <a:lnTo>
                    <a:pt x="6088634" y="0"/>
                  </a:lnTo>
                  <a:cubicBezTo>
                    <a:pt x="6179566" y="0"/>
                    <a:pt x="6253353" y="73787"/>
                    <a:pt x="6253353" y="164719"/>
                  </a:cubicBezTo>
                  <a:lnTo>
                    <a:pt x="6253353" y="6424168"/>
                  </a:lnTo>
                  <a:cubicBezTo>
                    <a:pt x="6253353" y="6515100"/>
                    <a:pt x="6179566" y="6588887"/>
                    <a:pt x="6088634" y="6588887"/>
                  </a:cubicBezTo>
                  <a:lnTo>
                    <a:pt x="164719" y="6588887"/>
                  </a:lnTo>
                  <a:cubicBezTo>
                    <a:pt x="73787" y="6588887"/>
                    <a:pt x="0" y="6515100"/>
                    <a:pt x="0" y="6424168"/>
                  </a:cubicBezTo>
                  <a:close/>
                </a:path>
              </a:pathLst>
            </a:custGeom>
            <a:solidFill>
              <a:srgbClr val="FFFFFF"/>
            </a:solidFill>
          </p:spPr>
        </p:sp>
      </p:grpSp>
      <p:grpSp>
        <p:nvGrpSpPr>
          <p:cNvPr name="Group 31" id="31"/>
          <p:cNvGrpSpPr/>
          <p:nvPr/>
        </p:nvGrpSpPr>
        <p:grpSpPr>
          <a:xfrm rot="0">
            <a:off x="11108407" y="2619748"/>
            <a:ext cx="4689967" cy="686333"/>
            <a:chOff x="0" y="0"/>
            <a:chExt cx="6253290" cy="915111"/>
          </a:xfrm>
        </p:grpSpPr>
        <p:sp>
          <p:nvSpPr>
            <p:cNvPr name="Freeform 32" id="32"/>
            <p:cNvSpPr/>
            <p:nvPr/>
          </p:nvSpPr>
          <p:spPr>
            <a:xfrm flipH="false" flipV="false" rot="0">
              <a:off x="0" y="0"/>
              <a:ext cx="6253226" cy="915162"/>
            </a:xfrm>
            <a:custGeom>
              <a:avLst/>
              <a:gdLst/>
              <a:ahLst/>
              <a:cxnLst/>
              <a:rect r="r" b="b" t="t" l="l"/>
              <a:pathLst>
                <a:path h="915162" w="6253226">
                  <a:moveTo>
                    <a:pt x="0" y="0"/>
                  </a:moveTo>
                  <a:lnTo>
                    <a:pt x="6253226" y="0"/>
                  </a:lnTo>
                  <a:lnTo>
                    <a:pt x="6253226" y="915162"/>
                  </a:lnTo>
                  <a:lnTo>
                    <a:pt x="0" y="915162"/>
                  </a:lnTo>
                  <a:close/>
                </a:path>
              </a:pathLst>
            </a:custGeom>
            <a:solidFill>
              <a:srgbClr val="387F7F"/>
            </a:solidFill>
          </p:spPr>
        </p:sp>
      </p:grpSp>
      <p:grpSp>
        <p:nvGrpSpPr>
          <p:cNvPr name="Group 33" id="33"/>
          <p:cNvGrpSpPr/>
          <p:nvPr/>
        </p:nvGrpSpPr>
        <p:grpSpPr>
          <a:xfrm rot="0">
            <a:off x="11108407" y="2619748"/>
            <a:ext cx="4689967" cy="686333"/>
            <a:chOff x="0" y="0"/>
            <a:chExt cx="6253290" cy="915111"/>
          </a:xfrm>
        </p:grpSpPr>
        <p:sp>
          <p:nvSpPr>
            <p:cNvPr name="Freeform 34" id="34"/>
            <p:cNvSpPr/>
            <p:nvPr/>
          </p:nvSpPr>
          <p:spPr>
            <a:xfrm flipH="false" flipV="false" rot="0">
              <a:off x="0" y="0"/>
              <a:ext cx="6253285" cy="915115"/>
            </a:xfrm>
            <a:custGeom>
              <a:avLst/>
              <a:gdLst/>
              <a:ahLst/>
              <a:cxnLst/>
              <a:rect r="r" b="b" t="t" l="l"/>
              <a:pathLst>
                <a:path h="915115" w="6253285">
                  <a:moveTo>
                    <a:pt x="0" y="0"/>
                  </a:moveTo>
                  <a:lnTo>
                    <a:pt x="6253285" y="0"/>
                  </a:lnTo>
                  <a:lnTo>
                    <a:pt x="6253285" y="915115"/>
                  </a:lnTo>
                  <a:lnTo>
                    <a:pt x="0" y="915115"/>
                  </a:lnTo>
                  <a:close/>
                </a:path>
              </a:pathLst>
            </a:custGeom>
            <a:blipFill>
              <a:blip r:embed="rId10">
                <a:alphaModFix amt="0"/>
              </a:blip>
              <a:stretch>
                <a:fillRect l="0" t="-83148" r="0" b="-83147"/>
              </a:stretch>
            </a:blipFill>
          </p:spPr>
        </p:sp>
        <p:sp>
          <p:nvSpPr>
            <p:cNvPr name="TextBox 35" id="35"/>
            <p:cNvSpPr txBox="true"/>
            <p:nvPr/>
          </p:nvSpPr>
          <p:spPr>
            <a:xfrm>
              <a:off x="0" y="-19050"/>
              <a:ext cx="6253290" cy="934161"/>
            </a:xfrm>
            <a:prstGeom prst="rect">
              <a:avLst/>
            </a:prstGeom>
          </p:spPr>
          <p:txBody>
            <a:bodyPr anchor="ctr" rtlCol="false" tIns="0" lIns="0" bIns="0" rIns="0"/>
            <a:lstStyle/>
            <a:p>
              <a:pPr algn="ctr">
                <a:lnSpc>
                  <a:spcPts val="2251"/>
                </a:lnSpc>
              </a:pPr>
              <a:r>
                <a:rPr lang="en-US" sz="1876" b="true">
                  <a:solidFill>
                    <a:srgbClr val="FFFFFF"/>
                  </a:solidFill>
                  <a:latin typeface="Poppins Bold"/>
                  <a:ea typeface="Poppins Bold"/>
                  <a:cs typeface="Poppins Bold"/>
                  <a:sym typeface="Poppins Bold"/>
                </a:rPr>
                <a:t>CAPSTONE PROPOSAL</a:t>
              </a:r>
            </a:p>
          </p:txBody>
        </p:sp>
      </p:grpSp>
      <p:sp>
        <p:nvSpPr>
          <p:cNvPr name="TextBox 36" id="36"/>
          <p:cNvSpPr txBox="true"/>
          <p:nvPr/>
        </p:nvSpPr>
        <p:spPr>
          <a:xfrm rot="0">
            <a:off x="11451574" y="3475846"/>
            <a:ext cx="4003624" cy="3810991"/>
          </a:xfrm>
          <a:prstGeom prst="rect">
            <a:avLst/>
          </a:prstGeom>
        </p:spPr>
        <p:txBody>
          <a:bodyPr anchor="t" rtlCol="false" tIns="0" lIns="0" bIns="0" rIns="0">
            <a:spAutoFit/>
          </a:bodyPr>
          <a:lstStyle/>
          <a:p>
            <a:pPr algn="l">
              <a:lnSpc>
                <a:spcPts val="3512"/>
              </a:lnSpc>
            </a:pPr>
            <a:r>
              <a:rPr lang="en-US" sz="2251">
                <a:solidFill>
                  <a:srgbClr val="475569"/>
                </a:solidFill>
                <a:latin typeface="Poppins"/>
                <a:ea typeface="Poppins"/>
                <a:cs typeface="Poppins"/>
                <a:sym typeface="Poppins"/>
              </a:rPr>
              <a:t>If your capstone idea needs a model to generalise to new cases, say so plainly in your proposal - that is a strength, not a gap.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DAHUbwtVJXA</dc:identifier>
  <dcterms:modified xsi:type="dcterms:W3CDTF">2011-08-01T06:04:30Z</dcterms:modified>
  <cp:revision>1</cp:revision>
  <dc:title>8.3_Machine Learning for Literacy</dc:title>
</cp:coreProperties>
</file>