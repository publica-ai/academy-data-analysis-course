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Topic 8.3 is deliberately kept at literacy level, not model-building level - the handover's own scope note is explicit about this, and it matters for how the whole topic is delivered. Trainees will hear the words 'classification', 'regression' and 'clustering' constantly for the rest of their working lives, from data scientists, from AI tools, from vendor pitches. The goal here is that they can follow that conversation, recognise which everyday business problem each term fits, and know when a question needs a data scientist rather than an analyst - not that they can build any of these models themselves.
WHAT TO SAY: "Today has no coding and no models. What it has is vocabulary you will need for the rest of your career. Classification, regression, clustering - three words that get thrown around constantly, often vaguely. By the end of today you'll be able to hear a business problem and say which of the three it actually is, in plain language, and you'll know where an analyst's job ends and a data scientist's begins."
DELIVERY CUE: Say explicitly and early that nobody is building a model today - it removes anxiety for trainees who assume 'machine learning topic' means a coding exercise is coming.
TIMING: 1-2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Retrieval pulls forward Topic 8.2's trend-forecasting habits (question one and two) and primes the key distinction Topic 8.3 opens with: plenty of useful analysis needs no model at all, only careful counting, filtering and comparison - the pipeline work from Topic 8.1. Machine learning is for a specific, narrower class of question.
WHAT TO SAY: "Ninety seconds. Question one: what does a trend forecast assume, and what can three months of data never show you?... Question two: what does stress-testing a forecast mean, and why was disagreement between two methods useful rather than a problem?... Question three, and think broadly: name one true thing about SwiftRoute's Q3 data that you can state directly, with no model of any kind, just by looking."
DELIVERY CUE: Accept anything correct for question three - e.g. 'September had more deliveries than July' - and use it to set up the hook: most useful analysis is exactly this, not machine learning.
TIMING: 90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The hook names the exact three request types that map onto the topic's three concepts: predicting a category (will this delivery fail - classification), predicting a number (how long will it take - regression), and grouping similar things with no predefined answer (which customers are alike - clustering). Framing them as three genuinely different requests that get flattened into one vague phrase, 'use AI for that', is the whole reason literacy on this vocabulary matters for a non-technical analyst.
WHAT TO SAY: "This happens in real meetings. Someone says 'can we predict which deliveries fail', someone else says 'can we predict how long a delivery takes', someone else says 'can we group similar customers together' - and it all gets waved at as if it's the same request: 'can we use AI for that'. It is not the same request. It's three different kinds of problem. Today you learn to tell them apart, name each one correctly, and know when the honest answer is 'that's a data scientist's job, here's exactly what to ask them for'."
DELIVERY CUE: Ask the room which of the three questions sounds hardest - most will guess wrong, which is a good hook into the content.
TIMING: 1-2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Four outcomes matching the handover's own scope note for 8.3 almost verbatim: explain supervised learning (classification, regression), explain clustering, identify which fits a business problem, and describe the analyst/data-scientist boundary. Deliberately no outcome about building anything.
WHAT TO SAY: "Four things by the end of today. One, explain supervised learning - classification and regression - in plain language, each with a SwiftRoute example you could say out loud in a meeting. Two, explain clustering, and what makes it different: there's no right answer to check your grouping against. Three, given a business problem, identify which of the three it actually is, just from how it's phrased. Four, describe where an analyst's job ends and a data scientist's begins, and recognise the moment to hand a question across that line."
DELIVERY CUE: Flag outcome four as the one the capstone panel is most likely to probe - trainees proposing a capstone that quietly needs a full model should know that going in.
TIMING: 1-2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Section marker for Part One. Names the defining feature of supervised learning up front - it learns from historical examples where the right answer is already known - before splitting into its two forms.
WHAT TO SAY: "Part one: supervised learning. Three things. What 'supervised' actually means - learning from a pile of past examples where we already know the right answer. Classification, which predicts a category. And regression, which predicts a number. Same underlying idea, two different kinds of output."
DELIVERY CUE: Brief, forward-leaning.
TIMING: 30-45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Defines the load-bearing distinction of supervised learning: it requires historical examples with a known, recorded outcome to learn from. Grounds this directly in the real Q3 dataset trainees already know: delivery_status and duration_min are both real recorded outcomes for every one of the 3,600 deliveries, which is exactly the kind of history supervised learning needs. Explicitly corrects a common misreading of the word 'supervised' as meaning human oversight of the model.
WHAT TO SAY: "Supervised means the training data already has the answers in it. Look at SwiftRoute's Q3 file: every one of 3,600 deliveries already has a known outcome recorded - Delivered, Failed, Returned or In Transit - and a known real duration. A supervised model studies that history: given these inputs, distance, route, time of day, here's what actually happened. Then it applies the pattern it learned to a new delivery where the outcome isn't known yet. That's it. 'Supervised' doesn't mean someone is watching the model - it means the training data already had the answer key built in."
DELIVERY CUE: This correction (supervised does not mean human oversight) is worth pausing on - it's a genuinely common misconception.
TIMING: 2-3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The core distinction of Part One, made concrete with real, recomputed figures from swiftroute_q3_answer_key.xlsx: classification's SwiftRoute example uses the real delivery_status distribution (Delivered 2,541, Failed 340, Returned 355, In Transit 364, summing to 3,600); regression's example uses the real duration_min range (8 to 189 minutes). Both examples are phrased as the kind of question someone would actually ask in a meeting, with the linguistic tell ('predict which/whether' versus 'predict how much/how long') called out explicitly as a practical shortcut trainees can use on the spot.
WHAT TO SAY: "Classification: the answer has to be one of a fixed list of categories. Will this delivery be Delivered, Failed, Returned, or still In Transit? In our real Q3 file, 2,541 of 3,600 were Delivered and 340 Failed - that's a genuine pattern a classification model could learn from. Regression: the answer is a number that can be almost anything on a scale. How many minutes will this delivery take? Real Q3 durations ranged from 8 minutes to 189 minutes - that spread is exactly what regression estimates. Quick trick for a meeting: if the question uses 'which' or 'whether', it's classification. If it uses 'how much' or 'how long', it's regression."
DELIVERY CUE: Have trainees say the 'which/whether' versus 'how much/how long' trick back to you - it's the single most reusable takeaway on this slide.
TIMING: 3-4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Section marker for Part Two, moving from supervised methods (known answers) to unsupervised (no known answers). Sets up the defining contrast with Part One before naming clustering specifically.
WHAT TO SAY: "Part two, and this is where the ground shifts. Everything in part one needed a known right answer to learn from. Clustering has no such thing. We'll look at what changes when there's no answer key, what clustering actually does instead, and a real, ungraded grouping of SwiftRoute's own customers."
DELIVERY CUE: Brief.
TIMING: 30-45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Defines clustering against the supervised methods just covered, with the contrast made explicit as the teaching hook: no known right answer, so no accuracy score is possible, and evaluation has to fall back on business judgement about whether the resulting groups are useful. This sets up the worked example on the next slide, which shows a real, informal clustering of SwiftRoute customers using only counting, no model.
WHAT TO SAY: "Clustering flips the whole condition from part one. There's no known right answer sitting in the data to learn from. Instead, clustering looks for things that are naturally alike and groups them, with nobody specifying in advance what the groups are or how many there should be. That means you genuinely cannot grade a clustering result the way you can grade a classification - there's no answer key. The only question you can ask is: do these groups make business sense? That's a judgement call, not a calculation."
DELIVERY CUE: Ask the room: if there's no accuracy score, how would you even know if a clustering was any good? Let the tension sit briefly before the worked example answers it.
TIMING: 2-3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A genuinely real, verifiable worked example built entirely from counting, not a model: recomputed directly from swiftroute_q3_answer_key.xlsx, deliveries_clean sheet, grouped by customer_id. 1,193 unique customers across 3,600 orders (mean 3.02 per customer), 214 customers with exactly one order, and a maximum of 12 orders for the single most frequent customer. This deliberately demonstrates clustering's core idea, natural grouping with no predefined labels, using arithmetic a trainee can fully reproduce, before naming that a real clustering tool automates and scales the same idea.
WHAT TO SAY: "Here's real clustering, done by hand, with nothing but counting. SwiftRoute has 1,193 distinct customers across 3,600 orders in Q3 - about three orders each on average. But averages hide structure. 214 customers ordered exactly once. Most customers sit somewhere around two to four orders. And a small handful, one customer hit twelve orders in a single quarter, are way out ahead of everyone else. Look at that and you can already see three natural groups: one-time customers, occasional customers, and frequent customers. Nobody told us those groups existed in advance. We found them by looking at the shape of the data. That is clustering. A real clustering tool does this more rigorously and with more variables at once, but the core idea is exactly what we just did by eye."
DELIVERY CUE: Ask what SwiftRoute might actually do differently for each of the three groups - this turns the concept into a business decision, which answers 'judge by usefulness' concretely.
TIMING: 3-4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Section marker for Part Three, moving from concepts to the practical boundary question: what can an analyst with this literacy actually do unassisted, versus what has to be hedged off to a data scientist, and how to make that hand-off a specific, useful request rather than a vague one.
WHAT TO SAY: "Part three, and this is the practical payoff. What can you, as an analyst, actually do with today's vocabulary, with no model-building involved? What genuinely needs a data scientist, and how do you ask for it properly rather than just saying 'can someone build me an AI for this'? Then it's your turn to sort SwiftRoute's real open requests into the three buckets."
DELIVERY CUE: Brief.
TIMING: 30-45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Draws the analyst/data-scientist boundary in terms of a specific skill (model-building and validation) rather than seniority or general capability, and explicitly reframes Topics 8.1 and 8.2 as examples of serious analytical value delivered with zero model-building - directly countering the assumption that 'real' data work always needs machine learning. Provides a literal sentence trainees can say out loud when a request crosses the line.
WHAT TO SAY: "Here's the honest line. An analyst's core work is describing what already happened, cleanly and verifiably, and forecasting simply from a trend - that's the whole of Topics 8.1 and 8.2, and it's genuinely valuable work with zero models involved. A data scientist's distinct skill is building a model that generalises to new cases it has never seen, validating that it actually works, and maintaining it as data changes. That's not about who's smarter or more senior. It's a specific technical skill most analyst roles, this one included, aren't expected to have. Practise saying this sentence: 'I can tell you what happened, and forecast a simple trend by hand. Building a model that predicts new cases needs a data scientist.' That's not a weakness. That's professional honesty."
DELIVERY CUE: Have a couple of trainees say the sentence out loud - rehearsing it verbally is the point, not just reading it.
TIMING: 2-3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The hands-on sorting task, using four request types deliberately chosen so the self-check has one of each: (1) predicting a category over a future period is classification, (2) predicting a quantity is regression, (3) grouping similar riders with no predefined answer is clustering, and (4) counting something that already happened needs no model at all, it is exactly the kind of pipeline work covered in Topic 8.1. The fourth item is deliberately included as a trap: trainees who over-apply today's new vocabulary sometimes reach for a model where simple counting would do.
WHAT TO SAY: "Ten minutes. Four real requests from an operations meeting. Which deliveries will fail this week. How much fuel will Route LAG-07 use next month. Which riders behave most alike. How many deliveries happened in September. For each, name the bucket - classification, regression, clustering, or no model needed at all - and say who should own it. Watch the last one carefully."
DELIVERY CUE: Circulate and specifically catch anyone who reaches for a model on request four - correcting that instinct live is more valuable than the correct answers on the other three.
TIMING: 10 minutes plus 2-3 minutes of neighbour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Five-point recap covering the topic's full arc: the defining condition of supervised learning, the classification/regression split, clustering's different evaluation standard, the analyst's real value without models, and the specific hand-off skill. The pull line previews Topic 8.4's shift into automation.
WHAT TO SAY: "Quick recap. Supervised learning needs a history where the right answers are already known. Classification predicts a category, regression predicts a number - same method, different shape of output. Clustering has no right answer to check against, so you judge its groups by whether they're useful, not by a score. An analyst can describe the past and forecast a simple trend with no models at all, and that's real, valuable work. And building something that generalises to new cases is a distinct skill - know when to hand it off, and how to ask properly."
DELIVERY CUE: Pause on the fourth bullet - it's the one most likely to change how trainees describe their own role afterwards.
TIMING: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CONTENT: Closing signpost, connecting Topic 8.3 forward to Topic 8.4's automation focus, to the pipeline lab where today's vocabulary lets trainees correctly name a model-shaped problem rather than mishandling it, and to the capstone proposal, where honestly scoping whether a model is needed (and by extension, a data scientist's involvement) is framed as good practice rather than an admission of limitation.
WHAT TO SAY: "Where this goes next. Topic 8.4 moves into automating the repetitive parts of your own analyst work. In the pipeline lab, if you hit a genuinely model-shaped question, you now have the vocabulary to name it correctly instead of guessing. And for your capstone proposal: if your idea genuinely needs a model that generalises to new cases, say so plainly. That's not a weak spot in your proposal. That's you demonstrating exactly the literacy this topic was for."
DELIVERY CUE: End on the capstone framing - it directly lowers anxiety about proposals that touch ML-shaped problems.
TIMING: 1-2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image" Target="../media/image-14-2.png"/><Relationship Id="rId4" Type="http://schemas.openxmlformats.org/officeDocument/2006/relationships/image" Target="../media/image-14-2.png"/><Relationship Id="rId5" Type="http://schemas.openxmlformats.org/officeDocument/2006/relationships/image" Target="../media/image-14-2.png"/><Relationship Id="rId6" Type="http://schemas.openxmlformats.org/officeDocument/2006/relationships/image" Target="../media/image-14-2.png"/><Relationship Id="rId7" Type="http://schemas.openxmlformats.org/officeDocument/2006/relationships/image" Target="../media/image-14-7.pn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claude/assets/logo_full.png">    </p:cNvPr>
          <p:cNvPicPr>
            <a:picLocks noChangeAspect="1"/>
          </p:cNvPicPr>
          <p:nvPr/>
        </p:nvPicPr>
        <p:blipFill>
          <a:blip r:embed="rId2"/>
          <a:stretch>
            <a:fillRect/>
          </a:stretch>
        </p:blipFill>
        <p:spPr>
          <a:xfrm>
            <a:off x="685800" y="502920"/>
            <a:ext cx="1371600" cy="1192807"/>
          </a:xfrm>
          <a:prstGeom prst="rect">
            <a:avLst/>
          </a:prstGeom>
        </p:spPr>
      </p:pic>
      <p:sp>
        <p:nvSpPr>
          <p:cNvPr id="3" name="Text 0"/>
          <p:cNvSpPr txBox="1"/>
          <p:nvPr/>
        </p:nvSpPr>
        <p:spPr>
          <a:xfrm>
            <a:off x="685800" y="2331720"/>
            <a:ext cx="6949440" cy="320040"/>
          </a:xfrm>
          <a:prstGeom prst="rect">
            <a:avLst/>
          </a:prstGeom>
          <a:noFill/>
          <a:ln/>
        </p:spPr>
        <p:txBody>
          <a:bodyPr wrap="square" lIns="0" tIns="0" rIns="0" bIns="0" rtlCol="0" anchor="ctr"/>
          <a:lstStyle/>
          <a:p>
            <a:pPr indent="0" marL="0">
              <a:buNone/>
            </a:pPr>
            <a:r>
              <a:rPr lang="en-US" sz="1400" spc="150" kern="0" dirty="0">
                <a:solidFill>
                  <a:srgbClr val="387F7F"/>
                </a:solidFill>
                <a:latin typeface="Inter" pitchFamily="34" charset="0"/>
                <a:ea typeface="Inter" pitchFamily="34" charset="-122"/>
                <a:cs typeface="Inter" pitchFamily="34" charset="-120"/>
              </a:rPr>
              <a:t>MODULE 8 · AI-ASSISTED DATA ANALYSIS</a:t>
            </a:r>
            <a:endParaRPr lang="en-US" sz="1400" dirty="0"/>
          </a:p>
        </p:txBody>
      </p:sp>
      <p:sp>
        <p:nvSpPr>
          <p:cNvPr id="4" name="Text 1"/>
          <p:cNvSpPr txBox="1"/>
          <p:nvPr/>
        </p:nvSpPr>
        <p:spPr>
          <a:xfrm>
            <a:off x="685800" y="2670048"/>
            <a:ext cx="6949440" cy="411480"/>
          </a:xfrm>
          <a:prstGeom prst="rect">
            <a:avLst/>
          </a:prstGeom>
          <a:noFill/>
          <a:ln/>
        </p:spPr>
        <p:txBody>
          <a:bodyPr wrap="square" lIns="0" tIns="0" rIns="0" bIns="0" rtlCol="0" anchor="ctr"/>
          <a:lstStyle/>
          <a:p>
            <a:pPr indent="0" marL="0">
              <a:buNone/>
            </a:pPr>
            <a:r>
              <a:rPr lang="en-US" sz="1950" b="1" dirty="0">
                <a:solidFill>
                  <a:srgbClr val="64748B"/>
                </a:solidFill>
                <a:latin typeface="Inter Bold" pitchFamily="34" charset="0"/>
                <a:ea typeface="Inter Bold" pitchFamily="34" charset="-122"/>
                <a:cs typeface="Inter Bold" pitchFamily="34" charset="-120"/>
              </a:rPr>
              <a:t>Topic 8.3 of 6</a:t>
            </a:r>
            <a:endParaRPr lang="en-US" sz="1950" dirty="0"/>
          </a:p>
        </p:txBody>
      </p:sp>
      <p:sp>
        <p:nvSpPr>
          <p:cNvPr id="5" name="Text 2"/>
          <p:cNvSpPr txBox="1"/>
          <p:nvPr/>
        </p:nvSpPr>
        <p:spPr>
          <a:xfrm>
            <a:off x="658368" y="3108960"/>
            <a:ext cx="7223760" cy="1828800"/>
          </a:xfrm>
          <a:prstGeom prst="rect">
            <a:avLst/>
          </a:prstGeom>
          <a:noFill/>
          <a:ln/>
        </p:spPr>
        <p:txBody>
          <a:bodyPr wrap="square" lIns="0" tIns="0" rIns="0" bIns="0" rtlCol="0" anchor="ctr"/>
          <a:lstStyle/>
          <a:p>
            <a:pPr indent="0" marL="0">
              <a:lnSpc>
                <a:spcPct val="103000"/>
              </a:lnSpc>
              <a:buNone/>
            </a:pPr>
            <a:r>
              <a:rPr lang="en-US" sz="5400" b="1" dirty="0">
                <a:solidFill>
                  <a:srgbClr val="000000"/>
                </a:solidFill>
                <a:latin typeface="Poppins" pitchFamily="34" charset="0"/>
                <a:ea typeface="Poppins" pitchFamily="34" charset="-122"/>
                <a:cs typeface="Poppins" pitchFamily="34" charset="-120"/>
              </a:rPr>
              <a:t>Machine Learning,
</a:t>
            </a:r>
            <a:pPr indent="0" marL="0">
              <a:lnSpc>
                <a:spcPct val="103000"/>
              </a:lnSpc>
              <a:buNone/>
            </a:pPr>
            <a:r>
              <a:rPr lang="en-US" sz="5400" b="1" dirty="0">
                <a:solidFill>
                  <a:srgbClr val="387F7F"/>
                </a:solidFill>
                <a:latin typeface="Poppins" pitchFamily="34" charset="0"/>
                <a:ea typeface="Poppins" pitchFamily="34" charset="-122"/>
                <a:cs typeface="Poppins" pitchFamily="34" charset="-120"/>
              </a:rPr>
              <a:t>for Literacy</a:t>
            </a:r>
            <a:endParaRPr lang="en-US" sz="5400" dirty="0"/>
          </a:p>
        </p:txBody>
      </p:sp>
      <p:sp>
        <p:nvSpPr>
          <p:cNvPr id="6" name="Shape 3"/>
          <p:cNvSpPr/>
          <p:nvPr/>
        </p:nvSpPr>
        <p:spPr>
          <a:xfrm>
            <a:off x="8092440" y="1417320"/>
            <a:ext cx="3383280" cy="3383280"/>
          </a:xfrm>
          <a:prstGeom prst="roundRect">
            <a:avLst>
              <a:gd name="adj" fmla="val 3243"/>
            </a:avLst>
          </a:prstGeom>
          <a:solidFill>
            <a:srgbClr val="F4F7F7"/>
          </a:solidFill>
          <a:ln w="12700">
            <a:solidFill>
              <a:srgbClr val="E2E8F0"/>
            </a:solidFill>
            <a:prstDash val="solid"/>
          </a:ln>
        </p:spPr>
      </p:sp>
      <p:sp>
        <p:nvSpPr>
          <p:cNvPr id="7" name="Text 4"/>
          <p:cNvSpPr txBox="1"/>
          <p:nvPr/>
        </p:nvSpPr>
        <p:spPr>
          <a:xfrm>
            <a:off x="8092440" y="2286000"/>
            <a:ext cx="3383280" cy="640080"/>
          </a:xfrm>
          <a:prstGeom prst="rect">
            <a:avLst/>
          </a:prstGeom>
          <a:noFill/>
          <a:ln/>
        </p:spPr>
        <p:txBody>
          <a:bodyPr wrap="square" lIns="0" tIns="0" rIns="0" bIns="0" rtlCol="0" anchor="ctr"/>
          <a:lstStyle/>
          <a:p>
            <a:pPr algn="ctr" indent="0" marL="0">
              <a:buNone/>
            </a:pPr>
            <a:r>
              <a:rPr lang="en-US" sz="3000" dirty="0">
                <a:solidFill>
                  <a:srgbClr val="64748B"/>
                </a:solidFill>
                <a:latin typeface="Poppins" pitchFamily="34" charset="0"/>
                <a:ea typeface="Poppins" pitchFamily="34" charset="-122"/>
                <a:cs typeface="Poppins" pitchFamily="34" charset="-120"/>
              </a:rPr>
              <a:t>▦</a:t>
            </a:r>
            <a:endParaRPr lang="en-US" sz="3000" dirty="0"/>
          </a:p>
        </p:txBody>
      </p:sp>
      <p:sp>
        <p:nvSpPr>
          <p:cNvPr id="8" name="Text 5"/>
          <p:cNvSpPr txBox="1"/>
          <p:nvPr/>
        </p:nvSpPr>
        <p:spPr>
          <a:xfrm>
            <a:off x="8321040" y="2880360"/>
            <a:ext cx="2926080" cy="320040"/>
          </a:xfrm>
          <a:prstGeom prst="rect">
            <a:avLst/>
          </a:prstGeom>
          <a:noFill/>
          <a:ln/>
        </p:spPr>
        <p:txBody>
          <a:bodyPr wrap="square" lIns="0" tIns="0" rIns="0" bIns="0" rtlCol="0" anchor="ctr"/>
          <a:lstStyle/>
          <a:p>
            <a:pPr algn="ctr" indent="0" marL="0">
              <a:buNone/>
            </a:pPr>
            <a:r>
              <a:rPr lang="en-US" sz="1100" b="1" dirty="0">
                <a:solidFill>
                  <a:srgbClr val="64748B"/>
                </a:solidFill>
                <a:latin typeface="Poppins" pitchFamily="34" charset="0"/>
                <a:ea typeface="Poppins" pitchFamily="34" charset="-122"/>
                <a:cs typeface="Poppins" pitchFamily="34" charset="-120"/>
              </a:rPr>
              <a:t>IMAGE PLACEHOLDER</a:t>
            </a:r>
            <a:endParaRPr lang="en-US" sz="1100" dirty="0"/>
          </a:p>
        </p:txBody>
      </p:sp>
      <p:sp>
        <p:nvSpPr>
          <p:cNvPr id="9" name="Text 6"/>
          <p:cNvSpPr txBox="1"/>
          <p:nvPr/>
        </p:nvSpPr>
        <p:spPr>
          <a:xfrm>
            <a:off x="8321040" y="3246120"/>
            <a:ext cx="2926080" cy="548640"/>
          </a:xfrm>
          <a:prstGeom prst="rect">
            <a:avLst/>
          </a:prstGeom>
          <a:noFill/>
          <a:ln/>
        </p:spPr>
        <p:txBody>
          <a:bodyPr wrap="square" lIns="0" tIns="0" rIns="0" bIns="0" rtlCol="0" anchor="ctr"/>
          <a:lstStyle/>
          <a:p>
            <a:pPr algn="ctr" indent="0" marL="0">
              <a:lnSpc>
                <a:spcPct val="120000"/>
              </a:lnSpc>
              <a:buNone/>
            </a:pPr>
            <a:r>
              <a:rPr lang="en-US" sz="950" i="1" dirty="0">
                <a:solidFill>
                  <a:srgbClr val="64748B"/>
                </a:solidFill>
                <a:latin typeface="Poppins" pitchFamily="34" charset="0"/>
                <a:ea typeface="Poppins" pitchFamily="34" charset="-122"/>
                <a:cs typeface="Poppins" pitchFamily="34" charset="-120"/>
              </a:rPr>
              <a:t>Replace with a Publica-approved</a:t>
            </a:r>
            <a:endParaRPr lang="en-US" sz="950" dirty="0"/>
          </a:p>
          <a:p>
            <a:pPr algn="ctr" indent="0" marL="0">
              <a:lnSpc>
                <a:spcPct val="120000"/>
              </a:lnSpc>
              <a:buNone/>
            </a:pPr>
            <a:r>
              <a:rPr lang="en-US" sz="950" i="1" dirty="0">
                <a:solidFill>
                  <a:srgbClr val="64748B"/>
                </a:solidFill>
                <a:latin typeface="Poppins" pitchFamily="34" charset="0"/>
                <a:ea typeface="Poppins" pitchFamily="34" charset="-122"/>
                <a:cs typeface="Poppins" pitchFamily="34" charset="-120"/>
              </a:rPr>
              <a:t>illustration or photograph</a:t>
            </a:r>
            <a:endParaRPr lang="en-US" sz="950" dirty="0"/>
          </a:p>
        </p:txBody>
      </p:sp>
      <p:sp>
        <p:nvSpPr>
          <p:cNvPr id="10" name="Shape 7"/>
          <p:cNvSpPr/>
          <p:nvPr/>
        </p:nvSpPr>
        <p:spPr>
          <a:xfrm>
            <a:off x="685800" y="5806440"/>
            <a:ext cx="10817352" cy="0"/>
          </a:xfrm>
          <a:prstGeom prst="line">
            <a:avLst/>
          </a:prstGeom>
          <a:noFill/>
          <a:ln w="12700">
            <a:solidFill>
              <a:srgbClr val="E2E8F0"/>
            </a:solidFill>
            <a:prstDash val="solid"/>
          </a:ln>
        </p:spPr>
      </p:sp>
      <p:pic>
        <p:nvPicPr>
          <p:cNvPr id="11" name="Image 1" descr="/home/claude/assets/icon_stack.png">    </p:cNvPr>
          <p:cNvPicPr>
            <a:picLocks noChangeAspect="1"/>
          </p:cNvPicPr>
          <p:nvPr/>
        </p:nvPicPr>
        <p:blipFill>
          <a:blip r:embed="rId3"/>
          <a:stretch>
            <a:fillRect/>
          </a:stretch>
        </p:blipFill>
        <p:spPr>
          <a:xfrm>
            <a:off x="685800" y="5989320"/>
            <a:ext cx="201168" cy="182880"/>
          </a:xfrm>
          <a:prstGeom prst="rect">
            <a:avLst/>
          </a:prstGeom>
        </p:spPr>
      </p:pic>
      <p:sp>
        <p:nvSpPr>
          <p:cNvPr id="12" name="Text 8"/>
          <p:cNvSpPr txBox="1"/>
          <p:nvPr/>
        </p:nvSpPr>
        <p:spPr>
          <a:xfrm>
            <a:off x="960120" y="5943600"/>
            <a:ext cx="2743200" cy="274320"/>
          </a:xfrm>
          <a:prstGeom prst="rect">
            <a:avLst/>
          </a:prstGeom>
          <a:noFill/>
          <a:ln/>
        </p:spPr>
        <p:txBody>
          <a:bodyPr wrap="square" lIns="0" tIns="0" rIns="0" bIns="0" rtlCol="0" anchor="ctr"/>
          <a:lstStyle/>
          <a:p>
            <a:pPr indent="0" marL="0">
              <a:buNone/>
            </a:pPr>
            <a:r>
              <a:rPr lang="en-US" sz="1400" dirty="0">
                <a:solidFill>
                  <a:srgbClr val="64748B"/>
                </a:solidFill>
                <a:latin typeface="Inter" pitchFamily="34" charset="0"/>
                <a:ea typeface="Inter" pitchFamily="34" charset="-122"/>
                <a:cs typeface="Inter" pitchFamily="34" charset="-120"/>
              </a:rPr>
              <a:t>Topic 8.3</a:t>
            </a:r>
            <a:endParaRPr lang="en-US" sz="1400" dirty="0"/>
          </a:p>
        </p:txBody>
      </p:sp>
      <p:sp>
        <p:nvSpPr>
          <p:cNvPr id="13" name="Text 9"/>
          <p:cNvSpPr txBox="1"/>
          <p:nvPr/>
        </p:nvSpPr>
        <p:spPr>
          <a:xfrm>
            <a:off x="685800" y="6446520"/>
            <a:ext cx="3657600" cy="274320"/>
          </a:xfrm>
          <a:prstGeom prst="rect">
            <a:avLst/>
          </a:prstGeom>
          <a:noFill/>
          <a:ln/>
        </p:spPr>
        <p:txBody>
          <a:bodyPr wrap="square" lIns="0" tIns="0" rIns="0" bIns="0" rtlCol="0" anchor="ctr"/>
          <a:lstStyle/>
          <a:p>
            <a:pPr indent="0" marL="0">
              <a:buNone/>
            </a:pPr>
            <a:r>
              <a:rPr lang="en-US" sz="1000" b="1" spc="100" kern="0" dirty="0">
                <a:solidFill>
                  <a:srgbClr val="387F7F"/>
                </a:solidFill>
                <a:latin typeface="Poppins" pitchFamily="34" charset="0"/>
                <a:ea typeface="Poppins" pitchFamily="34" charset="-122"/>
                <a:cs typeface="Poppins" pitchFamily="34" charset="-120"/>
              </a:rPr>
              <a:t>PUBLICA ACADEMY</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Text 2"/>
          <p:cNvSpPr txBox="1"/>
          <p:nvPr/>
        </p:nvSpPr>
        <p:spPr>
          <a:xfrm>
            <a:off x="868680" y="292608"/>
            <a:ext cx="7772400" cy="274320"/>
          </a:xfrm>
          <a:prstGeom prst="rect">
            <a:avLst/>
          </a:prstGeom>
          <a:noFill/>
          <a:ln/>
        </p:spPr>
        <p:txBody>
          <a:bodyPr wrap="square" lIns="0" tIns="0" rIns="0" bIns="0" rtlCol="0" anchor="ctr"/>
          <a:lstStyle/>
          <a:p>
            <a:pPr indent="0" marL="0">
              <a:buNone/>
            </a:pPr>
            <a:r>
              <a:rPr lang="en-US" sz="1150" b="1" spc="200" kern="0" dirty="0">
                <a:solidFill>
                  <a:srgbClr val="64748B"/>
                </a:solidFill>
                <a:latin typeface="Poppins" pitchFamily="34" charset="0"/>
                <a:ea typeface="Poppins" pitchFamily="34" charset="-122"/>
                <a:cs typeface="Poppins" pitchFamily="34" charset="-120"/>
              </a:rPr>
              <a:t>RETRIEVAL PRACTICE</a:t>
            </a:r>
            <a:endParaRPr lang="en-US" sz="1150" dirty="0"/>
          </a:p>
        </p:txBody>
      </p:sp>
      <p:sp>
        <p:nvSpPr>
          <p:cNvPr id="5" name="Shape 3"/>
          <p:cNvSpPr/>
          <p:nvPr/>
        </p:nvSpPr>
        <p:spPr>
          <a:xfrm>
            <a:off x="685800" y="612648"/>
            <a:ext cx="54864" cy="411480"/>
          </a:xfrm>
          <a:prstGeom prst="rect">
            <a:avLst/>
          </a:prstGeom>
          <a:solidFill>
            <a:srgbClr val="387F7F"/>
          </a:solidFill>
          <a:ln/>
        </p:spPr>
      </p:sp>
      <p:sp>
        <p:nvSpPr>
          <p:cNvPr id="6" name="Text 4"/>
          <p:cNvSpPr txBox="1"/>
          <p:nvPr/>
        </p:nvSpPr>
        <p:spPr>
          <a:xfrm>
            <a:off x="868680" y="566928"/>
            <a:ext cx="9006840" cy="685800"/>
          </a:xfrm>
          <a:prstGeom prst="rect">
            <a:avLst/>
          </a:prstGeom>
          <a:noFill/>
          <a:ln/>
        </p:spPr>
        <p:txBody>
          <a:bodyPr wrap="square" lIns="0" tIns="0" rIns="0" bIns="0" rtlCol="0" anchor="t"/>
          <a:lstStyle/>
          <a:p>
            <a:pPr indent="0" marL="0">
              <a:lnSpc>
                <a:spcPct val="110000"/>
              </a:lnSpc>
              <a:buNone/>
            </a:pPr>
            <a:r>
              <a:rPr lang="en-US" sz="3300" dirty="0">
                <a:solidFill>
                  <a:srgbClr val="387F7F"/>
                </a:solidFill>
                <a:latin typeface="Poppins" pitchFamily="34" charset="0"/>
                <a:ea typeface="Poppins" pitchFamily="34" charset="-122"/>
                <a:cs typeface="Poppins" pitchFamily="34" charset="-120"/>
              </a:rPr>
              <a:t>Before we go further, name these</a:t>
            </a:r>
            <a:endParaRPr lang="en-US" sz="3300" dirty="0"/>
          </a:p>
        </p:txBody>
      </p:sp>
      <p:sp>
        <p:nvSpPr>
          <p:cNvPr id="7" name="Shape 5"/>
          <p:cNvSpPr/>
          <p:nvPr/>
        </p:nvSpPr>
        <p:spPr>
          <a:xfrm>
            <a:off x="10058400" y="457200"/>
            <a:ext cx="1234440" cy="457200"/>
          </a:xfrm>
          <a:prstGeom prst="roundRect">
            <a:avLst>
              <a:gd name="adj" fmla="val 50000"/>
            </a:avLst>
          </a:prstGeom>
          <a:solidFill>
            <a:srgbClr val="387F7F"/>
          </a:solidFill>
          <a:ln/>
        </p:spPr>
      </p:sp>
      <p:sp>
        <p:nvSpPr>
          <p:cNvPr id="8" name="Text 6"/>
          <p:cNvSpPr txBox="1"/>
          <p:nvPr/>
        </p:nvSpPr>
        <p:spPr>
          <a:xfrm>
            <a:off x="10058400" y="457200"/>
            <a:ext cx="12344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90 SEC</a:t>
            </a:r>
            <a:endParaRPr lang="en-US" sz="1300" dirty="0"/>
          </a:p>
        </p:txBody>
      </p:sp>
      <p:sp>
        <p:nvSpPr>
          <p:cNvPr id="9" name="Text 7"/>
          <p:cNvSpPr txBox="1"/>
          <p:nvPr/>
        </p:nvSpPr>
        <p:spPr>
          <a:xfrm>
            <a:off x="868680" y="1207008"/>
            <a:ext cx="9601200" cy="365760"/>
          </a:xfrm>
          <a:prstGeom prst="rect">
            <a:avLst/>
          </a:prstGeom>
          <a:noFill/>
          <a:ln/>
        </p:spPr>
        <p:txBody>
          <a:bodyPr wrap="square" lIns="0" tIns="0" rIns="0" bIns="0" rtlCol="0" anchor="ctr"/>
          <a:lstStyle/>
          <a:p>
            <a:pPr indent="0" marL="0">
              <a:buNone/>
            </a:pPr>
            <a:r>
              <a:rPr lang="en-US" sz="1500" i="1" dirty="0">
                <a:solidFill>
                  <a:srgbClr val="64748B"/>
                </a:solidFill>
                <a:latin typeface="Poppins" pitchFamily="34" charset="0"/>
                <a:ea typeface="Poppins" pitchFamily="34" charset="-122"/>
                <a:cs typeface="Poppins" pitchFamily="34" charset="-120"/>
              </a:rPr>
              <a:t>Answer out loud or on paper - no notes. 90 seconds.</a:t>
            </a:r>
            <a:endParaRPr lang="en-US" sz="1500" dirty="0"/>
          </a:p>
        </p:txBody>
      </p:sp>
      <p:sp>
        <p:nvSpPr>
          <p:cNvPr id="10" name="Shape 8"/>
          <p:cNvSpPr/>
          <p:nvPr/>
        </p:nvSpPr>
        <p:spPr>
          <a:xfrm>
            <a:off x="685800" y="1874520"/>
            <a:ext cx="10424160" cy="914400"/>
          </a:xfrm>
          <a:prstGeom prst="roundRect">
            <a:avLst>
              <a:gd name="adj" fmla="val 9000"/>
            </a:avLst>
          </a:prstGeom>
          <a:solidFill>
            <a:srgbClr val="FFFFFF"/>
          </a:solidFill>
          <a:ln/>
          <a:effectLst>
            <a:outerShdw sx="100000" sy="100000" kx="0" ky="0" algn="bl" rotWithShape="0" blurRad="127000" dist="38100" dir="5400000">
              <a:srgbClr val="1B2A2E">
                <a:alpha val="12000"/>
              </a:srgbClr>
            </a:outerShdw>
          </a:effectLst>
        </p:spPr>
      </p:sp>
      <p:sp>
        <p:nvSpPr>
          <p:cNvPr id="11" name="Shape 9"/>
          <p:cNvSpPr/>
          <p:nvPr/>
        </p:nvSpPr>
        <p:spPr>
          <a:xfrm>
            <a:off x="960120" y="2103120"/>
            <a:ext cx="457200" cy="457200"/>
          </a:xfrm>
          <a:prstGeom prst="ellipse">
            <a:avLst/>
          </a:prstGeom>
          <a:solidFill>
            <a:srgbClr val="387F7F"/>
          </a:solidFill>
          <a:ln/>
        </p:spPr>
      </p:sp>
      <p:sp>
        <p:nvSpPr>
          <p:cNvPr id="12" name="Text 10"/>
          <p:cNvSpPr txBox="1"/>
          <p:nvPr/>
        </p:nvSpPr>
        <p:spPr>
          <a:xfrm>
            <a:off x="960120" y="2103120"/>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Poppins" pitchFamily="34" charset="0"/>
                <a:ea typeface="Poppins" pitchFamily="34" charset="-122"/>
                <a:cs typeface="Poppins" pitchFamily="34" charset="-120"/>
              </a:rPr>
              <a:t>1</a:t>
            </a:r>
            <a:endParaRPr lang="en-US" sz="1900" dirty="0"/>
          </a:p>
        </p:txBody>
      </p:sp>
      <p:sp>
        <p:nvSpPr>
          <p:cNvPr id="13" name="Text 11"/>
          <p:cNvSpPr txBox="1"/>
          <p:nvPr/>
        </p:nvSpPr>
        <p:spPr>
          <a:xfrm>
            <a:off x="1645920" y="1874520"/>
            <a:ext cx="9326880" cy="914400"/>
          </a:xfrm>
          <a:prstGeom prst="rect">
            <a:avLst/>
          </a:prstGeom>
          <a:noFill/>
          <a:ln/>
        </p:spPr>
        <p:txBody>
          <a:bodyPr wrap="square" lIns="0" tIns="0" rIns="0" bIns="0" rtlCol="0" anchor="ctr"/>
          <a:lstStyle/>
          <a:p>
            <a:pPr indent="0" marL="0">
              <a:lnSpc>
                <a:spcPct val="120000"/>
              </a:lnSpc>
              <a:buNone/>
            </a:pPr>
            <a:r>
              <a:rPr lang="en-US" sz="1700" dirty="0">
                <a:solidFill>
                  <a:srgbClr val="475569"/>
                </a:solidFill>
                <a:latin typeface="Poppins" pitchFamily="34" charset="0"/>
                <a:ea typeface="Poppins" pitchFamily="34" charset="-122"/>
                <a:cs typeface="Poppins" pitchFamily="34" charset="-120"/>
              </a:rPr>
              <a:t>What does a trend-based forecast assume about the future, and what can it never see from only three months of data?</a:t>
            </a:r>
            <a:endParaRPr lang="en-US" sz="1700" dirty="0"/>
          </a:p>
        </p:txBody>
      </p:sp>
      <p:sp>
        <p:nvSpPr>
          <p:cNvPr id="14" name="Shape 12"/>
          <p:cNvSpPr/>
          <p:nvPr/>
        </p:nvSpPr>
        <p:spPr>
          <a:xfrm>
            <a:off x="685800" y="2926080"/>
            <a:ext cx="10424160" cy="914400"/>
          </a:xfrm>
          <a:prstGeom prst="roundRect">
            <a:avLst>
              <a:gd name="adj" fmla="val 9000"/>
            </a:avLst>
          </a:prstGeom>
          <a:solidFill>
            <a:srgbClr val="FFFFFF"/>
          </a:solidFill>
          <a:ln/>
          <a:effectLst>
            <a:outerShdw sx="100000" sy="100000" kx="0" ky="0" algn="bl" rotWithShape="0" blurRad="127000" dist="38100" dir="5400000">
              <a:srgbClr val="1B2A2E">
                <a:alpha val="12000"/>
              </a:srgbClr>
            </a:outerShdw>
          </a:effectLst>
        </p:spPr>
      </p:sp>
      <p:sp>
        <p:nvSpPr>
          <p:cNvPr id="15" name="Shape 13"/>
          <p:cNvSpPr/>
          <p:nvPr/>
        </p:nvSpPr>
        <p:spPr>
          <a:xfrm>
            <a:off x="960120" y="3154680"/>
            <a:ext cx="457200" cy="457200"/>
          </a:xfrm>
          <a:prstGeom prst="ellipse">
            <a:avLst/>
          </a:prstGeom>
          <a:solidFill>
            <a:srgbClr val="387F7F"/>
          </a:solidFill>
          <a:ln/>
        </p:spPr>
      </p:sp>
      <p:sp>
        <p:nvSpPr>
          <p:cNvPr id="16" name="Text 14"/>
          <p:cNvSpPr txBox="1"/>
          <p:nvPr/>
        </p:nvSpPr>
        <p:spPr>
          <a:xfrm>
            <a:off x="960120" y="3154680"/>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Poppins" pitchFamily="34" charset="0"/>
                <a:ea typeface="Poppins" pitchFamily="34" charset="-122"/>
                <a:cs typeface="Poppins" pitchFamily="34" charset="-120"/>
              </a:rPr>
              <a:t>2</a:t>
            </a:r>
            <a:endParaRPr lang="en-US" sz="1900" dirty="0"/>
          </a:p>
        </p:txBody>
      </p:sp>
      <p:sp>
        <p:nvSpPr>
          <p:cNvPr id="17" name="Text 15"/>
          <p:cNvSpPr txBox="1"/>
          <p:nvPr/>
        </p:nvSpPr>
        <p:spPr>
          <a:xfrm>
            <a:off x="1645920" y="2926080"/>
            <a:ext cx="9326880" cy="914400"/>
          </a:xfrm>
          <a:prstGeom prst="rect">
            <a:avLst/>
          </a:prstGeom>
          <a:noFill/>
          <a:ln/>
        </p:spPr>
        <p:txBody>
          <a:bodyPr wrap="square" lIns="0" tIns="0" rIns="0" bIns="0" rtlCol="0" anchor="ctr"/>
          <a:lstStyle/>
          <a:p>
            <a:pPr indent="0" marL="0">
              <a:lnSpc>
                <a:spcPct val="120000"/>
              </a:lnSpc>
              <a:buNone/>
            </a:pPr>
            <a:r>
              <a:rPr lang="en-US" sz="1700" dirty="0">
                <a:solidFill>
                  <a:srgbClr val="475569"/>
                </a:solidFill>
                <a:latin typeface="Poppins" pitchFamily="34" charset="0"/>
                <a:ea typeface="Poppins" pitchFamily="34" charset="-122"/>
                <a:cs typeface="Poppins" pitchFamily="34" charset="-120"/>
              </a:rPr>
              <a:t>What does it mean to "stress-test" a forecast, and why did two reasonable methods giving different answers count as useful, not as a failure?</a:t>
            </a:r>
            <a:endParaRPr lang="en-US" sz="1700" dirty="0"/>
          </a:p>
        </p:txBody>
      </p:sp>
      <p:sp>
        <p:nvSpPr>
          <p:cNvPr id="18" name="Shape 16"/>
          <p:cNvSpPr/>
          <p:nvPr/>
        </p:nvSpPr>
        <p:spPr>
          <a:xfrm>
            <a:off x="685800" y="3977640"/>
            <a:ext cx="10424160" cy="914400"/>
          </a:xfrm>
          <a:prstGeom prst="roundRect">
            <a:avLst>
              <a:gd name="adj" fmla="val 9000"/>
            </a:avLst>
          </a:prstGeom>
          <a:solidFill>
            <a:srgbClr val="FFFFFF"/>
          </a:solidFill>
          <a:ln/>
          <a:effectLst>
            <a:outerShdw sx="100000" sy="100000" kx="0" ky="0" algn="bl" rotWithShape="0" blurRad="127000" dist="38100" dir="5400000">
              <a:srgbClr val="1B2A2E">
                <a:alpha val="12000"/>
              </a:srgbClr>
            </a:outerShdw>
          </a:effectLst>
        </p:spPr>
      </p:sp>
      <p:sp>
        <p:nvSpPr>
          <p:cNvPr id="19" name="Shape 17"/>
          <p:cNvSpPr/>
          <p:nvPr/>
        </p:nvSpPr>
        <p:spPr>
          <a:xfrm>
            <a:off x="960120" y="4206240"/>
            <a:ext cx="457200" cy="457200"/>
          </a:xfrm>
          <a:prstGeom prst="ellipse">
            <a:avLst/>
          </a:prstGeom>
          <a:solidFill>
            <a:srgbClr val="387F7F"/>
          </a:solidFill>
          <a:ln/>
        </p:spPr>
      </p:sp>
      <p:sp>
        <p:nvSpPr>
          <p:cNvPr id="20" name="Text 18"/>
          <p:cNvSpPr txBox="1"/>
          <p:nvPr/>
        </p:nvSpPr>
        <p:spPr>
          <a:xfrm>
            <a:off x="960120" y="4206240"/>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Poppins" pitchFamily="34" charset="0"/>
                <a:ea typeface="Poppins" pitchFamily="34" charset="-122"/>
                <a:cs typeface="Poppins" pitchFamily="34" charset="-120"/>
              </a:rPr>
              <a:t>3</a:t>
            </a:r>
            <a:endParaRPr lang="en-US" sz="1900" dirty="0"/>
          </a:p>
        </p:txBody>
      </p:sp>
      <p:sp>
        <p:nvSpPr>
          <p:cNvPr id="21" name="Text 19"/>
          <p:cNvSpPr txBox="1"/>
          <p:nvPr/>
        </p:nvSpPr>
        <p:spPr>
          <a:xfrm>
            <a:off x="1645920" y="3977640"/>
            <a:ext cx="9326880" cy="914400"/>
          </a:xfrm>
          <a:prstGeom prst="rect">
            <a:avLst/>
          </a:prstGeom>
          <a:noFill/>
          <a:ln/>
        </p:spPr>
        <p:txBody>
          <a:bodyPr wrap="square" lIns="0" tIns="0" rIns="0" bIns="0" rtlCol="0" anchor="ctr"/>
          <a:lstStyle/>
          <a:p>
            <a:pPr indent="0" marL="0">
              <a:lnSpc>
                <a:spcPct val="120000"/>
              </a:lnSpc>
              <a:buNone/>
            </a:pPr>
            <a:r>
              <a:rPr lang="en-US" sz="1700" dirty="0">
                <a:solidFill>
                  <a:srgbClr val="475569"/>
                </a:solidFill>
                <a:latin typeface="Poppins" pitchFamily="34" charset="0"/>
                <a:ea typeface="Poppins" pitchFamily="34" charset="-122"/>
                <a:cs typeface="Poppins" pitchFamily="34" charset="-120"/>
              </a:rPr>
              <a:t>Name one thing SwiftRoute's Q3 file can tell you directly, just by looking at it, without needing any kind of model.</a:t>
            </a:r>
            <a:endParaRPr lang="en-US" sz="1700" dirty="0"/>
          </a:p>
        </p:txBody>
      </p:sp>
      <p:pic>
        <p:nvPicPr>
          <p:cNvPr id="22"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23" name="Text 20"/>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863840" y="0"/>
            <a:ext cx="4325112" cy="6858000"/>
          </a:xfrm>
          <a:prstGeom prst="rect">
            <a:avLst/>
          </a:prstGeom>
          <a:solidFill>
            <a:srgbClr val="20494A"/>
          </a:solidFill>
          <a:ln/>
        </p:spPr>
      </p:sp>
      <p:sp>
        <p:nvSpPr>
          <p:cNvPr id="3" name="Shape 1"/>
          <p:cNvSpPr/>
          <p:nvPr/>
        </p:nvSpPr>
        <p:spPr>
          <a:xfrm>
            <a:off x="9784080" y="-1280160"/>
            <a:ext cx="4572000" cy="4572000"/>
          </a:xfrm>
          <a:prstGeom prst="ellipse">
            <a:avLst/>
          </a:prstGeom>
          <a:solidFill>
            <a:srgbClr val="2E5E5E"/>
          </a:solidFill>
          <a:ln/>
        </p:spPr>
      </p:sp>
      <p:sp>
        <p:nvSpPr>
          <p:cNvPr id="4" name="Text 2"/>
          <p:cNvSpPr txBox="1"/>
          <p:nvPr/>
        </p:nvSpPr>
        <p:spPr>
          <a:xfrm>
            <a:off x="7863840" y="1965960"/>
            <a:ext cx="4206240" cy="1554480"/>
          </a:xfrm>
          <a:prstGeom prst="rect">
            <a:avLst/>
          </a:prstGeom>
          <a:noFill/>
          <a:ln/>
        </p:spPr>
        <p:txBody>
          <a:bodyPr wrap="square" lIns="0" tIns="0" rIns="0" bIns="0" rtlCol="0" anchor="ctr"/>
          <a:lstStyle/>
          <a:p>
            <a:pPr algn="ctr" indent="0" marL="0">
              <a:lnSpc>
                <a:spcPct val="100000"/>
              </a:lnSpc>
              <a:buNone/>
            </a:pPr>
            <a:r>
              <a:rPr lang="en-US" sz="4600" b="1" dirty="0">
                <a:solidFill>
                  <a:srgbClr val="FFFFFF"/>
                </a:solidFill>
                <a:latin typeface="Poppins" pitchFamily="34" charset="0"/>
                <a:ea typeface="Poppins" pitchFamily="34" charset="-122"/>
                <a:cs typeface="Poppins" pitchFamily="34" charset="-120"/>
              </a:rPr>
              <a:t>Every</a:t>
            </a:r>
            <a:endParaRPr lang="en-US" sz="4600" dirty="0"/>
          </a:p>
          <a:p>
            <a:pPr algn="ctr" indent="0" marL="0">
              <a:lnSpc>
                <a:spcPct val="100000"/>
              </a:lnSpc>
              <a:buNone/>
            </a:pPr>
            <a:r>
              <a:rPr lang="en-US" sz="4600" b="1" dirty="0">
                <a:solidFill>
                  <a:srgbClr val="FFFFFF"/>
                </a:solidFill>
                <a:latin typeface="Poppins" pitchFamily="34" charset="0"/>
                <a:ea typeface="Poppins" pitchFamily="34" charset="-122"/>
                <a:cs typeface="Poppins" pitchFamily="34" charset="-120"/>
              </a:rPr>
              <a:t>morning</a:t>
            </a:r>
            <a:endParaRPr lang="en-US" sz="4600" dirty="0"/>
          </a:p>
        </p:txBody>
      </p:sp>
      <p:sp>
        <p:nvSpPr>
          <p:cNvPr id="5" name="Text 3"/>
          <p:cNvSpPr txBox="1"/>
          <p:nvPr/>
        </p:nvSpPr>
        <p:spPr>
          <a:xfrm>
            <a:off x="7863840" y="3611880"/>
            <a:ext cx="4206240" cy="914400"/>
          </a:xfrm>
          <a:prstGeom prst="rect">
            <a:avLst/>
          </a:prstGeom>
          <a:noFill/>
          <a:ln/>
        </p:spPr>
        <p:txBody>
          <a:bodyPr wrap="square" lIns="0" tIns="0" rIns="0" bIns="0" rtlCol="0" anchor="ctr"/>
          <a:lstStyle/>
          <a:p>
            <a:pPr algn="ctr" indent="0" marL="0">
              <a:lnSpc>
                <a:spcPct val="130000"/>
              </a:lnSpc>
              <a:buNone/>
            </a:pPr>
            <a:r>
              <a:rPr lang="en-US" sz="1700" dirty="0">
                <a:solidFill>
                  <a:srgbClr val="B9D3D3"/>
                </a:solidFill>
                <a:latin typeface="Poppins" pitchFamily="34" charset="0"/>
                <a:ea typeface="Poppins" pitchFamily="34" charset="-122"/>
                <a:cs typeface="Poppins" pitchFamily="34" charset="-120"/>
              </a:rPr>
              <a:t>before the riders leave,</a:t>
            </a:r>
            <a:endParaRPr lang="en-US" sz="1700" dirty="0"/>
          </a:p>
          <a:p>
            <a:pPr algn="ctr" indent="0" marL="0">
              <a:lnSpc>
                <a:spcPct val="130000"/>
              </a:lnSpc>
              <a:buNone/>
            </a:pPr>
            <a:r>
              <a:rPr lang="en-US" sz="1700" dirty="0">
                <a:solidFill>
                  <a:srgbClr val="B9D3D3"/>
                </a:solidFill>
                <a:latin typeface="Poppins" pitchFamily="34" charset="0"/>
                <a:ea typeface="Poppins" pitchFamily="34" charset="-122"/>
                <a:cs typeface="Poppins" pitchFamily="34" charset="-120"/>
              </a:rPr>
              <a:t>she opens one screen</a:t>
            </a:r>
            <a:endParaRPr lang="en-US" sz="1700" dirty="0"/>
          </a:p>
        </p:txBody>
      </p:sp>
      <p:sp>
        <p:nvSpPr>
          <p:cNvPr id="6" name="Shape 4"/>
          <p:cNvSpPr/>
          <p:nvPr/>
        </p:nvSpPr>
        <p:spPr>
          <a:xfrm>
            <a:off x="685800" y="548640"/>
            <a:ext cx="54864" cy="411480"/>
          </a:xfrm>
          <a:prstGeom prst="rect">
            <a:avLst/>
          </a:prstGeom>
          <a:solidFill>
            <a:srgbClr val="387F7F"/>
          </a:solidFill>
          <a:ln/>
        </p:spPr>
      </p:sp>
      <p:sp>
        <p:nvSpPr>
          <p:cNvPr id="7" name="Text 5"/>
          <p:cNvSpPr txBox="1"/>
          <p:nvPr/>
        </p:nvSpPr>
        <p:spPr>
          <a:xfrm>
            <a:off x="868680" y="502920"/>
            <a:ext cx="6766560" cy="685800"/>
          </a:xfrm>
          <a:prstGeom prst="rect">
            <a:avLst/>
          </a:prstGeom>
          <a:noFill/>
          <a:ln/>
        </p:spPr>
        <p:txBody>
          <a:bodyPr wrap="square" lIns="0" tIns="0" rIns="0" bIns="0" rtlCol="0" anchor="t"/>
          <a:lstStyle/>
          <a:p>
            <a:pPr indent="0" marL="0">
              <a:lnSpc>
                <a:spcPct val="110000"/>
              </a:lnSpc>
              <a:buNone/>
            </a:pPr>
            <a:r>
              <a:rPr lang="en-US" sz="2933" dirty="0">
                <a:solidFill>
                  <a:srgbClr val="387F7F"/>
                </a:solidFill>
                <a:latin typeface="Poppins" pitchFamily="34" charset="0"/>
                <a:ea typeface="Poppins" pitchFamily="34" charset="-122"/>
                <a:cs typeface="Poppins" pitchFamily="34" charset="-120"/>
              </a:rPr>
              <a:t>"Can we just use AI to predict that?"</a:t>
            </a:r>
            <a:endParaRPr lang="en-US" sz="2933" dirty="0"/>
          </a:p>
        </p:txBody>
      </p:sp>
      <p:sp>
        <p:nvSpPr>
          <p:cNvPr id="8" name="Text 6"/>
          <p:cNvSpPr txBox="1"/>
          <p:nvPr/>
        </p:nvSpPr>
        <p:spPr>
          <a:xfrm>
            <a:off x="713232" y="1417320"/>
            <a:ext cx="6766560" cy="1371600"/>
          </a:xfrm>
          <a:prstGeom prst="rect">
            <a:avLst/>
          </a:prstGeom>
          <a:noFill/>
          <a:ln/>
        </p:spPr>
        <p:txBody>
          <a:bodyPr wrap="square" lIns="0" tIns="0" rIns="0" bIns="0" rtlCol="0" anchor="ctr"/>
          <a:lstStyle/>
          <a:p>
            <a:pPr indent="0" marL="0">
              <a:lnSpc>
                <a:spcPct val="135000"/>
              </a:lnSpc>
              <a:buNone/>
            </a:pPr>
            <a:r>
              <a:rPr lang="en-US" sz="1700" dirty="0">
                <a:solidFill>
                  <a:srgbClr val="475569"/>
                </a:solidFill>
                <a:latin typeface="Poppins" pitchFamily="34" charset="0"/>
                <a:ea typeface="Poppins" pitchFamily="34" charset="-122"/>
                <a:cs typeface="Poppins" pitchFamily="34" charset="-120"/>
              </a:rPr>
              <a:t>SwiftRoute's operations meeting keeps producing the same kind of request: predict which deliveries will fail, predict how long a delivery will take, group similar customers together. Someone always adds, "can we just use AI for that?"</a:t>
            </a:r>
            <a:endParaRPr lang="en-US" sz="1700" dirty="0"/>
          </a:p>
        </p:txBody>
      </p:sp>
      <p:sp>
        <p:nvSpPr>
          <p:cNvPr id="9" name="Text 7"/>
          <p:cNvSpPr txBox="1"/>
          <p:nvPr/>
        </p:nvSpPr>
        <p:spPr>
          <a:xfrm>
            <a:off x="713232" y="3063240"/>
            <a:ext cx="6766560" cy="1371600"/>
          </a:xfrm>
          <a:prstGeom prst="rect">
            <a:avLst/>
          </a:prstGeom>
          <a:noFill/>
          <a:ln/>
        </p:spPr>
        <p:txBody>
          <a:bodyPr wrap="square" lIns="0" tIns="0" rIns="0" bIns="0" rtlCol="0" anchor="ctr"/>
          <a:lstStyle/>
          <a:p>
            <a:pPr indent="0" marL="0">
              <a:lnSpc>
                <a:spcPct val="135000"/>
              </a:lnSpc>
              <a:buNone/>
            </a:pPr>
            <a:r>
              <a:rPr lang="en-US" sz="1700" dirty="0">
                <a:solidFill>
                  <a:srgbClr val="475569"/>
                </a:solidFill>
                <a:latin typeface="Poppins" pitchFamily="34" charset="0"/>
                <a:ea typeface="Poppins" pitchFamily="34" charset="-122"/>
                <a:cs typeface="Poppins" pitchFamily="34" charset="-120"/>
              </a:rPr>
              <a:t>The honest answer depends on which request is being asked. They are three different kinds of problem, and none of them can be built without a data scientist.</a:t>
            </a:r>
            <a:endParaRPr lang="en-US" sz="1700" dirty="0"/>
          </a:p>
        </p:txBody>
      </p:sp>
      <p:sp>
        <p:nvSpPr>
          <p:cNvPr id="10" name="Text 8"/>
          <p:cNvSpPr txBox="1"/>
          <p:nvPr/>
        </p:nvSpPr>
        <p:spPr>
          <a:xfrm>
            <a:off x="713232" y="4105656"/>
            <a:ext cx="6766560" cy="1371600"/>
          </a:xfrm>
          <a:prstGeom prst="rect">
            <a:avLst/>
          </a:prstGeom>
          <a:noFill/>
          <a:ln/>
        </p:spPr>
        <p:txBody>
          <a:bodyPr wrap="square" lIns="0" tIns="0" rIns="0" bIns="0" rtlCol="0" anchor="ctr"/>
          <a:lstStyle/>
          <a:p>
            <a:pPr indent="0" marL="0">
              <a:lnSpc>
                <a:spcPct val="135000"/>
              </a:lnSpc>
              <a:buNone/>
            </a:pPr>
            <a:r>
              <a:rPr lang="en-US" sz="1700" dirty="0">
                <a:solidFill>
                  <a:srgbClr val="475569"/>
                </a:solidFill>
                <a:latin typeface="Poppins" pitchFamily="34" charset="0"/>
                <a:ea typeface="Poppins" pitchFamily="34" charset="-122"/>
                <a:cs typeface="Poppins" pitchFamily="34" charset="-120"/>
              </a:rPr>
              <a:t>What Adaeze's team can do today is recognise which is which, describe each accurately, and know when to say "that needs a data scientist."</a:t>
            </a:r>
            <a:endParaRPr lang="en-US" sz="1700" dirty="0"/>
          </a:p>
        </p:txBody>
      </p:sp>
      <p:sp>
        <p:nvSpPr>
          <p:cNvPr id="11" name="Shape 9"/>
          <p:cNvSpPr/>
          <p:nvPr/>
        </p:nvSpPr>
        <p:spPr>
          <a:xfrm>
            <a:off x="713232" y="5806440"/>
            <a:ext cx="6766560" cy="0"/>
          </a:xfrm>
          <a:prstGeom prst="line">
            <a:avLst/>
          </a:prstGeom>
          <a:noFill/>
          <a:ln w="12700">
            <a:solidFill>
              <a:srgbClr val="E2E8F0"/>
            </a:solidFill>
            <a:prstDash val="solid"/>
          </a:ln>
        </p:spPr>
      </p:sp>
      <p:sp>
        <p:nvSpPr>
          <p:cNvPr id="12" name="Text 10"/>
          <p:cNvSpPr txBox="1"/>
          <p:nvPr/>
        </p:nvSpPr>
        <p:spPr>
          <a:xfrm>
            <a:off x="713232" y="5943600"/>
            <a:ext cx="6766560" cy="502920"/>
          </a:xfrm>
          <a:prstGeom prst="rect">
            <a:avLst/>
          </a:prstGeom>
          <a:noFill/>
          <a:ln/>
        </p:spPr>
        <p:txBody>
          <a:bodyPr wrap="square" lIns="0" tIns="0" rIns="0" bIns="0" rtlCol="0" anchor="ctr"/>
          <a:lstStyle/>
          <a:p>
            <a:pPr indent="0" marL="0">
              <a:lnSpc>
                <a:spcPct val="115000"/>
              </a:lnSpc>
              <a:buNone/>
            </a:pPr>
            <a:r>
              <a:rPr lang="en-US" sz="1300" i="1" dirty="0">
                <a:solidFill>
                  <a:srgbClr val="64748B"/>
                </a:solidFill>
                <a:latin typeface="Poppins" pitchFamily="34" charset="0"/>
                <a:ea typeface="Poppins" pitchFamily="34" charset="-122"/>
                <a:cs typeface="Poppins" pitchFamily="34" charset="-120"/>
              </a:rPr>
              <a:t>Three different questions get asked as if they're one question. They are not the same problem.</a:t>
            </a:r>
            <a:endParaRPr lang="en-US" sz="1300" dirty="0"/>
          </a:p>
        </p:txBody>
      </p:sp>
      <p:pic>
        <p:nvPicPr>
          <p:cNvPr id="13"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14" name="Text 11"/>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54864" cy="411480"/>
          </a:xfrm>
          <a:prstGeom prst="rect">
            <a:avLst/>
          </a:prstGeom>
          <a:solidFill>
            <a:srgbClr val="387F7F"/>
          </a:solidFill>
          <a:ln/>
        </p:spPr>
      </p:sp>
      <p:sp>
        <p:nvSpPr>
          <p:cNvPr id="5" name="Text 3"/>
          <p:cNvSpPr txBox="1"/>
          <p:nvPr/>
        </p:nvSpPr>
        <p:spPr>
          <a:xfrm>
            <a:off x="868680" y="502920"/>
            <a:ext cx="9966960" cy="685800"/>
          </a:xfrm>
          <a:prstGeom prst="rect">
            <a:avLst/>
          </a:prstGeom>
          <a:noFill/>
          <a:ln/>
        </p:spPr>
        <p:txBody>
          <a:bodyPr wrap="square" lIns="0" tIns="0" rIns="0" bIns="0" rtlCol="0" anchor="t"/>
          <a:lstStyle/>
          <a:p>
            <a:pPr indent="0" marL="0">
              <a:lnSpc>
                <a:spcPct val="110000"/>
              </a:lnSpc>
              <a:buNone/>
            </a:pPr>
            <a:r>
              <a:rPr lang="en-US" sz="3300" dirty="0">
                <a:solidFill>
                  <a:srgbClr val="387F7F"/>
                </a:solidFill>
                <a:latin typeface="Poppins" pitchFamily="34" charset="0"/>
                <a:ea typeface="Poppins" pitchFamily="34" charset="-122"/>
                <a:cs typeface="Poppins" pitchFamily="34" charset="-120"/>
              </a:rPr>
              <a:t>By the end of Topic 8.3, you can</a:t>
            </a:r>
            <a:endParaRPr lang="en-US" sz="3300" dirty="0"/>
          </a:p>
        </p:txBody>
      </p:sp>
      <p:sp>
        <p:nvSpPr>
          <p:cNvPr id="6" name="Shape 4"/>
          <p:cNvSpPr/>
          <p:nvPr/>
        </p:nvSpPr>
        <p:spPr>
          <a:xfrm>
            <a:off x="685800" y="1600200"/>
            <a:ext cx="2366010" cy="3794760"/>
          </a:xfrm>
          <a:prstGeom prst="roundRect">
            <a:avLst>
              <a:gd name="adj" fmla="val 3478"/>
            </a:avLst>
          </a:prstGeom>
          <a:solidFill>
            <a:srgbClr val="FFFFFF"/>
          </a:solidFill>
          <a:ln/>
          <a:effectLst>
            <a:outerShdw sx="100000" sy="100000" kx="0" ky="0" algn="bl" rotWithShape="0" blurRad="127000" dist="38100" dir="5400000">
              <a:srgbClr val="1B2A2E">
                <a:alpha val="12000"/>
              </a:srgbClr>
            </a:outerShdw>
          </a:effectLst>
        </p:spPr>
      </p:sp>
      <p:sp>
        <p:nvSpPr>
          <p:cNvPr id="7" name="Shape 5"/>
          <p:cNvSpPr/>
          <p:nvPr/>
        </p:nvSpPr>
        <p:spPr>
          <a:xfrm>
            <a:off x="685800" y="1600200"/>
            <a:ext cx="2366010" cy="1051560"/>
          </a:xfrm>
          <a:prstGeom prst="roundRect">
            <a:avLst>
              <a:gd name="adj" fmla="val 7826"/>
            </a:avLst>
          </a:prstGeom>
          <a:solidFill>
            <a:srgbClr val="387F7F"/>
          </a:solidFill>
          <a:ln/>
        </p:spPr>
      </p:sp>
      <p:sp>
        <p:nvSpPr>
          <p:cNvPr id="8" name="Shape 6"/>
          <p:cNvSpPr/>
          <p:nvPr/>
        </p:nvSpPr>
        <p:spPr>
          <a:xfrm>
            <a:off x="685800" y="2057400"/>
            <a:ext cx="2366010" cy="594360"/>
          </a:xfrm>
          <a:prstGeom prst="rect">
            <a:avLst/>
          </a:prstGeom>
          <a:solidFill>
            <a:srgbClr val="387F7F"/>
          </a:solidFill>
          <a:ln/>
        </p:spPr>
      </p:sp>
      <p:sp>
        <p:nvSpPr>
          <p:cNvPr id="9" name="Text 7"/>
          <p:cNvSpPr txBox="1"/>
          <p:nvPr/>
        </p:nvSpPr>
        <p:spPr>
          <a:xfrm>
            <a:off x="2091690" y="1554480"/>
            <a:ext cx="914400" cy="1097280"/>
          </a:xfrm>
          <a:prstGeom prst="rect">
            <a:avLst/>
          </a:prstGeom>
          <a:noFill/>
          <a:ln/>
        </p:spPr>
        <p:txBody>
          <a:bodyPr wrap="square" lIns="0" tIns="0" rIns="0" bIns="0" rtlCol="0" anchor="ctr"/>
          <a:lstStyle/>
          <a:p>
            <a:pPr algn="r" indent="0" marL="0">
              <a:buNone/>
            </a:pPr>
            <a:r>
              <a:rPr lang="en-US" sz="5800" b="1" dirty="0">
                <a:solidFill>
                  <a:srgbClr val="5A9A9A"/>
                </a:solidFill>
                <a:latin typeface="Poppins" pitchFamily="34" charset="0"/>
                <a:ea typeface="Poppins" pitchFamily="34" charset="-122"/>
                <a:cs typeface="Poppins" pitchFamily="34" charset="-120"/>
              </a:rPr>
              <a:t>1</a:t>
            </a:r>
            <a:endParaRPr lang="en-US" sz="5800" dirty="0"/>
          </a:p>
        </p:txBody>
      </p:sp>
      <p:sp>
        <p:nvSpPr>
          <p:cNvPr id="10" name="Text 8"/>
          <p:cNvSpPr txBox="1"/>
          <p:nvPr/>
        </p:nvSpPr>
        <p:spPr>
          <a:xfrm>
            <a:off x="941832" y="1600200"/>
            <a:ext cx="1817370" cy="1051560"/>
          </a:xfrm>
          <a:prstGeom prst="rect">
            <a:avLst/>
          </a:prstGeom>
          <a:noFill/>
          <a:ln/>
        </p:spPr>
        <p:txBody>
          <a:bodyPr wrap="square" lIns="0" tIns="0" rIns="0" bIns="0" rtlCol="0" anchor="ctr"/>
          <a:lstStyle/>
          <a:p>
            <a:pPr indent="0" marL="0">
              <a:buNone/>
            </a:pPr>
            <a:r>
              <a:rPr lang="en-US" sz="2100" b="1" dirty="0">
                <a:solidFill>
                  <a:srgbClr val="FFFFFF"/>
                </a:solidFill>
                <a:latin typeface="Poppins" pitchFamily="34" charset="0"/>
                <a:ea typeface="Poppins" pitchFamily="34" charset="-122"/>
                <a:cs typeface="Poppins" pitchFamily="34" charset="-120"/>
              </a:rPr>
              <a:t>Explain</a:t>
            </a:r>
            <a:endParaRPr lang="en-US" sz="2100" dirty="0"/>
          </a:p>
        </p:txBody>
      </p:sp>
      <p:sp>
        <p:nvSpPr>
          <p:cNvPr id="11" name="Text 9"/>
          <p:cNvSpPr txBox="1"/>
          <p:nvPr/>
        </p:nvSpPr>
        <p:spPr>
          <a:xfrm>
            <a:off x="941832" y="2880360"/>
            <a:ext cx="1853946" cy="2286000"/>
          </a:xfrm>
          <a:prstGeom prst="rect">
            <a:avLst/>
          </a:prstGeom>
          <a:noFill/>
          <a:ln/>
        </p:spPr>
        <p:txBody>
          <a:bodyPr wrap="square" lIns="0" tIns="0" rIns="0" bIns="0" rtlCol="0" anchor="t"/>
          <a:lstStyle/>
          <a:p>
            <a:pPr indent="0" marL="0">
              <a:lnSpc>
                <a:spcPct val="135000"/>
              </a:lnSpc>
              <a:buNone/>
            </a:pPr>
            <a:r>
              <a:rPr lang="en-US" sz="1450" dirty="0">
                <a:solidFill>
                  <a:srgbClr val="475569"/>
                </a:solidFill>
                <a:latin typeface="Poppins" pitchFamily="34" charset="0"/>
                <a:ea typeface="Poppins" pitchFamily="34" charset="-122"/>
                <a:cs typeface="Poppins" pitchFamily="34" charset="-120"/>
              </a:rPr>
              <a:t>supervised learning, classification and regression in plain language, each with a SwiftRoute example.</a:t>
            </a:r>
            <a:endParaRPr lang="en-US" sz="1450" dirty="0"/>
          </a:p>
        </p:txBody>
      </p:sp>
      <p:sp>
        <p:nvSpPr>
          <p:cNvPr id="12" name="Shape 10"/>
          <p:cNvSpPr/>
          <p:nvPr/>
        </p:nvSpPr>
        <p:spPr>
          <a:xfrm>
            <a:off x="3371850" y="1600200"/>
            <a:ext cx="2366010" cy="3794760"/>
          </a:xfrm>
          <a:prstGeom prst="roundRect">
            <a:avLst>
              <a:gd name="adj" fmla="val 3478"/>
            </a:avLst>
          </a:prstGeom>
          <a:solidFill>
            <a:srgbClr val="FFFFFF"/>
          </a:solidFill>
          <a:ln/>
          <a:effectLst>
            <a:outerShdw sx="100000" sy="100000" kx="0" ky="0" algn="bl" rotWithShape="0" blurRad="127000" dist="38100" dir="5400000">
              <a:srgbClr val="1B2A2E">
                <a:alpha val="12000"/>
              </a:srgbClr>
            </a:outerShdw>
          </a:effectLst>
        </p:spPr>
      </p:sp>
      <p:sp>
        <p:nvSpPr>
          <p:cNvPr id="13" name="Shape 11"/>
          <p:cNvSpPr/>
          <p:nvPr/>
        </p:nvSpPr>
        <p:spPr>
          <a:xfrm>
            <a:off x="3371850" y="1600200"/>
            <a:ext cx="2366010" cy="1051560"/>
          </a:xfrm>
          <a:prstGeom prst="roundRect">
            <a:avLst>
              <a:gd name="adj" fmla="val 7826"/>
            </a:avLst>
          </a:prstGeom>
          <a:solidFill>
            <a:srgbClr val="387F7F"/>
          </a:solidFill>
          <a:ln/>
        </p:spPr>
      </p:sp>
      <p:sp>
        <p:nvSpPr>
          <p:cNvPr id="14" name="Shape 12"/>
          <p:cNvSpPr/>
          <p:nvPr/>
        </p:nvSpPr>
        <p:spPr>
          <a:xfrm>
            <a:off x="3371850" y="2057400"/>
            <a:ext cx="2366010" cy="594360"/>
          </a:xfrm>
          <a:prstGeom prst="rect">
            <a:avLst/>
          </a:prstGeom>
          <a:solidFill>
            <a:srgbClr val="387F7F"/>
          </a:solidFill>
          <a:ln/>
        </p:spPr>
      </p:sp>
      <p:sp>
        <p:nvSpPr>
          <p:cNvPr id="15" name="Text 13"/>
          <p:cNvSpPr txBox="1"/>
          <p:nvPr/>
        </p:nvSpPr>
        <p:spPr>
          <a:xfrm>
            <a:off x="4777740" y="1554480"/>
            <a:ext cx="914400" cy="1097280"/>
          </a:xfrm>
          <a:prstGeom prst="rect">
            <a:avLst/>
          </a:prstGeom>
          <a:noFill/>
          <a:ln/>
        </p:spPr>
        <p:txBody>
          <a:bodyPr wrap="square" lIns="0" tIns="0" rIns="0" bIns="0" rtlCol="0" anchor="ctr"/>
          <a:lstStyle/>
          <a:p>
            <a:pPr algn="r" indent="0" marL="0">
              <a:buNone/>
            </a:pPr>
            <a:r>
              <a:rPr lang="en-US" sz="5800" b="1" dirty="0">
                <a:solidFill>
                  <a:srgbClr val="5A9A9A"/>
                </a:solidFill>
                <a:latin typeface="Poppins" pitchFamily="34" charset="0"/>
                <a:ea typeface="Poppins" pitchFamily="34" charset="-122"/>
                <a:cs typeface="Poppins" pitchFamily="34" charset="-120"/>
              </a:rPr>
              <a:t>2</a:t>
            </a:r>
            <a:endParaRPr lang="en-US" sz="5800" dirty="0"/>
          </a:p>
        </p:txBody>
      </p:sp>
      <p:sp>
        <p:nvSpPr>
          <p:cNvPr id="16" name="Text 14"/>
          <p:cNvSpPr txBox="1"/>
          <p:nvPr/>
        </p:nvSpPr>
        <p:spPr>
          <a:xfrm>
            <a:off x="3627882" y="1600200"/>
            <a:ext cx="1817370" cy="1051560"/>
          </a:xfrm>
          <a:prstGeom prst="rect">
            <a:avLst/>
          </a:prstGeom>
          <a:noFill/>
          <a:ln/>
        </p:spPr>
        <p:txBody>
          <a:bodyPr wrap="square" lIns="0" tIns="0" rIns="0" bIns="0" rtlCol="0" anchor="ctr"/>
          <a:lstStyle/>
          <a:p>
            <a:pPr indent="0" marL="0">
              <a:buNone/>
            </a:pPr>
            <a:r>
              <a:rPr lang="en-US" sz="2100" b="1" dirty="0">
                <a:solidFill>
                  <a:srgbClr val="FFFFFF"/>
                </a:solidFill>
                <a:latin typeface="Poppins" pitchFamily="34" charset="0"/>
                <a:ea typeface="Poppins" pitchFamily="34" charset="-122"/>
                <a:cs typeface="Poppins" pitchFamily="34" charset="-120"/>
              </a:rPr>
              <a:t>Explain</a:t>
            </a:r>
            <a:endParaRPr lang="en-US" sz="2100" dirty="0"/>
          </a:p>
        </p:txBody>
      </p:sp>
      <p:sp>
        <p:nvSpPr>
          <p:cNvPr id="17" name="Text 15"/>
          <p:cNvSpPr txBox="1"/>
          <p:nvPr/>
        </p:nvSpPr>
        <p:spPr>
          <a:xfrm>
            <a:off x="3627882" y="2880360"/>
            <a:ext cx="1853946" cy="2286000"/>
          </a:xfrm>
          <a:prstGeom prst="rect">
            <a:avLst/>
          </a:prstGeom>
          <a:noFill/>
          <a:ln/>
        </p:spPr>
        <p:txBody>
          <a:bodyPr wrap="square" lIns="0" tIns="0" rIns="0" bIns="0" rtlCol="0" anchor="t"/>
          <a:lstStyle/>
          <a:p>
            <a:pPr indent="0" marL="0">
              <a:lnSpc>
                <a:spcPct val="135000"/>
              </a:lnSpc>
              <a:buNone/>
            </a:pPr>
            <a:r>
              <a:rPr lang="en-US" sz="1450" dirty="0">
                <a:solidFill>
                  <a:srgbClr val="475569"/>
                </a:solidFill>
                <a:latin typeface="Poppins" pitchFamily="34" charset="0"/>
                <a:ea typeface="Poppins" pitchFamily="34" charset="-122"/>
                <a:cs typeface="Poppins" pitchFamily="34" charset="-120"/>
              </a:rPr>
              <a:t>clustering and unsupervised learning in plain language, and how it differs from having a right answer to check against.</a:t>
            </a:r>
            <a:endParaRPr lang="en-US" sz="1450" dirty="0"/>
          </a:p>
        </p:txBody>
      </p:sp>
      <p:sp>
        <p:nvSpPr>
          <p:cNvPr id="18" name="Shape 16"/>
          <p:cNvSpPr/>
          <p:nvPr/>
        </p:nvSpPr>
        <p:spPr>
          <a:xfrm>
            <a:off x="6057900" y="1600200"/>
            <a:ext cx="2366010" cy="3794760"/>
          </a:xfrm>
          <a:prstGeom prst="roundRect">
            <a:avLst>
              <a:gd name="adj" fmla="val 3478"/>
            </a:avLst>
          </a:prstGeom>
          <a:solidFill>
            <a:srgbClr val="FFFFFF"/>
          </a:solidFill>
          <a:ln/>
          <a:effectLst>
            <a:outerShdw sx="100000" sy="100000" kx="0" ky="0" algn="bl" rotWithShape="0" blurRad="127000" dist="38100" dir="5400000">
              <a:srgbClr val="1B2A2E">
                <a:alpha val="12000"/>
              </a:srgbClr>
            </a:outerShdw>
          </a:effectLst>
        </p:spPr>
      </p:sp>
      <p:sp>
        <p:nvSpPr>
          <p:cNvPr id="19" name="Shape 17"/>
          <p:cNvSpPr/>
          <p:nvPr/>
        </p:nvSpPr>
        <p:spPr>
          <a:xfrm>
            <a:off x="6057900" y="1600200"/>
            <a:ext cx="2366010" cy="1051560"/>
          </a:xfrm>
          <a:prstGeom prst="roundRect">
            <a:avLst>
              <a:gd name="adj" fmla="val 7826"/>
            </a:avLst>
          </a:prstGeom>
          <a:solidFill>
            <a:srgbClr val="387F7F"/>
          </a:solidFill>
          <a:ln/>
        </p:spPr>
      </p:sp>
      <p:sp>
        <p:nvSpPr>
          <p:cNvPr id="20" name="Shape 18"/>
          <p:cNvSpPr/>
          <p:nvPr/>
        </p:nvSpPr>
        <p:spPr>
          <a:xfrm>
            <a:off x="6057900" y="2057400"/>
            <a:ext cx="2366010" cy="594360"/>
          </a:xfrm>
          <a:prstGeom prst="rect">
            <a:avLst/>
          </a:prstGeom>
          <a:solidFill>
            <a:srgbClr val="387F7F"/>
          </a:solidFill>
          <a:ln/>
        </p:spPr>
      </p:sp>
      <p:sp>
        <p:nvSpPr>
          <p:cNvPr id="21" name="Text 19"/>
          <p:cNvSpPr txBox="1"/>
          <p:nvPr/>
        </p:nvSpPr>
        <p:spPr>
          <a:xfrm>
            <a:off x="7463790" y="1554480"/>
            <a:ext cx="914400" cy="1097280"/>
          </a:xfrm>
          <a:prstGeom prst="rect">
            <a:avLst/>
          </a:prstGeom>
          <a:noFill/>
          <a:ln/>
        </p:spPr>
        <p:txBody>
          <a:bodyPr wrap="square" lIns="0" tIns="0" rIns="0" bIns="0" rtlCol="0" anchor="ctr"/>
          <a:lstStyle/>
          <a:p>
            <a:pPr algn="r" indent="0" marL="0">
              <a:buNone/>
            </a:pPr>
            <a:r>
              <a:rPr lang="en-US" sz="5800" b="1" dirty="0">
                <a:solidFill>
                  <a:srgbClr val="5A9A9A"/>
                </a:solidFill>
                <a:latin typeface="Poppins" pitchFamily="34" charset="0"/>
                <a:ea typeface="Poppins" pitchFamily="34" charset="-122"/>
                <a:cs typeface="Poppins" pitchFamily="34" charset="-120"/>
              </a:rPr>
              <a:t>3</a:t>
            </a:r>
            <a:endParaRPr lang="en-US" sz="5800" dirty="0"/>
          </a:p>
        </p:txBody>
      </p:sp>
      <p:sp>
        <p:nvSpPr>
          <p:cNvPr id="22" name="Text 20"/>
          <p:cNvSpPr txBox="1"/>
          <p:nvPr/>
        </p:nvSpPr>
        <p:spPr>
          <a:xfrm>
            <a:off x="6313932" y="1600200"/>
            <a:ext cx="1817370" cy="1051560"/>
          </a:xfrm>
          <a:prstGeom prst="rect">
            <a:avLst/>
          </a:prstGeom>
          <a:noFill/>
          <a:ln/>
        </p:spPr>
        <p:txBody>
          <a:bodyPr wrap="square" lIns="0" tIns="0" rIns="0" bIns="0" rtlCol="0" anchor="ctr"/>
          <a:lstStyle/>
          <a:p>
            <a:pPr indent="0" marL="0">
              <a:buNone/>
            </a:pPr>
            <a:r>
              <a:rPr lang="en-US" sz="2100" b="1" dirty="0">
                <a:solidFill>
                  <a:srgbClr val="FFFFFF"/>
                </a:solidFill>
                <a:latin typeface="Poppins" pitchFamily="34" charset="0"/>
                <a:ea typeface="Poppins" pitchFamily="34" charset="-122"/>
                <a:cs typeface="Poppins" pitchFamily="34" charset="-120"/>
              </a:rPr>
              <a:t>Identify</a:t>
            </a:r>
            <a:endParaRPr lang="en-US" sz="2100" dirty="0"/>
          </a:p>
        </p:txBody>
      </p:sp>
      <p:sp>
        <p:nvSpPr>
          <p:cNvPr id="23" name="Text 21"/>
          <p:cNvSpPr txBox="1"/>
          <p:nvPr/>
        </p:nvSpPr>
        <p:spPr>
          <a:xfrm>
            <a:off x="6313932" y="2880360"/>
            <a:ext cx="1853946" cy="2286000"/>
          </a:xfrm>
          <a:prstGeom prst="rect">
            <a:avLst/>
          </a:prstGeom>
          <a:noFill/>
          <a:ln/>
        </p:spPr>
        <p:txBody>
          <a:bodyPr wrap="square" lIns="0" tIns="0" rIns="0" bIns="0" rtlCol="0" anchor="t"/>
          <a:lstStyle/>
          <a:p>
            <a:pPr indent="0" marL="0">
              <a:lnSpc>
                <a:spcPct val="135000"/>
              </a:lnSpc>
              <a:buNone/>
            </a:pPr>
            <a:r>
              <a:rPr lang="en-US" sz="1450" dirty="0">
                <a:solidFill>
                  <a:srgbClr val="475569"/>
                </a:solidFill>
                <a:latin typeface="Poppins" pitchFamily="34" charset="0"/>
                <a:ea typeface="Poppins" pitchFamily="34" charset="-122"/>
                <a:cs typeface="Poppins" pitchFamily="34" charset="-120"/>
              </a:rPr>
              <a:t>which of the three fits a given business problem, just from how the question is phrased.</a:t>
            </a:r>
            <a:endParaRPr lang="en-US" sz="1450" dirty="0"/>
          </a:p>
        </p:txBody>
      </p:sp>
      <p:sp>
        <p:nvSpPr>
          <p:cNvPr id="24" name="Shape 22"/>
          <p:cNvSpPr/>
          <p:nvPr/>
        </p:nvSpPr>
        <p:spPr>
          <a:xfrm>
            <a:off x="8743950" y="1600200"/>
            <a:ext cx="2366010" cy="3794760"/>
          </a:xfrm>
          <a:prstGeom prst="roundRect">
            <a:avLst>
              <a:gd name="adj" fmla="val 3478"/>
            </a:avLst>
          </a:prstGeom>
          <a:solidFill>
            <a:srgbClr val="FFFFFF"/>
          </a:solidFill>
          <a:ln/>
          <a:effectLst>
            <a:outerShdw sx="100000" sy="100000" kx="0" ky="0" algn="bl" rotWithShape="0" blurRad="127000" dist="38100" dir="5400000">
              <a:srgbClr val="1B2A2E">
                <a:alpha val="12000"/>
              </a:srgbClr>
            </a:outerShdw>
          </a:effectLst>
        </p:spPr>
      </p:sp>
      <p:sp>
        <p:nvSpPr>
          <p:cNvPr id="25" name="Shape 23"/>
          <p:cNvSpPr/>
          <p:nvPr/>
        </p:nvSpPr>
        <p:spPr>
          <a:xfrm>
            <a:off x="8743950" y="1600200"/>
            <a:ext cx="2366010" cy="1051560"/>
          </a:xfrm>
          <a:prstGeom prst="roundRect">
            <a:avLst>
              <a:gd name="adj" fmla="val 7826"/>
            </a:avLst>
          </a:prstGeom>
          <a:solidFill>
            <a:srgbClr val="387F7F"/>
          </a:solidFill>
          <a:ln/>
        </p:spPr>
      </p:sp>
      <p:sp>
        <p:nvSpPr>
          <p:cNvPr id="26" name="Shape 24"/>
          <p:cNvSpPr/>
          <p:nvPr/>
        </p:nvSpPr>
        <p:spPr>
          <a:xfrm>
            <a:off x="8743950" y="2057400"/>
            <a:ext cx="2366010" cy="594360"/>
          </a:xfrm>
          <a:prstGeom prst="rect">
            <a:avLst/>
          </a:prstGeom>
          <a:solidFill>
            <a:srgbClr val="387F7F"/>
          </a:solidFill>
          <a:ln/>
        </p:spPr>
      </p:sp>
      <p:sp>
        <p:nvSpPr>
          <p:cNvPr id="27" name="Text 25"/>
          <p:cNvSpPr txBox="1"/>
          <p:nvPr/>
        </p:nvSpPr>
        <p:spPr>
          <a:xfrm>
            <a:off x="10149840" y="1554480"/>
            <a:ext cx="914400" cy="1097280"/>
          </a:xfrm>
          <a:prstGeom prst="rect">
            <a:avLst/>
          </a:prstGeom>
          <a:noFill/>
          <a:ln/>
        </p:spPr>
        <p:txBody>
          <a:bodyPr wrap="square" lIns="0" tIns="0" rIns="0" bIns="0" rtlCol="0" anchor="ctr"/>
          <a:lstStyle/>
          <a:p>
            <a:pPr algn="r" indent="0" marL="0">
              <a:buNone/>
            </a:pPr>
            <a:r>
              <a:rPr lang="en-US" sz="5800" b="1" dirty="0">
                <a:solidFill>
                  <a:srgbClr val="5A9A9A"/>
                </a:solidFill>
                <a:latin typeface="Poppins" pitchFamily="34" charset="0"/>
                <a:ea typeface="Poppins" pitchFamily="34" charset="-122"/>
                <a:cs typeface="Poppins" pitchFamily="34" charset="-120"/>
              </a:rPr>
              <a:t>4</a:t>
            </a:r>
            <a:endParaRPr lang="en-US" sz="5800" dirty="0"/>
          </a:p>
        </p:txBody>
      </p:sp>
      <p:sp>
        <p:nvSpPr>
          <p:cNvPr id="28" name="Text 26"/>
          <p:cNvSpPr txBox="1"/>
          <p:nvPr/>
        </p:nvSpPr>
        <p:spPr>
          <a:xfrm>
            <a:off x="8999982" y="1600200"/>
            <a:ext cx="1817370" cy="1051560"/>
          </a:xfrm>
          <a:prstGeom prst="rect">
            <a:avLst/>
          </a:prstGeom>
          <a:noFill/>
          <a:ln/>
        </p:spPr>
        <p:txBody>
          <a:bodyPr wrap="square" lIns="0" tIns="0" rIns="0" bIns="0" rtlCol="0" anchor="ctr"/>
          <a:lstStyle/>
          <a:p>
            <a:pPr indent="0" marL="0">
              <a:buNone/>
            </a:pPr>
            <a:r>
              <a:rPr lang="en-US" sz="2100" b="1" dirty="0">
                <a:solidFill>
                  <a:srgbClr val="FFFFFF"/>
                </a:solidFill>
                <a:latin typeface="Poppins" pitchFamily="34" charset="0"/>
                <a:ea typeface="Poppins" pitchFamily="34" charset="-122"/>
                <a:cs typeface="Poppins" pitchFamily="34" charset="-120"/>
              </a:rPr>
              <a:t>Describe</a:t>
            </a:r>
            <a:endParaRPr lang="en-US" sz="2100" dirty="0"/>
          </a:p>
        </p:txBody>
      </p:sp>
      <p:sp>
        <p:nvSpPr>
          <p:cNvPr id="29" name="Text 27"/>
          <p:cNvSpPr txBox="1"/>
          <p:nvPr/>
        </p:nvSpPr>
        <p:spPr>
          <a:xfrm>
            <a:off x="8999982" y="2880360"/>
            <a:ext cx="1853946" cy="2286000"/>
          </a:xfrm>
          <a:prstGeom prst="rect">
            <a:avLst/>
          </a:prstGeom>
          <a:noFill/>
          <a:ln/>
        </p:spPr>
        <p:txBody>
          <a:bodyPr wrap="square" lIns="0" tIns="0" rIns="0" bIns="0" rtlCol="0" anchor="t"/>
          <a:lstStyle/>
          <a:p>
            <a:pPr indent="0" marL="0">
              <a:lnSpc>
                <a:spcPct val="135000"/>
              </a:lnSpc>
              <a:buNone/>
            </a:pPr>
            <a:r>
              <a:rPr lang="en-US" sz="1450" dirty="0">
                <a:solidFill>
                  <a:srgbClr val="475569"/>
                </a:solidFill>
                <a:latin typeface="Poppins" pitchFamily="34" charset="0"/>
                <a:ea typeface="Poppins" pitchFamily="34" charset="-122"/>
                <a:cs typeface="Poppins" pitchFamily="34" charset="-120"/>
              </a:rPr>
              <a:t>the difference between an analyst's work and a data scientist's, and when to hand a question across that line.</a:t>
            </a:r>
            <a:endParaRPr lang="en-US" sz="1450" dirty="0"/>
          </a:p>
        </p:txBody>
      </p:sp>
      <p:pic>
        <p:nvPicPr>
          <p:cNvPr id="30"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31" name="Text 28"/>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0494A"/>
          </a:solidFill>
          <a:ln/>
        </p:spPr>
      </p:sp>
      <p:sp>
        <p:nvSpPr>
          <p:cNvPr id="3" name="Shape 1"/>
          <p:cNvSpPr/>
          <p:nvPr/>
        </p:nvSpPr>
        <p:spPr>
          <a:xfrm>
            <a:off x="7680960" y="-2926080"/>
            <a:ext cx="8595360" cy="8595360"/>
          </a:xfrm>
          <a:prstGeom prst="ellipse">
            <a:avLst/>
          </a:prstGeom>
          <a:solidFill>
            <a:srgbClr val="1B4041"/>
          </a:solidFill>
          <a:ln/>
        </p:spPr>
      </p:sp>
      <p:sp>
        <p:nvSpPr>
          <p:cNvPr id="4" name="Shape 2"/>
          <p:cNvSpPr/>
          <p:nvPr/>
        </p:nvSpPr>
        <p:spPr>
          <a:xfrm>
            <a:off x="9326880" y="2834640"/>
            <a:ext cx="5669280" cy="5669280"/>
          </a:xfrm>
          <a:prstGeom prst="ellipse">
            <a:avLst/>
          </a:prstGeom>
          <a:solidFill>
            <a:srgbClr val="387F7F"/>
          </a:solidFill>
          <a:ln/>
        </p:spPr>
      </p:sp>
      <p:sp>
        <p:nvSpPr>
          <p:cNvPr id="5" name="Text 3"/>
          <p:cNvSpPr txBox="1"/>
          <p:nvPr/>
        </p:nvSpPr>
        <p:spPr>
          <a:xfrm>
            <a:off x="566928" y="320040"/>
            <a:ext cx="2926080" cy="1920240"/>
          </a:xfrm>
          <a:prstGeom prst="rect">
            <a:avLst/>
          </a:prstGeom>
          <a:noFill/>
          <a:ln/>
        </p:spPr>
        <p:txBody>
          <a:bodyPr wrap="square" lIns="0" tIns="0" rIns="0" bIns="0" rtlCol="0" anchor="ctr"/>
          <a:lstStyle/>
          <a:p>
            <a:pPr indent="0" marL="0">
              <a:buNone/>
            </a:pPr>
            <a:r>
              <a:rPr lang="en-US" sz="13000" b="1" dirty="0">
                <a:solidFill>
                  <a:srgbClr val="2F6364"/>
                </a:solidFill>
                <a:latin typeface="Poppins" pitchFamily="34" charset="0"/>
                <a:ea typeface="Poppins" pitchFamily="34" charset="-122"/>
                <a:cs typeface="Poppins" pitchFamily="34" charset="-120"/>
              </a:rPr>
              <a:t>01</a:t>
            </a:r>
            <a:endParaRPr lang="en-US" sz="13000" dirty="0"/>
          </a:p>
        </p:txBody>
      </p:sp>
      <p:sp>
        <p:nvSpPr>
          <p:cNvPr id="6" name="Text 4"/>
          <p:cNvSpPr txBox="1"/>
          <p:nvPr/>
        </p:nvSpPr>
        <p:spPr>
          <a:xfrm>
            <a:off x="713232" y="2487168"/>
            <a:ext cx="6766560" cy="310896"/>
          </a:xfrm>
          <a:prstGeom prst="rect">
            <a:avLst/>
          </a:prstGeom>
          <a:noFill/>
          <a:ln/>
        </p:spPr>
        <p:txBody>
          <a:bodyPr wrap="square" lIns="0" tIns="0" rIns="0" bIns="0" rtlCol="0" anchor="ctr"/>
          <a:lstStyle/>
          <a:p>
            <a:pPr indent="0" marL="0">
              <a:buNone/>
            </a:pPr>
            <a:r>
              <a:rPr lang="en-US" sz="1300" b="1" spc="250" kern="0" dirty="0">
                <a:solidFill>
                  <a:srgbClr val="8FBEBE"/>
                </a:solidFill>
                <a:latin typeface="Poppins" pitchFamily="34" charset="0"/>
                <a:ea typeface="Poppins" pitchFamily="34" charset="-122"/>
                <a:cs typeface="Poppins" pitchFamily="34" charset="-120"/>
              </a:rPr>
              <a:t>PART ONE</a:t>
            </a:r>
            <a:endParaRPr lang="en-US" sz="1300" dirty="0"/>
          </a:p>
        </p:txBody>
      </p:sp>
      <p:sp>
        <p:nvSpPr>
          <p:cNvPr id="7" name="Shape 5"/>
          <p:cNvSpPr/>
          <p:nvPr/>
        </p:nvSpPr>
        <p:spPr>
          <a:xfrm>
            <a:off x="713232" y="2907792"/>
            <a:ext cx="1234440" cy="77724"/>
          </a:xfrm>
          <a:prstGeom prst="rect">
            <a:avLst/>
          </a:prstGeom>
          <a:solidFill>
            <a:srgbClr val="387F7F"/>
          </a:solidFill>
          <a:ln/>
        </p:spPr>
      </p:sp>
      <p:sp>
        <p:nvSpPr>
          <p:cNvPr id="8" name="Text 6"/>
          <p:cNvSpPr txBox="1"/>
          <p:nvPr/>
        </p:nvSpPr>
        <p:spPr>
          <a:xfrm>
            <a:off x="713232" y="3154680"/>
            <a:ext cx="7406640" cy="1463040"/>
          </a:xfrm>
          <a:prstGeom prst="rect">
            <a:avLst/>
          </a:prstGeom>
          <a:noFill/>
          <a:ln/>
        </p:spPr>
        <p:txBody>
          <a:bodyPr wrap="square" lIns="0" tIns="0" rIns="0" bIns="0" rtlCol="0" anchor="ctr"/>
          <a:lstStyle/>
          <a:p>
            <a:pPr indent="0" marL="0">
              <a:lnSpc>
                <a:spcPct val="108000"/>
              </a:lnSpc>
              <a:buNone/>
            </a:pPr>
            <a:r>
              <a:rPr lang="en-US" sz="3600" b="1" dirty="0">
                <a:solidFill>
                  <a:srgbClr val="FFFFFF"/>
                </a:solidFill>
                <a:latin typeface="Poppins" pitchFamily="34" charset="0"/>
                <a:ea typeface="Poppins" pitchFamily="34" charset="-122"/>
                <a:cs typeface="Poppins" pitchFamily="34" charset="-120"/>
              </a:rPr>
              <a:t>Supervised learning: classification and regression</a:t>
            </a:r>
            <a:endParaRPr lang="en-US" sz="3600" dirty="0"/>
          </a:p>
        </p:txBody>
      </p:sp>
      <p:sp>
        <p:nvSpPr>
          <p:cNvPr id="9" name="Shape 7"/>
          <p:cNvSpPr/>
          <p:nvPr/>
        </p:nvSpPr>
        <p:spPr>
          <a:xfrm>
            <a:off x="749808" y="4933188"/>
            <a:ext cx="146304" cy="146304"/>
          </a:xfrm>
          <a:prstGeom prst="ellipse">
            <a:avLst/>
          </a:prstGeom>
          <a:solidFill>
            <a:srgbClr val="387F7F"/>
          </a:solidFill>
          <a:ln/>
        </p:spPr>
      </p:sp>
      <p:sp>
        <p:nvSpPr>
          <p:cNvPr id="10" name="Text 8"/>
          <p:cNvSpPr txBox="1"/>
          <p:nvPr/>
        </p:nvSpPr>
        <p:spPr>
          <a:xfrm>
            <a:off x="1097280" y="4855464"/>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What "supervised" actually means: learning from known right answers</a:t>
            </a:r>
            <a:endParaRPr lang="en-US" sz="1350" dirty="0"/>
          </a:p>
        </p:txBody>
      </p:sp>
      <p:sp>
        <p:nvSpPr>
          <p:cNvPr id="11" name="Shape 9"/>
          <p:cNvSpPr/>
          <p:nvPr/>
        </p:nvSpPr>
        <p:spPr>
          <a:xfrm>
            <a:off x="749808" y="5317236"/>
            <a:ext cx="146304" cy="146304"/>
          </a:xfrm>
          <a:prstGeom prst="ellipse">
            <a:avLst/>
          </a:prstGeom>
          <a:solidFill>
            <a:srgbClr val="387F7F"/>
          </a:solidFill>
          <a:ln/>
        </p:spPr>
      </p:sp>
      <p:sp>
        <p:nvSpPr>
          <p:cNvPr id="12" name="Text 10"/>
          <p:cNvSpPr txBox="1"/>
          <p:nvPr/>
        </p:nvSpPr>
        <p:spPr>
          <a:xfrm>
            <a:off x="1097280" y="5239512"/>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Classification: predicting a category</a:t>
            </a:r>
            <a:endParaRPr lang="en-US" sz="1350" dirty="0"/>
          </a:p>
        </p:txBody>
      </p:sp>
      <p:sp>
        <p:nvSpPr>
          <p:cNvPr id="13" name="Shape 11"/>
          <p:cNvSpPr/>
          <p:nvPr/>
        </p:nvSpPr>
        <p:spPr>
          <a:xfrm>
            <a:off x="749808" y="5701284"/>
            <a:ext cx="146304" cy="146304"/>
          </a:xfrm>
          <a:prstGeom prst="ellipse">
            <a:avLst/>
          </a:prstGeom>
          <a:solidFill>
            <a:srgbClr val="387F7F"/>
          </a:solidFill>
          <a:ln/>
        </p:spPr>
      </p:sp>
      <p:sp>
        <p:nvSpPr>
          <p:cNvPr id="14" name="Text 12"/>
          <p:cNvSpPr txBox="1"/>
          <p:nvPr/>
        </p:nvSpPr>
        <p:spPr>
          <a:xfrm>
            <a:off x="1097280" y="5623560"/>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Regression: predicting a number</a:t>
            </a:r>
            <a:endParaRPr lang="en-US" sz="1350" dirty="0"/>
          </a:p>
        </p:txBody>
      </p:sp>
      <p:sp>
        <p:nvSpPr>
          <p:cNvPr id="15" name="Text 13"/>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7FA3A3"/>
                </a:solidFill>
                <a:latin typeface="Poppins" pitchFamily="34" charset="0"/>
                <a:ea typeface="Poppins" pitchFamily="34" charset="-122"/>
                <a:cs typeface="Poppins"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54864" cy="411480"/>
          </a:xfrm>
          <a:prstGeom prst="rect">
            <a:avLst/>
          </a:prstGeom>
          <a:solidFill>
            <a:srgbClr val="387F7F"/>
          </a:solidFill>
          <a:ln/>
        </p:spPr>
      </p:sp>
      <p:sp>
        <p:nvSpPr>
          <p:cNvPr id="5" name="Text 3"/>
          <p:cNvSpPr txBox="1"/>
          <p:nvPr/>
        </p:nvSpPr>
        <p:spPr>
          <a:xfrm>
            <a:off x="868680" y="502920"/>
            <a:ext cx="9966960" cy="685800"/>
          </a:xfrm>
          <a:prstGeom prst="rect">
            <a:avLst/>
          </a:prstGeom>
          <a:noFill/>
          <a:ln/>
        </p:spPr>
        <p:txBody>
          <a:bodyPr wrap="square" lIns="0" tIns="0" rIns="0" bIns="0" rtlCol="0" anchor="t"/>
          <a:lstStyle/>
          <a:p>
            <a:pPr indent="0" marL="0">
              <a:lnSpc>
                <a:spcPct val="110000"/>
              </a:lnSpc>
              <a:buNone/>
            </a:pPr>
            <a:r>
              <a:rPr lang="en-US" sz="3016" dirty="0">
                <a:solidFill>
                  <a:srgbClr val="387F7F"/>
                </a:solidFill>
                <a:latin typeface="Poppins" pitchFamily="34" charset="0"/>
                <a:ea typeface="Poppins" pitchFamily="34" charset="-122"/>
                <a:cs typeface="Poppins" pitchFamily="34" charset="-120"/>
              </a:rPr>
              <a:t>"Supervised" means: we already know the right answers</a:t>
            </a:r>
            <a:endParaRPr lang="en-US" sz="3016" dirty="0"/>
          </a:p>
        </p:txBody>
      </p:sp>
      <p:sp>
        <p:nvSpPr>
          <p:cNvPr id="6" name="Shape 4"/>
          <p:cNvSpPr/>
          <p:nvPr/>
        </p:nvSpPr>
        <p:spPr>
          <a:xfrm>
            <a:off x="685800" y="1508760"/>
            <a:ext cx="9921240" cy="3063240"/>
          </a:xfrm>
          <a:prstGeom prst="roundRect">
            <a:avLst>
              <a:gd name="adj" fmla="val 2687"/>
            </a:avLst>
          </a:prstGeom>
          <a:solidFill>
            <a:srgbClr val="FFFFFF"/>
          </a:solidFill>
          <a:ln/>
          <a:effectLst>
            <a:outerShdw sx="100000" sy="100000" kx="0" ky="0" algn="bl" rotWithShape="0" blurRad="127000" dist="38100" dir="5400000">
              <a:srgbClr val="1B2A2E">
                <a:alpha val="12000"/>
              </a:srgbClr>
            </a:outerShdw>
          </a:effectLst>
        </p:spPr>
      </p:sp>
      <p:sp>
        <p:nvSpPr>
          <p:cNvPr id="7" name="Text 5"/>
          <p:cNvSpPr txBox="1"/>
          <p:nvPr/>
        </p:nvSpPr>
        <p:spPr>
          <a:xfrm>
            <a:off x="1051560" y="1828800"/>
            <a:ext cx="9189720" cy="2514600"/>
          </a:xfrm>
          <a:prstGeom prst="rect">
            <a:avLst/>
          </a:prstGeom>
          <a:noFill/>
          <a:ln/>
        </p:spPr>
        <p:txBody>
          <a:bodyPr wrap="square" lIns="0" tIns="0" rIns="0" bIns="0" rtlCol="0" anchor="t"/>
          <a:lstStyle/>
          <a:p>
            <a:pPr algn="l" indent="0" marL="0">
              <a:lnSpc>
                <a:spcPct val="130000"/>
              </a:lnSpc>
              <a:buNone/>
            </a:pPr>
            <a:r>
              <a:rPr lang="en-US" sz="1800" dirty="0">
                <a:solidFill>
                  <a:srgbClr val="475569"/>
                </a:solidFill>
                <a:latin typeface="Poppins" pitchFamily="34" charset="0"/>
                <a:ea typeface="Poppins" pitchFamily="34" charset="-122"/>
                <a:cs typeface="Poppins" pitchFamily="34" charset="-120"/>
              </a:rPr>
              <a:t>A supervised model learns from historical examples where the outcome is already recorded. SwiftRoute's Q3 file already has 3,600 deliveries where the outcome is known: each one is marked Delivered, Failed, Returned or In Transit, and each one has a real recorded duration. A supervised model studies that history and learns the pattern between the inputs, distance, route, time of day, and the known outcome, so it can estimate the outcome for a new delivery whose result is not yet known. The word "supervised" refers to that known-answer history, not to a person watching the model work.</a:t>
            </a:r>
            <a:endParaRPr lang="en-US" sz="1800" dirty="0"/>
          </a:p>
        </p:txBody>
      </p:sp>
      <p:sp>
        <p:nvSpPr>
          <p:cNvPr id="8" name="Shape 6"/>
          <p:cNvSpPr/>
          <p:nvPr/>
        </p:nvSpPr>
        <p:spPr>
          <a:xfrm>
            <a:off x="685800" y="4800600"/>
            <a:ext cx="9921240" cy="914400"/>
          </a:xfrm>
          <a:prstGeom prst="roundRect">
            <a:avLst>
              <a:gd name="adj" fmla="val 9000"/>
            </a:avLst>
          </a:prstGeom>
          <a:solidFill>
            <a:srgbClr val="F4F7F7"/>
          </a:solidFill>
          <a:ln/>
        </p:spPr>
      </p:sp>
      <p:sp>
        <p:nvSpPr>
          <p:cNvPr id="9" name="Shape 7"/>
          <p:cNvSpPr/>
          <p:nvPr/>
        </p:nvSpPr>
        <p:spPr>
          <a:xfrm>
            <a:off x="685800" y="4800600"/>
            <a:ext cx="54864" cy="914400"/>
          </a:xfrm>
          <a:prstGeom prst="rect">
            <a:avLst/>
          </a:prstGeom>
          <a:solidFill>
            <a:srgbClr val="387F7F"/>
          </a:solidFill>
          <a:ln/>
        </p:spPr>
      </p:sp>
      <p:sp>
        <p:nvSpPr>
          <p:cNvPr id="10" name="Text 8"/>
          <p:cNvSpPr txBox="1"/>
          <p:nvPr/>
        </p:nvSpPr>
        <p:spPr>
          <a:xfrm>
            <a:off x="1051560" y="4800600"/>
            <a:ext cx="9189720" cy="914400"/>
          </a:xfrm>
          <a:prstGeom prst="rect">
            <a:avLst/>
          </a:prstGeom>
          <a:noFill/>
          <a:ln/>
        </p:spPr>
        <p:txBody>
          <a:bodyPr wrap="square" lIns="0" tIns="0" rIns="0" bIns="0" rtlCol="0" anchor="ctr"/>
          <a:lstStyle/>
          <a:p>
            <a:pPr algn="l" indent="0" marL="0">
              <a:lnSpc>
                <a:spcPct val="130000"/>
              </a:lnSpc>
              <a:buNone/>
            </a:pPr>
            <a:r>
              <a:rPr lang="en-US" sz="1600" b="1" dirty="0">
                <a:solidFill>
                  <a:srgbClr val="387F7F"/>
                </a:solidFill>
                <a:latin typeface="Poppins" pitchFamily="34" charset="0"/>
                <a:ea typeface="Poppins" pitchFamily="34" charset="-122"/>
                <a:cs typeface="Poppins" pitchFamily="34" charset="-120"/>
              </a:rPr>
              <a:t>No known answers in the history, no supervised learning. That single condition is worth checking before the word gets used in a meeting.</a:t>
            </a:r>
            <a:endParaRPr lang="en-US" sz="1600" dirty="0"/>
          </a:p>
        </p:txBody>
      </p:sp>
      <p:pic>
        <p:nvPicPr>
          <p:cNvPr id="11"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12" name="Text 9"/>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54864" cy="411480"/>
          </a:xfrm>
          <a:prstGeom prst="rect">
            <a:avLst/>
          </a:prstGeom>
          <a:solidFill>
            <a:srgbClr val="387F7F"/>
          </a:solidFill>
          <a:ln/>
        </p:spPr>
      </p:sp>
      <p:sp>
        <p:nvSpPr>
          <p:cNvPr id="5" name="Text 3"/>
          <p:cNvSpPr txBox="1"/>
          <p:nvPr/>
        </p:nvSpPr>
        <p:spPr>
          <a:xfrm>
            <a:off x="868680" y="502920"/>
            <a:ext cx="9966960" cy="868680"/>
          </a:xfrm>
          <a:prstGeom prst="rect">
            <a:avLst/>
          </a:prstGeom>
          <a:noFill/>
          <a:ln/>
        </p:spPr>
        <p:txBody>
          <a:bodyPr wrap="square" lIns="0" tIns="0" rIns="0" bIns="0" rtlCol="0" anchor="t"/>
          <a:lstStyle/>
          <a:p>
            <a:pPr indent="0" marL="0">
              <a:lnSpc>
                <a:spcPct val="110000"/>
              </a:lnSpc>
              <a:buNone/>
            </a:pPr>
            <a:r>
              <a:rPr lang="en-US" sz="2400" dirty="0">
                <a:solidFill>
                  <a:srgbClr val="387F7F"/>
                </a:solidFill>
                <a:latin typeface="Poppins" pitchFamily="34" charset="0"/>
                <a:ea typeface="Poppins" pitchFamily="34" charset="-122"/>
                <a:cs typeface="Poppins" pitchFamily="34" charset="-120"/>
              </a:rPr>
              <a:t>Classification predicts a category. Regression predicts a number.</a:t>
            </a:r>
            <a:endParaRPr lang="en-US" sz="2400" dirty="0"/>
          </a:p>
        </p:txBody>
      </p:sp>
      <p:sp>
        <p:nvSpPr>
          <p:cNvPr id="6" name="Shape 4"/>
          <p:cNvSpPr/>
          <p:nvPr/>
        </p:nvSpPr>
        <p:spPr>
          <a:xfrm>
            <a:off x="685800" y="1508760"/>
            <a:ext cx="4800600" cy="3657600"/>
          </a:xfrm>
          <a:prstGeom prst="roundRect">
            <a:avLst>
              <a:gd name="adj" fmla="val 2250"/>
            </a:avLst>
          </a:prstGeom>
          <a:solidFill>
            <a:srgbClr val="FFFFFF"/>
          </a:solidFill>
          <a:ln/>
          <a:effectLst>
            <a:outerShdw sx="100000" sy="100000" kx="0" ky="0" algn="bl" rotWithShape="0" blurRad="127000" dist="38100" dir="5400000">
              <a:srgbClr val="1B2A2E">
                <a:alpha val="12000"/>
              </a:srgbClr>
            </a:outerShdw>
          </a:effectLst>
        </p:spPr>
      </p:sp>
      <p:sp>
        <p:nvSpPr>
          <p:cNvPr id="7" name="Shape 5"/>
          <p:cNvSpPr/>
          <p:nvPr/>
        </p:nvSpPr>
        <p:spPr>
          <a:xfrm>
            <a:off x="685800" y="1508760"/>
            <a:ext cx="4800600" cy="502920"/>
          </a:xfrm>
          <a:prstGeom prst="rect">
            <a:avLst/>
          </a:prstGeom>
          <a:solidFill>
            <a:srgbClr val="387F7F"/>
          </a:solidFill>
          <a:ln/>
        </p:spPr>
      </p:sp>
      <p:sp>
        <p:nvSpPr>
          <p:cNvPr id="8" name="Text 6"/>
          <p:cNvSpPr txBox="1"/>
          <p:nvPr/>
        </p:nvSpPr>
        <p:spPr>
          <a:xfrm>
            <a:off x="685800" y="1508760"/>
            <a:ext cx="480060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Poppins" pitchFamily="34" charset="0"/>
                <a:ea typeface="Poppins" pitchFamily="34" charset="-122"/>
                <a:cs typeface="Poppins" pitchFamily="34" charset="-120"/>
              </a:rPr>
              <a:t>CLASSIFICATION</a:t>
            </a:r>
            <a:endParaRPr lang="en-US" sz="1650" dirty="0"/>
          </a:p>
        </p:txBody>
      </p:sp>
      <p:sp>
        <p:nvSpPr>
          <p:cNvPr id="9" name="Text 7"/>
          <p:cNvSpPr txBox="1"/>
          <p:nvPr/>
        </p:nvSpPr>
        <p:spPr>
          <a:xfrm>
            <a:off x="960120" y="2194560"/>
            <a:ext cx="4251960" cy="274320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475569"/>
                </a:solidFill>
                <a:latin typeface="Poppins" pitchFamily="34" charset="0"/>
                <a:ea typeface="Poppins" pitchFamily="34" charset="-122"/>
                <a:cs typeface="Poppins" pitchFamily="34" charset="-120"/>
              </a:rPr>
              <a:t>•  The answer is one of a fixed set of categories.</a:t>
            </a:r>
            <a:endParaRPr lang="en-US" sz="1350" dirty="0"/>
          </a:p>
          <a:p>
            <a:pPr indent="0" marL="0">
              <a:lnSpc>
                <a:spcPct val="130000"/>
              </a:lnSpc>
              <a:spcAft>
                <a:spcPts val="1000"/>
              </a:spcAft>
              <a:buNone/>
            </a:pPr>
            <a:r>
              <a:rPr lang="en-US" sz="1350" dirty="0">
                <a:solidFill>
                  <a:srgbClr val="475569"/>
                </a:solidFill>
                <a:latin typeface="Poppins" pitchFamily="34" charset="0"/>
                <a:ea typeface="Poppins" pitchFamily="34" charset="-122"/>
                <a:cs typeface="Poppins" pitchFamily="34" charset="-120"/>
              </a:rPr>
              <a:t>•  SwiftRoute example: will this delivery end up Delivered, Failed, Returned, or still In Transit at day's end?</a:t>
            </a:r>
            <a:endParaRPr lang="en-US" sz="1350" dirty="0"/>
          </a:p>
          <a:p>
            <a:pPr indent="0" marL="0">
              <a:lnSpc>
                <a:spcPct val="130000"/>
              </a:lnSpc>
              <a:spcAft>
                <a:spcPts val="1000"/>
              </a:spcAft>
              <a:buNone/>
            </a:pPr>
            <a:r>
              <a:rPr lang="en-US" sz="1350" dirty="0">
                <a:solidFill>
                  <a:srgbClr val="475569"/>
                </a:solidFill>
                <a:latin typeface="Poppins" pitchFamily="34" charset="0"/>
                <a:ea typeface="Poppins" pitchFamily="34" charset="-122"/>
                <a:cs typeface="Poppins" pitchFamily="34" charset="-120"/>
              </a:rPr>
              <a:t>•  "Predict which" and "predict whether" are the giveaway phrasings.</a:t>
            </a:r>
            <a:endParaRPr lang="en-US" sz="1350" dirty="0"/>
          </a:p>
          <a:p>
            <a:pPr indent="0" marL="0">
              <a:lnSpc>
                <a:spcPct val="130000"/>
              </a:lnSpc>
              <a:spcAft>
                <a:spcPts val="1000"/>
              </a:spcAft>
              <a:buNone/>
            </a:pPr>
            <a:r>
              <a:rPr lang="en-US" sz="1350" dirty="0">
                <a:solidFill>
                  <a:srgbClr val="475569"/>
                </a:solidFill>
                <a:latin typeface="Poppins" pitchFamily="34" charset="0"/>
                <a:ea typeface="Poppins" pitchFamily="34" charset="-122"/>
                <a:cs typeface="Poppins" pitchFamily="34" charset="-120"/>
              </a:rPr>
              <a:t>•  Q3 reality check: 2,541 of 3,600 deliveries were Delivered, 340 Failed - a real, if imperfect, pattern to learn from.</a:t>
            </a:r>
            <a:endParaRPr lang="en-US" sz="1350" dirty="0"/>
          </a:p>
        </p:txBody>
      </p:sp>
      <p:sp>
        <p:nvSpPr>
          <p:cNvPr id="10" name="Shape 8"/>
          <p:cNvSpPr/>
          <p:nvPr/>
        </p:nvSpPr>
        <p:spPr>
          <a:xfrm>
            <a:off x="5806440" y="1508760"/>
            <a:ext cx="4800600" cy="3657600"/>
          </a:xfrm>
          <a:prstGeom prst="roundRect">
            <a:avLst>
              <a:gd name="adj" fmla="val 2250"/>
            </a:avLst>
          </a:prstGeom>
          <a:solidFill>
            <a:srgbClr val="FFFFFF"/>
          </a:solidFill>
          <a:ln/>
          <a:effectLst>
            <a:outerShdw sx="100000" sy="100000" kx="0" ky="0" algn="bl" rotWithShape="0" blurRad="127000" dist="38100" dir="5400000">
              <a:srgbClr val="1B2A2E">
                <a:alpha val="12000"/>
              </a:srgbClr>
            </a:outerShdw>
          </a:effectLst>
        </p:spPr>
      </p:sp>
      <p:sp>
        <p:nvSpPr>
          <p:cNvPr id="11" name="Shape 9"/>
          <p:cNvSpPr/>
          <p:nvPr/>
        </p:nvSpPr>
        <p:spPr>
          <a:xfrm>
            <a:off x="5806440" y="1508760"/>
            <a:ext cx="4800600" cy="502920"/>
          </a:xfrm>
          <a:prstGeom prst="rect">
            <a:avLst/>
          </a:prstGeom>
          <a:solidFill>
            <a:srgbClr val="387F7F"/>
          </a:solidFill>
          <a:ln/>
        </p:spPr>
      </p:sp>
      <p:sp>
        <p:nvSpPr>
          <p:cNvPr id="12" name="Text 10"/>
          <p:cNvSpPr txBox="1"/>
          <p:nvPr/>
        </p:nvSpPr>
        <p:spPr>
          <a:xfrm>
            <a:off x="5806440" y="1508760"/>
            <a:ext cx="480060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Poppins" pitchFamily="34" charset="0"/>
                <a:ea typeface="Poppins" pitchFamily="34" charset="-122"/>
                <a:cs typeface="Poppins" pitchFamily="34" charset="-120"/>
              </a:rPr>
              <a:t>REGRESSION</a:t>
            </a:r>
            <a:endParaRPr lang="en-US" sz="1650" dirty="0"/>
          </a:p>
        </p:txBody>
      </p:sp>
      <p:sp>
        <p:nvSpPr>
          <p:cNvPr id="13" name="Text 11"/>
          <p:cNvSpPr txBox="1"/>
          <p:nvPr/>
        </p:nvSpPr>
        <p:spPr>
          <a:xfrm>
            <a:off x="6080760" y="2194560"/>
            <a:ext cx="4251960" cy="2743200"/>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475569"/>
                </a:solidFill>
                <a:latin typeface="Poppins" pitchFamily="34" charset="0"/>
                <a:ea typeface="Poppins" pitchFamily="34" charset="-122"/>
                <a:cs typeface="Poppins" pitchFamily="34" charset="-120"/>
              </a:rPr>
              <a:t>•  The answer is a number on a continuous scale, not a category.</a:t>
            </a:r>
            <a:endParaRPr lang="en-US" sz="1350" dirty="0"/>
          </a:p>
          <a:p>
            <a:pPr indent="0" marL="0">
              <a:lnSpc>
                <a:spcPct val="130000"/>
              </a:lnSpc>
              <a:spcAft>
                <a:spcPts val="1000"/>
              </a:spcAft>
              <a:buNone/>
            </a:pPr>
            <a:r>
              <a:rPr lang="en-US" sz="1350" dirty="0">
                <a:solidFill>
                  <a:srgbClr val="475569"/>
                </a:solidFill>
                <a:latin typeface="Poppins" pitchFamily="34" charset="0"/>
                <a:ea typeface="Poppins" pitchFamily="34" charset="-122"/>
                <a:cs typeface="Poppins" pitchFamily="34" charset="-120"/>
              </a:rPr>
              <a:t>•  SwiftRoute example: how many minutes will this delivery take, given its distance and route?</a:t>
            </a:r>
            <a:endParaRPr lang="en-US" sz="1350" dirty="0"/>
          </a:p>
          <a:p>
            <a:pPr indent="0" marL="0">
              <a:lnSpc>
                <a:spcPct val="130000"/>
              </a:lnSpc>
              <a:spcAft>
                <a:spcPts val="1000"/>
              </a:spcAft>
              <a:buNone/>
            </a:pPr>
            <a:r>
              <a:rPr lang="en-US" sz="1350" dirty="0">
                <a:solidFill>
                  <a:srgbClr val="475569"/>
                </a:solidFill>
                <a:latin typeface="Poppins" pitchFamily="34" charset="0"/>
                <a:ea typeface="Poppins" pitchFamily="34" charset="-122"/>
                <a:cs typeface="Poppins" pitchFamily="34" charset="-120"/>
              </a:rPr>
              <a:t>•  "Predict how much" and "predict how long" are the giveaway phrasings.</a:t>
            </a:r>
            <a:endParaRPr lang="en-US" sz="1350" dirty="0"/>
          </a:p>
          <a:p>
            <a:pPr indent="0" marL="0">
              <a:lnSpc>
                <a:spcPct val="130000"/>
              </a:lnSpc>
              <a:spcAft>
                <a:spcPts val="1000"/>
              </a:spcAft>
              <a:buNone/>
            </a:pPr>
            <a:r>
              <a:rPr lang="en-US" sz="1350" dirty="0">
                <a:solidFill>
                  <a:srgbClr val="475569"/>
                </a:solidFill>
                <a:latin typeface="Poppins" pitchFamily="34" charset="0"/>
                <a:ea typeface="Poppins" pitchFamily="34" charset="-122"/>
                <a:cs typeface="Poppins" pitchFamily="34" charset="-120"/>
              </a:rPr>
              <a:t>•  Q3 reality check: real durations ranged from 8 to 189 minutes across the quarter - the kind of spread regression is built to estimate.</a:t>
            </a:r>
            <a:endParaRPr lang="en-US" sz="1350" dirty="0"/>
          </a:p>
        </p:txBody>
      </p:sp>
      <p:sp>
        <p:nvSpPr>
          <p:cNvPr id="14" name="Text 12"/>
          <p:cNvSpPr txBox="1"/>
          <p:nvPr/>
        </p:nvSpPr>
        <p:spPr>
          <a:xfrm>
            <a:off x="685800" y="5349240"/>
            <a:ext cx="9921240" cy="457200"/>
          </a:xfrm>
          <a:prstGeom prst="rect">
            <a:avLst/>
          </a:prstGeom>
          <a:noFill/>
          <a:ln/>
        </p:spPr>
        <p:txBody>
          <a:bodyPr wrap="square" lIns="0" tIns="0" rIns="0" bIns="0" rtlCol="0" anchor="t"/>
          <a:lstStyle/>
          <a:p>
            <a:pPr algn="l" indent="0" marL="0">
              <a:lnSpc>
                <a:spcPct val="130000"/>
              </a:lnSpc>
              <a:buNone/>
            </a:pPr>
            <a:r>
              <a:rPr lang="en-US" sz="1500" i="1" dirty="0">
                <a:solidFill>
                  <a:srgbClr val="64748B"/>
                </a:solidFill>
                <a:latin typeface="Poppins" pitchFamily="34" charset="0"/>
                <a:ea typeface="Poppins" pitchFamily="34" charset="-122"/>
                <a:cs typeface="Poppins" pitchFamily="34" charset="-120"/>
              </a:rPr>
              <a:t>Same underlying method, supervised learning. The only real difference is the shape of the answer: a category, or a number.</a:t>
            </a:r>
            <a:endParaRPr lang="en-US" sz="1500" dirty="0"/>
          </a:p>
        </p:txBody>
      </p:sp>
      <p:pic>
        <p:nvPicPr>
          <p:cNvPr id="15"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16" name="Text 13"/>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0494A"/>
          </a:solidFill>
          <a:ln/>
        </p:spPr>
      </p:sp>
      <p:sp>
        <p:nvSpPr>
          <p:cNvPr id="3" name="Shape 1"/>
          <p:cNvSpPr/>
          <p:nvPr/>
        </p:nvSpPr>
        <p:spPr>
          <a:xfrm>
            <a:off x="7680960" y="-2926080"/>
            <a:ext cx="8595360" cy="8595360"/>
          </a:xfrm>
          <a:prstGeom prst="ellipse">
            <a:avLst/>
          </a:prstGeom>
          <a:solidFill>
            <a:srgbClr val="1B4041"/>
          </a:solidFill>
          <a:ln/>
        </p:spPr>
      </p:sp>
      <p:sp>
        <p:nvSpPr>
          <p:cNvPr id="4" name="Shape 2"/>
          <p:cNvSpPr/>
          <p:nvPr/>
        </p:nvSpPr>
        <p:spPr>
          <a:xfrm>
            <a:off x="9326880" y="2834640"/>
            <a:ext cx="5669280" cy="5669280"/>
          </a:xfrm>
          <a:prstGeom prst="ellipse">
            <a:avLst/>
          </a:prstGeom>
          <a:solidFill>
            <a:srgbClr val="387F7F"/>
          </a:solidFill>
          <a:ln/>
        </p:spPr>
      </p:sp>
      <p:sp>
        <p:nvSpPr>
          <p:cNvPr id="5" name="Text 3"/>
          <p:cNvSpPr txBox="1"/>
          <p:nvPr/>
        </p:nvSpPr>
        <p:spPr>
          <a:xfrm>
            <a:off x="566928" y="320040"/>
            <a:ext cx="2926080" cy="1920240"/>
          </a:xfrm>
          <a:prstGeom prst="rect">
            <a:avLst/>
          </a:prstGeom>
          <a:noFill/>
          <a:ln/>
        </p:spPr>
        <p:txBody>
          <a:bodyPr wrap="square" lIns="0" tIns="0" rIns="0" bIns="0" rtlCol="0" anchor="ctr"/>
          <a:lstStyle/>
          <a:p>
            <a:pPr indent="0" marL="0">
              <a:buNone/>
            </a:pPr>
            <a:r>
              <a:rPr lang="en-US" sz="13000" b="1" dirty="0">
                <a:solidFill>
                  <a:srgbClr val="2F6364"/>
                </a:solidFill>
                <a:latin typeface="Poppins" pitchFamily="34" charset="0"/>
                <a:ea typeface="Poppins" pitchFamily="34" charset="-122"/>
                <a:cs typeface="Poppins" pitchFamily="34" charset="-120"/>
              </a:rPr>
              <a:t>02</a:t>
            </a:r>
            <a:endParaRPr lang="en-US" sz="13000" dirty="0"/>
          </a:p>
        </p:txBody>
      </p:sp>
      <p:sp>
        <p:nvSpPr>
          <p:cNvPr id="6" name="Text 4"/>
          <p:cNvSpPr txBox="1"/>
          <p:nvPr/>
        </p:nvSpPr>
        <p:spPr>
          <a:xfrm>
            <a:off x="713232" y="2487168"/>
            <a:ext cx="6766560" cy="310896"/>
          </a:xfrm>
          <a:prstGeom prst="rect">
            <a:avLst/>
          </a:prstGeom>
          <a:noFill/>
          <a:ln/>
        </p:spPr>
        <p:txBody>
          <a:bodyPr wrap="square" lIns="0" tIns="0" rIns="0" bIns="0" rtlCol="0" anchor="ctr"/>
          <a:lstStyle/>
          <a:p>
            <a:pPr indent="0" marL="0">
              <a:buNone/>
            </a:pPr>
            <a:r>
              <a:rPr lang="en-US" sz="1300" b="1" spc="250" kern="0" dirty="0">
                <a:solidFill>
                  <a:srgbClr val="8FBEBE"/>
                </a:solidFill>
                <a:latin typeface="Poppins" pitchFamily="34" charset="0"/>
                <a:ea typeface="Poppins" pitchFamily="34" charset="-122"/>
                <a:cs typeface="Poppins" pitchFamily="34" charset="-120"/>
              </a:rPr>
              <a:t>PART TWO</a:t>
            </a:r>
            <a:endParaRPr lang="en-US" sz="1300" dirty="0"/>
          </a:p>
        </p:txBody>
      </p:sp>
      <p:sp>
        <p:nvSpPr>
          <p:cNvPr id="7" name="Shape 5"/>
          <p:cNvSpPr/>
          <p:nvPr/>
        </p:nvSpPr>
        <p:spPr>
          <a:xfrm>
            <a:off x="713232" y="2907792"/>
            <a:ext cx="1234440" cy="77724"/>
          </a:xfrm>
          <a:prstGeom prst="rect">
            <a:avLst/>
          </a:prstGeom>
          <a:solidFill>
            <a:srgbClr val="387F7F"/>
          </a:solidFill>
          <a:ln/>
        </p:spPr>
      </p:sp>
      <p:sp>
        <p:nvSpPr>
          <p:cNvPr id="8" name="Text 6"/>
          <p:cNvSpPr txBox="1"/>
          <p:nvPr/>
        </p:nvSpPr>
        <p:spPr>
          <a:xfrm>
            <a:off x="713232" y="3154680"/>
            <a:ext cx="7406640" cy="1463040"/>
          </a:xfrm>
          <a:prstGeom prst="rect">
            <a:avLst/>
          </a:prstGeom>
          <a:noFill/>
          <a:ln/>
        </p:spPr>
        <p:txBody>
          <a:bodyPr wrap="square" lIns="0" tIns="0" rIns="0" bIns="0" rtlCol="0" anchor="ctr"/>
          <a:lstStyle/>
          <a:p>
            <a:pPr indent="0" marL="0">
              <a:lnSpc>
                <a:spcPct val="108000"/>
              </a:lnSpc>
              <a:buNone/>
            </a:pPr>
            <a:r>
              <a:rPr lang="en-US" sz="3600" b="1" dirty="0">
                <a:solidFill>
                  <a:srgbClr val="FFFFFF"/>
                </a:solidFill>
                <a:latin typeface="Poppins" pitchFamily="34" charset="0"/>
                <a:ea typeface="Poppins" pitchFamily="34" charset="-122"/>
                <a:cs typeface="Poppins" pitchFamily="34" charset="-120"/>
              </a:rPr>
              <a:t>Unsupervised learning: clustering</a:t>
            </a:r>
            <a:endParaRPr lang="en-US" sz="3600" dirty="0"/>
          </a:p>
        </p:txBody>
      </p:sp>
      <p:sp>
        <p:nvSpPr>
          <p:cNvPr id="9" name="Shape 7"/>
          <p:cNvSpPr/>
          <p:nvPr/>
        </p:nvSpPr>
        <p:spPr>
          <a:xfrm>
            <a:off x="749808" y="4933188"/>
            <a:ext cx="146304" cy="146304"/>
          </a:xfrm>
          <a:prstGeom prst="ellipse">
            <a:avLst/>
          </a:prstGeom>
          <a:solidFill>
            <a:srgbClr val="387F7F"/>
          </a:solidFill>
          <a:ln/>
        </p:spPr>
      </p:sp>
      <p:sp>
        <p:nvSpPr>
          <p:cNvPr id="10" name="Text 8"/>
          <p:cNvSpPr txBox="1"/>
          <p:nvPr/>
        </p:nvSpPr>
        <p:spPr>
          <a:xfrm>
            <a:off x="1097280" y="4855464"/>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What changes when there is no known right answer to learn from</a:t>
            </a:r>
            <a:endParaRPr lang="en-US" sz="1350" dirty="0"/>
          </a:p>
        </p:txBody>
      </p:sp>
      <p:sp>
        <p:nvSpPr>
          <p:cNvPr id="11" name="Shape 9"/>
          <p:cNvSpPr/>
          <p:nvPr/>
        </p:nvSpPr>
        <p:spPr>
          <a:xfrm>
            <a:off x="749808" y="5317236"/>
            <a:ext cx="146304" cy="146304"/>
          </a:xfrm>
          <a:prstGeom prst="ellipse">
            <a:avLst/>
          </a:prstGeom>
          <a:solidFill>
            <a:srgbClr val="387F7F"/>
          </a:solidFill>
          <a:ln/>
        </p:spPr>
      </p:sp>
      <p:sp>
        <p:nvSpPr>
          <p:cNvPr id="12" name="Text 10"/>
          <p:cNvSpPr txBox="1"/>
          <p:nvPr/>
        </p:nvSpPr>
        <p:spPr>
          <a:xfrm>
            <a:off x="1097280" y="5239512"/>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Clustering: grouping similar things together</a:t>
            </a:r>
            <a:endParaRPr lang="en-US" sz="1350" dirty="0"/>
          </a:p>
        </p:txBody>
      </p:sp>
      <p:sp>
        <p:nvSpPr>
          <p:cNvPr id="13" name="Shape 11"/>
          <p:cNvSpPr/>
          <p:nvPr/>
        </p:nvSpPr>
        <p:spPr>
          <a:xfrm>
            <a:off x="749808" y="5701284"/>
            <a:ext cx="146304" cy="146304"/>
          </a:xfrm>
          <a:prstGeom prst="ellipse">
            <a:avLst/>
          </a:prstGeom>
          <a:solidFill>
            <a:srgbClr val="387F7F"/>
          </a:solidFill>
          <a:ln/>
        </p:spPr>
      </p:sp>
      <p:sp>
        <p:nvSpPr>
          <p:cNvPr id="14" name="Text 12"/>
          <p:cNvSpPr txBox="1"/>
          <p:nvPr/>
        </p:nvSpPr>
        <p:spPr>
          <a:xfrm>
            <a:off x="1097280" y="5623560"/>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A real, ungraded grouping of SwiftRoute's customers</a:t>
            </a:r>
            <a:endParaRPr lang="en-US" sz="1350" dirty="0"/>
          </a:p>
        </p:txBody>
      </p:sp>
      <p:sp>
        <p:nvSpPr>
          <p:cNvPr id="15" name="Text 13"/>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7FA3A3"/>
                </a:solidFill>
                <a:latin typeface="Poppins" pitchFamily="34" charset="0"/>
                <a:ea typeface="Poppins" pitchFamily="34" charset="-122"/>
                <a:cs typeface="Poppins"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54864" cy="411480"/>
          </a:xfrm>
          <a:prstGeom prst="rect">
            <a:avLst/>
          </a:prstGeom>
          <a:solidFill>
            <a:srgbClr val="387F7F"/>
          </a:solidFill>
          <a:ln/>
        </p:spPr>
      </p:sp>
      <p:sp>
        <p:nvSpPr>
          <p:cNvPr id="5" name="Text 3"/>
          <p:cNvSpPr txBox="1"/>
          <p:nvPr/>
        </p:nvSpPr>
        <p:spPr>
          <a:xfrm>
            <a:off x="868680" y="502920"/>
            <a:ext cx="9966960" cy="685800"/>
          </a:xfrm>
          <a:prstGeom prst="rect">
            <a:avLst/>
          </a:prstGeom>
          <a:noFill/>
          <a:ln/>
        </p:spPr>
        <p:txBody>
          <a:bodyPr wrap="square" lIns="0" tIns="0" rIns="0" bIns="0" rtlCol="0" anchor="t"/>
          <a:lstStyle/>
          <a:p>
            <a:pPr indent="0" marL="0">
              <a:lnSpc>
                <a:spcPct val="110000"/>
              </a:lnSpc>
              <a:buNone/>
            </a:pPr>
            <a:r>
              <a:rPr lang="en-US" sz="2621" dirty="0">
                <a:solidFill>
                  <a:srgbClr val="387F7F"/>
                </a:solidFill>
                <a:latin typeface="Poppins" pitchFamily="34" charset="0"/>
                <a:ea typeface="Poppins" pitchFamily="34" charset="-122"/>
                <a:cs typeface="Poppins" pitchFamily="34" charset="-120"/>
              </a:rPr>
              <a:t>Clustering finds groups. Nobody tells it what the groups are.</a:t>
            </a:r>
            <a:endParaRPr lang="en-US" sz="2621" dirty="0"/>
          </a:p>
        </p:txBody>
      </p:sp>
      <p:sp>
        <p:nvSpPr>
          <p:cNvPr id="6" name="Shape 4"/>
          <p:cNvSpPr/>
          <p:nvPr/>
        </p:nvSpPr>
        <p:spPr>
          <a:xfrm>
            <a:off x="685800" y="1508760"/>
            <a:ext cx="9921240" cy="3063240"/>
          </a:xfrm>
          <a:prstGeom prst="roundRect">
            <a:avLst>
              <a:gd name="adj" fmla="val 2687"/>
            </a:avLst>
          </a:prstGeom>
          <a:solidFill>
            <a:srgbClr val="FFFFFF"/>
          </a:solidFill>
          <a:ln/>
          <a:effectLst>
            <a:outerShdw sx="100000" sy="100000" kx="0" ky="0" algn="bl" rotWithShape="0" blurRad="127000" dist="38100" dir="5400000">
              <a:srgbClr val="1B2A2E">
                <a:alpha val="12000"/>
              </a:srgbClr>
            </a:outerShdw>
          </a:effectLst>
        </p:spPr>
      </p:sp>
      <p:sp>
        <p:nvSpPr>
          <p:cNvPr id="7" name="Text 5"/>
          <p:cNvSpPr txBox="1"/>
          <p:nvPr/>
        </p:nvSpPr>
        <p:spPr>
          <a:xfrm>
            <a:off x="1051560" y="1828800"/>
            <a:ext cx="9189720" cy="2514600"/>
          </a:xfrm>
          <a:prstGeom prst="rect">
            <a:avLst/>
          </a:prstGeom>
          <a:noFill/>
          <a:ln/>
        </p:spPr>
        <p:txBody>
          <a:bodyPr wrap="square" lIns="0" tIns="0" rIns="0" bIns="0" rtlCol="0" anchor="t"/>
          <a:lstStyle/>
          <a:p>
            <a:pPr algn="l" indent="0" marL="0">
              <a:lnSpc>
                <a:spcPct val="130000"/>
              </a:lnSpc>
              <a:buNone/>
            </a:pPr>
            <a:r>
              <a:rPr lang="en-US" sz="1800" dirty="0">
                <a:solidFill>
                  <a:srgbClr val="475569"/>
                </a:solidFill>
                <a:latin typeface="Poppins" pitchFamily="34" charset="0"/>
                <a:ea typeface="Poppins" pitchFamily="34" charset="-122"/>
                <a:cs typeface="Poppins" pitchFamily="34" charset="-120"/>
              </a:rPr>
              <a:t>Unsupervised learning has no known right answer to check against, which is the opposite condition from classification and regression. Clustering looks for items that are naturally similar to each other and groups them, without anyone specifying in advance what the groups should be or how many there should be. There is no accuracy score to compute, because there is no known correct grouping to compare against. The output is judged by whether the groups make business sense, not by whether they match a predetermined answer.</a:t>
            </a:r>
            <a:endParaRPr lang="en-US" sz="1800" dirty="0"/>
          </a:p>
        </p:txBody>
      </p:sp>
      <p:sp>
        <p:nvSpPr>
          <p:cNvPr id="8" name="Shape 6"/>
          <p:cNvSpPr/>
          <p:nvPr/>
        </p:nvSpPr>
        <p:spPr>
          <a:xfrm>
            <a:off x="685800" y="4800600"/>
            <a:ext cx="9921240" cy="914400"/>
          </a:xfrm>
          <a:prstGeom prst="roundRect">
            <a:avLst>
              <a:gd name="adj" fmla="val 9000"/>
            </a:avLst>
          </a:prstGeom>
          <a:solidFill>
            <a:srgbClr val="F4F7F7"/>
          </a:solidFill>
          <a:ln/>
        </p:spPr>
      </p:sp>
      <p:sp>
        <p:nvSpPr>
          <p:cNvPr id="9" name="Shape 7"/>
          <p:cNvSpPr/>
          <p:nvPr/>
        </p:nvSpPr>
        <p:spPr>
          <a:xfrm>
            <a:off x="685800" y="4800600"/>
            <a:ext cx="54864" cy="914400"/>
          </a:xfrm>
          <a:prstGeom prst="rect">
            <a:avLst/>
          </a:prstGeom>
          <a:solidFill>
            <a:srgbClr val="387F7F"/>
          </a:solidFill>
          <a:ln/>
        </p:spPr>
      </p:sp>
      <p:sp>
        <p:nvSpPr>
          <p:cNvPr id="10" name="Text 8"/>
          <p:cNvSpPr txBox="1"/>
          <p:nvPr/>
        </p:nvSpPr>
        <p:spPr>
          <a:xfrm>
            <a:off x="1051560" y="4800600"/>
            <a:ext cx="9189720" cy="914400"/>
          </a:xfrm>
          <a:prstGeom prst="rect">
            <a:avLst/>
          </a:prstGeom>
          <a:noFill/>
          <a:ln/>
        </p:spPr>
        <p:txBody>
          <a:bodyPr wrap="square" lIns="0" tIns="0" rIns="0" bIns="0" rtlCol="0" anchor="ctr"/>
          <a:lstStyle/>
          <a:p>
            <a:pPr algn="l" indent="0" marL="0">
              <a:lnSpc>
                <a:spcPct val="130000"/>
              </a:lnSpc>
              <a:buNone/>
            </a:pPr>
            <a:r>
              <a:rPr lang="en-US" sz="1600" b="1" dirty="0">
                <a:solidFill>
                  <a:srgbClr val="387F7F"/>
                </a:solidFill>
                <a:latin typeface="Poppins" pitchFamily="34" charset="0"/>
                <a:ea typeface="Poppins" pitchFamily="34" charset="-122"/>
                <a:cs typeface="Poppins" pitchFamily="34" charset="-120"/>
              </a:rPr>
              <a:t>You cannot grade a clustering the way you grade a classification. There is no answer key to grade it against.</a:t>
            </a:r>
            <a:endParaRPr lang="en-US" sz="1600" dirty="0"/>
          </a:p>
        </p:txBody>
      </p:sp>
      <p:pic>
        <p:nvPicPr>
          <p:cNvPr id="11"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12" name="Text 9"/>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54864" cy="411480"/>
          </a:xfrm>
          <a:prstGeom prst="rect">
            <a:avLst/>
          </a:prstGeom>
          <a:solidFill>
            <a:srgbClr val="387F7F"/>
          </a:solidFill>
          <a:ln/>
        </p:spPr>
      </p:sp>
      <p:sp>
        <p:nvSpPr>
          <p:cNvPr id="5" name="Text 3"/>
          <p:cNvSpPr txBox="1"/>
          <p:nvPr/>
        </p:nvSpPr>
        <p:spPr>
          <a:xfrm>
            <a:off x="868680" y="502920"/>
            <a:ext cx="9966960" cy="685800"/>
          </a:xfrm>
          <a:prstGeom prst="rect">
            <a:avLst/>
          </a:prstGeom>
          <a:noFill/>
          <a:ln/>
        </p:spPr>
        <p:txBody>
          <a:bodyPr wrap="square" lIns="0" tIns="0" rIns="0" bIns="0" rtlCol="0" anchor="t"/>
          <a:lstStyle/>
          <a:p>
            <a:pPr indent="0" marL="0">
              <a:lnSpc>
                <a:spcPct val="110000"/>
              </a:lnSpc>
              <a:buNone/>
            </a:pPr>
            <a:r>
              <a:rPr lang="en-US" sz="3300" dirty="0">
                <a:solidFill>
                  <a:srgbClr val="387F7F"/>
                </a:solidFill>
                <a:latin typeface="Poppins" pitchFamily="34" charset="0"/>
                <a:ea typeface="Poppins" pitchFamily="34" charset="-122"/>
                <a:cs typeface="Poppins" pitchFamily="34" charset="-120"/>
              </a:rPr>
              <a:t>A real grouping of SwiftRoute's Q3 customers</a:t>
            </a:r>
            <a:endParaRPr lang="en-US" sz="3300" dirty="0"/>
          </a:p>
        </p:txBody>
      </p:sp>
      <p:sp>
        <p:nvSpPr>
          <p:cNvPr id="6" name="Shape 4"/>
          <p:cNvSpPr/>
          <p:nvPr/>
        </p:nvSpPr>
        <p:spPr>
          <a:xfrm>
            <a:off x="685800" y="1508760"/>
            <a:ext cx="2523744" cy="502920"/>
          </a:xfrm>
          <a:prstGeom prst="roundRect">
            <a:avLst>
              <a:gd name="adj" fmla="val 50909"/>
            </a:avLst>
          </a:prstGeom>
          <a:solidFill>
            <a:srgbClr val="387F7F"/>
          </a:solidFill>
          <a:ln/>
        </p:spPr>
      </p:sp>
      <p:sp>
        <p:nvSpPr>
          <p:cNvPr id="7" name="Text 5"/>
          <p:cNvSpPr txBox="1"/>
          <p:nvPr/>
        </p:nvSpPr>
        <p:spPr>
          <a:xfrm>
            <a:off x="685800" y="1508760"/>
            <a:ext cx="252374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Poppins" pitchFamily="34" charset="0"/>
                <a:ea typeface="Poppins" pitchFamily="34" charset="-122"/>
                <a:cs typeface="Poppins" pitchFamily="34" charset="-120"/>
              </a:rPr>
              <a:t>1. COUNT ORDERS PER CUSTOMER</a:t>
            </a:r>
            <a:endParaRPr lang="en-US" sz="1200" dirty="0"/>
          </a:p>
        </p:txBody>
      </p:sp>
      <p:sp>
        <p:nvSpPr>
          <p:cNvPr id="8" name="Shape 6"/>
          <p:cNvSpPr/>
          <p:nvPr/>
        </p:nvSpPr>
        <p:spPr>
          <a:xfrm>
            <a:off x="3319272" y="1508760"/>
            <a:ext cx="2523744" cy="502920"/>
          </a:xfrm>
          <a:prstGeom prst="roundRect">
            <a:avLst>
              <a:gd name="adj" fmla="val 50909"/>
            </a:avLst>
          </a:prstGeom>
          <a:solidFill>
            <a:srgbClr val="387F7F"/>
          </a:solidFill>
          <a:ln/>
        </p:spPr>
      </p:sp>
      <p:sp>
        <p:nvSpPr>
          <p:cNvPr id="9" name="Text 7"/>
          <p:cNvSpPr txBox="1"/>
          <p:nvPr/>
        </p:nvSpPr>
        <p:spPr>
          <a:xfrm>
            <a:off x="3319272" y="1508760"/>
            <a:ext cx="2523744"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Poppins" pitchFamily="34" charset="0"/>
                <a:ea typeface="Poppins" pitchFamily="34" charset="-122"/>
                <a:cs typeface="Poppins" pitchFamily="34" charset="-120"/>
              </a:rPr>
              <a:t>2. LOOK FOR NATURAL BREAKS</a:t>
            </a:r>
            <a:endParaRPr lang="en-US" sz="1200" dirty="0"/>
          </a:p>
        </p:txBody>
      </p:sp>
      <p:sp>
        <p:nvSpPr>
          <p:cNvPr id="10" name="Shape 8"/>
          <p:cNvSpPr/>
          <p:nvPr/>
        </p:nvSpPr>
        <p:spPr>
          <a:xfrm>
            <a:off x="5952744" y="1508760"/>
            <a:ext cx="2523744" cy="502920"/>
          </a:xfrm>
          <a:prstGeom prst="roundRect">
            <a:avLst>
              <a:gd name="adj" fmla="val 50909"/>
            </a:avLst>
          </a:prstGeom>
          <a:solidFill>
            <a:srgbClr val="FFFFFF"/>
          </a:solidFill>
          <a:ln w="12700">
            <a:solidFill>
              <a:srgbClr val="E2E8F0"/>
            </a:solidFill>
            <a:prstDash val="solid"/>
          </a:ln>
        </p:spPr>
      </p:sp>
      <p:sp>
        <p:nvSpPr>
          <p:cNvPr id="11" name="Text 9"/>
          <p:cNvSpPr txBox="1"/>
          <p:nvPr/>
        </p:nvSpPr>
        <p:spPr>
          <a:xfrm>
            <a:off x="5952744" y="1508760"/>
            <a:ext cx="2523744" cy="502920"/>
          </a:xfrm>
          <a:prstGeom prst="rect">
            <a:avLst/>
          </a:prstGeom>
          <a:noFill/>
          <a:ln/>
        </p:spPr>
        <p:txBody>
          <a:bodyPr wrap="square" lIns="0" tIns="0" rIns="0" bIns="0" rtlCol="0" anchor="ctr"/>
          <a:lstStyle/>
          <a:p>
            <a:pPr algn="ctr" indent="0" marL="0">
              <a:buNone/>
            </a:pPr>
            <a:r>
              <a:rPr lang="en-US" sz="1200" dirty="0">
                <a:solidFill>
                  <a:srgbClr val="64748B"/>
                </a:solidFill>
                <a:latin typeface="Poppins" pitchFamily="34" charset="0"/>
                <a:ea typeface="Poppins" pitchFamily="34" charset="-122"/>
                <a:cs typeface="Poppins" pitchFamily="34" charset="-120"/>
              </a:rPr>
              <a:t>3. NAME THE GROUPS</a:t>
            </a:r>
            <a:endParaRPr lang="en-US" sz="1200" dirty="0"/>
          </a:p>
        </p:txBody>
      </p:sp>
      <p:sp>
        <p:nvSpPr>
          <p:cNvPr id="12" name="Shape 10"/>
          <p:cNvSpPr/>
          <p:nvPr/>
        </p:nvSpPr>
        <p:spPr>
          <a:xfrm>
            <a:off x="8586216" y="1508760"/>
            <a:ext cx="2523744" cy="502920"/>
          </a:xfrm>
          <a:prstGeom prst="roundRect">
            <a:avLst>
              <a:gd name="adj" fmla="val 50909"/>
            </a:avLst>
          </a:prstGeom>
          <a:solidFill>
            <a:srgbClr val="FFFFFF"/>
          </a:solidFill>
          <a:ln w="12700">
            <a:solidFill>
              <a:srgbClr val="E2E8F0"/>
            </a:solidFill>
            <a:prstDash val="solid"/>
          </a:ln>
        </p:spPr>
      </p:sp>
      <p:sp>
        <p:nvSpPr>
          <p:cNvPr id="13" name="Text 11"/>
          <p:cNvSpPr txBox="1"/>
          <p:nvPr/>
        </p:nvSpPr>
        <p:spPr>
          <a:xfrm>
            <a:off x="8586216" y="1508760"/>
            <a:ext cx="2523744" cy="502920"/>
          </a:xfrm>
          <a:prstGeom prst="rect">
            <a:avLst/>
          </a:prstGeom>
          <a:noFill/>
          <a:ln/>
        </p:spPr>
        <p:txBody>
          <a:bodyPr wrap="square" lIns="0" tIns="0" rIns="0" bIns="0" rtlCol="0" anchor="ctr"/>
          <a:lstStyle/>
          <a:p>
            <a:pPr algn="ctr" indent="0" marL="0">
              <a:buNone/>
            </a:pPr>
            <a:r>
              <a:rPr lang="en-US" sz="1200" dirty="0">
                <a:solidFill>
                  <a:srgbClr val="64748B"/>
                </a:solidFill>
                <a:latin typeface="Poppins" pitchFamily="34" charset="0"/>
                <a:ea typeface="Poppins" pitchFamily="34" charset="-122"/>
                <a:cs typeface="Poppins" pitchFamily="34" charset="-120"/>
              </a:rPr>
              <a:t>4. JUDGE BY USEFULNESS</a:t>
            </a:r>
            <a:endParaRPr lang="en-US" sz="1200" dirty="0"/>
          </a:p>
        </p:txBody>
      </p:sp>
      <p:sp>
        <p:nvSpPr>
          <p:cNvPr id="14" name="Shape 12"/>
          <p:cNvSpPr/>
          <p:nvPr/>
        </p:nvSpPr>
        <p:spPr>
          <a:xfrm>
            <a:off x="685800" y="2240280"/>
            <a:ext cx="6126480" cy="3108960"/>
          </a:xfrm>
          <a:prstGeom prst="roundRect">
            <a:avLst>
              <a:gd name="adj" fmla="val 2647"/>
            </a:avLst>
          </a:prstGeom>
          <a:solidFill>
            <a:srgbClr val="FFFFFF"/>
          </a:solidFill>
          <a:ln/>
          <a:effectLst>
            <a:outerShdw sx="100000" sy="100000" kx="0" ky="0" algn="bl" rotWithShape="0" blurRad="127000" dist="38100" dir="5400000">
              <a:srgbClr val="1B2A2E">
                <a:alpha val="12000"/>
              </a:srgbClr>
            </a:outerShdw>
          </a:effectLst>
        </p:spPr>
      </p:sp>
      <p:sp>
        <p:nvSpPr>
          <p:cNvPr id="15" name="Text 13"/>
          <p:cNvSpPr txBox="1"/>
          <p:nvPr/>
        </p:nvSpPr>
        <p:spPr>
          <a:xfrm>
            <a:off x="868680" y="2423160"/>
            <a:ext cx="5760720" cy="2834640"/>
          </a:xfrm>
          <a:prstGeom prst="rect">
            <a:avLst/>
          </a:prstGeom>
          <a:noFill/>
          <a:ln/>
        </p:spPr>
        <p:txBody>
          <a:bodyPr wrap="square" lIns="0" tIns="0" rIns="0" bIns="0" rtlCol="0" anchor="t"/>
          <a:lstStyle/>
          <a:p>
            <a:pPr algn="l" indent="0" marL="0">
              <a:lnSpc>
                <a:spcPct val="130000"/>
              </a:lnSpc>
              <a:buNone/>
            </a:pPr>
            <a:r>
              <a:rPr lang="en-US" sz="1500" dirty="0">
                <a:solidFill>
                  <a:srgbClr val="475569"/>
                </a:solidFill>
                <a:latin typeface="Poppins" pitchFamily="34" charset="0"/>
                <a:ea typeface="Poppins" pitchFamily="34" charset="-122"/>
                <a:cs typeface="Poppins" pitchFamily="34" charset="-120"/>
              </a:rPr>
              <a:t>SwiftRoute's Q3 file has 1,193 distinct customers placing 3,600 orders, averaging 3.0 orders each. But that average hides real structure: 214 customers ordered exactly once, most customers cluster around 2 to 4 orders, and a small handful, including one customer on 12 orders, are far more frequent than the rest. That is clustering by eye: three natural groups, one-time, occasional and frequent, found with nothing more than counting and looking.</a:t>
            </a:r>
            <a:endParaRPr lang="en-US" sz="1500" dirty="0"/>
          </a:p>
        </p:txBody>
      </p:sp>
      <p:sp>
        <p:nvSpPr>
          <p:cNvPr id="16" name="Shape 14"/>
          <p:cNvSpPr/>
          <p:nvPr/>
        </p:nvSpPr>
        <p:spPr>
          <a:xfrm>
            <a:off x="6995160" y="2240280"/>
            <a:ext cx="4114800" cy="3108960"/>
          </a:xfrm>
          <a:prstGeom prst="roundRect">
            <a:avLst>
              <a:gd name="adj" fmla="val 2647"/>
            </a:avLst>
          </a:prstGeom>
          <a:solidFill>
            <a:srgbClr val="F4F7F7"/>
          </a:solidFill>
          <a:ln/>
          <a:effectLst>
            <a:outerShdw sx="100000" sy="100000" kx="0" ky="0" algn="bl" rotWithShape="0" blurRad="127000" dist="38100" dir="5400000">
              <a:srgbClr val="1B2A2E">
                <a:alpha val="12000"/>
              </a:srgbClr>
            </a:outerShdw>
          </a:effectLst>
        </p:spPr>
      </p:sp>
      <p:sp>
        <p:nvSpPr>
          <p:cNvPr id="17" name="Shape 15"/>
          <p:cNvSpPr/>
          <p:nvPr/>
        </p:nvSpPr>
        <p:spPr>
          <a:xfrm>
            <a:off x="6995160" y="2240280"/>
            <a:ext cx="82296" cy="3108960"/>
          </a:xfrm>
          <a:prstGeom prst="rect">
            <a:avLst/>
          </a:prstGeom>
          <a:solidFill>
            <a:srgbClr val="387F7F"/>
          </a:solidFill>
          <a:ln/>
        </p:spPr>
      </p:sp>
      <p:sp>
        <p:nvSpPr>
          <p:cNvPr id="18" name="Text 16"/>
          <p:cNvSpPr txBox="1"/>
          <p:nvPr/>
        </p:nvSpPr>
        <p:spPr>
          <a:xfrm>
            <a:off x="7269480" y="2423160"/>
            <a:ext cx="3657600" cy="274320"/>
          </a:xfrm>
          <a:prstGeom prst="rect">
            <a:avLst/>
          </a:prstGeom>
          <a:noFill/>
          <a:ln/>
        </p:spPr>
        <p:txBody>
          <a:bodyPr wrap="square" lIns="0" tIns="0" rIns="0" bIns="0" rtlCol="0" anchor="t"/>
          <a:lstStyle/>
          <a:p>
            <a:pPr algn="l" indent="0" marL="0">
              <a:lnSpc>
                <a:spcPct val="130000"/>
              </a:lnSpc>
              <a:buNone/>
            </a:pPr>
            <a:r>
              <a:rPr lang="en-US" sz="1300" b="1" dirty="0">
                <a:solidFill>
                  <a:srgbClr val="387F7F"/>
                </a:solidFill>
                <a:latin typeface="Poppins" pitchFamily="34" charset="0"/>
                <a:ea typeface="Poppins" pitchFamily="34" charset="-122"/>
                <a:cs typeface="Poppins" pitchFamily="34" charset="-120"/>
              </a:rPr>
              <a:t>WORTH NOTICING</a:t>
            </a:r>
            <a:endParaRPr lang="en-US" sz="1300" dirty="0"/>
          </a:p>
        </p:txBody>
      </p:sp>
      <p:sp>
        <p:nvSpPr>
          <p:cNvPr id="19" name="Text 17"/>
          <p:cNvSpPr txBox="1"/>
          <p:nvPr/>
        </p:nvSpPr>
        <p:spPr>
          <a:xfrm>
            <a:off x="7269480" y="2788920"/>
            <a:ext cx="3657600" cy="2377440"/>
          </a:xfrm>
          <a:prstGeom prst="rect">
            <a:avLst/>
          </a:prstGeom>
          <a:noFill/>
          <a:ln/>
        </p:spPr>
        <p:txBody>
          <a:bodyPr wrap="square" lIns="0" tIns="0" rIns="0" bIns="0" rtlCol="0" anchor="t"/>
          <a:lstStyle/>
          <a:p>
            <a:pPr algn="l" indent="0" marL="0">
              <a:lnSpc>
                <a:spcPct val="130000"/>
              </a:lnSpc>
              <a:buNone/>
            </a:pPr>
            <a:r>
              <a:rPr lang="en-US" sz="1500" dirty="0">
                <a:solidFill>
                  <a:srgbClr val="475569"/>
                </a:solidFill>
                <a:latin typeface="Poppins" pitchFamily="34" charset="0"/>
                <a:ea typeface="Poppins" pitchFamily="34" charset="-122"/>
                <a:cs typeface="Poppins" pitchFamily="34" charset="-120"/>
              </a:rPr>
              <a:t>No model was built here. A proper clustering tool would find groups like this automatically, and could use more variables at once, but the underlying idea, natural groups with no predefined labels, is exactly the same.</a:t>
            </a:r>
            <a:endParaRPr lang="en-US" sz="1500" dirty="0"/>
          </a:p>
        </p:txBody>
      </p:sp>
      <p:pic>
        <p:nvPicPr>
          <p:cNvPr id="20"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21" name="Text 18"/>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0494A"/>
          </a:solidFill>
          <a:ln/>
        </p:spPr>
      </p:sp>
      <p:sp>
        <p:nvSpPr>
          <p:cNvPr id="3" name="Shape 1"/>
          <p:cNvSpPr/>
          <p:nvPr/>
        </p:nvSpPr>
        <p:spPr>
          <a:xfrm>
            <a:off x="7680960" y="-2926080"/>
            <a:ext cx="8595360" cy="8595360"/>
          </a:xfrm>
          <a:prstGeom prst="ellipse">
            <a:avLst/>
          </a:prstGeom>
          <a:solidFill>
            <a:srgbClr val="1B4041"/>
          </a:solidFill>
          <a:ln/>
        </p:spPr>
      </p:sp>
      <p:sp>
        <p:nvSpPr>
          <p:cNvPr id="4" name="Shape 2"/>
          <p:cNvSpPr/>
          <p:nvPr/>
        </p:nvSpPr>
        <p:spPr>
          <a:xfrm>
            <a:off x="9326880" y="2834640"/>
            <a:ext cx="5669280" cy="5669280"/>
          </a:xfrm>
          <a:prstGeom prst="ellipse">
            <a:avLst/>
          </a:prstGeom>
          <a:solidFill>
            <a:srgbClr val="387F7F"/>
          </a:solidFill>
          <a:ln/>
        </p:spPr>
      </p:sp>
      <p:sp>
        <p:nvSpPr>
          <p:cNvPr id="5" name="Text 3"/>
          <p:cNvSpPr txBox="1"/>
          <p:nvPr/>
        </p:nvSpPr>
        <p:spPr>
          <a:xfrm>
            <a:off x="566928" y="320040"/>
            <a:ext cx="2926080" cy="1920240"/>
          </a:xfrm>
          <a:prstGeom prst="rect">
            <a:avLst/>
          </a:prstGeom>
          <a:noFill/>
          <a:ln/>
        </p:spPr>
        <p:txBody>
          <a:bodyPr wrap="square" lIns="0" tIns="0" rIns="0" bIns="0" rtlCol="0" anchor="ctr"/>
          <a:lstStyle/>
          <a:p>
            <a:pPr indent="0" marL="0">
              <a:buNone/>
            </a:pPr>
            <a:r>
              <a:rPr lang="en-US" sz="13000" b="1" dirty="0">
                <a:solidFill>
                  <a:srgbClr val="2F6364"/>
                </a:solidFill>
                <a:latin typeface="Poppins" pitchFamily="34" charset="0"/>
                <a:ea typeface="Poppins" pitchFamily="34" charset="-122"/>
                <a:cs typeface="Poppins" pitchFamily="34" charset="-120"/>
              </a:rPr>
              <a:t>03</a:t>
            </a:r>
            <a:endParaRPr lang="en-US" sz="13000" dirty="0"/>
          </a:p>
        </p:txBody>
      </p:sp>
      <p:sp>
        <p:nvSpPr>
          <p:cNvPr id="6" name="Text 4"/>
          <p:cNvSpPr txBox="1"/>
          <p:nvPr/>
        </p:nvSpPr>
        <p:spPr>
          <a:xfrm>
            <a:off x="713232" y="2487168"/>
            <a:ext cx="6766560" cy="310896"/>
          </a:xfrm>
          <a:prstGeom prst="rect">
            <a:avLst/>
          </a:prstGeom>
          <a:noFill/>
          <a:ln/>
        </p:spPr>
        <p:txBody>
          <a:bodyPr wrap="square" lIns="0" tIns="0" rIns="0" bIns="0" rtlCol="0" anchor="ctr"/>
          <a:lstStyle/>
          <a:p>
            <a:pPr indent="0" marL="0">
              <a:buNone/>
            </a:pPr>
            <a:r>
              <a:rPr lang="en-US" sz="1300" b="1" spc="250" kern="0" dirty="0">
                <a:solidFill>
                  <a:srgbClr val="8FBEBE"/>
                </a:solidFill>
                <a:latin typeface="Poppins" pitchFamily="34" charset="0"/>
                <a:ea typeface="Poppins" pitchFamily="34" charset="-122"/>
                <a:cs typeface="Poppins" pitchFamily="34" charset="-120"/>
              </a:rPr>
              <a:t>PART THREE</a:t>
            </a:r>
            <a:endParaRPr lang="en-US" sz="1300" dirty="0"/>
          </a:p>
        </p:txBody>
      </p:sp>
      <p:sp>
        <p:nvSpPr>
          <p:cNvPr id="7" name="Shape 5"/>
          <p:cNvSpPr/>
          <p:nvPr/>
        </p:nvSpPr>
        <p:spPr>
          <a:xfrm>
            <a:off x="713232" y="2907792"/>
            <a:ext cx="1234440" cy="77724"/>
          </a:xfrm>
          <a:prstGeom prst="rect">
            <a:avLst/>
          </a:prstGeom>
          <a:solidFill>
            <a:srgbClr val="387F7F"/>
          </a:solidFill>
          <a:ln/>
        </p:spPr>
      </p:sp>
      <p:sp>
        <p:nvSpPr>
          <p:cNvPr id="8" name="Text 6"/>
          <p:cNvSpPr txBox="1"/>
          <p:nvPr/>
        </p:nvSpPr>
        <p:spPr>
          <a:xfrm>
            <a:off x="713232" y="3154680"/>
            <a:ext cx="7406640" cy="1463040"/>
          </a:xfrm>
          <a:prstGeom prst="rect">
            <a:avLst/>
          </a:prstGeom>
          <a:noFill/>
          <a:ln/>
        </p:spPr>
        <p:txBody>
          <a:bodyPr wrap="square" lIns="0" tIns="0" rIns="0" bIns="0" rtlCol="0" anchor="ctr"/>
          <a:lstStyle/>
          <a:p>
            <a:pPr indent="0" marL="0">
              <a:lnSpc>
                <a:spcPct val="108000"/>
              </a:lnSpc>
              <a:buNone/>
            </a:pPr>
            <a:r>
              <a:rPr lang="en-US" sz="3600" b="1" dirty="0">
                <a:solidFill>
                  <a:srgbClr val="FFFFFF"/>
                </a:solidFill>
                <a:latin typeface="Poppins" pitchFamily="34" charset="0"/>
                <a:ea typeface="Poppins" pitchFamily="34" charset="-122"/>
                <a:cs typeface="Poppins" pitchFamily="34" charset="-120"/>
              </a:rPr>
              <a:t>Where the analyst's job ends</a:t>
            </a:r>
            <a:endParaRPr lang="en-US" sz="3600" dirty="0"/>
          </a:p>
        </p:txBody>
      </p:sp>
      <p:sp>
        <p:nvSpPr>
          <p:cNvPr id="9" name="Shape 7"/>
          <p:cNvSpPr/>
          <p:nvPr/>
        </p:nvSpPr>
        <p:spPr>
          <a:xfrm>
            <a:off x="749808" y="4933188"/>
            <a:ext cx="146304" cy="146304"/>
          </a:xfrm>
          <a:prstGeom prst="ellipse">
            <a:avLst/>
          </a:prstGeom>
          <a:solidFill>
            <a:srgbClr val="387F7F"/>
          </a:solidFill>
          <a:ln/>
        </p:spPr>
      </p:sp>
      <p:sp>
        <p:nvSpPr>
          <p:cNvPr id="10" name="Text 8"/>
          <p:cNvSpPr txBox="1"/>
          <p:nvPr/>
        </p:nvSpPr>
        <p:spPr>
          <a:xfrm>
            <a:off x="1097280" y="4855464"/>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What an analyst can do with this literacy, without building a model</a:t>
            </a:r>
            <a:endParaRPr lang="en-US" sz="1350" dirty="0"/>
          </a:p>
        </p:txBody>
      </p:sp>
      <p:sp>
        <p:nvSpPr>
          <p:cNvPr id="11" name="Shape 9"/>
          <p:cNvSpPr/>
          <p:nvPr/>
        </p:nvSpPr>
        <p:spPr>
          <a:xfrm>
            <a:off x="749808" y="5317236"/>
            <a:ext cx="146304" cy="146304"/>
          </a:xfrm>
          <a:prstGeom prst="ellipse">
            <a:avLst/>
          </a:prstGeom>
          <a:solidFill>
            <a:srgbClr val="387F7F"/>
          </a:solidFill>
          <a:ln/>
        </p:spPr>
      </p:sp>
      <p:sp>
        <p:nvSpPr>
          <p:cNvPr id="12" name="Text 10"/>
          <p:cNvSpPr txBox="1"/>
          <p:nvPr/>
        </p:nvSpPr>
        <p:spPr>
          <a:xfrm>
            <a:off x="1097280" y="5239512"/>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What genuinely needs a data scientist, and how to ask for it</a:t>
            </a:r>
            <a:endParaRPr lang="en-US" sz="1350" dirty="0"/>
          </a:p>
        </p:txBody>
      </p:sp>
      <p:sp>
        <p:nvSpPr>
          <p:cNvPr id="13" name="Shape 11"/>
          <p:cNvSpPr/>
          <p:nvPr/>
        </p:nvSpPr>
        <p:spPr>
          <a:xfrm>
            <a:off x="749808" y="5701284"/>
            <a:ext cx="146304" cy="146304"/>
          </a:xfrm>
          <a:prstGeom prst="ellipse">
            <a:avLst/>
          </a:prstGeom>
          <a:solidFill>
            <a:srgbClr val="387F7F"/>
          </a:solidFill>
          <a:ln/>
        </p:spPr>
      </p:sp>
      <p:sp>
        <p:nvSpPr>
          <p:cNvPr id="14" name="Text 12"/>
          <p:cNvSpPr txBox="1"/>
          <p:nvPr/>
        </p:nvSpPr>
        <p:spPr>
          <a:xfrm>
            <a:off x="1097280" y="5623560"/>
            <a:ext cx="6583680" cy="310896"/>
          </a:xfrm>
          <a:prstGeom prst="rect">
            <a:avLst/>
          </a:prstGeom>
          <a:noFill/>
          <a:ln/>
        </p:spPr>
        <p:txBody>
          <a:bodyPr wrap="square" lIns="0" tIns="0" rIns="0" bIns="0" rtlCol="0" anchor="ctr"/>
          <a:lstStyle/>
          <a:p>
            <a:pPr indent="0" marL="0">
              <a:buNone/>
            </a:pPr>
            <a:r>
              <a:rPr lang="en-US" sz="1350" dirty="0">
                <a:solidFill>
                  <a:srgbClr val="C3DAD9"/>
                </a:solidFill>
                <a:latin typeface="Poppins" pitchFamily="34" charset="0"/>
                <a:ea typeface="Poppins" pitchFamily="34" charset="-122"/>
                <a:cs typeface="Poppins" pitchFamily="34" charset="-120"/>
              </a:rPr>
              <a:t>Your turn: sort SwiftRoute's real requests into the three buckets</a:t>
            </a:r>
            <a:endParaRPr lang="en-US" sz="1350" dirty="0"/>
          </a:p>
        </p:txBody>
      </p:sp>
      <p:sp>
        <p:nvSpPr>
          <p:cNvPr id="15" name="Text 13"/>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7FA3A3"/>
                </a:solidFill>
                <a:latin typeface="Poppins" pitchFamily="34" charset="0"/>
                <a:ea typeface="Poppins" pitchFamily="34" charset="-122"/>
                <a:cs typeface="Poppins"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54864" cy="411480"/>
          </a:xfrm>
          <a:prstGeom prst="rect">
            <a:avLst/>
          </a:prstGeom>
          <a:solidFill>
            <a:srgbClr val="387F7F"/>
          </a:solidFill>
          <a:ln/>
        </p:spPr>
      </p:sp>
      <p:sp>
        <p:nvSpPr>
          <p:cNvPr id="5" name="Text 3"/>
          <p:cNvSpPr txBox="1"/>
          <p:nvPr/>
        </p:nvSpPr>
        <p:spPr>
          <a:xfrm>
            <a:off x="868680" y="502920"/>
            <a:ext cx="9966960" cy="868680"/>
          </a:xfrm>
          <a:prstGeom prst="rect">
            <a:avLst/>
          </a:prstGeom>
          <a:noFill/>
          <a:ln/>
        </p:spPr>
        <p:txBody>
          <a:bodyPr wrap="square" lIns="0" tIns="0" rIns="0" bIns="0" rtlCol="0" anchor="t"/>
          <a:lstStyle/>
          <a:p>
            <a:pPr indent="0" marL="0">
              <a:lnSpc>
                <a:spcPct val="110000"/>
              </a:lnSpc>
              <a:buNone/>
            </a:pPr>
            <a:r>
              <a:rPr lang="en-US" sz="2400" dirty="0">
                <a:solidFill>
                  <a:srgbClr val="387F7F"/>
                </a:solidFill>
                <a:latin typeface="Poppins" pitchFamily="34" charset="0"/>
                <a:ea typeface="Poppins" pitchFamily="34" charset="-122"/>
                <a:cs typeface="Poppins" pitchFamily="34" charset="-120"/>
              </a:rPr>
              <a:t>An analyst describes the past. A data scientist predicts the future at scale.</a:t>
            </a:r>
            <a:endParaRPr lang="en-US" sz="2400" dirty="0"/>
          </a:p>
        </p:txBody>
      </p:sp>
      <p:sp>
        <p:nvSpPr>
          <p:cNvPr id="6" name="Shape 4"/>
          <p:cNvSpPr/>
          <p:nvPr/>
        </p:nvSpPr>
        <p:spPr>
          <a:xfrm>
            <a:off x="685800" y="1508760"/>
            <a:ext cx="9921240" cy="3063240"/>
          </a:xfrm>
          <a:prstGeom prst="roundRect">
            <a:avLst>
              <a:gd name="adj" fmla="val 2687"/>
            </a:avLst>
          </a:prstGeom>
          <a:solidFill>
            <a:srgbClr val="FFFFFF"/>
          </a:solidFill>
          <a:ln/>
          <a:effectLst>
            <a:outerShdw sx="100000" sy="100000" kx="0" ky="0" algn="bl" rotWithShape="0" blurRad="127000" dist="38100" dir="5400000">
              <a:srgbClr val="1B2A2E">
                <a:alpha val="12000"/>
              </a:srgbClr>
            </a:outerShdw>
          </a:effectLst>
        </p:spPr>
      </p:sp>
      <p:sp>
        <p:nvSpPr>
          <p:cNvPr id="7" name="Text 5"/>
          <p:cNvSpPr txBox="1"/>
          <p:nvPr/>
        </p:nvSpPr>
        <p:spPr>
          <a:xfrm>
            <a:off x="1051560" y="1828800"/>
            <a:ext cx="9189720" cy="2514600"/>
          </a:xfrm>
          <a:prstGeom prst="rect">
            <a:avLst/>
          </a:prstGeom>
          <a:noFill/>
          <a:ln/>
        </p:spPr>
        <p:txBody>
          <a:bodyPr wrap="square" lIns="0" tIns="0" rIns="0" bIns="0" rtlCol="0" anchor="t"/>
          <a:lstStyle/>
          <a:p>
            <a:pPr algn="l" indent="0" marL="0">
              <a:lnSpc>
                <a:spcPct val="130000"/>
              </a:lnSpc>
              <a:buNone/>
            </a:pPr>
            <a:r>
              <a:rPr lang="en-US" sz="1800" dirty="0">
                <a:solidFill>
                  <a:srgbClr val="475569"/>
                </a:solidFill>
                <a:latin typeface="Poppins" pitchFamily="34" charset="0"/>
                <a:ea typeface="Poppins" pitchFamily="34" charset="-122"/>
                <a:cs typeface="Poppins" pitchFamily="34" charset="-120"/>
              </a:rPr>
              <a:t>An analyst's core work, cleaning, verifying, summarising and reporting on data that already exists, covers an enormous amount of real business value without ever building a model: Topic 8.1's whole pipeline and Topic 8.2's forecast were both done this way. A data scientist's distinct skill is building, training and validating a model that generalises beyond the historical data it was built from, then maintaining it as new data arrives. The line is not about intelligence or seniority. It is about a specific technical skill set: model-building and validation, which most analyst roles, including this one, are not expected to have.</a:t>
            </a:r>
            <a:endParaRPr lang="en-US" sz="1800" dirty="0"/>
          </a:p>
        </p:txBody>
      </p:sp>
      <p:sp>
        <p:nvSpPr>
          <p:cNvPr id="8" name="Shape 6"/>
          <p:cNvSpPr/>
          <p:nvPr/>
        </p:nvSpPr>
        <p:spPr>
          <a:xfrm>
            <a:off x="685800" y="4800600"/>
            <a:ext cx="9921240" cy="914400"/>
          </a:xfrm>
          <a:prstGeom prst="roundRect">
            <a:avLst>
              <a:gd name="adj" fmla="val 9000"/>
            </a:avLst>
          </a:prstGeom>
          <a:solidFill>
            <a:srgbClr val="F4F7F7"/>
          </a:solidFill>
          <a:ln/>
        </p:spPr>
      </p:sp>
      <p:sp>
        <p:nvSpPr>
          <p:cNvPr id="9" name="Shape 7"/>
          <p:cNvSpPr/>
          <p:nvPr/>
        </p:nvSpPr>
        <p:spPr>
          <a:xfrm>
            <a:off x="685800" y="4800600"/>
            <a:ext cx="54864" cy="914400"/>
          </a:xfrm>
          <a:prstGeom prst="rect">
            <a:avLst/>
          </a:prstGeom>
          <a:solidFill>
            <a:srgbClr val="387F7F"/>
          </a:solidFill>
          <a:ln/>
        </p:spPr>
      </p:sp>
      <p:sp>
        <p:nvSpPr>
          <p:cNvPr id="10" name="Text 8"/>
          <p:cNvSpPr txBox="1"/>
          <p:nvPr/>
        </p:nvSpPr>
        <p:spPr>
          <a:xfrm>
            <a:off x="1051560" y="4800600"/>
            <a:ext cx="9189720" cy="914400"/>
          </a:xfrm>
          <a:prstGeom prst="rect">
            <a:avLst/>
          </a:prstGeom>
          <a:noFill/>
          <a:ln/>
        </p:spPr>
        <p:txBody>
          <a:bodyPr wrap="square" lIns="0" tIns="0" rIns="0" bIns="0" rtlCol="0" anchor="ctr"/>
          <a:lstStyle/>
          <a:p>
            <a:pPr algn="l" indent="0" marL="0">
              <a:lnSpc>
                <a:spcPct val="130000"/>
              </a:lnSpc>
              <a:buNone/>
            </a:pPr>
            <a:r>
              <a:rPr lang="en-US" sz="1600" b="1" dirty="0">
                <a:solidFill>
                  <a:srgbClr val="387F7F"/>
                </a:solidFill>
                <a:latin typeface="Poppins" pitchFamily="34" charset="0"/>
                <a:ea typeface="Poppins" pitchFamily="34" charset="-122"/>
                <a:cs typeface="Poppins" pitchFamily="34" charset="-120"/>
              </a:rPr>
              <a:t>"I can tell you what happened, and forecast a simple trend by hand. Building a model that predicts new cases needs a data scientist." is a complete, honest sentence.</a:t>
            </a:r>
            <a:endParaRPr lang="en-US" sz="1600" dirty="0"/>
          </a:p>
        </p:txBody>
      </p:sp>
      <p:pic>
        <p:nvPicPr>
          <p:cNvPr id="11"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12" name="Text 9"/>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Text 2"/>
          <p:cNvSpPr txBox="1"/>
          <p:nvPr/>
        </p:nvSpPr>
        <p:spPr>
          <a:xfrm>
            <a:off x="868680" y="292608"/>
            <a:ext cx="7772400" cy="274320"/>
          </a:xfrm>
          <a:prstGeom prst="rect">
            <a:avLst/>
          </a:prstGeom>
          <a:noFill/>
          <a:ln/>
        </p:spPr>
        <p:txBody>
          <a:bodyPr wrap="square" lIns="0" tIns="0" rIns="0" bIns="0" rtlCol="0" anchor="ctr"/>
          <a:lstStyle/>
          <a:p>
            <a:pPr indent="0" marL="0">
              <a:buNone/>
            </a:pPr>
            <a:r>
              <a:rPr lang="en-US" sz="1150" b="1" spc="200" kern="0" dirty="0">
                <a:solidFill>
                  <a:srgbClr val="64748B"/>
                </a:solidFill>
                <a:latin typeface="Poppins" pitchFamily="34" charset="0"/>
                <a:ea typeface="Poppins" pitchFamily="34" charset="-122"/>
                <a:cs typeface="Poppins" pitchFamily="34" charset="-120"/>
              </a:rPr>
              <a:t>YOUR TURN</a:t>
            </a:r>
            <a:endParaRPr lang="en-US" sz="1150" dirty="0"/>
          </a:p>
        </p:txBody>
      </p:sp>
      <p:sp>
        <p:nvSpPr>
          <p:cNvPr id="5" name="Shape 3"/>
          <p:cNvSpPr/>
          <p:nvPr/>
        </p:nvSpPr>
        <p:spPr>
          <a:xfrm>
            <a:off x="685800" y="612648"/>
            <a:ext cx="54864" cy="411480"/>
          </a:xfrm>
          <a:prstGeom prst="rect">
            <a:avLst/>
          </a:prstGeom>
          <a:solidFill>
            <a:srgbClr val="387F7F"/>
          </a:solidFill>
          <a:ln/>
        </p:spPr>
      </p:sp>
      <p:sp>
        <p:nvSpPr>
          <p:cNvPr id="6" name="Text 4"/>
          <p:cNvSpPr txBox="1"/>
          <p:nvPr/>
        </p:nvSpPr>
        <p:spPr>
          <a:xfrm>
            <a:off x="868680" y="566928"/>
            <a:ext cx="9006840" cy="685800"/>
          </a:xfrm>
          <a:prstGeom prst="rect">
            <a:avLst/>
          </a:prstGeom>
          <a:noFill/>
          <a:ln/>
        </p:spPr>
        <p:txBody>
          <a:bodyPr wrap="square" lIns="0" tIns="0" rIns="0" bIns="0" rtlCol="0" anchor="t"/>
          <a:lstStyle/>
          <a:p>
            <a:pPr indent="0" marL="0">
              <a:lnSpc>
                <a:spcPct val="110000"/>
              </a:lnSpc>
              <a:buNone/>
            </a:pPr>
            <a:r>
              <a:rPr lang="en-US" sz="3300" dirty="0">
                <a:solidFill>
                  <a:srgbClr val="387F7F"/>
                </a:solidFill>
                <a:latin typeface="Poppins" pitchFamily="34" charset="0"/>
                <a:ea typeface="Poppins" pitchFamily="34" charset="-122"/>
                <a:cs typeface="Poppins" pitchFamily="34" charset="-120"/>
              </a:rPr>
              <a:t>Your turn: sort SwiftRoute's real requests</a:t>
            </a:r>
            <a:endParaRPr lang="en-US" sz="3300" dirty="0"/>
          </a:p>
        </p:txBody>
      </p:sp>
      <p:sp>
        <p:nvSpPr>
          <p:cNvPr id="7" name="Shape 5"/>
          <p:cNvSpPr/>
          <p:nvPr/>
        </p:nvSpPr>
        <p:spPr>
          <a:xfrm>
            <a:off x="10058400" y="457200"/>
            <a:ext cx="1234440" cy="457200"/>
          </a:xfrm>
          <a:prstGeom prst="roundRect">
            <a:avLst>
              <a:gd name="adj" fmla="val 50000"/>
            </a:avLst>
          </a:prstGeom>
          <a:solidFill>
            <a:srgbClr val="387F7F"/>
          </a:solidFill>
          <a:ln/>
        </p:spPr>
      </p:sp>
      <p:sp>
        <p:nvSpPr>
          <p:cNvPr id="8" name="Text 6"/>
          <p:cNvSpPr txBox="1"/>
          <p:nvPr/>
        </p:nvSpPr>
        <p:spPr>
          <a:xfrm>
            <a:off x="10058400" y="457200"/>
            <a:ext cx="12344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Poppins" pitchFamily="34" charset="0"/>
                <a:ea typeface="Poppins" pitchFamily="34" charset="-122"/>
                <a:cs typeface="Poppins" pitchFamily="34" charset="-120"/>
              </a:rPr>
              <a:t>10 MIN</a:t>
            </a:r>
            <a:endParaRPr lang="en-US" sz="1300" dirty="0"/>
          </a:p>
        </p:txBody>
      </p:sp>
      <p:sp>
        <p:nvSpPr>
          <p:cNvPr id="9" name="Shape 7"/>
          <p:cNvSpPr/>
          <p:nvPr/>
        </p:nvSpPr>
        <p:spPr>
          <a:xfrm>
            <a:off x="685800" y="1554480"/>
            <a:ext cx="10424160" cy="1554480"/>
          </a:xfrm>
          <a:prstGeom prst="roundRect">
            <a:avLst>
              <a:gd name="adj" fmla="val 5294"/>
            </a:avLst>
          </a:prstGeom>
          <a:solidFill>
            <a:srgbClr val="FFFFFF"/>
          </a:solidFill>
          <a:ln/>
          <a:effectLst>
            <a:outerShdw sx="100000" sy="100000" kx="0" ky="0" algn="bl" rotWithShape="0" blurRad="127000" dist="38100" dir="5400000">
              <a:srgbClr val="1B2A2E">
                <a:alpha val="12000"/>
              </a:srgbClr>
            </a:outerShdw>
          </a:effectLst>
        </p:spPr>
      </p:sp>
      <p:sp>
        <p:nvSpPr>
          <p:cNvPr id="10" name="Shape 8"/>
          <p:cNvSpPr/>
          <p:nvPr/>
        </p:nvSpPr>
        <p:spPr>
          <a:xfrm>
            <a:off x="685800" y="1554480"/>
            <a:ext cx="82296" cy="1554480"/>
          </a:xfrm>
          <a:prstGeom prst="rect">
            <a:avLst/>
          </a:prstGeom>
          <a:solidFill>
            <a:srgbClr val="387F7F"/>
          </a:solidFill>
          <a:ln/>
        </p:spPr>
      </p:sp>
      <p:sp>
        <p:nvSpPr>
          <p:cNvPr id="11" name="Text 9"/>
          <p:cNvSpPr txBox="1"/>
          <p:nvPr/>
        </p:nvSpPr>
        <p:spPr>
          <a:xfrm>
            <a:off x="1005840" y="1737360"/>
            <a:ext cx="9601200" cy="274320"/>
          </a:xfrm>
          <a:prstGeom prst="rect">
            <a:avLst/>
          </a:prstGeom>
          <a:noFill/>
          <a:ln/>
        </p:spPr>
        <p:txBody>
          <a:bodyPr wrap="square" lIns="0" tIns="0" rIns="0" bIns="0" rtlCol="0" anchor="t"/>
          <a:lstStyle/>
          <a:p>
            <a:pPr algn="l" indent="0" marL="0">
              <a:lnSpc>
                <a:spcPct val="130000"/>
              </a:lnSpc>
              <a:buNone/>
            </a:pPr>
            <a:r>
              <a:rPr lang="en-US" sz="1300" b="1" dirty="0">
                <a:solidFill>
                  <a:srgbClr val="387F7F"/>
                </a:solidFill>
                <a:latin typeface="Poppins" pitchFamily="34" charset="0"/>
                <a:ea typeface="Poppins" pitchFamily="34" charset="-122"/>
                <a:cs typeface="Poppins" pitchFamily="34" charset="-120"/>
              </a:rPr>
              <a:t>THE TASK</a:t>
            </a:r>
            <a:endParaRPr lang="en-US" sz="1300" dirty="0"/>
          </a:p>
        </p:txBody>
      </p:sp>
      <p:sp>
        <p:nvSpPr>
          <p:cNvPr id="12" name="Text 10"/>
          <p:cNvSpPr txBox="1"/>
          <p:nvPr/>
        </p:nvSpPr>
        <p:spPr>
          <a:xfrm>
            <a:off x="1005840" y="2057400"/>
            <a:ext cx="9875520" cy="960120"/>
          </a:xfrm>
          <a:prstGeom prst="rect">
            <a:avLst/>
          </a:prstGeom>
          <a:noFill/>
          <a:ln/>
        </p:spPr>
        <p:txBody>
          <a:bodyPr wrap="square" lIns="0" tIns="0" rIns="0" bIns="0" rtlCol="0" anchor="t"/>
          <a:lstStyle/>
          <a:p>
            <a:pPr algn="l" indent="0" marL="0">
              <a:lnSpc>
                <a:spcPct val="130000"/>
              </a:lnSpc>
              <a:buNone/>
            </a:pPr>
            <a:r>
              <a:rPr lang="en-US" sz="1750" dirty="0">
                <a:solidFill>
                  <a:srgbClr val="475569"/>
                </a:solidFill>
                <a:latin typeface="Poppins" pitchFamily="34" charset="0"/>
                <a:ea typeface="Poppins" pitchFamily="34" charset="-122"/>
                <a:cs typeface="Poppins" pitchFamily="34" charset="-120"/>
              </a:rPr>
              <a:t>Four requests: (1) which deliveries will fail this week, (2) how much fuel Route LAG-07 uses next month, (3) which riders behave most alike, (4) how many deliveries happened in September. Name each: classification, regression, clustering, or no model needed.</a:t>
            </a:r>
            <a:endParaRPr lang="en-US" sz="1750" dirty="0"/>
          </a:p>
        </p:txBody>
      </p:sp>
      <p:sp>
        <p:nvSpPr>
          <p:cNvPr id="13" name="Shape 11"/>
          <p:cNvSpPr/>
          <p:nvPr/>
        </p:nvSpPr>
        <p:spPr>
          <a:xfrm>
            <a:off x="685800" y="3291840"/>
            <a:ext cx="10424160" cy="1463040"/>
          </a:xfrm>
          <a:prstGeom prst="roundRect">
            <a:avLst>
              <a:gd name="adj" fmla="val 5625"/>
            </a:avLst>
          </a:prstGeom>
          <a:solidFill>
            <a:srgbClr val="F4F7F7"/>
          </a:solidFill>
          <a:ln/>
        </p:spPr>
      </p:sp>
      <p:sp>
        <p:nvSpPr>
          <p:cNvPr id="14" name="Shape 12"/>
          <p:cNvSpPr/>
          <p:nvPr/>
        </p:nvSpPr>
        <p:spPr>
          <a:xfrm>
            <a:off x="685800" y="3291840"/>
            <a:ext cx="82296" cy="1463040"/>
          </a:xfrm>
          <a:prstGeom prst="rect">
            <a:avLst/>
          </a:prstGeom>
          <a:solidFill>
            <a:srgbClr val="9BB7B7"/>
          </a:solidFill>
          <a:ln/>
        </p:spPr>
      </p:sp>
      <p:sp>
        <p:nvSpPr>
          <p:cNvPr id="15" name="Text 13"/>
          <p:cNvSpPr txBox="1"/>
          <p:nvPr/>
        </p:nvSpPr>
        <p:spPr>
          <a:xfrm>
            <a:off x="1005840" y="3474720"/>
            <a:ext cx="9601200" cy="292608"/>
          </a:xfrm>
          <a:prstGeom prst="rect">
            <a:avLst/>
          </a:prstGeom>
          <a:noFill/>
          <a:ln/>
        </p:spPr>
        <p:txBody>
          <a:bodyPr wrap="square" lIns="0" tIns="0" rIns="0" bIns="0" rtlCol="0" anchor="t"/>
          <a:lstStyle/>
          <a:p>
            <a:pPr algn="l" indent="0" marL="0">
              <a:lnSpc>
                <a:spcPct val="130000"/>
              </a:lnSpc>
              <a:buNone/>
            </a:pPr>
            <a:r>
              <a:rPr lang="en-US" sz="1300" b="1" dirty="0">
                <a:solidFill>
                  <a:srgbClr val="20494A"/>
                </a:solidFill>
                <a:latin typeface="Poppins" pitchFamily="34" charset="0"/>
                <a:ea typeface="Poppins" pitchFamily="34" charset="-122"/>
                <a:cs typeface="Poppins" pitchFamily="34" charset="-120"/>
              </a:rPr>
              <a:t>SELF-CHECK</a:t>
            </a:r>
            <a:endParaRPr lang="en-US" sz="1300" dirty="0"/>
          </a:p>
        </p:txBody>
      </p:sp>
      <p:sp>
        <p:nvSpPr>
          <p:cNvPr id="16" name="Text 14"/>
          <p:cNvSpPr txBox="1"/>
          <p:nvPr/>
        </p:nvSpPr>
        <p:spPr>
          <a:xfrm>
            <a:off x="1005840" y="3794760"/>
            <a:ext cx="9875520" cy="868680"/>
          </a:xfrm>
          <a:prstGeom prst="rect">
            <a:avLst/>
          </a:prstGeom>
          <a:noFill/>
          <a:ln/>
        </p:spPr>
        <p:txBody>
          <a:bodyPr wrap="square" lIns="0" tIns="0" rIns="0" bIns="0" rtlCol="0" anchor="t"/>
          <a:lstStyle/>
          <a:p>
            <a:pPr algn="l" indent="0" marL="0">
              <a:lnSpc>
                <a:spcPct val="130000"/>
              </a:lnSpc>
              <a:buNone/>
            </a:pPr>
            <a:r>
              <a:rPr lang="en-US" sz="1400" dirty="0">
                <a:solidFill>
                  <a:srgbClr val="475569"/>
                </a:solidFill>
                <a:latin typeface="Poppins" pitchFamily="34" charset="0"/>
                <a:ea typeface="Poppins" pitchFamily="34" charset="-122"/>
                <a:cs typeface="Poppins" pitchFamily="34" charset="-120"/>
              </a:rPr>
              <a:t>(1) classification. (2) regression. (3) clustering. (4) no model needed, it's counting - an analyst task, like Topic 8.1's pipeline. Only (1)-(3) would need a data scientist to actually build.</a:t>
            </a:r>
            <a:endParaRPr lang="en-US" sz="1400" dirty="0"/>
          </a:p>
        </p:txBody>
      </p:sp>
      <p:sp>
        <p:nvSpPr>
          <p:cNvPr id="17" name="Text 15"/>
          <p:cNvSpPr txBox="1"/>
          <p:nvPr/>
        </p:nvSpPr>
        <p:spPr>
          <a:xfrm>
            <a:off x="685800" y="4937760"/>
            <a:ext cx="10424160" cy="365760"/>
          </a:xfrm>
          <a:prstGeom prst="rect">
            <a:avLst/>
          </a:prstGeom>
          <a:noFill/>
          <a:ln/>
        </p:spPr>
        <p:txBody>
          <a:bodyPr wrap="square" lIns="0" tIns="0" rIns="0" bIns="0" rtlCol="0" anchor="t"/>
          <a:lstStyle/>
          <a:p>
            <a:pPr algn="ctr" indent="0" marL="0">
              <a:lnSpc>
                <a:spcPct val="130000"/>
              </a:lnSpc>
              <a:buNone/>
            </a:pPr>
            <a:r>
              <a:rPr lang="en-US" sz="1500" i="1" dirty="0">
                <a:solidFill>
                  <a:srgbClr val="64748B"/>
                </a:solidFill>
                <a:latin typeface="Poppins" pitchFamily="34" charset="0"/>
                <a:ea typeface="Poppins" pitchFamily="34" charset="-122"/>
                <a:cs typeface="Poppins" pitchFamily="34" charset="-120"/>
              </a:rPr>
              <a:t>Compare your answers with a neighbour before the recap - disagreement on the wording is fine, disagreement on which bucket is worth discussing.</a:t>
            </a:r>
            <a:endParaRPr lang="en-US" sz="1500" dirty="0"/>
          </a:p>
        </p:txBody>
      </p:sp>
      <p:pic>
        <p:nvPicPr>
          <p:cNvPr id="18"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19" name="Text 16"/>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54864" cy="411480"/>
          </a:xfrm>
          <a:prstGeom prst="rect">
            <a:avLst/>
          </a:prstGeom>
          <a:solidFill>
            <a:srgbClr val="387F7F"/>
          </a:solidFill>
          <a:ln/>
        </p:spPr>
      </p:sp>
      <p:sp>
        <p:nvSpPr>
          <p:cNvPr id="5" name="Text 3"/>
          <p:cNvSpPr txBox="1"/>
          <p:nvPr/>
        </p:nvSpPr>
        <p:spPr>
          <a:xfrm>
            <a:off x="868680" y="502920"/>
            <a:ext cx="9966960" cy="685800"/>
          </a:xfrm>
          <a:prstGeom prst="rect">
            <a:avLst/>
          </a:prstGeom>
          <a:noFill/>
          <a:ln/>
        </p:spPr>
        <p:txBody>
          <a:bodyPr wrap="square" lIns="0" tIns="0" rIns="0" bIns="0" rtlCol="0" anchor="t"/>
          <a:lstStyle/>
          <a:p>
            <a:pPr indent="0" marL="0">
              <a:lnSpc>
                <a:spcPct val="110000"/>
              </a:lnSpc>
              <a:buNone/>
            </a:pPr>
            <a:r>
              <a:rPr lang="en-US" sz="3300" dirty="0">
                <a:solidFill>
                  <a:srgbClr val="387F7F"/>
                </a:solidFill>
                <a:latin typeface="Poppins" pitchFamily="34" charset="0"/>
                <a:ea typeface="Poppins" pitchFamily="34" charset="-122"/>
                <a:cs typeface="Poppins" pitchFamily="34" charset="-120"/>
              </a:rPr>
              <a:t>Topic 8.3 recap</a:t>
            </a:r>
            <a:endParaRPr lang="en-US" sz="3300" dirty="0"/>
          </a:p>
        </p:txBody>
      </p:sp>
      <p:pic>
        <p:nvPicPr>
          <p:cNvPr id="6" name="Image 0" descr="/home/claude/assets/icon_check.png">    </p:cNvPr>
          <p:cNvPicPr>
            <a:picLocks noChangeAspect="1"/>
          </p:cNvPicPr>
          <p:nvPr/>
        </p:nvPicPr>
        <p:blipFill>
          <a:blip r:embed="rId2"/>
          <a:stretch>
            <a:fillRect/>
          </a:stretch>
        </p:blipFill>
        <p:spPr>
          <a:xfrm>
            <a:off x="777240" y="1755648"/>
            <a:ext cx="292608" cy="292608"/>
          </a:xfrm>
          <a:prstGeom prst="rect">
            <a:avLst/>
          </a:prstGeom>
        </p:spPr>
      </p:pic>
      <p:sp>
        <p:nvSpPr>
          <p:cNvPr id="7" name="Text 4"/>
          <p:cNvSpPr txBox="1"/>
          <p:nvPr/>
        </p:nvSpPr>
        <p:spPr>
          <a:xfrm>
            <a:off x="1234440" y="1664208"/>
            <a:ext cx="9052560" cy="594360"/>
          </a:xfrm>
          <a:prstGeom prst="rect">
            <a:avLst/>
          </a:prstGeom>
          <a:noFill/>
          <a:ln/>
        </p:spPr>
        <p:txBody>
          <a:bodyPr wrap="square" lIns="0" tIns="0" rIns="0" bIns="0" rtlCol="0" anchor="t"/>
          <a:lstStyle/>
          <a:p>
            <a:pPr algn="l" indent="0" marL="0">
              <a:lnSpc>
                <a:spcPct val="130000"/>
              </a:lnSpc>
              <a:buNone/>
            </a:pPr>
            <a:r>
              <a:rPr lang="en-US" sz="1550" dirty="0">
                <a:solidFill>
                  <a:srgbClr val="475569"/>
                </a:solidFill>
                <a:latin typeface="Poppins" pitchFamily="34" charset="0"/>
                <a:ea typeface="Poppins" pitchFamily="34" charset="-122"/>
                <a:cs typeface="Poppins" pitchFamily="34" charset="-120"/>
              </a:rPr>
              <a:t>Supervised learning needs a history with known right answers already recorded in it.</a:t>
            </a:r>
            <a:endParaRPr lang="en-US" sz="1550" dirty="0"/>
          </a:p>
        </p:txBody>
      </p:sp>
      <p:pic>
        <p:nvPicPr>
          <p:cNvPr id="8" name="Image 1" descr="/home/claude/assets/icon_check.png">    </p:cNvPr>
          <p:cNvPicPr>
            <a:picLocks noChangeAspect="1"/>
          </p:cNvPicPr>
          <p:nvPr/>
        </p:nvPicPr>
        <p:blipFill>
          <a:blip r:embed="rId3"/>
          <a:stretch>
            <a:fillRect/>
          </a:stretch>
        </p:blipFill>
        <p:spPr>
          <a:xfrm>
            <a:off x="777240" y="2532888"/>
            <a:ext cx="292608" cy="292608"/>
          </a:xfrm>
          <a:prstGeom prst="rect">
            <a:avLst/>
          </a:prstGeom>
        </p:spPr>
      </p:pic>
      <p:sp>
        <p:nvSpPr>
          <p:cNvPr id="9" name="Text 5"/>
          <p:cNvSpPr txBox="1"/>
          <p:nvPr/>
        </p:nvSpPr>
        <p:spPr>
          <a:xfrm>
            <a:off x="1234440" y="2441448"/>
            <a:ext cx="9052560" cy="594360"/>
          </a:xfrm>
          <a:prstGeom prst="rect">
            <a:avLst/>
          </a:prstGeom>
          <a:noFill/>
          <a:ln/>
        </p:spPr>
        <p:txBody>
          <a:bodyPr wrap="square" lIns="0" tIns="0" rIns="0" bIns="0" rtlCol="0" anchor="t"/>
          <a:lstStyle/>
          <a:p>
            <a:pPr algn="l" indent="0" marL="0">
              <a:lnSpc>
                <a:spcPct val="130000"/>
              </a:lnSpc>
              <a:buNone/>
            </a:pPr>
            <a:r>
              <a:rPr lang="en-US" sz="1550" dirty="0">
                <a:solidFill>
                  <a:srgbClr val="475569"/>
                </a:solidFill>
                <a:latin typeface="Poppins" pitchFamily="34" charset="0"/>
                <a:ea typeface="Poppins" pitchFamily="34" charset="-122"/>
                <a:cs typeface="Poppins" pitchFamily="34" charset="-120"/>
              </a:rPr>
              <a:t>Classification predicts a category. Regression predicts a number. Same method, different shape of answer.</a:t>
            </a:r>
            <a:endParaRPr lang="en-US" sz="1550" dirty="0"/>
          </a:p>
        </p:txBody>
      </p:sp>
      <p:pic>
        <p:nvPicPr>
          <p:cNvPr id="10" name="Image 2" descr="/home/claude/assets/icon_check.png">    </p:cNvPr>
          <p:cNvPicPr>
            <a:picLocks noChangeAspect="1"/>
          </p:cNvPicPr>
          <p:nvPr/>
        </p:nvPicPr>
        <p:blipFill>
          <a:blip r:embed="rId4"/>
          <a:stretch>
            <a:fillRect/>
          </a:stretch>
        </p:blipFill>
        <p:spPr>
          <a:xfrm>
            <a:off x="777240" y="3310128"/>
            <a:ext cx="292608" cy="292608"/>
          </a:xfrm>
          <a:prstGeom prst="rect">
            <a:avLst/>
          </a:prstGeom>
        </p:spPr>
      </p:pic>
      <p:sp>
        <p:nvSpPr>
          <p:cNvPr id="11" name="Text 6"/>
          <p:cNvSpPr txBox="1"/>
          <p:nvPr/>
        </p:nvSpPr>
        <p:spPr>
          <a:xfrm>
            <a:off x="1234440" y="3218688"/>
            <a:ext cx="9052560" cy="594360"/>
          </a:xfrm>
          <a:prstGeom prst="rect">
            <a:avLst/>
          </a:prstGeom>
          <a:noFill/>
          <a:ln/>
        </p:spPr>
        <p:txBody>
          <a:bodyPr wrap="square" lIns="0" tIns="0" rIns="0" bIns="0" rtlCol="0" anchor="t"/>
          <a:lstStyle/>
          <a:p>
            <a:pPr algn="l" indent="0" marL="0">
              <a:lnSpc>
                <a:spcPct val="130000"/>
              </a:lnSpc>
              <a:buNone/>
            </a:pPr>
            <a:r>
              <a:rPr lang="en-US" sz="1550" dirty="0">
                <a:solidFill>
                  <a:srgbClr val="475569"/>
                </a:solidFill>
                <a:latin typeface="Poppins" pitchFamily="34" charset="0"/>
                <a:ea typeface="Poppins" pitchFamily="34" charset="-122"/>
                <a:cs typeface="Poppins" pitchFamily="34" charset="-120"/>
              </a:rPr>
              <a:t>Clustering has no known right answer, so its groups are judged by business usefulness, not an accuracy score.</a:t>
            </a:r>
            <a:endParaRPr lang="en-US" sz="1550" dirty="0"/>
          </a:p>
        </p:txBody>
      </p:sp>
      <p:pic>
        <p:nvPicPr>
          <p:cNvPr id="12" name="Image 3" descr="/home/claude/assets/icon_check.png">    </p:cNvPr>
          <p:cNvPicPr>
            <a:picLocks noChangeAspect="1"/>
          </p:cNvPicPr>
          <p:nvPr/>
        </p:nvPicPr>
        <p:blipFill>
          <a:blip r:embed="rId5"/>
          <a:stretch>
            <a:fillRect/>
          </a:stretch>
        </p:blipFill>
        <p:spPr>
          <a:xfrm>
            <a:off x="777240" y="4087368"/>
            <a:ext cx="292608" cy="292608"/>
          </a:xfrm>
          <a:prstGeom prst="rect">
            <a:avLst/>
          </a:prstGeom>
        </p:spPr>
      </p:pic>
      <p:sp>
        <p:nvSpPr>
          <p:cNvPr id="13" name="Text 7"/>
          <p:cNvSpPr txBox="1"/>
          <p:nvPr/>
        </p:nvSpPr>
        <p:spPr>
          <a:xfrm>
            <a:off x="1234440" y="3995928"/>
            <a:ext cx="9052560" cy="594360"/>
          </a:xfrm>
          <a:prstGeom prst="rect">
            <a:avLst/>
          </a:prstGeom>
          <a:noFill/>
          <a:ln/>
        </p:spPr>
        <p:txBody>
          <a:bodyPr wrap="square" lIns="0" tIns="0" rIns="0" bIns="0" rtlCol="0" anchor="t"/>
          <a:lstStyle/>
          <a:p>
            <a:pPr algn="l" indent="0" marL="0">
              <a:lnSpc>
                <a:spcPct val="130000"/>
              </a:lnSpc>
              <a:buNone/>
            </a:pPr>
            <a:r>
              <a:rPr lang="en-US" sz="1550" dirty="0">
                <a:solidFill>
                  <a:srgbClr val="475569"/>
                </a:solidFill>
                <a:latin typeface="Poppins" pitchFamily="34" charset="0"/>
                <a:ea typeface="Poppins" pitchFamily="34" charset="-122"/>
                <a:cs typeface="Poppins" pitchFamily="34" charset="-120"/>
              </a:rPr>
              <a:t>An analyst can describe the past and forecast a simple trend with zero models - that alone covers real business value.</a:t>
            </a:r>
            <a:endParaRPr lang="en-US" sz="1550" dirty="0"/>
          </a:p>
        </p:txBody>
      </p:sp>
      <p:pic>
        <p:nvPicPr>
          <p:cNvPr id="14" name="Image 4" descr="/home/claude/assets/icon_check.png">    </p:cNvPr>
          <p:cNvPicPr>
            <a:picLocks noChangeAspect="1"/>
          </p:cNvPicPr>
          <p:nvPr/>
        </p:nvPicPr>
        <p:blipFill>
          <a:blip r:embed="rId6"/>
          <a:stretch>
            <a:fillRect/>
          </a:stretch>
        </p:blipFill>
        <p:spPr>
          <a:xfrm>
            <a:off x="777240" y="4864608"/>
            <a:ext cx="292608" cy="292608"/>
          </a:xfrm>
          <a:prstGeom prst="rect">
            <a:avLst/>
          </a:prstGeom>
        </p:spPr>
      </p:pic>
      <p:sp>
        <p:nvSpPr>
          <p:cNvPr id="15" name="Text 8"/>
          <p:cNvSpPr txBox="1"/>
          <p:nvPr/>
        </p:nvSpPr>
        <p:spPr>
          <a:xfrm>
            <a:off x="1234440" y="4773168"/>
            <a:ext cx="9052560" cy="594360"/>
          </a:xfrm>
          <a:prstGeom prst="rect">
            <a:avLst/>
          </a:prstGeom>
          <a:noFill/>
          <a:ln/>
        </p:spPr>
        <p:txBody>
          <a:bodyPr wrap="square" lIns="0" tIns="0" rIns="0" bIns="0" rtlCol="0" anchor="t"/>
          <a:lstStyle/>
          <a:p>
            <a:pPr algn="l" indent="0" marL="0">
              <a:lnSpc>
                <a:spcPct val="130000"/>
              </a:lnSpc>
              <a:buNone/>
            </a:pPr>
            <a:r>
              <a:rPr lang="en-US" sz="1550" dirty="0">
                <a:solidFill>
                  <a:srgbClr val="475569"/>
                </a:solidFill>
                <a:latin typeface="Poppins" pitchFamily="34" charset="0"/>
                <a:ea typeface="Poppins" pitchFamily="34" charset="-122"/>
                <a:cs typeface="Poppins" pitchFamily="34" charset="-120"/>
              </a:rPr>
              <a:t>Building a model that generalises to new cases is a distinct skill: know when to hand a question to a data scientist, and how to ask for it.</a:t>
            </a:r>
            <a:endParaRPr lang="en-US" sz="1550" dirty="0"/>
          </a:p>
        </p:txBody>
      </p:sp>
      <p:sp>
        <p:nvSpPr>
          <p:cNvPr id="16" name="Shape 9"/>
          <p:cNvSpPr/>
          <p:nvPr/>
        </p:nvSpPr>
        <p:spPr>
          <a:xfrm>
            <a:off x="685800" y="5760720"/>
            <a:ext cx="9921240" cy="868680"/>
          </a:xfrm>
          <a:prstGeom prst="roundRect">
            <a:avLst>
              <a:gd name="adj" fmla="val 9474"/>
            </a:avLst>
          </a:prstGeom>
          <a:solidFill>
            <a:srgbClr val="F4F7F7"/>
          </a:solidFill>
          <a:ln/>
        </p:spPr>
      </p:sp>
      <p:sp>
        <p:nvSpPr>
          <p:cNvPr id="17" name="Text 10"/>
          <p:cNvSpPr txBox="1"/>
          <p:nvPr/>
        </p:nvSpPr>
        <p:spPr>
          <a:xfrm>
            <a:off x="1051560" y="5760720"/>
            <a:ext cx="9189720" cy="868680"/>
          </a:xfrm>
          <a:prstGeom prst="rect">
            <a:avLst/>
          </a:prstGeom>
          <a:noFill/>
          <a:ln/>
        </p:spPr>
        <p:txBody>
          <a:bodyPr wrap="square" lIns="0" tIns="0" rIns="0" bIns="0" rtlCol="0" anchor="ctr"/>
          <a:lstStyle/>
          <a:p>
            <a:pPr algn="ctr" indent="0" marL="0">
              <a:lnSpc>
                <a:spcPct val="130000"/>
              </a:lnSpc>
              <a:buNone/>
            </a:pPr>
            <a:r>
              <a:rPr lang="en-US" sz="1600" b="1" dirty="0">
                <a:solidFill>
                  <a:srgbClr val="387F7F"/>
                </a:solidFill>
                <a:latin typeface="Poppins" pitchFamily="34" charset="0"/>
                <a:ea typeface="Poppins" pitchFamily="34" charset="-122"/>
                <a:cs typeface="Poppins" pitchFamily="34" charset="-120"/>
              </a:rPr>
              <a:t>Next: automating the repetitive parts of an analyst's own job - so the value you already deliver survives a data refresh.</a:t>
            </a:r>
            <a:endParaRPr lang="en-US" sz="1600" dirty="0"/>
          </a:p>
        </p:txBody>
      </p:sp>
      <p:pic>
        <p:nvPicPr>
          <p:cNvPr id="18" name="Image 5" descr="/home/claude/assets/logo_full.png">    </p:cNvPr>
          <p:cNvPicPr>
            <a:picLocks noChangeAspect="1"/>
          </p:cNvPicPr>
          <p:nvPr/>
        </p:nvPicPr>
        <p:blipFill>
          <a:blip r:embed="rId7"/>
          <a:stretch>
            <a:fillRect/>
          </a:stretch>
        </p:blipFill>
        <p:spPr>
          <a:xfrm>
            <a:off x="10998403" y="5949086"/>
            <a:ext cx="431597" cy="375337"/>
          </a:xfrm>
          <a:prstGeom prst="rect">
            <a:avLst/>
          </a:prstGeom>
        </p:spPr>
      </p:pic>
      <p:sp>
        <p:nvSpPr>
          <p:cNvPr id="19" name="Text 11"/>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54864" cy="411480"/>
          </a:xfrm>
          <a:prstGeom prst="rect">
            <a:avLst/>
          </a:prstGeom>
          <a:solidFill>
            <a:srgbClr val="387F7F"/>
          </a:solidFill>
          <a:ln/>
        </p:spPr>
      </p:sp>
      <p:sp>
        <p:nvSpPr>
          <p:cNvPr id="5" name="Text 3"/>
          <p:cNvSpPr txBox="1"/>
          <p:nvPr/>
        </p:nvSpPr>
        <p:spPr>
          <a:xfrm>
            <a:off x="868680" y="502920"/>
            <a:ext cx="9966960" cy="685800"/>
          </a:xfrm>
          <a:prstGeom prst="rect">
            <a:avLst/>
          </a:prstGeom>
          <a:noFill/>
          <a:ln/>
        </p:spPr>
        <p:txBody>
          <a:bodyPr wrap="square" lIns="0" tIns="0" rIns="0" bIns="0" rtlCol="0" anchor="t"/>
          <a:lstStyle/>
          <a:p>
            <a:pPr indent="0" marL="0">
              <a:lnSpc>
                <a:spcPct val="110000"/>
              </a:lnSpc>
              <a:buNone/>
            </a:pPr>
            <a:r>
              <a:rPr lang="en-US" sz="3300" dirty="0">
                <a:solidFill>
                  <a:srgbClr val="387F7F"/>
                </a:solidFill>
                <a:latin typeface="Poppins" pitchFamily="34" charset="0"/>
                <a:ea typeface="Poppins" pitchFamily="34" charset="-122"/>
                <a:cs typeface="Poppins" pitchFamily="34" charset="-120"/>
              </a:rPr>
              <a:t>Where this goes next</a:t>
            </a:r>
            <a:endParaRPr lang="en-US" sz="3300" dirty="0"/>
          </a:p>
        </p:txBody>
      </p:sp>
      <p:sp>
        <p:nvSpPr>
          <p:cNvPr id="6" name="Shape 4"/>
          <p:cNvSpPr/>
          <p:nvPr/>
        </p:nvSpPr>
        <p:spPr>
          <a:xfrm>
            <a:off x="685800" y="1600200"/>
            <a:ext cx="3124200" cy="3291840"/>
          </a:xfrm>
          <a:prstGeom prst="roundRect">
            <a:avLst>
              <a:gd name="adj" fmla="val 2634"/>
            </a:avLst>
          </a:prstGeom>
          <a:solidFill>
            <a:srgbClr val="FFFFFF"/>
          </a:solidFill>
          <a:ln/>
          <a:effectLst>
            <a:outerShdw sx="100000" sy="100000" kx="0" ky="0" algn="bl" rotWithShape="0" blurRad="127000" dist="38100" dir="5400000">
              <a:srgbClr val="1B2A2E">
                <a:alpha val="12000"/>
              </a:srgbClr>
            </a:outerShdw>
          </a:effectLst>
        </p:spPr>
      </p:sp>
      <p:sp>
        <p:nvSpPr>
          <p:cNvPr id="7" name="Shape 5"/>
          <p:cNvSpPr/>
          <p:nvPr/>
        </p:nvSpPr>
        <p:spPr>
          <a:xfrm>
            <a:off x="685800" y="1600200"/>
            <a:ext cx="3124200" cy="457200"/>
          </a:xfrm>
          <a:prstGeom prst="rect">
            <a:avLst/>
          </a:prstGeom>
          <a:solidFill>
            <a:srgbClr val="387F7F"/>
          </a:solidFill>
          <a:ln/>
        </p:spPr>
      </p:sp>
      <p:sp>
        <p:nvSpPr>
          <p:cNvPr id="8" name="Text 6"/>
          <p:cNvSpPr txBox="1"/>
          <p:nvPr/>
        </p:nvSpPr>
        <p:spPr>
          <a:xfrm>
            <a:off x="685800" y="1600200"/>
            <a:ext cx="312420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Poppins" pitchFamily="34" charset="0"/>
                <a:ea typeface="Poppins" pitchFamily="34" charset="-122"/>
                <a:cs typeface="Poppins" pitchFamily="34" charset="-120"/>
              </a:rPr>
              <a:t>TOPIC 8.4</a:t>
            </a:r>
            <a:endParaRPr lang="en-US" sz="1250" dirty="0"/>
          </a:p>
        </p:txBody>
      </p:sp>
      <p:sp>
        <p:nvSpPr>
          <p:cNvPr id="9" name="Text 7"/>
          <p:cNvSpPr txBox="1"/>
          <p:nvPr/>
        </p:nvSpPr>
        <p:spPr>
          <a:xfrm>
            <a:off x="914400" y="2240280"/>
            <a:ext cx="2667000" cy="2468880"/>
          </a:xfrm>
          <a:prstGeom prst="rect">
            <a:avLst/>
          </a:prstGeom>
          <a:noFill/>
          <a:ln/>
        </p:spPr>
        <p:txBody>
          <a:bodyPr wrap="square" lIns="0" tIns="0" rIns="0" bIns="0" rtlCol="0" anchor="t"/>
          <a:lstStyle/>
          <a:p>
            <a:pPr algn="l" indent="0" marL="0">
              <a:lnSpc>
                <a:spcPct val="130000"/>
              </a:lnSpc>
              <a:buNone/>
            </a:pPr>
            <a:r>
              <a:rPr lang="en-US" sz="1500" dirty="0">
                <a:solidFill>
                  <a:srgbClr val="475569"/>
                </a:solidFill>
                <a:latin typeface="Poppins" pitchFamily="34" charset="0"/>
                <a:ea typeface="Poppins" pitchFamily="34" charset="-122"/>
                <a:cs typeface="Poppins" pitchFamily="34" charset="-120"/>
              </a:rPr>
              <a:t>Automating repetitive analyst tasks: identifying what can be automated, and building a simple automation that survives a data refresh.</a:t>
            </a:r>
            <a:endParaRPr lang="en-US" sz="1500" dirty="0"/>
          </a:p>
        </p:txBody>
      </p:sp>
      <p:sp>
        <p:nvSpPr>
          <p:cNvPr id="10" name="Shape 8"/>
          <p:cNvSpPr/>
          <p:nvPr/>
        </p:nvSpPr>
        <p:spPr>
          <a:xfrm>
            <a:off x="4084320" y="1600200"/>
            <a:ext cx="3124200" cy="3291840"/>
          </a:xfrm>
          <a:prstGeom prst="roundRect">
            <a:avLst>
              <a:gd name="adj" fmla="val 2634"/>
            </a:avLst>
          </a:prstGeom>
          <a:solidFill>
            <a:srgbClr val="FFFFFF"/>
          </a:solidFill>
          <a:ln/>
          <a:effectLst>
            <a:outerShdw sx="100000" sy="100000" kx="0" ky="0" algn="bl" rotWithShape="0" blurRad="127000" dist="38100" dir="5400000">
              <a:srgbClr val="1B2A2E">
                <a:alpha val="12000"/>
              </a:srgbClr>
            </a:outerShdw>
          </a:effectLst>
        </p:spPr>
      </p:sp>
      <p:sp>
        <p:nvSpPr>
          <p:cNvPr id="11" name="Shape 9"/>
          <p:cNvSpPr/>
          <p:nvPr/>
        </p:nvSpPr>
        <p:spPr>
          <a:xfrm>
            <a:off x="4084320" y="1600200"/>
            <a:ext cx="3124200" cy="457200"/>
          </a:xfrm>
          <a:prstGeom prst="rect">
            <a:avLst/>
          </a:prstGeom>
          <a:solidFill>
            <a:srgbClr val="387F7F"/>
          </a:solidFill>
          <a:ln/>
        </p:spPr>
      </p:sp>
      <p:sp>
        <p:nvSpPr>
          <p:cNvPr id="12" name="Text 10"/>
          <p:cNvSpPr txBox="1"/>
          <p:nvPr/>
        </p:nvSpPr>
        <p:spPr>
          <a:xfrm>
            <a:off x="4084320" y="1600200"/>
            <a:ext cx="312420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Poppins" pitchFamily="34" charset="0"/>
                <a:ea typeface="Poppins" pitchFamily="34" charset="-122"/>
                <a:cs typeface="Poppins" pitchFamily="34" charset="-120"/>
              </a:rPr>
              <a:t>PIPELINE LAB</a:t>
            </a:r>
            <a:endParaRPr lang="en-US" sz="1250" dirty="0"/>
          </a:p>
        </p:txBody>
      </p:sp>
      <p:sp>
        <p:nvSpPr>
          <p:cNvPr id="13" name="Text 11"/>
          <p:cNvSpPr txBox="1"/>
          <p:nvPr/>
        </p:nvSpPr>
        <p:spPr>
          <a:xfrm>
            <a:off x="4312920" y="2240280"/>
            <a:ext cx="2667000" cy="2468880"/>
          </a:xfrm>
          <a:prstGeom prst="rect">
            <a:avLst/>
          </a:prstGeom>
          <a:noFill/>
          <a:ln/>
        </p:spPr>
        <p:txBody>
          <a:bodyPr wrap="square" lIns="0" tIns="0" rIns="0" bIns="0" rtlCol="0" anchor="t"/>
          <a:lstStyle/>
          <a:p>
            <a:pPr algn="l" indent="0" marL="0">
              <a:lnSpc>
                <a:spcPct val="130000"/>
              </a:lnSpc>
              <a:buNone/>
            </a:pPr>
            <a:r>
              <a:rPr lang="en-US" sz="1500" dirty="0">
                <a:solidFill>
                  <a:srgbClr val="475569"/>
                </a:solidFill>
                <a:latin typeface="Poppins" pitchFamily="34" charset="0"/>
                <a:ea typeface="Poppins" pitchFamily="34" charset="-122"/>
                <a:cs typeface="Poppins" pitchFamily="34" charset="-120"/>
              </a:rPr>
              <a:t>When the lab throws up a genuinely model-shaped question, name it correctly using today's vocabulary rather than guessing at a fix.</a:t>
            </a:r>
            <a:endParaRPr lang="en-US" sz="1500" dirty="0"/>
          </a:p>
        </p:txBody>
      </p:sp>
      <p:sp>
        <p:nvSpPr>
          <p:cNvPr id="14" name="Shape 12"/>
          <p:cNvSpPr/>
          <p:nvPr/>
        </p:nvSpPr>
        <p:spPr>
          <a:xfrm>
            <a:off x="7482840" y="1600200"/>
            <a:ext cx="3124200" cy="3291840"/>
          </a:xfrm>
          <a:prstGeom prst="roundRect">
            <a:avLst>
              <a:gd name="adj" fmla="val 2634"/>
            </a:avLst>
          </a:prstGeom>
          <a:solidFill>
            <a:srgbClr val="FFFFFF"/>
          </a:solidFill>
          <a:ln/>
          <a:effectLst>
            <a:outerShdw sx="100000" sy="100000" kx="0" ky="0" algn="bl" rotWithShape="0" blurRad="127000" dist="38100" dir="5400000">
              <a:srgbClr val="1B2A2E">
                <a:alpha val="12000"/>
              </a:srgbClr>
            </a:outerShdw>
          </a:effectLst>
        </p:spPr>
      </p:sp>
      <p:sp>
        <p:nvSpPr>
          <p:cNvPr id="15" name="Shape 13"/>
          <p:cNvSpPr/>
          <p:nvPr/>
        </p:nvSpPr>
        <p:spPr>
          <a:xfrm>
            <a:off x="7482840" y="1600200"/>
            <a:ext cx="3124200" cy="457200"/>
          </a:xfrm>
          <a:prstGeom prst="rect">
            <a:avLst/>
          </a:prstGeom>
          <a:solidFill>
            <a:srgbClr val="387F7F"/>
          </a:solidFill>
          <a:ln/>
        </p:spPr>
      </p:sp>
      <p:sp>
        <p:nvSpPr>
          <p:cNvPr id="16" name="Text 14"/>
          <p:cNvSpPr txBox="1"/>
          <p:nvPr/>
        </p:nvSpPr>
        <p:spPr>
          <a:xfrm>
            <a:off x="7482840" y="1600200"/>
            <a:ext cx="3124200" cy="457200"/>
          </a:xfrm>
          <a:prstGeom prst="rect">
            <a:avLst/>
          </a:prstGeom>
          <a:noFill/>
          <a:ln/>
        </p:spPr>
        <p:txBody>
          <a:bodyPr wrap="square" lIns="0" tIns="0" rIns="0" bIns="0" rtlCol="0" anchor="ctr"/>
          <a:lstStyle/>
          <a:p>
            <a:pPr algn="ctr" indent="0" marL="0">
              <a:buNone/>
            </a:pPr>
            <a:r>
              <a:rPr lang="en-US" sz="1250" b="1" dirty="0">
                <a:solidFill>
                  <a:srgbClr val="FFFFFF"/>
                </a:solidFill>
                <a:latin typeface="Poppins" pitchFamily="34" charset="0"/>
                <a:ea typeface="Poppins" pitchFamily="34" charset="-122"/>
                <a:cs typeface="Poppins" pitchFamily="34" charset="-120"/>
              </a:rPr>
              <a:t>CAPSTONE PROPOSAL</a:t>
            </a:r>
            <a:endParaRPr lang="en-US" sz="1250" dirty="0"/>
          </a:p>
        </p:txBody>
      </p:sp>
      <p:sp>
        <p:nvSpPr>
          <p:cNvPr id="17" name="Text 15"/>
          <p:cNvSpPr txBox="1"/>
          <p:nvPr/>
        </p:nvSpPr>
        <p:spPr>
          <a:xfrm>
            <a:off x="7711440" y="2240280"/>
            <a:ext cx="2667000" cy="2468880"/>
          </a:xfrm>
          <a:prstGeom prst="rect">
            <a:avLst/>
          </a:prstGeom>
          <a:noFill/>
          <a:ln/>
        </p:spPr>
        <p:txBody>
          <a:bodyPr wrap="square" lIns="0" tIns="0" rIns="0" bIns="0" rtlCol="0" anchor="t"/>
          <a:lstStyle/>
          <a:p>
            <a:pPr algn="l" indent="0" marL="0">
              <a:lnSpc>
                <a:spcPct val="130000"/>
              </a:lnSpc>
              <a:buNone/>
            </a:pPr>
            <a:r>
              <a:rPr lang="en-US" sz="1500" dirty="0">
                <a:solidFill>
                  <a:srgbClr val="475569"/>
                </a:solidFill>
                <a:latin typeface="Poppins" pitchFamily="34" charset="0"/>
                <a:ea typeface="Poppins" pitchFamily="34" charset="-122"/>
                <a:cs typeface="Poppins" pitchFamily="34" charset="-120"/>
              </a:rPr>
              <a:t>If your capstone idea needs a model to generalise to new cases, say so plainly in your proposal - that is a strength, not a gap.</a:t>
            </a:r>
            <a:endParaRPr lang="en-US" sz="1500" dirty="0"/>
          </a:p>
        </p:txBody>
      </p:sp>
      <p:pic>
        <p:nvPicPr>
          <p:cNvPr id="18" name="Image 0" descr="/home/claude/assets/logo_full.png">    </p:cNvPr>
          <p:cNvPicPr>
            <a:picLocks noChangeAspect="1"/>
          </p:cNvPicPr>
          <p:nvPr/>
        </p:nvPicPr>
        <p:blipFill>
          <a:blip r:embed="rId2"/>
          <a:stretch>
            <a:fillRect/>
          </a:stretch>
        </p:blipFill>
        <p:spPr>
          <a:xfrm>
            <a:off x="10998403" y="5949086"/>
            <a:ext cx="431597" cy="375337"/>
          </a:xfrm>
          <a:prstGeom prst="rect">
            <a:avLst/>
          </a:prstGeom>
        </p:spPr>
      </p:pic>
      <p:sp>
        <p:nvSpPr>
          <p:cNvPr id="19" name="Text 16"/>
          <p:cNvSpPr txBox="1"/>
          <p:nvPr/>
        </p:nvSpPr>
        <p:spPr>
          <a:xfrm>
            <a:off x="11688775" y="6473952"/>
            <a:ext cx="365760" cy="274320"/>
          </a:xfrm>
          <a:prstGeom prst="rect">
            <a:avLst/>
          </a:prstGeom>
          <a:noFill/>
          <a:ln/>
        </p:spPr>
        <p:txBody>
          <a:bodyPr wrap="square" lIns="0" tIns="0" rIns="0" bIns="0" rtlCol="0" anchor="ctr"/>
          <a:lstStyle/>
          <a:p>
            <a:pPr algn="r" indent="0" marL="0">
              <a:buNone/>
            </a:pPr>
            <a:r>
              <a:rPr lang="en-US" sz="1100" dirty="0">
                <a:solidFill>
                  <a:srgbClr val="64748B"/>
                </a:solidFill>
                <a:latin typeface="Poppins" pitchFamily="34" charset="0"/>
                <a:ea typeface="Poppins" pitchFamily="34" charset="-122"/>
                <a:cs typeface="Poppins" pitchFamily="34" charset="-120"/>
              </a:rPr>
              <a:t>15</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2026-09-05T22:43:08Z</dcterms:created>
  <dcterms:modified xsi:type="dcterms:W3CDTF">2026-09-05T22:43:08Z</dcterms:modified>
</cp:coreProperties>
</file>