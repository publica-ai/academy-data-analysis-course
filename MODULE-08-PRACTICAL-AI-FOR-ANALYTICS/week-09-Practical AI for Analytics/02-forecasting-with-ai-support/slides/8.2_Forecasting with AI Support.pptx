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Topic 8.2 moves from Topic 8.1's clean-analyse-visualise-report pipeline into a single new skill: turning a short run of historical numbers into a forecast, doing the trend calculation by hand first, then using AI to extend and stress-test it. The topic's own teaching note is explicit that uncertainty has to be communicated honestly, not hidden behind a single confident number. That is the thread that runs through every slide here.
WHAT TO SAY: "In Topic 8.1 we took a raw file to a verified report. Today we ask a harder question of that report: what happens next quarter? We're going to build a simple trend-based forecast by hand, so everyone understands exactly what it assumes. Then we bring AI in to extend it and stress-test it, the same predict-then-run discipline from Module 7. The goal is not the most sophisticated forecast in the room. The goal is a forecast whose uncertainty you can defend out loud."
DELIVERY CUE: Signal early that no machine learning happens today -- that is deliberately saved for Topic 8.3. This is arithmetic plus judgement, not a model.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Retrieval practice that pulls forward exactly what forecasting needs: predict-then-run (reapplied today to a forecast instead of a query), the verification checklist (reapplied to a forecast's assumptions rather than a single figure), and a seeded intuition check that three rising months are not proof of a trend that will continue -- the whole topic pushes back on that instinct.
WHAT TO SAY: "Ninety seconds. Question one: what is predict-then-run, and where did we use it in Topic 8.1?... Question two: give me one question from the verification checklist... Question three, and think before you answer: SwiftRoute's deliveries went up in July, August and September. Does that guarantee October keeps rising? Don't answer yet, just sit with it -- we're coming straight back to that question."
DELIVERY CUE: Do not let anyone fully resolve question three here. Note their instinct and tell them you're holding the answer for the hook.
TIMING: 90 seconds, plus a short pause on question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hook names the real tension of the topic directly: a business decision (hiring, fuel budget) needs a number now, but the only honest answer available from three months of data is a range with named assumptions, not a confident point estimate. This sets up why 'ask AI for a forecast' is not, by itself, good enough -- the topic is about what has to happen around that AI output before it is trustworthy.
WHAT TO SAY: "Adaeze's finance lead wants a Q4 number by Monday, for hiring and fuel budget. All she has is three months of Q3 data -- nothing from Q4, nothing from last year to compare against for seasonality. She could ask an AI tool for a forecast and paste whatever comes back into the budget. That's the tempting shortcut. Today is about why that shortcut fails, and what to do instead so the number she hands over is one she can defend if someone pushes back on it."
DELIVERY CUE: Land the caption question and pause. Let the tension sit before moving to outcomes.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Four topic-level outcomes, in the order the deck teaches them: build by hand first (so the method is understood before AI touches it), extend with AI under predict-then-run, stress-test with a second method, and communicate the result honestly. The fourth outcome is the one the topic's own teaching note names explicitly and is worth stressing hardest.
WHAT TO SAY: "Four things by the end of today. One, you can build a simple trend forecast yourself, by hand, from a short run of numbers -- no AI, no software, just the method. Two, you can hand that forecast to AI to extend it, using predict-then-run so you notice if the AI drifts from your own working. Three, you can stress-test a forecast by computing it a second, different way and treating any gap between the two as real signal, not noise to average away. Four -- and this is the one that matters most in the real job -- you can communicate a forecast's uncertainty honestly: a range, named assumptions, not a single confident number."
DELIVERY CUE: Underline outcome four verbally -- it's the one graders and the capstone panel will actually be listening for.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marker for Part One. States plainly that the method comes before the tool: trainees fit a trend by hand on paper or in a spreadsheet before any AI is involved, so that when AI later produces the same kind of output, they can judge whether it did the calculation correctly.
WHAT TO SAY: "Part one. Before we let AI anywhere near this, we're doing the forecast by hand. Three things: what a trend-based forecast actually assumes about the world, fitting a straight line through SwiftRoute's three months of Q3 data, and -- just as important -- looking honestly at how well that line actually fits before we trust anything it predicts."
DELIVERY CUE: Brief, forward-leaning. This is a short section relative to Part Two.
TIMING: 30-45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Defines trend-based forecasting precisely and names its single, load-bearing assumption: recent rate of change continues unchanged. Explicitly lists what it cannot see -- seasonality, external shocks, business change -- so trainees go into the SwiftRoute worked example already primed to ask what a three-month straight line might be missing.
WHAT TO SAY: "A trend-based forecast does one thing: it fits a straight line through your past numbers and keeps drawing that same line forward. That's it. No seasonality built in, no allowance for a promotion, a holiday surge, a new competitor, nothing. It just says: whatever rate of change we've seen, assume it keeps going. Sometimes that's a perfectly reasonable starting assumption. Sometimes it's dangerously wrong -- think about what happens in Lagos in the run-up to December. The method itself has no way of knowing which situation you're in. That judgement has to come from you."
DELIVERY CUE: Let 'December' land as foreshadowing -- it becomes the concrete stress-test later in the deck.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actual hand-worked calculation, using real Topic 8.1 figures (recomputed directly from swiftroute_q3_answer_key.xlsx, deliveries_clean sheet, grouped by calendar month): July 1,176, August 1,194, September 1,230. A least-squares line through month-index 1, 2, 3 gives a slope of 27.0 deliveries per month and an intercept of 1,146.0. The callout flags that the real month-over-month changes (+18, then +36) were not constant, which is the seed for step 4's fit-quality check on the next content.
WHAT TO SAY: "Here's the real data. July: 1,176 deliveries. August: 1,194, up eighteen. September: 1,230, up thirty-six. Fit a straight line through those three points and the slope comes out to about plus twenty-seven deliveries a month, starting from a baseline around 1,146. That's the whole trend: plus twenty-seven a month, extended forward. But look at the actual monthly changes again -- eighteen, then thirty-six. That's not a steady plus twenty-seven each time, it's accelerating. The straight line flattens that acceleration into an average. Is that a safe thing to do? That's exactly what we check next."
DELIVERY CUE: Do the arithmetic on the board or screen live if time allows -- (1,230-1,176)/2 = 27 -- rather than presenting it as a given.
TIMING: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Walks through residual checking -- the difference between what the fitted line predicts for each historical month and what actually happened -- as the concrete form of 'check the fit' from the previous slide's step 4. Figures recomputed directly: fitted values from slope 27.0/intercept 1,146.0 are 1,173, 1,200, 1,227 for month-index 1, 2, 3; actual values 1,176, 1,194, 1,230; residuals +3, -6, +3. The teaching point is explicitly about sample size (three months) rather than about the fit looking bad -- the residuals are actually small, which is the trap: a close-looking fit on very little data can still be a poor guide to next quarter.
WHAT TO SAY: "Take the line's own prediction for July, August and September and compare it to what really happened. It predicts 1,173, 1,200 and 1,227. Real numbers were 1,176, 1,194 and 1,230 -- off by three, six and three deliveries. That looks like a tight fit. Here's the trap: a tight fit on three data points tells you almost nothing about next quarter. Three points can always be fit closely by a straight line, practically by definition. What three points genuinely cannot show you is a season -- and December in Lagos logistics is exactly the kind of thing a three-month straight line has zero visibility into."
DELIVERY CUE: Resist the temptation to make this sound like a criticism of the method -- it's a correct method, applied to a genuinely thin dataset. That distinction matters for Part Two.
TIMING: 2-3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marker for Part Two, moving from the hand-built trend into AI-assisted extension. Names predict-then-run explicitly as the carried-forward technique from Module 7, reapplied here to a forecast rather than a query or a formula.
WHAT TO SAY: "Part two. Now we bring AI in -- not to replace the hand calculation, but to extend it and check it. Same predict-then-run habit from Module 7: before you run anything, say out loud what you expect back. We'll look at a first AI forecast taken at face value, then stress-test that same forecast a second, independent way."
DELIVERY CUE: Brief. This section's substance is in the compare slide that follows, not here.
TIMING: 30-45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Restates predict-then-run in this topic's specific context: form a rough expectation from the hand-built trend before prompting AI, then treat agreement as weak confirmation and disagreement as the actual signal worth investigating. The specific expectation given here (3,800-3,900 deliveries, revenue rising only slightly) is consistent with the real trend-fit numbers from earlier slides and previews the fee-mix point made explicit in the compare slide next.
WHAT TO SAY: "Same discipline as Module 7, applied here. Before you type a single prompt, write down your own rough answer. From plus twenty-seven a month, Q4 deliveries should land somewhere around 3,800 to 3,900. Revenue should rise only a little, because September's average fee per delivery was already a bit lower than July's -- more deliveries did not mean proportionally more money. Now run the AI prompt. If it lands near your number, fine, that's mild reassurance. If it lands somewhere else, that gap is the whole point -- it tells you exactly what to go check before this number reaches Adaeze's finance lead."
DELIVERY CUE: Emphasise 'mild reassurance' -- agreement with your own prediction is not the same as the forecast being correct.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central worked comparison of the topic, built entirely from real recomputed Q3 figures. Method one (left): extend the deliveries trend to a Q4 total of about 3,843 (slope 27.0/month from the earlier worked slide, summed across three forecast months) and multiply by the flat Q3 average fee of ₦3,387.86, giving about ₦13,019,540 -- a single confident number with no range. Method two (right): fit a straight line directly on monthly revenue (July ₦4,071,340, August ₦4,004,160, September ₦4,120,790), giving a slope of about ₦24,725/month and a Q4 total of about ₦12,418,815. The two methods disagree by roughly ₦600,000 because August's revenue actually fell slightly even as deliveries rose -- the average fee per delivery is not constant across the quarter, so multiplying a deliveries trend by a flat average fee silently assumes something the data itself contradicts. The right-hand approach reports the disagreement between the two methods as the honest range, rather than picking whichever number sounds more precise.
WHAT TO SAY: "Here's the same underlying data, handled two ways. Method one: take the deliveries trend forward to about 3,843 for Q4, multiply by the Q3 average fee, get roughly thirteen million naira, state it as one confident number. That's what a lot of AI forecasting output looks like if you just paste in the prompt and take the answer. Method two: fit the trend directly on monthly revenue instead of deliveries. That gives roughly ₦12.4 million for Q4 -- about six hundred thousand naira lower. Why the gap? Because August's revenue actually dropped slightly even though deliveries went up -- the average fee per delivery moved during the quarter. Method one assumed it wouldn't. That assumption was wrong, and the six-hundred-thousand-naira gap is the proof. The honest answer isn't either number alone. It's the range between them, with both assumptions stated."
DELIVERY CUE: This is the topic's single most important slide. Slow down here and make sure the fee-mix point specifically lands -- it's the concrete mechanism, not just 'AI forecasts can be wrong' in the abstract.
TIMING: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topic's stated capstone teaching point, made explicit as its own slide rather than left implicit in the compare slide: a range with named assumptions is a more professional deliverable than a single figure, because it sets up the right follow-up conversation rather than a false promise. This directly answers the topic's own brief -- 'uncertainty communicated honestly' -- as a specific communication skill, not just a calculation habit.
WHAT TO SAY: "Here's the part that's easy to skip under deadline pressure. Handing over a single number invites one specific bad outcome: someone treats it as a promise, and if reality lands anywhere else, that gets read as your forecast having failed. Handing over a range, with the method and the sample size named, invites a completely different and much better conversation: what would have to be true for the low end, or the high end, to be the real answer? That's not you being cautious or covering yourself. That's you giving someone evidence they can actually reason with, instead of a number they can only either trust blindly or blame you for."
DELIVERY CUE: Read the pull-line sentence exactly as written -- it is designed to be quotable and worth trainees copying down verbatim.
TIMING: 2-3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marker for Part Three, moving from method to the actual deliverable Adaeze takes back to her finance lead from the hook. Names what comes next concretely: the final stated range, an explicit look at what a three-month trend cannot see, and the trainee practice task.
WHAT TO SAY: "Part three, and this closes the loop on Adaeze's Monday morning problem. We put together the actual range and assumptions she takes to her finance lead, we name specifically what three months of data cannot show her, and then it's your turn to forecast one more figure the same way."
DELIVERY CUE: Brief, purposeful -- this section should feel like arriving somewhere after the build-up of Parts One and Two.
TIMING: 30-45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final synthesised figure Adaeze takes back to finance, built directly from the two methods on the compare slide: deliveries 3,800 to 3,900 (trend of +27/month from the worked slide, extended three months and rounded to reflect the residual scale of a few deliveries seen in the fit check), revenue ₦12.4m to ₦13.0m (the low end from the direct revenue trend, the high end from the deliveries-trend-times-average-fee method). The assumptions panel states plainly what the range does and does not cover: three months of history only, current rate of change assumed to continue, and explicitly no data on festive-season demand, which is named as a real business consideration for Lagos logistics rather than a vague disclaimer.
WHAT TO SAY: "This is what actually goes to finance. Deliveries: 3,800 to 3,900 for Q4. Revenue: ₦12.4 million to ₦13 million. Not one number -- a range, built from two different methods that we deliberately made disagree with each other on purpose, so the disagreement itself becomes the range. And underneath it, three sentences that matter as much as the figures: this is fitted on three months only, it assumes the current rate keeps going, and it has zero visibility into whatever happens with demand around the festive season, which anyone who has run logistics in Lagos in November and December knows is not a small caveat."
DELIVERY CUE: Ask the room directly: would you personally sign your name under this range? What would make you more confident in it? Let a couple of answers land before moving on.
TIMING: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hands-on practice task, deliberately mirroring the exact structure just demonstrated (fit a trend, extend it, stress-test with a second method, state a range with named assumptions) but applied to a different column from the same real dataset, so trainees do the full method themselves rather than just watching it. Fuel litres and average distance are both present in the fuel_cost sheet / deliveries_clean sheet of swiftroute_q3_answer_key.xlsx and support the same monthly trend treatment.
WHAT TO SAY: "Your turn, twelve minutes. Pick either fuel litres consumed or average delivery distance from the same clean data. Fit a trend across the three Q3 months, extend it one quarter, then stress-test it a second way, just like we did for revenue. Your final answer is a range, with two named assumptions -- not a single number. Self-check: do you have a range, can you name your two methods, and can you say in one sentence what three months of data can't show you here."
DELIVERY CUE: Circulate and specifically flag anyone who writes a single point figure with no range -- that is the exact habit this topic exists to break.
TIMING: 12 minutes plus 2-3 minutes of neighbour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Five-point recap covering the topic's full arc: what a trend-based forecast is, why fit-checking has limits with few data points, predict-then-run reapplied to forecasting, using method disagreement as an honest uncertainty range, and the communication principle that closes the topic. The pull line previews Topic 8.3's shift from forecasting numbers to machine learning literacy.
WHAT TO SAY: "Quick recap. A trend forecast is one straight line, extended, nothing hidden inside it. Checking its own errors matters, but a tight fit on three data points still can't see a season. Predict-then-run applies here too: guess first, then run, and treat any gap from AI's answer as the useful part. Two independent methods that disagree hand you an honest range for free, so report the gap instead of averaging it away. And a range with named assumptions is simply a better deliverable than one confident number."
DELIVERY CUE: Pause on the final bullet - it is the one line every trainee should be able to repeat back verbatim by the end of the module.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Closing signpost slide, connecting Topic 8.2 forward to Topic 8.3's shift into machine learning literacy, to the module's full-day pipeline lab where the same verification standard applies to any claim in the final report, and to the responsible data and AI record trainees started in Topic 7.6 and are expected to keep updating.
WHAT TO SAY: "Where this goes next. Topic 8.3 shifts from forecasting numbers to machine learning literacy - what classification, regression and clustering actually mean, in plain language, with no model-building. The pipeline lab later in the module reuses exactly what you practised today: any unverified claim in your final report, forecast included, fails the exercise. And before you close today, add today's forecasting method and assumptions to your responsible data and AI record from Topic 7.6."
DELIVERY CUE: End on the responsible-record reminder as a concrete, immediate action item, not just a forward-looking mention.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2.png"/><Relationship Id="rId4" Type="http://schemas.openxmlformats.org/officeDocument/2006/relationships/image" Target="../media/image-16-2.png"/><Relationship Id="rId5" Type="http://schemas.openxmlformats.org/officeDocument/2006/relationships/image" Target="../media/image-16-2.png"/><Relationship Id="rId6" Type="http://schemas.openxmlformats.org/officeDocument/2006/relationships/image" Target="../media/image-16-2.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assets/logo_full.png">    </p:cNvPr>
          <p:cNvPicPr>
            <a:picLocks noChangeAspect="1"/>
          </p:cNvPicPr>
          <p:nvPr/>
        </p:nvPicPr>
        <p:blipFill>
          <a:blip r:embed="rId2"/>
          <a:stretch>
            <a:fillRect/>
          </a:stretch>
        </p:blipFill>
        <p:spPr>
          <a:xfrm>
            <a:off x="685800" y="502920"/>
            <a:ext cx="1371600" cy="1192807"/>
          </a:xfrm>
          <a:prstGeom prst="rect">
            <a:avLst/>
          </a:prstGeom>
        </p:spPr>
      </p:pic>
      <p:sp>
        <p:nvSpPr>
          <p:cNvPr id="3" name="Text 0"/>
          <p:cNvSpPr txBox="1"/>
          <p:nvPr/>
        </p:nvSpPr>
        <p:spPr>
          <a:xfrm>
            <a:off x="685800" y="2331720"/>
            <a:ext cx="6949440" cy="320040"/>
          </a:xfrm>
          <a:prstGeom prst="rect">
            <a:avLst/>
          </a:prstGeom>
          <a:noFill/>
          <a:ln/>
        </p:spPr>
        <p:txBody>
          <a:bodyPr wrap="square" lIns="0" tIns="0" rIns="0" bIns="0" rtlCol="0" anchor="ctr"/>
          <a:lstStyle/>
          <a:p>
            <a:pPr indent="0" marL="0">
              <a:buNone/>
            </a:pPr>
            <a:r>
              <a:rPr lang="en-US" sz="1400" spc="150" kern="0" dirty="0">
                <a:solidFill>
                  <a:srgbClr val="387F7F"/>
                </a:solidFill>
                <a:latin typeface="Inter" pitchFamily="34" charset="0"/>
                <a:ea typeface="Inter" pitchFamily="34" charset="-122"/>
                <a:cs typeface="Inter" pitchFamily="34" charset="-120"/>
              </a:rPr>
              <a:t>MODULE 8 · AI-ASSISTED DATA ANALYSIS</a:t>
            </a:r>
            <a:endParaRPr lang="en-US" sz="1400" dirty="0"/>
          </a:p>
        </p:txBody>
      </p:sp>
      <p:sp>
        <p:nvSpPr>
          <p:cNvPr id="4" name="Text 1"/>
          <p:cNvSpPr txBox="1"/>
          <p:nvPr/>
        </p:nvSpPr>
        <p:spPr>
          <a:xfrm>
            <a:off x="685800" y="2670048"/>
            <a:ext cx="6949440" cy="411480"/>
          </a:xfrm>
          <a:prstGeom prst="rect">
            <a:avLst/>
          </a:prstGeom>
          <a:noFill/>
          <a:ln/>
        </p:spPr>
        <p:txBody>
          <a:bodyPr wrap="square" lIns="0" tIns="0" rIns="0" bIns="0" rtlCol="0" anchor="ctr"/>
          <a:lstStyle/>
          <a:p>
            <a:pPr indent="0" marL="0">
              <a:buNone/>
            </a:pPr>
            <a:r>
              <a:rPr lang="en-US" sz="1950" b="1" dirty="0">
                <a:solidFill>
                  <a:srgbClr val="64748B"/>
                </a:solidFill>
                <a:latin typeface="Inter Bold" pitchFamily="34" charset="0"/>
                <a:ea typeface="Inter Bold" pitchFamily="34" charset="-122"/>
                <a:cs typeface="Inter Bold" pitchFamily="34" charset="-120"/>
              </a:rPr>
              <a:t>Topic 8.2 of 6</a:t>
            </a:r>
            <a:endParaRPr lang="en-US" sz="1950" dirty="0"/>
          </a:p>
        </p:txBody>
      </p:sp>
      <p:sp>
        <p:nvSpPr>
          <p:cNvPr id="5" name="Text 2"/>
          <p:cNvSpPr txBox="1"/>
          <p:nvPr/>
        </p:nvSpPr>
        <p:spPr>
          <a:xfrm>
            <a:off x="658368" y="3108960"/>
            <a:ext cx="7223760" cy="1828800"/>
          </a:xfrm>
          <a:prstGeom prst="rect">
            <a:avLst/>
          </a:prstGeom>
          <a:noFill/>
          <a:ln/>
        </p:spPr>
        <p:txBody>
          <a:bodyPr wrap="square" lIns="0" tIns="0" rIns="0" bIns="0" rtlCol="0" anchor="ctr"/>
          <a:lstStyle/>
          <a:p>
            <a:pPr indent="0" marL="0">
              <a:lnSpc>
                <a:spcPct val="103000"/>
              </a:lnSpc>
              <a:buNone/>
            </a:pPr>
            <a:r>
              <a:rPr lang="en-US" sz="5400" b="1" dirty="0">
                <a:solidFill>
                  <a:srgbClr val="000000"/>
                </a:solidFill>
                <a:latin typeface="Poppins" pitchFamily="34" charset="0"/>
                <a:ea typeface="Poppins" pitchFamily="34" charset="-122"/>
                <a:cs typeface="Poppins" pitchFamily="34" charset="-120"/>
              </a:rPr>
              <a:t>Forecasting with
</a:t>
            </a:r>
            <a:pPr indent="0" marL="0">
              <a:lnSpc>
                <a:spcPct val="103000"/>
              </a:lnSpc>
              <a:buNone/>
            </a:pPr>
            <a:r>
              <a:rPr lang="en-US" sz="5400" b="1" dirty="0">
                <a:solidFill>
                  <a:srgbClr val="387F7F"/>
                </a:solidFill>
                <a:latin typeface="Poppins" pitchFamily="34" charset="0"/>
                <a:ea typeface="Poppins" pitchFamily="34" charset="-122"/>
                <a:cs typeface="Poppins" pitchFamily="34" charset="-120"/>
              </a:rPr>
              <a:t>AI Support</a:t>
            </a:r>
            <a:endParaRPr lang="en-US" sz="5400" dirty="0"/>
          </a:p>
        </p:txBody>
      </p:sp>
      <p:sp>
        <p:nvSpPr>
          <p:cNvPr id="6" name="Shape 3"/>
          <p:cNvSpPr/>
          <p:nvPr/>
        </p:nvSpPr>
        <p:spPr>
          <a:xfrm>
            <a:off x="8092440" y="1417320"/>
            <a:ext cx="3383280" cy="3383280"/>
          </a:xfrm>
          <a:prstGeom prst="roundRect">
            <a:avLst>
              <a:gd name="adj" fmla="val 3243"/>
            </a:avLst>
          </a:prstGeom>
          <a:solidFill>
            <a:srgbClr val="F4F7F7"/>
          </a:solidFill>
          <a:ln w="12700">
            <a:solidFill>
              <a:srgbClr val="E2E8F0"/>
            </a:solidFill>
            <a:prstDash val="solid"/>
          </a:ln>
        </p:spPr>
      </p:sp>
      <p:sp>
        <p:nvSpPr>
          <p:cNvPr id="7" name="Text 4"/>
          <p:cNvSpPr txBox="1"/>
          <p:nvPr/>
        </p:nvSpPr>
        <p:spPr>
          <a:xfrm>
            <a:off x="8092440" y="2286000"/>
            <a:ext cx="3383280" cy="640080"/>
          </a:xfrm>
          <a:prstGeom prst="rect">
            <a:avLst/>
          </a:prstGeom>
          <a:noFill/>
          <a:ln/>
        </p:spPr>
        <p:txBody>
          <a:bodyPr wrap="square" lIns="0" tIns="0" rIns="0" bIns="0" rtlCol="0" anchor="ctr"/>
          <a:lstStyle/>
          <a:p>
            <a:pPr algn="ctr" indent="0" marL="0">
              <a:buNone/>
            </a:pPr>
            <a:r>
              <a:rPr lang="en-US" sz="3000" dirty="0">
                <a:solidFill>
                  <a:srgbClr val="64748B"/>
                </a:solidFill>
                <a:latin typeface="Poppins" pitchFamily="34" charset="0"/>
                <a:ea typeface="Poppins" pitchFamily="34" charset="-122"/>
                <a:cs typeface="Poppins" pitchFamily="34" charset="-120"/>
              </a:rPr>
              <a:t>▦</a:t>
            </a:r>
            <a:endParaRPr lang="en-US" sz="3000" dirty="0"/>
          </a:p>
        </p:txBody>
      </p:sp>
      <p:sp>
        <p:nvSpPr>
          <p:cNvPr id="8" name="Text 5"/>
          <p:cNvSpPr txBox="1"/>
          <p:nvPr/>
        </p:nvSpPr>
        <p:spPr>
          <a:xfrm>
            <a:off x="8321040" y="2880360"/>
            <a:ext cx="2926080" cy="320040"/>
          </a:xfrm>
          <a:prstGeom prst="rect">
            <a:avLst/>
          </a:prstGeom>
          <a:noFill/>
          <a:ln/>
        </p:spPr>
        <p:txBody>
          <a:bodyPr wrap="square" lIns="0" tIns="0" rIns="0" bIns="0" rtlCol="0" anchor="ctr"/>
          <a:lstStyle/>
          <a:p>
            <a:pPr algn="ctr" indent="0" marL="0">
              <a:buNone/>
            </a:pPr>
            <a:r>
              <a:rPr lang="en-US" sz="1100" b="1" dirty="0">
                <a:solidFill>
                  <a:srgbClr val="64748B"/>
                </a:solidFill>
                <a:latin typeface="Poppins" pitchFamily="34" charset="0"/>
                <a:ea typeface="Poppins" pitchFamily="34" charset="-122"/>
                <a:cs typeface="Poppins" pitchFamily="34" charset="-120"/>
              </a:rPr>
              <a:t>IMAGE PLACEHOLDER</a:t>
            </a:r>
            <a:endParaRPr lang="en-US" sz="1100" dirty="0"/>
          </a:p>
        </p:txBody>
      </p:sp>
      <p:sp>
        <p:nvSpPr>
          <p:cNvPr id="9" name="Text 6"/>
          <p:cNvSpPr txBox="1"/>
          <p:nvPr/>
        </p:nvSpPr>
        <p:spPr>
          <a:xfrm>
            <a:off x="8321040" y="3246120"/>
            <a:ext cx="2926080" cy="548640"/>
          </a:xfrm>
          <a:prstGeom prst="rect">
            <a:avLst/>
          </a:prstGeom>
          <a:noFill/>
          <a:ln/>
        </p:spPr>
        <p:txBody>
          <a:bodyPr wrap="square" lIns="0" tIns="0" rIns="0" bIns="0" rtlCol="0" anchor="ctr"/>
          <a:lstStyle/>
          <a:p>
            <a:pPr algn="ctr" indent="0" marL="0">
              <a:lnSpc>
                <a:spcPct val="120000"/>
              </a:lnSpc>
              <a:buNone/>
            </a:pPr>
            <a:r>
              <a:rPr lang="en-US" sz="950" i="1" dirty="0">
                <a:solidFill>
                  <a:srgbClr val="64748B"/>
                </a:solidFill>
                <a:latin typeface="Poppins" pitchFamily="34" charset="0"/>
                <a:ea typeface="Poppins" pitchFamily="34" charset="-122"/>
                <a:cs typeface="Poppins" pitchFamily="34" charset="-120"/>
              </a:rPr>
              <a:t>Replace with a Publica-approved</a:t>
            </a:r>
            <a:endParaRPr lang="en-US" sz="950" dirty="0"/>
          </a:p>
          <a:p>
            <a:pPr algn="ctr" indent="0" marL="0">
              <a:lnSpc>
                <a:spcPct val="120000"/>
              </a:lnSpc>
              <a:buNone/>
            </a:pPr>
            <a:r>
              <a:rPr lang="en-US" sz="950" i="1" dirty="0">
                <a:solidFill>
                  <a:srgbClr val="64748B"/>
                </a:solidFill>
                <a:latin typeface="Poppins" pitchFamily="34" charset="0"/>
                <a:ea typeface="Poppins" pitchFamily="34" charset="-122"/>
                <a:cs typeface="Poppins" pitchFamily="34" charset="-120"/>
              </a:rPr>
              <a:t>illustration or photograph</a:t>
            </a:r>
            <a:endParaRPr lang="en-US" sz="950" dirty="0"/>
          </a:p>
        </p:txBody>
      </p:sp>
      <p:sp>
        <p:nvSpPr>
          <p:cNvPr id="10" name="Shape 7"/>
          <p:cNvSpPr/>
          <p:nvPr/>
        </p:nvSpPr>
        <p:spPr>
          <a:xfrm>
            <a:off x="685800" y="5806440"/>
            <a:ext cx="10817352" cy="0"/>
          </a:xfrm>
          <a:prstGeom prst="line">
            <a:avLst/>
          </a:prstGeom>
          <a:noFill/>
          <a:ln w="12700">
            <a:solidFill>
              <a:srgbClr val="E2E8F0"/>
            </a:solidFill>
            <a:prstDash val="solid"/>
          </a:ln>
        </p:spPr>
      </p:sp>
      <p:pic>
        <p:nvPicPr>
          <p:cNvPr id="11" name="Image 1" descr="/home/claude/assets/icon_stack.png">    </p:cNvPr>
          <p:cNvPicPr>
            <a:picLocks noChangeAspect="1"/>
          </p:cNvPicPr>
          <p:nvPr/>
        </p:nvPicPr>
        <p:blipFill>
          <a:blip r:embed="rId3"/>
          <a:stretch>
            <a:fillRect/>
          </a:stretch>
        </p:blipFill>
        <p:spPr>
          <a:xfrm>
            <a:off x="685800" y="5989320"/>
            <a:ext cx="201168" cy="182880"/>
          </a:xfrm>
          <a:prstGeom prst="rect">
            <a:avLst/>
          </a:prstGeom>
        </p:spPr>
      </p:pic>
      <p:sp>
        <p:nvSpPr>
          <p:cNvPr id="12" name="Text 8"/>
          <p:cNvSpPr txBox="1"/>
          <p:nvPr/>
        </p:nvSpPr>
        <p:spPr>
          <a:xfrm>
            <a:off x="960120" y="5943600"/>
            <a:ext cx="2743200" cy="274320"/>
          </a:xfrm>
          <a:prstGeom prst="rect">
            <a:avLst/>
          </a:prstGeom>
          <a:noFill/>
          <a:ln/>
        </p:spPr>
        <p:txBody>
          <a:bodyPr wrap="square" lIns="0" tIns="0" rIns="0" bIns="0" rtlCol="0" anchor="ctr"/>
          <a:lstStyle/>
          <a:p>
            <a:pPr indent="0" marL="0">
              <a:buNone/>
            </a:pPr>
            <a:r>
              <a:rPr lang="en-US" sz="1400" dirty="0">
                <a:solidFill>
                  <a:srgbClr val="64748B"/>
                </a:solidFill>
                <a:latin typeface="Inter" pitchFamily="34" charset="0"/>
                <a:ea typeface="Inter" pitchFamily="34" charset="-122"/>
                <a:cs typeface="Inter" pitchFamily="34" charset="-120"/>
              </a:rPr>
              <a:t>Topic 8.2</a:t>
            </a:r>
            <a:endParaRPr lang="en-US" sz="1400" dirty="0"/>
          </a:p>
        </p:txBody>
      </p:sp>
      <p:sp>
        <p:nvSpPr>
          <p:cNvPr id="13" name="Text 9"/>
          <p:cNvSpPr txBox="1"/>
          <p:nvPr/>
        </p:nvSpPr>
        <p:spPr>
          <a:xfrm>
            <a:off x="685800" y="6446520"/>
            <a:ext cx="3657600" cy="274320"/>
          </a:xfrm>
          <a:prstGeom prst="rect">
            <a:avLst/>
          </a:prstGeom>
          <a:noFill/>
          <a:ln/>
        </p:spPr>
        <p:txBody>
          <a:bodyPr wrap="square" lIns="0" tIns="0" rIns="0" bIns="0" rtlCol="0" anchor="ctr"/>
          <a:lstStyle/>
          <a:p>
            <a:pPr indent="0" marL="0">
              <a:buNone/>
            </a:pPr>
            <a:r>
              <a:rPr lang="en-US" sz="1000" b="1" spc="100" kern="0" dirty="0">
                <a:solidFill>
                  <a:srgbClr val="387F7F"/>
                </a:solidFill>
                <a:latin typeface="Poppins" pitchFamily="34" charset="0"/>
                <a:ea typeface="Poppins" pitchFamily="34" charset="-122"/>
                <a:cs typeface="Poppins" pitchFamily="34" charset="-120"/>
              </a:rPr>
              <a:t>PUBLICA ACADEMY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Text 2"/>
          <p:cNvSpPr txBox="1"/>
          <p:nvPr/>
        </p:nvSpPr>
        <p:spPr>
          <a:xfrm>
            <a:off x="868680" y="292608"/>
            <a:ext cx="7772400" cy="274320"/>
          </a:xfrm>
          <a:prstGeom prst="rect">
            <a:avLst/>
          </a:prstGeom>
          <a:noFill/>
          <a:ln/>
        </p:spPr>
        <p:txBody>
          <a:bodyPr wrap="square" lIns="0" tIns="0" rIns="0" bIns="0" rtlCol="0" anchor="ctr"/>
          <a:lstStyle/>
          <a:p>
            <a:pPr indent="0" marL="0">
              <a:buNone/>
            </a:pPr>
            <a:r>
              <a:rPr lang="en-US" sz="1150" b="1" spc="200" kern="0" dirty="0">
                <a:solidFill>
                  <a:srgbClr val="64748B"/>
                </a:solidFill>
                <a:latin typeface="Poppins" pitchFamily="34" charset="0"/>
                <a:ea typeface="Poppins" pitchFamily="34" charset="-122"/>
                <a:cs typeface="Poppins" pitchFamily="34" charset="-120"/>
              </a:rPr>
              <a:t>RETRIEVAL PRACTICE</a:t>
            </a:r>
            <a:endParaRPr lang="en-US" sz="1150" dirty="0"/>
          </a:p>
        </p:txBody>
      </p:sp>
      <p:sp>
        <p:nvSpPr>
          <p:cNvPr id="5" name="Shape 3"/>
          <p:cNvSpPr/>
          <p:nvPr/>
        </p:nvSpPr>
        <p:spPr>
          <a:xfrm>
            <a:off x="685800" y="612648"/>
            <a:ext cx="54864" cy="411480"/>
          </a:xfrm>
          <a:prstGeom prst="rect">
            <a:avLst/>
          </a:prstGeom>
          <a:solidFill>
            <a:srgbClr val="387F7F"/>
          </a:solidFill>
          <a:ln/>
        </p:spPr>
      </p:sp>
      <p:sp>
        <p:nvSpPr>
          <p:cNvPr id="6" name="Text 4"/>
          <p:cNvSpPr txBox="1"/>
          <p:nvPr/>
        </p:nvSpPr>
        <p:spPr>
          <a:xfrm>
            <a:off x="868680" y="566928"/>
            <a:ext cx="900684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Before we go further, name these</a:t>
            </a:r>
            <a:endParaRPr lang="en-US" sz="3300" dirty="0"/>
          </a:p>
        </p:txBody>
      </p:sp>
      <p:sp>
        <p:nvSpPr>
          <p:cNvPr id="7" name="Shape 5"/>
          <p:cNvSpPr/>
          <p:nvPr/>
        </p:nvSpPr>
        <p:spPr>
          <a:xfrm>
            <a:off x="10058400" y="457200"/>
            <a:ext cx="1234440" cy="457200"/>
          </a:xfrm>
          <a:prstGeom prst="roundRect">
            <a:avLst>
              <a:gd name="adj" fmla="val 50000"/>
            </a:avLst>
          </a:prstGeom>
          <a:solidFill>
            <a:srgbClr val="387F7F"/>
          </a:solidFill>
          <a:ln/>
        </p:spPr>
      </p:sp>
      <p:sp>
        <p:nvSpPr>
          <p:cNvPr id="8" name="Text 6"/>
          <p:cNvSpPr txBox="1"/>
          <p:nvPr/>
        </p:nvSpPr>
        <p:spPr>
          <a:xfrm>
            <a:off x="10058400" y="457200"/>
            <a:ext cx="1234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90 SEC</a:t>
            </a:r>
            <a:endParaRPr lang="en-US" sz="1300" dirty="0"/>
          </a:p>
        </p:txBody>
      </p:sp>
      <p:sp>
        <p:nvSpPr>
          <p:cNvPr id="9" name="Text 7"/>
          <p:cNvSpPr txBox="1"/>
          <p:nvPr/>
        </p:nvSpPr>
        <p:spPr>
          <a:xfrm>
            <a:off x="868680" y="1207008"/>
            <a:ext cx="9601200" cy="365760"/>
          </a:xfrm>
          <a:prstGeom prst="rect">
            <a:avLst/>
          </a:prstGeom>
          <a:noFill/>
          <a:ln/>
        </p:spPr>
        <p:txBody>
          <a:bodyPr wrap="square" lIns="0" tIns="0" rIns="0" bIns="0" rtlCol="0" anchor="ctr"/>
          <a:lstStyle/>
          <a:p>
            <a:pPr indent="0" marL="0">
              <a:buNone/>
            </a:pPr>
            <a:r>
              <a:rPr lang="en-US" sz="1500" i="1" dirty="0">
                <a:solidFill>
                  <a:srgbClr val="64748B"/>
                </a:solidFill>
                <a:latin typeface="Poppins" pitchFamily="34" charset="0"/>
                <a:ea typeface="Poppins" pitchFamily="34" charset="-122"/>
                <a:cs typeface="Poppins" pitchFamily="34" charset="-120"/>
              </a:rPr>
              <a:t>Answer out loud or on paper - no notes. 90 seconds.</a:t>
            </a:r>
            <a:endParaRPr lang="en-US" sz="1500" dirty="0"/>
          </a:p>
        </p:txBody>
      </p:sp>
      <p:sp>
        <p:nvSpPr>
          <p:cNvPr id="10" name="Shape 8"/>
          <p:cNvSpPr/>
          <p:nvPr/>
        </p:nvSpPr>
        <p:spPr>
          <a:xfrm>
            <a:off x="685800" y="187452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960120" y="2103120"/>
            <a:ext cx="457200" cy="457200"/>
          </a:xfrm>
          <a:prstGeom prst="ellipse">
            <a:avLst/>
          </a:prstGeom>
          <a:solidFill>
            <a:srgbClr val="387F7F"/>
          </a:solidFill>
          <a:ln/>
        </p:spPr>
      </p:sp>
      <p:sp>
        <p:nvSpPr>
          <p:cNvPr id="12" name="Text 10"/>
          <p:cNvSpPr txBox="1"/>
          <p:nvPr/>
        </p:nvSpPr>
        <p:spPr>
          <a:xfrm>
            <a:off x="960120" y="210312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1</a:t>
            </a:r>
            <a:endParaRPr lang="en-US" sz="1900" dirty="0"/>
          </a:p>
        </p:txBody>
      </p:sp>
      <p:sp>
        <p:nvSpPr>
          <p:cNvPr id="13" name="Text 11"/>
          <p:cNvSpPr txBox="1"/>
          <p:nvPr/>
        </p:nvSpPr>
        <p:spPr>
          <a:xfrm>
            <a:off x="1645920" y="187452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What does "predict-then-run" mean, and which stage of Topic 8.1's pipeline did we apply it to?</a:t>
            </a:r>
            <a:endParaRPr lang="en-US" sz="1700" dirty="0"/>
          </a:p>
        </p:txBody>
      </p:sp>
      <p:sp>
        <p:nvSpPr>
          <p:cNvPr id="14" name="Shape 12"/>
          <p:cNvSpPr/>
          <p:nvPr/>
        </p:nvSpPr>
        <p:spPr>
          <a:xfrm>
            <a:off x="685800" y="292608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5" name="Shape 13"/>
          <p:cNvSpPr/>
          <p:nvPr/>
        </p:nvSpPr>
        <p:spPr>
          <a:xfrm>
            <a:off x="960120" y="3154680"/>
            <a:ext cx="457200" cy="457200"/>
          </a:xfrm>
          <a:prstGeom prst="ellipse">
            <a:avLst/>
          </a:prstGeom>
          <a:solidFill>
            <a:srgbClr val="387F7F"/>
          </a:solidFill>
          <a:ln/>
        </p:spPr>
      </p:sp>
      <p:sp>
        <p:nvSpPr>
          <p:cNvPr id="16" name="Text 14"/>
          <p:cNvSpPr txBox="1"/>
          <p:nvPr/>
        </p:nvSpPr>
        <p:spPr>
          <a:xfrm>
            <a:off x="960120" y="31546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2</a:t>
            </a:r>
            <a:endParaRPr lang="en-US" sz="1900" dirty="0"/>
          </a:p>
        </p:txBody>
      </p:sp>
      <p:sp>
        <p:nvSpPr>
          <p:cNvPr id="17" name="Text 15"/>
          <p:cNvSpPr txBox="1"/>
          <p:nvPr/>
        </p:nvSpPr>
        <p:spPr>
          <a:xfrm>
            <a:off x="1645920" y="292608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Name one of the five questions on the verification checklist from Topic 8.1.</a:t>
            </a:r>
            <a:endParaRPr lang="en-US" sz="1700" dirty="0"/>
          </a:p>
        </p:txBody>
      </p:sp>
      <p:sp>
        <p:nvSpPr>
          <p:cNvPr id="18" name="Shape 16"/>
          <p:cNvSpPr/>
          <p:nvPr/>
        </p:nvSpPr>
        <p:spPr>
          <a:xfrm>
            <a:off x="685800" y="397764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9" name="Shape 17"/>
          <p:cNvSpPr/>
          <p:nvPr/>
        </p:nvSpPr>
        <p:spPr>
          <a:xfrm>
            <a:off x="960120" y="4206240"/>
            <a:ext cx="457200" cy="457200"/>
          </a:xfrm>
          <a:prstGeom prst="ellipse">
            <a:avLst/>
          </a:prstGeom>
          <a:solidFill>
            <a:srgbClr val="387F7F"/>
          </a:solidFill>
          <a:ln/>
        </p:spPr>
      </p:sp>
      <p:sp>
        <p:nvSpPr>
          <p:cNvPr id="20" name="Text 18"/>
          <p:cNvSpPr txBox="1"/>
          <p:nvPr/>
        </p:nvSpPr>
        <p:spPr>
          <a:xfrm>
            <a:off x="960120" y="420624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3</a:t>
            </a:r>
            <a:endParaRPr lang="en-US" sz="1900" dirty="0"/>
          </a:p>
        </p:txBody>
      </p:sp>
      <p:sp>
        <p:nvSpPr>
          <p:cNvPr id="21" name="Text 19"/>
          <p:cNvSpPr txBox="1"/>
          <p:nvPr/>
        </p:nvSpPr>
        <p:spPr>
          <a:xfrm>
            <a:off x="1645920" y="397764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SwiftRoute's Q3 deliveries rose from July to August to September. Is that alone enough to promise October will keep rising? Why or why not?</a:t>
            </a:r>
            <a:endParaRPr lang="en-US" sz="1700" dirty="0"/>
          </a:p>
        </p:txBody>
      </p:sp>
      <p:pic>
        <p:nvPicPr>
          <p:cNvPr id="22"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3" name="Text 20"/>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63840" y="0"/>
            <a:ext cx="4325112" cy="6858000"/>
          </a:xfrm>
          <a:prstGeom prst="rect">
            <a:avLst/>
          </a:prstGeom>
          <a:solidFill>
            <a:srgbClr val="20494A"/>
          </a:solidFill>
          <a:ln/>
        </p:spPr>
      </p:sp>
      <p:sp>
        <p:nvSpPr>
          <p:cNvPr id="3" name="Shape 1"/>
          <p:cNvSpPr/>
          <p:nvPr/>
        </p:nvSpPr>
        <p:spPr>
          <a:xfrm>
            <a:off x="9784080" y="-1280160"/>
            <a:ext cx="4572000" cy="4572000"/>
          </a:xfrm>
          <a:prstGeom prst="ellipse">
            <a:avLst/>
          </a:prstGeom>
          <a:solidFill>
            <a:srgbClr val="2E5E5E"/>
          </a:solidFill>
          <a:ln/>
        </p:spPr>
      </p:sp>
      <p:sp>
        <p:nvSpPr>
          <p:cNvPr id="4" name="Text 2"/>
          <p:cNvSpPr txBox="1"/>
          <p:nvPr/>
        </p:nvSpPr>
        <p:spPr>
          <a:xfrm>
            <a:off x="7863840" y="1965960"/>
            <a:ext cx="4206240" cy="1554480"/>
          </a:xfrm>
          <a:prstGeom prst="rect">
            <a:avLst/>
          </a:prstGeom>
          <a:noFill/>
          <a:ln/>
        </p:spPr>
        <p:txBody>
          <a:bodyPr wrap="square" lIns="0" tIns="0" rIns="0" bIns="0" rtlCol="0" anchor="ctr"/>
          <a:lstStyle/>
          <a:p>
            <a:pPr algn="ctr" indent="0" marL="0">
              <a:lnSpc>
                <a:spcPct val="100000"/>
              </a:lnSpc>
              <a:buNone/>
            </a:pPr>
            <a:r>
              <a:rPr lang="en-US" sz="4600" b="1" dirty="0">
                <a:solidFill>
                  <a:srgbClr val="FFFFFF"/>
                </a:solidFill>
                <a:latin typeface="Poppins" pitchFamily="34" charset="0"/>
                <a:ea typeface="Poppins" pitchFamily="34" charset="-122"/>
                <a:cs typeface="Poppins" pitchFamily="34" charset="-120"/>
              </a:rPr>
              <a:t>Every</a:t>
            </a:r>
            <a:endParaRPr lang="en-US" sz="4600" dirty="0"/>
          </a:p>
          <a:p>
            <a:pPr algn="ctr" indent="0" marL="0">
              <a:lnSpc>
                <a:spcPct val="100000"/>
              </a:lnSpc>
              <a:buNone/>
            </a:pPr>
            <a:r>
              <a:rPr lang="en-US" sz="4600" b="1" dirty="0">
                <a:solidFill>
                  <a:srgbClr val="FFFFFF"/>
                </a:solidFill>
                <a:latin typeface="Poppins" pitchFamily="34" charset="0"/>
                <a:ea typeface="Poppins" pitchFamily="34" charset="-122"/>
                <a:cs typeface="Poppins" pitchFamily="34" charset="-120"/>
              </a:rPr>
              <a:t>morning</a:t>
            </a:r>
            <a:endParaRPr lang="en-US" sz="4600" dirty="0"/>
          </a:p>
        </p:txBody>
      </p:sp>
      <p:sp>
        <p:nvSpPr>
          <p:cNvPr id="5" name="Text 3"/>
          <p:cNvSpPr txBox="1"/>
          <p:nvPr/>
        </p:nvSpPr>
        <p:spPr>
          <a:xfrm>
            <a:off x="7863840" y="3611880"/>
            <a:ext cx="4206240" cy="914400"/>
          </a:xfrm>
          <a:prstGeom prst="rect">
            <a:avLst/>
          </a:prstGeom>
          <a:noFill/>
          <a:ln/>
        </p:spPr>
        <p:txBody>
          <a:bodyPr wrap="square" lIns="0" tIns="0" rIns="0" bIns="0" rtlCol="0" anchor="ctr"/>
          <a:lstStyle/>
          <a:p>
            <a:pPr algn="ctr" indent="0" marL="0">
              <a:lnSpc>
                <a:spcPct val="130000"/>
              </a:lnSpc>
              <a:buNone/>
            </a:pPr>
            <a:r>
              <a:rPr lang="en-US" sz="1700" dirty="0">
                <a:solidFill>
                  <a:srgbClr val="B9D3D3"/>
                </a:solidFill>
                <a:latin typeface="Poppins" pitchFamily="34" charset="0"/>
                <a:ea typeface="Poppins" pitchFamily="34" charset="-122"/>
                <a:cs typeface="Poppins" pitchFamily="34" charset="-120"/>
              </a:rPr>
              <a:t>before the riders leave,</a:t>
            </a:r>
            <a:endParaRPr lang="en-US" sz="1700" dirty="0"/>
          </a:p>
          <a:p>
            <a:pPr algn="ctr" indent="0" marL="0">
              <a:lnSpc>
                <a:spcPct val="130000"/>
              </a:lnSpc>
              <a:buNone/>
            </a:pPr>
            <a:r>
              <a:rPr lang="en-US" sz="1700" dirty="0">
                <a:solidFill>
                  <a:srgbClr val="B9D3D3"/>
                </a:solidFill>
                <a:latin typeface="Poppins" pitchFamily="34" charset="0"/>
                <a:ea typeface="Poppins" pitchFamily="34" charset="-122"/>
                <a:cs typeface="Poppins" pitchFamily="34" charset="-120"/>
              </a:rPr>
              <a:t>she opens one screen</a:t>
            </a:r>
            <a:endParaRPr lang="en-US" sz="1700" dirty="0"/>
          </a:p>
        </p:txBody>
      </p:sp>
      <p:sp>
        <p:nvSpPr>
          <p:cNvPr id="6" name="Shape 4"/>
          <p:cNvSpPr/>
          <p:nvPr/>
        </p:nvSpPr>
        <p:spPr>
          <a:xfrm>
            <a:off x="685800" y="548640"/>
            <a:ext cx="54864" cy="411480"/>
          </a:xfrm>
          <a:prstGeom prst="rect">
            <a:avLst/>
          </a:prstGeom>
          <a:solidFill>
            <a:srgbClr val="387F7F"/>
          </a:solidFill>
          <a:ln/>
        </p:spPr>
      </p:sp>
      <p:sp>
        <p:nvSpPr>
          <p:cNvPr id="7" name="Text 5"/>
          <p:cNvSpPr txBox="1"/>
          <p:nvPr/>
        </p:nvSpPr>
        <p:spPr>
          <a:xfrm>
            <a:off x="868680" y="502920"/>
            <a:ext cx="67665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Adaeze needs a number for Monday</a:t>
            </a:r>
            <a:endParaRPr lang="en-US" sz="3300" dirty="0"/>
          </a:p>
        </p:txBody>
      </p:sp>
      <p:sp>
        <p:nvSpPr>
          <p:cNvPr id="8" name="Text 6"/>
          <p:cNvSpPr txBox="1"/>
          <p:nvPr/>
        </p:nvSpPr>
        <p:spPr>
          <a:xfrm>
            <a:off x="713232" y="1417320"/>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SwiftRoute's finance lead has asked Adaeze for a Q4 delivery and revenue estimate, needed to plan rider hiring and fuel budget before October begins.</a:t>
            </a:r>
            <a:endParaRPr lang="en-US" sz="1700" dirty="0"/>
          </a:p>
        </p:txBody>
      </p:sp>
      <p:sp>
        <p:nvSpPr>
          <p:cNvPr id="9" name="Text 7"/>
          <p:cNvSpPr txBox="1"/>
          <p:nvPr/>
        </p:nvSpPr>
        <p:spPr>
          <a:xfrm>
            <a:off x="713232" y="2459736"/>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Adaeze has exactly one thing to work from: three months of Q3 data, now cleaned and verified in Topic 8.1. No Q4 history exists yet. No forecasting software is set up.</a:t>
            </a:r>
            <a:endParaRPr lang="en-US" sz="1700" dirty="0"/>
          </a:p>
        </p:txBody>
      </p:sp>
      <p:sp>
        <p:nvSpPr>
          <p:cNvPr id="10" name="Text 8"/>
          <p:cNvSpPr txBox="1"/>
          <p:nvPr/>
        </p:nvSpPr>
        <p:spPr>
          <a:xfrm>
            <a:off x="713232" y="3502152"/>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She could ask an AI tool for a number and paste it into the budget. The risk is that a fluent, confident-sounding forecast is not the same thing as a defensible one.</a:t>
            </a:r>
            <a:endParaRPr lang="en-US" sz="1700" dirty="0"/>
          </a:p>
        </p:txBody>
      </p:sp>
      <p:sp>
        <p:nvSpPr>
          <p:cNvPr id="11" name="Shape 9"/>
          <p:cNvSpPr/>
          <p:nvPr/>
        </p:nvSpPr>
        <p:spPr>
          <a:xfrm>
            <a:off x="713232" y="5806440"/>
            <a:ext cx="6766560" cy="0"/>
          </a:xfrm>
          <a:prstGeom prst="line">
            <a:avLst/>
          </a:prstGeom>
          <a:noFill/>
          <a:ln w="12700">
            <a:solidFill>
              <a:srgbClr val="E2E8F0"/>
            </a:solidFill>
            <a:prstDash val="solid"/>
          </a:ln>
        </p:spPr>
      </p:sp>
      <p:sp>
        <p:nvSpPr>
          <p:cNvPr id="12" name="Text 10"/>
          <p:cNvSpPr txBox="1"/>
          <p:nvPr/>
        </p:nvSpPr>
        <p:spPr>
          <a:xfrm>
            <a:off x="713232" y="5943600"/>
            <a:ext cx="6766560" cy="502920"/>
          </a:xfrm>
          <a:prstGeom prst="rect">
            <a:avLst/>
          </a:prstGeom>
          <a:noFill/>
          <a:ln/>
        </p:spPr>
        <p:txBody>
          <a:bodyPr wrap="square" lIns="0" tIns="0" rIns="0" bIns="0" rtlCol="0" anchor="ctr"/>
          <a:lstStyle/>
          <a:p>
            <a:pPr indent="0" marL="0">
              <a:lnSpc>
                <a:spcPct val="115000"/>
              </a:lnSpc>
              <a:buNone/>
            </a:pPr>
            <a:r>
              <a:rPr lang="en-US" sz="1300" i="1" dirty="0">
                <a:solidFill>
                  <a:srgbClr val="64748B"/>
                </a:solidFill>
                <a:latin typeface="Poppins" pitchFamily="34" charset="0"/>
                <a:ea typeface="Poppins" pitchFamily="34" charset="-122"/>
                <a:cs typeface="Poppins" pitchFamily="34" charset="-120"/>
              </a:rPr>
              <a:t>Three months of history. One budget decision. How much of that forecast can Adaeze actually stand behind?</a:t>
            </a:r>
            <a:endParaRPr lang="en-US" sz="1300" dirty="0"/>
          </a:p>
        </p:txBody>
      </p:sp>
      <p:pic>
        <p:nvPicPr>
          <p:cNvPr id="13"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4" name="Text 11"/>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By the end of Topic 8.2, you can</a:t>
            </a:r>
            <a:endParaRPr lang="en-US" sz="3300" dirty="0"/>
          </a:p>
        </p:txBody>
      </p:sp>
      <p:sp>
        <p:nvSpPr>
          <p:cNvPr id="6" name="Shape 4"/>
          <p:cNvSpPr/>
          <p:nvPr/>
        </p:nvSpPr>
        <p:spPr>
          <a:xfrm>
            <a:off x="68580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600200"/>
            <a:ext cx="2366010" cy="1051560"/>
          </a:xfrm>
          <a:prstGeom prst="roundRect">
            <a:avLst>
              <a:gd name="adj" fmla="val 7826"/>
            </a:avLst>
          </a:prstGeom>
          <a:solidFill>
            <a:srgbClr val="387F7F"/>
          </a:solidFill>
          <a:ln/>
        </p:spPr>
      </p:sp>
      <p:sp>
        <p:nvSpPr>
          <p:cNvPr id="8" name="Shape 6"/>
          <p:cNvSpPr/>
          <p:nvPr/>
        </p:nvSpPr>
        <p:spPr>
          <a:xfrm>
            <a:off x="685800" y="2057400"/>
            <a:ext cx="2366010" cy="594360"/>
          </a:xfrm>
          <a:prstGeom prst="rect">
            <a:avLst/>
          </a:prstGeom>
          <a:solidFill>
            <a:srgbClr val="387F7F"/>
          </a:solidFill>
          <a:ln/>
        </p:spPr>
      </p:sp>
      <p:sp>
        <p:nvSpPr>
          <p:cNvPr id="9" name="Text 7"/>
          <p:cNvSpPr txBox="1"/>
          <p:nvPr/>
        </p:nvSpPr>
        <p:spPr>
          <a:xfrm>
            <a:off x="209169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1</a:t>
            </a:r>
            <a:endParaRPr lang="en-US" sz="5800" dirty="0"/>
          </a:p>
        </p:txBody>
      </p:sp>
      <p:sp>
        <p:nvSpPr>
          <p:cNvPr id="10" name="Text 8"/>
          <p:cNvSpPr txBox="1"/>
          <p:nvPr/>
        </p:nvSpPr>
        <p:spPr>
          <a:xfrm>
            <a:off x="94183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Build</a:t>
            </a:r>
            <a:endParaRPr lang="en-US" sz="2100" dirty="0"/>
          </a:p>
        </p:txBody>
      </p:sp>
      <p:sp>
        <p:nvSpPr>
          <p:cNvPr id="11" name="Text 9"/>
          <p:cNvSpPr txBox="1"/>
          <p:nvPr/>
        </p:nvSpPr>
        <p:spPr>
          <a:xfrm>
            <a:off x="94183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a simple trend-based forecast by hand from a short run of historical figures, understanding exactly what it assumes.</a:t>
            </a:r>
            <a:endParaRPr lang="en-US" sz="1450" dirty="0"/>
          </a:p>
        </p:txBody>
      </p:sp>
      <p:sp>
        <p:nvSpPr>
          <p:cNvPr id="12" name="Shape 10"/>
          <p:cNvSpPr/>
          <p:nvPr/>
        </p:nvSpPr>
        <p:spPr>
          <a:xfrm>
            <a:off x="337185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13" name="Shape 11"/>
          <p:cNvSpPr/>
          <p:nvPr/>
        </p:nvSpPr>
        <p:spPr>
          <a:xfrm>
            <a:off x="3371850" y="1600200"/>
            <a:ext cx="2366010" cy="1051560"/>
          </a:xfrm>
          <a:prstGeom prst="roundRect">
            <a:avLst>
              <a:gd name="adj" fmla="val 7826"/>
            </a:avLst>
          </a:prstGeom>
          <a:solidFill>
            <a:srgbClr val="387F7F"/>
          </a:solidFill>
          <a:ln/>
        </p:spPr>
      </p:sp>
      <p:sp>
        <p:nvSpPr>
          <p:cNvPr id="14" name="Shape 12"/>
          <p:cNvSpPr/>
          <p:nvPr/>
        </p:nvSpPr>
        <p:spPr>
          <a:xfrm>
            <a:off x="3371850" y="2057400"/>
            <a:ext cx="2366010" cy="594360"/>
          </a:xfrm>
          <a:prstGeom prst="rect">
            <a:avLst/>
          </a:prstGeom>
          <a:solidFill>
            <a:srgbClr val="387F7F"/>
          </a:solidFill>
          <a:ln/>
        </p:spPr>
      </p:sp>
      <p:sp>
        <p:nvSpPr>
          <p:cNvPr id="15" name="Text 13"/>
          <p:cNvSpPr txBox="1"/>
          <p:nvPr/>
        </p:nvSpPr>
        <p:spPr>
          <a:xfrm>
            <a:off x="477774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2</a:t>
            </a:r>
            <a:endParaRPr lang="en-US" sz="5800" dirty="0"/>
          </a:p>
        </p:txBody>
      </p:sp>
      <p:sp>
        <p:nvSpPr>
          <p:cNvPr id="16" name="Text 14"/>
          <p:cNvSpPr txBox="1"/>
          <p:nvPr/>
        </p:nvSpPr>
        <p:spPr>
          <a:xfrm>
            <a:off x="362788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Extend</a:t>
            </a:r>
            <a:endParaRPr lang="en-US" sz="2100" dirty="0"/>
          </a:p>
        </p:txBody>
      </p:sp>
      <p:sp>
        <p:nvSpPr>
          <p:cNvPr id="17" name="Text 15"/>
          <p:cNvSpPr txBox="1"/>
          <p:nvPr/>
        </p:nvSpPr>
        <p:spPr>
          <a:xfrm>
            <a:off x="362788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that forecast with AI, using predict-then-run so you catch it when the AI's method or numbers diverge from your own.</a:t>
            </a:r>
            <a:endParaRPr lang="en-US" sz="1450" dirty="0"/>
          </a:p>
        </p:txBody>
      </p:sp>
      <p:sp>
        <p:nvSpPr>
          <p:cNvPr id="18" name="Shape 16"/>
          <p:cNvSpPr/>
          <p:nvPr/>
        </p:nvSpPr>
        <p:spPr>
          <a:xfrm>
            <a:off x="605790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19" name="Shape 17"/>
          <p:cNvSpPr/>
          <p:nvPr/>
        </p:nvSpPr>
        <p:spPr>
          <a:xfrm>
            <a:off x="6057900" y="1600200"/>
            <a:ext cx="2366010" cy="1051560"/>
          </a:xfrm>
          <a:prstGeom prst="roundRect">
            <a:avLst>
              <a:gd name="adj" fmla="val 7826"/>
            </a:avLst>
          </a:prstGeom>
          <a:solidFill>
            <a:srgbClr val="387F7F"/>
          </a:solidFill>
          <a:ln/>
        </p:spPr>
      </p:sp>
      <p:sp>
        <p:nvSpPr>
          <p:cNvPr id="20" name="Shape 18"/>
          <p:cNvSpPr/>
          <p:nvPr/>
        </p:nvSpPr>
        <p:spPr>
          <a:xfrm>
            <a:off x="6057900" y="2057400"/>
            <a:ext cx="2366010" cy="594360"/>
          </a:xfrm>
          <a:prstGeom prst="rect">
            <a:avLst/>
          </a:prstGeom>
          <a:solidFill>
            <a:srgbClr val="387F7F"/>
          </a:solidFill>
          <a:ln/>
        </p:spPr>
      </p:sp>
      <p:sp>
        <p:nvSpPr>
          <p:cNvPr id="21" name="Text 19"/>
          <p:cNvSpPr txBox="1"/>
          <p:nvPr/>
        </p:nvSpPr>
        <p:spPr>
          <a:xfrm>
            <a:off x="746379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3</a:t>
            </a:r>
            <a:endParaRPr lang="en-US" sz="5800" dirty="0"/>
          </a:p>
        </p:txBody>
      </p:sp>
      <p:sp>
        <p:nvSpPr>
          <p:cNvPr id="22" name="Text 20"/>
          <p:cNvSpPr txBox="1"/>
          <p:nvPr/>
        </p:nvSpPr>
        <p:spPr>
          <a:xfrm>
            <a:off x="631393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Stress-test</a:t>
            </a:r>
            <a:endParaRPr lang="en-US" sz="2100" dirty="0"/>
          </a:p>
        </p:txBody>
      </p:sp>
      <p:sp>
        <p:nvSpPr>
          <p:cNvPr id="23" name="Text 21"/>
          <p:cNvSpPr txBox="1"/>
          <p:nvPr/>
        </p:nvSpPr>
        <p:spPr>
          <a:xfrm>
            <a:off x="631393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a forecast by checking it against a second, independent method, and treating the gap between methods as real information.</a:t>
            </a:r>
            <a:endParaRPr lang="en-US" sz="1450" dirty="0"/>
          </a:p>
        </p:txBody>
      </p:sp>
      <p:sp>
        <p:nvSpPr>
          <p:cNvPr id="24" name="Shape 22"/>
          <p:cNvSpPr/>
          <p:nvPr/>
        </p:nvSpPr>
        <p:spPr>
          <a:xfrm>
            <a:off x="874395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25" name="Shape 23"/>
          <p:cNvSpPr/>
          <p:nvPr/>
        </p:nvSpPr>
        <p:spPr>
          <a:xfrm>
            <a:off x="8743950" y="1600200"/>
            <a:ext cx="2366010" cy="1051560"/>
          </a:xfrm>
          <a:prstGeom prst="roundRect">
            <a:avLst>
              <a:gd name="adj" fmla="val 7826"/>
            </a:avLst>
          </a:prstGeom>
          <a:solidFill>
            <a:srgbClr val="387F7F"/>
          </a:solidFill>
          <a:ln/>
        </p:spPr>
      </p:sp>
      <p:sp>
        <p:nvSpPr>
          <p:cNvPr id="26" name="Shape 24"/>
          <p:cNvSpPr/>
          <p:nvPr/>
        </p:nvSpPr>
        <p:spPr>
          <a:xfrm>
            <a:off x="8743950" y="2057400"/>
            <a:ext cx="2366010" cy="594360"/>
          </a:xfrm>
          <a:prstGeom prst="rect">
            <a:avLst/>
          </a:prstGeom>
          <a:solidFill>
            <a:srgbClr val="387F7F"/>
          </a:solidFill>
          <a:ln/>
        </p:spPr>
      </p:sp>
      <p:sp>
        <p:nvSpPr>
          <p:cNvPr id="27" name="Text 25"/>
          <p:cNvSpPr txBox="1"/>
          <p:nvPr/>
        </p:nvSpPr>
        <p:spPr>
          <a:xfrm>
            <a:off x="1014984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4</a:t>
            </a:r>
            <a:endParaRPr lang="en-US" sz="5800" dirty="0"/>
          </a:p>
        </p:txBody>
      </p:sp>
      <p:sp>
        <p:nvSpPr>
          <p:cNvPr id="28" name="Text 26"/>
          <p:cNvSpPr txBox="1"/>
          <p:nvPr/>
        </p:nvSpPr>
        <p:spPr>
          <a:xfrm>
            <a:off x="899998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Report</a:t>
            </a:r>
            <a:endParaRPr lang="en-US" sz="2100" dirty="0"/>
          </a:p>
        </p:txBody>
      </p:sp>
      <p:sp>
        <p:nvSpPr>
          <p:cNvPr id="29" name="Text 27"/>
          <p:cNvSpPr txBox="1"/>
          <p:nvPr/>
        </p:nvSpPr>
        <p:spPr>
          <a:xfrm>
            <a:off x="899998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uncertainty honestly: a stated range and named assumptions, never a single confident figure dressed up as certainty.</a:t>
            </a:r>
            <a:endParaRPr lang="en-US" sz="1450" dirty="0"/>
          </a:p>
        </p:txBody>
      </p:sp>
      <p:pic>
        <p:nvPicPr>
          <p:cNvPr id="30"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1" name="Text 28"/>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01</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ONE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A trend-based forecast, by hand first</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 a trend-based forecast actually assumes</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Fitting a straight line through three months of SwiftRoute data</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Reading the fit's own errors before trusting its forecast</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2907" dirty="0">
                <a:solidFill>
                  <a:srgbClr val="387F7F"/>
                </a:solidFill>
                <a:latin typeface="Poppins" pitchFamily="34" charset="0"/>
                <a:ea typeface="Poppins" pitchFamily="34" charset="-122"/>
                <a:cs typeface="Poppins" pitchFamily="34" charset="-120"/>
              </a:rPr>
              <a:t>A trend-based forecast is one assumption, made explicit</a:t>
            </a:r>
            <a:endParaRPr lang="en-US" sz="2907"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A trend-based forecast fits a straight line through past values, then extends that same line forward. It is deliberately the simplest possible forecasting method: no seasonality, no external events, no change in the business. The line only ever says one thing: whatever kept happening, keeps happening at the same rate. That assumption is sometimes reasonable and sometimes badly wrong, and the method itself cannot tell you which. You have to bring that judgement yourself, using what you know about the business that the numbers alone cannot show.</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The forecast is not wrong for being simple. It is wrong if you forget how simple it is.</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Fitting the line: SwiftRoute's Q3 deliveries</a:t>
            </a:r>
            <a:endParaRPr lang="en-US" sz="3300" dirty="0"/>
          </a:p>
        </p:txBody>
      </p:sp>
      <p:sp>
        <p:nvSpPr>
          <p:cNvPr id="6" name="Shape 4"/>
          <p:cNvSpPr/>
          <p:nvPr/>
        </p:nvSpPr>
        <p:spPr>
          <a:xfrm>
            <a:off x="685800" y="1508760"/>
            <a:ext cx="2523744" cy="502920"/>
          </a:xfrm>
          <a:prstGeom prst="roundRect">
            <a:avLst>
              <a:gd name="adj" fmla="val 50909"/>
            </a:avLst>
          </a:prstGeom>
          <a:solidFill>
            <a:srgbClr val="387F7F"/>
          </a:solidFill>
          <a:ln/>
        </p:spPr>
      </p:sp>
      <p:sp>
        <p:nvSpPr>
          <p:cNvPr id="7" name="Text 5"/>
          <p:cNvSpPr txBox="1"/>
          <p:nvPr/>
        </p:nvSpPr>
        <p:spPr>
          <a:xfrm>
            <a:off x="685800" y="1508760"/>
            <a:ext cx="252374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1. GATHER MONTHLY TOTALS</a:t>
            </a:r>
            <a:endParaRPr lang="en-US" sz="1200" dirty="0"/>
          </a:p>
        </p:txBody>
      </p:sp>
      <p:sp>
        <p:nvSpPr>
          <p:cNvPr id="8" name="Shape 6"/>
          <p:cNvSpPr/>
          <p:nvPr/>
        </p:nvSpPr>
        <p:spPr>
          <a:xfrm>
            <a:off x="3319272" y="1508760"/>
            <a:ext cx="2523744" cy="502920"/>
          </a:xfrm>
          <a:prstGeom prst="roundRect">
            <a:avLst>
              <a:gd name="adj" fmla="val 50909"/>
            </a:avLst>
          </a:prstGeom>
          <a:solidFill>
            <a:srgbClr val="387F7F"/>
          </a:solidFill>
          <a:ln/>
        </p:spPr>
      </p:sp>
      <p:sp>
        <p:nvSpPr>
          <p:cNvPr id="9" name="Text 7"/>
          <p:cNvSpPr txBox="1"/>
          <p:nvPr/>
        </p:nvSpPr>
        <p:spPr>
          <a:xfrm>
            <a:off x="3319272" y="1508760"/>
            <a:ext cx="252374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2. FIND THE RATE OF CHANGE</a:t>
            </a:r>
            <a:endParaRPr lang="en-US" sz="1200" dirty="0"/>
          </a:p>
        </p:txBody>
      </p:sp>
      <p:sp>
        <p:nvSpPr>
          <p:cNvPr id="10" name="Shape 8"/>
          <p:cNvSpPr/>
          <p:nvPr/>
        </p:nvSpPr>
        <p:spPr>
          <a:xfrm>
            <a:off x="5952744" y="1508760"/>
            <a:ext cx="2523744" cy="502920"/>
          </a:xfrm>
          <a:prstGeom prst="roundRect">
            <a:avLst>
              <a:gd name="adj" fmla="val 50909"/>
            </a:avLst>
          </a:prstGeom>
          <a:solidFill>
            <a:srgbClr val="FFFFFF"/>
          </a:solidFill>
          <a:ln w="12700">
            <a:solidFill>
              <a:srgbClr val="E2E8F0"/>
            </a:solidFill>
            <a:prstDash val="solid"/>
          </a:ln>
        </p:spPr>
      </p:sp>
      <p:sp>
        <p:nvSpPr>
          <p:cNvPr id="11" name="Text 9"/>
          <p:cNvSpPr txBox="1"/>
          <p:nvPr/>
        </p:nvSpPr>
        <p:spPr>
          <a:xfrm>
            <a:off x="5952744" y="1508760"/>
            <a:ext cx="2523744" cy="502920"/>
          </a:xfrm>
          <a:prstGeom prst="rect">
            <a:avLst/>
          </a:prstGeom>
          <a:noFill/>
          <a:ln/>
        </p:spPr>
        <p:txBody>
          <a:bodyPr wrap="square" lIns="0" tIns="0" rIns="0" bIns="0" rtlCol="0" anchor="ctr"/>
          <a:lstStyle/>
          <a:p>
            <a:pPr algn="ctr" indent="0" marL="0">
              <a:buNone/>
            </a:pPr>
            <a:r>
              <a:rPr lang="en-US" sz="1200" dirty="0">
                <a:solidFill>
                  <a:srgbClr val="64748B"/>
                </a:solidFill>
                <a:latin typeface="Poppins" pitchFamily="34" charset="0"/>
                <a:ea typeface="Poppins" pitchFamily="34" charset="-122"/>
                <a:cs typeface="Poppins" pitchFamily="34" charset="-120"/>
              </a:rPr>
              <a:t>3. EXTEND THE LINE</a:t>
            </a:r>
            <a:endParaRPr lang="en-US" sz="1200" dirty="0"/>
          </a:p>
        </p:txBody>
      </p:sp>
      <p:sp>
        <p:nvSpPr>
          <p:cNvPr id="12" name="Shape 10"/>
          <p:cNvSpPr/>
          <p:nvPr/>
        </p:nvSpPr>
        <p:spPr>
          <a:xfrm>
            <a:off x="8586216" y="1508760"/>
            <a:ext cx="2523744" cy="502920"/>
          </a:xfrm>
          <a:prstGeom prst="roundRect">
            <a:avLst>
              <a:gd name="adj" fmla="val 50909"/>
            </a:avLst>
          </a:prstGeom>
          <a:solidFill>
            <a:srgbClr val="FFFFFF"/>
          </a:solidFill>
          <a:ln w="12700">
            <a:solidFill>
              <a:srgbClr val="E2E8F0"/>
            </a:solidFill>
            <a:prstDash val="solid"/>
          </a:ln>
        </p:spPr>
      </p:sp>
      <p:sp>
        <p:nvSpPr>
          <p:cNvPr id="13" name="Text 11"/>
          <p:cNvSpPr txBox="1"/>
          <p:nvPr/>
        </p:nvSpPr>
        <p:spPr>
          <a:xfrm>
            <a:off x="8586216" y="1508760"/>
            <a:ext cx="2523744" cy="502920"/>
          </a:xfrm>
          <a:prstGeom prst="rect">
            <a:avLst/>
          </a:prstGeom>
          <a:noFill/>
          <a:ln/>
        </p:spPr>
        <p:txBody>
          <a:bodyPr wrap="square" lIns="0" tIns="0" rIns="0" bIns="0" rtlCol="0" anchor="ctr"/>
          <a:lstStyle/>
          <a:p>
            <a:pPr algn="ctr" indent="0" marL="0">
              <a:buNone/>
            </a:pPr>
            <a:r>
              <a:rPr lang="en-US" sz="1200" dirty="0">
                <a:solidFill>
                  <a:srgbClr val="64748B"/>
                </a:solidFill>
                <a:latin typeface="Poppins" pitchFamily="34" charset="0"/>
                <a:ea typeface="Poppins" pitchFamily="34" charset="-122"/>
                <a:cs typeface="Poppins" pitchFamily="34" charset="-120"/>
              </a:rPr>
              <a:t>4. CHECK THE FIT</a:t>
            </a:r>
            <a:endParaRPr lang="en-US" sz="1200" dirty="0"/>
          </a:p>
        </p:txBody>
      </p:sp>
      <p:sp>
        <p:nvSpPr>
          <p:cNvPr id="14" name="Shape 12"/>
          <p:cNvSpPr/>
          <p:nvPr/>
        </p:nvSpPr>
        <p:spPr>
          <a:xfrm>
            <a:off x="685800" y="2240280"/>
            <a:ext cx="6126480" cy="3108960"/>
          </a:xfrm>
          <a:prstGeom prst="roundRect">
            <a:avLst>
              <a:gd name="adj" fmla="val 2647"/>
            </a:avLst>
          </a:prstGeom>
          <a:solidFill>
            <a:srgbClr val="FFFFFF"/>
          </a:solidFill>
          <a:ln/>
          <a:effectLst>
            <a:outerShdw sx="100000" sy="100000" kx="0" ky="0" algn="bl" rotWithShape="0" blurRad="127000" dist="38100" dir="5400000">
              <a:srgbClr val="1B2A2E">
                <a:alpha val="12000"/>
              </a:srgbClr>
            </a:outerShdw>
          </a:effectLst>
        </p:spPr>
      </p:sp>
      <p:sp>
        <p:nvSpPr>
          <p:cNvPr id="15" name="Text 13"/>
          <p:cNvSpPr txBox="1"/>
          <p:nvPr/>
        </p:nvSpPr>
        <p:spPr>
          <a:xfrm>
            <a:off x="868680" y="2423160"/>
            <a:ext cx="5760720" cy="283464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July: 1,176 deliveries. August: 1,194 (+18, +1.5%). September: 1,230 (+36, +3.0%). Fitting a straight line through the three points gives a rate of change of about +27 deliveries per month, starting from a baseline of about 1,146. That single number, +27 a month, is the entire trend. Everything the forecast predicts from here is just that line, drawn further to the right.</a:t>
            </a:r>
            <a:endParaRPr lang="en-US" sz="1500" dirty="0"/>
          </a:p>
        </p:txBody>
      </p:sp>
      <p:sp>
        <p:nvSpPr>
          <p:cNvPr id="16" name="Shape 14"/>
          <p:cNvSpPr/>
          <p:nvPr/>
        </p:nvSpPr>
        <p:spPr>
          <a:xfrm>
            <a:off x="6995160" y="2240280"/>
            <a:ext cx="4114800" cy="3108960"/>
          </a:xfrm>
          <a:prstGeom prst="roundRect">
            <a:avLst>
              <a:gd name="adj" fmla="val 2647"/>
            </a:avLst>
          </a:prstGeom>
          <a:solidFill>
            <a:srgbClr val="F4F7F7"/>
          </a:solidFill>
          <a:ln/>
          <a:effectLst>
            <a:outerShdw sx="100000" sy="100000" kx="0" ky="0" algn="bl" rotWithShape="0" blurRad="127000" dist="38100" dir="5400000">
              <a:srgbClr val="1B2A2E">
                <a:alpha val="12000"/>
              </a:srgbClr>
            </a:outerShdw>
          </a:effectLst>
        </p:spPr>
      </p:sp>
      <p:sp>
        <p:nvSpPr>
          <p:cNvPr id="17" name="Shape 15"/>
          <p:cNvSpPr/>
          <p:nvPr/>
        </p:nvSpPr>
        <p:spPr>
          <a:xfrm>
            <a:off x="6995160" y="2240280"/>
            <a:ext cx="82296" cy="3108960"/>
          </a:xfrm>
          <a:prstGeom prst="rect">
            <a:avLst/>
          </a:prstGeom>
          <a:solidFill>
            <a:srgbClr val="387F7F"/>
          </a:solidFill>
          <a:ln/>
        </p:spPr>
      </p:sp>
      <p:sp>
        <p:nvSpPr>
          <p:cNvPr id="18" name="Text 16"/>
          <p:cNvSpPr txBox="1"/>
          <p:nvPr/>
        </p:nvSpPr>
        <p:spPr>
          <a:xfrm>
            <a:off x="7269480" y="2423160"/>
            <a:ext cx="3657600" cy="274320"/>
          </a:xfrm>
          <a:prstGeom prst="rect">
            <a:avLst/>
          </a:prstGeom>
          <a:noFill/>
          <a:ln/>
        </p:spPr>
        <p:txBody>
          <a:bodyPr wrap="square" lIns="0" tIns="0" rIns="0" bIns="0" rtlCol="0" anchor="t"/>
          <a:lstStyle/>
          <a:p>
            <a:pPr algn="l" indent="0" marL="0">
              <a:lnSpc>
                <a:spcPct val="130000"/>
              </a:lnSpc>
              <a:buNone/>
            </a:pPr>
            <a:r>
              <a:rPr lang="en-US" sz="1300" b="1" dirty="0">
                <a:solidFill>
                  <a:srgbClr val="387F7F"/>
                </a:solidFill>
                <a:latin typeface="Poppins" pitchFamily="34" charset="0"/>
                <a:ea typeface="Poppins" pitchFamily="34" charset="-122"/>
                <a:cs typeface="Poppins" pitchFamily="34" charset="-120"/>
              </a:rPr>
              <a:t>WORTH NOTICING</a:t>
            </a:r>
            <a:endParaRPr lang="en-US" sz="1300" dirty="0"/>
          </a:p>
        </p:txBody>
      </p:sp>
      <p:sp>
        <p:nvSpPr>
          <p:cNvPr id="19" name="Text 17"/>
          <p:cNvSpPr txBox="1"/>
          <p:nvPr/>
        </p:nvSpPr>
        <p:spPr>
          <a:xfrm>
            <a:off x="7269480" y="2788920"/>
            <a:ext cx="3657600" cy="237744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Growth was not steady: +18 in the first step, +36 in the second. The straight line smooths that out to a flat +27 a month. Smoothing is exactly what a trend line does -- and exactly what step 4 has to check.</a:t>
            </a:r>
            <a:endParaRPr lang="en-US" sz="1500" dirty="0"/>
          </a:p>
        </p:txBody>
      </p:sp>
      <p:pic>
        <p:nvPicPr>
          <p:cNvPr id="20"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1" name="Text 18"/>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Reading the fit's own errors</a:t>
            </a:r>
            <a:endParaRPr lang="en-US" sz="3300"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Compare the straight line's prediction for each month against what actually happened. For SwiftRoute, the line predicts 1,173, 1,200 and 1,227 for July, August and September; the real figures were 1,176, 1,194 and 1,230, off by 3, 6 and 3 deliveries. Small misses, on only three data points, from a business that is genuinely accelerating rather than growing at a flat rate. That combination, a short history and a real acceleration, is precisely the situation where a flat straight line understates what could keep happening, and where naming the uncertainty matters more than sharpening the point estimate.</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Three data points is barely enough to see a trend, and nowhere near enough to see a season.</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02</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TWO</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Extending and stress-testing with AI</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Predict-then-run, applied to a forecast instead of a query</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 first AI forecast, taken at face value</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The same forecast, stress-tested a second way</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Predict-then-run, applied to a forecast</a:t>
            </a:r>
            <a:endParaRPr lang="en-US" sz="3300"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Before asking an AI tool to extend SwiftRoute's trend, write down your own expectation first: given +27 deliveries a month, Q4 should land somewhere close to 3,800 to 3,900 deliveries, and revenue should rise only slightly, since September's fee mix already ran lower per delivery than July's. Then run the AI prompt and compare. If the AI's answer matches your prediction, that is confirmation, not proof. If it diverges, the divergence is the useful part: it tells you exactly where to look before the number goes anywhere near a budget.</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You are not asking AI to think for you. You are asking it to show you where your own thinking might be wrong.</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One AI answer, taken two different ways</a:t>
            </a:r>
            <a:endParaRPr lang="en-US" sz="3300" dirty="0"/>
          </a:p>
        </p:txBody>
      </p:sp>
      <p:sp>
        <p:nvSpPr>
          <p:cNvPr id="6" name="Shape 4"/>
          <p:cNvSpPr/>
          <p:nvPr/>
        </p:nvSpPr>
        <p:spPr>
          <a:xfrm>
            <a:off x="685800" y="1508760"/>
            <a:ext cx="4800600" cy="3657600"/>
          </a:xfrm>
          <a:prstGeom prst="roundRect">
            <a:avLst>
              <a:gd name="adj" fmla="val 2250"/>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508760"/>
            <a:ext cx="4800600" cy="502920"/>
          </a:xfrm>
          <a:prstGeom prst="rect">
            <a:avLst/>
          </a:prstGeom>
          <a:solidFill>
            <a:srgbClr val="A8322D"/>
          </a:solidFill>
          <a:ln/>
        </p:spPr>
      </p:sp>
      <p:sp>
        <p:nvSpPr>
          <p:cNvPr id="8" name="Text 6"/>
          <p:cNvSpPr txBox="1"/>
          <p:nvPr/>
        </p:nvSpPr>
        <p:spPr>
          <a:xfrm>
            <a:off x="685800" y="1508760"/>
            <a:ext cx="480060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Poppins" pitchFamily="34" charset="0"/>
                <a:ea typeface="Poppins" pitchFamily="34" charset="-122"/>
                <a:cs typeface="Poppins" pitchFamily="34" charset="-120"/>
              </a:rPr>
              <a:t>TAKEN AT FACE VALUE</a:t>
            </a:r>
            <a:endParaRPr lang="en-US" sz="1650" dirty="0"/>
          </a:p>
        </p:txBody>
      </p:sp>
      <p:sp>
        <p:nvSpPr>
          <p:cNvPr id="9" name="Text 7"/>
          <p:cNvSpPr txBox="1"/>
          <p:nvPr/>
        </p:nvSpPr>
        <p:spPr>
          <a:xfrm>
            <a:off x="960120" y="2194560"/>
            <a:ext cx="4251960" cy="274320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"Q4 revenue will be approximately ₦13,019,540."</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Reached by extending the deliveries trend to 3,843 and multiplying by the Q3 average fee of ₦3,388.</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Stated as one number. No range. No mention that the average fee itself moved during Q3.</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Pasted straight into the budget as written.</a:t>
            </a:r>
            <a:endParaRPr lang="en-US" sz="1350" dirty="0"/>
          </a:p>
        </p:txBody>
      </p:sp>
      <p:sp>
        <p:nvSpPr>
          <p:cNvPr id="10" name="Shape 8"/>
          <p:cNvSpPr/>
          <p:nvPr/>
        </p:nvSpPr>
        <p:spPr>
          <a:xfrm>
            <a:off x="5806440" y="1508760"/>
            <a:ext cx="4800600" cy="3657600"/>
          </a:xfrm>
          <a:prstGeom prst="roundRect">
            <a:avLst>
              <a:gd name="adj" fmla="val 2250"/>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5806440" y="1508760"/>
            <a:ext cx="4800600" cy="502920"/>
          </a:xfrm>
          <a:prstGeom prst="rect">
            <a:avLst/>
          </a:prstGeom>
          <a:solidFill>
            <a:srgbClr val="387F7F"/>
          </a:solidFill>
          <a:ln/>
        </p:spPr>
      </p:sp>
      <p:sp>
        <p:nvSpPr>
          <p:cNvPr id="12" name="Text 10"/>
          <p:cNvSpPr txBox="1"/>
          <p:nvPr/>
        </p:nvSpPr>
        <p:spPr>
          <a:xfrm>
            <a:off x="5806440" y="1508760"/>
            <a:ext cx="480060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Poppins" pitchFamily="34" charset="0"/>
                <a:ea typeface="Poppins" pitchFamily="34" charset="-122"/>
                <a:cs typeface="Poppins" pitchFamily="34" charset="-120"/>
              </a:rPr>
              <a:t>STRESS-TESTED A SECOND WAY</a:t>
            </a:r>
            <a:endParaRPr lang="en-US" sz="1650" dirty="0"/>
          </a:p>
        </p:txBody>
      </p:sp>
      <p:sp>
        <p:nvSpPr>
          <p:cNvPr id="13" name="Text 11"/>
          <p:cNvSpPr txBox="1"/>
          <p:nvPr/>
        </p:nvSpPr>
        <p:spPr>
          <a:xfrm>
            <a:off x="6080760" y="2194560"/>
            <a:ext cx="4251960" cy="274320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Revenue trend, fitted directly on monthly revenue: approximately ₦12,418,815 for Q4.</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About ₦600,000 below the deliveries-times-fee estimate: August's revenue fell even as deliveries rose.</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Two methods, roughly ₦12.4m to ₦13.0m. The gap is reported as the range, not smoothed away.</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Handed to Adaeze as a range, with both assumptions stated.</a:t>
            </a:r>
            <a:endParaRPr lang="en-US" sz="1350" dirty="0"/>
          </a:p>
        </p:txBody>
      </p:sp>
      <p:sp>
        <p:nvSpPr>
          <p:cNvPr id="14" name="Text 12"/>
          <p:cNvSpPr txBox="1"/>
          <p:nvPr/>
        </p:nvSpPr>
        <p:spPr>
          <a:xfrm>
            <a:off x="685800" y="5349240"/>
            <a:ext cx="9921240" cy="457200"/>
          </a:xfrm>
          <a:prstGeom prst="rect">
            <a:avLst/>
          </a:prstGeom>
          <a:noFill/>
          <a:ln/>
        </p:spPr>
        <p:txBody>
          <a:bodyPr wrap="square" lIns="0" tIns="0" rIns="0" bIns="0" rtlCol="0" anchor="t"/>
          <a:lstStyle/>
          <a:p>
            <a:pPr algn="l" indent="0" marL="0">
              <a:lnSpc>
                <a:spcPct val="130000"/>
              </a:lnSpc>
              <a:buNone/>
            </a:pPr>
            <a:r>
              <a:rPr lang="en-US" sz="1500" i="1" dirty="0">
                <a:solidFill>
                  <a:srgbClr val="64748B"/>
                </a:solidFill>
                <a:latin typeface="Poppins" pitchFamily="34" charset="0"/>
                <a:ea typeface="Poppins" pitchFamily="34" charset="-122"/>
                <a:cs typeface="Poppins" pitchFamily="34" charset="-120"/>
              </a:rPr>
              <a:t>Same starting data, same AI tool. The difference is whether a second method was ever asked to check the first.</a:t>
            </a:r>
            <a:endParaRPr lang="en-US" sz="1500" dirty="0"/>
          </a:p>
        </p:txBody>
      </p:sp>
      <p:pic>
        <p:nvPicPr>
          <p:cNvPr id="15"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6"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074" dirty="0">
                <a:solidFill>
                  <a:srgbClr val="387F7F"/>
                </a:solidFill>
                <a:latin typeface="Poppins" pitchFamily="34" charset="0"/>
                <a:ea typeface="Poppins" pitchFamily="34" charset="-122"/>
                <a:cs typeface="Poppins" pitchFamily="34" charset="-120"/>
              </a:rPr>
              <a:t>Communicating uncertainty is part of the deliverable</a:t>
            </a:r>
            <a:endParaRPr lang="en-US" sz="3074"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A forecast handed over as a single figure invites a false promise: that the number will be hit exactly, and that missing it is a failure. A forecast handed over as a range, with the assumptions and the sample size stated plainly, invites the right conversation instead: what would have to change for the top or bottom of that range to be the real answer. State the method used, the historical period it was fitted on, and what the method cannot see, such as seasonality that three months of data has no way of showing. That is not hedging. It is the difference between a number and evidence.</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"₦12.4m to ₦13.0m, from three months of trend, no seasonality data" is a more useful sentence than any single figure.</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03</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THREE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The Q4 forecast Adaeze actually takes to finance</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The final range and the two assumptions behind it</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 could break the trend that three months cannot show</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Your turn: forecast one more figure the same way</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2805" dirty="0">
                <a:solidFill>
                  <a:srgbClr val="387F7F"/>
                </a:solidFill>
                <a:latin typeface="Poppins" pitchFamily="34" charset="0"/>
                <a:ea typeface="Poppins" pitchFamily="34" charset="-122"/>
                <a:cs typeface="Poppins" pitchFamily="34" charset="-120"/>
              </a:rPr>
              <a:t>SwiftRoute Q4: the range Adaeze actually takes to finance</a:t>
            </a:r>
            <a:endParaRPr lang="en-US" sz="2805"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 </a:t>
            </a:r>
            <a:endParaRPr lang="en-US" sz="1800" dirty="0"/>
          </a:p>
        </p:txBody>
      </p:sp>
      <p:pic>
        <p:nvPicPr>
          <p:cNvPr id="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9" name="Text 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14</a:t>
            </a:r>
            <a:endParaRPr lang="en-US" sz="1100" dirty="0"/>
          </a:p>
        </p:txBody>
      </p:sp>
      <p:sp>
        <p:nvSpPr>
          <p:cNvPr id="10" name="Shape 7"/>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11" name="Text 8"/>
          <p:cNvSpPr txBox="1"/>
          <p:nvPr/>
        </p:nvSpPr>
        <p:spPr>
          <a:xfrm>
            <a:off x="914400" y="1737360"/>
            <a:ext cx="2849880" cy="274320"/>
          </a:xfrm>
          <a:prstGeom prst="rect">
            <a:avLst/>
          </a:prstGeom>
          <a:noFill/>
          <a:ln/>
        </p:spPr>
        <p:txBody>
          <a:bodyPr wrap="square" lIns="0" tIns="0" rIns="0" bIns="0" rtlCol="0" anchor="t"/>
          <a:lstStyle/>
          <a:p>
            <a:pPr algn="l" indent="0" marL="0">
              <a:lnSpc>
                <a:spcPct val="130000"/>
              </a:lnSpc>
              <a:buNone/>
            </a:pPr>
            <a:r>
              <a:rPr lang="en-US" sz="1200" b="1" dirty="0">
                <a:solidFill>
                  <a:srgbClr val="387F7F"/>
                </a:solidFill>
                <a:latin typeface="Poppins" pitchFamily="34" charset="0"/>
                <a:ea typeface="Poppins" pitchFamily="34" charset="-122"/>
                <a:cs typeface="Poppins" pitchFamily="34" charset="-120"/>
              </a:rPr>
              <a:t>DELIVERIES</a:t>
            </a:r>
            <a:endParaRPr lang="en-US" sz="1200" dirty="0"/>
          </a:p>
        </p:txBody>
      </p:sp>
      <p:sp>
        <p:nvSpPr>
          <p:cNvPr id="12" name="Text 9"/>
          <p:cNvSpPr txBox="1"/>
          <p:nvPr/>
        </p:nvSpPr>
        <p:spPr>
          <a:xfrm>
            <a:off x="914400" y="2057400"/>
            <a:ext cx="2849880" cy="685800"/>
          </a:xfrm>
          <a:prstGeom prst="rect">
            <a:avLst/>
          </a:prstGeom>
          <a:noFill/>
          <a:ln/>
        </p:spPr>
        <p:txBody>
          <a:bodyPr wrap="square" lIns="0" tIns="0" rIns="0" bIns="0" rtlCol="0" anchor="t"/>
          <a:lstStyle/>
          <a:p>
            <a:pPr algn="l" indent="0" marL="0">
              <a:lnSpc>
                <a:spcPct val="130000"/>
              </a:lnSpc>
              <a:buNone/>
            </a:pPr>
            <a:r>
              <a:rPr lang="en-US" sz="3000" b="1" dirty="0">
                <a:solidFill>
                  <a:srgbClr val="0A1A23"/>
                </a:solidFill>
                <a:latin typeface="Poppins" pitchFamily="34" charset="0"/>
                <a:ea typeface="Poppins" pitchFamily="34" charset="-122"/>
                <a:cs typeface="Poppins" pitchFamily="34" charset="-120"/>
              </a:rPr>
              <a:t>3,800 – 3,900</a:t>
            </a:r>
            <a:endParaRPr lang="en-US" sz="3000" dirty="0"/>
          </a:p>
        </p:txBody>
      </p:sp>
      <p:sp>
        <p:nvSpPr>
          <p:cNvPr id="13" name="Text 10"/>
          <p:cNvSpPr txBox="1"/>
          <p:nvPr/>
        </p:nvSpPr>
        <p:spPr>
          <a:xfrm>
            <a:off x="914400" y="2788920"/>
            <a:ext cx="2849880" cy="548640"/>
          </a:xfrm>
          <a:prstGeom prst="rect">
            <a:avLst/>
          </a:prstGeom>
          <a:noFill/>
          <a:ln/>
        </p:spPr>
        <p:txBody>
          <a:bodyPr wrap="square" lIns="0" tIns="0" rIns="0" bIns="0" rtlCol="0" anchor="t"/>
          <a:lstStyle/>
          <a:p>
            <a:pPr algn="l" indent="0" marL="0">
              <a:lnSpc>
                <a:spcPct val="130000"/>
              </a:lnSpc>
              <a:buNone/>
            </a:pPr>
            <a:r>
              <a:rPr lang="en-US" sz="1150" dirty="0">
                <a:solidFill>
                  <a:srgbClr val="64748B"/>
                </a:solidFill>
                <a:latin typeface="Poppins" pitchFamily="34" charset="0"/>
                <a:ea typeface="Poppins" pitchFamily="34" charset="-122"/>
                <a:cs typeface="Poppins" pitchFamily="34" charset="-120"/>
              </a:rPr>
              <a:t>trend: +27/month, extended 3 months</a:t>
            </a:r>
            <a:endParaRPr lang="en-US" sz="1150" dirty="0"/>
          </a:p>
        </p:txBody>
      </p:sp>
      <p:sp>
        <p:nvSpPr>
          <p:cNvPr id="14" name="Shape 11"/>
          <p:cNvSpPr/>
          <p:nvPr/>
        </p:nvSpPr>
        <p:spPr>
          <a:xfrm>
            <a:off x="3992880" y="1783080"/>
            <a:ext cx="0" cy="2514600"/>
          </a:xfrm>
          <a:prstGeom prst="line">
            <a:avLst/>
          </a:prstGeom>
          <a:noFill/>
          <a:ln w="12700">
            <a:solidFill>
              <a:srgbClr val="E2E8F0"/>
            </a:solidFill>
            <a:prstDash val="solid"/>
          </a:ln>
        </p:spPr>
      </p:sp>
      <p:sp>
        <p:nvSpPr>
          <p:cNvPr id="15" name="Text 12"/>
          <p:cNvSpPr txBox="1"/>
          <p:nvPr/>
        </p:nvSpPr>
        <p:spPr>
          <a:xfrm>
            <a:off x="4221480" y="1737360"/>
            <a:ext cx="2849880" cy="274320"/>
          </a:xfrm>
          <a:prstGeom prst="rect">
            <a:avLst/>
          </a:prstGeom>
          <a:noFill/>
          <a:ln/>
        </p:spPr>
        <p:txBody>
          <a:bodyPr wrap="square" lIns="0" tIns="0" rIns="0" bIns="0" rtlCol="0" anchor="t"/>
          <a:lstStyle/>
          <a:p>
            <a:pPr algn="l" indent="0" marL="0">
              <a:lnSpc>
                <a:spcPct val="130000"/>
              </a:lnSpc>
              <a:buNone/>
            </a:pPr>
            <a:r>
              <a:rPr lang="en-US" sz="1200" b="1" dirty="0">
                <a:solidFill>
                  <a:srgbClr val="387F7F"/>
                </a:solidFill>
                <a:latin typeface="Poppins" pitchFamily="34" charset="0"/>
                <a:ea typeface="Poppins" pitchFamily="34" charset="-122"/>
                <a:cs typeface="Poppins" pitchFamily="34" charset="-120"/>
              </a:rPr>
              <a:t>REVENUE (LOW)</a:t>
            </a:r>
            <a:endParaRPr lang="en-US" sz="1200" dirty="0"/>
          </a:p>
        </p:txBody>
      </p:sp>
      <p:sp>
        <p:nvSpPr>
          <p:cNvPr id="16" name="Text 13"/>
          <p:cNvSpPr txBox="1"/>
          <p:nvPr/>
        </p:nvSpPr>
        <p:spPr>
          <a:xfrm>
            <a:off x="4221480" y="2057400"/>
            <a:ext cx="2849880" cy="685800"/>
          </a:xfrm>
          <a:prstGeom prst="rect">
            <a:avLst/>
          </a:prstGeom>
          <a:noFill/>
          <a:ln/>
        </p:spPr>
        <p:txBody>
          <a:bodyPr wrap="square" lIns="0" tIns="0" rIns="0" bIns="0" rtlCol="0" anchor="t"/>
          <a:lstStyle/>
          <a:p>
            <a:pPr algn="l" indent="0" marL="0">
              <a:lnSpc>
                <a:spcPct val="130000"/>
              </a:lnSpc>
              <a:buNone/>
            </a:pPr>
            <a:r>
              <a:rPr lang="en-US" sz="3000" b="1" dirty="0">
                <a:solidFill>
                  <a:srgbClr val="0A1A23"/>
                </a:solidFill>
                <a:latin typeface="Poppins" pitchFamily="34" charset="0"/>
                <a:ea typeface="Poppins" pitchFamily="34" charset="-122"/>
                <a:cs typeface="Poppins" pitchFamily="34" charset="-120"/>
              </a:rPr>
              <a:t>₦12.4m</a:t>
            </a:r>
            <a:endParaRPr lang="en-US" sz="3000" dirty="0"/>
          </a:p>
        </p:txBody>
      </p:sp>
      <p:sp>
        <p:nvSpPr>
          <p:cNvPr id="17" name="Text 14"/>
          <p:cNvSpPr txBox="1"/>
          <p:nvPr/>
        </p:nvSpPr>
        <p:spPr>
          <a:xfrm>
            <a:off x="4221480" y="2788920"/>
            <a:ext cx="2849880" cy="548640"/>
          </a:xfrm>
          <a:prstGeom prst="rect">
            <a:avLst/>
          </a:prstGeom>
          <a:noFill/>
          <a:ln/>
        </p:spPr>
        <p:txBody>
          <a:bodyPr wrap="square" lIns="0" tIns="0" rIns="0" bIns="0" rtlCol="0" anchor="t"/>
          <a:lstStyle/>
          <a:p>
            <a:pPr algn="l" indent="0" marL="0">
              <a:lnSpc>
                <a:spcPct val="130000"/>
              </a:lnSpc>
              <a:buNone/>
            </a:pPr>
            <a:r>
              <a:rPr lang="en-US" sz="1150" dirty="0">
                <a:solidFill>
                  <a:srgbClr val="64748B"/>
                </a:solidFill>
                <a:latin typeface="Poppins" pitchFamily="34" charset="0"/>
                <a:ea typeface="Poppins" pitchFamily="34" charset="-122"/>
                <a:cs typeface="Poppins" pitchFamily="34" charset="-120"/>
              </a:rPr>
              <a:t>revenue trend, fitted directly</a:t>
            </a:r>
            <a:endParaRPr lang="en-US" sz="1150" dirty="0"/>
          </a:p>
        </p:txBody>
      </p:sp>
      <p:sp>
        <p:nvSpPr>
          <p:cNvPr id="18" name="Shape 15"/>
          <p:cNvSpPr/>
          <p:nvPr/>
        </p:nvSpPr>
        <p:spPr>
          <a:xfrm>
            <a:off x="7299960" y="1783080"/>
            <a:ext cx="0" cy="2514600"/>
          </a:xfrm>
          <a:prstGeom prst="line">
            <a:avLst/>
          </a:prstGeom>
          <a:noFill/>
          <a:ln w="12700">
            <a:solidFill>
              <a:srgbClr val="E2E8F0"/>
            </a:solidFill>
            <a:prstDash val="solid"/>
          </a:ln>
        </p:spPr>
      </p:sp>
      <p:sp>
        <p:nvSpPr>
          <p:cNvPr id="19" name="Text 16"/>
          <p:cNvSpPr txBox="1"/>
          <p:nvPr/>
        </p:nvSpPr>
        <p:spPr>
          <a:xfrm>
            <a:off x="7528560" y="1737360"/>
            <a:ext cx="2849880" cy="274320"/>
          </a:xfrm>
          <a:prstGeom prst="rect">
            <a:avLst/>
          </a:prstGeom>
          <a:noFill/>
          <a:ln/>
        </p:spPr>
        <p:txBody>
          <a:bodyPr wrap="square" lIns="0" tIns="0" rIns="0" bIns="0" rtlCol="0" anchor="t"/>
          <a:lstStyle/>
          <a:p>
            <a:pPr algn="l" indent="0" marL="0">
              <a:lnSpc>
                <a:spcPct val="130000"/>
              </a:lnSpc>
              <a:buNone/>
            </a:pPr>
            <a:r>
              <a:rPr lang="en-US" sz="1200" b="1" dirty="0">
                <a:solidFill>
                  <a:srgbClr val="387F7F"/>
                </a:solidFill>
                <a:latin typeface="Poppins" pitchFamily="34" charset="0"/>
                <a:ea typeface="Poppins" pitchFamily="34" charset="-122"/>
                <a:cs typeface="Poppins" pitchFamily="34" charset="-120"/>
              </a:rPr>
              <a:t>REVENUE (HIGH)</a:t>
            </a:r>
            <a:endParaRPr lang="en-US" sz="1200" dirty="0"/>
          </a:p>
        </p:txBody>
      </p:sp>
      <p:sp>
        <p:nvSpPr>
          <p:cNvPr id="20" name="Text 17"/>
          <p:cNvSpPr txBox="1"/>
          <p:nvPr/>
        </p:nvSpPr>
        <p:spPr>
          <a:xfrm>
            <a:off x="7528560" y="2057400"/>
            <a:ext cx="2849880" cy="685800"/>
          </a:xfrm>
          <a:prstGeom prst="rect">
            <a:avLst/>
          </a:prstGeom>
          <a:noFill/>
          <a:ln/>
        </p:spPr>
        <p:txBody>
          <a:bodyPr wrap="square" lIns="0" tIns="0" rIns="0" bIns="0" rtlCol="0" anchor="t"/>
          <a:lstStyle/>
          <a:p>
            <a:pPr algn="l" indent="0" marL="0">
              <a:lnSpc>
                <a:spcPct val="130000"/>
              </a:lnSpc>
              <a:buNone/>
            </a:pPr>
            <a:r>
              <a:rPr lang="en-US" sz="3000" b="1" dirty="0">
                <a:solidFill>
                  <a:srgbClr val="0A1A23"/>
                </a:solidFill>
                <a:latin typeface="Poppins" pitchFamily="34" charset="0"/>
                <a:ea typeface="Poppins" pitchFamily="34" charset="-122"/>
                <a:cs typeface="Poppins" pitchFamily="34" charset="-120"/>
              </a:rPr>
              <a:t>₦13.0m</a:t>
            </a:r>
            <a:endParaRPr lang="en-US" sz="3000" dirty="0"/>
          </a:p>
        </p:txBody>
      </p:sp>
      <p:sp>
        <p:nvSpPr>
          <p:cNvPr id="21" name="Text 18"/>
          <p:cNvSpPr txBox="1"/>
          <p:nvPr/>
        </p:nvSpPr>
        <p:spPr>
          <a:xfrm>
            <a:off x="7528560" y="2788920"/>
            <a:ext cx="2849880" cy="548640"/>
          </a:xfrm>
          <a:prstGeom prst="rect">
            <a:avLst/>
          </a:prstGeom>
          <a:noFill/>
          <a:ln/>
        </p:spPr>
        <p:txBody>
          <a:bodyPr wrap="square" lIns="0" tIns="0" rIns="0" bIns="0" rtlCol="0" anchor="t"/>
          <a:lstStyle/>
          <a:p>
            <a:pPr algn="l" indent="0" marL="0">
              <a:lnSpc>
                <a:spcPct val="130000"/>
              </a:lnSpc>
              <a:buNone/>
            </a:pPr>
            <a:r>
              <a:rPr lang="en-US" sz="1150" dirty="0">
                <a:solidFill>
                  <a:srgbClr val="64748B"/>
                </a:solidFill>
                <a:latin typeface="Poppins" pitchFamily="34" charset="0"/>
                <a:ea typeface="Poppins" pitchFamily="34" charset="-122"/>
                <a:cs typeface="Poppins" pitchFamily="34" charset="-120"/>
              </a:rPr>
              <a:t>deliveries trend × avg. fee</a:t>
            </a:r>
            <a:endParaRPr lang="en-US" sz="1150" dirty="0"/>
          </a:p>
        </p:txBody>
      </p:sp>
      <p:sp>
        <p:nvSpPr>
          <p:cNvPr id="22" name="Shape 19"/>
          <p:cNvSpPr/>
          <p:nvPr/>
        </p:nvSpPr>
        <p:spPr>
          <a:xfrm>
            <a:off x="914400" y="3474720"/>
            <a:ext cx="9464040" cy="0"/>
          </a:xfrm>
          <a:prstGeom prst="line">
            <a:avLst/>
          </a:prstGeom>
          <a:noFill/>
          <a:ln w="12700">
            <a:solidFill>
              <a:srgbClr val="E2E8F0"/>
            </a:solidFill>
            <a:prstDash val="solid"/>
          </a:ln>
        </p:spPr>
      </p:sp>
      <p:sp>
        <p:nvSpPr>
          <p:cNvPr id="23" name="Text 20"/>
          <p:cNvSpPr txBox="1"/>
          <p:nvPr/>
        </p:nvSpPr>
        <p:spPr>
          <a:xfrm>
            <a:off x="914400" y="3611880"/>
            <a:ext cx="9464040" cy="274320"/>
          </a:xfrm>
          <a:prstGeom prst="rect">
            <a:avLst/>
          </a:prstGeom>
          <a:noFill/>
          <a:ln/>
        </p:spPr>
        <p:txBody>
          <a:bodyPr wrap="square" lIns="0" tIns="0" rIns="0" bIns="0" rtlCol="0" anchor="t"/>
          <a:lstStyle/>
          <a:p>
            <a:pPr algn="l" indent="0" marL="0">
              <a:lnSpc>
                <a:spcPct val="130000"/>
              </a:lnSpc>
              <a:buNone/>
            </a:pPr>
            <a:r>
              <a:rPr lang="en-US" sz="1200" b="1" dirty="0">
                <a:solidFill>
                  <a:srgbClr val="387F7F"/>
                </a:solidFill>
                <a:latin typeface="Poppins" pitchFamily="34" charset="0"/>
                <a:ea typeface="Poppins" pitchFamily="34" charset="-122"/>
                <a:cs typeface="Poppins" pitchFamily="34" charset="-120"/>
              </a:rPr>
              <a:t>NAMED ASSUMPTIONS</a:t>
            </a:r>
            <a:endParaRPr lang="en-US" sz="1200" dirty="0"/>
          </a:p>
        </p:txBody>
      </p:sp>
      <p:sp>
        <p:nvSpPr>
          <p:cNvPr id="24" name="Text 21"/>
          <p:cNvSpPr txBox="1"/>
          <p:nvPr/>
        </p:nvSpPr>
        <p:spPr>
          <a:xfrm>
            <a:off x="914400" y="3931920"/>
            <a:ext cx="9464040" cy="594360"/>
          </a:xfrm>
          <a:prstGeom prst="rect">
            <a:avLst/>
          </a:prstGeom>
          <a:noFill/>
          <a:ln/>
        </p:spPr>
        <p:txBody>
          <a:bodyPr wrap="square" lIns="0" tIns="0" rIns="0" bIns="0" rtlCol="0" anchor="t"/>
          <a:lstStyle/>
          <a:p>
            <a:pPr algn="l" indent="0" marL="0">
              <a:lnSpc>
                <a:spcPct val="130000"/>
              </a:lnSpc>
              <a:buNone/>
            </a:pPr>
            <a:r>
              <a:rPr lang="en-US" sz="1300" dirty="0">
                <a:solidFill>
                  <a:srgbClr val="475569"/>
                </a:solidFill>
                <a:latin typeface="Poppins" pitchFamily="34" charset="0"/>
                <a:ea typeface="Poppins" pitchFamily="34" charset="-122"/>
                <a:cs typeface="Poppins" pitchFamily="34" charset="-120"/>
              </a:rPr>
              <a:t>Fitted on three months of Q3 data only. Assumes the current rate of change continues unchanged. No visibility into festive-season demand in November and December, which Lagos logistics operators generally expect to differ from an ordinary quarter.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Text 2"/>
          <p:cNvSpPr txBox="1"/>
          <p:nvPr/>
        </p:nvSpPr>
        <p:spPr>
          <a:xfrm>
            <a:off x="868680" y="292608"/>
            <a:ext cx="7772400" cy="274320"/>
          </a:xfrm>
          <a:prstGeom prst="rect">
            <a:avLst/>
          </a:prstGeom>
          <a:noFill/>
          <a:ln/>
        </p:spPr>
        <p:txBody>
          <a:bodyPr wrap="square" lIns="0" tIns="0" rIns="0" bIns="0" rtlCol="0" anchor="ctr"/>
          <a:lstStyle/>
          <a:p>
            <a:pPr indent="0" marL="0">
              <a:buNone/>
            </a:pPr>
            <a:r>
              <a:rPr lang="en-US" sz="1150" b="1" spc="200" kern="0" dirty="0">
                <a:solidFill>
                  <a:srgbClr val="64748B"/>
                </a:solidFill>
                <a:latin typeface="Poppins" pitchFamily="34" charset="0"/>
                <a:ea typeface="Poppins" pitchFamily="34" charset="-122"/>
                <a:cs typeface="Poppins" pitchFamily="34" charset="-120"/>
              </a:rPr>
              <a:t>YOUR TURN</a:t>
            </a:r>
            <a:endParaRPr lang="en-US" sz="1150" dirty="0"/>
          </a:p>
        </p:txBody>
      </p:sp>
      <p:sp>
        <p:nvSpPr>
          <p:cNvPr id="5" name="Shape 3"/>
          <p:cNvSpPr/>
          <p:nvPr/>
        </p:nvSpPr>
        <p:spPr>
          <a:xfrm>
            <a:off x="685800" y="612648"/>
            <a:ext cx="54864" cy="411480"/>
          </a:xfrm>
          <a:prstGeom prst="rect">
            <a:avLst/>
          </a:prstGeom>
          <a:solidFill>
            <a:srgbClr val="387F7F"/>
          </a:solidFill>
          <a:ln/>
        </p:spPr>
      </p:sp>
      <p:sp>
        <p:nvSpPr>
          <p:cNvPr id="6" name="Text 4"/>
          <p:cNvSpPr txBox="1"/>
          <p:nvPr/>
        </p:nvSpPr>
        <p:spPr>
          <a:xfrm>
            <a:off x="868680" y="566928"/>
            <a:ext cx="9006840" cy="685800"/>
          </a:xfrm>
          <a:prstGeom prst="rect">
            <a:avLst/>
          </a:prstGeom>
          <a:noFill/>
          <a:ln/>
        </p:spPr>
        <p:txBody>
          <a:bodyPr wrap="square" lIns="0" tIns="0" rIns="0" bIns="0" rtlCol="0" anchor="t"/>
          <a:lstStyle/>
          <a:p>
            <a:pPr indent="0" marL="0">
              <a:lnSpc>
                <a:spcPct val="110000"/>
              </a:lnSpc>
              <a:buNone/>
            </a:pPr>
            <a:r>
              <a:rPr lang="en-US" sz="3141" dirty="0">
                <a:solidFill>
                  <a:srgbClr val="387F7F"/>
                </a:solidFill>
                <a:latin typeface="Poppins" pitchFamily="34" charset="0"/>
                <a:ea typeface="Poppins" pitchFamily="34" charset="-122"/>
                <a:cs typeface="Poppins" pitchFamily="34" charset="-120"/>
              </a:rPr>
              <a:t>Your turn: forecast one more SwiftRoute figure</a:t>
            </a:r>
            <a:endParaRPr lang="en-US" sz="3141" dirty="0"/>
          </a:p>
        </p:txBody>
      </p:sp>
      <p:sp>
        <p:nvSpPr>
          <p:cNvPr id="7" name="Shape 5"/>
          <p:cNvSpPr/>
          <p:nvPr/>
        </p:nvSpPr>
        <p:spPr>
          <a:xfrm>
            <a:off x="10058400" y="457200"/>
            <a:ext cx="1234440" cy="457200"/>
          </a:xfrm>
          <a:prstGeom prst="roundRect">
            <a:avLst>
              <a:gd name="adj" fmla="val 50000"/>
            </a:avLst>
          </a:prstGeom>
          <a:solidFill>
            <a:srgbClr val="387F7F"/>
          </a:solidFill>
          <a:ln/>
        </p:spPr>
      </p:sp>
      <p:sp>
        <p:nvSpPr>
          <p:cNvPr id="8" name="Text 6"/>
          <p:cNvSpPr txBox="1"/>
          <p:nvPr/>
        </p:nvSpPr>
        <p:spPr>
          <a:xfrm>
            <a:off x="10058400" y="457200"/>
            <a:ext cx="1234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12 MIN</a:t>
            </a:r>
            <a:endParaRPr lang="en-US" sz="1300" dirty="0"/>
          </a:p>
        </p:txBody>
      </p:sp>
      <p:sp>
        <p:nvSpPr>
          <p:cNvPr id="9" name="Shape 7"/>
          <p:cNvSpPr/>
          <p:nvPr/>
        </p:nvSpPr>
        <p:spPr>
          <a:xfrm>
            <a:off x="685800" y="1554480"/>
            <a:ext cx="10424160" cy="1554480"/>
          </a:xfrm>
          <a:prstGeom prst="roundRect">
            <a:avLst>
              <a:gd name="adj" fmla="val 5294"/>
            </a:avLst>
          </a:prstGeom>
          <a:solidFill>
            <a:srgbClr val="FFFFFF"/>
          </a:solidFill>
          <a:ln/>
          <a:effectLst>
            <a:outerShdw sx="100000" sy="100000" kx="0" ky="0" algn="bl" rotWithShape="0" blurRad="127000" dist="38100" dir="5400000">
              <a:srgbClr val="1B2A2E">
                <a:alpha val="12000"/>
              </a:srgbClr>
            </a:outerShdw>
          </a:effectLst>
        </p:spPr>
      </p:sp>
      <p:sp>
        <p:nvSpPr>
          <p:cNvPr id="10" name="Shape 8"/>
          <p:cNvSpPr/>
          <p:nvPr/>
        </p:nvSpPr>
        <p:spPr>
          <a:xfrm>
            <a:off x="685800" y="1554480"/>
            <a:ext cx="82296" cy="1554480"/>
          </a:xfrm>
          <a:prstGeom prst="rect">
            <a:avLst/>
          </a:prstGeom>
          <a:solidFill>
            <a:srgbClr val="387F7F"/>
          </a:solidFill>
          <a:ln/>
        </p:spPr>
      </p:sp>
      <p:sp>
        <p:nvSpPr>
          <p:cNvPr id="11" name="Text 9"/>
          <p:cNvSpPr txBox="1"/>
          <p:nvPr/>
        </p:nvSpPr>
        <p:spPr>
          <a:xfrm>
            <a:off x="1005840" y="1737360"/>
            <a:ext cx="9601200" cy="274320"/>
          </a:xfrm>
          <a:prstGeom prst="rect">
            <a:avLst/>
          </a:prstGeom>
          <a:noFill/>
          <a:ln/>
        </p:spPr>
        <p:txBody>
          <a:bodyPr wrap="square" lIns="0" tIns="0" rIns="0" bIns="0" rtlCol="0" anchor="t"/>
          <a:lstStyle/>
          <a:p>
            <a:pPr algn="l" indent="0" marL="0">
              <a:lnSpc>
                <a:spcPct val="130000"/>
              </a:lnSpc>
              <a:buNone/>
            </a:pPr>
            <a:r>
              <a:rPr lang="en-US" sz="1300" b="1" dirty="0">
                <a:solidFill>
                  <a:srgbClr val="387F7F"/>
                </a:solidFill>
                <a:latin typeface="Poppins" pitchFamily="34" charset="0"/>
                <a:ea typeface="Poppins" pitchFamily="34" charset="-122"/>
                <a:cs typeface="Poppins" pitchFamily="34" charset="-120"/>
              </a:rPr>
              <a:t>THE TASK</a:t>
            </a:r>
            <a:endParaRPr lang="en-US" sz="1300" dirty="0"/>
          </a:p>
        </p:txBody>
      </p:sp>
      <p:sp>
        <p:nvSpPr>
          <p:cNvPr id="12" name="Text 10"/>
          <p:cNvSpPr txBox="1"/>
          <p:nvPr/>
        </p:nvSpPr>
        <p:spPr>
          <a:xfrm>
            <a:off x="1005840" y="2057400"/>
            <a:ext cx="9875520" cy="960120"/>
          </a:xfrm>
          <a:prstGeom prst="rect">
            <a:avLst/>
          </a:prstGeom>
          <a:noFill/>
          <a:ln/>
        </p:spPr>
        <p:txBody>
          <a:bodyPr wrap="square" lIns="0" tIns="0" rIns="0" bIns="0" rtlCol="0" anchor="t"/>
          <a:lstStyle/>
          <a:p>
            <a:pPr algn="l" indent="0" marL="0">
              <a:lnSpc>
                <a:spcPct val="130000"/>
              </a:lnSpc>
              <a:buNone/>
            </a:pPr>
            <a:r>
              <a:rPr lang="en-US" sz="1750" dirty="0">
                <a:solidFill>
                  <a:srgbClr val="475569"/>
                </a:solidFill>
                <a:latin typeface="Poppins" pitchFamily="34" charset="0"/>
                <a:ea typeface="Poppins" pitchFamily="34" charset="-122"/>
                <a:cs typeface="Poppins" pitchFamily="34" charset="-120"/>
              </a:rPr>
              <a:t>Using the same monthly deliveries_clean data, fit a trend on fuel litres or average distance, extend it one quarter, and stress-test it a second way. Give your final answer as a range with two named assumptions.</a:t>
            </a:r>
            <a:endParaRPr lang="en-US" sz="1750" dirty="0"/>
          </a:p>
        </p:txBody>
      </p:sp>
      <p:sp>
        <p:nvSpPr>
          <p:cNvPr id="13" name="Shape 11"/>
          <p:cNvSpPr/>
          <p:nvPr/>
        </p:nvSpPr>
        <p:spPr>
          <a:xfrm>
            <a:off x="685800" y="3291840"/>
            <a:ext cx="10424160" cy="1463040"/>
          </a:xfrm>
          <a:prstGeom prst="roundRect">
            <a:avLst>
              <a:gd name="adj" fmla="val 5625"/>
            </a:avLst>
          </a:prstGeom>
          <a:solidFill>
            <a:srgbClr val="F4F7F7"/>
          </a:solidFill>
          <a:ln/>
        </p:spPr>
      </p:sp>
      <p:sp>
        <p:nvSpPr>
          <p:cNvPr id="14" name="Shape 12"/>
          <p:cNvSpPr/>
          <p:nvPr/>
        </p:nvSpPr>
        <p:spPr>
          <a:xfrm>
            <a:off x="685800" y="3291840"/>
            <a:ext cx="82296" cy="1463040"/>
          </a:xfrm>
          <a:prstGeom prst="rect">
            <a:avLst/>
          </a:prstGeom>
          <a:solidFill>
            <a:srgbClr val="9BB7B7"/>
          </a:solidFill>
          <a:ln/>
        </p:spPr>
      </p:sp>
      <p:sp>
        <p:nvSpPr>
          <p:cNvPr id="15" name="Text 13"/>
          <p:cNvSpPr txBox="1"/>
          <p:nvPr/>
        </p:nvSpPr>
        <p:spPr>
          <a:xfrm>
            <a:off x="1005840" y="3474720"/>
            <a:ext cx="9601200" cy="292608"/>
          </a:xfrm>
          <a:prstGeom prst="rect">
            <a:avLst/>
          </a:prstGeom>
          <a:noFill/>
          <a:ln/>
        </p:spPr>
        <p:txBody>
          <a:bodyPr wrap="square" lIns="0" tIns="0" rIns="0" bIns="0" rtlCol="0" anchor="t"/>
          <a:lstStyle/>
          <a:p>
            <a:pPr algn="l" indent="0" marL="0">
              <a:lnSpc>
                <a:spcPct val="130000"/>
              </a:lnSpc>
              <a:buNone/>
            </a:pPr>
            <a:r>
              <a:rPr lang="en-US" sz="1300" b="1" dirty="0">
                <a:solidFill>
                  <a:srgbClr val="20494A"/>
                </a:solidFill>
                <a:latin typeface="Poppins" pitchFamily="34" charset="0"/>
                <a:ea typeface="Poppins" pitchFamily="34" charset="-122"/>
                <a:cs typeface="Poppins" pitchFamily="34" charset="-120"/>
              </a:rPr>
              <a:t>SELF-CHECK</a:t>
            </a:r>
            <a:endParaRPr lang="en-US" sz="1300" dirty="0"/>
          </a:p>
        </p:txBody>
      </p:sp>
      <p:sp>
        <p:nvSpPr>
          <p:cNvPr id="16" name="Text 14"/>
          <p:cNvSpPr txBox="1"/>
          <p:nvPr/>
        </p:nvSpPr>
        <p:spPr>
          <a:xfrm>
            <a:off x="1005840" y="3794760"/>
            <a:ext cx="9875520" cy="868680"/>
          </a:xfrm>
          <a:prstGeom prst="rect">
            <a:avLst/>
          </a:prstGeom>
          <a:noFill/>
          <a:ln/>
        </p:spPr>
        <p:txBody>
          <a:bodyPr wrap="square" lIns="0" tIns="0" rIns="0" bIns="0" rtlCol="0" anchor="t"/>
          <a:lstStyle/>
          <a:p>
            <a:pPr algn="l" indent="0" marL="0">
              <a:lnSpc>
                <a:spcPct val="130000"/>
              </a:lnSpc>
              <a:buNone/>
            </a:pPr>
            <a:r>
              <a:rPr lang="en-US" sz="1400" dirty="0">
                <a:solidFill>
                  <a:srgbClr val="475569"/>
                </a:solidFill>
                <a:latin typeface="Poppins" pitchFamily="34" charset="0"/>
                <a:ea typeface="Poppins" pitchFamily="34" charset="-122"/>
                <a:cs typeface="Poppins" pitchFamily="34" charset="-120"/>
              </a:rPr>
              <a:t>You have a range, not a single number. You can name the two methods you used to bound it. You can say in one sentence what your three months of data cannot show you about Q4.</a:t>
            </a:r>
            <a:endParaRPr lang="en-US" sz="1400" dirty="0"/>
          </a:p>
        </p:txBody>
      </p:sp>
      <p:sp>
        <p:nvSpPr>
          <p:cNvPr id="17" name="Text 15"/>
          <p:cNvSpPr txBox="1"/>
          <p:nvPr/>
        </p:nvSpPr>
        <p:spPr>
          <a:xfrm>
            <a:off x="685800" y="4937760"/>
            <a:ext cx="10424160" cy="365760"/>
          </a:xfrm>
          <a:prstGeom prst="rect">
            <a:avLst/>
          </a:prstGeom>
          <a:noFill/>
          <a:ln/>
        </p:spPr>
        <p:txBody>
          <a:bodyPr wrap="square" lIns="0" tIns="0" rIns="0" bIns="0" rtlCol="0" anchor="t"/>
          <a:lstStyle/>
          <a:p>
            <a:pPr algn="ctr" indent="0" marL="0">
              <a:lnSpc>
                <a:spcPct val="130000"/>
              </a:lnSpc>
              <a:buNone/>
            </a:pPr>
            <a:r>
              <a:rPr lang="en-US" sz="1500" i="1" dirty="0">
                <a:solidFill>
                  <a:srgbClr val="64748B"/>
                </a:solidFill>
                <a:latin typeface="Poppins" pitchFamily="34" charset="0"/>
                <a:ea typeface="Poppins" pitchFamily="34" charset="-122"/>
                <a:cs typeface="Poppins" pitchFamily="34" charset="-120"/>
              </a:rPr>
              <a:t>Compare your range with a neighbour's before the recap. Different reasonable methods should give different, overlapping ranges - that is expected, not a mistake.</a:t>
            </a:r>
            <a:endParaRPr lang="en-US" sz="1500" dirty="0"/>
          </a:p>
        </p:txBody>
      </p:sp>
      <p:pic>
        <p:nvPicPr>
          <p:cNvPr id="1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Topic 8.2 recap</a:t>
            </a:r>
            <a:endParaRPr lang="en-US" sz="3300" dirty="0"/>
          </a:p>
        </p:txBody>
      </p:sp>
      <p:pic>
        <p:nvPicPr>
          <p:cNvPr id="6" name="Image 0" descr="/home/claude/assets/icon_check.png">    </p:cNvPr>
          <p:cNvPicPr>
            <a:picLocks noChangeAspect="1"/>
          </p:cNvPicPr>
          <p:nvPr/>
        </p:nvPicPr>
        <p:blipFill>
          <a:blip r:embed="rId2"/>
          <a:stretch>
            <a:fillRect/>
          </a:stretch>
        </p:blipFill>
        <p:spPr>
          <a:xfrm>
            <a:off x="777240" y="1755648"/>
            <a:ext cx="292608" cy="292608"/>
          </a:xfrm>
          <a:prstGeom prst="rect">
            <a:avLst/>
          </a:prstGeom>
        </p:spPr>
      </p:pic>
      <p:sp>
        <p:nvSpPr>
          <p:cNvPr id="7" name="Text 4"/>
          <p:cNvSpPr txBox="1"/>
          <p:nvPr/>
        </p:nvSpPr>
        <p:spPr>
          <a:xfrm>
            <a:off x="1234440" y="166420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A trend-based forecast fits one straight line through past data and extends it - nothing more, nothing hidden.</a:t>
            </a:r>
            <a:endParaRPr lang="en-US" sz="1550" dirty="0"/>
          </a:p>
        </p:txBody>
      </p:sp>
      <p:pic>
        <p:nvPicPr>
          <p:cNvPr id="8" name="Image 1" descr="/home/claude/assets/icon_check.png">    </p:cNvPr>
          <p:cNvPicPr>
            <a:picLocks noChangeAspect="1"/>
          </p:cNvPicPr>
          <p:nvPr/>
        </p:nvPicPr>
        <p:blipFill>
          <a:blip r:embed="rId3"/>
          <a:stretch>
            <a:fillRect/>
          </a:stretch>
        </p:blipFill>
        <p:spPr>
          <a:xfrm>
            <a:off x="777240" y="2532888"/>
            <a:ext cx="292608" cy="292608"/>
          </a:xfrm>
          <a:prstGeom prst="rect">
            <a:avLst/>
          </a:prstGeom>
        </p:spPr>
      </p:pic>
      <p:sp>
        <p:nvSpPr>
          <p:cNvPr id="9" name="Text 5"/>
          <p:cNvSpPr txBox="1"/>
          <p:nvPr/>
        </p:nvSpPr>
        <p:spPr>
          <a:xfrm>
            <a:off x="1234440" y="244144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Checking the fit's own errors matters, but a close fit on very few data points still tells you almost nothing about seasonality.</a:t>
            </a:r>
            <a:endParaRPr lang="en-US" sz="1550" dirty="0"/>
          </a:p>
        </p:txBody>
      </p:sp>
      <p:pic>
        <p:nvPicPr>
          <p:cNvPr id="10" name="Image 2" descr="/home/claude/assets/icon_check.png">    </p:cNvPr>
          <p:cNvPicPr>
            <a:picLocks noChangeAspect="1"/>
          </p:cNvPicPr>
          <p:nvPr/>
        </p:nvPicPr>
        <p:blipFill>
          <a:blip r:embed="rId4"/>
          <a:stretch>
            <a:fillRect/>
          </a:stretch>
        </p:blipFill>
        <p:spPr>
          <a:xfrm>
            <a:off x="777240" y="3310128"/>
            <a:ext cx="292608" cy="292608"/>
          </a:xfrm>
          <a:prstGeom prst="rect">
            <a:avLst/>
          </a:prstGeom>
        </p:spPr>
      </p:pic>
      <p:sp>
        <p:nvSpPr>
          <p:cNvPr id="11" name="Text 6"/>
          <p:cNvSpPr txBox="1"/>
          <p:nvPr/>
        </p:nvSpPr>
        <p:spPr>
          <a:xfrm>
            <a:off x="1234440" y="321868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Predict-then-run applies to forecasts: form your own rough expectation before you ask AI, then treat disagreement as the useful signal.</a:t>
            </a:r>
            <a:endParaRPr lang="en-US" sz="1550" dirty="0"/>
          </a:p>
        </p:txBody>
      </p:sp>
      <p:pic>
        <p:nvPicPr>
          <p:cNvPr id="12" name="Image 3" descr="/home/claude/assets/icon_check.png">    </p:cNvPr>
          <p:cNvPicPr>
            <a:picLocks noChangeAspect="1"/>
          </p:cNvPicPr>
          <p:nvPr/>
        </p:nvPicPr>
        <p:blipFill>
          <a:blip r:embed="rId5"/>
          <a:stretch>
            <a:fillRect/>
          </a:stretch>
        </p:blipFill>
        <p:spPr>
          <a:xfrm>
            <a:off x="777240" y="4087368"/>
            <a:ext cx="292608" cy="292608"/>
          </a:xfrm>
          <a:prstGeom prst="rect">
            <a:avLst/>
          </a:prstGeom>
        </p:spPr>
      </p:pic>
      <p:sp>
        <p:nvSpPr>
          <p:cNvPr id="13" name="Text 7"/>
          <p:cNvSpPr txBox="1"/>
          <p:nvPr/>
        </p:nvSpPr>
        <p:spPr>
          <a:xfrm>
            <a:off x="1234440" y="399592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Two independent methods that disagree give you an honest range for free - report the gap, don't smooth it away.</a:t>
            </a:r>
            <a:endParaRPr lang="en-US" sz="1550" dirty="0"/>
          </a:p>
        </p:txBody>
      </p:sp>
      <p:pic>
        <p:nvPicPr>
          <p:cNvPr id="14" name="Image 4" descr="/home/claude/assets/icon_check.png">    </p:cNvPr>
          <p:cNvPicPr>
            <a:picLocks noChangeAspect="1"/>
          </p:cNvPicPr>
          <p:nvPr/>
        </p:nvPicPr>
        <p:blipFill>
          <a:blip r:embed="rId6"/>
          <a:stretch>
            <a:fillRect/>
          </a:stretch>
        </p:blipFill>
        <p:spPr>
          <a:xfrm>
            <a:off x="777240" y="4864608"/>
            <a:ext cx="292608" cy="292608"/>
          </a:xfrm>
          <a:prstGeom prst="rect">
            <a:avLst/>
          </a:prstGeom>
        </p:spPr>
      </p:pic>
      <p:sp>
        <p:nvSpPr>
          <p:cNvPr id="15" name="Text 8"/>
          <p:cNvSpPr txBox="1"/>
          <p:nvPr/>
        </p:nvSpPr>
        <p:spPr>
          <a:xfrm>
            <a:off x="1234440" y="477316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A range with named assumptions is a more professional deliverable than a single confident number.</a:t>
            </a:r>
            <a:endParaRPr lang="en-US" sz="1550" dirty="0"/>
          </a:p>
        </p:txBody>
      </p:sp>
      <p:sp>
        <p:nvSpPr>
          <p:cNvPr id="16" name="Shape 9"/>
          <p:cNvSpPr/>
          <p:nvPr/>
        </p:nvSpPr>
        <p:spPr>
          <a:xfrm>
            <a:off x="685800" y="5760720"/>
            <a:ext cx="9921240" cy="868680"/>
          </a:xfrm>
          <a:prstGeom prst="roundRect">
            <a:avLst>
              <a:gd name="adj" fmla="val 9474"/>
            </a:avLst>
          </a:prstGeom>
          <a:solidFill>
            <a:srgbClr val="F4F7F7"/>
          </a:solidFill>
          <a:ln/>
        </p:spPr>
      </p:sp>
      <p:sp>
        <p:nvSpPr>
          <p:cNvPr id="17" name="Text 10"/>
          <p:cNvSpPr txBox="1"/>
          <p:nvPr/>
        </p:nvSpPr>
        <p:spPr>
          <a:xfrm>
            <a:off x="1051560" y="5760720"/>
            <a:ext cx="9189720" cy="868680"/>
          </a:xfrm>
          <a:prstGeom prst="rect">
            <a:avLst/>
          </a:prstGeom>
          <a:noFill/>
          <a:ln/>
        </p:spPr>
        <p:txBody>
          <a:bodyPr wrap="square" lIns="0" tIns="0" rIns="0" bIns="0" rtlCol="0" anchor="ctr"/>
          <a:lstStyle/>
          <a:p>
            <a:pPr algn="ctr" indent="0" marL="0">
              <a:lnSpc>
                <a:spcPct val="130000"/>
              </a:lnSpc>
              <a:buNone/>
            </a:pPr>
            <a:r>
              <a:rPr lang="en-US" sz="1600" b="1" dirty="0">
                <a:solidFill>
                  <a:srgbClr val="387F7F"/>
                </a:solidFill>
                <a:latin typeface="Poppins" pitchFamily="34" charset="0"/>
                <a:ea typeface="Poppins" pitchFamily="34" charset="-122"/>
                <a:cs typeface="Poppins" pitchFamily="34" charset="-120"/>
              </a:rPr>
              <a:t>Next: the pipeline lab needs this same honesty applied to a very different kind of AI output - a model's classification, not a number.</a:t>
            </a:r>
            <a:endParaRPr lang="en-US" sz="1600" dirty="0"/>
          </a:p>
        </p:txBody>
      </p:sp>
      <p:pic>
        <p:nvPicPr>
          <p:cNvPr id="18" name="Image 5" descr="/home/claude/assets/logo_full.png">    </p:cNvPr>
          <p:cNvPicPr>
            <a:picLocks noChangeAspect="1"/>
          </p:cNvPicPr>
          <p:nvPr/>
        </p:nvPicPr>
        <p:blipFill>
          <a:blip r:embed="rId7"/>
          <a:stretch>
            <a:fillRect/>
          </a:stretch>
        </p:blipFill>
        <p:spPr>
          <a:xfrm>
            <a:off x="10998403" y="5949086"/>
            <a:ext cx="431597" cy="375337"/>
          </a:xfrm>
          <a:prstGeom prst="rect">
            <a:avLst/>
          </a:prstGeom>
        </p:spPr>
      </p:pic>
      <p:sp>
        <p:nvSpPr>
          <p:cNvPr id="19" name="Text 11"/>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Where this goes next</a:t>
            </a:r>
            <a:endParaRPr lang="en-US" sz="3300" dirty="0"/>
          </a:p>
        </p:txBody>
      </p:sp>
      <p:sp>
        <p:nvSpPr>
          <p:cNvPr id="6" name="Shape 4"/>
          <p:cNvSpPr/>
          <p:nvPr/>
        </p:nvSpPr>
        <p:spPr>
          <a:xfrm>
            <a:off x="68580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600200"/>
            <a:ext cx="3124200" cy="457200"/>
          </a:xfrm>
          <a:prstGeom prst="rect">
            <a:avLst/>
          </a:prstGeom>
          <a:solidFill>
            <a:srgbClr val="387F7F"/>
          </a:solidFill>
          <a:ln/>
        </p:spPr>
      </p:sp>
      <p:sp>
        <p:nvSpPr>
          <p:cNvPr id="8" name="Text 6"/>
          <p:cNvSpPr txBox="1"/>
          <p:nvPr/>
        </p:nvSpPr>
        <p:spPr>
          <a:xfrm>
            <a:off x="68580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TOPIC 8.3</a:t>
            </a:r>
            <a:endParaRPr lang="en-US" sz="1250" dirty="0"/>
          </a:p>
        </p:txBody>
      </p:sp>
      <p:sp>
        <p:nvSpPr>
          <p:cNvPr id="9" name="Text 7"/>
          <p:cNvSpPr txBox="1"/>
          <p:nvPr/>
        </p:nvSpPr>
        <p:spPr>
          <a:xfrm>
            <a:off x="91440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Machine learning concepts for literacy: supervised learning, classification, regression and clustering, explained in plain language - strictly literacy, no model building.</a:t>
            </a:r>
            <a:endParaRPr lang="en-US" sz="1500" dirty="0"/>
          </a:p>
        </p:txBody>
      </p:sp>
      <p:sp>
        <p:nvSpPr>
          <p:cNvPr id="10" name="Shape 8"/>
          <p:cNvSpPr/>
          <p:nvPr/>
        </p:nvSpPr>
        <p:spPr>
          <a:xfrm>
            <a:off x="408432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4084320" y="1600200"/>
            <a:ext cx="3124200" cy="457200"/>
          </a:xfrm>
          <a:prstGeom prst="rect">
            <a:avLst/>
          </a:prstGeom>
          <a:solidFill>
            <a:srgbClr val="387F7F"/>
          </a:solidFill>
          <a:ln/>
        </p:spPr>
      </p:sp>
      <p:sp>
        <p:nvSpPr>
          <p:cNvPr id="12" name="Text 10"/>
          <p:cNvSpPr txBox="1"/>
          <p:nvPr/>
        </p:nvSpPr>
        <p:spPr>
          <a:xfrm>
            <a:off x="408432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PIPELINE LAB</a:t>
            </a:r>
            <a:endParaRPr lang="en-US" sz="1250" dirty="0"/>
          </a:p>
        </p:txBody>
      </p:sp>
      <p:sp>
        <p:nvSpPr>
          <p:cNvPr id="13" name="Text 11"/>
          <p:cNvSpPr txBox="1"/>
          <p:nvPr/>
        </p:nvSpPr>
        <p:spPr>
          <a:xfrm>
            <a:off x="431292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The full-day lab reuses this topic's honesty habit: any unverified claim in the final report, forecast or otherwise, fails the exercise.</a:t>
            </a:r>
            <a:endParaRPr lang="en-US" sz="1500" dirty="0"/>
          </a:p>
        </p:txBody>
      </p:sp>
      <p:sp>
        <p:nvSpPr>
          <p:cNvPr id="14" name="Shape 12"/>
          <p:cNvSpPr/>
          <p:nvPr/>
        </p:nvSpPr>
        <p:spPr>
          <a:xfrm>
            <a:off x="748284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15" name="Shape 13"/>
          <p:cNvSpPr/>
          <p:nvPr/>
        </p:nvSpPr>
        <p:spPr>
          <a:xfrm>
            <a:off x="7482840" y="1600200"/>
            <a:ext cx="3124200" cy="457200"/>
          </a:xfrm>
          <a:prstGeom prst="rect">
            <a:avLst/>
          </a:prstGeom>
          <a:solidFill>
            <a:srgbClr val="387F7F"/>
          </a:solidFill>
          <a:ln/>
        </p:spPr>
      </p:sp>
      <p:sp>
        <p:nvSpPr>
          <p:cNvPr id="16" name="Text 14"/>
          <p:cNvSpPr txBox="1"/>
          <p:nvPr/>
        </p:nvSpPr>
        <p:spPr>
          <a:xfrm>
            <a:off x="748284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RESPONSIBLE RECORD</a:t>
            </a:r>
            <a:endParaRPr lang="en-US" sz="1250" dirty="0"/>
          </a:p>
        </p:txBody>
      </p:sp>
      <p:sp>
        <p:nvSpPr>
          <p:cNvPr id="17" name="Text 15"/>
          <p:cNvSpPr txBox="1"/>
          <p:nvPr/>
        </p:nvSpPr>
        <p:spPr>
          <a:xfrm>
            <a:off x="771144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Log today's forecasting method and stated assumptions in your responsible data and AI record, started back in Topic 7.6.</a:t>
            </a:r>
            <a:endParaRPr lang="en-US" sz="1500" dirty="0"/>
          </a:p>
        </p:txBody>
      </p:sp>
      <p:pic>
        <p:nvPicPr>
          <p:cNvPr id="1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2026-09-05T22:43:08Z</dcterms:created>
  <dcterms:modified xsi:type="dcterms:W3CDTF">2026-09-05T22:43:08Z</dcterms:modified>
</cp:coreProperties>
</file>