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Inter" charset="1" panose="02000503000000020004"/>
      <p:regular r:id="rId26"/>
    </p:embeddedFont>
    <p:embeddedFont>
      <p:font typeface="Inter Medium" charset="1" panose="02000503000000020004"/>
      <p:regular r:id="rId27"/>
    </p:embeddedFont>
    <p:embeddedFont>
      <p:font typeface="Poppins Bold" charset="1" panose="00000800000000000000"/>
      <p:regular r:id="rId28"/>
    </p:embeddedFont>
    <p:embeddedFont>
      <p:font typeface="Poppins" charset="1" panose="00000500000000000000"/>
      <p:regular r:id="rId30"/>
    </p:embeddedFont>
    <p:embeddedFont>
      <p:font typeface="Poppins Italics" charset="1" panose="000005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notesMasters/notesMaster1.xml" Type="http://schemas.openxmlformats.org/officeDocument/2006/relationships/notesMaster"/><Relationship Id="rId24" Target="theme/theme2.xml" Type="http://schemas.openxmlformats.org/officeDocument/2006/relationships/theme"/><Relationship Id="rId25" Target="notesSlides/notesSlide1.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notesSlides/notesSlide2.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notesSlides/notesSlide3.xml" Type="http://schemas.openxmlformats.org/officeDocument/2006/relationships/notesSlide"/><Relationship Id="rId33" Target="notesSlides/notesSlide4.xml" Type="http://schemas.openxmlformats.org/officeDocument/2006/relationships/notesSlide"/><Relationship Id="rId34" Target="notesSlides/notesSlide5.xml" Type="http://schemas.openxmlformats.org/officeDocument/2006/relationships/notesSlide"/><Relationship Id="rId35" Target="notesSlides/notesSlide6.xml" Type="http://schemas.openxmlformats.org/officeDocument/2006/relationships/notesSlide"/><Relationship Id="rId36" Target="notesSlides/notesSlide7.xml" Type="http://schemas.openxmlformats.org/officeDocument/2006/relationships/notesSlide"/><Relationship Id="rId37" Target="notesSlides/notesSlide8.xml" Type="http://schemas.openxmlformats.org/officeDocument/2006/relationships/notesSlide"/><Relationship Id="rId38" Target="notesSlides/notesSlide9.xml" Type="http://schemas.openxmlformats.org/officeDocument/2006/relationships/notesSlide"/><Relationship Id="rId39" Target="notesSlides/notesSlide10.xml" Type="http://schemas.openxmlformats.org/officeDocument/2006/relationships/notesSlide"/><Relationship Id="rId4" Target="theme/theme1.xml" Type="http://schemas.openxmlformats.org/officeDocument/2006/relationships/theme"/><Relationship Id="rId40" Target="notesSlides/notesSlide11.xml" Type="http://schemas.openxmlformats.org/officeDocument/2006/relationships/notesSlide"/><Relationship Id="rId41" Target="notesSlides/notesSlide12.xml" Type="http://schemas.openxmlformats.org/officeDocument/2006/relationships/notesSlide"/><Relationship Id="rId42" Target="notesSlides/notesSlide13.xml" Type="http://schemas.openxmlformats.org/officeDocument/2006/relationships/notesSlide"/><Relationship Id="rId43" Target="notesSlides/notesSlide14.xml" Type="http://schemas.openxmlformats.org/officeDocument/2006/relationships/notesSlide"/><Relationship Id="rId44" Target="notesSlides/notesSlide15.xml" Type="http://schemas.openxmlformats.org/officeDocument/2006/relationships/notesSlide"/><Relationship Id="rId45" Target="notesSlides/notesSlide16.xml" Type="http://schemas.openxmlformats.org/officeDocument/2006/relationships/notesSlide"/><Relationship Id="rId46" Target="notesSlides/notesSlide17.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CONTENT: Section marker for Part One. States plainly that the method comes before the tool: trainees fit a trend by hand on paper or in a spreadsheet before any AI is involved, so that when AI later produces the same kind of output, they can judge whether it did the calculation correctly.</a:t>
            </a:r>
          </a:p>
          <a:p>
            <a:r>
              <a:rPr lang="en-US"/>
              <a:t/>
            </a:r>
          </a:p>
          <a:p>
            <a:r>
              <a:rPr lang="en-US"/>
              <a:t>WHAT TO SAY: "Part one. Before we let AI anywhere near this, we're doing the forecast by hand. Three things: what a trend-based forecast actually assumes about the world, fitting a straight line through SwiftRoute's three months of Q3 data, and -- just as important -- looking honestly at how well that line actually fits before we trust anything it predicts."</a:t>
            </a:r>
          </a:p>
          <a:p>
            <a:r>
              <a:rPr lang="en-US"/>
              <a:t/>
            </a:r>
          </a:p>
          <a:p>
            <a:r>
              <a:rPr lang="en-US"/>
              <a:t>DELIVERY CUE: Brief, forward-leaning. This is a short section relative to Part Two.</a:t>
            </a:r>
          </a:p>
          <a:p>
            <a:r>
              <a:rPr lang="en-US"/>
              <a:t/>
            </a:r>
          </a:p>
          <a:p>
            <a:r>
              <a:rPr lang="en-US"/>
              <a:t>TIMING: 30-45 seconds.</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CONTENT: Section marker for Part Two, moving from the hand-built trend into AI-assisted extension. Names predict-then-run explicitly as the carried-forward technique from Module 7, reapplied here to a forecast rather than a query or a formula.</a:t>
            </a:r>
          </a:p>
          <a:p>
            <a:r>
              <a:rPr lang="en-US"/>
              <a:t/>
            </a:r>
          </a:p>
          <a:p>
            <a:r>
              <a:rPr lang="en-US"/>
              <a:t>WHAT TO SAY: "Part two. Now we bring AI in -- not to replace the hand calculation, but to extend it and check it. Same predict-then-run habit from Module 7: before you run anything, say out loud what you expect back. We'll look at a first AI forecast taken at face value, then stress-test that same forecast a second, independent way."</a:t>
            </a:r>
          </a:p>
          <a:p>
            <a:r>
              <a:rPr lang="en-US"/>
              <a:t/>
            </a:r>
          </a:p>
          <a:p>
            <a:r>
              <a:rPr lang="en-US"/>
              <a:t>DELIVERY CUE: Brief. This section's substance is in the compare slide that follows, not here.</a:t>
            </a:r>
          </a:p>
          <a:p>
            <a:r>
              <a:rPr lang="en-US"/>
              <a:t/>
            </a:r>
          </a:p>
          <a:p>
            <a:r>
              <a:rPr lang="en-US"/>
              <a:t>TIMING: 30-45 seconds.</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CONTENT: Section marker for Part Three, moving from method to the actual deliverable Adaeze takes back to her finance lead from the hook. Names what comes next concretely: the final stated range, an explicit look at what a three-month trend cannot see, and the trainee practice task.</a:t>
            </a:r>
          </a:p>
          <a:p>
            <a:r>
              <a:rPr lang="en-US"/>
              <a:t/>
            </a:r>
          </a:p>
          <a:p>
            <a:r>
              <a:rPr lang="en-US"/>
              <a:t>WHAT TO SAY: "Part three, and this closes the loop on Adaeze's Monday morning problem. We put together the actual range and assumptions she takes to her finance lead, we name specifically what three months of data cannot show her, and then it's your turn to forecast one more figure the same way."</a:t>
            </a:r>
          </a:p>
          <a:p>
            <a:r>
              <a:rPr lang="en-US"/>
              <a:t/>
            </a:r>
          </a:p>
          <a:p>
            <a:r>
              <a:rPr lang="en-US"/>
              <a:t>DELIVERY CUE: Brief, purposeful -- this section should feel like arriving somewhere after the build-up of Parts One and Two.</a:t>
            </a:r>
          </a:p>
          <a:p>
            <a:r>
              <a:rPr lang="en-US"/>
              <a:t/>
            </a:r>
          </a:p>
          <a:p>
            <a:r>
              <a:rPr lang="en-US"/>
              <a:t>TIMING: 30-45 seconds.</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jpe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8.png" Type="http://schemas.openxmlformats.org/officeDocument/2006/relationships/image"/><Relationship Id="rId7" Target="../media/image4.jpe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9.png" Type="http://schemas.openxmlformats.org/officeDocument/2006/relationships/image"/><Relationship Id="rId4" Target="../media/image4.jpe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9.png" Type="http://schemas.openxmlformats.org/officeDocument/2006/relationships/image"/><Relationship Id="rId4" Target="../media/image4.jpe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9.png" Type="http://schemas.openxmlformats.org/officeDocument/2006/relationships/image"/><Relationship Id="rId4" Target="../media/image4.jpe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png" Type="http://schemas.openxmlformats.org/officeDocument/2006/relationships/image"/><Relationship Id="rId2" Target="../notesSlides/notesSlide16.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1430000" y="0"/>
            <a:ext cx="2286000" cy="1907553"/>
            <a:chOff x="0" y="0"/>
            <a:chExt cx="3048000" cy="2543404"/>
          </a:xfrm>
        </p:grpSpPr>
        <p:sp>
          <p:nvSpPr>
            <p:cNvPr name="Freeform 4" id="4"/>
            <p:cNvSpPr/>
            <p:nvPr/>
          </p:nvSpPr>
          <p:spPr>
            <a:xfrm flipH="false" flipV="false" rot="0">
              <a:off x="0" y="0"/>
              <a:ext cx="3048000" cy="2543429"/>
            </a:xfrm>
            <a:custGeom>
              <a:avLst/>
              <a:gdLst/>
              <a:ahLst/>
              <a:cxnLst/>
              <a:rect r="r" b="b" t="t" l="l"/>
              <a:pathLst>
                <a:path h="2543429" w="3048000">
                  <a:moveTo>
                    <a:pt x="0" y="0"/>
                  </a:moveTo>
                  <a:lnTo>
                    <a:pt x="3048000" y="0"/>
                  </a:lnTo>
                  <a:lnTo>
                    <a:pt x="3048000" y="2543429"/>
                  </a:lnTo>
                  <a:lnTo>
                    <a:pt x="0" y="2543429"/>
                  </a:lnTo>
                  <a:lnTo>
                    <a:pt x="0" y="0"/>
                  </a:lnTo>
                  <a:close/>
                </a:path>
              </a:pathLst>
            </a:custGeom>
            <a:blipFill>
              <a:blip r:embed="rId4"/>
              <a:stretch>
                <a:fillRect l="0" t="0" r="-8" b="1"/>
              </a:stretch>
            </a:blipFill>
          </p:spPr>
        </p:sp>
      </p:grpSp>
      <p:grpSp>
        <p:nvGrpSpPr>
          <p:cNvPr name="Group 5" id="5"/>
          <p:cNvGrpSpPr/>
          <p:nvPr/>
        </p:nvGrpSpPr>
        <p:grpSpPr>
          <a:xfrm rot="0">
            <a:off x="15001875" y="714375"/>
            <a:ext cx="2857500" cy="2857500"/>
            <a:chOff x="0" y="0"/>
            <a:chExt cx="3810000" cy="3810000"/>
          </a:xfrm>
        </p:grpSpPr>
        <p:sp>
          <p:nvSpPr>
            <p:cNvPr name="Freeform 6" id="6"/>
            <p:cNvSpPr/>
            <p:nvPr/>
          </p:nvSpPr>
          <p:spPr>
            <a:xfrm flipH="false" flipV="false" rot="0">
              <a:off x="0" y="0"/>
              <a:ext cx="3810000" cy="3810000"/>
            </a:xfrm>
            <a:custGeom>
              <a:avLst/>
              <a:gdLst/>
              <a:ahLst/>
              <a:cxnLst/>
              <a:rect r="r" b="b" t="t" l="l"/>
              <a:pathLst>
                <a:path h="3810000" w="3810000">
                  <a:moveTo>
                    <a:pt x="0" y="1905000"/>
                  </a:moveTo>
                  <a:cubicBezTo>
                    <a:pt x="0" y="852932"/>
                    <a:pt x="852932" y="0"/>
                    <a:pt x="1905000" y="0"/>
                  </a:cubicBezTo>
                  <a:cubicBezTo>
                    <a:pt x="2957068" y="0"/>
                    <a:pt x="3810000" y="852932"/>
                    <a:pt x="3810000" y="1905000"/>
                  </a:cubicBezTo>
                  <a:cubicBezTo>
                    <a:pt x="3810000" y="2957068"/>
                    <a:pt x="2957068" y="3810000"/>
                    <a:pt x="1905000" y="3810000"/>
                  </a:cubicBezTo>
                  <a:cubicBezTo>
                    <a:pt x="852932" y="3810000"/>
                    <a:pt x="0" y="2957068"/>
                    <a:pt x="0" y="1905000"/>
                  </a:cubicBezTo>
                  <a:close/>
                </a:path>
              </a:pathLst>
            </a:custGeom>
            <a:solidFill>
              <a:srgbClr val="387F7F">
                <a:alpha val="0"/>
              </a:srgbClr>
            </a:solidFill>
          </p:spPr>
        </p:sp>
      </p:grpSp>
      <p:grpSp>
        <p:nvGrpSpPr>
          <p:cNvPr name="Group 7" id="7"/>
          <p:cNvGrpSpPr/>
          <p:nvPr/>
        </p:nvGrpSpPr>
        <p:grpSpPr>
          <a:xfrm rot="0">
            <a:off x="0" y="6429375"/>
            <a:ext cx="1907553" cy="1286104"/>
            <a:chOff x="0" y="0"/>
            <a:chExt cx="2543404" cy="1714805"/>
          </a:xfrm>
        </p:grpSpPr>
        <p:sp>
          <p:nvSpPr>
            <p:cNvPr name="Freeform 8" id="8"/>
            <p:cNvSpPr/>
            <p:nvPr/>
          </p:nvSpPr>
          <p:spPr>
            <a:xfrm flipH="false" flipV="false" rot="0">
              <a:off x="0" y="0"/>
              <a:ext cx="2543429" cy="1714754"/>
            </a:xfrm>
            <a:custGeom>
              <a:avLst/>
              <a:gdLst/>
              <a:ahLst/>
              <a:cxnLst/>
              <a:rect r="r" b="b" t="t" l="l"/>
              <a:pathLst>
                <a:path h="1714754" w="2543429">
                  <a:moveTo>
                    <a:pt x="0" y="0"/>
                  </a:moveTo>
                  <a:lnTo>
                    <a:pt x="2543429" y="0"/>
                  </a:lnTo>
                  <a:lnTo>
                    <a:pt x="2543429" y="1714754"/>
                  </a:lnTo>
                  <a:lnTo>
                    <a:pt x="0" y="1714754"/>
                  </a:lnTo>
                  <a:lnTo>
                    <a:pt x="0" y="0"/>
                  </a:lnTo>
                  <a:close/>
                </a:path>
              </a:pathLst>
            </a:custGeom>
            <a:blipFill>
              <a:blip r:embed="rId5"/>
              <a:stretch>
                <a:fillRect l="0" t="0" r="-7" b="-2"/>
              </a:stretch>
            </a:blipFill>
          </p:spPr>
        </p:sp>
      </p:grpSp>
      <p:grpSp>
        <p:nvGrpSpPr>
          <p:cNvPr name="Group 9" id="9"/>
          <p:cNvGrpSpPr/>
          <p:nvPr/>
        </p:nvGrpSpPr>
        <p:grpSpPr>
          <a:xfrm rot="0">
            <a:off x="1143000" y="2398256"/>
            <a:ext cx="16002000" cy="869600"/>
            <a:chOff x="0" y="0"/>
            <a:chExt cx="21336000" cy="1159467"/>
          </a:xfrm>
        </p:grpSpPr>
        <p:sp>
          <p:nvSpPr>
            <p:cNvPr name="Freeform 10" id="10"/>
            <p:cNvSpPr/>
            <p:nvPr/>
          </p:nvSpPr>
          <p:spPr>
            <a:xfrm flipH="false" flipV="false" rot="0">
              <a:off x="0" y="0"/>
              <a:ext cx="21336000" cy="1159470"/>
            </a:xfrm>
            <a:custGeom>
              <a:avLst/>
              <a:gdLst/>
              <a:ahLst/>
              <a:cxnLst/>
              <a:rect r="r" b="b" t="t" l="l"/>
              <a:pathLst>
                <a:path h="1159470" w="21336000">
                  <a:moveTo>
                    <a:pt x="0" y="0"/>
                  </a:moveTo>
                  <a:lnTo>
                    <a:pt x="21336000" y="0"/>
                  </a:lnTo>
                  <a:lnTo>
                    <a:pt x="21336000" y="1159470"/>
                  </a:lnTo>
                  <a:lnTo>
                    <a:pt x="0" y="1159470"/>
                  </a:lnTo>
                  <a:close/>
                </a:path>
              </a:pathLst>
            </a:custGeom>
            <a:blipFill>
              <a:blip r:embed="rId6">
                <a:alphaModFix amt="0"/>
              </a:blip>
              <a:stretch>
                <a:fillRect l="0" t="-339976" r="0" b="-277131"/>
              </a:stretch>
            </a:blipFill>
          </p:spPr>
        </p:sp>
        <p:sp>
          <p:nvSpPr>
            <p:cNvPr name="TextBox 11" id="11"/>
            <p:cNvSpPr txBox="true"/>
            <p:nvPr/>
          </p:nvSpPr>
          <p:spPr>
            <a:xfrm>
              <a:off x="0" y="0"/>
              <a:ext cx="21336000" cy="1159467"/>
            </a:xfrm>
            <a:prstGeom prst="rect">
              <a:avLst/>
            </a:prstGeom>
          </p:spPr>
          <p:txBody>
            <a:bodyPr anchor="ctr" rtlCol="false" tIns="0" lIns="0" bIns="0" rIns="0"/>
            <a:lstStyle/>
            <a:p>
              <a:pPr algn="l">
                <a:lnSpc>
                  <a:spcPts val="2520"/>
                </a:lnSpc>
              </a:pPr>
              <a:r>
                <a:rPr lang="en-US" sz="2100">
                  <a:solidFill>
                    <a:srgbClr val="387F7F"/>
                  </a:solidFill>
                  <a:latin typeface="Inter"/>
                  <a:ea typeface="Inter"/>
                  <a:cs typeface="Inter"/>
                  <a:sym typeface="Inter"/>
                </a:rPr>
                <a:t>AI-ASSISTED DATA ANALYSIS</a:t>
              </a:r>
            </a:p>
          </p:txBody>
        </p:sp>
      </p:grpSp>
      <p:grpSp>
        <p:nvGrpSpPr>
          <p:cNvPr name="Group 12" id="12"/>
          <p:cNvGrpSpPr/>
          <p:nvPr/>
        </p:nvGrpSpPr>
        <p:grpSpPr>
          <a:xfrm rot="0">
            <a:off x="1143000" y="3267856"/>
            <a:ext cx="16002000" cy="772854"/>
            <a:chOff x="0" y="0"/>
            <a:chExt cx="21336000" cy="1030472"/>
          </a:xfrm>
        </p:grpSpPr>
        <p:sp>
          <p:nvSpPr>
            <p:cNvPr name="Freeform 13" id="13"/>
            <p:cNvSpPr/>
            <p:nvPr/>
          </p:nvSpPr>
          <p:spPr>
            <a:xfrm flipH="false" flipV="false" rot="0">
              <a:off x="0" y="0"/>
              <a:ext cx="21336000" cy="1030464"/>
            </a:xfrm>
            <a:custGeom>
              <a:avLst/>
              <a:gdLst/>
              <a:ahLst/>
              <a:cxnLst/>
              <a:rect r="r" b="b" t="t" l="l"/>
              <a:pathLst>
                <a:path h="1030464" w="21336000">
                  <a:moveTo>
                    <a:pt x="0" y="0"/>
                  </a:moveTo>
                  <a:lnTo>
                    <a:pt x="21336000" y="0"/>
                  </a:lnTo>
                  <a:lnTo>
                    <a:pt x="21336000" y="1030464"/>
                  </a:lnTo>
                  <a:lnTo>
                    <a:pt x="0" y="1030464"/>
                  </a:lnTo>
                  <a:close/>
                </a:path>
              </a:pathLst>
            </a:custGeom>
            <a:blipFill>
              <a:blip r:embed="rId6">
                <a:alphaModFix amt="0"/>
              </a:blip>
              <a:stretch>
                <a:fillRect l="0" t="-370573" r="0" b="-336311"/>
              </a:stretch>
            </a:blipFill>
          </p:spPr>
        </p:sp>
        <p:sp>
          <p:nvSpPr>
            <p:cNvPr name="TextBox 14" id="14"/>
            <p:cNvSpPr txBox="true"/>
            <p:nvPr/>
          </p:nvSpPr>
          <p:spPr>
            <a:xfrm>
              <a:off x="0" y="-9525"/>
              <a:ext cx="21336000" cy="1039997"/>
            </a:xfrm>
            <a:prstGeom prst="rect">
              <a:avLst/>
            </a:prstGeom>
          </p:spPr>
          <p:txBody>
            <a:bodyPr anchor="ctr" rtlCol="false" tIns="0" lIns="0" bIns="0" rIns="0"/>
            <a:lstStyle/>
            <a:p>
              <a:pPr algn="l">
                <a:lnSpc>
                  <a:spcPts val="3960"/>
                </a:lnSpc>
              </a:pPr>
              <a:r>
                <a:rPr lang="en-US" b="true" sz="3300">
                  <a:solidFill>
                    <a:srgbClr val="64748B"/>
                  </a:solidFill>
                  <a:latin typeface="Inter Medium"/>
                  <a:ea typeface="Inter Medium"/>
                  <a:cs typeface="Inter Medium"/>
                  <a:sym typeface="Inter Medium"/>
                </a:rPr>
                <a:t>MODULE 8 · AI-ASSISTED DATA ANALYSIS</a:t>
              </a:r>
            </a:p>
          </p:txBody>
        </p:sp>
      </p:grpSp>
      <p:grpSp>
        <p:nvGrpSpPr>
          <p:cNvPr name="Group 15" id="15"/>
          <p:cNvGrpSpPr/>
          <p:nvPr/>
        </p:nvGrpSpPr>
        <p:grpSpPr>
          <a:xfrm rot="0">
            <a:off x="1143000" y="8572500"/>
            <a:ext cx="16002000" cy="28804"/>
            <a:chOff x="0" y="0"/>
            <a:chExt cx="21336000" cy="38405"/>
          </a:xfrm>
        </p:grpSpPr>
        <p:sp>
          <p:nvSpPr>
            <p:cNvPr name="Freeform 16" id="16"/>
            <p:cNvSpPr/>
            <p:nvPr/>
          </p:nvSpPr>
          <p:spPr>
            <a:xfrm flipH="false" flipV="false" rot="0">
              <a:off x="0" y="0"/>
              <a:ext cx="21336000" cy="38354"/>
            </a:xfrm>
            <a:custGeom>
              <a:avLst/>
              <a:gdLst/>
              <a:ahLst/>
              <a:cxnLst/>
              <a:rect r="r" b="b" t="t" l="l"/>
              <a:pathLst>
                <a:path h="38354" w="21336000">
                  <a:moveTo>
                    <a:pt x="0" y="0"/>
                  </a:moveTo>
                  <a:lnTo>
                    <a:pt x="21336000" y="0"/>
                  </a:lnTo>
                  <a:lnTo>
                    <a:pt x="21336000" y="38354"/>
                  </a:lnTo>
                  <a:lnTo>
                    <a:pt x="0" y="38354"/>
                  </a:lnTo>
                  <a:close/>
                </a:path>
              </a:pathLst>
            </a:custGeom>
            <a:solidFill>
              <a:srgbClr val="E2E8F0"/>
            </a:solidFill>
          </p:spPr>
        </p:sp>
      </p:grpSp>
      <p:grpSp>
        <p:nvGrpSpPr>
          <p:cNvPr name="Group 17" id="17"/>
          <p:cNvGrpSpPr/>
          <p:nvPr/>
        </p:nvGrpSpPr>
        <p:grpSpPr>
          <a:xfrm rot="0">
            <a:off x="1143000" y="9001125"/>
            <a:ext cx="385648" cy="342900"/>
            <a:chOff x="0" y="0"/>
            <a:chExt cx="514198" cy="457200"/>
          </a:xfrm>
        </p:grpSpPr>
        <p:sp>
          <p:nvSpPr>
            <p:cNvPr name="Freeform 18" id="18"/>
            <p:cNvSpPr/>
            <p:nvPr/>
          </p:nvSpPr>
          <p:spPr>
            <a:xfrm flipH="false" flipV="false" rot="0">
              <a:off x="0" y="0"/>
              <a:ext cx="514223" cy="457200"/>
            </a:xfrm>
            <a:custGeom>
              <a:avLst/>
              <a:gdLst/>
              <a:ahLst/>
              <a:cxnLst/>
              <a:rect r="r" b="b" t="t" l="l"/>
              <a:pathLst>
                <a:path h="457200" w="514223">
                  <a:moveTo>
                    <a:pt x="0" y="0"/>
                  </a:moveTo>
                  <a:lnTo>
                    <a:pt x="514223" y="0"/>
                  </a:lnTo>
                  <a:lnTo>
                    <a:pt x="514223" y="457200"/>
                  </a:lnTo>
                  <a:lnTo>
                    <a:pt x="0" y="457200"/>
                  </a:lnTo>
                  <a:lnTo>
                    <a:pt x="0" y="0"/>
                  </a:lnTo>
                  <a:close/>
                </a:path>
              </a:pathLst>
            </a:custGeom>
            <a:blipFill>
              <a:blip r:embed="rId7"/>
              <a:stretch>
                <a:fillRect l="0" t="0" r="-24" b="0"/>
              </a:stretch>
            </a:blipFill>
          </p:spPr>
        </p:sp>
      </p:grpSp>
      <p:grpSp>
        <p:nvGrpSpPr>
          <p:cNvPr name="Group 19" id="19"/>
          <p:cNvGrpSpPr/>
          <p:nvPr/>
        </p:nvGrpSpPr>
        <p:grpSpPr>
          <a:xfrm rot="0">
            <a:off x="1643062" y="9001125"/>
            <a:ext cx="2143354" cy="438950"/>
            <a:chOff x="0" y="0"/>
            <a:chExt cx="2857805" cy="585267"/>
          </a:xfrm>
        </p:grpSpPr>
        <p:sp>
          <p:nvSpPr>
            <p:cNvPr name="Freeform 20" id="20"/>
            <p:cNvSpPr/>
            <p:nvPr/>
          </p:nvSpPr>
          <p:spPr>
            <a:xfrm flipH="false" flipV="false" rot="0">
              <a:off x="0" y="0"/>
              <a:ext cx="2857800" cy="585270"/>
            </a:xfrm>
            <a:custGeom>
              <a:avLst/>
              <a:gdLst/>
              <a:ahLst/>
              <a:cxnLst/>
              <a:rect r="r" b="b" t="t" l="l"/>
              <a:pathLst>
                <a:path h="585270" w="2857800">
                  <a:moveTo>
                    <a:pt x="0" y="0"/>
                  </a:moveTo>
                  <a:lnTo>
                    <a:pt x="2857800" y="0"/>
                  </a:lnTo>
                  <a:lnTo>
                    <a:pt x="2857800" y="585270"/>
                  </a:lnTo>
                  <a:lnTo>
                    <a:pt x="0" y="585270"/>
                  </a:lnTo>
                  <a:close/>
                </a:path>
              </a:pathLst>
            </a:custGeom>
            <a:blipFill>
              <a:blip r:embed="rId6">
                <a:alphaModFix amt="0"/>
              </a:blip>
              <a:stretch>
                <a:fillRect l="0" t="-58339" r="0" b="-31946"/>
              </a:stretch>
            </a:blipFill>
          </p:spPr>
        </p:sp>
        <p:sp>
          <p:nvSpPr>
            <p:cNvPr name="TextBox 21" id="21"/>
            <p:cNvSpPr txBox="true"/>
            <p:nvPr/>
          </p:nvSpPr>
          <p:spPr>
            <a:xfrm>
              <a:off x="0" y="0"/>
              <a:ext cx="2857805" cy="585267"/>
            </a:xfrm>
            <a:prstGeom prst="rect">
              <a:avLst/>
            </a:prstGeom>
          </p:spPr>
          <p:txBody>
            <a:bodyPr anchor="ctr" rtlCol="false" tIns="0" lIns="0" bIns="0" rIns="0"/>
            <a:lstStyle/>
            <a:p>
              <a:pPr algn="l">
                <a:lnSpc>
                  <a:spcPts val="2520"/>
                </a:lnSpc>
              </a:pPr>
              <a:r>
                <a:rPr lang="en-US" sz="2100">
                  <a:solidFill>
                    <a:srgbClr val="64748B"/>
                  </a:solidFill>
                  <a:latin typeface="Inter"/>
                  <a:ea typeface="Inter"/>
                  <a:cs typeface="Inter"/>
                  <a:sym typeface="Inter"/>
                </a:rPr>
                <a:t>Topic 2 of 5</a:t>
              </a:r>
            </a:p>
          </p:txBody>
        </p:sp>
      </p:grpSp>
      <p:sp>
        <p:nvSpPr>
          <p:cNvPr name="Freeform 22" id="22"/>
          <p:cNvSpPr/>
          <p:nvPr/>
        </p:nvSpPr>
        <p:spPr>
          <a:xfrm flipH="false" flipV="false" rot="0">
            <a:off x="1143000" y="552450"/>
            <a:ext cx="2124669" cy="1845806"/>
          </a:xfrm>
          <a:custGeom>
            <a:avLst/>
            <a:gdLst/>
            <a:ahLst/>
            <a:cxnLst/>
            <a:rect r="r" b="b" t="t" l="l"/>
            <a:pathLst>
              <a:path h="1845806" w="2124669">
                <a:moveTo>
                  <a:pt x="0" y="0"/>
                </a:moveTo>
                <a:lnTo>
                  <a:pt x="2124669" y="0"/>
                </a:lnTo>
                <a:lnTo>
                  <a:pt x="2124669" y="1845806"/>
                </a:lnTo>
                <a:lnTo>
                  <a:pt x="0" y="1845806"/>
                </a:lnTo>
                <a:lnTo>
                  <a:pt x="0" y="0"/>
                </a:lnTo>
                <a:close/>
              </a:path>
            </a:pathLst>
          </a:custGeom>
          <a:blipFill>
            <a:blip r:embed="rId8"/>
            <a:stretch>
              <a:fillRect l="0" t="0" r="0" b="0"/>
            </a:stretch>
          </a:blipFill>
        </p:spPr>
      </p:sp>
      <p:grpSp>
        <p:nvGrpSpPr>
          <p:cNvPr name="Group 23" id="23"/>
          <p:cNvGrpSpPr/>
          <p:nvPr/>
        </p:nvGrpSpPr>
        <p:grpSpPr>
          <a:xfrm rot="0">
            <a:off x="11001070" y="1733550"/>
            <a:ext cx="6258230" cy="6258230"/>
            <a:chOff x="0" y="0"/>
            <a:chExt cx="8890000" cy="8890000"/>
          </a:xfrm>
        </p:grpSpPr>
        <p:sp>
          <p:nvSpPr>
            <p:cNvPr name="Freeform 24" id="24"/>
            <p:cNvSpPr/>
            <p:nvPr/>
          </p:nvSpPr>
          <p:spPr>
            <a:xfrm flipH="false" flipV="false" rot="0">
              <a:off x="0" y="0"/>
              <a:ext cx="8890000" cy="8890000"/>
            </a:xfrm>
            <a:custGeom>
              <a:avLst/>
              <a:gdLst/>
              <a:ahLst/>
              <a:cxnLst/>
              <a:rect r="r" b="b" t="t" l="l"/>
              <a:pathLst>
                <a:path h="8890000" w="8890000">
                  <a:moveTo>
                    <a:pt x="270611" y="0"/>
                  </a:moveTo>
                  <a:lnTo>
                    <a:pt x="8619389" y="0"/>
                  </a:lnTo>
                  <a:cubicBezTo>
                    <a:pt x="8768843" y="0"/>
                    <a:pt x="8890000" y="121157"/>
                    <a:pt x="8890000" y="270611"/>
                  </a:cubicBezTo>
                  <a:lnTo>
                    <a:pt x="8890000" y="8619389"/>
                  </a:lnTo>
                  <a:cubicBezTo>
                    <a:pt x="8890000" y="8768843"/>
                    <a:pt x="8768843" y="8890000"/>
                    <a:pt x="8619389" y="8890000"/>
                  </a:cubicBezTo>
                  <a:lnTo>
                    <a:pt x="270611" y="8890000"/>
                  </a:lnTo>
                  <a:cubicBezTo>
                    <a:pt x="121157" y="8890000"/>
                    <a:pt x="0" y="8768843"/>
                    <a:pt x="0" y="8619389"/>
                  </a:cubicBezTo>
                  <a:lnTo>
                    <a:pt x="0" y="270611"/>
                  </a:lnTo>
                  <a:cubicBezTo>
                    <a:pt x="0" y="121157"/>
                    <a:pt x="121157" y="0"/>
                    <a:pt x="270611" y="0"/>
                  </a:cubicBezTo>
                  <a:close/>
                </a:path>
              </a:pathLst>
            </a:custGeom>
            <a:blipFill>
              <a:blip r:embed="rId9"/>
              <a:stretch>
                <a:fillRect l="-14895" t="0" r="-14895" b="0"/>
              </a:stretch>
            </a:blipFill>
          </p:spPr>
        </p:sp>
      </p:grpSp>
      <p:grpSp>
        <p:nvGrpSpPr>
          <p:cNvPr name="Group 25" id="25"/>
          <p:cNvGrpSpPr/>
          <p:nvPr/>
        </p:nvGrpSpPr>
        <p:grpSpPr>
          <a:xfrm rot="0">
            <a:off x="16497824" y="8924125"/>
            <a:ext cx="647224" cy="571500"/>
            <a:chOff x="0" y="0"/>
            <a:chExt cx="862965" cy="762000"/>
          </a:xfrm>
        </p:grpSpPr>
        <p:sp>
          <p:nvSpPr>
            <p:cNvPr name="Freeform 26" id="26"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10"/>
              <a:stretch>
                <a:fillRect l="-772" t="0" r="-772" b="0"/>
              </a:stretch>
            </a:blipFill>
          </p:spPr>
        </p:sp>
      </p:grpSp>
      <p:sp>
        <p:nvSpPr>
          <p:cNvPr name="TextBox 27" id="27"/>
          <p:cNvSpPr txBox="true"/>
          <p:nvPr/>
        </p:nvSpPr>
        <p:spPr>
          <a:xfrm rot="0">
            <a:off x="1143000" y="4125754"/>
            <a:ext cx="8823325" cy="2634614"/>
          </a:xfrm>
          <a:prstGeom prst="rect">
            <a:avLst/>
          </a:prstGeom>
        </p:spPr>
        <p:txBody>
          <a:bodyPr anchor="t" rtlCol="false" tIns="0" lIns="0" bIns="0" rIns="0">
            <a:spAutoFit/>
          </a:bodyPr>
          <a:lstStyle/>
          <a:p>
            <a:pPr algn="l">
              <a:lnSpc>
                <a:spcPts val="10125"/>
              </a:lnSpc>
            </a:pPr>
            <a:r>
              <a:rPr lang="en-US" sz="8100" b="true">
                <a:solidFill>
                  <a:srgbClr val="000000"/>
                </a:solidFill>
                <a:latin typeface="Poppins Bold"/>
                <a:ea typeface="Poppins Bold"/>
                <a:cs typeface="Poppins Bold"/>
                <a:sym typeface="Poppins Bold"/>
              </a:rPr>
              <a:t>Forecasting with</a:t>
            </a:r>
          </a:p>
          <a:p>
            <a:pPr algn="l">
              <a:lnSpc>
                <a:spcPts val="10125"/>
              </a:lnSpc>
            </a:pPr>
            <a:r>
              <a:rPr lang="en-US" b="true" sz="8100">
                <a:solidFill>
                  <a:srgbClr val="387F7F"/>
                </a:solidFill>
                <a:latin typeface="Poppins Bold"/>
                <a:ea typeface="Poppins Bold"/>
                <a:cs typeface="Poppins Bold"/>
                <a:sym typeface="Poppins Bold"/>
              </a:rPr>
              <a:t>AI Support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809625"/>
            <a:ext cx="1051252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B</a:t>
            </a:r>
            <a:r>
              <a:rPr lang="en-US" sz="5000">
                <a:solidFill>
                  <a:srgbClr val="388080"/>
                </a:solidFill>
                <a:latin typeface="Poppins"/>
                <a:ea typeface="Poppins"/>
                <a:cs typeface="Poppins"/>
                <a:sym typeface="Poppins"/>
              </a:rPr>
              <a:t>efore we go further, name these</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256414" y="1811931"/>
            <a:ext cx="14413059" cy="549069"/>
            <a:chOff x="0" y="0"/>
            <a:chExt cx="19217411" cy="732092"/>
          </a:xfrm>
        </p:grpSpPr>
        <p:sp>
          <p:nvSpPr>
            <p:cNvPr name="Freeform 12" id="12"/>
            <p:cNvSpPr/>
            <p:nvPr/>
          </p:nvSpPr>
          <p:spPr>
            <a:xfrm flipH="false" flipV="false" rot="0">
              <a:off x="0" y="0"/>
              <a:ext cx="19217413" cy="732092"/>
            </a:xfrm>
            <a:custGeom>
              <a:avLst/>
              <a:gdLst/>
              <a:ahLst/>
              <a:cxnLst/>
              <a:rect r="r" b="b" t="t" l="l"/>
              <a:pathLst>
                <a:path h="732092" w="19217413">
                  <a:moveTo>
                    <a:pt x="0" y="0"/>
                  </a:moveTo>
                  <a:lnTo>
                    <a:pt x="19217413" y="0"/>
                  </a:lnTo>
                  <a:lnTo>
                    <a:pt x="19217413" y="732092"/>
                  </a:lnTo>
                  <a:lnTo>
                    <a:pt x="0" y="732092"/>
                  </a:lnTo>
                  <a:close/>
                </a:path>
              </a:pathLst>
            </a:custGeom>
            <a:blipFill>
              <a:blip r:embed="rId9">
                <a:alphaModFix amt="0"/>
              </a:blip>
              <a:stretch>
                <a:fillRect l="0" t="-461482" r="0" b="-461482"/>
              </a:stretch>
            </a:blipFill>
          </p:spPr>
        </p:sp>
        <p:sp>
          <p:nvSpPr>
            <p:cNvPr name="TextBox 13" id="13"/>
            <p:cNvSpPr txBox="true"/>
            <p:nvPr/>
          </p:nvSpPr>
          <p:spPr>
            <a:xfrm>
              <a:off x="0" y="-28575"/>
              <a:ext cx="19217411" cy="760667"/>
            </a:xfrm>
            <a:prstGeom prst="rect">
              <a:avLst/>
            </a:prstGeom>
          </p:spPr>
          <p:txBody>
            <a:bodyPr anchor="ctr" rtlCol="false" tIns="0" lIns="0" bIns="0" rIns="0"/>
            <a:lstStyle/>
            <a:p>
              <a:pPr algn="l">
                <a:lnSpc>
                  <a:spcPts val="2702"/>
                </a:lnSpc>
              </a:pPr>
              <a:r>
                <a:rPr lang="en-US" sz="2251" i="true">
                  <a:solidFill>
                    <a:srgbClr val="64748B"/>
                  </a:solidFill>
                  <a:latin typeface="Poppins Italics"/>
                  <a:ea typeface="Poppins Italics"/>
                  <a:cs typeface="Poppins Italics"/>
                  <a:sym typeface="Poppins Italics"/>
                </a:rPr>
                <a:t>Answer out loud or on paper - no notes. 90 seconds.</a:t>
              </a:r>
            </a:p>
          </p:txBody>
        </p:sp>
      </p:grpSp>
      <p:grpSp>
        <p:nvGrpSpPr>
          <p:cNvPr name="Group 14" id="14"/>
          <p:cNvGrpSpPr/>
          <p:nvPr/>
        </p:nvGrpSpPr>
        <p:grpSpPr>
          <a:xfrm rot="0">
            <a:off x="1208789" y="439255"/>
            <a:ext cx="11667715" cy="411804"/>
            <a:chOff x="0" y="0"/>
            <a:chExt cx="15556954" cy="549072"/>
          </a:xfrm>
        </p:grpSpPr>
        <p:sp>
          <p:nvSpPr>
            <p:cNvPr name="Freeform 15" id="15"/>
            <p:cNvSpPr/>
            <p:nvPr/>
          </p:nvSpPr>
          <p:spPr>
            <a:xfrm flipH="false" flipV="false" rot="0">
              <a:off x="0" y="0"/>
              <a:ext cx="15556954" cy="549069"/>
            </a:xfrm>
            <a:custGeom>
              <a:avLst/>
              <a:gdLst/>
              <a:ahLst/>
              <a:cxnLst/>
              <a:rect r="r" b="b" t="t" l="l"/>
              <a:pathLst>
                <a:path h="549069" w="15556954">
                  <a:moveTo>
                    <a:pt x="0" y="0"/>
                  </a:moveTo>
                  <a:lnTo>
                    <a:pt x="15556954" y="0"/>
                  </a:lnTo>
                  <a:lnTo>
                    <a:pt x="15556954" y="549069"/>
                  </a:lnTo>
                  <a:lnTo>
                    <a:pt x="0" y="549069"/>
                  </a:lnTo>
                  <a:close/>
                </a:path>
              </a:pathLst>
            </a:custGeom>
            <a:blipFill>
              <a:blip r:embed="rId9">
                <a:alphaModFix amt="0"/>
              </a:blip>
              <a:stretch>
                <a:fillRect l="0" t="-502075" r="0" b="-502076"/>
              </a:stretch>
            </a:blipFill>
          </p:spPr>
        </p:sp>
        <p:sp>
          <p:nvSpPr>
            <p:cNvPr name="TextBox 16" id="16"/>
            <p:cNvSpPr txBox="true"/>
            <p:nvPr/>
          </p:nvSpPr>
          <p:spPr>
            <a:xfrm>
              <a:off x="0" y="-9525"/>
              <a:ext cx="15556954" cy="558597"/>
            </a:xfrm>
            <a:prstGeom prst="rect">
              <a:avLst/>
            </a:prstGeom>
          </p:spPr>
          <p:txBody>
            <a:bodyPr anchor="ctr" rtlCol="false" tIns="0" lIns="0" bIns="0" rIns="0"/>
            <a:lstStyle/>
            <a:p>
              <a:pPr algn="l">
                <a:lnSpc>
                  <a:spcPts val="2071"/>
                </a:lnSpc>
              </a:pPr>
              <a:r>
                <a:rPr lang="en-US" b="true" sz="1726" spc="300">
                  <a:solidFill>
                    <a:srgbClr val="64748B"/>
                  </a:solidFill>
                  <a:latin typeface="Poppins Bold"/>
                  <a:ea typeface="Poppins Bold"/>
                  <a:cs typeface="Poppins Bold"/>
                  <a:sym typeface="Poppins Bold"/>
                </a:rPr>
                <a:t>RETRIEVAL PRACTICE</a:t>
              </a:r>
            </a:p>
          </p:txBody>
        </p:sp>
      </p:grpSp>
      <p:grpSp>
        <p:nvGrpSpPr>
          <p:cNvPr name="Group 17" id="17"/>
          <p:cNvGrpSpPr/>
          <p:nvPr/>
        </p:nvGrpSpPr>
        <p:grpSpPr>
          <a:xfrm rot="0">
            <a:off x="15099392" y="686333"/>
            <a:ext cx="1853108" cy="686333"/>
            <a:chOff x="0" y="0"/>
            <a:chExt cx="2470810" cy="915111"/>
          </a:xfrm>
        </p:grpSpPr>
        <p:sp>
          <p:nvSpPr>
            <p:cNvPr name="Freeform 18" id="18"/>
            <p:cNvSpPr/>
            <p:nvPr/>
          </p:nvSpPr>
          <p:spPr>
            <a:xfrm flipH="false" flipV="false" rot="0">
              <a:off x="0" y="0"/>
              <a:ext cx="2470912" cy="915162"/>
            </a:xfrm>
            <a:custGeom>
              <a:avLst/>
              <a:gdLst/>
              <a:ahLst/>
              <a:cxnLst/>
              <a:rect r="r" b="b" t="t" l="l"/>
              <a:pathLst>
                <a:path h="915162" w="2470912">
                  <a:moveTo>
                    <a:pt x="0" y="457581"/>
                  </a:moveTo>
                  <a:cubicBezTo>
                    <a:pt x="0" y="204851"/>
                    <a:pt x="204851" y="0"/>
                    <a:pt x="457581" y="0"/>
                  </a:cubicBezTo>
                  <a:lnTo>
                    <a:pt x="2013331" y="0"/>
                  </a:lnTo>
                  <a:cubicBezTo>
                    <a:pt x="2266061" y="0"/>
                    <a:pt x="2470912" y="204851"/>
                    <a:pt x="2470912" y="457581"/>
                  </a:cubicBezTo>
                  <a:cubicBezTo>
                    <a:pt x="2470912" y="710311"/>
                    <a:pt x="2266061" y="915162"/>
                    <a:pt x="2013331" y="915162"/>
                  </a:cubicBezTo>
                  <a:lnTo>
                    <a:pt x="457581" y="915162"/>
                  </a:lnTo>
                  <a:cubicBezTo>
                    <a:pt x="204851" y="915162"/>
                    <a:pt x="0" y="710311"/>
                    <a:pt x="0" y="457581"/>
                  </a:cubicBezTo>
                  <a:close/>
                </a:path>
              </a:pathLst>
            </a:custGeom>
            <a:solidFill>
              <a:srgbClr val="387F7F"/>
            </a:solidFill>
          </p:spPr>
        </p:sp>
      </p:grpSp>
      <p:grpSp>
        <p:nvGrpSpPr>
          <p:cNvPr name="Group 19" id="19"/>
          <p:cNvGrpSpPr/>
          <p:nvPr/>
        </p:nvGrpSpPr>
        <p:grpSpPr>
          <a:xfrm rot="0">
            <a:off x="15099392" y="686333"/>
            <a:ext cx="1853108" cy="686333"/>
            <a:chOff x="0" y="0"/>
            <a:chExt cx="2470810" cy="915111"/>
          </a:xfrm>
        </p:grpSpPr>
        <p:sp>
          <p:nvSpPr>
            <p:cNvPr name="Freeform 20" id="20"/>
            <p:cNvSpPr/>
            <p:nvPr/>
          </p:nvSpPr>
          <p:spPr>
            <a:xfrm flipH="false" flipV="false" rot="0">
              <a:off x="0" y="0"/>
              <a:ext cx="2470810" cy="915115"/>
            </a:xfrm>
            <a:custGeom>
              <a:avLst/>
              <a:gdLst/>
              <a:ahLst/>
              <a:cxnLst/>
              <a:rect r="r" b="b" t="t" l="l"/>
              <a:pathLst>
                <a:path h="915115" w="2470810">
                  <a:moveTo>
                    <a:pt x="0" y="0"/>
                  </a:moveTo>
                  <a:lnTo>
                    <a:pt x="2470810" y="0"/>
                  </a:lnTo>
                  <a:lnTo>
                    <a:pt x="2470810" y="915115"/>
                  </a:lnTo>
                  <a:lnTo>
                    <a:pt x="0" y="915115"/>
                  </a:lnTo>
                  <a:close/>
                </a:path>
              </a:pathLst>
            </a:custGeom>
            <a:blipFill>
              <a:blip r:embed="rId9">
                <a:alphaModFix amt="0"/>
              </a:blip>
              <a:stretch>
                <a:fillRect l="0" t="-2609" r="0" b="-2609"/>
              </a:stretch>
            </a:blipFill>
          </p:spPr>
        </p:sp>
        <p:sp>
          <p:nvSpPr>
            <p:cNvPr name="TextBox 21" id="21"/>
            <p:cNvSpPr txBox="true"/>
            <p:nvPr/>
          </p:nvSpPr>
          <p:spPr>
            <a:xfrm>
              <a:off x="0" y="-19050"/>
              <a:ext cx="2470810" cy="934161"/>
            </a:xfrm>
            <a:prstGeom prst="rect">
              <a:avLst/>
            </a:prstGeom>
          </p:spPr>
          <p:txBody>
            <a:bodyPr anchor="ctr" rtlCol="false" tIns="0" lIns="0" bIns="0" rIns="0"/>
            <a:lstStyle/>
            <a:p>
              <a:pPr algn="ctr">
                <a:lnSpc>
                  <a:spcPts val="2341"/>
                </a:lnSpc>
              </a:pPr>
              <a:r>
                <a:rPr lang="en-US" sz="1951" b="true">
                  <a:solidFill>
                    <a:srgbClr val="FFFFFF"/>
                  </a:solidFill>
                  <a:latin typeface="Poppins Bold"/>
                  <a:ea typeface="Poppins Bold"/>
                  <a:cs typeface="Poppins Bold"/>
                  <a:sym typeface="Poppins Bold"/>
                </a:rPr>
                <a:t>90 SEC</a:t>
              </a:r>
            </a:p>
          </p:txBody>
        </p:sp>
      </p:grpSp>
      <p:grpSp>
        <p:nvGrpSpPr>
          <p:cNvPr name="Group 22" id="22"/>
          <p:cNvGrpSpPr/>
          <p:nvPr/>
        </p:nvGrpSpPr>
        <p:grpSpPr>
          <a:xfrm rot="0">
            <a:off x="763629" y="2985716"/>
            <a:ext cx="15648470" cy="1372676"/>
            <a:chOff x="0" y="0"/>
            <a:chExt cx="20864627" cy="1830235"/>
          </a:xfrm>
        </p:grpSpPr>
        <p:sp>
          <p:nvSpPr>
            <p:cNvPr name="Freeform 23" id="23"/>
            <p:cNvSpPr/>
            <p:nvPr/>
          </p:nvSpPr>
          <p:spPr>
            <a:xfrm flipH="false" flipV="false" rot="0">
              <a:off x="0" y="0"/>
              <a:ext cx="20864576" cy="1830197"/>
            </a:xfrm>
            <a:custGeom>
              <a:avLst/>
              <a:gdLst/>
              <a:ahLst/>
              <a:cxnLst/>
              <a:rect r="r" b="b" t="t" l="l"/>
              <a:pathLst>
                <a:path h="1830197" w="20864576">
                  <a:moveTo>
                    <a:pt x="0" y="164719"/>
                  </a:moveTo>
                  <a:cubicBezTo>
                    <a:pt x="0" y="73787"/>
                    <a:pt x="73787" y="0"/>
                    <a:pt x="164719" y="0"/>
                  </a:cubicBezTo>
                  <a:lnTo>
                    <a:pt x="20699857" y="0"/>
                  </a:lnTo>
                  <a:cubicBezTo>
                    <a:pt x="20790790" y="0"/>
                    <a:pt x="20864576" y="73787"/>
                    <a:pt x="20864576" y="164719"/>
                  </a:cubicBezTo>
                  <a:lnTo>
                    <a:pt x="20864576" y="1665478"/>
                  </a:lnTo>
                  <a:cubicBezTo>
                    <a:pt x="20864576" y="1756410"/>
                    <a:pt x="20790790" y="1830197"/>
                    <a:pt x="20699857" y="1830197"/>
                  </a:cubicBezTo>
                  <a:lnTo>
                    <a:pt x="164719" y="1830197"/>
                  </a:lnTo>
                  <a:cubicBezTo>
                    <a:pt x="73787" y="1830197"/>
                    <a:pt x="0" y="1756537"/>
                    <a:pt x="0" y="1665478"/>
                  </a:cubicBezTo>
                  <a:close/>
                </a:path>
              </a:pathLst>
            </a:custGeom>
            <a:solidFill>
              <a:srgbClr val="FFFFFF"/>
            </a:solidFill>
          </p:spPr>
        </p:sp>
      </p:grpSp>
      <p:grpSp>
        <p:nvGrpSpPr>
          <p:cNvPr name="Group 24" id="24"/>
          <p:cNvGrpSpPr/>
          <p:nvPr/>
        </p:nvGrpSpPr>
        <p:grpSpPr>
          <a:xfrm rot="0">
            <a:off x="1175433" y="3328883"/>
            <a:ext cx="686333" cy="686333"/>
            <a:chOff x="0" y="0"/>
            <a:chExt cx="915111" cy="915111"/>
          </a:xfrm>
        </p:grpSpPr>
        <p:sp>
          <p:nvSpPr>
            <p:cNvPr name="Freeform 25" id="25"/>
            <p:cNvSpPr/>
            <p:nvPr/>
          </p:nvSpPr>
          <p:spPr>
            <a:xfrm flipH="false" flipV="false" rot="0">
              <a:off x="0" y="0"/>
              <a:ext cx="915162" cy="915162"/>
            </a:xfrm>
            <a:custGeom>
              <a:avLst/>
              <a:gdLst/>
              <a:ahLst/>
              <a:cxnLst/>
              <a:rect r="r" b="b" t="t" l="l"/>
              <a:pathLst>
                <a:path h="915162" w="915162">
                  <a:moveTo>
                    <a:pt x="0" y="457581"/>
                  </a:moveTo>
                  <a:cubicBezTo>
                    <a:pt x="0" y="204851"/>
                    <a:pt x="204851" y="0"/>
                    <a:pt x="457581" y="0"/>
                  </a:cubicBezTo>
                  <a:cubicBezTo>
                    <a:pt x="710311" y="0"/>
                    <a:pt x="915162" y="204851"/>
                    <a:pt x="915162" y="457581"/>
                  </a:cubicBezTo>
                  <a:cubicBezTo>
                    <a:pt x="915162" y="710311"/>
                    <a:pt x="710311" y="915162"/>
                    <a:pt x="457581" y="915162"/>
                  </a:cubicBezTo>
                  <a:cubicBezTo>
                    <a:pt x="204851" y="915162"/>
                    <a:pt x="0" y="710311"/>
                    <a:pt x="0" y="457581"/>
                  </a:cubicBezTo>
                  <a:close/>
                </a:path>
              </a:pathLst>
            </a:custGeom>
            <a:solidFill>
              <a:srgbClr val="387F7F"/>
            </a:solidFill>
          </p:spPr>
        </p:sp>
      </p:grpSp>
      <p:grpSp>
        <p:nvGrpSpPr>
          <p:cNvPr name="Group 26" id="26"/>
          <p:cNvGrpSpPr/>
          <p:nvPr/>
        </p:nvGrpSpPr>
        <p:grpSpPr>
          <a:xfrm rot="0">
            <a:off x="1175433" y="3328883"/>
            <a:ext cx="686333" cy="686333"/>
            <a:chOff x="0" y="0"/>
            <a:chExt cx="915111" cy="915111"/>
          </a:xfrm>
        </p:grpSpPr>
        <p:sp>
          <p:nvSpPr>
            <p:cNvPr name="Freeform 27" id="27"/>
            <p:cNvSpPr/>
            <p:nvPr/>
          </p:nvSpPr>
          <p:spPr>
            <a:xfrm flipH="false" flipV="false" rot="0">
              <a:off x="0" y="0"/>
              <a:ext cx="915115" cy="915115"/>
            </a:xfrm>
            <a:custGeom>
              <a:avLst/>
              <a:gdLst/>
              <a:ahLst/>
              <a:cxnLst/>
              <a:rect r="r" b="b" t="t" l="l"/>
              <a:pathLst>
                <a:path h="915115" w="915115">
                  <a:moveTo>
                    <a:pt x="0" y="0"/>
                  </a:moveTo>
                  <a:lnTo>
                    <a:pt x="915115" y="0"/>
                  </a:lnTo>
                  <a:lnTo>
                    <a:pt x="915115" y="915115"/>
                  </a:lnTo>
                  <a:lnTo>
                    <a:pt x="0" y="915115"/>
                  </a:lnTo>
                  <a:close/>
                </a:path>
              </a:pathLst>
            </a:custGeom>
            <a:blipFill>
              <a:blip r:embed="rId9">
                <a:alphaModFix amt="0"/>
              </a:blip>
              <a:stretch>
                <a:fillRect l="-78303" t="0" r="-78302" b="0"/>
              </a:stretch>
            </a:blipFill>
          </p:spPr>
        </p:sp>
        <p:sp>
          <p:nvSpPr>
            <p:cNvPr name="TextBox 28" id="28"/>
            <p:cNvSpPr txBox="true"/>
            <p:nvPr/>
          </p:nvSpPr>
          <p:spPr>
            <a:xfrm>
              <a:off x="0" y="-38100"/>
              <a:ext cx="915111" cy="953211"/>
            </a:xfrm>
            <a:prstGeom prst="rect">
              <a:avLst/>
            </a:prstGeom>
          </p:spPr>
          <p:txBody>
            <a:bodyPr anchor="ctr" rtlCol="false" tIns="0" lIns="0" bIns="0" rIns="0"/>
            <a:lstStyle/>
            <a:p>
              <a:pPr algn="ctr">
                <a:lnSpc>
                  <a:spcPts val="3422"/>
                </a:lnSpc>
              </a:pPr>
              <a:r>
                <a:rPr lang="en-US" sz="2852" b="true">
                  <a:solidFill>
                    <a:srgbClr val="FFFFFF"/>
                  </a:solidFill>
                  <a:latin typeface="Poppins Bold"/>
                  <a:ea typeface="Poppins Bold"/>
                  <a:cs typeface="Poppins Bold"/>
                  <a:sym typeface="Poppins Bold"/>
                </a:rPr>
                <a:t>1</a:t>
              </a:r>
            </a:p>
          </p:txBody>
        </p:sp>
      </p:grpSp>
      <p:grpSp>
        <p:nvGrpSpPr>
          <p:cNvPr name="Group 29" id="29"/>
          <p:cNvGrpSpPr/>
          <p:nvPr/>
        </p:nvGrpSpPr>
        <p:grpSpPr>
          <a:xfrm rot="0">
            <a:off x="2204942" y="2985716"/>
            <a:ext cx="14001255" cy="1372676"/>
            <a:chOff x="0" y="0"/>
            <a:chExt cx="18668340" cy="1830235"/>
          </a:xfrm>
        </p:grpSpPr>
        <p:sp>
          <p:nvSpPr>
            <p:cNvPr name="Freeform 30" id="30"/>
            <p:cNvSpPr/>
            <p:nvPr/>
          </p:nvSpPr>
          <p:spPr>
            <a:xfrm flipH="false" flipV="false" rot="0">
              <a:off x="0" y="0"/>
              <a:ext cx="18668344" cy="1830230"/>
            </a:xfrm>
            <a:custGeom>
              <a:avLst/>
              <a:gdLst/>
              <a:ahLst/>
              <a:cxnLst/>
              <a:rect r="r" b="b" t="t" l="l"/>
              <a:pathLst>
                <a:path h="1830230" w="18668344">
                  <a:moveTo>
                    <a:pt x="0" y="0"/>
                  </a:moveTo>
                  <a:lnTo>
                    <a:pt x="18668344" y="0"/>
                  </a:lnTo>
                  <a:lnTo>
                    <a:pt x="18668344" y="1830230"/>
                  </a:lnTo>
                  <a:lnTo>
                    <a:pt x="0" y="1830230"/>
                  </a:lnTo>
                  <a:close/>
                </a:path>
              </a:pathLst>
            </a:custGeom>
            <a:blipFill>
              <a:blip r:embed="rId9">
                <a:alphaModFix amt="0"/>
              </a:blip>
              <a:stretch>
                <a:fillRect l="0" t="-148747" r="0" b="-148747"/>
              </a:stretch>
            </a:blipFill>
          </p:spPr>
        </p:sp>
        <p:sp>
          <p:nvSpPr>
            <p:cNvPr name="TextBox 31" id="31"/>
            <p:cNvSpPr txBox="true"/>
            <p:nvPr/>
          </p:nvSpPr>
          <p:spPr>
            <a:xfrm>
              <a:off x="0" y="-85725"/>
              <a:ext cx="18668340" cy="1915960"/>
            </a:xfrm>
            <a:prstGeom prst="rect">
              <a:avLst/>
            </a:prstGeom>
          </p:spPr>
          <p:txBody>
            <a:bodyPr anchor="ctr" rtlCol="false" tIns="0" lIns="0" bIns="0" rIns="0"/>
            <a:lstStyle/>
            <a:p>
              <a:pPr algn="l">
                <a:lnSpc>
                  <a:spcPts val="3674"/>
                </a:lnSpc>
              </a:pPr>
              <a:r>
                <a:rPr lang="en-US" sz="2551">
                  <a:solidFill>
                    <a:srgbClr val="475569"/>
                  </a:solidFill>
                  <a:latin typeface="Poppins"/>
                  <a:ea typeface="Poppins"/>
                  <a:cs typeface="Poppins"/>
                  <a:sym typeface="Poppins"/>
                </a:rPr>
                <a:t>What does "predict-then-run" mean, and which stage of Topic 8.1's pipeline did we apply it to?</a:t>
              </a:r>
            </a:p>
          </p:txBody>
        </p:sp>
      </p:grpSp>
      <p:grpSp>
        <p:nvGrpSpPr>
          <p:cNvPr name="Group 32" id="32"/>
          <p:cNvGrpSpPr/>
          <p:nvPr/>
        </p:nvGrpSpPr>
        <p:grpSpPr>
          <a:xfrm rot="0">
            <a:off x="763629" y="4564285"/>
            <a:ext cx="15648470" cy="1372676"/>
            <a:chOff x="0" y="0"/>
            <a:chExt cx="20864627" cy="1830235"/>
          </a:xfrm>
        </p:grpSpPr>
        <p:sp>
          <p:nvSpPr>
            <p:cNvPr name="Freeform 33" id="33"/>
            <p:cNvSpPr/>
            <p:nvPr/>
          </p:nvSpPr>
          <p:spPr>
            <a:xfrm flipH="false" flipV="false" rot="0">
              <a:off x="0" y="0"/>
              <a:ext cx="20864576" cy="1830197"/>
            </a:xfrm>
            <a:custGeom>
              <a:avLst/>
              <a:gdLst/>
              <a:ahLst/>
              <a:cxnLst/>
              <a:rect r="r" b="b" t="t" l="l"/>
              <a:pathLst>
                <a:path h="1830197" w="20864576">
                  <a:moveTo>
                    <a:pt x="0" y="164719"/>
                  </a:moveTo>
                  <a:cubicBezTo>
                    <a:pt x="0" y="73787"/>
                    <a:pt x="73787" y="0"/>
                    <a:pt x="164719" y="0"/>
                  </a:cubicBezTo>
                  <a:lnTo>
                    <a:pt x="20699857" y="0"/>
                  </a:lnTo>
                  <a:cubicBezTo>
                    <a:pt x="20790790" y="0"/>
                    <a:pt x="20864576" y="73787"/>
                    <a:pt x="20864576" y="164719"/>
                  </a:cubicBezTo>
                  <a:lnTo>
                    <a:pt x="20864576" y="1665478"/>
                  </a:lnTo>
                  <a:cubicBezTo>
                    <a:pt x="20864576" y="1756410"/>
                    <a:pt x="20790790" y="1830197"/>
                    <a:pt x="20699857" y="1830197"/>
                  </a:cubicBezTo>
                  <a:lnTo>
                    <a:pt x="164719" y="1830197"/>
                  </a:lnTo>
                  <a:cubicBezTo>
                    <a:pt x="73787" y="1830197"/>
                    <a:pt x="0" y="1756537"/>
                    <a:pt x="0" y="1665478"/>
                  </a:cubicBezTo>
                  <a:close/>
                </a:path>
              </a:pathLst>
            </a:custGeom>
            <a:solidFill>
              <a:srgbClr val="FFFFFF"/>
            </a:solidFill>
          </p:spPr>
        </p:sp>
      </p:grpSp>
      <p:grpSp>
        <p:nvGrpSpPr>
          <p:cNvPr name="Group 34" id="34"/>
          <p:cNvGrpSpPr/>
          <p:nvPr/>
        </p:nvGrpSpPr>
        <p:grpSpPr>
          <a:xfrm rot="0">
            <a:off x="1175433" y="4907451"/>
            <a:ext cx="686333" cy="686333"/>
            <a:chOff x="0" y="0"/>
            <a:chExt cx="915111" cy="915111"/>
          </a:xfrm>
        </p:grpSpPr>
        <p:sp>
          <p:nvSpPr>
            <p:cNvPr name="Freeform 35" id="35"/>
            <p:cNvSpPr/>
            <p:nvPr/>
          </p:nvSpPr>
          <p:spPr>
            <a:xfrm flipH="false" flipV="false" rot="0">
              <a:off x="0" y="0"/>
              <a:ext cx="915162" cy="915162"/>
            </a:xfrm>
            <a:custGeom>
              <a:avLst/>
              <a:gdLst/>
              <a:ahLst/>
              <a:cxnLst/>
              <a:rect r="r" b="b" t="t" l="l"/>
              <a:pathLst>
                <a:path h="915162" w="915162">
                  <a:moveTo>
                    <a:pt x="0" y="457581"/>
                  </a:moveTo>
                  <a:cubicBezTo>
                    <a:pt x="0" y="204851"/>
                    <a:pt x="204851" y="0"/>
                    <a:pt x="457581" y="0"/>
                  </a:cubicBezTo>
                  <a:cubicBezTo>
                    <a:pt x="710311" y="0"/>
                    <a:pt x="915162" y="204851"/>
                    <a:pt x="915162" y="457581"/>
                  </a:cubicBezTo>
                  <a:cubicBezTo>
                    <a:pt x="915162" y="710311"/>
                    <a:pt x="710311" y="915162"/>
                    <a:pt x="457581" y="915162"/>
                  </a:cubicBezTo>
                  <a:cubicBezTo>
                    <a:pt x="204851" y="915162"/>
                    <a:pt x="0" y="710311"/>
                    <a:pt x="0" y="457581"/>
                  </a:cubicBezTo>
                  <a:close/>
                </a:path>
              </a:pathLst>
            </a:custGeom>
            <a:solidFill>
              <a:srgbClr val="387F7F"/>
            </a:solidFill>
          </p:spPr>
        </p:sp>
      </p:grpSp>
      <p:grpSp>
        <p:nvGrpSpPr>
          <p:cNvPr name="Group 36" id="36"/>
          <p:cNvGrpSpPr/>
          <p:nvPr/>
        </p:nvGrpSpPr>
        <p:grpSpPr>
          <a:xfrm rot="0">
            <a:off x="1175433" y="4907451"/>
            <a:ext cx="686333" cy="686333"/>
            <a:chOff x="0" y="0"/>
            <a:chExt cx="915111" cy="915111"/>
          </a:xfrm>
        </p:grpSpPr>
        <p:sp>
          <p:nvSpPr>
            <p:cNvPr name="Freeform 37" id="37"/>
            <p:cNvSpPr/>
            <p:nvPr/>
          </p:nvSpPr>
          <p:spPr>
            <a:xfrm flipH="false" flipV="false" rot="0">
              <a:off x="0" y="0"/>
              <a:ext cx="915115" cy="915115"/>
            </a:xfrm>
            <a:custGeom>
              <a:avLst/>
              <a:gdLst/>
              <a:ahLst/>
              <a:cxnLst/>
              <a:rect r="r" b="b" t="t" l="l"/>
              <a:pathLst>
                <a:path h="915115" w="915115">
                  <a:moveTo>
                    <a:pt x="0" y="0"/>
                  </a:moveTo>
                  <a:lnTo>
                    <a:pt x="915115" y="0"/>
                  </a:lnTo>
                  <a:lnTo>
                    <a:pt x="915115" y="915115"/>
                  </a:lnTo>
                  <a:lnTo>
                    <a:pt x="0" y="915115"/>
                  </a:lnTo>
                  <a:close/>
                </a:path>
              </a:pathLst>
            </a:custGeom>
            <a:blipFill>
              <a:blip r:embed="rId9">
                <a:alphaModFix amt="0"/>
              </a:blip>
              <a:stretch>
                <a:fillRect l="-78303" t="0" r="-78302" b="0"/>
              </a:stretch>
            </a:blipFill>
          </p:spPr>
        </p:sp>
        <p:sp>
          <p:nvSpPr>
            <p:cNvPr name="TextBox 38" id="38"/>
            <p:cNvSpPr txBox="true"/>
            <p:nvPr/>
          </p:nvSpPr>
          <p:spPr>
            <a:xfrm>
              <a:off x="0" y="-38100"/>
              <a:ext cx="915111" cy="953211"/>
            </a:xfrm>
            <a:prstGeom prst="rect">
              <a:avLst/>
            </a:prstGeom>
          </p:spPr>
          <p:txBody>
            <a:bodyPr anchor="ctr" rtlCol="false" tIns="0" lIns="0" bIns="0" rIns="0"/>
            <a:lstStyle/>
            <a:p>
              <a:pPr algn="ctr">
                <a:lnSpc>
                  <a:spcPts val="3422"/>
                </a:lnSpc>
              </a:pPr>
              <a:r>
                <a:rPr lang="en-US" sz="2852" b="true">
                  <a:solidFill>
                    <a:srgbClr val="FFFFFF"/>
                  </a:solidFill>
                  <a:latin typeface="Poppins Bold"/>
                  <a:ea typeface="Poppins Bold"/>
                  <a:cs typeface="Poppins Bold"/>
                  <a:sym typeface="Poppins Bold"/>
                </a:rPr>
                <a:t>2</a:t>
              </a:r>
            </a:p>
          </p:txBody>
        </p:sp>
      </p:grpSp>
      <p:grpSp>
        <p:nvGrpSpPr>
          <p:cNvPr name="Group 39" id="39"/>
          <p:cNvGrpSpPr/>
          <p:nvPr/>
        </p:nvGrpSpPr>
        <p:grpSpPr>
          <a:xfrm rot="0">
            <a:off x="2204942" y="4564285"/>
            <a:ext cx="14001255" cy="1372676"/>
            <a:chOff x="0" y="0"/>
            <a:chExt cx="18668340" cy="1830235"/>
          </a:xfrm>
        </p:grpSpPr>
        <p:sp>
          <p:nvSpPr>
            <p:cNvPr name="Freeform 40" id="40"/>
            <p:cNvSpPr/>
            <p:nvPr/>
          </p:nvSpPr>
          <p:spPr>
            <a:xfrm flipH="false" flipV="false" rot="0">
              <a:off x="0" y="0"/>
              <a:ext cx="18668344" cy="1830230"/>
            </a:xfrm>
            <a:custGeom>
              <a:avLst/>
              <a:gdLst/>
              <a:ahLst/>
              <a:cxnLst/>
              <a:rect r="r" b="b" t="t" l="l"/>
              <a:pathLst>
                <a:path h="1830230" w="18668344">
                  <a:moveTo>
                    <a:pt x="0" y="0"/>
                  </a:moveTo>
                  <a:lnTo>
                    <a:pt x="18668344" y="0"/>
                  </a:lnTo>
                  <a:lnTo>
                    <a:pt x="18668344" y="1830230"/>
                  </a:lnTo>
                  <a:lnTo>
                    <a:pt x="0" y="1830230"/>
                  </a:lnTo>
                  <a:close/>
                </a:path>
              </a:pathLst>
            </a:custGeom>
            <a:blipFill>
              <a:blip r:embed="rId9">
                <a:alphaModFix amt="0"/>
              </a:blip>
              <a:stretch>
                <a:fillRect l="0" t="-148747" r="0" b="-148747"/>
              </a:stretch>
            </a:blipFill>
          </p:spPr>
        </p:sp>
        <p:sp>
          <p:nvSpPr>
            <p:cNvPr name="TextBox 41" id="41"/>
            <p:cNvSpPr txBox="true"/>
            <p:nvPr/>
          </p:nvSpPr>
          <p:spPr>
            <a:xfrm>
              <a:off x="0" y="-85725"/>
              <a:ext cx="18668340" cy="1915960"/>
            </a:xfrm>
            <a:prstGeom prst="rect">
              <a:avLst/>
            </a:prstGeom>
          </p:spPr>
          <p:txBody>
            <a:bodyPr anchor="ctr" rtlCol="false" tIns="0" lIns="0" bIns="0" rIns="0"/>
            <a:lstStyle/>
            <a:p>
              <a:pPr algn="l">
                <a:lnSpc>
                  <a:spcPts val="3674"/>
                </a:lnSpc>
              </a:pPr>
              <a:r>
                <a:rPr lang="en-US" sz="2551">
                  <a:solidFill>
                    <a:srgbClr val="475569"/>
                  </a:solidFill>
                  <a:latin typeface="Poppins"/>
                  <a:ea typeface="Poppins"/>
                  <a:cs typeface="Poppins"/>
                  <a:sym typeface="Poppins"/>
                </a:rPr>
                <a:t>Name one of the five questions on the verification checklist from Topic 8.1.</a:t>
              </a:r>
            </a:p>
          </p:txBody>
        </p:sp>
      </p:grpSp>
      <p:grpSp>
        <p:nvGrpSpPr>
          <p:cNvPr name="Group 42" id="42"/>
          <p:cNvGrpSpPr/>
          <p:nvPr/>
        </p:nvGrpSpPr>
        <p:grpSpPr>
          <a:xfrm rot="0">
            <a:off x="763629" y="6142863"/>
            <a:ext cx="15648470" cy="1372676"/>
            <a:chOff x="0" y="0"/>
            <a:chExt cx="20864627" cy="1830235"/>
          </a:xfrm>
        </p:grpSpPr>
        <p:sp>
          <p:nvSpPr>
            <p:cNvPr name="Freeform 43" id="43"/>
            <p:cNvSpPr/>
            <p:nvPr/>
          </p:nvSpPr>
          <p:spPr>
            <a:xfrm flipH="false" flipV="false" rot="0">
              <a:off x="0" y="0"/>
              <a:ext cx="20864576" cy="1830197"/>
            </a:xfrm>
            <a:custGeom>
              <a:avLst/>
              <a:gdLst/>
              <a:ahLst/>
              <a:cxnLst/>
              <a:rect r="r" b="b" t="t" l="l"/>
              <a:pathLst>
                <a:path h="1830197" w="20864576">
                  <a:moveTo>
                    <a:pt x="0" y="164719"/>
                  </a:moveTo>
                  <a:cubicBezTo>
                    <a:pt x="0" y="73787"/>
                    <a:pt x="73787" y="0"/>
                    <a:pt x="164719" y="0"/>
                  </a:cubicBezTo>
                  <a:lnTo>
                    <a:pt x="20699857" y="0"/>
                  </a:lnTo>
                  <a:cubicBezTo>
                    <a:pt x="20790790" y="0"/>
                    <a:pt x="20864576" y="73787"/>
                    <a:pt x="20864576" y="164719"/>
                  </a:cubicBezTo>
                  <a:lnTo>
                    <a:pt x="20864576" y="1665478"/>
                  </a:lnTo>
                  <a:cubicBezTo>
                    <a:pt x="20864576" y="1756410"/>
                    <a:pt x="20790790" y="1830197"/>
                    <a:pt x="20699857" y="1830197"/>
                  </a:cubicBezTo>
                  <a:lnTo>
                    <a:pt x="164719" y="1830197"/>
                  </a:lnTo>
                  <a:cubicBezTo>
                    <a:pt x="73787" y="1830197"/>
                    <a:pt x="0" y="1756537"/>
                    <a:pt x="0" y="1665478"/>
                  </a:cubicBezTo>
                  <a:close/>
                </a:path>
              </a:pathLst>
            </a:custGeom>
            <a:solidFill>
              <a:srgbClr val="FFFFFF"/>
            </a:solidFill>
          </p:spPr>
        </p:sp>
      </p:grpSp>
      <p:grpSp>
        <p:nvGrpSpPr>
          <p:cNvPr name="Group 44" id="44"/>
          <p:cNvGrpSpPr/>
          <p:nvPr/>
        </p:nvGrpSpPr>
        <p:grpSpPr>
          <a:xfrm rot="0">
            <a:off x="1175433" y="6486030"/>
            <a:ext cx="686333" cy="686333"/>
            <a:chOff x="0" y="0"/>
            <a:chExt cx="915111" cy="915111"/>
          </a:xfrm>
        </p:grpSpPr>
        <p:sp>
          <p:nvSpPr>
            <p:cNvPr name="Freeform 45" id="45"/>
            <p:cNvSpPr/>
            <p:nvPr/>
          </p:nvSpPr>
          <p:spPr>
            <a:xfrm flipH="false" flipV="false" rot="0">
              <a:off x="0" y="0"/>
              <a:ext cx="915162" cy="915162"/>
            </a:xfrm>
            <a:custGeom>
              <a:avLst/>
              <a:gdLst/>
              <a:ahLst/>
              <a:cxnLst/>
              <a:rect r="r" b="b" t="t" l="l"/>
              <a:pathLst>
                <a:path h="915162" w="915162">
                  <a:moveTo>
                    <a:pt x="0" y="457581"/>
                  </a:moveTo>
                  <a:cubicBezTo>
                    <a:pt x="0" y="204851"/>
                    <a:pt x="204851" y="0"/>
                    <a:pt x="457581" y="0"/>
                  </a:cubicBezTo>
                  <a:cubicBezTo>
                    <a:pt x="710311" y="0"/>
                    <a:pt x="915162" y="204851"/>
                    <a:pt x="915162" y="457581"/>
                  </a:cubicBezTo>
                  <a:cubicBezTo>
                    <a:pt x="915162" y="710311"/>
                    <a:pt x="710311" y="915162"/>
                    <a:pt x="457581" y="915162"/>
                  </a:cubicBezTo>
                  <a:cubicBezTo>
                    <a:pt x="204851" y="915162"/>
                    <a:pt x="0" y="710311"/>
                    <a:pt x="0" y="457581"/>
                  </a:cubicBezTo>
                  <a:close/>
                </a:path>
              </a:pathLst>
            </a:custGeom>
            <a:solidFill>
              <a:srgbClr val="387F7F"/>
            </a:solidFill>
          </p:spPr>
        </p:sp>
      </p:grpSp>
      <p:grpSp>
        <p:nvGrpSpPr>
          <p:cNvPr name="Group 46" id="46"/>
          <p:cNvGrpSpPr/>
          <p:nvPr/>
        </p:nvGrpSpPr>
        <p:grpSpPr>
          <a:xfrm rot="0">
            <a:off x="1175433" y="6486030"/>
            <a:ext cx="686333" cy="686333"/>
            <a:chOff x="0" y="0"/>
            <a:chExt cx="915111" cy="915111"/>
          </a:xfrm>
        </p:grpSpPr>
        <p:sp>
          <p:nvSpPr>
            <p:cNvPr name="Freeform 47" id="47"/>
            <p:cNvSpPr/>
            <p:nvPr/>
          </p:nvSpPr>
          <p:spPr>
            <a:xfrm flipH="false" flipV="false" rot="0">
              <a:off x="0" y="0"/>
              <a:ext cx="915115" cy="915115"/>
            </a:xfrm>
            <a:custGeom>
              <a:avLst/>
              <a:gdLst/>
              <a:ahLst/>
              <a:cxnLst/>
              <a:rect r="r" b="b" t="t" l="l"/>
              <a:pathLst>
                <a:path h="915115" w="915115">
                  <a:moveTo>
                    <a:pt x="0" y="0"/>
                  </a:moveTo>
                  <a:lnTo>
                    <a:pt x="915115" y="0"/>
                  </a:lnTo>
                  <a:lnTo>
                    <a:pt x="915115" y="915115"/>
                  </a:lnTo>
                  <a:lnTo>
                    <a:pt x="0" y="915115"/>
                  </a:lnTo>
                  <a:close/>
                </a:path>
              </a:pathLst>
            </a:custGeom>
            <a:blipFill>
              <a:blip r:embed="rId9">
                <a:alphaModFix amt="0"/>
              </a:blip>
              <a:stretch>
                <a:fillRect l="-78303" t="0" r="-78302" b="0"/>
              </a:stretch>
            </a:blipFill>
          </p:spPr>
        </p:sp>
        <p:sp>
          <p:nvSpPr>
            <p:cNvPr name="TextBox 48" id="48"/>
            <p:cNvSpPr txBox="true"/>
            <p:nvPr/>
          </p:nvSpPr>
          <p:spPr>
            <a:xfrm>
              <a:off x="0" y="-38100"/>
              <a:ext cx="915111" cy="953211"/>
            </a:xfrm>
            <a:prstGeom prst="rect">
              <a:avLst/>
            </a:prstGeom>
          </p:spPr>
          <p:txBody>
            <a:bodyPr anchor="ctr" rtlCol="false" tIns="0" lIns="0" bIns="0" rIns="0"/>
            <a:lstStyle/>
            <a:p>
              <a:pPr algn="ctr">
                <a:lnSpc>
                  <a:spcPts val="3422"/>
                </a:lnSpc>
              </a:pPr>
              <a:r>
                <a:rPr lang="en-US" sz="2852" b="true">
                  <a:solidFill>
                    <a:srgbClr val="FFFFFF"/>
                  </a:solidFill>
                  <a:latin typeface="Poppins Bold"/>
                  <a:ea typeface="Poppins Bold"/>
                  <a:cs typeface="Poppins Bold"/>
                  <a:sym typeface="Poppins Bold"/>
                </a:rPr>
                <a:t>3</a:t>
              </a:r>
            </a:p>
          </p:txBody>
        </p:sp>
      </p:grpSp>
      <p:grpSp>
        <p:nvGrpSpPr>
          <p:cNvPr name="Group 49" id="49"/>
          <p:cNvGrpSpPr/>
          <p:nvPr/>
        </p:nvGrpSpPr>
        <p:grpSpPr>
          <a:xfrm rot="0">
            <a:off x="2204942" y="6142863"/>
            <a:ext cx="14001255" cy="1372676"/>
            <a:chOff x="0" y="0"/>
            <a:chExt cx="18668340" cy="1830235"/>
          </a:xfrm>
        </p:grpSpPr>
        <p:sp>
          <p:nvSpPr>
            <p:cNvPr name="Freeform 50" id="50"/>
            <p:cNvSpPr/>
            <p:nvPr/>
          </p:nvSpPr>
          <p:spPr>
            <a:xfrm flipH="false" flipV="false" rot="0">
              <a:off x="0" y="0"/>
              <a:ext cx="18668344" cy="1830230"/>
            </a:xfrm>
            <a:custGeom>
              <a:avLst/>
              <a:gdLst/>
              <a:ahLst/>
              <a:cxnLst/>
              <a:rect r="r" b="b" t="t" l="l"/>
              <a:pathLst>
                <a:path h="1830230" w="18668344">
                  <a:moveTo>
                    <a:pt x="0" y="0"/>
                  </a:moveTo>
                  <a:lnTo>
                    <a:pt x="18668344" y="0"/>
                  </a:lnTo>
                  <a:lnTo>
                    <a:pt x="18668344" y="1830230"/>
                  </a:lnTo>
                  <a:lnTo>
                    <a:pt x="0" y="1830230"/>
                  </a:lnTo>
                  <a:close/>
                </a:path>
              </a:pathLst>
            </a:custGeom>
            <a:blipFill>
              <a:blip r:embed="rId9">
                <a:alphaModFix amt="0"/>
              </a:blip>
              <a:stretch>
                <a:fillRect l="0" t="-148747" r="0" b="-148747"/>
              </a:stretch>
            </a:blipFill>
          </p:spPr>
        </p:sp>
        <p:sp>
          <p:nvSpPr>
            <p:cNvPr name="TextBox 51" id="51"/>
            <p:cNvSpPr txBox="true"/>
            <p:nvPr/>
          </p:nvSpPr>
          <p:spPr>
            <a:xfrm>
              <a:off x="0" y="-85725"/>
              <a:ext cx="18668340" cy="1915960"/>
            </a:xfrm>
            <a:prstGeom prst="rect">
              <a:avLst/>
            </a:prstGeom>
          </p:spPr>
          <p:txBody>
            <a:bodyPr anchor="ctr" rtlCol="false" tIns="0" lIns="0" bIns="0" rIns="0"/>
            <a:lstStyle/>
            <a:p>
              <a:pPr algn="l">
                <a:lnSpc>
                  <a:spcPts val="3674"/>
                </a:lnSpc>
              </a:pPr>
              <a:r>
                <a:rPr lang="en-US" sz="2551">
                  <a:solidFill>
                    <a:srgbClr val="475569"/>
                  </a:solidFill>
                  <a:latin typeface="Poppins"/>
                  <a:ea typeface="Poppins"/>
                  <a:cs typeface="Poppins"/>
                  <a:sym typeface="Poppins"/>
                </a:rPr>
                <a:t>SwiftRoute's Q3 deliveries rose from July to August to September. Is that alone enough to promise October will keep rising? Why or why not?</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10094996" cy="1571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Adaeze needs a number for Monday</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grpSp>
        <p:nvGrpSpPr>
          <p:cNvPr name="Group 10" id="10"/>
          <p:cNvGrpSpPr/>
          <p:nvPr/>
        </p:nvGrpSpPr>
        <p:grpSpPr>
          <a:xfrm rot="0">
            <a:off x="11804980" y="0"/>
            <a:ext cx="6492745" cy="10295039"/>
            <a:chOff x="0" y="0"/>
            <a:chExt cx="8656993" cy="13726719"/>
          </a:xfrm>
        </p:grpSpPr>
        <p:sp>
          <p:nvSpPr>
            <p:cNvPr name="Freeform 11" id="11"/>
            <p:cNvSpPr/>
            <p:nvPr/>
          </p:nvSpPr>
          <p:spPr>
            <a:xfrm flipH="false" flipV="false" rot="0">
              <a:off x="0" y="0"/>
              <a:ext cx="8656955" cy="13726668"/>
            </a:xfrm>
            <a:custGeom>
              <a:avLst/>
              <a:gdLst/>
              <a:ahLst/>
              <a:cxnLst/>
              <a:rect r="r" b="b" t="t" l="l"/>
              <a:pathLst>
                <a:path h="13726668" w="8656955">
                  <a:moveTo>
                    <a:pt x="0" y="0"/>
                  </a:moveTo>
                  <a:lnTo>
                    <a:pt x="8656955" y="0"/>
                  </a:lnTo>
                  <a:lnTo>
                    <a:pt x="8656955" y="13726668"/>
                  </a:lnTo>
                  <a:lnTo>
                    <a:pt x="0" y="13726668"/>
                  </a:lnTo>
                  <a:close/>
                </a:path>
              </a:pathLst>
            </a:custGeom>
            <a:solidFill>
              <a:srgbClr val="20494A"/>
            </a:solidFill>
          </p:spPr>
        </p:sp>
      </p:grpSp>
      <p:grpSp>
        <p:nvGrpSpPr>
          <p:cNvPr name="Group 12" id="12"/>
          <p:cNvGrpSpPr/>
          <p:nvPr/>
        </p:nvGrpSpPr>
        <p:grpSpPr>
          <a:xfrm rot="0">
            <a:off x="11804980" y="2951245"/>
            <a:ext cx="6314294" cy="2333539"/>
            <a:chOff x="0" y="0"/>
            <a:chExt cx="8419059" cy="3111386"/>
          </a:xfrm>
        </p:grpSpPr>
        <p:sp>
          <p:nvSpPr>
            <p:cNvPr name="Freeform 13" id="13"/>
            <p:cNvSpPr/>
            <p:nvPr/>
          </p:nvSpPr>
          <p:spPr>
            <a:xfrm flipH="false" flipV="false" rot="0">
              <a:off x="0" y="0"/>
              <a:ext cx="8419057" cy="3111391"/>
            </a:xfrm>
            <a:custGeom>
              <a:avLst/>
              <a:gdLst/>
              <a:ahLst/>
              <a:cxnLst/>
              <a:rect r="r" b="b" t="t" l="l"/>
              <a:pathLst>
                <a:path h="3111391" w="8419057">
                  <a:moveTo>
                    <a:pt x="0" y="0"/>
                  </a:moveTo>
                  <a:lnTo>
                    <a:pt x="8419057" y="0"/>
                  </a:lnTo>
                  <a:lnTo>
                    <a:pt x="8419057" y="3111391"/>
                  </a:lnTo>
                  <a:lnTo>
                    <a:pt x="0" y="3111391"/>
                  </a:lnTo>
                  <a:close/>
                </a:path>
              </a:pathLst>
            </a:custGeom>
            <a:blipFill>
              <a:blip r:embed="rId7">
                <a:alphaModFix amt="0"/>
              </a:blip>
              <a:stretch>
                <a:fillRect l="0" t="-2724" r="0" b="-2724"/>
              </a:stretch>
            </a:blipFill>
          </p:spPr>
        </p:sp>
        <p:sp>
          <p:nvSpPr>
            <p:cNvPr name="TextBox 14" id="14"/>
            <p:cNvSpPr txBox="true"/>
            <p:nvPr/>
          </p:nvSpPr>
          <p:spPr>
            <a:xfrm>
              <a:off x="0" y="-57150"/>
              <a:ext cx="8419059" cy="3168536"/>
            </a:xfrm>
            <a:prstGeom prst="rect">
              <a:avLst/>
            </a:prstGeom>
          </p:spPr>
          <p:txBody>
            <a:bodyPr anchor="ctr" rtlCol="false" tIns="0" lIns="0" bIns="0" rIns="0"/>
            <a:lstStyle/>
            <a:p>
              <a:pPr algn="ctr">
                <a:lnSpc>
                  <a:spcPts val="8286"/>
                </a:lnSpc>
              </a:pPr>
              <a:r>
                <a:rPr lang="en-US" sz="6905" b="true">
                  <a:solidFill>
                    <a:srgbClr val="FFFFFF"/>
                  </a:solidFill>
                  <a:latin typeface="Poppins Bold"/>
                  <a:ea typeface="Poppins Bold"/>
                  <a:cs typeface="Poppins Bold"/>
                  <a:sym typeface="Poppins Bold"/>
                </a:rPr>
                <a:t>Every</a:t>
              </a:r>
            </a:p>
            <a:p>
              <a:pPr algn="ctr">
                <a:lnSpc>
                  <a:spcPts val="8286"/>
                </a:lnSpc>
              </a:pPr>
              <a:r>
                <a:rPr lang="en-US" sz="6905" b="true">
                  <a:solidFill>
                    <a:srgbClr val="FFFFFF"/>
                  </a:solidFill>
                  <a:latin typeface="Poppins Bold"/>
                  <a:ea typeface="Poppins Bold"/>
                  <a:cs typeface="Poppins Bold"/>
                  <a:sym typeface="Poppins Bold"/>
                </a:rPr>
                <a:t>morning</a:t>
              </a:r>
            </a:p>
          </p:txBody>
        </p:sp>
      </p:grpSp>
      <p:grpSp>
        <p:nvGrpSpPr>
          <p:cNvPr name="Group 15" id="15"/>
          <p:cNvGrpSpPr/>
          <p:nvPr/>
        </p:nvGrpSpPr>
        <p:grpSpPr>
          <a:xfrm rot="0">
            <a:off x="11804980" y="5422059"/>
            <a:ext cx="6314294" cy="1372676"/>
            <a:chOff x="0" y="0"/>
            <a:chExt cx="8419059" cy="1830235"/>
          </a:xfrm>
        </p:grpSpPr>
        <p:sp>
          <p:nvSpPr>
            <p:cNvPr name="Freeform 16" id="16"/>
            <p:cNvSpPr/>
            <p:nvPr/>
          </p:nvSpPr>
          <p:spPr>
            <a:xfrm flipH="false" flipV="false" rot="0">
              <a:off x="0" y="0"/>
              <a:ext cx="8419057" cy="1830230"/>
            </a:xfrm>
            <a:custGeom>
              <a:avLst/>
              <a:gdLst/>
              <a:ahLst/>
              <a:cxnLst/>
              <a:rect r="r" b="b" t="t" l="l"/>
              <a:pathLst>
                <a:path h="1830230" w="8419057">
                  <a:moveTo>
                    <a:pt x="0" y="0"/>
                  </a:moveTo>
                  <a:lnTo>
                    <a:pt x="8419057" y="0"/>
                  </a:lnTo>
                  <a:lnTo>
                    <a:pt x="8419057" y="1830230"/>
                  </a:lnTo>
                  <a:lnTo>
                    <a:pt x="0" y="1830230"/>
                  </a:lnTo>
                  <a:close/>
                </a:path>
              </a:pathLst>
            </a:custGeom>
            <a:blipFill>
              <a:blip r:embed="rId7">
                <a:alphaModFix amt="0"/>
              </a:blip>
              <a:stretch>
                <a:fillRect l="0" t="-39631" r="0" b="-39631"/>
              </a:stretch>
            </a:blipFill>
          </p:spPr>
        </p:sp>
        <p:sp>
          <p:nvSpPr>
            <p:cNvPr name="TextBox 17" id="17"/>
            <p:cNvSpPr txBox="true"/>
            <p:nvPr/>
          </p:nvSpPr>
          <p:spPr>
            <a:xfrm>
              <a:off x="0" y="-114300"/>
              <a:ext cx="8419059" cy="1944535"/>
            </a:xfrm>
            <a:prstGeom prst="rect">
              <a:avLst/>
            </a:prstGeom>
          </p:spPr>
          <p:txBody>
            <a:bodyPr anchor="ctr" rtlCol="false" tIns="0" lIns="0" bIns="0" rIns="0"/>
            <a:lstStyle/>
            <a:p>
              <a:pPr algn="ctr">
                <a:lnSpc>
                  <a:spcPts val="3981"/>
                </a:lnSpc>
              </a:pPr>
              <a:r>
                <a:rPr lang="en-US" sz="2551">
                  <a:solidFill>
                    <a:srgbClr val="B9D3D3"/>
                  </a:solidFill>
                  <a:latin typeface="Poppins"/>
                  <a:ea typeface="Poppins"/>
                  <a:cs typeface="Poppins"/>
                  <a:sym typeface="Poppins"/>
                </a:rPr>
                <a:t>before the riders leave,</a:t>
              </a:r>
            </a:p>
            <a:p>
              <a:pPr algn="ctr">
                <a:lnSpc>
                  <a:spcPts val="3981"/>
                </a:lnSpc>
              </a:pPr>
              <a:r>
                <a:rPr lang="en-US" sz="2551">
                  <a:solidFill>
                    <a:srgbClr val="B9D3D3"/>
                  </a:solidFill>
                  <a:latin typeface="Poppins"/>
                  <a:ea typeface="Poppins"/>
                  <a:cs typeface="Poppins"/>
                  <a:sym typeface="Poppins"/>
                </a:rPr>
                <a:t>she opens one screen</a:t>
              </a:r>
            </a:p>
          </p:txBody>
        </p:sp>
      </p:grpSp>
      <p:grpSp>
        <p:nvGrpSpPr>
          <p:cNvPr name="Group 18" id="18"/>
          <p:cNvGrpSpPr/>
          <p:nvPr/>
        </p:nvGrpSpPr>
        <p:grpSpPr>
          <a:xfrm rot="0">
            <a:off x="1070686" y="2553171"/>
            <a:ext cx="10157774" cy="2059010"/>
            <a:chOff x="0" y="0"/>
            <a:chExt cx="13543699" cy="2745346"/>
          </a:xfrm>
        </p:grpSpPr>
        <p:sp>
          <p:nvSpPr>
            <p:cNvPr name="Freeform 19" id="19"/>
            <p:cNvSpPr/>
            <p:nvPr/>
          </p:nvSpPr>
          <p:spPr>
            <a:xfrm flipH="false" flipV="false" rot="0">
              <a:off x="0" y="0"/>
              <a:ext cx="13543700" cy="2745345"/>
            </a:xfrm>
            <a:custGeom>
              <a:avLst/>
              <a:gdLst/>
              <a:ahLst/>
              <a:cxnLst/>
              <a:rect r="r" b="b" t="t" l="l"/>
              <a:pathLst>
                <a:path h="2745345" w="13543700">
                  <a:moveTo>
                    <a:pt x="0" y="0"/>
                  </a:moveTo>
                  <a:lnTo>
                    <a:pt x="13543700" y="0"/>
                  </a:lnTo>
                  <a:lnTo>
                    <a:pt x="13543700" y="2745345"/>
                  </a:lnTo>
                  <a:lnTo>
                    <a:pt x="0" y="2745345"/>
                  </a:lnTo>
                  <a:close/>
                </a:path>
              </a:pathLst>
            </a:custGeom>
            <a:blipFill>
              <a:blip r:embed="rId7">
                <a:alphaModFix amt="0"/>
              </a:blip>
              <a:stretch>
                <a:fillRect l="0" t="-46126" r="0" b="-46126"/>
              </a:stretch>
            </a:blipFill>
          </p:spPr>
        </p:sp>
        <p:sp>
          <p:nvSpPr>
            <p:cNvPr name="TextBox 20" id="20"/>
            <p:cNvSpPr txBox="true"/>
            <p:nvPr/>
          </p:nvSpPr>
          <p:spPr>
            <a:xfrm>
              <a:off x="0" y="-133350"/>
              <a:ext cx="13543699" cy="2878696"/>
            </a:xfrm>
            <a:prstGeom prst="rect">
              <a:avLst/>
            </a:prstGeom>
          </p:spPr>
          <p:txBody>
            <a:bodyPr anchor="ctr" rtlCol="false" tIns="0" lIns="0" bIns="0" rIns="0"/>
            <a:lstStyle/>
            <a:p>
              <a:pPr algn="l">
                <a:lnSpc>
                  <a:spcPts val="4134"/>
                </a:lnSpc>
              </a:pPr>
              <a:r>
                <a:rPr lang="en-US" sz="2551">
                  <a:solidFill>
                    <a:srgbClr val="475569"/>
                  </a:solidFill>
                  <a:latin typeface="Poppins"/>
                  <a:ea typeface="Poppins"/>
                  <a:cs typeface="Poppins"/>
                  <a:sym typeface="Poppins"/>
                </a:rPr>
                <a:t>SwiftRoute's finance lead has asked Adaeze for a Q4 delivery and revenue estimate, needed to plan rider hiring and fuel budget before October begins.</a:t>
              </a:r>
            </a:p>
          </p:txBody>
        </p:sp>
      </p:grpSp>
      <p:grpSp>
        <p:nvGrpSpPr>
          <p:cNvPr name="Group 21" id="21"/>
          <p:cNvGrpSpPr/>
          <p:nvPr/>
        </p:nvGrpSpPr>
        <p:grpSpPr>
          <a:xfrm rot="0">
            <a:off x="1070686" y="4118015"/>
            <a:ext cx="10157774" cy="2059010"/>
            <a:chOff x="0" y="0"/>
            <a:chExt cx="13543699" cy="2745346"/>
          </a:xfrm>
        </p:grpSpPr>
        <p:sp>
          <p:nvSpPr>
            <p:cNvPr name="Freeform 22" id="22"/>
            <p:cNvSpPr/>
            <p:nvPr/>
          </p:nvSpPr>
          <p:spPr>
            <a:xfrm flipH="false" flipV="false" rot="0">
              <a:off x="0" y="0"/>
              <a:ext cx="13543700" cy="2745345"/>
            </a:xfrm>
            <a:custGeom>
              <a:avLst/>
              <a:gdLst/>
              <a:ahLst/>
              <a:cxnLst/>
              <a:rect r="r" b="b" t="t" l="l"/>
              <a:pathLst>
                <a:path h="2745345" w="13543700">
                  <a:moveTo>
                    <a:pt x="0" y="0"/>
                  </a:moveTo>
                  <a:lnTo>
                    <a:pt x="13543700" y="0"/>
                  </a:lnTo>
                  <a:lnTo>
                    <a:pt x="13543700" y="2745345"/>
                  </a:lnTo>
                  <a:lnTo>
                    <a:pt x="0" y="2745345"/>
                  </a:lnTo>
                  <a:close/>
                </a:path>
              </a:pathLst>
            </a:custGeom>
            <a:blipFill>
              <a:blip r:embed="rId7">
                <a:alphaModFix amt="0"/>
              </a:blip>
              <a:stretch>
                <a:fillRect l="0" t="-46126" r="0" b="-46126"/>
              </a:stretch>
            </a:blipFill>
          </p:spPr>
        </p:sp>
        <p:sp>
          <p:nvSpPr>
            <p:cNvPr name="TextBox 23" id="23"/>
            <p:cNvSpPr txBox="true"/>
            <p:nvPr/>
          </p:nvSpPr>
          <p:spPr>
            <a:xfrm>
              <a:off x="0" y="-133350"/>
              <a:ext cx="13543699" cy="2878696"/>
            </a:xfrm>
            <a:prstGeom prst="rect">
              <a:avLst/>
            </a:prstGeom>
          </p:spPr>
          <p:txBody>
            <a:bodyPr anchor="ctr" rtlCol="false" tIns="0" lIns="0" bIns="0" rIns="0"/>
            <a:lstStyle/>
            <a:p>
              <a:pPr algn="l">
                <a:lnSpc>
                  <a:spcPts val="4134"/>
                </a:lnSpc>
              </a:pPr>
              <a:r>
                <a:rPr lang="en-US" sz="2551">
                  <a:solidFill>
                    <a:srgbClr val="475569"/>
                  </a:solidFill>
                  <a:latin typeface="Poppins"/>
                  <a:ea typeface="Poppins"/>
                  <a:cs typeface="Poppins"/>
                  <a:sym typeface="Poppins"/>
                </a:rPr>
                <a:t>Adaeze has exactly one thing to work from: three months of Q3 data, now cleaned and verified in Topic 8.1. No Q4 history exists yet. No forecasting software is set up.</a:t>
              </a:r>
            </a:p>
          </p:txBody>
        </p:sp>
      </p:grpSp>
      <p:grpSp>
        <p:nvGrpSpPr>
          <p:cNvPr name="Group 24" id="24"/>
          <p:cNvGrpSpPr/>
          <p:nvPr/>
        </p:nvGrpSpPr>
        <p:grpSpPr>
          <a:xfrm rot="0">
            <a:off x="1070686" y="5682858"/>
            <a:ext cx="10157774" cy="2059010"/>
            <a:chOff x="0" y="0"/>
            <a:chExt cx="13543699" cy="2745346"/>
          </a:xfrm>
        </p:grpSpPr>
        <p:sp>
          <p:nvSpPr>
            <p:cNvPr name="Freeform 25" id="25"/>
            <p:cNvSpPr/>
            <p:nvPr/>
          </p:nvSpPr>
          <p:spPr>
            <a:xfrm flipH="false" flipV="false" rot="0">
              <a:off x="0" y="0"/>
              <a:ext cx="13543700" cy="2745345"/>
            </a:xfrm>
            <a:custGeom>
              <a:avLst/>
              <a:gdLst/>
              <a:ahLst/>
              <a:cxnLst/>
              <a:rect r="r" b="b" t="t" l="l"/>
              <a:pathLst>
                <a:path h="2745345" w="13543700">
                  <a:moveTo>
                    <a:pt x="0" y="0"/>
                  </a:moveTo>
                  <a:lnTo>
                    <a:pt x="13543700" y="0"/>
                  </a:lnTo>
                  <a:lnTo>
                    <a:pt x="13543700" y="2745345"/>
                  </a:lnTo>
                  <a:lnTo>
                    <a:pt x="0" y="2745345"/>
                  </a:lnTo>
                  <a:close/>
                </a:path>
              </a:pathLst>
            </a:custGeom>
            <a:blipFill>
              <a:blip r:embed="rId7">
                <a:alphaModFix amt="0"/>
              </a:blip>
              <a:stretch>
                <a:fillRect l="0" t="-46126" r="0" b="-46126"/>
              </a:stretch>
            </a:blipFill>
          </p:spPr>
        </p:sp>
        <p:sp>
          <p:nvSpPr>
            <p:cNvPr name="TextBox 26" id="26"/>
            <p:cNvSpPr txBox="true"/>
            <p:nvPr/>
          </p:nvSpPr>
          <p:spPr>
            <a:xfrm>
              <a:off x="0" y="-133350"/>
              <a:ext cx="13543699" cy="2878696"/>
            </a:xfrm>
            <a:prstGeom prst="rect">
              <a:avLst/>
            </a:prstGeom>
          </p:spPr>
          <p:txBody>
            <a:bodyPr anchor="ctr" rtlCol="false" tIns="0" lIns="0" bIns="0" rIns="0"/>
            <a:lstStyle/>
            <a:p>
              <a:pPr algn="l">
                <a:lnSpc>
                  <a:spcPts val="4134"/>
                </a:lnSpc>
              </a:pPr>
              <a:r>
                <a:rPr lang="en-US" sz="2551">
                  <a:solidFill>
                    <a:srgbClr val="475569"/>
                  </a:solidFill>
                  <a:latin typeface="Poppins"/>
                  <a:ea typeface="Poppins"/>
                  <a:cs typeface="Poppins"/>
                  <a:sym typeface="Poppins"/>
                </a:rPr>
                <a:t>She could ask an AI tool for a number and paste it into the budget. The risk is that a fluent, confident-sounding forecast is not the same thing as a defensible one.</a:t>
              </a:r>
            </a:p>
          </p:txBody>
        </p:sp>
      </p:grpSp>
      <p:sp>
        <p:nvSpPr>
          <p:cNvPr name="AutoShape 27" id="27"/>
          <p:cNvSpPr/>
          <p:nvPr/>
        </p:nvSpPr>
        <p:spPr>
          <a:xfrm rot="6419">
            <a:off x="1061142" y="8711708"/>
            <a:ext cx="10176862" cy="0"/>
          </a:xfrm>
          <a:prstGeom prst="line">
            <a:avLst/>
          </a:prstGeom>
          <a:ln cap="rnd" w="9525">
            <a:solidFill>
              <a:srgbClr val="E2E8F0"/>
            </a:solidFill>
            <a:prstDash val="solid"/>
            <a:headEnd type="none" len="sm" w="sm"/>
            <a:tailEnd type="none" len="sm" w="sm"/>
          </a:ln>
        </p:spPr>
      </p:sp>
      <p:grpSp>
        <p:nvGrpSpPr>
          <p:cNvPr name="Group 28" id="28"/>
          <p:cNvGrpSpPr/>
          <p:nvPr/>
        </p:nvGrpSpPr>
        <p:grpSpPr>
          <a:xfrm rot="0">
            <a:off x="1070686" y="8922372"/>
            <a:ext cx="10157774" cy="754971"/>
            <a:chOff x="0" y="0"/>
            <a:chExt cx="13543699" cy="1006627"/>
          </a:xfrm>
        </p:grpSpPr>
        <p:sp>
          <p:nvSpPr>
            <p:cNvPr name="Freeform 29" id="29"/>
            <p:cNvSpPr/>
            <p:nvPr/>
          </p:nvSpPr>
          <p:spPr>
            <a:xfrm flipH="false" flipV="false" rot="0">
              <a:off x="0" y="0"/>
              <a:ext cx="13543700" cy="1006626"/>
            </a:xfrm>
            <a:custGeom>
              <a:avLst/>
              <a:gdLst/>
              <a:ahLst/>
              <a:cxnLst/>
              <a:rect r="r" b="b" t="t" l="l"/>
              <a:pathLst>
                <a:path h="1006626" w="13543700">
                  <a:moveTo>
                    <a:pt x="0" y="0"/>
                  </a:moveTo>
                  <a:lnTo>
                    <a:pt x="13543700" y="0"/>
                  </a:lnTo>
                  <a:lnTo>
                    <a:pt x="13543700" y="1006626"/>
                  </a:lnTo>
                  <a:lnTo>
                    <a:pt x="0" y="1006626"/>
                  </a:lnTo>
                  <a:close/>
                </a:path>
              </a:pathLst>
            </a:custGeom>
            <a:blipFill>
              <a:blip r:embed="rId7">
                <a:alphaModFix amt="0"/>
              </a:blip>
              <a:stretch>
                <a:fillRect l="0" t="-212162" r="0" b="-212162"/>
              </a:stretch>
            </a:blipFill>
          </p:spPr>
        </p:sp>
        <p:sp>
          <p:nvSpPr>
            <p:cNvPr name="TextBox 30" id="30"/>
            <p:cNvSpPr txBox="true"/>
            <p:nvPr/>
          </p:nvSpPr>
          <p:spPr>
            <a:xfrm>
              <a:off x="0" y="-47625"/>
              <a:ext cx="13543699" cy="1054252"/>
            </a:xfrm>
            <a:prstGeom prst="rect">
              <a:avLst/>
            </a:prstGeom>
          </p:spPr>
          <p:txBody>
            <a:bodyPr anchor="ctr" rtlCol="false" tIns="0" lIns="0" bIns="0" rIns="0"/>
            <a:lstStyle/>
            <a:p>
              <a:pPr algn="l">
                <a:lnSpc>
                  <a:spcPts val="2693"/>
                </a:lnSpc>
              </a:pPr>
              <a:r>
                <a:rPr lang="en-US" sz="1951" i="true">
                  <a:solidFill>
                    <a:srgbClr val="64748B"/>
                  </a:solidFill>
                  <a:latin typeface="Poppins Italics"/>
                  <a:ea typeface="Poppins Italics"/>
                  <a:cs typeface="Poppins Italics"/>
                  <a:sym typeface="Poppins Italics"/>
                </a:rPr>
                <a:t>Three months of history. One budget decision. How much of that forecast can Adaeze actually stand behind?</a:t>
              </a:r>
            </a:p>
          </p:txBody>
        </p:sp>
      </p:grpSp>
      <p:sp>
        <p:nvSpPr>
          <p:cNvPr name="Freeform 31" id="31"/>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9946680"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By the end of Topic 8.2, you can</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95350" y="2576774"/>
            <a:ext cx="3551787" cy="5696588"/>
            <a:chOff x="0" y="0"/>
            <a:chExt cx="4735716" cy="7595451"/>
          </a:xfrm>
        </p:grpSpPr>
        <p:sp>
          <p:nvSpPr>
            <p:cNvPr name="Freeform 12" id="12"/>
            <p:cNvSpPr/>
            <p:nvPr/>
          </p:nvSpPr>
          <p:spPr>
            <a:xfrm flipH="false" flipV="false" rot="0">
              <a:off x="0" y="0"/>
              <a:ext cx="4735703" cy="7595488"/>
            </a:xfrm>
            <a:custGeom>
              <a:avLst/>
              <a:gdLst/>
              <a:ahLst/>
              <a:cxnLst/>
              <a:rect r="r" b="b" t="t" l="l"/>
              <a:pathLst>
                <a:path h="7595488" w="4735703">
                  <a:moveTo>
                    <a:pt x="0" y="164719"/>
                  </a:moveTo>
                  <a:cubicBezTo>
                    <a:pt x="0" y="73787"/>
                    <a:pt x="73787" y="0"/>
                    <a:pt x="164719" y="0"/>
                  </a:cubicBezTo>
                  <a:lnTo>
                    <a:pt x="4570984" y="0"/>
                  </a:lnTo>
                  <a:cubicBezTo>
                    <a:pt x="4661916" y="0"/>
                    <a:pt x="4735703" y="73787"/>
                    <a:pt x="4735703" y="164719"/>
                  </a:cubicBezTo>
                  <a:lnTo>
                    <a:pt x="4735703" y="7430770"/>
                  </a:lnTo>
                  <a:cubicBezTo>
                    <a:pt x="4735703" y="7521701"/>
                    <a:pt x="4661916" y="7595488"/>
                    <a:pt x="4570984" y="7595488"/>
                  </a:cubicBezTo>
                  <a:lnTo>
                    <a:pt x="164719" y="7595488"/>
                  </a:lnTo>
                  <a:cubicBezTo>
                    <a:pt x="73787" y="7595489"/>
                    <a:pt x="0" y="7521702"/>
                    <a:pt x="0" y="7430770"/>
                  </a:cubicBezTo>
                  <a:close/>
                </a:path>
              </a:pathLst>
            </a:custGeom>
            <a:solidFill>
              <a:srgbClr val="FFFFFF"/>
            </a:solidFill>
          </p:spPr>
        </p:sp>
      </p:grpSp>
      <p:grpSp>
        <p:nvGrpSpPr>
          <p:cNvPr name="Group 13" id="13"/>
          <p:cNvGrpSpPr/>
          <p:nvPr/>
        </p:nvGrpSpPr>
        <p:grpSpPr>
          <a:xfrm rot="0">
            <a:off x="895350" y="2576774"/>
            <a:ext cx="3551787" cy="1578569"/>
            <a:chOff x="0" y="0"/>
            <a:chExt cx="4735716" cy="2104758"/>
          </a:xfrm>
        </p:grpSpPr>
        <p:sp>
          <p:nvSpPr>
            <p:cNvPr name="Freeform 14" id="14"/>
            <p:cNvSpPr/>
            <p:nvPr/>
          </p:nvSpPr>
          <p:spPr>
            <a:xfrm flipH="false" flipV="false" rot="0">
              <a:off x="0" y="0"/>
              <a:ext cx="4735703" cy="2104771"/>
            </a:xfrm>
            <a:custGeom>
              <a:avLst/>
              <a:gdLst/>
              <a:ahLst/>
              <a:cxnLst/>
              <a:rect r="r" b="b" t="t" l="l"/>
              <a:pathLst>
                <a:path h="2104771" w="4735703">
                  <a:moveTo>
                    <a:pt x="0" y="164719"/>
                  </a:moveTo>
                  <a:cubicBezTo>
                    <a:pt x="0" y="73787"/>
                    <a:pt x="73787" y="0"/>
                    <a:pt x="164719" y="0"/>
                  </a:cubicBezTo>
                  <a:lnTo>
                    <a:pt x="4570984" y="0"/>
                  </a:lnTo>
                  <a:cubicBezTo>
                    <a:pt x="4661916" y="0"/>
                    <a:pt x="4735703" y="73787"/>
                    <a:pt x="4735703" y="164719"/>
                  </a:cubicBezTo>
                  <a:lnTo>
                    <a:pt x="4735703" y="1940052"/>
                  </a:lnTo>
                  <a:cubicBezTo>
                    <a:pt x="4735703" y="2030984"/>
                    <a:pt x="4661916" y="2104771"/>
                    <a:pt x="4570984" y="2104771"/>
                  </a:cubicBezTo>
                  <a:lnTo>
                    <a:pt x="164719" y="2104771"/>
                  </a:lnTo>
                  <a:cubicBezTo>
                    <a:pt x="73787" y="2104771"/>
                    <a:pt x="0" y="2030984"/>
                    <a:pt x="0" y="1940052"/>
                  </a:cubicBezTo>
                  <a:close/>
                </a:path>
              </a:pathLst>
            </a:custGeom>
            <a:solidFill>
              <a:srgbClr val="387F7F"/>
            </a:solidFill>
          </p:spPr>
        </p:sp>
      </p:grpSp>
      <p:grpSp>
        <p:nvGrpSpPr>
          <p:cNvPr name="Group 15" id="15"/>
          <p:cNvGrpSpPr/>
          <p:nvPr/>
        </p:nvGrpSpPr>
        <p:grpSpPr>
          <a:xfrm rot="0">
            <a:off x="895350" y="3263108"/>
            <a:ext cx="3551787" cy="892235"/>
            <a:chOff x="0" y="0"/>
            <a:chExt cx="4735716" cy="1189647"/>
          </a:xfrm>
        </p:grpSpPr>
        <p:sp>
          <p:nvSpPr>
            <p:cNvPr name="Freeform 16" id="16"/>
            <p:cNvSpPr/>
            <p:nvPr/>
          </p:nvSpPr>
          <p:spPr>
            <a:xfrm flipH="false" flipV="false" rot="0">
              <a:off x="0" y="0"/>
              <a:ext cx="4735703" cy="1189609"/>
            </a:xfrm>
            <a:custGeom>
              <a:avLst/>
              <a:gdLst/>
              <a:ahLst/>
              <a:cxnLst/>
              <a:rect r="r" b="b" t="t" l="l"/>
              <a:pathLst>
                <a:path h="1189609" w="4735703">
                  <a:moveTo>
                    <a:pt x="0" y="0"/>
                  </a:moveTo>
                  <a:lnTo>
                    <a:pt x="4735703" y="0"/>
                  </a:lnTo>
                  <a:lnTo>
                    <a:pt x="4735703" y="1189609"/>
                  </a:lnTo>
                  <a:lnTo>
                    <a:pt x="0" y="1189609"/>
                  </a:lnTo>
                  <a:close/>
                </a:path>
              </a:pathLst>
            </a:custGeom>
            <a:solidFill>
              <a:srgbClr val="387F7F"/>
            </a:solidFill>
          </p:spPr>
        </p:sp>
      </p:grpSp>
      <p:grpSp>
        <p:nvGrpSpPr>
          <p:cNvPr name="Group 17" id="17"/>
          <p:cNvGrpSpPr/>
          <p:nvPr/>
        </p:nvGrpSpPr>
        <p:grpSpPr>
          <a:xfrm rot="0">
            <a:off x="3005842" y="2508137"/>
            <a:ext cx="1372676" cy="1647206"/>
            <a:chOff x="0" y="0"/>
            <a:chExt cx="1830235" cy="2196274"/>
          </a:xfrm>
        </p:grpSpPr>
        <p:sp>
          <p:nvSpPr>
            <p:cNvPr name="Freeform 18" id="18"/>
            <p:cNvSpPr/>
            <p:nvPr/>
          </p:nvSpPr>
          <p:spPr>
            <a:xfrm flipH="false" flipV="false" rot="0">
              <a:off x="0" y="0"/>
              <a:ext cx="1830230" cy="2196276"/>
            </a:xfrm>
            <a:custGeom>
              <a:avLst/>
              <a:gdLst/>
              <a:ahLst/>
              <a:cxnLst/>
              <a:rect r="r" b="b" t="t" l="l"/>
              <a:pathLst>
                <a:path h="2196276" w="1830230">
                  <a:moveTo>
                    <a:pt x="0" y="0"/>
                  </a:moveTo>
                  <a:lnTo>
                    <a:pt x="1830230" y="0"/>
                  </a:lnTo>
                  <a:lnTo>
                    <a:pt x="1830230" y="2196276"/>
                  </a:lnTo>
                  <a:lnTo>
                    <a:pt x="0" y="2196276"/>
                  </a:lnTo>
                  <a:close/>
                </a:path>
              </a:pathLst>
            </a:custGeom>
            <a:blipFill>
              <a:blip r:embed="rId9">
                <a:alphaModFix amt="0"/>
              </a:blip>
              <a:stretch>
                <a:fillRect l="-103964" t="0" r="-103964" b="0"/>
              </a:stretch>
            </a:blipFill>
          </p:spPr>
        </p:sp>
        <p:sp>
          <p:nvSpPr>
            <p:cNvPr name="TextBox 19" id="19"/>
            <p:cNvSpPr txBox="true"/>
            <p:nvPr/>
          </p:nvSpPr>
          <p:spPr>
            <a:xfrm>
              <a:off x="0" y="-85725"/>
              <a:ext cx="1830235" cy="2281999"/>
            </a:xfrm>
            <a:prstGeom prst="rect">
              <a:avLst/>
            </a:prstGeom>
          </p:spPr>
          <p:txBody>
            <a:bodyPr anchor="ctr" rtlCol="false" tIns="0" lIns="0" bIns="0" rIns="0"/>
            <a:lstStyle/>
            <a:p>
              <a:pPr algn="r">
                <a:lnSpc>
                  <a:spcPts val="10448"/>
                </a:lnSpc>
              </a:pPr>
              <a:r>
                <a:rPr lang="en-US" sz="8706" b="true">
                  <a:solidFill>
                    <a:srgbClr val="5A9A9A"/>
                  </a:solidFill>
                  <a:latin typeface="Poppins Bold"/>
                  <a:ea typeface="Poppins Bold"/>
                  <a:cs typeface="Poppins Bold"/>
                  <a:sym typeface="Poppins Bold"/>
                </a:rPr>
                <a:t>1</a:t>
              </a:r>
            </a:p>
          </p:txBody>
        </p:sp>
      </p:grpSp>
      <p:grpSp>
        <p:nvGrpSpPr>
          <p:cNvPr name="Group 20" id="20"/>
          <p:cNvGrpSpPr/>
          <p:nvPr/>
        </p:nvGrpSpPr>
        <p:grpSpPr>
          <a:xfrm rot="0">
            <a:off x="1279703" y="2576774"/>
            <a:ext cx="2728189" cy="1578569"/>
            <a:chOff x="0" y="0"/>
            <a:chExt cx="3637585" cy="2104758"/>
          </a:xfrm>
        </p:grpSpPr>
        <p:sp>
          <p:nvSpPr>
            <p:cNvPr name="Freeform 21" id="21"/>
            <p:cNvSpPr/>
            <p:nvPr/>
          </p:nvSpPr>
          <p:spPr>
            <a:xfrm flipH="false" flipV="false" rot="0">
              <a:off x="0" y="0"/>
              <a:ext cx="3637582" cy="2104764"/>
            </a:xfrm>
            <a:custGeom>
              <a:avLst/>
              <a:gdLst/>
              <a:ahLst/>
              <a:cxnLst/>
              <a:rect r="r" b="b" t="t" l="l"/>
              <a:pathLst>
                <a:path h="2104764" w="3637582">
                  <a:moveTo>
                    <a:pt x="0" y="0"/>
                  </a:moveTo>
                  <a:lnTo>
                    <a:pt x="3637582" y="0"/>
                  </a:lnTo>
                  <a:lnTo>
                    <a:pt x="3637582" y="2104764"/>
                  </a:lnTo>
                  <a:lnTo>
                    <a:pt x="0" y="2104764"/>
                  </a:lnTo>
                  <a:close/>
                </a:path>
              </a:pathLst>
            </a:custGeom>
            <a:blipFill>
              <a:blip r:embed="rId9">
                <a:alphaModFix amt="0"/>
              </a:blip>
              <a:stretch>
                <a:fillRect l="-24238" t="0" r="-24238" b="0"/>
              </a:stretch>
            </a:blipFill>
          </p:spPr>
        </p:sp>
        <p:sp>
          <p:nvSpPr>
            <p:cNvPr name="TextBox 22" id="22"/>
            <p:cNvSpPr txBox="true"/>
            <p:nvPr/>
          </p:nvSpPr>
          <p:spPr>
            <a:xfrm>
              <a:off x="0" y="-19050"/>
              <a:ext cx="3637585" cy="2123808"/>
            </a:xfrm>
            <a:prstGeom prst="rect">
              <a:avLst/>
            </a:prstGeom>
          </p:spPr>
          <p:txBody>
            <a:bodyPr anchor="ctr" rtlCol="false" tIns="0" lIns="0" bIns="0" rIns="0"/>
            <a:lstStyle/>
            <a:p>
              <a:pPr algn="l">
                <a:lnSpc>
                  <a:spcPts val="3782"/>
                </a:lnSpc>
              </a:pPr>
              <a:r>
                <a:rPr lang="en-US" sz="3152" b="true">
                  <a:solidFill>
                    <a:srgbClr val="FFFFFF"/>
                  </a:solidFill>
                  <a:latin typeface="Poppins Bold"/>
                  <a:ea typeface="Poppins Bold"/>
                  <a:cs typeface="Poppins Bold"/>
                  <a:sym typeface="Poppins Bold"/>
                </a:rPr>
                <a:t>Build</a:t>
              </a:r>
            </a:p>
          </p:txBody>
        </p:sp>
      </p:grpSp>
      <p:sp>
        <p:nvSpPr>
          <p:cNvPr name="TextBox 23" id="23"/>
          <p:cNvSpPr txBox="true"/>
          <p:nvPr/>
        </p:nvSpPr>
        <p:spPr>
          <a:xfrm rot="0">
            <a:off x="1279703" y="4384219"/>
            <a:ext cx="2783091" cy="3545977"/>
          </a:xfrm>
          <a:prstGeom prst="rect">
            <a:avLst/>
          </a:prstGeom>
        </p:spPr>
        <p:txBody>
          <a:bodyPr anchor="t" rtlCol="false" tIns="0" lIns="0" bIns="0" rIns="0">
            <a:spAutoFit/>
          </a:bodyPr>
          <a:lstStyle/>
          <a:p>
            <a:pPr algn="l">
              <a:lnSpc>
                <a:spcPts val="3526"/>
              </a:lnSpc>
            </a:pPr>
            <a:r>
              <a:rPr lang="en-US" sz="2176">
                <a:solidFill>
                  <a:srgbClr val="475569"/>
                </a:solidFill>
                <a:latin typeface="Poppins"/>
                <a:ea typeface="Poppins"/>
                <a:cs typeface="Poppins"/>
                <a:sym typeface="Poppins"/>
              </a:rPr>
              <a:t>a simple trend-based forecast by hand from a short run of historical figures, understanding exactly what it assumes.</a:t>
            </a:r>
          </a:p>
        </p:txBody>
      </p:sp>
      <p:grpSp>
        <p:nvGrpSpPr>
          <p:cNvPr name="Group 24" id="24"/>
          <p:cNvGrpSpPr/>
          <p:nvPr/>
        </p:nvGrpSpPr>
        <p:grpSpPr>
          <a:xfrm rot="0">
            <a:off x="4927578" y="2576774"/>
            <a:ext cx="3551787" cy="5696588"/>
            <a:chOff x="0" y="0"/>
            <a:chExt cx="4735716" cy="7595451"/>
          </a:xfrm>
        </p:grpSpPr>
        <p:sp>
          <p:nvSpPr>
            <p:cNvPr name="Freeform 25" id="25"/>
            <p:cNvSpPr/>
            <p:nvPr/>
          </p:nvSpPr>
          <p:spPr>
            <a:xfrm flipH="false" flipV="false" rot="0">
              <a:off x="0" y="0"/>
              <a:ext cx="4735703" cy="7595488"/>
            </a:xfrm>
            <a:custGeom>
              <a:avLst/>
              <a:gdLst/>
              <a:ahLst/>
              <a:cxnLst/>
              <a:rect r="r" b="b" t="t" l="l"/>
              <a:pathLst>
                <a:path h="7595488" w="4735703">
                  <a:moveTo>
                    <a:pt x="0" y="164719"/>
                  </a:moveTo>
                  <a:cubicBezTo>
                    <a:pt x="0" y="73787"/>
                    <a:pt x="73787" y="0"/>
                    <a:pt x="164719" y="0"/>
                  </a:cubicBezTo>
                  <a:lnTo>
                    <a:pt x="4570984" y="0"/>
                  </a:lnTo>
                  <a:cubicBezTo>
                    <a:pt x="4661916" y="0"/>
                    <a:pt x="4735703" y="73787"/>
                    <a:pt x="4735703" y="164719"/>
                  </a:cubicBezTo>
                  <a:lnTo>
                    <a:pt x="4735703" y="7430770"/>
                  </a:lnTo>
                  <a:cubicBezTo>
                    <a:pt x="4735703" y="7521701"/>
                    <a:pt x="4661916" y="7595488"/>
                    <a:pt x="4570984" y="7595488"/>
                  </a:cubicBezTo>
                  <a:lnTo>
                    <a:pt x="164719" y="7595488"/>
                  </a:lnTo>
                  <a:cubicBezTo>
                    <a:pt x="73787" y="7595489"/>
                    <a:pt x="0" y="7521702"/>
                    <a:pt x="0" y="7430770"/>
                  </a:cubicBezTo>
                  <a:close/>
                </a:path>
              </a:pathLst>
            </a:custGeom>
            <a:solidFill>
              <a:srgbClr val="FFFFFF"/>
            </a:solidFill>
          </p:spPr>
        </p:sp>
      </p:grpSp>
      <p:grpSp>
        <p:nvGrpSpPr>
          <p:cNvPr name="Group 26" id="26"/>
          <p:cNvGrpSpPr/>
          <p:nvPr/>
        </p:nvGrpSpPr>
        <p:grpSpPr>
          <a:xfrm rot="0">
            <a:off x="4927578" y="2576774"/>
            <a:ext cx="3551787" cy="1578569"/>
            <a:chOff x="0" y="0"/>
            <a:chExt cx="4735716" cy="2104758"/>
          </a:xfrm>
        </p:grpSpPr>
        <p:sp>
          <p:nvSpPr>
            <p:cNvPr name="Freeform 27" id="27"/>
            <p:cNvSpPr/>
            <p:nvPr/>
          </p:nvSpPr>
          <p:spPr>
            <a:xfrm flipH="false" flipV="false" rot="0">
              <a:off x="0" y="0"/>
              <a:ext cx="4735703" cy="2104771"/>
            </a:xfrm>
            <a:custGeom>
              <a:avLst/>
              <a:gdLst/>
              <a:ahLst/>
              <a:cxnLst/>
              <a:rect r="r" b="b" t="t" l="l"/>
              <a:pathLst>
                <a:path h="2104771" w="4735703">
                  <a:moveTo>
                    <a:pt x="0" y="164719"/>
                  </a:moveTo>
                  <a:cubicBezTo>
                    <a:pt x="0" y="73787"/>
                    <a:pt x="73787" y="0"/>
                    <a:pt x="164719" y="0"/>
                  </a:cubicBezTo>
                  <a:lnTo>
                    <a:pt x="4570984" y="0"/>
                  </a:lnTo>
                  <a:cubicBezTo>
                    <a:pt x="4661916" y="0"/>
                    <a:pt x="4735703" y="73787"/>
                    <a:pt x="4735703" y="164719"/>
                  </a:cubicBezTo>
                  <a:lnTo>
                    <a:pt x="4735703" y="1940052"/>
                  </a:lnTo>
                  <a:cubicBezTo>
                    <a:pt x="4735703" y="2030984"/>
                    <a:pt x="4661916" y="2104771"/>
                    <a:pt x="4570984" y="2104771"/>
                  </a:cubicBezTo>
                  <a:lnTo>
                    <a:pt x="164719" y="2104771"/>
                  </a:lnTo>
                  <a:cubicBezTo>
                    <a:pt x="73787" y="2104771"/>
                    <a:pt x="0" y="2030984"/>
                    <a:pt x="0" y="1940052"/>
                  </a:cubicBezTo>
                  <a:close/>
                </a:path>
              </a:pathLst>
            </a:custGeom>
            <a:solidFill>
              <a:srgbClr val="387F7F"/>
            </a:solidFill>
          </p:spPr>
        </p:sp>
      </p:grpSp>
      <p:grpSp>
        <p:nvGrpSpPr>
          <p:cNvPr name="Group 28" id="28"/>
          <p:cNvGrpSpPr/>
          <p:nvPr/>
        </p:nvGrpSpPr>
        <p:grpSpPr>
          <a:xfrm rot="0">
            <a:off x="4927578" y="3263108"/>
            <a:ext cx="3551787" cy="892235"/>
            <a:chOff x="0" y="0"/>
            <a:chExt cx="4735716" cy="1189647"/>
          </a:xfrm>
        </p:grpSpPr>
        <p:sp>
          <p:nvSpPr>
            <p:cNvPr name="Freeform 29" id="29"/>
            <p:cNvSpPr/>
            <p:nvPr/>
          </p:nvSpPr>
          <p:spPr>
            <a:xfrm flipH="false" flipV="false" rot="0">
              <a:off x="0" y="0"/>
              <a:ext cx="4735703" cy="1189609"/>
            </a:xfrm>
            <a:custGeom>
              <a:avLst/>
              <a:gdLst/>
              <a:ahLst/>
              <a:cxnLst/>
              <a:rect r="r" b="b" t="t" l="l"/>
              <a:pathLst>
                <a:path h="1189609" w="4735703">
                  <a:moveTo>
                    <a:pt x="0" y="0"/>
                  </a:moveTo>
                  <a:lnTo>
                    <a:pt x="4735703" y="0"/>
                  </a:lnTo>
                  <a:lnTo>
                    <a:pt x="4735703" y="1189609"/>
                  </a:lnTo>
                  <a:lnTo>
                    <a:pt x="0" y="1189609"/>
                  </a:lnTo>
                  <a:close/>
                </a:path>
              </a:pathLst>
            </a:custGeom>
            <a:solidFill>
              <a:srgbClr val="387F7F"/>
            </a:solidFill>
          </p:spPr>
        </p:sp>
      </p:grpSp>
      <p:grpSp>
        <p:nvGrpSpPr>
          <p:cNvPr name="Group 30" id="30"/>
          <p:cNvGrpSpPr/>
          <p:nvPr/>
        </p:nvGrpSpPr>
        <p:grpSpPr>
          <a:xfrm rot="0">
            <a:off x="7038061" y="2508137"/>
            <a:ext cx="1372676" cy="1647206"/>
            <a:chOff x="0" y="0"/>
            <a:chExt cx="1830235" cy="2196274"/>
          </a:xfrm>
        </p:grpSpPr>
        <p:sp>
          <p:nvSpPr>
            <p:cNvPr name="Freeform 31" id="31"/>
            <p:cNvSpPr/>
            <p:nvPr/>
          </p:nvSpPr>
          <p:spPr>
            <a:xfrm flipH="false" flipV="false" rot="0">
              <a:off x="0" y="0"/>
              <a:ext cx="1830230" cy="2196276"/>
            </a:xfrm>
            <a:custGeom>
              <a:avLst/>
              <a:gdLst/>
              <a:ahLst/>
              <a:cxnLst/>
              <a:rect r="r" b="b" t="t" l="l"/>
              <a:pathLst>
                <a:path h="2196276" w="1830230">
                  <a:moveTo>
                    <a:pt x="0" y="0"/>
                  </a:moveTo>
                  <a:lnTo>
                    <a:pt x="1830230" y="0"/>
                  </a:lnTo>
                  <a:lnTo>
                    <a:pt x="1830230" y="2196276"/>
                  </a:lnTo>
                  <a:lnTo>
                    <a:pt x="0" y="2196276"/>
                  </a:lnTo>
                  <a:close/>
                </a:path>
              </a:pathLst>
            </a:custGeom>
            <a:blipFill>
              <a:blip r:embed="rId9">
                <a:alphaModFix amt="0"/>
              </a:blip>
              <a:stretch>
                <a:fillRect l="-103964" t="0" r="-103964" b="0"/>
              </a:stretch>
            </a:blipFill>
          </p:spPr>
        </p:sp>
        <p:sp>
          <p:nvSpPr>
            <p:cNvPr name="TextBox 32" id="32"/>
            <p:cNvSpPr txBox="true"/>
            <p:nvPr/>
          </p:nvSpPr>
          <p:spPr>
            <a:xfrm>
              <a:off x="0" y="-85725"/>
              <a:ext cx="1830235" cy="2281999"/>
            </a:xfrm>
            <a:prstGeom prst="rect">
              <a:avLst/>
            </a:prstGeom>
          </p:spPr>
          <p:txBody>
            <a:bodyPr anchor="ctr" rtlCol="false" tIns="0" lIns="0" bIns="0" rIns="0"/>
            <a:lstStyle/>
            <a:p>
              <a:pPr algn="r">
                <a:lnSpc>
                  <a:spcPts val="10448"/>
                </a:lnSpc>
              </a:pPr>
              <a:r>
                <a:rPr lang="en-US" sz="8706" b="true">
                  <a:solidFill>
                    <a:srgbClr val="5A9A9A"/>
                  </a:solidFill>
                  <a:latin typeface="Poppins Bold"/>
                  <a:ea typeface="Poppins Bold"/>
                  <a:cs typeface="Poppins Bold"/>
                  <a:sym typeface="Poppins Bold"/>
                </a:rPr>
                <a:t>2</a:t>
              </a:r>
            </a:p>
          </p:txBody>
        </p:sp>
      </p:grpSp>
      <p:grpSp>
        <p:nvGrpSpPr>
          <p:cNvPr name="Group 33" id="33"/>
          <p:cNvGrpSpPr/>
          <p:nvPr/>
        </p:nvGrpSpPr>
        <p:grpSpPr>
          <a:xfrm rot="0">
            <a:off x="5311931" y="2576774"/>
            <a:ext cx="2728189" cy="1578569"/>
            <a:chOff x="0" y="0"/>
            <a:chExt cx="3637585" cy="2104758"/>
          </a:xfrm>
        </p:grpSpPr>
        <p:sp>
          <p:nvSpPr>
            <p:cNvPr name="Freeform 34" id="34"/>
            <p:cNvSpPr/>
            <p:nvPr/>
          </p:nvSpPr>
          <p:spPr>
            <a:xfrm flipH="false" flipV="false" rot="0">
              <a:off x="0" y="0"/>
              <a:ext cx="3637582" cy="2104764"/>
            </a:xfrm>
            <a:custGeom>
              <a:avLst/>
              <a:gdLst/>
              <a:ahLst/>
              <a:cxnLst/>
              <a:rect r="r" b="b" t="t" l="l"/>
              <a:pathLst>
                <a:path h="2104764" w="3637582">
                  <a:moveTo>
                    <a:pt x="0" y="0"/>
                  </a:moveTo>
                  <a:lnTo>
                    <a:pt x="3637582" y="0"/>
                  </a:lnTo>
                  <a:lnTo>
                    <a:pt x="3637582" y="2104764"/>
                  </a:lnTo>
                  <a:lnTo>
                    <a:pt x="0" y="2104764"/>
                  </a:lnTo>
                  <a:close/>
                </a:path>
              </a:pathLst>
            </a:custGeom>
            <a:blipFill>
              <a:blip r:embed="rId9">
                <a:alphaModFix amt="0"/>
              </a:blip>
              <a:stretch>
                <a:fillRect l="-24238" t="0" r="-24238" b="0"/>
              </a:stretch>
            </a:blipFill>
          </p:spPr>
        </p:sp>
        <p:sp>
          <p:nvSpPr>
            <p:cNvPr name="TextBox 35" id="35"/>
            <p:cNvSpPr txBox="true"/>
            <p:nvPr/>
          </p:nvSpPr>
          <p:spPr>
            <a:xfrm>
              <a:off x="0" y="-19050"/>
              <a:ext cx="3637585" cy="2123808"/>
            </a:xfrm>
            <a:prstGeom prst="rect">
              <a:avLst/>
            </a:prstGeom>
          </p:spPr>
          <p:txBody>
            <a:bodyPr anchor="ctr" rtlCol="false" tIns="0" lIns="0" bIns="0" rIns="0"/>
            <a:lstStyle/>
            <a:p>
              <a:pPr algn="l">
                <a:lnSpc>
                  <a:spcPts val="3782"/>
                </a:lnSpc>
              </a:pPr>
              <a:r>
                <a:rPr lang="en-US" sz="3152" b="true">
                  <a:solidFill>
                    <a:srgbClr val="FFFFFF"/>
                  </a:solidFill>
                  <a:latin typeface="Poppins Bold"/>
                  <a:ea typeface="Poppins Bold"/>
                  <a:cs typeface="Poppins Bold"/>
                  <a:sym typeface="Poppins Bold"/>
                </a:rPr>
                <a:t>Extend</a:t>
              </a:r>
            </a:p>
          </p:txBody>
        </p:sp>
      </p:grpSp>
      <p:sp>
        <p:nvSpPr>
          <p:cNvPr name="TextBox 36" id="36"/>
          <p:cNvSpPr txBox="true"/>
          <p:nvPr/>
        </p:nvSpPr>
        <p:spPr>
          <a:xfrm rot="0">
            <a:off x="5311931" y="4384219"/>
            <a:ext cx="2783091" cy="3545977"/>
          </a:xfrm>
          <a:prstGeom prst="rect">
            <a:avLst/>
          </a:prstGeom>
        </p:spPr>
        <p:txBody>
          <a:bodyPr anchor="t" rtlCol="false" tIns="0" lIns="0" bIns="0" rIns="0">
            <a:spAutoFit/>
          </a:bodyPr>
          <a:lstStyle/>
          <a:p>
            <a:pPr algn="l">
              <a:lnSpc>
                <a:spcPts val="3526"/>
              </a:lnSpc>
            </a:pPr>
            <a:r>
              <a:rPr lang="en-US" sz="2176">
                <a:solidFill>
                  <a:srgbClr val="475569"/>
                </a:solidFill>
                <a:latin typeface="Poppins"/>
                <a:ea typeface="Poppins"/>
                <a:cs typeface="Poppins"/>
                <a:sym typeface="Poppins"/>
              </a:rPr>
              <a:t>that forecast with AI, using predict-then-run so you catch it when the AI's method or numbers diverge from your own.</a:t>
            </a:r>
          </a:p>
        </p:txBody>
      </p:sp>
      <p:grpSp>
        <p:nvGrpSpPr>
          <p:cNvPr name="Group 37" id="37"/>
          <p:cNvGrpSpPr/>
          <p:nvPr/>
        </p:nvGrpSpPr>
        <p:grpSpPr>
          <a:xfrm rot="0">
            <a:off x="8959806" y="2576774"/>
            <a:ext cx="3551787" cy="5696588"/>
            <a:chOff x="0" y="0"/>
            <a:chExt cx="4735716" cy="7595451"/>
          </a:xfrm>
        </p:grpSpPr>
        <p:sp>
          <p:nvSpPr>
            <p:cNvPr name="Freeform 38" id="38"/>
            <p:cNvSpPr/>
            <p:nvPr/>
          </p:nvSpPr>
          <p:spPr>
            <a:xfrm flipH="false" flipV="false" rot="0">
              <a:off x="0" y="0"/>
              <a:ext cx="4735703" cy="7595488"/>
            </a:xfrm>
            <a:custGeom>
              <a:avLst/>
              <a:gdLst/>
              <a:ahLst/>
              <a:cxnLst/>
              <a:rect r="r" b="b" t="t" l="l"/>
              <a:pathLst>
                <a:path h="7595488" w="4735703">
                  <a:moveTo>
                    <a:pt x="0" y="164719"/>
                  </a:moveTo>
                  <a:cubicBezTo>
                    <a:pt x="0" y="73787"/>
                    <a:pt x="73787" y="0"/>
                    <a:pt x="164719" y="0"/>
                  </a:cubicBezTo>
                  <a:lnTo>
                    <a:pt x="4570984" y="0"/>
                  </a:lnTo>
                  <a:cubicBezTo>
                    <a:pt x="4661916" y="0"/>
                    <a:pt x="4735703" y="73787"/>
                    <a:pt x="4735703" y="164719"/>
                  </a:cubicBezTo>
                  <a:lnTo>
                    <a:pt x="4735703" y="7430770"/>
                  </a:lnTo>
                  <a:cubicBezTo>
                    <a:pt x="4735703" y="7521701"/>
                    <a:pt x="4661916" y="7595488"/>
                    <a:pt x="4570984" y="7595488"/>
                  </a:cubicBezTo>
                  <a:lnTo>
                    <a:pt x="164719" y="7595488"/>
                  </a:lnTo>
                  <a:cubicBezTo>
                    <a:pt x="73787" y="7595489"/>
                    <a:pt x="0" y="7521702"/>
                    <a:pt x="0" y="7430770"/>
                  </a:cubicBezTo>
                  <a:close/>
                </a:path>
              </a:pathLst>
            </a:custGeom>
            <a:solidFill>
              <a:srgbClr val="FFFFFF"/>
            </a:solidFill>
          </p:spPr>
        </p:sp>
      </p:grpSp>
      <p:grpSp>
        <p:nvGrpSpPr>
          <p:cNvPr name="Group 39" id="39"/>
          <p:cNvGrpSpPr/>
          <p:nvPr/>
        </p:nvGrpSpPr>
        <p:grpSpPr>
          <a:xfrm rot="0">
            <a:off x="8959806" y="2576774"/>
            <a:ext cx="3551787" cy="1578569"/>
            <a:chOff x="0" y="0"/>
            <a:chExt cx="4735716" cy="2104758"/>
          </a:xfrm>
        </p:grpSpPr>
        <p:sp>
          <p:nvSpPr>
            <p:cNvPr name="Freeform 40" id="40"/>
            <p:cNvSpPr/>
            <p:nvPr/>
          </p:nvSpPr>
          <p:spPr>
            <a:xfrm flipH="false" flipV="false" rot="0">
              <a:off x="0" y="0"/>
              <a:ext cx="4735703" cy="2104771"/>
            </a:xfrm>
            <a:custGeom>
              <a:avLst/>
              <a:gdLst/>
              <a:ahLst/>
              <a:cxnLst/>
              <a:rect r="r" b="b" t="t" l="l"/>
              <a:pathLst>
                <a:path h="2104771" w="4735703">
                  <a:moveTo>
                    <a:pt x="0" y="164719"/>
                  </a:moveTo>
                  <a:cubicBezTo>
                    <a:pt x="0" y="73787"/>
                    <a:pt x="73787" y="0"/>
                    <a:pt x="164719" y="0"/>
                  </a:cubicBezTo>
                  <a:lnTo>
                    <a:pt x="4570984" y="0"/>
                  </a:lnTo>
                  <a:cubicBezTo>
                    <a:pt x="4661916" y="0"/>
                    <a:pt x="4735703" y="73787"/>
                    <a:pt x="4735703" y="164719"/>
                  </a:cubicBezTo>
                  <a:lnTo>
                    <a:pt x="4735703" y="1940052"/>
                  </a:lnTo>
                  <a:cubicBezTo>
                    <a:pt x="4735703" y="2030984"/>
                    <a:pt x="4661916" y="2104771"/>
                    <a:pt x="4570984" y="2104771"/>
                  </a:cubicBezTo>
                  <a:lnTo>
                    <a:pt x="164719" y="2104771"/>
                  </a:lnTo>
                  <a:cubicBezTo>
                    <a:pt x="73787" y="2104771"/>
                    <a:pt x="0" y="2030984"/>
                    <a:pt x="0" y="1940052"/>
                  </a:cubicBezTo>
                  <a:close/>
                </a:path>
              </a:pathLst>
            </a:custGeom>
            <a:solidFill>
              <a:srgbClr val="387F7F"/>
            </a:solidFill>
          </p:spPr>
        </p:sp>
      </p:grpSp>
      <p:grpSp>
        <p:nvGrpSpPr>
          <p:cNvPr name="Group 41" id="41"/>
          <p:cNvGrpSpPr/>
          <p:nvPr/>
        </p:nvGrpSpPr>
        <p:grpSpPr>
          <a:xfrm rot="0">
            <a:off x="8959806" y="3263108"/>
            <a:ext cx="3551787" cy="892235"/>
            <a:chOff x="0" y="0"/>
            <a:chExt cx="4735716" cy="1189647"/>
          </a:xfrm>
        </p:grpSpPr>
        <p:sp>
          <p:nvSpPr>
            <p:cNvPr name="Freeform 42" id="42"/>
            <p:cNvSpPr/>
            <p:nvPr/>
          </p:nvSpPr>
          <p:spPr>
            <a:xfrm flipH="false" flipV="false" rot="0">
              <a:off x="0" y="0"/>
              <a:ext cx="4735703" cy="1189609"/>
            </a:xfrm>
            <a:custGeom>
              <a:avLst/>
              <a:gdLst/>
              <a:ahLst/>
              <a:cxnLst/>
              <a:rect r="r" b="b" t="t" l="l"/>
              <a:pathLst>
                <a:path h="1189609" w="4735703">
                  <a:moveTo>
                    <a:pt x="0" y="0"/>
                  </a:moveTo>
                  <a:lnTo>
                    <a:pt x="4735703" y="0"/>
                  </a:lnTo>
                  <a:lnTo>
                    <a:pt x="4735703" y="1189609"/>
                  </a:lnTo>
                  <a:lnTo>
                    <a:pt x="0" y="1189609"/>
                  </a:lnTo>
                  <a:close/>
                </a:path>
              </a:pathLst>
            </a:custGeom>
            <a:solidFill>
              <a:srgbClr val="387F7F"/>
            </a:solidFill>
          </p:spPr>
        </p:sp>
      </p:grpSp>
      <p:grpSp>
        <p:nvGrpSpPr>
          <p:cNvPr name="Group 43" id="43"/>
          <p:cNvGrpSpPr/>
          <p:nvPr/>
        </p:nvGrpSpPr>
        <p:grpSpPr>
          <a:xfrm rot="0">
            <a:off x="11070288" y="2508137"/>
            <a:ext cx="1372676" cy="1647206"/>
            <a:chOff x="0" y="0"/>
            <a:chExt cx="1830235" cy="2196274"/>
          </a:xfrm>
        </p:grpSpPr>
        <p:sp>
          <p:nvSpPr>
            <p:cNvPr name="Freeform 44" id="44"/>
            <p:cNvSpPr/>
            <p:nvPr/>
          </p:nvSpPr>
          <p:spPr>
            <a:xfrm flipH="false" flipV="false" rot="0">
              <a:off x="0" y="0"/>
              <a:ext cx="1830230" cy="2196276"/>
            </a:xfrm>
            <a:custGeom>
              <a:avLst/>
              <a:gdLst/>
              <a:ahLst/>
              <a:cxnLst/>
              <a:rect r="r" b="b" t="t" l="l"/>
              <a:pathLst>
                <a:path h="2196276" w="1830230">
                  <a:moveTo>
                    <a:pt x="0" y="0"/>
                  </a:moveTo>
                  <a:lnTo>
                    <a:pt x="1830230" y="0"/>
                  </a:lnTo>
                  <a:lnTo>
                    <a:pt x="1830230" y="2196276"/>
                  </a:lnTo>
                  <a:lnTo>
                    <a:pt x="0" y="2196276"/>
                  </a:lnTo>
                  <a:close/>
                </a:path>
              </a:pathLst>
            </a:custGeom>
            <a:blipFill>
              <a:blip r:embed="rId9">
                <a:alphaModFix amt="0"/>
              </a:blip>
              <a:stretch>
                <a:fillRect l="-103964" t="0" r="-103964" b="0"/>
              </a:stretch>
            </a:blipFill>
          </p:spPr>
        </p:sp>
        <p:sp>
          <p:nvSpPr>
            <p:cNvPr name="TextBox 45" id="45"/>
            <p:cNvSpPr txBox="true"/>
            <p:nvPr/>
          </p:nvSpPr>
          <p:spPr>
            <a:xfrm>
              <a:off x="0" y="-85725"/>
              <a:ext cx="1830235" cy="2281999"/>
            </a:xfrm>
            <a:prstGeom prst="rect">
              <a:avLst/>
            </a:prstGeom>
          </p:spPr>
          <p:txBody>
            <a:bodyPr anchor="ctr" rtlCol="false" tIns="0" lIns="0" bIns="0" rIns="0"/>
            <a:lstStyle/>
            <a:p>
              <a:pPr algn="r">
                <a:lnSpc>
                  <a:spcPts val="10448"/>
                </a:lnSpc>
              </a:pPr>
              <a:r>
                <a:rPr lang="en-US" sz="8706" b="true">
                  <a:solidFill>
                    <a:srgbClr val="5A9A9A"/>
                  </a:solidFill>
                  <a:latin typeface="Poppins Bold"/>
                  <a:ea typeface="Poppins Bold"/>
                  <a:cs typeface="Poppins Bold"/>
                  <a:sym typeface="Poppins Bold"/>
                </a:rPr>
                <a:t>3</a:t>
              </a:r>
            </a:p>
          </p:txBody>
        </p:sp>
      </p:grpSp>
      <p:grpSp>
        <p:nvGrpSpPr>
          <p:cNvPr name="Group 46" id="46"/>
          <p:cNvGrpSpPr/>
          <p:nvPr/>
        </p:nvGrpSpPr>
        <p:grpSpPr>
          <a:xfrm rot="0">
            <a:off x="9344149" y="2576774"/>
            <a:ext cx="2728189" cy="1578569"/>
            <a:chOff x="0" y="0"/>
            <a:chExt cx="3637585" cy="2104758"/>
          </a:xfrm>
        </p:grpSpPr>
        <p:sp>
          <p:nvSpPr>
            <p:cNvPr name="Freeform 47" id="47"/>
            <p:cNvSpPr/>
            <p:nvPr/>
          </p:nvSpPr>
          <p:spPr>
            <a:xfrm flipH="false" flipV="false" rot="0">
              <a:off x="0" y="0"/>
              <a:ext cx="3637582" cy="2104764"/>
            </a:xfrm>
            <a:custGeom>
              <a:avLst/>
              <a:gdLst/>
              <a:ahLst/>
              <a:cxnLst/>
              <a:rect r="r" b="b" t="t" l="l"/>
              <a:pathLst>
                <a:path h="2104764" w="3637582">
                  <a:moveTo>
                    <a:pt x="0" y="0"/>
                  </a:moveTo>
                  <a:lnTo>
                    <a:pt x="3637582" y="0"/>
                  </a:lnTo>
                  <a:lnTo>
                    <a:pt x="3637582" y="2104764"/>
                  </a:lnTo>
                  <a:lnTo>
                    <a:pt x="0" y="2104764"/>
                  </a:lnTo>
                  <a:close/>
                </a:path>
              </a:pathLst>
            </a:custGeom>
            <a:blipFill>
              <a:blip r:embed="rId9">
                <a:alphaModFix amt="0"/>
              </a:blip>
              <a:stretch>
                <a:fillRect l="-24238" t="0" r="-24238" b="0"/>
              </a:stretch>
            </a:blipFill>
          </p:spPr>
        </p:sp>
        <p:sp>
          <p:nvSpPr>
            <p:cNvPr name="TextBox 48" id="48"/>
            <p:cNvSpPr txBox="true"/>
            <p:nvPr/>
          </p:nvSpPr>
          <p:spPr>
            <a:xfrm>
              <a:off x="0" y="-19050"/>
              <a:ext cx="3637585" cy="2123808"/>
            </a:xfrm>
            <a:prstGeom prst="rect">
              <a:avLst/>
            </a:prstGeom>
          </p:spPr>
          <p:txBody>
            <a:bodyPr anchor="ctr" rtlCol="false" tIns="0" lIns="0" bIns="0" rIns="0"/>
            <a:lstStyle/>
            <a:p>
              <a:pPr algn="l">
                <a:lnSpc>
                  <a:spcPts val="3782"/>
                </a:lnSpc>
              </a:pPr>
              <a:r>
                <a:rPr lang="en-US" sz="3152" b="true">
                  <a:solidFill>
                    <a:srgbClr val="FFFFFF"/>
                  </a:solidFill>
                  <a:latin typeface="Poppins Bold"/>
                  <a:ea typeface="Poppins Bold"/>
                  <a:cs typeface="Poppins Bold"/>
                  <a:sym typeface="Poppins Bold"/>
                </a:rPr>
                <a:t>Stress-test</a:t>
              </a:r>
            </a:p>
          </p:txBody>
        </p:sp>
      </p:grpSp>
      <p:sp>
        <p:nvSpPr>
          <p:cNvPr name="TextBox 49" id="49"/>
          <p:cNvSpPr txBox="true"/>
          <p:nvPr/>
        </p:nvSpPr>
        <p:spPr>
          <a:xfrm rot="0">
            <a:off x="9344149" y="4384219"/>
            <a:ext cx="2783091" cy="3545977"/>
          </a:xfrm>
          <a:prstGeom prst="rect">
            <a:avLst/>
          </a:prstGeom>
        </p:spPr>
        <p:txBody>
          <a:bodyPr anchor="t" rtlCol="false" tIns="0" lIns="0" bIns="0" rIns="0">
            <a:spAutoFit/>
          </a:bodyPr>
          <a:lstStyle/>
          <a:p>
            <a:pPr algn="l">
              <a:lnSpc>
                <a:spcPts val="3526"/>
              </a:lnSpc>
            </a:pPr>
            <a:r>
              <a:rPr lang="en-US" sz="2176">
                <a:solidFill>
                  <a:srgbClr val="475569"/>
                </a:solidFill>
                <a:latin typeface="Poppins"/>
                <a:ea typeface="Poppins"/>
                <a:cs typeface="Poppins"/>
                <a:sym typeface="Poppins"/>
              </a:rPr>
              <a:t>a forecast by checking it against a second, independent method, and treating the gap between methods as real information.</a:t>
            </a:r>
          </a:p>
        </p:txBody>
      </p:sp>
      <p:grpSp>
        <p:nvGrpSpPr>
          <p:cNvPr name="Group 50" id="50"/>
          <p:cNvGrpSpPr/>
          <p:nvPr/>
        </p:nvGrpSpPr>
        <p:grpSpPr>
          <a:xfrm rot="0">
            <a:off x="12992033" y="2576774"/>
            <a:ext cx="3551787" cy="5696588"/>
            <a:chOff x="0" y="0"/>
            <a:chExt cx="4735716" cy="7595451"/>
          </a:xfrm>
        </p:grpSpPr>
        <p:sp>
          <p:nvSpPr>
            <p:cNvPr name="Freeform 51" id="51"/>
            <p:cNvSpPr/>
            <p:nvPr/>
          </p:nvSpPr>
          <p:spPr>
            <a:xfrm flipH="false" flipV="false" rot="0">
              <a:off x="0" y="0"/>
              <a:ext cx="4735703" cy="7595488"/>
            </a:xfrm>
            <a:custGeom>
              <a:avLst/>
              <a:gdLst/>
              <a:ahLst/>
              <a:cxnLst/>
              <a:rect r="r" b="b" t="t" l="l"/>
              <a:pathLst>
                <a:path h="7595488" w="4735703">
                  <a:moveTo>
                    <a:pt x="0" y="164719"/>
                  </a:moveTo>
                  <a:cubicBezTo>
                    <a:pt x="0" y="73787"/>
                    <a:pt x="73787" y="0"/>
                    <a:pt x="164719" y="0"/>
                  </a:cubicBezTo>
                  <a:lnTo>
                    <a:pt x="4570984" y="0"/>
                  </a:lnTo>
                  <a:cubicBezTo>
                    <a:pt x="4661916" y="0"/>
                    <a:pt x="4735703" y="73787"/>
                    <a:pt x="4735703" y="164719"/>
                  </a:cubicBezTo>
                  <a:lnTo>
                    <a:pt x="4735703" y="7430770"/>
                  </a:lnTo>
                  <a:cubicBezTo>
                    <a:pt x="4735703" y="7521701"/>
                    <a:pt x="4661916" y="7595488"/>
                    <a:pt x="4570984" y="7595488"/>
                  </a:cubicBezTo>
                  <a:lnTo>
                    <a:pt x="164719" y="7595488"/>
                  </a:lnTo>
                  <a:cubicBezTo>
                    <a:pt x="73787" y="7595489"/>
                    <a:pt x="0" y="7521702"/>
                    <a:pt x="0" y="7430770"/>
                  </a:cubicBezTo>
                  <a:close/>
                </a:path>
              </a:pathLst>
            </a:custGeom>
            <a:solidFill>
              <a:srgbClr val="FFFFFF"/>
            </a:solidFill>
          </p:spPr>
        </p:sp>
      </p:grpSp>
      <p:grpSp>
        <p:nvGrpSpPr>
          <p:cNvPr name="Group 52" id="52"/>
          <p:cNvGrpSpPr/>
          <p:nvPr/>
        </p:nvGrpSpPr>
        <p:grpSpPr>
          <a:xfrm rot="0">
            <a:off x="12992033" y="2576774"/>
            <a:ext cx="3551787" cy="1578569"/>
            <a:chOff x="0" y="0"/>
            <a:chExt cx="4735716" cy="2104758"/>
          </a:xfrm>
        </p:grpSpPr>
        <p:sp>
          <p:nvSpPr>
            <p:cNvPr name="Freeform 53" id="53"/>
            <p:cNvSpPr/>
            <p:nvPr/>
          </p:nvSpPr>
          <p:spPr>
            <a:xfrm flipH="false" flipV="false" rot="0">
              <a:off x="0" y="0"/>
              <a:ext cx="4735703" cy="2104771"/>
            </a:xfrm>
            <a:custGeom>
              <a:avLst/>
              <a:gdLst/>
              <a:ahLst/>
              <a:cxnLst/>
              <a:rect r="r" b="b" t="t" l="l"/>
              <a:pathLst>
                <a:path h="2104771" w="4735703">
                  <a:moveTo>
                    <a:pt x="0" y="164719"/>
                  </a:moveTo>
                  <a:cubicBezTo>
                    <a:pt x="0" y="73787"/>
                    <a:pt x="73787" y="0"/>
                    <a:pt x="164719" y="0"/>
                  </a:cubicBezTo>
                  <a:lnTo>
                    <a:pt x="4570984" y="0"/>
                  </a:lnTo>
                  <a:cubicBezTo>
                    <a:pt x="4661916" y="0"/>
                    <a:pt x="4735703" y="73787"/>
                    <a:pt x="4735703" y="164719"/>
                  </a:cubicBezTo>
                  <a:lnTo>
                    <a:pt x="4735703" y="1940052"/>
                  </a:lnTo>
                  <a:cubicBezTo>
                    <a:pt x="4735703" y="2030984"/>
                    <a:pt x="4661916" y="2104771"/>
                    <a:pt x="4570984" y="2104771"/>
                  </a:cubicBezTo>
                  <a:lnTo>
                    <a:pt x="164719" y="2104771"/>
                  </a:lnTo>
                  <a:cubicBezTo>
                    <a:pt x="73787" y="2104771"/>
                    <a:pt x="0" y="2030984"/>
                    <a:pt x="0" y="1940052"/>
                  </a:cubicBezTo>
                  <a:close/>
                </a:path>
              </a:pathLst>
            </a:custGeom>
            <a:solidFill>
              <a:srgbClr val="387F7F"/>
            </a:solidFill>
          </p:spPr>
        </p:sp>
      </p:grpSp>
      <p:grpSp>
        <p:nvGrpSpPr>
          <p:cNvPr name="Group 54" id="54"/>
          <p:cNvGrpSpPr/>
          <p:nvPr/>
        </p:nvGrpSpPr>
        <p:grpSpPr>
          <a:xfrm rot="0">
            <a:off x="12992033" y="3263108"/>
            <a:ext cx="3551787" cy="892235"/>
            <a:chOff x="0" y="0"/>
            <a:chExt cx="4735716" cy="1189647"/>
          </a:xfrm>
        </p:grpSpPr>
        <p:sp>
          <p:nvSpPr>
            <p:cNvPr name="Freeform 55" id="55"/>
            <p:cNvSpPr/>
            <p:nvPr/>
          </p:nvSpPr>
          <p:spPr>
            <a:xfrm flipH="false" flipV="false" rot="0">
              <a:off x="0" y="0"/>
              <a:ext cx="4735703" cy="1189609"/>
            </a:xfrm>
            <a:custGeom>
              <a:avLst/>
              <a:gdLst/>
              <a:ahLst/>
              <a:cxnLst/>
              <a:rect r="r" b="b" t="t" l="l"/>
              <a:pathLst>
                <a:path h="1189609" w="4735703">
                  <a:moveTo>
                    <a:pt x="0" y="0"/>
                  </a:moveTo>
                  <a:lnTo>
                    <a:pt x="4735703" y="0"/>
                  </a:lnTo>
                  <a:lnTo>
                    <a:pt x="4735703" y="1189609"/>
                  </a:lnTo>
                  <a:lnTo>
                    <a:pt x="0" y="1189609"/>
                  </a:lnTo>
                  <a:close/>
                </a:path>
              </a:pathLst>
            </a:custGeom>
            <a:solidFill>
              <a:srgbClr val="387F7F"/>
            </a:solidFill>
          </p:spPr>
        </p:sp>
      </p:grpSp>
      <p:grpSp>
        <p:nvGrpSpPr>
          <p:cNvPr name="Group 56" id="56"/>
          <p:cNvGrpSpPr/>
          <p:nvPr/>
        </p:nvGrpSpPr>
        <p:grpSpPr>
          <a:xfrm rot="0">
            <a:off x="15102516" y="2508137"/>
            <a:ext cx="1372676" cy="1647206"/>
            <a:chOff x="0" y="0"/>
            <a:chExt cx="1830235" cy="2196274"/>
          </a:xfrm>
        </p:grpSpPr>
        <p:sp>
          <p:nvSpPr>
            <p:cNvPr name="Freeform 57" id="57"/>
            <p:cNvSpPr/>
            <p:nvPr/>
          </p:nvSpPr>
          <p:spPr>
            <a:xfrm flipH="false" flipV="false" rot="0">
              <a:off x="0" y="0"/>
              <a:ext cx="1830230" cy="2196276"/>
            </a:xfrm>
            <a:custGeom>
              <a:avLst/>
              <a:gdLst/>
              <a:ahLst/>
              <a:cxnLst/>
              <a:rect r="r" b="b" t="t" l="l"/>
              <a:pathLst>
                <a:path h="2196276" w="1830230">
                  <a:moveTo>
                    <a:pt x="0" y="0"/>
                  </a:moveTo>
                  <a:lnTo>
                    <a:pt x="1830230" y="0"/>
                  </a:lnTo>
                  <a:lnTo>
                    <a:pt x="1830230" y="2196276"/>
                  </a:lnTo>
                  <a:lnTo>
                    <a:pt x="0" y="2196276"/>
                  </a:lnTo>
                  <a:close/>
                </a:path>
              </a:pathLst>
            </a:custGeom>
            <a:blipFill>
              <a:blip r:embed="rId9">
                <a:alphaModFix amt="0"/>
              </a:blip>
              <a:stretch>
                <a:fillRect l="-103964" t="0" r="-103964" b="0"/>
              </a:stretch>
            </a:blipFill>
          </p:spPr>
        </p:sp>
        <p:sp>
          <p:nvSpPr>
            <p:cNvPr name="TextBox 58" id="58"/>
            <p:cNvSpPr txBox="true"/>
            <p:nvPr/>
          </p:nvSpPr>
          <p:spPr>
            <a:xfrm>
              <a:off x="0" y="-85725"/>
              <a:ext cx="1830235" cy="2281999"/>
            </a:xfrm>
            <a:prstGeom prst="rect">
              <a:avLst/>
            </a:prstGeom>
          </p:spPr>
          <p:txBody>
            <a:bodyPr anchor="ctr" rtlCol="false" tIns="0" lIns="0" bIns="0" rIns="0"/>
            <a:lstStyle/>
            <a:p>
              <a:pPr algn="r">
                <a:lnSpc>
                  <a:spcPts val="10448"/>
                </a:lnSpc>
              </a:pPr>
              <a:r>
                <a:rPr lang="en-US" sz="8706" b="true">
                  <a:solidFill>
                    <a:srgbClr val="5A9A9A"/>
                  </a:solidFill>
                  <a:latin typeface="Poppins Bold"/>
                  <a:ea typeface="Poppins Bold"/>
                  <a:cs typeface="Poppins Bold"/>
                  <a:sym typeface="Poppins Bold"/>
                </a:rPr>
                <a:t>4</a:t>
              </a:r>
            </a:p>
          </p:txBody>
        </p:sp>
      </p:grpSp>
      <p:grpSp>
        <p:nvGrpSpPr>
          <p:cNvPr name="Group 59" id="59"/>
          <p:cNvGrpSpPr/>
          <p:nvPr/>
        </p:nvGrpSpPr>
        <p:grpSpPr>
          <a:xfrm rot="0">
            <a:off x="13376377" y="2576774"/>
            <a:ext cx="2728189" cy="1578569"/>
            <a:chOff x="0" y="0"/>
            <a:chExt cx="3637585" cy="2104758"/>
          </a:xfrm>
        </p:grpSpPr>
        <p:sp>
          <p:nvSpPr>
            <p:cNvPr name="Freeform 60" id="60"/>
            <p:cNvSpPr/>
            <p:nvPr/>
          </p:nvSpPr>
          <p:spPr>
            <a:xfrm flipH="false" flipV="false" rot="0">
              <a:off x="0" y="0"/>
              <a:ext cx="3637582" cy="2104764"/>
            </a:xfrm>
            <a:custGeom>
              <a:avLst/>
              <a:gdLst/>
              <a:ahLst/>
              <a:cxnLst/>
              <a:rect r="r" b="b" t="t" l="l"/>
              <a:pathLst>
                <a:path h="2104764" w="3637582">
                  <a:moveTo>
                    <a:pt x="0" y="0"/>
                  </a:moveTo>
                  <a:lnTo>
                    <a:pt x="3637582" y="0"/>
                  </a:lnTo>
                  <a:lnTo>
                    <a:pt x="3637582" y="2104764"/>
                  </a:lnTo>
                  <a:lnTo>
                    <a:pt x="0" y="2104764"/>
                  </a:lnTo>
                  <a:close/>
                </a:path>
              </a:pathLst>
            </a:custGeom>
            <a:blipFill>
              <a:blip r:embed="rId9">
                <a:alphaModFix amt="0"/>
              </a:blip>
              <a:stretch>
                <a:fillRect l="-24238" t="0" r="-24238" b="0"/>
              </a:stretch>
            </a:blipFill>
          </p:spPr>
        </p:sp>
        <p:sp>
          <p:nvSpPr>
            <p:cNvPr name="TextBox 61" id="61"/>
            <p:cNvSpPr txBox="true"/>
            <p:nvPr/>
          </p:nvSpPr>
          <p:spPr>
            <a:xfrm>
              <a:off x="0" y="-19050"/>
              <a:ext cx="3637585" cy="2123808"/>
            </a:xfrm>
            <a:prstGeom prst="rect">
              <a:avLst/>
            </a:prstGeom>
          </p:spPr>
          <p:txBody>
            <a:bodyPr anchor="ctr" rtlCol="false" tIns="0" lIns="0" bIns="0" rIns="0"/>
            <a:lstStyle/>
            <a:p>
              <a:pPr algn="l">
                <a:lnSpc>
                  <a:spcPts val="3782"/>
                </a:lnSpc>
              </a:pPr>
              <a:r>
                <a:rPr lang="en-US" sz="3152" b="true">
                  <a:solidFill>
                    <a:srgbClr val="FFFFFF"/>
                  </a:solidFill>
                  <a:latin typeface="Poppins Bold"/>
                  <a:ea typeface="Poppins Bold"/>
                  <a:cs typeface="Poppins Bold"/>
                  <a:sym typeface="Poppins Bold"/>
                </a:rPr>
                <a:t>Report</a:t>
              </a:r>
            </a:p>
          </p:txBody>
        </p:sp>
      </p:grpSp>
      <p:sp>
        <p:nvSpPr>
          <p:cNvPr name="TextBox 62" id="62"/>
          <p:cNvSpPr txBox="true"/>
          <p:nvPr/>
        </p:nvSpPr>
        <p:spPr>
          <a:xfrm rot="0">
            <a:off x="13376377" y="4384219"/>
            <a:ext cx="2783091" cy="3545977"/>
          </a:xfrm>
          <a:prstGeom prst="rect">
            <a:avLst/>
          </a:prstGeom>
        </p:spPr>
        <p:txBody>
          <a:bodyPr anchor="t" rtlCol="false" tIns="0" lIns="0" bIns="0" rIns="0">
            <a:spAutoFit/>
          </a:bodyPr>
          <a:lstStyle/>
          <a:p>
            <a:pPr algn="l">
              <a:lnSpc>
                <a:spcPts val="3526"/>
              </a:lnSpc>
            </a:pPr>
            <a:r>
              <a:rPr lang="en-US" sz="2176">
                <a:solidFill>
                  <a:srgbClr val="475569"/>
                </a:solidFill>
                <a:latin typeface="Poppins"/>
                <a:ea typeface="Poppins"/>
                <a:cs typeface="Poppins"/>
                <a:sym typeface="Poppins"/>
              </a:rPr>
              <a:t>uncertainty honestly: a stated range and named assumptions, never a single confident figure dressed up as certainty.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301840" cy="10295039"/>
            <a:chOff x="0" y="0"/>
            <a:chExt cx="24402453" cy="13726719"/>
          </a:xfrm>
        </p:grpSpPr>
        <p:sp>
          <p:nvSpPr>
            <p:cNvPr name="Freeform 4" id="4"/>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20494A"/>
            </a:solidFill>
          </p:spPr>
        </p:sp>
      </p:grpSp>
      <p:grpSp>
        <p:nvGrpSpPr>
          <p:cNvPr name="Group 5" id="5"/>
          <p:cNvGrpSpPr/>
          <p:nvPr/>
        </p:nvGrpSpPr>
        <p:grpSpPr>
          <a:xfrm rot="0">
            <a:off x="851059" y="480431"/>
            <a:ext cx="4392549" cy="2882608"/>
            <a:chOff x="0" y="0"/>
            <a:chExt cx="5856732" cy="3843477"/>
          </a:xfrm>
        </p:grpSpPr>
        <p:sp>
          <p:nvSpPr>
            <p:cNvPr name="Freeform 6" id="6"/>
            <p:cNvSpPr/>
            <p:nvPr/>
          </p:nvSpPr>
          <p:spPr>
            <a:xfrm flipH="false" flipV="false" rot="0">
              <a:off x="0" y="0"/>
              <a:ext cx="5856736" cy="3843483"/>
            </a:xfrm>
            <a:custGeom>
              <a:avLst/>
              <a:gdLst/>
              <a:ahLst/>
              <a:cxnLst/>
              <a:rect r="r" b="b" t="t" l="l"/>
              <a:pathLst>
                <a:path h="3843483" w="5856736">
                  <a:moveTo>
                    <a:pt x="0" y="0"/>
                  </a:moveTo>
                  <a:lnTo>
                    <a:pt x="5856736" y="0"/>
                  </a:lnTo>
                  <a:lnTo>
                    <a:pt x="5856736" y="3843483"/>
                  </a:lnTo>
                  <a:lnTo>
                    <a:pt x="0" y="3843483"/>
                  </a:lnTo>
                  <a:close/>
                </a:path>
              </a:pathLst>
            </a:custGeom>
            <a:blipFill>
              <a:blip r:embed="rId4">
                <a:alphaModFix amt="0"/>
              </a:blip>
              <a:stretch>
                <a:fillRect l="-34199" t="0" r="-34199" b="0"/>
              </a:stretch>
            </a:blipFill>
          </p:spPr>
        </p:sp>
        <p:sp>
          <p:nvSpPr>
            <p:cNvPr name="TextBox 7" id="7"/>
            <p:cNvSpPr txBox="true"/>
            <p:nvPr/>
          </p:nvSpPr>
          <p:spPr>
            <a:xfrm>
              <a:off x="0" y="-190500"/>
              <a:ext cx="5856732" cy="4033977"/>
            </a:xfrm>
            <a:prstGeom prst="rect">
              <a:avLst/>
            </a:prstGeom>
          </p:spPr>
          <p:txBody>
            <a:bodyPr anchor="ctr" rtlCol="false" tIns="0" lIns="0" bIns="0" rIns="0"/>
            <a:lstStyle/>
            <a:p>
              <a:pPr algn="l">
                <a:lnSpc>
                  <a:spcPts val="23418"/>
                </a:lnSpc>
              </a:pPr>
              <a:r>
                <a:rPr lang="en-US" sz="19515" b="true">
                  <a:solidFill>
                    <a:srgbClr val="2F6364"/>
                  </a:solidFill>
                  <a:latin typeface="Poppins Bold"/>
                  <a:ea typeface="Poppins Bold"/>
                  <a:cs typeface="Poppins Bold"/>
                  <a:sym typeface="Poppins Bold"/>
                </a:rPr>
                <a:t>01</a:t>
              </a:r>
            </a:p>
          </p:txBody>
        </p:sp>
      </p:grpSp>
      <p:grpSp>
        <p:nvGrpSpPr>
          <p:cNvPr name="Group 8" id="8"/>
          <p:cNvGrpSpPr/>
          <p:nvPr/>
        </p:nvGrpSpPr>
        <p:grpSpPr>
          <a:xfrm rot="0">
            <a:off x="1070686" y="3733667"/>
            <a:ext cx="10157774" cy="466706"/>
            <a:chOff x="0" y="0"/>
            <a:chExt cx="13543699" cy="622275"/>
          </a:xfrm>
        </p:grpSpPr>
        <p:sp>
          <p:nvSpPr>
            <p:cNvPr name="Freeform 9" id="9"/>
            <p:cNvSpPr/>
            <p:nvPr/>
          </p:nvSpPr>
          <p:spPr>
            <a:xfrm flipH="false" flipV="false" rot="0">
              <a:off x="0" y="0"/>
              <a:ext cx="13543700" cy="622278"/>
            </a:xfrm>
            <a:custGeom>
              <a:avLst/>
              <a:gdLst/>
              <a:ahLst/>
              <a:cxnLst/>
              <a:rect r="r" b="b" t="t" l="l"/>
              <a:pathLst>
                <a:path h="622278" w="13543700">
                  <a:moveTo>
                    <a:pt x="0" y="0"/>
                  </a:moveTo>
                  <a:lnTo>
                    <a:pt x="13543700" y="0"/>
                  </a:lnTo>
                  <a:lnTo>
                    <a:pt x="13543700" y="622278"/>
                  </a:lnTo>
                  <a:lnTo>
                    <a:pt x="0" y="622278"/>
                  </a:lnTo>
                  <a:close/>
                </a:path>
              </a:pathLst>
            </a:custGeom>
            <a:blipFill>
              <a:blip r:embed="rId4">
                <a:alphaModFix amt="0"/>
              </a:blip>
              <a:stretch>
                <a:fillRect l="0" t="-374086" r="0" b="-374085"/>
              </a:stretch>
            </a:blipFill>
          </p:spPr>
        </p:sp>
        <p:sp>
          <p:nvSpPr>
            <p:cNvPr name="TextBox 10" id="10"/>
            <p:cNvSpPr txBox="true"/>
            <p:nvPr/>
          </p:nvSpPr>
          <p:spPr>
            <a:xfrm>
              <a:off x="0" y="-19050"/>
              <a:ext cx="13543699" cy="641325"/>
            </a:xfrm>
            <a:prstGeom prst="rect">
              <a:avLst/>
            </a:prstGeom>
          </p:spPr>
          <p:txBody>
            <a:bodyPr anchor="ctr" rtlCol="false" tIns="0" lIns="0" bIns="0" rIns="0"/>
            <a:lstStyle/>
            <a:p>
              <a:pPr algn="l">
                <a:lnSpc>
                  <a:spcPts val="2341"/>
                </a:lnSpc>
              </a:pPr>
              <a:r>
                <a:rPr lang="en-US" b="true" sz="1951" spc="375">
                  <a:solidFill>
                    <a:srgbClr val="8FBEBE"/>
                  </a:solidFill>
                  <a:latin typeface="Poppins Bold"/>
                  <a:ea typeface="Poppins Bold"/>
                  <a:cs typeface="Poppins Bold"/>
                  <a:sym typeface="Poppins Bold"/>
                </a:rPr>
                <a:t>PART ONE</a:t>
              </a:r>
            </a:p>
          </p:txBody>
        </p:sp>
      </p:grpSp>
      <p:grpSp>
        <p:nvGrpSpPr>
          <p:cNvPr name="Group 11" id="11"/>
          <p:cNvGrpSpPr/>
          <p:nvPr/>
        </p:nvGrpSpPr>
        <p:grpSpPr>
          <a:xfrm rot="0">
            <a:off x="1070686" y="4365098"/>
            <a:ext cx="1853108" cy="116681"/>
            <a:chOff x="0" y="0"/>
            <a:chExt cx="2470810" cy="155575"/>
          </a:xfrm>
        </p:grpSpPr>
        <p:sp>
          <p:nvSpPr>
            <p:cNvPr name="Freeform 12" id="12"/>
            <p:cNvSpPr/>
            <p:nvPr/>
          </p:nvSpPr>
          <p:spPr>
            <a:xfrm flipH="false" flipV="false" rot="0">
              <a:off x="0" y="0"/>
              <a:ext cx="2470785" cy="155575"/>
            </a:xfrm>
            <a:custGeom>
              <a:avLst/>
              <a:gdLst/>
              <a:ahLst/>
              <a:cxnLst/>
              <a:rect r="r" b="b" t="t" l="l"/>
              <a:pathLst>
                <a:path h="155575" w="2470785">
                  <a:moveTo>
                    <a:pt x="0" y="0"/>
                  </a:moveTo>
                  <a:lnTo>
                    <a:pt x="2470785" y="0"/>
                  </a:lnTo>
                  <a:lnTo>
                    <a:pt x="2470785" y="155575"/>
                  </a:lnTo>
                  <a:lnTo>
                    <a:pt x="0" y="155575"/>
                  </a:lnTo>
                  <a:close/>
                </a:path>
              </a:pathLst>
            </a:custGeom>
            <a:solidFill>
              <a:srgbClr val="387F7F"/>
            </a:solidFill>
          </p:spPr>
        </p:sp>
      </p:grpSp>
      <p:grpSp>
        <p:nvGrpSpPr>
          <p:cNvPr name="Group 13" id="13"/>
          <p:cNvGrpSpPr/>
          <p:nvPr/>
        </p:nvGrpSpPr>
        <p:grpSpPr>
          <a:xfrm rot="0">
            <a:off x="1070686" y="4735716"/>
            <a:ext cx="11118647" cy="2196274"/>
            <a:chOff x="0" y="0"/>
            <a:chExt cx="14824862" cy="2928366"/>
          </a:xfrm>
        </p:grpSpPr>
        <p:sp>
          <p:nvSpPr>
            <p:cNvPr name="Freeform 14" id="14"/>
            <p:cNvSpPr/>
            <p:nvPr/>
          </p:nvSpPr>
          <p:spPr>
            <a:xfrm flipH="false" flipV="false" rot="0">
              <a:off x="0" y="0"/>
              <a:ext cx="14824863" cy="2928368"/>
            </a:xfrm>
            <a:custGeom>
              <a:avLst/>
              <a:gdLst/>
              <a:ahLst/>
              <a:cxnLst/>
              <a:rect r="r" b="b" t="t" l="l"/>
              <a:pathLst>
                <a:path h="2928368" w="14824863">
                  <a:moveTo>
                    <a:pt x="0" y="0"/>
                  </a:moveTo>
                  <a:lnTo>
                    <a:pt x="14824863" y="0"/>
                  </a:lnTo>
                  <a:lnTo>
                    <a:pt x="14824863" y="2928368"/>
                  </a:lnTo>
                  <a:lnTo>
                    <a:pt x="0" y="2928368"/>
                  </a:lnTo>
                  <a:close/>
                </a:path>
              </a:pathLst>
            </a:custGeom>
            <a:blipFill>
              <a:blip r:embed="rId4">
                <a:alphaModFix amt="0"/>
              </a:blip>
              <a:stretch>
                <a:fillRect l="0" t="-48643" r="0" b="-48642"/>
              </a:stretch>
            </a:blipFill>
          </p:spPr>
        </p:sp>
        <p:sp>
          <p:nvSpPr>
            <p:cNvPr name="TextBox 15" id="15"/>
            <p:cNvSpPr txBox="true"/>
            <p:nvPr/>
          </p:nvSpPr>
          <p:spPr>
            <a:xfrm>
              <a:off x="0" y="-114300"/>
              <a:ext cx="14824862" cy="3042666"/>
            </a:xfrm>
            <a:prstGeom prst="rect">
              <a:avLst/>
            </a:prstGeom>
          </p:spPr>
          <p:txBody>
            <a:bodyPr anchor="ctr" rtlCol="false" tIns="0" lIns="0" bIns="0" rIns="0"/>
            <a:lstStyle/>
            <a:p>
              <a:pPr algn="l">
                <a:lnSpc>
                  <a:spcPts val="7003"/>
                </a:lnSpc>
              </a:pPr>
              <a:r>
                <a:rPr lang="en-US" sz="5404" b="true">
                  <a:solidFill>
                    <a:srgbClr val="FFFFFF"/>
                  </a:solidFill>
                  <a:latin typeface="Poppins Bold"/>
                  <a:ea typeface="Poppins Bold"/>
                  <a:cs typeface="Poppins Bold"/>
                  <a:sym typeface="Poppins Bold"/>
                </a:rPr>
                <a:t>A trend-based forecast, by hand first</a:t>
              </a:r>
            </a:p>
          </p:txBody>
        </p:sp>
      </p:grpSp>
      <p:grpSp>
        <p:nvGrpSpPr>
          <p:cNvPr name="Group 16" id="16"/>
          <p:cNvGrpSpPr/>
          <p:nvPr/>
        </p:nvGrpSpPr>
        <p:grpSpPr>
          <a:xfrm rot="0">
            <a:off x="1125588" y="7405564"/>
            <a:ext cx="219627" cy="219627"/>
            <a:chOff x="0" y="0"/>
            <a:chExt cx="292837" cy="292837"/>
          </a:xfrm>
        </p:grpSpPr>
        <p:sp>
          <p:nvSpPr>
            <p:cNvPr name="Freeform 17" id="17"/>
            <p:cNvSpPr/>
            <p:nvPr/>
          </p:nvSpPr>
          <p:spPr>
            <a:xfrm flipH="false" flipV="false" rot="0">
              <a:off x="0" y="0"/>
              <a:ext cx="292862" cy="292862"/>
            </a:xfrm>
            <a:custGeom>
              <a:avLst/>
              <a:gdLst/>
              <a:ahLst/>
              <a:cxnLst/>
              <a:rect r="r" b="b" t="t" l="l"/>
              <a:pathLst>
                <a:path h="292862" w="292862">
                  <a:moveTo>
                    <a:pt x="0" y="146431"/>
                  </a:moveTo>
                  <a:cubicBezTo>
                    <a:pt x="0" y="65532"/>
                    <a:pt x="65532" y="0"/>
                    <a:pt x="146431" y="0"/>
                  </a:cubicBezTo>
                  <a:cubicBezTo>
                    <a:pt x="227330" y="0"/>
                    <a:pt x="292862" y="65532"/>
                    <a:pt x="292862" y="146431"/>
                  </a:cubicBezTo>
                  <a:cubicBezTo>
                    <a:pt x="292862" y="227330"/>
                    <a:pt x="227330" y="292862"/>
                    <a:pt x="146431" y="292862"/>
                  </a:cubicBezTo>
                  <a:cubicBezTo>
                    <a:pt x="65532" y="292862"/>
                    <a:pt x="0" y="227330"/>
                    <a:pt x="0" y="146431"/>
                  </a:cubicBezTo>
                  <a:close/>
                </a:path>
              </a:pathLst>
            </a:custGeom>
            <a:solidFill>
              <a:srgbClr val="387F7F"/>
            </a:solidFill>
          </p:spPr>
        </p:sp>
      </p:grpSp>
      <p:grpSp>
        <p:nvGrpSpPr>
          <p:cNvPr name="Group 18" id="18"/>
          <p:cNvGrpSpPr/>
          <p:nvPr/>
        </p:nvGrpSpPr>
        <p:grpSpPr>
          <a:xfrm rot="0">
            <a:off x="1647206" y="7288892"/>
            <a:ext cx="9883245" cy="466706"/>
            <a:chOff x="0" y="0"/>
            <a:chExt cx="13177660" cy="622275"/>
          </a:xfrm>
        </p:grpSpPr>
        <p:sp>
          <p:nvSpPr>
            <p:cNvPr name="Freeform 19" id="19"/>
            <p:cNvSpPr/>
            <p:nvPr/>
          </p:nvSpPr>
          <p:spPr>
            <a:xfrm flipH="false" flipV="false" rot="0">
              <a:off x="0" y="0"/>
              <a:ext cx="13177655" cy="622278"/>
            </a:xfrm>
            <a:custGeom>
              <a:avLst/>
              <a:gdLst/>
              <a:ahLst/>
              <a:cxnLst/>
              <a:rect r="r" b="b" t="t" l="l"/>
              <a:pathLst>
                <a:path h="622278" w="13177655">
                  <a:moveTo>
                    <a:pt x="0" y="0"/>
                  </a:moveTo>
                  <a:lnTo>
                    <a:pt x="13177655" y="0"/>
                  </a:lnTo>
                  <a:lnTo>
                    <a:pt x="13177655" y="622278"/>
                  </a:lnTo>
                  <a:lnTo>
                    <a:pt x="0" y="622278"/>
                  </a:lnTo>
                  <a:close/>
                </a:path>
              </a:pathLst>
            </a:custGeom>
            <a:blipFill>
              <a:blip r:embed="rId4">
                <a:alphaModFix amt="0"/>
              </a:blip>
              <a:stretch>
                <a:fillRect l="0" t="-362624" r="0" b="-362624"/>
              </a:stretch>
            </a:blipFill>
          </p:spPr>
        </p:sp>
        <p:sp>
          <p:nvSpPr>
            <p:cNvPr name="TextBox 20" id="20"/>
            <p:cNvSpPr txBox="true"/>
            <p:nvPr/>
          </p:nvSpPr>
          <p:spPr>
            <a:xfrm>
              <a:off x="0" y="-19050"/>
              <a:ext cx="13177660" cy="641325"/>
            </a:xfrm>
            <a:prstGeom prst="rect">
              <a:avLst/>
            </a:prstGeom>
          </p:spPr>
          <p:txBody>
            <a:bodyPr anchor="ctr" rtlCol="false" tIns="0" lIns="0" bIns="0" rIns="0"/>
            <a:lstStyle/>
            <a:p>
              <a:pPr algn="l">
                <a:lnSpc>
                  <a:spcPts val="2431"/>
                </a:lnSpc>
              </a:pPr>
              <a:r>
                <a:rPr lang="en-US" sz="2026">
                  <a:solidFill>
                    <a:srgbClr val="C3DAD9"/>
                  </a:solidFill>
                  <a:latin typeface="Poppins"/>
                  <a:ea typeface="Poppins"/>
                  <a:cs typeface="Poppins"/>
                  <a:sym typeface="Poppins"/>
                </a:rPr>
                <a:t>What a trend-based forecast actually assumes</a:t>
              </a:r>
            </a:p>
          </p:txBody>
        </p:sp>
      </p:grpSp>
      <p:grpSp>
        <p:nvGrpSpPr>
          <p:cNvPr name="Group 21" id="21"/>
          <p:cNvGrpSpPr/>
          <p:nvPr/>
        </p:nvGrpSpPr>
        <p:grpSpPr>
          <a:xfrm rot="0">
            <a:off x="1125588" y="7982093"/>
            <a:ext cx="219627" cy="219627"/>
            <a:chOff x="0" y="0"/>
            <a:chExt cx="292837" cy="292837"/>
          </a:xfrm>
        </p:grpSpPr>
        <p:sp>
          <p:nvSpPr>
            <p:cNvPr name="Freeform 22" id="22"/>
            <p:cNvSpPr/>
            <p:nvPr/>
          </p:nvSpPr>
          <p:spPr>
            <a:xfrm flipH="false" flipV="false" rot="0">
              <a:off x="0" y="0"/>
              <a:ext cx="292862" cy="292862"/>
            </a:xfrm>
            <a:custGeom>
              <a:avLst/>
              <a:gdLst/>
              <a:ahLst/>
              <a:cxnLst/>
              <a:rect r="r" b="b" t="t" l="l"/>
              <a:pathLst>
                <a:path h="292862" w="292862">
                  <a:moveTo>
                    <a:pt x="0" y="146431"/>
                  </a:moveTo>
                  <a:cubicBezTo>
                    <a:pt x="0" y="65532"/>
                    <a:pt x="65532" y="0"/>
                    <a:pt x="146431" y="0"/>
                  </a:cubicBezTo>
                  <a:cubicBezTo>
                    <a:pt x="227330" y="0"/>
                    <a:pt x="292862" y="65532"/>
                    <a:pt x="292862" y="146431"/>
                  </a:cubicBezTo>
                  <a:cubicBezTo>
                    <a:pt x="292862" y="227330"/>
                    <a:pt x="227330" y="292862"/>
                    <a:pt x="146431" y="292862"/>
                  </a:cubicBezTo>
                  <a:cubicBezTo>
                    <a:pt x="65532" y="292862"/>
                    <a:pt x="0" y="227330"/>
                    <a:pt x="0" y="146431"/>
                  </a:cubicBezTo>
                  <a:close/>
                </a:path>
              </a:pathLst>
            </a:custGeom>
            <a:solidFill>
              <a:srgbClr val="387F7F"/>
            </a:solidFill>
          </p:spPr>
        </p:sp>
      </p:grpSp>
      <p:grpSp>
        <p:nvGrpSpPr>
          <p:cNvPr name="Group 23" id="23"/>
          <p:cNvGrpSpPr/>
          <p:nvPr/>
        </p:nvGrpSpPr>
        <p:grpSpPr>
          <a:xfrm rot="0">
            <a:off x="1647206" y="7865412"/>
            <a:ext cx="9883245" cy="466706"/>
            <a:chOff x="0" y="0"/>
            <a:chExt cx="13177660" cy="622275"/>
          </a:xfrm>
        </p:grpSpPr>
        <p:sp>
          <p:nvSpPr>
            <p:cNvPr name="Freeform 24" id="24"/>
            <p:cNvSpPr/>
            <p:nvPr/>
          </p:nvSpPr>
          <p:spPr>
            <a:xfrm flipH="false" flipV="false" rot="0">
              <a:off x="0" y="0"/>
              <a:ext cx="13177655" cy="622278"/>
            </a:xfrm>
            <a:custGeom>
              <a:avLst/>
              <a:gdLst/>
              <a:ahLst/>
              <a:cxnLst/>
              <a:rect r="r" b="b" t="t" l="l"/>
              <a:pathLst>
                <a:path h="622278" w="13177655">
                  <a:moveTo>
                    <a:pt x="0" y="0"/>
                  </a:moveTo>
                  <a:lnTo>
                    <a:pt x="13177655" y="0"/>
                  </a:lnTo>
                  <a:lnTo>
                    <a:pt x="13177655" y="622278"/>
                  </a:lnTo>
                  <a:lnTo>
                    <a:pt x="0" y="622278"/>
                  </a:lnTo>
                  <a:close/>
                </a:path>
              </a:pathLst>
            </a:custGeom>
            <a:blipFill>
              <a:blip r:embed="rId4">
                <a:alphaModFix amt="0"/>
              </a:blip>
              <a:stretch>
                <a:fillRect l="0" t="-362624" r="0" b="-362624"/>
              </a:stretch>
            </a:blipFill>
          </p:spPr>
        </p:sp>
        <p:sp>
          <p:nvSpPr>
            <p:cNvPr name="TextBox 25" id="25"/>
            <p:cNvSpPr txBox="true"/>
            <p:nvPr/>
          </p:nvSpPr>
          <p:spPr>
            <a:xfrm>
              <a:off x="0" y="-19050"/>
              <a:ext cx="13177660" cy="641325"/>
            </a:xfrm>
            <a:prstGeom prst="rect">
              <a:avLst/>
            </a:prstGeom>
          </p:spPr>
          <p:txBody>
            <a:bodyPr anchor="ctr" rtlCol="false" tIns="0" lIns="0" bIns="0" rIns="0"/>
            <a:lstStyle/>
            <a:p>
              <a:pPr algn="l">
                <a:lnSpc>
                  <a:spcPts val="2431"/>
                </a:lnSpc>
              </a:pPr>
              <a:r>
                <a:rPr lang="en-US" sz="2026">
                  <a:solidFill>
                    <a:srgbClr val="C3DAD9"/>
                  </a:solidFill>
                  <a:latin typeface="Poppins"/>
                  <a:ea typeface="Poppins"/>
                  <a:cs typeface="Poppins"/>
                  <a:sym typeface="Poppins"/>
                </a:rPr>
                <a:t>Fitting a straight line through three months of SwiftRoute data</a:t>
              </a:r>
            </a:p>
          </p:txBody>
        </p:sp>
      </p:grpSp>
      <p:grpSp>
        <p:nvGrpSpPr>
          <p:cNvPr name="Group 26" id="26"/>
          <p:cNvGrpSpPr/>
          <p:nvPr/>
        </p:nvGrpSpPr>
        <p:grpSpPr>
          <a:xfrm rot="0">
            <a:off x="1125588" y="8558613"/>
            <a:ext cx="219627" cy="219627"/>
            <a:chOff x="0" y="0"/>
            <a:chExt cx="292837" cy="292837"/>
          </a:xfrm>
        </p:grpSpPr>
        <p:sp>
          <p:nvSpPr>
            <p:cNvPr name="Freeform 27" id="27"/>
            <p:cNvSpPr/>
            <p:nvPr/>
          </p:nvSpPr>
          <p:spPr>
            <a:xfrm flipH="false" flipV="false" rot="0">
              <a:off x="0" y="0"/>
              <a:ext cx="292862" cy="292862"/>
            </a:xfrm>
            <a:custGeom>
              <a:avLst/>
              <a:gdLst/>
              <a:ahLst/>
              <a:cxnLst/>
              <a:rect r="r" b="b" t="t" l="l"/>
              <a:pathLst>
                <a:path h="292862" w="292862">
                  <a:moveTo>
                    <a:pt x="0" y="146431"/>
                  </a:moveTo>
                  <a:cubicBezTo>
                    <a:pt x="0" y="65532"/>
                    <a:pt x="65532" y="0"/>
                    <a:pt x="146431" y="0"/>
                  </a:cubicBezTo>
                  <a:cubicBezTo>
                    <a:pt x="227330" y="0"/>
                    <a:pt x="292862" y="65532"/>
                    <a:pt x="292862" y="146431"/>
                  </a:cubicBezTo>
                  <a:cubicBezTo>
                    <a:pt x="292862" y="227330"/>
                    <a:pt x="227330" y="292862"/>
                    <a:pt x="146431" y="292862"/>
                  </a:cubicBezTo>
                  <a:cubicBezTo>
                    <a:pt x="65532" y="292862"/>
                    <a:pt x="0" y="227330"/>
                    <a:pt x="0" y="146431"/>
                  </a:cubicBezTo>
                  <a:close/>
                </a:path>
              </a:pathLst>
            </a:custGeom>
            <a:solidFill>
              <a:srgbClr val="387F7F"/>
            </a:solidFill>
          </p:spPr>
        </p:sp>
      </p:grpSp>
      <p:grpSp>
        <p:nvGrpSpPr>
          <p:cNvPr name="Group 28" id="28"/>
          <p:cNvGrpSpPr/>
          <p:nvPr/>
        </p:nvGrpSpPr>
        <p:grpSpPr>
          <a:xfrm rot="0">
            <a:off x="1647206" y="8441931"/>
            <a:ext cx="9883245" cy="466706"/>
            <a:chOff x="0" y="0"/>
            <a:chExt cx="13177660" cy="622275"/>
          </a:xfrm>
        </p:grpSpPr>
        <p:sp>
          <p:nvSpPr>
            <p:cNvPr name="Freeform 29" id="29"/>
            <p:cNvSpPr/>
            <p:nvPr/>
          </p:nvSpPr>
          <p:spPr>
            <a:xfrm flipH="false" flipV="false" rot="0">
              <a:off x="0" y="0"/>
              <a:ext cx="13177655" cy="622278"/>
            </a:xfrm>
            <a:custGeom>
              <a:avLst/>
              <a:gdLst/>
              <a:ahLst/>
              <a:cxnLst/>
              <a:rect r="r" b="b" t="t" l="l"/>
              <a:pathLst>
                <a:path h="622278" w="13177655">
                  <a:moveTo>
                    <a:pt x="0" y="0"/>
                  </a:moveTo>
                  <a:lnTo>
                    <a:pt x="13177655" y="0"/>
                  </a:lnTo>
                  <a:lnTo>
                    <a:pt x="13177655" y="622278"/>
                  </a:lnTo>
                  <a:lnTo>
                    <a:pt x="0" y="622278"/>
                  </a:lnTo>
                  <a:close/>
                </a:path>
              </a:pathLst>
            </a:custGeom>
            <a:blipFill>
              <a:blip r:embed="rId4">
                <a:alphaModFix amt="0"/>
              </a:blip>
              <a:stretch>
                <a:fillRect l="0" t="-362624" r="0" b="-362624"/>
              </a:stretch>
            </a:blipFill>
          </p:spPr>
        </p:sp>
        <p:sp>
          <p:nvSpPr>
            <p:cNvPr name="TextBox 30" id="30"/>
            <p:cNvSpPr txBox="true"/>
            <p:nvPr/>
          </p:nvSpPr>
          <p:spPr>
            <a:xfrm>
              <a:off x="0" y="-19050"/>
              <a:ext cx="13177660" cy="641325"/>
            </a:xfrm>
            <a:prstGeom prst="rect">
              <a:avLst/>
            </a:prstGeom>
          </p:spPr>
          <p:txBody>
            <a:bodyPr anchor="ctr" rtlCol="false" tIns="0" lIns="0" bIns="0" rIns="0"/>
            <a:lstStyle/>
            <a:p>
              <a:pPr algn="l">
                <a:lnSpc>
                  <a:spcPts val="2431"/>
                </a:lnSpc>
              </a:pPr>
              <a:r>
                <a:rPr lang="en-US" sz="2026">
                  <a:solidFill>
                    <a:srgbClr val="C3DAD9"/>
                  </a:solidFill>
                  <a:latin typeface="Poppins"/>
                  <a:ea typeface="Poppins"/>
                  <a:cs typeface="Poppins"/>
                  <a:sym typeface="Poppins"/>
                </a:rPr>
                <a:t>Reading the fit's own errors before trusting its forecast</a:t>
              </a:r>
            </a:p>
          </p:txBody>
        </p:sp>
      </p:grpSp>
      <p:grpSp>
        <p:nvGrpSpPr>
          <p:cNvPr name="Group 31" id="31"/>
          <p:cNvGrpSpPr/>
          <p:nvPr/>
        </p:nvGrpSpPr>
        <p:grpSpPr>
          <a:xfrm rot="0">
            <a:off x="17546869" y="9718519"/>
            <a:ext cx="549069" cy="411804"/>
            <a:chOff x="0" y="0"/>
            <a:chExt cx="732092" cy="549072"/>
          </a:xfrm>
        </p:grpSpPr>
        <p:sp>
          <p:nvSpPr>
            <p:cNvPr name="Freeform 32" id="32"/>
            <p:cNvSpPr/>
            <p:nvPr/>
          </p:nvSpPr>
          <p:spPr>
            <a:xfrm flipH="false" flipV="false" rot="0">
              <a:off x="0" y="0"/>
              <a:ext cx="732092" cy="549069"/>
            </a:xfrm>
            <a:custGeom>
              <a:avLst/>
              <a:gdLst/>
              <a:ahLst/>
              <a:cxnLst/>
              <a:rect r="r" b="b" t="t" l="l"/>
              <a:pathLst>
                <a:path h="549069" w="732092">
                  <a:moveTo>
                    <a:pt x="0" y="0"/>
                  </a:moveTo>
                  <a:lnTo>
                    <a:pt x="732092" y="0"/>
                  </a:lnTo>
                  <a:lnTo>
                    <a:pt x="732092" y="549069"/>
                  </a:lnTo>
                  <a:lnTo>
                    <a:pt x="0" y="549069"/>
                  </a:lnTo>
                  <a:close/>
                </a:path>
              </a:pathLst>
            </a:custGeom>
            <a:blipFill>
              <a:blip r:embed="rId4">
                <a:alphaModFix amt="0"/>
              </a:blip>
              <a:stretch>
                <a:fillRect l="-46228" t="0" r="-46228" b="0"/>
              </a:stretch>
            </a:blipFill>
          </p:spPr>
        </p:sp>
        <p:sp>
          <p:nvSpPr>
            <p:cNvPr name="TextBox 33" id="33"/>
            <p:cNvSpPr txBox="true"/>
            <p:nvPr/>
          </p:nvSpPr>
          <p:spPr>
            <a:xfrm>
              <a:off x="0" y="-9525"/>
              <a:ext cx="732092" cy="558597"/>
            </a:xfrm>
            <a:prstGeom prst="rect">
              <a:avLst/>
            </a:prstGeom>
          </p:spPr>
          <p:txBody>
            <a:bodyPr anchor="ctr" rtlCol="false" tIns="0" lIns="0" bIns="0" rIns="0"/>
            <a:lstStyle/>
            <a:p>
              <a:pPr algn="r">
                <a:lnSpc>
                  <a:spcPts val="1981"/>
                </a:lnSpc>
              </a:pPr>
              <a:r>
                <a:rPr lang="en-US" sz="1651">
                  <a:solidFill>
                    <a:srgbClr val="7FA3A3"/>
                  </a:solidFill>
                  <a:latin typeface="Poppins"/>
                  <a:ea typeface="Poppins"/>
                  <a:cs typeface="Poppins"/>
                  <a:sym typeface="Poppins"/>
                </a:rPr>
                <a:t>5</a:t>
              </a:r>
            </a:p>
          </p:txBody>
        </p:sp>
      </p:grpSp>
      <p:sp>
        <p:nvSpPr>
          <p:cNvPr name="Freeform 34" id="34"/>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7145000" cy="1495425"/>
          </a:xfrm>
          <a:prstGeom prst="rect">
            <a:avLst/>
          </a:prstGeom>
        </p:spPr>
        <p:txBody>
          <a:bodyPr anchor="t" rtlCol="false" tIns="0" lIns="0" bIns="0" rIns="0">
            <a:spAutoFit/>
          </a:bodyPr>
          <a:lstStyle/>
          <a:p>
            <a:pPr algn="l">
              <a:lnSpc>
                <a:spcPts val="5760"/>
              </a:lnSpc>
            </a:pPr>
            <a:r>
              <a:rPr lang="en-US" sz="4800">
                <a:solidFill>
                  <a:srgbClr val="388080"/>
                </a:solidFill>
                <a:latin typeface="Poppins"/>
                <a:ea typeface="Poppins"/>
                <a:cs typeface="Poppins"/>
                <a:sym typeface="Poppins"/>
              </a:rPr>
              <a:t>A trend-based forecast is one assumption, made explicit</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04875" y="2573088"/>
            <a:ext cx="14893500" cy="4598451"/>
            <a:chOff x="0" y="0"/>
            <a:chExt cx="19857999" cy="6131268"/>
          </a:xfrm>
        </p:grpSpPr>
        <p:sp>
          <p:nvSpPr>
            <p:cNvPr name="Freeform 12" id="12"/>
            <p:cNvSpPr/>
            <p:nvPr/>
          </p:nvSpPr>
          <p:spPr>
            <a:xfrm flipH="false" flipV="false" rot="0">
              <a:off x="0" y="0"/>
              <a:ext cx="19857974" cy="6131179"/>
            </a:xfrm>
            <a:custGeom>
              <a:avLst/>
              <a:gdLst/>
              <a:ahLst/>
              <a:cxnLst/>
              <a:rect r="r" b="b" t="t" l="l"/>
              <a:pathLst>
                <a:path h="6131179" w="19857974">
                  <a:moveTo>
                    <a:pt x="0" y="164719"/>
                  </a:moveTo>
                  <a:cubicBezTo>
                    <a:pt x="0" y="73787"/>
                    <a:pt x="73787" y="0"/>
                    <a:pt x="164719" y="0"/>
                  </a:cubicBezTo>
                  <a:lnTo>
                    <a:pt x="19693255" y="0"/>
                  </a:lnTo>
                  <a:cubicBezTo>
                    <a:pt x="19784188" y="0"/>
                    <a:pt x="19857974" y="73787"/>
                    <a:pt x="19857974" y="164719"/>
                  </a:cubicBezTo>
                  <a:lnTo>
                    <a:pt x="19857974" y="5966460"/>
                  </a:lnTo>
                  <a:cubicBezTo>
                    <a:pt x="19857974" y="6057392"/>
                    <a:pt x="19784188" y="6131179"/>
                    <a:pt x="19693255" y="6131179"/>
                  </a:cubicBezTo>
                  <a:lnTo>
                    <a:pt x="164719" y="6131179"/>
                  </a:lnTo>
                  <a:cubicBezTo>
                    <a:pt x="73787" y="6131306"/>
                    <a:pt x="0" y="6057519"/>
                    <a:pt x="0" y="5966460"/>
                  </a:cubicBezTo>
                  <a:close/>
                </a:path>
              </a:pathLst>
            </a:custGeom>
            <a:solidFill>
              <a:srgbClr val="FFFFFF"/>
            </a:solidFill>
          </p:spPr>
        </p:sp>
      </p:grpSp>
      <p:sp>
        <p:nvSpPr>
          <p:cNvPr name="TextBox 13" id="13"/>
          <p:cNvSpPr txBox="true"/>
          <p:nvPr/>
        </p:nvSpPr>
        <p:spPr>
          <a:xfrm rot="0">
            <a:off x="1453944" y="2929695"/>
            <a:ext cx="13795362" cy="3898678"/>
          </a:xfrm>
          <a:prstGeom prst="rect">
            <a:avLst/>
          </a:prstGeom>
        </p:spPr>
        <p:txBody>
          <a:bodyPr anchor="t" rtlCol="false" tIns="0" lIns="0" bIns="0" rIns="0">
            <a:spAutoFit/>
          </a:bodyPr>
          <a:lstStyle/>
          <a:p>
            <a:pPr algn="l">
              <a:lnSpc>
                <a:spcPts val="4215"/>
              </a:lnSpc>
            </a:pPr>
            <a:r>
              <a:rPr lang="en-US" sz="2702">
                <a:solidFill>
                  <a:srgbClr val="475569"/>
                </a:solidFill>
                <a:latin typeface="Poppins"/>
                <a:ea typeface="Poppins"/>
                <a:cs typeface="Poppins"/>
                <a:sym typeface="Poppins"/>
              </a:rPr>
              <a:t>A trend-based forecast fits a straight line through past values, then extends that same line forward. It is deliberately the simplest possible forecasting method: no seasonality, no external events, no change in the business. The line only ever says one thing: whatever kept happening, keeps happening at the same rate. That assumption is sometimes reasonable and sometimes badly wrong, and the method itself cannot tell you which. You have to bring that judgement yourself, using what you know about the business that the numbers alone cannot show.</a:t>
            </a:r>
          </a:p>
        </p:txBody>
      </p:sp>
      <p:grpSp>
        <p:nvGrpSpPr>
          <p:cNvPr name="Group 14" id="14"/>
          <p:cNvGrpSpPr/>
          <p:nvPr/>
        </p:nvGrpSpPr>
        <p:grpSpPr>
          <a:xfrm rot="0">
            <a:off x="904875" y="7514706"/>
            <a:ext cx="14893500" cy="1372676"/>
            <a:chOff x="0" y="0"/>
            <a:chExt cx="19857999" cy="1830235"/>
          </a:xfrm>
        </p:grpSpPr>
        <p:sp>
          <p:nvSpPr>
            <p:cNvPr name="Freeform 15" id="15"/>
            <p:cNvSpPr/>
            <p:nvPr/>
          </p:nvSpPr>
          <p:spPr>
            <a:xfrm flipH="false" flipV="false" rot="0">
              <a:off x="0" y="0"/>
              <a:ext cx="19857974" cy="1830197"/>
            </a:xfrm>
            <a:custGeom>
              <a:avLst/>
              <a:gdLst/>
              <a:ahLst/>
              <a:cxnLst/>
              <a:rect r="r" b="b" t="t" l="l"/>
              <a:pathLst>
                <a:path h="1830197" w="19857974">
                  <a:moveTo>
                    <a:pt x="0" y="164719"/>
                  </a:moveTo>
                  <a:cubicBezTo>
                    <a:pt x="0" y="73787"/>
                    <a:pt x="73787" y="0"/>
                    <a:pt x="164719" y="0"/>
                  </a:cubicBezTo>
                  <a:lnTo>
                    <a:pt x="19693255" y="0"/>
                  </a:lnTo>
                  <a:cubicBezTo>
                    <a:pt x="19784188" y="0"/>
                    <a:pt x="19857974" y="73787"/>
                    <a:pt x="19857974" y="164719"/>
                  </a:cubicBezTo>
                  <a:lnTo>
                    <a:pt x="19857974" y="1665478"/>
                  </a:lnTo>
                  <a:cubicBezTo>
                    <a:pt x="19857974" y="1756410"/>
                    <a:pt x="19784188" y="1830197"/>
                    <a:pt x="19693255" y="1830197"/>
                  </a:cubicBezTo>
                  <a:lnTo>
                    <a:pt x="164719" y="1830197"/>
                  </a:lnTo>
                  <a:cubicBezTo>
                    <a:pt x="73787" y="1830197"/>
                    <a:pt x="0" y="1756537"/>
                    <a:pt x="0" y="1665478"/>
                  </a:cubicBezTo>
                  <a:close/>
                </a:path>
              </a:pathLst>
            </a:custGeom>
            <a:solidFill>
              <a:srgbClr val="F4F7F7"/>
            </a:solidFill>
          </p:spPr>
        </p:sp>
      </p:grpSp>
      <p:grpSp>
        <p:nvGrpSpPr>
          <p:cNvPr name="Group 16" id="16"/>
          <p:cNvGrpSpPr/>
          <p:nvPr/>
        </p:nvGrpSpPr>
        <p:grpSpPr>
          <a:xfrm rot="0">
            <a:off x="904875" y="7514706"/>
            <a:ext cx="82363" cy="1372676"/>
            <a:chOff x="0" y="0"/>
            <a:chExt cx="109817" cy="1830235"/>
          </a:xfrm>
        </p:grpSpPr>
        <p:sp>
          <p:nvSpPr>
            <p:cNvPr name="Freeform 17" id="17"/>
            <p:cNvSpPr/>
            <p:nvPr/>
          </p:nvSpPr>
          <p:spPr>
            <a:xfrm flipH="false" flipV="false" rot="0">
              <a:off x="0" y="0"/>
              <a:ext cx="109855" cy="1830197"/>
            </a:xfrm>
            <a:custGeom>
              <a:avLst/>
              <a:gdLst/>
              <a:ahLst/>
              <a:cxnLst/>
              <a:rect r="r" b="b" t="t" l="l"/>
              <a:pathLst>
                <a:path h="1830197" w="109855">
                  <a:moveTo>
                    <a:pt x="0" y="0"/>
                  </a:moveTo>
                  <a:lnTo>
                    <a:pt x="109855" y="0"/>
                  </a:lnTo>
                  <a:lnTo>
                    <a:pt x="109855" y="1830197"/>
                  </a:lnTo>
                  <a:lnTo>
                    <a:pt x="0" y="1830197"/>
                  </a:lnTo>
                  <a:close/>
                </a:path>
              </a:pathLst>
            </a:custGeom>
            <a:solidFill>
              <a:srgbClr val="387F7F"/>
            </a:solidFill>
          </p:spPr>
        </p:sp>
      </p:grpSp>
      <p:grpSp>
        <p:nvGrpSpPr>
          <p:cNvPr name="Group 18" id="18"/>
          <p:cNvGrpSpPr/>
          <p:nvPr/>
        </p:nvGrpSpPr>
        <p:grpSpPr>
          <a:xfrm rot="0">
            <a:off x="1453944" y="7514706"/>
            <a:ext cx="13795362" cy="1372676"/>
            <a:chOff x="0" y="0"/>
            <a:chExt cx="18393816" cy="1830235"/>
          </a:xfrm>
        </p:grpSpPr>
        <p:sp>
          <p:nvSpPr>
            <p:cNvPr name="Freeform 19" id="19"/>
            <p:cNvSpPr/>
            <p:nvPr/>
          </p:nvSpPr>
          <p:spPr>
            <a:xfrm flipH="false" flipV="false" rot="0">
              <a:off x="0" y="0"/>
              <a:ext cx="18393811" cy="1830230"/>
            </a:xfrm>
            <a:custGeom>
              <a:avLst/>
              <a:gdLst/>
              <a:ahLst/>
              <a:cxnLst/>
              <a:rect r="r" b="b" t="t" l="l"/>
              <a:pathLst>
                <a:path h="1830230" w="18393811">
                  <a:moveTo>
                    <a:pt x="0" y="0"/>
                  </a:moveTo>
                  <a:lnTo>
                    <a:pt x="18393811" y="0"/>
                  </a:lnTo>
                  <a:lnTo>
                    <a:pt x="18393811" y="1830230"/>
                  </a:lnTo>
                  <a:lnTo>
                    <a:pt x="0" y="1830230"/>
                  </a:lnTo>
                  <a:close/>
                </a:path>
              </a:pathLst>
            </a:custGeom>
            <a:blipFill>
              <a:blip r:embed="rId9">
                <a:alphaModFix amt="0"/>
              </a:blip>
              <a:stretch>
                <a:fillRect l="0" t="-145824" r="0" b="-145824"/>
              </a:stretch>
            </a:blipFill>
          </p:spPr>
        </p:sp>
        <p:sp>
          <p:nvSpPr>
            <p:cNvPr name="TextBox 20" id="20"/>
            <p:cNvSpPr txBox="true"/>
            <p:nvPr/>
          </p:nvSpPr>
          <p:spPr>
            <a:xfrm>
              <a:off x="0" y="-104775"/>
              <a:ext cx="18393816" cy="1935010"/>
            </a:xfrm>
            <a:prstGeom prst="rect">
              <a:avLst/>
            </a:prstGeom>
          </p:spPr>
          <p:txBody>
            <a:bodyPr anchor="ctr" rtlCol="false" tIns="0" lIns="0" bIns="0" rIns="0"/>
            <a:lstStyle/>
            <a:p>
              <a:pPr algn="l">
                <a:lnSpc>
                  <a:spcPts val="3746"/>
                </a:lnSpc>
              </a:pPr>
              <a:r>
                <a:rPr lang="en-US" sz="2401" b="true">
                  <a:solidFill>
                    <a:srgbClr val="387F7F"/>
                  </a:solidFill>
                  <a:latin typeface="Poppins Bold"/>
                  <a:ea typeface="Poppins Bold"/>
                  <a:cs typeface="Poppins Bold"/>
                  <a:sym typeface="Poppins Bold"/>
                </a:rPr>
                <a:t>The forecast is not wrong for being simple. It is wrong if you forget how simple it is.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268104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Fitting the line: Swift</a:t>
            </a:r>
            <a:r>
              <a:rPr lang="en-US" sz="5000">
                <a:solidFill>
                  <a:srgbClr val="388080"/>
                </a:solidFill>
                <a:latin typeface="Poppins"/>
                <a:ea typeface="Poppins"/>
                <a:cs typeface="Poppins"/>
                <a:sym typeface="Poppins"/>
              </a:rPr>
              <a:t>Route's Q3 deliveries</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792204" y="2493855"/>
            <a:ext cx="3788578" cy="754971"/>
            <a:chOff x="0" y="0"/>
            <a:chExt cx="5051438" cy="1006627"/>
          </a:xfrm>
        </p:grpSpPr>
        <p:sp>
          <p:nvSpPr>
            <p:cNvPr name="Freeform 12" id="12"/>
            <p:cNvSpPr/>
            <p:nvPr/>
          </p:nvSpPr>
          <p:spPr>
            <a:xfrm flipH="false" flipV="false" rot="0">
              <a:off x="0" y="0"/>
              <a:ext cx="5051425" cy="1006602"/>
            </a:xfrm>
            <a:custGeom>
              <a:avLst/>
              <a:gdLst/>
              <a:ahLst/>
              <a:cxnLst/>
              <a:rect r="r" b="b" t="t" l="l"/>
              <a:pathLst>
                <a:path h="1006602" w="5051425">
                  <a:moveTo>
                    <a:pt x="0" y="503301"/>
                  </a:moveTo>
                  <a:cubicBezTo>
                    <a:pt x="0" y="225298"/>
                    <a:pt x="225298" y="0"/>
                    <a:pt x="503301" y="0"/>
                  </a:cubicBezTo>
                  <a:lnTo>
                    <a:pt x="4548124" y="0"/>
                  </a:lnTo>
                  <a:cubicBezTo>
                    <a:pt x="4826127" y="0"/>
                    <a:pt x="5051425" y="225298"/>
                    <a:pt x="5051425" y="503301"/>
                  </a:cubicBezTo>
                  <a:cubicBezTo>
                    <a:pt x="5051425" y="781304"/>
                    <a:pt x="4826127" y="1006602"/>
                    <a:pt x="4548124" y="1006602"/>
                  </a:cubicBezTo>
                  <a:lnTo>
                    <a:pt x="503301" y="1006602"/>
                  </a:lnTo>
                  <a:cubicBezTo>
                    <a:pt x="225298" y="1006602"/>
                    <a:pt x="0" y="781304"/>
                    <a:pt x="0" y="503301"/>
                  </a:cubicBezTo>
                  <a:close/>
                </a:path>
              </a:pathLst>
            </a:custGeom>
            <a:solidFill>
              <a:srgbClr val="387F7F"/>
            </a:solidFill>
          </p:spPr>
        </p:sp>
      </p:grpSp>
      <p:grpSp>
        <p:nvGrpSpPr>
          <p:cNvPr name="Group 13" id="13"/>
          <p:cNvGrpSpPr/>
          <p:nvPr/>
        </p:nvGrpSpPr>
        <p:grpSpPr>
          <a:xfrm rot="0">
            <a:off x="792204" y="2493855"/>
            <a:ext cx="3788578" cy="754971"/>
            <a:chOff x="0" y="0"/>
            <a:chExt cx="5051438" cy="1006627"/>
          </a:xfrm>
        </p:grpSpPr>
        <p:sp>
          <p:nvSpPr>
            <p:cNvPr name="Freeform 14" id="14"/>
            <p:cNvSpPr/>
            <p:nvPr/>
          </p:nvSpPr>
          <p:spPr>
            <a:xfrm flipH="false" flipV="false" rot="0">
              <a:off x="0" y="0"/>
              <a:ext cx="5051434" cy="1006626"/>
            </a:xfrm>
            <a:custGeom>
              <a:avLst/>
              <a:gdLst/>
              <a:ahLst/>
              <a:cxnLst/>
              <a:rect r="r" b="b" t="t" l="l"/>
              <a:pathLst>
                <a:path h="1006626" w="5051434">
                  <a:moveTo>
                    <a:pt x="0" y="0"/>
                  </a:moveTo>
                  <a:lnTo>
                    <a:pt x="5051434" y="0"/>
                  </a:lnTo>
                  <a:lnTo>
                    <a:pt x="5051434" y="1006626"/>
                  </a:lnTo>
                  <a:lnTo>
                    <a:pt x="0" y="1006626"/>
                  </a:lnTo>
                  <a:close/>
                </a:path>
              </a:pathLst>
            </a:custGeom>
            <a:blipFill>
              <a:blip r:embed="rId9">
                <a:alphaModFix amt="0"/>
              </a:blip>
              <a:stretch>
                <a:fillRect l="0" t="-47779" r="0" b="-47779"/>
              </a:stretch>
            </a:blipFill>
          </p:spPr>
        </p:sp>
        <p:sp>
          <p:nvSpPr>
            <p:cNvPr name="TextBox 15" id="15"/>
            <p:cNvSpPr txBox="true"/>
            <p:nvPr/>
          </p:nvSpPr>
          <p:spPr>
            <a:xfrm>
              <a:off x="0" y="-19050"/>
              <a:ext cx="5051438" cy="1025677"/>
            </a:xfrm>
            <a:prstGeom prst="rect">
              <a:avLst/>
            </a:prstGeom>
          </p:spPr>
          <p:txBody>
            <a:bodyPr anchor="ctr" rtlCol="false" tIns="0" lIns="0" bIns="0" rIns="0"/>
            <a:lstStyle/>
            <a:p>
              <a:pPr algn="ctr">
                <a:lnSpc>
                  <a:spcPts val="2161"/>
                </a:lnSpc>
              </a:pPr>
              <a:r>
                <a:rPr lang="en-US" sz="1801" b="true">
                  <a:solidFill>
                    <a:srgbClr val="FFFFFF"/>
                  </a:solidFill>
                  <a:latin typeface="Poppins Bold"/>
                  <a:ea typeface="Poppins Bold"/>
                  <a:cs typeface="Poppins Bold"/>
                  <a:sym typeface="Poppins Bold"/>
                </a:rPr>
                <a:t>1. GATHER MONTHLY TOTALS</a:t>
              </a:r>
            </a:p>
          </p:txBody>
        </p:sp>
      </p:grpSp>
      <p:grpSp>
        <p:nvGrpSpPr>
          <p:cNvPr name="Group 16" id="16"/>
          <p:cNvGrpSpPr/>
          <p:nvPr/>
        </p:nvGrpSpPr>
        <p:grpSpPr>
          <a:xfrm rot="0">
            <a:off x="4745507" y="2493855"/>
            <a:ext cx="3788578" cy="754971"/>
            <a:chOff x="0" y="0"/>
            <a:chExt cx="5051438" cy="1006627"/>
          </a:xfrm>
        </p:grpSpPr>
        <p:sp>
          <p:nvSpPr>
            <p:cNvPr name="Freeform 17" id="17"/>
            <p:cNvSpPr/>
            <p:nvPr/>
          </p:nvSpPr>
          <p:spPr>
            <a:xfrm flipH="false" flipV="false" rot="0">
              <a:off x="0" y="0"/>
              <a:ext cx="5051425" cy="1006602"/>
            </a:xfrm>
            <a:custGeom>
              <a:avLst/>
              <a:gdLst/>
              <a:ahLst/>
              <a:cxnLst/>
              <a:rect r="r" b="b" t="t" l="l"/>
              <a:pathLst>
                <a:path h="1006602" w="5051425">
                  <a:moveTo>
                    <a:pt x="0" y="503301"/>
                  </a:moveTo>
                  <a:cubicBezTo>
                    <a:pt x="0" y="225298"/>
                    <a:pt x="225298" y="0"/>
                    <a:pt x="503301" y="0"/>
                  </a:cubicBezTo>
                  <a:lnTo>
                    <a:pt x="4548124" y="0"/>
                  </a:lnTo>
                  <a:cubicBezTo>
                    <a:pt x="4826127" y="0"/>
                    <a:pt x="5051425" y="225298"/>
                    <a:pt x="5051425" y="503301"/>
                  </a:cubicBezTo>
                  <a:cubicBezTo>
                    <a:pt x="5051425" y="781304"/>
                    <a:pt x="4826127" y="1006602"/>
                    <a:pt x="4548124" y="1006602"/>
                  </a:cubicBezTo>
                  <a:lnTo>
                    <a:pt x="503301" y="1006602"/>
                  </a:lnTo>
                  <a:cubicBezTo>
                    <a:pt x="225298" y="1006602"/>
                    <a:pt x="0" y="781304"/>
                    <a:pt x="0" y="503301"/>
                  </a:cubicBezTo>
                  <a:close/>
                </a:path>
              </a:pathLst>
            </a:custGeom>
            <a:solidFill>
              <a:srgbClr val="387F7F"/>
            </a:solidFill>
          </p:spPr>
        </p:sp>
      </p:grpSp>
      <p:grpSp>
        <p:nvGrpSpPr>
          <p:cNvPr name="Group 18" id="18"/>
          <p:cNvGrpSpPr/>
          <p:nvPr/>
        </p:nvGrpSpPr>
        <p:grpSpPr>
          <a:xfrm rot="0">
            <a:off x="4745507" y="2493855"/>
            <a:ext cx="3788578" cy="754971"/>
            <a:chOff x="0" y="0"/>
            <a:chExt cx="5051438" cy="1006627"/>
          </a:xfrm>
        </p:grpSpPr>
        <p:sp>
          <p:nvSpPr>
            <p:cNvPr name="Freeform 19" id="19"/>
            <p:cNvSpPr/>
            <p:nvPr/>
          </p:nvSpPr>
          <p:spPr>
            <a:xfrm flipH="false" flipV="false" rot="0">
              <a:off x="0" y="0"/>
              <a:ext cx="5051434" cy="1006626"/>
            </a:xfrm>
            <a:custGeom>
              <a:avLst/>
              <a:gdLst/>
              <a:ahLst/>
              <a:cxnLst/>
              <a:rect r="r" b="b" t="t" l="l"/>
              <a:pathLst>
                <a:path h="1006626" w="5051434">
                  <a:moveTo>
                    <a:pt x="0" y="0"/>
                  </a:moveTo>
                  <a:lnTo>
                    <a:pt x="5051434" y="0"/>
                  </a:lnTo>
                  <a:lnTo>
                    <a:pt x="5051434" y="1006626"/>
                  </a:lnTo>
                  <a:lnTo>
                    <a:pt x="0" y="1006626"/>
                  </a:lnTo>
                  <a:close/>
                </a:path>
              </a:pathLst>
            </a:custGeom>
            <a:blipFill>
              <a:blip r:embed="rId9">
                <a:alphaModFix amt="0"/>
              </a:blip>
              <a:stretch>
                <a:fillRect l="0" t="-47779" r="0" b="-47779"/>
              </a:stretch>
            </a:blipFill>
          </p:spPr>
        </p:sp>
        <p:sp>
          <p:nvSpPr>
            <p:cNvPr name="TextBox 20" id="20"/>
            <p:cNvSpPr txBox="true"/>
            <p:nvPr/>
          </p:nvSpPr>
          <p:spPr>
            <a:xfrm>
              <a:off x="0" y="-19050"/>
              <a:ext cx="5051438" cy="1025677"/>
            </a:xfrm>
            <a:prstGeom prst="rect">
              <a:avLst/>
            </a:prstGeom>
          </p:spPr>
          <p:txBody>
            <a:bodyPr anchor="ctr" rtlCol="false" tIns="0" lIns="0" bIns="0" rIns="0"/>
            <a:lstStyle/>
            <a:p>
              <a:pPr algn="ctr">
                <a:lnSpc>
                  <a:spcPts val="2161"/>
                </a:lnSpc>
              </a:pPr>
              <a:r>
                <a:rPr lang="en-US" sz="1801" b="true">
                  <a:solidFill>
                    <a:srgbClr val="FFFFFF"/>
                  </a:solidFill>
                  <a:latin typeface="Poppins Bold"/>
                  <a:ea typeface="Poppins Bold"/>
                  <a:cs typeface="Poppins Bold"/>
                  <a:sym typeface="Poppins Bold"/>
                </a:rPr>
                <a:t>2. FIND THE RATE OF CHANGE</a:t>
              </a:r>
            </a:p>
          </p:txBody>
        </p:sp>
      </p:grpSp>
      <p:grpSp>
        <p:nvGrpSpPr>
          <p:cNvPr name="Group 21" id="21"/>
          <p:cNvGrpSpPr/>
          <p:nvPr/>
        </p:nvGrpSpPr>
        <p:grpSpPr>
          <a:xfrm rot="0">
            <a:off x="8689267" y="2484320"/>
            <a:ext cx="3807638" cy="774030"/>
            <a:chOff x="0" y="0"/>
            <a:chExt cx="5076850" cy="1032040"/>
          </a:xfrm>
        </p:grpSpPr>
        <p:sp>
          <p:nvSpPr>
            <p:cNvPr name="Freeform 22" id="22"/>
            <p:cNvSpPr/>
            <p:nvPr/>
          </p:nvSpPr>
          <p:spPr>
            <a:xfrm flipH="false" flipV="false" rot="0">
              <a:off x="0" y="0"/>
              <a:ext cx="5076825" cy="1032002"/>
            </a:xfrm>
            <a:custGeom>
              <a:avLst/>
              <a:gdLst/>
              <a:ahLst/>
              <a:cxnLst/>
              <a:rect r="r" b="b" t="t" l="l"/>
              <a:pathLst>
                <a:path h="1032002" w="5076825">
                  <a:moveTo>
                    <a:pt x="0" y="516001"/>
                  </a:moveTo>
                  <a:cubicBezTo>
                    <a:pt x="0" y="231013"/>
                    <a:pt x="231013" y="0"/>
                    <a:pt x="516001" y="0"/>
                  </a:cubicBezTo>
                  <a:lnTo>
                    <a:pt x="4560824" y="0"/>
                  </a:lnTo>
                  <a:cubicBezTo>
                    <a:pt x="4845812" y="0"/>
                    <a:pt x="5076825" y="231013"/>
                    <a:pt x="5076825" y="516001"/>
                  </a:cubicBezTo>
                  <a:cubicBezTo>
                    <a:pt x="5076825" y="800989"/>
                    <a:pt x="4845812" y="1032002"/>
                    <a:pt x="4560824" y="1032002"/>
                  </a:cubicBezTo>
                  <a:lnTo>
                    <a:pt x="516001" y="1032002"/>
                  </a:lnTo>
                  <a:cubicBezTo>
                    <a:pt x="231013" y="1032002"/>
                    <a:pt x="0" y="800989"/>
                    <a:pt x="0" y="516001"/>
                  </a:cubicBezTo>
                  <a:close/>
                </a:path>
              </a:pathLst>
            </a:custGeom>
            <a:solidFill>
              <a:srgbClr val="FFFFFF"/>
            </a:solidFill>
            <a:ln w="19065" cap="sq">
              <a:solidFill>
                <a:srgbClr val="E2E8F0"/>
              </a:solidFill>
              <a:prstDash val="solid"/>
              <a:miter/>
            </a:ln>
          </p:spPr>
        </p:sp>
      </p:grpSp>
      <p:grpSp>
        <p:nvGrpSpPr>
          <p:cNvPr name="Group 23" id="23"/>
          <p:cNvGrpSpPr/>
          <p:nvPr/>
        </p:nvGrpSpPr>
        <p:grpSpPr>
          <a:xfrm rot="0">
            <a:off x="8698802" y="2493855"/>
            <a:ext cx="3788578" cy="754971"/>
            <a:chOff x="0" y="0"/>
            <a:chExt cx="5051438" cy="1006627"/>
          </a:xfrm>
        </p:grpSpPr>
        <p:sp>
          <p:nvSpPr>
            <p:cNvPr name="Freeform 24" id="24"/>
            <p:cNvSpPr/>
            <p:nvPr/>
          </p:nvSpPr>
          <p:spPr>
            <a:xfrm flipH="false" flipV="false" rot="0">
              <a:off x="0" y="0"/>
              <a:ext cx="5051434" cy="1006626"/>
            </a:xfrm>
            <a:custGeom>
              <a:avLst/>
              <a:gdLst/>
              <a:ahLst/>
              <a:cxnLst/>
              <a:rect r="r" b="b" t="t" l="l"/>
              <a:pathLst>
                <a:path h="1006626" w="5051434">
                  <a:moveTo>
                    <a:pt x="0" y="0"/>
                  </a:moveTo>
                  <a:lnTo>
                    <a:pt x="5051434" y="0"/>
                  </a:lnTo>
                  <a:lnTo>
                    <a:pt x="5051434" y="1006626"/>
                  </a:lnTo>
                  <a:lnTo>
                    <a:pt x="0" y="1006626"/>
                  </a:lnTo>
                  <a:close/>
                </a:path>
              </a:pathLst>
            </a:custGeom>
            <a:blipFill>
              <a:blip r:embed="rId9">
                <a:alphaModFix amt="0"/>
              </a:blip>
              <a:stretch>
                <a:fillRect l="0" t="-47779" r="0" b="-47779"/>
              </a:stretch>
            </a:blipFill>
          </p:spPr>
        </p:sp>
        <p:sp>
          <p:nvSpPr>
            <p:cNvPr name="TextBox 25" id="25"/>
            <p:cNvSpPr txBox="true"/>
            <p:nvPr/>
          </p:nvSpPr>
          <p:spPr>
            <a:xfrm>
              <a:off x="0" y="-19050"/>
              <a:ext cx="5051438" cy="1025677"/>
            </a:xfrm>
            <a:prstGeom prst="rect">
              <a:avLst/>
            </a:prstGeom>
          </p:spPr>
          <p:txBody>
            <a:bodyPr anchor="ctr" rtlCol="false" tIns="0" lIns="0" bIns="0" rIns="0"/>
            <a:lstStyle/>
            <a:p>
              <a:pPr algn="ctr">
                <a:lnSpc>
                  <a:spcPts val="2161"/>
                </a:lnSpc>
              </a:pPr>
              <a:r>
                <a:rPr lang="en-US" sz="1801">
                  <a:solidFill>
                    <a:srgbClr val="64748B"/>
                  </a:solidFill>
                  <a:latin typeface="Poppins"/>
                  <a:ea typeface="Poppins"/>
                  <a:cs typeface="Poppins"/>
                  <a:sym typeface="Poppins"/>
                </a:rPr>
                <a:t>3. EXTEND THE LINE</a:t>
              </a:r>
            </a:p>
          </p:txBody>
        </p:sp>
      </p:grpSp>
      <p:grpSp>
        <p:nvGrpSpPr>
          <p:cNvPr name="Group 26" id="26"/>
          <p:cNvGrpSpPr/>
          <p:nvPr/>
        </p:nvGrpSpPr>
        <p:grpSpPr>
          <a:xfrm rot="0">
            <a:off x="12642561" y="2484320"/>
            <a:ext cx="3807638" cy="774030"/>
            <a:chOff x="0" y="0"/>
            <a:chExt cx="5076850" cy="1032040"/>
          </a:xfrm>
        </p:grpSpPr>
        <p:sp>
          <p:nvSpPr>
            <p:cNvPr name="Freeform 27" id="27"/>
            <p:cNvSpPr/>
            <p:nvPr/>
          </p:nvSpPr>
          <p:spPr>
            <a:xfrm flipH="false" flipV="false" rot="0">
              <a:off x="0" y="0"/>
              <a:ext cx="5076825" cy="1032002"/>
            </a:xfrm>
            <a:custGeom>
              <a:avLst/>
              <a:gdLst/>
              <a:ahLst/>
              <a:cxnLst/>
              <a:rect r="r" b="b" t="t" l="l"/>
              <a:pathLst>
                <a:path h="1032002" w="5076825">
                  <a:moveTo>
                    <a:pt x="0" y="516001"/>
                  </a:moveTo>
                  <a:cubicBezTo>
                    <a:pt x="0" y="231013"/>
                    <a:pt x="231013" y="0"/>
                    <a:pt x="516001" y="0"/>
                  </a:cubicBezTo>
                  <a:lnTo>
                    <a:pt x="4560824" y="0"/>
                  </a:lnTo>
                  <a:cubicBezTo>
                    <a:pt x="4845812" y="0"/>
                    <a:pt x="5076825" y="231013"/>
                    <a:pt x="5076825" y="516001"/>
                  </a:cubicBezTo>
                  <a:cubicBezTo>
                    <a:pt x="5076825" y="800989"/>
                    <a:pt x="4845812" y="1032002"/>
                    <a:pt x="4560824" y="1032002"/>
                  </a:cubicBezTo>
                  <a:lnTo>
                    <a:pt x="516001" y="1032002"/>
                  </a:lnTo>
                  <a:cubicBezTo>
                    <a:pt x="231013" y="1032002"/>
                    <a:pt x="0" y="800989"/>
                    <a:pt x="0" y="516001"/>
                  </a:cubicBezTo>
                  <a:close/>
                </a:path>
              </a:pathLst>
            </a:custGeom>
            <a:solidFill>
              <a:srgbClr val="FFFFFF"/>
            </a:solidFill>
            <a:ln w="19065" cap="sq">
              <a:solidFill>
                <a:srgbClr val="E2E8F0"/>
              </a:solidFill>
              <a:prstDash val="solid"/>
              <a:miter/>
            </a:ln>
          </p:spPr>
        </p:sp>
      </p:grpSp>
      <p:grpSp>
        <p:nvGrpSpPr>
          <p:cNvPr name="Group 28" id="28"/>
          <p:cNvGrpSpPr/>
          <p:nvPr/>
        </p:nvGrpSpPr>
        <p:grpSpPr>
          <a:xfrm rot="0">
            <a:off x="12652096" y="2493855"/>
            <a:ext cx="3788578" cy="754971"/>
            <a:chOff x="0" y="0"/>
            <a:chExt cx="5051438" cy="1006627"/>
          </a:xfrm>
        </p:grpSpPr>
        <p:sp>
          <p:nvSpPr>
            <p:cNvPr name="Freeform 29" id="29"/>
            <p:cNvSpPr/>
            <p:nvPr/>
          </p:nvSpPr>
          <p:spPr>
            <a:xfrm flipH="false" flipV="false" rot="0">
              <a:off x="0" y="0"/>
              <a:ext cx="5051434" cy="1006626"/>
            </a:xfrm>
            <a:custGeom>
              <a:avLst/>
              <a:gdLst/>
              <a:ahLst/>
              <a:cxnLst/>
              <a:rect r="r" b="b" t="t" l="l"/>
              <a:pathLst>
                <a:path h="1006626" w="5051434">
                  <a:moveTo>
                    <a:pt x="0" y="0"/>
                  </a:moveTo>
                  <a:lnTo>
                    <a:pt x="5051434" y="0"/>
                  </a:lnTo>
                  <a:lnTo>
                    <a:pt x="5051434" y="1006626"/>
                  </a:lnTo>
                  <a:lnTo>
                    <a:pt x="0" y="1006626"/>
                  </a:lnTo>
                  <a:close/>
                </a:path>
              </a:pathLst>
            </a:custGeom>
            <a:blipFill>
              <a:blip r:embed="rId9">
                <a:alphaModFix amt="0"/>
              </a:blip>
              <a:stretch>
                <a:fillRect l="0" t="-47779" r="0" b="-47779"/>
              </a:stretch>
            </a:blipFill>
          </p:spPr>
        </p:sp>
        <p:sp>
          <p:nvSpPr>
            <p:cNvPr name="TextBox 30" id="30"/>
            <p:cNvSpPr txBox="true"/>
            <p:nvPr/>
          </p:nvSpPr>
          <p:spPr>
            <a:xfrm>
              <a:off x="0" y="-19050"/>
              <a:ext cx="5051438" cy="1025677"/>
            </a:xfrm>
            <a:prstGeom prst="rect">
              <a:avLst/>
            </a:prstGeom>
          </p:spPr>
          <p:txBody>
            <a:bodyPr anchor="ctr" rtlCol="false" tIns="0" lIns="0" bIns="0" rIns="0"/>
            <a:lstStyle/>
            <a:p>
              <a:pPr algn="ctr">
                <a:lnSpc>
                  <a:spcPts val="2161"/>
                </a:lnSpc>
              </a:pPr>
              <a:r>
                <a:rPr lang="en-US" sz="1801">
                  <a:solidFill>
                    <a:srgbClr val="64748B"/>
                  </a:solidFill>
                  <a:latin typeface="Poppins"/>
                  <a:ea typeface="Poppins"/>
                  <a:cs typeface="Poppins"/>
                  <a:sym typeface="Poppins"/>
                </a:rPr>
                <a:t>4. CHECK THE FIT</a:t>
              </a:r>
            </a:p>
          </p:txBody>
        </p:sp>
      </p:grpSp>
      <p:grpSp>
        <p:nvGrpSpPr>
          <p:cNvPr name="Group 31" id="31"/>
          <p:cNvGrpSpPr/>
          <p:nvPr/>
        </p:nvGrpSpPr>
        <p:grpSpPr>
          <a:xfrm rot="0">
            <a:off x="792204" y="3591992"/>
            <a:ext cx="9196902" cy="4667088"/>
            <a:chOff x="0" y="0"/>
            <a:chExt cx="12262536" cy="6222784"/>
          </a:xfrm>
        </p:grpSpPr>
        <p:sp>
          <p:nvSpPr>
            <p:cNvPr name="Freeform 32" id="32"/>
            <p:cNvSpPr/>
            <p:nvPr/>
          </p:nvSpPr>
          <p:spPr>
            <a:xfrm flipH="false" flipV="false" rot="0">
              <a:off x="0" y="0"/>
              <a:ext cx="12262485" cy="6222746"/>
            </a:xfrm>
            <a:custGeom>
              <a:avLst/>
              <a:gdLst/>
              <a:ahLst/>
              <a:cxnLst/>
              <a:rect r="r" b="b" t="t" l="l"/>
              <a:pathLst>
                <a:path h="6222746" w="12262485">
                  <a:moveTo>
                    <a:pt x="0" y="164719"/>
                  </a:moveTo>
                  <a:cubicBezTo>
                    <a:pt x="0" y="73787"/>
                    <a:pt x="73787" y="0"/>
                    <a:pt x="164719" y="0"/>
                  </a:cubicBezTo>
                  <a:lnTo>
                    <a:pt x="12097766" y="0"/>
                  </a:lnTo>
                  <a:cubicBezTo>
                    <a:pt x="12188698" y="0"/>
                    <a:pt x="12262485" y="73787"/>
                    <a:pt x="12262485" y="164719"/>
                  </a:cubicBezTo>
                  <a:lnTo>
                    <a:pt x="12262485" y="6058027"/>
                  </a:lnTo>
                  <a:cubicBezTo>
                    <a:pt x="12262485" y="6148959"/>
                    <a:pt x="12188698" y="6222746"/>
                    <a:pt x="12097766" y="6222746"/>
                  </a:cubicBezTo>
                  <a:lnTo>
                    <a:pt x="164719" y="6222746"/>
                  </a:lnTo>
                  <a:cubicBezTo>
                    <a:pt x="73787" y="6222746"/>
                    <a:pt x="0" y="6149086"/>
                    <a:pt x="0" y="6058027"/>
                  </a:cubicBezTo>
                  <a:close/>
                </a:path>
              </a:pathLst>
            </a:custGeom>
            <a:solidFill>
              <a:srgbClr val="FFFFFF"/>
            </a:solidFill>
          </p:spPr>
        </p:sp>
      </p:grpSp>
      <p:sp>
        <p:nvSpPr>
          <p:cNvPr name="TextBox 33" id="33"/>
          <p:cNvSpPr txBox="true"/>
          <p:nvPr/>
        </p:nvSpPr>
        <p:spPr>
          <a:xfrm rot="0">
            <a:off x="1066743" y="3761746"/>
            <a:ext cx="8647833" cy="4360059"/>
          </a:xfrm>
          <a:prstGeom prst="rect">
            <a:avLst/>
          </a:prstGeom>
        </p:spPr>
        <p:txBody>
          <a:bodyPr anchor="t" rtlCol="false" tIns="0" lIns="0" bIns="0" rIns="0">
            <a:spAutoFit/>
          </a:bodyPr>
          <a:lstStyle/>
          <a:p>
            <a:pPr algn="l">
              <a:lnSpc>
                <a:spcPts val="3512"/>
              </a:lnSpc>
            </a:pPr>
            <a:r>
              <a:rPr lang="en-US" sz="2251">
                <a:solidFill>
                  <a:srgbClr val="475569"/>
                </a:solidFill>
                <a:latin typeface="Poppins"/>
                <a:ea typeface="Poppins"/>
                <a:cs typeface="Poppins"/>
                <a:sym typeface="Poppins"/>
              </a:rPr>
              <a:t>July: 1,176 deliveries. August: 1,194 (+18, +1.5%). September: 1,230 (+36, +3.0%). Fitting a straight line through the three points gives a rate of change of about +27 deliveries per month, starting from a baseline of about 1,146. That single number, +27 a month, is the entire trend. Everything the forecast predicts from here is just that line, drawn further to the right.</a:t>
            </a:r>
          </a:p>
        </p:txBody>
      </p:sp>
      <p:grpSp>
        <p:nvGrpSpPr>
          <p:cNvPr name="Group 34" id="34"/>
          <p:cNvGrpSpPr/>
          <p:nvPr/>
        </p:nvGrpSpPr>
        <p:grpSpPr>
          <a:xfrm rot="0">
            <a:off x="10263645" y="3591992"/>
            <a:ext cx="6177029" cy="4667088"/>
            <a:chOff x="0" y="0"/>
            <a:chExt cx="8236039" cy="6222784"/>
          </a:xfrm>
        </p:grpSpPr>
        <p:sp>
          <p:nvSpPr>
            <p:cNvPr name="Freeform 35" id="35"/>
            <p:cNvSpPr/>
            <p:nvPr/>
          </p:nvSpPr>
          <p:spPr>
            <a:xfrm flipH="false" flipV="false" rot="0">
              <a:off x="0" y="0"/>
              <a:ext cx="8236076" cy="6222746"/>
            </a:xfrm>
            <a:custGeom>
              <a:avLst/>
              <a:gdLst/>
              <a:ahLst/>
              <a:cxnLst/>
              <a:rect r="r" b="b" t="t" l="l"/>
              <a:pathLst>
                <a:path h="6222746" w="8236076">
                  <a:moveTo>
                    <a:pt x="0" y="164719"/>
                  </a:moveTo>
                  <a:cubicBezTo>
                    <a:pt x="0" y="73787"/>
                    <a:pt x="73787" y="0"/>
                    <a:pt x="164719" y="0"/>
                  </a:cubicBezTo>
                  <a:lnTo>
                    <a:pt x="8071358" y="0"/>
                  </a:lnTo>
                  <a:cubicBezTo>
                    <a:pt x="8162289" y="0"/>
                    <a:pt x="8236076" y="73787"/>
                    <a:pt x="8236076" y="164719"/>
                  </a:cubicBezTo>
                  <a:lnTo>
                    <a:pt x="8236076" y="6058027"/>
                  </a:lnTo>
                  <a:cubicBezTo>
                    <a:pt x="8236076" y="6148959"/>
                    <a:pt x="8162289" y="6222746"/>
                    <a:pt x="8071358" y="6222746"/>
                  </a:cubicBezTo>
                  <a:lnTo>
                    <a:pt x="164719" y="6222746"/>
                  </a:lnTo>
                  <a:cubicBezTo>
                    <a:pt x="73787" y="6222746"/>
                    <a:pt x="0" y="6149086"/>
                    <a:pt x="0" y="6058027"/>
                  </a:cubicBezTo>
                  <a:close/>
                </a:path>
              </a:pathLst>
            </a:custGeom>
            <a:solidFill>
              <a:srgbClr val="F4F7F7"/>
            </a:solidFill>
          </p:spPr>
        </p:sp>
      </p:grpSp>
      <p:grpSp>
        <p:nvGrpSpPr>
          <p:cNvPr name="Group 36" id="36"/>
          <p:cNvGrpSpPr/>
          <p:nvPr/>
        </p:nvGrpSpPr>
        <p:grpSpPr>
          <a:xfrm rot="0">
            <a:off x="10263645" y="3591992"/>
            <a:ext cx="123539" cy="4667088"/>
            <a:chOff x="0" y="0"/>
            <a:chExt cx="164719" cy="6222784"/>
          </a:xfrm>
        </p:grpSpPr>
        <p:sp>
          <p:nvSpPr>
            <p:cNvPr name="Freeform 37" id="37"/>
            <p:cNvSpPr/>
            <p:nvPr/>
          </p:nvSpPr>
          <p:spPr>
            <a:xfrm flipH="false" flipV="false" rot="0">
              <a:off x="0" y="0"/>
              <a:ext cx="164719" cy="6222746"/>
            </a:xfrm>
            <a:custGeom>
              <a:avLst/>
              <a:gdLst/>
              <a:ahLst/>
              <a:cxnLst/>
              <a:rect r="r" b="b" t="t" l="l"/>
              <a:pathLst>
                <a:path h="6222746" w="164719">
                  <a:moveTo>
                    <a:pt x="0" y="0"/>
                  </a:moveTo>
                  <a:lnTo>
                    <a:pt x="164719" y="0"/>
                  </a:lnTo>
                  <a:lnTo>
                    <a:pt x="164719" y="6222746"/>
                  </a:lnTo>
                  <a:lnTo>
                    <a:pt x="0" y="6222746"/>
                  </a:lnTo>
                  <a:close/>
                </a:path>
              </a:pathLst>
            </a:custGeom>
            <a:solidFill>
              <a:srgbClr val="387F7F"/>
            </a:solidFill>
          </p:spPr>
        </p:sp>
      </p:grpSp>
      <p:sp>
        <p:nvSpPr>
          <p:cNvPr name="TextBox 38" id="38"/>
          <p:cNvSpPr txBox="true"/>
          <p:nvPr/>
        </p:nvSpPr>
        <p:spPr>
          <a:xfrm rot="0">
            <a:off x="10675449" y="3780796"/>
            <a:ext cx="5490686" cy="497529"/>
          </a:xfrm>
          <a:prstGeom prst="rect">
            <a:avLst/>
          </a:prstGeom>
        </p:spPr>
        <p:txBody>
          <a:bodyPr anchor="t" rtlCol="false" tIns="0" lIns="0" bIns="0" rIns="0">
            <a:spAutoFit/>
          </a:bodyPr>
          <a:lstStyle/>
          <a:p>
            <a:pPr algn="l">
              <a:lnSpc>
                <a:spcPts val="3044"/>
              </a:lnSpc>
            </a:pPr>
            <a:r>
              <a:rPr lang="en-US" sz="1951" b="true">
                <a:solidFill>
                  <a:srgbClr val="387F7F"/>
                </a:solidFill>
                <a:latin typeface="Poppins Bold"/>
                <a:ea typeface="Poppins Bold"/>
                <a:cs typeface="Poppins Bold"/>
                <a:sym typeface="Poppins Bold"/>
              </a:rPr>
              <a:t>WORTH NOTICING</a:t>
            </a:r>
          </a:p>
        </p:txBody>
      </p:sp>
      <p:sp>
        <p:nvSpPr>
          <p:cNvPr name="TextBox 39" id="39"/>
          <p:cNvSpPr txBox="true"/>
          <p:nvPr/>
        </p:nvSpPr>
        <p:spPr>
          <a:xfrm rot="0">
            <a:off x="10675449" y="4310815"/>
            <a:ext cx="5490686" cy="3673726"/>
          </a:xfrm>
          <a:prstGeom prst="rect">
            <a:avLst/>
          </a:prstGeom>
        </p:spPr>
        <p:txBody>
          <a:bodyPr anchor="t" rtlCol="false" tIns="0" lIns="0" bIns="0" rIns="0">
            <a:spAutoFit/>
          </a:bodyPr>
          <a:lstStyle/>
          <a:p>
            <a:pPr algn="l">
              <a:lnSpc>
                <a:spcPts val="3512"/>
              </a:lnSpc>
            </a:pPr>
            <a:r>
              <a:rPr lang="en-US" sz="2251">
                <a:solidFill>
                  <a:srgbClr val="475569"/>
                </a:solidFill>
                <a:latin typeface="Poppins"/>
                <a:ea typeface="Poppins"/>
                <a:cs typeface="Poppins"/>
                <a:sym typeface="Poppins"/>
              </a:rPr>
              <a:t>Growth was not steady: +18 in the first step, +36 in the second. The straight line smooths that out to a flat +27 a month. Smoothing is exactly what a trend line does -- and exactly what step 4 has to check.</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8202216" cy="771525"/>
          </a:xfrm>
          <a:prstGeom prst="rect">
            <a:avLst/>
          </a:prstGeom>
        </p:spPr>
        <p:txBody>
          <a:bodyPr anchor="t" rtlCol="false" tIns="0" lIns="0" bIns="0" rIns="0">
            <a:spAutoFit/>
          </a:bodyPr>
          <a:lstStyle/>
          <a:p>
            <a:pPr algn="l">
              <a:lnSpc>
                <a:spcPts val="5760"/>
              </a:lnSpc>
            </a:pPr>
            <a:r>
              <a:rPr lang="en-US" sz="4800">
                <a:solidFill>
                  <a:srgbClr val="388080"/>
                </a:solidFill>
                <a:latin typeface="Poppins"/>
                <a:ea typeface="Poppins"/>
                <a:cs typeface="Poppins"/>
                <a:sym typeface="Poppins"/>
              </a:rPr>
              <a:t>R</a:t>
            </a:r>
            <a:r>
              <a:rPr lang="en-US" sz="4800">
                <a:solidFill>
                  <a:srgbClr val="388080"/>
                </a:solidFill>
                <a:latin typeface="Poppins"/>
                <a:ea typeface="Poppins"/>
                <a:cs typeface="Poppins"/>
                <a:sym typeface="Poppins"/>
              </a:rPr>
              <a:t>eading the fit's own errors</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52500" y="2436362"/>
            <a:ext cx="14893500" cy="4598451"/>
            <a:chOff x="0" y="0"/>
            <a:chExt cx="19857999" cy="6131268"/>
          </a:xfrm>
        </p:grpSpPr>
        <p:sp>
          <p:nvSpPr>
            <p:cNvPr name="Freeform 12" id="12"/>
            <p:cNvSpPr/>
            <p:nvPr/>
          </p:nvSpPr>
          <p:spPr>
            <a:xfrm flipH="false" flipV="false" rot="0">
              <a:off x="0" y="0"/>
              <a:ext cx="19857974" cy="6131179"/>
            </a:xfrm>
            <a:custGeom>
              <a:avLst/>
              <a:gdLst/>
              <a:ahLst/>
              <a:cxnLst/>
              <a:rect r="r" b="b" t="t" l="l"/>
              <a:pathLst>
                <a:path h="6131179" w="19857974">
                  <a:moveTo>
                    <a:pt x="0" y="164719"/>
                  </a:moveTo>
                  <a:cubicBezTo>
                    <a:pt x="0" y="73787"/>
                    <a:pt x="73787" y="0"/>
                    <a:pt x="164719" y="0"/>
                  </a:cubicBezTo>
                  <a:lnTo>
                    <a:pt x="19693255" y="0"/>
                  </a:lnTo>
                  <a:cubicBezTo>
                    <a:pt x="19784188" y="0"/>
                    <a:pt x="19857974" y="73787"/>
                    <a:pt x="19857974" y="164719"/>
                  </a:cubicBezTo>
                  <a:lnTo>
                    <a:pt x="19857974" y="5966460"/>
                  </a:lnTo>
                  <a:cubicBezTo>
                    <a:pt x="19857974" y="6057392"/>
                    <a:pt x="19784188" y="6131179"/>
                    <a:pt x="19693255" y="6131179"/>
                  </a:cubicBezTo>
                  <a:lnTo>
                    <a:pt x="164719" y="6131179"/>
                  </a:lnTo>
                  <a:cubicBezTo>
                    <a:pt x="73787" y="6131306"/>
                    <a:pt x="0" y="6057519"/>
                    <a:pt x="0" y="5966460"/>
                  </a:cubicBezTo>
                  <a:close/>
                </a:path>
              </a:pathLst>
            </a:custGeom>
            <a:solidFill>
              <a:srgbClr val="FFFFFF"/>
            </a:solidFill>
          </p:spPr>
        </p:sp>
      </p:grpSp>
      <p:sp>
        <p:nvSpPr>
          <p:cNvPr name="TextBox 13" id="13"/>
          <p:cNvSpPr txBox="true"/>
          <p:nvPr/>
        </p:nvSpPr>
        <p:spPr>
          <a:xfrm rot="0">
            <a:off x="1501569" y="2792968"/>
            <a:ext cx="13795362" cy="3898678"/>
          </a:xfrm>
          <a:prstGeom prst="rect">
            <a:avLst/>
          </a:prstGeom>
        </p:spPr>
        <p:txBody>
          <a:bodyPr anchor="t" rtlCol="false" tIns="0" lIns="0" bIns="0" rIns="0">
            <a:spAutoFit/>
          </a:bodyPr>
          <a:lstStyle/>
          <a:p>
            <a:pPr algn="l">
              <a:lnSpc>
                <a:spcPts val="4215"/>
              </a:lnSpc>
            </a:pPr>
            <a:r>
              <a:rPr lang="en-US" sz="2702">
                <a:solidFill>
                  <a:srgbClr val="475569"/>
                </a:solidFill>
                <a:latin typeface="Poppins"/>
                <a:ea typeface="Poppins"/>
                <a:cs typeface="Poppins"/>
                <a:sym typeface="Poppins"/>
              </a:rPr>
              <a:t>Compare the straight line's prediction for each month against what actually happened. For SwiftRoute, the line predicts 1,173, 1,200 and 1,227 for July, August and September; the real figures were 1,176, 1,194 and 1,230, off by 3, 6 and 3 deliveries. Small misses, on only three data points, from a business that is genuinely accelerating rather than growing at a flat rate. That combination, a short history and a real acceleration, is precisely the situation where a flat straight line understates what could keep happening, and where naming the uncertainty matters more than sharpening the point estimate.</a:t>
            </a:r>
          </a:p>
        </p:txBody>
      </p:sp>
      <p:grpSp>
        <p:nvGrpSpPr>
          <p:cNvPr name="Group 14" id="14"/>
          <p:cNvGrpSpPr/>
          <p:nvPr/>
        </p:nvGrpSpPr>
        <p:grpSpPr>
          <a:xfrm rot="0">
            <a:off x="952500" y="7377979"/>
            <a:ext cx="14893500" cy="1372676"/>
            <a:chOff x="0" y="0"/>
            <a:chExt cx="19857999" cy="1830235"/>
          </a:xfrm>
        </p:grpSpPr>
        <p:sp>
          <p:nvSpPr>
            <p:cNvPr name="Freeform 15" id="15"/>
            <p:cNvSpPr/>
            <p:nvPr/>
          </p:nvSpPr>
          <p:spPr>
            <a:xfrm flipH="false" flipV="false" rot="0">
              <a:off x="0" y="0"/>
              <a:ext cx="19857974" cy="1830197"/>
            </a:xfrm>
            <a:custGeom>
              <a:avLst/>
              <a:gdLst/>
              <a:ahLst/>
              <a:cxnLst/>
              <a:rect r="r" b="b" t="t" l="l"/>
              <a:pathLst>
                <a:path h="1830197" w="19857974">
                  <a:moveTo>
                    <a:pt x="0" y="164719"/>
                  </a:moveTo>
                  <a:cubicBezTo>
                    <a:pt x="0" y="73787"/>
                    <a:pt x="73787" y="0"/>
                    <a:pt x="164719" y="0"/>
                  </a:cubicBezTo>
                  <a:lnTo>
                    <a:pt x="19693255" y="0"/>
                  </a:lnTo>
                  <a:cubicBezTo>
                    <a:pt x="19784188" y="0"/>
                    <a:pt x="19857974" y="73787"/>
                    <a:pt x="19857974" y="164719"/>
                  </a:cubicBezTo>
                  <a:lnTo>
                    <a:pt x="19857974" y="1665478"/>
                  </a:lnTo>
                  <a:cubicBezTo>
                    <a:pt x="19857974" y="1756410"/>
                    <a:pt x="19784188" y="1830197"/>
                    <a:pt x="19693255" y="1830197"/>
                  </a:cubicBezTo>
                  <a:lnTo>
                    <a:pt x="164719" y="1830197"/>
                  </a:lnTo>
                  <a:cubicBezTo>
                    <a:pt x="73787" y="1830197"/>
                    <a:pt x="0" y="1756537"/>
                    <a:pt x="0" y="1665478"/>
                  </a:cubicBezTo>
                  <a:close/>
                </a:path>
              </a:pathLst>
            </a:custGeom>
            <a:solidFill>
              <a:srgbClr val="F4F7F7"/>
            </a:solidFill>
          </p:spPr>
        </p:sp>
      </p:grpSp>
      <p:grpSp>
        <p:nvGrpSpPr>
          <p:cNvPr name="Group 16" id="16"/>
          <p:cNvGrpSpPr/>
          <p:nvPr/>
        </p:nvGrpSpPr>
        <p:grpSpPr>
          <a:xfrm rot="0">
            <a:off x="952500" y="7377979"/>
            <a:ext cx="82363" cy="1372676"/>
            <a:chOff x="0" y="0"/>
            <a:chExt cx="109817" cy="1830235"/>
          </a:xfrm>
        </p:grpSpPr>
        <p:sp>
          <p:nvSpPr>
            <p:cNvPr name="Freeform 17" id="17"/>
            <p:cNvSpPr/>
            <p:nvPr/>
          </p:nvSpPr>
          <p:spPr>
            <a:xfrm flipH="false" flipV="false" rot="0">
              <a:off x="0" y="0"/>
              <a:ext cx="109855" cy="1830197"/>
            </a:xfrm>
            <a:custGeom>
              <a:avLst/>
              <a:gdLst/>
              <a:ahLst/>
              <a:cxnLst/>
              <a:rect r="r" b="b" t="t" l="l"/>
              <a:pathLst>
                <a:path h="1830197" w="109855">
                  <a:moveTo>
                    <a:pt x="0" y="0"/>
                  </a:moveTo>
                  <a:lnTo>
                    <a:pt x="109855" y="0"/>
                  </a:lnTo>
                  <a:lnTo>
                    <a:pt x="109855" y="1830197"/>
                  </a:lnTo>
                  <a:lnTo>
                    <a:pt x="0" y="1830197"/>
                  </a:lnTo>
                  <a:close/>
                </a:path>
              </a:pathLst>
            </a:custGeom>
            <a:solidFill>
              <a:srgbClr val="387F7F"/>
            </a:solidFill>
          </p:spPr>
        </p:sp>
      </p:grpSp>
      <p:grpSp>
        <p:nvGrpSpPr>
          <p:cNvPr name="Group 18" id="18"/>
          <p:cNvGrpSpPr/>
          <p:nvPr/>
        </p:nvGrpSpPr>
        <p:grpSpPr>
          <a:xfrm rot="0">
            <a:off x="1501569" y="7377979"/>
            <a:ext cx="13795362" cy="1372676"/>
            <a:chOff x="0" y="0"/>
            <a:chExt cx="18393816" cy="1830235"/>
          </a:xfrm>
        </p:grpSpPr>
        <p:sp>
          <p:nvSpPr>
            <p:cNvPr name="Freeform 19" id="19"/>
            <p:cNvSpPr/>
            <p:nvPr/>
          </p:nvSpPr>
          <p:spPr>
            <a:xfrm flipH="false" flipV="false" rot="0">
              <a:off x="0" y="0"/>
              <a:ext cx="18393811" cy="1830230"/>
            </a:xfrm>
            <a:custGeom>
              <a:avLst/>
              <a:gdLst/>
              <a:ahLst/>
              <a:cxnLst/>
              <a:rect r="r" b="b" t="t" l="l"/>
              <a:pathLst>
                <a:path h="1830230" w="18393811">
                  <a:moveTo>
                    <a:pt x="0" y="0"/>
                  </a:moveTo>
                  <a:lnTo>
                    <a:pt x="18393811" y="0"/>
                  </a:lnTo>
                  <a:lnTo>
                    <a:pt x="18393811" y="1830230"/>
                  </a:lnTo>
                  <a:lnTo>
                    <a:pt x="0" y="1830230"/>
                  </a:lnTo>
                  <a:close/>
                </a:path>
              </a:pathLst>
            </a:custGeom>
            <a:blipFill>
              <a:blip r:embed="rId9">
                <a:alphaModFix amt="0"/>
              </a:blip>
              <a:stretch>
                <a:fillRect l="0" t="-145824" r="0" b="-145824"/>
              </a:stretch>
            </a:blipFill>
          </p:spPr>
        </p:sp>
        <p:sp>
          <p:nvSpPr>
            <p:cNvPr name="TextBox 20" id="20"/>
            <p:cNvSpPr txBox="true"/>
            <p:nvPr/>
          </p:nvSpPr>
          <p:spPr>
            <a:xfrm>
              <a:off x="0" y="-104775"/>
              <a:ext cx="18393816" cy="1935010"/>
            </a:xfrm>
            <a:prstGeom prst="rect">
              <a:avLst/>
            </a:prstGeom>
          </p:spPr>
          <p:txBody>
            <a:bodyPr anchor="ctr" rtlCol="false" tIns="0" lIns="0" bIns="0" rIns="0"/>
            <a:lstStyle/>
            <a:p>
              <a:pPr algn="l">
                <a:lnSpc>
                  <a:spcPts val="3746"/>
                </a:lnSpc>
              </a:pPr>
              <a:r>
                <a:rPr lang="en-US" sz="2401" b="true">
                  <a:solidFill>
                    <a:srgbClr val="387F7F"/>
                  </a:solidFill>
                  <a:latin typeface="Poppins Bold"/>
                  <a:ea typeface="Poppins Bold"/>
                  <a:cs typeface="Poppins Bold"/>
                  <a:sym typeface="Poppins Bold"/>
                </a:rPr>
                <a:t>Three data points is barely enough to see a trend, and nowhere near enough to see a season.</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301840" cy="10295039"/>
            <a:chOff x="0" y="0"/>
            <a:chExt cx="24402453" cy="13726719"/>
          </a:xfrm>
        </p:grpSpPr>
        <p:sp>
          <p:nvSpPr>
            <p:cNvPr name="Freeform 4" id="4"/>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20494A"/>
            </a:solidFill>
          </p:spPr>
        </p:sp>
      </p:grpSp>
      <p:grpSp>
        <p:nvGrpSpPr>
          <p:cNvPr name="Group 5" id="5"/>
          <p:cNvGrpSpPr/>
          <p:nvPr/>
        </p:nvGrpSpPr>
        <p:grpSpPr>
          <a:xfrm rot="0">
            <a:off x="851059" y="480431"/>
            <a:ext cx="4392549" cy="2882608"/>
            <a:chOff x="0" y="0"/>
            <a:chExt cx="5856732" cy="3843477"/>
          </a:xfrm>
        </p:grpSpPr>
        <p:sp>
          <p:nvSpPr>
            <p:cNvPr name="Freeform 6" id="6"/>
            <p:cNvSpPr/>
            <p:nvPr/>
          </p:nvSpPr>
          <p:spPr>
            <a:xfrm flipH="false" flipV="false" rot="0">
              <a:off x="0" y="0"/>
              <a:ext cx="5856736" cy="3843483"/>
            </a:xfrm>
            <a:custGeom>
              <a:avLst/>
              <a:gdLst/>
              <a:ahLst/>
              <a:cxnLst/>
              <a:rect r="r" b="b" t="t" l="l"/>
              <a:pathLst>
                <a:path h="3843483" w="5856736">
                  <a:moveTo>
                    <a:pt x="0" y="0"/>
                  </a:moveTo>
                  <a:lnTo>
                    <a:pt x="5856736" y="0"/>
                  </a:lnTo>
                  <a:lnTo>
                    <a:pt x="5856736" y="3843483"/>
                  </a:lnTo>
                  <a:lnTo>
                    <a:pt x="0" y="3843483"/>
                  </a:lnTo>
                  <a:close/>
                </a:path>
              </a:pathLst>
            </a:custGeom>
            <a:blipFill>
              <a:blip r:embed="rId4">
                <a:alphaModFix amt="0"/>
              </a:blip>
              <a:stretch>
                <a:fillRect l="-34199" t="0" r="-34199" b="0"/>
              </a:stretch>
            </a:blipFill>
          </p:spPr>
        </p:sp>
        <p:sp>
          <p:nvSpPr>
            <p:cNvPr name="TextBox 7" id="7"/>
            <p:cNvSpPr txBox="true"/>
            <p:nvPr/>
          </p:nvSpPr>
          <p:spPr>
            <a:xfrm>
              <a:off x="0" y="-190500"/>
              <a:ext cx="5856732" cy="4033977"/>
            </a:xfrm>
            <a:prstGeom prst="rect">
              <a:avLst/>
            </a:prstGeom>
          </p:spPr>
          <p:txBody>
            <a:bodyPr anchor="ctr" rtlCol="false" tIns="0" lIns="0" bIns="0" rIns="0"/>
            <a:lstStyle/>
            <a:p>
              <a:pPr algn="l">
                <a:lnSpc>
                  <a:spcPts val="23418"/>
                </a:lnSpc>
              </a:pPr>
              <a:r>
                <a:rPr lang="en-US" sz="19515" b="true">
                  <a:solidFill>
                    <a:srgbClr val="2F6364"/>
                  </a:solidFill>
                  <a:latin typeface="Poppins Bold"/>
                  <a:ea typeface="Poppins Bold"/>
                  <a:cs typeface="Poppins Bold"/>
                  <a:sym typeface="Poppins Bold"/>
                </a:rPr>
                <a:t>02</a:t>
              </a:r>
            </a:p>
          </p:txBody>
        </p:sp>
      </p:grpSp>
      <p:grpSp>
        <p:nvGrpSpPr>
          <p:cNvPr name="Group 8" id="8"/>
          <p:cNvGrpSpPr/>
          <p:nvPr/>
        </p:nvGrpSpPr>
        <p:grpSpPr>
          <a:xfrm rot="0">
            <a:off x="1070686" y="3733667"/>
            <a:ext cx="10157774" cy="466706"/>
            <a:chOff x="0" y="0"/>
            <a:chExt cx="13543699" cy="622275"/>
          </a:xfrm>
        </p:grpSpPr>
        <p:sp>
          <p:nvSpPr>
            <p:cNvPr name="Freeform 9" id="9"/>
            <p:cNvSpPr/>
            <p:nvPr/>
          </p:nvSpPr>
          <p:spPr>
            <a:xfrm flipH="false" flipV="false" rot="0">
              <a:off x="0" y="0"/>
              <a:ext cx="13543700" cy="622278"/>
            </a:xfrm>
            <a:custGeom>
              <a:avLst/>
              <a:gdLst/>
              <a:ahLst/>
              <a:cxnLst/>
              <a:rect r="r" b="b" t="t" l="l"/>
              <a:pathLst>
                <a:path h="622278" w="13543700">
                  <a:moveTo>
                    <a:pt x="0" y="0"/>
                  </a:moveTo>
                  <a:lnTo>
                    <a:pt x="13543700" y="0"/>
                  </a:lnTo>
                  <a:lnTo>
                    <a:pt x="13543700" y="622278"/>
                  </a:lnTo>
                  <a:lnTo>
                    <a:pt x="0" y="622278"/>
                  </a:lnTo>
                  <a:close/>
                </a:path>
              </a:pathLst>
            </a:custGeom>
            <a:blipFill>
              <a:blip r:embed="rId4">
                <a:alphaModFix amt="0"/>
              </a:blip>
              <a:stretch>
                <a:fillRect l="0" t="-374086" r="0" b="-374085"/>
              </a:stretch>
            </a:blipFill>
          </p:spPr>
        </p:sp>
        <p:sp>
          <p:nvSpPr>
            <p:cNvPr name="TextBox 10" id="10"/>
            <p:cNvSpPr txBox="true"/>
            <p:nvPr/>
          </p:nvSpPr>
          <p:spPr>
            <a:xfrm>
              <a:off x="0" y="-19050"/>
              <a:ext cx="13543699" cy="641325"/>
            </a:xfrm>
            <a:prstGeom prst="rect">
              <a:avLst/>
            </a:prstGeom>
          </p:spPr>
          <p:txBody>
            <a:bodyPr anchor="ctr" rtlCol="false" tIns="0" lIns="0" bIns="0" rIns="0"/>
            <a:lstStyle/>
            <a:p>
              <a:pPr algn="l">
                <a:lnSpc>
                  <a:spcPts val="2341"/>
                </a:lnSpc>
              </a:pPr>
              <a:r>
                <a:rPr lang="en-US" b="true" sz="1951" spc="375">
                  <a:solidFill>
                    <a:srgbClr val="8FBEBE"/>
                  </a:solidFill>
                  <a:latin typeface="Poppins Bold"/>
                  <a:ea typeface="Poppins Bold"/>
                  <a:cs typeface="Poppins Bold"/>
                  <a:sym typeface="Poppins Bold"/>
                </a:rPr>
                <a:t>PART TWO</a:t>
              </a:r>
            </a:p>
          </p:txBody>
        </p:sp>
      </p:grpSp>
      <p:grpSp>
        <p:nvGrpSpPr>
          <p:cNvPr name="Group 11" id="11"/>
          <p:cNvGrpSpPr/>
          <p:nvPr/>
        </p:nvGrpSpPr>
        <p:grpSpPr>
          <a:xfrm rot="0">
            <a:off x="1070686" y="4365098"/>
            <a:ext cx="1853108" cy="116681"/>
            <a:chOff x="0" y="0"/>
            <a:chExt cx="2470810" cy="155575"/>
          </a:xfrm>
        </p:grpSpPr>
        <p:sp>
          <p:nvSpPr>
            <p:cNvPr name="Freeform 12" id="12"/>
            <p:cNvSpPr/>
            <p:nvPr/>
          </p:nvSpPr>
          <p:spPr>
            <a:xfrm flipH="false" flipV="false" rot="0">
              <a:off x="0" y="0"/>
              <a:ext cx="2470785" cy="155575"/>
            </a:xfrm>
            <a:custGeom>
              <a:avLst/>
              <a:gdLst/>
              <a:ahLst/>
              <a:cxnLst/>
              <a:rect r="r" b="b" t="t" l="l"/>
              <a:pathLst>
                <a:path h="155575" w="2470785">
                  <a:moveTo>
                    <a:pt x="0" y="0"/>
                  </a:moveTo>
                  <a:lnTo>
                    <a:pt x="2470785" y="0"/>
                  </a:lnTo>
                  <a:lnTo>
                    <a:pt x="2470785" y="155575"/>
                  </a:lnTo>
                  <a:lnTo>
                    <a:pt x="0" y="155575"/>
                  </a:lnTo>
                  <a:close/>
                </a:path>
              </a:pathLst>
            </a:custGeom>
            <a:solidFill>
              <a:srgbClr val="387F7F"/>
            </a:solidFill>
          </p:spPr>
        </p:sp>
      </p:grpSp>
      <p:grpSp>
        <p:nvGrpSpPr>
          <p:cNvPr name="Group 13" id="13"/>
          <p:cNvGrpSpPr/>
          <p:nvPr/>
        </p:nvGrpSpPr>
        <p:grpSpPr>
          <a:xfrm rot="0">
            <a:off x="1070686" y="4735716"/>
            <a:ext cx="11118647" cy="2196274"/>
            <a:chOff x="0" y="0"/>
            <a:chExt cx="14824862" cy="2928366"/>
          </a:xfrm>
        </p:grpSpPr>
        <p:sp>
          <p:nvSpPr>
            <p:cNvPr name="Freeform 14" id="14"/>
            <p:cNvSpPr/>
            <p:nvPr/>
          </p:nvSpPr>
          <p:spPr>
            <a:xfrm flipH="false" flipV="false" rot="0">
              <a:off x="0" y="0"/>
              <a:ext cx="14824863" cy="2928368"/>
            </a:xfrm>
            <a:custGeom>
              <a:avLst/>
              <a:gdLst/>
              <a:ahLst/>
              <a:cxnLst/>
              <a:rect r="r" b="b" t="t" l="l"/>
              <a:pathLst>
                <a:path h="2928368" w="14824863">
                  <a:moveTo>
                    <a:pt x="0" y="0"/>
                  </a:moveTo>
                  <a:lnTo>
                    <a:pt x="14824863" y="0"/>
                  </a:lnTo>
                  <a:lnTo>
                    <a:pt x="14824863" y="2928368"/>
                  </a:lnTo>
                  <a:lnTo>
                    <a:pt x="0" y="2928368"/>
                  </a:lnTo>
                  <a:close/>
                </a:path>
              </a:pathLst>
            </a:custGeom>
            <a:blipFill>
              <a:blip r:embed="rId4">
                <a:alphaModFix amt="0"/>
              </a:blip>
              <a:stretch>
                <a:fillRect l="0" t="-48643" r="0" b="-48642"/>
              </a:stretch>
            </a:blipFill>
          </p:spPr>
        </p:sp>
        <p:sp>
          <p:nvSpPr>
            <p:cNvPr name="TextBox 15" id="15"/>
            <p:cNvSpPr txBox="true"/>
            <p:nvPr/>
          </p:nvSpPr>
          <p:spPr>
            <a:xfrm>
              <a:off x="0" y="-114300"/>
              <a:ext cx="14824862" cy="3042666"/>
            </a:xfrm>
            <a:prstGeom prst="rect">
              <a:avLst/>
            </a:prstGeom>
          </p:spPr>
          <p:txBody>
            <a:bodyPr anchor="ctr" rtlCol="false" tIns="0" lIns="0" bIns="0" rIns="0"/>
            <a:lstStyle/>
            <a:p>
              <a:pPr algn="l">
                <a:lnSpc>
                  <a:spcPts val="7003"/>
                </a:lnSpc>
              </a:pPr>
              <a:r>
                <a:rPr lang="en-US" sz="5404" b="true">
                  <a:solidFill>
                    <a:srgbClr val="FFFFFF"/>
                  </a:solidFill>
                  <a:latin typeface="Poppins Bold"/>
                  <a:ea typeface="Poppins Bold"/>
                  <a:cs typeface="Poppins Bold"/>
                  <a:sym typeface="Poppins Bold"/>
                </a:rPr>
                <a:t>Extending and stress-testing with AI</a:t>
              </a:r>
            </a:p>
          </p:txBody>
        </p:sp>
      </p:grpSp>
      <p:grpSp>
        <p:nvGrpSpPr>
          <p:cNvPr name="Group 16" id="16"/>
          <p:cNvGrpSpPr/>
          <p:nvPr/>
        </p:nvGrpSpPr>
        <p:grpSpPr>
          <a:xfrm rot="0">
            <a:off x="1125588" y="7405564"/>
            <a:ext cx="219627" cy="219627"/>
            <a:chOff x="0" y="0"/>
            <a:chExt cx="292837" cy="292837"/>
          </a:xfrm>
        </p:grpSpPr>
        <p:sp>
          <p:nvSpPr>
            <p:cNvPr name="Freeform 17" id="17"/>
            <p:cNvSpPr/>
            <p:nvPr/>
          </p:nvSpPr>
          <p:spPr>
            <a:xfrm flipH="false" flipV="false" rot="0">
              <a:off x="0" y="0"/>
              <a:ext cx="292862" cy="292862"/>
            </a:xfrm>
            <a:custGeom>
              <a:avLst/>
              <a:gdLst/>
              <a:ahLst/>
              <a:cxnLst/>
              <a:rect r="r" b="b" t="t" l="l"/>
              <a:pathLst>
                <a:path h="292862" w="292862">
                  <a:moveTo>
                    <a:pt x="0" y="146431"/>
                  </a:moveTo>
                  <a:cubicBezTo>
                    <a:pt x="0" y="65532"/>
                    <a:pt x="65532" y="0"/>
                    <a:pt x="146431" y="0"/>
                  </a:cubicBezTo>
                  <a:cubicBezTo>
                    <a:pt x="227330" y="0"/>
                    <a:pt x="292862" y="65532"/>
                    <a:pt x="292862" y="146431"/>
                  </a:cubicBezTo>
                  <a:cubicBezTo>
                    <a:pt x="292862" y="227330"/>
                    <a:pt x="227330" y="292862"/>
                    <a:pt x="146431" y="292862"/>
                  </a:cubicBezTo>
                  <a:cubicBezTo>
                    <a:pt x="65532" y="292862"/>
                    <a:pt x="0" y="227330"/>
                    <a:pt x="0" y="146431"/>
                  </a:cubicBezTo>
                  <a:close/>
                </a:path>
              </a:pathLst>
            </a:custGeom>
            <a:solidFill>
              <a:srgbClr val="387F7F"/>
            </a:solidFill>
          </p:spPr>
        </p:sp>
      </p:grpSp>
      <p:grpSp>
        <p:nvGrpSpPr>
          <p:cNvPr name="Group 18" id="18"/>
          <p:cNvGrpSpPr/>
          <p:nvPr/>
        </p:nvGrpSpPr>
        <p:grpSpPr>
          <a:xfrm rot="0">
            <a:off x="1647206" y="7288892"/>
            <a:ext cx="9883245" cy="466706"/>
            <a:chOff x="0" y="0"/>
            <a:chExt cx="13177660" cy="622275"/>
          </a:xfrm>
        </p:grpSpPr>
        <p:sp>
          <p:nvSpPr>
            <p:cNvPr name="Freeform 19" id="19"/>
            <p:cNvSpPr/>
            <p:nvPr/>
          </p:nvSpPr>
          <p:spPr>
            <a:xfrm flipH="false" flipV="false" rot="0">
              <a:off x="0" y="0"/>
              <a:ext cx="13177655" cy="622278"/>
            </a:xfrm>
            <a:custGeom>
              <a:avLst/>
              <a:gdLst/>
              <a:ahLst/>
              <a:cxnLst/>
              <a:rect r="r" b="b" t="t" l="l"/>
              <a:pathLst>
                <a:path h="622278" w="13177655">
                  <a:moveTo>
                    <a:pt x="0" y="0"/>
                  </a:moveTo>
                  <a:lnTo>
                    <a:pt x="13177655" y="0"/>
                  </a:lnTo>
                  <a:lnTo>
                    <a:pt x="13177655" y="622278"/>
                  </a:lnTo>
                  <a:lnTo>
                    <a:pt x="0" y="622278"/>
                  </a:lnTo>
                  <a:close/>
                </a:path>
              </a:pathLst>
            </a:custGeom>
            <a:blipFill>
              <a:blip r:embed="rId4">
                <a:alphaModFix amt="0"/>
              </a:blip>
              <a:stretch>
                <a:fillRect l="0" t="-362624" r="0" b="-362624"/>
              </a:stretch>
            </a:blipFill>
          </p:spPr>
        </p:sp>
        <p:sp>
          <p:nvSpPr>
            <p:cNvPr name="TextBox 20" id="20"/>
            <p:cNvSpPr txBox="true"/>
            <p:nvPr/>
          </p:nvSpPr>
          <p:spPr>
            <a:xfrm>
              <a:off x="0" y="-19050"/>
              <a:ext cx="13177660" cy="641325"/>
            </a:xfrm>
            <a:prstGeom prst="rect">
              <a:avLst/>
            </a:prstGeom>
          </p:spPr>
          <p:txBody>
            <a:bodyPr anchor="ctr" rtlCol="false" tIns="0" lIns="0" bIns="0" rIns="0"/>
            <a:lstStyle/>
            <a:p>
              <a:pPr algn="l">
                <a:lnSpc>
                  <a:spcPts val="2431"/>
                </a:lnSpc>
              </a:pPr>
              <a:r>
                <a:rPr lang="en-US" sz="2026">
                  <a:solidFill>
                    <a:srgbClr val="C3DAD9"/>
                  </a:solidFill>
                  <a:latin typeface="Poppins"/>
                  <a:ea typeface="Poppins"/>
                  <a:cs typeface="Poppins"/>
                  <a:sym typeface="Poppins"/>
                </a:rPr>
                <a:t>Predict-then-run, applied to a forecast instead of a query</a:t>
              </a:r>
            </a:p>
          </p:txBody>
        </p:sp>
      </p:grpSp>
      <p:grpSp>
        <p:nvGrpSpPr>
          <p:cNvPr name="Group 21" id="21"/>
          <p:cNvGrpSpPr/>
          <p:nvPr/>
        </p:nvGrpSpPr>
        <p:grpSpPr>
          <a:xfrm rot="0">
            <a:off x="1125588" y="7982093"/>
            <a:ext cx="219627" cy="219627"/>
            <a:chOff x="0" y="0"/>
            <a:chExt cx="292837" cy="292837"/>
          </a:xfrm>
        </p:grpSpPr>
        <p:sp>
          <p:nvSpPr>
            <p:cNvPr name="Freeform 22" id="22"/>
            <p:cNvSpPr/>
            <p:nvPr/>
          </p:nvSpPr>
          <p:spPr>
            <a:xfrm flipH="false" flipV="false" rot="0">
              <a:off x="0" y="0"/>
              <a:ext cx="292862" cy="292862"/>
            </a:xfrm>
            <a:custGeom>
              <a:avLst/>
              <a:gdLst/>
              <a:ahLst/>
              <a:cxnLst/>
              <a:rect r="r" b="b" t="t" l="l"/>
              <a:pathLst>
                <a:path h="292862" w="292862">
                  <a:moveTo>
                    <a:pt x="0" y="146431"/>
                  </a:moveTo>
                  <a:cubicBezTo>
                    <a:pt x="0" y="65532"/>
                    <a:pt x="65532" y="0"/>
                    <a:pt x="146431" y="0"/>
                  </a:cubicBezTo>
                  <a:cubicBezTo>
                    <a:pt x="227330" y="0"/>
                    <a:pt x="292862" y="65532"/>
                    <a:pt x="292862" y="146431"/>
                  </a:cubicBezTo>
                  <a:cubicBezTo>
                    <a:pt x="292862" y="227330"/>
                    <a:pt x="227330" y="292862"/>
                    <a:pt x="146431" y="292862"/>
                  </a:cubicBezTo>
                  <a:cubicBezTo>
                    <a:pt x="65532" y="292862"/>
                    <a:pt x="0" y="227330"/>
                    <a:pt x="0" y="146431"/>
                  </a:cubicBezTo>
                  <a:close/>
                </a:path>
              </a:pathLst>
            </a:custGeom>
            <a:solidFill>
              <a:srgbClr val="387F7F"/>
            </a:solidFill>
          </p:spPr>
        </p:sp>
      </p:grpSp>
      <p:grpSp>
        <p:nvGrpSpPr>
          <p:cNvPr name="Group 23" id="23"/>
          <p:cNvGrpSpPr/>
          <p:nvPr/>
        </p:nvGrpSpPr>
        <p:grpSpPr>
          <a:xfrm rot="0">
            <a:off x="1647206" y="7865412"/>
            <a:ext cx="9883245" cy="466706"/>
            <a:chOff x="0" y="0"/>
            <a:chExt cx="13177660" cy="622275"/>
          </a:xfrm>
        </p:grpSpPr>
        <p:sp>
          <p:nvSpPr>
            <p:cNvPr name="Freeform 24" id="24"/>
            <p:cNvSpPr/>
            <p:nvPr/>
          </p:nvSpPr>
          <p:spPr>
            <a:xfrm flipH="false" flipV="false" rot="0">
              <a:off x="0" y="0"/>
              <a:ext cx="13177655" cy="622278"/>
            </a:xfrm>
            <a:custGeom>
              <a:avLst/>
              <a:gdLst/>
              <a:ahLst/>
              <a:cxnLst/>
              <a:rect r="r" b="b" t="t" l="l"/>
              <a:pathLst>
                <a:path h="622278" w="13177655">
                  <a:moveTo>
                    <a:pt x="0" y="0"/>
                  </a:moveTo>
                  <a:lnTo>
                    <a:pt x="13177655" y="0"/>
                  </a:lnTo>
                  <a:lnTo>
                    <a:pt x="13177655" y="622278"/>
                  </a:lnTo>
                  <a:lnTo>
                    <a:pt x="0" y="622278"/>
                  </a:lnTo>
                  <a:close/>
                </a:path>
              </a:pathLst>
            </a:custGeom>
            <a:blipFill>
              <a:blip r:embed="rId4">
                <a:alphaModFix amt="0"/>
              </a:blip>
              <a:stretch>
                <a:fillRect l="0" t="-362624" r="0" b="-362624"/>
              </a:stretch>
            </a:blipFill>
          </p:spPr>
        </p:sp>
        <p:sp>
          <p:nvSpPr>
            <p:cNvPr name="TextBox 25" id="25"/>
            <p:cNvSpPr txBox="true"/>
            <p:nvPr/>
          </p:nvSpPr>
          <p:spPr>
            <a:xfrm>
              <a:off x="0" y="-19050"/>
              <a:ext cx="13177660" cy="641325"/>
            </a:xfrm>
            <a:prstGeom prst="rect">
              <a:avLst/>
            </a:prstGeom>
          </p:spPr>
          <p:txBody>
            <a:bodyPr anchor="ctr" rtlCol="false" tIns="0" lIns="0" bIns="0" rIns="0"/>
            <a:lstStyle/>
            <a:p>
              <a:pPr algn="l">
                <a:lnSpc>
                  <a:spcPts val="2431"/>
                </a:lnSpc>
              </a:pPr>
              <a:r>
                <a:rPr lang="en-US" sz="2026">
                  <a:solidFill>
                    <a:srgbClr val="C3DAD9"/>
                  </a:solidFill>
                  <a:latin typeface="Poppins"/>
                  <a:ea typeface="Poppins"/>
                  <a:cs typeface="Poppins"/>
                  <a:sym typeface="Poppins"/>
                </a:rPr>
                <a:t>A first AI forecast, taken at face value</a:t>
              </a:r>
            </a:p>
          </p:txBody>
        </p:sp>
      </p:grpSp>
      <p:grpSp>
        <p:nvGrpSpPr>
          <p:cNvPr name="Group 26" id="26"/>
          <p:cNvGrpSpPr/>
          <p:nvPr/>
        </p:nvGrpSpPr>
        <p:grpSpPr>
          <a:xfrm rot="0">
            <a:off x="1125588" y="8558613"/>
            <a:ext cx="219627" cy="219627"/>
            <a:chOff x="0" y="0"/>
            <a:chExt cx="292837" cy="292837"/>
          </a:xfrm>
        </p:grpSpPr>
        <p:sp>
          <p:nvSpPr>
            <p:cNvPr name="Freeform 27" id="27"/>
            <p:cNvSpPr/>
            <p:nvPr/>
          </p:nvSpPr>
          <p:spPr>
            <a:xfrm flipH="false" flipV="false" rot="0">
              <a:off x="0" y="0"/>
              <a:ext cx="292862" cy="292862"/>
            </a:xfrm>
            <a:custGeom>
              <a:avLst/>
              <a:gdLst/>
              <a:ahLst/>
              <a:cxnLst/>
              <a:rect r="r" b="b" t="t" l="l"/>
              <a:pathLst>
                <a:path h="292862" w="292862">
                  <a:moveTo>
                    <a:pt x="0" y="146431"/>
                  </a:moveTo>
                  <a:cubicBezTo>
                    <a:pt x="0" y="65532"/>
                    <a:pt x="65532" y="0"/>
                    <a:pt x="146431" y="0"/>
                  </a:cubicBezTo>
                  <a:cubicBezTo>
                    <a:pt x="227330" y="0"/>
                    <a:pt x="292862" y="65532"/>
                    <a:pt x="292862" y="146431"/>
                  </a:cubicBezTo>
                  <a:cubicBezTo>
                    <a:pt x="292862" y="227330"/>
                    <a:pt x="227330" y="292862"/>
                    <a:pt x="146431" y="292862"/>
                  </a:cubicBezTo>
                  <a:cubicBezTo>
                    <a:pt x="65532" y="292862"/>
                    <a:pt x="0" y="227330"/>
                    <a:pt x="0" y="146431"/>
                  </a:cubicBezTo>
                  <a:close/>
                </a:path>
              </a:pathLst>
            </a:custGeom>
            <a:solidFill>
              <a:srgbClr val="387F7F"/>
            </a:solidFill>
          </p:spPr>
        </p:sp>
      </p:grpSp>
      <p:grpSp>
        <p:nvGrpSpPr>
          <p:cNvPr name="Group 28" id="28"/>
          <p:cNvGrpSpPr/>
          <p:nvPr/>
        </p:nvGrpSpPr>
        <p:grpSpPr>
          <a:xfrm rot="0">
            <a:off x="1647206" y="8441931"/>
            <a:ext cx="9883245" cy="466706"/>
            <a:chOff x="0" y="0"/>
            <a:chExt cx="13177660" cy="622275"/>
          </a:xfrm>
        </p:grpSpPr>
        <p:sp>
          <p:nvSpPr>
            <p:cNvPr name="Freeform 29" id="29"/>
            <p:cNvSpPr/>
            <p:nvPr/>
          </p:nvSpPr>
          <p:spPr>
            <a:xfrm flipH="false" flipV="false" rot="0">
              <a:off x="0" y="0"/>
              <a:ext cx="13177655" cy="622278"/>
            </a:xfrm>
            <a:custGeom>
              <a:avLst/>
              <a:gdLst/>
              <a:ahLst/>
              <a:cxnLst/>
              <a:rect r="r" b="b" t="t" l="l"/>
              <a:pathLst>
                <a:path h="622278" w="13177655">
                  <a:moveTo>
                    <a:pt x="0" y="0"/>
                  </a:moveTo>
                  <a:lnTo>
                    <a:pt x="13177655" y="0"/>
                  </a:lnTo>
                  <a:lnTo>
                    <a:pt x="13177655" y="622278"/>
                  </a:lnTo>
                  <a:lnTo>
                    <a:pt x="0" y="622278"/>
                  </a:lnTo>
                  <a:close/>
                </a:path>
              </a:pathLst>
            </a:custGeom>
            <a:blipFill>
              <a:blip r:embed="rId4">
                <a:alphaModFix amt="0"/>
              </a:blip>
              <a:stretch>
                <a:fillRect l="0" t="-362624" r="0" b="-362624"/>
              </a:stretch>
            </a:blipFill>
          </p:spPr>
        </p:sp>
        <p:sp>
          <p:nvSpPr>
            <p:cNvPr name="TextBox 30" id="30"/>
            <p:cNvSpPr txBox="true"/>
            <p:nvPr/>
          </p:nvSpPr>
          <p:spPr>
            <a:xfrm>
              <a:off x="0" y="-19050"/>
              <a:ext cx="13177660" cy="641325"/>
            </a:xfrm>
            <a:prstGeom prst="rect">
              <a:avLst/>
            </a:prstGeom>
          </p:spPr>
          <p:txBody>
            <a:bodyPr anchor="ctr" rtlCol="false" tIns="0" lIns="0" bIns="0" rIns="0"/>
            <a:lstStyle/>
            <a:p>
              <a:pPr algn="l">
                <a:lnSpc>
                  <a:spcPts val="2431"/>
                </a:lnSpc>
              </a:pPr>
              <a:r>
                <a:rPr lang="en-US" sz="2026">
                  <a:solidFill>
                    <a:srgbClr val="C3DAD9"/>
                  </a:solidFill>
                  <a:latin typeface="Poppins"/>
                  <a:ea typeface="Poppins"/>
                  <a:cs typeface="Poppins"/>
                  <a:sym typeface="Poppins"/>
                </a:rPr>
                <a:t>The same forecast, stress-tested a second way</a:t>
              </a:r>
            </a:p>
          </p:txBody>
        </p:sp>
      </p:grpSp>
      <p:grpSp>
        <p:nvGrpSpPr>
          <p:cNvPr name="Group 31" id="31"/>
          <p:cNvGrpSpPr/>
          <p:nvPr/>
        </p:nvGrpSpPr>
        <p:grpSpPr>
          <a:xfrm rot="0">
            <a:off x="17546869" y="9718519"/>
            <a:ext cx="549069" cy="411804"/>
            <a:chOff x="0" y="0"/>
            <a:chExt cx="732092" cy="549072"/>
          </a:xfrm>
        </p:grpSpPr>
        <p:sp>
          <p:nvSpPr>
            <p:cNvPr name="Freeform 32" id="32"/>
            <p:cNvSpPr/>
            <p:nvPr/>
          </p:nvSpPr>
          <p:spPr>
            <a:xfrm flipH="false" flipV="false" rot="0">
              <a:off x="0" y="0"/>
              <a:ext cx="732092" cy="549069"/>
            </a:xfrm>
            <a:custGeom>
              <a:avLst/>
              <a:gdLst/>
              <a:ahLst/>
              <a:cxnLst/>
              <a:rect r="r" b="b" t="t" l="l"/>
              <a:pathLst>
                <a:path h="549069" w="732092">
                  <a:moveTo>
                    <a:pt x="0" y="0"/>
                  </a:moveTo>
                  <a:lnTo>
                    <a:pt x="732092" y="0"/>
                  </a:lnTo>
                  <a:lnTo>
                    <a:pt x="732092" y="549069"/>
                  </a:lnTo>
                  <a:lnTo>
                    <a:pt x="0" y="549069"/>
                  </a:lnTo>
                  <a:close/>
                </a:path>
              </a:pathLst>
            </a:custGeom>
            <a:blipFill>
              <a:blip r:embed="rId4">
                <a:alphaModFix amt="0"/>
              </a:blip>
              <a:stretch>
                <a:fillRect l="-46228" t="0" r="-46228" b="0"/>
              </a:stretch>
            </a:blipFill>
          </p:spPr>
        </p:sp>
        <p:sp>
          <p:nvSpPr>
            <p:cNvPr name="TextBox 33" id="33"/>
            <p:cNvSpPr txBox="true"/>
            <p:nvPr/>
          </p:nvSpPr>
          <p:spPr>
            <a:xfrm>
              <a:off x="0" y="-9525"/>
              <a:ext cx="732092" cy="558597"/>
            </a:xfrm>
            <a:prstGeom prst="rect">
              <a:avLst/>
            </a:prstGeom>
          </p:spPr>
          <p:txBody>
            <a:bodyPr anchor="ctr" rtlCol="false" tIns="0" lIns="0" bIns="0" rIns="0"/>
            <a:lstStyle/>
            <a:p>
              <a:pPr algn="r">
                <a:lnSpc>
                  <a:spcPts val="1981"/>
                </a:lnSpc>
              </a:pPr>
              <a:r>
                <a:rPr lang="en-US" sz="1651">
                  <a:solidFill>
                    <a:srgbClr val="7FA3A3"/>
                  </a:solidFill>
                  <a:latin typeface="Poppins"/>
                  <a:ea typeface="Poppins"/>
                  <a:cs typeface="Poppins"/>
                  <a:sym typeface="Poppins"/>
                </a:rPr>
                <a:t>9</a:t>
              </a:r>
            </a:p>
          </p:txBody>
        </p:sp>
      </p:grpSp>
      <p:sp>
        <p:nvSpPr>
          <p:cNvPr name="Freeform 34" id="34"/>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1812291" cy="771525"/>
          </a:xfrm>
          <a:prstGeom prst="rect">
            <a:avLst/>
          </a:prstGeom>
        </p:spPr>
        <p:txBody>
          <a:bodyPr anchor="t" rtlCol="false" tIns="0" lIns="0" bIns="0" rIns="0">
            <a:spAutoFit/>
          </a:bodyPr>
          <a:lstStyle/>
          <a:p>
            <a:pPr algn="l">
              <a:lnSpc>
                <a:spcPts val="5760"/>
              </a:lnSpc>
            </a:pPr>
            <a:r>
              <a:rPr lang="en-US" sz="4800">
                <a:solidFill>
                  <a:srgbClr val="388080"/>
                </a:solidFill>
                <a:latin typeface="Poppins"/>
                <a:ea typeface="Poppins"/>
                <a:cs typeface="Poppins"/>
                <a:sym typeface="Poppins"/>
              </a:rPr>
              <a:t>P</a:t>
            </a:r>
            <a:r>
              <a:rPr lang="en-US" sz="4800">
                <a:solidFill>
                  <a:srgbClr val="388080"/>
                </a:solidFill>
                <a:latin typeface="Poppins"/>
                <a:ea typeface="Poppins"/>
                <a:cs typeface="Poppins"/>
                <a:sym typeface="Poppins"/>
              </a:rPr>
              <a:t>redict-then-run, applied to a forecast</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62025" y="2303012"/>
            <a:ext cx="14893500" cy="4598451"/>
            <a:chOff x="0" y="0"/>
            <a:chExt cx="19857999" cy="6131268"/>
          </a:xfrm>
        </p:grpSpPr>
        <p:sp>
          <p:nvSpPr>
            <p:cNvPr name="Freeform 12" id="12"/>
            <p:cNvSpPr/>
            <p:nvPr/>
          </p:nvSpPr>
          <p:spPr>
            <a:xfrm flipH="false" flipV="false" rot="0">
              <a:off x="0" y="0"/>
              <a:ext cx="19857974" cy="6131179"/>
            </a:xfrm>
            <a:custGeom>
              <a:avLst/>
              <a:gdLst/>
              <a:ahLst/>
              <a:cxnLst/>
              <a:rect r="r" b="b" t="t" l="l"/>
              <a:pathLst>
                <a:path h="6131179" w="19857974">
                  <a:moveTo>
                    <a:pt x="0" y="164719"/>
                  </a:moveTo>
                  <a:cubicBezTo>
                    <a:pt x="0" y="73787"/>
                    <a:pt x="73787" y="0"/>
                    <a:pt x="164719" y="0"/>
                  </a:cubicBezTo>
                  <a:lnTo>
                    <a:pt x="19693255" y="0"/>
                  </a:lnTo>
                  <a:cubicBezTo>
                    <a:pt x="19784188" y="0"/>
                    <a:pt x="19857974" y="73787"/>
                    <a:pt x="19857974" y="164719"/>
                  </a:cubicBezTo>
                  <a:lnTo>
                    <a:pt x="19857974" y="5966460"/>
                  </a:lnTo>
                  <a:cubicBezTo>
                    <a:pt x="19857974" y="6057392"/>
                    <a:pt x="19784188" y="6131179"/>
                    <a:pt x="19693255" y="6131179"/>
                  </a:cubicBezTo>
                  <a:lnTo>
                    <a:pt x="164719" y="6131179"/>
                  </a:lnTo>
                  <a:cubicBezTo>
                    <a:pt x="73787" y="6131306"/>
                    <a:pt x="0" y="6057519"/>
                    <a:pt x="0" y="5966460"/>
                  </a:cubicBezTo>
                  <a:close/>
                </a:path>
              </a:pathLst>
            </a:custGeom>
            <a:solidFill>
              <a:srgbClr val="FFFFFF"/>
            </a:solidFill>
          </p:spPr>
        </p:sp>
      </p:grpSp>
      <p:sp>
        <p:nvSpPr>
          <p:cNvPr name="TextBox 13" id="13"/>
          <p:cNvSpPr txBox="true"/>
          <p:nvPr/>
        </p:nvSpPr>
        <p:spPr>
          <a:xfrm rot="0">
            <a:off x="1511094" y="2659618"/>
            <a:ext cx="13795362" cy="3898678"/>
          </a:xfrm>
          <a:prstGeom prst="rect">
            <a:avLst/>
          </a:prstGeom>
        </p:spPr>
        <p:txBody>
          <a:bodyPr anchor="t" rtlCol="false" tIns="0" lIns="0" bIns="0" rIns="0">
            <a:spAutoFit/>
          </a:bodyPr>
          <a:lstStyle/>
          <a:p>
            <a:pPr algn="l">
              <a:lnSpc>
                <a:spcPts val="4215"/>
              </a:lnSpc>
            </a:pPr>
            <a:r>
              <a:rPr lang="en-US" sz="2702">
                <a:solidFill>
                  <a:srgbClr val="475569"/>
                </a:solidFill>
                <a:latin typeface="Poppins"/>
                <a:ea typeface="Poppins"/>
                <a:cs typeface="Poppins"/>
                <a:sym typeface="Poppins"/>
              </a:rPr>
              <a:t>Before asking an AI tool to extend SwiftRoute's trend, write down your own expectation first: given +27 deliveries a month, Q4 should land somewhere close to 3,800 to 3,900 deliveries, and revenue should rise only slightly, since September's fee mix already ran lower per delivery than July's. Then run the AI prompt and compare. If the AI's answer matches your prediction, that is confirmation, not proof. If it diverges, the divergence is the useful part: it tells you exactly where to look before the number goes anywhere near a budget.</a:t>
            </a:r>
          </a:p>
        </p:txBody>
      </p:sp>
      <p:grpSp>
        <p:nvGrpSpPr>
          <p:cNvPr name="Group 14" id="14"/>
          <p:cNvGrpSpPr/>
          <p:nvPr/>
        </p:nvGrpSpPr>
        <p:grpSpPr>
          <a:xfrm rot="0">
            <a:off x="962025" y="7244629"/>
            <a:ext cx="14893500" cy="1372676"/>
            <a:chOff x="0" y="0"/>
            <a:chExt cx="19857999" cy="1830235"/>
          </a:xfrm>
        </p:grpSpPr>
        <p:sp>
          <p:nvSpPr>
            <p:cNvPr name="Freeform 15" id="15"/>
            <p:cNvSpPr/>
            <p:nvPr/>
          </p:nvSpPr>
          <p:spPr>
            <a:xfrm flipH="false" flipV="false" rot="0">
              <a:off x="0" y="0"/>
              <a:ext cx="19857974" cy="1830197"/>
            </a:xfrm>
            <a:custGeom>
              <a:avLst/>
              <a:gdLst/>
              <a:ahLst/>
              <a:cxnLst/>
              <a:rect r="r" b="b" t="t" l="l"/>
              <a:pathLst>
                <a:path h="1830197" w="19857974">
                  <a:moveTo>
                    <a:pt x="0" y="164719"/>
                  </a:moveTo>
                  <a:cubicBezTo>
                    <a:pt x="0" y="73787"/>
                    <a:pt x="73787" y="0"/>
                    <a:pt x="164719" y="0"/>
                  </a:cubicBezTo>
                  <a:lnTo>
                    <a:pt x="19693255" y="0"/>
                  </a:lnTo>
                  <a:cubicBezTo>
                    <a:pt x="19784188" y="0"/>
                    <a:pt x="19857974" y="73787"/>
                    <a:pt x="19857974" y="164719"/>
                  </a:cubicBezTo>
                  <a:lnTo>
                    <a:pt x="19857974" y="1665478"/>
                  </a:lnTo>
                  <a:cubicBezTo>
                    <a:pt x="19857974" y="1756410"/>
                    <a:pt x="19784188" y="1830197"/>
                    <a:pt x="19693255" y="1830197"/>
                  </a:cubicBezTo>
                  <a:lnTo>
                    <a:pt x="164719" y="1830197"/>
                  </a:lnTo>
                  <a:cubicBezTo>
                    <a:pt x="73787" y="1830197"/>
                    <a:pt x="0" y="1756537"/>
                    <a:pt x="0" y="1665478"/>
                  </a:cubicBezTo>
                  <a:close/>
                </a:path>
              </a:pathLst>
            </a:custGeom>
            <a:solidFill>
              <a:srgbClr val="F4F7F7"/>
            </a:solidFill>
          </p:spPr>
        </p:sp>
      </p:grpSp>
      <p:grpSp>
        <p:nvGrpSpPr>
          <p:cNvPr name="Group 16" id="16"/>
          <p:cNvGrpSpPr/>
          <p:nvPr/>
        </p:nvGrpSpPr>
        <p:grpSpPr>
          <a:xfrm rot="0">
            <a:off x="962025" y="7244629"/>
            <a:ext cx="82363" cy="1372676"/>
            <a:chOff x="0" y="0"/>
            <a:chExt cx="109817" cy="1830235"/>
          </a:xfrm>
        </p:grpSpPr>
        <p:sp>
          <p:nvSpPr>
            <p:cNvPr name="Freeform 17" id="17"/>
            <p:cNvSpPr/>
            <p:nvPr/>
          </p:nvSpPr>
          <p:spPr>
            <a:xfrm flipH="false" flipV="false" rot="0">
              <a:off x="0" y="0"/>
              <a:ext cx="109855" cy="1830197"/>
            </a:xfrm>
            <a:custGeom>
              <a:avLst/>
              <a:gdLst/>
              <a:ahLst/>
              <a:cxnLst/>
              <a:rect r="r" b="b" t="t" l="l"/>
              <a:pathLst>
                <a:path h="1830197" w="109855">
                  <a:moveTo>
                    <a:pt x="0" y="0"/>
                  </a:moveTo>
                  <a:lnTo>
                    <a:pt x="109855" y="0"/>
                  </a:lnTo>
                  <a:lnTo>
                    <a:pt x="109855" y="1830197"/>
                  </a:lnTo>
                  <a:lnTo>
                    <a:pt x="0" y="1830197"/>
                  </a:lnTo>
                  <a:close/>
                </a:path>
              </a:pathLst>
            </a:custGeom>
            <a:solidFill>
              <a:srgbClr val="387F7F"/>
            </a:solidFill>
          </p:spPr>
        </p:sp>
      </p:grpSp>
      <p:grpSp>
        <p:nvGrpSpPr>
          <p:cNvPr name="Group 18" id="18"/>
          <p:cNvGrpSpPr/>
          <p:nvPr/>
        </p:nvGrpSpPr>
        <p:grpSpPr>
          <a:xfrm rot="0">
            <a:off x="1511094" y="7244629"/>
            <a:ext cx="13795362" cy="1372672"/>
            <a:chOff x="0" y="0"/>
            <a:chExt cx="18393816" cy="1830230"/>
          </a:xfrm>
        </p:grpSpPr>
        <p:sp>
          <p:nvSpPr>
            <p:cNvPr name="Freeform 19" id="19"/>
            <p:cNvSpPr/>
            <p:nvPr/>
          </p:nvSpPr>
          <p:spPr>
            <a:xfrm flipH="false" flipV="false" rot="0">
              <a:off x="0" y="0"/>
              <a:ext cx="18393811" cy="1830225"/>
            </a:xfrm>
            <a:custGeom>
              <a:avLst/>
              <a:gdLst/>
              <a:ahLst/>
              <a:cxnLst/>
              <a:rect r="r" b="b" t="t" l="l"/>
              <a:pathLst>
                <a:path h="1830225" w="18393811">
                  <a:moveTo>
                    <a:pt x="0" y="0"/>
                  </a:moveTo>
                  <a:lnTo>
                    <a:pt x="18393811" y="0"/>
                  </a:lnTo>
                  <a:lnTo>
                    <a:pt x="18393811" y="1830225"/>
                  </a:lnTo>
                  <a:lnTo>
                    <a:pt x="0" y="1830225"/>
                  </a:lnTo>
                  <a:close/>
                </a:path>
              </a:pathLst>
            </a:custGeom>
            <a:blipFill>
              <a:blip r:embed="rId9">
                <a:alphaModFix amt="0"/>
              </a:blip>
              <a:stretch>
                <a:fillRect l="0" t="-145824" r="0" b="-145825"/>
              </a:stretch>
            </a:blipFill>
          </p:spPr>
        </p:sp>
        <p:sp>
          <p:nvSpPr>
            <p:cNvPr name="TextBox 20" id="20"/>
            <p:cNvSpPr txBox="true"/>
            <p:nvPr/>
          </p:nvSpPr>
          <p:spPr>
            <a:xfrm>
              <a:off x="0" y="-104775"/>
              <a:ext cx="18393816" cy="1935005"/>
            </a:xfrm>
            <a:prstGeom prst="rect">
              <a:avLst/>
            </a:prstGeom>
          </p:spPr>
          <p:txBody>
            <a:bodyPr anchor="ctr" rtlCol="false" tIns="0" lIns="0" bIns="0" rIns="0"/>
            <a:lstStyle/>
            <a:p>
              <a:pPr algn="l">
                <a:lnSpc>
                  <a:spcPts val="3746"/>
                </a:lnSpc>
              </a:pPr>
              <a:r>
                <a:rPr lang="en-US" sz="2401" b="true">
                  <a:solidFill>
                    <a:srgbClr val="387F7F"/>
                  </a:solidFill>
                  <a:latin typeface="Poppins Bold"/>
                  <a:ea typeface="Poppins Bold"/>
                  <a:cs typeface="Poppins Bold"/>
                  <a:sym typeface="Poppins Bold"/>
                </a:rPr>
                <a:t>You are not asking AI to think for you. You are asking it to show you where your own thinking might be wrong.</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2090996" cy="771525"/>
          </a:xfrm>
          <a:prstGeom prst="rect">
            <a:avLst/>
          </a:prstGeom>
        </p:spPr>
        <p:txBody>
          <a:bodyPr anchor="t" rtlCol="false" tIns="0" lIns="0" bIns="0" rIns="0">
            <a:spAutoFit/>
          </a:bodyPr>
          <a:lstStyle/>
          <a:p>
            <a:pPr algn="l">
              <a:lnSpc>
                <a:spcPts val="5760"/>
              </a:lnSpc>
            </a:pPr>
            <a:r>
              <a:rPr lang="en-US" sz="4800">
                <a:solidFill>
                  <a:srgbClr val="388080"/>
                </a:solidFill>
                <a:latin typeface="Poppins"/>
                <a:ea typeface="Poppins"/>
                <a:cs typeface="Poppins"/>
                <a:sym typeface="Poppins"/>
              </a:rPr>
              <a:t>One </a:t>
            </a:r>
            <a:r>
              <a:rPr lang="en-US" sz="4800">
                <a:solidFill>
                  <a:srgbClr val="388080"/>
                </a:solidFill>
                <a:latin typeface="Poppins"/>
                <a:ea typeface="Poppins"/>
                <a:cs typeface="Poppins"/>
                <a:sym typeface="Poppins"/>
              </a:rPr>
              <a:t>AI answer, taken two different ways</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029500" y="2659294"/>
            <a:ext cx="7206529" cy="5490686"/>
            <a:chOff x="0" y="0"/>
            <a:chExt cx="9608706" cy="7320915"/>
          </a:xfrm>
        </p:grpSpPr>
        <p:sp>
          <p:nvSpPr>
            <p:cNvPr name="Freeform 12" id="12"/>
            <p:cNvSpPr/>
            <p:nvPr/>
          </p:nvSpPr>
          <p:spPr>
            <a:xfrm flipH="false" flipV="false" rot="0">
              <a:off x="0" y="0"/>
              <a:ext cx="9608693" cy="7320914"/>
            </a:xfrm>
            <a:custGeom>
              <a:avLst/>
              <a:gdLst/>
              <a:ahLst/>
              <a:cxnLst/>
              <a:rect r="r" b="b" t="t" l="l"/>
              <a:pathLst>
                <a:path h="7320914" w="9608693">
                  <a:moveTo>
                    <a:pt x="0" y="164719"/>
                  </a:moveTo>
                  <a:cubicBezTo>
                    <a:pt x="0" y="73787"/>
                    <a:pt x="73787" y="0"/>
                    <a:pt x="164719" y="0"/>
                  </a:cubicBezTo>
                  <a:lnTo>
                    <a:pt x="9443974" y="0"/>
                  </a:lnTo>
                  <a:cubicBezTo>
                    <a:pt x="9534906" y="0"/>
                    <a:pt x="9608693" y="73787"/>
                    <a:pt x="9608693" y="164719"/>
                  </a:cubicBezTo>
                  <a:lnTo>
                    <a:pt x="9608693" y="7156196"/>
                  </a:lnTo>
                  <a:cubicBezTo>
                    <a:pt x="9608693" y="7247127"/>
                    <a:pt x="9534906" y="7320914"/>
                    <a:pt x="9443974" y="7320914"/>
                  </a:cubicBezTo>
                  <a:lnTo>
                    <a:pt x="164719" y="7320914"/>
                  </a:lnTo>
                  <a:cubicBezTo>
                    <a:pt x="73787" y="7320915"/>
                    <a:pt x="0" y="7247128"/>
                    <a:pt x="0" y="7156196"/>
                  </a:cubicBezTo>
                  <a:close/>
                </a:path>
              </a:pathLst>
            </a:custGeom>
            <a:solidFill>
              <a:srgbClr val="FFFFFF"/>
            </a:solidFill>
          </p:spPr>
        </p:sp>
      </p:grpSp>
      <p:grpSp>
        <p:nvGrpSpPr>
          <p:cNvPr name="Group 13" id="13"/>
          <p:cNvGrpSpPr/>
          <p:nvPr/>
        </p:nvGrpSpPr>
        <p:grpSpPr>
          <a:xfrm rot="0">
            <a:off x="1029500" y="2659294"/>
            <a:ext cx="7206529" cy="754971"/>
            <a:chOff x="0" y="0"/>
            <a:chExt cx="9608706" cy="1006627"/>
          </a:xfrm>
        </p:grpSpPr>
        <p:sp>
          <p:nvSpPr>
            <p:cNvPr name="Freeform 14" id="14"/>
            <p:cNvSpPr/>
            <p:nvPr/>
          </p:nvSpPr>
          <p:spPr>
            <a:xfrm flipH="false" flipV="false" rot="0">
              <a:off x="0" y="0"/>
              <a:ext cx="9608693" cy="1006602"/>
            </a:xfrm>
            <a:custGeom>
              <a:avLst/>
              <a:gdLst/>
              <a:ahLst/>
              <a:cxnLst/>
              <a:rect r="r" b="b" t="t" l="l"/>
              <a:pathLst>
                <a:path h="1006602" w="9608693">
                  <a:moveTo>
                    <a:pt x="0" y="0"/>
                  </a:moveTo>
                  <a:lnTo>
                    <a:pt x="9608693" y="0"/>
                  </a:lnTo>
                  <a:lnTo>
                    <a:pt x="9608693" y="1006602"/>
                  </a:lnTo>
                  <a:lnTo>
                    <a:pt x="0" y="1006602"/>
                  </a:lnTo>
                  <a:close/>
                </a:path>
              </a:pathLst>
            </a:custGeom>
            <a:solidFill>
              <a:srgbClr val="A8322D"/>
            </a:solidFill>
          </p:spPr>
        </p:sp>
      </p:grpSp>
      <p:grpSp>
        <p:nvGrpSpPr>
          <p:cNvPr name="Group 15" id="15"/>
          <p:cNvGrpSpPr/>
          <p:nvPr/>
        </p:nvGrpSpPr>
        <p:grpSpPr>
          <a:xfrm rot="0">
            <a:off x="1029500" y="2659294"/>
            <a:ext cx="7206529" cy="754971"/>
            <a:chOff x="0" y="0"/>
            <a:chExt cx="9608706" cy="1006627"/>
          </a:xfrm>
        </p:grpSpPr>
        <p:sp>
          <p:nvSpPr>
            <p:cNvPr name="Freeform 16" id="16"/>
            <p:cNvSpPr/>
            <p:nvPr/>
          </p:nvSpPr>
          <p:spPr>
            <a:xfrm flipH="false" flipV="false" rot="0">
              <a:off x="0" y="0"/>
              <a:ext cx="9608707" cy="1006626"/>
            </a:xfrm>
            <a:custGeom>
              <a:avLst/>
              <a:gdLst/>
              <a:ahLst/>
              <a:cxnLst/>
              <a:rect r="r" b="b" t="t" l="l"/>
              <a:pathLst>
                <a:path h="1006626" w="9608707">
                  <a:moveTo>
                    <a:pt x="0" y="0"/>
                  </a:moveTo>
                  <a:lnTo>
                    <a:pt x="9608707" y="0"/>
                  </a:lnTo>
                  <a:lnTo>
                    <a:pt x="9608707" y="1006626"/>
                  </a:lnTo>
                  <a:lnTo>
                    <a:pt x="0" y="1006626"/>
                  </a:lnTo>
                  <a:close/>
                </a:path>
              </a:pathLst>
            </a:custGeom>
            <a:blipFill>
              <a:blip r:embed="rId9">
                <a:alphaModFix amt="0"/>
              </a:blip>
              <a:stretch>
                <a:fillRect l="0" t="-135993" r="0" b="-135993"/>
              </a:stretch>
            </a:blipFill>
          </p:spPr>
        </p:sp>
        <p:sp>
          <p:nvSpPr>
            <p:cNvPr name="TextBox 17" id="17"/>
            <p:cNvSpPr txBox="true"/>
            <p:nvPr/>
          </p:nvSpPr>
          <p:spPr>
            <a:xfrm>
              <a:off x="0" y="-19050"/>
              <a:ext cx="9608706" cy="1025677"/>
            </a:xfrm>
            <a:prstGeom prst="rect">
              <a:avLst/>
            </a:prstGeom>
          </p:spPr>
          <p:txBody>
            <a:bodyPr anchor="ctr" rtlCol="false" tIns="0" lIns="0" bIns="0" rIns="0"/>
            <a:lstStyle/>
            <a:p>
              <a:pPr algn="ctr">
                <a:lnSpc>
                  <a:spcPts val="2972"/>
                </a:lnSpc>
              </a:pPr>
              <a:r>
                <a:rPr lang="en-US" sz="2476" b="true">
                  <a:solidFill>
                    <a:srgbClr val="FFFFFF"/>
                  </a:solidFill>
                  <a:latin typeface="Poppins Bold"/>
                  <a:ea typeface="Poppins Bold"/>
                  <a:cs typeface="Poppins Bold"/>
                  <a:sym typeface="Poppins Bold"/>
                </a:rPr>
                <a:t>TAKEN AT FACE VALUE</a:t>
              </a:r>
            </a:p>
          </p:txBody>
        </p:sp>
      </p:grpSp>
      <p:sp>
        <p:nvSpPr>
          <p:cNvPr name="TextBox 18" id="18"/>
          <p:cNvSpPr txBox="true"/>
          <p:nvPr/>
        </p:nvSpPr>
        <p:spPr>
          <a:xfrm rot="0">
            <a:off x="1441304" y="3603069"/>
            <a:ext cx="6382931" cy="4203744"/>
          </a:xfrm>
          <a:prstGeom prst="rect">
            <a:avLst/>
          </a:prstGeom>
        </p:spPr>
        <p:txBody>
          <a:bodyPr anchor="t" rtlCol="false" tIns="0" lIns="0" bIns="0" rIns="0">
            <a:spAutoFit/>
          </a:bodyPr>
          <a:lstStyle/>
          <a:p>
            <a:pPr algn="l">
              <a:lnSpc>
                <a:spcPts val="3161"/>
              </a:lnSpc>
            </a:pPr>
            <a:r>
              <a:rPr lang="en-US" sz="2026">
                <a:solidFill>
                  <a:srgbClr val="475569"/>
                </a:solidFill>
                <a:latin typeface="Poppins"/>
                <a:ea typeface="Poppins"/>
                <a:cs typeface="Poppins"/>
                <a:sym typeface="Poppins"/>
              </a:rPr>
              <a:t>•  "Q4 revenue will be approximately ₦13,019,540."</a:t>
            </a:r>
          </a:p>
          <a:p>
            <a:pPr algn="l">
              <a:lnSpc>
                <a:spcPts val="3161"/>
              </a:lnSpc>
            </a:pPr>
            <a:r>
              <a:rPr lang="en-US" sz="2026">
                <a:solidFill>
                  <a:srgbClr val="475569"/>
                </a:solidFill>
                <a:latin typeface="Poppins"/>
                <a:ea typeface="Poppins"/>
                <a:cs typeface="Poppins"/>
                <a:sym typeface="Poppins"/>
              </a:rPr>
              <a:t>•  Reached by extending the deliveries trend to 3,843 and multiplying by the Q3 average fee of ₦3,388.</a:t>
            </a:r>
          </a:p>
          <a:p>
            <a:pPr algn="l">
              <a:lnSpc>
                <a:spcPts val="3161"/>
              </a:lnSpc>
            </a:pPr>
            <a:r>
              <a:rPr lang="en-US" sz="2026">
                <a:solidFill>
                  <a:srgbClr val="475569"/>
                </a:solidFill>
                <a:latin typeface="Poppins"/>
                <a:ea typeface="Poppins"/>
                <a:cs typeface="Poppins"/>
                <a:sym typeface="Poppins"/>
              </a:rPr>
              <a:t>•  Stated as one number. No range. No mention that the average fee itself moved during Q3.</a:t>
            </a:r>
          </a:p>
          <a:p>
            <a:pPr algn="l">
              <a:lnSpc>
                <a:spcPts val="3161"/>
              </a:lnSpc>
            </a:pPr>
            <a:r>
              <a:rPr lang="en-US" sz="2026">
                <a:solidFill>
                  <a:srgbClr val="475569"/>
                </a:solidFill>
                <a:latin typeface="Poppins"/>
                <a:ea typeface="Poppins"/>
                <a:cs typeface="Poppins"/>
                <a:sym typeface="Poppins"/>
              </a:rPr>
              <a:t>•  Pasted straight into the budget as written.</a:t>
            </a:r>
          </a:p>
        </p:txBody>
      </p:sp>
      <p:grpSp>
        <p:nvGrpSpPr>
          <p:cNvPr name="Group 19" id="19"/>
          <p:cNvGrpSpPr/>
          <p:nvPr/>
        </p:nvGrpSpPr>
        <p:grpSpPr>
          <a:xfrm rot="0">
            <a:off x="8716470" y="2659294"/>
            <a:ext cx="7206529" cy="5490686"/>
            <a:chOff x="0" y="0"/>
            <a:chExt cx="9608706" cy="7320915"/>
          </a:xfrm>
        </p:grpSpPr>
        <p:sp>
          <p:nvSpPr>
            <p:cNvPr name="Freeform 20" id="20"/>
            <p:cNvSpPr/>
            <p:nvPr/>
          </p:nvSpPr>
          <p:spPr>
            <a:xfrm flipH="false" flipV="false" rot="0">
              <a:off x="0" y="0"/>
              <a:ext cx="9608693" cy="7320914"/>
            </a:xfrm>
            <a:custGeom>
              <a:avLst/>
              <a:gdLst/>
              <a:ahLst/>
              <a:cxnLst/>
              <a:rect r="r" b="b" t="t" l="l"/>
              <a:pathLst>
                <a:path h="7320914" w="9608693">
                  <a:moveTo>
                    <a:pt x="0" y="164719"/>
                  </a:moveTo>
                  <a:cubicBezTo>
                    <a:pt x="0" y="73787"/>
                    <a:pt x="73787" y="0"/>
                    <a:pt x="164719" y="0"/>
                  </a:cubicBezTo>
                  <a:lnTo>
                    <a:pt x="9443974" y="0"/>
                  </a:lnTo>
                  <a:cubicBezTo>
                    <a:pt x="9534906" y="0"/>
                    <a:pt x="9608693" y="73787"/>
                    <a:pt x="9608693" y="164719"/>
                  </a:cubicBezTo>
                  <a:lnTo>
                    <a:pt x="9608693" y="7156196"/>
                  </a:lnTo>
                  <a:cubicBezTo>
                    <a:pt x="9608693" y="7247127"/>
                    <a:pt x="9534906" y="7320914"/>
                    <a:pt x="9443974" y="7320914"/>
                  </a:cubicBezTo>
                  <a:lnTo>
                    <a:pt x="164719" y="7320914"/>
                  </a:lnTo>
                  <a:cubicBezTo>
                    <a:pt x="73787" y="7320915"/>
                    <a:pt x="0" y="7247128"/>
                    <a:pt x="0" y="7156196"/>
                  </a:cubicBezTo>
                  <a:close/>
                </a:path>
              </a:pathLst>
            </a:custGeom>
            <a:solidFill>
              <a:srgbClr val="FFFFFF"/>
            </a:solidFill>
          </p:spPr>
        </p:sp>
      </p:grpSp>
      <p:grpSp>
        <p:nvGrpSpPr>
          <p:cNvPr name="Group 21" id="21"/>
          <p:cNvGrpSpPr/>
          <p:nvPr/>
        </p:nvGrpSpPr>
        <p:grpSpPr>
          <a:xfrm rot="0">
            <a:off x="8716470" y="2659294"/>
            <a:ext cx="7206529" cy="754971"/>
            <a:chOff x="0" y="0"/>
            <a:chExt cx="9608706" cy="1006627"/>
          </a:xfrm>
        </p:grpSpPr>
        <p:sp>
          <p:nvSpPr>
            <p:cNvPr name="Freeform 22" id="22"/>
            <p:cNvSpPr/>
            <p:nvPr/>
          </p:nvSpPr>
          <p:spPr>
            <a:xfrm flipH="false" flipV="false" rot="0">
              <a:off x="0" y="0"/>
              <a:ext cx="9608693" cy="1006602"/>
            </a:xfrm>
            <a:custGeom>
              <a:avLst/>
              <a:gdLst/>
              <a:ahLst/>
              <a:cxnLst/>
              <a:rect r="r" b="b" t="t" l="l"/>
              <a:pathLst>
                <a:path h="1006602" w="9608693">
                  <a:moveTo>
                    <a:pt x="0" y="0"/>
                  </a:moveTo>
                  <a:lnTo>
                    <a:pt x="9608693" y="0"/>
                  </a:lnTo>
                  <a:lnTo>
                    <a:pt x="9608693" y="1006602"/>
                  </a:lnTo>
                  <a:lnTo>
                    <a:pt x="0" y="1006602"/>
                  </a:lnTo>
                  <a:close/>
                </a:path>
              </a:pathLst>
            </a:custGeom>
            <a:solidFill>
              <a:srgbClr val="387F7F"/>
            </a:solidFill>
          </p:spPr>
        </p:sp>
      </p:grpSp>
      <p:grpSp>
        <p:nvGrpSpPr>
          <p:cNvPr name="Group 23" id="23"/>
          <p:cNvGrpSpPr/>
          <p:nvPr/>
        </p:nvGrpSpPr>
        <p:grpSpPr>
          <a:xfrm rot="0">
            <a:off x="8716470" y="2659294"/>
            <a:ext cx="7206529" cy="754971"/>
            <a:chOff x="0" y="0"/>
            <a:chExt cx="9608706" cy="1006627"/>
          </a:xfrm>
        </p:grpSpPr>
        <p:sp>
          <p:nvSpPr>
            <p:cNvPr name="Freeform 24" id="24"/>
            <p:cNvSpPr/>
            <p:nvPr/>
          </p:nvSpPr>
          <p:spPr>
            <a:xfrm flipH="false" flipV="false" rot="0">
              <a:off x="0" y="0"/>
              <a:ext cx="9608707" cy="1006626"/>
            </a:xfrm>
            <a:custGeom>
              <a:avLst/>
              <a:gdLst/>
              <a:ahLst/>
              <a:cxnLst/>
              <a:rect r="r" b="b" t="t" l="l"/>
              <a:pathLst>
                <a:path h="1006626" w="9608707">
                  <a:moveTo>
                    <a:pt x="0" y="0"/>
                  </a:moveTo>
                  <a:lnTo>
                    <a:pt x="9608707" y="0"/>
                  </a:lnTo>
                  <a:lnTo>
                    <a:pt x="9608707" y="1006626"/>
                  </a:lnTo>
                  <a:lnTo>
                    <a:pt x="0" y="1006626"/>
                  </a:lnTo>
                  <a:close/>
                </a:path>
              </a:pathLst>
            </a:custGeom>
            <a:blipFill>
              <a:blip r:embed="rId9">
                <a:alphaModFix amt="0"/>
              </a:blip>
              <a:stretch>
                <a:fillRect l="0" t="-135993" r="0" b="-135993"/>
              </a:stretch>
            </a:blipFill>
          </p:spPr>
        </p:sp>
        <p:sp>
          <p:nvSpPr>
            <p:cNvPr name="TextBox 25" id="25"/>
            <p:cNvSpPr txBox="true"/>
            <p:nvPr/>
          </p:nvSpPr>
          <p:spPr>
            <a:xfrm>
              <a:off x="0" y="-19050"/>
              <a:ext cx="9608706" cy="1025677"/>
            </a:xfrm>
            <a:prstGeom prst="rect">
              <a:avLst/>
            </a:prstGeom>
          </p:spPr>
          <p:txBody>
            <a:bodyPr anchor="ctr" rtlCol="false" tIns="0" lIns="0" bIns="0" rIns="0"/>
            <a:lstStyle/>
            <a:p>
              <a:pPr algn="ctr">
                <a:lnSpc>
                  <a:spcPts val="2972"/>
                </a:lnSpc>
              </a:pPr>
              <a:r>
                <a:rPr lang="en-US" sz="2476" b="true">
                  <a:solidFill>
                    <a:srgbClr val="FFFFFF"/>
                  </a:solidFill>
                  <a:latin typeface="Poppins Bold"/>
                  <a:ea typeface="Poppins Bold"/>
                  <a:cs typeface="Poppins Bold"/>
                  <a:sym typeface="Poppins Bold"/>
                </a:rPr>
                <a:t>STRESS-TESTED A SECOND WAY</a:t>
              </a:r>
            </a:p>
          </p:txBody>
        </p:sp>
      </p:grpSp>
      <p:sp>
        <p:nvSpPr>
          <p:cNvPr name="TextBox 26" id="26"/>
          <p:cNvSpPr txBox="true"/>
          <p:nvPr/>
        </p:nvSpPr>
        <p:spPr>
          <a:xfrm rot="0">
            <a:off x="9128274" y="3603069"/>
            <a:ext cx="6382931" cy="4203744"/>
          </a:xfrm>
          <a:prstGeom prst="rect">
            <a:avLst/>
          </a:prstGeom>
        </p:spPr>
        <p:txBody>
          <a:bodyPr anchor="t" rtlCol="false" tIns="0" lIns="0" bIns="0" rIns="0">
            <a:spAutoFit/>
          </a:bodyPr>
          <a:lstStyle/>
          <a:p>
            <a:pPr algn="l">
              <a:lnSpc>
                <a:spcPts val="3161"/>
              </a:lnSpc>
            </a:pPr>
            <a:r>
              <a:rPr lang="en-US" sz="2026">
                <a:solidFill>
                  <a:srgbClr val="475569"/>
                </a:solidFill>
                <a:latin typeface="Poppins"/>
                <a:ea typeface="Poppins"/>
                <a:cs typeface="Poppins"/>
                <a:sym typeface="Poppins"/>
              </a:rPr>
              <a:t>•  Revenue trend, fitted directly on monthly revenue: approximately ₦12,418,815 for Q4.</a:t>
            </a:r>
          </a:p>
          <a:p>
            <a:pPr algn="l">
              <a:lnSpc>
                <a:spcPts val="3161"/>
              </a:lnSpc>
            </a:pPr>
            <a:r>
              <a:rPr lang="en-US" sz="2026">
                <a:solidFill>
                  <a:srgbClr val="475569"/>
                </a:solidFill>
                <a:latin typeface="Poppins"/>
                <a:ea typeface="Poppins"/>
                <a:cs typeface="Poppins"/>
                <a:sym typeface="Poppins"/>
              </a:rPr>
              <a:t>•  About ₦600,000 below the deliveries-times-fee estimate: August's revenue fell even as deliveries rose.</a:t>
            </a:r>
          </a:p>
          <a:p>
            <a:pPr algn="l">
              <a:lnSpc>
                <a:spcPts val="3161"/>
              </a:lnSpc>
            </a:pPr>
            <a:r>
              <a:rPr lang="en-US" sz="2026">
                <a:solidFill>
                  <a:srgbClr val="475569"/>
                </a:solidFill>
                <a:latin typeface="Poppins"/>
                <a:ea typeface="Poppins"/>
                <a:cs typeface="Poppins"/>
                <a:sym typeface="Poppins"/>
              </a:rPr>
              <a:t>•  Two methods, roughly ₦12.4m to ₦13.0m. The gap is reported as the range, not smoothed away.</a:t>
            </a:r>
          </a:p>
          <a:p>
            <a:pPr algn="l">
              <a:lnSpc>
                <a:spcPts val="3161"/>
              </a:lnSpc>
            </a:pPr>
            <a:r>
              <a:rPr lang="en-US" sz="2026">
                <a:solidFill>
                  <a:srgbClr val="475569"/>
                </a:solidFill>
                <a:latin typeface="Poppins"/>
                <a:ea typeface="Poppins"/>
                <a:cs typeface="Poppins"/>
                <a:sym typeface="Poppins"/>
              </a:rPr>
              <a:t>•  Handed to Adaeze as a range, with both assumptions stated.</a:t>
            </a:r>
          </a:p>
        </p:txBody>
      </p:sp>
      <p:sp>
        <p:nvSpPr>
          <p:cNvPr name="TextBox 27" id="27"/>
          <p:cNvSpPr txBox="true"/>
          <p:nvPr/>
        </p:nvSpPr>
        <p:spPr>
          <a:xfrm rot="0">
            <a:off x="1029500" y="8319745"/>
            <a:ext cx="14893500" cy="791108"/>
          </a:xfrm>
          <a:prstGeom prst="rect">
            <a:avLst/>
          </a:prstGeom>
        </p:spPr>
        <p:txBody>
          <a:bodyPr anchor="t" rtlCol="false" tIns="0" lIns="0" bIns="0" rIns="0">
            <a:spAutoFit/>
          </a:bodyPr>
          <a:lstStyle/>
          <a:p>
            <a:pPr algn="l">
              <a:lnSpc>
                <a:spcPts val="3512"/>
              </a:lnSpc>
            </a:pPr>
            <a:r>
              <a:rPr lang="en-US" sz="2251" i="true">
                <a:solidFill>
                  <a:srgbClr val="64748B"/>
                </a:solidFill>
                <a:latin typeface="Poppins Italics"/>
                <a:ea typeface="Poppins Italics"/>
                <a:cs typeface="Poppins Italics"/>
                <a:sym typeface="Poppins Italics"/>
              </a:rPr>
              <a:t>Same starting data, same AI tool. The difference is whether a second method was ever asked to check the first.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6186249" cy="771525"/>
          </a:xfrm>
          <a:prstGeom prst="rect">
            <a:avLst/>
          </a:prstGeom>
        </p:spPr>
        <p:txBody>
          <a:bodyPr anchor="t" rtlCol="false" tIns="0" lIns="0" bIns="0" rIns="0">
            <a:spAutoFit/>
          </a:bodyPr>
          <a:lstStyle/>
          <a:p>
            <a:pPr algn="l">
              <a:lnSpc>
                <a:spcPts val="5760"/>
              </a:lnSpc>
            </a:pPr>
            <a:r>
              <a:rPr lang="en-US" sz="4800">
                <a:solidFill>
                  <a:srgbClr val="388080"/>
                </a:solidFill>
                <a:latin typeface="Poppins"/>
                <a:ea typeface="Poppins"/>
                <a:cs typeface="Poppins"/>
                <a:sym typeface="Poppins"/>
              </a:rPr>
              <a:t>Communica</a:t>
            </a:r>
            <a:r>
              <a:rPr lang="en-US" sz="4800">
                <a:solidFill>
                  <a:srgbClr val="388080"/>
                </a:solidFill>
                <a:latin typeface="Poppins"/>
                <a:ea typeface="Poppins"/>
                <a:cs typeface="Poppins"/>
                <a:sym typeface="Poppins"/>
              </a:rPr>
              <a:t>ting uncertainty is part of the deliverable</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62025" y="2303012"/>
            <a:ext cx="14893500" cy="4598451"/>
            <a:chOff x="0" y="0"/>
            <a:chExt cx="19857999" cy="6131268"/>
          </a:xfrm>
        </p:grpSpPr>
        <p:sp>
          <p:nvSpPr>
            <p:cNvPr name="Freeform 12" id="12"/>
            <p:cNvSpPr/>
            <p:nvPr/>
          </p:nvSpPr>
          <p:spPr>
            <a:xfrm flipH="false" flipV="false" rot="0">
              <a:off x="0" y="0"/>
              <a:ext cx="19857974" cy="6131179"/>
            </a:xfrm>
            <a:custGeom>
              <a:avLst/>
              <a:gdLst/>
              <a:ahLst/>
              <a:cxnLst/>
              <a:rect r="r" b="b" t="t" l="l"/>
              <a:pathLst>
                <a:path h="6131179" w="19857974">
                  <a:moveTo>
                    <a:pt x="0" y="164719"/>
                  </a:moveTo>
                  <a:cubicBezTo>
                    <a:pt x="0" y="73787"/>
                    <a:pt x="73787" y="0"/>
                    <a:pt x="164719" y="0"/>
                  </a:cubicBezTo>
                  <a:lnTo>
                    <a:pt x="19693255" y="0"/>
                  </a:lnTo>
                  <a:cubicBezTo>
                    <a:pt x="19784188" y="0"/>
                    <a:pt x="19857974" y="73787"/>
                    <a:pt x="19857974" y="164719"/>
                  </a:cubicBezTo>
                  <a:lnTo>
                    <a:pt x="19857974" y="5966460"/>
                  </a:lnTo>
                  <a:cubicBezTo>
                    <a:pt x="19857974" y="6057392"/>
                    <a:pt x="19784188" y="6131179"/>
                    <a:pt x="19693255" y="6131179"/>
                  </a:cubicBezTo>
                  <a:lnTo>
                    <a:pt x="164719" y="6131179"/>
                  </a:lnTo>
                  <a:cubicBezTo>
                    <a:pt x="73787" y="6131306"/>
                    <a:pt x="0" y="6057519"/>
                    <a:pt x="0" y="5966460"/>
                  </a:cubicBezTo>
                  <a:close/>
                </a:path>
              </a:pathLst>
            </a:custGeom>
            <a:solidFill>
              <a:srgbClr val="FFFFFF"/>
            </a:solidFill>
          </p:spPr>
        </p:sp>
      </p:grpSp>
      <p:sp>
        <p:nvSpPr>
          <p:cNvPr name="TextBox 13" id="13"/>
          <p:cNvSpPr txBox="true"/>
          <p:nvPr/>
        </p:nvSpPr>
        <p:spPr>
          <a:xfrm rot="0">
            <a:off x="1511094" y="2659618"/>
            <a:ext cx="13795362" cy="3898678"/>
          </a:xfrm>
          <a:prstGeom prst="rect">
            <a:avLst/>
          </a:prstGeom>
        </p:spPr>
        <p:txBody>
          <a:bodyPr anchor="t" rtlCol="false" tIns="0" lIns="0" bIns="0" rIns="0">
            <a:spAutoFit/>
          </a:bodyPr>
          <a:lstStyle/>
          <a:p>
            <a:pPr algn="l">
              <a:lnSpc>
                <a:spcPts val="4215"/>
              </a:lnSpc>
            </a:pPr>
            <a:r>
              <a:rPr lang="en-US" sz="2702">
                <a:solidFill>
                  <a:srgbClr val="475569"/>
                </a:solidFill>
                <a:latin typeface="Poppins"/>
                <a:ea typeface="Poppins"/>
                <a:cs typeface="Poppins"/>
                <a:sym typeface="Poppins"/>
              </a:rPr>
              <a:t>A forecast handed over as a single figure invites a false promise: that the number will be hit exactly, and that missing it is a failure. A forecast handed over as a range, with the assumptions and the sample size stated plainly, invites the right conversation instead: what would have to change for the top or bottom of that range to be the real answer. State the method used, the historical period it was fitted on, and what the method cannot see, such as seasonality that three months of data has no way of showing. That is not hedging. It is the difference between a number and evidence.</a:t>
            </a:r>
          </a:p>
        </p:txBody>
      </p:sp>
      <p:grpSp>
        <p:nvGrpSpPr>
          <p:cNvPr name="Group 14" id="14"/>
          <p:cNvGrpSpPr/>
          <p:nvPr/>
        </p:nvGrpSpPr>
        <p:grpSpPr>
          <a:xfrm rot="0">
            <a:off x="962025" y="7244629"/>
            <a:ext cx="14893500" cy="1372676"/>
            <a:chOff x="0" y="0"/>
            <a:chExt cx="19857999" cy="1830235"/>
          </a:xfrm>
        </p:grpSpPr>
        <p:sp>
          <p:nvSpPr>
            <p:cNvPr name="Freeform 15" id="15"/>
            <p:cNvSpPr/>
            <p:nvPr/>
          </p:nvSpPr>
          <p:spPr>
            <a:xfrm flipH="false" flipV="false" rot="0">
              <a:off x="0" y="0"/>
              <a:ext cx="19857974" cy="1830197"/>
            </a:xfrm>
            <a:custGeom>
              <a:avLst/>
              <a:gdLst/>
              <a:ahLst/>
              <a:cxnLst/>
              <a:rect r="r" b="b" t="t" l="l"/>
              <a:pathLst>
                <a:path h="1830197" w="19857974">
                  <a:moveTo>
                    <a:pt x="0" y="164719"/>
                  </a:moveTo>
                  <a:cubicBezTo>
                    <a:pt x="0" y="73787"/>
                    <a:pt x="73787" y="0"/>
                    <a:pt x="164719" y="0"/>
                  </a:cubicBezTo>
                  <a:lnTo>
                    <a:pt x="19693255" y="0"/>
                  </a:lnTo>
                  <a:cubicBezTo>
                    <a:pt x="19784188" y="0"/>
                    <a:pt x="19857974" y="73787"/>
                    <a:pt x="19857974" y="164719"/>
                  </a:cubicBezTo>
                  <a:lnTo>
                    <a:pt x="19857974" y="1665478"/>
                  </a:lnTo>
                  <a:cubicBezTo>
                    <a:pt x="19857974" y="1756410"/>
                    <a:pt x="19784188" y="1830197"/>
                    <a:pt x="19693255" y="1830197"/>
                  </a:cubicBezTo>
                  <a:lnTo>
                    <a:pt x="164719" y="1830197"/>
                  </a:lnTo>
                  <a:cubicBezTo>
                    <a:pt x="73787" y="1830197"/>
                    <a:pt x="0" y="1756537"/>
                    <a:pt x="0" y="1665478"/>
                  </a:cubicBezTo>
                  <a:close/>
                </a:path>
              </a:pathLst>
            </a:custGeom>
            <a:solidFill>
              <a:srgbClr val="F4F7F7"/>
            </a:solidFill>
          </p:spPr>
        </p:sp>
      </p:grpSp>
      <p:grpSp>
        <p:nvGrpSpPr>
          <p:cNvPr name="Group 16" id="16"/>
          <p:cNvGrpSpPr/>
          <p:nvPr/>
        </p:nvGrpSpPr>
        <p:grpSpPr>
          <a:xfrm rot="0">
            <a:off x="962025" y="7244629"/>
            <a:ext cx="82363" cy="1372676"/>
            <a:chOff x="0" y="0"/>
            <a:chExt cx="109817" cy="1830235"/>
          </a:xfrm>
        </p:grpSpPr>
        <p:sp>
          <p:nvSpPr>
            <p:cNvPr name="Freeform 17" id="17"/>
            <p:cNvSpPr/>
            <p:nvPr/>
          </p:nvSpPr>
          <p:spPr>
            <a:xfrm flipH="false" flipV="false" rot="0">
              <a:off x="0" y="0"/>
              <a:ext cx="109855" cy="1830197"/>
            </a:xfrm>
            <a:custGeom>
              <a:avLst/>
              <a:gdLst/>
              <a:ahLst/>
              <a:cxnLst/>
              <a:rect r="r" b="b" t="t" l="l"/>
              <a:pathLst>
                <a:path h="1830197" w="109855">
                  <a:moveTo>
                    <a:pt x="0" y="0"/>
                  </a:moveTo>
                  <a:lnTo>
                    <a:pt x="109855" y="0"/>
                  </a:lnTo>
                  <a:lnTo>
                    <a:pt x="109855" y="1830197"/>
                  </a:lnTo>
                  <a:lnTo>
                    <a:pt x="0" y="1830197"/>
                  </a:lnTo>
                  <a:close/>
                </a:path>
              </a:pathLst>
            </a:custGeom>
            <a:solidFill>
              <a:srgbClr val="387F7F"/>
            </a:solidFill>
          </p:spPr>
        </p:sp>
      </p:grpSp>
      <p:grpSp>
        <p:nvGrpSpPr>
          <p:cNvPr name="Group 18" id="18"/>
          <p:cNvGrpSpPr/>
          <p:nvPr/>
        </p:nvGrpSpPr>
        <p:grpSpPr>
          <a:xfrm rot="0">
            <a:off x="1511094" y="7244629"/>
            <a:ext cx="13795362" cy="1372676"/>
            <a:chOff x="0" y="0"/>
            <a:chExt cx="18393816" cy="1830235"/>
          </a:xfrm>
        </p:grpSpPr>
        <p:sp>
          <p:nvSpPr>
            <p:cNvPr name="Freeform 19" id="19"/>
            <p:cNvSpPr/>
            <p:nvPr/>
          </p:nvSpPr>
          <p:spPr>
            <a:xfrm flipH="false" flipV="false" rot="0">
              <a:off x="0" y="0"/>
              <a:ext cx="18393811" cy="1830230"/>
            </a:xfrm>
            <a:custGeom>
              <a:avLst/>
              <a:gdLst/>
              <a:ahLst/>
              <a:cxnLst/>
              <a:rect r="r" b="b" t="t" l="l"/>
              <a:pathLst>
                <a:path h="1830230" w="18393811">
                  <a:moveTo>
                    <a:pt x="0" y="0"/>
                  </a:moveTo>
                  <a:lnTo>
                    <a:pt x="18393811" y="0"/>
                  </a:lnTo>
                  <a:lnTo>
                    <a:pt x="18393811" y="1830230"/>
                  </a:lnTo>
                  <a:lnTo>
                    <a:pt x="0" y="1830230"/>
                  </a:lnTo>
                  <a:close/>
                </a:path>
              </a:pathLst>
            </a:custGeom>
            <a:blipFill>
              <a:blip r:embed="rId9">
                <a:alphaModFix amt="0"/>
              </a:blip>
              <a:stretch>
                <a:fillRect l="0" t="-145824" r="0" b="-145824"/>
              </a:stretch>
            </a:blipFill>
          </p:spPr>
        </p:sp>
        <p:sp>
          <p:nvSpPr>
            <p:cNvPr name="TextBox 20" id="20"/>
            <p:cNvSpPr txBox="true"/>
            <p:nvPr/>
          </p:nvSpPr>
          <p:spPr>
            <a:xfrm>
              <a:off x="0" y="-104775"/>
              <a:ext cx="18393816" cy="1935010"/>
            </a:xfrm>
            <a:prstGeom prst="rect">
              <a:avLst/>
            </a:prstGeom>
          </p:spPr>
          <p:txBody>
            <a:bodyPr anchor="ctr" rtlCol="false" tIns="0" lIns="0" bIns="0" rIns="0"/>
            <a:lstStyle/>
            <a:p>
              <a:pPr algn="l">
                <a:lnSpc>
                  <a:spcPts val="3746"/>
                </a:lnSpc>
              </a:pPr>
              <a:r>
                <a:rPr lang="en-US" sz="2401" b="true">
                  <a:solidFill>
                    <a:srgbClr val="387F7F"/>
                  </a:solidFill>
                  <a:latin typeface="Poppins Bold"/>
                  <a:ea typeface="Poppins Bold"/>
                  <a:cs typeface="Poppins Bold"/>
                  <a:sym typeface="Poppins Bold"/>
                </a:rPr>
                <a:t>"₦12.4m to ₦13.0m, from three months of trend, no seasonality data" is a more useful sentence than any single figure.</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301840" cy="10295039"/>
            <a:chOff x="0" y="0"/>
            <a:chExt cx="24402453" cy="13726719"/>
          </a:xfrm>
        </p:grpSpPr>
        <p:sp>
          <p:nvSpPr>
            <p:cNvPr name="Freeform 4" id="4"/>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20494A"/>
            </a:solidFill>
          </p:spPr>
        </p:sp>
      </p:grpSp>
      <p:grpSp>
        <p:nvGrpSpPr>
          <p:cNvPr name="Group 5" id="5"/>
          <p:cNvGrpSpPr/>
          <p:nvPr/>
        </p:nvGrpSpPr>
        <p:grpSpPr>
          <a:xfrm rot="0">
            <a:off x="851059" y="480431"/>
            <a:ext cx="4392549" cy="2882608"/>
            <a:chOff x="0" y="0"/>
            <a:chExt cx="5856732" cy="3843477"/>
          </a:xfrm>
        </p:grpSpPr>
        <p:sp>
          <p:nvSpPr>
            <p:cNvPr name="Freeform 6" id="6"/>
            <p:cNvSpPr/>
            <p:nvPr/>
          </p:nvSpPr>
          <p:spPr>
            <a:xfrm flipH="false" flipV="false" rot="0">
              <a:off x="0" y="0"/>
              <a:ext cx="5856736" cy="3843483"/>
            </a:xfrm>
            <a:custGeom>
              <a:avLst/>
              <a:gdLst/>
              <a:ahLst/>
              <a:cxnLst/>
              <a:rect r="r" b="b" t="t" l="l"/>
              <a:pathLst>
                <a:path h="3843483" w="5856736">
                  <a:moveTo>
                    <a:pt x="0" y="0"/>
                  </a:moveTo>
                  <a:lnTo>
                    <a:pt x="5856736" y="0"/>
                  </a:lnTo>
                  <a:lnTo>
                    <a:pt x="5856736" y="3843483"/>
                  </a:lnTo>
                  <a:lnTo>
                    <a:pt x="0" y="3843483"/>
                  </a:lnTo>
                  <a:close/>
                </a:path>
              </a:pathLst>
            </a:custGeom>
            <a:blipFill>
              <a:blip r:embed="rId4">
                <a:alphaModFix amt="0"/>
              </a:blip>
              <a:stretch>
                <a:fillRect l="-34199" t="0" r="-34199" b="0"/>
              </a:stretch>
            </a:blipFill>
          </p:spPr>
        </p:sp>
        <p:sp>
          <p:nvSpPr>
            <p:cNvPr name="TextBox 7" id="7"/>
            <p:cNvSpPr txBox="true"/>
            <p:nvPr/>
          </p:nvSpPr>
          <p:spPr>
            <a:xfrm>
              <a:off x="0" y="-190500"/>
              <a:ext cx="5856732" cy="4033977"/>
            </a:xfrm>
            <a:prstGeom prst="rect">
              <a:avLst/>
            </a:prstGeom>
          </p:spPr>
          <p:txBody>
            <a:bodyPr anchor="ctr" rtlCol="false" tIns="0" lIns="0" bIns="0" rIns="0"/>
            <a:lstStyle/>
            <a:p>
              <a:pPr algn="l">
                <a:lnSpc>
                  <a:spcPts val="23418"/>
                </a:lnSpc>
              </a:pPr>
              <a:r>
                <a:rPr lang="en-US" sz="19515" b="true">
                  <a:solidFill>
                    <a:srgbClr val="2F6364"/>
                  </a:solidFill>
                  <a:latin typeface="Poppins Bold"/>
                  <a:ea typeface="Poppins Bold"/>
                  <a:cs typeface="Poppins Bold"/>
                  <a:sym typeface="Poppins Bold"/>
                </a:rPr>
                <a:t>03</a:t>
              </a:r>
            </a:p>
          </p:txBody>
        </p:sp>
      </p:grpSp>
      <p:grpSp>
        <p:nvGrpSpPr>
          <p:cNvPr name="Group 8" id="8"/>
          <p:cNvGrpSpPr/>
          <p:nvPr/>
        </p:nvGrpSpPr>
        <p:grpSpPr>
          <a:xfrm rot="0">
            <a:off x="1070686" y="3733667"/>
            <a:ext cx="10157774" cy="466706"/>
            <a:chOff x="0" y="0"/>
            <a:chExt cx="13543699" cy="622275"/>
          </a:xfrm>
        </p:grpSpPr>
        <p:sp>
          <p:nvSpPr>
            <p:cNvPr name="Freeform 9" id="9"/>
            <p:cNvSpPr/>
            <p:nvPr/>
          </p:nvSpPr>
          <p:spPr>
            <a:xfrm flipH="false" flipV="false" rot="0">
              <a:off x="0" y="0"/>
              <a:ext cx="13543700" cy="622278"/>
            </a:xfrm>
            <a:custGeom>
              <a:avLst/>
              <a:gdLst/>
              <a:ahLst/>
              <a:cxnLst/>
              <a:rect r="r" b="b" t="t" l="l"/>
              <a:pathLst>
                <a:path h="622278" w="13543700">
                  <a:moveTo>
                    <a:pt x="0" y="0"/>
                  </a:moveTo>
                  <a:lnTo>
                    <a:pt x="13543700" y="0"/>
                  </a:lnTo>
                  <a:lnTo>
                    <a:pt x="13543700" y="622278"/>
                  </a:lnTo>
                  <a:lnTo>
                    <a:pt x="0" y="622278"/>
                  </a:lnTo>
                  <a:close/>
                </a:path>
              </a:pathLst>
            </a:custGeom>
            <a:blipFill>
              <a:blip r:embed="rId4">
                <a:alphaModFix amt="0"/>
              </a:blip>
              <a:stretch>
                <a:fillRect l="0" t="-374086" r="0" b="-374085"/>
              </a:stretch>
            </a:blipFill>
          </p:spPr>
        </p:sp>
        <p:sp>
          <p:nvSpPr>
            <p:cNvPr name="TextBox 10" id="10"/>
            <p:cNvSpPr txBox="true"/>
            <p:nvPr/>
          </p:nvSpPr>
          <p:spPr>
            <a:xfrm>
              <a:off x="0" y="-19050"/>
              <a:ext cx="13543699" cy="641325"/>
            </a:xfrm>
            <a:prstGeom prst="rect">
              <a:avLst/>
            </a:prstGeom>
          </p:spPr>
          <p:txBody>
            <a:bodyPr anchor="ctr" rtlCol="false" tIns="0" lIns="0" bIns="0" rIns="0"/>
            <a:lstStyle/>
            <a:p>
              <a:pPr algn="l">
                <a:lnSpc>
                  <a:spcPts val="2341"/>
                </a:lnSpc>
              </a:pPr>
              <a:r>
                <a:rPr lang="en-US" b="true" sz="1951" spc="375">
                  <a:solidFill>
                    <a:srgbClr val="8FBEBE"/>
                  </a:solidFill>
                  <a:latin typeface="Poppins Bold"/>
                  <a:ea typeface="Poppins Bold"/>
                  <a:cs typeface="Poppins Bold"/>
                  <a:sym typeface="Poppins Bold"/>
                </a:rPr>
                <a:t>PART THREE</a:t>
              </a:r>
            </a:p>
          </p:txBody>
        </p:sp>
      </p:grpSp>
      <p:grpSp>
        <p:nvGrpSpPr>
          <p:cNvPr name="Group 11" id="11"/>
          <p:cNvGrpSpPr/>
          <p:nvPr/>
        </p:nvGrpSpPr>
        <p:grpSpPr>
          <a:xfrm rot="0">
            <a:off x="1070686" y="4365098"/>
            <a:ext cx="1853108" cy="116681"/>
            <a:chOff x="0" y="0"/>
            <a:chExt cx="2470810" cy="155575"/>
          </a:xfrm>
        </p:grpSpPr>
        <p:sp>
          <p:nvSpPr>
            <p:cNvPr name="Freeform 12" id="12"/>
            <p:cNvSpPr/>
            <p:nvPr/>
          </p:nvSpPr>
          <p:spPr>
            <a:xfrm flipH="false" flipV="false" rot="0">
              <a:off x="0" y="0"/>
              <a:ext cx="2470785" cy="155575"/>
            </a:xfrm>
            <a:custGeom>
              <a:avLst/>
              <a:gdLst/>
              <a:ahLst/>
              <a:cxnLst/>
              <a:rect r="r" b="b" t="t" l="l"/>
              <a:pathLst>
                <a:path h="155575" w="2470785">
                  <a:moveTo>
                    <a:pt x="0" y="0"/>
                  </a:moveTo>
                  <a:lnTo>
                    <a:pt x="2470785" y="0"/>
                  </a:lnTo>
                  <a:lnTo>
                    <a:pt x="2470785" y="155575"/>
                  </a:lnTo>
                  <a:lnTo>
                    <a:pt x="0" y="155575"/>
                  </a:lnTo>
                  <a:close/>
                </a:path>
              </a:pathLst>
            </a:custGeom>
            <a:solidFill>
              <a:srgbClr val="387F7F"/>
            </a:solidFill>
          </p:spPr>
        </p:sp>
      </p:grpSp>
      <p:grpSp>
        <p:nvGrpSpPr>
          <p:cNvPr name="Group 13" id="13"/>
          <p:cNvGrpSpPr/>
          <p:nvPr/>
        </p:nvGrpSpPr>
        <p:grpSpPr>
          <a:xfrm rot="0">
            <a:off x="1070686" y="4735716"/>
            <a:ext cx="11118647" cy="2196274"/>
            <a:chOff x="0" y="0"/>
            <a:chExt cx="14824862" cy="2928366"/>
          </a:xfrm>
        </p:grpSpPr>
        <p:sp>
          <p:nvSpPr>
            <p:cNvPr name="Freeform 14" id="14"/>
            <p:cNvSpPr/>
            <p:nvPr/>
          </p:nvSpPr>
          <p:spPr>
            <a:xfrm flipH="false" flipV="false" rot="0">
              <a:off x="0" y="0"/>
              <a:ext cx="14824863" cy="2928368"/>
            </a:xfrm>
            <a:custGeom>
              <a:avLst/>
              <a:gdLst/>
              <a:ahLst/>
              <a:cxnLst/>
              <a:rect r="r" b="b" t="t" l="l"/>
              <a:pathLst>
                <a:path h="2928368" w="14824863">
                  <a:moveTo>
                    <a:pt x="0" y="0"/>
                  </a:moveTo>
                  <a:lnTo>
                    <a:pt x="14824863" y="0"/>
                  </a:lnTo>
                  <a:lnTo>
                    <a:pt x="14824863" y="2928368"/>
                  </a:lnTo>
                  <a:lnTo>
                    <a:pt x="0" y="2928368"/>
                  </a:lnTo>
                  <a:close/>
                </a:path>
              </a:pathLst>
            </a:custGeom>
            <a:blipFill>
              <a:blip r:embed="rId4">
                <a:alphaModFix amt="0"/>
              </a:blip>
              <a:stretch>
                <a:fillRect l="0" t="-48643" r="0" b="-48642"/>
              </a:stretch>
            </a:blipFill>
          </p:spPr>
        </p:sp>
        <p:sp>
          <p:nvSpPr>
            <p:cNvPr name="TextBox 15" id="15"/>
            <p:cNvSpPr txBox="true"/>
            <p:nvPr/>
          </p:nvSpPr>
          <p:spPr>
            <a:xfrm>
              <a:off x="0" y="-114300"/>
              <a:ext cx="14824862" cy="3042666"/>
            </a:xfrm>
            <a:prstGeom prst="rect">
              <a:avLst/>
            </a:prstGeom>
          </p:spPr>
          <p:txBody>
            <a:bodyPr anchor="ctr" rtlCol="false" tIns="0" lIns="0" bIns="0" rIns="0"/>
            <a:lstStyle/>
            <a:p>
              <a:pPr algn="l">
                <a:lnSpc>
                  <a:spcPts val="7003"/>
                </a:lnSpc>
              </a:pPr>
              <a:r>
                <a:rPr lang="en-US" sz="5404" b="true">
                  <a:solidFill>
                    <a:srgbClr val="FFFFFF"/>
                  </a:solidFill>
                  <a:latin typeface="Poppins Bold"/>
                  <a:ea typeface="Poppins Bold"/>
                  <a:cs typeface="Poppins Bold"/>
                  <a:sym typeface="Poppins Bold"/>
                </a:rPr>
                <a:t>The Q4 forecast Adaeze actually takes to finance</a:t>
              </a:r>
            </a:p>
          </p:txBody>
        </p:sp>
      </p:grpSp>
      <p:grpSp>
        <p:nvGrpSpPr>
          <p:cNvPr name="Group 16" id="16"/>
          <p:cNvGrpSpPr/>
          <p:nvPr/>
        </p:nvGrpSpPr>
        <p:grpSpPr>
          <a:xfrm rot="0">
            <a:off x="1125588" y="7405564"/>
            <a:ext cx="219627" cy="219627"/>
            <a:chOff x="0" y="0"/>
            <a:chExt cx="292837" cy="292837"/>
          </a:xfrm>
        </p:grpSpPr>
        <p:sp>
          <p:nvSpPr>
            <p:cNvPr name="Freeform 17" id="17"/>
            <p:cNvSpPr/>
            <p:nvPr/>
          </p:nvSpPr>
          <p:spPr>
            <a:xfrm flipH="false" flipV="false" rot="0">
              <a:off x="0" y="0"/>
              <a:ext cx="292862" cy="292862"/>
            </a:xfrm>
            <a:custGeom>
              <a:avLst/>
              <a:gdLst/>
              <a:ahLst/>
              <a:cxnLst/>
              <a:rect r="r" b="b" t="t" l="l"/>
              <a:pathLst>
                <a:path h="292862" w="292862">
                  <a:moveTo>
                    <a:pt x="0" y="146431"/>
                  </a:moveTo>
                  <a:cubicBezTo>
                    <a:pt x="0" y="65532"/>
                    <a:pt x="65532" y="0"/>
                    <a:pt x="146431" y="0"/>
                  </a:cubicBezTo>
                  <a:cubicBezTo>
                    <a:pt x="227330" y="0"/>
                    <a:pt x="292862" y="65532"/>
                    <a:pt x="292862" y="146431"/>
                  </a:cubicBezTo>
                  <a:cubicBezTo>
                    <a:pt x="292862" y="227330"/>
                    <a:pt x="227330" y="292862"/>
                    <a:pt x="146431" y="292862"/>
                  </a:cubicBezTo>
                  <a:cubicBezTo>
                    <a:pt x="65532" y="292862"/>
                    <a:pt x="0" y="227330"/>
                    <a:pt x="0" y="146431"/>
                  </a:cubicBezTo>
                  <a:close/>
                </a:path>
              </a:pathLst>
            </a:custGeom>
            <a:solidFill>
              <a:srgbClr val="387F7F"/>
            </a:solidFill>
          </p:spPr>
        </p:sp>
      </p:grpSp>
      <p:grpSp>
        <p:nvGrpSpPr>
          <p:cNvPr name="Group 18" id="18"/>
          <p:cNvGrpSpPr/>
          <p:nvPr/>
        </p:nvGrpSpPr>
        <p:grpSpPr>
          <a:xfrm rot="0">
            <a:off x="1647206" y="7288892"/>
            <a:ext cx="9883245" cy="466706"/>
            <a:chOff x="0" y="0"/>
            <a:chExt cx="13177660" cy="622275"/>
          </a:xfrm>
        </p:grpSpPr>
        <p:sp>
          <p:nvSpPr>
            <p:cNvPr name="Freeform 19" id="19"/>
            <p:cNvSpPr/>
            <p:nvPr/>
          </p:nvSpPr>
          <p:spPr>
            <a:xfrm flipH="false" flipV="false" rot="0">
              <a:off x="0" y="0"/>
              <a:ext cx="13177655" cy="622278"/>
            </a:xfrm>
            <a:custGeom>
              <a:avLst/>
              <a:gdLst/>
              <a:ahLst/>
              <a:cxnLst/>
              <a:rect r="r" b="b" t="t" l="l"/>
              <a:pathLst>
                <a:path h="622278" w="13177655">
                  <a:moveTo>
                    <a:pt x="0" y="0"/>
                  </a:moveTo>
                  <a:lnTo>
                    <a:pt x="13177655" y="0"/>
                  </a:lnTo>
                  <a:lnTo>
                    <a:pt x="13177655" y="622278"/>
                  </a:lnTo>
                  <a:lnTo>
                    <a:pt x="0" y="622278"/>
                  </a:lnTo>
                  <a:close/>
                </a:path>
              </a:pathLst>
            </a:custGeom>
            <a:blipFill>
              <a:blip r:embed="rId4">
                <a:alphaModFix amt="0"/>
              </a:blip>
              <a:stretch>
                <a:fillRect l="0" t="-362624" r="0" b="-362624"/>
              </a:stretch>
            </a:blipFill>
          </p:spPr>
        </p:sp>
        <p:sp>
          <p:nvSpPr>
            <p:cNvPr name="TextBox 20" id="20"/>
            <p:cNvSpPr txBox="true"/>
            <p:nvPr/>
          </p:nvSpPr>
          <p:spPr>
            <a:xfrm>
              <a:off x="0" y="-19050"/>
              <a:ext cx="13177660" cy="641325"/>
            </a:xfrm>
            <a:prstGeom prst="rect">
              <a:avLst/>
            </a:prstGeom>
          </p:spPr>
          <p:txBody>
            <a:bodyPr anchor="ctr" rtlCol="false" tIns="0" lIns="0" bIns="0" rIns="0"/>
            <a:lstStyle/>
            <a:p>
              <a:pPr algn="l">
                <a:lnSpc>
                  <a:spcPts val="2431"/>
                </a:lnSpc>
              </a:pPr>
              <a:r>
                <a:rPr lang="en-US" sz="2026">
                  <a:solidFill>
                    <a:srgbClr val="C3DAD9"/>
                  </a:solidFill>
                  <a:latin typeface="Poppins"/>
                  <a:ea typeface="Poppins"/>
                  <a:cs typeface="Poppins"/>
                  <a:sym typeface="Poppins"/>
                </a:rPr>
                <a:t>The final range and the two assumptions behind it</a:t>
              </a:r>
            </a:p>
          </p:txBody>
        </p:sp>
      </p:grpSp>
      <p:grpSp>
        <p:nvGrpSpPr>
          <p:cNvPr name="Group 21" id="21"/>
          <p:cNvGrpSpPr/>
          <p:nvPr/>
        </p:nvGrpSpPr>
        <p:grpSpPr>
          <a:xfrm rot="0">
            <a:off x="1125588" y="7982093"/>
            <a:ext cx="219627" cy="219627"/>
            <a:chOff x="0" y="0"/>
            <a:chExt cx="292837" cy="292837"/>
          </a:xfrm>
        </p:grpSpPr>
        <p:sp>
          <p:nvSpPr>
            <p:cNvPr name="Freeform 22" id="22"/>
            <p:cNvSpPr/>
            <p:nvPr/>
          </p:nvSpPr>
          <p:spPr>
            <a:xfrm flipH="false" flipV="false" rot="0">
              <a:off x="0" y="0"/>
              <a:ext cx="292862" cy="292862"/>
            </a:xfrm>
            <a:custGeom>
              <a:avLst/>
              <a:gdLst/>
              <a:ahLst/>
              <a:cxnLst/>
              <a:rect r="r" b="b" t="t" l="l"/>
              <a:pathLst>
                <a:path h="292862" w="292862">
                  <a:moveTo>
                    <a:pt x="0" y="146431"/>
                  </a:moveTo>
                  <a:cubicBezTo>
                    <a:pt x="0" y="65532"/>
                    <a:pt x="65532" y="0"/>
                    <a:pt x="146431" y="0"/>
                  </a:cubicBezTo>
                  <a:cubicBezTo>
                    <a:pt x="227330" y="0"/>
                    <a:pt x="292862" y="65532"/>
                    <a:pt x="292862" y="146431"/>
                  </a:cubicBezTo>
                  <a:cubicBezTo>
                    <a:pt x="292862" y="227330"/>
                    <a:pt x="227330" y="292862"/>
                    <a:pt x="146431" y="292862"/>
                  </a:cubicBezTo>
                  <a:cubicBezTo>
                    <a:pt x="65532" y="292862"/>
                    <a:pt x="0" y="227330"/>
                    <a:pt x="0" y="146431"/>
                  </a:cubicBezTo>
                  <a:close/>
                </a:path>
              </a:pathLst>
            </a:custGeom>
            <a:solidFill>
              <a:srgbClr val="387F7F"/>
            </a:solidFill>
          </p:spPr>
        </p:sp>
      </p:grpSp>
      <p:grpSp>
        <p:nvGrpSpPr>
          <p:cNvPr name="Group 23" id="23"/>
          <p:cNvGrpSpPr/>
          <p:nvPr/>
        </p:nvGrpSpPr>
        <p:grpSpPr>
          <a:xfrm rot="0">
            <a:off x="1647206" y="7865412"/>
            <a:ext cx="9883245" cy="466706"/>
            <a:chOff x="0" y="0"/>
            <a:chExt cx="13177660" cy="622275"/>
          </a:xfrm>
        </p:grpSpPr>
        <p:sp>
          <p:nvSpPr>
            <p:cNvPr name="Freeform 24" id="24"/>
            <p:cNvSpPr/>
            <p:nvPr/>
          </p:nvSpPr>
          <p:spPr>
            <a:xfrm flipH="false" flipV="false" rot="0">
              <a:off x="0" y="0"/>
              <a:ext cx="13177655" cy="622278"/>
            </a:xfrm>
            <a:custGeom>
              <a:avLst/>
              <a:gdLst/>
              <a:ahLst/>
              <a:cxnLst/>
              <a:rect r="r" b="b" t="t" l="l"/>
              <a:pathLst>
                <a:path h="622278" w="13177655">
                  <a:moveTo>
                    <a:pt x="0" y="0"/>
                  </a:moveTo>
                  <a:lnTo>
                    <a:pt x="13177655" y="0"/>
                  </a:lnTo>
                  <a:lnTo>
                    <a:pt x="13177655" y="622278"/>
                  </a:lnTo>
                  <a:lnTo>
                    <a:pt x="0" y="622278"/>
                  </a:lnTo>
                  <a:close/>
                </a:path>
              </a:pathLst>
            </a:custGeom>
            <a:blipFill>
              <a:blip r:embed="rId4">
                <a:alphaModFix amt="0"/>
              </a:blip>
              <a:stretch>
                <a:fillRect l="0" t="-362624" r="0" b="-362624"/>
              </a:stretch>
            </a:blipFill>
          </p:spPr>
        </p:sp>
        <p:sp>
          <p:nvSpPr>
            <p:cNvPr name="TextBox 25" id="25"/>
            <p:cNvSpPr txBox="true"/>
            <p:nvPr/>
          </p:nvSpPr>
          <p:spPr>
            <a:xfrm>
              <a:off x="0" y="-19050"/>
              <a:ext cx="13177660" cy="641325"/>
            </a:xfrm>
            <a:prstGeom prst="rect">
              <a:avLst/>
            </a:prstGeom>
          </p:spPr>
          <p:txBody>
            <a:bodyPr anchor="ctr" rtlCol="false" tIns="0" lIns="0" bIns="0" rIns="0"/>
            <a:lstStyle/>
            <a:p>
              <a:pPr algn="l">
                <a:lnSpc>
                  <a:spcPts val="2431"/>
                </a:lnSpc>
              </a:pPr>
              <a:r>
                <a:rPr lang="en-US" sz="2026">
                  <a:solidFill>
                    <a:srgbClr val="C3DAD9"/>
                  </a:solidFill>
                  <a:latin typeface="Poppins"/>
                  <a:ea typeface="Poppins"/>
                  <a:cs typeface="Poppins"/>
                  <a:sym typeface="Poppins"/>
                </a:rPr>
                <a:t>What could break the trend that three months cannot show</a:t>
              </a:r>
            </a:p>
          </p:txBody>
        </p:sp>
      </p:grpSp>
      <p:grpSp>
        <p:nvGrpSpPr>
          <p:cNvPr name="Group 26" id="26"/>
          <p:cNvGrpSpPr/>
          <p:nvPr/>
        </p:nvGrpSpPr>
        <p:grpSpPr>
          <a:xfrm rot="0">
            <a:off x="1125588" y="8558613"/>
            <a:ext cx="219627" cy="219627"/>
            <a:chOff x="0" y="0"/>
            <a:chExt cx="292837" cy="292837"/>
          </a:xfrm>
        </p:grpSpPr>
        <p:sp>
          <p:nvSpPr>
            <p:cNvPr name="Freeform 27" id="27"/>
            <p:cNvSpPr/>
            <p:nvPr/>
          </p:nvSpPr>
          <p:spPr>
            <a:xfrm flipH="false" flipV="false" rot="0">
              <a:off x="0" y="0"/>
              <a:ext cx="292862" cy="292862"/>
            </a:xfrm>
            <a:custGeom>
              <a:avLst/>
              <a:gdLst/>
              <a:ahLst/>
              <a:cxnLst/>
              <a:rect r="r" b="b" t="t" l="l"/>
              <a:pathLst>
                <a:path h="292862" w="292862">
                  <a:moveTo>
                    <a:pt x="0" y="146431"/>
                  </a:moveTo>
                  <a:cubicBezTo>
                    <a:pt x="0" y="65532"/>
                    <a:pt x="65532" y="0"/>
                    <a:pt x="146431" y="0"/>
                  </a:cubicBezTo>
                  <a:cubicBezTo>
                    <a:pt x="227330" y="0"/>
                    <a:pt x="292862" y="65532"/>
                    <a:pt x="292862" y="146431"/>
                  </a:cubicBezTo>
                  <a:cubicBezTo>
                    <a:pt x="292862" y="227330"/>
                    <a:pt x="227330" y="292862"/>
                    <a:pt x="146431" y="292862"/>
                  </a:cubicBezTo>
                  <a:cubicBezTo>
                    <a:pt x="65532" y="292862"/>
                    <a:pt x="0" y="227330"/>
                    <a:pt x="0" y="146431"/>
                  </a:cubicBezTo>
                  <a:close/>
                </a:path>
              </a:pathLst>
            </a:custGeom>
            <a:solidFill>
              <a:srgbClr val="387F7F"/>
            </a:solidFill>
          </p:spPr>
        </p:sp>
      </p:grpSp>
      <p:grpSp>
        <p:nvGrpSpPr>
          <p:cNvPr name="Group 28" id="28"/>
          <p:cNvGrpSpPr/>
          <p:nvPr/>
        </p:nvGrpSpPr>
        <p:grpSpPr>
          <a:xfrm rot="0">
            <a:off x="1647206" y="8441931"/>
            <a:ext cx="9883245" cy="466706"/>
            <a:chOff x="0" y="0"/>
            <a:chExt cx="13177660" cy="622275"/>
          </a:xfrm>
        </p:grpSpPr>
        <p:sp>
          <p:nvSpPr>
            <p:cNvPr name="Freeform 29" id="29"/>
            <p:cNvSpPr/>
            <p:nvPr/>
          </p:nvSpPr>
          <p:spPr>
            <a:xfrm flipH="false" flipV="false" rot="0">
              <a:off x="0" y="0"/>
              <a:ext cx="13177655" cy="622278"/>
            </a:xfrm>
            <a:custGeom>
              <a:avLst/>
              <a:gdLst/>
              <a:ahLst/>
              <a:cxnLst/>
              <a:rect r="r" b="b" t="t" l="l"/>
              <a:pathLst>
                <a:path h="622278" w="13177655">
                  <a:moveTo>
                    <a:pt x="0" y="0"/>
                  </a:moveTo>
                  <a:lnTo>
                    <a:pt x="13177655" y="0"/>
                  </a:lnTo>
                  <a:lnTo>
                    <a:pt x="13177655" y="622278"/>
                  </a:lnTo>
                  <a:lnTo>
                    <a:pt x="0" y="622278"/>
                  </a:lnTo>
                  <a:close/>
                </a:path>
              </a:pathLst>
            </a:custGeom>
            <a:blipFill>
              <a:blip r:embed="rId4">
                <a:alphaModFix amt="0"/>
              </a:blip>
              <a:stretch>
                <a:fillRect l="0" t="-362624" r="0" b="-362624"/>
              </a:stretch>
            </a:blipFill>
          </p:spPr>
        </p:sp>
        <p:sp>
          <p:nvSpPr>
            <p:cNvPr name="TextBox 30" id="30"/>
            <p:cNvSpPr txBox="true"/>
            <p:nvPr/>
          </p:nvSpPr>
          <p:spPr>
            <a:xfrm>
              <a:off x="0" y="-19050"/>
              <a:ext cx="13177660" cy="641325"/>
            </a:xfrm>
            <a:prstGeom prst="rect">
              <a:avLst/>
            </a:prstGeom>
          </p:spPr>
          <p:txBody>
            <a:bodyPr anchor="ctr" rtlCol="false" tIns="0" lIns="0" bIns="0" rIns="0"/>
            <a:lstStyle/>
            <a:p>
              <a:pPr algn="l">
                <a:lnSpc>
                  <a:spcPts val="2431"/>
                </a:lnSpc>
              </a:pPr>
              <a:r>
                <a:rPr lang="en-US" sz="2026">
                  <a:solidFill>
                    <a:srgbClr val="C3DAD9"/>
                  </a:solidFill>
                  <a:latin typeface="Poppins"/>
                  <a:ea typeface="Poppins"/>
                  <a:cs typeface="Poppins"/>
                  <a:sym typeface="Poppins"/>
                </a:rPr>
                <a:t>Your turn: forecast one more figure the same way</a:t>
              </a:r>
            </a:p>
          </p:txBody>
        </p:sp>
      </p:grpSp>
      <p:grpSp>
        <p:nvGrpSpPr>
          <p:cNvPr name="Group 31" id="31"/>
          <p:cNvGrpSpPr/>
          <p:nvPr/>
        </p:nvGrpSpPr>
        <p:grpSpPr>
          <a:xfrm rot="0">
            <a:off x="17546869" y="9718519"/>
            <a:ext cx="549069" cy="411804"/>
            <a:chOff x="0" y="0"/>
            <a:chExt cx="732092" cy="549072"/>
          </a:xfrm>
        </p:grpSpPr>
        <p:sp>
          <p:nvSpPr>
            <p:cNvPr name="Freeform 32" id="32"/>
            <p:cNvSpPr/>
            <p:nvPr/>
          </p:nvSpPr>
          <p:spPr>
            <a:xfrm flipH="false" flipV="false" rot="0">
              <a:off x="0" y="0"/>
              <a:ext cx="732092" cy="549069"/>
            </a:xfrm>
            <a:custGeom>
              <a:avLst/>
              <a:gdLst/>
              <a:ahLst/>
              <a:cxnLst/>
              <a:rect r="r" b="b" t="t" l="l"/>
              <a:pathLst>
                <a:path h="549069" w="732092">
                  <a:moveTo>
                    <a:pt x="0" y="0"/>
                  </a:moveTo>
                  <a:lnTo>
                    <a:pt x="732092" y="0"/>
                  </a:lnTo>
                  <a:lnTo>
                    <a:pt x="732092" y="549069"/>
                  </a:lnTo>
                  <a:lnTo>
                    <a:pt x="0" y="549069"/>
                  </a:lnTo>
                  <a:close/>
                </a:path>
              </a:pathLst>
            </a:custGeom>
            <a:blipFill>
              <a:blip r:embed="rId4">
                <a:alphaModFix amt="0"/>
              </a:blip>
              <a:stretch>
                <a:fillRect l="-46228" t="0" r="-46228" b="0"/>
              </a:stretch>
            </a:blipFill>
          </p:spPr>
        </p:sp>
        <p:sp>
          <p:nvSpPr>
            <p:cNvPr name="TextBox 33" id="33"/>
            <p:cNvSpPr txBox="true"/>
            <p:nvPr/>
          </p:nvSpPr>
          <p:spPr>
            <a:xfrm>
              <a:off x="0" y="-9525"/>
              <a:ext cx="732092" cy="558597"/>
            </a:xfrm>
            <a:prstGeom prst="rect">
              <a:avLst/>
            </a:prstGeom>
          </p:spPr>
          <p:txBody>
            <a:bodyPr anchor="ctr" rtlCol="false" tIns="0" lIns="0" bIns="0" rIns="0"/>
            <a:lstStyle/>
            <a:p>
              <a:pPr algn="r">
                <a:lnSpc>
                  <a:spcPts val="1981"/>
                </a:lnSpc>
              </a:pPr>
              <a:r>
                <a:rPr lang="en-US" sz="1651">
                  <a:solidFill>
                    <a:srgbClr val="7FA3A3"/>
                  </a:solidFill>
                  <a:latin typeface="Poppins"/>
                  <a:ea typeface="Poppins"/>
                  <a:cs typeface="Poppins"/>
                  <a:sym typeface="Poppins"/>
                </a:rPr>
                <a:t>13</a:t>
              </a:r>
            </a:p>
          </p:txBody>
        </p:sp>
      </p:grpSp>
      <p:sp>
        <p:nvSpPr>
          <p:cNvPr name="Freeform 34" id="34"/>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7145000" cy="1495425"/>
          </a:xfrm>
          <a:prstGeom prst="rect">
            <a:avLst/>
          </a:prstGeom>
        </p:spPr>
        <p:txBody>
          <a:bodyPr anchor="t" rtlCol="false" tIns="0" lIns="0" bIns="0" rIns="0">
            <a:spAutoFit/>
          </a:bodyPr>
          <a:lstStyle/>
          <a:p>
            <a:pPr algn="l">
              <a:lnSpc>
                <a:spcPts val="5760"/>
              </a:lnSpc>
            </a:pPr>
            <a:r>
              <a:rPr lang="en-US" sz="4800">
                <a:solidFill>
                  <a:srgbClr val="388080"/>
                </a:solidFill>
                <a:latin typeface="Poppins"/>
                <a:ea typeface="Poppins"/>
                <a:cs typeface="Poppins"/>
                <a:sym typeface="Poppins"/>
              </a:rPr>
              <a:t>SwiftRoute Q4:</a:t>
            </a:r>
            <a:r>
              <a:rPr lang="en-US" sz="4800">
                <a:solidFill>
                  <a:srgbClr val="388080"/>
                </a:solidFill>
                <a:latin typeface="Poppins"/>
                <a:ea typeface="Poppins"/>
                <a:cs typeface="Poppins"/>
                <a:sym typeface="Poppins"/>
              </a:rPr>
              <a:t> the range Adaeze actually takes to finance</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029500" y="2863325"/>
            <a:ext cx="14893500" cy="4598451"/>
            <a:chOff x="0" y="0"/>
            <a:chExt cx="19857999" cy="6131268"/>
          </a:xfrm>
        </p:grpSpPr>
        <p:sp>
          <p:nvSpPr>
            <p:cNvPr name="Freeform 12" id="12"/>
            <p:cNvSpPr/>
            <p:nvPr/>
          </p:nvSpPr>
          <p:spPr>
            <a:xfrm flipH="false" flipV="false" rot="0">
              <a:off x="0" y="0"/>
              <a:ext cx="19857974" cy="6131179"/>
            </a:xfrm>
            <a:custGeom>
              <a:avLst/>
              <a:gdLst/>
              <a:ahLst/>
              <a:cxnLst/>
              <a:rect r="r" b="b" t="t" l="l"/>
              <a:pathLst>
                <a:path h="6131179" w="19857974">
                  <a:moveTo>
                    <a:pt x="0" y="164719"/>
                  </a:moveTo>
                  <a:cubicBezTo>
                    <a:pt x="0" y="73787"/>
                    <a:pt x="73787" y="0"/>
                    <a:pt x="164719" y="0"/>
                  </a:cubicBezTo>
                  <a:lnTo>
                    <a:pt x="19693255" y="0"/>
                  </a:lnTo>
                  <a:cubicBezTo>
                    <a:pt x="19784188" y="0"/>
                    <a:pt x="19857974" y="73787"/>
                    <a:pt x="19857974" y="164719"/>
                  </a:cubicBezTo>
                  <a:lnTo>
                    <a:pt x="19857974" y="5966460"/>
                  </a:lnTo>
                  <a:cubicBezTo>
                    <a:pt x="19857974" y="6057392"/>
                    <a:pt x="19784188" y="6131179"/>
                    <a:pt x="19693255" y="6131179"/>
                  </a:cubicBezTo>
                  <a:lnTo>
                    <a:pt x="164719" y="6131179"/>
                  </a:lnTo>
                  <a:cubicBezTo>
                    <a:pt x="73787" y="6131306"/>
                    <a:pt x="0" y="6057519"/>
                    <a:pt x="0" y="5966460"/>
                  </a:cubicBezTo>
                  <a:close/>
                </a:path>
              </a:pathLst>
            </a:custGeom>
            <a:solidFill>
              <a:srgbClr val="FFFFFF"/>
            </a:solidFill>
          </p:spPr>
        </p:sp>
      </p:grpSp>
      <p:grpSp>
        <p:nvGrpSpPr>
          <p:cNvPr name="Group 13" id="13"/>
          <p:cNvGrpSpPr/>
          <p:nvPr/>
        </p:nvGrpSpPr>
        <p:grpSpPr>
          <a:xfrm rot="0">
            <a:off x="1029500" y="2863325"/>
            <a:ext cx="14893500" cy="4598451"/>
            <a:chOff x="0" y="0"/>
            <a:chExt cx="19857999" cy="6131268"/>
          </a:xfrm>
        </p:grpSpPr>
        <p:sp>
          <p:nvSpPr>
            <p:cNvPr name="Freeform 14" id="14"/>
            <p:cNvSpPr/>
            <p:nvPr/>
          </p:nvSpPr>
          <p:spPr>
            <a:xfrm flipH="false" flipV="false" rot="0">
              <a:off x="0" y="0"/>
              <a:ext cx="19857974" cy="6131179"/>
            </a:xfrm>
            <a:custGeom>
              <a:avLst/>
              <a:gdLst/>
              <a:ahLst/>
              <a:cxnLst/>
              <a:rect r="r" b="b" t="t" l="l"/>
              <a:pathLst>
                <a:path h="6131179" w="19857974">
                  <a:moveTo>
                    <a:pt x="0" y="164719"/>
                  </a:moveTo>
                  <a:cubicBezTo>
                    <a:pt x="0" y="73787"/>
                    <a:pt x="73787" y="0"/>
                    <a:pt x="164719" y="0"/>
                  </a:cubicBezTo>
                  <a:lnTo>
                    <a:pt x="19693255" y="0"/>
                  </a:lnTo>
                  <a:cubicBezTo>
                    <a:pt x="19784188" y="0"/>
                    <a:pt x="19857974" y="73787"/>
                    <a:pt x="19857974" y="164719"/>
                  </a:cubicBezTo>
                  <a:lnTo>
                    <a:pt x="19857974" y="5966460"/>
                  </a:lnTo>
                  <a:cubicBezTo>
                    <a:pt x="19857974" y="6057392"/>
                    <a:pt x="19784188" y="6131179"/>
                    <a:pt x="19693255" y="6131179"/>
                  </a:cubicBezTo>
                  <a:lnTo>
                    <a:pt x="164719" y="6131179"/>
                  </a:lnTo>
                  <a:cubicBezTo>
                    <a:pt x="73787" y="6131306"/>
                    <a:pt x="0" y="6057519"/>
                    <a:pt x="0" y="5966460"/>
                  </a:cubicBezTo>
                  <a:close/>
                </a:path>
              </a:pathLst>
            </a:custGeom>
            <a:solidFill>
              <a:srgbClr val="FFFFFF"/>
            </a:solidFill>
          </p:spPr>
        </p:sp>
      </p:grpSp>
      <p:sp>
        <p:nvSpPr>
          <p:cNvPr name="TextBox 15" id="15"/>
          <p:cNvSpPr txBox="true"/>
          <p:nvPr/>
        </p:nvSpPr>
        <p:spPr>
          <a:xfrm rot="0">
            <a:off x="1372676" y="3120766"/>
            <a:ext cx="4278163" cy="497529"/>
          </a:xfrm>
          <a:prstGeom prst="rect">
            <a:avLst/>
          </a:prstGeom>
        </p:spPr>
        <p:txBody>
          <a:bodyPr anchor="t" rtlCol="false" tIns="0" lIns="0" bIns="0" rIns="0">
            <a:spAutoFit/>
          </a:bodyPr>
          <a:lstStyle/>
          <a:p>
            <a:pPr algn="l">
              <a:lnSpc>
                <a:spcPts val="2810"/>
              </a:lnSpc>
            </a:pPr>
            <a:r>
              <a:rPr lang="en-US" sz="1801" b="true">
                <a:solidFill>
                  <a:srgbClr val="387F7F"/>
                </a:solidFill>
                <a:latin typeface="Poppins Bold"/>
                <a:ea typeface="Poppins Bold"/>
                <a:cs typeface="Poppins Bold"/>
                <a:sym typeface="Poppins Bold"/>
              </a:rPr>
              <a:t>DELIVERIES</a:t>
            </a:r>
          </a:p>
        </p:txBody>
      </p:sp>
      <p:sp>
        <p:nvSpPr>
          <p:cNvPr name="TextBox 16" id="16"/>
          <p:cNvSpPr txBox="true"/>
          <p:nvPr/>
        </p:nvSpPr>
        <p:spPr>
          <a:xfrm rot="0">
            <a:off x="1372676" y="3486898"/>
            <a:ext cx="4278163" cy="1229525"/>
          </a:xfrm>
          <a:prstGeom prst="rect">
            <a:avLst/>
          </a:prstGeom>
        </p:spPr>
        <p:txBody>
          <a:bodyPr anchor="t" rtlCol="false" tIns="0" lIns="0" bIns="0" rIns="0">
            <a:spAutoFit/>
          </a:bodyPr>
          <a:lstStyle/>
          <a:p>
            <a:pPr algn="l">
              <a:lnSpc>
                <a:spcPts val="7025"/>
              </a:lnSpc>
            </a:pPr>
            <a:r>
              <a:rPr lang="en-US" sz="4503" b="true">
                <a:solidFill>
                  <a:srgbClr val="0A1A23"/>
                </a:solidFill>
                <a:latin typeface="Poppins Bold"/>
                <a:ea typeface="Poppins Bold"/>
                <a:cs typeface="Poppins Bold"/>
                <a:sym typeface="Poppins Bold"/>
              </a:rPr>
              <a:t>3,800 – 3,900</a:t>
            </a:r>
          </a:p>
        </p:txBody>
      </p:sp>
      <p:sp>
        <p:nvSpPr>
          <p:cNvPr name="TextBox 17" id="17"/>
          <p:cNvSpPr txBox="true"/>
          <p:nvPr/>
        </p:nvSpPr>
        <p:spPr>
          <a:xfrm rot="0">
            <a:off x="1372676" y="4718385"/>
            <a:ext cx="4278163" cy="890283"/>
          </a:xfrm>
          <a:prstGeom prst="rect">
            <a:avLst/>
          </a:prstGeom>
        </p:spPr>
        <p:txBody>
          <a:bodyPr anchor="t" rtlCol="false" tIns="0" lIns="0" bIns="0" rIns="0">
            <a:spAutoFit/>
          </a:bodyPr>
          <a:lstStyle/>
          <a:p>
            <a:pPr algn="l">
              <a:lnSpc>
                <a:spcPts val="2693"/>
              </a:lnSpc>
            </a:pPr>
            <a:r>
              <a:rPr lang="en-US" sz="1726">
                <a:solidFill>
                  <a:srgbClr val="64748B"/>
                </a:solidFill>
                <a:latin typeface="Poppins"/>
                <a:ea typeface="Poppins"/>
                <a:cs typeface="Poppins"/>
                <a:sym typeface="Poppins"/>
              </a:rPr>
              <a:t>trend: +27/month, extended 3 months</a:t>
            </a:r>
          </a:p>
        </p:txBody>
      </p:sp>
      <p:sp>
        <p:nvSpPr>
          <p:cNvPr name="AutoShape 18" id="18"/>
          <p:cNvSpPr/>
          <p:nvPr/>
        </p:nvSpPr>
        <p:spPr>
          <a:xfrm>
            <a:off x="5984471" y="3265589"/>
            <a:ext cx="19070" cy="3793912"/>
          </a:xfrm>
          <a:prstGeom prst="line">
            <a:avLst/>
          </a:prstGeom>
          <a:ln cap="rnd" w="9525">
            <a:solidFill>
              <a:srgbClr val="E2E8F0"/>
            </a:solidFill>
            <a:prstDash val="solid"/>
            <a:headEnd type="none" len="sm" w="sm"/>
            <a:tailEnd type="none" len="sm" w="sm"/>
          </a:ln>
        </p:spPr>
      </p:sp>
      <p:sp>
        <p:nvSpPr>
          <p:cNvPr name="TextBox 19" id="19"/>
          <p:cNvSpPr txBox="true"/>
          <p:nvPr/>
        </p:nvSpPr>
        <p:spPr>
          <a:xfrm rot="0">
            <a:off x="6337173" y="3120766"/>
            <a:ext cx="4278163" cy="497529"/>
          </a:xfrm>
          <a:prstGeom prst="rect">
            <a:avLst/>
          </a:prstGeom>
        </p:spPr>
        <p:txBody>
          <a:bodyPr anchor="t" rtlCol="false" tIns="0" lIns="0" bIns="0" rIns="0">
            <a:spAutoFit/>
          </a:bodyPr>
          <a:lstStyle/>
          <a:p>
            <a:pPr algn="l">
              <a:lnSpc>
                <a:spcPts val="2810"/>
              </a:lnSpc>
            </a:pPr>
            <a:r>
              <a:rPr lang="en-US" sz="1801" b="true">
                <a:solidFill>
                  <a:srgbClr val="387F7F"/>
                </a:solidFill>
                <a:latin typeface="Poppins Bold"/>
                <a:ea typeface="Poppins Bold"/>
                <a:cs typeface="Poppins Bold"/>
                <a:sym typeface="Poppins Bold"/>
              </a:rPr>
              <a:t>REVENUE (LOW)</a:t>
            </a:r>
          </a:p>
        </p:txBody>
      </p:sp>
      <p:sp>
        <p:nvSpPr>
          <p:cNvPr name="TextBox 20" id="20"/>
          <p:cNvSpPr txBox="true"/>
          <p:nvPr/>
        </p:nvSpPr>
        <p:spPr>
          <a:xfrm rot="0">
            <a:off x="6337173" y="3486898"/>
            <a:ext cx="4278163" cy="1229525"/>
          </a:xfrm>
          <a:prstGeom prst="rect">
            <a:avLst/>
          </a:prstGeom>
        </p:spPr>
        <p:txBody>
          <a:bodyPr anchor="t" rtlCol="false" tIns="0" lIns="0" bIns="0" rIns="0">
            <a:spAutoFit/>
          </a:bodyPr>
          <a:lstStyle/>
          <a:p>
            <a:pPr algn="l">
              <a:lnSpc>
                <a:spcPts val="7025"/>
              </a:lnSpc>
            </a:pPr>
            <a:r>
              <a:rPr lang="en-US" sz="4503" b="true">
                <a:solidFill>
                  <a:srgbClr val="0A1A23"/>
                </a:solidFill>
                <a:latin typeface="Poppins Bold"/>
                <a:ea typeface="Poppins Bold"/>
                <a:cs typeface="Poppins Bold"/>
                <a:sym typeface="Poppins Bold"/>
              </a:rPr>
              <a:t>₦12.4m</a:t>
            </a:r>
          </a:p>
        </p:txBody>
      </p:sp>
      <p:sp>
        <p:nvSpPr>
          <p:cNvPr name="TextBox 21" id="21"/>
          <p:cNvSpPr txBox="true"/>
          <p:nvPr/>
        </p:nvSpPr>
        <p:spPr>
          <a:xfrm rot="0">
            <a:off x="6337173" y="4718385"/>
            <a:ext cx="4278163" cy="890283"/>
          </a:xfrm>
          <a:prstGeom prst="rect">
            <a:avLst/>
          </a:prstGeom>
        </p:spPr>
        <p:txBody>
          <a:bodyPr anchor="t" rtlCol="false" tIns="0" lIns="0" bIns="0" rIns="0">
            <a:spAutoFit/>
          </a:bodyPr>
          <a:lstStyle/>
          <a:p>
            <a:pPr algn="l">
              <a:lnSpc>
                <a:spcPts val="2693"/>
              </a:lnSpc>
            </a:pPr>
            <a:r>
              <a:rPr lang="en-US" sz="1726">
                <a:solidFill>
                  <a:srgbClr val="64748B"/>
                </a:solidFill>
                <a:latin typeface="Poppins"/>
                <a:ea typeface="Poppins"/>
                <a:cs typeface="Poppins"/>
                <a:sym typeface="Poppins"/>
              </a:rPr>
              <a:t>revenue trend, fitted directly</a:t>
            </a:r>
          </a:p>
        </p:txBody>
      </p:sp>
      <p:sp>
        <p:nvSpPr>
          <p:cNvPr name="AutoShape 22" id="22"/>
          <p:cNvSpPr/>
          <p:nvPr/>
        </p:nvSpPr>
        <p:spPr>
          <a:xfrm>
            <a:off x="10948968" y="3265589"/>
            <a:ext cx="19070" cy="3793912"/>
          </a:xfrm>
          <a:prstGeom prst="line">
            <a:avLst/>
          </a:prstGeom>
          <a:ln cap="rnd" w="9525">
            <a:solidFill>
              <a:srgbClr val="E2E8F0"/>
            </a:solidFill>
            <a:prstDash val="solid"/>
            <a:headEnd type="none" len="sm" w="sm"/>
            <a:tailEnd type="none" len="sm" w="sm"/>
          </a:ln>
        </p:spPr>
      </p:sp>
      <p:sp>
        <p:nvSpPr>
          <p:cNvPr name="TextBox 23" id="23"/>
          <p:cNvSpPr txBox="true"/>
          <p:nvPr/>
        </p:nvSpPr>
        <p:spPr>
          <a:xfrm rot="0">
            <a:off x="11301670" y="3120766"/>
            <a:ext cx="4278163" cy="497529"/>
          </a:xfrm>
          <a:prstGeom prst="rect">
            <a:avLst/>
          </a:prstGeom>
        </p:spPr>
        <p:txBody>
          <a:bodyPr anchor="t" rtlCol="false" tIns="0" lIns="0" bIns="0" rIns="0">
            <a:spAutoFit/>
          </a:bodyPr>
          <a:lstStyle/>
          <a:p>
            <a:pPr algn="l">
              <a:lnSpc>
                <a:spcPts val="2810"/>
              </a:lnSpc>
            </a:pPr>
            <a:r>
              <a:rPr lang="en-US" sz="1801" b="true">
                <a:solidFill>
                  <a:srgbClr val="387F7F"/>
                </a:solidFill>
                <a:latin typeface="Poppins Bold"/>
                <a:ea typeface="Poppins Bold"/>
                <a:cs typeface="Poppins Bold"/>
                <a:sym typeface="Poppins Bold"/>
              </a:rPr>
              <a:t>REVENUE (HIGH)</a:t>
            </a:r>
          </a:p>
        </p:txBody>
      </p:sp>
      <p:sp>
        <p:nvSpPr>
          <p:cNvPr name="TextBox 24" id="24"/>
          <p:cNvSpPr txBox="true"/>
          <p:nvPr/>
        </p:nvSpPr>
        <p:spPr>
          <a:xfrm rot="0">
            <a:off x="11301670" y="3486898"/>
            <a:ext cx="4278163" cy="1229525"/>
          </a:xfrm>
          <a:prstGeom prst="rect">
            <a:avLst/>
          </a:prstGeom>
        </p:spPr>
        <p:txBody>
          <a:bodyPr anchor="t" rtlCol="false" tIns="0" lIns="0" bIns="0" rIns="0">
            <a:spAutoFit/>
          </a:bodyPr>
          <a:lstStyle/>
          <a:p>
            <a:pPr algn="l">
              <a:lnSpc>
                <a:spcPts val="7025"/>
              </a:lnSpc>
            </a:pPr>
            <a:r>
              <a:rPr lang="en-US" sz="4503" b="true">
                <a:solidFill>
                  <a:srgbClr val="0A1A23"/>
                </a:solidFill>
                <a:latin typeface="Poppins Bold"/>
                <a:ea typeface="Poppins Bold"/>
                <a:cs typeface="Poppins Bold"/>
                <a:sym typeface="Poppins Bold"/>
              </a:rPr>
              <a:t>₦13.0m</a:t>
            </a:r>
          </a:p>
        </p:txBody>
      </p:sp>
      <p:sp>
        <p:nvSpPr>
          <p:cNvPr name="TextBox 25" id="25"/>
          <p:cNvSpPr txBox="true"/>
          <p:nvPr/>
        </p:nvSpPr>
        <p:spPr>
          <a:xfrm rot="0">
            <a:off x="11301670" y="4718385"/>
            <a:ext cx="4278163" cy="890283"/>
          </a:xfrm>
          <a:prstGeom prst="rect">
            <a:avLst/>
          </a:prstGeom>
        </p:spPr>
        <p:txBody>
          <a:bodyPr anchor="t" rtlCol="false" tIns="0" lIns="0" bIns="0" rIns="0">
            <a:spAutoFit/>
          </a:bodyPr>
          <a:lstStyle/>
          <a:p>
            <a:pPr algn="l">
              <a:lnSpc>
                <a:spcPts val="2693"/>
              </a:lnSpc>
            </a:pPr>
            <a:r>
              <a:rPr lang="en-US" sz="1726">
                <a:solidFill>
                  <a:srgbClr val="64748B"/>
                </a:solidFill>
                <a:latin typeface="Poppins"/>
                <a:ea typeface="Poppins"/>
                <a:cs typeface="Poppins"/>
                <a:sym typeface="Poppins"/>
              </a:rPr>
              <a:t>deliveries trend × avg. fee</a:t>
            </a:r>
          </a:p>
        </p:txBody>
      </p:sp>
      <p:sp>
        <p:nvSpPr>
          <p:cNvPr name="AutoShape 26" id="26"/>
          <p:cNvSpPr/>
          <p:nvPr/>
        </p:nvSpPr>
        <p:spPr>
          <a:xfrm>
            <a:off x="1363139" y="5805010"/>
            <a:ext cx="14226222" cy="19119"/>
          </a:xfrm>
          <a:prstGeom prst="line">
            <a:avLst/>
          </a:prstGeom>
          <a:ln cap="rnd" w="9525">
            <a:solidFill>
              <a:srgbClr val="E2E8F0"/>
            </a:solidFill>
            <a:prstDash val="solid"/>
            <a:headEnd type="none" len="sm" w="sm"/>
            <a:tailEnd type="none" len="sm" w="sm"/>
          </a:ln>
        </p:spPr>
      </p:sp>
      <p:sp>
        <p:nvSpPr>
          <p:cNvPr name="TextBox 27" id="27"/>
          <p:cNvSpPr txBox="true"/>
          <p:nvPr/>
        </p:nvSpPr>
        <p:spPr>
          <a:xfrm rot="0">
            <a:off x="1372676" y="5934747"/>
            <a:ext cx="14207157" cy="497529"/>
          </a:xfrm>
          <a:prstGeom prst="rect">
            <a:avLst/>
          </a:prstGeom>
        </p:spPr>
        <p:txBody>
          <a:bodyPr anchor="t" rtlCol="false" tIns="0" lIns="0" bIns="0" rIns="0">
            <a:spAutoFit/>
          </a:bodyPr>
          <a:lstStyle/>
          <a:p>
            <a:pPr algn="l">
              <a:lnSpc>
                <a:spcPts val="2810"/>
              </a:lnSpc>
            </a:pPr>
            <a:r>
              <a:rPr lang="en-US" sz="1801" b="true">
                <a:solidFill>
                  <a:srgbClr val="387F7F"/>
                </a:solidFill>
                <a:latin typeface="Poppins Bold"/>
                <a:ea typeface="Poppins Bold"/>
                <a:cs typeface="Poppins Bold"/>
                <a:sym typeface="Poppins Bold"/>
              </a:rPr>
              <a:t>NAMED ASSUMPTIONS</a:t>
            </a:r>
          </a:p>
        </p:txBody>
      </p:sp>
      <p:sp>
        <p:nvSpPr>
          <p:cNvPr name="TextBox 28" id="28"/>
          <p:cNvSpPr txBox="true"/>
          <p:nvPr/>
        </p:nvSpPr>
        <p:spPr>
          <a:xfrm rot="0">
            <a:off x="1372676" y="6415178"/>
            <a:ext cx="14207157" cy="977960"/>
          </a:xfrm>
          <a:prstGeom prst="rect">
            <a:avLst/>
          </a:prstGeom>
        </p:spPr>
        <p:txBody>
          <a:bodyPr anchor="t" rtlCol="false" tIns="0" lIns="0" bIns="0" rIns="0">
            <a:spAutoFit/>
          </a:bodyPr>
          <a:lstStyle/>
          <a:p>
            <a:pPr algn="l">
              <a:lnSpc>
                <a:spcPts val="3044"/>
              </a:lnSpc>
            </a:pPr>
            <a:r>
              <a:rPr lang="en-US" sz="1951">
                <a:solidFill>
                  <a:srgbClr val="475569"/>
                </a:solidFill>
                <a:latin typeface="Poppins"/>
                <a:ea typeface="Poppins"/>
                <a:cs typeface="Poppins"/>
                <a:sym typeface="Poppins"/>
              </a:rPr>
              <a:t>Fitted on three months of Q3 data only. Assumes the current rate of change continues unchanged. No visibility into festive-season demand in November and December, which Lagos logistics operators generally expect to differ from an ordinary quarter.</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3938647" cy="771525"/>
          </a:xfrm>
          <a:prstGeom prst="rect">
            <a:avLst/>
          </a:prstGeom>
        </p:spPr>
        <p:txBody>
          <a:bodyPr anchor="t" rtlCol="false" tIns="0" lIns="0" bIns="0" rIns="0">
            <a:spAutoFit/>
          </a:bodyPr>
          <a:lstStyle/>
          <a:p>
            <a:pPr algn="l">
              <a:lnSpc>
                <a:spcPts val="5760"/>
              </a:lnSpc>
            </a:pPr>
            <a:r>
              <a:rPr lang="en-US" sz="4800">
                <a:solidFill>
                  <a:srgbClr val="388080"/>
                </a:solidFill>
                <a:latin typeface="Poppins"/>
                <a:ea typeface="Poppins"/>
                <a:cs typeface="Poppins"/>
                <a:sym typeface="Poppins"/>
              </a:rPr>
              <a:t>Your</a:t>
            </a:r>
            <a:r>
              <a:rPr lang="en-US" sz="4800">
                <a:solidFill>
                  <a:srgbClr val="388080"/>
                </a:solidFill>
                <a:latin typeface="Poppins"/>
                <a:ea typeface="Poppins"/>
                <a:cs typeface="Poppins"/>
                <a:sym typeface="Poppins"/>
              </a:rPr>
              <a:t> turn: forecast one more SwiftRoute figure</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57250" y="2629157"/>
            <a:ext cx="15648470" cy="2333539"/>
            <a:chOff x="0" y="0"/>
            <a:chExt cx="20864627" cy="3111386"/>
          </a:xfrm>
        </p:grpSpPr>
        <p:sp>
          <p:nvSpPr>
            <p:cNvPr name="Freeform 12" id="12"/>
            <p:cNvSpPr/>
            <p:nvPr/>
          </p:nvSpPr>
          <p:spPr>
            <a:xfrm flipH="false" flipV="false" rot="0">
              <a:off x="0" y="0"/>
              <a:ext cx="20864576" cy="3111373"/>
            </a:xfrm>
            <a:custGeom>
              <a:avLst/>
              <a:gdLst/>
              <a:ahLst/>
              <a:cxnLst/>
              <a:rect r="r" b="b" t="t" l="l"/>
              <a:pathLst>
                <a:path h="3111373" w="20864576">
                  <a:moveTo>
                    <a:pt x="0" y="164719"/>
                  </a:moveTo>
                  <a:cubicBezTo>
                    <a:pt x="0" y="73787"/>
                    <a:pt x="73787" y="0"/>
                    <a:pt x="164719" y="0"/>
                  </a:cubicBezTo>
                  <a:lnTo>
                    <a:pt x="20699857" y="0"/>
                  </a:lnTo>
                  <a:cubicBezTo>
                    <a:pt x="20790790" y="0"/>
                    <a:pt x="20864576" y="73787"/>
                    <a:pt x="20864576" y="164719"/>
                  </a:cubicBezTo>
                  <a:lnTo>
                    <a:pt x="20864576" y="2946654"/>
                  </a:lnTo>
                  <a:cubicBezTo>
                    <a:pt x="20864576" y="3037586"/>
                    <a:pt x="20790790" y="3111373"/>
                    <a:pt x="20699857" y="3111373"/>
                  </a:cubicBezTo>
                  <a:lnTo>
                    <a:pt x="164719" y="3111373"/>
                  </a:lnTo>
                  <a:cubicBezTo>
                    <a:pt x="73787" y="3111373"/>
                    <a:pt x="0" y="3037586"/>
                    <a:pt x="0" y="2946654"/>
                  </a:cubicBezTo>
                  <a:close/>
                </a:path>
              </a:pathLst>
            </a:custGeom>
            <a:solidFill>
              <a:srgbClr val="FFFFFF"/>
            </a:solidFill>
          </p:spPr>
        </p:sp>
      </p:grpSp>
      <p:grpSp>
        <p:nvGrpSpPr>
          <p:cNvPr name="Group 13" id="13"/>
          <p:cNvGrpSpPr/>
          <p:nvPr/>
        </p:nvGrpSpPr>
        <p:grpSpPr>
          <a:xfrm rot="0">
            <a:off x="857250" y="2629157"/>
            <a:ext cx="123539" cy="2333539"/>
            <a:chOff x="0" y="0"/>
            <a:chExt cx="164719" cy="3111386"/>
          </a:xfrm>
        </p:grpSpPr>
        <p:sp>
          <p:nvSpPr>
            <p:cNvPr name="Freeform 14" id="14"/>
            <p:cNvSpPr/>
            <p:nvPr/>
          </p:nvSpPr>
          <p:spPr>
            <a:xfrm flipH="false" flipV="false" rot="0">
              <a:off x="0" y="0"/>
              <a:ext cx="164719" cy="3111373"/>
            </a:xfrm>
            <a:custGeom>
              <a:avLst/>
              <a:gdLst/>
              <a:ahLst/>
              <a:cxnLst/>
              <a:rect r="r" b="b" t="t" l="l"/>
              <a:pathLst>
                <a:path h="3111373" w="164719">
                  <a:moveTo>
                    <a:pt x="0" y="0"/>
                  </a:moveTo>
                  <a:lnTo>
                    <a:pt x="164719" y="0"/>
                  </a:lnTo>
                  <a:lnTo>
                    <a:pt x="164719" y="3111373"/>
                  </a:lnTo>
                  <a:lnTo>
                    <a:pt x="0" y="3111373"/>
                  </a:lnTo>
                  <a:close/>
                </a:path>
              </a:pathLst>
            </a:custGeom>
            <a:solidFill>
              <a:srgbClr val="387F7F"/>
            </a:solidFill>
          </p:spPr>
        </p:sp>
      </p:grpSp>
      <p:sp>
        <p:nvSpPr>
          <p:cNvPr name="TextBox 15" id="15"/>
          <p:cNvSpPr txBox="true"/>
          <p:nvPr/>
        </p:nvSpPr>
        <p:spPr>
          <a:xfrm rot="0">
            <a:off x="1337691" y="2817971"/>
            <a:ext cx="14413059" cy="497529"/>
          </a:xfrm>
          <a:prstGeom prst="rect">
            <a:avLst/>
          </a:prstGeom>
        </p:spPr>
        <p:txBody>
          <a:bodyPr anchor="t" rtlCol="false" tIns="0" lIns="0" bIns="0" rIns="0">
            <a:spAutoFit/>
          </a:bodyPr>
          <a:lstStyle/>
          <a:p>
            <a:pPr algn="l">
              <a:lnSpc>
                <a:spcPts val="3044"/>
              </a:lnSpc>
            </a:pPr>
            <a:r>
              <a:rPr lang="en-US" sz="1951" b="true">
                <a:solidFill>
                  <a:srgbClr val="387F7F"/>
                </a:solidFill>
                <a:latin typeface="Poppins Bold"/>
                <a:ea typeface="Poppins Bold"/>
                <a:cs typeface="Poppins Bold"/>
                <a:sym typeface="Poppins Bold"/>
              </a:rPr>
              <a:t>THE TASK</a:t>
            </a:r>
          </a:p>
        </p:txBody>
      </p:sp>
      <p:sp>
        <p:nvSpPr>
          <p:cNvPr name="TextBox 16" id="16"/>
          <p:cNvSpPr txBox="true"/>
          <p:nvPr/>
        </p:nvSpPr>
        <p:spPr>
          <a:xfrm rot="0">
            <a:off x="1337691" y="3279353"/>
            <a:ext cx="14824862" cy="1546079"/>
          </a:xfrm>
          <a:prstGeom prst="rect">
            <a:avLst/>
          </a:prstGeom>
        </p:spPr>
        <p:txBody>
          <a:bodyPr anchor="t" rtlCol="false" tIns="0" lIns="0" bIns="0" rIns="0">
            <a:spAutoFit/>
          </a:bodyPr>
          <a:lstStyle/>
          <a:p>
            <a:pPr algn="l">
              <a:lnSpc>
                <a:spcPts val="4098"/>
              </a:lnSpc>
            </a:pPr>
            <a:r>
              <a:rPr lang="en-US" sz="2627">
                <a:solidFill>
                  <a:srgbClr val="475569"/>
                </a:solidFill>
                <a:latin typeface="Poppins"/>
                <a:ea typeface="Poppins"/>
                <a:cs typeface="Poppins"/>
                <a:sym typeface="Poppins"/>
              </a:rPr>
              <a:t>Using the same monthly deliveries_clean data, fit a trend on fuel litres or average distance, extend it one quarter, and stress-test it a second way. Give your final answer as a range with two named assumptions.</a:t>
            </a:r>
          </a:p>
        </p:txBody>
      </p:sp>
      <p:grpSp>
        <p:nvGrpSpPr>
          <p:cNvPr name="Group 17" id="17"/>
          <p:cNvGrpSpPr/>
          <p:nvPr/>
        </p:nvGrpSpPr>
        <p:grpSpPr>
          <a:xfrm rot="0">
            <a:off x="857250" y="5237236"/>
            <a:ext cx="15648470" cy="2196274"/>
            <a:chOff x="0" y="0"/>
            <a:chExt cx="20864627" cy="2928366"/>
          </a:xfrm>
        </p:grpSpPr>
        <p:sp>
          <p:nvSpPr>
            <p:cNvPr name="Freeform 18" id="18"/>
            <p:cNvSpPr/>
            <p:nvPr/>
          </p:nvSpPr>
          <p:spPr>
            <a:xfrm flipH="false" flipV="false" rot="0">
              <a:off x="0" y="0"/>
              <a:ext cx="20864576" cy="2928366"/>
            </a:xfrm>
            <a:custGeom>
              <a:avLst/>
              <a:gdLst/>
              <a:ahLst/>
              <a:cxnLst/>
              <a:rect r="r" b="b" t="t" l="l"/>
              <a:pathLst>
                <a:path h="2928366" w="20864576">
                  <a:moveTo>
                    <a:pt x="0" y="164719"/>
                  </a:moveTo>
                  <a:cubicBezTo>
                    <a:pt x="0" y="73787"/>
                    <a:pt x="73787" y="0"/>
                    <a:pt x="164719" y="0"/>
                  </a:cubicBezTo>
                  <a:lnTo>
                    <a:pt x="20699857" y="0"/>
                  </a:lnTo>
                  <a:cubicBezTo>
                    <a:pt x="20790790" y="0"/>
                    <a:pt x="20864576" y="73787"/>
                    <a:pt x="20864576" y="164719"/>
                  </a:cubicBezTo>
                  <a:lnTo>
                    <a:pt x="20864576" y="2763647"/>
                  </a:lnTo>
                  <a:cubicBezTo>
                    <a:pt x="20864576" y="2854579"/>
                    <a:pt x="20790790" y="2928366"/>
                    <a:pt x="20699857" y="2928366"/>
                  </a:cubicBezTo>
                  <a:lnTo>
                    <a:pt x="164719" y="2928366"/>
                  </a:lnTo>
                  <a:cubicBezTo>
                    <a:pt x="73787" y="2928366"/>
                    <a:pt x="0" y="2854579"/>
                    <a:pt x="0" y="2763647"/>
                  </a:cubicBezTo>
                  <a:close/>
                </a:path>
              </a:pathLst>
            </a:custGeom>
            <a:solidFill>
              <a:srgbClr val="F4F7F7"/>
            </a:solidFill>
          </p:spPr>
        </p:sp>
      </p:grpSp>
      <p:grpSp>
        <p:nvGrpSpPr>
          <p:cNvPr name="Group 19" id="19"/>
          <p:cNvGrpSpPr/>
          <p:nvPr/>
        </p:nvGrpSpPr>
        <p:grpSpPr>
          <a:xfrm rot="0">
            <a:off x="857250" y="5237236"/>
            <a:ext cx="123539" cy="2196274"/>
            <a:chOff x="0" y="0"/>
            <a:chExt cx="164719" cy="2928366"/>
          </a:xfrm>
        </p:grpSpPr>
        <p:sp>
          <p:nvSpPr>
            <p:cNvPr name="Freeform 20" id="20"/>
            <p:cNvSpPr/>
            <p:nvPr/>
          </p:nvSpPr>
          <p:spPr>
            <a:xfrm flipH="false" flipV="false" rot="0">
              <a:off x="0" y="0"/>
              <a:ext cx="164719" cy="2928366"/>
            </a:xfrm>
            <a:custGeom>
              <a:avLst/>
              <a:gdLst/>
              <a:ahLst/>
              <a:cxnLst/>
              <a:rect r="r" b="b" t="t" l="l"/>
              <a:pathLst>
                <a:path h="2928366" w="164719">
                  <a:moveTo>
                    <a:pt x="0" y="0"/>
                  </a:moveTo>
                  <a:lnTo>
                    <a:pt x="164719" y="0"/>
                  </a:lnTo>
                  <a:lnTo>
                    <a:pt x="164719" y="2928366"/>
                  </a:lnTo>
                  <a:lnTo>
                    <a:pt x="0" y="2928366"/>
                  </a:lnTo>
                  <a:close/>
                </a:path>
              </a:pathLst>
            </a:custGeom>
            <a:solidFill>
              <a:srgbClr val="9BB7B7"/>
            </a:solidFill>
          </p:spPr>
        </p:sp>
      </p:grpSp>
      <p:sp>
        <p:nvSpPr>
          <p:cNvPr name="TextBox 21" id="21"/>
          <p:cNvSpPr txBox="true"/>
          <p:nvPr/>
        </p:nvSpPr>
        <p:spPr>
          <a:xfrm rot="0">
            <a:off x="1337691" y="5426050"/>
            <a:ext cx="14413059" cy="524980"/>
          </a:xfrm>
          <a:prstGeom prst="rect">
            <a:avLst/>
          </a:prstGeom>
        </p:spPr>
        <p:txBody>
          <a:bodyPr anchor="t" rtlCol="false" tIns="0" lIns="0" bIns="0" rIns="0">
            <a:spAutoFit/>
          </a:bodyPr>
          <a:lstStyle/>
          <a:p>
            <a:pPr algn="l">
              <a:lnSpc>
                <a:spcPts val="3044"/>
              </a:lnSpc>
            </a:pPr>
            <a:r>
              <a:rPr lang="en-US" sz="1951" b="true">
                <a:solidFill>
                  <a:srgbClr val="20494A"/>
                </a:solidFill>
                <a:latin typeface="Poppins Bold"/>
                <a:ea typeface="Poppins Bold"/>
                <a:cs typeface="Poppins Bold"/>
                <a:sym typeface="Poppins Bold"/>
              </a:rPr>
              <a:t>SELF-CHECK</a:t>
            </a:r>
          </a:p>
        </p:txBody>
      </p:sp>
      <p:sp>
        <p:nvSpPr>
          <p:cNvPr name="TextBox 22" id="22"/>
          <p:cNvSpPr txBox="true"/>
          <p:nvPr/>
        </p:nvSpPr>
        <p:spPr>
          <a:xfrm rot="0">
            <a:off x="1337691" y="5906481"/>
            <a:ext cx="14824862" cy="1389764"/>
          </a:xfrm>
          <a:prstGeom prst="rect">
            <a:avLst/>
          </a:prstGeom>
        </p:spPr>
        <p:txBody>
          <a:bodyPr anchor="t" rtlCol="false" tIns="0" lIns="0" bIns="0" rIns="0">
            <a:spAutoFit/>
          </a:bodyPr>
          <a:lstStyle/>
          <a:p>
            <a:pPr algn="l">
              <a:lnSpc>
                <a:spcPts val="3278"/>
              </a:lnSpc>
            </a:pPr>
            <a:r>
              <a:rPr lang="en-US" sz="2101">
                <a:solidFill>
                  <a:srgbClr val="475569"/>
                </a:solidFill>
                <a:latin typeface="Poppins"/>
                <a:ea typeface="Poppins"/>
                <a:cs typeface="Poppins"/>
                <a:sym typeface="Poppins"/>
              </a:rPr>
              <a:t>You have a range, not a single number. You can name the two methods you used to bound it. You can say in one sentence what your three months of data cannot show you about Q4.</a:t>
            </a:r>
          </a:p>
        </p:txBody>
      </p:sp>
      <p:sp>
        <p:nvSpPr>
          <p:cNvPr name="TextBox 23" id="23"/>
          <p:cNvSpPr txBox="true"/>
          <p:nvPr/>
        </p:nvSpPr>
        <p:spPr>
          <a:xfrm rot="0">
            <a:off x="857250" y="7603274"/>
            <a:ext cx="15648470" cy="653844"/>
          </a:xfrm>
          <a:prstGeom prst="rect">
            <a:avLst/>
          </a:prstGeom>
        </p:spPr>
        <p:txBody>
          <a:bodyPr anchor="t" rtlCol="false" tIns="0" lIns="0" bIns="0" rIns="0">
            <a:spAutoFit/>
          </a:bodyPr>
          <a:lstStyle/>
          <a:p>
            <a:pPr algn="ctr">
              <a:lnSpc>
                <a:spcPts val="3512"/>
              </a:lnSpc>
            </a:pPr>
            <a:r>
              <a:rPr lang="en-US" sz="2251" i="true">
                <a:solidFill>
                  <a:srgbClr val="64748B"/>
                </a:solidFill>
                <a:latin typeface="Poppins Italics"/>
                <a:ea typeface="Poppins Italics"/>
                <a:cs typeface="Poppins Italics"/>
                <a:sym typeface="Poppins Italics"/>
              </a:rPr>
              <a:t>Compare your range with a neighbour's before the recap. Different reasonable methods should give different, overlapping ranges - that is expected, not a mistake.</a:t>
            </a:r>
          </a:p>
        </p:txBody>
      </p:sp>
      <p:grpSp>
        <p:nvGrpSpPr>
          <p:cNvPr name="Group 24" id="24"/>
          <p:cNvGrpSpPr/>
          <p:nvPr/>
        </p:nvGrpSpPr>
        <p:grpSpPr>
          <a:xfrm rot="0">
            <a:off x="1227839" y="439255"/>
            <a:ext cx="11667715" cy="411804"/>
            <a:chOff x="0" y="0"/>
            <a:chExt cx="15556954" cy="549072"/>
          </a:xfrm>
        </p:grpSpPr>
        <p:sp>
          <p:nvSpPr>
            <p:cNvPr name="Freeform 25" id="25"/>
            <p:cNvSpPr/>
            <p:nvPr/>
          </p:nvSpPr>
          <p:spPr>
            <a:xfrm flipH="false" flipV="false" rot="0">
              <a:off x="0" y="0"/>
              <a:ext cx="15556954" cy="549069"/>
            </a:xfrm>
            <a:custGeom>
              <a:avLst/>
              <a:gdLst/>
              <a:ahLst/>
              <a:cxnLst/>
              <a:rect r="r" b="b" t="t" l="l"/>
              <a:pathLst>
                <a:path h="549069" w="15556954">
                  <a:moveTo>
                    <a:pt x="0" y="0"/>
                  </a:moveTo>
                  <a:lnTo>
                    <a:pt x="15556954" y="0"/>
                  </a:lnTo>
                  <a:lnTo>
                    <a:pt x="15556954" y="549069"/>
                  </a:lnTo>
                  <a:lnTo>
                    <a:pt x="0" y="549069"/>
                  </a:lnTo>
                  <a:close/>
                </a:path>
              </a:pathLst>
            </a:custGeom>
            <a:blipFill>
              <a:blip r:embed="rId9">
                <a:alphaModFix amt="0"/>
              </a:blip>
              <a:stretch>
                <a:fillRect l="0" t="-502075" r="0" b="-502076"/>
              </a:stretch>
            </a:blipFill>
          </p:spPr>
        </p:sp>
        <p:sp>
          <p:nvSpPr>
            <p:cNvPr name="TextBox 26" id="26"/>
            <p:cNvSpPr txBox="true"/>
            <p:nvPr/>
          </p:nvSpPr>
          <p:spPr>
            <a:xfrm>
              <a:off x="0" y="-9525"/>
              <a:ext cx="15556954" cy="558597"/>
            </a:xfrm>
            <a:prstGeom prst="rect">
              <a:avLst/>
            </a:prstGeom>
          </p:spPr>
          <p:txBody>
            <a:bodyPr anchor="ctr" rtlCol="false" tIns="0" lIns="0" bIns="0" rIns="0"/>
            <a:lstStyle/>
            <a:p>
              <a:pPr algn="l">
                <a:lnSpc>
                  <a:spcPts val="2071"/>
                </a:lnSpc>
              </a:pPr>
              <a:r>
                <a:rPr lang="en-US" b="true" sz="1726" spc="300">
                  <a:solidFill>
                    <a:srgbClr val="64748B"/>
                  </a:solidFill>
                  <a:latin typeface="Poppins Bold"/>
                  <a:ea typeface="Poppins Bold"/>
                  <a:cs typeface="Poppins Bold"/>
                  <a:sym typeface="Poppins Bold"/>
                </a:rPr>
                <a:t>YOUR TURN</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3614440" cy="771525"/>
          </a:xfrm>
          <a:prstGeom prst="rect">
            <a:avLst/>
          </a:prstGeom>
        </p:spPr>
        <p:txBody>
          <a:bodyPr anchor="t" rtlCol="false" tIns="0" lIns="0" bIns="0" rIns="0">
            <a:spAutoFit/>
          </a:bodyPr>
          <a:lstStyle/>
          <a:p>
            <a:pPr algn="l">
              <a:lnSpc>
                <a:spcPts val="5760"/>
              </a:lnSpc>
            </a:pPr>
            <a:r>
              <a:rPr lang="en-US" sz="4800">
                <a:solidFill>
                  <a:srgbClr val="388080"/>
                </a:solidFill>
                <a:latin typeface="Poppins"/>
                <a:ea typeface="Poppins"/>
                <a:cs typeface="Poppins"/>
                <a:sym typeface="Poppins"/>
              </a:rPr>
              <a:t>Topic</a:t>
            </a:r>
            <a:r>
              <a:rPr lang="en-US" sz="4800">
                <a:solidFill>
                  <a:srgbClr val="388080"/>
                </a:solidFill>
                <a:latin typeface="Poppins"/>
                <a:ea typeface="Poppins"/>
                <a:cs typeface="Poppins"/>
                <a:sym typeface="Poppins"/>
              </a:rPr>
              <a:t> recap</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227839" y="439255"/>
            <a:ext cx="11667715" cy="411804"/>
            <a:chOff x="0" y="0"/>
            <a:chExt cx="15556954" cy="549072"/>
          </a:xfrm>
        </p:grpSpPr>
        <p:sp>
          <p:nvSpPr>
            <p:cNvPr name="Freeform 12" id="12"/>
            <p:cNvSpPr/>
            <p:nvPr/>
          </p:nvSpPr>
          <p:spPr>
            <a:xfrm flipH="false" flipV="false" rot="0">
              <a:off x="0" y="0"/>
              <a:ext cx="15556954" cy="549069"/>
            </a:xfrm>
            <a:custGeom>
              <a:avLst/>
              <a:gdLst/>
              <a:ahLst/>
              <a:cxnLst/>
              <a:rect r="r" b="b" t="t" l="l"/>
              <a:pathLst>
                <a:path h="549069" w="15556954">
                  <a:moveTo>
                    <a:pt x="0" y="0"/>
                  </a:moveTo>
                  <a:lnTo>
                    <a:pt x="15556954" y="0"/>
                  </a:lnTo>
                  <a:lnTo>
                    <a:pt x="15556954" y="549069"/>
                  </a:lnTo>
                  <a:lnTo>
                    <a:pt x="0" y="549069"/>
                  </a:lnTo>
                  <a:close/>
                </a:path>
              </a:pathLst>
            </a:custGeom>
            <a:blipFill>
              <a:blip r:embed="rId9">
                <a:alphaModFix amt="0"/>
              </a:blip>
              <a:stretch>
                <a:fillRect l="0" t="-502075" r="0" b="-502076"/>
              </a:stretch>
            </a:blipFill>
          </p:spPr>
        </p:sp>
        <p:sp>
          <p:nvSpPr>
            <p:cNvPr name="TextBox 13" id="13"/>
            <p:cNvSpPr txBox="true"/>
            <p:nvPr/>
          </p:nvSpPr>
          <p:spPr>
            <a:xfrm>
              <a:off x="0" y="-9525"/>
              <a:ext cx="15556954" cy="558597"/>
            </a:xfrm>
            <a:prstGeom prst="rect">
              <a:avLst/>
            </a:prstGeom>
          </p:spPr>
          <p:txBody>
            <a:bodyPr anchor="ctr" rtlCol="false" tIns="0" lIns="0" bIns="0" rIns="0"/>
            <a:lstStyle/>
            <a:p>
              <a:pPr algn="l">
                <a:lnSpc>
                  <a:spcPts val="2071"/>
                </a:lnSpc>
              </a:pPr>
              <a:r>
                <a:rPr lang="en-US" b="true" sz="1726" spc="300">
                  <a:solidFill>
                    <a:srgbClr val="64748B"/>
                  </a:solidFill>
                  <a:latin typeface="Poppins Bold"/>
                  <a:ea typeface="Poppins Bold"/>
                  <a:cs typeface="Poppins Bold"/>
                  <a:sym typeface="Poppins Bold"/>
                </a:rPr>
                <a:t>YOUR TURN</a:t>
              </a:r>
            </a:p>
          </p:txBody>
        </p:sp>
      </p:grpSp>
      <p:grpSp>
        <p:nvGrpSpPr>
          <p:cNvPr name="Group 14" id="14"/>
          <p:cNvGrpSpPr/>
          <p:nvPr/>
        </p:nvGrpSpPr>
        <p:grpSpPr>
          <a:xfrm rot="0">
            <a:off x="870699" y="2654579"/>
            <a:ext cx="439255" cy="439255"/>
            <a:chOff x="0" y="0"/>
            <a:chExt cx="585673" cy="585673"/>
          </a:xfrm>
        </p:grpSpPr>
        <p:sp>
          <p:nvSpPr>
            <p:cNvPr name="Freeform 15" id="15" descr="/home/claude/assets/icon_check.png"/>
            <p:cNvSpPr/>
            <p:nvPr/>
          </p:nvSpPr>
          <p:spPr>
            <a:xfrm flipH="false" flipV="false" rot="0">
              <a:off x="0" y="0"/>
              <a:ext cx="585724" cy="585724"/>
            </a:xfrm>
            <a:custGeom>
              <a:avLst/>
              <a:gdLst/>
              <a:ahLst/>
              <a:cxnLst/>
              <a:rect r="r" b="b" t="t" l="l"/>
              <a:pathLst>
                <a:path h="585724" w="585724">
                  <a:moveTo>
                    <a:pt x="0" y="0"/>
                  </a:moveTo>
                  <a:lnTo>
                    <a:pt x="585724" y="0"/>
                  </a:lnTo>
                  <a:lnTo>
                    <a:pt x="585724" y="585724"/>
                  </a:lnTo>
                  <a:lnTo>
                    <a:pt x="0" y="585724"/>
                  </a:lnTo>
                  <a:lnTo>
                    <a:pt x="0" y="0"/>
                  </a:lnTo>
                  <a:close/>
                </a:path>
              </a:pathLst>
            </a:custGeom>
            <a:blipFill>
              <a:blip r:embed="rId10"/>
              <a:stretch>
                <a:fillRect l="0" t="-1923" r="8" b="-1914"/>
              </a:stretch>
            </a:blipFill>
          </p:spPr>
        </p:sp>
      </p:grpSp>
      <p:sp>
        <p:nvSpPr>
          <p:cNvPr name="TextBox 16" id="16"/>
          <p:cNvSpPr txBox="true"/>
          <p:nvPr/>
        </p:nvSpPr>
        <p:spPr>
          <a:xfrm rot="0">
            <a:off x="1386496" y="2422065"/>
            <a:ext cx="10775617" cy="903268"/>
          </a:xfrm>
          <a:prstGeom prst="rect">
            <a:avLst/>
          </a:prstGeom>
        </p:spPr>
        <p:txBody>
          <a:bodyPr anchor="t" rtlCol="false" tIns="0" lIns="0" bIns="0" rIns="0">
            <a:spAutoFit/>
          </a:bodyPr>
          <a:lstStyle/>
          <a:p>
            <a:pPr algn="l">
              <a:lnSpc>
                <a:spcPts val="3629"/>
              </a:lnSpc>
            </a:pPr>
            <a:r>
              <a:rPr lang="en-US" sz="2326">
                <a:solidFill>
                  <a:srgbClr val="475569"/>
                </a:solidFill>
                <a:latin typeface="Poppins"/>
                <a:ea typeface="Poppins"/>
                <a:cs typeface="Poppins"/>
                <a:sym typeface="Poppins"/>
              </a:rPr>
              <a:t>A trend-based forecast fits one straight line through past data and extends it - nothing more, nothing hidden.</a:t>
            </a:r>
          </a:p>
        </p:txBody>
      </p:sp>
      <p:grpSp>
        <p:nvGrpSpPr>
          <p:cNvPr name="Group 17" id="17"/>
          <p:cNvGrpSpPr/>
          <p:nvPr/>
        </p:nvGrpSpPr>
        <p:grpSpPr>
          <a:xfrm rot="0">
            <a:off x="870699" y="3821354"/>
            <a:ext cx="439255" cy="439255"/>
            <a:chOff x="0" y="0"/>
            <a:chExt cx="585673" cy="585673"/>
          </a:xfrm>
        </p:grpSpPr>
        <p:sp>
          <p:nvSpPr>
            <p:cNvPr name="Freeform 18" id="18" descr="/home/claude/assets/icon_check.png"/>
            <p:cNvSpPr/>
            <p:nvPr/>
          </p:nvSpPr>
          <p:spPr>
            <a:xfrm flipH="false" flipV="false" rot="0">
              <a:off x="0" y="0"/>
              <a:ext cx="585724" cy="585724"/>
            </a:xfrm>
            <a:custGeom>
              <a:avLst/>
              <a:gdLst/>
              <a:ahLst/>
              <a:cxnLst/>
              <a:rect r="r" b="b" t="t" l="l"/>
              <a:pathLst>
                <a:path h="585724" w="585724">
                  <a:moveTo>
                    <a:pt x="0" y="0"/>
                  </a:moveTo>
                  <a:lnTo>
                    <a:pt x="585724" y="0"/>
                  </a:lnTo>
                  <a:lnTo>
                    <a:pt x="585724" y="585724"/>
                  </a:lnTo>
                  <a:lnTo>
                    <a:pt x="0" y="585724"/>
                  </a:lnTo>
                  <a:lnTo>
                    <a:pt x="0" y="0"/>
                  </a:lnTo>
                  <a:close/>
                </a:path>
              </a:pathLst>
            </a:custGeom>
            <a:blipFill>
              <a:blip r:embed="rId10"/>
              <a:stretch>
                <a:fillRect l="0" t="-1923" r="8" b="-1914"/>
              </a:stretch>
            </a:blipFill>
          </p:spPr>
        </p:sp>
      </p:grpSp>
      <p:sp>
        <p:nvSpPr>
          <p:cNvPr name="TextBox 19" id="19"/>
          <p:cNvSpPr txBox="true"/>
          <p:nvPr/>
        </p:nvSpPr>
        <p:spPr>
          <a:xfrm rot="0">
            <a:off x="1386496" y="3588839"/>
            <a:ext cx="10775617" cy="903268"/>
          </a:xfrm>
          <a:prstGeom prst="rect">
            <a:avLst/>
          </a:prstGeom>
        </p:spPr>
        <p:txBody>
          <a:bodyPr anchor="t" rtlCol="false" tIns="0" lIns="0" bIns="0" rIns="0">
            <a:spAutoFit/>
          </a:bodyPr>
          <a:lstStyle/>
          <a:p>
            <a:pPr algn="l">
              <a:lnSpc>
                <a:spcPts val="3629"/>
              </a:lnSpc>
            </a:pPr>
            <a:r>
              <a:rPr lang="en-US" sz="2326">
                <a:solidFill>
                  <a:srgbClr val="475569"/>
                </a:solidFill>
                <a:latin typeface="Poppins"/>
                <a:ea typeface="Poppins"/>
                <a:cs typeface="Poppins"/>
                <a:sym typeface="Poppins"/>
              </a:rPr>
              <a:t>Checking the fit's own errors matters, but a close fit on very few data points still tells you almost nothing about seasonality.</a:t>
            </a:r>
          </a:p>
        </p:txBody>
      </p:sp>
      <p:grpSp>
        <p:nvGrpSpPr>
          <p:cNvPr name="Group 20" id="20"/>
          <p:cNvGrpSpPr/>
          <p:nvPr/>
        </p:nvGrpSpPr>
        <p:grpSpPr>
          <a:xfrm rot="0">
            <a:off x="870699" y="4988128"/>
            <a:ext cx="439255" cy="439255"/>
            <a:chOff x="0" y="0"/>
            <a:chExt cx="585673" cy="585673"/>
          </a:xfrm>
        </p:grpSpPr>
        <p:sp>
          <p:nvSpPr>
            <p:cNvPr name="Freeform 21" id="21" descr="/home/claude/assets/icon_check.png"/>
            <p:cNvSpPr/>
            <p:nvPr/>
          </p:nvSpPr>
          <p:spPr>
            <a:xfrm flipH="false" flipV="false" rot="0">
              <a:off x="0" y="0"/>
              <a:ext cx="585724" cy="585724"/>
            </a:xfrm>
            <a:custGeom>
              <a:avLst/>
              <a:gdLst/>
              <a:ahLst/>
              <a:cxnLst/>
              <a:rect r="r" b="b" t="t" l="l"/>
              <a:pathLst>
                <a:path h="585724" w="585724">
                  <a:moveTo>
                    <a:pt x="0" y="0"/>
                  </a:moveTo>
                  <a:lnTo>
                    <a:pt x="585724" y="0"/>
                  </a:lnTo>
                  <a:lnTo>
                    <a:pt x="585724" y="585724"/>
                  </a:lnTo>
                  <a:lnTo>
                    <a:pt x="0" y="585724"/>
                  </a:lnTo>
                  <a:lnTo>
                    <a:pt x="0" y="0"/>
                  </a:lnTo>
                  <a:close/>
                </a:path>
              </a:pathLst>
            </a:custGeom>
            <a:blipFill>
              <a:blip r:embed="rId10"/>
              <a:stretch>
                <a:fillRect l="0" t="-1923" r="8" b="-1914"/>
              </a:stretch>
            </a:blipFill>
          </p:spPr>
        </p:sp>
      </p:grpSp>
      <p:sp>
        <p:nvSpPr>
          <p:cNvPr name="TextBox 22" id="22"/>
          <p:cNvSpPr txBox="true"/>
          <p:nvPr/>
        </p:nvSpPr>
        <p:spPr>
          <a:xfrm rot="0">
            <a:off x="1386496" y="4755604"/>
            <a:ext cx="10775617" cy="903268"/>
          </a:xfrm>
          <a:prstGeom prst="rect">
            <a:avLst/>
          </a:prstGeom>
        </p:spPr>
        <p:txBody>
          <a:bodyPr anchor="t" rtlCol="false" tIns="0" lIns="0" bIns="0" rIns="0">
            <a:spAutoFit/>
          </a:bodyPr>
          <a:lstStyle/>
          <a:p>
            <a:pPr algn="l">
              <a:lnSpc>
                <a:spcPts val="3629"/>
              </a:lnSpc>
            </a:pPr>
            <a:r>
              <a:rPr lang="en-US" sz="2326">
                <a:solidFill>
                  <a:srgbClr val="475569"/>
                </a:solidFill>
                <a:latin typeface="Poppins"/>
                <a:ea typeface="Poppins"/>
                <a:cs typeface="Poppins"/>
                <a:sym typeface="Poppins"/>
              </a:rPr>
              <a:t>Predict-then-run applies to forecasts: form your own rough expectation before you ask AI, then treat disagreement as the useful signal.</a:t>
            </a:r>
          </a:p>
        </p:txBody>
      </p:sp>
      <p:grpSp>
        <p:nvGrpSpPr>
          <p:cNvPr name="Group 23" id="23"/>
          <p:cNvGrpSpPr/>
          <p:nvPr/>
        </p:nvGrpSpPr>
        <p:grpSpPr>
          <a:xfrm rot="0">
            <a:off x="870699" y="6154893"/>
            <a:ext cx="439255" cy="439255"/>
            <a:chOff x="0" y="0"/>
            <a:chExt cx="585673" cy="585673"/>
          </a:xfrm>
        </p:grpSpPr>
        <p:sp>
          <p:nvSpPr>
            <p:cNvPr name="Freeform 24" id="24" descr="/home/claude/assets/icon_check.png"/>
            <p:cNvSpPr/>
            <p:nvPr/>
          </p:nvSpPr>
          <p:spPr>
            <a:xfrm flipH="false" flipV="false" rot="0">
              <a:off x="0" y="0"/>
              <a:ext cx="585724" cy="585724"/>
            </a:xfrm>
            <a:custGeom>
              <a:avLst/>
              <a:gdLst/>
              <a:ahLst/>
              <a:cxnLst/>
              <a:rect r="r" b="b" t="t" l="l"/>
              <a:pathLst>
                <a:path h="585724" w="585724">
                  <a:moveTo>
                    <a:pt x="0" y="0"/>
                  </a:moveTo>
                  <a:lnTo>
                    <a:pt x="585724" y="0"/>
                  </a:lnTo>
                  <a:lnTo>
                    <a:pt x="585724" y="585724"/>
                  </a:lnTo>
                  <a:lnTo>
                    <a:pt x="0" y="585724"/>
                  </a:lnTo>
                  <a:lnTo>
                    <a:pt x="0" y="0"/>
                  </a:lnTo>
                  <a:close/>
                </a:path>
              </a:pathLst>
            </a:custGeom>
            <a:blipFill>
              <a:blip r:embed="rId10"/>
              <a:stretch>
                <a:fillRect l="0" t="-1923" r="8" b="-1914"/>
              </a:stretch>
            </a:blipFill>
          </p:spPr>
        </p:sp>
      </p:grpSp>
      <p:sp>
        <p:nvSpPr>
          <p:cNvPr name="TextBox 25" id="25"/>
          <p:cNvSpPr txBox="true"/>
          <p:nvPr/>
        </p:nvSpPr>
        <p:spPr>
          <a:xfrm rot="0">
            <a:off x="1386496" y="5922378"/>
            <a:ext cx="10775617" cy="903268"/>
          </a:xfrm>
          <a:prstGeom prst="rect">
            <a:avLst/>
          </a:prstGeom>
        </p:spPr>
        <p:txBody>
          <a:bodyPr anchor="t" rtlCol="false" tIns="0" lIns="0" bIns="0" rIns="0">
            <a:spAutoFit/>
          </a:bodyPr>
          <a:lstStyle/>
          <a:p>
            <a:pPr algn="l">
              <a:lnSpc>
                <a:spcPts val="3629"/>
              </a:lnSpc>
            </a:pPr>
            <a:r>
              <a:rPr lang="en-US" sz="2326">
                <a:solidFill>
                  <a:srgbClr val="475569"/>
                </a:solidFill>
                <a:latin typeface="Poppins"/>
                <a:ea typeface="Poppins"/>
                <a:cs typeface="Poppins"/>
                <a:sym typeface="Poppins"/>
              </a:rPr>
              <a:t>Two independent methods that disagree give you an honest range for free - report the gap, don't smooth it away.</a:t>
            </a:r>
          </a:p>
        </p:txBody>
      </p:sp>
      <p:grpSp>
        <p:nvGrpSpPr>
          <p:cNvPr name="Group 26" id="26"/>
          <p:cNvGrpSpPr/>
          <p:nvPr/>
        </p:nvGrpSpPr>
        <p:grpSpPr>
          <a:xfrm rot="0">
            <a:off x="870699" y="7321667"/>
            <a:ext cx="439255" cy="439255"/>
            <a:chOff x="0" y="0"/>
            <a:chExt cx="585673" cy="585673"/>
          </a:xfrm>
        </p:grpSpPr>
        <p:sp>
          <p:nvSpPr>
            <p:cNvPr name="Freeform 27" id="27" descr="/home/claude/assets/icon_check.png"/>
            <p:cNvSpPr/>
            <p:nvPr/>
          </p:nvSpPr>
          <p:spPr>
            <a:xfrm flipH="false" flipV="false" rot="0">
              <a:off x="0" y="0"/>
              <a:ext cx="585724" cy="585724"/>
            </a:xfrm>
            <a:custGeom>
              <a:avLst/>
              <a:gdLst/>
              <a:ahLst/>
              <a:cxnLst/>
              <a:rect r="r" b="b" t="t" l="l"/>
              <a:pathLst>
                <a:path h="585724" w="585724">
                  <a:moveTo>
                    <a:pt x="0" y="0"/>
                  </a:moveTo>
                  <a:lnTo>
                    <a:pt x="585724" y="0"/>
                  </a:lnTo>
                  <a:lnTo>
                    <a:pt x="585724" y="585724"/>
                  </a:lnTo>
                  <a:lnTo>
                    <a:pt x="0" y="585724"/>
                  </a:lnTo>
                  <a:lnTo>
                    <a:pt x="0" y="0"/>
                  </a:lnTo>
                  <a:close/>
                </a:path>
              </a:pathLst>
            </a:custGeom>
            <a:blipFill>
              <a:blip r:embed="rId10"/>
              <a:stretch>
                <a:fillRect l="0" t="-1923" r="8" b="-1914"/>
              </a:stretch>
            </a:blipFill>
          </p:spPr>
        </p:sp>
      </p:grpSp>
      <p:sp>
        <p:nvSpPr>
          <p:cNvPr name="TextBox 28" id="28"/>
          <p:cNvSpPr txBox="true"/>
          <p:nvPr/>
        </p:nvSpPr>
        <p:spPr>
          <a:xfrm rot="0">
            <a:off x="1386496" y="7089153"/>
            <a:ext cx="10775617" cy="903268"/>
          </a:xfrm>
          <a:prstGeom prst="rect">
            <a:avLst/>
          </a:prstGeom>
        </p:spPr>
        <p:txBody>
          <a:bodyPr anchor="t" rtlCol="false" tIns="0" lIns="0" bIns="0" rIns="0">
            <a:spAutoFit/>
          </a:bodyPr>
          <a:lstStyle/>
          <a:p>
            <a:pPr algn="l">
              <a:lnSpc>
                <a:spcPts val="3629"/>
              </a:lnSpc>
            </a:pPr>
            <a:r>
              <a:rPr lang="en-US" sz="2326">
                <a:solidFill>
                  <a:srgbClr val="475569"/>
                </a:solidFill>
                <a:latin typeface="Poppins"/>
                <a:ea typeface="Poppins"/>
                <a:cs typeface="Poppins"/>
                <a:sym typeface="Poppins"/>
              </a:rPr>
              <a:t>A range with named assumptions is a more professional deliverable than a single confident number.</a:t>
            </a:r>
          </a:p>
        </p:txBody>
      </p:sp>
      <p:grpSp>
        <p:nvGrpSpPr>
          <p:cNvPr name="Group 29" id="29"/>
          <p:cNvGrpSpPr/>
          <p:nvPr/>
        </p:nvGrpSpPr>
        <p:grpSpPr>
          <a:xfrm rot="0">
            <a:off x="733425" y="8666883"/>
            <a:ext cx="11809641" cy="1304039"/>
            <a:chOff x="0" y="0"/>
            <a:chExt cx="15746188" cy="1738719"/>
          </a:xfrm>
        </p:grpSpPr>
        <p:sp>
          <p:nvSpPr>
            <p:cNvPr name="Freeform 30" id="30"/>
            <p:cNvSpPr/>
            <p:nvPr/>
          </p:nvSpPr>
          <p:spPr>
            <a:xfrm flipH="false" flipV="false" rot="0">
              <a:off x="0" y="0"/>
              <a:ext cx="15746168" cy="1738757"/>
            </a:xfrm>
            <a:custGeom>
              <a:avLst/>
              <a:gdLst/>
              <a:ahLst/>
              <a:cxnLst/>
              <a:rect r="r" b="b" t="t" l="l"/>
              <a:pathLst>
                <a:path h="1738757" w="15746168">
                  <a:moveTo>
                    <a:pt x="0" y="164719"/>
                  </a:moveTo>
                  <a:cubicBezTo>
                    <a:pt x="0" y="73787"/>
                    <a:pt x="58509" y="0"/>
                    <a:pt x="130612" y="0"/>
                  </a:cubicBezTo>
                  <a:lnTo>
                    <a:pt x="15615555" y="0"/>
                  </a:lnTo>
                  <a:cubicBezTo>
                    <a:pt x="15687659" y="0"/>
                    <a:pt x="15746168" y="73787"/>
                    <a:pt x="15746168" y="164719"/>
                  </a:cubicBezTo>
                  <a:lnTo>
                    <a:pt x="15746168" y="1574038"/>
                  </a:lnTo>
                  <a:cubicBezTo>
                    <a:pt x="15746168" y="1664970"/>
                    <a:pt x="15687659" y="1738757"/>
                    <a:pt x="15615555" y="1738757"/>
                  </a:cubicBezTo>
                  <a:lnTo>
                    <a:pt x="130612" y="1738757"/>
                  </a:lnTo>
                  <a:cubicBezTo>
                    <a:pt x="58509" y="1738757"/>
                    <a:pt x="0" y="1664970"/>
                    <a:pt x="0" y="1574038"/>
                  </a:cubicBezTo>
                  <a:close/>
                </a:path>
              </a:pathLst>
            </a:custGeom>
            <a:solidFill>
              <a:srgbClr val="F4F7F7"/>
            </a:solidFill>
          </p:spPr>
        </p:sp>
      </p:grpSp>
      <p:grpSp>
        <p:nvGrpSpPr>
          <p:cNvPr name="Group 31" id="31"/>
          <p:cNvGrpSpPr/>
          <p:nvPr/>
        </p:nvGrpSpPr>
        <p:grpSpPr>
          <a:xfrm rot="0">
            <a:off x="1168803" y="8666883"/>
            <a:ext cx="10938885" cy="1304039"/>
            <a:chOff x="0" y="0"/>
            <a:chExt cx="14585179" cy="1738718"/>
          </a:xfrm>
        </p:grpSpPr>
        <p:sp>
          <p:nvSpPr>
            <p:cNvPr name="Freeform 32" id="32"/>
            <p:cNvSpPr/>
            <p:nvPr/>
          </p:nvSpPr>
          <p:spPr>
            <a:xfrm flipH="false" flipV="false" rot="0">
              <a:off x="0" y="0"/>
              <a:ext cx="14585175" cy="1738718"/>
            </a:xfrm>
            <a:custGeom>
              <a:avLst/>
              <a:gdLst/>
              <a:ahLst/>
              <a:cxnLst/>
              <a:rect r="r" b="b" t="t" l="l"/>
              <a:pathLst>
                <a:path h="1738718" w="14585175">
                  <a:moveTo>
                    <a:pt x="0" y="0"/>
                  </a:moveTo>
                  <a:lnTo>
                    <a:pt x="14585175" y="0"/>
                  </a:lnTo>
                  <a:lnTo>
                    <a:pt x="14585175" y="1738718"/>
                  </a:lnTo>
                  <a:lnTo>
                    <a:pt x="0" y="1738718"/>
                  </a:lnTo>
                  <a:close/>
                </a:path>
              </a:pathLst>
            </a:custGeom>
            <a:blipFill>
              <a:blip r:embed="rId9">
                <a:alphaModFix amt="0"/>
              </a:blip>
              <a:stretch>
                <a:fillRect l="0" t="-156131" r="-26113" b="-156131"/>
              </a:stretch>
            </a:blipFill>
          </p:spPr>
        </p:sp>
        <p:sp>
          <p:nvSpPr>
            <p:cNvPr name="TextBox 33" id="33"/>
            <p:cNvSpPr txBox="true"/>
            <p:nvPr/>
          </p:nvSpPr>
          <p:spPr>
            <a:xfrm>
              <a:off x="0" y="-104775"/>
              <a:ext cx="14585179" cy="1843493"/>
            </a:xfrm>
            <a:prstGeom prst="rect">
              <a:avLst/>
            </a:prstGeom>
          </p:spPr>
          <p:txBody>
            <a:bodyPr anchor="ctr" rtlCol="false" tIns="0" lIns="0" bIns="0" rIns="0"/>
            <a:lstStyle/>
            <a:p>
              <a:pPr algn="ctr">
                <a:lnSpc>
                  <a:spcPts val="3746"/>
                </a:lnSpc>
              </a:pPr>
              <a:r>
                <a:rPr lang="en-US" sz="2401" b="true">
                  <a:solidFill>
                    <a:srgbClr val="387F7F"/>
                  </a:solidFill>
                  <a:latin typeface="Poppins Bold"/>
                  <a:ea typeface="Poppins Bold"/>
                  <a:cs typeface="Poppins Bold"/>
                  <a:sym typeface="Poppins Bold"/>
                </a:rPr>
                <a:t>Next: the pipeline lab needs this same honesty applied to a very different kind of AI output - a model's classification, not a number.</a:t>
              </a:r>
            </a:p>
          </p:txBody>
        </p:sp>
      </p:grpSp>
      <p:grpSp>
        <p:nvGrpSpPr>
          <p:cNvPr name="Group 34" id="34"/>
          <p:cNvGrpSpPr/>
          <p:nvPr/>
        </p:nvGrpSpPr>
        <p:grpSpPr>
          <a:xfrm rot="0">
            <a:off x="17275595" y="3523266"/>
            <a:ext cx="457200" cy="457200"/>
            <a:chOff x="0" y="0"/>
            <a:chExt cx="609600" cy="609600"/>
          </a:xfrm>
        </p:grpSpPr>
        <p:sp>
          <p:nvSpPr>
            <p:cNvPr name="Freeform 35" id="35" descr="image.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11"/>
              <a:stretch>
                <a:fillRect l="0" t="-1562" r="0" b="-1562"/>
              </a:stretch>
            </a:blipFill>
          </p:spPr>
        </p:sp>
      </p:grpSp>
      <p:sp>
        <p:nvSpPr>
          <p:cNvPr name="TextBox 36" id="36"/>
          <p:cNvSpPr txBox="true"/>
          <p:nvPr/>
        </p:nvSpPr>
        <p:spPr>
          <a:xfrm rot="0">
            <a:off x="12573520" y="3356578"/>
            <a:ext cx="4368701" cy="2034540"/>
          </a:xfrm>
          <a:prstGeom prst="rect">
            <a:avLst/>
          </a:prstGeom>
        </p:spPr>
        <p:txBody>
          <a:bodyPr anchor="t" rtlCol="false" tIns="0" lIns="0" bIns="0" rIns="0">
            <a:spAutoFit/>
          </a:bodyPr>
          <a:lstStyle/>
          <a:p>
            <a:pPr algn="r">
              <a:lnSpc>
                <a:spcPts val="5400"/>
              </a:lnSpc>
            </a:pPr>
            <a:r>
              <a:rPr lang="en-US" sz="3600">
                <a:solidFill>
                  <a:srgbClr val="387F7F"/>
                </a:solidFill>
                <a:latin typeface="Inter"/>
                <a:ea typeface="Inter"/>
                <a:cs typeface="Inter"/>
                <a:sym typeface="Inter"/>
              </a:rPr>
              <a:t>Up Next:</a:t>
            </a:r>
          </a:p>
          <a:p>
            <a:pPr algn="r">
              <a:lnSpc>
                <a:spcPts val="5400"/>
              </a:lnSpc>
            </a:pPr>
            <a:r>
              <a:rPr lang="en-US" sz="3600">
                <a:solidFill>
                  <a:srgbClr val="387F7F"/>
                </a:solidFill>
                <a:latin typeface="Inter"/>
                <a:ea typeface="Inter"/>
                <a:cs typeface="Inter"/>
                <a:sym typeface="Inter"/>
              </a:rPr>
              <a:t>Machine learning </a:t>
            </a:r>
          </a:p>
          <a:p>
            <a:pPr algn="r">
              <a:lnSpc>
                <a:spcPts val="5400"/>
              </a:lnSpc>
            </a:pPr>
            <a:r>
              <a:rPr lang="en-US" sz="3600">
                <a:solidFill>
                  <a:srgbClr val="387F7F"/>
                </a:solidFill>
                <a:latin typeface="Inter"/>
                <a:ea typeface="Inter"/>
                <a:cs typeface="Inter"/>
                <a:sym typeface="Inter"/>
              </a:rPr>
              <a:t>concepts for literacy</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6580584"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Wher</a:t>
            </a:r>
            <a:r>
              <a:rPr lang="en-US" sz="5000">
                <a:solidFill>
                  <a:srgbClr val="388080"/>
                </a:solidFill>
                <a:latin typeface="Poppins"/>
                <a:ea typeface="Poppins"/>
                <a:cs typeface="Poppins"/>
                <a:sym typeface="Poppins"/>
              </a:rPr>
              <a:t>e this goes next</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85825" y="2610223"/>
            <a:ext cx="4689967" cy="4941618"/>
            <a:chOff x="0" y="0"/>
            <a:chExt cx="6253290" cy="6588823"/>
          </a:xfrm>
        </p:grpSpPr>
        <p:sp>
          <p:nvSpPr>
            <p:cNvPr name="Freeform 12" id="12"/>
            <p:cNvSpPr/>
            <p:nvPr/>
          </p:nvSpPr>
          <p:spPr>
            <a:xfrm flipH="false" flipV="false" rot="0">
              <a:off x="0" y="0"/>
              <a:ext cx="6253353" cy="6588887"/>
            </a:xfrm>
            <a:custGeom>
              <a:avLst/>
              <a:gdLst/>
              <a:ahLst/>
              <a:cxnLst/>
              <a:rect r="r" b="b" t="t" l="l"/>
              <a:pathLst>
                <a:path h="6588887" w="6253353">
                  <a:moveTo>
                    <a:pt x="0" y="164719"/>
                  </a:moveTo>
                  <a:cubicBezTo>
                    <a:pt x="0" y="73787"/>
                    <a:pt x="73787" y="0"/>
                    <a:pt x="164719" y="0"/>
                  </a:cubicBezTo>
                  <a:lnTo>
                    <a:pt x="6088634" y="0"/>
                  </a:lnTo>
                  <a:cubicBezTo>
                    <a:pt x="6179566" y="0"/>
                    <a:pt x="6253353" y="73787"/>
                    <a:pt x="6253353" y="164719"/>
                  </a:cubicBezTo>
                  <a:lnTo>
                    <a:pt x="6253353" y="6424168"/>
                  </a:lnTo>
                  <a:cubicBezTo>
                    <a:pt x="6253353" y="6515100"/>
                    <a:pt x="6179566" y="6588887"/>
                    <a:pt x="6088634" y="6588887"/>
                  </a:cubicBezTo>
                  <a:lnTo>
                    <a:pt x="164719" y="6588887"/>
                  </a:lnTo>
                  <a:cubicBezTo>
                    <a:pt x="73787" y="6588887"/>
                    <a:pt x="0" y="6515100"/>
                    <a:pt x="0" y="6424168"/>
                  </a:cubicBezTo>
                  <a:close/>
                </a:path>
              </a:pathLst>
            </a:custGeom>
            <a:solidFill>
              <a:srgbClr val="FFFFFF"/>
            </a:solidFill>
          </p:spPr>
        </p:sp>
      </p:grpSp>
      <p:grpSp>
        <p:nvGrpSpPr>
          <p:cNvPr name="Group 13" id="13"/>
          <p:cNvGrpSpPr/>
          <p:nvPr/>
        </p:nvGrpSpPr>
        <p:grpSpPr>
          <a:xfrm rot="0">
            <a:off x="885825" y="2610223"/>
            <a:ext cx="4689967" cy="686333"/>
            <a:chOff x="0" y="0"/>
            <a:chExt cx="6253290" cy="915111"/>
          </a:xfrm>
        </p:grpSpPr>
        <p:sp>
          <p:nvSpPr>
            <p:cNvPr name="Freeform 14" id="14"/>
            <p:cNvSpPr/>
            <p:nvPr/>
          </p:nvSpPr>
          <p:spPr>
            <a:xfrm flipH="false" flipV="false" rot="0">
              <a:off x="0" y="0"/>
              <a:ext cx="6253226" cy="915162"/>
            </a:xfrm>
            <a:custGeom>
              <a:avLst/>
              <a:gdLst/>
              <a:ahLst/>
              <a:cxnLst/>
              <a:rect r="r" b="b" t="t" l="l"/>
              <a:pathLst>
                <a:path h="915162" w="6253226">
                  <a:moveTo>
                    <a:pt x="0" y="0"/>
                  </a:moveTo>
                  <a:lnTo>
                    <a:pt x="6253226" y="0"/>
                  </a:lnTo>
                  <a:lnTo>
                    <a:pt x="6253226" y="915162"/>
                  </a:lnTo>
                  <a:lnTo>
                    <a:pt x="0" y="915162"/>
                  </a:lnTo>
                  <a:close/>
                </a:path>
              </a:pathLst>
            </a:custGeom>
            <a:solidFill>
              <a:srgbClr val="387F7F"/>
            </a:solidFill>
          </p:spPr>
        </p:sp>
      </p:grpSp>
      <p:grpSp>
        <p:nvGrpSpPr>
          <p:cNvPr name="Group 15" id="15"/>
          <p:cNvGrpSpPr/>
          <p:nvPr/>
        </p:nvGrpSpPr>
        <p:grpSpPr>
          <a:xfrm rot="0">
            <a:off x="885825" y="2610223"/>
            <a:ext cx="4689967" cy="686333"/>
            <a:chOff x="0" y="0"/>
            <a:chExt cx="6253290" cy="915111"/>
          </a:xfrm>
        </p:grpSpPr>
        <p:sp>
          <p:nvSpPr>
            <p:cNvPr name="Freeform 16" id="16"/>
            <p:cNvSpPr/>
            <p:nvPr/>
          </p:nvSpPr>
          <p:spPr>
            <a:xfrm flipH="false" flipV="false" rot="0">
              <a:off x="0" y="0"/>
              <a:ext cx="6253285" cy="915115"/>
            </a:xfrm>
            <a:custGeom>
              <a:avLst/>
              <a:gdLst/>
              <a:ahLst/>
              <a:cxnLst/>
              <a:rect r="r" b="b" t="t" l="l"/>
              <a:pathLst>
                <a:path h="915115" w="6253285">
                  <a:moveTo>
                    <a:pt x="0" y="0"/>
                  </a:moveTo>
                  <a:lnTo>
                    <a:pt x="6253285" y="0"/>
                  </a:lnTo>
                  <a:lnTo>
                    <a:pt x="6253285" y="915115"/>
                  </a:lnTo>
                  <a:lnTo>
                    <a:pt x="0" y="915115"/>
                  </a:lnTo>
                  <a:close/>
                </a:path>
              </a:pathLst>
            </a:custGeom>
            <a:blipFill>
              <a:blip r:embed="rId9">
                <a:alphaModFix amt="0"/>
              </a:blip>
              <a:stretch>
                <a:fillRect l="0" t="-83148" r="0" b="-83147"/>
              </a:stretch>
            </a:blipFill>
          </p:spPr>
        </p:sp>
        <p:sp>
          <p:nvSpPr>
            <p:cNvPr name="TextBox 17" id="17"/>
            <p:cNvSpPr txBox="true"/>
            <p:nvPr/>
          </p:nvSpPr>
          <p:spPr>
            <a:xfrm>
              <a:off x="0" y="-19050"/>
              <a:ext cx="6253290" cy="934161"/>
            </a:xfrm>
            <a:prstGeom prst="rect">
              <a:avLst/>
            </a:prstGeom>
          </p:spPr>
          <p:txBody>
            <a:bodyPr anchor="ctr" rtlCol="false" tIns="0" lIns="0" bIns="0" rIns="0"/>
            <a:lstStyle/>
            <a:p>
              <a:pPr algn="ctr">
                <a:lnSpc>
                  <a:spcPts val="2251"/>
                </a:lnSpc>
              </a:pPr>
              <a:r>
                <a:rPr lang="en-US" sz="1876" b="true">
                  <a:solidFill>
                    <a:srgbClr val="FFFFFF"/>
                  </a:solidFill>
                  <a:latin typeface="Poppins Bold"/>
                  <a:ea typeface="Poppins Bold"/>
                  <a:cs typeface="Poppins Bold"/>
                  <a:sym typeface="Poppins Bold"/>
                </a:rPr>
                <a:t>TOPIC 8.3</a:t>
              </a:r>
            </a:p>
          </p:txBody>
        </p:sp>
      </p:grpSp>
      <p:sp>
        <p:nvSpPr>
          <p:cNvPr name="TextBox 18" id="18"/>
          <p:cNvSpPr txBox="true"/>
          <p:nvPr/>
        </p:nvSpPr>
        <p:spPr>
          <a:xfrm rot="0">
            <a:off x="1229001" y="3466321"/>
            <a:ext cx="4003624" cy="3810991"/>
          </a:xfrm>
          <a:prstGeom prst="rect">
            <a:avLst/>
          </a:prstGeom>
        </p:spPr>
        <p:txBody>
          <a:bodyPr anchor="t" rtlCol="false" tIns="0" lIns="0" bIns="0" rIns="0">
            <a:spAutoFit/>
          </a:bodyPr>
          <a:lstStyle/>
          <a:p>
            <a:pPr algn="l">
              <a:lnSpc>
                <a:spcPts val="3512"/>
              </a:lnSpc>
            </a:pPr>
            <a:r>
              <a:rPr lang="en-US" sz="2251">
                <a:solidFill>
                  <a:srgbClr val="475569"/>
                </a:solidFill>
                <a:latin typeface="Poppins"/>
                <a:ea typeface="Poppins"/>
                <a:cs typeface="Poppins"/>
                <a:sym typeface="Poppins"/>
              </a:rPr>
              <a:t>Machine learning concepts for literacy: supervised learning, classification, regression and clustering, explained in plain language - strictly literacy, no model building.</a:t>
            </a:r>
          </a:p>
        </p:txBody>
      </p:sp>
      <p:grpSp>
        <p:nvGrpSpPr>
          <p:cNvPr name="Group 19" id="19"/>
          <p:cNvGrpSpPr/>
          <p:nvPr/>
        </p:nvGrpSpPr>
        <p:grpSpPr>
          <a:xfrm rot="0">
            <a:off x="5987596" y="2610223"/>
            <a:ext cx="4689967" cy="4941618"/>
            <a:chOff x="0" y="0"/>
            <a:chExt cx="6253290" cy="6588823"/>
          </a:xfrm>
        </p:grpSpPr>
        <p:sp>
          <p:nvSpPr>
            <p:cNvPr name="Freeform 20" id="20"/>
            <p:cNvSpPr/>
            <p:nvPr/>
          </p:nvSpPr>
          <p:spPr>
            <a:xfrm flipH="false" flipV="false" rot="0">
              <a:off x="0" y="0"/>
              <a:ext cx="6253353" cy="6588887"/>
            </a:xfrm>
            <a:custGeom>
              <a:avLst/>
              <a:gdLst/>
              <a:ahLst/>
              <a:cxnLst/>
              <a:rect r="r" b="b" t="t" l="l"/>
              <a:pathLst>
                <a:path h="6588887" w="6253353">
                  <a:moveTo>
                    <a:pt x="0" y="164719"/>
                  </a:moveTo>
                  <a:cubicBezTo>
                    <a:pt x="0" y="73787"/>
                    <a:pt x="73787" y="0"/>
                    <a:pt x="164719" y="0"/>
                  </a:cubicBezTo>
                  <a:lnTo>
                    <a:pt x="6088634" y="0"/>
                  </a:lnTo>
                  <a:cubicBezTo>
                    <a:pt x="6179566" y="0"/>
                    <a:pt x="6253353" y="73787"/>
                    <a:pt x="6253353" y="164719"/>
                  </a:cubicBezTo>
                  <a:lnTo>
                    <a:pt x="6253353" y="6424168"/>
                  </a:lnTo>
                  <a:cubicBezTo>
                    <a:pt x="6253353" y="6515100"/>
                    <a:pt x="6179566" y="6588887"/>
                    <a:pt x="6088634" y="6588887"/>
                  </a:cubicBezTo>
                  <a:lnTo>
                    <a:pt x="164719" y="6588887"/>
                  </a:lnTo>
                  <a:cubicBezTo>
                    <a:pt x="73787" y="6588887"/>
                    <a:pt x="0" y="6515100"/>
                    <a:pt x="0" y="6424168"/>
                  </a:cubicBezTo>
                  <a:close/>
                </a:path>
              </a:pathLst>
            </a:custGeom>
            <a:solidFill>
              <a:srgbClr val="FFFFFF"/>
            </a:solidFill>
          </p:spPr>
        </p:sp>
      </p:grpSp>
      <p:grpSp>
        <p:nvGrpSpPr>
          <p:cNvPr name="Group 21" id="21"/>
          <p:cNvGrpSpPr/>
          <p:nvPr/>
        </p:nvGrpSpPr>
        <p:grpSpPr>
          <a:xfrm rot="0">
            <a:off x="5987596" y="2610223"/>
            <a:ext cx="4689967" cy="686333"/>
            <a:chOff x="0" y="0"/>
            <a:chExt cx="6253290" cy="915111"/>
          </a:xfrm>
        </p:grpSpPr>
        <p:sp>
          <p:nvSpPr>
            <p:cNvPr name="Freeform 22" id="22"/>
            <p:cNvSpPr/>
            <p:nvPr/>
          </p:nvSpPr>
          <p:spPr>
            <a:xfrm flipH="false" flipV="false" rot="0">
              <a:off x="0" y="0"/>
              <a:ext cx="6253226" cy="915162"/>
            </a:xfrm>
            <a:custGeom>
              <a:avLst/>
              <a:gdLst/>
              <a:ahLst/>
              <a:cxnLst/>
              <a:rect r="r" b="b" t="t" l="l"/>
              <a:pathLst>
                <a:path h="915162" w="6253226">
                  <a:moveTo>
                    <a:pt x="0" y="0"/>
                  </a:moveTo>
                  <a:lnTo>
                    <a:pt x="6253226" y="0"/>
                  </a:lnTo>
                  <a:lnTo>
                    <a:pt x="6253226" y="915162"/>
                  </a:lnTo>
                  <a:lnTo>
                    <a:pt x="0" y="915162"/>
                  </a:lnTo>
                  <a:close/>
                </a:path>
              </a:pathLst>
            </a:custGeom>
            <a:solidFill>
              <a:srgbClr val="387F7F"/>
            </a:solidFill>
          </p:spPr>
        </p:sp>
      </p:grpSp>
      <p:grpSp>
        <p:nvGrpSpPr>
          <p:cNvPr name="Group 23" id="23"/>
          <p:cNvGrpSpPr/>
          <p:nvPr/>
        </p:nvGrpSpPr>
        <p:grpSpPr>
          <a:xfrm rot="0">
            <a:off x="5987596" y="2610223"/>
            <a:ext cx="4689967" cy="686333"/>
            <a:chOff x="0" y="0"/>
            <a:chExt cx="6253290" cy="915111"/>
          </a:xfrm>
        </p:grpSpPr>
        <p:sp>
          <p:nvSpPr>
            <p:cNvPr name="Freeform 24" id="24"/>
            <p:cNvSpPr/>
            <p:nvPr/>
          </p:nvSpPr>
          <p:spPr>
            <a:xfrm flipH="false" flipV="false" rot="0">
              <a:off x="0" y="0"/>
              <a:ext cx="6253285" cy="915115"/>
            </a:xfrm>
            <a:custGeom>
              <a:avLst/>
              <a:gdLst/>
              <a:ahLst/>
              <a:cxnLst/>
              <a:rect r="r" b="b" t="t" l="l"/>
              <a:pathLst>
                <a:path h="915115" w="6253285">
                  <a:moveTo>
                    <a:pt x="0" y="0"/>
                  </a:moveTo>
                  <a:lnTo>
                    <a:pt x="6253285" y="0"/>
                  </a:lnTo>
                  <a:lnTo>
                    <a:pt x="6253285" y="915115"/>
                  </a:lnTo>
                  <a:lnTo>
                    <a:pt x="0" y="915115"/>
                  </a:lnTo>
                  <a:close/>
                </a:path>
              </a:pathLst>
            </a:custGeom>
            <a:blipFill>
              <a:blip r:embed="rId9">
                <a:alphaModFix amt="0"/>
              </a:blip>
              <a:stretch>
                <a:fillRect l="0" t="-83148" r="0" b="-83147"/>
              </a:stretch>
            </a:blipFill>
          </p:spPr>
        </p:sp>
        <p:sp>
          <p:nvSpPr>
            <p:cNvPr name="TextBox 25" id="25"/>
            <p:cNvSpPr txBox="true"/>
            <p:nvPr/>
          </p:nvSpPr>
          <p:spPr>
            <a:xfrm>
              <a:off x="0" y="-19050"/>
              <a:ext cx="6253290" cy="934161"/>
            </a:xfrm>
            <a:prstGeom prst="rect">
              <a:avLst/>
            </a:prstGeom>
          </p:spPr>
          <p:txBody>
            <a:bodyPr anchor="ctr" rtlCol="false" tIns="0" lIns="0" bIns="0" rIns="0"/>
            <a:lstStyle/>
            <a:p>
              <a:pPr algn="ctr">
                <a:lnSpc>
                  <a:spcPts val="2251"/>
                </a:lnSpc>
              </a:pPr>
              <a:r>
                <a:rPr lang="en-US" sz="1876" b="true">
                  <a:solidFill>
                    <a:srgbClr val="FFFFFF"/>
                  </a:solidFill>
                  <a:latin typeface="Poppins Bold"/>
                  <a:ea typeface="Poppins Bold"/>
                  <a:cs typeface="Poppins Bold"/>
                  <a:sym typeface="Poppins Bold"/>
                </a:rPr>
                <a:t>PIPELINE LAB</a:t>
              </a:r>
            </a:p>
          </p:txBody>
        </p:sp>
      </p:grpSp>
      <p:sp>
        <p:nvSpPr>
          <p:cNvPr name="TextBox 26" id="26"/>
          <p:cNvSpPr txBox="true"/>
          <p:nvPr/>
        </p:nvSpPr>
        <p:spPr>
          <a:xfrm rot="0">
            <a:off x="6330763" y="3466321"/>
            <a:ext cx="4003624" cy="3810991"/>
          </a:xfrm>
          <a:prstGeom prst="rect">
            <a:avLst/>
          </a:prstGeom>
        </p:spPr>
        <p:txBody>
          <a:bodyPr anchor="t" rtlCol="false" tIns="0" lIns="0" bIns="0" rIns="0">
            <a:spAutoFit/>
          </a:bodyPr>
          <a:lstStyle/>
          <a:p>
            <a:pPr algn="l">
              <a:lnSpc>
                <a:spcPts val="3512"/>
              </a:lnSpc>
            </a:pPr>
            <a:r>
              <a:rPr lang="en-US" sz="2251">
                <a:solidFill>
                  <a:srgbClr val="475569"/>
                </a:solidFill>
                <a:latin typeface="Poppins"/>
                <a:ea typeface="Poppins"/>
                <a:cs typeface="Poppins"/>
                <a:sym typeface="Poppins"/>
              </a:rPr>
              <a:t>The full-day lab reuses this topic's honesty habit: any unverified claim in the final report, forecast or otherwise, fails the exercise.</a:t>
            </a:r>
          </a:p>
        </p:txBody>
      </p:sp>
      <p:grpSp>
        <p:nvGrpSpPr>
          <p:cNvPr name="Group 27" id="27"/>
          <p:cNvGrpSpPr/>
          <p:nvPr/>
        </p:nvGrpSpPr>
        <p:grpSpPr>
          <a:xfrm rot="0">
            <a:off x="11089357" y="2610223"/>
            <a:ext cx="4689967" cy="4941618"/>
            <a:chOff x="0" y="0"/>
            <a:chExt cx="6253290" cy="6588823"/>
          </a:xfrm>
        </p:grpSpPr>
        <p:sp>
          <p:nvSpPr>
            <p:cNvPr name="Freeform 28" id="28"/>
            <p:cNvSpPr/>
            <p:nvPr/>
          </p:nvSpPr>
          <p:spPr>
            <a:xfrm flipH="false" flipV="false" rot="0">
              <a:off x="0" y="0"/>
              <a:ext cx="6253353" cy="6588887"/>
            </a:xfrm>
            <a:custGeom>
              <a:avLst/>
              <a:gdLst/>
              <a:ahLst/>
              <a:cxnLst/>
              <a:rect r="r" b="b" t="t" l="l"/>
              <a:pathLst>
                <a:path h="6588887" w="6253353">
                  <a:moveTo>
                    <a:pt x="0" y="164719"/>
                  </a:moveTo>
                  <a:cubicBezTo>
                    <a:pt x="0" y="73787"/>
                    <a:pt x="73787" y="0"/>
                    <a:pt x="164719" y="0"/>
                  </a:cubicBezTo>
                  <a:lnTo>
                    <a:pt x="6088634" y="0"/>
                  </a:lnTo>
                  <a:cubicBezTo>
                    <a:pt x="6179566" y="0"/>
                    <a:pt x="6253353" y="73787"/>
                    <a:pt x="6253353" y="164719"/>
                  </a:cubicBezTo>
                  <a:lnTo>
                    <a:pt x="6253353" y="6424168"/>
                  </a:lnTo>
                  <a:cubicBezTo>
                    <a:pt x="6253353" y="6515100"/>
                    <a:pt x="6179566" y="6588887"/>
                    <a:pt x="6088634" y="6588887"/>
                  </a:cubicBezTo>
                  <a:lnTo>
                    <a:pt x="164719" y="6588887"/>
                  </a:lnTo>
                  <a:cubicBezTo>
                    <a:pt x="73787" y="6588887"/>
                    <a:pt x="0" y="6515100"/>
                    <a:pt x="0" y="6424168"/>
                  </a:cubicBezTo>
                  <a:close/>
                </a:path>
              </a:pathLst>
            </a:custGeom>
            <a:solidFill>
              <a:srgbClr val="FFFFFF"/>
            </a:solidFill>
          </p:spPr>
        </p:sp>
      </p:grpSp>
      <p:grpSp>
        <p:nvGrpSpPr>
          <p:cNvPr name="Group 29" id="29"/>
          <p:cNvGrpSpPr/>
          <p:nvPr/>
        </p:nvGrpSpPr>
        <p:grpSpPr>
          <a:xfrm rot="0">
            <a:off x="11089357" y="2610223"/>
            <a:ext cx="4689967" cy="686333"/>
            <a:chOff x="0" y="0"/>
            <a:chExt cx="6253290" cy="915111"/>
          </a:xfrm>
        </p:grpSpPr>
        <p:sp>
          <p:nvSpPr>
            <p:cNvPr name="Freeform 30" id="30"/>
            <p:cNvSpPr/>
            <p:nvPr/>
          </p:nvSpPr>
          <p:spPr>
            <a:xfrm flipH="false" flipV="false" rot="0">
              <a:off x="0" y="0"/>
              <a:ext cx="6253226" cy="915162"/>
            </a:xfrm>
            <a:custGeom>
              <a:avLst/>
              <a:gdLst/>
              <a:ahLst/>
              <a:cxnLst/>
              <a:rect r="r" b="b" t="t" l="l"/>
              <a:pathLst>
                <a:path h="915162" w="6253226">
                  <a:moveTo>
                    <a:pt x="0" y="0"/>
                  </a:moveTo>
                  <a:lnTo>
                    <a:pt x="6253226" y="0"/>
                  </a:lnTo>
                  <a:lnTo>
                    <a:pt x="6253226" y="915162"/>
                  </a:lnTo>
                  <a:lnTo>
                    <a:pt x="0" y="915162"/>
                  </a:lnTo>
                  <a:close/>
                </a:path>
              </a:pathLst>
            </a:custGeom>
            <a:solidFill>
              <a:srgbClr val="387F7F"/>
            </a:solidFill>
          </p:spPr>
        </p:sp>
      </p:grpSp>
      <p:grpSp>
        <p:nvGrpSpPr>
          <p:cNvPr name="Group 31" id="31"/>
          <p:cNvGrpSpPr/>
          <p:nvPr/>
        </p:nvGrpSpPr>
        <p:grpSpPr>
          <a:xfrm rot="0">
            <a:off x="11089357" y="2610223"/>
            <a:ext cx="4689967" cy="686333"/>
            <a:chOff x="0" y="0"/>
            <a:chExt cx="6253290" cy="915111"/>
          </a:xfrm>
        </p:grpSpPr>
        <p:sp>
          <p:nvSpPr>
            <p:cNvPr name="Freeform 32" id="32"/>
            <p:cNvSpPr/>
            <p:nvPr/>
          </p:nvSpPr>
          <p:spPr>
            <a:xfrm flipH="false" flipV="false" rot="0">
              <a:off x="0" y="0"/>
              <a:ext cx="6253285" cy="915115"/>
            </a:xfrm>
            <a:custGeom>
              <a:avLst/>
              <a:gdLst/>
              <a:ahLst/>
              <a:cxnLst/>
              <a:rect r="r" b="b" t="t" l="l"/>
              <a:pathLst>
                <a:path h="915115" w="6253285">
                  <a:moveTo>
                    <a:pt x="0" y="0"/>
                  </a:moveTo>
                  <a:lnTo>
                    <a:pt x="6253285" y="0"/>
                  </a:lnTo>
                  <a:lnTo>
                    <a:pt x="6253285" y="915115"/>
                  </a:lnTo>
                  <a:lnTo>
                    <a:pt x="0" y="915115"/>
                  </a:lnTo>
                  <a:close/>
                </a:path>
              </a:pathLst>
            </a:custGeom>
            <a:blipFill>
              <a:blip r:embed="rId9">
                <a:alphaModFix amt="0"/>
              </a:blip>
              <a:stretch>
                <a:fillRect l="0" t="-83148" r="0" b="-83147"/>
              </a:stretch>
            </a:blipFill>
          </p:spPr>
        </p:sp>
        <p:sp>
          <p:nvSpPr>
            <p:cNvPr name="TextBox 33" id="33"/>
            <p:cNvSpPr txBox="true"/>
            <p:nvPr/>
          </p:nvSpPr>
          <p:spPr>
            <a:xfrm>
              <a:off x="0" y="-19050"/>
              <a:ext cx="6253290" cy="934161"/>
            </a:xfrm>
            <a:prstGeom prst="rect">
              <a:avLst/>
            </a:prstGeom>
          </p:spPr>
          <p:txBody>
            <a:bodyPr anchor="ctr" rtlCol="false" tIns="0" lIns="0" bIns="0" rIns="0"/>
            <a:lstStyle/>
            <a:p>
              <a:pPr algn="ctr">
                <a:lnSpc>
                  <a:spcPts val="2251"/>
                </a:lnSpc>
              </a:pPr>
              <a:r>
                <a:rPr lang="en-US" sz="1876" b="true">
                  <a:solidFill>
                    <a:srgbClr val="FFFFFF"/>
                  </a:solidFill>
                  <a:latin typeface="Poppins Bold"/>
                  <a:ea typeface="Poppins Bold"/>
                  <a:cs typeface="Poppins Bold"/>
                  <a:sym typeface="Poppins Bold"/>
                </a:rPr>
                <a:t>RESPONSIBLE RECORD</a:t>
              </a:r>
            </a:p>
          </p:txBody>
        </p:sp>
      </p:grpSp>
      <p:sp>
        <p:nvSpPr>
          <p:cNvPr name="TextBox 34" id="34"/>
          <p:cNvSpPr txBox="true"/>
          <p:nvPr/>
        </p:nvSpPr>
        <p:spPr>
          <a:xfrm rot="0">
            <a:off x="11432524" y="3466321"/>
            <a:ext cx="4003624" cy="3810991"/>
          </a:xfrm>
          <a:prstGeom prst="rect">
            <a:avLst/>
          </a:prstGeom>
        </p:spPr>
        <p:txBody>
          <a:bodyPr anchor="t" rtlCol="false" tIns="0" lIns="0" bIns="0" rIns="0">
            <a:spAutoFit/>
          </a:bodyPr>
          <a:lstStyle/>
          <a:p>
            <a:pPr algn="l">
              <a:lnSpc>
                <a:spcPts val="3512"/>
              </a:lnSpc>
            </a:pPr>
            <a:r>
              <a:rPr lang="en-US" sz="2251">
                <a:solidFill>
                  <a:srgbClr val="475569"/>
                </a:solidFill>
                <a:latin typeface="Poppins"/>
                <a:ea typeface="Poppins"/>
                <a:cs typeface="Poppins"/>
                <a:sym typeface="Poppins"/>
              </a:rPr>
              <a:t>Log today's forecasting method and stated assumptions in your responsible data and AI record, started back in Topic 7.6.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DAHUa1BoWpU</dc:identifier>
  <dcterms:modified xsi:type="dcterms:W3CDTF">2011-08-01T06:04:30Z</dcterms:modified>
  <cp:revision>1</cp:revision>
  <dc:title>8.2_Forecasting with AI Support</dc:title>
</cp:coreProperties>
</file>