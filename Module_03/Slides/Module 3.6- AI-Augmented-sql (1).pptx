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Inter" charset="1" panose="02000503000000020004"/>
      <p:regular r:id="rId23"/>
    </p:embeddedFont>
    <p:embeddedFont>
      <p:font typeface="Inter Medium" charset="1" panose="02000503000000020004"/>
      <p:regular r:id="rId24"/>
    </p:embeddedFont>
    <p:embeddedFont>
      <p:font typeface="Poppins Bold" charset="1" panose="00000800000000000000"/>
      <p:regular r:id="rId25"/>
    </p:embeddedFont>
    <p:embeddedFont>
      <p:font typeface="Inter Bold" charset="1" panose="02000503000000020004"/>
      <p:regular r:id="rId26"/>
    </p:embeddedFont>
    <p:embeddedFont>
      <p:font typeface="Poppins" charset="1" panose="00000500000000000000"/>
      <p:regular r:id="rId27"/>
    </p:embeddedFont>
    <p:embeddedFont>
      <p:font typeface="Courier New Bold" charset="1" panose="02070609020205020404"/>
      <p:regular r:id="rId28"/>
    </p:embeddedFont>
    <p:embeddedFont>
      <p:font typeface="Poppins Italics" charset="1" panose="00000500000000000000"/>
      <p:regular r:id="rId29"/>
    </p:embeddedFont>
    <p:embeddedFont>
      <p:font typeface="Courier New" charset="1" panose="02070309020205020404"/>
      <p:regular r:id="rId30"/>
    </p:embeddedFont>
    <p:embeddedFont>
      <p:font typeface="DM Sans Bold" charset="1" panose="000000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Read each 'you can now' aloud with a thumbs-up/down check, then let the Module 3 checklist land as a real moment — six topics, each building on the last. Next up is the graded query set, covered on the following slide. Timing: 3 minutes.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0.png" Type="http://schemas.openxmlformats.org/officeDocument/2006/relationships/image"/><Relationship Id="rId12" Target="../media/image11.jpe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jpe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jpeg" Type="http://schemas.openxmlformats.org/officeDocument/2006/relationships/image"/><Relationship Id="rId4" Target="../media/image7.png" Type="http://schemas.openxmlformats.org/officeDocument/2006/relationships/image"/><Relationship Id="rId5" Target="../media/image4.pn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0" y="0"/>
            <a:ext cx="2286000" cy="1907553"/>
            <a:chOff x="0" y="0"/>
            <a:chExt cx="3048000" cy="25434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8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01875" y="714375"/>
            <a:ext cx="2857500" cy="2857500"/>
            <a:chOff x="0" y="0"/>
            <a:chExt cx="3810000" cy="381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0" y="1905000"/>
                  </a:moveTo>
                  <a:cubicBezTo>
                    <a:pt x="0" y="852932"/>
                    <a:pt x="852932" y="0"/>
                    <a:pt x="1905000" y="0"/>
                  </a:cubicBezTo>
                  <a:cubicBezTo>
                    <a:pt x="2957068" y="0"/>
                    <a:pt x="3810000" y="852932"/>
                    <a:pt x="3810000" y="1905000"/>
                  </a:cubicBezTo>
                  <a:cubicBezTo>
                    <a:pt x="3810000" y="2957068"/>
                    <a:pt x="2957068" y="3810000"/>
                    <a:pt x="1905000" y="3810000"/>
                  </a:cubicBezTo>
                  <a:cubicBezTo>
                    <a:pt x="852932" y="3810000"/>
                    <a:pt x="0" y="2957068"/>
                    <a:pt x="0" y="1905000"/>
                  </a:cubicBezTo>
                  <a:close/>
                </a:path>
              </a:pathLst>
            </a:custGeom>
            <a:solidFill>
              <a:srgbClr val="387F7F">
                <a:alpha val="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429375"/>
            <a:ext cx="1907553" cy="1286104"/>
            <a:chOff x="0" y="0"/>
            <a:chExt cx="2543404" cy="1714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7" b="-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2944759"/>
            <a:ext cx="16002000" cy="323098"/>
            <a:chOff x="0" y="0"/>
            <a:chExt cx="21336000" cy="430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430800"/>
            </a:xfrm>
            <a:custGeom>
              <a:avLst/>
              <a:gdLst/>
              <a:ahLst/>
              <a:cxnLst/>
              <a:rect r="r" b="b" t="t" l="l"/>
              <a:pathLst>
                <a:path h="4308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800"/>
                  </a:lnTo>
                  <a:lnTo>
                    <a:pt x="0" y="430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15025" r="0" b="-9150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336000" cy="430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JAVASCRIPT FUNDAMENTALS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3000" y="3349571"/>
            <a:ext cx="16002000" cy="691165"/>
            <a:chOff x="0" y="0"/>
            <a:chExt cx="21336000" cy="9215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36000" cy="921546"/>
            </a:xfrm>
            <a:custGeom>
              <a:avLst/>
              <a:gdLst/>
              <a:ahLst/>
              <a:cxnLst/>
              <a:rect r="r" b="b" t="t" l="l"/>
              <a:pathLst>
                <a:path h="921546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21546"/>
                  </a:lnTo>
                  <a:lnTo>
                    <a:pt x="0" y="921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4371" r="0" b="-38787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336000" cy="9310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Module 3: SQL and Databases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3000" y="8572500"/>
            <a:ext cx="16002000" cy="28804"/>
            <a:chOff x="0" y="0"/>
            <a:chExt cx="21336000" cy="384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43000" y="9001125"/>
            <a:ext cx="385648" cy="342900"/>
            <a:chOff x="0" y="0"/>
            <a:chExt cx="514198" cy="457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4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43062" y="8866106"/>
            <a:ext cx="2802638" cy="573969"/>
            <a:chOff x="0" y="0"/>
            <a:chExt cx="2857805" cy="5852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57800" cy="585270"/>
            </a:xfrm>
            <a:custGeom>
              <a:avLst/>
              <a:gdLst/>
              <a:ahLst/>
              <a:cxnLst/>
              <a:rect r="r" b="b" t="t" l="l"/>
              <a:pathLst>
                <a:path h="585270" w="2857800">
                  <a:moveTo>
                    <a:pt x="0" y="0"/>
                  </a:moveTo>
                  <a:lnTo>
                    <a:pt x="2857800" y="0"/>
                  </a:lnTo>
                  <a:lnTo>
                    <a:pt x="2857800" y="585270"/>
                  </a:lnTo>
                  <a:lnTo>
                    <a:pt x="0" y="5852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339" r="0" b="-3194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857805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5 of 6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43000" y="552450"/>
            <a:ext cx="2124669" cy="1845806"/>
          </a:xfrm>
          <a:custGeom>
            <a:avLst/>
            <a:gdLst/>
            <a:ahLst/>
            <a:cxnLst/>
            <a:rect r="r" b="b" t="t" l="l"/>
            <a:pathLst>
              <a:path h="1845806" w="2124669">
                <a:moveTo>
                  <a:pt x="0" y="0"/>
                </a:moveTo>
                <a:lnTo>
                  <a:pt x="2124669" y="0"/>
                </a:lnTo>
                <a:lnTo>
                  <a:pt x="2124669" y="1845806"/>
                </a:lnTo>
                <a:lnTo>
                  <a:pt x="0" y="18458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43000" y="4116229"/>
            <a:ext cx="6605401" cy="292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0"/>
              </a:lnSpc>
            </a:pPr>
            <a:r>
              <a:rPr lang="en-US" sz="9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Primitiv</a:t>
            </a:r>
            <a:r>
              <a:rPr lang="en-US" b="true" sz="9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</a:p>
          <a:p>
            <a:pPr algn="l">
              <a:lnSpc>
                <a:spcPts val="11250"/>
              </a:lnSpc>
            </a:pPr>
            <a:r>
              <a:rPr lang="en-US" b="true" sz="9000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Data Types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001070" y="1733550"/>
            <a:ext cx="6258230" cy="6258230"/>
            <a:chOff x="0" y="0"/>
            <a:chExt cx="8890000" cy="8890000"/>
          </a:xfrm>
        </p:grpSpPr>
        <p:sp>
          <p:nvSpPr>
            <p:cNvPr name="Freeform 24" id="24" descr="A sophisticated, high-quality 3D digital illustration representing programming variables, data types, and operators for a JavaScript course. The image features a clean, minimalist workspace with glowing, semi-transparent 3D boxes and spheres label..."/>
            <p:cNvSpPr/>
            <p:nvPr/>
          </p:nvSpPr>
          <p:spPr>
            <a:xfrm flipH="false" flipV="false" rot="0">
              <a:off x="0" y="0"/>
              <a:ext cx="889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8890000">
                  <a:moveTo>
                    <a:pt x="270611" y="0"/>
                  </a:moveTo>
                  <a:lnTo>
                    <a:pt x="8619389" y="0"/>
                  </a:lnTo>
                  <a:cubicBezTo>
                    <a:pt x="8768843" y="0"/>
                    <a:pt x="8890000" y="121157"/>
                    <a:pt x="8890000" y="270611"/>
                  </a:cubicBezTo>
                  <a:lnTo>
                    <a:pt x="8890000" y="8619389"/>
                  </a:lnTo>
                  <a:cubicBezTo>
                    <a:pt x="8890000" y="8768843"/>
                    <a:pt x="8768843" y="8890000"/>
                    <a:pt x="8619389" y="8890000"/>
                  </a:cubicBezTo>
                  <a:lnTo>
                    <a:pt x="270611" y="8890000"/>
                  </a:lnTo>
                  <a:cubicBezTo>
                    <a:pt x="121157" y="8890000"/>
                    <a:pt x="0" y="8768843"/>
                    <a:pt x="0" y="8619389"/>
                  </a:cubicBezTo>
                  <a:lnTo>
                    <a:pt x="0" y="270611"/>
                  </a:lnTo>
                  <a:cubicBezTo>
                    <a:pt x="0" y="121157"/>
                    <a:pt x="121157" y="0"/>
                    <a:pt x="270611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30000" y="0"/>
            <a:ext cx="2286000" cy="1907572"/>
            <a:chOff x="0" y="0"/>
            <a:chExt cx="3048000" cy="25434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0" r="0" b="-14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0" y="6429375"/>
            <a:ext cx="1907572" cy="1286066"/>
            <a:chOff x="0" y="0"/>
            <a:chExt cx="2543429" cy="171475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8" t="0" r="-147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43000" y="2944759"/>
            <a:ext cx="16002000" cy="323098"/>
            <a:chOff x="0" y="0"/>
            <a:chExt cx="21336000" cy="43079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14386" r="0" b="-914392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43000" y="2602977"/>
            <a:ext cx="16002000" cy="683564"/>
            <a:chOff x="0" y="0"/>
            <a:chExt cx="21336000" cy="91141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336000" cy="911419"/>
            </a:xfrm>
            <a:custGeom>
              <a:avLst/>
              <a:gdLst/>
              <a:ahLst/>
              <a:cxnLst/>
              <a:rect r="r" b="b" t="t" l="l"/>
              <a:pathLst>
                <a:path h="911419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11419"/>
                  </a:lnTo>
                  <a:lnTo>
                    <a:pt x="0" y="9114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2504" r="0" b="-37977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1336000" cy="911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DATA ANALYSIS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43000" y="3349571"/>
            <a:ext cx="16002000" cy="691134"/>
            <a:chOff x="0" y="0"/>
            <a:chExt cx="21336000" cy="9215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336000" cy="921512"/>
            </a:xfrm>
            <a:custGeom>
              <a:avLst/>
              <a:gdLst/>
              <a:ahLst/>
              <a:cxnLst/>
              <a:rect r="r" b="b" t="t" l="l"/>
              <a:pathLst>
                <a:path h="9215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21512"/>
                  </a:lnTo>
                  <a:lnTo>
                    <a:pt x="0" y="9215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00828" r="0" b="-400828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43000" y="3405167"/>
            <a:ext cx="16002000" cy="698283"/>
            <a:chOff x="0" y="0"/>
            <a:chExt cx="21336000" cy="9310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336000" cy="931038"/>
            </a:xfrm>
            <a:custGeom>
              <a:avLst/>
              <a:gdLst/>
              <a:ahLst/>
              <a:cxnLst/>
              <a:rect r="r" b="b" t="t" l="l"/>
              <a:pathLst>
                <a:path h="931038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31038"/>
                  </a:lnTo>
                  <a:lnTo>
                    <a:pt x="0" y="931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525" r="0" b="-39652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1336000" cy="940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Module 3: SQL &amp; Databases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43000" y="8572500"/>
            <a:ext cx="16002000" cy="28766"/>
            <a:chOff x="0" y="0"/>
            <a:chExt cx="21336000" cy="3835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43000" y="9001125"/>
            <a:ext cx="385667" cy="342900"/>
            <a:chOff x="0" y="0"/>
            <a:chExt cx="514223" cy="457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" t="0" r="-12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643062" y="9001125"/>
            <a:ext cx="2143354" cy="323098"/>
            <a:chOff x="0" y="0"/>
            <a:chExt cx="2857805" cy="43079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857754" cy="430784"/>
            </a:xfrm>
            <a:custGeom>
              <a:avLst/>
              <a:gdLst/>
              <a:ahLst/>
              <a:cxnLst/>
              <a:rect r="r" b="b" t="t" l="l"/>
              <a:pathLst>
                <a:path h="430784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9171" r="-1" b="-79174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643062" y="8891824"/>
            <a:ext cx="3585885" cy="540550"/>
            <a:chOff x="0" y="0"/>
            <a:chExt cx="2857805" cy="43079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857805" cy="430797"/>
            </a:xfrm>
            <a:custGeom>
              <a:avLst/>
              <a:gdLst/>
              <a:ahLst/>
              <a:cxnLst/>
              <a:rect r="r" b="b" t="t" l="l"/>
              <a:pathLst>
                <a:path h="430797" w="2857805">
                  <a:moveTo>
                    <a:pt x="0" y="0"/>
                  </a:moveTo>
                  <a:lnTo>
                    <a:pt x="2857805" y="0"/>
                  </a:lnTo>
                  <a:lnTo>
                    <a:pt x="2857805" y="430797"/>
                  </a:lnTo>
                  <a:lnTo>
                    <a:pt x="0" y="4307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259" r="0" b="-7925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2857805" cy="430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6  of 6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43000" y="552450"/>
            <a:ext cx="2124666" cy="1845802"/>
            <a:chOff x="0" y="0"/>
            <a:chExt cx="2832887" cy="24610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832862" cy="2461133"/>
            </a:xfrm>
            <a:custGeom>
              <a:avLst/>
              <a:gdLst/>
              <a:ahLst/>
              <a:cxnLst/>
              <a:rect r="r" b="b" t="t" l="l"/>
              <a:pathLst>
                <a:path h="2461133" w="2832862">
                  <a:moveTo>
                    <a:pt x="0" y="0"/>
                  </a:moveTo>
                  <a:lnTo>
                    <a:pt x="2832862" y="0"/>
                  </a:lnTo>
                  <a:lnTo>
                    <a:pt x="2832862" y="2461133"/>
                  </a:lnTo>
                  <a:lnTo>
                    <a:pt x="0" y="2461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1" r="0" b="-49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001070" y="1733550"/>
            <a:ext cx="6258230" cy="6258230"/>
            <a:chOff x="0" y="0"/>
            <a:chExt cx="8344306" cy="83443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344281" cy="8344281"/>
            </a:xfrm>
            <a:custGeom>
              <a:avLst/>
              <a:gdLst/>
              <a:ahLst/>
              <a:cxnLst/>
              <a:rect r="r" b="b" t="t" l="l"/>
              <a:pathLst>
                <a:path h="8344281" w="8344281">
                  <a:moveTo>
                    <a:pt x="254000" y="0"/>
                  </a:moveTo>
                  <a:lnTo>
                    <a:pt x="8090281" y="0"/>
                  </a:lnTo>
                  <a:cubicBezTo>
                    <a:pt x="8230616" y="0"/>
                    <a:pt x="8344281" y="113665"/>
                    <a:pt x="8344281" y="254000"/>
                  </a:cubicBezTo>
                  <a:lnTo>
                    <a:pt x="8344281" y="8090281"/>
                  </a:lnTo>
                  <a:cubicBezTo>
                    <a:pt x="8344281" y="8230616"/>
                    <a:pt x="8230616" y="8344281"/>
                    <a:pt x="8090281" y="8344281"/>
                  </a:cubicBezTo>
                  <a:lnTo>
                    <a:pt x="254000" y="8344281"/>
                  </a:lnTo>
                  <a:cubicBezTo>
                    <a:pt x="113665" y="8344281"/>
                    <a:pt x="0" y="8230616"/>
                    <a:pt x="0" y="8090281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blipFill>
              <a:blip r:embed="rId12"/>
              <a:stretch>
                <a:fillRect l="-39583" t="0" r="-39583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57" id="57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751418" y="4059786"/>
            <a:ext cx="9136722" cy="292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AI-Augmented  </a:t>
            </a:r>
            <a:r>
              <a:rPr lang="en-US" sz="9000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SQL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556177" y="2078926"/>
            <a:ext cx="6700657" cy="6700657"/>
            <a:chOff x="0" y="0"/>
            <a:chExt cx="8934209" cy="89342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34196" cy="8934196"/>
            </a:xfrm>
            <a:custGeom>
              <a:avLst/>
              <a:gdLst/>
              <a:ahLst/>
              <a:cxnLst/>
              <a:rect r="r" b="b" t="t" l="l"/>
              <a:pathLst>
                <a:path h="8934196" w="8934196">
                  <a:moveTo>
                    <a:pt x="254000" y="0"/>
                  </a:moveTo>
                  <a:lnTo>
                    <a:pt x="8680196" y="0"/>
                  </a:lnTo>
                  <a:cubicBezTo>
                    <a:pt x="8747561" y="0"/>
                    <a:pt x="8812167" y="26761"/>
                    <a:pt x="8859801" y="74395"/>
                  </a:cubicBezTo>
                  <a:cubicBezTo>
                    <a:pt x="8907435" y="122029"/>
                    <a:pt x="8934196" y="186635"/>
                    <a:pt x="8934196" y="254000"/>
                  </a:cubicBezTo>
                  <a:lnTo>
                    <a:pt x="8934196" y="8680196"/>
                  </a:lnTo>
                  <a:cubicBezTo>
                    <a:pt x="8934196" y="8820476"/>
                    <a:pt x="8820476" y="8934196"/>
                    <a:pt x="8680196" y="8934196"/>
                  </a:cubicBezTo>
                  <a:lnTo>
                    <a:pt x="254000" y="8934196"/>
                  </a:lnTo>
                  <a:cubicBezTo>
                    <a:pt x="113720" y="8934196"/>
                    <a:pt x="0" y="8820476"/>
                    <a:pt x="0" y="8680196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3815" r="0" b="-13815"/>
              </a:stretch>
            </a:blip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" y="1926641"/>
            <a:ext cx="10574131" cy="6276165"/>
          </a:xfrm>
          <a:custGeom>
            <a:avLst/>
            <a:gdLst/>
            <a:ahLst/>
            <a:cxnLst/>
            <a:rect r="r" b="b" t="t" l="l"/>
            <a:pathLst>
              <a:path h="6276165" w="10574131">
                <a:moveTo>
                  <a:pt x="0" y="0"/>
                </a:moveTo>
                <a:lnTo>
                  <a:pt x="10574131" y="0"/>
                </a:lnTo>
                <a:lnTo>
                  <a:pt x="10574131" y="6276165"/>
                </a:lnTo>
                <a:lnTo>
                  <a:pt x="0" y="6276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2" t="0" r="-77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43000" y="762000"/>
            <a:ext cx="1710213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Learning outcome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9163" y="2882379"/>
            <a:ext cx="7286625" cy="299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By the end of this topic, the trainee can…</a:t>
            </a:r>
          </a:p>
          <a:p>
            <a:pPr algn="l">
              <a:lnSpc>
                <a:spcPts val="4860"/>
              </a:lnSpc>
            </a:pP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1- 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2- 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3-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66800" y="2079041"/>
            <a:ext cx="10574131" cy="6276165"/>
          </a:xfrm>
          <a:custGeom>
            <a:avLst/>
            <a:gdLst/>
            <a:ahLst/>
            <a:cxnLst/>
            <a:rect r="r" b="b" t="t" l="l"/>
            <a:pathLst>
              <a:path h="6276165" w="10574131">
                <a:moveTo>
                  <a:pt x="0" y="0"/>
                </a:moveTo>
                <a:lnTo>
                  <a:pt x="10574131" y="0"/>
                </a:lnTo>
                <a:lnTo>
                  <a:pt x="10574131" y="6276165"/>
                </a:lnTo>
                <a:lnTo>
                  <a:pt x="0" y="6276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2" t="0" r="-3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11563" y="2882379"/>
            <a:ext cx="9797830" cy="543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By the end of this topic, the trainee can…</a:t>
            </a:r>
          </a:p>
          <a:p>
            <a:pPr algn="l">
              <a:lnSpc>
                <a:spcPts val="4860"/>
              </a:lnSpc>
            </a:pP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1- Turn a business question into a natural-language prompt precise enough to produce a correct SQL query.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2- Spot the errors AI commonly makes — wrong join type, wrong COUNT, misplaced clauses — before running anything.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3- Use prediction and known references — the same habits from 3.3 and 3.4 — to confirm AI's answer is actually right.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355728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Why this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matters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486567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1338" y="1980838"/>
            <a:ext cx="10039569" cy="7362863"/>
            <a:chOff x="0" y="0"/>
            <a:chExt cx="13386092" cy="9817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86054" cy="9817227"/>
            </a:xfrm>
            <a:custGeom>
              <a:avLst/>
              <a:gdLst/>
              <a:ahLst/>
              <a:cxnLst/>
              <a:rect r="r" b="b" t="t" l="l"/>
              <a:pathLst>
                <a:path h="9817227" w="13386054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3165837" y="0"/>
                  </a:lnTo>
                  <a:cubicBezTo>
                    <a:pt x="13287502" y="0"/>
                    <a:pt x="13386054" y="98552"/>
                    <a:pt x="13386054" y="220218"/>
                  </a:cubicBezTo>
                  <a:lnTo>
                    <a:pt x="13386054" y="9597009"/>
                  </a:lnTo>
                  <a:cubicBezTo>
                    <a:pt x="13386054" y="9718675"/>
                    <a:pt x="13287502" y="9817227"/>
                    <a:pt x="13165837" y="9817227"/>
                  </a:cubicBezTo>
                  <a:lnTo>
                    <a:pt x="220218" y="9817227"/>
                  </a:lnTo>
                  <a:cubicBezTo>
                    <a:pt x="98552" y="9817100"/>
                    <a:pt x="0" y="9718548"/>
                    <a:pt x="0" y="959700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41304" y="2402176"/>
            <a:ext cx="9059637" cy="549069"/>
            <a:chOff x="0" y="0"/>
            <a:chExt cx="12079516" cy="7320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79517" cy="732092"/>
            </a:xfrm>
            <a:custGeom>
              <a:avLst/>
              <a:gdLst/>
              <a:ahLst/>
              <a:cxnLst/>
              <a:rect r="r" b="b" t="t" l="l"/>
              <a:pathLst>
                <a:path h="732092" w="12079517">
                  <a:moveTo>
                    <a:pt x="0" y="0"/>
                  </a:moveTo>
                  <a:lnTo>
                    <a:pt x="12079517" y="0"/>
                  </a:lnTo>
                  <a:lnTo>
                    <a:pt x="1207951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079516" cy="760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Damilola's first AI-assisted report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41304" y="3031360"/>
            <a:ext cx="9059637" cy="595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Damilola, new on the analytics team, asks an AI assistant to write a query counting customers who ordered in Q1 2026.</a:t>
            </a:r>
          </a:p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The AI replies instantly with a clean, confident-looking query. It runs without error and returns a number.</a:t>
            </a:r>
          </a:p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Damilola pastes the number straight into the board deck. It's wrong — quietly, not loudly. No error, no crash, just the wrong answer, presented with total confidence.</a:t>
            </a:r>
          </a:p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Nobody catches it until finance's own count doesn't match, three days later.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393176" y="1990373"/>
            <a:ext cx="5971127" cy="7343794"/>
            <a:chOff x="0" y="0"/>
            <a:chExt cx="7961503" cy="97917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61630" cy="9791827"/>
            </a:xfrm>
            <a:custGeom>
              <a:avLst/>
              <a:gdLst/>
              <a:ahLst/>
              <a:cxnLst/>
              <a:rect r="r" b="b" t="t" l="l"/>
              <a:pathLst>
                <a:path h="9791827" w="7961630">
                  <a:moveTo>
                    <a:pt x="0" y="219710"/>
                  </a:moveTo>
                  <a:cubicBezTo>
                    <a:pt x="0" y="98298"/>
                    <a:pt x="98298" y="0"/>
                    <a:pt x="219710" y="0"/>
                  </a:cubicBezTo>
                  <a:lnTo>
                    <a:pt x="7741920" y="0"/>
                  </a:lnTo>
                  <a:cubicBezTo>
                    <a:pt x="7863205" y="0"/>
                    <a:pt x="7961630" y="98298"/>
                    <a:pt x="7961630" y="219710"/>
                  </a:cubicBezTo>
                  <a:lnTo>
                    <a:pt x="7961630" y="9572117"/>
                  </a:lnTo>
                  <a:cubicBezTo>
                    <a:pt x="7961630" y="9693402"/>
                    <a:pt x="7863332" y="9791827"/>
                    <a:pt x="7741920" y="9791827"/>
                  </a:cubicBezTo>
                  <a:lnTo>
                    <a:pt x="219710" y="9791827"/>
                  </a:lnTo>
                  <a:cubicBezTo>
                    <a:pt x="98298" y="9791700"/>
                    <a:pt x="0" y="9693402"/>
                    <a:pt x="0" y="9572117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804980" y="3431677"/>
            <a:ext cx="5216157" cy="480431"/>
            <a:chOff x="0" y="0"/>
            <a:chExt cx="6954876" cy="6405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54873" cy="640580"/>
            </a:xfrm>
            <a:custGeom>
              <a:avLst/>
              <a:gdLst/>
              <a:ahLst/>
              <a:cxnLst/>
              <a:rect r="r" b="b" t="t" l="l"/>
              <a:pathLst>
                <a:path h="640580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61552" r="0" b="-1615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954876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B9D6CF"/>
                  </a:solidFill>
                  <a:latin typeface="Poppins"/>
                  <a:ea typeface="Poppins"/>
                  <a:cs typeface="Poppins"/>
                  <a:sym typeface="Poppins"/>
                </a:rPr>
                <a:t>A query that runs is not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80" y="4049382"/>
            <a:ext cx="4941618" cy="754971"/>
            <a:chOff x="0" y="0"/>
            <a:chExt cx="6588823" cy="10066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8760" cy="1006602"/>
            </a:xfrm>
            <a:custGeom>
              <a:avLst/>
              <a:gdLst/>
              <a:ahLst/>
              <a:cxnLst/>
              <a:rect r="r" b="b" t="t" l="l"/>
              <a:pathLst>
                <a:path h="1006602" w="6588760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lnTo>
                    <a:pt x="6085459" y="0"/>
                  </a:lnTo>
                  <a:cubicBezTo>
                    <a:pt x="6363462" y="0"/>
                    <a:pt x="6588760" y="225298"/>
                    <a:pt x="6588760" y="503301"/>
                  </a:cubicBezTo>
                  <a:cubicBezTo>
                    <a:pt x="6588760" y="781304"/>
                    <a:pt x="6363462" y="1006602"/>
                    <a:pt x="6085459" y="1006602"/>
                  </a:cubicBezTo>
                  <a:lnTo>
                    <a:pt x="503301" y="1006602"/>
                  </a:ln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C6941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804980" y="4049382"/>
            <a:ext cx="4941618" cy="754971"/>
            <a:chOff x="0" y="0"/>
            <a:chExt cx="6588823" cy="100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8827" cy="1006626"/>
            </a:xfrm>
            <a:custGeom>
              <a:avLst/>
              <a:gdLst/>
              <a:ahLst/>
              <a:cxnLst/>
              <a:rect r="r" b="b" t="t" l="l"/>
              <a:pathLst>
                <a:path h="1006626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7538" r="0" b="-7753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588823" cy="101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the same as correct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04980" y="5147520"/>
            <a:ext cx="5216157" cy="2470814"/>
            <a:chOff x="0" y="0"/>
            <a:chExt cx="6954876" cy="329441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54873" cy="3294414"/>
            </a:xfrm>
            <a:custGeom>
              <a:avLst/>
              <a:gdLst/>
              <a:ahLst/>
              <a:cxnLst/>
              <a:rect r="r" b="b" t="t" l="l"/>
              <a:pathLst>
                <a:path h="3294414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3294414"/>
                  </a:lnTo>
                  <a:lnTo>
                    <a:pt x="0" y="329441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0775" t="0" r="-10775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6954876" cy="3370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1951" i="true">
                  <a:solidFill>
                    <a:srgbClr val="E7F0EE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AI is fluent, not accountable. Every habit this module built — predicting, verifying, reading a schema — exists for exactly this moment.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303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484064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1 OF 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67718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13272" y="2673082"/>
            <a:ext cx="16334804" cy="549069"/>
            <a:chOff x="0" y="0"/>
            <a:chExt cx="21779738" cy="7320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79736" cy="732092"/>
            </a:xfrm>
            <a:custGeom>
              <a:avLst/>
              <a:gdLst/>
              <a:ahLst/>
              <a:cxnLst/>
              <a:rect r="r" b="b" t="t" l="l"/>
              <a:pathLst>
                <a:path h="732092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77973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Trainee prompting skill was never meant to stay at Week 1 level — it climbed a rung with every topic.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03738" y="3274709"/>
            <a:ext cx="16353863" cy="3780187"/>
            <a:chOff x="0" y="0"/>
            <a:chExt cx="21805151" cy="50402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805137" cy="5040249"/>
            </a:xfrm>
            <a:custGeom>
              <a:avLst/>
              <a:gdLst/>
              <a:ahLst/>
              <a:cxnLst/>
              <a:rect r="r" b="b" t="t" l="l"/>
              <a:pathLst>
                <a:path h="5040249" w="21805137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21694775" y="0"/>
                  </a:lnTo>
                  <a:cubicBezTo>
                    <a:pt x="21755736" y="0"/>
                    <a:pt x="21805137" y="49403"/>
                    <a:pt x="21805137" y="110363"/>
                  </a:cubicBezTo>
                  <a:lnTo>
                    <a:pt x="21805137" y="4929886"/>
                  </a:lnTo>
                  <a:cubicBezTo>
                    <a:pt x="21805137" y="4990846"/>
                    <a:pt x="21755736" y="5040249"/>
                    <a:pt x="21694775" y="5040249"/>
                  </a:cubicBezTo>
                  <a:lnTo>
                    <a:pt x="110363" y="5040249"/>
                  </a:lnTo>
                  <a:cubicBezTo>
                    <a:pt x="49403" y="5040249"/>
                    <a:pt x="0" y="4990846"/>
                    <a:pt x="0" y="492988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13272" y="3284244"/>
            <a:ext cx="16334804" cy="576520"/>
            <a:chOff x="0" y="0"/>
            <a:chExt cx="21779738" cy="7686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79737" cy="768731"/>
            </a:xfrm>
            <a:custGeom>
              <a:avLst/>
              <a:gdLst/>
              <a:ahLst/>
              <a:cxnLst/>
              <a:rect r="r" b="b" t="t" l="l"/>
              <a:pathLst>
                <a:path h="768731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77988" y="3284244"/>
            <a:ext cx="5170399" cy="576520"/>
            <a:chOff x="0" y="0"/>
            <a:chExt cx="6893865" cy="7686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Topic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22926" y="3284244"/>
            <a:ext cx="5170399" cy="576520"/>
            <a:chOff x="0" y="0"/>
            <a:chExt cx="6893865" cy="7686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AI's role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167864" y="2821600"/>
            <a:ext cx="5170399" cy="576520"/>
            <a:chOff x="0" y="0"/>
            <a:chExt cx="6893865" cy="7686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Trainee's job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77988" y="3860763"/>
            <a:ext cx="5170399" cy="796147"/>
            <a:chOff x="0" y="0"/>
            <a:chExt cx="6893865" cy="10615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3.1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722926" y="3860763"/>
            <a:ext cx="5170399" cy="796147"/>
            <a:chOff x="0" y="0"/>
            <a:chExt cx="6893865" cy="10615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Explain a concept or term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167864" y="3398120"/>
            <a:ext cx="5170399" cy="796147"/>
            <a:chOff x="0" y="0"/>
            <a:chExt cx="6893865" cy="10615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Understand it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13272" y="4656920"/>
            <a:ext cx="16334804" cy="796147"/>
            <a:chOff x="0" y="0"/>
            <a:chExt cx="21779738" cy="106153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779737" cy="1061593"/>
            </a:xfrm>
            <a:custGeom>
              <a:avLst/>
              <a:gdLst/>
              <a:ahLst/>
              <a:cxnLst/>
              <a:rect r="r" b="b" t="t" l="l"/>
              <a:pathLst>
                <a:path h="1061593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77988" y="4656920"/>
            <a:ext cx="5170399" cy="796147"/>
            <a:chOff x="0" y="0"/>
            <a:chExt cx="6893865" cy="106153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3.2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722926" y="4656920"/>
            <a:ext cx="5170399" cy="796147"/>
            <a:chOff x="0" y="0"/>
            <a:chExt cx="6893865" cy="10615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Explain an error message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167864" y="4194277"/>
            <a:ext cx="5170399" cy="796147"/>
            <a:chOff x="0" y="0"/>
            <a:chExt cx="6893865" cy="106153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Write the query by hand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77988" y="5453067"/>
            <a:ext cx="5170399" cy="796147"/>
            <a:chOff x="0" y="0"/>
            <a:chExt cx="6893865" cy="106153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3.3–3.5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722926" y="5453067"/>
            <a:ext cx="5170399" cy="796147"/>
            <a:chOff x="0" y="0"/>
            <a:chExt cx="6893865" cy="106153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Explain errors; never write queries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167864" y="4990424"/>
            <a:ext cx="5170399" cy="796147"/>
            <a:chOff x="0" y="0"/>
            <a:chExt cx="6893865" cy="106153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Write, predict, verify every query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13272" y="6249214"/>
            <a:ext cx="16334804" cy="796147"/>
            <a:chOff x="0" y="0"/>
            <a:chExt cx="21779738" cy="106153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779737" cy="1061593"/>
            </a:xfrm>
            <a:custGeom>
              <a:avLst/>
              <a:gdLst/>
              <a:ahLst/>
              <a:cxnLst/>
              <a:rect r="r" b="b" t="t" l="l"/>
              <a:pathLst>
                <a:path h="1061593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77988" y="6249214"/>
            <a:ext cx="5170399" cy="796147"/>
            <a:chOff x="0" y="0"/>
            <a:chExt cx="6893865" cy="106153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3.6 (today)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722926" y="6249214"/>
            <a:ext cx="5170399" cy="796147"/>
            <a:chOff x="0" y="0"/>
            <a:chExt cx="6893865" cy="106153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Write the full query from a prompt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167864" y="5786571"/>
            <a:ext cx="5170399" cy="796147"/>
            <a:chOff x="0" y="0"/>
            <a:chExt cx="6893865" cy="106153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Judge, audit and verify AI's query before trusting it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03738" y="7529994"/>
            <a:ext cx="16353863" cy="1666275"/>
            <a:chOff x="0" y="0"/>
            <a:chExt cx="21805151" cy="22217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805137" cy="2221738"/>
            </a:xfrm>
            <a:custGeom>
              <a:avLst/>
              <a:gdLst/>
              <a:ahLst/>
              <a:cxnLst/>
              <a:rect r="r" b="b" t="t" l="l"/>
              <a:pathLst>
                <a:path h="2221738" w="21805137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21619972" y="0"/>
                  </a:lnTo>
                  <a:cubicBezTo>
                    <a:pt x="21722207" y="0"/>
                    <a:pt x="21805137" y="82931"/>
                    <a:pt x="21805137" y="185166"/>
                  </a:cubicBezTo>
                  <a:lnTo>
                    <a:pt x="21805137" y="2036572"/>
                  </a:lnTo>
                  <a:cubicBezTo>
                    <a:pt x="21805137" y="2138807"/>
                    <a:pt x="21722207" y="2221738"/>
                    <a:pt x="21619972" y="2221738"/>
                  </a:cubicBezTo>
                  <a:lnTo>
                    <a:pt x="185166" y="2221738"/>
                  </a:lnTo>
                  <a:cubicBezTo>
                    <a:pt x="82931" y="2221738"/>
                    <a:pt x="0" y="2138807"/>
                    <a:pt x="0" y="2036572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525076" y="7717979"/>
            <a:ext cx="15511196" cy="1304039"/>
            <a:chOff x="0" y="0"/>
            <a:chExt cx="20681594" cy="173871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681598" cy="1738718"/>
            </a:xfrm>
            <a:custGeom>
              <a:avLst/>
              <a:gdLst/>
              <a:ahLst/>
              <a:cxnLst/>
              <a:rect r="r" b="b" t="t" l="l"/>
              <a:pathLst>
                <a:path h="1738718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1769" r="0" b="-18176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76200"/>
              <a:ext cx="20681594" cy="1814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19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jump: </a:t>
              </a:r>
              <a:r>
                <a:rPr lang="en-US" sz="19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AI finally gets to write the SQL. That's only safe because every topic before this one was building your ability to judge whether it's right.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-632114" y="1722311"/>
            <a:ext cx="12657103" cy="81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sz="5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 far the ladder has come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02535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2 OF 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15631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750670"/>
            <a:ext cx="16184175" cy="6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40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A good prompt names the business logic, not just the tables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6575" y="2796540"/>
            <a:ext cx="7921466" cy="6342888"/>
            <a:chOff x="0" y="0"/>
            <a:chExt cx="10561955" cy="8457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61828" cy="8457184"/>
            </a:xfrm>
            <a:custGeom>
              <a:avLst/>
              <a:gdLst/>
              <a:ahLst/>
              <a:cxnLst/>
              <a:rect r="r" b="b" t="t" l="l"/>
              <a:pathLst>
                <a:path h="8457184" w="10561828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10341229" y="0"/>
                  </a:lnTo>
                  <a:cubicBezTo>
                    <a:pt x="10463150" y="0"/>
                    <a:pt x="10561828" y="98806"/>
                    <a:pt x="10561828" y="220599"/>
                  </a:cubicBezTo>
                  <a:lnTo>
                    <a:pt x="10561828" y="8236585"/>
                  </a:lnTo>
                  <a:cubicBezTo>
                    <a:pt x="10561828" y="8358505"/>
                    <a:pt x="10463023" y="8457184"/>
                    <a:pt x="10341229" y="8457184"/>
                  </a:cubicBezTo>
                  <a:lnTo>
                    <a:pt x="220599" y="8457184"/>
                  </a:lnTo>
                  <a:cubicBezTo>
                    <a:pt x="98806" y="8457184"/>
                    <a:pt x="0" y="8358378"/>
                    <a:pt x="0" y="823658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C0453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2676" y="3154004"/>
            <a:ext cx="2196274" cy="617706"/>
            <a:chOff x="0" y="0"/>
            <a:chExt cx="2928366" cy="8236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8366" cy="823722"/>
            </a:xfrm>
            <a:custGeom>
              <a:avLst/>
              <a:gdLst/>
              <a:ahLst/>
              <a:cxnLst/>
              <a:rect r="r" b="b" t="t" l="l"/>
              <a:pathLst>
                <a:path h="823722" w="2928366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2516505" y="0"/>
                  </a:lnTo>
                  <a:cubicBezTo>
                    <a:pt x="2743962" y="0"/>
                    <a:pt x="2928366" y="184404"/>
                    <a:pt x="2928366" y="411861"/>
                  </a:cubicBezTo>
                  <a:cubicBezTo>
                    <a:pt x="2928366" y="639318"/>
                    <a:pt x="2743962" y="823722"/>
                    <a:pt x="2516505" y="823722"/>
                  </a:cubicBezTo>
                  <a:lnTo>
                    <a:pt x="411861" y="823722"/>
                  </a:lnTo>
                  <a:cubicBezTo>
                    <a:pt x="184404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F7E1D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2676" y="3154004"/>
            <a:ext cx="2196274" cy="617706"/>
            <a:chOff x="0" y="0"/>
            <a:chExt cx="2928366" cy="8236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28368" cy="823603"/>
            </a:xfrm>
            <a:custGeom>
              <a:avLst/>
              <a:gdLst/>
              <a:ahLst/>
              <a:cxnLst/>
              <a:rect r="r" b="b" t="t" l="l"/>
              <a:pathLst>
                <a:path h="823603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279" r="0" b="-1928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928366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9E2B2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✗  Vague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2676" y="3977611"/>
            <a:ext cx="7069264" cy="1784471"/>
            <a:chOff x="0" y="0"/>
            <a:chExt cx="9425686" cy="23792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25687" cy="2379345"/>
            </a:xfrm>
            <a:custGeom>
              <a:avLst/>
              <a:gdLst/>
              <a:ahLst/>
              <a:cxnLst/>
              <a:rect r="r" b="b" t="t" l="l"/>
              <a:pathLst>
                <a:path h="2379345" w="942568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9279255" y="0"/>
                  </a:lnTo>
                  <a:cubicBezTo>
                    <a:pt x="9360154" y="0"/>
                    <a:pt x="9425687" y="65532"/>
                    <a:pt x="9425687" y="146431"/>
                  </a:cubicBezTo>
                  <a:lnTo>
                    <a:pt x="9425687" y="2232914"/>
                  </a:lnTo>
                  <a:cubicBezTo>
                    <a:pt x="9425687" y="2313813"/>
                    <a:pt x="9360154" y="2379345"/>
                    <a:pt x="9279255" y="2379345"/>
                  </a:cubicBezTo>
                  <a:lnTo>
                    <a:pt x="146431" y="2379345"/>
                  </a:lnTo>
                  <a:cubicBezTo>
                    <a:pt x="65532" y="2379345"/>
                    <a:pt x="0" y="2313686"/>
                    <a:pt x="0" y="2232914"/>
                  </a:cubicBez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47206" y="4183513"/>
            <a:ext cx="6520196" cy="1372676"/>
            <a:chOff x="0" y="0"/>
            <a:chExt cx="8693594" cy="183023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93592" cy="1830230"/>
            </a:xfrm>
            <a:custGeom>
              <a:avLst/>
              <a:gdLst/>
              <a:ahLst/>
              <a:cxnLst/>
              <a:rect r="r" b="b" t="t" l="l"/>
              <a:pathLst>
                <a:path h="1830230" w="8693592">
                  <a:moveTo>
                    <a:pt x="0" y="0"/>
                  </a:moveTo>
                  <a:lnTo>
                    <a:pt x="8693592" y="0"/>
                  </a:lnTo>
                  <a:lnTo>
                    <a:pt x="8693592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553" r="0" b="-4255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8693594" cy="1906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1951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“Write a query to count customers who ordered in Q1 2026.”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72676" y="5910834"/>
            <a:ext cx="7069264" cy="293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Doesn't say unique customers — AI may count orders instead.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Doesn't say what “Q1 2026” means as exact dates.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Doesn't say what shape the answer should take.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02804" y="2810837"/>
            <a:ext cx="7892863" cy="6314294"/>
            <a:chOff x="0" y="0"/>
            <a:chExt cx="10523817" cy="84190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23855" cy="8419084"/>
            </a:xfrm>
            <a:custGeom>
              <a:avLst/>
              <a:gdLst/>
              <a:ahLst/>
              <a:cxnLst/>
              <a:rect r="r" b="b" t="t" l="l"/>
              <a:pathLst>
                <a:path h="8419084" w="10523855">
                  <a:moveTo>
                    <a:pt x="0" y="219710"/>
                  </a:moveTo>
                  <a:cubicBezTo>
                    <a:pt x="0" y="98298"/>
                    <a:pt x="98298" y="0"/>
                    <a:pt x="219710" y="0"/>
                  </a:cubicBezTo>
                  <a:lnTo>
                    <a:pt x="10304145" y="0"/>
                  </a:lnTo>
                  <a:cubicBezTo>
                    <a:pt x="10425430" y="0"/>
                    <a:pt x="10523855" y="98298"/>
                    <a:pt x="10523855" y="219710"/>
                  </a:cubicBezTo>
                  <a:lnTo>
                    <a:pt x="10523855" y="8199374"/>
                  </a:lnTo>
                  <a:cubicBezTo>
                    <a:pt x="10523855" y="8320659"/>
                    <a:pt x="10425557" y="8419084"/>
                    <a:pt x="10304145" y="8419084"/>
                  </a:cubicBezTo>
                  <a:lnTo>
                    <a:pt x="219710" y="8419084"/>
                  </a:lnTo>
                  <a:cubicBezTo>
                    <a:pt x="98425" y="8419084"/>
                    <a:pt x="0" y="8320786"/>
                    <a:pt x="0" y="8199374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814608" y="3154004"/>
            <a:ext cx="2402176" cy="617706"/>
            <a:chOff x="0" y="0"/>
            <a:chExt cx="3202902" cy="823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02940" cy="823722"/>
            </a:xfrm>
            <a:custGeom>
              <a:avLst/>
              <a:gdLst/>
              <a:ahLst/>
              <a:cxnLst/>
              <a:rect r="r" b="b" t="t" l="l"/>
              <a:pathLst>
                <a:path h="823722" w="3202940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2791079" y="0"/>
                  </a:lnTo>
                  <a:cubicBezTo>
                    <a:pt x="3018536" y="0"/>
                    <a:pt x="3202940" y="184404"/>
                    <a:pt x="3202940" y="411861"/>
                  </a:cubicBezTo>
                  <a:cubicBezTo>
                    <a:pt x="3202940" y="639318"/>
                    <a:pt x="3018536" y="823722"/>
                    <a:pt x="2791079" y="823722"/>
                  </a:cubicBezTo>
                  <a:lnTo>
                    <a:pt x="411861" y="823722"/>
                  </a:lnTo>
                  <a:cubicBezTo>
                    <a:pt x="184404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14608" y="3154004"/>
            <a:ext cx="2402176" cy="617706"/>
            <a:chOff x="0" y="0"/>
            <a:chExt cx="3202902" cy="8236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02902" cy="823603"/>
            </a:xfrm>
            <a:custGeom>
              <a:avLst/>
              <a:gdLst/>
              <a:ahLst/>
              <a:cxnLst/>
              <a:rect r="r" b="b" t="t" l="l"/>
              <a:pathLst>
                <a:path h="82360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5774" r="0" b="-2577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202902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✓  Precise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814608" y="3977611"/>
            <a:ext cx="7069264" cy="2402176"/>
            <a:chOff x="0" y="0"/>
            <a:chExt cx="9425686" cy="320290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425687" cy="3202940"/>
            </a:xfrm>
            <a:custGeom>
              <a:avLst/>
              <a:gdLst/>
              <a:ahLst/>
              <a:cxnLst/>
              <a:rect r="r" b="b" t="t" l="l"/>
              <a:pathLst>
                <a:path h="3202940" w="942568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9279255" y="0"/>
                  </a:lnTo>
                  <a:cubicBezTo>
                    <a:pt x="9360154" y="0"/>
                    <a:pt x="9425687" y="65532"/>
                    <a:pt x="9425687" y="146431"/>
                  </a:cubicBezTo>
                  <a:lnTo>
                    <a:pt x="9425687" y="3056509"/>
                  </a:lnTo>
                  <a:cubicBezTo>
                    <a:pt x="9425687" y="3137408"/>
                    <a:pt x="9360154" y="3202940"/>
                    <a:pt x="9279255" y="3202940"/>
                  </a:cubicBezTo>
                  <a:lnTo>
                    <a:pt x="146431" y="3202940"/>
                  </a:lnTo>
                  <a:cubicBezTo>
                    <a:pt x="65532" y="3202940"/>
                    <a:pt x="0" y="3137408"/>
                    <a:pt x="0" y="3056509"/>
                  </a:cubicBezTo>
                  <a:close/>
                </a:path>
              </a:pathLst>
            </a:custGeom>
            <a:solidFill>
              <a:srgbClr val="1F4A41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089147" y="4114876"/>
            <a:ext cx="6520196" cy="2127647"/>
            <a:chOff x="0" y="0"/>
            <a:chExt cx="8693594" cy="283686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693592" cy="2836856"/>
            </a:xfrm>
            <a:custGeom>
              <a:avLst/>
              <a:gdLst/>
              <a:ahLst/>
              <a:cxnLst/>
              <a:rect r="r" b="b" t="t" l="l"/>
              <a:pathLst>
                <a:path h="2836856" w="8693592">
                  <a:moveTo>
                    <a:pt x="0" y="0"/>
                  </a:moveTo>
                  <a:lnTo>
                    <a:pt x="8693592" y="0"/>
                  </a:lnTo>
                  <a:lnTo>
                    <a:pt x="8693592" y="2836856"/>
                  </a:lnTo>
                  <a:lnTo>
                    <a:pt x="0" y="283685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712" r="0" b="-971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8693594" cy="2894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4"/>
                </a:lnSpc>
              </a:pPr>
              <a:r>
                <a:rPr lang="en-US" sz="1801" i="true">
                  <a:solidFill>
                    <a:srgbClr val="E7F0EE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“Using our customers and orders tables, count the DISTINCT customers who placed at least one order between 2026-01-01 and 2026-03-31 inclusive. Return a single number.”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814608" y="6528540"/>
            <a:ext cx="7069264" cy="2390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Names the tables and the exact business logic: distinct customers.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Spells out the date range as exact, inclusive bounds.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States the expected output shape.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1142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3 OF 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51547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71550" y="1757892"/>
            <a:ext cx="13040392" cy="67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0"/>
              </a:lnSpc>
            </a:pPr>
            <a:r>
              <a:rPr lang="en-US" sz="41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Mistakes AI makes with quiet confidence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2774232"/>
            <a:ext cx="16353863" cy="4054726"/>
            <a:chOff x="0" y="0"/>
            <a:chExt cx="21805151" cy="54063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05137" cy="5406263"/>
            </a:xfrm>
            <a:custGeom>
              <a:avLst/>
              <a:gdLst/>
              <a:ahLst/>
              <a:cxnLst/>
              <a:rect r="r" b="b" t="t" l="l"/>
              <a:pathLst>
                <a:path h="5406263" w="21805137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21694775" y="0"/>
                  </a:lnTo>
                  <a:cubicBezTo>
                    <a:pt x="21755736" y="0"/>
                    <a:pt x="21805137" y="49403"/>
                    <a:pt x="21805137" y="110363"/>
                  </a:cubicBezTo>
                  <a:lnTo>
                    <a:pt x="21805137" y="5295900"/>
                  </a:lnTo>
                  <a:cubicBezTo>
                    <a:pt x="21805137" y="5356860"/>
                    <a:pt x="21755736" y="5406263"/>
                    <a:pt x="21694775" y="5406263"/>
                  </a:cubicBezTo>
                  <a:lnTo>
                    <a:pt x="110363" y="5406263"/>
                  </a:lnTo>
                  <a:cubicBezTo>
                    <a:pt x="49403" y="5406263"/>
                    <a:pt x="0" y="5356860"/>
                    <a:pt x="0" y="529590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60872" y="2783767"/>
            <a:ext cx="16334804" cy="631431"/>
            <a:chOff x="0" y="0"/>
            <a:chExt cx="21779738" cy="8419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79737" cy="841883"/>
            </a:xfrm>
            <a:custGeom>
              <a:avLst/>
              <a:gdLst/>
              <a:ahLst/>
              <a:cxnLst/>
              <a:rect r="r" b="b" t="t" l="l"/>
              <a:pathLst>
                <a:path h="841883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25588" y="2783767"/>
            <a:ext cx="5170399" cy="631431"/>
            <a:chOff x="0" y="0"/>
            <a:chExt cx="6893865" cy="8419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93866" cy="841906"/>
            </a:xfrm>
            <a:custGeom>
              <a:avLst/>
              <a:gdLst/>
              <a:ahLst/>
              <a:cxnLst/>
              <a:rect r="r" b="b" t="t" l="l"/>
              <a:pathLst>
                <a:path h="841906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6893865" cy="851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Mistake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70526" y="2783767"/>
            <a:ext cx="5170399" cy="631431"/>
            <a:chOff x="0" y="0"/>
            <a:chExt cx="6893865" cy="8419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93866" cy="841906"/>
            </a:xfrm>
            <a:custGeom>
              <a:avLst/>
              <a:gdLst/>
              <a:ahLst/>
              <a:cxnLst/>
              <a:rect r="r" b="b" t="t" l="l"/>
              <a:pathLst>
                <a:path h="841906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893865" cy="851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Why it's dangerous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015464" y="2783767"/>
            <a:ext cx="5170399" cy="631431"/>
            <a:chOff x="0" y="0"/>
            <a:chExt cx="6893865" cy="8419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93866" cy="841906"/>
            </a:xfrm>
            <a:custGeom>
              <a:avLst/>
              <a:gdLst/>
              <a:ahLst/>
              <a:cxnLst/>
              <a:rect r="r" b="b" t="t" l="l"/>
              <a:pathLst>
                <a:path h="841906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6893865" cy="851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Where you learned to catch it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25588" y="3415198"/>
            <a:ext cx="5170399" cy="851059"/>
            <a:chOff x="0" y="0"/>
            <a:chExt cx="6893865" cy="11347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893865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COUNT(*) instead of COUNT(DISTINCT col)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70526" y="3415198"/>
            <a:ext cx="5170399" cy="851059"/>
            <a:chOff x="0" y="0"/>
            <a:chExt cx="6893865" cy="11347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6893865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Inflates counts across a one-to-many join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015464" y="3415198"/>
            <a:ext cx="5170399" cy="851059"/>
            <a:chOff x="0" y="0"/>
            <a:chExt cx="6893865" cy="11347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6893865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3.3 — COUNT(*) vs. COUNT(column)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0872" y="4266257"/>
            <a:ext cx="16334804" cy="851059"/>
            <a:chOff x="0" y="0"/>
            <a:chExt cx="21779738" cy="11347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779737" cy="1134745"/>
            </a:xfrm>
            <a:custGeom>
              <a:avLst/>
              <a:gdLst/>
              <a:ahLst/>
              <a:cxnLst/>
              <a:rect r="r" b="b" t="t" l="l"/>
              <a:pathLst>
                <a:path h="1134745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25588" y="4266257"/>
            <a:ext cx="5170399" cy="851059"/>
            <a:chOff x="0" y="0"/>
            <a:chExt cx="6893865" cy="11347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6893865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INNER JOIN instead of LEFT JOIN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570526" y="4266257"/>
            <a:ext cx="5170399" cy="851059"/>
            <a:chOff x="0" y="0"/>
            <a:chExt cx="6893865" cy="113474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6893865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Silently drops rows with no match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015464" y="4266257"/>
            <a:ext cx="5170399" cy="851059"/>
            <a:chOff x="0" y="0"/>
            <a:chExt cx="6893865" cy="113474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893865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3.4 — choosing the right join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25588" y="5117306"/>
            <a:ext cx="5170399" cy="851059"/>
            <a:chOff x="0" y="0"/>
            <a:chExt cx="6893865" cy="113474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6893865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WHERE where HAVING belongs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570526" y="5117306"/>
            <a:ext cx="5170399" cy="851059"/>
            <a:chOff x="0" y="0"/>
            <a:chExt cx="6893865" cy="113474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6893865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Filters at the wrong stage, or errors outright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015464" y="5117306"/>
            <a:ext cx="5170399" cy="851059"/>
            <a:chOff x="0" y="0"/>
            <a:chExt cx="6893865" cy="113474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6893865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3.3 — WHERE vs. HAVING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0872" y="5968365"/>
            <a:ext cx="16334804" cy="851059"/>
            <a:chOff x="0" y="0"/>
            <a:chExt cx="21779738" cy="113474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779737" cy="1134745"/>
            </a:xfrm>
            <a:custGeom>
              <a:avLst/>
              <a:gdLst/>
              <a:ahLst/>
              <a:cxnLst/>
              <a:rect r="r" b="b" t="t" l="l"/>
              <a:pathLst>
                <a:path h="1134745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25588" y="5968365"/>
            <a:ext cx="5170399" cy="851059"/>
            <a:chOff x="0" y="0"/>
            <a:chExt cx="6893865" cy="113474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6893865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Exclusive date bound (&lt; instead of &lt;=)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570526" y="5968365"/>
            <a:ext cx="5170399" cy="851059"/>
            <a:chOff x="0" y="0"/>
            <a:chExt cx="6893865" cy="113474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6893865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Quietly misses the last day of a range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015464" y="5968365"/>
            <a:ext cx="5170399" cy="851059"/>
            <a:chOff x="0" y="0"/>
            <a:chExt cx="6893865" cy="113474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6893865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3.2 — comparison operators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1338" y="7784487"/>
            <a:ext cx="16353863" cy="1597638"/>
            <a:chOff x="0" y="0"/>
            <a:chExt cx="21805151" cy="21301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805264" cy="2130298"/>
            </a:xfrm>
            <a:custGeom>
              <a:avLst/>
              <a:gdLst/>
              <a:ahLst/>
              <a:cxnLst/>
              <a:rect r="r" b="b" t="t" l="l"/>
              <a:pathLst>
                <a:path h="2130298" w="21805264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21619972" y="0"/>
                  </a:lnTo>
                  <a:cubicBezTo>
                    <a:pt x="21722335" y="0"/>
                    <a:pt x="21805264" y="82931"/>
                    <a:pt x="21805264" y="185293"/>
                  </a:cubicBezTo>
                  <a:lnTo>
                    <a:pt x="21805264" y="1945005"/>
                  </a:lnTo>
                  <a:cubicBezTo>
                    <a:pt x="21805264" y="2047367"/>
                    <a:pt x="21722335" y="2130298"/>
                    <a:pt x="21619972" y="2130298"/>
                  </a:cubicBezTo>
                  <a:lnTo>
                    <a:pt x="185293" y="2130298"/>
                  </a:lnTo>
                  <a:cubicBezTo>
                    <a:pt x="82931" y="2130171"/>
                    <a:pt x="0" y="2047240"/>
                    <a:pt x="0" y="1945005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372676" y="7972463"/>
            <a:ext cx="15511196" cy="1235402"/>
            <a:chOff x="0" y="0"/>
            <a:chExt cx="20681594" cy="164720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681598" cy="1647207"/>
            </a:xfrm>
            <a:custGeom>
              <a:avLst/>
              <a:gdLst/>
              <a:ahLst/>
              <a:cxnLst/>
              <a:rect r="r" b="b" t="t" l="l"/>
              <a:pathLst>
                <a:path h="1647207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4645" r="0" b="-19464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76200"/>
              <a:ext cx="20681594" cy="172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19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None of these are new: </a:t>
              </a:r>
              <a:r>
                <a:rPr lang="en-US" sz="19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every mistake in this list is a concept you've already learned to reason about — you're just aiming that reasoning at someone else's query now.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36888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4 OF 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46785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88324" y="1892956"/>
            <a:ext cx="13040392" cy="691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6"/>
              </a:lnSpc>
            </a:pPr>
            <a:r>
              <a:rPr lang="en-US" sz="42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Five checks, before you run anything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2971176"/>
            <a:ext cx="3129696" cy="4941618"/>
            <a:chOff x="0" y="0"/>
            <a:chExt cx="4172928" cy="65888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72839" cy="6588760"/>
            </a:xfrm>
            <a:custGeom>
              <a:avLst/>
              <a:gdLst/>
              <a:ahLst/>
              <a:cxnLst/>
              <a:rect r="r" b="b" t="t" l="l"/>
              <a:pathLst>
                <a:path h="6588760" w="4172839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953256" y="0"/>
                  </a:lnTo>
                  <a:cubicBezTo>
                    <a:pt x="4074541" y="0"/>
                    <a:pt x="4172839" y="98298"/>
                    <a:pt x="4172839" y="219583"/>
                  </a:cubicBezTo>
                  <a:lnTo>
                    <a:pt x="4172839" y="6369177"/>
                  </a:lnTo>
                  <a:cubicBezTo>
                    <a:pt x="4172839" y="6490462"/>
                    <a:pt x="4074541" y="6588760"/>
                    <a:pt x="3953256" y="6588760"/>
                  </a:cubicBezTo>
                  <a:lnTo>
                    <a:pt x="219583" y="6588760"/>
                  </a:lnTo>
                  <a:cubicBezTo>
                    <a:pt x="98298" y="6588887"/>
                    <a:pt x="0" y="6490462"/>
                    <a:pt x="0" y="6369177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41372" y="3314343"/>
            <a:ext cx="768696" cy="768696"/>
            <a:chOff x="0" y="0"/>
            <a:chExt cx="1024928" cy="10249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89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4890">
                  <a:moveTo>
                    <a:pt x="0" y="512445"/>
                  </a:moveTo>
                  <a:cubicBezTo>
                    <a:pt x="0" y="229489"/>
                    <a:pt x="229489" y="0"/>
                    <a:pt x="512445" y="0"/>
                  </a:cubicBezTo>
                  <a:cubicBezTo>
                    <a:pt x="795401" y="0"/>
                    <a:pt x="1024890" y="229489"/>
                    <a:pt x="1024890" y="512445"/>
                  </a:cubicBezTo>
                  <a:cubicBezTo>
                    <a:pt x="1024890" y="795401"/>
                    <a:pt x="795528" y="1024890"/>
                    <a:pt x="512445" y="1024890"/>
                  </a:cubicBezTo>
                  <a:cubicBezTo>
                    <a:pt x="229362" y="1024890"/>
                    <a:pt x="0" y="795528"/>
                    <a:pt x="0" y="512445"/>
                  </a:cubicBezTo>
                  <a:close/>
                </a:path>
              </a:pathLst>
            </a:custGeom>
            <a:solidFill>
              <a:srgbClr val="C6941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41372" y="3314343"/>
            <a:ext cx="768696" cy="768696"/>
            <a:chOff x="0" y="0"/>
            <a:chExt cx="1024928" cy="10249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929" cy="1024929"/>
            </a:xfrm>
            <a:custGeom>
              <a:avLst/>
              <a:gdLst/>
              <a:ahLst/>
              <a:cxnLst/>
              <a:rect r="r" b="b" t="t" l="l"/>
              <a:pathLst>
                <a:path h="1024929" w="1024929">
                  <a:moveTo>
                    <a:pt x="0" y="0"/>
                  </a:moveTo>
                  <a:lnTo>
                    <a:pt x="1024929" y="0"/>
                  </a:lnTo>
                  <a:lnTo>
                    <a:pt x="1024929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24928" cy="1053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8137" y="4343852"/>
            <a:ext cx="2855157" cy="686333"/>
            <a:chOff x="0" y="0"/>
            <a:chExt cx="3806876" cy="9151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06878" cy="915115"/>
            </a:xfrm>
            <a:custGeom>
              <a:avLst/>
              <a:gdLst/>
              <a:ahLst/>
              <a:cxnLst/>
              <a:rect r="r" b="b" t="t" l="l"/>
              <a:pathLst>
                <a:path h="915115" w="3806878">
                  <a:moveTo>
                    <a:pt x="0" y="0"/>
                  </a:moveTo>
                  <a:lnTo>
                    <a:pt x="3806878" y="0"/>
                  </a:lnTo>
                  <a:lnTo>
                    <a:pt x="380687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3806876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Schema check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66774" y="4982561"/>
            <a:ext cx="2717892" cy="265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9"/>
              </a:lnSpc>
            </a:pPr>
            <a:r>
              <a:rPr lang="en-US" sz="1576">
                <a:solidFill>
                  <a:srgbClr val="F0F6F4"/>
                </a:solidFill>
                <a:latin typeface="Poppins"/>
                <a:ea typeface="Poppins"/>
                <a:cs typeface="Poppins"/>
                <a:sym typeface="Poppins"/>
              </a:rPr>
              <a:t>Do the tables and columns actually exist, and mean what AI assumed?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227833" y="2971176"/>
            <a:ext cx="3129696" cy="4941618"/>
            <a:chOff x="0" y="0"/>
            <a:chExt cx="4172928" cy="65888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72839" cy="6588760"/>
            </a:xfrm>
            <a:custGeom>
              <a:avLst/>
              <a:gdLst/>
              <a:ahLst/>
              <a:cxnLst/>
              <a:rect r="r" b="b" t="t" l="l"/>
              <a:pathLst>
                <a:path h="6588760" w="4172839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953256" y="0"/>
                  </a:lnTo>
                  <a:cubicBezTo>
                    <a:pt x="4074541" y="0"/>
                    <a:pt x="4172839" y="98298"/>
                    <a:pt x="4172839" y="219583"/>
                  </a:cubicBezTo>
                  <a:lnTo>
                    <a:pt x="4172839" y="6369177"/>
                  </a:lnTo>
                  <a:cubicBezTo>
                    <a:pt x="4172839" y="6490462"/>
                    <a:pt x="4074541" y="6588760"/>
                    <a:pt x="3953256" y="6588760"/>
                  </a:cubicBezTo>
                  <a:lnTo>
                    <a:pt x="219583" y="6588760"/>
                  </a:lnTo>
                  <a:cubicBezTo>
                    <a:pt x="98298" y="6588887"/>
                    <a:pt x="0" y="6490462"/>
                    <a:pt x="0" y="6369177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408333" y="3314343"/>
            <a:ext cx="768696" cy="768696"/>
            <a:chOff x="0" y="0"/>
            <a:chExt cx="1024928" cy="10249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489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4890">
                  <a:moveTo>
                    <a:pt x="0" y="512445"/>
                  </a:moveTo>
                  <a:cubicBezTo>
                    <a:pt x="0" y="229489"/>
                    <a:pt x="229489" y="0"/>
                    <a:pt x="512445" y="0"/>
                  </a:cubicBezTo>
                  <a:cubicBezTo>
                    <a:pt x="795401" y="0"/>
                    <a:pt x="1024890" y="229489"/>
                    <a:pt x="1024890" y="512445"/>
                  </a:cubicBezTo>
                  <a:cubicBezTo>
                    <a:pt x="1024890" y="795401"/>
                    <a:pt x="795528" y="1024890"/>
                    <a:pt x="512445" y="1024890"/>
                  </a:cubicBezTo>
                  <a:cubicBezTo>
                    <a:pt x="229362" y="1024890"/>
                    <a:pt x="0" y="795528"/>
                    <a:pt x="0" y="512445"/>
                  </a:cubicBezTo>
                  <a:close/>
                </a:path>
              </a:pathLst>
            </a:custGeom>
            <a:solidFill>
              <a:srgbClr val="C6941C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408333" y="3314343"/>
            <a:ext cx="768696" cy="768696"/>
            <a:chOff x="0" y="0"/>
            <a:chExt cx="1024928" cy="10249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4929" cy="1024929"/>
            </a:xfrm>
            <a:custGeom>
              <a:avLst/>
              <a:gdLst/>
              <a:ahLst/>
              <a:cxnLst/>
              <a:rect r="r" b="b" t="t" l="l"/>
              <a:pathLst>
                <a:path h="1024929" w="1024929">
                  <a:moveTo>
                    <a:pt x="0" y="0"/>
                  </a:moveTo>
                  <a:lnTo>
                    <a:pt x="1024929" y="0"/>
                  </a:lnTo>
                  <a:lnTo>
                    <a:pt x="1024929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024928" cy="1053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365098" y="4343852"/>
            <a:ext cx="2855157" cy="686333"/>
            <a:chOff x="0" y="0"/>
            <a:chExt cx="3806876" cy="9151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06878" cy="915115"/>
            </a:xfrm>
            <a:custGeom>
              <a:avLst/>
              <a:gdLst/>
              <a:ahLst/>
              <a:cxnLst/>
              <a:rect r="r" b="b" t="t" l="l"/>
              <a:pathLst>
                <a:path h="915115" w="3806878">
                  <a:moveTo>
                    <a:pt x="0" y="0"/>
                  </a:moveTo>
                  <a:lnTo>
                    <a:pt x="3806878" y="0"/>
                  </a:lnTo>
                  <a:lnTo>
                    <a:pt x="380687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3806876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Clause check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433735" y="4982561"/>
            <a:ext cx="2717892" cy="265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9"/>
              </a:lnSpc>
            </a:pPr>
            <a:r>
              <a:rPr lang="en-US" sz="1576">
                <a:solidFill>
                  <a:srgbClr val="F0F6F4"/>
                </a:solidFill>
                <a:latin typeface="Poppins"/>
                <a:ea typeface="Poppins"/>
                <a:cs typeface="Poppins"/>
                <a:sym typeface="Poppins"/>
              </a:rPr>
              <a:t>Right order? WHERE vs HAVING used correctly?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494794" y="2971176"/>
            <a:ext cx="3129696" cy="4941618"/>
            <a:chOff x="0" y="0"/>
            <a:chExt cx="4172928" cy="658882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72839" cy="6588760"/>
            </a:xfrm>
            <a:custGeom>
              <a:avLst/>
              <a:gdLst/>
              <a:ahLst/>
              <a:cxnLst/>
              <a:rect r="r" b="b" t="t" l="l"/>
              <a:pathLst>
                <a:path h="6588760" w="4172839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953256" y="0"/>
                  </a:lnTo>
                  <a:cubicBezTo>
                    <a:pt x="4074541" y="0"/>
                    <a:pt x="4172839" y="98298"/>
                    <a:pt x="4172839" y="219583"/>
                  </a:cubicBezTo>
                  <a:lnTo>
                    <a:pt x="4172839" y="6369177"/>
                  </a:lnTo>
                  <a:cubicBezTo>
                    <a:pt x="4172839" y="6490462"/>
                    <a:pt x="4074541" y="6588760"/>
                    <a:pt x="3953256" y="6588760"/>
                  </a:cubicBezTo>
                  <a:lnTo>
                    <a:pt x="219583" y="6588760"/>
                  </a:lnTo>
                  <a:cubicBezTo>
                    <a:pt x="98298" y="6588887"/>
                    <a:pt x="0" y="6490462"/>
                    <a:pt x="0" y="6369177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675294" y="3314343"/>
            <a:ext cx="768696" cy="768696"/>
            <a:chOff x="0" y="0"/>
            <a:chExt cx="1024928" cy="10249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89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4890">
                  <a:moveTo>
                    <a:pt x="0" y="512445"/>
                  </a:moveTo>
                  <a:cubicBezTo>
                    <a:pt x="0" y="229489"/>
                    <a:pt x="229489" y="0"/>
                    <a:pt x="512445" y="0"/>
                  </a:cubicBezTo>
                  <a:cubicBezTo>
                    <a:pt x="795401" y="0"/>
                    <a:pt x="1024890" y="229489"/>
                    <a:pt x="1024890" y="512445"/>
                  </a:cubicBezTo>
                  <a:cubicBezTo>
                    <a:pt x="1024890" y="795401"/>
                    <a:pt x="795528" y="1024890"/>
                    <a:pt x="512445" y="1024890"/>
                  </a:cubicBezTo>
                  <a:cubicBezTo>
                    <a:pt x="229362" y="1024890"/>
                    <a:pt x="0" y="795528"/>
                    <a:pt x="0" y="512445"/>
                  </a:cubicBezTo>
                  <a:close/>
                </a:path>
              </a:pathLst>
            </a:custGeom>
            <a:solidFill>
              <a:srgbClr val="C6941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675294" y="3314343"/>
            <a:ext cx="768696" cy="768696"/>
            <a:chOff x="0" y="0"/>
            <a:chExt cx="1024928" cy="10249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929" cy="1024929"/>
            </a:xfrm>
            <a:custGeom>
              <a:avLst/>
              <a:gdLst/>
              <a:ahLst/>
              <a:cxnLst/>
              <a:rect r="r" b="b" t="t" l="l"/>
              <a:pathLst>
                <a:path h="1024929" w="1024929">
                  <a:moveTo>
                    <a:pt x="0" y="0"/>
                  </a:moveTo>
                  <a:lnTo>
                    <a:pt x="1024929" y="0"/>
                  </a:lnTo>
                  <a:lnTo>
                    <a:pt x="1024929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024928" cy="1053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32059" y="4343852"/>
            <a:ext cx="2855157" cy="686333"/>
            <a:chOff x="0" y="0"/>
            <a:chExt cx="3806876" cy="9151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06878" cy="915115"/>
            </a:xfrm>
            <a:custGeom>
              <a:avLst/>
              <a:gdLst/>
              <a:ahLst/>
              <a:cxnLst/>
              <a:rect r="r" b="b" t="t" l="l"/>
              <a:pathLst>
                <a:path h="915115" w="3806878">
                  <a:moveTo>
                    <a:pt x="0" y="0"/>
                  </a:moveTo>
                  <a:lnTo>
                    <a:pt x="3806878" y="0"/>
                  </a:lnTo>
                  <a:lnTo>
                    <a:pt x="380687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3806876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Join check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7700696" y="4982561"/>
            <a:ext cx="2717892" cy="265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9"/>
              </a:lnSpc>
            </a:pPr>
            <a:r>
              <a:rPr lang="en-US" sz="1576">
                <a:solidFill>
                  <a:srgbClr val="F0F6F4"/>
                </a:solidFill>
                <a:latin typeface="Poppins"/>
                <a:ea typeface="Poppins"/>
                <a:cs typeface="Poppins"/>
                <a:sym typeface="Poppins"/>
              </a:rPr>
              <a:t>Right join type — does this question need unmatched rows kept?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761755" y="2971176"/>
            <a:ext cx="3129696" cy="4941618"/>
            <a:chOff x="0" y="0"/>
            <a:chExt cx="4172928" cy="658882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172839" cy="6588760"/>
            </a:xfrm>
            <a:custGeom>
              <a:avLst/>
              <a:gdLst/>
              <a:ahLst/>
              <a:cxnLst/>
              <a:rect r="r" b="b" t="t" l="l"/>
              <a:pathLst>
                <a:path h="6588760" w="4172839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953256" y="0"/>
                  </a:lnTo>
                  <a:cubicBezTo>
                    <a:pt x="4074541" y="0"/>
                    <a:pt x="4172839" y="98298"/>
                    <a:pt x="4172839" y="219583"/>
                  </a:cubicBezTo>
                  <a:lnTo>
                    <a:pt x="4172839" y="6369177"/>
                  </a:lnTo>
                  <a:cubicBezTo>
                    <a:pt x="4172839" y="6490462"/>
                    <a:pt x="4074541" y="6588760"/>
                    <a:pt x="3953256" y="6588760"/>
                  </a:cubicBezTo>
                  <a:lnTo>
                    <a:pt x="219583" y="6588760"/>
                  </a:lnTo>
                  <a:cubicBezTo>
                    <a:pt x="98298" y="6588887"/>
                    <a:pt x="0" y="6490462"/>
                    <a:pt x="0" y="6369177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942254" y="3314343"/>
            <a:ext cx="768696" cy="768696"/>
            <a:chOff x="0" y="0"/>
            <a:chExt cx="1024928" cy="10249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489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4890">
                  <a:moveTo>
                    <a:pt x="0" y="512445"/>
                  </a:moveTo>
                  <a:cubicBezTo>
                    <a:pt x="0" y="229489"/>
                    <a:pt x="229489" y="0"/>
                    <a:pt x="512445" y="0"/>
                  </a:cubicBezTo>
                  <a:cubicBezTo>
                    <a:pt x="795401" y="0"/>
                    <a:pt x="1024890" y="229489"/>
                    <a:pt x="1024890" y="512445"/>
                  </a:cubicBezTo>
                  <a:cubicBezTo>
                    <a:pt x="1024890" y="795401"/>
                    <a:pt x="795528" y="1024890"/>
                    <a:pt x="512445" y="1024890"/>
                  </a:cubicBezTo>
                  <a:cubicBezTo>
                    <a:pt x="229362" y="1024890"/>
                    <a:pt x="0" y="795528"/>
                    <a:pt x="0" y="512445"/>
                  </a:cubicBezTo>
                  <a:close/>
                </a:path>
              </a:pathLst>
            </a:custGeom>
            <a:solidFill>
              <a:srgbClr val="C6941C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942254" y="3314343"/>
            <a:ext cx="768696" cy="768696"/>
            <a:chOff x="0" y="0"/>
            <a:chExt cx="1024928" cy="10249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4929" cy="1024929"/>
            </a:xfrm>
            <a:custGeom>
              <a:avLst/>
              <a:gdLst/>
              <a:ahLst/>
              <a:cxnLst/>
              <a:rect r="r" b="b" t="t" l="l"/>
              <a:pathLst>
                <a:path h="1024929" w="1024929">
                  <a:moveTo>
                    <a:pt x="0" y="0"/>
                  </a:moveTo>
                  <a:lnTo>
                    <a:pt x="1024929" y="0"/>
                  </a:lnTo>
                  <a:lnTo>
                    <a:pt x="1024929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024928" cy="1053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899019" y="4343852"/>
            <a:ext cx="2855157" cy="686333"/>
            <a:chOff x="0" y="0"/>
            <a:chExt cx="3806876" cy="9151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806878" cy="915115"/>
            </a:xfrm>
            <a:custGeom>
              <a:avLst/>
              <a:gdLst/>
              <a:ahLst/>
              <a:cxnLst/>
              <a:rect r="r" b="b" t="t" l="l"/>
              <a:pathLst>
                <a:path h="915115" w="3806878">
                  <a:moveTo>
                    <a:pt x="0" y="0"/>
                  </a:moveTo>
                  <a:lnTo>
                    <a:pt x="3806878" y="0"/>
                  </a:lnTo>
                  <a:lnTo>
                    <a:pt x="380687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806876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Predict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0967656" y="4982561"/>
            <a:ext cx="2717892" cy="265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9"/>
              </a:lnSpc>
            </a:pPr>
            <a:r>
              <a:rPr lang="en-US" sz="1576">
                <a:solidFill>
                  <a:srgbClr val="F0F6F4"/>
                </a:solidFill>
                <a:latin typeface="Poppins"/>
                <a:ea typeface="Poppins"/>
                <a:cs typeface="Poppins"/>
                <a:sym typeface="Poppins"/>
              </a:rPr>
              <a:t>What row count or value do you expect, and why, before running it?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4028715" y="2971176"/>
            <a:ext cx="3129696" cy="4941618"/>
            <a:chOff x="0" y="0"/>
            <a:chExt cx="4172928" cy="658882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172839" cy="6588760"/>
            </a:xfrm>
            <a:custGeom>
              <a:avLst/>
              <a:gdLst/>
              <a:ahLst/>
              <a:cxnLst/>
              <a:rect r="r" b="b" t="t" l="l"/>
              <a:pathLst>
                <a:path h="6588760" w="4172839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953256" y="0"/>
                  </a:lnTo>
                  <a:cubicBezTo>
                    <a:pt x="4074541" y="0"/>
                    <a:pt x="4172839" y="98298"/>
                    <a:pt x="4172839" y="219583"/>
                  </a:cubicBezTo>
                  <a:lnTo>
                    <a:pt x="4172839" y="6369177"/>
                  </a:lnTo>
                  <a:cubicBezTo>
                    <a:pt x="4172839" y="6490462"/>
                    <a:pt x="4074541" y="6588760"/>
                    <a:pt x="3953256" y="6588760"/>
                  </a:cubicBezTo>
                  <a:lnTo>
                    <a:pt x="219583" y="6588760"/>
                  </a:lnTo>
                  <a:cubicBezTo>
                    <a:pt x="98298" y="6588887"/>
                    <a:pt x="0" y="6490462"/>
                    <a:pt x="0" y="6369177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5209206" y="3314343"/>
            <a:ext cx="768696" cy="768696"/>
            <a:chOff x="0" y="0"/>
            <a:chExt cx="1024928" cy="102492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2489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4890">
                  <a:moveTo>
                    <a:pt x="0" y="512445"/>
                  </a:moveTo>
                  <a:cubicBezTo>
                    <a:pt x="0" y="229489"/>
                    <a:pt x="229489" y="0"/>
                    <a:pt x="512445" y="0"/>
                  </a:cubicBezTo>
                  <a:cubicBezTo>
                    <a:pt x="795401" y="0"/>
                    <a:pt x="1024890" y="229489"/>
                    <a:pt x="1024890" y="512445"/>
                  </a:cubicBezTo>
                  <a:cubicBezTo>
                    <a:pt x="1024890" y="795401"/>
                    <a:pt x="795528" y="1024890"/>
                    <a:pt x="512445" y="1024890"/>
                  </a:cubicBezTo>
                  <a:cubicBezTo>
                    <a:pt x="229362" y="1024890"/>
                    <a:pt x="0" y="795528"/>
                    <a:pt x="0" y="512445"/>
                  </a:cubicBezTo>
                  <a:close/>
                </a:path>
              </a:pathLst>
            </a:custGeom>
            <a:solidFill>
              <a:srgbClr val="C6941C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5209206" y="3314343"/>
            <a:ext cx="768696" cy="768696"/>
            <a:chOff x="0" y="0"/>
            <a:chExt cx="1024928" cy="10249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24929" cy="1024929"/>
            </a:xfrm>
            <a:custGeom>
              <a:avLst/>
              <a:gdLst/>
              <a:ahLst/>
              <a:cxnLst/>
              <a:rect r="r" b="b" t="t" l="l"/>
              <a:pathLst>
                <a:path h="1024929" w="1024929">
                  <a:moveTo>
                    <a:pt x="0" y="0"/>
                  </a:moveTo>
                  <a:lnTo>
                    <a:pt x="1024929" y="0"/>
                  </a:lnTo>
                  <a:lnTo>
                    <a:pt x="1024929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1024928" cy="1053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165980" y="4343852"/>
            <a:ext cx="2855157" cy="686333"/>
            <a:chOff x="0" y="0"/>
            <a:chExt cx="3806876" cy="91511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806878" cy="915115"/>
            </a:xfrm>
            <a:custGeom>
              <a:avLst/>
              <a:gdLst/>
              <a:ahLst/>
              <a:cxnLst/>
              <a:rect r="r" b="b" t="t" l="l"/>
              <a:pathLst>
                <a:path h="915115" w="3806878">
                  <a:moveTo>
                    <a:pt x="0" y="0"/>
                  </a:moveTo>
                  <a:lnTo>
                    <a:pt x="3806878" y="0"/>
                  </a:lnTo>
                  <a:lnTo>
                    <a:pt x="380687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3806876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Verify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4234617" y="4982561"/>
            <a:ext cx="2717892" cy="265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9"/>
              </a:lnSpc>
            </a:pPr>
            <a:r>
              <a:rPr lang="en-US" sz="1576">
                <a:solidFill>
                  <a:srgbClr val="F0F6F4"/>
                </a:solidFill>
                <a:latin typeface="Poppins"/>
                <a:ea typeface="Poppins"/>
                <a:cs typeface="Poppins"/>
                <a:sym typeface="Poppins"/>
              </a:rPr>
              <a:t>Run it. Compare to your prediction and any known reference.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960872" y="8255970"/>
            <a:ext cx="16334804" cy="1166774"/>
            <a:chOff x="0" y="0"/>
            <a:chExt cx="21779738" cy="155569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779739" cy="1555623"/>
            </a:xfrm>
            <a:custGeom>
              <a:avLst/>
              <a:gdLst/>
              <a:ahLst/>
              <a:cxnLst/>
              <a:rect r="r" b="b" t="t" l="l"/>
              <a:pathLst>
                <a:path h="1555623" w="21779739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1596731" y="0"/>
                  </a:lnTo>
                  <a:cubicBezTo>
                    <a:pt x="21697823" y="0"/>
                    <a:pt x="21779739" y="81915"/>
                    <a:pt x="21779739" y="183007"/>
                  </a:cubicBezTo>
                  <a:lnTo>
                    <a:pt x="21779739" y="1372616"/>
                  </a:lnTo>
                  <a:cubicBezTo>
                    <a:pt x="21779739" y="1473708"/>
                    <a:pt x="21697823" y="1555623"/>
                    <a:pt x="21596731" y="1555623"/>
                  </a:cubicBezTo>
                  <a:lnTo>
                    <a:pt x="183007" y="1555623"/>
                  </a:lnTo>
                  <a:cubicBezTo>
                    <a:pt x="81915" y="1555750"/>
                    <a:pt x="0" y="1473708"/>
                    <a:pt x="0" y="1372616"/>
                  </a:cubicBez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372676" y="8255970"/>
            <a:ext cx="15511196" cy="1166774"/>
            <a:chOff x="0" y="0"/>
            <a:chExt cx="20681594" cy="155569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681598" cy="1555695"/>
            </a:xfrm>
            <a:custGeom>
              <a:avLst/>
              <a:gdLst/>
              <a:ahLst/>
              <a:cxnLst/>
              <a:rect r="r" b="b" t="t" l="l"/>
              <a:pathLst>
                <a:path h="155569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20681594" cy="1574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i="true">
                  <a:solidFill>
                    <a:srgbClr val="1B40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Same five checks for every AI-written query, every time — not just when something looks suspicious.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36230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5 OF 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82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76325" y="1876425"/>
            <a:ext cx="15797850" cy="691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6"/>
              </a:lnSpc>
            </a:pPr>
            <a:r>
              <a:rPr lang="en-US" sz="42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Verifying AI's answer is the same habit, aimed differently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2818604"/>
            <a:ext cx="16334804" cy="293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3.3 taught you to check a total against a known reference figure before trusting it.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3.4 taught you to predict a join's row count before running it.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Today, both habits point at AI's output instead of your own — the discipline doesn't change, only whose query you're checking.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1338" y="5157663"/>
            <a:ext cx="7911932" cy="3793912"/>
            <a:chOff x="0" y="0"/>
            <a:chExt cx="10549242" cy="5058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49255" cy="5058537"/>
            </a:xfrm>
            <a:custGeom>
              <a:avLst/>
              <a:gdLst/>
              <a:ahLst/>
              <a:cxnLst/>
              <a:rect r="r" b="b" t="t" l="l"/>
              <a:pathLst>
                <a:path h="5058537" w="10549255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328529" y="0"/>
                  </a:lnTo>
                  <a:cubicBezTo>
                    <a:pt x="10450449" y="0"/>
                    <a:pt x="10549255" y="98806"/>
                    <a:pt x="10549255" y="220726"/>
                  </a:cubicBezTo>
                  <a:lnTo>
                    <a:pt x="10549255" y="4837811"/>
                  </a:lnTo>
                  <a:cubicBezTo>
                    <a:pt x="10549255" y="4959731"/>
                    <a:pt x="10450449" y="5058537"/>
                    <a:pt x="10328529" y="5058537"/>
                  </a:cubicBezTo>
                  <a:lnTo>
                    <a:pt x="220726" y="5058537"/>
                  </a:lnTo>
                  <a:cubicBezTo>
                    <a:pt x="98806" y="5058537"/>
                    <a:pt x="0" y="4959731"/>
                    <a:pt x="0" y="483781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63142" y="5500839"/>
            <a:ext cx="2215344" cy="636765"/>
            <a:chOff x="0" y="0"/>
            <a:chExt cx="2953791" cy="8490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53893" cy="849122"/>
            </a:xfrm>
            <a:custGeom>
              <a:avLst/>
              <a:gdLst/>
              <a:ahLst/>
              <a:cxnLst/>
              <a:rect r="r" b="b" t="t" l="l"/>
              <a:pathLst>
                <a:path h="849122" w="2953893">
                  <a:moveTo>
                    <a:pt x="0" y="424561"/>
                  </a:moveTo>
                  <a:cubicBezTo>
                    <a:pt x="0" y="190119"/>
                    <a:pt x="190119" y="0"/>
                    <a:pt x="424561" y="0"/>
                  </a:cubicBezTo>
                  <a:lnTo>
                    <a:pt x="2529332" y="0"/>
                  </a:lnTo>
                  <a:cubicBezTo>
                    <a:pt x="2763774" y="0"/>
                    <a:pt x="2953893" y="190119"/>
                    <a:pt x="2953893" y="424561"/>
                  </a:cubicBezTo>
                  <a:cubicBezTo>
                    <a:pt x="2953893" y="659003"/>
                    <a:pt x="2763774" y="849122"/>
                    <a:pt x="2529332" y="849122"/>
                  </a:cubicBezTo>
                  <a:lnTo>
                    <a:pt x="424561" y="849122"/>
                  </a:lnTo>
                  <a:cubicBezTo>
                    <a:pt x="190119" y="848995"/>
                    <a:pt x="0" y="659003"/>
                    <a:pt x="0" y="424561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72676" y="5510364"/>
            <a:ext cx="2196274" cy="617706"/>
            <a:chOff x="0" y="0"/>
            <a:chExt cx="2928366" cy="8236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8368" cy="823603"/>
            </a:xfrm>
            <a:custGeom>
              <a:avLst/>
              <a:gdLst/>
              <a:ahLst/>
              <a:cxnLst/>
              <a:rect r="r" b="b" t="t" l="l"/>
              <a:pathLst>
                <a:path h="823603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279" r="0" b="-1928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928366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1B403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From 3.3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2676" y="6333972"/>
            <a:ext cx="7069264" cy="480431"/>
            <a:chOff x="0" y="0"/>
            <a:chExt cx="9425686" cy="6405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425686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Reference check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72676" y="6883041"/>
            <a:ext cx="7069264" cy="1784471"/>
            <a:chOff x="0" y="0"/>
            <a:chExt cx="9425686" cy="23792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25684" cy="2379299"/>
            </a:xfrm>
            <a:custGeom>
              <a:avLst/>
              <a:gdLst/>
              <a:ahLst/>
              <a:cxnLst/>
              <a:rect r="r" b="b" t="t" l="l"/>
              <a:pathLst>
                <a:path h="2379299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2379299"/>
                  </a:lnTo>
                  <a:lnTo>
                    <a:pt x="0" y="237929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7190" r="0" b="-2719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9425686" cy="2455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4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Does AI's number agree with something already trusted — a report, a dashboard, a hand count?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02804" y="5214823"/>
            <a:ext cx="7892863" cy="3774853"/>
            <a:chOff x="0" y="0"/>
            <a:chExt cx="10523817" cy="50331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23727" cy="5033010"/>
            </a:xfrm>
            <a:custGeom>
              <a:avLst/>
              <a:gdLst/>
              <a:ahLst/>
              <a:cxnLst/>
              <a:rect r="r" b="b" t="t" l="l"/>
              <a:pathLst>
                <a:path h="5033010" w="10523727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304145" y="0"/>
                  </a:lnTo>
                  <a:cubicBezTo>
                    <a:pt x="10425430" y="0"/>
                    <a:pt x="10523727" y="98298"/>
                    <a:pt x="10523727" y="219583"/>
                  </a:cubicBezTo>
                  <a:lnTo>
                    <a:pt x="10523727" y="4813427"/>
                  </a:lnTo>
                  <a:cubicBezTo>
                    <a:pt x="10523727" y="4934712"/>
                    <a:pt x="10425430" y="5033010"/>
                    <a:pt x="10304145" y="5033010"/>
                  </a:cubicBezTo>
                  <a:lnTo>
                    <a:pt x="219583" y="5033010"/>
                  </a:lnTo>
                  <a:cubicBezTo>
                    <a:pt x="98298" y="5033137"/>
                    <a:pt x="0" y="4934839"/>
                    <a:pt x="0" y="4813427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14608" y="5557989"/>
            <a:ext cx="2196274" cy="617706"/>
            <a:chOff x="0" y="0"/>
            <a:chExt cx="2928366" cy="8236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8366" cy="823722"/>
            </a:xfrm>
            <a:custGeom>
              <a:avLst/>
              <a:gdLst/>
              <a:ahLst/>
              <a:cxnLst/>
              <a:rect r="r" b="b" t="t" l="l"/>
              <a:pathLst>
                <a:path h="823722" w="2928366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2516505" y="0"/>
                  </a:lnTo>
                  <a:cubicBezTo>
                    <a:pt x="2743962" y="0"/>
                    <a:pt x="2928366" y="184404"/>
                    <a:pt x="2928366" y="411861"/>
                  </a:cubicBezTo>
                  <a:cubicBezTo>
                    <a:pt x="2928366" y="639318"/>
                    <a:pt x="2743962" y="823722"/>
                    <a:pt x="2516505" y="823722"/>
                  </a:cubicBezTo>
                  <a:lnTo>
                    <a:pt x="411861" y="823722"/>
                  </a:lnTo>
                  <a:cubicBezTo>
                    <a:pt x="184404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14608" y="5557989"/>
            <a:ext cx="2196274" cy="617706"/>
            <a:chOff x="0" y="0"/>
            <a:chExt cx="2928366" cy="8236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28368" cy="823603"/>
            </a:xfrm>
            <a:custGeom>
              <a:avLst/>
              <a:gdLst/>
              <a:ahLst/>
              <a:cxnLst/>
              <a:rect r="r" b="b" t="t" l="l"/>
              <a:pathLst>
                <a:path h="823603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279" r="0" b="-1928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928366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From 3.4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14608" y="6381597"/>
            <a:ext cx="7069264" cy="480431"/>
            <a:chOff x="0" y="0"/>
            <a:chExt cx="9425686" cy="6405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9425686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C694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Row-count prediction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814608" y="6930666"/>
            <a:ext cx="7069264" cy="1784471"/>
            <a:chOff x="0" y="0"/>
            <a:chExt cx="9425686" cy="237929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425684" cy="2379299"/>
            </a:xfrm>
            <a:custGeom>
              <a:avLst/>
              <a:gdLst/>
              <a:ahLst/>
              <a:cxnLst/>
              <a:rect r="r" b="b" t="t" l="l"/>
              <a:pathLst>
                <a:path h="2379299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2379299"/>
                  </a:lnTo>
                  <a:lnTo>
                    <a:pt x="0" y="237929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7190" r="0" b="-2719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9425686" cy="2455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4"/>
                </a:lnSpc>
              </a:pPr>
              <a:r>
                <a:rPr lang="en-US" sz="1876">
                  <a:solidFill>
                    <a:srgbClr val="E7F0EE"/>
                  </a:solidFill>
                  <a:latin typeface="Poppins"/>
                  <a:ea typeface="Poppins"/>
                  <a:cs typeface="Poppins"/>
                  <a:sym typeface="Poppins"/>
                </a:rPr>
                <a:t>Does the number of rows AI's query returns match what the schema and the question say it should?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40730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6 OF 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7260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902719"/>
            <a:ext cx="13040392" cy="65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9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Ship it, fix it, or ask again?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2873438"/>
            <a:ext cx="16353863" cy="4329255"/>
            <a:chOff x="0" y="0"/>
            <a:chExt cx="21805151" cy="57723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05264" cy="5772404"/>
            </a:xfrm>
            <a:custGeom>
              <a:avLst/>
              <a:gdLst/>
              <a:ahLst/>
              <a:cxnLst/>
              <a:rect r="r" b="b" t="t" l="l"/>
              <a:pathLst>
                <a:path h="5772404" w="21805264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21694902" y="0"/>
                  </a:lnTo>
                  <a:cubicBezTo>
                    <a:pt x="21755863" y="0"/>
                    <a:pt x="21805264" y="49403"/>
                    <a:pt x="21805264" y="110363"/>
                  </a:cubicBezTo>
                  <a:lnTo>
                    <a:pt x="21805264" y="5662041"/>
                  </a:lnTo>
                  <a:cubicBezTo>
                    <a:pt x="21805264" y="5723001"/>
                    <a:pt x="21755863" y="5772404"/>
                    <a:pt x="21694902" y="5772404"/>
                  </a:cubicBezTo>
                  <a:lnTo>
                    <a:pt x="110363" y="5772404"/>
                  </a:lnTo>
                  <a:cubicBezTo>
                    <a:pt x="49403" y="5772404"/>
                    <a:pt x="0" y="5723001"/>
                    <a:pt x="0" y="566204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60872" y="2882973"/>
            <a:ext cx="16334804" cy="576520"/>
            <a:chOff x="0" y="0"/>
            <a:chExt cx="21779738" cy="7686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79737" cy="768731"/>
            </a:xfrm>
            <a:custGeom>
              <a:avLst/>
              <a:gdLst/>
              <a:ahLst/>
              <a:cxnLst/>
              <a:rect r="r" b="b" t="t" l="l"/>
              <a:pathLst>
                <a:path h="768731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25588" y="2882973"/>
            <a:ext cx="7892863" cy="576520"/>
            <a:chOff x="0" y="0"/>
            <a:chExt cx="10523817" cy="7686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23822" cy="768697"/>
            </a:xfrm>
            <a:custGeom>
              <a:avLst/>
              <a:gdLst/>
              <a:ahLst/>
              <a:cxnLst/>
              <a:rect r="r" b="b" t="t" l="l"/>
              <a:pathLst>
                <a:path h="768697" w="10523822">
                  <a:moveTo>
                    <a:pt x="0" y="0"/>
                  </a:moveTo>
                  <a:lnTo>
                    <a:pt x="10523822" y="0"/>
                  </a:lnTo>
                  <a:lnTo>
                    <a:pt x="10523822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6759" r="0" b="-21675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523817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Situation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92990" y="2882973"/>
            <a:ext cx="7892863" cy="576520"/>
            <a:chOff x="0" y="0"/>
            <a:chExt cx="10523817" cy="7686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23822" cy="768697"/>
            </a:xfrm>
            <a:custGeom>
              <a:avLst/>
              <a:gdLst/>
              <a:ahLst/>
              <a:cxnLst/>
              <a:rect r="r" b="b" t="t" l="l"/>
              <a:pathLst>
                <a:path h="768697" w="10523822">
                  <a:moveTo>
                    <a:pt x="0" y="0"/>
                  </a:moveTo>
                  <a:lnTo>
                    <a:pt x="10523822" y="0"/>
                  </a:lnTo>
                  <a:lnTo>
                    <a:pt x="10523822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6759" r="0" b="-21675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0523817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to do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25588" y="3459493"/>
            <a:ext cx="7892863" cy="933421"/>
            <a:chOff x="0" y="0"/>
            <a:chExt cx="10523817" cy="12445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23822" cy="1244556"/>
            </a:xfrm>
            <a:custGeom>
              <a:avLst/>
              <a:gdLst/>
              <a:ahLst/>
              <a:cxnLst/>
              <a:rect r="r" b="b" t="t" l="l"/>
              <a:pathLst>
                <a:path h="1244556" w="10523822">
                  <a:moveTo>
                    <a:pt x="0" y="0"/>
                  </a:moveTo>
                  <a:lnTo>
                    <a:pt x="10523822" y="0"/>
                  </a:lnTo>
                  <a:lnTo>
                    <a:pt x="10523822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762" r="0" b="-11476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523817" cy="1263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Result matches your prediction and any known reference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92990" y="3459493"/>
            <a:ext cx="7892863" cy="933421"/>
            <a:chOff x="0" y="0"/>
            <a:chExt cx="10523817" cy="12445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23822" cy="1244556"/>
            </a:xfrm>
            <a:custGeom>
              <a:avLst/>
              <a:gdLst/>
              <a:ahLst/>
              <a:cxnLst/>
              <a:rect r="r" b="b" t="t" l="l"/>
              <a:pathLst>
                <a:path h="1244556" w="10523822">
                  <a:moveTo>
                    <a:pt x="0" y="0"/>
                  </a:moveTo>
                  <a:lnTo>
                    <a:pt x="10523822" y="0"/>
                  </a:lnTo>
                  <a:lnTo>
                    <a:pt x="10523822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762" r="0" b="-11476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523817" cy="1263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Ship it — you've verified it, not just run it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0872" y="4392914"/>
            <a:ext cx="16334804" cy="933421"/>
            <a:chOff x="0" y="0"/>
            <a:chExt cx="21779738" cy="124456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779737" cy="1244600"/>
            </a:xfrm>
            <a:custGeom>
              <a:avLst/>
              <a:gdLst/>
              <a:ahLst/>
              <a:cxnLst/>
              <a:rect r="r" b="b" t="t" l="l"/>
              <a:pathLst>
                <a:path h="1244600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25588" y="4392914"/>
            <a:ext cx="7892863" cy="933421"/>
            <a:chOff x="0" y="0"/>
            <a:chExt cx="10523817" cy="124456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23822" cy="1244556"/>
            </a:xfrm>
            <a:custGeom>
              <a:avLst/>
              <a:gdLst/>
              <a:ahLst/>
              <a:cxnLst/>
              <a:rect r="r" b="b" t="t" l="l"/>
              <a:pathLst>
                <a:path h="1244556" w="10523822">
                  <a:moveTo>
                    <a:pt x="0" y="0"/>
                  </a:moveTo>
                  <a:lnTo>
                    <a:pt x="10523822" y="0"/>
                  </a:lnTo>
                  <a:lnTo>
                    <a:pt x="10523822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762" r="0" b="-11476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0523817" cy="1263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Result is close, but off in a way you can explain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292990" y="4392914"/>
            <a:ext cx="7892863" cy="933421"/>
            <a:chOff x="0" y="0"/>
            <a:chExt cx="10523817" cy="124456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23822" cy="1244556"/>
            </a:xfrm>
            <a:custGeom>
              <a:avLst/>
              <a:gdLst/>
              <a:ahLst/>
              <a:cxnLst/>
              <a:rect r="r" b="b" t="t" l="l"/>
              <a:pathLst>
                <a:path h="1244556" w="10523822">
                  <a:moveTo>
                    <a:pt x="0" y="0"/>
                  </a:moveTo>
                  <a:lnTo>
                    <a:pt x="10523822" y="0"/>
                  </a:lnTo>
                  <a:lnTo>
                    <a:pt x="10523822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762" r="0" b="-11476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0523817" cy="1263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Fix the specific clause yourself — you know exactly what's wrong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25588" y="5326326"/>
            <a:ext cx="7892863" cy="933421"/>
            <a:chOff x="0" y="0"/>
            <a:chExt cx="10523817" cy="124456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23822" cy="1244556"/>
            </a:xfrm>
            <a:custGeom>
              <a:avLst/>
              <a:gdLst/>
              <a:ahLst/>
              <a:cxnLst/>
              <a:rect r="r" b="b" t="t" l="l"/>
              <a:pathLst>
                <a:path h="1244556" w="10523822">
                  <a:moveTo>
                    <a:pt x="0" y="0"/>
                  </a:moveTo>
                  <a:lnTo>
                    <a:pt x="10523822" y="0"/>
                  </a:lnTo>
                  <a:lnTo>
                    <a:pt x="10523822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762" r="0" b="-11476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0523817" cy="1263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Result is wrong and you don't see why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292990" y="5326326"/>
            <a:ext cx="7892863" cy="933421"/>
            <a:chOff x="0" y="0"/>
            <a:chExt cx="10523817" cy="124456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23822" cy="1244556"/>
            </a:xfrm>
            <a:custGeom>
              <a:avLst/>
              <a:gdLst/>
              <a:ahLst/>
              <a:cxnLst/>
              <a:rect r="r" b="b" t="t" l="l"/>
              <a:pathLst>
                <a:path h="1244556" w="10523822">
                  <a:moveTo>
                    <a:pt x="0" y="0"/>
                  </a:moveTo>
                  <a:lnTo>
                    <a:pt x="10523822" y="0"/>
                  </a:lnTo>
                  <a:lnTo>
                    <a:pt x="10523822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762" r="0" b="-11476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0523817" cy="1263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Ask AI to explain its query line by line — don't just ask it to “try again”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0872" y="6259747"/>
            <a:ext cx="16334804" cy="933421"/>
            <a:chOff x="0" y="0"/>
            <a:chExt cx="21779738" cy="124456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779737" cy="1244600"/>
            </a:xfrm>
            <a:custGeom>
              <a:avLst/>
              <a:gdLst/>
              <a:ahLst/>
              <a:cxnLst/>
              <a:rect r="r" b="b" t="t" l="l"/>
              <a:pathLst>
                <a:path h="1244600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25588" y="6259747"/>
            <a:ext cx="7892863" cy="933421"/>
            <a:chOff x="0" y="0"/>
            <a:chExt cx="10523817" cy="124456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523822" cy="1244556"/>
            </a:xfrm>
            <a:custGeom>
              <a:avLst/>
              <a:gdLst/>
              <a:ahLst/>
              <a:cxnLst/>
              <a:rect r="r" b="b" t="t" l="l"/>
              <a:pathLst>
                <a:path h="1244556" w="10523822">
                  <a:moveTo>
                    <a:pt x="0" y="0"/>
                  </a:moveTo>
                  <a:lnTo>
                    <a:pt x="10523822" y="0"/>
                  </a:lnTo>
                  <a:lnTo>
                    <a:pt x="10523822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762" r="0" b="-11476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0523817" cy="1263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Still wrong after an explanation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92990" y="6259747"/>
            <a:ext cx="7892863" cy="933421"/>
            <a:chOff x="0" y="0"/>
            <a:chExt cx="10523817" cy="124456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523822" cy="1244556"/>
            </a:xfrm>
            <a:custGeom>
              <a:avLst/>
              <a:gdLst/>
              <a:ahLst/>
              <a:cxnLst/>
              <a:rect r="r" b="b" t="t" l="l"/>
              <a:pathLst>
                <a:path h="1244556" w="10523822">
                  <a:moveTo>
                    <a:pt x="0" y="0"/>
                  </a:moveTo>
                  <a:lnTo>
                    <a:pt x="10523822" y="0"/>
                  </a:lnTo>
                  <a:lnTo>
                    <a:pt x="10523822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762" r="0" b="-11476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0523817" cy="1263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Write it yourself from the schema — you have every skill from 3.1–3.5 to do it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51338" y="7757217"/>
            <a:ext cx="16353863" cy="1391736"/>
            <a:chOff x="0" y="0"/>
            <a:chExt cx="21805151" cy="18556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805137" cy="1855597"/>
            </a:xfrm>
            <a:custGeom>
              <a:avLst/>
              <a:gdLst/>
              <a:ahLst/>
              <a:cxnLst/>
              <a:rect r="r" b="b" t="t" l="l"/>
              <a:pathLst>
                <a:path h="1855597" w="21805137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21619590" y="0"/>
                  </a:lnTo>
                  <a:cubicBezTo>
                    <a:pt x="21722079" y="0"/>
                    <a:pt x="21805137" y="83058"/>
                    <a:pt x="21805137" y="185547"/>
                  </a:cubicBezTo>
                  <a:lnTo>
                    <a:pt x="21805137" y="1670050"/>
                  </a:lnTo>
                  <a:cubicBezTo>
                    <a:pt x="21805137" y="1772539"/>
                    <a:pt x="21722079" y="1855597"/>
                    <a:pt x="21619590" y="1855597"/>
                  </a:cubicBezTo>
                  <a:lnTo>
                    <a:pt x="185547" y="1855597"/>
                  </a:lnTo>
                  <a:cubicBezTo>
                    <a:pt x="83058" y="1855597"/>
                    <a:pt x="0" y="1772539"/>
                    <a:pt x="0" y="1670050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72676" y="7931468"/>
            <a:ext cx="15511196" cy="1029500"/>
            <a:chOff x="0" y="0"/>
            <a:chExt cx="20681594" cy="137266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681598" cy="1372672"/>
            </a:xfrm>
            <a:custGeom>
              <a:avLst/>
              <a:gdLst/>
              <a:ahLst/>
              <a:cxnLst/>
              <a:rect r="r" b="b" t="t" l="l"/>
              <a:pathLst>
                <a:path h="1372672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3574" r="0" b="-24357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20681594" cy="1391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Never acceptable: </a:t>
              </a:r>
              <a:r>
                <a:rPr lang="en-US" sz="19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regenerating the same prompt repeatedly and hoping a different answer happens to look right.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57250" y="774957"/>
            <a:ext cx="114300" cy="1028700"/>
            <a:chOff x="0" y="0"/>
            <a:chExt cx="152400" cy="1371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498420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7 OF 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48785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81075" y="1828800"/>
            <a:ext cx="14784721" cy="7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Everything converges on the same query shape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09650" y="2773235"/>
            <a:ext cx="16334804" cy="686333"/>
            <a:chOff x="0" y="0"/>
            <a:chExt cx="21779738" cy="9151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79736" cy="915115"/>
            </a:xfrm>
            <a:custGeom>
              <a:avLst/>
              <a:gdLst/>
              <a:ahLst/>
              <a:cxnLst/>
              <a:rect r="r" b="b" t="t" l="l"/>
              <a:pathLst>
                <a:path h="915115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13744" r="0" b="-41374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779738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Whether you write it or AI does, every query — OLTP or warehouse — still follows the one skeleton from the whole module.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872" y="3871372"/>
            <a:ext cx="2168823" cy="1853108"/>
            <a:chOff x="0" y="0"/>
            <a:chExt cx="2891765" cy="24708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91790" cy="2470785"/>
            </a:xfrm>
            <a:custGeom>
              <a:avLst/>
              <a:gdLst/>
              <a:ahLst/>
              <a:cxnLst/>
              <a:rect r="r" b="b" t="t" l="l"/>
              <a:pathLst>
                <a:path h="2470785" w="289179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708783" y="0"/>
                  </a:lnTo>
                  <a:cubicBezTo>
                    <a:pt x="2809875" y="0"/>
                    <a:pt x="2891790" y="81915"/>
                    <a:pt x="2891790" y="183007"/>
                  </a:cubicBezTo>
                  <a:lnTo>
                    <a:pt x="2891790" y="2287778"/>
                  </a:lnTo>
                  <a:cubicBezTo>
                    <a:pt x="2891790" y="2388870"/>
                    <a:pt x="2809875" y="2470785"/>
                    <a:pt x="2708783" y="2470785"/>
                  </a:cubicBezTo>
                  <a:lnTo>
                    <a:pt x="183007" y="2470785"/>
                  </a:lnTo>
                  <a:cubicBezTo>
                    <a:pt x="81915" y="2470785"/>
                    <a:pt x="0" y="2388870"/>
                    <a:pt x="0" y="2287778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60872" y="4049823"/>
            <a:ext cx="2168823" cy="823608"/>
            <a:chOff x="0" y="0"/>
            <a:chExt cx="2891765" cy="10981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91763" cy="1098138"/>
            </a:xfrm>
            <a:custGeom>
              <a:avLst/>
              <a:gdLst/>
              <a:ahLst/>
              <a:cxnLst/>
              <a:rect r="r" b="b" t="t" l="l"/>
              <a:pathLst>
                <a:path h="1098138" w="2891763">
                  <a:moveTo>
                    <a:pt x="0" y="0"/>
                  </a:moveTo>
                  <a:lnTo>
                    <a:pt x="2891763" y="0"/>
                  </a:lnTo>
                  <a:lnTo>
                    <a:pt x="2891763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10" r="0" b="-13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891765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SELECT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872" y="4900882"/>
            <a:ext cx="2168823" cy="617706"/>
            <a:chOff x="0" y="0"/>
            <a:chExt cx="2891765" cy="8236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91763" cy="823603"/>
            </a:xfrm>
            <a:custGeom>
              <a:avLst/>
              <a:gdLst/>
              <a:ahLst/>
              <a:cxnLst/>
              <a:rect r="r" b="b" t="t" l="l"/>
              <a:pathLst>
                <a:path h="823603" w="2891763">
                  <a:moveTo>
                    <a:pt x="0" y="0"/>
                  </a:moveTo>
                  <a:lnTo>
                    <a:pt x="2891763" y="0"/>
                  </a:lnTo>
                  <a:lnTo>
                    <a:pt x="28917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413" r="0" b="-1841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891765" cy="842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3.2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129696" y="3871372"/>
            <a:ext cx="137265" cy="1853108"/>
            <a:chOff x="0" y="0"/>
            <a:chExt cx="183020" cy="24708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3023" cy="2470810"/>
            </a:xfrm>
            <a:custGeom>
              <a:avLst/>
              <a:gdLst/>
              <a:ahLst/>
              <a:cxnLst/>
              <a:rect r="r" b="b" t="t" l="l"/>
              <a:pathLst>
                <a:path h="2470810" w="183023">
                  <a:moveTo>
                    <a:pt x="0" y="0"/>
                  </a:moveTo>
                  <a:lnTo>
                    <a:pt x="183023" y="0"/>
                  </a:lnTo>
                  <a:lnTo>
                    <a:pt x="183023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682099" t="0" r="-168209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83020" cy="2489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b="true" sz="180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266961" y="3871372"/>
            <a:ext cx="2168823" cy="1853108"/>
            <a:chOff x="0" y="0"/>
            <a:chExt cx="2891765" cy="24708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91790" cy="2470785"/>
            </a:xfrm>
            <a:custGeom>
              <a:avLst/>
              <a:gdLst/>
              <a:ahLst/>
              <a:cxnLst/>
              <a:rect r="r" b="b" t="t" l="l"/>
              <a:pathLst>
                <a:path h="2470785" w="289179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708783" y="0"/>
                  </a:lnTo>
                  <a:cubicBezTo>
                    <a:pt x="2809875" y="0"/>
                    <a:pt x="2891790" y="81915"/>
                    <a:pt x="2891790" y="183007"/>
                  </a:cubicBezTo>
                  <a:lnTo>
                    <a:pt x="2891790" y="2287778"/>
                  </a:lnTo>
                  <a:cubicBezTo>
                    <a:pt x="2891790" y="2388870"/>
                    <a:pt x="2809875" y="2470785"/>
                    <a:pt x="2708783" y="2470785"/>
                  </a:cubicBezTo>
                  <a:lnTo>
                    <a:pt x="183007" y="2470785"/>
                  </a:lnTo>
                  <a:cubicBezTo>
                    <a:pt x="81915" y="2470785"/>
                    <a:pt x="0" y="2388870"/>
                    <a:pt x="0" y="2287778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266961" y="4049823"/>
            <a:ext cx="2168823" cy="823608"/>
            <a:chOff x="0" y="0"/>
            <a:chExt cx="2891765" cy="10981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91763" cy="1098138"/>
            </a:xfrm>
            <a:custGeom>
              <a:avLst/>
              <a:gdLst/>
              <a:ahLst/>
              <a:cxnLst/>
              <a:rect r="r" b="b" t="t" l="l"/>
              <a:pathLst>
                <a:path h="1098138" w="2891763">
                  <a:moveTo>
                    <a:pt x="0" y="0"/>
                  </a:moveTo>
                  <a:lnTo>
                    <a:pt x="2891763" y="0"/>
                  </a:lnTo>
                  <a:lnTo>
                    <a:pt x="2891763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10" r="0" b="-131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891765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FROM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266961" y="4900882"/>
            <a:ext cx="2168823" cy="617706"/>
            <a:chOff x="0" y="0"/>
            <a:chExt cx="2891765" cy="8236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91763" cy="823603"/>
            </a:xfrm>
            <a:custGeom>
              <a:avLst/>
              <a:gdLst/>
              <a:ahLst/>
              <a:cxnLst/>
              <a:rect r="r" b="b" t="t" l="l"/>
              <a:pathLst>
                <a:path h="823603" w="2891763">
                  <a:moveTo>
                    <a:pt x="0" y="0"/>
                  </a:moveTo>
                  <a:lnTo>
                    <a:pt x="2891763" y="0"/>
                  </a:lnTo>
                  <a:lnTo>
                    <a:pt x="28917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413" r="0" b="-1841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2891765" cy="842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3.2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435784" y="3871372"/>
            <a:ext cx="137265" cy="1853108"/>
            <a:chOff x="0" y="0"/>
            <a:chExt cx="183020" cy="24708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3023" cy="2470810"/>
            </a:xfrm>
            <a:custGeom>
              <a:avLst/>
              <a:gdLst/>
              <a:ahLst/>
              <a:cxnLst/>
              <a:rect r="r" b="b" t="t" l="l"/>
              <a:pathLst>
                <a:path h="2470810" w="183023">
                  <a:moveTo>
                    <a:pt x="0" y="0"/>
                  </a:moveTo>
                  <a:lnTo>
                    <a:pt x="183023" y="0"/>
                  </a:lnTo>
                  <a:lnTo>
                    <a:pt x="183023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682099" t="0" r="-168209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83020" cy="2489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b="true" sz="180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573049" y="3871372"/>
            <a:ext cx="2168823" cy="1853108"/>
            <a:chOff x="0" y="0"/>
            <a:chExt cx="2891765" cy="247081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891790" cy="2470785"/>
            </a:xfrm>
            <a:custGeom>
              <a:avLst/>
              <a:gdLst/>
              <a:ahLst/>
              <a:cxnLst/>
              <a:rect r="r" b="b" t="t" l="l"/>
              <a:pathLst>
                <a:path h="2470785" w="289179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708783" y="0"/>
                  </a:lnTo>
                  <a:cubicBezTo>
                    <a:pt x="2809875" y="0"/>
                    <a:pt x="2891790" y="81915"/>
                    <a:pt x="2891790" y="183007"/>
                  </a:cubicBezTo>
                  <a:lnTo>
                    <a:pt x="2891790" y="2287778"/>
                  </a:lnTo>
                  <a:cubicBezTo>
                    <a:pt x="2891790" y="2388870"/>
                    <a:pt x="2809875" y="2470785"/>
                    <a:pt x="2708783" y="2470785"/>
                  </a:cubicBezTo>
                  <a:lnTo>
                    <a:pt x="183007" y="2470785"/>
                  </a:lnTo>
                  <a:cubicBezTo>
                    <a:pt x="81915" y="2470785"/>
                    <a:pt x="0" y="2388870"/>
                    <a:pt x="0" y="2287778"/>
                  </a:cubicBezTo>
                  <a:close/>
                </a:path>
              </a:pathLst>
            </a:custGeom>
            <a:solidFill>
              <a:srgbClr val="C6941C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573049" y="4049823"/>
            <a:ext cx="2168823" cy="823608"/>
            <a:chOff x="0" y="0"/>
            <a:chExt cx="2891765" cy="10981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91763" cy="1098138"/>
            </a:xfrm>
            <a:custGeom>
              <a:avLst/>
              <a:gdLst/>
              <a:ahLst/>
              <a:cxnLst/>
              <a:rect r="r" b="b" t="t" l="l"/>
              <a:pathLst>
                <a:path h="1098138" w="2891763">
                  <a:moveTo>
                    <a:pt x="0" y="0"/>
                  </a:moveTo>
                  <a:lnTo>
                    <a:pt x="2891763" y="0"/>
                  </a:lnTo>
                  <a:lnTo>
                    <a:pt x="2891763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10" r="0" b="-131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2891765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JOIN…ON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573049" y="4900882"/>
            <a:ext cx="2168823" cy="617706"/>
            <a:chOff x="0" y="0"/>
            <a:chExt cx="2891765" cy="8236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891763" cy="823603"/>
            </a:xfrm>
            <a:custGeom>
              <a:avLst/>
              <a:gdLst/>
              <a:ahLst/>
              <a:cxnLst/>
              <a:rect r="r" b="b" t="t" l="l"/>
              <a:pathLst>
                <a:path h="823603" w="2891763">
                  <a:moveTo>
                    <a:pt x="0" y="0"/>
                  </a:moveTo>
                  <a:lnTo>
                    <a:pt x="2891763" y="0"/>
                  </a:lnTo>
                  <a:lnTo>
                    <a:pt x="28917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413" r="0" b="-1841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2891765" cy="842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3.4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741872" y="3871372"/>
            <a:ext cx="137265" cy="1853108"/>
            <a:chOff x="0" y="0"/>
            <a:chExt cx="183020" cy="247081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3023" cy="2470810"/>
            </a:xfrm>
            <a:custGeom>
              <a:avLst/>
              <a:gdLst/>
              <a:ahLst/>
              <a:cxnLst/>
              <a:rect r="r" b="b" t="t" l="l"/>
              <a:pathLst>
                <a:path h="2470810" w="183023">
                  <a:moveTo>
                    <a:pt x="0" y="0"/>
                  </a:moveTo>
                  <a:lnTo>
                    <a:pt x="183023" y="0"/>
                  </a:lnTo>
                  <a:lnTo>
                    <a:pt x="183023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682099" t="0" r="-168209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83020" cy="2489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b="true" sz="180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879137" y="3871372"/>
            <a:ext cx="2168823" cy="1853108"/>
            <a:chOff x="0" y="0"/>
            <a:chExt cx="2891765" cy="247081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891790" cy="2470785"/>
            </a:xfrm>
            <a:custGeom>
              <a:avLst/>
              <a:gdLst/>
              <a:ahLst/>
              <a:cxnLst/>
              <a:rect r="r" b="b" t="t" l="l"/>
              <a:pathLst>
                <a:path h="2470785" w="289179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708783" y="0"/>
                  </a:lnTo>
                  <a:cubicBezTo>
                    <a:pt x="2809875" y="0"/>
                    <a:pt x="2891790" y="81915"/>
                    <a:pt x="2891790" y="183007"/>
                  </a:cubicBezTo>
                  <a:lnTo>
                    <a:pt x="2891790" y="2287778"/>
                  </a:lnTo>
                  <a:cubicBezTo>
                    <a:pt x="2891790" y="2388870"/>
                    <a:pt x="2809875" y="2470785"/>
                    <a:pt x="2708783" y="2470785"/>
                  </a:cubicBezTo>
                  <a:lnTo>
                    <a:pt x="183007" y="2470785"/>
                  </a:lnTo>
                  <a:cubicBezTo>
                    <a:pt x="81915" y="2470785"/>
                    <a:pt x="0" y="2388870"/>
                    <a:pt x="0" y="2287778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879137" y="4049823"/>
            <a:ext cx="2168823" cy="823608"/>
            <a:chOff x="0" y="0"/>
            <a:chExt cx="2891765" cy="109814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891763" cy="1098138"/>
            </a:xfrm>
            <a:custGeom>
              <a:avLst/>
              <a:gdLst/>
              <a:ahLst/>
              <a:cxnLst/>
              <a:rect r="r" b="b" t="t" l="l"/>
              <a:pathLst>
                <a:path h="1098138" w="2891763">
                  <a:moveTo>
                    <a:pt x="0" y="0"/>
                  </a:moveTo>
                  <a:lnTo>
                    <a:pt x="2891763" y="0"/>
                  </a:lnTo>
                  <a:lnTo>
                    <a:pt x="2891763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10" r="0" b="-131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2891765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WHERE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879137" y="4900882"/>
            <a:ext cx="2168823" cy="617706"/>
            <a:chOff x="0" y="0"/>
            <a:chExt cx="2891765" cy="8236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891763" cy="823603"/>
            </a:xfrm>
            <a:custGeom>
              <a:avLst/>
              <a:gdLst/>
              <a:ahLst/>
              <a:cxnLst/>
              <a:rect r="r" b="b" t="t" l="l"/>
              <a:pathLst>
                <a:path h="823603" w="2891763">
                  <a:moveTo>
                    <a:pt x="0" y="0"/>
                  </a:moveTo>
                  <a:lnTo>
                    <a:pt x="2891763" y="0"/>
                  </a:lnTo>
                  <a:lnTo>
                    <a:pt x="28917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413" r="0" b="-1841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2891765" cy="842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3.2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047961" y="3871372"/>
            <a:ext cx="137265" cy="1853108"/>
            <a:chOff x="0" y="0"/>
            <a:chExt cx="183020" cy="247081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23" cy="2470810"/>
            </a:xfrm>
            <a:custGeom>
              <a:avLst/>
              <a:gdLst/>
              <a:ahLst/>
              <a:cxnLst/>
              <a:rect r="r" b="b" t="t" l="l"/>
              <a:pathLst>
                <a:path h="2470810" w="183023">
                  <a:moveTo>
                    <a:pt x="0" y="0"/>
                  </a:moveTo>
                  <a:lnTo>
                    <a:pt x="183023" y="0"/>
                  </a:lnTo>
                  <a:lnTo>
                    <a:pt x="183023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682099" t="0" r="-1682097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83020" cy="2489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b="true" sz="180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185225" y="3871372"/>
            <a:ext cx="2168823" cy="1853108"/>
            <a:chOff x="0" y="0"/>
            <a:chExt cx="2891765" cy="247081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891790" cy="2470785"/>
            </a:xfrm>
            <a:custGeom>
              <a:avLst/>
              <a:gdLst/>
              <a:ahLst/>
              <a:cxnLst/>
              <a:rect r="r" b="b" t="t" l="l"/>
              <a:pathLst>
                <a:path h="2470785" w="289179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708783" y="0"/>
                  </a:lnTo>
                  <a:cubicBezTo>
                    <a:pt x="2809875" y="0"/>
                    <a:pt x="2891790" y="81915"/>
                    <a:pt x="2891790" y="183007"/>
                  </a:cubicBezTo>
                  <a:lnTo>
                    <a:pt x="2891790" y="2287778"/>
                  </a:lnTo>
                  <a:cubicBezTo>
                    <a:pt x="2891790" y="2388870"/>
                    <a:pt x="2809875" y="2470785"/>
                    <a:pt x="2708783" y="2470785"/>
                  </a:cubicBezTo>
                  <a:lnTo>
                    <a:pt x="183007" y="2470785"/>
                  </a:lnTo>
                  <a:cubicBezTo>
                    <a:pt x="81915" y="2470785"/>
                    <a:pt x="0" y="2388870"/>
                    <a:pt x="0" y="2287778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185225" y="4049823"/>
            <a:ext cx="2168823" cy="823608"/>
            <a:chOff x="0" y="0"/>
            <a:chExt cx="2891765" cy="10981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891763" cy="1098138"/>
            </a:xfrm>
            <a:custGeom>
              <a:avLst/>
              <a:gdLst/>
              <a:ahLst/>
              <a:cxnLst/>
              <a:rect r="r" b="b" t="t" l="l"/>
              <a:pathLst>
                <a:path h="1098138" w="2891763">
                  <a:moveTo>
                    <a:pt x="0" y="0"/>
                  </a:moveTo>
                  <a:lnTo>
                    <a:pt x="2891763" y="0"/>
                  </a:lnTo>
                  <a:lnTo>
                    <a:pt x="2891763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10" r="0" b="-131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2891765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GROUP BY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185225" y="4900882"/>
            <a:ext cx="2168823" cy="617706"/>
            <a:chOff x="0" y="0"/>
            <a:chExt cx="2891765" cy="82360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891763" cy="823603"/>
            </a:xfrm>
            <a:custGeom>
              <a:avLst/>
              <a:gdLst/>
              <a:ahLst/>
              <a:cxnLst/>
              <a:rect r="r" b="b" t="t" l="l"/>
              <a:pathLst>
                <a:path h="823603" w="2891763">
                  <a:moveTo>
                    <a:pt x="0" y="0"/>
                  </a:moveTo>
                  <a:lnTo>
                    <a:pt x="2891763" y="0"/>
                  </a:lnTo>
                  <a:lnTo>
                    <a:pt x="28917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413" r="0" b="-1841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2891765" cy="842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3.3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354049" y="3871372"/>
            <a:ext cx="137265" cy="1853108"/>
            <a:chOff x="0" y="0"/>
            <a:chExt cx="183020" cy="247081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83023" cy="2470810"/>
            </a:xfrm>
            <a:custGeom>
              <a:avLst/>
              <a:gdLst/>
              <a:ahLst/>
              <a:cxnLst/>
              <a:rect r="r" b="b" t="t" l="l"/>
              <a:pathLst>
                <a:path h="2470810" w="183023">
                  <a:moveTo>
                    <a:pt x="0" y="0"/>
                  </a:moveTo>
                  <a:lnTo>
                    <a:pt x="183023" y="0"/>
                  </a:lnTo>
                  <a:lnTo>
                    <a:pt x="183023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682099" t="0" r="-1682097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183020" cy="2489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b="true" sz="180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491323" y="3871372"/>
            <a:ext cx="2168823" cy="1853108"/>
            <a:chOff x="0" y="0"/>
            <a:chExt cx="2891765" cy="247081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891790" cy="2470785"/>
            </a:xfrm>
            <a:custGeom>
              <a:avLst/>
              <a:gdLst/>
              <a:ahLst/>
              <a:cxnLst/>
              <a:rect r="r" b="b" t="t" l="l"/>
              <a:pathLst>
                <a:path h="2470785" w="289179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708783" y="0"/>
                  </a:lnTo>
                  <a:cubicBezTo>
                    <a:pt x="2809875" y="0"/>
                    <a:pt x="2891790" y="81915"/>
                    <a:pt x="2891790" y="183007"/>
                  </a:cubicBezTo>
                  <a:lnTo>
                    <a:pt x="2891790" y="2287778"/>
                  </a:lnTo>
                  <a:cubicBezTo>
                    <a:pt x="2891790" y="2388870"/>
                    <a:pt x="2809875" y="2470785"/>
                    <a:pt x="2708783" y="2470785"/>
                  </a:cubicBezTo>
                  <a:lnTo>
                    <a:pt x="183007" y="2470785"/>
                  </a:lnTo>
                  <a:cubicBezTo>
                    <a:pt x="81915" y="2470785"/>
                    <a:pt x="0" y="2388870"/>
                    <a:pt x="0" y="2287778"/>
                  </a:cubicBezTo>
                  <a:close/>
                </a:path>
              </a:pathLst>
            </a:custGeom>
            <a:solidFill>
              <a:srgbClr val="C6941C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491323" y="4049823"/>
            <a:ext cx="2168823" cy="823608"/>
            <a:chOff x="0" y="0"/>
            <a:chExt cx="2891765" cy="109814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891763" cy="1098138"/>
            </a:xfrm>
            <a:custGeom>
              <a:avLst/>
              <a:gdLst/>
              <a:ahLst/>
              <a:cxnLst/>
              <a:rect r="r" b="b" t="t" l="l"/>
              <a:pathLst>
                <a:path h="1098138" w="2891763">
                  <a:moveTo>
                    <a:pt x="0" y="0"/>
                  </a:moveTo>
                  <a:lnTo>
                    <a:pt x="2891763" y="0"/>
                  </a:lnTo>
                  <a:lnTo>
                    <a:pt x="2891763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10" r="0" b="-131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891765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HAVING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491323" y="4900882"/>
            <a:ext cx="2168823" cy="617706"/>
            <a:chOff x="0" y="0"/>
            <a:chExt cx="2891765" cy="82360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891763" cy="823603"/>
            </a:xfrm>
            <a:custGeom>
              <a:avLst/>
              <a:gdLst/>
              <a:ahLst/>
              <a:cxnLst/>
              <a:rect r="r" b="b" t="t" l="l"/>
              <a:pathLst>
                <a:path h="823603" w="2891763">
                  <a:moveTo>
                    <a:pt x="0" y="0"/>
                  </a:moveTo>
                  <a:lnTo>
                    <a:pt x="2891763" y="0"/>
                  </a:lnTo>
                  <a:lnTo>
                    <a:pt x="28917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413" r="0" b="-1841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2891765" cy="842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3.3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4660137" y="3871372"/>
            <a:ext cx="137265" cy="1853108"/>
            <a:chOff x="0" y="0"/>
            <a:chExt cx="183020" cy="247081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3023" cy="2470810"/>
            </a:xfrm>
            <a:custGeom>
              <a:avLst/>
              <a:gdLst/>
              <a:ahLst/>
              <a:cxnLst/>
              <a:rect r="r" b="b" t="t" l="l"/>
              <a:pathLst>
                <a:path h="2470810" w="183023">
                  <a:moveTo>
                    <a:pt x="0" y="0"/>
                  </a:moveTo>
                  <a:lnTo>
                    <a:pt x="183023" y="0"/>
                  </a:lnTo>
                  <a:lnTo>
                    <a:pt x="183023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682099" t="0" r="-1682097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183020" cy="2489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b="true" sz="180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4797411" y="3871372"/>
            <a:ext cx="2168823" cy="1853108"/>
            <a:chOff x="0" y="0"/>
            <a:chExt cx="2891765" cy="247081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891790" cy="2470785"/>
            </a:xfrm>
            <a:custGeom>
              <a:avLst/>
              <a:gdLst/>
              <a:ahLst/>
              <a:cxnLst/>
              <a:rect r="r" b="b" t="t" l="l"/>
              <a:pathLst>
                <a:path h="2470785" w="289179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708783" y="0"/>
                  </a:lnTo>
                  <a:cubicBezTo>
                    <a:pt x="2809875" y="0"/>
                    <a:pt x="2891790" y="81915"/>
                    <a:pt x="2891790" y="183007"/>
                  </a:cubicBezTo>
                  <a:lnTo>
                    <a:pt x="2891790" y="2287778"/>
                  </a:lnTo>
                  <a:cubicBezTo>
                    <a:pt x="2891790" y="2388870"/>
                    <a:pt x="2809875" y="2470785"/>
                    <a:pt x="2708783" y="2470785"/>
                  </a:cubicBezTo>
                  <a:lnTo>
                    <a:pt x="183007" y="2470785"/>
                  </a:lnTo>
                  <a:cubicBezTo>
                    <a:pt x="81915" y="2470785"/>
                    <a:pt x="0" y="2388870"/>
                    <a:pt x="0" y="2287778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4797411" y="4049823"/>
            <a:ext cx="2168823" cy="823608"/>
            <a:chOff x="0" y="0"/>
            <a:chExt cx="2891765" cy="109814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891763" cy="1098138"/>
            </a:xfrm>
            <a:custGeom>
              <a:avLst/>
              <a:gdLst/>
              <a:ahLst/>
              <a:cxnLst/>
              <a:rect r="r" b="b" t="t" l="l"/>
              <a:pathLst>
                <a:path h="1098138" w="2891763">
                  <a:moveTo>
                    <a:pt x="0" y="0"/>
                  </a:moveTo>
                  <a:lnTo>
                    <a:pt x="2891763" y="0"/>
                  </a:lnTo>
                  <a:lnTo>
                    <a:pt x="2891763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10" r="0" b="-131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2891765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ORDER BY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4797411" y="4900882"/>
            <a:ext cx="2168823" cy="617706"/>
            <a:chOff x="0" y="0"/>
            <a:chExt cx="2891765" cy="82360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891763" cy="823603"/>
            </a:xfrm>
            <a:custGeom>
              <a:avLst/>
              <a:gdLst/>
              <a:ahLst/>
              <a:cxnLst/>
              <a:rect r="r" b="b" t="t" l="l"/>
              <a:pathLst>
                <a:path h="823603" w="2891763">
                  <a:moveTo>
                    <a:pt x="0" y="0"/>
                  </a:moveTo>
                  <a:lnTo>
                    <a:pt x="2891763" y="0"/>
                  </a:lnTo>
                  <a:lnTo>
                    <a:pt x="28917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413" r="0" b="-1841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2891765" cy="842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3.2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60872" y="6410823"/>
            <a:ext cx="16334804" cy="3019882"/>
            <a:chOff x="0" y="0"/>
            <a:chExt cx="21779738" cy="402651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779612" cy="4026408"/>
            </a:xfrm>
            <a:custGeom>
              <a:avLst/>
              <a:gdLst/>
              <a:ahLst/>
              <a:cxnLst/>
              <a:rect r="r" b="b" t="t" l="l"/>
              <a:pathLst>
                <a:path h="4026408" w="21779612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21560028" y="0"/>
                  </a:lnTo>
                  <a:cubicBezTo>
                    <a:pt x="21681314" y="0"/>
                    <a:pt x="21779612" y="98298"/>
                    <a:pt x="21779612" y="219583"/>
                  </a:cubicBezTo>
                  <a:lnTo>
                    <a:pt x="21779612" y="3806825"/>
                  </a:lnTo>
                  <a:cubicBezTo>
                    <a:pt x="21779612" y="3928110"/>
                    <a:pt x="21681314" y="4026408"/>
                    <a:pt x="21560028" y="4026408"/>
                  </a:cubicBezTo>
                  <a:lnTo>
                    <a:pt x="219583" y="4026408"/>
                  </a:lnTo>
                  <a:cubicBezTo>
                    <a:pt x="98298" y="4026535"/>
                    <a:pt x="0" y="3928110"/>
                    <a:pt x="0" y="3806825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72676" y="6657901"/>
            <a:ext cx="15511196" cy="480431"/>
            <a:chOff x="0" y="0"/>
            <a:chExt cx="20681594" cy="64057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0681598" cy="640580"/>
            </a:xfrm>
            <a:custGeom>
              <a:avLst/>
              <a:gdLst/>
              <a:ahLst/>
              <a:cxnLst/>
              <a:rect r="r" b="b" t="t" l="l"/>
              <a:pathLst>
                <a:path h="640580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9088" r="0" b="-57908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20681594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C694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What's actually new today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1372676" y="7108643"/>
            <a:ext cx="15511196" cy="211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46" indent="-183523" lvl="1">
              <a:lnSpc>
                <a:spcPts val="2869"/>
              </a:lnSpc>
              <a:buFont typeface="Arial"/>
              <a:buChar char="•"/>
            </a:pPr>
            <a:r>
              <a:rPr lang="en-US" sz="202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Not a clause. Not a function. Not a join type.</a:t>
            </a:r>
          </a:p>
          <a:p>
            <a:pPr algn="l" marL="367046" indent="-183523" lvl="1">
              <a:lnSpc>
                <a:spcPts val="2869"/>
              </a:lnSpc>
              <a:buFont typeface="Arial"/>
              <a:buChar char="•"/>
            </a:pPr>
            <a:r>
              <a:rPr lang="en-US" sz="202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The new skill is deciding whether someone else's query — AI's — uses this skeleton correctly, before you trust its answer.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387368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WORKED EXAMP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 · PART 1 OF 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9165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723196"/>
            <a:ext cx="13040392" cy="71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2"/>
              </a:lnSpc>
            </a:pPr>
            <a:r>
              <a:rPr lang="en-US" sz="43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Auditing Damilola's query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2776204"/>
            <a:ext cx="16353863" cy="1323108"/>
            <a:chOff x="0" y="0"/>
            <a:chExt cx="21805151" cy="1764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05137" cy="1764157"/>
            </a:xfrm>
            <a:custGeom>
              <a:avLst/>
              <a:gdLst/>
              <a:ahLst/>
              <a:cxnLst/>
              <a:rect r="r" b="b" t="t" l="l"/>
              <a:pathLst>
                <a:path h="1764157" w="21805137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21619463" y="0"/>
                  </a:lnTo>
                  <a:cubicBezTo>
                    <a:pt x="21722079" y="0"/>
                    <a:pt x="21805137" y="83185"/>
                    <a:pt x="21805137" y="185674"/>
                  </a:cubicBezTo>
                  <a:lnTo>
                    <a:pt x="21805137" y="1578483"/>
                  </a:lnTo>
                  <a:cubicBezTo>
                    <a:pt x="21805137" y="1681099"/>
                    <a:pt x="21721953" y="1764157"/>
                    <a:pt x="21619463" y="1764157"/>
                  </a:cubicBezTo>
                  <a:lnTo>
                    <a:pt x="185674" y="1764157"/>
                  </a:lnTo>
                  <a:cubicBezTo>
                    <a:pt x="83185" y="1764157"/>
                    <a:pt x="0" y="1680972"/>
                    <a:pt x="0" y="1578483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2676" y="2923003"/>
            <a:ext cx="15511196" cy="1029500"/>
            <a:chOff x="0" y="0"/>
            <a:chExt cx="20681594" cy="13726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81598" cy="1372672"/>
            </a:xfrm>
            <a:custGeom>
              <a:avLst/>
              <a:gdLst/>
              <a:ahLst/>
              <a:cxnLst/>
              <a:rect r="r" b="b" t="t" l="l"/>
              <a:pathLst>
                <a:path h="1372672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3574" r="0" b="-2435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0681594" cy="1401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Business question: </a:t>
              </a:r>
              <a:r>
                <a:rPr lang="en-US" sz="2176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“How many unique customers ordered something in Q1 2026?”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872" y="4419209"/>
            <a:ext cx="61770" cy="439255"/>
            <a:chOff x="0" y="0"/>
            <a:chExt cx="82360" cy="5856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423" cy="585724"/>
            </a:xfrm>
            <a:custGeom>
              <a:avLst/>
              <a:gdLst/>
              <a:ahLst/>
              <a:cxnLst/>
              <a:rect r="r" b="b" t="t" l="l"/>
              <a:pathLst>
                <a:path h="585724" w="82423">
                  <a:moveTo>
                    <a:pt x="0" y="0"/>
                  </a:moveTo>
                  <a:lnTo>
                    <a:pt x="82423" y="0"/>
                  </a:lnTo>
                  <a:lnTo>
                    <a:pt x="82423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4364307"/>
            <a:ext cx="16087725" cy="439255"/>
            <a:chOff x="0" y="0"/>
            <a:chExt cx="21450300" cy="5856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450294" cy="585674"/>
            </a:xfrm>
            <a:custGeom>
              <a:avLst/>
              <a:gdLst/>
              <a:ahLst/>
              <a:cxnLst/>
              <a:rect r="r" b="b" t="t" l="l"/>
              <a:pathLst>
                <a:path h="585674" w="21450294">
                  <a:moveTo>
                    <a:pt x="0" y="0"/>
                  </a:moveTo>
                  <a:lnTo>
                    <a:pt x="21450294" y="0"/>
                  </a:lnTo>
                  <a:lnTo>
                    <a:pt x="2145029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3639" r="0" b="-66363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1450300" cy="614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prompt Damilola actually used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872" y="4913376"/>
            <a:ext cx="16334804" cy="1166774"/>
            <a:chOff x="0" y="0"/>
            <a:chExt cx="21779738" cy="155569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79739" cy="1555750"/>
            </a:xfrm>
            <a:custGeom>
              <a:avLst/>
              <a:gdLst/>
              <a:ahLst/>
              <a:cxnLst/>
              <a:rect r="r" b="b" t="t" l="l"/>
              <a:pathLst>
                <a:path h="1555750" w="21779739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21633307" y="0"/>
                  </a:lnTo>
                  <a:cubicBezTo>
                    <a:pt x="21714206" y="0"/>
                    <a:pt x="21779739" y="65532"/>
                    <a:pt x="21779739" y="146431"/>
                  </a:cubicBezTo>
                  <a:lnTo>
                    <a:pt x="21779739" y="1409319"/>
                  </a:lnTo>
                  <a:cubicBezTo>
                    <a:pt x="21779739" y="1490218"/>
                    <a:pt x="21714206" y="1555750"/>
                    <a:pt x="21633307" y="1555750"/>
                  </a:cubicBezTo>
                  <a:lnTo>
                    <a:pt x="146431" y="1555750"/>
                  </a:lnTo>
                  <a:cubicBezTo>
                    <a:pt x="65532" y="1555750"/>
                    <a:pt x="0" y="1490091"/>
                    <a:pt x="0" y="1409319"/>
                  </a:cubicBez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72676" y="4913376"/>
            <a:ext cx="15511196" cy="1166774"/>
            <a:chOff x="0" y="0"/>
            <a:chExt cx="20681594" cy="15556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681598" cy="1555695"/>
            </a:xfrm>
            <a:custGeom>
              <a:avLst/>
              <a:gdLst/>
              <a:ahLst/>
              <a:cxnLst/>
              <a:rect r="r" b="b" t="t" l="l"/>
              <a:pathLst>
                <a:path h="155569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20681594" cy="16223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0"/>
                </a:lnSpc>
              </a:pPr>
              <a:r>
                <a:rPr lang="en-US" sz="1951" i="true">
                  <a:solidFill>
                    <a:srgbClr val="1B40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“Write a SQL query to count how many customers ordered something in the first quarter of 2026, using our customers and orders tables.”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0872" y="6409592"/>
            <a:ext cx="61770" cy="439255"/>
            <a:chOff x="0" y="0"/>
            <a:chExt cx="82360" cy="5856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423" cy="585724"/>
            </a:xfrm>
            <a:custGeom>
              <a:avLst/>
              <a:gdLst/>
              <a:ahLst/>
              <a:cxnLst/>
              <a:rect r="r" b="b" t="t" l="l"/>
              <a:pathLst>
                <a:path h="585724" w="82423">
                  <a:moveTo>
                    <a:pt x="0" y="0"/>
                  </a:moveTo>
                  <a:lnTo>
                    <a:pt x="82423" y="0"/>
                  </a:lnTo>
                  <a:lnTo>
                    <a:pt x="82423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07951" y="6354680"/>
            <a:ext cx="16087725" cy="439255"/>
            <a:chOff x="0" y="0"/>
            <a:chExt cx="21450300" cy="58567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450294" cy="585674"/>
            </a:xfrm>
            <a:custGeom>
              <a:avLst/>
              <a:gdLst/>
              <a:ahLst/>
              <a:cxnLst/>
              <a:rect r="r" b="b" t="t" l="l"/>
              <a:pathLst>
                <a:path h="585674" w="21450294">
                  <a:moveTo>
                    <a:pt x="0" y="0"/>
                  </a:moveTo>
                  <a:lnTo>
                    <a:pt x="21450294" y="0"/>
                  </a:lnTo>
                  <a:lnTo>
                    <a:pt x="2145029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3639" r="0" b="-66363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21450300" cy="614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the AI wrote back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0872" y="6903749"/>
            <a:ext cx="16334804" cy="2402176"/>
            <a:chOff x="0" y="0"/>
            <a:chExt cx="21779738" cy="320290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779739" cy="3202940"/>
            </a:xfrm>
            <a:custGeom>
              <a:avLst/>
              <a:gdLst/>
              <a:ahLst/>
              <a:cxnLst/>
              <a:rect r="r" b="b" t="t" l="l"/>
              <a:pathLst>
                <a:path h="3202940" w="2177973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1615019" y="0"/>
                  </a:lnTo>
                  <a:cubicBezTo>
                    <a:pt x="21705951" y="0"/>
                    <a:pt x="21779739" y="73787"/>
                    <a:pt x="21779739" y="164719"/>
                  </a:cubicBezTo>
                  <a:lnTo>
                    <a:pt x="21779739" y="3038221"/>
                  </a:lnTo>
                  <a:cubicBezTo>
                    <a:pt x="21779739" y="3129153"/>
                    <a:pt x="21705951" y="3202940"/>
                    <a:pt x="21615019" y="3202940"/>
                  </a:cubicBezTo>
                  <a:lnTo>
                    <a:pt x="164719" y="3202940"/>
                  </a:lnTo>
                  <a:cubicBezTo>
                    <a:pt x="73787" y="3202940"/>
                    <a:pt x="0" y="3129153"/>
                    <a:pt x="0" y="3038221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45216" y="7092563"/>
            <a:ext cx="15566107" cy="193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SELECT</a:t>
            </a:r>
            <a:r>
              <a:rPr lang="en-US" sz="18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COUNT</a:t>
            </a:r>
            <a:r>
              <a:rPr lang="en-US" sz="18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(*) </a:t>
            </a:r>
            <a:r>
              <a:rPr lang="en-US" sz="18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AS</a:t>
            </a:r>
            <a:r>
              <a:rPr lang="en-US" sz="18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customer_count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8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customers c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JOIN</a:t>
            </a:r>
            <a:r>
              <a:rPr lang="en-US" sz="18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orders o </a:t>
            </a:r>
            <a:r>
              <a:rPr lang="en-US" sz="18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ON</a:t>
            </a:r>
            <a:r>
              <a:rPr lang="en-US" sz="18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c.customer_id = o.customer_id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WHERE</a:t>
            </a:r>
            <a:r>
              <a:rPr lang="en-US" sz="18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o.order_date </a:t>
            </a:r>
            <a:r>
              <a:rPr lang="en-US" sz="18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&gt;=</a:t>
            </a:r>
            <a:r>
              <a:rPr lang="en-US" sz="18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'2026-01-01' </a:t>
            </a:r>
            <a:r>
              <a:rPr lang="en-US" sz="18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AND</a:t>
            </a:r>
            <a:r>
              <a:rPr lang="en-US" sz="18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o.order_date </a:t>
            </a:r>
            <a:r>
              <a:rPr lang="en-US" sz="18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&lt;=</a:t>
            </a:r>
            <a:r>
              <a:rPr lang="en-US" sz="18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'2026-03-31';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549257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WORKED EXAMP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 · PART 2 OF 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29640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962150"/>
            <a:ext cx="13040392" cy="691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6"/>
              </a:lnSpc>
            </a:pPr>
            <a:r>
              <a:rPr lang="en-US" sz="42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Predicting, catching the bug, and fixing it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3070894"/>
            <a:ext cx="61770" cy="411804"/>
            <a:chOff x="0" y="0"/>
            <a:chExt cx="82360" cy="549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423" cy="549021"/>
            </a:xfrm>
            <a:custGeom>
              <a:avLst/>
              <a:gdLst/>
              <a:ahLst/>
              <a:cxnLst/>
              <a:rect r="r" b="b" t="t" l="l"/>
              <a:pathLst>
                <a:path h="549021" w="82423">
                  <a:moveTo>
                    <a:pt x="0" y="0"/>
                  </a:moveTo>
                  <a:lnTo>
                    <a:pt x="82423" y="0"/>
                  </a:lnTo>
                  <a:lnTo>
                    <a:pt x="82423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07951" y="3015982"/>
            <a:ext cx="7439882" cy="411804"/>
            <a:chOff x="0" y="0"/>
            <a:chExt cx="9919843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19846" cy="549069"/>
            </a:xfrm>
            <a:custGeom>
              <a:avLst/>
              <a:gdLst/>
              <a:ahLst/>
              <a:cxnLst/>
              <a:rect r="r" b="b" t="t" l="l"/>
              <a:pathLst>
                <a:path h="549069" w="9919846">
                  <a:moveTo>
                    <a:pt x="0" y="0"/>
                  </a:moveTo>
                  <a:lnTo>
                    <a:pt x="9919846" y="0"/>
                  </a:lnTo>
                  <a:lnTo>
                    <a:pt x="99198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2029" r="0" b="-3020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919843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 1 — predict first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872" y="3496423"/>
            <a:ext cx="7686961" cy="1509941"/>
            <a:chOff x="0" y="0"/>
            <a:chExt cx="10249281" cy="20132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9288" cy="2013253"/>
            </a:xfrm>
            <a:custGeom>
              <a:avLst/>
              <a:gdLst/>
              <a:ahLst/>
              <a:cxnLst/>
              <a:rect r="r" b="b" t="t" l="l"/>
              <a:pathLst>
                <a:path h="2013253" w="10249288">
                  <a:moveTo>
                    <a:pt x="0" y="0"/>
                  </a:moveTo>
                  <a:lnTo>
                    <a:pt x="10249288" y="0"/>
                  </a:lnTo>
                  <a:lnTo>
                    <a:pt x="10249288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249281" cy="2079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7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From the 3.4 dataset: Chidinma (2 orders, Jan+Feb) and Aisha (1 order, March) ordered in Q1. That's 2 unique customers — the expected answer.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872" y="5198531"/>
            <a:ext cx="61770" cy="411804"/>
            <a:chOff x="0" y="0"/>
            <a:chExt cx="82360" cy="5490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423" cy="549021"/>
            </a:xfrm>
            <a:custGeom>
              <a:avLst/>
              <a:gdLst/>
              <a:ahLst/>
              <a:cxnLst/>
              <a:rect r="r" b="b" t="t" l="l"/>
              <a:pathLst>
                <a:path h="549021" w="82423">
                  <a:moveTo>
                    <a:pt x="0" y="0"/>
                  </a:moveTo>
                  <a:lnTo>
                    <a:pt x="82423" y="0"/>
                  </a:lnTo>
                  <a:lnTo>
                    <a:pt x="82423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7951" y="5143629"/>
            <a:ext cx="7439882" cy="411804"/>
            <a:chOff x="0" y="0"/>
            <a:chExt cx="9919843" cy="5490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19846" cy="549069"/>
            </a:xfrm>
            <a:custGeom>
              <a:avLst/>
              <a:gdLst/>
              <a:ahLst/>
              <a:cxnLst/>
              <a:rect r="r" b="b" t="t" l="l"/>
              <a:pathLst>
                <a:path h="549069" w="9919846">
                  <a:moveTo>
                    <a:pt x="0" y="0"/>
                  </a:moveTo>
                  <a:lnTo>
                    <a:pt x="9919846" y="0"/>
                  </a:lnTo>
                  <a:lnTo>
                    <a:pt x="99198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2029" r="0" b="-30202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9919843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 2 — run it. Mismatch.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1338" y="5614526"/>
            <a:ext cx="7706030" cy="1062295"/>
            <a:chOff x="0" y="0"/>
            <a:chExt cx="10274706" cy="14163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74808" cy="1416558"/>
            </a:xfrm>
            <a:custGeom>
              <a:avLst/>
              <a:gdLst/>
              <a:ahLst/>
              <a:cxnLst/>
              <a:rect r="r" b="b" t="t" l="l"/>
              <a:pathLst>
                <a:path h="1416558" w="10274808">
                  <a:moveTo>
                    <a:pt x="0" y="111887"/>
                  </a:moveTo>
                  <a:cubicBezTo>
                    <a:pt x="0" y="50038"/>
                    <a:pt x="50038" y="0"/>
                    <a:pt x="111887" y="0"/>
                  </a:cubicBezTo>
                  <a:lnTo>
                    <a:pt x="10162921" y="0"/>
                  </a:lnTo>
                  <a:cubicBezTo>
                    <a:pt x="10224643" y="0"/>
                    <a:pt x="10274808" y="50038"/>
                    <a:pt x="10274808" y="111887"/>
                  </a:cubicBezTo>
                  <a:lnTo>
                    <a:pt x="10274808" y="1304671"/>
                  </a:lnTo>
                  <a:cubicBezTo>
                    <a:pt x="10274808" y="1366393"/>
                    <a:pt x="10224770" y="1416558"/>
                    <a:pt x="10162921" y="1416558"/>
                  </a:cubicBezTo>
                  <a:lnTo>
                    <a:pt x="111887" y="1416558"/>
                  </a:lnTo>
                  <a:cubicBezTo>
                    <a:pt x="50165" y="1416558"/>
                    <a:pt x="0" y="1366520"/>
                    <a:pt x="0" y="130467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60872" y="5624061"/>
            <a:ext cx="7686961" cy="494167"/>
            <a:chOff x="0" y="0"/>
            <a:chExt cx="10249281" cy="6588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49281" cy="658876"/>
            </a:xfrm>
            <a:custGeom>
              <a:avLst/>
              <a:gdLst/>
              <a:ahLst/>
              <a:cxnLst/>
              <a:rect r="r" b="b" t="t" l="l"/>
              <a:pathLst>
                <a:path h="658876" w="10249281">
                  <a:moveTo>
                    <a:pt x="0" y="0"/>
                  </a:moveTo>
                  <a:lnTo>
                    <a:pt x="10249281" y="0"/>
                  </a:lnTo>
                  <a:lnTo>
                    <a:pt x="10249281" y="658876"/>
                  </a:lnTo>
                  <a:lnTo>
                    <a:pt x="0" y="658876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25588" y="5624061"/>
            <a:ext cx="7412431" cy="494167"/>
            <a:chOff x="0" y="0"/>
            <a:chExt cx="9883242" cy="6588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883241" cy="658883"/>
            </a:xfrm>
            <a:custGeom>
              <a:avLst/>
              <a:gdLst/>
              <a:ahLst/>
              <a:cxnLst/>
              <a:rect r="r" b="b" t="t" l="l"/>
              <a:pathLst>
                <a:path h="658883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2275" r="0" b="-24227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988324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customer_count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25588" y="6118227"/>
            <a:ext cx="7412431" cy="549069"/>
            <a:chOff x="0" y="0"/>
            <a:chExt cx="9883242" cy="7320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883241" cy="732092"/>
            </a:xfrm>
            <a:custGeom>
              <a:avLst/>
              <a:gdLst/>
              <a:ahLst/>
              <a:cxnLst/>
              <a:rect r="r" b="b" t="t" l="l"/>
              <a:pathLst>
                <a:path h="732092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3048" r="0" b="-21304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883242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0872" y="6722198"/>
            <a:ext cx="7686961" cy="823608"/>
            <a:chOff x="0" y="0"/>
            <a:chExt cx="10249281" cy="10981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928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249288">
                  <a:moveTo>
                    <a:pt x="0" y="0"/>
                  </a:moveTo>
                  <a:lnTo>
                    <a:pt x="10249288" y="0"/>
                  </a:lnTo>
                  <a:lnTo>
                    <a:pt x="1024928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1859" r="0" b="-13186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249281" cy="1145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1726" i="true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AI's query returns 3, not 2. Something's wrong — time to find it, not to shrug and paste it in.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59637" y="3070894"/>
            <a:ext cx="61770" cy="754971"/>
            <a:chOff x="0" y="0"/>
            <a:chExt cx="82360" cy="100662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423" cy="1006602"/>
            </a:xfrm>
            <a:custGeom>
              <a:avLst/>
              <a:gdLst/>
              <a:ahLst/>
              <a:cxnLst/>
              <a:rect r="r" b="b" t="t" l="l"/>
              <a:pathLst>
                <a:path h="1006602" w="82423">
                  <a:moveTo>
                    <a:pt x="0" y="0"/>
                  </a:moveTo>
                  <a:lnTo>
                    <a:pt x="82423" y="0"/>
                  </a:lnTo>
                  <a:lnTo>
                    <a:pt x="82423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06716" y="3015982"/>
            <a:ext cx="7988951" cy="754971"/>
            <a:chOff x="0" y="0"/>
            <a:chExt cx="10651934" cy="100662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651938" cy="1006626"/>
            </a:xfrm>
            <a:custGeom>
              <a:avLst/>
              <a:gdLst/>
              <a:ahLst/>
              <a:cxnLst/>
              <a:rect r="r" b="b" t="t" l="l"/>
              <a:pathLst>
                <a:path h="1006626" w="10651938">
                  <a:moveTo>
                    <a:pt x="0" y="0"/>
                  </a:moveTo>
                  <a:lnTo>
                    <a:pt x="10651938" y="0"/>
                  </a:lnTo>
                  <a:lnTo>
                    <a:pt x="1065193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6187" r="0" b="-15618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0651934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 3 — find it: COUNT(*), not DISTINCT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059637" y="3839590"/>
            <a:ext cx="8236039" cy="1578569"/>
            <a:chOff x="0" y="0"/>
            <a:chExt cx="10981385" cy="210475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81379" cy="2104764"/>
            </a:xfrm>
            <a:custGeom>
              <a:avLst/>
              <a:gdLst/>
              <a:ahLst/>
              <a:cxnLst/>
              <a:rect r="r" b="b" t="t" l="l"/>
              <a:pathLst>
                <a:path h="2104764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2104764"/>
                  </a:lnTo>
                  <a:lnTo>
                    <a:pt x="0" y="2104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661" r="0" b="-5166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10981385" cy="2171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7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The JOIN produces one row per order, not per customer. Chidinma's 2 orders each add 1 to COUNT(*) — she's counted twice. The prompt never said “unique.”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059637" y="5624061"/>
            <a:ext cx="8236039" cy="2402176"/>
            <a:chOff x="0" y="0"/>
            <a:chExt cx="10981385" cy="320290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81436" cy="3202940"/>
            </a:xfrm>
            <a:custGeom>
              <a:avLst/>
              <a:gdLst/>
              <a:ahLst/>
              <a:cxnLst/>
              <a:rect r="r" b="b" t="t" l="l"/>
              <a:pathLst>
                <a:path h="3202940" w="1098143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816717" y="0"/>
                  </a:lnTo>
                  <a:cubicBezTo>
                    <a:pt x="10907649" y="0"/>
                    <a:pt x="10981436" y="73787"/>
                    <a:pt x="10981436" y="164719"/>
                  </a:cubicBezTo>
                  <a:lnTo>
                    <a:pt x="10981436" y="3038221"/>
                  </a:lnTo>
                  <a:cubicBezTo>
                    <a:pt x="10981436" y="3129153"/>
                    <a:pt x="10907649" y="3202940"/>
                    <a:pt x="10816717" y="3202940"/>
                  </a:cubicBezTo>
                  <a:lnTo>
                    <a:pt x="164719" y="3202940"/>
                  </a:lnTo>
                  <a:cubicBezTo>
                    <a:pt x="73787" y="3202940"/>
                    <a:pt x="0" y="3129153"/>
                    <a:pt x="0" y="3038221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443990" y="5831925"/>
            <a:ext cx="7467333" cy="191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SELECT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COUNT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DISTINCT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c.customer_id) </a:t>
            </a: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AS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customer_count</a:t>
            </a:r>
          </a:p>
          <a:p>
            <a:pPr algn="l">
              <a:lnSpc>
                <a:spcPts val="2553"/>
              </a:lnSpc>
            </a:pP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customers c</a:t>
            </a:r>
          </a:p>
          <a:p>
            <a:pPr algn="l">
              <a:lnSpc>
                <a:spcPts val="2553"/>
              </a:lnSpc>
            </a:pP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JOIN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orders o </a:t>
            </a: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ON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c.customer_id = o.customer_id</a:t>
            </a:r>
          </a:p>
          <a:p>
            <a:pPr algn="l">
              <a:lnSpc>
                <a:spcPts val="2553"/>
              </a:lnSpc>
            </a:pP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WHERE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o.order_date </a:t>
            </a: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BETWEEN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'2026-01-01' </a:t>
            </a: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AND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'2026-03-31';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059637" y="8163502"/>
            <a:ext cx="8236039" cy="549069"/>
            <a:chOff x="0" y="0"/>
            <a:chExt cx="10981385" cy="7320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81379" cy="732092"/>
            </a:xfrm>
            <a:custGeom>
              <a:avLst/>
              <a:gdLst/>
              <a:ahLst/>
              <a:cxnLst/>
              <a:rect r="r" b="b" t="t" l="l"/>
              <a:pathLst>
                <a:path h="732092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0981385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i="true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Fixed: COUNT(DISTINCT c.customer_id) now returns 2, matching the prediction.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39241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GUID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ED PRACTICE · YOUR TURN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9165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735365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Audit a second AI-written query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2852542"/>
            <a:ext cx="16353863" cy="1323108"/>
            <a:chOff x="0" y="0"/>
            <a:chExt cx="21805151" cy="1764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05137" cy="1764157"/>
            </a:xfrm>
            <a:custGeom>
              <a:avLst/>
              <a:gdLst/>
              <a:ahLst/>
              <a:cxnLst/>
              <a:rect r="r" b="b" t="t" l="l"/>
              <a:pathLst>
                <a:path h="1764157" w="21805137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21619463" y="0"/>
                  </a:lnTo>
                  <a:cubicBezTo>
                    <a:pt x="21722079" y="0"/>
                    <a:pt x="21805137" y="83185"/>
                    <a:pt x="21805137" y="185674"/>
                  </a:cubicBezTo>
                  <a:lnTo>
                    <a:pt x="21805137" y="1578483"/>
                  </a:lnTo>
                  <a:cubicBezTo>
                    <a:pt x="21805137" y="1681099"/>
                    <a:pt x="21721953" y="1764157"/>
                    <a:pt x="21619463" y="1764157"/>
                  </a:cubicBezTo>
                  <a:lnTo>
                    <a:pt x="185674" y="1764157"/>
                  </a:lnTo>
                  <a:cubicBezTo>
                    <a:pt x="83185" y="1764157"/>
                    <a:pt x="0" y="1680972"/>
                    <a:pt x="0" y="1578483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2676" y="2999342"/>
            <a:ext cx="15511196" cy="1029500"/>
            <a:chOff x="0" y="0"/>
            <a:chExt cx="20681594" cy="13726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81598" cy="1372672"/>
            </a:xfrm>
            <a:custGeom>
              <a:avLst/>
              <a:gdLst/>
              <a:ahLst/>
              <a:cxnLst/>
              <a:rect r="r" b="b" t="t" l="l"/>
              <a:pathLst>
                <a:path h="1372672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3574" r="0" b="-2435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0681594" cy="1391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Business question: </a:t>
              </a:r>
              <a:r>
                <a:rPr lang="en-US" sz="2026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“List every customer's name with their total number of orders — including customers who haven't ordered yet, shown as 0.”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872" y="4372008"/>
            <a:ext cx="16334804" cy="2127647"/>
            <a:chOff x="0" y="0"/>
            <a:chExt cx="21779738" cy="28368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79739" cy="2836926"/>
            </a:xfrm>
            <a:custGeom>
              <a:avLst/>
              <a:gdLst/>
              <a:ahLst/>
              <a:cxnLst/>
              <a:rect r="r" b="b" t="t" l="l"/>
              <a:pathLst>
                <a:path h="2836926" w="2177973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1615019" y="0"/>
                  </a:lnTo>
                  <a:cubicBezTo>
                    <a:pt x="21705951" y="0"/>
                    <a:pt x="21779739" y="73787"/>
                    <a:pt x="21779739" y="164719"/>
                  </a:cubicBezTo>
                  <a:lnTo>
                    <a:pt x="21779739" y="2672207"/>
                  </a:lnTo>
                  <a:cubicBezTo>
                    <a:pt x="21779739" y="2763139"/>
                    <a:pt x="21705951" y="2836926"/>
                    <a:pt x="21615019" y="2836926"/>
                  </a:cubicBezTo>
                  <a:lnTo>
                    <a:pt x="164719" y="2836926"/>
                  </a:lnTo>
                  <a:cubicBezTo>
                    <a:pt x="73787" y="2836799"/>
                    <a:pt x="0" y="2763139"/>
                    <a:pt x="0" y="2672207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45216" y="4560822"/>
            <a:ext cx="15566107" cy="166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SELECT</a:t>
            </a:r>
            <a:r>
              <a:rPr lang="en-US" sz="18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c.full_name, </a:t>
            </a:r>
            <a:r>
              <a:rPr lang="en-US" sz="18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COUNT</a:t>
            </a:r>
            <a:r>
              <a:rPr lang="en-US" sz="18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(o.order_id) </a:t>
            </a:r>
            <a:r>
              <a:rPr lang="en-US" sz="18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AS</a:t>
            </a:r>
            <a:r>
              <a:rPr lang="en-US" sz="18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order_count</a:t>
            </a:r>
          </a:p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8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customers c</a:t>
            </a:r>
          </a:p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INNER JOIN</a:t>
            </a:r>
            <a:r>
              <a:rPr lang="en-US" sz="18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orders o </a:t>
            </a:r>
            <a:r>
              <a:rPr lang="en-US" sz="18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ON</a:t>
            </a:r>
            <a:r>
              <a:rPr lang="en-US" sz="18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c.customer_id = o.customer_id</a:t>
            </a:r>
          </a:p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GROUP BY</a:t>
            </a:r>
            <a:r>
              <a:rPr lang="en-US" sz="18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c.full_name;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1338" y="6764650"/>
            <a:ext cx="7911932" cy="2558510"/>
            <a:chOff x="0" y="0"/>
            <a:chExt cx="10549242" cy="34113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49128" cy="3411347"/>
            </a:xfrm>
            <a:custGeom>
              <a:avLst/>
              <a:gdLst/>
              <a:ahLst/>
              <a:cxnLst/>
              <a:rect r="r" b="b" t="t" l="l"/>
              <a:pathLst>
                <a:path h="3411347" w="10549128">
                  <a:moveTo>
                    <a:pt x="0" y="221234"/>
                  </a:moveTo>
                  <a:cubicBezTo>
                    <a:pt x="0" y="99060"/>
                    <a:pt x="99060" y="0"/>
                    <a:pt x="221234" y="0"/>
                  </a:cubicBezTo>
                  <a:lnTo>
                    <a:pt x="10327894" y="0"/>
                  </a:lnTo>
                  <a:cubicBezTo>
                    <a:pt x="10450068" y="0"/>
                    <a:pt x="10549128" y="99060"/>
                    <a:pt x="10549128" y="221234"/>
                  </a:cubicBezTo>
                  <a:lnTo>
                    <a:pt x="10549128" y="3190113"/>
                  </a:lnTo>
                  <a:cubicBezTo>
                    <a:pt x="10549128" y="3312287"/>
                    <a:pt x="10450068" y="3411347"/>
                    <a:pt x="10327894" y="3411347"/>
                  </a:cubicBezTo>
                  <a:lnTo>
                    <a:pt x="221234" y="3411347"/>
                  </a:lnTo>
                  <a:cubicBezTo>
                    <a:pt x="99060" y="3411347"/>
                    <a:pt x="0" y="3312287"/>
                    <a:pt x="0" y="319011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72676" y="6980087"/>
            <a:ext cx="7069264" cy="480431"/>
            <a:chOff x="0" y="0"/>
            <a:chExt cx="9425686" cy="6405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9425686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Your task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72676" y="7403368"/>
            <a:ext cx="7069264" cy="184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Predict how many rows the correct answer should have.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Run the checklist from concept 4 on this query.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Find the bug, fix it, and re-verify.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402804" y="6774185"/>
            <a:ext cx="7892863" cy="2539441"/>
            <a:chOff x="0" y="0"/>
            <a:chExt cx="10523817" cy="33859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23855" cy="3385947"/>
            </a:xfrm>
            <a:custGeom>
              <a:avLst/>
              <a:gdLst/>
              <a:ahLst/>
              <a:cxnLst/>
              <a:rect r="r" b="b" t="t" l="l"/>
              <a:pathLst>
                <a:path h="3385947" w="10523855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304272" y="0"/>
                  </a:lnTo>
                  <a:cubicBezTo>
                    <a:pt x="10425557" y="0"/>
                    <a:pt x="10523855" y="98298"/>
                    <a:pt x="10523855" y="219583"/>
                  </a:cubicBezTo>
                  <a:lnTo>
                    <a:pt x="10523855" y="3166364"/>
                  </a:lnTo>
                  <a:cubicBezTo>
                    <a:pt x="10523855" y="3287649"/>
                    <a:pt x="10425557" y="3385947"/>
                    <a:pt x="10304272" y="3385947"/>
                  </a:cubicBezTo>
                  <a:lnTo>
                    <a:pt x="219583" y="3385947"/>
                  </a:lnTo>
                  <a:cubicBezTo>
                    <a:pt x="98298" y="3385947"/>
                    <a:pt x="0" y="3287649"/>
                    <a:pt x="0" y="3166364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14608" y="6980087"/>
            <a:ext cx="7069264" cy="480431"/>
            <a:chOff x="0" y="0"/>
            <a:chExt cx="9425686" cy="6405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9425686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C694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Hint, if stuck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14608" y="7460518"/>
            <a:ext cx="7069264" cy="1784471"/>
            <a:chOff x="0" y="0"/>
            <a:chExt cx="9425686" cy="23792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425684" cy="2379299"/>
            </a:xfrm>
            <a:custGeom>
              <a:avLst/>
              <a:gdLst/>
              <a:ahLst/>
              <a:cxnLst/>
              <a:rect r="r" b="b" t="t" l="l"/>
              <a:pathLst>
                <a:path h="2379299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2379299"/>
                  </a:lnTo>
                  <a:lnTo>
                    <a:pt x="0" y="237929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7190" r="0" b="-2719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9425686" cy="2445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7"/>
                </a:lnSpc>
              </a:pPr>
              <a:r>
                <a:rPr lang="en-US" sz="1801" i="true">
                  <a:solidFill>
                    <a:srgbClr val="E7F0EE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The dataset from 3.4 had 5 customers, 2 of whom (Tunde, Ngozi) had never ordered. What should the row count be — and does this query's join type deliver that?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8953615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GUID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ED PRACTICE · SOLUTION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691383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874968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INNER JOIN was silently dropping customers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6575" y="3019606"/>
            <a:ext cx="7921466" cy="4558417"/>
            <a:chOff x="0" y="0"/>
            <a:chExt cx="10561955" cy="60778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61955" cy="6077839"/>
            </a:xfrm>
            <a:custGeom>
              <a:avLst/>
              <a:gdLst/>
              <a:ahLst/>
              <a:cxnLst/>
              <a:rect r="r" b="b" t="t" l="l"/>
              <a:pathLst>
                <a:path h="6077839" w="10561955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10340975" y="0"/>
                  </a:lnTo>
                  <a:cubicBezTo>
                    <a:pt x="10463022" y="0"/>
                    <a:pt x="10561955" y="98933"/>
                    <a:pt x="10561955" y="220980"/>
                  </a:cubicBezTo>
                  <a:lnTo>
                    <a:pt x="10561955" y="5856859"/>
                  </a:lnTo>
                  <a:cubicBezTo>
                    <a:pt x="10561955" y="5978906"/>
                    <a:pt x="10463022" y="6077839"/>
                    <a:pt x="10340975" y="6077839"/>
                  </a:cubicBezTo>
                  <a:lnTo>
                    <a:pt x="220980" y="6077839"/>
                  </a:lnTo>
                  <a:cubicBezTo>
                    <a:pt x="98933" y="6077839"/>
                    <a:pt x="0" y="5978906"/>
                    <a:pt x="0" y="5856859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C0453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2676" y="3377070"/>
            <a:ext cx="2951245" cy="617706"/>
            <a:chOff x="0" y="0"/>
            <a:chExt cx="3934993" cy="8236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35095" cy="823722"/>
            </a:xfrm>
            <a:custGeom>
              <a:avLst/>
              <a:gdLst/>
              <a:ahLst/>
              <a:cxnLst/>
              <a:rect r="r" b="b" t="t" l="l"/>
              <a:pathLst>
                <a:path h="823722" w="3935095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3523234" y="0"/>
                  </a:lnTo>
                  <a:cubicBezTo>
                    <a:pt x="3750691" y="0"/>
                    <a:pt x="3935095" y="184404"/>
                    <a:pt x="3935095" y="411861"/>
                  </a:cubicBezTo>
                  <a:cubicBezTo>
                    <a:pt x="3935095" y="639318"/>
                    <a:pt x="3750691" y="823722"/>
                    <a:pt x="3523234" y="823722"/>
                  </a:cubicBezTo>
                  <a:lnTo>
                    <a:pt x="411861" y="823722"/>
                  </a:lnTo>
                  <a:cubicBezTo>
                    <a:pt x="184404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F7E1D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2676" y="3377070"/>
            <a:ext cx="2951245" cy="617706"/>
            <a:chOff x="0" y="0"/>
            <a:chExt cx="3934993" cy="8236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34994" cy="823603"/>
            </a:xfrm>
            <a:custGeom>
              <a:avLst/>
              <a:gdLst/>
              <a:ahLst/>
              <a:cxnLst/>
              <a:rect r="r" b="b" t="t" l="l"/>
              <a:pathLst>
                <a:path h="823603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3094" r="0" b="-430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3934993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9E2B2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✗  AI's version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2676" y="4132040"/>
            <a:ext cx="7069264" cy="1304039"/>
            <a:chOff x="0" y="0"/>
            <a:chExt cx="9425686" cy="17387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25686" cy="1738757"/>
            </a:xfrm>
            <a:custGeom>
              <a:avLst/>
              <a:gdLst/>
              <a:ahLst/>
              <a:cxnLst/>
              <a:rect r="r" b="b" t="t" l="l"/>
              <a:pathLst>
                <a:path h="1738757" w="942568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260967" y="0"/>
                  </a:lnTo>
                  <a:cubicBezTo>
                    <a:pt x="9351899" y="0"/>
                    <a:pt x="9425686" y="73787"/>
                    <a:pt x="9425686" y="164719"/>
                  </a:cubicBezTo>
                  <a:lnTo>
                    <a:pt x="9425686" y="1574038"/>
                  </a:lnTo>
                  <a:cubicBezTo>
                    <a:pt x="9425686" y="1664970"/>
                    <a:pt x="9351899" y="1738757"/>
                    <a:pt x="9260967" y="1738757"/>
                  </a:cubicBezTo>
                  <a:lnTo>
                    <a:pt x="164719" y="1738757"/>
                  </a:lnTo>
                  <a:cubicBezTo>
                    <a:pt x="73787" y="1738757"/>
                    <a:pt x="0" y="1664970"/>
                    <a:pt x="0" y="1574038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757020" y="4330379"/>
            <a:ext cx="6300568" cy="83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165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INNER JOIN</a:t>
            </a:r>
            <a:r>
              <a:rPr lang="en-US" sz="165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orders o</a:t>
            </a:r>
          </a:p>
          <a:p>
            <a:pPr algn="l">
              <a:lnSpc>
                <a:spcPts val="2675"/>
              </a:lnSpc>
            </a:pPr>
            <a:r>
              <a:rPr lang="en-US" sz="165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65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ON</a:t>
            </a:r>
            <a:r>
              <a:rPr lang="en-US" sz="165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c.customer_id = o.customer_id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72676" y="5641981"/>
            <a:ext cx="7069264" cy="1715843"/>
            <a:chOff x="0" y="0"/>
            <a:chExt cx="9425686" cy="22877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25684" cy="2287787"/>
            </a:xfrm>
            <a:custGeom>
              <a:avLst/>
              <a:gdLst/>
              <a:ahLst/>
              <a:cxnLst/>
              <a:rect r="r" b="b" t="t" l="l"/>
              <a:pathLst>
                <a:path h="2287787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2287787"/>
                  </a:lnTo>
                  <a:lnTo>
                    <a:pt x="0" y="22877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278" r="0" b="-3027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9425686" cy="2363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Predicted 5 rows (one per customer). Got 3 — Tunde and Ngozi vanished because INNER JOIN drops customers with no matching order.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02804" y="3033903"/>
            <a:ext cx="7892863" cy="4529823"/>
            <a:chOff x="0" y="0"/>
            <a:chExt cx="10523817" cy="60397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23855" cy="6039739"/>
            </a:xfrm>
            <a:custGeom>
              <a:avLst/>
              <a:gdLst/>
              <a:ahLst/>
              <a:cxnLst/>
              <a:rect r="r" b="b" t="t" l="l"/>
              <a:pathLst>
                <a:path h="6039739" w="10523855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304272" y="0"/>
                  </a:lnTo>
                  <a:cubicBezTo>
                    <a:pt x="10425557" y="0"/>
                    <a:pt x="10523855" y="98298"/>
                    <a:pt x="10523855" y="219583"/>
                  </a:cubicBezTo>
                  <a:lnTo>
                    <a:pt x="10523855" y="5820156"/>
                  </a:lnTo>
                  <a:cubicBezTo>
                    <a:pt x="10523855" y="5941441"/>
                    <a:pt x="10425557" y="6039739"/>
                    <a:pt x="10304272" y="6039739"/>
                  </a:cubicBezTo>
                  <a:lnTo>
                    <a:pt x="219583" y="6039739"/>
                  </a:lnTo>
                  <a:cubicBezTo>
                    <a:pt x="98298" y="6039739"/>
                    <a:pt x="0" y="5941441"/>
                    <a:pt x="0" y="5820156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814608" y="3377070"/>
            <a:ext cx="2333539" cy="617706"/>
            <a:chOff x="0" y="0"/>
            <a:chExt cx="3111386" cy="823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11500" cy="823722"/>
            </a:xfrm>
            <a:custGeom>
              <a:avLst/>
              <a:gdLst/>
              <a:ahLst/>
              <a:cxnLst/>
              <a:rect r="r" b="b" t="t" l="l"/>
              <a:pathLst>
                <a:path h="823722" w="3111500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2699639" y="0"/>
                  </a:lnTo>
                  <a:cubicBezTo>
                    <a:pt x="2927096" y="0"/>
                    <a:pt x="3111500" y="184404"/>
                    <a:pt x="3111500" y="411861"/>
                  </a:cubicBezTo>
                  <a:cubicBezTo>
                    <a:pt x="3111500" y="639318"/>
                    <a:pt x="2927096" y="823722"/>
                    <a:pt x="2699639" y="823722"/>
                  </a:cubicBezTo>
                  <a:lnTo>
                    <a:pt x="411861" y="823722"/>
                  </a:lnTo>
                  <a:cubicBezTo>
                    <a:pt x="184404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14608" y="3377070"/>
            <a:ext cx="2333539" cy="617706"/>
            <a:chOff x="0" y="0"/>
            <a:chExt cx="3111386" cy="8236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11391" cy="823603"/>
            </a:xfrm>
            <a:custGeom>
              <a:avLst/>
              <a:gdLst/>
              <a:ahLst/>
              <a:cxnLst/>
              <a:rect r="r" b="b" t="t" l="l"/>
              <a:pathLst>
                <a:path h="823603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09" r="0" b="-2361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111386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✓  Fixed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814608" y="4132040"/>
            <a:ext cx="7069264" cy="1304039"/>
            <a:chOff x="0" y="0"/>
            <a:chExt cx="9425686" cy="173871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425686" cy="1738757"/>
            </a:xfrm>
            <a:custGeom>
              <a:avLst/>
              <a:gdLst/>
              <a:ahLst/>
              <a:cxnLst/>
              <a:rect r="r" b="b" t="t" l="l"/>
              <a:pathLst>
                <a:path h="1738757" w="942568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260967" y="0"/>
                  </a:lnTo>
                  <a:cubicBezTo>
                    <a:pt x="9351899" y="0"/>
                    <a:pt x="9425686" y="73787"/>
                    <a:pt x="9425686" y="164719"/>
                  </a:cubicBezTo>
                  <a:lnTo>
                    <a:pt x="9425686" y="1574038"/>
                  </a:lnTo>
                  <a:cubicBezTo>
                    <a:pt x="9425686" y="1664970"/>
                    <a:pt x="9351899" y="1738757"/>
                    <a:pt x="9260967" y="1738757"/>
                  </a:cubicBezTo>
                  <a:lnTo>
                    <a:pt x="164719" y="1738757"/>
                  </a:lnTo>
                  <a:cubicBezTo>
                    <a:pt x="73787" y="1738757"/>
                    <a:pt x="0" y="1664970"/>
                    <a:pt x="0" y="1574038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198960" y="4330379"/>
            <a:ext cx="6300568" cy="83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165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LEFT JOIN</a:t>
            </a:r>
            <a:r>
              <a:rPr lang="en-US" sz="165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orders o</a:t>
            </a:r>
          </a:p>
          <a:p>
            <a:pPr algn="l">
              <a:lnSpc>
                <a:spcPts val="2675"/>
              </a:lnSpc>
            </a:pPr>
            <a:r>
              <a:rPr lang="en-US" sz="165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65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ON</a:t>
            </a:r>
            <a:r>
              <a:rPr lang="en-US" sz="165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c.customer_id = o.customer_id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814608" y="5641981"/>
            <a:ext cx="7069264" cy="1715843"/>
            <a:chOff x="0" y="0"/>
            <a:chExt cx="9425686" cy="22877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25684" cy="2287787"/>
            </a:xfrm>
            <a:custGeom>
              <a:avLst/>
              <a:gdLst/>
              <a:ahLst/>
              <a:cxnLst/>
              <a:rect r="r" b="b" t="t" l="l"/>
              <a:pathLst>
                <a:path h="2287787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2287787"/>
                  </a:lnTo>
                  <a:lnTo>
                    <a:pt x="0" y="22877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278" r="0" b="-3027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9425686" cy="2363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E7F0EE"/>
                  </a:solidFill>
                  <a:latin typeface="Poppins"/>
                  <a:ea typeface="Poppins"/>
                  <a:cs typeface="Poppins"/>
                  <a:sym typeface="Poppins"/>
                </a:rPr>
                <a:t>LEFT JOIN keeps every customer. Tunde and Ngozi now appear with order_count = 0, exactly as the business question asked.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1338" y="7828731"/>
            <a:ext cx="16353863" cy="1872177"/>
            <a:chOff x="0" y="0"/>
            <a:chExt cx="21805151" cy="24962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805139" cy="2496185"/>
            </a:xfrm>
            <a:custGeom>
              <a:avLst/>
              <a:gdLst/>
              <a:ahLst/>
              <a:cxnLst/>
              <a:rect r="r" b="b" t="t" l="l"/>
              <a:pathLst>
                <a:path h="2496185" w="21805139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21620226" y="0"/>
                  </a:lnTo>
                  <a:cubicBezTo>
                    <a:pt x="21722335" y="0"/>
                    <a:pt x="21805139" y="82804"/>
                    <a:pt x="21805139" y="184912"/>
                  </a:cubicBezTo>
                  <a:lnTo>
                    <a:pt x="21805139" y="2311273"/>
                  </a:lnTo>
                  <a:cubicBezTo>
                    <a:pt x="21805139" y="2413381"/>
                    <a:pt x="21722335" y="2496185"/>
                    <a:pt x="21620226" y="2496185"/>
                  </a:cubicBezTo>
                  <a:lnTo>
                    <a:pt x="184912" y="2496185"/>
                  </a:lnTo>
                  <a:cubicBezTo>
                    <a:pt x="82804" y="2496185"/>
                    <a:pt x="0" y="2413508"/>
                    <a:pt x="0" y="2311273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72676" y="8016707"/>
            <a:ext cx="15511196" cy="1509941"/>
            <a:chOff x="0" y="0"/>
            <a:chExt cx="20681594" cy="20132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681598" cy="2013253"/>
            </a:xfrm>
            <a:custGeom>
              <a:avLst/>
              <a:gdLst/>
              <a:ahLst/>
              <a:cxnLst/>
              <a:rect r="r" b="b" t="t" l="l"/>
              <a:pathLst>
                <a:path h="2013253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0164" r="0" b="-15016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20681594" cy="2079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7"/>
                </a:lnSpc>
              </a:pPr>
              <a:r>
                <a:rPr lang="en-US" sz="18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Why COUNT(o.order_id), not COUNT(*): </a:t>
              </a: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with LEFT JOIN, unmatched customers get a NULL order_id — COUNT(o.order_id) correctly skips it and reports 0, while COUNT(*) would wrongly report 1.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872" y="947147"/>
            <a:ext cx="61770" cy="466706"/>
            <a:chOff x="0" y="0"/>
            <a:chExt cx="82360" cy="6222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423" cy="622300"/>
            </a:xfrm>
            <a:custGeom>
              <a:avLst/>
              <a:gdLst/>
              <a:ahLst/>
              <a:cxnLst/>
              <a:rect r="r" b="b" t="t" l="l"/>
              <a:pathLst>
                <a:path h="622300" w="82423">
                  <a:moveTo>
                    <a:pt x="0" y="0"/>
                  </a:moveTo>
                  <a:lnTo>
                    <a:pt x="82423" y="0"/>
                  </a:lnTo>
                  <a:lnTo>
                    <a:pt x="82423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7951" y="892235"/>
            <a:ext cx="10734294" cy="549069"/>
            <a:chOff x="0" y="0"/>
            <a:chExt cx="14312392" cy="7320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312398" cy="732092"/>
            </a:xfrm>
            <a:custGeom>
              <a:avLst/>
              <a:gdLst/>
              <a:ahLst/>
              <a:cxnLst/>
              <a:rect r="r" b="b" t="t" l="l"/>
              <a:pathLst>
                <a:path h="732092" w="14312398">
                  <a:moveTo>
                    <a:pt x="0" y="0"/>
                  </a:moveTo>
                  <a:lnTo>
                    <a:pt x="14312398" y="0"/>
                  </a:lnTo>
                  <a:lnTo>
                    <a:pt x="1431239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932" r="0" b="-33093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312392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3"/>
                </a:lnSpc>
              </a:pPr>
              <a:r>
                <a:rPr lang="en-US" sz="3602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takeaways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872" y="2127647"/>
            <a:ext cx="754971" cy="754971"/>
            <a:chOff x="0" y="0"/>
            <a:chExt cx="1006627" cy="10066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872" y="2127647"/>
            <a:ext cx="754971" cy="754971"/>
            <a:chOff x="0" y="0"/>
            <a:chExt cx="1006627" cy="1006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6626" cy="1006626"/>
            </a:xfrm>
            <a:custGeom>
              <a:avLst/>
              <a:gdLst/>
              <a:ahLst/>
              <a:cxnLst/>
              <a:rect r="r" b="b" t="t" l="l"/>
              <a:pathLst>
                <a:path h="1006626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006627" cy="1035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59010" y="2086461"/>
            <a:ext cx="9471441" cy="1413858"/>
            <a:chOff x="0" y="0"/>
            <a:chExt cx="12628588" cy="1885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28586" cy="1885144"/>
            </a:xfrm>
            <a:custGeom>
              <a:avLst/>
              <a:gdLst/>
              <a:ahLst/>
              <a:cxnLst/>
              <a:rect r="r" b="b" t="t" l="l"/>
              <a:pathLst>
                <a:path h="1885144" w="12628586">
                  <a:moveTo>
                    <a:pt x="0" y="0"/>
                  </a:moveTo>
                  <a:lnTo>
                    <a:pt x="12628586" y="0"/>
                  </a:lnTo>
                  <a:lnTo>
                    <a:pt x="12628586" y="1885144"/>
                  </a:lnTo>
                  <a:lnTo>
                    <a:pt x="0" y="1885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112" r="0" b="-4994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628588" cy="1913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 can now translate a question into a good prompt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872" y="4255284"/>
            <a:ext cx="754971" cy="754971"/>
            <a:chOff x="0" y="0"/>
            <a:chExt cx="1006627" cy="10066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60872" y="4255284"/>
            <a:ext cx="754971" cy="754971"/>
            <a:chOff x="0" y="0"/>
            <a:chExt cx="1006627" cy="10066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6626" cy="1006626"/>
            </a:xfrm>
            <a:custGeom>
              <a:avLst/>
              <a:gdLst/>
              <a:ahLst/>
              <a:cxnLst/>
              <a:rect r="r" b="b" t="t" l="l"/>
              <a:pathLst>
                <a:path h="1006626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06627" cy="1035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59010" y="4214108"/>
            <a:ext cx="9471441" cy="1214545"/>
            <a:chOff x="0" y="0"/>
            <a:chExt cx="12628588" cy="161939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28586" cy="1619394"/>
            </a:xfrm>
            <a:custGeom>
              <a:avLst/>
              <a:gdLst/>
              <a:ahLst/>
              <a:cxnLst/>
              <a:rect r="r" b="b" t="t" l="l"/>
              <a:pathLst>
                <a:path h="1619394" w="12628586">
                  <a:moveTo>
                    <a:pt x="0" y="0"/>
                  </a:moveTo>
                  <a:lnTo>
                    <a:pt x="12628586" y="0"/>
                  </a:lnTo>
                  <a:lnTo>
                    <a:pt x="12628586" y="1619394"/>
                  </a:lnTo>
                  <a:lnTo>
                    <a:pt x="0" y="16193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347" r="0" b="-7455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2628588" cy="1647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0872" y="6382931"/>
            <a:ext cx="754971" cy="754971"/>
            <a:chOff x="0" y="0"/>
            <a:chExt cx="1006627" cy="10066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60872" y="6382931"/>
            <a:ext cx="754971" cy="754971"/>
            <a:chOff x="0" y="0"/>
            <a:chExt cx="1006627" cy="10066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6626" cy="1006626"/>
            </a:xfrm>
            <a:custGeom>
              <a:avLst/>
              <a:gdLst/>
              <a:ahLst/>
              <a:cxnLst/>
              <a:rect r="r" b="b" t="t" l="l"/>
              <a:pathLst>
                <a:path h="1006626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006627" cy="1035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059010" y="5627961"/>
            <a:ext cx="9471441" cy="1262853"/>
            <a:chOff x="0" y="0"/>
            <a:chExt cx="12628588" cy="16838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628586" cy="1683805"/>
            </a:xfrm>
            <a:custGeom>
              <a:avLst/>
              <a:gdLst/>
              <a:ahLst/>
              <a:cxnLst/>
              <a:rect r="r" b="b" t="t" l="l"/>
              <a:pathLst>
                <a:path h="1683805" w="12628586">
                  <a:moveTo>
                    <a:pt x="0" y="0"/>
                  </a:moveTo>
                  <a:lnTo>
                    <a:pt x="12628586" y="0"/>
                  </a:lnTo>
                  <a:lnTo>
                    <a:pt x="12628586" y="1683805"/>
                  </a:lnTo>
                  <a:lnTo>
                    <a:pt x="0" y="1683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399" r="0" b="-6787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2628588" cy="17123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059010" y="6932000"/>
            <a:ext cx="9471441" cy="1166772"/>
            <a:chOff x="0" y="0"/>
            <a:chExt cx="12628588" cy="155569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628586" cy="1555692"/>
            </a:xfrm>
            <a:custGeom>
              <a:avLst/>
              <a:gdLst/>
              <a:ahLst/>
              <a:cxnLst/>
              <a:rect r="r" b="b" t="t" l="l"/>
              <a:pathLst>
                <a:path h="1555692" w="12628586">
                  <a:moveTo>
                    <a:pt x="0" y="0"/>
                  </a:moveTo>
                  <a:lnTo>
                    <a:pt x="12628586" y="0"/>
                  </a:lnTo>
                  <a:lnTo>
                    <a:pt x="12628586" y="1555692"/>
                  </a:lnTo>
                  <a:lnTo>
                    <a:pt x="0" y="1555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172" r="0" b="-10817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2628588" cy="1622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010882" y="2127647"/>
            <a:ext cx="5353421" cy="7000627"/>
            <a:chOff x="0" y="0"/>
            <a:chExt cx="7137895" cy="933417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137908" cy="9334246"/>
            </a:xfrm>
            <a:custGeom>
              <a:avLst/>
              <a:gdLst/>
              <a:ahLst/>
              <a:cxnLst/>
              <a:rect r="r" b="b" t="t" l="l"/>
              <a:pathLst>
                <a:path h="9334246" w="7137908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lnTo>
                    <a:pt x="6881622" y="0"/>
                  </a:lnTo>
                  <a:cubicBezTo>
                    <a:pt x="7023100" y="0"/>
                    <a:pt x="7137908" y="114681"/>
                    <a:pt x="7137908" y="256286"/>
                  </a:cubicBezTo>
                  <a:lnTo>
                    <a:pt x="7137908" y="9077960"/>
                  </a:lnTo>
                  <a:cubicBezTo>
                    <a:pt x="7137908" y="9219438"/>
                    <a:pt x="7023227" y="9334246"/>
                    <a:pt x="6881622" y="9334246"/>
                  </a:cubicBezTo>
                  <a:lnTo>
                    <a:pt x="256286" y="9334246"/>
                  </a:lnTo>
                  <a:cubicBezTo>
                    <a:pt x="114681" y="9334119"/>
                    <a:pt x="0" y="9219438"/>
                    <a:pt x="0" y="9077960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422686" y="2539441"/>
            <a:ext cx="4529823" cy="480431"/>
            <a:chOff x="0" y="0"/>
            <a:chExt cx="6039764" cy="6405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39758" cy="640580"/>
            </a:xfrm>
            <a:custGeom>
              <a:avLst/>
              <a:gdLst/>
              <a:ahLst/>
              <a:cxnLst/>
              <a:rect r="r" b="b" t="t" l="l"/>
              <a:pathLst>
                <a:path h="640580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16" r="0" b="-13371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6039764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300">
                  <a:solidFill>
                    <a:srgbClr val="9FBDB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422686" y="3019882"/>
            <a:ext cx="4529823" cy="960872"/>
            <a:chOff x="0" y="0"/>
            <a:chExt cx="6039764" cy="128116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39758" cy="1281161"/>
            </a:xfrm>
            <a:custGeom>
              <a:avLst/>
              <a:gdLst/>
              <a:ahLst/>
              <a:cxnLst/>
              <a:rect r="r" b="b" t="t" l="l"/>
              <a:pathLst>
                <a:path h="1281161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039764" cy="1319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Complete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rot="14400">
            <a:off x="12413132" y="4113257"/>
            <a:ext cx="4548921" cy="0"/>
          </a:xfrm>
          <a:prstGeom prst="line">
            <a:avLst/>
          </a:prstGeom>
          <a:ln cap="rnd" w="9525">
            <a:solidFill>
              <a:srgbClr val="2E5A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12422686" y="4276296"/>
            <a:ext cx="4529823" cy="347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3.1 Schema &amp; keys</a:t>
            </a:r>
          </a:p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3.2 SELECT / WHERE / ORDER BY</a:t>
            </a:r>
          </a:p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3.3 GROUP BY / HAVING</a:t>
            </a:r>
          </a:p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3.4 Joins &amp; subqueries</a:t>
            </a:r>
          </a:p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3.5 Warehousing</a:t>
            </a:r>
          </a:p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3.6 AI-augmented SQL</a:t>
            </a:r>
          </a:p>
        </p:txBody>
      </p:sp>
      <p:sp>
        <p:nvSpPr>
          <p:cNvPr name="AutoShape 44" id="44"/>
          <p:cNvSpPr/>
          <p:nvPr/>
        </p:nvSpPr>
        <p:spPr>
          <a:xfrm rot="2940">
            <a:off x="816454" y="9631394"/>
            <a:ext cx="16668940" cy="0"/>
          </a:xfrm>
          <a:prstGeom prst="line">
            <a:avLst/>
          </a:prstGeom>
          <a:ln cap="rnd" w="9525">
            <a:solidFill>
              <a:srgbClr val="D8E5E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1557223" y="9699469"/>
            <a:ext cx="4118019" cy="411804"/>
            <a:chOff x="0" y="0"/>
            <a:chExt cx="5490693" cy="5490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90690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5490693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Topic 6 of 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97824" y="9305925"/>
            <a:ext cx="647224" cy="571500"/>
            <a:chOff x="0" y="0"/>
            <a:chExt cx="862965" cy="762000"/>
          </a:xfrm>
        </p:grpSpPr>
        <p:sp>
          <p:nvSpPr>
            <p:cNvPr name="Freeform 49" id="4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72" t="0" r="-772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43000" y="9733921"/>
            <a:ext cx="385648" cy="342900"/>
            <a:chOff x="0" y="0"/>
            <a:chExt cx="514198" cy="457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4" b="0"/>
              </a:stretch>
            </a:blip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16758722" y="2938091"/>
            <a:ext cx="5978072" cy="5841471"/>
          </a:xfrm>
          <a:custGeom>
            <a:avLst/>
            <a:gdLst/>
            <a:ahLst/>
            <a:cxnLst/>
            <a:rect r="r" b="b" t="t" l="l"/>
            <a:pathLst>
              <a:path h="5841471" w="5978072">
                <a:moveTo>
                  <a:pt x="0" y="0"/>
                </a:moveTo>
                <a:lnTo>
                  <a:pt x="5978072" y="0"/>
                </a:lnTo>
                <a:lnTo>
                  <a:pt x="5978072" y="5841471"/>
                </a:lnTo>
                <a:lnTo>
                  <a:pt x="0" y="58414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62" y="-135731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710213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00188" y="2595562"/>
            <a:ext cx="8336756" cy="206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2"/>
              </a:lnSpc>
            </a:pPr>
            <a:r>
              <a:rPr lang="en-US" b="true" sz="2774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You can</a:t>
            </a:r>
            <a:r>
              <a:rPr lang="en-US" b="true" sz="2774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 now translate a question into a good prompt: Name the tables, the exact business logic, and the expected output — don't leave AI to guess.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0188" y="4854431"/>
            <a:ext cx="8530854" cy="154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2"/>
              </a:lnSpc>
            </a:pPr>
            <a:r>
              <a:rPr lang="en-US" b="true" sz="2774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Y</a:t>
            </a:r>
            <a:r>
              <a:rPr lang="en-US" b="true" sz="2774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ou can now critically read AI-written SQL: Run the five-check list — schema, clauses, join type, predict, verify — on every query AI hands you.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0188" y="6667864"/>
            <a:ext cx="8336756" cy="206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2"/>
              </a:lnSpc>
            </a:pPr>
            <a:r>
              <a:rPr lang="en-US" b="true" sz="2774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You</a:t>
            </a:r>
            <a:r>
              <a:rPr lang="en-US" b="true" sz="2774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 can now verify results against expected outputs: Row-count prediction and reference checks work exactly the same whether you or AI wrote the query.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57250" y="2671762"/>
            <a:ext cx="371475" cy="385762"/>
            <a:chOff x="0" y="0"/>
            <a:chExt cx="495300" cy="5143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5007769"/>
            <a:ext cx="371475" cy="385762"/>
            <a:chOff x="0" y="0"/>
            <a:chExt cx="495300" cy="5143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57250" y="6868297"/>
            <a:ext cx="371475" cy="385762"/>
            <a:chOff x="0" y="0"/>
            <a:chExt cx="495300" cy="5143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398411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AT'S NEXT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25830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722674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The Module 3 graded query set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2745334"/>
            <a:ext cx="5235216" cy="4823422"/>
            <a:chOff x="0" y="0"/>
            <a:chExt cx="6980288" cy="64312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0301" cy="6431280"/>
            </a:xfrm>
            <a:custGeom>
              <a:avLst/>
              <a:gdLst/>
              <a:ahLst/>
              <a:cxnLst/>
              <a:rect r="r" b="b" t="t" l="l"/>
              <a:pathLst>
                <a:path h="6431280" w="698030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6722999" y="0"/>
                  </a:lnTo>
                  <a:cubicBezTo>
                    <a:pt x="6865112" y="0"/>
                    <a:pt x="6980301" y="115189"/>
                    <a:pt x="6980301" y="257302"/>
                  </a:cubicBezTo>
                  <a:lnTo>
                    <a:pt x="6980301" y="6173978"/>
                  </a:lnTo>
                  <a:cubicBezTo>
                    <a:pt x="6980301" y="6316091"/>
                    <a:pt x="6865112" y="6431280"/>
                    <a:pt x="6722999" y="6431280"/>
                  </a:cubicBezTo>
                  <a:lnTo>
                    <a:pt x="257302" y="6431280"/>
                  </a:lnTo>
                  <a:cubicBezTo>
                    <a:pt x="115189" y="6431280"/>
                    <a:pt x="0" y="6316091"/>
                    <a:pt x="0" y="61739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60761" y="3223393"/>
            <a:ext cx="847439" cy="847439"/>
            <a:chOff x="0" y="0"/>
            <a:chExt cx="1129919" cy="11299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9919" cy="1129919"/>
            </a:xfrm>
            <a:custGeom>
              <a:avLst/>
              <a:gdLst/>
              <a:ahLst/>
              <a:cxnLst/>
              <a:rect r="r" b="b" t="t" l="l"/>
              <a:pathLst>
                <a:path h="1129919" w="1129919">
                  <a:moveTo>
                    <a:pt x="0" y="564896"/>
                  </a:moveTo>
                  <a:cubicBezTo>
                    <a:pt x="0" y="252984"/>
                    <a:pt x="252984" y="0"/>
                    <a:pt x="564896" y="0"/>
                  </a:cubicBezTo>
                  <a:cubicBezTo>
                    <a:pt x="876808" y="0"/>
                    <a:pt x="1129919" y="252984"/>
                    <a:pt x="1129919" y="564896"/>
                  </a:cubicBezTo>
                  <a:cubicBezTo>
                    <a:pt x="1129919" y="876808"/>
                    <a:pt x="876935" y="1129919"/>
                    <a:pt x="564896" y="1129919"/>
                  </a:cubicBezTo>
                  <a:cubicBezTo>
                    <a:pt x="252857" y="1129919"/>
                    <a:pt x="0" y="876935"/>
                    <a:pt x="0" y="564896"/>
                  </a:cubicBezTo>
                  <a:close/>
                </a:path>
              </a:pathLst>
            </a:custGeom>
            <a:solidFill>
              <a:srgbClr val="F0F6F4"/>
            </a:solidFill>
            <a:ln w="23831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72676" y="3235309"/>
            <a:ext cx="823608" cy="823608"/>
            <a:chOff x="0" y="0"/>
            <a:chExt cx="1098144" cy="10981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81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9814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E6F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2676" y="4333446"/>
            <a:ext cx="4392549" cy="686333"/>
            <a:chOff x="0" y="0"/>
            <a:chExt cx="5856732" cy="9151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56736" cy="915115"/>
            </a:xfrm>
            <a:custGeom>
              <a:avLst/>
              <a:gdLst/>
              <a:ahLst/>
              <a:cxnLst/>
              <a:rect r="r" b="b" t="t" l="l"/>
              <a:pathLst>
                <a:path h="915115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704" r="0" b="-7470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5856732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it covers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2676" y="5019780"/>
            <a:ext cx="4392549" cy="2402176"/>
            <a:chOff x="0" y="0"/>
            <a:chExt cx="5856732" cy="32029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6736" cy="3202902"/>
            </a:xfrm>
            <a:custGeom>
              <a:avLst/>
              <a:gdLst/>
              <a:ahLst/>
              <a:cxnLst/>
              <a:rect r="r" b="b" t="t" l="l"/>
              <a:pathLst>
                <a:path h="3202902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202902"/>
                  </a:lnTo>
                  <a:lnTo>
                    <a:pt x="0" y="320290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166" t="0" r="-2016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5856732" cy="326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9"/>
                </a:lnSpc>
              </a:pPr>
              <a:r>
                <a:rPr lang="en-US" sz="172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Business questions spanning every topic — schema reading, filtering, aggregation, joins, and at least one AI-assisted query you must audit.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10661" y="2745334"/>
            <a:ext cx="5235216" cy="4823422"/>
            <a:chOff x="0" y="0"/>
            <a:chExt cx="6980288" cy="64312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80301" cy="6431280"/>
            </a:xfrm>
            <a:custGeom>
              <a:avLst/>
              <a:gdLst/>
              <a:ahLst/>
              <a:cxnLst/>
              <a:rect r="r" b="b" t="t" l="l"/>
              <a:pathLst>
                <a:path h="6431280" w="698030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6722999" y="0"/>
                  </a:lnTo>
                  <a:cubicBezTo>
                    <a:pt x="6865112" y="0"/>
                    <a:pt x="6980301" y="115189"/>
                    <a:pt x="6980301" y="257302"/>
                  </a:cubicBezTo>
                  <a:lnTo>
                    <a:pt x="6980301" y="6173978"/>
                  </a:lnTo>
                  <a:cubicBezTo>
                    <a:pt x="6980301" y="6316091"/>
                    <a:pt x="6865112" y="6431280"/>
                    <a:pt x="6722999" y="6431280"/>
                  </a:cubicBezTo>
                  <a:lnTo>
                    <a:pt x="257302" y="6431280"/>
                  </a:lnTo>
                  <a:cubicBezTo>
                    <a:pt x="115189" y="6431280"/>
                    <a:pt x="0" y="6316091"/>
                    <a:pt x="0" y="61739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920084" y="3223393"/>
            <a:ext cx="847439" cy="847439"/>
            <a:chOff x="0" y="0"/>
            <a:chExt cx="1129919" cy="11299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29919" cy="1129919"/>
            </a:xfrm>
            <a:custGeom>
              <a:avLst/>
              <a:gdLst/>
              <a:ahLst/>
              <a:cxnLst/>
              <a:rect r="r" b="b" t="t" l="l"/>
              <a:pathLst>
                <a:path h="1129919" w="1129919">
                  <a:moveTo>
                    <a:pt x="0" y="564896"/>
                  </a:moveTo>
                  <a:cubicBezTo>
                    <a:pt x="0" y="252984"/>
                    <a:pt x="252984" y="0"/>
                    <a:pt x="564896" y="0"/>
                  </a:cubicBezTo>
                  <a:cubicBezTo>
                    <a:pt x="876808" y="0"/>
                    <a:pt x="1129919" y="252984"/>
                    <a:pt x="1129919" y="564896"/>
                  </a:cubicBezTo>
                  <a:cubicBezTo>
                    <a:pt x="1129919" y="876808"/>
                    <a:pt x="876935" y="1129919"/>
                    <a:pt x="564896" y="1129919"/>
                  </a:cubicBezTo>
                  <a:cubicBezTo>
                    <a:pt x="252857" y="1129919"/>
                    <a:pt x="0" y="876935"/>
                    <a:pt x="0" y="564896"/>
                  </a:cubicBezTo>
                  <a:close/>
                </a:path>
              </a:pathLst>
            </a:custGeom>
            <a:solidFill>
              <a:srgbClr val="F0F6F4"/>
            </a:solidFill>
            <a:ln w="23831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932000" y="3235309"/>
            <a:ext cx="823608" cy="823608"/>
            <a:chOff x="0" y="0"/>
            <a:chExt cx="1098144" cy="1098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81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09814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E6F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932000" y="4333446"/>
            <a:ext cx="4392549" cy="686333"/>
            <a:chOff x="0" y="0"/>
            <a:chExt cx="5856732" cy="9151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56736" cy="915115"/>
            </a:xfrm>
            <a:custGeom>
              <a:avLst/>
              <a:gdLst/>
              <a:ahLst/>
              <a:cxnLst/>
              <a:rect r="r" b="b" t="t" l="l"/>
              <a:pathLst>
                <a:path h="915115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704" r="0" b="-7470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856732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What's graded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32000" y="5019780"/>
            <a:ext cx="4392549" cy="2402176"/>
            <a:chOff x="0" y="0"/>
            <a:chExt cx="5856732" cy="320290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6736" cy="3202902"/>
            </a:xfrm>
            <a:custGeom>
              <a:avLst/>
              <a:gdLst/>
              <a:ahLst/>
              <a:cxnLst/>
              <a:rect r="r" b="b" t="t" l="l"/>
              <a:pathLst>
                <a:path h="3202902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202902"/>
                  </a:lnTo>
                  <a:lnTo>
                    <a:pt x="0" y="320290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166" t="0" r="-2016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5856732" cy="326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9"/>
                </a:lnSpc>
              </a:pPr>
              <a:r>
                <a:rPr lang="en-US" sz="172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Not just a correct final answer — your written prediction and verification step for each query matter as much as the SQL itself.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69985" y="2745334"/>
            <a:ext cx="5235216" cy="4823422"/>
            <a:chOff x="0" y="0"/>
            <a:chExt cx="6980288" cy="643122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80301" cy="6431280"/>
            </a:xfrm>
            <a:custGeom>
              <a:avLst/>
              <a:gdLst/>
              <a:ahLst/>
              <a:cxnLst/>
              <a:rect r="r" b="b" t="t" l="l"/>
              <a:pathLst>
                <a:path h="6431280" w="698030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6722999" y="0"/>
                  </a:lnTo>
                  <a:cubicBezTo>
                    <a:pt x="6865112" y="0"/>
                    <a:pt x="6980301" y="115189"/>
                    <a:pt x="6980301" y="257302"/>
                  </a:cubicBezTo>
                  <a:lnTo>
                    <a:pt x="6980301" y="6173978"/>
                  </a:lnTo>
                  <a:cubicBezTo>
                    <a:pt x="6980301" y="6316091"/>
                    <a:pt x="6865112" y="6431280"/>
                    <a:pt x="6722999" y="6431280"/>
                  </a:cubicBezTo>
                  <a:lnTo>
                    <a:pt x="257302" y="6431280"/>
                  </a:lnTo>
                  <a:cubicBezTo>
                    <a:pt x="115189" y="6431280"/>
                    <a:pt x="0" y="6316091"/>
                    <a:pt x="0" y="61739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479407" y="3223393"/>
            <a:ext cx="847439" cy="847439"/>
            <a:chOff x="0" y="0"/>
            <a:chExt cx="1129919" cy="11299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9919" cy="1129919"/>
            </a:xfrm>
            <a:custGeom>
              <a:avLst/>
              <a:gdLst/>
              <a:ahLst/>
              <a:cxnLst/>
              <a:rect r="r" b="b" t="t" l="l"/>
              <a:pathLst>
                <a:path h="1129919" w="1129919">
                  <a:moveTo>
                    <a:pt x="0" y="564896"/>
                  </a:moveTo>
                  <a:cubicBezTo>
                    <a:pt x="0" y="252984"/>
                    <a:pt x="252984" y="0"/>
                    <a:pt x="564896" y="0"/>
                  </a:cubicBezTo>
                  <a:cubicBezTo>
                    <a:pt x="876808" y="0"/>
                    <a:pt x="1129919" y="252984"/>
                    <a:pt x="1129919" y="564896"/>
                  </a:cubicBezTo>
                  <a:cubicBezTo>
                    <a:pt x="1129919" y="876808"/>
                    <a:pt x="876935" y="1129919"/>
                    <a:pt x="564896" y="1129919"/>
                  </a:cubicBezTo>
                  <a:cubicBezTo>
                    <a:pt x="252857" y="1129919"/>
                    <a:pt x="0" y="876935"/>
                    <a:pt x="0" y="564896"/>
                  </a:cubicBezTo>
                  <a:close/>
                </a:path>
              </a:pathLst>
            </a:custGeom>
            <a:solidFill>
              <a:srgbClr val="F0F6F4"/>
            </a:solidFill>
            <a:ln w="23831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491323" y="3235309"/>
            <a:ext cx="823608" cy="823608"/>
            <a:chOff x="0" y="0"/>
            <a:chExt cx="1098144" cy="10981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81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09814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E6F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491323" y="4333446"/>
            <a:ext cx="4392549" cy="686333"/>
            <a:chOff x="0" y="0"/>
            <a:chExt cx="5856732" cy="91511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6736" cy="915115"/>
            </a:xfrm>
            <a:custGeom>
              <a:avLst/>
              <a:gdLst/>
              <a:ahLst/>
              <a:cxnLst/>
              <a:rect r="r" b="b" t="t" l="l"/>
              <a:pathLst>
                <a:path h="915115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704" r="0" b="-7470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5856732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How to prepare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491323" y="5019780"/>
            <a:ext cx="4392549" cy="2402176"/>
            <a:chOff x="0" y="0"/>
            <a:chExt cx="5856732" cy="320290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56736" cy="3202902"/>
            </a:xfrm>
            <a:custGeom>
              <a:avLst/>
              <a:gdLst/>
              <a:ahLst/>
              <a:cxnLst/>
              <a:rect r="r" b="b" t="t" l="l"/>
              <a:pathLst>
                <a:path h="3202902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202902"/>
                  </a:lnTo>
                  <a:lnTo>
                    <a:pt x="0" y="320290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166" t="0" r="-20165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5856732" cy="326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9"/>
                </a:lnSpc>
              </a:pPr>
              <a:r>
                <a:rPr lang="en-US" sz="172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Revisit each topic's recap slide. For every practice query, ask: did I predict first? Did I verify against something known?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51338" y="8030127"/>
            <a:ext cx="16353863" cy="1185834"/>
            <a:chOff x="0" y="0"/>
            <a:chExt cx="21805151" cy="15811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805139" cy="1581150"/>
            </a:xfrm>
            <a:custGeom>
              <a:avLst/>
              <a:gdLst/>
              <a:ahLst/>
              <a:cxnLst/>
              <a:rect r="r" b="b" t="t" l="l"/>
              <a:pathLst>
                <a:path h="1581150" w="21805139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21619083" y="0"/>
                  </a:lnTo>
                  <a:cubicBezTo>
                    <a:pt x="21721826" y="0"/>
                    <a:pt x="21805139" y="83312"/>
                    <a:pt x="21805139" y="186055"/>
                  </a:cubicBezTo>
                  <a:lnTo>
                    <a:pt x="21805139" y="1395095"/>
                  </a:lnTo>
                  <a:cubicBezTo>
                    <a:pt x="21805139" y="1497838"/>
                    <a:pt x="21721826" y="1581150"/>
                    <a:pt x="21619083" y="1581150"/>
                  </a:cubicBezTo>
                  <a:lnTo>
                    <a:pt x="186055" y="1581150"/>
                  </a:lnTo>
                  <a:cubicBezTo>
                    <a:pt x="83312" y="1581150"/>
                    <a:pt x="0" y="1497838"/>
                    <a:pt x="0" y="1395095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72676" y="8039662"/>
            <a:ext cx="15511196" cy="1166774"/>
            <a:chOff x="0" y="0"/>
            <a:chExt cx="20681594" cy="155569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681598" cy="1555695"/>
            </a:xfrm>
            <a:custGeom>
              <a:avLst/>
              <a:gdLst/>
              <a:ahLst/>
              <a:cxnLst/>
              <a:rect r="r" b="b" t="t" l="l"/>
              <a:pathLst>
                <a:path h="155569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20681594" cy="1565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i="true">
                  <a:solidFill>
                    <a:srgbClr val="1B40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Facilitator note: the graded query set's rubric and sample questions are attached on the LMS. Confirm every trainee can articulate the five-check checklist from concept 4 before the session ends.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DAHTyGCwZ8c</dc:identifier>
  <dcterms:modified xsi:type="dcterms:W3CDTF">2011-08-01T06:04:30Z</dcterms:modified>
  <cp:revision>1</cp:revision>
  <dc:title>Module 3.6- AI-Augmented-sql</dc:title>
</cp:coreProperties>
</file>