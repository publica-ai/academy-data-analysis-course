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" charset="1" panose="00000500000000000000"/>
      <p:regular r:id="rId25"/>
    </p:embeddedFont>
    <p:embeddedFont>
      <p:font typeface="Poppins Bold" charset="1" panose="00000800000000000000"/>
      <p:regular r:id="rId26"/>
    </p:embeddedFont>
    <p:embeddedFont>
      <p:font typeface="Inter" charset="1" panose="02000503000000020004"/>
      <p:regular r:id="rId28"/>
    </p:embeddedFont>
    <p:embeddedFont>
      <p:font typeface="Poppins Italics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jpeg" Type="http://schemas.openxmlformats.org/officeDocument/2006/relationships/image"/><Relationship Id="rId12" Target="../media/image10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jpe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1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1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media/image11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26.png" Type="http://schemas.openxmlformats.org/officeDocument/2006/relationships/image"/><Relationship Id="rId6" Target="../media/image42.png" Type="http://schemas.openxmlformats.org/officeDocument/2006/relationships/image"/><Relationship Id="rId7" Target="../media/image10.pn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1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32.png" Type="http://schemas.openxmlformats.org/officeDocument/2006/relationships/image"/><Relationship Id="rId8" Target="../media/image47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media/image11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55.png" Type="http://schemas.openxmlformats.org/officeDocument/2006/relationships/image"/><Relationship Id="rId4" Target="../media/image10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10.pn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2" Target="../media/image11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1.png" Type="http://schemas.openxmlformats.org/officeDocument/2006/relationships/image"/><Relationship Id="rId3" Target="../media/image68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26.png" Type="http://schemas.openxmlformats.org/officeDocument/2006/relationships/image"/><Relationship Id="rId8" Target="../media/image10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media/image11.pn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79.png" Type="http://schemas.openxmlformats.org/officeDocument/2006/relationships/image"/><Relationship Id="rId4" Target="../media/image80.png" Type="http://schemas.openxmlformats.org/officeDocument/2006/relationships/image"/><Relationship Id="rId5" Target="../media/image81.png" Type="http://schemas.openxmlformats.org/officeDocument/2006/relationships/image"/><Relationship Id="rId6" Target="../media/image26.png" Type="http://schemas.openxmlformats.org/officeDocument/2006/relationships/image"/><Relationship Id="rId7" Target="../media/image10.pn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82.pn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10.pn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1367525"/>
            <a:chOff x="0" y="0"/>
            <a:chExt cx="24384000" cy="1515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156700"/>
            </a:xfrm>
            <a:custGeom>
              <a:avLst/>
              <a:gdLst/>
              <a:ahLst/>
              <a:cxnLst/>
              <a:rect r="r" b="b" t="t" l="l"/>
              <a:pathLst>
                <a:path h="15156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156700"/>
                  </a:lnTo>
                  <a:lnTo>
                    <a:pt x="0" y="1515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51" t="0" r="-525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0" r="0" b="-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8" t="0" r="-1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44759"/>
            <a:ext cx="16002000" cy="323088"/>
            <a:chOff x="0" y="0"/>
            <a:chExt cx="21336000" cy="430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4389" r="0" b="-91438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386" r="0" b="-91439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48" y="2440951"/>
            <a:ext cx="16002000" cy="517564"/>
            <a:chOff x="0" y="0"/>
            <a:chExt cx="21336000" cy="6900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690087"/>
            </a:xfrm>
            <a:custGeom>
              <a:avLst/>
              <a:gdLst/>
              <a:ahLst/>
              <a:cxnLst/>
              <a:rect r="r" b="b" t="t" l="l"/>
              <a:pathLst>
                <a:path h="690087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690087"/>
                  </a:lnTo>
                  <a:lnTo>
                    <a:pt x="0" y="6900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222" r="0" b="-53364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336000" cy="709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DATA ANALYSIS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3000" y="3342427"/>
            <a:ext cx="16002000" cy="698278"/>
            <a:chOff x="0" y="0"/>
            <a:chExt cx="21336000" cy="9310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36000" cy="931037"/>
            </a:xfrm>
            <a:custGeom>
              <a:avLst/>
              <a:gdLst/>
              <a:ahLst/>
              <a:cxnLst/>
              <a:rect r="r" b="b" t="t" l="l"/>
              <a:pathLst>
                <a:path h="931037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31037"/>
                  </a:lnTo>
                  <a:lnTo>
                    <a:pt x="0" y="93103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6216" r="0" b="-39621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43048" y="2880480"/>
            <a:ext cx="16002000" cy="814658"/>
            <a:chOff x="0" y="0"/>
            <a:chExt cx="21336000" cy="10862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36000" cy="1086210"/>
            </a:xfrm>
            <a:custGeom>
              <a:avLst/>
              <a:gdLst/>
              <a:ahLst/>
              <a:cxnLst/>
              <a:rect r="r" b="b" t="t" l="l"/>
              <a:pathLst>
                <a:path h="108621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6210"/>
                  </a:lnTo>
                  <a:lnTo>
                    <a:pt x="0" y="10862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9440" r="0" b="-32603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1336000" cy="1114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64748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3: SQL and Databases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395" y="9115073"/>
            <a:ext cx="385667" cy="342900"/>
            <a:chOff x="0" y="0"/>
            <a:chExt cx="514223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2" t="0" r="-12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43062" y="9001125"/>
            <a:ext cx="2143316" cy="323088"/>
            <a:chOff x="0" y="0"/>
            <a:chExt cx="2857754" cy="4307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9171" r="0" b="-7916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3062" y="9001125"/>
            <a:ext cx="2143354" cy="323098"/>
            <a:chOff x="0" y="0"/>
            <a:chExt cx="2857805" cy="4307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9171" r="-1" b="-7917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09738" y="8971295"/>
            <a:ext cx="2377106" cy="574010"/>
            <a:chOff x="0" y="0"/>
            <a:chExt cx="2857805" cy="69008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57805" cy="690087"/>
            </a:xfrm>
            <a:custGeom>
              <a:avLst/>
              <a:gdLst/>
              <a:ahLst/>
              <a:cxnLst/>
              <a:rect r="r" b="b" t="t" l="l"/>
              <a:pathLst>
                <a:path h="690087" w="2857805">
                  <a:moveTo>
                    <a:pt x="0" y="0"/>
                  </a:moveTo>
                  <a:lnTo>
                    <a:pt x="2857805" y="0"/>
                  </a:lnTo>
                  <a:lnTo>
                    <a:pt x="2857805" y="690087"/>
                  </a:lnTo>
                  <a:lnTo>
                    <a:pt x="0" y="6900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9478" r="0" b="-119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857805" cy="709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Topic 1 of 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3000" y="552450"/>
            <a:ext cx="2124646" cy="1845850"/>
            <a:chOff x="0" y="0"/>
            <a:chExt cx="2832862" cy="24611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8" r="0" b="-68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020120" y="1733550"/>
            <a:ext cx="6258211" cy="6258211"/>
            <a:chOff x="0" y="0"/>
            <a:chExt cx="8344281" cy="83442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11"/>
              <a:stretch>
                <a:fillRect l="-39583" t="0" r="-39583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772" t="0" r="-772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143000" y="3676088"/>
            <a:ext cx="954925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7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Concepts and </a:t>
            </a:r>
            <a:r>
              <a:rPr lang="en-US" sz="7500" b="true">
                <a:solidFill>
                  <a:srgbClr val="388080"/>
                </a:solidFill>
                <a:latin typeface="Poppins Bold"/>
                <a:ea typeface="Poppins Bold"/>
                <a:cs typeface="Poppins Bold"/>
                <a:sym typeface="Poppins Bold"/>
              </a:rPr>
              <a:t>Relational Thinking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5028" y="6698294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857250"/>
            <a:ext cx="142875" cy="742950"/>
            <a:chOff x="0" y="0"/>
            <a:chExt cx="190500" cy="990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500" cy="990600"/>
            </a:xfrm>
            <a:custGeom>
              <a:avLst/>
              <a:gdLst/>
              <a:ahLst/>
              <a:cxnLst/>
              <a:rect r="r" b="b" t="t" l="l"/>
              <a:pathLst>
                <a:path h="9906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" y="2333473"/>
            <a:ext cx="457200" cy="485775"/>
            <a:chOff x="0" y="0"/>
            <a:chExt cx="609600" cy="6477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3999604"/>
            <a:ext cx="457200" cy="485775"/>
            <a:chOff x="0" y="0"/>
            <a:chExt cx="609600" cy="6477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5817707"/>
            <a:ext cx="457200" cy="485775"/>
            <a:chOff x="0" y="0"/>
            <a:chExt cx="609600" cy="6477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070180" y="1028700"/>
            <a:ext cx="1189101" cy="1033082"/>
            <a:chOff x="0" y="0"/>
            <a:chExt cx="1585468" cy="13774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5468" cy="1377442"/>
            </a:xfrm>
            <a:custGeom>
              <a:avLst/>
              <a:gdLst/>
              <a:ahLst/>
              <a:cxnLst/>
              <a:rect r="r" b="b" t="t" l="l"/>
              <a:pathLst>
                <a:path h="1377442" w="1585468">
                  <a:moveTo>
                    <a:pt x="0" y="0"/>
                  </a:moveTo>
                  <a:lnTo>
                    <a:pt x="1585468" y="0"/>
                  </a:lnTo>
                  <a:lnTo>
                    <a:pt x="1585468" y="1377442"/>
                  </a:lnTo>
                  <a:lnTo>
                    <a:pt x="0" y="1377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6" r="0" b="-5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001070" y="2333473"/>
            <a:ext cx="6258211" cy="6258211"/>
            <a:chOff x="0" y="0"/>
            <a:chExt cx="8344281" cy="83442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6"/>
              <a:stretch>
                <a:fillRect l="-39583" t="0" r="-39583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85900" y="714375"/>
            <a:ext cx="6905033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MODULE 3 OBJECTIVES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57375" y="1857223"/>
            <a:ext cx="7286625" cy="180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Understand how relational databases organize data into structured tables with rows (records) and columns (fields)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57375" y="3785025"/>
            <a:ext cx="7286625" cy="180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Locate and explain Primary Keys (PK) and Foreign Keys (FK) within a multi-table database schema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57375" y="5627207"/>
            <a:ext cx="6858000" cy="180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Articulate clearly when a database is required over a flat spreadsheet like Excel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" y="2078926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49033" y="2071783"/>
            <a:ext cx="6714934" cy="6714934"/>
            <a:chOff x="0" y="0"/>
            <a:chExt cx="8953246" cy="89532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53246" cy="8953246"/>
            </a:xfrm>
            <a:custGeom>
              <a:avLst/>
              <a:gdLst/>
              <a:ahLst/>
              <a:cxnLst/>
              <a:rect r="r" b="b" t="t" l="l"/>
              <a:pathLst>
                <a:path h="8953246" w="8953246">
                  <a:moveTo>
                    <a:pt x="254508" y="0"/>
                  </a:moveTo>
                  <a:lnTo>
                    <a:pt x="8698738" y="0"/>
                  </a:lnTo>
                  <a:cubicBezTo>
                    <a:pt x="8766302" y="0"/>
                    <a:pt x="8830945" y="26797"/>
                    <a:pt x="8878697" y="74549"/>
                  </a:cubicBezTo>
                  <a:cubicBezTo>
                    <a:pt x="8926449" y="122301"/>
                    <a:pt x="8953246" y="187071"/>
                    <a:pt x="8953246" y="254508"/>
                  </a:cubicBezTo>
                  <a:lnTo>
                    <a:pt x="8953246" y="8698738"/>
                  </a:lnTo>
                  <a:cubicBezTo>
                    <a:pt x="8953246" y="8839327"/>
                    <a:pt x="8839327" y="8953246"/>
                    <a:pt x="8698738" y="8953246"/>
                  </a:cubicBezTo>
                  <a:lnTo>
                    <a:pt x="254508" y="8953246"/>
                  </a:lnTo>
                  <a:cubicBezTo>
                    <a:pt x="113919" y="8953246"/>
                    <a:pt x="0" y="8839327"/>
                    <a:pt x="0" y="8698738"/>
                  </a:cubicBezTo>
                  <a:lnTo>
                    <a:pt x="0" y="254508"/>
                  </a:lnTo>
                  <a:cubicBezTo>
                    <a:pt x="0" y="113919"/>
                    <a:pt x="113919" y="0"/>
                    <a:pt x="25450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815" r="0" b="-13815"/>
              </a:stretch>
            </a:blip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" y="1926641"/>
            <a:ext cx="10574131" cy="6276165"/>
          </a:xfrm>
          <a:custGeom>
            <a:avLst/>
            <a:gdLst/>
            <a:ahLst/>
            <a:cxnLst/>
            <a:rect r="r" b="b" t="t" l="l"/>
            <a:pathLst>
              <a:path h="6276165" w="10574131">
                <a:moveTo>
                  <a:pt x="0" y="0"/>
                </a:moveTo>
                <a:lnTo>
                  <a:pt x="10574131" y="0"/>
                </a:lnTo>
                <a:lnTo>
                  <a:pt x="10574131" y="6276165"/>
                </a:lnTo>
                <a:lnTo>
                  <a:pt x="0" y="627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2" t="0" r="-32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3000" y="714375"/>
            <a:ext cx="1710213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2749029"/>
            <a:ext cx="10160410" cy="557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06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By the end of this topic, the trainee can…</a:t>
            </a:r>
          </a:p>
          <a:p>
            <a:pPr algn="l">
              <a:lnSpc>
                <a:spcPts val="3717"/>
              </a:lnSpc>
            </a:pPr>
          </a:p>
          <a:p>
            <a:pPr algn="l">
              <a:lnSpc>
                <a:spcPts val="3717"/>
              </a:lnSpc>
            </a:pPr>
            <a:r>
              <a:rPr lang="en-US" sz="206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1- Describe how relational databases organize unstructured or flat data into clear, structured, single-purpose tables containing rows and columns.</a:t>
            </a:r>
          </a:p>
          <a:p>
            <a:pPr algn="l">
              <a:lnSpc>
                <a:spcPts val="3717"/>
              </a:lnSpc>
            </a:pPr>
            <a:r>
              <a:rPr lang="en-US" sz="206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2- Define and locate primary keys (unique identifiers for a row) and foreign keys (references that link data back to another table) to understand how tables relate to one another.</a:t>
            </a:r>
          </a:p>
          <a:p>
            <a:pPr algn="l">
              <a:lnSpc>
                <a:spcPts val="3717"/>
              </a:lnSpc>
            </a:pPr>
            <a:r>
              <a:rPr lang="en-US" sz="206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3- Articulate when a relational database is superior to a traditional spreadsheet (such as managing large data volumes, maintaining data integrity, reducing redundancy, and enabling fast querying)</a:t>
            </a:r>
          </a:p>
          <a:p>
            <a:pPr algn="l">
              <a:lnSpc>
                <a:spcPts val="3717"/>
              </a:lnSpc>
            </a:pPr>
            <a:r>
              <a:rPr lang="en-US" sz="206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4- Determine the exact "grain" of a table by answering what a single row represents (e.g., one customer, one order, or one payment line item)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15450" y="2626273"/>
            <a:ext cx="8248888" cy="1658430"/>
            <a:chOff x="0" y="0"/>
            <a:chExt cx="10896600" cy="2190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896600" cy="2190750"/>
            </a:xfrm>
            <a:custGeom>
              <a:avLst/>
              <a:gdLst/>
              <a:ahLst/>
              <a:cxnLst/>
              <a:rect r="r" b="b" t="t" l="l"/>
              <a:pathLst>
                <a:path h="219075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2190750"/>
                  </a:lnTo>
                  <a:lnTo>
                    <a:pt x="0" y="2190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6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1550" y="2660690"/>
            <a:ext cx="6469132" cy="5103579"/>
            <a:chOff x="0" y="0"/>
            <a:chExt cx="8625510" cy="68047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25460" cy="6804771"/>
            </a:xfrm>
            <a:custGeom>
              <a:avLst/>
              <a:gdLst/>
              <a:ahLst/>
              <a:cxnLst/>
              <a:rect r="r" b="b" t="t" l="l"/>
              <a:pathLst>
                <a:path h="6804771" w="8625460">
                  <a:moveTo>
                    <a:pt x="0" y="0"/>
                  </a:moveTo>
                  <a:lnTo>
                    <a:pt x="8625460" y="0"/>
                  </a:lnTo>
                  <a:lnTo>
                    <a:pt x="8625460" y="6804771"/>
                  </a:lnTo>
                  <a:lnTo>
                    <a:pt x="0" y="6804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266" r="-2" b="-427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53669" y="7118390"/>
            <a:ext cx="8172450" cy="885825"/>
            <a:chOff x="0" y="0"/>
            <a:chExt cx="10896600" cy="11811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8966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61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886950" y="2731294"/>
            <a:ext cx="7677388" cy="30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>
                <a:solidFill>
                  <a:srgbClr val="991B1B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 at Scale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58350" y="3069431"/>
            <a:ext cx="7529512" cy="1139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1674">
                <a:solidFill>
                  <a:srgbClr val="7F1D1D"/>
                </a:solidFill>
                <a:latin typeface="Poppins"/>
                <a:ea typeface="Poppins"/>
                <a:cs typeface="Poppins"/>
                <a:sym typeface="Poppins"/>
              </a:rPr>
              <a:t>Kemi runs a retail business in Yaba, Lagos. As sales expanded across Ikeja, Ibadan, and Abuja, her team kept tracked orders in a shared spreadsheet.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20250" y="4351378"/>
            <a:ext cx="7772400" cy="83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b="true" sz="18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Duplicate Records:</a:t>
            </a:r>
            <a:r>
              <a:rPr lang="en-US" sz="18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"Emeka Okonkwo" entered 14 times with slightly different phone numbers.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20250" y="5165765"/>
            <a:ext cx="7772400" cy="83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b="true" sz="18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Broken Calculations:</a:t>
            </a:r>
            <a:r>
              <a:rPr lang="en-US" sz="18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A single wrong formula corrupted monthly Naira revenue totals.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20250" y="5980153"/>
            <a:ext cx="7772400" cy="83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b="true" sz="18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Concurrency Conflicts:</a:t>
            </a:r>
            <a:r>
              <a:rPr lang="en-US" sz="18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Multiple staff editing simultaneously created conflicting file versions.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20225" y="7304128"/>
            <a:ext cx="157162" cy="200025"/>
            <a:chOff x="0" y="0"/>
            <a:chExt cx="209550" cy="2667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71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58350" y="2807494"/>
            <a:ext cx="228600" cy="228600"/>
            <a:chOff x="0" y="0"/>
            <a:chExt cx="304800" cy="3048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625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220200" y="4503778"/>
            <a:ext cx="171450" cy="214312"/>
            <a:chOff x="0" y="0"/>
            <a:chExt cx="228600" cy="2857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220200" y="5318165"/>
            <a:ext cx="171450" cy="214312"/>
            <a:chOff x="0" y="0"/>
            <a:chExt cx="228600" cy="2857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220200" y="6132553"/>
            <a:ext cx="171450" cy="214312"/>
            <a:chOff x="0" y="0"/>
            <a:chExt cx="228600" cy="2857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840676" y="9136856"/>
            <a:ext cx="647224" cy="571500"/>
            <a:chOff x="0" y="0"/>
            <a:chExt cx="862965" cy="762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72" t="0" r="-772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43000" y="762000"/>
            <a:ext cx="17145000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388080"/>
                </a:solidFill>
                <a:latin typeface="Poppins Bold"/>
                <a:ea typeface="Poppins Bold"/>
                <a:cs typeface="Poppins Bold"/>
                <a:sym typeface="Poppins Bold"/>
              </a:rPr>
              <a:t>The Spreadsheet Wall: Kemi’s Lagos E-Commerce Business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68" r="0" b="-68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56578"/>
            <a:ext cx="18288000" cy="10287000"/>
            <a:chOff x="0" y="0"/>
            <a:chExt cx="24384000" cy="13716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FD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100" y="2971800"/>
            <a:ext cx="16687800" cy="2786062"/>
            <a:chOff x="0" y="0"/>
            <a:chExt cx="22250400" cy="3714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250400" cy="3714750"/>
            </a:xfrm>
            <a:custGeom>
              <a:avLst/>
              <a:gdLst/>
              <a:ahLst/>
              <a:cxnLst/>
              <a:rect r="r" b="b" t="t" l="l"/>
              <a:pathLst>
                <a:path h="371475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3714750"/>
                  </a:lnTo>
                  <a:lnTo>
                    <a:pt x="0" y="371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5986462"/>
            <a:ext cx="8229600" cy="1228725"/>
            <a:chOff x="0" y="0"/>
            <a:chExt cx="10972800" cy="16383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728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58300" y="5986462"/>
            <a:ext cx="8229600" cy="1228725"/>
            <a:chOff x="0" y="0"/>
            <a:chExt cx="10972800" cy="16383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9728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57250" y="2015502"/>
            <a:ext cx="16687800" cy="83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sz="18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 database table structures data into two distinct dimensions: </a:t>
            </a:r>
            <a:r>
              <a:rPr lang="en-US" b="true" sz="18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Columns (Fields)</a:t>
            </a:r>
            <a:r>
              <a:rPr lang="en-US" sz="18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defining attribute types, and </a:t>
            </a:r>
            <a:r>
              <a:rPr lang="en-US" b="true" sz="18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Rows (Records)</a:t>
            </a:r>
            <a:r>
              <a:rPr lang="en-US" sz="18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containing single data entities.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2988" y="3205163"/>
            <a:ext cx="810731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Table Name: customers </a:t>
            </a:r>
            <a:r>
              <a:rPr lang="en-US" sz="157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Columns (Fields) → Name, Phone, City, Registration Date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35844" y="3579019"/>
            <a:ext cx="16216312" cy="1943100"/>
            <a:chOff x="0" y="0"/>
            <a:chExt cx="21621750" cy="259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621750" cy="2590800"/>
            </a:xfrm>
            <a:custGeom>
              <a:avLst/>
              <a:gdLst/>
              <a:ahLst/>
              <a:cxnLst/>
              <a:rect r="r" b="b" t="t" l="l"/>
              <a:pathLst>
                <a:path h="2590800" w="21621750">
                  <a:moveTo>
                    <a:pt x="0" y="0"/>
                  </a:moveTo>
                  <a:lnTo>
                    <a:pt x="21621750" y="0"/>
                  </a:lnTo>
                  <a:lnTo>
                    <a:pt x="21621750" y="2590800"/>
                  </a:lnTo>
                  <a:lnTo>
                    <a:pt x="0" y="259080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DBA"/>
              </a:solidFill>
              <a:prstDash val="solid"/>
              <a:miter/>
            </a:ln>
          </p:spPr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042988" y="3586162"/>
          <a:ext cx="16154400" cy="2000250"/>
        </p:xfrm>
        <a:graphic>
          <a:graphicData uri="http://schemas.openxmlformats.org/drawingml/2006/table">
            <a:tbl>
              <a:tblPr/>
              <a:tblGrid>
                <a:gridCol w="3582096"/>
                <a:gridCol w="2919522"/>
                <a:gridCol w="3287557"/>
                <a:gridCol w="2709227"/>
                <a:gridCol w="3655999"/>
              </a:tblGrid>
              <a:tr h="4785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customer_id PK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full_name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phone_number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city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total_spent_ngn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</a:tr>
              <a:tr h="507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b="true" sz="14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CUST-001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Kemi Adebayo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08031234567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Lagos (Yaba)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₦250,000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7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b="true" sz="14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CUST-002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Emeka Nwosu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08059876543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Abuja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₦180,500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507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b="true" sz="14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CUST-003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Amina Bello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08021112223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Ibadan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₦95,000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362789" y="6162675"/>
            <a:ext cx="789551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Columns (Fields)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5850" y="6376988"/>
            <a:ext cx="7700962" cy="65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462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Define the attributes. Every value in a column shares the same data type (e.g., text, numeric, date).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19910" y="6162675"/>
            <a:ext cx="789551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Rows (Records)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44050" y="6376988"/>
            <a:ext cx="7700962" cy="65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462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Represent individual real-world entities. Row 1 represents exclusively Kemi Adebayo's customer record.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2988" y="4536281"/>
            <a:ext cx="3595764" cy="14288"/>
            <a:chOff x="0" y="0"/>
            <a:chExt cx="4794352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94377" cy="19050"/>
            </a:xfrm>
            <a:custGeom>
              <a:avLst/>
              <a:gdLst/>
              <a:ahLst/>
              <a:cxnLst/>
              <a:rect r="r" b="b" t="t" l="l"/>
              <a:pathLst>
                <a:path h="19050" w="4794377">
                  <a:moveTo>
                    <a:pt x="0" y="0"/>
                  </a:moveTo>
                  <a:lnTo>
                    <a:pt x="4794377" y="0"/>
                  </a:lnTo>
                  <a:lnTo>
                    <a:pt x="479437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638751" y="4536281"/>
            <a:ext cx="2925366" cy="14288"/>
            <a:chOff x="0" y="0"/>
            <a:chExt cx="3900488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00424" cy="19050"/>
            </a:xfrm>
            <a:custGeom>
              <a:avLst/>
              <a:gdLst/>
              <a:ahLst/>
              <a:cxnLst/>
              <a:rect r="r" b="b" t="t" l="l"/>
              <a:pathLst>
                <a:path h="19050" w="3900424">
                  <a:moveTo>
                    <a:pt x="0" y="0"/>
                  </a:moveTo>
                  <a:lnTo>
                    <a:pt x="3900424" y="0"/>
                  </a:lnTo>
                  <a:lnTo>
                    <a:pt x="390042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564117" y="4536281"/>
            <a:ext cx="3297736" cy="14288"/>
            <a:chOff x="0" y="0"/>
            <a:chExt cx="4396981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96994" cy="19050"/>
            </a:xfrm>
            <a:custGeom>
              <a:avLst/>
              <a:gdLst/>
              <a:ahLst/>
              <a:cxnLst/>
              <a:rect r="r" b="b" t="t" l="l"/>
              <a:pathLst>
                <a:path h="19050" w="4396994">
                  <a:moveTo>
                    <a:pt x="0" y="0"/>
                  </a:moveTo>
                  <a:lnTo>
                    <a:pt x="4396994" y="0"/>
                  </a:lnTo>
                  <a:lnTo>
                    <a:pt x="439699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861843" y="4536281"/>
            <a:ext cx="2712615" cy="14288"/>
            <a:chOff x="0" y="0"/>
            <a:chExt cx="3616820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16833" cy="19050"/>
            </a:xfrm>
            <a:custGeom>
              <a:avLst/>
              <a:gdLst/>
              <a:ahLst/>
              <a:cxnLst/>
              <a:rect r="r" b="b" t="t" l="l"/>
              <a:pathLst>
                <a:path h="19050" w="3616833">
                  <a:moveTo>
                    <a:pt x="0" y="0"/>
                  </a:moveTo>
                  <a:lnTo>
                    <a:pt x="3616833" y="0"/>
                  </a:lnTo>
                  <a:lnTo>
                    <a:pt x="361683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574458" y="4536281"/>
            <a:ext cx="3670544" cy="14288"/>
            <a:chOff x="0" y="0"/>
            <a:chExt cx="4894059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94072" cy="19050"/>
            </a:xfrm>
            <a:custGeom>
              <a:avLst/>
              <a:gdLst/>
              <a:ahLst/>
              <a:cxnLst/>
              <a:rect r="r" b="b" t="t" l="l"/>
              <a:pathLst>
                <a:path h="19050" w="4894072">
                  <a:moveTo>
                    <a:pt x="0" y="0"/>
                  </a:moveTo>
                  <a:lnTo>
                    <a:pt x="4894072" y="0"/>
                  </a:lnTo>
                  <a:lnTo>
                    <a:pt x="48940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42988" y="5022056"/>
            <a:ext cx="3595764" cy="14288"/>
            <a:chOff x="0" y="0"/>
            <a:chExt cx="4794352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94377" cy="19050"/>
            </a:xfrm>
            <a:custGeom>
              <a:avLst/>
              <a:gdLst/>
              <a:ahLst/>
              <a:cxnLst/>
              <a:rect r="r" b="b" t="t" l="l"/>
              <a:pathLst>
                <a:path h="19050" w="4794377">
                  <a:moveTo>
                    <a:pt x="0" y="0"/>
                  </a:moveTo>
                  <a:lnTo>
                    <a:pt x="4794377" y="0"/>
                  </a:lnTo>
                  <a:lnTo>
                    <a:pt x="479437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638751" y="5022056"/>
            <a:ext cx="2925366" cy="14288"/>
            <a:chOff x="0" y="0"/>
            <a:chExt cx="3900488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00424" cy="19050"/>
            </a:xfrm>
            <a:custGeom>
              <a:avLst/>
              <a:gdLst/>
              <a:ahLst/>
              <a:cxnLst/>
              <a:rect r="r" b="b" t="t" l="l"/>
              <a:pathLst>
                <a:path h="19050" w="3900424">
                  <a:moveTo>
                    <a:pt x="0" y="0"/>
                  </a:moveTo>
                  <a:lnTo>
                    <a:pt x="3900424" y="0"/>
                  </a:lnTo>
                  <a:lnTo>
                    <a:pt x="390042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564117" y="5022056"/>
            <a:ext cx="3297736" cy="14288"/>
            <a:chOff x="0" y="0"/>
            <a:chExt cx="4396981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96994" cy="19050"/>
            </a:xfrm>
            <a:custGeom>
              <a:avLst/>
              <a:gdLst/>
              <a:ahLst/>
              <a:cxnLst/>
              <a:rect r="r" b="b" t="t" l="l"/>
              <a:pathLst>
                <a:path h="19050" w="4396994">
                  <a:moveTo>
                    <a:pt x="0" y="0"/>
                  </a:moveTo>
                  <a:lnTo>
                    <a:pt x="4396994" y="0"/>
                  </a:lnTo>
                  <a:lnTo>
                    <a:pt x="439699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861843" y="5022056"/>
            <a:ext cx="2712615" cy="14288"/>
            <a:chOff x="0" y="0"/>
            <a:chExt cx="3616820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16833" cy="19050"/>
            </a:xfrm>
            <a:custGeom>
              <a:avLst/>
              <a:gdLst/>
              <a:ahLst/>
              <a:cxnLst/>
              <a:rect r="r" b="b" t="t" l="l"/>
              <a:pathLst>
                <a:path h="19050" w="3616833">
                  <a:moveTo>
                    <a:pt x="0" y="0"/>
                  </a:moveTo>
                  <a:lnTo>
                    <a:pt x="3616833" y="0"/>
                  </a:lnTo>
                  <a:lnTo>
                    <a:pt x="361683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574458" y="5022056"/>
            <a:ext cx="3670544" cy="14288"/>
            <a:chOff x="0" y="0"/>
            <a:chExt cx="4894059" cy="190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94072" cy="19050"/>
            </a:xfrm>
            <a:custGeom>
              <a:avLst/>
              <a:gdLst/>
              <a:ahLst/>
              <a:cxnLst/>
              <a:rect r="r" b="b" t="t" l="l"/>
              <a:pathLst>
                <a:path h="19050" w="4894072">
                  <a:moveTo>
                    <a:pt x="0" y="0"/>
                  </a:moveTo>
                  <a:lnTo>
                    <a:pt x="4894072" y="0"/>
                  </a:lnTo>
                  <a:lnTo>
                    <a:pt x="48940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85850" y="6215062"/>
            <a:ext cx="200025" cy="200025"/>
            <a:chOff x="0" y="0"/>
            <a:chExt cx="266700" cy="2667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544050" y="6215062"/>
            <a:ext cx="200025" cy="200025"/>
            <a:chOff x="0" y="0"/>
            <a:chExt cx="266700" cy="2667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539379" y="3690938"/>
            <a:ext cx="360093" cy="242888"/>
            <a:chOff x="0" y="0"/>
            <a:chExt cx="480124" cy="32385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480060" cy="323850"/>
            </a:xfrm>
            <a:custGeom>
              <a:avLst/>
              <a:gdLst/>
              <a:ahLst/>
              <a:cxnLst/>
              <a:rect r="r" b="b" t="t" l="l"/>
              <a:pathLst>
                <a:path h="323850" w="480060">
                  <a:moveTo>
                    <a:pt x="0" y="0"/>
                  </a:moveTo>
                  <a:lnTo>
                    <a:pt x="480060" y="0"/>
                  </a:lnTo>
                  <a:lnTo>
                    <a:pt x="48006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174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6788357" y="8901113"/>
            <a:ext cx="647224" cy="571500"/>
            <a:chOff x="0" y="0"/>
            <a:chExt cx="862965" cy="7620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72" t="0" r="-772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143000" y="762000"/>
            <a:ext cx="10530907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is a Table? Records &amp; Fields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68" r="0" b="-68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3216564"/>
            <a:ext cx="5372100" cy="2000250"/>
            <a:chOff x="0" y="0"/>
            <a:chExt cx="7162800" cy="2667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162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57950" y="3216564"/>
            <a:ext cx="5372100" cy="2000250"/>
            <a:chOff x="0" y="0"/>
            <a:chExt cx="7162800" cy="2667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62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800" y="3216564"/>
            <a:ext cx="5372100" cy="2000250"/>
            <a:chOff x="0" y="0"/>
            <a:chExt cx="7162800" cy="2667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62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0100" y="2003518"/>
            <a:ext cx="16687800" cy="105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6"/>
              </a:lnSpc>
            </a:pPr>
            <a:r>
              <a:rPr lang="en-US" sz="23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b="true" sz="23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grain</a:t>
            </a:r>
            <a:r>
              <a:rPr lang="en-US" sz="23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of a table is the precise definition of what a single row represents. Establishing grain clarity prevents double-counting errors in analytics.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5850" y="5830634"/>
            <a:ext cx="400050" cy="400050"/>
            <a:chOff x="0" y="0"/>
            <a:chExt cx="533400" cy="5334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57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00138" y="3616614"/>
            <a:ext cx="1680562" cy="242888"/>
            <a:chOff x="0" y="0"/>
            <a:chExt cx="2240750" cy="3238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2240788" cy="323850"/>
            </a:xfrm>
            <a:custGeom>
              <a:avLst/>
              <a:gdLst/>
              <a:ahLst/>
              <a:cxnLst/>
              <a:rect r="r" b="b" t="t" l="l"/>
              <a:pathLst>
                <a:path h="323850" w="2240788">
                  <a:moveTo>
                    <a:pt x="0" y="0"/>
                  </a:moveTo>
                  <a:lnTo>
                    <a:pt x="2240788" y="0"/>
                  </a:lnTo>
                  <a:lnTo>
                    <a:pt x="2240788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17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00138" y="3926176"/>
            <a:ext cx="5010626" cy="30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b="true" sz="1887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Grain = 1 Customer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0138" y="4254789"/>
            <a:ext cx="4772025" cy="72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62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Each row represents one unique registered customer in Nigeria.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757988" y="3616614"/>
            <a:ext cx="1397718" cy="242888"/>
            <a:chOff x="0" y="0"/>
            <a:chExt cx="1863623" cy="3238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863598" cy="323850"/>
            </a:xfrm>
            <a:custGeom>
              <a:avLst/>
              <a:gdLst/>
              <a:ahLst/>
              <a:cxnLst/>
              <a:rect r="r" b="b" t="t" l="l"/>
              <a:pathLst>
                <a:path h="323850" w="1863598">
                  <a:moveTo>
                    <a:pt x="0" y="0"/>
                  </a:moveTo>
                  <a:lnTo>
                    <a:pt x="1863598" y="0"/>
                  </a:lnTo>
                  <a:lnTo>
                    <a:pt x="1863598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77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757988" y="3926176"/>
            <a:ext cx="5010626" cy="30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b="true" sz="1887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Grain = 1 Order Event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57988" y="4254789"/>
            <a:ext cx="4772025" cy="72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62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Each row represents one completed transaction event placed by a customer.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415838" y="3616614"/>
            <a:ext cx="1869205" cy="242888"/>
            <a:chOff x="0" y="0"/>
            <a:chExt cx="2492273" cy="3238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2492248" cy="323850"/>
            </a:xfrm>
            <a:custGeom>
              <a:avLst/>
              <a:gdLst/>
              <a:ahLst/>
              <a:cxnLst/>
              <a:rect r="r" b="b" t="t" l="l"/>
              <a:pathLst>
                <a:path h="323850" w="2492248">
                  <a:moveTo>
                    <a:pt x="0" y="0"/>
                  </a:moveTo>
                  <a:lnTo>
                    <a:pt x="2492248" y="0"/>
                  </a:lnTo>
                  <a:lnTo>
                    <a:pt x="2492248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32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15838" y="3926176"/>
            <a:ext cx="5010626" cy="30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b="true" sz="1887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Grain = 1 Line Item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15838" y="4254789"/>
            <a:ext cx="4772025" cy="72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62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Each row represents a specific product line inside a given order.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4500" y="5595938"/>
            <a:ext cx="5742346" cy="59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b="true" sz="188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Signature Technique Seed: Row-Count Prediction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14500" y="6205643"/>
            <a:ext cx="15487650" cy="730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1"/>
              </a:lnSpc>
            </a:pPr>
            <a:r>
              <a:rPr lang="en-US" sz="17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Before running JOIN queries later in Module 3, you will predict row counts on paper. Understanding table grain is the secret to knowing whether a JOIN will output 10 rows, 100 rows, or 1,000 rows!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6935688" y="8952681"/>
            <a:ext cx="647224" cy="571500"/>
            <a:chOff x="0" y="0"/>
            <a:chExt cx="862965" cy="762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6536657" y="315428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43000" y="762000"/>
            <a:ext cx="14041868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Table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Grain: What Does One Row Represent?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0125" y="5969874"/>
            <a:ext cx="8172450" cy="1435894"/>
            <a:chOff x="0" y="0"/>
            <a:chExt cx="10896600" cy="19145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896600" cy="1914525"/>
            </a:xfrm>
            <a:custGeom>
              <a:avLst/>
              <a:gdLst/>
              <a:ahLst/>
              <a:cxnLst/>
              <a:rect r="r" b="b" t="t" l="l"/>
              <a:pathLst>
                <a:path h="1914525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1914525"/>
                  </a:lnTo>
                  <a:lnTo>
                    <a:pt x="0" y="1914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15475" y="3499247"/>
            <a:ext cx="8172450" cy="2714625"/>
            <a:chOff x="0" y="0"/>
            <a:chExt cx="10896600" cy="36195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8966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3619500"/>
                  </a:lnTo>
                  <a:lnTo>
                    <a:pt x="0" y="361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52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71550" y="1816788"/>
            <a:ext cx="9050682" cy="64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1"/>
              </a:lnSpc>
            </a:pPr>
            <a:r>
              <a:rPr lang="en-US" b="true" sz="3375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Keys (PK): Uniqueness &amp; Identity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125" y="2678906"/>
            <a:ext cx="8172450" cy="75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b="true" sz="16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Key (PK)</a:t>
            </a: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is a column (or set of columns) that uniquely identifies every individual record in a table.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0175" y="3521869"/>
            <a:ext cx="7772400" cy="75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b="true" sz="16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Must be Unique:</a:t>
            </a: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No two rows can share the exact same Primary Key value.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0175" y="4318397"/>
            <a:ext cx="7772400" cy="37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b="true" sz="16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Cannot be Null:</a:t>
            </a: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A Primary Key value can never be empty or missing.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0175" y="4732734"/>
            <a:ext cx="7772400" cy="75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b="true" sz="16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Immutable Identity:</a:t>
            </a: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Serves as the permanent anchor for that entity (e.g., NIN, BVN, or system-generated ID).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0175" y="6414498"/>
            <a:ext cx="7529512" cy="56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b="true" sz="1462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Why not use customer names as Primary Keys?</a:t>
            </a:r>
          </a:p>
          <a:p>
            <a:pPr algn="l">
              <a:lnSpc>
                <a:spcPts val="1425"/>
              </a:lnSpc>
            </a:pPr>
            <a:r>
              <a:rPr lang="en-US" sz="1462">
                <a:solidFill>
                  <a:srgbClr val="0D5C46"/>
                </a:solidFill>
                <a:latin typeface="Poppins"/>
                <a:ea typeface="Poppins"/>
                <a:cs typeface="Poppins"/>
                <a:sym typeface="Poppins"/>
              </a:rPr>
              <a:t> Names are not unique! Nigeria has thousands of people named "Emeka Nwosu". Unique alphanumeric IDs (e.g., CUST-1042) guarantee zero ambiguity.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9788" y="3704034"/>
            <a:ext cx="7743825" cy="22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true" sz="1462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Table: products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22644" y="4063603"/>
            <a:ext cx="7758112" cy="1943100"/>
            <a:chOff x="0" y="0"/>
            <a:chExt cx="10344150" cy="259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44150" cy="2590800"/>
            </a:xfrm>
            <a:custGeom>
              <a:avLst/>
              <a:gdLst/>
              <a:ahLst/>
              <a:cxnLst/>
              <a:rect r="r" b="b" t="t" l="l"/>
              <a:pathLst>
                <a:path h="2590800" w="10344150">
                  <a:moveTo>
                    <a:pt x="0" y="0"/>
                  </a:moveTo>
                  <a:lnTo>
                    <a:pt x="10344150" y="0"/>
                  </a:lnTo>
                  <a:lnTo>
                    <a:pt x="10344150" y="2590800"/>
                  </a:lnTo>
                  <a:lnTo>
                    <a:pt x="0" y="259080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DBA"/>
              </a:solidFill>
              <a:prstDash val="solid"/>
              <a:miter/>
            </a:ln>
          </p:spPr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9729788" y="4070747"/>
          <a:ext cx="7715250" cy="2000250"/>
        </p:xfrm>
        <a:graphic>
          <a:graphicData uri="http://schemas.openxmlformats.org/drawingml/2006/table">
            <a:tbl>
              <a:tblPr/>
              <a:tblGrid>
                <a:gridCol w="2643549"/>
                <a:gridCol w="3157411"/>
                <a:gridCol w="1914290"/>
              </a:tblGrid>
              <a:tr h="4785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product_id PK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product_name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price_ngn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</a:tr>
              <a:tr h="507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b="true" sz="14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PRD-101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Lagos Ankaras 5m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₦18,500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507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b="true" sz="14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PRD-102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Leather Sandals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₦25,000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507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b="true" sz="14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PRD-103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Solar Powerbank 20k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₦32,000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1000125" y="3674269"/>
            <a:ext cx="171450" cy="214312"/>
            <a:chOff x="0" y="0"/>
            <a:chExt cx="228600" cy="2857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0125" y="4442222"/>
            <a:ext cx="171450" cy="214312"/>
            <a:chOff x="0" y="0"/>
            <a:chExt cx="228600" cy="2857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0125" y="4927997"/>
            <a:ext cx="171450" cy="214312"/>
            <a:chOff x="0" y="0"/>
            <a:chExt cx="228600" cy="2857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29788" y="5020866"/>
            <a:ext cx="2654122" cy="14288"/>
            <a:chOff x="0" y="0"/>
            <a:chExt cx="353883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38855" cy="19050"/>
            </a:xfrm>
            <a:custGeom>
              <a:avLst/>
              <a:gdLst/>
              <a:ahLst/>
              <a:cxnLst/>
              <a:rect r="r" b="b" t="t" l="l"/>
              <a:pathLst>
                <a:path h="19050" w="3538855">
                  <a:moveTo>
                    <a:pt x="0" y="0"/>
                  </a:moveTo>
                  <a:lnTo>
                    <a:pt x="3538855" y="0"/>
                  </a:lnTo>
                  <a:lnTo>
                    <a:pt x="353885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83910" y="5020866"/>
            <a:ext cx="3175616" cy="14288"/>
            <a:chOff x="0" y="0"/>
            <a:chExt cx="4234155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34180" cy="19050"/>
            </a:xfrm>
            <a:custGeom>
              <a:avLst/>
              <a:gdLst/>
              <a:ahLst/>
              <a:cxnLst/>
              <a:rect r="r" b="b" t="t" l="l"/>
              <a:pathLst>
                <a:path h="19050" w="4234180">
                  <a:moveTo>
                    <a:pt x="0" y="0"/>
                  </a:moveTo>
                  <a:lnTo>
                    <a:pt x="4234180" y="0"/>
                  </a:lnTo>
                  <a:lnTo>
                    <a:pt x="423418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559535" y="5020866"/>
            <a:ext cx="1914077" cy="14288"/>
            <a:chOff x="0" y="0"/>
            <a:chExt cx="2552103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52065" cy="19050"/>
            </a:xfrm>
            <a:custGeom>
              <a:avLst/>
              <a:gdLst/>
              <a:ahLst/>
              <a:cxnLst/>
              <a:rect r="r" b="b" t="t" l="l"/>
              <a:pathLst>
                <a:path h="19050" w="2552065">
                  <a:moveTo>
                    <a:pt x="0" y="0"/>
                  </a:moveTo>
                  <a:lnTo>
                    <a:pt x="2552065" y="0"/>
                  </a:lnTo>
                  <a:lnTo>
                    <a:pt x="255206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729788" y="5506641"/>
            <a:ext cx="2654122" cy="14288"/>
            <a:chOff x="0" y="0"/>
            <a:chExt cx="3538830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38855" cy="19050"/>
            </a:xfrm>
            <a:custGeom>
              <a:avLst/>
              <a:gdLst/>
              <a:ahLst/>
              <a:cxnLst/>
              <a:rect r="r" b="b" t="t" l="l"/>
              <a:pathLst>
                <a:path h="19050" w="3538855">
                  <a:moveTo>
                    <a:pt x="0" y="0"/>
                  </a:moveTo>
                  <a:lnTo>
                    <a:pt x="3538855" y="0"/>
                  </a:lnTo>
                  <a:lnTo>
                    <a:pt x="353885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83910" y="5506641"/>
            <a:ext cx="3175616" cy="14288"/>
            <a:chOff x="0" y="0"/>
            <a:chExt cx="4234155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34180" cy="19050"/>
            </a:xfrm>
            <a:custGeom>
              <a:avLst/>
              <a:gdLst/>
              <a:ahLst/>
              <a:cxnLst/>
              <a:rect r="r" b="b" t="t" l="l"/>
              <a:pathLst>
                <a:path h="19050" w="4234180">
                  <a:moveTo>
                    <a:pt x="0" y="0"/>
                  </a:moveTo>
                  <a:lnTo>
                    <a:pt x="4234180" y="0"/>
                  </a:lnTo>
                  <a:lnTo>
                    <a:pt x="423418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559535" y="5506641"/>
            <a:ext cx="1914077" cy="14288"/>
            <a:chOff x="0" y="0"/>
            <a:chExt cx="2552103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52065" cy="19050"/>
            </a:xfrm>
            <a:custGeom>
              <a:avLst/>
              <a:gdLst/>
              <a:ahLst/>
              <a:cxnLst/>
              <a:rect r="r" b="b" t="t" l="l"/>
              <a:pathLst>
                <a:path h="19050" w="2552065">
                  <a:moveTo>
                    <a:pt x="0" y="0"/>
                  </a:moveTo>
                  <a:lnTo>
                    <a:pt x="2552065" y="0"/>
                  </a:lnTo>
                  <a:lnTo>
                    <a:pt x="255206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001375" y="4199334"/>
            <a:ext cx="360093" cy="242888"/>
            <a:chOff x="0" y="0"/>
            <a:chExt cx="480124" cy="32385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480060" cy="323850"/>
            </a:xfrm>
            <a:custGeom>
              <a:avLst/>
              <a:gdLst/>
              <a:ahLst/>
              <a:cxnLst/>
              <a:rect r="r" b="b" t="t" l="l"/>
              <a:pathLst>
                <a:path h="323850" w="480060">
                  <a:moveTo>
                    <a:pt x="0" y="0"/>
                  </a:moveTo>
                  <a:lnTo>
                    <a:pt x="480060" y="0"/>
                  </a:lnTo>
                  <a:lnTo>
                    <a:pt x="48006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3" b="-2635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612076" y="9115699"/>
            <a:ext cx="647224" cy="571500"/>
            <a:chOff x="0" y="0"/>
            <a:chExt cx="862965" cy="7620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43000" y="762000"/>
            <a:ext cx="5178473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ENTITY INTEGRITY</a:t>
            </a:r>
          </a:p>
          <a:p>
            <a:pPr algn="l">
              <a:lnSpc>
                <a:spcPts val="6000"/>
              </a:lnSpc>
            </a:pP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6536657" y="315428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8" r="0" b="-68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5884236"/>
            <a:ext cx="16687800" cy="650081"/>
            <a:chOff x="0" y="0"/>
            <a:chExt cx="22250400" cy="86677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866775"/>
            </a:xfrm>
            <a:custGeom>
              <a:avLst/>
              <a:gdLst/>
              <a:ahLst/>
              <a:cxnLst/>
              <a:rect r="r" b="b" t="t" l="l"/>
              <a:pathLst>
                <a:path h="866775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866775"/>
                  </a:lnTo>
                  <a:lnTo>
                    <a:pt x="0" y="866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9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100" y="3498224"/>
            <a:ext cx="8201025" cy="2185988"/>
            <a:chOff x="0" y="0"/>
            <a:chExt cx="10934700" cy="29146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34700" cy="2914650"/>
            </a:xfrm>
            <a:custGeom>
              <a:avLst/>
              <a:gdLst/>
              <a:ahLst/>
              <a:cxnLst/>
              <a:rect r="r" b="b" t="t" l="l"/>
              <a:pathLst>
                <a:path h="29146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2914650"/>
                  </a:lnTo>
                  <a:lnTo>
                    <a:pt x="0" y="2914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75" y="3498224"/>
            <a:ext cx="8201025" cy="2185988"/>
            <a:chOff x="0" y="0"/>
            <a:chExt cx="10934700" cy="29146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34700" cy="2914650"/>
            </a:xfrm>
            <a:custGeom>
              <a:avLst/>
              <a:gdLst/>
              <a:ahLst/>
              <a:cxnLst/>
              <a:rect r="r" b="b" t="t" l="l"/>
              <a:pathLst>
                <a:path h="29146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2914650"/>
                  </a:lnTo>
                  <a:lnTo>
                    <a:pt x="0" y="2914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0100" y="2086037"/>
            <a:ext cx="9299695" cy="64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1"/>
              </a:lnSpc>
            </a:pPr>
            <a:r>
              <a:rPr lang="en-US" b="true" sz="3375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Foreign Keys (FK): Linking Tables Together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00" y="2881480"/>
            <a:ext cx="16687800" cy="37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b="true" sz="16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Foreign Key (FK)</a:t>
            </a: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is a column in one table that references the Primary Key of another table, creating a relational bridge.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6831" y="5925595"/>
            <a:ext cx="15992475" cy="65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b="true" sz="1462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 Link Works:</a:t>
            </a:r>
            <a:r>
              <a:rPr lang="en-US" sz="1462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 Instead of re-typing Kemi Adebayo's full name, phone number, and address on every order, the orders table simply references customer_id = CUST-001!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5838" y="3674436"/>
            <a:ext cx="7829550" cy="22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true" sz="1462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Parent Table: customers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8694" y="4005430"/>
            <a:ext cx="7843838" cy="1500188"/>
            <a:chOff x="0" y="0"/>
            <a:chExt cx="10458450" cy="200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58450" cy="2000250"/>
            </a:xfrm>
            <a:custGeom>
              <a:avLst/>
              <a:gdLst/>
              <a:ahLst/>
              <a:cxnLst/>
              <a:rect r="r" b="b" t="t" l="l"/>
              <a:pathLst>
                <a:path h="200025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2000250"/>
                  </a:lnTo>
                  <a:lnTo>
                    <a:pt x="0" y="200025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DBA"/>
              </a:solidFill>
              <a:prstDash val="solid"/>
              <a:miter/>
            </a:ln>
          </p:spPr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85838" y="4012574"/>
          <a:ext cx="7772400" cy="1511300"/>
        </p:xfrm>
        <a:graphic>
          <a:graphicData uri="http://schemas.openxmlformats.org/drawingml/2006/table">
            <a:tbl>
              <a:tblPr/>
              <a:tblGrid>
                <a:gridCol w="3422638"/>
                <a:gridCol w="2789908"/>
                <a:gridCol w="1559853"/>
              </a:tblGrid>
              <a:tr h="4952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customer_id PK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full_name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city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</a:tr>
              <a:tr h="5080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b="true" sz="14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CUST-001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Kemi Adebayo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Lagos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80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b="true" sz="14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CUST-002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Emeka Nwosu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Abuja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9472612" y="3674436"/>
            <a:ext cx="7829550" cy="22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true" sz="1462">
                <a:solidFill>
                  <a:srgbClr val="0284C7"/>
                </a:solidFill>
                <a:latin typeface="Poppins Bold"/>
                <a:ea typeface="Poppins Bold"/>
                <a:cs typeface="Poppins Bold"/>
                <a:sym typeface="Poppins Bold"/>
              </a:rPr>
              <a:t>Child Table: orders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65469" y="4005430"/>
            <a:ext cx="7843838" cy="1457325"/>
            <a:chOff x="0" y="0"/>
            <a:chExt cx="10458450" cy="1943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58450" cy="1943100"/>
            </a:xfrm>
            <a:custGeom>
              <a:avLst/>
              <a:gdLst/>
              <a:ahLst/>
              <a:cxnLst/>
              <a:rect r="r" b="b" t="t" l="l"/>
              <a:pathLst>
                <a:path h="194310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943100"/>
                  </a:lnTo>
                  <a:lnTo>
                    <a:pt x="0" y="194310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DBA"/>
              </a:solidFill>
              <a:prstDash val="solid"/>
              <a:miter/>
            </a:ln>
          </p:spPr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9472612" y="4012574"/>
          <a:ext cx="7810500" cy="1495425"/>
        </p:xfrm>
        <a:graphic>
          <a:graphicData uri="http://schemas.openxmlformats.org/drawingml/2006/table">
            <a:tbl>
              <a:tblPr/>
              <a:tblGrid>
                <a:gridCol w="2400251"/>
                <a:gridCol w="2992163"/>
                <a:gridCol w="2418086"/>
              </a:tblGrid>
              <a:tr h="4793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order_id PK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customer_id FK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amount_ngn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</a:tr>
              <a:tr h="50806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ORD-901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b="true" sz="14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CUST-001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₦45,000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50806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ORD-902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b="true" sz="14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CUST-001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₦120,000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grpSp>
        <p:nvGrpSpPr>
          <p:cNvPr name="Group 21" id="21"/>
          <p:cNvGrpSpPr/>
          <p:nvPr/>
        </p:nvGrpSpPr>
        <p:grpSpPr>
          <a:xfrm rot="0">
            <a:off x="978694" y="6023539"/>
            <a:ext cx="228600" cy="185738"/>
            <a:chOff x="0" y="0"/>
            <a:chExt cx="304800" cy="2476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04800" cy="247650"/>
            </a:xfrm>
            <a:custGeom>
              <a:avLst/>
              <a:gdLst/>
              <a:ahLst/>
              <a:cxnLst/>
              <a:rect r="r" b="b" t="t" l="l"/>
              <a:pathLst>
                <a:path h="2476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0125" y="4998411"/>
            <a:ext cx="3444402" cy="14288"/>
            <a:chOff x="0" y="0"/>
            <a:chExt cx="4592536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92574" cy="19050"/>
            </a:xfrm>
            <a:custGeom>
              <a:avLst/>
              <a:gdLst/>
              <a:ahLst/>
              <a:cxnLst/>
              <a:rect r="r" b="b" t="t" l="l"/>
              <a:pathLst>
                <a:path h="19050" w="4592574">
                  <a:moveTo>
                    <a:pt x="0" y="0"/>
                  </a:moveTo>
                  <a:lnTo>
                    <a:pt x="4592574" y="0"/>
                  </a:lnTo>
                  <a:lnTo>
                    <a:pt x="45925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444527" y="4998411"/>
            <a:ext cx="2802360" cy="14288"/>
            <a:chOff x="0" y="0"/>
            <a:chExt cx="3736480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36467" cy="19050"/>
            </a:xfrm>
            <a:custGeom>
              <a:avLst/>
              <a:gdLst/>
              <a:ahLst/>
              <a:cxnLst/>
              <a:rect r="r" b="b" t="t" l="l"/>
              <a:pathLst>
                <a:path h="19050" w="3736467">
                  <a:moveTo>
                    <a:pt x="0" y="0"/>
                  </a:moveTo>
                  <a:lnTo>
                    <a:pt x="3736467" y="0"/>
                  </a:lnTo>
                  <a:lnTo>
                    <a:pt x="373646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246887" y="4998411"/>
            <a:ext cx="1554213" cy="14288"/>
            <a:chOff x="0" y="0"/>
            <a:chExt cx="2072284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2259" cy="19050"/>
            </a:xfrm>
            <a:custGeom>
              <a:avLst/>
              <a:gdLst/>
              <a:ahLst/>
              <a:cxnLst/>
              <a:rect r="r" b="b" t="t" l="l"/>
              <a:pathLst>
                <a:path h="19050" w="2072259">
                  <a:moveTo>
                    <a:pt x="0" y="0"/>
                  </a:moveTo>
                  <a:lnTo>
                    <a:pt x="2072259" y="0"/>
                  </a:lnTo>
                  <a:lnTo>
                    <a:pt x="2072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472612" y="4962693"/>
            <a:ext cx="2403872" cy="14288"/>
            <a:chOff x="0" y="0"/>
            <a:chExt cx="3205162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05099" cy="19050"/>
            </a:xfrm>
            <a:custGeom>
              <a:avLst/>
              <a:gdLst/>
              <a:ahLst/>
              <a:cxnLst/>
              <a:rect r="r" b="b" t="t" l="l"/>
              <a:pathLst>
                <a:path h="19050" w="3205099">
                  <a:moveTo>
                    <a:pt x="0" y="0"/>
                  </a:moveTo>
                  <a:lnTo>
                    <a:pt x="3205099" y="0"/>
                  </a:lnTo>
                  <a:lnTo>
                    <a:pt x="320509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76484" y="4962693"/>
            <a:ext cx="3003718" cy="14288"/>
            <a:chOff x="0" y="0"/>
            <a:chExt cx="4004958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04945" cy="19050"/>
            </a:xfrm>
            <a:custGeom>
              <a:avLst/>
              <a:gdLst/>
              <a:ahLst/>
              <a:cxnLst/>
              <a:rect r="r" b="b" t="t" l="l"/>
              <a:pathLst>
                <a:path h="19050" w="4004945">
                  <a:moveTo>
                    <a:pt x="0" y="0"/>
                  </a:moveTo>
                  <a:lnTo>
                    <a:pt x="4004945" y="0"/>
                  </a:lnTo>
                  <a:lnTo>
                    <a:pt x="400494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880203" y="4962693"/>
            <a:ext cx="2421950" cy="14288"/>
            <a:chOff x="0" y="0"/>
            <a:chExt cx="3229267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29229" cy="19050"/>
            </a:xfrm>
            <a:custGeom>
              <a:avLst/>
              <a:gdLst/>
              <a:ahLst/>
              <a:cxnLst/>
              <a:rect r="r" b="b" t="t" l="l"/>
              <a:pathLst>
                <a:path h="19050" w="3229229">
                  <a:moveTo>
                    <a:pt x="0" y="0"/>
                  </a:moveTo>
                  <a:lnTo>
                    <a:pt x="3229229" y="0"/>
                  </a:lnTo>
                  <a:lnTo>
                    <a:pt x="32292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542280" y="4141161"/>
            <a:ext cx="360093" cy="242888"/>
            <a:chOff x="0" y="0"/>
            <a:chExt cx="480124" cy="3238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480060" cy="323850"/>
            </a:xfrm>
            <a:custGeom>
              <a:avLst/>
              <a:gdLst/>
              <a:ahLst/>
              <a:cxnLst/>
              <a:rect r="r" b="b" t="t" l="l"/>
              <a:pathLst>
                <a:path h="323850" w="480060">
                  <a:moveTo>
                    <a:pt x="0" y="0"/>
                  </a:moveTo>
                  <a:lnTo>
                    <a:pt x="480060" y="0"/>
                  </a:lnTo>
                  <a:lnTo>
                    <a:pt x="48006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174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674548" y="4141161"/>
            <a:ext cx="360093" cy="242888"/>
            <a:chOff x="0" y="0"/>
            <a:chExt cx="480124" cy="3238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480060" cy="323850"/>
            </a:xfrm>
            <a:custGeom>
              <a:avLst/>
              <a:gdLst/>
              <a:ahLst/>
              <a:cxnLst/>
              <a:rect r="r" b="b" t="t" l="l"/>
              <a:pathLst>
                <a:path h="323850" w="480060">
                  <a:moveTo>
                    <a:pt x="0" y="0"/>
                  </a:moveTo>
                  <a:lnTo>
                    <a:pt x="480060" y="0"/>
                  </a:lnTo>
                  <a:lnTo>
                    <a:pt x="48006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174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387388" y="4141161"/>
            <a:ext cx="360093" cy="242888"/>
            <a:chOff x="0" y="0"/>
            <a:chExt cx="480124" cy="3238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480060" cy="323850"/>
            </a:xfrm>
            <a:custGeom>
              <a:avLst/>
              <a:gdLst/>
              <a:ahLst/>
              <a:cxnLst/>
              <a:rect r="r" b="b" t="t" l="l"/>
              <a:pathLst>
                <a:path h="323850" w="480060">
                  <a:moveTo>
                    <a:pt x="0" y="0"/>
                  </a:moveTo>
                  <a:lnTo>
                    <a:pt x="480060" y="0"/>
                  </a:lnTo>
                  <a:lnTo>
                    <a:pt x="48006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7142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578501" y="8666931"/>
            <a:ext cx="647224" cy="571500"/>
            <a:chOff x="0" y="0"/>
            <a:chExt cx="862965" cy="7620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72" t="0" r="-772" b="0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16536657" y="315428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43000" y="762000"/>
            <a:ext cx="6753900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ELATIONAL INTEGRITY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2859881"/>
            <a:ext cx="8201025" cy="2828925"/>
            <a:chOff x="0" y="0"/>
            <a:chExt cx="10934700" cy="37719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934700" cy="3771900"/>
            </a:xfrm>
            <a:custGeom>
              <a:avLst/>
              <a:gdLst/>
              <a:ahLst/>
              <a:cxnLst/>
              <a:rect r="r" b="b" t="t" l="l"/>
              <a:pathLst>
                <a:path h="377190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3771900"/>
                  </a:lnTo>
                  <a:lnTo>
                    <a:pt x="0" y="377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50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86875" y="2859881"/>
            <a:ext cx="8201025" cy="2828925"/>
            <a:chOff x="0" y="0"/>
            <a:chExt cx="10934700" cy="37719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34700" cy="3771900"/>
            </a:xfrm>
            <a:custGeom>
              <a:avLst/>
              <a:gdLst/>
              <a:ahLst/>
              <a:cxnLst/>
              <a:rect r="r" b="b" t="t" l="l"/>
              <a:pathLst>
                <a:path h="377190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3771900"/>
                  </a:lnTo>
                  <a:lnTo>
                    <a:pt x="0" y="377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50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3974306"/>
            <a:ext cx="7558088" cy="785812"/>
            <a:chOff x="0" y="0"/>
            <a:chExt cx="10077450" cy="1047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0774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0077450">
                  <a:moveTo>
                    <a:pt x="0" y="0"/>
                  </a:moveTo>
                  <a:lnTo>
                    <a:pt x="10077450" y="0"/>
                  </a:lnTo>
                  <a:lnTo>
                    <a:pt x="10077450" y="1047750"/>
                  </a:lnTo>
                  <a:lnTo>
                    <a:pt x="0" y="104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86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29775" y="3974306"/>
            <a:ext cx="7558088" cy="785812"/>
            <a:chOff x="0" y="0"/>
            <a:chExt cx="10077450" cy="10477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0774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0077450">
                  <a:moveTo>
                    <a:pt x="0" y="0"/>
                  </a:moveTo>
                  <a:lnTo>
                    <a:pt x="10077450" y="0"/>
                  </a:lnTo>
                  <a:lnTo>
                    <a:pt x="10077450" y="1047750"/>
                  </a:lnTo>
                  <a:lnTo>
                    <a:pt x="0" y="104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86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9625" y="1978713"/>
            <a:ext cx="10667772" cy="70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1"/>
              </a:lnSpc>
            </a:pPr>
            <a:r>
              <a:rPr lang="en-US" b="true" sz="3674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Relational Structure: Eliminating Duplication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14412" y="6285970"/>
            <a:ext cx="257175" cy="200025"/>
            <a:chOff x="0" y="0"/>
            <a:chExt cx="342900" cy="2667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342900" cy="266700"/>
            </a:xfrm>
            <a:custGeom>
              <a:avLst/>
              <a:gdLst/>
              <a:ahLst/>
              <a:cxnLst/>
              <a:rect r="r" b="b" t="t" l="l"/>
              <a:pathLst>
                <a:path h="2667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714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50908" y="3202778"/>
            <a:ext cx="7735967" cy="35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87">
                <a:solidFill>
                  <a:srgbClr val="991B1B"/>
                </a:solidFill>
                <a:latin typeface="Poppins Bold"/>
                <a:ea typeface="Poppins Bold"/>
                <a:cs typeface="Poppins Bold"/>
                <a:sym typeface="Poppins Bold"/>
              </a:rPr>
              <a:t>Flat Spreadsheet Approach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3000" y="3479006"/>
            <a:ext cx="7558088" cy="40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1849">
                <a:solidFill>
                  <a:srgbClr val="7F1D1D"/>
                </a:solidFill>
                <a:latin typeface="Poppins"/>
                <a:ea typeface="Poppins"/>
                <a:cs typeface="Poppins"/>
                <a:sym typeface="Poppins"/>
              </a:rPr>
              <a:t>Repeats customer phone and city on every single order row.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4750594"/>
            <a:ext cx="7558088" cy="820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b="true" sz="1849">
                <a:solidFill>
                  <a:srgbClr val="991B1B"/>
                </a:solidFill>
                <a:latin typeface="Poppins Bold"/>
                <a:ea typeface="Poppins Bold"/>
                <a:cs typeface="Poppins Bold"/>
                <a:sym typeface="Poppins Bold"/>
              </a:rPr>
              <a:t>Risk:</a:t>
            </a:r>
            <a:r>
              <a:rPr lang="en-US" sz="1849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 If Kemi changes her address, you must update 3 rows (or 3,000 rows!). Miss one, and data breaks.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34588" y="3145628"/>
            <a:ext cx="7735967" cy="35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87">
                <a:solidFill>
                  <a:srgbClr val="065F46"/>
                </a:solidFill>
                <a:latin typeface="Poppins Bold"/>
                <a:ea typeface="Poppins Bold"/>
                <a:cs typeface="Poppins Bold"/>
                <a:sym typeface="Poppins Bold"/>
              </a:rPr>
              <a:t>Relational Database Approach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29775" y="3479006"/>
            <a:ext cx="7558088" cy="40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1849">
                <a:solidFill>
                  <a:srgbClr val="065F46"/>
                </a:solidFill>
                <a:latin typeface="Poppins"/>
                <a:ea typeface="Poppins"/>
                <a:cs typeface="Poppins"/>
                <a:sym typeface="Poppins"/>
              </a:rPr>
              <a:t>Stores customer info exactly ONCE in customers table.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29775" y="4750594"/>
            <a:ext cx="7558088" cy="820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b="true" sz="1849">
                <a:solidFill>
                  <a:srgbClr val="065F46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Benefit:</a:t>
            </a:r>
            <a:r>
              <a:rPr lang="en-US" sz="1849">
                <a:solidFill>
                  <a:srgbClr val="065F46"/>
                </a:solidFill>
                <a:latin typeface="Poppins"/>
                <a:ea typeface="Poppins"/>
                <a:cs typeface="Poppins"/>
                <a:sym typeface="Poppins"/>
              </a:rPr>
              <a:t> Single Source of Truth! Update Kemi's address once in customers, and every connected order reflects it automatically.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43000" y="3217069"/>
            <a:ext cx="214312" cy="214312"/>
            <a:chOff x="0" y="0"/>
            <a:chExt cx="285750" cy="2857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666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29775" y="3217069"/>
            <a:ext cx="214312" cy="214312"/>
            <a:chOff x="0" y="0"/>
            <a:chExt cx="285750" cy="2857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666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612076" y="8810899"/>
            <a:ext cx="647224" cy="571500"/>
            <a:chOff x="0" y="0"/>
            <a:chExt cx="862965" cy="762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6536657" y="315428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43000" y="762000"/>
            <a:ext cx="6174173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SCHEMA EFFICIENCY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7312" y="6162145"/>
            <a:ext cx="12937950" cy="40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  <a:spcBef>
                <a:spcPct val="0"/>
              </a:spcBef>
            </a:pPr>
            <a:r>
              <a:rPr lang="en-US" sz="18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database design, this  practice of splitting data into linked tables to stop duplication is called Normalisation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1050" y="6979918"/>
            <a:ext cx="16687800" cy="528638"/>
            <a:chOff x="0" y="0"/>
            <a:chExt cx="22250400" cy="704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704850"/>
            </a:xfrm>
            <a:custGeom>
              <a:avLst/>
              <a:gdLst/>
              <a:ahLst/>
              <a:cxnLst/>
              <a:rect r="r" b="b" t="t" l="l"/>
              <a:pathLst>
                <a:path h="70485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704850"/>
                  </a:lnTo>
                  <a:lnTo>
                    <a:pt x="0" y="70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70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00100" y="1816787"/>
            <a:ext cx="9358436" cy="64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1"/>
              </a:lnSpc>
            </a:pPr>
            <a:r>
              <a:rPr lang="en-US" b="true" sz="3375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When to Use a Database vs. a Spreadsheet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92956" y="2783680"/>
            <a:ext cx="16702088" cy="3157538"/>
            <a:chOff x="0" y="0"/>
            <a:chExt cx="22269450" cy="4210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69450" cy="4210050"/>
            </a:xfrm>
            <a:custGeom>
              <a:avLst/>
              <a:gdLst/>
              <a:ahLst/>
              <a:cxnLst/>
              <a:rect r="r" b="b" t="t" l="l"/>
              <a:pathLst>
                <a:path h="4210050" w="22269450">
                  <a:moveTo>
                    <a:pt x="0" y="0"/>
                  </a:moveTo>
                  <a:lnTo>
                    <a:pt x="22269450" y="0"/>
                  </a:lnTo>
                  <a:lnTo>
                    <a:pt x="22269450" y="4210050"/>
                  </a:lnTo>
                  <a:lnTo>
                    <a:pt x="0" y="421005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DBA"/>
              </a:solidFill>
              <a:prstDash val="solid"/>
              <a:miter/>
            </a:ln>
          </p:spPr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800100" y="2790823"/>
          <a:ext cx="16668750" cy="3836670"/>
        </p:xfrm>
        <a:graphic>
          <a:graphicData uri="http://schemas.openxmlformats.org/drawingml/2006/table">
            <a:tbl>
              <a:tblPr/>
              <a:tblGrid>
                <a:gridCol w="3345019"/>
                <a:gridCol w="6661642"/>
                <a:gridCol w="6662089"/>
              </a:tblGrid>
              <a:tr h="6283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9"/>
                        </a:lnSpc>
                        <a:defRPr/>
                      </a:pPr>
                      <a:r>
                        <a:rPr lang="en-US" sz="154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Dimension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9"/>
                        </a:lnSpc>
                        <a:defRPr/>
                      </a:pPr>
                      <a:r>
                        <a:rPr lang="en-US" sz="154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Spreadsheet (Excel / Google Sheets)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59"/>
                        </a:lnSpc>
                        <a:defRPr/>
                      </a:pPr>
                      <a:r>
                        <a:rPr lang="en-US" sz="154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Relational Database (SQL / PostgreSQL)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6"/>
                    </a:solidFill>
                  </a:tcPr>
                </a:tc>
              </a:tr>
              <a:tr h="802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b="true" sz="16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 Scale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sz="16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Best for small data (&lt; 100,000 rows). Slows down drastically on large files.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sz="16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Built for millions to billions of rows with high-speed indexing.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02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b="true" sz="16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 Integrity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sz="16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Low. Anyone can accidentally overwrite formulas or type text into date columns.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sz="16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High. Enforces strict schema data types, unique constraints, and foreign key rules.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802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b="true" sz="16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Multiple Users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sz="16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Concurrency issues, version confusion ("final_v2_edit.xlsx").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sz="16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Handles thousands of simultaneous secure read/write transactions seamlessly.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02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b="true" sz="1662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Complex Querying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sz="16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Difficult across multiple sheets; requires fragile VLOOKUPs/INDEX-MATCH.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94"/>
                        </a:lnSpc>
                        <a:defRPr/>
                      </a:pPr>
                      <a:r>
                        <a:rPr lang="en-US" sz="1662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Powerful declarative SQL queries join, filter, and aggregate multi-table data instantly.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800100" y="3740943"/>
            <a:ext cx="3337474" cy="14288"/>
            <a:chOff x="0" y="0"/>
            <a:chExt cx="4449966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9953" cy="19050"/>
            </a:xfrm>
            <a:custGeom>
              <a:avLst/>
              <a:gdLst/>
              <a:ahLst/>
              <a:cxnLst/>
              <a:rect r="r" b="b" t="t" l="l"/>
              <a:pathLst>
                <a:path h="19050" w="4449953">
                  <a:moveTo>
                    <a:pt x="0" y="0"/>
                  </a:moveTo>
                  <a:lnTo>
                    <a:pt x="4449953" y="0"/>
                  </a:lnTo>
                  <a:lnTo>
                    <a:pt x="444995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37574" y="3740943"/>
            <a:ext cx="6674939" cy="14288"/>
            <a:chOff x="0" y="0"/>
            <a:chExt cx="8899919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99906" cy="19050"/>
            </a:xfrm>
            <a:custGeom>
              <a:avLst/>
              <a:gdLst/>
              <a:ahLst/>
              <a:cxnLst/>
              <a:rect r="r" b="b" t="t" l="l"/>
              <a:pathLst>
                <a:path h="19050" w="8899906">
                  <a:moveTo>
                    <a:pt x="0" y="0"/>
                  </a:moveTo>
                  <a:lnTo>
                    <a:pt x="8899906" y="0"/>
                  </a:lnTo>
                  <a:lnTo>
                    <a:pt x="889990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12513" y="3740943"/>
            <a:ext cx="6675387" cy="14288"/>
            <a:chOff x="0" y="0"/>
            <a:chExt cx="8900516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00541" cy="19050"/>
            </a:xfrm>
            <a:custGeom>
              <a:avLst/>
              <a:gdLst/>
              <a:ahLst/>
              <a:cxnLst/>
              <a:rect r="r" b="b" t="t" l="l"/>
              <a:pathLst>
                <a:path h="19050" w="8900541">
                  <a:moveTo>
                    <a:pt x="0" y="0"/>
                  </a:moveTo>
                  <a:lnTo>
                    <a:pt x="8900541" y="0"/>
                  </a:lnTo>
                  <a:lnTo>
                    <a:pt x="890054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00100" y="4469606"/>
            <a:ext cx="3337474" cy="14288"/>
            <a:chOff x="0" y="0"/>
            <a:chExt cx="4449966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9953" cy="19050"/>
            </a:xfrm>
            <a:custGeom>
              <a:avLst/>
              <a:gdLst/>
              <a:ahLst/>
              <a:cxnLst/>
              <a:rect r="r" b="b" t="t" l="l"/>
              <a:pathLst>
                <a:path h="19050" w="4449953">
                  <a:moveTo>
                    <a:pt x="0" y="0"/>
                  </a:moveTo>
                  <a:lnTo>
                    <a:pt x="4449953" y="0"/>
                  </a:lnTo>
                  <a:lnTo>
                    <a:pt x="444995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137574" y="4469606"/>
            <a:ext cx="6674939" cy="14288"/>
            <a:chOff x="0" y="0"/>
            <a:chExt cx="8899919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99906" cy="19050"/>
            </a:xfrm>
            <a:custGeom>
              <a:avLst/>
              <a:gdLst/>
              <a:ahLst/>
              <a:cxnLst/>
              <a:rect r="r" b="b" t="t" l="l"/>
              <a:pathLst>
                <a:path h="19050" w="8899906">
                  <a:moveTo>
                    <a:pt x="0" y="0"/>
                  </a:moveTo>
                  <a:lnTo>
                    <a:pt x="8899906" y="0"/>
                  </a:lnTo>
                  <a:lnTo>
                    <a:pt x="889990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812513" y="4469606"/>
            <a:ext cx="6675387" cy="14288"/>
            <a:chOff x="0" y="0"/>
            <a:chExt cx="8900516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00541" cy="19050"/>
            </a:xfrm>
            <a:custGeom>
              <a:avLst/>
              <a:gdLst/>
              <a:ahLst/>
              <a:cxnLst/>
              <a:rect r="r" b="b" t="t" l="l"/>
              <a:pathLst>
                <a:path h="19050" w="8900541">
                  <a:moveTo>
                    <a:pt x="0" y="0"/>
                  </a:moveTo>
                  <a:lnTo>
                    <a:pt x="8900541" y="0"/>
                  </a:lnTo>
                  <a:lnTo>
                    <a:pt x="890054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00100" y="5198268"/>
            <a:ext cx="3337474" cy="14288"/>
            <a:chOff x="0" y="0"/>
            <a:chExt cx="4449966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49953" cy="19050"/>
            </a:xfrm>
            <a:custGeom>
              <a:avLst/>
              <a:gdLst/>
              <a:ahLst/>
              <a:cxnLst/>
              <a:rect r="r" b="b" t="t" l="l"/>
              <a:pathLst>
                <a:path h="19050" w="4449953">
                  <a:moveTo>
                    <a:pt x="0" y="0"/>
                  </a:moveTo>
                  <a:lnTo>
                    <a:pt x="4449953" y="0"/>
                  </a:lnTo>
                  <a:lnTo>
                    <a:pt x="444995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137574" y="5198268"/>
            <a:ext cx="6674939" cy="14288"/>
            <a:chOff x="0" y="0"/>
            <a:chExt cx="8899919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99906" cy="19050"/>
            </a:xfrm>
            <a:custGeom>
              <a:avLst/>
              <a:gdLst/>
              <a:ahLst/>
              <a:cxnLst/>
              <a:rect r="r" b="b" t="t" l="l"/>
              <a:pathLst>
                <a:path h="19050" w="8899906">
                  <a:moveTo>
                    <a:pt x="0" y="0"/>
                  </a:moveTo>
                  <a:lnTo>
                    <a:pt x="8899906" y="0"/>
                  </a:lnTo>
                  <a:lnTo>
                    <a:pt x="889990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812513" y="5198268"/>
            <a:ext cx="6675387" cy="14288"/>
            <a:chOff x="0" y="0"/>
            <a:chExt cx="8900516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00541" cy="19050"/>
            </a:xfrm>
            <a:custGeom>
              <a:avLst/>
              <a:gdLst/>
              <a:ahLst/>
              <a:cxnLst/>
              <a:rect r="r" b="b" t="t" l="l"/>
              <a:pathLst>
                <a:path h="19050" w="8900541">
                  <a:moveTo>
                    <a:pt x="0" y="0"/>
                  </a:moveTo>
                  <a:lnTo>
                    <a:pt x="8900541" y="0"/>
                  </a:lnTo>
                  <a:lnTo>
                    <a:pt x="890054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935688" y="9353824"/>
            <a:ext cx="647224" cy="571500"/>
            <a:chOff x="0" y="0"/>
            <a:chExt cx="862965" cy="7620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72" t="0" r="-77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43000" y="762000"/>
            <a:ext cx="9081150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TOOL SELECTION FRAMEWORK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6536657" y="315428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8" r="0" b="-68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5240335"/>
            <a:ext cx="16687800" cy="1743075"/>
            <a:chOff x="0" y="0"/>
            <a:chExt cx="22250400" cy="23241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2324100"/>
            </a:xfrm>
            <a:custGeom>
              <a:avLst/>
              <a:gdLst/>
              <a:ahLst/>
              <a:cxnLst/>
              <a:rect r="r" b="b" t="t" l="l"/>
              <a:pathLst>
                <a:path h="23241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81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100" y="3280567"/>
            <a:ext cx="5086350" cy="1500188"/>
            <a:chOff x="0" y="0"/>
            <a:chExt cx="6781800" cy="20002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7818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2000250"/>
                  </a:lnTo>
                  <a:lnTo>
                    <a:pt x="0" y="200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95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0825" y="3280567"/>
            <a:ext cx="5086350" cy="1500188"/>
            <a:chOff x="0" y="0"/>
            <a:chExt cx="6781800" cy="20002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7818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2000250"/>
                  </a:lnTo>
                  <a:lnTo>
                    <a:pt x="0" y="200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95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01550" y="3280567"/>
            <a:ext cx="5086350" cy="1500188"/>
            <a:chOff x="0" y="0"/>
            <a:chExt cx="6781800" cy="20002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7818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2000250"/>
                  </a:lnTo>
                  <a:lnTo>
                    <a:pt x="0" y="200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95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0100" y="1909763"/>
            <a:ext cx="13087546" cy="713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1"/>
              </a:lnSpc>
            </a:pPr>
            <a:r>
              <a:rPr lang="en-US" b="true" sz="3774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Worked Example: Tracing the Nigerian Retail Schema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7725" y="2675729"/>
            <a:ext cx="16687800" cy="43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Let's trace how </a:t>
            </a:r>
            <a:r>
              <a:rPr lang="en-US" b="true" sz="1974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customers</a:t>
            </a:r>
            <a:r>
              <a:rPr lang="en-US" sz="197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b="true" sz="1974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orders</a:t>
            </a:r>
            <a:r>
              <a:rPr lang="en-US" sz="197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b="true" sz="1974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payments</a:t>
            </a:r>
            <a:r>
              <a:rPr lang="en-US" sz="197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connect in our cohort dataset: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5930" y="5433218"/>
            <a:ext cx="16786146" cy="29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862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Step-by-Step Relationship Logic: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5838" y="3447254"/>
            <a:ext cx="4714875" cy="29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862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[1] customers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5930" y="3813981"/>
            <a:ext cx="4714875" cy="10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customer_id</a:t>
            </a: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• full_name</a:t>
            </a: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• phone_number</a:t>
            </a: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• city (Lagos/Abuja)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15050" y="3887785"/>
            <a:ext cx="257175" cy="285750"/>
            <a:chOff x="0" y="0"/>
            <a:chExt cx="342900" cy="3810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786562" y="3447254"/>
            <a:ext cx="4714875" cy="29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862">
                <a:solidFill>
                  <a:srgbClr val="0284C7"/>
                </a:solidFill>
                <a:latin typeface="Poppins Bold"/>
                <a:ea typeface="Poppins Bold"/>
                <a:cs typeface="Poppins Bold"/>
                <a:sym typeface="Poppins Bold"/>
              </a:rPr>
              <a:t>[2] orders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46655" y="3830709"/>
            <a:ext cx="4714875" cy="10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order_id</a:t>
            </a: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customer_id</a:t>
            </a: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• order_date</a:t>
            </a: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• total_amount_ngn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915775" y="3887785"/>
            <a:ext cx="257175" cy="285750"/>
            <a:chOff x="0" y="0"/>
            <a:chExt cx="342900" cy="3810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587288" y="3447254"/>
            <a:ext cx="4714875" cy="29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862">
                <a:solidFill>
                  <a:srgbClr val="F59E0B"/>
                </a:solidFill>
                <a:latin typeface="Poppins Bold"/>
                <a:ea typeface="Poppins Bold"/>
                <a:cs typeface="Poppins Bold"/>
                <a:sym typeface="Poppins Bold"/>
              </a:rPr>
              <a:t>[3] payments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47380" y="3859210"/>
            <a:ext cx="4714875" cy="129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payment_id</a:t>
            </a: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order_id</a:t>
            </a: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• payment_channel (Paystack/Flutterwave)</a:t>
            </a: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• status (Success/Failed)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85850" y="5468935"/>
            <a:ext cx="185738" cy="185738"/>
            <a:chOff x="0" y="0"/>
            <a:chExt cx="247650" cy="2476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7692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57300" y="5749923"/>
            <a:ext cx="114300" cy="68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47800" y="5626098"/>
            <a:ext cx="15797212" cy="4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2199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customers → orders:</a:t>
            </a:r>
            <a:r>
              <a:rPr lang="en-US" sz="2199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One customer can place </a:t>
            </a:r>
            <a:r>
              <a:rPr lang="en-US" sz="2199" i="true">
                <a:solidFill>
                  <a:srgbClr val="33415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many</a:t>
            </a:r>
            <a:r>
              <a:rPr lang="en-US" sz="2199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orders. customer_id in orders points back to who paid.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0150" y="6092823"/>
            <a:ext cx="171450" cy="68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85900" y="5968998"/>
            <a:ext cx="15759112" cy="9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2199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orders → payments:</a:t>
            </a:r>
            <a:r>
              <a:rPr lang="en-US" sz="2199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One order links to a payment transaction via order_id in payments, recording whether the Paystack/Flutterwave transfer succeeded.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4357" y="3852081"/>
            <a:ext cx="360093" cy="242888"/>
            <a:chOff x="0" y="0"/>
            <a:chExt cx="480124" cy="3238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480060" cy="323850"/>
            </a:xfrm>
            <a:custGeom>
              <a:avLst/>
              <a:gdLst/>
              <a:ahLst/>
              <a:cxnLst/>
              <a:rect r="r" b="b" t="t" l="l"/>
              <a:pathLst>
                <a:path h="323850" w="480060">
                  <a:moveTo>
                    <a:pt x="0" y="0"/>
                  </a:moveTo>
                  <a:lnTo>
                    <a:pt x="480060" y="0"/>
                  </a:lnTo>
                  <a:lnTo>
                    <a:pt x="48006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3" b="-263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786562" y="3859247"/>
            <a:ext cx="360093" cy="242888"/>
            <a:chOff x="0" y="0"/>
            <a:chExt cx="480124" cy="3238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480060" cy="323850"/>
            </a:xfrm>
            <a:custGeom>
              <a:avLst/>
              <a:gdLst/>
              <a:ahLst/>
              <a:cxnLst/>
              <a:rect r="r" b="b" t="t" l="l"/>
              <a:pathLst>
                <a:path h="323850" w="480060">
                  <a:moveTo>
                    <a:pt x="0" y="0"/>
                  </a:moveTo>
                  <a:lnTo>
                    <a:pt x="480060" y="0"/>
                  </a:lnTo>
                  <a:lnTo>
                    <a:pt x="48006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3" b="-263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786562" y="4121185"/>
            <a:ext cx="360093" cy="242888"/>
            <a:chOff x="0" y="0"/>
            <a:chExt cx="480124" cy="3238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480060" cy="323850"/>
            </a:xfrm>
            <a:custGeom>
              <a:avLst/>
              <a:gdLst/>
              <a:ahLst/>
              <a:cxnLst/>
              <a:rect r="r" b="b" t="t" l="l"/>
              <a:pathLst>
                <a:path h="323850" w="480060">
                  <a:moveTo>
                    <a:pt x="0" y="0"/>
                  </a:moveTo>
                  <a:lnTo>
                    <a:pt x="480060" y="0"/>
                  </a:lnTo>
                  <a:lnTo>
                    <a:pt x="48006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3" b="-263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568238" y="3859210"/>
            <a:ext cx="360093" cy="242888"/>
            <a:chOff x="0" y="0"/>
            <a:chExt cx="480124" cy="3238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480060" cy="323850"/>
            </a:xfrm>
            <a:custGeom>
              <a:avLst/>
              <a:gdLst/>
              <a:ahLst/>
              <a:cxnLst/>
              <a:rect r="r" b="b" t="t" l="l"/>
              <a:pathLst>
                <a:path h="323850" w="480060">
                  <a:moveTo>
                    <a:pt x="0" y="0"/>
                  </a:moveTo>
                  <a:lnTo>
                    <a:pt x="480060" y="0"/>
                  </a:lnTo>
                  <a:lnTo>
                    <a:pt x="48006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3" b="-263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587288" y="4111660"/>
            <a:ext cx="360093" cy="242888"/>
            <a:chOff x="0" y="0"/>
            <a:chExt cx="480124" cy="3238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480060" cy="323850"/>
            </a:xfrm>
            <a:custGeom>
              <a:avLst/>
              <a:gdLst/>
              <a:ahLst/>
              <a:cxnLst/>
              <a:rect r="r" b="b" t="t" l="l"/>
              <a:pathLst>
                <a:path h="323850" w="480060">
                  <a:moveTo>
                    <a:pt x="0" y="0"/>
                  </a:moveTo>
                  <a:lnTo>
                    <a:pt x="480060" y="0"/>
                  </a:lnTo>
                  <a:lnTo>
                    <a:pt x="48006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13" b="-263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840676" y="8646153"/>
            <a:ext cx="647224" cy="571500"/>
            <a:chOff x="0" y="0"/>
            <a:chExt cx="862965" cy="7620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772" t="0" r="-772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143000" y="762000"/>
            <a:ext cx="902023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PRACTICAL AI WALKTHROUGH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6536657" y="315428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68" r="0" b="-68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4729268"/>
            <a:ext cx="16687800" cy="2521744"/>
            <a:chOff x="0" y="0"/>
            <a:chExt cx="22250400" cy="33623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3362325"/>
            </a:xfrm>
            <a:custGeom>
              <a:avLst/>
              <a:gdLst/>
              <a:ahLst/>
              <a:cxnLst/>
              <a:rect r="r" b="b" t="t" l="l"/>
              <a:pathLst>
                <a:path h="3362325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3362325"/>
                  </a:lnTo>
                  <a:lnTo>
                    <a:pt x="0" y="3362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100" y="3143356"/>
            <a:ext cx="8201025" cy="1357312"/>
            <a:chOff x="0" y="0"/>
            <a:chExt cx="10934700" cy="1809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34700" cy="1809750"/>
            </a:xfrm>
            <a:custGeom>
              <a:avLst/>
              <a:gdLst/>
              <a:ahLst/>
              <a:cxnLst/>
              <a:rect r="r" b="b" t="t" l="l"/>
              <a:pathLst>
                <a:path h="18097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1809750"/>
                  </a:lnTo>
                  <a:lnTo>
                    <a:pt x="0" y="180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05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75" y="3143356"/>
            <a:ext cx="8201025" cy="1357312"/>
            <a:chOff x="0" y="0"/>
            <a:chExt cx="10934700" cy="1809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34700" cy="1809750"/>
            </a:xfrm>
            <a:custGeom>
              <a:avLst/>
              <a:gdLst/>
              <a:ahLst/>
              <a:cxnLst/>
              <a:rect r="r" b="b" t="t" l="l"/>
              <a:pathLst>
                <a:path h="18097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1809750"/>
                  </a:lnTo>
                  <a:lnTo>
                    <a:pt x="0" y="180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05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0100" y="1924050"/>
            <a:ext cx="10818906" cy="673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1"/>
              </a:lnSpc>
            </a:pPr>
            <a:r>
              <a:rPr lang="en-US" b="true" sz="3574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Guided Practice: Identify Keys &amp; Grain (3 Mins)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00" y="2557568"/>
            <a:ext cx="16687800" cy="37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Examine the 2-table schema below from our Nigerian Fintech Dues Collection module: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3050" y="5067406"/>
            <a:ext cx="16647081" cy="30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b="true" sz="1887">
                <a:solidFill>
                  <a:srgbClr val="854D0E"/>
                </a:solidFill>
                <a:latin typeface="Poppins Bold"/>
                <a:ea typeface="Poppins Bold"/>
                <a:cs typeface="Poppins Bold"/>
                <a:sym typeface="Poppins Bold"/>
              </a:rPr>
              <a:t>Your Task (Write in your notes):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4425" y="3438631"/>
            <a:ext cx="7950994" cy="28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b="true" sz="1774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Table A: members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4425" y="3748193"/>
            <a:ext cx="7572375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549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Columns: member_id, first_name, last_name, branch_city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1200" y="3438631"/>
            <a:ext cx="7950994" cy="28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b="true" sz="1774">
                <a:solidFill>
                  <a:srgbClr val="0284C7"/>
                </a:solidFill>
                <a:latin typeface="Poppins Bold"/>
                <a:ea typeface="Poppins Bold"/>
                <a:cs typeface="Poppins Bold"/>
                <a:sym typeface="Poppins Bold"/>
              </a:rPr>
              <a:t>Table B: dues_payments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1200" y="3748193"/>
            <a:ext cx="7572375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549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Columns: receipt_no, member_id, payment_date, amount_ngn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43000" y="5086456"/>
            <a:ext cx="214312" cy="214312"/>
            <a:chOff x="0" y="0"/>
            <a:chExt cx="285750" cy="2857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666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43050" y="5348393"/>
            <a:ext cx="15644812" cy="40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b="true" sz="18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Task 1:</a:t>
            </a:r>
            <a:r>
              <a:rPr lang="en-US" sz="18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Identify the Primary Key (PK) for members and dues_payments.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43050" y="5841312"/>
            <a:ext cx="15644812" cy="40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b="true" sz="18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Task 2:</a:t>
            </a:r>
            <a:r>
              <a:rPr lang="en-US" sz="18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Identify the Foreign Key (FK) in dues_payments. Which table does it link to?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43050" y="6334231"/>
            <a:ext cx="15644812" cy="40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b="true" sz="18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Task 3:</a:t>
            </a:r>
            <a:r>
              <a:rPr lang="en-US" sz="18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What is the </a:t>
            </a:r>
            <a:r>
              <a:rPr lang="en-US" sz="1887" i="true">
                <a:solidFill>
                  <a:srgbClr val="33415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grain</a:t>
            </a:r>
            <a:r>
              <a:rPr lang="en-US" sz="18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of the dues_payments table?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5500793"/>
            <a:ext cx="171450" cy="214312"/>
            <a:chOff x="0" y="0"/>
            <a:chExt cx="228600" cy="2857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3000" y="5993712"/>
            <a:ext cx="171450" cy="214312"/>
            <a:chOff x="0" y="0"/>
            <a:chExt cx="228600" cy="2857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43000" y="6486631"/>
            <a:ext cx="171450" cy="214312"/>
            <a:chOff x="0" y="0"/>
            <a:chExt cx="228600" cy="2857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904970" y="9177826"/>
            <a:ext cx="647224" cy="571500"/>
            <a:chOff x="0" y="0"/>
            <a:chExt cx="862965" cy="7620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6536657" y="315428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43000" y="762000"/>
            <a:ext cx="6385561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IN-SESSION ACTIVITY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8675" y="4880685"/>
            <a:ext cx="16687800" cy="957262"/>
            <a:chOff x="0" y="0"/>
            <a:chExt cx="22250400" cy="12763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1276350"/>
            </a:xfrm>
            <a:custGeom>
              <a:avLst/>
              <a:gdLst/>
              <a:ahLst/>
              <a:cxnLst/>
              <a:rect r="r" b="b" t="t" l="l"/>
              <a:pathLst>
                <a:path h="127635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1276350"/>
                  </a:lnTo>
                  <a:lnTo>
                    <a:pt x="0" y="1276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100" y="2831306"/>
            <a:ext cx="5410048" cy="1821656"/>
            <a:chOff x="0" y="0"/>
            <a:chExt cx="7213397" cy="242887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213346" cy="2428875"/>
            </a:xfrm>
            <a:custGeom>
              <a:avLst/>
              <a:gdLst/>
              <a:ahLst/>
              <a:cxnLst/>
              <a:rect r="r" b="b" t="t" l="l"/>
              <a:pathLst>
                <a:path h="2428875" w="7213346">
                  <a:moveTo>
                    <a:pt x="0" y="0"/>
                  </a:moveTo>
                  <a:lnTo>
                    <a:pt x="7213346" y="0"/>
                  </a:lnTo>
                  <a:lnTo>
                    <a:pt x="7213346" y="2428875"/>
                  </a:lnTo>
                  <a:lnTo>
                    <a:pt x="0" y="2428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0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38748" y="2831306"/>
            <a:ext cx="5410276" cy="1821656"/>
            <a:chOff x="0" y="0"/>
            <a:chExt cx="7213702" cy="2428875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213727" cy="2428875"/>
            </a:xfrm>
            <a:custGeom>
              <a:avLst/>
              <a:gdLst/>
              <a:ahLst/>
              <a:cxnLst/>
              <a:rect r="r" b="b" t="t" l="l"/>
              <a:pathLst>
                <a:path h="2428875" w="7213727">
                  <a:moveTo>
                    <a:pt x="0" y="0"/>
                  </a:moveTo>
                  <a:lnTo>
                    <a:pt x="7213727" y="0"/>
                  </a:lnTo>
                  <a:lnTo>
                    <a:pt x="7213727" y="2428875"/>
                  </a:lnTo>
                  <a:lnTo>
                    <a:pt x="0" y="2428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77624" y="2831306"/>
            <a:ext cx="5410048" cy="1821656"/>
            <a:chOff x="0" y="0"/>
            <a:chExt cx="7213397" cy="2428875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213346" cy="2428875"/>
            </a:xfrm>
            <a:custGeom>
              <a:avLst/>
              <a:gdLst/>
              <a:ahLst/>
              <a:cxnLst/>
              <a:rect r="r" b="b" t="t" l="l"/>
              <a:pathLst>
                <a:path h="2428875" w="7213346">
                  <a:moveTo>
                    <a:pt x="0" y="0"/>
                  </a:moveTo>
                  <a:lnTo>
                    <a:pt x="7213346" y="0"/>
                  </a:lnTo>
                  <a:lnTo>
                    <a:pt x="7213346" y="2428875"/>
                  </a:lnTo>
                  <a:lnTo>
                    <a:pt x="0" y="2428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0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0100" y="1914518"/>
            <a:ext cx="8689017" cy="64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1"/>
              </a:lnSpc>
            </a:pPr>
            <a:r>
              <a:rPr lang="en-US" b="true" sz="3375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Guided Practice: Solution &amp; Explanation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4976812"/>
            <a:ext cx="16059150" cy="72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b="true" sz="1662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Reasoning Check:</a:t>
            </a:r>
            <a:r>
              <a:rPr lang="en-US" sz="1662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Notice how one member (e.g., member_id = M-102 in Port Harcourt) can have 12 separate payment rows in dues_payments for 12 months. That is a classic </a:t>
            </a:r>
            <a:r>
              <a:rPr lang="en-US" b="true" sz="1662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1-to-Many relationship</a:t>
            </a:r>
            <a:r>
              <a:rPr lang="en-US" sz="1662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7794" y="3136106"/>
            <a:ext cx="4859979" cy="28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b="true" sz="1774">
                <a:solidFill>
                  <a:srgbClr val="065F46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Keys (PK)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0137" y="3536156"/>
            <a:ext cx="4809973" cy="82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662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• members.member_id</a:t>
            </a:r>
          </a:p>
          <a:p>
            <a:pPr algn="l">
              <a:lnSpc>
                <a:spcPts val="1620"/>
              </a:lnSpc>
            </a:pPr>
            <a:r>
              <a:rPr lang="en-US" sz="1662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 • dues_payments.receipt_no</a:t>
            </a:r>
          </a:p>
          <a:p>
            <a:pPr algn="l">
              <a:lnSpc>
                <a:spcPts val="1620"/>
              </a:lnSpc>
            </a:pPr>
            <a:r>
              <a:rPr lang="en-US" sz="1662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(Each uniquely identifies a single row in its respective table).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78063" y="3136106"/>
            <a:ext cx="4822107" cy="28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b="true" sz="1774">
                <a:solidFill>
                  <a:srgbClr val="065F46"/>
                </a:solidFill>
                <a:latin typeface="Poppins Bold"/>
                <a:ea typeface="Poppins Bold"/>
                <a:cs typeface="Poppins Bold"/>
                <a:sym typeface="Poppins Bold"/>
              </a:rPr>
              <a:t>Foreign Key (FK)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38785" y="3536156"/>
            <a:ext cx="4810201" cy="628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662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• dues_payments.member_id</a:t>
            </a:r>
          </a:p>
          <a:p>
            <a:pPr algn="l">
              <a:lnSpc>
                <a:spcPts val="1620"/>
              </a:lnSpc>
            </a:pPr>
            <a:r>
              <a:rPr lang="en-US" sz="1662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Links each dues receipt back to the specific member who paid in the members table.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27693" y="3136106"/>
            <a:ext cx="4859979" cy="28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b="true" sz="1774">
                <a:solidFill>
                  <a:srgbClr val="065F46"/>
                </a:solidFill>
                <a:latin typeface="Poppins Bold"/>
                <a:ea typeface="Poppins Bold"/>
                <a:cs typeface="Poppins Bold"/>
                <a:sym typeface="Poppins Bold"/>
              </a:rPr>
              <a:t>Table Grain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7661" y="3536156"/>
            <a:ext cx="4809973" cy="628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662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1662">
                <a:solidFill>
                  <a:srgbClr val="064E3B"/>
                </a:solidFill>
                <a:latin typeface="Poppins Bold"/>
                <a:ea typeface="Poppins Bold"/>
                <a:cs typeface="Poppins Bold"/>
                <a:sym typeface="Poppins Bold"/>
              </a:rPr>
              <a:t>1 Dues Receipt Event</a:t>
            </a:r>
          </a:p>
          <a:p>
            <a:pPr algn="l">
              <a:lnSpc>
                <a:spcPts val="1620"/>
              </a:lnSpc>
            </a:pPr>
            <a:r>
              <a:rPr lang="en-US" sz="1662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One row represents a single dues transaction paid by a member.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00138" y="3174206"/>
            <a:ext cx="200025" cy="200025"/>
            <a:chOff x="0" y="0"/>
            <a:chExt cx="266700" cy="2667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714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738785" y="3174206"/>
            <a:ext cx="257175" cy="200025"/>
            <a:chOff x="0" y="0"/>
            <a:chExt cx="342900" cy="2667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342900" cy="266700"/>
            </a:xfrm>
            <a:custGeom>
              <a:avLst/>
              <a:gdLst/>
              <a:ahLst/>
              <a:cxnLst/>
              <a:rect r="r" b="b" t="t" l="l"/>
              <a:pathLst>
                <a:path h="2667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150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377661" y="3174206"/>
            <a:ext cx="200025" cy="200025"/>
            <a:chOff x="0" y="0"/>
            <a:chExt cx="266700" cy="2667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840448" y="8620125"/>
            <a:ext cx="647224" cy="571500"/>
            <a:chOff x="0" y="0"/>
            <a:chExt cx="862965" cy="762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6536657" y="315428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43000" y="762000"/>
            <a:ext cx="5130180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ACTIVITY REVIEW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2450306"/>
            <a:ext cx="16687800" cy="3071812"/>
            <a:chOff x="0" y="0"/>
            <a:chExt cx="22250400" cy="4095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4095750"/>
            </a:xfrm>
            <a:custGeom>
              <a:avLst/>
              <a:gdLst/>
              <a:ahLst/>
              <a:cxnLst/>
              <a:rect r="r" b="b" t="t" l="l"/>
              <a:pathLst>
                <a:path h="409575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4095750"/>
                  </a:lnTo>
                  <a:lnTo>
                    <a:pt x="0" y="409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6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100" y="5750719"/>
            <a:ext cx="16687800" cy="728662"/>
            <a:chOff x="0" y="0"/>
            <a:chExt cx="22250400" cy="9715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250400" cy="971550"/>
            </a:xfrm>
            <a:custGeom>
              <a:avLst/>
              <a:gdLst/>
              <a:ahLst/>
              <a:cxnLst/>
              <a:rect r="r" b="b" t="t" l="l"/>
              <a:pathLst>
                <a:path h="97155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96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0100" y="1495425"/>
            <a:ext cx="5115385" cy="64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1"/>
              </a:lnSpc>
            </a:pPr>
            <a:r>
              <a:rPr lang="en-US" b="true" sz="3375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Recap &amp; Achievements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600" y="2731294"/>
            <a:ext cx="16618506" cy="28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You Can Now: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4412" y="5860256"/>
            <a:ext cx="16259175" cy="33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575" i="true">
                <a:solidFill>
                  <a:srgbClr val="47556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"Relational thinking is the bridge between chaotic raw data and structured, reliable business intelligence."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3000" y="2807494"/>
            <a:ext cx="228600" cy="228600"/>
            <a:chOff x="0" y="0"/>
            <a:chExt cx="304800" cy="3048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25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43050" y="3126581"/>
            <a:ext cx="15644812" cy="37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Describe how relational databases organize structured business data into tables (rows = records, columns = fields).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43050" y="3619500"/>
            <a:ext cx="15644812" cy="37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Identify Primary Keys (PK) for entity uniqueness and Foreign Keys (FK) for table relationships.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3050" y="4112419"/>
            <a:ext cx="15644812" cy="37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Explain when a database beats a spreadsheet (scale, integrity, multi-user concurrency, and querying power).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3050" y="4605337"/>
            <a:ext cx="15644812" cy="37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Identify table grain—the essential prerequisite for </a:t>
            </a:r>
            <a:r>
              <a:rPr lang="en-US" b="true" sz="1687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row-count prediction</a:t>
            </a: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in SQL joins!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43000" y="3278981"/>
            <a:ext cx="171450" cy="214312"/>
            <a:chOff x="0" y="0"/>
            <a:chExt cx="228600" cy="2857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43000" y="3771900"/>
            <a:ext cx="171450" cy="214312"/>
            <a:chOff x="0" y="0"/>
            <a:chExt cx="228600" cy="2857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43000" y="4264819"/>
            <a:ext cx="171450" cy="214312"/>
            <a:chOff x="0" y="0"/>
            <a:chExt cx="228600" cy="2857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43000" y="4757738"/>
            <a:ext cx="171450" cy="214312"/>
            <a:chOff x="0" y="0"/>
            <a:chExt cx="228600" cy="2857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840676" y="8766200"/>
            <a:ext cx="647224" cy="571500"/>
            <a:chOff x="0" y="0"/>
            <a:chExt cx="862965" cy="762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09625" y="490538"/>
            <a:ext cx="114300" cy="1028700"/>
            <a:chOff x="0" y="0"/>
            <a:chExt cx="15240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95375" y="395287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6536657" y="315428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8" r="0" b="-68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4881357"/>
            <a:ext cx="16687800" cy="1194624"/>
            <a:chOff x="0" y="0"/>
            <a:chExt cx="22250400" cy="1592832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1592832"/>
            </a:xfrm>
            <a:custGeom>
              <a:avLst/>
              <a:gdLst/>
              <a:ahLst/>
              <a:cxnLst/>
              <a:rect r="r" b="b" t="t" l="l"/>
              <a:pathLst>
                <a:path h="1592832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1592832"/>
                  </a:lnTo>
                  <a:lnTo>
                    <a:pt x="0" y="1592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397" t="0" r="-12397" b="-149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100" y="2450306"/>
            <a:ext cx="8201025" cy="1957388"/>
            <a:chOff x="0" y="0"/>
            <a:chExt cx="10934700" cy="26098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34700" cy="2609850"/>
            </a:xfrm>
            <a:custGeom>
              <a:avLst/>
              <a:gdLst/>
              <a:ahLst/>
              <a:cxnLst/>
              <a:rect r="r" b="b" t="t" l="l"/>
              <a:pathLst>
                <a:path h="26098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2609850"/>
                  </a:lnTo>
                  <a:lnTo>
                    <a:pt x="0" y="2609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2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75" y="2450306"/>
            <a:ext cx="8201025" cy="1957388"/>
            <a:chOff x="0" y="0"/>
            <a:chExt cx="10934700" cy="26098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34700" cy="2609850"/>
            </a:xfrm>
            <a:custGeom>
              <a:avLst/>
              <a:gdLst/>
              <a:ahLst/>
              <a:cxnLst/>
              <a:rect r="r" b="b" t="t" l="l"/>
              <a:pathLst>
                <a:path h="26098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2609850"/>
                  </a:lnTo>
                  <a:lnTo>
                    <a:pt x="0" y="2609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72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0100" y="1333500"/>
            <a:ext cx="16687800" cy="23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b="true" sz="1549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LOOKING AHEAD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00" y="1495425"/>
            <a:ext cx="7904794" cy="673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1"/>
              </a:lnSpc>
            </a:pPr>
            <a:r>
              <a:rPr lang="en-US" b="true" sz="3574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Up Next: Hands-on Lab &amp; Topic 3.2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859250" y="4943475"/>
            <a:ext cx="342900" cy="342900"/>
            <a:chOff x="0" y="0"/>
            <a:chExt cx="457200" cy="4572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00138" y="2783681"/>
            <a:ext cx="7600950" cy="23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b="true" sz="1549">
                <a:solidFill>
                  <a:srgbClr val="0D5C46"/>
                </a:solidFill>
                <a:latin typeface="Poppins Bold"/>
                <a:ea typeface="Poppins Bold"/>
                <a:cs typeface="Poppins Bold"/>
                <a:sym typeface="Poppins Bold"/>
              </a:rPr>
              <a:t>IMMEDIATE NEXT STEP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0138" y="3059906"/>
            <a:ext cx="7980997" cy="31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1. Hands-on Schema Exploration Lab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0138" y="3445669"/>
            <a:ext cx="7600950" cy="109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62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Open SQLite / DB Browser and explore our Nigerian retail dataset live. Inspect table structures, primary key constraints, and sample data rows.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6912" y="2783681"/>
            <a:ext cx="7600950" cy="23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b="true" sz="1549">
                <a:solidFill>
                  <a:srgbClr val="0284C7"/>
                </a:solidFill>
                <a:latin typeface="Poppins Bold"/>
                <a:ea typeface="Poppins Bold"/>
                <a:cs typeface="Poppins Bold"/>
                <a:sym typeface="Poppins Bold"/>
              </a:rPr>
              <a:t>TOPIC 3.2 PREVIEW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86912" y="3059906"/>
            <a:ext cx="7980997" cy="31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2. SQL Queries &amp; AI Pair Assistant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86912" y="3445669"/>
            <a:ext cx="7600950" cy="72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62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Start writing SELECT statements and introduce AI prompting to convert natural language business questions into valid SQL queries!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5850" y="5005182"/>
            <a:ext cx="3326682" cy="28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b="true" sz="177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Preparation for LMS Practice: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5850" y="5200445"/>
            <a:ext cx="7629525" cy="681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549">
                <a:solidFill>
                  <a:srgbClr val="A7F3D0"/>
                </a:solidFill>
                <a:latin typeface="Poppins"/>
                <a:ea typeface="Poppins"/>
                <a:cs typeface="Poppins"/>
                <a:sym typeface="Poppins"/>
              </a:rPr>
              <a:t>Complete the Topic 3.1 Schema Reading quiz on the PublicaAI LMS before the next live session.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707088" y="8681332"/>
            <a:ext cx="647224" cy="571500"/>
            <a:chOff x="0" y="0"/>
            <a:chExt cx="862965" cy="7620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6536657" y="315428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8" r="0" b="-68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DAHTNzt-GyA</dc:identifier>
  <dcterms:modified xsi:type="dcterms:W3CDTF">2011-08-01T06:04:30Z</dcterms:modified>
  <cp:revision>1</cp:revision>
  <dc:title>Module 3.1 - Database Concepts &amp; Relational Thinking.pptx</dc:title>
</cp:coreProperties>
</file>