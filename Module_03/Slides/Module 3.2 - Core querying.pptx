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Poppins Bold" charset="1" panose="00000800000000000000"/>
      <p:regular r:id="rId26"/>
    </p:embeddedFont>
    <p:embeddedFont>
      <p:font typeface="Inter" charset="1" panose="02000503000000020004"/>
      <p:regular r:id="rId27"/>
    </p:embeddedFont>
    <p:embeddedFont>
      <p:font typeface="Poppins Italics" charset="1" panose="00000500000000000000"/>
      <p:regular r:id="rId28"/>
    </p:embeddedFont>
    <p:embeddedFont>
      <p:font typeface="Poppins Bold Italics" charset="1" panose="00000800000000000000"/>
      <p:regular r:id="rId29"/>
    </p:embeddedFont>
    <p:embeddedFont>
      <p:font typeface="DM Sans Bold" charset="1" panose="00000000000000000000"/>
      <p:regular r:id="rId30"/>
    </p:embeddedFont>
    <p:embeddedFont>
      <p:font typeface="Inter Bold" charset="1" panose="0200050300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Welcome trainees back. Quick recap of 3.1: they can now read a schema, spot primary/foreign keys, and explain why Eko Traders moved off spreadsheets into a database. Today they learn to actually ask that database questions using SELECT, WHERE and ORDER BY.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jpeg" Type="http://schemas.openxmlformats.org/officeDocument/2006/relationships/image"/><Relationship Id="rId14" Target="../media/image12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jpe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2.png" Type="http://schemas.openxmlformats.org/officeDocument/2006/relationships/image"/><Relationship Id="rId8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1367516"/>
            <a:chOff x="0" y="0"/>
            <a:chExt cx="24384000" cy="15156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156687"/>
            </a:xfrm>
            <a:custGeom>
              <a:avLst/>
              <a:gdLst/>
              <a:ahLst/>
              <a:cxnLst/>
              <a:rect r="r" b="b" t="t" l="l"/>
              <a:pathLst>
                <a:path h="1515668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156687"/>
                  </a:lnTo>
                  <a:lnTo>
                    <a:pt x="0" y="1515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51" t="0" r="-52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88"/>
            <a:chOff x="0" y="0"/>
            <a:chExt cx="21336000" cy="430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9" r="0" b="-914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323088"/>
            <a:chOff x="0" y="0"/>
            <a:chExt cx="21336000" cy="430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389" r="0" b="-91438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48" y="2440953"/>
            <a:ext cx="16002000" cy="517589"/>
            <a:chOff x="0" y="0"/>
            <a:chExt cx="21336000" cy="6901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690118"/>
            </a:xfrm>
            <a:custGeom>
              <a:avLst/>
              <a:gdLst/>
              <a:ahLst/>
              <a:cxnLst/>
              <a:rect r="r" b="b" t="t" l="l"/>
              <a:pathLst>
                <a:path h="69011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0118"/>
                  </a:lnTo>
                  <a:lnTo>
                    <a:pt x="0" y="6901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51989" r="0" b="-55198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48" y="2426665"/>
            <a:ext cx="16002000" cy="531847"/>
            <a:chOff x="0" y="0"/>
            <a:chExt cx="21336000" cy="709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709168"/>
            </a:xfrm>
            <a:custGeom>
              <a:avLst/>
              <a:gdLst/>
              <a:ahLst/>
              <a:cxnLst/>
              <a:rect r="r" b="b" t="t" l="l"/>
              <a:pathLst>
                <a:path h="70916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709168"/>
                  </a:lnTo>
                  <a:lnTo>
                    <a:pt x="0" y="7091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35820" r="0" b="-53581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48" y="2412378"/>
            <a:ext cx="16002000" cy="546135"/>
            <a:chOff x="0" y="0"/>
            <a:chExt cx="21336000" cy="7281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6000" cy="728179"/>
            </a:xfrm>
            <a:custGeom>
              <a:avLst/>
              <a:gdLst/>
              <a:ahLst/>
              <a:cxnLst/>
              <a:rect r="r" b="b" t="t" l="l"/>
              <a:pathLst>
                <a:path h="72817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728179"/>
                  </a:lnTo>
                  <a:lnTo>
                    <a:pt x="0" y="72817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20920" r="0" b="-5209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336000" cy="74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DATA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" y="3342427"/>
            <a:ext cx="16002000" cy="698278"/>
            <a:chOff x="0" y="0"/>
            <a:chExt cx="21336000" cy="9310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36000" cy="931037"/>
            </a:xfrm>
            <a:custGeom>
              <a:avLst/>
              <a:gdLst/>
              <a:ahLst/>
              <a:cxnLst/>
              <a:rect r="r" b="b" t="t" l="l"/>
              <a:pathLst>
                <a:path h="93103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7"/>
                  </a:lnTo>
                  <a:lnTo>
                    <a:pt x="0" y="93103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216" r="0" b="-39621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43048" y="2880484"/>
            <a:ext cx="16002000" cy="814673"/>
            <a:chOff x="0" y="0"/>
            <a:chExt cx="21336000" cy="1086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36000" cy="1086231"/>
            </a:xfrm>
            <a:custGeom>
              <a:avLst/>
              <a:gdLst/>
              <a:ahLst/>
              <a:cxnLst/>
              <a:rect r="r" b="b" t="t" l="l"/>
              <a:pathLst>
                <a:path h="1086231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231"/>
                  </a:lnTo>
                  <a:lnTo>
                    <a:pt x="0" y="108623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463" r="0" b="-33246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43048" y="2859053"/>
            <a:ext cx="16002000" cy="836085"/>
            <a:chOff x="0" y="0"/>
            <a:chExt cx="21336000" cy="11147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3600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2661" r="0" b="-32265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43048" y="2837621"/>
            <a:ext cx="16002000" cy="857517"/>
            <a:chOff x="0" y="0"/>
            <a:chExt cx="21336000" cy="11433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36000" cy="1143355"/>
            </a:xfrm>
            <a:custGeom>
              <a:avLst/>
              <a:gdLst/>
              <a:ahLst/>
              <a:cxnLst/>
              <a:rect r="r" b="b" t="t" l="l"/>
              <a:pathLst>
                <a:path h="1143355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43355"/>
                  </a:lnTo>
                  <a:lnTo>
                    <a:pt x="0" y="114335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13607" r="0" b="-3136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336000" cy="11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3: SQL and Databases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7395" y="9639405"/>
            <a:ext cx="385667" cy="342900"/>
            <a:chOff x="0" y="0"/>
            <a:chExt cx="514223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" t="0" r="-1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3062" y="9001125"/>
            <a:ext cx="2143316" cy="323088"/>
            <a:chOff x="0" y="0"/>
            <a:chExt cx="2857754" cy="4307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171" r="0" b="-7917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43062" y="9001125"/>
            <a:ext cx="2143316" cy="323088"/>
            <a:chOff x="0" y="0"/>
            <a:chExt cx="2857754" cy="4307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171" r="0" b="-79171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09738" y="9495625"/>
            <a:ext cx="2377059" cy="573976"/>
            <a:chOff x="0" y="0"/>
            <a:chExt cx="3169412" cy="7653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9412" cy="765302"/>
            </a:xfrm>
            <a:custGeom>
              <a:avLst/>
              <a:gdLst/>
              <a:ahLst/>
              <a:cxnLst/>
              <a:rect r="r" b="b" t="t" l="l"/>
              <a:pathLst>
                <a:path h="765302" w="3169412">
                  <a:moveTo>
                    <a:pt x="0" y="0"/>
                  </a:moveTo>
                  <a:lnTo>
                    <a:pt x="3169412" y="0"/>
                  </a:lnTo>
                  <a:lnTo>
                    <a:pt x="3169412" y="765302"/>
                  </a:lnTo>
                  <a:lnTo>
                    <a:pt x="0" y="7653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638" r="0" b="-3063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09738" y="9479775"/>
            <a:ext cx="2377107" cy="589855"/>
            <a:chOff x="0" y="0"/>
            <a:chExt cx="3169476" cy="7864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412" cy="786511"/>
            </a:xfrm>
            <a:custGeom>
              <a:avLst/>
              <a:gdLst/>
              <a:ahLst/>
              <a:cxnLst/>
              <a:rect r="r" b="b" t="t" l="l"/>
              <a:pathLst>
                <a:path h="786511" w="3169412">
                  <a:moveTo>
                    <a:pt x="0" y="0"/>
                  </a:moveTo>
                  <a:lnTo>
                    <a:pt x="3169412" y="0"/>
                  </a:lnTo>
                  <a:lnTo>
                    <a:pt x="3169412" y="786511"/>
                  </a:lnTo>
                  <a:lnTo>
                    <a:pt x="0" y="78651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8467" r="-2" b="-2846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09738" y="9465488"/>
            <a:ext cx="2377107" cy="604142"/>
            <a:chOff x="0" y="0"/>
            <a:chExt cx="3169476" cy="8055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69476" cy="805525"/>
            </a:xfrm>
            <a:custGeom>
              <a:avLst/>
              <a:gdLst/>
              <a:ahLst/>
              <a:cxnLst/>
              <a:rect r="r" b="b" t="t" l="l"/>
              <a:pathLst>
                <a:path h="805525" w="3169476">
                  <a:moveTo>
                    <a:pt x="0" y="0"/>
                  </a:moveTo>
                  <a:lnTo>
                    <a:pt x="3169476" y="0"/>
                  </a:lnTo>
                  <a:lnTo>
                    <a:pt x="3169476" y="805525"/>
                  </a:lnTo>
                  <a:lnTo>
                    <a:pt x="0" y="8055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6667" r="0" b="-266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169476" cy="824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Topic 2 of 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43000" y="552450"/>
            <a:ext cx="2124646" cy="1845850"/>
            <a:chOff x="0" y="0"/>
            <a:chExt cx="2832862" cy="24611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" t="0" r="-3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001070" y="1733550"/>
            <a:ext cx="6258211" cy="6258211"/>
            <a:chOff x="0" y="0"/>
            <a:chExt cx="8344281" cy="83442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3"/>
              <a:stretch>
                <a:fillRect l="-39583" t="0" r="-39583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772" t="0" r="-772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43048" y="3781702"/>
            <a:ext cx="6221728" cy="98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E6F64"/>
                </a:solidFill>
                <a:latin typeface="Poppins Bold"/>
                <a:ea typeface="Poppins Bold"/>
                <a:cs typeface="Poppins Bold"/>
                <a:sym typeface="Poppins Bold"/>
              </a:rPr>
              <a:t>Core querying: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3000" y="4848473"/>
            <a:ext cx="6107381" cy="18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E6F64"/>
                </a:solidFill>
                <a:latin typeface="Poppins Bold"/>
                <a:ea typeface="Poppins Bold"/>
                <a:cs typeface="Poppins Bold"/>
                <a:sym typeface="Poppins Bold"/>
              </a:rPr>
              <a:t>SELECT, WHERE, ORDER BY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57395" y="7096316"/>
            <a:ext cx="6582195" cy="666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1"/>
              </a:lnSpc>
              <a:spcBef>
                <a:spcPct val="0"/>
              </a:spcBef>
            </a:pPr>
            <a:r>
              <a:rPr lang="en-US" sz="2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</a:t>
            </a:r>
            <a:r>
              <a:rPr lang="en-US" sz="2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table a question — and get exactly the rows that answer it.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" y="207892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2" t="0" r="-3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9163" y="2729979"/>
            <a:ext cx="9366239" cy="543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Write a SELECT statement that returns specific columns from a single table — not just “everything.”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Use WHERE with comparison operators, AND and OR to narrow a table down to the rows that answer a real business question.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Use ORDER BY to rank results (ascending or descending) so the most useful rows surface first.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1980838"/>
            <a:ext cx="10039569" cy="7362863"/>
            <a:chOff x="0" y="0"/>
            <a:chExt cx="13386092" cy="981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86054" cy="9817227"/>
            </a:xfrm>
            <a:custGeom>
              <a:avLst/>
              <a:gdLst/>
              <a:ahLst/>
              <a:cxnLst/>
              <a:rect r="r" b="b" t="t" l="l"/>
              <a:pathLst>
                <a:path h="9817227" w="1338605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3165837" y="0"/>
                  </a:lnTo>
                  <a:cubicBezTo>
                    <a:pt x="13287502" y="0"/>
                    <a:pt x="13386054" y="98552"/>
                    <a:pt x="13386054" y="220218"/>
                  </a:cubicBezTo>
                  <a:lnTo>
                    <a:pt x="13386054" y="9597009"/>
                  </a:lnTo>
                  <a:cubicBezTo>
                    <a:pt x="13386054" y="9718675"/>
                    <a:pt x="13287502" y="9817227"/>
                    <a:pt x="13165837" y="9817227"/>
                  </a:cubicBezTo>
                  <a:lnTo>
                    <a:pt x="220218" y="9817227"/>
                  </a:lnTo>
                  <a:cubicBezTo>
                    <a:pt x="98552" y="9817100"/>
                    <a:pt x="0" y="9718548"/>
                    <a:pt x="0" y="95970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402176"/>
            <a:ext cx="9059637" cy="781258"/>
            <a:chOff x="0" y="0"/>
            <a:chExt cx="12079516" cy="10416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9517" cy="1041678"/>
            </a:xfrm>
            <a:custGeom>
              <a:avLst/>
              <a:gdLst/>
              <a:ahLst/>
              <a:cxnLst/>
              <a:rect r="r" b="b" t="t" l="l"/>
              <a:pathLst>
                <a:path h="1041678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1041678"/>
                  </a:lnTo>
                  <a:lnTo>
                    <a:pt x="0" y="1041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0812" r="0" b="-1610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079516" cy="106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Aisha's Monday-morning problem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1304" y="3012310"/>
            <a:ext cx="9059637" cy="607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713" indent="-237857" lvl="1">
              <a:lnSpc>
                <a:spcPts val="3719"/>
              </a:lnSpc>
              <a:buFont typeface="Arial"/>
              <a:buChar char="•"/>
            </a:pPr>
            <a:r>
              <a:rPr lang="en-US" sz="26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Aisha manages Eko Traders’ Lagos branch. Head office wants a Gold-tier appreciation SMS sent to top-spending Lagos customers before December — by tomorrow.</a:t>
            </a:r>
          </a:p>
          <a:p>
            <a:pPr algn="l" marL="475713" indent="-237857" lvl="1">
              <a:lnSpc>
                <a:spcPts val="3719"/>
              </a:lnSpc>
              <a:buFont typeface="Arial"/>
              <a:buChar char="•"/>
            </a:pPr>
            <a:r>
              <a:rPr lang="en-US" sz="26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Thanks to 3.1, Eko Traders’ customer data now lives in one clean customers table instead of five conflicting spreadsheets.</a:t>
            </a:r>
          </a:p>
          <a:p>
            <a:pPr algn="l" marL="475713" indent="-237857" lvl="1">
              <a:lnSpc>
                <a:spcPts val="3719"/>
              </a:lnSpc>
              <a:buFont typeface="Arial"/>
              <a:buChar char="•"/>
            </a:pPr>
            <a:r>
              <a:rPr lang="en-US" sz="26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But the table has 4,200 rows. Aisha can see the data — she still can’t answer “who qualifies?” by scrolling.</a:t>
            </a:r>
          </a:p>
          <a:p>
            <a:pPr algn="l" marL="475713" indent="-237857" lvl="1">
              <a:lnSpc>
                <a:spcPts val="3719"/>
              </a:lnSpc>
              <a:buFont typeface="Arial"/>
              <a:buChar char="•"/>
            </a:pPr>
            <a:r>
              <a:rPr lang="en-US" sz="26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She needs a way to ask the table a question directly: give me only Lagos, only Gold tier, ranked by spend.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454189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LECT — choosing your columns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2610041"/>
            <a:ext cx="7824235" cy="31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Every query starts by naming the columns you want back.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SELECT lists the columns; FROM names the table they come from.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database returns exactly those columns, for every row — for now, all of them.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Column order in your SELECT is the column order you get back.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7069264"/>
            <a:ext cx="7824235" cy="2127647"/>
            <a:chOff x="0" y="0"/>
            <a:chExt cx="10432313" cy="28368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32288" cy="2836926"/>
            </a:xfrm>
            <a:custGeom>
              <a:avLst/>
              <a:gdLst/>
              <a:ahLst/>
              <a:cxnLst/>
              <a:rect r="r" b="b" t="t" l="l"/>
              <a:pathLst>
                <a:path h="2836926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672207"/>
                  </a:lnTo>
                  <a:cubicBezTo>
                    <a:pt x="10432288" y="2763139"/>
                    <a:pt x="10358501" y="2836926"/>
                    <a:pt x="10267569" y="2836926"/>
                  </a:cubicBezTo>
                  <a:lnTo>
                    <a:pt x="164719" y="2836926"/>
                  </a:lnTo>
                  <a:cubicBezTo>
                    <a:pt x="73787" y="2836799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7239019"/>
            <a:ext cx="7055539" cy="84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1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21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</a:t>
            </a:r>
          </a:p>
          <a:p>
            <a:pPr algn="l">
              <a:lnSpc>
                <a:spcPts val="3404"/>
              </a:lnSpc>
            </a:pPr>
            <a:r>
              <a:rPr lang="en-US" sz="21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21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6004" y="2667181"/>
            <a:ext cx="8117834" cy="2791863"/>
            <a:chOff x="0" y="0"/>
            <a:chExt cx="10823778" cy="37224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23829" cy="3722497"/>
            </a:xfrm>
            <a:custGeom>
              <a:avLst/>
              <a:gdLst/>
              <a:ahLst/>
              <a:cxnLst/>
              <a:rect r="r" b="b" t="t" l="l"/>
              <a:pathLst>
                <a:path h="3722497" w="10823829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10713212" y="0"/>
                  </a:lnTo>
                  <a:cubicBezTo>
                    <a:pt x="10774299" y="0"/>
                    <a:pt x="10823829" y="49530"/>
                    <a:pt x="10823829" y="110617"/>
                  </a:cubicBezTo>
                  <a:lnTo>
                    <a:pt x="10823829" y="3611880"/>
                  </a:lnTo>
                  <a:cubicBezTo>
                    <a:pt x="10823829" y="3672967"/>
                    <a:pt x="10774299" y="3722497"/>
                    <a:pt x="10713212" y="3722497"/>
                  </a:cubicBezTo>
                  <a:lnTo>
                    <a:pt x="110617" y="3722497"/>
                  </a:lnTo>
                  <a:cubicBezTo>
                    <a:pt x="49530" y="3722497"/>
                    <a:pt x="0" y="3672967"/>
                    <a:pt x="0" y="36118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65539" y="2676716"/>
            <a:ext cx="8098765" cy="576520"/>
            <a:chOff x="0" y="0"/>
            <a:chExt cx="10798353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98302" cy="768731"/>
            </a:xfrm>
            <a:custGeom>
              <a:avLst/>
              <a:gdLst/>
              <a:ahLst/>
              <a:cxnLst/>
              <a:rect r="r" b="b" t="t" l="l"/>
              <a:pathLst>
                <a:path h="768731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30255" y="2676716"/>
            <a:ext cx="3774853" cy="576522"/>
            <a:chOff x="0" y="0"/>
            <a:chExt cx="5033137" cy="7686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3132" cy="768700"/>
            </a:xfrm>
            <a:custGeom>
              <a:avLst/>
              <a:gdLst/>
              <a:ahLst/>
              <a:cxnLst/>
              <a:rect r="r" b="b" t="t" l="l"/>
              <a:pathLst>
                <a:path h="768700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580" r="0" b="-775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03313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79647" y="2676716"/>
            <a:ext cx="3774853" cy="576522"/>
            <a:chOff x="0" y="0"/>
            <a:chExt cx="5033137" cy="768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33132" cy="768700"/>
            </a:xfrm>
            <a:custGeom>
              <a:avLst/>
              <a:gdLst/>
              <a:ahLst/>
              <a:cxnLst/>
              <a:rect r="r" b="b" t="t" l="l"/>
              <a:pathLst>
                <a:path h="768700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580" r="0" b="-775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03313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30255" y="3253235"/>
            <a:ext cx="3774853" cy="549069"/>
            <a:chOff x="0" y="0"/>
            <a:chExt cx="5033137" cy="732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79647" y="3253235"/>
            <a:ext cx="3774853" cy="549069"/>
            <a:chOff x="0" y="0"/>
            <a:chExt cx="5033137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65539" y="3802304"/>
            <a:ext cx="8098765" cy="549069"/>
            <a:chOff x="0" y="0"/>
            <a:chExt cx="10798353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30255" y="3802304"/>
            <a:ext cx="3774853" cy="549069"/>
            <a:chOff x="0" y="0"/>
            <a:chExt cx="5033137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79647" y="3802304"/>
            <a:ext cx="3774853" cy="549069"/>
            <a:chOff x="0" y="0"/>
            <a:chExt cx="5033137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Ibadan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30255" y="4351372"/>
            <a:ext cx="3774853" cy="549069"/>
            <a:chOff x="0" y="0"/>
            <a:chExt cx="5033137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79647" y="4351372"/>
            <a:ext cx="3774853" cy="549069"/>
            <a:chOff x="0" y="0"/>
            <a:chExt cx="5033137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Abuja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65539" y="4900441"/>
            <a:ext cx="8098765" cy="549069"/>
            <a:chOff x="0" y="0"/>
            <a:chExt cx="10798353" cy="7320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30255" y="4900441"/>
            <a:ext cx="3774853" cy="549069"/>
            <a:chOff x="0" y="0"/>
            <a:chExt cx="5033137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479647" y="4900441"/>
            <a:ext cx="3774853" cy="549069"/>
            <a:chOff x="0" y="0"/>
            <a:chExt cx="5033137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65539" y="5559323"/>
            <a:ext cx="8098765" cy="424222"/>
            <a:chOff x="0" y="0"/>
            <a:chExt cx="10798353" cy="5656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98356" cy="565627"/>
            </a:xfrm>
            <a:custGeom>
              <a:avLst/>
              <a:gdLst/>
              <a:ahLst/>
              <a:cxnLst/>
              <a:rect r="r" b="b" t="t" l="l"/>
              <a:pathLst>
                <a:path h="565627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565627"/>
                  </a:lnTo>
                  <a:lnTo>
                    <a:pt x="0" y="5656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23451" r="0" b="-32052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0798353" cy="575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Result — only the two columns asked for, every row in the table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56004" y="6098858"/>
            <a:ext cx="8117834" cy="3107579"/>
            <a:chOff x="0" y="0"/>
            <a:chExt cx="10823778" cy="41434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23829" cy="4143502"/>
            </a:xfrm>
            <a:custGeom>
              <a:avLst/>
              <a:gdLst/>
              <a:ahLst/>
              <a:cxnLst/>
              <a:rect r="r" b="b" t="t" l="l"/>
              <a:pathLst>
                <a:path h="4143502" w="10823829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10639679" y="0"/>
                  </a:lnTo>
                  <a:cubicBezTo>
                    <a:pt x="10741406" y="0"/>
                    <a:pt x="10823829" y="82423"/>
                    <a:pt x="10823829" y="184150"/>
                  </a:cubicBezTo>
                  <a:lnTo>
                    <a:pt x="10823829" y="3959352"/>
                  </a:lnTo>
                  <a:cubicBezTo>
                    <a:pt x="10823829" y="4061079"/>
                    <a:pt x="10741406" y="4143502"/>
                    <a:pt x="10639679" y="4143502"/>
                  </a:cubicBezTo>
                  <a:lnTo>
                    <a:pt x="184150" y="4143502"/>
                  </a:lnTo>
                  <a:cubicBezTo>
                    <a:pt x="82423" y="4143502"/>
                    <a:pt x="0" y="4061079"/>
                    <a:pt x="0" y="3959352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608706" y="6314294"/>
            <a:ext cx="7412431" cy="467395"/>
            <a:chOff x="0" y="0"/>
            <a:chExt cx="9883242" cy="62319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883241" cy="623191"/>
            </a:xfrm>
            <a:custGeom>
              <a:avLst/>
              <a:gdLst/>
              <a:ahLst/>
              <a:cxnLst/>
              <a:rect r="r" b="b" t="t" l="l"/>
              <a:pathLst>
                <a:path h="62319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23191"/>
                  </a:lnTo>
                  <a:lnTo>
                    <a:pt x="0" y="6231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4961" r="0" b="-25306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883242" cy="64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 customers schema (from 3.1)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08706" y="6737575"/>
            <a:ext cx="7412431" cy="130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customer_id (primary key)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full_name, city, phone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membership_tier (Bronze / Silver / Gold)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total_spent, joined_date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74493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ELECT * vs. naming your columns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196578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2667181"/>
            <a:ext cx="7911932" cy="6470628"/>
            <a:chOff x="0" y="0"/>
            <a:chExt cx="10549242" cy="8627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9255" cy="8627491"/>
            </a:xfrm>
            <a:custGeom>
              <a:avLst/>
              <a:gdLst/>
              <a:ahLst/>
              <a:cxnLst/>
              <a:rect r="r" b="b" t="t" l="l"/>
              <a:pathLst>
                <a:path h="8627491" w="10549255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329037" y="0"/>
                  </a:lnTo>
                  <a:cubicBezTo>
                    <a:pt x="10450703" y="0"/>
                    <a:pt x="10549255" y="98552"/>
                    <a:pt x="10549255" y="220218"/>
                  </a:cubicBezTo>
                  <a:lnTo>
                    <a:pt x="10549255" y="8407273"/>
                  </a:lnTo>
                  <a:cubicBezTo>
                    <a:pt x="10549255" y="8528939"/>
                    <a:pt x="10450703" y="8627491"/>
                    <a:pt x="10329037" y="8627491"/>
                  </a:cubicBezTo>
                  <a:lnTo>
                    <a:pt x="220218" y="8627491"/>
                  </a:lnTo>
                  <a:cubicBezTo>
                    <a:pt x="98552" y="8627491"/>
                    <a:pt x="0" y="8528939"/>
                    <a:pt x="0" y="840727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63142" y="3010348"/>
            <a:ext cx="2764412" cy="705402"/>
            <a:chOff x="0" y="0"/>
            <a:chExt cx="3685883" cy="9405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5921" cy="940562"/>
            </a:xfrm>
            <a:custGeom>
              <a:avLst/>
              <a:gdLst/>
              <a:ahLst/>
              <a:cxnLst/>
              <a:rect r="r" b="b" t="t" l="l"/>
              <a:pathLst>
                <a:path h="940562" w="3685921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215640" y="0"/>
                  </a:lnTo>
                  <a:cubicBezTo>
                    <a:pt x="3475355" y="0"/>
                    <a:pt x="3685921" y="210566"/>
                    <a:pt x="3685921" y="470281"/>
                  </a:cubicBezTo>
                  <a:cubicBezTo>
                    <a:pt x="3685921" y="729996"/>
                    <a:pt x="3475355" y="940562"/>
                    <a:pt x="3215640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676" y="3019882"/>
            <a:ext cx="2745343" cy="686336"/>
            <a:chOff x="0" y="0"/>
            <a:chExt cx="3660458" cy="9151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0460" cy="915119"/>
            </a:xfrm>
            <a:custGeom>
              <a:avLst/>
              <a:gdLst/>
              <a:ahLst/>
              <a:cxnLst/>
              <a:rect r="r" b="b" t="t" l="l"/>
              <a:pathLst>
                <a:path h="915119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940" r="0" b="-2793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660458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SELECT *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2676" y="3843480"/>
            <a:ext cx="7069264" cy="480435"/>
            <a:chOff x="0" y="0"/>
            <a:chExt cx="9425686" cy="6405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25684" cy="640586"/>
            </a:xfrm>
            <a:custGeom>
              <a:avLst/>
              <a:gdLst/>
              <a:ahLst/>
              <a:cxnLst/>
              <a:rect r="r" b="b" t="t" l="l"/>
              <a:pathLst>
                <a:path h="640586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6" r="0" b="-2367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425686" cy="659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“Give me every column.”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676" y="4461186"/>
            <a:ext cx="7069264" cy="1166774"/>
            <a:chOff x="0" y="0"/>
            <a:chExt cx="9425686" cy="15556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25686" cy="1555750"/>
            </a:xfrm>
            <a:custGeom>
              <a:avLst/>
              <a:gdLst/>
              <a:ahLst/>
              <a:cxnLst/>
              <a:rect r="r" b="b" t="t" l="l"/>
              <a:pathLst>
                <a:path h="1555750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391031"/>
                  </a:lnTo>
                  <a:cubicBezTo>
                    <a:pt x="9425686" y="1481963"/>
                    <a:pt x="9351899" y="1555750"/>
                    <a:pt x="9260967" y="1555750"/>
                  </a:cubicBezTo>
                  <a:lnTo>
                    <a:pt x="164719" y="1555750"/>
                  </a:lnTo>
                  <a:cubicBezTo>
                    <a:pt x="73787" y="1555750"/>
                    <a:pt x="0" y="1481963"/>
                    <a:pt x="0" y="1391031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57020" y="4640466"/>
            <a:ext cx="6300568" cy="39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* FROM customers;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2676" y="5913977"/>
            <a:ext cx="7069264" cy="167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Fast for a quick look while exploring an unfamiliar table.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Pulls columns you may not need — slower on large tables, and messy in reports.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Fragile: if someone adds a column later, your output silently changes shape.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5539" y="2676716"/>
            <a:ext cx="7892863" cy="6451559"/>
            <a:chOff x="0" y="0"/>
            <a:chExt cx="10523817" cy="86020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3855" cy="8602090"/>
            </a:xfrm>
            <a:custGeom>
              <a:avLst/>
              <a:gdLst/>
              <a:ahLst/>
              <a:cxnLst/>
              <a:rect r="r" b="b" t="t" l="l"/>
              <a:pathLst>
                <a:path h="8602090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8382508"/>
                  </a:lnTo>
                  <a:cubicBezTo>
                    <a:pt x="10523855" y="8503793"/>
                    <a:pt x="10425557" y="8602090"/>
                    <a:pt x="10304272" y="8602090"/>
                  </a:cubicBezTo>
                  <a:lnTo>
                    <a:pt x="219583" y="8602090"/>
                  </a:lnTo>
                  <a:cubicBezTo>
                    <a:pt x="98298" y="8602091"/>
                    <a:pt x="0" y="8503793"/>
                    <a:pt x="0" y="8382508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7343" y="3019882"/>
            <a:ext cx="5490686" cy="686333"/>
            <a:chOff x="0" y="0"/>
            <a:chExt cx="7320915" cy="915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20915" cy="915162"/>
            </a:xfrm>
            <a:custGeom>
              <a:avLst/>
              <a:gdLst/>
              <a:ahLst/>
              <a:cxnLst/>
              <a:rect r="r" b="b" t="t" l="l"/>
              <a:pathLst>
                <a:path h="915162" w="732091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863334" y="0"/>
                  </a:lnTo>
                  <a:cubicBezTo>
                    <a:pt x="7116064" y="0"/>
                    <a:pt x="7320915" y="204851"/>
                    <a:pt x="7320915" y="457581"/>
                  </a:cubicBezTo>
                  <a:cubicBezTo>
                    <a:pt x="7320915" y="710311"/>
                    <a:pt x="7116064" y="915162"/>
                    <a:pt x="6863334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77343" y="3019882"/>
            <a:ext cx="5490686" cy="686336"/>
            <a:chOff x="0" y="0"/>
            <a:chExt cx="7320915" cy="9151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20920" cy="915119"/>
            </a:xfrm>
            <a:custGeom>
              <a:avLst/>
              <a:gdLst/>
              <a:ahLst/>
              <a:cxnLst/>
              <a:rect r="r" b="b" t="t" l="l"/>
              <a:pathLst>
                <a:path h="915119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5879" r="0" b="-1058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320915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SELECT full_name, city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77343" y="3843480"/>
            <a:ext cx="7069264" cy="480435"/>
            <a:chOff x="0" y="0"/>
            <a:chExt cx="9425686" cy="640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25684" cy="640586"/>
            </a:xfrm>
            <a:custGeom>
              <a:avLst/>
              <a:gdLst/>
              <a:ahLst/>
              <a:cxnLst/>
              <a:rect r="r" b="b" t="t" l="l"/>
              <a:pathLst>
                <a:path h="640586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6" r="0" b="-2367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425686" cy="659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B9D6C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“Give me exactly these columns.”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77343" y="4461186"/>
            <a:ext cx="7069264" cy="1578569"/>
            <a:chOff x="0" y="0"/>
            <a:chExt cx="9425686" cy="21047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5686" cy="2104771"/>
            </a:xfrm>
            <a:custGeom>
              <a:avLst/>
              <a:gdLst/>
              <a:ahLst/>
              <a:cxnLst/>
              <a:rect r="r" b="b" t="t" l="l"/>
              <a:pathLst>
                <a:path h="2104771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940052"/>
                  </a:lnTo>
                  <a:cubicBezTo>
                    <a:pt x="9425686" y="2030984"/>
                    <a:pt x="9351899" y="2104771"/>
                    <a:pt x="9260967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061686" y="4640466"/>
            <a:ext cx="6300568" cy="79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</a:t>
            </a:r>
          </a:p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77343" y="6325781"/>
            <a:ext cx="7069264" cy="20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Returns only what you need — clearer output, faster on large tables.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Self-documenting: a teammate can read your query and know exactly what it produces.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Stable: new columns added later don’t change your result.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872" y="9137809"/>
            <a:ext cx="16334804" cy="480435"/>
            <a:chOff x="0" y="0"/>
            <a:chExt cx="21779738" cy="6405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79736" cy="640586"/>
            </a:xfrm>
            <a:custGeom>
              <a:avLst/>
              <a:gdLst/>
              <a:ahLst/>
              <a:cxnLst/>
              <a:rect r="r" b="b" t="t" l="l"/>
              <a:pathLst>
                <a:path h="640586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12486" r="0" b="-61248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1779738" cy="659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b="true" sz="1876" i="true">
                  <a:solidFill>
                    <a:srgbClr val="C6941C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Industry default: name your columns. Reach for SELECT * only while exploring.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8588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ERE — filtering to the rows that matter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4931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2610041"/>
            <a:ext cx="7824235" cy="31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SELECT and FROM decide which columns and which table.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decides which rows come back — it tests a condition against every row and keeps only the ones that pass.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comes after FROM, before ORDER BY.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This is where Aisha starts narrowing 4,200 rows down to “Lagos only.”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7343794"/>
            <a:ext cx="7824235" cy="1853108"/>
            <a:chOff x="0" y="0"/>
            <a:chExt cx="10432313" cy="2470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32288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306066"/>
                  </a:lnTo>
                  <a:cubicBezTo>
                    <a:pt x="10432288" y="2396998"/>
                    <a:pt x="10358501" y="2470785"/>
                    <a:pt x="10267569" y="2470785"/>
                  </a:cubicBezTo>
                  <a:lnTo>
                    <a:pt x="164719" y="2470785"/>
                  </a:lnTo>
                  <a:cubicBezTo>
                    <a:pt x="73787" y="2470785"/>
                    <a:pt x="0" y="2396998"/>
                    <a:pt x="0" y="2306066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7523083"/>
            <a:ext cx="7055539" cy="121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 total_spent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6004" y="2667181"/>
            <a:ext cx="8117834" cy="2242795"/>
            <a:chOff x="0" y="0"/>
            <a:chExt cx="10823778" cy="29903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23701" cy="2990342"/>
            </a:xfrm>
            <a:custGeom>
              <a:avLst/>
              <a:gdLst/>
              <a:ahLst/>
              <a:cxnLst/>
              <a:rect r="r" b="b" t="t" l="l"/>
              <a:pathLst>
                <a:path h="2990342" w="10823701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712958" y="0"/>
                  </a:lnTo>
                  <a:cubicBezTo>
                    <a:pt x="10774172" y="0"/>
                    <a:pt x="10823701" y="49530"/>
                    <a:pt x="10823701" y="110744"/>
                  </a:cubicBezTo>
                  <a:lnTo>
                    <a:pt x="10823701" y="2879598"/>
                  </a:lnTo>
                  <a:cubicBezTo>
                    <a:pt x="10823701" y="2940812"/>
                    <a:pt x="10774172" y="2990342"/>
                    <a:pt x="10712958" y="2990342"/>
                  </a:cubicBezTo>
                  <a:lnTo>
                    <a:pt x="110744" y="2990342"/>
                  </a:lnTo>
                  <a:cubicBezTo>
                    <a:pt x="49530" y="2990342"/>
                    <a:pt x="0" y="2940812"/>
                    <a:pt x="0" y="28795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65539" y="2676716"/>
            <a:ext cx="8098765" cy="576520"/>
            <a:chOff x="0" y="0"/>
            <a:chExt cx="10798353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98302" cy="768731"/>
            </a:xfrm>
            <a:custGeom>
              <a:avLst/>
              <a:gdLst/>
              <a:ahLst/>
              <a:cxnLst/>
              <a:rect r="r" b="b" t="t" l="l"/>
              <a:pathLst>
                <a:path h="768731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30255" y="2676716"/>
            <a:ext cx="2425055" cy="576522"/>
            <a:chOff x="0" y="0"/>
            <a:chExt cx="3233407" cy="7686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3406" cy="768700"/>
            </a:xfrm>
            <a:custGeom>
              <a:avLst/>
              <a:gdLst/>
              <a:ahLst/>
              <a:cxnLst/>
              <a:rect r="r" b="b" t="t" l="l"/>
              <a:pathLst>
                <a:path h="768700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960" r="0" b="-3196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23340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29849" y="2676716"/>
            <a:ext cx="2425055" cy="576522"/>
            <a:chOff x="0" y="0"/>
            <a:chExt cx="3233407" cy="768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3406" cy="768700"/>
            </a:xfrm>
            <a:custGeom>
              <a:avLst/>
              <a:gdLst/>
              <a:ahLst/>
              <a:cxnLst/>
              <a:rect r="r" b="b" t="t" l="l"/>
              <a:pathLst>
                <a:path h="768700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960" r="0" b="-319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23340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829434" y="2676716"/>
            <a:ext cx="2425055" cy="576522"/>
            <a:chOff x="0" y="0"/>
            <a:chExt cx="3233407" cy="7686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33406" cy="768700"/>
            </a:xfrm>
            <a:custGeom>
              <a:avLst/>
              <a:gdLst/>
              <a:ahLst/>
              <a:cxnLst/>
              <a:rect r="r" b="b" t="t" l="l"/>
              <a:pathLst>
                <a:path h="768700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960" r="0" b="-319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23340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30255" y="3253235"/>
            <a:ext cx="2425055" cy="549069"/>
            <a:chOff x="0" y="0"/>
            <a:chExt cx="3233407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29849" y="3253235"/>
            <a:ext cx="2425055" cy="549069"/>
            <a:chOff x="0" y="0"/>
            <a:chExt cx="3233407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829434" y="3253235"/>
            <a:ext cx="2425055" cy="549069"/>
            <a:chOff x="0" y="0"/>
            <a:chExt cx="3233407" cy="7320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185000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65539" y="3802304"/>
            <a:ext cx="8098765" cy="549069"/>
            <a:chOff x="0" y="0"/>
            <a:chExt cx="10798353" cy="7320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430255" y="3802304"/>
            <a:ext cx="2425055" cy="549069"/>
            <a:chOff x="0" y="0"/>
            <a:chExt cx="3233407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849" y="3802304"/>
            <a:ext cx="2425055" cy="549069"/>
            <a:chOff x="0" y="0"/>
            <a:chExt cx="3233407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829434" y="3802304"/>
            <a:ext cx="2425055" cy="549069"/>
            <a:chOff x="0" y="0"/>
            <a:chExt cx="3233407" cy="7320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18000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30255" y="4351372"/>
            <a:ext cx="2425055" cy="549069"/>
            <a:chOff x="0" y="0"/>
            <a:chExt cx="3233407" cy="7320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Yusuf Ibrahim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29849" y="4351372"/>
            <a:ext cx="2425055" cy="549069"/>
            <a:chOff x="0" y="0"/>
            <a:chExt cx="3233407" cy="7320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829434" y="4351372"/>
            <a:ext cx="2425055" cy="549069"/>
            <a:chOff x="0" y="0"/>
            <a:chExt cx="3233407" cy="7320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23340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132000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65539" y="4872990"/>
            <a:ext cx="8098765" cy="754970"/>
            <a:chOff x="0" y="0"/>
            <a:chExt cx="10798353" cy="100662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98356" cy="1006625"/>
            </a:xfrm>
            <a:custGeom>
              <a:avLst/>
              <a:gdLst/>
              <a:ahLst/>
              <a:cxnLst/>
              <a:rect r="r" b="b" t="t" l="l"/>
              <a:pathLst>
                <a:path h="1006625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9021" r="0" b="-15902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798353" cy="1044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2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Tunde (Ibadan) and Aisha M. (Abuja) are gone — the condition rejected their rows.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56004" y="5824328"/>
            <a:ext cx="8117834" cy="3382108"/>
            <a:chOff x="0" y="0"/>
            <a:chExt cx="10823778" cy="450947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23702" cy="4509389"/>
            </a:xfrm>
            <a:custGeom>
              <a:avLst/>
              <a:gdLst/>
              <a:ahLst/>
              <a:cxnLst/>
              <a:rect r="r" b="b" t="t" l="l"/>
              <a:pathLst>
                <a:path h="4509389" w="10823702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639679" y="0"/>
                  </a:lnTo>
                  <a:cubicBezTo>
                    <a:pt x="10741279" y="0"/>
                    <a:pt x="10823702" y="82423"/>
                    <a:pt x="10823702" y="184023"/>
                  </a:cubicBezTo>
                  <a:lnTo>
                    <a:pt x="10823702" y="4325366"/>
                  </a:lnTo>
                  <a:cubicBezTo>
                    <a:pt x="10823702" y="4426966"/>
                    <a:pt x="10741279" y="4509389"/>
                    <a:pt x="10639679" y="4509389"/>
                  </a:cubicBezTo>
                  <a:lnTo>
                    <a:pt x="184023" y="4509389"/>
                  </a:lnTo>
                  <a:cubicBezTo>
                    <a:pt x="82423" y="4509389"/>
                    <a:pt x="0" y="4426966"/>
                    <a:pt x="0" y="4325366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08706" y="6067215"/>
            <a:ext cx="7412431" cy="467395"/>
            <a:chOff x="0" y="0"/>
            <a:chExt cx="9883242" cy="62319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83241" cy="623191"/>
            </a:xfrm>
            <a:custGeom>
              <a:avLst/>
              <a:gdLst/>
              <a:ahLst/>
              <a:cxnLst/>
              <a:rect r="r" b="b" t="t" l="l"/>
              <a:pathLst>
                <a:path h="62319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23191"/>
                  </a:lnTo>
                  <a:lnTo>
                    <a:pt x="0" y="6231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4961" r="0" b="-2530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9883242" cy="64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Reading it as a sentence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8706" y="6561372"/>
            <a:ext cx="7412431" cy="1166772"/>
            <a:chOff x="0" y="0"/>
            <a:chExt cx="9883242" cy="15556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83241" cy="1555692"/>
            </a:xfrm>
            <a:custGeom>
              <a:avLst/>
              <a:gdLst/>
              <a:ahLst/>
              <a:cxnLst/>
              <a:rect r="r" b="b" t="t" l="l"/>
              <a:pathLst>
                <a:path h="155569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555692"/>
                  </a:lnTo>
                  <a:lnTo>
                    <a:pt x="0" y="15556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787" r="0" b="-737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883242" cy="1631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“Show me full_name, city and total_spent, from customers, but only where city equals Lagos.”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8706" y="7892863"/>
            <a:ext cx="7412431" cy="1029504"/>
            <a:chOff x="0" y="0"/>
            <a:chExt cx="9883242" cy="1372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883241" cy="1372678"/>
            </a:xfrm>
            <a:custGeom>
              <a:avLst/>
              <a:gdLst/>
              <a:ahLst/>
              <a:cxnLst/>
              <a:rect r="r" b="b" t="t" l="l"/>
              <a:pathLst>
                <a:path h="1372678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0292" r="0" b="-902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883242" cy="1420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Note the quotes: 'Lagos' is text, so it needs single quotes. Numbers don't.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721750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Comparison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operators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7536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2402176"/>
            <a:ext cx="16334804" cy="686333"/>
            <a:chOff x="0" y="0"/>
            <a:chExt cx="21779738" cy="915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79736" cy="915115"/>
            </a:xfrm>
            <a:custGeom>
              <a:avLst/>
              <a:gdLst/>
              <a:ahLst/>
              <a:cxnLst/>
              <a:rect r="r" b="b" t="t" l="l"/>
              <a:pathLst>
                <a:path h="915115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3744" r="0" b="-4137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779738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city = 'Lagos' tests equality. WHERE can test more than that — six operators cover almost everything you'll need.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338" y="3216250"/>
            <a:ext cx="16353863" cy="4027265"/>
            <a:chOff x="0" y="0"/>
            <a:chExt cx="21805151" cy="53696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05137" cy="5369687"/>
            </a:xfrm>
            <a:custGeom>
              <a:avLst/>
              <a:gdLst/>
              <a:ahLst/>
              <a:cxnLst/>
              <a:rect r="r" b="b" t="t" l="l"/>
              <a:pathLst>
                <a:path h="5369687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5259324"/>
                  </a:lnTo>
                  <a:cubicBezTo>
                    <a:pt x="21805137" y="5320284"/>
                    <a:pt x="21755736" y="5369687"/>
                    <a:pt x="21694775" y="5369687"/>
                  </a:cubicBezTo>
                  <a:lnTo>
                    <a:pt x="110363" y="5369687"/>
                  </a:lnTo>
                  <a:cubicBezTo>
                    <a:pt x="49403" y="5369687"/>
                    <a:pt x="0" y="5320284"/>
                    <a:pt x="0" y="52593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872" y="3225784"/>
            <a:ext cx="16334804" cy="549069"/>
            <a:chOff x="0" y="0"/>
            <a:chExt cx="21779738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79737" cy="732155"/>
            </a:xfrm>
            <a:custGeom>
              <a:avLst/>
              <a:gdLst/>
              <a:ahLst/>
              <a:cxnLst/>
              <a:rect r="r" b="b" t="t" l="l"/>
              <a:pathLst>
                <a:path h="73215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5588" y="3225784"/>
            <a:ext cx="5170399" cy="549069"/>
            <a:chOff x="0" y="0"/>
            <a:chExt cx="6893865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866" cy="732092"/>
            </a:xfrm>
            <a:custGeom>
              <a:avLst/>
              <a:gdLst/>
              <a:ahLst/>
              <a:cxnLst/>
              <a:rect r="r" b="b" t="t" l="l"/>
              <a:pathLst>
                <a:path h="732092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893865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Operator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70526" y="3225784"/>
            <a:ext cx="5170399" cy="549069"/>
            <a:chOff x="0" y="0"/>
            <a:chExt cx="6893865" cy="7320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93866" cy="732092"/>
            </a:xfrm>
            <a:custGeom>
              <a:avLst/>
              <a:gdLst/>
              <a:ahLst/>
              <a:cxnLst/>
              <a:rect r="r" b="b" t="t" l="l"/>
              <a:pathLst>
                <a:path h="732092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893865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Meaning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15464" y="3225784"/>
            <a:ext cx="5170399" cy="549069"/>
            <a:chOff x="0" y="0"/>
            <a:chExt cx="6893865" cy="7320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93866" cy="732092"/>
            </a:xfrm>
            <a:custGeom>
              <a:avLst/>
              <a:gdLst/>
              <a:ahLst/>
              <a:cxnLst/>
              <a:rect r="r" b="b" t="t" l="l"/>
              <a:pathLst>
                <a:path h="732092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93865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Example (on customers)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5588" y="3774853"/>
            <a:ext cx="5170399" cy="576520"/>
            <a:chOff x="0" y="0"/>
            <a:chExt cx="6893865" cy="7686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=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70526" y="3774853"/>
            <a:ext cx="5170399" cy="576520"/>
            <a:chOff x="0" y="0"/>
            <a:chExt cx="6893865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equal to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15464" y="3774853"/>
            <a:ext cx="5170399" cy="576520"/>
            <a:chOff x="0" y="0"/>
            <a:chExt cx="6893865" cy="7686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membership_tier = 'Gold'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872" y="4351372"/>
            <a:ext cx="16334804" cy="576520"/>
            <a:chOff x="0" y="0"/>
            <a:chExt cx="21779738" cy="7686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5588" y="4351372"/>
            <a:ext cx="5170399" cy="576520"/>
            <a:chOff x="0" y="0"/>
            <a:chExt cx="6893865" cy="7686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!=  or  &lt;&gt;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70526" y="4351372"/>
            <a:ext cx="5170399" cy="576520"/>
            <a:chOff x="0" y="0"/>
            <a:chExt cx="6893865" cy="76869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not equal to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15464" y="4351372"/>
            <a:ext cx="5170399" cy="576520"/>
            <a:chOff x="0" y="0"/>
            <a:chExt cx="6893865" cy="76869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city != 'Lagos'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5588" y="4927892"/>
            <a:ext cx="5170399" cy="576520"/>
            <a:chOff x="0" y="0"/>
            <a:chExt cx="6893865" cy="76869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&gt;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70526" y="4927892"/>
            <a:ext cx="5170399" cy="576520"/>
            <a:chOff x="0" y="0"/>
            <a:chExt cx="6893865" cy="7686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greater than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015464" y="4927892"/>
            <a:ext cx="5170399" cy="576520"/>
            <a:chOff x="0" y="0"/>
            <a:chExt cx="6893865" cy="76869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total_spent &gt; 100000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872" y="5504412"/>
            <a:ext cx="16334804" cy="576520"/>
            <a:chOff x="0" y="0"/>
            <a:chExt cx="21779738" cy="76869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25588" y="5504412"/>
            <a:ext cx="5170399" cy="576520"/>
            <a:chOff x="0" y="0"/>
            <a:chExt cx="6893865" cy="7686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&lt;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70526" y="5504412"/>
            <a:ext cx="5170399" cy="576520"/>
            <a:chOff x="0" y="0"/>
            <a:chExt cx="6893865" cy="76869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less than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015464" y="5504412"/>
            <a:ext cx="5170399" cy="576520"/>
            <a:chOff x="0" y="0"/>
            <a:chExt cx="6893865" cy="76869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total_spent &lt; 20000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25588" y="6080941"/>
            <a:ext cx="5170399" cy="576520"/>
            <a:chOff x="0" y="0"/>
            <a:chExt cx="6893865" cy="76869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&gt;=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570526" y="6080941"/>
            <a:ext cx="5170399" cy="576520"/>
            <a:chOff x="0" y="0"/>
            <a:chExt cx="6893865" cy="76869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greater than or equal to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15464" y="6080941"/>
            <a:ext cx="5170399" cy="576520"/>
            <a:chOff x="0" y="0"/>
            <a:chExt cx="6893865" cy="76869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total_spent &gt;= 50000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0872" y="6657461"/>
            <a:ext cx="16334804" cy="576520"/>
            <a:chOff x="0" y="0"/>
            <a:chExt cx="21779738" cy="76869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25588" y="6657461"/>
            <a:ext cx="5170399" cy="576520"/>
            <a:chOff x="0" y="0"/>
            <a:chExt cx="6893865" cy="7686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&lt;=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570526" y="6657461"/>
            <a:ext cx="5170399" cy="576520"/>
            <a:chOff x="0" y="0"/>
            <a:chExt cx="6893865" cy="76869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less than or equal to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015464" y="6657461"/>
            <a:ext cx="5170399" cy="576520"/>
            <a:chOff x="0" y="0"/>
            <a:chExt cx="6893865" cy="76869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total_spent &lt;= 50000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1338" y="7883338"/>
            <a:ext cx="16353863" cy="1460373"/>
            <a:chOff x="0" y="0"/>
            <a:chExt cx="21805151" cy="19471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80513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1805137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19718" y="0"/>
                  </a:lnTo>
                  <a:cubicBezTo>
                    <a:pt x="21722080" y="0"/>
                    <a:pt x="21805137" y="83058"/>
                    <a:pt x="21805137" y="185420"/>
                  </a:cubicBezTo>
                  <a:lnTo>
                    <a:pt x="21805137" y="1761744"/>
                  </a:lnTo>
                  <a:cubicBezTo>
                    <a:pt x="21805137" y="1864106"/>
                    <a:pt x="21722080" y="1947164"/>
                    <a:pt x="21619718" y="1947164"/>
                  </a:cubicBezTo>
                  <a:lnTo>
                    <a:pt x="185420" y="1947164"/>
                  </a:lnTo>
                  <a:cubicBezTo>
                    <a:pt x="83058" y="1947164"/>
                    <a:pt x="0" y="1864106"/>
                    <a:pt x="0" y="1761744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372676" y="8071314"/>
            <a:ext cx="15511196" cy="1098137"/>
            <a:chOff x="0" y="0"/>
            <a:chExt cx="20681594" cy="146418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681598" cy="1464184"/>
            </a:xfrm>
            <a:custGeom>
              <a:avLst/>
              <a:gdLst/>
              <a:ahLst/>
              <a:cxnLst/>
              <a:rect r="r" b="b" t="t" l="l"/>
              <a:pathLst>
                <a:path h="1464184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20681594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Row-count habit: </a:t>
              </a: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before you run a WHERE, guess roughly how many of the table's rows should pass. If your guess and the result are wildly different, re-read your condition before moving on — this is the same instinct you'll use to audit joins later in the module.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1522766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Combining conditions with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AND / OR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05626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2550928"/>
            <a:ext cx="16334804" cy="148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Real business questions rarely stop at one condition.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AND — a row must pass every condition to be kept. Adding AND never increases the result; it narrows it.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OR — a row is kept if it passes at least one condition. Adding OR never shrinks the result; it widens it.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Mixing AND and OR? Use parentheses to control what groups with what — SQL follows the same logic as written.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5412524"/>
            <a:ext cx="7911932" cy="3931177"/>
            <a:chOff x="0" y="0"/>
            <a:chExt cx="10549242" cy="52415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49255" cy="5241544"/>
            </a:xfrm>
            <a:custGeom>
              <a:avLst/>
              <a:gdLst/>
              <a:ahLst/>
              <a:cxnLst/>
              <a:rect r="r" b="b" t="t" l="l"/>
              <a:pathLst>
                <a:path h="5241544" w="10549255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28529" y="0"/>
                  </a:lnTo>
                  <a:cubicBezTo>
                    <a:pt x="10450449" y="0"/>
                    <a:pt x="10549255" y="98806"/>
                    <a:pt x="10549255" y="220726"/>
                  </a:cubicBezTo>
                  <a:lnTo>
                    <a:pt x="10549255" y="5020818"/>
                  </a:lnTo>
                  <a:cubicBezTo>
                    <a:pt x="10549255" y="5142738"/>
                    <a:pt x="10450449" y="5241544"/>
                    <a:pt x="10328529" y="5241544"/>
                  </a:cubicBezTo>
                  <a:lnTo>
                    <a:pt x="220726" y="5241544"/>
                  </a:lnTo>
                  <a:cubicBezTo>
                    <a:pt x="98806" y="5241544"/>
                    <a:pt x="0" y="5142738"/>
                    <a:pt x="0" y="50208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63142" y="5755691"/>
            <a:ext cx="3176216" cy="636765"/>
            <a:chOff x="0" y="0"/>
            <a:chExt cx="4234955" cy="8490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4942" cy="848995"/>
            </a:xfrm>
            <a:custGeom>
              <a:avLst/>
              <a:gdLst/>
              <a:ahLst/>
              <a:cxnLst/>
              <a:rect r="r" b="b" t="t" l="l"/>
              <a:pathLst>
                <a:path h="848995" w="4234942">
                  <a:moveTo>
                    <a:pt x="0" y="424561"/>
                  </a:moveTo>
                  <a:cubicBezTo>
                    <a:pt x="0" y="190119"/>
                    <a:pt x="190119" y="0"/>
                    <a:pt x="424561" y="0"/>
                  </a:cubicBezTo>
                  <a:lnTo>
                    <a:pt x="3810381" y="0"/>
                  </a:lnTo>
                  <a:cubicBezTo>
                    <a:pt x="4044823" y="0"/>
                    <a:pt x="4234942" y="190119"/>
                    <a:pt x="4234942" y="424561"/>
                  </a:cubicBezTo>
                  <a:cubicBezTo>
                    <a:pt x="4234942" y="659003"/>
                    <a:pt x="4044950" y="848995"/>
                    <a:pt x="3810381" y="848995"/>
                  </a:cubicBezTo>
                  <a:lnTo>
                    <a:pt x="424561" y="848995"/>
                  </a:lnTo>
                  <a:cubicBezTo>
                    <a:pt x="190119" y="848995"/>
                    <a:pt x="0" y="659003"/>
                    <a:pt x="0" y="42456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5765225"/>
            <a:ext cx="3157147" cy="617703"/>
            <a:chOff x="0" y="0"/>
            <a:chExt cx="4209529" cy="8236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9529" cy="823599"/>
            </a:xfrm>
            <a:custGeom>
              <a:avLst/>
              <a:gdLst/>
              <a:ahLst/>
              <a:cxnLst/>
              <a:rect r="r" b="b" t="t" l="l"/>
              <a:pathLst>
                <a:path h="82359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590" r="0" b="-495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209529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AND — narrows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6588824"/>
            <a:ext cx="7069264" cy="1304039"/>
            <a:chOff x="0" y="0"/>
            <a:chExt cx="9425686" cy="1738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6" cy="1738757"/>
            </a:xfrm>
            <a:custGeom>
              <a:avLst/>
              <a:gdLst/>
              <a:ahLst/>
              <a:cxnLst/>
              <a:rect r="r" b="b" t="t" l="l"/>
              <a:pathLst>
                <a:path h="1738757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574038"/>
                  </a:lnTo>
                  <a:cubicBezTo>
                    <a:pt x="9425686" y="1664970"/>
                    <a:pt x="9351899" y="1738757"/>
                    <a:pt x="9260967" y="1738757"/>
                  </a:cubicBezTo>
                  <a:lnTo>
                    <a:pt x="164719" y="1738757"/>
                  </a:lnTo>
                  <a:cubicBezTo>
                    <a:pt x="73787" y="1738757"/>
                    <a:pt x="0" y="1664970"/>
                    <a:pt x="0" y="157403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57020" y="6768113"/>
            <a:ext cx="6300568" cy="75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AND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 = 'Gold'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2676" y="8030137"/>
            <a:ext cx="7069264" cy="1029504"/>
            <a:chOff x="0" y="0"/>
            <a:chExt cx="9425686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25684" cy="1372678"/>
            </a:xfrm>
            <a:custGeom>
              <a:avLst/>
              <a:gdLst/>
              <a:ahLst/>
              <a:cxnLst/>
              <a:rect r="r" b="b" t="t" l="l"/>
              <a:pathLst>
                <a:path h="1372678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797" r="0" b="-837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425686" cy="142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sz="180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Must be Lagos AND Gold — both true, or the row drops out.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02804" y="5422059"/>
            <a:ext cx="7892863" cy="3912118"/>
            <a:chOff x="0" y="0"/>
            <a:chExt cx="10523817" cy="52161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3855" cy="5216271"/>
            </a:xfrm>
            <a:custGeom>
              <a:avLst/>
              <a:gdLst/>
              <a:ahLst/>
              <a:cxnLst/>
              <a:rect r="r" b="b" t="t" l="l"/>
              <a:pathLst>
                <a:path h="5216271" w="10523855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10304145" y="0"/>
                  </a:lnTo>
                  <a:cubicBezTo>
                    <a:pt x="10425430" y="0"/>
                    <a:pt x="10523855" y="98298"/>
                    <a:pt x="10523855" y="219710"/>
                  </a:cubicBezTo>
                  <a:lnTo>
                    <a:pt x="10523855" y="4996561"/>
                  </a:lnTo>
                  <a:cubicBezTo>
                    <a:pt x="10523855" y="5117846"/>
                    <a:pt x="10425557" y="5216271"/>
                    <a:pt x="10304145" y="5216271"/>
                  </a:cubicBezTo>
                  <a:lnTo>
                    <a:pt x="219710" y="5216271"/>
                  </a:lnTo>
                  <a:cubicBezTo>
                    <a:pt x="98425" y="5216271"/>
                    <a:pt x="0" y="5117973"/>
                    <a:pt x="0" y="4996561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14608" y="5765225"/>
            <a:ext cx="2951245" cy="617706"/>
            <a:chOff x="0" y="0"/>
            <a:chExt cx="3934993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5095" cy="823722"/>
            </a:xfrm>
            <a:custGeom>
              <a:avLst/>
              <a:gdLst/>
              <a:ahLst/>
              <a:cxnLst/>
              <a:rect r="r" b="b" t="t" l="l"/>
              <a:pathLst>
                <a:path h="823722" w="39350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3523234" y="0"/>
                  </a:lnTo>
                  <a:cubicBezTo>
                    <a:pt x="3750691" y="0"/>
                    <a:pt x="3935095" y="184404"/>
                    <a:pt x="3935095" y="411861"/>
                  </a:cubicBezTo>
                  <a:cubicBezTo>
                    <a:pt x="3935095" y="639318"/>
                    <a:pt x="3750691" y="823722"/>
                    <a:pt x="3523234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14608" y="5765225"/>
            <a:ext cx="2951245" cy="617703"/>
            <a:chOff x="0" y="0"/>
            <a:chExt cx="3934993" cy="8236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4994" cy="823599"/>
            </a:xfrm>
            <a:custGeom>
              <a:avLst/>
              <a:gdLst/>
              <a:ahLst/>
              <a:cxnLst/>
              <a:rect r="r" b="b" t="t" l="l"/>
              <a:pathLst>
                <a:path h="823599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095" r="0" b="-430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934993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 — widens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4608" y="6588824"/>
            <a:ext cx="7069264" cy="1304039"/>
            <a:chOff x="0" y="0"/>
            <a:chExt cx="9425686" cy="17387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25686" cy="1738757"/>
            </a:xfrm>
            <a:custGeom>
              <a:avLst/>
              <a:gdLst/>
              <a:ahLst/>
              <a:cxnLst/>
              <a:rect r="r" b="b" t="t" l="l"/>
              <a:pathLst>
                <a:path h="1738757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574038"/>
                  </a:lnTo>
                  <a:cubicBezTo>
                    <a:pt x="9425686" y="1664970"/>
                    <a:pt x="9351899" y="1738757"/>
                    <a:pt x="9260967" y="1738757"/>
                  </a:cubicBezTo>
                  <a:lnTo>
                    <a:pt x="164719" y="1738757"/>
                  </a:lnTo>
                  <a:cubicBezTo>
                    <a:pt x="73787" y="1738757"/>
                    <a:pt x="0" y="1664970"/>
                    <a:pt x="0" y="157403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98960" y="6768113"/>
            <a:ext cx="6300568" cy="75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OR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'Ibadan'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14608" y="8030137"/>
            <a:ext cx="7069264" cy="1029504"/>
            <a:chOff x="0" y="0"/>
            <a:chExt cx="9425686" cy="1372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5684" cy="1372678"/>
            </a:xfrm>
            <a:custGeom>
              <a:avLst/>
              <a:gdLst/>
              <a:ahLst/>
              <a:cxnLst/>
              <a:rect r="r" b="b" t="t" l="l"/>
              <a:pathLst>
                <a:path h="1372678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797" r="0" b="-837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425686" cy="142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sz="180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Either Lagos or Ibadan qualifies — more rows survive, not fewer.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191272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ORD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ER BY — sorting what comes back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3248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2610041"/>
            <a:ext cx="7824235" cy="31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decides which rows qualify. ORDER BY decides what order they arrive in.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ASC (ascending, smallest/earliest first) is the default — you can leave it off.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DESC (descending, largest/latest first) must be stated explicitly.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You can sort by more than one column: the second column only breaks ties in the first.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7343794"/>
            <a:ext cx="7824235" cy="2264912"/>
            <a:chOff x="0" y="0"/>
            <a:chExt cx="10432313" cy="3019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32288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855087"/>
                  </a:lnTo>
                  <a:cubicBezTo>
                    <a:pt x="10432288" y="2946019"/>
                    <a:pt x="10358501" y="3019806"/>
                    <a:pt x="10267569" y="3019806"/>
                  </a:cubicBezTo>
                  <a:lnTo>
                    <a:pt x="164719" y="3019806"/>
                  </a:lnTo>
                  <a:cubicBezTo>
                    <a:pt x="73787" y="3019933"/>
                    <a:pt x="0" y="2946146"/>
                    <a:pt x="0" y="285508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7523083"/>
            <a:ext cx="7055539" cy="1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total_spent</a:t>
            </a:r>
          </a:p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</a:t>
            </a:r>
          </a:p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total_spent </a:t>
            </a: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6004" y="2667181"/>
            <a:ext cx="8117834" cy="2242795"/>
            <a:chOff x="0" y="0"/>
            <a:chExt cx="10823778" cy="29903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23701" cy="2990342"/>
            </a:xfrm>
            <a:custGeom>
              <a:avLst/>
              <a:gdLst/>
              <a:ahLst/>
              <a:cxnLst/>
              <a:rect r="r" b="b" t="t" l="l"/>
              <a:pathLst>
                <a:path h="2990342" w="10823701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712958" y="0"/>
                  </a:lnTo>
                  <a:cubicBezTo>
                    <a:pt x="10774172" y="0"/>
                    <a:pt x="10823701" y="49530"/>
                    <a:pt x="10823701" y="110744"/>
                  </a:cubicBezTo>
                  <a:lnTo>
                    <a:pt x="10823701" y="2879598"/>
                  </a:lnTo>
                  <a:cubicBezTo>
                    <a:pt x="10823701" y="2940812"/>
                    <a:pt x="10774172" y="2990342"/>
                    <a:pt x="10712958" y="2990342"/>
                  </a:cubicBezTo>
                  <a:lnTo>
                    <a:pt x="110744" y="2990342"/>
                  </a:lnTo>
                  <a:cubicBezTo>
                    <a:pt x="49530" y="2990342"/>
                    <a:pt x="0" y="2940812"/>
                    <a:pt x="0" y="28795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65539" y="2676716"/>
            <a:ext cx="8098765" cy="576520"/>
            <a:chOff x="0" y="0"/>
            <a:chExt cx="10798353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98302" cy="768731"/>
            </a:xfrm>
            <a:custGeom>
              <a:avLst/>
              <a:gdLst/>
              <a:ahLst/>
              <a:cxnLst/>
              <a:rect r="r" b="b" t="t" l="l"/>
              <a:pathLst>
                <a:path h="768731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30255" y="2676716"/>
            <a:ext cx="3774853" cy="576522"/>
            <a:chOff x="0" y="0"/>
            <a:chExt cx="5033137" cy="7686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3132" cy="768700"/>
            </a:xfrm>
            <a:custGeom>
              <a:avLst/>
              <a:gdLst/>
              <a:ahLst/>
              <a:cxnLst/>
              <a:rect r="r" b="b" t="t" l="l"/>
              <a:pathLst>
                <a:path h="768700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580" r="0" b="-775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03313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79647" y="2676716"/>
            <a:ext cx="3774853" cy="576522"/>
            <a:chOff x="0" y="0"/>
            <a:chExt cx="5033137" cy="768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33132" cy="768700"/>
            </a:xfrm>
            <a:custGeom>
              <a:avLst/>
              <a:gdLst/>
              <a:ahLst/>
              <a:cxnLst/>
              <a:rect r="r" b="b" t="t" l="l"/>
              <a:pathLst>
                <a:path h="768700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580" r="0" b="-775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033137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30255" y="3253235"/>
            <a:ext cx="3774853" cy="549069"/>
            <a:chOff x="0" y="0"/>
            <a:chExt cx="5033137" cy="732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79647" y="3253235"/>
            <a:ext cx="3774853" cy="549069"/>
            <a:chOff x="0" y="0"/>
            <a:chExt cx="5033137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185000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65539" y="3802304"/>
            <a:ext cx="8098765" cy="549069"/>
            <a:chOff x="0" y="0"/>
            <a:chExt cx="10798353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30255" y="3802304"/>
            <a:ext cx="3774853" cy="549069"/>
            <a:chOff x="0" y="0"/>
            <a:chExt cx="5033137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Yusuf Ibrahim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79647" y="3802304"/>
            <a:ext cx="3774853" cy="549069"/>
            <a:chOff x="0" y="0"/>
            <a:chExt cx="5033137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132000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30255" y="4351372"/>
            <a:ext cx="3774853" cy="549069"/>
            <a:chOff x="0" y="0"/>
            <a:chExt cx="5033137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79647" y="4351372"/>
            <a:ext cx="3774853" cy="549069"/>
            <a:chOff x="0" y="0"/>
            <a:chExt cx="5033137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18000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65539" y="4872990"/>
            <a:ext cx="8098765" cy="480435"/>
            <a:chOff x="0" y="0"/>
            <a:chExt cx="10798353" cy="6405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98356" cy="640586"/>
            </a:xfrm>
            <a:custGeom>
              <a:avLst/>
              <a:gdLst/>
              <a:ahLst/>
              <a:cxnLst/>
              <a:rect r="r" b="b" t="t" l="l"/>
              <a:pathLst>
                <a:path h="640586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8460" r="0" b="-2784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798353" cy="650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Highest spender first — exactly what “ranked by spend” means.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56004" y="5618426"/>
            <a:ext cx="8117834" cy="3588010"/>
            <a:chOff x="0" y="0"/>
            <a:chExt cx="10823778" cy="47840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23829" cy="4784090"/>
            </a:xfrm>
            <a:custGeom>
              <a:avLst/>
              <a:gdLst/>
              <a:ahLst/>
              <a:cxnLst/>
              <a:rect r="r" b="b" t="t" l="l"/>
              <a:pathLst>
                <a:path h="4784090" w="10823829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639806" y="0"/>
                  </a:lnTo>
                  <a:cubicBezTo>
                    <a:pt x="10741406" y="0"/>
                    <a:pt x="10823829" y="82423"/>
                    <a:pt x="10823829" y="184023"/>
                  </a:cubicBezTo>
                  <a:lnTo>
                    <a:pt x="10823829" y="4600067"/>
                  </a:lnTo>
                  <a:cubicBezTo>
                    <a:pt x="10823829" y="4701667"/>
                    <a:pt x="10741406" y="4784090"/>
                    <a:pt x="10639806" y="4784090"/>
                  </a:cubicBezTo>
                  <a:lnTo>
                    <a:pt x="184023" y="4784090"/>
                  </a:lnTo>
                  <a:cubicBezTo>
                    <a:pt x="82423" y="4784090"/>
                    <a:pt x="0" y="4701667"/>
                    <a:pt x="0" y="4600067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08706" y="5875039"/>
            <a:ext cx="7412431" cy="467395"/>
            <a:chOff x="0" y="0"/>
            <a:chExt cx="9883242" cy="6231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83241" cy="623191"/>
            </a:xfrm>
            <a:custGeom>
              <a:avLst/>
              <a:gdLst/>
              <a:ahLst/>
              <a:cxnLst/>
              <a:rect r="r" b="b" t="t" l="l"/>
              <a:pathLst>
                <a:path h="62319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23191"/>
                  </a:lnTo>
                  <a:lnTo>
                    <a:pt x="0" y="6231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4961" r="0" b="-2530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9883242" cy="64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ASC vs DESC, at a glance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608706" y="6284595"/>
            <a:ext cx="7412431" cy="97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ASC: 1, 2, 3… / A, B, C… / earliest date first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DESC: 3, 2, 1… / Z, Y, X… / latest date first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“Top N” or “highest” questions almost always mean DESC.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95257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query skeleton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43279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2539441"/>
            <a:ext cx="16334804" cy="686336"/>
            <a:chOff x="0" y="0"/>
            <a:chExt cx="21779738" cy="9151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79736" cy="915119"/>
            </a:xfrm>
            <a:custGeom>
              <a:avLst/>
              <a:gdLst/>
              <a:ahLst/>
              <a:cxnLst/>
              <a:rect r="r" b="b" t="t" l="l"/>
              <a:pathLst>
                <a:path h="915119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3742" r="0" b="-4137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779738" cy="94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Every query you've built today follows the same fixed order. Get the order wrong and SQLite will tell you — loudly.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872" y="3568951"/>
            <a:ext cx="3774853" cy="2059010"/>
            <a:chOff x="0" y="0"/>
            <a:chExt cx="5033137" cy="27453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33137" cy="2745359"/>
            </a:xfrm>
            <a:custGeom>
              <a:avLst/>
              <a:gdLst/>
              <a:ahLst/>
              <a:cxnLst/>
              <a:rect r="r" b="b" t="t" l="l"/>
              <a:pathLst>
                <a:path h="2745359" w="503313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4813554" y="0"/>
                  </a:lnTo>
                  <a:cubicBezTo>
                    <a:pt x="4934839" y="0"/>
                    <a:pt x="5033137" y="98298"/>
                    <a:pt x="5033137" y="219583"/>
                  </a:cubicBezTo>
                  <a:lnTo>
                    <a:pt x="5033137" y="2525776"/>
                  </a:lnTo>
                  <a:cubicBezTo>
                    <a:pt x="5033137" y="2647061"/>
                    <a:pt x="4934839" y="2745359"/>
                    <a:pt x="4813554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872" y="3774853"/>
            <a:ext cx="3774853" cy="823603"/>
            <a:chOff x="0" y="0"/>
            <a:chExt cx="5033137" cy="10981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33132" cy="1098132"/>
            </a:xfrm>
            <a:custGeom>
              <a:avLst/>
              <a:gdLst/>
              <a:ahLst/>
              <a:cxnLst/>
              <a:rect r="r" b="b" t="t" l="l"/>
              <a:pathLst>
                <a:path h="109813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06" r="0" b="-393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33137" cy="113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872" y="4598451"/>
            <a:ext cx="3774853" cy="754970"/>
            <a:chOff x="0" y="0"/>
            <a:chExt cx="5033137" cy="10066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3132" cy="1006625"/>
            </a:xfrm>
            <a:custGeom>
              <a:avLst/>
              <a:gdLst/>
              <a:ahLst/>
              <a:cxnLst/>
              <a:rect r="r" b="b" t="t" l="l"/>
              <a:pathLst>
                <a:path h="100662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033137" cy="1016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which columns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35716" y="3568951"/>
            <a:ext cx="343167" cy="2059009"/>
            <a:chOff x="0" y="0"/>
            <a:chExt cx="457556" cy="27453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557" cy="2745343"/>
            </a:xfrm>
            <a:custGeom>
              <a:avLst/>
              <a:gdLst/>
              <a:ahLst/>
              <a:cxnLst/>
              <a:rect r="r" b="b" t="t" l="l"/>
              <a:pathLst>
                <a:path h="2745343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19822" t="0" r="-71982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57556" cy="277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78892" y="3568951"/>
            <a:ext cx="3774853" cy="2059010"/>
            <a:chOff x="0" y="0"/>
            <a:chExt cx="5033137" cy="27453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3137" cy="2745359"/>
            </a:xfrm>
            <a:custGeom>
              <a:avLst/>
              <a:gdLst/>
              <a:ahLst/>
              <a:cxnLst/>
              <a:rect r="r" b="b" t="t" l="l"/>
              <a:pathLst>
                <a:path h="2745359" w="503313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4813554" y="0"/>
                  </a:lnTo>
                  <a:cubicBezTo>
                    <a:pt x="4934839" y="0"/>
                    <a:pt x="5033137" y="98298"/>
                    <a:pt x="5033137" y="219583"/>
                  </a:cubicBezTo>
                  <a:lnTo>
                    <a:pt x="5033137" y="2525776"/>
                  </a:lnTo>
                  <a:cubicBezTo>
                    <a:pt x="5033137" y="2647061"/>
                    <a:pt x="4934839" y="2745359"/>
                    <a:pt x="4813554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78892" y="3774853"/>
            <a:ext cx="3774853" cy="823603"/>
            <a:chOff x="0" y="0"/>
            <a:chExt cx="5033137" cy="10981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33132" cy="1098132"/>
            </a:xfrm>
            <a:custGeom>
              <a:avLst/>
              <a:gdLst/>
              <a:ahLst/>
              <a:cxnLst/>
              <a:rect r="r" b="b" t="t" l="l"/>
              <a:pathLst>
                <a:path h="109813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06" r="0" b="-393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33137" cy="113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78892" y="4598451"/>
            <a:ext cx="3774853" cy="754970"/>
            <a:chOff x="0" y="0"/>
            <a:chExt cx="5033137" cy="10066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33132" cy="1006625"/>
            </a:xfrm>
            <a:custGeom>
              <a:avLst/>
              <a:gdLst/>
              <a:ahLst/>
              <a:cxnLst/>
              <a:rect r="r" b="b" t="t" l="l"/>
              <a:pathLst>
                <a:path h="100662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033137" cy="1016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which table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53735" y="3568951"/>
            <a:ext cx="343167" cy="2059009"/>
            <a:chOff x="0" y="0"/>
            <a:chExt cx="457556" cy="27453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7557" cy="2745343"/>
            </a:xfrm>
            <a:custGeom>
              <a:avLst/>
              <a:gdLst/>
              <a:ahLst/>
              <a:cxnLst/>
              <a:rect r="r" b="b" t="t" l="l"/>
              <a:pathLst>
                <a:path h="2745343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19822" t="0" r="-71982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57556" cy="277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96902" y="3568951"/>
            <a:ext cx="3774853" cy="2059010"/>
            <a:chOff x="0" y="0"/>
            <a:chExt cx="5033137" cy="274534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33137" cy="2745359"/>
            </a:xfrm>
            <a:custGeom>
              <a:avLst/>
              <a:gdLst/>
              <a:ahLst/>
              <a:cxnLst/>
              <a:rect r="r" b="b" t="t" l="l"/>
              <a:pathLst>
                <a:path h="2745359" w="503313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4813554" y="0"/>
                  </a:lnTo>
                  <a:cubicBezTo>
                    <a:pt x="4934839" y="0"/>
                    <a:pt x="5033137" y="98298"/>
                    <a:pt x="5033137" y="219583"/>
                  </a:cubicBezTo>
                  <a:lnTo>
                    <a:pt x="5033137" y="2525776"/>
                  </a:lnTo>
                  <a:cubicBezTo>
                    <a:pt x="5033137" y="2647061"/>
                    <a:pt x="4934839" y="2745359"/>
                    <a:pt x="4813554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96902" y="3774853"/>
            <a:ext cx="3774853" cy="823603"/>
            <a:chOff x="0" y="0"/>
            <a:chExt cx="5033137" cy="10981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33132" cy="1098132"/>
            </a:xfrm>
            <a:custGeom>
              <a:avLst/>
              <a:gdLst/>
              <a:ahLst/>
              <a:cxnLst/>
              <a:rect r="r" b="b" t="t" l="l"/>
              <a:pathLst>
                <a:path h="109813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06" r="0" b="-393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33137" cy="113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WHERE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96902" y="4598451"/>
            <a:ext cx="3774853" cy="754970"/>
            <a:chOff x="0" y="0"/>
            <a:chExt cx="5033137" cy="10066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33132" cy="1006625"/>
            </a:xfrm>
            <a:custGeom>
              <a:avLst/>
              <a:gdLst/>
              <a:ahLst/>
              <a:cxnLst/>
              <a:rect r="r" b="b" t="t" l="l"/>
              <a:pathLst>
                <a:path h="100662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033137" cy="1016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which rows (optional)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71755" y="3568951"/>
            <a:ext cx="343167" cy="2059009"/>
            <a:chOff x="0" y="0"/>
            <a:chExt cx="457556" cy="27453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7557" cy="2745343"/>
            </a:xfrm>
            <a:custGeom>
              <a:avLst/>
              <a:gdLst/>
              <a:ahLst/>
              <a:cxnLst/>
              <a:rect r="r" b="b" t="t" l="l"/>
              <a:pathLst>
                <a:path h="2745343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19822" t="0" r="-71982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57556" cy="277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314921" y="3568951"/>
            <a:ext cx="3774853" cy="2059010"/>
            <a:chOff x="0" y="0"/>
            <a:chExt cx="5033137" cy="274534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33137" cy="2745359"/>
            </a:xfrm>
            <a:custGeom>
              <a:avLst/>
              <a:gdLst/>
              <a:ahLst/>
              <a:cxnLst/>
              <a:rect r="r" b="b" t="t" l="l"/>
              <a:pathLst>
                <a:path h="2745359" w="503313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4813554" y="0"/>
                  </a:lnTo>
                  <a:cubicBezTo>
                    <a:pt x="4934839" y="0"/>
                    <a:pt x="5033137" y="98298"/>
                    <a:pt x="5033137" y="219583"/>
                  </a:cubicBezTo>
                  <a:lnTo>
                    <a:pt x="5033137" y="2525776"/>
                  </a:lnTo>
                  <a:cubicBezTo>
                    <a:pt x="5033137" y="2647061"/>
                    <a:pt x="4934839" y="2745359"/>
                    <a:pt x="4813554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314921" y="3774853"/>
            <a:ext cx="3774853" cy="823603"/>
            <a:chOff x="0" y="0"/>
            <a:chExt cx="5033137" cy="109813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33132" cy="1098132"/>
            </a:xfrm>
            <a:custGeom>
              <a:avLst/>
              <a:gdLst/>
              <a:ahLst/>
              <a:cxnLst/>
              <a:rect r="r" b="b" t="t" l="l"/>
              <a:pathLst>
                <a:path h="109813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06" r="0" b="-3930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033137" cy="113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 BY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14921" y="4598451"/>
            <a:ext cx="3774853" cy="754970"/>
            <a:chOff x="0" y="0"/>
            <a:chExt cx="5033137" cy="10066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33132" cy="1006625"/>
            </a:xfrm>
            <a:custGeom>
              <a:avLst/>
              <a:gdLst/>
              <a:ahLst/>
              <a:cxnLst/>
              <a:rect r="r" b="b" t="t" l="l"/>
              <a:pathLst>
                <a:path h="100662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033137" cy="1016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in what order (optional)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872" y="6245657"/>
            <a:ext cx="16334804" cy="2951245"/>
            <a:chOff x="0" y="0"/>
            <a:chExt cx="21779738" cy="393499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779739" cy="3934968"/>
            </a:xfrm>
            <a:custGeom>
              <a:avLst/>
              <a:gdLst/>
              <a:ahLst/>
              <a:cxnLst/>
              <a:rect r="r" b="b" t="t" l="l"/>
              <a:pathLst>
                <a:path h="3934968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3770249"/>
                  </a:lnTo>
                  <a:cubicBezTo>
                    <a:pt x="21779739" y="3861181"/>
                    <a:pt x="21705951" y="3934968"/>
                    <a:pt x="21615019" y="3934968"/>
                  </a:cubicBezTo>
                  <a:lnTo>
                    <a:pt x="164719" y="3934968"/>
                  </a:lnTo>
                  <a:cubicBezTo>
                    <a:pt x="73787" y="3934968"/>
                    <a:pt x="0" y="3861308"/>
                    <a:pt x="0" y="3770249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345216" y="6405896"/>
            <a:ext cx="15566107" cy="182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2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22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 total_spent</a:t>
            </a:r>
          </a:p>
          <a:p>
            <a:pPr algn="l">
              <a:lnSpc>
                <a:spcPts val="3647"/>
              </a:lnSpc>
            </a:pPr>
            <a:r>
              <a:rPr lang="en-US" sz="22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22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3647"/>
              </a:lnSpc>
            </a:pPr>
            <a:r>
              <a:rPr lang="en-US" sz="22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22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 = 'Gold'</a:t>
            </a:r>
          </a:p>
          <a:p>
            <a:pPr algn="l">
              <a:lnSpc>
                <a:spcPts val="3647"/>
              </a:lnSpc>
            </a:pPr>
            <a:r>
              <a:rPr lang="en-US" sz="22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22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total_spent </a:t>
            </a:r>
            <a:r>
              <a:rPr lang="en-US" sz="22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22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sp>
        <p:nvSpPr>
          <p:cNvPr name="AutoShape 58" id="58"/>
          <p:cNvSpPr/>
          <p:nvPr/>
        </p:nvSpPr>
        <p:spPr>
          <a:xfrm rot="2940">
            <a:off x="816454" y="9631394"/>
            <a:ext cx="16668941" cy="0"/>
          </a:xfrm>
          <a:prstGeom prst="line">
            <a:avLst/>
          </a:prstGeom>
          <a:ln cap="rnd" w="9525">
            <a:solidFill>
              <a:srgbClr val="D8E5E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1925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87368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1 OF 2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10367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1282" y="1532519"/>
            <a:ext cx="13040392" cy="6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40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Back to Aisha's question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529916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676716"/>
            <a:ext cx="15511196" cy="1029504"/>
            <a:chOff x="0" y="0"/>
            <a:chExt cx="20681594" cy="1372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8"/>
            </a:xfrm>
            <a:custGeom>
              <a:avLst/>
              <a:gdLst/>
              <a:ahLst/>
              <a:cxnLst/>
              <a:rect r="r" b="b" t="t" l="l"/>
              <a:pathLst>
                <a:path h="137267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3" r="0" b="-2435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681594" cy="140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“Which Lagos customers should get the Gold-tier appreciation SMS — ranked by how much they’ve spent?”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049382"/>
            <a:ext cx="16334804" cy="549069"/>
            <a:chOff x="0" y="0"/>
            <a:chExt cx="21779738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77973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We build the query one clause at a time — the same order every time: SELECT, FROM, WHERE, ORDER BY.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4859264"/>
            <a:ext cx="61770" cy="439255"/>
            <a:chOff x="0" y="0"/>
            <a:chExt cx="82360" cy="5856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" y="4804353"/>
            <a:ext cx="7439882" cy="560788"/>
            <a:chOff x="0" y="0"/>
            <a:chExt cx="9919843" cy="7477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19846" cy="747717"/>
            </a:xfrm>
            <a:custGeom>
              <a:avLst/>
              <a:gdLst/>
              <a:ahLst/>
              <a:cxnLst/>
              <a:rect r="r" b="b" t="t" l="l"/>
              <a:pathLst>
                <a:path h="747717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340" r="0" b="-1976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919843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1 — start broad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872" y="5353421"/>
            <a:ext cx="7686961" cy="1029500"/>
            <a:chOff x="0" y="0"/>
            <a:chExt cx="10249281" cy="13726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9281" cy="1372616"/>
            </a:xfrm>
            <a:custGeom>
              <a:avLst/>
              <a:gdLst/>
              <a:ahLst/>
              <a:cxnLst/>
              <a:rect r="r" b="b" t="t" l="l"/>
              <a:pathLst>
                <a:path h="1372616" w="1024928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084562" y="0"/>
                  </a:lnTo>
                  <a:cubicBezTo>
                    <a:pt x="10175494" y="0"/>
                    <a:pt x="10249281" y="73787"/>
                    <a:pt x="10249281" y="164719"/>
                  </a:cubicBezTo>
                  <a:lnTo>
                    <a:pt x="10249281" y="1207897"/>
                  </a:lnTo>
                  <a:cubicBezTo>
                    <a:pt x="10249281" y="1298829"/>
                    <a:pt x="10175494" y="1372616"/>
                    <a:pt x="10084562" y="1372616"/>
                  </a:cubicBezTo>
                  <a:lnTo>
                    <a:pt x="164719" y="1372616"/>
                  </a:lnTo>
                  <a:cubicBezTo>
                    <a:pt x="73787" y="1372616"/>
                    <a:pt x="0" y="1298956"/>
                    <a:pt x="0" y="120789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45216" y="5532711"/>
            <a:ext cx="6918265" cy="39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* </a:t>
            </a: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872" y="6479010"/>
            <a:ext cx="7686961" cy="823603"/>
            <a:chOff x="0" y="0"/>
            <a:chExt cx="10249281" cy="10981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9288" cy="1098132"/>
            </a:xfrm>
            <a:custGeom>
              <a:avLst/>
              <a:gdLst/>
              <a:ahLst/>
              <a:cxnLst/>
              <a:rect r="r" b="b" t="t" l="l"/>
              <a:pathLst>
                <a:path h="1098132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860" r="0" b="-13186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249281" cy="1145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Too much — every column, all 4,200 rows. We know what we actually need.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59637" y="4859264"/>
            <a:ext cx="61770" cy="439255"/>
            <a:chOff x="0" y="0"/>
            <a:chExt cx="82360" cy="5856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06716" y="4804353"/>
            <a:ext cx="7988951" cy="560788"/>
            <a:chOff x="0" y="0"/>
            <a:chExt cx="10651934" cy="7477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51938" cy="747717"/>
            </a:xfrm>
            <a:custGeom>
              <a:avLst/>
              <a:gdLst/>
              <a:ahLst/>
              <a:cxnLst/>
              <a:rect r="r" b="b" t="t" l="l"/>
              <a:pathLst>
                <a:path h="747717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8418" r="0" b="-2167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0651934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2 — name the columns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59637" y="5353421"/>
            <a:ext cx="8236039" cy="1784471"/>
            <a:chOff x="0" y="0"/>
            <a:chExt cx="10981385" cy="23792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1436" cy="2379345"/>
            </a:xfrm>
            <a:custGeom>
              <a:avLst/>
              <a:gdLst/>
              <a:ahLst/>
              <a:cxnLst/>
              <a:rect r="r" b="b" t="t" l="l"/>
              <a:pathLst>
                <a:path h="2379345" w="1098143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717" y="0"/>
                  </a:lnTo>
                  <a:cubicBezTo>
                    <a:pt x="10907649" y="0"/>
                    <a:pt x="10981436" y="73787"/>
                    <a:pt x="10981436" y="164719"/>
                  </a:cubicBezTo>
                  <a:lnTo>
                    <a:pt x="10981436" y="2214626"/>
                  </a:lnTo>
                  <a:cubicBezTo>
                    <a:pt x="10981436" y="2305558"/>
                    <a:pt x="10907649" y="2379345"/>
                    <a:pt x="10816717" y="2379345"/>
                  </a:cubicBezTo>
                  <a:lnTo>
                    <a:pt x="164719" y="2379345"/>
                  </a:lnTo>
                  <a:cubicBezTo>
                    <a:pt x="73787" y="2379345"/>
                    <a:pt x="0" y="2305558"/>
                    <a:pt x="0" y="2214626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443990" y="5532711"/>
            <a:ext cx="7467333" cy="11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</a:t>
            </a:r>
          </a:p>
          <a:p>
            <a:pPr algn="l">
              <a:lnSpc>
                <a:spcPts val="3039"/>
              </a:lnSpc>
            </a:pP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membership_tier, total_spent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059637" y="7233980"/>
            <a:ext cx="8236039" cy="823603"/>
            <a:chOff x="0" y="0"/>
            <a:chExt cx="10981385" cy="10981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81379" cy="1098132"/>
            </a:xfrm>
            <a:custGeom>
              <a:avLst/>
              <a:gdLst/>
              <a:ahLst/>
              <a:cxnLst/>
              <a:rect r="r" b="b" t="t" l="l"/>
              <a:pathLst>
                <a:path h="109813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850" r="0" b="-1448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981385" cy="1145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Better — only the columns Aisha needs for the SMS list. Still all 4,200 rows though.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872" y="8304667"/>
            <a:ext cx="16334804" cy="1029500"/>
            <a:chOff x="0" y="0"/>
            <a:chExt cx="21779738" cy="13726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79739" cy="1372616"/>
            </a:xfrm>
            <a:custGeom>
              <a:avLst/>
              <a:gdLst/>
              <a:ahLst/>
              <a:cxnLst/>
              <a:rect r="r" b="b" t="t" l="l"/>
              <a:pathLst>
                <a:path h="1372616" w="2177973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596731" y="0"/>
                  </a:lnTo>
                  <a:cubicBezTo>
                    <a:pt x="21697823" y="0"/>
                    <a:pt x="21779739" y="81915"/>
                    <a:pt x="21779739" y="183007"/>
                  </a:cubicBezTo>
                  <a:lnTo>
                    <a:pt x="21779739" y="1189609"/>
                  </a:lnTo>
                  <a:cubicBezTo>
                    <a:pt x="21779739" y="1290701"/>
                    <a:pt x="21697823" y="1372616"/>
                    <a:pt x="21596731" y="1372616"/>
                  </a:cubicBezTo>
                  <a:lnTo>
                    <a:pt x="183007" y="1372616"/>
                  </a:lnTo>
                  <a:cubicBezTo>
                    <a:pt x="81915" y="1372616"/>
                    <a:pt x="0" y="1290701"/>
                    <a:pt x="0" y="1189609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2676" y="8304667"/>
            <a:ext cx="15511196" cy="1029504"/>
            <a:chOff x="0" y="0"/>
            <a:chExt cx="20681594" cy="1372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681598" cy="1372678"/>
            </a:xfrm>
            <a:custGeom>
              <a:avLst/>
              <a:gdLst/>
              <a:ahLst/>
              <a:cxnLst/>
              <a:rect r="r" b="b" t="t" l="l"/>
              <a:pathLst>
                <a:path h="137267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3" r="0" b="-2435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0681594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Next: we still need to narrow the rows to Lagos + Gold, and rank them by spend → continued on the next slide.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549257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2 OF 2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5588" y="1522994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Finishing the query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594353"/>
            <a:ext cx="61770" cy="439255"/>
            <a:chOff x="0" y="0"/>
            <a:chExt cx="82360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539441"/>
            <a:ext cx="7439882" cy="560788"/>
            <a:chOff x="0" y="0"/>
            <a:chExt cx="9919843" cy="7477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9846" cy="747717"/>
            </a:xfrm>
            <a:custGeom>
              <a:avLst/>
              <a:gdLst/>
              <a:ahLst/>
              <a:cxnLst/>
              <a:rect r="r" b="b" t="t" l="l"/>
              <a:pathLst>
                <a:path h="747717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340" r="0" b="-1976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19843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3 — filter to who qualifies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3088510"/>
            <a:ext cx="7686961" cy="2539441"/>
            <a:chOff x="0" y="0"/>
            <a:chExt cx="10249281" cy="33859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024928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084562" y="0"/>
                  </a:lnTo>
                  <a:cubicBezTo>
                    <a:pt x="10175494" y="0"/>
                    <a:pt x="10249281" y="73787"/>
                    <a:pt x="10249281" y="164719"/>
                  </a:cubicBezTo>
                  <a:lnTo>
                    <a:pt x="10249281" y="3221228"/>
                  </a:lnTo>
                  <a:cubicBezTo>
                    <a:pt x="10249281" y="3312160"/>
                    <a:pt x="10175494" y="3385947"/>
                    <a:pt x="10084562" y="3385947"/>
                  </a:cubicBezTo>
                  <a:lnTo>
                    <a:pt x="164719" y="3385947"/>
                  </a:lnTo>
                  <a:cubicBezTo>
                    <a:pt x="73787" y="3385947"/>
                    <a:pt x="0" y="3312160"/>
                    <a:pt x="0" y="322122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216" y="3267799"/>
            <a:ext cx="6918265" cy="180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membership_tier, total_spent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AND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 = 'Gold';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72" y="5737774"/>
            <a:ext cx="7686961" cy="823603"/>
            <a:chOff x="0" y="0"/>
            <a:chExt cx="10249281" cy="10981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9288" cy="1098132"/>
            </a:xfrm>
            <a:custGeom>
              <a:avLst/>
              <a:gdLst/>
              <a:ahLst/>
              <a:cxnLst/>
              <a:rect r="r" b="b" t="t" l="l"/>
              <a:pathLst>
                <a:path h="1098132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860" r="0" b="-13186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9281" cy="1145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Predict first: roughly how many of Eko Traders’ Lagos customers are Gold tier? Then run it and check.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59637" y="2594353"/>
            <a:ext cx="61770" cy="439255"/>
            <a:chOff x="0" y="0"/>
            <a:chExt cx="82360" cy="5856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06716" y="2539441"/>
            <a:ext cx="7988951" cy="560788"/>
            <a:chOff x="0" y="0"/>
            <a:chExt cx="10651934" cy="7477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51938" cy="747717"/>
            </a:xfrm>
            <a:custGeom>
              <a:avLst/>
              <a:gdLst/>
              <a:ahLst/>
              <a:cxnLst/>
              <a:rect r="r" b="b" t="t" l="l"/>
              <a:pathLst>
                <a:path h="747717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8418" r="0" b="-2167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651934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4 — rank by spend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59637" y="3088510"/>
            <a:ext cx="8236039" cy="2882608"/>
            <a:chOff x="0" y="0"/>
            <a:chExt cx="10981385" cy="38434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81309" cy="3843528"/>
            </a:xfrm>
            <a:custGeom>
              <a:avLst/>
              <a:gdLst/>
              <a:ahLst/>
              <a:cxnLst/>
              <a:rect r="r" b="b" t="t" l="l"/>
              <a:pathLst>
                <a:path h="3843528" w="1098130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590" y="0"/>
                  </a:lnTo>
                  <a:cubicBezTo>
                    <a:pt x="10907522" y="0"/>
                    <a:pt x="10981309" y="73787"/>
                    <a:pt x="10981309" y="164719"/>
                  </a:cubicBezTo>
                  <a:lnTo>
                    <a:pt x="10981309" y="3678809"/>
                  </a:lnTo>
                  <a:cubicBezTo>
                    <a:pt x="10981309" y="3769741"/>
                    <a:pt x="10907522" y="3843528"/>
                    <a:pt x="10816590" y="3843528"/>
                  </a:cubicBezTo>
                  <a:lnTo>
                    <a:pt x="164719" y="3843528"/>
                  </a:lnTo>
                  <a:cubicBezTo>
                    <a:pt x="73787" y="3843528"/>
                    <a:pt x="0" y="3769741"/>
                    <a:pt x="0" y="3678809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443990" y="3267799"/>
            <a:ext cx="7467333" cy="217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membership_tier, total_spent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 = 'Lagos'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AND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 = 'Gold'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total_spent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1338" y="6647926"/>
            <a:ext cx="16353863" cy="1666275"/>
            <a:chOff x="0" y="0"/>
            <a:chExt cx="21805151" cy="2221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05137" cy="2221738"/>
            </a:xfrm>
            <a:custGeom>
              <a:avLst/>
              <a:gdLst/>
              <a:ahLst/>
              <a:cxnLst/>
              <a:rect r="r" b="b" t="t" l="l"/>
              <a:pathLst>
                <a:path h="2221738" w="21805137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21694012" y="0"/>
                  </a:lnTo>
                  <a:cubicBezTo>
                    <a:pt x="21755353" y="0"/>
                    <a:pt x="21805137" y="49784"/>
                    <a:pt x="21805137" y="111125"/>
                  </a:cubicBezTo>
                  <a:lnTo>
                    <a:pt x="21805137" y="2110613"/>
                  </a:lnTo>
                  <a:cubicBezTo>
                    <a:pt x="21805137" y="2171954"/>
                    <a:pt x="21755353" y="2221738"/>
                    <a:pt x="21694012" y="2221738"/>
                  </a:cubicBezTo>
                  <a:lnTo>
                    <a:pt x="111125" y="2221738"/>
                  </a:lnTo>
                  <a:cubicBezTo>
                    <a:pt x="49784" y="2221738"/>
                    <a:pt x="0" y="2171954"/>
                    <a:pt x="0" y="21106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0872" y="6657461"/>
            <a:ext cx="16334804" cy="549069"/>
            <a:chOff x="0" y="0"/>
            <a:chExt cx="21779738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79737" cy="732155"/>
            </a:xfrm>
            <a:custGeom>
              <a:avLst/>
              <a:gdLst/>
              <a:ahLst/>
              <a:cxnLst/>
              <a:rect r="r" b="b" t="t" l="l"/>
              <a:pathLst>
                <a:path h="73215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25588" y="6657461"/>
            <a:ext cx="3809162" cy="549069"/>
            <a:chOff x="0" y="0"/>
            <a:chExt cx="5078882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209289" y="6657461"/>
            <a:ext cx="3809162" cy="549069"/>
            <a:chOff x="0" y="0"/>
            <a:chExt cx="5078882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92990" y="6657461"/>
            <a:ext cx="3809162" cy="549069"/>
            <a:chOff x="0" y="0"/>
            <a:chExt cx="5078882" cy="7320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76691" y="6657461"/>
            <a:ext cx="3809162" cy="549069"/>
            <a:chOff x="0" y="0"/>
            <a:chExt cx="5078882" cy="7320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5588" y="7206529"/>
            <a:ext cx="3809162" cy="549069"/>
            <a:chOff x="0" y="0"/>
            <a:chExt cx="5078882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209289" y="7206529"/>
            <a:ext cx="3809162" cy="549069"/>
            <a:chOff x="0" y="0"/>
            <a:chExt cx="5078882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92990" y="7206529"/>
            <a:ext cx="3809162" cy="549069"/>
            <a:chOff x="0" y="0"/>
            <a:chExt cx="5078882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Gold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376691" y="7206529"/>
            <a:ext cx="3809162" cy="549069"/>
            <a:chOff x="0" y="0"/>
            <a:chExt cx="5078882" cy="7320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185000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0872" y="7755598"/>
            <a:ext cx="16334804" cy="549069"/>
            <a:chOff x="0" y="0"/>
            <a:chExt cx="21779738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779737" cy="732155"/>
            </a:xfrm>
            <a:custGeom>
              <a:avLst/>
              <a:gdLst/>
              <a:ahLst/>
              <a:cxnLst/>
              <a:rect r="r" b="b" t="t" l="l"/>
              <a:pathLst>
                <a:path h="73215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25588" y="7755598"/>
            <a:ext cx="3809162" cy="549069"/>
            <a:chOff x="0" y="0"/>
            <a:chExt cx="5078882" cy="7320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Yusuf Ibrahim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09289" y="7755598"/>
            <a:ext cx="3809162" cy="549069"/>
            <a:chOff x="0" y="0"/>
            <a:chExt cx="5078882" cy="7320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92990" y="7755598"/>
            <a:ext cx="3809162" cy="549069"/>
            <a:chOff x="0" y="0"/>
            <a:chExt cx="5078882" cy="7320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Gold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376691" y="7755598"/>
            <a:ext cx="3809162" cy="549069"/>
            <a:chOff x="0" y="0"/>
            <a:chExt cx="5078882" cy="7320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078888" cy="732092"/>
            </a:xfrm>
            <a:custGeom>
              <a:avLst/>
              <a:gdLst/>
              <a:ahLst/>
              <a:cxnLst/>
              <a:rect r="r" b="b" t="t" l="l"/>
              <a:pathLst>
                <a:path h="732092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177" r="0" b="-8517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07888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132000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0872" y="8441931"/>
            <a:ext cx="16334804" cy="441035"/>
            <a:chOff x="0" y="0"/>
            <a:chExt cx="21779738" cy="58804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779736" cy="588044"/>
            </a:xfrm>
            <a:custGeom>
              <a:avLst/>
              <a:gdLst/>
              <a:ahLst/>
              <a:cxnLst/>
              <a:rect r="r" b="b" t="t" l="l"/>
              <a:pathLst>
                <a:path h="588044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588044"/>
                  </a:lnTo>
                  <a:lnTo>
                    <a:pt x="0" y="58804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74993" r="0" b="-66836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1779738" cy="607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Two names, ranked highest spend first — exactly Aisha’s SMS list, from one statement.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92416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YOUR TURN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072753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02614" y="1671555"/>
            <a:ext cx="13040392" cy="60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6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Write this one yourself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529916"/>
            <a:ext cx="16353863" cy="1597638"/>
            <a:chOff x="0" y="0"/>
            <a:chExt cx="21805151" cy="2130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676716"/>
            <a:ext cx="15511196" cy="1304039"/>
            <a:chOff x="0" y="0"/>
            <a:chExt cx="20681594" cy="1738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805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0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Head office wants a re-engagement discount sent to customers who joined in 2025 but have spent under ₦70,000 so far — newest sign-ups first.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338" y="4383014"/>
            <a:ext cx="7911932" cy="4548883"/>
            <a:chOff x="0" y="0"/>
            <a:chExt cx="10549242" cy="60651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9128" cy="6065139"/>
            </a:xfrm>
            <a:custGeom>
              <a:avLst/>
              <a:gdLst/>
              <a:ahLst/>
              <a:cxnLst/>
              <a:rect r="r" b="b" t="t" l="l"/>
              <a:pathLst>
                <a:path h="6065139" w="10549128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328656" y="0"/>
                  </a:lnTo>
                  <a:cubicBezTo>
                    <a:pt x="10450450" y="0"/>
                    <a:pt x="10549128" y="98679"/>
                    <a:pt x="10549128" y="220472"/>
                  </a:cubicBezTo>
                  <a:lnTo>
                    <a:pt x="10549128" y="5844667"/>
                  </a:lnTo>
                  <a:cubicBezTo>
                    <a:pt x="10549128" y="5966460"/>
                    <a:pt x="10450450" y="6065139"/>
                    <a:pt x="10328656" y="6065139"/>
                  </a:cubicBezTo>
                  <a:lnTo>
                    <a:pt x="220472" y="6065139"/>
                  </a:lnTo>
                  <a:cubicBezTo>
                    <a:pt x="98679" y="6065139"/>
                    <a:pt x="0" y="5966460"/>
                    <a:pt x="0" y="584466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4667088"/>
            <a:ext cx="7069264" cy="480431"/>
            <a:chOff x="0" y="0"/>
            <a:chExt cx="942568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task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2676" y="5227634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Write one SELECT statement against customers.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Return full_name, city, joined_date, total_spent.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Filter to joined_date in 2025 AND total_spent under 70,000.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Sort by joined_date, newest first.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2804" y="4392549"/>
            <a:ext cx="7892863" cy="4529823"/>
            <a:chOff x="0" y="0"/>
            <a:chExt cx="10523817" cy="6039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23855" cy="6039739"/>
            </a:xfrm>
            <a:custGeom>
              <a:avLst/>
              <a:gdLst/>
              <a:ahLst/>
              <a:cxnLst/>
              <a:rect r="r" b="b" t="t" l="l"/>
              <a:pathLst>
                <a:path h="6039739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820156"/>
                  </a:lnTo>
                  <a:cubicBezTo>
                    <a:pt x="10523855" y="5941441"/>
                    <a:pt x="10425557" y="6039739"/>
                    <a:pt x="10304272" y="6039739"/>
                  </a:cubicBezTo>
                  <a:lnTo>
                    <a:pt x="219583" y="6039739"/>
                  </a:lnTo>
                  <a:cubicBezTo>
                    <a:pt x="98298" y="6039739"/>
                    <a:pt x="0" y="5941441"/>
                    <a:pt x="0" y="582015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14608" y="4667088"/>
            <a:ext cx="7069264" cy="480431"/>
            <a:chOff x="0" y="0"/>
            <a:chExt cx="9425686" cy="6405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you run it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14608" y="5227634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Write your query on paper first — no AI, no running it yet.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Predict roughly how many rows should come back, and jot down why.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Then run it against the shared database and reconcile your guess against the actual count.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Stuck on an error message? Ask your AI assistant to explain it — not to write the fix for you.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53505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GUIDED PRACTICE · SOLUTION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183462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47750" y="1593781"/>
            <a:ext cx="13040392" cy="62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37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One correct answer, worked through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539441"/>
            <a:ext cx="7892863" cy="4186647"/>
            <a:chOff x="0" y="0"/>
            <a:chExt cx="10523817" cy="558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3855" cy="5582158"/>
            </a:xfrm>
            <a:custGeom>
              <a:avLst/>
              <a:gdLst/>
              <a:ahLst/>
              <a:cxnLst/>
              <a:rect r="r" b="b" t="t" l="l"/>
              <a:pathLst>
                <a:path h="5582158" w="10523855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359136" y="0"/>
                  </a:lnTo>
                  <a:cubicBezTo>
                    <a:pt x="10450068" y="0"/>
                    <a:pt x="10523855" y="73787"/>
                    <a:pt x="10523855" y="164719"/>
                  </a:cubicBezTo>
                  <a:lnTo>
                    <a:pt x="10523855" y="5417439"/>
                  </a:lnTo>
                  <a:cubicBezTo>
                    <a:pt x="10523855" y="5508371"/>
                    <a:pt x="10450068" y="5582158"/>
                    <a:pt x="10359136" y="5582158"/>
                  </a:cubicBezTo>
                  <a:lnTo>
                    <a:pt x="164719" y="5582158"/>
                  </a:lnTo>
                  <a:cubicBezTo>
                    <a:pt x="73787" y="5582158"/>
                    <a:pt x="0" y="5508498"/>
                    <a:pt x="0" y="5417439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2718730"/>
            <a:ext cx="7124167" cy="217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full_name, city, joined_date, total_spent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joined_date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&gt;=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'2025-01-01'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AND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joined_date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'2026-01-01'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  AND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total_spent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70000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joined_date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6922465"/>
            <a:ext cx="7911932" cy="2146706"/>
            <a:chOff x="0" y="0"/>
            <a:chExt cx="10549242" cy="286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9255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549255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364597" y="0"/>
                  </a:lnTo>
                  <a:cubicBezTo>
                    <a:pt x="10466578" y="0"/>
                    <a:pt x="10549255" y="82677"/>
                    <a:pt x="10549255" y="184658"/>
                  </a:cubicBezTo>
                  <a:lnTo>
                    <a:pt x="10549255" y="2677541"/>
                  </a:lnTo>
                  <a:cubicBezTo>
                    <a:pt x="10549255" y="2779522"/>
                    <a:pt x="10466578" y="2862199"/>
                    <a:pt x="10364597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7137892"/>
            <a:ext cx="7069264" cy="1715841"/>
            <a:chOff x="0" y="0"/>
            <a:chExt cx="9425686" cy="22877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25684" cy="2287784"/>
            </a:xfrm>
            <a:custGeom>
              <a:avLst/>
              <a:gdLst/>
              <a:ahLst/>
              <a:cxnLst/>
              <a:rect r="r" b="b" t="t" l="l"/>
              <a:pathLst>
                <a:path h="2287784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287784"/>
                  </a:lnTo>
                  <a:lnTo>
                    <a:pt x="0" y="22877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78" r="0" b="-302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25686" cy="2335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a range, not just “= 2025”: </a:t>
              </a: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joined_date stores full dates, not just years — so we bound it between the start of 2025 and the start of 2026 to catch every day in between.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3269" y="2529916"/>
            <a:ext cx="7911932" cy="1172108"/>
            <a:chOff x="0" y="0"/>
            <a:chExt cx="10549242" cy="15628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9255" cy="1562862"/>
            </a:xfrm>
            <a:custGeom>
              <a:avLst/>
              <a:gdLst/>
              <a:ahLst/>
              <a:cxnLst/>
              <a:rect r="r" b="b" t="t" l="l"/>
              <a:pathLst>
                <a:path h="1562862" w="10549255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0437622" y="0"/>
                  </a:lnTo>
                  <a:cubicBezTo>
                    <a:pt x="10499217" y="0"/>
                    <a:pt x="10549255" y="50038"/>
                    <a:pt x="10549255" y="111633"/>
                  </a:cubicBezTo>
                  <a:lnTo>
                    <a:pt x="10549255" y="1451229"/>
                  </a:lnTo>
                  <a:cubicBezTo>
                    <a:pt x="10549255" y="1512824"/>
                    <a:pt x="10499217" y="1562862"/>
                    <a:pt x="10437622" y="1562862"/>
                  </a:cubicBezTo>
                  <a:lnTo>
                    <a:pt x="111633" y="1562862"/>
                  </a:lnTo>
                  <a:cubicBezTo>
                    <a:pt x="50038" y="1562862"/>
                    <a:pt x="0" y="1512824"/>
                    <a:pt x="0" y="145122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02804" y="2539441"/>
            <a:ext cx="7892863" cy="576520"/>
            <a:chOff x="0" y="0"/>
            <a:chExt cx="10523817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3855" cy="768731"/>
            </a:xfrm>
            <a:custGeom>
              <a:avLst/>
              <a:gdLst/>
              <a:ahLst/>
              <a:cxnLst/>
              <a:rect r="r" b="b" t="t" l="l"/>
              <a:pathLst>
                <a:path h="768731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67529" y="2539441"/>
            <a:ext cx="1698679" cy="576522"/>
            <a:chOff x="0" y="0"/>
            <a:chExt cx="2264905" cy="768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40747" y="2539441"/>
            <a:ext cx="1698679" cy="576522"/>
            <a:chOff x="0" y="0"/>
            <a:chExt cx="2264905" cy="7686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13956" y="2539441"/>
            <a:ext cx="1698679" cy="576522"/>
            <a:chOff x="0" y="0"/>
            <a:chExt cx="2264905" cy="7686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joined_date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487174" y="2539441"/>
            <a:ext cx="1698679" cy="576522"/>
            <a:chOff x="0" y="0"/>
            <a:chExt cx="2264905" cy="7686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67529" y="3115970"/>
            <a:ext cx="1698679" cy="576522"/>
            <a:chOff x="0" y="0"/>
            <a:chExt cx="2264905" cy="7686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40747" y="3115970"/>
            <a:ext cx="1698679" cy="576522"/>
            <a:chOff x="0" y="0"/>
            <a:chExt cx="2264905" cy="7686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Ibadan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13956" y="3115970"/>
            <a:ext cx="1698679" cy="576522"/>
            <a:chOff x="0" y="0"/>
            <a:chExt cx="2264905" cy="7686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2025-05-02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487174" y="3115970"/>
            <a:ext cx="1698679" cy="576522"/>
            <a:chOff x="0" y="0"/>
            <a:chExt cx="2264905" cy="7686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64909" cy="768700"/>
            </a:xfrm>
            <a:custGeom>
              <a:avLst/>
              <a:gdLst/>
              <a:ahLst/>
              <a:cxnLst/>
              <a:rect r="r" b="b" t="t" l="l"/>
              <a:pathLst>
                <a:path h="768700" w="2264909">
                  <a:moveTo>
                    <a:pt x="0" y="0"/>
                  </a:moveTo>
                  <a:lnTo>
                    <a:pt x="2264909" y="0"/>
                  </a:lnTo>
                  <a:lnTo>
                    <a:pt x="226490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1" r="0" b="-74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264905" cy="77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62000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02804" y="3637578"/>
            <a:ext cx="7892863" cy="754970"/>
            <a:chOff x="0" y="0"/>
            <a:chExt cx="10523817" cy="10066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23822" cy="1006625"/>
            </a:xfrm>
            <a:custGeom>
              <a:avLst/>
              <a:gdLst/>
              <a:ahLst/>
              <a:cxnLst/>
              <a:rect r="r" b="b" t="t" l="l"/>
              <a:pathLst>
                <a:path h="1006625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523817" cy="1054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From our sample rows, only Tunde qualifies — Ngozi joined 2025 but spent ₦74,500, just over the line.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02804" y="4598451"/>
            <a:ext cx="7892863" cy="4461186"/>
            <a:chOff x="0" y="0"/>
            <a:chExt cx="10523817" cy="5948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23855" cy="5948172"/>
            </a:xfrm>
            <a:custGeom>
              <a:avLst/>
              <a:gdLst/>
              <a:ahLst/>
              <a:cxnLst/>
              <a:rect r="r" b="b" t="t" l="l"/>
              <a:pathLst>
                <a:path h="5948172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728589"/>
                  </a:lnTo>
                  <a:cubicBezTo>
                    <a:pt x="10523855" y="5849874"/>
                    <a:pt x="10425557" y="5948172"/>
                    <a:pt x="10304272" y="5948172"/>
                  </a:cubicBezTo>
                  <a:lnTo>
                    <a:pt x="219583" y="5948172"/>
                  </a:lnTo>
                  <a:cubicBezTo>
                    <a:pt x="98298" y="5948299"/>
                    <a:pt x="0" y="5849874"/>
                    <a:pt x="0" y="5728589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814608" y="4872990"/>
            <a:ext cx="7069264" cy="517723"/>
            <a:chOff x="0" y="0"/>
            <a:chExt cx="9425686" cy="69029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425684" cy="690303"/>
            </a:xfrm>
            <a:custGeom>
              <a:avLst/>
              <a:gdLst/>
              <a:ahLst/>
              <a:cxnLst/>
              <a:rect r="r" b="b" t="t" l="l"/>
              <a:pathLst>
                <a:path h="690303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90303"/>
                  </a:lnTo>
                  <a:lnTo>
                    <a:pt x="0" y="6903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658" r="0" b="-2124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425686" cy="70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Reconcile your prediction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814608" y="5433536"/>
            <a:ext cx="7069264" cy="195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Row count much higher than expected? Check for a missing AND — you may have written OR by mistake.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Row count zero? Check date format — SQLite expects 'YYYY-MM-DD'.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Close to your guess? Good — that's the instinct this module is building toward for joins.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084817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95563"/>
            <a:ext cx="7643812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 can now select specific columns: SELECT column names, not just *, to get exactly the data you need.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4293684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filter rows to answer a real question: WHERE, comparison operators, AND / OR narrow or widen a table to what matters.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6079627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sort results to surface what matters first: ORDER BY, ASC by default or DESC to rank highest/latest first.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4369884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6155827"/>
            <a:ext cx="371475" cy="385762"/>
            <a:chOff x="0" y="0"/>
            <a:chExt cx="495300" cy="5143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72172" y="4019550"/>
            <a:ext cx="5625067" cy="272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 b="true">
                <a:solidFill>
                  <a:srgbClr val="387F7F"/>
                </a:solidFill>
                <a:latin typeface="Inter Bold"/>
                <a:ea typeface="Inter Bold"/>
                <a:cs typeface="Inter Bold"/>
                <a:sym typeface="Inter Bold"/>
              </a:rPr>
              <a:t>Summarising Data:</a:t>
            </a:r>
          </a:p>
          <a:p>
            <a:pPr algn="r">
              <a:lnSpc>
                <a:spcPts val="5400"/>
              </a:lnSpc>
            </a:pPr>
            <a:r>
              <a:rPr lang="en-US" sz="3600" b="true">
                <a:solidFill>
                  <a:srgbClr val="387F7F"/>
                </a:solidFill>
                <a:latin typeface="Inter Bold"/>
                <a:ea typeface="Inter Bold"/>
                <a:cs typeface="Inter Bold"/>
                <a:sym typeface="Inter Bold"/>
              </a:rPr>
              <a:t>GROUP BY &amp; Aggregation</a:t>
            </a:r>
          </a:p>
          <a:p>
            <a:pPr algn="r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84116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AT'S NEXT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82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2735809"/>
            <a:ext cx="5235216" cy="4823422"/>
            <a:chOff x="0" y="0"/>
            <a:chExt cx="6980288" cy="6431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60761" y="3213868"/>
            <a:ext cx="847439" cy="847439"/>
            <a:chOff x="0" y="0"/>
            <a:chExt cx="1129919" cy="1129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676" y="3225784"/>
            <a:ext cx="823608" cy="823608"/>
            <a:chOff x="0" y="0"/>
            <a:chExt cx="1098144" cy="1098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2676" y="4323921"/>
            <a:ext cx="4392549" cy="686333"/>
            <a:chOff x="0" y="0"/>
            <a:chExt cx="5856732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Hands-on lab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676" y="5010255"/>
            <a:ext cx="4392549" cy="2333539"/>
            <a:chOff x="0" y="0"/>
            <a:chExt cx="5856732" cy="31113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6736" cy="3111391"/>
            </a:xfrm>
            <a:custGeom>
              <a:avLst/>
              <a:gdLst/>
              <a:ahLst/>
              <a:cxnLst/>
              <a:rect r="r" b="b" t="t" l="l"/>
              <a:pathLst>
                <a:path h="311139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111391"/>
                  </a:lnTo>
                  <a:lnTo>
                    <a:pt x="0" y="31113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5856732" cy="3187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Open the shared customers.db in your SQLite environment and complete the 3.2 lab worksheet — six business questions, single table only.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10661" y="2735809"/>
            <a:ext cx="5235216" cy="4823422"/>
            <a:chOff x="0" y="0"/>
            <a:chExt cx="6980288" cy="64312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920084" y="3213868"/>
            <a:ext cx="847439" cy="847439"/>
            <a:chOff x="0" y="0"/>
            <a:chExt cx="1129919" cy="11299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932000" y="3225784"/>
            <a:ext cx="823608" cy="823608"/>
            <a:chOff x="0" y="0"/>
            <a:chExt cx="1098144" cy="1098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4323921"/>
            <a:ext cx="4392549" cy="686333"/>
            <a:chOff x="0" y="0"/>
            <a:chExt cx="5856732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LMS practice set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32000" y="5010255"/>
            <a:ext cx="4392549" cy="2333539"/>
            <a:chOff x="0" y="0"/>
            <a:chExt cx="5856732" cy="31113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6736" cy="3111391"/>
            </a:xfrm>
            <a:custGeom>
              <a:avLst/>
              <a:gdLst/>
              <a:ahLst/>
              <a:cxnLst/>
              <a:rect r="r" b="b" t="t" l="l"/>
              <a:pathLst>
                <a:path h="311139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111391"/>
                  </a:lnTo>
                  <a:lnTo>
                    <a:pt x="0" y="31113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5856732" cy="3187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Ten auto-graded SELECT / WHERE / ORDER BY questions on the LMS. Immediate feedback, retry as many times as you like.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69985" y="2735809"/>
            <a:ext cx="5235216" cy="4823422"/>
            <a:chOff x="0" y="0"/>
            <a:chExt cx="6980288" cy="64312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79407" y="3213868"/>
            <a:ext cx="847439" cy="847439"/>
            <a:chOff x="0" y="0"/>
            <a:chExt cx="1129919" cy="11299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491323" y="3225784"/>
            <a:ext cx="823608" cy="823608"/>
            <a:chOff x="0" y="0"/>
            <a:chExt cx="1098144" cy="10981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91323" y="4323921"/>
            <a:ext cx="4392549" cy="686333"/>
            <a:chOff x="0" y="0"/>
            <a:chExt cx="5856732" cy="915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Keep the habit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91323" y="5010255"/>
            <a:ext cx="4392549" cy="2333539"/>
            <a:chOff x="0" y="0"/>
            <a:chExt cx="5856732" cy="31113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6736" cy="3111391"/>
            </a:xfrm>
            <a:custGeom>
              <a:avLst/>
              <a:gdLst/>
              <a:ahLst/>
              <a:cxnLst/>
              <a:rect r="r" b="b" t="t" l="l"/>
              <a:pathLst>
                <a:path h="311139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111391"/>
                  </a:lnTo>
                  <a:lnTo>
                    <a:pt x="0" y="31113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5856732" cy="3187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For every WHERE, predict the row count before you run it. Bring one query you had to debug to the next session.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1338" y="8020602"/>
            <a:ext cx="16353863" cy="1185834"/>
            <a:chOff x="0" y="0"/>
            <a:chExt cx="21805151" cy="15811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2676" y="8030137"/>
            <a:ext cx="15511196" cy="1166774"/>
            <a:chOff x="0" y="0"/>
            <a:chExt cx="20681594" cy="15556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0681594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Facilitator note: pre-built finished lab file (customers_finished.db) is attached on the LMS in case the live demo or network fails during the session.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DAHTaoDws0g</dc:identifier>
  <dcterms:modified xsi:type="dcterms:W3CDTF">2011-08-01T06:04:30Z</dcterms:modified>
  <cp:revision>1</cp:revision>
  <dc:title>Module 3.2 - Core querying</dc:title>
</cp:coreProperties>
</file>