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28"/>
    </p:embeddedFont>
    <p:embeddedFont>
      <p:font typeface="Poppins Italics" charset="1" panose="00000500000000000000"/>
      <p:regular r:id="rId29"/>
    </p:embeddedFont>
    <p:embeddedFont>
      <p:font typeface="Poppins Bold Italics" charset="1" panose="00000800000000000000"/>
      <p:regular r:id="rId30"/>
    </p:embeddedFont>
    <p:embeddedFont>
      <p:font typeface="DM Sans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Recap 3.2 in one sentence: they can already pull, filter and sort individual rows. Today's shift: instead of a list of rows, they'll produce a handful of summary numbers per group — counts, totals, averages — and learn to sanity-check those numbers against something known. Timing: 1 minute.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jpeg" Type="http://schemas.openxmlformats.org/officeDocument/2006/relationships/image"/><Relationship Id="rId12" Target="../media/image10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0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0.png" Type="http://schemas.openxmlformats.org/officeDocument/2006/relationships/image"/><Relationship Id="rId8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88"/>
            <a:chOff x="0" y="0"/>
            <a:chExt cx="21336000" cy="430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9" r="0" b="-914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0" y="2859034"/>
            <a:ext cx="16002000" cy="572651"/>
            <a:chOff x="0" y="0"/>
            <a:chExt cx="21336000" cy="7635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763536"/>
            </a:xfrm>
            <a:custGeom>
              <a:avLst/>
              <a:gdLst/>
              <a:ahLst/>
              <a:cxnLst/>
              <a:rect r="r" b="b" t="t" l="l"/>
              <a:pathLst>
                <a:path h="763536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763536"/>
                  </a:lnTo>
                  <a:lnTo>
                    <a:pt x="0" y="76353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6273" r="0" b="-47269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336000" cy="76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3342427"/>
            <a:ext cx="16002000" cy="698278"/>
            <a:chOff x="0" y="0"/>
            <a:chExt cx="21336000" cy="9310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931037"/>
            </a:xfrm>
            <a:custGeom>
              <a:avLst/>
              <a:gdLst/>
              <a:ahLst/>
              <a:cxnLst/>
              <a:rect r="r" b="b" t="t" l="l"/>
              <a:pathLst>
                <a:path h="93103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7"/>
                  </a:lnTo>
                  <a:lnTo>
                    <a:pt x="0" y="93103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216" r="0" b="-39621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3000" y="3335284"/>
            <a:ext cx="16002000" cy="705431"/>
            <a:chOff x="0" y="0"/>
            <a:chExt cx="21336000" cy="9405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940574"/>
            </a:xfrm>
            <a:custGeom>
              <a:avLst/>
              <a:gdLst/>
              <a:ahLst/>
              <a:cxnLst/>
              <a:rect r="r" b="b" t="t" l="l"/>
              <a:pathLst>
                <a:path h="94057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40574"/>
                  </a:lnTo>
                  <a:lnTo>
                    <a:pt x="0" y="9405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1998" r="0" b="-3919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336000" cy="950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3: SQL &amp; Databases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" t="0" r="-12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43062" y="9001125"/>
            <a:ext cx="2143316" cy="323088"/>
            <a:chOff x="0" y="0"/>
            <a:chExt cx="2857754" cy="4307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171" r="0" b="-7916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3062" y="8805830"/>
            <a:ext cx="2989836" cy="689795"/>
            <a:chOff x="0" y="0"/>
            <a:chExt cx="2857805" cy="6593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7805" cy="659334"/>
            </a:xfrm>
            <a:custGeom>
              <a:avLst/>
              <a:gdLst/>
              <a:ahLst/>
              <a:cxnLst/>
              <a:rect r="r" b="b" t="t" l="l"/>
              <a:pathLst>
                <a:path h="659334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659334"/>
                  </a:lnTo>
                  <a:lnTo>
                    <a:pt x="0" y="65933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86" r="0" b="-171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857805" cy="659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3 of 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3000" y="552450"/>
            <a:ext cx="2124646" cy="1845850"/>
            <a:chOff x="0" y="0"/>
            <a:chExt cx="2832862" cy="24611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8" r="0" b="-6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001070" y="1733550"/>
            <a:ext cx="6258211" cy="6258211"/>
            <a:chOff x="0" y="0"/>
            <a:chExt cx="8344281" cy="83442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1"/>
              <a:stretch>
                <a:fillRect l="-39583" t="0" r="-39583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772" t="0" r="-77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15686" y="3977940"/>
            <a:ext cx="10047284" cy="362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Summarizing Data</a:t>
            </a:r>
          </a:p>
          <a:p>
            <a:pPr algn="l">
              <a:lnSpc>
                <a:spcPts val="9000"/>
              </a:lnSpc>
            </a:pPr>
            <a:r>
              <a:rPr lang="en-US" sz="72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 &amp; Aggregation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63" y="2078926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56177" y="2078926"/>
            <a:ext cx="6700657" cy="6700657"/>
            <a:chOff x="0" y="0"/>
            <a:chExt cx="8934209" cy="8934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34196" cy="8934196"/>
            </a:xfrm>
            <a:custGeom>
              <a:avLst/>
              <a:gdLst/>
              <a:ahLst/>
              <a:cxnLst/>
              <a:rect r="r" b="b" t="t" l="l"/>
              <a:pathLst>
                <a:path h="8934196" w="8934196">
                  <a:moveTo>
                    <a:pt x="254000" y="0"/>
                  </a:moveTo>
                  <a:lnTo>
                    <a:pt x="8680196" y="0"/>
                  </a:lnTo>
                  <a:cubicBezTo>
                    <a:pt x="8747561" y="0"/>
                    <a:pt x="8812167" y="26761"/>
                    <a:pt x="8859801" y="74395"/>
                  </a:cubicBezTo>
                  <a:cubicBezTo>
                    <a:pt x="8907435" y="122029"/>
                    <a:pt x="8934196" y="186635"/>
                    <a:pt x="8934196" y="254000"/>
                  </a:cubicBezTo>
                  <a:lnTo>
                    <a:pt x="8934196" y="8680196"/>
                  </a:lnTo>
                  <a:cubicBezTo>
                    <a:pt x="8934196" y="8820476"/>
                    <a:pt x="8820476" y="8934196"/>
                    <a:pt x="8680196" y="8934196"/>
                  </a:cubicBezTo>
                  <a:lnTo>
                    <a:pt x="254000" y="8934196"/>
                  </a:lnTo>
                  <a:cubicBezTo>
                    <a:pt x="113720" y="8934196"/>
                    <a:pt x="0" y="8820476"/>
                    <a:pt x="0" y="868019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815" r="0" b="-13815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9163" y="2882379"/>
            <a:ext cx="9338510" cy="482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Use COUNT, SUM, AVG, MIN and MAX with GROUP BY to turn many rows into one summary row per group.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Use HAVING to keep only the groups whose summary value meets a condition — not individual rows.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Check a computed total or average against a known reference figure before trusting it.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827455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WHY THIS MATTERS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1980838"/>
            <a:ext cx="11703260" cy="7362863"/>
            <a:chOff x="0" y="0"/>
            <a:chExt cx="15604347" cy="9817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04302" cy="9817227"/>
            </a:xfrm>
            <a:custGeom>
              <a:avLst/>
              <a:gdLst/>
              <a:ahLst/>
              <a:cxnLst/>
              <a:rect r="r" b="b" t="t" l="l"/>
              <a:pathLst>
                <a:path h="9817227" w="15604302">
                  <a:moveTo>
                    <a:pt x="0" y="220218"/>
                  </a:moveTo>
                  <a:cubicBezTo>
                    <a:pt x="0" y="98552"/>
                    <a:pt x="114883" y="0"/>
                    <a:pt x="256711" y="0"/>
                  </a:cubicBezTo>
                  <a:lnTo>
                    <a:pt x="15347592" y="0"/>
                  </a:lnTo>
                  <a:cubicBezTo>
                    <a:pt x="15489419" y="0"/>
                    <a:pt x="15604302" y="98552"/>
                    <a:pt x="15604302" y="220218"/>
                  </a:cubicBezTo>
                  <a:lnTo>
                    <a:pt x="15604302" y="9597009"/>
                  </a:lnTo>
                  <a:cubicBezTo>
                    <a:pt x="15604302" y="9718675"/>
                    <a:pt x="15489419" y="9817227"/>
                    <a:pt x="15347592" y="9817227"/>
                  </a:cubicBezTo>
                  <a:lnTo>
                    <a:pt x="256711" y="9817227"/>
                  </a:lnTo>
                  <a:cubicBezTo>
                    <a:pt x="114883" y="9817100"/>
                    <a:pt x="0" y="9718548"/>
                    <a:pt x="0" y="95970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4" y="2402176"/>
            <a:ext cx="9059637" cy="752593"/>
            <a:chOff x="0" y="0"/>
            <a:chExt cx="12079516" cy="10034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79517" cy="1003458"/>
            </a:xfrm>
            <a:custGeom>
              <a:avLst/>
              <a:gdLst/>
              <a:ahLst/>
              <a:cxnLst/>
              <a:rect r="r" b="b" t="t" l="l"/>
              <a:pathLst>
                <a:path h="1003458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1003458"/>
                  </a:lnTo>
                  <a:lnTo>
                    <a:pt x="0" y="100345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8080" r="0" b="-17103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79516" cy="1032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62"/>
                </a:lnSpc>
              </a:pPr>
              <a:r>
                <a:rPr lang="en-US" sz="30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Head office wants the regional picture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1304" y="3187306"/>
            <a:ext cx="10374615" cy="563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022" indent="-262011" lvl="1">
              <a:lnSpc>
                <a:spcPts val="4096"/>
              </a:lnSpc>
              <a:buFont typeface="Arial"/>
              <a:buChar char="•"/>
            </a:pPr>
            <a:r>
              <a:rPr lang="en-US" sz="2893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Eko Traders’ regional manager is deciding where to open the next branch — she needs customer count and total spend per city, not a list of individual customers.</a:t>
            </a:r>
          </a:p>
          <a:p>
            <a:pPr algn="l" marL="524022" indent="-262011" lvl="1">
              <a:lnSpc>
                <a:spcPts val="4096"/>
              </a:lnSpc>
              <a:buFont typeface="Arial"/>
              <a:buChar char="•"/>
            </a:pPr>
            <a:r>
              <a:rPr lang="en-US" sz="2893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3.2 taught Aisha to pull rows one at a time. That's the wrong tool here: 4,200 rows, one number needed per city.</a:t>
            </a:r>
          </a:p>
          <a:p>
            <a:pPr algn="l" marL="524022" indent="-262011" lvl="1">
              <a:lnSpc>
                <a:spcPts val="4096"/>
              </a:lnSpc>
              <a:buFont typeface="Arial"/>
              <a:buChar char="•"/>
            </a:pPr>
            <a:r>
              <a:rPr lang="en-US" sz="2893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Finance has already estimated total recorded spend at ₦858,000 for this batch. Whatever the query produces has to agree with that — or explain why it doesn't.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50" y="-65057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3000" y="762000"/>
            <a:ext cx="4671074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1OF 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8497" y="1821607"/>
            <a:ext cx="13040392" cy="67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1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Five aggregate functions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08497" y="2799807"/>
            <a:ext cx="16334804" cy="549069"/>
            <a:chOff x="0" y="0"/>
            <a:chExt cx="21779738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79736" cy="732092"/>
            </a:xfrm>
            <a:custGeom>
              <a:avLst/>
              <a:gdLst/>
              <a:ahLst/>
              <a:cxnLst/>
              <a:rect r="r" b="b" t="t" l="l"/>
              <a:pathLst>
                <a:path h="732092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77973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Run alone, without GROUP BY, each of these collapses the whole table into a single number.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8963" y="3545243"/>
            <a:ext cx="16353863" cy="3752736"/>
            <a:chOff x="0" y="0"/>
            <a:chExt cx="21805151" cy="5003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05137" cy="5003673"/>
            </a:xfrm>
            <a:custGeom>
              <a:avLst/>
              <a:gdLst/>
              <a:ahLst/>
              <a:cxnLst/>
              <a:rect r="r" b="b" t="t" l="l"/>
              <a:pathLst>
                <a:path h="5003673" w="2180513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775" y="0"/>
                  </a:lnTo>
                  <a:cubicBezTo>
                    <a:pt x="21755736" y="0"/>
                    <a:pt x="21805137" y="49403"/>
                    <a:pt x="21805137" y="110363"/>
                  </a:cubicBezTo>
                  <a:lnTo>
                    <a:pt x="21805137" y="4893310"/>
                  </a:lnTo>
                  <a:cubicBezTo>
                    <a:pt x="21805137" y="4954270"/>
                    <a:pt x="21755736" y="5003673"/>
                    <a:pt x="21694775" y="5003673"/>
                  </a:cubicBezTo>
                  <a:lnTo>
                    <a:pt x="110363" y="5003673"/>
                  </a:lnTo>
                  <a:cubicBezTo>
                    <a:pt x="49403" y="5003673"/>
                    <a:pt x="0" y="4954270"/>
                    <a:pt x="0" y="489331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8497" y="3554778"/>
            <a:ext cx="16334804" cy="576520"/>
            <a:chOff x="0" y="0"/>
            <a:chExt cx="21779738" cy="7686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3213" y="3554778"/>
            <a:ext cx="5170399" cy="576522"/>
            <a:chOff x="0" y="0"/>
            <a:chExt cx="6893865" cy="7686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93866" cy="768700"/>
            </a:xfrm>
            <a:custGeom>
              <a:avLst/>
              <a:gdLst/>
              <a:ahLst/>
              <a:cxnLst/>
              <a:rect r="r" b="b" t="t" l="l"/>
              <a:pathLst>
                <a:path h="768700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93865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18151" y="3554778"/>
            <a:ext cx="5170399" cy="576522"/>
            <a:chOff x="0" y="0"/>
            <a:chExt cx="6893865" cy="7686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3866" cy="768700"/>
            </a:xfrm>
            <a:custGeom>
              <a:avLst/>
              <a:gdLst/>
              <a:ahLst/>
              <a:cxnLst/>
              <a:rect r="r" b="b" t="t" l="l"/>
              <a:pathLst>
                <a:path h="768700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893865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Answers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63089" y="3554778"/>
            <a:ext cx="5170399" cy="576522"/>
            <a:chOff x="0" y="0"/>
            <a:chExt cx="6893865" cy="7686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93866" cy="768700"/>
            </a:xfrm>
            <a:custGeom>
              <a:avLst/>
              <a:gdLst/>
              <a:ahLst/>
              <a:cxnLst/>
              <a:rect r="r" b="b" t="t" l="l"/>
              <a:pathLst>
                <a:path h="768700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893865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Example (on customers)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3213" y="4131297"/>
            <a:ext cx="5170399" cy="631429"/>
            <a:chOff x="0" y="0"/>
            <a:chExt cx="6893865" cy="8419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COUNT(*)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18151" y="4131297"/>
            <a:ext cx="5170399" cy="631429"/>
            <a:chOff x="0" y="0"/>
            <a:chExt cx="6893865" cy="8419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how many rows?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63089" y="4131297"/>
            <a:ext cx="5170399" cy="631429"/>
            <a:chOff x="0" y="0"/>
            <a:chExt cx="6893865" cy="8419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COUNT(*) → 10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8497" y="4762729"/>
            <a:ext cx="16334804" cy="631431"/>
            <a:chOff x="0" y="0"/>
            <a:chExt cx="21779738" cy="8419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79737" cy="841883"/>
            </a:xfrm>
            <a:custGeom>
              <a:avLst/>
              <a:gdLst/>
              <a:ahLst/>
              <a:cxnLst/>
              <a:rect r="r" b="b" t="t" l="l"/>
              <a:pathLst>
                <a:path h="84188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73213" y="4762729"/>
            <a:ext cx="5170399" cy="631429"/>
            <a:chOff x="0" y="0"/>
            <a:chExt cx="6893865" cy="8419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SUM(col)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18151" y="4762729"/>
            <a:ext cx="5170399" cy="631429"/>
            <a:chOff x="0" y="0"/>
            <a:chExt cx="6893865" cy="84190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what's the total?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63089" y="4762729"/>
            <a:ext cx="5170399" cy="631429"/>
            <a:chOff x="0" y="0"/>
            <a:chExt cx="6893865" cy="8419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SUM(total_spent) → 858000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73213" y="5394160"/>
            <a:ext cx="5170399" cy="631429"/>
            <a:chOff x="0" y="0"/>
            <a:chExt cx="6893865" cy="8419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AVG(col)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618151" y="5394160"/>
            <a:ext cx="5170399" cy="631429"/>
            <a:chOff x="0" y="0"/>
            <a:chExt cx="6893865" cy="84190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what's the average?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063089" y="5394160"/>
            <a:ext cx="5170399" cy="631429"/>
            <a:chOff x="0" y="0"/>
            <a:chExt cx="6893865" cy="8419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AVG(total_spent) → 85800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8497" y="6025591"/>
            <a:ext cx="16334804" cy="631431"/>
            <a:chOff x="0" y="0"/>
            <a:chExt cx="21779738" cy="8419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779737" cy="841883"/>
            </a:xfrm>
            <a:custGeom>
              <a:avLst/>
              <a:gdLst/>
              <a:ahLst/>
              <a:cxnLst/>
              <a:rect r="r" b="b" t="t" l="l"/>
              <a:pathLst>
                <a:path h="84188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73213" y="6025591"/>
            <a:ext cx="5170399" cy="631429"/>
            <a:chOff x="0" y="0"/>
            <a:chExt cx="6893865" cy="8419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MIN(col)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18151" y="6025591"/>
            <a:ext cx="5170399" cy="631429"/>
            <a:chOff x="0" y="0"/>
            <a:chExt cx="6893865" cy="8419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what's the smallest?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63089" y="6025591"/>
            <a:ext cx="5170399" cy="631429"/>
            <a:chOff x="0" y="0"/>
            <a:chExt cx="6893865" cy="8419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MIN(total_spent) → 12500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73213" y="6657022"/>
            <a:ext cx="5170399" cy="631429"/>
            <a:chOff x="0" y="0"/>
            <a:chExt cx="6893865" cy="8419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MAX(col)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18151" y="6657022"/>
            <a:ext cx="5170399" cy="631429"/>
            <a:chOff x="0" y="0"/>
            <a:chExt cx="6893865" cy="8419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what's the largest?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063089" y="6657022"/>
            <a:ext cx="5170399" cy="631429"/>
            <a:chOff x="0" y="0"/>
            <a:chExt cx="6893865" cy="8419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93866" cy="841903"/>
            </a:xfrm>
            <a:custGeom>
              <a:avLst/>
              <a:gdLst/>
              <a:ahLst/>
              <a:cxnLst/>
              <a:rect r="r" b="b" t="t" l="l"/>
              <a:pathLst>
                <a:path h="84190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893865" cy="860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MAX(total_spent) → 210000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8497" y="7329630"/>
            <a:ext cx="16334804" cy="2127647"/>
            <a:chOff x="0" y="0"/>
            <a:chExt cx="21779738" cy="283686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779739" cy="2836926"/>
            </a:xfrm>
            <a:custGeom>
              <a:avLst/>
              <a:gdLst/>
              <a:ahLst/>
              <a:cxnLst/>
              <a:rect r="r" b="b" t="t" l="l"/>
              <a:pathLst>
                <a:path h="2836926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2672207"/>
                  </a:lnTo>
                  <a:cubicBezTo>
                    <a:pt x="21779739" y="2763139"/>
                    <a:pt x="21705951" y="2836926"/>
                    <a:pt x="21615019" y="2836926"/>
                  </a:cubicBezTo>
                  <a:lnTo>
                    <a:pt x="164719" y="2836926"/>
                  </a:lnTo>
                  <a:cubicBezTo>
                    <a:pt x="73787" y="2836799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92841" y="7508910"/>
            <a:ext cx="15566107" cy="119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COUNT(*), SUM(total_spent),</a:t>
            </a:r>
          </a:p>
          <a:p>
            <a:pPr algn="l">
              <a:lnSpc>
                <a:spcPts val="3161"/>
              </a:lnSpc>
            </a:pP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AVG(total_spent), MIN(total_spent), MAX(total_spent)</a:t>
            </a:r>
          </a:p>
          <a:p>
            <a:pPr algn="l">
              <a:lnSpc>
                <a:spcPts val="3161"/>
              </a:lnSpc>
            </a:pPr>
            <a:r>
              <a:rPr lang="en-US" sz="195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95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customers;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57250" y="320116"/>
            <a:ext cx="114300" cy="1028700"/>
            <a:chOff x="0" y="0"/>
            <a:chExt cx="152400" cy="1371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650224" y="9562300"/>
            <a:ext cx="647224" cy="571500"/>
            <a:chOff x="0" y="0"/>
            <a:chExt cx="862965" cy="762000"/>
          </a:xfrm>
        </p:grpSpPr>
        <p:sp>
          <p:nvSpPr>
            <p:cNvPr name="Freeform 81" id="8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02535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2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95375" y="1797403"/>
            <a:ext cx="13040392" cy="69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2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COUNT(*) vs. COUNT(column) — the NULL trap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75045"/>
            <a:ext cx="7824235" cy="260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COUNT(*) counts every row, no matter what's in it.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COUNT(column) counts only rows where that column is not NULL.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Two customers never gave a phone number — their phone column is NULL.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That one-word difference changes the answer. Always ask which one the question actually needs.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7705175"/>
            <a:ext cx="7824235" cy="1853108"/>
            <a:chOff x="0" y="0"/>
            <a:chExt cx="10432313" cy="24708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306066"/>
                  </a:lnTo>
                  <a:cubicBezTo>
                    <a:pt x="10432288" y="2396998"/>
                    <a:pt x="10358501" y="2470785"/>
                    <a:pt x="10267569" y="2470785"/>
                  </a:cubicBezTo>
                  <a:lnTo>
                    <a:pt x="164719" y="2470785"/>
                  </a:lnTo>
                  <a:cubicBezTo>
                    <a:pt x="73787" y="2470785"/>
                    <a:pt x="0" y="2396998"/>
                    <a:pt x="0" y="2306066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5216" y="7884464"/>
            <a:ext cx="7055539" cy="11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COUNT(*) </a:t>
            </a: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all_rows,</a:t>
            </a:r>
          </a:p>
          <a:p>
            <a:pPr algn="l">
              <a:lnSpc>
                <a:spcPts val="3039"/>
              </a:lnSpc>
            </a:pP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COUNT(phone) </a:t>
            </a: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rows_with_phone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6004" y="2822660"/>
            <a:ext cx="8117834" cy="1117206"/>
            <a:chOff x="0" y="0"/>
            <a:chExt cx="10823778" cy="1489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23828" cy="1489710"/>
            </a:xfrm>
            <a:custGeom>
              <a:avLst/>
              <a:gdLst/>
              <a:ahLst/>
              <a:cxnLst/>
              <a:rect r="r" b="b" t="t" l="l"/>
              <a:pathLst>
                <a:path h="1489710" w="10823828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10712069" y="0"/>
                  </a:lnTo>
                  <a:cubicBezTo>
                    <a:pt x="10773790" y="0"/>
                    <a:pt x="10823828" y="50038"/>
                    <a:pt x="10823828" y="111760"/>
                  </a:cubicBezTo>
                  <a:lnTo>
                    <a:pt x="10823828" y="1377950"/>
                  </a:lnTo>
                  <a:cubicBezTo>
                    <a:pt x="10823828" y="1439672"/>
                    <a:pt x="10773790" y="1489710"/>
                    <a:pt x="10712069" y="1489710"/>
                  </a:cubicBezTo>
                  <a:lnTo>
                    <a:pt x="111760" y="1489710"/>
                  </a:lnTo>
                  <a:cubicBezTo>
                    <a:pt x="50038" y="1489710"/>
                    <a:pt x="0" y="1439672"/>
                    <a:pt x="0" y="137795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65539" y="2832195"/>
            <a:ext cx="8098765" cy="549069"/>
            <a:chOff x="0" y="0"/>
            <a:chExt cx="10798353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8302" cy="732155"/>
            </a:xfrm>
            <a:custGeom>
              <a:avLst/>
              <a:gdLst/>
              <a:ahLst/>
              <a:cxnLst/>
              <a:rect r="r" b="b" t="t" l="l"/>
              <a:pathLst>
                <a:path h="732155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30255" y="2832195"/>
            <a:ext cx="3774853" cy="549069"/>
            <a:chOff x="0" y="0"/>
            <a:chExt cx="5033137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all_rows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79647" y="2832195"/>
            <a:ext cx="3774853" cy="549069"/>
            <a:chOff x="0" y="0"/>
            <a:chExt cx="5033137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rows_with_phone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30255" y="3381263"/>
            <a:ext cx="3774853" cy="549069"/>
            <a:chOff x="0" y="0"/>
            <a:chExt cx="5033137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79647" y="3381263"/>
            <a:ext cx="3774853" cy="549069"/>
            <a:chOff x="0" y="0"/>
            <a:chExt cx="5033137" cy="732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33132" cy="732092"/>
            </a:xfrm>
            <a:custGeom>
              <a:avLst/>
              <a:gdLst/>
              <a:ahLst/>
              <a:cxnLst/>
              <a:rect r="r" b="b" t="t" l="l"/>
              <a:pathLst>
                <a:path h="73209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033137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8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65539" y="4067597"/>
            <a:ext cx="8098765" cy="549069"/>
            <a:chOff x="0" y="0"/>
            <a:chExt cx="10798353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98356" cy="732092"/>
            </a:xfrm>
            <a:custGeom>
              <a:avLst/>
              <a:gdLst/>
              <a:ahLst/>
              <a:cxnLst/>
              <a:rect r="r" b="b" t="t" l="l"/>
              <a:pathLst>
                <a:path h="732092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7404" r="0" b="-2374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798353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8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Same table, two different counts — because 2 rows have no phone on file.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56004" y="4744396"/>
            <a:ext cx="8117834" cy="4823422"/>
            <a:chOff x="0" y="0"/>
            <a:chExt cx="10823778" cy="64312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23828" cy="6431280"/>
            </a:xfrm>
            <a:custGeom>
              <a:avLst/>
              <a:gdLst/>
              <a:ahLst/>
              <a:cxnLst/>
              <a:rect r="r" b="b" t="t" l="l"/>
              <a:pathLst>
                <a:path h="6431280" w="10823828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640060" y="0"/>
                  </a:lnTo>
                  <a:cubicBezTo>
                    <a:pt x="10741533" y="0"/>
                    <a:pt x="10823828" y="82296"/>
                    <a:pt x="10823828" y="183769"/>
                  </a:cubicBezTo>
                  <a:lnTo>
                    <a:pt x="10823828" y="6247511"/>
                  </a:lnTo>
                  <a:cubicBezTo>
                    <a:pt x="10823828" y="6348984"/>
                    <a:pt x="10741533" y="6431280"/>
                    <a:pt x="10640060" y="6431280"/>
                  </a:cubicBezTo>
                  <a:lnTo>
                    <a:pt x="183769" y="6431280"/>
                  </a:lnTo>
                  <a:cubicBezTo>
                    <a:pt x="82296" y="6431280"/>
                    <a:pt x="0" y="6348984"/>
                    <a:pt x="0" y="6247511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08706" y="4987283"/>
            <a:ext cx="7412431" cy="467395"/>
            <a:chOff x="0" y="0"/>
            <a:chExt cx="9883242" cy="6231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883241" cy="623191"/>
            </a:xfrm>
            <a:custGeom>
              <a:avLst/>
              <a:gdLst/>
              <a:ahLst/>
              <a:cxnLst/>
              <a:rect r="r" b="b" t="t" l="l"/>
              <a:pathLst>
                <a:path h="623191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23191"/>
                  </a:lnTo>
                  <a:lnTo>
                    <a:pt x="0" y="62319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4961" r="0" b="-25306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9883242" cy="642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Rule of thumb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08706" y="5424300"/>
            <a:ext cx="7412431" cy="167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“How many customers do we have?” → COUNT(*)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“How many customers gave us a phone number?” → COUNT(phone)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SUM, AVG, MIN and MAX all ignore NULLs the same way — they only ever look at rows with a real value in that column.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650224" y="9552775"/>
            <a:ext cx="647224" cy="571500"/>
            <a:chOff x="0" y="0"/>
            <a:chExt cx="862965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1142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3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2876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29973" y="1845985"/>
            <a:ext cx="13040392" cy="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9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 — one summary row per 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" y="2826466"/>
            <a:ext cx="7824235" cy="274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Without GROUP BY, an aggregate collapses the whole table into one row.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GROUP BY splits the table into buckets first — one bucket per distinct value — then aggregates inside each bucket separately.</a:t>
            </a:r>
          </a:p>
          <a:p>
            <a:pPr algn="l" marL="394236" indent="-197118" lvl="1">
              <a:lnSpc>
                <a:spcPts val="3082"/>
              </a:lnSpc>
              <a:buFont typeface="Arial"/>
              <a:buChar char="•"/>
            </a:pPr>
            <a:r>
              <a:rPr lang="en-US" sz="21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column you GROUP BY becomes the label on each summary row.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1075" y="6736622"/>
            <a:ext cx="7824235" cy="1853108"/>
            <a:chOff x="0" y="0"/>
            <a:chExt cx="10432313" cy="24708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306066"/>
                  </a:lnTo>
                  <a:cubicBezTo>
                    <a:pt x="10432288" y="2396998"/>
                    <a:pt x="10358501" y="2470785"/>
                    <a:pt x="10267569" y="2470785"/>
                  </a:cubicBezTo>
                  <a:lnTo>
                    <a:pt x="164719" y="2470785"/>
                  </a:lnTo>
                  <a:cubicBezTo>
                    <a:pt x="73787" y="2470785"/>
                    <a:pt x="0" y="2396998"/>
                    <a:pt x="0" y="2306066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65418" y="6915901"/>
            <a:ext cx="7055539" cy="113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COUNT(*), SUM(total_spent)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87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76207" y="2883607"/>
            <a:ext cx="8117834" cy="3176216"/>
            <a:chOff x="0" y="0"/>
            <a:chExt cx="10823778" cy="42349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23829" cy="4234942"/>
            </a:xfrm>
            <a:custGeom>
              <a:avLst/>
              <a:gdLst/>
              <a:ahLst/>
              <a:cxnLst/>
              <a:rect r="r" b="b" t="t" l="l"/>
              <a:pathLst>
                <a:path h="4234942" w="10823829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713339" y="0"/>
                  </a:lnTo>
                  <a:cubicBezTo>
                    <a:pt x="10774299" y="0"/>
                    <a:pt x="10823829" y="49530"/>
                    <a:pt x="10823829" y="110490"/>
                  </a:cubicBezTo>
                  <a:lnTo>
                    <a:pt x="10823829" y="4124452"/>
                  </a:lnTo>
                  <a:cubicBezTo>
                    <a:pt x="10823829" y="4185412"/>
                    <a:pt x="10774299" y="4234942"/>
                    <a:pt x="10713339" y="4234942"/>
                  </a:cubicBezTo>
                  <a:lnTo>
                    <a:pt x="110490" y="4234942"/>
                  </a:lnTo>
                  <a:cubicBezTo>
                    <a:pt x="49530" y="4234942"/>
                    <a:pt x="0" y="4185412"/>
                    <a:pt x="0" y="412445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85742" y="2893141"/>
            <a:ext cx="8098765" cy="549069"/>
            <a:chOff x="0" y="0"/>
            <a:chExt cx="10798353" cy="7320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8302" cy="732155"/>
            </a:xfrm>
            <a:custGeom>
              <a:avLst/>
              <a:gdLst/>
              <a:ahLst/>
              <a:cxnLst/>
              <a:rect r="r" b="b" t="t" l="l"/>
              <a:pathLst>
                <a:path h="732155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50457" y="2893141"/>
            <a:ext cx="2425055" cy="549069"/>
            <a:chOff x="0" y="0"/>
            <a:chExt cx="3233407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23340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50052" y="2893141"/>
            <a:ext cx="2425055" cy="549069"/>
            <a:chOff x="0" y="0"/>
            <a:chExt cx="3233407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23340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COUNT(*)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849637" y="2893141"/>
            <a:ext cx="2425055" cy="549069"/>
            <a:chOff x="0" y="0"/>
            <a:chExt cx="3233407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33406" cy="732092"/>
            </a:xfrm>
            <a:custGeom>
              <a:avLst/>
              <a:gdLst/>
              <a:ahLst/>
              <a:cxnLst/>
              <a:rect r="r" b="b" t="t" l="l"/>
              <a:pathLst>
                <a:path h="732092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233407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SUM(total_spent)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50457" y="3442210"/>
            <a:ext cx="2425055" cy="521616"/>
            <a:chOff x="0" y="0"/>
            <a:chExt cx="3233407" cy="6954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50052" y="3442210"/>
            <a:ext cx="2425055" cy="521616"/>
            <a:chOff x="0" y="0"/>
            <a:chExt cx="3233407" cy="6954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849637" y="3442210"/>
            <a:ext cx="2425055" cy="521616"/>
            <a:chOff x="0" y="0"/>
            <a:chExt cx="3233407" cy="6954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335000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85742" y="3963818"/>
            <a:ext cx="8098765" cy="521618"/>
            <a:chOff x="0" y="0"/>
            <a:chExt cx="10798353" cy="6954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9830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50457" y="3963818"/>
            <a:ext cx="2425055" cy="521616"/>
            <a:chOff x="0" y="0"/>
            <a:chExt cx="3233407" cy="6954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Abuja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150052" y="3963818"/>
            <a:ext cx="2425055" cy="521616"/>
            <a:chOff x="0" y="0"/>
            <a:chExt cx="3233407" cy="69548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49637" y="3963818"/>
            <a:ext cx="2425055" cy="521616"/>
            <a:chOff x="0" y="0"/>
            <a:chExt cx="3233407" cy="69548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255000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50457" y="4485435"/>
            <a:ext cx="2425055" cy="521616"/>
            <a:chOff x="0" y="0"/>
            <a:chExt cx="3233407" cy="6954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Kano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150052" y="4485435"/>
            <a:ext cx="2425055" cy="521616"/>
            <a:chOff x="0" y="0"/>
            <a:chExt cx="3233407" cy="69548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849637" y="4485435"/>
            <a:ext cx="2425055" cy="521616"/>
            <a:chOff x="0" y="0"/>
            <a:chExt cx="3233407" cy="69548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98000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85742" y="5007053"/>
            <a:ext cx="8098765" cy="521618"/>
            <a:chOff x="0" y="0"/>
            <a:chExt cx="10798353" cy="6954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9830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450457" y="5007053"/>
            <a:ext cx="2425055" cy="521616"/>
            <a:chOff x="0" y="0"/>
            <a:chExt cx="3233407" cy="69548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Port Harcourt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150052" y="5007053"/>
            <a:ext cx="2425055" cy="521616"/>
            <a:chOff x="0" y="0"/>
            <a:chExt cx="3233407" cy="69548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849637" y="5007053"/>
            <a:ext cx="2425055" cy="521616"/>
            <a:chOff x="0" y="0"/>
            <a:chExt cx="3233407" cy="69548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87000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50457" y="5528671"/>
            <a:ext cx="2425055" cy="521616"/>
            <a:chOff x="0" y="0"/>
            <a:chExt cx="3233407" cy="69548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Ibadan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150052" y="5528671"/>
            <a:ext cx="2425055" cy="521616"/>
            <a:chOff x="0" y="0"/>
            <a:chExt cx="3233407" cy="69548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849637" y="5528671"/>
            <a:ext cx="2425055" cy="521616"/>
            <a:chOff x="0" y="0"/>
            <a:chExt cx="3233407" cy="69548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233406" cy="695485"/>
            </a:xfrm>
            <a:custGeom>
              <a:avLst/>
              <a:gdLst/>
              <a:ahLst/>
              <a:cxnLst/>
              <a:rect r="r" b="b" t="t" l="l"/>
              <a:pathLst>
                <a:path h="695485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0588" r="0" b="-4058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233407" cy="714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83000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285742" y="6187553"/>
            <a:ext cx="8098765" cy="407410"/>
            <a:chOff x="0" y="0"/>
            <a:chExt cx="10798353" cy="54321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798356" cy="543207"/>
            </a:xfrm>
            <a:custGeom>
              <a:avLst/>
              <a:gdLst/>
              <a:ahLst/>
              <a:cxnLst/>
              <a:rect r="r" b="b" t="t" l="l"/>
              <a:pathLst>
                <a:path h="543207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543207"/>
                  </a:lnTo>
                  <a:lnTo>
                    <a:pt x="0" y="54320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40170" r="0" b="-33451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0798353" cy="552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One row per city — 10 customers became 5 summary rows.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276207" y="6630999"/>
            <a:ext cx="8117834" cy="2764412"/>
            <a:chOff x="0" y="0"/>
            <a:chExt cx="10823778" cy="368588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823702" cy="3685794"/>
            </a:xfrm>
            <a:custGeom>
              <a:avLst/>
              <a:gdLst/>
              <a:ahLst/>
              <a:cxnLst/>
              <a:rect r="r" b="b" t="t" l="l"/>
              <a:pathLst>
                <a:path h="3685794" w="10823702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639425" y="0"/>
                  </a:lnTo>
                  <a:cubicBezTo>
                    <a:pt x="10741152" y="0"/>
                    <a:pt x="10823702" y="82550"/>
                    <a:pt x="10823702" y="184277"/>
                  </a:cubicBezTo>
                  <a:lnTo>
                    <a:pt x="10823702" y="3501517"/>
                  </a:lnTo>
                  <a:cubicBezTo>
                    <a:pt x="10823702" y="3603244"/>
                    <a:pt x="10741152" y="3685794"/>
                    <a:pt x="10639425" y="3685794"/>
                  </a:cubicBezTo>
                  <a:lnTo>
                    <a:pt x="184277" y="3685794"/>
                  </a:lnTo>
                  <a:cubicBezTo>
                    <a:pt x="82550" y="3685921"/>
                    <a:pt x="0" y="3603371"/>
                    <a:pt x="0" y="3501644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628908" y="6832710"/>
            <a:ext cx="7412431" cy="441035"/>
            <a:chOff x="0" y="0"/>
            <a:chExt cx="9883242" cy="58804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883241" cy="588044"/>
            </a:xfrm>
            <a:custGeom>
              <a:avLst/>
              <a:gdLst/>
              <a:ahLst/>
              <a:cxnLst/>
              <a:rect r="r" b="b" t="t" l="l"/>
              <a:pathLst>
                <a:path h="588044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88044"/>
                  </a:lnTo>
                  <a:lnTo>
                    <a:pt x="0" y="58804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0798" r="0" b="-27417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9883242" cy="607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Think of it as sorting into piles first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28908" y="7271965"/>
            <a:ext cx="7412431" cy="1921741"/>
            <a:chOff x="0" y="0"/>
            <a:chExt cx="9883242" cy="256232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883241" cy="2562317"/>
            </a:xfrm>
            <a:custGeom>
              <a:avLst/>
              <a:gdLst/>
              <a:ahLst/>
              <a:cxnLst/>
              <a:rect r="r" b="b" t="t" l="l"/>
              <a:pathLst>
                <a:path h="2562317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2562317"/>
                  </a:lnTo>
                  <a:lnTo>
                    <a:pt x="0" y="25623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9883242" cy="2638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SQL makes one pile per city, counts and sums inside each pile, then hands you back one summary card per pile.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3688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4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4422" y="1847850"/>
            <a:ext cx="13040392" cy="67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1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The rule everyone breaks once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4888" y="2845247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26226" y="3033223"/>
            <a:ext cx="15511196" cy="960871"/>
            <a:chOff x="0" y="0"/>
            <a:chExt cx="20681594" cy="12811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281159"/>
            </a:xfrm>
            <a:custGeom>
              <a:avLst/>
              <a:gdLst/>
              <a:ahLst/>
              <a:cxnLst/>
              <a:rect r="r" b="b" t="t" l="l"/>
              <a:pathLst>
                <a:path h="1281159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281159"/>
                  </a:lnTo>
                  <a:lnTo>
                    <a:pt x="0" y="128115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4544" r="0" b="-2645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1594" cy="1347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6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Rule: </a:t>
              </a:r>
              <a:r>
                <a:rPr lang="en-US" sz="210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once you GROUP BY, every column in SELECT must be either the grouped column itself, or wrapped in an aggregate function. Nothing else is allowed.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125" y="4487681"/>
            <a:ext cx="7921466" cy="5313388"/>
            <a:chOff x="0" y="0"/>
            <a:chExt cx="10561955" cy="70845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61955" cy="7084568"/>
            </a:xfrm>
            <a:custGeom>
              <a:avLst/>
              <a:gdLst/>
              <a:ahLst/>
              <a:cxnLst/>
              <a:rect r="r" b="b" t="t" l="l"/>
              <a:pathLst>
                <a:path h="7084568" w="10561955">
                  <a:moveTo>
                    <a:pt x="0" y="220853"/>
                  </a:moveTo>
                  <a:cubicBezTo>
                    <a:pt x="0" y="98806"/>
                    <a:pt x="98806" y="0"/>
                    <a:pt x="220853" y="0"/>
                  </a:cubicBezTo>
                  <a:lnTo>
                    <a:pt x="10341102" y="0"/>
                  </a:lnTo>
                  <a:cubicBezTo>
                    <a:pt x="10463022" y="0"/>
                    <a:pt x="10561955" y="98806"/>
                    <a:pt x="10561955" y="220853"/>
                  </a:cubicBezTo>
                  <a:lnTo>
                    <a:pt x="10561955" y="6863715"/>
                  </a:lnTo>
                  <a:cubicBezTo>
                    <a:pt x="10561955" y="6985635"/>
                    <a:pt x="10463149" y="7084568"/>
                    <a:pt x="10341102" y="7084568"/>
                  </a:cubicBezTo>
                  <a:lnTo>
                    <a:pt x="220853" y="7084568"/>
                  </a:lnTo>
                  <a:cubicBezTo>
                    <a:pt x="98806" y="7084568"/>
                    <a:pt x="0" y="6985635"/>
                    <a:pt x="0" y="686371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0453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26226" y="4845154"/>
            <a:ext cx="2196274" cy="617706"/>
            <a:chOff x="0" y="0"/>
            <a:chExt cx="2928366" cy="8236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8366" cy="823722"/>
            </a:xfrm>
            <a:custGeom>
              <a:avLst/>
              <a:gdLst/>
              <a:ahLst/>
              <a:cxnLst/>
              <a:rect r="r" b="b" t="t" l="l"/>
              <a:pathLst>
                <a:path h="823722" w="2928366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2516505" y="0"/>
                  </a:lnTo>
                  <a:cubicBezTo>
                    <a:pt x="2743962" y="0"/>
                    <a:pt x="2928366" y="184404"/>
                    <a:pt x="2928366" y="411861"/>
                  </a:cubicBezTo>
                  <a:cubicBezTo>
                    <a:pt x="2928366" y="639318"/>
                    <a:pt x="2743962" y="823722"/>
                    <a:pt x="2516505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7E1D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6226" y="4845154"/>
            <a:ext cx="2196274" cy="617703"/>
            <a:chOff x="0" y="0"/>
            <a:chExt cx="2928366" cy="8236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8368" cy="823599"/>
            </a:xfrm>
            <a:custGeom>
              <a:avLst/>
              <a:gdLst/>
              <a:ahLst/>
              <a:cxnLst/>
              <a:rect r="r" b="b" t="t" l="l"/>
              <a:pathLst>
                <a:path h="823599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279" r="0" b="-192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928366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9E2B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✗  Fails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6226" y="5668752"/>
            <a:ext cx="7069264" cy="2127647"/>
            <a:chOff x="0" y="0"/>
            <a:chExt cx="9425686" cy="28368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25686" cy="2836926"/>
            </a:xfrm>
            <a:custGeom>
              <a:avLst/>
              <a:gdLst/>
              <a:ahLst/>
              <a:cxnLst/>
              <a:rect r="r" b="b" t="t" l="l"/>
              <a:pathLst>
                <a:path h="2836926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2672207"/>
                  </a:lnTo>
                  <a:cubicBezTo>
                    <a:pt x="9425686" y="2763139"/>
                    <a:pt x="9351899" y="2836926"/>
                    <a:pt x="9260967" y="2836926"/>
                  </a:cubicBezTo>
                  <a:lnTo>
                    <a:pt x="164719" y="2836926"/>
                  </a:lnTo>
                  <a:cubicBezTo>
                    <a:pt x="73787" y="2836799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810569" y="5848041"/>
            <a:ext cx="6300568" cy="144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full_name,</a:t>
            </a:r>
          </a:p>
          <a:p>
            <a:pPr algn="l">
              <a:lnSpc>
                <a:spcPts val="2918"/>
              </a:lnSpc>
            </a:pP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SUM(total_spent)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city;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6226" y="7933664"/>
            <a:ext cx="7069264" cy="1578573"/>
            <a:chOff x="0" y="0"/>
            <a:chExt cx="9425686" cy="21047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25684" cy="2104770"/>
            </a:xfrm>
            <a:custGeom>
              <a:avLst/>
              <a:gdLst/>
              <a:ahLst/>
              <a:cxnLst/>
              <a:rect r="r" b="b" t="t" l="l"/>
              <a:pathLst>
                <a:path h="210477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104770"/>
                  </a:lnTo>
                  <a:lnTo>
                    <a:pt x="0" y="21047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259" r="0" b="-372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425686" cy="216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4"/>
                </a:lnSpc>
              </a:pPr>
              <a:r>
                <a:rPr lang="en-US" sz="180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full_name isn't grouped and isn't aggregated — SQLite can't pick just one name per city. Error.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56353" y="4501978"/>
            <a:ext cx="7892863" cy="5284784"/>
            <a:chOff x="0" y="0"/>
            <a:chExt cx="10523817" cy="70463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23727" cy="7046340"/>
            </a:xfrm>
            <a:custGeom>
              <a:avLst/>
              <a:gdLst/>
              <a:ahLst/>
              <a:cxnLst/>
              <a:rect r="r" b="b" t="t" l="l"/>
              <a:pathLst>
                <a:path h="7046340" w="10523727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145" y="0"/>
                  </a:lnTo>
                  <a:cubicBezTo>
                    <a:pt x="10425430" y="0"/>
                    <a:pt x="10523727" y="98298"/>
                    <a:pt x="10523727" y="219583"/>
                  </a:cubicBezTo>
                  <a:lnTo>
                    <a:pt x="10523727" y="6826758"/>
                  </a:lnTo>
                  <a:cubicBezTo>
                    <a:pt x="10523727" y="6948043"/>
                    <a:pt x="10425430" y="7046340"/>
                    <a:pt x="10304145" y="7046340"/>
                  </a:cubicBezTo>
                  <a:lnTo>
                    <a:pt x="219583" y="7046340"/>
                  </a:lnTo>
                  <a:cubicBezTo>
                    <a:pt x="98298" y="7046341"/>
                    <a:pt x="0" y="6948043"/>
                    <a:pt x="0" y="6826758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68157" y="4845154"/>
            <a:ext cx="2333539" cy="617706"/>
            <a:chOff x="0" y="0"/>
            <a:chExt cx="3111386" cy="823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11500" cy="823722"/>
            </a:xfrm>
            <a:custGeom>
              <a:avLst/>
              <a:gdLst/>
              <a:ahLst/>
              <a:cxnLst/>
              <a:rect r="r" b="b" t="t" l="l"/>
              <a:pathLst>
                <a:path h="823722" w="3111500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2699639" y="0"/>
                  </a:lnTo>
                  <a:cubicBezTo>
                    <a:pt x="2927096" y="0"/>
                    <a:pt x="3111500" y="184404"/>
                    <a:pt x="3111500" y="411861"/>
                  </a:cubicBezTo>
                  <a:cubicBezTo>
                    <a:pt x="3111500" y="639318"/>
                    <a:pt x="2927096" y="823722"/>
                    <a:pt x="2699639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68157" y="4845154"/>
            <a:ext cx="2333539" cy="617703"/>
            <a:chOff x="0" y="0"/>
            <a:chExt cx="3111386" cy="8236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11391" cy="823599"/>
            </a:xfrm>
            <a:custGeom>
              <a:avLst/>
              <a:gdLst/>
              <a:ahLst/>
              <a:cxnLst/>
              <a:rect r="r" b="b" t="t" l="l"/>
              <a:pathLst>
                <a:path h="823599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09" r="0" b="-236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111386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  Works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68157" y="5668752"/>
            <a:ext cx="7069264" cy="2539441"/>
            <a:chOff x="0" y="0"/>
            <a:chExt cx="9425686" cy="33859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25686" cy="3385947"/>
            </a:xfrm>
            <a:custGeom>
              <a:avLst/>
              <a:gdLst/>
              <a:ahLst/>
              <a:cxnLst/>
              <a:rect r="r" b="b" t="t" l="l"/>
              <a:pathLst>
                <a:path h="3385947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3221228"/>
                  </a:lnTo>
                  <a:cubicBezTo>
                    <a:pt x="9425686" y="3312160"/>
                    <a:pt x="9351899" y="3385947"/>
                    <a:pt x="9260967" y="3385947"/>
                  </a:cubicBezTo>
                  <a:lnTo>
                    <a:pt x="164719" y="3385947"/>
                  </a:lnTo>
                  <a:cubicBezTo>
                    <a:pt x="73787" y="3385947"/>
                    <a:pt x="0" y="3312160"/>
                    <a:pt x="0" y="322122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252510" y="5848041"/>
            <a:ext cx="6300568" cy="180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</a:t>
            </a:r>
          </a:p>
          <a:p>
            <a:pPr algn="l">
              <a:lnSpc>
                <a:spcPts val="2918"/>
              </a:lnSpc>
            </a:pP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COUNT(full_name),</a:t>
            </a:r>
          </a:p>
          <a:p>
            <a:pPr algn="l">
              <a:lnSpc>
                <a:spcPts val="2918"/>
              </a:lnSpc>
            </a:pP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SUM(total_spent)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city;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868157" y="8345468"/>
            <a:ext cx="7069264" cy="1166772"/>
            <a:chOff x="0" y="0"/>
            <a:chExt cx="9425686" cy="15556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25684" cy="1555692"/>
            </a:xfrm>
            <a:custGeom>
              <a:avLst/>
              <a:gdLst/>
              <a:ahLst/>
              <a:cxnLst/>
              <a:rect r="r" b="b" t="t" l="l"/>
              <a:pathLst>
                <a:path h="1555692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1555692"/>
                  </a:lnTo>
                  <a:lnTo>
                    <a:pt x="0" y="15556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056" r="0" b="-6805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425686" cy="1612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4"/>
                </a:lnSpc>
              </a:pPr>
              <a:r>
                <a:rPr lang="en-US" sz="180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city is the grouped column; everything else is wrapped in an aggregate. SQLite knows exactly what to do per group.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650224" y="9674164"/>
            <a:ext cx="647224" cy="571500"/>
            <a:chOff x="0" y="0"/>
            <a:chExt cx="862965" cy="7620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3623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5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5325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2525" y="2115398"/>
            <a:ext cx="13040392" cy="71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43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HAVING vs. WHERE — rows vs. groups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3158881"/>
            <a:ext cx="16334804" cy="111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filters individual rows — before any grouping happens. It can't see an aggregate value yet.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HAVING filters groups — after GROUP BY has produced its summary rows. It tests the aggregate itself.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Order in the query: WHERE comes before GROUP BY; HAVING comes after it.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1338" y="5412524"/>
            <a:ext cx="7911932" cy="3931177"/>
            <a:chOff x="0" y="0"/>
            <a:chExt cx="10549242" cy="52415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49255" cy="5241544"/>
            </a:xfrm>
            <a:custGeom>
              <a:avLst/>
              <a:gdLst/>
              <a:ahLst/>
              <a:cxnLst/>
              <a:rect r="r" b="b" t="t" l="l"/>
              <a:pathLst>
                <a:path h="5241544" w="10549255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28529" y="0"/>
                  </a:lnTo>
                  <a:cubicBezTo>
                    <a:pt x="10450449" y="0"/>
                    <a:pt x="10549255" y="98806"/>
                    <a:pt x="10549255" y="220726"/>
                  </a:cubicBezTo>
                  <a:lnTo>
                    <a:pt x="10549255" y="5020818"/>
                  </a:lnTo>
                  <a:cubicBezTo>
                    <a:pt x="10549255" y="5142738"/>
                    <a:pt x="10450449" y="5241544"/>
                    <a:pt x="10328529" y="5241544"/>
                  </a:cubicBezTo>
                  <a:lnTo>
                    <a:pt x="220726" y="5241544"/>
                  </a:lnTo>
                  <a:cubicBezTo>
                    <a:pt x="98806" y="5241544"/>
                    <a:pt x="0" y="5142738"/>
                    <a:pt x="0" y="50208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63142" y="5755691"/>
            <a:ext cx="4686148" cy="636765"/>
            <a:chOff x="0" y="0"/>
            <a:chExt cx="6248197" cy="8490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48273" cy="849122"/>
            </a:xfrm>
            <a:custGeom>
              <a:avLst/>
              <a:gdLst/>
              <a:ahLst/>
              <a:cxnLst/>
              <a:rect r="r" b="b" t="t" l="l"/>
              <a:pathLst>
                <a:path h="849122" w="6248273">
                  <a:moveTo>
                    <a:pt x="0" y="424561"/>
                  </a:moveTo>
                  <a:cubicBezTo>
                    <a:pt x="0" y="190119"/>
                    <a:pt x="190119" y="0"/>
                    <a:pt x="424561" y="0"/>
                  </a:cubicBezTo>
                  <a:lnTo>
                    <a:pt x="5823712" y="0"/>
                  </a:lnTo>
                  <a:cubicBezTo>
                    <a:pt x="6058154" y="0"/>
                    <a:pt x="6248273" y="190119"/>
                    <a:pt x="6248273" y="424561"/>
                  </a:cubicBezTo>
                  <a:cubicBezTo>
                    <a:pt x="6248273" y="659003"/>
                    <a:pt x="6058154" y="849122"/>
                    <a:pt x="5823712" y="849122"/>
                  </a:cubicBezTo>
                  <a:lnTo>
                    <a:pt x="424561" y="849122"/>
                  </a:lnTo>
                  <a:cubicBezTo>
                    <a:pt x="190119" y="848995"/>
                    <a:pt x="0" y="659003"/>
                    <a:pt x="0" y="424561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5765225"/>
            <a:ext cx="4667088" cy="617703"/>
            <a:chOff x="0" y="0"/>
            <a:chExt cx="6222784" cy="8236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2781" cy="823599"/>
            </a:xfrm>
            <a:custGeom>
              <a:avLst/>
              <a:gdLst/>
              <a:ahLst/>
              <a:cxnLst/>
              <a:rect r="r" b="b" t="t" l="l"/>
              <a:pathLst>
                <a:path h="82359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7220" r="0" b="-9722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22784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WHERE — before grouping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2676" y="6588824"/>
            <a:ext cx="7069264" cy="2059010"/>
            <a:chOff x="0" y="0"/>
            <a:chExt cx="9425686" cy="27453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5686" cy="2745359"/>
            </a:xfrm>
            <a:custGeom>
              <a:avLst/>
              <a:gdLst/>
              <a:ahLst/>
              <a:cxnLst/>
              <a:rect r="r" b="b" t="t" l="l"/>
              <a:pathLst>
                <a:path h="2745359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2580640"/>
                  </a:lnTo>
                  <a:cubicBezTo>
                    <a:pt x="9425686" y="2671572"/>
                    <a:pt x="9351899" y="2745359"/>
                    <a:pt x="9260967" y="2745359"/>
                  </a:cubicBezTo>
                  <a:lnTo>
                    <a:pt x="164719" y="2745359"/>
                  </a:lnTo>
                  <a:cubicBezTo>
                    <a:pt x="73787" y="2745359"/>
                    <a:pt x="0" y="2671572"/>
                    <a:pt x="0" y="2580640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757020" y="6787163"/>
            <a:ext cx="6300568" cy="139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SUM(total_spent)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 = 'Gold'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city;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2676" y="8716470"/>
            <a:ext cx="7069264" cy="549069"/>
            <a:chOff x="0" y="0"/>
            <a:chExt cx="9425686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25684" cy="732092"/>
            </a:xfrm>
            <a:custGeom>
              <a:avLst/>
              <a:gdLst/>
              <a:ahLst/>
              <a:cxnLst/>
              <a:rect r="r" b="b" t="t" l="l"/>
              <a:pathLst>
                <a:path h="732092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42568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2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Only Gold customers enter the grouping at all.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02804" y="5422059"/>
            <a:ext cx="7892863" cy="3912118"/>
            <a:chOff x="0" y="0"/>
            <a:chExt cx="10523817" cy="52161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23855" cy="5216271"/>
            </a:xfrm>
            <a:custGeom>
              <a:avLst/>
              <a:gdLst/>
              <a:ahLst/>
              <a:cxnLst/>
              <a:rect r="r" b="b" t="t" l="l"/>
              <a:pathLst>
                <a:path h="5216271" w="10523855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10304145" y="0"/>
                  </a:lnTo>
                  <a:cubicBezTo>
                    <a:pt x="10425430" y="0"/>
                    <a:pt x="10523855" y="98298"/>
                    <a:pt x="10523855" y="219710"/>
                  </a:cubicBezTo>
                  <a:lnTo>
                    <a:pt x="10523855" y="4996561"/>
                  </a:lnTo>
                  <a:cubicBezTo>
                    <a:pt x="10523855" y="5117846"/>
                    <a:pt x="10425557" y="5216271"/>
                    <a:pt x="10304145" y="5216271"/>
                  </a:cubicBezTo>
                  <a:lnTo>
                    <a:pt x="219710" y="5216271"/>
                  </a:lnTo>
                  <a:cubicBezTo>
                    <a:pt x="98425" y="5216271"/>
                    <a:pt x="0" y="5117973"/>
                    <a:pt x="0" y="4996561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14608" y="5765225"/>
            <a:ext cx="4667088" cy="617706"/>
            <a:chOff x="0" y="0"/>
            <a:chExt cx="6222784" cy="823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22873" cy="823722"/>
            </a:xfrm>
            <a:custGeom>
              <a:avLst/>
              <a:gdLst/>
              <a:ahLst/>
              <a:cxnLst/>
              <a:rect r="r" b="b" t="t" l="l"/>
              <a:pathLst>
                <a:path h="823722" w="6222873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5811012" y="0"/>
                  </a:lnTo>
                  <a:cubicBezTo>
                    <a:pt x="6038469" y="0"/>
                    <a:pt x="6222873" y="184404"/>
                    <a:pt x="6222873" y="411861"/>
                  </a:cubicBezTo>
                  <a:cubicBezTo>
                    <a:pt x="6222873" y="639318"/>
                    <a:pt x="6038469" y="823722"/>
                    <a:pt x="5811012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14608" y="5765225"/>
            <a:ext cx="4667088" cy="617703"/>
            <a:chOff x="0" y="0"/>
            <a:chExt cx="6222784" cy="8236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22781" cy="823599"/>
            </a:xfrm>
            <a:custGeom>
              <a:avLst/>
              <a:gdLst/>
              <a:ahLst/>
              <a:cxnLst/>
              <a:rect r="r" b="b" t="t" l="l"/>
              <a:pathLst>
                <a:path h="823599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7220" r="0" b="-9722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22784" cy="842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HAVING — after grouping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14608" y="6588824"/>
            <a:ext cx="7069264" cy="2059010"/>
            <a:chOff x="0" y="0"/>
            <a:chExt cx="9425686" cy="274534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25686" cy="2745359"/>
            </a:xfrm>
            <a:custGeom>
              <a:avLst/>
              <a:gdLst/>
              <a:ahLst/>
              <a:cxnLst/>
              <a:rect r="r" b="b" t="t" l="l"/>
              <a:pathLst>
                <a:path h="2745359" w="942568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9260967" y="0"/>
                  </a:lnTo>
                  <a:cubicBezTo>
                    <a:pt x="9351899" y="0"/>
                    <a:pt x="9425686" y="73787"/>
                    <a:pt x="9425686" y="164719"/>
                  </a:cubicBezTo>
                  <a:lnTo>
                    <a:pt x="9425686" y="2580640"/>
                  </a:lnTo>
                  <a:cubicBezTo>
                    <a:pt x="9425686" y="2671572"/>
                    <a:pt x="9351899" y="2745359"/>
                    <a:pt x="9260967" y="2745359"/>
                  </a:cubicBezTo>
                  <a:lnTo>
                    <a:pt x="164719" y="2745359"/>
                  </a:lnTo>
                  <a:cubicBezTo>
                    <a:pt x="73787" y="2745359"/>
                    <a:pt x="0" y="2671572"/>
                    <a:pt x="0" y="2580640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98960" y="6787163"/>
            <a:ext cx="6300568" cy="139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SUM(total_spent)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HAVING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SUM(total_spent) &gt; 100000;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814608" y="8716470"/>
            <a:ext cx="7069264" cy="549069"/>
            <a:chOff x="0" y="0"/>
            <a:chExt cx="9425686" cy="7320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25684" cy="732092"/>
            </a:xfrm>
            <a:custGeom>
              <a:avLst/>
              <a:gdLst/>
              <a:ahLst/>
              <a:cxnLst/>
              <a:rect r="r" b="b" t="t" l="l"/>
              <a:pathLst>
                <a:path h="732092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425686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2"/>
                </a:lnSpc>
              </a:pPr>
              <a:r>
                <a:rPr lang="en-US" sz="1726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Every customer groups first; only high-spending cities survive.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657609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PUTTING IT TOGETHER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45688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6325" y="1811736"/>
            <a:ext cx="13040392" cy="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9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The extended query skeleton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6325" y="2539441"/>
            <a:ext cx="16334804" cy="686336"/>
            <a:chOff x="0" y="0"/>
            <a:chExt cx="21779738" cy="9151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79736" cy="915119"/>
            </a:xfrm>
            <a:custGeom>
              <a:avLst/>
              <a:gdLst/>
              <a:ahLst/>
              <a:cxnLst/>
              <a:rect r="r" b="b" t="t" l="l"/>
              <a:pathLst>
                <a:path h="915119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13742" r="0" b="-4137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779738" cy="94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Two new clauses slot into the same fixed order you already know from 3.2 — nothing you learned last week moves.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3500314"/>
            <a:ext cx="2539441" cy="2059010"/>
            <a:chOff x="0" y="0"/>
            <a:chExt cx="3385922" cy="27453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3706216"/>
            <a:ext cx="2539441" cy="892237"/>
            <a:chOff x="0" y="0"/>
            <a:chExt cx="3385922" cy="11896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85925" cy="1189652"/>
            </a:xfrm>
            <a:custGeom>
              <a:avLst/>
              <a:gdLst/>
              <a:ahLst/>
              <a:cxnLst/>
              <a:rect r="r" b="b" t="t" l="l"/>
              <a:pathLst>
                <a:path h="1189652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385922" cy="12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4598451"/>
            <a:ext cx="2539441" cy="754970"/>
            <a:chOff x="0" y="0"/>
            <a:chExt cx="3385922" cy="10066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5925" cy="1006625"/>
            </a:xfrm>
            <a:custGeom>
              <a:avLst/>
              <a:gdLst/>
              <a:ahLst/>
              <a:cxnLst/>
              <a:rect r="r" b="b" t="t" l="l"/>
              <a:pathLst>
                <a:path h="1006625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385922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columns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00314" y="3500314"/>
            <a:ext cx="178451" cy="2059009"/>
            <a:chOff x="0" y="0"/>
            <a:chExt cx="237934" cy="27453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930" cy="2745343"/>
            </a:xfrm>
            <a:custGeom>
              <a:avLst/>
              <a:gdLst/>
              <a:ahLst/>
              <a:cxnLst/>
              <a:rect r="r" b="b" t="t" l="l"/>
              <a:pathLst>
                <a:path h="2745343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37934" cy="276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78765" y="3500314"/>
            <a:ext cx="2539441" cy="2059010"/>
            <a:chOff x="0" y="0"/>
            <a:chExt cx="3385922" cy="27453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78765" y="3706216"/>
            <a:ext cx="2539441" cy="892237"/>
            <a:chOff x="0" y="0"/>
            <a:chExt cx="3385922" cy="11896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5925" cy="1189652"/>
            </a:xfrm>
            <a:custGeom>
              <a:avLst/>
              <a:gdLst/>
              <a:ahLst/>
              <a:cxnLst/>
              <a:rect r="r" b="b" t="t" l="l"/>
              <a:pathLst>
                <a:path h="1189652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385922" cy="12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78765" y="4598451"/>
            <a:ext cx="2539441" cy="754970"/>
            <a:chOff x="0" y="0"/>
            <a:chExt cx="3385922" cy="100662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85925" cy="1006625"/>
            </a:xfrm>
            <a:custGeom>
              <a:avLst/>
              <a:gdLst/>
              <a:ahLst/>
              <a:cxnLst/>
              <a:rect r="r" b="b" t="t" l="l"/>
              <a:pathLst>
                <a:path h="1006625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385922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table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18206" y="3500314"/>
            <a:ext cx="178451" cy="2059009"/>
            <a:chOff x="0" y="0"/>
            <a:chExt cx="237934" cy="27453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930" cy="2745343"/>
            </a:xfrm>
            <a:custGeom>
              <a:avLst/>
              <a:gdLst/>
              <a:ahLst/>
              <a:cxnLst/>
              <a:rect r="r" b="b" t="t" l="l"/>
              <a:pathLst>
                <a:path h="2745343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37934" cy="276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96657" y="3500314"/>
            <a:ext cx="2539441" cy="2059010"/>
            <a:chOff x="0" y="0"/>
            <a:chExt cx="3385922" cy="274534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396657" y="3706216"/>
            <a:ext cx="2539441" cy="892237"/>
            <a:chOff x="0" y="0"/>
            <a:chExt cx="3385922" cy="11896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85925" cy="1189652"/>
            </a:xfrm>
            <a:custGeom>
              <a:avLst/>
              <a:gdLst/>
              <a:ahLst/>
              <a:cxnLst/>
              <a:rect r="r" b="b" t="t" l="l"/>
              <a:pathLst>
                <a:path h="1189652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385922" cy="12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96657" y="4598451"/>
            <a:ext cx="2539441" cy="754970"/>
            <a:chOff x="0" y="0"/>
            <a:chExt cx="3385922" cy="100662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85925" cy="1006625"/>
            </a:xfrm>
            <a:custGeom>
              <a:avLst/>
              <a:gdLst/>
              <a:ahLst/>
              <a:cxnLst/>
              <a:rect r="r" b="b" t="t" l="l"/>
              <a:pathLst>
                <a:path h="1006625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385922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rows (optional)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936098" y="3500314"/>
            <a:ext cx="178451" cy="2059009"/>
            <a:chOff x="0" y="0"/>
            <a:chExt cx="237934" cy="27453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7930" cy="2745343"/>
            </a:xfrm>
            <a:custGeom>
              <a:avLst/>
              <a:gdLst/>
              <a:ahLst/>
              <a:cxnLst/>
              <a:rect r="r" b="b" t="t" l="l"/>
              <a:pathLst>
                <a:path h="2745343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37934" cy="276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14549" y="3500314"/>
            <a:ext cx="2539441" cy="2059010"/>
            <a:chOff x="0" y="0"/>
            <a:chExt cx="3385922" cy="274534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14549" y="3706216"/>
            <a:ext cx="2539441" cy="892237"/>
            <a:chOff x="0" y="0"/>
            <a:chExt cx="3385922" cy="118964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85925" cy="1189652"/>
            </a:xfrm>
            <a:custGeom>
              <a:avLst/>
              <a:gdLst/>
              <a:ahLst/>
              <a:cxnLst/>
              <a:rect r="r" b="b" t="t" l="l"/>
              <a:pathLst>
                <a:path h="1189652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385922" cy="12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GROUP BY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14549" y="4598451"/>
            <a:ext cx="2539441" cy="754970"/>
            <a:chOff x="0" y="0"/>
            <a:chExt cx="3385922" cy="100662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85925" cy="1006625"/>
            </a:xfrm>
            <a:custGeom>
              <a:avLst/>
              <a:gdLst/>
              <a:ahLst/>
              <a:cxnLst/>
              <a:rect r="r" b="b" t="t" l="l"/>
              <a:pathLst>
                <a:path h="1006625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385922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buckets (new)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53990" y="3500314"/>
            <a:ext cx="178451" cy="2059009"/>
            <a:chOff x="0" y="0"/>
            <a:chExt cx="237934" cy="27453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7930" cy="2745343"/>
            </a:xfrm>
            <a:custGeom>
              <a:avLst/>
              <a:gdLst/>
              <a:ahLst/>
              <a:cxnLst/>
              <a:rect r="r" b="b" t="t" l="l"/>
              <a:pathLst>
                <a:path h="2745343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37934" cy="276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32441" y="3500314"/>
            <a:ext cx="2539441" cy="2059010"/>
            <a:chOff x="0" y="0"/>
            <a:chExt cx="3385922" cy="27453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832441" y="3706216"/>
            <a:ext cx="2539441" cy="892237"/>
            <a:chOff x="0" y="0"/>
            <a:chExt cx="3385922" cy="118964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385925" cy="1189652"/>
            </a:xfrm>
            <a:custGeom>
              <a:avLst/>
              <a:gdLst/>
              <a:ahLst/>
              <a:cxnLst/>
              <a:rect r="r" b="b" t="t" l="l"/>
              <a:pathLst>
                <a:path h="1189652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385922" cy="12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HAVING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832441" y="4598451"/>
            <a:ext cx="2539441" cy="754970"/>
            <a:chOff x="0" y="0"/>
            <a:chExt cx="3385922" cy="100662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85925" cy="1006625"/>
            </a:xfrm>
            <a:custGeom>
              <a:avLst/>
              <a:gdLst/>
              <a:ahLst/>
              <a:cxnLst/>
              <a:rect r="r" b="b" t="t" l="l"/>
              <a:pathLst>
                <a:path h="1006625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385922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groups (new)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371882" y="3500314"/>
            <a:ext cx="178451" cy="2059009"/>
            <a:chOff x="0" y="0"/>
            <a:chExt cx="237934" cy="27453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7930" cy="2745343"/>
            </a:xfrm>
            <a:custGeom>
              <a:avLst/>
              <a:gdLst/>
              <a:ahLst/>
              <a:cxnLst/>
              <a:rect r="r" b="b" t="t" l="l"/>
              <a:pathLst>
                <a:path h="2745343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3"/>
                  </a:lnTo>
                  <a:lnTo>
                    <a:pt x="0" y="27453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237934" cy="276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550323" y="3500314"/>
            <a:ext cx="2539441" cy="2059010"/>
            <a:chOff x="0" y="0"/>
            <a:chExt cx="3385922" cy="274534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550323" y="3706216"/>
            <a:ext cx="2539441" cy="892237"/>
            <a:chOff x="0" y="0"/>
            <a:chExt cx="3385922" cy="118964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85925" cy="1189652"/>
            </a:xfrm>
            <a:custGeom>
              <a:avLst/>
              <a:gdLst/>
              <a:ahLst/>
              <a:cxnLst/>
              <a:rect r="r" b="b" t="t" l="l"/>
              <a:pathLst>
                <a:path h="1189652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385922" cy="12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 BY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550323" y="4598451"/>
            <a:ext cx="2539441" cy="754970"/>
            <a:chOff x="0" y="0"/>
            <a:chExt cx="3385922" cy="100662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85925" cy="1006625"/>
            </a:xfrm>
            <a:custGeom>
              <a:avLst/>
              <a:gdLst/>
              <a:ahLst/>
              <a:cxnLst/>
              <a:rect r="r" b="b" t="t" l="l"/>
              <a:pathLst>
                <a:path h="1006625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385922" cy="1025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order (optional)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0872" y="6177029"/>
            <a:ext cx="16334804" cy="3225784"/>
            <a:chOff x="0" y="0"/>
            <a:chExt cx="21779738" cy="430104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779739" cy="4300982"/>
            </a:xfrm>
            <a:custGeom>
              <a:avLst/>
              <a:gdLst/>
              <a:ahLst/>
              <a:cxnLst/>
              <a:rect r="r" b="b" t="t" l="l"/>
              <a:pathLst>
                <a:path h="4300982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4136263"/>
                  </a:lnTo>
                  <a:cubicBezTo>
                    <a:pt x="21779739" y="4227195"/>
                    <a:pt x="21705951" y="4300982"/>
                    <a:pt x="21615019" y="4300982"/>
                  </a:cubicBezTo>
                  <a:lnTo>
                    <a:pt x="164719" y="4300982"/>
                  </a:lnTo>
                  <a:cubicBezTo>
                    <a:pt x="73787" y="4300982"/>
                    <a:pt x="0" y="4227322"/>
                    <a:pt x="0" y="4136263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345216" y="6356309"/>
            <a:ext cx="15566107" cy="244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COUNT(*), SUM(total_spent)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WHERE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joined_date &gt;= '2024-01-01'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HAVING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COUNT(*) &gt;= 2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SUM(total_spent) </a:t>
            </a:r>
            <a:r>
              <a:rPr lang="en-US" sz="20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20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40730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6 OF 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605392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2050" y="1788403"/>
            <a:ext cx="13040392" cy="62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sz="37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Verify before you trust the number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631644"/>
            <a:ext cx="16334804" cy="3351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An aggregate query can run without error and still be wrong — a bad JOIN later in the module, a missed WHERE, a double-counted row.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query returning a plausible-looking number is not the same as a query returning the right number.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check: compare your result against something already known — a finance report, a dashboard total, a hand count on a small sample.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This is the same instinct as row-count prediction from 3.2, aimed at totals instead of row counts.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6189108"/>
            <a:ext cx="16334804" cy="3225784"/>
            <a:chOff x="0" y="0"/>
            <a:chExt cx="21779738" cy="43010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79739" cy="4300982"/>
            </a:xfrm>
            <a:custGeom>
              <a:avLst/>
              <a:gdLst/>
              <a:ahLst/>
              <a:cxnLst/>
              <a:rect r="r" b="b" t="t" l="l"/>
              <a:pathLst>
                <a:path h="4300982" w="217797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21560155" y="0"/>
                  </a:lnTo>
                  <a:cubicBezTo>
                    <a:pt x="21681441" y="0"/>
                    <a:pt x="21779739" y="98298"/>
                    <a:pt x="21779739" y="219583"/>
                  </a:cubicBezTo>
                  <a:lnTo>
                    <a:pt x="21779739" y="4081399"/>
                  </a:lnTo>
                  <a:cubicBezTo>
                    <a:pt x="21779739" y="4202684"/>
                    <a:pt x="21681441" y="4300982"/>
                    <a:pt x="21560155" y="4300982"/>
                  </a:cubicBezTo>
                  <a:lnTo>
                    <a:pt x="219583" y="4300982"/>
                  </a:lnTo>
                  <a:cubicBezTo>
                    <a:pt x="98298" y="4300982"/>
                    <a:pt x="0" y="4202684"/>
                    <a:pt x="0" y="4081399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2676" y="6463638"/>
            <a:ext cx="15511196" cy="480431"/>
            <a:chOff x="0" y="0"/>
            <a:chExt cx="20681594" cy="640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81598" cy="640580"/>
            </a:xfrm>
            <a:custGeom>
              <a:avLst/>
              <a:gdLst/>
              <a:ahLst/>
              <a:cxnLst/>
              <a:rect r="r" b="b" t="t" l="l"/>
              <a:pathLst>
                <a:path h="640580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9088" r="0" b="-5790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81594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simple three-step verification habit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72676" y="6955556"/>
            <a:ext cx="15511196" cy="225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1. Before running the aggregate, write down what number you expect and why.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2. Run the query. Compare the result to your expectation and to any known reference figure.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3. If it matches — move on. If it doesn't — check GROUP BY column, WHERE placement, and COUNT(*) vs COUNT(column) before assuming the reference is wrong.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38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87368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1 OF 2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0397" y="1977069"/>
            <a:ext cx="13040392" cy="62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sz="37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Building the regional report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63" y="2882341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82201" y="3029140"/>
            <a:ext cx="15511196" cy="1029504"/>
            <a:chOff x="0" y="0"/>
            <a:chExt cx="20681594" cy="1372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372678"/>
            </a:xfrm>
            <a:custGeom>
              <a:avLst/>
              <a:gdLst/>
              <a:ahLst/>
              <a:cxnLst/>
              <a:rect r="r" b="b" t="t" l="l"/>
              <a:pathLst>
                <a:path h="137267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3" r="0" b="-2435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681594" cy="140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7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“How many customers do we have per city, and how much have they spent in total?”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0397" y="4525347"/>
            <a:ext cx="61770" cy="439255"/>
            <a:chOff x="0" y="0"/>
            <a:chExt cx="82360" cy="5856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7476" y="4470444"/>
            <a:ext cx="7439882" cy="560788"/>
            <a:chOff x="0" y="0"/>
            <a:chExt cx="9919843" cy="7477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19846" cy="747717"/>
            </a:xfrm>
            <a:custGeom>
              <a:avLst/>
              <a:gdLst/>
              <a:ahLst/>
              <a:cxnLst/>
              <a:rect r="r" b="b" t="t" l="l"/>
              <a:pathLst>
                <a:path h="747717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9340" r="0" b="-1976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919843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1 — group and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0397" y="5019513"/>
            <a:ext cx="7686961" cy="1784471"/>
            <a:chOff x="0" y="0"/>
            <a:chExt cx="10249281" cy="23792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928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024928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084562" y="0"/>
                  </a:lnTo>
                  <a:cubicBezTo>
                    <a:pt x="10175494" y="0"/>
                    <a:pt x="10249281" y="73787"/>
                    <a:pt x="10249281" y="164719"/>
                  </a:cubicBezTo>
                  <a:lnTo>
                    <a:pt x="10249281" y="2214626"/>
                  </a:lnTo>
                  <a:cubicBezTo>
                    <a:pt x="10249281" y="2305558"/>
                    <a:pt x="10175494" y="2379345"/>
                    <a:pt x="10084562" y="2379345"/>
                  </a:cubicBezTo>
                  <a:lnTo>
                    <a:pt x="164719" y="2379345"/>
                  </a:lnTo>
                  <a:cubicBezTo>
                    <a:pt x="73787" y="2379345"/>
                    <a:pt x="0" y="2305558"/>
                    <a:pt x="0" y="2214626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54741" y="5198793"/>
            <a:ext cx="6918265" cy="10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COUNT(*)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customer_count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city;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70397" y="6913797"/>
            <a:ext cx="7686961" cy="686336"/>
            <a:chOff x="0" y="0"/>
            <a:chExt cx="10249281" cy="9151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9288" cy="915119"/>
            </a:xfrm>
            <a:custGeom>
              <a:avLst/>
              <a:gdLst/>
              <a:ahLst/>
              <a:cxnLst/>
              <a:rect r="r" b="b" t="t" l="l"/>
              <a:pathLst>
                <a:path h="915119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8231" r="0" b="-16823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249281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Predict first: 5 distinct cities in our sample — expect 5 rows back.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69162" y="4525347"/>
            <a:ext cx="61770" cy="439255"/>
            <a:chOff x="0" y="0"/>
            <a:chExt cx="82360" cy="5856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16241" y="4470444"/>
            <a:ext cx="7988951" cy="560788"/>
            <a:chOff x="0" y="0"/>
            <a:chExt cx="10651934" cy="74771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51938" cy="747717"/>
            </a:xfrm>
            <a:custGeom>
              <a:avLst/>
              <a:gdLst/>
              <a:ahLst/>
              <a:cxnLst/>
              <a:rect r="r" b="b" t="t" l="l"/>
              <a:pathLst>
                <a:path h="747717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8418" r="0" b="-21674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651934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2 — add the total spend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69162" y="5019513"/>
            <a:ext cx="8236039" cy="2264912"/>
            <a:chOff x="0" y="0"/>
            <a:chExt cx="10981385" cy="30198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81309" cy="3019806"/>
            </a:xfrm>
            <a:custGeom>
              <a:avLst/>
              <a:gdLst/>
              <a:ahLst/>
              <a:cxnLst/>
              <a:rect r="r" b="b" t="t" l="l"/>
              <a:pathLst>
                <a:path h="3019806" w="1098130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816590" y="0"/>
                  </a:lnTo>
                  <a:cubicBezTo>
                    <a:pt x="10907522" y="0"/>
                    <a:pt x="10981309" y="73787"/>
                    <a:pt x="10981309" y="164719"/>
                  </a:cubicBezTo>
                  <a:lnTo>
                    <a:pt x="10981309" y="2855087"/>
                  </a:lnTo>
                  <a:cubicBezTo>
                    <a:pt x="10981309" y="2946019"/>
                    <a:pt x="10907522" y="3019806"/>
                    <a:pt x="10816590" y="3019806"/>
                  </a:cubicBezTo>
                  <a:lnTo>
                    <a:pt x="164719" y="3019806"/>
                  </a:lnTo>
                  <a:cubicBezTo>
                    <a:pt x="73787" y="3019933"/>
                    <a:pt x="0" y="2946146"/>
                    <a:pt x="0" y="285508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453515" y="5198793"/>
            <a:ext cx="7467333" cy="144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COUNT(*)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customer_count,</a:t>
            </a:r>
          </a:p>
          <a:p>
            <a:pPr algn="l">
              <a:lnSpc>
                <a:spcPts val="2918"/>
              </a:lnSpc>
            </a:pP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SUM(total_spent) </a:t>
            </a: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total_spend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918"/>
              </a:lnSpc>
            </a:pPr>
            <a:r>
              <a:rPr lang="en-US" sz="1801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801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city;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069162" y="7394238"/>
            <a:ext cx="8236039" cy="754970"/>
            <a:chOff x="0" y="0"/>
            <a:chExt cx="10981385" cy="10066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1379" cy="1006625"/>
            </a:xfrm>
            <a:custGeom>
              <a:avLst/>
              <a:gdLst/>
              <a:ahLst/>
              <a:cxnLst/>
              <a:rect r="r" b="b" t="t" l="l"/>
              <a:pathLst>
                <a:path h="100662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981385" cy="1054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Now each city row carries both a count and a total — exactly what the regional manager asked for.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0397" y="8657092"/>
            <a:ext cx="16334804" cy="1029500"/>
            <a:chOff x="0" y="0"/>
            <a:chExt cx="21779738" cy="13726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79739" cy="1372616"/>
            </a:xfrm>
            <a:custGeom>
              <a:avLst/>
              <a:gdLst/>
              <a:ahLst/>
              <a:cxnLst/>
              <a:rect r="r" b="b" t="t" l="l"/>
              <a:pathLst>
                <a:path h="1372616" w="2177973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1596731" y="0"/>
                  </a:lnTo>
                  <a:cubicBezTo>
                    <a:pt x="21697823" y="0"/>
                    <a:pt x="21779739" y="81915"/>
                    <a:pt x="21779739" y="183007"/>
                  </a:cubicBezTo>
                  <a:lnTo>
                    <a:pt x="21779739" y="1189609"/>
                  </a:lnTo>
                  <a:cubicBezTo>
                    <a:pt x="21779739" y="1290701"/>
                    <a:pt x="21697823" y="1372616"/>
                    <a:pt x="21596731" y="1372616"/>
                  </a:cubicBezTo>
                  <a:lnTo>
                    <a:pt x="183007" y="1372616"/>
                  </a:lnTo>
                  <a:cubicBezTo>
                    <a:pt x="81915" y="1372616"/>
                    <a:pt x="0" y="1290701"/>
                    <a:pt x="0" y="1189609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82201" y="8657092"/>
            <a:ext cx="15511196" cy="1029504"/>
            <a:chOff x="0" y="0"/>
            <a:chExt cx="20681594" cy="13726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681598" cy="1372678"/>
            </a:xfrm>
            <a:custGeom>
              <a:avLst/>
              <a:gdLst/>
              <a:ahLst/>
              <a:cxnLst/>
              <a:rect r="r" b="b" t="t" l="l"/>
              <a:pathLst>
                <a:path h="137267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3" r="0" b="-24357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0681594" cy="1391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Next: rank cities by spend, and check the grand total against finance's ₦858,000 figure → continued on the next slide.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650224" y="9282303"/>
            <a:ext cx="647224" cy="571500"/>
            <a:chOff x="0" y="0"/>
            <a:chExt cx="862965" cy="7620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549257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2 OF 2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47750" y="1809928"/>
            <a:ext cx="13040392" cy="6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40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Ranking cities, then checking the math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920235"/>
            <a:ext cx="61770" cy="439255"/>
            <a:chOff x="0" y="0"/>
            <a:chExt cx="82360" cy="585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865323"/>
            <a:ext cx="7439882" cy="560788"/>
            <a:chOff x="0" y="0"/>
            <a:chExt cx="9919843" cy="7477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9846" cy="747717"/>
            </a:xfrm>
            <a:custGeom>
              <a:avLst/>
              <a:gdLst/>
              <a:ahLst/>
              <a:cxnLst/>
              <a:rect r="r" b="b" t="t" l="l"/>
              <a:pathLst>
                <a:path h="747717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747717"/>
                  </a:lnTo>
                  <a:lnTo>
                    <a:pt x="0" y="74771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9340" r="0" b="-1976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919843" cy="776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3 — rank by total spend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3414392"/>
            <a:ext cx="7686961" cy="2676716"/>
            <a:chOff x="0" y="0"/>
            <a:chExt cx="10249281" cy="3568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9281" cy="3568954"/>
            </a:xfrm>
            <a:custGeom>
              <a:avLst/>
              <a:gdLst/>
              <a:ahLst/>
              <a:cxnLst/>
              <a:rect r="r" b="b" t="t" l="l"/>
              <a:pathLst>
                <a:path h="3568954" w="1024928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084562" y="0"/>
                  </a:lnTo>
                  <a:cubicBezTo>
                    <a:pt x="10175494" y="0"/>
                    <a:pt x="10249281" y="73787"/>
                    <a:pt x="10249281" y="164719"/>
                  </a:cubicBezTo>
                  <a:lnTo>
                    <a:pt x="10249281" y="3404235"/>
                  </a:lnTo>
                  <a:cubicBezTo>
                    <a:pt x="10249281" y="3495167"/>
                    <a:pt x="10175494" y="3568954"/>
                    <a:pt x="10084562" y="3568954"/>
                  </a:cubicBezTo>
                  <a:lnTo>
                    <a:pt x="164719" y="3568954"/>
                  </a:lnTo>
                  <a:cubicBezTo>
                    <a:pt x="73787" y="3568954"/>
                    <a:pt x="0" y="3495167"/>
                    <a:pt x="0" y="3404235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5216" y="3612731"/>
            <a:ext cx="6918265" cy="174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city, COUNT(*) </a:t>
            </a: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customer_count,</a:t>
            </a:r>
          </a:p>
          <a:p>
            <a:pPr algn="l">
              <a:lnSpc>
                <a:spcPts val="2796"/>
              </a:lnSpc>
            </a:pP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SUM(total_spent) </a:t>
            </a: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total_spend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city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total_spend </a:t>
            </a: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50103" y="2855798"/>
            <a:ext cx="8255098" cy="3011491"/>
            <a:chOff x="0" y="0"/>
            <a:chExt cx="11006798" cy="40153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06836" cy="4015359"/>
            </a:xfrm>
            <a:custGeom>
              <a:avLst/>
              <a:gdLst/>
              <a:ahLst/>
              <a:cxnLst/>
              <a:rect r="r" b="b" t="t" l="l"/>
              <a:pathLst>
                <a:path h="4015359" w="11006836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896346" y="0"/>
                  </a:lnTo>
                  <a:cubicBezTo>
                    <a:pt x="10957433" y="0"/>
                    <a:pt x="11006836" y="49530"/>
                    <a:pt x="11006836" y="110490"/>
                  </a:cubicBezTo>
                  <a:lnTo>
                    <a:pt x="11006836" y="3904869"/>
                  </a:lnTo>
                  <a:cubicBezTo>
                    <a:pt x="11006836" y="3965956"/>
                    <a:pt x="10957306" y="4015359"/>
                    <a:pt x="10896346" y="4015359"/>
                  </a:cubicBezTo>
                  <a:lnTo>
                    <a:pt x="110490" y="4015359"/>
                  </a:lnTo>
                  <a:cubicBezTo>
                    <a:pt x="49403" y="4015359"/>
                    <a:pt x="0" y="3965829"/>
                    <a:pt x="0" y="390486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59637" y="2865323"/>
            <a:ext cx="8236039" cy="521618"/>
            <a:chOff x="0" y="0"/>
            <a:chExt cx="10981385" cy="695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81436" cy="695452"/>
            </a:xfrm>
            <a:custGeom>
              <a:avLst/>
              <a:gdLst/>
              <a:ahLst/>
              <a:cxnLst/>
              <a:rect r="r" b="b" t="t" l="l"/>
              <a:pathLst>
                <a:path h="695452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224362" y="2865323"/>
            <a:ext cx="2470814" cy="521616"/>
            <a:chOff x="0" y="0"/>
            <a:chExt cx="3294418" cy="6954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4414" cy="695485"/>
            </a:xfrm>
            <a:custGeom>
              <a:avLst/>
              <a:gdLst/>
              <a:ahLst/>
              <a:cxnLst/>
              <a:rect r="r" b="b" t="t" l="l"/>
              <a:pathLst>
                <a:path h="695485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297" r="0" b="-422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294418" cy="705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969706" y="2865323"/>
            <a:ext cx="2470814" cy="521616"/>
            <a:chOff x="0" y="0"/>
            <a:chExt cx="3294418" cy="6954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4414" cy="695485"/>
            </a:xfrm>
            <a:custGeom>
              <a:avLst/>
              <a:gdLst/>
              <a:ahLst/>
              <a:cxnLst/>
              <a:rect r="r" b="b" t="t" l="l"/>
              <a:pathLst>
                <a:path h="695485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297" r="0" b="-4229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294418" cy="705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715049" y="2865323"/>
            <a:ext cx="2470814" cy="521616"/>
            <a:chOff x="0" y="0"/>
            <a:chExt cx="3294418" cy="6954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4414" cy="695485"/>
            </a:xfrm>
            <a:custGeom>
              <a:avLst/>
              <a:gdLst/>
              <a:ahLst/>
              <a:cxnLst/>
              <a:rect r="r" b="b" t="t" l="l"/>
              <a:pathLst>
                <a:path h="695485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297" r="0" b="-4229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294418" cy="705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total_spend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24362" y="3386941"/>
            <a:ext cx="2470814" cy="494162"/>
            <a:chOff x="0" y="0"/>
            <a:chExt cx="3294418" cy="6588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69706" y="3386941"/>
            <a:ext cx="2470814" cy="494162"/>
            <a:chOff x="0" y="0"/>
            <a:chExt cx="3294418" cy="6588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715049" y="3386941"/>
            <a:ext cx="2470814" cy="494162"/>
            <a:chOff x="0" y="0"/>
            <a:chExt cx="3294418" cy="6588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335000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59637" y="3881107"/>
            <a:ext cx="8236039" cy="494167"/>
            <a:chOff x="0" y="0"/>
            <a:chExt cx="10981385" cy="6588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81436" cy="658876"/>
            </a:xfrm>
            <a:custGeom>
              <a:avLst/>
              <a:gdLst/>
              <a:ahLst/>
              <a:cxnLst/>
              <a:rect r="r" b="b" t="t" l="l"/>
              <a:pathLst>
                <a:path h="658876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24362" y="3881107"/>
            <a:ext cx="2470814" cy="494162"/>
            <a:chOff x="0" y="0"/>
            <a:chExt cx="3294418" cy="6588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Abuja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969706" y="3881107"/>
            <a:ext cx="2470814" cy="494162"/>
            <a:chOff x="0" y="0"/>
            <a:chExt cx="3294418" cy="6588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715049" y="3881107"/>
            <a:ext cx="2470814" cy="494162"/>
            <a:chOff x="0" y="0"/>
            <a:chExt cx="3294418" cy="6588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255000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24362" y="4375264"/>
            <a:ext cx="2470814" cy="494162"/>
            <a:chOff x="0" y="0"/>
            <a:chExt cx="3294418" cy="6588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Kano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969706" y="4375264"/>
            <a:ext cx="2470814" cy="494162"/>
            <a:chOff x="0" y="0"/>
            <a:chExt cx="3294418" cy="6588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15049" y="4375264"/>
            <a:ext cx="2470814" cy="494162"/>
            <a:chOff x="0" y="0"/>
            <a:chExt cx="3294418" cy="65888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98000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59637" y="4869431"/>
            <a:ext cx="8236039" cy="494167"/>
            <a:chOff x="0" y="0"/>
            <a:chExt cx="10981385" cy="6588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81436" cy="658876"/>
            </a:xfrm>
            <a:custGeom>
              <a:avLst/>
              <a:gdLst/>
              <a:ahLst/>
              <a:cxnLst/>
              <a:rect r="r" b="b" t="t" l="l"/>
              <a:pathLst>
                <a:path h="658876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224362" y="4869431"/>
            <a:ext cx="2470814" cy="494162"/>
            <a:chOff x="0" y="0"/>
            <a:chExt cx="3294418" cy="65888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Port Harcourt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969706" y="4869431"/>
            <a:ext cx="2470814" cy="494162"/>
            <a:chOff x="0" y="0"/>
            <a:chExt cx="3294418" cy="65888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715049" y="4869431"/>
            <a:ext cx="2470814" cy="494162"/>
            <a:chOff x="0" y="0"/>
            <a:chExt cx="3294418" cy="65888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87000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24362" y="5363588"/>
            <a:ext cx="2470814" cy="494162"/>
            <a:chOff x="0" y="0"/>
            <a:chExt cx="3294418" cy="65888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Ibadan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969706" y="5363588"/>
            <a:ext cx="2470814" cy="494162"/>
            <a:chOff x="0" y="0"/>
            <a:chExt cx="3294418" cy="65888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715049" y="5363588"/>
            <a:ext cx="2470814" cy="494162"/>
            <a:chOff x="0" y="0"/>
            <a:chExt cx="3294418" cy="65888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294414" cy="658877"/>
            </a:xfrm>
            <a:custGeom>
              <a:avLst/>
              <a:gdLst/>
              <a:ahLst/>
              <a:cxnLst/>
              <a:rect r="r" b="b" t="t" l="l"/>
              <a:pathLst>
                <a:path h="65887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3294418" cy="668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83000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1338" y="6356112"/>
            <a:ext cx="16353863" cy="1597638"/>
            <a:chOff x="0" y="0"/>
            <a:chExt cx="21805151" cy="21301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805264" cy="2130298"/>
            </a:xfrm>
            <a:custGeom>
              <a:avLst/>
              <a:gdLst/>
              <a:ahLst/>
              <a:cxnLst/>
              <a:rect r="r" b="b" t="t" l="l"/>
              <a:pathLst>
                <a:path h="2130298" w="21805264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19972" y="0"/>
                  </a:lnTo>
                  <a:cubicBezTo>
                    <a:pt x="21722335" y="0"/>
                    <a:pt x="21805264" y="82931"/>
                    <a:pt x="21805264" y="185293"/>
                  </a:cubicBezTo>
                  <a:lnTo>
                    <a:pt x="21805264" y="1945005"/>
                  </a:lnTo>
                  <a:cubicBezTo>
                    <a:pt x="21805264" y="2047367"/>
                    <a:pt x="21722335" y="2130298"/>
                    <a:pt x="21619972" y="2130298"/>
                  </a:cubicBezTo>
                  <a:lnTo>
                    <a:pt x="185293" y="2130298"/>
                  </a:lnTo>
                  <a:cubicBezTo>
                    <a:pt x="82931" y="2130171"/>
                    <a:pt x="0" y="2047240"/>
                    <a:pt x="0" y="194500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372676" y="6571539"/>
            <a:ext cx="15511196" cy="1235405"/>
            <a:chOff x="0" y="0"/>
            <a:chExt cx="20681594" cy="164720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681598" cy="1647211"/>
            </a:xfrm>
            <a:custGeom>
              <a:avLst/>
              <a:gdLst/>
              <a:ahLst/>
              <a:cxnLst/>
              <a:rect r="r" b="b" t="t" l="l"/>
              <a:pathLst>
                <a:path h="1647211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647211"/>
                  </a:lnTo>
                  <a:lnTo>
                    <a:pt x="0" y="16472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4645" r="0" b="-19464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20681594" cy="1723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4 — verify: </a:t>
              </a: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SELECT SUM(total_spent) FROM customers;  →  858000. Finance’s figure was ₦858,000. Match — the report is safe to send.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1338" y="8209219"/>
            <a:ext cx="16353863" cy="1460373"/>
            <a:chOff x="0" y="0"/>
            <a:chExt cx="21805151" cy="19471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80513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1805137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19718" y="0"/>
                  </a:lnTo>
                  <a:cubicBezTo>
                    <a:pt x="21722080" y="0"/>
                    <a:pt x="21805137" y="83058"/>
                    <a:pt x="21805137" y="185420"/>
                  </a:cubicBezTo>
                  <a:lnTo>
                    <a:pt x="21805137" y="1761744"/>
                  </a:lnTo>
                  <a:cubicBezTo>
                    <a:pt x="21805137" y="1864106"/>
                    <a:pt x="21722080" y="1947164"/>
                    <a:pt x="21619718" y="1947164"/>
                  </a:cubicBezTo>
                  <a:lnTo>
                    <a:pt x="185420" y="1947164"/>
                  </a:lnTo>
                  <a:cubicBezTo>
                    <a:pt x="83058" y="1947164"/>
                    <a:pt x="0" y="1864106"/>
                    <a:pt x="0" y="1761744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372676" y="8397195"/>
            <a:ext cx="15511196" cy="1098138"/>
            <a:chOff x="0" y="0"/>
            <a:chExt cx="20681594" cy="14641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681598" cy="1464185"/>
            </a:xfrm>
            <a:custGeom>
              <a:avLst/>
              <a:gdLst/>
              <a:ahLst/>
              <a:cxnLst/>
              <a:rect r="r" b="b" t="t" l="l"/>
              <a:pathLst>
                <a:path h="14641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464185"/>
                  </a:lnTo>
                  <a:lnTo>
                    <a:pt x="0" y="14641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226" r="0" b="-2252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20681594" cy="15213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4"/>
                </a:lnSpc>
              </a:pPr>
              <a:r>
                <a:rPr lang="en-US" b="true" sz="1801" i="true">
                  <a:solidFill>
                    <a:srgbClr val="1B4038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If it hadn't matched: </a:t>
              </a:r>
              <a:r>
                <a:rPr lang="en-US" sz="180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check for duplicate customer rows, a WHERE that silently dropped some customers, or NULLs in total_spent being skipped by SUM — before assuming finance's number is wrong.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650224" y="9606153"/>
            <a:ext cx="647224" cy="571500"/>
            <a:chOff x="0" y="0"/>
            <a:chExt cx="862965" cy="762000"/>
          </a:xfrm>
        </p:grpSpPr>
        <p:sp>
          <p:nvSpPr>
            <p:cNvPr name="Freeform 93" id="9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92416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YOUR TURN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48162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28800"/>
            <a:ext cx="13040392" cy="67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1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Which tier earns the loyalty budget?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803306"/>
            <a:ext cx="16353863" cy="1597638"/>
            <a:chOff x="0" y="0"/>
            <a:chExt cx="21805151" cy="2130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264" cy="2130298"/>
            </a:xfrm>
            <a:custGeom>
              <a:avLst/>
              <a:gdLst/>
              <a:ahLst/>
              <a:cxnLst/>
              <a:rect r="r" b="b" t="t" l="l"/>
              <a:pathLst>
                <a:path h="2130298" w="21805264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19972" y="0"/>
                  </a:lnTo>
                  <a:cubicBezTo>
                    <a:pt x="21722335" y="0"/>
                    <a:pt x="21805264" y="82931"/>
                    <a:pt x="21805264" y="185293"/>
                  </a:cubicBezTo>
                  <a:lnTo>
                    <a:pt x="21805264" y="1945005"/>
                  </a:lnTo>
                  <a:cubicBezTo>
                    <a:pt x="21805264" y="2047367"/>
                    <a:pt x="21722335" y="2130298"/>
                    <a:pt x="21619972" y="2130298"/>
                  </a:cubicBezTo>
                  <a:lnTo>
                    <a:pt x="185293" y="2130298"/>
                  </a:lnTo>
                  <a:cubicBezTo>
                    <a:pt x="82931" y="2130171"/>
                    <a:pt x="0" y="2047240"/>
                    <a:pt x="0" y="194500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950105"/>
            <a:ext cx="15511196" cy="1304039"/>
            <a:chOff x="0" y="0"/>
            <a:chExt cx="20681594" cy="1738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1594" cy="1805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6"/>
                </a:lnSpc>
              </a:pPr>
              <a:r>
                <a:rPr lang="en-US" sz="21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0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Head office will fund a loyalty perk only for membership tiers whose average spend is above ₦80,000. Which tier(s) qualify, and how many customers are in each?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338" y="4656404"/>
            <a:ext cx="7911932" cy="4548883"/>
            <a:chOff x="0" y="0"/>
            <a:chExt cx="10549242" cy="60651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9128" cy="6065139"/>
            </a:xfrm>
            <a:custGeom>
              <a:avLst/>
              <a:gdLst/>
              <a:ahLst/>
              <a:cxnLst/>
              <a:rect r="r" b="b" t="t" l="l"/>
              <a:pathLst>
                <a:path h="6065139" w="10549128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328656" y="0"/>
                  </a:lnTo>
                  <a:cubicBezTo>
                    <a:pt x="10450450" y="0"/>
                    <a:pt x="10549128" y="98679"/>
                    <a:pt x="10549128" y="220472"/>
                  </a:cubicBezTo>
                  <a:lnTo>
                    <a:pt x="10549128" y="5844667"/>
                  </a:lnTo>
                  <a:cubicBezTo>
                    <a:pt x="10549128" y="5966460"/>
                    <a:pt x="10450450" y="6065139"/>
                    <a:pt x="10328656" y="6065139"/>
                  </a:cubicBezTo>
                  <a:lnTo>
                    <a:pt x="220472" y="6065139"/>
                  </a:lnTo>
                  <a:cubicBezTo>
                    <a:pt x="98679" y="6065139"/>
                    <a:pt x="0" y="5966460"/>
                    <a:pt x="0" y="584466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4940477"/>
            <a:ext cx="7069264" cy="480431"/>
            <a:chOff x="0" y="0"/>
            <a:chExt cx="9425686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task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2676" y="5501024"/>
            <a:ext cx="7069264" cy="34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Group customers by membership_tier.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Return the tier, COUNT(*), and AVG(total_spent).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Keep only tiers with AVG(total_spent) &gt; 80,000.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Sort by average spend, highest first.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2804" y="4665938"/>
            <a:ext cx="7892863" cy="4529823"/>
            <a:chOff x="0" y="0"/>
            <a:chExt cx="10523817" cy="60397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23855" cy="6039739"/>
            </a:xfrm>
            <a:custGeom>
              <a:avLst/>
              <a:gdLst/>
              <a:ahLst/>
              <a:cxnLst/>
              <a:rect r="r" b="b" t="t" l="l"/>
              <a:pathLst>
                <a:path h="6039739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820156"/>
                  </a:lnTo>
                  <a:cubicBezTo>
                    <a:pt x="10523855" y="5941441"/>
                    <a:pt x="10425557" y="6039739"/>
                    <a:pt x="10304272" y="6039739"/>
                  </a:cubicBezTo>
                  <a:lnTo>
                    <a:pt x="219583" y="6039739"/>
                  </a:lnTo>
                  <a:cubicBezTo>
                    <a:pt x="98298" y="6039739"/>
                    <a:pt x="0" y="5941441"/>
                    <a:pt x="0" y="582015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14608" y="4940477"/>
            <a:ext cx="7069264" cy="480431"/>
            <a:chOff x="0" y="0"/>
            <a:chExt cx="9425686" cy="6405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Before you run it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14608" y="5501024"/>
            <a:ext cx="7069264" cy="34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Predict on paper: how many tiers exist, and roughly which one you expect to clear ₦80,000 average.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Watch for the SELECT-list rule — every column must be grouped or aggregated.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WHERE or HAVING for the ₦80,000 condition? Decide before you type.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Stuck on an error? Ask AI to explain it — not to rewrite your query.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53505" cy="15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GUIDED PRACTICE · SOLUTION</a:t>
            </a:r>
          </a:p>
          <a:p>
            <a:pPr algn="l">
              <a:lnSpc>
                <a:spcPts val="60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66810" y="1675800"/>
            <a:ext cx="13040392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One correct answer, worked through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6810" y="3073965"/>
            <a:ext cx="7892863" cy="4598451"/>
            <a:chOff x="0" y="0"/>
            <a:chExt cx="10523817" cy="6131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3728" cy="6131179"/>
            </a:xfrm>
            <a:custGeom>
              <a:avLst/>
              <a:gdLst/>
              <a:ahLst/>
              <a:cxnLst/>
              <a:rect r="r" b="b" t="t" l="l"/>
              <a:pathLst>
                <a:path h="6131179" w="1052372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359009" y="0"/>
                  </a:lnTo>
                  <a:cubicBezTo>
                    <a:pt x="10449941" y="0"/>
                    <a:pt x="10523728" y="73787"/>
                    <a:pt x="10523728" y="164719"/>
                  </a:cubicBezTo>
                  <a:lnTo>
                    <a:pt x="10523728" y="5966460"/>
                  </a:lnTo>
                  <a:cubicBezTo>
                    <a:pt x="10523728" y="6057392"/>
                    <a:pt x="10449941" y="6131179"/>
                    <a:pt x="10359009" y="6131179"/>
                  </a:cubicBezTo>
                  <a:lnTo>
                    <a:pt x="164719" y="6131179"/>
                  </a:lnTo>
                  <a:cubicBezTo>
                    <a:pt x="73787" y="6131306"/>
                    <a:pt x="0" y="6057519"/>
                    <a:pt x="0" y="5966460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51153" y="3272304"/>
            <a:ext cx="7124167" cy="245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membership_tier,</a:t>
            </a:r>
          </a:p>
          <a:p>
            <a:pPr algn="l">
              <a:lnSpc>
                <a:spcPts val="2796"/>
              </a:lnSpc>
            </a:pP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COUNT(*) </a:t>
            </a: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customer_count,</a:t>
            </a:r>
          </a:p>
          <a:p>
            <a:pPr algn="l">
              <a:lnSpc>
                <a:spcPts val="2796"/>
              </a:lnSpc>
            </a:pP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      AVG(total_spent) </a:t>
            </a: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AS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avg_spend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customers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GROUP BY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membership_tier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HAVING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AVG(total_spent) &gt; 80000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BY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 avg_spend </a:t>
            </a:r>
            <a:r>
              <a:rPr lang="en-US" sz="1726" b="true">
                <a:solidFill>
                  <a:srgbClr val="6FD8B8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sz="1726">
                <a:solidFill>
                  <a:srgbClr val="E7F3F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7275" y="7868793"/>
            <a:ext cx="7911932" cy="1734903"/>
            <a:chOff x="0" y="0"/>
            <a:chExt cx="10549242" cy="23132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9255" cy="2313178"/>
            </a:xfrm>
            <a:custGeom>
              <a:avLst/>
              <a:gdLst/>
              <a:ahLst/>
              <a:cxnLst/>
              <a:rect r="r" b="b" t="t" l="l"/>
              <a:pathLst>
                <a:path h="2313178" w="10549255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10364216" y="0"/>
                  </a:lnTo>
                  <a:cubicBezTo>
                    <a:pt x="10466451" y="0"/>
                    <a:pt x="10549255" y="82804"/>
                    <a:pt x="10549255" y="185039"/>
                  </a:cubicBezTo>
                  <a:lnTo>
                    <a:pt x="10549255" y="2128139"/>
                  </a:lnTo>
                  <a:cubicBezTo>
                    <a:pt x="10549255" y="2230374"/>
                    <a:pt x="10466451" y="2313178"/>
                    <a:pt x="10364216" y="2313178"/>
                  </a:cubicBezTo>
                  <a:lnTo>
                    <a:pt x="185039" y="2313178"/>
                  </a:lnTo>
                  <a:cubicBezTo>
                    <a:pt x="82804" y="2313178"/>
                    <a:pt x="0" y="2230374"/>
                    <a:pt x="0" y="2128139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78613" y="8056769"/>
            <a:ext cx="7069264" cy="1372672"/>
            <a:chOff x="0" y="0"/>
            <a:chExt cx="9425686" cy="18302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25684" cy="1830225"/>
            </a:xfrm>
            <a:custGeom>
              <a:avLst/>
              <a:gdLst/>
              <a:ahLst/>
              <a:cxnLst/>
              <a:rect r="r" b="b" t="t" l="l"/>
              <a:pathLst>
                <a:path h="1830225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1830225"/>
                  </a:lnTo>
                  <a:lnTo>
                    <a:pt x="0" y="18302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0347" r="0" b="-503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425686" cy="1877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HAVING, not WHERE: </a:t>
              </a: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the condition tests AVG(total_spent), an aggregate — WHERE runs before aggregates exist, so only HAVING can see it.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9206" y="3064440"/>
            <a:ext cx="7911932" cy="1172108"/>
            <a:chOff x="0" y="0"/>
            <a:chExt cx="10549242" cy="15628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9255" cy="1562862"/>
            </a:xfrm>
            <a:custGeom>
              <a:avLst/>
              <a:gdLst/>
              <a:ahLst/>
              <a:cxnLst/>
              <a:rect r="r" b="b" t="t" l="l"/>
              <a:pathLst>
                <a:path h="1562862" w="10549255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10437622" y="0"/>
                  </a:lnTo>
                  <a:cubicBezTo>
                    <a:pt x="10499217" y="0"/>
                    <a:pt x="10549255" y="50038"/>
                    <a:pt x="10549255" y="111633"/>
                  </a:cubicBezTo>
                  <a:lnTo>
                    <a:pt x="10549255" y="1451229"/>
                  </a:lnTo>
                  <a:cubicBezTo>
                    <a:pt x="10549255" y="1512824"/>
                    <a:pt x="10499217" y="1562862"/>
                    <a:pt x="10437622" y="1562862"/>
                  </a:cubicBezTo>
                  <a:lnTo>
                    <a:pt x="111633" y="1562862"/>
                  </a:lnTo>
                  <a:cubicBezTo>
                    <a:pt x="50038" y="1562862"/>
                    <a:pt x="0" y="1512824"/>
                    <a:pt x="0" y="145122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08741" y="3073965"/>
            <a:ext cx="7892863" cy="576520"/>
            <a:chOff x="0" y="0"/>
            <a:chExt cx="10523817" cy="768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3855" cy="768731"/>
            </a:xfrm>
            <a:custGeom>
              <a:avLst/>
              <a:gdLst/>
              <a:ahLst/>
              <a:cxnLst/>
              <a:rect r="r" b="b" t="t" l="l"/>
              <a:pathLst>
                <a:path h="768731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73466" y="3073965"/>
            <a:ext cx="2356418" cy="576522"/>
            <a:chOff x="0" y="0"/>
            <a:chExt cx="3141891" cy="7686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41895" cy="768700"/>
            </a:xfrm>
            <a:custGeom>
              <a:avLst/>
              <a:gdLst/>
              <a:ahLst/>
              <a:cxnLst/>
              <a:rect r="r" b="b" t="t" l="l"/>
              <a:pathLst>
                <a:path h="768700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41" r="0" b="-296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41891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membership_tier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04424" y="3073965"/>
            <a:ext cx="2356418" cy="576522"/>
            <a:chOff x="0" y="0"/>
            <a:chExt cx="3141891" cy="7686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41895" cy="768700"/>
            </a:xfrm>
            <a:custGeom>
              <a:avLst/>
              <a:gdLst/>
              <a:ahLst/>
              <a:cxnLst/>
              <a:rect r="r" b="b" t="t" l="l"/>
              <a:pathLst>
                <a:path h="768700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41" r="0" b="-296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141891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customer_count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935371" y="3073965"/>
            <a:ext cx="2356418" cy="576522"/>
            <a:chOff x="0" y="0"/>
            <a:chExt cx="3141891" cy="7686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41895" cy="768700"/>
            </a:xfrm>
            <a:custGeom>
              <a:avLst/>
              <a:gdLst/>
              <a:ahLst/>
              <a:cxnLst/>
              <a:rect r="r" b="b" t="t" l="l"/>
              <a:pathLst>
                <a:path h="768700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41" r="0" b="-296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141891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avg_spend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73466" y="3650494"/>
            <a:ext cx="2356418" cy="576522"/>
            <a:chOff x="0" y="0"/>
            <a:chExt cx="3141891" cy="7686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41895" cy="768700"/>
            </a:xfrm>
            <a:custGeom>
              <a:avLst/>
              <a:gdLst/>
              <a:ahLst/>
              <a:cxnLst/>
              <a:rect r="r" b="b" t="t" l="l"/>
              <a:pathLst>
                <a:path h="768700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41" r="0" b="-296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141891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Gold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04424" y="3650494"/>
            <a:ext cx="2356418" cy="576522"/>
            <a:chOff x="0" y="0"/>
            <a:chExt cx="3141891" cy="7686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41895" cy="768700"/>
            </a:xfrm>
            <a:custGeom>
              <a:avLst/>
              <a:gdLst/>
              <a:ahLst/>
              <a:cxnLst/>
              <a:rect r="r" b="b" t="t" l="l"/>
              <a:pathLst>
                <a:path h="768700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41" r="0" b="-296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141891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935371" y="3650494"/>
            <a:ext cx="2356418" cy="576522"/>
            <a:chOff x="0" y="0"/>
            <a:chExt cx="3141891" cy="7686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41895" cy="768700"/>
            </a:xfrm>
            <a:custGeom>
              <a:avLst/>
              <a:gdLst/>
              <a:ahLst/>
              <a:cxnLst/>
              <a:rect r="r" b="b" t="t" l="l"/>
              <a:pathLst>
                <a:path h="768700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641" r="0" b="-2964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141891" cy="787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156250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08741" y="3966200"/>
            <a:ext cx="7892863" cy="823603"/>
            <a:chOff x="0" y="0"/>
            <a:chExt cx="10523817" cy="10981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23822" cy="1098132"/>
            </a:xfrm>
            <a:custGeom>
              <a:avLst/>
              <a:gdLst/>
              <a:ahLst/>
              <a:cxnLst/>
              <a:rect r="r" b="b" t="t" l="l"/>
              <a:pathLst>
                <a:path h="1098132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6731" r="0" b="-1367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523817" cy="1145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Silver (avg ₦60,500) and Bronze (avg ₦17,167) both drop out at the HAVING step — only Gold clears ₦80,000.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08741" y="5064347"/>
            <a:ext cx="7892863" cy="4529823"/>
            <a:chOff x="0" y="0"/>
            <a:chExt cx="10523817" cy="60397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23855" cy="6039739"/>
            </a:xfrm>
            <a:custGeom>
              <a:avLst/>
              <a:gdLst/>
              <a:ahLst/>
              <a:cxnLst/>
              <a:rect r="r" b="b" t="t" l="l"/>
              <a:pathLst>
                <a:path h="6039739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820156"/>
                  </a:lnTo>
                  <a:cubicBezTo>
                    <a:pt x="10523855" y="5941441"/>
                    <a:pt x="10425557" y="6039739"/>
                    <a:pt x="10304272" y="6039739"/>
                  </a:cubicBezTo>
                  <a:lnTo>
                    <a:pt x="219583" y="6039739"/>
                  </a:lnTo>
                  <a:cubicBezTo>
                    <a:pt x="98298" y="6039739"/>
                    <a:pt x="0" y="5941441"/>
                    <a:pt x="0" y="582015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920545" y="5338877"/>
            <a:ext cx="7069264" cy="517723"/>
            <a:chOff x="0" y="0"/>
            <a:chExt cx="9425686" cy="69029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25684" cy="690303"/>
            </a:xfrm>
            <a:custGeom>
              <a:avLst/>
              <a:gdLst/>
              <a:ahLst/>
              <a:cxnLst/>
              <a:rect r="r" b="b" t="t" l="l"/>
              <a:pathLst>
                <a:path h="690303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90303"/>
                  </a:lnTo>
                  <a:lnTo>
                    <a:pt x="0" y="6903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9658" r="0" b="-2124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425686" cy="70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Reconcile your prediction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920545" y="5830795"/>
            <a:ext cx="7069264" cy="227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Expected more than one tier to qualify? Re-check your HAVING threshold and confirm you used AVG, not SUM.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Got a SELECT-list error first? That's normal — confirm every non-aggregated column is in GROUP BY.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Got exactly one row, Gold, avg 156250? You're verified — that's the same number the worked example's per-tier check would produce.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6650224" y="9679896"/>
            <a:ext cx="647224" cy="571500"/>
            <a:chOff x="0" y="0"/>
            <a:chExt cx="862965" cy="7620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14063" y="4186238"/>
            <a:ext cx="457200" cy="457200"/>
            <a:chOff x="0" y="0"/>
            <a:chExt cx="609600" cy="6096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62" r="0" b="-156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00188" y="2595562"/>
            <a:ext cx="7643812" cy="18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 can now summarise a table with aggregate functions:COUNT, SUM, AVG, MIN and MAX collapse many rows into the numbers a decision needs.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0188" y="4845844"/>
            <a:ext cx="8336756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group and filter groups with GROUP BY and HAVING:GROUP BY makes one summary row per bucket; HAVING keeps only the buckets that qualify.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0188" y="6806565"/>
            <a:ext cx="8336756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verify a total before trusting it: Check your aggregate against a known reference figure — a query that runs isn't the same as a query that's right.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974908"/>
            <a:ext cx="371475" cy="385762"/>
            <a:chOff x="0" y="0"/>
            <a:chExt cx="495300" cy="5143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6882765"/>
            <a:ext cx="371475" cy="385762"/>
            <a:chOff x="0" y="0"/>
            <a:chExt cx="495300" cy="5143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314415" y="4019550"/>
            <a:ext cx="5124144" cy="272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Joining Tables: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Combining Related Data</a:t>
            </a:r>
          </a:p>
          <a:p>
            <a:pPr algn="r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2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841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AT'S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583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751304"/>
            <a:ext cx="10981382" cy="484098"/>
            <a:chOff x="0" y="0"/>
            <a:chExt cx="14641843" cy="645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1840" cy="645470"/>
            </a:xfrm>
            <a:custGeom>
              <a:avLst/>
              <a:gdLst/>
              <a:ahLst/>
              <a:cxnLst/>
              <a:rect r="r" b="b" t="t" l="l"/>
              <a:pathLst>
                <a:path h="645470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645470"/>
                  </a:lnTo>
                  <a:lnTo>
                    <a:pt x="0" y="6454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2378" r="0" b="-3916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641843" cy="664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0872" y="1736961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From this session into the lab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1338" y="2735809"/>
            <a:ext cx="5235216" cy="4823422"/>
            <a:chOff x="0" y="0"/>
            <a:chExt cx="6980288" cy="64312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60761" y="3213868"/>
            <a:ext cx="847439" cy="847439"/>
            <a:chOff x="0" y="0"/>
            <a:chExt cx="1129919" cy="1129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3225784"/>
            <a:ext cx="823608" cy="823608"/>
            <a:chOff x="0" y="0"/>
            <a:chExt cx="1098144" cy="1098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4323921"/>
            <a:ext cx="4392549" cy="686333"/>
            <a:chOff x="0" y="0"/>
            <a:chExt cx="5856732" cy="915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Hands-on lab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2676" y="5010255"/>
            <a:ext cx="4392549" cy="2402176"/>
            <a:chOff x="0" y="0"/>
            <a:chExt cx="5856732" cy="32029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Open the shared customers.db and complete the 3.3 lab worksheet — five GROUP BY / HAVING business questions, each with a verification step.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10661" y="2735809"/>
            <a:ext cx="5235216" cy="4823422"/>
            <a:chOff x="0" y="0"/>
            <a:chExt cx="6980288" cy="64312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920084" y="3213868"/>
            <a:ext cx="847439" cy="847439"/>
            <a:chOff x="0" y="0"/>
            <a:chExt cx="1129919" cy="11299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932000" y="3225784"/>
            <a:ext cx="823608" cy="823608"/>
            <a:chOff x="0" y="0"/>
            <a:chExt cx="1098144" cy="10981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32000" y="4323921"/>
            <a:ext cx="4392549" cy="686333"/>
            <a:chOff x="0" y="0"/>
            <a:chExt cx="5856732" cy="915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LMS practice set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32000" y="5010255"/>
            <a:ext cx="4392549" cy="2402176"/>
            <a:chOff x="0" y="0"/>
            <a:chExt cx="5856732" cy="32029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Ten auto-graded aggregation questions on the LMS, including at least one COUNT(*) vs COUNT(column) trap.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69985" y="2735809"/>
            <a:ext cx="5235216" cy="4823422"/>
            <a:chOff x="0" y="0"/>
            <a:chExt cx="6980288" cy="64312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479407" y="3213868"/>
            <a:ext cx="847439" cy="847439"/>
            <a:chOff x="0" y="0"/>
            <a:chExt cx="1129919" cy="11299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491323" y="3225784"/>
            <a:ext cx="823608" cy="823608"/>
            <a:chOff x="0" y="0"/>
            <a:chExt cx="1098144" cy="10981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91323" y="4323921"/>
            <a:ext cx="4392549" cy="686333"/>
            <a:chOff x="0" y="0"/>
            <a:chExt cx="5856732" cy="9151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Keep the habit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91323" y="5010255"/>
            <a:ext cx="4392549" cy="2402176"/>
            <a:chOff x="0" y="0"/>
            <a:chExt cx="5856732" cy="320290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For every aggregate you compute, write down what you expected before you ran it — bring one mismatch you had to debug to the next session.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1338" y="8020602"/>
            <a:ext cx="16353863" cy="1185834"/>
            <a:chOff x="0" y="0"/>
            <a:chExt cx="21805151" cy="15811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805139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805139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21619083" y="0"/>
                  </a:lnTo>
                  <a:cubicBezTo>
                    <a:pt x="21721826" y="0"/>
                    <a:pt x="21805139" y="83312"/>
                    <a:pt x="21805139" y="186055"/>
                  </a:cubicBezTo>
                  <a:lnTo>
                    <a:pt x="21805139" y="1395095"/>
                  </a:lnTo>
                  <a:cubicBezTo>
                    <a:pt x="21805139" y="1497838"/>
                    <a:pt x="21721826" y="1581150"/>
                    <a:pt x="21619083" y="1581150"/>
                  </a:cubicBezTo>
                  <a:lnTo>
                    <a:pt x="186055" y="1581150"/>
                  </a:lnTo>
                  <a:cubicBezTo>
                    <a:pt x="83312" y="1581150"/>
                    <a:pt x="0" y="1497838"/>
                    <a:pt x="0" y="139509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72676" y="8030137"/>
            <a:ext cx="15511196" cy="1166774"/>
            <a:chOff x="0" y="0"/>
            <a:chExt cx="20681594" cy="15556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0681594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Facilitator note: pre-built finished lab file (customers_aggregation_finished.db) and a printed answer key with reference totals are attached on the LMS in case the live demo or network fails.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DAHTeGgNNNE</dc:identifier>
  <dcterms:modified xsi:type="dcterms:W3CDTF">2011-08-01T06:04:30Z</dcterms:modified>
  <cp:revision>1</cp:revision>
  <dc:title>Module 3.3 - Aggregation-grouping</dc:title>
</cp:coreProperties>
</file>