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nter" charset="1" panose="02000503000000020004"/>
      <p:regular r:id="rId24"/>
    </p:embeddedFont>
    <p:embeddedFont>
      <p:font typeface="Inter Medium" charset="1" panose="02000503000000020004"/>
      <p:regular r:id="rId25"/>
    </p:embeddedFont>
    <p:embeddedFont>
      <p:font typeface="Poppins Bold" charset="1" panose="00000800000000000000"/>
      <p:regular r:id="rId26"/>
    </p:embeddedFont>
    <p:embeddedFont>
      <p:font typeface="Inter Bold" charset="1" panose="02000503000000020004"/>
      <p:regular r:id="rId27"/>
    </p:embeddedFont>
    <p:embeddedFont>
      <p:font typeface="Poppins" charset="1" panose="00000500000000000000"/>
      <p:regular r:id="rId28"/>
    </p:embeddedFont>
    <p:embeddedFont>
      <p:font typeface="Poppins Italics" charset="1" panose="00000500000000000000"/>
      <p:regular r:id="rId29"/>
    </p:embeddedFont>
    <p:embeddedFont>
      <p:font typeface="Courier New Bold" charset="1" panose="02070609020205020404"/>
      <p:regular r:id="rId30"/>
    </p:embeddedFont>
    <p:embeddedFont>
      <p:font typeface="Courier New" charset="1" panose="02070309020205020404"/>
      <p:regular r:id="rId31"/>
    </p:embeddedFont>
    <p:embeddedFont>
      <p:font typeface="DM Sans Bold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12" Target="../media/image11.jpe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jpe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7.png" Type="http://schemas.openxmlformats.org/officeDocument/2006/relationships/image"/><Relationship Id="rId8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0" y="0"/>
            <a:ext cx="2286000" cy="1907553"/>
            <a:chOff x="0" y="0"/>
            <a:chExt cx="3048000" cy="25434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01875" y="714375"/>
            <a:ext cx="2857500" cy="2857500"/>
            <a:chOff x="0" y="0"/>
            <a:chExt cx="3810000" cy="381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1905000"/>
                  </a:moveTo>
                  <a:cubicBezTo>
                    <a:pt x="0" y="852932"/>
                    <a:pt x="852932" y="0"/>
                    <a:pt x="1905000" y="0"/>
                  </a:cubicBezTo>
                  <a:cubicBezTo>
                    <a:pt x="2957068" y="0"/>
                    <a:pt x="3810000" y="852932"/>
                    <a:pt x="3810000" y="1905000"/>
                  </a:cubicBezTo>
                  <a:cubicBezTo>
                    <a:pt x="3810000" y="2957068"/>
                    <a:pt x="2957068" y="3810000"/>
                    <a:pt x="1905000" y="3810000"/>
                  </a:cubicBezTo>
                  <a:cubicBezTo>
                    <a:pt x="852932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387F7F">
                <a:alpha val="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6429375"/>
            <a:ext cx="1907553" cy="1286104"/>
            <a:chOff x="0" y="0"/>
            <a:chExt cx="2543404" cy="17148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7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430800"/>
            </a:xfrm>
            <a:custGeom>
              <a:avLst/>
              <a:gdLst/>
              <a:ahLst/>
              <a:cxnLst/>
              <a:rect r="r" b="b" t="t" l="l"/>
              <a:pathLst>
                <a:path h="43080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800"/>
                  </a:lnTo>
                  <a:lnTo>
                    <a:pt x="0" y="430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5025" r="0" b="-91502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336000" cy="430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JAVASCRIPT FUNDAMENTALS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3349571"/>
            <a:ext cx="16002000" cy="691165"/>
            <a:chOff x="0" y="0"/>
            <a:chExt cx="21336000" cy="9215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36000" cy="921546"/>
            </a:xfrm>
            <a:custGeom>
              <a:avLst/>
              <a:gdLst/>
              <a:ahLst/>
              <a:cxnLst/>
              <a:rect r="r" b="b" t="t" l="l"/>
              <a:pathLst>
                <a:path h="921546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46"/>
                  </a:lnTo>
                  <a:lnTo>
                    <a:pt x="0" y="92154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4371" r="0" b="-3878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1336000" cy="9310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3: SQL and Databases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3000" y="8572500"/>
            <a:ext cx="16002000" cy="28804"/>
            <a:chOff x="0" y="0"/>
            <a:chExt cx="21336000" cy="384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43000" y="9001125"/>
            <a:ext cx="385648" cy="342900"/>
            <a:chOff x="0" y="0"/>
            <a:chExt cx="514198" cy="457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4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43062" y="8866106"/>
            <a:ext cx="2802638" cy="573969"/>
            <a:chOff x="0" y="0"/>
            <a:chExt cx="2857805" cy="5852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57800" cy="585270"/>
            </a:xfrm>
            <a:custGeom>
              <a:avLst/>
              <a:gdLst/>
              <a:ahLst/>
              <a:cxnLst/>
              <a:rect r="r" b="b" t="t" l="l"/>
              <a:pathLst>
                <a:path h="585270" w="2857800">
                  <a:moveTo>
                    <a:pt x="0" y="0"/>
                  </a:moveTo>
                  <a:lnTo>
                    <a:pt x="2857800" y="0"/>
                  </a:lnTo>
                  <a:lnTo>
                    <a:pt x="2857800" y="585270"/>
                  </a:lnTo>
                  <a:lnTo>
                    <a:pt x="0" y="5852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339" r="0" b="-319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5 of 6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143000" y="552450"/>
            <a:ext cx="2124669" cy="1845806"/>
          </a:xfrm>
          <a:custGeom>
            <a:avLst/>
            <a:gdLst/>
            <a:ahLst/>
            <a:cxnLst/>
            <a:rect r="r" b="b" t="t" l="l"/>
            <a:pathLst>
              <a:path h="1845806" w="2124669">
                <a:moveTo>
                  <a:pt x="0" y="0"/>
                </a:moveTo>
                <a:lnTo>
                  <a:pt x="2124669" y="0"/>
                </a:lnTo>
                <a:lnTo>
                  <a:pt x="2124669" y="1845806"/>
                </a:lnTo>
                <a:lnTo>
                  <a:pt x="0" y="18458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43000" y="4116229"/>
            <a:ext cx="6605401" cy="2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9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Primitiv</a:t>
            </a:r>
            <a:r>
              <a:rPr lang="en-US" b="true" sz="9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  <a:p>
            <a:pPr algn="l">
              <a:lnSpc>
                <a:spcPts val="11250"/>
              </a:lnSpc>
            </a:pPr>
            <a:r>
              <a:rPr lang="en-US" b="true" sz="9000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Data Types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001070" y="1733550"/>
            <a:ext cx="6258230" cy="6258230"/>
            <a:chOff x="0" y="0"/>
            <a:chExt cx="8890000" cy="8890000"/>
          </a:xfrm>
        </p:grpSpPr>
        <p:sp>
          <p:nvSpPr>
            <p:cNvPr name="Freeform 24" id="24" descr="A sophisticated, high-quality 3D digital illustration representing programming variables, data types, and operators for a JavaScript course. The image features a clean, minimalist workspace with glowing, semi-transparent 3D boxes and spheres label..."/>
            <p:cNvSpPr/>
            <p:nvPr/>
          </p:nvSpPr>
          <p:spPr>
            <a:xfrm flipH="false" flipV="false" rot="0">
              <a:off x="0" y="0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270611" y="0"/>
                  </a:moveTo>
                  <a:lnTo>
                    <a:pt x="8619389" y="0"/>
                  </a:lnTo>
                  <a:cubicBezTo>
                    <a:pt x="8768843" y="0"/>
                    <a:pt x="8890000" y="121157"/>
                    <a:pt x="8890000" y="270611"/>
                  </a:cubicBezTo>
                  <a:lnTo>
                    <a:pt x="8890000" y="8619389"/>
                  </a:lnTo>
                  <a:cubicBezTo>
                    <a:pt x="8890000" y="8768843"/>
                    <a:pt x="8768843" y="8890000"/>
                    <a:pt x="8619389" y="8890000"/>
                  </a:cubicBezTo>
                  <a:lnTo>
                    <a:pt x="270611" y="8890000"/>
                  </a:lnTo>
                  <a:cubicBezTo>
                    <a:pt x="121157" y="8890000"/>
                    <a:pt x="0" y="8768843"/>
                    <a:pt x="0" y="8619389"/>
                  </a:cubicBezTo>
                  <a:lnTo>
                    <a:pt x="0" y="270611"/>
                  </a:lnTo>
                  <a:cubicBezTo>
                    <a:pt x="0" y="121157"/>
                    <a:pt x="121157" y="0"/>
                    <a:pt x="270611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0" r="0" b="-14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8" t="0" r="-147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43000" y="2584292"/>
            <a:ext cx="16002000" cy="683564"/>
            <a:chOff x="0" y="0"/>
            <a:chExt cx="21336000" cy="91141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336000" cy="911419"/>
            </a:xfrm>
            <a:custGeom>
              <a:avLst/>
              <a:gdLst/>
              <a:ahLst/>
              <a:cxnLst/>
              <a:rect r="r" b="b" t="t" l="l"/>
              <a:pathLst>
                <a:path h="911419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11419"/>
                  </a:lnTo>
                  <a:lnTo>
                    <a:pt x="0" y="9114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2504" r="0" b="-37977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1336000" cy="911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ANALYSIS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43000" y="3342427"/>
            <a:ext cx="16002000" cy="698283"/>
            <a:chOff x="0" y="0"/>
            <a:chExt cx="21336000" cy="93104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1336000" cy="931038"/>
            </a:xfrm>
            <a:custGeom>
              <a:avLst/>
              <a:gdLst/>
              <a:ahLst/>
              <a:cxnLst/>
              <a:rect r="r" b="b" t="t" l="l"/>
              <a:pathLst>
                <a:path h="931038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31038"/>
                  </a:lnTo>
                  <a:lnTo>
                    <a:pt x="0" y="9310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6525" r="0" b="-39652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1336000" cy="940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Module 3: SQL &amp; Databases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43000" y="9001125"/>
            <a:ext cx="385667" cy="342900"/>
            <a:chOff x="0" y="0"/>
            <a:chExt cx="514223" cy="457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" t="0" r="-12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643062" y="9001125"/>
            <a:ext cx="2143354" cy="323098"/>
            <a:chOff x="0" y="0"/>
            <a:chExt cx="2857805" cy="43079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9171" r="-1" b="-79174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643062" y="8891824"/>
            <a:ext cx="3585885" cy="540550"/>
            <a:chOff x="0" y="0"/>
            <a:chExt cx="2857805" cy="43079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857805" cy="430797"/>
            </a:xfrm>
            <a:custGeom>
              <a:avLst/>
              <a:gdLst/>
              <a:ahLst/>
              <a:cxnLst/>
              <a:rect r="r" b="b" t="t" l="l"/>
              <a:pathLst>
                <a:path h="43079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430797"/>
                  </a:lnTo>
                  <a:lnTo>
                    <a:pt x="0" y="43079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259" r="0" b="-7925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857805" cy="430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5  of 6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3000" y="552450"/>
            <a:ext cx="2124666" cy="1845802"/>
            <a:chOff x="0" y="0"/>
            <a:chExt cx="2832887" cy="246107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51" r="0" b="-4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001070" y="1733550"/>
            <a:ext cx="6258230" cy="6258230"/>
            <a:chOff x="0" y="0"/>
            <a:chExt cx="8344306" cy="83443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344281" cy="8344281"/>
            </a:xfrm>
            <a:custGeom>
              <a:avLst/>
              <a:gdLst/>
              <a:ahLst/>
              <a:cxnLst/>
              <a:rect r="r" b="b" t="t" l="l"/>
              <a:pathLst>
                <a:path h="8344281" w="8344281">
                  <a:moveTo>
                    <a:pt x="254000" y="0"/>
                  </a:moveTo>
                  <a:lnTo>
                    <a:pt x="8090281" y="0"/>
                  </a:lnTo>
                  <a:cubicBezTo>
                    <a:pt x="8230616" y="0"/>
                    <a:pt x="8344281" y="113665"/>
                    <a:pt x="8344281" y="254000"/>
                  </a:cubicBezTo>
                  <a:lnTo>
                    <a:pt x="8344281" y="8090281"/>
                  </a:lnTo>
                  <a:cubicBezTo>
                    <a:pt x="8344281" y="8230616"/>
                    <a:pt x="8230616" y="8344281"/>
                    <a:pt x="8090281" y="8344281"/>
                  </a:cubicBezTo>
                  <a:lnTo>
                    <a:pt x="254000" y="8344281"/>
                  </a:lnTo>
                  <a:cubicBezTo>
                    <a:pt x="113665" y="8344281"/>
                    <a:pt x="0" y="8230616"/>
                    <a:pt x="0" y="8090281"/>
                  </a:cubicBezTo>
                  <a:lnTo>
                    <a:pt x="0" y="254000"/>
                  </a:lnTo>
                  <a:cubicBezTo>
                    <a:pt x="0" y="113665"/>
                    <a:pt x="113665" y="0"/>
                    <a:pt x="254000" y="0"/>
                  </a:cubicBezTo>
                  <a:close/>
                </a:path>
              </a:pathLst>
            </a:custGeom>
            <a:blipFill>
              <a:blip r:embed="rId12"/>
              <a:stretch>
                <a:fillRect l="-39583" t="0" r="-39583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57" id="5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028700" y="3992404"/>
            <a:ext cx="8859441" cy="2924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Warehousing  </a:t>
            </a:r>
            <a:r>
              <a:rPr lang="en-US" sz="90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Fundamentals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556177" y="2078926"/>
            <a:ext cx="6700657" cy="6700657"/>
            <a:chOff x="0" y="0"/>
            <a:chExt cx="8934209" cy="8934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34196" cy="8934196"/>
            </a:xfrm>
            <a:custGeom>
              <a:avLst/>
              <a:gdLst/>
              <a:ahLst/>
              <a:cxnLst/>
              <a:rect r="r" b="b" t="t" l="l"/>
              <a:pathLst>
                <a:path h="8934196" w="8934196">
                  <a:moveTo>
                    <a:pt x="254000" y="0"/>
                  </a:moveTo>
                  <a:lnTo>
                    <a:pt x="8680196" y="0"/>
                  </a:lnTo>
                  <a:cubicBezTo>
                    <a:pt x="8747561" y="0"/>
                    <a:pt x="8812167" y="26761"/>
                    <a:pt x="8859801" y="74395"/>
                  </a:cubicBezTo>
                  <a:cubicBezTo>
                    <a:pt x="8907435" y="122029"/>
                    <a:pt x="8934196" y="186635"/>
                    <a:pt x="8934196" y="254000"/>
                  </a:cubicBezTo>
                  <a:lnTo>
                    <a:pt x="8934196" y="8680196"/>
                  </a:lnTo>
                  <a:cubicBezTo>
                    <a:pt x="8934196" y="8820476"/>
                    <a:pt x="8820476" y="8934196"/>
                    <a:pt x="8680196" y="8934196"/>
                  </a:cubicBezTo>
                  <a:lnTo>
                    <a:pt x="254000" y="8934196"/>
                  </a:lnTo>
                  <a:cubicBezTo>
                    <a:pt x="113720" y="8934196"/>
                    <a:pt x="0" y="8820476"/>
                    <a:pt x="0" y="8680196"/>
                  </a:cubicBezTo>
                  <a:lnTo>
                    <a:pt x="0" y="254000"/>
                  </a:lnTo>
                  <a:cubicBezTo>
                    <a:pt x="0" y="113720"/>
                    <a:pt x="113720" y="0"/>
                    <a:pt x="2540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3815" r="0" b="-13815"/>
              </a:stretch>
            </a:blipFill>
            <a:ln w="19050" cap="sq">
              <a:solidFill>
                <a:srgbClr val="CBD5E1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" y="1926641"/>
            <a:ext cx="10574131" cy="6276165"/>
          </a:xfrm>
          <a:custGeom>
            <a:avLst/>
            <a:gdLst/>
            <a:ahLst/>
            <a:cxnLst/>
            <a:rect r="r" b="b" t="t" l="l"/>
            <a:pathLst>
              <a:path h="6276165" w="10574131">
                <a:moveTo>
                  <a:pt x="0" y="0"/>
                </a:moveTo>
                <a:lnTo>
                  <a:pt x="10574131" y="0"/>
                </a:lnTo>
                <a:lnTo>
                  <a:pt x="10574131" y="6276165"/>
                </a:lnTo>
                <a:lnTo>
                  <a:pt x="0" y="6276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9163" y="2882379"/>
            <a:ext cx="9671249" cy="4823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By the end of this topic, the trainee can…</a:t>
            </a:r>
          </a:p>
          <a:p>
            <a:pPr algn="l">
              <a:lnSpc>
                <a:spcPts val="4860"/>
              </a:lnSpc>
            </a:pP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1- Describe the difference between a transactional database and a data warehouse — what each is built to do well.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2- Spot the table in a star schema that holds measurable events and foreign keys to everything else.</a:t>
            </a:r>
          </a:p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3- Spot the tables that describe who, what, when and where — the context around each fact.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355728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Why this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matters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1338" y="1980838"/>
            <a:ext cx="11481435" cy="7362863"/>
            <a:chOff x="0" y="0"/>
            <a:chExt cx="15308579" cy="98171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308537" cy="9817227"/>
            </a:xfrm>
            <a:custGeom>
              <a:avLst/>
              <a:gdLst/>
              <a:ahLst/>
              <a:cxnLst/>
              <a:rect r="r" b="b" t="t" l="l"/>
              <a:pathLst>
                <a:path h="9817227" w="15308537">
                  <a:moveTo>
                    <a:pt x="0" y="220218"/>
                  </a:moveTo>
                  <a:cubicBezTo>
                    <a:pt x="0" y="98552"/>
                    <a:pt x="112706" y="0"/>
                    <a:pt x="251845" y="0"/>
                  </a:cubicBezTo>
                  <a:lnTo>
                    <a:pt x="15056692" y="0"/>
                  </a:lnTo>
                  <a:cubicBezTo>
                    <a:pt x="15195831" y="0"/>
                    <a:pt x="15308537" y="98552"/>
                    <a:pt x="15308537" y="220218"/>
                  </a:cubicBezTo>
                  <a:lnTo>
                    <a:pt x="15308537" y="9597009"/>
                  </a:lnTo>
                  <a:cubicBezTo>
                    <a:pt x="15308537" y="9718675"/>
                    <a:pt x="15195831" y="9817227"/>
                    <a:pt x="15056692" y="9817227"/>
                  </a:cubicBezTo>
                  <a:lnTo>
                    <a:pt x="251845" y="9817227"/>
                  </a:lnTo>
                  <a:cubicBezTo>
                    <a:pt x="112706" y="9817100"/>
                    <a:pt x="0" y="9718548"/>
                    <a:pt x="0" y="959700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441304" y="2402176"/>
            <a:ext cx="9059637" cy="656702"/>
            <a:chOff x="0" y="0"/>
            <a:chExt cx="12079516" cy="8756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079517" cy="875603"/>
            </a:xfrm>
            <a:custGeom>
              <a:avLst/>
              <a:gdLst/>
              <a:ahLst/>
              <a:cxnLst/>
              <a:rect r="r" b="b" t="t" l="l"/>
              <a:pathLst>
                <a:path h="875603" w="12079517">
                  <a:moveTo>
                    <a:pt x="0" y="0"/>
                  </a:moveTo>
                  <a:lnTo>
                    <a:pt x="12079517" y="0"/>
                  </a:lnTo>
                  <a:lnTo>
                    <a:pt x="12079517" y="875603"/>
                  </a:lnTo>
                  <a:lnTo>
                    <a:pt x="0" y="875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7003" r="0" b="-210613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2079516" cy="8946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2"/>
                </a:lnSpc>
              </a:pPr>
              <a:r>
                <a:rPr lang="en-US" sz="26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report that slowed down checkout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41304" y="3136628"/>
            <a:ext cx="10462671" cy="5583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770" indent="-256385" lvl="1">
              <a:lnSpc>
                <a:spcPts val="4008"/>
              </a:lnSpc>
              <a:buFont typeface="Arial"/>
              <a:buChar char="•"/>
            </a:pPr>
            <a:r>
              <a:rPr lang="en-US" sz="283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Finance asked for total revenue by product category, by month, across the last two years — for the board meeting.</a:t>
            </a:r>
          </a:p>
          <a:p>
            <a:pPr algn="l" marL="512770" indent="-256385" lvl="1">
              <a:lnSpc>
                <a:spcPts val="4008"/>
              </a:lnSpc>
              <a:buFont typeface="Arial"/>
              <a:buChar char="•"/>
            </a:pPr>
            <a:r>
              <a:rPr lang="en-US" sz="283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Someone ran it straight against the live database — the same one customers’ checkouts write to every second.</a:t>
            </a:r>
          </a:p>
          <a:p>
            <a:pPr algn="l" marL="512770" indent="-256385" lvl="1">
              <a:lnSpc>
                <a:spcPts val="4008"/>
              </a:lnSpc>
              <a:buFont typeface="Arial"/>
              <a:buChar char="•"/>
            </a:pPr>
            <a:r>
              <a:rPr lang="en-US" sz="283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The query scanned millions of rows across five joined tables. For eleven minutes, checkout was slow for every real customer in every city.</a:t>
            </a:r>
          </a:p>
          <a:p>
            <a:pPr algn="l" marL="512770" indent="-256385" lvl="1">
              <a:lnSpc>
                <a:spcPts val="4008"/>
              </a:lnSpc>
              <a:buFont typeface="Arial"/>
              <a:buChar char="•"/>
            </a:pPr>
            <a:r>
              <a:rPr lang="en-US" sz="283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The report and the app were never supposed to share a database in the first place.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489398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NCEPT 1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956594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OLTP — built for one transaction at a time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3106272"/>
            <a:ext cx="16334804" cy="258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974" indent="-217487" lvl="1">
              <a:lnSpc>
                <a:spcPts val="3400"/>
              </a:lnSpc>
              <a:buFont typeface="Arial"/>
              <a:buChar char="•"/>
            </a:pPr>
            <a:r>
              <a:rPr lang="en-US" sz="24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OLTP stands for Online Transaction Processing — the everyday database behind an app.</a:t>
            </a:r>
          </a:p>
          <a:p>
            <a:pPr algn="l" marL="434974" indent="-217487" lvl="1">
              <a:lnSpc>
                <a:spcPts val="3400"/>
              </a:lnSpc>
              <a:buFont typeface="Arial"/>
              <a:buChar char="•"/>
            </a:pPr>
            <a:r>
              <a:rPr lang="en-US" sz="24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Every table you've queried since 3.1 — customers, orders, order_items, products, payments — is an OLTP schema.</a:t>
            </a:r>
          </a:p>
          <a:p>
            <a:pPr algn="l" marL="434974" indent="-217487" lvl="1">
              <a:lnSpc>
                <a:spcPts val="3400"/>
              </a:lnSpc>
              <a:buFont typeface="Arial"/>
              <a:buChar char="•"/>
            </a:pPr>
            <a:r>
              <a:rPr lang="en-US" sz="24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Optimised for: one customer placing one order right now, reliably, without corrupting anyone else's data.</a:t>
            </a:r>
          </a:p>
          <a:p>
            <a:pPr algn="l" marL="434974" indent="-217487" lvl="1">
              <a:lnSpc>
                <a:spcPts val="3400"/>
              </a:lnSpc>
              <a:buFont typeface="Arial"/>
              <a:buChar char="•"/>
            </a:pPr>
            <a:r>
              <a:rPr lang="en-US" sz="24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Normalised into many small linked tables — exactly the primary-key/foreign-key structure from 3.1 — so a single row updates fast and safely.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1338" y="6786944"/>
            <a:ext cx="16353863" cy="2146706"/>
            <a:chOff x="0" y="0"/>
            <a:chExt cx="21805151" cy="28622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05137" cy="2862326"/>
            </a:xfrm>
            <a:custGeom>
              <a:avLst/>
              <a:gdLst/>
              <a:ahLst/>
              <a:cxnLst/>
              <a:rect r="r" b="b" t="t" l="l"/>
              <a:pathLst>
                <a:path h="2862326" w="21805137">
                  <a:moveTo>
                    <a:pt x="0" y="221615"/>
                  </a:moveTo>
                  <a:cubicBezTo>
                    <a:pt x="0" y="99187"/>
                    <a:pt x="99187" y="0"/>
                    <a:pt x="221615" y="0"/>
                  </a:cubicBezTo>
                  <a:lnTo>
                    <a:pt x="21583523" y="0"/>
                  </a:lnTo>
                  <a:cubicBezTo>
                    <a:pt x="21705951" y="0"/>
                    <a:pt x="21805137" y="99187"/>
                    <a:pt x="21805137" y="221615"/>
                  </a:cubicBezTo>
                  <a:lnTo>
                    <a:pt x="21805137" y="2640711"/>
                  </a:lnTo>
                  <a:cubicBezTo>
                    <a:pt x="21805137" y="2763139"/>
                    <a:pt x="21705951" y="2862326"/>
                    <a:pt x="21583523" y="2862326"/>
                  </a:cubicBezTo>
                  <a:lnTo>
                    <a:pt x="221615" y="2862326"/>
                  </a:lnTo>
                  <a:cubicBezTo>
                    <a:pt x="99187" y="2862326"/>
                    <a:pt x="0" y="2763012"/>
                    <a:pt x="0" y="2640711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72676" y="7002370"/>
            <a:ext cx="15511196" cy="411804"/>
            <a:chOff x="0" y="0"/>
            <a:chExt cx="20681594" cy="54907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81598" cy="549069"/>
            </a:xfrm>
            <a:custGeom>
              <a:avLst/>
              <a:gdLst/>
              <a:ahLst/>
              <a:cxnLst/>
              <a:rect r="r" b="b" t="t" l="l"/>
              <a:pathLst>
                <a:path h="549069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936" r="0" b="-68393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0681594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OLTP is good at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2676" y="7482811"/>
            <a:ext cx="15511196" cy="1304039"/>
            <a:chOff x="0" y="0"/>
            <a:chExt cx="20681594" cy="173871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681598" cy="1738718"/>
            </a:xfrm>
            <a:custGeom>
              <a:avLst/>
              <a:gdLst/>
              <a:ahLst/>
              <a:cxnLst/>
              <a:rect r="r" b="b" t="t" l="l"/>
              <a:pathLst>
                <a:path h="173871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1769" r="0" b="-18176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20681594" cy="1814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“Chidinma just placed order #5001 — save it instantly, and don't let two staff members overwrite each other's edit.” Many small, fast, safe writes and reads, all day, every day.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5587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NCEPT 2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632581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0872" y="1190640"/>
            <a:ext cx="10981382" cy="484098"/>
            <a:chOff x="0" y="0"/>
            <a:chExt cx="14641843" cy="645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1840" cy="645470"/>
            </a:xfrm>
            <a:custGeom>
              <a:avLst/>
              <a:gdLst/>
              <a:ahLst/>
              <a:cxnLst/>
              <a:rect r="r" b="b" t="t" l="l"/>
              <a:pathLst>
                <a:path h="645470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645470"/>
                  </a:lnTo>
                  <a:lnTo>
                    <a:pt x="0" y="6454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2378" r="0" b="-3916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641843" cy="664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808415"/>
            <a:ext cx="13040392" cy="1423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4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The data warehouse — built for big historical questions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872" y="3462917"/>
            <a:ext cx="16334804" cy="3439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974" indent="-217487" lvl="1">
              <a:lnSpc>
                <a:spcPts val="3400"/>
              </a:lnSpc>
              <a:buFont typeface="Arial"/>
              <a:buChar char="•"/>
            </a:pPr>
            <a:r>
              <a:rPr lang="en-US" sz="24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data warehouse holds a separate copy of the data, reshaped specifically for analysis — not for running the app.</a:t>
            </a:r>
          </a:p>
          <a:p>
            <a:pPr algn="l" marL="434974" indent="-217487" lvl="1">
              <a:lnSpc>
                <a:spcPts val="3400"/>
              </a:lnSpc>
              <a:buFont typeface="Arial"/>
              <a:buChar char="•"/>
            </a:pPr>
            <a:r>
              <a:rPr lang="en-US" sz="24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Sometimes called OLAP (Online Analytical Processing): fewer, heavier queries, instead of many small fast ones.</a:t>
            </a:r>
          </a:p>
          <a:p>
            <a:pPr algn="l" marL="434974" indent="-217487" lvl="1">
              <a:lnSpc>
                <a:spcPts val="3400"/>
              </a:lnSpc>
              <a:buFont typeface="Arial"/>
              <a:buChar char="•"/>
            </a:pPr>
            <a:r>
              <a:rPr lang="en-US" sz="24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Loaded on a schedule — hourly, nightly — by a process that copies and reshapes data out of OLTP systems. This module doesn't build that process, just the shape it produces.</a:t>
            </a:r>
          </a:p>
          <a:p>
            <a:pPr algn="l" marL="434974" indent="-217487" lvl="1">
              <a:lnSpc>
                <a:spcPts val="3400"/>
              </a:lnSpc>
              <a:buFont typeface="Arial"/>
              <a:buChar char="•"/>
            </a:pPr>
            <a:r>
              <a:rPr lang="en-US" sz="24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Because it's a separate copy, a slow eleven-minute report here never touches the live checkout database.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60872" y="7504934"/>
            <a:ext cx="16334804" cy="2127647"/>
            <a:chOff x="0" y="0"/>
            <a:chExt cx="21779738" cy="28368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79739" cy="2836799"/>
            </a:xfrm>
            <a:custGeom>
              <a:avLst/>
              <a:gdLst/>
              <a:ahLst/>
              <a:cxnLst/>
              <a:rect r="r" b="b" t="t" l="l"/>
              <a:pathLst>
                <a:path h="2836799" w="21779739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21560155" y="0"/>
                  </a:lnTo>
                  <a:cubicBezTo>
                    <a:pt x="21681441" y="0"/>
                    <a:pt x="21779739" y="98298"/>
                    <a:pt x="21779739" y="219583"/>
                  </a:cubicBezTo>
                  <a:lnTo>
                    <a:pt x="21779739" y="2617216"/>
                  </a:lnTo>
                  <a:cubicBezTo>
                    <a:pt x="21779739" y="2738501"/>
                    <a:pt x="21681441" y="2836799"/>
                    <a:pt x="21560155" y="2836799"/>
                  </a:cubicBezTo>
                  <a:lnTo>
                    <a:pt x="219583" y="2836799"/>
                  </a:lnTo>
                  <a:cubicBezTo>
                    <a:pt x="98298" y="2836799"/>
                    <a:pt x="0" y="2738501"/>
                    <a:pt x="0" y="2617216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2676" y="7710836"/>
            <a:ext cx="15511196" cy="411804"/>
            <a:chOff x="0" y="0"/>
            <a:chExt cx="20681594" cy="549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681598" cy="549069"/>
            </a:xfrm>
            <a:custGeom>
              <a:avLst/>
              <a:gdLst/>
              <a:ahLst/>
              <a:cxnLst/>
              <a:rect r="r" b="b" t="t" l="l"/>
              <a:pathLst>
                <a:path h="549069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936" r="0" b="-68393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0681594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a warehouse is good at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2676" y="8191268"/>
            <a:ext cx="15511196" cy="1304039"/>
            <a:chOff x="0" y="0"/>
            <a:chExt cx="20681594" cy="17387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81598" cy="1738718"/>
            </a:xfrm>
            <a:custGeom>
              <a:avLst/>
              <a:gdLst/>
              <a:ahLst/>
              <a:cxnLst/>
              <a:rect r="r" b="b" t="t" l="l"/>
              <a:pathLst>
                <a:path h="1738718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738718"/>
                  </a:lnTo>
                  <a:lnTo>
                    <a:pt x="0" y="173871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1769" r="0" b="-18176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20681594" cy="18149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i="true">
                  <a:solidFill>
                    <a:srgbClr val="E7F0EE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“Give finance total revenue by category, by month, across the last two years” — scanning millions of historical rows, without anyone at checkout noticing.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6476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NCEPT 3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613516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0872" y="1076325"/>
            <a:ext cx="10981382" cy="484098"/>
            <a:chOff x="0" y="0"/>
            <a:chExt cx="14641843" cy="645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1840" cy="645470"/>
            </a:xfrm>
            <a:custGeom>
              <a:avLst/>
              <a:gdLst/>
              <a:ahLst/>
              <a:cxnLst/>
              <a:rect r="r" b="b" t="t" l="l"/>
              <a:pathLst>
                <a:path h="645470" w="14641840">
                  <a:moveTo>
                    <a:pt x="0" y="0"/>
                  </a:moveTo>
                  <a:lnTo>
                    <a:pt x="14641840" y="0"/>
                  </a:lnTo>
                  <a:lnTo>
                    <a:pt x="14641840" y="645470"/>
                  </a:lnTo>
                  <a:lnTo>
                    <a:pt x="0" y="6454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92378" r="0" b="-39161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4641843" cy="664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60872" y="1819275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OLTP vs. the warehouse, side by side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1338" y="2919898"/>
            <a:ext cx="16353863" cy="4631246"/>
            <a:chOff x="0" y="0"/>
            <a:chExt cx="21805151" cy="61749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05139" cy="6174994"/>
            </a:xfrm>
            <a:custGeom>
              <a:avLst/>
              <a:gdLst/>
              <a:ahLst/>
              <a:cxnLst/>
              <a:rect r="r" b="b" t="t" l="l"/>
              <a:pathLst>
                <a:path h="6174994" w="21805139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21694902" y="0"/>
                  </a:lnTo>
                  <a:cubicBezTo>
                    <a:pt x="21755863" y="0"/>
                    <a:pt x="21805139" y="49403"/>
                    <a:pt x="21805139" y="110236"/>
                  </a:cubicBezTo>
                  <a:lnTo>
                    <a:pt x="21805139" y="6064758"/>
                  </a:lnTo>
                  <a:cubicBezTo>
                    <a:pt x="21805139" y="6125718"/>
                    <a:pt x="21755736" y="6174994"/>
                    <a:pt x="21694902" y="6174994"/>
                  </a:cubicBezTo>
                  <a:lnTo>
                    <a:pt x="110236" y="6174994"/>
                  </a:lnTo>
                  <a:cubicBezTo>
                    <a:pt x="49276" y="6174994"/>
                    <a:pt x="0" y="6125591"/>
                    <a:pt x="0" y="606475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0872" y="2929433"/>
            <a:ext cx="16334804" cy="631431"/>
            <a:chOff x="0" y="0"/>
            <a:chExt cx="21779738" cy="8419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79737" cy="841883"/>
            </a:xfrm>
            <a:custGeom>
              <a:avLst/>
              <a:gdLst/>
              <a:ahLst/>
              <a:cxnLst/>
              <a:rect r="r" b="b" t="t" l="l"/>
              <a:pathLst>
                <a:path h="841883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841883"/>
                  </a:lnTo>
                  <a:lnTo>
                    <a:pt x="0" y="841883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570526" y="2929433"/>
            <a:ext cx="5170399" cy="631431"/>
            <a:chOff x="0" y="0"/>
            <a:chExt cx="6893865" cy="84190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93866" cy="841906"/>
            </a:xfrm>
            <a:custGeom>
              <a:avLst/>
              <a:gdLst/>
              <a:ahLst/>
              <a:cxnLst/>
              <a:rect r="r" b="b" t="t" l="l"/>
              <a:pathLst>
                <a:path h="841906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6893865" cy="860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OLTP (customers, orders…)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015464" y="2929433"/>
            <a:ext cx="5170399" cy="631431"/>
            <a:chOff x="0" y="0"/>
            <a:chExt cx="6893865" cy="8419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93866" cy="841906"/>
            </a:xfrm>
            <a:custGeom>
              <a:avLst/>
              <a:gdLst/>
              <a:ahLst/>
              <a:cxnLst/>
              <a:rect r="r" b="b" t="t" l="l"/>
              <a:pathLst>
                <a:path h="841906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9551" r="0" b="-10955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893865" cy="860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warehouse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25588" y="3560864"/>
            <a:ext cx="5170399" cy="796147"/>
            <a:chOff x="0" y="0"/>
            <a:chExt cx="6893865" cy="106153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Built for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570526" y="3560864"/>
            <a:ext cx="5170399" cy="796147"/>
            <a:chOff x="0" y="0"/>
            <a:chExt cx="6893865" cy="10615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Running the app, right now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015464" y="3560864"/>
            <a:ext cx="5170399" cy="796147"/>
            <a:chOff x="0" y="0"/>
            <a:chExt cx="6893865" cy="10615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Analysing history, at scale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872" y="4357011"/>
            <a:ext cx="16334804" cy="796147"/>
            <a:chOff x="0" y="0"/>
            <a:chExt cx="21779738" cy="106153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779737" cy="1061593"/>
            </a:xfrm>
            <a:custGeom>
              <a:avLst/>
              <a:gdLst/>
              <a:ahLst/>
              <a:cxnLst/>
              <a:rect r="r" b="b" t="t" l="l"/>
              <a:pathLst>
                <a:path h="1061593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25588" y="4357011"/>
            <a:ext cx="5170399" cy="796147"/>
            <a:chOff x="0" y="0"/>
            <a:chExt cx="6893865" cy="106153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Typical query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570526" y="4357011"/>
            <a:ext cx="5170399" cy="796147"/>
            <a:chOff x="0" y="0"/>
            <a:chExt cx="6893865" cy="106153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One customer's one order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015464" y="4357011"/>
            <a:ext cx="5170399" cy="796147"/>
            <a:chOff x="0" y="0"/>
            <a:chExt cx="6893865" cy="106153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Millions of rows, summarised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25588" y="5153158"/>
            <a:ext cx="5170399" cy="796147"/>
            <a:chOff x="0" y="0"/>
            <a:chExt cx="6893865" cy="106153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Shape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570526" y="5153158"/>
            <a:ext cx="5170399" cy="796147"/>
            <a:chOff x="0" y="0"/>
            <a:chExt cx="6893865" cy="106153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Normalised — many linked tables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015464" y="5153158"/>
            <a:ext cx="5170399" cy="796147"/>
            <a:chOff x="0" y="0"/>
            <a:chExt cx="6893865" cy="10615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Star schema — fact + dimensions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60872" y="5949315"/>
            <a:ext cx="16334804" cy="796147"/>
            <a:chOff x="0" y="0"/>
            <a:chExt cx="21779738" cy="106153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1779737" cy="1061593"/>
            </a:xfrm>
            <a:custGeom>
              <a:avLst/>
              <a:gdLst/>
              <a:ahLst/>
              <a:cxnLst/>
              <a:rect r="r" b="b" t="t" l="l"/>
              <a:pathLst>
                <a:path h="1061593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061593"/>
                  </a:lnTo>
                  <a:lnTo>
                    <a:pt x="0" y="1061593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25588" y="5949315"/>
            <a:ext cx="5170399" cy="796147"/>
            <a:chOff x="0" y="0"/>
            <a:chExt cx="6893865" cy="106153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Updated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570526" y="5949315"/>
            <a:ext cx="5170399" cy="796147"/>
            <a:chOff x="0" y="0"/>
            <a:chExt cx="6893865" cy="106153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Constantly, as events happen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15464" y="5949315"/>
            <a:ext cx="5170399" cy="796147"/>
            <a:chOff x="0" y="0"/>
            <a:chExt cx="6893865" cy="106153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On a schedule — hourly or nightly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25588" y="6745462"/>
            <a:ext cx="5170399" cy="796147"/>
            <a:chOff x="0" y="0"/>
            <a:chExt cx="6893865" cy="10615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Optimised for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570526" y="6745462"/>
            <a:ext cx="5170399" cy="796147"/>
            <a:chOff x="0" y="0"/>
            <a:chExt cx="6893865" cy="106153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Fast, safe single-row writes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015464" y="6745462"/>
            <a:ext cx="5170399" cy="796147"/>
            <a:chOff x="0" y="0"/>
            <a:chExt cx="6893865" cy="106153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893866" cy="1061533"/>
            </a:xfrm>
            <a:custGeom>
              <a:avLst/>
              <a:gdLst/>
              <a:ahLst/>
              <a:cxnLst/>
              <a:rect r="r" b="b" t="t" l="l"/>
              <a:pathLst>
                <a:path h="1061533" w="6893866">
                  <a:moveTo>
                    <a:pt x="0" y="0"/>
                  </a:moveTo>
                  <a:lnTo>
                    <a:pt x="6893866" y="0"/>
                  </a:lnTo>
                  <a:lnTo>
                    <a:pt x="689386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6540" r="0" b="-7654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6893865" cy="1080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Fast, heavy aggregate reads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1338" y="7930153"/>
            <a:ext cx="16353863" cy="1597638"/>
            <a:chOff x="0" y="0"/>
            <a:chExt cx="21805151" cy="21301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1805264" cy="2130298"/>
            </a:xfrm>
            <a:custGeom>
              <a:avLst/>
              <a:gdLst/>
              <a:ahLst/>
              <a:cxnLst/>
              <a:rect r="r" b="b" t="t" l="l"/>
              <a:pathLst>
                <a:path h="2130298" w="21805264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21619972" y="0"/>
                  </a:lnTo>
                  <a:cubicBezTo>
                    <a:pt x="21722335" y="0"/>
                    <a:pt x="21805264" y="82931"/>
                    <a:pt x="21805264" y="185293"/>
                  </a:cubicBezTo>
                  <a:lnTo>
                    <a:pt x="21805264" y="1945005"/>
                  </a:lnTo>
                  <a:cubicBezTo>
                    <a:pt x="21805264" y="2047367"/>
                    <a:pt x="21722335" y="2130298"/>
                    <a:pt x="21619972" y="2130298"/>
                  </a:cubicBezTo>
                  <a:lnTo>
                    <a:pt x="185293" y="2130298"/>
                  </a:lnTo>
                  <a:cubicBezTo>
                    <a:pt x="82931" y="2130171"/>
                    <a:pt x="0" y="2047240"/>
                    <a:pt x="0" y="194500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372676" y="8118129"/>
            <a:ext cx="15511196" cy="1235402"/>
            <a:chOff x="0" y="0"/>
            <a:chExt cx="20681594" cy="164720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681598" cy="1647207"/>
            </a:xfrm>
            <a:custGeom>
              <a:avLst/>
              <a:gdLst/>
              <a:ahLst/>
              <a:cxnLst/>
              <a:rect r="r" b="b" t="t" l="l"/>
              <a:pathLst>
                <a:path h="1647207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4645" r="0" b="-1946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76200"/>
              <a:ext cx="20681594" cy="172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27"/>
                </a:lnSpc>
              </a:pPr>
              <a:r>
                <a:rPr lang="en-US" sz="19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Neither is “better”: </a:t>
              </a:r>
              <a:r>
                <a:rPr lang="en-US" sz="195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they're built for opposite jobs. Eko Traders needs both — OLTP to run the business today, a warehouse to understand it over time.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90229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NCEPT 4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154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905000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Why not just query the OLTP tables?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980758"/>
            <a:ext cx="16334804" cy="327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380" indent="-210690" lvl="1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3.1's normalisation was the right call for the app: no duplicate data, safe fast updates, one source of truth per fact.</a:t>
            </a:r>
          </a:p>
          <a:p>
            <a:pPr algn="l" marL="421380" indent="-210690" lvl="1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But finance's question needs orders joined to order_items joined to products joined to customers — four joins, across the busiest tables in the system, over years of history.</a:t>
            </a:r>
          </a:p>
          <a:p>
            <a:pPr algn="l" marL="421380" indent="-210690" lvl="1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That's the exact opposite of what OLTP tables are tuned for: small, targeted lookups, not sweeping historical scans.</a:t>
            </a:r>
          </a:p>
          <a:p>
            <a:pPr algn="l" marL="421380" indent="-210690" lvl="1">
              <a:lnSpc>
                <a:spcPts val="3294"/>
              </a:lnSpc>
              <a:buFont typeface="Arial"/>
              <a:buChar char="•"/>
            </a:pPr>
            <a:r>
              <a:rPr lang="en-US" sz="23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warehouse pre-joins and reshapes the data ahead of time, so the heavy work happens once, off to the side — not live, every time someone asks a question.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51338" y="7402897"/>
            <a:ext cx="16353863" cy="1803540"/>
            <a:chOff x="0" y="0"/>
            <a:chExt cx="21805151" cy="2404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05137" cy="2404745"/>
            </a:xfrm>
            <a:custGeom>
              <a:avLst/>
              <a:gdLst/>
              <a:ahLst/>
              <a:cxnLst/>
              <a:rect r="r" b="b" t="t" l="l"/>
              <a:pathLst>
                <a:path h="2404745" w="21805137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21583142" y="0"/>
                  </a:lnTo>
                  <a:cubicBezTo>
                    <a:pt x="21705697" y="0"/>
                    <a:pt x="21805137" y="99441"/>
                    <a:pt x="21805137" y="221996"/>
                  </a:cubicBezTo>
                  <a:lnTo>
                    <a:pt x="21805137" y="2182749"/>
                  </a:lnTo>
                  <a:cubicBezTo>
                    <a:pt x="21805137" y="2305304"/>
                    <a:pt x="21705697" y="2404745"/>
                    <a:pt x="21583142" y="2404745"/>
                  </a:cubicBezTo>
                  <a:lnTo>
                    <a:pt x="221996" y="2404745"/>
                  </a:lnTo>
                  <a:cubicBezTo>
                    <a:pt x="99441" y="2404745"/>
                    <a:pt x="0" y="2305304"/>
                    <a:pt x="0" y="2182749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372676" y="7590882"/>
            <a:ext cx="15511196" cy="1441304"/>
            <a:chOff x="0" y="0"/>
            <a:chExt cx="20681594" cy="19217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81598" cy="1921741"/>
            </a:xfrm>
            <a:custGeom>
              <a:avLst/>
              <a:gdLst/>
              <a:ahLst/>
              <a:cxnLst/>
              <a:rect r="r" b="b" t="t" l="l"/>
              <a:pathLst>
                <a:path h="1921741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9696" r="0" b="-15969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76200"/>
              <a:ext cx="20681594" cy="199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4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Connects to 3.4: </a:t>
              </a: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the row-count prediction habit you built for a 2-table join gets much harder to hold in your head across 4+ joins and millions of rows — another reason the warehouse pre-shapes things for you.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44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89571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NCEPT 5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89374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766173"/>
            <a:ext cx="13040392" cy="1423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48"/>
              </a:lnSpc>
            </a:pPr>
            <a:r>
              <a:rPr lang="en-US" sz="44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The star schema — one fact, several dimensions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109205" y="4069163"/>
            <a:ext cx="38139" cy="1204900"/>
          </a:xfrm>
          <a:prstGeom prst="line">
            <a:avLst/>
          </a:prstGeom>
          <a:ln cap="rnd" w="19050">
            <a:solidFill>
              <a:srgbClr val="5E73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5471626" y="6059550"/>
            <a:ext cx="1822601" cy="38114"/>
          </a:xfrm>
          <a:prstGeom prst="line">
            <a:avLst/>
          </a:prstGeom>
          <a:ln cap="rnd" w="19050">
            <a:solidFill>
              <a:srgbClr val="5E737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962312" y="6059550"/>
            <a:ext cx="1822601" cy="38114"/>
          </a:xfrm>
          <a:prstGeom prst="line">
            <a:avLst/>
          </a:prstGeom>
          <a:ln cap="rnd" w="19050">
            <a:solidFill>
              <a:srgbClr val="5E73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275166" y="2921460"/>
            <a:ext cx="3706216" cy="1166774"/>
            <a:chOff x="0" y="0"/>
            <a:chExt cx="4941621" cy="15556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41570" cy="1555623"/>
            </a:xfrm>
            <a:custGeom>
              <a:avLst/>
              <a:gdLst/>
              <a:ahLst/>
              <a:cxnLst/>
              <a:rect r="r" b="b" t="t" l="l"/>
              <a:pathLst>
                <a:path h="1555623" w="494157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4758563" y="0"/>
                  </a:lnTo>
                  <a:cubicBezTo>
                    <a:pt x="4859655" y="0"/>
                    <a:pt x="4941570" y="81915"/>
                    <a:pt x="4941570" y="183007"/>
                  </a:cubicBezTo>
                  <a:lnTo>
                    <a:pt x="4941570" y="1372616"/>
                  </a:lnTo>
                  <a:cubicBezTo>
                    <a:pt x="4941570" y="1473708"/>
                    <a:pt x="4859655" y="1555623"/>
                    <a:pt x="4758563" y="1555623"/>
                  </a:cubicBezTo>
                  <a:lnTo>
                    <a:pt x="183007" y="1555623"/>
                  </a:lnTo>
                  <a:cubicBezTo>
                    <a:pt x="81915" y="1555750"/>
                    <a:pt x="0" y="1473708"/>
                    <a:pt x="0" y="1372616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275166" y="3058725"/>
            <a:ext cx="3706216" cy="549069"/>
            <a:chOff x="0" y="0"/>
            <a:chExt cx="4941621" cy="732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41620" cy="732092"/>
            </a:xfrm>
            <a:custGeom>
              <a:avLst/>
              <a:gdLst/>
              <a:ahLst/>
              <a:cxnLst/>
              <a:rect r="r" b="b" t="t" l="l"/>
              <a:pathLst>
                <a:path h="732092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1524" r="0" b="-8152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494162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dim_date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275166" y="3607794"/>
            <a:ext cx="3706216" cy="411804"/>
            <a:chOff x="0" y="0"/>
            <a:chExt cx="4941621" cy="549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41620" cy="549069"/>
            </a:xfrm>
            <a:custGeom>
              <a:avLst/>
              <a:gdLst/>
              <a:ahLst/>
              <a:cxnLst/>
              <a:rect r="r" b="b" t="t" l="l"/>
              <a:pathLst>
                <a:path h="549069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4941621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DCEDE9"/>
                  </a:solidFill>
                  <a:latin typeface="Poppins"/>
                  <a:ea typeface="Poppins"/>
                  <a:cs typeface="Poppins"/>
                  <a:sym typeface="Poppins"/>
                </a:rPr>
                <a:t>date, month, quarter, year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784471" y="5502088"/>
            <a:ext cx="3706216" cy="1166774"/>
            <a:chOff x="0" y="0"/>
            <a:chExt cx="4941621" cy="155569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41570" cy="1555623"/>
            </a:xfrm>
            <a:custGeom>
              <a:avLst/>
              <a:gdLst/>
              <a:ahLst/>
              <a:cxnLst/>
              <a:rect r="r" b="b" t="t" l="l"/>
              <a:pathLst>
                <a:path h="1555623" w="494157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4758563" y="0"/>
                  </a:lnTo>
                  <a:cubicBezTo>
                    <a:pt x="4859655" y="0"/>
                    <a:pt x="4941570" y="81915"/>
                    <a:pt x="4941570" y="183007"/>
                  </a:cubicBezTo>
                  <a:lnTo>
                    <a:pt x="4941570" y="1372616"/>
                  </a:lnTo>
                  <a:cubicBezTo>
                    <a:pt x="4941570" y="1473708"/>
                    <a:pt x="4859655" y="1555623"/>
                    <a:pt x="4758563" y="1555623"/>
                  </a:cubicBezTo>
                  <a:lnTo>
                    <a:pt x="183007" y="1555623"/>
                  </a:lnTo>
                  <a:cubicBezTo>
                    <a:pt x="81915" y="1555750"/>
                    <a:pt x="0" y="1473708"/>
                    <a:pt x="0" y="1372616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84471" y="5639352"/>
            <a:ext cx="3706216" cy="549069"/>
            <a:chOff x="0" y="0"/>
            <a:chExt cx="4941621" cy="7320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41620" cy="732092"/>
            </a:xfrm>
            <a:custGeom>
              <a:avLst/>
              <a:gdLst/>
              <a:ahLst/>
              <a:cxnLst/>
              <a:rect r="r" b="b" t="t" l="l"/>
              <a:pathLst>
                <a:path h="732092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1524" r="0" b="-8152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494162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dim_customer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784471" y="6188421"/>
            <a:ext cx="3706216" cy="411804"/>
            <a:chOff x="0" y="0"/>
            <a:chExt cx="4941621" cy="5490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41620" cy="549069"/>
            </a:xfrm>
            <a:custGeom>
              <a:avLst/>
              <a:gdLst/>
              <a:ahLst/>
              <a:cxnLst/>
              <a:rect r="r" b="b" t="t" l="l"/>
              <a:pathLst>
                <a:path h="549069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4941621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FBF1DA"/>
                  </a:solidFill>
                  <a:latin typeface="Poppins"/>
                  <a:ea typeface="Poppins"/>
                  <a:cs typeface="Poppins"/>
                  <a:sym typeface="Poppins"/>
                </a:rPr>
                <a:t>full_name, city, tier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765853" y="5502088"/>
            <a:ext cx="3706216" cy="1166774"/>
            <a:chOff x="0" y="0"/>
            <a:chExt cx="4941621" cy="15556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41570" cy="1555623"/>
            </a:xfrm>
            <a:custGeom>
              <a:avLst/>
              <a:gdLst/>
              <a:ahLst/>
              <a:cxnLst/>
              <a:rect r="r" b="b" t="t" l="l"/>
              <a:pathLst>
                <a:path h="1555623" w="4941570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4758563" y="0"/>
                  </a:lnTo>
                  <a:cubicBezTo>
                    <a:pt x="4859655" y="0"/>
                    <a:pt x="4941570" y="81915"/>
                    <a:pt x="4941570" y="183007"/>
                  </a:cubicBezTo>
                  <a:lnTo>
                    <a:pt x="4941570" y="1372616"/>
                  </a:lnTo>
                  <a:cubicBezTo>
                    <a:pt x="4941570" y="1473708"/>
                    <a:pt x="4859655" y="1555623"/>
                    <a:pt x="4758563" y="1555623"/>
                  </a:cubicBezTo>
                  <a:lnTo>
                    <a:pt x="183007" y="1555623"/>
                  </a:lnTo>
                  <a:cubicBezTo>
                    <a:pt x="81915" y="1555750"/>
                    <a:pt x="0" y="1473708"/>
                    <a:pt x="0" y="1372616"/>
                  </a:cubicBez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765853" y="5639352"/>
            <a:ext cx="3706216" cy="549069"/>
            <a:chOff x="0" y="0"/>
            <a:chExt cx="4941621" cy="73209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941620" cy="732092"/>
            </a:xfrm>
            <a:custGeom>
              <a:avLst/>
              <a:gdLst/>
              <a:ahLst/>
              <a:cxnLst/>
              <a:rect r="r" b="b" t="t" l="l"/>
              <a:pathLst>
                <a:path h="732092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1524" r="0" b="-8152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4941621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dim_product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765853" y="6188421"/>
            <a:ext cx="3706216" cy="411804"/>
            <a:chOff x="0" y="0"/>
            <a:chExt cx="4941621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41620" cy="549069"/>
            </a:xfrm>
            <a:custGeom>
              <a:avLst/>
              <a:gdLst/>
              <a:ahLst/>
              <a:cxnLst/>
              <a:rect r="r" b="b" t="t" l="l"/>
              <a:pathLst>
                <a:path h="549069" w="4941620">
                  <a:moveTo>
                    <a:pt x="0" y="0"/>
                  </a:moveTo>
                  <a:lnTo>
                    <a:pt x="4941620" y="0"/>
                  </a:lnTo>
                  <a:lnTo>
                    <a:pt x="494162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941621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DCEDE9"/>
                  </a:solidFill>
                  <a:latin typeface="Poppins"/>
                  <a:ea typeface="Poppins"/>
                  <a:cs typeface="Poppins"/>
                  <a:sym typeface="Poppins"/>
                </a:rPr>
                <a:t>product_name, category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050195" y="5235940"/>
            <a:ext cx="4156148" cy="1685334"/>
            <a:chOff x="0" y="0"/>
            <a:chExt cx="5541531" cy="224711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541518" cy="2247011"/>
            </a:xfrm>
            <a:custGeom>
              <a:avLst/>
              <a:gdLst/>
              <a:ahLst/>
              <a:cxnLst/>
              <a:rect r="r" b="b" t="t" l="l"/>
              <a:pathLst>
                <a:path h="2247011" w="5541518">
                  <a:moveTo>
                    <a:pt x="0" y="224663"/>
                  </a:moveTo>
                  <a:cubicBezTo>
                    <a:pt x="0" y="100584"/>
                    <a:pt x="100584" y="0"/>
                    <a:pt x="224663" y="0"/>
                  </a:cubicBezTo>
                  <a:lnTo>
                    <a:pt x="5316855" y="0"/>
                  </a:lnTo>
                  <a:cubicBezTo>
                    <a:pt x="5440934" y="0"/>
                    <a:pt x="5541518" y="100584"/>
                    <a:pt x="5541518" y="224663"/>
                  </a:cubicBezTo>
                  <a:lnTo>
                    <a:pt x="5541518" y="2022348"/>
                  </a:lnTo>
                  <a:cubicBezTo>
                    <a:pt x="5541518" y="2146427"/>
                    <a:pt x="5440934" y="2247011"/>
                    <a:pt x="5316855" y="2247011"/>
                  </a:cubicBezTo>
                  <a:lnTo>
                    <a:pt x="224663" y="2247011"/>
                  </a:lnTo>
                  <a:cubicBezTo>
                    <a:pt x="100584" y="2247138"/>
                    <a:pt x="0" y="2146554"/>
                    <a:pt x="0" y="2022348"/>
                  </a:cubicBezTo>
                  <a:close/>
                </a:path>
              </a:pathLst>
            </a:custGeom>
            <a:solidFill>
              <a:srgbClr val="1B4038"/>
            </a:solidFill>
            <a:ln w="38130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069264" y="5419725"/>
            <a:ext cx="4118019" cy="549069"/>
            <a:chOff x="0" y="0"/>
            <a:chExt cx="5490693" cy="7320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90690" cy="732092"/>
            </a:xfrm>
            <a:custGeom>
              <a:avLst/>
              <a:gdLst/>
              <a:ahLst/>
              <a:cxnLst/>
              <a:rect r="r" b="b" t="t" l="l"/>
              <a:pathLst>
                <a:path h="732092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49069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C6941C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fact_sales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69264" y="5968794"/>
            <a:ext cx="4118019" cy="411804"/>
            <a:chOff x="0" y="0"/>
            <a:chExt cx="5490693" cy="54907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490693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>
                  <a:solidFill>
                    <a:srgbClr val="E7F0EE"/>
                  </a:solidFill>
                  <a:latin typeface="Poppins"/>
                  <a:ea typeface="Poppins"/>
                  <a:cs typeface="Poppins"/>
                  <a:sym typeface="Poppins"/>
                </a:rPr>
                <a:t>quantity, line_total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069264" y="6380597"/>
            <a:ext cx="4118019" cy="411804"/>
            <a:chOff x="0" y="0"/>
            <a:chExt cx="5490693" cy="54907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90690" cy="549069"/>
            </a:xfrm>
            <a:custGeom>
              <a:avLst/>
              <a:gdLst/>
              <a:ahLst/>
              <a:cxnLst/>
              <a:rect r="r" b="b" t="t" l="l"/>
              <a:pathLst>
                <a:path h="549069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5490693" cy="577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 i="true">
                  <a:solidFill>
                    <a:srgbClr val="9FBDB6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grain: one line item sold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02092" y="7325880"/>
            <a:ext cx="16162201" cy="1345505"/>
            <a:chOff x="0" y="0"/>
            <a:chExt cx="21805151" cy="181528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805139" cy="1815383"/>
            </a:xfrm>
            <a:custGeom>
              <a:avLst/>
              <a:gdLst/>
              <a:ahLst/>
              <a:cxnLst/>
              <a:rect r="r" b="b" t="t" l="l"/>
              <a:pathLst>
                <a:path h="1815383" w="21805139">
                  <a:moveTo>
                    <a:pt x="0" y="113483"/>
                  </a:moveTo>
                  <a:cubicBezTo>
                    <a:pt x="0" y="50810"/>
                    <a:pt x="82677" y="0"/>
                    <a:pt x="184658" y="0"/>
                  </a:cubicBezTo>
                  <a:lnTo>
                    <a:pt x="21620480" y="0"/>
                  </a:lnTo>
                  <a:cubicBezTo>
                    <a:pt x="21722462" y="0"/>
                    <a:pt x="21805139" y="50810"/>
                    <a:pt x="21805139" y="113483"/>
                  </a:cubicBezTo>
                  <a:lnTo>
                    <a:pt x="21805139" y="1701861"/>
                  </a:lnTo>
                  <a:cubicBezTo>
                    <a:pt x="21805139" y="1764534"/>
                    <a:pt x="21722462" y="1815383"/>
                    <a:pt x="21620480" y="1815383"/>
                  </a:cubicBezTo>
                  <a:lnTo>
                    <a:pt x="184658" y="1815383"/>
                  </a:lnTo>
                  <a:cubicBezTo>
                    <a:pt x="82677" y="1815266"/>
                    <a:pt x="0" y="1764456"/>
                    <a:pt x="0" y="170186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1468503" y="7580416"/>
            <a:ext cx="15511196" cy="67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The gold-bordered box in the middle is the fact table — it sits at the centre and connects out to every dimension, like a star.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Each teal or gold dimension box describes one axis you might want to slice the facts by: when, who, what.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94071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NCEPT 6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869331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847850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Fact tables — the events, and the numbers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3049945"/>
            <a:ext cx="7824235" cy="499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fact table holds one row per measurable event — that's its grain, the same idea from 3.1, applied to an event instead of an entity.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It's mostly numbers (measures) you can SUM, AVG or COUNT — quantity, line_total — plus foreign keys pointing out to every dimension.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Fact tables are the biggest, fastest-growing tables in a warehouse — every sale adds a new row.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Rule of thumb: if a column is something you'd aggregate, it's probably a fact table column.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050103" y="3097561"/>
            <a:ext cx="8255098" cy="2215344"/>
            <a:chOff x="0" y="0"/>
            <a:chExt cx="11006798" cy="29537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06836" cy="2953766"/>
            </a:xfrm>
            <a:custGeom>
              <a:avLst/>
              <a:gdLst/>
              <a:ahLst/>
              <a:cxnLst/>
              <a:rect r="r" b="b" t="t" l="l"/>
              <a:pathLst>
                <a:path h="2953766" w="11006836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10896092" y="0"/>
                  </a:lnTo>
                  <a:cubicBezTo>
                    <a:pt x="10957306" y="0"/>
                    <a:pt x="11006836" y="49530"/>
                    <a:pt x="11006836" y="110744"/>
                  </a:cubicBezTo>
                  <a:lnTo>
                    <a:pt x="11006836" y="2843022"/>
                  </a:lnTo>
                  <a:cubicBezTo>
                    <a:pt x="11006836" y="2904236"/>
                    <a:pt x="10957306" y="2953766"/>
                    <a:pt x="10896092" y="2953766"/>
                  </a:cubicBezTo>
                  <a:lnTo>
                    <a:pt x="110744" y="2953766"/>
                  </a:lnTo>
                  <a:cubicBezTo>
                    <a:pt x="49530" y="2953766"/>
                    <a:pt x="0" y="2904236"/>
                    <a:pt x="0" y="284302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059637" y="3107095"/>
            <a:ext cx="8236039" cy="549069"/>
            <a:chOff x="0" y="0"/>
            <a:chExt cx="10981385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81436" cy="732155"/>
            </a:xfrm>
            <a:custGeom>
              <a:avLst/>
              <a:gdLst/>
              <a:ahLst/>
              <a:cxnLst/>
              <a:rect r="r" b="b" t="t" l="l"/>
              <a:pathLst>
                <a:path h="732155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24362" y="3107095"/>
            <a:ext cx="1098137" cy="549069"/>
            <a:chOff x="0" y="0"/>
            <a:chExt cx="1464183" cy="732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sale_key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597029" y="3107095"/>
            <a:ext cx="1098137" cy="549069"/>
            <a:chOff x="0" y="0"/>
            <a:chExt cx="1464183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date_key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69706" y="3107095"/>
            <a:ext cx="1098137" cy="549069"/>
            <a:chOff x="0" y="0"/>
            <a:chExt cx="1464183" cy="7320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cust_key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42372" y="3107095"/>
            <a:ext cx="1098137" cy="549069"/>
            <a:chOff x="0" y="0"/>
            <a:chExt cx="1464183" cy="7320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prod_key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715049" y="3107095"/>
            <a:ext cx="1098137" cy="549069"/>
            <a:chOff x="0" y="0"/>
            <a:chExt cx="1464183" cy="7320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qty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087725" y="3107095"/>
            <a:ext cx="1098137" cy="549069"/>
            <a:chOff x="0" y="0"/>
            <a:chExt cx="1464183" cy="732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total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224362" y="3656164"/>
            <a:ext cx="1098137" cy="549069"/>
            <a:chOff x="0" y="0"/>
            <a:chExt cx="1464183" cy="7320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597029" y="3656164"/>
            <a:ext cx="1098137" cy="549069"/>
            <a:chOff x="0" y="0"/>
            <a:chExt cx="1464183" cy="7320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969706" y="3656164"/>
            <a:ext cx="1098137" cy="549069"/>
            <a:chOff x="0" y="0"/>
            <a:chExt cx="1464183" cy="7320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42372" y="3656164"/>
            <a:ext cx="1098137" cy="549069"/>
            <a:chOff x="0" y="0"/>
            <a:chExt cx="1464183" cy="7320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P1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715049" y="3656164"/>
            <a:ext cx="1098137" cy="549069"/>
            <a:chOff x="0" y="0"/>
            <a:chExt cx="1464183" cy="7320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6087725" y="3656164"/>
            <a:ext cx="1098137" cy="549069"/>
            <a:chOff x="0" y="0"/>
            <a:chExt cx="1464183" cy="7320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16000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059637" y="4205233"/>
            <a:ext cx="8236039" cy="549069"/>
            <a:chOff x="0" y="0"/>
            <a:chExt cx="10981385" cy="7320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81436" cy="732155"/>
            </a:xfrm>
            <a:custGeom>
              <a:avLst/>
              <a:gdLst/>
              <a:ahLst/>
              <a:cxnLst/>
              <a:rect r="r" b="b" t="t" l="l"/>
              <a:pathLst>
                <a:path h="732155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224362" y="4205233"/>
            <a:ext cx="1098137" cy="549069"/>
            <a:chOff x="0" y="0"/>
            <a:chExt cx="1464183" cy="7320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F2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597029" y="4205233"/>
            <a:ext cx="1098137" cy="549069"/>
            <a:chOff x="0" y="0"/>
            <a:chExt cx="1464183" cy="73209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D1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969706" y="4205233"/>
            <a:ext cx="1098137" cy="549069"/>
            <a:chOff x="0" y="0"/>
            <a:chExt cx="1464183" cy="7320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103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342372" y="4205233"/>
            <a:ext cx="1098137" cy="549069"/>
            <a:chOff x="0" y="0"/>
            <a:chExt cx="1464183" cy="7320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P2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715049" y="4205233"/>
            <a:ext cx="1098137" cy="549069"/>
            <a:chOff x="0" y="0"/>
            <a:chExt cx="1464183" cy="7320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6087725" y="4205233"/>
            <a:ext cx="1098137" cy="549069"/>
            <a:chOff x="0" y="0"/>
            <a:chExt cx="1464183" cy="7320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25000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224362" y="4754301"/>
            <a:ext cx="1098137" cy="549069"/>
            <a:chOff x="0" y="0"/>
            <a:chExt cx="1464183" cy="73209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F3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597029" y="4754301"/>
            <a:ext cx="1098137" cy="549069"/>
            <a:chOff x="0" y="0"/>
            <a:chExt cx="1464183" cy="73209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D2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969706" y="4754301"/>
            <a:ext cx="1098137" cy="549069"/>
            <a:chOff x="0" y="0"/>
            <a:chExt cx="1464183" cy="7320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106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342372" y="4754301"/>
            <a:ext cx="1098137" cy="549069"/>
            <a:chOff x="0" y="0"/>
            <a:chExt cx="1464183" cy="73209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P3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4715049" y="4754301"/>
            <a:ext cx="1098137" cy="549069"/>
            <a:chOff x="0" y="0"/>
            <a:chExt cx="1464183" cy="73209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5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6087725" y="4754301"/>
            <a:ext cx="1098137" cy="549069"/>
            <a:chOff x="0" y="0"/>
            <a:chExt cx="1464183" cy="73209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64184" cy="732092"/>
            </a:xfrm>
            <a:custGeom>
              <a:avLst/>
              <a:gdLst/>
              <a:ahLst/>
              <a:cxnLst/>
              <a:rect r="r" b="b" t="t" l="l"/>
              <a:pathLst>
                <a:path h="732092" w="1464184">
                  <a:moveTo>
                    <a:pt x="0" y="0"/>
                  </a:moveTo>
                  <a:lnTo>
                    <a:pt x="1464184" y="0"/>
                  </a:lnTo>
                  <a:lnTo>
                    <a:pt x="14641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1464183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7500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059637" y="5440635"/>
            <a:ext cx="8236039" cy="686333"/>
            <a:chOff x="0" y="0"/>
            <a:chExt cx="10981385" cy="915111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81379" cy="915115"/>
            </a:xfrm>
            <a:custGeom>
              <a:avLst/>
              <a:gdLst/>
              <a:ahLst/>
              <a:cxnLst/>
              <a:rect r="r" b="b" t="t" l="l"/>
              <a:pathLst>
                <a:path h="915115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10981385" cy="962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7"/>
                </a:lnSpc>
              </a:pPr>
              <a:r>
                <a:rPr lang="en-US" sz="1651" i="true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Grain: one row = one line item sold. Every column is either a foreign key or a measure — nothing else.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050103" y="6254708"/>
            <a:ext cx="8255098" cy="3656647"/>
            <a:chOff x="0" y="0"/>
            <a:chExt cx="11006798" cy="487553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006836" cy="4875530"/>
            </a:xfrm>
            <a:custGeom>
              <a:avLst/>
              <a:gdLst/>
              <a:ahLst/>
              <a:cxnLst/>
              <a:rect r="r" b="b" t="t" l="l"/>
              <a:pathLst>
                <a:path h="4875530" w="11006836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0822813" y="0"/>
                  </a:lnTo>
                  <a:cubicBezTo>
                    <a:pt x="10924413" y="0"/>
                    <a:pt x="11006836" y="82423"/>
                    <a:pt x="11006836" y="184023"/>
                  </a:cubicBezTo>
                  <a:lnTo>
                    <a:pt x="11006836" y="4691507"/>
                  </a:lnTo>
                  <a:cubicBezTo>
                    <a:pt x="11006836" y="4793107"/>
                    <a:pt x="10924413" y="4875530"/>
                    <a:pt x="10822813" y="4875530"/>
                  </a:cubicBezTo>
                  <a:lnTo>
                    <a:pt x="184023" y="4875530"/>
                  </a:lnTo>
                  <a:cubicBezTo>
                    <a:pt x="82423" y="4875530"/>
                    <a:pt x="0" y="4793107"/>
                    <a:pt x="0" y="4691507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9402804" y="6470135"/>
            <a:ext cx="7549696" cy="411804"/>
            <a:chOff x="0" y="0"/>
            <a:chExt cx="10066261" cy="54907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066265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9050"/>
              <a:ext cx="10066261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Spotting a fact table</a:t>
              </a:r>
            </a:p>
          </p:txBody>
        </p:sp>
      </p:grpSp>
      <p:sp>
        <p:nvSpPr>
          <p:cNvPr name="TextBox 99" id="99"/>
          <p:cNvSpPr txBox="true"/>
          <p:nvPr/>
        </p:nvSpPr>
        <p:spPr>
          <a:xfrm rot="0">
            <a:off x="9402804" y="6902951"/>
            <a:ext cx="7549696" cy="286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Lots of numeric columns you'd want to add up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Several _key or _id columns pointing to other tables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One of the biggest, longest tables in the schema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Name often starts with fact_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3754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NCEPT 7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60120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99706" y="1791866"/>
            <a:ext cx="15536951" cy="74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Dimension tables — the who, what, when and where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2777890"/>
            <a:ext cx="7824235" cy="4998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dimension table describes something the fact table references — a customer, a product, a date.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Mostly text and descriptive attributes: full_name, city, category — the columns you'd GROUP BY, not SUM.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Far smaller and slower-growing than the fact table — Eko Traders adds customers occasionally; it logs sales constantly.</a:t>
            </a:r>
          </a:p>
          <a:p>
            <a:pPr algn="l" marL="353452" indent="-176726" lvl="1">
              <a:lnSpc>
                <a:spcPts val="2763"/>
              </a:lnSpc>
              <a:buFont typeface="Arial"/>
              <a:buChar char="•"/>
            </a:pPr>
            <a:r>
              <a:rPr lang="en-US" sz="195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Rule of thumb: if a column is something you'd group or filter by, it's probably a dimension table column.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050103" y="2825506"/>
            <a:ext cx="8255098" cy="2215344"/>
            <a:chOff x="0" y="0"/>
            <a:chExt cx="11006798" cy="29537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06836" cy="2953766"/>
            </a:xfrm>
            <a:custGeom>
              <a:avLst/>
              <a:gdLst/>
              <a:ahLst/>
              <a:cxnLst/>
              <a:rect r="r" b="b" t="t" l="l"/>
              <a:pathLst>
                <a:path h="2953766" w="11006836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10896092" y="0"/>
                  </a:lnTo>
                  <a:cubicBezTo>
                    <a:pt x="10957306" y="0"/>
                    <a:pt x="11006836" y="49530"/>
                    <a:pt x="11006836" y="110744"/>
                  </a:cubicBezTo>
                  <a:lnTo>
                    <a:pt x="11006836" y="2843022"/>
                  </a:lnTo>
                  <a:cubicBezTo>
                    <a:pt x="11006836" y="2904236"/>
                    <a:pt x="10957306" y="2953766"/>
                    <a:pt x="10896092" y="2953766"/>
                  </a:cubicBezTo>
                  <a:lnTo>
                    <a:pt x="110744" y="2953766"/>
                  </a:lnTo>
                  <a:cubicBezTo>
                    <a:pt x="49530" y="2953766"/>
                    <a:pt x="0" y="2904236"/>
                    <a:pt x="0" y="284302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059637" y="2835040"/>
            <a:ext cx="8236039" cy="549069"/>
            <a:chOff x="0" y="0"/>
            <a:chExt cx="10981385" cy="7320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81436" cy="732155"/>
            </a:xfrm>
            <a:custGeom>
              <a:avLst/>
              <a:gdLst/>
              <a:ahLst/>
              <a:cxnLst/>
              <a:rect r="r" b="b" t="t" l="l"/>
              <a:pathLst>
                <a:path h="732155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24362" y="2835040"/>
            <a:ext cx="2470814" cy="549069"/>
            <a:chOff x="0" y="0"/>
            <a:chExt cx="3294418" cy="732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product_key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69706" y="2835040"/>
            <a:ext cx="2470814" cy="549069"/>
            <a:chOff x="0" y="0"/>
            <a:chExt cx="3294418" cy="7320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product_name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715049" y="2835040"/>
            <a:ext cx="2470814" cy="549069"/>
            <a:chOff x="0" y="0"/>
            <a:chExt cx="3294418" cy="7320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category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224362" y="3384109"/>
            <a:ext cx="2470814" cy="549069"/>
            <a:chOff x="0" y="0"/>
            <a:chExt cx="3294418" cy="7320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69706" y="3384109"/>
            <a:ext cx="2470814" cy="549069"/>
            <a:chOff x="0" y="0"/>
            <a:chExt cx="3294418" cy="7320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Rice Bag 5kg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715049" y="3384109"/>
            <a:ext cx="2470814" cy="549069"/>
            <a:chOff x="0" y="0"/>
            <a:chExt cx="3294418" cy="732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Groceries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59637" y="3933177"/>
            <a:ext cx="8236039" cy="549069"/>
            <a:chOff x="0" y="0"/>
            <a:chExt cx="10981385" cy="7320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81436" cy="732155"/>
            </a:xfrm>
            <a:custGeom>
              <a:avLst/>
              <a:gdLst/>
              <a:ahLst/>
              <a:cxnLst/>
              <a:rect r="r" b="b" t="t" l="l"/>
              <a:pathLst>
                <a:path h="732155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732155"/>
                  </a:lnTo>
                  <a:lnTo>
                    <a:pt x="0" y="732155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224362" y="3933177"/>
            <a:ext cx="2470814" cy="549069"/>
            <a:chOff x="0" y="0"/>
            <a:chExt cx="3294418" cy="7320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P2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969706" y="3933177"/>
            <a:ext cx="2470814" cy="549069"/>
            <a:chOff x="0" y="0"/>
            <a:chExt cx="3294418" cy="7320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Bluetooth Speaker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715049" y="3933177"/>
            <a:ext cx="2470814" cy="549069"/>
            <a:chOff x="0" y="0"/>
            <a:chExt cx="3294418" cy="7320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Electronics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224362" y="4482246"/>
            <a:ext cx="2470814" cy="549069"/>
            <a:chOff x="0" y="0"/>
            <a:chExt cx="3294418" cy="7320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969706" y="4482246"/>
            <a:ext cx="2470814" cy="549069"/>
            <a:chOff x="0" y="0"/>
            <a:chExt cx="3294418" cy="7320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Biscuit Pack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715049" y="4482246"/>
            <a:ext cx="2470814" cy="549069"/>
            <a:chOff x="0" y="0"/>
            <a:chExt cx="3294418" cy="7320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94414" cy="732092"/>
            </a:xfrm>
            <a:custGeom>
              <a:avLst/>
              <a:gdLst/>
              <a:ahLst/>
              <a:cxnLst/>
              <a:rect r="r" b="b" t="t" l="l"/>
              <a:pathLst>
                <a:path h="732092" w="3294414">
                  <a:moveTo>
                    <a:pt x="0" y="0"/>
                  </a:moveTo>
                  <a:lnTo>
                    <a:pt x="3294414" y="0"/>
                  </a:lnTo>
                  <a:lnTo>
                    <a:pt x="329441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329441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Snacks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059637" y="5168579"/>
            <a:ext cx="8236039" cy="480431"/>
            <a:chOff x="0" y="0"/>
            <a:chExt cx="10981385" cy="6405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81379" cy="640580"/>
            </a:xfrm>
            <a:custGeom>
              <a:avLst/>
              <a:gdLst/>
              <a:ahLst/>
              <a:cxnLst/>
              <a:rect r="r" b="b" t="t" l="l"/>
              <a:pathLst>
                <a:path h="640580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84029" r="0" b="-28402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10981385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1"/>
                </a:lnSpc>
              </a:pPr>
              <a:r>
                <a:rPr lang="en-US" sz="1651" i="true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dim_product — one row per product, describing it, never a measure to sum.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050103" y="5776751"/>
            <a:ext cx="8255098" cy="3862549"/>
            <a:chOff x="0" y="0"/>
            <a:chExt cx="11006798" cy="515006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006836" cy="5150104"/>
            </a:xfrm>
            <a:custGeom>
              <a:avLst/>
              <a:gdLst/>
              <a:ahLst/>
              <a:cxnLst/>
              <a:rect r="r" b="b" t="t" l="l"/>
              <a:pathLst>
                <a:path h="5150104" w="11006836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0822940" y="0"/>
                  </a:lnTo>
                  <a:cubicBezTo>
                    <a:pt x="10924540" y="0"/>
                    <a:pt x="11006836" y="82296"/>
                    <a:pt x="11006836" y="183896"/>
                  </a:cubicBezTo>
                  <a:lnTo>
                    <a:pt x="11006836" y="4966208"/>
                  </a:lnTo>
                  <a:cubicBezTo>
                    <a:pt x="11006836" y="5067808"/>
                    <a:pt x="10924540" y="5150104"/>
                    <a:pt x="10822940" y="5150104"/>
                  </a:cubicBezTo>
                  <a:lnTo>
                    <a:pt x="183896" y="5150104"/>
                  </a:lnTo>
                  <a:cubicBezTo>
                    <a:pt x="82296" y="5150104"/>
                    <a:pt x="0" y="5067808"/>
                    <a:pt x="0" y="4966208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402804" y="5992178"/>
            <a:ext cx="7549696" cy="411804"/>
            <a:chOff x="0" y="0"/>
            <a:chExt cx="10066261" cy="5490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066265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5">
                  <a:moveTo>
                    <a:pt x="0" y="0"/>
                  </a:moveTo>
                  <a:lnTo>
                    <a:pt x="10066265" y="0"/>
                  </a:lnTo>
                  <a:lnTo>
                    <a:pt x="10066265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0066261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Spotting a dimension table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402804" y="6424994"/>
            <a:ext cx="7549696" cy="3067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Mostly text: names, categories, cities, tiers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One clear primary key, few or no foreign keys out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Small and fairly stable — doesn't grow with every sale</a:t>
            </a:r>
          </a:p>
          <a:p>
            <a:pPr algn="l" marL="312670" indent="-156335" lvl="1">
              <a:lnSpc>
                <a:spcPts val="2444"/>
              </a:lnSpc>
              <a:buFont typeface="Arial"/>
              <a:buChar char="•"/>
            </a:pPr>
            <a:r>
              <a:rPr lang="en-US" sz="172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Name often starts with dim_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9143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NCEPT 8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5059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751748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Where the warehouse tables come from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2703090"/>
            <a:ext cx="16334804" cy="549069"/>
            <a:chOff x="0" y="0"/>
            <a:chExt cx="21779738" cy="732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79736" cy="732092"/>
            </a:xfrm>
            <a:custGeom>
              <a:avLst/>
              <a:gdLst/>
              <a:ahLst/>
              <a:cxnLst/>
              <a:rect r="r" b="b" t="t" l="l"/>
              <a:pathLst>
                <a:path h="732092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1779738" cy="7511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Nothing here is brand new data — it's Eko Traders' own OLTP tables, reshaped for analysis.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51338" y="3448526"/>
            <a:ext cx="16353863" cy="3615471"/>
            <a:chOff x="0" y="0"/>
            <a:chExt cx="21805151" cy="48206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05137" cy="4820539"/>
            </a:xfrm>
            <a:custGeom>
              <a:avLst/>
              <a:gdLst/>
              <a:ahLst/>
              <a:cxnLst/>
              <a:rect r="r" b="b" t="t" l="l"/>
              <a:pathLst>
                <a:path h="4820539" w="21805137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21694775" y="0"/>
                  </a:lnTo>
                  <a:cubicBezTo>
                    <a:pt x="21755736" y="0"/>
                    <a:pt x="21805137" y="49403"/>
                    <a:pt x="21805137" y="110363"/>
                  </a:cubicBezTo>
                  <a:lnTo>
                    <a:pt x="21805137" y="4710176"/>
                  </a:lnTo>
                  <a:cubicBezTo>
                    <a:pt x="21805137" y="4771136"/>
                    <a:pt x="21755736" y="4820539"/>
                    <a:pt x="21694775" y="4820539"/>
                  </a:cubicBezTo>
                  <a:lnTo>
                    <a:pt x="110363" y="4820539"/>
                  </a:lnTo>
                  <a:cubicBezTo>
                    <a:pt x="49403" y="4820539"/>
                    <a:pt x="0" y="4771136"/>
                    <a:pt x="0" y="471017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60872" y="3458061"/>
            <a:ext cx="16334804" cy="576520"/>
            <a:chOff x="0" y="0"/>
            <a:chExt cx="21779738" cy="76869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79737" cy="768731"/>
            </a:xfrm>
            <a:custGeom>
              <a:avLst/>
              <a:gdLst/>
              <a:ahLst/>
              <a:cxnLst/>
              <a:rect r="r" b="b" t="t" l="l"/>
              <a:pathLst>
                <a:path h="768731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25588" y="3458061"/>
            <a:ext cx="3809162" cy="576520"/>
            <a:chOff x="0" y="0"/>
            <a:chExt cx="5078882" cy="7686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78888" cy="768697"/>
            </a:xfrm>
            <a:custGeom>
              <a:avLst/>
              <a:gdLst/>
              <a:ahLst/>
              <a:cxnLst/>
              <a:rect r="r" b="b" t="t" l="l"/>
              <a:pathLst>
                <a:path h="768697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8740" r="0" b="-787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5078882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OLTP table (3.1–3.4)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09289" y="3458061"/>
            <a:ext cx="3809162" cy="576520"/>
            <a:chOff x="0" y="0"/>
            <a:chExt cx="5078882" cy="768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078888" cy="768697"/>
            </a:xfrm>
            <a:custGeom>
              <a:avLst/>
              <a:gdLst/>
              <a:ahLst/>
              <a:cxnLst/>
              <a:rect r="r" b="b" t="t" l="l"/>
              <a:pathLst>
                <a:path h="768697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8740" r="0" b="-7874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078882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92990" y="3458061"/>
            <a:ext cx="3809162" cy="576520"/>
            <a:chOff x="0" y="0"/>
            <a:chExt cx="5078882" cy="7686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78888" cy="768697"/>
            </a:xfrm>
            <a:custGeom>
              <a:avLst/>
              <a:gdLst/>
              <a:ahLst/>
              <a:cxnLst/>
              <a:rect r="r" b="b" t="t" l="l"/>
              <a:pathLst>
                <a:path h="768697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8740" r="0" b="-7874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5078882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Warehouse table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3376691" y="3458061"/>
            <a:ext cx="3809162" cy="576520"/>
            <a:chOff x="0" y="0"/>
            <a:chExt cx="5078882" cy="76869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78888" cy="768697"/>
            </a:xfrm>
            <a:custGeom>
              <a:avLst/>
              <a:gdLst/>
              <a:ahLst/>
              <a:cxnLst/>
              <a:rect r="r" b="b" t="t" l="l"/>
              <a:pathLst>
                <a:path h="768697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8740" r="0" b="-787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078882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Becomes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25588" y="4034580"/>
            <a:ext cx="3809162" cy="754971"/>
            <a:chOff x="0" y="0"/>
            <a:chExt cx="5078882" cy="10066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customers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209289" y="4034580"/>
            <a:ext cx="3809162" cy="754971"/>
            <a:chOff x="0" y="0"/>
            <a:chExt cx="5078882" cy="10066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→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292990" y="4034580"/>
            <a:ext cx="3809162" cy="754971"/>
            <a:chOff x="0" y="0"/>
            <a:chExt cx="5078882" cy="100662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dim_customer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376691" y="4034580"/>
            <a:ext cx="3809162" cy="754971"/>
            <a:chOff x="0" y="0"/>
            <a:chExt cx="5078882" cy="10066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 dimension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872" y="4789551"/>
            <a:ext cx="16334804" cy="754971"/>
            <a:chOff x="0" y="0"/>
            <a:chExt cx="21779738" cy="100662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779737" cy="1006602"/>
            </a:xfrm>
            <a:custGeom>
              <a:avLst/>
              <a:gdLst/>
              <a:ahLst/>
              <a:cxnLst/>
              <a:rect r="r" b="b" t="t" l="l"/>
              <a:pathLst>
                <a:path h="1006602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25588" y="4789551"/>
            <a:ext cx="3809162" cy="754971"/>
            <a:chOff x="0" y="0"/>
            <a:chExt cx="5078882" cy="100662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products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5209289" y="4789551"/>
            <a:ext cx="3809162" cy="754971"/>
            <a:chOff x="0" y="0"/>
            <a:chExt cx="5078882" cy="100662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→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292990" y="4789551"/>
            <a:ext cx="3809162" cy="754971"/>
            <a:chOff x="0" y="0"/>
            <a:chExt cx="5078882" cy="10066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dim_product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376691" y="4789551"/>
            <a:ext cx="3809162" cy="754971"/>
            <a:chOff x="0" y="0"/>
            <a:chExt cx="5078882" cy="100662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 dimension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25588" y="5544522"/>
            <a:ext cx="3809162" cy="754971"/>
            <a:chOff x="0" y="0"/>
            <a:chExt cx="5078882" cy="100662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order dates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209289" y="5544522"/>
            <a:ext cx="3809162" cy="754971"/>
            <a:chOff x="0" y="0"/>
            <a:chExt cx="5078882" cy="1006627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→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292990" y="5544522"/>
            <a:ext cx="3809162" cy="754971"/>
            <a:chOff x="0" y="0"/>
            <a:chExt cx="5078882" cy="100662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dim_date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376691" y="5544522"/>
            <a:ext cx="3809162" cy="754971"/>
            <a:chOff x="0" y="0"/>
            <a:chExt cx="5078882" cy="100662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a new dimension, built for this purpose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0872" y="6299492"/>
            <a:ext cx="16334804" cy="754971"/>
            <a:chOff x="0" y="0"/>
            <a:chExt cx="21779738" cy="100662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779737" cy="1006602"/>
            </a:xfrm>
            <a:custGeom>
              <a:avLst/>
              <a:gdLst/>
              <a:ahLst/>
              <a:cxnLst/>
              <a:rect r="r" b="b" t="t" l="l"/>
              <a:pathLst>
                <a:path h="1006602" w="21779737">
                  <a:moveTo>
                    <a:pt x="0" y="0"/>
                  </a:moveTo>
                  <a:lnTo>
                    <a:pt x="21779737" y="0"/>
                  </a:lnTo>
                  <a:lnTo>
                    <a:pt x="21779737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25588" y="6299492"/>
            <a:ext cx="3809162" cy="754971"/>
            <a:chOff x="0" y="0"/>
            <a:chExt cx="5078882" cy="100662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order_items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209289" y="6299492"/>
            <a:ext cx="3809162" cy="754971"/>
            <a:chOff x="0" y="0"/>
            <a:chExt cx="5078882" cy="100662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→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292990" y="6299492"/>
            <a:ext cx="3809162" cy="754971"/>
            <a:chOff x="0" y="0"/>
            <a:chExt cx="5078882" cy="100662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fact_sales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376691" y="6299492"/>
            <a:ext cx="3809162" cy="754971"/>
            <a:chOff x="0" y="0"/>
            <a:chExt cx="5078882" cy="100662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078888" cy="1006626"/>
            </a:xfrm>
            <a:custGeom>
              <a:avLst/>
              <a:gdLst/>
              <a:ahLst/>
              <a:cxnLst/>
              <a:rect r="r" b="b" t="t" l="l"/>
              <a:pathLst>
                <a:path h="1006626" w="5078888">
                  <a:moveTo>
                    <a:pt x="0" y="0"/>
                  </a:moveTo>
                  <a:lnTo>
                    <a:pt x="5078888" y="0"/>
                  </a:lnTo>
                  <a:lnTo>
                    <a:pt x="507888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8310" r="0" b="-4831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078882" cy="1025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the fact table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60872" y="7027012"/>
            <a:ext cx="16334804" cy="2196274"/>
            <a:chOff x="0" y="0"/>
            <a:chExt cx="21779738" cy="292836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1779739" cy="2928366"/>
            </a:xfrm>
            <a:custGeom>
              <a:avLst/>
              <a:gdLst/>
              <a:ahLst/>
              <a:cxnLst/>
              <a:rect r="r" b="b" t="t" l="l"/>
              <a:pathLst>
                <a:path h="2928366" w="21779739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21560155" y="0"/>
                  </a:lnTo>
                  <a:cubicBezTo>
                    <a:pt x="21681441" y="0"/>
                    <a:pt x="21779739" y="98298"/>
                    <a:pt x="21779739" y="219583"/>
                  </a:cubicBezTo>
                  <a:lnTo>
                    <a:pt x="21779739" y="2708783"/>
                  </a:lnTo>
                  <a:cubicBezTo>
                    <a:pt x="21779739" y="2830068"/>
                    <a:pt x="21681441" y="2928366"/>
                    <a:pt x="21560155" y="2928366"/>
                  </a:cubicBezTo>
                  <a:lnTo>
                    <a:pt x="219583" y="2928366"/>
                  </a:lnTo>
                  <a:cubicBezTo>
                    <a:pt x="98298" y="2928366"/>
                    <a:pt x="0" y="2830068"/>
                    <a:pt x="0" y="2708783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372676" y="7232914"/>
            <a:ext cx="15511196" cy="411804"/>
            <a:chOff x="0" y="0"/>
            <a:chExt cx="20681594" cy="54907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0681598" cy="549069"/>
            </a:xfrm>
            <a:custGeom>
              <a:avLst/>
              <a:gdLst/>
              <a:ahLst/>
              <a:cxnLst/>
              <a:rect r="r" b="b" t="t" l="l"/>
              <a:pathLst>
                <a:path h="549069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83936" r="0" b="-68393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20681594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Why order_items, not orders?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72676" y="7685894"/>
            <a:ext cx="15511196" cy="1372676"/>
            <a:chOff x="0" y="0"/>
            <a:chExt cx="20681594" cy="183023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681598" cy="1830230"/>
            </a:xfrm>
            <a:custGeom>
              <a:avLst/>
              <a:gdLst/>
              <a:ahLst/>
              <a:cxnLst/>
              <a:rect r="r" b="b" t="t" l="l"/>
              <a:pathLst>
                <a:path h="1830230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70180" r="0" b="-17018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76200"/>
              <a:ext cx="20681594" cy="1906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4"/>
                </a:lnSpc>
              </a:pPr>
              <a:r>
                <a:rPr lang="en-US" sz="1876" i="true">
                  <a:solidFill>
                    <a:srgbClr val="E7F0EE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An order can contain several products — order_items already has the right grain: one row per product sold, which is exactly what fact_sales needs. orders alone is one row too coarse.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5090888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NCEPT 9 OF 9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8690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895475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Querying a star schema: nothing new to learn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2" y="3679227"/>
            <a:ext cx="16334804" cy="1958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98752" indent="-199376" lvl="1">
              <a:lnSpc>
                <a:spcPts val="3117"/>
              </a:lnSpc>
              <a:buFont typeface="Arial"/>
              <a:buChar char="•"/>
            </a:pPr>
            <a:r>
              <a:rPr lang="en-US" sz="22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A star schema query is still SELECT, JOIN, WHERE, GROUP BY, ORDER BY — every clause from 3.2–3.4, in the same fixed order.</a:t>
            </a:r>
          </a:p>
          <a:p>
            <a:pPr algn="l" marL="398752" indent="-199376" lvl="1">
              <a:lnSpc>
                <a:spcPts val="3117"/>
              </a:lnSpc>
              <a:buFont typeface="Arial"/>
              <a:buChar char="•"/>
            </a:pPr>
            <a:r>
              <a:rPr lang="en-US" sz="22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The only difference: you JOIN the fact table to whichever dimensions hold the columns you need, then GROUP BY the dimension's descriptive columns.</a:t>
            </a:r>
          </a:p>
          <a:p>
            <a:pPr algn="l" marL="398752" indent="-199376" lvl="1">
              <a:lnSpc>
                <a:spcPts val="3117"/>
              </a:lnSpc>
              <a:buFont typeface="Arial"/>
              <a:buChar char="•"/>
            </a:pPr>
            <a:r>
              <a:rPr lang="en-US" sz="2201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Row-count prediction still applies — you're still joining tables, just fact-to-dimension instead of parent-to-child.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60872" y="6634820"/>
            <a:ext cx="16334804" cy="2813980"/>
            <a:chOff x="0" y="0"/>
            <a:chExt cx="21779738" cy="37519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79739" cy="3751961"/>
            </a:xfrm>
            <a:custGeom>
              <a:avLst/>
              <a:gdLst/>
              <a:ahLst/>
              <a:cxnLst/>
              <a:rect r="r" b="b" t="t" l="l"/>
              <a:pathLst>
                <a:path h="3751961" w="21779739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1615019" y="0"/>
                  </a:lnTo>
                  <a:cubicBezTo>
                    <a:pt x="21705951" y="0"/>
                    <a:pt x="21779739" y="73787"/>
                    <a:pt x="21779739" y="164719"/>
                  </a:cubicBezTo>
                  <a:lnTo>
                    <a:pt x="21779739" y="3587242"/>
                  </a:lnTo>
                  <a:cubicBezTo>
                    <a:pt x="21779739" y="3678174"/>
                    <a:pt x="21705951" y="3751961"/>
                    <a:pt x="21615019" y="3751961"/>
                  </a:cubicBezTo>
                  <a:lnTo>
                    <a:pt x="164719" y="3751961"/>
                  </a:lnTo>
                  <a:cubicBezTo>
                    <a:pt x="73787" y="3751961"/>
                    <a:pt x="0" y="3678174"/>
                    <a:pt x="0" y="3587242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45216" y="6823624"/>
            <a:ext cx="15566107" cy="2350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20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p.category, </a:t>
            </a:r>
            <a:r>
              <a:rPr lang="en-US" sz="20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SUM</a:t>
            </a:r>
            <a:r>
              <a:rPr lang="en-US" sz="20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(f.line_total) </a:t>
            </a:r>
            <a:r>
              <a:rPr lang="en-US" sz="20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AS</a:t>
            </a:r>
            <a:r>
              <a:rPr lang="en-US" sz="20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revenue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20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fact_sales f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JOIN</a:t>
            </a:r>
            <a:r>
              <a:rPr lang="en-US" sz="20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dim_product p </a:t>
            </a:r>
            <a:r>
              <a:rPr lang="en-US" sz="20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20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f.product_key = p.product_key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GROUP BY</a:t>
            </a:r>
            <a:r>
              <a:rPr lang="en-US" sz="20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p.category</a:t>
            </a:r>
          </a:p>
          <a:p>
            <a:pPr algn="l">
              <a:lnSpc>
                <a:spcPts val="3283"/>
              </a:lnSpc>
            </a:pPr>
            <a:r>
              <a:rPr lang="en-US" sz="20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ORDER BY</a:t>
            </a:r>
            <a:r>
              <a:rPr lang="en-US" sz="20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revenue </a:t>
            </a:r>
            <a:r>
              <a:rPr lang="en-US" sz="202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DESC</a:t>
            </a:r>
            <a:r>
              <a:rPr lang="en-US" sz="202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87368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 · PART 1 OF 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28687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702689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Reading the schema before querying it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703090"/>
            <a:ext cx="16353863" cy="1323108"/>
            <a:chOff x="0" y="0"/>
            <a:chExt cx="21805151" cy="1764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1764157"/>
            </a:xfrm>
            <a:custGeom>
              <a:avLst/>
              <a:gdLst/>
              <a:ahLst/>
              <a:cxnLst/>
              <a:rect r="r" b="b" t="t" l="l"/>
              <a:pathLst>
                <a:path h="1764157" w="21805137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21619463" y="0"/>
                  </a:lnTo>
                  <a:cubicBezTo>
                    <a:pt x="21722079" y="0"/>
                    <a:pt x="21805137" y="83185"/>
                    <a:pt x="21805137" y="185674"/>
                  </a:cubicBezTo>
                  <a:lnTo>
                    <a:pt x="21805137" y="1578483"/>
                  </a:lnTo>
                  <a:cubicBezTo>
                    <a:pt x="21805137" y="1681099"/>
                    <a:pt x="21721953" y="1764157"/>
                    <a:pt x="21619463" y="1764157"/>
                  </a:cubicBezTo>
                  <a:lnTo>
                    <a:pt x="185674" y="1764157"/>
                  </a:lnTo>
                  <a:cubicBezTo>
                    <a:pt x="83185" y="1764157"/>
                    <a:pt x="0" y="1680972"/>
                    <a:pt x="0" y="1578483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2849890"/>
            <a:ext cx="15511196" cy="1029500"/>
            <a:chOff x="0" y="0"/>
            <a:chExt cx="20681594" cy="1372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372672"/>
            </a:xfrm>
            <a:custGeom>
              <a:avLst/>
              <a:gdLst/>
              <a:ahLst/>
              <a:cxnLst/>
              <a:rect r="r" b="b" t="t" l="l"/>
              <a:pathLst>
                <a:path h="1372672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372672"/>
                  </a:lnTo>
                  <a:lnTo>
                    <a:pt x="0" y="137267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3574" r="0" b="-2435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681594" cy="1401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Business question: </a:t>
              </a:r>
              <a:r>
                <a:rPr lang="en-US" sz="2176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“What was our revenue by product category in Q1 2026?”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872" y="4346096"/>
            <a:ext cx="61770" cy="823608"/>
            <a:chOff x="0" y="0"/>
            <a:chExt cx="82360" cy="10981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423" cy="1098169"/>
            </a:xfrm>
            <a:custGeom>
              <a:avLst/>
              <a:gdLst/>
              <a:ahLst/>
              <a:cxnLst/>
              <a:rect r="r" b="b" t="t" l="l"/>
              <a:pathLst>
                <a:path h="1098169" w="82423">
                  <a:moveTo>
                    <a:pt x="0" y="0"/>
                  </a:moveTo>
                  <a:lnTo>
                    <a:pt x="82423" y="0"/>
                  </a:lnTo>
                  <a:lnTo>
                    <a:pt x="82423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07951" y="4291193"/>
            <a:ext cx="7439882" cy="823608"/>
            <a:chOff x="0" y="0"/>
            <a:chExt cx="9919843" cy="10981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919846" cy="1098138"/>
            </a:xfrm>
            <a:custGeom>
              <a:avLst/>
              <a:gdLst/>
              <a:ahLst/>
              <a:cxnLst/>
              <a:rect r="r" b="b" t="t" l="l"/>
              <a:pathLst>
                <a:path h="1098138" w="9919846">
                  <a:moveTo>
                    <a:pt x="0" y="0"/>
                  </a:moveTo>
                  <a:lnTo>
                    <a:pt x="9919846" y="0"/>
                  </a:lnTo>
                  <a:lnTo>
                    <a:pt x="9919846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26014" r="0" b="-1260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919843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1 — find the fact table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60872" y="5183429"/>
            <a:ext cx="7686961" cy="2196274"/>
            <a:chOff x="0" y="0"/>
            <a:chExt cx="10249281" cy="29283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9288" cy="2928368"/>
            </a:xfrm>
            <a:custGeom>
              <a:avLst/>
              <a:gdLst/>
              <a:ahLst/>
              <a:cxnLst/>
              <a:rect r="r" b="b" t="t" l="l"/>
              <a:pathLst>
                <a:path h="2928368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2928368"/>
                  </a:lnTo>
                  <a:lnTo>
                    <a:pt x="0" y="292836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10249281" cy="3004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4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fact_sales: mostly numbers (quantity, line_total), several _key columns, one row per line item sold. That's our fact table — and the source of the measure we need, line_total.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059637" y="4346096"/>
            <a:ext cx="61770" cy="823608"/>
            <a:chOff x="0" y="0"/>
            <a:chExt cx="82360" cy="10981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423" cy="1098169"/>
            </a:xfrm>
            <a:custGeom>
              <a:avLst/>
              <a:gdLst/>
              <a:ahLst/>
              <a:cxnLst/>
              <a:rect r="r" b="b" t="t" l="l"/>
              <a:pathLst>
                <a:path h="1098169" w="82423">
                  <a:moveTo>
                    <a:pt x="0" y="0"/>
                  </a:moveTo>
                  <a:lnTo>
                    <a:pt x="82423" y="0"/>
                  </a:lnTo>
                  <a:lnTo>
                    <a:pt x="82423" y="1098169"/>
                  </a:lnTo>
                  <a:lnTo>
                    <a:pt x="0" y="1098169"/>
                  </a:lnTo>
                  <a:close/>
                </a:path>
              </a:pathLst>
            </a:custGeom>
            <a:solidFill>
              <a:srgbClr val="2E6F6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306716" y="4291193"/>
            <a:ext cx="7988951" cy="823608"/>
            <a:chOff x="0" y="0"/>
            <a:chExt cx="10651934" cy="10981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519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651938">
                  <a:moveTo>
                    <a:pt x="0" y="0"/>
                  </a:moveTo>
                  <a:lnTo>
                    <a:pt x="10651938" y="0"/>
                  </a:lnTo>
                  <a:lnTo>
                    <a:pt x="106519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9004" r="0" b="-1390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1065193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Step 2 — find the right dimensions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59637" y="5183429"/>
            <a:ext cx="8236039" cy="2196274"/>
            <a:chOff x="0" y="0"/>
            <a:chExt cx="10981385" cy="29283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81379" cy="2928368"/>
            </a:xfrm>
            <a:custGeom>
              <a:avLst/>
              <a:gdLst/>
              <a:ahLst/>
              <a:cxnLst/>
              <a:rect r="r" b="b" t="t" l="l"/>
              <a:pathLst>
                <a:path h="2928368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2928368"/>
                  </a:lnTo>
                  <a:lnTo>
                    <a:pt x="0" y="292836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76200"/>
              <a:ext cx="10981385" cy="3004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4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category lives in dim_product, not fact_sales — so we need that join. The Q1 2026 filter needs dim_date too. dim_customer isn't needed at all for this question.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0872" y="7722870"/>
            <a:ext cx="16334804" cy="1578569"/>
            <a:chOff x="0" y="0"/>
            <a:chExt cx="21779738" cy="2104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779739" cy="2104771"/>
            </a:xfrm>
            <a:custGeom>
              <a:avLst/>
              <a:gdLst/>
              <a:ahLst/>
              <a:cxnLst/>
              <a:rect r="r" b="b" t="t" l="l"/>
              <a:pathLst>
                <a:path h="2104771" w="21779739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lnTo>
                    <a:pt x="21596731" y="0"/>
                  </a:lnTo>
                  <a:cubicBezTo>
                    <a:pt x="21697823" y="0"/>
                    <a:pt x="21779739" y="81915"/>
                    <a:pt x="21779739" y="183007"/>
                  </a:cubicBezTo>
                  <a:lnTo>
                    <a:pt x="21779739" y="1921764"/>
                  </a:lnTo>
                  <a:cubicBezTo>
                    <a:pt x="21779739" y="2022856"/>
                    <a:pt x="21697823" y="2104771"/>
                    <a:pt x="21596731" y="2104771"/>
                  </a:cubicBezTo>
                  <a:lnTo>
                    <a:pt x="183007" y="2104771"/>
                  </a:lnTo>
                  <a:cubicBezTo>
                    <a:pt x="81915" y="2104771"/>
                    <a:pt x="0" y="2022856"/>
                    <a:pt x="0" y="1921764"/>
                  </a:cubicBez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72676" y="7722870"/>
            <a:ext cx="15511196" cy="1578569"/>
            <a:chOff x="0" y="0"/>
            <a:chExt cx="20681594" cy="210475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681598" cy="2104764"/>
            </a:xfrm>
            <a:custGeom>
              <a:avLst/>
              <a:gdLst/>
              <a:ahLst/>
              <a:cxnLst/>
              <a:rect r="r" b="b" t="t" l="l"/>
              <a:pathLst>
                <a:path h="2104764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1461" r="0" b="-14146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20681594" cy="21809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14"/>
                </a:lnSpc>
              </a:pPr>
              <a:r>
                <a:rPr lang="en-US" sz="187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Predict before writing SQL: revenue should split across 3 categories in our sample — Groceries, Electronics, Snacks — with 2026's Q2 sale excluded entirely.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549257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WORKED EXAMP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 · PART 2 OF 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1070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885133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Writing and verifying the query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60872" y="3017446"/>
            <a:ext cx="7892863" cy="3912118"/>
            <a:chOff x="0" y="0"/>
            <a:chExt cx="10523817" cy="52161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23855" cy="5216144"/>
            </a:xfrm>
            <a:custGeom>
              <a:avLst/>
              <a:gdLst/>
              <a:ahLst/>
              <a:cxnLst/>
              <a:rect r="r" b="b" t="t" l="l"/>
              <a:pathLst>
                <a:path h="5216144" w="10523855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0359136" y="0"/>
                  </a:lnTo>
                  <a:cubicBezTo>
                    <a:pt x="10450068" y="0"/>
                    <a:pt x="10523855" y="73787"/>
                    <a:pt x="10523855" y="164719"/>
                  </a:cubicBezTo>
                  <a:lnTo>
                    <a:pt x="10523855" y="5051425"/>
                  </a:lnTo>
                  <a:cubicBezTo>
                    <a:pt x="10523855" y="5142357"/>
                    <a:pt x="10450068" y="5216144"/>
                    <a:pt x="10359136" y="5216144"/>
                  </a:cubicBezTo>
                  <a:lnTo>
                    <a:pt x="164719" y="5216144"/>
                  </a:lnTo>
                  <a:cubicBezTo>
                    <a:pt x="73787" y="5216144"/>
                    <a:pt x="0" y="5142357"/>
                    <a:pt x="0" y="5051425"/>
                  </a:cubicBezTo>
                  <a:close/>
                </a:path>
              </a:pathLst>
            </a:custGeom>
            <a:solidFill>
              <a:srgbClr val="16302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45216" y="3225310"/>
            <a:ext cx="7124167" cy="342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SELECT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p.category,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SUM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(f.line_total)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AS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revenue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FROM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fact_sales f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JOIN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dim_product p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f.product_key = p.product_key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JOIN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dim_date d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ON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f.date_key = d.date_key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WHERE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d.quarter = 'Q1 2026'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GROUP BY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p.category</a:t>
            </a:r>
          </a:p>
          <a:p>
            <a:pPr algn="l">
              <a:lnSpc>
                <a:spcPts val="2553"/>
              </a:lnSpc>
            </a:pP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ORDER BY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 revenue </a:t>
            </a:r>
            <a:r>
              <a:rPr lang="en-US" sz="1576" b="true">
                <a:solidFill>
                  <a:srgbClr val="6FD8B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DESC</a:t>
            </a:r>
            <a:r>
              <a:rPr lang="en-US" sz="1576">
                <a:solidFill>
                  <a:srgbClr val="E7F3F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1338" y="7125931"/>
            <a:ext cx="7911932" cy="2764412"/>
            <a:chOff x="0" y="0"/>
            <a:chExt cx="10549242" cy="36858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49255" cy="3685794"/>
            </a:xfrm>
            <a:custGeom>
              <a:avLst/>
              <a:gdLst/>
              <a:ahLst/>
              <a:cxnLst/>
              <a:rect r="r" b="b" t="t" l="l"/>
              <a:pathLst>
                <a:path h="3685794" w="10549255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10364978" y="0"/>
                  </a:lnTo>
                  <a:cubicBezTo>
                    <a:pt x="10466705" y="0"/>
                    <a:pt x="10549255" y="82550"/>
                    <a:pt x="10549255" y="184277"/>
                  </a:cubicBezTo>
                  <a:lnTo>
                    <a:pt x="10549255" y="3501517"/>
                  </a:lnTo>
                  <a:cubicBezTo>
                    <a:pt x="10549255" y="3603244"/>
                    <a:pt x="10466705" y="3685794"/>
                    <a:pt x="10364978" y="3685794"/>
                  </a:cubicBezTo>
                  <a:lnTo>
                    <a:pt x="184277" y="3685794"/>
                  </a:lnTo>
                  <a:cubicBezTo>
                    <a:pt x="82550" y="3685921"/>
                    <a:pt x="0" y="3603371"/>
                    <a:pt x="0" y="3501644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72676" y="7313916"/>
            <a:ext cx="7069264" cy="2402176"/>
            <a:chOff x="0" y="0"/>
            <a:chExt cx="9425686" cy="32029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425684" cy="3202902"/>
            </a:xfrm>
            <a:custGeom>
              <a:avLst/>
              <a:gdLst/>
              <a:ahLst/>
              <a:cxnLst/>
              <a:rect r="r" b="b" t="t" l="l"/>
              <a:pathLst>
                <a:path h="3202902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341" r="0" b="-734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9425686" cy="3279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0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Verify: </a:t>
              </a:r>
              <a:r>
                <a:rPr lang="en-US" sz="1801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 rows came back, one per category, and the Q2 2026 sale of a Bluetooth Speaker doesn't appear anywhere in the total — exactly as predicted.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93269" y="3007921"/>
            <a:ext cx="7911932" cy="2325157"/>
            <a:chOff x="0" y="0"/>
            <a:chExt cx="10549242" cy="31002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49255" cy="3100197"/>
            </a:xfrm>
            <a:custGeom>
              <a:avLst/>
              <a:gdLst/>
              <a:ahLst/>
              <a:cxnLst/>
              <a:rect r="r" b="b" t="t" l="l"/>
              <a:pathLst>
                <a:path h="3100197" w="10549255">
                  <a:moveTo>
                    <a:pt x="0" y="110744"/>
                  </a:moveTo>
                  <a:cubicBezTo>
                    <a:pt x="0" y="49530"/>
                    <a:pt x="49530" y="0"/>
                    <a:pt x="110744" y="0"/>
                  </a:cubicBezTo>
                  <a:lnTo>
                    <a:pt x="10438511" y="0"/>
                  </a:lnTo>
                  <a:cubicBezTo>
                    <a:pt x="10499598" y="0"/>
                    <a:pt x="10549255" y="49530"/>
                    <a:pt x="10549255" y="110744"/>
                  </a:cubicBezTo>
                  <a:lnTo>
                    <a:pt x="10549255" y="2989453"/>
                  </a:lnTo>
                  <a:cubicBezTo>
                    <a:pt x="10549255" y="3050540"/>
                    <a:pt x="10499725" y="3100197"/>
                    <a:pt x="10438511" y="3100197"/>
                  </a:cubicBezTo>
                  <a:lnTo>
                    <a:pt x="110744" y="3100197"/>
                  </a:lnTo>
                  <a:cubicBezTo>
                    <a:pt x="49657" y="3100197"/>
                    <a:pt x="0" y="3050667"/>
                    <a:pt x="0" y="2989453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402804" y="3017446"/>
            <a:ext cx="7892863" cy="576520"/>
            <a:chOff x="0" y="0"/>
            <a:chExt cx="10523817" cy="76869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23855" cy="768731"/>
            </a:xfrm>
            <a:custGeom>
              <a:avLst/>
              <a:gdLst/>
              <a:ahLst/>
              <a:cxnLst/>
              <a:rect r="r" b="b" t="t" l="l"/>
              <a:pathLst>
                <a:path h="768731" w="10523855">
                  <a:moveTo>
                    <a:pt x="0" y="0"/>
                  </a:moveTo>
                  <a:lnTo>
                    <a:pt x="10523855" y="0"/>
                  </a:lnTo>
                  <a:lnTo>
                    <a:pt x="10523855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567529" y="3017446"/>
            <a:ext cx="3671897" cy="576520"/>
            <a:chOff x="0" y="0"/>
            <a:chExt cx="4895863" cy="76869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895865" cy="768697"/>
            </a:xfrm>
            <a:custGeom>
              <a:avLst/>
              <a:gdLst/>
              <a:ahLst/>
              <a:cxnLst/>
              <a:rect r="r" b="b" t="t" l="l"/>
              <a:pathLst>
                <a:path h="768697" w="4895865">
                  <a:moveTo>
                    <a:pt x="0" y="0"/>
                  </a:moveTo>
                  <a:lnTo>
                    <a:pt x="4895865" y="0"/>
                  </a:lnTo>
                  <a:lnTo>
                    <a:pt x="489586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01" r="0" b="-7410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895863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category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513956" y="3017446"/>
            <a:ext cx="3671897" cy="576520"/>
            <a:chOff x="0" y="0"/>
            <a:chExt cx="4895863" cy="76869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95865" cy="768697"/>
            </a:xfrm>
            <a:custGeom>
              <a:avLst/>
              <a:gdLst/>
              <a:ahLst/>
              <a:cxnLst/>
              <a:rect r="r" b="b" t="t" l="l"/>
              <a:pathLst>
                <a:path h="768697" w="4895865">
                  <a:moveTo>
                    <a:pt x="0" y="0"/>
                  </a:moveTo>
                  <a:lnTo>
                    <a:pt x="4895865" y="0"/>
                  </a:lnTo>
                  <a:lnTo>
                    <a:pt x="489586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01" r="0" b="-741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895863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revenue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67529" y="3593975"/>
            <a:ext cx="3671897" cy="576520"/>
            <a:chOff x="0" y="0"/>
            <a:chExt cx="4895863" cy="7686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95865" cy="768697"/>
            </a:xfrm>
            <a:custGeom>
              <a:avLst/>
              <a:gdLst/>
              <a:ahLst/>
              <a:cxnLst/>
              <a:rect r="r" b="b" t="t" l="l"/>
              <a:pathLst>
                <a:path h="768697" w="4895865">
                  <a:moveTo>
                    <a:pt x="0" y="0"/>
                  </a:moveTo>
                  <a:lnTo>
                    <a:pt x="4895865" y="0"/>
                  </a:lnTo>
                  <a:lnTo>
                    <a:pt x="489586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01" r="0" b="-7410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4895863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Electronics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513956" y="3593975"/>
            <a:ext cx="3671897" cy="576520"/>
            <a:chOff x="0" y="0"/>
            <a:chExt cx="4895863" cy="7686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95865" cy="768697"/>
            </a:xfrm>
            <a:custGeom>
              <a:avLst/>
              <a:gdLst/>
              <a:ahLst/>
              <a:cxnLst/>
              <a:rect r="r" b="b" t="t" l="l"/>
              <a:pathLst>
                <a:path h="768697" w="4895865">
                  <a:moveTo>
                    <a:pt x="0" y="0"/>
                  </a:moveTo>
                  <a:lnTo>
                    <a:pt x="4895865" y="0"/>
                  </a:lnTo>
                  <a:lnTo>
                    <a:pt x="489586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01" r="0" b="-7410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895863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43000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402804" y="4170495"/>
            <a:ext cx="7892863" cy="576520"/>
            <a:chOff x="0" y="0"/>
            <a:chExt cx="10523817" cy="76869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23855" cy="768731"/>
            </a:xfrm>
            <a:custGeom>
              <a:avLst/>
              <a:gdLst/>
              <a:ahLst/>
              <a:cxnLst/>
              <a:rect r="r" b="b" t="t" l="l"/>
              <a:pathLst>
                <a:path h="768731" w="10523855">
                  <a:moveTo>
                    <a:pt x="0" y="0"/>
                  </a:moveTo>
                  <a:lnTo>
                    <a:pt x="10523855" y="0"/>
                  </a:lnTo>
                  <a:lnTo>
                    <a:pt x="10523855" y="768731"/>
                  </a:lnTo>
                  <a:lnTo>
                    <a:pt x="0" y="768731"/>
                  </a:lnTo>
                  <a:close/>
                </a:path>
              </a:pathLst>
            </a:custGeom>
            <a:solidFill>
              <a:srgbClr val="F0F6F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67529" y="4170495"/>
            <a:ext cx="3671897" cy="576520"/>
            <a:chOff x="0" y="0"/>
            <a:chExt cx="4895863" cy="76869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895865" cy="768697"/>
            </a:xfrm>
            <a:custGeom>
              <a:avLst/>
              <a:gdLst/>
              <a:ahLst/>
              <a:cxnLst/>
              <a:rect r="r" b="b" t="t" l="l"/>
              <a:pathLst>
                <a:path h="768697" w="4895865">
                  <a:moveTo>
                    <a:pt x="0" y="0"/>
                  </a:moveTo>
                  <a:lnTo>
                    <a:pt x="4895865" y="0"/>
                  </a:lnTo>
                  <a:lnTo>
                    <a:pt x="489586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01" r="0" b="-741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4895863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Groceries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513956" y="4170495"/>
            <a:ext cx="3671897" cy="576520"/>
            <a:chOff x="0" y="0"/>
            <a:chExt cx="4895863" cy="76869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895865" cy="768697"/>
            </a:xfrm>
            <a:custGeom>
              <a:avLst/>
              <a:gdLst/>
              <a:ahLst/>
              <a:cxnLst/>
              <a:rect r="r" b="b" t="t" l="l"/>
              <a:pathLst>
                <a:path h="768697" w="4895865">
                  <a:moveTo>
                    <a:pt x="0" y="0"/>
                  </a:moveTo>
                  <a:lnTo>
                    <a:pt x="4895865" y="0"/>
                  </a:lnTo>
                  <a:lnTo>
                    <a:pt x="489586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01" r="0" b="-7410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895863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34000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567529" y="4747015"/>
            <a:ext cx="3671897" cy="576520"/>
            <a:chOff x="0" y="0"/>
            <a:chExt cx="4895863" cy="76869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895865" cy="768697"/>
            </a:xfrm>
            <a:custGeom>
              <a:avLst/>
              <a:gdLst/>
              <a:ahLst/>
              <a:cxnLst/>
              <a:rect r="r" b="b" t="t" l="l"/>
              <a:pathLst>
                <a:path h="768697" w="4895865">
                  <a:moveTo>
                    <a:pt x="0" y="0"/>
                  </a:moveTo>
                  <a:lnTo>
                    <a:pt x="4895865" y="0"/>
                  </a:lnTo>
                  <a:lnTo>
                    <a:pt x="489586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01" r="0" b="-7410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895863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Snacks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513956" y="4747015"/>
            <a:ext cx="3671897" cy="576520"/>
            <a:chOff x="0" y="0"/>
            <a:chExt cx="4895863" cy="76869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95865" cy="768697"/>
            </a:xfrm>
            <a:custGeom>
              <a:avLst/>
              <a:gdLst/>
              <a:ahLst/>
              <a:cxnLst/>
              <a:rect r="r" b="b" t="t" l="l"/>
              <a:pathLst>
                <a:path h="768697" w="4895865">
                  <a:moveTo>
                    <a:pt x="0" y="0"/>
                  </a:moveTo>
                  <a:lnTo>
                    <a:pt x="4895865" y="0"/>
                  </a:lnTo>
                  <a:lnTo>
                    <a:pt x="489586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101" r="0" b="-7410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895863" cy="7877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7500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402804" y="5488260"/>
            <a:ext cx="7892863" cy="823608"/>
            <a:chOff x="0" y="0"/>
            <a:chExt cx="10523817" cy="109814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523822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523822">
                  <a:moveTo>
                    <a:pt x="0" y="0"/>
                  </a:moveTo>
                  <a:lnTo>
                    <a:pt x="10523822" y="0"/>
                  </a:lnTo>
                  <a:lnTo>
                    <a:pt x="10523822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6731" r="0" b="-13673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10523817" cy="11457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 i="true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Same shape of answer as 3.3's aggregation work — just sourced from a warehouse table instead of an OLTP one.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39241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ED PRACTICE · YOUR TURN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3535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804988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Eko Traders starts tracking deliveries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836440"/>
            <a:ext cx="16353863" cy="1460373"/>
            <a:chOff x="0" y="0"/>
            <a:chExt cx="21805151" cy="19471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805137" cy="1947164"/>
            </a:xfrm>
            <a:custGeom>
              <a:avLst/>
              <a:gdLst/>
              <a:ahLst/>
              <a:cxnLst/>
              <a:rect r="r" b="b" t="t" l="l"/>
              <a:pathLst>
                <a:path h="1947164" w="21805137">
                  <a:moveTo>
                    <a:pt x="0" y="185420"/>
                  </a:moveTo>
                  <a:cubicBezTo>
                    <a:pt x="0" y="83058"/>
                    <a:pt x="83058" y="0"/>
                    <a:pt x="185420" y="0"/>
                  </a:cubicBezTo>
                  <a:lnTo>
                    <a:pt x="21619718" y="0"/>
                  </a:lnTo>
                  <a:cubicBezTo>
                    <a:pt x="21722080" y="0"/>
                    <a:pt x="21805137" y="83058"/>
                    <a:pt x="21805137" y="185420"/>
                  </a:cubicBezTo>
                  <a:lnTo>
                    <a:pt x="21805137" y="1761744"/>
                  </a:lnTo>
                  <a:cubicBezTo>
                    <a:pt x="21805137" y="1864106"/>
                    <a:pt x="21722080" y="1947164"/>
                    <a:pt x="21619718" y="1947164"/>
                  </a:cubicBezTo>
                  <a:lnTo>
                    <a:pt x="185420" y="1947164"/>
                  </a:lnTo>
                  <a:cubicBezTo>
                    <a:pt x="83058" y="1947164"/>
                    <a:pt x="0" y="1864106"/>
                    <a:pt x="0" y="1761744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2983240"/>
            <a:ext cx="15511196" cy="1235402"/>
            <a:chOff x="0" y="0"/>
            <a:chExt cx="20681594" cy="16472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681598" cy="1647207"/>
            </a:xfrm>
            <a:custGeom>
              <a:avLst/>
              <a:gdLst/>
              <a:ahLst/>
              <a:cxnLst/>
              <a:rect r="r" b="b" t="t" l="l"/>
              <a:pathLst>
                <a:path h="1647207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94645" r="0" b="-1946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20681594" cy="1713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1876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New schema: </a:t>
              </a:r>
              <a:r>
                <a:rPr lang="en-US" sz="1876" i="true">
                  <a:solidFill>
                    <a:srgbClr val="2A3A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Eko Traders now logs every delivery. Three tables: deliveries_log (delivery_key, date_key, store_key, driver_key, distance_km, delivery_fee), stores (store_key, store_name, city), drivers (driver_key, driver_name, vehicle_type).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51338" y="4552274"/>
            <a:ext cx="7911932" cy="4686148"/>
            <a:chOff x="0" y="0"/>
            <a:chExt cx="10549242" cy="62481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49255" cy="6248146"/>
            </a:xfrm>
            <a:custGeom>
              <a:avLst/>
              <a:gdLst/>
              <a:ahLst/>
              <a:cxnLst/>
              <a:rect r="r" b="b" t="t" l="l"/>
              <a:pathLst>
                <a:path h="6248146" w="10549255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10328783" y="0"/>
                  </a:lnTo>
                  <a:cubicBezTo>
                    <a:pt x="10450576" y="0"/>
                    <a:pt x="10549255" y="98679"/>
                    <a:pt x="10549255" y="220472"/>
                  </a:cubicBezTo>
                  <a:lnTo>
                    <a:pt x="10549255" y="6027674"/>
                  </a:lnTo>
                  <a:cubicBezTo>
                    <a:pt x="10549255" y="6149467"/>
                    <a:pt x="10450576" y="6248146"/>
                    <a:pt x="10328783" y="6248146"/>
                  </a:cubicBezTo>
                  <a:lnTo>
                    <a:pt x="220472" y="6248146"/>
                  </a:lnTo>
                  <a:cubicBezTo>
                    <a:pt x="98679" y="6248146"/>
                    <a:pt x="0" y="6149467"/>
                    <a:pt x="0" y="602767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4836347"/>
            <a:ext cx="7069264" cy="480431"/>
            <a:chOff x="0" y="0"/>
            <a:chExt cx="9425686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9425686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Your task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2676" y="5328266"/>
            <a:ext cx="7069264" cy="37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Identify which table is the fact table, and which two are dimension tables.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For each, write one sentence justifying your answer using this topic's rules of thumb.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Name the grain of the fact table — what does one row represent?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2A3A38"/>
                </a:solidFill>
                <a:latin typeface="Poppins"/>
                <a:ea typeface="Poppins"/>
                <a:cs typeface="Poppins"/>
                <a:sym typeface="Poppins"/>
              </a:rPr>
              <a:t>Suggest one more dimension Eko Traders could add later.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02804" y="4561808"/>
            <a:ext cx="7892863" cy="4667088"/>
            <a:chOff x="0" y="0"/>
            <a:chExt cx="10523817" cy="62227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23855" cy="6222746"/>
            </a:xfrm>
            <a:custGeom>
              <a:avLst/>
              <a:gdLst/>
              <a:ahLst/>
              <a:cxnLst/>
              <a:rect r="r" b="b" t="t" l="l"/>
              <a:pathLst>
                <a:path h="6222746" w="10523855">
                  <a:moveTo>
                    <a:pt x="0" y="219583"/>
                  </a:moveTo>
                  <a:cubicBezTo>
                    <a:pt x="0" y="98298"/>
                    <a:pt x="98298" y="0"/>
                    <a:pt x="219583" y="0"/>
                  </a:cubicBezTo>
                  <a:lnTo>
                    <a:pt x="10304272" y="0"/>
                  </a:lnTo>
                  <a:cubicBezTo>
                    <a:pt x="10425557" y="0"/>
                    <a:pt x="10523855" y="98298"/>
                    <a:pt x="10523855" y="219583"/>
                  </a:cubicBezTo>
                  <a:lnTo>
                    <a:pt x="10523855" y="6003163"/>
                  </a:lnTo>
                  <a:cubicBezTo>
                    <a:pt x="10523855" y="6124448"/>
                    <a:pt x="10425557" y="6222746"/>
                    <a:pt x="10304272" y="6222746"/>
                  </a:cubicBezTo>
                  <a:lnTo>
                    <a:pt x="219583" y="6222746"/>
                  </a:lnTo>
                  <a:cubicBezTo>
                    <a:pt x="98298" y="6222746"/>
                    <a:pt x="0" y="6124448"/>
                    <a:pt x="0" y="6003163"/>
                  </a:cubicBezTo>
                  <a:close/>
                </a:path>
              </a:pathLst>
            </a:custGeom>
            <a:solidFill>
              <a:srgbClr val="1B403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14608" y="4836347"/>
            <a:ext cx="7069264" cy="480431"/>
            <a:chOff x="0" y="0"/>
            <a:chExt cx="9425686" cy="6405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425686" cy="66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C6941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Before you answer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814608" y="5328266"/>
            <a:ext cx="7069264" cy="376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Don't just spot the name pattern — check the actual columns against the rules of thumb from concepts 6 and 7.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Which columns are measures? Which are foreign keys? Which are descriptive text?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A table can look small in this example and still be a fact table — size in our sample isn't the real test, shape is.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953615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GUID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ED PRACTICE · SOLUTION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47737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880302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One fact table, two dimensions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1803" y="2943977"/>
            <a:ext cx="7931001" cy="6352423"/>
            <a:chOff x="0" y="0"/>
            <a:chExt cx="10574668" cy="846989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74655" cy="8469885"/>
            </a:xfrm>
            <a:custGeom>
              <a:avLst/>
              <a:gdLst/>
              <a:ahLst/>
              <a:cxnLst/>
              <a:rect r="r" b="b" t="t" l="l"/>
              <a:pathLst>
                <a:path h="8469885" w="10574655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10353675" y="0"/>
                  </a:lnTo>
                  <a:cubicBezTo>
                    <a:pt x="10475722" y="0"/>
                    <a:pt x="10574655" y="98933"/>
                    <a:pt x="10574655" y="220980"/>
                  </a:cubicBezTo>
                  <a:lnTo>
                    <a:pt x="10574655" y="8248904"/>
                  </a:lnTo>
                  <a:cubicBezTo>
                    <a:pt x="10574655" y="8370951"/>
                    <a:pt x="10475722" y="8469885"/>
                    <a:pt x="10353675" y="8469885"/>
                  </a:cubicBezTo>
                  <a:lnTo>
                    <a:pt x="220980" y="8469885"/>
                  </a:lnTo>
                  <a:cubicBezTo>
                    <a:pt x="98933" y="8469885"/>
                    <a:pt x="0" y="8370951"/>
                    <a:pt x="0" y="8248904"/>
                  </a:cubicBezTo>
                  <a:close/>
                </a:path>
              </a:pathLst>
            </a:custGeom>
            <a:solidFill>
              <a:srgbClr val="1B4038"/>
            </a:solidFill>
            <a:ln w="38130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72676" y="3306204"/>
            <a:ext cx="3157147" cy="617706"/>
            <a:chOff x="0" y="0"/>
            <a:chExt cx="4209529" cy="82360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9542" cy="823722"/>
            </a:xfrm>
            <a:custGeom>
              <a:avLst/>
              <a:gdLst/>
              <a:ahLst/>
              <a:cxnLst/>
              <a:rect r="r" b="b" t="t" l="l"/>
              <a:pathLst>
                <a:path h="823722" w="4209542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3797681" y="0"/>
                  </a:lnTo>
                  <a:cubicBezTo>
                    <a:pt x="4025138" y="0"/>
                    <a:pt x="4209542" y="184404"/>
                    <a:pt x="4209542" y="411861"/>
                  </a:cubicBezTo>
                  <a:cubicBezTo>
                    <a:pt x="4209542" y="639318"/>
                    <a:pt x="4025138" y="823722"/>
                    <a:pt x="3797681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C6941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72676" y="3306204"/>
            <a:ext cx="3157147" cy="617706"/>
            <a:chOff x="0" y="0"/>
            <a:chExt cx="4209529" cy="823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209529" cy="823603"/>
            </a:xfrm>
            <a:custGeom>
              <a:avLst/>
              <a:gdLst/>
              <a:ahLst/>
              <a:cxnLst/>
              <a:rect r="r" b="b" t="t" l="l"/>
              <a:pathLst>
                <a:path h="823603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9589" r="0" b="-4959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4209529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FACT TABLE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2676" y="4129811"/>
            <a:ext cx="7069264" cy="549069"/>
            <a:chOff x="0" y="0"/>
            <a:chExt cx="9425686" cy="7320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25684" cy="732092"/>
            </a:xfrm>
            <a:custGeom>
              <a:avLst/>
              <a:gdLst/>
              <a:ahLst/>
              <a:cxnLst/>
              <a:rect r="r" b="b" t="t" l="l"/>
              <a:pathLst>
                <a:path h="732092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0869" r="0" b="-20086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425686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deliveries_log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72676" y="4758995"/>
            <a:ext cx="7069264" cy="431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distance_km and delivery_fee are measures — things you'd SUM or AVG.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date_key, store_key, driver_key are foreign keys out to every dimension.</a:t>
            </a:r>
          </a:p>
          <a:p>
            <a:pPr algn="l" marL="339857" indent="-169929" lvl="1">
              <a:lnSpc>
                <a:spcPts val="2657"/>
              </a:lnSpc>
              <a:buFont typeface="Arial"/>
              <a:buChar char="•"/>
            </a:pPr>
            <a:r>
              <a:rPr lang="en-US" sz="1876">
                <a:solidFill>
                  <a:srgbClr val="E7F0EE"/>
                </a:solidFill>
                <a:latin typeface="Poppins"/>
                <a:ea typeface="Poppins"/>
                <a:cs typeface="Poppins"/>
                <a:sym typeface="Poppins"/>
              </a:rPr>
              <a:t>Grain: one row = one completed delivery. It grows with every delivery, same pattern as fact_sales.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393269" y="2953512"/>
            <a:ext cx="7911932" cy="2970314"/>
            <a:chOff x="0" y="0"/>
            <a:chExt cx="10549242" cy="39604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49128" cy="3960368"/>
            </a:xfrm>
            <a:custGeom>
              <a:avLst/>
              <a:gdLst/>
              <a:ahLst/>
              <a:cxnLst/>
              <a:rect r="r" b="b" t="t" l="l"/>
              <a:pathLst>
                <a:path h="3960368" w="10549128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10328148" y="0"/>
                  </a:lnTo>
                  <a:cubicBezTo>
                    <a:pt x="10450195" y="0"/>
                    <a:pt x="10549128" y="98933"/>
                    <a:pt x="10549128" y="220980"/>
                  </a:cubicBezTo>
                  <a:lnTo>
                    <a:pt x="10549128" y="3739388"/>
                  </a:lnTo>
                  <a:cubicBezTo>
                    <a:pt x="10549128" y="3861435"/>
                    <a:pt x="10450195" y="3960368"/>
                    <a:pt x="10328148" y="3960368"/>
                  </a:cubicBezTo>
                  <a:lnTo>
                    <a:pt x="220980" y="3960368"/>
                  </a:lnTo>
                  <a:cubicBezTo>
                    <a:pt x="98933" y="3960368"/>
                    <a:pt x="0" y="3861435"/>
                    <a:pt x="0" y="373938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805073" y="3296679"/>
            <a:ext cx="2764412" cy="568138"/>
            <a:chOff x="0" y="0"/>
            <a:chExt cx="3685883" cy="75751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85794" cy="757555"/>
            </a:xfrm>
            <a:custGeom>
              <a:avLst/>
              <a:gdLst/>
              <a:ahLst/>
              <a:cxnLst/>
              <a:rect r="r" b="b" t="t" l="l"/>
              <a:pathLst>
                <a:path h="757555" w="3685794">
                  <a:moveTo>
                    <a:pt x="0" y="378714"/>
                  </a:moveTo>
                  <a:cubicBezTo>
                    <a:pt x="0" y="169545"/>
                    <a:pt x="169545" y="0"/>
                    <a:pt x="378714" y="0"/>
                  </a:cubicBezTo>
                  <a:lnTo>
                    <a:pt x="3307080" y="0"/>
                  </a:lnTo>
                  <a:cubicBezTo>
                    <a:pt x="3516249" y="0"/>
                    <a:pt x="3685794" y="169545"/>
                    <a:pt x="3685794" y="378714"/>
                  </a:cubicBezTo>
                  <a:cubicBezTo>
                    <a:pt x="3685794" y="587883"/>
                    <a:pt x="3516249" y="757555"/>
                    <a:pt x="3307080" y="757555"/>
                  </a:cubicBezTo>
                  <a:lnTo>
                    <a:pt x="378714" y="757555"/>
                  </a:lnTo>
                  <a:cubicBezTo>
                    <a:pt x="169545" y="757555"/>
                    <a:pt x="0" y="587883"/>
                    <a:pt x="0" y="378714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814608" y="3306204"/>
            <a:ext cx="2745343" cy="549069"/>
            <a:chOff x="0" y="0"/>
            <a:chExt cx="3660458" cy="7320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66045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B403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DIMENSION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814608" y="3992547"/>
            <a:ext cx="7069264" cy="480431"/>
            <a:chOff x="0" y="0"/>
            <a:chExt cx="9425686" cy="6405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42568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stores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14608" y="4541615"/>
            <a:ext cx="7069264" cy="1235402"/>
            <a:chOff x="0" y="0"/>
            <a:chExt cx="9425686" cy="16472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25684" cy="1647207"/>
            </a:xfrm>
            <a:custGeom>
              <a:avLst/>
              <a:gdLst/>
              <a:ahLst/>
              <a:cxnLst/>
              <a:rect r="r" b="b" t="t" l="l"/>
              <a:pathLst>
                <a:path h="1647207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1497" r="0" b="-6149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9425686" cy="16948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store_name and city are descriptive text — you'd GROUP BY these, never SUM them. Small, stable table.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393269" y="6110649"/>
            <a:ext cx="7911932" cy="3176216"/>
            <a:chOff x="0" y="0"/>
            <a:chExt cx="10549242" cy="42349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49255" cy="4234942"/>
            </a:xfrm>
            <a:custGeom>
              <a:avLst/>
              <a:gdLst/>
              <a:ahLst/>
              <a:cxnLst/>
              <a:rect r="r" b="b" t="t" l="l"/>
              <a:pathLst>
                <a:path h="4234942" w="10549255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10328275" y="0"/>
                  </a:lnTo>
                  <a:cubicBezTo>
                    <a:pt x="10450322" y="0"/>
                    <a:pt x="10549255" y="98933"/>
                    <a:pt x="10549255" y="220980"/>
                  </a:cubicBezTo>
                  <a:lnTo>
                    <a:pt x="10549255" y="4013962"/>
                  </a:lnTo>
                  <a:cubicBezTo>
                    <a:pt x="10549255" y="4136009"/>
                    <a:pt x="10450322" y="4234942"/>
                    <a:pt x="10328275" y="4234942"/>
                  </a:cubicBezTo>
                  <a:lnTo>
                    <a:pt x="220980" y="4234942"/>
                  </a:lnTo>
                  <a:cubicBezTo>
                    <a:pt x="98933" y="4234942"/>
                    <a:pt x="0" y="4136009"/>
                    <a:pt x="0" y="401396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805073" y="6453826"/>
            <a:ext cx="2764412" cy="568138"/>
            <a:chOff x="0" y="0"/>
            <a:chExt cx="3685883" cy="75751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85794" cy="757555"/>
            </a:xfrm>
            <a:custGeom>
              <a:avLst/>
              <a:gdLst/>
              <a:ahLst/>
              <a:cxnLst/>
              <a:rect r="r" b="b" t="t" l="l"/>
              <a:pathLst>
                <a:path h="757555" w="3685794">
                  <a:moveTo>
                    <a:pt x="0" y="378714"/>
                  </a:moveTo>
                  <a:cubicBezTo>
                    <a:pt x="0" y="169545"/>
                    <a:pt x="169545" y="0"/>
                    <a:pt x="378714" y="0"/>
                  </a:cubicBezTo>
                  <a:lnTo>
                    <a:pt x="3307080" y="0"/>
                  </a:lnTo>
                  <a:cubicBezTo>
                    <a:pt x="3516249" y="0"/>
                    <a:pt x="3685794" y="169545"/>
                    <a:pt x="3685794" y="378714"/>
                  </a:cubicBezTo>
                  <a:cubicBezTo>
                    <a:pt x="3685794" y="587883"/>
                    <a:pt x="3516249" y="757555"/>
                    <a:pt x="3307080" y="757555"/>
                  </a:cubicBezTo>
                  <a:lnTo>
                    <a:pt x="378714" y="757555"/>
                  </a:lnTo>
                  <a:cubicBezTo>
                    <a:pt x="169545" y="757555"/>
                    <a:pt x="0" y="587883"/>
                    <a:pt x="0" y="378714"/>
                  </a:cubicBezTo>
                  <a:close/>
                </a:path>
              </a:pathLst>
            </a:custGeom>
            <a:solidFill>
              <a:srgbClr val="F0F6F4"/>
            </a:solidFill>
            <a:ln w="19065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814608" y="6463351"/>
            <a:ext cx="2745343" cy="549069"/>
            <a:chOff x="0" y="0"/>
            <a:chExt cx="3660458" cy="73209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60460" cy="732092"/>
            </a:xfrm>
            <a:custGeom>
              <a:avLst/>
              <a:gdLst/>
              <a:ahLst/>
              <a:cxnLst/>
              <a:rect r="r" b="b" t="t" l="l"/>
              <a:pathLst>
                <a:path h="732092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3660458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1B403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DIMENSION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14608" y="7149694"/>
            <a:ext cx="7069264" cy="480431"/>
            <a:chOff x="0" y="0"/>
            <a:chExt cx="9425686" cy="6405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425684" cy="640580"/>
            </a:xfrm>
            <a:custGeom>
              <a:avLst/>
              <a:gdLst/>
              <a:ahLst/>
              <a:cxnLst/>
              <a:rect r="r" b="b" t="t" l="l"/>
              <a:pathLst>
                <a:path h="64058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6708" r="0" b="-23670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9425686" cy="65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drivers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814608" y="7698762"/>
            <a:ext cx="7069264" cy="1372676"/>
            <a:chOff x="0" y="0"/>
            <a:chExt cx="9425686" cy="183023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425684" cy="1830230"/>
            </a:xfrm>
            <a:custGeom>
              <a:avLst/>
              <a:gdLst/>
              <a:ahLst/>
              <a:cxnLst/>
              <a:rect r="r" b="b" t="t" l="l"/>
              <a:pathLst>
                <a:path h="1830230" w="9425684">
                  <a:moveTo>
                    <a:pt x="0" y="0"/>
                  </a:moveTo>
                  <a:lnTo>
                    <a:pt x="9425684" y="0"/>
                  </a:lnTo>
                  <a:lnTo>
                    <a:pt x="9425684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0347" r="0" b="-5034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425686" cy="1877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85"/>
                </a:lnSpc>
              </a:pPr>
              <a:r>
                <a:rPr lang="en-US" sz="1726">
                  <a:solidFill>
                    <a:srgbClr val="2A3A38"/>
                  </a:solidFill>
                  <a:latin typeface="Poppins"/>
                  <a:ea typeface="Poppins"/>
                  <a:cs typeface="Poppins"/>
                  <a:sym typeface="Poppins"/>
                </a:rPr>
                <a:t>driver_name and vehicle_type describe the driver, don't change per delivery in the same way a measure would, and there are far fewer drivers than deliveries.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419508" y="4186238"/>
            <a:ext cx="457200" cy="457200"/>
            <a:chOff x="0" y="0"/>
            <a:chExt cx="609600" cy="6096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62" r="0" b="-156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00188" y="2595563"/>
            <a:ext cx="7643812" cy="184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You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 can now explain OLTP vs. data warehouse: OLTP runs the app with many small safe transactions; a warehouse answers big historical questions from a separate, reshaped copy.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0188" y="4694692"/>
            <a:ext cx="8336756" cy="13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ou can now identify fact tables: Numeric measures, several foreign keys, huge and fast-growing — one row per measurable event.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0188" y="6448789"/>
            <a:ext cx="8336756" cy="1381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2"/>
              </a:lnSpc>
            </a:pP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You</a:t>
            </a:r>
            <a:r>
              <a:rPr lang="en-US" b="true" sz="2475">
                <a:solidFill>
                  <a:srgbClr val="475569"/>
                </a:solidFill>
                <a:latin typeface="DM Sans Bold"/>
                <a:ea typeface="DM Sans Bold"/>
                <a:cs typeface="DM Sans Bold"/>
                <a:sym typeface="DM Sans Bold"/>
              </a:rPr>
              <a:t> can now identify dimension tables: Descriptive text, one clear primary key, small and stable — the who, what, when and where around a fact.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7250" y="2671762"/>
            <a:ext cx="371475" cy="385762"/>
            <a:chOff x="0" y="0"/>
            <a:chExt cx="495300" cy="51435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7250" y="4770892"/>
            <a:ext cx="371475" cy="385762"/>
            <a:chOff x="0" y="0"/>
            <a:chExt cx="495300" cy="51435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57250" y="6868297"/>
            <a:ext cx="371475" cy="385762"/>
            <a:chOff x="0" y="0"/>
            <a:chExt cx="495300" cy="51435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495300" cy="514350"/>
            </a:xfrm>
            <a:custGeom>
              <a:avLst/>
              <a:gdLst/>
              <a:ahLst/>
              <a:cxnLst/>
              <a:rect r="r" b="b" t="t" l="l"/>
              <a:pathLst>
                <a:path h="514350" w="495300">
                  <a:moveTo>
                    <a:pt x="0" y="0"/>
                  </a:moveTo>
                  <a:lnTo>
                    <a:pt x="495300" y="0"/>
                  </a:lnTo>
                  <a:lnTo>
                    <a:pt x="495300" y="514350"/>
                  </a:lnTo>
                  <a:lnTo>
                    <a:pt x="0" y="5143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113169" y="4019550"/>
            <a:ext cx="4972964" cy="272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600">
                <a:solidFill>
                  <a:srgbClr val="387F7F"/>
                </a:solidFill>
                <a:latin typeface="Inter"/>
                <a:ea typeface="Inter"/>
                <a:cs typeface="Inter"/>
                <a:sym typeface="Inter"/>
              </a:rPr>
              <a:t>Up Next:</a:t>
            </a:r>
          </a:p>
          <a:p>
            <a:pPr algn="r">
              <a:lnSpc>
                <a:spcPts val="5400"/>
              </a:lnSpc>
            </a:pPr>
            <a:r>
              <a:rPr lang="en-US" sz="3600" b="true">
                <a:solidFill>
                  <a:srgbClr val="387F7F"/>
                </a:solidFill>
                <a:latin typeface="Inter Bold"/>
                <a:ea typeface="Inter Bold"/>
                <a:cs typeface="Inter Bold"/>
                <a:sym typeface="Inter Bold"/>
              </a:rPr>
              <a:t>AI as Your SQL Pair</a:t>
            </a:r>
          </a:p>
          <a:p>
            <a:pPr algn="r">
              <a:lnSpc>
                <a:spcPts val="5400"/>
              </a:lnSpc>
            </a:pPr>
          </a:p>
          <a:p>
            <a:pPr algn="r">
              <a:lnSpc>
                <a:spcPts val="5400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3984116" cy="80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AT'S NEXT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9544050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60872" y="1731264"/>
            <a:ext cx="13040392" cy="130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4"/>
              </a:lnSpc>
            </a:pPr>
            <a:r>
              <a:rPr lang="en-US" sz="4503" b="true">
                <a:solidFill>
                  <a:srgbClr val="2A3A38"/>
                </a:solidFill>
                <a:latin typeface="Poppins Bold"/>
                <a:ea typeface="Poppins Bold"/>
                <a:cs typeface="Poppins Bold"/>
                <a:sym typeface="Poppins Bold"/>
              </a:rPr>
              <a:t>From this session into the lab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1338" y="2863872"/>
            <a:ext cx="5235216" cy="4823422"/>
            <a:chOff x="0" y="0"/>
            <a:chExt cx="6980288" cy="64312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60761" y="3341932"/>
            <a:ext cx="847439" cy="847439"/>
            <a:chOff x="0" y="0"/>
            <a:chExt cx="1129919" cy="11299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372676" y="3353848"/>
            <a:ext cx="823608" cy="823608"/>
            <a:chOff x="0" y="0"/>
            <a:chExt cx="1098144" cy="109814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72676" y="4451985"/>
            <a:ext cx="4392549" cy="686333"/>
            <a:chOff x="0" y="0"/>
            <a:chExt cx="5856732" cy="9151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Hands-on lab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2676" y="5138318"/>
            <a:ext cx="4392549" cy="2402176"/>
            <a:chOff x="0" y="0"/>
            <a:chExt cx="5856732" cy="32029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Open the sample warehouse tables (fact_sales, dim_date, dim_customer, dim_product) and complete the 3.5 worksheet — schema identification plus two star-schema queries.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510661" y="2863872"/>
            <a:ext cx="5235216" cy="4823422"/>
            <a:chOff x="0" y="0"/>
            <a:chExt cx="6980288" cy="64312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6920084" y="3341932"/>
            <a:ext cx="847439" cy="847439"/>
            <a:chOff x="0" y="0"/>
            <a:chExt cx="1129919" cy="11299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932000" y="3353848"/>
            <a:ext cx="823608" cy="823608"/>
            <a:chOff x="0" y="0"/>
            <a:chExt cx="1098144" cy="109814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32000" y="4451985"/>
            <a:ext cx="4392549" cy="686333"/>
            <a:chOff x="0" y="0"/>
            <a:chExt cx="5856732" cy="915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LMS practice set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32000" y="5138318"/>
            <a:ext cx="4392549" cy="2402176"/>
            <a:chOff x="0" y="0"/>
            <a:chExt cx="5856732" cy="320290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Eight auto-graded questions: OLTP vs. warehouse scenarios, and labelling fact vs. dimension tables in schemas you haven't seen yet.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069985" y="2863872"/>
            <a:ext cx="5235216" cy="4823422"/>
            <a:chOff x="0" y="0"/>
            <a:chExt cx="6980288" cy="643122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80301" cy="6431280"/>
            </a:xfrm>
            <a:custGeom>
              <a:avLst/>
              <a:gdLst/>
              <a:ahLst/>
              <a:cxnLst/>
              <a:rect r="r" b="b" t="t" l="l"/>
              <a:pathLst>
                <a:path h="6431280" w="6980301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6722999" y="0"/>
                  </a:lnTo>
                  <a:cubicBezTo>
                    <a:pt x="6865112" y="0"/>
                    <a:pt x="6980301" y="115189"/>
                    <a:pt x="6980301" y="257302"/>
                  </a:cubicBezTo>
                  <a:lnTo>
                    <a:pt x="6980301" y="6173978"/>
                  </a:lnTo>
                  <a:cubicBezTo>
                    <a:pt x="6980301" y="6316091"/>
                    <a:pt x="6865112" y="6431280"/>
                    <a:pt x="6722999" y="6431280"/>
                  </a:cubicBezTo>
                  <a:lnTo>
                    <a:pt x="257302" y="6431280"/>
                  </a:lnTo>
                  <a:cubicBezTo>
                    <a:pt x="115189" y="6431280"/>
                    <a:pt x="0" y="6316091"/>
                    <a:pt x="0" y="6173978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5E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479407" y="3341932"/>
            <a:ext cx="847439" cy="847439"/>
            <a:chOff x="0" y="0"/>
            <a:chExt cx="1129919" cy="112991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9919" cy="1129919"/>
            </a:xfrm>
            <a:custGeom>
              <a:avLst/>
              <a:gdLst/>
              <a:ahLst/>
              <a:cxnLst/>
              <a:rect r="r" b="b" t="t" l="l"/>
              <a:pathLst>
                <a:path h="1129919" w="1129919">
                  <a:moveTo>
                    <a:pt x="0" y="564896"/>
                  </a:moveTo>
                  <a:cubicBezTo>
                    <a:pt x="0" y="252984"/>
                    <a:pt x="252984" y="0"/>
                    <a:pt x="564896" y="0"/>
                  </a:cubicBezTo>
                  <a:cubicBezTo>
                    <a:pt x="876808" y="0"/>
                    <a:pt x="1129919" y="252984"/>
                    <a:pt x="1129919" y="564896"/>
                  </a:cubicBezTo>
                  <a:cubicBezTo>
                    <a:pt x="1129919" y="876808"/>
                    <a:pt x="876935" y="1129919"/>
                    <a:pt x="564896" y="1129919"/>
                  </a:cubicBezTo>
                  <a:cubicBezTo>
                    <a:pt x="252857" y="1129919"/>
                    <a:pt x="0" y="876935"/>
                    <a:pt x="0" y="564896"/>
                  </a:cubicBezTo>
                  <a:close/>
                </a:path>
              </a:pathLst>
            </a:custGeom>
            <a:solidFill>
              <a:srgbClr val="F0F6F4"/>
            </a:solidFill>
            <a:ln w="23831" cap="sq">
              <a:solidFill>
                <a:srgbClr val="2E6F64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491323" y="3353848"/>
            <a:ext cx="823608" cy="823608"/>
            <a:chOff x="0" y="0"/>
            <a:chExt cx="1098144" cy="10981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813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098138">
                  <a:moveTo>
                    <a:pt x="0" y="0"/>
                  </a:moveTo>
                  <a:lnTo>
                    <a:pt x="1098138" y="0"/>
                  </a:lnTo>
                  <a:lnTo>
                    <a:pt x="109813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78303" t="0" r="-78304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1098144" cy="11267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2E6F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491323" y="4451985"/>
            <a:ext cx="4392549" cy="686333"/>
            <a:chOff x="0" y="0"/>
            <a:chExt cx="5856732" cy="9151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6736" cy="915115"/>
            </a:xfrm>
            <a:custGeom>
              <a:avLst/>
              <a:gdLst/>
              <a:ahLst/>
              <a:cxnLst/>
              <a:rect r="r" b="b" t="t" l="l"/>
              <a:pathLst>
                <a:path h="915115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74704" r="0" b="-7470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5856732" cy="9436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1B4038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Keep the habit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491323" y="5138318"/>
            <a:ext cx="4392549" cy="2402176"/>
            <a:chOff x="0" y="0"/>
            <a:chExt cx="5856732" cy="320290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856736" cy="3202902"/>
            </a:xfrm>
            <a:custGeom>
              <a:avLst/>
              <a:gdLst/>
              <a:ahLst/>
              <a:cxnLst/>
              <a:rect r="r" b="b" t="t" l="l"/>
              <a:pathLst>
                <a:path h="3202902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3202902"/>
                  </a:lnTo>
                  <a:lnTo>
                    <a:pt x="0" y="3202902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166" t="0" r="-20165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5856732" cy="3260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89"/>
                </a:lnSpc>
              </a:pPr>
              <a:r>
                <a:rPr lang="en-US" sz="1726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Before touching a new schema, ask 'what's the grain?' and 'which table has the measures?' before writing any SQL at all.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1338" y="8148666"/>
            <a:ext cx="16353863" cy="1185834"/>
            <a:chOff x="0" y="0"/>
            <a:chExt cx="21805151" cy="15811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805139" cy="1581150"/>
            </a:xfrm>
            <a:custGeom>
              <a:avLst/>
              <a:gdLst/>
              <a:ahLst/>
              <a:cxnLst/>
              <a:rect r="r" b="b" t="t" l="l"/>
              <a:pathLst>
                <a:path h="1581150" w="21805139">
                  <a:moveTo>
                    <a:pt x="0" y="186055"/>
                  </a:moveTo>
                  <a:cubicBezTo>
                    <a:pt x="0" y="83312"/>
                    <a:pt x="83312" y="0"/>
                    <a:pt x="186055" y="0"/>
                  </a:cubicBezTo>
                  <a:lnTo>
                    <a:pt x="21619083" y="0"/>
                  </a:lnTo>
                  <a:cubicBezTo>
                    <a:pt x="21721826" y="0"/>
                    <a:pt x="21805139" y="83312"/>
                    <a:pt x="21805139" y="186055"/>
                  </a:cubicBezTo>
                  <a:lnTo>
                    <a:pt x="21805139" y="1395095"/>
                  </a:lnTo>
                  <a:cubicBezTo>
                    <a:pt x="21805139" y="1497838"/>
                    <a:pt x="21721826" y="1581150"/>
                    <a:pt x="21619083" y="1581150"/>
                  </a:cubicBezTo>
                  <a:lnTo>
                    <a:pt x="186055" y="1581150"/>
                  </a:lnTo>
                  <a:cubicBezTo>
                    <a:pt x="83312" y="1581150"/>
                    <a:pt x="0" y="1497838"/>
                    <a:pt x="0" y="1395095"/>
                  </a:cubicBezTo>
                  <a:close/>
                </a:path>
              </a:pathLst>
            </a:custGeom>
            <a:solidFill>
              <a:srgbClr val="FBF1DA"/>
            </a:solidFill>
            <a:ln w="19065" cap="sq">
              <a:solidFill>
                <a:srgbClr val="C6941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372676" y="8158201"/>
            <a:ext cx="15511196" cy="1166774"/>
            <a:chOff x="0" y="0"/>
            <a:chExt cx="20681594" cy="155569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681598" cy="1555695"/>
            </a:xfrm>
            <a:custGeom>
              <a:avLst/>
              <a:gdLst/>
              <a:ahLst/>
              <a:cxnLst/>
              <a:rect r="r" b="b" t="t" l="l"/>
              <a:pathLst>
                <a:path h="155569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555695"/>
                  </a:lnTo>
                  <a:lnTo>
                    <a:pt x="0" y="15556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0681594" cy="15652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i="true">
                  <a:solidFill>
                    <a:srgbClr val="1B4038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Facilitator note: pre-built finished warehouse file (eko_traders_warehouse_finished.db) and a schema diagram printout are attached on the LMS in case the live demo or network fails.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DAHTkw8c8YQ</dc:identifier>
  <dcterms:modified xsi:type="dcterms:W3CDTF">2011-08-01T06:04:30Z</dcterms:modified>
  <cp:revision>1</cp:revision>
  <dc:title>Module 3.5 - Warehousing-fundamentals</dc:title>
</cp:coreProperties>
</file>