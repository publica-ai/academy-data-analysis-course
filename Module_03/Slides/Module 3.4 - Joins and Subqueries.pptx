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Inter" charset="1" panose="02000503000000020004"/>
      <p:regular r:id="rId27"/>
    </p:embeddedFont>
    <p:embeddedFont>
      <p:font typeface="Inter Bold" charset="1" panose="02000503000000020004"/>
      <p:regular r:id="rId28"/>
    </p:embeddedFont>
    <p:embeddedFont>
      <p:font typeface="Poppins Bold" charset="1" panose="00000800000000000000"/>
      <p:regular r:id="rId29"/>
    </p:embeddedFont>
    <p:embeddedFont>
      <p:font typeface="Poppins" charset="1" panose="00000500000000000000"/>
      <p:regular r:id="rId30"/>
    </p:embeddedFont>
    <p:embeddedFont>
      <p:font typeface="Courier New Bold" charset="1" panose="02070609020205020404"/>
      <p:regular r:id="rId31"/>
    </p:embeddedFont>
    <p:embeddedFont>
      <p:font typeface="Poppins Italics" charset="1" panose="00000500000000000000"/>
      <p:regular r:id="rId32"/>
    </p:embeddedFont>
    <p:embeddedFont>
      <p:font typeface="Courier New" charset="1" panose="02070309020205020404"/>
      <p:regular r:id="rId33"/>
    </p:embeddedFont>
    <p:embeddedFont>
      <p:font typeface="DM Sans Bold" charset="1" panose="000000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Recap the arc so far: 3.1 read a schema, 3.2 filtered one table, 3.3 summarised one table. Today is the first time two tables meet in one query — and the first time row-count prediction (mentioned since 3.1) becomes a real, necessary skill rather than a nice habit.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jpe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jpe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jpe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.png" Type="http://schemas.openxmlformats.org/officeDocument/2006/relationships/image"/><Relationship Id="rId8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0" y="0"/>
            <a:ext cx="2286000" cy="1907572"/>
            <a:chOff x="0" y="0"/>
            <a:chExt cx="3048000" cy="2543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0" r="0" b="-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429375"/>
            <a:ext cx="1907572" cy="1286066"/>
            <a:chOff x="0" y="0"/>
            <a:chExt cx="2543429" cy="17147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8" t="0" r="-14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2944759"/>
            <a:ext cx="16002000" cy="323098"/>
            <a:chOff x="0" y="0"/>
            <a:chExt cx="21336000" cy="430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14386" r="0" b="-91439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" y="2584292"/>
            <a:ext cx="16002000" cy="683564"/>
            <a:chOff x="0" y="0"/>
            <a:chExt cx="21336000" cy="9114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911419"/>
            </a:xfrm>
            <a:custGeom>
              <a:avLst/>
              <a:gdLst/>
              <a:ahLst/>
              <a:cxnLst/>
              <a:rect r="r" b="b" t="t" l="l"/>
              <a:pathLst>
                <a:path h="911419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11419"/>
                  </a:lnTo>
                  <a:lnTo>
                    <a:pt x="0" y="91141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504" r="0" b="-37977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336000" cy="911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DATA ANALYSIS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" y="3349571"/>
            <a:ext cx="16002000" cy="691134"/>
            <a:chOff x="0" y="0"/>
            <a:chExt cx="21336000" cy="9215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36000" cy="921512"/>
            </a:xfrm>
            <a:custGeom>
              <a:avLst/>
              <a:gdLst/>
              <a:ahLst/>
              <a:cxnLst/>
              <a:rect r="r" b="b" t="t" l="l"/>
              <a:pathLst>
                <a:path h="9215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21512"/>
                  </a:lnTo>
                  <a:lnTo>
                    <a:pt x="0" y="9215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00828" r="0" b="-40082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3000" y="3342427"/>
            <a:ext cx="16002000" cy="698283"/>
            <a:chOff x="0" y="0"/>
            <a:chExt cx="21336000" cy="931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6000" cy="931038"/>
            </a:xfrm>
            <a:custGeom>
              <a:avLst/>
              <a:gdLst/>
              <a:ahLst/>
              <a:cxnLst/>
              <a:rect r="r" b="b" t="t" l="l"/>
              <a:pathLst>
                <a:path h="931038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31038"/>
                  </a:lnTo>
                  <a:lnTo>
                    <a:pt x="0" y="93103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96525" r="0" b="-39652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336000" cy="940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Module 3: SQL &amp; Databases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3000" y="8572500"/>
            <a:ext cx="16002000" cy="28766"/>
            <a:chOff x="0" y="0"/>
            <a:chExt cx="21336000" cy="383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3000" y="9001125"/>
            <a:ext cx="385667" cy="342900"/>
            <a:chOff x="0" y="0"/>
            <a:chExt cx="514223" cy="457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" t="0" r="-1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43062" y="9001125"/>
            <a:ext cx="2143354" cy="323098"/>
            <a:chOff x="0" y="0"/>
            <a:chExt cx="2857805" cy="4307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7754" cy="430784"/>
            </a:xfrm>
            <a:custGeom>
              <a:avLst/>
              <a:gdLst/>
              <a:ahLst/>
              <a:cxnLst/>
              <a:rect r="r" b="b" t="t" l="l"/>
              <a:pathLst>
                <a:path h="430784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9171" r="-1" b="-7917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643062" y="8950875"/>
            <a:ext cx="2941409" cy="443400"/>
            <a:chOff x="0" y="0"/>
            <a:chExt cx="2857805" cy="4307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57805" cy="430797"/>
            </a:xfrm>
            <a:custGeom>
              <a:avLst/>
              <a:gdLst/>
              <a:ahLst/>
              <a:cxnLst/>
              <a:rect r="r" b="b" t="t" l="l"/>
              <a:pathLst>
                <a:path h="430797" w="2857805">
                  <a:moveTo>
                    <a:pt x="0" y="0"/>
                  </a:moveTo>
                  <a:lnTo>
                    <a:pt x="2857805" y="0"/>
                  </a:lnTo>
                  <a:lnTo>
                    <a:pt x="2857805" y="430797"/>
                  </a:lnTo>
                  <a:lnTo>
                    <a:pt x="0" y="430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9259" r="0" b="-7925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857805" cy="430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4  of 6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43000" y="552450"/>
            <a:ext cx="2124666" cy="1845802"/>
            <a:chOff x="0" y="0"/>
            <a:chExt cx="2832887" cy="24610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32862" cy="2461133"/>
            </a:xfrm>
            <a:custGeom>
              <a:avLst/>
              <a:gdLst/>
              <a:ahLst/>
              <a:cxnLst/>
              <a:rect r="r" b="b" t="t" l="l"/>
              <a:pathLst>
                <a:path h="2461133" w="2832862">
                  <a:moveTo>
                    <a:pt x="0" y="0"/>
                  </a:moveTo>
                  <a:lnTo>
                    <a:pt x="2832862" y="0"/>
                  </a:lnTo>
                  <a:lnTo>
                    <a:pt x="2832862" y="2461133"/>
                  </a:lnTo>
                  <a:lnTo>
                    <a:pt x="0" y="2461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1" r="0" b="-4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001070" y="1733550"/>
            <a:ext cx="6258230" cy="6258230"/>
            <a:chOff x="0" y="0"/>
            <a:chExt cx="8344306" cy="834430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344281" cy="8344281"/>
            </a:xfrm>
            <a:custGeom>
              <a:avLst/>
              <a:gdLst/>
              <a:ahLst/>
              <a:cxnLst/>
              <a:rect r="r" b="b" t="t" l="l"/>
              <a:pathLst>
                <a:path h="8344281" w="8344281">
                  <a:moveTo>
                    <a:pt x="254000" y="0"/>
                  </a:moveTo>
                  <a:lnTo>
                    <a:pt x="8090281" y="0"/>
                  </a:lnTo>
                  <a:cubicBezTo>
                    <a:pt x="8230616" y="0"/>
                    <a:pt x="8344281" y="113665"/>
                    <a:pt x="8344281" y="254000"/>
                  </a:cubicBezTo>
                  <a:lnTo>
                    <a:pt x="8344281" y="8090281"/>
                  </a:lnTo>
                  <a:cubicBezTo>
                    <a:pt x="8344281" y="8230616"/>
                    <a:pt x="8230616" y="8344281"/>
                    <a:pt x="8090281" y="8344281"/>
                  </a:cubicBezTo>
                  <a:lnTo>
                    <a:pt x="254000" y="8344281"/>
                  </a:lnTo>
                  <a:cubicBezTo>
                    <a:pt x="113665" y="8344281"/>
                    <a:pt x="0" y="8230616"/>
                    <a:pt x="0" y="8090281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blipFill>
              <a:blip r:embed="rId10"/>
              <a:stretch>
                <a:fillRect l="-39583" t="0" r="-39583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772" t="0" r="-772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43000" y="3992404"/>
            <a:ext cx="8745141" cy="292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0"/>
              </a:lnSpc>
            </a:pPr>
            <a:r>
              <a:rPr lang="en-US" sz="9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Joining Tables</a:t>
            </a:r>
          </a:p>
          <a:p>
            <a:pPr algn="l">
              <a:lnSpc>
                <a:spcPts val="11250"/>
              </a:lnSpc>
            </a:pPr>
            <a:r>
              <a:rPr lang="en-US" sz="9000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&amp; Subqueries</a:t>
            </a:r>
            <a:r>
              <a:rPr lang="en-US" sz="9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556177" y="2078926"/>
            <a:ext cx="6700657" cy="6700657"/>
            <a:chOff x="0" y="0"/>
            <a:chExt cx="8934209" cy="89342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34196" cy="8934196"/>
            </a:xfrm>
            <a:custGeom>
              <a:avLst/>
              <a:gdLst/>
              <a:ahLst/>
              <a:cxnLst/>
              <a:rect r="r" b="b" t="t" l="l"/>
              <a:pathLst>
                <a:path h="8934196" w="8934196">
                  <a:moveTo>
                    <a:pt x="254000" y="0"/>
                  </a:moveTo>
                  <a:lnTo>
                    <a:pt x="8680196" y="0"/>
                  </a:lnTo>
                  <a:cubicBezTo>
                    <a:pt x="8747561" y="0"/>
                    <a:pt x="8812167" y="26761"/>
                    <a:pt x="8859801" y="74395"/>
                  </a:cubicBezTo>
                  <a:cubicBezTo>
                    <a:pt x="8907435" y="122029"/>
                    <a:pt x="8934196" y="186635"/>
                    <a:pt x="8934196" y="254000"/>
                  </a:cubicBezTo>
                  <a:lnTo>
                    <a:pt x="8934196" y="8680196"/>
                  </a:lnTo>
                  <a:cubicBezTo>
                    <a:pt x="8934196" y="8820476"/>
                    <a:pt x="8820476" y="8934196"/>
                    <a:pt x="8680196" y="8934196"/>
                  </a:cubicBezTo>
                  <a:lnTo>
                    <a:pt x="254000" y="8934196"/>
                  </a:lnTo>
                  <a:cubicBezTo>
                    <a:pt x="113720" y="8934196"/>
                    <a:pt x="0" y="8820476"/>
                    <a:pt x="0" y="8680196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3815" r="0" b="-13815"/>
              </a:stretch>
            </a:blip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" y="1926641"/>
            <a:ext cx="10574131" cy="6276165"/>
          </a:xfrm>
          <a:custGeom>
            <a:avLst/>
            <a:gdLst/>
            <a:ahLst/>
            <a:cxnLst/>
            <a:rect r="r" b="b" t="t" l="l"/>
            <a:pathLst>
              <a:path h="6276165" w="10574131">
                <a:moveTo>
                  <a:pt x="0" y="0"/>
                </a:moveTo>
                <a:lnTo>
                  <a:pt x="10574131" y="0"/>
                </a:lnTo>
                <a:lnTo>
                  <a:pt x="10574131" y="6276165"/>
                </a:lnTo>
                <a:lnTo>
                  <a:pt x="0" y="6276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2" t="0" r="-77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43000" y="762000"/>
            <a:ext cx="1710213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Learning outcome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5979" y="2882379"/>
            <a:ext cx="9865346" cy="543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By the end of this topic, the trainee can…</a:t>
            </a:r>
          </a:p>
          <a:p>
            <a:pPr algn="l">
              <a:lnSpc>
                <a:spcPts val="4860"/>
              </a:lnSpc>
            </a:pP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1- Use INNER JOIN and LEFT JOIN to bring matching rows from two tables together into one result.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2- Work out, before running it, roughly how many rows an INNER or LEFT join should return — and use that to catch mistakes.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3- Use a query nested inside another query to answer a question that needs a computed value or list first.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6795168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LEARNING OBJECTIVES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458001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1338" y="1980838"/>
            <a:ext cx="10039569" cy="7362863"/>
            <a:chOff x="0" y="0"/>
            <a:chExt cx="13386092" cy="9817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86054" cy="9817227"/>
            </a:xfrm>
            <a:custGeom>
              <a:avLst/>
              <a:gdLst/>
              <a:ahLst/>
              <a:cxnLst/>
              <a:rect r="r" b="b" t="t" l="l"/>
              <a:pathLst>
                <a:path h="9817227" w="13386054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3165837" y="0"/>
                  </a:lnTo>
                  <a:cubicBezTo>
                    <a:pt x="13287502" y="0"/>
                    <a:pt x="13386054" y="98552"/>
                    <a:pt x="13386054" y="220218"/>
                  </a:cubicBezTo>
                  <a:lnTo>
                    <a:pt x="13386054" y="9597009"/>
                  </a:lnTo>
                  <a:cubicBezTo>
                    <a:pt x="13386054" y="9718675"/>
                    <a:pt x="13287502" y="9817227"/>
                    <a:pt x="13165837" y="9817227"/>
                  </a:cubicBezTo>
                  <a:lnTo>
                    <a:pt x="220218" y="9817227"/>
                  </a:lnTo>
                  <a:cubicBezTo>
                    <a:pt x="98552" y="9817100"/>
                    <a:pt x="0" y="9718548"/>
                    <a:pt x="0" y="959700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41304" y="2568292"/>
            <a:ext cx="9059637" cy="549069"/>
            <a:chOff x="0" y="0"/>
            <a:chExt cx="12079516" cy="7320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79517" cy="732092"/>
            </a:xfrm>
            <a:custGeom>
              <a:avLst/>
              <a:gdLst/>
              <a:ahLst/>
              <a:cxnLst/>
              <a:rect r="r" b="b" t="t" l="l"/>
              <a:pathLst>
                <a:path h="732092" w="12079517">
                  <a:moveTo>
                    <a:pt x="0" y="0"/>
                  </a:moveTo>
                  <a:lnTo>
                    <a:pt x="12079517" y="0"/>
                  </a:lnTo>
                  <a:lnTo>
                    <a:pt x="1207951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079516" cy="760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Two teams, two different problems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41304" y="3403111"/>
            <a:ext cx="9059637" cy="595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46" indent="-183523" lvl="1">
              <a:lnSpc>
                <a:spcPts val="2869"/>
              </a:lnSpc>
              <a:buFont typeface="Arial"/>
              <a:buChar char="•"/>
            </a:pPr>
            <a:r>
              <a:rPr lang="en-US" sz="20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Support wants every order with the customer's name on it, so a rep doesn't have to look up two screens per ticket. That data lives in customers and orders — two different tables.</a:t>
            </a:r>
          </a:p>
          <a:p>
            <a:pPr algn="l" marL="367046" indent="-183523" lvl="1">
              <a:lnSpc>
                <a:spcPts val="2869"/>
              </a:lnSpc>
              <a:buFont typeface="Arial"/>
              <a:buChar char="•"/>
            </a:pPr>
            <a:r>
              <a:rPr lang="en-US" sz="20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Marketing wants the opposite problem: customers who registered but have never placed a single order, for a first-purchase discount push.</a:t>
            </a:r>
          </a:p>
          <a:p>
            <a:pPr algn="l" marL="367046" indent="-183523" lvl="1">
              <a:lnSpc>
                <a:spcPts val="2869"/>
              </a:lnSpc>
              <a:buFont typeface="Arial"/>
              <a:buChar char="•"/>
            </a:pPr>
            <a:r>
              <a:rPr lang="en-US" sz="20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Neither question can be answered from one table. Both need the tables joined — just in different ways.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393176" y="1990373"/>
            <a:ext cx="5971127" cy="7343794"/>
            <a:chOff x="0" y="0"/>
            <a:chExt cx="7961503" cy="97917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61630" cy="9791827"/>
            </a:xfrm>
            <a:custGeom>
              <a:avLst/>
              <a:gdLst/>
              <a:ahLst/>
              <a:cxnLst/>
              <a:rect r="r" b="b" t="t" l="l"/>
              <a:pathLst>
                <a:path h="9791827" w="7961630">
                  <a:moveTo>
                    <a:pt x="0" y="219710"/>
                  </a:moveTo>
                  <a:cubicBezTo>
                    <a:pt x="0" y="98298"/>
                    <a:pt x="98298" y="0"/>
                    <a:pt x="219710" y="0"/>
                  </a:cubicBezTo>
                  <a:lnTo>
                    <a:pt x="7741920" y="0"/>
                  </a:lnTo>
                  <a:cubicBezTo>
                    <a:pt x="7863205" y="0"/>
                    <a:pt x="7961630" y="98298"/>
                    <a:pt x="7961630" y="219710"/>
                  </a:cubicBezTo>
                  <a:lnTo>
                    <a:pt x="7961630" y="9572117"/>
                  </a:lnTo>
                  <a:cubicBezTo>
                    <a:pt x="7961630" y="9693402"/>
                    <a:pt x="7863332" y="9791827"/>
                    <a:pt x="7741920" y="9791827"/>
                  </a:cubicBezTo>
                  <a:lnTo>
                    <a:pt x="219710" y="9791827"/>
                  </a:lnTo>
                  <a:cubicBezTo>
                    <a:pt x="98298" y="9791700"/>
                    <a:pt x="0" y="9693402"/>
                    <a:pt x="0" y="9572117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804980" y="3431677"/>
            <a:ext cx="5216157" cy="480431"/>
            <a:chOff x="0" y="0"/>
            <a:chExt cx="6954876" cy="6405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54873" cy="640580"/>
            </a:xfrm>
            <a:custGeom>
              <a:avLst/>
              <a:gdLst/>
              <a:ahLst/>
              <a:cxnLst/>
              <a:rect r="r" b="b" t="t" l="l"/>
              <a:pathLst>
                <a:path h="640580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61552" r="0" b="-1615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954876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B9D6CF"/>
                  </a:solidFill>
                  <a:latin typeface="Poppins"/>
                  <a:ea typeface="Poppins"/>
                  <a:cs typeface="Poppins"/>
                  <a:sym typeface="Poppins"/>
                </a:rPr>
                <a:t>That’s exactly what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80" y="4049382"/>
            <a:ext cx="3225784" cy="754971"/>
            <a:chOff x="0" y="0"/>
            <a:chExt cx="4301046" cy="10066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00982" cy="1006602"/>
            </a:xfrm>
            <a:custGeom>
              <a:avLst/>
              <a:gdLst/>
              <a:ahLst/>
              <a:cxnLst/>
              <a:rect r="r" b="b" t="t" l="l"/>
              <a:pathLst>
                <a:path h="1006602" w="430098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lnTo>
                    <a:pt x="3797681" y="0"/>
                  </a:lnTo>
                  <a:cubicBezTo>
                    <a:pt x="4075684" y="0"/>
                    <a:pt x="4300982" y="225298"/>
                    <a:pt x="4300982" y="503301"/>
                  </a:cubicBezTo>
                  <a:cubicBezTo>
                    <a:pt x="4300982" y="781304"/>
                    <a:pt x="4075684" y="1006602"/>
                    <a:pt x="3797681" y="1006602"/>
                  </a:cubicBezTo>
                  <a:lnTo>
                    <a:pt x="503301" y="1006602"/>
                  </a:ln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804980" y="4049382"/>
            <a:ext cx="3225784" cy="754971"/>
            <a:chOff x="0" y="0"/>
            <a:chExt cx="4301046" cy="100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01040" cy="1006626"/>
            </a:xfrm>
            <a:custGeom>
              <a:avLst/>
              <a:gdLst/>
              <a:ahLst/>
              <a:cxnLst/>
              <a:rect r="r" b="b" t="t" l="l"/>
              <a:pathLst>
                <a:path h="1006626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254" r="0" b="-3325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301046" cy="101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INNER JOIN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04980" y="4969078"/>
            <a:ext cx="2951245" cy="754971"/>
            <a:chOff x="0" y="0"/>
            <a:chExt cx="3934993" cy="10066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34968" cy="1006602"/>
            </a:xfrm>
            <a:custGeom>
              <a:avLst/>
              <a:gdLst/>
              <a:ahLst/>
              <a:cxnLst/>
              <a:rect r="r" b="b" t="t" l="l"/>
              <a:pathLst>
                <a:path h="1006602" w="3934968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lnTo>
                    <a:pt x="3431667" y="0"/>
                  </a:lnTo>
                  <a:cubicBezTo>
                    <a:pt x="3709670" y="0"/>
                    <a:pt x="3934968" y="225298"/>
                    <a:pt x="3934968" y="503301"/>
                  </a:cubicBezTo>
                  <a:cubicBezTo>
                    <a:pt x="3934968" y="781304"/>
                    <a:pt x="3709670" y="1006602"/>
                    <a:pt x="3431667" y="1006602"/>
                  </a:cubicBezTo>
                  <a:lnTo>
                    <a:pt x="503301" y="1006602"/>
                  </a:ln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C6941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804980" y="4969078"/>
            <a:ext cx="2951245" cy="754971"/>
            <a:chOff x="0" y="0"/>
            <a:chExt cx="3934993" cy="10066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34994" cy="1006626"/>
            </a:xfrm>
            <a:custGeom>
              <a:avLst/>
              <a:gdLst/>
              <a:ahLst/>
              <a:cxnLst/>
              <a:rect r="r" b="b" t="t" l="l"/>
              <a:pathLst>
                <a:path h="1006626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934993" cy="101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LEFT JOIN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804980" y="5971127"/>
            <a:ext cx="5216157" cy="2127647"/>
            <a:chOff x="0" y="0"/>
            <a:chExt cx="6954876" cy="283686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54873" cy="2836856"/>
            </a:xfrm>
            <a:custGeom>
              <a:avLst/>
              <a:gdLst/>
              <a:ahLst/>
              <a:cxnLst/>
              <a:rect r="r" b="b" t="t" l="l"/>
              <a:pathLst>
                <a:path h="2836856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2836856"/>
                  </a:lnTo>
                  <a:lnTo>
                    <a:pt x="0" y="283685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334" t="0" r="-233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6954876" cy="29130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1951" i="true">
                  <a:solidFill>
                    <a:srgbClr val="E7F0EE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solve, respectively — matching rows only, or every row from one side whether it matches or not.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4893987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1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38225" y="1974585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Two tables, one shared key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3298622"/>
            <a:ext cx="7824235" cy="4998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46" indent="-183523" lvl="1">
              <a:lnSpc>
                <a:spcPts val="2869"/>
              </a:lnSpc>
              <a:buFont typeface="Arial"/>
              <a:buChar char="•"/>
            </a:pPr>
            <a:r>
              <a:rPr lang="en-US" sz="20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From 3.1: customers has a primary key, customer_id — one row per customer, never repeated.</a:t>
            </a:r>
          </a:p>
          <a:p>
            <a:pPr algn="l" marL="367046" indent="-183523" lvl="1">
              <a:lnSpc>
                <a:spcPts val="2869"/>
              </a:lnSpc>
              <a:buFont typeface="Arial"/>
              <a:buChar char="•"/>
            </a:pPr>
            <a:r>
              <a:rPr lang="en-US" sz="20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orders has its own primary key, order_id — but also a customer_id column, a foreign key pointing back to whose order it is.</a:t>
            </a:r>
          </a:p>
          <a:p>
            <a:pPr algn="l" marL="367046" indent="-183523" lvl="1">
              <a:lnSpc>
                <a:spcPts val="2869"/>
              </a:lnSpc>
              <a:buFont typeface="Arial"/>
              <a:buChar char="•"/>
            </a:pPr>
            <a:r>
              <a:rPr lang="en-US" sz="20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That shared column is the hook a join hangs on: match customers.customer_id to orders.customer_id, row by row.</a:t>
            </a:r>
          </a:p>
          <a:p>
            <a:pPr algn="l" marL="367046" indent="-183523" lvl="1">
              <a:lnSpc>
                <a:spcPts val="2869"/>
              </a:lnSpc>
              <a:buFont typeface="Arial"/>
              <a:buChar char="•"/>
            </a:pPr>
            <a:r>
              <a:rPr lang="en-US" sz="20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A customer can have many orders (one-to-many) — that's exactly why they're two tables, not one, going back to 3.1's spreadsheet problem.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56004" y="2667181"/>
            <a:ext cx="8117834" cy="2846765"/>
            <a:chOff x="0" y="0"/>
            <a:chExt cx="10823778" cy="37956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23829" cy="3795776"/>
            </a:xfrm>
            <a:custGeom>
              <a:avLst/>
              <a:gdLst/>
              <a:ahLst/>
              <a:cxnLst/>
              <a:rect r="r" b="b" t="t" l="l"/>
              <a:pathLst>
                <a:path h="3795776" w="10823829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10713212" y="0"/>
                  </a:lnTo>
                  <a:cubicBezTo>
                    <a:pt x="10774299" y="0"/>
                    <a:pt x="10823829" y="49530"/>
                    <a:pt x="10823829" y="110617"/>
                  </a:cubicBezTo>
                  <a:lnTo>
                    <a:pt x="10823829" y="3685159"/>
                  </a:lnTo>
                  <a:cubicBezTo>
                    <a:pt x="10823829" y="3746246"/>
                    <a:pt x="10774299" y="3795776"/>
                    <a:pt x="10713212" y="3795776"/>
                  </a:cubicBezTo>
                  <a:lnTo>
                    <a:pt x="110617" y="3795776"/>
                  </a:lnTo>
                  <a:cubicBezTo>
                    <a:pt x="49530" y="3795776"/>
                    <a:pt x="0" y="3746246"/>
                    <a:pt x="0" y="368515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265539" y="2676716"/>
            <a:ext cx="8098765" cy="494167"/>
            <a:chOff x="0" y="0"/>
            <a:chExt cx="10798353" cy="6588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98302" cy="658876"/>
            </a:xfrm>
            <a:custGeom>
              <a:avLst/>
              <a:gdLst/>
              <a:ahLst/>
              <a:cxnLst/>
              <a:rect r="r" b="b" t="t" l="l"/>
              <a:pathLst>
                <a:path h="658876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658876"/>
                  </a:lnTo>
                  <a:lnTo>
                    <a:pt x="0" y="658876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430255" y="2676716"/>
            <a:ext cx="2425055" cy="494167"/>
            <a:chOff x="0" y="0"/>
            <a:chExt cx="3233407" cy="6588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33406" cy="658883"/>
            </a:xfrm>
            <a:custGeom>
              <a:avLst/>
              <a:gdLst/>
              <a:ahLst/>
              <a:cxnLst/>
              <a:rect r="r" b="b" t="t" l="l"/>
              <a:pathLst>
                <a:path h="658883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5620" r="0" b="-4562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233407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customer_id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29849" y="2676716"/>
            <a:ext cx="2425055" cy="494167"/>
            <a:chOff x="0" y="0"/>
            <a:chExt cx="3233407" cy="6588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33406" cy="658883"/>
            </a:xfrm>
            <a:custGeom>
              <a:avLst/>
              <a:gdLst/>
              <a:ahLst/>
              <a:cxnLst/>
              <a:rect r="r" b="b" t="t" l="l"/>
              <a:pathLst>
                <a:path h="658883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5620" r="0" b="-456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233407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full_name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829434" y="2676716"/>
            <a:ext cx="2425055" cy="494167"/>
            <a:chOff x="0" y="0"/>
            <a:chExt cx="3233407" cy="6588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33406" cy="658883"/>
            </a:xfrm>
            <a:custGeom>
              <a:avLst/>
              <a:gdLst/>
              <a:ahLst/>
              <a:cxnLst/>
              <a:rect r="r" b="b" t="t" l="l"/>
              <a:pathLst>
                <a:path h="658883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5620" r="0" b="-4562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233407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city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30255" y="3170872"/>
            <a:ext cx="2425055" cy="466706"/>
            <a:chOff x="0" y="0"/>
            <a:chExt cx="3233407" cy="6222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101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129849" y="3170872"/>
            <a:ext cx="2425055" cy="466706"/>
            <a:chOff x="0" y="0"/>
            <a:chExt cx="3233407" cy="6222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Chidinma Okafor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829434" y="3170872"/>
            <a:ext cx="2425055" cy="466706"/>
            <a:chOff x="0" y="0"/>
            <a:chExt cx="3233407" cy="6222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Lagos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65539" y="3637578"/>
            <a:ext cx="8098765" cy="466706"/>
            <a:chOff x="0" y="0"/>
            <a:chExt cx="10798353" cy="6222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98302" cy="622300"/>
            </a:xfrm>
            <a:custGeom>
              <a:avLst/>
              <a:gdLst/>
              <a:ahLst/>
              <a:cxnLst/>
              <a:rect r="r" b="b" t="t" l="l"/>
              <a:pathLst>
                <a:path h="622300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430255" y="3637578"/>
            <a:ext cx="2425055" cy="466706"/>
            <a:chOff x="0" y="0"/>
            <a:chExt cx="3233407" cy="62227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102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129849" y="3637578"/>
            <a:ext cx="2425055" cy="466706"/>
            <a:chOff x="0" y="0"/>
            <a:chExt cx="3233407" cy="62227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Tunde Bakare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829434" y="3637578"/>
            <a:ext cx="2425055" cy="466706"/>
            <a:chOff x="0" y="0"/>
            <a:chExt cx="3233407" cy="62227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Ibadan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30255" y="4104294"/>
            <a:ext cx="2425055" cy="466706"/>
            <a:chOff x="0" y="0"/>
            <a:chExt cx="3233407" cy="62227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103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129849" y="4104294"/>
            <a:ext cx="2425055" cy="466706"/>
            <a:chOff x="0" y="0"/>
            <a:chExt cx="3233407" cy="62227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Aisha Mohammed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829434" y="4104294"/>
            <a:ext cx="2425055" cy="466706"/>
            <a:chOff x="0" y="0"/>
            <a:chExt cx="3233407" cy="62227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Abuja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265539" y="4571000"/>
            <a:ext cx="8098765" cy="466706"/>
            <a:chOff x="0" y="0"/>
            <a:chExt cx="10798353" cy="6222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798302" cy="622300"/>
            </a:xfrm>
            <a:custGeom>
              <a:avLst/>
              <a:gdLst/>
              <a:ahLst/>
              <a:cxnLst/>
              <a:rect r="r" b="b" t="t" l="l"/>
              <a:pathLst>
                <a:path h="622300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430255" y="4571000"/>
            <a:ext cx="2425055" cy="466706"/>
            <a:chOff x="0" y="0"/>
            <a:chExt cx="3233407" cy="62227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104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129849" y="4571000"/>
            <a:ext cx="2425055" cy="466706"/>
            <a:chOff x="0" y="0"/>
            <a:chExt cx="3233407" cy="62227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Emeka Nwosu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829434" y="4571000"/>
            <a:ext cx="2425055" cy="466706"/>
            <a:chOff x="0" y="0"/>
            <a:chExt cx="3233407" cy="62227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Lagos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430255" y="5037706"/>
            <a:ext cx="2425055" cy="466706"/>
            <a:chOff x="0" y="0"/>
            <a:chExt cx="3233407" cy="62227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105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129849" y="5037706"/>
            <a:ext cx="2425055" cy="466706"/>
            <a:chOff x="0" y="0"/>
            <a:chExt cx="3233407" cy="62227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Ngozi Eze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829434" y="5037706"/>
            <a:ext cx="2425055" cy="466706"/>
            <a:chOff x="0" y="0"/>
            <a:chExt cx="3233407" cy="62227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Port Harcourt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265539" y="5696588"/>
            <a:ext cx="8098765" cy="384353"/>
            <a:chOff x="0" y="0"/>
            <a:chExt cx="10798353" cy="51247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798356" cy="512464"/>
            </a:xfrm>
            <a:custGeom>
              <a:avLst/>
              <a:gdLst/>
              <a:ahLst/>
              <a:cxnLst/>
              <a:rect r="r" b="b" t="t" l="l"/>
              <a:pathLst>
                <a:path h="512464" w="10798356">
                  <a:moveTo>
                    <a:pt x="0" y="0"/>
                  </a:moveTo>
                  <a:lnTo>
                    <a:pt x="10798356" y="0"/>
                  </a:lnTo>
                  <a:lnTo>
                    <a:pt x="10798356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0576" r="0" b="-36057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10798353" cy="5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customers — 5 rows, one per person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256004" y="6236122"/>
            <a:ext cx="8117834" cy="2242795"/>
            <a:chOff x="0" y="0"/>
            <a:chExt cx="10823778" cy="299039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823701" cy="2990342"/>
            </a:xfrm>
            <a:custGeom>
              <a:avLst/>
              <a:gdLst/>
              <a:ahLst/>
              <a:cxnLst/>
              <a:rect r="r" b="b" t="t" l="l"/>
              <a:pathLst>
                <a:path h="2990342" w="10823701">
                  <a:moveTo>
                    <a:pt x="0" y="110744"/>
                  </a:moveTo>
                  <a:cubicBezTo>
                    <a:pt x="0" y="49530"/>
                    <a:pt x="49530" y="0"/>
                    <a:pt x="110744" y="0"/>
                  </a:cubicBezTo>
                  <a:lnTo>
                    <a:pt x="10712958" y="0"/>
                  </a:lnTo>
                  <a:cubicBezTo>
                    <a:pt x="10774172" y="0"/>
                    <a:pt x="10823701" y="49530"/>
                    <a:pt x="10823701" y="110744"/>
                  </a:cubicBezTo>
                  <a:lnTo>
                    <a:pt x="10823701" y="2879598"/>
                  </a:lnTo>
                  <a:cubicBezTo>
                    <a:pt x="10823701" y="2940812"/>
                    <a:pt x="10774172" y="2990342"/>
                    <a:pt x="10712958" y="2990342"/>
                  </a:cubicBezTo>
                  <a:lnTo>
                    <a:pt x="110744" y="2990342"/>
                  </a:lnTo>
                  <a:cubicBezTo>
                    <a:pt x="49530" y="2990342"/>
                    <a:pt x="0" y="2940812"/>
                    <a:pt x="0" y="287959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265539" y="6245657"/>
            <a:ext cx="8098765" cy="466706"/>
            <a:chOff x="0" y="0"/>
            <a:chExt cx="10798353" cy="62227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798302" cy="622300"/>
            </a:xfrm>
            <a:custGeom>
              <a:avLst/>
              <a:gdLst/>
              <a:ahLst/>
              <a:cxnLst/>
              <a:rect r="r" b="b" t="t" l="l"/>
              <a:pathLst>
                <a:path h="622300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430255" y="6245657"/>
            <a:ext cx="2425055" cy="466706"/>
            <a:chOff x="0" y="0"/>
            <a:chExt cx="3233407" cy="62227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order_id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129849" y="6245657"/>
            <a:ext cx="2425055" cy="466706"/>
            <a:chOff x="0" y="0"/>
            <a:chExt cx="3233407" cy="62227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customer_id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4829434" y="6245657"/>
            <a:ext cx="2425055" cy="466706"/>
            <a:chOff x="0" y="0"/>
            <a:chExt cx="3233407" cy="62227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233406" cy="622278"/>
            </a:xfrm>
            <a:custGeom>
              <a:avLst/>
              <a:gdLst/>
              <a:ahLst/>
              <a:cxnLst/>
              <a:rect r="r" b="b" t="t" l="l"/>
              <a:pathLst>
                <a:path h="622278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246" r="0" b="-5124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3233407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status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430255" y="6712372"/>
            <a:ext cx="2425055" cy="439255"/>
            <a:chOff x="0" y="0"/>
            <a:chExt cx="3233407" cy="58567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233406" cy="585674"/>
            </a:xfrm>
            <a:custGeom>
              <a:avLst/>
              <a:gdLst/>
              <a:ahLst/>
              <a:cxnLst/>
              <a:rect r="r" b="b" t="t" l="l"/>
              <a:pathLst>
                <a:path h="585674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3233407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5001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129849" y="6712372"/>
            <a:ext cx="2425055" cy="439255"/>
            <a:chOff x="0" y="0"/>
            <a:chExt cx="3233407" cy="58567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233406" cy="585674"/>
            </a:xfrm>
            <a:custGeom>
              <a:avLst/>
              <a:gdLst/>
              <a:ahLst/>
              <a:cxnLst/>
              <a:rect r="r" b="b" t="t" l="l"/>
              <a:pathLst>
                <a:path h="585674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3233407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101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829434" y="6712372"/>
            <a:ext cx="2425055" cy="439255"/>
            <a:chOff x="0" y="0"/>
            <a:chExt cx="3233407" cy="58567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233406" cy="585674"/>
            </a:xfrm>
            <a:custGeom>
              <a:avLst/>
              <a:gdLst/>
              <a:ahLst/>
              <a:cxnLst/>
              <a:rect r="r" b="b" t="t" l="l"/>
              <a:pathLst>
                <a:path h="585674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3233407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Delivered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265539" y="7151627"/>
            <a:ext cx="8098765" cy="439255"/>
            <a:chOff x="0" y="0"/>
            <a:chExt cx="10798353" cy="58567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798302" cy="585724"/>
            </a:xfrm>
            <a:custGeom>
              <a:avLst/>
              <a:gdLst/>
              <a:ahLst/>
              <a:cxnLst/>
              <a:rect r="r" b="b" t="t" l="l"/>
              <a:pathLst>
                <a:path h="585724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430255" y="7151627"/>
            <a:ext cx="2425055" cy="439255"/>
            <a:chOff x="0" y="0"/>
            <a:chExt cx="3233407" cy="585673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233406" cy="585674"/>
            </a:xfrm>
            <a:custGeom>
              <a:avLst/>
              <a:gdLst/>
              <a:ahLst/>
              <a:cxnLst/>
              <a:rect r="r" b="b" t="t" l="l"/>
              <a:pathLst>
                <a:path h="585674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3233407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5002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129849" y="7151627"/>
            <a:ext cx="2425055" cy="439255"/>
            <a:chOff x="0" y="0"/>
            <a:chExt cx="3233407" cy="585673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233406" cy="585674"/>
            </a:xfrm>
            <a:custGeom>
              <a:avLst/>
              <a:gdLst/>
              <a:ahLst/>
              <a:cxnLst/>
              <a:rect r="r" b="b" t="t" l="l"/>
              <a:pathLst>
                <a:path h="585674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3233407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101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4829434" y="7151627"/>
            <a:ext cx="2425055" cy="439255"/>
            <a:chOff x="0" y="0"/>
            <a:chExt cx="3233407" cy="585673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233406" cy="585674"/>
            </a:xfrm>
            <a:custGeom>
              <a:avLst/>
              <a:gdLst/>
              <a:ahLst/>
              <a:cxnLst/>
              <a:rect r="r" b="b" t="t" l="l"/>
              <a:pathLst>
                <a:path h="585674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3233407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Delivered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430255" y="7590882"/>
            <a:ext cx="2425055" cy="439255"/>
            <a:chOff x="0" y="0"/>
            <a:chExt cx="3233407" cy="585673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233406" cy="585674"/>
            </a:xfrm>
            <a:custGeom>
              <a:avLst/>
              <a:gdLst/>
              <a:ahLst/>
              <a:cxnLst/>
              <a:rect r="r" b="b" t="t" l="l"/>
              <a:pathLst>
                <a:path h="585674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9525"/>
              <a:ext cx="3233407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5003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129849" y="7590882"/>
            <a:ext cx="2425055" cy="439255"/>
            <a:chOff x="0" y="0"/>
            <a:chExt cx="3233407" cy="585673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233406" cy="585674"/>
            </a:xfrm>
            <a:custGeom>
              <a:avLst/>
              <a:gdLst/>
              <a:ahLst/>
              <a:cxnLst/>
              <a:rect r="r" b="b" t="t" l="l"/>
              <a:pathLst>
                <a:path h="585674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3233407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103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4829434" y="7590882"/>
            <a:ext cx="2425055" cy="439255"/>
            <a:chOff x="0" y="0"/>
            <a:chExt cx="3233407" cy="585673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233406" cy="585674"/>
            </a:xfrm>
            <a:custGeom>
              <a:avLst/>
              <a:gdLst/>
              <a:ahLst/>
              <a:cxnLst/>
              <a:rect r="r" b="b" t="t" l="l"/>
              <a:pathLst>
                <a:path h="585674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9525"/>
              <a:ext cx="3233407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Delivered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265539" y="8030137"/>
            <a:ext cx="8098765" cy="439255"/>
            <a:chOff x="0" y="0"/>
            <a:chExt cx="10798353" cy="585673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0798302" cy="585724"/>
            </a:xfrm>
            <a:custGeom>
              <a:avLst/>
              <a:gdLst/>
              <a:ahLst/>
              <a:cxnLst/>
              <a:rect r="r" b="b" t="t" l="l"/>
              <a:pathLst>
                <a:path h="585724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430255" y="8030137"/>
            <a:ext cx="2425055" cy="439255"/>
            <a:chOff x="0" y="0"/>
            <a:chExt cx="3233407" cy="58567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233406" cy="585674"/>
            </a:xfrm>
            <a:custGeom>
              <a:avLst/>
              <a:gdLst/>
              <a:ahLst/>
              <a:cxnLst/>
              <a:rect r="r" b="b" t="t" l="l"/>
              <a:pathLst>
                <a:path h="585674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9525"/>
              <a:ext cx="3233407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5004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2129849" y="8030137"/>
            <a:ext cx="2425055" cy="439255"/>
            <a:chOff x="0" y="0"/>
            <a:chExt cx="3233407" cy="585673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233406" cy="585674"/>
            </a:xfrm>
            <a:custGeom>
              <a:avLst/>
              <a:gdLst/>
              <a:ahLst/>
              <a:cxnLst/>
              <a:rect r="r" b="b" t="t" l="l"/>
              <a:pathLst>
                <a:path h="585674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9525"/>
              <a:ext cx="3233407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104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4829434" y="8030137"/>
            <a:ext cx="2425055" cy="439255"/>
            <a:chOff x="0" y="0"/>
            <a:chExt cx="3233407" cy="58567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233406" cy="585674"/>
            </a:xfrm>
            <a:custGeom>
              <a:avLst/>
              <a:gdLst/>
              <a:ahLst/>
              <a:cxnLst/>
              <a:rect r="r" b="b" t="t" l="l"/>
              <a:pathLst>
                <a:path h="585674" w="3233406">
                  <a:moveTo>
                    <a:pt x="0" y="0"/>
                  </a:moveTo>
                  <a:lnTo>
                    <a:pt x="3233406" y="0"/>
                  </a:lnTo>
                  <a:lnTo>
                    <a:pt x="323340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573" r="0" b="-57573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9525"/>
              <a:ext cx="3233407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Cancelled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265539" y="8441931"/>
            <a:ext cx="8098765" cy="384353"/>
            <a:chOff x="0" y="0"/>
            <a:chExt cx="10798353" cy="51247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0798356" cy="512464"/>
            </a:xfrm>
            <a:custGeom>
              <a:avLst/>
              <a:gdLst/>
              <a:ahLst/>
              <a:cxnLst/>
              <a:rect r="r" b="b" t="t" l="l"/>
              <a:pathLst>
                <a:path h="512464" w="10798356">
                  <a:moveTo>
                    <a:pt x="0" y="0"/>
                  </a:moveTo>
                  <a:lnTo>
                    <a:pt x="10798356" y="0"/>
                  </a:lnTo>
                  <a:lnTo>
                    <a:pt x="10798356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0576" r="0" b="-360578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9525"/>
              <a:ext cx="10798353" cy="5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orders — 4 rows; note 102 and 105 have none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5587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2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46785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42974" y="1814019"/>
            <a:ext cx="13040392" cy="691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6"/>
              </a:lnSpc>
            </a:pPr>
            <a:r>
              <a:rPr lang="en-US" sz="42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INNER JOIN — only the matches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2785729"/>
            <a:ext cx="7824235" cy="293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INNER JOIN pairs up rows from both tables wherever the ON condition is true.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If a customer has two orders, that customer appears twice — once per order.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If a customer has zero orders, they don't appear at all. INNER JOIN only keeps matched pairs.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0872" y="6000017"/>
            <a:ext cx="7824235" cy="2264912"/>
            <a:chOff x="0" y="0"/>
            <a:chExt cx="10432313" cy="30198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32288" cy="3019806"/>
            </a:xfrm>
            <a:custGeom>
              <a:avLst/>
              <a:gdLst/>
              <a:ahLst/>
              <a:cxnLst/>
              <a:rect r="r" b="b" t="t" l="l"/>
              <a:pathLst>
                <a:path h="3019806" w="1043228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267569" y="0"/>
                  </a:lnTo>
                  <a:cubicBezTo>
                    <a:pt x="10358501" y="0"/>
                    <a:pt x="10432288" y="73787"/>
                    <a:pt x="10432288" y="164719"/>
                  </a:cubicBezTo>
                  <a:lnTo>
                    <a:pt x="10432288" y="2855087"/>
                  </a:lnTo>
                  <a:cubicBezTo>
                    <a:pt x="10432288" y="2946019"/>
                    <a:pt x="10358501" y="3019806"/>
                    <a:pt x="10267569" y="3019806"/>
                  </a:cubicBezTo>
                  <a:lnTo>
                    <a:pt x="164719" y="3019806"/>
                  </a:lnTo>
                  <a:cubicBezTo>
                    <a:pt x="73787" y="3019933"/>
                    <a:pt x="0" y="2946146"/>
                    <a:pt x="0" y="2855087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45216" y="6207881"/>
            <a:ext cx="7055539" cy="178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SELECT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c.full_name, c.city, o.order_id, o.status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customers c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INNER JOIN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orders o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ON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c.customer_id = o.customer_id;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50103" y="2833345"/>
            <a:ext cx="8255098" cy="2517324"/>
            <a:chOff x="0" y="0"/>
            <a:chExt cx="11006798" cy="3356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06710" cy="3356356"/>
            </a:xfrm>
            <a:custGeom>
              <a:avLst/>
              <a:gdLst/>
              <a:ahLst/>
              <a:cxnLst/>
              <a:rect r="r" b="b" t="t" l="l"/>
              <a:pathLst>
                <a:path h="3356356" w="1100671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10896092" y="0"/>
                  </a:lnTo>
                  <a:cubicBezTo>
                    <a:pt x="10957179" y="0"/>
                    <a:pt x="11006710" y="49530"/>
                    <a:pt x="11006710" y="110617"/>
                  </a:cubicBezTo>
                  <a:lnTo>
                    <a:pt x="11006710" y="3245739"/>
                  </a:lnTo>
                  <a:cubicBezTo>
                    <a:pt x="11006710" y="3306826"/>
                    <a:pt x="10957179" y="3356356"/>
                    <a:pt x="10896092" y="3356356"/>
                  </a:cubicBezTo>
                  <a:lnTo>
                    <a:pt x="110617" y="3356356"/>
                  </a:lnTo>
                  <a:cubicBezTo>
                    <a:pt x="49530" y="3356356"/>
                    <a:pt x="0" y="3306826"/>
                    <a:pt x="0" y="32457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059637" y="2842879"/>
            <a:ext cx="8236039" cy="521618"/>
            <a:chOff x="0" y="0"/>
            <a:chExt cx="10981385" cy="6954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81436" cy="695452"/>
            </a:xfrm>
            <a:custGeom>
              <a:avLst/>
              <a:gdLst/>
              <a:ahLst/>
              <a:cxnLst/>
              <a:rect r="r" b="b" t="t" l="l"/>
              <a:pathLst>
                <a:path h="695452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695452"/>
                  </a:lnTo>
                  <a:lnTo>
                    <a:pt x="0" y="695452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24362" y="2842879"/>
            <a:ext cx="2470814" cy="521618"/>
            <a:chOff x="0" y="0"/>
            <a:chExt cx="3294418" cy="6954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94414" cy="695487"/>
            </a:xfrm>
            <a:custGeom>
              <a:avLst/>
              <a:gdLst/>
              <a:ahLst/>
              <a:cxnLst/>
              <a:rect r="r" b="b" t="t" l="l"/>
              <a:pathLst>
                <a:path h="69548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294418" cy="705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full_name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969706" y="2842879"/>
            <a:ext cx="2470814" cy="521618"/>
            <a:chOff x="0" y="0"/>
            <a:chExt cx="3294418" cy="6954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94414" cy="695487"/>
            </a:xfrm>
            <a:custGeom>
              <a:avLst/>
              <a:gdLst/>
              <a:ahLst/>
              <a:cxnLst/>
              <a:rect r="r" b="b" t="t" l="l"/>
              <a:pathLst>
                <a:path h="69548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294418" cy="705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order_id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715049" y="2842879"/>
            <a:ext cx="2470814" cy="521618"/>
            <a:chOff x="0" y="0"/>
            <a:chExt cx="3294418" cy="6954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94414" cy="695487"/>
            </a:xfrm>
            <a:custGeom>
              <a:avLst/>
              <a:gdLst/>
              <a:ahLst/>
              <a:cxnLst/>
              <a:rect r="r" b="b" t="t" l="l"/>
              <a:pathLst>
                <a:path h="695487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294418" cy="705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status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224362" y="3364487"/>
            <a:ext cx="2470814" cy="494167"/>
            <a:chOff x="0" y="0"/>
            <a:chExt cx="3294418" cy="6588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94414" cy="658883"/>
            </a:xfrm>
            <a:custGeom>
              <a:avLst/>
              <a:gdLst/>
              <a:ahLst/>
              <a:cxnLst/>
              <a:rect r="r" b="b" t="t" l="l"/>
              <a:pathLst>
                <a:path h="658883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294418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Chidinma Okafor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969706" y="3364487"/>
            <a:ext cx="2470814" cy="494167"/>
            <a:chOff x="0" y="0"/>
            <a:chExt cx="3294418" cy="6588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94414" cy="658883"/>
            </a:xfrm>
            <a:custGeom>
              <a:avLst/>
              <a:gdLst/>
              <a:ahLst/>
              <a:cxnLst/>
              <a:rect r="r" b="b" t="t" l="l"/>
              <a:pathLst>
                <a:path h="658883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294418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715049" y="3364487"/>
            <a:ext cx="2470814" cy="494167"/>
            <a:chOff x="0" y="0"/>
            <a:chExt cx="3294418" cy="65888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94414" cy="658883"/>
            </a:xfrm>
            <a:custGeom>
              <a:avLst/>
              <a:gdLst/>
              <a:ahLst/>
              <a:cxnLst/>
              <a:rect r="r" b="b" t="t" l="l"/>
              <a:pathLst>
                <a:path h="658883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294418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Delivered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59637" y="3858654"/>
            <a:ext cx="8236039" cy="494167"/>
            <a:chOff x="0" y="0"/>
            <a:chExt cx="10981385" cy="65888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81436" cy="658876"/>
            </a:xfrm>
            <a:custGeom>
              <a:avLst/>
              <a:gdLst/>
              <a:ahLst/>
              <a:cxnLst/>
              <a:rect r="r" b="b" t="t" l="l"/>
              <a:pathLst>
                <a:path h="658876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658876"/>
                  </a:lnTo>
                  <a:lnTo>
                    <a:pt x="0" y="658876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224362" y="3858654"/>
            <a:ext cx="2470814" cy="494167"/>
            <a:chOff x="0" y="0"/>
            <a:chExt cx="3294418" cy="65888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94414" cy="658883"/>
            </a:xfrm>
            <a:custGeom>
              <a:avLst/>
              <a:gdLst/>
              <a:ahLst/>
              <a:cxnLst/>
              <a:rect r="r" b="b" t="t" l="l"/>
              <a:pathLst>
                <a:path h="658883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294418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Chidinma Okafor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969706" y="3858654"/>
            <a:ext cx="2470814" cy="494167"/>
            <a:chOff x="0" y="0"/>
            <a:chExt cx="3294418" cy="65888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94414" cy="658883"/>
            </a:xfrm>
            <a:custGeom>
              <a:avLst/>
              <a:gdLst/>
              <a:ahLst/>
              <a:cxnLst/>
              <a:rect r="r" b="b" t="t" l="l"/>
              <a:pathLst>
                <a:path h="658883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294418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715049" y="3858654"/>
            <a:ext cx="2470814" cy="494167"/>
            <a:chOff x="0" y="0"/>
            <a:chExt cx="3294418" cy="65888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94414" cy="658883"/>
            </a:xfrm>
            <a:custGeom>
              <a:avLst/>
              <a:gdLst/>
              <a:ahLst/>
              <a:cxnLst/>
              <a:rect r="r" b="b" t="t" l="l"/>
              <a:pathLst>
                <a:path h="658883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3294418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Delivered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224362" y="4352811"/>
            <a:ext cx="2470814" cy="494167"/>
            <a:chOff x="0" y="0"/>
            <a:chExt cx="3294418" cy="65888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94414" cy="658883"/>
            </a:xfrm>
            <a:custGeom>
              <a:avLst/>
              <a:gdLst/>
              <a:ahLst/>
              <a:cxnLst/>
              <a:rect r="r" b="b" t="t" l="l"/>
              <a:pathLst>
                <a:path h="658883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3294418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Aisha Mohammed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969706" y="4352811"/>
            <a:ext cx="2470814" cy="494167"/>
            <a:chOff x="0" y="0"/>
            <a:chExt cx="3294418" cy="65888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94414" cy="658883"/>
            </a:xfrm>
            <a:custGeom>
              <a:avLst/>
              <a:gdLst/>
              <a:ahLst/>
              <a:cxnLst/>
              <a:rect r="r" b="b" t="t" l="l"/>
              <a:pathLst>
                <a:path h="658883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294418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5003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715049" y="4352811"/>
            <a:ext cx="2470814" cy="494167"/>
            <a:chOff x="0" y="0"/>
            <a:chExt cx="3294418" cy="65888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94414" cy="658883"/>
            </a:xfrm>
            <a:custGeom>
              <a:avLst/>
              <a:gdLst/>
              <a:ahLst/>
              <a:cxnLst/>
              <a:rect r="r" b="b" t="t" l="l"/>
              <a:pathLst>
                <a:path h="658883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3294418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Delivered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059637" y="4846977"/>
            <a:ext cx="8236039" cy="494167"/>
            <a:chOff x="0" y="0"/>
            <a:chExt cx="10981385" cy="65888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81436" cy="658876"/>
            </a:xfrm>
            <a:custGeom>
              <a:avLst/>
              <a:gdLst/>
              <a:ahLst/>
              <a:cxnLst/>
              <a:rect r="r" b="b" t="t" l="l"/>
              <a:pathLst>
                <a:path h="658876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658876"/>
                  </a:lnTo>
                  <a:lnTo>
                    <a:pt x="0" y="658876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224362" y="4846977"/>
            <a:ext cx="2470814" cy="494167"/>
            <a:chOff x="0" y="0"/>
            <a:chExt cx="3294418" cy="65888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94414" cy="658883"/>
            </a:xfrm>
            <a:custGeom>
              <a:avLst/>
              <a:gdLst/>
              <a:ahLst/>
              <a:cxnLst/>
              <a:rect r="r" b="b" t="t" l="l"/>
              <a:pathLst>
                <a:path h="658883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3294418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Emeka Nwosu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969706" y="4846977"/>
            <a:ext cx="2470814" cy="494167"/>
            <a:chOff x="0" y="0"/>
            <a:chExt cx="3294418" cy="65888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94414" cy="658883"/>
            </a:xfrm>
            <a:custGeom>
              <a:avLst/>
              <a:gdLst/>
              <a:ahLst/>
              <a:cxnLst/>
              <a:rect r="r" b="b" t="t" l="l"/>
              <a:pathLst>
                <a:path h="658883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3294418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5004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715049" y="4846977"/>
            <a:ext cx="2470814" cy="494167"/>
            <a:chOff x="0" y="0"/>
            <a:chExt cx="3294418" cy="65888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94414" cy="658883"/>
            </a:xfrm>
            <a:custGeom>
              <a:avLst/>
              <a:gdLst/>
              <a:ahLst/>
              <a:cxnLst/>
              <a:rect r="r" b="b" t="t" l="l"/>
              <a:pathLst>
                <a:path h="658883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3294418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Cancelled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059637" y="5656850"/>
            <a:ext cx="8236039" cy="686333"/>
            <a:chOff x="0" y="0"/>
            <a:chExt cx="10981385" cy="91511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981379" cy="915115"/>
            </a:xfrm>
            <a:custGeom>
              <a:avLst/>
              <a:gdLst/>
              <a:ahLst/>
              <a:cxnLst/>
              <a:rect r="r" b="b" t="t" l="l"/>
              <a:pathLst>
                <a:path h="915115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10981385" cy="962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651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4 rows — Chidinma appears twice (2 orders); Tunde and Ngozi don't appear at all (0 orders).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050103" y="6402286"/>
            <a:ext cx="8255098" cy="2970314"/>
            <a:chOff x="0" y="0"/>
            <a:chExt cx="11006798" cy="396041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006709" cy="3960368"/>
            </a:xfrm>
            <a:custGeom>
              <a:avLst/>
              <a:gdLst/>
              <a:ahLst/>
              <a:cxnLst/>
              <a:rect r="r" b="b" t="t" l="l"/>
              <a:pathLst>
                <a:path h="3960368" w="11006709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10822559" y="0"/>
                  </a:lnTo>
                  <a:cubicBezTo>
                    <a:pt x="10924286" y="0"/>
                    <a:pt x="11006709" y="82423"/>
                    <a:pt x="11006709" y="184150"/>
                  </a:cubicBezTo>
                  <a:lnTo>
                    <a:pt x="11006709" y="3776218"/>
                  </a:lnTo>
                  <a:cubicBezTo>
                    <a:pt x="11006709" y="3877945"/>
                    <a:pt x="10924286" y="3960368"/>
                    <a:pt x="10822559" y="3960368"/>
                  </a:cubicBezTo>
                  <a:lnTo>
                    <a:pt x="184150" y="3960368"/>
                  </a:lnTo>
                  <a:cubicBezTo>
                    <a:pt x="82423" y="3960368"/>
                    <a:pt x="0" y="3877945"/>
                    <a:pt x="0" y="3776218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9402804" y="6343193"/>
            <a:ext cx="7549696" cy="411804"/>
            <a:chOff x="0" y="0"/>
            <a:chExt cx="10066261" cy="54907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066265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10066261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Reading the syntax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9402804" y="6766474"/>
            <a:ext cx="7549696" cy="245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c and o are aliases — short nicknames so we don't repeat “customers.” / “orders.” everywhere.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ON says exactly which columns must match — always the key relationship from the schema.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6476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3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2678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861799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Predicting an INNER JOIN's row count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3187351"/>
            <a:ext cx="16353863" cy="1460373"/>
            <a:chOff x="0" y="0"/>
            <a:chExt cx="21805151" cy="19471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05137" cy="1947164"/>
            </a:xfrm>
            <a:custGeom>
              <a:avLst/>
              <a:gdLst/>
              <a:ahLst/>
              <a:cxnLst/>
              <a:rect r="r" b="b" t="t" l="l"/>
              <a:pathLst>
                <a:path h="1947164" w="21805137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21619718" y="0"/>
                  </a:lnTo>
                  <a:cubicBezTo>
                    <a:pt x="21722080" y="0"/>
                    <a:pt x="21805137" y="83058"/>
                    <a:pt x="21805137" y="185420"/>
                  </a:cubicBezTo>
                  <a:lnTo>
                    <a:pt x="21805137" y="1761744"/>
                  </a:lnTo>
                  <a:cubicBezTo>
                    <a:pt x="21805137" y="1864106"/>
                    <a:pt x="21722080" y="1947164"/>
                    <a:pt x="21619718" y="1947164"/>
                  </a:cubicBezTo>
                  <a:lnTo>
                    <a:pt x="185420" y="1947164"/>
                  </a:lnTo>
                  <a:cubicBezTo>
                    <a:pt x="83058" y="1947164"/>
                    <a:pt x="0" y="1864106"/>
                    <a:pt x="0" y="1761744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2676" y="3375327"/>
            <a:ext cx="15511196" cy="1098137"/>
            <a:chOff x="0" y="0"/>
            <a:chExt cx="20681594" cy="14641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81598" cy="1464184"/>
            </a:xfrm>
            <a:custGeom>
              <a:avLst/>
              <a:gdLst/>
              <a:ahLst/>
              <a:cxnLst/>
              <a:rect r="r" b="b" t="t" l="l"/>
              <a:pathLst>
                <a:path h="1464184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226" r="0" b="-22522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0681594" cy="1530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66"/>
                </a:lnSpc>
              </a:pPr>
              <a:r>
                <a:rPr lang="en-US" sz="202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rule: </a:t>
              </a:r>
              <a:r>
                <a:rPr lang="en-US" sz="2026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for a one-to-many INNER JOIN (one customer, many orders), the row count equals the number of child rows (orders) that have a matching parent — not the number of customers.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1338" y="4971821"/>
            <a:ext cx="8049196" cy="3011491"/>
            <a:chOff x="0" y="0"/>
            <a:chExt cx="10732262" cy="40153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32262" cy="4015359"/>
            </a:xfrm>
            <a:custGeom>
              <a:avLst/>
              <a:gdLst/>
              <a:ahLst/>
              <a:cxnLst/>
              <a:rect r="r" b="b" t="t" l="l"/>
              <a:pathLst>
                <a:path h="4015359" w="10732262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10621772" y="0"/>
                  </a:lnTo>
                  <a:cubicBezTo>
                    <a:pt x="10682859" y="0"/>
                    <a:pt x="10732262" y="49530"/>
                    <a:pt x="10732262" y="110490"/>
                  </a:cubicBezTo>
                  <a:lnTo>
                    <a:pt x="10732262" y="3904869"/>
                  </a:lnTo>
                  <a:cubicBezTo>
                    <a:pt x="10732262" y="3965956"/>
                    <a:pt x="10682732" y="4015359"/>
                    <a:pt x="10621772" y="4015359"/>
                  </a:cubicBezTo>
                  <a:lnTo>
                    <a:pt x="110490" y="4015359"/>
                  </a:lnTo>
                  <a:cubicBezTo>
                    <a:pt x="49403" y="4015359"/>
                    <a:pt x="0" y="3965829"/>
                    <a:pt x="0" y="390486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60872" y="4981356"/>
            <a:ext cx="8030137" cy="521618"/>
            <a:chOff x="0" y="0"/>
            <a:chExt cx="10706849" cy="6954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06862" cy="695452"/>
            </a:xfrm>
            <a:custGeom>
              <a:avLst/>
              <a:gdLst/>
              <a:ahLst/>
              <a:cxnLst/>
              <a:rect r="r" b="b" t="t" l="l"/>
              <a:pathLst>
                <a:path h="695452" w="10706862">
                  <a:moveTo>
                    <a:pt x="0" y="0"/>
                  </a:moveTo>
                  <a:lnTo>
                    <a:pt x="10706862" y="0"/>
                  </a:lnTo>
                  <a:lnTo>
                    <a:pt x="10706862" y="695452"/>
                  </a:lnTo>
                  <a:lnTo>
                    <a:pt x="0" y="695452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25588" y="4981356"/>
            <a:ext cx="2402176" cy="521618"/>
            <a:chOff x="0" y="0"/>
            <a:chExt cx="3202902" cy="6954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02902" cy="695487"/>
            </a:xfrm>
            <a:custGeom>
              <a:avLst/>
              <a:gdLst/>
              <a:ahLst/>
              <a:cxnLst/>
              <a:rect r="r" b="b" t="t" l="l"/>
              <a:pathLst>
                <a:path h="695487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733" r="0" b="-3973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202902" cy="714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customer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802304" y="4981356"/>
            <a:ext cx="2402176" cy="521618"/>
            <a:chOff x="0" y="0"/>
            <a:chExt cx="3202902" cy="6954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02902" cy="695487"/>
            </a:xfrm>
            <a:custGeom>
              <a:avLst/>
              <a:gdLst/>
              <a:ahLst/>
              <a:cxnLst/>
              <a:rect r="r" b="b" t="t" l="l"/>
              <a:pathLst>
                <a:path h="695487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733" r="0" b="-3973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202902" cy="714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orders it has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79010" y="4981356"/>
            <a:ext cx="2402176" cy="521618"/>
            <a:chOff x="0" y="0"/>
            <a:chExt cx="3202902" cy="6954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02902" cy="695487"/>
            </a:xfrm>
            <a:custGeom>
              <a:avLst/>
              <a:gdLst/>
              <a:ahLst/>
              <a:cxnLst/>
              <a:rect r="r" b="b" t="t" l="l"/>
              <a:pathLst>
                <a:path h="695487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733" r="0" b="-3973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202902" cy="714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rows it contributes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25588" y="5502964"/>
            <a:ext cx="2402176" cy="494167"/>
            <a:chOff x="0" y="0"/>
            <a:chExt cx="3202902" cy="65888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02902" cy="658883"/>
            </a:xfrm>
            <a:custGeom>
              <a:avLst/>
              <a:gdLst/>
              <a:ahLst/>
              <a:cxnLst/>
              <a:rect r="r" b="b" t="t" l="l"/>
              <a:pathLst>
                <a:path h="65888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18" r="0" b="-4471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320290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Chidinma Okafor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802304" y="5502964"/>
            <a:ext cx="2402176" cy="494167"/>
            <a:chOff x="0" y="0"/>
            <a:chExt cx="3202902" cy="65888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02902" cy="658883"/>
            </a:xfrm>
            <a:custGeom>
              <a:avLst/>
              <a:gdLst/>
              <a:ahLst/>
              <a:cxnLst/>
              <a:rect r="r" b="b" t="t" l="l"/>
              <a:pathLst>
                <a:path h="65888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18" r="0" b="-4471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20290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479010" y="5502964"/>
            <a:ext cx="2402176" cy="494167"/>
            <a:chOff x="0" y="0"/>
            <a:chExt cx="3202902" cy="65888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02902" cy="658883"/>
            </a:xfrm>
            <a:custGeom>
              <a:avLst/>
              <a:gdLst/>
              <a:ahLst/>
              <a:cxnLst/>
              <a:rect r="r" b="b" t="t" l="l"/>
              <a:pathLst>
                <a:path h="65888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18" r="0" b="-4471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320290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0872" y="5997130"/>
            <a:ext cx="8030137" cy="494167"/>
            <a:chOff x="0" y="0"/>
            <a:chExt cx="10706849" cy="65888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06862" cy="658876"/>
            </a:xfrm>
            <a:custGeom>
              <a:avLst/>
              <a:gdLst/>
              <a:ahLst/>
              <a:cxnLst/>
              <a:rect r="r" b="b" t="t" l="l"/>
              <a:pathLst>
                <a:path h="658876" w="10706862">
                  <a:moveTo>
                    <a:pt x="0" y="0"/>
                  </a:moveTo>
                  <a:lnTo>
                    <a:pt x="10706862" y="0"/>
                  </a:lnTo>
                  <a:lnTo>
                    <a:pt x="10706862" y="658876"/>
                  </a:lnTo>
                  <a:lnTo>
                    <a:pt x="0" y="658876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25588" y="5997130"/>
            <a:ext cx="2402176" cy="494167"/>
            <a:chOff x="0" y="0"/>
            <a:chExt cx="3202902" cy="65888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02902" cy="658883"/>
            </a:xfrm>
            <a:custGeom>
              <a:avLst/>
              <a:gdLst/>
              <a:ahLst/>
              <a:cxnLst/>
              <a:rect r="r" b="b" t="t" l="l"/>
              <a:pathLst>
                <a:path h="65888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18" r="0" b="-4471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320290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Tunde Bakare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802304" y="5997130"/>
            <a:ext cx="2402176" cy="494167"/>
            <a:chOff x="0" y="0"/>
            <a:chExt cx="3202902" cy="65888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02902" cy="658883"/>
            </a:xfrm>
            <a:custGeom>
              <a:avLst/>
              <a:gdLst/>
              <a:ahLst/>
              <a:cxnLst/>
              <a:rect r="r" b="b" t="t" l="l"/>
              <a:pathLst>
                <a:path h="65888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18" r="0" b="-4471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20290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0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479010" y="5997130"/>
            <a:ext cx="2402176" cy="494167"/>
            <a:chOff x="0" y="0"/>
            <a:chExt cx="3202902" cy="65888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02902" cy="658883"/>
            </a:xfrm>
            <a:custGeom>
              <a:avLst/>
              <a:gdLst/>
              <a:ahLst/>
              <a:cxnLst/>
              <a:rect r="r" b="b" t="t" l="l"/>
              <a:pathLst>
                <a:path h="65888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18" r="0" b="-4471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320290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0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25588" y="6491288"/>
            <a:ext cx="2402176" cy="494167"/>
            <a:chOff x="0" y="0"/>
            <a:chExt cx="3202902" cy="65888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02902" cy="658883"/>
            </a:xfrm>
            <a:custGeom>
              <a:avLst/>
              <a:gdLst/>
              <a:ahLst/>
              <a:cxnLst/>
              <a:rect r="r" b="b" t="t" l="l"/>
              <a:pathLst>
                <a:path h="65888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18" r="0" b="-4471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20290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Aisha Mohammed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802304" y="6491288"/>
            <a:ext cx="2402176" cy="494167"/>
            <a:chOff x="0" y="0"/>
            <a:chExt cx="3202902" cy="65888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202902" cy="658883"/>
            </a:xfrm>
            <a:custGeom>
              <a:avLst/>
              <a:gdLst/>
              <a:ahLst/>
              <a:cxnLst/>
              <a:rect r="r" b="b" t="t" l="l"/>
              <a:pathLst>
                <a:path h="65888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18" r="0" b="-4471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320290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479010" y="6491288"/>
            <a:ext cx="2402176" cy="494167"/>
            <a:chOff x="0" y="0"/>
            <a:chExt cx="3202902" cy="65888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202902" cy="658883"/>
            </a:xfrm>
            <a:custGeom>
              <a:avLst/>
              <a:gdLst/>
              <a:ahLst/>
              <a:cxnLst/>
              <a:rect r="r" b="b" t="t" l="l"/>
              <a:pathLst>
                <a:path h="65888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18" r="0" b="-4471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320290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0872" y="6985454"/>
            <a:ext cx="8030137" cy="494167"/>
            <a:chOff x="0" y="0"/>
            <a:chExt cx="10706849" cy="65888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06862" cy="658876"/>
            </a:xfrm>
            <a:custGeom>
              <a:avLst/>
              <a:gdLst/>
              <a:ahLst/>
              <a:cxnLst/>
              <a:rect r="r" b="b" t="t" l="l"/>
              <a:pathLst>
                <a:path h="658876" w="10706862">
                  <a:moveTo>
                    <a:pt x="0" y="0"/>
                  </a:moveTo>
                  <a:lnTo>
                    <a:pt x="10706862" y="0"/>
                  </a:lnTo>
                  <a:lnTo>
                    <a:pt x="10706862" y="658876"/>
                  </a:lnTo>
                  <a:lnTo>
                    <a:pt x="0" y="658876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25588" y="6985454"/>
            <a:ext cx="2402176" cy="494167"/>
            <a:chOff x="0" y="0"/>
            <a:chExt cx="3202902" cy="65888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202902" cy="658883"/>
            </a:xfrm>
            <a:custGeom>
              <a:avLst/>
              <a:gdLst/>
              <a:ahLst/>
              <a:cxnLst/>
              <a:rect r="r" b="b" t="t" l="l"/>
              <a:pathLst>
                <a:path h="65888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18" r="0" b="-4471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320290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Emeka Nwosu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802304" y="6985454"/>
            <a:ext cx="2402176" cy="494167"/>
            <a:chOff x="0" y="0"/>
            <a:chExt cx="3202902" cy="65888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202902" cy="658883"/>
            </a:xfrm>
            <a:custGeom>
              <a:avLst/>
              <a:gdLst/>
              <a:ahLst/>
              <a:cxnLst/>
              <a:rect r="r" b="b" t="t" l="l"/>
              <a:pathLst>
                <a:path h="65888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18" r="0" b="-4471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320290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479010" y="6985454"/>
            <a:ext cx="2402176" cy="494167"/>
            <a:chOff x="0" y="0"/>
            <a:chExt cx="3202902" cy="65888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202902" cy="658883"/>
            </a:xfrm>
            <a:custGeom>
              <a:avLst/>
              <a:gdLst/>
              <a:ahLst/>
              <a:cxnLst/>
              <a:rect r="r" b="b" t="t" l="l"/>
              <a:pathLst>
                <a:path h="65888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18" r="0" b="-44719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320290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25588" y="7479621"/>
            <a:ext cx="2402176" cy="494167"/>
            <a:chOff x="0" y="0"/>
            <a:chExt cx="3202902" cy="65888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202902" cy="658883"/>
            </a:xfrm>
            <a:custGeom>
              <a:avLst/>
              <a:gdLst/>
              <a:ahLst/>
              <a:cxnLst/>
              <a:rect r="r" b="b" t="t" l="l"/>
              <a:pathLst>
                <a:path h="65888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18" r="0" b="-4471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320290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Ngozi Eze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802304" y="7479621"/>
            <a:ext cx="2402176" cy="494167"/>
            <a:chOff x="0" y="0"/>
            <a:chExt cx="3202902" cy="65888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202902" cy="658883"/>
            </a:xfrm>
            <a:custGeom>
              <a:avLst/>
              <a:gdLst/>
              <a:ahLst/>
              <a:cxnLst/>
              <a:rect r="r" b="b" t="t" l="l"/>
              <a:pathLst>
                <a:path h="65888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18" r="0" b="-44719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320290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0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479010" y="7479621"/>
            <a:ext cx="2402176" cy="494167"/>
            <a:chOff x="0" y="0"/>
            <a:chExt cx="3202902" cy="65888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202902" cy="658883"/>
            </a:xfrm>
            <a:custGeom>
              <a:avLst/>
              <a:gdLst/>
              <a:ahLst/>
              <a:cxnLst/>
              <a:rect r="r" b="b" t="t" l="l"/>
              <a:pathLst>
                <a:path h="658883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18" r="0" b="-4471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3202902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0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60872" y="8207131"/>
            <a:ext cx="8030137" cy="686333"/>
            <a:chOff x="0" y="0"/>
            <a:chExt cx="10706849" cy="91511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706845" cy="915115"/>
            </a:xfrm>
            <a:custGeom>
              <a:avLst/>
              <a:gdLst/>
              <a:ahLst/>
              <a:cxnLst/>
              <a:rect r="r" b="b" t="t" l="l"/>
              <a:pathLst>
                <a:path h="915115" w="10706845">
                  <a:moveTo>
                    <a:pt x="0" y="0"/>
                  </a:moveTo>
                  <a:lnTo>
                    <a:pt x="10706845" y="0"/>
                  </a:lnTo>
                  <a:lnTo>
                    <a:pt x="1070684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7975" r="0" b="-17797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0706849" cy="962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1726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Sum the right column: 2 + 0 + 1 + 1 + 0 = 4 rows — matches what we saw on the last slide.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402804" y="4981356"/>
            <a:ext cx="7892863" cy="4186647"/>
            <a:chOff x="0" y="0"/>
            <a:chExt cx="10523817" cy="558219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523855" cy="5582158"/>
            </a:xfrm>
            <a:custGeom>
              <a:avLst/>
              <a:gdLst/>
              <a:ahLst/>
              <a:cxnLst/>
              <a:rect r="r" b="b" t="t" l="l"/>
              <a:pathLst>
                <a:path h="5582158" w="10523855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304272" y="0"/>
                  </a:lnTo>
                  <a:cubicBezTo>
                    <a:pt x="10425557" y="0"/>
                    <a:pt x="10523855" y="98298"/>
                    <a:pt x="10523855" y="219583"/>
                  </a:cubicBezTo>
                  <a:lnTo>
                    <a:pt x="10523855" y="5362575"/>
                  </a:lnTo>
                  <a:cubicBezTo>
                    <a:pt x="10523855" y="5483860"/>
                    <a:pt x="10425557" y="5582158"/>
                    <a:pt x="10304272" y="5582158"/>
                  </a:cubicBezTo>
                  <a:lnTo>
                    <a:pt x="219583" y="5582158"/>
                  </a:lnTo>
                  <a:cubicBezTo>
                    <a:pt x="98298" y="5582158"/>
                    <a:pt x="0" y="5483860"/>
                    <a:pt x="0" y="5362575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814608" y="5255885"/>
            <a:ext cx="7069264" cy="480431"/>
            <a:chOff x="0" y="0"/>
            <a:chExt cx="9425686" cy="64057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9425686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C694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Predict-then-check, every join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9814608" y="5747804"/>
            <a:ext cx="7069264" cy="321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Before running an INNER JOIN, count (or estimate) how many child rows have a matching parent.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Run the query. Compare the actual row count to your prediction.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Mismatch usually means: wrong join column, a duplicate key you didn't expect, or a filter applied in the wrong place.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90229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4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81074" y="1796151"/>
            <a:ext cx="13040392" cy="65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9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LEFT JOIN — every row on the left, matched or not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2846470"/>
            <a:ext cx="7824235" cy="293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LEFT JOIN keeps every row from the first (“left”) table, no matter what.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Where a match exists, its columns fill in normally — just like INNER JOIN.</a:t>
            </a:r>
          </a:p>
          <a:p>
            <a:pPr algn="l" marL="380641" indent="-190321" lvl="1">
              <a:lnSpc>
                <a:spcPts val="2975"/>
              </a:lnSpc>
              <a:buFont typeface="Arial"/>
              <a:buChar char="•"/>
            </a:pPr>
            <a:r>
              <a:rPr lang="en-US" sz="21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Where no match exists, the right-hand table's columns come back as NULL instead of the row disappearing.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0872" y="5843378"/>
            <a:ext cx="7824235" cy="2264912"/>
            <a:chOff x="0" y="0"/>
            <a:chExt cx="10432313" cy="30198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32288" cy="3019806"/>
            </a:xfrm>
            <a:custGeom>
              <a:avLst/>
              <a:gdLst/>
              <a:ahLst/>
              <a:cxnLst/>
              <a:rect r="r" b="b" t="t" l="l"/>
              <a:pathLst>
                <a:path h="3019806" w="1043228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267569" y="0"/>
                  </a:lnTo>
                  <a:cubicBezTo>
                    <a:pt x="10358501" y="0"/>
                    <a:pt x="10432288" y="73787"/>
                    <a:pt x="10432288" y="164719"/>
                  </a:cubicBezTo>
                  <a:lnTo>
                    <a:pt x="10432288" y="2855087"/>
                  </a:lnTo>
                  <a:cubicBezTo>
                    <a:pt x="10432288" y="2946019"/>
                    <a:pt x="10358501" y="3019806"/>
                    <a:pt x="10267569" y="3019806"/>
                  </a:cubicBezTo>
                  <a:lnTo>
                    <a:pt x="164719" y="3019806"/>
                  </a:lnTo>
                  <a:cubicBezTo>
                    <a:pt x="73787" y="3019933"/>
                    <a:pt x="0" y="2946146"/>
                    <a:pt x="0" y="2855087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45216" y="6051242"/>
            <a:ext cx="7055539" cy="178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SELECT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c.full_name, o.order_id, o.status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customers c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LEFT JOIN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orders o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ON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c.customer_id = o.customer_id;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50103" y="2676706"/>
            <a:ext cx="8255098" cy="3148755"/>
            <a:chOff x="0" y="0"/>
            <a:chExt cx="11006798" cy="41983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06836" cy="4198366"/>
            </a:xfrm>
            <a:custGeom>
              <a:avLst/>
              <a:gdLst/>
              <a:ahLst/>
              <a:cxnLst/>
              <a:rect r="r" b="b" t="t" l="l"/>
              <a:pathLst>
                <a:path h="4198366" w="11006836">
                  <a:moveTo>
                    <a:pt x="0" y="110490"/>
                  </a:moveTo>
                  <a:cubicBezTo>
                    <a:pt x="0" y="49530"/>
                    <a:pt x="49530" y="0"/>
                    <a:pt x="110490" y="0"/>
                  </a:cubicBezTo>
                  <a:lnTo>
                    <a:pt x="10896346" y="0"/>
                  </a:lnTo>
                  <a:cubicBezTo>
                    <a:pt x="10957433" y="0"/>
                    <a:pt x="11006836" y="49530"/>
                    <a:pt x="11006836" y="110490"/>
                  </a:cubicBezTo>
                  <a:lnTo>
                    <a:pt x="11006836" y="4087876"/>
                  </a:lnTo>
                  <a:cubicBezTo>
                    <a:pt x="11006836" y="4148963"/>
                    <a:pt x="10957306" y="4198366"/>
                    <a:pt x="10896346" y="4198366"/>
                  </a:cubicBezTo>
                  <a:lnTo>
                    <a:pt x="110490" y="4198366"/>
                  </a:lnTo>
                  <a:cubicBezTo>
                    <a:pt x="49403" y="4198366"/>
                    <a:pt x="0" y="4148836"/>
                    <a:pt x="0" y="408787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059637" y="2686240"/>
            <a:ext cx="8236039" cy="494167"/>
            <a:chOff x="0" y="0"/>
            <a:chExt cx="10981385" cy="6588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81436" cy="658876"/>
            </a:xfrm>
            <a:custGeom>
              <a:avLst/>
              <a:gdLst/>
              <a:ahLst/>
              <a:cxnLst/>
              <a:rect r="r" b="b" t="t" l="l"/>
              <a:pathLst>
                <a:path h="658876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658876"/>
                  </a:lnTo>
                  <a:lnTo>
                    <a:pt x="0" y="658876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24362" y="2686240"/>
            <a:ext cx="2470814" cy="494167"/>
            <a:chOff x="0" y="0"/>
            <a:chExt cx="3294418" cy="6588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94414" cy="658883"/>
            </a:xfrm>
            <a:custGeom>
              <a:avLst/>
              <a:gdLst/>
              <a:ahLst/>
              <a:cxnLst/>
              <a:rect r="r" b="b" t="t" l="l"/>
              <a:pathLst>
                <a:path h="658883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294418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full_name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969706" y="2686240"/>
            <a:ext cx="2470814" cy="494167"/>
            <a:chOff x="0" y="0"/>
            <a:chExt cx="3294418" cy="6588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94414" cy="658883"/>
            </a:xfrm>
            <a:custGeom>
              <a:avLst/>
              <a:gdLst/>
              <a:ahLst/>
              <a:cxnLst/>
              <a:rect r="r" b="b" t="t" l="l"/>
              <a:pathLst>
                <a:path h="658883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294418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order_id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715049" y="2686240"/>
            <a:ext cx="2470814" cy="494167"/>
            <a:chOff x="0" y="0"/>
            <a:chExt cx="3294418" cy="6588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94414" cy="658883"/>
            </a:xfrm>
            <a:custGeom>
              <a:avLst/>
              <a:gdLst/>
              <a:ahLst/>
              <a:cxnLst/>
              <a:rect r="r" b="b" t="t" l="l"/>
              <a:pathLst>
                <a:path h="658883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294418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status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224362" y="3180398"/>
            <a:ext cx="2470814" cy="439255"/>
            <a:chOff x="0" y="0"/>
            <a:chExt cx="3294418" cy="58567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Chidinma Okafor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969706" y="3180398"/>
            <a:ext cx="2470814" cy="439255"/>
            <a:chOff x="0" y="0"/>
            <a:chExt cx="3294418" cy="58567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715049" y="3180398"/>
            <a:ext cx="2470814" cy="439255"/>
            <a:chOff x="0" y="0"/>
            <a:chExt cx="3294418" cy="58567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Delivered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59637" y="3619652"/>
            <a:ext cx="8236039" cy="439255"/>
            <a:chOff x="0" y="0"/>
            <a:chExt cx="10981385" cy="585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81436" cy="585724"/>
            </a:xfrm>
            <a:custGeom>
              <a:avLst/>
              <a:gdLst/>
              <a:ahLst/>
              <a:cxnLst/>
              <a:rect r="r" b="b" t="t" l="l"/>
              <a:pathLst>
                <a:path h="585724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224362" y="3619652"/>
            <a:ext cx="2470814" cy="439255"/>
            <a:chOff x="0" y="0"/>
            <a:chExt cx="3294418" cy="5856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Chidinma Okafor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969706" y="3619652"/>
            <a:ext cx="2470814" cy="439255"/>
            <a:chOff x="0" y="0"/>
            <a:chExt cx="3294418" cy="58567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715049" y="3619652"/>
            <a:ext cx="2470814" cy="439255"/>
            <a:chOff x="0" y="0"/>
            <a:chExt cx="3294418" cy="58567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Delivered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224362" y="4058907"/>
            <a:ext cx="2470814" cy="439255"/>
            <a:chOff x="0" y="0"/>
            <a:chExt cx="3294418" cy="58567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Tunde Bakare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969706" y="4058907"/>
            <a:ext cx="2470814" cy="439255"/>
            <a:chOff x="0" y="0"/>
            <a:chExt cx="3294418" cy="58567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NULL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715049" y="4058907"/>
            <a:ext cx="2470814" cy="439255"/>
            <a:chOff x="0" y="0"/>
            <a:chExt cx="3294418" cy="58567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NULL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059637" y="4498162"/>
            <a:ext cx="8236039" cy="439255"/>
            <a:chOff x="0" y="0"/>
            <a:chExt cx="10981385" cy="58567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81436" cy="585724"/>
            </a:xfrm>
            <a:custGeom>
              <a:avLst/>
              <a:gdLst/>
              <a:ahLst/>
              <a:cxnLst/>
              <a:rect r="r" b="b" t="t" l="l"/>
              <a:pathLst>
                <a:path h="585724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224362" y="4498162"/>
            <a:ext cx="2470814" cy="439255"/>
            <a:chOff x="0" y="0"/>
            <a:chExt cx="3294418" cy="58567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Aisha Mohammed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969706" y="4498162"/>
            <a:ext cx="2470814" cy="439255"/>
            <a:chOff x="0" y="0"/>
            <a:chExt cx="3294418" cy="58567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5003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715049" y="4498162"/>
            <a:ext cx="2470814" cy="439255"/>
            <a:chOff x="0" y="0"/>
            <a:chExt cx="3294418" cy="58567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Delivered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224362" y="4937417"/>
            <a:ext cx="2470814" cy="439255"/>
            <a:chOff x="0" y="0"/>
            <a:chExt cx="3294418" cy="58567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Emeka Nwosu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969706" y="4937417"/>
            <a:ext cx="2470814" cy="439255"/>
            <a:chOff x="0" y="0"/>
            <a:chExt cx="3294418" cy="58567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5004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715049" y="4937417"/>
            <a:ext cx="2470814" cy="439255"/>
            <a:chOff x="0" y="0"/>
            <a:chExt cx="3294418" cy="58567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Cancelled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059637" y="5376672"/>
            <a:ext cx="8236039" cy="439255"/>
            <a:chOff x="0" y="0"/>
            <a:chExt cx="10981385" cy="58567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81436" cy="585724"/>
            </a:xfrm>
            <a:custGeom>
              <a:avLst/>
              <a:gdLst/>
              <a:ahLst/>
              <a:cxnLst/>
              <a:rect r="r" b="b" t="t" l="l"/>
              <a:pathLst>
                <a:path h="585724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224362" y="5376672"/>
            <a:ext cx="2470814" cy="439255"/>
            <a:chOff x="0" y="0"/>
            <a:chExt cx="3294418" cy="58567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Ngozi Eze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969706" y="5376672"/>
            <a:ext cx="2470814" cy="439255"/>
            <a:chOff x="0" y="0"/>
            <a:chExt cx="3294418" cy="58567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NULL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4715049" y="5376672"/>
            <a:ext cx="2470814" cy="439255"/>
            <a:chOff x="0" y="0"/>
            <a:chExt cx="3294418" cy="58567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294414" cy="585674"/>
            </a:xfrm>
            <a:custGeom>
              <a:avLst/>
              <a:gdLst/>
              <a:ahLst/>
              <a:cxnLst/>
              <a:rect r="r" b="b" t="t" l="l"/>
              <a:pathLst>
                <a:path h="585674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3294418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NULL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059637" y="6255182"/>
            <a:ext cx="8236039" cy="480431"/>
            <a:chOff x="0" y="0"/>
            <a:chExt cx="10981385" cy="64057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981379" cy="640580"/>
            </a:xfrm>
            <a:custGeom>
              <a:avLst/>
              <a:gdLst/>
              <a:ahLst/>
              <a:cxnLst/>
              <a:rect r="r" b="b" t="t" l="l"/>
              <a:pathLst>
                <a:path h="640580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4029" r="0" b="-28402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0981385" cy="67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8"/>
                </a:lnSpc>
              </a:pPr>
              <a:r>
                <a:rPr lang="en-US" sz="1651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6 rows — Tunde and Ngozi now appear once each, with NULL order columns.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050103" y="6835902"/>
            <a:ext cx="8255098" cy="2791863"/>
            <a:chOff x="0" y="0"/>
            <a:chExt cx="11006798" cy="372248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1006836" cy="3722497"/>
            </a:xfrm>
            <a:custGeom>
              <a:avLst/>
              <a:gdLst/>
              <a:ahLst/>
              <a:cxnLst/>
              <a:rect r="r" b="b" t="t" l="l"/>
              <a:pathLst>
                <a:path h="3722497" w="11006836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10822559" y="0"/>
                  </a:lnTo>
                  <a:cubicBezTo>
                    <a:pt x="10924286" y="0"/>
                    <a:pt x="11006836" y="82550"/>
                    <a:pt x="11006836" y="184277"/>
                  </a:cubicBezTo>
                  <a:lnTo>
                    <a:pt x="11006836" y="3538220"/>
                  </a:lnTo>
                  <a:cubicBezTo>
                    <a:pt x="11006836" y="3639947"/>
                    <a:pt x="10924286" y="3722497"/>
                    <a:pt x="10822559" y="3722497"/>
                  </a:cubicBezTo>
                  <a:lnTo>
                    <a:pt x="184277" y="3722497"/>
                  </a:lnTo>
                  <a:cubicBezTo>
                    <a:pt x="82550" y="3722497"/>
                    <a:pt x="0" y="3639947"/>
                    <a:pt x="0" y="3538220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9402804" y="7010152"/>
            <a:ext cx="7549696" cy="411804"/>
            <a:chOff x="0" y="0"/>
            <a:chExt cx="10066261" cy="54907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066265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10066261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NULL here means “no matching order”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402804" y="7421956"/>
            <a:ext cx="7549696" cy="2059010"/>
            <a:chOff x="0" y="0"/>
            <a:chExt cx="10066261" cy="274534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066265" cy="2745345"/>
            </a:xfrm>
            <a:custGeom>
              <a:avLst/>
              <a:gdLst/>
              <a:ahLst/>
              <a:cxnLst/>
              <a:rect r="r" b="b" t="t" l="l"/>
              <a:pathLst>
                <a:path h="2745345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2745345"/>
                  </a:lnTo>
                  <a:lnTo>
                    <a:pt x="0" y="27453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57150"/>
              <a:ext cx="10066261" cy="280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6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Not zero, not blank, not an error — NULL is SQL's way of saying “there was nothing here to match.” That's exactly what marketing needs to find.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6497824" y="9675390"/>
            <a:ext cx="647224" cy="571500"/>
            <a:chOff x="0" y="0"/>
            <a:chExt cx="862965" cy="762000"/>
          </a:xfrm>
        </p:grpSpPr>
        <p:sp>
          <p:nvSpPr>
            <p:cNvPr name="Freeform 101" id="101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89571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5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468243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85850" y="1801728"/>
            <a:ext cx="13040392" cy="628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38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Predicting a LEFT JOIN, and finding “never ordered”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2772672"/>
            <a:ext cx="16353863" cy="1185834"/>
            <a:chOff x="0" y="0"/>
            <a:chExt cx="21805151" cy="15811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05139" cy="1581150"/>
            </a:xfrm>
            <a:custGeom>
              <a:avLst/>
              <a:gdLst/>
              <a:ahLst/>
              <a:cxnLst/>
              <a:rect r="r" b="b" t="t" l="l"/>
              <a:pathLst>
                <a:path h="1581150" w="21805139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21619083" y="0"/>
                  </a:lnTo>
                  <a:cubicBezTo>
                    <a:pt x="21721826" y="0"/>
                    <a:pt x="21805139" y="83312"/>
                    <a:pt x="21805139" y="186055"/>
                  </a:cubicBezTo>
                  <a:lnTo>
                    <a:pt x="21805139" y="1395095"/>
                  </a:lnTo>
                  <a:cubicBezTo>
                    <a:pt x="21805139" y="1497838"/>
                    <a:pt x="21721826" y="1581150"/>
                    <a:pt x="21619083" y="1581150"/>
                  </a:cubicBezTo>
                  <a:lnTo>
                    <a:pt x="186055" y="1581150"/>
                  </a:lnTo>
                  <a:cubicBezTo>
                    <a:pt x="83312" y="1581150"/>
                    <a:pt x="0" y="1497838"/>
                    <a:pt x="0" y="1395095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2676" y="2960648"/>
            <a:ext cx="15511196" cy="823608"/>
            <a:chOff x="0" y="0"/>
            <a:chExt cx="20681594" cy="10981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81598" cy="1098138"/>
            </a:xfrm>
            <a:custGeom>
              <a:avLst/>
              <a:gdLst/>
              <a:ahLst/>
              <a:cxnLst/>
              <a:rect r="r" b="b" t="t" l="l"/>
              <a:pathLst>
                <a:path h="1098138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6967" r="0" b="-3169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0681594" cy="1117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rule: </a:t>
              </a:r>
              <a:r>
                <a:rPr lang="en-US" sz="2026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LEFT JOIN row count = matched child rows, plus one extra row for every parent with zero matches.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872" y="4154874"/>
            <a:ext cx="16334804" cy="549069"/>
            <a:chOff x="0" y="0"/>
            <a:chExt cx="21779738" cy="7320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79736" cy="732092"/>
            </a:xfrm>
            <a:custGeom>
              <a:avLst/>
              <a:gdLst/>
              <a:ahLst/>
              <a:cxnLst/>
              <a:rect r="r" b="b" t="t" l="l"/>
              <a:pathLst>
                <a:path h="732092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177973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4 matched order rows (from the INNER JOIN count) + 2 zero-order customers (Tunde, Ngozi) = 6 rows. Matches the last slide.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872" y="5033383"/>
            <a:ext cx="61770" cy="439255"/>
            <a:chOff x="0" y="0"/>
            <a:chExt cx="82360" cy="5856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423" cy="585724"/>
            </a:xfrm>
            <a:custGeom>
              <a:avLst/>
              <a:gdLst/>
              <a:ahLst/>
              <a:cxnLst/>
              <a:rect r="r" b="b" t="t" l="l"/>
              <a:pathLst>
                <a:path h="585724" w="82423">
                  <a:moveTo>
                    <a:pt x="0" y="0"/>
                  </a:moveTo>
                  <a:lnTo>
                    <a:pt x="82423" y="0"/>
                  </a:lnTo>
                  <a:lnTo>
                    <a:pt x="82423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7951" y="4978472"/>
            <a:ext cx="7988951" cy="439255"/>
            <a:chOff x="0" y="0"/>
            <a:chExt cx="10651934" cy="5856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51938" cy="585674"/>
            </a:xfrm>
            <a:custGeom>
              <a:avLst/>
              <a:gdLst/>
              <a:ahLst/>
              <a:cxnLst/>
              <a:rect r="r" b="b" t="t" l="l"/>
              <a:pathLst>
                <a:path h="585674" w="10651938">
                  <a:moveTo>
                    <a:pt x="0" y="0"/>
                  </a:moveTo>
                  <a:lnTo>
                    <a:pt x="10651938" y="0"/>
                  </a:lnTo>
                  <a:lnTo>
                    <a:pt x="10651938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4384" r="0" b="-30438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0651934" cy="614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Now isolate just the gap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0872" y="5527540"/>
            <a:ext cx="7824235" cy="2745343"/>
            <a:chOff x="0" y="0"/>
            <a:chExt cx="10432313" cy="36604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32288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43228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267569" y="0"/>
                  </a:lnTo>
                  <a:cubicBezTo>
                    <a:pt x="10358501" y="0"/>
                    <a:pt x="10432288" y="73787"/>
                    <a:pt x="10432288" y="164719"/>
                  </a:cubicBezTo>
                  <a:lnTo>
                    <a:pt x="10432288" y="3495802"/>
                  </a:lnTo>
                  <a:cubicBezTo>
                    <a:pt x="10432288" y="3586734"/>
                    <a:pt x="10358501" y="3660521"/>
                    <a:pt x="10267569" y="3660521"/>
                  </a:cubicBezTo>
                  <a:lnTo>
                    <a:pt x="164719" y="3660521"/>
                  </a:lnTo>
                  <a:cubicBezTo>
                    <a:pt x="73787" y="3660521"/>
                    <a:pt x="0" y="3586734"/>
                    <a:pt x="0" y="3495802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45216" y="5735405"/>
            <a:ext cx="7055539" cy="226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SELECT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c.full_name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customers c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LEFT JOIN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orders o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ON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c.customer_id = o.customer_id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WHERE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o.order_id </a:t>
            </a: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IS NULL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56004" y="5518015"/>
            <a:ext cx="8049196" cy="1583912"/>
            <a:chOff x="0" y="0"/>
            <a:chExt cx="10732262" cy="21118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32262" cy="2111883"/>
            </a:xfrm>
            <a:custGeom>
              <a:avLst/>
              <a:gdLst/>
              <a:ahLst/>
              <a:cxnLst/>
              <a:rect r="r" b="b" t="t" l="l"/>
              <a:pathLst>
                <a:path h="2111883" w="10732262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10621137" y="0"/>
                  </a:lnTo>
                  <a:cubicBezTo>
                    <a:pt x="10682478" y="0"/>
                    <a:pt x="10732262" y="49784"/>
                    <a:pt x="10732262" y="111125"/>
                  </a:cubicBezTo>
                  <a:lnTo>
                    <a:pt x="10732262" y="2000758"/>
                  </a:lnTo>
                  <a:cubicBezTo>
                    <a:pt x="10732262" y="2062099"/>
                    <a:pt x="10682478" y="2111883"/>
                    <a:pt x="10621137" y="2111883"/>
                  </a:cubicBezTo>
                  <a:lnTo>
                    <a:pt x="111125" y="2111883"/>
                  </a:lnTo>
                  <a:cubicBezTo>
                    <a:pt x="49784" y="2111883"/>
                    <a:pt x="0" y="2062099"/>
                    <a:pt x="0" y="200075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265539" y="5527540"/>
            <a:ext cx="8030137" cy="521618"/>
            <a:chOff x="0" y="0"/>
            <a:chExt cx="10706849" cy="69549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06862" cy="695452"/>
            </a:xfrm>
            <a:custGeom>
              <a:avLst/>
              <a:gdLst/>
              <a:ahLst/>
              <a:cxnLst/>
              <a:rect r="r" b="b" t="t" l="l"/>
              <a:pathLst>
                <a:path h="695452" w="10706862">
                  <a:moveTo>
                    <a:pt x="0" y="0"/>
                  </a:moveTo>
                  <a:lnTo>
                    <a:pt x="10706862" y="0"/>
                  </a:lnTo>
                  <a:lnTo>
                    <a:pt x="10706862" y="695452"/>
                  </a:lnTo>
                  <a:lnTo>
                    <a:pt x="0" y="695452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30255" y="5527540"/>
            <a:ext cx="7755598" cy="521618"/>
            <a:chOff x="0" y="0"/>
            <a:chExt cx="10340797" cy="6954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340799" cy="695487"/>
            </a:xfrm>
            <a:custGeom>
              <a:avLst/>
              <a:gdLst/>
              <a:ahLst/>
              <a:cxnLst/>
              <a:rect r="r" b="b" t="t" l="l"/>
              <a:pathLst>
                <a:path h="695487" w="10340799">
                  <a:moveTo>
                    <a:pt x="0" y="0"/>
                  </a:moveTo>
                  <a:lnTo>
                    <a:pt x="10340799" y="0"/>
                  </a:lnTo>
                  <a:lnTo>
                    <a:pt x="10340799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9711" r="0" b="-23971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0340797" cy="714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full_name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30255" y="6049158"/>
            <a:ext cx="7755598" cy="521618"/>
            <a:chOff x="0" y="0"/>
            <a:chExt cx="10340797" cy="6954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340799" cy="695487"/>
            </a:xfrm>
            <a:custGeom>
              <a:avLst/>
              <a:gdLst/>
              <a:ahLst/>
              <a:cxnLst/>
              <a:rect r="r" b="b" t="t" l="l"/>
              <a:pathLst>
                <a:path h="695487" w="10340799">
                  <a:moveTo>
                    <a:pt x="0" y="0"/>
                  </a:moveTo>
                  <a:lnTo>
                    <a:pt x="10340799" y="0"/>
                  </a:lnTo>
                  <a:lnTo>
                    <a:pt x="10340799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9711" r="0" b="-23971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0340797" cy="714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Tunde Bakare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65539" y="6570776"/>
            <a:ext cx="8030137" cy="521618"/>
            <a:chOff x="0" y="0"/>
            <a:chExt cx="10706849" cy="69549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06862" cy="695452"/>
            </a:xfrm>
            <a:custGeom>
              <a:avLst/>
              <a:gdLst/>
              <a:ahLst/>
              <a:cxnLst/>
              <a:rect r="r" b="b" t="t" l="l"/>
              <a:pathLst>
                <a:path h="695452" w="10706862">
                  <a:moveTo>
                    <a:pt x="0" y="0"/>
                  </a:moveTo>
                  <a:lnTo>
                    <a:pt x="10706862" y="0"/>
                  </a:lnTo>
                  <a:lnTo>
                    <a:pt x="10706862" y="695452"/>
                  </a:lnTo>
                  <a:lnTo>
                    <a:pt x="0" y="695452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30255" y="6570776"/>
            <a:ext cx="7755598" cy="521618"/>
            <a:chOff x="0" y="0"/>
            <a:chExt cx="10340797" cy="69549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340799" cy="695487"/>
            </a:xfrm>
            <a:custGeom>
              <a:avLst/>
              <a:gdLst/>
              <a:ahLst/>
              <a:cxnLst/>
              <a:rect r="r" b="b" t="t" l="l"/>
              <a:pathLst>
                <a:path h="695487" w="10340799">
                  <a:moveTo>
                    <a:pt x="0" y="0"/>
                  </a:moveTo>
                  <a:lnTo>
                    <a:pt x="10340799" y="0"/>
                  </a:lnTo>
                  <a:lnTo>
                    <a:pt x="10340799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9711" r="0" b="-23971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0340797" cy="714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Ngozi Eze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265539" y="7174756"/>
            <a:ext cx="8030137" cy="480431"/>
            <a:chOff x="0" y="0"/>
            <a:chExt cx="10706849" cy="64057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06845" cy="640580"/>
            </a:xfrm>
            <a:custGeom>
              <a:avLst/>
              <a:gdLst/>
              <a:ahLst/>
              <a:cxnLst/>
              <a:rect r="r" b="b" t="t" l="l"/>
              <a:pathLst>
                <a:path h="640580" w="10706845">
                  <a:moveTo>
                    <a:pt x="0" y="0"/>
                  </a:moveTo>
                  <a:lnTo>
                    <a:pt x="10706845" y="0"/>
                  </a:lnTo>
                  <a:lnTo>
                    <a:pt x="1070684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75679" r="0" b="-27567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706849" cy="68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1726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Exactly marketing's list — registered customers who have never ordered.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256004" y="7782918"/>
            <a:ext cx="8049196" cy="1666275"/>
            <a:chOff x="0" y="0"/>
            <a:chExt cx="10732262" cy="22217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32262" cy="2221738"/>
            </a:xfrm>
            <a:custGeom>
              <a:avLst/>
              <a:gdLst/>
              <a:ahLst/>
              <a:cxnLst/>
              <a:rect r="r" b="b" t="t" l="l"/>
              <a:pathLst>
                <a:path h="2221738" w="10732262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10547096" y="0"/>
                  </a:lnTo>
                  <a:cubicBezTo>
                    <a:pt x="10649331" y="0"/>
                    <a:pt x="10732262" y="82931"/>
                    <a:pt x="10732262" y="185166"/>
                  </a:cubicBezTo>
                  <a:lnTo>
                    <a:pt x="10732262" y="2036572"/>
                  </a:lnTo>
                  <a:cubicBezTo>
                    <a:pt x="10732262" y="2138807"/>
                    <a:pt x="10649331" y="2221738"/>
                    <a:pt x="10547096" y="2221738"/>
                  </a:cubicBezTo>
                  <a:lnTo>
                    <a:pt x="185166" y="2221738"/>
                  </a:lnTo>
                  <a:cubicBezTo>
                    <a:pt x="82931" y="2221738"/>
                    <a:pt x="0" y="2138807"/>
                    <a:pt x="0" y="2036572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608706" y="7902266"/>
            <a:ext cx="7618333" cy="1441304"/>
            <a:chOff x="0" y="0"/>
            <a:chExt cx="10157778" cy="192173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157776" cy="1921741"/>
            </a:xfrm>
            <a:custGeom>
              <a:avLst/>
              <a:gdLst/>
              <a:ahLst/>
              <a:cxnLst/>
              <a:rect r="r" b="b" t="t" l="l"/>
              <a:pathLst>
                <a:path h="1921741" w="10157776">
                  <a:moveTo>
                    <a:pt x="0" y="0"/>
                  </a:moveTo>
                  <a:lnTo>
                    <a:pt x="10157776" y="0"/>
                  </a:lnTo>
                  <a:lnTo>
                    <a:pt x="10157776" y="1921741"/>
                  </a:lnTo>
                  <a:lnTo>
                    <a:pt x="0" y="192174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157778" cy="1959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50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Why o.order_id, not o.customer_id: </a:t>
              </a:r>
              <a:r>
                <a:rPr lang="en-US" sz="15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any column from the right-hand table works here — it's NULL only when nothing matched. Checking a left-hand column would never be NULL and wouldn't find the gap.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94071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6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73455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38225" y="1905000"/>
            <a:ext cx="13040392" cy="67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0"/>
              </a:lnSpc>
            </a:pPr>
            <a:r>
              <a:rPr lang="en-US" sz="41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Which join do I actually want?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76325" y="2845247"/>
            <a:ext cx="16334804" cy="617706"/>
            <a:chOff x="0" y="0"/>
            <a:chExt cx="21779738" cy="8236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79736" cy="823603"/>
            </a:xfrm>
            <a:custGeom>
              <a:avLst/>
              <a:gdLst/>
              <a:ahLst/>
              <a:cxnLst/>
              <a:rect r="r" b="b" t="t" l="l"/>
              <a:pathLst>
                <a:path h="823603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65270" r="0" b="-46527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1779738" cy="852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Ask one question: does this business question care about rows with no match, or only about matches?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1338" y="3727957"/>
            <a:ext cx="16353863" cy="3999814"/>
            <a:chOff x="0" y="0"/>
            <a:chExt cx="21805151" cy="53330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805137" cy="5333111"/>
            </a:xfrm>
            <a:custGeom>
              <a:avLst/>
              <a:gdLst/>
              <a:ahLst/>
              <a:cxnLst/>
              <a:rect r="r" b="b" t="t" l="l"/>
              <a:pathLst>
                <a:path h="5333111" w="21805137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21694775" y="0"/>
                  </a:lnTo>
                  <a:cubicBezTo>
                    <a:pt x="21755736" y="0"/>
                    <a:pt x="21805137" y="49403"/>
                    <a:pt x="21805137" y="110363"/>
                  </a:cubicBezTo>
                  <a:lnTo>
                    <a:pt x="21805137" y="5222748"/>
                  </a:lnTo>
                  <a:cubicBezTo>
                    <a:pt x="21805137" y="5283708"/>
                    <a:pt x="21755736" y="5333111"/>
                    <a:pt x="21694775" y="5333111"/>
                  </a:cubicBezTo>
                  <a:lnTo>
                    <a:pt x="110363" y="5333111"/>
                  </a:lnTo>
                  <a:cubicBezTo>
                    <a:pt x="49403" y="5333111"/>
                    <a:pt x="0" y="5283708"/>
                    <a:pt x="0" y="522274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60872" y="3737482"/>
            <a:ext cx="16334804" cy="576520"/>
            <a:chOff x="0" y="0"/>
            <a:chExt cx="21779738" cy="7686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79737" cy="768731"/>
            </a:xfrm>
            <a:custGeom>
              <a:avLst/>
              <a:gdLst/>
              <a:ahLst/>
              <a:cxnLst/>
              <a:rect r="r" b="b" t="t" l="l"/>
              <a:pathLst>
                <a:path h="768731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25588" y="3737482"/>
            <a:ext cx="5170399" cy="576520"/>
            <a:chOff x="0" y="0"/>
            <a:chExt cx="6893865" cy="7686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Business question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70526" y="3737482"/>
            <a:ext cx="5170399" cy="576520"/>
            <a:chOff x="0" y="0"/>
            <a:chExt cx="6893865" cy="76869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Cares about non-matches?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15464" y="3737482"/>
            <a:ext cx="5170399" cy="576520"/>
            <a:chOff x="0" y="0"/>
            <a:chExt cx="6893865" cy="7686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93866" cy="768697"/>
            </a:xfrm>
            <a:custGeom>
              <a:avLst/>
              <a:gdLst/>
              <a:ahLst/>
              <a:cxnLst/>
              <a:rect r="r" b="b" t="t" l="l"/>
              <a:pathLst>
                <a:path h="768697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4746" r="0" b="-12474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893865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Join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25588" y="4314011"/>
            <a:ext cx="5170399" cy="851059"/>
            <a:chOff x="0" y="0"/>
            <a:chExt cx="6893865" cy="11347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893865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Every order with its customer's name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570526" y="4314011"/>
            <a:ext cx="5170399" cy="851059"/>
            <a:chOff x="0" y="0"/>
            <a:chExt cx="6893865" cy="11347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893865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No — orders always have a customer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015464" y="4314011"/>
            <a:ext cx="5170399" cy="851059"/>
            <a:chOff x="0" y="0"/>
            <a:chExt cx="6893865" cy="11347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893865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INNER JOIN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0872" y="5165070"/>
            <a:ext cx="16334804" cy="851059"/>
            <a:chOff x="0" y="0"/>
            <a:chExt cx="21779738" cy="113474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779737" cy="1134745"/>
            </a:xfrm>
            <a:custGeom>
              <a:avLst/>
              <a:gdLst/>
              <a:ahLst/>
              <a:cxnLst/>
              <a:rect r="r" b="b" t="t" l="l"/>
              <a:pathLst>
                <a:path h="1134745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25588" y="5165070"/>
            <a:ext cx="5170399" cy="851059"/>
            <a:chOff x="0" y="0"/>
            <a:chExt cx="6893865" cy="113474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893865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Customers who have never ordered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570526" y="5165070"/>
            <a:ext cx="5170399" cy="851059"/>
            <a:chOff x="0" y="0"/>
            <a:chExt cx="6893865" cy="113474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893865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Yes — the whole point is the gap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015464" y="5165070"/>
            <a:ext cx="5170399" cy="851059"/>
            <a:chOff x="0" y="0"/>
            <a:chExt cx="6893865" cy="113474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6893865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LEFT JOIN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25588" y="6016119"/>
            <a:ext cx="5170399" cy="851059"/>
            <a:chOff x="0" y="0"/>
            <a:chExt cx="6893865" cy="113474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6893865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Total spend per city (from 3.3)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570526" y="6016119"/>
            <a:ext cx="5170399" cy="851059"/>
            <a:chOff x="0" y="0"/>
            <a:chExt cx="6893865" cy="113474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6893865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No — no join needed at all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015464" y="6016119"/>
            <a:ext cx="5170399" cy="851059"/>
            <a:chOff x="0" y="0"/>
            <a:chExt cx="6893865" cy="113474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6893865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single table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60872" y="6867178"/>
            <a:ext cx="16334804" cy="851059"/>
            <a:chOff x="0" y="0"/>
            <a:chExt cx="21779738" cy="113474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779737" cy="1134745"/>
            </a:xfrm>
            <a:custGeom>
              <a:avLst/>
              <a:gdLst/>
              <a:ahLst/>
              <a:cxnLst/>
              <a:rect r="r" b="b" t="t" l="l"/>
              <a:pathLst>
                <a:path h="1134745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25588" y="6867178"/>
            <a:ext cx="5170399" cy="851059"/>
            <a:chOff x="0" y="0"/>
            <a:chExt cx="6893865" cy="113474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6893865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Every customer, with order count (0 if none)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570526" y="6867178"/>
            <a:ext cx="5170399" cy="851059"/>
            <a:chOff x="0" y="0"/>
            <a:chExt cx="6893865" cy="113474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6893865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Yes — zero must show as zero, not vanish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015464" y="6867178"/>
            <a:ext cx="5170399" cy="851059"/>
            <a:chOff x="0" y="0"/>
            <a:chExt cx="6893865" cy="113474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893866" cy="1134743"/>
            </a:xfrm>
            <a:custGeom>
              <a:avLst/>
              <a:gdLst/>
              <a:ahLst/>
              <a:cxnLst/>
              <a:rect r="r" b="b" t="t" l="l"/>
              <a:pathLst>
                <a:path h="113474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76" r="0" b="-6837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6893865" cy="115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LEFT JOIN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51338" y="7914604"/>
            <a:ext cx="16353863" cy="1734903"/>
            <a:chOff x="0" y="0"/>
            <a:chExt cx="21805151" cy="231320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805139" cy="2313178"/>
            </a:xfrm>
            <a:custGeom>
              <a:avLst/>
              <a:gdLst/>
              <a:ahLst/>
              <a:cxnLst/>
              <a:rect r="r" b="b" t="t" l="l"/>
              <a:pathLst>
                <a:path h="2313178" w="21805139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21620099" y="0"/>
                  </a:lnTo>
                  <a:cubicBezTo>
                    <a:pt x="21722335" y="0"/>
                    <a:pt x="21805139" y="82804"/>
                    <a:pt x="21805139" y="185039"/>
                  </a:cubicBezTo>
                  <a:lnTo>
                    <a:pt x="21805139" y="2128139"/>
                  </a:lnTo>
                  <a:cubicBezTo>
                    <a:pt x="21805139" y="2230374"/>
                    <a:pt x="21722335" y="2313178"/>
                    <a:pt x="21620099" y="2313178"/>
                  </a:cubicBezTo>
                  <a:lnTo>
                    <a:pt x="185039" y="2313178"/>
                  </a:lnTo>
                  <a:cubicBezTo>
                    <a:pt x="82804" y="2313178"/>
                    <a:pt x="0" y="2230374"/>
                    <a:pt x="0" y="2128139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372676" y="8102580"/>
            <a:ext cx="15511196" cy="1372676"/>
            <a:chOff x="0" y="0"/>
            <a:chExt cx="20681594" cy="183023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681598" cy="1830230"/>
            </a:xfrm>
            <a:custGeom>
              <a:avLst/>
              <a:gdLst/>
              <a:ahLst/>
              <a:cxnLst/>
              <a:rect r="r" b="b" t="t" l="l"/>
              <a:pathLst>
                <a:path h="1830230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0180" r="0" b="-17018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20681594" cy="1906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19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Default assumption: </a:t>
              </a:r>
              <a:r>
                <a:rPr lang="en-US" sz="19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start with INNER JOIN. Switch to LEFT JOIN only when you can name, out loud, why a non-matching row still belongs in the answer.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37547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7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7260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33449" y="1819907"/>
            <a:ext cx="13040392" cy="628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38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A query inside a query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2619566"/>
            <a:ext cx="7824235" cy="444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46" indent="-183523" lvl="1">
              <a:lnSpc>
                <a:spcPts val="2869"/>
              </a:lnSpc>
              <a:buFont typeface="Arial"/>
              <a:buChar char="•"/>
            </a:pPr>
            <a:r>
              <a:rPr lang="en-US" sz="20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Some questions are layered: you need one answer before you can ask the real question.</a:t>
            </a:r>
          </a:p>
          <a:p>
            <a:pPr algn="l" marL="367046" indent="-183523" lvl="1">
              <a:lnSpc>
                <a:spcPts val="2869"/>
              </a:lnSpc>
              <a:buFont typeface="Arial"/>
              <a:buChar char="•"/>
            </a:pPr>
            <a:r>
              <a:rPr lang="en-US" sz="20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“Which customers spend more than average?” needs the average first — that's a query of its own.</a:t>
            </a:r>
          </a:p>
          <a:p>
            <a:pPr algn="l" marL="367046" indent="-183523" lvl="1">
              <a:lnSpc>
                <a:spcPts val="2869"/>
              </a:lnSpc>
              <a:buFont typeface="Arial"/>
              <a:buChar char="•"/>
            </a:pPr>
            <a:r>
              <a:rPr lang="en-US" sz="20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A subquery is just that inner query, written in parentheses, in place of a value.</a:t>
            </a:r>
          </a:p>
          <a:p>
            <a:pPr algn="l" marL="367046" indent="-183523" lvl="1">
              <a:lnSpc>
                <a:spcPts val="2869"/>
              </a:lnSpc>
              <a:buFont typeface="Arial"/>
              <a:buChar char="•"/>
            </a:pPr>
            <a:r>
              <a:rPr lang="en-US" sz="20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A scalar subquery returns exactly one value — here, one number: the average.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0872" y="6487135"/>
            <a:ext cx="8183128" cy="2847042"/>
            <a:chOff x="0" y="0"/>
            <a:chExt cx="10432313" cy="36295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32288" cy="3629478"/>
            </a:xfrm>
            <a:custGeom>
              <a:avLst/>
              <a:gdLst/>
              <a:ahLst/>
              <a:cxnLst/>
              <a:rect r="r" b="b" t="t" l="l"/>
              <a:pathLst>
                <a:path h="3629478" w="10432288">
                  <a:moveTo>
                    <a:pt x="0" y="197974"/>
                  </a:moveTo>
                  <a:cubicBezTo>
                    <a:pt x="0" y="88684"/>
                    <a:pt x="73787" y="0"/>
                    <a:pt x="164719" y="0"/>
                  </a:cubicBezTo>
                  <a:lnTo>
                    <a:pt x="10267569" y="0"/>
                  </a:lnTo>
                  <a:cubicBezTo>
                    <a:pt x="10358501" y="0"/>
                    <a:pt x="10432288" y="88684"/>
                    <a:pt x="10432288" y="197974"/>
                  </a:cubicBezTo>
                  <a:lnTo>
                    <a:pt x="10432288" y="3431504"/>
                  </a:lnTo>
                  <a:cubicBezTo>
                    <a:pt x="10432288" y="3540794"/>
                    <a:pt x="10358501" y="3629478"/>
                    <a:pt x="10267569" y="3629478"/>
                  </a:cubicBezTo>
                  <a:lnTo>
                    <a:pt x="164719" y="3629478"/>
                  </a:lnTo>
                  <a:cubicBezTo>
                    <a:pt x="73787" y="3629620"/>
                    <a:pt x="0" y="3540947"/>
                    <a:pt x="0" y="3431504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45216" y="6769237"/>
            <a:ext cx="7586494" cy="191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1694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SELECT</a:t>
            </a:r>
            <a:r>
              <a:rPr lang="en-US" sz="1694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full_name, total_spent</a:t>
            </a:r>
          </a:p>
          <a:p>
            <a:pPr algn="l">
              <a:lnSpc>
                <a:spcPts val="2745"/>
              </a:lnSpc>
            </a:pPr>
            <a:r>
              <a:rPr lang="en-US" sz="1694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694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customers</a:t>
            </a:r>
          </a:p>
          <a:p>
            <a:pPr algn="l">
              <a:lnSpc>
                <a:spcPts val="2745"/>
              </a:lnSpc>
            </a:pPr>
            <a:r>
              <a:rPr lang="en-US" sz="1694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WHERE</a:t>
            </a:r>
            <a:r>
              <a:rPr lang="en-US" sz="1694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total_spent </a:t>
            </a:r>
            <a:r>
              <a:rPr lang="en-US" sz="1694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&gt;</a:t>
            </a:r>
            <a:r>
              <a:rPr lang="en-US" sz="1694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</a:p>
          <a:p>
            <a:pPr algn="l">
              <a:lnSpc>
                <a:spcPts val="2745"/>
              </a:lnSpc>
            </a:pPr>
            <a:r>
              <a:rPr lang="en-US" sz="1694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SELECT</a:t>
            </a:r>
            <a:r>
              <a:rPr lang="en-US" sz="1694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94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AVG</a:t>
            </a:r>
            <a:r>
              <a:rPr lang="en-US" sz="1694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(total_spent) </a:t>
            </a:r>
            <a:r>
              <a:rPr lang="en-US" sz="1694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694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customers</a:t>
            </a:r>
          </a:p>
          <a:p>
            <a:pPr algn="l">
              <a:lnSpc>
                <a:spcPts val="2745"/>
              </a:lnSpc>
            </a:pPr>
            <a:r>
              <a:rPr lang="en-US" sz="1694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algn="l">
              <a:lnSpc>
                <a:spcPts val="2745"/>
              </a:lnSpc>
            </a:pPr>
            <a:r>
              <a:rPr lang="en-US" sz="1694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ORDER BY</a:t>
            </a:r>
            <a:r>
              <a:rPr lang="en-US" sz="1694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total_spent </a:t>
            </a:r>
            <a:r>
              <a:rPr lang="en-US" sz="1694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DESC</a:t>
            </a:r>
            <a:r>
              <a:rPr lang="en-US" sz="1694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56004" y="2667181"/>
            <a:ext cx="8117834" cy="2517324"/>
            <a:chOff x="0" y="0"/>
            <a:chExt cx="10823778" cy="3356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23702" cy="3356356"/>
            </a:xfrm>
            <a:custGeom>
              <a:avLst/>
              <a:gdLst/>
              <a:ahLst/>
              <a:cxnLst/>
              <a:rect r="r" b="b" t="t" l="l"/>
              <a:pathLst>
                <a:path h="3356356" w="10823702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10713085" y="0"/>
                  </a:lnTo>
                  <a:cubicBezTo>
                    <a:pt x="10774172" y="0"/>
                    <a:pt x="10823702" y="49530"/>
                    <a:pt x="10823702" y="110617"/>
                  </a:cubicBezTo>
                  <a:lnTo>
                    <a:pt x="10823702" y="3245739"/>
                  </a:lnTo>
                  <a:cubicBezTo>
                    <a:pt x="10823702" y="3306826"/>
                    <a:pt x="10774172" y="3356356"/>
                    <a:pt x="10713085" y="3356356"/>
                  </a:cubicBezTo>
                  <a:lnTo>
                    <a:pt x="110617" y="3356356"/>
                  </a:lnTo>
                  <a:cubicBezTo>
                    <a:pt x="49530" y="3356356"/>
                    <a:pt x="0" y="3306826"/>
                    <a:pt x="0" y="324573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265539" y="2676716"/>
            <a:ext cx="8098765" cy="521618"/>
            <a:chOff x="0" y="0"/>
            <a:chExt cx="10798353" cy="6954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98302" cy="695452"/>
            </a:xfrm>
            <a:custGeom>
              <a:avLst/>
              <a:gdLst/>
              <a:ahLst/>
              <a:cxnLst/>
              <a:rect r="r" b="b" t="t" l="l"/>
              <a:pathLst>
                <a:path h="695452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695452"/>
                  </a:lnTo>
                  <a:lnTo>
                    <a:pt x="0" y="695452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430255" y="2676716"/>
            <a:ext cx="3774853" cy="521618"/>
            <a:chOff x="0" y="0"/>
            <a:chExt cx="5033137" cy="6954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33132" cy="695487"/>
            </a:xfrm>
            <a:custGeom>
              <a:avLst/>
              <a:gdLst/>
              <a:ahLst/>
              <a:cxnLst/>
              <a:rect r="r" b="b" t="t" l="l"/>
              <a:pathLst>
                <a:path h="695487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1010" r="0" b="-9101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033137" cy="714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full_name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479647" y="2676716"/>
            <a:ext cx="3774853" cy="521618"/>
            <a:chOff x="0" y="0"/>
            <a:chExt cx="5033137" cy="6954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33132" cy="695487"/>
            </a:xfrm>
            <a:custGeom>
              <a:avLst/>
              <a:gdLst/>
              <a:ahLst/>
              <a:cxnLst/>
              <a:rect r="r" b="b" t="t" l="l"/>
              <a:pathLst>
                <a:path h="695487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1010" r="0" b="-9101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033137" cy="714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total_spent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30255" y="3198324"/>
            <a:ext cx="3774853" cy="494167"/>
            <a:chOff x="0" y="0"/>
            <a:chExt cx="5033137" cy="6588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33132" cy="658883"/>
            </a:xfrm>
            <a:custGeom>
              <a:avLst/>
              <a:gdLst/>
              <a:ahLst/>
              <a:cxnLst/>
              <a:rect r="r" b="b" t="t" l="l"/>
              <a:pathLst>
                <a:path h="658883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8843" r="0" b="-9884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033137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Aisha Mohammed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479647" y="3198324"/>
            <a:ext cx="3774853" cy="494167"/>
            <a:chOff x="0" y="0"/>
            <a:chExt cx="5033137" cy="6588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33132" cy="658883"/>
            </a:xfrm>
            <a:custGeom>
              <a:avLst/>
              <a:gdLst/>
              <a:ahLst/>
              <a:cxnLst/>
              <a:rect r="r" b="b" t="t" l="l"/>
              <a:pathLst>
                <a:path h="658883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8843" r="0" b="-9884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033137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210000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65539" y="3692490"/>
            <a:ext cx="8098765" cy="494167"/>
            <a:chOff x="0" y="0"/>
            <a:chExt cx="10798353" cy="6588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98302" cy="658876"/>
            </a:xfrm>
            <a:custGeom>
              <a:avLst/>
              <a:gdLst/>
              <a:ahLst/>
              <a:cxnLst/>
              <a:rect r="r" b="b" t="t" l="l"/>
              <a:pathLst>
                <a:path h="658876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658876"/>
                  </a:lnTo>
                  <a:lnTo>
                    <a:pt x="0" y="658876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430255" y="3692490"/>
            <a:ext cx="3774853" cy="494167"/>
            <a:chOff x="0" y="0"/>
            <a:chExt cx="5033137" cy="65888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33132" cy="658883"/>
            </a:xfrm>
            <a:custGeom>
              <a:avLst/>
              <a:gdLst/>
              <a:ahLst/>
              <a:cxnLst/>
              <a:rect r="r" b="b" t="t" l="l"/>
              <a:pathLst>
                <a:path h="658883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8843" r="0" b="-9884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033137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Chidinma Okafor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479647" y="3692490"/>
            <a:ext cx="3774853" cy="494167"/>
            <a:chOff x="0" y="0"/>
            <a:chExt cx="5033137" cy="65888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033132" cy="658883"/>
            </a:xfrm>
            <a:custGeom>
              <a:avLst/>
              <a:gdLst/>
              <a:ahLst/>
              <a:cxnLst/>
              <a:rect r="r" b="b" t="t" l="l"/>
              <a:pathLst>
                <a:path h="658883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8843" r="0" b="-9884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033137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185000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30255" y="4186647"/>
            <a:ext cx="3774853" cy="494167"/>
            <a:chOff x="0" y="0"/>
            <a:chExt cx="5033137" cy="65888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33132" cy="658883"/>
            </a:xfrm>
            <a:custGeom>
              <a:avLst/>
              <a:gdLst/>
              <a:ahLst/>
              <a:cxnLst/>
              <a:rect r="r" b="b" t="t" l="l"/>
              <a:pathLst>
                <a:path h="658883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8843" r="0" b="-9884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5033137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Yusuf Ibrahim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479647" y="4186647"/>
            <a:ext cx="3774853" cy="494167"/>
            <a:chOff x="0" y="0"/>
            <a:chExt cx="5033137" cy="65888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033132" cy="658883"/>
            </a:xfrm>
            <a:custGeom>
              <a:avLst/>
              <a:gdLst/>
              <a:ahLst/>
              <a:cxnLst/>
              <a:rect r="r" b="b" t="t" l="l"/>
              <a:pathLst>
                <a:path h="658883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8843" r="0" b="-9884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5033137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132000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265539" y="4680814"/>
            <a:ext cx="8098765" cy="494167"/>
            <a:chOff x="0" y="0"/>
            <a:chExt cx="10798353" cy="65888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98302" cy="658876"/>
            </a:xfrm>
            <a:custGeom>
              <a:avLst/>
              <a:gdLst/>
              <a:ahLst/>
              <a:cxnLst/>
              <a:rect r="r" b="b" t="t" l="l"/>
              <a:pathLst>
                <a:path h="658876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658876"/>
                  </a:lnTo>
                  <a:lnTo>
                    <a:pt x="0" y="658876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430255" y="4680814"/>
            <a:ext cx="3774853" cy="494167"/>
            <a:chOff x="0" y="0"/>
            <a:chExt cx="5033137" cy="65888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033132" cy="658883"/>
            </a:xfrm>
            <a:custGeom>
              <a:avLst/>
              <a:gdLst/>
              <a:ahLst/>
              <a:cxnLst/>
              <a:rect r="r" b="b" t="t" l="l"/>
              <a:pathLst>
                <a:path h="658883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8843" r="0" b="-9884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5033137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Fatima Bello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479647" y="4680814"/>
            <a:ext cx="3774853" cy="494167"/>
            <a:chOff x="0" y="0"/>
            <a:chExt cx="5033137" cy="65888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33132" cy="658883"/>
            </a:xfrm>
            <a:custGeom>
              <a:avLst/>
              <a:gdLst/>
              <a:ahLst/>
              <a:cxnLst/>
              <a:rect r="r" b="b" t="t" l="l"/>
              <a:pathLst>
                <a:path h="658883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8843" r="0" b="-9884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5033137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98000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265539" y="5422059"/>
            <a:ext cx="8098765" cy="686333"/>
            <a:chOff x="0" y="0"/>
            <a:chExt cx="10798353" cy="91511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798356" cy="915115"/>
            </a:xfrm>
            <a:custGeom>
              <a:avLst/>
              <a:gdLst/>
              <a:ahLst/>
              <a:cxnLst/>
              <a:rect r="r" b="b" t="t" l="l"/>
              <a:pathLst>
                <a:path h="915115" w="10798356">
                  <a:moveTo>
                    <a:pt x="0" y="0"/>
                  </a:moveTo>
                  <a:lnTo>
                    <a:pt x="10798356" y="0"/>
                  </a:lnTo>
                  <a:lnTo>
                    <a:pt x="1079835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0798353" cy="962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651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The inner query runs first — AVG(total_spent) = 85800 — then the outer query filters against that one number.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256004" y="6236122"/>
            <a:ext cx="8117834" cy="3244844"/>
            <a:chOff x="0" y="0"/>
            <a:chExt cx="10823778" cy="432645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823829" cy="4326509"/>
            </a:xfrm>
            <a:custGeom>
              <a:avLst/>
              <a:gdLst/>
              <a:ahLst/>
              <a:cxnLst/>
              <a:rect r="r" b="b" t="t" l="l"/>
              <a:pathLst>
                <a:path h="4326509" w="10823829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10639679" y="0"/>
                  </a:lnTo>
                  <a:cubicBezTo>
                    <a:pt x="10741406" y="0"/>
                    <a:pt x="10823829" y="82423"/>
                    <a:pt x="10823829" y="184150"/>
                  </a:cubicBezTo>
                  <a:lnTo>
                    <a:pt x="10823829" y="4142359"/>
                  </a:lnTo>
                  <a:cubicBezTo>
                    <a:pt x="10823829" y="4244086"/>
                    <a:pt x="10741406" y="4326509"/>
                    <a:pt x="10639679" y="4326509"/>
                  </a:cubicBezTo>
                  <a:lnTo>
                    <a:pt x="184150" y="4326509"/>
                  </a:lnTo>
                  <a:cubicBezTo>
                    <a:pt x="82423" y="4326509"/>
                    <a:pt x="0" y="4244086"/>
                    <a:pt x="0" y="4142359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608706" y="6424108"/>
            <a:ext cx="7412431" cy="411804"/>
            <a:chOff x="0" y="0"/>
            <a:chExt cx="9883242" cy="5490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883241" cy="549069"/>
            </a:xfrm>
            <a:custGeom>
              <a:avLst/>
              <a:gdLst/>
              <a:ahLst/>
              <a:cxnLst/>
              <a:rect r="r" b="b" t="t" l="l"/>
              <a:pathLst>
                <a:path h="549069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9883242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Same 4 people HAVING found in 3.3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08706" y="6863363"/>
            <a:ext cx="7412431" cy="2470814"/>
            <a:chOff x="0" y="0"/>
            <a:chExt cx="9883242" cy="329441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883241" cy="3294414"/>
            </a:xfrm>
            <a:custGeom>
              <a:avLst/>
              <a:gdLst/>
              <a:ahLst/>
              <a:cxnLst/>
              <a:rect r="r" b="b" t="t" l="l"/>
              <a:pathLst>
                <a:path h="3294414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3294414"/>
                  </a:lnTo>
                  <a:lnTo>
                    <a:pt x="0" y="329441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9883242" cy="3351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7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Back in 3.3, GROUP BY membership_tier HAVING AVG(total_spent) &gt; 80000 surfaced the Gold tier — the same four people. Same answer, two different tools.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 rot="2940">
            <a:off x="816454" y="9631394"/>
            <a:ext cx="16668941" cy="0"/>
          </a:xfrm>
          <a:prstGeom prst="line">
            <a:avLst/>
          </a:prstGeom>
          <a:ln cap="rnd" w="9525">
            <a:solidFill>
              <a:srgbClr val="D8E5E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91437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CONCEPT 8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25830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52525" y="1875512"/>
            <a:ext cx="13040392" cy="71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2"/>
              </a:lnSpc>
            </a:pPr>
            <a:r>
              <a:rPr lang="en-US" sz="43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IN subquery — matching against a list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2946130"/>
            <a:ext cx="7824235" cy="240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3269" indent="-201634" lvl="1">
              <a:lnSpc>
                <a:spcPts val="3152"/>
              </a:lnSpc>
              <a:buFont typeface="Arial"/>
              <a:buChar char="•"/>
            </a:pPr>
            <a:r>
              <a:rPr lang="en-US" sz="22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A scalar subquery returns one value. An IN subquery returns a list of values instead.</a:t>
            </a:r>
          </a:p>
          <a:p>
            <a:pPr algn="l" marL="403269" indent="-201634" lvl="1">
              <a:lnSpc>
                <a:spcPts val="3152"/>
              </a:lnSpc>
              <a:buFont typeface="Arial"/>
              <a:buChar char="•"/>
            </a:pPr>
            <a:r>
              <a:rPr lang="en-US" sz="22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WHERE column IN (subquery) keeps rows whose column shows up anywhere in that list.</a:t>
            </a:r>
          </a:p>
          <a:p>
            <a:pPr algn="l" marL="403269" indent="-201634" lvl="1">
              <a:lnSpc>
                <a:spcPts val="3152"/>
              </a:lnSpc>
              <a:buFont typeface="Arial"/>
              <a:buChar char="•"/>
            </a:pPr>
            <a:r>
              <a:rPr lang="en-US" sz="22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This answers: “which customers have at least one delivered order?” — without a JOIN at all.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0872" y="6169952"/>
            <a:ext cx="7824235" cy="2813980"/>
            <a:chOff x="0" y="0"/>
            <a:chExt cx="10432313" cy="37519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32288" cy="3751961"/>
            </a:xfrm>
            <a:custGeom>
              <a:avLst/>
              <a:gdLst/>
              <a:ahLst/>
              <a:cxnLst/>
              <a:rect r="r" b="b" t="t" l="l"/>
              <a:pathLst>
                <a:path h="3751961" w="1043228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267569" y="0"/>
                  </a:lnTo>
                  <a:cubicBezTo>
                    <a:pt x="10358501" y="0"/>
                    <a:pt x="10432288" y="73787"/>
                    <a:pt x="10432288" y="164719"/>
                  </a:cubicBezTo>
                  <a:lnTo>
                    <a:pt x="10432288" y="3587242"/>
                  </a:lnTo>
                  <a:cubicBezTo>
                    <a:pt x="10432288" y="3678174"/>
                    <a:pt x="10358501" y="3751961"/>
                    <a:pt x="10267569" y="3751961"/>
                  </a:cubicBezTo>
                  <a:lnTo>
                    <a:pt x="164719" y="3751961"/>
                  </a:lnTo>
                  <a:cubicBezTo>
                    <a:pt x="73787" y="3751961"/>
                    <a:pt x="0" y="3678174"/>
                    <a:pt x="0" y="3587242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45216" y="6377816"/>
            <a:ext cx="7055539" cy="233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165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SELECT</a:t>
            </a:r>
            <a:r>
              <a:rPr lang="en-US" sz="165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full_name</a:t>
            </a:r>
          </a:p>
          <a:p>
            <a:pPr algn="l">
              <a:lnSpc>
                <a:spcPts val="2675"/>
              </a:lnSpc>
            </a:pPr>
            <a:r>
              <a:rPr lang="en-US" sz="165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65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customers</a:t>
            </a:r>
          </a:p>
          <a:p>
            <a:pPr algn="l">
              <a:lnSpc>
                <a:spcPts val="2675"/>
              </a:lnSpc>
            </a:pPr>
            <a:r>
              <a:rPr lang="en-US" sz="165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WHERE</a:t>
            </a:r>
            <a:r>
              <a:rPr lang="en-US" sz="165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customer_id </a:t>
            </a:r>
            <a:r>
              <a:rPr lang="en-US" sz="165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</a:t>
            </a:r>
            <a:r>
              <a:rPr lang="en-US" sz="165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</a:p>
          <a:p>
            <a:pPr algn="l">
              <a:lnSpc>
                <a:spcPts val="2675"/>
              </a:lnSpc>
            </a:pPr>
            <a:r>
              <a:rPr lang="en-US" sz="165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SELECT</a:t>
            </a:r>
            <a:r>
              <a:rPr lang="en-US" sz="165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customer_id </a:t>
            </a:r>
            <a:r>
              <a:rPr lang="en-US" sz="165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65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orders</a:t>
            </a:r>
          </a:p>
          <a:p>
            <a:pPr algn="l">
              <a:lnSpc>
                <a:spcPts val="2675"/>
              </a:lnSpc>
            </a:pPr>
            <a:r>
              <a:rPr lang="en-US" sz="165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WHERE</a:t>
            </a:r>
            <a:r>
              <a:rPr lang="en-US" sz="165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status = 'Delivered'</a:t>
            </a:r>
          </a:p>
          <a:p>
            <a:pPr algn="l">
              <a:lnSpc>
                <a:spcPts val="2675"/>
              </a:lnSpc>
            </a:pPr>
            <a:r>
              <a:rPr lang="en-US" sz="165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56004" y="2797378"/>
            <a:ext cx="8117834" cy="1583912"/>
            <a:chOff x="0" y="0"/>
            <a:chExt cx="10823778" cy="21118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23702" cy="2111883"/>
            </a:xfrm>
            <a:custGeom>
              <a:avLst/>
              <a:gdLst/>
              <a:ahLst/>
              <a:cxnLst/>
              <a:rect r="r" b="b" t="t" l="l"/>
              <a:pathLst>
                <a:path h="2111883" w="10823702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10712577" y="0"/>
                  </a:lnTo>
                  <a:cubicBezTo>
                    <a:pt x="10773918" y="0"/>
                    <a:pt x="10823702" y="49784"/>
                    <a:pt x="10823702" y="111125"/>
                  </a:cubicBezTo>
                  <a:lnTo>
                    <a:pt x="10823702" y="2000758"/>
                  </a:lnTo>
                  <a:cubicBezTo>
                    <a:pt x="10823702" y="2062099"/>
                    <a:pt x="10773918" y="2111883"/>
                    <a:pt x="10712577" y="2111883"/>
                  </a:cubicBezTo>
                  <a:lnTo>
                    <a:pt x="111125" y="2111883"/>
                  </a:lnTo>
                  <a:cubicBezTo>
                    <a:pt x="49784" y="2111883"/>
                    <a:pt x="0" y="2062099"/>
                    <a:pt x="0" y="200075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265539" y="2806913"/>
            <a:ext cx="8098765" cy="521618"/>
            <a:chOff x="0" y="0"/>
            <a:chExt cx="10798353" cy="6954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98302" cy="695452"/>
            </a:xfrm>
            <a:custGeom>
              <a:avLst/>
              <a:gdLst/>
              <a:ahLst/>
              <a:cxnLst/>
              <a:rect r="r" b="b" t="t" l="l"/>
              <a:pathLst>
                <a:path h="695452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695452"/>
                  </a:lnTo>
                  <a:lnTo>
                    <a:pt x="0" y="695452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430255" y="2806913"/>
            <a:ext cx="7824235" cy="521618"/>
            <a:chOff x="0" y="0"/>
            <a:chExt cx="10432313" cy="6954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32311" cy="695487"/>
            </a:xfrm>
            <a:custGeom>
              <a:avLst/>
              <a:gdLst/>
              <a:ahLst/>
              <a:cxnLst/>
              <a:rect r="r" b="b" t="t" l="l"/>
              <a:pathLst>
                <a:path h="695487" w="10432311">
                  <a:moveTo>
                    <a:pt x="0" y="0"/>
                  </a:moveTo>
                  <a:lnTo>
                    <a:pt x="10432311" y="0"/>
                  </a:lnTo>
                  <a:lnTo>
                    <a:pt x="10432311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432313" cy="714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full_name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30255" y="3328521"/>
            <a:ext cx="7824235" cy="521618"/>
            <a:chOff x="0" y="0"/>
            <a:chExt cx="10432313" cy="6954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32311" cy="695487"/>
            </a:xfrm>
            <a:custGeom>
              <a:avLst/>
              <a:gdLst/>
              <a:ahLst/>
              <a:cxnLst/>
              <a:rect r="r" b="b" t="t" l="l"/>
              <a:pathLst>
                <a:path h="695487" w="10432311">
                  <a:moveTo>
                    <a:pt x="0" y="0"/>
                  </a:moveTo>
                  <a:lnTo>
                    <a:pt x="10432311" y="0"/>
                  </a:lnTo>
                  <a:lnTo>
                    <a:pt x="10432311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0432313" cy="714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Chidinma Okafor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65539" y="3850138"/>
            <a:ext cx="8098765" cy="521618"/>
            <a:chOff x="0" y="0"/>
            <a:chExt cx="10798353" cy="6954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98302" cy="695452"/>
            </a:xfrm>
            <a:custGeom>
              <a:avLst/>
              <a:gdLst/>
              <a:ahLst/>
              <a:cxnLst/>
              <a:rect r="r" b="b" t="t" l="l"/>
              <a:pathLst>
                <a:path h="695452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695452"/>
                  </a:lnTo>
                  <a:lnTo>
                    <a:pt x="0" y="695452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430255" y="3850138"/>
            <a:ext cx="7824235" cy="521618"/>
            <a:chOff x="0" y="0"/>
            <a:chExt cx="10432313" cy="6954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32311" cy="695487"/>
            </a:xfrm>
            <a:custGeom>
              <a:avLst/>
              <a:gdLst/>
              <a:ahLst/>
              <a:cxnLst/>
              <a:rect r="r" b="b" t="t" l="l"/>
              <a:pathLst>
                <a:path h="695487" w="10432311">
                  <a:moveTo>
                    <a:pt x="0" y="0"/>
                  </a:moveTo>
                  <a:lnTo>
                    <a:pt x="10432311" y="0"/>
                  </a:lnTo>
                  <a:lnTo>
                    <a:pt x="10432311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0432313" cy="714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Aisha Mohammed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65539" y="4495295"/>
            <a:ext cx="8098765" cy="686333"/>
            <a:chOff x="0" y="0"/>
            <a:chExt cx="10798353" cy="9151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98356" cy="915115"/>
            </a:xfrm>
            <a:custGeom>
              <a:avLst/>
              <a:gdLst/>
              <a:ahLst/>
              <a:cxnLst/>
              <a:rect r="r" b="b" t="t" l="l"/>
              <a:pathLst>
                <a:path h="915115" w="10798356">
                  <a:moveTo>
                    <a:pt x="0" y="0"/>
                  </a:moveTo>
                  <a:lnTo>
                    <a:pt x="10798356" y="0"/>
                  </a:lnTo>
                  <a:lnTo>
                    <a:pt x="1079835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798353" cy="962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651" i="true">
                  <a:solidFill>
                    <a:srgbClr val="5E737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The inner query returns {101, 103} — Emeka's order was Cancelled, so 104 isn't in the list.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256004" y="5309368"/>
            <a:ext cx="8117834" cy="3725285"/>
            <a:chOff x="0" y="0"/>
            <a:chExt cx="10823778" cy="496704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823829" cy="4967097"/>
            </a:xfrm>
            <a:custGeom>
              <a:avLst/>
              <a:gdLst/>
              <a:ahLst/>
              <a:cxnLst/>
              <a:rect r="r" b="b" t="t" l="l"/>
              <a:pathLst>
                <a:path h="4967097" w="10823829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10639806" y="0"/>
                  </a:lnTo>
                  <a:cubicBezTo>
                    <a:pt x="10741406" y="0"/>
                    <a:pt x="10823829" y="82423"/>
                    <a:pt x="10823829" y="184023"/>
                  </a:cubicBezTo>
                  <a:lnTo>
                    <a:pt x="10823829" y="4783074"/>
                  </a:lnTo>
                  <a:cubicBezTo>
                    <a:pt x="10823829" y="4884674"/>
                    <a:pt x="10741406" y="4967097"/>
                    <a:pt x="10639806" y="4967097"/>
                  </a:cubicBezTo>
                  <a:lnTo>
                    <a:pt x="184023" y="4967097"/>
                  </a:lnTo>
                  <a:cubicBezTo>
                    <a:pt x="82423" y="4967097"/>
                    <a:pt x="0" y="4884674"/>
                    <a:pt x="0" y="4783074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608706" y="5524795"/>
            <a:ext cx="7412431" cy="411804"/>
            <a:chOff x="0" y="0"/>
            <a:chExt cx="9883242" cy="5490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883241" cy="549069"/>
            </a:xfrm>
            <a:custGeom>
              <a:avLst/>
              <a:gdLst/>
              <a:ahLst/>
              <a:cxnLst/>
              <a:rect r="r" b="b" t="t" l="l"/>
              <a:pathLst>
                <a:path h="549069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9883242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Predict the subquery's list first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08706" y="6005236"/>
            <a:ext cx="7412431" cy="2813980"/>
            <a:chOff x="0" y="0"/>
            <a:chExt cx="9883242" cy="375197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883241" cy="3751971"/>
            </a:xfrm>
            <a:custGeom>
              <a:avLst/>
              <a:gdLst/>
              <a:ahLst/>
              <a:cxnLst/>
              <a:rect r="r" b="b" t="t" l="l"/>
              <a:pathLst>
                <a:path h="3751971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3751971"/>
                  </a:lnTo>
                  <a:lnTo>
                    <a:pt x="0" y="375197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26" r="0" b="-132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9883242" cy="3828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Same habit as everywhere else in this module: work out what the inner query should return before running the whole thing. If the outer result looks wrong, check the inner list on its own first.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657609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PUTTING IT TOGETHER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6307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0600" y="1896037"/>
            <a:ext cx="13040392" cy="691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6"/>
              </a:lnSpc>
            </a:pPr>
            <a:r>
              <a:rPr lang="en-US" sz="42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Where JOIN fits in the skeleton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2844270"/>
            <a:ext cx="16334804" cy="686333"/>
            <a:chOff x="0" y="0"/>
            <a:chExt cx="21779738" cy="9151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79736" cy="915115"/>
            </a:xfrm>
            <a:custGeom>
              <a:avLst/>
              <a:gdLst/>
              <a:ahLst/>
              <a:cxnLst/>
              <a:rect r="r" b="b" t="t" l="l"/>
              <a:pathLst>
                <a:path h="915115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13744" r="0" b="-41374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1779738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One more slot, in a fixed place: JOIN … ON always sits right after FROM, before WHERE.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872" y="3805142"/>
            <a:ext cx="2539441" cy="2059010"/>
            <a:chOff x="0" y="0"/>
            <a:chExt cx="3385922" cy="27453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85820" cy="2745359"/>
            </a:xfrm>
            <a:custGeom>
              <a:avLst/>
              <a:gdLst/>
              <a:ahLst/>
              <a:cxnLst/>
              <a:rect r="r" b="b" t="t" l="l"/>
              <a:pathLst>
                <a:path h="2745359" w="3385820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166237" y="0"/>
                  </a:lnTo>
                  <a:cubicBezTo>
                    <a:pt x="3287522" y="0"/>
                    <a:pt x="3385820" y="98298"/>
                    <a:pt x="3385820" y="219583"/>
                  </a:cubicBezTo>
                  <a:lnTo>
                    <a:pt x="3385820" y="2525776"/>
                  </a:lnTo>
                  <a:cubicBezTo>
                    <a:pt x="3385820" y="2647061"/>
                    <a:pt x="3287522" y="2745359"/>
                    <a:pt x="3166237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60872" y="4011044"/>
            <a:ext cx="2539441" cy="892235"/>
            <a:chOff x="0" y="0"/>
            <a:chExt cx="3385922" cy="11896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85925" cy="1189649"/>
            </a:xfrm>
            <a:custGeom>
              <a:avLst/>
              <a:gdLst/>
              <a:ahLst/>
              <a:cxnLst/>
              <a:rect r="r" b="b" t="t" l="l"/>
              <a:pathLst>
                <a:path h="1189649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3385922" cy="1208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SELECT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872" y="4903280"/>
            <a:ext cx="2539441" cy="754971"/>
            <a:chOff x="0" y="0"/>
            <a:chExt cx="3385922" cy="10066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85925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338592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columns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00314" y="3805142"/>
            <a:ext cx="178451" cy="2059010"/>
            <a:chOff x="0" y="0"/>
            <a:chExt cx="237934" cy="27453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7930" cy="2745345"/>
            </a:xfrm>
            <a:custGeom>
              <a:avLst/>
              <a:gdLst/>
              <a:ahLst/>
              <a:cxnLst/>
              <a:rect r="r" b="b" t="t" l="l"/>
              <a:pathLst>
                <a:path h="2745345" w="237930">
                  <a:moveTo>
                    <a:pt x="0" y="0"/>
                  </a:moveTo>
                  <a:lnTo>
                    <a:pt x="237930" y="0"/>
                  </a:lnTo>
                  <a:lnTo>
                    <a:pt x="237930" y="2745345"/>
                  </a:lnTo>
                  <a:lnTo>
                    <a:pt x="0" y="27453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30425" t="0" r="-143042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37934" cy="2764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5E73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678765" y="3805142"/>
            <a:ext cx="2539441" cy="2059010"/>
            <a:chOff x="0" y="0"/>
            <a:chExt cx="3385922" cy="274534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85820" cy="2745359"/>
            </a:xfrm>
            <a:custGeom>
              <a:avLst/>
              <a:gdLst/>
              <a:ahLst/>
              <a:cxnLst/>
              <a:rect r="r" b="b" t="t" l="l"/>
              <a:pathLst>
                <a:path h="2745359" w="3385820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166237" y="0"/>
                  </a:lnTo>
                  <a:cubicBezTo>
                    <a:pt x="3287522" y="0"/>
                    <a:pt x="3385820" y="98298"/>
                    <a:pt x="3385820" y="219583"/>
                  </a:cubicBezTo>
                  <a:lnTo>
                    <a:pt x="3385820" y="2525776"/>
                  </a:lnTo>
                  <a:cubicBezTo>
                    <a:pt x="3385820" y="2647061"/>
                    <a:pt x="3287522" y="2745359"/>
                    <a:pt x="3166237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678765" y="4011044"/>
            <a:ext cx="2539441" cy="892235"/>
            <a:chOff x="0" y="0"/>
            <a:chExt cx="3385922" cy="118964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85925" cy="1189649"/>
            </a:xfrm>
            <a:custGeom>
              <a:avLst/>
              <a:gdLst/>
              <a:ahLst/>
              <a:cxnLst/>
              <a:rect r="r" b="b" t="t" l="l"/>
              <a:pathLst>
                <a:path h="1189649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385922" cy="1208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FROM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678765" y="4903280"/>
            <a:ext cx="2539441" cy="754971"/>
            <a:chOff x="0" y="0"/>
            <a:chExt cx="3385922" cy="100662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85925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338592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first table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218206" y="3805142"/>
            <a:ext cx="178451" cy="2059010"/>
            <a:chOff x="0" y="0"/>
            <a:chExt cx="237934" cy="274534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7930" cy="2745345"/>
            </a:xfrm>
            <a:custGeom>
              <a:avLst/>
              <a:gdLst/>
              <a:ahLst/>
              <a:cxnLst/>
              <a:rect r="r" b="b" t="t" l="l"/>
              <a:pathLst>
                <a:path h="2745345" w="237930">
                  <a:moveTo>
                    <a:pt x="0" y="0"/>
                  </a:moveTo>
                  <a:lnTo>
                    <a:pt x="237930" y="0"/>
                  </a:lnTo>
                  <a:lnTo>
                    <a:pt x="237930" y="2745345"/>
                  </a:lnTo>
                  <a:lnTo>
                    <a:pt x="0" y="27453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30425" t="0" r="-143042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237934" cy="2764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5E73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396657" y="3805142"/>
            <a:ext cx="2539441" cy="2059010"/>
            <a:chOff x="0" y="0"/>
            <a:chExt cx="3385922" cy="274534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385820" cy="2745359"/>
            </a:xfrm>
            <a:custGeom>
              <a:avLst/>
              <a:gdLst/>
              <a:ahLst/>
              <a:cxnLst/>
              <a:rect r="r" b="b" t="t" l="l"/>
              <a:pathLst>
                <a:path h="2745359" w="3385820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166237" y="0"/>
                  </a:lnTo>
                  <a:cubicBezTo>
                    <a:pt x="3287522" y="0"/>
                    <a:pt x="3385820" y="98298"/>
                    <a:pt x="3385820" y="219583"/>
                  </a:cubicBezTo>
                  <a:lnTo>
                    <a:pt x="3385820" y="2525776"/>
                  </a:lnTo>
                  <a:cubicBezTo>
                    <a:pt x="3385820" y="2647061"/>
                    <a:pt x="3287522" y="2745359"/>
                    <a:pt x="3166237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C6941C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396657" y="4011044"/>
            <a:ext cx="2539441" cy="892235"/>
            <a:chOff x="0" y="0"/>
            <a:chExt cx="3385922" cy="118964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85925" cy="1189649"/>
            </a:xfrm>
            <a:custGeom>
              <a:avLst/>
              <a:gdLst/>
              <a:ahLst/>
              <a:cxnLst/>
              <a:rect r="r" b="b" t="t" l="l"/>
              <a:pathLst>
                <a:path h="1189649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3385922" cy="1208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JOIN…ON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396657" y="4903280"/>
            <a:ext cx="2539441" cy="754971"/>
            <a:chOff x="0" y="0"/>
            <a:chExt cx="3385922" cy="100662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385925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338592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second table (new)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936098" y="3805142"/>
            <a:ext cx="178451" cy="2059010"/>
            <a:chOff x="0" y="0"/>
            <a:chExt cx="237934" cy="274534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7930" cy="2745345"/>
            </a:xfrm>
            <a:custGeom>
              <a:avLst/>
              <a:gdLst/>
              <a:ahLst/>
              <a:cxnLst/>
              <a:rect r="r" b="b" t="t" l="l"/>
              <a:pathLst>
                <a:path h="2745345" w="237930">
                  <a:moveTo>
                    <a:pt x="0" y="0"/>
                  </a:moveTo>
                  <a:lnTo>
                    <a:pt x="237930" y="0"/>
                  </a:lnTo>
                  <a:lnTo>
                    <a:pt x="237930" y="2745345"/>
                  </a:lnTo>
                  <a:lnTo>
                    <a:pt x="0" y="27453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30425" t="0" r="-143042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237934" cy="2764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5E73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14549" y="3805142"/>
            <a:ext cx="2539441" cy="2059010"/>
            <a:chOff x="0" y="0"/>
            <a:chExt cx="3385922" cy="274534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85820" cy="2745359"/>
            </a:xfrm>
            <a:custGeom>
              <a:avLst/>
              <a:gdLst/>
              <a:ahLst/>
              <a:cxnLst/>
              <a:rect r="r" b="b" t="t" l="l"/>
              <a:pathLst>
                <a:path h="2745359" w="3385820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166237" y="0"/>
                  </a:lnTo>
                  <a:cubicBezTo>
                    <a:pt x="3287522" y="0"/>
                    <a:pt x="3385820" y="98298"/>
                    <a:pt x="3385820" y="219583"/>
                  </a:cubicBezTo>
                  <a:lnTo>
                    <a:pt x="3385820" y="2525776"/>
                  </a:lnTo>
                  <a:cubicBezTo>
                    <a:pt x="3385820" y="2647061"/>
                    <a:pt x="3287522" y="2745359"/>
                    <a:pt x="3166237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114549" y="4011044"/>
            <a:ext cx="2539441" cy="892235"/>
            <a:chOff x="0" y="0"/>
            <a:chExt cx="3385922" cy="118964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385925" cy="1189649"/>
            </a:xfrm>
            <a:custGeom>
              <a:avLst/>
              <a:gdLst/>
              <a:ahLst/>
              <a:cxnLst/>
              <a:rect r="r" b="b" t="t" l="l"/>
              <a:pathLst>
                <a:path h="1189649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385922" cy="1208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WHERE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14549" y="4903280"/>
            <a:ext cx="2539441" cy="754971"/>
            <a:chOff x="0" y="0"/>
            <a:chExt cx="3385922" cy="100662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85925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338592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rows (optional)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653990" y="3805142"/>
            <a:ext cx="178451" cy="2059010"/>
            <a:chOff x="0" y="0"/>
            <a:chExt cx="237934" cy="274534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37930" cy="2745345"/>
            </a:xfrm>
            <a:custGeom>
              <a:avLst/>
              <a:gdLst/>
              <a:ahLst/>
              <a:cxnLst/>
              <a:rect r="r" b="b" t="t" l="l"/>
              <a:pathLst>
                <a:path h="2745345" w="237930">
                  <a:moveTo>
                    <a:pt x="0" y="0"/>
                  </a:moveTo>
                  <a:lnTo>
                    <a:pt x="237930" y="0"/>
                  </a:lnTo>
                  <a:lnTo>
                    <a:pt x="237930" y="2745345"/>
                  </a:lnTo>
                  <a:lnTo>
                    <a:pt x="0" y="27453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30425" t="0" r="-1430427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237934" cy="2764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5E73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832441" y="3805142"/>
            <a:ext cx="2539441" cy="2059010"/>
            <a:chOff x="0" y="0"/>
            <a:chExt cx="3385922" cy="274534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385820" cy="2745359"/>
            </a:xfrm>
            <a:custGeom>
              <a:avLst/>
              <a:gdLst/>
              <a:ahLst/>
              <a:cxnLst/>
              <a:rect r="r" b="b" t="t" l="l"/>
              <a:pathLst>
                <a:path h="2745359" w="3385820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166237" y="0"/>
                  </a:lnTo>
                  <a:cubicBezTo>
                    <a:pt x="3287522" y="0"/>
                    <a:pt x="3385820" y="98298"/>
                    <a:pt x="3385820" y="219583"/>
                  </a:cubicBezTo>
                  <a:lnTo>
                    <a:pt x="3385820" y="2525776"/>
                  </a:lnTo>
                  <a:cubicBezTo>
                    <a:pt x="3385820" y="2647061"/>
                    <a:pt x="3287522" y="2745359"/>
                    <a:pt x="3166237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832441" y="4011044"/>
            <a:ext cx="2539441" cy="892235"/>
            <a:chOff x="0" y="0"/>
            <a:chExt cx="3385922" cy="118964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385925" cy="1189649"/>
            </a:xfrm>
            <a:custGeom>
              <a:avLst/>
              <a:gdLst/>
              <a:ahLst/>
              <a:cxnLst/>
              <a:rect r="r" b="b" t="t" l="l"/>
              <a:pathLst>
                <a:path h="1189649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3385922" cy="1208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GROUP BY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832441" y="4903280"/>
            <a:ext cx="2539441" cy="754971"/>
            <a:chOff x="0" y="0"/>
            <a:chExt cx="3385922" cy="100662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385925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338592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buckets (optional)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371882" y="3805142"/>
            <a:ext cx="178451" cy="2059010"/>
            <a:chOff x="0" y="0"/>
            <a:chExt cx="237934" cy="274534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7930" cy="2745345"/>
            </a:xfrm>
            <a:custGeom>
              <a:avLst/>
              <a:gdLst/>
              <a:ahLst/>
              <a:cxnLst/>
              <a:rect r="r" b="b" t="t" l="l"/>
              <a:pathLst>
                <a:path h="2745345" w="237930">
                  <a:moveTo>
                    <a:pt x="0" y="0"/>
                  </a:moveTo>
                  <a:lnTo>
                    <a:pt x="237930" y="0"/>
                  </a:lnTo>
                  <a:lnTo>
                    <a:pt x="237930" y="2745345"/>
                  </a:lnTo>
                  <a:lnTo>
                    <a:pt x="0" y="27453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30425" t="0" r="-1430427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237934" cy="2764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5E73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550323" y="3805142"/>
            <a:ext cx="2539441" cy="2059010"/>
            <a:chOff x="0" y="0"/>
            <a:chExt cx="3385922" cy="274534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385820" cy="2745359"/>
            </a:xfrm>
            <a:custGeom>
              <a:avLst/>
              <a:gdLst/>
              <a:ahLst/>
              <a:cxnLst/>
              <a:rect r="r" b="b" t="t" l="l"/>
              <a:pathLst>
                <a:path h="2745359" w="3385820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3166237" y="0"/>
                  </a:lnTo>
                  <a:cubicBezTo>
                    <a:pt x="3287522" y="0"/>
                    <a:pt x="3385820" y="98298"/>
                    <a:pt x="3385820" y="219583"/>
                  </a:cubicBezTo>
                  <a:lnTo>
                    <a:pt x="3385820" y="2525776"/>
                  </a:lnTo>
                  <a:cubicBezTo>
                    <a:pt x="3385820" y="2647061"/>
                    <a:pt x="3287522" y="2745359"/>
                    <a:pt x="3166237" y="2745359"/>
                  </a:cubicBezTo>
                  <a:lnTo>
                    <a:pt x="219583" y="2745359"/>
                  </a:lnTo>
                  <a:cubicBezTo>
                    <a:pt x="98298" y="2745359"/>
                    <a:pt x="0" y="2647061"/>
                    <a:pt x="0" y="2525776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4550323" y="4011044"/>
            <a:ext cx="2539441" cy="892235"/>
            <a:chOff x="0" y="0"/>
            <a:chExt cx="3385922" cy="118964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385925" cy="1189649"/>
            </a:xfrm>
            <a:custGeom>
              <a:avLst/>
              <a:gdLst/>
              <a:ahLst/>
              <a:cxnLst/>
              <a:rect r="r" b="b" t="t" l="l"/>
              <a:pathLst>
                <a:path h="1189649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3385922" cy="1208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ORDER BY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550323" y="4903280"/>
            <a:ext cx="2539441" cy="754971"/>
            <a:chOff x="0" y="0"/>
            <a:chExt cx="3385922" cy="100662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385925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338592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0F6F4"/>
                  </a:solidFill>
                  <a:latin typeface="Poppins"/>
                  <a:ea typeface="Poppins"/>
                  <a:cs typeface="Poppins"/>
                  <a:sym typeface="Poppins"/>
                </a:rPr>
                <a:t>order (optional)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0872" y="6481858"/>
            <a:ext cx="16334804" cy="2813980"/>
            <a:chOff x="0" y="0"/>
            <a:chExt cx="21779738" cy="375197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779739" cy="3751961"/>
            </a:xfrm>
            <a:custGeom>
              <a:avLst/>
              <a:gdLst/>
              <a:ahLst/>
              <a:cxnLst/>
              <a:rect r="r" b="b" t="t" l="l"/>
              <a:pathLst>
                <a:path h="3751961" w="2177973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1615019" y="0"/>
                  </a:lnTo>
                  <a:cubicBezTo>
                    <a:pt x="21705951" y="0"/>
                    <a:pt x="21779739" y="73787"/>
                    <a:pt x="21779739" y="164719"/>
                  </a:cubicBezTo>
                  <a:lnTo>
                    <a:pt x="21779739" y="3587242"/>
                  </a:lnTo>
                  <a:cubicBezTo>
                    <a:pt x="21779739" y="3678174"/>
                    <a:pt x="21705951" y="3751961"/>
                    <a:pt x="21615019" y="3751961"/>
                  </a:cubicBezTo>
                  <a:lnTo>
                    <a:pt x="164719" y="3751961"/>
                  </a:lnTo>
                  <a:cubicBezTo>
                    <a:pt x="73787" y="3751961"/>
                    <a:pt x="0" y="3678174"/>
                    <a:pt x="0" y="3587242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345216" y="6661137"/>
            <a:ext cx="15566107" cy="236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SELECT</a:t>
            </a:r>
            <a:r>
              <a:rPr lang="en-US" sz="18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c.city, COUNT(o.order_id) </a:t>
            </a:r>
            <a:r>
              <a:rPr lang="en-US" sz="18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AS</a:t>
            </a:r>
            <a:r>
              <a:rPr lang="en-US" sz="18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order_count</a:t>
            </a:r>
          </a:p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8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customers c</a:t>
            </a:r>
          </a:p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LEFT JOIN</a:t>
            </a:r>
            <a:r>
              <a:rPr lang="en-US" sz="18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orders o </a:t>
            </a:r>
            <a:r>
              <a:rPr lang="en-US" sz="18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ON</a:t>
            </a:r>
            <a:r>
              <a:rPr lang="en-US" sz="18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c.customer_id = o.customer_id</a:t>
            </a:r>
          </a:p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GROUP BY</a:t>
            </a:r>
            <a:r>
              <a:rPr lang="en-US" sz="18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c.city</a:t>
            </a:r>
          </a:p>
          <a:p>
            <a:pPr algn="l">
              <a:lnSpc>
                <a:spcPts val="3039"/>
              </a:lnSpc>
            </a:pPr>
            <a:r>
              <a:rPr lang="en-US" sz="18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ORDER BY</a:t>
            </a:r>
            <a:r>
              <a:rPr lang="en-US" sz="18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order_count </a:t>
            </a:r>
            <a:r>
              <a:rPr lang="en-US" sz="18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DESC</a:t>
            </a:r>
            <a:r>
              <a:rPr lang="en-US" sz="18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387258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WORKED EXAMPLE · PART 1 OF 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51547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2642" y="1798435"/>
            <a:ext cx="13040392" cy="62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6"/>
              </a:lnSpc>
            </a:pPr>
            <a:r>
              <a:rPr lang="en-US" sz="37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Support's single-screen order view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2721194"/>
            <a:ext cx="16353863" cy="1323108"/>
            <a:chOff x="0" y="0"/>
            <a:chExt cx="21805151" cy="1764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05137" cy="1764157"/>
            </a:xfrm>
            <a:custGeom>
              <a:avLst/>
              <a:gdLst/>
              <a:ahLst/>
              <a:cxnLst/>
              <a:rect r="r" b="b" t="t" l="l"/>
              <a:pathLst>
                <a:path h="1764157" w="21805137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21619463" y="0"/>
                  </a:lnTo>
                  <a:cubicBezTo>
                    <a:pt x="21722079" y="0"/>
                    <a:pt x="21805137" y="83185"/>
                    <a:pt x="21805137" y="185674"/>
                  </a:cubicBezTo>
                  <a:lnTo>
                    <a:pt x="21805137" y="1578483"/>
                  </a:lnTo>
                  <a:cubicBezTo>
                    <a:pt x="21805137" y="1681099"/>
                    <a:pt x="21721953" y="1764157"/>
                    <a:pt x="21619463" y="1764157"/>
                  </a:cubicBezTo>
                  <a:lnTo>
                    <a:pt x="185674" y="1764157"/>
                  </a:lnTo>
                  <a:cubicBezTo>
                    <a:pt x="83185" y="1764157"/>
                    <a:pt x="0" y="1680972"/>
                    <a:pt x="0" y="1578483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2676" y="2867994"/>
            <a:ext cx="15511196" cy="1029500"/>
            <a:chOff x="0" y="0"/>
            <a:chExt cx="20681594" cy="13726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81598" cy="1372672"/>
            </a:xfrm>
            <a:custGeom>
              <a:avLst/>
              <a:gdLst/>
              <a:ahLst/>
              <a:cxnLst/>
              <a:rect r="r" b="b" t="t" l="l"/>
              <a:pathLst>
                <a:path h="1372672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3574" r="0" b="-2435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0681594" cy="1401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Business question: </a:t>
              </a:r>
              <a:r>
                <a:rPr lang="en-US" sz="2176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“Show every order with the customer's name on the same row.”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872" y="4364200"/>
            <a:ext cx="61770" cy="823608"/>
            <a:chOff x="0" y="0"/>
            <a:chExt cx="82360" cy="10981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423" cy="1098169"/>
            </a:xfrm>
            <a:custGeom>
              <a:avLst/>
              <a:gdLst/>
              <a:ahLst/>
              <a:cxnLst/>
              <a:rect r="r" b="b" t="t" l="l"/>
              <a:pathLst>
                <a:path h="1098169" w="82423">
                  <a:moveTo>
                    <a:pt x="0" y="0"/>
                  </a:moveTo>
                  <a:lnTo>
                    <a:pt x="82423" y="0"/>
                  </a:lnTo>
                  <a:lnTo>
                    <a:pt x="82423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4309297"/>
            <a:ext cx="7439882" cy="823608"/>
            <a:chOff x="0" y="0"/>
            <a:chExt cx="9919843" cy="10981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19846" cy="1098138"/>
            </a:xfrm>
            <a:custGeom>
              <a:avLst/>
              <a:gdLst/>
              <a:ahLst/>
              <a:cxnLst/>
              <a:rect r="r" b="b" t="t" l="l"/>
              <a:pathLst>
                <a:path h="1098138" w="9919846">
                  <a:moveTo>
                    <a:pt x="0" y="0"/>
                  </a:moveTo>
                  <a:lnTo>
                    <a:pt x="9919846" y="0"/>
                  </a:lnTo>
                  <a:lnTo>
                    <a:pt x="9919846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6014" r="0" b="-12601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919843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 1 — predict before writing anything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872" y="5201533"/>
            <a:ext cx="7686961" cy="1372676"/>
            <a:chOff x="0" y="0"/>
            <a:chExt cx="10249281" cy="18302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9288" cy="1830230"/>
            </a:xfrm>
            <a:custGeom>
              <a:avLst/>
              <a:gdLst/>
              <a:ahLst/>
              <a:cxnLst/>
              <a:rect r="r" b="b" t="t" l="l"/>
              <a:pathLst>
                <a:path h="1830230" w="10249288">
                  <a:moveTo>
                    <a:pt x="0" y="0"/>
                  </a:moveTo>
                  <a:lnTo>
                    <a:pt x="10249288" y="0"/>
                  </a:lnTo>
                  <a:lnTo>
                    <a:pt x="10249288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10249281" cy="1906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4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Every order needs a customer, and every customer here is real — so an INNER JOIN should return exactly one row per order: 4 rows.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59637" y="4364200"/>
            <a:ext cx="61770" cy="823608"/>
            <a:chOff x="0" y="0"/>
            <a:chExt cx="82360" cy="10981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423" cy="1098169"/>
            </a:xfrm>
            <a:custGeom>
              <a:avLst/>
              <a:gdLst/>
              <a:ahLst/>
              <a:cxnLst/>
              <a:rect r="r" b="b" t="t" l="l"/>
              <a:pathLst>
                <a:path h="1098169" w="82423">
                  <a:moveTo>
                    <a:pt x="0" y="0"/>
                  </a:moveTo>
                  <a:lnTo>
                    <a:pt x="82423" y="0"/>
                  </a:lnTo>
                  <a:lnTo>
                    <a:pt x="82423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306716" y="4309297"/>
            <a:ext cx="7988951" cy="823608"/>
            <a:chOff x="0" y="0"/>
            <a:chExt cx="10651934" cy="10981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519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651938">
                  <a:moveTo>
                    <a:pt x="0" y="0"/>
                  </a:moveTo>
                  <a:lnTo>
                    <a:pt x="10651938" y="0"/>
                  </a:lnTo>
                  <a:lnTo>
                    <a:pt x="106519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9004" r="0" b="-13900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065193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 2 — write the join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59637" y="5201533"/>
            <a:ext cx="8236039" cy="1921745"/>
            <a:chOff x="0" y="0"/>
            <a:chExt cx="10981385" cy="256232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81309" cy="2562352"/>
            </a:xfrm>
            <a:custGeom>
              <a:avLst/>
              <a:gdLst/>
              <a:ahLst/>
              <a:cxnLst/>
              <a:rect r="r" b="b" t="t" l="l"/>
              <a:pathLst>
                <a:path h="2562352" w="1098130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816590" y="0"/>
                  </a:lnTo>
                  <a:cubicBezTo>
                    <a:pt x="10907522" y="0"/>
                    <a:pt x="10981309" y="73787"/>
                    <a:pt x="10981309" y="164719"/>
                  </a:cubicBezTo>
                  <a:lnTo>
                    <a:pt x="10981309" y="2397633"/>
                  </a:lnTo>
                  <a:cubicBezTo>
                    <a:pt x="10981309" y="2488565"/>
                    <a:pt x="10907522" y="2562352"/>
                    <a:pt x="10816590" y="2562352"/>
                  </a:cubicBezTo>
                  <a:lnTo>
                    <a:pt x="164719" y="2562352"/>
                  </a:lnTo>
                  <a:cubicBezTo>
                    <a:pt x="73787" y="2562352"/>
                    <a:pt x="0" y="2488565"/>
                    <a:pt x="0" y="2397633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443990" y="5409387"/>
            <a:ext cx="7467333" cy="143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SELECT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o.order_id, c.full_name, o.status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orders o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INNER JOIN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customers c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ON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o.customer_id = c.customer_id;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60872" y="7260543"/>
            <a:ext cx="16334804" cy="1509941"/>
            <a:chOff x="0" y="0"/>
            <a:chExt cx="21779738" cy="201325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779739" cy="2013204"/>
            </a:xfrm>
            <a:custGeom>
              <a:avLst/>
              <a:gdLst/>
              <a:ahLst/>
              <a:cxnLst/>
              <a:rect r="r" b="b" t="t" l="l"/>
              <a:pathLst>
                <a:path h="2013204" w="21779739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1596731" y="0"/>
                  </a:lnTo>
                  <a:cubicBezTo>
                    <a:pt x="21697823" y="0"/>
                    <a:pt x="21779739" y="81915"/>
                    <a:pt x="21779739" y="183007"/>
                  </a:cubicBezTo>
                  <a:lnTo>
                    <a:pt x="21779739" y="1830197"/>
                  </a:lnTo>
                  <a:cubicBezTo>
                    <a:pt x="21779739" y="1931289"/>
                    <a:pt x="21697823" y="2013204"/>
                    <a:pt x="21596731" y="2013204"/>
                  </a:cubicBezTo>
                  <a:lnTo>
                    <a:pt x="183007" y="2013204"/>
                  </a:lnTo>
                  <a:cubicBezTo>
                    <a:pt x="81915" y="2013204"/>
                    <a:pt x="0" y="1931289"/>
                    <a:pt x="0" y="1830197"/>
                  </a:cubicBez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72676" y="7260543"/>
            <a:ext cx="15511196" cy="1509941"/>
            <a:chOff x="0" y="0"/>
            <a:chExt cx="20681594" cy="201325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681598" cy="2013253"/>
            </a:xfrm>
            <a:custGeom>
              <a:avLst/>
              <a:gdLst/>
              <a:ahLst/>
              <a:cxnLst/>
              <a:rect r="r" b="b" t="t" l="l"/>
              <a:pathLst>
                <a:path h="2013253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0164" r="0" b="-15016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20681594" cy="2079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76" i="true">
                  <a:solidFill>
                    <a:srgbClr val="1B40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Notice: we started FROM orders this time, not customers — order doesn't matter for an INNER JOIN's result, only which columns you can reach through each alias.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1338" y="8898214"/>
            <a:ext cx="16353863" cy="774030"/>
            <a:chOff x="0" y="0"/>
            <a:chExt cx="21805151" cy="1032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805266" cy="1032129"/>
            </a:xfrm>
            <a:custGeom>
              <a:avLst/>
              <a:gdLst/>
              <a:ahLst/>
              <a:cxnLst/>
              <a:rect r="r" b="b" t="t" l="l"/>
              <a:pathLst>
                <a:path h="1032129" w="21805266">
                  <a:moveTo>
                    <a:pt x="0" y="187706"/>
                  </a:moveTo>
                  <a:cubicBezTo>
                    <a:pt x="0" y="84074"/>
                    <a:pt x="84074" y="0"/>
                    <a:pt x="187706" y="0"/>
                  </a:cubicBezTo>
                  <a:lnTo>
                    <a:pt x="21617560" y="0"/>
                  </a:lnTo>
                  <a:cubicBezTo>
                    <a:pt x="21721192" y="0"/>
                    <a:pt x="21805266" y="84074"/>
                    <a:pt x="21805266" y="187706"/>
                  </a:cubicBezTo>
                  <a:lnTo>
                    <a:pt x="21805266" y="844423"/>
                  </a:lnTo>
                  <a:cubicBezTo>
                    <a:pt x="21805266" y="948055"/>
                    <a:pt x="21721192" y="1032129"/>
                    <a:pt x="21617560" y="1032129"/>
                  </a:cubicBezTo>
                  <a:lnTo>
                    <a:pt x="187706" y="1032129"/>
                  </a:lnTo>
                  <a:cubicBezTo>
                    <a:pt x="84074" y="1032002"/>
                    <a:pt x="0" y="948055"/>
                    <a:pt x="0" y="844423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72676" y="8907748"/>
            <a:ext cx="15511196" cy="754971"/>
            <a:chOff x="0" y="0"/>
            <a:chExt cx="20681594" cy="100662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681598" cy="1006626"/>
            </a:xfrm>
            <a:custGeom>
              <a:avLst/>
              <a:gdLst/>
              <a:ahLst/>
              <a:cxnLst/>
              <a:rect r="r" b="b" t="t" l="l"/>
              <a:pathLst>
                <a:path h="1006626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50328" r="0" b="-35032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0681594" cy="101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i="true">
                  <a:solidFill>
                    <a:srgbClr val="1B40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Next: run it, confirm the row count, and hand support the same view sorted for their queue → continued on the next slide.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>
            <a:off x="816457" y="9820307"/>
            <a:ext cx="16668934" cy="14255"/>
          </a:xfrm>
          <a:prstGeom prst="line">
            <a:avLst/>
          </a:prstGeom>
          <a:ln cap="rnd" w="9525">
            <a:solidFill>
              <a:srgbClr val="D8E5E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549257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WORKED EXAMP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 · PART 2 OF 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724247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8972" y="1750032"/>
            <a:ext cx="13040392" cy="65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9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Checking the count, then finishing the view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2596591"/>
            <a:ext cx="7892863" cy="2676716"/>
            <a:chOff x="0" y="0"/>
            <a:chExt cx="10523817" cy="35689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23855" cy="3568954"/>
            </a:xfrm>
            <a:custGeom>
              <a:avLst/>
              <a:gdLst/>
              <a:ahLst/>
              <a:cxnLst/>
              <a:rect r="r" b="b" t="t" l="l"/>
              <a:pathLst>
                <a:path h="3568954" w="10523855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359136" y="0"/>
                  </a:lnTo>
                  <a:cubicBezTo>
                    <a:pt x="10450068" y="0"/>
                    <a:pt x="10523855" y="73787"/>
                    <a:pt x="10523855" y="164719"/>
                  </a:cubicBezTo>
                  <a:lnTo>
                    <a:pt x="10523855" y="3404235"/>
                  </a:lnTo>
                  <a:cubicBezTo>
                    <a:pt x="10523855" y="3495167"/>
                    <a:pt x="10450068" y="3568954"/>
                    <a:pt x="10359136" y="3568954"/>
                  </a:cubicBezTo>
                  <a:lnTo>
                    <a:pt x="164719" y="3568954"/>
                  </a:lnTo>
                  <a:cubicBezTo>
                    <a:pt x="73787" y="3568954"/>
                    <a:pt x="0" y="3495167"/>
                    <a:pt x="0" y="3404235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45216" y="2804455"/>
            <a:ext cx="7124167" cy="219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SELECT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o.order_id, c.full_name, o.status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orders o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INNER JOIN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customers c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ON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o.customer_id = c.customer_id</a:t>
            </a:r>
          </a:p>
          <a:p>
            <a:pPr algn="l">
              <a:lnSpc>
                <a:spcPts val="2796"/>
              </a:lnSpc>
            </a:pPr>
            <a:r>
              <a:rPr lang="en-US" sz="17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ORDER BY</a:t>
            </a:r>
            <a:r>
              <a:rPr lang="en-US" sz="17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c.full_name;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1338" y="5538311"/>
            <a:ext cx="7911932" cy="1872177"/>
            <a:chOff x="0" y="0"/>
            <a:chExt cx="10549242" cy="24962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49255" cy="2496185"/>
            </a:xfrm>
            <a:custGeom>
              <a:avLst/>
              <a:gdLst/>
              <a:ahLst/>
              <a:cxnLst/>
              <a:rect r="r" b="b" t="t" l="l"/>
              <a:pathLst>
                <a:path h="2496185" w="10549255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10364343" y="0"/>
                  </a:lnTo>
                  <a:cubicBezTo>
                    <a:pt x="10466451" y="0"/>
                    <a:pt x="10549255" y="82804"/>
                    <a:pt x="10549255" y="184912"/>
                  </a:cubicBezTo>
                  <a:lnTo>
                    <a:pt x="10549255" y="2311273"/>
                  </a:lnTo>
                  <a:cubicBezTo>
                    <a:pt x="10549255" y="2413381"/>
                    <a:pt x="10466451" y="2496185"/>
                    <a:pt x="10364343" y="2496185"/>
                  </a:cubicBezTo>
                  <a:lnTo>
                    <a:pt x="184912" y="2496185"/>
                  </a:lnTo>
                  <a:cubicBezTo>
                    <a:pt x="82804" y="2496185"/>
                    <a:pt x="0" y="2413508"/>
                    <a:pt x="0" y="2311273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72676" y="5726287"/>
            <a:ext cx="7069264" cy="1509941"/>
            <a:chOff x="0" y="0"/>
            <a:chExt cx="9425686" cy="20132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25684" cy="2013253"/>
            </a:xfrm>
            <a:custGeom>
              <a:avLst/>
              <a:gdLst/>
              <a:ahLst/>
              <a:cxnLst/>
              <a:rect r="r" b="b" t="t" l="l"/>
              <a:pathLst>
                <a:path h="2013253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1225" r="0" b="-412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425686" cy="2079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Verify: </a:t>
              </a: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4 rows came back — matches the prediction from step 1. Safe to hand to support.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93269" y="2587066"/>
            <a:ext cx="7911932" cy="2764412"/>
            <a:chOff x="0" y="0"/>
            <a:chExt cx="10549242" cy="36858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49255" cy="3685921"/>
            </a:xfrm>
            <a:custGeom>
              <a:avLst/>
              <a:gdLst/>
              <a:ahLst/>
              <a:cxnLst/>
              <a:rect r="r" b="b" t="t" l="l"/>
              <a:pathLst>
                <a:path h="3685921" w="10549255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10438638" y="0"/>
                  </a:lnTo>
                  <a:cubicBezTo>
                    <a:pt x="10499725" y="0"/>
                    <a:pt x="10549255" y="49530"/>
                    <a:pt x="10549255" y="110617"/>
                  </a:cubicBezTo>
                  <a:lnTo>
                    <a:pt x="10549255" y="3575304"/>
                  </a:lnTo>
                  <a:cubicBezTo>
                    <a:pt x="10549255" y="3636391"/>
                    <a:pt x="10499725" y="3685921"/>
                    <a:pt x="10438638" y="3685921"/>
                  </a:cubicBezTo>
                  <a:lnTo>
                    <a:pt x="110617" y="3685921"/>
                  </a:lnTo>
                  <a:cubicBezTo>
                    <a:pt x="49530" y="3685921"/>
                    <a:pt x="0" y="3636391"/>
                    <a:pt x="0" y="357530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402804" y="2596591"/>
            <a:ext cx="7892863" cy="549069"/>
            <a:chOff x="0" y="0"/>
            <a:chExt cx="10523817" cy="7320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23855" cy="732155"/>
            </a:xfrm>
            <a:custGeom>
              <a:avLst/>
              <a:gdLst/>
              <a:ahLst/>
              <a:cxnLst/>
              <a:rect r="r" b="b" t="t" l="l"/>
              <a:pathLst>
                <a:path h="732155" w="10523855">
                  <a:moveTo>
                    <a:pt x="0" y="0"/>
                  </a:moveTo>
                  <a:lnTo>
                    <a:pt x="10523855" y="0"/>
                  </a:lnTo>
                  <a:lnTo>
                    <a:pt x="10523855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67529" y="2596591"/>
            <a:ext cx="2356418" cy="549069"/>
            <a:chOff x="0" y="0"/>
            <a:chExt cx="3141891" cy="7320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41895" cy="732092"/>
            </a:xfrm>
            <a:custGeom>
              <a:avLst/>
              <a:gdLst/>
              <a:ahLst/>
              <a:cxnLst/>
              <a:rect r="r" b="b" t="t" l="l"/>
              <a:pathLst>
                <a:path h="732092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623" r="0" b="-3362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314189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order_id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198487" y="2596591"/>
            <a:ext cx="2356418" cy="549069"/>
            <a:chOff x="0" y="0"/>
            <a:chExt cx="3141891" cy="7320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41895" cy="732092"/>
            </a:xfrm>
            <a:custGeom>
              <a:avLst/>
              <a:gdLst/>
              <a:ahLst/>
              <a:cxnLst/>
              <a:rect r="r" b="b" t="t" l="l"/>
              <a:pathLst>
                <a:path h="732092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623" r="0" b="-3362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14189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full_name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829434" y="2596591"/>
            <a:ext cx="2356418" cy="549069"/>
            <a:chOff x="0" y="0"/>
            <a:chExt cx="3141891" cy="7320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41895" cy="732092"/>
            </a:xfrm>
            <a:custGeom>
              <a:avLst/>
              <a:gdLst/>
              <a:ahLst/>
              <a:cxnLst/>
              <a:rect r="r" b="b" t="t" l="l"/>
              <a:pathLst>
                <a:path h="732092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623" r="0" b="-3362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314189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status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67529" y="3145660"/>
            <a:ext cx="2356418" cy="549069"/>
            <a:chOff x="0" y="0"/>
            <a:chExt cx="3141891" cy="7320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41895" cy="732092"/>
            </a:xfrm>
            <a:custGeom>
              <a:avLst/>
              <a:gdLst/>
              <a:ahLst/>
              <a:cxnLst/>
              <a:rect r="r" b="b" t="t" l="l"/>
              <a:pathLst>
                <a:path h="732092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623" r="0" b="-3362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14189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198487" y="3145660"/>
            <a:ext cx="2356418" cy="549069"/>
            <a:chOff x="0" y="0"/>
            <a:chExt cx="3141891" cy="7320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41895" cy="732092"/>
            </a:xfrm>
            <a:custGeom>
              <a:avLst/>
              <a:gdLst/>
              <a:ahLst/>
              <a:cxnLst/>
              <a:rect r="r" b="b" t="t" l="l"/>
              <a:pathLst>
                <a:path h="732092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623" r="0" b="-3362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14189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Aisha Mohammed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829434" y="3145660"/>
            <a:ext cx="2356418" cy="549069"/>
            <a:chOff x="0" y="0"/>
            <a:chExt cx="3141891" cy="7320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141895" cy="732092"/>
            </a:xfrm>
            <a:custGeom>
              <a:avLst/>
              <a:gdLst/>
              <a:ahLst/>
              <a:cxnLst/>
              <a:rect r="r" b="b" t="t" l="l"/>
              <a:pathLst>
                <a:path h="732092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623" r="0" b="-3362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14189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Delivered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02804" y="3694728"/>
            <a:ext cx="7892863" cy="549069"/>
            <a:chOff x="0" y="0"/>
            <a:chExt cx="10523817" cy="7320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523855" cy="732155"/>
            </a:xfrm>
            <a:custGeom>
              <a:avLst/>
              <a:gdLst/>
              <a:ahLst/>
              <a:cxnLst/>
              <a:rect r="r" b="b" t="t" l="l"/>
              <a:pathLst>
                <a:path h="732155" w="10523855">
                  <a:moveTo>
                    <a:pt x="0" y="0"/>
                  </a:moveTo>
                  <a:lnTo>
                    <a:pt x="10523855" y="0"/>
                  </a:lnTo>
                  <a:lnTo>
                    <a:pt x="10523855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567529" y="3694728"/>
            <a:ext cx="2356418" cy="549069"/>
            <a:chOff x="0" y="0"/>
            <a:chExt cx="3141891" cy="7320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141895" cy="732092"/>
            </a:xfrm>
            <a:custGeom>
              <a:avLst/>
              <a:gdLst/>
              <a:ahLst/>
              <a:cxnLst/>
              <a:rect r="r" b="b" t="t" l="l"/>
              <a:pathLst>
                <a:path h="732092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623" r="0" b="-3362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314189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5001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198487" y="3694728"/>
            <a:ext cx="2356418" cy="549069"/>
            <a:chOff x="0" y="0"/>
            <a:chExt cx="3141891" cy="7320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141895" cy="732092"/>
            </a:xfrm>
            <a:custGeom>
              <a:avLst/>
              <a:gdLst/>
              <a:ahLst/>
              <a:cxnLst/>
              <a:rect r="r" b="b" t="t" l="l"/>
              <a:pathLst>
                <a:path h="732092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623" r="0" b="-3362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314189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Chidinma Okafor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829434" y="3694728"/>
            <a:ext cx="2356418" cy="549069"/>
            <a:chOff x="0" y="0"/>
            <a:chExt cx="3141891" cy="7320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41895" cy="732092"/>
            </a:xfrm>
            <a:custGeom>
              <a:avLst/>
              <a:gdLst/>
              <a:ahLst/>
              <a:cxnLst/>
              <a:rect r="r" b="b" t="t" l="l"/>
              <a:pathLst>
                <a:path h="732092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623" r="0" b="-3362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314189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Delivered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567529" y="4243797"/>
            <a:ext cx="2356418" cy="549069"/>
            <a:chOff x="0" y="0"/>
            <a:chExt cx="3141891" cy="7320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141895" cy="732092"/>
            </a:xfrm>
            <a:custGeom>
              <a:avLst/>
              <a:gdLst/>
              <a:ahLst/>
              <a:cxnLst/>
              <a:rect r="r" b="b" t="t" l="l"/>
              <a:pathLst>
                <a:path h="732092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623" r="0" b="-3362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314189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198487" y="4243797"/>
            <a:ext cx="2356418" cy="549069"/>
            <a:chOff x="0" y="0"/>
            <a:chExt cx="3141891" cy="7320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141895" cy="732092"/>
            </a:xfrm>
            <a:custGeom>
              <a:avLst/>
              <a:gdLst/>
              <a:ahLst/>
              <a:cxnLst/>
              <a:rect r="r" b="b" t="t" l="l"/>
              <a:pathLst>
                <a:path h="732092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623" r="0" b="-3362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314189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Chidinma Okafor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829434" y="4243797"/>
            <a:ext cx="2356418" cy="549069"/>
            <a:chOff x="0" y="0"/>
            <a:chExt cx="3141891" cy="7320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141895" cy="732092"/>
            </a:xfrm>
            <a:custGeom>
              <a:avLst/>
              <a:gdLst/>
              <a:ahLst/>
              <a:cxnLst/>
              <a:rect r="r" b="b" t="t" l="l"/>
              <a:pathLst>
                <a:path h="732092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623" r="0" b="-3362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314189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Delivered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402804" y="4792866"/>
            <a:ext cx="7892863" cy="549069"/>
            <a:chOff x="0" y="0"/>
            <a:chExt cx="10523817" cy="7320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523855" cy="732155"/>
            </a:xfrm>
            <a:custGeom>
              <a:avLst/>
              <a:gdLst/>
              <a:ahLst/>
              <a:cxnLst/>
              <a:rect r="r" b="b" t="t" l="l"/>
              <a:pathLst>
                <a:path h="732155" w="10523855">
                  <a:moveTo>
                    <a:pt x="0" y="0"/>
                  </a:moveTo>
                  <a:lnTo>
                    <a:pt x="10523855" y="0"/>
                  </a:lnTo>
                  <a:lnTo>
                    <a:pt x="10523855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567529" y="4792866"/>
            <a:ext cx="2356418" cy="549069"/>
            <a:chOff x="0" y="0"/>
            <a:chExt cx="3141891" cy="7320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41895" cy="732092"/>
            </a:xfrm>
            <a:custGeom>
              <a:avLst/>
              <a:gdLst/>
              <a:ahLst/>
              <a:cxnLst/>
              <a:rect r="r" b="b" t="t" l="l"/>
              <a:pathLst>
                <a:path h="732092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623" r="0" b="-3362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314189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5004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198487" y="4792866"/>
            <a:ext cx="2356418" cy="549069"/>
            <a:chOff x="0" y="0"/>
            <a:chExt cx="3141891" cy="7320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141895" cy="732092"/>
            </a:xfrm>
            <a:custGeom>
              <a:avLst/>
              <a:gdLst/>
              <a:ahLst/>
              <a:cxnLst/>
              <a:rect r="r" b="b" t="t" l="l"/>
              <a:pathLst>
                <a:path h="732092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623" r="0" b="-3362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314189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Emeka Nwosu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829434" y="4792866"/>
            <a:ext cx="2356418" cy="549069"/>
            <a:chOff x="0" y="0"/>
            <a:chExt cx="3141891" cy="7320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141895" cy="732092"/>
            </a:xfrm>
            <a:custGeom>
              <a:avLst/>
              <a:gdLst/>
              <a:ahLst/>
              <a:cxnLst/>
              <a:rect r="r" b="b" t="t" l="l"/>
              <a:pathLst>
                <a:path h="732092" w="3141895">
                  <a:moveTo>
                    <a:pt x="0" y="0"/>
                  </a:moveTo>
                  <a:lnTo>
                    <a:pt x="3141895" y="0"/>
                  </a:lnTo>
                  <a:lnTo>
                    <a:pt x="314189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623" r="0" b="-3362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314189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Cancelled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402804" y="5479209"/>
            <a:ext cx="7892863" cy="4323921"/>
            <a:chOff x="0" y="0"/>
            <a:chExt cx="10523817" cy="576522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523855" cy="5765292"/>
            </a:xfrm>
            <a:custGeom>
              <a:avLst/>
              <a:gdLst/>
              <a:ahLst/>
              <a:cxnLst/>
              <a:rect r="r" b="b" t="t" l="l"/>
              <a:pathLst>
                <a:path h="5765292" w="10523855">
                  <a:moveTo>
                    <a:pt x="0" y="219710"/>
                  </a:moveTo>
                  <a:cubicBezTo>
                    <a:pt x="0" y="98298"/>
                    <a:pt x="98298" y="0"/>
                    <a:pt x="219710" y="0"/>
                  </a:cubicBezTo>
                  <a:lnTo>
                    <a:pt x="10304145" y="0"/>
                  </a:lnTo>
                  <a:cubicBezTo>
                    <a:pt x="10425430" y="0"/>
                    <a:pt x="10523855" y="98298"/>
                    <a:pt x="10523855" y="219710"/>
                  </a:cubicBezTo>
                  <a:lnTo>
                    <a:pt x="10523855" y="5545582"/>
                  </a:lnTo>
                  <a:cubicBezTo>
                    <a:pt x="10523855" y="5666867"/>
                    <a:pt x="10425557" y="5765292"/>
                    <a:pt x="10304145" y="5765292"/>
                  </a:cubicBezTo>
                  <a:lnTo>
                    <a:pt x="219710" y="5765292"/>
                  </a:lnTo>
                  <a:cubicBezTo>
                    <a:pt x="98425" y="5765292"/>
                    <a:pt x="0" y="5666994"/>
                    <a:pt x="0" y="5545582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814608" y="5685111"/>
            <a:ext cx="7069264" cy="480431"/>
            <a:chOff x="0" y="0"/>
            <a:chExt cx="9425686" cy="64057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9425686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C694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If the count hadn't matched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9814608" y="6186554"/>
            <a:ext cx="7069264" cy="347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More than 4 rows? A customer_id likely appears more than once in customers — check for a duplicated key.</a:t>
            </a:r>
          </a:p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Fewer than 4? An order's customer_id may not exist in customers at all — that's a data problem worth flagging, not a query bug.</a:t>
            </a:r>
          </a:p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This is exactly what row-count prediction is for: catching a real data issue before it reaches support.</a:t>
            </a:r>
          </a:p>
        </p:txBody>
      </p:sp>
      <p:sp>
        <p:nvSpPr>
          <p:cNvPr name="AutoShape 79" id="79"/>
          <p:cNvSpPr/>
          <p:nvPr/>
        </p:nvSpPr>
        <p:spPr>
          <a:xfrm>
            <a:off x="816457" y="9686179"/>
            <a:ext cx="16668934" cy="14255"/>
          </a:xfrm>
          <a:prstGeom prst="line">
            <a:avLst/>
          </a:prstGeom>
          <a:ln cap="rnd" w="9525">
            <a:solidFill>
              <a:srgbClr val="D8E5E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39241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GUID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ED PRACTICE · YOUR TURN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46785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807798"/>
            <a:ext cx="13040392" cy="72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44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Marketing's first-purchase list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2915451"/>
            <a:ext cx="16353863" cy="1597638"/>
            <a:chOff x="0" y="0"/>
            <a:chExt cx="21805151" cy="2130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05264" cy="2130298"/>
            </a:xfrm>
            <a:custGeom>
              <a:avLst/>
              <a:gdLst/>
              <a:ahLst/>
              <a:cxnLst/>
              <a:rect r="r" b="b" t="t" l="l"/>
              <a:pathLst>
                <a:path h="2130298" w="21805264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21619972" y="0"/>
                  </a:lnTo>
                  <a:cubicBezTo>
                    <a:pt x="21722335" y="0"/>
                    <a:pt x="21805264" y="82931"/>
                    <a:pt x="21805264" y="185293"/>
                  </a:cubicBezTo>
                  <a:lnTo>
                    <a:pt x="21805264" y="1945005"/>
                  </a:lnTo>
                  <a:cubicBezTo>
                    <a:pt x="21805264" y="2047367"/>
                    <a:pt x="21722335" y="2130298"/>
                    <a:pt x="21619972" y="2130298"/>
                  </a:cubicBezTo>
                  <a:lnTo>
                    <a:pt x="185293" y="2130298"/>
                  </a:lnTo>
                  <a:cubicBezTo>
                    <a:pt x="82931" y="2130171"/>
                    <a:pt x="0" y="2047240"/>
                    <a:pt x="0" y="1945005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2676" y="3062251"/>
            <a:ext cx="15511196" cy="1304039"/>
            <a:chOff x="0" y="0"/>
            <a:chExt cx="20681594" cy="17387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81598" cy="1738718"/>
            </a:xfrm>
            <a:custGeom>
              <a:avLst/>
              <a:gdLst/>
              <a:ahLst/>
              <a:cxnLst/>
              <a:rect r="r" b="b" t="t" l="l"/>
              <a:pathLst>
                <a:path h="1738718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1769" r="0" b="-1817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0681594" cy="18053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0"/>
                </a:lnSpc>
              </a:pPr>
              <a:r>
                <a:rPr lang="en-US" sz="19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Business question: </a:t>
              </a:r>
              <a:r>
                <a:rPr lang="en-US" sz="1951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Marketing wants two lists: (1) registered customers who have never placed an order, and (2) using a subquery instead, customers who have never had a Delivered order. Do both give the same names here?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1338" y="4768549"/>
            <a:ext cx="7911932" cy="4548883"/>
            <a:chOff x="0" y="0"/>
            <a:chExt cx="10549242" cy="606517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49128" cy="6065139"/>
            </a:xfrm>
            <a:custGeom>
              <a:avLst/>
              <a:gdLst/>
              <a:ahLst/>
              <a:cxnLst/>
              <a:rect r="r" b="b" t="t" l="l"/>
              <a:pathLst>
                <a:path h="6065139" w="10549128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328656" y="0"/>
                  </a:lnTo>
                  <a:cubicBezTo>
                    <a:pt x="10450450" y="0"/>
                    <a:pt x="10549128" y="98679"/>
                    <a:pt x="10549128" y="220472"/>
                  </a:cubicBezTo>
                  <a:lnTo>
                    <a:pt x="10549128" y="5844667"/>
                  </a:lnTo>
                  <a:cubicBezTo>
                    <a:pt x="10549128" y="5966460"/>
                    <a:pt x="10450450" y="6065139"/>
                    <a:pt x="10328656" y="6065139"/>
                  </a:cubicBezTo>
                  <a:lnTo>
                    <a:pt x="220472" y="6065139"/>
                  </a:lnTo>
                  <a:cubicBezTo>
                    <a:pt x="98679" y="6065139"/>
                    <a:pt x="0" y="5966460"/>
                    <a:pt x="0" y="584466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72676" y="5052623"/>
            <a:ext cx="7069264" cy="480431"/>
            <a:chOff x="0" y="0"/>
            <a:chExt cx="9425686" cy="6405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425686" cy="66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Your task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72676" y="5613169"/>
            <a:ext cx="7069264" cy="348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Query 1: LEFT JOIN customers to orders, keep only rows where the order side is NULL.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Query 2: SELECT customers whose customer_id is NOT IN the list of customer_ids with a Delivered order.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Predict each row count before running it.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Compare the two customer lists — are they identical?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02804" y="4778084"/>
            <a:ext cx="7892863" cy="4529823"/>
            <a:chOff x="0" y="0"/>
            <a:chExt cx="10523817" cy="60397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23855" cy="6039739"/>
            </a:xfrm>
            <a:custGeom>
              <a:avLst/>
              <a:gdLst/>
              <a:ahLst/>
              <a:cxnLst/>
              <a:rect r="r" b="b" t="t" l="l"/>
              <a:pathLst>
                <a:path h="6039739" w="10523855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304272" y="0"/>
                  </a:lnTo>
                  <a:cubicBezTo>
                    <a:pt x="10425557" y="0"/>
                    <a:pt x="10523855" y="98298"/>
                    <a:pt x="10523855" y="219583"/>
                  </a:cubicBezTo>
                  <a:lnTo>
                    <a:pt x="10523855" y="5820156"/>
                  </a:lnTo>
                  <a:cubicBezTo>
                    <a:pt x="10523855" y="5941441"/>
                    <a:pt x="10425557" y="6039739"/>
                    <a:pt x="10304272" y="6039739"/>
                  </a:cubicBezTo>
                  <a:lnTo>
                    <a:pt x="219583" y="6039739"/>
                  </a:lnTo>
                  <a:cubicBezTo>
                    <a:pt x="98298" y="6039739"/>
                    <a:pt x="0" y="5941441"/>
                    <a:pt x="0" y="5820156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814608" y="5052623"/>
            <a:ext cx="7069264" cy="480431"/>
            <a:chOff x="0" y="0"/>
            <a:chExt cx="9425686" cy="6405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425686" cy="66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C694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Before you run it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814608" y="5613169"/>
            <a:ext cx="7069264" cy="348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Remember: Emeka's only order was Cancelled, not Delivered.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Write down which list you expect to be longer, and why, before running either query.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NOT IN needs the subquery's list to have no NULLs in it — keep that in mind if your result looks wrong.</a:t>
            </a:r>
          </a:p>
          <a:p>
            <a:pPr algn="l" marL="326264" indent="-163132" lvl="1">
              <a:lnSpc>
                <a:spcPts val="2550"/>
              </a:lnSpc>
              <a:buFont typeface="Arial"/>
              <a:buChar char="•"/>
            </a:pPr>
            <a:r>
              <a:rPr lang="en-US" sz="1801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Stuck on an error? Ask AI to explain it — not to rewrite the query.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8953615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GUID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ED PRACTICE · SOLUTION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597528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1757" y="1852293"/>
            <a:ext cx="12419344" cy="1233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289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Two correct queries, two different lists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2993855"/>
            <a:ext cx="61770" cy="411804"/>
            <a:chOff x="0" y="0"/>
            <a:chExt cx="82360" cy="549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423" cy="549021"/>
            </a:xfrm>
            <a:custGeom>
              <a:avLst/>
              <a:gdLst/>
              <a:ahLst/>
              <a:cxnLst/>
              <a:rect r="r" b="b" t="t" l="l"/>
              <a:pathLst>
                <a:path h="549021" w="82423">
                  <a:moveTo>
                    <a:pt x="0" y="0"/>
                  </a:moveTo>
                  <a:lnTo>
                    <a:pt x="82423" y="0"/>
                  </a:lnTo>
                  <a:lnTo>
                    <a:pt x="82423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07951" y="2938944"/>
            <a:ext cx="7439882" cy="411804"/>
            <a:chOff x="0" y="0"/>
            <a:chExt cx="9919843" cy="549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19846" cy="549069"/>
            </a:xfrm>
            <a:custGeom>
              <a:avLst/>
              <a:gdLst/>
              <a:ahLst/>
              <a:cxnLst/>
              <a:rect r="r" b="b" t="t" l="l"/>
              <a:pathLst>
                <a:path h="549069" w="9919846">
                  <a:moveTo>
                    <a:pt x="0" y="0"/>
                  </a:moveTo>
                  <a:lnTo>
                    <a:pt x="9919846" y="0"/>
                  </a:lnTo>
                  <a:lnTo>
                    <a:pt x="991984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2029" r="0" b="-3020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919843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Query 1 — never ordered at all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872" y="3419385"/>
            <a:ext cx="7686961" cy="2127647"/>
            <a:chOff x="0" y="0"/>
            <a:chExt cx="10249281" cy="28368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9281" cy="2836926"/>
            </a:xfrm>
            <a:custGeom>
              <a:avLst/>
              <a:gdLst/>
              <a:ahLst/>
              <a:cxnLst/>
              <a:rect r="r" b="b" t="t" l="l"/>
              <a:pathLst>
                <a:path h="2836926" w="10249281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084562" y="0"/>
                  </a:lnTo>
                  <a:cubicBezTo>
                    <a:pt x="10175494" y="0"/>
                    <a:pt x="10249281" y="73787"/>
                    <a:pt x="10249281" y="164719"/>
                  </a:cubicBezTo>
                  <a:lnTo>
                    <a:pt x="10249281" y="2672207"/>
                  </a:lnTo>
                  <a:cubicBezTo>
                    <a:pt x="10249281" y="2763139"/>
                    <a:pt x="10175494" y="2836926"/>
                    <a:pt x="10084562" y="2836926"/>
                  </a:cubicBezTo>
                  <a:lnTo>
                    <a:pt x="164719" y="2836926"/>
                  </a:lnTo>
                  <a:cubicBezTo>
                    <a:pt x="73787" y="2836799"/>
                    <a:pt x="0" y="2763139"/>
                    <a:pt x="0" y="2672207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45216" y="3617714"/>
            <a:ext cx="6918265" cy="1654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SELECT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c.full_name</a:t>
            </a:r>
          </a:p>
          <a:p>
            <a:pPr algn="l">
              <a:lnSpc>
                <a:spcPts val="2553"/>
              </a:lnSpc>
            </a:pP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customers c</a:t>
            </a:r>
          </a:p>
          <a:p>
            <a:pPr algn="l">
              <a:lnSpc>
                <a:spcPts val="2553"/>
              </a:lnSpc>
            </a:pP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LEFT JOIN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orders o </a:t>
            </a: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ON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c.customer_id = o.customer_id</a:t>
            </a:r>
          </a:p>
          <a:p>
            <a:pPr algn="l">
              <a:lnSpc>
                <a:spcPts val="2553"/>
              </a:lnSpc>
            </a:pP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WHERE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o.order_id </a:t>
            </a: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IS NULL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1338" y="5674762"/>
            <a:ext cx="7706030" cy="1501550"/>
            <a:chOff x="0" y="0"/>
            <a:chExt cx="10274706" cy="20020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74681" cy="2002028"/>
            </a:xfrm>
            <a:custGeom>
              <a:avLst/>
              <a:gdLst/>
              <a:ahLst/>
              <a:cxnLst/>
              <a:rect r="r" b="b" t="t" l="l"/>
              <a:pathLst>
                <a:path h="2002028" w="10274681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0163429" y="0"/>
                  </a:lnTo>
                  <a:cubicBezTo>
                    <a:pt x="10224898" y="0"/>
                    <a:pt x="10274681" y="49784"/>
                    <a:pt x="10274681" y="111252"/>
                  </a:cubicBezTo>
                  <a:lnTo>
                    <a:pt x="10274681" y="1890776"/>
                  </a:lnTo>
                  <a:cubicBezTo>
                    <a:pt x="10274681" y="1952244"/>
                    <a:pt x="10224898" y="2002028"/>
                    <a:pt x="10163429" y="2002028"/>
                  </a:cubicBezTo>
                  <a:lnTo>
                    <a:pt x="111252" y="2002028"/>
                  </a:lnTo>
                  <a:cubicBezTo>
                    <a:pt x="49784" y="2002028"/>
                    <a:pt x="0" y="1952244"/>
                    <a:pt x="0" y="189077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0872" y="5684287"/>
            <a:ext cx="7686961" cy="494167"/>
            <a:chOff x="0" y="0"/>
            <a:chExt cx="10249281" cy="6588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9281" cy="658876"/>
            </a:xfrm>
            <a:custGeom>
              <a:avLst/>
              <a:gdLst/>
              <a:ahLst/>
              <a:cxnLst/>
              <a:rect r="r" b="b" t="t" l="l"/>
              <a:pathLst>
                <a:path h="658876" w="10249281">
                  <a:moveTo>
                    <a:pt x="0" y="0"/>
                  </a:moveTo>
                  <a:lnTo>
                    <a:pt x="10249281" y="0"/>
                  </a:lnTo>
                  <a:lnTo>
                    <a:pt x="10249281" y="658876"/>
                  </a:lnTo>
                  <a:lnTo>
                    <a:pt x="0" y="658876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25588" y="5684287"/>
            <a:ext cx="7412431" cy="494167"/>
            <a:chOff x="0" y="0"/>
            <a:chExt cx="9883242" cy="6588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83241" cy="658883"/>
            </a:xfrm>
            <a:custGeom>
              <a:avLst/>
              <a:gdLst/>
              <a:ahLst/>
              <a:cxnLst/>
              <a:rect r="r" b="b" t="t" l="l"/>
              <a:pathLst>
                <a:path h="658883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2275" r="0" b="-24227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883242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full_name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25588" y="6178453"/>
            <a:ext cx="7412431" cy="494167"/>
            <a:chOff x="0" y="0"/>
            <a:chExt cx="9883242" cy="6588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83241" cy="658883"/>
            </a:xfrm>
            <a:custGeom>
              <a:avLst/>
              <a:gdLst/>
              <a:ahLst/>
              <a:cxnLst/>
              <a:rect r="r" b="b" t="t" l="l"/>
              <a:pathLst>
                <a:path h="658883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2275" r="0" b="-24227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9883242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Tunde Bakare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0872" y="6672620"/>
            <a:ext cx="7686961" cy="494167"/>
            <a:chOff x="0" y="0"/>
            <a:chExt cx="10249281" cy="65888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49281" cy="658876"/>
            </a:xfrm>
            <a:custGeom>
              <a:avLst/>
              <a:gdLst/>
              <a:ahLst/>
              <a:cxnLst/>
              <a:rect r="r" b="b" t="t" l="l"/>
              <a:pathLst>
                <a:path h="658876" w="10249281">
                  <a:moveTo>
                    <a:pt x="0" y="0"/>
                  </a:moveTo>
                  <a:lnTo>
                    <a:pt x="10249281" y="0"/>
                  </a:lnTo>
                  <a:lnTo>
                    <a:pt x="10249281" y="658876"/>
                  </a:lnTo>
                  <a:lnTo>
                    <a:pt x="0" y="658876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25588" y="6672620"/>
            <a:ext cx="7412431" cy="494167"/>
            <a:chOff x="0" y="0"/>
            <a:chExt cx="9883242" cy="6588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883241" cy="658883"/>
            </a:xfrm>
            <a:custGeom>
              <a:avLst/>
              <a:gdLst/>
              <a:ahLst/>
              <a:cxnLst/>
              <a:rect r="r" b="b" t="t" l="l"/>
              <a:pathLst>
                <a:path h="658883" w="9883241">
                  <a:moveTo>
                    <a:pt x="0" y="0"/>
                  </a:moveTo>
                  <a:lnTo>
                    <a:pt x="9883241" y="0"/>
                  </a:lnTo>
                  <a:lnTo>
                    <a:pt x="9883241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2275" r="0" b="-24227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9883242" cy="668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Ngozi Eze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59637" y="2993855"/>
            <a:ext cx="61770" cy="411804"/>
            <a:chOff x="0" y="0"/>
            <a:chExt cx="82360" cy="5490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423" cy="549021"/>
            </a:xfrm>
            <a:custGeom>
              <a:avLst/>
              <a:gdLst/>
              <a:ahLst/>
              <a:cxnLst/>
              <a:rect r="r" b="b" t="t" l="l"/>
              <a:pathLst>
                <a:path h="549021" w="82423">
                  <a:moveTo>
                    <a:pt x="0" y="0"/>
                  </a:moveTo>
                  <a:lnTo>
                    <a:pt x="82423" y="0"/>
                  </a:lnTo>
                  <a:lnTo>
                    <a:pt x="82423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306716" y="2938944"/>
            <a:ext cx="7988951" cy="411804"/>
            <a:chOff x="0" y="0"/>
            <a:chExt cx="10651934" cy="5490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51938" cy="549069"/>
            </a:xfrm>
            <a:custGeom>
              <a:avLst/>
              <a:gdLst/>
              <a:ahLst/>
              <a:cxnLst/>
              <a:rect r="r" b="b" t="t" l="l"/>
              <a:pathLst>
                <a:path h="549069" w="10651938">
                  <a:moveTo>
                    <a:pt x="0" y="0"/>
                  </a:moveTo>
                  <a:lnTo>
                    <a:pt x="10651938" y="0"/>
                  </a:lnTo>
                  <a:lnTo>
                    <a:pt x="10651938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28009" r="0" b="-32800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0651934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Query 2 — never had a Delivered order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059637" y="3419385"/>
            <a:ext cx="8236039" cy="2539441"/>
            <a:chOff x="0" y="0"/>
            <a:chExt cx="10981385" cy="338592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81436" cy="3385947"/>
            </a:xfrm>
            <a:custGeom>
              <a:avLst/>
              <a:gdLst/>
              <a:ahLst/>
              <a:cxnLst/>
              <a:rect r="r" b="b" t="t" l="l"/>
              <a:pathLst>
                <a:path h="3385947" w="10981436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816717" y="0"/>
                  </a:lnTo>
                  <a:cubicBezTo>
                    <a:pt x="10907649" y="0"/>
                    <a:pt x="10981436" y="73787"/>
                    <a:pt x="10981436" y="164719"/>
                  </a:cubicBezTo>
                  <a:lnTo>
                    <a:pt x="10981436" y="3221228"/>
                  </a:lnTo>
                  <a:cubicBezTo>
                    <a:pt x="10981436" y="3312160"/>
                    <a:pt x="10907649" y="3385947"/>
                    <a:pt x="10816717" y="3385947"/>
                  </a:cubicBezTo>
                  <a:lnTo>
                    <a:pt x="164719" y="3385947"/>
                  </a:lnTo>
                  <a:cubicBezTo>
                    <a:pt x="73787" y="3385947"/>
                    <a:pt x="0" y="3312160"/>
                    <a:pt x="0" y="3221228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443990" y="3627239"/>
            <a:ext cx="7467333" cy="205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15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SELECT</a:t>
            </a:r>
            <a:r>
              <a:rPr lang="en-US" sz="15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full_name</a:t>
            </a:r>
          </a:p>
          <a:p>
            <a:pPr algn="l">
              <a:lnSpc>
                <a:spcPts val="2431"/>
              </a:lnSpc>
            </a:pPr>
            <a:r>
              <a:rPr lang="en-US" sz="15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5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customers</a:t>
            </a:r>
          </a:p>
          <a:p>
            <a:pPr algn="l">
              <a:lnSpc>
                <a:spcPts val="2431"/>
              </a:lnSpc>
            </a:pPr>
            <a:r>
              <a:rPr lang="en-US" sz="15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WHERE</a:t>
            </a:r>
            <a:r>
              <a:rPr lang="en-US" sz="15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customer_id </a:t>
            </a:r>
            <a:r>
              <a:rPr lang="en-US" sz="15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NOT IN</a:t>
            </a:r>
            <a:r>
              <a:rPr lang="en-US" sz="15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</a:p>
          <a:p>
            <a:pPr algn="l">
              <a:lnSpc>
                <a:spcPts val="2431"/>
              </a:lnSpc>
            </a:pPr>
            <a:r>
              <a:rPr lang="en-US" sz="15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SELECT</a:t>
            </a:r>
            <a:r>
              <a:rPr lang="en-US" sz="15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customer_id </a:t>
            </a:r>
            <a:r>
              <a:rPr lang="en-US" sz="15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5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orders</a:t>
            </a:r>
          </a:p>
          <a:p>
            <a:pPr algn="l">
              <a:lnSpc>
                <a:spcPts val="2431"/>
              </a:lnSpc>
            </a:pPr>
            <a:r>
              <a:rPr lang="en-US" sz="1501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WHERE</a:t>
            </a:r>
            <a:r>
              <a:rPr lang="en-US" sz="1501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status = 'Delivered');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050103" y="6086556"/>
            <a:ext cx="8255098" cy="1885902"/>
            <a:chOff x="0" y="0"/>
            <a:chExt cx="11006798" cy="25145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006836" cy="2514600"/>
            </a:xfrm>
            <a:custGeom>
              <a:avLst/>
              <a:gdLst/>
              <a:ahLst/>
              <a:cxnLst/>
              <a:rect r="r" b="b" t="t" l="l"/>
              <a:pathLst>
                <a:path h="2514600" w="11006836">
                  <a:moveTo>
                    <a:pt x="0" y="110998"/>
                  </a:moveTo>
                  <a:cubicBezTo>
                    <a:pt x="0" y="49657"/>
                    <a:pt x="49657" y="0"/>
                    <a:pt x="110998" y="0"/>
                  </a:cubicBezTo>
                  <a:lnTo>
                    <a:pt x="10895838" y="0"/>
                  </a:lnTo>
                  <a:cubicBezTo>
                    <a:pt x="10957052" y="0"/>
                    <a:pt x="11006836" y="49657"/>
                    <a:pt x="11006836" y="110998"/>
                  </a:cubicBezTo>
                  <a:lnTo>
                    <a:pt x="11006836" y="2403602"/>
                  </a:lnTo>
                  <a:cubicBezTo>
                    <a:pt x="11006836" y="2464816"/>
                    <a:pt x="10957179" y="2514600"/>
                    <a:pt x="10895838" y="2514600"/>
                  </a:cubicBezTo>
                  <a:lnTo>
                    <a:pt x="110998" y="2514600"/>
                  </a:lnTo>
                  <a:cubicBezTo>
                    <a:pt x="49784" y="2514600"/>
                    <a:pt x="0" y="2464943"/>
                    <a:pt x="0" y="240360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059637" y="6096090"/>
            <a:ext cx="8236039" cy="466706"/>
            <a:chOff x="0" y="0"/>
            <a:chExt cx="10981385" cy="62227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81436" cy="622300"/>
            </a:xfrm>
            <a:custGeom>
              <a:avLst/>
              <a:gdLst/>
              <a:ahLst/>
              <a:cxnLst/>
              <a:rect r="r" b="b" t="t" l="l"/>
              <a:pathLst>
                <a:path h="622300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224362" y="6096090"/>
            <a:ext cx="7961500" cy="466706"/>
            <a:chOff x="0" y="0"/>
            <a:chExt cx="10615333" cy="62227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15333" cy="622278"/>
            </a:xfrm>
            <a:custGeom>
              <a:avLst/>
              <a:gdLst/>
              <a:ahLst/>
              <a:cxnLst/>
              <a:rect r="r" b="b" t="t" l="l"/>
              <a:pathLst>
                <a:path h="622278" w="10615333">
                  <a:moveTo>
                    <a:pt x="0" y="0"/>
                  </a:moveTo>
                  <a:lnTo>
                    <a:pt x="10615333" y="0"/>
                  </a:lnTo>
                  <a:lnTo>
                    <a:pt x="1061533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2392" r="0" b="-28239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0615333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full_name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224362" y="6562806"/>
            <a:ext cx="7961500" cy="466706"/>
            <a:chOff x="0" y="0"/>
            <a:chExt cx="10615333" cy="62227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15333" cy="622278"/>
            </a:xfrm>
            <a:custGeom>
              <a:avLst/>
              <a:gdLst/>
              <a:ahLst/>
              <a:cxnLst/>
              <a:rect r="r" b="b" t="t" l="l"/>
              <a:pathLst>
                <a:path h="622278" w="10615333">
                  <a:moveTo>
                    <a:pt x="0" y="0"/>
                  </a:moveTo>
                  <a:lnTo>
                    <a:pt x="10615333" y="0"/>
                  </a:lnTo>
                  <a:lnTo>
                    <a:pt x="1061533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2392" r="0" b="-28239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0615333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Tunde Bakare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059637" y="7029512"/>
            <a:ext cx="8236039" cy="466706"/>
            <a:chOff x="0" y="0"/>
            <a:chExt cx="10981385" cy="6222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81436" cy="622300"/>
            </a:xfrm>
            <a:custGeom>
              <a:avLst/>
              <a:gdLst/>
              <a:ahLst/>
              <a:cxnLst/>
              <a:rect r="r" b="b" t="t" l="l"/>
              <a:pathLst>
                <a:path h="622300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622300"/>
                  </a:lnTo>
                  <a:lnTo>
                    <a:pt x="0" y="622300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224362" y="7029512"/>
            <a:ext cx="7961500" cy="466706"/>
            <a:chOff x="0" y="0"/>
            <a:chExt cx="10615333" cy="6222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615333" cy="622278"/>
            </a:xfrm>
            <a:custGeom>
              <a:avLst/>
              <a:gdLst/>
              <a:ahLst/>
              <a:cxnLst/>
              <a:rect r="r" b="b" t="t" l="l"/>
              <a:pathLst>
                <a:path h="622278" w="10615333">
                  <a:moveTo>
                    <a:pt x="0" y="0"/>
                  </a:moveTo>
                  <a:lnTo>
                    <a:pt x="10615333" y="0"/>
                  </a:lnTo>
                  <a:lnTo>
                    <a:pt x="1061533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2392" r="0" b="-28239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0615333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Emeka Nwosu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224362" y="7496218"/>
            <a:ext cx="7961500" cy="466706"/>
            <a:chOff x="0" y="0"/>
            <a:chExt cx="10615333" cy="62227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15333" cy="622278"/>
            </a:xfrm>
            <a:custGeom>
              <a:avLst/>
              <a:gdLst/>
              <a:ahLst/>
              <a:cxnLst/>
              <a:rect r="r" b="b" t="t" l="l"/>
              <a:pathLst>
                <a:path h="622278" w="10615333">
                  <a:moveTo>
                    <a:pt x="0" y="0"/>
                  </a:moveTo>
                  <a:lnTo>
                    <a:pt x="10615333" y="0"/>
                  </a:lnTo>
                  <a:lnTo>
                    <a:pt x="10615333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2392" r="0" b="-28239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0615333" cy="63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Ngozi Eze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51338" y="8076938"/>
            <a:ext cx="16353863" cy="1666275"/>
            <a:chOff x="0" y="0"/>
            <a:chExt cx="21805151" cy="22217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805137" cy="2221738"/>
            </a:xfrm>
            <a:custGeom>
              <a:avLst/>
              <a:gdLst/>
              <a:ahLst/>
              <a:cxnLst/>
              <a:rect r="r" b="b" t="t" l="l"/>
              <a:pathLst>
                <a:path h="2221738" w="21805137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21619972" y="0"/>
                  </a:lnTo>
                  <a:cubicBezTo>
                    <a:pt x="21722207" y="0"/>
                    <a:pt x="21805137" y="82931"/>
                    <a:pt x="21805137" y="185166"/>
                  </a:cubicBezTo>
                  <a:lnTo>
                    <a:pt x="21805137" y="2036572"/>
                  </a:lnTo>
                  <a:cubicBezTo>
                    <a:pt x="21805137" y="2138807"/>
                    <a:pt x="21722207" y="2221738"/>
                    <a:pt x="21619972" y="2221738"/>
                  </a:cubicBezTo>
                  <a:lnTo>
                    <a:pt x="185166" y="2221738"/>
                  </a:lnTo>
                  <a:cubicBezTo>
                    <a:pt x="82931" y="2221738"/>
                    <a:pt x="0" y="2138807"/>
                    <a:pt x="0" y="2036572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372676" y="8264914"/>
            <a:ext cx="15511196" cy="1304039"/>
            <a:chOff x="0" y="0"/>
            <a:chExt cx="20681594" cy="173871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681598" cy="1738718"/>
            </a:xfrm>
            <a:custGeom>
              <a:avLst/>
              <a:gdLst/>
              <a:ahLst/>
              <a:cxnLst/>
              <a:rect r="r" b="b" t="t" l="l"/>
              <a:pathLst>
                <a:path h="1738718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1769" r="0" b="-18176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20681594" cy="18053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Not the same list — and that's correct: </a:t>
              </a: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Emeka placed an order, so Query 1 excludes him. But it was Cancelled, never Delivered, so Query 2 includes him. Two different questions, two right answers.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710213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533808" y="4186238"/>
            <a:ext cx="457200" cy="457200"/>
            <a:chOff x="0" y="0"/>
            <a:chExt cx="609600" cy="6096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562" r="0" b="-156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00188" y="2595562"/>
            <a:ext cx="7643812" cy="184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You</a:t>
            </a: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 can now combine tables with INNER and LEFT joins: INNER JOIN keeps only matches; LEFT JOIN keeps every row from the left table, matched or not.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0188" y="4694692"/>
            <a:ext cx="8336756" cy="184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Y</a:t>
            </a: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ou can now predict a join's row count before running it: Count matching child rows for INNER; add one row per unmatched parent for LEFT — then check your prediction against reality.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0188" y="6792097"/>
            <a:ext cx="8336756" cy="184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You</a:t>
            </a: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 can now use subqueries to answer layered questions: A scalar subquery hands back one value; an IN subquery hands back a list — both let one query feed another.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57250" y="2671762"/>
            <a:ext cx="371475" cy="385762"/>
            <a:chOff x="0" y="0"/>
            <a:chExt cx="495300" cy="5143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57250" y="4770892"/>
            <a:ext cx="371475" cy="385762"/>
            <a:chOff x="0" y="0"/>
            <a:chExt cx="495300" cy="5143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57250" y="6868297"/>
            <a:ext cx="371475" cy="385762"/>
            <a:chOff x="0" y="0"/>
            <a:chExt cx="495300" cy="5143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457474" y="4019550"/>
            <a:ext cx="4962034" cy="272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Inter"/>
                <a:ea typeface="Inter"/>
                <a:cs typeface="Inter"/>
                <a:sym typeface="Inter"/>
              </a:rPr>
              <a:t>Up Next:</a:t>
            </a:r>
          </a:p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Inter"/>
                <a:ea typeface="Inter"/>
                <a:cs typeface="Inter"/>
                <a:sym typeface="Inter"/>
              </a:rPr>
              <a:t>Warehousing</a:t>
            </a:r>
          </a:p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Inter"/>
                <a:ea typeface="Inter"/>
                <a:cs typeface="Inter"/>
                <a:sym typeface="Inter"/>
              </a:rPr>
              <a:t>Fundamentals</a:t>
            </a:r>
          </a:p>
          <a:p>
            <a:pPr algn="r">
              <a:lnSpc>
                <a:spcPts val="540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398411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AT'S NEXT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464483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60872" y="917767"/>
            <a:ext cx="10981382" cy="484098"/>
            <a:chOff x="0" y="0"/>
            <a:chExt cx="14641843" cy="6454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41840" cy="645470"/>
            </a:xfrm>
            <a:custGeom>
              <a:avLst/>
              <a:gdLst/>
              <a:ahLst/>
              <a:cxnLst/>
              <a:rect r="r" b="b" t="t" l="l"/>
              <a:pathLst>
                <a:path h="645470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645470"/>
                  </a:lnTo>
                  <a:lnTo>
                    <a:pt x="0" y="6454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2378" r="0" b="-39161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641843" cy="664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60872" y="1819275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From this session into the lab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1338" y="2898605"/>
            <a:ext cx="5235216" cy="4823422"/>
            <a:chOff x="0" y="0"/>
            <a:chExt cx="6980288" cy="64312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0301" cy="6431280"/>
            </a:xfrm>
            <a:custGeom>
              <a:avLst/>
              <a:gdLst/>
              <a:ahLst/>
              <a:cxnLst/>
              <a:rect r="r" b="b" t="t" l="l"/>
              <a:pathLst>
                <a:path h="6431280" w="698030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6722999" y="0"/>
                  </a:lnTo>
                  <a:cubicBezTo>
                    <a:pt x="6865112" y="0"/>
                    <a:pt x="6980301" y="115189"/>
                    <a:pt x="6980301" y="257302"/>
                  </a:cubicBezTo>
                  <a:lnTo>
                    <a:pt x="6980301" y="6173978"/>
                  </a:lnTo>
                  <a:cubicBezTo>
                    <a:pt x="6980301" y="6316091"/>
                    <a:pt x="6865112" y="6431280"/>
                    <a:pt x="6722999" y="6431280"/>
                  </a:cubicBezTo>
                  <a:lnTo>
                    <a:pt x="257302" y="6431280"/>
                  </a:lnTo>
                  <a:cubicBezTo>
                    <a:pt x="115189" y="6431280"/>
                    <a:pt x="0" y="6316091"/>
                    <a:pt x="0" y="61739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60761" y="3376665"/>
            <a:ext cx="847439" cy="847439"/>
            <a:chOff x="0" y="0"/>
            <a:chExt cx="1129919" cy="11299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9919" cy="1129919"/>
            </a:xfrm>
            <a:custGeom>
              <a:avLst/>
              <a:gdLst/>
              <a:ahLst/>
              <a:cxnLst/>
              <a:rect r="r" b="b" t="t" l="l"/>
              <a:pathLst>
                <a:path h="1129919" w="1129919">
                  <a:moveTo>
                    <a:pt x="0" y="564896"/>
                  </a:moveTo>
                  <a:cubicBezTo>
                    <a:pt x="0" y="252984"/>
                    <a:pt x="252984" y="0"/>
                    <a:pt x="564896" y="0"/>
                  </a:cubicBezTo>
                  <a:cubicBezTo>
                    <a:pt x="876808" y="0"/>
                    <a:pt x="1129919" y="252984"/>
                    <a:pt x="1129919" y="564896"/>
                  </a:cubicBezTo>
                  <a:cubicBezTo>
                    <a:pt x="1129919" y="876808"/>
                    <a:pt x="876935" y="1129919"/>
                    <a:pt x="564896" y="1129919"/>
                  </a:cubicBezTo>
                  <a:cubicBezTo>
                    <a:pt x="252857" y="1129919"/>
                    <a:pt x="0" y="876935"/>
                    <a:pt x="0" y="564896"/>
                  </a:cubicBezTo>
                  <a:close/>
                </a:path>
              </a:pathLst>
            </a:custGeom>
            <a:solidFill>
              <a:srgbClr val="F0F6F4"/>
            </a:solidFill>
            <a:ln w="23831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72676" y="3388581"/>
            <a:ext cx="823608" cy="823608"/>
            <a:chOff x="0" y="0"/>
            <a:chExt cx="1098144" cy="10981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81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09814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E6F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2676" y="4486718"/>
            <a:ext cx="4392549" cy="686333"/>
            <a:chOff x="0" y="0"/>
            <a:chExt cx="5856732" cy="9151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6736" cy="915115"/>
            </a:xfrm>
            <a:custGeom>
              <a:avLst/>
              <a:gdLst/>
              <a:ahLst/>
              <a:cxnLst/>
              <a:rect r="r" b="b" t="t" l="l"/>
              <a:pathLst>
                <a:path h="915115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704" r="0" b="-7470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856732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Hands-on lab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2676" y="5173051"/>
            <a:ext cx="4392549" cy="2402176"/>
            <a:chOff x="0" y="0"/>
            <a:chExt cx="5856732" cy="320290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56736" cy="3202902"/>
            </a:xfrm>
            <a:custGeom>
              <a:avLst/>
              <a:gdLst/>
              <a:ahLst/>
              <a:cxnLst/>
              <a:rect r="r" b="b" t="t" l="l"/>
              <a:pathLst>
                <a:path h="3202902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202902"/>
                  </a:lnTo>
                  <a:lnTo>
                    <a:pt x="0" y="320290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166" t="0" r="-2016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856732" cy="326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9"/>
                </a:lnSpc>
              </a:pPr>
              <a:r>
                <a:rPr lang="en-US" sz="1726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Open the shared customers.db / orders.db and complete the 3.4 lab worksheet — INNER and LEFT join tasks, each with a written row-count prediction.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10661" y="2898605"/>
            <a:ext cx="5235216" cy="4823422"/>
            <a:chOff x="0" y="0"/>
            <a:chExt cx="6980288" cy="64312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80301" cy="6431280"/>
            </a:xfrm>
            <a:custGeom>
              <a:avLst/>
              <a:gdLst/>
              <a:ahLst/>
              <a:cxnLst/>
              <a:rect r="r" b="b" t="t" l="l"/>
              <a:pathLst>
                <a:path h="6431280" w="698030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6722999" y="0"/>
                  </a:lnTo>
                  <a:cubicBezTo>
                    <a:pt x="6865112" y="0"/>
                    <a:pt x="6980301" y="115189"/>
                    <a:pt x="6980301" y="257302"/>
                  </a:cubicBezTo>
                  <a:lnTo>
                    <a:pt x="6980301" y="6173978"/>
                  </a:lnTo>
                  <a:cubicBezTo>
                    <a:pt x="6980301" y="6316091"/>
                    <a:pt x="6865112" y="6431280"/>
                    <a:pt x="6722999" y="6431280"/>
                  </a:cubicBezTo>
                  <a:lnTo>
                    <a:pt x="257302" y="6431280"/>
                  </a:lnTo>
                  <a:cubicBezTo>
                    <a:pt x="115189" y="6431280"/>
                    <a:pt x="0" y="6316091"/>
                    <a:pt x="0" y="61739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920084" y="3376665"/>
            <a:ext cx="847439" cy="847439"/>
            <a:chOff x="0" y="0"/>
            <a:chExt cx="1129919" cy="11299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29919" cy="1129919"/>
            </a:xfrm>
            <a:custGeom>
              <a:avLst/>
              <a:gdLst/>
              <a:ahLst/>
              <a:cxnLst/>
              <a:rect r="r" b="b" t="t" l="l"/>
              <a:pathLst>
                <a:path h="1129919" w="1129919">
                  <a:moveTo>
                    <a:pt x="0" y="564896"/>
                  </a:moveTo>
                  <a:cubicBezTo>
                    <a:pt x="0" y="252984"/>
                    <a:pt x="252984" y="0"/>
                    <a:pt x="564896" y="0"/>
                  </a:cubicBezTo>
                  <a:cubicBezTo>
                    <a:pt x="876808" y="0"/>
                    <a:pt x="1129919" y="252984"/>
                    <a:pt x="1129919" y="564896"/>
                  </a:cubicBezTo>
                  <a:cubicBezTo>
                    <a:pt x="1129919" y="876808"/>
                    <a:pt x="876935" y="1129919"/>
                    <a:pt x="564896" y="1129919"/>
                  </a:cubicBezTo>
                  <a:cubicBezTo>
                    <a:pt x="252857" y="1129919"/>
                    <a:pt x="0" y="876935"/>
                    <a:pt x="0" y="564896"/>
                  </a:cubicBezTo>
                  <a:close/>
                </a:path>
              </a:pathLst>
            </a:custGeom>
            <a:solidFill>
              <a:srgbClr val="F0F6F4"/>
            </a:solidFill>
            <a:ln w="23831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932000" y="3388581"/>
            <a:ext cx="823608" cy="823608"/>
            <a:chOff x="0" y="0"/>
            <a:chExt cx="1098144" cy="10981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81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09814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E6F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32000" y="4486718"/>
            <a:ext cx="4392549" cy="686333"/>
            <a:chOff x="0" y="0"/>
            <a:chExt cx="5856732" cy="9151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6736" cy="915115"/>
            </a:xfrm>
            <a:custGeom>
              <a:avLst/>
              <a:gdLst/>
              <a:ahLst/>
              <a:cxnLst/>
              <a:rect r="r" b="b" t="t" l="l"/>
              <a:pathLst>
                <a:path h="915115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704" r="0" b="-7470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5856732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LMS practice set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32000" y="5173051"/>
            <a:ext cx="4392549" cy="2402176"/>
            <a:chOff x="0" y="0"/>
            <a:chExt cx="5856732" cy="32029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56736" cy="3202902"/>
            </a:xfrm>
            <a:custGeom>
              <a:avLst/>
              <a:gdLst/>
              <a:ahLst/>
              <a:cxnLst/>
              <a:rect r="r" b="b" t="t" l="l"/>
              <a:pathLst>
                <a:path h="3202902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202902"/>
                  </a:lnTo>
                  <a:lnTo>
                    <a:pt x="0" y="320290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166" t="0" r="-20165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5856732" cy="326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9"/>
                </a:lnSpc>
              </a:pPr>
              <a:r>
                <a:rPr lang="en-US" sz="1726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Ten auto-graded questions: choosing INNER vs LEFT, predicting row counts, and writing scalar and IN subqueries.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069985" y="2898605"/>
            <a:ext cx="5235216" cy="4823422"/>
            <a:chOff x="0" y="0"/>
            <a:chExt cx="6980288" cy="643122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80301" cy="6431280"/>
            </a:xfrm>
            <a:custGeom>
              <a:avLst/>
              <a:gdLst/>
              <a:ahLst/>
              <a:cxnLst/>
              <a:rect r="r" b="b" t="t" l="l"/>
              <a:pathLst>
                <a:path h="6431280" w="698030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6722999" y="0"/>
                  </a:lnTo>
                  <a:cubicBezTo>
                    <a:pt x="6865112" y="0"/>
                    <a:pt x="6980301" y="115189"/>
                    <a:pt x="6980301" y="257302"/>
                  </a:cubicBezTo>
                  <a:lnTo>
                    <a:pt x="6980301" y="6173978"/>
                  </a:lnTo>
                  <a:cubicBezTo>
                    <a:pt x="6980301" y="6316091"/>
                    <a:pt x="6865112" y="6431280"/>
                    <a:pt x="6722999" y="6431280"/>
                  </a:cubicBezTo>
                  <a:lnTo>
                    <a:pt x="257302" y="6431280"/>
                  </a:lnTo>
                  <a:cubicBezTo>
                    <a:pt x="115189" y="6431280"/>
                    <a:pt x="0" y="6316091"/>
                    <a:pt x="0" y="61739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479407" y="3376665"/>
            <a:ext cx="847439" cy="847439"/>
            <a:chOff x="0" y="0"/>
            <a:chExt cx="1129919" cy="112991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29919" cy="1129919"/>
            </a:xfrm>
            <a:custGeom>
              <a:avLst/>
              <a:gdLst/>
              <a:ahLst/>
              <a:cxnLst/>
              <a:rect r="r" b="b" t="t" l="l"/>
              <a:pathLst>
                <a:path h="1129919" w="1129919">
                  <a:moveTo>
                    <a:pt x="0" y="564896"/>
                  </a:moveTo>
                  <a:cubicBezTo>
                    <a:pt x="0" y="252984"/>
                    <a:pt x="252984" y="0"/>
                    <a:pt x="564896" y="0"/>
                  </a:cubicBezTo>
                  <a:cubicBezTo>
                    <a:pt x="876808" y="0"/>
                    <a:pt x="1129919" y="252984"/>
                    <a:pt x="1129919" y="564896"/>
                  </a:cubicBezTo>
                  <a:cubicBezTo>
                    <a:pt x="1129919" y="876808"/>
                    <a:pt x="876935" y="1129919"/>
                    <a:pt x="564896" y="1129919"/>
                  </a:cubicBezTo>
                  <a:cubicBezTo>
                    <a:pt x="252857" y="1129919"/>
                    <a:pt x="0" y="876935"/>
                    <a:pt x="0" y="564896"/>
                  </a:cubicBezTo>
                  <a:close/>
                </a:path>
              </a:pathLst>
            </a:custGeom>
            <a:solidFill>
              <a:srgbClr val="F0F6F4"/>
            </a:solidFill>
            <a:ln w="23831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491323" y="3388581"/>
            <a:ext cx="823608" cy="823608"/>
            <a:chOff x="0" y="0"/>
            <a:chExt cx="1098144" cy="10981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81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09814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E6F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491323" y="4486718"/>
            <a:ext cx="4392549" cy="686333"/>
            <a:chOff x="0" y="0"/>
            <a:chExt cx="5856732" cy="91511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56736" cy="915115"/>
            </a:xfrm>
            <a:custGeom>
              <a:avLst/>
              <a:gdLst/>
              <a:ahLst/>
              <a:cxnLst/>
              <a:rect r="r" b="b" t="t" l="l"/>
              <a:pathLst>
                <a:path h="915115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704" r="0" b="-7470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5856732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Keep the habit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491323" y="5173051"/>
            <a:ext cx="4392549" cy="2402176"/>
            <a:chOff x="0" y="0"/>
            <a:chExt cx="5856732" cy="320290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856736" cy="3202902"/>
            </a:xfrm>
            <a:custGeom>
              <a:avLst/>
              <a:gdLst/>
              <a:ahLst/>
              <a:cxnLst/>
              <a:rect r="r" b="b" t="t" l="l"/>
              <a:pathLst>
                <a:path h="3202902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202902"/>
                  </a:lnTo>
                  <a:lnTo>
                    <a:pt x="0" y="320290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166" t="0" r="-20165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5856732" cy="326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9"/>
                </a:lnSpc>
              </a:pPr>
              <a:r>
                <a:rPr lang="en-US" sz="1726">
                  <a:solidFill>
                    <a:srgbClr val="5E7370"/>
                  </a:solidFill>
                  <a:latin typeface="Poppins"/>
                  <a:ea typeface="Poppins"/>
                  <a:cs typeface="Poppins"/>
                  <a:sym typeface="Poppins"/>
                </a:rPr>
                <a:t>For every join or subquery, write your prediction first. Bring one join whose actual count surprised you to the next session.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51338" y="8183399"/>
            <a:ext cx="16353863" cy="1185834"/>
            <a:chOff x="0" y="0"/>
            <a:chExt cx="21805151" cy="15811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805139" cy="1581150"/>
            </a:xfrm>
            <a:custGeom>
              <a:avLst/>
              <a:gdLst/>
              <a:ahLst/>
              <a:cxnLst/>
              <a:rect r="r" b="b" t="t" l="l"/>
              <a:pathLst>
                <a:path h="1581150" w="21805139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21619083" y="0"/>
                  </a:lnTo>
                  <a:cubicBezTo>
                    <a:pt x="21721826" y="0"/>
                    <a:pt x="21805139" y="83312"/>
                    <a:pt x="21805139" y="186055"/>
                  </a:cubicBezTo>
                  <a:lnTo>
                    <a:pt x="21805139" y="1395095"/>
                  </a:lnTo>
                  <a:cubicBezTo>
                    <a:pt x="21805139" y="1497838"/>
                    <a:pt x="21721826" y="1581150"/>
                    <a:pt x="21619083" y="1581150"/>
                  </a:cubicBezTo>
                  <a:lnTo>
                    <a:pt x="186055" y="1581150"/>
                  </a:lnTo>
                  <a:cubicBezTo>
                    <a:pt x="83312" y="1581150"/>
                    <a:pt x="0" y="1497838"/>
                    <a:pt x="0" y="1395095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72676" y="8192934"/>
            <a:ext cx="15511196" cy="1166774"/>
            <a:chOff x="0" y="0"/>
            <a:chExt cx="20681594" cy="155569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681598" cy="1555695"/>
            </a:xfrm>
            <a:custGeom>
              <a:avLst/>
              <a:gdLst/>
              <a:ahLst/>
              <a:cxnLst/>
              <a:rect r="r" b="b" t="t" l="l"/>
              <a:pathLst>
                <a:path h="155569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20681594" cy="1565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i="true">
                  <a:solidFill>
                    <a:srgbClr val="1B40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Facilitator note: pre-built finished lab file (customers_orders_joins_finished.db) and a printed answer key with expected row counts are attached on the LMS in case the live demo or network fails.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DAHTkqEQWks</dc:identifier>
  <dcterms:modified xsi:type="dcterms:W3CDTF">2011-08-01T06:04:30Z</dcterms:modified>
  <cp:revision>1</cp:revision>
  <dc:title>Module 3.4 - Joins and Subqueries</dc:title>
</cp:coreProperties>
</file>