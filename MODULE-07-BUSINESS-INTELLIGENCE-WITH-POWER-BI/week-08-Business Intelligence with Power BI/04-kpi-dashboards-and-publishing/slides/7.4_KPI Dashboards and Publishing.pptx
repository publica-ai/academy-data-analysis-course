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Inter" charset="1" panose="02000503000000020004"/>
      <p:regular r:id="rId30"/>
    </p:embeddedFont>
    <p:embeddedFont>
      <p:font typeface="Inter Medium" charset="1" panose="02000503000000020004"/>
      <p:regular r:id="rId31"/>
    </p:embeddedFont>
    <p:embeddedFont>
      <p:font typeface="Poppins Bold" charset="1" panose="00000800000000000000"/>
      <p:regular r:id="rId32"/>
    </p:embeddedFont>
    <p:embeddedFont>
      <p:font typeface="Poppins" charset="1" panose="00000500000000000000"/>
      <p:regular r:id="rId34"/>
    </p:embeddedFont>
    <p:embeddedFont>
      <p:font typeface="Poppins Italics" charset="1" panose="00000500000000000000"/>
      <p:regular r:id="rId37"/>
    </p:embeddedFont>
    <p:embeddedFont>
      <p:font typeface="Roboto Mono" charset="1" panose="00000000000000000000"/>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fonts/font34.fntdata" Type="http://schemas.openxmlformats.org/officeDocument/2006/relationships/font"/><Relationship Id="rId35" Target="notesSlides/notesSlide3.xml" Type="http://schemas.openxmlformats.org/officeDocument/2006/relationships/notesSlide"/><Relationship Id="rId36" Target="notesSlides/notesSlide4.xml" Type="http://schemas.openxmlformats.org/officeDocument/2006/relationships/notesSlide"/><Relationship Id="rId37" Target="fonts/font37.fntdata" Type="http://schemas.openxmlformats.org/officeDocument/2006/relationships/font"/><Relationship Id="rId38" Target="notesSlides/notesSlide5.xml" Type="http://schemas.openxmlformats.org/officeDocument/2006/relationships/notesSlide"/><Relationship Id="rId39" Target="notesSlides/notesSlide6.xml" Type="http://schemas.openxmlformats.org/officeDocument/2006/relationships/notesSlide"/><Relationship Id="rId4" Target="theme/theme1.xml" Type="http://schemas.openxmlformats.org/officeDocument/2006/relationships/theme"/><Relationship Id="rId40" Target="notesSlides/notesSlide7.xml" Type="http://schemas.openxmlformats.org/officeDocument/2006/relationships/notesSlide"/><Relationship Id="rId41" Target="notesSlides/notesSlide8.xml" Type="http://schemas.openxmlformats.org/officeDocument/2006/relationships/notesSlide"/><Relationship Id="rId42" Target="notesSlides/notesSlide9.xml" Type="http://schemas.openxmlformats.org/officeDocument/2006/relationships/notesSlide"/><Relationship Id="rId43" Target="notesSlides/notesSlide10.xml" Type="http://schemas.openxmlformats.org/officeDocument/2006/relationships/notesSlide"/><Relationship Id="rId44" Target="notesSlides/notesSlide11.xml" Type="http://schemas.openxmlformats.org/officeDocument/2006/relationships/notesSlide"/><Relationship Id="rId45" Target="notesSlides/notesSlide12.xml" Type="http://schemas.openxmlformats.org/officeDocument/2006/relationships/notesSlide"/><Relationship Id="rId46" Target="notesSlides/notesSlide13.xml" Type="http://schemas.openxmlformats.org/officeDocument/2006/relationships/notesSlide"/><Relationship Id="rId47" Target="notesSlides/notesSlide14.xml" Type="http://schemas.openxmlformats.org/officeDocument/2006/relationships/notesSlide"/><Relationship Id="rId48" Target="notesSlides/notesSlide15.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notesSlides/notesSlide16.xml" Type="http://schemas.openxmlformats.org/officeDocument/2006/relationships/notesSlide"/><Relationship Id="rId51" Target="notesSlides/notesSlide17.xml" Type="http://schemas.openxmlformats.org/officeDocument/2006/relationships/notesSlide"/><Relationship Id="rId52" Target="notesSlides/notesSlide18.xml" Type="http://schemas.openxmlformats.org/officeDocument/2006/relationships/notesSlide"/><Relationship Id="rId53" Target="notesSlides/notesSlide19.xml" Type="http://schemas.openxmlformats.org/officeDocument/2006/relationships/notesSlide"/><Relationship Id="rId54" Target="notesSlides/notesSlide20.xml" Type="http://schemas.openxmlformats.org/officeDocument/2006/relationships/notesSlide"/><Relationship Id="rId55" Target="notesSlides/notesSlide21.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IDEA THIS SLIDE DELIVERS: there is a difference between producing an analysis and producing a product, and this module is about the second one.</a:t>
            </a:r>
          </a:p>
          <a:p>
            <a:r>
              <a:rPr lang="en-US"/>
              <a:t/>
            </a:r>
          </a:p>
          <a:p>
            <a:r>
              <a:rPr lang="en-US"/>
              <a:t>Everything trainees have built so far has been an analysis: a one-off answer to a one-off question. Business intelligence produces something different. Adaeze opens it herself, filters it herself, drills in herself. You are not in the room and it keeps working.</a:t>
            </a:r>
          </a:p>
          <a:p>
            <a:r>
              <a:rPr lang="en-US"/>
              <a:t/>
            </a:r>
          </a:p>
          <a:p>
            <a:r>
              <a:rPr lang="en-US"/>
              <a:t>WHAT TO SAY (about three minutes):</a:t>
            </a:r>
          </a:p>
          <a:p>
            <a:r>
              <a:rPr lang="en-US"/>
              <a:t>"I want to introduce you to someone you are going to spend two modules with. Adaeze Nwosu is the operations manager at SwiftRoute Logistics, a last-mile delivery company running out of Lagos into Ogun and Oyo.</a:t>
            </a:r>
          </a:p>
          <a:p>
            <a:r>
              <a:rPr lang="en-US"/>
              <a:t/>
            </a:r>
          </a:p>
          <a:p>
            <a:r>
              <a:rPr lang="en-US"/>
              <a:t>Every morning, before her riders dispatch, she opens one screen and answers three questions. Which routes slipped yesterday. Which riders are carrying the load. And whether the month is still on track against the promise she made her clients, which is that ninety percent of deliveries arrive inside the window.</a:t>
            </a:r>
          </a:p>
          <a:p>
            <a:r>
              <a:rPr lang="en-US"/>
              <a:t/>
            </a:r>
          </a:p>
          <a:p>
            <a:r>
              <a:rPr lang="en-US"/>
              <a:t>Notice what she does not do. She does not open Excel. She does not write SQL. She does not ring an analyst. Somebody built her a product, and it refreshes itself overnight."</a:t>
            </a:r>
          </a:p>
          <a:p>
            <a:r>
              <a:rPr lang="en-US"/>
              <a:t/>
            </a:r>
          </a:p>
          <a:p>
            <a:r>
              <a:rPr lang="en-US"/>
              <a:t>THE QUESTION TO ASK: "Has anyone here ever been asked the same question three weeks in a row?" Most hands go up. Take one story briefly. It makes the problem personal before you offer the solution.</a:t>
            </a:r>
          </a:p>
          <a:p>
            <a:r>
              <a:rPr lang="en-US"/>
              <a:t/>
            </a:r>
          </a:p>
          <a:p>
            <a:r>
              <a:rPr lang="en-US"/>
              <a:t>ON THE DISCLAIMER: read it aloud. It models the programme's responsible-data standard and sets up Topic 7.6, where trainees apply the same rule to their own capstone dataset.</a:t>
            </a:r>
          </a:p>
          <a:p>
            <a:r>
              <a:rPr lang="en-US"/>
              <a:t/>
            </a:r>
          </a:p>
          <a:p>
            <a:r>
              <a:rPr lang="en-US"/>
              <a:t>TIMING: 3 minutes.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jpe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notesSlides/notesSlide20.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1430000" y="0"/>
            <a:ext cx="2286000" cy="1907553"/>
            <a:chOff x="0" y="0"/>
            <a:chExt cx="3048000" cy="2543404"/>
          </a:xfrm>
        </p:grpSpPr>
        <p:sp>
          <p:nvSpPr>
            <p:cNvPr name="Freeform 4" id="4"/>
            <p:cNvSpPr/>
            <p:nvPr/>
          </p:nvSpPr>
          <p:spPr>
            <a:xfrm flipH="false" flipV="false" rot="0">
              <a:off x="0" y="0"/>
              <a:ext cx="3048000" cy="2543429"/>
            </a:xfrm>
            <a:custGeom>
              <a:avLst/>
              <a:gdLst/>
              <a:ahLst/>
              <a:cxnLst/>
              <a:rect r="r" b="b" t="t" l="l"/>
              <a:pathLst>
                <a:path h="2543429" w="3048000">
                  <a:moveTo>
                    <a:pt x="0" y="0"/>
                  </a:moveTo>
                  <a:lnTo>
                    <a:pt x="3048000" y="0"/>
                  </a:lnTo>
                  <a:lnTo>
                    <a:pt x="3048000" y="2543429"/>
                  </a:lnTo>
                  <a:lnTo>
                    <a:pt x="0" y="2543429"/>
                  </a:lnTo>
                  <a:lnTo>
                    <a:pt x="0" y="0"/>
                  </a:lnTo>
                  <a:close/>
                </a:path>
              </a:pathLst>
            </a:custGeom>
            <a:blipFill>
              <a:blip r:embed="rId4"/>
              <a:stretch>
                <a:fillRect l="0" t="0" r="-8" b="1"/>
              </a:stretch>
            </a:blipFill>
          </p:spPr>
        </p:sp>
      </p:grpSp>
      <p:grpSp>
        <p:nvGrpSpPr>
          <p:cNvPr name="Group 5" id="5"/>
          <p:cNvGrpSpPr/>
          <p:nvPr/>
        </p:nvGrpSpPr>
        <p:grpSpPr>
          <a:xfrm rot="0">
            <a:off x="15001875" y="714375"/>
            <a:ext cx="2857500" cy="2857500"/>
            <a:chOff x="0" y="0"/>
            <a:chExt cx="3810000" cy="3810000"/>
          </a:xfrm>
        </p:grpSpPr>
        <p:sp>
          <p:nvSpPr>
            <p:cNvPr name="Freeform 6" id="6"/>
            <p:cNvSpPr/>
            <p:nvPr/>
          </p:nvSpPr>
          <p:spPr>
            <a:xfrm flipH="false" flipV="false" rot="0">
              <a:off x="0" y="0"/>
              <a:ext cx="3810000" cy="3810000"/>
            </a:xfrm>
            <a:custGeom>
              <a:avLst/>
              <a:gdLst/>
              <a:ahLst/>
              <a:cxnLst/>
              <a:rect r="r" b="b" t="t" l="l"/>
              <a:pathLst>
                <a:path h="3810000" w="3810000">
                  <a:moveTo>
                    <a:pt x="0" y="1905000"/>
                  </a:moveTo>
                  <a:cubicBezTo>
                    <a:pt x="0" y="852932"/>
                    <a:pt x="852932" y="0"/>
                    <a:pt x="1905000" y="0"/>
                  </a:cubicBezTo>
                  <a:cubicBezTo>
                    <a:pt x="2957068" y="0"/>
                    <a:pt x="3810000" y="852932"/>
                    <a:pt x="3810000" y="1905000"/>
                  </a:cubicBezTo>
                  <a:cubicBezTo>
                    <a:pt x="3810000" y="2957068"/>
                    <a:pt x="2957068" y="3810000"/>
                    <a:pt x="1905000" y="3810000"/>
                  </a:cubicBezTo>
                  <a:cubicBezTo>
                    <a:pt x="852932" y="3810000"/>
                    <a:pt x="0" y="2957068"/>
                    <a:pt x="0" y="1905000"/>
                  </a:cubicBezTo>
                  <a:close/>
                </a:path>
              </a:pathLst>
            </a:custGeom>
            <a:solidFill>
              <a:srgbClr val="387F7F">
                <a:alpha val="0"/>
              </a:srgbClr>
            </a:solidFill>
          </p:spPr>
        </p:sp>
      </p:grpSp>
      <p:grpSp>
        <p:nvGrpSpPr>
          <p:cNvPr name="Group 7" id="7"/>
          <p:cNvGrpSpPr/>
          <p:nvPr/>
        </p:nvGrpSpPr>
        <p:grpSpPr>
          <a:xfrm rot="0">
            <a:off x="0" y="6429375"/>
            <a:ext cx="1907553" cy="1286104"/>
            <a:chOff x="0" y="0"/>
            <a:chExt cx="2543404" cy="1714805"/>
          </a:xfrm>
        </p:grpSpPr>
        <p:sp>
          <p:nvSpPr>
            <p:cNvPr name="Freeform 8" id="8"/>
            <p:cNvSpPr/>
            <p:nvPr/>
          </p:nvSpPr>
          <p:spPr>
            <a:xfrm flipH="false" flipV="false" rot="0">
              <a:off x="0" y="0"/>
              <a:ext cx="2543429" cy="1714754"/>
            </a:xfrm>
            <a:custGeom>
              <a:avLst/>
              <a:gdLst/>
              <a:ahLst/>
              <a:cxnLst/>
              <a:rect r="r" b="b" t="t" l="l"/>
              <a:pathLst>
                <a:path h="1714754" w="2543429">
                  <a:moveTo>
                    <a:pt x="0" y="0"/>
                  </a:moveTo>
                  <a:lnTo>
                    <a:pt x="2543429" y="0"/>
                  </a:lnTo>
                  <a:lnTo>
                    <a:pt x="2543429" y="1714754"/>
                  </a:lnTo>
                  <a:lnTo>
                    <a:pt x="0" y="1714754"/>
                  </a:lnTo>
                  <a:lnTo>
                    <a:pt x="0" y="0"/>
                  </a:lnTo>
                  <a:close/>
                </a:path>
              </a:pathLst>
            </a:custGeom>
            <a:blipFill>
              <a:blip r:embed="rId5"/>
              <a:stretch>
                <a:fillRect l="0" t="0" r="-7" b="-2"/>
              </a:stretch>
            </a:blipFill>
          </p:spPr>
        </p:sp>
      </p:grpSp>
      <p:grpSp>
        <p:nvGrpSpPr>
          <p:cNvPr name="Group 9" id="9"/>
          <p:cNvGrpSpPr/>
          <p:nvPr/>
        </p:nvGrpSpPr>
        <p:grpSpPr>
          <a:xfrm rot="0">
            <a:off x="1143000" y="2828906"/>
            <a:ext cx="16002000" cy="438950"/>
            <a:chOff x="0" y="0"/>
            <a:chExt cx="21336000" cy="585267"/>
          </a:xfrm>
        </p:grpSpPr>
        <p:sp>
          <p:nvSpPr>
            <p:cNvPr name="Freeform 10" id="10"/>
            <p:cNvSpPr/>
            <p:nvPr/>
          </p:nvSpPr>
          <p:spPr>
            <a:xfrm flipH="false" flipV="false" rot="0">
              <a:off x="0" y="0"/>
              <a:ext cx="21336000" cy="585270"/>
            </a:xfrm>
            <a:custGeom>
              <a:avLst/>
              <a:gdLst/>
              <a:ahLst/>
              <a:cxnLst/>
              <a:rect r="r" b="b" t="t" l="l"/>
              <a:pathLst>
                <a:path h="585270" w="21336000">
                  <a:moveTo>
                    <a:pt x="0" y="0"/>
                  </a:moveTo>
                  <a:lnTo>
                    <a:pt x="21336000" y="0"/>
                  </a:lnTo>
                  <a:lnTo>
                    <a:pt x="21336000" y="585270"/>
                  </a:lnTo>
                  <a:lnTo>
                    <a:pt x="0" y="585270"/>
                  </a:lnTo>
                  <a:close/>
                </a:path>
              </a:pathLst>
            </a:custGeom>
            <a:blipFill>
              <a:blip r:embed="rId6">
                <a:alphaModFix amt="0"/>
              </a:blip>
              <a:stretch>
                <a:fillRect l="0" t="-673523" r="0" b="-647129"/>
              </a:stretch>
            </a:blipFill>
          </p:spPr>
        </p:sp>
        <p:sp>
          <p:nvSpPr>
            <p:cNvPr name="TextBox 11" id="11"/>
            <p:cNvSpPr txBox="true"/>
            <p:nvPr/>
          </p:nvSpPr>
          <p:spPr>
            <a:xfrm>
              <a:off x="0" y="0"/>
              <a:ext cx="21336000" cy="585267"/>
            </a:xfrm>
            <a:prstGeom prst="rect">
              <a:avLst/>
            </a:prstGeom>
          </p:spPr>
          <p:txBody>
            <a:bodyPr anchor="ctr" rtlCol="false" tIns="0" lIns="0" bIns="0" rIns="0"/>
            <a:lstStyle/>
            <a:p>
              <a:pPr algn="l">
                <a:lnSpc>
                  <a:spcPts val="2520"/>
                </a:lnSpc>
              </a:pPr>
              <a:r>
                <a:rPr lang="en-US" sz="2100">
                  <a:solidFill>
                    <a:srgbClr val="387F7F"/>
                  </a:solidFill>
                  <a:latin typeface="Inter"/>
                  <a:ea typeface="Inter"/>
                  <a:cs typeface="Inter"/>
                  <a:sym typeface="Inter"/>
                </a:rPr>
                <a:t>BU</a:t>
              </a:r>
              <a:r>
                <a:rPr lang="en-US" sz="2100">
                  <a:solidFill>
                    <a:srgbClr val="387F7F"/>
                  </a:solidFill>
                  <a:latin typeface="Inter"/>
                  <a:ea typeface="Inter"/>
                  <a:cs typeface="Inter"/>
                  <a:sym typeface="Inter"/>
                </a:rPr>
                <a:t>SINESS INTELLIGENCE WITH POWER BI</a:t>
              </a:r>
            </a:p>
          </p:txBody>
        </p:sp>
      </p:grpSp>
      <p:grpSp>
        <p:nvGrpSpPr>
          <p:cNvPr name="Group 12" id="12"/>
          <p:cNvGrpSpPr/>
          <p:nvPr/>
        </p:nvGrpSpPr>
        <p:grpSpPr>
          <a:xfrm rot="0">
            <a:off x="1143000" y="3349571"/>
            <a:ext cx="16002000" cy="691139"/>
            <a:chOff x="0" y="0"/>
            <a:chExt cx="21336000" cy="921519"/>
          </a:xfrm>
        </p:grpSpPr>
        <p:sp>
          <p:nvSpPr>
            <p:cNvPr name="Freeform 13" id="13"/>
            <p:cNvSpPr/>
            <p:nvPr/>
          </p:nvSpPr>
          <p:spPr>
            <a:xfrm flipH="false" flipV="false" rot="0">
              <a:off x="0" y="0"/>
              <a:ext cx="21336000" cy="921512"/>
            </a:xfrm>
            <a:custGeom>
              <a:avLst/>
              <a:gdLst/>
              <a:ahLst/>
              <a:cxnLst/>
              <a:rect r="r" b="b" t="t" l="l"/>
              <a:pathLst>
                <a:path h="921512" w="21336000">
                  <a:moveTo>
                    <a:pt x="0" y="0"/>
                  </a:moveTo>
                  <a:lnTo>
                    <a:pt x="21336000" y="0"/>
                  </a:lnTo>
                  <a:lnTo>
                    <a:pt x="21336000" y="921512"/>
                  </a:lnTo>
                  <a:lnTo>
                    <a:pt x="0" y="921512"/>
                  </a:lnTo>
                  <a:close/>
                </a:path>
              </a:pathLst>
            </a:custGeom>
            <a:blipFill>
              <a:blip r:embed="rId6">
                <a:alphaModFix amt="0"/>
              </a:blip>
              <a:stretch>
                <a:fillRect l="0" t="-414387" r="0" b="-387897"/>
              </a:stretch>
            </a:blipFill>
          </p:spPr>
        </p:sp>
        <p:sp>
          <p:nvSpPr>
            <p:cNvPr name="TextBox 14" id="14"/>
            <p:cNvSpPr txBox="true"/>
            <p:nvPr/>
          </p:nvSpPr>
          <p:spPr>
            <a:xfrm>
              <a:off x="0" y="-9525"/>
              <a:ext cx="21336000" cy="931044"/>
            </a:xfrm>
            <a:prstGeom prst="rect">
              <a:avLst/>
            </a:prstGeom>
          </p:spPr>
          <p:txBody>
            <a:bodyPr anchor="ctr" rtlCol="false" tIns="0" lIns="0" bIns="0" rIns="0"/>
            <a:lstStyle/>
            <a:p>
              <a:pPr algn="l">
                <a:lnSpc>
                  <a:spcPts val="3960"/>
                </a:lnSpc>
              </a:pPr>
              <a:r>
                <a:rPr lang="en-US" b="true" sz="3300">
                  <a:solidFill>
                    <a:srgbClr val="64748B"/>
                  </a:solidFill>
                  <a:latin typeface="Inter Medium"/>
                  <a:ea typeface="Inter Medium"/>
                  <a:cs typeface="Inter Medium"/>
                  <a:sym typeface="Inter Medium"/>
                </a:rPr>
                <a:t>Module 7: Loading, Modelling and Dashboards</a:t>
              </a:r>
            </a:p>
          </p:txBody>
        </p:sp>
      </p:grpSp>
      <p:grpSp>
        <p:nvGrpSpPr>
          <p:cNvPr name="Group 15" id="15"/>
          <p:cNvGrpSpPr/>
          <p:nvPr/>
        </p:nvGrpSpPr>
        <p:grpSpPr>
          <a:xfrm rot="0">
            <a:off x="1143000" y="8572500"/>
            <a:ext cx="16002000" cy="28804"/>
            <a:chOff x="0" y="0"/>
            <a:chExt cx="21336000" cy="38405"/>
          </a:xfrm>
        </p:grpSpPr>
        <p:sp>
          <p:nvSpPr>
            <p:cNvPr name="Freeform 16" id="16"/>
            <p:cNvSpPr/>
            <p:nvPr/>
          </p:nvSpPr>
          <p:spPr>
            <a:xfrm flipH="false" flipV="false" rot="0">
              <a:off x="0" y="0"/>
              <a:ext cx="21336000" cy="38354"/>
            </a:xfrm>
            <a:custGeom>
              <a:avLst/>
              <a:gdLst/>
              <a:ahLst/>
              <a:cxnLst/>
              <a:rect r="r" b="b" t="t" l="l"/>
              <a:pathLst>
                <a:path h="38354" w="21336000">
                  <a:moveTo>
                    <a:pt x="0" y="0"/>
                  </a:moveTo>
                  <a:lnTo>
                    <a:pt x="21336000" y="0"/>
                  </a:lnTo>
                  <a:lnTo>
                    <a:pt x="21336000" y="38354"/>
                  </a:lnTo>
                  <a:lnTo>
                    <a:pt x="0" y="38354"/>
                  </a:lnTo>
                  <a:close/>
                </a:path>
              </a:pathLst>
            </a:custGeom>
            <a:solidFill>
              <a:srgbClr val="E2E8F0"/>
            </a:solidFill>
          </p:spPr>
        </p:sp>
      </p:grpSp>
      <p:grpSp>
        <p:nvGrpSpPr>
          <p:cNvPr name="Group 17" id="17"/>
          <p:cNvGrpSpPr/>
          <p:nvPr/>
        </p:nvGrpSpPr>
        <p:grpSpPr>
          <a:xfrm rot="0">
            <a:off x="1143000" y="9001125"/>
            <a:ext cx="385648" cy="342900"/>
            <a:chOff x="0" y="0"/>
            <a:chExt cx="514198" cy="457200"/>
          </a:xfrm>
        </p:grpSpPr>
        <p:sp>
          <p:nvSpPr>
            <p:cNvPr name="Freeform 18" id="18"/>
            <p:cNvSpPr/>
            <p:nvPr/>
          </p:nvSpPr>
          <p:spPr>
            <a:xfrm flipH="false" flipV="false" rot="0">
              <a:off x="0" y="0"/>
              <a:ext cx="514223" cy="457200"/>
            </a:xfrm>
            <a:custGeom>
              <a:avLst/>
              <a:gdLst/>
              <a:ahLst/>
              <a:cxnLst/>
              <a:rect r="r" b="b" t="t" l="l"/>
              <a:pathLst>
                <a:path h="457200" w="514223">
                  <a:moveTo>
                    <a:pt x="0" y="0"/>
                  </a:moveTo>
                  <a:lnTo>
                    <a:pt x="514223" y="0"/>
                  </a:lnTo>
                  <a:lnTo>
                    <a:pt x="514223" y="457200"/>
                  </a:lnTo>
                  <a:lnTo>
                    <a:pt x="0" y="457200"/>
                  </a:lnTo>
                  <a:lnTo>
                    <a:pt x="0" y="0"/>
                  </a:lnTo>
                  <a:close/>
                </a:path>
              </a:pathLst>
            </a:custGeom>
            <a:blipFill>
              <a:blip r:embed="rId7"/>
              <a:stretch>
                <a:fillRect l="0" t="0" r="-24" b="0"/>
              </a:stretch>
            </a:blipFill>
          </p:spPr>
        </p:sp>
      </p:grpSp>
      <p:grpSp>
        <p:nvGrpSpPr>
          <p:cNvPr name="Group 19" id="19"/>
          <p:cNvGrpSpPr/>
          <p:nvPr/>
        </p:nvGrpSpPr>
        <p:grpSpPr>
          <a:xfrm rot="0">
            <a:off x="1643062" y="9001125"/>
            <a:ext cx="2143354" cy="438950"/>
            <a:chOff x="0" y="0"/>
            <a:chExt cx="2857805" cy="585267"/>
          </a:xfrm>
        </p:grpSpPr>
        <p:sp>
          <p:nvSpPr>
            <p:cNvPr name="Freeform 20" id="20"/>
            <p:cNvSpPr/>
            <p:nvPr/>
          </p:nvSpPr>
          <p:spPr>
            <a:xfrm flipH="false" flipV="false" rot="0">
              <a:off x="0" y="0"/>
              <a:ext cx="2857800" cy="585270"/>
            </a:xfrm>
            <a:custGeom>
              <a:avLst/>
              <a:gdLst/>
              <a:ahLst/>
              <a:cxnLst/>
              <a:rect r="r" b="b" t="t" l="l"/>
              <a:pathLst>
                <a:path h="585270" w="2857800">
                  <a:moveTo>
                    <a:pt x="0" y="0"/>
                  </a:moveTo>
                  <a:lnTo>
                    <a:pt x="2857800" y="0"/>
                  </a:lnTo>
                  <a:lnTo>
                    <a:pt x="2857800" y="585270"/>
                  </a:lnTo>
                  <a:lnTo>
                    <a:pt x="0" y="585270"/>
                  </a:lnTo>
                  <a:close/>
                </a:path>
              </a:pathLst>
            </a:custGeom>
            <a:blipFill>
              <a:blip r:embed="rId6">
                <a:alphaModFix amt="0"/>
              </a:blip>
              <a:stretch>
                <a:fillRect l="0" t="-58339" r="0" b="-31946"/>
              </a:stretch>
            </a:blipFill>
          </p:spPr>
        </p:sp>
        <p:sp>
          <p:nvSpPr>
            <p:cNvPr name="TextBox 21" id="21"/>
            <p:cNvSpPr txBox="true"/>
            <p:nvPr/>
          </p:nvSpPr>
          <p:spPr>
            <a:xfrm>
              <a:off x="0" y="0"/>
              <a:ext cx="2857805" cy="585267"/>
            </a:xfrm>
            <a:prstGeom prst="rect">
              <a:avLst/>
            </a:prstGeom>
          </p:spPr>
          <p:txBody>
            <a:bodyPr anchor="ctr" rtlCol="false" tIns="0" lIns="0" bIns="0" rIns="0"/>
            <a:lstStyle/>
            <a:p>
              <a:pPr algn="l">
                <a:lnSpc>
                  <a:spcPts val="2520"/>
                </a:lnSpc>
              </a:pPr>
              <a:r>
                <a:rPr lang="en-US" sz="2100">
                  <a:solidFill>
                    <a:srgbClr val="64748B"/>
                  </a:solidFill>
                  <a:latin typeface="Inter"/>
                  <a:ea typeface="Inter"/>
                  <a:cs typeface="Inter"/>
                  <a:sym typeface="Inter"/>
                </a:rPr>
                <a:t>Topic 4 of 6</a:t>
              </a:r>
            </a:p>
          </p:txBody>
        </p:sp>
      </p:grpSp>
      <p:sp>
        <p:nvSpPr>
          <p:cNvPr name="Freeform 22" id="22"/>
          <p:cNvSpPr/>
          <p:nvPr/>
        </p:nvSpPr>
        <p:spPr>
          <a:xfrm flipH="false" flipV="false" rot="0">
            <a:off x="1143000" y="552450"/>
            <a:ext cx="2124669" cy="1845806"/>
          </a:xfrm>
          <a:custGeom>
            <a:avLst/>
            <a:gdLst/>
            <a:ahLst/>
            <a:cxnLst/>
            <a:rect r="r" b="b" t="t" l="l"/>
            <a:pathLst>
              <a:path h="1845806" w="2124669">
                <a:moveTo>
                  <a:pt x="0" y="0"/>
                </a:moveTo>
                <a:lnTo>
                  <a:pt x="2124669" y="0"/>
                </a:lnTo>
                <a:lnTo>
                  <a:pt x="2124669" y="1845806"/>
                </a:lnTo>
                <a:lnTo>
                  <a:pt x="0" y="1845806"/>
                </a:lnTo>
                <a:lnTo>
                  <a:pt x="0" y="0"/>
                </a:lnTo>
                <a:close/>
              </a:path>
            </a:pathLst>
          </a:custGeom>
          <a:blipFill>
            <a:blip r:embed="rId8"/>
            <a:stretch>
              <a:fillRect l="0" t="0" r="0" b="0"/>
            </a:stretch>
          </a:blipFill>
        </p:spPr>
      </p:sp>
      <p:grpSp>
        <p:nvGrpSpPr>
          <p:cNvPr name="Group 23" id="23"/>
          <p:cNvGrpSpPr/>
          <p:nvPr/>
        </p:nvGrpSpPr>
        <p:grpSpPr>
          <a:xfrm rot="0">
            <a:off x="11001070" y="1733550"/>
            <a:ext cx="6258230" cy="6258230"/>
            <a:chOff x="0" y="0"/>
            <a:chExt cx="8890000" cy="8890000"/>
          </a:xfrm>
        </p:grpSpPr>
        <p:sp>
          <p:nvSpPr>
            <p:cNvPr name="Freeform 24" id="24"/>
            <p:cNvSpPr/>
            <p:nvPr/>
          </p:nvSpPr>
          <p:spPr>
            <a:xfrm flipH="false" flipV="false" rot="0">
              <a:off x="0" y="0"/>
              <a:ext cx="8890000" cy="8890000"/>
            </a:xfrm>
            <a:custGeom>
              <a:avLst/>
              <a:gdLst/>
              <a:ahLst/>
              <a:cxnLst/>
              <a:rect r="r" b="b" t="t" l="l"/>
              <a:pathLst>
                <a:path h="8890000" w="8890000">
                  <a:moveTo>
                    <a:pt x="270611" y="0"/>
                  </a:moveTo>
                  <a:lnTo>
                    <a:pt x="8619389" y="0"/>
                  </a:lnTo>
                  <a:cubicBezTo>
                    <a:pt x="8768843" y="0"/>
                    <a:pt x="8890000" y="121157"/>
                    <a:pt x="8890000" y="270611"/>
                  </a:cubicBezTo>
                  <a:lnTo>
                    <a:pt x="8890000" y="8619389"/>
                  </a:lnTo>
                  <a:cubicBezTo>
                    <a:pt x="8890000" y="8768843"/>
                    <a:pt x="8768843" y="8890000"/>
                    <a:pt x="8619389" y="8890000"/>
                  </a:cubicBezTo>
                  <a:lnTo>
                    <a:pt x="270611" y="8890000"/>
                  </a:lnTo>
                  <a:cubicBezTo>
                    <a:pt x="121157" y="8890000"/>
                    <a:pt x="0" y="8768843"/>
                    <a:pt x="0" y="8619389"/>
                  </a:cubicBezTo>
                  <a:lnTo>
                    <a:pt x="0" y="270611"/>
                  </a:lnTo>
                  <a:cubicBezTo>
                    <a:pt x="0" y="121157"/>
                    <a:pt x="121157" y="0"/>
                    <a:pt x="270611" y="0"/>
                  </a:cubicBezTo>
                  <a:close/>
                </a:path>
              </a:pathLst>
            </a:custGeom>
            <a:blipFill>
              <a:blip r:embed="rId9"/>
              <a:stretch>
                <a:fillRect l="-24489" t="0" r="-24489" b="0"/>
              </a:stretch>
            </a:blipFill>
          </p:spPr>
        </p:sp>
      </p:grpSp>
      <p:grpSp>
        <p:nvGrpSpPr>
          <p:cNvPr name="Group 25" id="25"/>
          <p:cNvGrpSpPr/>
          <p:nvPr/>
        </p:nvGrpSpPr>
        <p:grpSpPr>
          <a:xfrm rot="0">
            <a:off x="16497824" y="8924125"/>
            <a:ext cx="647224" cy="571500"/>
            <a:chOff x="0" y="0"/>
            <a:chExt cx="862965" cy="762000"/>
          </a:xfrm>
        </p:grpSpPr>
        <p:sp>
          <p:nvSpPr>
            <p:cNvPr name="Freeform 26" id="2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10"/>
              <a:stretch>
                <a:fillRect l="-772" t="0" r="-772" b="0"/>
              </a:stretch>
            </a:blipFill>
          </p:spPr>
        </p:sp>
      </p:grpSp>
      <p:sp>
        <p:nvSpPr>
          <p:cNvPr name="TextBox 27" id="27"/>
          <p:cNvSpPr txBox="true"/>
          <p:nvPr/>
        </p:nvSpPr>
        <p:spPr>
          <a:xfrm rot="0">
            <a:off x="1143000" y="4116229"/>
            <a:ext cx="8256091" cy="2606673"/>
          </a:xfrm>
          <a:prstGeom prst="rect">
            <a:avLst/>
          </a:prstGeom>
        </p:spPr>
        <p:txBody>
          <a:bodyPr anchor="t" rtlCol="false" tIns="0" lIns="0" bIns="0" rIns="0">
            <a:spAutoFit/>
          </a:bodyPr>
          <a:lstStyle/>
          <a:p>
            <a:pPr algn="l">
              <a:lnSpc>
                <a:spcPts val="10000"/>
              </a:lnSpc>
            </a:pPr>
            <a:r>
              <a:rPr lang="en-US" sz="8000" b="true">
                <a:solidFill>
                  <a:srgbClr val="000000"/>
                </a:solidFill>
                <a:latin typeface="Poppins Bold"/>
                <a:ea typeface="Poppins Bold"/>
                <a:cs typeface="Poppins Bold"/>
                <a:sym typeface="Poppins Bold"/>
              </a:rPr>
              <a:t>KPI Dashboards</a:t>
            </a:r>
          </a:p>
          <a:p>
            <a:pPr algn="l">
              <a:lnSpc>
                <a:spcPts val="10000"/>
              </a:lnSpc>
            </a:pPr>
            <a:r>
              <a:rPr lang="en-US" b="true" sz="8000">
                <a:solidFill>
                  <a:srgbClr val="387F7F"/>
                </a:solidFill>
                <a:latin typeface="Poppins Bold"/>
                <a:ea typeface="Poppins Bold"/>
                <a:cs typeface="Poppins Bold"/>
                <a:sym typeface="Poppins Bold"/>
              </a:rPr>
              <a:t>and Publishing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97315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By th</a:t>
            </a:r>
            <a:r>
              <a:rPr lang="en-US" sz="5000">
                <a:solidFill>
                  <a:srgbClr val="388080"/>
                </a:solidFill>
                <a:latin typeface="Poppins"/>
                <a:ea typeface="Poppins"/>
                <a:cs typeface="Poppins"/>
                <a:sym typeface="Poppins"/>
              </a:rPr>
              <a:t>e end of this topic, the trainee can…</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14400" y="2938091"/>
            <a:ext cx="4869180" cy="4800600"/>
            <a:chOff x="0" y="0"/>
            <a:chExt cx="6492240" cy="6400800"/>
          </a:xfrm>
        </p:grpSpPr>
        <p:sp>
          <p:nvSpPr>
            <p:cNvPr name="Freeform 12" id="12"/>
            <p:cNvSpPr/>
            <p:nvPr/>
          </p:nvSpPr>
          <p:spPr>
            <a:xfrm flipH="false" flipV="false" rot="0">
              <a:off x="0" y="0"/>
              <a:ext cx="6492240" cy="6400800"/>
            </a:xfrm>
            <a:custGeom>
              <a:avLst/>
              <a:gdLst/>
              <a:ahLst/>
              <a:cxnLst/>
              <a:rect r="r" b="b" t="t" l="l"/>
              <a:pathLst>
                <a:path h="6400800" w="6492240">
                  <a:moveTo>
                    <a:pt x="0" y="182880"/>
                  </a:moveTo>
                  <a:cubicBezTo>
                    <a:pt x="0" y="81915"/>
                    <a:pt x="81915" y="0"/>
                    <a:pt x="182880" y="0"/>
                  </a:cubicBezTo>
                  <a:lnTo>
                    <a:pt x="6309360" y="0"/>
                  </a:lnTo>
                  <a:cubicBezTo>
                    <a:pt x="6410325" y="0"/>
                    <a:pt x="6492240" y="81915"/>
                    <a:pt x="6492240" y="182880"/>
                  </a:cubicBezTo>
                  <a:lnTo>
                    <a:pt x="6492240" y="6217920"/>
                  </a:lnTo>
                  <a:cubicBezTo>
                    <a:pt x="6492240" y="6318885"/>
                    <a:pt x="6410325" y="6400800"/>
                    <a:pt x="6309360" y="6400800"/>
                  </a:cubicBezTo>
                  <a:lnTo>
                    <a:pt x="182880" y="6400800"/>
                  </a:lnTo>
                  <a:cubicBezTo>
                    <a:pt x="81915" y="6400800"/>
                    <a:pt x="0" y="6318885"/>
                    <a:pt x="0" y="6217920"/>
                  </a:cubicBezTo>
                  <a:close/>
                </a:path>
              </a:pathLst>
            </a:custGeom>
            <a:solidFill>
              <a:srgbClr val="FFFFFF"/>
            </a:solidFill>
          </p:spPr>
        </p:sp>
      </p:grpSp>
      <p:grpSp>
        <p:nvGrpSpPr>
          <p:cNvPr name="Group 13" id="13"/>
          <p:cNvGrpSpPr/>
          <p:nvPr/>
        </p:nvGrpSpPr>
        <p:grpSpPr>
          <a:xfrm rot="0">
            <a:off x="914400" y="2938091"/>
            <a:ext cx="4869180" cy="123444"/>
            <a:chOff x="0" y="0"/>
            <a:chExt cx="6492240" cy="164592"/>
          </a:xfrm>
        </p:grpSpPr>
        <p:sp>
          <p:nvSpPr>
            <p:cNvPr name="Freeform 14" id="14"/>
            <p:cNvSpPr/>
            <p:nvPr/>
          </p:nvSpPr>
          <p:spPr>
            <a:xfrm flipH="false" flipV="false" rot="0">
              <a:off x="0" y="0"/>
              <a:ext cx="6492240" cy="164592"/>
            </a:xfrm>
            <a:custGeom>
              <a:avLst/>
              <a:gdLst/>
              <a:ahLst/>
              <a:cxnLst/>
              <a:rect r="r" b="b" t="t" l="l"/>
              <a:pathLst>
                <a:path h="164592" w="6492240">
                  <a:moveTo>
                    <a:pt x="0" y="0"/>
                  </a:moveTo>
                  <a:lnTo>
                    <a:pt x="6492240" y="0"/>
                  </a:lnTo>
                  <a:lnTo>
                    <a:pt x="6492240" y="164592"/>
                  </a:lnTo>
                  <a:lnTo>
                    <a:pt x="0" y="164592"/>
                  </a:lnTo>
                  <a:close/>
                </a:path>
              </a:pathLst>
            </a:custGeom>
            <a:solidFill>
              <a:srgbClr val="387F7F"/>
            </a:solidFill>
          </p:spPr>
        </p:sp>
      </p:grpSp>
      <p:grpSp>
        <p:nvGrpSpPr>
          <p:cNvPr name="Group 15" id="15"/>
          <p:cNvGrpSpPr/>
          <p:nvPr/>
        </p:nvGrpSpPr>
        <p:grpSpPr>
          <a:xfrm rot="0">
            <a:off x="2838545" y="3607222"/>
            <a:ext cx="1020890" cy="1020890"/>
            <a:chOff x="0" y="0"/>
            <a:chExt cx="1361186" cy="1361186"/>
          </a:xfrm>
        </p:grpSpPr>
        <p:sp>
          <p:nvSpPr>
            <p:cNvPr name="Freeform 16" id="16"/>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17" id="17"/>
          <p:cNvGrpSpPr/>
          <p:nvPr/>
        </p:nvGrpSpPr>
        <p:grpSpPr>
          <a:xfrm rot="0">
            <a:off x="2855214" y="3623891"/>
            <a:ext cx="987552" cy="987552"/>
            <a:chOff x="0" y="0"/>
            <a:chExt cx="1316736" cy="1316736"/>
          </a:xfrm>
        </p:grpSpPr>
        <p:sp>
          <p:nvSpPr>
            <p:cNvPr name="Freeform 18" id="18"/>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19" id="19"/>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grpSp>
        <p:nvGrpSpPr>
          <p:cNvPr name="Group 20" id="20"/>
          <p:cNvGrpSpPr/>
          <p:nvPr/>
        </p:nvGrpSpPr>
        <p:grpSpPr>
          <a:xfrm rot="0">
            <a:off x="914400" y="4926911"/>
            <a:ext cx="4869180" cy="685800"/>
            <a:chOff x="0" y="0"/>
            <a:chExt cx="6492240" cy="914400"/>
          </a:xfrm>
        </p:grpSpPr>
        <p:sp>
          <p:nvSpPr>
            <p:cNvPr name="Freeform 21" id="21"/>
            <p:cNvSpPr/>
            <p:nvPr/>
          </p:nvSpPr>
          <p:spPr>
            <a:xfrm flipH="false" flipV="false" rot="0">
              <a:off x="0" y="0"/>
              <a:ext cx="6492240" cy="914400"/>
            </a:xfrm>
            <a:custGeom>
              <a:avLst/>
              <a:gdLst/>
              <a:ahLst/>
              <a:cxnLst/>
              <a:rect r="r" b="b" t="t" l="l"/>
              <a:pathLst>
                <a:path h="914400" w="6492240">
                  <a:moveTo>
                    <a:pt x="0" y="0"/>
                  </a:moveTo>
                  <a:lnTo>
                    <a:pt x="6492240" y="0"/>
                  </a:lnTo>
                  <a:lnTo>
                    <a:pt x="6492240" y="914400"/>
                  </a:lnTo>
                  <a:lnTo>
                    <a:pt x="0" y="914400"/>
                  </a:lnTo>
                  <a:close/>
                </a:path>
              </a:pathLst>
            </a:custGeom>
            <a:blipFill>
              <a:blip r:embed="rId9">
                <a:alphaModFix amt="0"/>
              </a:blip>
              <a:stretch>
                <a:fillRect l="0" t="-88343" r="0" b="-88343"/>
              </a:stretch>
            </a:blipFill>
          </p:spPr>
        </p:sp>
        <p:sp>
          <p:nvSpPr>
            <p:cNvPr name="TextBox 22" id="22"/>
            <p:cNvSpPr txBox="true"/>
            <p:nvPr/>
          </p:nvSpPr>
          <p:spPr>
            <a:xfrm>
              <a:off x="0" y="-19050"/>
              <a:ext cx="6492240" cy="933450"/>
            </a:xfrm>
            <a:prstGeom prst="rect">
              <a:avLst/>
            </a:prstGeom>
          </p:spPr>
          <p:txBody>
            <a:bodyPr anchor="ctr" rtlCol="false" tIns="0" lIns="0" bIns="0" rIns="0"/>
            <a:lstStyle/>
            <a:p>
              <a:pPr algn="ctr">
                <a:lnSpc>
                  <a:spcPts val="3779"/>
                </a:lnSpc>
              </a:pPr>
              <a:r>
                <a:rPr lang="en-US" sz="3150" b="true">
                  <a:solidFill>
                    <a:srgbClr val="387F7F"/>
                  </a:solidFill>
                  <a:latin typeface="Poppins Bold"/>
                  <a:ea typeface="Poppins Bold"/>
                  <a:cs typeface="Poppins Bold"/>
                  <a:sym typeface="Poppins Bold"/>
                </a:rPr>
                <a:t>Design</a:t>
              </a:r>
            </a:p>
          </p:txBody>
        </p:sp>
      </p:grpSp>
      <p:sp>
        <p:nvSpPr>
          <p:cNvPr name="TextBox 23" id="23"/>
          <p:cNvSpPr txBox="true"/>
          <p:nvPr/>
        </p:nvSpPr>
        <p:spPr>
          <a:xfrm rot="0">
            <a:off x="1325880" y="5664146"/>
            <a:ext cx="4046220" cy="1868805"/>
          </a:xfrm>
          <a:prstGeom prst="rect">
            <a:avLst/>
          </a:prstGeom>
        </p:spPr>
        <p:txBody>
          <a:bodyPr anchor="t" rtlCol="false" tIns="0" lIns="0" bIns="0" rIns="0">
            <a:spAutoFit/>
          </a:bodyPr>
          <a:lstStyle/>
          <a:p>
            <a:pPr algn="ctr">
              <a:lnSpc>
                <a:spcPts val="3159"/>
              </a:lnSpc>
            </a:pPr>
            <a:r>
              <a:rPr lang="en-US" sz="2025">
                <a:solidFill>
                  <a:srgbClr val="475569"/>
                </a:solidFill>
                <a:latin typeface="Poppins"/>
                <a:ea typeface="Poppins"/>
                <a:cs typeface="Poppins"/>
                <a:sym typeface="Poppins"/>
              </a:rPr>
              <a:t>a KPI dashboard for a stated business audience.</a:t>
            </a:r>
          </a:p>
        </p:txBody>
      </p:sp>
      <p:grpSp>
        <p:nvGrpSpPr>
          <p:cNvPr name="Group 24" id="24"/>
          <p:cNvGrpSpPr/>
          <p:nvPr/>
        </p:nvGrpSpPr>
        <p:grpSpPr>
          <a:xfrm rot="0">
            <a:off x="6195060" y="2938091"/>
            <a:ext cx="4869180" cy="4800600"/>
            <a:chOff x="0" y="0"/>
            <a:chExt cx="6492240" cy="6400800"/>
          </a:xfrm>
        </p:grpSpPr>
        <p:sp>
          <p:nvSpPr>
            <p:cNvPr name="Freeform 25" id="25"/>
            <p:cNvSpPr/>
            <p:nvPr/>
          </p:nvSpPr>
          <p:spPr>
            <a:xfrm flipH="false" flipV="false" rot="0">
              <a:off x="0" y="0"/>
              <a:ext cx="6492240" cy="6400800"/>
            </a:xfrm>
            <a:custGeom>
              <a:avLst/>
              <a:gdLst/>
              <a:ahLst/>
              <a:cxnLst/>
              <a:rect r="r" b="b" t="t" l="l"/>
              <a:pathLst>
                <a:path h="6400800" w="6492240">
                  <a:moveTo>
                    <a:pt x="0" y="182880"/>
                  </a:moveTo>
                  <a:cubicBezTo>
                    <a:pt x="0" y="81915"/>
                    <a:pt x="81915" y="0"/>
                    <a:pt x="182880" y="0"/>
                  </a:cubicBezTo>
                  <a:lnTo>
                    <a:pt x="6309360" y="0"/>
                  </a:lnTo>
                  <a:cubicBezTo>
                    <a:pt x="6410325" y="0"/>
                    <a:pt x="6492240" y="81915"/>
                    <a:pt x="6492240" y="182880"/>
                  </a:cubicBezTo>
                  <a:lnTo>
                    <a:pt x="6492240" y="6217920"/>
                  </a:lnTo>
                  <a:cubicBezTo>
                    <a:pt x="6492240" y="6318885"/>
                    <a:pt x="6410325" y="6400800"/>
                    <a:pt x="6309360" y="6400800"/>
                  </a:cubicBezTo>
                  <a:lnTo>
                    <a:pt x="182880" y="6400800"/>
                  </a:lnTo>
                  <a:cubicBezTo>
                    <a:pt x="81915" y="6400800"/>
                    <a:pt x="0" y="6318885"/>
                    <a:pt x="0" y="6217920"/>
                  </a:cubicBezTo>
                  <a:close/>
                </a:path>
              </a:pathLst>
            </a:custGeom>
            <a:solidFill>
              <a:srgbClr val="FFFFFF"/>
            </a:solidFill>
          </p:spPr>
        </p:sp>
      </p:grpSp>
      <p:grpSp>
        <p:nvGrpSpPr>
          <p:cNvPr name="Group 26" id="26"/>
          <p:cNvGrpSpPr/>
          <p:nvPr/>
        </p:nvGrpSpPr>
        <p:grpSpPr>
          <a:xfrm rot="0">
            <a:off x="6195060" y="2938091"/>
            <a:ext cx="4869180" cy="123444"/>
            <a:chOff x="0" y="0"/>
            <a:chExt cx="6492240" cy="164592"/>
          </a:xfrm>
        </p:grpSpPr>
        <p:sp>
          <p:nvSpPr>
            <p:cNvPr name="Freeform 27" id="27"/>
            <p:cNvSpPr/>
            <p:nvPr/>
          </p:nvSpPr>
          <p:spPr>
            <a:xfrm flipH="false" flipV="false" rot="0">
              <a:off x="0" y="0"/>
              <a:ext cx="6492240" cy="164592"/>
            </a:xfrm>
            <a:custGeom>
              <a:avLst/>
              <a:gdLst/>
              <a:ahLst/>
              <a:cxnLst/>
              <a:rect r="r" b="b" t="t" l="l"/>
              <a:pathLst>
                <a:path h="164592" w="6492240">
                  <a:moveTo>
                    <a:pt x="0" y="0"/>
                  </a:moveTo>
                  <a:lnTo>
                    <a:pt x="6492240" y="0"/>
                  </a:lnTo>
                  <a:lnTo>
                    <a:pt x="6492240" y="164592"/>
                  </a:lnTo>
                  <a:lnTo>
                    <a:pt x="0" y="164592"/>
                  </a:lnTo>
                  <a:close/>
                </a:path>
              </a:pathLst>
            </a:custGeom>
            <a:solidFill>
              <a:srgbClr val="387F7F"/>
            </a:solidFill>
          </p:spPr>
        </p:sp>
      </p:grpSp>
      <p:grpSp>
        <p:nvGrpSpPr>
          <p:cNvPr name="Group 28" id="28"/>
          <p:cNvGrpSpPr/>
          <p:nvPr/>
        </p:nvGrpSpPr>
        <p:grpSpPr>
          <a:xfrm rot="0">
            <a:off x="8119205" y="3607222"/>
            <a:ext cx="1020890" cy="1020890"/>
            <a:chOff x="0" y="0"/>
            <a:chExt cx="1361186" cy="1361186"/>
          </a:xfrm>
        </p:grpSpPr>
        <p:sp>
          <p:nvSpPr>
            <p:cNvPr name="Freeform 29" id="29"/>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30" id="30"/>
          <p:cNvGrpSpPr/>
          <p:nvPr/>
        </p:nvGrpSpPr>
        <p:grpSpPr>
          <a:xfrm rot="0">
            <a:off x="8135874" y="3623891"/>
            <a:ext cx="987552" cy="987552"/>
            <a:chOff x="0" y="0"/>
            <a:chExt cx="1316736" cy="1316736"/>
          </a:xfrm>
        </p:grpSpPr>
        <p:sp>
          <p:nvSpPr>
            <p:cNvPr name="Freeform 31" id="31"/>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32" id="32"/>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grpSp>
        <p:nvGrpSpPr>
          <p:cNvPr name="Group 33" id="33"/>
          <p:cNvGrpSpPr/>
          <p:nvPr/>
        </p:nvGrpSpPr>
        <p:grpSpPr>
          <a:xfrm rot="0">
            <a:off x="6195060" y="4926911"/>
            <a:ext cx="4869180" cy="685800"/>
            <a:chOff x="0" y="0"/>
            <a:chExt cx="6492240" cy="914400"/>
          </a:xfrm>
        </p:grpSpPr>
        <p:sp>
          <p:nvSpPr>
            <p:cNvPr name="Freeform 34" id="34"/>
            <p:cNvSpPr/>
            <p:nvPr/>
          </p:nvSpPr>
          <p:spPr>
            <a:xfrm flipH="false" flipV="false" rot="0">
              <a:off x="0" y="0"/>
              <a:ext cx="6492240" cy="914400"/>
            </a:xfrm>
            <a:custGeom>
              <a:avLst/>
              <a:gdLst/>
              <a:ahLst/>
              <a:cxnLst/>
              <a:rect r="r" b="b" t="t" l="l"/>
              <a:pathLst>
                <a:path h="914400" w="6492240">
                  <a:moveTo>
                    <a:pt x="0" y="0"/>
                  </a:moveTo>
                  <a:lnTo>
                    <a:pt x="6492240" y="0"/>
                  </a:lnTo>
                  <a:lnTo>
                    <a:pt x="6492240" y="914400"/>
                  </a:lnTo>
                  <a:lnTo>
                    <a:pt x="0" y="914400"/>
                  </a:lnTo>
                  <a:close/>
                </a:path>
              </a:pathLst>
            </a:custGeom>
            <a:blipFill>
              <a:blip r:embed="rId9">
                <a:alphaModFix amt="0"/>
              </a:blip>
              <a:stretch>
                <a:fillRect l="0" t="-88343" r="0" b="-88343"/>
              </a:stretch>
            </a:blipFill>
          </p:spPr>
        </p:sp>
        <p:sp>
          <p:nvSpPr>
            <p:cNvPr name="TextBox 35" id="35"/>
            <p:cNvSpPr txBox="true"/>
            <p:nvPr/>
          </p:nvSpPr>
          <p:spPr>
            <a:xfrm>
              <a:off x="0" y="-19050"/>
              <a:ext cx="6492240" cy="933450"/>
            </a:xfrm>
            <a:prstGeom prst="rect">
              <a:avLst/>
            </a:prstGeom>
          </p:spPr>
          <p:txBody>
            <a:bodyPr anchor="ctr" rtlCol="false" tIns="0" lIns="0" bIns="0" rIns="0"/>
            <a:lstStyle/>
            <a:p>
              <a:pPr algn="ctr">
                <a:lnSpc>
                  <a:spcPts val="3779"/>
                </a:lnSpc>
              </a:pPr>
              <a:r>
                <a:rPr lang="en-US" sz="3150" b="true">
                  <a:solidFill>
                    <a:srgbClr val="387F7F"/>
                  </a:solidFill>
                  <a:latin typeface="Poppins Bold"/>
                  <a:ea typeface="Poppins Bold"/>
                  <a:cs typeface="Poppins Bold"/>
                  <a:sym typeface="Poppins Bold"/>
                </a:rPr>
                <a:t>Apply</a:t>
              </a:r>
            </a:p>
          </p:txBody>
        </p:sp>
      </p:grpSp>
      <p:sp>
        <p:nvSpPr>
          <p:cNvPr name="TextBox 36" id="36"/>
          <p:cNvSpPr txBox="true"/>
          <p:nvPr/>
        </p:nvSpPr>
        <p:spPr>
          <a:xfrm rot="0">
            <a:off x="6606540" y="5664146"/>
            <a:ext cx="4046220" cy="1868805"/>
          </a:xfrm>
          <a:prstGeom prst="rect">
            <a:avLst/>
          </a:prstGeom>
        </p:spPr>
        <p:txBody>
          <a:bodyPr anchor="t" rtlCol="false" tIns="0" lIns="0" bIns="0" rIns="0">
            <a:spAutoFit/>
          </a:bodyPr>
          <a:lstStyle/>
          <a:p>
            <a:pPr algn="ctr">
              <a:lnSpc>
                <a:spcPts val="3159"/>
              </a:lnSpc>
            </a:pPr>
            <a:r>
              <a:rPr lang="en-US" sz="2025">
                <a:solidFill>
                  <a:srgbClr val="475569"/>
                </a:solidFill>
                <a:latin typeface="Poppins"/>
                <a:ea typeface="Poppins"/>
                <a:cs typeface="Poppins"/>
                <a:sym typeface="Poppins"/>
              </a:rPr>
              <a:t>interactivity with slicers and drill-downs.</a:t>
            </a:r>
          </a:p>
        </p:txBody>
      </p:sp>
      <p:grpSp>
        <p:nvGrpSpPr>
          <p:cNvPr name="Group 37" id="37"/>
          <p:cNvGrpSpPr/>
          <p:nvPr/>
        </p:nvGrpSpPr>
        <p:grpSpPr>
          <a:xfrm rot="0">
            <a:off x="11475720" y="2938091"/>
            <a:ext cx="4869180" cy="4800600"/>
            <a:chOff x="0" y="0"/>
            <a:chExt cx="6492240" cy="6400800"/>
          </a:xfrm>
        </p:grpSpPr>
        <p:sp>
          <p:nvSpPr>
            <p:cNvPr name="Freeform 38" id="38"/>
            <p:cNvSpPr/>
            <p:nvPr/>
          </p:nvSpPr>
          <p:spPr>
            <a:xfrm flipH="false" flipV="false" rot="0">
              <a:off x="0" y="0"/>
              <a:ext cx="6492240" cy="6400800"/>
            </a:xfrm>
            <a:custGeom>
              <a:avLst/>
              <a:gdLst/>
              <a:ahLst/>
              <a:cxnLst/>
              <a:rect r="r" b="b" t="t" l="l"/>
              <a:pathLst>
                <a:path h="6400800" w="6492240">
                  <a:moveTo>
                    <a:pt x="0" y="182880"/>
                  </a:moveTo>
                  <a:cubicBezTo>
                    <a:pt x="0" y="81915"/>
                    <a:pt x="81915" y="0"/>
                    <a:pt x="182880" y="0"/>
                  </a:cubicBezTo>
                  <a:lnTo>
                    <a:pt x="6309360" y="0"/>
                  </a:lnTo>
                  <a:cubicBezTo>
                    <a:pt x="6410325" y="0"/>
                    <a:pt x="6492240" y="81915"/>
                    <a:pt x="6492240" y="182880"/>
                  </a:cubicBezTo>
                  <a:lnTo>
                    <a:pt x="6492240" y="6217920"/>
                  </a:lnTo>
                  <a:cubicBezTo>
                    <a:pt x="6492240" y="6318885"/>
                    <a:pt x="6410325" y="6400800"/>
                    <a:pt x="6309360" y="6400800"/>
                  </a:cubicBezTo>
                  <a:lnTo>
                    <a:pt x="182880" y="6400800"/>
                  </a:lnTo>
                  <a:cubicBezTo>
                    <a:pt x="81915" y="6400800"/>
                    <a:pt x="0" y="6318885"/>
                    <a:pt x="0" y="6217920"/>
                  </a:cubicBezTo>
                  <a:close/>
                </a:path>
              </a:pathLst>
            </a:custGeom>
            <a:solidFill>
              <a:srgbClr val="FFFFFF"/>
            </a:solidFill>
          </p:spPr>
        </p:sp>
      </p:grpSp>
      <p:grpSp>
        <p:nvGrpSpPr>
          <p:cNvPr name="Group 39" id="39"/>
          <p:cNvGrpSpPr/>
          <p:nvPr/>
        </p:nvGrpSpPr>
        <p:grpSpPr>
          <a:xfrm rot="0">
            <a:off x="11475720" y="2938091"/>
            <a:ext cx="4869180" cy="123444"/>
            <a:chOff x="0" y="0"/>
            <a:chExt cx="6492240" cy="164592"/>
          </a:xfrm>
        </p:grpSpPr>
        <p:sp>
          <p:nvSpPr>
            <p:cNvPr name="Freeform 40" id="40"/>
            <p:cNvSpPr/>
            <p:nvPr/>
          </p:nvSpPr>
          <p:spPr>
            <a:xfrm flipH="false" flipV="false" rot="0">
              <a:off x="0" y="0"/>
              <a:ext cx="6492240" cy="164592"/>
            </a:xfrm>
            <a:custGeom>
              <a:avLst/>
              <a:gdLst/>
              <a:ahLst/>
              <a:cxnLst/>
              <a:rect r="r" b="b" t="t" l="l"/>
              <a:pathLst>
                <a:path h="164592" w="6492240">
                  <a:moveTo>
                    <a:pt x="0" y="0"/>
                  </a:moveTo>
                  <a:lnTo>
                    <a:pt x="6492240" y="0"/>
                  </a:lnTo>
                  <a:lnTo>
                    <a:pt x="6492240" y="164592"/>
                  </a:lnTo>
                  <a:lnTo>
                    <a:pt x="0" y="164592"/>
                  </a:lnTo>
                  <a:close/>
                </a:path>
              </a:pathLst>
            </a:custGeom>
            <a:solidFill>
              <a:srgbClr val="387F7F"/>
            </a:solidFill>
          </p:spPr>
        </p:sp>
      </p:grpSp>
      <p:grpSp>
        <p:nvGrpSpPr>
          <p:cNvPr name="Group 41" id="41"/>
          <p:cNvGrpSpPr/>
          <p:nvPr/>
        </p:nvGrpSpPr>
        <p:grpSpPr>
          <a:xfrm rot="0">
            <a:off x="13399865" y="3607222"/>
            <a:ext cx="1020890" cy="1020890"/>
            <a:chOff x="0" y="0"/>
            <a:chExt cx="1361186" cy="1361186"/>
          </a:xfrm>
        </p:grpSpPr>
        <p:sp>
          <p:nvSpPr>
            <p:cNvPr name="Freeform 42" id="42"/>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43" id="43"/>
          <p:cNvGrpSpPr/>
          <p:nvPr/>
        </p:nvGrpSpPr>
        <p:grpSpPr>
          <a:xfrm rot="0">
            <a:off x="13416534" y="3623891"/>
            <a:ext cx="987552" cy="987552"/>
            <a:chOff x="0" y="0"/>
            <a:chExt cx="1316736" cy="1316736"/>
          </a:xfrm>
        </p:grpSpPr>
        <p:sp>
          <p:nvSpPr>
            <p:cNvPr name="Freeform 44" id="44"/>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45" id="45"/>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grpSp>
        <p:nvGrpSpPr>
          <p:cNvPr name="Group 46" id="46"/>
          <p:cNvGrpSpPr/>
          <p:nvPr/>
        </p:nvGrpSpPr>
        <p:grpSpPr>
          <a:xfrm rot="0">
            <a:off x="11475720" y="4926911"/>
            <a:ext cx="4869180" cy="685800"/>
            <a:chOff x="0" y="0"/>
            <a:chExt cx="6492240" cy="914400"/>
          </a:xfrm>
        </p:grpSpPr>
        <p:sp>
          <p:nvSpPr>
            <p:cNvPr name="Freeform 47" id="47"/>
            <p:cNvSpPr/>
            <p:nvPr/>
          </p:nvSpPr>
          <p:spPr>
            <a:xfrm flipH="false" flipV="false" rot="0">
              <a:off x="0" y="0"/>
              <a:ext cx="6492240" cy="914400"/>
            </a:xfrm>
            <a:custGeom>
              <a:avLst/>
              <a:gdLst/>
              <a:ahLst/>
              <a:cxnLst/>
              <a:rect r="r" b="b" t="t" l="l"/>
              <a:pathLst>
                <a:path h="914400" w="6492240">
                  <a:moveTo>
                    <a:pt x="0" y="0"/>
                  </a:moveTo>
                  <a:lnTo>
                    <a:pt x="6492240" y="0"/>
                  </a:lnTo>
                  <a:lnTo>
                    <a:pt x="6492240" y="914400"/>
                  </a:lnTo>
                  <a:lnTo>
                    <a:pt x="0" y="914400"/>
                  </a:lnTo>
                  <a:close/>
                </a:path>
              </a:pathLst>
            </a:custGeom>
            <a:blipFill>
              <a:blip r:embed="rId9">
                <a:alphaModFix amt="0"/>
              </a:blip>
              <a:stretch>
                <a:fillRect l="0" t="-88343" r="0" b="-88343"/>
              </a:stretch>
            </a:blipFill>
          </p:spPr>
        </p:sp>
        <p:sp>
          <p:nvSpPr>
            <p:cNvPr name="TextBox 48" id="48"/>
            <p:cNvSpPr txBox="true"/>
            <p:nvPr/>
          </p:nvSpPr>
          <p:spPr>
            <a:xfrm>
              <a:off x="0" y="-19050"/>
              <a:ext cx="6492240" cy="933450"/>
            </a:xfrm>
            <a:prstGeom prst="rect">
              <a:avLst/>
            </a:prstGeom>
          </p:spPr>
          <p:txBody>
            <a:bodyPr anchor="ctr" rtlCol="false" tIns="0" lIns="0" bIns="0" rIns="0"/>
            <a:lstStyle/>
            <a:p>
              <a:pPr algn="ctr">
                <a:lnSpc>
                  <a:spcPts val="3779"/>
                </a:lnSpc>
              </a:pPr>
              <a:r>
                <a:rPr lang="en-US" sz="3150" b="true">
                  <a:solidFill>
                    <a:srgbClr val="387F7F"/>
                  </a:solidFill>
                  <a:latin typeface="Poppins Bold"/>
                  <a:ea typeface="Poppins Bold"/>
                  <a:cs typeface="Poppins Bold"/>
                  <a:sym typeface="Poppins Bold"/>
                </a:rPr>
                <a:t>Present</a:t>
              </a:r>
            </a:p>
          </p:txBody>
        </p:sp>
      </p:grpSp>
      <p:sp>
        <p:nvSpPr>
          <p:cNvPr name="TextBox 49" id="49"/>
          <p:cNvSpPr txBox="true"/>
          <p:nvPr/>
        </p:nvSpPr>
        <p:spPr>
          <a:xfrm rot="0">
            <a:off x="11887200" y="5664146"/>
            <a:ext cx="4046220" cy="1868805"/>
          </a:xfrm>
          <a:prstGeom prst="rect">
            <a:avLst/>
          </a:prstGeom>
        </p:spPr>
        <p:txBody>
          <a:bodyPr anchor="t" rtlCol="false" tIns="0" lIns="0" bIns="0" rIns="0">
            <a:spAutoFit/>
          </a:bodyPr>
          <a:lstStyle/>
          <a:p>
            <a:pPr algn="ctr">
              <a:lnSpc>
                <a:spcPts val="3159"/>
              </a:lnSpc>
            </a:pPr>
            <a:r>
              <a:rPr lang="en-US" sz="2025">
                <a:solidFill>
                  <a:srgbClr val="475569"/>
                </a:solidFill>
                <a:latin typeface="Poppins"/>
                <a:ea typeface="Poppins"/>
                <a:cs typeface="Poppins"/>
                <a:sym typeface="Poppins"/>
              </a:rPr>
              <a:t>the dashboard's answers to its owner's questions.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25599" y="920115"/>
            <a:ext cx="10516112" cy="657225"/>
          </a:xfrm>
          <a:prstGeom prst="rect">
            <a:avLst/>
          </a:prstGeom>
        </p:spPr>
        <p:txBody>
          <a:bodyPr anchor="t" rtlCol="false" tIns="0" lIns="0" bIns="0" rIns="0">
            <a:spAutoFit/>
          </a:bodyPr>
          <a:lstStyle/>
          <a:p>
            <a:pPr algn="l">
              <a:lnSpc>
                <a:spcPts val="4800"/>
              </a:lnSpc>
            </a:pPr>
            <a:r>
              <a:rPr lang="en-US" sz="4000">
                <a:solidFill>
                  <a:srgbClr val="388080"/>
                </a:solidFill>
                <a:latin typeface="Poppins"/>
                <a:ea typeface="Poppins"/>
                <a:cs typeface="Poppins"/>
                <a:sym typeface="Poppins"/>
              </a:rPr>
              <a:t>Two dashboards. On</a:t>
            </a:r>
            <a:r>
              <a:rPr lang="en-US" sz="4000">
                <a:solidFill>
                  <a:srgbClr val="388080"/>
                </a:solidFill>
                <a:latin typeface="Poppins"/>
                <a:ea typeface="Poppins"/>
                <a:cs typeface="Poppins"/>
                <a:sym typeface="Poppins"/>
              </a:rPr>
              <a:t>e g</a:t>
            </a:r>
            <a:r>
              <a:rPr lang="en-US" sz="4000">
                <a:solidFill>
                  <a:srgbClr val="388080"/>
                </a:solidFill>
                <a:latin typeface="Poppins"/>
                <a:ea typeface="Poppins"/>
                <a:cs typeface="Poppins"/>
                <a:sym typeface="Poppins"/>
              </a:rPr>
              <a:t>ets opened.</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1795760" y="0"/>
            <a:ext cx="6487668" cy="10287000"/>
            <a:chOff x="0" y="0"/>
            <a:chExt cx="8650224" cy="13716000"/>
          </a:xfrm>
        </p:grpSpPr>
        <p:sp>
          <p:nvSpPr>
            <p:cNvPr name="Freeform 12" id="12"/>
            <p:cNvSpPr/>
            <p:nvPr/>
          </p:nvSpPr>
          <p:spPr>
            <a:xfrm flipH="false" flipV="false" rot="0">
              <a:off x="0" y="0"/>
              <a:ext cx="8650224" cy="13716000"/>
            </a:xfrm>
            <a:custGeom>
              <a:avLst/>
              <a:gdLst/>
              <a:ahLst/>
              <a:cxnLst/>
              <a:rect r="r" b="b" t="t" l="l"/>
              <a:pathLst>
                <a:path h="13716000" w="8650224">
                  <a:moveTo>
                    <a:pt x="0" y="0"/>
                  </a:moveTo>
                  <a:lnTo>
                    <a:pt x="8650224" y="0"/>
                  </a:lnTo>
                  <a:lnTo>
                    <a:pt x="8650224" y="13716000"/>
                  </a:lnTo>
                  <a:lnTo>
                    <a:pt x="0" y="13716000"/>
                  </a:lnTo>
                  <a:close/>
                </a:path>
              </a:pathLst>
            </a:custGeom>
            <a:solidFill>
              <a:srgbClr val="20494A">
                <a:alpha val="14902"/>
              </a:srgbClr>
            </a:solidFill>
          </p:spPr>
        </p:sp>
      </p:grpSp>
      <p:grpSp>
        <p:nvGrpSpPr>
          <p:cNvPr name="Group 13" id="13"/>
          <p:cNvGrpSpPr/>
          <p:nvPr/>
        </p:nvGrpSpPr>
        <p:grpSpPr>
          <a:xfrm rot="0">
            <a:off x="11795760" y="3497580"/>
            <a:ext cx="6309360" cy="1234440"/>
            <a:chOff x="0" y="0"/>
            <a:chExt cx="8412480" cy="1645920"/>
          </a:xfrm>
        </p:grpSpPr>
        <p:sp>
          <p:nvSpPr>
            <p:cNvPr name="Freeform 14" id="14"/>
            <p:cNvSpPr/>
            <p:nvPr/>
          </p:nvSpPr>
          <p:spPr>
            <a:xfrm flipH="false" flipV="false" rot="0">
              <a:off x="0" y="0"/>
              <a:ext cx="8412480" cy="1645920"/>
            </a:xfrm>
            <a:custGeom>
              <a:avLst/>
              <a:gdLst/>
              <a:ahLst/>
              <a:cxnLst/>
              <a:rect r="r" b="b" t="t" l="l"/>
              <a:pathLst>
                <a:path h="1645920" w="8412480">
                  <a:moveTo>
                    <a:pt x="0" y="0"/>
                  </a:moveTo>
                  <a:lnTo>
                    <a:pt x="8412480" y="0"/>
                  </a:lnTo>
                  <a:lnTo>
                    <a:pt x="8412480" y="1645920"/>
                  </a:lnTo>
                  <a:lnTo>
                    <a:pt x="0" y="1645920"/>
                  </a:lnTo>
                  <a:close/>
                </a:path>
              </a:pathLst>
            </a:custGeom>
            <a:blipFill>
              <a:blip r:embed="rId9">
                <a:alphaModFix amt="0"/>
              </a:blip>
              <a:stretch>
                <a:fillRect l="0" t="-49590" r="0" b="-49590"/>
              </a:stretch>
            </a:blipFill>
          </p:spPr>
        </p:sp>
        <p:sp>
          <p:nvSpPr>
            <p:cNvPr name="TextBox 15" id="15"/>
            <p:cNvSpPr txBox="true"/>
            <p:nvPr/>
          </p:nvSpPr>
          <p:spPr>
            <a:xfrm>
              <a:off x="0" y="-66675"/>
              <a:ext cx="8412480" cy="1712595"/>
            </a:xfrm>
            <a:prstGeom prst="rect">
              <a:avLst/>
            </a:prstGeom>
          </p:spPr>
          <p:txBody>
            <a:bodyPr anchor="ctr" rtlCol="false" tIns="0" lIns="0" bIns="0" rIns="0"/>
            <a:lstStyle/>
            <a:p>
              <a:pPr algn="ctr">
                <a:lnSpc>
                  <a:spcPts val="6839"/>
                </a:lnSpc>
              </a:pPr>
              <a:r>
                <a:rPr lang="en-US" b="true" sz="5700">
                  <a:solidFill>
                    <a:srgbClr val="20494A"/>
                  </a:solidFill>
                  <a:latin typeface="Poppins Bold"/>
                  <a:ea typeface="Poppins Bold"/>
                  <a:cs typeface="Poppins Bold"/>
                  <a:sym typeface="Poppins Bold"/>
                </a:rPr>
                <a:t>Restraint</a:t>
              </a:r>
            </a:p>
          </p:txBody>
        </p:sp>
      </p:grpSp>
      <p:grpSp>
        <p:nvGrpSpPr>
          <p:cNvPr name="Group 16" id="16"/>
          <p:cNvGrpSpPr/>
          <p:nvPr/>
        </p:nvGrpSpPr>
        <p:grpSpPr>
          <a:xfrm rot="0">
            <a:off x="11795760" y="4800600"/>
            <a:ext cx="6309360" cy="1371600"/>
            <a:chOff x="0" y="0"/>
            <a:chExt cx="8412480" cy="1828800"/>
          </a:xfrm>
        </p:grpSpPr>
        <p:sp>
          <p:nvSpPr>
            <p:cNvPr name="Freeform 17" id="17"/>
            <p:cNvSpPr/>
            <p:nvPr/>
          </p:nvSpPr>
          <p:spPr>
            <a:xfrm flipH="false" flipV="false" rot="0">
              <a:off x="0" y="0"/>
              <a:ext cx="8412480" cy="1828800"/>
            </a:xfrm>
            <a:custGeom>
              <a:avLst/>
              <a:gdLst/>
              <a:ahLst/>
              <a:cxnLst/>
              <a:rect r="r" b="b" t="t" l="l"/>
              <a:pathLst>
                <a:path h="1828800" w="8412480">
                  <a:moveTo>
                    <a:pt x="0" y="0"/>
                  </a:moveTo>
                  <a:lnTo>
                    <a:pt x="8412480" y="0"/>
                  </a:lnTo>
                  <a:lnTo>
                    <a:pt x="8412480" y="1828800"/>
                  </a:lnTo>
                  <a:lnTo>
                    <a:pt x="0" y="1828800"/>
                  </a:lnTo>
                  <a:close/>
                </a:path>
              </a:pathLst>
            </a:custGeom>
            <a:blipFill>
              <a:blip r:embed="rId9">
                <a:alphaModFix amt="0"/>
              </a:blip>
              <a:stretch>
                <a:fillRect l="0" t="-39631" r="0" b="-39631"/>
              </a:stretch>
            </a:blipFill>
          </p:spPr>
        </p:sp>
        <p:sp>
          <p:nvSpPr>
            <p:cNvPr name="TextBox 18" id="18"/>
            <p:cNvSpPr txBox="true"/>
            <p:nvPr/>
          </p:nvSpPr>
          <p:spPr>
            <a:xfrm>
              <a:off x="0" y="-114300"/>
              <a:ext cx="8412480" cy="1943100"/>
            </a:xfrm>
            <a:prstGeom prst="rect">
              <a:avLst/>
            </a:prstGeom>
          </p:spPr>
          <p:txBody>
            <a:bodyPr anchor="ctr" rtlCol="false" tIns="0" lIns="0" bIns="0" rIns="0"/>
            <a:lstStyle/>
            <a:p>
              <a:pPr algn="ctr">
                <a:lnSpc>
                  <a:spcPts val="3978"/>
                </a:lnSpc>
              </a:pPr>
              <a:r>
                <a:rPr lang="en-US" sz="2550">
                  <a:solidFill>
                    <a:srgbClr val="388080"/>
                  </a:solidFill>
                  <a:latin typeface="Poppins"/>
                  <a:ea typeface="Poppins"/>
                  <a:cs typeface="Poppins"/>
                  <a:sym typeface="Poppins"/>
                </a:rPr>
                <a:t>is the hardest skill</a:t>
              </a:r>
            </a:p>
            <a:p>
              <a:pPr algn="ctr">
                <a:lnSpc>
                  <a:spcPts val="3978"/>
                </a:lnSpc>
              </a:pPr>
              <a:r>
                <a:rPr lang="en-US" sz="2550">
                  <a:solidFill>
                    <a:srgbClr val="388080"/>
                  </a:solidFill>
                  <a:latin typeface="Poppins"/>
                  <a:ea typeface="Poppins"/>
                  <a:cs typeface="Poppins"/>
                  <a:sym typeface="Poppins"/>
                </a:rPr>
                <a:t>in this whole topic</a:t>
              </a:r>
            </a:p>
          </p:txBody>
        </p:sp>
      </p:grpSp>
      <p:grpSp>
        <p:nvGrpSpPr>
          <p:cNvPr name="Group 19" id="19"/>
          <p:cNvGrpSpPr/>
          <p:nvPr/>
        </p:nvGrpSpPr>
        <p:grpSpPr>
          <a:xfrm rot="0">
            <a:off x="952500" y="3291840"/>
            <a:ext cx="10149840" cy="2125980"/>
            <a:chOff x="0" y="0"/>
            <a:chExt cx="13533120" cy="2834640"/>
          </a:xfrm>
        </p:grpSpPr>
        <p:sp>
          <p:nvSpPr>
            <p:cNvPr name="Freeform 20" id="20"/>
            <p:cNvSpPr/>
            <p:nvPr/>
          </p:nvSpPr>
          <p:spPr>
            <a:xfrm flipH="false" flipV="false" rot="0">
              <a:off x="0" y="0"/>
              <a:ext cx="13533120" cy="2834640"/>
            </a:xfrm>
            <a:custGeom>
              <a:avLst/>
              <a:gdLst/>
              <a:ahLst/>
              <a:cxnLst/>
              <a:rect r="r" b="b" t="t" l="l"/>
              <a:pathLst>
                <a:path h="2834640" w="13533120">
                  <a:moveTo>
                    <a:pt x="0" y="182880"/>
                  </a:moveTo>
                  <a:cubicBezTo>
                    <a:pt x="0" y="81915"/>
                    <a:pt x="81915" y="0"/>
                    <a:pt x="182880" y="0"/>
                  </a:cubicBezTo>
                  <a:lnTo>
                    <a:pt x="13350239" y="0"/>
                  </a:lnTo>
                  <a:cubicBezTo>
                    <a:pt x="13451204" y="0"/>
                    <a:pt x="13533120" y="81915"/>
                    <a:pt x="13533120" y="182880"/>
                  </a:cubicBezTo>
                  <a:lnTo>
                    <a:pt x="13533120" y="2651760"/>
                  </a:lnTo>
                  <a:cubicBezTo>
                    <a:pt x="13533120" y="2752725"/>
                    <a:pt x="13451204" y="2834640"/>
                    <a:pt x="13350239" y="2834640"/>
                  </a:cubicBezTo>
                  <a:lnTo>
                    <a:pt x="182880" y="2834640"/>
                  </a:lnTo>
                  <a:cubicBezTo>
                    <a:pt x="81915" y="2834640"/>
                    <a:pt x="0" y="2752725"/>
                    <a:pt x="0" y="2651760"/>
                  </a:cubicBezTo>
                  <a:close/>
                </a:path>
              </a:pathLst>
            </a:custGeom>
            <a:solidFill>
              <a:srgbClr val="FFFFFF"/>
            </a:solidFill>
          </p:spPr>
        </p:sp>
      </p:grpSp>
      <p:grpSp>
        <p:nvGrpSpPr>
          <p:cNvPr name="Group 21" id="21"/>
          <p:cNvGrpSpPr/>
          <p:nvPr/>
        </p:nvGrpSpPr>
        <p:grpSpPr>
          <a:xfrm rot="0">
            <a:off x="1322832" y="3675888"/>
            <a:ext cx="685800" cy="685800"/>
            <a:chOff x="0" y="0"/>
            <a:chExt cx="914400" cy="914400"/>
          </a:xfrm>
        </p:grpSpPr>
        <p:sp>
          <p:nvSpPr>
            <p:cNvPr name="Freeform 22" id="2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64748B"/>
            </a:solidFill>
          </p:spPr>
        </p:sp>
      </p:grpSp>
      <p:grpSp>
        <p:nvGrpSpPr>
          <p:cNvPr name="Group 23" id="23"/>
          <p:cNvGrpSpPr/>
          <p:nvPr/>
        </p:nvGrpSpPr>
        <p:grpSpPr>
          <a:xfrm rot="0">
            <a:off x="1322832" y="3675888"/>
            <a:ext cx="685800" cy="685800"/>
            <a:chOff x="0" y="0"/>
            <a:chExt cx="914400" cy="914400"/>
          </a:xfrm>
        </p:grpSpPr>
        <p:sp>
          <p:nvSpPr>
            <p:cNvPr name="Freeform 24" id="2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25" id="25"/>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1</a:t>
              </a:r>
            </a:p>
          </p:txBody>
        </p:sp>
      </p:grpSp>
      <p:sp>
        <p:nvSpPr>
          <p:cNvPr name="TextBox 26" id="26"/>
          <p:cNvSpPr txBox="true"/>
          <p:nvPr/>
        </p:nvSpPr>
        <p:spPr>
          <a:xfrm rot="0">
            <a:off x="2214372" y="3549015"/>
            <a:ext cx="8641080" cy="1663065"/>
          </a:xfrm>
          <a:prstGeom prst="rect">
            <a:avLst/>
          </a:prstGeom>
        </p:spPr>
        <p:txBody>
          <a:bodyPr anchor="t" rtlCol="false" tIns="0" lIns="0" bIns="0" rIns="0">
            <a:spAutoFit/>
          </a:bodyPr>
          <a:lstStyle/>
          <a:p>
            <a:pPr algn="l">
              <a:lnSpc>
                <a:spcPts val="3276"/>
              </a:lnSpc>
            </a:pPr>
            <a:r>
              <a:rPr lang="en-US" sz="2100">
                <a:solidFill>
                  <a:srgbClr val="475569"/>
                </a:solidFill>
                <a:latin typeface="Poppins"/>
                <a:ea typeface="Poppins"/>
                <a:cs typeface="Poppins"/>
                <a:sym typeface="Poppins"/>
              </a:rPr>
              <a:t>Nineteen visuals. Four colour schemes. Every metric the analyst could think of, built to demonstrate effort.</a:t>
            </a:r>
          </a:p>
        </p:txBody>
      </p:sp>
      <p:grpSp>
        <p:nvGrpSpPr>
          <p:cNvPr name="Group 27" id="27"/>
          <p:cNvGrpSpPr/>
          <p:nvPr/>
        </p:nvGrpSpPr>
        <p:grpSpPr>
          <a:xfrm rot="0">
            <a:off x="952500" y="5692140"/>
            <a:ext cx="10149840" cy="2125980"/>
            <a:chOff x="0" y="0"/>
            <a:chExt cx="13533120" cy="2834640"/>
          </a:xfrm>
        </p:grpSpPr>
        <p:sp>
          <p:nvSpPr>
            <p:cNvPr name="Freeform 28" id="28"/>
            <p:cNvSpPr/>
            <p:nvPr/>
          </p:nvSpPr>
          <p:spPr>
            <a:xfrm flipH="false" flipV="false" rot="0">
              <a:off x="0" y="0"/>
              <a:ext cx="13533120" cy="2834640"/>
            </a:xfrm>
            <a:custGeom>
              <a:avLst/>
              <a:gdLst/>
              <a:ahLst/>
              <a:cxnLst/>
              <a:rect r="r" b="b" t="t" l="l"/>
              <a:pathLst>
                <a:path h="2834640" w="13533120">
                  <a:moveTo>
                    <a:pt x="0" y="182880"/>
                  </a:moveTo>
                  <a:cubicBezTo>
                    <a:pt x="0" y="81915"/>
                    <a:pt x="81915" y="0"/>
                    <a:pt x="182880" y="0"/>
                  </a:cubicBezTo>
                  <a:lnTo>
                    <a:pt x="13350239" y="0"/>
                  </a:lnTo>
                  <a:cubicBezTo>
                    <a:pt x="13451204" y="0"/>
                    <a:pt x="13533120" y="81915"/>
                    <a:pt x="13533120" y="182880"/>
                  </a:cubicBezTo>
                  <a:lnTo>
                    <a:pt x="13533120" y="2651760"/>
                  </a:lnTo>
                  <a:cubicBezTo>
                    <a:pt x="13533120" y="2752725"/>
                    <a:pt x="13451204" y="2834640"/>
                    <a:pt x="13350239" y="2834640"/>
                  </a:cubicBezTo>
                  <a:lnTo>
                    <a:pt x="182880" y="2834640"/>
                  </a:lnTo>
                  <a:cubicBezTo>
                    <a:pt x="81915" y="2834640"/>
                    <a:pt x="0" y="2752725"/>
                    <a:pt x="0" y="2651760"/>
                  </a:cubicBezTo>
                  <a:close/>
                </a:path>
              </a:pathLst>
            </a:custGeom>
            <a:solidFill>
              <a:srgbClr val="FFFFFF"/>
            </a:solidFill>
          </p:spPr>
        </p:sp>
      </p:grpSp>
      <p:grpSp>
        <p:nvGrpSpPr>
          <p:cNvPr name="Group 29" id="29"/>
          <p:cNvGrpSpPr/>
          <p:nvPr/>
        </p:nvGrpSpPr>
        <p:grpSpPr>
          <a:xfrm rot="0">
            <a:off x="952500" y="5692140"/>
            <a:ext cx="10149840" cy="123444"/>
            <a:chOff x="0" y="0"/>
            <a:chExt cx="13533120" cy="164592"/>
          </a:xfrm>
        </p:grpSpPr>
        <p:sp>
          <p:nvSpPr>
            <p:cNvPr name="Freeform 30" id="30"/>
            <p:cNvSpPr/>
            <p:nvPr/>
          </p:nvSpPr>
          <p:spPr>
            <a:xfrm flipH="false" flipV="false" rot="0">
              <a:off x="0" y="0"/>
              <a:ext cx="13533120" cy="164592"/>
            </a:xfrm>
            <a:custGeom>
              <a:avLst/>
              <a:gdLst/>
              <a:ahLst/>
              <a:cxnLst/>
              <a:rect r="r" b="b" t="t" l="l"/>
              <a:pathLst>
                <a:path h="164592" w="13533120">
                  <a:moveTo>
                    <a:pt x="0" y="0"/>
                  </a:moveTo>
                  <a:lnTo>
                    <a:pt x="13533120" y="0"/>
                  </a:lnTo>
                  <a:lnTo>
                    <a:pt x="13533120" y="164592"/>
                  </a:lnTo>
                  <a:lnTo>
                    <a:pt x="0" y="164592"/>
                  </a:lnTo>
                  <a:close/>
                </a:path>
              </a:pathLst>
            </a:custGeom>
            <a:solidFill>
              <a:srgbClr val="387F7F"/>
            </a:solidFill>
          </p:spPr>
        </p:sp>
      </p:grpSp>
      <p:grpSp>
        <p:nvGrpSpPr>
          <p:cNvPr name="Group 31" id="31"/>
          <p:cNvGrpSpPr/>
          <p:nvPr/>
        </p:nvGrpSpPr>
        <p:grpSpPr>
          <a:xfrm rot="0">
            <a:off x="1322832" y="6076188"/>
            <a:ext cx="685800" cy="685800"/>
            <a:chOff x="0" y="0"/>
            <a:chExt cx="914400" cy="914400"/>
          </a:xfrm>
        </p:grpSpPr>
        <p:sp>
          <p:nvSpPr>
            <p:cNvPr name="Freeform 32" id="3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33" id="33"/>
          <p:cNvGrpSpPr/>
          <p:nvPr/>
        </p:nvGrpSpPr>
        <p:grpSpPr>
          <a:xfrm rot="0">
            <a:off x="1322832" y="6076188"/>
            <a:ext cx="685800" cy="685800"/>
            <a:chOff x="0" y="0"/>
            <a:chExt cx="914400" cy="914400"/>
          </a:xfrm>
        </p:grpSpPr>
        <p:sp>
          <p:nvSpPr>
            <p:cNvPr name="Freeform 34" id="3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35" id="35"/>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2</a:t>
              </a:r>
            </a:p>
          </p:txBody>
        </p:sp>
      </p:grpSp>
      <p:sp>
        <p:nvSpPr>
          <p:cNvPr name="TextBox 36" id="36"/>
          <p:cNvSpPr txBox="true"/>
          <p:nvPr/>
        </p:nvSpPr>
        <p:spPr>
          <a:xfrm rot="0">
            <a:off x="2214372" y="5949315"/>
            <a:ext cx="8641080" cy="1663065"/>
          </a:xfrm>
          <a:prstGeom prst="rect">
            <a:avLst/>
          </a:prstGeom>
        </p:spPr>
        <p:txBody>
          <a:bodyPr anchor="t" rtlCol="false" tIns="0" lIns="0" bIns="0" rIns="0">
            <a:spAutoFit/>
          </a:bodyPr>
          <a:lstStyle/>
          <a:p>
            <a:pPr algn="l">
              <a:lnSpc>
                <a:spcPts val="3276"/>
              </a:lnSpc>
            </a:pPr>
            <a:r>
              <a:rPr lang="en-US" sz="2100" b="true">
                <a:solidFill>
                  <a:srgbClr val="0A1A23"/>
                </a:solidFill>
                <a:latin typeface="Poppins Bold"/>
                <a:ea typeface="Poppins Bold"/>
                <a:cs typeface="Poppins Bold"/>
                <a:sym typeface="Poppins Bold"/>
              </a:rPr>
              <a:t>Four numbers. One chart. One table, built to answer a question that gets asked every morning.</a:t>
            </a:r>
          </a:p>
        </p:txBody>
      </p:sp>
      <p:grpSp>
        <p:nvGrpSpPr>
          <p:cNvPr name="Group 37" id="37"/>
          <p:cNvGrpSpPr/>
          <p:nvPr/>
        </p:nvGrpSpPr>
        <p:grpSpPr>
          <a:xfrm rot="0">
            <a:off x="952500" y="8161020"/>
            <a:ext cx="10149840" cy="1028700"/>
            <a:chOff x="0" y="0"/>
            <a:chExt cx="13533120" cy="1371600"/>
          </a:xfrm>
        </p:grpSpPr>
        <p:sp>
          <p:nvSpPr>
            <p:cNvPr name="Freeform 38" id="38"/>
            <p:cNvSpPr/>
            <p:nvPr/>
          </p:nvSpPr>
          <p:spPr>
            <a:xfrm flipH="false" flipV="false" rot="0">
              <a:off x="0" y="0"/>
              <a:ext cx="13533120" cy="1371600"/>
            </a:xfrm>
            <a:custGeom>
              <a:avLst/>
              <a:gdLst/>
              <a:ahLst/>
              <a:cxnLst/>
              <a:rect r="r" b="b" t="t" l="l"/>
              <a:pathLst>
                <a:path h="1371600" w="13533120">
                  <a:moveTo>
                    <a:pt x="0" y="164592"/>
                  </a:moveTo>
                  <a:cubicBezTo>
                    <a:pt x="0" y="73660"/>
                    <a:pt x="73660" y="0"/>
                    <a:pt x="164592" y="0"/>
                  </a:cubicBezTo>
                  <a:lnTo>
                    <a:pt x="13368528" y="0"/>
                  </a:lnTo>
                  <a:cubicBezTo>
                    <a:pt x="13459461" y="0"/>
                    <a:pt x="13533120" y="73660"/>
                    <a:pt x="13533120" y="164592"/>
                  </a:cubicBezTo>
                  <a:lnTo>
                    <a:pt x="13533120" y="1207008"/>
                  </a:lnTo>
                  <a:cubicBezTo>
                    <a:pt x="13533120" y="1297940"/>
                    <a:pt x="13459461" y="1371600"/>
                    <a:pt x="13368528" y="1371600"/>
                  </a:cubicBezTo>
                  <a:lnTo>
                    <a:pt x="164592" y="1371600"/>
                  </a:lnTo>
                  <a:cubicBezTo>
                    <a:pt x="73660" y="1371600"/>
                    <a:pt x="0" y="1297940"/>
                    <a:pt x="0" y="1207008"/>
                  </a:cubicBezTo>
                  <a:close/>
                </a:path>
              </a:pathLst>
            </a:custGeom>
            <a:solidFill>
              <a:srgbClr val="EEF4F4"/>
            </a:solidFill>
          </p:spPr>
        </p:sp>
      </p:grpSp>
      <p:grpSp>
        <p:nvGrpSpPr>
          <p:cNvPr name="Group 39" id="39"/>
          <p:cNvGrpSpPr/>
          <p:nvPr/>
        </p:nvGrpSpPr>
        <p:grpSpPr>
          <a:xfrm rot="0">
            <a:off x="952500" y="8161020"/>
            <a:ext cx="102870" cy="1028700"/>
            <a:chOff x="0" y="0"/>
            <a:chExt cx="137160" cy="1371600"/>
          </a:xfrm>
        </p:grpSpPr>
        <p:sp>
          <p:nvSpPr>
            <p:cNvPr name="Freeform 40" id="40"/>
            <p:cNvSpPr/>
            <p:nvPr/>
          </p:nvSpPr>
          <p:spPr>
            <a:xfrm flipH="false" flipV="false" rot="0">
              <a:off x="0" y="0"/>
              <a:ext cx="137160" cy="1371600"/>
            </a:xfrm>
            <a:custGeom>
              <a:avLst/>
              <a:gdLst/>
              <a:ahLst/>
              <a:cxnLst/>
              <a:rect r="r" b="b" t="t" l="l"/>
              <a:pathLst>
                <a:path h="1371600" w="137160">
                  <a:moveTo>
                    <a:pt x="0" y="0"/>
                  </a:moveTo>
                  <a:lnTo>
                    <a:pt x="137160" y="0"/>
                  </a:lnTo>
                  <a:lnTo>
                    <a:pt x="137160" y="1371600"/>
                  </a:lnTo>
                  <a:lnTo>
                    <a:pt x="0" y="1371600"/>
                  </a:lnTo>
                  <a:close/>
                </a:path>
              </a:pathLst>
            </a:custGeom>
            <a:solidFill>
              <a:srgbClr val="387F7F"/>
            </a:solidFill>
          </p:spPr>
        </p:sp>
      </p:grpSp>
      <p:grpSp>
        <p:nvGrpSpPr>
          <p:cNvPr name="Group 41" id="41"/>
          <p:cNvGrpSpPr/>
          <p:nvPr/>
        </p:nvGrpSpPr>
        <p:grpSpPr>
          <a:xfrm rot="0">
            <a:off x="1459992" y="8161020"/>
            <a:ext cx="9601200" cy="1028700"/>
            <a:chOff x="0" y="0"/>
            <a:chExt cx="12801600" cy="1371600"/>
          </a:xfrm>
        </p:grpSpPr>
        <p:sp>
          <p:nvSpPr>
            <p:cNvPr name="Freeform 42" id="42"/>
            <p:cNvSpPr/>
            <p:nvPr/>
          </p:nvSpPr>
          <p:spPr>
            <a:xfrm flipH="false" flipV="false" rot="0">
              <a:off x="0" y="0"/>
              <a:ext cx="12801600" cy="1371600"/>
            </a:xfrm>
            <a:custGeom>
              <a:avLst/>
              <a:gdLst/>
              <a:ahLst/>
              <a:cxnLst/>
              <a:rect r="r" b="b" t="t" l="l"/>
              <a:pathLst>
                <a:path h="1371600" w="12801600">
                  <a:moveTo>
                    <a:pt x="0" y="0"/>
                  </a:moveTo>
                  <a:lnTo>
                    <a:pt x="12801600" y="0"/>
                  </a:lnTo>
                  <a:lnTo>
                    <a:pt x="12801600" y="1371600"/>
                  </a:lnTo>
                  <a:lnTo>
                    <a:pt x="0" y="1371600"/>
                  </a:lnTo>
                  <a:close/>
                </a:path>
              </a:pathLst>
            </a:custGeom>
            <a:blipFill>
              <a:blip r:embed="rId9">
                <a:alphaModFix amt="0"/>
              </a:blip>
              <a:stretch>
                <a:fillRect l="0" t="-131860" r="0" b="-131860"/>
              </a:stretch>
            </a:blipFill>
          </p:spPr>
        </p:sp>
        <p:sp>
          <p:nvSpPr>
            <p:cNvPr name="TextBox 43" id="43"/>
            <p:cNvSpPr txBox="true"/>
            <p:nvPr/>
          </p:nvSpPr>
          <p:spPr>
            <a:xfrm>
              <a:off x="0" y="-114300"/>
              <a:ext cx="12801600" cy="1485900"/>
            </a:xfrm>
            <a:prstGeom prst="rect">
              <a:avLst/>
            </a:prstGeom>
          </p:spPr>
          <p:txBody>
            <a:bodyPr anchor="ctr" rtlCol="false" tIns="0" lIns="0" bIns="0" rIns="0"/>
            <a:lstStyle/>
            <a:p>
              <a:pPr algn="l">
                <a:lnSpc>
                  <a:spcPts val="3888"/>
                </a:lnSpc>
              </a:pPr>
              <a:r>
                <a:rPr lang="en-US" sz="2400" b="true">
                  <a:solidFill>
                    <a:srgbClr val="387F7F"/>
                  </a:solidFill>
                  <a:latin typeface="Poppins Bold"/>
                  <a:ea typeface="Poppins Bold"/>
                  <a:cs typeface="Poppins Bold"/>
                  <a:sym typeface="Poppins Bold"/>
                </a:rPr>
                <a:t>The second one took longer to build.</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65495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D</a:t>
            </a:r>
            <a:r>
              <a:rPr lang="en-US" sz="5000">
                <a:solidFill>
                  <a:srgbClr val="388080"/>
                </a:solidFill>
                <a:latin typeface="Poppins"/>
                <a:ea typeface="Poppins"/>
                <a:cs typeface="Poppins"/>
                <a:sym typeface="Poppins"/>
              </a:rPr>
              <a:t>esign runs backwards from the person</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23925" y="2490978"/>
            <a:ext cx="7063740" cy="4663440"/>
            <a:chOff x="0" y="0"/>
            <a:chExt cx="9418320" cy="6217920"/>
          </a:xfrm>
        </p:grpSpPr>
        <p:sp>
          <p:nvSpPr>
            <p:cNvPr name="Freeform 12" id="12"/>
            <p:cNvSpPr/>
            <p:nvPr/>
          </p:nvSpPr>
          <p:spPr>
            <a:xfrm flipH="false" flipV="false" rot="0">
              <a:off x="0" y="0"/>
              <a:ext cx="9418320" cy="6217920"/>
            </a:xfrm>
            <a:custGeom>
              <a:avLst/>
              <a:gdLst/>
              <a:ahLst/>
              <a:cxnLst/>
              <a:rect r="r" b="b" t="t" l="l"/>
              <a:pathLst>
                <a:path h="6217920" w="9418320">
                  <a:moveTo>
                    <a:pt x="0" y="182880"/>
                  </a:moveTo>
                  <a:cubicBezTo>
                    <a:pt x="0" y="81915"/>
                    <a:pt x="81915" y="0"/>
                    <a:pt x="182880" y="0"/>
                  </a:cubicBezTo>
                  <a:lnTo>
                    <a:pt x="9235440" y="0"/>
                  </a:lnTo>
                  <a:cubicBezTo>
                    <a:pt x="9336405" y="0"/>
                    <a:pt x="9418320" y="81915"/>
                    <a:pt x="9418320" y="182880"/>
                  </a:cubicBezTo>
                  <a:lnTo>
                    <a:pt x="9418320" y="6035040"/>
                  </a:lnTo>
                  <a:cubicBezTo>
                    <a:pt x="9418320" y="6136005"/>
                    <a:pt x="9336405" y="6217920"/>
                    <a:pt x="9235440" y="6217920"/>
                  </a:cubicBezTo>
                  <a:lnTo>
                    <a:pt x="182880" y="6217920"/>
                  </a:lnTo>
                  <a:cubicBezTo>
                    <a:pt x="81915" y="6217920"/>
                    <a:pt x="0" y="6136005"/>
                    <a:pt x="0" y="6035040"/>
                  </a:cubicBezTo>
                  <a:close/>
                </a:path>
              </a:pathLst>
            </a:custGeom>
            <a:solidFill>
              <a:srgbClr val="FFFFFF"/>
            </a:solidFill>
          </p:spPr>
        </p:sp>
      </p:grpSp>
      <p:grpSp>
        <p:nvGrpSpPr>
          <p:cNvPr name="Group 13" id="13"/>
          <p:cNvGrpSpPr/>
          <p:nvPr/>
        </p:nvGrpSpPr>
        <p:grpSpPr>
          <a:xfrm rot="0">
            <a:off x="1335405" y="2765298"/>
            <a:ext cx="6240780" cy="411480"/>
            <a:chOff x="0" y="0"/>
            <a:chExt cx="8321040" cy="548640"/>
          </a:xfrm>
        </p:grpSpPr>
        <p:sp>
          <p:nvSpPr>
            <p:cNvPr name="Freeform 14" id="14"/>
            <p:cNvSpPr/>
            <p:nvPr/>
          </p:nvSpPr>
          <p:spPr>
            <a:xfrm flipH="false" flipV="false" rot="0">
              <a:off x="0" y="0"/>
              <a:ext cx="8321040" cy="548640"/>
            </a:xfrm>
            <a:custGeom>
              <a:avLst/>
              <a:gdLst/>
              <a:ahLst/>
              <a:cxnLst/>
              <a:rect r="r" b="b" t="t" l="l"/>
              <a:pathLst>
                <a:path h="548640" w="8321040">
                  <a:moveTo>
                    <a:pt x="0" y="0"/>
                  </a:moveTo>
                  <a:lnTo>
                    <a:pt x="8321040" y="0"/>
                  </a:lnTo>
                  <a:lnTo>
                    <a:pt x="8321040" y="548640"/>
                  </a:lnTo>
                  <a:lnTo>
                    <a:pt x="0" y="548640"/>
                  </a:lnTo>
                  <a:close/>
                </a:path>
              </a:pathLst>
            </a:custGeom>
            <a:blipFill>
              <a:blip r:embed="rId9">
                <a:alphaModFix amt="0"/>
              </a:blip>
              <a:stretch>
                <a:fillRect l="0" t="-245523" r="0" b="-245523"/>
              </a:stretch>
            </a:blipFill>
          </p:spPr>
        </p:sp>
        <p:sp>
          <p:nvSpPr>
            <p:cNvPr name="TextBox 15" id="15"/>
            <p:cNvSpPr txBox="true"/>
            <p:nvPr/>
          </p:nvSpPr>
          <p:spPr>
            <a:xfrm>
              <a:off x="0" y="-9525"/>
              <a:ext cx="8321040" cy="558165"/>
            </a:xfrm>
            <a:prstGeom prst="rect">
              <a:avLst/>
            </a:prstGeom>
          </p:spPr>
          <p:txBody>
            <a:bodyPr anchor="ctr" rtlCol="false" tIns="0" lIns="0" bIns="0" rIns="0"/>
            <a:lstStyle/>
            <a:p>
              <a:pPr algn="l">
                <a:lnSpc>
                  <a:spcPts val="1980"/>
                </a:lnSpc>
              </a:pPr>
              <a:r>
                <a:rPr lang="en-US" b="true" sz="1650" spc="150">
                  <a:solidFill>
                    <a:srgbClr val="64748B"/>
                  </a:solidFill>
                  <a:latin typeface="Poppins Bold"/>
                  <a:ea typeface="Poppins Bold"/>
                  <a:cs typeface="Poppins Bold"/>
                  <a:sym typeface="Poppins Bold"/>
                </a:rPr>
                <a:t>THE WRONG WAY</a:t>
              </a:r>
            </a:p>
          </p:txBody>
        </p:sp>
      </p:grpSp>
      <p:grpSp>
        <p:nvGrpSpPr>
          <p:cNvPr name="Group 16" id="16"/>
          <p:cNvGrpSpPr/>
          <p:nvPr/>
        </p:nvGrpSpPr>
        <p:grpSpPr>
          <a:xfrm rot="0">
            <a:off x="1335405" y="3313938"/>
            <a:ext cx="6240780" cy="685800"/>
            <a:chOff x="0" y="0"/>
            <a:chExt cx="8321040" cy="914400"/>
          </a:xfrm>
        </p:grpSpPr>
        <p:sp>
          <p:nvSpPr>
            <p:cNvPr name="Freeform 17" id="17"/>
            <p:cNvSpPr/>
            <p:nvPr/>
          </p:nvSpPr>
          <p:spPr>
            <a:xfrm flipH="false" flipV="false" rot="0">
              <a:off x="0" y="0"/>
              <a:ext cx="8321040" cy="914400"/>
            </a:xfrm>
            <a:custGeom>
              <a:avLst/>
              <a:gdLst/>
              <a:ahLst/>
              <a:cxnLst/>
              <a:rect r="r" b="b" t="t" l="l"/>
              <a:pathLst>
                <a:path h="914400" w="8321040">
                  <a:moveTo>
                    <a:pt x="0" y="0"/>
                  </a:moveTo>
                  <a:lnTo>
                    <a:pt x="8321040" y="0"/>
                  </a:lnTo>
                  <a:lnTo>
                    <a:pt x="8321040" y="914400"/>
                  </a:lnTo>
                  <a:lnTo>
                    <a:pt x="0" y="914400"/>
                  </a:lnTo>
                  <a:close/>
                </a:path>
              </a:pathLst>
            </a:custGeom>
            <a:blipFill>
              <a:blip r:embed="rId9">
                <a:alphaModFix amt="0"/>
              </a:blip>
              <a:stretch>
                <a:fillRect l="0" t="-127313" r="0" b="-127313"/>
              </a:stretch>
            </a:blipFill>
          </p:spPr>
        </p:sp>
        <p:sp>
          <p:nvSpPr>
            <p:cNvPr name="TextBox 18" id="18"/>
            <p:cNvSpPr txBox="true"/>
            <p:nvPr/>
          </p:nvSpPr>
          <p:spPr>
            <a:xfrm>
              <a:off x="0" y="-19050"/>
              <a:ext cx="8321040" cy="933450"/>
            </a:xfrm>
            <a:prstGeom prst="rect">
              <a:avLst/>
            </a:prstGeom>
          </p:spPr>
          <p:txBody>
            <a:bodyPr anchor="ctr" rtlCol="false" tIns="0" lIns="0" bIns="0" rIns="0"/>
            <a:lstStyle/>
            <a:p>
              <a:pPr algn="l">
                <a:lnSpc>
                  <a:spcPts val="2520"/>
                </a:lnSpc>
              </a:pPr>
              <a:r>
                <a:rPr lang="en-US" sz="2100" strike="sngStrike">
                  <a:solidFill>
                    <a:srgbClr val="64748B"/>
                  </a:solidFill>
                  <a:latin typeface="Poppins"/>
                  <a:ea typeface="Poppins"/>
                  <a:cs typeface="Poppins"/>
                  <a:sym typeface="Poppins"/>
                </a:rPr>
                <a:t>✕  Open the model</a:t>
              </a:r>
            </a:p>
          </p:txBody>
        </p:sp>
      </p:grpSp>
      <p:grpSp>
        <p:nvGrpSpPr>
          <p:cNvPr name="Group 19" id="19"/>
          <p:cNvGrpSpPr/>
          <p:nvPr/>
        </p:nvGrpSpPr>
        <p:grpSpPr>
          <a:xfrm rot="0">
            <a:off x="1335405" y="4164330"/>
            <a:ext cx="6240780" cy="685800"/>
            <a:chOff x="0" y="0"/>
            <a:chExt cx="8321040" cy="914400"/>
          </a:xfrm>
        </p:grpSpPr>
        <p:sp>
          <p:nvSpPr>
            <p:cNvPr name="Freeform 20" id="20"/>
            <p:cNvSpPr/>
            <p:nvPr/>
          </p:nvSpPr>
          <p:spPr>
            <a:xfrm flipH="false" flipV="false" rot="0">
              <a:off x="0" y="0"/>
              <a:ext cx="8321040" cy="914400"/>
            </a:xfrm>
            <a:custGeom>
              <a:avLst/>
              <a:gdLst/>
              <a:ahLst/>
              <a:cxnLst/>
              <a:rect r="r" b="b" t="t" l="l"/>
              <a:pathLst>
                <a:path h="914400" w="8321040">
                  <a:moveTo>
                    <a:pt x="0" y="0"/>
                  </a:moveTo>
                  <a:lnTo>
                    <a:pt x="8321040" y="0"/>
                  </a:lnTo>
                  <a:lnTo>
                    <a:pt x="8321040" y="914400"/>
                  </a:lnTo>
                  <a:lnTo>
                    <a:pt x="0" y="914400"/>
                  </a:lnTo>
                  <a:close/>
                </a:path>
              </a:pathLst>
            </a:custGeom>
            <a:blipFill>
              <a:blip r:embed="rId9">
                <a:alphaModFix amt="0"/>
              </a:blip>
              <a:stretch>
                <a:fillRect l="0" t="-127313" r="0" b="-127313"/>
              </a:stretch>
            </a:blipFill>
          </p:spPr>
        </p:sp>
        <p:sp>
          <p:nvSpPr>
            <p:cNvPr name="TextBox 21" id="21"/>
            <p:cNvSpPr txBox="true"/>
            <p:nvPr/>
          </p:nvSpPr>
          <p:spPr>
            <a:xfrm>
              <a:off x="0" y="-19050"/>
              <a:ext cx="8321040" cy="933450"/>
            </a:xfrm>
            <a:prstGeom prst="rect">
              <a:avLst/>
            </a:prstGeom>
          </p:spPr>
          <p:txBody>
            <a:bodyPr anchor="ctr" rtlCol="false" tIns="0" lIns="0" bIns="0" rIns="0"/>
            <a:lstStyle/>
            <a:p>
              <a:pPr algn="l">
                <a:lnSpc>
                  <a:spcPts val="2520"/>
                </a:lnSpc>
              </a:pPr>
              <a:r>
                <a:rPr lang="en-US" sz="2100" strike="sngStrike">
                  <a:solidFill>
                    <a:srgbClr val="64748B"/>
                  </a:solidFill>
                  <a:latin typeface="Poppins"/>
                  <a:ea typeface="Poppins"/>
                  <a:cs typeface="Poppins"/>
                  <a:sym typeface="Poppins"/>
                </a:rPr>
                <a:t>✕  See what fields exist</a:t>
              </a:r>
            </a:p>
          </p:txBody>
        </p:sp>
      </p:grpSp>
      <p:grpSp>
        <p:nvGrpSpPr>
          <p:cNvPr name="Group 22" id="22"/>
          <p:cNvGrpSpPr/>
          <p:nvPr/>
        </p:nvGrpSpPr>
        <p:grpSpPr>
          <a:xfrm rot="0">
            <a:off x="1335405" y="5014722"/>
            <a:ext cx="6240780" cy="685800"/>
            <a:chOff x="0" y="0"/>
            <a:chExt cx="8321040" cy="914400"/>
          </a:xfrm>
        </p:grpSpPr>
        <p:sp>
          <p:nvSpPr>
            <p:cNvPr name="Freeform 23" id="23"/>
            <p:cNvSpPr/>
            <p:nvPr/>
          </p:nvSpPr>
          <p:spPr>
            <a:xfrm flipH="false" flipV="false" rot="0">
              <a:off x="0" y="0"/>
              <a:ext cx="8321040" cy="914400"/>
            </a:xfrm>
            <a:custGeom>
              <a:avLst/>
              <a:gdLst/>
              <a:ahLst/>
              <a:cxnLst/>
              <a:rect r="r" b="b" t="t" l="l"/>
              <a:pathLst>
                <a:path h="914400" w="8321040">
                  <a:moveTo>
                    <a:pt x="0" y="0"/>
                  </a:moveTo>
                  <a:lnTo>
                    <a:pt x="8321040" y="0"/>
                  </a:lnTo>
                  <a:lnTo>
                    <a:pt x="8321040" y="914400"/>
                  </a:lnTo>
                  <a:lnTo>
                    <a:pt x="0" y="914400"/>
                  </a:lnTo>
                  <a:close/>
                </a:path>
              </a:pathLst>
            </a:custGeom>
            <a:blipFill>
              <a:blip r:embed="rId9">
                <a:alphaModFix amt="0"/>
              </a:blip>
              <a:stretch>
                <a:fillRect l="0" t="-127313" r="0" b="-127313"/>
              </a:stretch>
            </a:blipFill>
          </p:spPr>
        </p:sp>
        <p:sp>
          <p:nvSpPr>
            <p:cNvPr name="TextBox 24" id="24"/>
            <p:cNvSpPr txBox="true"/>
            <p:nvPr/>
          </p:nvSpPr>
          <p:spPr>
            <a:xfrm>
              <a:off x="0" y="-19050"/>
              <a:ext cx="8321040" cy="933450"/>
            </a:xfrm>
            <a:prstGeom prst="rect">
              <a:avLst/>
            </a:prstGeom>
          </p:spPr>
          <p:txBody>
            <a:bodyPr anchor="ctr" rtlCol="false" tIns="0" lIns="0" bIns="0" rIns="0"/>
            <a:lstStyle/>
            <a:p>
              <a:pPr algn="l">
                <a:lnSpc>
                  <a:spcPts val="2520"/>
                </a:lnSpc>
              </a:pPr>
              <a:r>
                <a:rPr lang="en-US" sz="2100" strike="sngStrike">
                  <a:solidFill>
                    <a:srgbClr val="64748B"/>
                  </a:solidFill>
                  <a:latin typeface="Poppins"/>
                  <a:ea typeface="Poppins"/>
                  <a:cs typeface="Poppins"/>
                  <a:sym typeface="Poppins"/>
                </a:rPr>
                <a:t>✕  Build a chart per field</a:t>
              </a:r>
            </a:p>
          </p:txBody>
        </p:sp>
      </p:grpSp>
      <p:grpSp>
        <p:nvGrpSpPr>
          <p:cNvPr name="Group 25" id="25"/>
          <p:cNvGrpSpPr/>
          <p:nvPr/>
        </p:nvGrpSpPr>
        <p:grpSpPr>
          <a:xfrm rot="0">
            <a:off x="1335405" y="5865114"/>
            <a:ext cx="6240780" cy="685800"/>
            <a:chOff x="0" y="0"/>
            <a:chExt cx="8321040" cy="914400"/>
          </a:xfrm>
        </p:grpSpPr>
        <p:sp>
          <p:nvSpPr>
            <p:cNvPr name="Freeform 26" id="26"/>
            <p:cNvSpPr/>
            <p:nvPr/>
          </p:nvSpPr>
          <p:spPr>
            <a:xfrm flipH="false" flipV="false" rot="0">
              <a:off x="0" y="0"/>
              <a:ext cx="8321040" cy="914400"/>
            </a:xfrm>
            <a:custGeom>
              <a:avLst/>
              <a:gdLst/>
              <a:ahLst/>
              <a:cxnLst/>
              <a:rect r="r" b="b" t="t" l="l"/>
              <a:pathLst>
                <a:path h="914400" w="8321040">
                  <a:moveTo>
                    <a:pt x="0" y="0"/>
                  </a:moveTo>
                  <a:lnTo>
                    <a:pt x="8321040" y="0"/>
                  </a:lnTo>
                  <a:lnTo>
                    <a:pt x="8321040" y="914400"/>
                  </a:lnTo>
                  <a:lnTo>
                    <a:pt x="0" y="914400"/>
                  </a:lnTo>
                  <a:close/>
                </a:path>
              </a:pathLst>
            </a:custGeom>
            <a:blipFill>
              <a:blip r:embed="rId9">
                <a:alphaModFix amt="0"/>
              </a:blip>
              <a:stretch>
                <a:fillRect l="0" t="-127313" r="0" b="-127313"/>
              </a:stretch>
            </a:blipFill>
          </p:spPr>
        </p:sp>
        <p:sp>
          <p:nvSpPr>
            <p:cNvPr name="TextBox 27" id="27"/>
            <p:cNvSpPr txBox="true"/>
            <p:nvPr/>
          </p:nvSpPr>
          <p:spPr>
            <a:xfrm>
              <a:off x="0" y="-19050"/>
              <a:ext cx="8321040" cy="933450"/>
            </a:xfrm>
            <a:prstGeom prst="rect">
              <a:avLst/>
            </a:prstGeom>
          </p:spPr>
          <p:txBody>
            <a:bodyPr anchor="ctr" rtlCol="false" tIns="0" lIns="0" bIns="0" rIns="0"/>
            <a:lstStyle/>
            <a:p>
              <a:pPr algn="l">
                <a:lnSpc>
                  <a:spcPts val="2520"/>
                </a:lnSpc>
              </a:pPr>
              <a:r>
                <a:rPr lang="en-US" sz="2100" strike="sngStrike">
                  <a:solidFill>
                    <a:srgbClr val="64748B"/>
                  </a:solidFill>
                  <a:latin typeface="Poppins"/>
                  <a:ea typeface="Poppins"/>
                  <a:cs typeface="Poppins"/>
                  <a:sym typeface="Poppins"/>
                </a:rPr>
                <a:t>✕  Hope it is useful</a:t>
              </a:r>
            </a:p>
          </p:txBody>
        </p:sp>
      </p:grpSp>
      <p:sp>
        <p:nvSpPr>
          <p:cNvPr name="TextBox 28" id="28"/>
          <p:cNvSpPr txBox="true"/>
          <p:nvPr/>
        </p:nvSpPr>
        <p:spPr>
          <a:xfrm rot="0">
            <a:off x="1335405" y="6666738"/>
            <a:ext cx="6240780" cy="762000"/>
          </a:xfrm>
          <a:prstGeom prst="rect">
            <a:avLst/>
          </a:prstGeom>
        </p:spPr>
        <p:txBody>
          <a:bodyPr anchor="t" rtlCol="false" tIns="0" lIns="0" bIns="0" rIns="0">
            <a:spAutoFit/>
          </a:bodyPr>
          <a:lstStyle/>
          <a:p>
            <a:pPr algn="l">
              <a:lnSpc>
                <a:spcPts val="2794"/>
              </a:lnSpc>
            </a:pPr>
            <a:r>
              <a:rPr lang="en-US" sz="1725" i="true">
                <a:solidFill>
                  <a:srgbClr val="64748B"/>
                </a:solidFill>
                <a:latin typeface="Poppins Italics"/>
                <a:ea typeface="Poppins Italics"/>
                <a:cs typeface="Poppins Italics"/>
                <a:sym typeface="Poppins Italics"/>
              </a:rPr>
              <a:t>A tour of your data, not an answer to anything.</a:t>
            </a:r>
          </a:p>
        </p:txBody>
      </p:sp>
      <p:grpSp>
        <p:nvGrpSpPr>
          <p:cNvPr name="Group 29" id="29"/>
          <p:cNvGrpSpPr/>
          <p:nvPr/>
        </p:nvGrpSpPr>
        <p:grpSpPr>
          <a:xfrm rot="0">
            <a:off x="8604885" y="2490978"/>
            <a:ext cx="7063740" cy="4663440"/>
            <a:chOff x="0" y="0"/>
            <a:chExt cx="9418320" cy="6217920"/>
          </a:xfrm>
        </p:grpSpPr>
        <p:sp>
          <p:nvSpPr>
            <p:cNvPr name="Freeform 30" id="30"/>
            <p:cNvSpPr/>
            <p:nvPr/>
          </p:nvSpPr>
          <p:spPr>
            <a:xfrm flipH="false" flipV="false" rot="0">
              <a:off x="0" y="0"/>
              <a:ext cx="9418320" cy="6217920"/>
            </a:xfrm>
            <a:custGeom>
              <a:avLst/>
              <a:gdLst/>
              <a:ahLst/>
              <a:cxnLst/>
              <a:rect r="r" b="b" t="t" l="l"/>
              <a:pathLst>
                <a:path h="6217920" w="9418320">
                  <a:moveTo>
                    <a:pt x="0" y="182880"/>
                  </a:moveTo>
                  <a:cubicBezTo>
                    <a:pt x="0" y="81915"/>
                    <a:pt x="81915" y="0"/>
                    <a:pt x="182880" y="0"/>
                  </a:cubicBezTo>
                  <a:lnTo>
                    <a:pt x="9235440" y="0"/>
                  </a:lnTo>
                  <a:cubicBezTo>
                    <a:pt x="9336405" y="0"/>
                    <a:pt x="9418320" y="81915"/>
                    <a:pt x="9418320" y="182880"/>
                  </a:cubicBezTo>
                  <a:lnTo>
                    <a:pt x="9418320" y="6035040"/>
                  </a:lnTo>
                  <a:cubicBezTo>
                    <a:pt x="9418320" y="6136005"/>
                    <a:pt x="9336405" y="6217920"/>
                    <a:pt x="9235440" y="6217920"/>
                  </a:cubicBezTo>
                  <a:lnTo>
                    <a:pt x="182880" y="6217920"/>
                  </a:lnTo>
                  <a:cubicBezTo>
                    <a:pt x="81915" y="6217920"/>
                    <a:pt x="0" y="6136005"/>
                    <a:pt x="0" y="6035040"/>
                  </a:cubicBezTo>
                  <a:close/>
                </a:path>
              </a:pathLst>
            </a:custGeom>
            <a:solidFill>
              <a:srgbClr val="FFFFFF"/>
            </a:solidFill>
          </p:spPr>
        </p:sp>
      </p:grpSp>
      <p:grpSp>
        <p:nvGrpSpPr>
          <p:cNvPr name="Group 31" id="31"/>
          <p:cNvGrpSpPr/>
          <p:nvPr/>
        </p:nvGrpSpPr>
        <p:grpSpPr>
          <a:xfrm rot="0">
            <a:off x="8604885" y="2490978"/>
            <a:ext cx="7063740" cy="123444"/>
            <a:chOff x="0" y="0"/>
            <a:chExt cx="9418320" cy="164592"/>
          </a:xfrm>
        </p:grpSpPr>
        <p:sp>
          <p:nvSpPr>
            <p:cNvPr name="Freeform 32" id="32"/>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33" id="33"/>
          <p:cNvGrpSpPr/>
          <p:nvPr/>
        </p:nvGrpSpPr>
        <p:grpSpPr>
          <a:xfrm rot="0">
            <a:off x="9016365" y="2765298"/>
            <a:ext cx="6240780" cy="411480"/>
            <a:chOff x="0" y="0"/>
            <a:chExt cx="8321040" cy="548640"/>
          </a:xfrm>
        </p:grpSpPr>
        <p:sp>
          <p:nvSpPr>
            <p:cNvPr name="Freeform 34" id="34"/>
            <p:cNvSpPr/>
            <p:nvPr/>
          </p:nvSpPr>
          <p:spPr>
            <a:xfrm flipH="false" flipV="false" rot="0">
              <a:off x="0" y="0"/>
              <a:ext cx="8321040" cy="548640"/>
            </a:xfrm>
            <a:custGeom>
              <a:avLst/>
              <a:gdLst/>
              <a:ahLst/>
              <a:cxnLst/>
              <a:rect r="r" b="b" t="t" l="l"/>
              <a:pathLst>
                <a:path h="548640" w="8321040">
                  <a:moveTo>
                    <a:pt x="0" y="0"/>
                  </a:moveTo>
                  <a:lnTo>
                    <a:pt x="8321040" y="0"/>
                  </a:lnTo>
                  <a:lnTo>
                    <a:pt x="8321040" y="548640"/>
                  </a:lnTo>
                  <a:lnTo>
                    <a:pt x="0" y="548640"/>
                  </a:lnTo>
                  <a:close/>
                </a:path>
              </a:pathLst>
            </a:custGeom>
            <a:blipFill>
              <a:blip r:embed="rId9">
                <a:alphaModFix amt="0"/>
              </a:blip>
              <a:stretch>
                <a:fillRect l="0" t="-245523" r="0" b="-245523"/>
              </a:stretch>
            </a:blipFill>
          </p:spPr>
        </p:sp>
        <p:sp>
          <p:nvSpPr>
            <p:cNvPr name="TextBox 35" id="35"/>
            <p:cNvSpPr txBox="true"/>
            <p:nvPr/>
          </p:nvSpPr>
          <p:spPr>
            <a:xfrm>
              <a:off x="0" y="-9525"/>
              <a:ext cx="8321040" cy="558165"/>
            </a:xfrm>
            <a:prstGeom prst="rect">
              <a:avLst/>
            </a:prstGeom>
          </p:spPr>
          <p:txBody>
            <a:bodyPr anchor="ctr" rtlCol="false" tIns="0" lIns="0" bIns="0" rIns="0"/>
            <a:lstStyle/>
            <a:p>
              <a:pPr algn="l">
                <a:lnSpc>
                  <a:spcPts val="1980"/>
                </a:lnSpc>
              </a:pPr>
              <a:r>
                <a:rPr lang="en-US" b="true" sz="1650" spc="150">
                  <a:solidFill>
                    <a:srgbClr val="387F7F"/>
                  </a:solidFill>
                  <a:latin typeface="Poppins Bold"/>
                  <a:ea typeface="Poppins Bold"/>
                  <a:cs typeface="Poppins Bold"/>
                  <a:sym typeface="Poppins Bold"/>
                </a:rPr>
                <a:t>THE RIGHT WAY</a:t>
              </a:r>
            </a:p>
          </p:txBody>
        </p:sp>
      </p:grpSp>
      <p:grpSp>
        <p:nvGrpSpPr>
          <p:cNvPr name="Group 36" id="36"/>
          <p:cNvGrpSpPr/>
          <p:nvPr/>
        </p:nvGrpSpPr>
        <p:grpSpPr>
          <a:xfrm rot="0">
            <a:off x="9016365" y="3313938"/>
            <a:ext cx="6240780" cy="685800"/>
            <a:chOff x="0" y="0"/>
            <a:chExt cx="8321040" cy="914400"/>
          </a:xfrm>
        </p:grpSpPr>
        <p:sp>
          <p:nvSpPr>
            <p:cNvPr name="Freeform 37" id="37"/>
            <p:cNvSpPr/>
            <p:nvPr/>
          </p:nvSpPr>
          <p:spPr>
            <a:xfrm flipH="false" flipV="false" rot="0">
              <a:off x="0" y="0"/>
              <a:ext cx="8321040" cy="914400"/>
            </a:xfrm>
            <a:custGeom>
              <a:avLst/>
              <a:gdLst/>
              <a:ahLst/>
              <a:cxnLst/>
              <a:rect r="r" b="b" t="t" l="l"/>
              <a:pathLst>
                <a:path h="914400" w="8321040">
                  <a:moveTo>
                    <a:pt x="0" y="0"/>
                  </a:moveTo>
                  <a:lnTo>
                    <a:pt x="8321040" y="0"/>
                  </a:lnTo>
                  <a:lnTo>
                    <a:pt x="8321040" y="914400"/>
                  </a:lnTo>
                  <a:lnTo>
                    <a:pt x="0" y="914400"/>
                  </a:lnTo>
                  <a:close/>
                </a:path>
              </a:pathLst>
            </a:custGeom>
            <a:blipFill>
              <a:blip r:embed="rId9">
                <a:alphaModFix amt="0"/>
              </a:blip>
              <a:stretch>
                <a:fillRect l="0" t="-127313" r="0" b="-127313"/>
              </a:stretch>
            </a:blipFill>
          </p:spPr>
        </p:sp>
        <p:sp>
          <p:nvSpPr>
            <p:cNvPr name="TextBox 38" id="38"/>
            <p:cNvSpPr txBox="true"/>
            <p:nvPr/>
          </p:nvSpPr>
          <p:spPr>
            <a:xfrm>
              <a:off x="0" y="-19050"/>
              <a:ext cx="8321040" cy="933450"/>
            </a:xfrm>
            <a:prstGeom prst="rect">
              <a:avLst/>
            </a:prstGeom>
          </p:spPr>
          <p:txBody>
            <a:bodyPr anchor="ctr" rtlCol="false" tIns="0" lIns="0" bIns="0" rIns="0"/>
            <a:lstStyle/>
            <a:p>
              <a:pPr algn="l">
                <a:lnSpc>
                  <a:spcPts val="2520"/>
                </a:lnSpc>
              </a:pPr>
              <a:r>
                <a:rPr lang="en-US" sz="2100" b="true">
                  <a:solidFill>
                    <a:srgbClr val="0A1A23"/>
                  </a:solidFill>
                  <a:latin typeface="Poppins Bold"/>
                  <a:ea typeface="Poppins Bold"/>
                  <a:cs typeface="Poppins Bold"/>
                  <a:sym typeface="Poppins Bold"/>
                </a:rPr>
                <a:t>✓  Name the audience</a:t>
              </a:r>
            </a:p>
          </p:txBody>
        </p:sp>
      </p:grpSp>
      <p:grpSp>
        <p:nvGrpSpPr>
          <p:cNvPr name="Group 39" id="39"/>
          <p:cNvGrpSpPr/>
          <p:nvPr/>
        </p:nvGrpSpPr>
        <p:grpSpPr>
          <a:xfrm rot="0">
            <a:off x="9016365" y="4164330"/>
            <a:ext cx="6240780" cy="685800"/>
            <a:chOff x="0" y="0"/>
            <a:chExt cx="8321040" cy="914400"/>
          </a:xfrm>
        </p:grpSpPr>
        <p:sp>
          <p:nvSpPr>
            <p:cNvPr name="Freeform 40" id="40"/>
            <p:cNvSpPr/>
            <p:nvPr/>
          </p:nvSpPr>
          <p:spPr>
            <a:xfrm flipH="false" flipV="false" rot="0">
              <a:off x="0" y="0"/>
              <a:ext cx="8321040" cy="914400"/>
            </a:xfrm>
            <a:custGeom>
              <a:avLst/>
              <a:gdLst/>
              <a:ahLst/>
              <a:cxnLst/>
              <a:rect r="r" b="b" t="t" l="l"/>
              <a:pathLst>
                <a:path h="914400" w="8321040">
                  <a:moveTo>
                    <a:pt x="0" y="0"/>
                  </a:moveTo>
                  <a:lnTo>
                    <a:pt x="8321040" y="0"/>
                  </a:lnTo>
                  <a:lnTo>
                    <a:pt x="8321040" y="914400"/>
                  </a:lnTo>
                  <a:lnTo>
                    <a:pt x="0" y="914400"/>
                  </a:lnTo>
                  <a:close/>
                </a:path>
              </a:pathLst>
            </a:custGeom>
            <a:blipFill>
              <a:blip r:embed="rId9">
                <a:alphaModFix amt="0"/>
              </a:blip>
              <a:stretch>
                <a:fillRect l="0" t="-127313" r="0" b="-127313"/>
              </a:stretch>
            </a:blipFill>
          </p:spPr>
        </p:sp>
        <p:sp>
          <p:nvSpPr>
            <p:cNvPr name="TextBox 41" id="41"/>
            <p:cNvSpPr txBox="true"/>
            <p:nvPr/>
          </p:nvSpPr>
          <p:spPr>
            <a:xfrm>
              <a:off x="0" y="-19050"/>
              <a:ext cx="8321040" cy="933450"/>
            </a:xfrm>
            <a:prstGeom prst="rect">
              <a:avLst/>
            </a:prstGeom>
          </p:spPr>
          <p:txBody>
            <a:bodyPr anchor="ctr" rtlCol="false" tIns="0" lIns="0" bIns="0" rIns="0"/>
            <a:lstStyle/>
            <a:p>
              <a:pPr algn="l">
                <a:lnSpc>
                  <a:spcPts val="2520"/>
                </a:lnSpc>
              </a:pPr>
              <a:r>
                <a:rPr lang="en-US" sz="2100" b="true">
                  <a:solidFill>
                    <a:srgbClr val="0A1A23"/>
                  </a:solidFill>
                  <a:latin typeface="Poppins Bold"/>
                  <a:ea typeface="Poppins Bold"/>
                  <a:cs typeface="Poppins Bold"/>
                  <a:sym typeface="Poppins Bold"/>
                </a:rPr>
                <a:t>✓  List their questions</a:t>
              </a:r>
            </a:p>
          </p:txBody>
        </p:sp>
      </p:grpSp>
      <p:grpSp>
        <p:nvGrpSpPr>
          <p:cNvPr name="Group 42" id="42"/>
          <p:cNvGrpSpPr/>
          <p:nvPr/>
        </p:nvGrpSpPr>
        <p:grpSpPr>
          <a:xfrm rot="0">
            <a:off x="9016365" y="5014722"/>
            <a:ext cx="6240780" cy="685800"/>
            <a:chOff x="0" y="0"/>
            <a:chExt cx="8321040" cy="914400"/>
          </a:xfrm>
        </p:grpSpPr>
        <p:sp>
          <p:nvSpPr>
            <p:cNvPr name="Freeform 43" id="43"/>
            <p:cNvSpPr/>
            <p:nvPr/>
          </p:nvSpPr>
          <p:spPr>
            <a:xfrm flipH="false" flipV="false" rot="0">
              <a:off x="0" y="0"/>
              <a:ext cx="8321040" cy="914400"/>
            </a:xfrm>
            <a:custGeom>
              <a:avLst/>
              <a:gdLst/>
              <a:ahLst/>
              <a:cxnLst/>
              <a:rect r="r" b="b" t="t" l="l"/>
              <a:pathLst>
                <a:path h="914400" w="8321040">
                  <a:moveTo>
                    <a:pt x="0" y="0"/>
                  </a:moveTo>
                  <a:lnTo>
                    <a:pt x="8321040" y="0"/>
                  </a:lnTo>
                  <a:lnTo>
                    <a:pt x="8321040" y="914400"/>
                  </a:lnTo>
                  <a:lnTo>
                    <a:pt x="0" y="914400"/>
                  </a:lnTo>
                  <a:close/>
                </a:path>
              </a:pathLst>
            </a:custGeom>
            <a:blipFill>
              <a:blip r:embed="rId9">
                <a:alphaModFix amt="0"/>
              </a:blip>
              <a:stretch>
                <a:fillRect l="0" t="-127313" r="0" b="-127313"/>
              </a:stretch>
            </a:blipFill>
          </p:spPr>
        </p:sp>
        <p:sp>
          <p:nvSpPr>
            <p:cNvPr name="TextBox 44" id="44"/>
            <p:cNvSpPr txBox="true"/>
            <p:nvPr/>
          </p:nvSpPr>
          <p:spPr>
            <a:xfrm>
              <a:off x="0" y="-19050"/>
              <a:ext cx="8321040" cy="933450"/>
            </a:xfrm>
            <a:prstGeom prst="rect">
              <a:avLst/>
            </a:prstGeom>
          </p:spPr>
          <p:txBody>
            <a:bodyPr anchor="ctr" rtlCol="false" tIns="0" lIns="0" bIns="0" rIns="0"/>
            <a:lstStyle/>
            <a:p>
              <a:pPr algn="l">
                <a:lnSpc>
                  <a:spcPts val="2520"/>
                </a:lnSpc>
              </a:pPr>
              <a:r>
                <a:rPr lang="en-US" sz="2100" b="true">
                  <a:solidFill>
                    <a:srgbClr val="0A1A23"/>
                  </a:solidFill>
                  <a:latin typeface="Poppins Bold"/>
                  <a:ea typeface="Poppins Bold"/>
                  <a:cs typeface="Poppins Bold"/>
                  <a:sym typeface="Poppins Bold"/>
                </a:rPr>
                <a:t>✓  Pick the metrics</a:t>
              </a:r>
            </a:p>
          </p:txBody>
        </p:sp>
      </p:grpSp>
      <p:grpSp>
        <p:nvGrpSpPr>
          <p:cNvPr name="Group 45" id="45"/>
          <p:cNvGrpSpPr/>
          <p:nvPr/>
        </p:nvGrpSpPr>
        <p:grpSpPr>
          <a:xfrm rot="0">
            <a:off x="9016365" y="5865114"/>
            <a:ext cx="6240780" cy="685800"/>
            <a:chOff x="0" y="0"/>
            <a:chExt cx="8321040" cy="914400"/>
          </a:xfrm>
        </p:grpSpPr>
        <p:sp>
          <p:nvSpPr>
            <p:cNvPr name="Freeform 46" id="46"/>
            <p:cNvSpPr/>
            <p:nvPr/>
          </p:nvSpPr>
          <p:spPr>
            <a:xfrm flipH="false" flipV="false" rot="0">
              <a:off x="0" y="0"/>
              <a:ext cx="8321040" cy="914400"/>
            </a:xfrm>
            <a:custGeom>
              <a:avLst/>
              <a:gdLst/>
              <a:ahLst/>
              <a:cxnLst/>
              <a:rect r="r" b="b" t="t" l="l"/>
              <a:pathLst>
                <a:path h="914400" w="8321040">
                  <a:moveTo>
                    <a:pt x="0" y="0"/>
                  </a:moveTo>
                  <a:lnTo>
                    <a:pt x="8321040" y="0"/>
                  </a:lnTo>
                  <a:lnTo>
                    <a:pt x="8321040" y="914400"/>
                  </a:lnTo>
                  <a:lnTo>
                    <a:pt x="0" y="914400"/>
                  </a:lnTo>
                  <a:close/>
                </a:path>
              </a:pathLst>
            </a:custGeom>
            <a:blipFill>
              <a:blip r:embed="rId9">
                <a:alphaModFix amt="0"/>
              </a:blip>
              <a:stretch>
                <a:fillRect l="0" t="-127313" r="0" b="-127313"/>
              </a:stretch>
            </a:blipFill>
          </p:spPr>
        </p:sp>
        <p:sp>
          <p:nvSpPr>
            <p:cNvPr name="TextBox 47" id="47"/>
            <p:cNvSpPr txBox="true"/>
            <p:nvPr/>
          </p:nvSpPr>
          <p:spPr>
            <a:xfrm>
              <a:off x="0" y="-19050"/>
              <a:ext cx="8321040" cy="933450"/>
            </a:xfrm>
            <a:prstGeom prst="rect">
              <a:avLst/>
            </a:prstGeom>
          </p:spPr>
          <p:txBody>
            <a:bodyPr anchor="ctr" rtlCol="false" tIns="0" lIns="0" bIns="0" rIns="0"/>
            <a:lstStyle/>
            <a:p>
              <a:pPr algn="l">
                <a:lnSpc>
                  <a:spcPts val="2520"/>
                </a:lnSpc>
              </a:pPr>
              <a:r>
                <a:rPr lang="en-US" sz="2100" b="true">
                  <a:solidFill>
                    <a:srgbClr val="0A1A23"/>
                  </a:solidFill>
                  <a:latin typeface="Poppins Bold"/>
                  <a:ea typeface="Poppins Bold"/>
                  <a:cs typeface="Poppins Bold"/>
                  <a:sym typeface="Poppins Bold"/>
                </a:rPr>
                <a:t>✓  Choose visuals last</a:t>
              </a:r>
            </a:p>
          </p:txBody>
        </p:sp>
      </p:grpSp>
      <p:sp>
        <p:nvSpPr>
          <p:cNvPr name="TextBox 48" id="48"/>
          <p:cNvSpPr txBox="true"/>
          <p:nvPr/>
        </p:nvSpPr>
        <p:spPr>
          <a:xfrm rot="0">
            <a:off x="9016365" y="6608064"/>
            <a:ext cx="6629400" cy="336614"/>
          </a:xfrm>
          <a:prstGeom prst="rect">
            <a:avLst/>
          </a:prstGeom>
        </p:spPr>
        <p:txBody>
          <a:bodyPr anchor="t" rtlCol="false" tIns="0" lIns="0" bIns="0" rIns="0">
            <a:spAutoFit/>
          </a:bodyPr>
          <a:lstStyle/>
          <a:p>
            <a:pPr algn="l">
              <a:lnSpc>
                <a:spcPts val="2794"/>
              </a:lnSpc>
            </a:pPr>
            <a:r>
              <a:rPr lang="en-US" sz="1725" i="true">
                <a:solidFill>
                  <a:srgbClr val="64748B"/>
                </a:solidFill>
                <a:latin typeface="Poppins Italics"/>
                <a:ea typeface="Poppins Italics"/>
                <a:cs typeface="Poppins Italics"/>
                <a:sym typeface="Poppins Italics"/>
              </a:rPr>
              <a:t>Every visual supports a decision someone actually makes.</a:t>
            </a:r>
          </a:p>
        </p:txBody>
      </p:sp>
      <p:grpSp>
        <p:nvGrpSpPr>
          <p:cNvPr name="Group 49" id="49"/>
          <p:cNvGrpSpPr/>
          <p:nvPr/>
        </p:nvGrpSpPr>
        <p:grpSpPr>
          <a:xfrm rot="0">
            <a:off x="923925" y="7634478"/>
            <a:ext cx="14744700" cy="1371600"/>
            <a:chOff x="0" y="0"/>
            <a:chExt cx="19659600" cy="1828800"/>
          </a:xfrm>
        </p:grpSpPr>
        <p:sp>
          <p:nvSpPr>
            <p:cNvPr name="Freeform 50" id="50"/>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51" id="51"/>
          <p:cNvGrpSpPr/>
          <p:nvPr/>
        </p:nvGrpSpPr>
        <p:grpSpPr>
          <a:xfrm rot="0">
            <a:off x="923925" y="7634478"/>
            <a:ext cx="102870" cy="1371600"/>
            <a:chOff x="0" y="0"/>
            <a:chExt cx="137160" cy="1828800"/>
          </a:xfrm>
        </p:grpSpPr>
        <p:sp>
          <p:nvSpPr>
            <p:cNvPr name="Freeform 52" id="52"/>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53" id="53"/>
          <p:cNvGrpSpPr/>
          <p:nvPr/>
        </p:nvGrpSpPr>
        <p:grpSpPr>
          <a:xfrm rot="0">
            <a:off x="1472565" y="7634478"/>
            <a:ext cx="13853160" cy="1371600"/>
            <a:chOff x="0" y="0"/>
            <a:chExt cx="18470880" cy="1828800"/>
          </a:xfrm>
        </p:grpSpPr>
        <p:sp>
          <p:nvSpPr>
            <p:cNvPr name="Freeform 54" id="54"/>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55" id="55"/>
            <p:cNvSpPr txBox="true"/>
            <p:nvPr/>
          </p:nvSpPr>
          <p:spPr>
            <a:xfrm>
              <a:off x="0" y="-85725"/>
              <a:ext cx="18470880" cy="1914525"/>
            </a:xfrm>
            <a:prstGeom prst="rect">
              <a:avLst/>
            </a:prstGeom>
          </p:spPr>
          <p:txBody>
            <a:bodyPr anchor="ctr" rtlCol="false" tIns="0" lIns="0" bIns="0" rIns="0"/>
            <a:lstStyle/>
            <a:p>
              <a:pPr algn="l">
                <a:lnSpc>
                  <a:spcPts val="3375"/>
                </a:lnSpc>
              </a:pPr>
              <a:r>
                <a:rPr lang="en-US" sz="2250" b="true">
                  <a:solidFill>
                    <a:srgbClr val="387F7F"/>
                  </a:solidFill>
                  <a:latin typeface="Poppins Bold"/>
                  <a:ea typeface="Poppins Bold"/>
                  <a:cs typeface="Poppins Bold"/>
                  <a:sym typeface="Poppins Bold"/>
                </a:rPr>
                <a:t>Anything that does not support Adaeze's decisions, however interesting, belongs somewhere else.</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1012"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689679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a:t>
            </a:r>
            <a:r>
              <a:rPr lang="en-US" sz="5000">
                <a:solidFill>
                  <a:srgbClr val="388080"/>
                </a:solidFill>
                <a:latin typeface="Poppins"/>
                <a:ea typeface="Poppins"/>
                <a:cs typeface="Poppins"/>
                <a:sym typeface="Poppins"/>
              </a:rPr>
              <a:t>e brief, in her words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95350" y="2537460"/>
            <a:ext cx="14744700" cy="1673352"/>
            <a:chOff x="0" y="0"/>
            <a:chExt cx="19659600" cy="2231136"/>
          </a:xfrm>
        </p:grpSpPr>
        <p:sp>
          <p:nvSpPr>
            <p:cNvPr name="Freeform 12" id="12"/>
            <p:cNvSpPr/>
            <p:nvPr/>
          </p:nvSpPr>
          <p:spPr>
            <a:xfrm flipH="false" flipV="false" rot="0">
              <a:off x="0" y="0"/>
              <a:ext cx="19659600" cy="2231136"/>
            </a:xfrm>
            <a:custGeom>
              <a:avLst/>
              <a:gdLst/>
              <a:ahLst/>
              <a:cxnLst/>
              <a:rect r="r" b="b" t="t" l="l"/>
              <a:pathLst>
                <a:path h="2231136" w="19659600">
                  <a:moveTo>
                    <a:pt x="0" y="182880"/>
                  </a:moveTo>
                  <a:cubicBezTo>
                    <a:pt x="0" y="81915"/>
                    <a:pt x="81915" y="0"/>
                    <a:pt x="182880" y="0"/>
                  </a:cubicBezTo>
                  <a:lnTo>
                    <a:pt x="19476720" y="0"/>
                  </a:lnTo>
                  <a:cubicBezTo>
                    <a:pt x="19577684" y="0"/>
                    <a:pt x="19659600" y="81915"/>
                    <a:pt x="19659600" y="182880"/>
                  </a:cubicBezTo>
                  <a:lnTo>
                    <a:pt x="19659600" y="2048256"/>
                  </a:lnTo>
                  <a:cubicBezTo>
                    <a:pt x="19659600" y="2149221"/>
                    <a:pt x="19577684" y="2231136"/>
                    <a:pt x="19476720" y="2231136"/>
                  </a:cubicBezTo>
                  <a:lnTo>
                    <a:pt x="182880" y="2231136"/>
                  </a:lnTo>
                  <a:cubicBezTo>
                    <a:pt x="81915" y="2231136"/>
                    <a:pt x="0" y="2149221"/>
                    <a:pt x="0" y="2048256"/>
                  </a:cubicBezTo>
                  <a:close/>
                </a:path>
              </a:pathLst>
            </a:custGeom>
            <a:solidFill>
              <a:srgbClr val="FFFFFF"/>
            </a:solidFill>
          </p:spPr>
        </p:sp>
      </p:grpSp>
      <p:grpSp>
        <p:nvGrpSpPr>
          <p:cNvPr name="Group 13" id="13"/>
          <p:cNvGrpSpPr/>
          <p:nvPr/>
        </p:nvGrpSpPr>
        <p:grpSpPr>
          <a:xfrm rot="0">
            <a:off x="1265682" y="2976372"/>
            <a:ext cx="795528" cy="795528"/>
            <a:chOff x="0" y="0"/>
            <a:chExt cx="1060704" cy="1060704"/>
          </a:xfrm>
        </p:grpSpPr>
        <p:sp>
          <p:nvSpPr>
            <p:cNvPr name="Freeform 14" id="14"/>
            <p:cNvSpPr/>
            <p:nvPr/>
          </p:nvSpPr>
          <p:spPr>
            <a:xfrm flipH="false" flipV="false" rot="0">
              <a:off x="0" y="0"/>
              <a:ext cx="1060704" cy="1060704"/>
            </a:xfrm>
            <a:custGeom>
              <a:avLst/>
              <a:gdLst/>
              <a:ahLst/>
              <a:cxnLst/>
              <a:rect r="r" b="b" t="t" l="l"/>
              <a:pathLst>
                <a:path h="1060704" w="1060704">
                  <a:moveTo>
                    <a:pt x="0" y="530352"/>
                  </a:moveTo>
                  <a:cubicBezTo>
                    <a:pt x="0" y="237490"/>
                    <a:pt x="237490" y="0"/>
                    <a:pt x="530352" y="0"/>
                  </a:cubicBezTo>
                  <a:cubicBezTo>
                    <a:pt x="823214" y="0"/>
                    <a:pt x="1060704" y="237490"/>
                    <a:pt x="1060704" y="530352"/>
                  </a:cubicBezTo>
                  <a:cubicBezTo>
                    <a:pt x="1060704" y="823214"/>
                    <a:pt x="823214" y="1060704"/>
                    <a:pt x="530352" y="1060704"/>
                  </a:cubicBezTo>
                  <a:cubicBezTo>
                    <a:pt x="237490" y="1060704"/>
                    <a:pt x="0" y="823214"/>
                    <a:pt x="0" y="530352"/>
                  </a:cubicBezTo>
                  <a:close/>
                </a:path>
              </a:pathLst>
            </a:custGeom>
            <a:solidFill>
              <a:srgbClr val="387F7F"/>
            </a:solidFill>
          </p:spPr>
        </p:sp>
      </p:grpSp>
      <p:grpSp>
        <p:nvGrpSpPr>
          <p:cNvPr name="Group 15" id="15"/>
          <p:cNvGrpSpPr/>
          <p:nvPr/>
        </p:nvGrpSpPr>
        <p:grpSpPr>
          <a:xfrm rot="0">
            <a:off x="1265682" y="2976372"/>
            <a:ext cx="795528" cy="795528"/>
            <a:chOff x="0" y="0"/>
            <a:chExt cx="1060704" cy="1060704"/>
          </a:xfrm>
        </p:grpSpPr>
        <p:sp>
          <p:nvSpPr>
            <p:cNvPr name="Freeform 16" id="16"/>
            <p:cNvSpPr/>
            <p:nvPr/>
          </p:nvSpPr>
          <p:spPr>
            <a:xfrm flipH="false" flipV="false" rot="0">
              <a:off x="0" y="0"/>
              <a:ext cx="1060704" cy="1060704"/>
            </a:xfrm>
            <a:custGeom>
              <a:avLst/>
              <a:gdLst/>
              <a:ahLst/>
              <a:cxnLst/>
              <a:rect r="r" b="b" t="t" l="l"/>
              <a:pathLst>
                <a:path h="1060704" w="1060704">
                  <a:moveTo>
                    <a:pt x="0" y="0"/>
                  </a:moveTo>
                  <a:lnTo>
                    <a:pt x="1060704" y="0"/>
                  </a:lnTo>
                  <a:lnTo>
                    <a:pt x="1060704" y="1060704"/>
                  </a:lnTo>
                  <a:lnTo>
                    <a:pt x="0" y="1060704"/>
                  </a:lnTo>
                  <a:close/>
                </a:path>
              </a:pathLst>
            </a:custGeom>
            <a:blipFill>
              <a:blip r:embed="rId9">
                <a:alphaModFix amt="0"/>
              </a:blip>
              <a:stretch>
                <a:fillRect l="-78303" t="0" r="-78303" b="0"/>
              </a:stretch>
            </a:blipFill>
          </p:spPr>
        </p:sp>
        <p:sp>
          <p:nvSpPr>
            <p:cNvPr name="TextBox 17" id="17"/>
            <p:cNvSpPr txBox="true"/>
            <p:nvPr/>
          </p:nvSpPr>
          <p:spPr>
            <a:xfrm>
              <a:off x="0" y="-19050"/>
              <a:ext cx="1060704" cy="1079754"/>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1</a:t>
              </a:r>
            </a:p>
          </p:txBody>
        </p:sp>
      </p:grpSp>
      <p:grpSp>
        <p:nvGrpSpPr>
          <p:cNvPr name="Group 18" id="18"/>
          <p:cNvGrpSpPr/>
          <p:nvPr/>
        </p:nvGrpSpPr>
        <p:grpSpPr>
          <a:xfrm rot="0">
            <a:off x="2404110" y="2743200"/>
            <a:ext cx="12755880" cy="685800"/>
            <a:chOff x="0" y="0"/>
            <a:chExt cx="17007840" cy="914400"/>
          </a:xfrm>
        </p:grpSpPr>
        <p:sp>
          <p:nvSpPr>
            <p:cNvPr name="Freeform 19" id="19"/>
            <p:cNvSpPr/>
            <p:nvPr/>
          </p:nvSpPr>
          <p:spPr>
            <a:xfrm flipH="false" flipV="false" rot="0">
              <a:off x="0" y="0"/>
              <a:ext cx="17007839" cy="914400"/>
            </a:xfrm>
            <a:custGeom>
              <a:avLst/>
              <a:gdLst/>
              <a:ahLst/>
              <a:cxnLst/>
              <a:rect r="r" b="b" t="t" l="l"/>
              <a:pathLst>
                <a:path h="914400" w="17007839">
                  <a:moveTo>
                    <a:pt x="0" y="0"/>
                  </a:moveTo>
                  <a:lnTo>
                    <a:pt x="17007839" y="0"/>
                  </a:lnTo>
                  <a:lnTo>
                    <a:pt x="17007839" y="914400"/>
                  </a:lnTo>
                  <a:lnTo>
                    <a:pt x="0" y="914400"/>
                  </a:lnTo>
                  <a:close/>
                </a:path>
              </a:pathLst>
            </a:custGeom>
            <a:blipFill>
              <a:blip r:embed="rId9">
                <a:alphaModFix amt="0"/>
              </a:blip>
              <a:stretch>
                <a:fillRect l="0" t="-312421" r="0" b="-312421"/>
              </a:stretch>
            </a:blipFill>
          </p:spPr>
        </p:sp>
        <p:sp>
          <p:nvSpPr>
            <p:cNvPr name="TextBox 20" id="20"/>
            <p:cNvSpPr txBox="true"/>
            <p:nvPr/>
          </p:nvSpPr>
          <p:spPr>
            <a:xfrm>
              <a:off x="0" y="-28575"/>
              <a:ext cx="17007840" cy="942975"/>
            </a:xfrm>
            <a:prstGeom prst="rect">
              <a:avLst/>
            </a:prstGeom>
          </p:spPr>
          <p:txBody>
            <a:bodyPr anchor="ctr" rtlCol="false" tIns="0" lIns="0" bIns="0" rIns="0"/>
            <a:lstStyle/>
            <a:p>
              <a:pPr algn="l">
                <a:lnSpc>
                  <a:spcPts val="2970"/>
                </a:lnSpc>
              </a:pPr>
              <a:r>
                <a:rPr lang="en-US" sz="2475" b="true">
                  <a:solidFill>
                    <a:srgbClr val="0A1A23"/>
                  </a:solidFill>
                  <a:latin typeface="Poppins Bold"/>
                  <a:ea typeface="Poppins Bold"/>
                  <a:cs typeface="Poppins Bold"/>
                  <a:sym typeface="Poppins Bold"/>
                </a:rPr>
                <a:t>“Are we hitting the 90 percent promise this month?”</a:t>
              </a:r>
            </a:p>
          </p:txBody>
        </p:sp>
      </p:grpSp>
      <p:grpSp>
        <p:nvGrpSpPr>
          <p:cNvPr name="Group 21" id="21"/>
          <p:cNvGrpSpPr/>
          <p:nvPr/>
        </p:nvGrpSpPr>
        <p:grpSpPr>
          <a:xfrm rot="0">
            <a:off x="2404110" y="3470148"/>
            <a:ext cx="12207240" cy="548640"/>
            <a:chOff x="0" y="0"/>
            <a:chExt cx="16276320" cy="731520"/>
          </a:xfrm>
        </p:grpSpPr>
        <p:sp>
          <p:nvSpPr>
            <p:cNvPr name="Freeform 22" id="22"/>
            <p:cNvSpPr/>
            <p:nvPr/>
          </p:nvSpPr>
          <p:spPr>
            <a:xfrm flipH="false" flipV="false" rot="0">
              <a:off x="0" y="0"/>
              <a:ext cx="16276320" cy="731520"/>
            </a:xfrm>
            <a:custGeom>
              <a:avLst/>
              <a:gdLst/>
              <a:ahLst/>
              <a:cxnLst/>
              <a:rect r="r" b="b" t="t" l="l"/>
              <a:pathLst>
                <a:path h="731520" w="16276320">
                  <a:moveTo>
                    <a:pt x="0" y="109728"/>
                  </a:moveTo>
                  <a:cubicBezTo>
                    <a:pt x="0" y="49149"/>
                    <a:pt x="49149" y="0"/>
                    <a:pt x="109728" y="0"/>
                  </a:cubicBezTo>
                  <a:lnTo>
                    <a:pt x="16166592" y="0"/>
                  </a:lnTo>
                  <a:cubicBezTo>
                    <a:pt x="16227171" y="0"/>
                    <a:pt x="16276320" y="49149"/>
                    <a:pt x="16276320" y="109728"/>
                  </a:cubicBezTo>
                  <a:lnTo>
                    <a:pt x="16276320" y="621792"/>
                  </a:lnTo>
                  <a:cubicBezTo>
                    <a:pt x="16276320" y="682371"/>
                    <a:pt x="16227171" y="731520"/>
                    <a:pt x="16166592" y="731520"/>
                  </a:cubicBezTo>
                  <a:lnTo>
                    <a:pt x="109728" y="731520"/>
                  </a:lnTo>
                  <a:cubicBezTo>
                    <a:pt x="49149" y="731520"/>
                    <a:pt x="0" y="682371"/>
                    <a:pt x="0" y="621792"/>
                  </a:cubicBezTo>
                  <a:close/>
                </a:path>
              </a:pathLst>
            </a:custGeom>
            <a:solidFill>
              <a:srgbClr val="EEF4F4"/>
            </a:solidFill>
          </p:spPr>
        </p:sp>
      </p:grpSp>
      <p:grpSp>
        <p:nvGrpSpPr>
          <p:cNvPr name="Group 23" id="23"/>
          <p:cNvGrpSpPr/>
          <p:nvPr/>
        </p:nvGrpSpPr>
        <p:grpSpPr>
          <a:xfrm rot="0">
            <a:off x="2609850" y="3470148"/>
            <a:ext cx="11795760" cy="548640"/>
            <a:chOff x="0" y="0"/>
            <a:chExt cx="15727680" cy="731520"/>
          </a:xfrm>
        </p:grpSpPr>
        <p:sp>
          <p:nvSpPr>
            <p:cNvPr name="Freeform 24" id="24"/>
            <p:cNvSpPr/>
            <p:nvPr/>
          </p:nvSpPr>
          <p:spPr>
            <a:xfrm flipH="false" flipV="false" rot="0">
              <a:off x="0" y="0"/>
              <a:ext cx="15727680" cy="731520"/>
            </a:xfrm>
            <a:custGeom>
              <a:avLst/>
              <a:gdLst/>
              <a:ahLst/>
              <a:cxnLst/>
              <a:rect r="r" b="b" t="t" l="l"/>
              <a:pathLst>
                <a:path h="731520" w="15727680">
                  <a:moveTo>
                    <a:pt x="0" y="0"/>
                  </a:moveTo>
                  <a:lnTo>
                    <a:pt x="15727680" y="0"/>
                  </a:lnTo>
                  <a:lnTo>
                    <a:pt x="15727680" y="731520"/>
                  </a:lnTo>
                  <a:lnTo>
                    <a:pt x="0" y="731520"/>
                  </a:lnTo>
                  <a:close/>
                </a:path>
              </a:pathLst>
            </a:custGeom>
            <a:blipFill>
              <a:blip r:embed="rId9">
                <a:alphaModFix amt="0"/>
              </a:blip>
              <a:stretch>
                <a:fillRect l="0" t="-368928" r="0" b="-368928"/>
              </a:stretch>
            </a:blipFill>
          </p:spPr>
        </p:sp>
        <p:sp>
          <p:nvSpPr>
            <p:cNvPr name="TextBox 25" id="25"/>
            <p:cNvSpPr txBox="true"/>
            <p:nvPr/>
          </p:nvSpPr>
          <p:spPr>
            <a:xfrm>
              <a:off x="0" y="-19050"/>
              <a:ext cx="15727680" cy="750570"/>
            </a:xfrm>
            <a:prstGeom prst="rect">
              <a:avLst/>
            </a:prstGeom>
          </p:spPr>
          <p:txBody>
            <a:bodyPr anchor="ctr" rtlCol="false" tIns="0" lIns="0" bIns="0" rIns="0"/>
            <a:lstStyle/>
            <a:p>
              <a:pPr algn="l">
                <a:lnSpc>
                  <a:spcPts val="2160"/>
                </a:lnSpc>
              </a:pPr>
              <a:r>
                <a:rPr lang="en-US" sz="1800" b="true">
                  <a:solidFill>
                    <a:srgbClr val="387F7F"/>
                  </a:solidFill>
                  <a:latin typeface="Poppins Bold"/>
                  <a:ea typeface="Poppins Bold"/>
                  <a:cs typeface="Poppins Bold"/>
                  <a:sym typeface="Poppins Bold"/>
                </a:rPr>
                <a:t>→  On-Time Rate, current month, against a 90% target</a:t>
              </a:r>
            </a:p>
          </p:txBody>
        </p:sp>
      </p:grpSp>
      <p:grpSp>
        <p:nvGrpSpPr>
          <p:cNvPr name="Group 26" id="26"/>
          <p:cNvGrpSpPr/>
          <p:nvPr/>
        </p:nvGrpSpPr>
        <p:grpSpPr>
          <a:xfrm rot="0">
            <a:off x="895350" y="4485132"/>
            <a:ext cx="14744700" cy="1673352"/>
            <a:chOff x="0" y="0"/>
            <a:chExt cx="19659600" cy="2231136"/>
          </a:xfrm>
        </p:grpSpPr>
        <p:sp>
          <p:nvSpPr>
            <p:cNvPr name="Freeform 27" id="27"/>
            <p:cNvSpPr/>
            <p:nvPr/>
          </p:nvSpPr>
          <p:spPr>
            <a:xfrm flipH="false" flipV="false" rot="0">
              <a:off x="0" y="0"/>
              <a:ext cx="19659600" cy="2231136"/>
            </a:xfrm>
            <a:custGeom>
              <a:avLst/>
              <a:gdLst/>
              <a:ahLst/>
              <a:cxnLst/>
              <a:rect r="r" b="b" t="t" l="l"/>
              <a:pathLst>
                <a:path h="2231136" w="19659600">
                  <a:moveTo>
                    <a:pt x="0" y="182880"/>
                  </a:moveTo>
                  <a:cubicBezTo>
                    <a:pt x="0" y="81915"/>
                    <a:pt x="81915" y="0"/>
                    <a:pt x="182880" y="0"/>
                  </a:cubicBezTo>
                  <a:lnTo>
                    <a:pt x="19476720" y="0"/>
                  </a:lnTo>
                  <a:cubicBezTo>
                    <a:pt x="19577684" y="0"/>
                    <a:pt x="19659600" y="81915"/>
                    <a:pt x="19659600" y="182880"/>
                  </a:cubicBezTo>
                  <a:lnTo>
                    <a:pt x="19659600" y="2048256"/>
                  </a:lnTo>
                  <a:cubicBezTo>
                    <a:pt x="19659600" y="2149221"/>
                    <a:pt x="19577684" y="2231136"/>
                    <a:pt x="19476720" y="2231136"/>
                  </a:cubicBezTo>
                  <a:lnTo>
                    <a:pt x="182880" y="2231136"/>
                  </a:lnTo>
                  <a:cubicBezTo>
                    <a:pt x="81915" y="2231136"/>
                    <a:pt x="0" y="2149221"/>
                    <a:pt x="0" y="2048256"/>
                  </a:cubicBezTo>
                  <a:close/>
                </a:path>
              </a:pathLst>
            </a:custGeom>
            <a:solidFill>
              <a:srgbClr val="FFFFFF"/>
            </a:solidFill>
          </p:spPr>
        </p:sp>
      </p:grpSp>
      <p:grpSp>
        <p:nvGrpSpPr>
          <p:cNvPr name="Group 28" id="28"/>
          <p:cNvGrpSpPr/>
          <p:nvPr/>
        </p:nvGrpSpPr>
        <p:grpSpPr>
          <a:xfrm rot="0">
            <a:off x="1265682" y="4924044"/>
            <a:ext cx="795528" cy="795528"/>
            <a:chOff x="0" y="0"/>
            <a:chExt cx="1060704" cy="1060704"/>
          </a:xfrm>
        </p:grpSpPr>
        <p:sp>
          <p:nvSpPr>
            <p:cNvPr name="Freeform 29" id="29"/>
            <p:cNvSpPr/>
            <p:nvPr/>
          </p:nvSpPr>
          <p:spPr>
            <a:xfrm flipH="false" flipV="false" rot="0">
              <a:off x="0" y="0"/>
              <a:ext cx="1060704" cy="1060704"/>
            </a:xfrm>
            <a:custGeom>
              <a:avLst/>
              <a:gdLst/>
              <a:ahLst/>
              <a:cxnLst/>
              <a:rect r="r" b="b" t="t" l="l"/>
              <a:pathLst>
                <a:path h="1060704" w="1060704">
                  <a:moveTo>
                    <a:pt x="0" y="530352"/>
                  </a:moveTo>
                  <a:cubicBezTo>
                    <a:pt x="0" y="237490"/>
                    <a:pt x="237490" y="0"/>
                    <a:pt x="530352" y="0"/>
                  </a:cubicBezTo>
                  <a:cubicBezTo>
                    <a:pt x="823214" y="0"/>
                    <a:pt x="1060704" y="237490"/>
                    <a:pt x="1060704" y="530352"/>
                  </a:cubicBezTo>
                  <a:cubicBezTo>
                    <a:pt x="1060704" y="823214"/>
                    <a:pt x="823214" y="1060704"/>
                    <a:pt x="530352" y="1060704"/>
                  </a:cubicBezTo>
                  <a:cubicBezTo>
                    <a:pt x="237490" y="1060704"/>
                    <a:pt x="0" y="823214"/>
                    <a:pt x="0" y="530352"/>
                  </a:cubicBezTo>
                  <a:close/>
                </a:path>
              </a:pathLst>
            </a:custGeom>
            <a:solidFill>
              <a:srgbClr val="387F7F"/>
            </a:solidFill>
          </p:spPr>
        </p:sp>
      </p:grpSp>
      <p:grpSp>
        <p:nvGrpSpPr>
          <p:cNvPr name="Group 30" id="30"/>
          <p:cNvGrpSpPr/>
          <p:nvPr/>
        </p:nvGrpSpPr>
        <p:grpSpPr>
          <a:xfrm rot="0">
            <a:off x="1265682" y="4924044"/>
            <a:ext cx="795528" cy="795528"/>
            <a:chOff x="0" y="0"/>
            <a:chExt cx="1060704" cy="1060704"/>
          </a:xfrm>
        </p:grpSpPr>
        <p:sp>
          <p:nvSpPr>
            <p:cNvPr name="Freeform 31" id="31"/>
            <p:cNvSpPr/>
            <p:nvPr/>
          </p:nvSpPr>
          <p:spPr>
            <a:xfrm flipH="false" flipV="false" rot="0">
              <a:off x="0" y="0"/>
              <a:ext cx="1060704" cy="1060704"/>
            </a:xfrm>
            <a:custGeom>
              <a:avLst/>
              <a:gdLst/>
              <a:ahLst/>
              <a:cxnLst/>
              <a:rect r="r" b="b" t="t" l="l"/>
              <a:pathLst>
                <a:path h="1060704" w="1060704">
                  <a:moveTo>
                    <a:pt x="0" y="0"/>
                  </a:moveTo>
                  <a:lnTo>
                    <a:pt x="1060704" y="0"/>
                  </a:lnTo>
                  <a:lnTo>
                    <a:pt x="1060704" y="1060704"/>
                  </a:lnTo>
                  <a:lnTo>
                    <a:pt x="0" y="1060704"/>
                  </a:lnTo>
                  <a:close/>
                </a:path>
              </a:pathLst>
            </a:custGeom>
            <a:blipFill>
              <a:blip r:embed="rId9">
                <a:alphaModFix amt="0"/>
              </a:blip>
              <a:stretch>
                <a:fillRect l="-78303" t="0" r="-78303" b="0"/>
              </a:stretch>
            </a:blipFill>
          </p:spPr>
        </p:sp>
        <p:sp>
          <p:nvSpPr>
            <p:cNvPr name="TextBox 32" id="32"/>
            <p:cNvSpPr txBox="true"/>
            <p:nvPr/>
          </p:nvSpPr>
          <p:spPr>
            <a:xfrm>
              <a:off x="0" y="-19050"/>
              <a:ext cx="1060704" cy="1079754"/>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2</a:t>
              </a:r>
            </a:p>
          </p:txBody>
        </p:sp>
      </p:grpSp>
      <p:grpSp>
        <p:nvGrpSpPr>
          <p:cNvPr name="Group 33" id="33"/>
          <p:cNvGrpSpPr/>
          <p:nvPr/>
        </p:nvGrpSpPr>
        <p:grpSpPr>
          <a:xfrm rot="0">
            <a:off x="2404110" y="4690872"/>
            <a:ext cx="12755880" cy="685800"/>
            <a:chOff x="0" y="0"/>
            <a:chExt cx="17007840" cy="914400"/>
          </a:xfrm>
        </p:grpSpPr>
        <p:sp>
          <p:nvSpPr>
            <p:cNvPr name="Freeform 34" id="34"/>
            <p:cNvSpPr/>
            <p:nvPr/>
          </p:nvSpPr>
          <p:spPr>
            <a:xfrm flipH="false" flipV="false" rot="0">
              <a:off x="0" y="0"/>
              <a:ext cx="17007839" cy="914400"/>
            </a:xfrm>
            <a:custGeom>
              <a:avLst/>
              <a:gdLst/>
              <a:ahLst/>
              <a:cxnLst/>
              <a:rect r="r" b="b" t="t" l="l"/>
              <a:pathLst>
                <a:path h="914400" w="17007839">
                  <a:moveTo>
                    <a:pt x="0" y="0"/>
                  </a:moveTo>
                  <a:lnTo>
                    <a:pt x="17007839" y="0"/>
                  </a:lnTo>
                  <a:lnTo>
                    <a:pt x="17007839" y="914400"/>
                  </a:lnTo>
                  <a:lnTo>
                    <a:pt x="0" y="914400"/>
                  </a:lnTo>
                  <a:close/>
                </a:path>
              </a:pathLst>
            </a:custGeom>
            <a:blipFill>
              <a:blip r:embed="rId9">
                <a:alphaModFix amt="0"/>
              </a:blip>
              <a:stretch>
                <a:fillRect l="0" t="-312421" r="0" b="-312421"/>
              </a:stretch>
            </a:blipFill>
          </p:spPr>
        </p:sp>
        <p:sp>
          <p:nvSpPr>
            <p:cNvPr name="TextBox 35" id="35"/>
            <p:cNvSpPr txBox="true"/>
            <p:nvPr/>
          </p:nvSpPr>
          <p:spPr>
            <a:xfrm>
              <a:off x="0" y="-28575"/>
              <a:ext cx="17007840" cy="942975"/>
            </a:xfrm>
            <a:prstGeom prst="rect">
              <a:avLst/>
            </a:prstGeom>
          </p:spPr>
          <p:txBody>
            <a:bodyPr anchor="ctr" rtlCol="false" tIns="0" lIns="0" bIns="0" rIns="0"/>
            <a:lstStyle/>
            <a:p>
              <a:pPr algn="l">
                <a:lnSpc>
                  <a:spcPts val="2970"/>
                </a:lnSpc>
              </a:pPr>
              <a:r>
                <a:rPr lang="en-US" sz="2475" b="true">
                  <a:solidFill>
                    <a:srgbClr val="0A1A23"/>
                  </a:solidFill>
                  <a:latin typeface="Poppins Bold"/>
                  <a:ea typeface="Poppins Bold"/>
                  <a:cs typeface="Poppins Bold"/>
                  <a:sym typeface="Poppins Bold"/>
                </a:rPr>
                <a:t>“Which routes are dragging us down?”</a:t>
              </a:r>
            </a:p>
          </p:txBody>
        </p:sp>
      </p:grpSp>
      <p:grpSp>
        <p:nvGrpSpPr>
          <p:cNvPr name="Group 36" id="36"/>
          <p:cNvGrpSpPr/>
          <p:nvPr/>
        </p:nvGrpSpPr>
        <p:grpSpPr>
          <a:xfrm rot="0">
            <a:off x="2404110" y="5417820"/>
            <a:ext cx="12207240" cy="548640"/>
            <a:chOff x="0" y="0"/>
            <a:chExt cx="16276320" cy="731520"/>
          </a:xfrm>
        </p:grpSpPr>
        <p:sp>
          <p:nvSpPr>
            <p:cNvPr name="Freeform 37" id="37"/>
            <p:cNvSpPr/>
            <p:nvPr/>
          </p:nvSpPr>
          <p:spPr>
            <a:xfrm flipH="false" flipV="false" rot="0">
              <a:off x="0" y="0"/>
              <a:ext cx="16276320" cy="731520"/>
            </a:xfrm>
            <a:custGeom>
              <a:avLst/>
              <a:gdLst/>
              <a:ahLst/>
              <a:cxnLst/>
              <a:rect r="r" b="b" t="t" l="l"/>
              <a:pathLst>
                <a:path h="731520" w="16276320">
                  <a:moveTo>
                    <a:pt x="0" y="109728"/>
                  </a:moveTo>
                  <a:cubicBezTo>
                    <a:pt x="0" y="49149"/>
                    <a:pt x="49149" y="0"/>
                    <a:pt x="109728" y="0"/>
                  </a:cubicBezTo>
                  <a:lnTo>
                    <a:pt x="16166592" y="0"/>
                  </a:lnTo>
                  <a:cubicBezTo>
                    <a:pt x="16227171" y="0"/>
                    <a:pt x="16276320" y="49149"/>
                    <a:pt x="16276320" y="109728"/>
                  </a:cubicBezTo>
                  <a:lnTo>
                    <a:pt x="16276320" y="621792"/>
                  </a:lnTo>
                  <a:cubicBezTo>
                    <a:pt x="16276320" y="682371"/>
                    <a:pt x="16227171" y="731520"/>
                    <a:pt x="16166592" y="731520"/>
                  </a:cubicBezTo>
                  <a:lnTo>
                    <a:pt x="109728" y="731520"/>
                  </a:lnTo>
                  <a:cubicBezTo>
                    <a:pt x="49149" y="731520"/>
                    <a:pt x="0" y="682371"/>
                    <a:pt x="0" y="621792"/>
                  </a:cubicBezTo>
                  <a:close/>
                </a:path>
              </a:pathLst>
            </a:custGeom>
            <a:solidFill>
              <a:srgbClr val="EEF4F4"/>
            </a:solidFill>
          </p:spPr>
        </p:sp>
      </p:grpSp>
      <p:grpSp>
        <p:nvGrpSpPr>
          <p:cNvPr name="Group 38" id="38"/>
          <p:cNvGrpSpPr/>
          <p:nvPr/>
        </p:nvGrpSpPr>
        <p:grpSpPr>
          <a:xfrm rot="0">
            <a:off x="2609850" y="5417820"/>
            <a:ext cx="11795760" cy="548640"/>
            <a:chOff x="0" y="0"/>
            <a:chExt cx="15727680" cy="731520"/>
          </a:xfrm>
        </p:grpSpPr>
        <p:sp>
          <p:nvSpPr>
            <p:cNvPr name="Freeform 39" id="39"/>
            <p:cNvSpPr/>
            <p:nvPr/>
          </p:nvSpPr>
          <p:spPr>
            <a:xfrm flipH="false" flipV="false" rot="0">
              <a:off x="0" y="0"/>
              <a:ext cx="15727680" cy="731520"/>
            </a:xfrm>
            <a:custGeom>
              <a:avLst/>
              <a:gdLst/>
              <a:ahLst/>
              <a:cxnLst/>
              <a:rect r="r" b="b" t="t" l="l"/>
              <a:pathLst>
                <a:path h="731520" w="15727680">
                  <a:moveTo>
                    <a:pt x="0" y="0"/>
                  </a:moveTo>
                  <a:lnTo>
                    <a:pt x="15727680" y="0"/>
                  </a:lnTo>
                  <a:lnTo>
                    <a:pt x="15727680" y="731520"/>
                  </a:lnTo>
                  <a:lnTo>
                    <a:pt x="0" y="731520"/>
                  </a:lnTo>
                  <a:close/>
                </a:path>
              </a:pathLst>
            </a:custGeom>
            <a:blipFill>
              <a:blip r:embed="rId9">
                <a:alphaModFix amt="0"/>
              </a:blip>
              <a:stretch>
                <a:fillRect l="0" t="-368928" r="0" b="-368928"/>
              </a:stretch>
            </a:blipFill>
          </p:spPr>
        </p:sp>
        <p:sp>
          <p:nvSpPr>
            <p:cNvPr name="TextBox 40" id="40"/>
            <p:cNvSpPr txBox="true"/>
            <p:nvPr/>
          </p:nvSpPr>
          <p:spPr>
            <a:xfrm>
              <a:off x="0" y="-19050"/>
              <a:ext cx="15727680" cy="750570"/>
            </a:xfrm>
            <a:prstGeom prst="rect">
              <a:avLst/>
            </a:prstGeom>
          </p:spPr>
          <p:txBody>
            <a:bodyPr anchor="ctr" rtlCol="false" tIns="0" lIns="0" bIns="0" rIns="0"/>
            <a:lstStyle/>
            <a:p>
              <a:pPr algn="l">
                <a:lnSpc>
                  <a:spcPts val="2160"/>
                </a:lnSpc>
              </a:pPr>
              <a:r>
                <a:rPr lang="en-US" sz="1800" b="true">
                  <a:solidFill>
                    <a:srgbClr val="387F7F"/>
                  </a:solidFill>
                  <a:latin typeface="Poppins Bold"/>
                  <a:ea typeface="Poppins Bold"/>
                  <a:cs typeface="Poppins Bold"/>
                  <a:sym typeface="Poppins Bold"/>
                </a:rPr>
                <a:t>→  On-Time Rate by route, ranked ascending</a:t>
              </a:r>
            </a:p>
          </p:txBody>
        </p:sp>
      </p:grpSp>
      <p:grpSp>
        <p:nvGrpSpPr>
          <p:cNvPr name="Group 41" id="41"/>
          <p:cNvGrpSpPr/>
          <p:nvPr/>
        </p:nvGrpSpPr>
        <p:grpSpPr>
          <a:xfrm rot="0">
            <a:off x="895350" y="6432804"/>
            <a:ext cx="14744700" cy="1673352"/>
            <a:chOff x="0" y="0"/>
            <a:chExt cx="19659600" cy="2231136"/>
          </a:xfrm>
        </p:grpSpPr>
        <p:sp>
          <p:nvSpPr>
            <p:cNvPr name="Freeform 42" id="42"/>
            <p:cNvSpPr/>
            <p:nvPr/>
          </p:nvSpPr>
          <p:spPr>
            <a:xfrm flipH="false" flipV="false" rot="0">
              <a:off x="0" y="0"/>
              <a:ext cx="19659600" cy="2231136"/>
            </a:xfrm>
            <a:custGeom>
              <a:avLst/>
              <a:gdLst/>
              <a:ahLst/>
              <a:cxnLst/>
              <a:rect r="r" b="b" t="t" l="l"/>
              <a:pathLst>
                <a:path h="2231136" w="19659600">
                  <a:moveTo>
                    <a:pt x="0" y="182880"/>
                  </a:moveTo>
                  <a:cubicBezTo>
                    <a:pt x="0" y="81915"/>
                    <a:pt x="81915" y="0"/>
                    <a:pt x="182880" y="0"/>
                  </a:cubicBezTo>
                  <a:lnTo>
                    <a:pt x="19476720" y="0"/>
                  </a:lnTo>
                  <a:cubicBezTo>
                    <a:pt x="19577684" y="0"/>
                    <a:pt x="19659600" y="81915"/>
                    <a:pt x="19659600" y="182880"/>
                  </a:cubicBezTo>
                  <a:lnTo>
                    <a:pt x="19659600" y="2048256"/>
                  </a:lnTo>
                  <a:cubicBezTo>
                    <a:pt x="19659600" y="2149221"/>
                    <a:pt x="19577684" y="2231136"/>
                    <a:pt x="19476720" y="2231136"/>
                  </a:cubicBezTo>
                  <a:lnTo>
                    <a:pt x="182880" y="2231136"/>
                  </a:lnTo>
                  <a:cubicBezTo>
                    <a:pt x="81915" y="2231136"/>
                    <a:pt x="0" y="2149221"/>
                    <a:pt x="0" y="2048256"/>
                  </a:cubicBezTo>
                  <a:close/>
                </a:path>
              </a:pathLst>
            </a:custGeom>
            <a:solidFill>
              <a:srgbClr val="FFFFFF"/>
            </a:solidFill>
          </p:spPr>
        </p:sp>
      </p:grpSp>
      <p:grpSp>
        <p:nvGrpSpPr>
          <p:cNvPr name="Group 43" id="43"/>
          <p:cNvGrpSpPr/>
          <p:nvPr/>
        </p:nvGrpSpPr>
        <p:grpSpPr>
          <a:xfrm rot="0">
            <a:off x="1265682" y="6871716"/>
            <a:ext cx="795528" cy="795528"/>
            <a:chOff x="0" y="0"/>
            <a:chExt cx="1060704" cy="1060704"/>
          </a:xfrm>
        </p:grpSpPr>
        <p:sp>
          <p:nvSpPr>
            <p:cNvPr name="Freeform 44" id="44"/>
            <p:cNvSpPr/>
            <p:nvPr/>
          </p:nvSpPr>
          <p:spPr>
            <a:xfrm flipH="false" flipV="false" rot="0">
              <a:off x="0" y="0"/>
              <a:ext cx="1060704" cy="1060704"/>
            </a:xfrm>
            <a:custGeom>
              <a:avLst/>
              <a:gdLst/>
              <a:ahLst/>
              <a:cxnLst/>
              <a:rect r="r" b="b" t="t" l="l"/>
              <a:pathLst>
                <a:path h="1060704" w="1060704">
                  <a:moveTo>
                    <a:pt x="0" y="530352"/>
                  </a:moveTo>
                  <a:cubicBezTo>
                    <a:pt x="0" y="237490"/>
                    <a:pt x="237490" y="0"/>
                    <a:pt x="530352" y="0"/>
                  </a:cubicBezTo>
                  <a:cubicBezTo>
                    <a:pt x="823214" y="0"/>
                    <a:pt x="1060704" y="237490"/>
                    <a:pt x="1060704" y="530352"/>
                  </a:cubicBezTo>
                  <a:cubicBezTo>
                    <a:pt x="1060704" y="823214"/>
                    <a:pt x="823214" y="1060704"/>
                    <a:pt x="530352" y="1060704"/>
                  </a:cubicBezTo>
                  <a:cubicBezTo>
                    <a:pt x="237490" y="1060704"/>
                    <a:pt x="0" y="823214"/>
                    <a:pt x="0" y="530352"/>
                  </a:cubicBezTo>
                  <a:close/>
                </a:path>
              </a:pathLst>
            </a:custGeom>
            <a:solidFill>
              <a:srgbClr val="387F7F"/>
            </a:solidFill>
          </p:spPr>
        </p:sp>
      </p:grpSp>
      <p:grpSp>
        <p:nvGrpSpPr>
          <p:cNvPr name="Group 45" id="45"/>
          <p:cNvGrpSpPr/>
          <p:nvPr/>
        </p:nvGrpSpPr>
        <p:grpSpPr>
          <a:xfrm rot="0">
            <a:off x="1265682" y="6871716"/>
            <a:ext cx="795528" cy="795528"/>
            <a:chOff x="0" y="0"/>
            <a:chExt cx="1060704" cy="1060704"/>
          </a:xfrm>
        </p:grpSpPr>
        <p:sp>
          <p:nvSpPr>
            <p:cNvPr name="Freeform 46" id="46"/>
            <p:cNvSpPr/>
            <p:nvPr/>
          </p:nvSpPr>
          <p:spPr>
            <a:xfrm flipH="false" flipV="false" rot="0">
              <a:off x="0" y="0"/>
              <a:ext cx="1060704" cy="1060704"/>
            </a:xfrm>
            <a:custGeom>
              <a:avLst/>
              <a:gdLst/>
              <a:ahLst/>
              <a:cxnLst/>
              <a:rect r="r" b="b" t="t" l="l"/>
              <a:pathLst>
                <a:path h="1060704" w="1060704">
                  <a:moveTo>
                    <a:pt x="0" y="0"/>
                  </a:moveTo>
                  <a:lnTo>
                    <a:pt x="1060704" y="0"/>
                  </a:lnTo>
                  <a:lnTo>
                    <a:pt x="1060704" y="1060704"/>
                  </a:lnTo>
                  <a:lnTo>
                    <a:pt x="0" y="1060704"/>
                  </a:lnTo>
                  <a:close/>
                </a:path>
              </a:pathLst>
            </a:custGeom>
            <a:blipFill>
              <a:blip r:embed="rId9">
                <a:alphaModFix amt="0"/>
              </a:blip>
              <a:stretch>
                <a:fillRect l="-78303" t="0" r="-78303" b="0"/>
              </a:stretch>
            </a:blipFill>
          </p:spPr>
        </p:sp>
        <p:sp>
          <p:nvSpPr>
            <p:cNvPr name="TextBox 47" id="47"/>
            <p:cNvSpPr txBox="true"/>
            <p:nvPr/>
          </p:nvSpPr>
          <p:spPr>
            <a:xfrm>
              <a:off x="0" y="-19050"/>
              <a:ext cx="1060704" cy="1079754"/>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3</a:t>
              </a:r>
            </a:p>
          </p:txBody>
        </p:sp>
      </p:grpSp>
      <p:grpSp>
        <p:nvGrpSpPr>
          <p:cNvPr name="Group 48" id="48"/>
          <p:cNvGrpSpPr/>
          <p:nvPr/>
        </p:nvGrpSpPr>
        <p:grpSpPr>
          <a:xfrm rot="0">
            <a:off x="2404110" y="6638544"/>
            <a:ext cx="12755880" cy="685800"/>
            <a:chOff x="0" y="0"/>
            <a:chExt cx="17007840" cy="914400"/>
          </a:xfrm>
        </p:grpSpPr>
        <p:sp>
          <p:nvSpPr>
            <p:cNvPr name="Freeform 49" id="49"/>
            <p:cNvSpPr/>
            <p:nvPr/>
          </p:nvSpPr>
          <p:spPr>
            <a:xfrm flipH="false" flipV="false" rot="0">
              <a:off x="0" y="0"/>
              <a:ext cx="17007839" cy="914400"/>
            </a:xfrm>
            <a:custGeom>
              <a:avLst/>
              <a:gdLst/>
              <a:ahLst/>
              <a:cxnLst/>
              <a:rect r="r" b="b" t="t" l="l"/>
              <a:pathLst>
                <a:path h="914400" w="17007839">
                  <a:moveTo>
                    <a:pt x="0" y="0"/>
                  </a:moveTo>
                  <a:lnTo>
                    <a:pt x="17007839" y="0"/>
                  </a:lnTo>
                  <a:lnTo>
                    <a:pt x="17007839" y="914400"/>
                  </a:lnTo>
                  <a:lnTo>
                    <a:pt x="0" y="914400"/>
                  </a:lnTo>
                  <a:close/>
                </a:path>
              </a:pathLst>
            </a:custGeom>
            <a:blipFill>
              <a:blip r:embed="rId9">
                <a:alphaModFix amt="0"/>
              </a:blip>
              <a:stretch>
                <a:fillRect l="0" t="-312421" r="0" b="-312421"/>
              </a:stretch>
            </a:blipFill>
          </p:spPr>
        </p:sp>
        <p:sp>
          <p:nvSpPr>
            <p:cNvPr name="TextBox 50" id="50"/>
            <p:cNvSpPr txBox="true"/>
            <p:nvPr/>
          </p:nvSpPr>
          <p:spPr>
            <a:xfrm>
              <a:off x="0" y="-28575"/>
              <a:ext cx="17007840" cy="942975"/>
            </a:xfrm>
            <a:prstGeom prst="rect">
              <a:avLst/>
            </a:prstGeom>
          </p:spPr>
          <p:txBody>
            <a:bodyPr anchor="ctr" rtlCol="false" tIns="0" lIns="0" bIns="0" rIns="0"/>
            <a:lstStyle/>
            <a:p>
              <a:pPr algn="l">
                <a:lnSpc>
                  <a:spcPts val="2970"/>
                </a:lnSpc>
              </a:pPr>
              <a:r>
                <a:rPr lang="en-US" sz="2475" b="true">
                  <a:solidFill>
                    <a:srgbClr val="0A1A23"/>
                  </a:solidFill>
                  <a:latin typeface="Poppins Bold"/>
                  <a:ea typeface="Poppins Bold"/>
                  <a:cs typeface="Poppins Bold"/>
                  <a:sym typeface="Poppins Bold"/>
                </a:rPr>
                <a:t>“Is this a rider problem or a route problem?”</a:t>
              </a:r>
            </a:p>
          </p:txBody>
        </p:sp>
      </p:grpSp>
      <p:grpSp>
        <p:nvGrpSpPr>
          <p:cNvPr name="Group 51" id="51"/>
          <p:cNvGrpSpPr/>
          <p:nvPr/>
        </p:nvGrpSpPr>
        <p:grpSpPr>
          <a:xfrm rot="0">
            <a:off x="2404110" y="7365492"/>
            <a:ext cx="12207240" cy="548640"/>
            <a:chOff x="0" y="0"/>
            <a:chExt cx="16276320" cy="731520"/>
          </a:xfrm>
        </p:grpSpPr>
        <p:sp>
          <p:nvSpPr>
            <p:cNvPr name="Freeform 52" id="52"/>
            <p:cNvSpPr/>
            <p:nvPr/>
          </p:nvSpPr>
          <p:spPr>
            <a:xfrm flipH="false" flipV="false" rot="0">
              <a:off x="0" y="0"/>
              <a:ext cx="16276320" cy="731520"/>
            </a:xfrm>
            <a:custGeom>
              <a:avLst/>
              <a:gdLst/>
              <a:ahLst/>
              <a:cxnLst/>
              <a:rect r="r" b="b" t="t" l="l"/>
              <a:pathLst>
                <a:path h="731520" w="16276320">
                  <a:moveTo>
                    <a:pt x="0" y="109728"/>
                  </a:moveTo>
                  <a:cubicBezTo>
                    <a:pt x="0" y="49149"/>
                    <a:pt x="49149" y="0"/>
                    <a:pt x="109728" y="0"/>
                  </a:cubicBezTo>
                  <a:lnTo>
                    <a:pt x="16166592" y="0"/>
                  </a:lnTo>
                  <a:cubicBezTo>
                    <a:pt x="16227171" y="0"/>
                    <a:pt x="16276320" y="49149"/>
                    <a:pt x="16276320" y="109728"/>
                  </a:cubicBezTo>
                  <a:lnTo>
                    <a:pt x="16276320" y="621792"/>
                  </a:lnTo>
                  <a:cubicBezTo>
                    <a:pt x="16276320" y="682371"/>
                    <a:pt x="16227171" y="731520"/>
                    <a:pt x="16166592" y="731520"/>
                  </a:cubicBezTo>
                  <a:lnTo>
                    <a:pt x="109728" y="731520"/>
                  </a:lnTo>
                  <a:cubicBezTo>
                    <a:pt x="49149" y="731520"/>
                    <a:pt x="0" y="682371"/>
                    <a:pt x="0" y="621792"/>
                  </a:cubicBezTo>
                  <a:close/>
                </a:path>
              </a:pathLst>
            </a:custGeom>
            <a:solidFill>
              <a:srgbClr val="EEF4F4"/>
            </a:solidFill>
          </p:spPr>
        </p:sp>
      </p:grpSp>
      <p:grpSp>
        <p:nvGrpSpPr>
          <p:cNvPr name="Group 53" id="53"/>
          <p:cNvGrpSpPr/>
          <p:nvPr/>
        </p:nvGrpSpPr>
        <p:grpSpPr>
          <a:xfrm rot="0">
            <a:off x="2609850" y="7365492"/>
            <a:ext cx="11795760" cy="548640"/>
            <a:chOff x="0" y="0"/>
            <a:chExt cx="15727680" cy="731520"/>
          </a:xfrm>
        </p:grpSpPr>
        <p:sp>
          <p:nvSpPr>
            <p:cNvPr name="Freeform 54" id="54"/>
            <p:cNvSpPr/>
            <p:nvPr/>
          </p:nvSpPr>
          <p:spPr>
            <a:xfrm flipH="false" flipV="false" rot="0">
              <a:off x="0" y="0"/>
              <a:ext cx="15727680" cy="731520"/>
            </a:xfrm>
            <a:custGeom>
              <a:avLst/>
              <a:gdLst/>
              <a:ahLst/>
              <a:cxnLst/>
              <a:rect r="r" b="b" t="t" l="l"/>
              <a:pathLst>
                <a:path h="731520" w="15727680">
                  <a:moveTo>
                    <a:pt x="0" y="0"/>
                  </a:moveTo>
                  <a:lnTo>
                    <a:pt x="15727680" y="0"/>
                  </a:lnTo>
                  <a:lnTo>
                    <a:pt x="15727680" y="731520"/>
                  </a:lnTo>
                  <a:lnTo>
                    <a:pt x="0" y="731520"/>
                  </a:lnTo>
                  <a:close/>
                </a:path>
              </a:pathLst>
            </a:custGeom>
            <a:blipFill>
              <a:blip r:embed="rId9">
                <a:alphaModFix amt="0"/>
              </a:blip>
              <a:stretch>
                <a:fillRect l="0" t="-368928" r="0" b="-368928"/>
              </a:stretch>
            </a:blipFill>
          </p:spPr>
        </p:sp>
        <p:sp>
          <p:nvSpPr>
            <p:cNvPr name="TextBox 55" id="55"/>
            <p:cNvSpPr txBox="true"/>
            <p:nvPr/>
          </p:nvSpPr>
          <p:spPr>
            <a:xfrm>
              <a:off x="0" y="-19050"/>
              <a:ext cx="15727680" cy="750570"/>
            </a:xfrm>
            <a:prstGeom prst="rect">
              <a:avLst/>
            </a:prstGeom>
          </p:spPr>
          <p:txBody>
            <a:bodyPr anchor="ctr" rtlCol="false" tIns="0" lIns="0" bIns="0" rIns="0"/>
            <a:lstStyle/>
            <a:p>
              <a:pPr algn="l">
                <a:lnSpc>
                  <a:spcPts val="2160"/>
                </a:lnSpc>
              </a:pPr>
              <a:r>
                <a:rPr lang="en-US" sz="1800" b="true">
                  <a:solidFill>
                    <a:srgbClr val="387F7F"/>
                  </a:solidFill>
                  <a:latin typeface="Poppins Bold"/>
                  <a:ea typeface="Poppins Bold"/>
                  <a:cs typeface="Poppins Bold"/>
                  <a:sym typeface="Poppins Bold"/>
                </a:rPr>
                <a:t>→  On-Time Rate by rider, filterable by hub</a:t>
              </a:r>
            </a:p>
          </p:txBody>
        </p:sp>
      </p:grpSp>
      <p:grpSp>
        <p:nvGrpSpPr>
          <p:cNvPr name="Group 56" id="56"/>
          <p:cNvGrpSpPr/>
          <p:nvPr/>
        </p:nvGrpSpPr>
        <p:grpSpPr>
          <a:xfrm rot="0">
            <a:off x="895350" y="8435340"/>
            <a:ext cx="14744700" cy="891540"/>
            <a:chOff x="0" y="0"/>
            <a:chExt cx="19659600" cy="1188720"/>
          </a:xfrm>
        </p:grpSpPr>
        <p:sp>
          <p:nvSpPr>
            <p:cNvPr name="Freeform 57" id="57"/>
            <p:cNvSpPr/>
            <p:nvPr/>
          </p:nvSpPr>
          <p:spPr>
            <a:xfrm flipH="false" flipV="false" rot="0">
              <a:off x="0" y="0"/>
              <a:ext cx="19659600" cy="1188720"/>
            </a:xfrm>
            <a:custGeom>
              <a:avLst/>
              <a:gdLst/>
              <a:ahLst/>
              <a:cxnLst/>
              <a:rect r="r" b="b" t="t" l="l"/>
              <a:pathLst>
                <a:path h="1188720" w="19659600">
                  <a:moveTo>
                    <a:pt x="0" y="164592"/>
                  </a:moveTo>
                  <a:cubicBezTo>
                    <a:pt x="0" y="73660"/>
                    <a:pt x="73660" y="0"/>
                    <a:pt x="164592" y="0"/>
                  </a:cubicBezTo>
                  <a:lnTo>
                    <a:pt x="19495008" y="0"/>
                  </a:lnTo>
                  <a:cubicBezTo>
                    <a:pt x="19585939" y="0"/>
                    <a:pt x="19659600" y="73660"/>
                    <a:pt x="19659600" y="164592"/>
                  </a:cubicBezTo>
                  <a:lnTo>
                    <a:pt x="19659600" y="1024128"/>
                  </a:lnTo>
                  <a:cubicBezTo>
                    <a:pt x="19659600" y="1115060"/>
                    <a:pt x="19585939" y="1188720"/>
                    <a:pt x="19495008" y="1188720"/>
                  </a:cubicBezTo>
                  <a:lnTo>
                    <a:pt x="164592" y="1188720"/>
                  </a:lnTo>
                  <a:cubicBezTo>
                    <a:pt x="73660" y="1188720"/>
                    <a:pt x="0" y="1115060"/>
                    <a:pt x="0" y="1024128"/>
                  </a:cubicBezTo>
                  <a:close/>
                </a:path>
              </a:pathLst>
            </a:custGeom>
            <a:solidFill>
              <a:srgbClr val="EEF4F4"/>
            </a:solidFill>
          </p:spPr>
        </p:sp>
      </p:grpSp>
      <p:grpSp>
        <p:nvGrpSpPr>
          <p:cNvPr name="Group 58" id="58"/>
          <p:cNvGrpSpPr/>
          <p:nvPr/>
        </p:nvGrpSpPr>
        <p:grpSpPr>
          <a:xfrm rot="0">
            <a:off x="895350" y="8435340"/>
            <a:ext cx="102870" cy="891540"/>
            <a:chOff x="0" y="0"/>
            <a:chExt cx="137160" cy="1188720"/>
          </a:xfrm>
        </p:grpSpPr>
        <p:sp>
          <p:nvSpPr>
            <p:cNvPr name="Freeform 59" id="59"/>
            <p:cNvSpPr/>
            <p:nvPr/>
          </p:nvSpPr>
          <p:spPr>
            <a:xfrm flipH="false" flipV="false" rot="0">
              <a:off x="0" y="0"/>
              <a:ext cx="137160" cy="1188720"/>
            </a:xfrm>
            <a:custGeom>
              <a:avLst/>
              <a:gdLst/>
              <a:ahLst/>
              <a:cxnLst/>
              <a:rect r="r" b="b" t="t" l="l"/>
              <a:pathLst>
                <a:path h="1188720" w="137160">
                  <a:moveTo>
                    <a:pt x="0" y="0"/>
                  </a:moveTo>
                  <a:lnTo>
                    <a:pt x="137160" y="0"/>
                  </a:lnTo>
                  <a:lnTo>
                    <a:pt x="137160" y="1188720"/>
                  </a:lnTo>
                  <a:lnTo>
                    <a:pt x="0" y="1188720"/>
                  </a:lnTo>
                  <a:close/>
                </a:path>
              </a:pathLst>
            </a:custGeom>
            <a:solidFill>
              <a:srgbClr val="387F7F"/>
            </a:solidFill>
          </p:spPr>
        </p:sp>
      </p:grpSp>
      <p:grpSp>
        <p:nvGrpSpPr>
          <p:cNvPr name="Group 60" id="60"/>
          <p:cNvGrpSpPr/>
          <p:nvPr/>
        </p:nvGrpSpPr>
        <p:grpSpPr>
          <a:xfrm rot="0">
            <a:off x="1443990" y="8435340"/>
            <a:ext cx="13853160" cy="891540"/>
            <a:chOff x="0" y="0"/>
            <a:chExt cx="18470880" cy="1188720"/>
          </a:xfrm>
        </p:grpSpPr>
        <p:sp>
          <p:nvSpPr>
            <p:cNvPr name="Freeform 61" id="61"/>
            <p:cNvSpPr/>
            <p:nvPr/>
          </p:nvSpPr>
          <p:spPr>
            <a:xfrm flipH="false" flipV="false" rot="0">
              <a:off x="0" y="0"/>
              <a:ext cx="18470880" cy="1188720"/>
            </a:xfrm>
            <a:custGeom>
              <a:avLst/>
              <a:gdLst/>
              <a:ahLst/>
              <a:cxnLst/>
              <a:rect r="r" b="b" t="t" l="l"/>
              <a:pathLst>
                <a:path h="1188720" w="18470880">
                  <a:moveTo>
                    <a:pt x="0" y="0"/>
                  </a:moveTo>
                  <a:lnTo>
                    <a:pt x="18470880" y="0"/>
                  </a:lnTo>
                  <a:lnTo>
                    <a:pt x="18470880" y="1188720"/>
                  </a:lnTo>
                  <a:lnTo>
                    <a:pt x="0" y="1188720"/>
                  </a:lnTo>
                  <a:close/>
                </a:path>
              </a:pathLst>
            </a:custGeom>
            <a:blipFill>
              <a:blip r:embed="rId9">
                <a:alphaModFix amt="0"/>
              </a:blip>
              <a:stretch>
                <a:fillRect l="0" t="-252767" r="0" b="-252767"/>
              </a:stretch>
            </a:blipFill>
          </p:spPr>
        </p:sp>
        <p:sp>
          <p:nvSpPr>
            <p:cNvPr name="TextBox 62" id="62"/>
            <p:cNvSpPr txBox="true"/>
            <p:nvPr/>
          </p:nvSpPr>
          <p:spPr>
            <a:xfrm>
              <a:off x="0" y="-114300"/>
              <a:ext cx="18470880" cy="1303020"/>
            </a:xfrm>
            <a:prstGeom prst="rect">
              <a:avLst/>
            </a:prstGeom>
          </p:spPr>
          <p:txBody>
            <a:bodyPr anchor="ctr" rtlCol="false" tIns="0" lIns="0" bIns="0" rIns="0"/>
            <a:lstStyle/>
            <a:p>
              <a:pPr algn="l">
                <a:lnSpc>
                  <a:spcPts val="3523"/>
                </a:lnSpc>
              </a:pPr>
              <a:r>
                <a:rPr lang="en-US" sz="2175" b="true">
                  <a:solidFill>
                    <a:srgbClr val="387F7F"/>
                  </a:solidFill>
                  <a:latin typeface="Poppins Bold"/>
                  <a:ea typeface="Poppins Bold"/>
                  <a:cs typeface="Poppins Bold"/>
                  <a:sym typeface="Poppins Bold"/>
                </a:rPr>
                <a:t>Three questions, four visuals. That is the whole dashboard.</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80676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A numb</a:t>
            </a:r>
            <a:r>
              <a:rPr lang="en-US" sz="5000">
                <a:solidFill>
                  <a:srgbClr val="388080"/>
                </a:solidFill>
                <a:latin typeface="Poppins"/>
                <a:ea typeface="Poppins"/>
                <a:cs typeface="Poppins"/>
                <a:sym typeface="Poppins"/>
              </a:rPr>
              <a:t>er is not a KPI until it has a target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76300" y="2735575"/>
            <a:ext cx="7063740" cy="4251960"/>
            <a:chOff x="0" y="0"/>
            <a:chExt cx="9418320" cy="5669280"/>
          </a:xfrm>
        </p:grpSpPr>
        <p:sp>
          <p:nvSpPr>
            <p:cNvPr name="Freeform 12" id="12"/>
            <p:cNvSpPr/>
            <p:nvPr/>
          </p:nvSpPr>
          <p:spPr>
            <a:xfrm flipH="false" flipV="false" rot="0">
              <a:off x="0" y="0"/>
              <a:ext cx="9418320" cy="5669280"/>
            </a:xfrm>
            <a:custGeom>
              <a:avLst/>
              <a:gdLst/>
              <a:ahLst/>
              <a:cxnLst/>
              <a:rect r="r" b="b" t="t" l="l"/>
              <a:pathLst>
                <a:path h="5669280" w="9418320">
                  <a:moveTo>
                    <a:pt x="0" y="182880"/>
                  </a:moveTo>
                  <a:cubicBezTo>
                    <a:pt x="0" y="81915"/>
                    <a:pt x="81915" y="0"/>
                    <a:pt x="182880" y="0"/>
                  </a:cubicBezTo>
                  <a:lnTo>
                    <a:pt x="9235440" y="0"/>
                  </a:lnTo>
                  <a:cubicBezTo>
                    <a:pt x="9336405" y="0"/>
                    <a:pt x="9418320" y="81915"/>
                    <a:pt x="9418320" y="182880"/>
                  </a:cubicBezTo>
                  <a:lnTo>
                    <a:pt x="9418320" y="5486400"/>
                  </a:lnTo>
                  <a:cubicBezTo>
                    <a:pt x="9418320" y="5587365"/>
                    <a:pt x="9336405" y="5669280"/>
                    <a:pt x="9235440" y="5669280"/>
                  </a:cubicBezTo>
                  <a:lnTo>
                    <a:pt x="182880" y="5669280"/>
                  </a:lnTo>
                  <a:cubicBezTo>
                    <a:pt x="81915" y="5669280"/>
                    <a:pt x="0" y="5587365"/>
                    <a:pt x="0" y="5486400"/>
                  </a:cubicBezTo>
                  <a:close/>
                </a:path>
              </a:pathLst>
            </a:custGeom>
            <a:solidFill>
              <a:srgbClr val="FFFFFF"/>
            </a:solidFill>
          </p:spPr>
        </p:sp>
      </p:grpSp>
      <p:grpSp>
        <p:nvGrpSpPr>
          <p:cNvPr name="Group 13" id="13"/>
          <p:cNvGrpSpPr/>
          <p:nvPr/>
        </p:nvGrpSpPr>
        <p:grpSpPr>
          <a:xfrm rot="0">
            <a:off x="1287780" y="3009895"/>
            <a:ext cx="6240780" cy="438912"/>
            <a:chOff x="0" y="0"/>
            <a:chExt cx="8321040" cy="585216"/>
          </a:xfrm>
        </p:grpSpPr>
        <p:sp>
          <p:nvSpPr>
            <p:cNvPr name="Freeform 14" id="14"/>
            <p:cNvSpPr/>
            <p:nvPr/>
          </p:nvSpPr>
          <p:spPr>
            <a:xfrm flipH="false" flipV="false" rot="0">
              <a:off x="0" y="0"/>
              <a:ext cx="8321040" cy="585216"/>
            </a:xfrm>
            <a:custGeom>
              <a:avLst/>
              <a:gdLst/>
              <a:ahLst/>
              <a:cxnLst/>
              <a:rect r="r" b="b" t="t" l="l"/>
              <a:pathLst>
                <a:path h="585216" w="8321040">
                  <a:moveTo>
                    <a:pt x="0" y="0"/>
                  </a:moveTo>
                  <a:lnTo>
                    <a:pt x="8321040" y="0"/>
                  </a:lnTo>
                  <a:lnTo>
                    <a:pt x="8321040" y="585216"/>
                  </a:lnTo>
                  <a:lnTo>
                    <a:pt x="0" y="585216"/>
                  </a:lnTo>
                  <a:close/>
                </a:path>
              </a:pathLst>
            </a:custGeom>
            <a:blipFill>
              <a:blip r:embed="rId9">
                <a:alphaModFix amt="0"/>
              </a:blip>
              <a:stretch>
                <a:fillRect l="0" t="-227052" r="0" b="-227052"/>
              </a:stretch>
            </a:blipFill>
          </p:spPr>
        </p:sp>
        <p:sp>
          <p:nvSpPr>
            <p:cNvPr name="TextBox 15" id="15"/>
            <p:cNvSpPr txBox="true"/>
            <p:nvPr/>
          </p:nvSpPr>
          <p:spPr>
            <a:xfrm>
              <a:off x="0" y="-9525"/>
              <a:ext cx="8321040" cy="594741"/>
            </a:xfrm>
            <a:prstGeom prst="rect">
              <a:avLst/>
            </a:prstGeom>
          </p:spPr>
          <p:txBody>
            <a:bodyPr anchor="ctr" rtlCol="false" tIns="0" lIns="0" bIns="0" rIns="0"/>
            <a:lstStyle/>
            <a:p>
              <a:pPr algn="l">
                <a:lnSpc>
                  <a:spcPts val="1980"/>
                </a:lnSpc>
              </a:pPr>
              <a:r>
                <a:rPr lang="en-US" b="true" sz="1650" spc="150">
                  <a:solidFill>
                    <a:srgbClr val="64748B"/>
                  </a:solidFill>
                  <a:latin typeface="Poppins Bold"/>
                  <a:ea typeface="Poppins Bold"/>
                  <a:cs typeface="Poppins Bold"/>
                  <a:sym typeface="Poppins Bold"/>
                </a:rPr>
                <a:t>A METRIC</a:t>
              </a:r>
            </a:p>
          </p:txBody>
        </p:sp>
      </p:grpSp>
      <p:grpSp>
        <p:nvGrpSpPr>
          <p:cNvPr name="Group 16" id="16"/>
          <p:cNvGrpSpPr/>
          <p:nvPr/>
        </p:nvGrpSpPr>
        <p:grpSpPr>
          <a:xfrm rot="0">
            <a:off x="1287780" y="3627115"/>
            <a:ext cx="6240780" cy="1371600"/>
            <a:chOff x="0" y="0"/>
            <a:chExt cx="8321040" cy="1828800"/>
          </a:xfrm>
        </p:grpSpPr>
        <p:sp>
          <p:nvSpPr>
            <p:cNvPr name="Freeform 17" id="17"/>
            <p:cNvSpPr/>
            <p:nvPr/>
          </p:nvSpPr>
          <p:spPr>
            <a:xfrm flipH="false" flipV="false" rot="0">
              <a:off x="0" y="0"/>
              <a:ext cx="8321040" cy="1828800"/>
            </a:xfrm>
            <a:custGeom>
              <a:avLst/>
              <a:gdLst/>
              <a:ahLst/>
              <a:cxnLst/>
              <a:rect r="r" b="b" t="t" l="l"/>
              <a:pathLst>
                <a:path h="1828800" w="8321040">
                  <a:moveTo>
                    <a:pt x="0" y="0"/>
                  </a:moveTo>
                  <a:lnTo>
                    <a:pt x="8321040" y="0"/>
                  </a:lnTo>
                  <a:lnTo>
                    <a:pt x="8321040" y="1828800"/>
                  </a:lnTo>
                  <a:lnTo>
                    <a:pt x="0" y="1828800"/>
                  </a:lnTo>
                  <a:close/>
                </a:path>
              </a:pathLst>
            </a:custGeom>
            <a:blipFill>
              <a:blip r:embed="rId9">
                <a:alphaModFix amt="0"/>
              </a:blip>
              <a:stretch>
                <a:fillRect l="0" t="-38656" r="0" b="-38656"/>
              </a:stretch>
            </a:blipFill>
          </p:spPr>
        </p:sp>
        <p:sp>
          <p:nvSpPr>
            <p:cNvPr name="TextBox 18" id="18"/>
            <p:cNvSpPr txBox="true"/>
            <p:nvPr/>
          </p:nvSpPr>
          <p:spPr>
            <a:xfrm>
              <a:off x="0" y="-66675"/>
              <a:ext cx="8321040" cy="1895475"/>
            </a:xfrm>
            <a:prstGeom prst="rect">
              <a:avLst/>
            </a:prstGeom>
          </p:spPr>
          <p:txBody>
            <a:bodyPr anchor="ctr" rtlCol="false" tIns="0" lIns="0" bIns="0" rIns="0"/>
            <a:lstStyle/>
            <a:p>
              <a:pPr algn="l">
                <a:lnSpc>
                  <a:spcPts val="8640"/>
                </a:lnSpc>
              </a:pPr>
              <a:r>
                <a:rPr lang="en-US" sz="7200" b="true">
                  <a:solidFill>
                    <a:srgbClr val="64748B"/>
                  </a:solidFill>
                  <a:latin typeface="Poppins Bold"/>
                  <a:ea typeface="Poppins Bold"/>
                  <a:cs typeface="Poppins Bold"/>
                  <a:sym typeface="Poppins Bold"/>
                </a:rPr>
                <a:t>82.0%</a:t>
              </a:r>
            </a:p>
          </p:txBody>
        </p:sp>
      </p:grpSp>
      <p:sp>
        <p:nvSpPr>
          <p:cNvPr name="TextBox 19" id="19"/>
          <p:cNvSpPr txBox="true"/>
          <p:nvPr/>
        </p:nvSpPr>
        <p:spPr>
          <a:xfrm rot="0">
            <a:off x="1287780" y="5118730"/>
            <a:ext cx="6240780" cy="1457325"/>
          </a:xfrm>
          <a:prstGeom prst="rect">
            <a:avLst/>
          </a:prstGeom>
        </p:spPr>
        <p:txBody>
          <a:bodyPr anchor="t" rtlCol="false" tIns="0" lIns="0" bIns="0" rIns="0">
            <a:spAutoFit/>
          </a:bodyPr>
          <a:lstStyle/>
          <a:p>
            <a:pPr algn="l">
              <a:lnSpc>
                <a:spcPts val="3159"/>
              </a:lnSpc>
            </a:pPr>
            <a:r>
              <a:rPr lang="en-US" sz="2025">
                <a:solidFill>
                  <a:srgbClr val="475569"/>
                </a:solidFill>
                <a:latin typeface="Poppins"/>
                <a:ea typeface="Poppins"/>
                <a:cs typeface="Poppins"/>
                <a:sym typeface="Poppins"/>
              </a:rPr>
              <a:t>True, precise, and it tells you nothing about whether to act.</a:t>
            </a:r>
          </a:p>
        </p:txBody>
      </p:sp>
      <p:grpSp>
        <p:nvGrpSpPr>
          <p:cNvPr name="Group 20" id="20"/>
          <p:cNvGrpSpPr/>
          <p:nvPr/>
        </p:nvGrpSpPr>
        <p:grpSpPr>
          <a:xfrm rot="0">
            <a:off x="8557260" y="2735575"/>
            <a:ext cx="7063740" cy="4251960"/>
            <a:chOff x="0" y="0"/>
            <a:chExt cx="9418320" cy="5669280"/>
          </a:xfrm>
        </p:grpSpPr>
        <p:sp>
          <p:nvSpPr>
            <p:cNvPr name="Freeform 21" id="21"/>
            <p:cNvSpPr/>
            <p:nvPr/>
          </p:nvSpPr>
          <p:spPr>
            <a:xfrm flipH="false" flipV="false" rot="0">
              <a:off x="0" y="0"/>
              <a:ext cx="9418320" cy="5669280"/>
            </a:xfrm>
            <a:custGeom>
              <a:avLst/>
              <a:gdLst/>
              <a:ahLst/>
              <a:cxnLst/>
              <a:rect r="r" b="b" t="t" l="l"/>
              <a:pathLst>
                <a:path h="5669280" w="9418320">
                  <a:moveTo>
                    <a:pt x="0" y="182880"/>
                  </a:moveTo>
                  <a:cubicBezTo>
                    <a:pt x="0" y="81915"/>
                    <a:pt x="81915" y="0"/>
                    <a:pt x="182880" y="0"/>
                  </a:cubicBezTo>
                  <a:lnTo>
                    <a:pt x="9235440" y="0"/>
                  </a:lnTo>
                  <a:cubicBezTo>
                    <a:pt x="9336405" y="0"/>
                    <a:pt x="9418320" y="81915"/>
                    <a:pt x="9418320" y="182880"/>
                  </a:cubicBezTo>
                  <a:lnTo>
                    <a:pt x="9418320" y="5486400"/>
                  </a:lnTo>
                  <a:cubicBezTo>
                    <a:pt x="9418320" y="5587365"/>
                    <a:pt x="9336405" y="5669280"/>
                    <a:pt x="9235440" y="5669280"/>
                  </a:cubicBezTo>
                  <a:lnTo>
                    <a:pt x="182880" y="5669280"/>
                  </a:lnTo>
                  <a:cubicBezTo>
                    <a:pt x="81915" y="5669280"/>
                    <a:pt x="0" y="5587365"/>
                    <a:pt x="0" y="5486400"/>
                  </a:cubicBezTo>
                  <a:close/>
                </a:path>
              </a:pathLst>
            </a:custGeom>
            <a:solidFill>
              <a:srgbClr val="FFFFFF"/>
            </a:solidFill>
          </p:spPr>
        </p:sp>
      </p:grpSp>
      <p:grpSp>
        <p:nvGrpSpPr>
          <p:cNvPr name="Group 22" id="22"/>
          <p:cNvGrpSpPr/>
          <p:nvPr/>
        </p:nvGrpSpPr>
        <p:grpSpPr>
          <a:xfrm rot="0">
            <a:off x="8557260" y="2735575"/>
            <a:ext cx="7063740" cy="123444"/>
            <a:chOff x="0" y="0"/>
            <a:chExt cx="9418320" cy="164592"/>
          </a:xfrm>
        </p:grpSpPr>
        <p:sp>
          <p:nvSpPr>
            <p:cNvPr name="Freeform 23" id="23"/>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24" id="24"/>
          <p:cNvGrpSpPr/>
          <p:nvPr/>
        </p:nvGrpSpPr>
        <p:grpSpPr>
          <a:xfrm rot="0">
            <a:off x="8968740" y="3009895"/>
            <a:ext cx="6240780" cy="438912"/>
            <a:chOff x="0" y="0"/>
            <a:chExt cx="8321040" cy="585216"/>
          </a:xfrm>
        </p:grpSpPr>
        <p:sp>
          <p:nvSpPr>
            <p:cNvPr name="Freeform 25" id="25"/>
            <p:cNvSpPr/>
            <p:nvPr/>
          </p:nvSpPr>
          <p:spPr>
            <a:xfrm flipH="false" flipV="false" rot="0">
              <a:off x="0" y="0"/>
              <a:ext cx="8321040" cy="585216"/>
            </a:xfrm>
            <a:custGeom>
              <a:avLst/>
              <a:gdLst/>
              <a:ahLst/>
              <a:cxnLst/>
              <a:rect r="r" b="b" t="t" l="l"/>
              <a:pathLst>
                <a:path h="585216" w="8321040">
                  <a:moveTo>
                    <a:pt x="0" y="0"/>
                  </a:moveTo>
                  <a:lnTo>
                    <a:pt x="8321040" y="0"/>
                  </a:lnTo>
                  <a:lnTo>
                    <a:pt x="8321040" y="585216"/>
                  </a:lnTo>
                  <a:lnTo>
                    <a:pt x="0" y="585216"/>
                  </a:lnTo>
                  <a:close/>
                </a:path>
              </a:pathLst>
            </a:custGeom>
            <a:blipFill>
              <a:blip r:embed="rId9">
                <a:alphaModFix amt="0"/>
              </a:blip>
              <a:stretch>
                <a:fillRect l="0" t="-227052" r="0" b="-227052"/>
              </a:stretch>
            </a:blipFill>
          </p:spPr>
        </p:sp>
        <p:sp>
          <p:nvSpPr>
            <p:cNvPr name="TextBox 26" id="26"/>
            <p:cNvSpPr txBox="true"/>
            <p:nvPr/>
          </p:nvSpPr>
          <p:spPr>
            <a:xfrm>
              <a:off x="0" y="-9525"/>
              <a:ext cx="8321040" cy="594741"/>
            </a:xfrm>
            <a:prstGeom prst="rect">
              <a:avLst/>
            </a:prstGeom>
          </p:spPr>
          <p:txBody>
            <a:bodyPr anchor="ctr" rtlCol="false" tIns="0" lIns="0" bIns="0" rIns="0"/>
            <a:lstStyle/>
            <a:p>
              <a:pPr algn="l">
                <a:lnSpc>
                  <a:spcPts val="1980"/>
                </a:lnSpc>
              </a:pPr>
              <a:r>
                <a:rPr lang="en-US" b="true" sz="1650" spc="150">
                  <a:solidFill>
                    <a:srgbClr val="387F7F"/>
                  </a:solidFill>
                  <a:latin typeface="Poppins Bold"/>
                  <a:ea typeface="Poppins Bold"/>
                  <a:cs typeface="Poppins Bold"/>
                  <a:sym typeface="Poppins Bold"/>
                </a:rPr>
                <a:t>A KPI</a:t>
              </a:r>
            </a:p>
          </p:txBody>
        </p:sp>
      </p:grpSp>
      <p:grpSp>
        <p:nvGrpSpPr>
          <p:cNvPr name="Group 27" id="27"/>
          <p:cNvGrpSpPr/>
          <p:nvPr/>
        </p:nvGrpSpPr>
        <p:grpSpPr>
          <a:xfrm rot="0">
            <a:off x="8968740" y="3627115"/>
            <a:ext cx="3566160" cy="1371600"/>
            <a:chOff x="0" y="0"/>
            <a:chExt cx="4754880" cy="1828800"/>
          </a:xfrm>
        </p:grpSpPr>
        <p:sp>
          <p:nvSpPr>
            <p:cNvPr name="Freeform 28" id="28"/>
            <p:cNvSpPr/>
            <p:nvPr/>
          </p:nvSpPr>
          <p:spPr>
            <a:xfrm flipH="false" flipV="false" rot="0">
              <a:off x="0" y="0"/>
              <a:ext cx="4754880" cy="1828800"/>
            </a:xfrm>
            <a:custGeom>
              <a:avLst/>
              <a:gdLst/>
              <a:ahLst/>
              <a:cxnLst/>
              <a:rect r="r" b="b" t="t" l="l"/>
              <a:pathLst>
                <a:path h="1828800" w="4754880">
                  <a:moveTo>
                    <a:pt x="0" y="0"/>
                  </a:moveTo>
                  <a:lnTo>
                    <a:pt x="4754880" y="0"/>
                  </a:lnTo>
                  <a:lnTo>
                    <a:pt x="4754880" y="1828800"/>
                  </a:lnTo>
                  <a:lnTo>
                    <a:pt x="0" y="1828800"/>
                  </a:lnTo>
                  <a:close/>
                </a:path>
              </a:pathLst>
            </a:custGeom>
            <a:blipFill>
              <a:blip r:embed="rId9">
                <a:alphaModFix amt="0"/>
              </a:blip>
              <a:stretch>
                <a:fillRect l="0" t="-661" r="0" b="-661"/>
              </a:stretch>
            </a:blipFill>
          </p:spPr>
        </p:sp>
        <p:sp>
          <p:nvSpPr>
            <p:cNvPr name="TextBox 29" id="29"/>
            <p:cNvSpPr txBox="true"/>
            <p:nvPr/>
          </p:nvSpPr>
          <p:spPr>
            <a:xfrm>
              <a:off x="0" y="-66675"/>
              <a:ext cx="4754880" cy="1895475"/>
            </a:xfrm>
            <a:prstGeom prst="rect">
              <a:avLst/>
            </a:prstGeom>
          </p:spPr>
          <p:txBody>
            <a:bodyPr anchor="ctr" rtlCol="false" tIns="0" lIns="0" bIns="0" rIns="0"/>
            <a:lstStyle/>
            <a:p>
              <a:pPr algn="l">
                <a:lnSpc>
                  <a:spcPts val="8640"/>
                </a:lnSpc>
              </a:pPr>
              <a:r>
                <a:rPr lang="en-US" sz="7200" b="true">
                  <a:solidFill>
                    <a:srgbClr val="387F7F"/>
                  </a:solidFill>
                  <a:latin typeface="Poppins Bold"/>
                  <a:ea typeface="Poppins Bold"/>
                  <a:cs typeface="Poppins Bold"/>
                  <a:sym typeface="Poppins Bold"/>
                </a:rPr>
                <a:t>82.0%</a:t>
              </a:r>
            </a:p>
          </p:txBody>
        </p:sp>
      </p:grpSp>
      <p:sp>
        <p:nvSpPr>
          <p:cNvPr name="AutoShape 30" id="30"/>
          <p:cNvSpPr/>
          <p:nvPr/>
        </p:nvSpPr>
        <p:spPr>
          <a:xfrm>
            <a:off x="12653009" y="3772659"/>
            <a:ext cx="38092" cy="1066796"/>
          </a:xfrm>
          <a:prstGeom prst="line">
            <a:avLst/>
          </a:prstGeom>
          <a:ln cap="rnd" w="19050">
            <a:solidFill>
              <a:srgbClr val="A8322D"/>
            </a:solidFill>
            <a:prstDash val="solid"/>
            <a:headEnd type="none" len="sm" w="sm"/>
            <a:tailEnd type="none" len="sm" w="sm"/>
          </a:ln>
        </p:spPr>
      </p:sp>
      <p:grpSp>
        <p:nvGrpSpPr>
          <p:cNvPr name="Group 31" id="31"/>
          <p:cNvGrpSpPr/>
          <p:nvPr/>
        </p:nvGrpSpPr>
        <p:grpSpPr>
          <a:xfrm rot="0">
            <a:off x="12946380" y="3901435"/>
            <a:ext cx="2125980" cy="960120"/>
            <a:chOff x="0" y="0"/>
            <a:chExt cx="2834640" cy="1280160"/>
          </a:xfrm>
        </p:grpSpPr>
        <p:sp>
          <p:nvSpPr>
            <p:cNvPr name="Freeform 32" id="32"/>
            <p:cNvSpPr/>
            <p:nvPr/>
          </p:nvSpPr>
          <p:spPr>
            <a:xfrm flipH="false" flipV="false" rot="0">
              <a:off x="0" y="0"/>
              <a:ext cx="2834640" cy="1280160"/>
            </a:xfrm>
            <a:custGeom>
              <a:avLst/>
              <a:gdLst/>
              <a:ahLst/>
              <a:cxnLst/>
              <a:rect r="r" b="b" t="t" l="l"/>
              <a:pathLst>
                <a:path h="1280160" w="2834640">
                  <a:moveTo>
                    <a:pt x="0" y="0"/>
                  </a:moveTo>
                  <a:lnTo>
                    <a:pt x="2834640" y="0"/>
                  </a:lnTo>
                  <a:lnTo>
                    <a:pt x="2834640" y="1280160"/>
                  </a:lnTo>
                  <a:lnTo>
                    <a:pt x="0" y="1280160"/>
                  </a:lnTo>
                  <a:close/>
                </a:path>
              </a:pathLst>
            </a:custGeom>
            <a:blipFill>
              <a:blip r:embed="rId9">
                <a:alphaModFix amt="0"/>
              </a:blip>
              <a:stretch>
                <a:fillRect l="-7943" t="0" r="-7943" b="0"/>
              </a:stretch>
            </a:blipFill>
          </p:spPr>
        </p:sp>
        <p:sp>
          <p:nvSpPr>
            <p:cNvPr name="TextBox 33" id="33"/>
            <p:cNvSpPr txBox="true"/>
            <p:nvPr/>
          </p:nvSpPr>
          <p:spPr>
            <a:xfrm>
              <a:off x="0" y="-38100"/>
              <a:ext cx="2834640" cy="1318260"/>
            </a:xfrm>
            <a:prstGeom prst="rect">
              <a:avLst/>
            </a:prstGeom>
          </p:spPr>
          <p:txBody>
            <a:bodyPr anchor="ctr" rtlCol="false" tIns="0" lIns="0" bIns="0" rIns="0"/>
            <a:lstStyle/>
            <a:p>
              <a:pPr algn="l">
                <a:lnSpc>
                  <a:spcPts val="2277"/>
                </a:lnSpc>
              </a:pPr>
              <a:r>
                <a:rPr lang="en-US" sz="1650" b="true">
                  <a:solidFill>
                    <a:srgbClr val="A8322D"/>
                  </a:solidFill>
                  <a:latin typeface="Poppins Bold"/>
                  <a:ea typeface="Poppins Bold"/>
                  <a:cs typeface="Poppins Bold"/>
                  <a:sym typeface="Poppins Bold"/>
                </a:rPr>
                <a:t>vs 90%</a:t>
              </a:r>
            </a:p>
            <a:p>
              <a:pPr algn="l">
                <a:lnSpc>
                  <a:spcPts val="2277"/>
                </a:lnSpc>
              </a:pPr>
              <a:r>
                <a:rPr lang="en-US" sz="1650" b="true">
                  <a:solidFill>
                    <a:srgbClr val="A8322D"/>
                  </a:solidFill>
                  <a:latin typeface="Poppins Bold"/>
                  <a:ea typeface="Poppins Bold"/>
                  <a:cs typeface="Poppins Bold"/>
                  <a:sym typeface="Poppins Bold"/>
                </a:rPr>
                <a:t>target</a:t>
              </a:r>
            </a:p>
          </p:txBody>
        </p:sp>
      </p:grpSp>
      <p:sp>
        <p:nvSpPr>
          <p:cNvPr name="TextBox 34" id="34"/>
          <p:cNvSpPr txBox="true"/>
          <p:nvPr/>
        </p:nvSpPr>
        <p:spPr>
          <a:xfrm rot="0">
            <a:off x="8968740" y="5118730"/>
            <a:ext cx="6240780" cy="1457325"/>
          </a:xfrm>
          <a:prstGeom prst="rect">
            <a:avLst/>
          </a:prstGeom>
        </p:spPr>
        <p:txBody>
          <a:bodyPr anchor="t" rtlCol="false" tIns="0" lIns="0" bIns="0" rIns="0">
            <a:spAutoFit/>
          </a:bodyPr>
          <a:lstStyle/>
          <a:p>
            <a:pPr algn="l">
              <a:lnSpc>
                <a:spcPts val="3159"/>
              </a:lnSpc>
            </a:pPr>
            <a:r>
              <a:rPr lang="en-US" sz="2025" b="true">
                <a:solidFill>
                  <a:srgbClr val="0A1A23"/>
                </a:solidFill>
                <a:latin typeface="Poppins Bold"/>
                <a:ea typeface="Poppins Bold"/>
                <a:cs typeface="Poppins Bold"/>
                <a:sym typeface="Poppins Bold"/>
              </a:rPr>
              <a:t>Eight points below promise. Now it demands a decision.</a:t>
            </a:r>
          </a:p>
        </p:txBody>
      </p:sp>
      <p:grpSp>
        <p:nvGrpSpPr>
          <p:cNvPr name="Group 35" id="35"/>
          <p:cNvGrpSpPr/>
          <p:nvPr/>
        </p:nvGrpSpPr>
        <p:grpSpPr>
          <a:xfrm rot="0">
            <a:off x="876300" y="7399015"/>
            <a:ext cx="14744700" cy="1440180"/>
            <a:chOff x="0" y="0"/>
            <a:chExt cx="19659600" cy="1920240"/>
          </a:xfrm>
        </p:grpSpPr>
        <p:sp>
          <p:nvSpPr>
            <p:cNvPr name="Freeform 36" id="36"/>
            <p:cNvSpPr/>
            <p:nvPr/>
          </p:nvSpPr>
          <p:spPr>
            <a:xfrm flipH="false" flipV="false" rot="0">
              <a:off x="0" y="0"/>
              <a:ext cx="19659600" cy="1920240"/>
            </a:xfrm>
            <a:custGeom>
              <a:avLst/>
              <a:gdLst/>
              <a:ahLst/>
              <a:cxnLst/>
              <a:rect r="r" b="b" t="t" l="l"/>
              <a:pathLst>
                <a:path h="1920240" w="19659600">
                  <a:moveTo>
                    <a:pt x="0" y="164592"/>
                  </a:moveTo>
                  <a:cubicBezTo>
                    <a:pt x="0" y="73660"/>
                    <a:pt x="73660" y="0"/>
                    <a:pt x="164592" y="0"/>
                  </a:cubicBezTo>
                  <a:lnTo>
                    <a:pt x="19495008" y="0"/>
                  </a:lnTo>
                  <a:cubicBezTo>
                    <a:pt x="19585939" y="0"/>
                    <a:pt x="19659600" y="73660"/>
                    <a:pt x="19659600" y="164592"/>
                  </a:cubicBezTo>
                  <a:lnTo>
                    <a:pt x="19659600" y="1755648"/>
                  </a:lnTo>
                  <a:cubicBezTo>
                    <a:pt x="19659600" y="1846580"/>
                    <a:pt x="19585939" y="1920240"/>
                    <a:pt x="19495008" y="1920240"/>
                  </a:cubicBezTo>
                  <a:lnTo>
                    <a:pt x="164592" y="1920240"/>
                  </a:lnTo>
                  <a:cubicBezTo>
                    <a:pt x="73660" y="1920240"/>
                    <a:pt x="0" y="1846580"/>
                    <a:pt x="0" y="1755648"/>
                  </a:cubicBezTo>
                  <a:close/>
                </a:path>
              </a:pathLst>
            </a:custGeom>
            <a:solidFill>
              <a:srgbClr val="EEF4F4"/>
            </a:solidFill>
          </p:spPr>
        </p:sp>
      </p:grpSp>
      <p:grpSp>
        <p:nvGrpSpPr>
          <p:cNvPr name="Group 37" id="37"/>
          <p:cNvGrpSpPr/>
          <p:nvPr/>
        </p:nvGrpSpPr>
        <p:grpSpPr>
          <a:xfrm rot="0">
            <a:off x="876300" y="7399015"/>
            <a:ext cx="102870" cy="1440180"/>
            <a:chOff x="0" y="0"/>
            <a:chExt cx="137160" cy="1920240"/>
          </a:xfrm>
        </p:grpSpPr>
        <p:sp>
          <p:nvSpPr>
            <p:cNvPr name="Freeform 38" id="38"/>
            <p:cNvSpPr/>
            <p:nvPr/>
          </p:nvSpPr>
          <p:spPr>
            <a:xfrm flipH="false" flipV="false" rot="0">
              <a:off x="0" y="0"/>
              <a:ext cx="137160" cy="1920240"/>
            </a:xfrm>
            <a:custGeom>
              <a:avLst/>
              <a:gdLst/>
              <a:ahLst/>
              <a:cxnLst/>
              <a:rect r="r" b="b" t="t" l="l"/>
              <a:pathLst>
                <a:path h="1920240" w="137160">
                  <a:moveTo>
                    <a:pt x="0" y="0"/>
                  </a:moveTo>
                  <a:lnTo>
                    <a:pt x="137160" y="0"/>
                  </a:lnTo>
                  <a:lnTo>
                    <a:pt x="137160" y="1920240"/>
                  </a:lnTo>
                  <a:lnTo>
                    <a:pt x="0" y="1920240"/>
                  </a:lnTo>
                  <a:close/>
                </a:path>
              </a:pathLst>
            </a:custGeom>
            <a:solidFill>
              <a:srgbClr val="387F7F"/>
            </a:solidFill>
          </p:spPr>
        </p:sp>
      </p:grpSp>
      <p:grpSp>
        <p:nvGrpSpPr>
          <p:cNvPr name="Group 39" id="39"/>
          <p:cNvGrpSpPr/>
          <p:nvPr/>
        </p:nvGrpSpPr>
        <p:grpSpPr>
          <a:xfrm rot="0">
            <a:off x="1424940" y="7399015"/>
            <a:ext cx="13853160" cy="1440180"/>
            <a:chOff x="0" y="0"/>
            <a:chExt cx="18470880" cy="1920240"/>
          </a:xfrm>
        </p:grpSpPr>
        <p:sp>
          <p:nvSpPr>
            <p:cNvPr name="Freeform 40" id="40"/>
            <p:cNvSpPr/>
            <p:nvPr/>
          </p:nvSpPr>
          <p:spPr>
            <a:xfrm flipH="false" flipV="false" rot="0">
              <a:off x="0" y="0"/>
              <a:ext cx="18470880" cy="1920240"/>
            </a:xfrm>
            <a:custGeom>
              <a:avLst/>
              <a:gdLst/>
              <a:ahLst/>
              <a:cxnLst/>
              <a:rect r="r" b="b" t="t" l="l"/>
              <a:pathLst>
                <a:path h="1920240" w="18470880">
                  <a:moveTo>
                    <a:pt x="0" y="0"/>
                  </a:moveTo>
                  <a:lnTo>
                    <a:pt x="18470880" y="0"/>
                  </a:lnTo>
                  <a:lnTo>
                    <a:pt x="18470880" y="1920240"/>
                  </a:lnTo>
                  <a:lnTo>
                    <a:pt x="0" y="1920240"/>
                  </a:lnTo>
                  <a:close/>
                </a:path>
              </a:pathLst>
            </a:custGeom>
            <a:blipFill>
              <a:blip r:embed="rId9">
                <a:alphaModFix amt="0"/>
              </a:blip>
              <a:stretch>
                <a:fillRect l="0" t="-137427" r="0" b="-137427"/>
              </a:stretch>
            </a:blipFill>
          </p:spPr>
        </p:sp>
        <p:sp>
          <p:nvSpPr>
            <p:cNvPr name="TextBox 41" id="41"/>
            <p:cNvSpPr txBox="true"/>
            <p:nvPr/>
          </p:nvSpPr>
          <p:spPr>
            <a:xfrm>
              <a:off x="0" y="-95250"/>
              <a:ext cx="18470880" cy="2015490"/>
            </a:xfrm>
            <a:prstGeom prst="rect">
              <a:avLst/>
            </a:prstGeom>
          </p:spPr>
          <p:txBody>
            <a:bodyPr anchor="ctr" rtlCol="false" tIns="0" lIns="0" bIns="0" rIns="0"/>
            <a:lstStyle/>
            <a:p>
              <a:pPr algn="l">
                <a:lnSpc>
                  <a:spcPts val="3340"/>
                </a:lnSpc>
              </a:pPr>
              <a:r>
                <a:rPr lang="en-US" sz="2175" b="true">
                  <a:solidFill>
                    <a:srgbClr val="387F7F"/>
                  </a:solidFill>
                  <a:latin typeface="Poppins Bold"/>
                  <a:ea typeface="Poppins Bold"/>
                  <a:cs typeface="Poppins Bold"/>
                  <a:sym typeface="Poppins Bold"/>
                </a:rPr>
                <a:t>The target converts a measurement into a signal. Agree it with the person who owns the number, never invent one that flatters the data.</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820052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
            </a:r>
            <a:r>
              <a:rPr lang="en-US" sz="5000">
                <a:solidFill>
                  <a:srgbClr val="388080"/>
                </a:solidFill>
                <a:latin typeface="Poppins"/>
                <a:ea typeface="Poppins"/>
                <a:cs typeface="Poppins"/>
                <a:sym typeface="Poppins"/>
              </a:rPr>
              <a:t>ere things go, and why</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61584" y="2481453"/>
            <a:ext cx="10012680" cy="5349240"/>
            <a:chOff x="0" y="0"/>
            <a:chExt cx="13350240" cy="7132320"/>
          </a:xfrm>
        </p:grpSpPr>
        <p:sp>
          <p:nvSpPr>
            <p:cNvPr name="Freeform 12" id="12"/>
            <p:cNvSpPr/>
            <p:nvPr/>
          </p:nvSpPr>
          <p:spPr>
            <a:xfrm flipH="false" flipV="false" rot="0">
              <a:off x="0" y="0"/>
              <a:ext cx="13350241" cy="7132320"/>
            </a:xfrm>
            <a:custGeom>
              <a:avLst/>
              <a:gdLst/>
              <a:ahLst/>
              <a:cxnLst/>
              <a:rect r="r" b="b" t="t" l="l"/>
              <a:pathLst>
                <a:path h="7132320" w="13350241">
                  <a:moveTo>
                    <a:pt x="0" y="182880"/>
                  </a:moveTo>
                  <a:cubicBezTo>
                    <a:pt x="0" y="81915"/>
                    <a:pt x="81915" y="0"/>
                    <a:pt x="182880" y="0"/>
                  </a:cubicBezTo>
                  <a:lnTo>
                    <a:pt x="13167361" y="0"/>
                  </a:lnTo>
                  <a:cubicBezTo>
                    <a:pt x="13268325" y="0"/>
                    <a:pt x="13350241" y="81915"/>
                    <a:pt x="13350241" y="182880"/>
                  </a:cubicBezTo>
                  <a:lnTo>
                    <a:pt x="13350241" y="6949440"/>
                  </a:lnTo>
                  <a:cubicBezTo>
                    <a:pt x="13350241" y="7050405"/>
                    <a:pt x="13268325" y="7132320"/>
                    <a:pt x="13167361" y="7132320"/>
                  </a:cubicBezTo>
                  <a:lnTo>
                    <a:pt x="182880" y="7132320"/>
                  </a:lnTo>
                  <a:cubicBezTo>
                    <a:pt x="81915" y="7132320"/>
                    <a:pt x="0" y="7050405"/>
                    <a:pt x="0" y="6949440"/>
                  </a:cubicBezTo>
                  <a:close/>
                </a:path>
              </a:pathLst>
            </a:custGeom>
            <a:solidFill>
              <a:srgbClr val="EEF4F4"/>
            </a:solidFill>
          </p:spPr>
        </p:sp>
      </p:grpSp>
      <p:grpSp>
        <p:nvGrpSpPr>
          <p:cNvPr name="Group 13" id="13"/>
          <p:cNvGrpSpPr/>
          <p:nvPr/>
        </p:nvGrpSpPr>
        <p:grpSpPr>
          <a:xfrm rot="0">
            <a:off x="1057799" y="2677668"/>
            <a:ext cx="9620250" cy="636270"/>
            <a:chOff x="0" y="0"/>
            <a:chExt cx="12827000" cy="848360"/>
          </a:xfrm>
        </p:grpSpPr>
        <p:sp>
          <p:nvSpPr>
            <p:cNvPr name="Freeform 14" id="14"/>
            <p:cNvSpPr/>
            <p:nvPr/>
          </p:nvSpPr>
          <p:spPr>
            <a:xfrm flipH="false" flipV="false" rot="0">
              <a:off x="0" y="0"/>
              <a:ext cx="12827000" cy="848360"/>
            </a:xfrm>
            <a:custGeom>
              <a:avLst/>
              <a:gdLst/>
              <a:ahLst/>
              <a:cxnLst/>
              <a:rect r="r" b="b" t="t" l="l"/>
              <a:pathLst>
                <a:path h="848360" w="12827000">
                  <a:moveTo>
                    <a:pt x="0" y="0"/>
                  </a:moveTo>
                  <a:lnTo>
                    <a:pt x="12827000" y="0"/>
                  </a:lnTo>
                  <a:lnTo>
                    <a:pt x="12827000" y="848360"/>
                  </a:lnTo>
                  <a:lnTo>
                    <a:pt x="0" y="848360"/>
                  </a:lnTo>
                  <a:close/>
                </a:path>
              </a:pathLst>
            </a:custGeom>
            <a:solidFill>
              <a:srgbClr val="FFFFFF"/>
            </a:solidFill>
            <a:ln w="19050" cap="sq">
              <a:solidFill>
                <a:srgbClr val="E2E8F0"/>
              </a:solidFill>
              <a:prstDash val="solid"/>
              <a:miter/>
            </a:ln>
          </p:spPr>
        </p:sp>
      </p:grpSp>
      <p:grpSp>
        <p:nvGrpSpPr>
          <p:cNvPr name="Group 15" id="15"/>
          <p:cNvGrpSpPr/>
          <p:nvPr/>
        </p:nvGrpSpPr>
        <p:grpSpPr>
          <a:xfrm rot="0">
            <a:off x="1273064" y="2687193"/>
            <a:ext cx="9189720" cy="617220"/>
            <a:chOff x="0" y="0"/>
            <a:chExt cx="12252960" cy="822960"/>
          </a:xfrm>
        </p:grpSpPr>
        <p:sp>
          <p:nvSpPr>
            <p:cNvPr name="Freeform 16" id="16"/>
            <p:cNvSpPr/>
            <p:nvPr/>
          </p:nvSpPr>
          <p:spPr>
            <a:xfrm flipH="false" flipV="false" rot="0">
              <a:off x="0" y="0"/>
              <a:ext cx="12252960" cy="822960"/>
            </a:xfrm>
            <a:custGeom>
              <a:avLst/>
              <a:gdLst/>
              <a:ahLst/>
              <a:cxnLst/>
              <a:rect r="r" b="b" t="t" l="l"/>
              <a:pathLst>
                <a:path h="822960" w="12252960">
                  <a:moveTo>
                    <a:pt x="0" y="0"/>
                  </a:moveTo>
                  <a:lnTo>
                    <a:pt x="12252960" y="0"/>
                  </a:lnTo>
                  <a:lnTo>
                    <a:pt x="12252960" y="822960"/>
                  </a:lnTo>
                  <a:lnTo>
                    <a:pt x="0" y="822960"/>
                  </a:lnTo>
                  <a:close/>
                </a:path>
              </a:pathLst>
            </a:custGeom>
            <a:blipFill>
              <a:blip r:embed="rId9">
                <a:alphaModFix amt="0"/>
              </a:blip>
              <a:stretch>
                <a:fillRect l="0" t="-240110" r="0" b="-240110"/>
              </a:stretch>
            </a:blipFill>
          </p:spPr>
        </p:sp>
        <p:sp>
          <p:nvSpPr>
            <p:cNvPr name="TextBox 17" id="17"/>
            <p:cNvSpPr txBox="true"/>
            <p:nvPr/>
          </p:nvSpPr>
          <p:spPr>
            <a:xfrm>
              <a:off x="0" y="-19050"/>
              <a:ext cx="12252960" cy="842010"/>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Title and filters</a:t>
              </a:r>
            </a:p>
          </p:txBody>
        </p:sp>
      </p:grpSp>
      <p:grpSp>
        <p:nvGrpSpPr>
          <p:cNvPr name="Group 18" id="18"/>
          <p:cNvGrpSpPr/>
          <p:nvPr/>
        </p:nvGrpSpPr>
        <p:grpSpPr>
          <a:xfrm rot="0">
            <a:off x="1057799" y="3404616"/>
            <a:ext cx="2282190" cy="1047750"/>
            <a:chOff x="0" y="0"/>
            <a:chExt cx="3042920" cy="1397000"/>
          </a:xfrm>
        </p:grpSpPr>
        <p:sp>
          <p:nvSpPr>
            <p:cNvPr name="Freeform 19" id="19"/>
            <p:cNvSpPr/>
            <p:nvPr/>
          </p:nvSpPr>
          <p:spPr>
            <a:xfrm flipH="false" flipV="false" rot="0">
              <a:off x="0" y="0"/>
              <a:ext cx="3042920" cy="1397000"/>
            </a:xfrm>
            <a:custGeom>
              <a:avLst/>
              <a:gdLst/>
              <a:ahLst/>
              <a:cxnLst/>
              <a:rect r="r" b="b" t="t" l="l"/>
              <a:pathLst>
                <a:path h="1397000" w="3042920">
                  <a:moveTo>
                    <a:pt x="0" y="0"/>
                  </a:moveTo>
                  <a:lnTo>
                    <a:pt x="3042920" y="0"/>
                  </a:lnTo>
                  <a:lnTo>
                    <a:pt x="3042920" y="1397000"/>
                  </a:lnTo>
                  <a:lnTo>
                    <a:pt x="0" y="1397000"/>
                  </a:lnTo>
                  <a:close/>
                </a:path>
              </a:pathLst>
            </a:custGeom>
            <a:solidFill>
              <a:srgbClr val="FFFFFF"/>
            </a:solidFill>
            <a:ln w="19050" cap="sq">
              <a:solidFill>
                <a:srgbClr val="E2E8F0"/>
              </a:solidFill>
              <a:prstDash val="solid"/>
              <a:miter/>
            </a:ln>
          </p:spPr>
        </p:sp>
      </p:grpSp>
      <p:grpSp>
        <p:nvGrpSpPr>
          <p:cNvPr name="Group 20" id="20"/>
          <p:cNvGrpSpPr/>
          <p:nvPr/>
        </p:nvGrpSpPr>
        <p:grpSpPr>
          <a:xfrm rot="0">
            <a:off x="3485531" y="3404616"/>
            <a:ext cx="2282190" cy="1047750"/>
            <a:chOff x="0" y="0"/>
            <a:chExt cx="3042920" cy="1397000"/>
          </a:xfrm>
        </p:grpSpPr>
        <p:sp>
          <p:nvSpPr>
            <p:cNvPr name="Freeform 21" id="21"/>
            <p:cNvSpPr/>
            <p:nvPr/>
          </p:nvSpPr>
          <p:spPr>
            <a:xfrm flipH="false" flipV="false" rot="0">
              <a:off x="0" y="0"/>
              <a:ext cx="3042920" cy="1397000"/>
            </a:xfrm>
            <a:custGeom>
              <a:avLst/>
              <a:gdLst/>
              <a:ahLst/>
              <a:cxnLst/>
              <a:rect r="r" b="b" t="t" l="l"/>
              <a:pathLst>
                <a:path h="1397000" w="3042920">
                  <a:moveTo>
                    <a:pt x="0" y="0"/>
                  </a:moveTo>
                  <a:lnTo>
                    <a:pt x="3042920" y="0"/>
                  </a:lnTo>
                  <a:lnTo>
                    <a:pt x="3042920" y="1397000"/>
                  </a:lnTo>
                  <a:lnTo>
                    <a:pt x="0" y="1397000"/>
                  </a:lnTo>
                  <a:close/>
                </a:path>
              </a:pathLst>
            </a:custGeom>
            <a:solidFill>
              <a:srgbClr val="FFFFFF"/>
            </a:solidFill>
            <a:ln w="19050" cap="sq">
              <a:solidFill>
                <a:srgbClr val="E2E8F0"/>
              </a:solidFill>
              <a:prstDash val="solid"/>
              <a:miter/>
            </a:ln>
          </p:spPr>
        </p:sp>
      </p:grpSp>
      <p:grpSp>
        <p:nvGrpSpPr>
          <p:cNvPr name="Group 22" id="22"/>
          <p:cNvGrpSpPr/>
          <p:nvPr/>
        </p:nvGrpSpPr>
        <p:grpSpPr>
          <a:xfrm rot="0">
            <a:off x="5913263" y="3404616"/>
            <a:ext cx="2282190" cy="1047750"/>
            <a:chOff x="0" y="0"/>
            <a:chExt cx="3042920" cy="1397000"/>
          </a:xfrm>
        </p:grpSpPr>
        <p:sp>
          <p:nvSpPr>
            <p:cNvPr name="Freeform 23" id="23"/>
            <p:cNvSpPr/>
            <p:nvPr/>
          </p:nvSpPr>
          <p:spPr>
            <a:xfrm flipH="false" flipV="false" rot="0">
              <a:off x="0" y="0"/>
              <a:ext cx="3042920" cy="1397000"/>
            </a:xfrm>
            <a:custGeom>
              <a:avLst/>
              <a:gdLst/>
              <a:ahLst/>
              <a:cxnLst/>
              <a:rect r="r" b="b" t="t" l="l"/>
              <a:pathLst>
                <a:path h="1397000" w="3042920">
                  <a:moveTo>
                    <a:pt x="0" y="0"/>
                  </a:moveTo>
                  <a:lnTo>
                    <a:pt x="3042920" y="0"/>
                  </a:lnTo>
                  <a:lnTo>
                    <a:pt x="3042920" y="1397000"/>
                  </a:lnTo>
                  <a:lnTo>
                    <a:pt x="0" y="1397000"/>
                  </a:lnTo>
                  <a:close/>
                </a:path>
              </a:pathLst>
            </a:custGeom>
            <a:solidFill>
              <a:srgbClr val="FFFFFF"/>
            </a:solidFill>
            <a:ln w="19050" cap="sq">
              <a:solidFill>
                <a:srgbClr val="E2E8F0"/>
              </a:solidFill>
              <a:prstDash val="solid"/>
              <a:miter/>
            </a:ln>
          </p:spPr>
        </p:sp>
      </p:grpSp>
      <p:grpSp>
        <p:nvGrpSpPr>
          <p:cNvPr name="Group 24" id="24"/>
          <p:cNvGrpSpPr/>
          <p:nvPr/>
        </p:nvGrpSpPr>
        <p:grpSpPr>
          <a:xfrm rot="0">
            <a:off x="8340995" y="3404616"/>
            <a:ext cx="2282190" cy="1047750"/>
            <a:chOff x="0" y="0"/>
            <a:chExt cx="3042920" cy="1397000"/>
          </a:xfrm>
        </p:grpSpPr>
        <p:sp>
          <p:nvSpPr>
            <p:cNvPr name="Freeform 25" id="25"/>
            <p:cNvSpPr/>
            <p:nvPr/>
          </p:nvSpPr>
          <p:spPr>
            <a:xfrm flipH="false" flipV="false" rot="0">
              <a:off x="0" y="0"/>
              <a:ext cx="3042920" cy="1397000"/>
            </a:xfrm>
            <a:custGeom>
              <a:avLst/>
              <a:gdLst/>
              <a:ahLst/>
              <a:cxnLst/>
              <a:rect r="r" b="b" t="t" l="l"/>
              <a:pathLst>
                <a:path h="1397000" w="3042920">
                  <a:moveTo>
                    <a:pt x="0" y="0"/>
                  </a:moveTo>
                  <a:lnTo>
                    <a:pt x="3042920" y="0"/>
                  </a:lnTo>
                  <a:lnTo>
                    <a:pt x="3042920" y="1397000"/>
                  </a:lnTo>
                  <a:lnTo>
                    <a:pt x="0" y="1397000"/>
                  </a:lnTo>
                  <a:close/>
                </a:path>
              </a:pathLst>
            </a:custGeom>
            <a:solidFill>
              <a:srgbClr val="FFFFFF"/>
            </a:solidFill>
            <a:ln w="19050" cap="sq">
              <a:solidFill>
                <a:srgbClr val="E2E8F0"/>
              </a:solidFill>
              <a:prstDash val="solid"/>
              <a:miter/>
            </a:ln>
          </p:spPr>
        </p:sp>
      </p:grpSp>
      <p:grpSp>
        <p:nvGrpSpPr>
          <p:cNvPr name="Group 26" id="26"/>
          <p:cNvGrpSpPr/>
          <p:nvPr/>
        </p:nvGrpSpPr>
        <p:grpSpPr>
          <a:xfrm rot="0">
            <a:off x="1067324" y="3880485"/>
            <a:ext cx="1920240" cy="411480"/>
            <a:chOff x="0" y="0"/>
            <a:chExt cx="2560320" cy="548640"/>
          </a:xfrm>
        </p:grpSpPr>
        <p:sp>
          <p:nvSpPr>
            <p:cNvPr name="Freeform 27" id="27"/>
            <p:cNvSpPr/>
            <p:nvPr/>
          </p:nvSpPr>
          <p:spPr>
            <a:xfrm flipH="false" flipV="false" rot="0">
              <a:off x="0" y="0"/>
              <a:ext cx="2560320" cy="548640"/>
            </a:xfrm>
            <a:custGeom>
              <a:avLst/>
              <a:gdLst/>
              <a:ahLst/>
              <a:cxnLst/>
              <a:rect r="r" b="b" t="t" l="l"/>
              <a:pathLst>
                <a:path h="548640" w="2560320">
                  <a:moveTo>
                    <a:pt x="0" y="0"/>
                  </a:moveTo>
                  <a:lnTo>
                    <a:pt x="2560320" y="0"/>
                  </a:lnTo>
                  <a:lnTo>
                    <a:pt x="2560320" y="548640"/>
                  </a:lnTo>
                  <a:lnTo>
                    <a:pt x="0" y="548640"/>
                  </a:lnTo>
                  <a:close/>
                </a:path>
              </a:pathLst>
            </a:custGeom>
            <a:blipFill>
              <a:blip r:embed="rId9">
                <a:alphaModFix amt="0"/>
              </a:blip>
              <a:stretch>
                <a:fillRect l="0" t="-40930" r="0" b="-40930"/>
              </a:stretch>
            </a:blipFill>
          </p:spPr>
        </p:sp>
        <p:sp>
          <p:nvSpPr>
            <p:cNvPr name="TextBox 28" id="28"/>
            <p:cNvSpPr txBox="true"/>
            <p:nvPr/>
          </p:nvSpPr>
          <p:spPr>
            <a:xfrm>
              <a:off x="0" y="-9525"/>
              <a:ext cx="2560320" cy="558165"/>
            </a:xfrm>
            <a:prstGeom prst="rect">
              <a:avLst/>
            </a:prstGeom>
          </p:spPr>
          <p:txBody>
            <a:bodyPr anchor="ctr" rtlCol="false" tIns="0" lIns="0" bIns="0" rIns="0"/>
            <a:lstStyle/>
            <a:p>
              <a:pPr algn="l">
                <a:lnSpc>
                  <a:spcPts val="1439"/>
                </a:lnSpc>
              </a:pPr>
              <a:r>
                <a:rPr lang="en-US" sz="1200">
                  <a:solidFill>
                    <a:srgbClr val="64748B"/>
                  </a:solidFill>
                  <a:latin typeface="Poppins"/>
                  <a:ea typeface="Poppins"/>
                  <a:cs typeface="Poppins"/>
                  <a:sym typeface="Poppins"/>
                </a:rPr>
                <a:t>KPI cards</a:t>
              </a:r>
            </a:p>
          </p:txBody>
        </p:sp>
      </p:grpSp>
      <p:grpSp>
        <p:nvGrpSpPr>
          <p:cNvPr name="Group 29" id="29"/>
          <p:cNvGrpSpPr/>
          <p:nvPr/>
        </p:nvGrpSpPr>
        <p:grpSpPr>
          <a:xfrm rot="0">
            <a:off x="1057799" y="4597908"/>
            <a:ext cx="5697474" cy="2556510"/>
            <a:chOff x="0" y="0"/>
            <a:chExt cx="7596632" cy="3408680"/>
          </a:xfrm>
        </p:grpSpPr>
        <p:sp>
          <p:nvSpPr>
            <p:cNvPr name="Freeform 30" id="30"/>
            <p:cNvSpPr/>
            <p:nvPr/>
          </p:nvSpPr>
          <p:spPr>
            <a:xfrm flipH="false" flipV="false" rot="0">
              <a:off x="0" y="0"/>
              <a:ext cx="7596632" cy="3408680"/>
            </a:xfrm>
            <a:custGeom>
              <a:avLst/>
              <a:gdLst/>
              <a:ahLst/>
              <a:cxnLst/>
              <a:rect r="r" b="b" t="t" l="l"/>
              <a:pathLst>
                <a:path h="3408680" w="7596632">
                  <a:moveTo>
                    <a:pt x="0" y="0"/>
                  </a:moveTo>
                  <a:lnTo>
                    <a:pt x="7596632" y="0"/>
                  </a:lnTo>
                  <a:lnTo>
                    <a:pt x="7596632" y="3408680"/>
                  </a:lnTo>
                  <a:lnTo>
                    <a:pt x="0" y="3408680"/>
                  </a:lnTo>
                  <a:close/>
                </a:path>
              </a:pathLst>
            </a:custGeom>
            <a:solidFill>
              <a:srgbClr val="FFFFFF"/>
            </a:solidFill>
            <a:ln w="19050" cap="sq">
              <a:solidFill>
                <a:srgbClr val="E2E8F0"/>
              </a:solidFill>
              <a:prstDash val="solid"/>
              <a:miter/>
            </a:ln>
          </p:spPr>
        </p:sp>
      </p:grpSp>
      <p:grpSp>
        <p:nvGrpSpPr>
          <p:cNvPr name="Group 31" id="31"/>
          <p:cNvGrpSpPr/>
          <p:nvPr/>
        </p:nvGrpSpPr>
        <p:grpSpPr>
          <a:xfrm rot="0">
            <a:off x="1273064" y="4813173"/>
            <a:ext cx="4114800" cy="411480"/>
            <a:chOff x="0" y="0"/>
            <a:chExt cx="5486400" cy="548640"/>
          </a:xfrm>
        </p:grpSpPr>
        <p:sp>
          <p:nvSpPr>
            <p:cNvPr name="Freeform 32" id="32"/>
            <p:cNvSpPr/>
            <p:nvPr/>
          </p:nvSpPr>
          <p:spPr>
            <a:xfrm flipH="false" flipV="false" rot="0">
              <a:off x="0" y="0"/>
              <a:ext cx="5486400" cy="548640"/>
            </a:xfrm>
            <a:custGeom>
              <a:avLst/>
              <a:gdLst/>
              <a:ahLst/>
              <a:cxnLst/>
              <a:rect r="r" b="b" t="t" l="l"/>
              <a:pathLst>
                <a:path h="548640" w="5486400">
                  <a:moveTo>
                    <a:pt x="0" y="0"/>
                  </a:moveTo>
                  <a:lnTo>
                    <a:pt x="5486400" y="0"/>
                  </a:lnTo>
                  <a:lnTo>
                    <a:pt x="5486400" y="548640"/>
                  </a:lnTo>
                  <a:lnTo>
                    <a:pt x="0" y="548640"/>
                  </a:lnTo>
                  <a:close/>
                </a:path>
              </a:pathLst>
            </a:custGeom>
            <a:blipFill>
              <a:blip r:embed="rId9">
                <a:alphaModFix amt="0"/>
              </a:blip>
              <a:stretch>
                <a:fillRect l="0" t="-144850" r="0" b="-144850"/>
              </a:stretch>
            </a:blipFill>
          </p:spPr>
        </p:sp>
        <p:sp>
          <p:nvSpPr>
            <p:cNvPr name="TextBox 33" id="33"/>
            <p:cNvSpPr txBox="true"/>
            <p:nvPr/>
          </p:nvSpPr>
          <p:spPr>
            <a:xfrm>
              <a:off x="0" y="-19050"/>
              <a:ext cx="5486400" cy="567690"/>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The main chart</a:t>
              </a:r>
            </a:p>
          </p:txBody>
        </p:sp>
      </p:grpSp>
      <p:grpSp>
        <p:nvGrpSpPr>
          <p:cNvPr name="Group 34" id="34"/>
          <p:cNvGrpSpPr/>
          <p:nvPr/>
        </p:nvGrpSpPr>
        <p:grpSpPr>
          <a:xfrm rot="0">
            <a:off x="6873383" y="4597908"/>
            <a:ext cx="3667506" cy="2556510"/>
            <a:chOff x="0" y="0"/>
            <a:chExt cx="4890008" cy="3408680"/>
          </a:xfrm>
        </p:grpSpPr>
        <p:sp>
          <p:nvSpPr>
            <p:cNvPr name="Freeform 35" id="35"/>
            <p:cNvSpPr/>
            <p:nvPr/>
          </p:nvSpPr>
          <p:spPr>
            <a:xfrm flipH="false" flipV="false" rot="0">
              <a:off x="0" y="0"/>
              <a:ext cx="4890008" cy="3408680"/>
            </a:xfrm>
            <a:custGeom>
              <a:avLst/>
              <a:gdLst/>
              <a:ahLst/>
              <a:cxnLst/>
              <a:rect r="r" b="b" t="t" l="l"/>
              <a:pathLst>
                <a:path h="3408680" w="4890008">
                  <a:moveTo>
                    <a:pt x="0" y="0"/>
                  </a:moveTo>
                  <a:lnTo>
                    <a:pt x="4890008" y="0"/>
                  </a:lnTo>
                  <a:lnTo>
                    <a:pt x="4890008" y="3408680"/>
                  </a:lnTo>
                  <a:lnTo>
                    <a:pt x="0" y="3408680"/>
                  </a:lnTo>
                  <a:close/>
                </a:path>
              </a:pathLst>
            </a:custGeom>
            <a:solidFill>
              <a:srgbClr val="FFFFFF"/>
            </a:solidFill>
            <a:ln w="19050" cap="sq">
              <a:solidFill>
                <a:srgbClr val="E2E8F0"/>
              </a:solidFill>
              <a:prstDash val="solid"/>
              <a:miter/>
            </a:ln>
          </p:spPr>
        </p:sp>
      </p:grpSp>
      <p:grpSp>
        <p:nvGrpSpPr>
          <p:cNvPr name="Group 36" id="36"/>
          <p:cNvGrpSpPr/>
          <p:nvPr/>
        </p:nvGrpSpPr>
        <p:grpSpPr>
          <a:xfrm rot="0">
            <a:off x="7020068" y="4813173"/>
            <a:ext cx="2743200" cy="411480"/>
            <a:chOff x="0" y="0"/>
            <a:chExt cx="3657600" cy="548640"/>
          </a:xfrm>
        </p:grpSpPr>
        <p:sp>
          <p:nvSpPr>
            <p:cNvPr name="Freeform 37" id="37"/>
            <p:cNvSpPr/>
            <p:nvPr/>
          </p:nvSpPr>
          <p:spPr>
            <a:xfrm flipH="false" flipV="false" rot="0">
              <a:off x="0" y="0"/>
              <a:ext cx="3657600" cy="548640"/>
            </a:xfrm>
            <a:custGeom>
              <a:avLst/>
              <a:gdLst/>
              <a:ahLst/>
              <a:cxnLst/>
              <a:rect r="r" b="b" t="t" l="l"/>
              <a:pathLst>
                <a:path h="548640" w="3657600">
                  <a:moveTo>
                    <a:pt x="0" y="0"/>
                  </a:moveTo>
                  <a:lnTo>
                    <a:pt x="3657600" y="0"/>
                  </a:lnTo>
                  <a:lnTo>
                    <a:pt x="3657600" y="548640"/>
                  </a:lnTo>
                  <a:lnTo>
                    <a:pt x="0" y="548640"/>
                  </a:lnTo>
                  <a:close/>
                </a:path>
              </a:pathLst>
            </a:custGeom>
            <a:blipFill>
              <a:blip r:embed="rId9">
                <a:alphaModFix amt="0"/>
              </a:blip>
              <a:stretch>
                <a:fillRect l="0" t="-79900" r="0" b="-79900"/>
              </a:stretch>
            </a:blipFill>
          </p:spPr>
        </p:sp>
        <p:sp>
          <p:nvSpPr>
            <p:cNvPr name="TextBox 38" id="38"/>
            <p:cNvSpPr txBox="true"/>
            <p:nvPr/>
          </p:nvSpPr>
          <p:spPr>
            <a:xfrm>
              <a:off x="0" y="-19050"/>
              <a:ext cx="3657600" cy="567690"/>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Detail table</a:t>
              </a:r>
            </a:p>
          </p:txBody>
        </p:sp>
      </p:grpSp>
      <p:grpSp>
        <p:nvGrpSpPr>
          <p:cNvPr name="Group 39" id="39"/>
          <p:cNvGrpSpPr/>
          <p:nvPr/>
        </p:nvGrpSpPr>
        <p:grpSpPr>
          <a:xfrm rot="0">
            <a:off x="11148584" y="2481453"/>
            <a:ext cx="5349240" cy="5349240"/>
            <a:chOff x="0" y="0"/>
            <a:chExt cx="7132320" cy="7132320"/>
          </a:xfrm>
        </p:grpSpPr>
        <p:sp>
          <p:nvSpPr>
            <p:cNvPr name="Freeform 40" id="40"/>
            <p:cNvSpPr/>
            <p:nvPr/>
          </p:nvSpPr>
          <p:spPr>
            <a:xfrm flipH="false" flipV="false" rot="0">
              <a:off x="0" y="0"/>
              <a:ext cx="7132320" cy="7132320"/>
            </a:xfrm>
            <a:custGeom>
              <a:avLst/>
              <a:gdLst/>
              <a:ahLst/>
              <a:cxnLst/>
              <a:rect r="r" b="b" t="t" l="l"/>
              <a:pathLst>
                <a:path h="7132320" w="7132320">
                  <a:moveTo>
                    <a:pt x="0" y="182880"/>
                  </a:moveTo>
                  <a:cubicBezTo>
                    <a:pt x="0" y="81915"/>
                    <a:pt x="81915" y="0"/>
                    <a:pt x="182880" y="0"/>
                  </a:cubicBezTo>
                  <a:lnTo>
                    <a:pt x="6949440" y="0"/>
                  </a:lnTo>
                  <a:cubicBezTo>
                    <a:pt x="7050405" y="0"/>
                    <a:pt x="7132320" y="81915"/>
                    <a:pt x="7132320" y="182880"/>
                  </a:cubicBezTo>
                  <a:lnTo>
                    <a:pt x="7132320" y="6949440"/>
                  </a:lnTo>
                  <a:cubicBezTo>
                    <a:pt x="7132320" y="7050405"/>
                    <a:pt x="7050405" y="7132320"/>
                    <a:pt x="6949440" y="7132320"/>
                  </a:cubicBezTo>
                  <a:lnTo>
                    <a:pt x="182880" y="7132320"/>
                  </a:lnTo>
                  <a:cubicBezTo>
                    <a:pt x="81915" y="7132320"/>
                    <a:pt x="0" y="7050405"/>
                    <a:pt x="0" y="6949440"/>
                  </a:cubicBezTo>
                  <a:close/>
                </a:path>
              </a:pathLst>
            </a:custGeom>
            <a:solidFill>
              <a:srgbClr val="FFFFFF"/>
            </a:solidFill>
          </p:spPr>
        </p:sp>
      </p:grpSp>
      <p:sp>
        <p:nvSpPr>
          <p:cNvPr name="TextBox 41" id="41"/>
          <p:cNvSpPr txBox="true"/>
          <p:nvPr/>
        </p:nvSpPr>
        <p:spPr>
          <a:xfrm rot="0">
            <a:off x="11560064" y="2748153"/>
            <a:ext cx="4526280" cy="1036320"/>
          </a:xfrm>
          <a:prstGeom prst="rect">
            <a:avLst/>
          </a:prstGeom>
        </p:spPr>
        <p:txBody>
          <a:bodyPr anchor="t" rtlCol="false" tIns="0" lIns="0" bIns="0" rIns="0">
            <a:spAutoFit/>
          </a:bodyPr>
          <a:lstStyle/>
          <a:p>
            <a:pPr algn="l">
              <a:lnSpc>
                <a:spcPts val="2880"/>
              </a:lnSpc>
            </a:pPr>
            <a:r>
              <a:rPr lang="en-US" sz="1875" b="true">
                <a:solidFill>
                  <a:srgbClr val="0A1A23"/>
                </a:solidFill>
                <a:latin typeface="Poppins Bold"/>
                <a:ea typeface="Poppins Bold"/>
                <a:cs typeface="Poppins Bold"/>
                <a:sym typeface="Poppins Bold"/>
              </a:rPr>
              <a:t>Readers scan top-left first, the same way they read a page.</a:t>
            </a:r>
          </a:p>
        </p:txBody>
      </p:sp>
      <p:sp>
        <p:nvSpPr>
          <p:cNvPr name="TextBox 42" id="42"/>
          <p:cNvSpPr txBox="true"/>
          <p:nvPr/>
        </p:nvSpPr>
        <p:spPr>
          <a:xfrm rot="0">
            <a:off x="11560064" y="3776853"/>
            <a:ext cx="4526280" cy="1310640"/>
          </a:xfrm>
          <a:prstGeom prst="rect">
            <a:avLst/>
          </a:prstGeom>
        </p:spPr>
        <p:txBody>
          <a:bodyPr anchor="t" rtlCol="false" tIns="0" lIns="0" bIns="0" rIns="0">
            <a:spAutoFit/>
          </a:bodyPr>
          <a:lstStyle/>
          <a:p>
            <a:pPr algn="l">
              <a:lnSpc>
                <a:spcPts val="2764"/>
              </a:lnSpc>
            </a:pPr>
            <a:r>
              <a:rPr lang="en-US" sz="1800">
                <a:solidFill>
                  <a:srgbClr val="475569"/>
                </a:solidFill>
                <a:latin typeface="Poppins"/>
                <a:ea typeface="Poppins"/>
                <a:cs typeface="Poppins"/>
                <a:sym typeface="Poppins"/>
              </a:rPr>
              <a:t>Put the most important number where the eye lands first. Supporting detail goes below.</a:t>
            </a:r>
          </a:p>
        </p:txBody>
      </p:sp>
      <p:sp>
        <p:nvSpPr>
          <p:cNvPr name="TextBox 43" id="43"/>
          <p:cNvSpPr txBox="true"/>
          <p:nvPr/>
        </p:nvSpPr>
        <p:spPr>
          <a:xfrm rot="0">
            <a:off x="11560064" y="5148453"/>
            <a:ext cx="4526280" cy="2270760"/>
          </a:xfrm>
          <a:prstGeom prst="rect">
            <a:avLst/>
          </a:prstGeom>
        </p:spPr>
        <p:txBody>
          <a:bodyPr anchor="t" rtlCol="false" tIns="0" lIns="0" bIns="0" rIns="0">
            <a:spAutoFit/>
          </a:bodyPr>
          <a:lstStyle/>
          <a:p>
            <a:pPr algn="l">
              <a:lnSpc>
                <a:spcPts val="2764"/>
              </a:lnSpc>
            </a:pPr>
            <a:r>
              <a:rPr lang="en-US" sz="1800">
                <a:solidFill>
                  <a:srgbClr val="64748B"/>
                </a:solidFill>
                <a:latin typeface="Poppins"/>
                <a:ea typeface="Poppins"/>
                <a:cs typeface="Poppins"/>
                <a:sym typeface="Poppins"/>
              </a:rPr>
              <a:t>A dashboard laid out by whatever fitted has to be explained. The whole point is that it is opened when you are not there.</a:t>
            </a:r>
          </a:p>
        </p:txBody>
      </p:sp>
      <p:grpSp>
        <p:nvGrpSpPr>
          <p:cNvPr name="Group 44" id="44"/>
          <p:cNvGrpSpPr/>
          <p:nvPr/>
        </p:nvGrpSpPr>
        <p:grpSpPr>
          <a:xfrm rot="0">
            <a:off x="861584" y="8105013"/>
            <a:ext cx="14744700" cy="891540"/>
            <a:chOff x="0" y="0"/>
            <a:chExt cx="19659600" cy="1188720"/>
          </a:xfrm>
        </p:grpSpPr>
        <p:sp>
          <p:nvSpPr>
            <p:cNvPr name="Freeform 45" id="45"/>
            <p:cNvSpPr/>
            <p:nvPr/>
          </p:nvSpPr>
          <p:spPr>
            <a:xfrm flipH="false" flipV="false" rot="0">
              <a:off x="0" y="0"/>
              <a:ext cx="19659600" cy="1188720"/>
            </a:xfrm>
            <a:custGeom>
              <a:avLst/>
              <a:gdLst/>
              <a:ahLst/>
              <a:cxnLst/>
              <a:rect r="r" b="b" t="t" l="l"/>
              <a:pathLst>
                <a:path h="1188720" w="19659600">
                  <a:moveTo>
                    <a:pt x="0" y="164592"/>
                  </a:moveTo>
                  <a:cubicBezTo>
                    <a:pt x="0" y="73660"/>
                    <a:pt x="73660" y="0"/>
                    <a:pt x="164592" y="0"/>
                  </a:cubicBezTo>
                  <a:lnTo>
                    <a:pt x="19495008" y="0"/>
                  </a:lnTo>
                  <a:cubicBezTo>
                    <a:pt x="19585939" y="0"/>
                    <a:pt x="19659600" y="73660"/>
                    <a:pt x="19659600" y="164592"/>
                  </a:cubicBezTo>
                  <a:lnTo>
                    <a:pt x="19659600" y="1024128"/>
                  </a:lnTo>
                  <a:cubicBezTo>
                    <a:pt x="19659600" y="1115060"/>
                    <a:pt x="19585939" y="1188720"/>
                    <a:pt x="19495008" y="1188720"/>
                  </a:cubicBezTo>
                  <a:lnTo>
                    <a:pt x="164592" y="1188720"/>
                  </a:lnTo>
                  <a:cubicBezTo>
                    <a:pt x="73660" y="1188720"/>
                    <a:pt x="0" y="1115060"/>
                    <a:pt x="0" y="1024128"/>
                  </a:cubicBezTo>
                  <a:close/>
                </a:path>
              </a:pathLst>
            </a:custGeom>
            <a:solidFill>
              <a:srgbClr val="EEF4F4"/>
            </a:solidFill>
          </p:spPr>
        </p:sp>
      </p:grpSp>
      <p:grpSp>
        <p:nvGrpSpPr>
          <p:cNvPr name="Group 46" id="46"/>
          <p:cNvGrpSpPr/>
          <p:nvPr/>
        </p:nvGrpSpPr>
        <p:grpSpPr>
          <a:xfrm rot="0">
            <a:off x="861584" y="8105013"/>
            <a:ext cx="102870" cy="891540"/>
            <a:chOff x="0" y="0"/>
            <a:chExt cx="137160" cy="1188720"/>
          </a:xfrm>
        </p:grpSpPr>
        <p:sp>
          <p:nvSpPr>
            <p:cNvPr name="Freeform 47" id="47"/>
            <p:cNvSpPr/>
            <p:nvPr/>
          </p:nvSpPr>
          <p:spPr>
            <a:xfrm flipH="false" flipV="false" rot="0">
              <a:off x="0" y="0"/>
              <a:ext cx="137160" cy="1188720"/>
            </a:xfrm>
            <a:custGeom>
              <a:avLst/>
              <a:gdLst/>
              <a:ahLst/>
              <a:cxnLst/>
              <a:rect r="r" b="b" t="t" l="l"/>
              <a:pathLst>
                <a:path h="1188720" w="137160">
                  <a:moveTo>
                    <a:pt x="0" y="0"/>
                  </a:moveTo>
                  <a:lnTo>
                    <a:pt x="137160" y="0"/>
                  </a:lnTo>
                  <a:lnTo>
                    <a:pt x="137160" y="1188720"/>
                  </a:lnTo>
                  <a:lnTo>
                    <a:pt x="0" y="1188720"/>
                  </a:lnTo>
                  <a:close/>
                </a:path>
              </a:pathLst>
            </a:custGeom>
            <a:solidFill>
              <a:srgbClr val="387F7F"/>
            </a:solidFill>
          </p:spPr>
        </p:sp>
      </p:grpSp>
      <p:grpSp>
        <p:nvGrpSpPr>
          <p:cNvPr name="Group 48" id="48"/>
          <p:cNvGrpSpPr/>
          <p:nvPr/>
        </p:nvGrpSpPr>
        <p:grpSpPr>
          <a:xfrm rot="0">
            <a:off x="1410224" y="8105013"/>
            <a:ext cx="13853160" cy="891540"/>
            <a:chOff x="0" y="0"/>
            <a:chExt cx="18470880" cy="1188720"/>
          </a:xfrm>
        </p:grpSpPr>
        <p:sp>
          <p:nvSpPr>
            <p:cNvPr name="Freeform 49" id="49"/>
            <p:cNvSpPr/>
            <p:nvPr/>
          </p:nvSpPr>
          <p:spPr>
            <a:xfrm flipH="false" flipV="false" rot="0">
              <a:off x="0" y="0"/>
              <a:ext cx="18470880" cy="1188720"/>
            </a:xfrm>
            <a:custGeom>
              <a:avLst/>
              <a:gdLst/>
              <a:ahLst/>
              <a:cxnLst/>
              <a:rect r="r" b="b" t="t" l="l"/>
              <a:pathLst>
                <a:path h="1188720" w="18470880">
                  <a:moveTo>
                    <a:pt x="0" y="0"/>
                  </a:moveTo>
                  <a:lnTo>
                    <a:pt x="18470880" y="0"/>
                  </a:lnTo>
                  <a:lnTo>
                    <a:pt x="18470880" y="1188720"/>
                  </a:lnTo>
                  <a:lnTo>
                    <a:pt x="0" y="1188720"/>
                  </a:lnTo>
                  <a:close/>
                </a:path>
              </a:pathLst>
            </a:custGeom>
            <a:blipFill>
              <a:blip r:embed="rId9">
                <a:alphaModFix amt="0"/>
              </a:blip>
              <a:stretch>
                <a:fillRect l="0" t="-252767" r="0" b="-252767"/>
              </a:stretch>
            </a:blipFill>
          </p:spPr>
        </p:sp>
        <p:sp>
          <p:nvSpPr>
            <p:cNvPr name="TextBox 50" id="50"/>
            <p:cNvSpPr txBox="true"/>
            <p:nvPr/>
          </p:nvSpPr>
          <p:spPr>
            <a:xfrm>
              <a:off x="0" y="-95250"/>
              <a:ext cx="18470880" cy="1283970"/>
            </a:xfrm>
            <a:prstGeom prst="rect">
              <a:avLst/>
            </a:prstGeom>
          </p:spPr>
          <p:txBody>
            <a:bodyPr anchor="ctr" rtlCol="false" tIns="0" lIns="0" bIns="0" rIns="0"/>
            <a:lstStyle/>
            <a:p>
              <a:pPr algn="l">
                <a:lnSpc>
                  <a:spcPts val="3280"/>
                </a:lnSpc>
              </a:pPr>
              <a:r>
                <a:rPr lang="en-US" sz="2025" b="true">
                  <a:solidFill>
                    <a:srgbClr val="387F7F"/>
                  </a:solidFill>
                  <a:latin typeface="Poppins Bold"/>
                  <a:ea typeface="Poppins Bold"/>
                  <a:cs typeface="Poppins Bold"/>
                  <a:sym typeface="Poppins Bold"/>
                </a:rPr>
                <a:t>Sketch on paper before you touch Power BI. It saves forty minutes.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grpSp>
        <p:nvGrpSpPr>
          <p:cNvPr name="Group 10" id="10"/>
          <p:cNvGrpSpPr/>
          <p:nvPr/>
        </p:nvGrpSpPr>
        <p:grpSpPr>
          <a:xfrm rot="0">
            <a:off x="1124712" y="7399782"/>
            <a:ext cx="219456" cy="219456"/>
            <a:chOff x="0" y="0"/>
            <a:chExt cx="292608" cy="292608"/>
          </a:xfrm>
        </p:grpSpPr>
        <p:sp>
          <p:nvSpPr>
            <p:cNvPr name="Freeform 11" id="11"/>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2" id="12"/>
          <p:cNvGrpSpPr/>
          <p:nvPr/>
        </p:nvGrpSpPr>
        <p:grpSpPr>
          <a:xfrm rot="0">
            <a:off x="1124712" y="7975854"/>
            <a:ext cx="219456" cy="219456"/>
            <a:chOff x="0" y="0"/>
            <a:chExt cx="292608" cy="292608"/>
          </a:xfrm>
        </p:grpSpPr>
        <p:sp>
          <p:nvSpPr>
            <p:cNvPr name="Freeform 13" id="13"/>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4" id="14"/>
          <p:cNvGrpSpPr/>
          <p:nvPr/>
        </p:nvGrpSpPr>
        <p:grpSpPr>
          <a:xfrm rot="0">
            <a:off x="1124712" y="8551926"/>
            <a:ext cx="219456" cy="219456"/>
            <a:chOff x="0" y="0"/>
            <a:chExt cx="292608" cy="292608"/>
          </a:xfrm>
        </p:grpSpPr>
        <p:sp>
          <p:nvSpPr>
            <p:cNvPr name="Freeform 15" id="15"/>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sp>
        <p:nvSpPr>
          <p:cNvPr name="Freeform 16" id="16"/>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850392" y="480060"/>
            <a:ext cx="4389120" cy="2880360"/>
            <a:chOff x="0" y="0"/>
            <a:chExt cx="5852160" cy="3840480"/>
          </a:xfrm>
        </p:grpSpPr>
        <p:sp>
          <p:nvSpPr>
            <p:cNvPr name="Freeform 18" id="18"/>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9" id="19"/>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01</a:t>
              </a:r>
            </a:p>
          </p:txBody>
        </p:sp>
      </p:grpSp>
      <p:grpSp>
        <p:nvGrpSpPr>
          <p:cNvPr name="Group 20" id="20"/>
          <p:cNvGrpSpPr/>
          <p:nvPr/>
        </p:nvGrpSpPr>
        <p:grpSpPr>
          <a:xfrm rot="0">
            <a:off x="1069848" y="3730752"/>
            <a:ext cx="10149840" cy="466344"/>
            <a:chOff x="0" y="0"/>
            <a:chExt cx="13533120" cy="621792"/>
          </a:xfrm>
        </p:grpSpPr>
        <p:sp>
          <p:nvSpPr>
            <p:cNvPr name="Freeform 21" id="21"/>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22" id="22"/>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ONE</a:t>
              </a:r>
            </a:p>
          </p:txBody>
        </p:sp>
      </p:grpSp>
      <p:grpSp>
        <p:nvGrpSpPr>
          <p:cNvPr name="Group 23" id="23"/>
          <p:cNvGrpSpPr/>
          <p:nvPr/>
        </p:nvGrpSpPr>
        <p:grpSpPr>
          <a:xfrm rot="0">
            <a:off x="1069848" y="4732020"/>
            <a:ext cx="11109960" cy="2194560"/>
            <a:chOff x="0" y="0"/>
            <a:chExt cx="14813280" cy="2926080"/>
          </a:xfrm>
        </p:grpSpPr>
        <p:sp>
          <p:nvSpPr>
            <p:cNvPr name="Freeform 24" id="24"/>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5" id="25"/>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Chart choice and interactivity</a:t>
              </a:r>
            </a:p>
          </p:txBody>
        </p:sp>
      </p:grpSp>
      <p:grpSp>
        <p:nvGrpSpPr>
          <p:cNvPr name="Group 26" id="26"/>
          <p:cNvGrpSpPr/>
          <p:nvPr/>
        </p:nvGrpSpPr>
        <p:grpSpPr>
          <a:xfrm rot="0">
            <a:off x="1645920" y="7283196"/>
            <a:ext cx="9875520" cy="466344"/>
            <a:chOff x="0" y="0"/>
            <a:chExt cx="13167360" cy="621792"/>
          </a:xfrm>
        </p:grpSpPr>
        <p:sp>
          <p:nvSpPr>
            <p:cNvPr name="Freeform 27" id="27"/>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28" id="28"/>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Nothing new here, Module 6 already taught this</a:t>
              </a:r>
            </a:p>
          </p:txBody>
        </p:sp>
      </p:grpSp>
      <p:grpSp>
        <p:nvGrpSpPr>
          <p:cNvPr name="Group 29" id="29"/>
          <p:cNvGrpSpPr/>
          <p:nvPr/>
        </p:nvGrpSpPr>
        <p:grpSpPr>
          <a:xfrm rot="0">
            <a:off x="1645920" y="7859268"/>
            <a:ext cx="9875520" cy="466344"/>
            <a:chOff x="0" y="0"/>
            <a:chExt cx="13167360" cy="621792"/>
          </a:xfrm>
        </p:grpSpPr>
        <p:sp>
          <p:nvSpPr>
            <p:cNvPr name="Freeform 30" id="30"/>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1" id="31"/>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Slicers let the reader ask the follow-up question</a:t>
              </a:r>
            </a:p>
          </p:txBody>
        </p:sp>
      </p:grpSp>
      <p:grpSp>
        <p:nvGrpSpPr>
          <p:cNvPr name="Group 32" id="32"/>
          <p:cNvGrpSpPr/>
          <p:nvPr/>
        </p:nvGrpSpPr>
        <p:grpSpPr>
          <a:xfrm rot="0">
            <a:off x="1645920" y="8435340"/>
            <a:ext cx="9875520" cy="466344"/>
            <a:chOff x="0" y="0"/>
            <a:chExt cx="13167360" cy="621792"/>
          </a:xfrm>
        </p:grpSpPr>
        <p:sp>
          <p:nvSpPr>
            <p:cNvPr name="Freeform 33" id="33"/>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4" id="34"/>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Drill-down puts three levels in one chart</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512014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Nothing n</a:t>
            </a:r>
            <a:r>
              <a:rPr lang="en-US" sz="5000">
                <a:solidFill>
                  <a:srgbClr val="388080"/>
                </a:solidFill>
                <a:latin typeface="Poppins"/>
                <a:ea typeface="Poppins"/>
                <a:cs typeface="Poppins"/>
                <a:sym typeface="Poppins"/>
              </a:rPr>
              <a:t>ew here. Module 6 already taught this.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468880"/>
            <a:ext cx="7063740" cy="1947672"/>
            <a:chOff x="0" y="0"/>
            <a:chExt cx="9418320" cy="2596896"/>
          </a:xfrm>
        </p:grpSpPr>
        <p:sp>
          <p:nvSpPr>
            <p:cNvPr name="Freeform 12" id="12"/>
            <p:cNvSpPr/>
            <p:nvPr/>
          </p:nvSpPr>
          <p:spPr>
            <a:xfrm flipH="false" flipV="false" rot="0">
              <a:off x="0" y="0"/>
              <a:ext cx="9418320" cy="2596896"/>
            </a:xfrm>
            <a:custGeom>
              <a:avLst/>
              <a:gdLst/>
              <a:ahLst/>
              <a:cxnLst/>
              <a:rect r="r" b="b" t="t" l="l"/>
              <a:pathLst>
                <a:path h="2596896" w="9418320">
                  <a:moveTo>
                    <a:pt x="0" y="182880"/>
                  </a:moveTo>
                  <a:cubicBezTo>
                    <a:pt x="0" y="81915"/>
                    <a:pt x="81915" y="0"/>
                    <a:pt x="182880" y="0"/>
                  </a:cubicBezTo>
                  <a:lnTo>
                    <a:pt x="9235440" y="0"/>
                  </a:lnTo>
                  <a:cubicBezTo>
                    <a:pt x="9336405" y="0"/>
                    <a:pt x="9418320" y="81915"/>
                    <a:pt x="9418320" y="182880"/>
                  </a:cubicBezTo>
                  <a:lnTo>
                    <a:pt x="9418320" y="2414016"/>
                  </a:lnTo>
                  <a:cubicBezTo>
                    <a:pt x="9418320" y="2514981"/>
                    <a:pt x="9336405" y="2596896"/>
                    <a:pt x="9235440" y="2596896"/>
                  </a:cubicBezTo>
                  <a:lnTo>
                    <a:pt x="182880" y="2596896"/>
                  </a:lnTo>
                  <a:cubicBezTo>
                    <a:pt x="81915" y="2596896"/>
                    <a:pt x="0" y="2514981"/>
                    <a:pt x="0" y="2414016"/>
                  </a:cubicBezTo>
                  <a:close/>
                </a:path>
              </a:pathLst>
            </a:custGeom>
            <a:solidFill>
              <a:srgbClr val="FFFFFF"/>
            </a:solidFill>
          </p:spPr>
        </p:sp>
      </p:grpSp>
      <p:grpSp>
        <p:nvGrpSpPr>
          <p:cNvPr name="Group 13" id="13"/>
          <p:cNvGrpSpPr/>
          <p:nvPr/>
        </p:nvGrpSpPr>
        <p:grpSpPr>
          <a:xfrm rot="0">
            <a:off x="1272254" y="2877407"/>
            <a:ext cx="1130618" cy="1130618"/>
            <a:chOff x="0" y="0"/>
            <a:chExt cx="1507490" cy="1507490"/>
          </a:xfrm>
        </p:grpSpPr>
        <p:sp>
          <p:nvSpPr>
            <p:cNvPr name="Freeform 14" id="14"/>
            <p:cNvSpPr/>
            <p:nvPr/>
          </p:nvSpPr>
          <p:spPr>
            <a:xfrm flipH="false" flipV="false" rot="0">
              <a:off x="0" y="0"/>
              <a:ext cx="1507490" cy="1507490"/>
            </a:xfrm>
            <a:custGeom>
              <a:avLst/>
              <a:gdLst/>
              <a:ahLst/>
              <a:cxnLst/>
              <a:rect r="r" b="b" t="t" l="l"/>
              <a:pathLst>
                <a:path h="1507490" w="1507490">
                  <a:moveTo>
                    <a:pt x="0" y="753745"/>
                  </a:moveTo>
                  <a:cubicBezTo>
                    <a:pt x="0" y="337439"/>
                    <a:pt x="337439" y="0"/>
                    <a:pt x="753745" y="0"/>
                  </a:cubicBezTo>
                  <a:cubicBezTo>
                    <a:pt x="1170051" y="0"/>
                    <a:pt x="1507490" y="337439"/>
                    <a:pt x="1507490" y="753745"/>
                  </a:cubicBezTo>
                  <a:cubicBezTo>
                    <a:pt x="1507490" y="1170051"/>
                    <a:pt x="1170051" y="1507490"/>
                    <a:pt x="753745" y="1507490"/>
                  </a:cubicBezTo>
                  <a:cubicBezTo>
                    <a:pt x="337439" y="1507490"/>
                    <a:pt x="0" y="1170051"/>
                    <a:pt x="0" y="753745"/>
                  </a:cubicBezTo>
                  <a:close/>
                </a:path>
              </a:pathLst>
            </a:custGeom>
            <a:solidFill>
              <a:srgbClr val="FFFFFF"/>
            </a:solidFill>
            <a:ln w="33338" cap="sq">
              <a:solidFill>
                <a:srgbClr val="387F7F"/>
              </a:solidFill>
              <a:prstDash val="solid"/>
              <a:miter/>
            </a:ln>
          </p:spPr>
        </p:sp>
      </p:grpSp>
      <p:grpSp>
        <p:nvGrpSpPr>
          <p:cNvPr name="Group 15" id="15"/>
          <p:cNvGrpSpPr/>
          <p:nvPr/>
        </p:nvGrpSpPr>
        <p:grpSpPr>
          <a:xfrm rot="0">
            <a:off x="1288923" y="2894076"/>
            <a:ext cx="1097280" cy="1097280"/>
            <a:chOff x="0" y="0"/>
            <a:chExt cx="1463040" cy="1463040"/>
          </a:xfrm>
        </p:grpSpPr>
        <p:sp>
          <p:nvSpPr>
            <p:cNvPr name="Freeform 16" id="16"/>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9">
                <a:alphaModFix amt="0"/>
              </a:blip>
              <a:stretch>
                <a:fillRect l="-78303" t="0" r="-78303" b="0"/>
              </a:stretch>
            </a:blipFill>
          </p:spPr>
        </p:sp>
        <p:sp>
          <p:nvSpPr>
            <p:cNvPr name="TextBox 17" id="17"/>
            <p:cNvSpPr txBox="true"/>
            <p:nvPr/>
          </p:nvSpPr>
          <p:spPr>
            <a:xfrm>
              <a:off x="0" y="-38100"/>
              <a:ext cx="1463040" cy="1501140"/>
            </a:xfrm>
            <a:prstGeom prst="rect">
              <a:avLst/>
            </a:prstGeom>
          </p:spPr>
          <p:txBody>
            <a:bodyPr anchor="ctr" rtlCol="false" tIns="0" lIns="0" bIns="0" rIns="0"/>
            <a:lstStyle/>
            <a:p>
              <a:pPr algn="ctr">
                <a:lnSpc>
                  <a:spcPts val="4680"/>
                </a:lnSpc>
              </a:pPr>
              <a:r>
                <a:rPr lang="en-US" sz="3900" b="true">
                  <a:solidFill>
                    <a:srgbClr val="387F7F"/>
                  </a:solidFill>
                  <a:latin typeface="Poppins Bold"/>
                  <a:ea typeface="Poppins Bold"/>
                  <a:cs typeface="Poppins Bold"/>
                  <a:sym typeface="Poppins Bold"/>
                </a:rPr>
                <a:t>▬</a:t>
              </a:r>
            </a:p>
          </p:txBody>
        </p:sp>
      </p:grpSp>
      <p:grpSp>
        <p:nvGrpSpPr>
          <p:cNvPr name="Group 18" id="18"/>
          <p:cNvGrpSpPr/>
          <p:nvPr/>
        </p:nvGrpSpPr>
        <p:grpSpPr>
          <a:xfrm rot="0">
            <a:off x="2619375" y="2660904"/>
            <a:ext cx="5074920" cy="548640"/>
            <a:chOff x="0" y="0"/>
            <a:chExt cx="6766560" cy="731520"/>
          </a:xfrm>
        </p:grpSpPr>
        <p:sp>
          <p:nvSpPr>
            <p:cNvPr name="Freeform 19" id="19"/>
            <p:cNvSpPr/>
            <p:nvPr/>
          </p:nvSpPr>
          <p:spPr>
            <a:xfrm flipH="false" flipV="false" rot="0">
              <a:off x="0" y="0"/>
              <a:ext cx="6766560" cy="731520"/>
            </a:xfrm>
            <a:custGeom>
              <a:avLst/>
              <a:gdLst/>
              <a:ahLst/>
              <a:cxnLst/>
              <a:rect r="r" b="b" t="t" l="l"/>
              <a:pathLst>
                <a:path h="731520" w="6766560">
                  <a:moveTo>
                    <a:pt x="0" y="0"/>
                  </a:moveTo>
                  <a:lnTo>
                    <a:pt x="6766560" y="0"/>
                  </a:lnTo>
                  <a:lnTo>
                    <a:pt x="6766560" y="731520"/>
                  </a:lnTo>
                  <a:lnTo>
                    <a:pt x="0" y="731520"/>
                  </a:lnTo>
                  <a:close/>
                </a:path>
              </a:pathLst>
            </a:custGeom>
            <a:blipFill>
              <a:blip r:embed="rId9">
                <a:alphaModFix amt="0"/>
              </a:blip>
              <a:stretch>
                <a:fillRect l="0" t="-130236" r="0" b="-130236"/>
              </a:stretch>
            </a:blipFill>
          </p:spPr>
        </p:sp>
        <p:sp>
          <p:nvSpPr>
            <p:cNvPr name="TextBox 20" id="20"/>
            <p:cNvSpPr txBox="true"/>
            <p:nvPr/>
          </p:nvSpPr>
          <p:spPr>
            <a:xfrm>
              <a:off x="0" y="-28575"/>
              <a:ext cx="6766560" cy="760095"/>
            </a:xfrm>
            <a:prstGeom prst="rect">
              <a:avLst/>
            </a:prstGeom>
          </p:spPr>
          <p:txBody>
            <a:bodyPr anchor="ctr" rtlCol="false" tIns="0" lIns="0" bIns="0" rIns="0"/>
            <a:lstStyle/>
            <a:p>
              <a:pPr algn="l">
                <a:lnSpc>
                  <a:spcPts val="2610"/>
                </a:lnSpc>
              </a:pPr>
              <a:r>
                <a:rPr lang="en-US" sz="2175" b="true">
                  <a:solidFill>
                    <a:srgbClr val="0A1A23"/>
                  </a:solidFill>
                  <a:latin typeface="Poppins Bold"/>
                  <a:ea typeface="Poppins Bold"/>
                  <a:cs typeface="Poppins Bold"/>
                  <a:sym typeface="Poppins Bold"/>
                </a:rPr>
                <a:t>Bar chart</a:t>
              </a:r>
            </a:p>
          </p:txBody>
        </p:sp>
      </p:grpSp>
      <p:sp>
        <p:nvSpPr>
          <p:cNvPr name="TextBox 21" id="21"/>
          <p:cNvSpPr txBox="true"/>
          <p:nvPr/>
        </p:nvSpPr>
        <p:spPr>
          <a:xfrm rot="0">
            <a:off x="2619375" y="3166110"/>
            <a:ext cx="5074920" cy="1154430"/>
          </a:xfrm>
          <a:prstGeom prst="rect">
            <a:avLst/>
          </a:prstGeom>
        </p:spPr>
        <p:txBody>
          <a:bodyPr anchor="t" rtlCol="false" tIns="0" lIns="0" bIns="0" rIns="0">
            <a:spAutoFit/>
          </a:bodyPr>
          <a:lstStyle/>
          <a:p>
            <a:pPr algn="l">
              <a:lnSpc>
                <a:spcPts val="2415"/>
              </a:lnSpc>
            </a:pPr>
            <a:r>
              <a:rPr lang="en-US" sz="1650">
                <a:solidFill>
                  <a:srgbClr val="475569"/>
                </a:solidFill>
                <a:latin typeface="Poppins"/>
                <a:ea typeface="Poppins"/>
                <a:cs typeface="Poppins"/>
                <a:sym typeface="Poppins"/>
              </a:rPr>
              <a:t>How does this compare across categories? Ranked, horizontal, longest at top.</a:t>
            </a:r>
          </a:p>
        </p:txBody>
      </p:sp>
      <p:grpSp>
        <p:nvGrpSpPr>
          <p:cNvPr name="Group 22" id="22"/>
          <p:cNvGrpSpPr/>
          <p:nvPr/>
        </p:nvGrpSpPr>
        <p:grpSpPr>
          <a:xfrm rot="0">
            <a:off x="8585835" y="2468880"/>
            <a:ext cx="7063740" cy="1947672"/>
            <a:chOff x="0" y="0"/>
            <a:chExt cx="9418320" cy="2596896"/>
          </a:xfrm>
        </p:grpSpPr>
        <p:sp>
          <p:nvSpPr>
            <p:cNvPr name="Freeform 23" id="23"/>
            <p:cNvSpPr/>
            <p:nvPr/>
          </p:nvSpPr>
          <p:spPr>
            <a:xfrm flipH="false" flipV="false" rot="0">
              <a:off x="0" y="0"/>
              <a:ext cx="9418320" cy="2596896"/>
            </a:xfrm>
            <a:custGeom>
              <a:avLst/>
              <a:gdLst/>
              <a:ahLst/>
              <a:cxnLst/>
              <a:rect r="r" b="b" t="t" l="l"/>
              <a:pathLst>
                <a:path h="2596896" w="9418320">
                  <a:moveTo>
                    <a:pt x="0" y="182880"/>
                  </a:moveTo>
                  <a:cubicBezTo>
                    <a:pt x="0" y="81915"/>
                    <a:pt x="81915" y="0"/>
                    <a:pt x="182880" y="0"/>
                  </a:cubicBezTo>
                  <a:lnTo>
                    <a:pt x="9235440" y="0"/>
                  </a:lnTo>
                  <a:cubicBezTo>
                    <a:pt x="9336405" y="0"/>
                    <a:pt x="9418320" y="81915"/>
                    <a:pt x="9418320" y="182880"/>
                  </a:cubicBezTo>
                  <a:lnTo>
                    <a:pt x="9418320" y="2414016"/>
                  </a:lnTo>
                  <a:cubicBezTo>
                    <a:pt x="9418320" y="2514981"/>
                    <a:pt x="9336405" y="2596896"/>
                    <a:pt x="9235440" y="2596896"/>
                  </a:cubicBezTo>
                  <a:lnTo>
                    <a:pt x="182880" y="2596896"/>
                  </a:lnTo>
                  <a:cubicBezTo>
                    <a:pt x="81915" y="2596896"/>
                    <a:pt x="0" y="2514981"/>
                    <a:pt x="0" y="2414016"/>
                  </a:cubicBezTo>
                  <a:close/>
                </a:path>
              </a:pathLst>
            </a:custGeom>
            <a:solidFill>
              <a:srgbClr val="FFFFFF"/>
            </a:solidFill>
          </p:spPr>
        </p:sp>
      </p:grpSp>
      <p:grpSp>
        <p:nvGrpSpPr>
          <p:cNvPr name="Group 24" id="24"/>
          <p:cNvGrpSpPr/>
          <p:nvPr/>
        </p:nvGrpSpPr>
        <p:grpSpPr>
          <a:xfrm rot="0">
            <a:off x="8953214" y="2877407"/>
            <a:ext cx="1130618" cy="1130618"/>
            <a:chOff x="0" y="0"/>
            <a:chExt cx="1507490" cy="1507490"/>
          </a:xfrm>
        </p:grpSpPr>
        <p:sp>
          <p:nvSpPr>
            <p:cNvPr name="Freeform 25" id="25"/>
            <p:cNvSpPr/>
            <p:nvPr/>
          </p:nvSpPr>
          <p:spPr>
            <a:xfrm flipH="false" flipV="false" rot="0">
              <a:off x="0" y="0"/>
              <a:ext cx="1507490" cy="1507490"/>
            </a:xfrm>
            <a:custGeom>
              <a:avLst/>
              <a:gdLst/>
              <a:ahLst/>
              <a:cxnLst/>
              <a:rect r="r" b="b" t="t" l="l"/>
              <a:pathLst>
                <a:path h="1507490" w="1507490">
                  <a:moveTo>
                    <a:pt x="0" y="753745"/>
                  </a:moveTo>
                  <a:cubicBezTo>
                    <a:pt x="0" y="337439"/>
                    <a:pt x="337439" y="0"/>
                    <a:pt x="753745" y="0"/>
                  </a:cubicBezTo>
                  <a:cubicBezTo>
                    <a:pt x="1170051" y="0"/>
                    <a:pt x="1507490" y="337439"/>
                    <a:pt x="1507490" y="753745"/>
                  </a:cubicBezTo>
                  <a:cubicBezTo>
                    <a:pt x="1507490" y="1170051"/>
                    <a:pt x="1170051" y="1507490"/>
                    <a:pt x="753745" y="1507490"/>
                  </a:cubicBezTo>
                  <a:cubicBezTo>
                    <a:pt x="337439" y="1507490"/>
                    <a:pt x="0" y="1170051"/>
                    <a:pt x="0" y="753745"/>
                  </a:cubicBezTo>
                  <a:close/>
                </a:path>
              </a:pathLst>
            </a:custGeom>
            <a:solidFill>
              <a:srgbClr val="FFFFFF"/>
            </a:solidFill>
            <a:ln w="33338" cap="sq">
              <a:solidFill>
                <a:srgbClr val="387F7F"/>
              </a:solidFill>
              <a:prstDash val="solid"/>
              <a:miter/>
            </a:ln>
          </p:spPr>
        </p:sp>
      </p:grpSp>
      <p:grpSp>
        <p:nvGrpSpPr>
          <p:cNvPr name="Group 26" id="26"/>
          <p:cNvGrpSpPr/>
          <p:nvPr/>
        </p:nvGrpSpPr>
        <p:grpSpPr>
          <a:xfrm rot="0">
            <a:off x="8969883" y="2894076"/>
            <a:ext cx="1097280" cy="1097280"/>
            <a:chOff x="0" y="0"/>
            <a:chExt cx="1463040" cy="1463040"/>
          </a:xfrm>
        </p:grpSpPr>
        <p:sp>
          <p:nvSpPr>
            <p:cNvPr name="Freeform 27" id="27"/>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9">
                <a:alphaModFix amt="0"/>
              </a:blip>
              <a:stretch>
                <a:fillRect l="-78303" t="0" r="-78303" b="0"/>
              </a:stretch>
            </a:blipFill>
          </p:spPr>
        </p:sp>
        <p:sp>
          <p:nvSpPr>
            <p:cNvPr name="TextBox 28" id="28"/>
            <p:cNvSpPr txBox="true"/>
            <p:nvPr/>
          </p:nvSpPr>
          <p:spPr>
            <a:xfrm>
              <a:off x="0" y="-38100"/>
              <a:ext cx="1463040" cy="1501140"/>
            </a:xfrm>
            <a:prstGeom prst="rect">
              <a:avLst/>
            </a:prstGeom>
          </p:spPr>
          <p:txBody>
            <a:bodyPr anchor="ctr" rtlCol="false" tIns="0" lIns="0" bIns="0" rIns="0"/>
            <a:lstStyle/>
            <a:p>
              <a:pPr algn="ctr">
                <a:lnSpc>
                  <a:spcPts val="4680"/>
                </a:lnSpc>
              </a:pPr>
              <a:r>
                <a:rPr lang="en-US" sz="3900" b="true">
                  <a:solidFill>
                    <a:srgbClr val="387F7F"/>
                  </a:solidFill>
                  <a:latin typeface="Poppins Bold"/>
                  <a:ea typeface="Poppins Bold"/>
                  <a:cs typeface="Poppins Bold"/>
                  <a:sym typeface="Poppins Bold"/>
                </a:rPr>
                <a:t>↑</a:t>
              </a:r>
            </a:p>
          </p:txBody>
        </p:sp>
      </p:grpSp>
      <p:grpSp>
        <p:nvGrpSpPr>
          <p:cNvPr name="Group 29" id="29"/>
          <p:cNvGrpSpPr/>
          <p:nvPr/>
        </p:nvGrpSpPr>
        <p:grpSpPr>
          <a:xfrm rot="0">
            <a:off x="10300335" y="2660904"/>
            <a:ext cx="5074920" cy="548640"/>
            <a:chOff x="0" y="0"/>
            <a:chExt cx="6766560" cy="731520"/>
          </a:xfrm>
        </p:grpSpPr>
        <p:sp>
          <p:nvSpPr>
            <p:cNvPr name="Freeform 30" id="30"/>
            <p:cNvSpPr/>
            <p:nvPr/>
          </p:nvSpPr>
          <p:spPr>
            <a:xfrm flipH="false" flipV="false" rot="0">
              <a:off x="0" y="0"/>
              <a:ext cx="6766560" cy="731520"/>
            </a:xfrm>
            <a:custGeom>
              <a:avLst/>
              <a:gdLst/>
              <a:ahLst/>
              <a:cxnLst/>
              <a:rect r="r" b="b" t="t" l="l"/>
              <a:pathLst>
                <a:path h="731520" w="6766560">
                  <a:moveTo>
                    <a:pt x="0" y="0"/>
                  </a:moveTo>
                  <a:lnTo>
                    <a:pt x="6766560" y="0"/>
                  </a:lnTo>
                  <a:lnTo>
                    <a:pt x="6766560" y="731520"/>
                  </a:lnTo>
                  <a:lnTo>
                    <a:pt x="0" y="731520"/>
                  </a:lnTo>
                  <a:close/>
                </a:path>
              </a:pathLst>
            </a:custGeom>
            <a:blipFill>
              <a:blip r:embed="rId9">
                <a:alphaModFix amt="0"/>
              </a:blip>
              <a:stretch>
                <a:fillRect l="0" t="-130236" r="0" b="-130236"/>
              </a:stretch>
            </a:blipFill>
          </p:spPr>
        </p:sp>
        <p:sp>
          <p:nvSpPr>
            <p:cNvPr name="TextBox 31" id="31"/>
            <p:cNvSpPr txBox="true"/>
            <p:nvPr/>
          </p:nvSpPr>
          <p:spPr>
            <a:xfrm>
              <a:off x="0" y="-28575"/>
              <a:ext cx="6766560" cy="760095"/>
            </a:xfrm>
            <a:prstGeom prst="rect">
              <a:avLst/>
            </a:prstGeom>
          </p:spPr>
          <p:txBody>
            <a:bodyPr anchor="ctr" rtlCol="false" tIns="0" lIns="0" bIns="0" rIns="0"/>
            <a:lstStyle/>
            <a:p>
              <a:pPr algn="l">
                <a:lnSpc>
                  <a:spcPts val="2610"/>
                </a:lnSpc>
              </a:pPr>
              <a:r>
                <a:rPr lang="en-US" sz="2175" b="true">
                  <a:solidFill>
                    <a:srgbClr val="0A1A23"/>
                  </a:solidFill>
                  <a:latin typeface="Poppins Bold"/>
                  <a:ea typeface="Poppins Bold"/>
                  <a:cs typeface="Poppins Bold"/>
                  <a:sym typeface="Poppins Bold"/>
                </a:rPr>
                <a:t>Line chart</a:t>
              </a:r>
            </a:p>
          </p:txBody>
        </p:sp>
      </p:grpSp>
      <p:sp>
        <p:nvSpPr>
          <p:cNvPr name="TextBox 32" id="32"/>
          <p:cNvSpPr txBox="true"/>
          <p:nvPr/>
        </p:nvSpPr>
        <p:spPr>
          <a:xfrm rot="0">
            <a:off x="10300335" y="3166110"/>
            <a:ext cx="5074920" cy="1154430"/>
          </a:xfrm>
          <a:prstGeom prst="rect">
            <a:avLst/>
          </a:prstGeom>
        </p:spPr>
        <p:txBody>
          <a:bodyPr anchor="t" rtlCol="false" tIns="0" lIns="0" bIns="0" rIns="0">
            <a:spAutoFit/>
          </a:bodyPr>
          <a:lstStyle/>
          <a:p>
            <a:pPr algn="l">
              <a:lnSpc>
                <a:spcPts val="2415"/>
              </a:lnSpc>
            </a:pPr>
            <a:r>
              <a:rPr lang="en-US" sz="1650">
                <a:solidFill>
                  <a:srgbClr val="475569"/>
                </a:solidFill>
                <a:latin typeface="Poppins"/>
                <a:ea typeface="Poppins"/>
                <a:cs typeface="Poppins"/>
                <a:sym typeface="Poppins"/>
              </a:rPr>
              <a:t>How has this changed over time? Time on the horizontal axis, always.</a:t>
            </a:r>
          </a:p>
        </p:txBody>
      </p:sp>
      <p:grpSp>
        <p:nvGrpSpPr>
          <p:cNvPr name="Group 33" id="33"/>
          <p:cNvGrpSpPr/>
          <p:nvPr/>
        </p:nvGrpSpPr>
        <p:grpSpPr>
          <a:xfrm rot="0">
            <a:off x="904875" y="4690872"/>
            <a:ext cx="7063740" cy="1947672"/>
            <a:chOff x="0" y="0"/>
            <a:chExt cx="9418320" cy="2596896"/>
          </a:xfrm>
        </p:grpSpPr>
        <p:sp>
          <p:nvSpPr>
            <p:cNvPr name="Freeform 34" id="34"/>
            <p:cNvSpPr/>
            <p:nvPr/>
          </p:nvSpPr>
          <p:spPr>
            <a:xfrm flipH="false" flipV="false" rot="0">
              <a:off x="0" y="0"/>
              <a:ext cx="9418320" cy="2596896"/>
            </a:xfrm>
            <a:custGeom>
              <a:avLst/>
              <a:gdLst/>
              <a:ahLst/>
              <a:cxnLst/>
              <a:rect r="r" b="b" t="t" l="l"/>
              <a:pathLst>
                <a:path h="2596896" w="9418320">
                  <a:moveTo>
                    <a:pt x="0" y="182880"/>
                  </a:moveTo>
                  <a:cubicBezTo>
                    <a:pt x="0" y="81915"/>
                    <a:pt x="81915" y="0"/>
                    <a:pt x="182880" y="0"/>
                  </a:cubicBezTo>
                  <a:lnTo>
                    <a:pt x="9235440" y="0"/>
                  </a:lnTo>
                  <a:cubicBezTo>
                    <a:pt x="9336405" y="0"/>
                    <a:pt x="9418320" y="81915"/>
                    <a:pt x="9418320" y="182880"/>
                  </a:cubicBezTo>
                  <a:lnTo>
                    <a:pt x="9418320" y="2414016"/>
                  </a:lnTo>
                  <a:cubicBezTo>
                    <a:pt x="9418320" y="2514981"/>
                    <a:pt x="9336405" y="2596896"/>
                    <a:pt x="9235440" y="2596896"/>
                  </a:cubicBezTo>
                  <a:lnTo>
                    <a:pt x="182880" y="2596896"/>
                  </a:lnTo>
                  <a:cubicBezTo>
                    <a:pt x="81915" y="2596896"/>
                    <a:pt x="0" y="2514981"/>
                    <a:pt x="0" y="2414016"/>
                  </a:cubicBezTo>
                  <a:close/>
                </a:path>
              </a:pathLst>
            </a:custGeom>
            <a:solidFill>
              <a:srgbClr val="FFFFFF"/>
            </a:solidFill>
          </p:spPr>
        </p:sp>
      </p:grpSp>
      <p:grpSp>
        <p:nvGrpSpPr>
          <p:cNvPr name="Group 35" id="35"/>
          <p:cNvGrpSpPr/>
          <p:nvPr/>
        </p:nvGrpSpPr>
        <p:grpSpPr>
          <a:xfrm rot="0">
            <a:off x="1272254" y="5099399"/>
            <a:ext cx="1130618" cy="1130618"/>
            <a:chOff x="0" y="0"/>
            <a:chExt cx="1507490" cy="1507490"/>
          </a:xfrm>
        </p:grpSpPr>
        <p:sp>
          <p:nvSpPr>
            <p:cNvPr name="Freeform 36" id="36"/>
            <p:cNvSpPr/>
            <p:nvPr/>
          </p:nvSpPr>
          <p:spPr>
            <a:xfrm flipH="false" flipV="false" rot="0">
              <a:off x="0" y="0"/>
              <a:ext cx="1507490" cy="1507490"/>
            </a:xfrm>
            <a:custGeom>
              <a:avLst/>
              <a:gdLst/>
              <a:ahLst/>
              <a:cxnLst/>
              <a:rect r="r" b="b" t="t" l="l"/>
              <a:pathLst>
                <a:path h="1507490" w="1507490">
                  <a:moveTo>
                    <a:pt x="0" y="753745"/>
                  </a:moveTo>
                  <a:cubicBezTo>
                    <a:pt x="0" y="337439"/>
                    <a:pt x="337439" y="0"/>
                    <a:pt x="753745" y="0"/>
                  </a:cubicBezTo>
                  <a:cubicBezTo>
                    <a:pt x="1170051" y="0"/>
                    <a:pt x="1507490" y="337439"/>
                    <a:pt x="1507490" y="753745"/>
                  </a:cubicBezTo>
                  <a:cubicBezTo>
                    <a:pt x="1507490" y="1170051"/>
                    <a:pt x="1170051" y="1507490"/>
                    <a:pt x="753745" y="1507490"/>
                  </a:cubicBezTo>
                  <a:cubicBezTo>
                    <a:pt x="337439" y="1507490"/>
                    <a:pt x="0" y="1170051"/>
                    <a:pt x="0" y="753745"/>
                  </a:cubicBezTo>
                  <a:close/>
                </a:path>
              </a:pathLst>
            </a:custGeom>
            <a:solidFill>
              <a:srgbClr val="FFFFFF"/>
            </a:solidFill>
            <a:ln w="33338" cap="sq">
              <a:solidFill>
                <a:srgbClr val="387F7F"/>
              </a:solidFill>
              <a:prstDash val="solid"/>
              <a:miter/>
            </a:ln>
          </p:spPr>
        </p:sp>
      </p:grpSp>
      <p:grpSp>
        <p:nvGrpSpPr>
          <p:cNvPr name="Group 37" id="37"/>
          <p:cNvGrpSpPr/>
          <p:nvPr/>
        </p:nvGrpSpPr>
        <p:grpSpPr>
          <a:xfrm rot="0">
            <a:off x="1288923" y="5116068"/>
            <a:ext cx="1097280" cy="1097280"/>
            <a:chOff x="0" y="0"/>
            <a:chExt cx="1463040" cy="1463040"/>
          </a:xfrm>
        </p:grpSpPr>
        <p:sp>
          <p:nvSpPr>
            <p:cNvPr name="Freeform 38" id="38"/>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9">
                <a:alphaModFix amt="0"/>
              </a:blip>
              <a:stretch>
                <a:fillRect l="-78303" t="0" r="-78303" b="0"/>
              </a:stretch>
            </a:blipFill>
          </p:spPr>
        </p:sp>
        <p:sp>
          <p:nvSpPr>
            <p:cNvPr name="TextBox 39" id="39"/>
            <p:cNvSpPr txBox="true"/>
            <p:nvPr/>
          </p:nvSpPr>
          <p:spPr>
            <a:xfrm>
              <a:off x="0" y="-38100"/>
              <a:ext cx="1463040" cy="1501140"/>
            </a:xfrm>
            <a:prstGeom prst="rect">
              <a:avLst/>
            </a:prstGeom>
          </p:spPr>
          <p:txBody>
            <a:bodyPr anchor="ctr" rtlCol="false" tIns="0" lIns="0" bIns="0" rIns="0"/>
            <a:lstStyle/>
            <a:p>
              <a:pPr algn="ctr">
                <a:lnSpc>
                  <a:spcPts val="4680"/>
                </a:lnSpc>
              </a:pPr>
              <a:r>
                <a:rPr lang="en-US" sz="3900" b="true">
                  <a:solidFill>
                    <a:srgbClr val="387F7F"/>
                  </a:solidFill>
                  <a:latin typeface="Poppins Bold"/>
                  <a:ea typeface="Poppins Bold"/>
                  <a:cs typeface="Poppins Bold"/>
                  <a:sym typeface="Poppins Bold"/>
                </a:rPr>
                <a:t>▤</a:t>
              </a:r>
            </a:p>
          </p:txBody>
        </p:sp>
      </p:grpSp>
      <p:grpSp>
        <p:nvGrpSpPr>
          <p:cNvPr name="Group 40" id="40"/>
          <p:cNvGrpSpPr/>
          <p:nvPr/>
        </p:nvGrpSpPr>
        <p:grpSpPr>
          <a:xfrm rot="0">
            <a:off x="2619375" y="4882896"/>
            <a:ext cx="5074920" cy="548640"/>
            <a:chOff x="0" y="0"/>
            <a:chExt cx="6766560" cy="731520"/>
          </a:xfrm>
        </p:grpSpPr>
        <p:sp>
          <p:nvSpPr>
            <p:cNvPr name="Freeform 41" id="41"/>
            <p:cNvSpPr/>
            <p:nvPr/>
          </p:nvSpPr>
          <p:spPr>
            <a:xfrm flipH="false" flipV="false" rot="0">
              <a:off x="0" y="0"/>
              <a:ext cx="6766560" cy="731520"/>
            </a:xfrm>
            <a:custGeom>
              <a:avLst/>
              <a:gdLst/>
              <a:ahLst/>
              <a:cxnLst/>
              <a:rect r="r" b="b" t="t" l="l"/>
              <a:pathLst>
                <a:path h="731520" w="6766560">
                  <a:moveTo>
                    <a:pt x="0" y="0"/>
                  </a:moveTo>
                  <a:lnTo>
                    <a:pt x="6766560" y="0"/>
                  </a:lnTo>
                  <a:lnTo>
                    <a:pt x="6766560" y="731520"/>
                  </a:lnTo>
                  <a:lnTo>
                    <a:pt x="0" y="731520"/>
                  </a:lnTo>
                  <a:close/>
                </a:path>
              </a:pathLst>
            </a:custGeom>
            <a:blipFill>
              <a:blip r:embed="rId9">
                <a:alphaModFix amt="0"/>
              </a:blip>
              <a:stretch>
                <a:fillRect l="0" t="-130236" r="0" b="-130236"/>
              </a:stretch>
            </a:blipFill>
          </p:spPr>
        </p:sp>
        <p:sp>
          <p:nvSpPr>
            <p:cNvPr name="TextBox 42" id="42"/>
            <p:cNvSpPr txBox="true"/>
            <p:nvPr/>
          </p:nvSpPr>
          <p:spPr>
            <a:xfrm>
              <a:off x="0" y="-28575"/>
              <a:ext cx="6766560" cy="760095"/>
            </a:xfrm>
            <a:prstGeom prst="rect">
              <a:avLst/>
            </a:prstGeom>
          </p:spPr>
          <p:txBody>
            <a:bodyPr anchor="ctr" rtlCol="false" tIns="0" lIns="0" bIns="0" rIns="0"/>
            <a:lstStyle/>
            <a:p>
              <a:pPr algn="l">
                <a:lnSpc>
                  <a:spcPts val="2610"/>
                </a:lnSpc>
              </a:pPr>
              <a:r>
                <a:rPr lang="en-US" sz="2175" b="true">
                  <a:solidFill>
                    <a:srgbClr val="0A1A23"/>
                  </a:solidFill>
                  <a:latin typeface="Poppins Bold"/>
                  <a:ea typeface="Poppins Bold"/>
                  <a:cs typeface="Poppins Bold"/>
                  <a:sym typeface="Poppins Bold"/>
                </a:rPr>
                <a:t>Card</a:t>
              </a:r>
            </a:p>
          </p:txBody>
        </p:sp>
      </p:grpSp>
      <p:sp>
        <p:nvSpPr>
          <p:cNvPr name="TextBox 43" id="43"/>
          <p:cNvSpPr txBox="true"/>
          <p:nvPr/>
        </p:nvSpPr>
        <p:spPr>
          <a:xfrm rot="0">
            <a:off x="2619375" y="5388102"/>
            <a:ext cx="5074920" cy="1154430"/>
          </a:xfrm>
          <a:prstGeom prst="rect">
            <a:avLst/>
          </a:prstGeom>
        </p:spPr>
        <p:txBody>
          <a:bodyPr anchor="t" rtlCol="false" tIns="0" lIns="0" bIns="0" rIns="0">
            <a:spAutoFit/>
          </a:bodyPr>
          <a:lstStyle/>
          <a:p>
            <a:pPr algn="l">
              <a:lnSpc>
                <a:spcPts val="2415"/>
              </a:lnSpc>
            </a:pPr>
            <a:r>
              <a:rPr lang="en-US" sz="1650">
                <a:solidFill>
                  <a:srgbClr val="475569"/>
                </a:solidFill>
                <a:latin typeface="Poppins"/>
                <a:ea typeface="Poppins"/>
                <a:cs typeface="Poppins"/>
                <a:sym typeface="Poppins"/>
              </a:rPr>
              <a:t>What is this single number right now?</a:t>
            </a:r>
          </a:p>
        </p:txBody>
      </p:sp>
      <p:grpSp>
        <p:nvGrpSpPr>
          <p:cNvPr name="Group 44" id="44"/>
          <p:cNvGrpSpPr/>
          <p:nvPr/>
        </p:nvGrpSpPr>
        <p:grpSpPr>
          <a:xfrm rot="0">
            <a:off x="8585835" y="4690872"/>
            <a:ext cx="7063740" cy="1947672"/>
            <a:chOff x="0" y="0"/>
            <a:chExt cx="9418320" cy="2596896"/>
          </a:xfrm>
        </p:grpSpPr>
        <p:sp>
          <p:nvSpPr>
            <p:cNvPr name="Freeform 45" id="45"/>
            <p:cNvSpPr/>
            <p:nvPr/>
          </p:nvSpPr>
          <p:spPr>
            <a:xfrm flipH="false" flipV="false" rot="0">
              <a:off x="0" y="0"/>
              <a:ext cx="9418320" cy="2596896"/>
            </a:xfrm>
            <a:custGeom>
              <a:avLst/>
              <a:gdLst/>
              <a:ahLst/>
              <a:cxnLst/>
              <a:rect r="r" b="b" t="t" l="l"/>
              <a:pathLst>
                <a:path h="2596896" w="9418320">
                  <a:moveTo>
                    <a:pt x="0" y="182880"/>
                  </a:moveTo>
                  <a:cubicBezTo>
                    <a:pt x="0" y="81915"/>
                    <a:pt x="81915" y="0"/>
                    <a:pt x="182880" y="0"/>
                  </a:cubicBezTo>
                  <a:lnTo>
                    <a:pt x="9235440" y="0"/>
                  </a:lnTo>
                  <a:cubicBezTo>
                    <a:pt x="9336405" y="0"/>
                    <a:pt x="9418320" y="81915"/>
                    <a:pt x="9418320" y="182880"/>
                  </a:cubicBezTo>
                  <a:lnTo>
                    <a:pt x="9418320" y="2414016"/>
                  </a:lnTo>
                  <a:cubicBezTo>
                    <a:pt x="9418320" y="2514981"/>
                    <a:pt x="9336405" y="2596896"/>
                    <a:pt x="9235440" y="2596896"/>
                  </a:cubicBezTo>
                  <a:lnTo>
                    <a:pt x="182880" y="2596896"/>
                  </a:lnTo>
                  <a:cubicBezTo>
                    <a:pt x="81915" y="2596896"/>
                    <a:pt x="0" y="2514981"/>
                    <a:pt x="0" y="2414016"/>
                  </a:cubicBezTo>
                  <a:close/>
                </a:path>
              </a:pathLst>
            </a:custGeom>
            <a:solidFill>
              <a:srgbClr val="FFFFFF"/>
            </a:solidFill>
          </p:spPr>
        </p:sp>
      </p:grpSp>
      <p:grpSp>
        <p:nvGrpSpPr>
          <p:cNvPr name="Group 46" id="46"/>
          <p:cNvGrpSpPr/>
          <p:nvPr/>
        </p:nvGrpSpPr>
        <p:grpSpPr>
          <a:xfrm rot="0">
            <a:off x="8953214" y="5099399"/>
            <a:ext cx="1130618" cy="1130618"/>
            <a:chOff x="0" y="0"/>
            <a:chExt cx="1507490" cy="1507490"/>
          </a:xfrm>
        </p:grpSpPr>
        <p:sp>
          <p:nvSpPr>
            <p:cNvPr name="Freeform 47" id="47"/>
            <p:cNvSpPr/>
            <p:nvPr/>
          </p:nvSpPr>
          <p:spPr>
            <a:xfrm flipH="false" flipV="false" rot="0">
              <a:off x="0" y="0"/>
              <a:ext cx="1507490" cy="1507490"/>
            </a:xfrm>
            <a:custGeom>
              <a:avLst/>
              <a:gdLst/>
              <a:ahLst/>
              <a:cxnLst/>
              <a:rect r="r" b="b" t="t" l="l"/>
              <a:pathLst>
                <a:path h="1507490" w="1507490">
                  <a:moveTo>
                    <a:pt x="0" y="753745"/>
                  </a:moveTo>
                  <a:cubicBezTo>
                    <a:pt x="0" y="337439"/>
                    <a:pt x="337439" y="0"/>
                    <a:pt x="753745" y="0"/>
                  </a:cubicBezTo>
                  <a:cubicBezTo>
                    <a:pt x="1170051" y="0"/>
                    <a:pt x="1507490" y="337439"/>
                    <a:pt x="1507490" y="753745"/>
                  </a:cubicBezTo>
                  <a:cubicBezTo>
                    <a:pt x="1507490" y="1170051"/>
                    <a:pt x="1170051" y="1507490"/>
                    <a:pt x="753745" y="1507490"/>
                  </a:cubicBezTo>
                  <a:cubicBezTo>
                    <a:pt x="337439" y="1507490"/>
                    <a:pt x="0" y="1170051"/>
                    <a:pt x="0" y="753745"/>
                  </a:cubicBezTo>
                  <a:close/>
                </a:path>
              </a:pathLst>
            </a:custGeom>
            <a:solidFill>
              <a:srgbClr val="FFFFFF"/>
            </a:solidFill>
            <a:ln w="33338" cap="sq">
              <a:solidFill>
                <a:srgbClr val="387F7F"/>
              </a:solidFill>
              <a:prstDash val="solid"/>
              <a:miter/>
            </a:ln>
          </p:spPr>
        </p:sp>
      </p:grpSp>
      <p:grpSp>
        <p:nvGrpSpPr>
          <p:cNvPr name="Group 48" id="48"/>
          <p:cNvGrpSpPr/>
          <p:nvPr/>
        </p:nvGrpSpPr>
        <p:grpSpPr>
          <a:xfrm rot="0">
            <a:off x="8969883" y="5116068"/>
            <a:ext cx="1097280" cy="1097280"/>
            <a:chOff x="0" y="0"/>
            <a:chExt cx="1463040" cy="1463040"/>
          </a:xfrm>
        </p:grpSpPr>
        <p:sp>
          <p:nvSpPr>
            <p:cNvPr name="Freeform 49" id="49"/>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9">
                <a:alphaModFix amt="0"/>
              </a:blip>
              <a:stretch>
                <a:fillRect l="-78303" t="0" r="-78303" b="0"/>
              </a:stretch>
            </a:blipFill>
          </p:spPr>
        </p:sp>
        <p:sp>
          <p:nvSpPr>
            <p:cNvPr name="TextBox 50" id="50"/>
            <p:cNvSpPr txBox="true"/>
            <p:nvPr/>
          </p:nvSpPr>
          <p:spPr>
            <a:xfrm>
              <a:off x="0" y="-38100"/>
              <a:ext cx="1463040" cy="1501140"/>
            </a:xfrm>
            <a:prstGeom prst="rect">
              <a:avLst/>
            </a:prstGeom>
          </p:spPr>
          <p:txBody>
            <a:bodyPr anchor="ctr" rtlCol="false" tIns="0" lIns="0" bIns="0" rIns="0"/>
            <a:lstStyle/>
            <a:p>
              <a:pPr algn="ctr">
                <a:lnSpc>
                  <a:spcPts val="4680"/>
                </a:lnSpc>
              </a:pPr>
              <a:r>
                <a:rPr lang="en-US" sz="3900" b="true">
                  <a:solidFill>
                    <a:srgbClr val="387F7F"/>
                  </a:solidFill>
                  <a:latin typeface="Poppins Bold"/>
                  <a:ea typeface="Poppins Bold"/>
                  <a:cs typeface="Poppins Bold"/>
                  <a:sym typeface="Poppins Bold"/>
                </a:rPr>
                <a:t>▦</a:t>
              </a:r>
            </a:p>
          </p:txBody>
        </p:sp>
      </p:grpSp>
      <p:grpSp>
        <p:nvGrpSpPr>
          <p:cNvPr name="Group 51" id="51"/>
          <p:cNvGrpSpPr/>
          <p:nvPr/>
        </p:nvGrpSpPr>
        <p:grpSpPr>
          <a:xfrm rot="0">
            <a:off x="10300335" y="4882896"/>
            <a:ext cx="5074920" cy="548640"/>
            <a:chOff x="0" y="0"/>
            <a:chExt cx="6766560" cy="731520"/>
          </a:xfrm>
        </p:grpSpPr>
        <p:sp>
          <p:nvSpPr>
            <p:cNvPr name="Freeform 52" id="52"/>
            <p:cNvSpPr/>
            <p:nvPr/>
          </p:nvSpPr>
          <p:spPr>
            <a:xfrm flipH="false" flipV="false" rot="0">
              <a:off x="0" y="0"/>
              <a:ext cx="6766560" cy="731520"/>
            </a:xfrm>
            <a:custGeom>
              <a:avLst/>
              <a:gdLst/>
              <a:ahLst/>
              <a:cxnLst/>
              <a:rect r="r" b="b" t="t" l="l"/>
              <a:pathLst>
                <a:path h="731520" w="6766560">
                  <a:moveTo>
                    <a:pt x="0" y="0"/>
                  </a:moveTo>
                  <a:lnTo>
                    <a:pt x="6766560" y="0"/>
                  </a:lnTo>
                  <a:lnTo>
                    <a:pt x="6766560" y="731520"/>
                  </a:lnTo>
                  <a:lnTo>
                    <a:pt x="0" y="731520"/>
                  </a:lnTo>
                  <a:close/>
                </a:path>
              </a:pathLst>
            </a:custGeom>
            <a:blipFill>
              <a:blip r:embed="rId9">
                <a:alphaModFix amt="0"/>
              </a:blip>
              <a:stretch>
                <a:fillRect l="0" t="-130236" r="0" b="-130236"/>
              </a:stretch>
            </a:blipFill>
          </p:spPr>
        </p:sp>
        <p:sp>
          <p:nvSpPr>
            <p:cNvPr name="TextBox 53" id="53"/>
            <p:cNvSpPr txBox="true"/>
            <p:nvPr/>
          </p:nvSpPr>
          <p:spPr>
            <a:xfrm>
              <a:off x="0" y="-28575"/>
              <a:ext cx="6766560" cy="760095"/>
            </a:xfrm>
            <a:prstGeom prst="rect">
              <a:avLst/>
            </a:prstGeom>
          </p:spPr>
          <p:txBody>
            <a:bodyPr anchor="ctr" rtlCol="false" tIns="0" lIns="0" bIns="0" rIns="0"/>
            <a:lstStyle/>
            <a:p>
              <a:pPr algn="l">
                <a:lnSpc>
                  <a:spcPts val="2610"/>
                </a:lnSpc>
              </a:pPr>
              <a:r>
                <a:rPr lang="en-US" sz="2175" b="true">
                  <a:solidFill>
                    <a:srgbClr val="0A1A23"/>
                  </a:solidFill>
                  <a:latin typeface="Poppins Bold"/>
                  <a:ea typeface="Poppins Bold"/>
                  <a:cs typeface="Poppins Bold"/>
                  <a:sym typeface="Poppins Bold"/>
                </a:rPr>
                <a:t>Table or matrix</a:t>
              </a:r>
            </a:p>
          </p:txBody>
        </p:sp>
      </p:grpSp>
      <p:sp>
        <p:nvSpPr>
          <p:cNvPr name="TextBox 54" id="54"/>
          <p:cNvSpPr txBox="true"/>
          <p:nvPr/>
        </p:nvSpPr>
        <p:spPr>
          <a:xfrm rot="0">
            <a:off x="10300335" y="5388102"/>
            <a:ext cx="5074920" cy="1154430"/>
          </a:xfrm>
          <a:prstGeom prst="rect">
            <a:avLst/>
          </a:prstGeom>
        </p:spPr>
        <p:txBody>
          <a:bodyPr anchor="t" rtlCol="false" tIns="0" lIns="0" bIns="0" rIns="0">
            <a:spAutoFit/>
          </a:bodyPr>
          <a:lstStyle/>
          <a:p>
            <a:pPr algn="l">
              <a:lnSpc>
                <a:spcPts val="2415"/>
              </a:lnSpc>
            </a:pPr>
            <a:r>
              <a:rPr lang="en-US" sz="1650">
                <a:solidFill>
                  <a:srgbClr val="475569"/>
                </a:solidFill>
                <a:latin typeface="Poppins"/>
                <a:ea typeface="Poppins"/>
                <a:cs typeface="Poppins"/>
                <a:sym typeface="Poppins"/>
              </a:rPr>
              <a:t>What are the exact values, when the reader needs to look one up?</a:t>
            </a:r>
          </a:p>
        </p:txBody>
      </p:sp>
      <p:grpSp>
        <p:nvGrpSpPr>
          <p:cNvPr name="Group 55" id="55"/>
          <p:cNvGrpSpPr/>
          <p:nvPr/>
        </p:nvGrpSpPr>
        <p:grpSpPr>
          <a:xfrm rot="0">
            <a:off x="904875" y="7406640"/>
            <a:ext cx="14744700" cy="1851660"/>
            <a:chOff x="0" y="0"/>
            <a:chExt cx="19659600" cy="2468880"/>
          </a:xfrm>
        </p:grpSpPr>
        <p:sp>
          <p:nvSpPr>
            <p:cNvPr name="Freeform 56" id="56"/>
            <p:cNvSpPr/>
            <p:nvPr/>
          </p:nvSpPr>
          <p:spPr>
            <a:xfrm flipH="false" flipV="false" rot="0">
              <a:off x="0" y="0"/>
              <a:ext cx="19659600" cy="2468880"/>
            </a:xfrm>
            <a:custGeom>
              <a:avLst/>
              <a:gdLst/>
              <a:ahLst/>
              <a:cxnLst/>
              <a:rect r="r" b="b" t="t" l="l"/>
              <a:pathLst>
                <a:path h="2468880" w="19659600">
                  <a:moveTo>
                    <a:pt x="0" y="164592"/>
                  </a:moveTo>
                  <a:cubicBezTo>
                    <a:pt x="0" y="73660"/>
                    <a:pt x="73660" y="0"/>
                    <a:pt x="164592" y="0"/>
                  </a:cubicBezTo>
                  <a:lnTo>
                    <a:pt x="19495008" y="0"/>
                  </a:lnTo>
                  <a:cubicBezTo>
                    <a:pt x="19585939" y="0"/>
                    <a:pt x="19659600" y="73660"/>
                    <a:pt x="19659600" y="164592"/>
                  </a:cubicBezTo>
                  <a:lnTo>
                    <a:pt x="19659600" y="2304288"/>
                  </a:lnTo>
                  <a:cubicBezTo>
                    <a:pt x="19659600" y="2395220"/>
                    <a:pt x="19585939" y="2468880"/>
                    <a:pt x="19495008" y="2468880"/>
                  </a:cubicBezTo>
                  <a:lnTo>
                    <a:pt x="164592" y="2468880"/>
                  </a:lnTo>
                  <a:cubicBezTo>
                    <a:pt x="73660" y="2468880"/>
                    <a:pt x="0" y="2395220"/>
                    <a:pt x="0" y="2304288"/>
                  </a:cubicBezTo>
                  <a:close/>
                </a:path>
              </a:pathLst>
            </a:custGeom>
            <a:solidFill>
              <a:srgbClr val="FBF3E6"/>
            </a:solidFill>
          </p:spPr>
        </p:sp>
      </p:grpSp>
      <p:grpSp>
        <p:nvGrpSpPr>
          <p:cNvPr name="Group 57" id="57"/>
          <p:cNvGrpSpPr/>
          <p:nvPr/>
        </p:nvGrpSpPr>
        <p:grpSpPr>
          <a:xfrm rot="0">
            <a:off x="904875" y="7406640"/>
            <a:ext cx="102870" cy="1851660"/>
            <a:chOff x="0" y="0"/>
            <a:chExt cx="137160" cy="2468880"/>
          </a:xfrm>
        </p:grpSpPr>
        <p:sp>
          <p:nvSpPr>
            <p:cNvPr name="Freeform 58" id="58"/>
            <p:cNvSpPr/>
            <p:nvPr/>
          </p:nvSpPr>
          <p:spPr>
            <a:xfrm flipH="false" flipV="false" rot="0">
              <a:off x="0" y="0"/>
              <a:ext cx="137160" cy="2468880"/>
            </a:xfrm>
            <a:custGeom>
              <a:avLst/>
              <a:gdLst/>
              <a:ahLst/>
              <a:cxnLst/>
              <a:rect r="r" b="b" t="t" l="l"/>
              <a:pathLst>
                <a:path h="2468880" w="137160">
                  <a:moveTo>
                    <a:pt x="0" y="0"/>
                  </a:moveTo>
                  <a:lnTo>
                    <a:pt x="137160" y="0"/>
                  </a:lnTo>
                  <a:lnTo>
                    <a:pt x="137160" y="2468880"/>
                  </a:lnTo>
                  <a:lnTo>
                    <a:pt x="0" y="2468880"/>
                  </a:lnTo>
                  <a:close/>
                </a:path>
              </a:pathLst>
            </a:custGeom>
            <a:solidFill>
              <a:srgbClr val="C9821F"/>
            </a:solidFill>
          </p:spPr>
        </p:sp>
      </p:grpSp>
      <p:grpSp>
        <p:nvGrpSpPr>
          <p:cNvPr name="Group 59" id="59"/>
          <p:cNvGrpSpPr/>
          <p:nvPr/>
        </p:nvGrpSpPr>
        <p:grpSpPr>
          <a:xfrm rot="0">
            <a:off x="1316355" y="7749540"/>
            <a:ext cx="754380" cy="754380"/>
            <a:chOff x="0" y="0"/>
            <a:chExt cx="1005840" cy="1005840"/>
          </a:xfrm>
        </p:grpSpPr>
        <p:sp>
          <p:nvSpPr>
            <p:cNvPr name="Freeform 60" id="60"/>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C9821F"/>
            </a:solidFill>
          </p:spPr>
        </p:sp>
      </p:grpSp>
      <p:grpSp>
        <p:nvGrpSpPr>
          <p:cNvPr name="Group 61" id="61"/>
          <p:cNvGrpSpPr/>
          <p:nvPr/>
        </p:nvGrpSpPr>
        <p:grpSpPr>
          <a:xfrm rot="0">
            <a:off x="1316355" y="7749540"/>
            <a:ext cx="754380" cy="754380"/>
            <a:chOff x="0" y="0"/>
            <a:chExt cx="1005840" cy="1005840"/>
          </a:xfrm>
        </p:grpSpPr>
        <p:sp>
          <p:nvSpPr>
            <p:cNvPr name="Freeform 62" id="62"/>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63" id="63"/>
            <p:cNvSpPr txBox="true"/>
            <p:nvPr/>
          </p:nvSpPr>
          <p:spPr>
            <a:xfrm>
              <a:off x="0" y="-28575"/>
              <a:ext cx="1005840" cy="1034415"/>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a:t>
              </a:r>
            </a:p>
          </p:txBody>
        </p:sp>
      </p:grpSp>
      <p:sp>
        <p:nvSpPr>
          <p:cNvPr name="TextBox 64" id="64"/>
          <p:cNvSpPr txBox="true"/>
          <p:nvPr/>
        </p:nvSpPr>
        <p:spPr>
          <a:xfrm rot="0">
            <a:off x="2413635" y="7467600"/>
            <a:ext cx="12755880" cy="1653540"/>
          </a:xfrm>
          <a:prstGeom prst="rect">
            <a:avLst/>
          </a:prstGeom>
        </p:spPr>
        <p:txBody>
          <a:bodyPr anchor="t" rtlCol="false" tIns="0" lIns="0" bIns="0" rIns="0">
            <a:spAutoFit/>
          </a:bodyPr>
          <a:lstStyle/>
          <a:p>
            <a:pPr algn="l">
              <a:lnSpc>
                <a:spcPts val="2995"/>
              </a:lnSpc>
            </a:pPr>
            <a:r>
              <a:rPr lang="en-US" sz="1950">
                <a:solidFill>
                  <a:srgbClr val="7A5410"/>
                </a:solidFill>
                <a:latin typeface="Poppins"/>
                <a:ea typeface="Poppins"/>
                <a:cs typeface="Poppins"/>
                <a:sym typeface="Poppins"/>
              </a:rPr>
              <a:t>Not on this list: pie charts with more than three slices, dual-axis combinations, 3D anything, and the gauge visual. Module 6 explained why. The reasons have not changed because the software did.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5071824"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Slicers let th</a:t>
            </a:r>
            <a:r>
              <a:rPr lang="en-US" sz="5000">
                <a:solidFill>
                  <a:srgbClr val="388080"/>
                </a:solidFill>
                <a:latin typeface="Poppins"/>
                <a:ea typeface="Poppins"/>
                <a:cs typeface="Poppins"/>
                <a:sym typeface="Poppins"/>
              </a:rPr>
              <a:t>e reader ask the follow-up question</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23925" y="2468880"/>
            <a:ext cx="14744700" cy="3429000"/>
            <a:chOff x="0" y="0"/>
            <a:chExt cx="19659600" cy="4572000"/>
          </a:xfrm>
        </p:grpSpPr>
        <p:sp>
          <p:nvSpPr>
            <p:cNvPr name="Freeform 12" id="12"/>
            <p:cNvSpPr/>
            <p:nvPr/>
          </p:nvSpPr>
          <p:spPr>
            <a:xfrm flipH="false" flipV="false" rot="0">
              <a:off x="0" y="0"/>
              <a:ext cx="19659600" cy="4572000"/>
            </a:xfrm>
            <a:custGeom>
              <a:avLst/>
              <a:gdLst/>
              <a:ahLst/>
              <a:cxnLst/>
              <a:rect r="r" b="b" t="t" l="l"/>
              <a:pathLst>
                <a:path h="4572000" w="19659600">
                  <a:moveTo>
                    <a:pt x="0" y="182880"/>
                  </a:moveTo>
                  <a:cubicBezTo>
                    <a:pt x="0" y="81915"/>
                    <a:pt x="81915" y="0"/>
                    <a:pt x="182880" y="0"/>
                  </a:cubicBezTo>
                  <a:lnTo>
                    <a:pt x="19476720" y="0"/>
                  </a:lnTo>
                  <a:cubicBezTo>
                    <a:pt x="19577684" y="0"/>
                    <a:pt x="19659600" y="81915"/>
                    <a:pt x="19659600" y="182880"/>
                  </a:cubicBezTo>
                  <a:lnTo>
                    <a:pt x="19659600" y="4389120"/>
                  </a:lnTo>
                  <a:cubicBezTo>
                    <a:pt x="19659600" y="4490085"/>
                    <a:pt x="19577684" y="4572000"/>
                    <a:pt x="19476720" y="4572000"/>
                  </a:cubicBezTo>
                  <a:lnTo>
                    <a:pt x="182880" y="4572000"/>
                  </a:lnTo>
                  <a:cubicBezTo>
                    <a:pt x="81915" y="4572000"/>
                    <a:pt x="0" y="4490085"/>
                    <a:pt x="0" y="4389120"/>
                  </a:cubicBezTo>
                  <a:close/>
                </a:path>
              </a:pathLst>
            </a:custGeom>
            <a:solidFill>
              <a:srgbClr val="FFFFFF"/>
            </a:solidFill>
          </p:spPr>
        </p:sp>
      </p:grpSp>
      <p:grpSp>
        <p:nvGrpSpPr>
          <p:cNvPr name="Group 13" id="13"/>
          <p:cNvGrpSpPr/>
          <p:nvPr/>
        </p:nvGrpSpPr>
        <p:grpSpPr>
          <a:xfrm rot="0">
            <a:off x="1389697" y="2934652"/>
            <a:ext cx="2771775" cy="2497455"/>
            <a:chOff x="0" y="0"/>
            <a:chExt cx="3695700" cy="3329940"/>
          </a:xfrm>
        </p:grpSpPr>
        <p:sp>
          <p:nvSpPr>
            <p:cNvPr name="Freeform 14" id="14"/>
            <p:cNvSpPr/>
            <p:nvPr/>
          </p:nvSpPr>
          <p:spPr>
            <a:xfrm flipH="false" flipV="false" rot="0">
              <a:off x="0" y="0"/>
              <a:ext cx="3695700" cy="3329940"/>
            </a:xfrm>
            <a:custGeom>
              <a:avLst/>
              <a:gdLst/>
              <a:ahLst/>
              <a:cxnLst/>
              <a:rect r="r" b="b" t="t" l="l"/>
              <a:pathLst>
                <a:path h="3329940" w="3695700">
                  <a:moveTo>
                    <a:pt x="0" y="147955"/>
                  </a:moveTo>
                  <a:cubicBezTo>
                    <a:pt x="0" y="66294"/>
                    <a:pt x="66294" y="0"/>
                    <a:pt x="147955" y="0"/>
                  </a:cubicBezTo>
                  <a:lnTo>
                    <a:pt x="3547745" y="0"/>
                  </a:lnTo>
                  <a:cubicBezTo>
                    <a:pt x="3629406" y="0"/>
                    <a:pt x="3695700" y="66294"/>
                    <a:pt x="3695700" y="147955"/>
                  </a:cubicBezTo>
                  <a:lnTo>
                    <a:pt x="3695700" y="3181985"/>
                  </a:lnTo>
                  <a:cubicBezTo>
                    <a:pt x="3695700" y="3263773"/>
                    <a:pt x="3629406" y="3329940"/>
                    <a:pt x="3547745" y="3329940"/>
                  </a:cubicBezTo>
                  <a:lnTo>
                    <a:pt x="147955" y="3329940"/>
                  </a:lnTo>
                  <a:cubicBezTo>
                    <a:pt x="66294" y="3329940"/>
                    <a:pt x="0" y="3263646"/>
                    <a:pt x="0" y="3181985"/>
                  </a:cubicBezTo>
                  <a:close/>
                </a:path>
              </a:pathLst>
            </a:custGeom>
            <a:solidFill>
              <a:srgbClr val="EEF4F4"/>
            </a:solidFill>
            <a:ln w="28575" cap="sq">
              <a:solidFill>
                <a:srgbClr val="387F7F"/>
              </a:solidFill>
              <a:prstDash val="solid"/>
              <a:miter/>
            </a:ln>
          </p:spPr>
        </p:sp>
      </p:grpSp>
      <p:grpSp>
        <p:nvGrpSpPr>
          <p:cNvPr name="Group 15" id="15"/>
          <p:cNvGrpSpPr/>
          <p:nvPr/>
        </p:nvGrpSpPr>
        <p:grpSpPr>
          <a:xfrm rot="0">
            <a:off x="1403985" y="3154680"/>
            <a:ext cx="2743200" cy="685800"/>
            <a:chOff x="0" y="0"/>
            <a:chExt cx="3657600" cy="914400"/>
          </a:xfrm>
        </p:grpSpPr>
        <p:sp>
          <p:nvSpPr>
            <p:cNvPr name="Freeform 16" id="16"/>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9">
                <a:alphaModFix amt="0"/>
              </a:blip>
              <a:stretch>
                <a:fillRect l="0" t="-27940" r="0" b="-27940"/>
              </a:stretch>
            </a:blipFill>
          </p:spPr>
        </p:sp>
        <p:sp>
          <p:nvSpPr>
            <p:cNvPr name="TextBox 17" id="17"/>
            <p:cNvSpPr txBox="true"/>
            <p:nvPr/>
          </p:nvSpPr>
          <p:spPr>
            <a:xfrm>
              <a:off x="0" y="-19050"/>
              <a:ext cx="3657600" cy="933450"/>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Hub</a:t>
              </a:r>
            </a:p>
            <a:p>
              <a:pPr algn="ctr">
                <a:lnSpc>
                  <a:spcPts val="2160"/>
                </a:lnSpc>
              </a:pPr>
              <a:r>
                <a:rPr lang="en-US" sz="1800" b="true">
                  <a:solidFill>
                    <a:srgbClr val="387F7F"/>
                  </a:solidFill>
                  <a:latin typeface="Poppins Bold"/>
                  <a:ea typeface="Poppins Bold"/>
                  <a:cs typeface="Poppins Bold"/>
                  <a:sym typeface="Poppins Bold"/>
                </a:rPr>
                <a:t>slicer</a:t>
              </a:r>
            </a:p>
          </p:txBody>
        </p:sp>
      </p:grpSp>
      <p:grpSp>
        <p:nvGrpSpPr>
          <p:cNvPr name="Group 18" id="18"/>
          <p:cNvGrpSpPr/>
          <p:nvPr/>
        </p:nvGrpSpPr>
        <p:grpSpPr>
          <a:xfrm rot="0">
            <a:off x="1678305" y="3909060"/>
            <a:ext cx="2194560" cy="384048"/>
            <a:chOff x="0" y="0"/>
            <a:chExt cx="2926080" cy="512064"/>
          </a:xfrm>
        </p:grpSpPr>
        <p:sp>
          <p:nvSpPr>
            <p:cNvPr name="Freeform 19" id="19"/>
            <p:cNvSpPr/>
            <p:nvPr/>
          </p:nvSpPr>
          <p:spPr>
            <a:xfrm flipH="false" flipV="false" rot="0">
              <a:off x="0" y="0"/>
              <a:ext cx="2926080" cy="512064"/>
            </a:xfrm>
            <a:custGeom>
              <a:avLst/>
              <a:gdLst/>
              <a:ahLst/>
              <a:cxnLst/>
              <a:rect r="r" b="b" t="t" l="l"/>
              <a:pathLst>
                <a:path h="512064" w="2926080">
                  <a:moveTo>
                    <a:pt x="0" y="0"/>
                  </a:moveTo>
                  <a:lnTo>
                    <a:pt x="2926080" y="0"/>
                  </a:lnTo>
                  <a:lnTo>
                    <a:pt x="2926080" y="512064"/>
                  </a:lnTo>
                  <a:lnTo>
                    <a:pt x="0" y="512064"/>
                  </a:lnTo>
                  <a:close/>
                </a:path>
              </a:pathLst>
            </a:custGeom>
            <a:blipFill>
              <a:blip r:embed="rId9">
                <a:alphaModFix amt="0"/>
              </a:blip>
              <a:stretch>
                <a:fillRect l="0" t="-61343" r="0" b="-61343"/>
              </a:stretch>
            </a:blipFill>
          </p:spPr>
        </p:sp>
        <p:sp>
          <p:nvSpPr>
            <p:cNvPr name="TextBox 20" id="20"/>
            <p:cNvSpPr txBox="true"/>
            <p:nvPr/>
          </p:nvSpPr>
          <p:spPr>
            <a:xfrm>
              <a:off x="0" y="-19050"/>
              <a:ext cx="2926080" cy="531114"/>
            </a:xfrm>
            <a:prstGeom prst="rect">
              <a:avLst/>
            </a:prstGeom>
          </p:spPr>
          <p:txBody>
            <a:bodyPr anchor="ctr" rtlCol="false" tIns="0" lIns="0" bIns="0" rIns="0"/>
            <a:lstStyle/>
            <a:p>
              <a:pPr algn="l">
                <a:lnSpc>
                  <a:spcPts val="1800"/>
                </a:lnSpc>
              </a:pPr>
              <a:r>
                <a:rPr lang="en-US" sz="1500" b="true">
                  <a:solidFill>
                    <a:srgbClr val="387F7F"/>
                  </a:solidFill>
                  <a:latin typeface="Poppins Bold"/>
                  <a:ea typeface="Poppins Bold"/>
                  <a:cs typeface="Poppins Bold"/>
                  <a:sym typeface="Poppins Bold"/>
                </a:rPr>
                <a:t>Apapa ✓</a:t>
              </a:r>
            </a:p>
          </p:txBody>
        </p:sp>
      </p:grpSp>
      <p:grpSp>
        <p:nvGrpSpPr>
          <p:cNvPr name="Group 21" id="21"/>
          <p:cNvGrpSpPr/>
          <p:nvPr/>
        </p:nvGrpSpPr>
        <p:grpSpPr>
          <a:xfrm rot="0">
            <a:off x="1678305" y="4347972"/>
            <a:ext cx="2194560" cy="384048"/>
            <a:chOff x="0" y="0"/>
            <a:chExt cx="2926080" cy="512064"/>
          </a:xfrm>
        </p:grpSpPr>
        <p:sp>
          <p:nvSpPr>
            <p:cNvPr name="Freeform 22" id="22"/>
            <p:cNvSpPr/>
            <p:nvPr/>
          </p:nvSpPr>
          <p:spPr>
            <a:xfrm flipH="false" flipV="false" rot="0">
              <a:off x="0" y="0"/>
              <a:ext cx="2926080" cy="512064"/>
            </a:xfrm>
            <a:custGeom>
              <a:avLst/>
              <a:gdLst/>
              <a:ahLst/>
              <a:cxnLst/>
              <a:rect r="r" b="b" t="t" l="l"/>
              <a:pathLst>
                <a:path h="512064" w="2926080">
                  <a:moveTo>
                    <a:pt x="0" y="0"/>
                  </a:moveTo>
                  <a:lnTo>
                    <a:pt x="2926080" y="0"/>
                  </a:lnTo>
                  <a:lnTo>
                    <a:pt x="2926080" y="512064"/>
                  </a:lnTo>
                  <a:lnTo>
                    <a:pt x="0" y="512064"/>
                  </a:lnTo>
                  <a:close/>
                </a:path>
              </a:pathLst>
            </a:custGeom>
            <a:blipFill>
              <a:blip r:embed="rId9">
                <a:alphaModFix amt="0"/>
              </a:blip>
              <a:stretch>
                <a:fillRect l="0" t="-61343" r="0" b="-61343"/>
              </a:stretch>
            </a:blipFill>
          </p:spPr>
        </p:sp>
        <p:sp>
          <p:nvSpPr>
            <p:cNvPr name="TextBox 23" id="23"/>
            <p:cNvSpPr txBox="true"/>
            <p:nvPr/>
          </p:nvSpPr>
          <p:spPr>
            <a:xfrm>
              <a:off x="0" y="-19050"/>
              <a:ext cx="2926080" cy="531114"/>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Ikeja</a:t>
              </a:r>
            </a:p>
          </p:txBody>
        </p:sp>
      </p:grpSp>
      <p:grpSp>
        <p:nvGrpSpPr>
          <p:cNvPr name="Group 24" id="24"/>
          <p:cNvGrpSpPr/>
          <p:nvPr/>
        </p:nvGrpSpPr>
        <p:grpSpPr>
          <a:xfrm rot="0">
            <a:off x="1678305" y="4786884"/>
            <a:ext cx="2194560" cy="384048"/>
            <a:chOff x="0" y="0"/>
            <a:chExt cx="2926080" cy="512064"/>
          </a:xfrm>
        </p:grpSpPr>
        <p:sp>
          <p:nvSpPr>
            <p:cNvPr name="Freeform 25" id="25"/>
            <p:cNvSpPr/>
            <p:nvPr/>
          </p:nvSpPr>
          <p:spPr>
            <a:xfrm flipH="false" flipV="false" rot="0">
              <a:off x="0" y="0"/>
              <a:ext cx="2926080" cy="512064"/>
            </a:xfrm>
            <a:custGeom>
              <a:avLst/>
              <a:gdLst/>
              <a:ahLst/>
              <a:cxnLst/>
              <a:rect r="r" b="b" t="t" l="l"/>
              <a:pathLst>
                <a:path h="512064" w="2926080">
                  <a:moveTo>
                    <a:pt x="0" y="0"/>
                  </a:moveTo>
                  <a:lnTo>
                    <a:pt x="2926080" y="0"/>
                  </a:lnTo>
                  <a:lnTo>
                    <a:pt x="2926080" y="512064"/>
                  </a:lnTo>
                  <a:lnTo>
                    <a:pt x="0" y="512064"/>
                  </a:lnTo>
                  <a:close/>
                </a:path>
              </a:pathLst>
            </a:custGeom>
            <a:blipFill>
              <a:blip r:embed="rId9">
                <a:alphaModFix amt="0"/>
              </a:blip>
              <a:stretch>
                <a:fillRect l="0" t="-61343" r="0" b="-61343"/>
              </a:stretch>
            </a:blipFill>
          </p:spPr>
        </p:sp>
        <p:sp>
          <p:nvSpPr>
            <p:cNvPr name="TextBox 26" id="26"/>
            <p:cNvSpPr txBox="true"/>
            <p:nvPr/>
          </p:nvSpPr>
          <p:spPr>
            <a:xfrm>
              <a:off x="0" y="-19050"/>
              <a:ext cx="2926080" cy="531114"/>
            </a:xfrm>
            <a:prstGeom prst="rect">
              <a:avLst/>
            </a:prstGeom>
          </p:spPr>
          <p:txBody>
            <a:bodyPr anchor="ctr" rtlCol="false" tIns="0" lIns="0" bIns="0" rIns="0"/>
            <a:lstStyle/>
            <a:p>
              <a:pPr algn="l">
                <a:lnSpc>
                  <a:spcPts val="1800"/>
                </a:lnSpc>
              </a:pPr>
              <a:r>
                <a:rPr lang="en-US" sz="1500">
                  <a:solidFill>
                    <a:srgbClr val="64748B"/>
                  </a:solidFill>
                  <a:latin typeface="Poppins"/>
                  <a:ea typeface="Poppins"/>
                  <a:cs typeface="Poppins"/>
                  <a:sym typeface="Poppins"/>
                </a:rPr>
                <a:t>Lekki</a:t>
              </a:r>
            </a:p>
          </p:txBody>
        </p:sp>
      </p:grpSp>
      <p:grpSp>
        <p:nvGrpSpPr>
          <p:cNvPr name="Group 27" id="27"/>
          <p:cNvGrpSpPr/>
          <p:nvPr/>
        </p:nvGrpSpPr>
        <p:grpSpPr>
          <a:xfrm rot="0">
            <a:off x="4352925" y="3909060"/>
            <a:ext cx="411480" cy="411480"/>
            <a:chOff x="0" y="0"/>
            <a:chExt cx="548640" cy="548640"/>
          </a:xfrm>
        </p:grpSpPr>
        <p:sp>
          <p:nvSpPr>
            <p:cNvPr name="Freeform 28" id="28"/>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9">
                <a:alphaModFix amt="0"/>
              </a:blip>
              <a:stretch>
                <a:fillRect l="-78303" t="0" r="-78303" b="0"/>
              </a:stretch>
            </a:blipFill>
          </p:spPr>
        </p:sp>
        <p:sp>
          <p:nvSpPr>
            <p:cNvPr name="TextBox 29" id="29"/>
            <p:cNvSpPr txBox="true"/>
            <p:nvPr/>
          </p:nvSpPr>
          <p:spPr>
            <a:xfrm>
              <a:off x="0" y="-19050"/>
              <a:ext cx="548640" cy="567690"/>
            </a:xfrm>
            <a:prstGeom prst="rect">
              <a:avLst/>
            </a:prstGeom>
          </p:spPr>
          <p:txBody>
            <a:bodyPr anchor="ctr" rtlCol="false" tIns="0" lIns="0" bIns="0" rIns="0"/>
            <a:lstStyle/>
            <a:p>
              <a:pPr algn="ctr">
                <a:lnSpc>
                  <a:spcPts val="2484"/>
                </a:lnSpc>
              </a:pPr>
              <a:r>
                <a:rPr lang="en-US" sz="2070" b="true">
                  <a:solidFill>
                    <a:srgbClr val="387F7F"/>
                  </a:solidFill>
                  <a:latin typeface="Poppins Bold"/>
                  <a:ea typeface="Poppins Bold"/>
                  <a:cs typeface="Poppins Bold"/>
                  <a:sym typeface="Poppins Bold"/>
                </a:rPr>
                <a:t>›</a:t>
              </a:r>
            </a:p>
          </p:txBody>
        </p:sp>
      </p:grpSp>
      <p:grpSp>
        <p:nvGrpSpPr>
          <p:cNvPr name="Group 30" id="30"/>
          <p:cNvGrpSpPr/>
          <p:nvPr/>
        </p:nvGrpSpPr>
        <p:grpSpPr>
          <a:xfrm rot="0">
            <a:off x="4352925" y="4320540"/>
            <a:ext cx="411480" cy="411480"/>
            <a:chOff x="0" y="0"/>
            <a:chExt cx="548640" cy="548640"/>
          </a:xfrm>
        </p:grpSpPr>
        <p:sp>
          <p:nvSpPr>
            <p:cNvPr name="Freeform 31" id="31"/>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9">
                <a:alphaModFix amt="0"/>
              </a:blip>
              <a:stretch>
                <a:fillRect l="-78303" t="0" r="-78303" b="0"/>
              </a:stretch>
            </a:blipFill>
          </p:spPr>
        </p:sp>
        <p:sp>
          <p:nvSpPr>
            <p:cNvPr name="TextBox 32" id="32"/>
            <p:cNvSpPr txBox="true"/>
            <p:nvPr/>
          </p:nvSpPr>
          <p:spPr>
            <a:xfrm>
              <a:off x="0" y="-19050"/>
              <a:ext cx="548640" cy="567690"/>
            </a:xfrm>
            <a:prstGeom prst="rect">
              <a:avLst/>
            </a:prstGeom>
          </p:spPr>
          <p:txBody>
            <a:bodyPr anchor="ctr" rtlCol="false" tIns="0" lIns="0" bIns="0" rIns="0"/>
            <a:lstStyle/>
            <a:p>
              <a:pPr algn="ctr">
                <a:lnSpc>
                  <a:spcPts val="2484"/>
                </a:lnSpc>
              </a:pPr>
              <a:r>
                <a:rPr lang="en-US" sz="2070" b="true">
                  <a:solidFill>
                    <a:srgbClr val="387F7F"/>
                  </a:solidFill>
                  <a:latin typeface="Poppins Bold"/>
                  <a:ea typeface="Poppins Bold"/>
                  <a:cs typeface="Poppins Bold"/>
                  <a:sym typeface="Poppins Bold"/>
                </a:rPr>
                <a:t>›</a:t>
              </a:r>
            </a:p>
          </p:txBody>
        </p:sp>
      </p:grpSp>
      <p:grpSp>
        <p:nvGrpSpPr>
          <p:cNvPr name="Group 33" id="33"/>
          <p:cNvGrpSpPr/>
          <p:nvPr/>
        </p:nvGrpSpPr>
        <p:grpSpPr>
          <a:xfrm rot="0">
            <a:off x="4970145" y="2948940"/>
            <a:ext cx="4526280" cy="2468880"/>
            <a:chOff x="0" y="0"/>
            <a:chExt cx="6035040" cy="3291840"/>
          </a:xfrm>
        </p:grpSpPr>
        <p:sp>
          <p:nvSpPr>
            <p:cNvPr name="Freeform 34" id="34"/>
            <p:cNvSpPr/>
            <p:nvPr/>
          </p:nvSpPr>
          <p:spPr>
            <a:xfrm flipH="false" flipV="false" rot="0">
              <a:off x="0" y="0"/>
              <a:ext cx="6035040" cy="3291840"/>
            </a:xfrm>
            <a:custGeom>
              <a:avLst/>
              <a:gdLst/>
              <a:ahLst/>
              <a:cxnLst/>
              <a:rect r="r" b="b" t="t" l="l"/>
              <a:pathLst>
                <a:path h="3291840" w="6035040">
                  <a:moveTo>
                    <a:pt x="0" y="146304"/>
                  </a:moveTo>
                  <a:cubicBezTo>
                    <a:pt x="0" y="65532"/>
                    <a:pt x="65532" y="0"/>
                    <a:pt x="146304" y="0"/>
                  </a:cubicBezTo>
                  <a:lnTo>
                    <a:pt x="5888736" y="0"/>
                  </a:lnTo>
                  <a:cubicBezTo>
                    <a:pt x="5969508" y="0"/>
                    <a:pt x="6035040" y="65532"/>
                    <a:pt x="6035040" y="146304"/>
                  </a:cubicBezTo>
                  <a:lnTo>
                    <a:pt x="6035040" y="3145536"/>
                  </a:lnTo>
                  <a:cubicBezTo>
                    <a:pt x="6035040" y="3226308"/>
                    <a:pt x="5969508" y="3291840"/>
                    <a:pt x="5888736" y="3291840"/>
                  </a:cubicBezTo>
                  <a:lnTo>
                    <a:pt x="146304" y="3291840"/>
                  </a:lnTo>
                  <a:cubicBezTo>
                    <a:pt x="65532" y="3291840"/>
                    <a:pt x="0" y="3226308"/>
                    <a:pt x="0" y="3145536"/>
                  </a:cubicBezTo>
                  <a:close/>
                </a:path>
              </a:pathLst>
            </a:custGeom>
            <a:solidFill>
              <a:srgbClr val="EEF4F4"/>
            </a:solidFill>
          </p:spPr>
        </p:sp>
      </p:grpSp>
      <p:grpSp>
        <p:nvGrpSpPr>
          <p:cNvPr name="Group 35" id="35"/>
          <p:cNvGrpSpPr/>
          <p:nvPr/>
        </p:nvGrpSpPr>
        <p:grpSpPr>
          <a:xfrm rot="0">
            <a:off x="5244465" y="3909060"/>
            <a:ext cx="3977640" cy="822960"/>
            <a:chOff x="0" y="0"/>
            <a:chExt cx="5303520" cy="1097280"/>
          </a:xfrm>
        </p:grpSpPr>
        <p:sp>
          <p:nvSpPr>
            <p:cNvPr name="Freeform 36" id="36"/>
            <p:cNvSpPr/>
            <p:nvPr/>
          </p:nvSpPr>
          <p:spPr>
            <a:xfrm flipH="false" flipV="false" rot="0">
              <a:off x="0" y="0"/>
              <a:ext cx="5303520" cy="1097280"/>
            </a:xfrm>
            <a:custGeom>
              <a:avLst/>
              <a:gdLst/>
              <a:ahLst/>
              <a:cxnLst/>
              <a:rect r="r" b="b" t="t" l="l"/>
              <a:pathLst>
                <a:path h="1097280" w="5303520">
                  <a:moveTo>
                    <a:pt x="0" y="0"/>
                  </a:moveTo>
                  <a:lnTo>
                    <a:pt x="5303520" y="0"/>
                  </a:lnTo>
                  <a:lnTo>
                    <a:pt x="5303520" y="1097280"/>
                  </a:lnTo>
                  <a:lnTo>
                    <a:pt x="0" y="1097280"/>
                  </a:lnTo>
                  <a:close/>
                </a:path>
              </a:pathLst>
            </a:custGeom>
            <a:blipFill>
              <a:blip r:embed="rId9">
                <a:alphaModFix amt="0"/>
              </a:blip>
              <a:stretch>
                <a:fillRect l="0" t="-44177" r="0" b="-44177"/>
              </a:stretch>
            </a:blipFill>
          </p:spPr>
        </p:sp>
        <p:sp>
          <p:nvSpPr>
            <p:cNvPr name="TextBox 37" id="37"/>
            <p:cNvSpPr txBox="true"/>
            <p:nvPr/>
          </p:nvSpPr>
          <p:spPr>
            <a:xfrm>
              <a:off x="0" y="-47625"/>
              <a:ext cx="5303520" cy="1144905"/>
            </a:xfrm>
            <a:prstGeom prst="rect">
              <a:avLst/>
            </a:prstGeom>
          </p:spPr>
          <p:txBody>
            <a:bodyPr anchor="ctr" rtlCol="false" tIns="0" lIns="0" bIns="0" rIns="0"/>
            <a:lstStyle/>
            <a:p>
              <a:pPr algn="ctr">
                <a:lnSpc>
                  <a:spcPts val="2376"/>
                </a:lnSpc>
              </a:pPr>
              <a:r>
                <a:rPr lang="en-US" sz="1650">
                  <a:solidFill>
                    <a:srgbClr val="475569"/>
                  </a:solidFill>
                  <a:latin typeface="Poppins"/>
                  <a:ea typeface="Poppins"/>
                  <a:cs typeface="Poppins"/>
                  <a:sym typeface="Poppins"/>
                </a:rPr>
                <a:t>Ranked route chart</a:t>
              </a:r>
            </a:p>
            <a:p>
              <a:pPr algn="ctr">
                <a:lnSpc>
                  <a:spcPts val="2376"/>
                </a:lnSpc>
              </a:pPr>
              <a:r>
                <a:rPr lang="en-US" sz="1650">
                  <a:solidFill>
                    <a:srgbClr val="475569"/>
                  </a:solidFill>
                  <a:latin typeface="Poppins"/>
                  <a:ea typeface="Poppins"/>
                  <a:cs typeface="Poppins"/>
                  <a:sym typeface="Poppins"/>
                </a:rPr>
                <a:t>(filtered to Apapa)</a:t>
              </a:r>
            </a:p>
          </p:txBody>
        </p:sp>
      </p:grpSp>
      <p:grpSp>
        <p:nvGrpSpPr>
          <p:cNvPr name="Group 38" id="38"/>
          <p:cNvGrpSpPr/>
          <p:nvPr/>
        </p:nvGrpSpPr>
        <p:grpSpPr>
          <a:xfrm rot="0">
            <a:off x="9770745" y="2948940"/>
            <a:ext cx="4526280" cy="2468880"/>
            <a:chOff x="0" y="0"/>
            <a:chExt cx="6035040" cy="3291840"/>
          </a:xfrm>
        </p:grpSpPr>
        <p:sp>
          <p:nvSpPr>
            <p:cNvPr name="Freeform 39" id="39"/>
            <p:cNvSpPr/>
            <p:nvPr/>
          </p:nvSpPr>
          <p:spPr>
            <a:xfrm flipH="false" flipV="false" rot="0">
              <a:off x="0" y="0"/>
              <a:ext cx="6035040" cy="3291840"/>
            </a:xfrm>
            <a:custGeom>
              <a:avLst/>
              <a:gdLst/>
              <a:ahLst/>
              <a:cxnLst/>
              <a:rect r="r" b="b" t="t" l="l"/>
              <a:pathLst>
                <a:path h="3291840" w="6035040">
                  <a:moveTo>
                    <a:pt x="0" y="146304"/>
                  </a:moveTo>
                  <a:cubicBezTo>
                    <a:pt x="0" y="65532"/>
                    <a:pt x="65532" y="0"/>
                    <a:pt x="146304" y="0"/>
                  </a:cubicBezTo>
                  <a:lnTo>
                    <a:pt x="5888736" y="0"/>
                  </a:lnTo>
                  <a:cubicBezTo>
                    <a:pt x="5969508" y="0"/>
                    <a:pt x="6035040" y="65532"/>
                    <a:pt x="6035040" y="146304"/>
                  </a:cubicBezTo>
                  <a:lnTo>
                    <a:pt x="6035040" y="3145536"/>
                  </a:lnTo>
                  <a:cubicBezTo>
                    <a:pt x="6035040" y="3226308"/>
                    <a:pt x="5969508" y="3291840"/>
                    <a:pt x="5888736" y="3291840"/>
                  </a:cubicBezTo>
                  <a:lnTo>
                    <a:pt x="146304" y="3291840"/>
                  </a:lnTo>
                  <a:cubicBezTo>
                    <a:pt x="65532" y="3291840"/>
                    <a:pt x="0" y="3226308"/>
                    <a:pt x="0" y="3145536"/>
                  </a:cubicBezTo>
                  <a:close/>
                </a:path>
              </a:pathLst>
            </a:custGeom>
            <a:solidFill>
              <a:srgbClr val="EEF4F4"/>
            </a:solidFill>
          </p:spPr>
        </p:sp>
      </p:grpSp>
      <p:grpSp>
        <p:nvGrpSpPr>
          <p:cNvPr name="Group 40" id="40"/>
          <p:cNvGrpSpPr/>
          <p:nvPr/>
        </p:nvGrpSpPr>
        <p:grpSpPr>
          <a:xfrm rot="0">
            <a:off x="10045065" y="3909060"/>
            <a:ext cx="3977640" cy="822960"/>
            <a:chOff x="0" y="0"/>
            <a:chExt cx="5303520" cy="1097280"/>
          </a:xfrm>
        </p:grpSpPr>
        <p:sp>
          <p:nvSpPr>
            <p:cNvPr name="Freeform 41" id="41"/>
            <p:cNvSpPr/>
            <p:nvPr/>
          </p:nvSpPr>
          <p:spPr>
            <a:xfrm flipH="false" flipV="false" rot="0">
              <a:off x="0" y="0"/>
              <a:ext cx="5303520" cy="1097280"/>
            </a:xfrm>
            <a:custGeom>
              <a:avLst/>
              <a:gdLst/>
              <a:ahLst/>
              <a:cxnLst/>
              <a:rect r="r" b="b" t="t" l="l"/>
              <a:pathLst>
                <a:path h="1097280" w="5303520">
                  <a:moveTo>
                    <a:pt x="0" y="0"/>
                  </a:moveTo>
                  <a:lnTo>
                    <a:pt x="5303520" y="0"/>
                  </a:lnTo>
                  <a:lnTo>
                    <a:pt x="5303520" y="1097280"/>
                  </a:lnTo>
                  <a:lnTo>
                    <a:pt x="0" y="1097280"/>
                  </a:lnTo>
                  <a:close/>
                </a:path>
              </a:pathLst>
            </a:custGeom>
            <a:blipFill>
              <a:blip r:embed="rId9">
                <a:alphaModFix amt="0"/>
              </a:blip>
              <a:stretch>
                <a:fillRect l="0" t="-44177" r="0" b="-44177"/>
              </a:stretch>
            </a:blipFill>
          </p:spPr>
        </p:sp>
        <p:sp>
          <p:nvSpPr>
            <p:cNvPr name="TextBox 42" id="42"/>
            <p:cNvSpPr txBox="true"/>
            <p:nvPr/>
          </p:nvSpPr>
          <p:spPr>
            <a:xfrm>
              <a:off x="0" y="-47625"/>
              <a:ext cx="5303520" cy="1144905"/>
            </a:xfrm>
            <a:prstGeom prst="rect">
              <a:avLst/>
            </a:prstGeom>
          </p:spPr>
          <p:txBody>
            <a:bodyPr anchor="ctr" rtlCol="false" tIns="0" lIns="0" bIns="0" rIns="0"/>
            <a:lstStyle/>
            <a:p>
              <a:pPr algn="ctr">
                <a:lnSpc>
                  <a:spcPts val="2376"/>
                </a:lnSpc>
              </a:pPr>
              <a:r>
                <a:rPr lang="en-US" sz="1650">
                  <a:solidFill>
                    <a:srgbClr val="475569"/>
                  </a:solidFill>
                  <a:latin typeface="Poppins"/>
                  <a:ea typeface="Poppins"/>
                  <a:cs typeface="Poppins"/>
                  <a:sym typeface="Poppins"/>
                </a:rPr>
                <a:t>Rider table</a:t>
              </a:r>
            </a:p>
            <a:p>
              <a:pPr algn="ctr">
                <a:lnSpc>
                  <a:spcPts val="2376"/>
                </a:lnSpc>
              </a:pPr>
              <a:r>
                <a:rPr lang="en-US" sz="1650">
                  <a:solidFill>
                    <a:srgbClr val="475569"/>
                  </a:solidFill>
                  <a:latin typeface="Poppins"/>
                  <a:ea typeface="Poppins"/>
                  <a:cs typeface="Poppins"/>
                  <a:sym typeface="Poppins"/>
                </a:rPr>
                <a:t>(filtered to Apapa)</a:t>
              </a:r>
            </a:p>
          </p:txBody>
        </p:sp>
      </p:grpSp>
      <p:sp>
        <p:nvSpPr>
          <p:cNvPr name="TextBox 43" id="43"/>
          <p:cNvSpPr txBox="true"/>
          <p:nvPr/>
        </p:nvSpPr>
        <p:spPr>
          <a:xfrm rot="0">
            <a:off x="923925" y="6145530"/>
            <a:ext cx="14744700" cy="1672590"/>
          </a:xfrm>
          <a:prstGeom prst="rect">
            <a:avLst/>
          </a:prstGeom>
        </p:spPr>
        <p:txBody>
          <a:bodyPr anchor="t" rtlCol="false" tIns="0" lIns="0" bIns="0" rIns="0">
            <a:spAutoFit/>
          </a:bodyPr>
          <a:lstStyle/>
          <a:p>
            <a:pPr algn="l">
              <a:lnSpc>
                <a:spcPts val="3326"/>
              </a:lnSpc>
            </a:pPr>
            <a:r>
              <a:rPr lang="en-US" sz="2100">
                <a:solidFill>
                  <a:srgbClr val="475569"/>
                </a:solidFill>
                <a:latin typeface="Poppins"/>
                <a:ea typeface="Poppins"/>
                <a:cs typeface="Poppins"/>
                <a:sym typeface="Poppins"/>
              </a:rPr>
              <a:t>A static report answers the questions you anticipated. A slicer lets Adaeze answer the one you did not: she sees Apapa is weak, clicks Apapa, and the rider chart beneath now shows only Apapa riders. She has just answered “rider problem or route problem” without calling you.</a:t>
            </a:r>
          </a:p>
        </p:txBody>
      </p:sp>
      <p:grpSp>
        <p:nvGrpSpPr>
          <p:cNvPr name="Group 44" id="44"/>
          <p:cNvGrpSpPr/>
          <p:nvPr/>
        </p:nvGrpSpPr>
        <p:grpSpPr>
          <a:xfrm rot="0">
            <a:off x="923925" y="8023860"/>
            <a:ext cx="14744700" cy="891540"/>
            <a:chOff x="0" y="0"/>
            <a:chExt cx="19659600" cy="1188720"/>
          </a:xfrm>
        </p:grpSpPr>
        <p:sp>
          <p:nvSpPr>
            <p:cNvPr name="Freeform 45" id="45"/>
            <p:cNvSpPr/>
            <p:nvPr/>
          </p:nvSpPr>
          <p:spPr>
            <a:xfrm flipH="false" flipV="false" rot="0">
              <a:off x="0" y="0"/>
              <a:ext cx="19659600" cy="1188720"/>
            </a:xfrm>
            <a:custGeom>
              <a:avLst/>
              <a:gdLst/>
              <a:ahLst/>
              <a:cxnLst/>
              <a:rect r="r" b="b" t="t" l="l"/>
              <a:pathLst>
                <a:path h="1188720" w="19659600">
                  <a:moveTo>
                    <a:pt x="0" y="164592"/>
                  </a:moveTo>
                  <a:cubicBezTo>
                    <a:pt x="0" y="73660"/>
                    <a:pt x="73660" y="0"/>
                    <a:pt x="164592" y="0"/>
                  </a:cubicBezTo>
                  <a:lnTo>
                    <a:pt x="19495008" y="0"/>
                  </a:lnTo>
                  <a:cubicBezTo>
                    <a:pt x="19585939" y="0"/>
                    <a:pt x="19659600" y="73660"/>
                    <a:pt x="19659600" y="164592"/>
                  </a:cubicBezTo>
                  <a:lnTo>
                    <a:pt x="19659600" y="1024128"/>
                  </a:lnTo>
                  <a:cubicBezTo>
                    <a:pt x="19659600" y="1115060"/>
                    <a:pt x="19585939" y="1188720"/>
                    <a:pt x="19495008" y="1188720"/>
                  </a:cubicBezTo>
                  <a:lnTo>
                    <a:pt x="164592" y="1188720"/>
                  </a:lnTo>
                  <a:cubicBezTo>
                    <a:pt x="73660" y="1188720"/>
                    <a:pt x="0" y="1115060"/>
                    <a:pt x="0" y="1024128"/>
                  </a:cubicBezTo>
                  <a:close/>
                </a:path>
              </a:pathLst>
            </a:custGeom>
            <a:solidFill>
              <a:srgbClr val="FBF3E6"/>
            </a:solidFill>
          </p:spPr>
        </p:sp>
      </p:grpSp>
      <p:grpSp>
        <p:nvGrpSpPr>
          <p:cNvPr name="Group 46" id="46"/>
          <p:cNvGrpSpPr/>
          <p:nvPr/>
        </p:nvGrpSpPr>
        <p:grpSpPr>
          <a:xfrm rot="0">
            <a:off x="923925" y="8023860"/>
            <a:ext cx="102870" cy="891540"/>
            <a:chOff x="0" y="0"/>
            <a:chExt cx="137160" cy="1188720"/>
          </a:xfrm>
        </p:grpSpPr>
        <p:sp>
          <p:nvSpPr>
            <p:cNvPr name="Freeform 47" id="47"/>
            <p:cNvSpPr/>
            <p:nvPr/>
          </p:nvSpPr>
          <p:spPr>
            <a:xfrm flipH="false" flipV="false" rot="0">
              <a:off x="0" y="0"/>
              <a:ext cx="137160" cy="1188720"/>
            </a:xfrm>
            <a:custGeom>
              <a:avLst/>
              <a:gdLst/>
              <a:ahLst/>
              <a:cxnLst/>
              <a:rect r="r" b="b" t="t" l="l"/>
              <a:pathLst>
                <a:path h="1188720" w="137160">
                  <a:moveTo>
                    <a:pt x="0" y="0"/>
                  </a:moveTo>
                  <a:lnTo>
                    <a:pt x="137160" y="0"/>
                  </a:lnTo>
                  <a:lnTo>
                    <a:pt x="137160" y="1188720"/>
                  </a:lnTo>
                  <a:lnTo>
                    <a:pt x="0" y="1188720"/>
                  </a:lnTo>
                  <a:close/>
                </a:path>
              </a:pathLst>
            </a:custGeom>
            <a:solidFill>
              <a:srgbClr val="C9821F"/>
            </a:solidFill>
          </p:spPr>
        </p:sp>
      </p:grpSp>
      <p:grpSp>
        <p:nvGrpSpPr>
          <p:cNvPr name="Group 48" id="48"/>
          <p:cNvGrpSpPr/>
          <p:nvPr/>
        </p:nvGrpSpPr>
        <p:grpSpPr>
          <a:xfrm rot="0">
            <a:off x="1472565" y="8023860"/>
            <a:ext cx="13853160" cy="891540"/>
            <a:chOff x="0" y="0"/>
            <a:chExt cx="18470880" cy="1188720"/>
          </a:xfrm>
        </p:grpSpPr>
        <p:sp>
          <p:nvSpPr>
            <p:cNvPr name="Freeform 49" id="49"/>
            <p:cNvSpPr/>
            <p:nvPr/>
          </p:nvSpPr>
          <p:spPr>
            <a:xfrm flipH="false" flipV="false" rot="0">
              <a:off x="0" y="0"/>
              <a:ext cx="18470880" cy="1188720"/>
            </a:xfrm>
            <a:custGeom>
              <a:avLst/>
              <a:gdLst/>
              <a:ahLst/>
              <a:cxnLst/>
              <a:rect r="r" b="b" t="t" l="l"/>
              <a:pathLst>
                <a:path h="1188720" w="18470880">
                  <a:moveTo>
                    <a:pt x="0" y="0"/>
                  </a:moveTo>
                  <a:lnTo>
                    <a:pt x="18470880" y="0"/>
                  </a:lnTo>
                  <a:lnTo>
                    <a:pt x="18470880" y="1188720"/>
                  </a:lnTo>
                  <a:lnTo>
                    <a:pt x="0" y="1188720"/>
                  </a:lnTo>
                  <a:close/>
                </a:path>
              </a:pathLst>
            </a:custGeom>
            <a:blipFill>
              <a:blip r:embed="rId9">
                <a:alphaModFix amt="0"/>
              </a:blip>
              <a:stretch>
                <a:fillRect l="0" t="-252767" r="0" b="-252767"/>
              </a:stretch>
            </a:blipFill>
          </p:spPr>
        </p:sp>
        <p:sp>
          <p:nvSpPr>
            <p:cNvPr name="TextBox 50" id="50"/>
            <p:cNvSpPr txBox="true"/>
            <p:nvPr/>
          </p:nvSpPr>
          <p:spPr>
            <a:xfrm>
              <a:off x="0" y="-95250"/>
              <a:ext cx="18470880" cy="1283970"/>
            </a:xfrm>
            <a:prstGeom prst="rect">
              <a:avLst/>
            </a:prstGeom>
          </p:spPr>
          <p:txBody>
            <a:bodyPr anchor="ctr" rtlCol="false" tIns="0" lIns="0" bIns="0" rIns="0"/>
            <a:lstStyle/>
            <a:p>
              <a:pPr algn="l">
                <a:lnSpc>
                  <a:spcPts val="3280"/>
                </a:lnSpc>
              </a:pPr>
              <a:r>
                <a:rPr lang="en-US" sz="2025" b="true">
                  <a:solidFill>
                    <a:srgbClr val="8A5A12"/>
                  </a:solidFill>
                  <a:latin typeface="Poppins Bold"/>
                  <a:ea typeface="Poppins Bold"/>
                  <a:cs typeface="Poppins Bold"/>
                  <a:sym typeface="Poppins Bold"/>
                </a:rPr>
                <a:t>Rule: every slicer must visibly show what it is filtered to.</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330146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Drill-</a:t>
            </a:r>
            <a:r>
              <a:rPr lang="en-US" sz="5000">
                <a:solidFill>
                  <a:srgbClr val="388080"/>
                </a:solidFill>
                <a:latin typeface="Poppins"/>
                <a:ea typeface="Poppins"/>
                <a:cs typeface="Poppins"/>
                <a:sym typeface="Poppins"/>
              </a:rPr>
              <a:t>down: one chart, three levels of detail</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04875" y="2666200"/>
            <a:ext cx="4869180" cy="3497580"/>
            <a:chOff x="0" y="0"/>
            <a:chExt cx="6492240" cy="4663440"/>
          </a:xfrm>
        </p:grpSpPr>
        <p:sp>
          <p:nvSpPr>
            <p:cNvPr name="Freeform 12" id="12"/>
            <p:cNvSpPr/>
            <p:nvPr/>
          </p:nvSpPr>
          <p:spPr>
            <a:xfrm flipH="false" flipV="false" rot="0">
              <a:off x="0" y="0"/>
              <a:ext cx="6492240" cy="4663440"/>
            </a:xfrm>
            <a:custGeom>
              <a:avLst/>
              <a:gdLst/>
              <a:ahLst/>
              <a:cxnLst/>
              <a:rect r="r" b="b" t="t" l="l"/>
              <a:pathLst>
                <a:path h="4663440" w="6492240">
                  <a:moveTo>
                    <a:pt x="0" y="182880"/>
                  </a:moveTo>
                  <a:cubicBezTo>
                    <a:pt x="0" y="81915"/>
                    <a:pt x="81915" y="0"/>
                    <a:pt x="182880" y="0"/>
                  </a:cubicBezTo>
                  <a:lnTo>
                    <a:pt x="6309360" y="0"/>
                  </a:lnTo>
                  <a:cubicBezTo>
                    <a:pt x="6410325" y="0"/>
                    <a:pt x="6492240" y="81915"/>
                    <a:pt x="6492240" y="182880"/>
                  </a:cubicBezTo>
                  <a:lnTo>
                    <a:pt x="6492240" y="4480560"/>
                  </a:lnTo>
                  <a:cubicBezTo>
                    <a:pt x="6492240" y="4581525"/>
                    <a:pt x="6410325" y="4663440"/>
                    <a:pt x="6309360" y="4663440"/>
                  </a:cubicBezTo>
                  <a:lnTo>
                    <a:pt x="182880" y="4663440"/>
                  </a:lnTo>
                  <a:cubicBezTo>
                    <a:pt x="81915" y="4663440"/>
                    <a:pt x="0" y="4581525"/>
                    <a:pt x="0" y="4480560"/>
                  </a:cubicBezTo>
                  <a:close/>
                </a:path>
              </a:pathLst>
            </a:custGeom>
            <a:solidFill>
              <a:srgbClr val="FFFFFF"/>
            </a:solidFill>
          </p:spPr>
        </p:sp>
      </p:grpSp>
      <p:grpSp>
        <p:nvGrpSpPr>
          <p:cNvPr name="Group 13" id="13"/>
          <p:cNvGrpSpPr/>
          <p:nvPr/>
        </p:nvGrpSpPr>
        <p:grpSpPr>
          <a:xfrm rot="0">
            <a:off x="1247775" y="2940520"/>
            <a:ext cx="4183380" cy="548640"/>
            <a:chOff x="0" y="0"/>
            <a:chExt cx="5577840" cy="731520"/>
          </a:xfrm>
        </p:grpSpPr>
        <p:sp>
          <p:nvSpPr>
            <p:cNvPr name="Freeform 14" id="14"/>
            <p:cNvSpPr/>
            <p:nvPr/>
          </p:nvSpPr>
          <p:spPr>
            <a:xfrm flipH="false" flipV="false" rot="0">
              <a:off x="0" y="0"/>
              <a:ext cx="5577840" cy="731520"/>
            </a:xfrm>
            <a:custGeom>
              <a:avLst/>
              <a:gdLst/>
              <a:ahLst/>
              <a:cxnLst/>
              <a:rect r="r" b="b" t="t" l="l"/>
              <a:pathLst>
                <a:path h="731520" w="5577840">
                  <a:moveTo>
                    <a:pt x="0" y="0"/>
                  </a:moveTo>
                  <a:lnTo>
                    <a:pt x="5577840" y="0"/>
                  </a:lnTo>
                  <a:lnTo>
                    <a:pt x="5577840" y="731520"/>
                  </a:lnTo>
                  <a:lnTo>
                    <a:pt x="0" y="731520"/>
                  </a:lnTo>
                  <a:close/>
                </a:path>
              </a:pathLst>
            </a:custGeom>
            <a:blipFill>
              <a:blip r:embed="rId9">
                <a:alphaModFix amt="0"/>
              </a:blip>
              <a:stretch>
                <a:fillRect l="0" t="-98573" r="0" b="-98573"/>
              </a:stretch>
            </a:blipFill>
          </p:spPr>
        </p:sp>
        <p:sp>
          <p:nvSpPr>
            <p:cNvPr name="TextBox 15" id="15"/>
            <p:cNvSpPr txBox="true"/>
            <p:nvPr/>
          </p:nvSpPr>
          <p:spPr>
            <a:xfrm>
              <a:off x="0" y="-19050"/>
              <a:ext cx="5577840" cy="750570"/>
            </a:xfrm>
            <a:prstGeom prst="rect">
              <a:avLst/>
            </a:prstGeom>
          </p:spPr>
          <p:txBody>
            <a:bodyPr anchor="ctr" rtlCol="false" tIns="0" lIns="0" bIns="0" rIns="0"/>
            <a:lstStyle/>
            <a:p>
              <a:pPr algn="l">
                <a:lnSpc>
                  <a:spcPts val="2430"/>
                </a:lnSpc>
              </a:pPr>
              <a:r>
                <a:rPr lang="en-US" sz="2025" b="true">
                  <a:solidFill>
                    <a:srgbClr val="0A1A23"/>
                  </a:solidFill>
                  <a:latin typeface="Poppins Bold"/>
                  <a:ea typeface="Poppins Bold"/>
                  <a:cs typeface="Poppins Bold"/>
                  <a:sym typeface="Poppins Bold"/>
                </a:rPr>
                <a:t>1. By corridor</a:t>
              </a:r>
            </a:p>
          </p:txBody>
        </p:sp>
      </p:grpSp>
      <p:grpSp>
        <p:nvGrpSpPr>
          <p:cNvPr name="Group 16" id="16"/>
          <p:cNvGrpSpPr/>
          <p:nvPr/>
        </p:nvGrpSpPr>
        <p:grpSpPr>
          <a:xfrm rot="0">
            <a:off x="1247775" y="4037800"/>
            <a:ext cx="2009394" cy="1645920"/>
            <a:chOff x="0" y="0"/>
            <a:chExt cx="2679192" cy="2194560"/>
          </a:xfrm>
        </p:grpSpPr>
        <p:sp>
          <p:nvSpPr>
            <p:cNvPr name="Freeform 17" id="17"/>
            <p:cNvSpPr/>
            <p:nvPr/>
          </p:nvSpPr>
          <p:spPr>
            <a:xfrm flipH="false" flipV="false" rot="0">
              <a:off x="0" y="0"/>
              <a:ext cx="2679192" cy="2194560"/>
            </a:xfrm>
            <a:custGeom>
              <a:avLst/>
              <a:gdLst/>
              <a:ahLst/>
              <a:cxnLst/>
              <a:rect r="r" b="b" t="t" l="l"/>
              <a:pathLst>
                <a:path h="2194560" w="2679192">
                  <a:moveTo>
                    <a:pt x="0" y="0"/>
                  </a:moveTo>
                  <a:lnTo>
                    <a:pt x="2679192" y="0"/>
                  </a:lnTo>
                  <a:lnTo>
                    <a:pt x="2679192" y="2194560"/>
                  </a:lnTo>
                  <a:lnTo>
                    <a:pt x="0" y="2194560"/>
                  </a:lnTo>
                  <a:close/>
                </a:path>
              </a:pathLst>
            </a:custGeom>
            <a:solidFill>
              <a:srgbClr val="387F7F"/>
            </a:solidFill>
          </p:spPr>
        </p:sp>
      </p:grpSp>
      <p:grpSp>
        <p:nvGrpSpPr>
          <p:cNvPr name="Group 18" id="18"/>
          <p:cNvGrpSpPr/>
          <p:nvPr/>
        </p:nvGrpSpPr>
        <p:grpSpPr>
          <a:xfrm rot="0">
            <a:off x="3339465" y="4449280"/>
            <a:ext cx="2009394" cy="1234440"/>
            <a:chOff x="0" y="0"/>
            <a:chExt cx="2679192" cy="1645920"/>
          </a:xfrm>
        </p:grpSpPr>
        <p:sp>
          <p:nvSpPr>
            <p:cNvPr name="Freeform 19" id="19"/>
            <p:cNvSpPr/>
            <p:nvPr/>
          </p:nvSpPr>
          <p:spPr>
            <a:xfrm flipH="false" flipV="false" rot="0">
              <a:off x="0" y="0"/>
              <a:ext cx="2679192" cy="1645920"/>
            </a:xfrm>
            <a:custGeom>
              <a:avLst/>
              <a:gdLst/>
              <a:ahLst/>
              <a:cxnLst/>
              <a:rect r="r" b="b" t="t" l="l"/>
              <a:pathLst>
                <a:path h="1645920" w="2679192">
                  <a:moveTo>
                    <a:pt x="0" y="0"/>
                  </a:moveTo>
                  <a:lnTo>
                    <a:pt x="2679192" y="0"/>
                  </a:lnTo>
                  <a:lnTo>
                    <a:pt x="2679192" y="1645920"/>
                  </a:lnTo>
                  <a:lnTo>
                    <a:pt x="0" y="1645920"/>
                  </a:lnTo>
                  <a:close/>
                </a:path>
              </a:pathLst>
            </a:custGeom>
            <a:solidFill>
              <a:srgbClr val="387F7F"/>
            </a:solidFill>
          </p:spPr>
        </p:sp>
      </p:grpSp>
      <p:grpSp>
        <p:nvGrpSpPr>
          <p:cNvPr name="Group 20" id="20"/>
          <p:cNvGrpSpPr/>
          <p:nvPr/>
        </p:nvGrpSpPr>
        <p:grpSpPr>
          <a:xfrm rot="0">
            <a:off x="5801487" y="4209250"/>
            <a:ext cx="438912" cy="438912"/>
            <a:chOff x="0" y="0"/>
            <a:chExt cx="585216" cy="585216"/>
          </a:xfrm>
        </p:grpSpPr>
        <p:sp>
          <p:nvSpPr>
            <p:cNvPr name="Freeform 21" id="21"/>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22" id="22"/>
            <p:cNvSpPr txBox="true"/>
            <p:nvPr/>
          </p:nvSpPr>
          <p:spPr>
            <a:xfrm>
              <a:off x="0" y="-19050"/>
              <a:ext cx="585216" cy="604266"/>
            </a:xfrm>
            <a:prstGeom prst="rect">
              <a:avLst/>
            </a:prstGeom>
          </p:spPr>
          <p:txBody>
            <a:bodyPr anchor="ctr" rtlCol="false" tIns="0" lIns="0" bIns="0" rIns="0"/>
            <a:lstStyle/>
            <a:p>
              <a:pPr algn="ctr">
                <a:lnSpc>
                  <a:spcPts val="2649"/>
                </a:lnSpc>
              </a:pPr>
              <a:r>
                <a:rPr lang="en-US" sz="2208" b="true">
                  <a:solidFill>
                    <a:srgbClr val="387F7F"/>
                  </a:solidFill>
                  <a:latin typeface="Poppins Bold"/>
                  <a:ea typeface="Poppins Bold"/>
                  <a:cs typeface="Poppins Bold"/>
                  <a:sym typeface="Poppins Bold"/>
                </a:rPr>
                <a:t>›</a:t>
              </a:r>
            </a:p>
          </p:txBody>
        </p:sp>
      </p:grpSp>
      <p:grpSp>
        <p:nvGrpSpPr>
          <p:cNvPr name="Group 23" id="23"/>
          <p:cNvGrpSpPr/>
          <p:nvPr/>
        </p:nvGrpSpPr>
        <p:grpSpPr>
          <a:xfrm rot="0">
            <a:off x="6185535" y="2666200"/>
            <a:ext cx="4869180" cy="3497580"/>
            <a:chOff x="0" y="0"/>
            <a:chExt cx="6492240" cy="4663440"/>
          </a:xfrm>
        </p:grpSpPr>
        <p:sp>
          <p:nvSpPr>
            <p:cNvPr name="Freeform 24" id="24"/>
            <p:cNvSpPr/>
            <p:nvPr/>
          </p:nvSpPr>
          <p:spPr>
            <a:xfrm flipH="false" flipV="false" rot="0">
              <a:off x="0" y="0"/>
              <a:ext cx="6492240" cy="4663440"/>
            </a:xfrm>
            <a:custGeom>
              <a:avLst/>
              <a:gdLst/>
              <a:ahLst/>
              <a:cxnLst/>
              <a:rect r="r" b="b" t="t" l="l"/>
              <a:pathLst>
                <a:path h="4663440" w="6492240">
                  <a:moveTo>
                    <a:pt x="0" y="182880"/>
                  </a:moveTo>
                  <a:cubicBezTo>
                    <a:pt x="0" y="81915"/>
                    <a:pt x="81915" y="0"/>
                    <a:pt x="182880" y="0"/>
                  </a:cubicBezTo>
                  <a:lnTo>
                    <a:pt x="6309360" y="0"/>
                  </a:lnTo>
                  <a:cubicBezTo>
                    <a:pt x="6410325" y="0"/>
                    <a:pt x="6492240" y="81915"/>
                    <a:pt x="6492240" y="182880"/>
                  </a:cubicBezTo>
                  <a:lnTo>
                    <a:pt x="6492240" y="4480560"/>
                  </a:lnTo>
                  <a:cubicBezTo>
                    <a:pt x="6492240" y="4581525"/>
                    <a:pt x="6410325" y="4663440"/>
                    <a:pt x="6309360" y="4663440"/>
                  </a:cubicBezTo>
                  <a:lnTo>
                    <a:pt x="182880" y="4663440"/>
                  </a:lnTo>
                  <a:cubicBezTo>
                    <a:pt x="81915" y="4663440"/>
                    <a:pt x="0" y="4581525"/>
                    <a:pt x="0" y="4480560"/>
                  </a:cubicBezTo>
                  <a:close/>
                </a:path>
              </a:pathLst>
            </a:custGeom>
            <a:solidFill>
              <a:srgbClr val="FFFFFF"/>
            </a:solidFill>
          </p:spPr>
        </p:sp>
      </p:grpSp>
      <p:grpSp>
        <p:nvGrpSpPr>
          <p:cNvPr name="Group 25" id="25"/>
          <p:cNvGrpSpPr/>
          <p:nvPr/>
        </p:nvGrpSpPr>
        <p:grpSpPr>
          <a:xfrm rot="0">
            <a:off x="6528435" y="2940520"/>
            <a:ext cx="4183380" cy="548640"/>
            <a:chOff x="0" y="0"/>
            <a:chExt cx="5577840" cy="731520"/>
          </a:xfrm>
        </p:grpSpPr>
        <p:sp>
          <p:nvSpPr>
            <p:cNvPr name="Freeform 26" id="26"/>
            <p:cNvSpPr/>
            <p:nvPr/>
          </p:nvSpPr>
          <p:spPr>
            <a:xfrm flipH="false" flipV="false" rot="0">
              <a:off x="0" y="0"/>
              <a:ext cx="5577840" cy="731520"/>
            </a:xfrm>
            <a:custGeom>
              <a:avLst/>
              <a:gdLst/>
              <a:ahLst/>
              <a:cxnLst/>
              <a:rect r="r" b="b" t="t" l="l"/>
              <a:pathLst>
                <a:path h="731520" w="5577840">
                  <a:moveTo>
                    <a:pt x="0" y="0"/>
                  </a:moveTo>
                  <a:lnTo>
                    <a:pt x="5577840" y="0"/>
                  </a:lnTo>
                  <a:lnTo>
                    <a:pt x="5577840" y="731520"/>
                  </a:lnTo>
                  <a:lnTo>
                    <a:pt x="0" y="731520"/>
                  </a:lnTo>
                  <a:close/>
                </a:path>
              </a:pathLst>
            </a:custGeom>
            <a:blipFill>
              <a:blip r:embed="rId9">
                <a:alphaModFix amt="0"/>
              </a:blip>
              <a:stretch>
                <a:fillRect l="0" t="-98573" r="0" b="-98573"/>
              </a:stretch>
            </a:blipFill>
          </p:spPr>
        </p:sp>
        <p:sp>
          <p:nvSpPr>
            <p:cNvPr name="TextBox 27" id="27"/>
            <p:cNvSpPr txBox="true"/>
            <p:nvPr/>
          </p:nvSpPr>
          <p:spPr>
            <a:xfrm>
              <a:off x="0" y="-19050"/>
              <a:ext cx="5577840" cy="750570"/>
            </a:xfrm>
            <a:prstGeom prst="rect">
              <a:avLst/>
            </a:prstGeom>
          </p:spPr>
          <p:txBody>
            <a:bodyPr anchor="ctr" rtlCol="false" tIns="0" lIns="0" bIns="0" rIns="0"/>
            <a:lstStyle/>
            <a:p>
              <a:pPr algn="l">
                <a:lnSpc>
                  <a:spcPts val="2430"/>
                </a:lnSpc>
              </a:pPr>
              <a:r>
                <a:rPr lang="en-US" sz="2025" b="true">
                  <a:solidFill>
                    <a:srgbClr val="0A1A23"/>
                  </a:solidFill>
                  <a:latin typeface="Poppins Bold"/>
                  <a:ea typeface="Poppins Bold"/>
                  <a:cs typeface="Poppins Bold"/>
                  <a:sym typeface="Poppins Bold"/>
                </a:rPr>
                <a:t>2. By route within corridor</a:t>
              </a:r>
            </a:p>
          </p:txBody>
        </p:sp>
      </p:grpSp>
      <p:grpSp>
        <p:nvGrpSpPr>
          <p:cNvPr name="Group 28" id="28"/>
          <p:cNvGrpSpPr/>
          <p:nvPr/>
        </p:nvGrpSpPr>
        <p:grpSpPr>
          <a:xfrm rot="0">
            <a:off x="6528435" y="3832060"/>
            <a:ext cx="963549" cy="1851660"/>
            <a:chOff x="0" y="0"/>
            <a:chExt cx="1284732" cy="2468880"/>
          </a:xfrm>
        </p:grpSpPr>
        <p:sp>
          <p:nvSpPr>
            <p:cNvPr name="Freeform 29" id="29"/>
            <p:cNvSpPr/>
            <p:nvPr/>
          </p:nvSpPr>
          <p:spPr>
            <a:xfrm flipH="false" flipV="false" rot="0">
              <a:off x="0" y="0"/>
              <a:ext cx="1284732" cy="2468880"/>
            </a:xfrm>
            <a:custGeom>
              <a:avLst/>
              <a:gdLst/>
              <a:ahLst/>
              <a:cxnLst/>
              <a:rect r="r" b="b" t="t" l="l"/>
              <a:pathLst>
                <a:path h="2468880" w="1284732">
                  <a:moveTo>
                    <a:pt x="0" y="0"/>
                  </a:moveTo>
                  <a:lnTo>
                    <a:pt x="1284732" y="0"/>
                  </a:lnTo>
                  <a:lnTo>
                    <a:pt x="1284732" y="2468880"/>
                  </a:lnTo>
                  <a:lnTo>
                    <a:pt x="0" y="2468880"/>
                  </a:lnTo>
                  <a:close/>
                </a:path>
              </a:pathLst>
            </a:custGeom>
            <a:solidFill>
              <a:srgbClr val="387F7F"/>
            </a:solidFill>
          </p:spPr>
        </p:sp>
      </p:grpSp>
      <p:grpSp>
        <p:nvGrpSpPr>
          <p:cNvPr name="Group 30" id="30"/>
          <p:cNvGrpSpPr/>
          <p:nvPr/>
        </p:nvGrpSpPr>
        <p:grpSpPr>
          <a:xfrm rot="0">
            <a:off x="7574280" y="4243540"/>
            <a:ext cx="963549" cy="1440180"/>
            <a:chOff x="0" y="0"/>
            <a:chExt cx="1284732" cy="1920240"/>
          </a:xfrm>
        </p:grpSpPr>
        <p:sp>
          <p:nvSpPr>
            <p:cNvPr name="Freeform 31" id="31"/>
            <p:cNvSpPr/>
            <p:nvPr/>
          </p:nvSpPr>
          <p:spPr>
            <a:xfrm flipH="false" flipV="false" rot="0">
              <a:off x="0" y="0"/>
              <a:ext cx="1284732" cy="1920240"/>
            </a:xfrm>
            <a:custGeom>
              <a:avLst/>
              <a:gdLst/>
              <a:ahLst/>
              <a:cxnLst/>
              <a:rect r="r" b="b" t="t" l="l"/>
              <a:pathLst>
                <a:path h="1920240" w="1284732">
                  <a:moveTo>
                    <a:pt x="0" y="0"/>
                  </a:moveTo>
                  <a:lnTo>
                    <a:pt x="1284732" y="0"/>
                  </a:lnTo>
                  <a:lnTo>
                    <a:pt x="1284732" y="1920240"/>
                  </a:lnTo>
                  <a:lnTo>
                    <a:pt x="0" y="1920240"/>
                  </a:lnTo>
                  <a:close/>
                </a:path>
              </a:pathLst>
            </a:custGeom>
            <a:solidFill>
              <a:srgbClr val="387F7F"/>
            </a:solidFill>
          </p:spPr>
        </p:sp>
      </p:grpSp>
      <p:grpSp>
        <p:nvGrpSpPr>
          <p:cNvPr name="Group 32" id="32"/>
          <p:cNvGrpSpPr/>
          <p:nvPr/>
        </p:nvGrpSpPr>
        <p:grpSpPr>
          <a:xfrm rot="0">
            <a:off x="8620125" y="4655020"/>
            <a:ext cx="963549" cy="1028700"/>
            <a:chOff x="0" y="0"/>
            <a:chExt cx="1284732" cy="1371600"/>
          </a:xfrm>
        </p:grpSpPr>
        <p:sp>
          <p:nvSpPr>
            <p:cNvPr name="Freeform 33" id="33"/>
            <p:cNvSpPr/>
            <p:nvPr/>
          </p:nvSpPr>
          <p:spPr>
            <a:xfrm flipH="false" flipV="false" rot="0">
              <a:off x="0" y="0"/>
              <a:ext cx="1284732" cy="1371600"/>
            </a:xfrm>
            <a:custGeom>
              <a:avLst/>
              <a:gdLst/>
              <a:ahLst/>
              <a:cxnLst/>
              <a:rect r="r" b="b" t="t" l="l"/>
              <a:pathLst>
                <a:path h="1371600" w="1284732">
                  <a:moveTo>
                    <a:pt x="0" y="0"/>
                  </a:moveTo>
                  <a:lnTo>
                    <a:pt x="1284732" y="0"/>
                  </a:lnTo>
                  <a:lnTo>
                    <a:pt x="1284732" y="1371600"/>
                  </a:lnTo>
                  <a:lnTo>
                    <a:pt x="0" y="1371600"/>
                  </a:lnTo>
                  <a:close/>
                </a:path>
              </a:pathLst>
            </a:custGeom>
            <a:solidFill>
              <a:srgbClr val="387F7F"/>
            </a:solidFill>
          </p:spPr>
        </p:sp>
      </p:grpSp>
      <p:grpSp>
        <p:nvGrpSpPr>
          <p:cNvPr name="Group 34" id="34"/>
          <p:cNvGrpSpPr/>
          <p:nvPr/>
        </p:nvGrpSpPr>
        <p:grpSpPr>
          <a:xfrm rot="0">
            <a:off x="9665970" y="5066500"/>
            <a:ext cx="963549" cy="617220"/>
            <a:chOff x="0" y="0"/>
            <a:chExt cx="1284732" cy="822960"/>
          </a:xfrm>
        </p:grpSpPr>
        <p:sp>
          <p:nvSpPr>
            <p:cNvPr name="Freeform 35" id="35"/>
            <p:cNvSpPr/>
            <p:nvPr/>
          </p:nvSpPr>
          <p:spPr>
            <a:xfrm flipH="false" flipV="false" rot="0">
              <a:off x="0" y="0"/>
              <a:ext cx="1284732" cy="822960"/>
            </a:xfrm>
            <a:custGeom>
              <a:avLst/>
              <a:gdLst/>
              <a:ahLst/>
              <a:cxnLst/>
              <a:rect r="r" b="b" t="t" l="l"/>
              <a:pathLst>
                <a:path h="822960" w="1284732">
                  <a:moveTo>
                    <a:pt x="0" y="0"/>
                  </a:moveTo>
                  <a:lnTo>
                    <a:pt x="1284732" y="0"/>
                  </a:lnTo>
                  <a:lnTo>
                    <a:pt x="1284732" y="822960"/>
                  </a:lnTo>
                  <a:lnTo>
                    <a:pt x="0" y="822960"/>
                  </a:lnTo>
                  <a:close/>
                </a:path>
              </a:pathLst>
            </a:custGeom>
            <a:solidFill>
              <a:srgbClr val="A8322D"/>
            </a:solidFill>
          </p:spPr>
        </p:sp>
      </p:grpSp>
      <p:grpSp>
        <p:nvGrpSpPr>
          <p:cNvPr name="Group 36" id="36"/>
          <p:cNvGrpSpPr/>
          <p:nvPr/>
        </p:nvGrpSpPr>
        <p:grpSpPr>
          <a:xfrm rot="0">
            <a:off x="11082147" y="4209250"/>
            <a:ext cx="438912" cy="438912"/>
            <a:chOff x="0" y="0"/>
            <a:chExt cx="585216" cy="585216"/>
          </a:xfrm>
        </p:grpSpPr>
        <p:sp>
          <p:nvSpPr>
            <p:cNvPr name="Freeform 37" id="37"/>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38" id="38"/>
            <p:cNvSpPr txBox="true"/>
            <p:nvPr/>
          </p:nvSpPr>
          <p:spPr>
            <a:xfrm>
              <a:off x="0" y="-19050"/>
              <a:ext cx="585216" cy="604266"/>
            </a:xfrm>
            <a:prstGeom prst="rect">
              <a:avLst/>
            </a:prstGeom>
          </p:spPr>
          <p:txBody>
            <a:bodyPr anchor="ctr" rtlCol="false" tIns="0" lIns="0" bIns="0" rIns="0"/>
            <a:lstStyle/>
            <a:p>
              <a:pPr algn="ctr">
                <a:lnSpc>
                  <a:spcPts val="2649"/>
                </a:lnSpc>
              </a:pPr>
              <a:r>
                <a:rPr lang="en-US" sz="2208" b="true">
                  <a:solidFill>
                    <a:srgbClr val="387F7F"/>
                  </a:solidFill>
                  <a:latin typeface="Poppins Bold"/>
                  <a:ea typeface="Poppins Bold"/>
                  <a:cs typeface="Poppins Bold"/>
                  <a:sym typeface="Poppins Bold"/>
                </a:rPr>
                <a:t>›</a:t>
              </a:r>
            </a:p>
          </p:txBody>
        </p:sp>
      </p:grpSp>
      <p:grpSp>
        <p:nvGrpSpPr>
          <p:cNvPr name="Group 39" id="39"/>
          <p:cNvGrpSpPr/>
          <p:nvPr/>
        </p:nvGrpSpPr>
        <p:grpSpPr>
          <a:xfrm rot="0">
            <a:off x="11466195" y="2666200"/>
            <a:ext cx="4869180" cy="3497580"/>
            <a:chOff x="0" y="0"/>
            <a:chExt cx="6492240" cy="4663440"/>
          </a:xfrm>
        </p:grpSpPr>
        <p:sp>
          <p:nvSpPr>
            <p:cNvPr name="Freeform 40" id="40"/>
            <p:cNvSpPr/>
            <p:nvPr/>
          </p:nvSpPr>
          <p:spPr>
            <a:xfrm flipH="false" flipV="false" rot="0">
              <a:off x="0" y="0"/>
              <a:ext cx="6492240" cy="4663440"/>
            </a:xfrm>
            <a:custGeom>
              <a:avLst/>
              <a:gdLst/>
              <a:ahLst/>
              <a:cxnLst/>
              <a:rect r="r" b="b" t="t" l="l"/>
              <a:pathLst>
                <a:path h="4663440" w="6492240">
                  <a:moveTo>
                    <a:pt x="0" y="182880"/>
                  </a:moveTo>
                  <a:cubicBezTo>
                    <a:pt x="0" y="81915"/>
                    <a:pt x="81915" y="0"/>
                    <a:pt x="182880" y="0"/>
                  </a:cubicBezTo>
                  <a:lnTo>
                    <a:pt x="6309360" y="0"/>
                  </a:lnTo>
                  <a:cubicBezTo>
                    <a:pt x="6410325" y="0"/>
                    <a:pt x="6492240" y="81915"/>
                    <a:pt x="6492240" y="182880"/>
                  </a:cubicBezTo>
                  <a:lnTo>
                    <a:pt x="6492240" y="4480560"/>
                  </a:lnTo>
                  <a:cubicBezTo>
                    <a:pt x="6492240" y="4581525"/>
                    <a:pt x="6410325" y="4663440"/>
                    <a:pt x="6309360" y="4663440"/>
                  </a:cubicBezTo>
                  <a:lnTo>
                    <a:pt x="182880" y="4663440"/>
                  </a:lnTo>
                  <a:cubicBezTo>
                    <a:pt x="81915" y="4663440"/>
                    <a:pt x="0" y="4581525"/>
                    <a:pt x="0" y="4480560"/>
                  </a:cubicBezTo>
                  <a:close/>
                </a:path>
              </a:pathLst>
            </a:custGeom>
            <a:solidFill>
              <a:srgbClr val="387F7F"/>
            </a:solidFill>
          </p:spPr>
        </p:sp>
      </p:grpSp>
      <p:grpSp>
        <p:nvGrpSpPr>
          <p:cNvPr name="Group 41" id="41"/>
          <p:cNvGrpSpPr/>
          <p:nvPr/>
        </p:nvGrpSpPr>
        <p:grpSpPr>
          <a:xfrm rot="0">
            <a:off x="11809095" y="2940520"/>
            <a:ext cx="4183380" cy="548640"/>
            <a:chOff x="0" y="0"/>
            <a:chExt cx="5577840" cy="731520"/>
          </a:xfrm>
        </p:grpSpPr>
        <p:sp>
          <p:nvSpPr>
            <p:cNvPr name="Freeform 42" id="42"/>
            <p:cNvSpPr/>
            <p:nvPr/>
          </p:nvSpPr>
          <p:spPr>
            <a:xfrm flipH="false" flipV="false" rot="0">
              <a:off x="0" y="0"/>
              <a:ext cx="5577840" cy="731520"/>
            </a:xfrm>
            <a:custGeom>
              <a:avLst/>
              <a:gdLst/>
              <a:ahLst/>
              <a:cxnLst/>
              <a:rect r="r" b="b" t="t" l="l"/>
              <a:pathLst>
                <a:path h="731520" w="5577840">
                  <a:moveTo>
                    <a:pt x="0" y="0"/>
                  </a:moveTo>
                  <a:lnTo>
                    <a:pt x="5577840" y="0"/>
                  </a:lnTo>
                  <a:lnTo>
                    <a:pt x="5577840" y="731520"/>
                  </a:lnTo>
                  <a:lnTo>
                    <a:pt x="0" y="731520"/>
                  </a:lnTo>
                  <a:close/>
                </a:path>
              </a:pathLst>
            </a:custGeom>
            <a:blipFill>
              <a:blip r:embed="rId9">
                <a:alphaModFix amt="0"/>
              </a:blip>
              <a:stretch>
                <a:fillRect l="0" t="-98573" r="0" b="-98573"/>
              </a:stretch>
            </a:blipFill>
          </p:spPr>
        </p:sp>
        <p:sp>
          <p:nvSpPr>
            <p:cNvPr name="TextBox 43" id="43"/>
            <p:cNvSpPr txBox="true"/>
            <p:nvPr/>
          </p:nvSpPr>
          <p:spPr>
            <a:xfrm>
              <a:off x="0" y="-19050"/>
              <a:ext cx="5577840" cy="750570"/>
            </a:xfrm>
            <a:prstGeom prst="rect">
              <a:avLst/>
            </a:prstGeom>
          </p:spPr>
          <p:txBody>
            <a:bodyPr anchor="ctr" rtlCol="false" tIns="0" lIns="0" bIns="0" rIns="0"/>
            <a:lstStyle/>
            <a:p>
              <a:pPr algn="l">
                <a:lnSpc>
                  <a:spcPts val="2430"/>
                </a:lnSpc>
              </a:pPr>
              <a:r>
                <a:rPr lang="en-US" sz="2025" b="true">
                  <a:solidFill>
                    <a:srgbClr val="FFFFFF"/>
                  </a:solidFill>
                  <a:latin typeface="Poppins Bold"/>
                  <a:ea typeface="Poppins Bold"/>
                  <a:cs typeface="Poppins Bold"/>
                  <a:sym typeface="Poppins Bold"/>
                </a:rPr>
                <a:t>3. By rider within route</a:t>
              </a:r>
            </a:p>
          </p:txBody>
        </p:sp>
      </p:grpSp>
      <p:grpSp>
        <p:nvGrpSpPr>
          <p:cNvPr name="Group 44" id="44"/>
          <p:cNvGrpSpPr/>
          <p:nvPr/>
        </p:nvGrpSpPr>
        <p:grpSpPr>
          <a:xfrm rot="0">
            <a:off x="11809095" y="4243540"/>
            <a:ext cx="515331" cy="1440180"/>
            <a:chOff x="0" y="0"/>
            <a:chExt cx="687108" cy="1920240"/>
          </a:xfrm>
        </p:grpSpPr>
        <p:sp>
          <p:nvSpPr>
            <p:cNvPr name="Freeform 45" id="45"/>
            <p:cNvSpPr/>
            <p:nvPr/>
          </p:nvSpPr>
          <p:spPr>
            <a:xfrm flipH="false" flipV="false" rot="0">
              <a:off x="0" y="0"/>
              <a:ext cx="687070" cy="1920240"/>
            </a:xfrm>
            <a:custGeom>
              <a:avLst/>
              <a:gdLst/>
              <a:ahLst/>
              <a:cxnLst/>
              <a:rect r="r" b="b" t="t" l="l"/>
              <a:pathLst>
                <a:path h="1920240" w="687070">
                  <a:moveTo>
                    <a:pt x="0" y="0"/>
                  </a:moveTo>
                  <a:lnTo>
                    <a:pt x="687070" y="0"/>
                  </a:lnTo>
                  <a:lnTo>
                    <a:pt x="687070" y="1920240"/>
                  </a:lnTo>
                  <a:lnTo>
                    <a:pt x="0" y="1920240"/>
                  </a:lnTo>
                  <a:close/>
                </a:path>
              </a:pathLst>
            </a:custGeom>
            <a:solidFill>
              <a:srgbClr val="FFFFFF"/>
            </a:solidFill>
          </p:spPr>
        </p:sp>
      </p:grpSp>
      <p:grpSp>
        <p:nvGrpSpPr>
          <p:cNvPr name="Group 46" id="46"/>
          <p:cNvGrpSpPr/>
          <p:nvPr/>
        </p:nvGrpSpPr>
        <p:grpSpPr>
          <a:xfrm rot="0">
            <a:off x="12406722" y="4346410"/>
            <a:ext cx="515331" cy="1337310"/>
            <a:chOff x="0" y="0"/>
            <a:chExt cx="687108" cy="1783080"/>
          </a:xfrm>
        </p:grpSpPr>
        <p:sp>
          <p:nvSpPr>
            <p:cNvPr name="Freeform 47" id="47"/>
            <p:cNvSpPr/>
            <p:nvPr/>
          </p:nvSpPr>
          <p:spPr>
            <a:xfrm flipH="false" flipV="false" rot="0">
              <a:off x="0" y="0"/>
              <a:ext cx="687070" cy="1783080"/>
            </a:xfrm>
            <a:custGeom>
              <a:avLst/>
              <a:gdLst/>
              <a:ahLst/>
              <a:cxnLst/>
              <a:rect r="r" b="b" t="t" l="l"/>
              <a:pathLst>
                <a:path h="1783080" w="687070">
                  <a:moveTo>
                    <a:pt x="0" y="0"/>
                  </a:moveTo>
                  <a:lnTo>
                    <a:pt x="687070" y="0"/>
                  </a:lnTo>
                  <a:lnTo>
                    <a:pt x="687070" y="1783080"/>
                  </a:lnTo>
                  <a:lnTo>
                    <a:pt x="0" y="1783080"/>
                  </a:lnTo>
                  <a:close/>
                </a:path>
              </a:pathLst>
            </a:custGeom>
            <a:solidFill>
              <a:srgbClr val="FFFFFF"/>
            </a:solidFill>
          </p:spPr>
        </p:sp>
      </p:grpSp>
      <p:grpSp>
        <p:nvGrpSpPr>
          <p:cNvPr name="Group 48" id="48"/>
          <p:cNvGrpSpPr/>
          <p:nvPr/>
        </p:nvGrpSpPr>
        <p:grpSpPr>
          <a:xfrm rot="0">
            <a:off x="13004349" y="4449280"/>
            <a:ext cx="515331" cy="1234440"/>
            <a:chOff x="0" y="0"/>
            <a:chExt cx="687108" cy="1645920"/>
          </a:xfrm>
        </p:grpSpPr>
        <p:sp>
          <p:nvSpPr>
            <p:cNvPr name="Freeform 49" id="49"/>
            <p:cNvSpPr/>
            <p:nvPr/>
          </p:nvSpPr>
          <p:spPr>
            <a:xfrm flipH="false" flipV="false" rot="0">
              <a:off x="0" y="0"/>
              <a:ext cx="687070" cy="1645920"/>
            </a:xfrm>
            <a:custGeom>
              <a:avLst/>
              <a:gdLst/>
              <a:ahLst/>
              <a:cxnLst/>
              <a:rect r="r" b="b" t="t" l="l"/>
              <a:pathLst>
                <a:path h="1645920" w="687070">
                  <a:moveTo>
                    <a:pt x="0" y="0"/>
                  </a:moveTo>
                  <a:lnTo>
                    <a:pt x="687070" y="0"/>
                  </a:lnTo>
                  <a:lnTo>
                    <a:pt x="687070" y="1645920"/>
                  </a:lnTo>
                  <a:lnTo>
                    <a:pt x="0" y="1645920"/>
                  </a:lnTo>
                  <a:close/>
                </a:path>
              </a:pathLst>
            </a:custGeom>
            <a:solidFill>
              <a:srgbClr val="FFFFFF"/>
            </a:solidFill>
          </p:spPr>
        </p:sp>
      </p:grpSp>
      <p:grpSp>
        <p:nvGrpSpPr>
          <p:cNvPr name="Group 50" id="50"/>
          <p:cNvGrpSpPr/>
          <p:nvPr/>
        </p:nvGrpSpPr>
        <p:grpSpPr>
          <a:xfrm rot="0">
            <a:off x="13601976" y="4655020"/>
            <a:ext cx="515331" cy="1028700"/>
            <a:chOff x="0" y="0"/>
            <a:chExt cx="687108" cy="1371600"/>
          </a:xfrm>
        </p:grpSpPr>
        <p:sp>
          <p:nvSpPr>
            <p:cNvPr name="Freeform 51" id="51"/>
            <p:cNvSpPr/>
            <p:nvPr/>
          </p:nvSpPr>
          <p:spPr>
            <a:xfrm flipH="false" flipV="false" rot="0">
              <a:off x="0" y="0"/>
              <a:ext cx="687070" cy="1371600"/>
            </a:xfrm>
            <a:custGeom>
              <a:avLst/>
              <a:gdLst/>
              <a:ahLst/>
              <a:cxnLst/>
              <a:rect r="r" b="b" t="t" l="l"/>
              <a:pathLst>
                <a:path h="1371600" w="687070">
                  <a:moveTo>
                    <a:pt x="0" y="0"/>
                  </a:moveTo>
                  <a:lnTo>
                    <a:pt x="687070" y="0"/>
                  </a:lnTo>
                  <a:lnTo>
                    <a:pt x="687070" y="1371600"/>
                  </a:lnTo>
                  <a:lnTo>
                    <a:pt x="0" y="1371600"/>
                  </a:lnTo>
                  <a:close/>
                </a:path>
              </a:pathLst>
            </a:custGeom>
            <a:solidFill>
              <a:srgbClr val="FFFFFF"/>
            </a:solidFill>
          </p:spPr>
        </p:sp>
      </p:grpSp>
      <p:grpSp>
        <p:nvGrpSpPr>
          <p:cNvPr name="Group 52" id="52"/>
          <p:cNvGrpSpPr/>
          <p:nvPr/>
        </p:nvGrpSpPr>
        <p:grpSpPr>
          <a:xfrm rot="0">
            <a:off x="14199594" y="4860760"/>
            <a:ext cx="515331" cy="822960"/>
            <a:chOff x="0" y="0"/>
            <a:chExt cx="687108" cy="1097280"/>
          </a:xfrm>
        </p:grpSpPr>
        <p:sp>
          <p:nvSpPr>
            <p:cNvPr name="Freeform 53" id="53"/>
            <p:cNvSpPr/>
            <p:nvPr/>
          </p:nvSpPr>
          <p:spPr>
            <a:xfrm flipH="false" flipV="false" rot="0">
              <a:off x="0" y="0"/>
              <a:ext cx="687070" cy="1097280"/>
            </a:xfrm>
            <a:custGeom>
              <a:avLst/>
              <a:gdLst/>
              <a:ahLst/>
              <a:cxnLst/>
              <a:rect r="r" b="b" t="t" l="l"/>
              <a:pathLst>
                <a:path h="1097280" w="687070">
                  <a:moveTo>
                    <a:pt x="0" y="0"/>
                  </a:moveTo>
                  <a:lnTo>
                    <a:pt x="687070" y="0"/>
                  </a:lnTo>
                  <a:lnTo>
                    <a:pt x="687070" y="1097280"/>
                  </a:lnTo>
                  <a:lnTo>
                    <a:pt x="0" y="1097280"/>
                  </a:lnTo>
                  <a:close/>
                </a:path>
              </a:pathLst>
            </a:custGeom>
            <a:solidFill>
              <a:srgbClr val="FFFFFF"/>
            </a:solidFill>
          </p:spPr>
        </p:sp>
      </p:grpSp>
      <p:grpSp>
        <p:nvGrpSpPr>
          <p:cNvPr name="Group 54" id="54"/>
          <p:cNvGrpSpPr/>
          <p:nvPr/>
        </p:nvGrpSpPr>
        <p:grpSpPr>
          <a:xfrm rot="0">
            <a:off x="14797221" y="5066500"/>
            <a:ext cx="515331" cy="617220"/>
            <a:chOff x="0" y="0"/>
            <a:chExt cx="687108" cy="822960"/>
          </a:xfrm>
        </p:grpSpPr>
        <p:sp>
          <p:nvSpPr>
            <p:cNvPr name="Freeform 55" id="55"/>
            <p:cNvSpPr/>
            <p:nvPr/>
          </p:nvSpPr>
          <p:spPr>
            <a:xfrm flipH="false" flipV="false" rot="0">
              <a:off x="0" y="0"/>
              <a:ext cx="687070" cy="822960"/>
            </a:xfrm>
            <a:custGeom>
              <a:avLst/>
              <a:gdLst/>
              <a:ahLst/>
              <a:cxnLst/>
              <a:rect r="r" b="b" t="t" l="l"/>
              <a:pathLst>
                <a:path h="822960" w="687070">
                  <a:moveTo>
                    <a:pt x="0" y="0"/>
                  </a:moveTo>
                  <a:lnTo>
                    <a:pt x="687070" y="0"/>
                  </a:lnTo>
                  <a:lnTo>
                    <a:pt x="687070" y="822960"/>
                  </a:lnTo>
                  <a:lnTo>
                    <a:pt x="0" y="822960"/>
                  </a:lnTo>
                  <a:close/>
                </a:path>
              </a:pathLst>
            </a:custGeom>
            <a:solidFill>
              <a:srgbClr val="FFFFFF"/>
            </a:solidFill>
          </p:spPr>
        </p:sp>
      </p:grpSp>
      <p:grpSp>
        <p:nvGrpSpPr>
          <p:cNvPr name="Group 56" id="56"/>
          <p:cNvGrpSpPr/>
          <p:nvPr/>
        </p:nvGrpSpPr>
        <p:grpSpPr>
          <a:xfrm rot="0">
            <a:off x="15394848" y="5272240"/>
            <a:ext cx="515331" cy="411480"/>
            <a:chOff x="0" y="0"/>
            <a:chExt cx="687108" cy="548640"/>
          </a:xfrm>
        </p:grpSpPr>
        <p:sp>
          <p:nvSpPr>
            <p:cNvPr name="Freeform 57" id="57"/>
            <p:cNvSpPr/>
            <p:nvPr/>
          </p:nvSpPr>
          <p:spPr>
            <a:xfrm flipH="false" flipV="false" rot="0">
              <a:off x="0" y="0"/>
              <a:ext cx="687070" cy="548640"/>
            </a:xfrm>
            <a:custGeom>
              <a:avLst/>
              <a:gdLst/>
              <a:ahLst/>
              <a:cxnLst/>
              <a:rect r="r" b="b" t="t" l="l"/>
              <a:pathLst>
                <a:path h="548640" w="687070">
                  <a:moveTo>
                    <a:pt x="0" y="0"/>
                  </a:moveTo>
                  <a:lnTo>
                    <a:pt x="687070" y="0"/>
                  </a:lnTo>
                  <a:lnTo>
                    <a:pt x="687070" y="548640"/>
                  </a:lnTo>
                  <a:lnTo>
                    <a:pt x="0" y="548640"/>
                  </a:lnTo>
                  <a:close/>
                </a:path>
              </a:pathLst>
            </a:custGeom>
            <a:solidFill>
              <a:srgbClr val="FFFFFF"/>
            </a:solidFill>
          </p:spPr>
        </p:sp>
      </p:grpSp>
      <p:grpSp>
        <p:nvGrpSpPr>
          <p:cNvPr name="Group 58" id="58"/>
          <p:cNvGrpSpPr/>
          <p:nvPr/>
        </p:nvGrpSpPr>
        <p:grpSpPr>
          <a:xfrm rot="0">
            <a:off x="904875" y="6506680"/>
            <a:ext cx="14744700" cy="1920240"/>
            <a:chOff x="0" y="0"/>
            <a:chExt cx="19659600" cy="2560320"/>
          </a:xfrm>
        </p:grpSpPr>
        <p:sp>
          <p:nvSpPr>
            <p:cNvPr name="Freeform 59" id="59"/>
            <p:cNvSpPr/>
            <p:nvPr/>
          </p:nvSpPr>
          <p:spPr>
            <a:xfrm flipH="false" flipV="false" rot="0">
              <a:off x="0" y="0"/>
              <a:ext cx="19659600" cy="2560320"/>
            </a:xfrm>
            <a:custGeom>
              <a:avLst/>
              <a:gdLst/>
              <a:ahLst/>
              <a:cxnLst/>
              <a:rect r="r" b="b" t="t" l="l"/>
              <a:pathLst>
                <a:path h="2560320" w="19659600">
                  <a:moveTo>
                    <a:pt x="0" y="164592"/>
                  </a:moveTo>
                  <a:cubicBezTo>
                    <a:pt x="0" y="73660"/>
                    <a:pt x="73660" y="0"/>
                    <a:pt x="164592" y="0"/>
                  </a:cubicBezTo>
                  <a:lnTo>
                    <a:pt x="19495008" y="0"/>
                  </a:lnTo>
                  <a:cubicBezTo>
                    <a:pt x="19585939" y="0"/>
                    <a:pt x="19659600" y="73660"/>
                    <a:pt x="19659600" y="164592"/>
                  </a:cubicBezTo>
                  <a:lnTo>
                    <a:pt x="19659600" y="2395728"/>
                  </a:lnTo>
                  <a:cubicBezTo>
                    <a:pt x="19659600" y="2486660"/>
                    <a:pt x="19585939" y="2560320"/>
                    <a:pt x="19495008" y="2560320"/>
                  </a:cubicBezTo>
                  <a:lnTo>
                    <a:pt x="164592" y="2560320"/>
                  </a:lnTo>
                  <a:cubicBezTo>
                    <a:pt x="73660" y="2560320"/>
                    <a:pt x="0" y="2486660"/>
                    <a:pt x="0" y="2395728"/>
                  </a:cubicBezTo>
                  <a:close/>
                </a:path>
              </a:pathLst>
            </a:custGeom>
            <a:solidFill>
              <a:srgbClr val="EEF4F4"/>
            </a:solidFill>
          </p:spPr>
        </p:sp>
      </p:grpSp>
      <p:grpSp>
        <p:nvGrpSpPr>
          <p:cNvPr name="Group 60" id="60"/>
          <p:cNvGrpSpPr/>
          <p:nvPr/>
        </p:nvGrpSpPr>
        <p:grpSpPr>
          <a:xfrm rot="0">
            <a:off x="904875" y="6506680"/>
            <a:ext cx="102870" cy="1920240"/>
            <a:chOff x="0" y="0"/>
            <a:chExt cx="137160" cy="2560320"/>
          </a:xfrm>
        </p:grpSpPr>
        <p:sp>
          <p:nvSpPr>
            <p:cNvPr name="Freeform 61" id="61"/>
            <p:cNvSpPr/>
            <p:nvPr/>
          </p:nvSpPr>
          <p:spPr>
            <a:xfrm flipH="false" flipV="false" rot="0">
              <a:off x="0" y="0"/>
              <a:ext cx="137160" cy="2560320"/>
            </a:xfrm>
            <a:custGeom>
              <a:avLst/>
              <a:gdLst/>
              <a:ahLst/>
              <a:cxnLst/>
              <a:rect r="r" b="b" t="t" l="l"/>
              <a:pathLst>
                <a:path h="2560320" w="137160">
                  <a:moveTo>
                    <a:pt x="0" y="0"/>
                  </a:moveTo>
                  <a:lnTo>
                    <a:pt x="137160" y="0"/>
                  </a:lnTo>
                  <a:lnTo>
                    <a:pt x="137160" y="2560320"/>
                  </a:lnTo>
                  <a:lnTo>
                    <a:pt x="0" y="2560320"/>
                  </a:lnTo>
                  <a:close/>
                </a:path>
              </a:pathLst>
            </a:custGeom>
            <a:solidFill>
              <a:srgbClr val="387F7F"/>
            </a:solidFill>
          </p:spPr>
        </p:sp>
      </p:grpSp>
      <p:sp>
        <p:nvSpPr>
          <p:cNvPr name="TextBox 62" id="62"/>
          <p:cNvSpPr txBox="true"/>
          <p:nvPr/>
        </p:nvSpPr>
        <p:spPr>
          <a:xfrm rot="0">
            <a:off x="1453515" y="6695275"/>
            <a:ext cx="13853160" cy="1663065"/>
          </a:xfrm>
          <a:prstGeom prst="rect">
            <a:avLst/>
          </a:prstGeom>
        </p:spPr>
        <p:txBody>
          <a:bodyPr anchor="t" rtlCol="false" tIns="0" lIns="0" bIns="0" rIns="0">
            <a:spAutoFit/>
          </a:bodyPr>
          <a:lstStyle/>
          <a:p>
            <a:pPr algn="l">
              <a:lnSpc>
                <a:spcPts val="3225"/>
              </a:lnSpc>
            </a:pPr>
            <a:r>
              <a:rPr lang="en-US" sz="2100" b="true">
                <a:solidFill>
                  <a:srgbClr val="387F7F"/>
                </a:solidFill>
                <a:latin typeface="Poppins Bold"/>
                <a:ea typeface="Poppins Bold"/>
                <a:cs typeface="Poppins Bold"/>
                <a:sym typeface="Poppins Bold"/>
              </a:rPr>
              <a:t>Set a hierarchy in the visual's axis field and Power BI provides the arrows to move between levels. The reader starts at the summary and goes deeper only where something looks wrong, which is exactly how an operations manager investigates.</a:t>
            </a:r>
          </a:p>
        </p:txBody>
      </p:sp>
      <p:grpSp>
        <p:nvGrpSpPr>
          <p:cNvPr name="Group 63" id="63"/>
          <p:cNvGrpSpPr/>
          <p:nvPr/>
        </p:nvGrpSpPr>
        <p:grpSpPr>
          <a:xfrm rot="0">
            <a:off x="904875" y="8701240"/>
            <a:ext cx="14744700" cy="822960"/>
            <a:chOff x="0" y="0"/>
            <a:chExt cx="19659600" cy="1097280"/>
          </a:xfrm>
        </p:grpSpPr>
        <p:sp>
          <p:nvSpPr>
            <p:cNvPr name="Freeform 64" id="64"/>
            <p:cNvSpPr/>
            <p:nvPr/>
          </p:nvSpPr>
          <p:spPr>
            <a:xfrm flipH="false" flipV="false" rot="0">
              <a:off x="0" y="0"/>
              <a:ext cx="19659600" cy="1097280"/>
            </a:xfrm>
            <a:custGeom>
              <a:avLst/>
              <a:gdLst/>
              <a:ahLst/>
              <a:cxnLst/>
              <a:rect r="r" b="b" t="t" l="l"/>
              <a:pathLst>
                <a:path h="1097280" w="19659600">
                  <a:moveTo>
                    <a:pt x="0" y="164592"/>
                  </a:moveTo>
                  <a:cubicBezTo>
                    <a:pt x="0" y="73660"/>
                    <a:pt x="73660" y="0"/>
                    <a:pt x="164592" y="0"/>
                  </a:cubicBezTo>
                  <a:lnTo>
                    <a:pt x="19495008" y="0"/>
                  </a:lnTo>
                  <a:cubicBezTo>
                    <a:pt x="19585939" y="0"/>
                    <a:pt x="19659600" y="73660"/>
                    <a:pt x="19659600" y="164592"/>
                  </a:cubicBezTo>
                  <a:lnTo>
                    <a:pt x="19659600" y="932688"/>
                  </a:lnTo>
                  <a:cubicBezTo>
                    <a:pt x="19659600" y="1023620"/>
                    <a:pt x="19585939" y="1097280"/>
                    <a:pt x="19495008" y="1097280"/>
                  </a:cubicBezTo>
                  <a:lnTo>
                    <a:pt x="164592" y="1097280"/>
                  </a:lnTo>
                  <a:cubicBezTo>
                    <a:pt x="73660" y="1097280"/>
                    <a:pt x="0" y="1023620"/>
                    <a:pt x="0" y="932688"/>
                  </a:cubicBezTo>
                  <a:close/>
                </a:path>
              </a:pathLst>
            </a:custGeom>
            <a:solidFill>
              <a:srgbClr val="FBF3E6"/>
            </a:solidFill>
          </p:spPr>
        </p:sp>
      </p:grpSp>
      <p:grpSp>
        <p:nvGrpSpPr>
          <p:cNvPr name="Group 65" id="65"/>
          <p:cNvGrpSpPr/>
          <p:nvPr/>
        </p:nvGrpSpPr>
        <p:grpSpPr>
          <a:xfrm rot="0">
            <a:off x="904875" y="8701240"/>
            <a:ext cx="102870" cy="822960"/>
            <a:chOff x="0" y="0"/>
            <a:chExt cx="137160" cy="1097280"/>
          </a:xfrm>
        </p:grpSpPr>
        <p:sp>
          <p:nvSpPr>
            <p:cNvPr name="Freeform 66" id="66"/>
            <p:cNvSpPr/>
            <p:nvPr/>
          </p:nvSpPr>
          <p:spPr>
            <a:xfrm flipH="false" flipV="false" rot="0">
              <a:off x="0" y="0"/>
              <a:ext cx="137160" cy="1097280"/>
            </a:xfrm>
            <a:custGeom>
              <a:avLst/>
              <a:gdLst/>
              <a:ahLst/>
              <a:cxnLst/>
              <a:rect r="r" b="b" t="t" l="l"/>
              <a:pathLst>
                <a:path h="1097280" w="137160">
                  <a:moveTo>
                    <a:pt x="0" y="0"/>
                  </a:moveTo>
                  <a:lnTo>
                    <a:pt x="137160" y="0"/>
                  </a:lnTo>
                  <a:lnTo>
                    <a:pt x="137160" y="1097280"/>
                  </a:lnTo>
                  <a:lnTo>
                    <a:pt x="0" y="1097280"/>
                  </a:lnTo>
                  <a:close/>
                </a:path>
              </a:pathLst>
            </a:custGeom>
            <a:solidFill>
              <a:srgbClr val="C9821F"/>
            </a:solidFill>
          </p:spPr>
        </p:sp>
      </p:grpSp>
      <p:grpSp>
        <p:nvGrpSpPr>
          <p:cNvPr name="Group 67" id="67"/>
          <p:cNvGrpSpPr/>
          <p:nvPr/>
        </p:nvGrpSpPr>
        <p:grpSpPr>
          <a:xfrm rot="0">
            <a:off x="1453515" y="8701240"/>
            <a:ext cx="13853160" cy="822960"/>
            <a:chOff x="0" y="0"/>
            <a:chExt cx="18470880" cy="1097280"/>
          </a:xfrm>
        </p:grpSpPr>
        <p:sp>
          <p:nvSpPr>
            <p:cNvPr name="Freeform 68" id="68"/>
            <p:cNvSpPr/>
            <p:nvPr/>
          </p:nvSpPr>
          <p:spPr>
            <a:xfrm flipH="false" flipV="false" rot="0">
              <a:off x="0" y="0"/>
              <a:ext cx="18470880" cy="1097280"/>
            </a:xfrm>
            <a:custGeom>
              <a:avLst/>
              <a:gdLst/>
              <a:ahLst/>
              <a:cxnLst/>
              <a:rect r="r" b="b" t="t" l="l"/>
              <a:pathLst>
                <a:path h="1097280" w="18470880">
                  <a:moveTo>
                    <a:pt x="0" y="0"/>
                  </a:moveTo>
                  <a:lnTo>
                    <a:pt x="18470880" y="0"/>
                  </a:lnTo>
                  <a:lnTo>
                    <a:pt x="18470880" y="1097280"/>
                  </a:lnTo>
                  <a:lnTo>
                    <a:pt x="0" y="1097280"/>
                  </a:lnTo>
                  <a:close/>
                </a:path>
              </a:pathLst>
            </a:custGeom>
            <a:blipFill>
              <a:blip r:embed="rId9">
                <a:alphaModFix amt="0"/>
              </a:blip>
              <a:stretch>
                <a:fillRect l="0" t="-277998" r="0" b="-277998"/>
              </a:stretch>
            </a:blipFill>
          </p:spPr>
        </p:sp>
        <p:sp>
          <p:nvSpPr>
            <p:cNvPr name="TextBox 69" id="69"/>
            <p:cNvSpPr txBox="true"/>
            <p:nvPr/>
          </p:nvSpPr>
          <p:spPr>
            <a:xfrm>
              <a:off x="0" y="-95250"/>
              <a:ext cx="18470880" cy="1192530"/>
            </a:xfrm>
            <a:prstGeom prst="rect">
              <a:avLst/>
            </a:prstGeom>
          </p:spPr>
          <p:txBody>
            <a:bodyPr anchor="ctr" rtlCol="false" tIns="0" lIns="0" bIns="0" rIns="0"/>
            <a:lstStyle/>
            <a:p>
              <a:pPr algn="l">
                <a:lnSpc>
                  <a:spcPts val="3037"/>
                </a:lnSpc>
              </a:pPr>
              <a:r>
                <a:rPr lang="en-US" sz="1875" i="true">
                  <a:solidFill>
                    <a:srgbClr val="8A5A12"/>
                  </a:solidFill>
                  <a:latin typeface="Poppins Italics"/>
                  <a:ea typeface="Poppins Italics"/>
                  <a:cs typeface="Poppins Italics"/>
                  <a:sym typeface="Poppins Italics"/>
                </a:rPr>
                <a:t>The drill icons are small. Point at the top-right of the visual and say what each arrow does.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2317116"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Six formatti</a:t>
            </a:r>
            <a:r>
              <a:rPr lang="en-US" sz="5000">
                <a:solidFill>
                  <a:srgbClr val="388080"/>
                </a:solidFill>
                <a:latin typeface="Poppins"/>
                <a:ea typeface="Poppins"/>
                <a:cs typeface="Poppins"/>
                <a:sym typeface="Poppins"/>
              </a:rPr>
              <a:t>ng rules, applied every time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14400" y="2698242"/>
            <a:ext cx="7063740" cy="1536192"/>
            <a:chOff x="0" y="0"/>
            <a:chExt cx="9418320" cy="2048256"/>
          </a:xfrm>
        </p:grpSpPr>
        <p:sp>
          <p:nvSpPr>
            <p:cNvPr name="Freeform 12" id="12"/>
            <p:cNvSpPr/>
            <p:nvPr/>
          </p:nvSpPr>
          <p:spPr>
            <a:xfrm flipH="false" flipV="false" rot="0">
              <a:off x="0" y="0"/>
              <a:ext cx="9418320" cy="2048256"/>
            </a:xfrm>
            <a:custGeom>
              <a:avLst/>
              <a:gdLst/>
              <a:ahLst/>
              <a:cxnLst/>
              <a:rect r="r" b="b" t="t" l="l"/>
              <a:pathLst>
                <a:path h="2048256" w="9418320">
                  <a:moveTo>
                    <a:pt x="0" y="182880"/>
                  </a:moveTo>
                  <a:cubicBezTo>
                    <a:pt x="0" y="81915"/>
                    <a:pt x="81915" y="0"/>
                    <a:pt x="182880" y="0"/>
                  </a:cubicBezTo>
                  <a:lnTo>
                    <a:pt x="9235440" y="0"/>
                  </a:lnTo>
                  <a:cubicBezTo>
                    <a:pt x="9336405" y="0"/>
                    <a:pt x="9418320" y="81915"/>
                    <a:pt x="9418320" y="182880"/>
                  </a:cubicBezTo>
                  <a:lnTo>
                    <a:pt x="9418320" y="1865376"/>
                  </a:lnTo>
                  <a:cubicBezTo>
                    <a:pt x="9418320" y="1966341"/>
                    <a:pt x="9336405" y="2048256"/>
                    <a:pt x="9235440" y="2048256"/>
                  </a:cubicBezTo>
                  <a:lnTo>
                    <a:pt x="182880" y="2048256"/>
                  </a:lnTo>
                  <a:cubicBezTo>
                    <a:pt x="81915" y="2048256"/>
                    <a:pt x="0" y="1966341"/>
                    <a:pt x="0" y="1865376"/>
                  </a:cubicBezTo>
                  <a:close/>
                </a:path>
              </a:pathLst>
            </a:custGeom>
            <a:solidFill>
              <a:srgbClr val="FFFFFF"/>
            </a:solidFill>
          </p:spPr>
        </p:sp>
      </p:grpSp>
      <p:grpSp>
        <p:nvGrpSpPr>
          <p:cNvPr name="Group 13" id="13"/>
          <p:cNvGrpSpPr/>
          <p:nvPr/>
        </p:nvGrpSpPr>
        <p:grpSpPr>
          <a:xfrm rot="0">
            <a:off x="1257300" y="3054858"/>
            <a:ext cx="822960" cy="822960"/>
            <a:chOff x="0" y="0"/>
            <a:chExt cx="1097280" cy="1097280"/>
          </a:xfrm>
        </p:grpSpPr>
        <p:sp>
          <p:nvSpPr>
            <p:cNvPr name="Freeform 14" id="1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15" id="15"/>
          <p:cNvGrpSpPr/>
          <p:nvPr/>
        </p:nvGrpSpPr>
        <p:grpSpPr>
          <a:xfrm rot="0">
            <a:off x="1257300" y="3054858"/>
            <a:ext cx="822960" cy="822960"/>
            <a:chOff x="0" y="0"/>
            <a:chExt cx="1097280" cy="1097280"/>
          </a:xfrm>
        </p:grpSpPr>
        <p:sp>
          <p:nvSpPr>
            <p:cNvPr name="Freeform 16" id="1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17" id="17"/>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1</a:t>
              </a:r>
            </a:p>
          </p:txBody>
        </p:sp>
      </p:grpSp>
      <p:sp>
        <p:nvSpPr>
          <p:cNvPr name="TextBox 18" id="18"/>
          <p:cNvSpPr txBox="true"/>
          <p:nvPr/>
        </p:nvSpPr>
        <p:spPr>
          <a:xfrm rot="0">
            <a:off x="2354580" y="2833116"/>
            <a:ext cx="5349240" cy="1236726"/>
          </a:xfrm>
          <a:prstGeom prst="rect">
            <a:avLst/>
          </a:prstGeom>
        </p:spPr>
        <p:txBody>
          <a:bodyPr anchor="t" rtlCol="false" tIns="0" lIns="0" bIns="0" rIns="0">
            <a:spAutoFit/>
          </a:bodyPr>
          <a:lstStyle/>
          <a:p>
            <a:pPr algn="l">
              <a:lnSpc>
                <a:spcPts val="2525"/>
              </a:lnSpc>
            </a:pPr>
            <a:r>
              <a:rPr lang="en-US" sz="1725">
                <a:solidFill>
                  <a:srgbClr val="475569"/>
                </a:solidFill>
                <a:latin typeface="Poppins"/>
                <a:ea typeface="Poppins"/>
                <a:cs typeface="Poppins"/>
                <a:sym typeface="Poppins"/>
              </a:rPr>
              <a:t>Every axis labelled with units. “Deliveries”, not a bare number. ₦ where money is shown.</a:t>
            </a:r>
          </a:p>
        </p:txBody>
      </p:sp>
      <p:grpSp>
        <p:nvGrpSpPr>
          <p:cNvPr name="Group 19" id="19"/>
          <p:cNvGrpSpPr/>
          <p:nvPr/>
        </p:nvGrpSpPr>
        <p:grpSpPr>
          <a:xfrm rot="0">
            <a:off x="8595360" y="2698242"/>
            <a:ext cx="7063740" cy="1536192"/>
            <a:chOff x="0" y="0"/>
            <a:chExt cx="9418320" cy="2048256"/>
          </a:xfrm>
        </p:grpSpPr>
        <p:sp>
          <p:nvSpPr>
            <p:cNvPr name="Freeform 20" id="20"/>
            <p:cNvSpPr/>
            <p:nvPr/>
          </p:nvSpPr>
          <p:spPr>
            <a:xfrm flipH="false" flipV="false" rot="0">
              <a:off x="0" y="0"/>
              <a:ext cx="9418320" cy="2048256"/>
            </a:xfrm>
            <a:custGeom>
              <a:avLst/>
              <a:gdLst/>
              <a:ahLst/>
              <a:cxnLst/>
              <a:rect r="r" b="b" t="t" l="l"/>
              <a:pathLst>
                <a:path h="2048256" w="9418320">
                  <a:moveTo>
                    <a:pt x="0" y="182880"/>
                  </a:moveTo>
                  <a:cubicBezTo>
                    <a:pt x="0" y="81915"/>
                    <a:pt x="81915" y="0"/>
                    <a:pt x="182880" y="0"/>
                  </a:cubicBezTo>
                  <a:lnTo>
                    <a:pt x="9235440" y="0"/>
                  </a:lnTo>
                  <a:cubicBezTo>
                    <a:pt x="9336405" y="0"/>
                    <a:pt x="9418320" y="81915"/>
                    <a:pt x="9418320" y="182880"/>
                  </a:cubicBezTo>
                  <a:lnTo>
                    <a:pt x="9418320" y="1865376"/>
                  </a:lnTo>
                  <a:cubicBezTo>
                    <a:pt x="9418320" y="1966341"/>
                    <a:pt x="9336405" y="2048256"/>
                    <a:pt x="9235440" y="2048256"/>
                  </a:cubicBezTo>
                  <a:lnTo>
                    <a:pt x="182880" y="2048256"/>
                  </a:lnTo>
                  <a:cubicBezTo>
                    <a:pt x="81915" y="2048256"/>
                    <a:pt x="0" y="1966341"/>
                    <a:pt x="0" y="1865376"/>
                  </a:cubicBezTo>
                  <a:close/>
                </a:path>
              </a:pathLst>
            </a:custGeom>
            <a:solidFill>
              <a:srgbClr val="FFFFFF"/>
            </a:solidFill>
          </p:spPr>
        </p:sp>
      </p:grpSp>
      <p:grpSp>
        <p:nvGrpSpPr>
          <p:cNvPr name="Group 21" id="21"/>
          <p:cNvGrpSpPr/>
          <p:nvPr/>
        </p:nvGrpSpPr>
        <p:grpSpPr>
          <a:xfrm rot="0">
            <a:off x="8938260" y="3054858"/>
            <a:ext cx="822960" cy="822960"/>
            <a:chOff x="0" y="0"/>
            <a:chExt cx="1097280" cy="1097280"/>
          </a:xfrm>
        </p:grpSpPr>
        <p:sp>
          <p:nvSpPr>
            <p:cNvPr name="Freeform 22" id="22"/>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23" id="23"/>
          <p:cNvGrpSpPr/>
          <p:nvPr/>
        </p:nvGrpSpPr>
        <p:grpSpPr>
          <a:xfrm rot="0">
            <a:off x="8938260" y="3054858"/>
            <a:ext cx="822960" cy="822960"/>
            <a:chOff x="0" y="0"/>
            <a:chExt cx="1097280" cy="1097280"/>
          </a:xfrm>
        </p:grpSpPr>
        <p:sp>
          <p:nvSpPr>
            <p:cNvPr name="Freeform 24" id="2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25" id="25"/>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2</a:t>
              </a:r>
            </a:p>
          </p:txBody>
        </p:sp>
      </p:grpSp>
      <p:sp>
        <p:nvSpPr>
          <p:cNvPr name="TextBox 26" id="26"/>
          <p:cNvSpPr txBox="true"/>
          <p:nvPr/>
        </p:nvSpPr>
        <p:spPr>
          <a:xfrm rot="0">
            <a:off x="10035540" y="2833116"/>
            <a:ext cx="5349240" cy="1236726"/>
          </a:xfrm>
          <a:prstGeom prst="rect">
            <a:avLst/>
          </a:prstGeom>
        </p:spPr>
        <p:txBody>
          <a:bodyPr anchor="t" rtlCol="false" tIns="0" lIns="0" bIns="0" rIns="0">
            <a:spAutoFit/>
          </a:bodyPr>
          <a:lstStyle/>
          <a:p>
            <a:pPr algn="l">
              <a:lnSpc>
                <a:spcPts val="2525"/>
              </a:lnSpc>
            </a:pPr>
            <a:r>
              <a:rPr lang="en-US" sz="1725">
                <a:solidFill>
                  <a:srgbClr val="475569"/>
                </a:solidFill>
                <a:latin typeface="Poppins"/>
                <a:ea typeface="Poppins"/>
                <a:cs typeface="Poppins"/>
                <a:sym typeface="Poppins"/>
              </a:rPr>
              <a:t>Sort deliberately. Ranked bars descending or ascending, never alphabetical by accident.</a:t>
            </a:r>
          </a:p>
        </p:txBody>
      </p:sp>
      <p:grpSp>
        <p:nvGrpSpPr>
          <p:cNvPr name="Group 27" id="27"/>
          <p:cNvGrpSpPr/>
          <p:nvPr/>
        </p:nvGrpSpPr>
        <p:grpSpPr>
          <a:xfrm rot="0">
            <a:off x="914400" y="4508754"/>
            <a:ext cx="7063740" cy="1536192"/>
            <a:chOff x="0" y="0"/>
            <a:chExt cx="9418320" cy="2048256"/>
          </a:xfrm>
        </p:grpSpPr>
        <p:sp>
          <p:nvSpPr>
            <p:cNvPr name="Freeform 28" id="28"/>
            <p:cNvSpPr/>
            <p:nvPr/>
          </p:nvSpPr>
          <p:spPr>
            <a:xfrm flipH="false" flipV="false" rot="0">
              <a:off x="0" y="0"/>
              <a:ext cx="9418320" cy="2048256"/>
            </a:xfrm>
            <a:custGeom>
              <a:avLst/>
              <a:gdLst/>
              <a:ahLst/>
              <a:cxnLst/>
              <a:rect r="r" b="b" t="t" l="l"/>
              <a:pathLst>
                <a:path h="2048256" w="9418320">
                  <a:moveTo>
                    <a:pt x="0" y="182880"/>
                  </a:moveTo>
                  <a:cubicBezTo>
                    <a:pt x="0" y="81915"/>
                    <a:pt x="81915" y="0"/>
                    <a:pt x="182880" y="0"/>
                  </a:cubicBezTo>
                  <a:lnTo>
                    <a:pt x="9235440" y="0"/>
                  </a:lnTo>
                  <a:cubicBezTo>
                    <a:pt x="9336405" y="0"/>
                    <a:pt x="9418320" y="81915"/>
                    <a:pt x="9418320" y="182880"/>
                  </a:cubicBezTo>
                  <a:lnTo>
                    <a:pt x="9418320" y="1865376"/>
                  </a:lnTo>
                  <a:cubicBezTo>
                    <a:pt x="9418320" y="1966341"/>
                    <a:pt x="9336405" y="2048256"/>
                    <a:pt x="9235440" y="2048256"/>
                  </a:cubicBezTo>
                  <a:lnTo>
                    <a:pt x="182880" y="2048256"/>
                  </a:lnTo>
                  <a:cubicBezTo>
                    <a:pt x="81915" y="2048256"/>
                    <a:pt x="0" y="1966341"/>
                    <a:pt x="0" y="1865376"/>
                  </a:cubicBezTo>
                  <a:close/>
                </a:path>
              </a:pathLst>
            </a:custGeom>
            <a:solidFill>
              <a:srgbClr val="FFFFFF"/>
            </a:solidFill>
          </p:spPr>
        </p:sp>
      </p:grpSp>
      <p:grpSp>
        <p:nvGrpSpPr>
          <p:cNvPr name="Group 29" id="29"/>
          <p:cNvGrpSpPr/>
          <p:nvPr/>
        </p:nvGrpSpPr>
        <p:grpSpPr>
          <a:xfrm rot="0">
            <a:off x="1257300" y="4865370"/>
            <a:ext cx="822960" cy="822960"/>
            <a:chOff x="0" y="0"/>
            <a:chExt cx="1097280" cy="1097280"/>
          </a:xfrm>
        </p:grpSpPr>
        <p:sp>
          <p:nvSpPr>
            <p:cNvPr name="Freeform 30" id="30"/>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31" id="31"/>
          <p:cNvGrpSpPr/>
          <p:nvPr/>
        </p:nvGrpSpPr>
        <p:grpSpPr>
          <a:xfrm rot="0">
            <a:off x="1257300" y="4865370"/>
            <a:ext cx="822960" cy="822960"/>
            <a:chOff x="0" y="0"/>
            <a:chExt cx="1097280" cy="1097280"/>
          </a:xfrm>
        </p:grpSpPr>
        <p:sp>
          <p:nvSpPr>
            <p:cNvPr name="Freeform 32" id="3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33" id="33"/>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3</a:t>
              </a:r>
            </a:p>
          </p:txBody>
        </p:sp>
      </p:grpSp>
      <p:sp>
        <p:nvSpPr>
          <p:cNvPr name="TextBox 34" id="34"/>
          <p:cNvSpPr txBox="true"/>
          <p:nvPr/>
        </p:nvSpPr>
        <p:spPr>
          <a:xfrm rot="0">
            <a:off x="2354580" y="4643628"/>
            <a:ext cx="5349240" cy="1236726"/>
          </a:xfrm>
          <a:prstGeom prst="rect">
            <a:avLst/>
          </a:prstGeom>
        </p:spPr>
        <p:txBody>
          <a:bodyPr anchor="t" rtlCol="false" tIns="0" lIns="0" bIns="0" rIns="0">
            <a:spAutoFit/>
          </a:bodyPr>
          <a:lstStyle/>
          <a:p>
            <a:pPr algn="l">
              <a:lnSpc>
                <a:spcPts val="2525"/>
              </a:lnSpc>
            </a:pPr>
            <a:r>
              <a:rPr lang="en-US" sz="1725">
                <a:solidFill>
                  <a:srgbClr val="475569"/>
                </a:solidFill>
                <a:latin typeface="Poppins"/>
                <a:ea typeface="Poppins"/>
                <a:cs typeface="Poppins"/>
                <a:sym typeface="Poppins"/>
              </a:rPr>
              <a:t>One accent colour, used to mean one thing. Colour is a signal, not decoration.</a:t>
            </a:r>
          </a:p>
        </p:txBody>
      </p:sp>
      <p:grpSp>
        <p:nvGrpSpPr>
          <p:cNvPr name="Group 35" id="35"/>
          <p:cNvGrpSpPr/>
          <p:nvPr/>
        </p:nvGrpSpPr>
        <p:grpSpPr>
          <a:xfrm rot="0">
            <a:off x="8595360" y="4508754"/>
            <a:ext cx="7063740" cy="1536192"/>
            <a:chOff x="0" y="0"/>
            <a:chExt cx="9418320" cy="2048256"/>
          </a:xfrm>
        </p:grpSpPr>
        <p:sp>
          <p:nvSpPr>
            <p:cNvPr name="Freeform 36" id="36"/>
            <p:cNvSpPr/>
            <p:nvPr/>
          </p:nvSpPr>
          <p:spPr>
            <a:xfrm flipH="false" flipV="false" rot="0">
              <a:off x="0" y="0"/>
              <a:ext cx="9418320" cy="2048256"/>
            </a:xfrm>
            <a:custGeom>
              <a:avLst/>
              <a:gdLst/>
              <a:ahLst/>
              <a:cxnLst/>
              <a:rect r="r" b="b" t="t" l="l"/>
              <a:pathLst>
                <a:path h="2048256" w="9418320">
                  <a:moveTo>
                    <a:pt x="0" y="182880"/>
                  </a:moveTo>
                  <a:cubicBezTo>
                    <a:pt x="0" y="81915"/>
                    <a:pt x="81915" y="0"/>
                    <a:pt x="182880" y="0"/>
                  </a:cubicBezTo>
                  <a:lnTo>
                    <a:pt x="9235440" y="0"/>
                  </a:lnTo>
                  <a:cubicBezTo>
                    <a:pt x="9336405" y="0"/>
                    <a:pt x="9418320" y="81915"/>
                    <a:pt x="9418320" y="182880"/>
                  </a:cubicBezTo>
                  <a:lnTo>
                    <a:pt x="9418320" y="1865376"/>
                  </a:lnTo>
                  <a:cubicBezTo>
                    <a:pt x="9418320" y="1966341"/>
                    <a:pt x="9336405" y="2048256"/>
                    <a:pt x="9235440" y="2048256"/>
                  </a:cubicBezTo>
                  <a:lnTo>
                    <a:pt x="182880" y="2048256"/>
                  </a:lnTo>
                  <a:cubicBezTo>
                    <a:pt x="81915" y="2048256"/>
                    <a:pt x="0" y="1966341"/>
                    <a:pt x="0" y="1865376"/>
                  </a:cubicBezTo>
                  <a:close/>
                </a:path>
              </a:pathLst>
            </a:custGeom>
            <a:solidFill>
              <a:srgbClr val="FFFFFF"/>
            </a:solidFill>
          </p:spPr>
        </p:sp>
      </p:grpSp>
      <p:grpSp>
        <p:nvGrpSpPr>
          <p:cNvPr name="Group 37" id="37"/>
          <p:cNvGrpSpPr/>
          <p:nvPr/>
        </p:nvGrpSpPr>
        <p:grpSpPr>
          <a:xfrm rot="0">
            <a:off x="8938260" y="4865370"/>
            <a:ext cx="822960" cy="822960"/>
            <a:chOff x="0" y="0"/>
            <a:chExt cx="1097280" cy="1097280"/>
          </a:xfrm>
        </p:grpSpPr>
        <p:sp>
          <p:nvSpPr>
            <p:cNvPr name="Freeform 38" id="3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39" id="39"/>
          <p:cNvGrpSpPr/>
          <p:nvPr/>
        </p:nvGrpSpPr>
        <p:grpSpPr>
          <a:xfrm rot="0">
            <a:off x="8938260" y="4865370"/>
            <a:ext cx="822960" cy="822960"/>
            <a:chOff x="0" y="0"/>
            <a:chExt cx="1097280" cy="1097280"/>
          </a:xfrm>
        </p:grpSpPr>
        <p:sp>
          <p:nvSpPr>
            <p:cNvPr name="Freeform 40" id="4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41" id="41"/>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4</a:t>
              </a:r>
            </a:p>
          </p:txBody>
        </p:sp>
      </p:grpSp>
      <p:sp>
        <p:nvSpPr>
          <p:cNvPr name="TextBox 42" id="42"/>
          <p:cNvSpPr txBox="true"/>
          <p:nvPr/>
        </p:nvSpPr>
        <p:spPr>
          <a:xfrm rot="0">
            <a:off x="10035540" y="4643628"/>
            <a:ext cx="5349240" cy="1236726"/>
          </a:xfrm>
          <a:prstGeom prst="rect">
            <a:avLst/>
          </a:prstGeom>
        </p:spPr>
        <p:txBody>
          <a:bodyPr anchor="t" rtlCol="false" tIns="0" lIns="0" bIns="0" rIns="0">
            <a:spAutoFit/>
          </a:bodyPr>
          <a:lstStyle/>
          <a:p>
            <a:pPr algn="l">
              <a:lnSpc>
                <a:spcPts val="2525"/>
              </a:lnSpc>
            </a:pPr>
            <a:r>
              <a:rPr lang="en-US" sz="1725">
                <a:solidFill>
                  <a:srgbClr val="475569"/>
                </a:solidFill>
                <a:latin typeface="Poppins"/>
                <a:ea typeface="Poppins"/>
                <a:cs typeface="Poppins"/>
                <a:sym typeface="Poppins"/>
              </a:rPr>
              <a:t>Data labels on cards and short bar charts. Not on dense charts, where they become noise.</a:t>
            </a:r>
          </a:p>
        </p:txBody>
      </p:sp>
      <p:grpSp>
        <p:nvGrpSpPr>
          <p:cNvPr name="Group 43" id="43"/>
          <p:cNvGrpSpPr/>
          <p:nvPr/>
        </p:nvGrpSpPr>
        <p:grpSpPr>
          <a:xfrm rot="0">
            <a:off x="914400" y="6319266"/>
            <a:ext cx="7063740" cy="1536192"/>
            <a:chOff x="0" y="0"/>
            <a:chExt cx="9418320" cy="2048256"/>
          </a:xfrm>
        </p:grpSpPr>
        <p:sp>
          <p:nvSpPr>
            <p:cNvPr name="Freeform 44" id="44"/>
            <p:cNvSpPr/>
            <p:nvPr/>
          </p:nvSpPr>
          <p:spPr>
            <a:xfrm flipH="false" flipV="false" rot="0">
              <a:off x="0" y="0"/>
              <a:ext cx="9418320" cy="2048256"/>
            </a:xfrm>
            <a:custGeom>
              <a:avLst/>
              <a:gdLst/>
              <a:ahLst/>
              <a:cxnLst/>
              <a:rect r="r" b="b" t="t" l="l"/>
              <a:pathLst>
                <a:path h="2048256" w="9418320">
                  <a:moveTo>
                    <a:pt x="0" y="182880"/>
                  </a:moveTo>
                  <a:cubicBezTo>
                    <a:pt x="0" y="81915"/>
                    <a:pt x="81915" y="0"/>
                    <a:pt x="182880" y="0"/>
                  </a:cubicBezTo>
                  <a:lnTo>
                    <a:pt x="9235440" y="0"/>
                  </a:lnTo>
                  <a:cubicBezTo>
                    <a:pt x="9336405" y="0"/>
                    <a:pt x="9418320" y="81915"/>
                    <a:pt x="9418320" y="182880"/>
                  </a:cubicBezTo>
                  <a:lnTo>
                    <a:pt x="9418320" y="1865376"/>
                  </a:lnTo>
                  <a:cubicBezTo>
                    <a:pt x="9418320" y="1966341"/>
                    <a:pt x="9336405" y="2048256"/>
                    <a:pt x="9235440" y="2048256"/>
                  </a:cubicBezTo>
                  <a:lnTo>
                    <a:pt x="182880" y="2048256"/>
                  </a:lnTo>
                  <a:cubicBezTo>
                    <a:pt x="81915" y="2048256"/>
                    <a:pt x="0" y="1966341"/>
                    <a:pt x="0" y="1865376"/>
                  </a:cubicBezTo>
                  <a:close/>
                </a:path>
              </a:pathLst>
            </a:custGeom>
            <a:solidFill>
              <a:srgbClr val="FFFFFF"/>
            </a:solidFill>
          </p:spPr>
        </p:sp>
      </p:grpSp>
      <p:grpSp>
        <p:nvGrpSpPr>
          <p:cNvPr name="Group 45" id="45"/>
          <p:cNvGrpSpPr/>
          <p:nvPr/>
        </p:nvGrpSpPr>
        <p:grpSpPr>
          <a:xfrm rot="0">
            <a:off x="1257300" y="6675882"/>
            <a:ext cx="822960" cy="822960"/>
            <a:chOff x="0" y="0"/>
            <a:chExt cx="1097280" cy="1097280"/>
          </a:xfrm>
        </p:grpSpPr>
        <p:sp>
          <p:nvSpPr>
            <p:cNvPr name="Freeform 46" id="46"/>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47" id="47"/>
          <p:cNvGrpSpPr/>
          <p:nvPr/>
        </p:nvGrpSpPr>
        <p:grpSpPr>
          <a:xfrm rot="0">
            <a:off x="1257300" y="6675882"/>
            <a:ext cx="822960" cy="822960"/>
            <a:chOff x="0" y="0"/>
            <a:chExt cx="1097280" cy="1097280"/>
          </a:xfrm>
        </p:grpSpPr>
        <p:sp>
          <p:nvSpPr>
            <p:cNvPr name="Freeform 48" id="4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49" id="49"/>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5</a:t>
              </a:r>
            </a:p>
          </p:txBody>
        </p:sp>
      </p:grpSp>
      <p:sp>
        <p:nvSpPr>
          <p:cNvPr name="TextBox 50" id="50"/>
          <p:cNvSpPr txBox="true"/>
          <p:nvPr/>
        </p:nvSpPr>
        <p:spPr>
          <a:xfrm rot="0">
            <a:off x="2354580" y="6454140"/>
            <a:ext cx="5349240" cy="1236726"/>
          </a:xfrm>
          <a:prstGeom prst="rect">
            <a:avLst/>
          </a:prstGeom>
        </p:spPr>
        <p:txBody>
          <a:bodyPr anchor="t" rtlCol="false" tIns="0" lIns="0" bIns="0" rIns="0">
            <a:spAutoFit/>
          </a:bodyPr>
          <a:lstStyle/>
          <a:p>
            <a:pPr algn="l">
              <a:lnSpc>
                <a:spcPts val="2525"/>
              </a:lnSpc>
            </a:pPr>
            <a:r>
              <a:rPr lang="en-US" sz="1725">
                <a:solidFill>
                  <a:srgbClr val="475569"/>
                </a:solidFill>
                <a:latin typeface="Poppins"/>
                <a:ea typeface="Poppins"/>
                <a:cs typeface="Poppins"/>
                <a:sym typeface="Poppins"/>
              </a:rPr>
              <a:t>Titles state the finding. “Three routes fall below 70 percent”, not “On-time rate by route”.</a:t>
            </a:r>
          </a:p>
        </p:txBody>
      </p:sp>
      <p:grpSp>
        <p:nvGrpSpPr>
          <p:cNvPr name="Group 51" id="51"/>
          <p:cNvGrpSpPr/>
          <p:nvPr/>
        </p:nvGrpSpPr>
        <p:grpSpPr>
          <a:xfrm rot="0">
            <a:off x="8595360" y="6319266"/>
            <a:ext cx="7063740" cy="1536192"/>
            <a:chOff x="0" y="0"/>
            <a:chExt cx="9418320" cy="2048256"/>
          </a:xfrm>
        </p:grpSpPr>
        <p:sp>
          <p:nvSpPr>
            <p:cNvPr name="Freeform 52" id="52"/>
            <p:cNvSpPr/>
            <p:nvPr/>
          </p:nvSpPr>
          <p:spPr>
            <a:xfrm flipH="false" flipV="false" rot="0">
              <a:off x="0" y="0"/>
              <a:ext cx="9418320" cy="2048256"/>
            </a:xfrm>
            <a:custGeom>
              <a:avLst/>
              <a:gdLst/>
              <a:ahLst/>
              <a:cxnLst/>
              <a:rect r="r" b="b" t="t" l="l"/>
              <a:pathLst>
                <a:path h="2048256" w="9418320">
                  <a:moveTo>
                    <a:pt x="0" y="182880"/>
                  </a:moveTo>
                  <a:cubicBezTo>
                    <a:pt x="0" y="81915"/>
                    <a:pt x="81915" y="0"/>
                    <a:pt x="182880" y="0"/>
                  </a:cubicBezTo>
                  <a:lnTo>
                    <a:pt x="9235440" y="0"/>
                  </a:lnTo>
                  <a:cubicBezTo>
                    <a:pt x="9336405" y="0"/>
                    <a:pt x="9418320" y="81915"/>
                    <a:pt x="9418320" y="182880"/>
                  </a:cubicBezTo>
                  <a:lnTo>
                    <a:pt x="9418320" y="1865376"/>
                  </a:lnTo>
                  <a:cubicBezTo>
                    <a:pt x="9418320" y="1966341"/>
                    <a:pt x="9336405" y="2048256"/>
                    <a:pt x="9235440" y="2048256"/>
                  </a:cubicBezTo>
                  <a:lnTo>
                    <a:pt x="182880" y="2048256"/>
                  </a:lnTo>
                  <a:cubicBezTo>
                    <a:pt x="81915" y="2048256"/>
                    <a:pt x="0" y="1966341"/>
                    <a:pt x="0" y="1865376"/>
                  </a:cubicBezTo>
                  <a:close/>
                </a:path>
              </a:pathLst>
            </a:custGeom>
            <a:solidFill>
              <a:srgbClr val="FFFFFF"/>
            </a:solidFill>
          </p:spPr>
        </p:sp>
      </p:grpSp>
      <p:grpSp>
        <p:nvGrpSpPr>
          <p:cNvPr name="Group 53" id="53"/>
          <p:cNvGrpSpPr/>
          <p:nvPr/>
        </p:nvGrpSpPr>
        <p:grpSpPr>
          <a:xfrm rot="0">
            <a:off x="8938260" y="6675882"/>
            <a:ext cx="822960" cy="822960"/>
            <a:chOff x="0" y="0"/>
            <a:chExt cx="1097280" cy="1097280"/>
          </a:xfrm>
        </p:grpSpPr>
        <p:sp>
          <p:nvSpPr>
            <p:cNvPr name="Freeform 54" id="5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87F7F"/>
            </a:solidFill>
          </p:spPr>
        </p:sp>
      </p:grpSp>
      <p:grpSp>
        <p:nvGrpSpPr>
          <p:cNvPr name="Group 55" id="55"/>
          <p:cNvGrpSpPr/>
          <p:nvPr/>
        </p:nvGrpSpPr>
        <p:grpSpPr>
          <a:xfrm rot="0">
            <a:off x="8938260" y="6675882"/>
            <a:ext cx="822960" cy="822960"/>
            <a:chOff x="0" y="0"/>
            <a:chExt cx="1097280" cy="1097280"/>
          </a:xfrm>
        </p:grpSpPr>
        <p:sp>
          <p:nvSpPr>
            <p:cNvPr name="Freeform 56" id="5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57" id="57"/>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6</a:t>
              </a:r>
            </a:p>
          </p:txBody>
        </p:sp>
      </p:grpSp>
      <p:sp>
        <p:nvSpPr>
          <p:cNvPr name="TextBox 58" id="58"/>
          <p:cNvSpPr txBox="true"/>
          <p:nvPr/>
        </p:nvSpPr>
        <p:spPr>
          <a:xfrm rot="0">
            <a:off x="10035540" y="6454140"/>
            <a:ext cx="5349240" cy="1236726"/>
          </a:xfrm>
          <a:prstGeom prst="rect">
            <a:avLst/>
          </a:prstGeom>
        </p:spPr>
        <p:txBody>
          <a:bodyPr anchor="t" rtlCol="false" tIns="0" lIns="0" bIns="0" rIns="0">
            <a:spAutoFit/>
          </a:bodyPr>
          <a:lstStyle/>
          <a:p>
            <a:pPr algn="l">
              <a:lnSpc>
                <a:spcPts val="2525"/>
              </a:lnSpc>
            </a:pPr>
            <a:r>
              <a:rPr lang="en-US" sz="1725">
                <a:solidFill>
                  <a:srgbClr val="475569"/>
                </a:solidFill>
                <a:latin typeface="Poppins"/>
                <a:ea typeface="Poppins"/>
                <a:cs typeface="Poppins"/>
                <a:sym typeface="Poppins"/>
              </a:rPr>
              <a:t>Round honestly. 82.0 percent, not 82.04137, and never round in a direction that flatters.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850392" y="480060"/>
            <a:ext cx="4389120" cy="2880360"/>
            <a:chOff x="0" y="0"/>
            <a:chExt cx="5852160" cy="3840480"/>
          </a:xfrm>
        </p:grpSpPr>
        <p:sp>
          <p:nvSpPr>
            <p:cNvPr name="Freeform 12" id="12"/>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3" id="13"/>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02</a:t>
              </a:r>
            </a:p>
          </p:txBody>
        </p:sp>
      </p:grpSp>
      <p:grpSp>
        <p:nvGrpSpPr>
          <p:cNvPr name="Group 14" id="14"/>
          <p:cNvGrpSpPr/>
          <p:nvPr/>
        </p:nvGrpSpPr>
        <p:grpSpPr>
          <a:xfrm rot="0">
            <a:off x="1069848" y="3730752"/>
            <a:ext cx="10149840" cy="466344"/>
            <a:chOff x="0" y="0"/>
            <a:chExt cx="13533120" cy="621792"/>
          </a:xfrm>
        </p:grpSpPr>
        <p:sp>
          <p:nvSpPr>
            <p:cNvPr name="Freeform 15" id="15"/>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16" id="16"/>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TWO</a:t>
              </a:r>
            </a:p>
          </p:txBody>
        </p:sp>
      </p:grpSp>
      <p:grpSp>
        <p:nvGrpSpPr>
          <p:cNvPr name="Group 17" id="17"/>
          <p:cNvGrpSpPr/>
          <p:nvPr/>
        </p:nvGrpSpPr>
        <p:grpSpPr>
          <a:xfrm rot="0">
            <a:off x="1069848" y="4361688"/>
            <a:ext cx="1851660" cy="116586"/>
            <a:chOff x="0" y="0"/>
            <a:chExt cx="2468880" cy="155448"/>
          </a:xfrm>
        </p:grpSpPr>
        <p:sp>
          <p:nvSpPr>
            <p:cNvPr name="Freeform 18" id="18"/>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19" id="19"/>
          <p:cNvGrpSpPr/>
          <p:nvPr/>
        </p:nvGrpSpPr>
        <p:grpSpPr>
          <a:xfrm rot="0">
            <a:off x="1069848" y="4732020"/>
            <a:ext cx="11109960" cy="2194560"/>
            <a:chOff x="0" y="0"/>
            <a:chExt cx="14813280" cy="2926080"/>
          </a:xfrm>
        </p:grpSpPr>
        <p:sp>
          <p:nvSpPr>
            <p:cNvPr name="Freeform 20" id="20"/>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1" id="21"/>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Publishing</a:t>
              </a:r>
            </a:p>
          </p:txBody>
        </p:sp>
      </p:grpSp>
      <p:grpSp>
        <p:nvGrpSpPr>
          <p:cNvPr name="Group 22" id="22"/>
          <p:cNvGrpSpPr/>
          <p:nvPr/>
        </p:nvGrpSpPr>
        <p:grpSpPr>
          <a:xfrm rot="0">
            <a:off x="1645920" y="7283196"/>
            <a:ext cx="9875520" cy="466344"/>
            <a:chOff x="0" y="0"/>
            <a:chExt cx="13167360" cy="621792"/>
          </a:xfrm>
        </p:grpSpPr>
        <p:sp>
          <p:nvSpPr>
            <p:cNvPr name="Freeform 23" id="23"/>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24" id="24"/>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From your machine to her browser</a:t>
              </a:r>
            </a:p>
          </p:txBody>
        </p:sp>
      </p:grpSp>
      <p:grpSp>
        <p:nvGrpSpPr>
          <p:cNvPr name="Group 25" id="25"/>
          <p:cNvGrpSpPr/>
          <p:nvPr/>
        </p:nvGrpSpPr>
        <p:grpSpPr>
          <a:xfrm rot="0">
            <a:off x="1645920" y="7859268"/>
            <a:ext cx="9875520" cy="466344"/>
            <a:chOff x="0" y="0"/>
            <a:chExt cx="13167360" cy="621792"/>
          </a:xfrm>
        </p:grpSpPr>
        <p:sp>
          <p:nvSpPr>
            <p:cNvPr name="Freeform 26" id="26"/>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27" id="27"/>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The refresh stamp that costs one card visual</a:t>
              </a:r>
            </a:p>
          </p:txBody>
        </p:sp>
      </p:grpSp>
      <p:grpSp>
        <p:nvGrpSpPr>
          <p:cNvPr name="Group 28" id="28"/>
          <p:cNvGrpSpPr/>
          <p:nvPr/>
        </p:nvGrpSpPr>
        <p:grpSpPr>
          <a:xfrm rot="0">
            <a:off x="1645920" y="8435340"/>
            <a:ext cx="9875520" cy="466344"/>
            <a:chOff x="0" y="0"/>
            <a:chExt cx="13167360" cy="621792"/>
          </a:xfrm>
        </p:grpSpPr>
        <p:sp>
          <p:nvSpPr>
            <p:cNvPr name="Freeform 29" id="29"/>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0" id="30"/>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What to do without a Pro licence</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38187" y="638175"/>
            <a:ext cx="13575716" cy="1419225"/>
          </a:xfrm>
          <a:prstGeom prst="rect">
            <a:avLst/>
          </a:prstGeom>
        </p:spPr>
        <p:txBody>
          <a:bodyPr anchor="t" rtlCol="false" tIns="0" lIns="0" bIns="0" rIns="0">
            <a:spAutoFit/>
          </a:bodyPr>
          <a:lstStyle/>
          <a:p>
            <a:pPr algn="l">
              <a:lnSpc>
                <a:spcPts val="5400"/>
              </a:lnSpc>
            </a:pPr>
            <a:r>
              <a:rPr lang="en-US" sz="4500">
                <a:solidFill>
                  <a:srgbClr val="388080"/>
                </a:solidFill>
                <a:latin typeface="Poppins"/>
                <a:ea typeface="Poppins"/>
                <a:cs typeface="Poppins"/>
                <a:sym typeface="Poppins"/>
              </a:rPr>
              <a:t>From your machin</a:t>
            </a:r>
            <a:r>
              <a:rPr lang="en-US" sz="4500">
                <a:solidFill>
                  <a:srgbClr val="388080"/>
                </a:solidFill>
                <a:latin typeface="Poppins"/>
                <a:ea typeface="Poppins"/>
                <a:cs typeface="Poppins"/>
                <a:sym typeface="Poppins"/>
              </a:rPr>
              <a:t>e to her browser, or to a file you hand her</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63867" y="2817490"/>
            <a:ext cx="4869180" cy="2057400"/>
            <a:chOff x="0" y="0"/>
            <a:chExt cx="6492240" cy="2743200"/>
          </a:xfrm>
        </p:grpSpPr>
        <p:sp>
          <p:nvSpPr>
            <p:cNvPr name="Freeform 12" id="12"/>
            <p:cNvSpPr/>
            <p:nvPr/>
          </p:nvSpPr>
          <p:spPr>
            <a:xfrm flipH="false" flipV="false" rot="0">
              <a:off x="0" y="0"/>
              <a:ext cx="6492240" cy="2743200"/>
            </a:xfrm>
            <a:custGeom>
              <a:avLst/>
              <a:gdLst/>
              <a:ahLst/>
              <a:cxnLst/>
              <a:rect r="r" b="b" t="t" l="l"/>
              <a:pathLst>
                <a:path h="2743200" w="6492240">
                  <a:moveTo>
                    <a:pt x="0" y="182880"/>
                  </a:moveTo>
                  <a:cubicBezTo>
                    <a:pt x="0" y="81915"/>
                    <a:pt x="81915" y="0"/>
                    <a:pt x="182880" y="0"/>
                  </a:cubicBezTo>
                  <a:lnTo>
                    <a:pt x="6309360" y="0"/>
                  </a:lnTo>
                  <a:cubicBezTo>
                    <a:pt x="6410325" y="0"/>
                    <a:pt x="6492240" y="81915"/>
                    <a:pt x="6492240" y="182880"/>
                  </a:cubicBezTo>
                  <a:lnTo>
                    <a:pt x="6492240" y="2560320"/>
                  </a:lnTo>
                  <a:cubicBezTo>
                    <a:pt x="6492240" y="2661285"/>
                    <a:pt x="6410325" y="2743200"/>
                    <a:pt x="6309360" y="2743200"/>
                  </a:cubicBezTo>
                  <a:lnTo>
                    <a:pt x="182880" y="2743200"/>
                  </a:lnTo>
                  <a:cubicBezTo>
                    <a:pt x="81915" y="2743200"/>
                    <a:pt x="0" y="2661285"/>
                    <a:pt x="0" y="2560320"/>
                  </a:cubicBezTo>
                  <a:close/>
                </a:path>
              </a:pathLst>
            </a:custGeom>
            <a:solidFill>
              <a:srgbClr val="FFFFFF"/>
            </a:solidFill>
          </p:spPr>
        </p:sp>
      </p:grpSp>
      <p:grpSp>
        <p:nvGrpSpPr>
          <p:cNvPr name="Group 13" id="13"/>
          <p:cNvGrpSpPr/>
          <p:nvPr/>
        </p:nvGrpSpPr>
        <p:grpSpPr>
          <a:xfrm rot="0">
            <a:off x="863867" y="3160390"/>
            <a:ext cx="4869180" cy="548640"/>
            <a:chOff x="0" y="0"/>
            <a:chExt cx="6492240" cy="731520"/>
          </a:xfrm>
        </p:grpSpPr>
        <p:sp>
          <p:nvSpPr>
            <p:cNvPr name="Freeform 14" id="14"/>
            <p:cNvSpPr/>
            <p:nvPr/>
          </p:nvSpPr>
          <p:spPr>
            <a:xfrm flipH="false" flipV="false" rot="0">
              <a:off x="0" y="0"/>
              <a:ext cx="6492240" cy="731520"/>
            </a:xfrm>
            <a:custGeom>
              <a:avLst/>
              <a:gdLst/>
              <a:ahLst/>
              <a:cxnLst/>
              <a:rect r="r" b="b" t="t" l="l"/>
              <a:pathLst>
                <a:path h="731520" w="6492240">
                  <a:moveTo>
                    <a:pt x="0" y="0"/>
                  </a:moveTo>
                  <a:lnTo>
                    <a:pt x="6492240" y="0"/>
                  </a:lnTo>
                  <a:lnTo>
                    <a:pt x="6492240" y="731520"/>
                  </a:lnTo>
                  <a:lnTo>
                    <a:pt x="0" y="731520"/>
                  </a:lnTo>
                  <a:close/>
                </a:path>
              </a:pathLst>
            </a:custGeom>
            <a:blipFill>
              <a:blip r:embed="rId9">
                <a:alphaModFix amt="0"/>
              </a:blip>
              <a:stretch>
                <a:fillRect l="0" t="-122929" r="0" b="-122929"/>
              </a:stretch>
            </a:blipFill>
          </p:spPr>
        </p:sp>
        <p:sp>
          <p:nvSpPr>
            <p:cNvPr name="TextBox 15" id="15"/>
            <p:cNvSpPr txBox="true"/>
            <p:nvPr/>
          </p:nvSpPr>
          <p:spPr>
            <a:xfrm>
              <a:off x="0" y="-19050"/>
              <a:ext cx="6492240" cy="750570"/>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Power BI Desktop</a:t>
              </a:r>
            </a:p>
          </p:txBody>
        </p:sp>
      </p:grpSp>
      <p:grpSp>
        <p:nvGrpSpPr>
          <p:cNvPr name="Group 16" id="16"/>
          <p:cNvGrpSpPr/>
          <p:nvPr/>
        </p:nvGrpSpPr>
        <p:grpSpPr>
          <a:xfrm rot="0">
            <a:off x="1138187" y="3846190"/>
            <a:ext cx="4320540" cy="822960"/>
            <a:chOff x="0" y="0"/>
            <a:chExt cx="5760720" cy="1097280"/>
          </a:xfrm>
        </p:grpSpPr>
        <p:sp>
          <p:nvSpPr>
            <p:cNvPr name="Freeform 17" id="17"/>
            <p:cNvSpPr/>
            <p:nvPr/>
          </p:nvSpPr>
          <p:spPr>
            <a:xfrm flipH="false" flipV="false" rot="0">
              <a:off x="0" y="0"/>
              <a:ext cx="5760720" cy="1097280"/>
            </a:xfrm>
            <a:custGeom>
              <a:avLst/>
              <a:gdLst/>
              <a:ahLst/>
              <a:cxnLst/>
              <a:rect r="r" b="b" t="t" l="l"/>
              <a:pathLst>
                <a:path h="1097280" w="5760720">
                  <a:moveTo>
                    <a:pt x="0" y="0"/>
                  </a:moveTo>
                  <a:lnTo>
                    <a:pt x="5760720" y="0"/>
                  </a:lnTo>
                  <a:lnTo>
                    <a:pt x="5760720" y="1097280"/>
                  </a:lnTo>
                  <a:lnTo>
                    <a:pt x="0" y="1097280"/>
                  </a:lnTo>
                  <a:close/>
                </a:path>
              </a:pathLst>
            </a:custGeom>
            <a:blipFill>
              <a:blip r:embed="rId9">
                <a:alphaModFix amt="0"/>
              </a:blip>
              <a:stretch>
                <a:fillRect l="0" t="-52296" r="0" b="-52296"/>
              </a:stretch>
            </a:blipFill>
          </p:spPr>
        </p:sp>
        <p:sp>
          <p:nvSpPr>
            <p:cNvPr name="TextBox 18" id="18"/>
            <p:cNvSpPr txBox="true"/>
            <p:nvPr/>
          </p:nvSpPr>
          <p:spPr>
            <a:xfrm>
              <a:off x="0" y="-47625"/>
              <a:ext cx="5760720" cy="1144905"/>
            </a:xfrm>
            <a:prstGeom prst="rect">
              <a:avLst/>
            </a:prstGeom>
          </p:spPr>
          <p:txBody>
            <a:bodyPr anchor="ctr" rtlCol="false" tIns="0" lIns="0" bIns="0" rIns="0"/>
            <a:lstStyle/>
            <a:p>
              <a:pPr algn="ctr">
                <a:lnSpc>
                  <a:spcPts val="2268"/>
                </a:lnSpc>
              </a:pPr>
              <a:r>
                <a:rPr lang="en-US" sz="1575">
                  <a:solidFill>
                    <a:srgbClr val="64748B"/>
                  </a:solidFill>
                  <a:latin typeface="Poppins"/>
                  <a:ea typeface="Poppins"/>
                  <a:cs typeface="Poppins"/>
                  <a:sym typeface="Poppins"/>
                </a:rPr>
                <a:t>Your file, on your laptop</a:t>
              </a:r>
            </a:p>
          </p:txBody>
        </p:sp>
      </p:grpSp>
      <p:grpSp>
        <p:nvGrpSpPr>
          <p:cNvPr name="Group 19" id="19"/>
          <p:cNvGrpSpPr/>
          <p:nvPr/>
        </p:nvGrpSpPr>
        <p:grpSpPr>
          <a:xfrm rot="0">
            <a:off x="5760479" y="3640450"/>
            <a:ext cx="438912" cy="438912"/>
            <a:chOff x="0" y="0"/>
            <a:chExt cx="585216" cy="585216"/>
          </a:xfrm>
        </p:grpSpPr>
        <p:sp>
          <p:nvSpPr>
            <p:cNvPr name="Freeform 20" id="20"/>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21" id="21"/>
            <p:cNvSpPr txBox="true"/>
            <p:nvPr/>
          </p:nvSpPr>
          <p:spPr>
            <a:xfrm>
              <a:off x="0" y="-19050"/>
              <a:ext cx="585216" cy="604266"/>
            </a:xfrm>
            <a:prstGeom prst="rect">
              <a:avLst/>
            </a:prstGeom>
          </p:spPr>
          <p:txBody>
            <a:bodyPr anchor="ctr" rtlCol="false" tIns="0" lIns="0" bIns="0" rIns="0"/>
            <a:lstStyle/>
            <a:p>
              <a:pPr algn="ctr">
                <a:lnSpc>
                  <a:spcPts val="2649"/>
                </a:lnSpc>
              </a:pPr>
              <a:r>
                <a:rPr lang="en-US" sz="2208" b="true">
                  <a:solidFill>
                    <a:srgbClr val="387F7F"/>
                  </a:solidFill>
                  <a:latin typeface="Poppins Bold"/>
                  <a:ea typeface="Poppins Bold"/>
                  <a:cs typeface="Poppins Bold"/>
                  <a:sym typeface="Poppins Bold"/>
                </a:rPr>
                <a:t>›</a:t>
              </a:r>
            </a:p>
          </p:txBody>
        </p:sp>
      </p:grpSp>
      <p:grpSp>
        <p:nvGrpSpPr>
          <p:cNvPr name="Group 22" id="22"/>
          <p:cNvGrpSpPr/>
          <p:nvPr/>
        </p:nvGrpSpPr>
        <p:grpSpPr>
          <a:xfrm rot="0">
            <a:off x="6144527" y="2817490"/>
            <a:ext cx="4869180" cy="2057400"/>
            <a:chOff x="0" y="0"/>
            <a:chExt cx="6492240" cy="2743200"/>
          </a:xfrm>
        </p:grpSpPr>
        <p:sp>
          <p:nvSpPr>
            <p:cNvPr name="Freeform 23" id="23"/>
            <p:cNvSpPr/>
            <p:nvPr/>
          </p:nvSpPr>
          <p:spPr>
            <a:xfrm flipH="false" flipV="false" rot="0">
              <a:off x="0" y="0"/>
              <a:ext cx="6492240" cy="2743200"/>
            </a:xfrm>
            <a:custGeom>
              <a:avLst/>
              <a:gdLst/>
              <a:ahLst/>
              <a:cxnLst/>
              <a:rect r="r" b="b" t="t" l="l"/>
              <a:pathLst>
                <a:path h="2743200" w="6492240">
                  <a:moveTo>
                    <a:pt x="0" y="182880"/>
                  </a:moveTo>
                  <a:cubicBezTo>
                    <a:pt x="0" y="81915"/>
                    <a:pt x="81915" y="0"/>
                    <a:pt x="182880" y="0"/>
                  </a:cubicBezTo>
                  <a:lnTo>
                    <a:pt x="6309360" y="0"/>
                  </a:lnTo>
                  <a:cubicBezTo>
                    <a:pt x="6410325" y="0"/>
                    <a:pt x="6492240" y="81915"/>
                    <a:pt x="6492240" y="182880"/>
                  </a:cubicBezTo>
                  <a:lnTo>
                    <a:pt x="6492240" y="2560320"/>
                  </a:lnTo>
                  <a:cubicBezTo>
                    <a:pt x="6492240" y="2661285"/>
                    <a:pt x="6410325" y="2743200"/>
                    <a:pt x="6309360" y="2743200"/>
                  </a:cubicBezTo>
                  <a:lnTo>
                    <a:pt x="182880" y="2743200"/>
                  </a:lnTo>
                  <a:cubicBezTo>
                    <a:pt x="81915" y="2743200"/>
                    <a:pt x="0" y="2661285"/>
                    <a:pt x="0" y="2560320"/>
                  </a:cubicBezTo>
                  <a:close/>
                </a:path>
              </a:pathLst>
            </a:custGeom>
            <a:solidFill>
              <a:srgbClr val="FFFFFF"/>
            </a:solidFill>
          </p:spPr>
        </p:sp>
      </p:grpSp>
      <p:grpSp>
        <p:nvGrpSpPr>
          <p:cNvPr name="Group 24" id="24"/>
          <p:cNvGrpSpPr/>
          <p:nvPr/>
        </p:nvGrpSpPr>
        <p:grpSpPr>
          <a:xfrm rot="0">
            <a:off x="6144527" y="3160390"/>
            <a:ext cx="4869180" cy="548640"/>
            <a:chOff x="0" y="0"/>
            <a:chExt cx="6492240" cy="731520"/>
          </a:xfrm>
        </p:grpSpPr>
        <p:sp>
          <p:nvSpPr>
            <p:cNvPr name="Freeform 25" id="25"/>
            <p:cNvSpPr/>
            <p:nvPr/>
          </p:nvSpPr>
          <p:spPr>
            <a:xfrm flipH="false" flipV="false" rot="0">
              <a:off x="0" y="0"/>
              <a:ext cx="6492240" cy="731520"/>
            </a:xfrm>
            <a:custGeom>
              <a:avLst/>
              <a:gdLst/>
              <a:ahLst/>
              <a:cxnLst/>
              <a:rect r="r" b="b" t="t" l="l"/>
              <a:pathLst>
                <a:path h="731520" w="6492240">
                  <a:moveTo>
                    <a:pt x="0" y="0"/>
                  </a:moveTo>
                  <a:lnTo>
                    <a:pt x="6492240" y="0"/>
                  </a:lnTo>
                  <a:lnTo>
                    <a:pt x="6492240" y="731520"/>
                  </a:lnTo>
                  <a:lnTo>
                    <a:pt x="0" y="731520"/>
                  </a:lnTo>
                  <a:close/>
                </a:path>
              </a:pathLst>
            </a:custGeom>
            <a:blipFill>
              <a:blip r:embed="rId9">
                <a:alphaModFix amt="0"/>
              </a:blip>
              <a:stretch>
                <a:fillRect l="0" t="-122929" r="0" b="-122929"/>
              </a:stretch>
            </a:blipFill>
          </p:spPr>
        </p:sp>
        <p:sp>
          <p:nvSpPr>
            <p:cNvPr name="TextBox 26" id="26"/>
            <p:cNvSpPr txBox="true"/>
            <p:nvPr/>
          </p:nvSpPr>
          <p:spPr>
            <a:xfrm>
              <a:off x="0" y="-19050"/>
              <a:ext cx="6492240" cy="750570"/>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Publish</a:t>
              </a:r>
            </a:p>
          </p:txBody>
        </p:sp>
      </p:grpSp>
      <p:grpSp>
        <p:nvGrpSpPr>
          <p:cNvPr name="Group 27" id="27"/>
          <p:cNvGrpSpPr/>
          <p:nvPr/>
        </p:nvGrpSpPr>
        <p:grpSpPr>
          <a:xfrm rot="0">
            <a:off x="6418847" y="3846190"/>
            <a:ext cx="4320540" cy="822960"/>
            <a:chOff x="0" y="0"/>
            <a:chExt cx="5760720" cy="1097280"/>
          </a:xfrm>
        </p:grpSpPr>
        <p:sp>
          <p:nvSpPr>
            <p:cNvPr name="Freeform 28" id="28"/>
            <p:cNvSpPr/>
            <p:nvPr/>
          </p:nvSpPr>
          <p:spPr>
            <a:xfrm flipH="false" flipV="false" rot="0">
              <a:off x="0" y="0"/>
              <a:ext cx="5760720" cy="1097280"/>
            </a:xfrm>
            <a:custGeom>
              <a:avLst/>
              <a:gdLst/>
              <a:ahLst/>
              <a:cxnLst/>
              <a:rect r="r" b="b" t="t" l="l"/>
              <a:pathLst>
                <a:path h="1097280" w="5760720">
                  <a:moveTo>
                    <a:pt x="0" y="0"/>
                  </a:moveTo>
                  <a:lnTo>
                    <a:pt x="5760720" y="0"/>
                  </a:lnTo>
                  <a:lnTo>
                    <a:pt x="5760720" y="1097280"/>
                  </a:lnTo>
                  <a:lnTo>
                    <a:pt x="0" y="1097280"/>
                  </a:lnTo>
                  <a:close/>
                </a:path>
              </a:pathLst>
            </a:custGeom>
            <a:blipFill>
              <a:blip r:embed="rId9">
                <a:alphaModFix amt="0"/>
              </a:blip>
              <a:stretch>
                <a:fillRect l="0" t="-52296" r="0" b="-52296"/>
              </a:stretch>
            </a:blipFill>
          </p:spPr>
        </p:sp>
        <p:sp>
          <p:nvSpPr>
            <p:cNvPr name="TextBox 29" id="29"/>
            <p:cNvSpPr txBox="true"/>
            <p:nvPr/>
          </p:nvSpPr>
          <p:spPr>
            <a:xfrm>
              <a:off x="0" y="-47625"/>
              <a:ext cx="5760720" cy="1144905"/>
            </a:xfrm>
            <a:prstGeom prst="rect">
              <a:avLst/>
            </a:prstGeom>
          </p:spPr>
          <p:txBody>
            <a:bodyPr anchor="ctr" rtlCol="false" tIns="0" lIns="0" bIns="0" rIns="0"/>
            <a:lstStyle/>
            <a:p>
              <a:pPr algn="ctr">
                <a:lnSpc>
                  <a:spcPts val="2268"/>
                </a:lnSpc>
              </a:pPr>
              <a:r>
                <a:rPr lang="en-US" sz="1575">
                  <a:solidFill>
                    <a:srgbClr val="64748B"/>
                  </a:solidFill>
                  <a:latin typeface="Poppins"/>
                  <a:ea typeface="Poppins"/>
                  <a:cs typeface="Poppins"/>
                  <a:sym typeface="Poppins"/>
                </a:rPr>
                <a:t>One click, one workspace</a:t>
              </a:r>
            </a:p>
          </p:txBody>
        </p:sp>
      </p:grpSp>
      <p:grpSp>
        <p:nvGrpSpPr>
          <p:cNvPr name="Group 30" id="30"/>
          <p:cNvGrpSpPr/>
          <p:nvPr/>
        </p:nvGrpSpPr>
        <p:grpSpPr>
          <a:xfrm rot="0">
            <a:off x="11041139" y="3640450"/>
            <a:ext cx="438912" cy="438912"/>
            <a:chOff x="0" y="0"/>
            <a:chExt cx="585216" cy="585216"/>
          </a:xfrm>
        </p:grpSpPr>
        <p:sp>
          <p:nvSpPr>
            <p:cNvPr name="Freeform 31" id="31"/>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32" id="32"/>
            <p:cNvSpPr txBox="true"/>
            <p:nvPr/>
          </p:nvSpPr>
          <p:spPr>
            <a:xfrm>
              <a:off x="0" y="-19050"/>
              <a:ext cx="585216" cy="604266"/>
            </a:xfrm>
            <a:prstGeom prst="rect">
              <a:avLst/>
            </a:prstGeom>
          </p:spPr>
          <p:txBody>
            <a:bodyPr anchor="ctr" rtlCol="false" tIns="0" lIns="0" bIns="0" rIns="0"/>
            <a:lstStyle/>
            <a:p>
              <a:pPr algn="ctr">
                <a:lnSpc>
                  <a:spcPts val="2649"/>
                </a:lnSpc>
              </a:pPr>
              <a:r>
                <a:rPr lang="en-US" sz="2208" b="true">
                  <a:solidFill>
                    <a:srgbClr val="387F7F"/>
                  </a:solidFill>
                  <a:latin typeface="Poppins Bold"/>
                  <a:ea typeface="Poppins Bold"/>
                  <a:cs typeface="Poppins Bold"/>
                  <a:sym typeface="Poppins Bold"/>
                </a:rPr>
                <a:t>›</a:t>
              </a:r>
            </a:p>
          </p:txBody>
        </p:sp>
      </p:grpSp>
      <p:grpSp>
        <p:nvGrpSpPr>
          <p:cNvPr name="Group 33" id="33"/>
          <p:cNvGrpSpPr/>
          <p:nvPr/>
        </p:nvGrpSpPr>
        <p:grpSpPr>
          <a:xfrm rot="0">
            <a:off x="11425187" y="2817490"/>
            <a:ext cx="4869180" cy="2057400"/>
            <a:chOff x="0" y="0"/>
            <a:chExt cx="6492240" cy="2743200"/>
          </a:xfrm>
        </p:grpSpPr>
        <p:sp>
          <p:nvSpPr>
            <p:cNvPr name="Freeform 34" id="34"/>
            <p:cNvSpPr/>
            <p:nvPr/>
          </p:nvSpPr>
          <p:spPr>
            <a:xfrm flipH="false" flipV="false" rot="0">
              <a:off x="0" y="0"/>
              <a:ext cx="6492240" cy="2743200"/>
            </a:xfrm>
            <a:custGeom>
              <a:avLst/>
              <a:gdLst/>
              <a:ahLst/>
              <a:cxnLst/>
              <a:rect r="r" b="b" t="t" l="l"/>
              <a:pathLst>
                <a:path h="2743200" w="6492240">
                  <a:moveTo>
                    <a:pt x="0" y="182880"/>
                  </a:moveTo>
                  <a:cubicBezTo>
                    <a:pt x="0" y="81915"/>
                    <a:pt x="81915" y="0"/>
                    <a:pt x="182880" y="0"/>
                  </a:cubicBezTo>
                  <a:lnTo>
                    <a:pt x="6309360" y="0"/>
                  </a:lnTo>
                  <a:cubicBezTo>
                    <a:pt x="6410325" y="0"/>
                    <a:pt x="6492240" y="81915"/>
                    <a:pt x="6492240" y="182880"/>
                  </a:cubicBezTo>
                  <a:lnTo>
                    <a:pt x="6492240" y="2560320"/>
                  </a:lnTo>
                  <a:cubicBezTo>
                    <a:pt x="6492240" y="2661285"/>
                    <a:pt x="6410325" y="2743200"/>
                    <a:pt x="6309360" y="2743200"/>
                  </a:cubicBezTo>
                  <a:lnTo>
                    <a:pt x="182880" y="2743200"/>
                  </a:lnTo>
                  <a:cubicBezTo>
                    <a:pt x="81915" y="2743200"/>
                    <a:pt x="0" y="2661285"/>
                    <a:pt x="0" y="2560320"/>
                  </a:cubicBezTo>
                  <a:close/>
                </a:path>
              </a:pathLst>
            </a:custGeom>
            <a:solidFill>
              <a:srgbClr val="387F7F"/>
            </a:solidFill>
          </p:spPr>
        </p:sp>
      </p:grpSp>
      <p:grpSp>
        <p:nvGrpSpPr>
          <p:cNvPr name="Group 35" id="35"/>
          <p:cNvGrpSpPr/>
          <p:nvPr/>
        </p:nvGrpSpPr>
        <p:grpSpPr>
          <a:xfrm rot="0">
            <a:off x="11425187" y="3160390"/>
            <a:ext cx="4869180" cy="548640"/>
            <a:chOff x="0" y="0"/>
            <a:chExt cx="6492240" cy="731520"/>
          </a:xfrm>
        </p:grpSpPr>
        <p:sp>
          <p:nvSpPr>
            <p:cNvPr name="Freeform 36" id="36"/>
            <p:cNvSpPr/>
            <p:nvPr/>
          </p:nvSpPr>
          <p:spPr>
            <a:xfrm flipH="false" flipV="false" rot="0">
              <a:off x="0" y="0"/>
              <a:ext cx="6492240" cy="731520"/>
            </a:xfrm>
            <a:custGeom>
              <a:avLst/>
              <a:gdLst/>
              <a:ahLst/>
              <a:cxnLst/>
              <a:rect r="r" b="b" t="t" l="l"/>
              <a:pathLst>
                <a:path h="731520" w="6492240">
                  <a:moveTo>
                    <a:pt x="0" y="0"/>
                  </a:moveTo>
                  <a:lnTo>
                    <a:pt x="6492240" y="0"/>
                  </a:lnTo>
                  <a:lnTo>
                    <a:pt x="6492240" y="731520"/>
                  </a:lnTo>
                  <a:lnTo>
                    <a:pt x="0" y="731520"/>
                  </a:lnTo>
                  <a:close/>
                </a:path>
              </a:pathLst>
            </a:custGeom>
            <a:blipFill>
              <a:blip r:embed="rId9">
                <a:alphaModFix amt="0"/>
              </a:blip>
              <a:stretch>
                <a:fillRect l="0" t="-122929" r="0" b="-122929"/>
              </a:stretch>
            </a:blipFill>
          </p:spPr>
        </p:sp>
        <p:sp>
          <p:nvSpPr>
            <p:cNvPr name="TextBox 37" id="37"/>
            <p:cNvSpPr txBox="true"/>
            <p:nvPr/>
          </p:nvSpPr>
          <p:spPr>
            <a:xfrm>
              <a:off x="0" y="-19050"/>
              <a:ext cx="6492240" cy="750570"/>
            </a:xfrm>
            <a:prstGeom prst="rect">
              <a:avLst/>
            </a:prstGeom>
          </p:spPr>
          <p:txBody>
            <a:bodyPr anchor="ctr" rtlCol="false" tIns="0" lIns="0" bIns="0" rIns="0"/>
            <a:lstStyle/>
            <a:p>
              <a:pPr algn="ctr">
                <a:lnSpc>
                  <a:spcPts val="2520"/>
                </a:lnSpc>
              </a:pPr>
              <a:r>
                <a:rPr lang="en-US" sz="2100" b="true">
                  <a:solidFill>
                    <a:srgbClr val="FFFFFF"/>
                  </a:solidFill>
                  <a:latin typeface="Poppins Bold"/>
                  <a:ea typeface="Poppins Bold"/>
                  <a:cs typeface="Poppins Bold"/>
                  <a:sym typeface="Poppins Bold"/>
                </a:rPr>
                <a:t>My workspace</a:t>
              </a:r>
            </a:p>
          </p:txBody>
        </p:sp>
      </p:grpSp>
      <p:grpSp>
        <p:nvGrpSpPr>
          <p:cNvPr name="Group 38" id="38"/>
          <p:cNvGrpSpPr/>
          <p:nvPr/>
        </p:nvGrpSpPr>
        <p:grpSpPr>
          <a:xfrm rot="0">
            <a:off x="11699507" y="3846190"/>
            <a:ext cx="4320540" cy="822960"/>
            <a:chOff x="0" y="0"/>
            <a:chExt cx="5760720" cy="1097280"/>
          </a:xfrm>
        </p:grpSpPr>
        <p:sp>
          <p:nvSpPr>
            <p:cNvPr name="Freeform 39" id="39"/>
            <p:cNvSpPr/>
            <p:nvPr/>
          </p:nvSpPr>
          <p:spPr>
            <a:xfrm flipH="false" flipV="false" rot="0">
              <a:off x="0" y="0"/>
              <a:ext cx="5760720" cy="1097280"/>
            </a:xfrm>
            <a:custGeom>
              <a:avLst/>
              <a:gdLst/>
              <a:ahLst/>
              <a:cxnLst/>
              <a:rect r="r" b="b" t="t" l="l"/>
              <a:pathLst>
                <a:path h="1097280" w="5760720">
                  <a:moveTo>
                    <a:pt x="0" y="0"/>
                  </a:moveTo>
                  <a:lnTo>
                    <a:pt x="5760720" y="0"/>
                  </a:lnTo>
                  <a:lnTo>
                    <a:pt x="5760720" y="1097280"/>
                  </a:lnTo>
                  <a:lnTo>
                    <a:pt x="0" y="1097280"/>
                  </a:lnTo>
                  <a:close/>
                </a:path>
              </a:pathLst>
            </a:custGeom>
            <a:blipFill>
              <a:blip r:embed="rId9">
                <a:alphaModFix amt="0"/>
              </a:blip>
              <a:stretch>
                <a:fillRect l="0" t="-52296" r="0" b="-52296"/>
              </a:stretch>
            </a:blipFill>
          </p:spPr>
        </p:sp>
        <p:sp>
          <p:nvSpPr>
            <p:cNvPr name="TextBox 40" id="40"/>
            <p:cNvSpPr txBox="true"/>
            <p:nvPr/>
          </p:nvSpPr>
          <p:spPr>
            <a:xfrm>
              <a:off x="0" y="-47625"/>
              <a:ext cx="5760720" cy="1144905"/>
            </a:xfrm>
            <a:prstGeom prst="rect">
              <a:avLst/>
            </a:prstGeom>
          </p:spPr>
          <p:txBody>
            <a:bodyPr anchor="ctr" rtlCol="false" tIns="0" lIns="0" bIns="0" rIns="0"/>
            <a:lstStyle/>
            <a:p>
              <a:pPr algn="ctr">
                <a:lnSpc>
                  <a:spcPts val="2268"/>
                </a:lnSpc>
              </a:pPr>
              <a:r>
                <a:rPr lang="en-US" sz="1575">
                  <a:solidFill>
                    <a:srgbClr val="C3DAD9"/>
                  </a:solidFill>
                  <a:latin typeface="Poppins"/>
                  <a:ea typeface="Poppins"/>
                  <a:cs typeface="Poppins"/>
                  <a:sym typeface="Poppins"/>
                </a:rPr>
                <a:t>Yours to open. Sharing needs Pro.</a:t>
              </a:r>
            </a:p>
          </p:txBody>
        </p:sp>
      </p:grpSp>
      <p:sp>
        <p:nvSpPr>
          <p:cNvPr name="TextBox 41" id="41"/>
          <p:cNvSpPr txBox="true"/>
          <p:nvPr/>
        </p:nvSpPr>
        <p:spPr>
          <a:xfrm rot="0">
            <a:off x="863867" y="5269225"/>
            <a:ext cx="14744700" cy="1594485"/>
          </a:xfrm>
          <a:prstGeom prst="rect">
            <a:avLst/>
          </a:prstGeom>
        </p:spPr>
        <p:txBody>
          <a:bodyPr anchor="t" rtlCol="false" tIns="0" lIns="0" bIns="0" rIns="0">
            <a:spAutoFit/>
          </a:bodyPr>
          <a:lstStyle/>
          <a:p>
            <a:pPr algn="l">
              <a:lnSpc>
                <a:spcPts val="3276"/>
              </a:lnSpc>
            </a:pPr>
            <a:r>
              <a:rPr lang="en-US" sz="2100">
                <a:solidFill>
                  <a:srgbClr val="475569"/>
                </a:solidFill>
                <a:latin typeface="Poppins"/>
                <a:ea typeface="Poppins"/>
                <a:cs typeface="Poppins"/>
                <a:sym typeface="Poppins"/>
              </a:rPr>
              <a:t>Publish sends the report to a workspace in the Power BI Service. On a Pro licence, Adaeze opens that report herself at a link, in a browser or the mobile app, without needing Power BI Desktop or your file. On a free account, the workspace is yours alone: you can open it, but nobody else can, because sharing outside your own workspace is a Pro feature.</a:t>
            </a:r>
          </a:p>
        </p:txBody>
      </p:sp>
      <p:grpSp>
        <p:nvGrpSpPr>
          <p:cNvPr name="Group 42" id="42"/>
          <p:cNvGrpSpPr/>
          <p:nvPr/>
        </p:nvGrpSpPr>
        <p:grpSpPr>
          <a:xfrm rot="0">
            <a:off x="863867" y="7069450"/>
            <a:ext cx="14744700" cy="1783080"/>
            <a:chOff x="0" y="0"/>
            <a:chExt cx="19659600" cy="2377440"/>
          </a:xfrm>
        </p:grpSpPr>
        <p:sp>
          <p:nvSpPr>
            <p:cNvPr name="Freeform 43" id="43"/>
            <p:cNvSpPr/>
            <p:nvPr/>
          </p:nvSpPr>
          <p:spPr>
            <a:xfrm flipH="false" flipV="false" rot="0">
              <a:off x="0" y="0"/>
              <a:ext cx="19659600" cy="2377440"/>
            </a:xfrm>
            <a:custGeom>
              <a:avLst/>
              <a:gdLst/>
              <a:ahLst/>
              <a:cxnLst/>
              <a:rect r="r" b="b" t="t" l="l"/>
              <a:pathLst>
                <a:path h="2377440" w="19659600">
                  <a:moveTo>
                    <a:pt x="0" y="164592"/>
                  </a:moveTo>
                  <a:cubicBezTo>
                    <a:pt x="0" y="73660"/>
                    <a:pt x="73660" y="0"/>
                    <a:pt x="164592" y="0"/>
                  </a:cubicBezTo>
                  <a:lnTo>
                    <a:pt x="19495008" y="0"/>
                  </a:lnTo>
                  <a:cubicBezTo>
                    <a:pt x="19585939" y="0"/>
                    <a:pt x="19659600" y="73660"/>
                    <a:pt x="19659600" y="164592"/>
                  </a:cubicBezTo>
                  <a:lnTo>
                    <a:pt x="19659600" y="2212848"/>
                  </a:lnTo>
                  <a:cubicBezTo>
                    <a:pt x="19659600" y="2303780"/>
                    <a:pt x="19585939" y="2377440"/>
                    <a:pt x="19495008" y="2377440"/>
                  </a:cubicBezTo>
                  <a:lnTo>
                    <a:pt x="164592" y="2377440"/>
                  </a:lnTo>
                  <a:cubicBezTo>
                    <a:pt x="73660" y="2377440"/>
                    <a:pt x="0" y="2303780"/>
                    <a:pt x="0" y="2212848"/>
                  </a:cubicBezTo>
                  <a:close/>
                </a:path>
              </a:pathLst>
            </a:custGeom>
            <a:solidFill>
              <a:srgbClr val="FFFFFF"/>
            </a:solidFill>
          </p:spPr>
        </p:sp>
      </p:grpSp>
      <p:grpSp>
        <p:nvGrpSpPr>
          <p:cNvPr name="Group 44" id="44"/>
          <p:cNvGrpSpPr/>
          <p:nvPr/>
        </p:nvGrpSpPr>
        <p:grpSpPr>
          <a:xfrm rot="0">
            <a:off x="863867" y="7069450"/>
            <a:ext cx="102870" cy="1783080"/>
            <a:chOff x="0" y="0"/>
            <a:chExt cx="137160" cy="2377440"/>
          </a:xfrm>
        </p:grpSpPr>
        <p:sp>
          <p:nvSpPr>
            <p:cNvPr name="Freeform 45" id="45"/>
            <p:cNvSpPr/>
            <p:nvPr/>
          </p:nvSpPr>
          <p:spPr>
            <a:xfrm flipH="false" flipV="false" rot="0">
              <a:off x="0" y="0"/>
              <a:ext cx="137160" cy="2377440"/>
            </a:xfrm>
            <a:custGeom>
              <a:avLst/>
              <a:gdLst/>
              <a:ahLst/>
              <a:cxnLst/>
              <a:rect r="r" b="b" t="t" l="l"/>
              <a:pathLst>
                <a:path h="2377440" w="137160">
                  <a:moveTo>
                    <a:pt x="0" y="0"/>
                  </a:moveTo>
                  <a:lnTo>
                    <a:pt x="137160" y="0"/>
                  </a:lnTo>
                  <a:lnTo>
                    <a:pt x="137160" y="2377440"/>
                  </a:lnTo>
                  <a:lnTo>
                    <a:pt x="0" y="2377440"/>
                  </a:lnTo>
                  <a:close/>
                </a:path>
              </a:pathLst>
            </a:custGeom>
            <a:solidFill>
              <a:srgbClr val="387F7F"/>
            </a:solidFill>
          </p:spPr>
        </p:sp>
      </p:grpSp>
      <p:grpSp>
        <p:nvGrpSpPr>
          <p:cNvPr name="Group 46" id="46"/>
          <p:cNvGrpSpPr/>
          <p:nvPr/>
        </p:nvGrpSpPr>
        <p:grpSpPr>
          <a:xfrm rot="0">
            <a:off x="1275347" y="7412350"/>
            <a:ext cx="754380" cy="754380"/>
            <a:chOff x="0" y="0"/>
            <a:chExt cx="1005840" cy="1005840"/>
          </a:xfrm>
        </p:grpSpPr>
        <p:sp>
          <p:nvSpPr>
            <p:cNvPr name="Freeform 47" id="4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48" id="48"/>
          <p:cNvGrpSpPr/>
          <p:nvPr/>
        </p:nvGrpSpPr>
        <p:grpSpPr>
          <a:xfrm rot="0">
            <a:off x="1275347" y="7412350"/>
            <a:ext cx="754380" cy="754380"/>
            <a:chOff x="0" y="0"/>
            <a:chExt cx="1005840" cy="1005840"/>
          </a:xfrm>
        </p:grpSpPr>
        <p:sp>
          <p:nvSpPr>
            <p:cNvPr name="Freeform 49" id="49"/>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50" id="50"/>
            <p:cNvSpPr txBox="true"/>
            <p:nvPr/>
          </p:nvSpPr>
          <p:spPr>
            <a:xfrm>
              <a:off x="0" y="-19050"/>
              <a:ext cx="1005840" cy="102489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a:t>
              </a:r>
            </a:p>
          </p:txBody>
        </p:sp>
      </p:grpSp>
      <p:sp>
        <p:nvSpPr>
          <p:cNvPr name="TextBox 51" id="51"/>
          <p:cNvSpPr txBox="true"/>
          <p:nvPr/>
        </p:nvSpPr>
        <p:spPr>
          <a:xfrm rot="0">
            <a:off x="2372627" y="7162033"/>
            <a:ext cx="12755880" cy="1594485"/>
          </a:xfrm>
          <a:prstGeom prst="rect">
            <a:avLst/>
          </a:prstGeom>
        </p:spPr>
        <p:txBody>
          <a:bodyPr anchor="t" rtlCol="false" tIns="0" lIns="0" bIns="0" rIns="0">
            <a:spAutoFit/>
          </a:bodyPr>
          <a:lstStyle/>
          <a:p>
            <a:pPr algn="l">
              <a:lnSpc>
                <a:spcPts val="3110"/>
              </a:lnSpc>
            </a:pPr>
            <a:r>
              <a:rPr lang="en-US" sz="2025" b="true">
                <a:solidFill>
                  <a:srgbClr val="0A1A23"/>
                </a:solidFill>
                <a:latin typeface="Poppins Bold"/>
                <a:ea typeface="Poppins Bold"/>
                <a:cs typeface="Poppins Bold"/>
                <a:sym typeface="Poppins Bold"/>
              </a:rPr>
              <a:t>No Pro licence? Export instead. File → Export → PDF or PowerPoint gives Adaeze the same dashboard as a file she can open immediately. It will not refresh itself, but it is a real, honest deliverable, and it is what you submit for this module.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586239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A dashboard that do</a:t>
            </a:r>
            <a:r>
              <a:rPr lang="en-US" sz="5000">
                <a:solidFill>
                  <a:srgbClr val="388080"/>
                </a:solidFill>
                <a:latin typeface="Poppins"/>
                <a:ea typeface="Poppins"/>
                <a:cs typeface="Poppins"/>
                <a:sym typeface="Poppins"/>
              </a:rPr>
              <a:t>es not refresh is a screenshot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95350" y="2653660"/>
            <a:ext cx="14744700" cy="2331720"/>
            <a:chOff x="0" y="0"/>
            <a:chExt cx="19659600" cy="3108960"/>
          </a:xfrm>
        </p:grpSpPr>
        <p:sp>
          <p:nvSpPr>
            <p:cNvPr name="Freeform 12" id="12"/>
            <p:cNvSpPr/>
            <p:nvPr/>
          </p:nvSpPr>
          <p:spPr>
            <a:xfrm flipH="false" flipV="false" rot="0">
              <a:off x="0" y="0"/>
              <a:ext cx="19659600" cy="3108960"/>
            </a:xfrm>
            <a:custGeom>
              <a:avLst/>
              <a:gdLst/>
              <a:ahLst/>
              <a:cxnLst/>
              <a:rect r="r" b="b" t="t" l="l"/>
              <a:pathLst>
                <a:path h="3108960" w="19659600">
                  <a:moveTo>
                    <a:pt x="0" y="182880"/>
                  </a:moveTo>
                  <a:cubicBezTo>
                    <a:pt x="0" y="81915"/>
                    <a:pt x="81915" y="0"/>
                    <a:pt x="182880" y="0"/>
                  </a:cubicBezTo>
                  <a:lnTo>
                    <a:pt x="19476720" y="0"/>
                  </a:lnTo>
                  <a:cubicBezTo>
                    <a:pt x="19577684" y="0"/>
                    <a:pt x="19659600" y="81915"/>
                    <a:pt x="19659600" y="182880"/>
                  </a:cubicBezTo>
                  <a:lnTo>
                    <a:pt x="19659600" y="2926080"/>
                  </a:lnTo>
                  <a:cubicBezTo>
                    <a:pt x="19659600" y="3027045"/>
                    <a:pt x="19577684" y="3108960"/>
                    <a:pt x="19476720" y="3108960"/>
                  </a:cubicBezTo>
                  <a:lnTo>
                    <a:pt x="182880" y="3108960"/>
                  </a:lnTo>
                  <a:cubicBezTo>
                    <a:pt x="81915" y="3108960"/>
                    <a:pt x="0" y="3027045"/>
                    <a:pt x="0" y="2926080"/>
                  </a:cubicBezTo>
                  <a:close/>
                </a:path>
              </a:pathLst>
            </a:custGeom>
            <a:solidFill>
              <a:srgbClr val="FFFFFF"/>
            </a:solidFill>
          </p:spPr>
        </p:sp>
      </p:grpSp>
      <p:sp>
        <p:nvSpPr>
          <p:cNvPr name="TextBox 13" id="13"/>
          <p:cNvSpPr txBox="true"/>
          <p:nvPr/>
        </p:nvSpPr>
        <p:spPr>
          <a:xfrm rot="0">
            <a:off x="1375410" y="2823205"/>
            <a:ext cx="13853160" cy="1956435"/>
          </a:xfrm>
          <a:prstGeom prst="rect">
            <a:avLst/>
          </a:prstGeom>
        </p:spPr>
        <p:txBody>
          <a:bodyPr anchor="t" rtlCol="false" tIns="0" lIns="0" bIns="0" rIns="0">
            <a:spAutoFit/>
          </a:bodyPr>
          <a:lstStyle/>
          <a:p>
            <a:pPr algn="l">
              <a:lnSpc>
                <a:spcPts val="3564"/>
              </a:lnSpc>
            </a:pPr>
            <a:r>
              <a:rPr lang="en-US" sz="2250">
                <a:solidFill>
                  <a:srgbClr val="475569"/>
                </a:solidFill>
                <a:latin typeface="Poppins"/>
                <a:ea typeface="Poppins"/>
                <a:cs typeface="Poppins"/>
                <a:sym typeface="Poppins"/>
              </a:rPr>
              <a:t>Scheduled refresh is what makes the product live. It also introduces a new failure mode: the report keeps displaying yesterday's numbers with full confidence when the refresh fails overnight, and nobody notices because it looks exactly the same.</a:t>
            </a:r>
          </a:p>
        </p:txBody>
      </p:sp>
      <p:grpSp>
        <p:nvGrpSpPr>
          <p:cNvPr name="Group 14" id="14"/>
          <p:cNvGrpSpPr/>
          <p:nvPr/>
        </p:nvGrpSpPr>
        <p:grpSpPr>
          <a:xfrm rot="0">
            <a:off x="895350" y="5328280"/>
            <a:ext cx="14744700" cy="1508760"/>
            <a:chOff x="0" y="0"/>
            <a:chExt cx="19659600" cy="2011680"/>
          </a:xfrm>
        </p:grpSpPr>
        <p:sp>
          <p:nvSpPr>
            <p:cNvPr name="Freeform 15" id="15"/>
            <p:cNvSpPr/>
            <p:nvPr/>
          </p:nvSpPr>
          <p:spPr>
            <a:xfrm flipH="false" flipV="false" rot="0">
              <a:off x="0" y="0"/>
              <a:ext cx="19659600" cy="2011680"/>
            </a:xfrm>
            <a:custGeom>
              <a:avLst/>
              <a:gdLst/>
              <a:ahLst/>
              <a:cxnLst/>
              <a:rect r="r" b="b" t="t" l="l"/>
              <a:pathLst>
                <a:path h="2011680" w="19659600">
                  <a:moveTo>
                    <a:pt x="0" y="164592"/>
                  </a:moveTo>
                  <a:cubicBezTo>
                    <a:pt x="0" y="73660"/>
                    <a:pt x="73660" y="0"/>
                    <a:pt x="164592" y="0"/>
                  </a:cubicBezTo>
                  <a:lnTo>
                    <a:pt x="19495008" y="0"/>
                  </a:lnTo>
                  <a:cubicBezTo>
                    <a:pt x="19585939" y="0"/>
                    <a:pt x="19659600" y="73660"/>
                    <a:pt x="19659600" y="164592"/>
                  </a:cubicBezTo>
                  <a:lnTo>
                    <a:pt x="19659600" y="1847088"/>
                  </a:lnTo>
                  <a:cubicBezTo>
                    <a:pt x="19659600" y="1938020"/>
                    <a:pt x="19585939" y="2011680"/>
                    <a:pt x="19495008" y="2011680"/>
                  </a:cubicBezTo>
                  <a:lnTo>
                    <a:pt x="164592" y="2011680"/>
                  </a:lnTo>
                  <a:cubicBezTo>
                    <a:pt x="73660" y="2011680"/>
                    <a:pt x="0" y="1938020"/>
                    <a:pt x="0" y="1847088"/>
                  </a:cubicBezTo>
                  <a:close/>
                </a:path>
              </a:pathLst>
            </a:custGeom>
            <a:solidFill>
              <a:srgbClr val="10312F"/>
            </a:solidFill>
          </p:spPr>
        </p:sp>
      </p:grpSp>
      <p:grpSp>
        <p:nvGrpSpPr>
          <p:cNvPr name="Group 16" id="16"/>
          <p:cNvGrpSpPr/>
          <p:nvPr/>
        </p:nvGrpSpPr>
        <p:grpSpPr>
          <a:xfrm rot="0">
            <a:off x="1197102" y="5122540"/>
            <a:ext cx="3566160" cy="438912"/>
            <a:chOff x="0" y="0"/>
            <a:chExt cx="4754880" cy="585216"/>
          </a:xfrm>
        </p:grpSpPr>
        <p:sp>
          <p:nvSpPr>
            <p:cNvPr name="Freeform 17" id="17"/>
            <p:cNvSpPr/>
            <p:nvPr/>
          </p:nvSpPr>
          <p:spPr>
            <a:xfrm flipH="false" flipV="false" rot="0">
              <a:off x="0" y="0"/>
              <a:ext cx="4754880" cy="585216"/>
            </a:xfrm>
            <a:custGeom>
              <a:avLst/>
              <a:gdLst/>
              <a:ahLst/>
              <a:cxnLst/>
              <a:rect r="r" b="b" t="t" l="l"/>
              <a:pathLst>
                <a:path h="585216" w="4754880">
                  <a:moveTo>
                    <a:pt x="0" y="292608"/>
                  </a:moveTo>
                  <a:cubicBezTo>
                    <a:pt x="0" y="131064"/>
                    <a:pt x="131064" y="0"/>
                    <a:pt x="292608" y="0"/>
                  </a:cubicBezTo>
                  <a:lnTo>
                    <a:pt x="4462272" y="0"/>
                  </a:lnTo>
                  <a:cubicBezTo>
                    <a:pt x="4623816" y="0"/>
                    <a:pt x="4754880" y="131064"/>
                    <a:pt x="4754880" y="292608"/>
                  </a:cubicBezTo>
                  <a:cubicBezTo>
                    <a:pt x="4754880" y="454152"/>
                    <a:pt x="4623816" y="585216"/>
                    <a:pt x="4462272" y="585216"/>
                  </a:cubicBezTo>
                  <a:lnTo>
                    <a:pt x="292608" y="585216"/>
                  </a:lnTo>
                  <a:cubicBezTo>
                    <a:pt x="131064" y="585216"/>
                    <a:pt x="0" y="454152"/>
                    <a:pt x="0" y="292608"/>
                  </a:cubicBezTo>
                  <a:close/>
                </a:path>
              </a:pathLst>
            </a:custGeom>
            <a:solidFill>
              <a:srgbClr val="387F7F"/>
            </a:solidFill>
          </p:spPr>
        </p:sp>
      </p:grpSp>
      <p:grpSp>
        <p:nvGrpSpPr>
          <p:cNvPr name="Group 18" id="18"/>
          <p:cNvGrpSpPr/>
          <p:nvPr/>
        </p:nvGrpSpPr>
        <p:grpSpPr>
          <a:xfrm rot="0">
            <a:off x="1197102" y="5122540"/>
            <a:ext cx="3566160" cy="438912"/>
            <a:chOff x="0" y="0"/>
            <a:chExt cx="4754880" cy="585216"/>
          </a:xfrm>
        </p:grpSpPr>
        <p:sp>
          <p:nvSpPr>
            <p:cNvPr name="Freeform 19" id="19"/>
            <p:cNvSpPr/>
            <p:nvPr/>
          </p:nvSpPr>
          <p:spPr>
            <a:xfrm flipH="false" flipV="false" rot="0">
              <a:off x="0" y="0"/>
              <a:ext cx="4754880" cy="585216"/>
            </a:xfrm>
            <a:custGeom>
              <a:avLst/>
              <a:gdLst/>
              <a:ahLst/>
              <a:cxnLst/>
              <a:rect r="r" b="b" t="t" l="l"/>
              <a:pathLst>
                <a:path h="585216" w="4754880">
                  <a:moveTo>
                    <a:pt x="0" y="0"/>
                  </a:moveTo>
                  <a:lnTo>
                    <a:pt x="4754880" y="0"/>
                  </a:lnTo>
                  <a:lnTo>
                    <a:pt x="4754880" y="585216"/>
                  </a:lnTo>
                  <a:lnTo>
                    <a:pt x="0" y="585216"/>
                  </a:lnTo>
                  <a:close/>
                </a:path>
              </a:pathLst>
            </a:custGeom>
            <a:blipFill>
              <a:blip r:embed="rId9">
                <a:alphaModFix amt="0"/>
              </a:blip>
              <a:stretch>
                <a:fillRect l="0" t="-108315" r="0" b="-108315"/>
              </a:stretch>
            </a:blipFill>
          </p:spPr>
        </p:sp>
        <p:sp>
          <p:nvSpPr>
            <p:cNvPr name="TextBox 20" id="20"/>
            <p:cNvSpPr txBox="true"/>
            <p:nvPr/>
          </p:nvSpPr>
          <p:spPr>
            <a:xfrm>
              <a:off x="0" y="-19050"/>
              <a:ext cx="47548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ONE CARD, CHEAP INSURANCE</a:t>
              </a:r>
            </a:p>
          </p:txBody>
        </p:sp>
      </p:grpSp>
      <p:grpSp>
        <p:nvGrpSpPr>
          <p:cNvPr name="Group 21" id="21"/>
          <p:cNvGrpSpPr/>
          <p:nvPr/>
        </p:nvGrpSpPr>
        <p:grpSpPr>
          <a:xfrm rot="0">
            <a:off x="1306830" y="5739760"/>
            <a:ext cx="13921740" cy="822960"/>
            <a:chOff x="0" y="0"/>
            <a:chExt cx="18562320" cy="1097280"/>
          </a:xfrm>
        </p:grpSpPr>
        <p:sp>
          <p:nvSpPr>
            <p:cNvPr name="Freeform 22" id="22"/>
            <p:cNvSpPr/>
            <p:nvPr/>
          </p:nvSpPr>
          <p:spPr>
            <a:xfrm flipH="false" flipV="false" rot="0">
              <a:off x="0" y="0"/>
              <a:ext cx="18562320" cy="1097280"/>
            </a:xfrm>
            <a:custGeom>
              <a:avLst/>
              <a:gdLst/>
              <a:ahLst/>
              <a:cxnLst/>
              <a:rect r="r" b="b" t="t" l="l"/>
              <a:pathLst>
                <a:path h="1097280" w="18562320">
                  <a:moveTo>
                    <a:pt x="0" y="0"/>
                  </a:moveTo>
                  <a:lnTo>
                    <a:pt x="18562320" y="0"/>
                  </a:lnTo>
                  <a:lnTo>
                    <a:pt x="18562320" y="1097280"/>
                  </a:lnTo>
                  <a:lnTo>
                    <a:pt x="0" y="1097280"/>
                  </a:lnTo>
                  <a:close/>
                </a:path>
              </a:pathLst>
            </a:custGeom>
            <a:blipFill>
              <a:blip r:embed="rId9">
                <a:alphaModFix amt="0"/>
              </a:blip>
              <a:stretch>
                <a:fillRect l="0" t="-279621" r="0" b="-279621"/>
              </a:stretch>
            </a:blipFill>
          </p:spPr>
        </p:sp>
        <p:sp>
          <p:nvSpPr>
            <p:cNvPr name="TextBox 23" id="23"/>
            <p:cNvSpPr txBox="true"/>
            <p:nvPr/>
          </p:nvSpPr>
          <p:spPr>
            <a:xfrm>
              <a:off x="0" y="-57150"/>
              <a:ext cx="18562320" cy="1154430"/>
            </a:xfrm>
            <a:prstGeom prst="rect">
              <a:avLst/>
            </a:prstGeom>
          </p:spPr>
          <p:txBody>
            <a:bodyPr anchor="ctr" rtlCol="false" tIns="0" lIns="0" bIns="0" rIns="0"/>
            <a:lstStyle/>
            <a:p>
              <a:pPr algn="l">
                <a:lnSpc>
                  <a:spcPts val="2925"/>
                </a:lnSpc>
              </a:pPr>
              <a:r>
                <a:rPr lang="en-US" sz="1950">
                  <a:solidFill>
                    <a:srgbClr val="CFE6E3"/>
                  </a:solidFill>
                  <a:latin typeface="Roboto Mono"/>
                  <a:ea typeface="Roboto Mono"/>
                  <a:cs typeface="Roboto Mono"/>
                  <a:sym typeface="Roboto Mono"/>
                </a:rPr>
                <a:t>Last Refreshed = "Data as at " &amp; FORMAT ( MAX ( dates[DateKey] ), "dd MMM yyyy" )</a:t>
              </a:r>
            </a:p>
          </p:txBody>
        </p:sp>
      </p:grpSp>
      <p:grpSp>
        <p:nvGrpSpPr>
          <p:cNvPr name="Group 24" id="24"/>
          <p:cNvGrpSpPr/>
          <p:nvPr/>
        </p:nvGrpSpPr>
        <p:grpSpPr>
          <a:xfrm rot="0">
            <a:off x="895350" y="7248520"/>
            <a:ext cx="14744700" cy="1577340"/>
            <a:chOff x="0" y="0"/>
            <a:chExt cx="19659600" cy="2103120"/>
          </a:xfrm>
        </p:grpSpPr>
        <p:sp>
          <p:nvSpPr>
            <p:cNvPr name="Freeform 25" id="25"/>
            <p:cNvSpPr/>
            <p:nvPr/>
          </p:nvSpPr>
          <p:spPr>
            <a:xfrm flipH="false" flipV="false" rot="0">
              <a:off x="0" y="0"/>
              <a:ext cx="19659600" cy="2103120"/>
            </a:xfrm>
            <a:custGeom>
              <a:avLst/>
              <a:gdLst/>
              <a:ahLst/>
              <a:cxnLst/>
              <a:rect r="r" b="b" t="t" l="l"/>
              <a:pathLst>
                <a:path h="2103120" w="19659600">
                  <a:moveTo>
                    <a:pt x="0" y="164592"/>
                  </a:moveTo>
                  <a:cubicBezTo>
                    <a:pt x="0" y="73660"/>
                    <a:pt x="73660" y="0"/>
                    <a:pt x="164592" y="0"/>
                  </a:cubicBezTo>
                  <a:lnTo>
                    <a:pt x="19495008" y="0"/>
                  </a:lnTo>
                  <a:cubicBezTo>
                    <a:pt x="19585939" y="0"/>
                    <a:pt x="19659600" y="73660"/>
                    <a:pt x="19659600" y="164592"/>
                  </a:cubicBezTo>
                  <a:lnTo>
                    <a:pt x="19659600" y="1938528"/>
                  </a:lnTo>
                  <a:cubicBezTo>
                    <a:pt x="19659600" y="2029460"/>
                    <a:pt x="19585939" y="2103120"/>
                    <a:pt x="19495008" y="2103120"/>
                  </a:cubicBezTo>
                  <a:lnTo>
                    <a:pt x="164592" y="2103120"/>
                  </a:lnTo>
                  <a:cubicBezTo>
                    <a:pt x="73660" y="2103120"/>
                    <a:pt x="0" y="2029460"/>
                    <a:pt x="0" y="1938528"/>
                  </a:cubicBezTo>
                  <a:close/>
                </a:path>
              </a:pathLst>
            </a:custGeom>
            <a:solidFill>
              <a:srgbClr val="EEF4F4"/>
            </a:solidFill>
          </p:spPr>
        </p:sp>
      </p:grpSp>
      <p:grpSp>
        <p:nvGrpSpPr>
          <p:cNvPr name="Group 26" id="26"/>
          <p:cNvGrpSpPr/>
          <p:nvPr/>
        </p:nvGrpSpPr>
        <p:grpSpPr>
          <a:xfrm rot="0">
            <a:off x="895350" y="7248520"/>
            <a:ext cx="102870" cy="1577340"/>
            <a:chOff x="0" y="0"/>
            <a:chExt cx="137160" cy="2103120"/>
          </a:xfrm>
        </p:grpSpPr>
        <p:sp>
          <p:nvSpPr>
            <p:cNvPr name="Freeform 27" id="27"/>
            <p:cNvSpPr/>
            <p:nvPr/>
          </p:nvSpPr>
          <p:spPr>
            <a:xfrm flipH="false" flipV="false" rot="0">
              <a:off x="0" y="0"/>
              <a:ext cx="137160" cy="2103120"/>
            </a:xfrm>
            <a:custGeom>
              <a:avLst/>
              <a:gdLst/>
              <a:ahLst/>
              <a:cxnLst/>
              <a:rect r="r" b="b" t="t" l="l"/>
              <a:pathLst>
                <a:path h="2103120" w="137160">
                  <a:moveTo>
                    <a:pt x="0" y="0"/>
                  </a:moveTo>
                  <a:lnTo>
                    <a:pt x="137160" y="0"/>
                  </a:lnTo>
                  <a:lnTo>
                    <a:pt x="137160" y="2103120"/>
                  </a:lnTo>
                  <a:lnTo>
                    <a:pt x="0" y="2103120"/>
                  </a:lnTo>
                  <a:close/>
                </a:path>
              </a:pathLst>
            </a:custGeom>
            <a:solidFill>
              <a:srgbClr val="387F7F"/>
            </a:solidFill>
          </p:spPr>
        </p:sp>
      </p:grpSp>
      <p:grpSp>
        <p:nvGrpSpPr>
          <p:cNvPr name="Group 28" id="28"/>
          <p:cNvGrpSpPr/>
          <p:nvPr/>
        </p:nvGrpSpPr>
        <p:grpSpPr>
          <a:xfrm rot="0">
            <a:off x="1443990" y="7248520"/>
            <a:ext cx="13853160" cy="1577340"/>
            <a:chOff x="0" y="0"/>
            <a:chExt cx="18470880" cy="2103120"/>
          </a:xfrm>
        </p:grpSpPr>
        <p:sp>
          <p:nvSpPr>
            <p:cNvPr name="Freeform 29" id="29"/>
            <p:cNvSpPr/>
            <p:nvPr/>
          </p:nvSpPr>
          <p:spPr>
            <a:xfrm flipH="false" flipV="false" rot="0">
              <a:off x="0" y="0"/>
              <a:ext cx="18470880" cy="2103120"/>
            </a:xfrm>
            <a:custGeom>
              <a:avLst/>
              <a:gdLst/>
              <a:ahLst/>
              <a:cxnLst/>
              <a:rect r="r" b="b" t="t" l="l"/>
              <a:pathLst>
                <a:path h="2103120" w="18470880">
                  <a:moveTo>
                    <a:pt x="0" y="0"/>
                  </a:moveTo>
                  <a:lnTo>
                    <a:pt x="18470880" y="0"/>
                  </a:lnTo>
                  <a:lnTo>
                    <a:pt x="18470880" y="2103120"/>
                  </a:lnTo>
                  <a:lnTo>
                    <a:pt x="0" y="2103120"/>
                  </a:lnTo>
                  <a:close/>
                </a:path>
              </a:pathLst>
            </a:custGeom>
            <a:blipFill>
              <a:blip r:embed="rId9">
                <a:alphaModFix amt="0"/>
              </a:blip>
              <a:stretch>
                <a:fillRect l="0" t="-121129" r="0" b="-121129"/>
              </a:stretch>
            </a:blipFill>
          </p:spPr>
        </p:sp>
        <p:sp>
          <p:nvSpPr>
            <p:cNvPr name="TextBox 30" id="30"/>
            <p:cNvSpPr txBox="true"/>
            <p:nvPr/>
          </p:nvSpPr>
          <p:spPr>
            <a:xfrm>
              <a:off x="0" y="-95250"/>
              <a:ext cx="18470880" cy="2198370"/>
            </a:xfrm>
            <a:prstGeom prst="rect">
              <a:avLst/>
            </a:prstGeom>
          </p:spPr>
          <p:txBody>
            <a:bodyPr anchor="ctr" rtlCol="false" tIns="0" lIns="0" bIns="0" rIns="0"/>
            <a:lstStyle/>
            <a:p>
              <a:pPr algn="l">
                <a:lnSpc>
                  <a:spcPts val="3456"/>
                </a:lnSpc>
              </a:pPr>
              <a:r>
                <a:rPr lang="en-US" sz="2250" b="true">
                  <a:solidFill>
                    <a:srgbClr val="387F7F"/>
                  </a:solidFill>
                  <a:latin typeface="Poppins Bold"/>
                  <a:ea typeface="Poppins Bold"/>
                  <a:cs typeface="Poppins Bold"/>
                  <a:sym typeface="Poppins Bold"/>
                </a:rPr>
                <a:t>Put the last refresh timestamp on the canvas, visibly, every time. It costs one card visual and it is the single cheapest piece of professional insurance in BI.</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562113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a:t>
            </a:r>
            <a:r>
              <a:rPr lang="en-US" sz="5000">
                <a:solidFill>
                  <a:srgbClr val="388080"/>
                </a:solidFill>
                <a:latin typeface="Poppins"/>
                <a:ea typeface="Poppins"/>
                <a:cs typeface="Poppins"/>
                <a:sym typeface="Poppins"/>
              </a:rPr>
              <a:t>e build, in order</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028700" y="2665476"/>
            <a:ext cx="2852928" cy="685800"/>
            <a:chOff x="0" y="0"/>
            <a:chExt cx="3803904" cy="914400"/>
          </a:xfrm>
        </p:grpSpPr>
        <p:sp>
          <p:nvSpPr>
            <p:cNvPr name="Freeform 12" id="12"/>
            <p:cNvSpPr/>
            <p:nvPr/>
          </p:nvSpPr>
          <p:spPr>
            <a:xfrm flipH="false" flipV="false" rot="0">
              <a:off x="0" y="0"/>
              <a:ext cx="3803904" cy="914400"/>
            </a:xfrm>
            <a:custGeom>
              <a:avLst/>
              <a:gdLst/>
              <a:ahLst/>
              <a:cxnLst/>
              <a:rect r="r" b="b" t="t" l="l"/>
              <a:pathLst>
                <a:path h="914400" w="3803904">
                  <a:moveTo>
                    <a:pt x="0" y="457200"/>
                  </a:moveTo>
                  <a:cubicBezTo>
                    <a:pt x="0" y="204724"/>
                    <a:pt x="204724" y="0"/>
                    <a:pt x="457200" y="0"/>
                  </a:cubicBezTo>
                  <a:lnTo>
                    <a:pt x="3346704" y="0"/>
                  </a:lnTo>
                  <a:cubicBezTo>
                    <a:pt x="3599180" y="0"/>
                    <a:pt x="3803904" y="204724"/>
                    <a:pt x="3803904" y="457200"/>
                  </a:cubicBezTo>
                  <a:cubicBezTo>
                    <a:pt x="3803904" y="709676"/>
                    <a:pt x="3599180" y="914400"/>
                    <a:pt x="3346704" y="914400"/>
                  </a:cubicBezTo>
                  <a:lnTo>
                    <a:pt x="457200" y="914400"/>
                  </a:lnTo>
                  <a:cubicBezTo>
                    <a:pt x="204724" y="914400"/>
                    <a:pt x="0" y="709676"/>
                    <a:pt x="0" y="457200"/>
                  </a:cubicBezTo>
                  <a:close/>
                </a:path>
              </a:pathLst>
            </a:custGeom>
            <a:solidFill>
              <a:srgbClr val="387F7F"/>
            </a:solidFill>
          </p:spPr>
        </p:sp>
      </p:grpSp>
      <p:grpSp>
        <p:nvGrpSpPr>
          <p:cNvPr name="Group 13" id="13"/>
          <p:cNvGrpSpPr/>
          <p:nvPr/>
        </p:nvGrpSpPr>
        <p:grpSpPr>
          <a:xfrm rot="0">
            <a:off x="1165860" y="2788920"/>
            <a:ext cx="438912" cy="438912"/>
            <a:chOff x="0" y="0"/>
            <a:chExt cx="585216" cy="585216"/>
          </a:xfrm>
        </p:grpSpPr>
        <p:sp>
          <p:nvSpPr>
            <p:cNvPr name="Freeform 14" id="1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FFFFFF"/>
            </a:solidFill>
          </p:spPr>
        </p:sp>
      </p:grpSp>
      <p:grpSp>
        <p:nvGrpSpPr>
          <p:cNvPr name="Group 15" id="15"/>
          <p:cNvGrpSpPr/>
          <p:nvPr/>
        </p:nvGrpSpPr>
        <p:grpSpPr>
          <a:xfrm rot="0">
            <a:off x="1165860" y="2788920"/>
            <a:ext cx="438912" cy="438912"/>
            <a:chOff x="0" y="0"/>
            <a:chExt cx="585216" cy="585216"/>
          </a:xfrm>
        </p:grpSpPr>
        <p:sp>
          <p:nvSpPr>
            <p:cNvPr name="Freeform 16" id="1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17" id="1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1</a:t>
              </a:r>
            </a:p>
          </p:txBody>
        </p:sp>
      </p:grpSp>
      <p:grpSp>
        <p:nvGrpSpPr>
          <p:cNvPr name="Group 18" id="18"/>
          <p:cNvGrpSpPr/>
          <p:nvPr/>
        </p:nvGrpSpPr>
        <p:grpSpPr>
          <a:xfrm rot="0">
            <a:off x="1741932" y="2665476"/>
            <a:ext cx="2002536" cy="685800"/>
            <a:chOff x="0" y="0"/>
            <a:chExt cx="2670048" cy="914400"/>
          </a:xfrm>
        </p:grpSpPr>
        <p:sp>
          <p:nvSpPr>
            <p:cNvPr name="Freeform 19" id="1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20" id="20"/>
            <p:cNvSpPr txBox="true"/>
            <p:nvPr/>
          </p:nvSpPr>
          <p:spPr>
            <a:xfrm>
              <a:off x="0" y="-9525"/>
              <a:ext cx="2670048" cy="923925"/>
            </a:xfrm>
            <a:prstGeom prst="rect">
              <a:avLst/>
            </a:prstGeom>
          </p:spPr>
          <p:txBody>
            <a:bodyPr anchor="ctr" rtlCol="false" tIns="0" lIns="0" bIns="0" rIns="0"/>
            <a:lstStyle/>
            <a:p>
              <a:pPr algn="l">
                <a:lnSpc>
                  <a:spcPts val="2070"/>
                </a:lnSpc>
              </a:pPr>
              <a:r>
                <a:rPr lang="en-US" sz="1725" b="true">
                  <a:solidFill>
                    <a:srgbClr val="FFFFFF"/>
                  </a:solidFill>
                  <a:latin typeface="Poppins Bold"/>
                  <a:ea typeface="Poppins Bold"/>
                  <a:cs typeface="Poppins Bold"/>
                  <a:sym typeface="Poppins Bold"/>
                </a:rPr>
                <a:t>Sketch on paper</a:t>
              </a:r>
            </a:p>
          </p:txBody>
        </p:sp>
      </p:grpSp>
      <p:grpSp>
        <p:nvGrpSpPr>
          <p:cNvPr name="Group 21" id="21"/>
          <p:cNvGrpSpPr/>
          <p:nvPr/>
        </p:nvGrpSpPr>
        <p:grpSpPr>
          <a:xfrm rot="0">
            <a:off x="4101084" y="2665476"/>
            <a:ext cx="2852928" cy="685800"/>
            <a:chOff x="0" y="0"/>
            <a:chExt cx="3803904" cy="914400"/>
          </a:xfrm>
        </p:grpSpPr>
        <p:sp>
          <p:nvSpPr>
            <p:cNvPr name="Freeform 22" id="22"/>
            <p:cNvSpPr/>
            <p:nvPr/>
          </p:nvSpPr>
          <p:spPr>
            <a:xfrm flipH="false" flipV="false" rot="0">
              <a:off x="0" y="0"/>
              <a:ext cx="3803904" cy="914400"/>
            </a:xfrm>
            <a:custGeom>
              <a:avLst/>
              <a:gdLst/>
              <a:ahLst/>
              <a:cxnLst/>
              <a:rect r="r" b="b" t="t" l="l"/>
              <a:pathLst>
                <a:path h="914400" w="3803904">
                  <a:moveTo>
                    <a:pt x="0" y="457200"/>
                  </a:moveTo>
                  <a:cubicBezTo>
                    <a:pt x="0" y="204724"/>
                    <a:pt x="204724" y="0"/>
                    <a:pt x="457200" y="0"/>
                  </a:cubicBezTo>
                  <a:lnTo>
                    <a:pt x="3346704" y="0"/>
                  </a:lnTo>
                  <a:cubicBezTo>
                    <a:pt x="3599180" y="0"/>
                    <a:pt x="3803904" y="204724"/>
                    <a:pt x="3803904" y="457200"/>
                  </a:cubicBezTo>
                  <a:cubicBezTo>
                    <a:pt x="3803904" y="709676"/>
                    <a:pt x="3599180" y="914400"/>
                    <a:pt x="3346704" y="914400"/>
                  </a:cubicBezTo>
                  <a:lnTo>
                    <a:pt x="457200" y="914400"/>
                  </a:lnTo>
                  <a:cubicBezTo>
                    <a:pt x="204724" y="914400"/>
                    <a:pt x="0" y="709676"/>
                    <a:pt x="0" y="457200"/>
                  </a:cubicBezTo>
                  <a:close/>
                </a:path>
              </a:pathLst>
            </a:custGeom>
            <a:solidFill>
              <a:srgbClr val="387F7F"/>
            </a:solidFill>
          </p:spPr>
        </p:sp>
      </p:grpSp>
      <p:grpSp>
        <p:nvGrpSpPr>
          <p:cNvPr name="Group 23" id="23"/>
          <p:cNvGrpSpPr/>
          <p:nvPr/>
        </p:nvGrpSpPr>
        <p:grpSpPr>
          <a:xfrm rot="0">
            <a:off x="4238244" y="2788920"/>
            <a:ext cx="438912" cy="438912"/>
            <a:chOff x="0" y="0"/>
            <a:chExt cx="585216" cy="585216"/>
          </a:xfrm>
        </p:grpSpPr>
        <p:sp>
          <p:nvSpPr>
            <p:cNvPr name="Freeform 24" id="2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FFFFFF"/>
            </a:solidFill>
          </p:spPr>
        </p:sp>
      </p:grpSp>
      <p:grpSp>
        <p:nvGrpSpPr>
          <p:cNvPr name="Group 25" id="25"/>
          <p:cNvGrpSpPr/>
          <p:nvPr/>
        </p:nvGrpSpPr>
        <p:grpSpPr>
          <a:xfrm rot="0">
            <a:off x="4238244" y="2788920"/>
            <a:ext cx="438912" cy="438912"/>
            <a:chOff x="0" y="0"/>
            <a:chExt cx="585216" cy="585216"/>
          </a:xfrm>
        </p:grpSpPr>
        <p:sp>
          <p:nvSpPr>
            <p:cNvPr name="Freeform 26" id="2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27" id="2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2</a:t>
              </a:r>
            </a:p>
          </p:txBody>
        </p:sp>
      </p:grpSp>
      <p:grpSp>
        <p:nvGrpSpPr>
          <p:cNvPr name="Group 28" id="28"/>
          <p:cNvGrpSpPr/>
          <p:nvPr/>
        </p:nvGrpSpPr>
        <p:grpSpPr>
          <a:xfrm rot="0">
            <a:off x="4814316" y="2665476"/>
            <a:ext cx="2002536" cy="685800"/>
            <a:chOff x="0" y="0"/>
            <a:chExt cx="2670048" cy="914400"/>
          </a:xfrm>
        </p:grpSpPr>
        <p:sp>
          <p:nvSpPr>
            <p:cNvPr name="Freeform 29" id="2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30" id="30"/>
            <p:cNvSpPr txBox="true"/>
            <p:nvPr/>
          </p:nvSpPr>
          <p:spPr>
            <a:xfrm>
              <a:off x="0" y="-9525"/>
              <a:ext cx="2670048" cy="923925"/>
            </a:xfrm>
            <a:prstGeom prst="rect">
              <a:avLst/>
            </a:prstGeom>
          </p:spPr>
          <p:txBody>
            <a:bodyPr anchor="ctr" rtlCol="false" tIns="0" lIns="0" bIns="0" rIns="0"/>
            <a:lstStyle/>
            <a:p>
              <a:pPr algn="l">
                <a:lnSpc>
                  <a:spcPts val="2070"/>
                </a:lnSpc>
              </a:pPr>
              <a:r>
                <a:rPr lang="en-US" sz="1725" b="true">
                  <a:solidFill>
                    <a:srgbClr val="FFFFFF"/>
                  </a:solidFill>
                  <a:latin typeface="Poppins Bold"/>
                  <a:ea typeface="Poppins Bold"/>
                  <a:cs typeface="Poppins Bold"/>
                  <a:sym typeface="Poppins Bold"/>
                </a:rPr>
                <a:t>Cards</a:t>
              </a:r>
            </a:p>
          </p:txBody>
        </p:sp>
      </p:grpSp>
      <p:grpSp>
        <p:nvGrpSpPr>
          <p:cNvPr name="Group 31" id="31"/>
          <p:cNvGrpSpPr/>
          <p:nvPr/>
        </p:nvGrpSpPr>
        <p:grpSpPr>
          <a:xfrm rot="0">
            <a:off x="7173468" y="2665476"/>
            <a:ext cx="2852928" cy="685800"/>
            <a:chOff x="0" y="0"/>
            <a:chExt cx="3803904" cy="914400"/>
          </a:xfrm>
        </p:grpSpPr>
        <p:sp>
          <p:nvSpPr>
            <p:cNvPr name="Freeform 32" id="32"/>
            <p:cNvSpPr/>
            <p:nvPr/>
          </p:nvSpPr>
          <p:spPr>
            <a:xfrm flipH="false" flipV="false" rot="0">
              <a:off x="0" y="0"/>
              <a:ext cx="3803904" cy="914400"/>
            </a:xfrm>
            <a:custGeom>
              <a:avLst/>
              <a:gdLst/>
              <a:ahLst/>
              <a:cxnLst/>
              <a:rect r="r" b="b" t="t" l="l"/>
              <a:pathLst>
                <a:path h="914400" w="3803904">
                  <a:moveTo>
                    <a:pt x="0" y="457200"/>
                  </a:moveTo>
                  <a:cubicBezTo>
                    <a:pt x="0" y="204724"/>
                    <a:pt x="204724" y="0"/>
                    <a:pt x="457200" y="0"/>
                  </a:cubicBezTo>
                  <a:lnTo>
                    <a:pt x="3346704" y="0"/>
                  </a:lnTo>
                  <a:cubicBezTo>
                    <a:pt x="3599180" y="0"/>
                    <a:pt x="3803904" y="204724"/>
                    <a:pt x="3803904" y="457200"/>
                  </a:cubicBezTo>
                  <a:cubicBezTo>
                    <a:pt x="3803904" y="709676"/>
                    <a:pt x="3599180" y="914400"/>
                    <a:pt x="3346704" y="914400"/>
                  </a:cubicBezTo>
                  <a:lnTo>
                    <a:pt x="457200" y="914400"/>
                  </a:lnTo>
                  <a:cubicBezTo>
                    <a:pt x="204724" y="914400"/>
                    <a:pt x="0" y="709676"/>
                    <a:pt x="0" y="457200"/>
                  </a:cubicBezTo>
                  <a:close/>
                </a:path>
              </a:pathLst>
            </a:custGeom>
            <a:solidFill>
              <a:srgbClr val="387F7F"/>
            </a:solidFill>
          </p:spPr>
        </p:sp>
      </p:grpSp>
      <p:grpSp>
        <p:nvGrpSpPr>
          <p:cNvPr name="Group 33" id="33"/>
          <p:cNvGrpSpPr/>
          <p:nvPr/>
        </p:nvGrpSpPr>
        <p:grpSpPr>
          <a:xfrm rot="0">
            <a:off x="7310628" y="2788920"/>
            <a:ext cx="438912" cy="438912"/>
            <a:chOff x="0" y="0"/>
            <a:chExt cx="585216" cy="585216"/>
          </a:xfrm>
        </p:grpSpPr>
        <p:sp>
          <p:nvSpPr>
            <p:cNvPr name="Freeform 34" id="3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FFFFFF"/>
            </a:solidFill>
          </p:spPr>
        </p:sp>
      </p:grpSp>
      <p:grpSp>
        <p:nvGrpSpPr>
          <p:cNvPr name="Group 35" id="35"/>
          <p:cNvGrpSpPr/>
          <p:nvPr/>
        </p:nvGrpSpPr>
        <p:grpSpPr>
          <a:xfrm rot="0">
            <a:off x="7310628" y="2788920"/>
            <a:ext cx="438912" cy="438912"/>
            <a:chOff x="0" y="0"/>
            <a:chExt cx="585216" cy="585216"/>
          </a:xfrm>
        </p:grpSpPr>
        <p:sp>
          <p:nvSpPr>
            <p:cNvPr name="Freeform 36" id="3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37" id="3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3</a:t>
              </a:r>
            </a:p>
          </p:txBody>
        </p:sp>
      </p:grpSp>
      <p:grpSp>
        <p:nvGrpSpPr>
          <p:cNvPr name="Group 38" id="38"/>
          <p:cNvGrpSpPr/>
          <p:nvPr/>
        </p:nvGrpSpPr>
        <p:grpSpPr>
          <a:xfrm rot="0">
            <a:off x="7886700" y="2665476"/>
            <a:ext cx="2002536" cy="685800"/>
            <a:chOff x="0" y="0"/>
            <a:chExt cx="2670048" cy="914400"/>
          </a:xfrm>
        </p:grpSpPr>
        <p:sp>
          <p:nvSpPr>
            <p:cNvPr name="Freeform 39" id="3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40" id="40"/>
            <p:cNvSpPr txBox="true"/>
            <p:nvPr/>
          </p:nvSpPr>
          <p:spPr>
            <a:xfrm>
              <a:off x="0" y="-9525"/>
              <a:ext cx="2670048" cy="923925"/>
            </a:xfrm>
            <a:prstGeom prst="rect">
              <a:avLst/>
            </a:prstGeom>
          </p:spPr>
          <p:txBody>
            <a:bodyPr anchor="ctr" rtlCol="false" tIns="0" lIns="0" bIns="0" rIns="0"/>
            <a:lstStyle/>
            <a:p>
              <a:pPr algn="l">
                <a:lnSpc>
                  <a:spcPts val="2070"/>
                </a:lnSpc>
              </a:pPr>
              <a:r>
                <a:rPr lang="en-US" sz="1725" b="true">
                  <a:solidFill>
                    <a:srgbClr val="FFFFFF"/>
                  </a:solidFill>
                  <a:latin typeface="Poppins Bold"/>
                  <a:ea typeface="Poppins Bold"/>
                  <a:cs typeface="Poppins Bold"/>
                  <a:sym typeface="Poppins Bold"/>
                </a:rPr>
                <a:t>Main chart</a:t>
              </a:r>
            </a:p>
          </p:txBody>
        </p:sp>
      </p:grpSp>
      <p:grpSp>
        <p:nvGrpSpPr>
          <p:cNvPr name="Group 41" id="41"/>
          <p:cNvGrpSpPr/>
          <p:nvPr/>
        </p:nvGrpSpPr>
        <p:grpSpPr>
          <a:xfrm rot="0">
            <a:off x="10245852" y="2665476"/>
            <a:ext cx="2852928" cy="685800"/>
            <a:chOff x="0" y="0"/>
            <a:chExt cx="3803904" cy="914400"/>
          </a:xfrm>
        </p:grpSpPr>
        <p:sp>
          <p:nvSpPr>
            <p:cNvPr name="Freeform 42" id="42"/>
            <p:cNvSpPr/>
            <p:nvPr/>
          </p:nvSpPr>
          <p:spPr>
            <a:xfrm flipH="false" flipV="false" rot="0">
              <a:off x="0" y="0"/>
              <a:ext cx="3803904" cy="914400"/>
            </a:xfrm>
            <a:custGeom>
              <a:avLst/>
              <a:gdLst/>
              <a:ahLst/>
              <a:cxnLst/>
              <a:rect r="r" b="b" t="t" l="l"/>
              <a:pathLst>
                <a:path h="914400" w="3803904">
                  <a:moveTo>
                    <a:pt x="0" y="457200"/>
                  </a:moveTo>
                  <a:cubicBezTo>
                    <a:pt x="0" y="204724"/>
                    <a:pt x="204724" y="0"/>
                    <a:pt x="457200" y="0"/>
                  </a:cubicBezTo>
                  <a:lnTo>
                    <a:pt x="3346704" y="0"/>
                  </a:lnTo>
                  <a:cubicBezTo>
                    <a:pt x="3599180" y="0"/>
                    <a:pt x="3803904" y="204724"/>
                    <a:pt x="3803904" y="457200"/>
                  </a:cubicBezTo>
                  <a:cubicBezTo>
                    <a:pt x="3803904" y="709676"/>
                    <a:pt x="3599180" y="914400"/>
                    <a:pt x="3346704" y="914400"/>
                  </a:cubicBezTo>
                  <a:lnTo>
                    <a:pt x="457200" y="914400"/>
                  </a:lnTo>
                  <a:cubicBezTo>
                    <a:pt x="204724" y="914400"/>
                    <a:pt x="0" y="709676"/>
                    <a:pt x="0" y="457200"/>
                  </a:cubicBezTo>
                  <a:close/>
                </a:path>
              </a:pathLst>
            </a:custGeom>
            <a:solidFill>
              <a:srgbClr val="387F7F"/>
            </a:solidFill>
          </p:spPr>
        </p:sp>
      </p:grpSp>
      <p:grpSp>
        <p:nvGrpSpPr>
          <p:cNvPr name="Group 43" id="43"/>
          <p:cNvGrpSpPr/>
          <p:nvPr/>
        </p:nvGrpSpPr>
        <p:grpSpPr>
          <a:xfrm rot="0">
            <a:off x="10383012" y="2788920"/>
            <a:ext cx="438912" cy="438912"/>
            <a:chOff x="0" y="0"/>
            <a:chExt cx="585216" cy="585216"/>
          </a:xfrm>
        </p:grpSpPr>
        <p:sp>
          <p:nvSpPr>
            <p:cNvPr name="Freeform 44" id="4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FFFFFF"/>
            </a:solidFill>
          </p:spPr>
        </p:sp>
      </p:grpSp>
      <p:grpSp>
        <p:nvGrpSpPr>
          <p:cNvPr name="Group 45" id="45"/>
          <p:cNvGrpSpPr/>
          <p:nvPr/>
        </p:nvGrpSpPr>
        <p:grpSpPr>
          <a:xfrm rot="0">
            <a:off x="10383012" y="2788920"/>
            <a:ext cx="438912" cy="438912"/>
            <a:chOff x="0" y="0"/>
            <a:chExt cx="585216" cy="585216"/>
          </a:xfrm>
        </p:grpSpPr>
        <p:sp>
          <p:nvSpPr>
            <p:cNvPr name="Freeform 46" id="4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47" id="4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4</a:t>
              </a:r>
            </a:p>
          </p:txBody>
        </p:sp>
      </p:grpSp>
      <p:grpSp>
        <p:nvGrpSpPr>
          <p:cNvPr name="Group 48" id="48"/>
          <p:cNvGrpSpPr/>
          <p:nvPr/>
        </p:nvGrpSpPr>
        <p:grpSpPr>
          <a:xfrm rot="0">
            <a:off x="10959084" y="2665476"/>
            <a:ext cx="2002536" cy="685800"/>
            <a:chOff x="0" y="0"/>
            <a:chExt cx="2670048" cy="914400"/>
          </a:xfrm>
        </p:grpSpPr>
        <p:sp>
          <p:nvSpPr>
            <p:cNvPr name="Freeform 49" id="4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50" id="50"/>
            <p:cNvSpPr txBox="true"/>
            <p:nvPr/>
          </p:nvSpPr>
          <p:spPr>
            <a:xfrm>
              <a:off x="0" y="-9525"/>
              <a:ext cx="2670048" cy="923925"/>
            </a:xfrm>
            <a:prstGeom prst="rect">
              <a:avLst/>
            </a:prstGeom>
          </p:spPr>
          <p:txBody>
            <a:bodyPr anchor="ctr" rtlCol="false" tIns="0" lIns="0" bIns="0" rIns="0"/>
            <a:lstStyle/>
            <a:p>
              <a:pPr algn="l">
                <a:lnSpc>
                  <a:spcPts val="2070"/>
                </a:lnSpc>
              </a:pPr>
              <a:r>
                <a:rPr lang="en-US" sz="1725" b="true">
                  <a:solidFill>
                    <a:srgbClr val="FFFFFF"/>
                  </a:solidFill>
                  <a:latin typeface="Poppins Bold"/>
                  <a:ea typeface="Poppins Bold"/>
                  <a:cs typeface="Poppins Bold"/>
                  <a:sym typeface="Poppins Bold"/>
                </a:rPr>
                <a:t>Slicers</a:t>
              </a:r>
            </a:p>
          </p:txBody>
        </p:sp>
      </p:grpSp>
      <p:grpSp>
        <p:nvGrpSpPr>
          <p:cNvPr name="Group 51" id="51"/>
          <p:cNvGrpSpPr/>
          <p:nvPr/>
        </p:nvGrpSpPr>
        <p:grpSpPr>
          <a:xfrm rot="0">
            <a:off x="13318236" y="2665476"/>
            <a:ext cx="2852928" cy="685800"/>
            <a:chOff x="0" y="0"/>
            <a:chExt cx="3803904" cy="914400"/>
          </a:xfrm>
        </p:grpSpPr>
        <p:sp>
          <p:nvSpPr>
            <p:cNvPr name="Freeform 52" id="52"/>
            <p:cNvSpPr/>
            <p:nvPr/>
          </p:nvSpPr>
          <p:spPr>
            <a:xfrm flipH="false" flipV="false" rot="0">
              <a:off x="0" y="0"/>
              <a:ext cx="3803904" cy="914400"/>
            </a:xfrm>
            <a:custGeom>
              <a:avLst/>
              <a:gdLst/>
              <a:ahLst/>
              <a:cxnLst/>
              <a:rect r="r" b="b" t="t" l="l"/>
              <a:pathLst>
                <a:path h="914400" w="3803904">
                  <a:moveTo>
                    <a:pt x="0" y="457200"/>
                  </a:moveTo>
                  <a:cubicBezTo>
                    <a:pt x="0" y="204724"/>
                    <a:pt x="204724" y="0"/>
                    <a:pt x="457200" y="0"/>
                  </a:cubicBezTo>
                  <a:lnTo>
                    <a:pt x="3346704" y="0"/>
                  </a:lnTo>
                  <a:cubicBezTo>
                    <a:pt x="3599180" y="0"/>
                    <a:pt x="3803904" y="204724"/>
                    <a:pt x="3803904" y="457200"/>
                  </a:cubicBezTo>
                  <a:cubicBezTo>
                    <a:pt x="3803904" y="709676"/>
                    <a:pt x="3599180" y="914400"/>
                    <a:pt x="3346704" y="914400"/>
                  </a:cubicBezTo>
                  <a:lnTo>
                    <a:pt x="457200" y="914400"/>
                  </a:lnTo>
                  <a:cubicBezTo>
                    <a:pt x="204724" y="914400"/>
                    <a:pt x="0" y="709676"/>
                    <a:pt x="0" y="457200"/>
                  </a:cubicBezTo>
                  <a:close/>
                </a:path>
              </a:pathLst>
            </a:custGeom>
            <a:solidFill>
              <a:srgbClr val="387F7F"/>
            </a:solidFill>
          </p:spPr>
        </p:sp>
      </p:grpSp>
      <p:grpSp>
        <p:nvGrpSpPr>
          <p:cNvPr name="Group 53" id="53"/>
          <p:cNvGrpSpPr/>
          <p:nvPr/>
        </p:nvGrpSpPr>
        <p:grpSpPr>
          <a:xfrm rot="0">
            <a:off x="13455396" y="2788920"/>
            <a:ext cx="438912" cy="438912"/>
            <a:chOff x="0" y="0"/>
            <a:chExt cx="585216" cy="585216"/>
          </a:xfrm>
        </p:grpSpPr>
        <p:sp>
          <p:nvSpPr>
            <p:cNvPr name="Freeform 54" id="5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FFFFFF"/>
            </a:solidFill>
          </p:spPr>
        </p:sp>
      </p:grpSp>
      <p:grpSp>
        <p:nvGrpSpPr>
          <p:cNvPr name="Group 55" id="55"/>
          <p:cNvGrpSpPr/>
          <p:nvPr/>
        </p:nvGrpSpPr>
        <p:grpSpPr>
          <a:xfrm rot="0">
            <a:off x="13455396" y="2788920"/>
            <a:ext cx="438912" cy="438912"/>
            <a:chOff x="0" y="0"/>
            <a:chExt cx="585216" cy="585216"/>
          </a:xfrm>
        </p:grpSpPr>
        <p:sp>
          <p:nvSpPr>
            <p:cNvPr name="Freeform 56" id="5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57" id="57"/>
            <p:cNvSpPr txBox="true"/>
            <p:nvPr/>
          </p:nvSpPr>
          <p:spPr>
            <a:xfrm>
              <a:off x="0" y="-19050"/>
              <a:ext cx="585216" cy="604266"/>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5</a:t>
              </a:r>
            </a:p>
          </p:txBody>
        </p:sp>
      </p:grpSp>
      <p:grpSp>
        <p:nvGrpSpPr>
          <p:cNvPr name="Group 58" id="58"/>
          <p:cNvGrpSpPr/>
          <p:nvPr/>
        </p:nvGrpSpPr>
        <p:grpSpPr>
          <a:xfrm rot="0">
            <a:off x="14031468" y="2665476"/>
            <a:ext cx="2002536" cy="685800"/>
            <a:chOff x="0" y="0"/>
            <a:chExt cx="2670048" cy="914400"/>
          </a:xfrm>
        </p:grpSpPr>
        <p:sp>
          <p:nvSpPr>
            <p:cNvPr name="Freeform 59" id="59"/>
            <p:cNvSpPr/>
            <p:nvPr/>
          </p:nvSpPr>
          <p:spPr>
            <a:xfrm flipH="false" flipV="false" rot="0">
              <a:off x="0" y="0"/>
              <a:ext cx="2670048" cy="914400"/>
            </a:xfrm>
            <a:custGeom>
              <a:avLst/>
              <a:gdLst/>
              <a:ahLst/>
              <a:cxnLst/>
              <a:rect r="r" b="b" t="t" l="l"/>
              <a:pathLst>
                <a:path h="914400" w="2670048">
                  <a:moveTo>
                    <a:pt x="0" y="0"/>
                  </a:moveTo>
                  <a:lnTo>
                    <a:pt x="2670048" y="0"/>
                  </a:lnTo>
                  <a:lnTo>
                    <a:pt x="2670048" y="914400"/>
                  </a:lnTo>
                  <a:lnTo>
                    <a:pt x="0" y="914400"/>
                  </a:lnTo>
                  <a:close/>
                </a:path>
              </a:pathLst>
            </a:custGeom>
            <a:blipFill>
              <a:blip r:embed="rId9">
                <a:alphaModFix amt="0"/>
              </a:blip>
              <a:stretch>
                <a:fillRect l="0" t="-6896" r="0" b="-6896"/>
              </a:stretch>
            </a:blipFill>
          </p:spPr>
        </p:sp>
        <p:sp>
          <p:nvSpPr>
            <p:cNvPr name="TextBox 60" id="60"/>
            <p:cNvSpPr txBox="true"/>
            <p:nvPr/>
          </p:nvSpPr>
          <p:spPr>
            <a:xfrm>
              <a:off x="0" y="-9525"/>
              <a:ext cx="2670048" cy="923925"/>
            </a:xfrm>
            <a:prstGeom prst="rect">
              <a:avLst/>
            </a:prstGeom>
          </p:spPr>
          <p:txBody>
            <a:bodyPr anchor="ctr" rtlCol="false" tIns="0" lIns="0" bIns="0" rIns="0"/>
            <a:lstStyle/>
            <a:p>
              <a:pPr algn="l">
                <a:lnSpc>
                  <a:spcPts val="2070"/>
                </a:lnSpc>
              </a:pPr>
              <a:r>
                <a:rPr lang="en-US" sz="1725" b="true">
                  <a:solidFill>
                    <a:srgbClr val="FFFFFF"/>
                  </a:solidFill>
                  <a:latin typeface="Poppins Bold"/>
                  <a:ea typeface="Poppins Bold"/>
                  <a:cs typeface="Poppins Bold"/>
                  <a:sym typeface="Poppins Bold"/>
                </a:rPr>
                <a:t>Format and title</a:t>
              </a:r>
            </a:p>
          </p:txBody>
        </p:sp>
      </p:grpSp>
      <p:grpSp>
        <p:nvGrpSpPr>
          <p:cNvPr name="Group 61" id="61"/>
          <p:cNvGrpSpPr/>
          <p:nvPr/>
        </p:nvGrpSpPr>
        <p:grpSpPr>
          <a:xfrm rot="0">
            <a:off x="1028700" y="3694176"/>
            <a:ext cx="8915400" cy="4114800"/>
            <a:chOff x="0" y="0"/>
            <a:chExt cx="11887200" cy="5486400"/>
          </a:xfrm>
        </p:grpSpPr>
        <p:sp>
          <p:nvSpPr>
            <p:cNvPr name="Freeform 62" id="62"/>
            <p:cNvSpPr/>
            <p:nvPr/>
          </p:nvSpPr>
          <p:spPr>
            <a:xfrm flipH="false" flipV="false" rot="0">
              <a:off x="0" y="0"/>
              <a:ext cx="11887200" cy="5486400"/>
            </a:xfrm>
            <a:custGeom>
              <a:avLst/>
              <a:gdLst/>
              <a:ahLst/>
              <a:cxnLst/>
              <a:rect r="r" b="b" t="t" l="l"/>
              <a:pathLst>
                <a:path h="5486400" w="11887200">
                  <a:moveTo>
                    <a:pt x="0" y="182880"/>
                  </a:moveTo>
                  <a:cubicBezTo>
                    <a:pt x="0" y="81915"/>
                    <a:pt x="81915" y="0"/>
                    <a:pt x="182880" y="0"/>
                  </a:cubicBezTo>
                  <a:lnTo>
                    <a:pt x="11704320" y="0"/>
                  </a:lnTo>
                  <a:cubicBezTo>
                    <a:pt x="11805285" y="0"/>
                    <a:pt x="11887200" y="81915"/>
                    <a:pt x="11887200" y="182880"/>
                  </a:cubicBezTo>
                  <a:lnTo>
                    <a:pt x="11887200" y="5303520"/>
                  </a:lnTo>
                  <a:cubicBezTo>
                    <a:pt x="11887200" y="5404485"/>
                    <a:pt x="11805285" y="5486400"/>
                    <a:pt x="11704320" y="5486400"/>
                  </a:cubicBezTo>
                  <a:lnTo>
                    <a:pt x="182880" y="5486400"/>
                  </a:lnTo>
                  <a:cubicBezTo>
                    <a:pt x="81915" y="5486400"/>
                    <a:pt x="0" y="5404485"/>
                    <a:pt x="0" y="5303520"/>
                  </a:cubicBezTo>
                  <a:close/>
                </a:path>
              </a:pathLst>
            </a:custGeom>
            <a:solidFill>
              <a:srgbClr val="FFFFFF"/>
            </a:solidFill>
          </p:spPr>
        </p:sp>
      </p:grpSp>
      <p:sp>
        <p:nvSpPr>
          <p:cNvPr name="TextBox 63" id="63"/>
          <p:cNvSpPr txBox="true"/>
          <p:nvPr/>
        </p:nvSpPr>
        <p:spPr>
          <a:xfrm rot="0">
            <a:off x="1440180" y="3873246"/>
            <a:ext cx="8092440" cy="575310"/>
          </a:xfrm>
          <a:prstGeom prst="rect">
            <a:avLst/>
          </a:prstGeom>
        </p:spPr>
        <p:txBody>
          <a:bodyPr anchor="t" rtlCol="false" tIns="0" lIns="0" bIns="0" rIns="0">
            <a:spAutoFit/>
          </a:bodyPr>
          <a:lstStyle/>
          <a:p>
            <a:pPr algn="l">
              <a:lnSpc>
                <a:spcPts val="3037"/>
              </a:lnSpc>
            </a:pPr>
            <a:r>
              <a:rPr lang="en-US" sz="1875" b="true">
                <a:solidFill>
                  <a:srgbClr val="387F7F"/>
                </a:solidFill>
                <a:latin typeface="Poppins Bold"/>
                <a:ea typeface="Poppins Bold"/>
                <a:cs typeface="Poppins Bold"/>
                <a:sym typeface="Poppins Bold"/>
              </a:rPr>
              <a:t>The finished SwiftRoute dashboard:</a:t>
            </a:r>
          </a:p>
        </p:txBody>
      </p:sp>
      <p:grpSp>
        <p:nvGrpSpPr>
          <p:cNvPr name="Group 64" id="64"/>
          <p:cNvGrpSpPr/>
          <p:nvPr/>
        </p:nvGrpSpPr>
        <p:grpSpPr>
          <a:xfrm rot="0">
            <a:off x="1440180" y="4585716"/>
            <a:ext cx="4114800" cy="548640"/>
            <a:chOff x="0" y="0"/>
            <a:chExt cx="5486400" cy="731520"/>
          </a:xfrm>
        </p:grpSpPr>
        <p:sp>
          <p:nvSpPr>
            <p:cNvPr name="Freeform 65" id="65"/>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9">
                <a:alphaModFix amt="0"/>
              </a:blip>
              <a:stretch>
                <a:fillRect l="0" t="-96137" r="0" b="-96137"/>
              </a:stretch>
            </a:blipFill>
          </p:spPr>
        </p:sp>
        <p:sp>
          <p:nvSpPr>
            <p:cNvPr name="TextBox 66" id="66"/>
            <p:cNvSpPr txBox="true"/>
            <p:nvPr/>
          </p:nvSpPr>
          <p:spPr>
            <a:xfrm>
              <a:off x="0" y="-19050"/>
              <a:ext cx="5486400" cy="750570"/>
            </a:xfrm>
            <a:prstGeom prst="rect">
              <a:avLst/>
            </a:prstGeom>
          </p:spPr>
          <p:txBody>
            <a:bodyPr anchor="ctr" rtlCol="false" tIns="0" lIns="0" bIns="0" rIns="0"/>
            <a:lstStyle/>
            <a:p>
              <a:pPr algn="l">
                <a:lnSpc>
                  <a:spcPts val="2250"/>
                </a:lnSpc>
              </a:pPr>
              <a:r>
                <a:rPr lang="en-US" sz="1875">
                  <a:solidFill>
                    <a:srgbClr val="475569"/>
                  </a:solidFill>
                  <a:latin typeface="Poppins"/>
                  <a:ea typeface="Poppins"/>
                  <a:cs typeface="Poppins"/>
                  <a:sym typeface="Poppins"/>
                </a:rPr>
                <a:t>On-Time Rate</a:t>
              </a:r>
            </a:p>
          </p:txBody>
        </p:sp>
      </p:grpSp>
      <p:grpSp>
        <p:nvGrpSpPr>
          <p:cNvPr name="Group 67" id="67"/>
          <p:cNvGrpSpPr/>
          <p:nvPr/>
        </p:nvGrpSpPr>
        <p:grpSpPr>
          <a:xfrm rot="0">
            <a:off x="5554980" y="4585716"/>
            <a:ext cx="4114800" cy="548640"/>
            <a:chOff x="0" y="0"/>
            <a:chExt cx="5486400" cy="731520"/>
          </a:xfrm>
        </p:grpSpPr>
        <p:sp>
          <p:nvSpPr>
            <p:cNvPr name="Freeform 68" id="68"/>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9">
                <a:alphaModFix amt="0"/>
              </a:blip>
              <a:stretch>
                <a:fillRect l="0" t="-96137" r="0" b="-96137"/>
              </a:stretch>
            </a:blipFill>
          </p:spPr>
        </p:sp>
        <p:sp>
          <p:nvSpPr>
            <p:cNvPr name="TextBox 69" id="69"/>
            <p:cNvSpPr txBox="true"/>
            <p:nvPr/>
          </p:nvSpPr>
          <p:spPr>
            <a:xfrm>
              <a:off x="0" y="-19050"/>
              <a:ext cx="5486400" cy="750570"/>
            </a:xfrm>
            <a:prstGeom prst="rect">
              <a:avLst/>
            </a:prstGeom>
          </p:spPr>
          <p:txBody>
            <a:bodyPr anchor="ctr" rtlCol="false" tIns="0" lIns="0" bIns="0" rIns="0"/>
            <a:lstStyle/>
            <a:p>
              <a:pPr algn="r">
                <a:lnSpc>
                  <a:spcPts val="2340"/>
                </a:lnSpc>
              </a:pPr>
              <a:r>
                <a:rPr lang="en-US" sz="1950" b="true">
                  <a:solidFill>
                    <a:srgbClr val="387F7F"/>
                  </a:solidFill>
                  <a:latin typeface="Poppins Bold"/>
                  <a:ea typeface="Poppins Bold"/>
                  <a:cs typeface="Poppins Bold"/>
                  <a:sym typeface="Poppins Bold"/>
                </a:rPr>
                <a:t>82.0%  (target 90%)</a:t>
              </a:r>
            </a:p>
          </p:txBody>
        </p:sp>
      </p:grpSp>
      <p:grpSp>
        <p:nvGrpSpPr>
          <p:cNvPr name="Group 70" id="70"/>
          <p:cNvGrpSpPr/>
          <p:nvPr/>
        </p:nvGrpSpPr>
        <p:grpSpPr>
          <a:xfrm rot="0">
            <a:off x="1440180" y="5161788"/>
            <a:ext cx="4114800" cy="548640"/>
            <a:chOff x="0" y="0"/>
            <a:chExt cx="5486400" cy="731520"/>
          </a:xfrm>
        </p:grpSpPr>
        <p:sp>
          <p:nvSpPr>
            <p:cNvPr name="Freeform 71" id="71"/>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9">
                <a:alphaModFix amt="0"/>
              </a:blip>
              <a:stretch>
                <a:fillRect l="0" t="-96137" r="0" b="-96137"/>
              </a:stretch>
            </a:blipFill>
          </p:spPr>
        </p:sp>
        <p:sp>
          <p:nvSpPr>
            <p:cNvPr name="TextBox 72" id="72"/>
            <p:cNvSpPr txBox="true"/>
            <p:nvPr/>
          </p:nvSpPr>
          <p:spPr>
            <a:xfrm>
              <a:off x="0" y="-19050"/>
              <a:ext cx="5486400" cy="750570"/>
            </a:xfrm>
            <a:prstGeom prst="rect">
              <a:avLst/>
            </a:prstGeom>
          </p:spPr>
          <p:txBody>
            <a:bodyPr anchor="ctr" rtlCol="false" tIns="0" lIns="0" bIns="0" rIns="0"/>
            <a:lstStyle/>
            <a:p>
              <a:pPr algn="l">
                <a:lnSpc>
                  <a:spcPts val="2250"/>
                </a:lnSpc>
              </a:pPr>
              <a:r>
                <a:rPr lang="en-US" sz="1875">
                  <a:solidFill>
                    <a:srgbClr val="475569"/>
                  </a:solidFill>
                  <a:latin typeface="Poppins"/>
                  <a:ea typeface="Poppins"/>
                  <a:cs typeface="Poppins"/>
                  <a:sym typeface="Poppins"/>
                </a:rPr>
                <a:t>Total Deliveries</a:t>
              </a:r>
            </a:p>
          </p:txBody>
        </p:sp>
      </p:grpSp>
      <p:grpSp>
        <p:nvGrpSpPr>
          <p:cNvPr name="Group 73" id="73"/>
          <p:cNvGrpSpPr/>
          <p:nvPr/>
        </p:nvGrpSpPr>
        <p:grpSpPr>
          <a:xfrm rot="0">
            <a:off x="5554980" y="5161788"/>
            <a:ext cx="4114800" cy="548640"/>
            <a:chOff x="0" y="0"/>
            <a:chExt cx="5486400" cy="731520"/>
          </a:xfrm>
        </p:grpSpPr>
        <p:sp>
          <p:nvSpPr>
            <p:cNvPr name="Freeform 74" id="74"/>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9">
                <a:alphaModFix amt="0"/>
              </a:blip>
              <a:stretch>
                <a:fillRect l="0" t="-96137" r="0" b="-96137"/>
              </a:stretch>
            </a:blipFill>
          </p:spPr>
        </p:sp>
        <p:sp>
          <p:nvSpPr>
            <p:cNvPr name="TextBox 75" id="75"/>
            <p:cNvSpPr txBox="true"/>
            <p:nvPr/>
          </p:nvSpPr>
          <p:spPr>
            <a:xfrm>
              <a:off x="0" y="-19050"/>
              <a:ext cx="5486400" cy="750570"/>
            </a:xfrm>
            <a:prstGeom prst="rect">
              <a:avLst/>
            </a:prstGeom>
          </p:spPr>
          <p:txBody>
            <a:bodyPr anchor="ctr" rtlCol="false" tIns="0" lIns="0" bIns="0" rIns="0"/>
            <a:lstStyle/>
            <a:p>
              <a:pPr algn="r">
                <a:lnSpc>
                  <a:spcPts val="2340"/>
                </a:lnSpc>
              </a:pPr>
              <a:r>
                <a:rPr lang="en-US" sz="1950" b="true">
                  <a:solidFill>
                    <a:srgbClr val="387F7F"/>
                  </a:solidFill>
                  <a:latin typeface="Poppins Bold"/>
                  <a:ea typeface="Poppins Bold"/>
                  <a:cs typeface="Poppins Bold"/>
                  <a:sym typeface="Poppins Bold"/>
                </a:rPr>
                <a:t>41,280</a:t>
              </a:r>
            </a:p>
          </p:txBody>
        </p:sp>
      </p:grpSp>
      <p:grpSp>
        <p:nvGrpSpPr>
          <p:cNvPr name="Group 76" id="76"/>
          <p:cNvGrpSpPr/>
          <p:nvPr/>
        </p:nvGrpSpPr>
        <p:grpSpPr>
          <a:xfrm rot="0">
            <a:off x="1440180" y="5737860"/>
            <a:ext cx="4114800" cy="548640"/>
            <a:chOff x="0" y="0"/>
            <a:chExt cx="5486400" cy="731520"/>
          </a:xfrm>
        </p:grpSpPr>
        <p:sp>
          <p:nvSpPr>
            <p:cNvPr name="Freeform 77" id="77"/>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9">
                <a:alphaModFix amt="0"/>
              </a:blip>
              <a:stretch>
                <a:fillRect l="0" t="-96137" r="0" b="-96137"/>
              </a:stretch>
            </a:blipFill>
          </p:spPr>
        </p:sp>
        <p:sp>
          <p:nvSpPr>
            <p:cNvPr name="TextBox 78" id="78"/>
            <p:cNvSpPr txBox="true"/>
            <p:nvPr/>
          </p:nvSpPr>
          <p:spPr>
            <a:xfrm>
              <a:off x="0" y="-19050"/>
              <a:ext cx="5486400" cy="750570"/>
            </a:xfrm>
            <a:prstGeom prst="rect">
              <a:avLst/>
            </a:prstGeom>
          </p:spPr>
          <p:txBody>
            <a:bodyPr anchor="ctr" rtlCol="false" tIns="0" lIns="0" bIns="0" rIns="0"/>
            <a:lstStyle/>
            <a:p>
              <a:pPr algn="l">
                <a:lnSpc>
                  <a:spcPts val="2250"/>
                </a:lnSpc>
              </a:pPr>
              <a:r>
                <a:rPr lang="en-US" sz="1875">
                  <a:solidFill>
                    <a:srgbClr val="475569"/>
                  </a:solidFill>
                  <a:latin typeface="Poppins"/>
                  <a:ea typeface="Poppins"/>
                  <a:cs typeface="Poppins"/>
                  <a:sym typeface="Poppins"/>
                </a:rPr>
                <a:t>Total Revenue</a:t>
              </a:r>
            </a:p>
          </p:txBody>
        </p:sp>
      </p:grpSp>
      <p:grpSp>
        <p:nvGrpSpPr>
          <p:cNvPr name="Group 79" id="79"/>
          <p:cNvGrpSpPr/>
          <p:nvPr/>
        </p:nvGrpSpPr>
        <p:grpSpPr>
          <a:xfrm rot="0">
            <a:off x="5554980" y="5737860"/>
            <a:ext cx="4114800" cy="548640"/>
            <a:chOff x="0" y="0"/>
            <a:chExt cx="5486400" cy="731520"/>
          </a:xfrm>
        </p:grpSpPr>
        <p:sp>
          <p:nvSpPr>
            <p:cNvPr name="Freeform 80" id="80"/>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9">
                <a:alphaModFix amt="0"/>
              </a:blip>
              <a:stretch>
                <a:fillRect l="0" t="-96137" r="0" b="-96137"/>
              </a:stretch>
            </a:blipFill>
          </p:spPr>
        </p:sp>
        <p:sp>
          <p:nvSpPr>
            <p:cNvPr name="TextBox 81" id="81"/>
            <p:cNvSpPr txBox="true"/>
            <p:nvPr/>
          </p:nvSpPr>
          <p:spPr>
            <a:xfrm>
              <a:off x="0" y="-19050"/>
              <a:ext cx="5486400" cy="750570"/>
            </a:xfrm>
            <a:prstGeom prst="rect">
              <a:avLst/>
            </a:prstGeom>
          </p:spPr>
          <p:txBody>
            <a:bodyPr anchor="ctr" rtlCol="false" tIns="0" lIns="0" bIns="0" rIns="0"/>
            <a:lstStyle/>
            <a:p>
              <a:pPr algn="r">
                <a:lnSpc>
                  <a:spcPts val="2340"/>
                </a:lnSpc>
              </a:pPr>
              <a:r>
                <a:rPr lang="en-US" sz="1950" b="true">
                  <a:solidFill>
                    <a:srgbClr val="387F7F"/>
                  </a:solidFill>
                  <a:latin typeface="Poppins Bold"/>
                  <a:ea typeface="Poppins Bold"/>
                  <a:cs typeface="Poppins Bold"/>
                  <a:sym typeface="Poppins Bold"/>
                </a:rPr>
                <a:t>₦247,680,000</a:t>
              </a:r>
            </a:p>
          </p:txBody>
        </p:sp>
      </p:grpSp>
      <p:grpSp>
        <p:nvGrpSpPr>
          <p:cNvPr name="Group 82" id="82"/>
          <p:cNvGrpSpPr/>
          <p:nvPr/>
        </p:nvGrpSpPr>
        <p:grpSpPr>
          <a:xfrm rot="0">
            <a:off x="1440180" y="6313932"/>
            <a:ext cx="4114800" cy="548640"/>
            <a:chOff x="0" y="0"/>
            <a:chExt cx="5486400" cy="731520"/>
          </a:xfrm>
        </p:grpSpPr>
        <p:sp>
          <p:nvSpPr>
            <p:cNvPr name="Freeform 83" id="83"/>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9">
                <a:alphaModFix amt="0"/>
              </a:blip>
              <a:stretch>
                <a:fillRect l="0" t="-96137" r="0" b="-96137"/>
              </a:stretch>
            </a:blipFill>
          </p:spPr>
        </p:sp>
        <p:sp>
          <p:nvSpPr>
            <p:cNvPr name="TextBox 84" id="84"/>
            <p:cNvSpPr txBox="true"/>
            <p:nvPr/>
          </p:nvSpPr>
          <p:spPr>
            <a:xfrm>
              <a:off x="0" y="-19050"/>
              <a:ext cx="5486400" cy="750570"/>
            </a:xfrm>
            <a:prstGeom prst="rect">
              <a:avLst/>
            </a:prstGeom>
          </p:spPr>
          <p:txBody>
            <a:bodyPr anchor="ctr" rtlCol="false" tIns="0" lIns="0" bIns="0" rIns="0"/>
            <a:lstStyle/>
            <a:p>
              <a:pPr algn="l">
                <a:lnSpc>
                  <a:spcPts val="2250"/>
                </a:lnSpc>
              </a:pPr>
              <a:r>
                <a:rPr lang="en-US" sz="1875">
                  <a:solidFill>
                    <a:srgbClr val="475569"/>
                  </a:solidFill>
                  <a:latin typeface="Poppins"/>
                  <a:ea typeface="Poppins"/>
                  <a:cs typeface="Poppins"/>
                  <a:sym typeface="Poppins"/>
                </a:rPr>
                <a:t>Late Deliveries</a:t>
              </a:r>
            </a:p>
          </p:txBody>
        </p:sp>
      </p:grpSp>
      <p:grpSp>
        <p:nvGrpSpPr>
          <p:cNvPr name="Group 85" id="85"/>
          <p:cNvGrpSpPr/>
          <p:nvPr/>
        </p:nvGrpSpPr>
        <p:grpSpPr>
          <a:xfrm rot="0">
            <a:off x="5554980" y="6313932"/>
            <a:ext cx="4114800" cy="548640"/>
            <a:chOff x="0" y="0"/>
            <a:chExt cx="5486400" cy="731520"/>
          </a:xfrm>
        </p:grpSpPr>
        <p:sp>
          <p:nvSpPr>
            <p:cNvPr name="Freeform 86" id="86"/>
            <p:cNvSpPr/>
            <p:nvPr/>
          </p:nvSpPr>
          <p:spPr>
            <a:xfrm flipH="false" flipV="false" rot="0">
              <a:off x="0" y="0"/>
              <a:ext cx="5486400" cy="731520"/>
            </a:xfrm>
            <a:custGeom>
              <a:avLst/>
              <a:gdLst/>
              <a:ahLst/>
              <a:cxnLst/>
              <a:rect r="r" b="b" t="t" l="l"/>
              <a:pathLst>
                <a:path h="731520" w="5486400">
                  <a:moveTo>
                    <a:pt x="0" y="0"/>
                  </a:moveTo>
                  <a:lnTo>
                    <a:pt x="5486400" y="0"/>
                  </a:lnTo>
                  <a:lnTo>
                    <a:pt x="5486400" y="731520"/>
                  </a:lnTo>
                  <a:lnTo>
                    <a:pt x="0" y="731520"/>
                  </a:lnTo>
                  <a:close/>
                </a:path>
              </a:pathLst>
            </a:custGeom>
            <a:blipFill>
              <a:blip r:embed="rId9">
                <a:alphaModFix amt="0"/>
              </a:blip>
              <a:stretch>
                <a:fillRect l="0" t="-96137" r="0" b="-96137"/>
              </a:stretch>
            </a:blipFill>
          </p:spPr>
        </p:sp>
        <p:sp>
          <p:nvSpPr>
            <p:cNvPr name="TextBox 87" id="87"/>
            <p:cNvSpPr txBox="true"/>
            <p:nvPr/>
          </p:nvSpPr>
          <p:spPr>
            <a:xfrm>
              <a:off x="0" y="-19050"/>
              <a:ext cx="5486400" cy="750570"/>
            </a:xfrm>
            <a:prstGeom prst="rect">
              <a:avLst/>
            </a:prstGeom>
          </p:spPr>
          <p:txBody>
            <a:bodyPr anchor="ctr" rtlCol="false" tIns="0" lIns="0" bIns="0" rIns="0"/>
            <a:lstStyle/>
            <a:p>
              <a:pPr algn="r">
                <a:lnSpc>
                  <a:spcPts val="2340"/>
                </a:lnSpc>
              </a:pPr>
              <a:r>
                <a:rPr lang="en-US" sz="1950" b="true">
                  <a:solidFill>
                    <a:srgbClr val="387F7F"/>
                  </a:solidFill>
                  <a:latin typeface="Poppins Bold"/>
                  <a:ea typeface="Poppins Bold"/>
                  <a:cs typeface="Poppins Bold"/>
                  <a:sym typeface="Poppins Bold"/>
                </a:rPr>
                <a:t>7,430</a:t>
              </a:r>
            </a:p>
          </p:txBody>
        </p:sp>
      </p:grpSp>
      <p:sp>
        <p:nvSpPr>
          <p:cNvPr name="TextBox 88" id="88"/>
          <p:cNvSpPr txBox="true"/>
          <p:nvPr/>
        </p:nvSpPr>
        <p:spPr>
          <a:xfrm rot="0">
            <a:off x="1440180" y="6970014"/>
            <a:ext cx="8092440" cy="880110"/>
          </a:xfrm>
          <a:prstGeom prst="rect">
            <a:avLst/>
          </a:prstGeom>
        </p:spPr>
        <p:txBody>
          <a:bodyPr anchor="t" rtlCol="false" tIns="0" lIns="0" bIns="0" rIns="0">
            <a:spAutoFit/>
          </a:bodyPr>
          <a:lstStyle/>
          <a:p>
            <a:pPr algn="l">
              <a:lnSpc>
                <a:spcPts val="2587"/>
              </a:lnSpc>
            </a:pPr>
            <a:r>
              <a:rPr lang="en-US" sz="1725" i="true">
                <a:solidFill>
                  <a:srgbClr val="64748B"/>
                </a:solidFill>
                <a:latin typeface="Poppins Italics"/>
                <a:ea typeface="Poppins Italics"/>
                <a:cs typeface="Poppins Italics"/>
                <a:sym typeface="Poppins Italics"/>
              </a:rPr>
              <a:t>Ranked route chart, LAG-07 last at 61.4%. Rider table filterable by Hub.</a:t>
            </a:r>
          </a:p>
        </p:txBody>
      </p:sp>
      <p:grpSp>
        <p:nvGrpSpPr>
          <p:cNvPr name="Group 89" id="89"/>
          <p:cNvGrpSpPr/>
          <p:nvPr/>
        </p:nvGrpSpPr>
        <p:grpSpPr>
          <a:xfrm rot="0">
            <a:off x="10355580" y="3694176"/>
            <a:ext cx="5486400" cy="4114800"/>
            <a:chOff x="0" y="0"/>
            <a:chExt cx="7315200" cy="5486400"/>
          </a:xfrm>
        </p:grpSpPr>
        <p:sp>
          <p:nvSpPr>
            <p:cNvPr name="Freeform 90" id="90"/>
            <p:cNvSpPr/>
            <p:nvPr/>
          </p:nvSpPr>
          <p:spPr>
            <a:xfrm flipH="false" flipV="false" rot="0">
              <a:off x="0" y="0"/>
              <a:ext cx="7315200" cy="5486400"/>
            </a:xfrm>
            <a:custGeom>
              <a:avLst/>
              <a:gdLst/>
              <a:ahLst/>
              <a:cxnLst/>
              <a:rect r="r" b="b" t="t" l="l"/>
              <a:pathLst>
                <a:path h="5486400" w="7315200">
                  <a:moveTo>
                    <a:pt x="0" y="164592"/>
                  </a:moveTo>
                  <a:cubicBezTo>
                    <a:pt x="0" y="73660"/>
                    <a:pt x="73660" y="0"/>
                    <a:pt x="164592" y="0"/>
                  </a:cubicBezTo>
                  <a:lnTo>
                    <a:pt x="7150608" y="0"/>
                  </a:lnTo>
                  <a:cubicBezTo>
                    <a:pt x="7241540" y="0"/>
                    <a:pt x="7315200" y="73660"/>
                    <a:pt x="7315200" y="164592"/>
                  </a:cubicBezTo>
                  <a:lnTo>
                    <a:pt x="7315200" y="5321808"/>
                  </a:lnTo>
                  <a:cubicBezTo>
                    <a:pt x="7315200" y="5412740"/>
                    <a:pt x="7241540" y="5486400"/>
                    <a:pt x="7150608" y="5486400"/>
                  </a:cubicBezTo>
                  <a:lnTo>
                    <a:pt x="164592" y="5486400"/>
                  </a:lnTo>
                  <a:cubicBezTo>
                    <a:pt x="73660" y="5486400"/>
                    <a:pt x="0" y="5412740"/>
                    <a:pt x="0" y="5321808"/>
                  </a:cubicBezTo>
                  <a:close/>
                </a:path>
              </a:pathLst>
            </a:custGeom>
            <a:solidFill>
              <a:srgbClr val="FFFFFF"/>
            </a:solidFill>
          </p:spPr>
        </p:sp>
      </p:grpSp>
      <p:grpSp>
        <p:nvGrpSpPr>
          <p:cNvPr name="Group 91" id="91"/>
          <p:cNvGrpSpPr/>
          <p:nvPr/>
        </p:nvGrpSpPr>
        <p:grpSpPr>
          <a:xfrm rot="0">
            <a:off x="10355580" y="3694176"/>
            <a:ext cx="102870" cy="4114800"/>
            <a:chOff x="0" y="0"/>
            <a:chExt cx="137160" cy="5486400"/>
          </a:xfrm>
        </p:grpSpPr>
        <p:sp>
          <p:nvSpPr>
            <p:cNvPr name="Freeform 92" id="92"/>
            <p:cNvSpPr/>
            <p:nvPr/>
          </p:nvSpPr>
          <p:spPr>
            <a:xfrm flipH="false" flipV="false" rot="0">
              <a:off x="0" y="0"/>
              <a:ext cx="137160" cy="5486400"/>
            </a:xfrm>
            <a:custGeom>
              <a:avLst/>
              <a:gdLst/>
              <a:ahLst/>
              <a:cxnLst/>
              <a:rect r="r" b="b" t="t" l="l"/>
              <a:pathLst>
                <a:path h="5486400" w="137160">
                  <a:moveTo>
                    <a:pt x="0" y="0"/>
                  </a:moveTo>
                  <a:lnTo>
                    <a:pt x="137160" y="0"/>
                  </a:lnTo>
                  <a:lnTo>
                    <a:pt x="137160" y="5486400"/>
                  </a:lnTo>
                  <a:lnTo>
                    <a:pt x="0" y="5486400"/>
                  </a:lnTo>
                  <a:close/>
                </a:path>
              </a:pathLst>
            </a:custGeom>
            <a:solidFill>
              <a:srgbClr val="387F7F"/>
            </a:solidFill>
          </p:spPr>
        </p:sp>
      </p:grpSp>
      <p:grpSp>
        <p:nvGrpSpPr>
          <p:cNvPr name="Group 93" id="93"/>
          <p:cNvGrpSpPr/>
          <p:nvPr/>
        </p:nvGrpSpPr>
        <p:grpSpPr>
          <a:xfrm rot="0">
            <a:off x="10767060" y="3968496"/>
            <a:ext cx="4663440" cy="411480"/>
            <a:chOff x="0" y="0"/>
            <a:chExt cx="6217920" cy="548640"/>
          </a:xfrm>
        </p:grpSpPr>
        <p:sp>
          <p:nvSpPr>
            <p:cNvPr name="Freeform 94" id="94"/>
            <p:cNvSpPr/>
            <p:nvPr/>
          </p:nvSpPr>
          <p:spPr>
            <a:xfrm flipH="false" flipV="false" rot="0">
              <a:off x="0" y="0"/>
              <a:ext cx="6217920" cy="548640"/>
            </a:xfrm>
            <a:custGeom>
              <a:avLst/>
              <a:gdLst/>
              <a:ahLst/>
              <a:cxnLst/>
              <a:rect r="r" b="b" t="t" l="l"/>
              <a:pathLst>
                <a:path h="548640" w="6217920">
                  <a:moveTo>
                    <a:pt x="0" y="0"/>
                  </a:moveTo>
                  <a:lnTo>
                    <a:pt x="6217920" y="0"/>
                  </a:lnTo>
                  <a:lnTo>
                    <a:pt x="6217920" y="548640"/>
                  </a:lnTo>
                  <a:lnTo>
                    <a:pt x="0" y="548640"/>
                  </a:lnTo>
                  <a:close/>
                </a:path>
              </a:pathLst>
            </a:custGeom>
            <a:blipFill>
              <a:blip r:embed="rId9">
                <a:alphaModFix amt="0"/>
              </a:blip>
              <a:stretch>
                <a:fillRect l="0" t="-170830" r="0" b="-170830"/>
              </a:stretch>
            </a:blipFill>
          </p:spPr>
        </p:sp>
        <p:sp>
          <p:nvSpPr>
            <p:cNvPr name="TextBox 95" id="95"/>
            <p:cNvSpPr txBox="true"/>
            <p:nvPr/>
          </p:nvSpPr>
          <p:spPr>
            <a:xfrm>
              <a:off x="0" y="-9525"/>
              <a:ext cx="6217920" cy="558165"/>
            </a:xfrm>
            <a:prstGeom prst="rect">
              <a:avLst/>
            </a:prstGeom>
          </p:spPr>
          <p:txBody>
            <a:bodyPr anchor="ctr" rtlCol="false" tIns="0" lIns="0" bIns="0" rIns="0"/>
            <a:lstStyle/>
            <a:p>
              <a:pPr algn="l">
                <a:lnSpc>
                  <a:spcPts val="1980"/>
                </a:lnSpc>
              </a:pPr>
              <a:r>
                <a:rPr lang="en-US" sz="1650" b="true">
                  <a:solidFill>
                    <a:srgbClr val="387F7F"/>
                  </a:solidFill>
                  <a:latin typeface="Poppins Bold"/>
                  <a:ea typeface="Poppins Bold"/>
                  <a:cs typeface="Poppins Bold"/>
                  <a:sym typeface="Poppins Bold"/>
                </a:rPr>
                <a:t>WHY THIS ORDER</a:t>
              </a:r>
            </a:p>
          </p:txBody>
        </p:sp>
      </p:grpSp>
      <p:sp>
        <p:nvSpPr>
          <p:cNvPr name="TextBox 96" id="96"/>
          <p:cNvSpPr txBox="true"/>
          <p:nvPr/>
        </p:nvSpPr>
        <p:spPr>
          <a:xfrm rot="0">
            <a:off x="10767060" y="4362831"/>
            <a:ext cx="4663440" cy="3240405"/>
          </a:xfrm>
          <a:prstGeom prst="rect">
            <a:avLst/>
          </a:prstGeom>
        </p:spPr>
        <p:txBody>
          <a:bodyPr anchor="t" rtlCol="false" tIns="0" lIns="0" bIns="0" rIns="0">
            <a:spAutoFit/>
          </a:bodyPr>
          <a:lstStyle/>
          <a:p>
            <a:pPr algn="l">
              <a:lnSpc>
                <a:spcPts val="3088"/>
              </a:lnSpc>
            </a:pPr>
            <a:r>
              <a:rPr lang="en-US" sz="1950">
                <a:solidFill>
                  <a:srgbClr val="475569"/>
                </a:solidFill>
                <a:latin typeface="Poppins"/>
                <a:ea typeface="Poppins"/>
                <a:cs typeface="Poppins"/>
                <a:sym typeface="Poppins"/>
              </a:rPr>
              <a:t>Cards first means the headline answers exist before you spend forty minutes on a chart nobody needed.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1029355"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How to</a:t>
            </a:r>
            <a:r>
              <a:rPr lang="en-US" sz="5000">
                <a:solidFill>
                  <a:srgbClr val="388080"/>
                </a:solidFill>
                <a:latin typeface="Poppins"/>
                <a:ea typeface="Poppins"/>
                <a:cs typeface="Poppins"/>
                <a:sym typeface="Poppins"/>
              </a:rPr>
              <a:t> present it in ninety seconds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14400" y="2626233"/>
            <a:ext cx="7063740" cy="4869180"/>
            <a:chOff x="0" y="0"/>
            <a:chExt cx="9418320" cy="6492240"/>
          </a:xfrm>
        </p:grpSpPr>
        <p:sp>
          <p:nvSpPr>
            <p:cNvPr name="Freeform 12" id="12"/>
            <p:cNvSpPr/>
            <p:nvPr/>
          </p:nvSpPr>
          <p:spPr>
            <a:xfrm flipH="false" flipV="false" rot="0">
              <a:off x="0" y="0"/>
              <a:ext cx="9418320" cy="6492240"/>
            </a:xfrm>
            <a:custGeom>
              <a:avLst/>
              <a:gdLst/>
              <a:ahLst/>
              <a:cxnLst/>
              <a:rect r="r" b="b" t="t" l="l"/>
              <a:pathLst>
                <a:path h="6492240" w="9418320">
                  <a:moveTo>
                    <a:pt x="0" y="182880"/>
                  </a:moveTo>
                  <a:cubicBezTo>
                    <a:pt x="0" y="81915"/>
                    <a:pt x="81915" y="0"/>
                    <a:pt x="182880" y="0"/>
                  </a:cubicBezTo>
                  <a:lnTo>
                    <a:pt x="9235440" y="0"/>
                  </a:lnTo>
                  <a:cubicBezTo>
                    <a:pt x="9336405" y="0"/>
                    <a:pt x="9418320" y="81915"/>
                    <a:pt x="9418320" y="182880"/>
                  </a:cubicBezTo>
                  <a:lnTo>
                    <a:pt x="9418320" y="6309360"/>
                  </a:lnTo>
                  <a:cubicBezTo>
                    <a:pt x="9418320" y="6410325"/>
                    <a:pt x="9336405" y="6492240"/>
                    <a:pt x="9235440" y="6492240"/>
                  </a:cubicBezTo>
                  <a:lnTo>
                    <a:pt x="182880" y="6492240"/>
                  </a:lnTo>
                  <a:cubicBezTo>
                    <a:pt x="81915" y="6492240"/>
                    <a:pt x="0" y="6410325"/>
                    <a:pt x="0" y="6309360"/>
                  </a:cubicBezTo>
                  <a:close/>
                </a:path>
              </a:pathLst>
            </a:custGeom>
            <a:solidFill>
              <a:srgbClr val="FFFFFF"/>
            </a:solidFill>
          </p:spPr>
        </p:sp>
      </p:grpSp>
      <p:grpSp>
        <p:nvGrpSpPr>
          <p:cNvPr name="Group 13" id="13"/>
          <p:cNvGrpSpPr/>
          <p:nvPr/>
        </p:nvGrpSpPr>
        <p:grpSpPr>
          <a:xfrm rot="0">
            <a:off x="1325880" y="2900553"/>
            <a:ext cx="6240780" cy="411480"/>
            <a:chOff x="0" y="0"/>
            <a:chExt cx="8321040" cy="548640"/>
          </a:xfrm>
        </p:grpSpPr>
        <p:sp>
          <p:nvSpPr>
            <p:cNvPr name="Freeform 14" id="14"/>
            <p:cNvSpPr/>
            <p:nvPr/>
          </p:nvSpPr>
          <p:spPr>
            <a:xfrm flipH="false" flipV="false" rot="0">
              <a:off x="0" y="0"/>
              <a:ext cx="8321040" cy="548640"/>
            </a:xfrm>
            <a:custGeom>
              <a:avLst/>
              <a:gdLst/>
              <a:ahLst/>
              <a:cxnLst/>
              <a:rect r="r" b="b" t="t" l="l"/>
              <a:pathLst>
                <a:path h="548640" w="8321040">
                  <a:moveTo>
                    <a:pt x="0" y="0"/>
                  </a:moveTo>
                  <a:lnTo>
                    <a:pt x="8321040" y="0"/>
                  </a:lnTo>
                  <a:lnTo>
                    <a:pt x="8321040" y="548640"/>
                  </a:lnTo>
                  <a:lnTo>
                    <a:pt x="0" y="548640"/>
                  </a:lnTo>
                  <a:close/>
                </a:path>
              </a:pathLst>
            </a:custGeom>
            <a:blipFill>
              <a:blip r:embed="rId9">
                <a:alphaModFix amt="0"/>
              </a:blip>
              <a:stretch>
                <a:fillRect l="0" t="-245523" r="0" b="-245523"/>
              </a:stretch>
            </a:blipFill>
          </p:spPr>
        </p:sp>
        <p:sp>
          <p:nvSpPr>
            <p:cNvPr name="TextBox 15" id="15"/>
            <p:cNvSpPr txBox="true"/>
            <p:nvPr/>
          </p:nvSpPr>
          <p:spPr>
            <a:xfrm>
              <a:off x="0" y="-9525"/>
              <a:ext cx="8321040" cy="558165"/>
            </a:xfrm>
            <a:prstGeom prst="rect">
              <a:avLst/>
            </a:prstGeom>
          </p:spPr>
          <p:txBody>
            <a:bodyPr anchor="ctr" rtlCol="false" tIns="0" lIns="0" bIns="0" rIns="0"/>
            <a:lstStyle/>
            <a:p>
              <a:pPr algn="l">
                <a:lnSpc>
                  <a:spcPts val="1980"/>
                </a:lnSpc>
              </a:pPr>
              <a:r>
                <a:rPr lang="en-US" b="true" sz="1650" spc="150">
                  <a:solidFill>
                    <a:srgbClr val="A8322D"/>
                  </a:solidFill>
                  <a:latin typeface="Poppins Bold"/>
                  <a:ea typeface="Poppins Bold"/>
                  <a:cs typeface="Poppins Bold"/>
                  <a:sym typeface="Poppins Bold"/>
                </a:rPr>
                <a:t>THE TOUR</a:t>
              </a:r>
            </a:p>
          </p:txBody>
        </p:sp>
      </p:grpSp>
      <p:sp>
        <p:nvSpPr>
          <p:cNvPr name="TextBox 16" id="16"/>
          <p:cNvSpPr txBox="true"/>
          <p:nvPr/>
        </p:nvSpPr>
        <p:spPr>
          <a:xfrm rot="0">
            <a:off x="1325880" y="3363468"/>
            <a:ext cx="6240780" cy="2280285"/>
          </a:xfrm>
          <a:prstGeom prst="rect">
            <a:avLst/>
          </a:prstGeom>
        </p:spPr>
        <p:txBody>
          <a:bodyPr anchor="t" rtlCol="false" tIns="0" lIns="0" bIns="0" rIns="0">
            <a:spAutoFit/>
          </a:bodyPr>
          <a:lstStyle/>
          <a:p>
            <a:pPr algn="l">
              <a:lnSpc>
                <a:spcPts val="3042"/>
              </a:lnSpc>
            </a:pPr>
            <a:r>
              <a:rPr lang="en-US" sz="1950" i="true">
                <a:solidFill>
                  <a:srgbClr val="475569"/>
                </a:solidFill>
                <a:latin typeface="Poppins Italics"/>
                <a:ea typeface="Poppins Italics"/>
                <a:cs typeface="Poppins Italics"/>
                <a:sym typeface="Poppins Italics"/>
              </a:rPr>
              <a:t>“Up here I have on-time rate, and then over here is deliveries by route, and if you click this slicer it filters, and down here is the rider table…”</a:t>
            </a:r>
          </a:p>
        </p:txBody>
      </p:sp>
      <p:grpSp>
        <p:nvGrpSpPr>
          <p:cNvPr name="Group 17" id="17"/>
          <p:cNvGrpSpPr/>
          <p:nvPr/>
        </p:nvGrpSpPr>
        <p:grpSpPr>
          <a:xfrm rot="0">
            <a:off x="1325880" y="5849493"/>
            <a:ext cx="4663440" cy="548640"/>
            <a:chOff x="0" y="0"/>
            <a:chExt cx="6217920" cy="731520"/>
          </a:xfrm>
        </p:grpSpPr>
        <p:sp>
          <p:nvSpPr>
            <p:cNvPr name="Freeform 18" id="18"/>
            <p:cNvSpPr/>
            <p:nvPr/>
          </p:nvSpPr>
          <p:spPr>
            <a:xfrm flipH="false" flipV="false" rot="0">
              <a:off x="0" y="0"/>
              <a:ext cx="6217920" cy="731520"/>
            </a:xfrm>
            <a:custGeom>
              <a:avLst/>
              <a:gdLst/>
              <a:ahLst/>
              <a:cxnLst/>
              <a:rect r="r" b="b" t="t" l="l"/>
              <a:pathLst>
                <a:path h="731520" w="6217920">
                  <a:moveTo>
                    <a:pt x="0" y="365760"/>
                  </a:moveTo>
                  <a:cubicBezTo>
                    <a:pt x="0" y="163703"/>
                    <a:pt x="163703" y="0"/>
                    <a:pt x="365760" y="0"/>
                  </a:cubicBezTo>
                  <a:lnTo>
                    <a:pt x="5852160" y="0"/>
                  </a:lnTo>
                  <a:cubicBezTo>
                    <a:pt x="6054217" y="0"/>
                    <a:pt x="6217920" y="163703"/>
                    <a:pt x="6217920" y="365760"/>
                  </a:cubicBezTo>
                  <a:cubicBezTo>
                    <a:pt x="6217920" y="567817"/>
                    <a:pt x="6054217" y="731520"/>
                    <a:pt x="5852160" y="731520"/>
                  </a:cubicBezTo>
                  <a:lnTo>
                    <a:pt x="365760" y="731520"/>
                  </a:lnTo>
                  <a:cubicBezTo>
                    <a:pt x="163703" y="731520"/>
                    <a:pt x="0" y="567817"/>
                    <a:pt x="0" y="365760"/>
                  </a:cubicBezTo>
                  <a:close/>
                </a:path>
              </a:pathLst>
            </a:custGeom>
            <a:solidFill>
              <a:srgbClr val="FBEDEC"/>
            </a:solidFill>
          </p:spPr>
        </p:sp>
      </p:grpSp>
      <p:grpSp>
        <p:nvGrpSpPr>
          <p:cNvPr name="Group 19" id="19"/>
          <p:cNvGrpSpPr/>
          <p:nvPr/>
        </p:nvGrpSpPr>
        <p:grpSpPr>
          <a:xfrm rot="0">
            <a:off x="1325880" y="5849493"/>
            <a:ext cx="4663440" cy="548640"/>
            <a:chOff x="0" y="0"/>
            <a:chExt cx="6217920" cy="731520"/>
          </a:xfrm>
        </p:grpSpPr>
        <p:sp>
          <p:nvSpPr>
            <p:cNvPr name="Freeform 20" id="20"/>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9">
                <a:alphaModFix amt="0"/>
              </a:blip>
              <a:stretch>
                <a:fillRect l="0" t="-115622" r="0" b="-115622"/>
              </a:stretch>
            </a:blipFill>
          </p:spPr>
        </p:sp>
        <p:sp>
          <p:nvSpPr>
            <p:cNvPr name="TextBox 21" id="21"/>
            <p:cNvSpPr txBox="true"/>
            <p:nvPr/>
          </p:nvSpPr>
          <p:spPr>
            <a:xfrm>
              <a:off x="0" y="-9525"/>
              <a:ext cx="6217920" cy="741045"/>
            </a:xfrm>
            <a:prstGeom prst="rect">
              <a:avLst/>
            </a:prstGeom>
          </p:spPr>
          <p:txBody>
            <a:bodyPr anchor="ctr" rtlCol="false" tIns="0" lIns="0" bIns="0" rIns="0"/>
            <a:lstStyle/>
            <a:p>
              <a:pPr algn="ctr">
                <a:lnSpc>
                  <a:spcPts val="1980"/>
                </a:lnSpc>
              </a:pPr>
              <a:r>
                <a:rPr lang="en-US" sz="1650" b="true">
                  <a:solidFill>
                    <a:srgbClr val="A8322D"/>
                  </a:solidFill>
                  <a:latin typeface="Poppins Bold"/>
                  <a:ea typeface="Poppins Bold"/>
                  <a:cs typeface="Poppins Bold"/>
                  <a:sym typeface="Poppins Bold"/>
                </a:rPr>
                <a:t>Two minutes, no decision</a:t>
              </a:r>
            </a:p>
          </p:txBody>
        </p:sp>
      </p:grpSp>
      <p:grpSp>
        <p:nvGrpSpPr>
          <p:cNvPr name="Group 22" id="22"/>
          <p:cNvGrpSpPr/>
          <p:nvPr/>
        </p:nvGrpSpPr>
        <p:grpSpPr>
          <a:xfrm rot="0">
            <a:off x="8595360" y="2626233"/>
            <a:ext cx="7063740" cy="4869180"/>
            <a:chOff x="0" y="0"/>
            <a:chExt cx="9418320" cy="6492240"/>
          </a:xfrm>
        </p:grpSpPr>
        <p:sp>
          <p:nvSpPr>
            <p:cNvPr name="Freeform 23" id="23"/>
            <p:cNvSpPr/>
            <p:nvPr/>
          </p:nvSpPr>
          <p:spPr>
            <a:xfrm flipH="false" flipV="false" rot="0">
              <a:off x="0" y="0"/>
              <a:ext cx="9418320" cy="6492240"/>
            </a:xfrm>
            <a:custGeom>
              <a:avLst/>
              <a:gdLst/>
              <a:ahLst/>
              <a:cxnLst/>
              <a:rect r="r" b="b" t="t" l="l"/>
              <a:pathLst>
                <a:path h="6492240" w="9418320">
                  <a:moveTo>
                    <a:pt x="0" y="182880"/>
                  </a:moveTo>
                  <a:cubicBezTo>
                    <a:pt x="0" y="81915"/>
                    <a:pt x="81915" y="0"/>
                    <a:pt x="182880" y="0"/>
                  </a:cubicBezTo>
                  <a:lnTo>
                    <a:pt x="9235440" y="0"/>
                  </a:lnTo>
                  <a:cubicBezTo>
                    <a:pt x="9336405" y="0"/>
                    <a:pt x="9418320" y="81915"/>
                    <a:pt x="9418320" y="182880"/>
                  </a:cubicBezTo>
                  <a:lnTo>
                    <a:pt x="9418320" y="6309360"/>
                  </a:lnTo>
                  <a:cubicBezTo>
                    <a:pt x="9418320" y="6410325"/>
                    <a:pt x="9336405" y="6492240"/>
                    <a:pt x="9235440" y="6492240"/>
                  </a:cubicBezTo>
                  <a:lnTo>
                    <a:pt x="182880" y="6492240"/>
                  </a:lnTo>
                  <a:cubicBezTo>
                    <a:pt x="81915" y="6492240"/>
                    <a:pt x="0" y="6410325"/>
                    <a:pt x="0" y="6309360"/>
                  </a:cubicBezTo>
                  <a:close/>
                </a:path>
              </a:pathLst>
            </a:custGeom>
            <a:solidFill>
              <a:srgbClr val="387F7F"/>
            </a:solidFill>
          </p:spPr>
        </p:sp>
      </p:grpSp>
      <p:grpSp>
        <p:nvGrpSpPr>
          <p:cNvPr name="Group 24" id="24"/>
          <p:cNvGrpSpPr/>
          <p:nvPr/>
        </p:nvGrpSpPr>
        <p:grpSpPr>
          <a:xfrm rot="0">
            <a:off x="9006840" y="2900553"/>
            <a:ext cx="6240780" cy="411480"/>
            <a:chOff x="0" y="0"/>
            <a:chExt cx="8321040" cy="548640"/>
          </a:xfrm>
        </p:grpSpPr>
        <p:sp>
          <p:nvSpPr>
            <p:cNvPr name="Freeform 25" id="25"/>
            <p:cNvSpPr/>
            <p:nvPr/>
          </p:nvSpPr>
          <p:spPr>
            <a:xfrm flipH="false" flipV="false" rot="0">
              <a:off x="0" y="0"/>
              <a:ext cx="8321040" cy="548640"/>
            </a:xfrm>
            <a:custGeom>
              <a:avLst/>
              <a:gdLst/>
              <a:ahLst/>
              <a:cxnLst/>
              <a:rect r="r" b="b" t="t" l="l"/>
              <a:pathLst>
                <a:path h="548640" w="8321040">
                  <a:moveTo>
                    <a:pt x="0" y="0"/>
                  </a:moveTo>
                  <a:lnTo>
                    <a:pt x="8321040" y="0"/>
                  </a:lnTo>
                  <a:lnTo>
                    <a:pt x="8321040" y="548640"/>
                  </a:lnTo>
                  <a:lnTo>
                    <a:pt x="0" y="548640"/>
                  </a:lnTo>
                  <a:close/>
                </a:path>
              </a:pathLst>
            </a:custGeom>
            <a:blipFill>
              <a:blip r:embed="rId9">
                <a:alphaModFix amt="0"/>
              </a:blip>
              <a:stretch>
                <a:fillRect l="0" t="-245523" r="0" b="-245523"/>
              </a:stretch>
            </a:blipFill>
          </p:spPr>
        </p:sp>
        <p:sp>
          <p:nvSpPr>
            <p:cNvPr name="TextBox 26" id="26"/>
            <p:cNvSpPr txBox="true"/>
            <p:nvPr/>
          </p:nvSpPr>
          <p:spPr>
            <a:xfrm>
              <a:off x="0" y="-9525"/>
              <a:ext cx="8321040" cy="558165"/>
            </a:xfrm>
            <a:prstGeom prst="rect">
              <a:avLst/>
            </a:prstGeom>
          </p:spPr>
          <p:txBody>
            <a:bodyPr anchor="ctr" rtlCol="false" tIns="0" lIns="0" bIns="0" rIns="0"/>
            <a:lstStyle/>
            <a:p>
              <a:pPr algn="l">
                <a:lnSpc>
                  <a:spcPts val="1980"/>
                </a:lnSpc>
              </a:pPr>
              <a:r>
                <a:rPr lang="en-US" b="true" sz="1650" spc="150">
                  <a:solidFill>
                    <a:srgbClr val="8FBEBE"/>
                  </a:solidFill>
                  <a:latin typeface="Poppins Bold"/>
                  <a:ea typeface="Poppins Bold"/>
                  <a:cs typeface="Poppins Bold"/>
                  <a:sym typeface="Poppins Bold"/>
                </a:rPr>
                <a:t>THE FINDING</a:t>
              </a:r>
            </a:p>
          </p:txBody>
        </p:sp>
      </p:grpSp>
      <p:sp>
        <p:nvSpPr>
          <p:cNvPr name="TextBox 27" id="27"/>
          <p:cNvSpPr txBox="true"/>
          <p:nvPr/>
        </p:nvSpPr>
        <p:spPr>
          <a:xfrm rot="0">
            <a:off x="9006840" y="3363468"/>
            <a:ext cx="6240780" cy="2280285"/>
          </a:xfrm>
          <a:prstGeom prst="rect">
            <a:avLst/>
          </a:prstGeom>
        </p:spPr>
        <p:txBody>
          <a:bodyPr anchor="t" rtlCol="false" tIns="0" lIns="0" bIns="0" rIns="0">
            <a:spAutoFit/>
          </a:bodyPr>
          <a:lstStyle/>
          <a:p>
            <a:pPr algn="l">
              <a:lnSpc>
                <a:spcPts val="3042"/>
              </a:lnSpc>
            </a:pPr>
            <a:r>
              <a:rPr lang="en-US" sz="1950" b="true">
                <a:solidFill>
                  <a:srgbClr val="FFFFFF"/>
                </a:solidFill>
                <a:latin typeface="Poppins Bold"/>
                <a:ea typeface="Poppins Bold"/>
                <a:cs typeface="Poppins Bold"/>
                <a:sym typeface="Poppins Bold"/>
              </a:rPr>
              <a:t>“We are eight points below the SLA this month. It is concentrated in one corridor: LAG-07 is running at 61 percent while everything else is above 80. It is not the riders, they perform fine elsewhere. I would look at the Apapa dispatch window.”</a:t>
            </a:r>
          </a:p>
        </p:txBody>
      </p:sp>
      <p:grpSp>
        <p:nvGrpSpPr>
          <p:cNvPr name="Group 28" id="28"/>
          <p:cNvGrpSpPr/>
          <p:nvPr/>
        </p:nvGrpSpPr>
        <p:grpSpPr>
          <a:xfrm rot="0">
            <a:off x="9006840" y="5849493"/>
            <a:ext cx="4663440" cy="548640"/>
            <a:chOff x="0" y="0"/>
            <a:chExt cx="6217920" cy="731520"/>
          </a:xfrm>
        </p:grpSpPr>
        <p:sp>
          <p:nvSpPr>
            <p:cNvPr name="Freeform 29" id="29"/>
            <p:cNvSpPr/>
            <p:nvPr/>
          </p:nvSpPr>
          <p:spPr>
            <a:xfrm flipH="false" flipV="false" rot="0">
              <a:off x="0" y="0"/>
              <a:ext cx="6217920" cy="731520"/>
            </a:xfrm>
            <a:custGeom>
              <a:avLst/>
              <a:gdLst/>
              <a:ahLst/>
              <a:cxnLst/>
              <a:rect r="r" b="b" t="t" l="l"/>
              <a:pathLst>
                <a:path h="731520" w="6217920">
                  <a:moveTo>
                    <a:pt x="0" y="365760"/>
                  </a:moveTo>
                  <a:cubicBezTo>
                    <a:pt x="0" y="163703"/>
                    <a:pt x="163703" y="0"/>
                    <a:pt x="365760" y="0"/>
                  </a:cubicBezTo>
                  <a:lnTo>
                    <a:pt x="5852160" y="0"/>
                  </a:lnTo>
                  <a:cubicBezTo>
                    <a:pt x="6054217" y="0"/>
                    <a:pt x="6217920" y="163703"/>
                    <a:pt x="6217920" y="365760"/>
                  </a:cubicBezTo>
                  <a:cubicBezTo>
                    <a:pt x="6217920" y="567817"/>
                    <a:pt x="6054217" y="731520"/>
                    <a:pt x="5852160" y="731520"/>
                  </a:cubicBezTo>
                  <a:lnTo>
                    <a:pt x="365760" y="731520"/>
                  </a:lnTo>
                  <a:cubicBezTo>
                    <a:pt x="163703" y="731520"/>
                    <a:pt x="0" y="567817"/>
                    <a:pt x="0" y="365760"/>
                  </a:cubicBezTo>
                  <a:close/>
                </a:path>
              </a:pathLst>
            </a:custGeom>
            <a:solidFill>
              <a:srgbClr val="FFFFFF"/>
            </a:solidFill>
          </p:spPr>
        </p:sp>
      </p:grpSp>
      <p:grpSp>
        <p:nvGrpSpPr>
          <p:cNvPr name="Group 30" id="30"/>
          <p:cNvGrpSpPr/>
          <p:nvPr/>
        </p:nvGrpSpPr>
        <p:grpSpPr>
          <a:xfrm rot="0">
            <a:off x="9006840" y="5849493"/>
            <a:ext cx="4663440" cy="548640"/>
            <a:chOff x="0" y="0"/>
            <a:chExt cx="6217920" cy="731520"/>
          </a:xfrm>
        </p:grpSpPr>
        <p:sp>
          <p:nvSpPr>
            <p:cNvPr name="Freeform 31" id="31"/>
            <p:cNvSpPr/>
            <p:nvPr/>
          </p:nvSpPr>
          <p:spPr>
            <a:xfrm flipH="false" flipV="false" rot="0">
              <a:off x="0" y="0"/>
              <a:ext cx="6217920" cy="731520"/>
            </a:xfrm>
            <a:custGeom>
              <a:avLst/>
              <a:gdLst/>
              <a:ahLst/>
              <a:cxnLst/>
              <a:rect r="r" b="b" t="t" l="l"/>
              <a:pathLst>
                <a:path h="731520" w="6217920">
                  <a:moveTo>
                    <a:pt x="0" y="0"/>
                  </a:moveTo>
                  <a:lnTo>
                    <a:pt x="6217920" y="0"/>
                  </a:lnTo>
                  <a:lnTo>
                    <a:pt x="6217920" y="731520"/>
                  </a:lnTo>
                  <a:lnTo>
                    <a:pt x="0" y="731520"/>
                  </a:lnTo>
                  <a:close/>
                </a:path>
              </a:pathLst>
            </a:custGeom>
            <a:blipFill>
              <a:blip r:embed="rId9">
                <a:alphaModFix amt="0"/>
              </a:blip>
              <a:stretch>
                <a:fillRect l="0" t="-115622" r="0" b="-115622"/>
              </a:stretch>
            </a:blipFill>
          </p:spPr>
        </p:sp>
        <p:sp>
          <p:nvSpPr>
            <p:cNvPr name="TextBox 32" id="32"/>
            <p:cNvSpPr txBox="true"/>
            <p:nvPr/>
          </p:nvSpPr>
          <p:spPr>
            <a:xfrm>
              <a:off x="0" y="-9525"/>
              <a:ext cx="6217920" cy="741045"/>
            </a:xfrm>
            <a:prstGeom prst="rect">
              <a:avLst/>
            </a:prstGeom>
          </p:spPr>
          <p:txBody>
            <a:bodyPr anchor="ctr" rtlCol="false" tIns="0" lIns="0" bIns="0" rIns="0"/>
            <a:lstStyle/>
            <a:p>
              <a:pPr algn="ctr">
                <a:lnSpc>
                  <a:spcPts val="1980"/>
                </a:lnSpc>
              </a:pPr>
              <a:r>
                <a:rPr lang="en-US" sz="1650" b="true">
                  <a:solidFill>
                    <a:srgbClr val="387F7F"/>
                  </a:solidFill>
                  <a:latin typeface="Poppins Bold"/>
                  <a:ea typeface="Poppins Bold"/>
                  <a:cs typeface="Poppins Bold"/>
                  <a:sym typeface="Poppins Bold"/>
                </a:rPr>
                <a:t>Forty seconds, one decision</a:t>
              </a:r>
            </a:p>
          </p:txBody>
        </p:sp>
      </p:grpSp>
      <p:grpSp>
        <p:nvGrpSpPr>
          <p:cNvPr name="Group 33" id="33"/>
          <p:cNvGrpSpPr/>
          <p:nvPr/>
        </p:nvGrpSpPr>
        <p:grpSpPr>
          <a:xfrm rot="0">
            <a:off x="914400" y="7838313"/>
            <a:ext cx="14744700" cy="1234440"/>
            <a:chOff x="0" y="0"/>
            <a:chExt cx="19659600" cy="1645920"/>
          </a:xfrm>
        </p:grpSpPr>
        <p:sp>
          <p:nvSpPr>
            <p:cNvPr name="Freeform 34" id="34"/>
            <p:cNvSpPr/>
            <p:nvPr/>
          </p:nvSpPr>
          <p:spPr>
            <a:xfrm flipH="false" flipV="false" rot="0">
              <a:off x="0" y="0"/>
              <a:ext cx="19659600" cy="1645920"/>
            </a:xfrm>
            <a:custGeom>
              <a:avLst/>
              <a:gdLst/>
              <a:ahLst/>
              <a:cxnLst/>
              <a:rect r="r" b="b" t="t" l="l"/>
              <a:pathLst>
                <a:path h="1645920" w="19659600">
                  <a:moveTo>
                    <a:pt x="0" y="164592"/>
                  </a:moveTo>
                  <a:cubicBezTo>
                    <a:pt x="0" y="73660"/>
                    <a:pt x="73660" y="0"/>
                    <a:pt x="164592" y="0"/>
                  </a:cubicBezTo>
                  <a:lnTo>
                    <a:pt x="19495008" y="0"/>
                  </a:lnTo>
                  <a:cubicBezTo>
                    <a:pt x="19585939" y="0"/>
                    <a:pt x="19659600" y="73660"/>
                    <a:pt x="19659600" y="164592"/>
                  </a:cubicBezTo>
                  <a:lnTo>
                    <a:pt x="19659600" y="1481328"/>
                  </a:lnTo>
                  <a:cubicBezTo>
                    <a:pt x="19659600" y="1572260"/>
                    <a:pt x="19585939" y="1645920"/>
                    <a:pt x="19495008" y="1645920"/>
                  </a:cubicBezTo>
                  <a:lnTo>
                    <a:pt x="164592" y="1645920"/>
                  </a:lnTo>
                  <a:cubicBezTo>
                    <a:pt x="73660" y="1645920"/>
                    <a:pt x="0" y="1572260"/>
                    <a:pt x="0" y="1481328"/>
                  </a:cubicBezTo>
                  <a:close/>
                </a:path>
              </a:pathLst>
            </a:custGeom>
            <a:solidFill>
              <a:srgbClr val="EEF4F4"/>
            </a:solidFill>
          </p:spPr>
        </p:sp>
      </p:grpSp>
      <p:grpSp>
        <p:nvGrpSpPr>
          <p:cNvPr name="Group 35" id="35"/>
          <p:cNvGrpSpPr/>
          <p:nvPr/>
        </p:nvGrpSpPr>
        <p:grpSpPr>
          <a:xfrm rot="0">
            <a:off x="914400" y="7838313"/>
            <a:ext cx="102870" cy="1234440"/>
            <a:chOff x="0" y="0"/>
            <a:chExt cx="137160" cy="1645920"/>
          </a:xfrm>
        </p:grpSpPr>
        <p:sp>
          <p:nvSpPr>
            <p:cNvPr name="Freeform 36" id="36"/>
            <p:cNvSpPr/>
            <p:nvPr/>
          </p:nvSpPr>
          <p:spPr>
            <a:xfrm flipH="false" flipV="false" rot="0">
              <a:off x="0" y="0"/>
              <a:ext cx="137160" cy="1645920"/>
            </a:xfrm>
            <a:custGeom>
              <a:avLst/>
              <a:gdLst/>
              <a:ahLst/>
              <a:cxnLst/>
              <a:rect r="r" b="b" t="t" l="l"/>
              <a:pathLst>
                <a:path h="1645920" w="137160">
                  <a:moveTo>
                    <a:pt x="0" y="0"/>
                  </a:moveTo>
                  <a:lnTo>
                    <a:pt x="137160" y="0"/>
                  </a:lnTo>
                  <a:lnTo>
                    <a:pt x="137160" y="1645920"/>
                  </a:lnTo>
                  <a:lnTo>
                    <a:pt x="0" y="1645920"/>
                  </a:lnTo>
                  <a:close/>
                </a:path>
              </a:pathLst>
            </a:custGeom>
            <a:solidFill>
              <a:srgbClr val="387F7F"/>
            </a:solidFill>
          </p:spPr>
        </p:sp>
      </p:grpSp>
      <p:grpSp>
        <p:nvGrpSpPr>
          <p:cNvPr name="Group 37" id="37"/>
          <p:cNvGrpSpPr/>
          <p:nvPr/>
        </p:nvGrpSpPr>
        <p:grpSpPr>
          <a:xfrm rot="0">
            <a:off x="1463040" y="7838313"/>
            <a:ext cx="13853160" cy="1234440"/>
            <a:chOff x="0" y="0"/>
            <a:chExt cx="18470880" cy="1645920"/>
          </a:xfrm>
        </p:grpSpPr>
        <p:sp>
          <p:nvSpPr>
            <p:cNvPr name="Freeform 38" id="38"/>
            <p:cNvSpPr/>
            <p:nvPr/>
          </p:nvSpPr>
          <p:spPr>
            <a:xfrm flipH="false" flipV="false" rot="0">
              <a:off x="0" y="0"/>
              <a:ext cx="18470880" cy="1645920"/>
            </a:xfrm>
            <a:custGeom>
              <a:avLst/>
              <a:gdLst/>
              <a:ahLst/>
              <a:cxnLst/>
              <a:rect r="r" b="b" t="t" l="l"/>
              <a:pathLst>
                <a:path h="1645920" w="18470880">
                  <a:moveTo>
                    <a:pt x="0" y="0"/>
                  </a:moveTo>
                  <a:lnTo>
                    <a:pt x="18470880" y="0"/>
                  </a:lnTo>
                  <a:lnTo>
                    <a:pt x="18470880" y="1645920"/>
                  </a:lnTo>
                  <a:lnTo>
                    <a:pt x="0" y="1645920"/>
                  </a:lnTo>
                  <a:close/>
                </a:path>
              </a:pathLst>
            </a:custGeom>
            <a:blipFill>
              <a:blip r:embed="rId9">
                <a:alphaModFix amt="0"/>
              </a:blip>
              <a:stretch>
                <a:fillRect l="0" t="-168665" r="0" b="-168665"/>
              </a:stretch>
            </a:blipFill>
          </p:spPr>
        </p:sp>
        <p:sp>
          <p:nvSpPr>
            <p:cNvPr name="TextBox 39" id="39"/>
            <p:cNvSpPr txBox="true"/>
            <p:nvPr/>
          </p:nvSpPr>
          <p:spPr>
            <a:xfrm>
              <a:off x="0" y="-114300"/>
              <a:ext cx="18470880" cy="1760220"/>
            </a:xfrm>
            <a:prstGeom prst="rect">
              <a:avLst/>
            </a:prstGeom>
          </p:spPr>
          <p:txBody>
            <a:bodyPr anchor="ctr" rtlCol="false" tIns="0" lIns="0" bIns="0" rIns="0"/>
            <a:lstStyle/>
            <a:p>
              <a:pPr algn="l">
                <a:lnSpc>
                  <a:spcPts val="3645"/>
                </a:lnSpc>
              </a:pPr>
              <a:r>
                <a:rPr lang="en-US" sz="2250" b="true">
                  <a:solidFill>
                    <a:srgbClr val="387F7F"/>
                  </a:solidFill>
                  <a:latin typeface="Poppins Bold"/>
                  <a:ea typeface="Poppins Bold"/>
                  <a:cs typeface="Poppins Bold"/>
                  <a:sym typeface="Poppins Bold"/>
                </a:rPr>
                <a:t>Lead with the answer. Show the dashboard as evidence, not as an itinerary.</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509151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Build for </a:t>
            </a:r>
            <a:r>
              <a:rPr lang="en-US" sz="5000">
                <a:solidFill>
                  <a:srgbClr val="388080"/>
                </a:solidFill>
                <a:latin typeface="Poppins"/>
                <a:ea typeface="Poppins"/>
                <a:cs typeface="Poppins"/>
                <a:sym typeface="Poppins"/>
              </a:rPr>
              <a:t>Adaeze</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143000" y="1571625"/>
            <a:ext cx="8229600" cy="438912"/>
            <a:chOff x="0" y="0"/>
            <a:chExt cx="10972800" cy="585216"/>
          </a:xfrm>
        </p:grpSpPr>
        <p:sp>
          <p:nvSpPr>
            <p:cNvPr name="Freeform 12" id="12"/>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9">
                <a:alphaModFix amt="0"/>
              </a:blip>
              <a:stretch>
                <a:fillRect l="0" t="-315344" r="0" b="-315344"/>
              </a:stretch>
            </a:blipFill>
          </p:spPr>
        </p:sp>
        <p:sp>
          <p:nvSpPr>
            <p:cNvPr name="TextBox 13" id="13"/>
            <p:cNvSpPr txBox="true"/>
            <p:nvPr/>
          </p:nvSpPr>
          <p:spPr>
            <a:xfrm>
              <a:off x="0" y="-19050"/>
              <a:ext cx="10972800" cy="604266"/>
            </a:xfrm>
            <a:prstGeom prst="rect">
              <a:avLst/>
            </a:prstGeom>
          </p:spPr>
          <p:txBody>
            <a:bodyPr anchor="ctr" rtlCol="false" tIns="0" lIns="0" bIns="0" rIns="0"/>
            <a:lstStyle/>
            <a:p>
              <a:pPr algn="l">
                <a:lnSpc>
                  <a:spcPts val="2160"/>
                </a:lnSpc>
              </a:pPr>
              <a:r>
                <a:rPr lang="en-US" b="true" sz="1800" spc="300">
                  <a:solidFill>
                    <a:srgbClr val="8FBEBE"/>
                  </a:solidFill>
                  <a:latin typeface="Poppins Bold"/>
                  <a:ea typeface="Poppins Bold"/>
                  <a:cs typeface="Poppins Bold"/>
                  <a:sym typeface="Poppins Bold"/>
                </a:rPr>
                <a:t>YOUR TURN</a:t>
              </a:r>
            </a:p>
          </p:txBody>
        </p:sp>
      </p:grpSp>
      <p:grpSp>
        <p:nvGrpSpPr>
          <p:cNvPr name="Group 14" id="14"/>
          <p:cNvGrpSpPr/>
          <p:nvPr/>
        </p:nvGrpSpPr>
        <p:grpSpPr>
          <a:xfrm rot="0">
            <a:off x="15087600" y="1303020"/>
            <a:ext cx="1851660" cy="754380"/>
            <a:chOff x="0" y="0"/>
            <a:chExt cx="2468880" cy="1005840"/>
          </a:xfrm>
        </p:grpSpPr>
        <p:sp>
          <p:nvSpPr>
            <p:cNvPr name="Freeform 15" id="15"/>
            <p:cNvSpPr/>
            <p:nvPr/>
          </p:nvSpPr>
          <p:spPr>
            <a:xfrm flipH="false" flipV="false" rot="0">
              <a:off x="0" y="0"/>
              <a:ext cx="2468880" cy="1005840"/>
            </a:xfrm>
            <a:custGeom>
              <a:avLst/>
              <a:gdLst/>
              <a:ahLst/>
              <a:cxnLst/>
              <a:rect r="r" b="b" t="t" l="l"/>
              <a:pathLst>
                <a:path h="1005840" w="2468880">
                  <a:moveTo>
                    <a:pt x="0" y="493776"/>
                  </a:moveTo>
                  <a:cubicBezTo>
                    <a:pt x="0" y="221107"/>
                    <a:pt x="221107" y="0"/>
                    <a:pt x="493776" y="0"/>
                  </a:cubicBezTo>
                  <a:lnTo>
                    <a:pt x="1975104" y="0"/>
                  </a:lnTo>
                  <a:cubicBezTo>
                    <a:pt x="2247773" y="0"/>
                    <a:pt x="2468880" y="221107"/>
                    <a:pt x="2468880" y="493776"/>
                  </a:cubicBezTo>
                  <a:lnTo>
                    <a:pt x="2468880" y="512064"/>
                  </a:lnTo>
                  <a:cubicBezTo>
                    <a:pt x="2468880" y="784733"/>
                    <a:pt x="2247773" y="1005840"/>
                    <a:pt x="1975104" y="1005840"/>
                  </a:cubicBezTo>
                  <a:lnTo>
                    <a:pt x="493776" y="1005840"/>
                  </a:lnTo>
                  <a:cubicBezTo>
                    <a:pt x="221107" y="1005840"/>
                    <a:pt x="0" y="784733"/>
                    <a:pt x="0" y="512064"/>
                  </a:cubicBezTo>
                  <a:close/>
                </a:path>
              </a:pathLst>
            </a:custGeom>
            <a:solidFill>
              <a:srgbClr val="387F7F"/>
            </a:solidFill>
          </p:spPr>
        </p:sp>
      </p:grpSp>
      <p:grpSp>
        <p:nvGrpSpPr>
          <p:cNvPr name="Group 16" id="16"/>
          <p:cNvGrpSpPr/>
          <p:nvPr/>
        </p:nvGrpSpPr>
        <p:grpSpPr>
          <a:xfrm rot="0">
            <a:off x="15087600" y="1303020"/>
            <a:ext cx="1851660" cy="754380"/>
            <a:chOff x="0" y="0"/>
            <a:chExt cx="2468880" cy="1005840"/>
          </a:xfrm>
        </p:grpSpPr>
        <p:sp>
          <p:nvSpPr>
            <p:cNvPr name="Freeform 17" id="17"/>
            <p:cNvSpPr/>
            <p:nvPr/>
          </p:nvSpPr>
          <p:spPr>
            <a:xfrm flipH="false" flipV="false" rot="0">
              <a:off x="0" y="0"/>
              <a:ext cx="2468880" cy="1005840"/>
            </a:xfrm>
            <a:custGeom>
              <a:avLst/>
              <a:gdLst/>
              <a:ahLst/>
              <a:cxnLst/>
              <a:rect r="r" b="b" t="t" l="l"/>
              <a:pathLst>
                <a:path h="1005840" w="2468880">
                  <a:moveTo>
                    <a:pt x="0" y="0"/>
                  </a:moveTo>
                  <a:lnTo>
                    <a:pt x="2468880" y="0"/>
                  </a:lnTo>
                  <a:lnTo>
                    <a:pt x="2468880" y="1005840"/>
                  </a:lnTo>
                  <a:lnTo>
                    <a:pt x="0" y="1005840"/>
                  </a:lnTo>
                  <a:close/>
                </a:path>
              </a:pathLst>
            </a:custGeom>
            <a:blipFill>
              <a:blip r:embed="rId9">
                <a:alphaModFix amt="0"/>
              </a:blip>
              <a:stretch>
                <a:fillRect l="-2271" t="0" r="-2271" b="0"/>
              </a:stretch>
            </a:blipFill>
          </p:spPr>
        </p:sp>
        <p:sp>
          <p:nvSpPr>
            <p:cNvPr name="TextBox 18" id="18"/>
            <p:cNvSpPr txBox="true"/>
            <p:nvPr/>
          </p:nvSpPr>
          <p:spPr>
            <a:xfrm>
              <a:off x="0" y="-19050"/>
              <a:ext cx="2468880" cy="1024890"/>
            </a:xfrm>
            <a:prstGeom prst="rect">
              <a:avLst/>
            </a:prstGeom>
          </p:spPr>
          <p:txBody>
            <a:bodyPr anchor="ctr" rtlCol="false" tIns="0" lIns="0" bIns="0" rIns="0"/>
            <a:lstStyle/>
            <a:p>
              <a:pPr algn="ctr">
                <a:lnSpc>
                  <a:spcPts val="2520"/>
                </a:lnSpc>
              </a:pPr>
              <a:r>
                <a:rPr lang="en-US" sz="2100" b="true">
                  <a:solidFill>
                    <a:srgbClr val="FFFFFF"/>
                  </a:solidFill>
                  <a:latin typeface="Poppins Bold"/>
                  <a:ea typeface="Poppins Bold"/>
                  <a:cs typeface="Poppins Bold"/>
                  <a:sym typeface="Poppins Bold"/>
                </a:rPr>
                <a:t>20 min</a:t>
              </a:r>
            </a:p>
          </p:txBody>
        </p:sp>
      </p:grpSp>
      <p:grpSp>
        <p:nvGrpSpPr>
          <p:cNvPr name="Group 19" id="19"/>
          <p:cNvGrpSpPr/>
          <p:nvPr/>
        </p:nvGrpSpPr>
        <p:grpSpPr>
          <a:xfrm rot="0">
            <a:off x="861584" y="3103245"/>
            <a:ext cx="15636240" cy="2125980"/>
            <a:chOff x="0" y="0"/>
            <a:chExt cx="20848320" cy="2834640"/>
          </a:xfrm>
        </p:grpSpPr>
        <p:sp>
          <p:nvSpPr>
            <p:cNvPr name="Freeform 20" id="20"/>
            <p:cNvSpPr/>
            <p:nvPr/>
          </p:nvSpPr>
          <p:spPr>
            <a:xfrm flipH="false" flipV="false" rot="0">
              <a:off x="0" y="0"/>
              <a:ext cx="20848320" cy="2834640"/>
            </a:xfrm>
            <a:custGeom>
              <a:avLst/>
              <a:gdLst/>
              <a:ahLst/>
              <a:cxnLst/>
              <a:rect r="r" b="b" t="t" l="l"/>
              <a:pathLst>
                <a:path h="2834640" w="20848320">
                  <a:moveTo>
                    <a:pt x="0" y="182880"/>
                  </a:moveTo>
                  <a:cubicBezTo>
                    <a:pt x="0" y="81915"/>
                    <a:pt x="81915" y="0"/>
                    <a:pt x="182880" y="0"/>
                  </a:cubicBezTo>
                  <a:lnTo>
                    <a:pt x="20665439" y="0"/>
                  </a:lnTo>
                  <a:cubicBezTo>
                    <a:pt x="20766404" y="0"/>
                    <a:pt x="20848320" y="81915"/>
                    <a:pt x="20848320" y="182880"/>
                  </a:cubicBezTo>
                  <a:lnTo>
                    <a:pt x="20848320" y="2651760"/>
                  </a:lnTo>
                  <a:cubicBezTo>
                    <a:pt x="20848320" y="2752725"/>
                    <a:pt x="20766404" y="2834640"/>
                    <a:pt x="20665439" y="2834640"/>
                  </a:cubicBezTo>
                  <a:lnTo>
                    <a:pt x="182880" y="2834640"/>
                  </a:lnTo>
                  <a:cubicBezTo>
                    <a:pt x="81915" y="2834640"/>
                    <a:pt x="0" y="2752725"/>
                    <a:pt x="0" y="2651760"/>
                  </a:cubicBezTo>
                  <a:close/>
                </a:path>
              </a:pathLst>
            </a:custGeom>
            <a:solidFill>
              <a:srgbClr val="FFFFFF"/>
            </a:solidFill>
          </p:spPr>
        </p:sp>
      </p:grpSp>
      <p:grpSp>
        <p:nvGrpSpPr>
          <p:cNvPr name="Group 21" id="21"/>
          <p:cNvGrpSpPr/>
          <p:nvPr/>
        </p:nvGrpSpPr>
        <p:grpSpPr>
          <a:xfrm rot="0">
            <a:off x="861584" y="3103245"/>
            <a:ext cx="123444" cy="2125980"/>
            <a:chOff x="0" y="0"/>
            <a:chExt cx="164592" cy="2834640"/>
          </a:xfrm>
        </p:grpSpPr>
        <p:sp>
          <p:nvSpPr>
            <p:cNvPr name="Freeform 22" id="22"/>
            <p:cNvSpPr/>
            <p:nvPr/>
          </p:nvSpPr>
          <p:spPr>
            <a:xfrm flipH="false" flipV="false" rot="0">
              <a:off x="0" y="0"/>
              <a:ext cx="164592" cy="2834640"/>
            </a:xfrm>
            <a:custGeom>
              <a:avLst/>
              <a:gdLst/>
              <a:ahLst/>
              <a:cxnLst/>
              <a:rect r="r" b="b" t="t" l="l"/>
              <a:pathLst>
                <a:path h="2834640" w="164592">
                  <a:moveTo>
                    <a:pt x="0" y="0"/>
                  </a:moveTo>
                  <a:lnTo>
                    <a:pt x="164592" y="0"/>
                  </a:lnTo>
                  <a:lnTo>
                    <a:pt x="164592" y="2834640"/>
                  </a:lnTo>
                  <a:lnTo>
                    <a:pt x="0" y="2834640"/>
                  </a:lnTo>
                  <a:close/>
                </a:path>
              </a:pathLst>
            </a:custGeom>
            <a:solidFill>
              <a:srgbClr val="387F7F"/>
            </a:solidFill>
          </p:spPr>
        </p:sp>
      </p:grpSp>
      <p:grpSp>
        <p:nvGrpSpPr>
          <p:cNvPr name="Group 23" id="23"/>
          <p:cNvGrpSpPr/>
          <p:nvPr/>
        </p:nvGrpSpPr>
        <p:grpSpPr>
          <a:xfrm rot="0">
            <a:off x="1341644" y="3377565"/>
            <a:ext cx="14401800" cy="411480"/>
            <a:chOff x="0" y="0"/>
            <a:chExt cx="19202400" cy="548640"/>
          </a:xfrm>
        </p:grpSpPr>
        <p:sp>
          <p:nvSpPr>
            <p:cNvPr name="Freeform 24" id="24"/>
            <p:cNvSpPr/>
            <p:nvPr/>
          </p:nvSpPr>
          <p:spPr>
            <a:xfrm flipH="false" flipV="false" rot="0">
              <a:off x="0" y="0"/>
              <a:ext cx="19202400" cy="548640"/>
            </a:xfrm>
            <a:custGeom>
              <a:avLst/>
              <a:gdLst/>
              <a:ahLst/>
              <a:cxnLst/>
              <a:rect r="r" b="b" t="t" l="l"/>
              <a:pathLst>
                <a:path h="548640" w="19202400">
                  <a:moveTo>
                    <a:pt x="0" y="0"/>
                  </a:moveTo>
                  <a:lnTo>
                    <a:pt x="19202400" y="0"/>
                  </a:lnTo>
                  <a:lnTo>
                    <a:pt x="19202400" y="548640"/>
                  </a:lnTo>
                  <a:lnTo>
                    <a:pt x="0" y="548640"/>
                  </a:lnTo>
                  <a:close/>
                </a:path>
              </a:pathLst>
            </a:custGeom>
            <a:blipFill>
              <a:blip r:embed="rId9">
                <a:alphaModFix amt="0"/>
              </a:blip>
              <a:stretch>
                <a:fillRect l="0" t="-631976" r="0" b="-631976"/>
              </a:stretch>
            </a:blipFill>
          </p:spPr>
        </p:sp>
        <p:sp>
          <p:nvSpPr>
            <p:cNvPr name="TextBox 25" id="25"/>
            <p:cNvSpPr txBox="true"/>
            <p:nvPr/>
          </p:nvSpPr>
          <p:spPr>
            <a:xfrm>
              <a:off x="0" y="-9525"/>
              <a:ext cx="19202400" cy="558165"/>
            </a:xfrm>
            <a:prstGeom prst="rect">
              <a:avLst/>
            </a:prstGeom>
          </p:spPr>
          <p:txBody>
            <a:bodyPr anchor="ctr" rtlCol="false" tIns="0" lIns="0" bIns="0" rIns="0"/>
            <a:lstStyle/>
            <a:p>
              <a:pPr algn="l">
                <a:lnSpc>
                  <a:spcPts val="1980"/>
                </a:lnSpc>
              </a:pPr>
              <a:r>
                <a:rPr lang="en-US" sz="1650" b="true">
                  <a:solidFill>
                    <a:srgbClr val="387F7F"/>
                  </a:solidFill>
                  <a:latin typeface="Poppins Bold"/>
                  <a:ea typeface="Poppins Bold"/>
                  <a:cs typeface="Poppins Bold"/>
                  <a:sym typeface="Poppins Bold"/>
                </a:rPr>
                <a:t>THE TASK</a:t>
              </a:r>
            </a:p>
          </p:txBody>
        </p:sp>
      </p:grpSp>
      <p:sp>
        <p:nvSpPr>
          <p:cNvPr name="TextBox 26" id="26"/>
          <p:cNvSpPr txBox="true"/>
          <p:nvPr/>
        </p:nvSpPr>
        <p:spPr>
          <a:xfrm rot="0">
            <a:off x="1341644" y="3752850"/>
            <a:ext cx="14813280" cy="1339215"/>
          </a:xfrm>
          <a:prstGeom prst="rect">
            <a:avLst/>
          </a:prstGeom>
        </p:spPr>
        <p:txBody>
          <a:bodyPr anchor="t" rtlCol="false" tIns="0" lIns="0" bIns="0" rIns="0">
            <a:spAutoFit/>
          </a:bodyPr>
          <a:lstStyle/>
          <a:p>
            <a:pPr algn="l">
              <a:lnSpc>
                <a:spcPts val="3766"/>
              </a:lnSpc>
            </a:pPr>
            <a:r>
              <a:rPr lang="en-US" sz="2325">
                <a:solidFill>
                  <a:srgbClr val="475569"/>
                </a:solidFill>
                <a:latin typeface="Poppins"/>
                <a:ea typeface="Poppins"/>
                <a:cs typeface="Poppins"/>
                <a:sym typeface="Poppins"/>
              </a:rPr>
              <a:t>Sketch on paper for three minutes, then build a one-page dashboard answering Adaeze's three questions. Four KPI cards, one ranked chart, one detail table, two slicers.</a:t>
            </a:r>
          </a:p>
        </p:txBody>
      </p:sp>
      <p:grpSp>
        <p:nvGrpSpPr>
          <p:cNvPr name="Group 27" id="27"/>
          <p:cNvGrpSpPr/>
          <p:nvPr/>
        </p:nvGrpSpPr>
        <p:grpSpPr>
          <a:xfrm rot="0">
            <a:off x="861584" y="5503545"/>
            <a:ext cx="15636240" cy="2400300"/>
            <a:chOff x="0" y="0"/>
            <a:chExt cx="20848320" cy="3200400"/>
          </a:xfrm>
        </p:grpSpPr>
        <p:sp>
          <p:nvSpPr>
            <p:cNvPr name="Freeform 28" id="28"/>
            <p:cNvSpPr/>
            <p:nvPr/>
          </p:nvSpPr>
          <p:spPr>
            <a:xfrm flipH="false" flipV="false" rot="0">
              <a:off x="0" y="0"/>
              <a:ext cx="20848320" cy="3200400"/>
            </a:xfrm>
            <a:custGeom>
              <a:avLst/>
              <a:gdLst/>
              <a:ahLst/>
              <a:cxnLst/>
              <a:rect r="r" b="b" t="t" l="l"/>
              <a:pathLst>
                <a:path h="3200400" w="20848320">
                  <a:moveTo>
                    <a:pt x="0" y="164592"/>
                  </a:moveTo>
                  <a:cubicBezTo>
                    <a:pt x="0" y="73660"/>
                    <a:pt x="73660" y="0"/>
                    <a:pt x="164592" y="0"/>
                  </a:cubicBezTo>
                  <a:lnTo>
                    <a:pt x="20683728" y="0"/>
                  </a:lnTo>
                  <a:cubicBezTo>
                    <a:pt x="20774661" y="0"/>
                    <a:pt x="20848320" y="73660"/>
                    <a:pt x="20848320" y="164592"/>
                  </a:cubicBezTo>
                  <a:lnTo>
                    <a:pt x="20848320" y="3035808"/>
                  </a:lnTo>
                  <a:cubicBezTo>
                    <a:pt x="20848320" y="3126740"/>
                    <a:pt x="20774661" y="3200400"/>
                    <a:pt x="20683728" y="3200400"/>
                  </a:cubicBezTo>
                  <a:lnTo>
                    <a:pt x="164592" y="3200400"/>
                  </a:lnTo>
                  <a:cubicBezTo>
                    <a:pt x="73660" y="3200400"/>
                    <a:pt x="0" y="3126740"/>
                    <a:pt x="0" y="3035808"/>
                  </a:cubicBezTo>
                  <a:close/>
                </a:path>
              </a:pathLst>
            </a:custGeom>
            <a:solidFill>
              <a:srgbClr val="EEF4F4"/>
            </a:solidFill>
          </p:spPr>
        </p:sp>
      </p:grpSp>
      <p:grpSp>
        <p:nvGrpSpPr>
          <p:cNvPr name="Group 29" id="29"/>
          <p:cNvGrpSpPr/>
          <p:nvPr/>
        </p:nvGrpSpPr>
        <p:grpSpPr>
          <a:xfrm rot="0">
            <a:off x="861584" y="5503545"/>
            <a:ext cx="123444" cy="2400300"/>
            <a:chOff x="0" y="0"/>
            <a:chExt cx="164592" cy="3200400"/>
          </a:xfrm>
        </p:grpSpPr>
        <p:sp>
          <p:nvSpPr>
            <p:cNvPr name="Freeform 30" id="30"/>
            <p:cNvSpPr/>
            <p:nvPr/>
          </p:nvSpPr>
          <p:spPr>
            <a:xfrm flipH="false" flipV="false" rot="0">
              <a:off x="0" y="0"/>
              <a:ext cx="164592" cy="3200400"/>
            </a:xfrm>
            <a:custGeom>
              <a:avLst/>
              <a:gdLst/>
              <a:ahLst/>
              <a:cxnLst/>
              <a:rect r="r" b="b" t="t" l="l"/>
              <a:pathLst>
                <a:path h="3200400" w="164592">
                  <a:moveTo>
                    <a:pt x="0" y="0"/>
                  </a:moveTo>
                  <a:lnTo>
                    <a:pt x="164592" y="0"/>
                  </a:lnTo>
                  <a:lnTo>
                    <a:pt x="164592" y="3200400"/>
                  </a:lnTo>
                  <a:lnTo>
                    <a:pt x="0" y="3200400"/>
                  </a:lnTo>
                  <a:close/>
                </a:path>
              </a:pathLst>
            </a:custGeom>
            <a:solidFill>
              <a:srgbClr val="9BB7B7"/>
            </a:solidFill>
          </p:spPr>
        </p:sp>
      </p:grpSp>
      <p:grpSp>
        <p:nvGrpSpPr>
          <p:cNvPr name="Group 31" id="31"/>
          <p:cNvGrpSpPr/>
          <p:nvPr/>
        </p:nvGrpSpPr>
        <p:grpSpPr>
          <a:xfrm rot="0">
            <a:off x="1341644" y="5777865"/>
            <a:ext cx="14401800" cy="438912"/>
            <a:chOff x="0" y="0"/>
            <a:chExt cx="19202400" cy="585216"/>
          </a:xfrm>
        </p:grpSpPr>
        <p:sp>
          <p:nvSpPr>
            <p:cNvPr name="Freeform 32" id="32"/>
            <p:cNvSpPr/>
            <p:nvPr/>
          </p:nvSpPr>
          <p:spPr>
            <a:xfrm flipH="false" flipV="false" rot="0">
              <a:off x="0" y="0"/>
              <a:ext cx="19202400" cy="585216"/>
            </a:xfrm>
            <a:custGeom>
              <a:avLst/>
              <a:gdLst/>
              <a:ahLst/>
              <a:cxnLst/>
              <a:rect r="r" b="b" t="t" l="l"/>
              <a:pathLst>
                <a:path h="585216" w="19202400">
                  <a:moveTo>
                    <a:pt x="0" y="0"/>
                  </a:moveTo>
                  <a:lnTo>
                    <a:pt x="19202400" y="0"/>
                  </a:lnTo>
                  <a:lnTo>
                    <a:pt x="19202400" y="585216"/>
                  </a:lnTo>
                  <a:lnTo>
                    <a:pt x="0" y="585216"/>
                  </a:lnTo>
                  <a:close/>
                </a:path>
              </a:pathLst>
            </a:custGeom>
            <a:blipFill>
              <a:blip r:embed="rId9">
                <a:alphaModFix amt="0"/>
              </a:blip>
              <a:stretch>
                <a:fillRect l="0" t="-589352" r="0" b="-589352"/>
              </a:stretch>
            </a:blipFill>
          </p:spPr>
        </p:sp>
        <p:sp>
          <p:nvSpPr>
            <p:cNvPr name="TextBox 33" id="33"/>
            <p:cNvSpPr txBox="true"/>
            <p:nvPr/>
          </p:nvSpPr>
          <p:spPr>
            <a:xfrm>
              <a:off x="0" y="-9525"/>
              <a:ext cx="19202400" cy="594741"/>
            </a:xfrm>
            <a:prstGeom prst="rect">
              <a:avLst/>
            </a:prstGeom>
          </p:spPr>
          <p:txBody>
            <a:bodyPr anchor="ctr" rtlCol="false" tIns="0" lIns="0" bIns="0" rIns="0"/>
            <a:lstStyle/>
            <a:p>
              <a:pPr algn="l">
                <a:lnSpc>
                  <a:spcPts val="1980"/>
                </a:lnSpc>
              </a:pPr>
              <a:r>
                <a:rPr lang="en-US" sz="1650" b="true">
                  <a:solidFill>
                    <a:srgbClr val="20494A"/>
                  </a:solidFill>
                  <a:latin typeface="Poppins Bold"/>
                  <a:ea typeface="Poppins Bold"/>
                  <a:cs typeface="Poppins Bold"/>
                  <a:sym typeface="Poppins Bold"/>
                </a:rPr>
                <a:t>EXPECTED OUTPUT</a:t>
              </a:r>
            </a:p>
          </p:txBody>
        </p:sp>
      </p:grpSp>
      <p:sp>
        <p:nvSpPr>
          <p:cNvPr name="TextBox 34" id="34"/>
          <p:cNvSpPr txBox="true"/>
          <p:nvPr/>
        </p:nvSpPr>
        <p:spPr>
          <a:xfrm rot="0">
            <a:off x="1341644" y="6172200"/>
            <a:ext cx="14813280" cy="1594485"/>
          </a:xfrm>
          <a:prstGeom prst="rect">
            <a:avLst/>
          </a:prstGeom>
        </p:spPr>
        <p:txBody>
          <a:bodyPr anchor="t" rtlCol="false" tIns="0" lIns="0" bIns="0" rIns="0">
            <a:spAutoFit/>
          </a:bodyPr>
          <a:lstStyle/>
          <a:p>
            <a:pPr algn="l">
              <a:lnSpc>
                <a:spcPts val="3110"/>
              </a:lnSpc>
            </a:pPr>
            <a:r>
              <a:rPr lang="en-US" sz="2025">
                <a:solidFill>
                  <a:srgbClr val="475569"/>
                </a:solidFill>
                <a:latin typeface="Poppins"/>
                <a:ea typeface="Poppins"/>
                <a:cs typeface="Poppins"/>
                <a:sym typeface="Poppins"/>
              </a:rPr>
              <a:t>On-Time Rate card reads 82.0% against a visible 90% target. Ranked route chart puts LAG-07 last at 61.4%. Clicking the Hub slicer changes both the chart and the table. Every axis labelled, every card formatted, one refresh stamp on the canvas.</a:t>
            </a:r>
          </a:p>
        </p:txBody>
      </p:sp>
      <p:sp>
        <p:nvSpPr>
          <p:cNvPr name="TextBox 35" id="35"/>
          <p:cNvSpPr txBox="true"/>
          <p:nvPr/>
        </p:nvSpPr>
        <p:spPr>
          <a:xfrm rot="0">
            <a:off x="861584" y="8014335"/>
            <a:ext cx="15636240" cy="643890"/>
          </a:xfrm>
          <a:prstGeom prst="rect">
            <a:avLst/>
          </a:prstGeom>
        </p:spPr>
        <p:txBody>
          <a:bodyPr anchor="t" rtlCol="false" tIns="0" lIns="0" bIns="0" rIns="0">
            <a:spAutoFit/>
          </a:bodyPr>
          <a:lstStyle/>
          <a:p>
            <a:pPr algn="ctr">
              <a:lnSpc>
                <a:spcPts val="3280"/>
              </a:lnSpc>
            </a:pPr>
            <a:r>
              <a:rPr lang="en-US" sz="2025" i="true">
                <a:solidFill>
                  <a:srgbClr val="64748B"/>
                </a:solidFill>
                <a:latin typeface="Poppins Italics"/>
                <a:ea typeface="Poppins Italics"/>
                <a:cs typeface="Poppins Italics"/>
                <a:sym typeface="Poppins Italics"/>
              </a:rPr>
              <a:t>Then present it to your partner in forty seconds, leading with the finding.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5393657" cy="1476375"/>
          </a:xfrm>
          <a:prstGeom prst="rect">
            <a:avLst/>
          </a:prstGeom>
        </p:spPr>
        <p:txBody>
          <a:bodyPr anchor="t" rtlCol="false" tIns="0" lIns="0" bIns="0" rIns="0">
            <a:spAutoFit/>
          </a:bodyPr>
          <a:lstStyle/>
          <a:p>
            <a:pPr algn="l">
              <a:lnSpc>
                <a:spcPts val="5640"/>
              </a:lnSpc>
            </a:pPr>
            <a:r>
              <a:rPr lang="en-US" sz="4700">
                <a:solidFill>
                  <a:srgbClr val="388080"/>
                </a:solidFill>
                <a:latin typeface="Poppins"/>
                <a:ea typeface="Poppins"/>
                <a:cs typeface="Poppins"/>
                <a:sym typeface="Poppins"/>
              </a:rPr>
              <a:t>Three questions to ask of any dashboard, including your own</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14400" y="2772880"/>
            <a:ext cx="14744700" cy="1440180"/>
            <a:chOff x="0" y="0"/>
            <a:chExt cx="19659600" cy="1920240"/>
          </a:xfrm>
        </p:grpSpPr>
        <p:sp>
          <p:nvSpPr>
            <p:cNvPr name="Freeform 12" id="12"/>
            <p:cNvSpPr/>
            <p:nvPr/>
          </p:nvSpPr>
          <p:spPr>
            <a:xfrm flipH="false" flipV="false" rot="0">
              <a:off x="0" y="0"/>
              <a:ext cx="19659600" cy="1920240"/>
            </a:xfrm>
            <a:custGeom>
              <a:avLst/>
              <a:gdLst/>
              <a:ahLst/>
              <a:cxnLst/>
              <a:rect r="r" b="b" t="t" l="l"/>
              <a:pathLst>
                <a:path h="1920240" w="19659600">
                  <a:moveTo>
                    <a:pt x="0" y="182880"/>
                  </a:moveTo>
                  <a:cubicBezTo>
                    <a:pt x="0" y="81915"/>
                    <a:pt x="81915" y="0"/>
                    <a:pt x="182880" y="0"/>
                  </a:cubicBezTo>
                  <a:lnTo>
                    <a:pt x="19476720" y="0"/>
                  </a:lnTo>
                  <a:cubicBezTo>
                    <a:pt x="19577684" y="0"/>
                    <a:pt x="19659600" y="81915"/>
                    <a:pt x="19659600" y="182880"/>
                  </a:cubicBezTo>
                  <a:lnTo>
                    <a:pt x="19659600" y="1737360"/>
                  </a:lnTo>
                  <a:cubicBezTo>
                    <a:pt x="19659600" y="1838325"/>
                    <a:pt x="19577684" y="1920240"/>
                    <a:pt x="19476720" y="1920240"/>
                  </a:cubicBezTo>
                  <a:lnTo>
                    <a:pt x="182880" y="1920240"/>
                  </a:lnTo>
                  <a:cubicBezTo>
                    <a:pt x="81915" y="1920240"/>
                    <a:pt x="0" y="1838325"/>
                    <a:pt x="0" y="1737360"/>
                  </a:cubicBezTo>
                  <a:close/>
                </a:path>
              </a:pathLst>
            </a:custGeom>
            <a:solidFill>
              <a:srgbClr val="FFFFFF"/>
            </a:solidFill>
          </p:spPr>
        </p:sp>
      </p:grpSp>
      <p:grpSp>
        <p:nvGrpSpPr>
          <p:cNvPr name="Group 13" id="13"/>
          <p:cNvGrpSpPr/>
          <p:nvPr/>
        </p:nvGrpSpPr>
        <p:grpSpPr>
          <a:xfrm rot="0">
            <a:off x="1284732" y="3102064"/>
            <a:ext cx="795528" cy="795528"/>
            <a:chOff x="0" y="0"/>
            <a:chExt cx="1060704" cy="1060704"/>
          </a:xfrm>
        </p:grpSpPr>
        <p:sp>
          <p:nvSpPr>
            <p:cNvPr name="Freeform 14" id="14"/>
            <p:cNvSpPr/>
            <p:nvPr/>
          </p:nvSpPr>
          <p:spPr>
            <a:xfrm flipH="false" flipV="false" rot="0">
              <a:off x="0" y="0"/>
              <a:ext cx="1060704" cy="1060704"/>
            </a:xfrm>
            <a:custGeom>
              <a:avLst/>
              <a:gdLst/>
              <a:ahLst/>
              <a:cxnLst/>
              <a:rect r="r" b="b" t="t" l="l"/>
              <a:pathLst>
                <a:path h="1060704" w="1060704">
                  <a:moveTo>
                    <a:pt x="0" y="530352"/>
                  </a:moveTo>
                  <a:cubicBezTo>
                    <a:pt x="0" y="237490"/>
                    <a:pt x="237490" y="0"/>
                    <a:pt x="530352" y="0"/>
                  </a:cubicBezTo>
                  <a:cubicBezTo>
                    <a:pt x="823214" y="0"/>
                    <a:pt x="1060704" y="237490"/>
                    <a:pt x="1060704" y="530352"/>
                  </a:cubicBezTo>
                  <a:cubicBezTo>
                    <a:pt x="1060704" y="823214"/>
                    <a:pt x="823214" y="1060704"/>
                    <a:pt x="530352" y="1060704"/>
                  </a:cubicBezTo>
                  <a:cubicBezTo>
                    <a:pt x="237490" y="1060704"/>
                    <a:pt x="0" y="823214"/>
                    <a:pt x="0" y="530352"/>
                  </a:cubicBezTo>
                  <a:close/>
                </a:path>
              </a:pathLst>
            </a:custGeom>
            <a:solidFill>
              <a:srgbClr val="387F7F"/>
            </a:solidFill>
          </p:spPr>
        </p:sp>
      </p:grpSp>
      <p:grpSp>
        <p:nvGrpSpPr>
          <p:cNvPr name="Group 15" id="15"/>
          <p:cNvGrpSpPr/>
          <p:nvPr/>
        </p:nvGrpSpPr>
        <p:grpSpPr>
          <a:xfrm rot="0">
            <a:off x="1284732" y="3102064"/>
            <a:ext cx="795528" cy="795528"/>
            <a:chOff x="0" y="0"/>
            <a:chExt cx="1060704" cy="1060704"/>
          </a:xfrm>
        </p:grpSpPr>
        <p:sp>
          <p:nvSpPr>
            <p:cNvPr name="Freeform 16" id="16"/>
            <p:cNvSpPr/>
            <p:nvPr/>
          </p:nvSpPr>
          <p:spPr>
            <a:xfrm flipH="false" flipV="false" rot="0">
              <a:off x="0" y="0"/>
              <a:ext cx="1060704" cy="1060704"/>
            </a:xfrm>
            <a:custGeom>
              <a:avLst/>
              <a:gdLst/>
              <a:ahLst/>
              <a:cxnLst/>
              <a:rect r="r" b="b" t="t" l="l"/>
              <a:pathLst>
                <a:path h="1060704" w="1060704">
                  <a:moveTo>
                    <a:pt x="0" y="0"/>
                  </a:moveTo>
                  <a:lnTo>
                    <a:pt x="1060704" y="0"/>
                  </a:lnTo>
                  <a:lnTo>
                    <a:pt x="1060704" y="1060704"/>
                  </a:lnTo>
                  <a:lnTo>
                    <a:pt x="0" y="1060704"/>
                  </a:lnTo>
                  <a:close/>
                </a:path>
              </a:pathLst>
            </a:custGeom>
            <a:blipFill>
              <a:blip r:embed="rId9">
                <a:alphaModFix amt="0"/>
              </a:blip>
              <a:stretch>
                <a:fillRect l="-78303" t="0" r="-78303" b="0"/>
              </a:stretch>
            </a:blipFill>
          </p:spPr>
        </p:sp>
        <p:sp>
          <p:nvSpPr>
            <p:cNvPr name="TextBox 17" id="17"/>
            <p:cNvSpPr txBox="true"/>
            <p:nvPr/>
          </p:nvSpPr>
          <p:spPr>
            <a:xfrm>
              <a:off x="0" y="-19050"/>
              <a:ext cx="1060704" cy="1079754"/>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1</a:t>
              </a:r>
            </a:p>
          </p:txBody>
        </p:sp>
      </p:grpSp>
      <p:grpSp>
        <p:nvGrpSpPr>
          <p:cNvPr name="Group 18" id="18"/>
          <p:cNvGrpSpPr/>
          <p:nvPr/>
        </p:nvGrpSpPr>
        <p:grpSpPr>
          <a:xfrm rot="0">
            <a:off x="2423160" y="2910040"/>
            <a:ext cx="12893040" cy="1165860"/>
            <a:chOff x="0" y="0"/>
            <a:chExt cx="17190720" cy="1554480"/>
          </a:xfrm>
        </p:grpSpPr>
        <p:sp>
          <p:nvSpPr>
            <p:cNvPr name="Freeform 19" id="19"/>
            <p:cNvSpPr/>
            <p:nvPr/>
          </p:nvSpPr>
          <p:spPr>
            <a:xfrm flipH="false" flipV="false" rot="0">
              <a:off x="0" y="0"/>
              <a:ext cx="17190720" cy="1554480"/>
            </a:xfrm>
            <a:custGeom>
              <a:avLst/>
              <a:gdLst/>
              <a:ahLst/>
              <a:cxnLst/>
              <a:rect r="r" b="b" t="t" l="l"/>
              <a:pathLst>
                <a:path h="1554480" w="17190720">
                  <a:moveTo>
                    <a:pt x="0" y="0"/>
                  </a:moveTo>
                  <a:lnTo>
                    <a:pt x="17190720" y="0"/>
                  </a:lnTo>
                  <a:lnTo>
                    <a:pt x="17190720" y="1554480"/>
                  </a:lnTo>
                  <a:lnTo>
                    <a:pt x="0" y="1554480"/>
                  </a:lnTo>
                  <a:close/>
                </a:path>
              </a:pathLst>
            </a:custGeom>
            <a:blipFill>
              <a:blip r:embed="rId9">
                <a:alphaModFix amt="0"/>
              </a:blip>
              <a:stretch>
                <a:fillRect l="0" t="-165481" r="0" b="-165481"/>
              </a:stretch>
            </a:blipFill>
          </p:spPr>
        </p:sp>
        <p:sp>
          <p:nvSpPr>
            <p:cNvPr name="TextBox 20" id="20"/>
            <p:cNvSpPr txBox="true"/>
            <p:nvPr/>
          </p:nvSpPr>
          <p:spPr>
            <a:xfrm>
              <a:off x="0" y="-85725"/>
              <a:ext cx="17190720" cy="1640205"/>
            </a:xfrm>
            <a:prstGeom prst="rect">
              <a:avLst/>
            </a:prstGeom>
          </p:spPr>
          <p:txBody>
            <a:bodyPr anchor="ctr" rtlCol="false" tIns="0" lIns="0" bIns="0" rIns="0"/>
            <a:lstStyle/>
            <a:p>
              <a:pPr algn="l">
                <a:lnSpc>
                  <a:spcPts val="3375"/>
                </a:lnSpc>
              </a:pPr>
              <a:r>
                <a:rPr lang="en-US" sz="2250">
                  <a:solidFill>
                    <a:srgbClr val="475569"/>
                  </a:solidFill>
                  <a:latin typeface="Poppins"/>
                  <a:ea typeface="Poppins"/>
                  <a:cs typeface="Poppins"/>
                  <a:sym typeface="Poppins"/>
                </a:rPr>
                <a:t>If I removed this visual, what decision would become harder? If none, remove it.</a:t>
              </a:r>
            </a:p>
          </p:txBody>
        </p:sp>
      </p:grpSp>
      <p:grpSp>
        <p:nvGrpSpPr>
          <p:cNvPr name="Group 21" id="21"/>
          <p:cNvGrpSpPr/>
          <p:nvPr/>
        </p:nvGrpSpPr>
        <p:grpSpPr>
          <a:xfrm rot="0">
            <a:off x="914400" y="4487380"/>
            <a:ext cx="14744700" cy="1440180"/>
            <a:chOff x="0" y="0"/>
            <a:chExt cx="19659600" cy="1920240"/>
          </a:xfrm>
        </p:grpSpPr>
        <p:sp>
          <p:nvSpPr>
            <p:cNvPr name="Freeform 22" id="22"/>
            <p:cNvSpPr/>
            <p:nvPr/>
          </p:nvSpPr>
          <p:spPr>
            <a:xfrm flipH="false" flipV="false" rot="0">
              <a:off x="0" y="0"/>
              <a:ext cx="19659600" cy="1920240"/>
            </a:xfrm>
            <a:custGeom>
              <a:avLst/>
              <a:gdLst/>
              <a:ahLst/>
              <a:cxnLst/>
              <a:rect r="r" b="b" t="t" l="l"/>
              <a:pathLst>
                <a:path h="1920240" w="19659600">
                  <a:moveTo>
                    <a:pt x="0" y="182880"/>
                  </a:moveTo>
                  <a:cubicBezTo>
                    <a:pt x="0" y="81915"/>
                    <a:pt x="81915" y="0"/>
                    <a:pt x="182880" y="0"/>
                  </a:cubicBezTo>
                  <a:lnTo>
                    <a:pt x="19476720" y="0"/>
                  </a:lnTo>
                  <a:cubicBezTo>
                    <a:pt x="19577684" y="0"/>
                    <a:pt x="19659600" y="81915"/>
                    <a:pt x="19659600" y="182880"/>
                  </a:cubicBezTo>
                  <a:lnTo>
                    <a:pt x="19659600" y="1737360"/>
                  </a:lnTo>
                  <a:cubicBezTo>
                    <a:pt x="19659600" y="1838325"/>
                    <a:pt x="19577684" y="1920240"/>
                    <a:pt x="19476720" y="1920240"/>
                  </a:cubicBezTo>
                  <a:lnTo>
                    <a:pt x="182880" y="1920240"/>
                  </a:lnTo>
                  <a:cubicBezTo>
                    <a:pt x="81915" y="1920240"/>
                    <a:pt x="0" y="1838325"/>
                    <a:pt x="0" y="1737360"/>
                  </a:cubicBezTo>
                  <a:close/>
                </a:path>
              </a:pathLst>
            </a:custGeom>
            <a:solidFill>
              <a:srgbClr val="FFFFFF"/>
            </a:solidFill>
          </p:spPr>
        </p:sp>
      </p:grpSp>
      <p:grpSp>
        <p:nvGrpSpPr>
          <p:cNvPr name="Group 23" id="23"/>
          <p:cNvGrpSpPr/>
          <p:nvPr/>
        </p:nvGrpSpPr>
        <p:grpSpPr>
          <a:xfrm rot="0">
            <a:off x="1284732" y="4816564"/>
            <a:ext cx="795528" cy="795528"/>
            <a:chOff x="0" y="0"/>
            <a:chExt cx="1060704" cy="1060704"/>
          </a:xfrm>
        </p:grpSpPr>
        <p:sp>
          <p:nvSpPr>
            <p:cNvPr name="Freeform 24" id="24"/>
            <p:cNvSpPr/>
            <p:nvPr/>
          </p:nvSpPr>
          <p:spPr>
            <a:xfrm flipH="false" flipV="false" rot="0">
              <a:off x="0" y="0"/>
              <a:ext cx="1060704" cy="1060704"/>
            </a:xfrm>
            <a:custGeom>
              <a:avLst/>
              <a:gdLst/>
              <a:ahLst/>
              <a:cxnLst/>
              <a:rect r="r" b="b" t="t" l="l"/>
              <a:pathLst>
                <a:path h="1060704" w="1060704">
                  <a:moveTo>
                    <a:pt x="0" y="530352"/>
                  </a:moveTo>
                  <a:cubicBezTo>
                    <a:pt x="0" y="237490"/>
                    <a:pt x="237490" y="0"/>
                    <a:pt x="530352" y="0"/>
                  </a:cubicBezTo>
                  <a:cubicBezTo>
                    <a:pt x="823214" y="0"/>
                    <a:pt x="1060704" y="237490"/>
                    <a:pt x="1060704" y="530352"/>
                  </a:cubicBezTo>
                  <a:cubicBezTo>
                    <a:pt x="1060704" y="823214"/>
                    <a:pt x="823214" y="1060704"/>
                    <a:pt x="530352" y="1060704"/>
                  </a:cubicBezTo>
                  <a:cubicBezTo>
                    <a:pt x="237490" y="1060704"/>
                    <a:pt x="0" y="823214"/>
                    <a:pt x="0" y="530352"/>
                  </a:cubicBezTo>
                  <a:close/>
                </a:path>
              </a:pathLst>
            </a:custGeom>
            <a:solidFill>
              <a:srgbClr val="387F7F"/>
            </a:solidFill>
          </p:spPr>
        </p:sp>
      </p:grpSp>
      <p:grpSp>
        <p:nvGrpSpPr>
          <p:cNvPr name="Group 25" id="25"/>
          <p:cNvGrpSpPr/>
          <p:nvPr/>
        </p:nvGrpSpPr>
        <p:grpSpPr>
          <a:xfrm rot="0">
            <a:off x="1284732" y="4816564"/>
            <a:ext cx="795528" cy="795528"/>
            <a:chOff x="0" y="0"/>
            <a:chExt cx="1060704" cy="1060704"/>
          </a:xfrm>
        </p:grpSpPr>
        <p:sp>
          <p:nvSpPr>
            <p:cNvPr name="Freeform 26" id="26"/>
            <p:cNvSpPr/>
            <p:nvPr/>
          </p:nvSpPr>
          <p:spPr>
            <a:xfrm flipH="false" flipV="false" rot="0">
              <a:off x="0" y="0"/>
              <a:ext cx="1060704" cy="1060704"/>
            </a:xfrm>
            <a:custGeom>
              <a:avLst/>
              <a:gdLst/>
              <a:ahLst/>
              <a:cxnLst/>
              <a:rect r="r" b="b" t="t" l="l"/>
              <a:pathLst>
                <a:path h="1060704" w="1060704">
                  <a:moveTo>
                    <a:pt x="0" y="0"/>
                  </a:moveTo>
                  <a:lnTo>
                    <a:pt x="1060704" y="0"/>
                  </a:lnTo>
                  <a:lnTo>
                    <a:pt x="1060704" y="1060704"/>
                  </a:lnTo>
                  <a:lnTo>
                    <a:pt x="0" y="1060704"/>
                  </a:lnTo>
                  <a:close/>
                </a:path>
              </a:pathLst>
            </a:custGeom>
            <a:blipFill>
              <a:blip r:embed="rId9">
                <a:alphaModFix amt="0"/>
              </a:blip>
              <a:stretch>
                <a:fillRect l="-78303" t="0" r="-78303" b="0"/>
              </a:stretch>
            </a:blipFill>
          </p:spPr>
        </p:sp>
        <p:sp>
          <p:nvSpPr>
            <p:cNvPr name="TextBox 27" id="27"/>
            <p:cNvSpPr txBox="true"/>
            <p:nvPr/>
          </p:nvSpPr>
          <p:spPr>
            <a:xfrm>
              <a:off x="0" y="-19050"/>
              <a:ext cx="1060704" cy="1079754"/>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2</a:t>
              </a:r>
            </a:p>
          </p:txBody>
        </p:sp>
      </p:grpSp>
      <p:grpSp>
        <p:nvGrpSpPr>
          <p:cNvPr name="Group 28" id="28"/>
          <p:cNvGrpSpPr/>
          <p:nvPr/>
        </p:nvGrpSpPr>
        <p:grpSpPr>
          <a:xfrm rot="0">
            <a:off x="2423160" y="4624540"/>
            <a:ext cx="12893040" cy="1165860"/>
            <a:chOff x="0" y="0"/>
            <a:chExt cx="17190720" cy="1554480"/>
          </a:xfrm>
        </p:grpSpPr>
        <p:sp>
          <p:nvSpPr>
            <p:cNvPr name="Freeform 29" id="29"/>
            <p:cNvSpPr/>
            <p:nvPr/>
          </p:nvSpPr>
          <p:spPr>
            <a:xfrm flipH="false" flipV="false" rot="0">
              <a:off x="0" y="0"/>
              <a:ext cx="17190720" cy="1554480"/>
            </a:xfrm>
            <a:custGeom>
              <a:avLst/>
              <a:gdLst/>
              <a:ahLst/>
              <a:cxnLst/>
              <a:rect r="r" b="b" t="t" l="l"/>
              <a:pathLst>
                <a:path h="1554480" w="17190720">
                  <a:moveTo>
                    <a:pt x="0" y="0"/>
                  </a:moveTo>
                  <a:lnTo>
                    <a:pt x="17190720" y="0"/>
                  </a:lnTo>
                  <a:lnTo>
                    <a:pt x="17190720" y="1554480"/>
                  </a:lnTo>
                  <a:lnTo>
                    <a:pt x="0" y="1554480"/>
                  </a:lnTo>
                  <a:close/>
                </a:path>
              </a:pathLst>
            </a:custGeom>
            <a:blipFill>
              <a:blip r:embed="rId9">
                <a:alphaModFix amt="0"/>
              </a:blip>
              <a:stretch>
                <a:fillRect l="0" t="-165481" r="0" b="-165481"/>
              </a:stretch>
            </a:blipFill>
          </p:spPr>
        </p:sp>
        <p:sp>
          <p:nvSpPr>
            <p:cNvPr name="TextBox 30" id="30"/>
            <p:cNvSpPr txBox="true"/>
            <p:nvPr/>
          </p:nvSpPr>
          <p:spPr>
            <a:xfrm>
              <a:off x="0" y="-85725"/>
              <a:ext cx="17190720" cy="1640205"/>
            </a:xfrm>
            <a:prstGeom prst="rect">
              <a:avLst/>
            </a:prstGeom>
          </p:spPr>
          <p:txBody>
            <a:bodyPr anchor="ctr" rtlCol="false" tIns="0" lIns="0" bIns="0" rIns="0"/>
            <a:lstStyle/>
            <a:p>
              <a:pPr algn="l">
                <a:lnSpc>
                  <a:spcPts val="3375"/>
                </a:lnSpc>
              </a:pPr>
              <a:r>
                <a:rPr lang="en-US" sz="2250">
                  <a:solidFill>
                    <a:srgbClr val="475569"/>
                  </a:solidFill>
                  <a:latin typeface="Poppins"/>
                  <a:ea typeface="Poppins"/>
                  <a:cs typeface="Poppins"/>
                  <a:sym typeface="Poppins"/>
                </a:rPr>
                <a:t>Can a stranger tell what is filtered right now, without asking?</a:t>
              </a:r>
            </a:p>
          </p:txBody>
        </p:sp>
      </p:grpSp>
      <p:grpSp>
        <p:nvGrpSpPr>
          <p:cNvPr name="Group 31" id="31"/>
          <p:cNvGrpSpPr/>
          <p:nvPr/>
        </p:nvGrpSpPr>
        <p:grpSpPr>
          <a:xfrm rot="0">
            <a:off x="914400" y="6201880"/>
            <a:ext cx="14744700" cy="1440180"/>
            <a:chOff x="0" y="0"/>
            <a:chExt cx="19659600" cy="1920240"/>
          </a:xfrm>
        </p:grpSpPr>
        <p:sp>
          <p:nvSpPr>
            <p:cNvPr name="Freeform 32" id="32"/>
            <p:cNvSpPr/>
            <p:nvPr/>
          </p:nvSpPr>
          <p:spPr>
            <a:xfrm flipH="false" flipV="false" rot="0">
              <a:off x="0" y="0"/>
              <a:ext cx="19659600" cy="1920240"/>
            </a:xfrm>
            <a:custGeom>
              <a:avLst/>
              <a:gdLst/>
              <a:ahLst/>
              <a:cxnLst/>
              <a:rect r="r" b="b" t="t" l="l"/>
              <a:pathLst>
                <a:path h="1920240" w="19659600">
                  <a:moveTo>
                    <a:pt x="0" y="182880"/>
                  </a:moveTo>
                  <a:cubicBezTo>
                    <a:pt x="0" y="81915"/>
                    <a:pt x="81915" y="0"/>
                    <a:pt x="182880" y="0"/>
                  </a:cubicBezTo>
                  <a:lnTo>
                    <a:pt x="19476720" y="0"/>
                  </a:lnTo>
                  <a:cubicBezTo>
                    <a:pt x="19577684" y="0"/>
                    <a:pt x="19659600" y="81915"/>
                    <a:pt x="19659600" y="182880"/>
                  </a:cubicBezTo>
                  <a:lnTo>
                    <a:pt x="19659600" y="1737360"/>
                  </a:lnTo>
                  <a:cubicBezTo>
                    <a:pt x="19659600" y="1838325"/>
                    <a:pt x="19577684" y="1920240"/>
                    <a:pt x="19476720" y="1920240"/>
                  </a:cubicBezTo>
                  <a:lnTo>
                    <a:pt x="182880" y="1920240"/>
                  </a:lnTo>
                  <a:cubicBezTo>
                    <a:pt x="81915" y="1920240"/>
                    <a:pt x="0" y="1838325"/>
                    <a:pt x="0" y="1737360"/>
                  </a:cubicBezTo>
                  <a:close/>
                </a:path>
              </a:pathLst>
            </a:custGeom>
            <a:solidFill>
              <a:srgbClr val="FFFFFF"/>
            </a:solidFill>
          </p:spPr>
        </p:sp>
      </p:grpSp>
      <p:grpSp>
        <p:nvGrpSpPr>
          <p:cNvPr name="Group 33" id="33"/>
          <p:cNvGrpSpPr/>
          <p:nvPr/>
        </p:nvGrpSpPr>
        <p:grpSpPr>
          <a:xfrm rot="0">
            <a:off x="1284732" y="6531064"/>
            <a:ext cx="795528" cy="795528"/>
            <a:chOff x="0" y="0"/>
            <a:chExt cx="1060704" cy="1060704"/>
          </a:xfrm>
        </p:grpSpPr>
        <p:sp>
          <p:nvSpPr>
            <p:cNvPr name="Freeform 34" id="34"/>
            <p:cNvSpPr/>
            <p:nvPr/>
          </p:nvSpPr>
          <p:spPr>
            <a:xfrm flipH="false" flipV="false" rot="0">
              <a:off x="0" y="0"/>
              <a:ext cx="1060704" cy="1060704"/>
            </a:xfrm>
            <a:custGeom>
              <a:avLst/>
              <a:gdLst/>
              <a:ahLst/>
              <a:cxnLst/>
              <a:rect r="r" b="b" t="t" l="l"/>
              <a:pathLst>
                <a:path h="1060704" w="1060704">
                  <a:moveTo>
                    <a:pt x="0" y="530352"/>
                  </a:moveTo>
                  <a:cubicBezTo>
                    <a:pt x="0" y="237490"/>
                    <a:pt x="237490" y="0"/>
                    <a:pt x="530352" y="0"/>
                  </a:cubicBezTo>
                  <a:cubicBezTo>
                    <a:pt x="823214" y="0"/>
                    <a:pt x="1060704" y="237490"/>
                    <a:pt x="1060704" y="530352"/>
                  </a:cubicBezTo>
                  <a:cubicBezTo>
                    <a:pt x="1060704" y="823214"/>
                    <a:pt x="823214" y="1060704"/>
                    <a:pt x="530352" y="1060704"/>
                  </a:cubicBezTo>
                  <a:cubicBezTo>
                    <a:pt x="237490" y="1060704"/>
                    <a:pt x="0" y="823214"/>
                    <a:pt x="0" y="530352"/>
                  </a:cubicBezTo>
                  <a:close/>
                </a:path>
              </a:pathLst>
            </a:custGeom>
            <a:solidFill>
              <a:srgbClr val="387F7F"/>
            </a:solidFill>
          </p:spPr>
        </p:sp>
      </p:grpSp>
      <p:grpSp>
        <p:nvGrpSpPr>
          <p:cNvPr name="Group 35" id="35"/>
          <p:cNvGrpSpPr/>
          <p:nvPr/>
        </p:nvGrpSpPr>
        <p:grpSpPr>
          <a:xfrm rot="0">
            <a:off x="1284732" y="6531064"/>
            <a:ext cx="795528" cy="795528"/>
            <a:chOff x="0" y="0"/>
            <a:chExt cx="1060704" cy="1060704"/>
          </a:xfrm>
        </p:grpSpPr>
        <p:sp>
          <p:nvSpPr>
            <p:cNvPr name="Freeform 36" id="36"/>
            <p:cNvSpPr/>
            <p:nvPr/>
          </p:nvSpPr>
          <p:spPr>
            <a:xfrm flipH="false" flipV="false" rot="0">
              <a:off x="0" y="0"/>
              <a:ext cx="1060704" cy="1060704"/>
            </a:xfrm>
            <a:custGeom>
              <a:avLst/>
              <a:gdLst/>
              <a:ahLst/>
              <a:cxnLst/>
              <a:rect r="r" b="b" t="t" l="l"/>
              <a:pathLst>
                <a:path h="1060704" w="1060704">
                  <a:moveTo>
                    <a:pt x="0" y="0"/>
                  </a:moveTo>
                  <a:lnTo>
                    <a:pt x="1060704" y="0"/>
                  </a:lnTo>
                  <a:lnTo>
                    <a:pt x="1060704" y="1060704"/>
                  </a:lnTo>
                  <a:lnTo>
                    <a:pt x="0" y="1060704"/>
                  </a:lnTo>
                  <a:close/>
                </a:path>
              </a:pathLst>
            </a:custGeom>
            <a:blipFill>
              <a:blip r:embed="rId9">
                <a:alphaModFix amt="0"/>
              </a:blip>
              <a:stretch>
                <a:fillRect l="-78303" t="0" r="-78303" b="0"/>
              </a:stretch>
            </a:blipFill>
          </p:spPr>
        </p:sp>
        <p:sp>
          <p:nvSpPr>
            <p:cNvPr name="TextBox 37" id="37"/>
            <p:cNvSpPr txBox="true"/>
            <p:nvPr/>
          </p:nvSpPr>
          <p:spPr>
            <a:xfrm>
              <a:off x="0" y="-19050"/>
              <a:ext cx="1060704" cy="1079754"/>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3</a:t>
              </a:r>
            </a:p>
          </p:txBody>
        </p:sp>
      </p:grpSp>
      <p:grpSp>
        <p:nvGrpSpPr>
          <p:cNvPr name="Group 38" id="38"/>
          <p:cNvGrpSpPr/>
          <p:nvPr/>
        </p:nvGrpSpPr>
        <p:grpSpPr>
          <a:xfrm rot="0">
            <a:off x="2423160" y="6339040"/>
            <a:ext cx="12893040" cy="1165860"/>
            <a:chOff x="0" y="0"/>
            <a:chExt cx="17190720" cy="1554480"/>
          </a:xfrm>
        </p:grpSpPr>
        <p:sp>
          <p:nvSpPr>
            <p:cNvPr name="Freeform 39" id="39"/>
            <p:cNvSpPr/>
            <p:nvPr/>
          </p:nvSpPr>
          <p:spPr>
            <a:xfrm flipH="false" flipV="false" rot="0">
              <a:off x="0" y="0"/>
              <a:ext cx="17190720" cy="1554480"/>
            </a:xfrm>
            <a:custGeom>
              <a:avLst/>
              <a:gdLst/>
              <a:ahLst/>
              <a:cxnLst/>
              <a:rect r="r" b="b" t="t" l="l"/>
              <a:pathLst>
                <a:path h="1554480" w="17190720">
                  <a:moveTo>
                    <a:pt x="0" y="0"/>
                  </a:moveTo>
                  <a:lnTo>
                    <a:pt x="17190720" y="0"/>
                  </a:lnTo>
                  <a:lnTo>
                    <a:pt x="17190720" y="1554480"/>
                  </a:lnTo>
                  <a:lnTo>
                    <a:pt x="0" y="1554480"/>
                  </a:lnTo>
                  <a:close/>
                </a:path>
              </a:pathLst>
            </a:custGeom>
            <a:blipFill>
              <a:blip r:embed="rId9">
                <a:alphaModFix amt="0"/>
              </a:blip>
              <a:stretch>
                <a:fillRect l="0" t="-165481" r="0" b="-165481"/>
              </a:stretch>
            </a:blipFill>
          </p:spPr>
        </p:sp>
        <p:sp>
          <p:nvSpPr>
            <p:cNvPr name="TextBox 40" id="40"/>
            <p:cNvSpPr txBox="true"/>
            <p:nvPr/>
          </p:nvSpPr>
          <p:spPr>
            <a:xfrm>
              <a:off x="0" y="-85725"/>
              <a:ext cx="17190720" cy="1640205"/>
            </a:xfrm>
            <a:prstGeom prst="rect">
              <a:avLst/>
            </a:prstGeom>
          </p:spPr>
          <p:txBody>
            <a:bodyPr anchor="ctr" rtlCol="false" tIns="0" lIns="0" bIns="0" rIns="0"/>
            <a:lstStyle/>
            <a:p>
              <a:pPr algn="l">
                <a:lnSpc>
                  <a:spcPts val="3375"/>
                </a:lnSpc>
              </a:pPr>
              <a:r>
                <a:rPr lang="en-US" sz="2250">
                  <a:solidFill>
                    <a:srgbClr val="475569"/>
                  </a:solidFill>
                  <a:latin typeface="Poppins"/>
                  <a:ea typeface="Poppins"/>
                  <a:cs typeface="Poppins"/>
                  <a:sym typeface="Poppins"/>
                </a:rPr>
                <a:t>Does the title of each visual state a finding, or just name the fields?</a:t>
              </a:r>
            </a:p>
          </p:txBody>
        </p:sp>
      </p:grpSp>
      <p:grpSp>
        <p:nvGrpSpPr>
          <p:cNvPr name="Group 41" id="41"/>
          <p:cNvGrpSpPr/>
          <p:nvPr/>
        </p:nvGrpSpPr>
        <p:grpSpPr>
          <a:xfrm rot="0">
            <a:off x="914400" y="8053540"/>
            <a:ext cx="14744700" cy="1165860"/>
            <a:chOff x="0" y="0"/>
            <a:chExt cx="19659600" cy="1554480"/>
          </a:xfrm>
        </p:grpSpPr>
        <p:sp>
          <p:nvSpPr>
            <p:cNvPr name="Freeform 42" id="42"/>
            <p:cNvSpPr/>
            <p:nvPr/>
          </p:nvSpPr>
          <p:spPr>
            <a:xfrm flipH="false" flipV="false" rot="0">
              <a:off x="0" y="0"/>
              <a:ext cx="19659600" cy="1554480"/>
            </a:xfrm>
            <a:custGeom>
              <a:avLst/>
              <a:gdLst/>
              <a:ahLst/>
              <a:cxnLst/>
              <a:rect r="r" b="b" t="t" l="l"/>
              <a:pathLst>
                <a:path h="1554480" w="19659600">
                  <a:moveTo>
                    <a:pt x="0" y="164592"/>
                  </a:moveTo>
                  <a:cubicBezTo>
                    <a:pt x="0" y="73660"/>
                    <a:pt x="73660" y="0"/>
                    <a:pt x="164592" y="0"/>
                  </a:cubicBezTo>
                  <a:lnTo>
                    <a:pt x="19495008" y="0"/>
                  </a:lnTo>
                  <a:cubicBezTo>
                    <a:pt x="19585939" y="0"/>
                    <a:pt x="19659600" y="73660"/>
                    <a:pt x="19659600" y="164592"/>
                  </a:cubicBezTo>
                  <a:lnTo>
                    <a:pt x="19659600" y="1389888"/>
                  </a:lnTo>
                  <a:cubicBezTo>
                    <a:pt x="19659600" y="1480820"/>
                    <a:pt x="19585939" y="1554480"/>
                    <a:pt x="19495008" y="1554480"/>
                  </a:cubicBezTo>
                  <a:lnTo>
                    <a:pt x="164592" y="1554480"/>
                  </a:lnTo>
                  <a:cubicBezTo>
                    <a:pt x="73660" y="1554480"/>
                    <a:pt x="0" y="1480820"/>
                    <a:pt x="0" y="1389888"/>
                  </a:cubicBezTo>
                  <a:close/>
                </a:path>
              </a:pathLst>
            </a:custGeom>
            <a:solidFill>
              <a:srgbClr val="EEF4F4"/>
            </a:solidFill>
          </p:spPr>
        </p:sp>
      </p:grpSp>
      <p:grpSp>
        <p:nvGrpSpPr>
          <p:cNvPr name="Group 43" id="43"/>
          <p:cNvGrpSpPr/>
          <p:nvPr/>
        </p:nvGrpSpPr>
        <p:grpSpPr>
          <a:xfrm rot="0">
            <a:off x="914400" y="8053540"/>
            <a:ext cx="102870" cy="1165860"/>
            <a:chOff x="0" y="0"/>
            <a:chExt cx="137160" cy="1554480"/>
          </a:xfrm>
        </p:grpSpPr>
        <p:sp>
          <p:nvSpPr>
            <p:cNvPr name="Freeform 44" id="44"/>
            <p:cNvSpPr/>
            <p:nvPr/>
          </p:nvSpPr>
          <p:spPr>
            <a:xfrm flipH="false" flipV="false" rot="0">
              <a:off x="0" y="0"/>
              <a:ext cx="137160" cy="1554480"/>
            </a:xfrm>
            <a:custGeom>
              <a:avLst/>
              <a:gdLst/>
              <a:ahLst/>
              <a:cxnLst/>
              <a:rect r="r" b="b" t="t" l="l"/>
              <a:pathLst>
                <a:path h="1554480" w="137160">
                  <a:moveTo>
                    <a:pt x="0" y="0"/>
                  </a:moveTo>
                  <a:lnTo>
                    <a:pt x="137160" y="0"/>
                  </a:lnTo>
                  <a:lnTo>
                    <a:pt x="137160" y="1554480"/>
                  </a:lnTo>
                  <a:lnTo>
                    <a:pt x="0" y="1554480"/>
                  </a:lnTo>
                  <a:close/>
                </a:path>
              </a:pathLst>
            </a:custGeom>
            <a:solidFill>
              <a:srgbClr val="387F7F"/>
            </a:solidFill>
          </p:spPr>
        </p:sp>
      </p:grpSp>
      <p:grpSp>
        <p:nvGrpSpPr>
          <p:cNvPr name="Group 45" id="45"/>
          <p:cNvGrpSpPr/>
          <p:nvPr/>
        </p:nvGrpSpPr>
        <p:grpSpPr>
          <a:xfrm rot="0">
            <a:off x="1463040" y="8053540"/>
            <a:ext cx="13853160" cy="1165860"/>
            <a:chOff x="0" y="0"/>
            <a:chExt cx="18470880" cy="1554480"/>
          </a:xfrm>
        </p:grpSpPr>
        <p:sp>
          <p:nvSpPr>
            <p:cNvPr name="Freeform 46" id="46"/>
            <p:cNvSpPr/>
            <p:nvPr/>
          </p:nvSpPr>
          <p:spPr>
            <a:xfrm flipH="false" flipV="false" rot="0">
              <a:off x="0" y="0"/>
              <a:ext cx="18470880" cy="1554480"/>
            </a:xfrm>
            <a:custGeom>
              <a:avLst/>
              <a:gdLst/>
              <a:ahLst/>
              <a:cxnLst/>
              <a:rect r="r" b="b" t="t" l="l"/>
              <a:pathLst>
                <a:path h="1554480" w="18470880">
                  <a:moveTo>
                    <a:pt x="0" y="0"/>
                  </a:moveTo>
                  <a:lnTo>
                    <a:pt x="18470880" y="0"/>
                  </a:lnTo>
                  <a:lnTo>
                    <a:pt x="18470880" y="1554480"/>
                  </a:lnTo>
                  <a:lnTo>
                    <a:pt x="0" y="1554480"/>
                  </a:lnTo>
                  <a:close/>
                </a:path>
              </a:pathLst>
            </a:custGeom>
            <a:blipFill>
              <a:blip r:embed="rId9">
                <a:alphaModFix amt="0"/>
              </a:blip>
              <a:stretch>
                <a:fillRect l="0" t="-181528" r="0" b="-181528"/>
              </a:stretch>
            </a:blipFill>
          </p:spPr>
        </p:sp>
        <p:sp>
          <p:nvSpPr>
            <p:cNvPr name="TextBox 47" id="47"/>
            <p:cNvSpPr txBox="true"/>
            <p:nvPr/>
          </p:nvSpPr>
          <p:spPr>
            <a:xfrm>
              <a:off x="0" y="-114300"/>
              <a:ext cx="18470880" cy="1668780"/>
            </a:xfrm>
            <a:prstGeom prst="rect">
              <a:avLst/>
            </a:prstGeom>
          </p:spPr>
          <p:txBody>
            <a:bodyPr anchor="ctr" rtlCol="false" tIns="0" lIns="0" bIns="0" rIns="0"/>
            <a:lstStyle/>
            <a:p>
              <a:pPr algn="l">
                <a:lnSpc>
                  <a:spcPts val="3523"/>
                </a:lnSpc>
              </a:pPr>
              <a:r>
                <a:rPr lang="en-US" sz="2175" b="true">
                  <a:solidFill>
                    <a:srgbClr val="387F7F"/>
                  </a:solidFill>
                  <a:latin typeface="Poppins Bold"/>
                  <a:ea typeface="Poppins Bold"/>
                  <a:cs typeface="Poppins Bold"/>
                  <a:sym typeface="Poppins Bold"/>
                </a:rPr>
                <a:t>Run this on the dashboards just built. Keep it about the artefact, not the person.</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391418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Topic Recap</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866775" y="2606040"/>
            <a:ext cx="10620935" cy="1069848"/>
            <a:chOff x="0" y="0"/>
            <a:chExt cx="14161247" cy="1426464"/>
          </a:xfrm>
        </p:grpSpPr>
        <p:sp>
          <p:nvSpPr>
            <p:cNvPr name="Freeform 12" id="12"/>
            <p:cNvSpPr/>
            <p:nvPr/>
          </p:nvSpPr>
          <p:spPr>
            <a:xfrm flipH="false" flipV="false" rot="0">
              <a:off x="0" y="0"/>
              <a:ext cx="14161247" cy="1426464"/>
            </a:xfrm>
            <a:custGeom>
              <a:avLst/>
              <a:gdLst/>
              <a:ahLst/>
              <a:cxnLst/>
              <a:rect r="r" b="b" t="t" l="l"/>
              <a:pathLst>
                <a:path h="1426464" w="14161247">
                  <a:moveTo>
                    <a:pt x="0" y="182880"/>
                  </a:moveTo>
                  <a:cubicBezTo>
                    <a:pt x="0" y="81915"/>
                    <a:pt x="59005" y="0"/>
                    <a:pt x="131733" y="0"/>
                  </a:cubicBezTo>
                  <a:lnTo>
                    <a:pt x="14029514" y="0"/>
                  </a:lnTo>
                  <a:cubicBezTo>
                    <a:pt x="14102242" y="0"/>
                    <a:pt x="14161247" y="81915"/>
                    <a:pt x="14161247" y="182880"/>
                  </a:cubicBezTo>
                  <a:lnTo>
                    <a:pt x="14161247" y="1243584"/>
                  </a:lnTo>
                  <a:cubicBezTo>
                    <a:pt x="14161247" y="1344549"/>
                    <a:pt x="14102242" y="1426464"/>
                    <a:pt x="14029514" y="1426464"/>
                  </a:cubicBezTo>
                  <a:lnTo>
                    <a:pt x="131733" y="1426464"/>
                  </a:lnTo>
                  <a:cubicBezTo>
                    <a:pt x="59005" y="1426464"/>
                    <a:pt x="0" y="1344549"/>
                    <a:pt x="0" y="1243584"/>
                  </a:cubicBezTo>
                  <a:close/>
                </a:path>
              </a:pathLst>
            </a:custGeom>
            <a:solidFill>
              <a:srgbClr val="FFFFFF"/>
            </a:solidFill>
          </p:spPr>
        </p:sp>
      </p:grpSp>
      <p:grpSp>
        <p:nvGrpSpPr>
          <p:cNvPr name="Group 13" id="13"/>
          <p:cNvGrpSpPr/>
          <p:nvPr/>
        </p:nvGrpSpPr>
        <p:grpSpPr>
          <a:xfrm rot="0">
            <a:off x="1237107" y="2825496"/>
            <a:ext cx="617220" cy="617220"/>
            <a:chOff x="0" y="0"/>
            <a:chExt cx="822960" cy="822960"/>
          </a:xfrm>
        </p:grpSpPr>
        <p:sp>
          <p:nvSpPr>
            <p:cNvPr name="Freeform 14" id="1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15" id="15"/>
          <p:cNvGrpSpPr/>
          <p:nvPr/>
        </p:nvGrpSpPr>
        <p:grpSpPr>
          <a:xfrm rot="0">
            <a:off x="1237107" y="2825496"/>
            <a:ext cx="617220" cy="617220"/>
            <a:chOff x="0" y="0"/>
            <a:chExt cx="822960" cy="822960"/>
          </a:xfrm>
        </p:grpSpPr>
        <p:sp>
          <p:nvSpPr>
            <p:cNvPr name="Freeform 16" id="1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17" id="1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18" id="18"/>
          <p:cNvGrpSpPr/>
          <p:nvPr/>
        </p:nvGrpSpPr>
        <p:grpSpPr>
          <a:xfrm rot="0">
            <a:off x="2072480" y="2633472"/>
            <a:ext cx="9197872" cy="987552"/>
            <a:chOff x="0" y="0"/>
            <a:chExt cx="12263829" cy="1316736"/>
          </a:xfrm>
        </p:grpSpPr>
        <p:sp>
          <p:nvSpPr>
            <p:cNvPr name="Freeform 19" id="19"/>
            <p:cNvSpPr/>
            <p:nvPr/>
          </p:nvSpPr>
          <p:spPr>
            <a:xfrm flipH="false" flipV="false" rot="0">
              <a:off x="0" y="0"/>
              <a:ext cx="12263829" cy="1316736"/>
            </a:xfrm>
            <a:custGeom>
              <a:avLst/>
              <a:gdLst/>
              <a:ahLst/>
              <a:cxnLst/>
              <a:rect r="r" b="b" t="t" l="l"/>
              <a:pathLst>
                <a:path h="1316736" w="12263829">
                  <a:moveTo>
                    <a:pt x="0" y="0"/>
                  </a:moveTo>
                  <a:lnTo>
                    <a:pt x="12263829" y="0"/>
                  </a:lnTo>
                  <a:lnTo>
                    <a:pt x="12263829" y="1316736"/>
                  </a:lnTo>
                  <a:lnTo>
                    <a:pt x="0" y="1316736"/>
                  </a:lnTo>
                  <a:close/>
                </a:path>
              </a:pathLst>
            </a:custGeom>
            <a:blipFill>
              <a:blip r:embed="rId9">
                <a:alphaModFix amt="0"/>
              </a:blip>
              <a:stretch>
                <a:fillRect l="0" t="-209800" r="-43156" b="-209800"/>
              </a:stretch>
            </a:blipFill>
          </p:spPr>
        </p:sp>
        <p:sp>
          <p:nvSpPr>
            <p:cNvPr name="TextBox 20" id="20"/>
            <p:cNvSpPr txBox="true"/>
            <p:nvPr/>
          </p:nvSpPr>
          <p:spPr>
            <a:xfrm>
              <a:off x="0" y="-66675"/>
              <a:ext cx="1226382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Design a KPI dashboard backwards from a named audience and the decisions they make.</a:t>
              </a:r>
            </a:p>
          </p:txBody>
        </p:sp>
      </p:grpSp>
      <p:grpSp>
        <p:nvGrpSpPr>
          <p:cNvPr name="Group 21" id="21"/>
          <p:cNvGrpSpPr/>
          <p:nvPr/>
        </p:nvGrpSpPr>
        <p:grpSpPr>
          <a:xfrm rot="0">
            <a:off x="866775" y="3867912"/>
            <a:ext cx="10620935" cy="1069848"/>
            <a:chOff x="0" y="0"/>
            <a:chExt cx="14161247" cy="1426464"/>
          </a:xfrm>
        </p:grpSpPr>
        <p:sp>
          <p:nvSpPr>
            <p:cNvPr name="Freeform 22" id="22"/>
            <p:cNvSpPr/>
            <p:nvPr/>
          </p:nvSpPr>
          <p:spPr>
            <a:xfrm flipH="false" flipV="false" rot="0">
              <a:off x="0" y="0"/>
              <a:ext cx="14161247" cy="1426464"/>
            </a:xfrm>
            <a:custGeom>
              <a:avLst/>
              <a:gdLst/>
              <a:ahLst/>
              <a:cxnLst/>
              <a:rect r="r" b="b" t="t" l="l"/>
              <a:pathLst>
                <a:path h="1426464" w="14161247">
                  <a:moveTo>
                    <a:pt x="0" y="182880"/>
                  </a:moveTo>
                  <a:cubicBezTo>
                    <a:pt x="0" y="81915"/>
                    <a:pt x="59005" y="0"/>
                    <a:pt x="131733" y="0"/>
                  </a:cubicBezTo>
                  <a:lnTo>
                    <a:pt x="14029514" y="0"/>
                  </a:lnTo>
                  <a:cubicBezTo>
                    <a:pt x="14102242" y="0"/>
                    <a:pt x="14161247" y="81915"/>
                    <a:pt x="14161247" y="182880"/>
                  </a:cubicBezTo>
                  <a:lnTo>
                    <a:pt x="14161247" y="1243584"/>
                  </a:lnTo>
                  <a:cubicBezTo>
                    <a:pt x="14161247" y="1344549"/>
                    <a:pt x="14102242" y="1426464"/>
                    <a:pt x="14029514" y="1426464"/>
                  </a:cubicBezTo>
                  <a:lnTo>
                    <a:pt x="131733" y="1426464"/>
                  </a:lnTo>
                  <a:cubicBezTo>
                    <a:pt x="59005" y="1426464"/>
                    <a:pt x="0" y="1344549"/>
                    <a:pt x="0" y="1243584"/>
                  </a:cubicBezTo>
                  <a:close/>
                </a:path>
              </a:pathLst>
            </a:custGeom>
            <a:solidFill>
              <a:srgbClr val="FFFFFF"/>
            </a:solidFill>
          </p:spPr>
        </p:sp>
      </p:grpSp>
      <p:grpSp>
        <p:nvGrpSpPr>
          <p:cNvPr name="Group 23" id="23"/>
          <p:cNvGrpSpPr/>
          <p:nvPr/>
        </p:nvGrpSpPr>
        <p:grpSpPr>
          <a:xfrm rot="0">
            <a:off x="1237107" y="4087368"/>
            <a:ext cx="617220" cy="617220"/>
            <a:chOff x="0" y="0"/>
            <a:chExt cx="822960" cy="822960"/>
          </a:xfrm>
        </p:grpSpPr>
        <p:sp>
          <p:nvSpPr>
            <p:cNvPr name="Freeform 24" id="2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25" id="25"/>
          <p:cNvGrpSpPr/>
          <p:nvPr/>
        </p:nvGrpSpPr>
        <p:grpSpPr>
          <a:xfrm rot="0">
            <a:off x="1237107" y="4087368"/>
            <a:ext cx="617220" cy="617220"/>
            <a:chOff x="0" y="0"/>
            <a:chExt cx="822960" cy="822960"/>
          </a:xfrm>
        </p:grpSpPr>
        <p:sp>
          <p:nvSpPr>
            <p:cNvPr name="Freeform 26" id="2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27" id="2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28" id="28"/>
          <p:cNvGrpSpPr/>
          <p:nvPr/>
        </p:nvGrpSpPr>
        <p:grpSpPr>
          <a:xfrm rot="0">
            <a:off x="2072480" y="3895344"/>
            <a:ext cx="9197872" cy="987552"/>
            <a:chOff x="0" y="0"/>
            <a:chExt cx="12263829" cy="1316736"/>
          </a:xfrm>
        </p:grpSpPr>
        <p:sp>
          <p:nvSpPr>
            <p:cNvPr name="Freeform 29" id="29"/>
            <p:cNvSpPr/>
            <p:nvPr/>
          </p:nvSpPr>
          <p:spPr>
            <a:xfrm flipH="false" flipV="false" rot="0">
              <a:off x="0" y="0"/>
              <a:ext cx="12263829" cy="1316736"/>
            </a:xfrm>
            <a:custGeom>
              <a:avLst/>
              <a:gdLst/>
              <a:ahLst/>
              <a:cxnLst/>
              <a:rect r="r" b="b" t="t" l="l"/>
              <a:pathLst>
                <a:path h="1316736" w="12263829">
                  <a:moveTo>
                    <a:pt x="0" y="0"/>
                  </a:moveTo>
                  <a:lnTo>
                    <a:pt x="12263829" y="0"/>
                  </a:lnTo>
                  <a:lnTo>
                    <a:pt x="12263829" y="1316736"/>
                  </a:lnTo>
                  <a:lnTo>
                    <a:pt x="0" y="1316736"/>
                  </a:lnTo>
                  <a:close/>
                </a:path>
              </a:pathLst>
            </a:custGeom>
            <a:blipFill>
              <a:blip r:embed="rId9">
                <a:alphaModFix amt="0"/>
              </a:blip>
              <a:stretch>
                <a:fillRect l="0" t="-209800" r="-43156" b="-209800"/>
              </a:stretch>
            </a:blipFill>
          </p:spPr>
        </p:sp>
        <p:sp>
          <p:nvSpPr>
            <p:cNvPr name="TextBox 30" id="30"/>
            <p:cNvSpPr txBox="true"/>
            <p:nvPr/>
          </p:nvSpPr>
          <p:spPr>
            <a:xfrm>
              <a:off x="0" y="-66675"/>
              <a:ext cx="1226382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Apply slicers and drill-downs so the reader can ask the follow-up question themselves.</a:t>
              </a:r>
            </a:p>
          </p:txBody>
        </p:sp>
      </p:grpSp>
      <p:grpSp>
        <p:nvGrpSpPr>
          <p:cNvPr name="Group 31" id="31"/>
          <p:cNvGrpSpPr/>
          <p:nvPr/>
        </p:nvGrpSpPr>
        <p:grpSpPr>
          <a:xfrm rot="0">
            <a:off x="866775" y="5129784"/>
            <a:ext cx="10620935" cy="1069848"/>
            <a:chOff x="0" y="0"/>
            <a:chExt cx="14161247" cy="1426464"/>
          </a:xfrm>
        </p:grpSpPr>
        <p:sp>
          <p:nvSpPr>
            <p:cNvPr name="Freeform 32" id="32"/>
            <p:cNvSpPr/>
            <p:nvPr/>
          </p:nvSpPr>
          <p:spPr>
            <a:xfrm flipH="false" flipV="false" rot="0">
              <a:off x="0" y="0"/>
              <a:ext cx="14161247" cy="1426464"/>
            </a:xfrm>
            <a:custGeom>
              <a:avLst/>
              <a:gdLst/>
              <a:ahLst/>
              <a:cxnLst/>
              <a:rect r="r" b="b" t="t" l="l"/>
              <a:pathLst>
                <a:path h="1426464" w="14161247">
                  <a:moveTo>
                    <a:pt x="0" y="182880"/>
                  </a:moveTo>
                  <a:cubicBezTo>
                    <a:pt x="0" y="81915"/>
                    <a:pt x="59005" y="0"/>
                    <a:pt x="131733" y="0"/>
                  </a:cubicBezTo>
                  <a:lnTo>
                    <a:pt x="14029514" y="0"/>
                  </a:lnTo>
                  <a:cubicBezTo>
                    <a:pt x="14102242" y="0"/>
                    <a:pt x="14161247" y="81915"/>
                    <a:pt x="14161247" y="182880"/>
                  </a:cubicBezTo>
                  <a:lnTo>
                    <a:pt x="14161247" y="1243584"/>
                  </a:lnTo>
                  <a:cubicBezTo>
                    <a:pt x="14161247" y="1344549"/>
                    <a:pt x="14102242" y="1426464"/>
                    <a:pt x="14029514" y="1426464"/>
                  </a:cubicBezTo>
                  <a:lnTo>
                    <a:pt x="131733" y="1426464"/>
                  </a:lnTo>
                  <a:cubicBezTo>
                    <a:pt x="59005" y="1426464"/>
                    <a:pt x="0" y="1344549"/>
                    <a:pt x="0" y="1243584"/>
                  </a:cubicBezTo>
                  <a:close/>
                </a:path>
              </a:pathLst>
            </a:custGeom>
            <a:solidFill>
              <a:srgbClr val="FFFFFF"/>
            </a:solidFill>
          </p:spPr>
        </p:sp>
      </p:grpSp>
      <p:grpSp>
        <p:nvGrpSpPr>
          <p:cNvPr name="Group 33" id="33"/>
          <p:cNvGrpSpPr/>
          <p:nvPr/>
        </p:nvGrpSpPr>
        <p:grpSpPr>
          <a:xfrm rot="0">
            <a:off x="1237107" y="5349240"/>
            <a:ext cx="617220" cy="617220"/>
            <a:chOff x="0" y="0"/>
            <a:chExt cx="822960" cy="822960"/>
          </a:xfrm>
        </p:grpSpPr>
        <p:sp>
          <p:nvSpPr>
            <p:cNvPr name="Freeform 34" id="3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35" id="35"/>
          <p:cNvGrpSpPr/>
          <p:nvPr/>
        </p:nvGrpSpPr>
        <p:grpSpPr>
          <a:xfrm rot="0">
            <a:off x="1237107" y="5349240"/>
            <a:ext cx="617220" cy="617220"/>
            <a:chOff x="0" y="0"/>
            <a:chExt cx="822960" cy="822960"/>
          </a:xfrm>
        </p:grpSpPr>
        <p:sp>
          <p:nvSpPr>
            <p:cNvPr name="Freeform 36" id="3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37" id="3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38" id="38"/>
          <p:cNvGrpSpPr/>
          <p:nvPr/>
        </p:nvGrpSpPr>
        <p:grpSpPr>
          <a:xfrm rot="0">
            <a:off x="2072480" y="5157216"/>
            <a:ext cx="9197872" cy="987552"/>
            <a:chOff x="0" y="0"/>
            <a:chExt cx="12263829" cy="1316736"/>
          </a:xfrm>
        </p:grpSpPr>
        <p:sp>
          <p:nvSpPr>
            <p:cNvPr name="Freeform 39" id="39"/>
            <p:cNvSpPr/>
            <p:nvPr/>
          </p:nvSpPr>
          <p:spPr>
            <a:xfrm flipH="false" flipV="false" rot="0">
              <a:off x="0" y="0"/>
              <a:ext cx="12263829" cy="1316736"/>
            </a:xfrm>
            <a:custGeom>
              <a:avLst/>
              <a:gdLst/>
              <a:ahLst/>
              <a:cxnLst/>
              <a:rect r="r" b="b" t="t" l="l"/>
              <a:pathLst>
                <a:path h="1316736" w="12263829">
                  <a:moveTo>
                    <a:pt x="0" y="0"/>
                  </a:moveTo>
                  <a:lnTo>
                    <a:pt x="12263829" y="0"/>
                  </a:lnTo>
                  <a:lnTo>
                    <a:pt x="12263829" y="1316736"/>
                  </a:lnTo>
                  <a:lnTo>
                    <a:pt x="0" y="1316736"/>
                  </a:lnTo>
                  <a:close/>
                </a:path>
              </a:pathLst>
            </a:custGeom>
            <a:blipFill>
              <a:blip r:embed="rId9">
                <a:alphaModFix amt="0"/>
              </a:blip>
              <a:stretch>
                <a:fillRect l="0" t="-209800" r="-43156" b="-209800"/>
              </a:stretch>
            </a:blipFill>
          </p:spPr>
        </p:sp>
        <p:sp>
          <p:nvSpPr>
            <p:cNvPr name="TextBox 40" id="40"/>
            <p:cNvSpPr txBox="true"/>
            <p:nvPr/>
          </p:nvSpPr>
          <p:spPr>
            <a:xfrm>
              <a:off x="0" y="-66675"/>
              <a:ext cx="1226382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Publish to the Service, or export to PDF without a Pro licence, and show when the data was last updated.</a:t>
              </a:r>
            </a:p>
          </p:txBody>
        </p:sp>
      </p:grpSp>
      <p:grpSp>
        <p:nvGrpSpPr>
          <p:cNvPr name="Group 41" id="41"/>
          <p:cNvGrpSpPr/>
          <p:nvPr/>
        </p:nvGrpSpPr>
        <p:grpSpPr>
          <a:xfrm rot="0">
            <a:off x="866775" y="6391656"/>
            <a:ext cx="10620935" cy="1069848"/>
            <a:chOff x="0" y="0"/>
            <a:chExt cx="14161247" cy="1426464"/>
          </a:xfrm>
        </p:grpSpPr>
        <p:sp>
          <p:nvSpPr>
            <p:cNvPr name="Freeform 42" id="42"/>
            <p:cNvSpPr/>
            <p:nvPr/>
          </p:nvSpPr>
          <p:spPr>
            <a:xfrm flipH="false" flipV="false" rot="0">
              <a:off x="0" y="0"/>
              <a:ext cx="14161247" cy="1426464"/>
            </a:xfrm>
            <a:custGeom>
              <a:avLst/>
              <a:gdLst/>
              <a:ahLst/>
              <a:cxnLst/>
              <a:rect r="r" b="b" t="t" l="l"/>
              <a:pathLst>
                <a:path h="1426464" w="14161247">
                  <a:moveTo>
                    <a:pt x="0" y="182880"/>
                  </a:moveTo>
                  <a:cubicBezTo>
                    <a:pt x="0" y="81915"/>
                    <a:pt x="59005" y="0"/>
                    <a:pt x="131733" y="0"/>
                  </a:cubicBezTo>
                  <a:lnTo>
                    <a:pt x="14029514" y="0"/>
                  </a:lnTo>
                  <a:cubicBezTo>
                    <a:pt x="14102242" y="0"/>
                    <a:pt x="14161247" y="81915"/>
                    <a:pt x="14161247" y="182880"/>
                  </a:cubicBezTo>
                  <a:lnTo>
                    <a:pt x="14161247" y="1243584"/>
                  </a:lnTo>
                  <a:cubicBezTo>
                    <a:pt x="14161247" y="1344549"/>
                    <a:pt x="14102242" y="1426464"/>
                    <a:pt x="14029514" y="1426464"/>
                  </a:cubicBezTo>
                  <a:lnTo>
                    <a:pt x="131733" y="1426464"/>
                  </a:lnTo>
                  <a:cubicBezTo>
                    <a:pt x="59005" y="1426464"/>
                    <a:pt x="0" y="1344549"/>
                    <a:pt x="0" y="1243584"/>
                  </a:cubicBezTo>
                  <a:close/>
                </a:path>
              </a:pathLst>
            </a:custGeom>
            <a:solidFill>
              <a:srgbClr val="FFFFFF"/>
            </a:solidFill>
          </p:spPr>
        </p:sp>
      </p:grpSp>
      <p:grpSp>
        <p:nvGrpSpPr>
          <p:cNvPr name="Group 43" id="43"/>
          <p:cNvGrpSpPr/>
          <p:nvPr/>
        </p:nvGrpSpPr>
        <p:grpSpPr>
          <a:xfrm rot="0">
            <a:off x="1237107" y="6611112"/>
            <a:ext cx="617220" cy="617220"/>
            <a:chOff x="0" y="0"/>
            <a:chExt cx="822960" cy="822960"/>
          </a:xfrm>
        </p:grpSpPr>
        <p:sp>
          <p:nvSpPr>
            <p:cNvPr name="Freeform 44" id="4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45" id="45"/>
          <p:cNvGrpSpPr/>
          <p:nvPr/>
        </p:nvGrpSpPr>
        <p:grpSpPr>
          <a:xfrm rot="0">
            <a:off x="1237107" y="6611112"/>
            <a:ext cx="617220" cy="617220"/>
            <a:chOff x="0" y="0"/>
            <a:chExt cx="822960" cy="822960"/>
          </a:xfrm>
        </p:grpSpPr>
        <p:sp>
          <p:nvSpPr>
            <p:cNvPr name="Freeform 46" id="4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47" id="4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48" id="48"/>
          <p:cNvGrpSpPr/>
          <p:nvPr/>
        </p:nvGrpSpPr>
        <p:grpSpPr>
          <a:xfrm rot="0">
            <a:off x="2072480" y="6419088"/>
            <a:ext cx="9197872" cy="987552"/>
            <a:chOff x="0" y="0"/>
            <a:chExt cx="12263829" cy="1316736"/>
          </a:xfrm>
        </p:grpSpPr>
        <p:sp>
          <p:nvSpPr>
            <p:cNvPr name="Freeform 49" id="49"/>
            <p:cNvSpPr/>
            <p:nvPr/>
          </p:nvSpPr>
          <p:spPr>
            <a:xfrm flipH="false" flipV="false" rot="0">
              <a:off x="0" y="0"/>
              <a:ext cx="12263829" cy="1316736"/>
            </a:xfrm>
            <a:custGeom>
              <a:avLst/>
              <a:gdLst/>
              <a:ahLst/>
              <a:cxnLst/>
              <a:rect r="r" b="b" t="t" l="l"/>
              <a:pathLst>
                <a:path h="1316736" w="12263829">
                  <a:moveTo>
                    <a:pt x="0" y="0"/>
                  </a:moveTo>
                  <a:lnTo>
                    <a:pt x="12263829" y="0"/>
                  </a:lnTo>
                  <a:lnTo>
                    <a:pt x="12263829" y="1316736"/>
                  </a:lnTo>
                  <a:lnTo>
                    <a:pt x="0" y="1316736"/>
                  </a:lnTo>
                  <a:close/>
                </a:path>
              </a:pathLst>
            </a:custGeom>
            <a:blipFill>
              <a:blip r:embed="rId9">
                <a:alphaModFix amt="0"/>
              </a:blip>
              <a:stretch>
                <a:fillRect l="0" t="-209800" r="-43156" b="-209800"/>
              </a:stretch>
            </a:blipFill>
          </p:spPr>
        </p:sp>
        <p:sp>
          <p:nvSpPr>
            <p:cNvPr name="TextBox 50" id="50"/>
            <p:cNvSpPr txBox="true"/>
            <p:nvPr/>
          </p:nvSpPr>
          <p:spPr>
            <a:xfrm>
              <a:off x="0" y="-66675"/>
              <a:ext cx="1226382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Present the dashboard by leading with the finding, in under ninety seconds.</a:t>
              </a:r>
            </a:p>
          </p:txBody>
        </p:sp>
      </p:grpSp>
      <p:grpSp>
        <p:nvGrpSpPr>
          <p:cNvPr name="Group 51" id="51"/>
          <p:cNvGrpSpPr/>
          <p:nvPr/>
        </p:nvGrpSpPr>
        <p:grpSpPr>
          <a:xfrm rot="0">
            <a:off x="866775" y="7818120"/>
            <a:ext cx="14744700" cy="1371600"/>
            <a:chOff x="0" y="0"/>
            <a:chExt cx="19659600" cy="1828800"/>
          </a:xfrm>
        </p:grpSpPr>
        <p:sp>
          <p:nvSpPr>
            <p:cNvPr name="Freeform 52" id="52"/>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53" id="53"/>
          <p:cNvGrpSpPr/>
          <p:nvPr/>
        </p:nvGrpSpPr>
        <p:grpSpPr>
          <a:xfrm rot="0">
            <a:off x="866775" y="7818120"/>
            <a:ext cx="102870" cy="1371600"/>
            <a:chOff x="0" y="0"/>
            <a:chExt cx="137160" cy="1828800"/>
          </a:xfrm>
        </p:grpSpPr>
        <p:sp>
          <p:nvSpPr>
            <p:cNvPr name="Freeform 54" id="54"/>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55" id="55"/>
          <p:cNvGrpSpPr/>
          <p:nvPr/>
        </p:nvGrpSpPr>
        <p:grpSpPr>
          <a:xfrm rot="0">
            <a:off x="1415415" y="7818120"/>
            <a:ext cx="13853160" cy="1371600"/>
            <a:chOff x="0" y="0"/>
            <a:chExt cx="18470880" cy="1828800"/>
          </a:xfrm>
        </p:grpSpPr>
        <p:sp>
          <p:nvSpPr>
            <p:cNvPr name="Freeform 56" id="56"/>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57" id="57"/>
            <p:cNvSpPr txBox="true"/>
            <p:nvPr/>
          </p:nvSpPr>
          <p:spPr>
            <a:xfrm>
              <a:off x="0" y="-104775"/>
              <a:ext cx="18470880" cy="1933575"/>
            </a:xfrm>
            <a:prstGeom prst="rect">
              <a:avLst/>
            </a:prstGeom>
          </p:spPr>
          <p:txBody>
            <a:bodyPr anchor="ctr" rtlCol="false" tIns="0" lIns="0" bIns="0" rIns="0"/>
            <a:lstStyle/>
            <a:p>
              <a:pPr algn="ctr">
                <a:lnSpc>
                  <a:spcPts val="3766"/>
                </a:lnSpc>
              </a:pPr>
              <a:r>
                <a:rPr lang="en-US" sz="2325" b="true">
                  <a:solidFill>
                    <a:srgbClr val="387F7F"/>
                  </a:solidFill>
                  <a:latin typeface="Poppins Bold"/>
                  <a:ea typeface="Poppins Bold"/>
                  <a:cs typeface="Poppins Bold"/>
                  <a:sym typeface="Poppins Bold"/>
                </a:rPr>
                <a:t>This dashboard is the Module 7 closing assessment. Read the rubric before you polish.</a:t>
              </a:r>
            </a:p>
          </p:txBody>
        </p:sp>
      </p:grpSp>
      <p:grpSp>
        <p:nvGrpSpPr>
          <p:cNvPr name="Group 58" id="58"/>
          <p:cNvGrpSpPr/>
          <p:nvPr/>
        </p:nvGrpSpPr>
        <p:grpSpPr>
          <a:xfrm rot="0">
            <a:off x="16050235" y="4065689"/>
            <a:ext cx="457200" cy="457200"/>
            <a:chOff x="0" y="0"/>
            <a:chExt cx="609600" cy="609600"/>
          </a:xfrm>
        </p:grpSpPr>
        <p:sp>
          <p:nvSpPr>
            <p:cNvPr name="Freeform 59" id="59"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0"/>
              <a:stretch>
                <a:fillRect l="0" t="-1562" r="0" b="-1562"/>
              </a:stretch>
            </a:blipFill>
          </p:spPr>
        </p:sp>
      </p:grpSp>
      <p:sp>
        <p:nvSpPr>
          <p:cNvPr name="TextBox 60" id="60"/>
          <p:cNvSpPr txBox="true"/>
          <p:nvPr/>
        </p:nvSpPr>
        <p:spPr>
          <a:xfrm rot="0">
            <a:off x="12133574" y="3899002"/>
            <a:ext cx="3583285" cy="1348740"/>
          </a:xfrm>
          <a:prstGeom prst="rect">
            <a:avLst/>
          </a:prstGeom>
        </p:spPr>
        <p:txBody>
          <a:bodyPr anchor="t" rtlCol="false" tIns="0" lIns="0" bIns="0" rIns="0">
            <a:spAutoFit/>
          </a:bodyPr>
          <a:lstStyle/>
          <a:p>
            <a:pPr algn="r">
              <a:lnSpc>
                <a:spcPts val="5400"/>
              </a:lnSpc>
            </a:pPr>
            <a:r>
              <a:rPr lang="en-US" sz="3600">
                <a:solidFill>
                  <a:srgbClr val="387F7F"/>
                </a:solidFill>
                <a:latin typeface="Inter"/>
                <a:ea typeface="Inter"/>
                <a:cs typeface="Inter"/>
                <a:sym typeface="Inter"/>
              </a:rPr>
              <a:t>Up Next:</a:t>
            </a:r>
          </a:p>
          <a:p>
            <a:pPr algn="r">
              <a:lnSpc>
                <a:spcPts val="5400"/>
              </a:lnSpc>
            </a:pPr>
            <a:r>
              <a:rPr lang="en-US" sz="3600">
                <a:solidFill>
                  <a:srgbClr val="387F7F"/>
                </a:solidFill>
                <a:latin typeface="Inter"/>
                <a:ea typeface="Inter"/>
                <a:cs typeface="Inter"/>
                <a:sym typeface="Inter"/>
              </a:rPr>
              <a:t>AI-augmented BI</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388887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 is</a:t>
            </a:r>
            <a:r>
              <a:rPr lang="en-US" sz="5000">
                <a:solidFill>
                  <a:srgbClr val="388080"/>
                </a:solidFill>
                <a:latin typeface="Poppins"/>
                <a:ea typeface="Poppins"/>
                <a:cs typeface="Poppins"/>
                <a:sym typeface="Poppins"/>
              </a:rPr>
              <a:t> Next</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914400" y="2762250"/>
            <a:ext cx="4594860" cy="4800600"/>
            <a:chOff x="0" y="0"/>
            <a:chExt cx="6126480" cy="6400800"/>
          </a:xfrm>
        </p:grpSpPr>
        <p:sp>
          <p:nvSpPr>
            <p:cNvPr name="Freeform 12" id="12"/>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13" id="13"/>
          <p:cNvGrpSpPr/>
          <p:nvPr/>
        </p:nvGrpSpPr>
        <p:grpSpPr>
          <a:xfrm rot="0">
            <a:off x="914400" y="2762250"/>
            <a:ext cx="4594860" cy="713232"/>
            <a:chOff x="0" y="0"/>
            <a:chExt cx="6126480" cy="950976"/>
          </a:xfrm>
        </p:grpSpPr>
        <p:sp>
          <p:nvSpPr>
            <p:cNvPr name="Freeform 14" id="14"/>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C9821F"/>
            </a:solidFill>
          </p:spPr>
        </p:sp>
      </p:grpSp>
      <p:grpSp>
        <p:nvGrpSpPr>
          <p:cNvPr name="Group 15" id="15"/>
          <p:cNvGrpSpPr/>
          <p:nvPr/>
        </p:nvGrpSpPr>
        <p:grpSpPr>
          <a:xfrm rot="0">
            <a:off x="914400" y="2762250"/>
            <a:ext cx="4594860" cy="713232"/>
            <a:chOff x="0" y="0"/>
            <a:chExt cx="6126480" cy="950976"/>
          </a:xfrm>
        </p:grpSpPr>
        <p:sp>
          <p:nvSpPr>
            <p:cNvPr name="Freeform 16" id="16"/>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17" id="17"/>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TOPIC 7.5</a:t>
              </a:r>
            </a:p>
          </p:txBody>
        </p:sp>
      </p:grpSp>
      <p:grpSp>
        <p:nvGrpSpPr>
          <p:cNvPr name="Group 18" id="18"/>
          <p:cNvGrpSpPr/>
          <p:nvPr/>
        </p:nvGrpSpPr>
        <p:grpSpPr>
          <a:xfrm rot="0">
            <a:off x="2701385" y="3911441"/>
            <a:ext cx="1020890" cy="1020890"/>
            <a:chOff x="0" y="0"/>
            <a:chExt cx="1361186" cy="1361186"/>
          </a:xfrm>
        </p:grpSpPr>
        <p:sp>
          <p:nvSpPr>
            <p:cNvPr name="Freeform 19" id="19"/>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C9821F"/>
              </a:solidFill>
              <a:prstDash val="solid"/>
              <a:miter/>
            </a:ln>
          </p:spPr>
        </p:sp>
      </p:grpSp>
      <p:grpSp>
        <p:nvGrpSpPr>
          <p:cNvPr name="Group 20" id="20"/>
          <p:cNvGrpSpPr/>
          <p:nvPr/>
        </p:nvGrpSpPr>
        <p:grpSpPr>
          <a:xfrm rot="0">
            <a:off x="2718054" y="3928110"/>
            <a:ext cx="987552" cy="987552"/>
            <a:chOff x="0" y="0"/>
            <a:chExt cx="1316736" cy="1316736"/>
          </a:xfrm>
        </p:grpSpPr>
        <p:sp>
          <p:nvSpPr>
            <p:cNvPr name="Freeform 21" id="21"/>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22" id="22"/>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C9821F"/>
                  </a:solidFill>
                  <a:latin typeface="Poppins Bold"/>
                  <a:ea typeface="Poppins Bold"/>
                  <a:cs typeface="Poppins Bold"/>
                  <a:sym typeface="Poppins Bold"/>
                </a:rPr>
                <a:t>ƒ</a:t>
              </a:r>
            </a:p>
          </p:txBody>
        </p:sp>
      </p:grpSp>
      <p:sp>
        <p:nvSpPr>
          <p:cNvPr name="TextBox 23" id="23"/>
          <p:cNvSpPr txBox="true"/>
          <p:nvPr/>
        </p:nvSpPr>
        <p:spPr>
          <a:xfrm rot="0">
            <a:off x="1325880" y="5154930"/>
            <a:ext cx="3771900" cy="2133600"/>
          </a:xfrm>
          <a:prstGeom prst="rect">
            <a:avLst/>
          </a:prstGeom>
        </p:spPr>
        <p:txBody>
          <a:bodyPr anchor="t" rtlCol="false" tIns="0" lIns="0" bIns="0" rIns="0">
            <a:spAutoFit/>
          </a:bodyPr>
          <a:lstStyle/>
          <a:p>
            <a:pPr algn="ctr">
              <a:lnSpc>
                <a:spcPts val="2764"/>
              </a:lnSpc>
            </a:pPr>
            <a:r>
              <a:rPr lang="en-US" sz="1800">
                <a:solidFill>
                  <a:srgbClr val="475569"/>
                </a:solidFill>
                <a:latin typeface="Poppins"/>
                <a:ea typeface="Poppins"/>
                <a:cs typeface="Poppins"/>
                <a:sym typeface="Poppins"/>
              </a:rPr>
              <a:t>Everything so far you did yourself. Now an AI assistant writes four measures for you, and your job changes from writing to judging.</a:t>
            </a:r>
          </a:p>
        </p:txBody>
      </p:sp>
      <p:grpSp>
        <p:nvGrpSpPr>
          <p:cNvPr name="Group 24" id="24"/>
          <p:cNvGrpSpPr/>
          <p:nvPr/>
        </p:nvGrpSpPr>
        <p:grpSpPr>
          <a:xfrm rot="0">
            <a:off x="5893308" y="2762250"/>
            <a:ext cx="4594860" cy="4800600"/>
            <a:chOff x="0" y="0"/>
            <a:chExt cx="6126480" cy="6400800"/>
          </a:xfrm>
        </p:grpSpPr>
        <p:sp>
          <p:nvSpPr>
            <p:cNvPr name="Freeform 25" id="25"/>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26" id="26"/>
          <p:cNvGrpSpPr/>
          <p:nvPr/>
        </p:nvGrpSpPr>
        <p:grpSpPr>
          <a:xfrm rot="0">
            <a:off x="5893308" y="2762250"/>
            <a:ext cx="4594860" cy="713232"/>
            <a:chOff x="0" y="0"/>
            <a:chExt cx="6126480" cy="950976"/>
          </a:xfrm>
        </p:grpSpPr>
        <p:sp>
          <p:nvSpPr>
            <p:cNvPr name="Freeform 27" id="27"/>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28" id="28"/>
          <p:cNvGrpSpPr/>
          <p:nvPr/>
        </p:nvGrpSpPr>
        <p:grpSpPr>
          <a:xfrm rot="0">
            <a:off x="5893308" y="2762250"/>
            <a:ext cx="4594860" cy="713232"/>
            <a:chOff x="0" y="0"/>
            <a:chExt cx="6126480" cy="950976"/>
          </a:xfrm>
        </p:grpSpPr>
        <p:sp>
          <p:nvSpPr>
            <p:cNvPr name="Freeform 29" id="29"/>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30" id="30"/>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IN THE LAB</a:t>
              </a:r>
            </a:p>
          </p:txBody>
        </p:sp>
      </p:grpSp>
      <p:grpSp>
        <p:nvGrpSpPr>
          <p:cNvPr name="Group 31" id="31"/>
          <p:cNvGrpSpPr/>
          <p:nvPr/>
        </p:nvGrpSpPr>
        <p:grpSpPr>
          <a:xfrm rot="0">
            <a:off x="7680293" y="3911441"/>
            <a:ext cx="1020890" cy="1020890"/>
            <a:chOff x="0" y="0"/>
            <a:chExt cx="1361186" cy="1361186"/>
          </a:xfrm>
        </p:grpSpPr>
        <p:sp>
          <p:nvSpPr>
            <p:cNvPr name="Freeform 32" id="32"/>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33" id="33"/>
          <p:cNvGrpSpPr/>
          <p:nvPr/>
        </p:nvGrpSpPr>
        <p:grpSpPr>
          <a:xfrm rot="0">
            <a:off x="7696962" y="3928110"/>
            <a:ext cx="987552" cy="987552"/>
            <a:chOff x="0" y="0"/>
            <a:chExt cx="1316736" cy="1316736"/>
          </a:xfrm>
        </p:grpSpPr>
        <p:sp>
          <p:nvSpPr>
            <p:cNvPr name="Freeform 34" id="34"/>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35" id="35"/>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36" id="36"/>
          <p:cNvSpPr txBox="true"/>
          <p:nvPr/>
        </p:nvSpPr>
        <p:spPr>
          <a:xfrm rot="0">
            <a:off x="6304788" y="5154930"/>
            <a:ext cx="3771900" cy="2133600"/>
          </a:xfrm>
          <a:prstGeom prst="rect">
            <a:avLst/>
          </a:prstGeom>
        </p:spPr>
        <p:txBody>
          <a:bodyPr anchor="t" rtlCol="false" tIns="0" lIns="0" bIns="0" rIns="0">
            <a:spAutoFit/>
          </a:bodyPr>
          <a:lstStyle/>
          <a:p>
            <a:pPr algn="ctr">
              <a:lnSpc>
                <a:spcPts val="2764"/>
              </a:lnSpc>
            </a:pPr>
            <a:r>
              <a:rPr lang="en-US" sz="1800">
                <a:solidFill>
                  <a:srgbClr val="475569"/>
                </a:solidFill>
                <a:latin typeface="Poppins"/>
                <a:ea typeface="Poppins"/>
                <a:cs typeface="Poppins"/>
                <a:sym typeface="Poppins"/>
              </a:rPr>
              <a:t>Extend your dashboard with a drill-down hierarchy and a second page for the client-facing view.</a:t>
            </a:r>
          </a:p>
        </p:txBody>
      </p:sp>
      <p:grpSp>
        <p:nvGrpSpPr>
          <p:cNvPr name="Group 37" id="37"/>
          <p:cNvGrpSpPr/>
          <p:nvPr/>
        </p:nvGrpSpPr>
        <p:grpSpPr>
          <a:xfrm rot="0">
            <a:off x="10872216" y="2762250"/>
            <a:ext cx="4594860" cy="4800600"/>
            <a:chOff x="0" y="0"/>
            <a:chExt cx="6126480" cy="6400800"/>
          </a:xfrm>
        </p:grpSpPr>
        <p:sp>
          <p:nvSpPr>
            <p:cNvPr name="Freeform 38" id="38"/>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39" id="39"/>
          <p:cNvGrpSpPr/>
          <p:nvPr/>
        </p:nvGrpSpPr>
        <p:grpSpPr>
          <a:xfrm rot="0">
            <a:off x="10872216" y="2762250"/>
            <a:ext cx="4594860" cy="713232"/>
            <a:chOff x="0" y="0"/>
            <a:chExt cx="6126480" cy="950976"/>
          </a:xfrm>
        </p:grpSpPr>
        <p:sp>
          <p:nvSpPr>
            <p:cNvPr name="Freeform 40" id="40"/>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41" id="41"/>
          <p:cNvGrpSpPr/>
          <p:nvPr/>
        </p:nvGrpSpPr>
        <p:grpSpPr>
          <a:xfrm rot="0">
            <a:off x="10872216" y="2762250"/>
            <a:ext cx="4594860" cy="713232"/>
            <a:chOff x="0" y="0"/>
            <a:chExt cx="6126480" cy="950976"/>
          </a:xfrm>
        </p:grpSpPr>
        <p:sp>
          <p:nvSpPr>
            <p:cNvPr name="Freeform 42" id="42"/>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43" id="43"/>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ASSESSMENT</a:t>
              </a:r>
            </a:p>
          </p:txBody>
        </p:sp>
      </p:grpSp>
      <p:grpSp>
        <p:nvGrpSpPr>
          <p:cNvPr name="Group 44" id="44"/>
          <p:cNvGrpSpPr/>
          <p:nvPr/>
        </p:nvGrpSpPr>
        <p:grpSpPr>
          <a:xfrm rot="0">
            <a:off x="12659201" y="3911441"/>
            <a:ext cx="1020890" cy="1020890"/>
            <a:chOff x="0" y="0"/>
            <a:chExt cx="1361186" cy="1361186"/>
          </a:xfrm>
        </p:grpSpPr>
        <p:sp>
          <p:nvSpPr>
            <p:cNvPr name="Freeform 45" id="45"/>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46" id="46"/>
          <p:cNvGrpSpPr/>
          <p:nvPr/>
        </p:nvGrpSpPr>
        <p:grpSpPr>
          <a:xfrm rot="0">
            <a:off x="12675870" y="3928110"/>
            <a:ext cx="987552" cy="987552"/>
            <a:chOff x="0" y="0"/>
            <a:chExt cx="1316736" cy="1316736"/>
          </a:xfrm>
        </p:grpSpPr>
        <p:sp>
          <p:nvSpPr>
            <p:cNvPr name="Freeform 47" id="47"/>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48" id="48"/>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49" id="49"/>
          <p:cNvSpPr txBox="true"/>
          <p:nvPr/>
        </p:nvSpPr>
        <p:spPr>
          <a:xfrm rot="0">
            <a:off x="11283696" y="5154930"/>
            <a:ext cx="3771900" cy="2133600"/>
          </a:xfrm>
          <a:prstGeom prst="rect">
            <a:avLst/>
          </a:prstGeom>
        </p:spPr>
        <p:txBody>
          <a:bodyPr anchor="t" rtlCol="false" tIns="0" lIns="0" bIns="0" rIns="0">
            <a:spAutoFit/>
          </a:bodyPr>
          <a:lstStyle/>
          <a:p>
            <a:pPr algn="ctr">
              <a:lnSpc>
                <a:spcPts val="2764"/>
              </a:lnSpc>
            </a:pPr>
            <a:r>
              <a:rPr lang="en-US" sz="1800">
                <a:solidFill>
                  <a:srgbClr val="475569"/>
                </a:solidFill>
                <a:latin typeface="Poppins"/>
                <a:ea typeface="Poppins"/>
                <a:cs typeface="Poppins"/>
                <a:sym typeface="Poppins"/>
              </a:rPr>
              <a:t>This dashboard is the Module 7 closing assessment. The rubric is on publica.academy. Read it before you polish.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DAHT4dMcVfU</dc:identifier>
  <dcterms:modified xsi:type="dcterms:W3CDTF">2011-08-01T06:04:30Z</dcterms:modified>
  <cp:revision>1</cp:revision>
  <dc:title>7.4_KPI Dashboards and Publishing</dc:title>
</cp:coreProperties>
</file>