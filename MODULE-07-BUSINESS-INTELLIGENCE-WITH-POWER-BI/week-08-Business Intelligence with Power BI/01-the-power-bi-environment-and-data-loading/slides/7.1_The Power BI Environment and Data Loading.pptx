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Inter" charset="1" panose="02000503000000020004"/>
      <p:regular r:id="rId26"/>
    </p:embeddedFont>
    <p:embeddedFont>
      <p:font typeface="Inter Bold" charset="1" panose="02000503000000020004"/>
      <p:regular r:id="rId27"/>
    </p:embeddedFont>
    <p:embeddedFont>
      <p:font typeface="Poppins Bold" charset="1" panose="00000800000000000000"/>
      <p:regular r:id="rId28"/>
    </p:embeddedFont>
    <p:embeddedFont>
      <p:font typeface="Poppins" charset="1" panose="00000500000000000000"/>
      <p:regular r:id="rId32"/>
    </p:embeddedFont>
    <p:embeddedFont>
      <p:font typeface="Poppins Italics" charset="1" panose="00000500000000000000"/>
      <p:regular r:id="rId35"/>
    </p:embeddedFont>
    <p:embeddedFont>
      <p:font typeface="Roboto Mono" charset="1" panose="00000000000000000000"/>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notesMasters/notesMaster1.xml" Type="http://schemas.openxmlformats.org/officeDocument/2006/relationships/notesMaster"/><Relationship Id="rId3" Target="viewProps.xml" Type="http://schemas.openxmlformats.org/officeDocument/2006/relationships/viewProps"/><Relationship Id="rId30" Target="theme/theme2.xml" Type="http://schemas.openxmlformats.org/officeDocument/2006/relationships/theme"/><Relationship Id="rId31" Target="notesSlides/notesSlide1.xml" Type="http://schemas.openxmlformats.org/officeDocument/2006/relationships/notesSlide"/><Relationship Id="rId32" Target="fonts/font32.fntdata" Type="http://schemas.openxmlformats.org/officeDocument/2006/relationships/font"/><Relationship Id="rId33" Target="notesSlides/notesSlide2.xml" Type="http://schemas.openxmlformats.org/officeDocument/2006/relationships/notesSlide"/><Relationship Id="rId34" Target="notesSlides/notesSlide3.xml" Type="http://schemas.openxmlformats.org/officeDocument/2006/relationships/notesSlide"/><Relationship Id="rId35" Target="fonts/font35.fntdata" Type="http://schemas.openxmlformats.org/officeDocument/2006/relationships/font"/><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notesSlides/notesSlide7.xml" Type="http://schemas.openxmlformats.org/officeDocument/2006/relationships/notesSlide"/><Relationship Id="rId4" Target="theme/theme1.xml" Type="http://schemas.openxmlformats.org/officeDocument/2006/relationships/theme"/><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fonts/font48.fntdata" Type="http://schemas.openxmlformats.org/officeDocument/2006/relationships/font"/><Relationship Id="rId49" Target="notesSlides/notesSlide16.xml" Type="http://schemas.openxmlformats.org/officeDocument/2006/relationships/notesSlide"/><Relationship Id="rId5" Target="tableStyles.xml" Type="http://schemas.openxmlformats.org/officeDocument/2006/relationships/tableStyles"/><Relationship Id="rId50" Target="notesSlides/notesSlide17.xml" Type="http://schemas.openxmlformats.org/officeDocument/2006/relationships/notesSlide"/><Relationship Id="rId51" Target="notesSlides/notesSlide18.xml" Type="http://schemas.openxmlformats.org/officeDocument/2006/relationships/notesSlide"/><Relationship Id="rId52" Target="notesSlides/notesSlide19.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TO SAY (roughly two minutes):</a:t>
            </a:r>
          </a:p>
          <a:p>
            <a:r>
              <a:rPr lang="en-US"/>
              <a:t/>
            </a:r>
          </a:p>
          <a:p>
            <a:r>
              <a:rPr lang="en-US"/>
              <a:t>"Welcome to Module 7. Before we start, I want to name where you are in this programme, because it matters for how this module is going to feel.</a:t>
            </a:r>
          </a:p>
          <a:p>
            <a:r>
              <a:rPr lang="en-US"/>
              <a:t/>
            </a:r>
          </a:p>
          <a:p>
            <a:r>
              <a:rPr lang="en-US"/>
              <a:t>You are seven modules in. You have learned Excel, you have learned SQL, you have learned statistics, you have learned Python and pandas, and most recently you learned how to turn analysis into a story that a manager will act on. If you are feeling like every module brings another tool to learn, that is a reasonable thing to feel.</a:t>
            </a:r>
          </a:p>
          <a:p>
            <a:r>
              <a:rPr lang="en-US"/>
              <a:t/>
            </a:r>
          </a:p>
          <a:p>
            <a:r>
              <a:rPr lang="en-US"/>
              <a:t>This module is different, and I want to promise you something at the start. Power BI is not a sixth subject. It is the first module where the things you already know get joined together into one job. By the end of today you are going to recognise almost everything on the screen, because you have already done it somewhere else. Where you see something new, I will tell you it is new."</a:t>
            </a:r>
          </a:p>
          <a:p>
            <a:r>
              <a:rPr lang="en-US"/>
              <a:t/>
            </a:r>
          </a:p>
          <a:p>
            <a:r>
              <a:rPr lang="en-US"/>
              <a:t>WHY THIS FRAMING MATTERS: this point in the programme is where fatigue peaks and confidence dips. Trainees arrive braced for another unfamiliar interface. The most useful thing you can do in the first two minutes is remove that expectation, because a trainee who believes they are behind will not attempt the lab properly.</a:t>
            </a:r>
          </a:p>
          <a:p>
            <a:r>
              <a:rPr lang="en-US"/>
              <a:t/>
            </a:r>
          </a:p>
          <a:p>
            <a:r>
              <a:rPr lang="en-US"/>
              <a:t>DELIVERY CUES:</a:t>
            </a:r>
          </a:p>
          <a:p>
            <a:r>
              <a:rPr lang="en-US"/>
              <a:t>- Do not open Power BI yet. Software on screen invites people to start clicking.</a:t>
            </a:r>
          </a:p>
          <a:p>
            <a:r>
              <a:rPr lang="en-US"/>
              <a:t>- Say the promise out loud. You will refer back to it on the translation slide and again in the recap.</a:t>
            </a:r>
          </a:p>
          <a:p>
            <a:r>
              <a:rPr lang="en-US"/>
              <a:t/>
            </a:r>
          </a:p>
          <a:p>
            <a:r>
              <a:rPr lang="en-US"/>
              <a:t>TIMING: 2 minutes.</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WHY THE OUTCOMES SLIDE IS NOT A FORMALITY: the programme's standard is that every slide, exercise and quiz item maps to a stated outcome, written as an observable action. Reading them aloud tells trainees exactly what they will be held to, which is a fairness issue as much as a pedagogical one.</a:t>
            </a:r>
          </a:p>
          <a:p>
            <a:r>
              <a:rPr lang="en-US"/>
              <a:t/>
            </a:r>
          </a:p>
          <a:p>
            <a:r>
              <a:rPr lang="en-US"/>
              <a:t>Note the verbs: navigate, load, explain. Not "understand". You cannot observe understanding, only what someone can do with it.</a:t>
            </a:r>
          </a:p>
          <a:p>
            <a:r>
              <a:rPr lang="en-US"/>
              <a:t/>
            </a:r>
          </a:p>
          <a:p>
            <a:r>
              <a:rPr lang="en-US"/>
              <a:t>WHAT TO SAY (about two minutes):</a:t>
            </a:r>
          </a:p>
          <a:p>
            <a:r>
              <a:rPr lang="en-US"/>
              <a:t>"Three things by the end of this topic.</a:t>
            </a:r>
          </a:p>
          <a:p>
            <a:r>
              <a:rPr lang="en-US"/>
              <a:t/>
            </a:r>
          </a:p>
          <a:p>
            <a:r>
              <a:rPr lang="en-US"/>
              <a:t>First, you can move around Power BI Desktop and tell me what each of the four views is for.</a:t>
            </a:r>
          </a:p>
          <a:p>
            <a:r>
              <a:rPr lang="en-US"/>
              <a:t/>
            </a:r>
          </a:p>
          <a:p>
            <a:r>
              <a:rPr lang="en-US"/>
              <a:t>Second, you can load data through Power Query and apply transformations that survive a refresh. That phrase, survive a refresh, is doing a lot of work and we will come back to it.</a:t>
            </a:r>
          </a:p>
          <a:p>
            <a:r>
              <a:rPr lang="en-US"/>
              <a:t/>
            </a:r>
          </a:p>
          <a:p>
            <a:r>
              <a:rPr lang="en-US"/>
              <a:t>Third, and this is the one I care most about: you can explain how Power BI's pipeline mirrors the Excel and SQL workflows you already know."</a:t>
            </a:r>
          </a:p>
          <a:p>
            <a:r>
              <a:rPr lang="en-US"/>
              <a:t/>
            </a:r>
          </a:p>
          <a:p>
            <a:r>
              <a:rPr lang="en-US"/>
              <a:t>READ OUTCOME THREE TWICE. It is the thesis of the entire module and the psychological strategy for the topic. Say the second reading slightly slower.</a:t>
            </a:r>
          </a:p>
          <a:p>
            <a:r>
              <a:rPr lang="en-US"/>
              <a:t/>
            </a:r>
          </a:p>
          <a:p>
            <a:r>
              <a:rPr lang="en-US"/>
              <a:t>TIMING: 2 minutes.</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THIS SLIDE IS DOING: retrieval practice, one of the nine teaching methods the programme mandates. It opens every concept session. Recalling from memory, effortfully, strengthens memory far more than re-reading does. It costs four minutes.</a:t>
            </a:r>
          </a:p>
          <a:p>
            <a:r>
              <a:rPr lang="en-US"/>
              <a:t/>
            </a:r>
          </a:p>
          <a:p>
            <a:r>
              <a:rPr lang="en-US"/>
              <a:t>The three questions are not random. Each is a skill this topic is about to reuse under a different name:</a:t>
            </a:r>
          </a:p>
          <a:p>
            <a:r>
              <a:rPr lang="en-US"/>
              <a:t>- Q1 is a GROUP BY aggregation. In forty minutes they build the same thing by dragging two fields onto a canvas.</a:t>
            </a:r>
          </a:p>
          <a:p>
            <a:r>
              <a:rPr lang="en-US"/>
              <a:t>- Q2 is Power Query, from Module 2. Power BI's loading interface IS Power Query.</a:t>
            </a:r>
          </a:p>
          <a:p>
            <a:r>
              <a:rPr lang="en-US"/>
              <a:t>- Q3 is Module 6 chart judgement, the entire basis of Topic 7.4.</a:t>
            </a:r>
          </a:p>
          <a:p>
            <a:r>
              <a:rPr lang="en-US"/>
              <a:t/>
            </a:r>
          </a:p>
          <a:p>
            <a:r>
              <a:rPr lang="en-US"/>
              <a:t>WHAT TO SAY (thirty seconds): "Notes closed, laptops closed. From memory. You will get some wrong and that is fine, the point is the trying. Four minutes."</a:t>
            </a:r>
          </a:p>
          <a:p>
            <a:r>
              <a:rPr lang="en-US"/>
              <a:t/>
            </a:r>
          </a:p>
          <a:p>
            <a:r>
              <a:rPr lang="en-US"/>
              <a:t>EXPECTED ANSWERS:</a:t>
            </a:r>
          </a:p>
          <a:p>
            <a:r>
              <a:rPr lang="en-US"/>
              <a:t>1. SELECT RouteID, COUNT(*) FROM deliveries GROUP BY RouteID; Accept any working variant.</a:t>
            </a:r>
          </a:p>
          <a:p>
            <a:r>
              <a:rPr lang="en-US"/>
              <a:t>2. Removing a column deletes a field for every row, so you lose an attribute across the whole table. Filtering a row removes entire records failing a condition, so you lose observations. Common confusion: both "make the table smaller"; one narrows, one shortens.</a:t>
            </a:r>
          </a:p>
          <a:p>
            <a:r>
              <a:rPr lang="en-US"/>
              <a:t>3. Truncated y-axis, pie chart with too many slices, missing axis labels, inconsistent scales side by side, or a cherry-picked date range.</a:t>
            </a:r>
          </a:p>
          <a:p>
            <a:r>
              <a:rPr lang="en-US"/>
              <a:t/>
            </a:r>
          </a:p>
          <a:p>
            <a:r>
              <a:rPr lang="en-US"/>
              <a:t>DELIVERY CUES: take answers verbally and quickly. Do not turn this into a SQL lesson. Call on at least one remote trainee by name. Correct in one sentence and move on.</a:t>
            </a:r>
          </a:p>
          <a:p>
            <a:r>
              <a:rPr lang="en-US"/>
              <a:t/>
            </a:r>
          </a:p>
          <a:p>
            <a:r>
              <a:rPr lang="en-US"/>
              <a:t>TIMING: 4 minutes.</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IDEA THIS SLIDE DELIVERS: there is a difference between producing an analysis and producing a product, and this module is about the second one.</a:t>
            </a:r>
          </a:p>
          <a:p>
            <a:r>
              <a:rPr lang="en-US"/>
              <a:t/>
            </a:r>
          </a:p>
          <a:p>
            <a:r>
              <a:rPr lang="en-US"/>
              <a:t>Everything trainees have built so far has been an analysis: a one-off answer to a one-off question. Business intelligence produces something different. Adaeze opens it herself, filters it herself, drills in herself. You are not in the room and it keeps working.</a:t>
            </a:r>
          </a:p>
          <a:p>
            <a:r>
              <a:rPr lang="en-US"/>
              <a:t/>
            </a:r>
          </a:p>
          <a:p>
            <a:r>
              <a:rPr lang="en-US"/>
              <a:t>WHAT TO SAY (about three minutes):</a:t>
            </a:r>
          </a:p>
          <a:p>
            <a:r>
              <a:rPr lang="en-US"/>
              <a:t>"I want to introduce you to someone you are going to spend two modules with. Adaeze Nwosu is the operations manager at SwiftRoute Logistics, a last-mile delivery company running out of Lagos into Ogun and Oyo.</a:t>
            </a:r>
          </a:p>
          <a:p>
            <a:r>
              <a:rPr lang="en-US"/>
              <a:t/>
            </a:r>
          </a:p>
          <a:p>
            <a:r>
              <a:rPr lang="en-US"/>
              <a:t>Every morning, before her riders dispatch, she opens one screen and answers three questions. Which routes slipped yesterday. Which riders are carrying the load. And whether the month is still on track against the promise she made her clients, which is that ninety percent of deliveries arrive inside the window.</a:t>
            </a:r>
          </a:p>
          <a:p>
            <a:r>
              <a:rPr lang="en-US"/>
              <a:t/>
            </a:r>
          </a:p>
          <a:p>
            <a:r>
              <a:rPr lang="en-US"/>
              <a:t>Notice what she does not do. She does not open Excel. She does not write SQL. She does not ring an analyst. Somebody built her a product, and it refreshes itself overnight."</a:t>
            </a:r>
          </a:p>
          <a:p>
            <a:r>
              <a:rPr lang="en-US"/>
              <a:t/>
            </a:r>
          </a:p>
          <a:p>
            <a:r>
              <a:rPr lang="en-US"/>
              <a:t>THE QUESTION TO ASK: "Has anyone here ever been asked the same question three weeks in a row?" Most hands go up. Take one story briefly. It makes the problem personal before you offer the solution.</a:t>
            </a:r>
          </a:p>
          <a:p>
            <a:r>
              <a:rPr lang="en-US"/>
              <a:t/>
            </a:r>
          </a:p>
          <a:p>
            <a:r>
              <a:rPr lang="en-US"/>
              <a:t>ON THE DISCLAIMER: read it aloud. It models the programme's responsible-data standard and sets up Topic 7.6, where trainees apply the same rule to their own capstone dataset.</a:t>
            </a:r>
          </a:p>
          <a:p>
            <a:r>
              <a:rPr lang="en-US"/>
              <a:t/>
            </a:r>
          </a:p>
          <a:p>
            <a:r>
              <a:rPr lang="en-US"/>
              <a:t>TIMING: 3 minutes.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TO SAY: "Part one. What this thing actually is."</a:t>
            </a:r>
          </a:p>
          <a:p>
            <a:r>
              <a:rPr lang="en-US"/>
              <a:t/>
            </a:r>
          </a:p>
          <a:p>
            <a:r>
              <a:rPr lang="en-US"/>
              <a:t>Dividers exist so trainees, particularly remote ones who cannot read the room, know where they are in a long session.</a:t>
            </a:r>
          </a:p>
          <a:p>
            <a:r>
              <a:rPr lang="en-US"/>
              <a:t/>
            </a:r>
          </a:p>
          <a:p>
            <a:r>
              <a:rPr lang="en-US"/>
              <a:t>TIMING: 30 seconds.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MOST IMPORTANT SLIDE IN THE DECK. If you deliver only one slide well, make it this one. Everything else in Module 7 is easier if this lands.</a:t>
            </a:r>
          </a:p>
          <a:p>
            <a:r>
              <a:rPr lang="en-US"/>
              <a:t/>
            </a:r>
          </a:p>
          <a:p>
            <a:r>
              <a:rPr lang="en-US"/>
              <a:t>THE CONTENT IN FULL:</a:t>
            </a:r>
          </a:p>
          <a:p>
            <a:r>
              <a:rPr lang="en-US"/>
              <a:t/>
            </a:r>
          </a:p>
          <a:p>
            <a:r>
              <a:rPr lang="en-US"/>
              <a:t>Stage one, Power Query. Not similar to Module 2's Power Query. The same software. Microsoft built it once and put it inside both Excel and Power BI. Same ribbon, same Applied Steps pane, same transformations, same underlying language. A trainee competent with it in Module 2 is competent with it here, and needs telling explicitly because the surrounding interface disguises it.</a:t>
            </a:r>
          </a:p>
          <a:p>
            <a:r>
              <a:rPr lang="en-US"/>
              <a:t/>
            </a:r>
          </a:p>
          <a:p>
            <a:r>
              <a:rPr lang="en-US"/>
              <a:t>Stage two, the data model. In Module 3 they wrote joins in SQL. Here they drag one field onto another and a line appears. Same relational thinking, same consequences if wrong. The difference: in SQL you write the join every time; here you define it once and every visual uses it. That is an advantage, and also why a bad model poisons an entire report rather than one query.</a:t>
            </a:r>
          </a:p>
          <a:p>
            <a:r>
              <a:rPr lang="en-US"/>
              <a:t/>
            </a:r>
          </a:p>
          <a:p>
            <a:r>
              <a:rPr lang="en-US"/>
              <a:t>Stage three, the report canvas. Every judgement from Module 6 applies unchanged. Power BI makes it easy to produce a chart and does nothing to make it honest. That judgement is still theirs.</a:t>
            </a:r>
          </a:p>
          <a:p>
            <a:r>
              <a:rPr lang="en-US"/>
              <a:t/>
            </a:r>
          </a:p>
          <a:p>
            <a:r>
              <a:rPr lang="en-US"/>
              <a:t>WHAT TO SAY (about four minutes):</a:t>
            </a:r>
          </a:p>
          <a:p>
            <a:r>
              <a:rPr lang="en-US"/>
              <a:t>"Look at this diagram before I talk over it. Take ten seconds." [Pause. Let them read.]</a:t>
            </a:r>
          </a:p>
          <a:p>
            <a:r>
              <a:rPr lang="en-US"/>
              <a:t/>
            </a:r>
          </a:p>
          <a:p>
            <a:r>
              <a:rPr lang="en-US"/>
              <a:t>"Three stages. Power Query, the data model, the report canvas. Now look at what is written underneath each one.</a:t>
            </a:r>
          </a:p>
          <a:p>
            <a:r>
              <a:rPr lang="en-US"/>
              <a:t/>
            </a:r>
          </a:p>
          <a:p>
            <a:r>
              <a:rPr lang="en-US"/>
              <a:t>Power Query. You did this in Module 2, in Excel. And I do not mean something similar. I mean this exact tool.</a:t>
            </a:r>
          </a:p>
          <a:p>
            <a:r>
              <a:rPr lang="en-US"/>
              <a:t/>
            </a:r>
          </a:p>
          <a:p>
            <a:r>
              <a:rPr lang="en-US"/>
              <a:t>The data model. This is your joins from Module 3. Same relational thinking, same consequences if you get it wrong. The one real difference: in SQL you write the join every time you need it, here you define it once and everything downstream uses it.</a:t>
            </a:r>
          </a:p>
          <a:p>
            <a:r>
              <a:rPr lang="en-US"/>
              <a:t/>
            </a:r>
          </a:p>
          <a:p>
            <a:r>
              <a:rPr lang="en-US"/>
              <a:t>The report canvas. This is Module 6. Everything about chart choice and labelling applies unchanged. Power BI will make it very easy to build a chart. It will do absolutely nothing to stop you building a dishonest one."</a:t>
            </a:r>
          </a:p>
          <a:p>
            <a:r>
              <a:rPr lang="en-US"/>
              <a:t/>
            </a:r>
          </a:p>
          <a:p>
            <a:r>
              <a:rPr lang="en-US"/>
              <a:t>Then the pull line, deliberately: "So: Power BI is not a fifth tool. It is three things you can already do, joined into one window."</a:t>
            </a:r>
          </a:p>
          <a:p>
            <a:r>
              <a:rPr lang="en-US"/>
              <a:t/>
            </a:r>
          </a:p>
          <a:p>
            <a:r>
              <a:rPr lang="en-US"/>
              <a:t>COMMON QUESTION: "then why does Power BI exist?" Worth sixty seconds. Joining the three stages into one file, with the model in the middle, is what lets the report update itself. In Excel the three are loosely connected, so new data means redoing the chain by hand. Here the chain IS the file, so new data means pressing refresh.</a:t>
            </a:r>
          </a:p>
          <a:p>
            <a:r>
              <a:rPr lang="en-US"/>
              <a:t/>
            </a:r>
          </a:p>
          <a:p>
            <a:r>
              <a:rPr lang="en-US"/>
              <a:t>TIMING: 4 minutes, 5 if that question comes up.</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CONTENT IN FULL: walk the four contrasts; each has a practical consequence.</a:t>
            </a:r>
          </a:p>
          <a:p>
            <a:r>
              <a:rPr lang="en-US"/>
              <a:t/>
            </a:r>
          </a:p>
          <a:p>
            <a:r>
              <a:rPr lang="en-US"/>
              <a:t>One question versus a standing set: an analysis is commissioned and finished. A dashboard is built for questions that recur, the same three things every morning. That changes what you build for.</a:t>
            </a:r>
          </a:p>
          <a:p>
            <a:r>
              <a:rPr lang="en-US"/>
              <a:t/>
            </a:r>
          </a:p>
          <a:p>
            <a:r>
              <a:rPr lang="en-US"/>
              <a:t>A file you send versus a link she opens: a file that has been emailed has forked. Two versions that diverge. Within a month there are eleven versions in an inbox and nobody knows which is current. A link has one version.</a:t>
            </a:r>
          </a:p>
          <a:p>
            <a:r>
              <a:rPr lang="en-US"/>
              <a:t/>
            </a:r>
          </a:p>
          <a:p>
            <a:r>
              <a:rPr lang="en-US"/>
              <a:t>Goes stale versus refreshes: an Excel analysis is a photograph of the data at the moment you did the work. A dashboard is connected to the source and can be told to look again.</a:t>
            </a:r>
          </a:p>
          <a:p>
            <a:r>
              <a:rPr lang="en-US"/>
              <a:t/>
            </a:r>
          </a:p>
          <a:p>
            <a:r>
              <a:rPr lang="en-US"/>
              <a:t>You are the interface versus the model is the interface: the deepest of the four. When you are the interface, the organisation's ability to ask questions is limited by your availability. When the model is the interface, Adaeze can ask a question you never anticipated, at ten at night, and get a correct answer.</a:t>
            </a:r>
          </a:p>
          <a:p>
            <a:r>
              <a:rPr lang="en-US"/>
              <a:t/>
            </a:r>
          </a:p>
          <a:p>
            <a:r>
              <a:rPr lang="en-US"/>
              <a:t>THE CAVEAT, WHICH MUST BE SAID: do not let trainees leave thinking dashboards are superior to analysis. A dashboard nobody opens is worth less than a one-page memo that changed a decision. Say: "I am not telling you dashboards are better. They are different. What I am telling you is that this is a second thing you can now produce."</a:t>
            </a:r>
          </a:p>
          <a:p>
            <a:r>
              <a:rPr lang="en-US"/>
              <a:t/>
            </a:r>
          </a:p>
          <a:p>
            <a:r>
              <a:rPr lang="en-US"/>
              <a:t>This nuance returns in Topic 7.4, where a visual that does not support a decision should be deleted.</a:t>
            </a:r>
          </a:p>
          <a:p>
            <a:r>
              <a:rPr lang="en-US"/>
              <a:t/>
            </a:r>
          </a:p>
          <a:p>
            <a:r>
              <a:rPr lang="en-US"/>
              <a:t>TIMING: 3 minutes.</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PURPOSE: orientation only. You are not teaching any of the four views here. You are making sure that when you say "go to Model view" in forty minutes, nobody is lost. Resist the urge to teach.</a:t>
            </a:r>
          </a:p>
          <a:p>
            <a:r>
              <a:rPr lang="en-US"/>
              <a:t/>
            </a:r>
          </a:p>
          <a:p>
            <a:r>
              <a:rPr lang="en-US"/>
              <a:t>THE CONTENT IN FULL:</a:t>
            </a:r>
          </a:p>
          <a:p>
            <a:r>
              <a:rPr lang="en-US"/>
              <a:t/>
            </a:r>
          </a:p>
          <a:p>
            <a:r>
              <a:rPr lang="en-US"/>
              <a:t>Report view is the default, the canvas where visuals go, with a Fields pane and a Visualisations pane.</a:t>
            </a:r>
          </a:p>
          <a:p>
            <a:r>
              <a:rPr lang="en-US"/>
              <a:t/>
            </a:r>
          </a:p>
          <a:p>
            <a:r>
              <a:rPr lang="en-US"/>
              <a:t>Table view shows one table at a time as rows and columns, exactly like a spreadsheet. Its purpose is inspection: when a measure returns an unexpected number, this is where you come to look at the actual data. Flag that this is the verification surface Topic 7.3 depends on.</a:t>
            </a:r>
          </a:p>
          <a:p>
            <a:r>
              <a:rPr lang="en-US"/>
              <a:t/>
            </a:r>
          </a:p>
          <a:p>
            <a:r>
              <a:rPr lang="en-US"/>
              <a:t>Model view shows tables as boxes with lines between them. That is the whole of Topic 7.2; say almost nothing else now.</a:t>
            </a:r>
          </a:p>
          <a:p>
            <a:r>
              <a:rPr lang="en-US"/>
              <a:t/>
            </a:r>
          </a:p>
          <a:p>
            <a:r>
              <a:rPr lang="en-US"/>
              <a:t>The Power Query editor opens as a SEPARATE WINDOW, not a fourth icon in the rail. This single confusion accounts for a surprising share of lab interruptions.</a:t>
            </a:r>
          </a:p>
          <a:p>
            <a:r>
              <a:rPr lang="en-US"/>
              <a:t/>
            </a:r>
          </a:p>
          <a:p>
            <a:r>
              <a:rPr lang="en-US"/>
              <a:t>WHAT TO SAY AND DO (about three minutes): switch to Power BI with the fallback file already open.</a:t>
            </a:r>
          </a:p>
          <a:p>
            <a:r>
              <a:rPr lang="en-US"/>
              <a:t/>
            </a:r>
          </a:p>
          <a:p>
            <a:r>
              <a:rPr lang="en-US"/>
              <a:t>"Four things to know about where you are. I am going to click each one, tell you what it is for, and then click away. We are not learning any of these yet.</a:t>
            </a:r>
          </a:p>
          <a:p>
            <a:r>
              <a:rPr lang="en-US"/>
              <a:t/>
            </a:r>
          </a:p>
          <a:p>
            <a:r>
              <a:rPr lang="en-US"/>
              <a:t>Report view. Blank canvas, charts go here. Table view. One table as rows, exactly like a spreadsheet. Come here when a number looks wrong. Model view. Boxes and lines, the whole of the next topic. And Transform data, which opens Power Query. Watch what happens to my screen."</a:t>
            </a:r>
          </a:p>
          <a:p>
            <a:r>
              <a:rPr lang="en-US"/>
              <a:t/>
            </a:r>
          </a:p>
          <a:p>
            <a:r>
              <a:rPr lang="en-US"/>
              <a:t>[Click it. Let the separate window open.]</a:t>
            </a:r>
          </a:p>
          <a:p>
            <a:r>
              <a:rPr lang="en-US"/>
              <a:t/>
            </a:r>
          </a:p>
          <a:p>
            <a:r>
              <a:rPr lang="en-US"/>
              <a:t>"Separate window, not a tab. If you lose Power BI during the lab, check your taskbar before you put your hand up."</a:t>
            </a:r>
          </a:p>
          <a:p>
            <a:r>
              <a:rPr lang="en-US"/>
              <a:t/>
            </a:r>
          </a:p>
          <a:p>
            <a:r>
              <a:rPr lang="en-US"/>
              <a:t>TIMING: 3 minutes.</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CONTENT IN FULL: the three stages must happen in order because each depends on the shape produced by the one before. Cleaning first costs fifteen minutes before anything interesting appears. Cleaning last costs an hour of rework under time pressure, which is when mistakes get made.</a:t>
            </a:r>
          </a:p>
          <a:p>
            <a:r>
              <a:rPr lang="en-US"/>
              <a:t/>
            </a:r>
          </a:p>
          <a:p>
            <a:r>
              <a:rPr lang="en-US"/>
              <a:t>There is a psychological problem worth naming: Power BI is genuinely fun in Report view, a chart appears in eight seconds. Power Query is a list of steps and a grey preview grid. The software rewards doing this in exactly the wrong order.</a:t>
            </a:r>
          </a:p>
          <a:p>
            <a:r>
              <a:rPr lang="en-US"/>
              <a:t/>
            </a:r>
          </a:p>
          <a:p>
            <a:r>
              <a:rPr lang="en-US"/>
              <a:t>WHAT TO SAY (about three minutes):</a:t>
            </a:r>
          </a:p>
          <a:p>
            <a:r>
              <a:rPr lang="en-US"/>
              <a:t>"One rule for this whole module, and it is the rule most beginners break. Clean first. Model second. Visualise last.</a:t>
            </a:r>
          </a:p>
          <a:p>
            <a:r>
              <a:rPr lang="en-US"/>
              <a:t/>
            </a:r>
          </a:p>
          <a:p>
            <a:r>
              <a:rPr lang="en-US"/>
              <a:t>Suppose you build a beautiful chart, then discover your date column came in as text. You fix the type, and now every visual using that field has to be checked and usually rebuilt. You have paid twice.</a:t>
            </a:r>
          </a:p>
          <a:p>
            <a:r>
              <a:rPr lang="en-US"/>
              <a:t/>
            </a:r>
          </a:p>
          <a:p>
            <a:r>
              <a:rPr lang="en-US"/>
              <a:t>Now here is what I actually want to warn you about. Power BI is genuinely fun in Report view. Power Query is not fun. So the software is going to reward you for doing this in exactly the wrong order. Within thirty seconds of opening a file you will want to drag something onto a canvas. Do not.</a:t>
            </a:r>
          </a:p>
          <a:p>
            <a:r>
              <a:rPr lang="en-US"/>
              <a:t/>
            </a:r>
          </a:p>
          <a:p>
            <a:r>
              <a:rPr lang="en-US"/>
              <a:t>And you already know this rule. It is the same rule as Module 2: clean before you analyse."</a:t>
            </a:r>
          </a:p>
          <a:p>
            <a:r>
              <a:rPr lang="en-US"/>
              <a:t/>
            </a:r>
          </a:p>
          <a:p>
            <a:r>
              <a:rPr lang="en-US"/>
              <a:t>COMMON OBJECTION: "But my file is already clean." Answer: you do not know that until you have looked, and looking happens in Power Query. Topic 7.2 has a worked example where a single trailing space breaks a relationship with no error message.</a:t>
            </a:r>
          </a:p>
          <a:p>
            <a:r>
              <a:rPr lang="en-US"/>
              <a:t/>
            </a:r>
          </a:p>
          <a:p>
            <a:r>
              <a:rPr lang="en-US"/>
              <a:t>TIMING: 3 minutes.</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TO SAY: "Part two. Let us actually load something."</a:t>
            </a:r>
          </a:p>
          <a:p>
            <a:r>
              <a:rPr lang="en-US"/>
              <a:t/>
            </a:r>
          </a:p>
          <a:p>
            <a:r>
              <a:rPr lang="en-US"/>
              <a:t>TIMING: 20 seconds.</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CONTENT IN FULL: introduce the five files and, more importantly, the concept of GRAIN.</a:t>
            </a:r>
          </a:p>
          <a:p>
            <a:r>
              <a:rPr lang="en-US"/>
              <a:t/>
            </a:r>
          </a:p>
          <a:p>
            <a:r>
              <a:rPr lang="en-US"/>
              <a:t>The grain of a table is the answer to "what does one row represent?" It sounds too simple to need a name, and it is the single most useful habit in data modelling. Almost every serious modelling error traces back to using a table without knowing its grain.</a:t>
            </a:r>
          </a:p>
          <a:p>
            <a:r>
              <a:rPr lang="en-US"/>
              <a:t/>
            </a:r>
          </a:p>
          <a:p>
            <a:r>
              <a:rPr lang="en-US"/>
              <a:t>- swiftroute_deliveries: one row per delivery, 41,280 across 2025, carrying rider, route, customer, promised time, actual time, fee and status.</a:t>
            </a:r>
          </a:p>
          <a:p>
            <a:r>
              <a:rPr lang="en-US"/>
              <a:t>- riders: one row per rider, 68.</a:t>
            </a:r>
          </a:p>
          <a:p>
            <a:r>
              <a:rPr lang="en-US"/>
              <a:t>- routes: one row per route, 24.</a:t>
            </a:r>
          </a:p>
          <a:p>
            <a:r>
              <a:rPr lang="en-US"/>
              <a:t>- customers_business: one row per business account, 310. Business accounts only, no individuals, which is the programme's responsible data standard visible in the design of the material.</a:t>
            </a:r>
          </a:p>
          <a:p>
            <a:r>
              <a:rPr lang="en-US"/>
              <a:t>- dates: one row per calendar day, 365.</a:t>
            </a:r>
          </a:p>
          <a:p>
            <a:r>
              <a:rPr lang="en-US"/>
              <a:t/>
            </a:r>
          </a:p>
          <a:p>
            <a:r>
              <a:rPr lang="en-US"/>
              <a:t>Grain matters concretely in Topic 7.2, where counting rows in a delivery-grain table gives 41,280 riders instead of 68. Install the habit now, before they see the failure, so the failure means something.</a:t>
            </a:r>
          </a:p>
          <a:p>
            <a:r>
              <a:rPr lang="en-US"/>
              <a:t/>
            </a:r>
          </a:p>
          <a:p>
            <a:r>
              <a:rPr lang="en-US"/>
              <a:t>WHAT TO SAY (about four minutes):</a:t>
            </a:r>
          </a:p>
          <a:p>
            <a:r>
              <a:rPr lang="en-US"/>
              <a:t>"Five files. I want to teach you a word first: grain. The grain of a table is the answer to one question. One row per what?</a:t>
            </a:r>
          </a:p>
          <a:p>
            <a:r>
              <a:rPr lang="en-US"/>
              <a:t/>
            </a:r>
          </a:p>
          <a:p>
            <a:r>
              <a:rPr lang="en-US"/>
              <a:t>Deliveries. One row per delivery. Forty-one thousand two hundred and eighty across 2025.</a:t>
            </a:r>
          </a:p>
          <a:p>
            <a:r>
              <a:rPr lang="en-US"/>
              <a:t>Riders. One row per rider. Sixty-eight.</a:t>
            </a:r>
          </a:p>
          <a:p>
            <a:r>
              <a:rPr lang="en-US"/>
              <a:t>Routes. One row per route. Twenty-four.</a:t>
            </a:r>
          </a:p>
          <a:p>
            <a:r>
              <a:rPr lang="en-US"/>
              <a:t>Customers. One row per business account. Three hundred and ten. And notice: companies, not people. No individual names, no phone numbers. That is deliberate, and it is the same rule you will apply to your own capstone dataset.</a:t>
            </a:r>
          </a:p>
          <a:p>
            <a:r>
              <a:rPr lang="en-US"/>
              <a:t>Dates. One row per day. Three hundred and sixty-five.</a:t>
            </a:r>
          </a:p>
          <a:p>
            <a:r>
              <a:rPr lang="en-US"/>
              <a:t/>
            </a:r>
          </a:p>
          <a:p>
            <a:r>
              <a:rPr lang="en-US"/>
              <a:t>Now that word. Grain. Say it with me: one row per what."</a:t>
            </a:r>
          </a:p>
          <a:p>
            <a:r>
              <a:rPr lang="en-US"/>
              <a:t/>
            </a:r>
          </a:p>
          <a:p>
            <a:r>
              <a:rPr lang="en-US"/>
              <a:t>DELIVERY CUES: actually make them say it. Point out there are no lines connecting these tables yet; that is the next topic.</a:t>
            </a:r>
          </a:p>
          <a:p>
            <a:r>
              <a:rPr lang="en-US"/>
              <a:t/>
            </a:r>
          </a:p>
          <a:p>
            <a:r>
              <a:rPr lang="en-US"/>
              <a:t>TIMING: 4 minutes.</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CONTENT IN FULL: the mechanics are trivial; the decision at step 2 is not.</a:t>
            </a:r>
          </a:p>
          <a:p>
            <a:r>
              <a:rPr lang="en-US"/>
              <a:t/>
            </a:r>
          </a:p>
          <a:p>
            <a:r>
              <a:rPr lang="en-US"/>
              <a:t>When you point Power BI at a CSV, it shows a preview and offers Load and Transform data.</a:t>
            </a:r>
          </a:p>
          <a:p>
            <a:r>
              <a:rPr lang="en-US"/>
              <a:t/>
            </a:r>
          </a:p>
          <a:p>
            <a:r>
              <a:rPr lang="en-US"/>
              <a:t>Load takes the file as Power BI guessed it. Power BI is quite good at guessing, and "quite good" is the problem. It infers types by sampling the top of the file, so a column that is numeric for 200 rows and contains "N/A" at row 4,000 will be mistyped and produce errors later, far from the cause.</a:t>
            </a:r>
          </a:p>
          <a:p>
            <a:r>
              <a:rPr lang="en-US"/>
              <a:t/>
            </a:r>
          </a:p>
          <a:p>
            <a:r>
              <a:rPr lang="en-US"/>
              <a:t>Transform data opens Power Query first, so you can correct before anything downstream exists. Correcting there is free.</a:t>
            </a:r>
          </a:p>
          <a:p>
            <a:r>
              <a:rPr lang="en-US"/>
              <a:t/>
            </a:r>
          </a:p>
          <a:p>
            <a:r>
              <a:rPr lang="en-US"/>
              <a:t>The rule: always choose Transform data. Not usually. Always. Thirty seconds on a genuinely clean file, and the benefit is that you actually looked.</a:t>
            </a:r>
          </a:p>
          <a:p>
            <a:r>
              <a:rPr lang="en-US"/>
              <a:t/>
            </a:r>
          </a:p>
          <a:p>
            <a:r>
              <a:rPr lang="en-US"/>
              <a:t>WHAT TO SAY AND DO (about three minutes), demo live, narrating reasoning not clicks:</a:t>
            </a:r>
          </a:p>
          <a:p>
            <a:r>
              <a:rPr lang="en-US"/>
              <a:t>"Home ribbon, Get data, Text or CSV. I point at swiftroute deliveries.</a:t>
            </a:r>
          </a:p>
          <a:p>
            <a:r>
              <a:rPr lang="en-US"/>
              <a:t/>
            </a:r>
          </a:p>
          <a:p>
            <a:r>
              <a:rPr lang="en-US"/>
              <a:t>Now it shows me a preview with two buttons, and this is the only interesting moment in the whole process. Load takes the file exactly as Power BI guessed it, and it is quite good at guessing. That is the problem: it looks at the first couple hundred rows and infers types from those.</a:t>
            </a:r>
          </a:p>
          <a:p>
            <a:r>
              <a:rPr lang="en-US"/>
              <a:t/>
            </a:r>
          </a:p>
          <a:p>
            <a:r>
              <a:rPr lang="en-US"/>
              <a:t>Transform data opens Power Query first. Nothing is committed. I get to look at what it guessed and fix it while fixing is free.</a:t>
            </a:r>
          </a:p>
          <a:p>
            <a:r>
              <a:rPr lang="en-US"/>
              <a:t/>
            </a:r>
          </a:p>
          <a:p>
            <a:r>
              <a:rPr lang="en-US"/>
              <a:t>So I am choosing Transform data, and notice why: not because this file is dirty, but because I have not yet looked at the column types."</a:t>
            </a:r>
          </a:p>
          <a:p>
            <a:r>
              <a:rPr lang="en-US"/>
              <a:t/>
            </a:r>
          </a:p>
          <a:p>
            <a:r>
              <a:rPr lang="en-US"/>
              <a:t>DELIVERY CUES: "I am choosing X because Y" is the think-aloud pattern the programme asks for. Keep the fallback file open in another window.</a:t>
            </a:r>
          </a:p>
          <a:p>
            <a:r>
              <a:rPr lang="en-US"/>
              <a:t/>
            </a:r>
          </a:p>
          <a:p>
            <a:r>
              <a:rPr lang="en-US"/>
              <a:t>TIMING: 3 minutes.</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CONTENT IN FULL, four transformations each with a reason:</a:t>
            </a:r>
          </a:p>
          <a:p>
            <a:r>
              <a:rPr lang="en-US"/>
              <a:t/>
            </a:r>
          </a:p>
          <a:p>
            <a:r>
              <a:rPr lang="en-US"/>
              <a:t>1. Promote headers. Power Query usually does this. If not, columns are named Column1, Column2 and the row count reads one too high.</a:t>
            </a:r>
          </a:p>
          <a:p>
            <a:r>
              <a:rPr lang="en-US"/>
              <a:t>2. Set data types explicitly. Dates to Date, money to Fixed decimal number (avoids floating-point rounding on currency), identifiers to Text (its own slide follows).</a:t>
            </a:r>
          </a:p>
          <a:p>
            <a:r>
              <a:rPr lang="en-US"/>
              <a:t>3. Trim whitespace on key columns. A trailing space is invisible on screen and fatal to a relationship, because "R-014 " and "R-014" are different strings. Nothing turns red; the join just produces blanks.</a:t>
            </a:r>
          </a:p>
          <a:p>
            <a:r>
              <a:rPr lang="en-US"/>
              <a:t>4. Filter the blank-CustomerID rows. Phrase it as a condition, "where CustomerID is blank", not a position, "delete rows 4,112 to 4,114". The first is a rule that applies correctly to next month's file.</a:t>
            </a:r>
          </a:p>
          <a:p>
            <a:r>
              <a:rPr lang="en-US"/>
              <a:t/>
            </a:r>
          </a:p>
          <a:p>
            <a:r>
              <a:rPr lang="en-US"/>
              <a:t>THE APPLIED STEPS PANE is the real content of this slide: every action recorded as a named, reorderable, reversible step. That is what makes the work a pipeline.</a:t>
            </a:r>
          </a:p>
          <a:p>
            <a:r>
              <a:rPr lang="en-US"/>
              <a:t/>
            </a:r>
          </a:p>
          <a:p>
            <a:r>
              <a:rPr lang="en-US"/>
              <a:t>WHAT TO SAY AND DO (about four minutes): demo each transformation, then point at the Applied Steps pane. "Source. Promoted Headers. Changed Type. Trimmed Text. Filtered Rows. I can click any one and see the table at that moment. I can reorder them."</a:t>
            </a:r>
          </a:p>
          <a:p>
            <a:r>
              <a:rPr lang="en-US"/>
              <a:t/>
            </a:r>
          </a:p>
          <a:p>
            <a:r>
              <a:rPr lang="en-US"/>
              <a:t>THE DELIBERATE MISTAKE: apply the filter before setting types, watch it behave oddly, drag Filtered Rows below Changed Type, watch it correct. Say: "that is why the steps being reorderable matters. I got the order wrong and it cost me one drag."</a:t>
            </a:r>
          </a:p>
          <a:p>
            <a:r>
              <a:rPr lang="en-US"/>
              <a:t/>
            </a:r>
          </a:p>
          <a:p>
            <a:r>
              <a:rPr lang="en-US"/>
              <a:t>TIMING: 4 minutes.</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CONTENT IN FULL: an identifier looks like a number and is not one. The test is whether arithmetic on it means anything. Rider 14 plus rider 22 is not rider 36.</a:t>
            </a:r>
          </a:p>
          <a:p>
            <a:r>
              <a:rPr lang="en-US"/>
              <a:t/>
            </a:r>
          </a:p>
          <a:p>
            <a:r>
              <a:rPr lang="en-US"/>
              <a:t>When typed as a whole number, two things follow. Power BI auto-sums it the moment it is dragged into a visual, producing an arithmetically correct and semantically meaningless total. And leading zeros are stripped, so "007" becomes "7", breaking a relationship against a table that kept it as text.</a:t>
            </a:r>
          </a:p>
          <a:p>
            <a:r>
              <a:rPr lang="en-US"/>
              <a:t/>
            </a:r>
          </a:p>
          <a:p>
            <a:r>
              <a:rPr lang="en-US"/>
              <a:t>WHAT TO SAY (about two minutes):</a:t>
            </a:r>
          </a:p>
          <a:p>
            <a:r>
              <a:rPr lang="en-US"/>
              <a:t>"Rider ID to Text. Here is the test: does arithmetic on it mean anything? Rider fourteen plus rider twenty-two is not rider thirty-six.</a:t>
            </a:r>
          </a:p>
          <a:p>
            <a:r>
              <a:rPr lang="en-US"/>
              <a:t/>
            </a:r>
          </a:p>
          <a:p>
            <a:r>
              <a:rPr lang="en-US"/>
              <a:t>Two things go wrong if you type it as a number. First, Power BI auto-sums it, and your report gets a total row saying eighty-nine thousand seven hundred and twelve, which is perfect arithmetic and completely meaningless. Somebody will read it.</a:t>
            </a:r>
          </a:p>
          <a:p>
            <a:r>
              <a:rPr lang="en-US"/>
              <a:t/>
            </a:r>
          </a:p>
          <a:p>
            <a:r>
              <a:rPr lang="en-US"/>
              <a:t>Second, leading zeros disappear. Zero zero seven becomes seven. And if your other table kept it as text, your relationship now matches on some rows and silently fails on others.</a:t>
            </a:r>
          </a:p>
          <a:p>
            <a:r>
              <a:rPr lang="en-US"/>
              <a:t/>
            </a:r>
          </a:p>
          <a:p>
            <a:r>
              <a:rPr lang="en-US"/>
              <a:t>Same reasoning for phone numbers, account numbers, BVN, postcodes. Anything that looks like a number and is actually a name."</a:t>
            </a:r>
          </a:p>
          <a:p>
            <a:r>
              <a:rPr lang="en-US"/>
              <a:t/>
            </a:r>
          </a:p>
          <a:p>
            <a:r>
              <a:rPr lang="en-US"/>
              <a:t>A QUESTION WORTH ASKING: "Has anyone here ever seen a report with a total row that summed an ID column?"</a:t>
            </a:r>
          </a:p>
          <a:p>
            <a:r>
              <a:rPr lang="en-US"/>
              <a:t/>
            </a:r>
          </a:p>
          <a:p>
            <a:r>
              <a:rPr lang="en-US"/>
              <a:t>TIMING: 2 minutes.</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CONTENT IN FULL: this is the intellectual core of Power Query. Every transformation is either a RULE, a condition true of any file with this structure, or an EDIT, a fact about this particular file.</a:t>
            </a:r>
          </a:p>
          <a:p>
            <a:r>
              <a:rPr lang="en-US"/>
              <a:t/>
            </a:r>
          </a:p>
          <a:p>
            <a:r>
              <a:rPr lang="en-US"/>
              <a:t>Rules survive a refresh. Edits do not, and worse, they do not FAIL on refresh. They apply confidently to the wrong rows. "Delete rows 412 to 415" will happily delete four perfectly good deliveries next month with no warning.</a:t>
            </a:r>
          </a:p>
          <a:p>
            <a:r>
              <a:rPr lang="en-US"/>
              <a:t/>
            </a:r>
          </a:p>
          <a:p>
            <a:r>
              <a:rPr lang="en-US"/>
              <a:t>This principle carries into Module 8, where the topic on automating repetitive analyst tasks is this idea at a larger scale.</a:t>
            </a:r>
          </a:p>
          <a:p>
            <a:r>
              <a:rPr lang="en-US"/>
              <a:t/>
            </a:r>
          </a:p>
          <a:p>
            <a:r>
              <a:rPr lang="en-US"/>
              <a:t>WHAT TO SAY (about three minutes):</a:t>
            </a:r>
          </a:p>
          <a:p>
            <a:r>
              <a:rPr lang="en-US"/>
              <a:t>"Here is the question to ask about every step you write in Power Query. Next month, Adaeze sends a new file. Same columns, different rows. You press Refresh. What survives?</a:t>
            </a:r>
          </a:p>
          <a:p>
            <a:r>
              <a:rPr lang="en-US"/>
              <a:t/>
            </a:r>
          </a:p>
          <a:p>
            <a:r>
              <a:rPr lang="en-US"/>
              <a:t>If what you built was a pipeline, everything survives. Types, trims, filters, and every chart downstream. Zero work, current report.</a:t>
            </a:r>
          </a:p>
          <a:p>
            <a:r>
              <a:rPr lang="en-US"/>
              <a:t/>
            </a:r>
          </a:p>
          <a:p>
            <a:r>
              <a:rPr lang="en-US"/>
              <a:t>If what you built was a clean-up, you start again.</a:t>
            </a:r>
          </a:p>
          <a:p>
            <a:r>
              <a:rPr lang="en-US"/>
              <a:t/>
            </a:r>
          </a:p>
          <a:p>
            <a:r>
              <a:rPr lang="en-US"/>
              <a:t>So the test: does this step name a condition or a position? Remove rows where Customer ID is blank, that is a rule. Delete rows four one two to four one five, that is not. And here is what makes it dangerous: next month it will not fail. It will not warn you. It will confidently delete four innocent deliveries and tell you nothing.</a:t>
            </a:r>
          </a:p>
          <a:p>
            <a:r>
              <a:rPr lang="en-US"/>
              <a:t/>
            </a:r>
          </a:p>
          <a:p>
            <a:r>
              <a:rPr lang="en-US"/>
              <a:t>Write rules, not edits."</a:t>
            </a:r>
          </a:p>
          <a:p>
            <a:r>
              <a:rPr lang="en-US"/>
              <a:t/>
            </a:r>
          </a:p>
          <a:p>
            <a:r>
              <a:rPr lang="en-US"/>
              <a:t>DELIVERY CUES: stress that a bad edit does not fail loudly. Trainees assume errors announce themselves; most expensive ones do not. Flag forward to Module 8's automation topic.</a:t>
            </a:r>
          </a:p>
          <a:p>
            <a:r>
              <a:rPr lang="en-US"/>
              <a:t/>
            </a:r>
          </a:p>
          <a:p>
            <a:r>
              <a:rPr lang="en-US"/>
              <a:t>TIMING: 3 minutes.</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WHY THE EXPECTED RESULT IS STATED: expected-output verification is one of the programme's nine teaching methods, treated as an assessed professional skill. Never set a task without a checkable result.</a:t>
            </a:r>
          </a:p>
          <a:p>
            <a:r>
              <a:rPr lang="en-US"/>
              <a:t/>
            </a:r>
          </a:p>
          <a:p>
            <a:r>
              <a:rPr lang="en-US"/>
              <a:t>WHY PAIRS: guided and semi-guided exercises run in rotating pairs, one driving the keyboard, one navigating from the instructions.</a:t>
            </a:r>
          </a:p>
          <a:p>
            <a:r>
              <a:rPr lang="en-US"/>
              <a:t/>
            </a:r>
          </a:p>
          <a:p>
            <a:r>
              <a:rPr lang="en-US"/>
              <a:t>WHAT TO SAY (one minute, then eight minutes of work):</a:t>
            </a:r>
          </a:p>
          <a:p>
            <a:r>
              <a:rPr lang="en-US"/>
              <a:t>"Eight minutes. Load routes dot csv, set Route ID to Text, Distance in kilometres to Decimal number, trim whitespace on Route ID, close and apply.</a:t>
            </a:r>
          </a:p>
          <a:p>
            <a:r>
              <a:rPr lang="en-US"/>
              <a:t/>
            </a:r>
          </a:p>
          <a:p>
            <a:r>
              <a:rPr lang="en-US"/>
              <a:t>You should end with twenty-four rows, six columns, no error markers, and Route ID showing the little ABC text icon.</a:t>
            </a:r>
          </a:p>
          <a:p>
            <a:r>
              <a:rPr lang="en-US"/>
              <a:t/>
            </a:r>
          </a:p>
          <a:p>
            <a:r>
              <a:rPr lang="en-US"/>
              <a:t>If your numbers do not match, check with the person next to you before you put your hand up."</a:t>
            </a:r>
          </a:p>
          <a:p>
            <a:r>
              <a:rPr lang="en-US"/>
              <a:t/>
            </a:r>
          </a:p>
          <a:p>
            <a:r>
              <a:rPr lang="en-US"/>
              <a:t>WHAT TO DO: walk the room. Do not answer from the front.</a:t>
            </a:r>
          </a:p>
          <a:p>
            <a:r>
              <a:rPr lang="en-US"/>
              <a:t/>
            </a:r>
          </a:p>
          <a:p>
            <a:r>
              <a:rPr lang="en-US"/>
              <a:t>PROBLEMS TO EXPECT:</a:t>
            </a:r>
          </a:p>
          <a:p>
            <a:r>
              <a:rPr lang="en-US"/>
              <a:t>- 25 rows instead of 24: headers not promoted.</a:t>
            </a:r>
          </a:p>
          <a:p>
            <a:r>
              <a:rPr lang="en-US"/>
              <a:t>- Errors on DistanceKm: regional locale reading the decimal separator differently. Fix with Change Type using Locale.</a:t>
            </a:r>
          </a:p>
          <a:p>
            <a:r>
              <a:rPr lang="en-US"/>
              <a:t>- RouteID still a number icon: wrong column typed, or a later step reverted it.</a:t>
            </a:r>
          </a:p>
          <a:p>
            <a:r>
              <a:rPr lang="en-US"/>
              <a:t/>
            </a:r>
          </a:p>
          <a:p>
            <a:r>
              <a:rPr lang="en-US"/>
              <a:t>TIMING: 8 minutes plus 1 minute instruction.</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HOW TO RUN THE REVEAL: show the finished state, then walk the three failure modes. The trainees who got it right do not need you; the ones who did not need the diagnosis.</a:t>
            </a:r>
          </a:p>
          <a:p>
            <a:r>
              <a:rPr lang="en-US"/>
              <a:t/>
            </a:r>
          </a:p>
          <a:p>
            <a:r>
              <a:rPr lang="en-US"/>
              <a:t>WHAT TO SAY (about two minutes):</a:t>
            </a:r>
          </a:p>
          <a:p>
            <a:r>
              <a:rPr lang="en-US"/>
              <a:t>"Twenty-four rows, six columns, Route ID as text. Three ways this goes wrong.</a:t>
            </a:r>
          </a:p>
          <a:p>
            <a:r>
              <a:rPr lang="en-US"/>
              <a:t/>
            </a:r>
          </a:p>
          <a:p>
            <a:r>
              <a:rPr lang="en-US"/>
              <a:t>Twenty-five rows means your headers were not promoted.</a:t>
            </a:r>
          </a:p>
          <a:p>
            <a:r>
              <a:rPr lang="en-US"/>
              <a:t/>
            </a:r>
          </a:p>
          <a:p>
            <a:r>
              <a:rPr lang="en-US"/>
              <a:t>Route ID showing a number icon is the one to take seriously: it will not hurt you today, it will hurt you in about forty minutes when we build relationships, and it will hurt you silently.</a:t>
            </a:r>
          </a:p>
          <a:p>
            <a:r>
              <a:rPr lang="en-US"/>
              <a:t/>
            </a:r>
          </a:p>
          <a:p>
            <a:r>
              <a:rPr lang="en-US"/>
              <a:t>And if Distance in kilometres is throwing errors, that is your machine's regional settings disagreeing with the file about the decimal point. Change Type using Locale."</a:t>
            </a:r>
          </a:p>
          <a:p>
            <a:r>
              <a:rPr lang="en-US"/>
              <a:t/>
            </a:r>
          </a:p>
          <a:p>
            <a:r>
              <a:rPr lang="en-US"/>
              <a:t>TIMING: 2 minutes.</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Restating outcomes as achievements is required by the deck anatomy in the Content Creator Guide. The phrasing shift from "the trainee can" to "you can now" closes a loop the trainee can feel.</a:t>
            </a:r>
          </a:p>
          <a:p>
            <a:r>
              <a:rPr lang="en-US"/>
              <a:t/>
            </a:r>
          </a:p>
          <a:p>
            <a:r>
              <a:rPr lang="en-US"/>
              <a:t>WHAT TO SAY (about two minutes):</a:t>
            </a:r>
          </a:p>
          <a:p>
            <a:r>
              <a:rPr lang="en-US"/>
              <a:t>"Three things you could not do ninety minutes ago. You can move around Power BI Desktop and tell me what the four views are for. You can load a file through Power Query and apply transformations recorded as steps, reorderable, reversible, surviving next month's file. And you can explain why this is the Excel and SQL workflow you already knew, rebuilt in one window.</a:t>
            </a:r>
          </a:p>
          <a:p>
            <a:r>
              <a:rPr lang="en-US"/>
              <a:t/>
            </a:r>
          </a:p>
          <a:p>
            <a:r>
              <a:rPr lang="en-US"/>
              <a:t>And I want to say the last thing honestly. Nothing in this topic was new. Power Query you had in Module 2. Cleaning before analysing you had in Module 2. The relational thinking is Module 3. That was the point. This is the topic where your separate subjects turn into one job."</a:t>
            </a:r>
          </a:p>
          <a:p>
            <a:r>
              <a:rPr lang="en-US"/>
              <a:t/>
            </a:r>
          </a:p>
          <a:p>
            <a:r>
              <a:rPr lang="en-US"/>
              <a:t>TIMING: 2 minutes.</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HOW TO END: on the teaser in card one, without spoiling it. Topic 7.2 opens with a demonstration of a dashboard reporting 41,280 riders when the company has 68, and it only works if trainees do not see it coming. It is the strongest teaching moment of the module.</a:t>
            </a:r>
          </a:p>
          <a:p>
            <a:r>
              <a:rPr lang="en-US"/>
              <a:t/>
            </a:r>
          </a:p>
          <a:p>
            <a:r>
              <a:rPr lang="en-US"/>
              <a:t>WHAT TO SAY (about one minute):</a:t>
            </a:r>
          </a:p>
          <a:p>
            <a:r>
              <a:rPr lang="en-US"/>
              <a:t>"Straight into 7.2 after the break. You have five tables loaded, sitting next to each other, with nothing connecting them. In the next topic I am going to show you what happens when somebody solves that the obvious way, by joining everything into one big table before importing it. It loads perfectly. Every chart builds. No errors anywhere. And it produces a number that is completely wrong, on a chart that has a title and an axis label and a legend."</a:t>
            </a:r>
          </a:p>
          <a:p>
            <a:r>
              <a:rPr lang="en-US"/>
              <a:t/>
            </a:r>
          </a:p>
          <a:p>
            <a:r>
              <a:rPr lang="en-US"/>
              <a:t>DELIVERY CUE: do not say what the number is or why. The whole of 7.2 depends on holding that tension.</a:t>
            </a:r>
          </a:p>
          <a:p>
            <a:r>
              <a:rPr lang="en-US"/>
              <a:t/>
            </a:r>
          </a:p>
          <a:p>
            <a:r>
              <a:rPr lang="en-US"/>
              <a:t>TIMING: 1 minute.</a:t>
            </a:r>
          </a:p>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8.png" Type="http://schemas.openxmlformats.org/officeDocument/2006/relationships/image"/><Relationship Id="rId7"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jpe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jpeg" Type="http://schemas.openxmlformats.org/officeDocument/2006/relationships/image"/><Relationship Id="rId2" Target="../notesSlides/notesSlide8.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5.jpe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8.png" Type="http://schemas.openxmlformats.org/officeDocument/2006/relationships/image"/><Relationship Id="rId8" Target="../media/image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2" Target="../notesSlides/notesSlide12.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jpeg" Type="http://schemas.openxmlformats.org/officeDocument/2006/relationships/image"/><Relationship Id="rId2" Target="../notesSlides/notesSlide17.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2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notesSlides/notesSlide18.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1430000" y="0"/>
            <a:ext cx="2286000" cy="1907572"/>
            <a:chOff x="0" y="0"/>
            <a:chExt cx="3048000" cy="2543429"/>
          </a:xfrm>
        </p:grpSpPr>
        <p:sp>
          <p:nvSpPr>
            <p:cNvPr name="Freeform 5" id="5"/>
            <p:cNvSpPr/>
            <p:nvPr/>
          </p:nvSpPr>
          <p:spPr>
            <a:xfrm flipH="false" flipV="false" rot="0">
              <a:off x="0" y="0"/>
              <a:ext cx="3048000" cy="2543429"/>
            </a:xfrm>
            <a:custGeom>
              <a:avLst/>
              <a:gdLst/>
              <a:ahLst/>
              <a:cxnLst/>
              <a:rect r="r" b="b" t="t" l="l"/>
              <a:pathLst>
                <a:path h="2543429" w="3048000">
                  <a:moveTo>
                    <a:pt x="0" y="0"/>
                  </a:moveTo>
                  <a:lnTo>
                    <a:pt x="3048000" y="0"/>
                  </a:lnTo>
                  <a:lnTo>
                    <a:pt x="3048000" y="2543429"/>
                  </a:lnTo>
                  <a:lnTo>
                    <a:pt x="0" y="2543429"/>
                  </a:lnTo>
                  <a:lnTo>
                    <a:pt x="0" y="0"/>
                  </a:lnTo>
                  <a:close/>
                </a:path>
              </a:pathLst>
            </a:custGeom>
            <a:blipFill>
              <a:blip r:embed="rId3"/>
              <a:stretch>
                <a:fillRect l="0" t="-140" r="0" b="-140"/>
              </a:stretch>
            </a:blipFill>
          </p:spPr>
        </p:sp>
      </p:grpSp>
      <p:grpSp>
        <p:nvGrpSpPr>
          <p:cNvPr name="Group 6" id="6"/>
          <p:cNvGrpSpPr/>
          <p:nvPr/>
        </p:nvGrpSpPr>
        <p:grpSpPr>
          <a:xfrm rot="0">
            <a:off x="0" y="6429375"/>
            <a:ext cx="1907572" cy="1286066"/>
            <a:chOff x="0" y="0"/>
            <a:chExt cx="2543429" cy="1714754"/>
          </a:xfrm>
        </p:grpSpPr>
        <p:sp>
          <p:nvSpPr>
            <p:cNvPr name="Freeform 7" id="7"/>
            <p:cNvSpPr/>
            <p:nvPr/>
          </p:nvSpPr>
          <p:spPr>
            <a:xfrm flipH="false" flipV="false" rot="0">
              <a:off x="0" y="0"/>
              <a:ext cx="2543429" cy="1714754"/>
            </a:xfrm>
            <a:custGeom>
              <a:avLst/>
              <a:gdLst/>
              <a:ahLst/>
              <a:cxnLst/>
              <a:rect r="r" b="b" t="t" l="l"/>
              <a:pathLst>
                <a:path h="1714754" w="2543429">
                  <a:moveTo>
                    <a:pt x="0" y="0"/>
                  </a:moveTo>
                  <a:lnTo>
                    <a:pt x="2543429" y="0"/>
                  </a:lnTo>
                  <a:lnTo>
                    <a:pt x="2543429" y="1714754"/>
                  </a:lnTo>
                  <a:lnTo>
                    <a:pt x="0" y="1714754"/>
                  </a:lnTo>
                  <a:lnTo>
                    <a:pt x="0" y="0"/>
                  </a:lnTo>
                  <a:close/>
                </a:path>
              </a:pathLst>
            </a:custGeom>
            <a:blipFill>
              <a:blip r:embed="rId4"/>
              <a:stretch>
                <a:fillRect l="-148" t="0" r="-147" b="0"/>
              </a:stretch>
            </a:blipFill>
          </p:spPr>
        </p:sp>
      </p:grpSp>
      <p:grpSp>
        <p:nvGrpSpPr>
          <p:cNvPr name="Group 8" id="8"/>
          <p:cNvGrpSpPr/>
          <p:nvPr/>
        </p:nvGrpSpPr>
        <p:grpSpPr>
          <a:xfrm rot="0">
            <a:off x="1143000" y="2944759"/>
            <a:ext cx="16002000" cy="323098"/>
            <a:chOff x="0" y="0"/>
            <a:chExt cx="21336000" cy="430797"/>
          </a:xfrm>
        </p:grpSpPr>
        <p:sp>
          <p:nvSpPr>
            <p:cNvPr name="Freeform 9" id="9"/>
            <p:cNvSpPr/>
            <p:nvPr/>
          </p:nvSpPr>
          <p:spPr>
            <a:xfrm flipH="false" flipV="false" rot="0">
              <a:off x="0" y="0"/>
              <a:ext cx="21336000" cy="430784"/>
            </a:xfrm>
            <a:custGeom>
              <a:avLst/>
              <a:gdLst/>
              <a:ahLst/>
              <a:cxnLst/>
              <a:rect r="r" b="b" t="t" l="l"/>
              <a:pathLst>
                <a:path h="430784" w="21336000">
                  <a:moveTo>
                    <a:pt x="0" y="0"/>
                  </a:moveTo>
                  <a:lnTo>
                    <a:pt x="21336000" y="0"/>
                  </a:lnTo>
                  <a:lnTo>
                    <a:pt x="21336000" y="430784"/>
                  </a:lnTo>
                  <a:lnTo>
                    <a:pt x="0" y="430784"/>
                  </a:lnTo>
                  <a:close/>
                </a:path>
              </a:pathLst>
            </a:custGeom>
            <a:blipFill>
              <a:blip r:embed="rId5">
                <a:alphaModFix amt="0"/>
              </a:blip>
              <a:stretch>
                <a:fillRect l="0" t="-914386" r="0" b="-914392"/>
              </a:stretch>
            </a:blipFill>
          </p:spPr>
        </p:sp>
      </p:grpSp>
      <p:grpSp>
        <p:nvGrpSpPr>
          <p:cNvPr name="Group 10" id="10"/>
          <p:cNvGrpSpPr/>
          <p:nvPr/>
        </p:nvGrpSpPr>
        <p:grpSpPr>
          <a:xfrm rot="0">
            <a:off x="1143000" y="2944759"/>
            <a:ext cx="16002000" cy="438950"/>
            <a:chOff x="0" y="0"/>
            <a:chExt cx="21336000" cy="585267"/>
          </a:xfrm>
        </p:grpSpPr>
        <p:sp>
          <p:nvSpPr>
            <p:cNvPr name="Freeform 11" id="11"/>
            <p:cNvSpPr/>
            <p:nvPr/>
          </p:nvSpPr>
          <p:spPr>
            <a:xfrm flipH="false" flipV="false" rot="0">
              <a:off x="0" y="0"/>
              <a:ext cx="21336000" cy="585267"/>
            </a:xfrm>
            <a:custGeom>
              <a:avLst/>
              <a:gdLst/>
              <a:ahLst/>
              <a:cxnLst/>
              <a:rect r="r" b="b" t="t" l="l"/>
              <a:pathLst>
                <a:path h="585267" w="21336000">
                  <a:moveTo>
                    <a:pt x="0" y="0"/>
                  </a:moveTo>
                  <a:lnTo>
                    <a:pt x="21336000" y="0"/>
                  </a:lnTo>
                  <a:lnTo>
                    <a:pt x="21336000" y="585267"/>
                  </a:lnTo>
                  <a:lnTo>
                    <a:pt x="0" y="585267"/>
                  </a:lnTo>
                  <a:close/>
                </a:path>
              </a:pathLst>
            </a:custGeom>
            <a:blipFill>
              <a:blip r:embed="rId6">
                <a:alphaModFix amt="0"/>
              </a:blip>
              <a:stretch>
                <a:fillRect l="0" t="-673526" r="0" b="-647133"/>
              </a:stretch>
            </a:blipFill>
          </p:spPr>
        </p:sp>
        <p:sp>
          <p:nvSpPr>
            <p:cNvPr name="TextBox 12" id="12"/>
            <p:cNvSpPr txBox="true"/>
            <p:nvPr/>
          </p:nvSpPr>
          <p:spPr>
            <a:xfrm>
              <a:off x="0" y="0"/>
              <a:ext cx="21336000" cy="585267"/>
            </a:xfrm>
            <a:prstGeom prst="rect">
              <a:avLst/>
            </a:prstGeom>
          </p:spPr>
          <p:txBody>
            <a:bodyPr anchor="ctr" rtlCol="false" tIns="0" lIns="0" bIns="0" rIns="0"/>
            <a:lstStyle/>
            <a:p>
              <a:pPr algn="l">
                <a:lnSpc>
                  <a:spcPts val="2520"/>
                </a:lnSpc>
              </a:pPr>
              <a:r>
                <a:rPr lang="en-US" sz="2100">
                  <a:solidFill>
                    <a:srgbClr val="387F7F"/>
                  </a:solidFill>
                  <a:latin typeface="Inter"/>
                  <a:ea typeface="Inter"/>
                  <a:cs typeface="Inter"/>
                  <a:sym typeface="Inter"/>
                </a:rPr>
                <a:t>BU</a:t>
              </a:r>
              <a:r>
                <a:rPr lang="en-US" sz="2100">
                  <a:solidFill>
                    <a:srgbClr val="387F7F"/>
                  </a:solidFill>
                  <a:latin typeface="Inter"/>
                  <a:ea typeface="Inter"/>
                  <a:cs typeface="Inter"/>
                  <a:sym typeface="Inter"/>
                </a:rPr>
                <a:t>SINESS INTELLIGENCE WITH POWER BI</a:t>
              </a:r>
            </a:p>
          </p:txBody>
        </p:sp>
      </p:grpSp>
      <p:grpSp>
        <p:nvGrpSpPr>
          <p:cNvPr name="Group 13" id="13"/>
          <p:cNvGrpSpPr/>
          <p:nvPr/>
        </p:nvGrpSpPr>
        <p:grpSpPr>
          <a:xfrm rot="0">
            <a:off x="1143000" y="3349571"/>
            <a:ext cx="16002000" cy="691134"/>
            <a:chOff x="0" y="0"/>
            <a:chExt cx="21336000" cy="921512"/>
          </a:xfrm>
        </p:grpSpPr>
        <p:sp>
          <p:nvSpPr>
            <p:cNvPr name="Freeform 14" id="14"/>
            <p:cNvSpPr/>
            <p:nvPr/>
          </p:nvSpPr>
          <p:spPr>
            <a:xfrm flipH="false" flipV="false" rot="0">
              <a:off x="0" y="0"/>
              <a:ext cx="21336000" cy="921512"/>
            </a:xfrm>
            <a:custGeom>
              <a:avLst/>
              <a:gdLst/>
              <a:ahLst/>
              <a:cxnLst/>
              <a:rect r="r" b="b" t="t" l="l"/>
              <a:pathLst>
                <a:path h="921512" w="21336000">
                  <a:moveTo>
                    <a:pt x="0" y="0"/>
                  </a:moveTo>
                  <a:lnTo>
                    <a:pt x="21336000" y="0"/>
                  </a:lnTo>
                  <a:lnTo>
                    <a:pt x="21336000" y="921512"/>
                  </a:lnTo>
                  <a:lnTo>
                    <a:pt x="0" y="921512"/>
                  </a:lnTo>
                  <a:close/>
                </a:path>
              </a:pathLst>
            </a:custGeom>
            <a:blipFill>
              <a:blip r:embed="rId5">
                <a:alphaModFix amt="0"/>
              </a:blip>
              <a:stretch>
                <a:fillRect l="0" t="-400828" r="0" b="-400828"/>
              </a:stretch>
            </a:blipFill>
          </p:spPr>
        </p:sp>
      </p:grpSp>
      <p:grpSp>
        <p:nvGrpSpPr>
          <p:cNvPr name="Group 15" id="15"/>
          <p:cNvGrpSpPr/>
          <p:nvPr/>
        </p:nvGrpSpPr>
        <p:grpSpPr>
          <a:xfrm rot="0">
            <a:off x="1143000" y="3342427"/>
            <a:ext cx="16001885" cy="698278"/>
            <a:chOff x="0" y="0"/>
            <a:chExt cx="21336000" cy="931044"/>
          </a:xfrm>
        </p:grpSpPr>
        <p:sp>
          <p:nvSpPr>
            <p:cNvPr name="Freeform 16" id="16"/>
            <p:cNvSpPr/>
            <p:nvPr/>
          </p:nvSpPr>
          <p:spPr>
            <a:xfrm flipH="false" flipV="false" rot="0">
              <a:off x="0" y="0"/>
              <a:ext cx="21336000" cy="931038"/>
            </a:xfrm>
            <a:custGeom>
              <a:avLst/>
              <a:gdLst/>
              <a:ahLst/>
              <a:cxnLst/>
              <a:rect r="r" b="b" t="t" l="l"/>
              <a:pathLst>
                <a:path h="931038" w="21336000">
                  <a:moveTo>
                    <a:pt x="0" y="0"/>
                  </a:moveTo>
                  <a:lnTo>
                    <a:pt x="21336000" y="0"/>
                  </a:lnTo>
                  <a:lnTo>
                    <a:pt x="21336000" y="931038"/>
                  </a:lnTo>
                  <a:lnTo>
                    <a:pt x="0" y="931038"/>
                  </a:lnTo>
                  <a:close/>
                </a:path>
              </a:pathLst>
            </a:custGeom>
            <a:blipFill>
              <a:blip r:embed="rId6">
                <a:alphaModFix amt="0"/>
              </a:blip>
              <a:stretch>
                <a:fillRect l="0" t="-396525" r="0" b="-396526"/>
              </a:stretch>
            </a:blipFill>
          </p:spPr>
        </p:sp>
        <p:sp>
          <p:nvSpPr>
            <p:cNvPr name="TextBox 17" id="17"/>
            <p:cNvSpPr txBox="true"/>
            <p:nvPr/>
          </p:nvSpPr>
          <p:spPr>
            <a:xfrm>
              <a:off x="0" y="0"/>
              <a:ext cx="21336000" cy="931044"/>
            </a:xfrm>
            <a:prstGeom prst="rect">
              <a:avLst/>
            </a:prstGeom>
          </p:spPr>
          <p:txBody>
            <a:bodyPr anchor="ctr" rtlCol="false" tIns="0" lIns="0" bIns="0" rIns="0"/>
            <a:lstStyle/>
            <a:p>
              <a:pPr algn="l">
                <a:lnSpc>
                  <a:spcPts val="3480"/>
                </a:lnSpc>
              </a:pPr>
              <a:r>
                <a:rPr lang="en-US" sz="2900" b="true">
                  <a:solidFill>
                    <a:srgbClr val="64748B"/>
                  </a:solidFill>
                  <a:latin typeface="Inter Bold"/>
                  <a:ea typeface="Inter Bold"/>
                  <a:cs typeface="Inter Bold"/>
                  <a:sym typeface="Inter Bold"/>
                </a:rPr>
                <a:t>Module 7: Loading, Modelling and Dashboards</a:t>
              </a:r>
            </a:p>
          </p:txBody>
        </p:sp>
      </p:grpSp>
      <p:grpSp>
        <p:nvGrpSpPr>
          <p:cNvPr name="Group 18" id="18"/>
          <p:cNvGrpSpPr/>
          <p:nvPr/>
        </p:nvGrpSpPr>
        <p:grpSpPr>
          <a:xfrm rot="0">
            <a:off x="1143000" y="8572500"/>
            <a:ext cx="16002000" cy="28766"/>
            <a:chOff x="0" y="0"/>
            <a:chExt cx="21336000" cy="38354"/>
          </a:xfrm>
        </p:grpSpPr>
        <p:sp>
          <p:nvSpPr>
            <p:cNvPr name="Freeform 19" id="19"/>
            <p:cNvSpPr/>
            <p:nvPr/>
          </p:nvSpPr>
          <p:spPr>
            <a:xfrm flipH="false" flipV="false" rot="0">
              <a:off x="0" y="0"/>
              <a:ext cx="21336000" cy="38354"/>
            </a:xfrm>
            <a:custGeom>
              <a:avLst/>
              <a:gdLst/>
              <a:ahLst/>
              <a:cxnLst/>
              <a:rect r="r" b="b" t="t" l="l"/>
              <a:pathLst>
                <a:path h="38354" w="21336000">
                  <a:moveTo>
                    <a:pt x="0" y="0"/>
                  </a:moveTo>
                  <a:lnTo>
                    <a:pt x="21336000" y="0"/>
                  </a:lnTo>
                  <a:lnTo>
                    <a:pt x="21336000" y="38354"/>
                  </a:lnTo>
                  <a:lnTo>
                    <a:pt x="0" y="38354"/>
                  </a:lnTo>
                  <a:close/>
                </a:path>
              </a:pathLst>
            </a:custGeom>
            <a:solidFill>
              <a:srgbClr val="E2E8F0"/>
            </a:solidFill>
          </p:spPr>
        </p:sp>
      </p:grpSp>
      <p:grpSp>
        <p:nvGrpSpPr>
          <p:cNvPr name="Group 20" id="20"/>
          <p:cNvGrpSpPr/>
          <p:nvPr/>
        </p:nvGrpSpPr>
        <p:grpSpPr>
          <a:xfrm rot="0">
            <a:off x="1143000" y="9001125"/>
            <a:ext cx="385667" cy="342900"/>
            <a:chOff x="0" y="0"/>
            <a:chExt cx="514223" cy="457200"/>
          </a:xfrm>
        </p:grpSpPr>
        <p:sp>
          <p:nvSpPr>
            <p:cNvPr name="Freeform 21" id="21"/>
            <p:cNvSpPr/>
            <p:nvPr/>
          </p:nvSpPr>
          <p:spPr>
            <a:xfrm flipH="false" flipV="false" rot="0">
              <a:off x="0" y="0"/>
              <a:ext cx="514223" cy="457200"/>
            </a:xfrm>
            <a:custGeom>
              <a:avLst/>
              <a:gdLst/>
              <a:ahLst/>
              <a:cxnLst/>
              <a:rect r="r" b="b" t="t" l="l"/>
              <a:pathLst>
                <a:path h="457200" w="514223">
                  <a:moveTo>
                    <a:pt x="0" y="0"/>
                  </a:moveTo>
                  <a:lnTo>
                    <a:pt x="514223" y="0"/>
                  </a:lnTo>
                  <a:lnTo>
                    <a:pt x="514223" y="457200"/>
                  </a:lnTo>
                  <a:lnTo>
                    <a:pt x="0" y="457200"/>
                  </a:lnTo>
                  <a:lnTo>
                    <a:pt x="0" y="0"/>
                  </a:lnTo>
                  <a:close/>
                </a:path>
              </a:pathLst>
            </a:custGeom>
            <a:blipFill>
              <a:blip r:embed="rId7"/>
              <a:stretch>
                <a:fillRect l="-12" t="0" r="-12" b="0"/>
              </a:stretch>
            </a:blipFill>
          </p:spPr>
        </p:sp>
      </p:grpSp>
      <p:grpSp>
        <p:nvGrpSpPr>
          <p:cNvPr name="Group 22" id="22"/>
          <p:cNvGrpSpPr/>
          <p:nvPr/>
        </p:nvGrpSpPr>
        <p:grpSpPr>
          <a:xfrm rot="0">
            <a:off x="1643062" y="9001125"/>
            <a:ext cx="2143354" cy="323098"/>
            <a:chOff x="0" y="0"/>
            <a:chExt cx="2857805" cy="430797"/>
          </a:xfrm>
        </p:grpSpPr>
        <p:sp>
          <p:nvSpPr>
            <p:cNvPr name="Freeform 23" id="23"/>
            <p:cNvSpPr/>
            <p:nvPr/>
          </p:nvSpPr>
          <p:spPr>
            <a:xfrm flipH="false" flipV="false" rot="0">
              <a:off x="0" y="0"/>
              <a:ext cx="2857754" cy="430784"/>
            </a:xfrm>
            <a:custGeom>
              <a:avLst/>
              <a:gdLst/>
              <a:ahLst/>
              <a:cxnLst/>
              <a:rect r="r" b="b" t="t" l="l"/>
              <a:pathLst>
                <a:path h="430784" w="2857754">
                  <a:moveTo>
                    <a:pt x="0" y="0"/>
                  </a:moveTo>
                  <a:lnTo>
                    <a:pt x="2857754" y="0"/>
                  </a:lnTo>
                  <a:lnTo>
                    <a:pt x="2857754" y="430784"/>
                  </a:lnTo>
                  <a:lnTo>
                    <a:pt x="0" y="430784"/>
                  </a:lnTo>
                  <a:close/>
                </a:path>
              </a:pathLst>
            </a:custGeom>
            <a:blipFill>
              <a:blip r:embed="rId5">
                <a:alphaModFix amt="0"/>
              </a:blip>
              <a:stretch>
                <a:fillRect l="0" t="-79171" r="-1" b="-79174"/>
              </a:stretch>
            </a:blipFill>
          </p:spPr>
        </p:sp>
      </p:grpSp>
      <p:grpSp>
        <p:nvGrpSpPr>
          <p:cNvPr name="Group 24" id="24"/>
          <p:cNvGrpSpPr/>
          <p:nvPr/>
        </p:nvGrpSpPr>
        <p:grpSpPr>
          <a:xfrm rot="0">
            <a:off x="1643062" y="8885273"/>
            <a:ext cx="2143354" cy="438950"/>
            <a:chOff x="0" y="0"/>
            <a:chExt cx="2857805" cy="585267"/>
          </a:xfrm>
        </p:grpSpPr>
        <p:sp>
          <p:nvSpPr>
            <p:cNvPr name="Freeform 25" id="25"/>
            <p:cNvSpPr/>
            <p:nvPr/>
          </p:nvSpPr>
          <p:spPr>
            <a:xfrm flipH="false" flipV="false" rot="0">
              <a:off x="0" y="0"/>
              <a:ext cx="2857805" cy="585267"/>
            </a:xfrm>
            <a:custGeom>
              <a:avLst/>
              <a:gdLst/>
              <a:ahLst/>
              <a:cxnLst/>
              <a:rect r="r" b="b" t="t" l="l"/>
              <a:pathLst>
                <a:path h="585267" w="2857805">
                  <a:moveTo>
                    <a:pt x="0" y="0"/>
                  </a:moveTo>
                  <a:lnTo>
                    <a:pt x="2857805" y="0"/>
                  </a:lnTo>
                  <a:lnTo>
                    <a:pt x="2857805" y="585267"/>
                  </a:lnTo>
                  <a:lnTo>
                    <a:pt x="0" y="585267"/>
                  </a:lnTo>
                  <a:close/>
                </a:path>
              </a:pathLst>
            </a:custGeom>
            <a:blipFill>
              <a:blip r:embed="rId6">
                <a:alphaModFix amt="0"/>
              </a:blip>
              <a:stretch>
                <a:fillRect l="0" t="-58340" r="0" b="-31947"/>
              </a:stretch>
            </a:blipFill>
          </p:spPr>
        </p:sp>
        <p:sp>
          <p:nvSpPr>
            <p:cNvPr name="TextBox 26" id="26"/>
            <p:cNvSpPr txBox="true"/>
            <p:nvPr/>
          </p:nvSpPr>
          <p:spPr>
            <a:xfrm>
              <a:off x="0" y="0"/>
              <a:ext cx="2857805" cy="585267"/>
            </a:xfrm>
            <a:prstGeom prst="rect">
              <a:avLst/>
            </a:prstGeom>
          </p:spPr>
          <p:txBody>
            <a:bodyPr anchor="ctr" rtlCol="false" tIns="0" lIns="0" bIns="0" rIns="0"/>
            <a:lstStyle/>
            <a:p>
              <a:pPr algn="l">
                <a:lnSpc>
                  <a:spcPts val="2520"/>
                </a:lnSpc>
              </a:pPr>
              <a:r>
                <a:rPr lang="en-US" sz="2100">
                  <a:solidFill>
                    <a:srgbClr val="64748B"/>
                  </a:solidFill>
                  <a:latin typeface="Inter"/>
                  <a:ea typeface="Inter"/>
                  <a:cs typeface="Inter"/>
                  <a:sym typeface="Inter"/>
                </a:rPr>
                <a:t>Topic 1 of 6</a:t>
              </a:r>
            </a:p>
          </p:txBody>
        </p:sp>
      </p:grpSp>
      <p:grpSp>
        <p:nvGrpSpPr>
          <p:cNvPr name="Group 27" id="27"/>
          <p:cNvGrpSpPr/>
          <p:nvPr/>
        </p:nvGrpSpPr>
        <p:grpSpPr>
          <a:xfrm rot="0">
            <a:off x="1143000" y="552450"/>
            <a:ext cx="2124666" cy="1845802"/>
            <a:chOff x="0" y="0"/>
            <a:chExt cx="2832887" cy="2461070"/>
          </a:xfrm>
        </p:grpSpPr>
        <p:sp>
          <p:nvSpPr>
            <p:cNvPr name="Freeform 28" id="28"/>
            <p:cNvSpPr/>
            <p:nvPr/>
          </p:nvSpPr>
          <p:spPr>
            <a:xfrm flipH="false" flipV="false" rot="0">
              <a:off x="0" y="0"/>
              <a:ext cx="2832862" cy="2461133"/>
            </a:xfrm>
            <a:custGeom>
              <a:avLst/>
              <a:gdLst/>
              <a:ahLst/>
              <a:cxnLst/>
              <a:rect r="r" b="b" t="t" l="l"/>
              <a:pathLst>
                <a:path h="2461133" w="2832862">
                  <a:moveTo>
                    <a:pt x="0" y="0"/>
                  </a:moveTo>
                  <a:lnTo>
                    <a:pt x="2832862" y="0"/>
                  </a:lnTo>
                  <a:lnTo>
                    <a:pt x="2832862" y="2461133"/>
                  </a:lnTo>
                  <a:lnTo>
                    <a:pt x="0" y="2461133"/>
                  </a:lnTo>
                  <a:lnTo>
                    <a:pt x="0" y="0"/>
                  </a:lnTo>
                  <a:close/>
                </a:path>
              </a:pathLst>
            </a:custGeom>
            <a:blipFill>
              <a:blip r:embed="rId8"/>
              <a:stretch>
                <a:fillRect l="0" t="-51" r="0" b="-49"/>
              </a:stretch>
            </a:blipFill>
          </p:spPr>
        </p:sp>
      </p:grpSp>
      <p:grpSp>
        <p:nvGrpSpPr>
          <p:cNvPr name="Group 29" id="29"/>
          <p:cNvGrpSpPr/>
          <p:nvPr/>
        </p:nvGrpSpPr>
        <p:grpSpPr>
          <a:xfrm rot="0">
            <a:off x="16497824" y="8924125"/>
            <a:ext cx="647224" cy="571500"/>
            <a:chOff x="0" y="0"/>
            <a:chExt cx="862965" cy="762000"/>
          </a:xfrm>
        </p:grpSpPr>
        <p:sp>
          <p:nvSpPr>
            <p:cNvPr name="Freeform 30" id="3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9"/>
              <a:stretch>
                <a:fillRect l="-772" t="0" r="-772" b="0"/>
              </a:stretch>
            </a:blipFill>
          </p:spPr>
        </p:sp>
      </p:grpSp>
      <p:grpSp>
        <p:nvGrpSpPr>
          <p:cNvPr name="Group 31" id="31"/>
          <p:cNvGrpSpPr/>
          <p:nvPr/>
        </p:nvGrpSpPr>
        <p:grpSpPr>
          <a:xfrm rot="0">
            <a:off x="10800618" y="1733550"/>
            <a:ext cx="6458682" cy="6257925"/>
            <a:chOff x="0" y="0"/>
            <a:chExt cx="6585555" cy="6380855"/>
          </a:xfrm>
        </p:grpSpPr>
        <p:sp>
          <p:nvSpPr>
            <p:cNvPr name="Freeform 32" id="32"/>
            <p:cNvSpPr/>
            <p:nvPr/>
          </p:nvSpPr>
          <p:spPr>
            <a:xfrm flipH="false" flipV="false" rot="0">
              <a:off x="0" y="0"/>
              <a:ext cx="6585556" cy="6380905"/>
            </a:xfrm>
            <a:custGeom>
              <a:avLst/>
              <a:gdLst/>
              <a:ahLst/>
              <a:cxnLst/>
              <a:rect r="r" b="b" t="t" l="l"/>
              <a:pathLst>
                <a:path h="6380905" w="6585556">
                  <a:moveTo>
                    <a:pt x="246375" y="0"/>
                  </a:moveTo>
                  <a:lnTo>
                    <a:pt x="6339182" y="0"/>
                  </a:lnTo>
                  <a:cubicBezTo>
                    <a:pt x="6404524" y="0"/>
                    <a:pt x="6467191" y="25957"/>
                    <a:pt x="6513395" y="72161"/>
                  </a:cubicBezTo>
                  <a:cubicBezTo>
                    <a:pt x="6559599" y="118366"/>
                    <a:pt x="6585556" y="181032"/>
                    <a:pt x="6585556" y="246375"/>
                  </a:cubicBezTo>
                  <a:lnTo>
                    <a:pt x="6585556" y="6134531"/>
                  </a:lnTo>
                  <a:cubicBezTo>
                    <a:pt x="6585556" y="6199873"/>
                    <a:pt x="6559599" y="6262539"/>
                    <a:pt x="6513395" y="6308744"/>
                  </a:cubicBezTo>
                  <a:cubicBezTo>
                    <a:pt x="6467191" y="6354948"/>
                    <a:pt x="6404524" y="6380905"/>
                    <a:pt x="6339182" y="6380905"/>
                  </a:cubicBezTo>
                  <a:lnTo>
                    <a:pt x="246375" y="6380905"/>
                  </a:lnTo>
                  <a:cubicBezTo>
                    <a:pt x="181032" y="6380905"/>
                    <a:pt x="118366" y="6354948"/>
                    <a:pt x="72161" y="6308744"/>
                  </a:cubicBezTo>
                  <a:cubicBezTo>
                    <a:pt x="25957" y="6262539"/>
                    <a:pt x="0" y="6199873"/>
                    <a:pt x="0" y="6134531"/>
                  </a:cubicBezTo>
                  <a:lnTo>
                    <a:pt x="0" y="246375"/>
                  </a:lnTo>
                  <a:cubicBezTo>
                    <a:pt x="0" y="181032"/>
                    <a:pt x="25957" y="118366"/>
                    <a:pt x="72161" y="72161"/>
                  </a:cubicBezTo>
                  <a:cubicBezTo>
                    <a:pt x="118366" y="25957"/>
                    <a:pt x="181032" y="0"/>
                    <a:pt x="246375" y="0"/>
                  </a:cubicBezTo>
                  <a:close/>
                </a:path>
              </a:pathLst>
            </a:custGeom>
            <a:blipFill>
              <a:blip r:embed="rId10"/>
              <a:stretch>
                <a:fillRect l="0" t="-1603" r="0" b="-1603"/>
              </a:stretch>
            </a:blipFill>
          </p:spPr>
        </p:sp>
      </p:grpSp>
      <p:sp>
        <p:nvSpPr>
          <p:cNvPr name="TextBox 33" id="33"/>
          <p:cNvSpPr txBox="true"/>
          <p:nvPr/>
        </p:nvSpPr>
        <p:spPr>
          <a:xfrm rot="0">
            <a:off x="1143000" y="3992404"/>
            <a:ext cx="8745141" cy="2924175"/>
          </a:xfrm>
          <a:prstGeom prst="rect">
            <a:avLst/>
          </a:prstGeom>
        </p:spPr>
        <p:txBody>
          <a:bodyPr anchor="t" rtlCol="false" tIns="0" lIns="0" bIns="0" rIns="0">
            <a:spAutoFit/>
          </a:bodyPr>
          <a:lstStyle/>
          <a:p>
            <a:pPr algn="l">
              <a:lnSpc>
                <a:spcPts val="11250"/>
              </a:lnSpc>
            </a:pPr>
            <a:r>
              <a:rPr lang="en-US" sz="9000" b="true">
                <a:solidFill>
                  <a:srgbClr val="000000"/>
                </a:solidFill>
                <a:latin typeface="Poppins Bold"/>
                <a:ea typeface="Poppins Bold"/>
                <a:cs typeface="Poppins Bold"/>
                <a:sym typeface="Poppins Bold"/>
              </a:rPr>
              <a:t>Th</a:t>
            </a:r>
            <a:r>
              <a:rPr lang="en-US" sz="9000" b="true">
                <a:solidFill>
                  <a:srgbClr val="000000"/>
                </a:solidFill>
                <a:latin typeface="Poppins Bold"/>
                <a:ea typeface="Poppins Bold"/>
                <a:cs typeface="Poppins Bold"/>
                <a:sym typeface="Poppins Bold"/>
              </a:rPr>
              <a:t>e Power BI</a:t>
            </a:r>
          </a:p>
          <a:p>
            <a:pPr algn="l">
              <a:lnSpc>
                <a:spcPts val="11250"/>
              </a:lnSpc>
            </a:pPr>
            <a:r>
              <a:rPr lang="en-US" sz="9000" b="true">
                <a:solidFill>
                  <a:srgbClr val="387F7F"/>
                </a:solidFill>
                <a:latin typeface="Poppins Bold"/>
                <a:ea typeface="Poppins Bold"/>
                <a:cs typeface="Poppins Bold"/>
                <a:sym typeface="Poppins Bold"/>
              </a:rPr>
              <a:t>Environment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857250"/>
            <a:ext cx="142875" cy="742950"/>
            <a:chOff x="0" y="0"/>
            <a:chExt cx="190500" cy="990600"/>
          </a:xfrm>
        </p:grpSpPr>
        <p:sp>
          <p:nvSpPr>
            <p:cNvPr name="Freeform 5" id="5"/>
            <p:cNvSpPr/>
            <p:nvPr/>
          </p:nvSpPr>
          <p:spPr>
            <a:xfrm flipH="false" flipV="false" rot="0">
              <a:off x="0" y="0"/>
              <a:ext cx="190500" cy="990600"/>
            </a:xfrm>
            <a:custGeom>
              <a:avLst/>
              <a:gdLst/>
              <a:ahLst/>
              <a:cxnLst/>
              <a:rect r="r" b="b" t="t" l="l"/>
              <a:pathLst>
                <a:path h="990600" w="190500">
                  <a:moveTo>
                    <a:pt x="0" y="0"/>
                  </a:moveTo>
                  <a:lnTo>
                    <a:pt x="190500" y="0"/>
                  </a:lnTo>
                  <a:lnTo>
                    <a:pt x="190500" y="990600"/>
                  </a:lnTo>
                  <a:lnTo>
                    <a:pt x="0" y="990600"/>
                  </a:lnTo>
                  <a:close/>
                </a:path>
              </a:pathLst>
            </a:custGeom>
            <a:solidFill>
              <a:srgbClr val="388080"/>
            </a:solidFill>
          </p:spPr>
        </p:sp>
      </p:grpSp>
      <p:grpSp>
        <p:nvGrpSpPr>
          <p:cNvPr name="Group 6" id="6"/>
          <p:cNvGrpSpPr/>
          <p:nvPr/>
        </p:nvGrpSpPr>
        <p:grpSpPr>
          <a:xfrm rot="0">
            <a:off x="1143000" y="2333473"/>
            <a:ext cx="457200" cy="485775"/>
            <a:chOff x="0" y="0"/>
            <a:chExt cx="609600" cy="647700"/>
          </a:xfrm>
        </p:grpSpPr>
        <p:sp>
          <p:nvSpPr>
            <p:cNvPr name="Freeform 7" id="7"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4"/>
              <a:stretch>
                <a:fillRect l="0" t="0" r="0" b="0"/>
              </a:stretch>
            </a:blipFill>
          </p:spPr>
        </p:sp>
      </p:grpSp>
      <p:grpSp>
        <p:nvGrpSpPr>
          <p:cNvPr name="Group 8" id="8"/>
          <p:cNvGrpSpPr/>
          <p:nvPr/>
        </p:nvGrpSpPr>
        <p:grpSpPr>
          <a:xfrm rot="0">
            <a:off x="1143000" y="3979545"/>
            <a:ext cx="457200" cy="485775"/>
            <a:chOff x="0" y="0"/>
            <a:chExt cx="609600" cy="647700"/>
          </a:xfrm>
        </p:grpSpPr>
        <p:sp>
          <p:nvSpPr>
            <p:cNvPr name="Freeform 9" id="9"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4"/>
              <a:stretch>
                <a:fillRect l="0" t="0" r="0" b="0"/>
              </a:stretch>
            </a:blipFill>
          </p:spPr>
        </p:sp>
      </p:grpSp>
      <p:grpSp>
        <p:nvGrpSpPr>
          <p:cNvPr name="Group 10" id="10"/>
          <p:cNvGrpSpPr/>
          <p:nvPr/>
        </p:nvGrpSpPr>
        <p:grpSpPr>
          <a:xfrm rot="0">
            <a:off x="1143000" y="4951095"/>
            <a:ext cx="457200" cy="485775"/>
            <a:chOff x="0" y="0"/>
            <a:chExt cx="609600" cy="647700"/>
          </a:xfrm>
        </p:grpSpPr>
        <p:sp>
          <p:nvSpPr>
            <p:cNvPr name="Freeform 11" id="11"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4"/>
              <a:stretch>
                <a:fillRect l="0" t="0" r="0" b="0"/>
              </a:stretch>
            </a:blipFill>
          </p:spPr>
        </p:sp>
      </p:grpSp>
      <p:grpSp>
        <p:nvGrpSpPr>
          <p:cNvPr name="Group 12" id="12"/>
          <p:cNvGrpSpPr/>
          <p:nvPr/>
        </p:nvGrpSpPr>
        <p:grpSpPr>
          <a:xfrm rot="0">
            <a:off x="16070180" y="1028700"/>
            <a:ext cx="1189120" cy="1033053"/>
            <a:chOff x="0" y="0"/>
            <a:chExt cx="1585493" cy="1377404"/>
          </a:xfrm>
        </p:grpSpPr>
        <p:sp>
          <p:nvSpPr>
            <p:cNvPr name="Freeform 13" id="13"/>
            <p:cNvSpPr/>
            <p:nvPr/>
          </p:nvSpPr>
          <p:spPr>
            <a:xfrm flipH="false" flipV="false" rot="0">
              <a:off x="0" y="0"/>
              <a:ext cx="1585468" cy="1377442"/>
            </a:xfrm>
            <a:custGeom>
              <a:avLst/>
              <a:gdLst/>
              <a:ahLst/>
              <a:cxnLst/>
              <a:rect r="r" b="b" t="t" l="l"/>
              <a:pathLst>
                <a:path h="1377442" w="1585468">
                  <a:moveTo>
                    <a:pt x="0" y="0"/>
                  </a:moveTo>
                  <a:lnTo>
                    <a:pt x="1585468" y="0"/>
                  </a:lnTo>
                  <a:lnTo>
                    <a:pt x="1585468" y="1377442"/>
                  </a:lnTo>
                  <a:lnTo>
                    <a:pt x="0" y="1377442"/>
                  </a:lnTo>
                  <a:lnTo>
                    <a:pt x="0" y="0"/>
                  </a:lnTo>
                  <a:close/>
                </a:path>
              </a:pathLst>
            </a:custGeom>
            <a:blipFill>
              <a:blip r:embed="rId5"/>
              <a:stretch>
                <a:fillRect l="0" t="-51" r="-1" b="-48"/>
              </a:stretch>
            </a:blipFill>
          </p:spPr>
        </p:sp>
      </p:grpSp>
      <p:grpSp>
        <p:nvGrpSpPr>
          <p:cNvPr name="Group 14" id="14"/>
          <p:cNvGrpSpPr/>
          <p:nvPr/>
        </p:nvGrpSpPr>
        <p:grpSpPr>
          <a:xfrm rot="0">
            <a:off x="16497824" y="8924125"/>
            <a:ext cx="647224" cy="571500"/>
            <a:chOff x="0" y="0"/>
            <a:chExt cx="862965" cy="762000"/>
          </a:xfrm>
        </p:grpSpPr>
        <p:sp>
          <p:nvSpPr>
            <p:cNvPr name="Freeform 15" id="15"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6" id="16"/>
          <p:cNvGrpSpPr/>
          <p:nvPr/>
        </p:nvGrpSpPr>
        <p:grpSpPr>
          <a:xfrm rot="0">
            <a:off x="1143000" y="6008370"/>
            <a:ext cx="457200" cy="485775"/>
            <a:chOff x="0" y="0"/>
            <a:chExt cx="609600" cy="647700"/>
          </a:xfrm>
        </p:grpSpPr>
        <p:sp>
          <p:nvSpPr>
            <p:cNvPr name="Freeform 17" id="17"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4"/>
              <a:stretch>
                <a:fillRect l="0" t="0" r="0" b="0"/>
              </a:stretch>
            </a:blipFill>
          </p:spPr>
        </p:sp>
      </p:grpSp>
      <p:grpSp>
        <p:nvGrpSpPr>
          <p:cNvPr name="Group 18" id="18"/>
          <p:cNvGrpSpPr/>
          <p:nvPr/>
        </p:nvGrpSpPr>
        <p:grpSpPr>
          <a:xfrm rot="0">
            <a:off x="10886817" y="2333473"/>
            <a:ext cx="6258230" cy="6258230"/>
            <a:chOff x="0" y="0"/>
            <a:chExt cx="8890000" cy="8890000"/>
          </a:xfrm>
        </p:grpSpPr>
        <p:sp>
          <p:nvSpPr>
            <p:cNvPr name="Freeform 19" id="19"/>
            <p:cNvSpPr/>
            <p:nvPr/>
          </p:nvSpPr>
          <p:spPr>
            <a:xfrm flipH="false" flipV="false" rot="0">
              <a:off x="0" y="0"/>
              <a:ext cx="8890000" cy="8890000"/>
            </a:xfrm>
            <a:custGeom>
              <a:avLst/>
              <a:gdLst/>
              <a:ahLst/>
              <a:cxnLst/>
              <a:rect r="r" b="b" t="t" l="l"/>
              <a:pathLst>
                <a:path h="8890000" w="8890000">
                  <a:moveTo>
                    <a:pt x="270611" y="0"/>
                  </a:moveTo>
                  <a:lnTo>
                    <a:pt x="8619389" y="0"/>
                  </a:lnTo>
                  <a:cubicBezTo>
                    <a:pt x="8768843" y="0"/>
                    <a:pt x="8890000" y="121157"/>
                    <a:pt x="8890000" y="270611"/>
                  </a:cubicBezTo>
                  <a:lnTo>
                    <a:pt x="8890000" y="8619389"/>
                  </a:lnTo>
                  <a:cubicBezTo>
                    <a:pt x="8890000" y="8768843"/>
                    <a:pt x="8768843" y="8890000"/>
                    <a:pt x="8619389" y="8890000"/>
                  </a:cubicBezTo>
                  <a:lnTo>
                    <a:pt x="270611" y="8890000"/>
                  </a:lnTo>
                  <a:cubicBezTo>
                    <a:pt x="121157" y="8890000"/>
                    <a:pt x="0" y="8768843"/>
                    <a:pt x="0" y="8619389"/>
                  </a:cubicBezTo>
                  <a:lnTo>
                    <a:pt x="0" y="270611"/>
                  </a:lnTo>
                  <a:cubicBezTo>
                    <a:pt x="0" y="121157"/>
                    <a:pt x="121157" y="0"/>
                    <a:pt x="270611" y="0"/>
                  </a:cubicBezTo>
                  <a:close/>
                </a:path>
              </a:pathLst>
            </a:custGeom>
            <a:blipFill>
              <a:blip r:embed="rId7"/>
              <a:stretch>
                <a:fillRect l="-40191" t="0" r="-40191" b="0"/>
              </a:stretch>
            </a:blipFill>
            <a:ln w="66675" cap="sq">
              <a:solidFill>
                <a:srgbClr val="FFFFFF"/>
              </a:solidFill>
              <a:prstDash val="solid"/>
              <a:miter/>
            </a:ln>
          </p:spPr>
        </p:sp>
      </p:grpSp>
      <p:sp>
        <p:nvSpPr>
          <p:cNvPr name="TextBox 20" id="20"/>
          <p:cNvSpPr txBox="true"/>
          <p:nvPr/>
        </p:nvSpPr>
        <p:spPr>
          <a:xfrm rot="0">
            <a:off x="1485900" y="762000"/>
            <a:ext cx="687774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MODULE 7 OBJECTIVES</a:t>
            </a:r>
          </a:p>
        </p:txBody>
      </p:sp>
      <p:sp>
        <p:nvSpPr>
          <p:cNvPr name="TextBox 21" id="21"/>
          <p:cNvSpPr txBox="true"/>
          <p:nvPr/>
        </p:nvSpPr>
        <p:spPr>
          <a:xfrm rot="0">
            <a:off x="1857375" y="2193455"/>
            <a:ext cx="8546611" cy="584835"/>
          </a:xfrm>
          <a:prstGeom prst="rect">
            <a:avLst/>
          </a:prstGeom>
        </p:spPr>
        <p:txBody>
          <a:bodyPr anchor="t" rtlCol="false" tIns="0" lIns="0" bIns="0" rIns="0">
            <a:spAutoFit/>
          </a:bodyPr>
          <a:lstStyle/>
          <a:p>
            <a:pPr algn="l">
              <a:lnSpc>
                <a:spcPts val="4860"/>
              </a:lnSpc>
            </a:pPr>
            <a:r>
              <a:rPr lang="en-US" sz="2700">
                <a:solidFill>
                  <a:srgbClr val="1E293B"/>
                </a:solidFill>
                <a:latin typeface="Poppins"/>
                <a:ea typeface="Poppins"/>
                <a:cs typeface="Poppins"/>
                <a:sym typeface="Poppins"/>
              </a:rPr>
              <a:t>What is </a:t>
            </a:r>
            <a:r>
              <a:rPr lang="en-US" sz="2700">
                <a:solidFill>
                  <a:srgbClr val="1E293B"/>
                </a:solidFill>
                <a:latin typeface="Poppins"/>
                <a:ea typeface="Poppins"/>
                <a:cs typeface="Poppins"/>
                <a:sym typeface="Poppins"/>
              </a:rPr>
              <a:t>Power BI </a:t>
            </a:r>
          </a:p>
        </p:txBody>
      </p:sp>
      <p:sp>
        <p:nvSpPr>
          <p:cNvPr name="TextBox 22" id="22"/>
          <p:cNvSpPr txBox="true"/>
          <p:nvPr/>
        </p:nvSpPr>
        <p:spPr>
          <a:xfrm rot="0">
            <a:off x="1857375" y="3839528"/>
            <a:ext cx="7286625" cy="584835"/>
          </a:xfrm>
          <a:prstGeom prst="rect">
            <a:avLst/>
          </a:prstGeom>
        </p:spPr>
        <p:txBody>
          <a:bodyPr anchor="t" rtlCol="false" tIns="0" lIns="0" bIns="0" rIns="0">
            <a:spAutoFit/>
          </a:bodyPr>
          <a:lstStyle/>
          <a:p>
            <a:pPr algn="l">
              <a:lnSpc>
                <a:spcPts val="4860"/>
              </a:lnSpc>
            </a:pPr>
            <a:r>
              <a:rPr lang="en-US" sz="2700">
                <a:solidFill>
                  <a:srgbClr val="1E293B"/>
                </a:solidFill>
                <a:latin typeface="Poppins"/>
                <a:ea typeface="Poppins"/>
                <a:cs typeface="Poppins"/>
                <a:sym typeface="Poppins"/>
              </a:rPr>
              <a:t>Write and verify essential DAX measures.</a:t>
            </a:r>
          </a:p>
        </p:txBody>
      </p:sp>
      <p:sp>
        <p:nvSpPr>
          <p:cNvPr name="TextBox 23" id="23"/>
          <p:cNvSpPr txBox="true"/>
          <p:nvPr/>
        </p:nvSpPr>
        <p:spPr>
          <a:xfrm rot="0">
            <a:off x="1857375" y="4811078"/>
            <a:ext cx="8261167" cy="584835"/>
          </a:xfrm>
          <a:prstGeom prst="rect">
            <a:avLst/>
          </a:prstGeom>
        </p:spPr>
        <p:txBody>
          <a:bodyPr anchor="t" rtlCol="false" tIns="0" lIns="0" bIns="0" rIns="0">
            <a:spAutoFit/>
          </a:bodyPr>
          <a:lstStyle/>
          <a:p>
            <a:pPr algn="l">
              <a:lnSpc>
                <a:spcPts val="4860"/>
              </a:lnSpc>
            </a:pPr>
            <a:r>
              <a:rPr lang="en-US" sz="2700">
                <a:solidFill>
                  <a:srgbClr val="1E293B"/>
                </a:solidFill>
                <a:latin typeface="Poppins"/>
                <a:ea typeface="Poppins"/>
                <a:cs typeface="Poppins"/>
                <a:sym typeface="Poppins"/>
              </a:rPr>
              <a:t>D</a:t>
            </a:r>
            <a:r>
              <a:rPr lang="en-US" sz="2700">
                <a:solidFill>
                  <a:srgbClr val="1E293B"/>
                </a:solidFill>
                <a:latin typeface="Poppins"/>
                <a:ea typeface="Poppins"/>
                <a:cs typeface="Poppins"/>
                <a:sym typeface="Poppins"/>
              </a:rPr>
              <a:t>esign, present, and AI-check a KPI dashboard.</a:t>
            </a:r>
          </a:p>
        </p:txBody>
      </p:sp>
      <p:sp>
        <p:nvSpPr>
          <p:cNvPr name="TextBox 24" id="24"/>
          <p:cNvSpPr txBox="true"/>
          <p:nvPr/>
        </p:nvSpPr>
        <p:spPr>
          <a:xfrm rot="0">
            <a:off x="1857375" y="5827395"/>
            <a:ext cx="8060714" cy="1194435"/>
          </a:xfrm>
          <a:prstGeom prst="rect">
            <a:avLst/>
          </a:prstGeom>
        </p:spPr>
        <p:txBody>
          <a:bodyPr anchor="t" rtlCol="false" tIns="0" lIns="0" bIns="0" rIns="0">
            <a:spAutoFit/>
          </a:bodyPr>
          <a:lstStyle/>
          <a:p>
            <a:pPr algn="l">
              <a:lnSpc>
                <a:spcPts val="4860"/>
              </a:lnSpc>
            </a:pPr>
            <a:r>
              <a:rPr lang="en-US" sz="2700">
                <a:solidFill>
                  <a:srgbClr val="1E293B"/>
                </a:solidFill>
                <a:latin typeface="Poppins"/>
                <a:ea typeface="Poppins"/>
                <a:cs typeface="Poppins"/>
                <a:sym typeface="Poppins"/>
              </a:rPr>
              <a:t>D</a:t>
            </a:r>
            <a:r>
              <a:rPr lang="en-US" sz="2700">
                <a:solidFill>
                  <a:srgbClr val="1E293B"/>
                </a:solidFill>
                <a:latin typeface="Poppins"/>
                <a:ea typeface="Poppins"/>
                <a:cs typeface="Poppins"/>
                <a:sym typeface="Poppins"/>
              </a:rPr>
              <a:t>efine a capstone question and sign off a dataset.</a:t>
            </a:r>
          </a:p>
        </p:txBody>
      </p:sp>
      <p:grpSp>
        <p:nvGrpSpPr>
          <p:cNvPr name="Group 25" id="25"/>
          <p:cNvGrpSpPr/>
          <p:nvPr/>
        </p:nvGrpSpPr>
        <p:grpSpPr>
          <a:xfrm rot="0">
            <a:off x="1143000" y="3141345"/>
            <a:ext cx="457200" cy="485775"/>
            <a:chOff x="0" y="0"/>
            <a:chExt cx="609600" cy="647700"/>
          </a:xfrm>
        </p:grpSpPr>
        <p:sp>
          <p:nvSpPr>
            <p:cNvPr name="Freeform 26" id="26"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4"/>
              <a:stretch>
                <a:fillRect l="0" t="0" r="0" b="0"/>
              </a:stretch>
            </a:blipFill>
          </p:spPr>
        </p:sp>
      </p:grpSp>
      <p:sp>
        <p:nvSpPr>
          <p:cNvPr name="TextBox 27" id="27"/>
          <p:cNvSpPr txBox="true"/>
          <p:nvPr/>
        </p:nvSpPr>
        <p:spPr>
          <a:xfrm rot="0">
            <a:off x="1857375" y="3001328"/>
            <a:ext cx="8546611" cy="584835"/>
          </a:xfrm>
          <a:prstGeom prst="rect">
            <a:avLst/>
          </a:prstGeom>
        </p:spPr>
        <p:txBody>
          <a:bodyPr anchor="t" rtlCol="false" tIns="0" lIns="0" bIns="0" rIns="0">
            <a:spAutoFit/>
          </a:bodyPr>
          <a:lstStyle/>
          <a:p>
            <a:pPr algn="l">
              <a:lnSpc>
                <a:spcPts val="4860"/>
              </a:lnSpc>
            </a:pPr>
            <a:r>
              <a:rPr lang="en-US" sz="2700">
                <a:solidFill>
                  <a:srgbClr val="1E293B"/>
                </a:solidFill>
                <a:latin typeface="Poppins"/>
                <a:ea typeface="Poppins"/>
                <a:cs typeface="Poppins"/>
                <a:sym typeface="Poppins"/>
              </a:rPr>
              <a:t>Lo</a:t>
            </a:r>
            <a:r>
              <a:rPr lang="en-US" sz="2700">
                <a:solidFill>
                  <a:srgbClr val="1E293B"/>
                </a:solidFill>
                <a:latin typeface="Poppins"/>
                <a:ea typeface="Poppins"/>
                <a:cs typeface="Poppins"/>
                <a:sym typeface="Poppins"/>
              </a:rPr>
              <a:t>ad, clean and model data correctly in Power BI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028700" y="981075"/>
            <a:ext cx="12198846" cy="771525"/>
          </a:xfrm>
          <a:prstGeom prst="rect">
            <a:avLst/>
          </a:prstGeom>
        </p:spPr>
        <p:txBody>
          <a:bodyPr anchor="t" rtlCol="false" tIns="0" lIns="0" bIns="0" rIns="0">
            <a:spAutoFit/>
          </a:bodyPr>
          <a:lstStyle/>
          <a:p>
            <a:pPr algn="l">
              <a:lnSpc>
                <a:spcPts val="5760"/>
              </a:lnSpc>
            </a:pPr>
            <a:r>
              <a:rPr lang="en-US" sz="4800">
                <a:solidFill>
                  <a:srgbClr val="388080"/>
                </a:solidFill>
                <a:latin typeface="Poppins"/>
                <a:ea typeface="Poppins"/>
                <a:cs typeface="Poppins"/>
                <a:sym typeface="Poppins"/>
              </a:rPr>
              <a:t>By th</a:t>
            </a:r>
            <a:r>
              <a:rPr lang="en-US" sz="4800">
                <a:solidFill>
                  <a:srgbClr val="388080"/>
                </a:solidFill>
                <a:latin typeface="Poppins"/>
                <a:ea typeface="Poppins"/>
                <a:cs typeface="Poppins"/>
                <a:sym typeface="Poppins"/>
              </a:rPr>
              <a:t>e end of this topic, the trainee can…</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8700" y="2606040"/>
            <a:ext cx="4594860" cy="4937760"/>
            <a:chOff x="0" y="0"/>
            <a:chExt cx="6126480" cy="6583680"/>
          </a:xfrm>
        </p:grpSpPr>
        <p:sp>
          <p:nvSpPr>
            <p:cNvPr name="Freeform 12" id="12"/>
            <p:cNvSpPr/>
            <p:nvPr/>
          </p:nvSpPr>
          <p:spPr>
            <a:xfrm flipH="false" flipV="false" rot="0">
              <a:off x="0" y="0"/>
              <a:ext cx="6126480" cy="6583680"/>
            </a:xfrm>
            <a:custGeom>
              <a:avLst/>
              <a:gdLst/>
              <a:ahLst/>
              <a:cxnLst/>
              <a:rect r="r" b="b" t="t" l="l"/>
              <a:pathLst>
                <a:path h="6583680" w="6126480">
                  <a:moveTo>
                    <a:pt x="0" y="182880"/>
                  </a:moveTo>
                  <a:cubicBezTo>
                    <a:pt x="0" y="81915"/>
                    <a:pt x="81915" y="0"/>
                    <a:pt x="182880" y="0"/>
                  </a:cubicBezTo>
                  <a:lnTo>
                    <a:pt x="5943600" y="0"/>
                  </a:lnTo>
                  <a:cubicBezTo>
                    <a:pt x="6044565" y="0"/>
                    <a:pt x="6126480" y="81915"/>
                    <a:pt x="6126480" y="182880"/>
                  </a:cubicBezTo>
                  <a:lnTo>
                    <a:pt x="6126480" y="6400800"/>
                  </a:lnTo>
                  <a:cubicBezTo>
                    <a:pt x="6126480" y="6501765"/>
                    <a:pt x="6044565" y="6583680"/>
                    <a:pt x="5943600" y="6583680"/>
                  </a:cubicBezTo>
                  <a:lnTo>
                    <a:pt x="182880" y="6583680"/>
                  </a:lnTo>
                  <a:cubicBezTo>
                    <a:pt x="81915" y="6583680"/>
                    <a:pt x="0" y="6501765"/>
                    <a:pt x="0" y="6400800"/>
                  </a:cubicBezTo>
                  <a:close/>
                </a:path>
              </a:pathLst>
            </a:custGeom>
            <a:solidFill>
              <a:srgbClr val="FFFFFF"/>
            </a:solidFill>
          </p:spPr>
        </p:sp>
      </p:grpSp>
      <p:grpSp>
        <p:nvGrpSpPr>
          <p:cNvPr name="Group 13" id="13"/>
          <p:cNvGrpSpPr/>
          <p:nvPr/>
        </p:nvGrpSpPr>
        <p:grpSpPr>
          <a:xfrm rot="0">
            <a:off x="1028700" y="2606040"/>
            <a:ext cx="4594860" cy="123444"/>
            <a:chOff x="0" y="0"/>
            <a:chExt cx="6126480" cy="164592"/>
          </a:xfrm>
        </p:grpSpPr>
        <p:sp>
          <p:nvSpPr>
            <p:cNvPr name="Freeform 14" id="14"/>
            <p:cNvSpPr/>
            <p:nvPr/>
          </p:nvSpPr>
          <p:spPr>
            <a:xfrm flipH="false" flipV="false" rot="0">
              <a:off x="0" y="0"/>
              <a:ext cx="6126480" cy="164592"/>
            </a:xfrm>
            <a:custGeom>
              <a:avLst/>
              <a:gdLst/>
              <a:ahLst/>
              <a:cxnLst/>
              <a:rect r="r" b="b" t="t" l="l"/>
              <a:pathLst>
                <a:path h="164592" w="6126480">
                  <a:moveTo>
                    <a:pt x="0" y="0"/>
                  </a:moveTo>
                  <a:lnTo>
                    <a:pt x="6126480" y="0"/>
                  </a:lnTo>
                  <a:lnTo>
                    <a:pt x="6126480" y="164592"/>
                  </a:lnTo>
                  <a:lnTo>
                    <a:pt x="0" y="164592"/>
                  </a:lnTo>
                  <a:close/>
                </a:path>
              </a:pathLst>
            </a:custGeom>
            <a:solidFill>
              <a:srgbClr val="387F7F"/>
            </a:solidFill>
          </p:spPr>
        </p:sp>
      </p:grpSp>
      <p:grpSp>
        <p:nvGrpSpPr>
          <p:cNvPr name="Group 15" id="15"/>
          <p:cNvGrpSpPr/>
          <p:nvPr/>
        </p:nvGrpSpPr>
        <p:grpSpPr>
          <a:xfrm rot="0">
            <a:off x="2788253" y="3275171"/>
            <a:ext cx="1075754" cy="1075754"/>
            <a:chOff x="0" y="0"/>
            <a:chExt cx="1434338" cy="1434338"/>
          </a:xfrm>
        </p:grpSpPr>
        <p:sp>
          <p:nvSpPr>
            <p:cNvPr name="Freeform 16" id="16"/>
            <p:cNvSpPr/>
            <p:nvPr/>
          </p:nvSpPr>
          <p:spPr>
            <a:xfrm flipH="false" flipV="false" rot="0">
              <a:off x="0" y="0"/>
              <a:ext cx="1434338" cy="1434338"/>
            </a:xfrm>
            <a:custGeom>
              <a:avLst/>
              <a:gdLst/>
              <a:ahLst/>
              <a:cxnLst/>
              <a:rect r="r" b="b" t="t" l="l"/>
              <a:pathLst>
                <a:path h="1434338" w="1434338">
                  <a:moveTo>
                    <a:pt x="0" y="717169"/>
                  </a:moveTo>
                  <a:cubicBezTo>
                    <a:pt x="0" y="321056"/>
                    <a:pt x="321056" y="0"/>
                    <a:pt x="717169" y="0"/>
                  </a:cubicBezTo>
                  <a:cubicBezTo>
                    <a:pt x="1113282" y="0"/>
                    <a:pt x="1434338" y="321056"/>
                    <a:pt x="1434338" y="717169"/>
                  </a:cubicBezTo>
                  <a:cubicBezTo>
                    <a:pt x="1434338" y="1113282"/>
                    <a:pt x="1113282" y="1434338"/>
                    <a:pt x="717169" y="1434338"/>
                  </a:cubicBezTo>
                  <a:cubicBezTo>
                    <a:pt x="321056" y="1434338"/>
                    <a:pt x="0" y="1113282"/>
                    <a:pt x="0" y="717169"/>
                  </a:cubicBezTo>
                  <a:close/>
                </a:path>
              </a:pathLst>
            </a:custGeom>
            <a:solidFill>
              <a:srgbClr val="FFFFFF"/>
            </a:solidFill>
            <a:ln w="33338" cap="sq">
              <a:solidFill>
                <a:srgbClr val="387F7F"/>
              </a:solidFill>
              <a:prstDash val="solid"/>
              <a:miter/>
            </a:ln>
          </p:spPr>
        </p:sp>
      </p:grpSp>
      <p:grpSp>
        <p:nvGrpSpPr>
          <p:cNvPr name="Group 17" id="17"/>
          <p:cNvGrpSpPr/>
          <p:nvPr/>
        </p:nvGrpSpPr>
        <p:grpSpPr>
          <a:xfrm rot="0">
            <a:off x="2804922" y="3291840"/>
            <a:ext cx="1042416" cy="1042416"/>
            <a:chOff x="0" y="0"/>
            <a:chExt cx="1389888" cy="1389888"/>
          </a:xfrm>
        </p:grpSpPr>
        <p:sp>
          <p:nvSpPr>
            <p:cNvPr name="Freeform 18" id="18"/>
            <p:cNvSpPr/>
            <p:nvPr/>
          </p:nvSpPr>
          <p:spPr>
            <a:xfrm flipH="false" flipV="false" rot="0">
              <a:off x="0" y="0"/>
              <a:ext cx="1389888" cy="1389888"/>
            </a:xfrm>
            <a:custGeom>
              <a:avLst/>
              <a:gdLst/>
              <a:ahLst/>
              <a:cxnLst/>
              <a:rect r="r" b="b" t="t" l="l"/>
              <a:pathLst>
                <a:path h="1389888" w="1389888">
                  <a:moveTo>
                    <a:pt x="0" y="0"/>
                  </a:moveTo>
                  <a:lnTo>
                    <a:pt x="1389888" y="0"/>
                  </a:lnTo>
                  <a:lnTo>
                    <a:pt x="1389888" y="1389888"/>
                  </a:lnTo>
                  <a:lnTo>
                    <a:pt x="0" y="1389888"/>
                  </a:lnTo>
                  <a:close/>
                </a:path>
              </a:pathLst>
            </a:custGeom>
            <a:blipFill>
              <a:blip r:embed="rId9">
                <a:alphaModFix amt="0"/>
              </a:blip>
              <a:stretch>
                <a:fillRect l="-78303" t="0" r="-78303" b="0"/>
              </a:stretch>
            </a:blipFill>
          </p:spPr>
        </p:sp>
        <p:sp>
          <p:nvSpPr>
            <p:cNvPr name="TextBox 19" id="19"/>
            <p:cNvSpPr txBox="true"/>
            <p:nvPr/>
          </p:nvSpPr>
          <p:spPr>
            <a:xfrm>
              <a:off x="0" y="-38100"/>
              <a:ext cx="1389888" cy="1427988"/>
            </a:xfrm>
            <a:prstGeom prst="rect">
              <a:avLst/>
            </a:prstGeom>
          </p:spPr>
          <p:txBody>
            <a:bodyPr anchor="ctr" rtlCol="false" tIns="0" lIns="0" bIns="0" rIns="0"/>
            <a:lstStyle/>
            <a:p>
              <a:pPr algn="ctr">
                <a:lnSpc>
                  <a:spcPts val="4500"/>
                </a:lnSpc>
              </a:pPr>
              <a:r>
                <a:rPr lang="en-US" sz="3750" b="true">
                  <a:solidFill>
                    <a:srgbClr val="387F7F"/>
                  </a:solidFill>
                  <a:latin typeface="Poppins Bold"/>
                  <a:ea typeface="Poppins Bold"/>
                  <a:cs typeface="Poppins Bold"/>
                  <a:sym typeface="Poppins Bold"/>
                </a:rPr>
                <a:t>▣</a:t>
              </a:r>
            </a:p>
          </p:txBody>
        </p:sp>
      </p:grpSp>
      <p:grpSp>
        <p:nvGrpSpPr>
          <p:cNvPr name="Group 20" id="20"/>
          <p:cNvGrpSpPr/>
          <p:nvPr/>
        </p:nvGrpSpPr>
        <p:grpSpPr>
          <a:xfrm rot="0">
            <a:off x="1028700" y="4594860"/>
            <a:ext cx="4594860" cy="685800"/>
            <a:chOff x="0" y="0"/>
            <a:chExt cx="6126480" cy="914400"/>
          </a:xfrm>
        </p:grpSpPr>
        <p:sp>
          <p:nvSpPr>
            <p:cNvPr name="Freeform 21" id="21"/>
            <p:cNvSpPr/>
            <p:nvPr/>
          </p:nvSpPr>
          <p:spPr>
            <a:xfrm flipH="false" flipV="false" rot="0">
              <a:off x="0" y="0"/>
              <a:ext cx="6126480" cy="914400"/>
            </a:xfrm>
            <a:custGeom>
              <a:avLst/>
              <a:gdLst/>
              <a:ahLst/>
              <a:cxnLst/>
              <a:rect r="r" b="b" t="t" l="l"/>
              <a:pathLst>
                <a:path h="914400" w="6126480">
                  <a:moveTo>
                    <a:pt x="0" y="0"/>
                  </a:moveTo>
                  <a:lnTo>
                    <a:pt x="6126480" y="0"/>
                  </a:lnTo>
                  <a:lnTo>
                    <a:pt x="6126480" y="914400"/>
                  </a:lnTo>
                  <a:lnTo>
                    <a:pt x="0" y="914400"/>
                  </a:lnTo>
                  <a:close/>
                </a:path>
              </a:pathLst>
            </a:custGeom>
            <a:blipFill>
              <a:blip r:embed="rId9">
                <a:alphaModFix amt="0"/>
              </a:blip>
              <a:stretch>
                <a:fillRect l="0" t="-80549" r="0" b="-80549"/>
              </a:stretch>
            </a:blipFill>
          </p:spPr>
        </p:sp>
        <p:sp>
          <p:nvSpPr>
            <p:cNvPr name="TextBox 22" id="22"/>
            <p:cNvSpPr txBox="true"/>
            <p:nvPr/>
          </p:nvSpPr>
          <p:spPr>
            <a:xfrm>
              <a:off x="0" y="-28575"/>
              <a:ext cx="6126480" cy="942975"/>
            </a:xfrm>
            <a:prstGeom prst="rect">
              <a:avLst/>
            </a:prstGeom>
          </p:spPr>
          <p:txBody>
            <a:bodyPr anchor="ctr" rtlCol="false" tIns="0" lIns="0" bIns="0" rIns="0"/>
            <a:lstStyle/>
            <a:p>
              <a:pPr algn="ctr">
                <a:lnSpc>
                  <a:spcPts val="3960"/>
                </a:lnSpc>
              </a:pPr>
              <a:r>
                <a:rPr lang="en-US" sz="3300" b="true">
                  <a:solidFill>
                    <a:srgbClr val="387F7F"/>
                  </a:solidFill>
                  <a:latin typeface="Poppins Bold"/>
                  <a:ea typeface="Poppins Bold"/>
                  <a:cs typeface="Poppins Bold"/>
                  <a:sym typeface="Poppins Bold"/>
                </a:rPr>
                <a:t>Navigate</a:t>
              </a:r>
            </a:p>
          </p:txBody>
        </p:sp>
      </p:grpSp>
      <p:sp>
        <p:nvSpPr>
          <p:cNvPr name="TextBox 23" id="23"/>
          <p:cNvSpPr txBox="true"/>
          <p:nvPr/>
        </p:nvSpPr>
        <p:spPr>
          <a:xfrm rot="0">
            <a:off x="1440180" y="5332095"/>
            <a:ext cx="3771900" cy="2005965"/>
          </a:xfrm>
          <a:prstGeom prst="rect">
            <a:avLst/>
          </a:prstGeom>
        </p:spPr>
        <p:txBody>
          <a:bodyPr anchor="t" rtlCol="false" tIns="0" lIns="0" bIns="0" rIns="0">
            <a:spAutoFit/>
          </a:bodyPr>
          <a:lstStyle/>
          <a:p>
            <a:pPr algn="ctr">
              <a:lnSpc>
                <a:spcPts val="3159"/>
              </a:lnSpc>
            </a:pPr>
            <a:r>
              <a:rPr lang="en-US" sz="2025">
                <a:solidFill>
                  <a:srgbClr val="475569"/>
                </a:solidFill>
                <a:latin typeface="Poppins"/>
                <a:ea typeface="Poppins"/>
                <a:cs typeface="Poppins"/>
                <a:sym typeface="Poppins"/>
              </a:rPr>
              <a:t>the Power BI Desktop environment and name what each of the four views is for.</a:t>
            </a:r>
          </a:p>
        </p:txBody>
      </p:sp>
      <p:grpSp>
        <p:nvGrpSpPr>
          <p:cNvPr name="Group 24" id="24"/>
          <p:cNvGrpSpPr/>
          <p:nvPr/>
        </p:nvGrpSpPr>
        <p:grpSpPr>
          <a:xfrm rot="0">
            <a:off x="6007608" y="2606040"/>
            <a:ext cx="4594860" cy="4937760"/>
            <a:chOff x="0" y="0"/>
            <a:chExt cx="6126480" cy="6583680"/>
          </a:xfrm>
        </p:grpSpPr>
        <p:sp>
          <p:nvSpPr>
            <p:cNvPr name="Freeform 25" id="25"/>
            <p:cNvSpPr/>
            <p:nvPr/>
          </p:nvSpPr>
          <p:spPr>
            <a:xfrm flipH="false" flipV="false" rot="0">
              <a:off x="0" y="0"/>
              <a:ext cx="6126480" cy="6583680"/>
            </a:xfrm>
            <a:custGeom>
              <a:avLst/>
              <a:gdLst/>
              <a:ahLst/>
              <a:cxnLst/>
              <a:rect r="r" b="b" t="t" l="l"/>
              <a:pathLst>
                <a:path h="6583680" w="6126480">
                  <a:moveTo>
                    <a:pt x="0" y="182880"/>
                  </a:moveTo>
                  <a:cubicBezTo>
                    <a:pt x="0" y="81915"/>
                    <a:pt x="81915" y="0"/>
                    <a:pt x="182880" y="0"/>
                  </a:cubicBezTo>
                  <a:lnTo>
                    <a:pt x="5943600" y="0"/>
                  </a:lnTo>
                  <a:cubicBezTo>
                    <a:pt x="6044565" y="0"/>
                    <a:pt x="6126480" y="81915"/>
                    <a:pt x="6126480" y="182880"/>
                  </a:cubicBezTo>
                  <a:lnTo>
                    <a:pt x="6126480" y="6400800"/>
                  </a:lnTo>
                  <a:cubicBezTo>
                    <a:pt x="6126480" y="6501765"/>
                    <a:pt x="6044565" y="6583680"/>
                    <a:pt x="5943600" y="6583680"/>
                  </a:cubicBezTo>
                  <a:lnTo>
                    <a:pt x="182880" y="6583680"/>
                  </a:lnTo>
                  <a:cubicBezTo>
                    <a:pt x="81915" y="6583680"/>
                    <a:pt x="0" y="6501765"/>
                    <a:pt x="0" y="6400800"/>
                  </a:cubicBezTo>
                  <a:close/>
                </a:path>
              </a:pathLst>
            </a:custGeom>
            <a:solidFill>
              <a:srgbClr val="FFFFFF"/>
            </a:solidFill>
          </p:spPr>
        </p:sp>
      </p:grpSp>
      <p:grpSp>
        <p:nvGrpSpPr>
          <p:cNvPr name="Group 26" id="26"/>
          <p:cNvGrpSpPr/>
          <p:nvPr/>
        </p:nvGrpSpPr>
        <p:grpSpPr>
          <a:xfrm rot="0">
            <a:off x="6007608" y="2606040"/>
            <a:ext cx="4594860" cy="123444"/>
            <a:chOff x="0" y="0"/>
            <a:chExt cx="6126480" cy="164592"/>
          </a:xfrm>
        </p:grpSpPr>
        <p:sp>
          <p:nvSpPr>
            <p:cNvPr name="Freeform 27" id="27"/>
            <p:cNvSpPr/>
            <p:nvPr/>
          </p:nvSpPr>
          <p:spPr>
            <a:xfrm flipH="false" flipV="false" rot="0">
              <a:off x="0" y="0"/>
              <a:ext cx="6126480" cy="164592"/>
            </a:xfrm>
            <a:custGeom>
              <a:avLst/>
              <a:gdLst/>
              <a:ahLst/>
              <a:cxnLst/>
              <a:rect r="r" b="b" t="t" l="l"/>
              <a:pathLst>
                <a:path h="164592" w="6126480">
                  <a:moveTo>
                    <a:pt x="0" y="0"/>
                  </a:moveTo>
                  <a:lnTo>
                    <a:pt x="6126480" y="0"/>
                  </a:lnTo>
                  <a:lnTo>
                    <a:pt x="6126480" y="164592"/>
                  </a:lnTo>
                  <a:lnTo>
                    <a:pt x="0" y="164592"/>
                  </a:lnTo>
                  <a:close/>
                </a:path>
              </a:pathLst>
            </a:custGeom>
            <a:solidFill>
              <a:srgbClr val="387F7F"/>
            </a:solidFill>
          </p:spPr>
        </p:sp>
      </p:grpSp>
      <p:grpSp>
        <p:nvGrpSpPr>
          <p:cNvPr name="Group 28" id="28"/>
          <p:cNvGrpSpPr/>
          <p:nvPr/>
        </p:nvGrpSpPr>
        <p:grpSpPr>
          <a:xfrm rot="0">
            <a:off x="7767161" y="3275171"/>
            <a:ext cx="1075754" cy="1075754"/>
            <a:chOff x="0" y="0"/>
            <a:chExt cx="1434338" cy="1434338"/>
          </a:xfrm>
        </p:grpSpPr>
        <p:sp>
          <p:nvSpPr>
            <p:cNvPr name="Freeform 29" id="29"/>
            <p:cNvSpPr/>
            <p:nvPr/>
          </p:nvSpPr>
          <p:spPr>
            <a:xfrm flipH="false" flipV="false" rot="0">
              <a:off x="0" y="0"/>
              <a:ext cx="1434338" cy="1434338"/>
            </a:xfrm>
            <a:custGeom>
              <a:avLst/>
              <a:gdLst/>
              <a:ahLst/>
              <a:cxnLst/>
              <a:rect r="r" b="b" t="t" l="l"/>
              <a:pathLst>
                <a:path h="1434338" w="1434338">
                  <a:moveTo>
                    <a:pt x="0" y="717169"/>
                  </a:moveTo>
                  <a:cubicBezTo>
                    <a:pt x="0" y="321056"/>
                    <a:pt x="321056" y="0"/>
                    <a:pt x="717169" y="0"/>
                  </a:cubicBezTo>
                  <a:cubicBezTo>
                    <a:pt x="1113282" y="0"/>
                    <a:pt x="1434338" y="321056"/>
                    <a:pt x="1434338" y="717169"/>
                  </a:cubicBezTo>
                  <a:cubicBezTo>
                    <a:pt x="1434338" y="1113282"/>
                    <a:pt x="1113282" y="1434338"/>
                    <a:pt x="717169" y="1434338"/>
                  </a:cubicBezTo>
                  <a:cubicBezTo>
                    <a:pt x="321056" y="1434338"/>
                    <a:pt x="0" y="1113282"/>
                    <a:pt x="0" y="717169"/>
                  </a:cubicBezTo>
                  <a:close/>
                </a:path>
              </a:pathLst>
            </a:custGeom>
            <a:solidFill>
              <a:srgbClr val="FFFFFF"/>
            </a:solidFill>
            <a:ln w="33338" cap="sq">
              <a:solidFill>
                <a:srgbClr val="387F7F"/>
              </a:solidFill>
              <a:prstDash val="solid"/>
              <a:miter/>
            </a:ln>
          </p:spPr>
        </p:sp>
      </p:grpSp>
      <p:grpSp>
        <p:nvGrpSpPr>
          <p:cNvPr name="Group 30" id="30"/>
          <p:cNvGrpSpPr/>
          <p:nvPr/>
        </p:nvGrpSpPr>
        <p:grpSpPr>
          <a:xfrm rot="0">
            <a:off x="7783830" y="3291840"/>
            <a:ext cx="1042416" cy="1042416"/>
            <a:chOff x="0" y="0"/>
            <a:chExt cx="1389888" cy="1389888"/>
          </a:xfrm>
        </p:grpSpPr>
        <p:sp>
          <p:nvSpPr>
            <p:cNvPr name="Freeform 31" id="31"/>
            <p:cNvSpPr/>
            <p:nvPr/>
          </p:nvSpPr>
          <p:spPr>
            <a:xfrm flipH="false" flipV="false" rot="0">
              <a:off x="0" y="0"/>
              <a:ext cx="1389888" cy="1389888"/>
            </a:xfrm>
            <a:custGeom>
              <a:avLst/>
              <a:gdLst/>
              <a:ahLst/>
              <a:cxnLst/>
              <a:rect r="r" b="b" t="t" l="l"/>
              <a:pathLst>
                <a:path h="1389888" w="1389888">
                  <a:moveTo>
                    <a:pt x="0" y="0"/>
                  </a:moveTo>
                  <a:lnTo>
                    <a:pt x="1389888" y="0"/>
                  </a:lnTo>
                  <a:lnTo>
                    <a:pt x="1389888" y="1389888"/>
                  </a:lnTo>
                  <a:lnTo>
                    <a:pt x="0" y="1389888"/>
                  </a:lnTo>
                  <a:close/>
                </a:path>
              </a:pathLst>
            </a:custGeom>
            <a:blipFill>
              <a:blip r:embed="rId9">
                <a:alphaModFix amt="0"/>
              </a:blip>
              <a:stretch>
                <a:fillRect l="-78303" t="0" r="-78303" b="0"/>
              </a:stretch>
            </a:blipFill>
          </p:spPr>
        </p:sp>
        <p:sp>
          <p:nvSpPr>
            <p:cNvPr name="TextBox 32" id="32"/>
            <p:cNvSpPr txBox="true"/>
            <p:nvPr/>
          </p:nvSpPr>
          <p:spPr>
            <a:xfrm>
              <a:off x="0" y="-38100"/>
              <a:ext cx="1389888" cy="1427988"/>
            </a:xfrm>
            <a:prstGeom prst="rect">
              <a:avLst/>
            </a:prstGeom>
          </p:spPr>
          <p:txBody>
            <a:bodyPr anchor="ctr" rtlCol="false" tIns="0" lIns="0" bIns="0" rIns="0"/>
            <a:lstStyle/>
            <a:p>
              <a:pPr algn="ctr">
                <a:lnSpc>
                  <a:spcPts val="4500"/>
                </a:lnSpc>
              </a:pPr>
              <a:r>
                <a:rPr lang="en-US" sz="3750" b="true">
                  <a:solidFill>
                    <a:srgbClr val="387F7F"/>
                  </a:solidFill>
                  <a:latin typeface="Poppins Bold"/>
                  <a:ea typeface="Poppins Bold"/>
                  <a:cs typeface="Poppins Bold"/>
                  <a:sym typeface="Poppins Bold"/>
                </a:rPr>
                <a:t>↓</a:t>
              </a:r>
            </a:p>
          </p:txBody>
        </p:sp>
      </p:grpSp>
      <p:grpSp>
        <p:nvGrpSpPr>
          <p:cNvPr name="Group 33" id="33"/>
          <p:cNvGrpSpPr/>
          <p:nvPr/>
        </p:nvGrpSpPr>
        <p:grpSpPr>
          <a:xfrm rot="0">
            <a:off x="6007608" y="4594860"/>
            <a:ext cx="4594860" cy="685800"/>
            <a:chOff x="0" y="0"/>
            <a:chExt cx="6126480" cy="914400"/>
          </a:xfrm>
        </p:grpSpPr>
        <p:sp>
          <p:nvSpPr>
            <p:cNvPr name="Freeform 34" id="34"/>
            <p:cNvSpPr/>
            <p:nvPr/>
          </p:nvSpPr>
          <p:spPr>
            <a:xfrm flipH="false" flipV="false" rot="0">
              <a:off x="0" y="0"/>
              <a:ext cx="6126480" cy="914400"/>
            </a:xfrm>
            <a:custGeom>
              <a:avLst/>
              <a:gdLst/>
              <a:ahLst/>
              <a:cxnLst/>
              <a:rect r="r" b="b" t="t" l="l"/>
              <a:pathLst>
                <a:path h="914400" w="6126480">
                  <a:moveTo>
                    <a:pt x="0" y="0"/>
                  </a:moveTo>
                  <a:lnTo>
                    <a:pt x="6126480" y="0"/>
                  </a:lnTo>
                  <a:lnTo>
                    <a:pt x="6126480" y="914400"/>
                  </a:lnTo>
                  <a:lnTo>
                    <a:pt x="0" y="914400"/>
                  </a:lnTo>
                  <a:close/>
                </a:path>
              </a:pathLst>
            </a:custGeom>
            <a:blipFill>
              <a:blip r:embed="rId9">
                <a:alphaModFix amt="0"/>
              </a:blip>
              <a:stretch>
                <a:fillRect l="0" t="-80549" r="0" b="-80549"/>
              </a:stretch>
            </a:blipFill>
          </p:spPr>
        </p:sp>
        <p:sp>
          <p:nvSpPr>
            <p:cNvPr name="TextBox 35" id="35"/>
            <p:cNvSpPr txBox="true"/>
            <p:nvPr/>
          </p:nvSpPr>
          <p:spPr>
            <a:xfrm>
              <a:off x="0" y="-28575"/>
              <a:ext cx="6126480" cy="942975"/>
            </a:xfrm>
            <a:prstGeom prst="rect">
              <a:avLst/>
            </a:prstGeom>
          </p:spPr>
          <p:txBody>
            <a:bodyPr anchor="ctr" rtlCol="false" tIns="0" lIns="0" bIns="0" rIns="0"/>
            <a:lstStyle/>
            <a:p>
              <a:pPr algn="ctr">
                <a:lnSpc>
                  <a:spcPts val="3960"/>
                </a:lnSpc>
              </a:pPr>
              <a:r>
                <a:rPr lang="en-US" sz="3300" b="true">
                  <a:solidFill>
                    <a:srgbClr val="387F7F"/>
                  </a:solidFill>
                  <a:latin typeface="Poppins Bold"/>
                  <a:ea typeface="Poppins Bold"/>
                  <a:cs typeface="Poppins Bold"/>
                  <a:sym typeface="Poppins Bold"/>
                </a:rPr>
                <a:t>Load</a:t>
              </a:r>
            </a:p>
          </p:txBody>
        </p:sp>
      </p:grpSp>
      <p:sp>
        <p:nvSpPr>
          <p:cNvPr name="TextBox 36" id="36"/>
          <p:cNvSpPr txBox="true"/>
          <p:nvPr/>
        </p:nvSpPr>
        <p:spPr>
          <a:xfrm rot="0">
            <a:off x="6419088" y="5332095"/>
            <a:ext cx="3771900" cy="2005965"/>
          </a:xfrm>
          <a:prstGeom prst="rect">
            <a:avLst/>
          </a:prstGeom>
        </p:spPr>
        <p:txBody>
          <a:bodyPr anchor="t" rtlCol="false" tIns="0" lIns="0" bIns="0" rIns="0">
            <a:spAutoFit/>
          </a:bodyPr>
          <a:lstStyle/>
          <a:p>
            <a:pPr algn="ctr">
              <a:lnSpc>
                <a:spcPts val="3159"/>
              </a:lnSpc>
            </a:pPr>
            <a:r>
              <a:rPr lang="en-US" sz="2025">
                <a:solidFill>
                  <a:srgbClr val="475569"/>
                </a:solidFill>
                <a:latin typeface="Poppins"/>
                <a:ea typeface="Poppins"/>
                <a:cs typeface="Poppins"/>
                <a:sym typeface="Poppins"/>
              </a:rPr>
              <a:t>the SwiftRoute data through Power Query and apply transformations that survive a refresh.</a:t>
            </a:r>
          </a:p>
        </p:txBody>
      </p:sp>
      <p:grpSp>
        <p:nvGrpSpPr>
          <p:cNvPr name="Group 37" id="37"/>
          <p:cNvGrpSpPr/>
          <p:nvPr/>
        </p:nvGrpSpPr>
        <p:grpSpPr>
          <a:xfrm rot="0">
            <a:off x="10986516" y="2606040"/>
            <a:ext cx="4594860" cy="4937760"/>
            <a:chOff x="0" y="0"/>
            <a:chExt cx="6126480" cy="6583680"/>
          </a:xfrm>
        </p:grpSpPr>
        <p:sp>
          <p:nvSpPr>
            <p:cNvPr name="Freeform 38" id="38"/>
            <p:cNvSpPr/>
            <p:nvPr/>
          </p:nvSpPr>
          <p:spPr>
            <a:xfrm flipH="false" flipV="false" rot="0">
              <a:off x="0" y="0"/>
              <a:ext cx="6126480" cy="6583680"/>
            </a:xfrm>
            <a:custGeom>
              <a:avLst/>
              <a:gdLst/>
              <a:ahLst/>
              <a:cxnLst/>
              <a:rect r="r" b="b" t="t" l="l"/>
              <a:pathLst>
                <a:path h="6583680" w="6126480">
                  <a:moveTo>
                    <a:pt x="0" y="182880"/>
                  </a:moveTo>
                  <a:cubicBezTo>
                    <a:pt x="0" y="81915"/>
                    <a:pt x="81915" y="0"/>
                    <a:pt x="182880" y="0"/>
                  </a:cubicBezTo>
                  <a:lnTo>
                    <a:pt x="5943600" y="0"/>
                  </a:lnTo>
                  <a:cubicBezTo>
                    <a:pt x="6044565" y="0"/>
                    <a:pt x="6126480" y="81915"/>
                    <a:pt x="6126480" y="182880"/>
                  </a:cubicBezTo>
                  <a:lnTo>
                    <a:pt x="6126480" y="6400800"/>
                  </a:lnTo>
                  <a:cubicBezTo>
                    <a:pt x="6126480" y="6501765"/>
                    <a:pt x="6044565" y="6583680"/>
                    <a:pt x="5943600" y="6583680"/>
                  </a:cubicBezTo>
                  <a:lnTo>
                    <a:pt x="182880" y="6583680"/>
                  </a:lnTo>
                  <a:cubicBezTo>
                    <a:pt x="81915" y="6583680"/>
                    <a:pt x="0" y="6501765"/>
                    <a:pt x="0" y="6400800"/>
                  </a:cubicBezTo>
                  <a:close/>
                </a:path>
              </a:pathLst>
            </a:custGeom>
            <a:solidFill>
              <a:srgbClr val="FFFFFF"/>
            </a:solidFill>
          </p:spPr>
        </p:sp>
      </p:grpSp>
      <p:grpSp>
        <p:nvGrpSpPr>
          <p:cNvPr name="Group 39" id="39"/>
          <p:cNvGrpSpPr/>
          <p:nvPr/>
        </p:nvGrpSpPr>
        <p:grpSpPr>
          <a:xfrm rot="0">
            <a:off x="10986516" y="2606040"/>
            <a:ext cx="4594860" cy="123444"/>
            <a:chOff x="0" y="0"/>
            <a:chExt cx="6126480" cy="164592"/>
          </a:xfrm>
        </p:grpSpPr>
        <p:sp>
          <p:nvSpPr>
            <p:cNvPr name="Freeform 40" id="40"/>
            <p:cNvSpPr/>
            <p:nvPr/>
          </p:nvSpPr>
          <p:spPr>
            <a:xfrm flipH="false" flipV="false" rot="0">
              <a:off x="0" y="0"/>
              <a:ext cx="6126480" cy="164592"/>
            </a:xfrm>
            <a:custGeom>
              <a:avLst/>
              <a:gdLst/>
              <a:ahLst/>
              <a:cxnLst/>
              <a:rect r="r" b="b" t="t" l="l"/>
              <a:pathLst>
                <a:path h="164592" w="6126480">
                  <a:moveTo>
                    <a:pt x="0" y="0"/>
                  </a:moveTo>
                  <a:lnTo>
                    <a:pt x="6126480" y="0"/>
                  </a:lnTo>
                  <a:lnTo>
                    <a:pt x="6126480" y="164592"/>
                  </a:lnTo>
                  <a:lnTo>
                    <a:pt x="0" y="164592"/>
                  </a:lnTo>
                  <a:close/>
                </a:path>
              </a:pathLst>
            </a:custGeom>
            <a:solidFill>
              <a:srgbClr val="387F7F"/>
            </a:solidFill>
          </p:spPr>
        </p:sp>
      </p:grpSp>
      <p:grpSp>
        <p:nvGrpSpPr>
          <p:cNvPr name="Group 41" id="41"/>
          <p:cNvGrpSpPr/>
          <p:nvPr/>
        </p:nvGrpSpPr>
        <p:grpSpPr>
          <a:xfrm rot="0">
            <a:off x="12746069" y="3275171"/>
            <a:ext cx="1075754" cy="1075754"/>
            <a:chOff x="0" y="0"/>
            <a:chExt cx="1434338" cy="1434338"/>
          </a:xfrm>
        </p:grpSpPr>
        <p:sp>
          <p:nvSpPr>
            <p:cNvPr name="Freeform 42" id="42"/>
            <p:cNvSpPr/>
            <p:nvPr/>
          </p:nvSpPr>
          <p:spPr>
            <a:xfrm flipH="false" flipV="false" rot="0">
              <a:off x="0" y="0"/>
              <a:ext cx="1434338" cy="1434338"/>
            </a:xfrm>
            <a:custGeom>
              <a:avLst/>
              <a:gdLst/>
              <a:ahLst/>
              <a:cxnLst/>
              <a:rect r="r" b="b" t="t" l="l"/>
              <a:pathLst>
                <a:path h="1434338" w="1434338">
                  <a:moveTo>
                    <a:pt x="0" y="717169"/>
                  </a:moveTo>
                  <a:cubicBezTo>
                    <a:pt x="0" y="321056"/>
                    <a:pt x="321056" y="0"/>
                    <a:pt x="717169" y="0"/>
                  </a:cubicBezTo>
                  <a:cubicBezTo>
                    <a:pt x="1113282" y="0"/>
                    <a:pt x="1434338" y="321056"/>
                    <a:pt x="1434338" y="717169"/>
                  </a:cubicBezTo>
                  <a:cubicBezTo>
                    <a:pt x="1434338" y="1113282"/>
                    <a:pt x="1113282" y="1434338"/>
                    <a:pt x="717169" y="1434338"/>
                  </a:cubicBezTo>
                  <a:cubicBezTo>
                    <a:pt x="321056" y="1434338"/>
                    <a:pt x="0" y="1113282"/>
                    <a:pt x="0" y="717169"/>
                  </a:cubicBezTo>
                  <a:close/>
                </a:path>
              </a:pathLst>
            </a:custGeom>
            <a:solidFill>
              <a:srgbClr val="FFFFFF"/>
            </a:solidFill>
            <a:ln w="33338" cap="sq">
              <a:solidFill>
                <a:srgbClr val="387F7F"/>
              </a:solidFill>
              <a:prstDash val="solid"/>
              <a:miter/>
            </a:ln>
          </p:spPr>
        </p:sp>
      </p:grpSp>
      <p:grpSp>
        <p:nvGrpSpPr>
          <p:cNvPr name="Group 43" id="43"/>
          <p:cNvGrpSpPr/>
          <p:nvPr/>
        </p:nvGrpSpPr>
        <p:grpSpPr>
          <a:xfrm rot="0">
            <a:off x="12762738" y="3291840"/>
            <a:ext cx="1042416" cy="1042416"/>
            <a:chOff x="0" y="0"/>
            <a:chExt cx="1389888" cy="1389888"/>
          </a:xfrm>
        </p:grpSpPr>
        <p:sp>
          <p:nvSpPr>
            <p:cNvPr name="Freeform 44" id="44"/>
            <p:cNvSpPr/>
            <p:nvPr/>
          </p:nvSpPr>
          <p:spPr>
            <a:xfrm flipH="false" flipV="false" rot="0">
              <a:off x="0" y="0"/>
              <a:ext cx="1389888" cy="1389888"/>
            </a:xfrm>
            <a:custGeom>
              <a:avLst/>
              <a:gdLst/>
              <a:ahLst/>
              <a:cxnLst/>
              <a:rect r="r" b="b" t="t" l="l"/>
              <a:pathLst>
                <a:path h="1389888" w="1389888">
                  <a:moveTo>
                    <a:pt x="0" y="0"/>
                  </a:moveTo>
                  <a:lnTo>
                    <a:pt x="1389888" y="0"/>
                  </a:lnTo>
                  <a:lnTo>
                    <a:pt x="1389888" y="1389888"/>
                  </a:lnTo>
                  <a:lnTo>
                    <a:pt x="0" y="1389888"/>
                  </a:lnTo>
                  <a:close/>
                </a:path>
              </a:pathLst>
            </a:custGeom>
            <a:blipFill>
              <a:blip r:embed="rId9">
                <a:alphaModFix amt="0"/>
              </a:blip>
              <a:stretch>
                <a:fillRect l="-78303" t="0" r="-78303" b="0"/>
              </a:stretch>
            </a:blipFill>
          </p:spPr>
        </p:sp>
        <p:sp>
          <p:nvSpPr>
            <p:cNvPr name="TextBox 45" id="45"/>
            <p:cNvSpPr txBox="true"/>
            <p:nvPr/>
          </p:nvSpPr>
          <p:spPr>
            <a:xfrm>
              <a:off x="0" y="-38100"/>
              <a:ext cx="1389888" cy="1427988"/>
            </a:xfrm>
            <a:prstGeom prst="rect">
              <a:avLst/>
            </a:prstGeom>
          </p:spPr>
          <p:txBody>
            <a:bodyPr anchor="ctr" rtlCol="false" tIns="0" lIns="0" bIns="0" rIns="0"/>
            <a:lstStyle/>
            <a:p>
              <a:pPr algn="ctr">
                <a:lnSpc>
                  <a:spcPts val="4500"/>
                </a:lnSpc>
              </a:pPr>
              <a:r>
                <a:rPr lang="en-US" sz="3750" b="true">
                  <a:solidFill>
                    <a:srgbClr val="387F7F"/>
                  </a:solidFill>
                  <a:latin typeface="Poppins Bold"/>
                  <a:ea typeface="Poppins Bold"/>
                  <a:cs typeface="Poppins Bold"/>
                  <a:sym typeface="Poppins Bold"/>
                </a:rPr>
                <a:t>⇄</a:t>
              </a:r>
            </a:p>
          </p:txBody>
        </p:sp>
      </p:grpSp>
      <p:grpSp>
        <p:nvGrpSpPr>
          <p:cNvPr name="Group 46" id="46"/>
          <p:cNvGrpSpPr/>
          <p:nvPr/>
        </p:nvGrpSpPr>
        <p:grpSpPr>
          <a:xfrm rot="0">
            <a:off x="10986516" y="4594860"/>
            <a:ext cx="4594860" cy="685800"/>
            <a:chOff x="0" y="0"/>
            <a:chExt cx="6126480" cy="914400"/>
          </a:xfrm>
        </p:grpSpPr>
        <p:sp>
          <p:nvSpPr>
            <p:cNvPr name="Freeform 47" id="47"/>
            <p:cNvSpPr/>
            <p:nvPr/>
          </p:nvSpPr>
          <p:spPr>
            <a:xfrm flipH="false" flipV="false" rot="0">
              <a:off x="0" y="0"/>
              <a:ext cx="6126480" cy="914400"/>
            </a:xfrm>
            <a:custGeom>
              <a:avLst/>
              <a:gdLst/>
              <a:ahLst/>
              <a:cxnLst/>
              <a:rect r="r" b="b" t="t" l="l"/>
              <a:pathLst>
                <a:path h="914400" w="6126480">
                  <a:moveTo>
                    <a:pt x="0" y="0"/>
                  </a:moveTo>
                  <a:lnTo>
                    <a:pt x="6126480" y="0"/>
                  </a:lnTo>
                  <a:lnTo>
                    <a:pt x="6126480" y="914400"/>
                  </a:lnTo>
                  <a:lnTo>
                    <a:pt x="0" y="914400"/>
                  </a:lnTo>
                  <a:close/>
                </a:path>
              </a:pathLst>
            </a:custGeom>
            <a:blipFill>
              <a:blip r:embed="rId9">
                <a:alphaModFix amt="0"/>
              </a:blip>
              <a:stretch>
                <a:fillRect l="0" t="-80549" r="0" b="-80549"/>
              </a:stretch>
            </a:blipFill>
          </p:spPr>
        </p:sp>
        <p:sp>
          <p:nvSpPr>
            <p:cNvPr name="TextBox 48" id="48"/>
            <p:cNvSpPr txBox="true"/>
            <p:nvPr/>
          </p:nvSpPr>
          <p:spPr>
            <a:xfrm>
              <a:off x="0" y="-28575"/>
              <a:ext cx="6126480" cy="942975"/>
            </a:xfrm>
            <a:prstGeom prst="rect">
              <a:avLst/>
            </a:prstGeom>
          </p:spPr>
          <p:txBody>
            <a:bodyPr anchor="ctr" rtlCol="false" tIns="0" lIns="0" bIns="0" rIns="0"/>
            <a:lstStyle/>
            <a:p>
              <a:pPr algn="ctr">
                <a:lnSpc>
                  <a:spcPts val="3960"/>
                </a:lnSpc>
              </a:pPr>
              <a:r>
                <a:rPr lang="en-US" sz="3300" b="true">
                  <a:solidFill>
                    <a:srgbClr val="387F7F"/>
                  </a:solidFill>
                  <a:latin typeface="Poppins Bold"/>
                  <a:ea typeface="Poppins Bold"/>
                  <a:cs typeface="Poppins Bold"/>
                  <a:sym typeface="Poppins Bold"/>
                </a:rPr>
                <a:t>Explain</a:t>
              </a:r>
            </a:p>
          </p:txBody>
        </p:sp>
      </p:grpSp>
      <p:sp>
        <p:nvSpPr>
          <p:cNvPr name="TextBox 49" id="49"/>
          <p:cNvSpPr txBox="true"/>
          <p:nvPr/>
        </p:nvSpPr>
        <p:spPr>
          <a:xfrm rot="0">
            <a:off x="11397996" y="5332095"/>
            <a:ext cx="3771900" cy="2005965"/>
          </a:xfrm>
          <a:prstGeom prst="rect">
            <a:avLst/>
          </a:prstGeom>
        </p:spPr>
        <p:txBody>
          <a:bodyPr anchor="t" rtlCol="false" tIns="0" lIns="0" bIns="0" rIns="0">
            <a:spAutoFit/>
          </a:bodyPr>
          <a:lstStyle/>
          <a:p>
            <a:pPr algn="ctr">
              <a:lnSpc>
                <a:spcPts val="3159"/>
              </a:lnSpc>
            </a:pPr>
            <a:r>
              <a:rPr lang="en-US" sz="2025">
                <a:solidFill>
                  <a:srgbClr val="475569"/>
                </a:solidFill>
                <a:latin typeface="Poppins"/>
                <a:ea typeface="Poppins"/>
                <a:cs typeface="Poppins"/>
                <a:sym typeface="Poppins"/>
              </a:rPr>
              <a:t>how Power BI's pipeline mirrors the Excel and SQL workflows already learned.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791021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Before we open anything</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sp>
        <p:nvSpPr>
          <p:cNvPr name="TextBox 11" id="11"/>
          <p:cNvSpPr txBox="true"/>
          <p:nvPr/>
        </p:nvSpPr>
        <p:spPr>
          <a:xfrm rot="0">
            <a:off x="1028700" y="2697480"/>
            <a:ext cx="15636240" cy="662940"/>
          </a:xfrm>
          <a:prstGeom prst="rect">
            <a:avLst/>
          </a:prstGeom>
        </p:spPr>
        <p:txBody>
          <a:bodyPr anchor="t" rtlCol="false" tIns="0" lIns="0" bIns="0" rIns="0">
            <a:spAutoFit/>
          </a:bodyPr>
          <a:lstStyle/>
          <a:p>
            <a:pPr algn="l">
              <a:lnSpc>
                <a:spcPts val="3888"/>
              </a:lnSpc>
            </a:pPr>
            <a:r>
              <a:rPr lang="en-US" sz="2400" i="true">
                <a:solidFill>
                  <a:srgbClr val="64748B"/>
                </a:solidFill>
                <a:latin typeface="Poppins Italics"/>
                <a:ea typeface="Poppins Italics"/>
                <a:cs typeface="Poppins Italics"/>
                <a:sym typeface="Poppins Italics"/>
              </a:rPr>
              <a:t>Answer from memory. Notes closed. You have four minutes.</a:t>
            </a:r>
          </a:p>
        </p:txBody>
      </p:sp>
      <p:grpSp>
        <p:nvGrpSpPr>
          <p:cNvPr name="Group 12" id="12"/>
          <p:cNvGrpSpPr/>
          <p:nvPr/>
        </p:nvGrpSpPr>
        <p:grpSpPr>
          <a:xfrm rot="0">
            <a:off x="1028700" y="3771900"/>
            <a:ext cx="15636240" cy="1371600"/>
            <a:chOff x="0" y="0"/>
            <a:chExt cx="20848320" cy="1828800"/>
          </a:xfrm>
        </p:grpSpPr>
        <p:sp>
          <p:nvSpPr>
            <p:cNvPr name="Freeform 13" id="13"/>
            <p:cNvSpPr/>
            <p:nvPr/>
          </p:nvSpPr>
          <p:spPr>
            <a:xfrm flipH="false" flipV="false" rot="0">
              <a:off x="0" y="0"/>
              <a:ext cx="20848320" cy="1828800"/>
            </a:xfrm>
            <a:custGeom>
              <a:avLst/>
              <a:gdLst/>
              <a:ahLst/>
              <a:cxnLst/>
              <a:rect r="r" b="b" t="t" l="l"/>
              <a:pathLst>
                <a:path h="1828800" w="20848320">
                  <a:moveTo>
                    <a:pt x="0" y="182880"/>
                  </a:moveTo>
                  <a:cubicBezTo>
                    <a:pt x="0" y="81915"/>
                    <a:pt x="81915" y="0"/>
                    <a:pt x="182880" y="0"/>
                  </a:cubicBezTo>
                  <a:lnTo>
                    <a:pt x="20665439" y="0"/>
                  </a:lnTo>
                  <a:cubicBezTo>
                    <a:pt x="20766404" y="0"/>
                    <a:pt x="20848320" y="81915"/>
                    <a:pt x="20848320" y="182880"/>
                  </a:cubicBezTo>
                  <a:lnTo>
                    <a:pt x="20848320" y="1645920"/>
                  </a:lnTo>
                  <a:cubicBezTo>
                    <a:pt x="20848320" y="1746885"/>
                    <a:pt x="20766404" y="1828800"/>
                    <a:pt x="20665439" y="1828800"/>
                  </a:cubicBezTo>
                  <a:lnTo>
                    <a:pt x="182880" y="1828800"/>
                  </a:lnTo>
                  <a:cubicBezTo>
                    <a:pt x="81915" y="1828800"/>
                    <a:pt x="0" y="1746885"/>
                    <a:pt x="0" y="1645920"/>
                  </a:cubicBezTo>
                  <a:close/>
                </a:path>
              </a:pathLst>
            </a:custGeom>
            <a:solidFill>
              <a:srgbClr val="FFFFFF"/>
            </a:solidFill>
          </p:spPr>
        </p:sp>
      </p:grpSp>
      <p:grpSp>
        <p:nvGrpSpPr>
          <p:cNvPr name="Group 14" id="14"/>
          <p:cNvGrpSpPr/>
          <p:nvPr/>
        </p:nvGrpSpPr>
        <p:grpSpPr>
          <a:xfrm rot="0">
            <a:off x="1440180" y="4114800"/>
            <a:ext cx="685800" cy="685800"/>
            <a:chOff x="0" y="0"/>
            <a:chExt cx="914400" cy="914400"/>
          </a:xfrm>
        </p:grpSpPr>
        <p:sp>
          <p:nvSpPr>
            <p:cNvPr name="Freeform 15" id="1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16" id="16"/>
          <p:cNvGrpSpPr/>
          <p:nvPr/>
        </p:nvGrpSpPr>
        <p:grpSpPr>
          <a:xfrm rot="0">
            <a:off x="1440180" y="4114800"/>
            <a:ext cx="685800" cy="685800"/>
            <a:chOff x="0" y="0"/>
            <a:chExt cx="914400" cy="914400"/>
          </a:xfrm>
        </p:grpSpPr>
        <p:sp>
          <p:nvSpPr>
            <p:cNvPr name="Freeform 17" id="17"/>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18" id="18"/>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1</a:t>
              </a:r>
            </a:p>
          </p:txBody>
        </p:sp>
      </p:grpSp>
      <p:grpSp>
        <p:nvGrpSpPr>
          <p:cNvPr name="Group 19" id="19"/>
          <p:cNvGrpSpPr/>
          <p:nvPr/>
        </p:nvGrpSpPr>
        <p:grpSpPr>
          <a:xfrm rot="0">
            <a:off x="2468880" y="3771900"/>
            <a:ext cx="11521440" cy="1371600"/>
            <a:chOff x="0" y="0"/>
            <a:chExt cx="15361920" cy="1828800"/>
          </a:xfrm>
        </p:grpSpPr>
        <p:sp>
          <p:nvSpPr>
            <p:cNvPr name="Freeform 20" id="20"/>
            <p:cNvSpPr/>
            <p:nvPr/>
          </p:nvSpPr>
          <p:spPr>
            <a:xfrm flipH="false" flipV="false" rot="0">
              <a:off x="0" y="0"/>
              <a:ext cx="15361920" cy="1828800"/>
            </a:xfrm>
            <a:custGeom>
              <a:avLst/>
              <a:gdLst/>
              <a:ahLst/>
              <a:cxnLst/>
              <a:rect r="r" b="b" t="t" l="l"/>
              <a:pathLst>
                <a:path h="1828800" w="15361920">
                  <a:moveTo>
                    <a:pt x="0" y="0"/>
                  </a:moveTo>
                  <a:lnTo>
                    <a:pt x="15361920" y="0"/>
                  </a:lnTo>
                  <a:lnTo>
                    <a:pt x="15361920" y="1828800"/>
                  </a:lnTo>
                  <a:lnTo>
                    <a:pt x="0" y="1828800"/>
                  </a:lnTo>
                  <a:close/>
                </a:path>
              </a:pathLst>
            </a:custGeom>
            <a:blipFill>
              <a:blip r:embed="rId9">
                <a:alphaModFix amt="0"/>
              </a:blip>
              <a:stretch>
                <a:fillRect l="0" t="-113674" r="0" b="-113674"/>
              </a:stretch>
            </a:blipFill>
          </p:spPr>
        </p:sp>
        <p:sp>
          <p:nvSpPr>
            <p:cNvPr name="TextBox 21" id="21"/>
            <p:cNvSpPr txBox="true"/>
            <p:nvPr/>
          </p:nvSpPr>
          <p:spPr>
            <a:xfrm>
              <a:off x="0" y="-76200"/>
              <a:ext cx="15361920" cy="1905000"/>
            </a:xfrm>
            <a:prstGeom prst="rect">
              <a:avLst/>
            </a:prstGeom>
          </p:spPr>
          <p:txBody>
            <a:bodyPr anchor="ctr" rtlCol="false" tIns="0" lIns="0" bIns="0" rIns="0"/>
            <a:lstStyle/>
            <a:p>
              <a:pPr algn="l">
                <a:lnSpc>
                  <a:spcPts val="3456"/>
                </a:lnSpc>
              </a:pPr>
              <a:r>
                <a:rPr lang="en-US" sz="2400">
                  <a:solidFill>
                    <a:srgbClr val="475569"/>
                  </a:solidFill>
                  <a:latin typeface="Poppins"/>
                  <a:ea typeface="Poppins"/>
                  <a:cs typeface="Poppins"/>
                  <a:sym typeface="Poppins"/>
                </a:rPr>
                <a:t>Write a SQL query that counts deliveries per route.</a:t>
              </a:r>
            </a:p>
          </p:txBody>
        </p:sp>
      </p:grpSp>
      <p:grpSp>
        <p:nvGrpSpPr>
          <p:cNvPr name="Group 22" id="22"/>
          <p:cNvGrpSpPr/>
          <p:nvPr/>
        </p:nvGrpSpPr>
        <p:grpSpPr>
          <a:xfrm rot="0">
            <a:off x="14196060" y="4183380"/>
            <a:ext cx="1577340" cy="548640"/>
            <a:chOff x="0" y="0"/>
            <a:chExt cx="2103120" cy="731520"/>
          </a:xfrm>
        </p:grpSpPr>
        <p:sp>
          <p:nvSpPr>
            <p:cNvPr name="Freeform 23" id="23"/>
            <p:cNvSpPr/>
            <p:nvPr/>
          </p:nvSpPr>
          <p:spPr>
            <a:xfrm flipH="false" flipV="false" rot="0">
              <a:off x="0" y="0"/>
              <a:ext cx="2103120" cy="731520"/>
            </a:xfrm>
            <a:custGeom>
              <a:avLst/>
              <a:gdLst/>
              <a:ahLst/>
              <a:cxnLst/>
              <a:rect r="r" b="b" t="t" l="l"/>
              <a:pathLst>
                <a:path h="731520" w="2103120">
                  <a:moveTo>
                    <a:pt x="0" y="365760"/>
                  </a:moveTo>
                  <a:cubicBezTo>
                    <a:pt x="0" y="163703"/>
                    <a:pt x="163703" y="0"/>
                    <a:pt x="365760" y="0"/>
                  </a:cubicBezTo>
                  <a:lnTo>
                    <a:pt x="1737360" y="0"/>
                  </a:lnTo>
                  <a:cubicBezTo>
                    <a:pt x="1939417" y="0"/>
                    <a:pt x="2103120" y="163703"/>
                    <a:pt x="2103120" y="365760"/>
                  </a:cubicBezTo>
                  <a:cubicBezTo>
                    <a:pt x="2103120" y="567817"/>
                    <a:pt x="1939417" y="731520"/>
                    <a:pt x="1737360" y="731520"/>
                  </a:cubicBezTo>
                  <a:lnTo>
                    <a:pt x="365760" y="731520"/>
                  </a:lnTo>
                  <a:cubicBezTo>
                    <a:pt x="163703" y="731520"/>
                    <a:pt x="0" y="567817"/>
                    <a:pt x="0" y="365760"/>
                  </a:cubicBezTo>
                  <a:close/>
                </a:path>
              </a:pathLst>
            </a:custGeom>
            <a:solidFill>
              <a:srgbClr val="EEF4F4"/>
            </a:solidFill>
          </p:spPr>
        </p:sp>
      </p:grpSp>
      <p:grpSp>
        <p:nvGrpSpPr>
          <p:cNvPr name="Group 24" id="24"/>
          <p:cNvGrpSpPr/>
          <p:nvPr/>
        </p:nvGrpSpPr>
        <p:grpSpPr>
          <a:xfrm rot="0">
            <a:off x="14196060" y="4183380"/>
            <a:ext cx="1577340" cy="548640"/>
            <a:chOff x="0" y="0"/>
            <a:chExt cx="2103120" cy="731520"/>
          </a:xfrm>
        </p:grpSpPr>
        <p:sp>
          <p:nvSpPr>
            <p:cNvPr name="Freeform 25" id="25"/>
            <p:cNvSpPr/>
            <p:nvPr/>
          </p:nvSpPr>
          <p:spPr>
            <a:xfrm flipH="false" flipV="false" rot="0">
              <a:off x="0" y="0"/>
              <a:ext cx="2103120" cy="731520"/>
            </a:xfrm>
            <a:custGeom>
              <a:avLst/>
              <a:gdLst/>
              <a:ahLst/>
              <a:cxnLst/>
              <a:rect r="r" b="b" t="t" l="l"/>
              <a:pathLst>
                <a:path h="731520" w="2103120">
                  <a:moveTo>
                    <a:pt x="0" y="0"/>
                  </a:moveTo>
                  <a:lnTo>
                    <a:pt x="2103120" y="0"/>
                  </a:lnTo>
                  <a:lnTo>
                    <a:pt x="2103120" y="731520"/>
                  </a:lnTo>
                  <a:lnTo>
                    <a:pt x="0" y="731520"/>
                  </a:lnTo>
                  <a:close/>
                </a:path>
              </a:pathLst>
            </a:custGeom>
            <a:blipFill>
              <a:blip r:embed="rId9">
                <a:alphaModFix amt="0"/>
              </a:blip>
              <a:stretch>
                <a:fillRect l="0" t="-6019" r="0" b="-6019"/>
              </a:stretch>
            </a:blipFill>
          </p:spPr>
        </p:sp>
        <p:sp>
          <p:nvSpPr>
            <p:cNvPr name="TextBox 26" id="26"/>
            <p:cNvSpPr txBox="true"/>
            <p:nvPr/>
          </p:nvSpPr>
          <p:spPr>
            <a:xfrm>
              <a:off x="0" y="-19050"/>
              <a:ext cx="2103120" cy="750570"/>
            </a:xfrm>
            <a:prstGeom prst="rect">
              <a:avLst/>
            </a:prstGeom>
          </p:spPr>
          <p:txBody>
            <a:bodyPr anchor="ctr" rtlCol="false" tIns="0" lIns="0" bIns="0" rIns="0"/>
            <a:lstStyle/>
            <a:p>
              <a:pPr algn="ctr">
                <a:lnSpc>
                  <a:spcPts val="1800"/>
                </a:lnSpc>
              </a:pPr>
              <a:r>
                <a:rPr lang="en-US" sz="1500" b="true">
                  <a:solidFill>
                    <a:srgbClr val="387F7F"/>
                  </a:solidFill>
                  <a:latin typeface="Poppins Bold"/>
                  <a:ea typeface="Poppins Bold"/>
                  <a:cs typeface="Poppins Bold"/>
                  <a:sym typeface="Poppins Bold"/>
                </a:rPr>
                <a:t>Module 3</a:t>
              </a:r>
            </a:p>
          </p:txBody>
        </p:sp>
      </p:grpSp>
      <p:grpSp>
        <p:nvGrpSpPr>
          <p:cNvPr name="Group 27" id="27"/>
          <p:cNvGrpSpPr/>
          <p:nvPr/>
        </p:nvGrpSpPr>
        <p:grpSpPr>
          <a:xfrm rot="0">
            <a:off x="1028700" y="5349240"/>
            <a:ext cx="15636240" cy="1371600"/>
            <a:chOff x="0" y="0"/>
            <a:chExt cx="20848320" cy="1828800"/>
          </a:xfrm>
        </p:grpSpPr>
        <p:sp>
          <p:nvSpPr>
            <p:cNvPr name="Freeform 28" id="28"/>
            <p:cNvSpPr/>
            <p:nvPr/>
          </p:nvSpPr>
          <p:spPr>
            <a:xfrm flipH="false" flipV="false" rot="0">
              <a:off x="0" y="0"/>
              <a:ext cx="20848320" cy="1828800"/>
            </a:xfrm>
            <a:custGeom>
              <a:avLst/>
              <a:gdLst/>
              <a:ahLst/>
              <a:cxnLst/>
              <a:rect r="r" b="b" t="t" l="l"/>
              <a:pathLst>
                <a:path h="1828800" w="20848320">
                  <a:moveTo>
                    <a:pt x="0" y="182880"/>
                  </a:moveTo>
                  <a:cubicBezTo>
                    <a:pt x="0" y="81915"/>
                    <a:pt x="81915" y="0"/>
                    <a:pt x="182880" y="0"/>
                  </a:cubicBezTo>
                  <a:lnTo>
                    <a:pt x="20665439" y="0"/>
                  </a:lnTo>
                  <a:cubicBezTo>
                    <a:pt x="20766404" y="0"/>
                    <a:pt x="20848320" y="81915"/>
                    <a:pt x="20848320" y="182880"/>
                  </a:cubicBezTo>
                  <a:lnTo>
                    <a:pt x="20848320" y="1645920"/>
                  </a:lnTo>
                  <a:cubicBezTo>
                    <a:pt x="20848320" y="1746885"/>
                    <a:pt x="20766404" y="1828800"/>
                    <a:pt x="20665439" y="1828800"/>
                  </a:cubicBezTo>
                  <a:lnTo>
                    <a:pt x="182880" y="1828800"/>
                  </a:lnTo>
                  <a:cubicBezTo>
                    <a:pt x="81915" y="1828800"/>
                    <a:pt x="0" y="1746885"/>
                    <a:pt x="0" y="1645920"/>
                  </a:cubicBezTo>
                  <a:close/>
                </a:path>
              </a:pathLst>
            </a:custGeom>
            <a:solidFill>
              <a:srgbClr val="FFFFFF"/>
            </a:solidFill>
          </p:spPr>
        </p:sp>
      </p:grpSp>
      <p:grpSp>
        <p:nvGrpSpPr>
          <p:cNvPr name="Group 29" id="29"/>
          <p:cNvGrpSpPr/>
          <p:nvPr/>
        </p:nvGrpSpPr>
        <p:grpSpPr>
          <a:xfrm rot="0">
            <a:off x="1440180" y="569214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31" id="31"/>
          <p:cNvGrpSpPr/>
          <p:nvPr/>
        </p:nvGrpSpPr>
        <p:grpSpPr>
          <a:xfrm rot="0">
            <a:off x="1440180" y="5692140"/>
            <a:ext cx="685800" cy="685800"/>
            <a:chOff x="0" y="0"/>
            <a:chExt cx="914400" cy="914400"/>
          </a:xfrm>
        </p:grpSpPr>
        <p:sp>
          <p:nvSpPr>
            <p:cNvPr name="Freeform 32" id="3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33" id="33"/>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2</a:t>
              </a:r>
            </a:p>
          </p:txBody>
        </p:sp>
      </p:grpSp>
      <p:grpSp>
        <p:nvGrpSpPr>
          <p:cNvPr name="Group 34" id="34"/>
          <p:cNvGrpSpPr/>
          <p:nvPr/>
        </p:nvGrpSpPr>
        <p:grpSpPr>
          <a:xfrm rot="0">
            <a:off x="2468880" y="5349240"/>
            <a:ext cx="11521440" cy="1371600"/>
            <a:chOff x="0" y="0"/>
            <a:chExt cx="15361920" cy="1828800"/>
          </a:xfrm>
        </p:grpSpPr>
        <p:sp>
          <p:nvSpPr>
            <p:cNvPr name="Freeform 35" id="35"/>
            <p:cNvSpPr/>
            <p:nvPr/>
          </p:nvSpPr>
          <p:spPr>
            <a:xfrm flipH="false" flipV="false" rot="0">
              <a:off x="0" y="0"/>
              <a:ext cx="15361920" cy="1828800"/>
            </a:xfrm>
            <a:custGeom>
              <a:avLst/>
              <a:gdLst/>
              <a:ahLst/>
              <a:cxnLst/>
              <a:rect r="r" b="b" t="t" l="l"/>
              <a:pathLst>
                <a:path h="1828800" w="15361920">
                  <a:moveTo>
                    <a:pt x="0" y="0"/>
                  </a:moveTo>
                  <a:lnTo>
                    <a:pt x="15361920" y="0"/>
                  </a:lnTo>
                  <a:lnTo>
                    <a:pt x="15361920" y="1828800"/>
                  </a:lnTo>
                  <a:lnTo>
                    <a:pt x="0" y="1828800"/>
                  </a:lnTo>
                  <a:close/>
                </a:path>
              </a:pathLst>
            </a:custGeom>
            <a:blipFill>
              <a:blip r:embed="rId9">
                <a:alphaModFix amt="0"/>
              </a:blip>
              <a:stretch>
                <a:fillRect l="0" t="-113674" r="0" b="-113674"/>
              </a:stretch>
            </a:blipFill>
          </p:spPr>
        </p:sp>
        <p:sp>
          <p:nvSpPr>
            <p:cNvPr name="TextBox 36" id="36"/>
            <p:cNvSpPr txBox="true"/>
            <p:nvPr/>
          </p:nvSpPr>
          <p:spPr>
            <a:xfrm>
              <a:off x="0" y="-76200"/>
              <a:ext cx="15361920" cy="1905000"/>
            </a:xfrm>
            <a:prstGeom prst="rect">
              <a:avLst/>
            </a:prstGeom>
          </p:spPr>
          <p:txBody>
            <a:bodyPr anchor="ctr" rtlCol="false" tIns="0" lIns="0" bIns="0" rIns="0"/>
            <a:lstStyle/>
            <a:p>
              <a:pPr algn="l">
                <a:lnSpc>
                  <a:spcPts val="3456"/>
                </a:lnSpc>
              </a:pPr>
              <a:r>
                <a:rPr lang="en-US" sz="2400">
                  <a:solidFill>
                    <a:srgbClr val="475569"/>
                  </a:solidFill>
                  <a:latin typeface="Poppins"/>
                  <a:ea typeface="Poppins"/>
                  <a:cs typeface="Poppins"/>
                  <a:sym typeface="Poppins"/>
                </a:rPr>
                <a:t>In Power Query, what is the difference between removing a column and filtering a row?</a:t>
              </a:r>
            </a:p>
          </p:txBody>
        </p:sp>
      </p:grpSp>
      <p:grpSp>
        <p:nvGrpSpPr>
          <p:cNvPr name="Group 37" id="37"/>
          <p:cNvGrpSpPr/>
          <p:nvPr/>
        </p:nvGrpSpPr>
        <p:grpSpPr>
          <a:xfrm rot="0">
            <a:off x="14196060" y="5760720"/>
            <a:ext cx="1577340" cy="548640"/>
            <a:chOff x="0" y="0"/>
            <a:chExt cx="2103120" cy="731520"/>
          </a:xfrm>
        </p:grpSpPr>
        <p:sp>
          <p:nvSpPr>
            <p:cNvPr name="Freeform 38" id="38"/>
            <p:cNvSpPr/>
            <p:nvPr/>
          </p:nvSpPr>
          <p:spPr>
            <a:xfrm flipH="false" flipV="false" rot="0">
              <a:off x="0" y="0"/>
              <a:ext cx="2103120" cy="731520"/>
            </a:xfrm>
            <a:custGeom>
              <a:avLst/>
              <a:gdLst/>
              <a:ahLst/>
              <a:cxnLst/>
              <a:rect r="r" b="b" t="t" l="l"/>
              <a:pathLst>
                <a:path h="731520" w="2103120">
                  <a:moveTo>
                    <a:pt x="0" y="365760"/>
                  </a:moveTo>
                  <a:cubicBezTo>
                    <a:pt x="0" y="163703"/>
                    <a:pt x="163703" y="0"/>
                    <a:pt x="365760" y="0"/>
                  </a:cubicBezTo>
                  <a:lnTo>
                    <a:pt x="1737360" y="0"/>
                  </a:lnTo>
                  <a:cubicBezTo>
                    <a:pt x="1939417" y="0"/>
                    <a:pt x="2103120" y="163703"/>
                    <a:pt x="2103120" y="365760"/>
                  </a:cubicBezTo>
                  <a:cubicBezTo>
                    <a:pt x="2103120" y="567817"/>
                    <a:pt x="1939417" y="731520"/>
                    <a:pt x="1737360" y="731520"/>
                  </a:cubicBezTo>
                  <a:lnTo>
                    <a:pt x="365760" y="731520"/>
                  </a:lnTo>
                  <a:cubicBezTo>
                    <a:pt x="163703" y="731520"/>
                    <a:pt x="0" y="567817"/>
                    <a:pt x="0" y="365760"/>
                  </a:cubicBezTo>
                  <a:close/>
                </a:path>
              </a:pathLst>
            </a:custGeom>
            <a:solidFill>
              <a:srgbClr val="EEF4F4"/>
            </a:solidFill>
          </p:spPr>
        </p:sp>
      </p:grpSp>
      <p:grpSp>
        <p:nvGrpSpPr>
          <p:cNvPr name="Group 39" id="39"/>
          <p:cNvGrpSpPr/>
          <p:nvPr/>
        </p:nvGrpSpPr>
        <p:grpSpPr>
          <a:xfrm rot="0">
            <a:off x="14196060" y="5760720"/>
            <a:ext cx="1577340" cy="548640"/>
            <a:chOff x="0" y="0"/>
            <a:chExt cx="2103120" cy="731520"/>
          </a:xfrm>
        </p:grpSpPr>
        <p:sp>
          <p:nvSpPr>
            <p:cNvPr name="Freeform 40" id="40"/>
            <p:cNvSpPr/>
            <p:nvPr/>
          </p:nvSpPr>
          <p:spPr>
            <a:xfrm flipH="false" flipV="false" rot="0">
              <a:off x="0" y="0"/>
              <a:ext cx="2103120" cy="731520"/>
            </a:xfrm>
            <a:custGeom>
              <a:avLst/>
              <a:gdLst/>
              <a:ahLst/>
              <a:cxnLst/>
              <a:rect r="r" b="b" t="t" l="l"/>
              <a:pathLst>
                <a:path h="731520" w="2103120">
                  <a:moveTo>
                    <a:pt x="0" y="0"/>
                  </a:moveTo>
                  <a:lnTo>
                    <a:pt x="2103120" y="0"/>
                  </a:lnTo>
                  <a:lnTo>
                    <a:pt x="2103120" y="731520"/>
                  </a:lnTo>
                  <a:lnTo>
                    <a:pt x="0" y="731520"/>
                  </a:lnTo>
                  <a:close/>
                </a:path>
              </a:pathLst>
            </a:custGeom>
            <a:blipFill>
              <a:blip r:embed="rId9">
                <a:alphaModFix amt="0"/>
              </a:blip>
              <a:stretch>
                <a:fillRect l="0" t="-6019" r="0" b="-6019"/>
              </a:stretch>
            </a:blipFill>
          </p:spPr>
        </p:sp>
        <p:sp>
          <p:nvSpPr>
            <p:cNvPr name="TextBox 41" id="41"/>
            <p:cNvSpPr txBox="true"/>
            <p:nvPr/>
          </p:nvSpPr>
          <p:spPr>
            <a:xfrm>
              <a:off x="0" y="-19050"/>
              <a:ext cx="2103120" cy="750570"/>
            </a:xfrm>
            <a:prstGeom prst="rect">
              <a:avLst/>
            </a:prstGeom>
          </p:spPr>
          <p:txBody>
            <a:bodyPr anchor="ctr" rtlCol="false" tIns="0" lIns="0" bIns="0" rIns="0"/>
            <a:lstStyle/>
            <a:p>
              <a:pPr algn="ctr">
                <a:lnSpc>
                  <a:spcPts val="1800"/>
                </a:lnSpc>
              </a:pPr>
              <a:r>
                <a:rPr lang="en-US" sz="1500" b="true">
                  <a:solidFill>
                    <a:srgbClr val="387F7F"/>
                  </a:solidFill>
                  <a:latin typeface="Poppins Bold"/>
                  <a:ea typeface="Poppins Bold"/>
                  <a:cs typeface="Poppins Bold"/>
                  <a:sym typeface="Poppins Bold"/>
                </a:rPr>
                <a:t>Module 2</a:t>
              </a:r>
            </a:p>
          </p:txBody>
        </p:sp>
      </p:grpSp>
      <p:grpSp>
        <p:nvGrpSpPr>
          <p:cNvPr name="Group 42" id="42"/>
          <p:cNvGrpSpPr/>
          <p:nvPr/>
        </p:nvGrpSpPr>
        <p:grpSpPr>
          <a:xfrm rot="0">
            <a:off x="1028700" y="6926580"/>
            <a:ext cx="15636240" cy="1371600"/>
            <a:chOff x="0" y="0"/>
            <a:chExt cx="20848320" cy="1828800"/>
          </a:xfrm>
        </p:grpSpPr>
        <p:sp>
          <p:nvSpPr>
            <p:cNvPr name="Freeform 43" id="43"/>
            <p:cNvSpPr/>
            <p:nvPr/>
          </p:nvSpPr>
          <p:spPr>
            <a:xfrm flipH="false" flipV="false" rot="0">
              <a:off x="0" y="0"/>
              <a:ext cx="20848320" cy="1828800"/>
            </a:xfrm>
            <a:custGeom>
              <a:avLst/>
              <a:gdLst/>
              <a:ahLst/>
              <a:cxnLst/>
              <a:rect r="r" b="b" t="t" l="l"/>
              <a:pathLst>
                <a:path h="1828800" w="20848320">
                  <a:moveTo>
                    <a:pt x="0" y="182880"/>
                  </a:moveTo>
                  <a:cubicBezTo>
                    <a:pt x="0" y="81915"/>
                    <a:pt x="81915" y="0"/>
                    <a:pt x="182880" y="0"/>
                  </a:cubicBezTo>
                  <a:lnTo>
                    <a:pt x="20665439" y="0"/>
                  </a:lnTo>
                  <a:cubicBezTo>
                    <a:pt x="20766404" y="0"/>
                    <a:pt x="20848320" y="81915"/>
                    <a:pt x="20848320" y="182880"/>
                  </a:cubicBezTo>
                  <a:lnTo>
                    <a:pt x="20848320" y="1645920"/>
                  </a:lnTo>
                  <a:cubicBezTo>
                    <a:pt x="20848320" y="1746885"/>
                    <a:pt x="20766404" y="1828800"/>
                    <a:pt x="20665439" y="1828800"/>
                  </a:cubicBezTo>
                  <a:lnTo>
                    <a:pt x="182880" y="1828800"/>
                  </a:lnTo>
                  <a:cubicBezTo>
                    <a:pt x="81915" y="1828800"/>
                    <a:pt x="0" y="1746885"/>
                    <a:pt x="0" y="1645920"/>
                  </a:cubicBezTo>
                  <a:close/>
                </a:path>
              </a:pathLst>
            </a:custGeom>
            <a:solidFill>
              <a:srgbClr val="FFFFFF"/>
            </a:solidFill>
          </p:spPr>
        </p:sp>
      </p:grpSp>
      <p:grpSp>
        <p:nvGrpSpPr>
          <p:cNvPr name="Group 44" id="44"/>
          <p:cNvGrpSpPr/>
          <p:nvPr/>
        </p:nvGrpSpPr>
        <p:grpSpPr>
          <a:xfrm rot="0">
            <a:off x="1440180" y="7269480"/>
            <a:ext cx="685800" cy="685800"/>
            <a:chOff x="0" y="0"/>
            <a:chExt cx="914400" cy="914400"/>
          </a:xfrm>
        </p:grpSpPr>
        <p:sp>
          <p:nvSpPr>
            <p:cNvPr name="Freeform 45" id="4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46" id="46"/>
          <p:cNvGrpSpPr/>
          <p:nvPr/>
        </p:nvGrpSpPr>
        <p:grpSpPr>
          <a:xfrm rot="0">
            <a:off x="1440180" y="7269480"/>
            <a:ext cx="685800" cy="685800"/>
            <a:chOff x="0" y="0"/>
            <a:chExt cx="914400" cy="914400"/>
          </a:xfrm>
        </p:grpSpPr>
        <p:sp>
          <p:nvSpPr>
            <p:cNvPr name="Freeform 47" id="47"/>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48" id="48"/>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3</a:t>
              </a:r>
            </a:p>
          </p:txBody>
        </p:sp>
      </p:grpSp>
      <p:grpSp>
        <p:nvGrpSpPr>
          <p:cNvPr name="Group 49" id="49"/>
          <p:cNvGrpSpPr/>
          <p:nvPr/>
        </p:nvGrpSpPr>
        <p:grpSpPr>
          <a:xfrm rot="0">
            <a:off x="2468880" y="6926580"/>
            <a:ext cx="11521440" cy="1371600"/>
            <a:chOff x="0" y="0"/>
            <a:chExt cx="15361920" cy="1828800"/>
          </a:xfrm>
        </p:grpSpPr>
        <p:sp>
          <p:nvSpPr>
            <p:cNvPr name="Freeform 50" id="50"/>
            <p:cNvSpPr/>
            <p:nvPr/>
          </p:nvSpPr>
          <p:spPr>
            <a:xfrm flipH="false" flipV="false" rot="0">
              <a:off x="0" y="0"/>
              <a:ext cx="15361920" cy="1828800"/>
            </a:xfrm>
            <a:custGeom>
              <a:avLst/>
              <a:gdLst/>
              <a:ahLst/>
              <a:cxnLst/>
              <a:rect r="r" b="b" t="t" l="l"/>
              <a:pathLst>
                <a:path h="1828800" w="15361920">
                  <a:moveTo>
                    <a:pt x="0" y="0"/>
                  </a:moveTo>
                  <a:lnTo>
                    <a:pt x="15361920" y="0"/>
                  </a:lnTo>
                  <a:lnTo>
                    <a:pt x="15361920" y="1828800"/>
                  </a:lnTo>
                  <a:lnTo>
                    <a:pt x="0" y="1828800"/>
                  </a:lnTo>
                  <a:close/>
                </a:path>
              </a:pathLst>
            </a:custGeom>
            <a:blipFill>
              <a:blip r:embed="rId9">
                <a:alphaModFix amt="0"/>
              </a:blip>
              <a:stretch>
                <a:fillRect l="0" t="-113674" r="0" b="-113674"/>
              </a:stretch>
            </a:blipFill>
          </p:spPr>
        </p:sp>
        <p:sp>
          <p:nvSpPr>
            <p:cNvPr name="TextBox 51" id="51"/>
            <p:cNvSpPr txBox="true"/>
            <p:nvPr/>
          </p:nvSpPr>
          <p:spPr>
            <a:xfrm>
              <a:off x="0" y="-76200"/>
              <a:ext cx="15361920" cy="1905000"/>
            </a:xfrm>
            <a:prstGeom prst="rect">
              <a:avLst/>
            </a:prstGeom>
          </p:spPr>
          <p:txBody>
            <a:bodyPr anchor="ctr" rtlCol="false" tIns="0" lIns="0" bIns="0" rIns="0"/>
            <a:lstStyle/>
            <a:p>
              <a:pPr algn="l">
                <a:lnSpc>
                  <a:spcPts val="3456"/>
                </a:lnSpc>
              </a:pPr>
              <a:r>
                <a:rPr lang="en-US" sz="2400">
                  <a:solidFill>
                    <a:srgbClr val="475569"/>
                  </a:solidFill>
                  <a:latin typeface="Poppins"/>
                  <a:ea typeface="Poppins"/>
                  <a:cs typeface="Poppins"/>
                  <a:sym typeface="Poppins"/>
                </a:rPr>
                <a:t>Name one thing that makes a chart dishonest.</a:t>
              </a:r>
            </a:p>
          </p:txBody>
        </p:sp>
      </p:grpSp>
      <p:grpSp>
        <p:nvGrpSpPr>
          <p:cNvPr name="Group 52" id="52"/>
          <p:cNvGrpSpPr/>
          <p:nvPr/>
        </p:nvGrpSpPr>
        <p:grpSpPr>
          <a:xfrm rot="0">
            <a:off x="14196060" y="7338060"/>
            <a:ext cx="1577340" cy="548640"/>
            <a:chOff x="0" y="0"/>
            <a:chExt cx="2103120" cy="731520"/>
          </a:xfrm>
        </p:grpSpPr>
        <p:sp>
          <p:nvSpPr>
            <p:cNvPr name="Freeform 53" id="53"/>
            <p:cNvSpPr/>
            <p:nvPr/>
          </p:nvSpPr>
          <p:spPr>
            <a:xfrm flipH="false" flipV="false" rot="0">
              <a:off x="0" y="0"/>
              <a:ext cx="2103120" cy="731520"/>
            </a:xfrm>
            <a:custGeom>
              <a:avLst/>
              <a:gdLst/>
              <a:ahLst/>
              <a:cxnLst/>
              <a:rect r="r" b="b" t="t" l="l"/>
              <a:pathLst>
                <a:path h="731520" w="2103120">
                  <a:moveTo>
                    <a:pt x="0" y="365760"/>
                  </a:moveTo>
                  <a:cubicBezTo>
                    <a:pt x="0" y="163703"/>
                    <a:pt x="163703" y="0"/>
                    <a:pt x="365760" y="0"/>
                  </a:cubicBezTo>
                  <a:lnTo>
                    <a:pt x="1737360" y="0"/>
                  </a:lnTo>
                  <a:cubicBezTo>
                    <a:pt x="1939417" y="0"/>
                    <a:pt x="2103120" y="163703"/>
                    <a:pt x="2103120" y="365760"/>
                  </a:cubicBezTo>
                  <a:cubicBezTo>
                    <a:pt x="2103120" y="567817"/>
                    <a:pt x="1939417" y="731520"/>
                    <a:pt x="1737360" y="731520"/>
                  </a:cubicBezTo>
                  <a:lnTo>
                    <a:pt x="365760" y="731520"/>
                  </a:lnTo>
                  <a:cubicBezTo>
                    <a:pt x="163703" y="731520"/>
                    <a:pt x="0" y="567817"/>
                    <a:pt x="0" y="365760"/>
                  </a:cubicBezTo>
                  <a:close/>
                </a:path>
              </a:pathLst>
            </a:custGeom>
            <a:solidFill>
              <a:srgbClr val="EEF4F4"/>
            </a:solidFill>
          </p:spPr>
        </p:sp>
      </p:grpSp>
      <p:grpSp>
        <p:nvGrpSpPr>
          <p:cNvPr name="Group 54" id="54"/>
          <p:cNvGrpSpPr/>
          <p:nvPr/>
        </p:nvGrpSpPr>
        <p:grpSpPr>
          <a:xfrm rot="0">
            <a:off x="14196060" y="7338060"/>
            <a:ext cx="1577340" cy="548640"/>
            <a:chOff x="0" y="0"/>
            <a:chExt cx="2103120" cy="731520"/>
          </a:xfrm>
        </p:grpSpPr>
        <p:sp>
          <p:nvSpPr>
            <p:cNvPr name="Freeform 55" id="55"/>
            <p:cNvSpPr/>
            <p:nvPr/>
          </p:nvSpPr>
          <p:spPr>
            <a:xfrm flipH="false" flipV="false" rot="0">
              <a:off x="0" y="0"/>
              <a:ext cx="2103120" cy="731520"/>
            </a:xfrm>
            <a:custGeom>
              <a:avLst/>
              <a:gdLst/>
              <a:ahLst/>
              <a:cxnLst/>
              <a:rect r="r" b="b" t="t" l="l"/>
              <a:pathLst>
                <a:path h="731520" w="2103120">
                  <a:moveTo>
                    <a:pt x="0" y="0"/>
                  </a:moveTo>
                  <a:lnTo>
                    <a:pt x="2103120" y="0"/>
                  </a:lnTo>
                  <a:lnTo>
                    <a:pt x="2103120" y="731520"/>
                  </a:lnTo>
                  <a:lnTo>
                    <a:pt x="0" y="731520"/>
                  </a:lnTo>
                  <a:close/>
                </a:path>
              </a:pathLst>
            </a:custGeom>
            <a:blipFill>
              <a:blip r:embed="rId9">
                <a:alphaModFix amt="0"/>
              </a:blip>
              <a:stretch>
                <a:fillRect l="0" t="-6019" r="0" b="-6019"/>
              </a:stretch>
            </a:blipFill>
          </p:spPr>
        </p:sp>
        <p:sp>
          <p:nvSpPr>
            <p:cNvPr name="TextBox 56" id="56"/>
            <p:cNvSpPr txBox="true"/>
            <p:nvPr/>
          </p:nvSpPr>
          <p:spPr>
            <a:xfrm>
              <a:off x="0" y="-19050"/>
              <a:ext cx="2103120" cy="750570"/>
            </a:xfrm>
            <a:prstGeom prst="rect">
              <a:avLst/>
            </a:prstGeom>
          </p:spPr>
          <p:txBody>
            <a:bodyPr anchor="ctr" rtlCol="false" tIns="0" lIns="0" bIns="0" rIns="0"/>
            <a:lstStyle/>
            <a:p>
              <a:pPr algn="ctr">
                <a:lnSpc>
                  <a:spcPts val="1800"/>
                </a:lnSpc>
              </a:pPr>
              <a:r>
                <a:rPr lang="en-US" sz="1500" b="true">
                  <a:solidFill>
                    <a:srgbClr val="387F7F"/>
                  </a:solidFill>
                  <a:latin typeface="Poppins Bold"/>
                  <a:ea typeface="Poppins Bold"/>
                  <a:cs typeface="Poppins Bold"/>
                  <a:sym typeface="Poppins Bold"/>
                </a:rPr>
                <a:t>Module 6</a:t>
              </a:r>
            </a:p>
          </p:txBody>
        </p:sp>
      </p:grpSp>
      <p:grpSp>
        <p:nvGrpSpPr>
          <p:cNvPr name="Group 57" id="57"/>
          <p:cNvGrpSpPr/>
          <p:nvPr/>
        </p:nvGrpSpPr>
        <p:grpSpPr>
          <a:xfrm rot="0">
            <a:off x="1211580" y="1591818"/>
            <a:ext cx="8229600" cy="438912"/>
            <a:chOff x="0" y="0"/>
            <a:chExt cx="10972800" cy="585216"/>
          </a:xfrm>
        </p:grpSpPr>
        <p:sp>
          <p:nvSpPr>
            <p:cNvPr name="Freeform 58" id="58"/>
            <p:cNvSpPr/>
            <p:nvPr/>
          </p:nvSpPr>
          <p:spPr>
            <a:xfrm flipH="false" flipV="false" rot="0">
              <a:off x="0" y="0"/>
              <a:ext cx="10972800" cy="585216"/>
            </a:xfrm>
            <a:custGeom>
              <a:avLst/>
              <a:gdLst/>
              <a:ahLst/>
              <a:cxnLst/>
              <a:rect r="r" b="b" t="t" l="l"/>
              <a:pathLst>
                <a:path h="585216" w="10972800">
                  <a:moveTo>
                    <a:pt x="0" y="0"/>
                  </a:moveTo>
                  <a:lnTo>
                    <a:pt x="10972800" y="0"/>
                  </a:lnTo>
                  <a:lnTo>
                    <a:pt x="10972800" y="585216"/>
                  </a:lnTo>
                  <a:lnTo>
                    <a:pt x="0" y="585216"/>
                  </a:lnTo>
                  <a:close/>
                </a:path>
              </a:pathLst>
            </a:custGeom>
            <a:blipFill>
              <a:blip r:embed="rId9">
                <a:alphaModFix amt="0"/>
              </a:blip>
              <a:stretch>
                <a:fillRect l="0" t="-315344" r="0" b="-315344"/>
              </a:stretch>
            </a:blipFill>
          </p:spPr>
        </p:sp>
        <p:sp>
          <p:nvSpPr>
            <p:cNvPr name="TextBox 59" id="59"/>
            <p:cNvSpPr txBox="true"/>
            <p:nvPr/>
          </p:nvSpPr>
          <p:spPr>
            <a:xfrm>
              <a:off x="0" y="-19050"/>
              <a:ext cx="10972800" cy="604266"/>
            </a:xfrm>
            <a:prstGeom prst="rect">
              <a:avLst/>
            </a:prstGeom>
          </p:spPr>
          <p:txBody>
            <a:bodyPr anchor="ctr" rtlCol="false" tIns="0" lIns="0" bIns="0" rIns="0"/>
            <a:lstStyle/>
            <a:p>
              <a:pPr algn="l">
                <a:lnSpc>
                  <a:spcPts val="2160"/>
                </a:lnSpc>
              </a:pPr>
              <a:r>
                <a:rPr lang="en-US" b="true" sz="1800" spc="300">
                  <a:solidFill>
                    <a:srgbClr val="8FBEBE"/>
                  </a:solidFill>
                  <a:latin typeface="Poppins Bold"/>
                  <a:ea typeface="Poppins Bold"/>
                  <a:cs typeface="Poppins Bold"/>
                  <a:sym typeface="Poppins Bold"/>
                </a:rPr>
                <a:t>RETRIEVAL PRACTICE</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279648" y="589542"/>
            <a:ext cx="10516112" cy="2105025"/>
          </a:xfrm>
          <a:prstGeom prst="rect">
            <a:avLst/>
          </a:prstGeom>
        </p:spPr>
        <p:txBody>
          <a:bodyPr anchor="t" rtlCol="false" tIns="0" lIns="0" bIns="0" rIns="0">
            <a:spAutoFit/>
          </a:bodyPr>
          <a:lstStyle/>
          <a:p>
            <a:pPr algn="l">
              <a:lnSpc>
                <a:spcPts val="5400"/>
              </a:lnSpc>
            </a:pPr>
            <a:r>
              <a:rPr lang="en-US" sz="4500">
                <a:solidFill>
                  <a:srgbClr val="388080"/>
                </a:solidFill>
                <a:latin typeface="Poppins"/>
                <a:ea typeface="Poppins"/>
                <a:cs typeface="Poppins"/>
                <a:sym typeface="Poppins"/>
              </a:rPr>
              <a:t>One screen answers her first </a:t>
            </a:r>
            <a:r>
              <a:rPr lang="en-US" sz="4500">
                <a:solidFill>
                  <a:srgbClr val="388080"/>
                </a:solidFill>
                <a:latin typeface="Poppins"/>
                <a:ea typeface="Poppins"/>
                <a:cs typeface="Poppins"/>
                <a:sym typeface="Poppins"/>
              </a:rPr>
              <a:t>three questions</a:t>
            </a:r>
            <a:r>
              <a:rPr lang="en-US" sz="4500">
                <a:solidFill>
                  <a:srgbClr val="388080"/>
                </a:solidFill>
                <a:latin typeface="Poppins"/>
                <a:ea typeface="Poppins"/>
                <a:cs typeface="Poppins"/>
                <a:sym typeface="Poppins"/>
              </a:rPr>
              <a:t> of the day</a:t>
            </a:r>
          </a:p>
          <a:p>
            <a:pPr algn="l">
              <a:lnSpc>
                <a:spcPts val="5400"/>
              </a:lnSpc>
            </a:pP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1795760" y="2948940"/>
            <a:ext cx="6309360" cy="2331720"/>
            <a:chOff x="0" y="0"/>
            <a:chExt cx="8412480" cy="3108960"/>
          </a:xfrm>
        </p:grpSpPr>
        <p:sp>
          <p:nvSpPr>
            <p:cNvPr name="Freeform 12" id="12"/>
            <p:cNvSpPr/>
            <p:nvPr/>
          </p:nvSpPr>
          <p:spPr>
            <a:xfrm flipH="false" flipV="false" rot="0">
              <a:off x="0" y="0"/>
              <a:ext cx="8412480" cy="3108960"/>
            </a:xfrm>
            <a:custGeom>
              <a:avLst/>
              <a:gdLst/>
              <a:ahLst/>
              <a:cxnLst/>
              <a:rect r="r" b="b" t="t" l="l"/>
              <a:pathLst>
                <a:path h="3108960" w="8412480">
                  <a:moveTo>
                    <a:pt x="0" y="0"/>
                  </a:moveTo>
                  <a:lnTo>
                    <a:pt x="8412480" y="0"/>
                  </a:lnTo>
                  <a:lnTo>
                    <a:pt x="8412480" y="3108960"/>
                  </a:lnTo>
                  <a:lnTo>
                    <a:pt x="0" y="3108960"/>
                  </a:lnTo>
                  <a:close/>
                </a:path>
              </a:pathLst>
            </a:custGeom>
            <a:blipFill>
              <a:blip r:embed="rId9">
                <a:alphaModFix amt="0"/>
              </a:blip>
              <a:stretch>
                <a:fillRect l="0" t="-2724" r="0" b="-2724"/>
              </a:stretch>
            </a:blipFill>
          </p:spPr>
        </p:sp>
        <p:sp>
          <p:nvSpPr>
            <p:cNvPr name="TextBox 13" id="13"/>
            <p:cNvSpPr txBox="true"/>
            <p:nvPr/>
          </p:nvSpPr>
          <p:spPr>
            <a:xfrm>
              <a:off x="0" y="-57150"/>
              <a:ext cx="8412480" cy="3166110"/>
            </a:xfrm>
            <a:prstGeom prst="rect">
              <a:avLst/>
            </a:prstGeom>
          </p:spPr>
          <p:txBody>
            <a:bodyPr anchor="ctr" rtlCol="false" tIns="0" lIns="0" bIns="0" rIns="0"/>
            <a:lstStyle/>
            <a:p>
              <a:pPr algn="ctr">
                <a:lnSpc>
                  <a:spcPts val="8280"/>
                </a:lnSpc>
              </a:pPr>
              <a:r>
                <a:rPr lang="en-US" b="true" sz="6900">
                  <a:solidFill>
                    <a:srgbClr val="000000"/>
                  </a:solidFill>
                  <a:latin typeface="Poppins Bold"/>
                  <a:ea typeface="Poppins Bold"/>
                  <a:cs typeface="Poppins Bold"/>
                  <a:sym typeface="Poppins Bold"/>
                </a:rPr>
                <a:t>Every</a:t>
              </a:r>
            </a:p>
            <a:p>
              <a:pPr algn="ctr">
                <a:lnSpc>
                  <a:spcPts val="8280"/>
                </a:lnSpc>
              </a:pPr>
              <a:r>
                <a:rPr lang="en-US" b="true" sz="6900">
                  <a:solidFill>
                    <a:srgbClr val="000000"/>
                  </a:solidFill>
                  <a:latin typeface="Poppins Bold"/>
                  <a:ea typeface="Poppins Bold"/>
                  <a:cs typeface="Poppins Bold"/>
                  <a:sym typeface="Poppins Bold"/>
                </a:rPr>
                <a:t>morning</a:t>
              </a:r>
            </a:p>
          </p:txBody>
        </p:sp>
      </p:grpSp>
      <p:grpSp>
        <p:nvGrpSpPr>
          <p:cNvPr name="Group 14" id="14"/>
          <p:cNvGrpSpPr/>
          <p:nvPr/>
        </p:nvGrpSpPr>
        <p:grpSpPr>
          <a:xfrm rot="0">
            <a:off x="11795760" y="5417820"/>
            <a:ext cx="6309360" cy="1371600"/>
            <a:chOff x="0" y="0"/>
            <a:chExt cx="8412480" cy="1828800"/>
          </a:xfrm>
        </p:grpSpPr>
        <p:sp>
          <p:nvSpPr>
            <p:cNvPr name="Freeform 15" id="15"/>
            <p:cNvSpPr/>
            <p:nvPr/>
          </p:nvSpPr>
          <p:spPr>
            <a:xfrm flipH="false" flipV="false" rot="0">
              <a:off x="0" y="0"/>
              <a:ext cx="8412480" cy="1828800"/>
            </a:xfrm>
            <a:custGeom>
              <a:avLst/>
              <a:gdLst/>
              <a:ahLst/>
              <a:cxnLst/>
              <a:rect r="r" b="b" t="t" l="l"/>
              <a:pathLst>
                <a:path h="1828800" w="8412480">
                  <a:moveTo>
                    <a:pt x="0" y="0"/>
                  </a:moveTo>
                  <a:lnTo>
                    <a:pt x="8412480" y="0"/>
                  </a:lnTo>
                  <a:lnTo>
                    <a:pt x="8412480" y="1828800"/>
                  </a:lnTo>
                  <a:lnTo>
                    <a:pt x="0" y="1828800"/>
                  </a:lnTo>
                  <a:close/>
                </a:path>
              </a:pathLst>
            </a:custGeom>
            <a:blipFill>
              <a:blip r:embed="rId9">
                <a:alphaModFix amt="0"/>
              </a:blip>
              <a:stretch>
                <a:fillRect l="0" t="-39631" r="0" b="-39631"/>
              </a:stretch>
            </a:blipFill>
          </p:spPr>
        </p:sp>
        <p:sp>
          <p:nvSpPr>
            <p:cNvPr name="TextBox 16" id="16"/>
            <p:cNvSpPr txBox="true"/>
            <p:nvPr/>
          </p:nvSpPr>
          <p:spPr>
            <a:xfrm>
              <a:off x="0" y="-114300"/>
              <a:ext cx="8412480" cy="1943100"/>
            </a:xfrm>
            <a:prstGeom prst="rect">
              <a:avLst/>
            </a:prstGeom>
          </p:spPr>
          <p:txBody>
            <a:bodyPr anchor="ctr" rtlCol="false" tIns="0" lIns="0" bIns="0" rIns="0"/>
            <a:lstStyle/>
            <a:p>
              <a:pPr algn="ctr">
                <a:lnSpc>
                  <a:spcPts val="3978"/>
                </a:lnSpc>
              </a:pPr>
              <a:r>
                <a:rPr lang="en-US" sz="2550">
                  <a:solidFill>
                    <a:srgbClr val="387F7F"/>
                  </a:solidFill>
                  <a:latin typeface="Poppins"/>
                  <a:ea typeface="Poppins"/>
                  <a:cs typeface="Poppins"/>
                  <a:sym typeface="Poppins"/>
                </a:rPr>
                <a:t>before the riders leave,</a:t>
              </a:r>
            </a:p>
            <a:p>
              <a:pPr algn="ctr">
                <a:lnSpc>
                  <a:spcPts val="3978"/>
                </a:lnSpc>
              </a:pPr>
              <a:r>
                <a:rPr lang="en-US" sz="2550">
                  <a:solidFill>
                    <a:srgbClr val="387F7F"/>
                  </a:solidFill>
                  <a:latin typeface="Poppins"/>
                  <a:ea typeface="Poppins"/>
                  <a:cs typeface="Poppins"/>
                  <a:sym typeface="Poppins"/>
                </a:rPr>
                <a:t>she opens one screen</a:t>
              </a:r>
            </a:p>
          </p:txBody>
        </p:sp>
      </p:grpSp>
      <p:sp>
        <p:nvSpPr>
          <p:cNvPr name="TextBox 17" id="17"/>
          <p:cNvSpPr txBox="true"/>
          <p:nvPr/>
        </p:nvSpPr>
        <p:spPr>
          <a:xfrm rot="0">
            <a:off x="1069848" y="3295650"/>
            <a:ext cx="10149840" cy="1367790"/>
          </a:xfrm>
          <a:prstGeom prst="rect">
            <a:avLst/>
          </a:prstGeom>
        </p:spPr>
        <p:txBody>
          <a:bodyPr anchor="t" rtlCol="false" tIns="0" lIns="0" bIns="0" rIns="0">
            <a:spAutoFit/>
          </a:bodyPr>
          <a:lstStyle/>
          <a:p>
            <a:pPr algn="l">
              <a:lnSpc>
                <a:spcPts val="4131"/>
              </a:lnSpc>
            </a:pPr>
            <a:r>
              <a:rPr lang="en-US" sz="2550">
                <a:solidFill>
                  <a:srgbClr val="475569"/>
                </a:solidFill>
                <a:latin typeface="Poppins"/>
                <a:ea typeface="Poppins"/>
                <a:cs typeface="Poppins"/>
                <a:sym typeface="Poppins"/>
              </a:rPr>
              <a:t>Adaeze Nwosu runs operations for SwiftRoute Logistics, a last-mile delivery firm working across Lagos, Ogun and Oyo.</a:t>
            </a:r>
          </a:p>
        </p:txBody>
      </p:sp>
      <p:grpSp>
        <p:nvGrpSpPr>
          <p:cNvPr name="Group 18" id="18"/>
          <p:cNvGrpSpPr/>
          <p:nvPr/>
        </p:nvGrpSpPr>
        <p:grpSpPr>
          <a:xfrm rot="0">
            <a:off x="1069848" y="4800600"/>
            <a:ext cx="10149840" cy="822960"/>
            <a:chOff x="0" y="0"/>
            <a:chExt cx="13533120" cy="1097280"/>
          </a:xfrm>
        </p:grpSpPr>
        <p:sp>
          <p:nvSpPr>
            <p:cNvPr name="Freeform 19" id="19"/>
            <p:cNvSpPr/>
            <p:nvPr/>
          </p:nvSpPr>
          <p:spPr>
            <a:xfrm flipH="false" flipV="false" rot="0">
              <a:off x="0" y="0"/>
              <a:ext cx="13533120" cy="1097280"/>
            </a:xfrm>
            <a:custGeom>
              <a:avLst/>
              <a:gdLst/>
              <a:ahLst/>
              <a:cxnLst/>
              <a:rect r="r" b="b" t="t" l="l"/>
              <a:pathLst>
                <a:path h="1097280" w="13533120">
                  <a:moveTo>
                    <a:pt x="0" y="146304"/>
                  </a:moveTo>
                  <a:cubicBezTo>
                    <a:pt x="0" y="65532"/>
                    <a:pt x="65532" y="0"/>
                    <a:pt x="146304" y="0"/>
                  </a:cubicBezTo>
                  <a:lnTo>
                    <a:pt x="13386815" y="0"/>
                  </a:lnTo>
                  <a:cubicBezTo>
                    <a:pt x="13467587" y="0"/>
                    <a:pt x="13533120" y="65532"/>
                    <a:pt x="13533120" y="146304"/>
                  </a:cubicBezTo>
                  <a:lnTo>
                    <a:pt x="13533120" y="950976"/>
                  </a:lnTo>
                  <a:cubicBezTo>
                    <a:pt x="13533120" y="1031748"/>
                    <a:pt x="13467587" y="1097280"/>
                    <a:pt x="13386815" y="1097280"/>
                  </a:cubicBezTo>
                  <a:lnTo>
                    <a:pt x="146304" y="1097280"/>
                  </a:lnTo>
                  <a:cubicBezTo>
                    <a:pt x="65532" y="1097280"/>
                    <a:pt x="0" y="1031748"/>
                    <a:pt x="0" y="950976"/>
                  </a:cubicBezTo>
                  <a:close/>
                </a:path>
              </a:pathLst>
            </a:custGeom>
            <a:solidFill>
              <a:srgbClr val="FFFFFF"/>
            </a:solidFill>
          </p:spPr>
        </p:sp>
      </p:grpSp>
      <p:grpSp>
        <p:nvGrpSpPr>
          <p:cNvPr name="Group 20" id="20"/>
          <p:cNvGrpSpPr/>
          <p:nvPr/>
        </p:nvGrpSpPr>
        <p:grpSpPr>
          <a:xfrm rot="0">
            <a:off x="1303020" y="4978908"/>
            <a:ext cx="466344" cy="466344"/>
            <a:chOff x="0" y="0"/>
            <a:chExt cx="621792" cy="621792"/>
          </a:xfrm>
        </p:grpSpPr>
        <p:sp>
          <p:nvSpPr>
            <p:cNvPr name="Freeform 21" id="21"/>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387F7F"/>
            </a:solidFill>
          </p:spPr>
        </p:sp>
      </p:grpSp>
      <p:grpSp>
        <p:nvGrpSpPr>
          <p:cNvPr name="Group 22" id="22"/>
          <p:cNvGrpSpPr/>
          <p:nvPr/>
        </p:nvGrpSpPr>
        <p:grpSpPr>
          <a:xfrm rot="0">
            <a:off x="1303020" y="4978908"/>
            <a:ext cx="466344" cy="466344"/>
            <a:chOff x="0" y="0"/>
            <a:chExt cx="621792" cy="621792"/>
          </a:xfrm>
        </p:grpSpPr>
        <p:sp>
          <p:nvSpPr>
            <p:cNvPr name="Freeform 23" id="23"/>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9">
                <a:alphaModFix amt="0"/>
              </a:blip>
              <a:stretch>
                <a:fillRect l="-78303" t="0" r="-78303" b="0"/>
              </a:stretch>
            </a:blipFill>
          </p:spPr>
        </p:sp>
        <p:sp>
          <p:nvSpPr>
            <p:cNvPr name="TextBox 24" id="24"/>
            <p:cNvSpPr txBox="true"/>
            <p:nvPr/>
          </p:nvSpPr>
          <p:spPr>
            <a:xfrm>
              <a:off x="0" y="-19050"/>
              <a:ext cx="621792" cy="640842"/>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1</a:t>
              </a:r>
            </a:p>
          </p:txBody>
        </p:sp>
      </p:grpSp>
      <p:grpSp>
        <p:nvGrpSpPr>
          <p:cNvPr name="Group 25" id="25"/>
          <p:cNvGrpSpPr/>
          <p:nvPr/>
        </p:nvGrpSpPr>
        <p:grpSpPr>
          <a:xfrm rot="0">
            <a:off x="1988820" y="4800600"/>
            <a:ext cx="9052560" cy="822960"/>
            <a:chOff x="0" y="0"/>
            <a:chExt cx="12070080" cy="1097280"/>
          </a:xfrm>
        </p:grpSpPr>
        <p:sp>
          <p:nvSpPr>
            <p:cNvPr name="Freeform 26" id="26"/>
            <p:cNvSpPr/>
            <p:nvPr/>
          </p:nvSpPr>
          <p:spPr>
            <a:xfrm flipH="false" flipV="false" rot="0">
              <a:off x="0" y="0"/>
              <a:ext cx="12070080" cy="1097280"/>
            </a:xfrm>
            <a:custGeom>
              <a:avLst/>
              <a:gdLst/>
              <a:ahLst/>
              <a:cxnLst/>
              <a:rect r="r" b="b" t="t" l="l"/>
              <a:pathLst>
                <a:path h="1097280" w="12070080">
                  <a:moveTo>
                    <a:pt x="0" y="0"/>
                  </a:moveTo>
                  <a:lnTo>
                    <a:pt x="12070080" y="0"/>
                  </a:lnTo>
                  <a:lnTo>
                    <a:pt x="12070080" y="1097280"/>
                  </a:lnTo>
                  <a:lnTo>
                    <a:pt x="0" y="1097280"/>
                  </a:lnTo>
                  <a:close/>
                </a:path>
              </a:pathLst>
            </a:custGeom>
            <a:blipFill>
              <a:blip r:embed="rId9">
                <a:alphaModFix amt="0"/>
              </a:blip>
              <a:stretch>
                <a:fillRect l="0" t="-164335" r="0" b="-164335"/>
              </a:stretch>
            </a:blipFill>
          </p:spPr>
        </p:sp>
        <p:sp>
          <p:nvSpPr>
            <p:cNvPr name="TextBox 27" id="27"/>
            <p:cNvSpPr txBox="true"/>
            <p:nvPr/>
          </p:nvSpPr>
          <p:spPr>
            <a:xfrm>
              <a:off x="0" y="-19050"/>
              <a:ext cx="12070080" cy="1116330"/>
            </a:xfrm>
            <a:prstGeom prst="rect">
              <a:avLst/>
            </a:prstGeom>
          </p:spPr>
          <p:txBody>
            <a:bodyPr anchor="ctr" rtlCol="false" tIns="0" lIns="0" bIns="0" rIns="0"/>
            <a:lstStyle/>
            <a:p>
              <a:pPr algn="l">
                <a:lnSpc>
                  <a:spcPts val="2430"/>
                </a:lnSpc>
              </a:pPr>
              <a:r>
                <a:rPr lang="en-US" sz="2025">
                  <a:solidFill>
                    <a:srgbClr val="475569"/>
                  </a:solidFill>
                  <a:latin typeface="Poppins"/>
                  <a:ea typeface="Poppins"/>
                  <a:cs typeface="Poppins"/>
                  <a:sym typeface="Poppins"/>
                </a:rPr>
                <a:t>Which routes slipped yesterday?</a:t>
              </a:r>
            </a:p>
          </p:txBody>
        </p:sp>
      </p:grpSp>
      <p:grpSp>
        <p:nvGrpSpPr>
          <p:cNvPr name="Group 28" id="28"/>
          <p:cNvGrpSpPr/>
          <p:nvPr/>
        </p:nvGrpSpPr>
        <p:grpSpPr>
          <a:xfrm rot="0">
            <a:off x="1069848" y="5788152"/>
            <a:ext cx="10149840" cy="822960"/>
            <a:chOff x="0" y="0"/>
            <a:chExt cx="13533120" cy="1097280"/>
          </a:xfrm>
        </p:grpSpPr>
        <p:sp>
          <p:nvSpPr>
            <p:cNvPr name="Freeform 29" id="29"/>
            <p:cNvSpPr/>
            <p:nvPr/>
          </p:nvSpPr>
          <p:spPr>
            <a:xfrm flipH="false" flipV="false" rot="0">
              <a:off x="0" y="0"/>
              <a:ext cx="13533120" cy="1097280"/>
            </a:xfrm>
            <a:custGeom>
              <a:avLst/>
              <a:gdLst/>
              <a:ahLst/>
              <a:cxnLst/>
              <a:rect r="r" b="b" t="t" l="l"/>
              <a:pathLst>
                <a:path h="1097280" w="13533120">
                  <a:moveTo>
                    <a:pt x="0" y="146304"/>
                  </a:moveTo>
                  <a:cubicBezTo>
                    <a:pt x="0" y="65532"/>
                    <a:pt x="65532" y="0"/>
                    <a:pt x="146304" y="0"/>
                  </a:cubicBezTo>
                  <a:lnTo>
                    <a:pt x="13386815" y="0"/>
                  </a:lnTo>
                  <a:cubicBezTo>
                    <a:pt x="13467587" y="0"/>
                    <a:pt x="13533120" y="65532"/>
                    <a:pt x="13533120" y="146304"/>
                  </a:cubicBezTo>
                  <a:lnTo>
                    <a:pt x="13533120" y="950976"/>
                  </a:lnTo>
                  <a:cubicBezTo>
                    <a:pt x="13533120" y="1031748"/>
                    <a:pt x="13467587" y="1097280"/>
                    <a:pt x="13386815" y="1097280"/>
                  </a:cubicBezTo>
                  <a:lnTo>
                    <a:pt x="146304" y="1097280"/>
                  </a:lnTo>
                  <a:cubicBezTo>
                    <a:pt x="65532" y="1097280"/>
                    <a:pt x="0" y="1031748"/>
                    <a:pt x="0" y="950976"/>
                  </a:cubicBezTo>
                  <a:close/>
                </a:path>
              </a:pathLst>
            </a:custGeom>
            <a:solidFill>
              <a:srgbClr val="FFFFFF"/>
            </a:solidFill>
          </p:spPr>
        </p:sp>
      </p:grpSp>
      <p:grpSp>
        <p:nvGrpSpPr>
          <p:cNvPr name="Group 30" id="30"/>
          <p:cNvGrpSpPr/>
          <p:nvPr/>
        </p:nvGrpSpPr>
        <p:grpSpPr>
          <a:xfrm rot="0">
            <a:off x="1303020" y="5966460"/>
            <a:ext cx="466344" cy="466344"/>
            <a:chOff x="0" y="0"/>
            <a:chExt cx="621792" cy="621792"/>
          </a:xfrm>
        </p:grpSpPr>
        <p:sp>
          <p:nvSpPr>
            <p:cNvPr name="Freeform 31" id="31"/>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387F7F"/>
            </a:solidFill>
          </p:spPr>
        </p:sp>
      </p:grpSp>
      <p:grpSp>
        <p:nvGrpSpPr>
          <p:cNvPr name="Group 32" id="32"/>
          <p:cNvGrpSpPr/>
          <p:nvPr/>
        </p:nvGrpSpPr>
        <p:grpSpPr>
          <a:xfrm rot="0">
            <a:off x="1303020" y="5966460"/>
            <a:ext cx="466344" cy="466344"/>
            <a:chOff x="0" y="0"/>
            <a:chExt cx="621792" cy="621792"/>
          </a:xfrm>
        </p:grpSpPr>
        <p:sp>
          <p:nvSpPr>
            <p:cNvPr name="Freeform 33" id="33"/>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9">
                <a:alphaModFix amt="0"/>
              </a:blip>
              <a:stretch>
                <a:fillRect l="-78303" t="0" r="-78303" b="0"/>
              </a:stretch>
            </a:blipFill>
          </p:spPr>
        </p:sp>
        <p:sp>
          <p:nvSpPr>
            <p:cNvPr name="TextBox 34" id="34"/>
            <p:cNvSpPr txBox="true"/>
            <p:nvPr/>
          </p:nvSpPr>
          <p:spPr>
            <a:xfrm>
              <a:off x="0" y="-19050"/>
              <a:ext cx="621792" cy="640842"/>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2</a:t>
              </a:r>
            </a:p>
          </p:txBody>
        </p:sp>
      </p:grpSp>
      <p:grpSp>
        <p:nvGrpSpPr>
          <p:cNvPr name="Group 35" id="35"/>
          <p:cNvGrpSpPr/>
          <p:nvPr/>
        </p:nvGrpSpPr>
        <p:grpSpPr>
          <a:xfrm rot="0">
            <a:off x="1988820" y="5788152"/>
            <a:ext cx="9052560" cy="822960"/>
            <a:chOff x="0" y="0"/>
            <a:chExt cx="12070080" cy="1097280"/>
          </a:xfrm>
        </p:grpSpPr>
        <p:sp>
          <p:nvSpPr>
            <p:cNvPr name="Freeform 36" id="36"/>
            <p:cNvSpPr/>
            <p:nvPr/>
          </p:nvSpPr>
          <p:spPr>
            <a:xfrm flipH="false" flipV="false" rot="0">
              <a:off x="0" y="0"/>
              <a:ext cx="12070080" cy="1097280"/>
            </a:xfrm>
            <a:custGeom>
              <a:avLst/>
              <a:gdLst/>
              <a:ahLst/>
              <a:cxnLst/>
              <a:rect r="r" b="b" t="t" l="l"/>
              <a:pathLst>
                <a:path h="1097280" w="12070080">
                  <a:moveTo>
                    <a:pt x="0" y="0"/>
                  </a:moveTo>
                  <a:lnTo>
                    <a:pt x="12070080" y="0"/>
                  </a:lnTo>
                  <a:lnTo>
                    <a:pt x="12070080" y="1097280"/>
                  </a:lnTo>
                  <a:lnTo>
                    <a:pt x="0" y="1097280"/>
                  </a:lnTo>
                  <a:close/>
                </a:path>
              </a:pathLst>
            </a:custGeom>
            <a:blipFill>
              <a:blip r:embed="rId9">
                <a:alphaModFix amt="0"/>
              </a:blip>
              <a:stretch>
                <a:fillRect l="0" t="-164335" r="0" b="-164335"/>
              </a:stretch>
            </a:blipFill>
          </p:spPr>
        </p:sp>
        <p:sp>
          <p:nvSpPr>
            <p:cNvPr name="TextBox 37" id="37"/>
            <p:cNvSpPr txBox="true"/>
            <p:nvPr/>
          </p:nvSpPr>
          <p:spPr>
            <a:xfrm>
              <a:off x="0" y="-19050"/>
              <a:ext cx="12070080" cy="1116330"/>
            </a:xfrm>
            <a:prstGeom prst="rect">
              <a:avLst/>
            </a:prstGeom>
          </p:spPr>
          <p:txBody>
            <a:bodyPr anchor="ctr" rtlCol="false" tIns="0" lIns="0" bIns="0" rIns="0"/>
            <a:lstStyle/>
            <a:p>
              <a:pPr algn="l">
                <a:lnSpc>
                  <a:spcPts val="2430"/>
                </a:lnSpc>
              </a:pPr>
              <a:r>
                <a:rPr lang="en-US" sz="2025">
                  <a:solidFill>
                    <a:srgbClr val="475569"/>
                  </a:solidFill>
                  <a:latin typeface="Poppins"/>
                  <a:ea typeface="Poppins"/>
                  <a:cs typeface="Poppins"/>
                  <a:sym typeface="Poppins"/>
                </a:rPr>
                <a:t>Which riders are carrying the load?</a:t>
              </a:r>
            </a:p>
          </p:txBody>
        </p:sp>
      </p:grpSp>
      <p:grpSp>
        <p:nvGrpSpPr>
          <p:cNvPr name="Group 38" id="38"/>
          <p:cNvGrpSpPr/>
          <p:nvPr/>
        </p:nvGrpSpPr>
        <p:grpSpPr>
          <a:xfrm rot="0">
            <a:off x="1069848" y="6775704"/>
            <a:ext cx="10149840" cy="822960"/>
            <a:chOff x="0" y="0"/>
            <a:chExt cx="13533120" cy="1097280"/>
          </a:xfrm>
        </p:grpSpPr>
        <p:sp>
          <p:nvSpPr>
            <p:cNvPr name="Freeform 39" id="39"/>
            <p:cNvSpPr/>
            <p:nvPr/>
          </p:nvSpPr>
          <p:spPr>
            <a:xfrm flipH="false" flipV="false" rot="0">
              <a:off x="0" y="0"/>
              <a:ext cx="13533120" cy="1097280"/>
            </a:xfrm>
            <a:custGeom>
              <a:avLst/>
              <a:gdLst/>
              <a:ahLst/>
              <a:cxnLst/>
              <a:rect r="r" b="b" t="t" l="l"/>
              <a:pathLst>
                <a:path h="1097280" w="13533120">
                  <a:moveTo>
                    <a:pt x="0" y="146304"/>
                  </a:moveTo>
                  <a:cubicBezTo>
                    <a:pt x="0" y="65532"/>
                    <a:pt x="65532" y="0"/>
                    <a:pt x="146304" y="0"/>
                  </a:cubicBezTo>
                  <a:lnTo>
                    <a:pt x="13386815" y="0"/>
                  </a:lnTo>
                  <a:cubicBezTo>
                    <a:pt x="13467587" y="0"/>
                    <a:pt x="13533120" y="65532"/>
                    <a:pt x="13533120" y="146304"/>
                  </a:cubicBezTo>
                  <a:lnTo>
                    <a:pt x="13533120" y="950976"/>
                  </a:lnTo>
                  <a:cubicBezTo>
                    <a:pt x="13533120" y="1031748"/>
                    <a:pt x="13467587" y="1097280"/>
                    <a:pt x="13386815" y="1097280"/>
                  </a:cubicBezTo>
                  <a:lnTo>
                    <a:pt x="146304" y="1097280"/>
                  </a:lnTo>
                  <a:cubicBezTo>
                    <a:pt x="65532" y="1097280"/>
                    <a:pt x="0" y="1031748"/>
                    <a:pt x="0" y="950976"/>
                  </a:cubicBezTo>
                  <a:close/>
                </a:path>
              </a:pathLst>
            </a:custGeom>
            <a:solidFill>
              <a:srgbClr val="FFFFFF"/>
            </a:solidFill>
          </p:spPr>
        </p:sp>
      </p:grpSp>
      <p:grpSp>
        <p:nvGrpSpPr>
          <p:cNvPr name="Group 40" id="40"/>
          <p:cNvGrpSpPr/>
          <p:nvPr/>
        </p:nvGrpSpPr>
        <p:grpSpPr>
          <a:xfrm rot="0">
            <a:off x="1303020" y="6954012"/>
            <a:ext cx="466344" cy="466344"/>
            <a:chOff x="0" y="0"/>
            <a:chExt cx="621792" cy="621792"/>
          </a:xfrm>
        </p:grpSpPr>
        <p:sp>
          <p:nvSpPr>
            <p:cNvPr name="Freeform 41" id="41"/>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387F7F"/>
            </a:solidFill>
          </p:spPr>
        </p:sp>
      </p:grpSp>
      <p:grpSp>
        <p:nvGrpSpPr>
          <p:cNvPr name="Group 42" id="42"/>
          <p:cNvGrpSpPr/>
          <p:nvPr/>
        </p:nvGrpSpPr>
        <p:grpSpPr>
          <a:xfrm rot="0">
            <a:off x="1303020" y="6954012"/>
            <a:ext cx="466344" cy="466344"/>
            <a:chOff x="0" y="0"/>
            <a:chExt cx="621792" cy="621792"/>
          </a:xfrm>
        </p:grpSpPr>
        <p:sp>
          <p:nvSpPr>
            <p:cNvPr name="Freeform 43" id="43"/>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9">
                <a:alphaModFix amt="0"/>
              </a:blip>
              <a:stretch>
                <a:fillRect l="-78303" t="0" r="-78303" b="0"/>
              </a:stretch>
            </a:blipFill>
          </p:spPr>
        </p:sp>
        <p:sp>
          <p:nvSpPr>
            <p:cNvPr name="TextBox 44" id="44"/>
            <p:cNvSpPr txBox="true"/>
            <p:nvPr/>
          </p:nvSpPr>
          <p:spPr>
            <a:xfrm>
              <a:off x="0" y="-19050"/>
              <a:ext cx="621792" cy="640842"/>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3</a:t>
              </a:r>
            </a:p>
          </p:txBody>
        </p:sp>
      </p:grpSp>
      <p:grpSp>
        <p:nvGrpSpPr>
          <p:cNvPr name="Group 45" id="45"/>
          <p:cNvGrpSpPr/>
          <p:nvPr/>
        </p:nvGrpSpPr>
        <p:grpSpPr>
          <a:xfrm rot="0">
            <a:off x="1988820" y="6775704"/>
            <a:ext cx="9052560" cy="822960"/>
            <a:chOff x="0" y="0"/>
            <a:chExt cx="12070080" cy="1097280"/>
          </a:xfrm>
        </p:grpSpPr>
        <p:sp>
          <p:nvSpPr>
            <p:cNvPr name="Freeform 46" id="46"/>
            <p:cNvSpPr/>
            <p:nvPr/>
          </p:nvSpPr>
          <p:spPr>
            <a:xfrm flipH="false" flipV="false" rot="0">
              <a:off x="0" y="0"/>
              <a:ext cx="12070080" cy="1097280"/>
            </a:xfrm>
            <a:custGeom>
              <a:avLst/>
              <a:gdLst/>
              <a:ahLst/>
              <a:cxnLst/>
              <a:rect r="r" b="b" t="t" l="l"/>
              <a:pathLst>
                <a:path h="1097280" w="12070080">
                  <a:moveTo>
                    <a:pt x="0" y="0"/>
                  </a:moveTo>
                  <a:lnTo>
                    <a:pt x="12070080" y="0"/>
                  </a:lnTo>
                  <a:lnTo>
                    <a:pt x="12070080" y="1097280"/>
                  </a:lnTo>
                  <a:lnTo>
                    <a:pt x="0" y="1097280"/>
                  </a:lnTo>
                  <a:close/>
                </a:path>
              </a:pathLst>
            </a:custGeom>
            <a:blipFill>
              <a:blip r:embed="rId9">
                <a:alphaModFix amt="0"/>
              </a:blip>
              <a:stretch>
                <a:fillRect l="0" t="-164335" r="0" b="-164335"/>
              </a:stretch>
            </a:blipFill>
          </p:spPr>
        </p:sp>
        <p:sp>
          <p:nvSpPr>
            <p:cNvPr name="TextBox 47" id="47"/>
            <p:cNvSpPr txBox="true"/>
            <p:nvPr/>
          </p:nvSpPr>
          <p:spPr>
            <a:xfrm>
              <a:off x="0" y="-19050"/>
              <a:ext cx="12070080" cy="1116330"/>
            </a:xfrm>
            <a:prstGeom prst="rect">
              <a:avLst/>
            </a:prstGeom>
          </p:spPr>
          <p:txBody>
            <a:bodyPr anchor="ctr" rtlCol="false" tIns="0" lIns="0" bIns="0" rIns="0"/>
            <a:lstStyle/>
            <a:p>
              <a:pPr algn="l">
                <a:lnSpc>
                  <a:spcPts val="2430"/>
                </a:lnSpc>
              </a:pPr>
              <a:r>
                <a:rPr lang="en-US" sz="2025">
                  <a:solidFill>
                    <a:srgbClr val="475569"/>
                  </a:solidFill>
                  <a:latin typeface="Poppins"/>
                  <a:ea typeface="Poppins"/>
                  <a:cs typeface="Poppins"/>
                  <a:sym typeface="Poppins"/>
                </a:rPr>
                <a:t>Is the month still on track against the 90% promise?</a:t>
              </a:r>
            </a:p>
          </p:txBody>
        </p:sp>
      </p:grpSp>
      <p:sp>
        <p:nvSpPr>
          <p:cNvPr name="TextBox 48" id="48"/>
          <p:cNvSpPr txBox="true"/>
          <p:nvPr/>
        </p:nvSpPr>
        <p:spPr>
          <a:xfrm rot="0">
            <a:off x="1069848" y="7772400"/>
            <a:ext cx="10149840" cy="1074420"/>
          </a:xfrm>
          <a:prstGeom prst="rect">
            <a:avLst/>
          </a:prstGeom>
        </p:spPr>
        <p:txBody>
          <a:bodyPr anchor="t" rtlCol="false" tIns="0" lIns="0" bIns="0" rIns="0">
            <a:spAutoFit/>
          </a:bodyPr>
          <a:lstStyle/>
          <a:p>
            <a:pPr algn="l">
              <a:lnSpc>
                <a:spcPts val="3888"/>
              </a:lnSpc>
            </a:pPr>
            <a:r>
              <a:rPr lang="en-US" sz="2400" b="true">
                <a:solidFill>
                  <a:srgbClr val="387F7F"/>
                </a:solidFill>
                <a:latin typeface="Poppins Bold"/>
                <a:ea typeface="Poppins Bold"/>
                <a:cs typeface="Poppins Bold"/>
                <a:sym typeface="Poppins Bold"/>
              </a:rPr>
              <a:t>She does not open Excel. She does not write a query. Someone built her a product, and it refreshes itself.</a:t>
            </a:r>
          </a:p>
        </p:txBody>
      </p:sp>
      <p:sp>
        <p:nvSpPr>
          <p:cNvPr name="AutoShape 49" id="49"/>
          <p:cNvSpPr/>
          <p:nvPr/>
        </p:nvSpPr>
        <p:spPr>
          <a:xfrm rot="6420">
            <a:off x="1060313" y="9047798"/>
            <a:ext cx="10168909" cy="0"/>
          </a:xfrm>
          <a:prstGeom prst="line">
            <a:avLst/>
          </a:prstGeom>
          <a:ln cap="rnd" w="9525">
            <a:solidFill>
              <a:srgbClr val="E2E8F0"/>
            </a:solidFill>
            <a:prstDash val="solid"/>
            <a:headEnd type="none" len="sm" w="sm"/>
            <a:tailEnd type="none" len="sm" w="sm"/>
          </a:ln>
        </p:spPr>
      </p:sp>
      <p:grpSp>
        <p:nvGrpSpPr>
          <p:cNvPr name="Group 50" id="50"/>
          <p:cNvGrpSpPr/>
          <p:nvPr/>
        </p:nvGrpSpPr>
        <p:grpSpPr>
          <a:xfrm rot="0">
            <a:off x="1069848" y="9217152"/>
            <a:ext cx="10149840" cy="685800"/>
            <a:chOff x="0" y="0"/>
            <a:chExt cx="13533120" cy="914400"/>
          </a:xfrm>
        </p:grpSpPr>
        <p:sp>
          <p:nvSpPr>
            <p:cNvPr name="Freeform 51" id="51"/>
            <p:cNvSpPr/>
            <p:nvPr/>
          </p:nvSpPr>
          <p:spPr>
            <a:xfrm flipH="false" flipV="false" rot="0">
              <a:off x="0" y="0"/>
              <a:ext cx="13533120" cy="914400"/>
            </a:xfrm>
            <a:custGeom>
              <a:avLst/>
              <a:gdLst/>
              <a:ahLst/>
              <a:cxnLst/>
              <a:rect r="r" b="b" t="t" l="l"/>
              <a:pathLst>
                <a:path h="914400" w="13533120">
                  <a:moveTo>
                    <a:pt x="0" y="0"/>
                  </a:moveTo>
                  <a:lnTo>
                    <a:pt x="13533120" y="0"/>
                  </a:lnTo>
                  <a:lnTo>
                    <a:pt x="13533120" y="914400"/>
                  </a:lnTo>
                  <a:lnTo>
                    <a:pt x="0" y="914400"/>
                  </a:lnTo>
                  <a:close/>
                </a:path>
              </a:pathLst>
            </a:custGeom>
            <a:blipFill>
              <a:blip r:embed="rId9">
                <a:alphaModFix amt="0"/>
              </a:blip>
              <a:stretch>
                <a:fillRect l="0" t="-238378" r="0" b="-238378"/>
              </a:stretch>
            </a:blipFill>
          </p:spPr>
        </p:sp>
        <p:sp>
          <p:nvSpPr>
            <p:cNvPr name="TextBox 52" id="52"/>
            <p:cNvSpPr txBox="true"/>
            <p:nvPr/>
          </p:nvSpPr>
          <p:spPr>
            <a:xfrm>
              <a:off x="0" y="-38100"/>
              <a:ext cx="13533120" cy="952500"/>
            </a:xfrm>
            <a:prstGeom prst="rect">
              <a:avLst/>
            </a:prstGeom>
          </p:spPr>
          <p:txBody>
            <a:bodyPr anchor="ctr" rtlCol="false" tIns="0" lIns="0" bIns="0" rIns="0"/>
            <a:lstStyle/>
            <a:p>
              <a:pPr algn="l">
                <a:lnSpc>
                  <a:spcPts val="2277"/>
                </a:lnSpc>
              </a:pPr>
              <a:r>
                <a:rPr lang="en-US" sz="1650" i="true">
                  <a:solidFill>
                    <a:srgbClr val="64748B"/>
                  </a:solidFill>
                  <a:latin typeface="Poppins Italics"/>
                  <a:ea typeface="Poppins Italics"/>
                  <a:cs typeface="Poppins Italics"/>
                  <a:sym typeface="Poppins Italics"/>
                </a:rPr>
                <a:t>SwiftRoute is a composite training scenario built from realistic Nigerian last-mile operations. No real customer data is used.</a:t>
              </a:r>
            </a:p>
          </p:txBody>
        </p:sp>
      </p:grpSp>
      <p:grpSp>
        <p:nvGrpSpPr>
          <p:cNvPr name="Group 53" id="53"/>
          <p:cNvGrpSpPr/>
          <p:nvPr/>
        </p:nvGrpSpPr>
        <p:grpSpPr>
          <a:xfrm rot="0">
            <a:off x="11795760" y="0"/>
            <a:ext cx="6487668" cy="10287000"/>
            <a:chOff x="0" y="0"/>
            <a:chExt cx="8650224" cy="13716000"/>
          </a:xfrm>
        </p:grpSpPr>
        <p:sp>
          <p:nvSpPr>
            <p:cNvPr name="Freeform 54" id="54"/>
            <p:cNvSpPr/>
            <p:nvPr/>
          </p:nvSpPr>
          <p:spPr>
            <a:xfrm flipH="false" flipV="false" rot="0">
              <a:off x="0" y="0"/>
              <a:ext cx="8650224" cy="13716000"/>
            </a:xfrm>
            <a:custGeom>
              <a:avLst/>
              <a:gdLst/>
              <a:ahLst/>
              <a:cxnLst/>
              <a:rect r="r" b="b" t="t" l="l"/>
              <a:pathLst>
                <a:path h="13716000" w="8650224">
                  <a:moveTo>
                    <a:pt x="0" y="0"/>
                  </a:moveTo>
                  <a:lnTo>
                    <a:pt x="8650224" y="0"/>
                  </a:lnTo>
                  <a:lnTo>
                    <a:pt x="8650224" y="13716000"/>
                  </a:lnTo>
                  <a:lnTo>
                    <a:pt x="0" y="13716000"/>
                  </a:lnTo>
                  <a:close/>
                </a:path>
              </a:pathLst>
            </a:custGeom>
            <a:solidFill>
              <a:srgbClr val="20494A">
                <a:alpha val="14902"/>
              </a:srgbClr>
            </a:solid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52" cy="10287000"/>
            <a:chOff x="0" y="0"/>
            <a:chExt cx="24383936"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0494A"/>
            </a:solidFill>
          </p:spPr>
        </p:sp>
      </p:grpSp>
      <p:grpSp>
        <p:nvGrpSpPr>
          <p:cNvPr name="Group 4" id="4"/>
          <p:cNvGrpSpPr/>
          <p:nvPr/>
        </p:nvGrpSpPr>
        <p:grpSpPr>
          <a:xfrm rot="0">
            <a:off x="850392" y="480060"/>
            <a:ext cx="4389120" cy="2880360"/>
            <a:chOff x="0" y="0"/>
            <a:chExt cx="5852160" cy="3840480"/>
          </a:xfrm>
        </p:grpSpPr>
        <p:sp>
          <p:nvSpPr>
            <p:cNvPr name="Freeform 5" id="5"/>
            <p:cNvSpPr/>
            <p:nvPr/>
          </p:nvSpPr>
          <p:spPr>
            <a:xfrm flipH="false" flipV="false" rot="0">
              <a:off x="0" y="0"/>
              <a:ext cx="5852160" cy="3840480"/>
            </a:xfrm>
            <a:custGeom>
              <a:avLst/>
              <a:gdLst/>
              <a:ahLst/>
              <a:cxnLst/>
              <a:rect r="r" b="b" t="t" l="l"/>
              <a:pathLst>
                <a:path h="3840480" w="5852160">
                  <a:moveTo>
                    <a:pt x="0" y="0"/>
                  </a:moveTo>
                  <a:lnTo>
                    <a:pt x="5852160" y="0"/>
                  </a:lnTo>
                  <a:lnTo>
                    <a:pt x="5852160" y="3840480"/>
                  </a:lnTo>
                  <a:lnTo>
                    <a:pt x="0" y="3840480"/>
                  </a:lnTo>
                  <a:close/>
                </a:path>
              </a:pathLst>
            </a:custGeom>
            <a:blipFill>
              <a:blip r:embed="rId3">
                <a:alphaModFix amt="0"/>
              </a:blip>
              <a:stretch>
                <a:fillRect l="-34199" t="0" r="-34199" b="0"/>
              </a:stretch>
            </a:blipFill>
          </p:spPr>
        </p:sp>
        <p:sp>
          <p:nvSpPr>
            <p:cNvPr name="TextBox 6" id="6"/>
            <p:cNvSpPr txBox="true"/>
            <p:nvPr/>
          </p:nvSpPr>
          <p:spPr>
            <a:xfrm>
              <a:off x="0" y="-190500"/>
              <a:ext cx="5852160" cy="4030980"/>
            </a:xfrm>
            <a:prstGeom prst="rect">
              <a:avLst/>
            </a:prstGeom>
          </p:spPr>
          <p:txBody>
            <a:bodyPr anchor="ctr" rtlCol="false" tIns="0" lIns="0" bIns="0" rIns="0"/>
            <a:lstStyle/>
            <a:p>
              <a:pPr algn="l">
                <a:lnSpc>
                  <a:spcPts val="23400"/>
                </a:lnSpc>
              </a:pPr>
              <a:r>
                <a:rPr lang="en-US" sz="19500" b="true">
                  <a:solidFill>
                    <a:srgbClr val="2F6364"/>
                  </a:solidFill>
                  <a:latin typeface="Poppins Bold"/>
                  <a:ea typeface="Poppins Bold"/>
                  <a:cs typeface="Poppins Bold"/>
                  <a:sym typeface="Poppins Bold"/>
                </a:rPr>
                <a:t>01</a:t>
              </a:r>
            </a:p>
          </p:txBody>
        </p:sp>
      </p:grpSp>
      <p:grpSp>
        <p:nvGrpSpPr>
          <p:cNvPr name="Group 7" id="7"/>
          <p:cNvGrpSpPr/>
          <p:nvPr/>
        </p:nvGrpSpPr>
        <p:grpSpPr>
          <a:xfrm rot="0">
            <a:off x="1069848" y="3730752"/>
            <a:ext cx="10149840" cy="466344"/>
            <a:chOff x="0" y="0"/>
            <a:chExt cx="13533120" cy="621792"/>
          </a:xfrm>
        </p:grpSpPr>
        <p:sp>
          <p:nvSpPr>
            <p:cNvPr name="Freeform 8" id="8"/>
            <p:cNvSpPr/>
            <p:nvPr/>
          </p:nvSpPr>
          <p:spPr>
            <a:xfrm flipH="false" flipV="false" rot="0">
              <a:off x="0" y="0"/>
              <a:ext cx="13533120" cy="621792"/>
            </a:xfrm>
            <a:custGeom>
              <a:avLst/>
              <a:gdLst/>
              <a:ahLst/>
              <a:cxnLst/>
              <a:rect r="r" b="b" t="t" l="l"/>
              <a:pathLst>
                <a:path h="621792" w="13533120">
                  <a:moveTo>
                    <a:pt x="0" y="0"/>
                  </a:moveTo>
                  <a:lnTo>
                    <a:pt x="13533120" y="0"/>
                  </a:lnTo>
                  <a:lnTo>
                    <a:pt x="13533120" y="621792"/>
                  </a:lnTo>
                  <a:lnTo>
                    <a:pt x="0" y="621792"/>
                  </a:lnTo>
                  <a:close/>
                </a:path>
              </a:pathLst>
            </a:custGeom>
            <a:blipFill>
              <a:blip r:embed="rId3">
                <a:alphaModFix amt="0"/>
              </a:blip>
              <a:stretch>
                <a:fillRect l="0" t="-374086" r="0" b="-374086"/>
              </a:stretch>
            </a:blipFill>
          </p:spPr>
        </p:sp>
        <p:sp>
          <p:nvSpPr>
            <p:cNvPr name="TextBox 9" id="9"/>
            <p:cNvSpPr txBox="true"/>
            <p:nvPr/>
          </p:nvSpPr>
          <p:spPr>
            <a:xfrm>
              <a:off x="0" y="-19050"/>
              <a:ext cx="13533120" cy="640842"/>
            </a:xfrm>
            <a:prstGeom prst="rect">
              <a:avLst/>
            </a:prstGeom>
          </p:spPr>
          <p:txBody>
            <a:bodyPr anchor="ctr" rtlCol="false" tIns="0" lIns="0" bIns="0" rIns="0"/>
            <a:lstStyle/>
            <a:p>
              <a:pPr algn="l">
                <a:lnSpc>
                  <a:spcPts val="2340"/>
                </a:lnSpc>
              </a:pPr>
              <a:r>
                <a:rPr lang="en-US" b="true" sz="1950" spc="375">
                  <a:solidFill>
                    <a:srgbClr val="8FBEBE"/>
                  </a:solidFill>
                  <a:latin typeface="Poppins Bold"/>
                  <a:ea typeface="Poppins Bold"/>
                  <a:cs typeface="Poppins Bold"/>
                  <a:sym typeface="Poppins Bold"/>
                </a:rPr>
                <a:t>PART ONE</a:t>
              </a:r>
            </a:p>
          </p:txBody>
        </p:sp>
      </p:grpSp>
      <p:grpSp>
        <p:nvGrpSpPr>
          <p:cNvPr name="Group 10" id="10"/>
          <p:cNvGrpSpPr/>
          <p:nvPr/>
        </p:nvGrpSpPr>
        <p:grpSpPr>
          <a:xfrm rot="0">
            <a:off x="1069848" y="4361688"/>
            <a:ext cx="1851660" cy="116586"/>
            <a:chOff x="0" y="0"/>
            <a:chExt cx="2468880" cy="155448"/>
          </a:xfrm>
        </p:grpSpPr>
        <p:sp>
          <p:nvSpPr>
            <p:cNvPr name="Freeform 11" id="11"/>
            <p:cNvSpPr/>
            <p:nvPr/>
          </p:nvSpPr>
          <p:spPr>
            <a:xfrm flipH="false" flipV="false" rot="0">
              <a:off x="0" y="0"/>
              <a:ext cx="2468880" cy="155448"/>
            </a:xfrm>
            <a:custGeom>
              <a:avLst/>
              <a:gdLst/>
              <a:ahLst/>
              <a:cxnLst/>
              <a:rect r="r" b="b" t="t" l="l"/>
              <a:pathLst>
                <a:path h="155448" w="2468880">
                  <a:moveTo>
                    <a:pt x="0" y="0"/>
                  </a:moveTo>
                  <a:lnTo>
                    <a:pt x="2468880" y="0"/>
                  </a:lnTo>
                  <a:lnTo>
                    <a:pt x="2468880" y="155448"/>
                  </a:lnTo>
                  <a:lnTo>
                    <a:pt x="0" y="155448"/>
                  </a:lnTo>
                  <a:close/>
                </a:path>
              </a:pathLst>
            </a:custGeom>
            <a:solidFill>
              <a:srgbClr val="387F7F"/>
            </a:solidFill>
          </p:spPr>
        </p:sp>
      </p:grpSp>
      <p:grpSp>
        <p:nvGrpSpPr>
          <p:cNvPr name="Group 12" id="12"/>
          <p:cNvGrpSpPr/>
          <p:nvPr/>
        </p:nvGrpSpPr>
        <p:grpSpPr>
          <a:xfrm rot="0">
            <a:off x="1069848" y="4732020"/>
            <a:ext cx="11109960" cy="2194560"/>
            <a:chOff x="0" y="0"/>
            <a:chExt cx="14813280" cy="2926080"/>
          </a:xfrm>
        </p:grpSpPr>
        <p:sp>
          <p:nvSpPr>
            <p:cNvPr name="Freeform 13" id="13"/>
            <p:cNvSpPr/>
            <p:nvPr/>
          </p:nvSpPr>
          <p:spPr>
            <a:xfrm flipH="false" flipV="false" rot="0">
              <a:off x="0" y="0"/>
              <a:ext cx="14813280" cy="2926080"/>
            </a:xfrm>
            <a:custGeom>
              <a:avLst/>
              <a:gdLst/>
              <a:ahLst/>
              <a:cxnLst/>
              <a:rect r="r" b="b" t="t" l="l"/>
              <a:pathLst>
                <a:path h="2926080" w="14813280">
                  <a:moveTo>
                    <a:pt x="0" y="0"/>
                  </a:moveTo>
                  <a:lnTo>
                    <a:pt x="14813280" y="0"/>
                  </a:lnTo>
                  <a:lnTo>
                    <a:pt x="14813280" y="2926080"/>
                  </a:lnTo>
                  <a:lnTo>
                    <a:pt x="0" y="2926080"/>
                  </a:lnTo>
                  <a:close/>
                </a:path>
              </a:pathLst>
            </a:custGeom>
            <a:blipFill>
              <a:blip r:embed="rId3">
                <a:alphaModFix amt="0"/>
              </a:blip>
              <a:stretch>
                <a:fillRect l="0" t="-48643" r="0" b="-48643"/>
              </a:stretch>
            </a:blipFill>
          </p:spPr>
        </p:sp>
        <p:sp>
          <p:nvSpPr>
            <p:cNvPr name="TextBox 14" id="14"/>
            <p:cNvSpPr txBox="true"/>
            <p:nvPr/>
          </p:nvSpPr>
          <p:spPr>
            <a:xfrm>
              <a:off x="0" y="-104775"/>
              <a:ext cx="14813280" cy="3030855"/>
            </a:xfrm>
            <a:prstGeom prst="rect">
              <a:avLst/>
            </a:prstGeom>
          </p:spPr>
          <p:txBody>
            <a:bodyPr anchor="ctr" rtlCol="false" tIns="0" lIns="0" bIns="0" rIns="0"/>
            <a:lstStyle/>
            <a:p>
              <a:pPr algn="l">
                <a:lnSpc>
                  <a:spcPts val="6998"/>
                </a:lnSpc>
              </a:pPr>
              <a:r>
                <a:rPr lang="en-US" sz="5400" b="true">
                  <a:solidFill>
                    <a:srgbClr val="FFFFFF"/>
                  </a:solidFill>
                  <a:latin typeface="Poppins Bold"/>
                  <a:ea typeface="Poppins Bold"/>
                  <a:cs typeface="Poppins Bold"/>
                  <a:sym typeface="Poppins Bold"/>
                </a:rPr>
                <a:t>What Power BI actually is</a:t>
              </a:r>
            </a:p>
          </p:txBody>
        </p:sp>
      </p:grpSp>
      <p:grpSp>
        <p:nvGrpSpPr>
          <p:cNvPr name="Group 15" id="15"/>
          <p:cNvGrpSpPr/>
          <p:nvPr/>
        </p:nvGrpSpPr>
        <p:grpSpPr>
          <a:xfrm rot="0">
            <a:off x="1124712" y="7399782"/>
            <a:ext cx="219456" cy="219456"/>
            <a:chOff x="0" y="0"/>
            <a:chExt cx="292608" cy="292608"/>
          </a:xfrm>
        </p:grpSpPr>
        <p:sp>
          <p:nvSpPr>
            <p:cNvPr name="Freeform 16" id="16"/>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7" id="17"/>
          <p:cNvGrpSpPr/>
          <p:nvPr/>
        </p:nvGrpSpPr>
        <p:grpSpPr>
          <a:xfrm rot="0">
            <a:off x="1645920" y="7283196"/>
            <a:ext cx="9875520" cy="466344"/>
            <a:chOff x="0" y="0"/>
            <a:chExt cx="13167360" cy="621792"/>
          </a:xfrm>
        </p:grpSpPr>
        <p:sp>
          <p:nvSpPr>
            <p:cNvPr name="Freeform 18" id="18"/>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3">
                <a:alphaModFix amt="0"/>
              </a:blip>
              <a:stretch>
                <a:fillRect l="0" t="-362624" r="0" b="-362624"/>
              </a:stretch>
            </a:blipFill>
          </p:spPr>
        </p:sp>
        <p:sp>
          <p:nvSpPr>
            <p:cNvPr name="TextBox 19" id="19"/>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Recognise the three stages you already know</a:t>
              </a:r>
            </a:p>
          </p:txBody>
        </p:sp>
      </p:grpSp>
      <p:grpSp>
        <p:nvGrpSpPr>
          <p:cNvPr name="Group 20" id="20"/>
          <p:cNvGrpSpPr/>
          <p:nvPr/>
        </p:nvGrpSpPr>
        <p:grpSpPr>
          <a:xfrm rot="0">
            <a:off x="1124712" y="7975854"/>
            <a:ext cx="219456" cy="219456"/>
            <a:chOff x="0" y="0"/>
            <a:chExt cx="292608" cy="292608"/>
          </a:xfrm>
        </p:grpSpPr>
        <p:sp>
          <p:nvSpPr>
            <p:cNvPr name="Freeform 21" id="21"/>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22" id="22"/>
          <p:cNvGrpSpPr/>
          <p:nvPr/>
        </p:nvGrpSpPr>
        <p:grpSpPr>
          <a:xfrm rot="0">
            <a:off x="1645920" y="7859268"/>
            <a:ext cx="9875520" cy="466344"/>
            <a:chOff x="0" y="0"/>
            <a:chExt cx="13167360" cy="621792"/>
          </a:xfrm>
        </p:grpSpPr>
        <p:sp>
          <p:nvSpPr>
            <p:cNvPr name="Freeform 23" id="23"/>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3">
                <a:alphaModFix amt="0"/>
              </a:blip>
              <a:stretch>
                <a:fillRect l="0" t="-362624" r="0" b="-362624"/>
              </a:stretch>
            </a:blipFill>
          </p:spPr>
        </p:sp>
        <p:sp>
          <p:nvSpPr>
            <p:cNvPr name="TextBox 24" id="24"/>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See why BI is a product, not a one-off analysis</a:t>
              </a:r>
            </a:p>
          </p:txBody>
        </p:sp>
      </p:grpSp>
      <p:grpSp>
        <p:nvGrpSpPr>
          <p:cNvPr name="Group 25" id="25"/>
          <p:cNvGrpSpPr/>
          <p:nvPr/>
        </p:nvGrpSpPr>
        <p:grpSpPr>
          <a:xfrm rot="0">
            <a:off x="1124712" y="8551926"/>
            <a:ext cx="219456" cy="219456"/>
            <a:chOff x="0" y="0"/>
            <a:chExt cx="292608" cy="292608"/>
          </a:xfrm>
        </p:grpSpPr>
        <p:sp>
          <p:nvSpPr>
            <p:cNvPr name="Freeform 26" id="26"/>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27" id="27"/>
          <p:cNvGrpSpPr/>
          <p:nvPr/>
        </p:nvGrpSpPr>
        <p:grpSpPr>
          <a:xfrm rot="0">
            <a:off x="1645920" y="8435340"/>
            <a:ext cx="9875520" cy="466344"/>
            <a:chOff x="0" y="0"/>
            <a:chExt cx="13167360" cy="621792"/>
          </a:xfrm>
        </p:grpSpPr>
        <p:sp>
          <p:nvSpPr>
            <p:cNvPr name="Freeform 28" id="28"/>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3">
                <a:alphaModFix amt="0"/>
              </a:blip>
              <a:stretch>
                <a:fillRect l="0" t="-362624" r="0" b="-362624"/>
              </a:stretch>
            </a:blipFill>
          </p:spPr>
        </p:sp>
        <p:sp>
          <p:nvSpPr>
            <p:cNvPr name="TextBox 29" id="29"/>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Learn the load order that saves you an hour</a:t>
              </a:r>
            </a:p>
          </p:txBody>
        </p:sp>
      </p:grpSp>
      <p:grpSp>
        <p:nvGrpSpPr>
          <p:cNvPr name="Group 30" id="30"/>
          <p:cNvGrpSpPr/>
          <p:nvPr/>
        </p:nvGrpSpPr>
        <p:grpSpPr>
          <a:xfrm rot="0">
            <a:off x="17533572" y="9710928"/>
            <a:ext cx="548640" cy="411480"/>
            <a:chOff x="0" y="0"/>
            <a:chExt cx="731520" cy="548640"/>
          </a:xfrm>
        </p:grpSpPr>
        <p:sp>
          <p:nvSpPr>
            <p:cNvPr name="Freeform 31" id="31"/>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32" id="32"/>
            <p:cNvSpPr txBox="true"/>
            <p:nvPr/>
          </p:nvSpPr>
          <p:spPr>
            <a:xfrm>
              <a:off x="0" y="-9525"/>
              <a:ext cx="731520" cy="558165"/>
            </a:xfrm>
            <a:prstGeom prst="rect">
              <a:avLst/>
            </a:prstGeom>
          </p:spPr>
          <p:txBody>
            <a:bodyPr anchor="ctr" rtlCol="false" tIns="0" lIns="0" bIns="0" rIns="0"/>
            <a:lstStyle/>
            <a:p>
              <a:pPr algn="r">
                <a:lnSpc>
                  <a:spcPts val="1980"/>
                </a:lnSpc>
              </a:pPr>
              <a:r>
                <a:rPr lang="en-US" sz="1650">
                  <a:solidFill>
                    <a:srgbClr val="7FA3A3"/>
                  </a:solidFill>
                  <a:latin typeface="Poppins"/>
                  <a:ea typeface="Poppins"/>
                  <a:cs typeface="Poppins"/>
                  <a:sym typeface="Poppins"/>
                </a:rPr>
                <a:t>5</a:t>
              </a:r>
            </a:p>
          </p:txBody>
        </p:sp>
      </p:grpSp>
      <p:sp>
        <p:nvSpPr>
          <p:cNvPr name="Freeform 33" id="33"/>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028700" y="981075"/>
            <a:ext cx="10033397" cy="762000"/>
          </a:xfrm>
          <a:prstGeom prst="rect">
            <a:avLst/>
          </a:prstGeom>
        </p:spPr>
        <p:txBody>
          <a:bodyPr anchor="t" rtlCol="false" tIns="0" lIns="0" bIns="0" rIns="0">
            <a:spAutoFit/>
          </a:bodyPr>
          <a:lstStyle/>
          <a:p>
            <a:pPr algn="l">
              <a:lnSpc>
                <a:spcPts val="5640"/>
              </a:lnSpc>
            </a:pPr>
            <a:r>
              <a:rPr lang="en-US" sz="4700">
                <a:solidFill>
                  <a:srgbClr val="388080"/>
                </a:solidFill>
                <a:latin typeface="Poppins"/>
                <a:ea typeface="Poppins"/>
                <a:cs typeface="Poppins"/>
                <a:sym typeface="Poppins"/>
              </a:rPr>
              <a:t>You already know</a:t>
            </a:r>
            <a:r>
              <a:rPr lang="en-US" sz="4700">
                <a:solidFill>
                  <a:srgbClr val="388080"/>
                </a:solidFill>
                <a:latin typeface="Poppins"/>
                <a:ea typeface="Poppins"/>
                <a:cs typeface="Poppins"/>
                <a:sym typeface="Poppins"/>
              </a:rPr>
              <a:t> all three stages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8700" y="2924170"/>
            <a:ext cx="4457700" cy="3566160"/>
            <a:chOff x="0" y="0"/>
            <a:chExt cx="5943600" cy="4754880"/>
          </a:xfrm>
        </p:grpSpPr>
        <p:sp>
          <p:nvSpPr>
            <p:cNvPr name="Freeform 12" id="12"/>
            <p:cNvSpPr/>
            <p:nvPr/>
          </p:nvSpPr>
          <p:spPr>
            <a:xfrm flipH="false" flipV="false" rot="0">
              <a:off x="0" y="0"/>
              <a:ext cx="5943600" cy="4754880"/>
            </a:xfrm>
            <a:custGeom>
              <a:avLst/>
              <a:gdLst/>
              <a:ahLst/>
              <a:cxnLst/>
              <a:rect r="r" b="b" t="t" l="l"/>
              <a:pathLst>
                <a:path h="4754880" w="5943600">
                  <a:moveTo>
                    <a:pt x="0" y="182880"/>
                  </a:moveTo>
                  <a:cubicBezTo>
                    <a:pt x="0" y="81915"/>
                    <a:pt x="81915" y="0"/>
                    <a:pt x="182880" y="0"/>
                  </a:cubicBezTo>
                  <a:lnTo>
                    <a:pt x="5760720" y="0"/>
                  </a:lnTo>
                  <a:cubicBezTo>
                    <a:pt x="5861685" y="0"/>
                    <a:pt x="5943600" y="81915"/>
                    <a:pt x="5943600" y="182880"/>
                  </a:cubicBezTo>
                  <a:lnTo>
                    <a:pt x="5943600" y="4572000"/>
                  </a:lnTo>
                  <a:cubicBezTo>
                    <a:pt x="5943600" y="4672965"/>
                    <a:pt x="5861685" y="4754880"/>
                    <a:pt x="5760720" y="4754880"/>
                  </a:cubicBezTo>
                  <a:lnTo>
                    <a:pt x="182880" y="4754880"/>
                  </a:lnTo>
                  <a:cubicBezTo>
                    <a:pt x="81915" y="4754880"/>
                    <a:pt x="0" y="4672965"/>
                    <a:pt x="0" y="4572000"/>
                  </a:cubicBezTo>
                  <a:close/>
                </a:path>
              </a:pathLst>
            </a:custGeom>
            <a:solidFill>
              <a:srgbClr val="FFFFFF"/>
            </a:solidFill>
          </p:spPr>
        </p:sp>
      </p:grpSp>
      <p:grpSp>
        <p:nvGrpSpPr>
          <p:cNvPr name="Group 13" id="13"/>
          <p:cNvGrpSpPr/>
          <p:nvPr/>
        </p:nvGrpSpPr>
        <p:grpSpPr>
          <a:xfrm rot="0">
            <a:off x="1028700" y="2924170"/>
            <a:ext cx="4457700" cy="795528"/>
            <a:chOff x="0" y="0"/>
            <a:chExt cx="5943600" cy="1060704"/>
          </a:xfrm>
        </p:grpSpPr>
        <p:sp>
          <p:nvSpPr>
            <p:cNvPr name="Freeform 14" id="14"/>
            <p:cNvSpPr/>
            <p:nvPr/>
          </p:nvSpPr>
          <p:spPr>
            <a:xfrm flipH="false" flipV="false" rot="0">
              <a:off x="0" y="0"/>
              <a:ext cx="5943600" cy="1060704"/>
            </a:xfrm>
            <a:custGeom>
              <a:avLst/>
              <a:gdLst/>
              <a:ahLst/>
              <a:cxnLst/>
              <a:rect r="r" b="b" t="t" l="l"/>
              <a:pathLst>
                <a:path h="1060704" w="5943600">
                  <a:moveTo>
                    <a:pt x="0" y="182880"/>
                  </a:moveTo>
                  <a:cubicBezTo>
                    <a:pt x="0" y="81915"/>
                    <a:pt x="81915" y="0"/>
                    <a:pt x="182880" y="0"/>
                  </a:cubicBezTo>
                  <a:lnTo>
                    <a:pt x="5760720" y="0"/>
                  </a:lnTo>
                  <a:cubicBezTo>
                    <a:pt x="5861685" y="0"/>
                    <a:pt x="5943600" y="81915"/>
                    <a:pt x="5943600" y="182880"/>
                  </a:cubicBezTo>
                  <a:lnTo>
                    <a:pt x="5943600" y="877824"/>
                  </a:lnTo>
                  <a:cubicBezTo>
                    <a:pt x="5943600" y="978789"/>
                    <a:pt x="5861685" y="1060704"/>
                    <a:pt x="5760720" y="1060704"/>
                  </a:cubicBezTo>
                  <a:lnTo>
                    <a:pt x="182880" y="1060704"/>
                  </a:lnTo>
                  <a:cubicBezTo>
                    <a:pt x="81915" y="1060704"/>
                    <a:pt x="0" y="978789"/>
                    <a:pt x="0" y="877824"/>
                  </a:cubicBezTo>
                  <a:close/>
                </a:path>
              </a:pathLst>
            </a:custGeom>
            <a:solidFill>
              <a:srgbClr val="387F7F"/>
            </a:solidFill>
          </p:spPr>
        </p:sp>
      </p:grpSp>
      <p:grpSp>
        <p:nvGrpSpPr>
          <p:cNvPr name="Group 15" id="15"/>
          <p:cNvGrpSpPr/>
          <p:nvPr/>
        </p:nvGrpSpPr>
        <p:grpSpPr>
          <a:xfrm rot="0">
            <a:off x="1028700" y="3321934"/>
            <a:ext cx="4457700" cy="397764"/>
            <a:chOff x="0" y="0"/>
            <a:chExt cx="5943600" cy="530352"/>
          </a:xfrm>
        </p:grpSpPr>
        <p:sp>
          <p:nvSpPr>
            <p:cNvPr name="Freeform 16" id="16"/>
            <p:cNvSpPr/>
            <p:nvPr/>
          </p:nvSpPr>
          <p:spPr>
            <a:xfrm flipH="false" flipV="false" rot="0">
              <a:off x="0" y="0"/>
              <a:ext cx="5943600" cy="530352"/>
            </a:xfrm>
            <a:custGeom>
              <a:avLst/>
              <a:gdLst/>
              <a:ahLst/>
              <a:cxnLst/>
              <a:rect r="r" b="b" t="t" l="l"/>
              <a:pathLst>
                <a:path h="530352" w="5943600">
                  <a:moveTo>
                    <a:pt x="0" y="0"/>
                  </a:moveTo>
                  <a:lnTo>
                    <a:pt x="5943600" y="0"/>
                  </a:lnTo>
                  <a:lnTo>
                    <a:pt x="5943600" y="530352"/>
                  </a:lnTo>
                  <a:lnTo>
                    <a:pt x="0" y="530352"/>
                  </a:lnTo>
                  <a:close/>
                </a:path>
              </a:pathLst>
            </a:custGeom>
            <a:solidFill>
              <a:srgbClr val="387F7F"/>
            </a:solidFill>
          </p:spPr>
        </p:sp>
      </p:grpSp>
      <p:grpSp>
        <p:nvGrpSpPr>
          <p:cNvPr name="Group 17" id="17"/>
          <p:cNvGrpSpPr/>
          <p:nvPr/>
        </p:nvGrpSpPr>
        <p:grpSpPr>
          <a:xfrm rot="0">
            <a:off x="1028700" y="2924170"/>
            <a:ext cx="4457700" cy="795528"/>
            <a:chOff x="0" y="0"/>
            <a:chExt cx="5943600" cy="1060704"/>
          </a:xfrm>
        </p:grpSpPr>
        <p:sp>
          <p:nvSpPr>
            <p:cNvPr name="Freeform 18" id="18"/>
            <p:cNvSpPr/>
            <p:nvPr/>
          </p:nvSpPr>
          <p:spPr>
            <a:xfrm flipH="false" flipV="false" rot="0">
              <a:off x="0" y="0"/>
              <a:ext cx="5943600" cy="1060704"/>
            </a:xfrm>
            <a:custGeom>
              <a:avLst/>
              <a:gdLst/>
              <a:ahLst/>
              <a:cxnLst/>
              <a:rect r="r" b="b" t="t" l="l"/>
              <a:pathLst>
                <a:path h="1060704" w="5943600">
                  <a:moveTo>
                    <a:pt x="0" y="0"/>
                  </a:moveTo>
                  <a:lnTo>
                    <a:pt x="5943600" y="0"/>
                  </a:lnTo>
                  <a:lnTo>
                    <a:pt x="5943600" y="1060704"/>
                  </a:lnTo>
                  <a:lnTo>
                    <a:pt x="0" y="1060704"/>
                  </a:lnTo>
                  <a:close/>
                </a:path>
              </a:pathLst>
            </a:custGeom>
            <a:blipFill>
              <a:blip r:embed="rId9">
                <a:alphaModFix amt="0"/>
              </a:blip>
              <a:stretch>
                <a:fillRect l="0" t="-59183" r="0" b="-59183"/>
              </a:stretch>
            </a:blipFill>
          </p:spPr>
        </p:sp>
        <p:sp>
          <p:nvSpPr>
            <p:cNvPr name="TextBox 19" id="19"/>
            <p:cNvSpPr txBox="true"/>
            <p:nvPr/>
          </p:nvSpPr>
          <p:spPr>
            <a:xfrm>
              <a:off x="0" y="-19050"/>
              <a:ext cx="5943600" cy="1079754"/>
            </a:xfrm>
            <a:prstGeom prst="rect">
              <a:avLst/>
            </a:prstGeom>
          </p:spPr>
          <p:txBody>
            <a:bodyPr anchor="ctr" rtlCol="false" tIns="0" lIns="0" bIns="0" rIns="0"/>
            <a:lstStyle/>
            <a:p>
              <a:pPr algn="ctr">
                <a:lnSpc>
                  <a:spcPts val="2520"/>
                </a:lnSpc>
              </a:pPr>
              <a:r>
                <a:rPr lang="en-US" sz="2100" b="true">
                  <a:solidFill>
                    <a:srgbClr val="FFFFFF"/>
                  </a:solidFill>
                  <a:latin typeface="Poppins Bold"/>
                  <a:ea typeface="Poppins Bold"/>
                  <a:cs typeface="Poppins Bold"/>
                  <a:sym typeface="Poppins Bold"/>
                </a:rPr>
                <a:t>1.  Power Query</a:t>
              </a:r>
            </a:p>
          </p:txBody>
        </p:sp>
      </p:grpSp>
      <p:grpSp>
        <p:nvGrpSpPr>
          <p:cNvPr name="Group 20" id="20"/>
          <p:cNvGrpSpPr/>
          <p:nvPr/>
        </p:nvGrpSpPr>
        <p:grpSpPr>
          <a:xfrm rot="0">
            <a:off x="2801969" y="4032213"/>
            <a:ext cx="911162" cy="911162"/>
            <a:chOff x="0" y="0"/>
            <a:chExt cx="1214882" cy="1214882"/>
          </a:xfrm>
        </p:grpSpPr>
        <p:sp>
          <p:nvSpPr>
            <p:cNvPr name="Freeform 21" id="21"/>
            <p:cNvSpPr/>
            <p:nvPr/>
          </p:nvSpPr>
          <p:spPr>
            <a:xfrm flipH="false" flipV="false" rot="0">
              <a:off x="0" y="0"/>
              <a:ext cx="1214882" cy="1214882"/>
            </a:xfrm>
            <a:custGeom>
              <a:avLst/>
              <a:gdLst/>
              <a:ahLst/>
              <a:cxnLst/>
              <a:rect r="r" b="b" t="t" l="l"/>
              <a:pathLst>
                <a:path h="1214882" w="1214882">
                  <a:moveTo>
                    <a:pt x="0" y="607441"/>
                  </a:moveTo>
                  <a:cubicBezTo>
                    <a:pt x="0" y="271907"/>
                    <a:pt x="271907" y="0"/>
                    <a:pt x="607441" y="0"/>
                  </a:cubicBezTo>
                  <a:cubicBezTo>
                    <a:pt x="942975" y="0"/>
                    <a:pt x="1214882" y="271907"/>
                    <a:pt x="1214882" y="607441"/>
                  </a:cubicBezTo>
                  <a:cubicBezTo>
                    <a:pt x="1214882" y="942975"/>
                    <a:pt x="942975" y="1214882"/>
                    <a:pt x="607441" y="1214882"/>
                  </a:cubicBezTo>
                  <a:cubicBezTo>
                    <a:pt x="271907" y="1214882"/>
                    <a:pt x="0" y="942975"/>
                    <a:pt x="0" y="607441"/>
                  </a:cubicBezTo>
                  <a:close/>
                </a:path>
              </a:pathLst>
            </a:custGeom>
            <a:solidFill>
              <a:srgbClr val="FFFFFF"/>
            </a:solidFill>
            <a:ln w="33338" cap="sq">
              <a:solidFill>
                <a:srgbClr val="387F7F"/>
              </a:solidFill>
              <a:prstDash val="solid"/>
              <a:miter/>
            </a:ln>
          </p:spPr>
        </p:sp>
      </p:grpSp>
      <p:grpSp>
        <p:nvGrpSpPr>
          <p:cNvPr name="Group 22" id="22"/>
          <p:cNvGrpSpPr/>
          <p:nvPr/>
        </p:nvGrpSpPr>
        <p:grpSpPr>
          <a:xfrm rot="0">
            <a:off x="2818638" y="4048882"/>
            <a:ext cx="877824" cy="877824"/>
            <a:chOff x="0" y="0"/>
            <a:chExt cx="1170432" cy="1170432"/>
          </a:xfrm>
        </p:grpSpPr>
        <p:sp>
          <p:nvSpPr>
            <p:cNvPr name="Freeform 23" id="23"/>
            <p:cNvSpPr/>
            <p:nvPr/>
          </p:nvSpPr>
          <p:spPr>
            <a:xfrm flipH="false" flipV="false" rot="0">
              <a:off x="0" y="0"/>
              <a:ext cx="1170432" cy="1170432"/>
            </a:xfrm>
            <a:custGeom>
              <a:avLst/>
              <a:gdLst/>
              <a:ahLst/>
              <a:cxnLst/>
              <a:rect r="r" b="b" t="t" l="l"/>
              <a:pathLst>
                <a:path h="1170432" w="1170432">
                  <a:moveTo>
                    <a:pt x="0" y="0"/>
                  </a:moveTo>
                  <a:lnTo>
                    <a:pt x="1170432" y="0"/>
                  </a:lnTo>
                  <a:lnTo>
                    <a:pt x="1170432" y="1170432"/>
                  </a:lnTo>
                  <a:lnTo>
                    <a:pt x="0" y="1170432"/>
                  </a:lnTo>
                  <a:close/>
                </a:path>
              </a:pathLst>
            </a:custGeom>
            <a:blipFill>
              <a:blip r:embed="rId9">
                <a:alphaModFix amt="0"/>
              </a:blip>
              <a:stretch>
                <a:fillRect l="-78303" t="0" r="-78303" b="0"/>
              </a:stretch>
            </a:blipFill>
          </p:spPr>
        </p:sp>
        <p:sp>
          <p:nvSpPr>
            <p:cNvPr name="TextBox 24" id="24"/>
            <p:cNvSpPr txBox="true"/>
            <p:nvPr/>
          </p:nvSpPr>
          <p:spPr>
            <a:xfrm>
              <a:off x="0" y="-19050"/>
              <a:ext cx="1170432" cy="1189482"/>
            </a:xfrm>
            <a:prstGeom prst="rect">
              <a:avLst/>
            </a:prstGeom>
          </p:spPr>
          <p:txBody>
            <a:bodyPr anchor="ctr" rtlCol="false" tIns="0" lIns="0" bIns="0" rIns="0"/>
            <a:lstStyle/>
            <a:p>
              <a:pPr algn="ctr">
                <a:lnSpc>
                  <a:spcPts val="3779"/>
                </a:lnSpc>
              </a:pPr>
              <a:r>
                <a:rPr lang="en-US" sz="3150" b="true">
                  <a:solidFill>
                    <a:srgbClr val="387F7F"/>
                  </a:solidFill>
                  <a:latin typeface="Poppins Bold"/>
                  <a:ea typeface="Poppins Bold"/>
                  <a:cs typeface="Poppins Bold"/>
                  <a:sym typeface="Poppins Bold"/>
                </a:rPr>
                <a:t>◫</a:t>
              </a:r>
            </a:p>
          </p:txBody>
        </p:sp>
      </p:grpSp>
      <p:grpSp>
        <p:nvGrpSpPr>
          <p:cNvPr name="Group 25" id="25"/>
          <p:cNvGrpSpPr/>
          <p:nvPr/>
        </p:nvGrpSpPr>
        <p:grpSpPr>
          <a:xfrm rot="0">
            <a:off x="2407158" y="5118730"/>
            <a:ext cx="1700784" cy="411480"/>
            <a:chOff x="0" y="0"/>
            <a:chExt cx="2267712" cy="548640"/>
          </a:xfrm>
        </p:grpSpPr>
        <p:sp>
          <p:nvSpPr>
            <p:cNvPr name="Freeform 26" id="26"/>
            <p:cNvSpPr/>
            <p:nvPr/>
          </p:nvSpPr>
          <p:spPr>
            <a:xfrm flipH="false" flipV="false" rot="0">
              <a:off x="0" y="0"/>
              <a:ext cx="2267712" cy="548640"/>
            </a:xfrm>
            <a:custGeom>
              <a:avLst/>
              <a:gdLst/>
              <a:ahLst/>
              <a:cxnLst/>
              <a:rect r="r" b="b" t="t" l="l"/>
              <a:pathLst>
                <a:path h="548640" w="2267712">
                  <a:moveTo>
                    <a:pt x="0" y="274320"/>
                  </a:moveTo>
                  <a:cubicBezTo>
                    <a:pt x="0" y="122809"/>
                    <a:pt x="122809" y="0"/>
                    <a:pt x="274320" y="0"/>
                  </a:cubicBezTo>
                  <a:lnTo>
                    <a:pt x="1993392" y="0"/>
                  </a:lnTo>
                  <a:cubicBezTo>
                    <a:pt x="2144903" y="0"/>
                    <a:pt x="2267712" y="122809"/>
                    <a:pt x="2267712" y="274320"/>
                  </a:cubicBezTo>
                  <a:cubicBezTo>
                    <a:pt x="2267712" y="425831"/>
                    <a:pt x="2144903" y="548640"/>
                    <a:pt x="1993392" y="548640"/>
                  </a:cubicBezTo>
                  <a:lnTo>
                    <a:pt x="274320" y="548640"/>
                  </a:lnTo>
                  <a:cubicBezTo>
                    <a:pt x="122809" y="548640"/>
                    <a:pt x="0" y="425831"/>
                    <a:pt x="0" y="274320"/>
                  </a:cubicBezTo>
                  <a:close/>
                </a:path>
              </a:pathLst>
            </a:custGeom>
            <a:solidFill>
              <a:srgbClr val="EEF4F4"/>
            </a:solidFill>
          </p:spPr>
        </p:sp>
      </p:grpSp>
      <p:grpSp>
        <p:nvGrpSpPr>
          <p:cNvPr name="Group 27" id="27"/>
          <p:cNvGrpSpPr/>
          <p:nvPr/>
        </p:nvGrpSpPr>
        <p:grpSpPr>
          <a:xfrm rot="0">
            <a:off x="2407158" y="5118730"/>
            <a:ext cx="1700784" cy="411480"/>
            <a:chOff x="0" y="0"/>
            <a:chExt cx="2267712" cy="548640"/>
          </a:xfrm>
        </p:grpSpPr>
        <p:sp>
          <p:nvSpPr>
            <p:cNvPr name="Freeform 28" id="28"/>
            <p:cNvSpPr/>
            <p:nvPr/>
          </p:nvSpPr>
          <p:spPr>
            <a:xfrm flipH="false" flipV="false" rot="0">
              <a:off x="0" y="0"/>
              <a:ext cx="2267712" cy="548640"/>
            </a:xfrm>
            <a:custGeom>
              <a:avLst/>
              <a:gdLst/>
              <a:ahLst/>
              <a:cxnLst/>
              <a:rect r="r" b="b" t="t" l="l"/>
              <a:pathLst>
                <a:path h="548640" w="2267712">
                  <a:moveTo>
                    <a:pt x="0" y="0"/>
                  </a:moveTo>
                  <a:lnTo>
                    <a:pt x="2267712" y="0"/>
                  </a:lnTo>
                  <a:lnTo>
                    <a:pt x="2267712" y="548640"/>
                  </a:lnTo>
                  <a:lnTo>
                    <a:pt x="0" y="548640"/>
                  </a:lnTo>
                  <a:close/>
                </a:path>
              </a:pathLst>
            </a:custGeom>
            <a:blipFill>
              <a:blip r:embed="rId9">
                <a:alphaModFix amt="0"/>
              </a:blip>
              <a:stretch>
                <a:fillRect l="0" t="-30538" r="0" b="-30538"/>
              </a:stretch>
            </a:blipFill>
          </p:spPr>
        </p:sp>
        <p:sp>
          <p:nvSpPr>
            <p:cNvPr name="TextBox 29" id="29"/>
            <p:cNvSpPr txBox="true"/>
            <p:nvPr/>
          </p:nvSpPr>
          <p:spPr>
            <a:xfrm>
              <a:off x="0" y="-19050"/>
              <a:ext cx="2267712" cy="567690"/>
            </a:xfrm>
            <a:prstGeom prst="rect">
              <a:avLst/>
            </a:prstGeom>
          </p:spPr>
          <p:txBody>
            <a:bodyPr anchor="ctr" rtlCol="false" tIns="0" lIns="0" bIns="0" rIns="0"/>
            <a:lstStyle/>
            <a:p>
              <a:pPr algn="ctr">
                <a:lnSpc>
                  <a:spcPts val="1800"/>
                </a:lnSpc>
              </a:pPr>
              <a:r>
                <a:rPr lang="en-US" sz="1500" b="true">
                  <a:solidFill>
                    <a:srgbClr val="387F7F"/>
                  </a:solidFill>
                  <a:latin typeface="Poppins Bold"/>
                  <a:ea typeface="Poppins Bold"/>
                  <a:cs typeface="Poppins Bold"/>
                  <a:sym typeface="Poppins Bold"/>
                </a:rPr>
                <a:t>Module 2</a:t>
              </a:r>
            </a:p>
          </p:txBody>
        </p:sp>
      </p:grpSp>
      <p:sp>
        <p:nvSpPr>
          <p:cNvPr name="TextBox 30" id="30"/>
          <p:cNvSpPr txBox="true"/>
          <p:nvPr/>
        </p:nvSpPr>
        <p:spPr>
          <a:xfrm rot="0">
            <a:off x="1357884" y="5600695"/>
            <a:ext cx="3799332" cy="821055"/>
          </a:xfrm>
          <a:prstGeom prst="rect">
            <a:avLst/>
          </a:prstGeom>
        </p:spPr>
        <p:txBody>
          <a:bodyPr anchor="t" rtlCol="false" tIns="0" lIns="0" bIns="0" rIns="0">
            <a:spAutoFit/>
          </a:bodyPr>
          <a:lstStyle/>
          <a:p>
            <a:pPr algn="ctr">
              <a:lnSpc>
                <a:spcPts val="2635"/>
              </a:lnSpc>
            </a:pPr>
            <a:r>
              <a:rPr lang="en-US" sz="1800">
                <a:solidFill>
                  <a:srgbClr val="475569"/>
                </a:solidFill>
                <a:latin typeface="Poppins"/>
                <a:ea typeface="Poppins"/>
                <a:cs typeface="Poppins"/>
                <a:sym typeface="Poppins"/>
              </a:rPr>
              <a:t>Same tool. Literally the same interface as Excel.</a:t>
            </a:r>
          </a:p>
        </p:txBody>
      </p:sp>
      <p:grpSp>
        <p:nvGrpSpPr>
          <p:cNvPr name="Group 31" id="31"/>
          <p:cNvGrpSpPr/>
          <p:nvPr/>
        </p:nvGrpSpPr>
        <p:grpSpPr>
          <a:xfrm rot="0">
            <a:off x="5568696" y="4227190"/>
            <a:ext cx="685800" cy="685800"/>
            <a:chOff x="0" y="0"/>
            <a:chExt cx="914400" cy="914400"/>
          </a:xfrm>
        </p:grpSpPr>
        <p:sp>
          <p:nvSpPr>
            <p:cNvPr name="Freeform 32" id="3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33" id="33"/>
            <p:cNvSpPr txBox="true"/>
            <p:nvPr/>
          </p:nvSpPr>
          <p:spPr>
            <a:xfrm>
              <a:off x="0" y="-28575"/>
              <a:ext cx="914400" cy="942975"/>
            </a:xfrm>
            <a:prstGeom prst="rect">
              <a:avLst/>
            </a:prstGeom>
          </p:spPr>
          <p:txBody>
            <a:bodyPr anchor="ctr" rtlCol="false" tIns="0" lIns="0" bIns="0" rIns="0"/>
            <a:lstStyle/>
            <a:p>
              <a:pPr algn="ctr">
                <a:lnSpc>
                  <a:spcPts val="4140"/>
                </a:lnSpc>
              </a:pPr>
              <a:r>
                <a:rPr lang="en-US" sz="3450" b="true">
                  <a:solidFill>
                    <a:srgbClr val="387F7F"/>
                  </a:solidFill>
                  <a:latin typeface="Poppins Bold"/>
                  <a:ea typeface="Poppins Bold"/>
                  <a:cs typeface="Poppins Bold"/>
                  <a:sym typeface="Poppins Bold"/>
                </a:rPr>
                <a:t>›</a:t>
              </a:r>
            </a:p>
          </p:txBody>
        </p:sp>
      </p:grpSp>
      <p:grpSp>
        <p:nvGrpSpPr>
          <p:cNvPr name="Group 34" id="34"/>
          <p:cNvGrpSpPr/>
          <p:nvPr/>
        </p:nvGrpSpPr>
        <p:grpSpPr>
          <a:xfrm rot="0">
            <a:off x="6309360" y="2924170"/>
            <a:ext cx="4457700" cy="3566160"/>
            <a:chOff x="0" y="0"/>
            <a:chExt cx="5943600" cy="4754880"/>
          </a:xfrm>
        </p:grpSpPr>
        <p:sp>
          <p:nvSpPr>
            <p:cNvPr name="Freeform 35" id="35"/>
            <p:cNvSpPr/>
            <p:nvPr/>
          </p:nvSpPr>
          <p:spPr>
            <a:xfrm flipH="false" flipV="false" rot="0">
              <a:off x="0" y="0"/>
              <a:ext cx="5943600" cy="4754880"/>
            </a:xfrm>
            <a:custGeom>
              <a:avLst/>
              <a:gdLst/>
              <a:ahLst/>
              <a:cxnLst/>
              <a:rect r="r" b="b" t="t" l="l"/>
              <a:pathLst>
                <a:path h="4754880" w="5943600">
                  <a:moveTo>
                    <a:pt x="0" y="182880"/>
                  </a:moveTo>
                  <a:cubicBezTo>
                    <a:pt x="0" y="81915"/>
                    <a:pt x="81915" y="0"/>
                    <a:pt x="182880" y="0"/>
                  </a:cubicBezTo>
                  <a:lnTo>
                    <a:pt x="5760720" y="0"/>
                  </a:lnTo>
                  <a:cubicBezTo>
                    <a:pt x="5861685" y="0"/>
                    <a:pt x="5943600" y="81915"/>
                    <a:pt x="5943600" y="182880"/>
                  </a:cubicBezTo>
                  <a:lnTo>
                    <a:pt x="5943600" y="4572000"/>
                  </a:lnTo>
                  <a:cubicBezTo>
                    <a:pt x="5943600" y="4672965"/>
                    <a:pt x="5861685" y="4754880"/>
                    <a:pt x="5760720" y="4754880"/>
                  </a:cubicBezTo>
                  <a:lnTo>
                    <a:pt x="182880" y="4754880"/>
                  </a:lnTo>
                  <a:cubicBezTo>
                    <a:pt x="81915" y="4754880"/>
                    <a:pt x="0" y="4672965"/>
                    <a:pt x="0" y="4572000"/>
                  </a:cubicBezTo>
                  <a:close/>
                </a:path>
              </a:pathLst>
            </a:custGeom>
            <a:solidFill>
              <a:srgbClr val="FFFFFF"/>
            </a:solidFill>
          </p:spPr>
        </p:sp>
      </p:grpSp>
      <p:grpSp>
        <p:nvGrpSpPr>
          <p:cNvPr name="Group 36" id="36"/>
          <p:cNvGrpSpPr/>
          <p:nvPr/>
        </p:nvGrpSpPr>
        <p:grpSpPr>
          <a:xfrm rot="0">
            <a:off x="6309360" y="2924170"/>
            <a:ext cx="4457700" cy="795528"/>
            <a:chOff x="0" y="0"/>
            <a:chExt cx="5943600" cy="1060704"/>
          </a:xfrm>
        </p:grpSpPr>
        <p:sp>
          <p:nvSpPr>
            <p:cNvPr name="Freeform 37" id="37"/>
            <p:cNvSpPr/>
            <p:nvPr/>
          </p:nvSpPr>
          <p:spPr>
            <a:xfrm flipH="false" flipV="false" rot="0">
              <a:off x="0" y="0"/>
              <a:ext cx="5943600" cy="1060704"/>
            </a:xfrm>
            <a:custGeom>
              <a:avLst/>
              <a:gdLst/>
              <a:ahLst/>
              <a:cxnLst/>
              <a:rect r="r" b="b" t="t" l="l"/>
              <a:pathLst>
                <a:path h="1060704" w="5943600">
                  <a:moveTo>
                    <a:pt x="0" y="182880"/>
                  </a:moveTo>
                  <a:cubicBezTo>
                    <a:pt x="0" y="81915"/>
                    <a:pt x="81915" y="0"/>
                    <a:pt x="182880" y="0"/>
                  </a:cubicBezTo>
                  <a:lnTo>
                    <a:pt x="5760720" y="0"/>
                  </a:lnTo>
                  <a:cubicBezTo>
                    <a:pt x="5861685" y="0"/>
                    <a:pt x="5943600" y="81915"/>
                    <a:pt x="5943600" y="182880"/>
                  </a:cubicBezTo>
                  <a:lnTo>
                    <a:pt x="5943600" y="877824"/>
                  </a:lnTo>
                  <a:cubicBezTo>
                    <a:pt x="5943600" y="978789"/>
                    <a:pt x="5861685" y="1060704"/>
                    <a:pt x="5760720" y="1060704"/>
                  </a:cubicBezTo>
                  <a:lnTo>
                    <a:pt x="182880" y="1060704"/>
                  </a:lnTo>
                  <a:cubicBezTo>
                    <a:pt x="81915" y="1060704"/>
                    <a:pt x="0" y="978789"/>
                    <a:pt x="0" y="877824"/>
                  </a:cubicBezTo>
                  <a:close/>
                </a:path>
              </a:pathLst>
            </a:custGeom>
            <a:solidFill>
              <a:srgbClr val="387F7F"/>
            </a:solidFill>
          </p:spPr>
        </p:sp>
      </p:grpSp>
      <p:grpSp>
        <p:nvGrpSpPr>
          <p:cNvPr name="Group 38" id="38"/>
          <p:cNvGrpSpPr/>
          <p:nvPr/>
        </p:nvGrpSpPr>
        <p:grpSpPr>
          <a:xfrm rot="0">
            <a:off x="6309360" y="3321934"/>
            <a:ext cx="4457700" cy="397764"/>
            <a:chOff x="0" y="0"/>
            <a:chExt cx="5943600" cy="530352"/>
          </a:xfrm>
        </p:grpSpPr>
        <p:sp>
          <p:nvSpPr>
            <p:cNvPr name="Freeform 39" id="39"/>
            <p:cNvSpPr/>
            <p:nvPr/>
          </p:nvSpPr>
          <p:spPr>
            <a:xfrm flipH="false" flipV="false" rot="0">
              <a:off x="0" y="0"/>
              <a:ext cx="5943600" cy="530352"/>
            </a:xfrm>
            <a:custGeom>
              <a:avLst/>
              <a:gdLst/>
              <a:ahLst/>
              <a:cxnLst/>
              <a:rect r="r" b="b" t="t" l="l"/>
              <a:pathLst>
                <a:path h="530352" w="5943600">
                  <a:moveTo>
                    <a:pt x="0" y="0"/>
                  </a:moveTo>
                  <a:lnTo>
                    <a:pt x="5943600" y="0"/>
                  </a:lnTo>
                  <a:lnTo>
                    <a:pt x="5943600" y="530352"/>
                  </a:lnTo>
                  <a:lnTo>
                    <a:pt x="0" y="530352"/>
                  </a:lnTo>
                  <a:close/>
                </a:path>
              </a:pathLst>
            </a:custGeom>
            <a:solidFill>
              <a:srgbClr val="387F7F"/>
            </a:solidFill>
          </p:spPr>
        </p:sp>
      </p:grpSp>
      <p:grpSp>
        <p:nvGrpSpPr>
          <p:cNvPr name="Group 40" id="40"/>
          <p:cNvGrpSpPr/>
          <p:nvPr/>
        </p:nvGrpSpPr>
        <p:grpSpPr>
          <a:xfrm rot="0">
            <a:off x="6309360" y="2924170"/>
            <a:ext cx="4457700" cy="795528"/>
            <a:chOff x="0" y="0"/>
            <a:chExt cx="5943600" cy="1060704"/>
          </a:xfrm>
        </p:grpSpPr>
        <p:sp>
          <p:nvSpPr>
            <p:cNvPr name="Freeform 41" id="41"/>
            <p:cNvSpPr/>
            <p:nvPr/>
          </p:nvSpPr>
          <p:spPr>
            <a:xfrm flipH="false" flipV="false" rot="0">
              <a:off x="0" y="0"/>
              <a:ext cx="5943600" cy="1060704"/>
            </a:xfrm>
            <a:custGeom>
              <a:avLst/>
              <a:gdLst/>
              <a:ahLst/>
              <a:cxnLst/>
              <a:rect r="r" b="b" t="t" l="l"/>
              <a:pathLst>
                <a:path h="1060704" w="5943600">
                  <a:moveTo>
                    <a:pt x="0" y="0"/>
                  </a:moveTo>
                  <a:lnTo>
                    <a:pt x="5943600" y="0"/>
                  </a:lnTo>
                  <a:lnTo>
                    <a:pt x="5943600" y="1060704"/>
                  </a:lnTo>
                  <a:lnTo>
                    <a:pt x="0" y="1060704"/>
                  </a:lnTo>
                  <a:close/>
                </a:path>
              </a:pathLst>
            </a:custGeom>
            <a:blipFill>
              <a:blip r:embed="rId9">
                <a:alphaModFix amt="0"/>
              </a:blip>
              <a:stretch>
                <a:fillRect l="0" t="-59183" r="0" b="-59183"/>
              </a:stretch>
            </a:blipFill>
          </p:spPr>
        </p:sp>
        <p:sp>
          <p:nvSpPr>
            <p:cNvPr name="TextBox 42" id="42"/>
            <p:cNvSpPr txBox="true"/>
            <p:nvPr/>
          </p:nvSpPr>
          <p:spPr>
            <a:xfrm>
              <a:off x="0" y="-19050"/>
              <a:ext cx="5943600" cy="1079754"/>
            </a:xfrm>
            <a:prstGeom prst="rect">
              <a:avLst/>
            </a:prstGeom>
          </p:spPr>
          <p:txBody>
            <a:bodyPr anchor="ctr" rtlCol="false" tIns="0" lIns="0" bIns="0" rIns="0"/>
            <a:lstStyle/>
            <a:p>
              <a:pPr algn="ctr">
                <a:lnSpc>
                  <a:spcPts val="2520"/>
                </a:lnSpc>
              </a:pPr>
              <a:r>
                <a:rPr lang="en-US" sz="2100" b="true">
                  <a:solidFill>
                    <a:srgbClr val="FFFFFF"/>
                  </a:solidFill>
                  <a:latin typeface="Poppins Bold"/>
                  <a:ea typeface="Poppins Bold"/>
                  <a:cs typeface="Poppins Bold"/>
                  <a:sym typeface="Poppins Bold"/>
                </a:rPr>
                <a:t>2.  Data model</a:t>
              </a:r>
            </a:p>
          </p:txBody>
        </p:sp>
      </p:grpSp>
      <p:grpSp>
        <p:nvGrpSpPr>
          <p:cNvPr name="Group 43" id="43"/>
          <p:cNvGrpSpPr/>
          <p:nvPr/>
        </p:nvGrpSpPr>
        <p:grpSpPr>
          <a:xfrm rot="0">
            <a:off x="8082629" y="4032213"/>
            <a:ext cx="911162" cy="911162"/>
            <a:chOff x="0" y="0"/>
            <a:chExt cx="1214882" cy="1214882"/>
          </a:xfrm>
        </p:grpSpPr>
        <p:sp>
          <p:nvSpPr>
            <p:cNvPr name="Freeform 44" id="44"/>
            <p:cNvSpPr/>
            <p:nvPr/>
          </p:nvSpPr>
          <p:spPr>
            <a:xfrm flipH="false" flipV="false" rot="0">
              <a:off x="0" y="0"/>
              <a:ext cx="1214882" cy="1214882"/>
            </a:xfrm>
            <a:custGeom>
              <a:avLst/>
              <a:gdLst/>
              <a:ahLst/>
              <a:cxnLst/>
              <a:rect r="r" b="b" t="t" l="l"/>
              <a:pathLst>
                <a:path h="1214882" w="1214882">
                  <a:moveTo>
                    <a:pt x="0" y="607441"/>
                  </a:moveTo>
                  <a:cubicBezTo>
                    <a:pt x="0" y="271907"/>
                    <a:pt x="271907" y="0"/>
                    <a:pt x="607441" y="0"/>
                  </a:cubicBezTo>
                  <a:cubicBezTo>
                    <a:pt x="942975" y="0"/>
                    <a:pt x="1214882" y="271907"/>
                    <a:pt x="1214882" y="607441"/>
                  </a:cubicBezTo>
                  <a:cubicBezTo>
                    <a:pt x="1214882" y="942975"/>
                    <a:pt x="942975" y="1214882"/>
                    <a:pt x="607441" y="1214882"/>
                  </a:cubicBezTo>
                  <a:cubicBezTo>
                    <a:pt x="271907" y="1214882"/>
                    <a:pt x="0" y="942975"/>
                    <a:pt x="0" y="607441"/>
                  </a:cubicBezTo>
                  <a:close/>
                </a:path>
              </a:pathLst>
            </a:custGeom>
            <a:solidFill>
              <a:srgbClr val="FFFFFF"/>
            </a:solidFill>
            <a:ln w="33338" cap="sq">
              <a:solidFill>
                <a:srgbClr val="387F7F"/>
              </a:solidFill>
              <a:prstDash val="solid"/>
              <a:miter/>
            </a:ln>
          </p:spPr>
        </p:sp>
      </p:grpSp>
      <p:grpSp>
        <p:nvGrpSpPr>
          <p:cNvPr name="Group 45" id="45"/>
          <p:cNvGrpSpPr/>
          <p:nvPr/>
        </p:nvGrpSpPr>
        <p:grpSpPr>
          <a:xfrm rot="0">
            <a:off x="8099298" y="4048882"/>
            <a:ext cx="877824" cy="877824"/>
            <a:chOff x="0" y="0"/>
            <a:chExt cx="1170432" cy="1170432"/>
          </a:xfrm>
        </p:grpSpPr>
        <p:sp>
          <p:nvSpPr>
            <p:cNvPr name="Freeform 46" id="46"/>
            <p:cNvSpPr/>
            <p:nvPr/>
          </p:nvSpPr>
          <p:spPr>
            <a:xfrm flipH="false" flipV="false" rot="0">
              <a:off x="0" y="0"/>
              <a:ext cx="1170432" cy="1170432"/>
            </a:xfrm>
            <a:custGeom>
              <a:avLst/>
              <a:gdLst/>
              <a:ahLst/>
              <a:cxnLst/>
              <a:rect r="r" b="b" t="t" l="l"/>
              <a:pathLst>
                <a:path h="1170432" w="1170432">
                  <a:moveTo>
                    <a:pt x="0" y="0"/>
                  </a:moveTo>
                  <a:lnTo>
                    <a:pt x="1170432" y="0"/>
                  </a:lnTo>
                  <a:lnTo>
                    <a:pt x="1170432" y="1170432"/>
                  </a:lnTo>
                  <a:lnTo>
                    <a:pt x="0" y="1170432"/>
                  </a:lnTo>
                  <a:close/>
                </a:path>
              </a:pathLst>
            </a:custGeom>
            <a:blipFill>
              <a:blip r:embed="rId9">
                <a:alphaModFix amt="0"/>
              </a:blip>
              <a:stretch>
                <a:fillRect l="-78303" t="0" r="-78303" b="0"/>
              </a:stretch>
            </a:blipFill>
          </p:spPr>
        </p:sp>
        <p:sp>
          <p:nvSpPr>
            <p:cNvPr name="TextBox 47" id="47"/>
            <p:cNvSpPr txBox="true"/>
            <p:nvPr/>
          </p:nvSpPr>
          <p:spPr>
            <a:xfrm>
              <a:off x="0" y="-19050"/>
              <a:ext cx="1170432" cy="1189482"/>
            </a:xfrm>
            <a:prstGeom prst="rect">
              <a:avLst/>
            </a:prstGeom>
          </p:spPr>
          <p:txBody>
            <a:bodyPr anchor="ctr" rtlCol="false" tIns="0" lIns="0" bIns="0" rIns="0"/>
            <a:lstStyle/>
            <a:p>
              <a:pPr algn="ctr">
                <a:lnSpc>
                  <a:spcPts val="3779"/>
                </a:lnSpc>
              </a:pPr>
              <a:r>
                <a:rPr lang="en-US" sz="3150" b="true">
                  <a:solidFill>
                    <a:srgbClr val="387F7F"/>
                  </a:solidFill>
                  <a:latin typeface="Poppins Bold"/>
                  <a:ea typeface="Poppins Bold"/>
                  <a:cs typeface="Poppins Bold"/>
                  <a:sym typeface="Poppins Bold"/>
                </a:rPr>
                <a:t>◇</a:t>
              </a:r>
            </a:p>
          </p:txBody>
        </p:sp>
      </p:grpSp>
      <p:grpSp>
        <p:nvGrpSpPr>
          <p:cNvPr name="Group 48" id="48"/>
          <p:cNvGrpSpPr/>
          <p:nvPr/>
        </p:nvGrpSpPr>
        <p:grpSpPr>
          <a:xfrm rot="0">
            <a:off x="7687818" y="5118730"/>
            <a:ext cx="1700784" cy="411480"/>
            <a:chOff x="0" y="0"/>
            <a:chExt cx="2267712" cy="548640"/>
          </a:xfrm>
        </p:grpSpPr>
        <p:sp>
          <p:nvSpPr>
            <p:cNvPr name="Freeform 49" id="49"/>
            <p:cNvSpPr/>
            <p:nvPr/>
          </p:nvSpPr>
          <p:spPr>
            <a:xfrm flipH="false" flipV="false" rot="0">
              <a:off x="0" y="0"/>
              <a:ext cx="2267712" cy="548640"/>
            </a:xfrm>
            <a:custGeom>
              <a:avLst/>
              <a:gdLst/>
              <a:ahLst/>
              <a:cxnLst/>
              <a:rect r="r" b="b" t="t" l="l"/>
              <a:pathLst>
                <a:path h="548640" w="2267712">
                  <a:moveTo>
                    <a:pt x="0" y="274320"/>
                  </a:moveTo>
                  <a:cubicBezTo>
                    <a:pt x="0" y="122809"/>
                    <a:pt x="122809" y="0"/>
                    <a:pt x="274320" y="0"/>
                  </a:cubicBezTo>
                  <a:lnTo>
                    <a:pt x="1993392" y="0"/>
                  </a:lnTo>
                  <a:cubicBezTo>
                    <a:pt x="2144903" y="0"/>
                    <a:pt x="2267712" y="122809"/>
                    <a:pt x="2267712" y="274320"/>
                  </a:cubicBezTo>
                  <a:cubicBezTo>
                    <a:pt x="2267712" y="425831"/>
                    <a:pt x="2144903" y="548640"/>
                    <a:pt x="1993392" y="548640"/>
                  </a:cubicBezTo>
                  <a:lnTo>
                    <a:pt x="274320" y="548640"/>
                  </a:lnTo>
                  <a:cubicBezTo>
                    <a:pt x="122809" y="548640"/>
                    <a:pt x="0" y="425831"/>
                    <a:pt x="0" y="274320"/>
                  </a:cubicBezTo>
                  <a:close/>
                </a:path>
              </a:pathLst>
            </a:custGeom>
            <a:solidFill>
              <a:srgbClr val="EEF4F4"/>
            </a:solidFill>
          </p:spPr>
        </p:sp>
      </p:grpSp>
      <p:grpSp>
        <p:nvGrpSpPr>
          <p:cNvPr name="Group 50" id="50"/>
          <p:cNvGrpSpPr/>
          <p:nvPr/>
        </p:nvGrpSpPr>
        <p:grpSpPr>
          <a:xfrm rot="0">
            <a:off x="7687818" y="5118730"/>
            <a:ext cx="1700784" cy="411480"/>
            <a:chOff x="0" y="0"/>
            <a:chExt cx="2267712" cy="548640"/>
          </a:xfrm>
        </p:grpSpPr>
        <p:sp>
          <p:nvSpPr>
            <p:cNvPr name="Freeform 51" id="51"/>
            <p:cNvSpPr/>
            <p:nvPr/>
          </p:nvSpPr>
          <p:spPr>
            <a:xfrm flipH="false" flipV="false" rot="0">
              <a:off x="0" y="0"/>
              <a:ext cx="2267712" cy="548640"/>
            </a:xfrm>
            <a:custGeom>
              <a:avLst/>
              <a:gdLst/>
              <a:ahLst/>
              <a:cxnLst/>
              <a:rect r="r" b="b" t="t" l="l"/>
              <a:pathLst>
                <a:path h="548640" w="2267712">
                  <a:moveTo>
                    <a:pt x="0" y="0"/>
                  </a:moveTo>
                  <a:lnTo>
                    <a:pt x="2267712" y="0"/>
                  </a:lnTo>
                  <a:lnTo>
                    <a:pt x="2267712" y="548640"/>
                  </a:lnTo>
                  <a:lnTo>
                    <a:pt x="0" y="548640"/>
                  </a:lnTo>
                  <a:close/>
                </a:path>
              </a:pathLst>
            </a:custGeom>
            <a:blipFill>
              <a:blip r:embed="rId9">
                <a:alphaModFix amt="0"/>
              </a:blip>
              <a:stretch>
                <a:fillRect l="0" t="-30538" r="0" b="-30538"/>
              </a:stretch>
            </a:blipFill>
          </p:spPr>
        </p:sp>
        <p:sp>
          <p:nvSpPr>
            <p:cNvPr name="TextBox 52" id="52"/>
            <p:cNvSpPr txBox="true"/>
            <p:nvPr/>
          </p:nvSpPr>
          <p:spPr>
            <a:xfrm>
              <a:off x="0" y="-19050"/>
              <a:ext cx="2267712" cy="567690"/>
            </a:xfrm>
            <a:prstGeom prst="rect">
              <a:avLst/>
            </a:prstGeom>
          </p:spPr>
          <p:txBody>
            <a:bodyPr anchor="ctr" rtlCol="false" tIns="0" lIns="0" bIns="0" rIns="0"/>
            <a:lstStyle/>
            <a:p>
              <a:pPr algn="ctr">
                <a:lnSpc>
                  <a:spcPts val="1800"/>
                </a:lnSpc>
              </a:pPr>
              <a:r>
                <a:rPr lang="en-US" sz="1500" b="true">
                  <a:solidFill>
                    <a:srgbClr val="387F7F"/>
                  </a:solidFill>
                  <a:latin typeface="Poppins Bold"/>
                  <a:ea typeface="Poppins Bold"/>
                  <a:cs typeface="Poppins Bold"/>
                  <a:sym typeface="Poppins Bold"/>
                </a:rPr>
                <a:t>Module 3</a:t>
              </a:r>
            </a:p>
          </p:txBody>
        </p:sp>
      </p:grpSp>
      <p:sp>
        <p:nvSpPr>
          <p:cNvPr name="TextBox 53" id="53"/>
          <p:cNvSpPr txBox="true"/>
          <p:nvPr/>
        </p:nvSpPr>
        <p:spPr>
          <a:xfrm rot="0">
            <a:off x="6638544" y="5600695"/>
            <a:ext cx="3799332" cy="821055"/>
          </a:xfrm>
          <a:prstGeom prst="rect">
            <a:avLst/>
          </a:prstGeom>
        </p:spPr>
        <p:txBody>
          <a:bodyPr anchor="t" rtlCol="false" tIns="0" lIns="0" bIns="0" rIns="0">
            <a:spAutoFit/>
          </a:bodyPr>
          <a:lstStyle/>
          <a:p>
            <a:pPr algn="ctr">
              <a:lnSpc>
                <a:spcPts val="2635"/>
              </a:lnSpc>
            </a:pPr>
            <a:r>
              <a:rPr lang="en-US" sz="1800">
                <a:solidFill>
                  <a:srgbClr val="475569"/>
                </a:solidFill>
                <a:latin typeface="Poppins"/>
                <a:ea typeface="Poppins"/>
                <a:cs typeface="Poppins"/>
                <a:sym typeface="Poppins"/>
              </a:rPr>
              <a:t>Your joins, drawn as lines instead of written as SQL.</a:t>
            </a:r>
          </a:p>
        </p:txBody>
      </p:sp>
      <p:grpSp>
        <p:nvGrpSpPr>
          <p:cNvPr name="Group 54" id="54"/>
          <p:cNvGrpSpPr/>
          <p:nvPr/>
        </p:nvGrpSpPr>
        <p:grpSpPr>
          <a:xfrm rot="0">
            <a:off x="10849356" y="4227190"/>
            <a:ext cx="685800" cy="685800"/>
            <a:chOff x="0" y="0"/>
            <a:chExt cx="914400" cy="914400"/>
          </a:xfrm>
        </p:grpSpPr>
        <p:sp>
          <p:nvSpPr>
            <p:cNvPr name="Freeform 55" id="5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56" id="56"/>
            <p:cNvSpPr txBox="true"/>
            <p:nvPr/>
          </p:nvSpPr>
          <p:spPr>
            <a:xfrm>
              <a:off x="0" y="-28575"/>
              <a:ext cx="914400" cy="942975"/>
            </a:xfrm>
            <a:prstGeom prst="rect">
              <a:avLst/>
            </a:prstGeom>
          </p:spPr>
          <p:txBody>
            <a:bodyPr anchor="ctr" rtlCol="false" tIns="0" lIns="0" bIns="0" rIns="0"/>
            <a:lstStyle/>
            <a:p>
              <a:pPr algn="ctr">
                <a:lnSpc>
                  <a:spcPts val="4140"/>
                </a:lnSpc>
              </a:pPr>
              <a:r>
                <a:rPr lang="en-US" sz="3450" b="true">
                  <a:solidFill>
                    <a:srgbClr val="387F7F"/>
                  </a:solidFill>
                  <a:latin typeface="Poppins Bold"/>
                  <a:ea typeface="Poppins Bold"/>
                  <a:cs typeface="Poppins Bold"/>
                  <a:sym typeface="Poppins Bold"/>
                </a:rPr>
                <a:t>›</a:t>
              </a:r>
            </a:p>
          </p:txBody>
        </p:sp>
      </p:grpSp>
      <p:grpSp>
        <p:nvGrpSpPr>
          <p:cNvPr name="Group 57" id="57"/>
          <p:cNvGrpSpPr/>
          <p:nvPr/>
        </p:nvGrpSpPr>
        <p:grpSpPr>
          <a:xfrm rot="0">
            <a:off x="11590020" y="2924170"/>
            <a:ext cx="4457700" cy="3566160"/>
            <a:chOff x="0" y="0"/>
            <a:chExt cx="5943600" cy="4754880"/>
          </a:xfrm>
        </p:grpSpPr>
        <p:sp>
          <p:nvSpPr>
            <p:cNvPr name="Freeform 58" id="58"/>
            <p:cNvSpPr/>
            <p:nvPr/>
          </p:nvSpPr>
          <p:spPr>
            <a:xfrm flipH="false" flipV="false" rot="0">
              <a:off x="0" y="0"/>
              <a:ext cx="5943600" cy="4754880"/>
            </a:xfrm>
            <a:custGeom>
              <a:avLst/>
              <a:gdLst/>
              <a:ahLst/>
              <a:cxnLst/>
              <a:rect r="r" b="b" t="t" l="l"/>
              <a:pathLst>
                <a:path h="4754880" w="5943600">
                  <a:moveTo>
                    <a:pt x="0" y="182880"/>
                  </a:moveTo>
                  <a:cubicBezTo>
                    <a:pt x="0" y="81915"/>
                    <a:pt x="81915" y="0"/>
                    <a:pt x="182880" y="0"/>
                  </a:cubicBezTo>
                  <a:lnTo>
                    <a:pt x="5760720" y="0"/>
                  </a:lnTo>
                  <a:cubicBezTo>
                    <a:pt x="5861685" y="0"/>
                    <a:pt x="5943600" y="81915"/>
                    <a:pt x="5943600" y="182880"/>
                  </a:cubicBezTo>
                  <a:lnTo>
                    <a:pt x="5943600" y="4572000"/>
                  </a:lnTo>
                  <a:cubicBezTo>
                    <a:pt x="5943600" y="4672965"/>
                    <a:pt x="5861685" y="4754880"/>
                    <a:pt x="5760720" y="4754880"/>
                  </a:cubicBezTo>
                  <a:lnTo>
                    <a:pt x="182880" y="4754880"/>
                  </a:lnTo>
                  <a:cubicBezTo>
                    <a:pt x="81915" y="4754880"/>
                    <a:pt x="0" y="4672965"/>
                    <a:pt x="0" y="4572000"/>
                  </a:cubicBezTo>
                  <a:close/>
                </a:path>
              </a:pathLst>
            </a:custGeom>
            <a:solidFill>
              <a:srgbClr val="FFFFFF"/>
            </a:solidFill>
          </p:spPr>
        </p:sp>
      </p:grpSp>
      <p:grpSp>
        <p:nvGrpSpPr>
          <p:cNvPr name="Group 59" id="59"/>
          <p:cNvGrpSpPr/>
          <p:nvPr/>
        </p:nvGrpSpPr>
        <p:grpSpPr>
          <a:xfrm rot="0">
            <a:off x="11590020" y="2924170"/>
            <a:ext cx="4457700" cy="795528"/>
            <a:chOff x="0" y="0"/>
            <a:chExt cx="5943600" cy="1060704"/>
          </a:xfrm>
        </p:grpSpPr>
        <p:sp>
          <p:nvSpPr>
            <p:cNvPr name="Freeform 60" id="60"/>
            <p:cNvSpPr/>
            <p:nvPr/>
          </p:nvSpPr>
          <p:spPr>
            <a:xfrm flipH="false" flipV="false" rot="0">
              <a:off x="0" y="0"/>
              <a:ext cx="5943600" cy="1060704"/>
            </a:xfrm>
            <a:custGeom>
              <a:avLst/>
              <a:gdLst/>
              <a:ahLst/>
              <a:cxnLst/>
              <a:rect r="r" b="b" t="t" l="l"/>
              <a:pathLst>
                <a:path h="1060704" w="5943600">
                  <a:moveTo>
                    <a:pt x="0" y="182880"/>
                  </a:moveTo>
                  <a:cubicBezTo>
                    <a:pt x="0" y="81915"/>
                    <a:pt x="81915" y="0"/>
                    <a:pt x="182880" y="0"/>
                  </a:cubicBezTo>
                  <a:lnTo>
                    <a:pt x="5760720" y="0"/>
                  </a:lnTo>
                  <a:cubicBezTo>
                    <a:pt x="5861685" y="0"/>
                    <a:pt x="5943600" y="81915"/>
                    <a:pt x="5943600" y="182880"/>
                  </a:cubicBezTo>
                  <a:lnTo>
                    <a:pt x="5943600" y="877824"/>
                  </a:lnTo>
                  <a:cubicBezTo>
                    <a:pt x="5943600" y="978789"/>
                    <a:pt x="5861685" y="1060704"/>
                    <a:pt x="5760720" y="1060704"/>
                  </a:cubicBezTo>
                  <a:lnTo>
                    <a:pt x="182880" y="1060704"/>
                  </a:lnTo>
                  <a:cubicBezTo>
                    <a:pt x="81915" y="1060704"/>
                    <a:pt x="0" y="978789"/>
                    <a:pt x="0" y="877824"/>
                  </a:cubicBezTo>
                  <a:close/>
                </a:path>
              </a:pathLst>
            </a:custGeom>
            <a:solidFill>
              <a:srgbClr val="387F7F"/>
            </a:solidFill>
          </p:spPr>
        </p:sp>
      </p:grpSp>
      <p:grpSp>
        <p:nvGrpSpPr>
          <p:cNvPr name="Group 61" id="61"/>
          <p:cNvGrpSpPr/>
          <p:nvPr/>
        </p:nvGrpSpPr>
        <p:grpSpPr>
          <a:xfrm rot="0">
            <a:off x="11590020" y="3321934"/>
            <a:ext cx="4457700" cy="397764"/>
            <a:chOff x="0" y="0"/>
            <a:chExt cx="5943600" cy="530352"/>
          </a:xfrm>
        </p:grpSpPr>
        <p:sp>
          <p:nvSpPr>
            <p:cNvPr name="Freeform 62" id="62"/>
            <p:cNvSpPr/>
            <p:nvPr/>
          </p:nvSpPr>
          <p:spPr>
            <a:xfrm flipH="false" flipV="false" rot="0">
              <a:off x="0" y="0"/>
              <a:ext cx="5943600" cy="530352"/>
            </a:xfrm>
            <a:custGeom>
              <a:avLst/>
              <a:gdLst/>
              <a:ahLst/>
              <a:cxnLst/>
              <a:rect r="r" b="b" t="t" l="l"/>
              <a:pathLst>
                <a:path h="530352" w="5943600">
                  <a:moveTo>
                    <a:pt x="0" y="0"/>
                  </a:moveTo>
                  <a:lnTo>
                    <a:pt x="5943600" y="0"/>
                  </a:lnTo>
                  <a:lnTo>
                    <a:pt x="5943600" y="530352"/>
                  </a:lnTo>
                  <a:lnTo>
                    <a:pt x="0" y="530352"/>
                  </a:lnTo>
                  <a:close/>
                </a:path>
              </a:pathLst>
            </a:custGeom>
            <a:solidFill>
              <a:srgbClr val="387F7F"/>
            </a:solidFill>
          </p:spPr>
        </p:sp>
      </p:grpSp>
      <p:grpSp>
        <p:nvGrpSpPr>
          <p:cNvPr name="Group 63" id="63"/>
          <p:cNvGrpSpPr/>
          <p:nvPr/>
        </p:nvGrpSpPr>
        <p:grpSpPr>
          <a:xfrm rot="0">
            <a:off x="11590020" y="2924170"/>
            <a:ext cx="4457700" cy="795528"/>
            <a:chOff x="0" y="0"/>
            <a:chExt cx="5943600" cy="1060704"/>
          </a:xfrm>
        </p:grpSpPr>
        <p:sp>
          <p:nvSpPr>
            <p:cNvPr name="Freeform 64" id="64"/>
            <p:cNvSpPr/>
            <p:nvPr/>
          </p:nvSpPr>
          <p:spPr>
            <a:xfrm flipH="false" flipV="false" rot="0">
              <a:off x="0" y="0"/>
              <a:ext cx="5943600" cy="1060704"/>
            </a:xfrm>
            <a:custGeom>
              <a:avLst/>
              <a:gdLst/>
              <a:ahLst/>
              <a:cxnLst/>
              <a:rect r="r" b="b" t="t" l="l"/>
              <a:pathLst>
                <a:path h="1060704" w="5943600">
                  <a:moveTo>
                    <a:pt x="0" y="0"/>
                  </a:moveTo>
                  <a:lnTo>
                    <a:pt x="5943600" y="0"/>
                  </a:lnTo>
                  <a:lnTo>
                    <a:pt x="5943600" y="1060704"/>
                  </a:lnTo>
                  <a:lnTo>
                    <a:pt x="0" y="1060704"/>
                  </a:lnTo>
                  <a:close/>
                </a:path>
              </a:pathLst>
            </a:custGeom>
            <a:blipFill>
              <a:blip r:embed="rId9">
                <a:alphaModFix amt="0"/>
              </a:blip>
              <a:stretch>
                <a:fillRect l="0" t="-59183" r="0" b="-59183"/>
              </a:stretch>
            </a:blipFill>
          </p:spPr>
        </p:sp>
        <p:sp>
          <p:nvSpPr>
            <p:cNvPr name="TextBox 65" id="65"/>
            <p:cNvSpPr txBox="true"/>
            <p:nvPr/>
          </p:nvSpPr>
          <p:spPr>
            <a:xfrm>
              <a:off x="0" y="-19050"/>
              <a:ext cx="5943600" cy="1079754"/>
            </a:xfrm>
            <a:prstGeom prst="rect">
              <a:avLst/>
            </a:prstGeom>
          </p:spPr>
          <p:txBody>
            <a:bodyPr anchor="ctr" rtlCol="false" tIns="0" lIns="0" bIns="0" rIns="0"/>
            <a:lstStyle/>
            <a:p>
              <a:pPr algn="ctr">
                <a:lnSpc>
                  <a:spcPts val="2520"/>
                </a:lnSpc>
              </a:pPr>
              <a:r>
                <a:rPr lang="en-US" sz="2100" b="true">
                  <a:solidFill>
                    <a:srgbClr val="FFFFFF"/>
                  </a:solidFill>
                  <a:latin typeface="Poppins Bold"/>
                  <a:ea typeface="Poppins Bold"/>
                  <a:cs typeface="Poppins Bold"/>
                  <a:sym typeface="Poppins Bold"/>
                </a:rPr>
                <a:t>3.  Report canvas</a:t>
              </a:r>
            </a:p>
          </p:txBody>
        </p:sp>
      </p:grpSp>
      <p:grpSp>
        <p:nvGrpSpPr>
          <p:cNvPr name="Group 66" id="66"/>
          <p:cNvGrpSpPr/>
          <p:nvPr/>
        </p:nvGrpSpPr>
        <p:grpSpPr>
          <a:xfrm rot="0">
            <a:off x="13363289" y="4032213"/>
            <a:ext cx="911162" cy="911162"/>
            <a:chOff x="0" y="0"/>
            <a:chExt cx="1214882" cy="1214882"/>
          </a:xfrm>
        </p:grpSpPr>
        <p:sp>
          <p:nvSpPr>
            <p:cNvPr name="Freeform 67" id="67"/>
            <p:cNvSpPr/>
            <p:nvPr/>
          </p:nvSpPr>
          <p:spPr>
            <a:xfrm flipH="false" flipV="false" rot="0">
              <a:off x="0" y="0"/>
              <a:ext cx="1214882" cy="1214882"/>
            </a:xfrm>
            <a:custGeom>
              <a:avLst/>
              <a:gdLst/>
              <a:ahLst/>
              <a:cxnLst/>
              <a:rect r="r" b="b" t="t" l="l"/>
              <a:pathLst>
                <a:path h="1214882" w="1214882">
                  <a:moveTo>
                    <a:pt x="0" y="607441"/>
                  </a:moveTo>
                  <a:cubicBezTo>
                    <a:pt x="0" y="271907"/>
                    <a:pt x="271907" y="0"/>
                    <a:pt x="607441" y="0"/>
                  </a:cubicBezTo>
                  <a:cubicBezTo>
                    <a:pt x="942975" y="0"/>
                    <a:pt x="1214882" y="271907"/>
                    <a:pt x="1214882" y="607441"/>
                  </a:cubicBezTo>
                  <a:cubicBezTo>
                    <a:pt x="1214882" y="942975"/>
                    <a:pt x="942975" y="1214882"/>
                    <a:pt x="607441" y="1214882"/>
                  </a:cubicBezTo>
                  <a:cubicBezTo>
                    <a:pt x="271907" y="1214882"/>
                    <a:pt x="0" y="942975"/>
                    <a:pt x="0" y="607441"/>
                  </a:cubicBezTo>
                  <a:close/>
                </a:path>
              </a:pathLst>
            </a:custGeom>
            <a:solidFill>
              <a:srgbClr val="FFFFFF"/>
            </a:solidFill>
            <a:ln w="33338" cap="sq">
              <a:solidFill>
                <a:srgbClr val="387F7F"/>
              </a:solidFill>
              <a:prstDash val="solid"/>
              <a:miter/>
            </a:ln>
          </p:spPr>
        </p:sp>
      </p:grpSp>
      <p:grpSp>
        <p:nvGrpSpPr>
          <p:cNvPr name="Group 68" id="68"/>
          <p:cNvGrpSpPr/>
          <p:nvPr/>
        </p:nvGrpSpPr>
        <p:grpSpPr>
          <a:xfrm rot="0">
            <a:off x="13379958" y="4048882"/>
            <a:ext cx="877824" cy="877824"/>
            <a:chOff x="0" y="0"/>
            <a:chExt cx="1170432" cy="1170432"/>
          </a:xfrm>
        </p:grpSpPr>
        <p:sp>
          <p:nvSpPr>
            <p:cNvPr name="Freeform 69" id="69"/>
            <p:cNvSpPr/>
            <p:nvPr/>
          </p:nvSpPr>
          <p:spPr>
            <a:xfrm flipH="false" flipV="false" rot="0">
              <a:off x="0" y="0"/>
              <a:ext cx="1170432" cy="1170432"/>
            </a:xfrm>
            <a:custGeom>
              <a:avLst/>
              <a:gdLst/>
              <a:ahLst/>
              <a:cxnLst/>
              <a:rect r="r" b="b" t="t" l="l"/>
              <a:pathLst>
                <a:path h="1170432" w="1170432">
                  <a:moveTo>
                    <a:pt x="0" y="0"/>
                  </a:moveTo>
                  <a:lnTo>
                    <a:pt x="1170432" y="0"/>
                  </a:lnTo>
                  <a:lnTo>
                    <a:pt x="1170432" y="1170432"/>
                  </a:lnTo>
                  <a:lnTo>
                    <a:pt x="0" y="1170432"/>
                  </a:lnTo>
                  <a:close/>
                </a:path>
              </a:pathLst>
            </a:custGeom>
            <a:blipFill>
              <a:blip r:embed="rId9">
                <a:alphaModFix amt="0"/>
              </a:blip>
              <a:stretch>
                <a:fillRect l="-78303" t="0" r="-78303" b="0"/>
              </a:stretch>
            </a:blipFill>
          </p:spPr>
        </p:sp>
        <p:sp>
          <p:nvSpPr>
            <p:cNvPr name="TextBox 70" id="70"/>
            <p:cNvSpPr txBox="true"/>
            <p:nvPr/>
          </p:nvSpPr>
          <p:spPr>
            <a:xfrm>
              <a:off x="0" y="-19050"/>
              <a:ext cx="1170432" cy="1189482"/>
            </a:xfrm>
            <a:prstGeom prst="rect">
              <a:avLst/>
            </a:prstGeom>
          </p:spPr>
          <p:txBody>
            <a:bodyPr anchor="ctr" rtlCol="false" tIns="0" lIns="0" bIns="0" rIns="0"/>
            <a:lstStyle/>
            <a:p>
              <a:pPr algn="ctr">
                <a:lnSpc>
                  <a:spcPts val="3779"/>
                </a:lnSpc>
              </a:pPr>
              <a:r>
                <a:rPr lang="en-US" sz="3150" b="true">
                  <a:solidFill>
                    <a:srgbClr val="387F7F"/>
                  </a:solidFill>
                  <a:latin typeface="Poppins Bold"/>
                  <a:ea typeface="Poppins Bold"/>
                  <a:cs typeface="Poppins Bold"/>
                  <a:sym typeface="Poppins Bold"/>
                </a:rPr>
                <a:t>▤</a:t>
              </a:r>
            </a:p>
          </p:txBody>
        </p:sp>
      </p:grpSp>
      <p:grpSp>
        <p:nvGrpSpPr>
          <p:cNvPr name="Group 71" id="71"/>
          <p:cNvGrpSpPr/>
          <p:nvPr/>
        </p:nvGrpSpPr>
        <p:grpSpPr>
          <a:xfrm rot="0">
            <a:off x="12968478" y="5118730"/>
            <a:ext cx="1700784" cy="411480"/>
            <a:chOff x="0" y="0"/>
            <a:chExt cx="2267712" cy="548640"/>
          </a:xfrm>
        </p:grpSpPr>
        <p:sp>
          <p:nvSpPr>
            <p:cNvPr name="Freeform 72" id="72"/>
            <p:cNvSpPr/>
            <p:nvPr/>
          </p:nvSpPr>
          <p:spPr>
            <a:xfrm flipH="false" flipV="false" rot="0">
              <a:off x="0" y="0"/>
              <a:ext cx="2267712" cy="548640"/>
            </a:xfrm>
            <a:custGeom>
              <a:avLst/>
              <a:gdLst/>
              <a:ahLst/>
              <a:cxnLst/>
              <a:rect r="r" b="b" t="t" l="l"/>
              <a:pathLst>
                <a:path h="548640" w="2267712">
                  <a:moveTo>
                    <a:pt x="0" y="274320"/>
                  </a:moveTo>
                  <a:cubicBezTo>
                    <a:pt x="0" y="122809"/>
                    <a:pt x="122809" y="0"/>
                    <a:pt x="274320" y="0"/>
                  </a:cubicBezTo>
                  <a:lnTo>
                    <a:pt x="1993392" y="0"/>
                  </a:lnTo>
                  <a:cubicBezTo>
                    <a:pt x="2144903" y="0"/>
                    <a:pt x="2267712" y="122809"/>
                    <a:pt x="2267712" y="274320"/>
                  </a:cubicBezTo>
                  <a:cubicBezTo>
                    <a:pt x="2267712" y="425831"/>
                    <a:pt x="2144903" y="548640"/>
                    <a:pt x="1993392" y="548640"/>
                  </a:cubicBezTo>
                  <a:lnTo>
                    <a:pt x="274320" y="548640"/>
                  </a:lnTo>
                  <a:cubicBezTo>
                    <a:pt x="122809" y="548640"/>
                    <a:pt x="0" y="425831"/>
                    <a:pt x="0" y="274320"/>
                  </a:cubicBezTo>
                  <a:close/>
                </a:path>
              </a:pathLst>
            </a:custGeom>
            <a:solidFill>
              <a:srgbClr val="EEF4F4"/>
            </a:solidFill>
          </p:spPr>
        </p:sp>
      </p:grpSp>
      <p:grpSp>
        <p:nvGrpSpPr>
          <p:cNvPr name="Group 73" id="73"/>
          <p:cNvGrpSpPr/>
          <p:nvPr/>
        </p:nvGrpSpPr>
        <p:grpSpPr>
          <a:xfrm rot="0">
            <a:off x="12968478" y="5118730"/>
            <a:ext cx="1700784" cy="411480"/>
            <a:chOff x="0" y="0"/>
            <a:chExt cx="2267712" cy="548640"/>
          </a:xfrm>
        </p:grpSpPr>
        <p:sp>
          <p:nvSpPr>
            <p:cNvPr name="Freeform 74" id="74"/>
            <p:cNvSpPr/>
            <p:nvPr/>
          </p:nvSpPr>
          <p:spPr>
            <a:xfrm flipH="false" flipV="false" rot="0">
              <a:off x="0" y="0"/>
              <a:ext cx="2267712" cy="548640"/>
            </a:xfrm>
            <a:custGeom>
              <a:avLst/>
              <a:gdLst/>
              <a:ahLst/>
              <a:cxnLst/>
              <a:rect r="r" b="b" t="t" l="l"/>
              <a:pathLst>
                <a:path h="548640" w="2267712">
                  <a:moveTo>
                    <a:pt x="0" y="0"/>
                  </a:moveTo>
                  <a:lnTo>
                    <a:pt x="2267712" y="0"/>
                  </a:lnTo>
                  <a:lnTo>
                    <a:pt x="2267712" y="548640"/>
                  </a:lnTo>
                  <a:lnTo>
                    <a:pt x="0" y="548640"/>
                  </a:lnTo>
                  <a:close/>
                </a:path>
              </a:pathLst>
            </a:custGeom>
            <a:blipFill>
              <a:blip r:embed="rId9">
                <a:alphaModFix amt="0"/>
              </a:blip>
              <a:stretch>
                <a:fillRect l="0" t="-30538" r="0" b="-30538"/>
              </a:stretch>
            </a:blipFill>
          </p:spPr>
        </p:sp>
        <p:sp>
          <p:nvSpPr>
            <p:cNvPr name="TextBox 75" id="75"/>
            <p:cNvSpPr txBox="true"/>
            <p:nvPr/>
          </p:nvSpPr>
          <p:spPr>
            <a:xfrm>
              <a:off x="0" y="-19050"/>
              <a:ext cx="2267712" cy="567690"/>
            </a:xfrm>
            <a:prstGeom prst="rect">
              <a:avLst/>
            </a:prstGeom>
          </p:spPr>
          <p:txBody>
            <a:bodyPr anchor="ctr" rtlCol="false" tIns="0" lIns="0" bIns="0" rIns="0"/>
            <a:lstStyle/>
            <a:p>
              <a:pPr algn="ctr">
                <a:lnSpc>
                  <a:spcPts val="1800"/>
                </a:lnSpc>
              </a:pPr>
              <a:r>
                <a:rPr lang="en-US" sz="1500" b="true">
                  <a:solidFill>
                    <a:srgbClr val="387F7F"/>
                  </a:solidFill>
                  <a:latin typeface="Poppins Bold"/>
                  <a:ea typeface="Poppins Bold"/>
                  <a:cs typeface="Poppins Bold"/>
                  <a:sym typeface="Poppins Bold"/>
                </a:rPr>
                <a:t>Module 6</a:t>
              </a:r>
            </a:p>
          </p:txBody>
        </p:sp>
      </p:grpSp>
      <p:sp>
        <p:nvSpPr>
          <p:cNvPr name="TextBox 76" id="76"/>
          <p:cNvSpPr txBox="true"/>
          <p:nvPr/>
        </p:nvSpPr>
        <p:spPr>
          <a:xfrm rot="0">
            <a:off x="11919204" y="5600695"/>
            <a:ext cx="3799332" cy="821055"/>
          </a:xfrm>
          <a:prstGeom prst="rect">
            <a:avLst/>
          </a:prstGeom>
        </p:spPr>
        <p:txBody>
          <a:bodyPr anchor="t" rtlCol="false" tIns="0" lIns="0" bIns="0" rIns="0">
            <a:spAutoFit/>
          </a:bodyPr>
          <a:lstStyle/>
          <a:p>
            <a:pPr algn="ctr">
              <a:lnSpc>
                <a:spcPts val="2635"/>
              </a:lnSpc>
            </a:pPr>
            <a:r>
              <a:rPr lang="en-US" sz="1800">
                <a:solidFill>
                  <a:srgbClr val="475569"/>
                </a:solidFill>
                <a:latin typeface="Poppins"/>
                <a:ea typeface="Poppins"/>
                <a:cs typeface="Poppins"/>
                <a:sym typeface="Poppins"/>
              </a:rPr>
              <a:t>Your chart choice and labelling standards, applied directly.</a:t>
            </a:r>
          </a:p>
        </p:txBody>
      </p:sp>
      <p:grpSp>
        <p:nvGrpSpPr>
          <p:cNvPr name="Group 77" id="77"/>
          <p:cNvGrpSpPr/>
          <p:nvPr/>
        </p:nvGrpSpPr>
        <p:grpSpPr>
          <a:xfrm rot="0">
            <a:off x="1028700" y="6901810"/>
            <a:ext cx="14744700" cy="1577340"/>
            <a:chOff x="0" y="0"/>
            <a:chExt cx="19659600" cy="2103120"/>
          </a:xfrm>
        </p:grpSpPr>
        <p:sp>
          <p:nvSpPr>
            <p:cNvPr name="Freeform 78" id="78"/>
            <p:cNvSpPr/>
            <p:nvPr/>
          </p:nvSpPr>
          <p:spPr>
            <a:xfrm flipH="false" flipV="false" rot="0">
              <a:off x="0" y="0"/>
              <a:ext cx="19659600" cy="2103120"/>
            </a:xfrm>
            <a:custGeom>
              <a:avLst/>
              <a:gdLst/>
              <a:ahLst/>
              <a:cxnLst/>
              <a:rect r="r" b="b" t="t" l="l"/>
              <a:pathLst>
                <a:path h="2103120" w="19659600">
                  <a:moveTo>
                    <a:pt x="0" y="164592"/>
                  </a:moveTo>
                  <a:cubicBezTo>
                    <a:pt x="0" y="73660"/>
                    <a:pt x="73660" y="0"/>
                    <a:pt x="164592" y="0"/>
                  </a:cubicBezTo>
                  <a:lnTo>
                    <a:pt x="19495008" y="0"/>
                  </a:lnTo>
                  <a:cubicBezTo>
                    <a:pt x="19585939" y="0"/>
                    <a:pt x="19659600" y="73660"/>
                    <a:pt x="19659600" y="164592"/>
                  </a:cubicBezTo>
                  <a:lnTo>
                    <a:pt x="19659600" y="1938528"/>
                  </a:lnTo>
                  <a:cubicBezTo>
                    <a:pt x="19659600" y="2029460"/>
                    <a:pt x="19585939" y="2103120"/>
                    <a:pt x="19495008" y="2103120"/>
                  </a:cubicBezTo>
                  <a:lnTo>
                    <a:pt x="164592" y="2103120"/>
                  </a:lnTo>
                  <a:cubicBezTo>
                    <a:pt x="73660" y="2103120"/>
                    <a:pt x="0" y="2029460"/>
                    <a:pt x="0" y="1938528"/>
                  </a:cubicBezTo>
                  <a:close/>
                </a:path>
              </a:pathLst>
            </a:custGeom>
            <a:solidFill>
              <a:srgbClr val="EEF4F4"/>
            </a:solidFill>
          </p:spPr>
        </p:sp>
      </p:grpSp>
      <p:grpSp>
        <p:nvGrpSpPr>
          <p:cNvPr name="Group 79" id="79"/>
          <p:cNvGrpSpPr/>
          <p:nvPr/>
        </p:nvGrpSpPr>
        <p:grpSpPr>
          <a:xfrm rot="0">
            <a:off x="1028700" y="6901810"/>
            <a:ext cx="102870" cy="1577340"/>
            <a:chOff x="0" y="0"/>
            <a:chExt cx="137160" cy="2103120"/>
          </a:xfrm>
        </p:grpSpPr>
        <p:sp>
          <p:nvSpPr>
            <p:cNvPr name="Freeform 80" id="80"/>
            <p:cNvSpPr/>
            <p:nvPr/>
          </p:nvSpPr>
          <p:spPr>
            <a:xfrm flipH="false" flipV="false" rot="0">
              <a:off x="0" y="0"/>
              <a:ext cx="137160" cy="2103120"/>
            </a:xfrm>
            <a:custGeom>
              <a:avLst/>
              <a:gdLst/>
              <a:ahLst/>
              <a:cxnLst/>
              <a:rect r="r" b="b" t="t" l="l"/>
              <a:pathLst>
                <a:path h="2103120" w="137160">
                  <a:moveTo>
                    <a:pt x="0" y="0"/>
                  </a:moveTo>
                  <a:lnTo>
                    <a:pt x="137160" y="0"/>
                  </a:lnTo>
                  <a:lnTo>
                    <a:pt x="137160" y="2103120"/>
                  </a:lnTo>
                  <a:lnTo>
                    <a:pt x="0" y="2103120"/>
                  </a:lnTo>
                  <a:close/>
                </a:path>
              </a:pathLst>
            </a:custGeom>
            <a:solidFill>
              <a:srgbClr val="387F7F"/>
            </a:solidFill>
          </p:spPr>
        </p:sp>
      </p:grpSp>
      <p:grpSp>
        <p:nvGrpSpPr>
          <p:cNvPr name="Group 81" id="81"/>
          <p:cNvGrpSpPr/>
          <p:nvPr/>
        </p:nvGrpSpPr>
        <p:grpSpPr>
          <a:xfrm rot="0">
            <a:off x="1577340" y="6901810"/>
            <a:ext cx="13853160" cy="1577340"/>
            <a:chOff x="0" y="0"/>
            <a:chExt cx="18470880" cy="2103120"/>
          </a:xfrm>
        </p:grpSpPr>
        <p:sp>
          <p:nvSpPr>
            <p:cNvPr name="Freeform 82" id="82"/>
            <p:cNvSpPr/>
            <p:nvPr/>
          </p:nvSpPr>
          <p:spPr>
            <a:xfrm flipH="false" flipV="false" rot="0">
              <a:off x="0" y="0"/>
              <a:ext cx="18470880" cy="2103120"/>
            </a:xfrm>
            <a:custGeom>
              <a:avLst/>
              <a:gdLst/>
              <a:ahLst/>
              <a:cxnLst/>
              <a:rect r="r" b="b" t="t" l="l"/>
              <a:pathLst>
                <a:path h="2103120" w="18470880">
                  <a:moveTo>
                    <a:pt x="0" y="0"/>
                  </a:moveTo>
                  <a:lnTo>
                    <a:pt x="18470880" y="0"/>
                  </a:lnTo>
                  <a:lnTo>
                    <a:pt x="18470880" y="2103120"/>
                  </a:lnTo>
                  <a:lnTo>
                    <a:pt x="0" y="2103120"/>
                  </a:lnTo>
                  <a:close/>
                </a:path>
              </a:pathLst>
            </a:custGeom>
            <a:blipFill>
              <a:blip r:embed="rId9">
                <a:alphaModFix amt="0"/>
              </a:blip>
              <a:stretch>
                <a:fillRect l="0" t="-121129" r="0" b="-121129"/>
              </a:stretch>
            </a:blipFill>
          </p:spPr>
        </p:sp>
        <p:sp>
          <p:nvSpPr>
            <p:cNvPr name="TextBox 83" id="83"/>
            <p:cNvSpPr txBox="true"/>
            <p:nvPr/>
          </p:nvSpPr>
          <p:spPr>
            <a:xfrm>
              <a:off x="0" y="-133350"/>
              <a:ext cx="18470880" cy="2236470"/>
            </a:xfrm>
            <a:prstGeom prst="rect">
              <a:avLst/>
            </a:prstGeom>
          </p:spPr>
          <p:txBody>
            <a:bodyPr anchor="ctr" rtlCol="false" tIns="0" lIns="0" bIns="0" rIns="0"/>
            <a:lstStyle/>
            <a:p>
              <a:pPr algn="l">
                <a:lnSpc>
                  <a:spcPts val="4131"/>
                </a:lnSpc>
              </a:pPr>
              <a:r>
                <a:rPr lang="en-US" sz="2550" b="true">
                  <a:solidFill>
                    <a:srgbClr val="387F7F"/>
                  </a:solidFill>
                  <a:latin typeface="Poppins Bold"/>
                  <a:ea typeface="Poppins Bold"/>
                  <a:cs typeface="Poppins Bold"/>
                  <a:sym typeface="Poppins Bold"/>
                </a:rPr>
                <a:t>Power BI is not a fifth tool. It is three things you can already do, joined into one window.</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028700" y="981075"/>
            <a:ext cx="16991509" cy="762000"/>
          </a:xfrm>
          <a:prstGeom prst="rect">
            <a:avLst/>
          </a:prstGeom>
        </p:spPr>
        <p:txBody>
          <a:bodyPr anchor="t" rtlCol="false" tIns="0" lIns="0" bIns="0" rIns="0">
            <a:spAutoFit/>
          </a:bodyPr>
          <a:lstStyle/>
          <a:p>
            <a:pPr algn="l">
              <a:lnSpc>
                <a:spcPts val="5640"/>
              </a:lnSpc>
            </a:pPr>
            <a:r>
              <a:rPr lang="en-US" sz="4700">
                <a:solidFill>
                  <a:srgbClr val="388080"/>
                </a:solidFill>
                <a:latin typeface="Poppins"/>
                <a:ea typeface="Poppins"/>
                <a:cs typeface="Poppins"/>
                <a:sym typeface="Poppins"/>
              </a:rPr>
              <a:t>Analysis answ</a:t>
            </a:r>
            <a:r>
              <a:rPr lang="en-US" sz="4700">
                <a:solidFill>
                  <a:srgbClr val="388080"/>
                </a:solidFill>
                <a:latin typeface="Poppins"/>
                <a:ea typeface="Poppins"/>
                <a:cs typeface="Poppins"/>
                <a:sym typeface="Poppins"/>
              </a:rPr>
              <a:t>ers a question. BI answers it every morning.</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8700" y="2400300"/>
            <a:ext cx="7063740" cy="754380"/>
            <a:chOff x="0" y="0"/>
            <a:chExt cx="9418320" cy="1005840"/>
          </a:xfrm>
        </p:grpSpPr>
        <p:sp>
          <p:nvSpPr>
            <p:cNvPr name="Freeform 12" id="12"/>
            <p:cNvSpPr/>
            <p:nvPr/>
          </p:nvSpPr>
          <p:spPr>
            <a:xfrm flipH="false" flipV="false" rot="0">
              <a:off x="0" y="0"/>
              <a:ext cx="9418320" cy="1005840"/>
            </a:xfrm>
            <a:custGeom>
              <a:avLst/>
              <a:gdLst/>
              <a:ahLst/>
              <a:cxnLst/>
              <a:rect r="r" b="b" t="t" l="l"/>
              <a:pathLst>
                <a:path h="1005840" w="9418320">
                  <a:moveTo>
                    <a:pt x="0" y="164592"/>
                  </a:moveTo>
                  <a:cubicBezTo>
                    <a:pt x="0" y="73660"/>
                    <a:pt x="73660" y="0"/>
                    <a:pt x="164592" y="0"/>
                  </a:cubicBezTo>
                  <a:lnTo>
                    <a:pt x="9253728" y="0"/>
                  </a:lnTo>
                  <a:cubicBezTo>
                    <a:pt x="9344660" y="0"/>
                    <a:pt x="9418320" y="73660"/>
                    <a:pt x="9418320" y="164592"/>
                  </a:cubicBezTo>
                  <a:lnTo>
                    <a:pt x="9418320" y="841248"/>
                  </a:lnTo>
                  <a:cubicBezTo>
                    <a:pt x="9418320" y="932180"/>
                    <a:pt x="9344660" y="1005840"/>
                    <a:pt x="9253728" y="1005840"/>
                  </a:cubicBezTo>
                  <a:lnTo>
                    <a:pt x="164592" y="1005840"/>
                  </a:lnTo>
                  <a:cubicBezTo>
                    <a:pt x="73660" y="1005840"/>
                    <a:pt x="0" y="932180"/>
                    <a:pt x="0" y="841248"/>
                  </a:cubicBezTo>
                  <a:close/>
                </a:path>
              </a:pathLst>
            </a:custGeom>
            <a:solidFill>
              <a:srgbClr val="64748B"/>
            </a:solidFill>
          </p:spPr>
        </p:sp>
      </p:grpSp>
      <p:grpSp>
        <p:nvGrpSpPr>
          <p:cNvPr name="Group 13" id="13"/>
          <p:cNvGrpSpPr/>
          <p:nvPr/>
        </p:nvGrpSpPr>
        <p:grpSpPr>
          <a:xfrm rot="0">
            <a:off x="1028700" y="2400300"/>
            <a:ext cx="7063740" cy="754380"/>
            <a:chOff x="0" y="0"/>
            <a:chExt cx="9418320" cy="1005840"/>
          </a:xfrm>
        </p:grpSpPr>
        <p:sp>
          <p:nvSpPr>
            <p:cNvPr name="Freeform 14" id="14"/>
            <p:cNvSpPr/>
            <p:nvPr/>
          </p:nvSpPr>
          <p:spPr>
            <a:xfrm flipH="false" flipV="false" rot="0">
              <a:off x="0" y="0"/>
              <a:ext cx="9418320" cy="1005840"/>
            </a:xfrm>
            <a:custGeom>
              <a:avLst/>
              <a:gdLst/>
              <a:ahLst/>
              <a:cxnLst/>
              <a:rect r="r" b="b" t="t" l="l"/>
              <a:pathLst>
                <a:path h="1005840" w="9418320">
                  <a:moveTo>
                    <a:pt x="0" y="0"/>
                  </a:moveTo>
                  <a:lnTo>
                    <a:pt x="9418320" y="0"/>
                  </a:lnTo>
                  <a:lnTo>
                    <a:pt x="9418320" y="1005840"/>
                  </a:lnTo>
                  <a:lnTo>
                    <a:pt x="0" y="1005840"/>
                  </a:lnTo>
                  <a:close/>
                </a:path>
              </a:pathLst>
            </a:custGeom>
            <a:blipFill>
              <a:blip r:embed="rId9">
                <a:alphaModFix amt="0"/>
              </a:blip>
              <a:stretch>
                <a:fillRect l="0" t="-132450" r="0" b="-132450"/>
              </a:stretch>
            </a:blipFill>
          </p:spPr>
        </p:sp>
        <p:sp>
          <p:nvSpPr>
            <p:cNvPr name="TextBox 15" id="15"/>
            <p:cNvSpPr txBox="true"/>
            <p:nvPr/>
          </p:nvSpPr>
          <p:spPr>
            <a:xfrm>
              <a:off x="0" y="-19050"/>
              <a:ext cx="9418320" cy="1024890"/>
            </a:xfrm>
            <a:prstGeom prst="rect">
              <a:avLst/>
            </a:prstGeom>
          </p:spPr>
          <p:txBody>
            <a:bodyPr anchor="ctr" rtlCol="false" tIns="0" lIns="0" bIns="0" rIns="0"/>
            <a:lstStyle/>
            <a:p>
              <a:pPr algn="ctr">
                <a:lnSpc>
                  <a:spcPts val="2340"/>
                </a:lnSpc>
              </a:pPr>
              <a:r>
                <a:rPr lang="en-US" b="true" sz="1950" spc="225">
                  <a:solidFill>
                    <a:srgbClr val="FFFFFF"/>
                  </a:solidFill>
                  <a:latin typeface="Poppins Bold"/>
                  <a:ea typeface="Poppins Bold"/>
                  <a:cs typeface="Poppins Bold"/>
                  <a:sym typeface="Poppins Bold"/>
                </a:rPr>
                <a:t>AN ANALYSIS</a:t>
              </a:r>
            </a:p>
          </p:txBody>
        </p:sp>
      </p:grpSp>
      <p:grpSp>
        <p:nvGrpSpPr>
          <p:cNvPr name="Group 16" id="16"/>
          <p:cNvGrpSpPr/>
          <p:nvPr/>
        </p:nvGrpSpPr>
        <p:grpSpPr>
          <a:xfrm rot="0">
            <a:off x="8709660" y="2400300"/>
            <a:ext cx="7063740" cy="754380"/>
            <a:chOff x="0" y="0"/>
            <a:chExt cx="9418320" cy="1005840"/>
          </a:xfrm>
        </p:grpSpPr>
        <p:sp>
          <p:nvSpPr>
            <p:cNvPr name="Freeform 17" id="17"/>
            <p:cNvSpPr/>
            <p:nvPr/>
          </p:nvSpPr>
          <p:spPr>
            <a:xfrm flipH="false" flipV="false" rot="0">
              <a:off x="0" y="0"/>
              <a:ext cx="9418320" cy="1005840"/>
            </a:xfrm>
            <a:custGeom>
              <a:avLst/>
              <a:gdLst/>
              <a:ahLst/>
              <a:cxnLst/>
              <a:rect r="r" b="b" t="t" l="l"/>
              <a:pathLst>
                <a:path h="1005840" w="9418320">
                  <a:moveTo>
                    <a:pt x="0" y="164592"/>
                  </a:moveTo>
                  <a:cubicBezTo>
                    <a:pt x="0" y="73660"/>
                    <a:pt x="73660" y="0"/>
                    <a:pt x="164592" y="0"/>
                  </a:cubicBezTo>
                  <a:lnTo>
                    <a:pt x="9253728" y="0"/>
                  </a:lnTo>
                  <a:cubicBezTo>
                    <a:pt x="9344660" y="0"/>
                    <a:pt x="9418320" y="73660"/>
                    <a:pt x="9418320" y="164592"/>
                  </a:cubicBezTo>
                  <a:lnTo>
                    <a:pt x="9418320" y="841248"/>
                  </a:lnTo>
                  <a:cubicBezTo>
                    <a:pt x="9418320" y="932180"/>
                    <a:pt x="9344660" y="1005840"/>
                    <a:pt x="9253728" y="1005840"/>
                  </a:cubicBezTo>
                  <a:lnTo>
                    <a:pt x="164592" y="1005840"/>
                  </a:lnTo>
                  <a:cubicBezTo>
                    <a:pt x="73660" y="1005840"/>
                    <a:pt x="0" y="932180"/>
                    <a:pt x="0" y="841248"/>
                  </a:cubicBezTo>
                  <a:close/>
                </a:path>
              </a:pathLst>
            </a:custGeom>
            <a:solidFill>
              <a:srgbClr val="387F7F"/>
            </a:solidFill>
          </p:spPr>
        </p:sp>
      </p:grpSp>
      <p:grpSp>
        <p:nvGrpSpPr>
          <p:cNvPr name="Group 18" id="18"/>
          <p:cNvGrpSpPr/>
          <p:nvPr/>
        </p:nvGrpSpPr>
        <p:grpSpPr>
          <a:xfrm rot="0">
            <a:off x="8709660" y="2400300"/>
            <a:ext cx="7063740" cy="754380"/>
            <a:chOff x="0" y="0"/>
            <a:chExt cx="9418320" cy="1005840"/>
          </a:xfrm>
        </p:grpSpPr>
        <p:sp>
          <p:nvSpPr>
            <p:cNvPr name="Freeform 19" id="19"/>
            <p:cNvSpPr/>
            <p:nvPr/>
          </p:nvSpPr>
          <p:spPr>
            <a:xfrm flipH="false" flipV="false" rot="0">
              <a:off x="0" y="0"/>
              <a:ext cx="9418320" cy="1005840"/>
            </a:xfrm>
            <a:custGeom>
              <a:avLst/>
              <a:gdLst/>
              <a:ahLst/>
              <a:cxnLst/>
              <a:rect r="r" b="b" t="t" l="l"/>
              <a:pathLst>
                <a:path h="1005840" w="9418320">
                  <a:moveTo>
                    <a:pt x="0" y="0"/>
                  </a:moveTo>
                  <a:lnTo>
                    <a:pt x="9418320" y="0"/>
                  </a:lnTo>
                  <a:lnTo>
                    <a:pt x="9418320" y="1005840"/>
                  </a:lnTo>
                  <a:lnTo>
                    <a:pt x="0" y="1005840"/>
                  </a:lnTo>
                  <a:close/>
                </a:path>
              </a:pathLst>
            </a:custGeom>
            <a:blipFill>
              <a:blip r:embed="rId9">
                <a:alphaModFix amt="0"/>
              </a:blip>
              <a:stretch>
                <a:fillRect l="0" t="-132450" r="0" b="-132450"/>
              </a:stretch>
            </a:blipFill>
          </p:spPr>
        </p:sp>
        <p:sp>
          <p:nvSpPr>
            <p:cNvPr name="TextBox 20" id="20"/>
            <p:cNvSpPr txBox="true"/>
            <p:nvPr/>
          </p:nvSpPr>
          <p:spPr>
            <a:xfrm>
              <a:off x="0" y="-19050"/>
              <a:ext cx="9418320" cy="1024890"/>
            </a:xfrm>
            <a:prstGeom prst="rect">
              <a:avLst/>
            </a:prstGeom>
          </p:spPr>
          <p:txBody>
            <a:bodyPr anchor="ctr" rtlCol="false" tIns="0" lIns="0" bIns="0" rIns="0"/>
            <a:lstStyle/>
            <a:p>
              <a:pPr algn="ctr">
                <a:lnSpc>
                  <a:spcPts val="2340"/>
                </a:lnSpc>
              </a:pPr>
              <a:r>
                <a:rPr lang="en-US" b="true" sz="1950" spc="225">
                  <a:solidFill>
                    <a:srgbClr val="FFFFFF"/>
                  </a:solidFill>
                  <a:latin typeface="Poppins Bold"/>
                  <a:ea typeface="Poppins Bold"/>
                  <a:cs typeface="Poppins Bold"/>
                  <a:sym typeface="Poppins Bold"/>
                </a:rPr>
                <a:t>A BI PRODUCT</a:t>
              </a:r>
            </a:p>
          </p:txBody>
        </p:sp>
      </p:grpSp>
      <p:grpSp>
        <p:nvGrpSpPr>
          <p:cNvPr name="Group 21" id="21"/>
          <p:cNvGrpSpPr/>
          <p:nvPr/>
        </p:nvGrpSpPr>
        <p:grpSpPr>
          <a:xfrm rot="0">
            <a:off x="1028700" y="3401568"/>
            <a:ext cx="7063740" cy="905256"/>
            <a:chOff x="0" y="0"/>
            <a:chExt cx="9418320" cy="1207008"/>
          </a:xfrm>
        </p:grpSpPr>
        <p:sp>
          <p:nvSpPr>
            <p:cNvPr name="Freeform 22" id="22"/>
            <p:cNvSpPr/>
            <p:nvPr/>
          </p:nvSpPr>
          <p:spPr>
            <a:xfrm flipH="false" flipV="false" rot="0">
              <a:off x="0" y="0"/>
              <a:ext cx="9418320" cy="1207008"/>
            </a:xfrm>
            <a:custGeom>
              <a:avLst/>
              <a:gdLst/>
              <a:ahLst/>
              <a:cxnLst/>
              <a:rect r="r" b="b" t="t" l="l"/>
              <a:pathLst>
                <a:path h="1207008" w="9418320">
                  <a:moveTo>
                    <a:pt x="0" y="128016"/>
                  </a:moveTo>
                  <a:cubicBezTo>
                    <a:pt x="0" y="57277"/>
                    <a:pt x="57277" y="0"/>
                    <a:pt x="128016" y="0"/>
                  </a:cubicBezTo>
                  <a:lnTo>
                    <a:pt x="9290304" y="0"/>
                  </a:lnTo>
                  <a:cubicBezTo>
                    <a:pt x="9361043" y="0"/>
                    <a:pt x="9418320" y="57277"/>
                    <a:pt x="9418320" y="128016"/>
                  </a:cubicBezTo>
                  <a:lnTo>
                    <a:pt x="9418320" y="1078992"/>
                  </a:lnTo>
                  <a:cubicBezTo>
                    <a:pt x="9418320" y="1149731"/>
                    <a:pt x="9361043" y="1207008"/>
                    <a:pt x="9290304" y="1207008"/>
                  </a:cubicBezTo>
                  <a:lnTo>
                    <a:pt x="128016" y="1207008"/>
                  </a:lnTo>
                  <a:cubicBezTo>
                    <a:pt x="57277" y="1207008"/>
                    <a:pt x="0" y="1149731"/>
                    <a:pt x="0" y="1078992"/>
                  </a:cubicBezTo>
                  <a:close/>
                </a:path>
              </a:pathLst>
            </a:custGeom>
            <a:solidFill>
              <a:srgbClr val="F7FAFA"/>
            </a:solidFill>
          </p:spPr>
        </p:sp>
      </p:grpSp>
      <p:grpSp>
        <p:nvGrpSpPr>
          <p:cNvPr name="Group 23" id="23"/>
          <p:cNvGrpSpPr/>
          <p:nvPr/>
        </p:nvGrpSpPr>
        <p:grpSpPr>
          <a:xfrm rot="0">
            <a:off x="1412748" y="3401568"/>
            <a:ext cx="6309360" cy="905256"/>
            <a:chOff x="0" y="0"/>
            <a:chExt cx="8412480" cy="1207008"/>
          </a:xfrm>
        </p:grpSpPr>
        <p:sp>
          <p:nvSpPr>
            <p:cNvPr name="Freeform 24" id="24"/>
            <p:cNvSpPr/>
            <p:nvPr/>
          </p:nvSpPr>
          <p:spPr>
            <a:xfrm flipH="false" flipV="false" rot="0">
              <a:off x="0" y="0"/>
              <a:ext cx="8412480" cy="1207008"/>
            </a:xfrm>
            <a:custGeom>
              <a:avLst/>
              <a:gdLst/>
              <a:ahLst/>
              <a:cxnLst/>
              <a:rect r="r" b="b" t="t" l="l"/>
              <a:pathLst>
                <a:path h="1207008" w="8412480">
                  <a:moveTo>
                    <a:pt x="0" y="0"/>
                  </a:moveTo>
                  <a:lnTo>
                    <a:pt x="8412480" y="0"/>
                  </a:lnTo>
                  <a:lnTo>
                    <a:pt x="8412480" y="1207008"/>
                  </a:lnTo>
                  <a:lnTo>
                    <a:pt x="0" y="1207008"/>
                  </a:lnTo>
                  <a:close/>
                </a:path>
              </a:pathLst>
            </a:custGeom>
            <a:blipFill>
              <a:blip r:embed="rId9">
                <a:alphaModFix amt="0"/>
              </a:blip>
              <a:stretch>
                <a:fillRect l="0" t="-85804" r="0" b="-85804"/>
              </a:stretch>
            </a:blipFill>
          </p:spPr>
        </p:sp>
        <p:sp>
          <p:nvSpPr>
            <p:cNvPr name="TextBox 25" id="25"/>
            <p:cNvSpPr txBox="true"/>
            <p:nvPr/>
          </p:nvSpPr>
          <p:spPr>
            <a:xfrm>
              <a:off x="0" y="-47625"/>
              <a:ext cx="8412480" cy="1254633"/>
            </a:xfrm>
            <a:prstGeom prst="rect">
              <a:avLst/>
            </a:prstGeom>
          </p:spPr>
          <p:txBody>
            <a:bodyPr anchor="ctr" rtlCol="false" tIns="0" lIns="0" bIns="0" rIns="0"/>
            <a:lstStyle/>
            <a:p>
              <a:pPr algn="l">
                <a:lnSpc>
                  <a:spcPts val="2587"/>
                </a:lnSpc>
              </a:pPr>
              <a:r>
                <a:rPr lang="en-US" sz="1875">
                  <a:solidFill>
                    <a:srgbClr val="475569"/>
                  </a:solidFill>
                  <a:latin typeface="Poppins"/>
                  <a:ea typeface="Poppins"/>
                  <a:cs typeface="Poppins"/>
                  <a:sym typeface="Poppins"/>
                </a:rPr>
                <a:t>Answers one question at one point in time</a:t>
              </a:r>
            </a:p>
          </p:txBody>
        </p:sp>
      </p:grpSp>
      <p:grpSp>
        <p:nvGrpSpPr>
          <p:cNvPr name="Group 26" id="26"/>
          <p:cNvGrpSpPr/>
          <p:nvPr/>
        </p:nvGrpSpPr>
        <p:grpSpPr>
          <a:xfrm rot="0">
            <a:off x="8709660" y="3401568"/>
            <a:ext cx="7063740" cy="905256"/>
            <a:chOff x="0" y="0"/>
            <a:chExt cx="9418320" cy="1207008"/>
          </a:xfrm>
        </p:grpSpPr>
        <p:sp>
          <p:nvSpPr>
            <p:cNvPr name="Freeform 27" id="27"/>
            <p:cNvSpPr/>
            <p:nvPr/>
          </p:nvSpPr>
          <p:spPr>
            <a:xfrm flipH="false" flipV="false" rot="0">
              <a:off x="0" y="0"/>
              <a:ext cx="9418320" cy="1207008"/>
            </a:xfrm>
            <a:custGeom>
              <a:avLst/>
              <a:gdLst/>
              <a:ahLst/>
              <a:cxnLst/>
              <a:rect r="r" b="b" t="t" l="l"/>
              <a:pathLst>
                <a:path h="1207008" w="9418320">
                  <a:moveTo>
                    <a:pt x="0" y="128016"/>
                  </a:moveTo>
                  <a:cubicBezTo>
                    <a:pt x="0" y="57277"/>
                    <a:pt x="57277" y="0"/>
                    <a:pt x="128016" y="0"/>
                  </a:cubicBezTo>
                  <a:lnTo>
                    <a:pt x="9290304" y="0"/>
                  </a:lnTo>
                  <a:cubicBezTo>
                    <a:pt x="9361043" y="0"/>
                    <a:pt x="9418320" y="57277"/>
                    <a:pt x="9418320" y="128016"/>
                  </a:cubicBezTo>
                  <a:lnTo>
                    <a:pt x="9418320" y="1078992"/>
                  </a:lnTo>
                  <a:cubicBezTo>
                    <a:pt x="9418320" y="1149731"/>
                    <a:pt x="9361043" y="1207008"/>
                    <a:pt x="9290304" y="1207008"/>
                  </a:cubicBezTo>
                  <a:lnTo>
                    <a:pt x="128016" y="1207008"/>
                  </a:lnTo>
                  <a:cubicBezTo>
                    <a:pt x="57277" y="1207008"/>
                    <a:pt x="0" y="1149731"/>
                    <a:pt x="0" y="1078992"/>
                  </a:cubicBezTo>
                  <a:close/>
                </a:path>
              </a:pathLst>
            </a:custGeom>
            <a:solidFill>
              <a:srgbClr val="FFFFFF"/>
            </a:solidFill>
          </p:spPr>
        </p:sp>
      </p:grpSp>
      <p:grpSp>
        <p:nvGrpSpPr>
          <p:cNvPr name="Group 28" id="28"/>
          <p:cNvGrpSpPr/>
          <p:nvPr/>
        </p:nvGrpSpPr>
        <p:grpSpPr>
          <a:xfrm rot="0">
            <a:off x="9093708" y="3401568"/>
            <a:ext cx="6309360" cy="905256"/>
            <a:chOff x="0" y="0"/>
            <a:chExt cx="8412480" cy="1207008"/>
          </a:xfrm>
        </p:grpSpPr>
        <p:sp>
          <p:nvSpPr>
            <p:cNvPr name="Freeform 29" id="29"/>
            <p:cNvSpPr/>
            <p:nvPr/>
          </p:nvSpPr>
          <p:spPr>
            <a:xfrm flipH="false" flipV="false" rot="0">
              <a:off x="0" y="0"/>
              <a:ext cx="8412480" cy="1207008"/>
            </a:xfrm>
            <a:custGeom>
              <a:avLst/>
              <a:gdLst/>
              <a:ahLst/>
              <a:cxnLst/>
              <a:rect r="r" b="b" t="t" l="l"/>
              <a:pathLst>
                <a:path h="1207008" w="8412480">
                  <a:moveTo>
                    <a:pt x="0" y="0"/>
                  </a:moveTo>
                  <a:lnTo>
                    <a:pt x="8412480" y="0"/>
                  </a:lnTo>
                  <a:lnTo>
                    <a:pt x="8412480" y="1207008"/>
                  </a:lnTo>
                  <a:lnTo>
                    <a:pt x="0" y="1207008"/>
                  </a:lnTo>
                  <a:close/>
                </a:path>
              </a:pathLst>
            </a:custGeom>
            <a:blipFill>
              <a:blip r:embed="rId9">
                <a:alphaModFix amt="0"/>
              </a:blip>
              <a:stretch>
                <a:fillRect l="0" t="-85804" r="0" b="-85804"/>
              </a:stretch>
            </a:blipFill>
          </p:spPr>
        </p:sp>
        <p:sp>
          <p:nvSpPr>
            <p:cNvPr name="TextBox 30" id="30"/>
            <p:cNvSpPr txBox="true"/>
            <p:nvPr/>
          </p:nvSpPr>
          <p:spPr>
            <a:xfrm>
              <a:off x="0" y="-47625"/>
              <a:ext cx="8412480" cy="1254633"/>
            </a:xfrm>
            <a:prstGeom prst="rect">
              <a:avLst/>
            </a:prstGeom>
          </p:spPr>
          <p:txBody>
            <a:bodyPr anchor="ctr" rtlCol="false" tIns="0" lIns="0" bIns="0" rIns="0"/>
            <a:lstStyle/>
            <a:p>
              <a:pPr algn="l">
                <a:lnSpc>
                  <a:spcPts val="2587"/>
                </a:lnSpc>
              </a:pPr>
              <a:r>
                <a:rPr lang="en-US" sz="1875">
                  <a:solidFill>
                    <a:srgbClr val="0A1A23"/>
                  </a:solidFill>
                  <a:latin typeface="Poppins"/>
                  <a:ea typeface="Poppins"/>
                  <a:cs typeface="Poppins"/>
                  <a:sym typeface="Poppins"/>
                </a:rPr>
                <a:t>Answers a standing set of questions</a:t>
              </a:r>
            </a:p>
          </p:txBody>
        </p:sp>
      </p:grpSp>
      <p:grpSp>
        <p:nvGrpSpPr>
          <p:cNvPr name="Group 31" id="31"/>
          <p:cNvGrpSpPr/>
          <p:nvPr/>
        </p:nvGrpSpPr>
        <p:grpSpPr>
          <a:xfrm rot="0">
            <a:off x="1028700" y="4471416"/>
            <a:ext cx="7063740" cy="905256"/>
            <a:chOff x="0" y="0"/>
            <a:chExt cx="9418320" cy="1207008"/>
          </a:xfrm>
        </p:grpSpPr>
        <p:sp>
          <p:nvSpPr>
            <p:cNvPr name="Freeform 32" id="32"/>
            <p:cNvSpPr/>
            <p:nvPr/>
          </p:nvSpPr>
          <p:spPr>
            <a:xfrm flipH="false" flipV="false" rot="0">
              <a:off x="0" y="0"/>
              <a:ext cx="9418320" cy="1207008"/>
            </a:xfrm>
            <a:custGeom>
              <a:avLst/>
              <a:gdLst/>
              <a:ahLst/>
              <a:cxnLst/>
              <a:rect r="r" b="b" t="t" l="l"/>
              <a:pathLst>
                <a:path h="1207008" w="9418320">
                  <a:moveTo>
                    <a:pt x="0" y="128016"/>
                  </a:moveTo>
                  <a:cubicBezTo>
                    <a:pt x="0" y="57277"/>
                    <a:pt x="57277" y="0"/>
                    <a:pt x="128016" y="0"/>
                  </a:cubicBezTo>
                  <a:lnTo>
                    <a:pt x="9290304" y="0"/>
                  </a:lnTo>
                  <a:cubicBezTo>
                    <a:pt x="9361043" y="0"/>
                    <a:pt x="9418320" y="57277"/>
                    <a:pt x="9418320" y="128016"/>
                  </a:cubicBezTo>
                  <a:lnTo>
                    <a:pt x="9418320" y="1078992"/>
                  </a:lnTo>
                  <a:cubicBezTo>
                    <a:pt x="9418320" y="1149731"/>
                    <a:pt x="9361043" y="1207008"/>
                    <a:pt x="9290304" y="1207008"/>
                  </a:cubicBezTo>
                  <a:lnTo>
                    <a:pt x="128016" y="1207008"/>
                  </a:lnTo>
                  <a:cubicBezTo>
                    <a:pt x="57277" y="1207008"/>
                    <a:pt x="0" y="1149731"/>
                    <a:pt x="0" y="1078992"/>
                  </a:cubicBezTo>
                  <a:close/>
                </a:path>
              </a:pathLst>
            </a:custGeom>
            <a:solidFill>
              <a:srgbClr val="F7FAFA"/>
            </a:solidFill>
          </p:spPr>
        </p:sp>
      </p:grpSp>
      <p:grpSp>
        <p:nvGrpSpPr>
          <p:cNvPr name="Group 33" id="33"/>
          <p:cNvGrpSpPr/>
          <p:nvPr/>
        </p:nvGrpSpPr>
        <p:grpSpPr>
          <a:xfrm rot="0">
            <a:off x="1412748" y="4471416"/>
            <a:ext cx="6309360" cy="905256"/>
            <a:chOff x="0" y="0"/>
            <a:chExt cx="8412480" cy="1207008"/>
          </a:xfrm>
        </p:grpSpPr>
        <p:sp>
          <p:nvSpPr>
            <p:cNvPr name="Freeform 34" id="34"/>
            <p:cNvSpPr/>
            <p:nvPr/>
          </p:nvSpPr>
          <p:spPr>
            <a:xfrm flipH="false" flipV="false" rot="0">
              <a:off x="0" y="0"/>
              <a:ext cx="8412480" cy="1207008"/>
            </a:xfrm>
            <a:custGeom>
              <a:avLst/>
              <a:gdLst/>
              <a:ahLst/>
              <a:cxnLst/>
              <a:rect r="r" b="b" t="t" l="l"/>
              <a:pathLst>
                <a:path h="1207008" w="8412480">
                  <a:moveTo>
                    <a:pt x="0" y="0"/>
                  </a:moveTo>
                  <a:lnTo>
                    <a:pt x="8412480" y="0"/>
                  </a:lnTo>
                  <a:lnTo>
                    <a:pt x="8412480" y="1207008"/>
                  </a:lnTo>
                  <a:lnTo>
                    <a:pt x="0" y="1207008"/>
                  </a:lnTo>
                  <a:close/>
                </a:path>
              </a:pathLst>
            </a:custGeom>
            <a:blipFill>
              <a:blip r:embed="rId9">
                <a:alphaModFix amt="0"/>
              </a:blip>
              <a:stretch>
                <a:fillRect l="0" t="-85804" r="0" b="-85804"/>
              </a:stretch>
            </a:blipFill>
          </p:spPr>
        </p:sp>
        <p:sp>
          <p:nvSpPr>
            <p:cNvPr name="TextBox 35" id="35"/>
            <p:cNvSpPr txBox="true"/>
            <p:nvPr/>
          </p:nvSpPr>
          <p:spPr>
            <a:xfrm>
              <a:off x="0" y="-47625"/>
              <a:ext cx="8412480" cy="1254633"/>
            </a:xfrm>
            <a:prstGeom prst="rect">
              <a:avLst/>
            </a:prstGeom>
          </p:spPr>
          <p:txBody>
            <a:bodyPr anchor="ctr" rtlCol="false" tIns="0" lIns="0" bIns="0" rIns="0"/>
            <a:lstStyle/>
            <a:p>
              <a:pPr algn="l">
                <a:lnSpc>
                  <a:spcPts val="2587"/>
                </a:lnSpc>
              </a:pPr>
              <a:r>
                <a:rPr lang="en-US" sz="1875">
                  <a:solidFill>
                    <a:srgbClr val="475569"/>
                  </a:solidFill>
                  <a:latin typeface="Poppins"/>
                  <a:ea typeface="Poppins"/>
                  <a:cs typeface="Poppins"/>
                  <a:sym typeface="Poppins"/>
                </a:rPr>
                <a:t>Lives in a file that you send to someone</a:t>
              </a:r>
            </a:p>
          </p:txBody>
        </p:sp>
      </p:grpSp>
      <p:grpSp>
        <p:nvGrpSpPr>
          <p:cNvPr name="Group 36" id="36"/>
          <p:cNvGrpSpPr/>
          <p:nvPr/>
        </p:nvGrpSpPr>
        <p:grpSpPr>
          <a:xfrm rot="0">
            <a:off x="8709660" y="4471416"/>
            <a:ext cx="7063740" cy="905256"/>
            <a:chOff x="0" y="0"/>
            <a:chExt cx="9418320" cy="1207008"/>
          </a:xfrm>
        </p:grpSpPr>
        <p:sp>
          <p:nvSpPr>
            <p:cNvPr name="Freeform 37" id="37"/>
            <p:cNvSpPr/>
            <p:nvPr/>
          </p:nvSpPr>
          <p:spPr>
            <a:xfrm flipH="false" flipV="false" rot="0">
              <a:off x="0" y="0"/>
              <a:ext cx="9418320" cy="1207008"/>
            </a:xfrm>
            <a:custGeom>
              <a:avLst/>
              <a:gdLst/>
              <a:ahLst/>
              <a:cxnLst/>
              <a:rect r="r" b="b" t="t" l="l"/>
              <a:pathLst>
                <a:path h="1207008" w="9418320">
                  <a:moveTo>
                    <a:pt x="0" y="128016"/>
                  </a:moveTo>
                  <a:cubicBezTo>
                    <a:pt x="0" y="57277"/>
                    <a:pt x="57277" y="0"/>
                    <a:pt x="128016" y="0"/>
                  </a:cubicBezTo>
                  <a:lnTo>
                    <a:pt x="9290304" y="0"/>
                  </a:lnTo>
                  <a:cubicBezTo>
                    <a:pt x="9361043" y="0"/>
                    <a:pt x="9418320" y="57277"/>
                    <a:pt x="9418320" y="128016"/>
                  </a:cubicBezTo>
                  <a:lnTo>
                    <a:pt x="9418320" y="1078992"/>
                  </a:lnTo>
                  <a:cubicBezTo>
                    <a:pt x="9418320" y="1149731"/>
                    <a:pt x="9361043" y="1207008"/>
                    <a:pt x="9290304" y="1207008"/>
                  </a:cubicBezTo>
                  <a:lnTo>
                    <a:pt x="128016" y="1207008"/>
                  </a:lnTo>
                  <a:cubicBezTo>
                    <a:pt x="57277" y="1207008"/>
                    <a:pt x="0" y="1149731"/>
                    <a:pt x="0" y="1078992"/>
                  </a:cubicBezTo>
                  <a:close/>
                </a:path>
              </a:pathLst>
            </a:custGeom>
            <a:solidFill>
              <a:srgbClr val="FFFFFF"/>
            </a:solidFill>
          </p:spPr>
        </p:sp>
      </p:grpSp>
      <p:grpSp>
        <p:nvGrpSpPr>
          <p:cNvPr name="Group 38" id="38"/>
          <p:cNvGrpSpPr/>
          <p:nvPr/>
        </p:nvGrpSpPr>
        <p:grpSpPr>
          <a:xfrm rot="0">
            <a:off x="9093708" y="4471416"/>
            <a:ext cx="6309360" cy="905256"/>
            <a:chOff x="0" y="0"/>
            <a:chExt cx="8412480" cy="1207008"/>
          </a:xfrm>
        </p:grpSpPr>
        <p:sp>
          <p:nvSpPr>
            <p:cNvPr name="Freeform 39" id="39"/>
            <p:cNvSpPr/>
            <p:nvPr/>
          </p:nvSpPr>
          <p:spPr>
            <a:xfrm flipH="false" flipV="false" rot="0">
              <a:off x="0" y="0"/>
              <a:ext cx="8412480" cy="1207008"/>
            </a:xfrm>
            <a:custGeom>
              <a:avLst/>
              <a:gdLst/>
              <a:ahLst/>
              <a:cxnLst/>
              <a:rect r="r" b="b" t="t" l="l"/>
              <a:pathLst>
                <a:path h="1207008" w="8412480">
                  <a:moveTo>
                    <a:pt x="0" y="0"/>
                  </a:moveTo>
                  <a:lnTo>
                    <a:pt x="8412480" y="0"/>
                  </a:lnTo>
                  <a:lnTo>
                    <a:pt x="8412480" y="1207008"/>
                  </a:lnTo>
                  <a:lnTo>
                    <a:pt x="0" y="1207008"/>
                  </a:lnTo>
                  <a:close/>
                </a:path>
              </a:pathLst>
            </a:custGeom>
            <a:blipFill>
              <a:blip r:embed="rId9">
                <a:alphaModFix amt="0"/>
              </a:blip>
              <a:stretch>
                <a:fillRect l="0" t="-85804" r="0" b="-85804"/>
              </a:stretch>
            </a:blipFill>
          </p:spPr>
        </p:sp>
        <p:sp>
          <p:nvSpPr>
            <p:cNvPr name="TextBox 40" id="40"/>
            <p:cNvSpPr txBox="true"/>
            <p:nvPr/>
          </p:nvSpPr>
          <p:spPr>
            <a:xfrm>
              <a:off x="0" y="-47625"/>
              <a:ext cx="8412480" cy="1254633"/>
            </a:xfrm>
            <a:prstGeom prst="rect">
              <a:avLst/>
            </a:prstGeom>
          </p:spPr>
          <p:txBody>
            <a:bodyPr anchor="ctr" rtlCol="false" tIns="0" lIns="0" bIns="0" rIns="0"/>
            <a:lstStyle/>
            <a:p>
              <a:pPr algn="l">
                <a:lnSpc>
                  <a:spcPts val="2587"/>
                </a:lnSpc>
              </a:pPr>
              <a:r>
                <a:rPr lang="en-US" sz="1875">
                  <a:solidFill>
                    <a:srgbClr val="0A1A23"/>
                  </a:solidFill>
                  <a:latin typeface="Poppins"/>
                  <a:ea typeface="Poppins"/>
                  <a:cs typeface="Poppins"/>
                  <a:sym typeface="Poppins"/>
                </a:rPr>
                <a:t>Lives at a link the manager opens herself</a:t>
              </a:r>
            </a:p>
          </p:txBody>
        </p:sp>
      </p:grpSp>
      <p:grpSp>
        <p:nvGrpSpPr>
          <p:cNvPr name="Group 41" id="41"/>
          <p:cNvGrpSpPr/>
          <p:nvPr/>
        </p:nvGrpSpPr>
        <p:grpSpPr>
          <a:xfrm rot="0">
            <a:off x="1028700" y="5541264"/>
            <a:ext cx="7063740" cy="905256"/>
            <a:chOff x="0" y="0"/>
            <a:chExt cx="9418320" cy="1207008"/>
          </a:xfrm>
        </p:grpSpPr>
        <p:sp>
          <p:nvSpPr>
            <p:cNvPr name="Freeform 42" id="42"/>
            <p:cNvSpPr/>
            <p:nvPr/>
          </p:nvSpPr>
          <p:spPr>
            <a:xfrm flipH="false" flipV="false" rot="0">
              <a:off x="0" y="0"/>
              <a:ext cx="9418320" cy="1207008"/>
            </a:xfrm>
            <a:custGeom>
              <a:avLst/>
              <a:gdLst/>
              <a:ahLst/>
              <a:cxnLst/>
              <a:rect r="r" b="b" t="t" l="l"/>
              <a:pathLst>
                <a:path h="1207008" w="9418320">
                  <a:moveTo>
                    <a:pt x="0" y="128016"/>
                  </a:moveTo>
                  <a:cubicBezTo>
                    <a:pt x="0" y="57277"/>
                    <a:pt x="57277" y="0"/>
                    <a:pt x="128016" y="0"/>
                  </a:cubicBezTo>
                  <a:lnTo>
                    <a:pt x="9290304" y="0"/>
                  </a:lnTo>
                  <a:cubicBezTo>
                    <a:pt x="9361043" y="0"/>
                    <a:pt x="9418320" y="57277"/>
                    <a:pt x="9418320" y="128016"/>
                  </a:cubicBezTo>
                  <a:lnTo>
                    <a:pt x="9418320" y="1078992"/>
                  </a:lnTo>
                  <a:cubicBezTo>
                    <a:pt x="9418320" y="1149731"/>
                    <a:pt x="9361043" y="1207008"/>
                    <a:pt x="9290304" y="1207008"/>
                  </a:cubicBezTo>
                  <a:lnTo>
                    <a:pt x="128016" y="1207008"/>
                  </a:lnTo>
                  <a:cubicBezTo>
                    <a:pt x="57277" y="1207008"/>
                    <a:pt x="0" y="1149731"/>
                    <a:pt x="0" y="1078992"/>
                  </a:cubicBezTo>
                  <a:close/>
                </a:path>
              </a:pathLst>
            </a:custGeom>
            <a:solidFill>
              <a:srgbClr val="F7FAFA"/>
            </a:solidFill>
          </p:spPr>
        </p:sp>
      </p:grpSp>
      <p:grpSp>
        <p:nvGrpSpPr>
          <p:cNvPr name="Group 43" id="43"/>
          <p:cNvGrpSpPr/>
          <p:nvPr/>
        </p:nvGrpSpPr>
        <p:grpSpPr>
          <a:xfrm rot="0">
            <a:off x="1412748" y="5541264"/>
            <a:ext cx="6309360" cy="905256"/>
            <a:chOff x="0" y="0"/>
            <a:chExt cx="8412480" cy="1207008"/>
          </a:xfrm>
        </p:grpSpPr>
        <p:sp>
          <p:nvSpPr>
            <p:cNvPr name="Freeform 44" id="44"/>
            <p:cNvSpPr/>
            <p:nvPr/>
          </p:nvSpPr>
          <p:spPr>
            <a:xfrm flipH="false" flipV="false" rot="0">
              <a:off x="0" y="0"/>
              <a:ext cx="8412480" cy="1207008"/>
            </a:xfrm>
            <a:custGeom>
              <a:avLst/>
              <a:gdLst/>
              <a:ahLst/>
              <a:cxnLst/>
              <a:rect r="r" b="b" t="t" l="l"/>
              <a:pathLst>
                <a:path h="1207008" w="8412480">
                  <a:moveTo>
                    <a:pt x="0" y="0"/>
                  </a:moveTo>
                  <a:lnTo>
                    <a:pt x="8412480" y="0"/>
                  </a:lnTo>
                  <a:lnTo>
                    <a:pt x="8412480" y="1207008"/>
                  </a:lnTo>
                  <a:lnTo>
                    <a:pt x="0" y="1207008"/>
                  </a:lnTo>
                  <a:close/>
                </a:path>
              </a:pathLst>
            </a:custGeom>
            <a:blipFill>
              <a:blip r:embed="rId9">
                <a:alphaModFix amt="0"/>
              </a:blip>
              <a:stretch>
                <a:fillRect l="0" t="-85804" r="0" b="-85804"/>
              </a:stretch>
            </a:blipFill>
          </p:spPr>
        </p:sp>
        <p:sp>
          <p:nvSpPr>
            <p:cNvPr name="TextBox 45" id="45"/>
            <p:cNvSpPr txBox="true"/>
            <p:nvPr/>
          </p:nvSpPr>
          <p:spPr>
            <a:xfrm>
              <a:off x="0" y="-47625"/>
              <a:ext cx="8412480" cy="1254633"/>
            </a:xfrm>
            <a:prstGeom prst="rect">
              <a:avLst/>
            </a:prstGeom>
          </p:spPr>
          <p:txBody>
            <a:bodyPr anchor="ctr" rtlCol="false" tIns="0" lIns="0" bIns="0" rIns="0"/>
            <a:lstStyle/>
            <a:p>
              <a:pPr algn="l">
                <a:lnSpc>
                  <a:spcPts val="2587"/>
                </a:lnSpc>
              </a:pPr>
              <a:r>
                <a:rPr lang="en-US" sz="1875">
                  <a:solidFill>
                    <a:srgbClr val="475569"/>
                  </a:solidFill>
                  <a:latin typeface="Poppins"/>
                  <a:ea typeface="Poppins"/>
                  <a:cs typeface="Poppins"/>
                  <a:sym typeface="Poppins"/>
                </a:rPr>
                <a:t>Goes stale the moment new data arrives</a:t>
              </a:r>
            </a:p>
          </p:txBody>
        </p:sp>
      </p:grpSp>
      <p:grpSp>
        <p:nvGrpSpPr>
          <p:cNvPr name="Group 46" id="46"/>
          <p:cNvGrpSpPr/>
          <p:nvPr/>
        </p:nvGrpSpPr>
        <p:grpSpPr>
          <a:xfrm rot="0">
            <a:off x="8709660" y="5541264"/>
            <a:ext cx="7063740" cy="905256"/>
            <a:chOff x="0" y="0"/>
            <a:chExt cx="9418320" cy="1207008"/>
          </a:xfrm>
        </p:grpSpPr>
        <p:sp>
          <p:nvSpPr>
            <p:cNvPr name="Freeform 47" id="47"/>
            <p:cNvSpPr/>
            <p:nvPr/>
          </p:nvSpPr>
          <p:spPr>
            <a:xfrm flipH="false" flipV="false" rot="0">
              <a:off x="0" y="0"/>
              <a:ext cx="9418320" cy="1207008"/>
            </a:xfrm>
            <a:custGeom>
              <a:avLst/>
              <a:gdLst/>
              <a:ahLst/>
              <a:cxnLst/>
              <a:rect r="r" b="b" t="t" l="l"/>
              <a:pathLst>
                <a:path h="1207008" w="9418320">
                  <a:moveTo>
                    <a:pt x="0" y="128016"/>
                  </a:moveTo>
                  <a:cubicBezTo>
                    <a:pt x="0" y="57277"/>
                    <a:pt x="57277" y="0"/>
                    <a:pt x="128016" y="0"/>
                  </a:cubicBezTo>
                  <a:lnTo>
                    <a:pt x="9290304" y="0"/>
                  </a:lnTo>
                  <a:cubicBezTo>
                    <a:pt x="9361043" y="0"/>
                    <a:pt x="9418320" y="57277"/>
                    <a:pt x="9418320" y="128016"/>
                  </a:cubicBezTo>
                  <a:lnTo>
                    <a:pt x="9418320" y="1078992"/>
                  </a:lnTo>
                  <a:cubicBezTo>
                    <a:pt x="9418320" y="1149731"/>
                    <a:pt x="9361043" y="1207008"/>
                    <a:pt x="9290304" y="1207008"/>
                  </a:cubicBezTo>
                  <a:lnTo>
                    <a:pt x="128016" y="1207008"/>
                  </a:lnTo>
                  <a:cubicBezTo>
                    <a:pt x="57277" y="1207008"/>
                    <a:pt x="0" y="1149731"/>
                    <a:pt x="0" y="1078992"/>
                  </a:cubicBezTo>
                  <a:close/>
                </a:path>
              </a:pathLst>
            </a:custGeom>
            <a:solidFill>
              <a:srgbClr val="FFFFFF"/>
            </a:solidFill>
          </p:spPr>
        </p:sp>
      </p:grpSp>
      <p:grpSp>
        <p:nvGrpSpPr>
          <p:cNvPr name="Group 48" id="48"/>
          <p:cNvGrpSpPr/>
          <p:nvPr/>
        </p:nvGrpSpPr>
        <p:grpSpPr>
          <a:xfrm rot="0">
            <a:off x="9093708" y="5541264"/>
            <a:ext cx="6309360" cy="905256"/>
            <a:chOff x="0" y="0"/>
            <a:chExt cx="8412480" cy="1207008"/>
          </a:xfrm>
        </p:grpSpPr>
        <p:sp>
          <p:nvSpPr>
            <p:cNvPr name="Freeform 49" id="49"/>
            <p:cNvSpPr/>
            <p:nvPr/>
          </p:nvSpPr>
          <p:spPr>
            <a:xfrm flipH="false" flipV="false" rot="0">
              <a:off x="0" y="0"/>
              <a:ext cx="8412480" cy="1207008"/>
            </a:xfrm>
            <a:custGeom>
              <a:avLst/>
              <a:gdLst/>
              <a:ahLst/>
              <a:cxnLst/>
              <a:rect r="r" b="b" t="t" l="l"/>
              <a:pathLst>
                <a:path h="1207008" w="8412480">
                  <a:moveTo>
                    <a:pt x="0" y="0"/>
                  </a:moveTo>
                  <a:lnTo>
                    <a:pt x="8412480" y="0"/>
                  </a:lnTo>
                  <a:lnTo>
                    <a:pt x="8412480" y="1207008"/>
                  </a:lnTo>
                  <a:lnTo>
                    <a:pt x="0" y="1207008"/>
                  </a:lnTo>
                  <a:close/>
                </a:path>
              </a:pathLst>
            </a:custGeom>
            <a:blipFill>
              <a:blip r:embed="rId9">
                <a:alphaModFix amt="0"/>
              </a:blip>
              <a:stretch>
                <a:fillRect l="0" t="-85804" r="0" b="-85804"/>
              </a:stretch>
            </a:blipFill>
          </p:spPr>
        </p:sp>
        <p:sp>
          <p:nvSpPr>
            <p:cNvPr name="TextBox 50" id="50"/>
            <p:cNvSpPr txBox="true"/>
            <p:nvPr/>
          </p:nvSpPr>
          <p:spPr>
            <a:xfrm>
              <a:off x="0" y="-47625"/>
              <a:ext cx="8412480" cy="1254633"/>
            </a:xfrm>
            <a:prstGeom prst="rect">
              <a:avLst/>
            </a:prstGeom>
          </p:spPr>
          <p:txBody>
            <a:bodyPr anchor="ctr" rtlCol="false" tIns="0" lIns="0" bIns="0" rIns="0"/>
            <a:lstStyle/>
            <a:p>
              <a:pPr algn="l">
                <a:lnSpc>
                  <a:spcPts val="2587"/>
                </a:lnSpc>
              </a:pPr>
              <a:r>
                <a:rPr lang="en-US" sz="1875">
                  <a:solidFill>
                    <a:srgbClr val="0A1A23"/>
                  </a:solidFill>
                  <a:latin typeface="Poppins"/>
                  <a:ea typeface="Poppins"/>
                  <a:cs typeface="Poppins"/>
                  <a:sym typeface="Poppins"/>
                </a:rPr>
                <a:t>Refreshes against the source and stays current</a:t>
              </a:r>
            </a:p>
          </p:txBody>
        </p:sp>
      </p:grpSp>
      <p:grpSp>
        <p:nvGrpSpPr>
          <p:cNvPr name="Group 51" id="51"/>
          <p:cNvGrpSpPr/>
          <p:nvPr/>
        </p:nvGrpSpPr>
        <p:grpSpPr>
          <a:xfrm rot="0">
            <a:off x="1028700" y="6611112"/>
            <a:ext cx="7063740" cy="905256"/>
            <a:chOff x="0" y="0"/>
            <a:chExt cx="9418320" cy="1207008"/>
          </a:xfrm>
        </p:grpSpPr>
        <p:sp>
          <p:nvSpPr>
            <p:cNvPr name="Freeform 52" id="52"/>
            <p:cNvSpPr/>
            <p:nvPr/>
          </p:nvSpPr>
          <p:spPr>
            <a:xfrm flipH="false" flipV="false" rot="0">
              <a:off x="0" y="0"/>
              <a:ext cx="9418320" cy="1207008"/>
            </a:xfrm>
            <a:custGeom>
              <a:avLst/>
              <a:gdLst/>
              <a:ahLst/>
              <a:cxnLst/>
              <a:rect r="r" b="b" t="t" l="l"/>
              <a:pathLst>
                <a:path h="1207008" w="9418320">
                  <a:moveTo>
                    <a:pt x="0" y="128016"/>
                  </a:moveTo>
                  <a:cubicBezTo>
                    <a:pt x="0" y="57277"/>
                    <a:pt x="57277" y="0"/>
                    <a:pt x="128016" y="0"/>
                  </a:cubicBezTo>
                  <a:lnTo>
                    <a:pt x="9290304" y="0"/>
                  </a:lnTo>
                  <a:cubicBezTo>
                    <a:pt x="9361043" y="0"/>
                    <a:pt x="9418320" y="57277"/>
                    <a:pt x="9418320" y="128016"/>
                  </a:cubicBezTo>
                  <a:lnTo>
                    <a:pt x="9418320" y="1078992"/>
                  </a:lnTo>
                  <a:cubicBezTo>
                    <a:pt x="9418320" y="1149731"/>
                    <a:pt x="9361043" y="1207008"/>
                    <a:pt x="9290304" y="1207008"/>
                  </a:cubicBezTo>
                  <a:lnTo>
                    <a:pt x="128016" y="1207008"/>
                  </a:lnTo>
                  <a:cubicBezTo>
                    <a:pt x="57277" y="1207008"/>
                    <a:pt x="0" y="1149731"/>
                    <a:pt x="0" y="1078992"/>
                  </a:cubicBezTo>
                  <a:close/>
                </a:path>
              </a:pathLst>
            </a:custGeom>
            <a:solidFill>
              <a:srgbClr val="F7FAFA"/>
            </a:solidFill>
          </p:spPr>
        </p:sp>
      </p:grpSp>
      <p:grpSp>
        <p:nvGrpSpPr>
          <p:cNvPr name="Group 53" id="53"/>
          <p:cNvGrpSpPr/>
          <p:nvPr/>
        </p:nvGrpSpPr>
        <p:grpSpPr>
          <a:xfrm rot="0">
            <a:off x="1412748" y="6611112"/>
            <a:ext cx="6309360" cy="905256"/>
            <a:chOff x="0" y="0"/>
            <a:chExt cx="8412480" cy="1207008"/>
          </a:xfrm>
        </p:grpSpPr>
        <p:sp>
          <p:nvSpPr>
            <p:cNvPr name="Freeform 54" id="54"/>
            <p:cNvSpPr/>
            <p:nvPr/>
          </p:nvSpPr>
          <p:spPr>
            <a:xfrm flipH="false" flipV="false" rot="0">
              <a:off x="0" y="0"/>
              <a:ext cx="8412480" cy="1207008"/>
            </a:xfrm>
            <a:custGeom>
              <a:avLst/>
              <a:gdLst/>
              <a:ahLst/>
              <a:cxnLst/>
              <a:rect r="r" b="b" t="t" l="l"/>
              <a:pathLst>
                <a:path h="1207008" w="8412480">
                  <a:moveTo>
                    <a:pt x="0" y="0"/>
                  </a:moveTo>
                  <a:lnTo>
                    <a:pt x="8412480" y="0"/>
                  </a:lnTo>
                  <a:lnTo>
                    <a:pt x="8412480" y="1207008"/>
                  </a:lnTo>
                  <a:lnTo>
                    <a:pt x="0" y="1207008"/>
                  </a:lnTo>
                  <a:close/>
                </a:path>
              </a:pathLst>
            </a:custGeom>
            <a:blipFill>
              <a:blip r:embed="rId9">
                <a:alphaModFix amt="0"/>
              </a:blip>
              <a:stretch>
                <a:fillRect l="0" t="-85804" r="0" b="-85804"/>
              </a:stretch>
            </a:blipFill>
          </p:spPr>
        </p:sp>
        <p:sp>
          <p:nvSpPr>
            <p:cNvPr name="TextBox 55" id="55"/>
            <p:cNvSpPr txBox="true"/>
            <p:nvPr/>
          </p:nvSpPr>
          <p:spPr>
            <a:xfrm>
              <a:off x="0" y="-47625"/>
              <a:ext cx="8412480" cy="1254633"/>
            </a:xfrm>
            <a:prstGeom prst="rect">
              <a:avLst/>
            </a:prstGeom>
          </p:spPr>
          <p:txBody>
            <a:bodyPr anchor="ctr" rtlCol="false" tIns="0" lIns="0" bIns="0" rIns="0"/>
            <a:lstStyle/>
            <a:p>
              <a:pPr algn="l">
                <a:lnSpc>
                  <a:spcPts val="2587"/>
                </a:lnSpc>
              </a:pPr>
              <a:r>
                <a:rPr lang="en-US" sz="1875">
                  <a:solidFill>
                    <a:srgbClr val="475569"/>
                  </a:solidFill>
                  <a:latin typeface="Poppins"/>
                  <a:ea typeface="Poppins"/>
                  <a:cs typeface="Poppins"/>
                  <a:sym typeface="Poppins"/>
                </a:rPr>
                <a:t>You are the interface: they ask, you run it</a:t>
              </a:r>
            </a:p>
          </p:txBody>
        </p:sp>
      </p:grpSp>
      <p:grpSp>
        <p:nvGrpSpPr>
          <p:cNvPr name="Group 56" id="56"/>
          <p:cNvGrpSpPr/>
          <p:nvPr/>
        </p:nvGrpSpPr>
        <p:grpSpPr>
          <a:xfrm rot="0">
            <a:off x="8709660" y="6611112"/>
            <a:ext cx="7063740" cy="905256"/>
            <a:chOff x="0" y="0"/>
            <a:chExt cx="9418320" cy="1207008"/>
          </a:xfrm>
        </p:grpSpPr>
        <p:sp>
          <p:nvSpPr>
            <p:cNvPr name="Freeform 57" id="57"/>
            <p:cNvSpPr/>
            <p:nvPr/>
          </p:nvSpPr>
          <p:spPr>
            <a:xfrm flipH="false" flipV="false" rot="0">
              <a:off x="0" y="0"/>
              <a:ext cx="9418320" cy="1207008"/>
            </a:xfrm>
            <a:custGeom>
              <a:avLst/>
              <a:gdLst/>
              <a:ahLst/>
              <a:cxnLst/>
              <a:rect r="r" b="b" t="t" l="l"/>
              <a:pathLst>
                <a:path h="1207008" w="9418320">
                  <a:moveTo>
                    <a:pt x="0" y="128016"/>
                  </a:moveTo>
                  <a:cubicBezTo>
                    <a:pt x="0" y="57277"/>
                    <a:pt x="57277" y="0"/>
                    <a:pt x="128016" y="0"/>
                  </a:cubicBezTo>
                  <a:lnTo>
                    <a:pt x="9290304" y="0"/>
                  </a:lnTo>
                  <a:cubicBezTo>
                    <a:pt x="9361043" y="0"/>
                    <a:pt x="9418320" y="57277"/>
                    <a:pt x="9418320" y="128016"/>
                  </a:cubicBezTo>
                  <a:lnTo>
                    <a:pt x="9418320" y="1078992"/>
                  </a:lnTo>
                  <a:cubicBezTo>
                    <a:pt x="9418320" y="1149731"/>
                    <a:pt x="9361043" y="1207008"/>
                    <a:pt x="9290304" y="1207008"/>
                  </a:cubicBezTo>
                  <a:lnTo>
                    <a:pt x="128016" y="1207008"/>
                  </a:lnTo>
                  <a:cubicBezTo>
                    <a:pt x="57277" y="1207008"/>
                    <a:pt x="0" y="1149731"/>
                    <a:pt x="0" y="1078992"/>
                  </a:cubicBezTo>
                  <a:close/>
                </a:path>
              </a:pathLst>
            </a:custGeom>
            <a:solidFill>
              <a:srgbClr val="FFFFFF"/>
            </a:solidFill>
          </p:spPr>
        </p:sp>
      </p:grpSp>
      <p:grpSp>
        <p:nvGrpSpPr>
          <p:cNvPr name="Group 58" id="58"/>
          <p:cNvGrpSpPr/>
          <p:nvPr/>
        </p:nvGrpSpPr>
        <p:grpSpPr>
          <a:xfrm rot="0">
            <a:off x="9093708" y="6611112"/>
            <a:ext cx="6309360" cy="905256"/>
            <a:chOff x="0" y="0"/>
            <a:chExt cx="8412480" cy="1207008"/>
          </a:xfrm>
        </p:grpSpPr>
        <p:sp>
          <p:nvSpPr>
            <p:cNvPr name="Freeform 59" id="59"/>
            <p:cNvSpPr/>
            <p:nvPr/>
          </p:nvSpPr>
          <p:spPr>
            <a:xfrm flipH="false" flipV="false" rot="0">
              <a:off x="0" y="0"/>
              <a:ext cx="8412480" cy="1207008"/>
            </a:xfrm>
            <a:custGeom>
              <a:avLst/>
              <a:gdLst/>
              <a:ahLst/>
              <a:cxnLst/>
              <a:rect r="r" b="b" t="t" l="l"/>
              <a:pathLst>
                <a:path h="1207008" w="8412480">
                  <a:moveTo>
                    <a:pt x="0" y="0"/>
                  </a:moveTo>
                  <a:lnTo>
                    <a:pt x="8412480" y="0"/>
                  </a:lnTo>
                  <a:lnTo>
                    <a:pt x="8412480" y="1207008"/>
                  </a:lnTo>
                  <a:lnTo>
                    <a:pt x="0" y="1207008"/>
                  </a:lnTo>
                  <a:close/>
                </a:path>
              </a:pathLst>
            </a:custGeom>
            <a:blipFill>
              <a:blip r:embed="rId9">
                <a:alphaModFix amt="0"/>
              </a:blip>
              <a:stretch>
                <a:fillRect l="0" t="-85804" r="0" b="-85804"/>
              </a:stretch>
            </a:blipFill>
          </p:spPr>
        </p:sp>
        <p:sp>
          <p:nvSpPr>
            <p:cNvPr name="TextBox 60" id="60"/>
            <p:cNvSpPr txBox="true"/>
            <p:nvPr/>
          </p:nvSpPr>
          <p:spPr>
            <a:xfrm>
              <a:off x="0" y="-47625"/>
              <a:ext cx="8412480" cy="1254633"/>
            </a:xfrm>
            <a:prstGeom prst="rect">
              <a:avLst/>
            </a:prstGeom>
          </p:spPr>
          <p:txBody>
            <a:bodyPr anchor="ctr" rtlCol="false" tIns="0" lIns="0" bIns="0" rIns="0"/>
            <a:lstStyle/>
            <a:p>
              <a:pPr algn="l">
                <a:lnSpc>
                  <a:spcPts val="2587"/>
                </a:lnSpc>
              </a:pPr>
              <a:r>
                <a:rPr lang="en-US" sz="1875">
                  <a:solidFill>
                    <a:srgbClr val="0A1A23"/>
                  </a:solidFill>
                  <a:latin typeface="Poppins"/>
                  <a:ea typeface="Poppins"/>
                  <a:cs typeface="Poppins"/>
                  <a:sym typeface="Poppins"/>
                </a:rPr>
                <a:t>The model is the interface: they explore without you</a:t>
              </a:r>
            </a:p>
          </p:txBody>
        </p:sp>
      </p:grpSp>
      <p:grpSp>
        <p:nvGrpSpPr>
          <p:cNvPr name="Group 61" id="61"/>
          <p:cNvGrpSpPr/>
          <p:nvPr/>
        </p:nvGrpSpPr>
        <p:grpSpPr>
          <a:xfrm rot="0">
            <a:off x="1028700" y="7886700"/>
            <a:ext cx="14744700" cy="1165860"/>
            <a:chOff x="0" y="0"/>
            <a:chExt cx="19659600" cy="1554480"/>
          </a:xfrm>
        </p:grpSpPr>
        <p:sp>
          <p:nvSpPr>
            <p:cNvPr name="Freeform 62" id="62"/>
            <p:cNvSpPr/>
            <p:nvPr/>
          </p:nvSpPr>
          <p:spPr>
            <a:xfrm flipH="false" flipV="false" rot="0">
              <a:off x="0" y="0"/>
              <a:ext cx="19659600" cy="1554480"/>
            </a:xfrm>
            <a:custGeom>
              <a:avLst/>
              <a:gdLst/>
              <a:ahLst/>
              <a:cxnLst/>
              <a:rect r="r" b="b" t="t" l="l"/>
              <a:pathLst>
                <a:path h="1554480" w="19659600">
                  <a:moveTo>
                    <a:pt x="0" y="164592"/>
                  </a:moveTo>
                  <a:cubicBezTo>
                    <a:pt x="0" y="73660"/>
                    <a:pt x="73660" y="0"/>
                    <a:pt x="164592" y="0"/>
                  </a:cubicBezTo>
                  <a:lnTo>
                    <a:pt x="19495008" y="0"/>
                  </a:lnTo>
                  <a:cubicBezTo>
                    <a:pt x="19585939" y="0"/>
                    <a:pt x="19659600" y="73660"/>
                    <a:pt x="19659600" y="164592"/>
                  </a:cubicBezTo>
                  <a:lnTo>
                    <a:pt x="19659600" y="1389888"/>
                  </a:lnTo>
                  <a:cubicBezTo>
                    <a:pt x="19659600" y="1480820"/>
                    <a:pt x="19585939" y="1554480"/>
                    <a:pt x="19495008" y="1554480"/>
                  </a:cubicBezTo>
                  <a:lnTo>
                    <a:pt x="164592" y="1554480"/>
                  </a:lnTo>
                  <a:cubicBezTo>
                    <a:pt x="73660" y="1554480"/>
                    <a:pt x="0" y="1480820"/>
                    <a:pt x="0" y="1389888"/>
                  </a:cubicBezTo>
                  <a:close/>
                </a:path>
              </a:pathLst>
            </a:custGeom>
            <a:solidFill>
              <a:srgbClr val="EEF4F4"/>
            </a:solidFill>
          </p:spPr>
        </p:sp>
      </p:grpSp>
      <p:grpSp>
        <p:nvGrpSpPr>
          <p:cNvPr name="Group 63" id="63"/>
          <p:cNvGrpSpPr/>
          <p:nvPr/>
        </p:nvGrpSpPr>
        <p:grpSpPr>
          <a:xfrm rot="0">
            <a:off x="1028700" y="7886700"/>
            <a:ext cx="102870" cy="1165860"/>
            <a:chOff x="0" y="0"/>
            <a:chExt cx="137160" cy="1554480"/>
          </a:xfrm>
        </p:grpSpPr>
        <p:sp>
          <p:nvSpPr>
            <p:cNvPr name="Freeform 64" id="64"/>
            <p:cNvSpPr/>
            <p:nvPr/>
          </p:nvSpPr>
          <p:spPr>
            <a:xfrm flipH="false" flipV="false" rot="0">
              <a:off x="0" y="0"/>
              <a:ext cx="137160" cy="1554480"/>
            </a:xfrm>
            <a:custGeom>
              <a:avLst/>
              <a:gdLst/>
              <a:ahLst/>
              <a:cxnLst/>
              <a:rect r="r" b="b" t="t" l="l"/>
              <a:pathLst>
                <a:path h="1554480" w="137160">
                  <a:moveTo>
                    <a:pt x="0" y="0"/>
                  </a:moveTo>
                  <a:lnTo>
                    <a:pt x="137160" y="0"/>
                  </a:lnTo>
                  <a:lnTo>
                    <a:pt x="137160" y="1554480"/>
                  </a:lnTo>
                  <a:lnTo>
                    <a:pt x="0" y="1554480"/>
                  </a:lnTo>
                  <a:close/>
                </a:path>
              </a:pathLst>
            </a:custGeom>
            <a:solidFill>
              <a:srgbClr val="387F7F"/>
            </a:solidFill>
          </p:spPr>
        </p:sp>
      </p:grpSp>
      <p:grpSp>
        <p:nvGrpSpPr>
          <p:cNvPr name="Group 65" id="65"/>
          <p:cNvGrpSpPr/>
          <p:nvPr/>
        </p:nvGrpSpPr>
        <p:grpSpPr>
          <a:xfrm rot="0">
            <a:off x="1577340" y="7886700"/>
            <a:ext cx="13853160" cy="1165860"/>
            <a:chOff x="0" y="0"/>
            <a:chExt cx="18470880" cy="1554480"/>
          </a:xfrm>
        </p:grpSpPr>
        <p:sp>
          <p:nvSpPr>
            <p:cNvPr name="Freeform 66" id="66"/>
            <p:cNvSpPr/>
            <p:nvPr/>
          </p:nvSpPr>
          <p:spPr>
            <a:xfrm flipH="false" flipV="false" rot="0">
              <a:off x="0" y="0"/>
              <a:ext cx="18470880" cy="1554480"/>
            </a:xfrm>
            <a:custGeom>
              <a:avLst/>
              <a:gdLst/>
              <a:ahLst/>
              <a:cxnLst/>
              <a:rect r="r" b="b" t="t" l="l"/>
              <a:pathLst>
                <a:path h="1554480" w="18470880">
                  <a:moveTo>
                    <a:pt x="0" y="0"/>
                  </a:moveTo>
                  <a:lnTo>
                    <a:pt x="18470880" y="0"/>
                  </a:lnTo>
                  <a:lnTo>
                    <a:pt x="18470880" y="1554480"/>
                  </a:lnTo>
                  <a:lnTo>
                    <a:pt x="0" y="1554480"/>
                  </a:lnTo>
                  <a:close/>
                </a:path>
              </a:pathLst>
            </a:custGeom>
            <a:blipFill>
              <a:blip r:embed="rId9">
                <a:alphaModFix amt="0"/>
              </a:blip>
              <a:stretch>
                <a:fillRect l="0" t="-181528" r="0" b="-181528"/>
              </a:stretch>
            </a:blipFill>
          </p:spPr>
        </p:sp>
        <p:sp>
          <p:nvSpPr>
            <p:cNvPr name="TextBox 67" id="67"/>
            <p:cNvSpPr txBox="true"/>
            <p:nvPr/>
          </p:nvSpPr>
          <p:spPr>
            <a:xfrm>
              <a:off x="0" y="-114300"/>
              <a:ext cx="18470880" cy="1668780"/>
            </a:xfrm>
            <a:prstGeom prst="rect">
              <a:avLst/>
            </a:prstGeom>
          </p:spPr>
          <p:txBody>
            <a:bodyPr anchor="ctr" rtlCol="false" tIns="0" lIns="0" bIns="0" rIns="0"/>
            <a:lstStyle/>
            <a:p>
              <a:pPr algn="l">
                <a:lnSpc>
                  <a:spcPts val="3523"/>
                </a:lnSpc>
              </a:pPr>
              <a:r>
                <a:rPr lang="en-US" sz="2175" b="true">
                  <a:solidFill>
                    <a:srgbClr val="387F7F"/>
                  </a:solidFill>
                  <a:latin typeface="Poppins Bold"/>
                  <a:ea typeface="Poppins Bold"/>
                  <a:cs typeface="Poppins Bold"/>
                  <a:sym typeface="Poppins Bold"/>
                </a:rPr>
                <a:t>Both are legitimate work. This module teaches the second one.</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588397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Four</a:t>
            </a:r>
            <a:r>
              <a:rPr lang="en-US" sz="5000">
                <a:solidFill>
                  <a:srgbClr val="388080"/>
                </a:solidFill>
                <a:latin typeface="Poppins"/>
                <a:ea typeface="Poppins"/>
                <a:cs typeface="Poppins"/>
                <a:sym typeface="Poppins"/>
              </a:rPr>
              <a:t> views, one file</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889160" y="2061591"/>
            <a:ext cx="7194480" cy="4929378"/>
            <a:chOff x="0" y="0"/>
            <a:chExt cx="9592640" cy="6572504"/>
          </a:xfrm>
        </p:grpSpPr>
        <p:sp>
          <p:nvSpPr>
            <p:cNvPr name="Freeform 12" id="12"/>
            <p:cNvSpPr/>
            <p:nvPr/>
          </p:nvSpPr>
          <p:spPr>
            <a:xfrm flipH="false" flipV="false" rot="0">
              <a:off x="0" y="0"/>
              <a:ext cx="9592691" cy="6572504"/>
            </a:xfrm>
            <a:custGeom>
              <a:avLst/>
              <a:gdLst/>
              <a:ahLst/>
              <a:cxnLst/>
              <a:rect r="r" b="b" t="t" l="l"/>
              <a:pathLst>
                <a:path h="6572504" w="9592691">
                  <a:moveTo>
                    <a:pt x="0" y="146939"/>
                  </a:moveTo>
                  <a:cubicBezTo>
                    <a:pt x="0" y="65786"/>
                    <a:pt x="65786" y="0"/>
                    <a:pt x="146939" y="0"/>
                  </a:cubicBezTo>
                  <a:lnTo>
                    <a:pt x="9445752" y="0"/>
                  </a:lnTo>
                  <a:cubicBezTo>
                    <a:pt x="9526905" y="0"/>
                    <a:pt x="9592691" y="65786"/>
                    <a:pt x="9592691" y="146939"/>
                  </a:cubicBezTo>
                  <a:lnTo>
                    <a:pt x="9592691" y="6425565"/>
                  </a:lnTo>
                  <a:cubicBezTo>
                    <a:pt x="9592691" y="6506718"/>
                    <a:pt x="9526905" y="6572504"/>
                    <a:pt x="9445752" y="6572504"/>
                  </a:cubicBezTo>
                  <a:lnTo>
                    <a:pt x="146939" y="6572504"/>
                  </a:lnTo>
                  <a:cubicBezTo>
                    <a:pt x="65786" y="6572504"/>
                    <a:pt x="0" y="6506718"/>
                    <a:pt x="0" y="6425565"/>
                  </a:cubicBezTo>
                  <a:close/>
                </a:path>
              </a:pathLst>
            </a:custGeom>
            <a:solidFill>
              <a:srgbClr val="FFFFFF"/>
            </a:solidFill>
            <a:ln w="19050" cap="sq">
              <a:solidFill>
                <a:srgbClr val="E2E8F0"/>
              </a:solidFill>
              <a:prstDash val="solid"/>
              <a:miter/>
            </a:ln>
          </p:spPr>
        </p:sp>
      </p:grpSp>
      <p:grpSp>
        <p:nvGrpSpPr>
          <p:cNvPr name="Group 13" id="13"/>
          <p:cNvGrpSpPr/>
          <p:nvPr/>
        </p:nvGrpSpPr>
        <p:grpSpPr>
          <a:xfrm rot="0">
            <a:off x="2022129" y="2194560"/>
            <a:ext cx="6928542" cy="4663440"/>
            <a:chOff x="0" y="0"/>
            <a:chExt cx="9238056" cy="6217920"/>
          </a:xfrm>
        </p:grpSpPr>
        <p:sp>
          <p:nvSpPr>
            <p:cNvPr name="Freeform 14" id="14" descr="/home/claude/build/assets/shot_views.png"/>
            <p:cNvSpPr/>
            <p:nvPr/>
          </p:nvSpPr>
          <p:spPr>
            <a:xfrm flipH="false" flipV="false" rot="0">
              <a:off x="0" y="0"/>
              <a:ext cx="9238107" cy="6217920"/>
            </a:xfrm>
            <a:custGeom>
              <a:avLst/>
              <a:gdLst/>
              <a:ahLst/>
              <a:cxnLst/>
              <a:rect r="r" b="b" t="t" l="l"/>
              <a:pathLst>
                <a:path h="6217920" w="9238107">
                  <a:moveTo>
                    <a:pt x="0" y="0"/>
                  </a:moveTo>
                  <a:lnTo>
                    <a:pt x="9238107" y="0"/>
                  </a:lnTo>
                  <a:lnTo>
                    <a:pt x="9238107" y="6217920"/>
                  </a:lnTo>
                  <a:lnTo>
                    <a:pt x="0" y="6217920"/>
                  </a:lnTo>
                  <a:lnTo>
                    <a:pt x="0" y="0"/>
                  </a:lnTo>
                  <a:close/>
                </a:path>
              </a:pathLst>
            </a:custGeom>
            <a:blipFill>
              <a:blip r:embed="rId9"/>
              <a:stretch>
                <a:fillRect l="0" t="0" r="0" b="0"/>
              </a:stretch>
            </a:blipFill>
          </p:spPr>
        </p:sp>
      </p:grpSp>
      <p:grpSp>
        <p:nvGrpSpPr>
          <p:cNvPr name="Group 15" id="15"/>
          <p:cNvGrpSpPr/>
          <p:nvPr/>
        </p:nvGrpSpPr>
        <p:grpSpPr>
          <a:xfrm rot="0">
            <a:off x="10424160" y="2331720"/>
            <a:ext cx="5349240" cy="1536192"/>
            <a:chOff x="0" y="0"/>
            <a:chExt cx="7132320" cy="2048256"/>
          </a:xfrm>
        </p:grpSpPr>
        <p:sp>
          <p:nvSpPr>
            <p:cNvPr name="Freeform 16" id="16"/>
            <p:cNvSpPr/>
            <p:nvPr/>
          </p:nvSpPr>
          <p:spPr>
            <a:xfrm flipH="false" flipV="false" rot="0">
              <a:off x="0" y="0"/>
              <a:ext cx="7132320" cy="2048256"/>
            </a:xfrm>
            <a:custGeom>
              <a:avLst/>
              <a:gdLst/>
              <a:ahLst/>
              <a:cxnLst/>
              <a:rect r="r" b="b" t="t" l="l"/>
              <a:pathLst>
                <a:path h="2048256" w="7132320">
                  <a:moveTo>
                    <a:pt x="0" y="182880"/>
                  </a:moveTo>
                  <a:cubicBezTo>
                    <a:pt x="0" y="81915"/>
                    <a:pt x="81915" y="0"/>
                    <a:pt x="182880" y="0"/>
                  </a:cubicBezTo>
                  <a:lnTo>
                    <a:pt x="6949440" y="0"/>
                  </a:lnTo>
                  <a:cubicBezTo>
                    <a:pt x="7050405" y="0"/>
                    <a:pt x="7132320" y="81915"/>
                    <a:pt x="7132320" y="182880"/>
                  </a:cubicBezTo>
                  <a:lnTo>
                    <a:pt x="7132320" y="1865376"/>
                  </a:lnTo>
                  <a:cubicBezTo>
                    <a:pt x="7132320" y="1966341"/>
                    <a:pt x="7050405" y="2048256"/>
                    <a:pt x="6949440" y="2048256"/>
                  </a:cubicBezTo>
                  <a:lnTo>
                    <a:pt x="182880" y="2048256"/>
                  </a:lnTo>
                  <a:cubicBezTo>
                    <a:pt x="81915" y="2048256"/>
                    <a:pt x="0" y="1966341"/>
                    <a:pt x="0" y="1865376"/>
                  </a:cubicBezTo>
                  <a:close/>
                </a:path>
              </a:pathLst>
            </a:custGeom>
            <a:solidFill>
              <a:srgbClr val="FFFFFF"/>
            </a:solidFill>
          </p:spPr>
        </p:sp>
      </p:grpSp>
      <p:grpSp>
        <p:nvGrpSpPr>
          <p:cNvPr name="Group 17" id="17"/>
          <p:cNvGrpSpPr/>
          <p:nvPr/>
        </p:nvGrpSpPr>
        <p:grpSpPr>
          <a:xfrm rot="0">
            <a:off x="10767060" y="2743200"/>
            <a:ext cx="685800" cy="685800"/>
            <a:chOff x="0" y="0"/>
            <a:chExt cx="914400" cy="914400"/>
          </a:xfrm>
        </p:grpSpPr>
        <p:sp>
          <p:nvSpPr>
            <p:cNvPr name="Freeform 18" id="1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19" id="19"/>
          <p:cNvGrpSpPr/>
          <p:nvPr/>
        </p:nvGrpSpPr>
        <p:grpSpPr>
          <a:xfrm rot="0">
            <a:off x="10767060" y="2743200"/>
            <a:ext cx="685800" cy="685800"/>
            <a:chOff x="0" y="0"/>
            <a:chExt cx="914400" cy="914400"/>
          </a:xfrm>
        </p:grpSpPr>
        <p:sp>
          <p:nvSpPr>
            <p:cNvPr name="Freeform 20" id="2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10">
                <a:alphaModFix amt="0"/>
              </a:blip>
              <a:stretch>
                <a:fillRect l="-78303" t="0" r="-78303" b="0"/>
              </a:stretch>
            </a:blipFill>
          </p:spPr>
        </p:sp>
        <p:sp>
          <p:nvSpPr>
            <p:cNvPr name="TextBox 21" id="21"/>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1</a:t>
              </a:r>
            </a:p>
          </p:txBody>
        </p:sp>
      </p:grpSp>
      <p:grpSp>
        <p:nvGrpSpPr>
          <p:cNvPr name="Group 22" id="22"/>
          <p:cNvGrpSpPr/>
          <p:nvPr/>
        </p:nvGrpSpPr>
        <p:grpSpPr>
          <a:xfrm rot="0">
            <a:off x="11658600" y="2496312"/>
            <a:ext cx="3909060" cy="466344"/>
            <a:chOff x="0" y="0"/>
            <a:chExt cx="5212080" cy="621792"/>
          </a:xfrm>
        </p:grpSpPr>
        <p:sp>
          <p:nvSpPr>
            <p:cNvPr name="Freeform 23" id="23"/>
            <p:cNvSpPr/>
            <p:nvPr/>
          </p:nvSpPr>
          <p:spPr>
            <a:xfrm flipH="false" flipV="false" rot="0">
              <a:off x="0" y="0"/>
              <a:ext cx="5212080" cy="621792"/>
            </a:xfrm>
            <a:custGeom>
              <a:avLst/>
              <a:gdLst/>
              <a:ahLst/>
              <a:cxnLst/>
              <a:rect r="r" b="b" t="t" l="l"/>
              <a:pathLst>
                <a:path h="621792" w="5212080">
                  <a:moveTo>
                    <a:pt x="0" y="0"/>
                  </a:moveTo>
                  <a:lnTo>
                    <a:pt x="5212080" y="0"/>
                  </a:lnTo>
                  <a:lnTo>
                    <a:pt x="5212080" y="621792"/>
                  </a:lnTo>
                  <a:lnTo>
                    <a:pt x="0" y="621792"/>
                  </a:lnTo>
                  <a:close/>
                </a:path>
              </a:pathLst>
            </a:custGeom>
            <a:blipFill>
              <a:blip r:embed="rId10">
                <a:alphaModFix amt="0"/>
              </a:blip>
              <a:stretch>
                <a:fillRect l="0" t="-113330" r="0" b="-113330"/>
              </a:stretch>
            </a:blipFill>
          </p:spPr>
        </p:sp>
        <p:sp>
          <p:nvSpPr>
            <p:cNvPr name="TextBox 24" id="24"/>
            <p:cNvSpPr txBox="true"/>
            <p:nvPr/>
          </p:nvSpPr>
          <p:spPr>
            <a:xfrm>
              <a:off x="0" y="-19050"/>
              <a:ext cx="5212080" cy="640842"/>
            </a:xfrm>
            <a:prstGeom prst="rect">
              <a:avLst/>
            </a:prstGeom>
          </p:spPr>
          <p:txBody>
            <a:bodyPr anchor="ctr" rtlCol="false" tIns="0" lIns="0" bIns="0" rIns="0"/>
            <a:lstStyle/>
            <a:p>
              <a:pPr algn="l">
                <a:lnSpc>
                  <a:spcPts val="2340"/>
                </a:lnSpc>
              </a:pPr>
              <a:r>
                <a:rPr lang="en-US" sz="1950" b="true">
                  <a:solidFill>
                    <a:srgbClr val="0A1A23"/>
                  </a:solidFill>
                  <a:latin typeface="Poppins Bold"/>
                  <a:ea typeface="Poppins Bold"/>
                  <a:cs typeface="Poppins Bold"/>
                  <a:sym typeface="Poppins Bold"/>
                </a:rPr>
                <a:t>Report view</a:t>
              </a:r>
            </a:p>
          </p:txBody>
        </p:sp>
      </p:grpSp>
      <p:sp>
        <p:nvSpPr>
          <p:cNvPr name="TextBox 25" id="25"/>
          <p:cNvSpPr txBox="true"/>
          <p:nvPr/>
        </p:nvSpPr>
        <p:spPr>
          <a:xfrm rot="0">
            <a:off x="11658600" y="2915031"/>
            <a:ext cx="3909060" cy="870585"/>
          </a:xfrm>
          <a:prstGeom prst="rect">
            <a:avLst/>
          </a:prstGeom>
        </p:spPr>
        <p:txBody>
          <a:bodyPr anchor="t" rtlCol="false" tIns="0" lIns="0" bIns="0" rIns="0">
            <a:spAutoFit/>
          </a:bodyPr>
          <a:lstStyle/>
          <a:p>
            <a:pPr algn="l">
              <a:lnSpc>
                <a:spcPts val="2376"/>
              </a:lnSpc>
            </a:pPr>
            <a:r>
              <a:rPr lang="en-US" sz="1650">
                <a:solidFill>
                  <a:srgbClr val="475569"/>
                </a:solidFill>
                <a:latin typeface="Poppins"/>
                <a:ea typeface="Poppins"/>
                <a:cs typeface="Poppins"/>
                <a:sym typeface="Poppins"/>
              </a:rPr>
              <a:t>Where you build what Adaeze sees.</a:t>
            </a:r>
          </a:p>
        </p:txBody>
      </p:sp>
      <p:grpSp>
        <p:nvGrpSpPr>
          <p:cNvPr name="Group 26" id="26"/>
          <p:cNvGrpSpPr/>
          <p:nvPr/>
        </p:nvGrpSpPr>
        <p:grpSpPr>
          <a:xfrm rot="0">
            <a:off x="10424160" y="4005072"/>
            <a:ext cx="5349240" cy="1536192"/>
            <a:chOff x="0" y="0"/>
            <a:chExt cx="7132320" cy="2048256"/>
          </a:xfrm>
        </p:grpSpPr>
        <p:sp>
          <p:nvSpPr>
            <p:cNvPr name="Freeform 27" id="27"/>
            <p:cNvSpPr/>
            <p:nvPr/>
          </p:nvSpPr>
          <p:spPr>
            <a:xfrm flipH="false" flipV="false" rot="0">
              <a:off x="0" y="0"/>
              <a:ext cx="7132320" cy="2048256"/>
            </a:xfrm>
            <a:custGeom>
              <a:avLst/>
              <a:gdLst/>
              <a:ahLst/>
              <a:cxnLst/>
              <a:rect r="r" b="b" t="t" l="l"/>
              <a:pathLst>
                <a:path h="2048256" w="7132320">
                  <a:moveTo>
                    <a:pt x="0" y="182880"/>
                  </a:moveTo>
                  <a:cubicBezTo>
                    <a:pt x="0" y="81915"/>
                    <a:pt x="81915" y="0"/>
                    <a:pt x="182880" y="0"/>
                  </a:cubicBezTo>
                  <a:lnTo>
                    <a:pt x="6949440" y="0"/>
                  </a:lnTo>
                  <a:cubicBezTo>
                    <a:pt x="7050405" y="0"/>
                    <a:pt x="7132320" y="81915"/>
                    <a:pt x="7132320" y="182880"/>
                  </a:cubicBezTo>
                  <a:lnTo>
                    <a:pt x="7132320" y="1865376"/>
                  </a:lnTo>
                  <a:cubicBezTo>
                    <a:pt x="7132320" y="1966341"/>
                    <a:pt x="7050405" y="2048256"/>
                    <a:pt x="6949440" y="2048256"/>
                  </a:cubicBezTo>
                  <a:lnTo>
                    <a:pt x="182880" y="2048256"/>
                  </a:lnTo>
                  <a:cubicBezTo>
                    <a:pt x="81915" y="2048256"/>
                    <a:pt x="0" y="1966341"/>
                    <a:pt x="0" y="1865376"/>
                  </a:cubicBezTo>
                  <a:close/>
                </a:path>
              </a:pathLst>
            </a:custGeom>
            <a:solidFill>
              <a:srgbClr val="FFFFFF"/>
            </a:solidFill>
          </p:spPr>
        </p:sp>
      </p:grpSp>
      <p:grpSp>
        <p:nvGrpSpPr>
          <p:cNvPr name="Group 28" id="28"/>
          <p:cNvGrpSpPr/>
          <p:nvPr/>
        </p:nvGrpSpPr>
        <p:grpSpPr>
          <a:xfrm rot="0">
            <a:off x="10767060" y="4416552"/>
            <a:ext cx="685800" cy="685800"/>
            <a:chOff x="0" y="0"/>
            <a:chExt cx="914400" cy="914400"/>
          </a:xfrm>
        </p:grpSpPr>
        <p:sp>
          <p:nvSpPr>
            <p:cNvPr name="Freeform 29" id="2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30" id="30"/>
          <p:cNvGrpSpPr/>
          <p:nvPr/>
        </p:nvGrpSpPr>
        <p:grpSpPr>
          <a:xfrm rot="0">
            <a:off x="10767060" y="4416552"/>
            <a:ext cx="685800" cy="685800"/>
            <a:chOff x="0" y="0"/>
            <a:chExt cx="914400" cy="914400"/>
          </a:xfrm>
        </p:grpSpPr>
        <p:sp>
          <p:nvSpPr>
            <p:cNvPr name="Freeform 31" id="3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10">
                <a:alphaModFix amt="0"/>
              </a:blip>
              <a:stretch>
                <a:fillRect l="-78303" t="0" r="-78303" b="0"/>
              </a:stretch>
            </a:blipFill>
          </p:spPr>
        </p:sp>
        <p:sp>
          <p:nvSpPr>
            <p:cNvPr name="TextBox 32" id="32"/>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2</a:t>
              </a:r>
            </a:p>
          </p:txBody>
        </p:sp>
      </p:grpSp>
      <p:grpSp>
        <p:nvGrpSpPr>
          <p:cNvPr name="Group 33" id="33"/>
          <p:cNvGrpSpPr/>
          <p:nvPr/>
        </p:nvGrpSpPr>
        <p:grpSpPr>
          <a:xfrm rot="0">
            <a:off x="11658600" y="4169664"/>
            <a:ext cx="3909060" cy="466344"/>
            <a:chOff x="0" y="0"/>
            <a:chExt cx="5212080" cy="621792"/>
          </a:xfrm>
        </p:grpSpPr>
        <p:sp>
          <p:nvSpPr>
            <p:cNvPr name="Freeform 34" id="34"/>
            <p:cNvSpPr/>
            <p:nvPr/>
          </p:nvSpPr>
          <p:spPr>
            <a:xfrm flipH="false" flipV="false" rot="0">
              <a:off x="0" y="0"/>
              <a:ext cx="5212080" cy="621792"/>
            </a:xfrm>
            <a:custGeom>
              <a:avLst/>
              <a:gdLst/>
              <a:ahLst/>
              <a:cxnLst/>
              <a:rect r="r" b="b" t="t" l="l"/>
              <a:pathLst>
                <a:path h="621792" w="5212080">
                  <a:moveTo>
                    <a:pt x="0" y="0"/>
                  </a:moveTo>
                  <a:lnTo>
                    <a:pt x="5212080" y="0"/>
                  </a:lnTo>
                  <a:lnTo>
                    <a:pt x="5212080" y="621792"/>
                  </a:lnTo>
                  <a:lnTo>
                    <a:pt x="0" y="621792"/>
                  </a:lnTo>
                  <a:close/>
                </a:path>
              </a:pathLst>
            </a:custGeom>
            <a:blipFill>
              <a:blip r:embed="rId10">
                <a:alphaModFix amt="0"/>
              </a:blip>
              <a:stretch>
                <a:fillRect l="0" t="-113330" r="0" b="-113330"/>
              </a:stretch>
            </a:blipFill>
          </p:spPr>
        </p:sp>
        <p:sp>
          <p:nvSpPr>
            <p:cNvPr name="TextBox 35" id="35"/>
            <p:cNvSpPr txBox="true"/>
            <p:nvPr/>
          </p:nvSpPr>
          <p:spPr>
            <a:xfrm>
              <a:off x="0" y="-19050"/>
              <a:ext cx="5212080" cy="640842"/>
            </a:xfrm>
            <a:prstGeom prst="rect">
              <a:avLst/>
            </a:prstGeom>
          </p:spPr>
          <p:txBody>
            <a:bodyPr anchor="ctr" rtlCol="false" tIns="0" lIns="0" bIns="0" rIns="0"/>
            <a:lstStyle/>
            <a:p>
              <a:pPr algn="l">
                <a:lnSpc>
                  <a:spcPts val="2340"/>
                </a:lnSpc>
              </a:pPr>
              <a:r>
                <a:rPr lang="en-US" sz="1950" b="true">
                  <a:solidFill>
                    <a:srgbClr val="0A1A23"/>
                  </a:solidFill>
                  <a:latin typeface="Poppins Bold"/>
                  <a:ea typeface="Poppins Bold"/>
                  <a:cs typeface="Poppins Bold"/>
                  <a:sym typeface="Poppins Bold"/>
                </a:rPr>
                <a:t>Table view</a:t>
              </a:r>
            </a:p>
          </p:txBody>
        </p:sp>
      </p:grpSp>
      <p:sp>
        <p:nvSpPr>
          <p:cNvPr name="TextBox 36" id="36"/>
          <p:cNvSpPr txBox="true"/>
          <p:nvPr/>
        </p:nvSpPr>
        <p:spPr>
          <a:xfrm rot="0">
            <a:off x="11658600" y="4588383"/>
            <a:ext cx="3909060" cy="870585"/>
          </a:xfrm>
          <a:prstGeom prst="rect">
            <a:avLst/>
          </a:prstGeom>
        </p:spPr>
        <p:txBody>
          <a:bodyPr anchor="t" rtlCol="false" tIns="0" lIns="0" bIns="0" rIns="0">
            <a:spAutoFit/>
          </a:bodyPr>
          <a:lstStyle/>
          <a:p>
            <a:pPr algn="l">
              <a:lnSpc>
                <a:spcPts val="2376"/>
              </a:lnSpc>
            </a:pPr>
            <a:r>
              <a:rPr lang="en-US" sz="1650">
                <a:solidFill>
                  <a:srgbClr val="475569"/>
                </a:solidFill>
                <a:latin typeface="Poppins"/>
                <a:ea typeface="Poppins"/>
                <a:cs typeface="Poppins"/>
                <a:sym typeface="Poppins"/>
              </a:rPr>
              <a:t>Where you inspect the data as rows, the way you would in Excel.</a:t>
            </a:r>
          </a:p>
        </p:txBody>
      </p:sp>
      <p:grpSp>
        <p:nvGrpSpPr>
          <p:cNvPr name="Group 37" id="37"/>
          <p:cNvGrpSpPr/>
          <p:nvPr/>
        </p:nvGrpSpPr>
        <p:grpSpPr>
          <a:xfrm rot="0">
            <a:off x="10424160" y="5678424"/>
            <a:ext cx="5349240" cy="1536192"/>
            <a:chOff x="0" y="0"/>
            <a:chExt cx="7132320" cy="2048256"/>
          </a:xfrm>
        </p:grpSpPr>
        <p:sp>
          <p:nvSpPr>
            <p:cNvPr name="Freeform 38" id="38"/>
            <p:cNvSpPr/>
            <p:nvPr/>
          </p:nvSpPr>
          <p:spPr>
            <a:xfrm flipH="false" flipV="false" rot="0">
              <a:off x="0" y="0"/>
              <a:ext cx="7132320" cy="2048256"/>
            </a:xfrm>
            <a:custGeom>
              <a:avLst/>
              <a:gdLst/>
              <a:ahLst/>
              <a:cxnLst/>
              <a:rect r="r" b="b" t="t" l="l"/>
              <a:pathLst>
                <a:path h="2048256" w="7132320">
                  <a:moveTo>
                    <a:pt x="0" y="182880"/>
                  </a:moveTo>
                  <a:cubicBezTo>
                    <a:pt x="0" y="81915"/>
                    <a:pt x="81915" y="0"/>
                    <a:pt x="182880" y="0"/>
                  </a:cubicBezTo>
                  <a:lnTo>
                    <a:pt x="6949440" y="0"/>
                  </a:lnTo>
                  <a:cubicBezTo>
                    <a:pt x="7050405" y="0"/>
                    <a:pt x="7132320" y="81915"/>
                    <a:pt x="7132320" y="182880"/>
                  </a:cubicBezTo>
                  <a:lnTo>
                    <a:pt x="7132320" y="1865376"/>
                  </a:lnTo>
                  <a:cubicBezTo>
                    <a:pt x="7132320" y="1966341"/>
                    <a:pt x="7050405" y="2048256"/>
                    <a:pt x="6949440" y="2048256"/>
                  </a:cubicBezTo>
                  <a:lnTo>
                    <a:pt x="182880" y="2048256"/>
                  </a:lnTo>
                  <a:cubicBezTo>
                    <a:pt x="81915" y="2048256"/>
                    <a:pt x="0" y="1966341"/>
                    <a:pt x="0" y="1865376"/>
                  </a:cubicBezTo>
                  <a:close/>
                </a:path>
              </a:pathLst>
            </a:custGeom>
            <a:solidFill>
              <a:srgbClr val="FFFFFF"/>
            </a:solidFill>
          </p:spPr>
        </p:sp>
      </p:grpSp>
      <p:grpSp>
        <p:nvGrpSpPr>
          <p:cNvPr name="Group 39" id="39"/>
          <p:cNvGrpSpPr/>
          <p:nvPr/>
        </p:nvGrpSpPr>
        <p:grpSpPr>
          <a:xfrm rot="0">
            <a:off x="10767060" y="6089904"/>
            <a:ext cx="685800" cy="685800"/>
            <a:chOff x="0" y="0"/>
            <a:chExt cx="914400" cy="914400"/>
          </a:xfrm>
        </p:grpSpPr>
        <p:sp>
          <p:nvSpPr>
            <p:cNvPr name="Freeform 40" id="4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41" id="41"/>
          <p:cNvGrpSpPr/>
          <p:nvPr/>
        </p:nvGrpSpPr>
        <p:grpSpPr>
          <a:xfrm rot="0">
            <a:off x="10767060" y="6089904"/>
            <a:ext cx="685800" cy="685800"/>
            <a:chOff x="0" y="0"/>
            <a:chExt cx="914400" cy="914400"/>
          </a:xfrm>
        </p:grpSpPr>
        <p:sp>
          <p:nvSpPr>
            <p:cNvPr name="Freeform 42" id="4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10">
                <a:alphaModFix amt="0"/>
              </a:blip>
              <a:stretch>
                <a:fillRect l="-78303" t="0" r="-78303" b="0"/>
              </a:stretch>
            </a:blipFill>
          </p:spPr>
        </p:sp>
        <p:sp>
          <p:nvSpPr>
            <p:cNvPr name="TextBox 43" id="43"/>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3</a:t>
              </a:r>
            </a:p>
          </p:txBody>
        </p:sp>
      </p:grpSp>
      <p:grpSp>
        <p:nvGrpSpPr>
          <p:cNvPr name="Group 44" id="44"/>
          <p:cNvGrpSpPr/>
          <p:nvPr/>
        </p:nvGrpSpPr>
        <p:grpSpPr>
          <a:xfrm rot="0">
            <a:off x="11658600" y="5843016"/>
            <a:ext cx="3909060" cy="466344"/>
            <a:chOff x="0" y="0"/>
            <a:chExt cx="5212080" cy="621792"/>
          </a:xfrm>
        </p:grpSpPr>
        <p:sp>
          <p:nvSpPr>
            <p:cNvPr name="Freeform 45" id="45"/>
            <p:cNvSpPr/>
            <p:nvPr/>
          </p:nvSpPr>
          <p:spPr>
            <a:xfrm flipH="false" flipV="false" rot="0">
              <a:off x="0" y="0"/>
              <a:ext cx="5212080" cy="621792"/>
            </a:xfrm>
            <a:custGeom>
              <a:avLst/>
              <a:gdLst/>
              <a:ahLst/>
              <a:cxnLst/>
              <a:rect r="r" b="b" t="t" l="l"/>
              <a:pathLst>
                <a:path h="621792" w="5212080">
                  <a:moveTo>
                    <a:pt x="0" y="0"/>
                  </a:moveTo>
                  <a:lnTo>
                    <a:pt x="5212080" y="0"/>
                  </a:lnTo>
                  <a:lnTo>
                    <a:pt x="5212080" y="621792"/>
                  </a:lnTo>
                  <a:lnTo>
                    <a:pt x="0" y="621792"/>
                  </a:lnTo>
                  <a:close/>
                </a:path>
              </a:pathLst>
            </a:custGeom>
            <a:blipFill>
              <a:blip r:embed="rId10">
                <a:alphaModFix amt="0"/>
              </a:blip>
              <a:stretch>
                <a:fillRect l="0" t="-113330" r="0" b="-113330"/>
              </a:stretch>
            </a:blipFill>
          </p:spPr>
        </p:sp>
        <p:sp>
          <p:nvSpPr>
            <p:cNvPr name="TextBox 46" id="46"/>
            <p:cNvSpPr txBox="true"/>
            <p:nvPr/>
          </p:nvSpPr>
          <p:spPr>
            <a:xfrm>
              <a:off x="0" y="-19050"/>
              <a:ext cx="5212080" cy="640842"/>
            </a:xfrm>
            <a:prstGeom prst="rect">
              <a:avLst/>
            </a:prstGeom>
          </p:spPr>
          <p:txBody>
            <a:bodyPr anchor="ctr" rtlCol="false" tIns="0" lIns="0" bIns="0" rIns="0"/>
            <a:lstStyle/>
            <a:p>
              <a:pPr algn="l">
                <a:lnSpc>
                  <a:spcPts val="2340"/>
                </a:lnSpc>
              </a:pPr>
              <a:r>
                <a:rPr lang="en-US" sz="1950" b="true">
                  <a:solidFill>
                    <a:srgbClr val="0A1A23"/>
                  </a:solidFill>
                  <a:latin typeface="Poppins Bold"/>
                  <a:ea typeface="Poppins Bold"/>
                  <a:cs typeface="Poppins Bold"/>
                  <a:sym typeface="Poppins Bold"/>
                </a:rPr>
                <a:t>Model view</a:t>
              </a:r>
            </a:p>
          </p:txBody>
        </p:sp>
      </p:grpSp>
      <p:sp>
        <p:nvSpPr>
          <p:cNvPr name="TextBox 47" id="47"/>
          <p:cNvSpPr txBox="true"/>
          <p:nvPr/>
        </p:nvSpPr>
        <p:spPr>
          <a:xfrm rot="0">
            <a:off x="11658600" y="6261735"/>
            <a:ext cx="3909060" cy="870585"/>
          </a:xfrm>
          <a:prstGeom prst="rect">
            <a:avLst/>
          </a:prstGeom>
        </p:spPr>
        <p:txBody>
          <a:bodyPr anchor="t" rtlCol="false" tIns="0" lIns="0" bIns="0" rIns="0">
            <a:spAutoFit/>
          </a:bodyPr>
          <a:lstStyle/>
          <a:p>
            <a:pPr algn="l">
              <a:lnSpc>
                <a:spcPts val="2376"/>
              </a:lnSpc>
            </a:pPr>
            <a:r>
              <a:rPr lang="en-US" sz="1650">
                <a:solidFill>
                  <a:srgbClr val="475569"/>
                </a:solidFill>
                <a:latin typeface="Poppins"/>
                <a:ea typeface="Poppins"/>
                <a:cs typeface="Poppins"/>
                <a:sym typeface="Poppins"/>
              </a:rPr>
              <a:t>Where relationships are drawn. This is Topic 7.2.</a:t>
            </a:r>
          </a:p>
        </p:txBody>
      </p:sp>
      <p:grpSp>
        <p:nvGrpSpPr>
          <p:cNvPr name="Group 48" id="48"/>
          <p:cNvGrpSpPr/>
          <p:nvPr/>
        </p:nvGrpSpPr>
        <p:grpSpPr>
          <a:xfrm rot="0">
            <a:off x="10424160" y="7351776"/>
            <a:ext cx="5349240" cy="1536192"/>
            <a:chOff x="0" y="0"/>
            <a:chExt cx="7132320" cy="2048256"/>
          </a:xfrm>
        </p:grpSpPr>
        <p:sp>
          <p:nvSpPr>
            <p:cNvPr name="Freeform 49" id="49"/>
            <p:cNvSpPr/>
            <p:nvPr/>
          </p:nvSpPr>
          <p:spPr>
            <a:xfrm flipH="false" flipV="false" rot="0">
              <a:off x="0" y="0"/>
              <a:ext cx="7132320" cy="2048256"/>
            </a:xfrm>
            <a:custGeom>
              <a:avLst/>
              <a:gdLst/>
              <a:ahLst/>
              <a:cxnLst/>
              <a:rect r="r" b="b" t="t" l="l"/>
              <a:pathLst>
                <a:path h="2048256" w="7132320">
                  <a:moveTo>
                    <a:pt x="0" y="182880"/>
                  </a:moveTo>
                  <a:cubicBezTo>
                    <a:pt x="0" y="81915"/>
                    <a:pt x="81915" y="0"/>
                    <a:pt x="182880" y="0"/>
                  </a:cubicBezTo>
                  <a:lnTo>
                    <a:pt x="6949440" y="0"/>
                  </a:lnTo>
                  <a:cubicBezTo>
                    <a:pt x="7050405" y="0"/>
                    <a:pt x="7132320" y="81915"/>
                    <a:pt x="7132320" y="182880"/>
                  </a:cubicBezTo>
                  <a:lnTo>
                    <a:pt x="7132320" y="1865376"/>
                  </a:lnTo>
                  <a:cubicBezTo>
                    <a:pt x="7132320" y="1966341"/>
                    <a:pt x="7050405" y="2048256"/>
                    <a:pt x="6949440" y="2048256"/>
                  </a:cubicBezTo>
                  <a:lnTo>
                    <a:pt x="182880" y="2048256"/>
                  </a:lnTo>
                  <a:cubicBezTo>
                    <a:pt x="81915" y="2048256"/>
                    <a:pt x="0" y="1966341"/>
                    <a:pt x="0" y="1865376"/>
                  </a:cubicBezTo>
                  <a:close/>
                </a:path>
              </a:pathLst>
            </a:custGeom>
            <a:solidFill>
              <a:srgbClr val="FFFFFF"/>
            </a:solidFill>
          </p:spPr>
        </p:sp>
      </p:grpSp>
      <p:grpSp>
        <p:nvGrpSpPr>
          <p:cNvPr name="Group 50" id="50"/>
          <p:cNvGrpSpPr/>
          <p:nvPr/>
        </p:nvGrpSpPr>
        <p:grpSpPr>
          <a:xfrm rot="0">
            <a:off x="10767060" y="7763256"/>
            <a:ext cx="685800" cy="685800"/>
            <a:chOff x="0" y="0"/>
            <a:chExt cx="914400" cy="914400"/>
          </a:xfrm>
        </p:grpSpPr>
        <p:sp>
          <p:nvSpPr>
            <p:cNvPr name="Freeform 51" id="5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52" id="52"/>
          <p:cNvGrpSpPr/>
          <p:nvPr/>
        </p:nvGrpSpPr>
        <p:grpSpPr>
          <a:xfrm rot="0">
            <a:off x="10767060" y="7763256"/>
            <a:ext cx="685800" cy="685800"/>
            <a:chOff x="0" y="0"/>
            <a:chExt cx="914400" cy="914400"/>
          </a:xfrm>
        </p:grpSpPr>
        <p:sp>
          <p:nvSpPr>
            <p:cNvPr name="Freeform 53" id="53"/>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10">
                <a:alphaModFix amt="0"/>
              </a:blip>
              <a:stretch>
                <a:fillRect l="-78303" t="0" r="-78303" b="0"/>
              </a:stretch>
            </a:blipFill>
          </p:spPr>
        </p:sp>
        <p:sp>
          <p:nvSpPr>
            <p:cNvPr name="TextBox 54" id="54"/>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4</a:t>
              </a:r>
            </a:p>
          </p:txBody>
        </p:sp>
      </p:grpSp>
      <p:grpSp>
        <p:nvGrpSpPr>
          <p:cNvPr name="Group 55" id="55"/>
          <p:cNvGrpSpPr/>
          <p:nvPr/>
        </p:nvGrpSpPr>
        <p:grpSpPr>
          <a:xfrm rot="0">
            <a:off x="11658600" y="7516368"/>
            <a:ext cx="3909060" cy="466344"/>
            <a:chOff x="0" y="0"/>
            <a:chExt cx="5212080" cy="621792"/>
          </a:xfrm>
        </p:grpSpPr>
        <p:sp>
          <p:nvSpPr>
            <p:cNvPr name="Freeform 56" id="56"/>
            <p:cNvSpPr/>
            <p:nvPr/>
          </p:nvSpPr>
          <p:spPr>
            <a:xfrm flipH="false" flipV="false" rot="0">
              <a:off x="0" y="0"/>
              <a:ext cx="5212080" cy="621792"/>
            </a:xfrm>
            <a:custGeom>
              <a:avLst/>
              <a:gdLst/>
              <a:ahLst/>
              <a:cxnLst/>
              <a:rect r="r" b="b" t="t" l="l"/>
              <a:pathLst>
                <a:path h="621792" w="5212080">
                  <a:moveTo>
                    <a:pt x="0" y="0"/>
                  </a:moveTo>
                  <a:lnTo>
                    <a:pt x="5212080" y="0"/>
                  </a:lnTo>
                  <a:lnTo>
                    <a:pt x="5212080" y="621792"/>
                  </a:lnTo>
                  <a:lnTo>
                    <a:pt x="0" y="621792"/>
                  </a:lnTo>
                  <a:close/>
                </a:path>
              </a:pathLst>
            </a:custGeom>
            <a:blipFill>
              <a:blip r:embed="rId10">
                <a:alphaModFix amt="0"/>
              </a:blip>
              <a:stretch>
                <a:fillRect l="0" t="-113330" r="0" b="-113330"/>
              </a:stretch>
            </a:blipFill>
          </p:spPr>
        </p:sp>
        <p:sp>
          <p:nvSpPr>
            <p:cNvPr name="TextBox 57" id="57"/>
            <p:cNvSpPr txBox="true"/>
            <p:nvPr/>
          </p:nvSpPr>
          <p:spPr>
            <a:xfrm>
              <a:off x="0" y="-19050"/>
              <a:ext cx="5212080" cy="640842"/>
            </a:xfrm>
            <a:prstGeom prst="rect">
              <a:avLst/>
            </a:prstGeom>
          </p:spPr>
          <p:txBody>
            <a:bodyPr anchor="ctr" rtlCol="false" tIns="0" lIns="0" bIns="0" rIns="0"/>
            <a:lstStyle/>
            <a:p>
              <a:pPr algn="l">
                <a:lnSpc>
                  <a:spcPts val="2340"/>
                </a:lnSpc>
              </a:pPr>
              <a:r>
                <a:rPr lang="en-US" sz="1950" b="true">
                  <a:solidFill>
                    <a:srgbClr val="0A1A23"/>
                  </a:solidFill>
                  <a:latin typeface="Poppins Bold"/>
                  <a:ea typeface="Poppins Bold"/>
                  <a:cs typeface="Poppins Bold"/>
                  <a:sym typeface="Poppins Bold"/>
                </a:rPr>
                <a:t>Power Query editor</a:t>
              </a:r>
            </a:p>
          </p:txBody>
        </p:sp>
      </p:grpSp>
      <p:sp>
        <p:nvSpPr>
          <p:cNvPr name="TextBox 58" id="58"/>
          <p:cNvSpPr txBox="true"/>
          <p:nvPr/>
        </p:nvSpPr>
        <p:spPr>
          <a:xfrm rot="0">
            <a:off x="11658600" y="7935087"/>
            <a:ext cx="3909060" cy="870585"/>
          </a:xfrm>
          <a:prstGeom prst="rect">
            <a:avLst/>
          </a:prstGeom>
        </p:spPr>
        <p:txBody>
          <a:bodyPr anchor="t" rtlCol="false" tIns="0" lIns="0" bIns="0" rIns="0">
            <a:spAutoFit/>
          </a:bodyPr>
          <a:lstStyle/>
          <a:p>
            <a:pPr algn="l">
              <a:lnSpc>
                <a:spcPts val="2376"/>
              </a:lnSpc>
            </a:pPr>
            <a:r>
              <a:rPr lang="en-US" sz="1650">
                <a:solidFill>
                  <a:srgbClr val="475569"/>
                </a:solidFill>
                <a:latin typeface="Poppins"/>
                <a:ea typeface="Poppins"/>
                <a:cs typeface="Poppins"/>
                <a:sym typeface="Poppins"/>
              </a:rPr>
              <a:t>A separate window. Where cleaning happens before anything else.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251148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Cl</a:t>
            </a:r>
            <a:r>
              <a:rPr lang="en-US" sz="5000">
                <a:solidFill>
                  <a:srgbClr val="388080"/>
                </a:solidFill>
                <a:latin typeface="Poppins"/>
                <a:ea typeface="Poppins"/>
                <a:cs typeface="Poppins"/>
                <a:sym typeface="Poppins"/>
              </a:rPr>
              <a:t>ean first. Model second. Visualise last.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66775" y="2593810"/>
            <a:ext cx="4457700" cy="2125980"/>
            <a:chOff x="0" y="0"/>
            <a:chExt cx="5943600" cy="2834640"/>
          </a:xfrm>
        </p:grpSpPr>
        <p:sp>
          <p:nvSpPr>
            <p:cNvPr name="Freeform 12" id="12"/>
            <p:cNvSpPr/>
            <p:nvPr/>
          </p:nvSpPr>
          <p:spPr>
            <a:xfrm flipH="false" flipV="false" rot="0">
              <a:off x="0" y="0"/>
              <a:ext cx="5943600" cy="2834640"/>
            </a:xfrm>
            <a:custGeom>
              <a:avLst/>
              <a:gdLst/>
              <a:ahLst/>
              <a:cxnLst/>
              <a:rect r="r" b="b" t="t" l="l"/>
              <a:pathLst>
                <a:path h="2834640" w="5943600">
                  <a:moveTo>
                    <a:pt x="0" y="182880"/>
                  </a:moveTo>
                  <a:cubicBezTo>
                    <a:pt x="0" y="81915"/>
                    <a:pt x="81915" y="0"/>
                    <a:pt x="182880" y="0"/>
                  </a:cubicBezTo>
                  <a:lnTo>
                    <a:pt x="5760720" y="0"/>
                  </a:lnTo>
                  <a:cubicBezTo>
                    <a:pt x="5861685" y="0"/>
                    <a:pt x="5943600" y="81915"/>
                    <a:pt x="5943600" y="182880"/>
                  </a:cubicBezTo>
                  <a:lnTo>
                    <a:pt x="5943600" y="2651760"/>
                  </a:lnTo>
                  <a:cubicBezTo>
                    <a:pt x="5943600" y="2752725"/>
                    <a:pt x="5861685" y="2834640"/>
                    <a:pt x="5760720" y="2834640"/>
                  </a:cubicBezTo>
                  <a:lnTo>
                    <a:pt x="182880" y="2834640"/>
                  </a:lnTo>
                  <a:cubicBezTo>
                    <a:pt x="81915" y="2834640"/>
                    <a:pt x="0" y="2752725"/>
                    <a:pt x="0" y="2651760"/>
                  </a:cubicBezTo>
                  <a:close/>
                </a:path>
              </a:pathLst>
            </a:custGeom>
            <a:solidFill>
              <a:srgbClr val="FFFFFF"/>
            </a:solidFill>
          </p:spPr>
        </p:sp>
      </p:grpSp>
      <p:grpSp>
        <p:nvGrpSpPr>
          <p:cNvPr name="Group 13" id="13"/>
          <p:cNvGrpSpPr/>
          <p:nvPr/>
        </p:nvGrpSpPr>
        <p:grpSpPr>
          <a:xfrm rot="0">
            <a:off x="866775" y="2593810"/>
            <a:ext cx="4457700" cy="123444"/>
            <a:chOff x="0" y="0"/>
            <a:chExt cx="5943600" cy="164592"/>
          </a:xfrm>
        </p:grpSpPr>
        <p:sp>
          <p:nvSpPr>
            <p:cNvPr name="Freeform 14" id="14"/>
            <p:cNvSpPr/>
            <p:nvPr/>
          </p:nvSpPr>
          <p:spPr>
            <a:xfrm flipH="false" flipV="false" rot="0">
              <a:off x="0" y="0"/>
              <a:ext cx="5943600" cy="164592"/>
            </a:xfrm>
            <a:custGeom>
              <a:avLst/>
              <a:gdLst/>
              <a:ahLst/>
              <a:cxnLst/>
              <a:rect r="r" b="b" t="t" l="l"/>
              <a:pathLst>
                <a:path h="164592" w="5943600">
                  <a:moveTo>
                    <a:pt x="0" y="0"/>
                  </a:moveTo>
                  <a:lnTo>
                    <a:pt x="5943600" y="0"/>
                  </a:lnTo>
                  <a:lnTo>
                    <a:pt x="5943600" y="164592"/>
                  </a:lnTo>
                  <a:lnTo>
                    <a:pt x="0" y="164592"/>
                  </a:lnTo>
                  <a:close/>
                </a:path>
              </a:pathLst>
            </a:custGeom>
            <a:solidFill>
              <a:srgbClr val="387F7F"/>
            </a:solidFill>
          </p:spPr>
        </p:sp>
      </p:grpSp>
      <p:grpSp>
        <p:nvGrpSpPr>
          <p:cNvPr name="Group 15" id="15"/>
          <p:cNvGrpSpPr/>
          <p:nvPr/>
        </p:nvGrpSpPr>
        <p:grpSpPr>
          <a:xfrm rot="0">
            <a:off x="1278255" y="3211030"/>
            <a:ext cx="850392" cy="850392"/>
            <a:chOff x="0" y="0"/>
            <a:chExt cx="1133856" cy="1133856"/>
          </a:xfrm>
        </p:grpSpPr>
        <p:sp>
          <p:nvSpPr>
            <p:cNvPr name="Freeform 16" id="16"/>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387F7F"/>
            </a:solidFill>
          </p:spPr>
        </p:sp>
      </p:grpSp>
      <p:grpSp>
        <p:nvGrpSpPr>
          <p:cNvPr name="Group 17" id="17"/>
          <p:cNvGrpSpPr/>
          <p:nvPr/>
        </p:nvGrpSpPr>
        <p:grpSpPr>
          <a:xfrm rot="0">
            <a:off x="1278255" y="3211030"/>
            <a:ext cx="850392" cy="850392"/>
            <a:chOff x="0" y="0"/>
            <a:chExt cx="1133856" cy="1133856"/>
          </a:xfrm>
        </p:grpSpPr>
        <p:sp>
          <p:nvSpPr>
            <p:cNvPr name="Freeform 18" id="18"/>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19" id="19"/>
            <p:cNvSpPr txBox="true"/>
            <p:nvPr/>
          </p:nvSpPr>
          <p:spPr>
            <a:xfrm>
              <a:off x="0" y="-28575"/>
              <a:ext cx="1133856" cy="1162431"/>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1</a:t>
              </a:r>
            </a:p>
          </p:txBody>
        </p:sp>
      </p:grpSp>
      <p:grpSp>
        <p:nvGrpSpPr>
          <p:cNvPr name="Group 20" id="20"/>
          <p:cNvGrpSpPr/>
          <p:nvPr/>
        </p:nvGrpSpPr>
        <p:grpSpPr>
          <a:xfrm rot="0">
            <a:off x="2375535" y="3142450"/>
            <a:ext cx="2606040" cy="548640"/>
            <a:chOff x="0" y="0"/>
            <a:chExt cx="3474720" cy="731520"/>
          </a:xfrm>
        </p:grpSpPr>
        <p:sp>
          <p:nvSpPr>
            <p:cNvPr name="Freeform 21" id="21"/>
            <p:cNvSpPr/>
            <p:nvPr/>
          </p:nvSpPr>
          <p:spPr>
            <a:xfrm flipH="false" flipV="false" rot="0">
              <a:off x="0" y="0"/>
              <a:ext cx="3474720" cy="731520"/>
            </a:xfrm>
            <a:custGeom>
              <a:avLst/>
              <a:gdLst/>
              <a:ahLst/>
              <a:cxnLst/>
              <a:rect r="r" b="b" t="t" l="l"/>
              <a:pathLst>
                <a:path h="731520" w="3474720">
                  <a:moveTo>
                    <a:pt x="0" y="0"/>
                  </a:moveTo>
                  <a:lnTo>
                    <a:pt x="3474720" y="0"/>
                  </a:lnTo>
                  <a:lnTo>
                    <a:pt x="3474720" y="731520"/>
                  </a:lnTo>
                  <a:lnTo>
                    <a:pt x="0" y="731520"/>
                  </a:lnTo>
                  <a:close/>
                </a:path>
              </a:pathLst>
            </a:custGeom>
            <a:blipFill>
              <a:blip r:embed="rId9">
                <a:alphaModFix amt="0"/>
              </a:blip>
              <a:stretch>
                <a:fillRect l="0" t="-42553" r="0" b="-42553"/>
              </a:stretch>
            </a:blipFill>
          </p:spPr>
        </p:sp>
        <p:sp>
          <p:nvSpPr>
            <p:cNvPr name="TextBox 22" id="22"/>
            <p:cNvSpPr txBox="true"/>
            <p:nvPr/>
          </p:nvSpPr>
          <p:spPr>
            <a:xfrm>
              <a:off x="0" y="-28575"/>
              <a:ext cx="3474720" cy="760095"/>
            </a:xfrm>
            <a:prstGeom prst="rect">
              <a:avLst/>
            </a:prstGeom>
          </p:spPr>
          <p:txBody>
            <a:bodyPr anchor="ctr" rtlCol="false" tIns="0" lIns="0" bIns="0" rIns="0"/>
            <a:lstStyle/>
            <a:p>
              <a:pPr algn="l">
                <a:lnSpc>
                  <a:spcPts val="3060"/>
                </a:lnSpc>
              </a:pPr>
              <a:r>
                <a:rPr lang="en-US" sz="2550" b="true">
                  <a:solidFill>
                    <a:srgbClr val="0A1A23"/>
                  </a:solidFill>
                  <a:latin typeface="Poppins Bold"/>
                  <a:ea typeface="Poppins Bold"/>
                  <a:cs typeface="Poppins Bold"/>
                  <a:sym typeface="Poppins Bold"/>
                </a:rPr>
                <a:t>Transform</a:t>
              </a:r>
            </a:p>
          </p:txBody>
        </p:sp>
      </p:grpSp>
      <p:sp>
        <p:nvSpPr>
          <p:cNvPr name="TextBox 23" id="23"/>
          <p:cNvSpPr txBox="true"/>
          <p:nvPr/>
        </p:nvSpPr>
        <p:spPr>
          <a:xfrm rot="0">
            <a:off x="2375535" y="3623272"/>
            <a:ext cx="2606040" cy="643890"/>
          </a:xfrm>
          <a:prstGeom prst="rect">
            <a:avLst/>
          </a:prstGeom>
        </p:spPr>
        <p:txBody>
          <a:bodyPr anchor="t" rtlCol="false" tIns="0" lIns="0" bIns="0" rIns="0">
            <a:spAutoFit/>
          </a:bodyPr>
          <a:lstStyle/>
          <a:p>
            <a:pPr algn="l">
              <a:lnSpc>
                <a:spcPts val="3037"/>
              </a:lnSpc>
            </a:pPr>
            <a:r>
              <a:rPr lang="en-US" sz="1875">
                <a:solidFill>
                  <a:srgbClr val="64748B"/>
                </a:solidFill>
                <a:latin typeface="Poppins"/>
                <a:ea typeface="Poppins"/>
                <a:cs typeface="Poppins"/>
                <a:sym typeface="Poppins"/>
              </a:rPr>
              <a:t>in Power Query</a:t>
            </a:r>
          </a:p>
        </p:txBody>
      </p:sp>
      <p:grpSp>
        <p:nvGrpSpPr>
          <p:cNvPr name="Group 24" id="24"/>
          <p:cNvGrpSpPr/>
          <p:nvPr/>
        </p:nvGrpSpPr>
        <p:grpSpPr>
          <a:xfrm rot="0">
            <a:off x="5406771" y="3211030"/>
            <a:ext cx="685800" cy="685800"/>
            <a:chOff x="0" y="0"/>
            <a:chExt cx="914400" cy="914400"/>
          </a:xfrm>
        </p:grpSpPr>
        <p:sp>
          <p:nvSpPr>
            <p:cNvPr name="Freeform 25" id="2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26" id="26"/>
            <p:cNvSpPr txBox="true"/>
            <p:nvPr/>
          </p:nvSpPr>
          <p:spPr>
            <a:xfrm>
              <a:off x="0" y="-28575"/>
              <a:ext cx="914400" cy="942975"/>
            </a:xfrm>
            <a:prstGeom prst="rect">
              <a:avLst/>
            </a:prstGeom>
          </p:spPr>
          <p:txBody>
            <a:bodyPr anchor="ctr" rtlCol="false" tIns="0" lIns="0" bIns="0" rIns="0"/>
            <a:lstStyle/>
            <a:p>
              <a:pPr algn="ctr">
                <a:lnSpc>
                  <a:spcPts val="4140"/>
                </a:lnSpc>
              </a:pPr>
              <a:r>
                <a:rPr lang="en-US" sz="3450" b="true">
                  <a:solidFill>
                    <a:srgbClr val="387F7F"/>
                  </a:solidFill>
                  <a:latin typeface="Poppins Bold"/>
                  <a:ea typeface="Poppins Bold"/>
                  <a:cs typeface="Poppins Bold"/>
                  <a:sym typeface="Poppins Bold"/>
                </a:rPr>
                <a:t>›</a:t>
              </a:r>
            </a:p>
          </p:txBody>
        </p:sp>
      </p:grpSp>
      <p:grpSp>
        <p:nvGrpSpPr>
          <p:cNvPr name="Group 27" id="27"/>
          <p:cNvGrpSpPr/>
          <p:nvPr/>
        </p:nvGrpSpPr>
        <p:grpSpPr>
          <a:xfrm rot="0">
            <a:off x="6147435" y="2593810"/>
            <a:ext cx="4457700" cy="2125980"/>
            <a:chOff x="0" y="0"/>
            <a:chExt cx="5943600" cy="2834640"/>
          </a:xfrm>
        </p:grpSpPr>
        <p:sp>
          <p:nvSpPr>
            <p:cNvPr name="Freeform 28" id="28"/>
            <p:cNvSpPr/>
            <p:nvPr/>
          </p:nvSpPr>
          <p:spPr>
            <a:xfrm flipH="false" flipV="false" rot="0">
              <a:off x="0" y="0"/>
              <a:ext cx="5943600" cy="2834640"/>
            </a:xfrm>
            <a:custGeom>
              <a:avLst/>
              <a:gdLst/>
              <a:ahLst/>
              <a:cxnLst/>
              <a:rect r="r" b="b" t="t" l="l"/>
              <a:pathLst>
                <a:path h="2834640" w="5943600">
                  <a:moveTo>
                    <a:pt x="0" y="182880"/>
                  </a:moveTo>
                  <a:cubicBezTo>
                    <a:pt x="0" y="81915"/>
                    <a:pt x="81915" y="0"/>
                    <a:pt x="182880" y="0"/>
                  </a:cubicBezTo>
                  <a:lnTo>
                    <a:pt x="5760720" y="0"/>
                  </a:lnTo>
                  <a:cubicBezTo>
                    <a:pt x="5861685" y="0"/>
                    <a:pt x="5943600" y="81915"/>
                    <a:pt x="5943600" y="182880"/>
                  </a:cubicBezTo>
                  <a:lnTo>
                    <a:pt x="5943600" y="2651760"/>
                  </a:lnTo>
                  <a:cubicBezTo>
                    <a:pt x="5943600" y="2752725"/>
                    <a:pt x="5861685" y="2834640"/>
                    <a:pt x="5760720" y="2834640"/>
                  </a:cubicBezTo>
                  <a:lnTo>
                    <a:pt x="182880" y="2834640"/>
                  </a:lnTo>
                  <a:cubicBezTo>
                    <a:pt x="81915" y="2834640"/>
                    <a:pt x="0" y="2752725"/>
                    <a:pt x="0" y="2651760"/>
                  </a:cubicBezTo>
                  <a:close/>
                </a:path>
              </a:pathLst>
            </a:custGeom>
            <a:solidFill>
              <a:srgbClr val="FFFFFF"/>
            </a:solidFill>
          </p:spPr>
        </p:sp>
      </p:grpSp>
      <p:grpSp>
        <p:nvGrpSpPr>
          <p:cNvPr name="Group 29" id="29"/>
          <p:cNvGrpSpPr/>
          <p:nvPr/>
        </p:nvGrpSpPr>
        <p:grpSpPr>
          <a:xfrm rot="0">
            <a:off x="6147435" y="2593810"/>
            <a:ext cx="4457700" cy="123444"/>
            <a:chOff x="0" y="0"/>
            <a:chExt cx="5943600" cy="164592"/>
          </a:xfrm>
        </p:grpSpPr>
        <p:sp>
          <p:nvSpPr>
            <p:cNvPr name="Freeform 30" id="30"/>
            <p:cNvSpPr/>
            <p:nvPr/>
          </p:nvSpPr>
          <p:spPr>
            <a:xfrm flipH="false" flipV="false" rot="0">
              <a:off x="0" y="0"/>
              <a:ext cx="5943600" cy="164592"/>
            </a:xfrm>
            <a:custGeom>
              <a:avLst/>
              <a:gdLst/>
              <a:ahLst/>
              <a:cxnLst/>
              <a:rect r="r" b="b" t="t" l="l"/>
              <a:pathLst>
                <a:path h="164592" w="5943600">
                  <a:moveTo>
                    <a:pt x="0" y="0"/>
                  </a:moveTo>
                  <a:lnTo>
                    <a:pt x="5943600" y="0"/>
                  </a:lnTo>
                  <a:lnTo>
                    <a:pt x="5943600" y="164592"/>
                  </a:lnTo>
                  <a:lnTo>
                    <a:pt x="0" y="164592"/>
                  </a:lnTo>
                  <a:close/>
                </a:path>
              </a:pathLst>
            </a:custGeom>
            <a:solidFill>
              <a:srgbClr val="387F7F"/>
            </a:solidFill>
          </p:spPr>
        </p:sp>
      </p:grpSp>
      <p:grpSp>
        <p:nvGrpSpPr>
          <p:cNvPr name="Group 31" id="31"/>
          <p:cNvGrpSpPr/>
          <p:nvPr/>
        </p:nvGrpSpPr>
        <p:grpSpPr>
          <a:xfrm rot="0">
            <a:off x="6558915" y="3211030"/>
            <a:ext cx="850392" cy="850392"/>
            <a:chOff x="0" y="0"/>
            <a:chExt cx="1133856" cy="1133856"/>
          </a:xfrm>
        </p:grpSpPr>
        <p:sp>
          <p:nvSpPr>
            <p:cNvPr name="Freeform 32" id="32"/>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387F7F"/>
            </a:solidFill>
          </p:spPr>
        </p:sp>
      </p:grpSp>
      <p:grpSp>
        <p:nvGrpSpPr>
          <p:cNvPr name="Group 33" id="33"/>
          <p:cNvGrpSpPr/>
          <p:nvPr/>
        </p:nvGrpSpPr>
        <p:grpSpPr>
          <a:xfrm rot="0">
            <a:off x="6558915" y="3211030"/>
            <a:ext cx="850392" cy="850392"/>
            <a:chOff x="0" y="0"/>
            <a:chExt cx="1133856" cy="1133856"/>
          </a:xfrm>
        </p:grpSpPr>
        <p:sp>
          <p:nvSpPr>
            <p:cNvPr name="Freeform 34" id="34"/>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35" id="35"/>
            <p:cNvSpPr txBox="true"/>
            <p:nvPr/>
          </p:nvSpPr>
          <p:spPr>
            <a:xfrm>
              <a:off x="0" y="-28575"/>
              <a:ext cx="1133856" cy="1162431"/>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2</a:t>
              </a:r>
            </a:p>
          </p:txBody>
        </p:sp>
      </p:grpSp>
      <p:grpSp>
        <p:nvGrpSpPr>
          <p:cNvPr name="Group 36" id="36"/>
          <p:cNvGrpSpPr/>
          <p:nvPr/>
        </p:nvGrpSpPr>
        <p:grpSpPr>
          <a:xfrm rot="0">
            <a:off x="7656195" y="3142450"/>
            <a:ext cx="2606040" cy="548640"/>
            <a:chOff x="0" y="0"/>
            <a:chExt cx="3474720" cy="731520"/>
          </a:xfrm>
        </p:grpSpPr>
        <p:sp>
          <p:nvSpPr>
            <p:cNvPr name="Freeform 37" id="37"/>
            <p:cNvSpPr/>
            <p:nvPr/>
          </p:nvSpPr>
          <p:spPr>
            <a:xfrm flipH="false" flipV="false" rot="0">
              <a:off x="0" y="0"/>
              <a:ext cx="3474720" cy="731520"/>
            </a:xfrm>
            <a:custGeom>
              <a:avLst/>
              <a:gdLst/>
              <a:ahLst/>
              <a:cxnLst/>
              <a:rect r="r" b="b" t="t" l="l"/>
              <a:pathLst>
                <a:path h="731520" w="3474720">
                  <a:moveTo>
                    <a:pt x="0" y="0"/>
                  </a:moveTo>
                  <a:lnTo>
                    <a:pt x="3474720" y="0"/>
                  </a:lnTo>
                  <a:lnTo>
                    <a:pt x="3474720" y="731520"/>
                  </a:lnTo>
                  <a:lnTo>
                    <a:pt x="0" y="731520"/>
                  </a:lnTo>
                  <a:close/>
                </a:path>
              </a:pathLst>
            </a:custGeom>
            <a:blipFill>
              <a:blip r:embed="rId9">
                <a:alphaModFix amt="0"/>
              </a:blip>
              <a:stretch>
                <a:fillRect l="0" t="-42553" r="0" b="-42553"/>
              </a:stretch>
            </a:blipFill>
          </p:spPr>
        </p:sp>
        <p:sp>
          <p:nvSpPr>
            <p:cNvPr name="TextBox 38" id="38"/>
            <p:cNvSpPr txBox="true"/>
            <p:nvPr/>
          </p:nvSpPr>
          <p:spPr>
            <a:xfrm>
              <a:off x="0" y="-28575"/>
              <a:ext cx="3474720" cy="760095"/>
            </a:xfrm>
            <a:prstGeom prst="rect">
              <a:avLst/>
            </a:prstGeom>
          </p:spPr>
          <p:txBody>
            <a:bodyPr anchor="ctr" rtlCol="false" tIns="0" lIns="0" bIns="0" rIns="0"/>
            <a:lstStyle/>
            <a:p>
              <a:pPr algn="l">
                <a:lnSpc>
                  <a:spcPts val="3060"/>
                </a:lnSpc>
              </a:pPr>
              <a:r>
                <a:rPr lang="en-US" sz="2550" b="true">
                  <a:solidFill>
                    <a:srgbClr val="0A1A23"/>
                  </a:solidFill>
                  <a:latin typeface="Poppins Bold"/>
                  <a:ea typeface="Poppins Bold"/>
                  <a:cs typeface="Poppins Bold"/>
                  <a:sym typeface="Poppins Bold"/>
                </a:rPr>
                <a:t>Relate</a:t>
              </a:r>
            </a:p>
          </p:txBody>
        </p:sp>
      </p:grpSp>
      <p:sp>
        <p:nvSpPr>
          <p:cNvPr name="TextBox 39" id="39"/>
          <p:cNvSpPr txBox="true"/>
          <p:nvPr/>
        </p:nvSpPr>
        <p:spPr>
          <a:xfrm rot="0">
            <a:off x="7656195" y="3623272"/>
            <a:ext cx="2606040" cy="643890"/>
          </a:xfrm>
          <a:prstGeom prst="rect">
            <a:avLst/>
          </a:prstGeom>
        </p:spPr>
        <p:txBody>
          <a:bodyPr anchor="t" rtlCol="false" tIns="0" lIns="0" bIns="0" rIns="0">
            <a:spAutoFit/>
          </a:bodyPr>
          <a:lstStyle/>
          <a:p>
            <a:pPr algn="l">
              <a:lnSpc>
                <a:spcPts val="3037"/>
              </a:lnSpc>
            </a:pPr>
            <a:r>
              <a:rPr lang="en-US" sz="1875">
                <a:solidFill>
                  <a:srgbClr val="64748B"/>
                </a:solidFill>
                <a:latin typeface="Poppins"/>
                <a:ea typeface="Poppins"/>
                <a:cs typeface="Poppins"/>
                <a:sym typeface="Poppins"/>
              </a:rPr>
              <a:t>in Model view</a:t>
            </a:r>
          </a:p>
        </p:txBody>
      </p:sp>
      <p:grpSp>
        <p:nvGrpSpPr>
          <p:cNvPr name="Group 40" id="40"/>
          <p:cNvGrpSpPr/>
          <p:nvPr/>
        </p:nvGrpSpPr>
        <p:grpSpPr>
          <a:xfrm rot="0">
            <a:off x="10687431" y="3211030"/>
            <a:ext cx="685800" cy="685800"/>
            <a:chOff x="0" y="0"/>
            <a:chExt cx="914400" cy="914400"/>
          </a:xfrm>
        </p:grpSpPr>
        <p:sp>
          <p:nvSpPr>
            <p:cNvPr name="Freeform 41" id="4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42" id="42"/>
            <p:cNvSpPr txBox="true"/>
            <p:nvPr/>
          </p:nvSpPr>
          <p:spPr>
            <a:xfrm>
              <a:off x="0" y="-28575"/>
              <a:ext cx="914400" cy="942975"/>
            </a:xfrm>
            <a:prstGeom prst="rect">
              <a:avLst/>
            </a:prstGeom>
          </p:spPr>
          <p:txBody>
            <a:bodyPr anchor="ctr" rtlCol="false" tIns="0" lIns="0" bIns="0" rIns="0"/>
            <a:lstStyle/>
            <a:p>
              <a:pPr algn="ctr">
                <a:lnSpc>
                  <a:spcPts val="4140"/>
                </a:lnSpc>
              </a:pPr>
              <a:r>
                <a:rPr lang="en-US" sz="3450" b="true">
                  <a:solidFill>
                    <a:srgbClr val="387F7F"/>
                  </a:solidFill>
                  <a:latin typeface="Poppins Bold"/>
                  <a:ea typeface="Poppins Bold"/>
                  <a:cs typeface="Poppins Bold"/>
                  <a:sym typeface="Poppins Bold"/>
                </a:rPr>
                <a:t>›</a:t>
              </a:r>
            </a:p>
          </p:txBody>
        </p:sp>
      </p:grpSp>
      <p:grpSp>
        <p:nvGrpSpPr>
          <p:cNvPr name="Group 43" id="43"/>
          <p:cNvGrpSpPr/>
          <p:nvPr/>
        </p:nvGrpSpPr>
        <p:grpSpPr>
          <a:xfrm rot="0">
            <a:off x="11428095" y="2593810"/>
            <a:ext cx="4457700" cy="2125980"/>
            <a:chOff x="0" y="0"/>
            <a:chExt cx="5943600" cy="2834640"/>
          </a:xfrm>
        </p:grpSpPr>
        <p:sp>
          <p:nvSpPr>
            <p:cNvPr name="Freeform 44" id="44"/>
            <p:cNvSpPr/>
            <p:nvPr/>
          </p:nvSpPr>
          <p:spPr>
            <a:xfrm flipH="false" flipV="false" rot="0">
              <a:off x="0" y="0"/>
              <a:ext cx="5943600" cy="2834640"/>
            </a:xfrm>
            <a:custGeom>
              <a:avLst/>
              <a:gdLst/>
              <a:ahLst/>
              <a:cxnLst/>
              <a:rect r="r" b="b" t="t" l="l"/>
              <a:pathLst>
                <a:path h="2834640" w="5943600">
                  <a:moveTo>
                    <a:pt x="0" y="182880"/>
                  </a:moveTo>
                  <a:cubicBezTo>
                    <a:pt x="0" y="81915"/>
                    <a:pt x="81915" y="0"/>
                    <a:pt x="182880" y="0"/>
                  </a:cubicBezTo>
                  <a:lnTo>
                    <a:pt x="5760720" y="0"/>
                  </a:lnTo>
                  <a:cubicBezTo>
                    <a:pt x="5861685" y="0"/>
                    <a:pt x="5943600" y="81915"/>
                    <a:pt x="5943600" y="182880"/>
                  </a:cubicBezTo>
                  <a:lnTo>
                    <a:pt x="5943600" y="2651760"/>
                  </a:lnTo>
                  <a:cubicBezTo>
                    <a:pt x="5943600" y="2752725"/>
                    <a:pt x="5861685" y="2834640"/>
                    <a:pt x="5760720" y="2834640"/>
                  </a:cubicBezTo>
                  <a:lnTo>
                    <a:pt x="182880" y="2834640"/>
                  </a:lnTo>
                  <a:cubicBezTo>
                    <a:pt x="81915" y="2834640"/>
                    <a:pt x="0" y="2752725"/>
                    <a:pt x="0" y="2651760"/>
                  </a:cubicBezTo>
                  <a:close/>
                </a:path>
              </a:pathLst>
            </a:custGeom>
            <a:solidFill>
              <a:srgbClr val="FFFFFF"/>
            </a:solidFill>
          </p:spPr>
        </p:sp>
      </p:grpSp>
      <p:grpSp>
        <p:nvGrpSpPr>
          <p:cNvPr name="Group 45" id="45"/>
          <p:cNvGrpSpPr/>
          <p:nvPr/>
        </p:nvGrpSpPr>
        <p:grpSpPr>
          <a:xfrm rot="0">
            <a:off x="11428095" y="2593810"/>
            <a:ext cx="4457700" cy="123444"/>
            <a:chOff x="0" y="0"/>
            <a:chExt cx="5943600" cy="164592"/>
          </a:xfrm>
        </p:grpSpPr>
        <p:sp>
          <p:nvSpPr>
            <p:cNvPr name="Freeform 46" id="46"/>
            <p:cNvSpPr/>
            <p:nvPr/>
          </p:nvSpPr>
          <p:spPr>
            <a:xfrm flipH="false" flipV="false" rot="0">
              <a:off x="0" y="0"/>
              <a:ext cx="5943600" cy="164592"/>
            </a:xfrm>
            <a:custGeom>
              <a:avLst/>
              <a:gdLst/>
              <a:ahLst/>
              <a:cxnLst/>
              <a:rect r="r" b="b" t="t" l="l"/>
              <a:pathLst>
                <a:path h="164592" w="5943600">
                  <a:moveTo>
                    <a:pt x="0" y="0"/>
                  </a:moveTo>
                  <a:lnTo>
                    <a:pt x="5943600" y="0"/>
                  </a:lnTo>
                  <a:lnTo>
                    <a:pt x="5943600" y="164592"/>
                  </a:lnTo>
                  <a:lnTo>
                    <a:pt x="0" y="164592"/>
                  </a:lnTo>
                  <a:close/>
                </a:path>
              </a:pathLst>
            </a:custGeom>
            <a:solidFill>
              <a:srgbClr val="387F7F"/>
            </a:solidFill>
          </p:spPr>
        </p:sp>
      </p:grpSp>
      <p:grpSp>
        <p:nvGrpSpPr>
          <p:cNvPr name="Group 47" id="47"/>
          <p:cNvGrpSpPr/>
          <p:nvPr/>
        </p:nvGrpSpPr>
        <p:grpSpPr>
          <a:xfrm rot="0">
            <a:off x="11839575" y="3211030"/>
            <a:ext cx="850392" cy="850392"/>
            <a:chOff x="0" y="0"/>
            <a:chExt cx="1133856" cy="1133856"/>
          </a:xfrm>
        </p:grpSpPr>
        <p:sp>
          <p:nvSpPr>
            <p:cNvPr name="Freeform 48" id="48"/>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387F7F"/>
            </a:solidFill>
          </p:spPr>
        </p:sp>
      </p:grpSp>
      <p:grpSp>
        <p:nvGrpSpPr>
          <p:cNvPr name="Group 49" id="49"/>
          <p:cNvGrpSpPr/>
          <p:nvPr/>
        </p:nvGrpSpPr>
        <p:grpSpPr>
          <a:xfrm rot="0">
            <a:off x="11839575" y="3211030"/>
            <a:ext cx="850392" cy="850392"/>
            <a:chOff x="0" y="0"/>
            <a:chExt cx="1133856" cy="1133856"/>
          </a:xfrm>
        </p:grpSpPr>
        <p:sp>
          <p:nvSpPr>
            <p:cNvPr name="Freeform 50" id="50"/>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51" id="51"/>
            <p:cNvSpPr txBox="true"/>
            <p:nvPr/>
          </p:nvSpPr>
          <p:spPr>
            <a:xfrm>
              <a:off x="0" y="-28575"/>
              <a:ext cx="1133856" cy="1162431"/>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3</a:t>
              </a:r>
            </a:p>
          </p:txBody>
        </p:sp>
      </p:grpSp>
      <p:grpSp>
        <p:nvGrpSpPr>
          <p:cNvPr name="Group 52" id="52"/>
          <p:cNvGrpSpPr/>
          <p:nvPr/>
        </p:nvGrpSpPr>
        <p:grpSpPr>
          <a:xfrm rot="0">
            <a:off x="12936855" y="3142450"/>
            <a:ext cx="2606040" cy="548640"/>
            <a:chOff x="0" y="0"/>
            <a:chExt cx="3474720" cy="731520"/>
          </a:xfrm>
        </p:grpSpPr>
        <p:sp>
          <p:nvSpPr>
            <p:cNvPr name="Freeform 53" id="53"/>
            <p:cNvSpPr/>
            <p:nvPr/>
          </p:nvSpPr>
          <p:spPr>
            <a:xfrm flipH="false" flipV="false" rot="0">
              <a:off x="0" y="0"/>
              <a:ext cx="3474720" cy="731520"/>
            </a:xfrm>
            <a:custGeom>
              <a:avLst/>
              <a:gdLst/>
              <a:ahLst/>
              <a:cxnLst/>
              <a:rect r="r" b="b" t="t" l="l"/>
              <a:pathLst>
                <a:path h="731520" w="3474720">
                  <a:moveTo>
                    <a:pt x="0" y="0"/>
                  </a:moveTo>
                  <a:lnTo>
                    <a:pt x="3474720" y="0"/>
                  </a:lnTo>
                  <a:lnTo>
                    <a:pt x="3474720" y="731520"/>
                  </a:lnTo>
                  <a:lnTo>
                    <a:pt x="0" y="731520"/>
                  </a:lnTo>
                  <a:close/>
                </a:path>
              </a:pathLst>
            </a:custGeom>
            <a:blipFill>
              <a:blip r:embed="rId9">
                <a:alphaModFix amt="0"/>
              </a:blip>
              <a:stretch>
                <a:fillRect l="0" t="-42553" r="0" b="-42553"/>
              </a:stretch>
            </a:blipFill>
          </p:spPr>
        </p:sp>
        <p:sp>
          <p:nvSpPr>
            <p:cNvPr name="TextBox 54" id="54"/>
            <p:cNvSpPr txBox="true"/>
            <p:nvPr/>
          </p:nvSpPr>
          <p:spPr>
            <a:xfrm>
              <a:off x="0" y="-28575"/>
              <a:ext cx="3474720" cy="760095"/>
            </a:xfrm>
            <a:prstGeom prst="rect">
              <a:avLst/>
            </a:prstGeom>
          </p:spPr>
          <p:txBody>
            <a:bodyPr anchor="ctr" rtlCol="false" tIns="0" lIns="0" bIns="0" rIns="0"/>
            <a:lstStyle/>
            <a:p>
              <a:pPr algn="l">
                <a:lnSpc>
                  <a:spcPts val="3060"/>
                </a:lnSpc>
              </a:pPr>
              <a:r>
                <a:rPr lang="en-US" sz="2550" b="true">
                  <a:solidFill>
                    <a:srgbClr val="0A1A23"/>
                  </a:solidFill>
                  <a:latin typeface="Poppins Bold"/>
                  <a:ea typeface="Poppins Bold"/>
                  <a:cs typeface="Poppins Bold"/>
                  <a:sym typeface="Poppins Bold"/>
                </a:rPr>
                <a:t>Visualise</a:t>
              </a:r>
            </a:p>
          </p:txBody>
        </p:sp>
      </p:grpSp>
      <p:sp>
        <p:nvSpPr>
          <p:cNvPr name="TextBox 55" id="55"/>
          <p:cNvSpPr txBox="true"/>
          <p:nvPr/>
        </p:nvSpPr>
        <p:spPr>
          <a:xfrm rot="0">
            <a:off x="12936855" y="3623272"/>
            <a:ext cx="2606040" cy="643890"/>
          </a:xfrm>
          <a:prstGeom prst="rect">
            <a:avLst/>
          </a:prstGeom>
        </p:spPr>
        <p:txBody>
          <a:bodyPr anchor="t" rtlCol="false" tIns="0" lIns="0" bIns="0" rIns="0">
            <a:spAutoFit/>
          </a:bodyPr>
          <a:lstStyle/>
          <a:p>
            <a:pPr algn="l">
              <a:lnSpc>
                <a:spcPts val="3037"/>
              </a:lnSpc>
            </a:pPr>
            <a:r>
              <a:rPr lang="en-US" sz="1875">
                <a:solidFill>
                  <a:srgbClr val="64748B"/>
                </a:solidFill>
                <a:latin typeface="Poppins"/>
                <a:ea typeface="Poppins"/>
                <a:cs typeface="Poppins"/>
                <a:sym typeface="Poppins"/>
              </a:rPr>
              <a:t>in Report view</a:t>
            </a:r>
          </a:p>
        </p:txBody>
      </p:sp>
      <p:grpSp>
        <p:nvGrpSpPr>
          <p:cNvPr name="Group 56" id="56"/>
          <p:cNvGrpSpPr/>
          <p:nvPr/>
        </p:nvGrpSpPr>
        <p:grpSpPr>
          <a:xfrm rot="0">
            <a:off x="866775" y="5199850"/>
            <a:ext cx="14744700" cy="2057400"/>
            <a:chOff x="0" y="0"/>
            <a:chExt cx="19659600" cy="2743200"/>
          </a:xfrm>
        </p:grpSpPr>
        <p:sp>
          <p:nvSpPr>
            <p:cNvPr name="Freeform 57" id="57"/>
            <p:cNvSpPr/>
            <p:nvPr/>
          </p:nvSpPr>
          <p:spPr>
            <a:xfrm flipH="false" flipV="false" rot="0">
              <a:off x="0" y="0"/>
              <a:ext cx="19659600" cy="2743200"/>
            </a:xfrm>
            <a:custGeom>
              <a:avLst/>
              <a:gdLst/>
              <a:ahLst/>
              <a:cxnLst/>
              <a:rect r="r" b="b" t="t" l="l"/>
              <a:pathLst>
                <a:path h="2743200" w="19659600">
                  <a:moveTo>
                    <a:pt x="0" y="164592"/>
                  </a:moveTo>
                  <a:cubicBezTo>
                    <a:pt x="0" y="73660"/>
                    <a:pt x="73660" y="0"/>
                    <a:pt x="164592" y="0"/>
                  </a:cubicBezTo>
                  <a:lnTo>
                    <a:pt x="19495008" y="0"/>
                  </a:lnTo>
                  <a:cubicBezTo>
                    <a:pt x="19585939" y="0"/>
                    <a:pt x="19659600" y="73660"/>
                    <a:pt x="19659600" y="164592"/>
                  </a:cubicBezTo>
                  <a:lnTo>
                    <a:pt x="19659600" y="2578608"/>
                  </a:lnTo>
                  <a:cubicBezTo>
                    <a:pt x="19659600" y="2669540"/>
                    <a:pt x="19585939" y="2743200"/>
                    <a:pt x="19495008" y="2743200"/>
                  </a:cubicBezTo>
                  <a:lnTo>
                    <a:pt x="164592" y="2743200"/>
                  </a:lnTo>
                  <a:cubicBezTo>
                    <a:pt x="73660" y="2743200"/>
                    <a:pt x="0" y="2669540"/>
                    <a:pt x="0" y="2578608"/>
                  </a:cubicBezTo>
                  <a:close/>
                </a:path>
              </a:pathLst>
            </a:custGeom>
            <a:solidFill>
              <a:srgbClr val="FBEDEC"/>
            </a:solidFill>
          </p:spPr>
        </p:sp>
      </p:grpSp>
      <p:grpSp>
        <p:nvGrpSpPr>
          <p:cNvPr name="Group 58" id="58"/>
          <p:cNvGrpSpPr/>
          <p:nvPr/>
        </p:nvGrpSpPr>
        <p:grpSpPr>
          <a:xfrm rot="0">
            <a:off x="866775" y="5199850"/>
            <a:ext cx="123444" cy="2057400"/>
            <a:chOff x="0" y="0"/>
            <a:chExt cx="164592" cy="2743200"/>
          </a:xfrm>
        </p:grpSpPr>
        <p:sp>
          <p:nvSpPr>
            <p:cNvPr name="Freeform 59" id="59"/>
            <p:cNvSpPr/>
            <p:nvPr/>
          </p:nvSpPr>
          <p:spPr>
            <a:xfrm flipH="false" flipV="false" rot="0">
              <a:off x="0" y="0"/>
              <a:ext cx="164592" cy="2743200"/>
            </a:xfrm>
            <a:custGeom>
              <a:avLst/>
              <a:gdLst/>
              <a:ahLst/>
              <a:cxnLst/>
              <a:rect r="r" b="b" t="t" l="l"/>
              <a:pathLst>
                <a:path h="2743200" w="164592">
                  <a:moveTo>
                    <a:pt x="0" y="0"/>
                  </a:moveTo>
                  <a:lnTo>
                    <a:pt x="164592" y="0"/>
                  </a:lnTo>
                  <a:lnTo>
                    <a:pt x="164592" y="2743200"/>
                  </a:lnTo>
                  <a:lnTo>
                    <a:pt x="0" y="2743200"/>
                  </a:lnTo>
                  <a:close/>
                </a:path>
              </a:pathLst>
            </a:custGeom>
            <a:solidFill>
              <a:srgbClr val="A8322D"/>
            </a:solidFill>
          </p:spPr>
        </p:sp>
      </p:grpSp>
      <p:grpSp>
        <p:nvGrpSpPr>
          <p:cNvPr name="Group 60" id="60"/>
          <p:cNvGrpSpPr/>
          <p:nvPr/>
        </p:nvGrpSpPr>
        <p:grpSpPr>
          <a:xfrm rot="0">
            <a:off x="1278255" y="5817070"/>
            <a:ext cx="754380" cy="754380"/>
            <a:chOff x="0" y="0"/>
            <a:chExt cx="1005840" cy="1005840"/>
          </a:xfrm>
        </p:grpSpPr>
        <p:sp>
          <p:nvSpPr>
            <p:cNvPr name="Freeform 61" id="6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A8322D"/>
            </a:solidFill>
          </p:spPr>
        </p:sp>
      </p:grpSp>
      <p:grpSp>
        <p:nvGrpSpPr>
          <p:cNvPr name="Group 62" id="62"/>
          <p:cNvGrpSpPr/>
          <p:nvPr/>
        </p:nvGrpSpPr>
        <p:grpSpPr>
          <a:xfrm rot="0">
            <a:off x="1278255" y="5817070"/>
            <a:ext cx="754380" cy="754380"/>
            <a:chOff x="0" y="0"/>
            <a:chExt cx="1005840" cy="1005840"/>
          </a:xfrm>
        </p:grpSpPr>
        <p:sp>
          <p:nvSpPr>
            <p:cNvPr name="Freeform 63" id="63"/>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9">
                <a:alphaModFix amt="0"/>
              </a:blip>
              <a:stretch>
                <a:fillRect l="-78303" t="0" r="-78303" b="0"/>
              </a:stretch>
            </a:blipFill>
          </p:spPr>
        </p:sp>
        <p:sp>
          <p:nvSpPr>
            <p:cNvPr name="TextBox 64" id="64"/>
            <p:cNvSpPr txBox="true"/>
            <p:nvPr/>
          </p:nvSpPr>
          <p:spPr>
            <a:xfrm>
              <a:off x="0" y="-28575"/>
              <a:ext cx="1005840" cy="1034415"/>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a:t>
              </a:r>
            </a:p>
          </p:txBody>
        </p:sp>
      </p:grpSp>
      <p:sp>
        <p:nvSpPr>
          <p:cNvPr name="TextBox 65" id="65"/>
          <p:cNvSpPr txBox="true"/>
          <p:nvPr/>
        </p:nvSpPr>
        <p:spPr>
          <a:xfrm rot="0">
            <a:off x="2375535" y="5388445"/>
            <a:ext cx="12755880" cy="1594485"/>
          </a:xfrm>
          <a:prstGeom prst="rect">
            <a:avLst/>
          </a:prstGeom>
        </p:spPr>
        <p:txBody>
          <a:bodyPr anchor="t" rtlCol="false" tIns="0" lIns="0" bIns="0" rIns="0">
            <a:spAutoFit/>
          </a:bodyPr>
          <a:lstStyle/>
          <a:p>
            <a:pPr algn="l">
              <a:lnSpc>
                <a:spcPts val="3276"/>
              </a:lnSpc>
            </a:pPr>
            <a:r>
              <a:rPr lang="en-US" sz="2100">
                <a:solidFill>
                  <a:srgbClr val="7A2C28"/>
                </a:solidFill>
                <a:latin typeface="Poppins"/>
                <a:ea typeface="Poppins"/>
                <a:cs typeface="Poppins"/>
                <a:sym typeface="Poppins"/>
              </a:rPr>
              <a:t>Reversing this order is the most expensive mistake in BI. Every visual you build on a badly shaped table has to be rebuilt when you fix the shape. Trainees who skip Power Query lose an hour in the lab and blame the software.</a:t>
            </a:r>
          </a:p>
        </p:txBody>
      </p:sp>
      <p:grpSp>
        <p:nvGrpSpPr>
          <p:cNvPr name="Group 66" id="66"/>
          <p:cNvGrpSpPr/>
          <p:nvPr/>
        </p:nvGrpSpPr>
        <p:grpSpPr>
          <a:xfrm rot="0">
            <a:off x="866775" y="7600150"/>
            <a:ext cx="14744700" cy="1371600"/>
            <a:chOff x="0" y="0"/>
            <a:chExt cx="19659600" cy="1828800"/>
          </a:xfrm>
        </p:grpSpPr>
        <p:sp>
          <p:nvSpPr>
            <p:cNvPr name="Freeform 67" id="67"/>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EEF4F4"/>
            </a:solidFill>
          </p:spPr>
        </p:sp>
      </p:grpSp>
      <p:grpSp>
        <p:nvGrpSpPr>
          <p:cNvPr name="Group 68" id="68"/>
          <p:cNvGrpSpPr/>
          <p:nvPr/>
        </p:nvGrpSpPr>
        <p:grpSpPr>
          <a:xfrm rot="0">
            <a:off x="866775" y="7600150"/>
            <a:ext cx="102870" cy="1371600"/>
            <a:chOff x="0" y="0"/>
            <a:chExt cx="137160" cy="1828800"/>
          </a:xfrm>
        </p:grpSpPr>
        <p:sp>
          <p:nvSpPr>
            <p:cNvPr name="Freeform 69" id="69"/>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387F7F"/>
            </a:solidFill>
          </p:spPr>
        </p:sp>
      </p:grpSp>
      <p:grpSp>
        <p:nvGrpSpPr>
          <p:cNvPr name="Group 70" id="70"/>
          <p:cNvGrpSpPr/>
          <p:nvPr/>
        </p:nvGrpSpPr>
        <p:grpSpPr>
          <a:xfrm rot="0">
            <a:off x="1415415" y="7600150"/>
            <a:ext cx="13853160" cy="1371600"/>
            <a:chOff x="0" y="0"/>
            <a:chExt cx="18470880" cy="1828800"/>
          </a:xfrm>
        </p:grpSpPr>
        <p:sp>
          <p:nvSpPr>
            <p:cNvPr name="Freeform 71" id="71"/>
            <p:cNvSpPr/>
            <p:nvPr/>
          </p:nvSpPr>
          <p:spPr>
            <a:xfrm flipH="false" flipV="false" rot="0">
              <a:off x="0" y="0"/>
              <a:ext cx="18470880" cy="1828800"/>
            </a:xfrm>
            <a:custGeom>
              <a:avLst/>
              <a:gdLst/>
              <a:ahLst/>
              <a:cxnLst/>
              <a:rect r="r" b="b" t="t" l="l"/>
              <a:pathLst>
                <a:path h="1828800" w="18470880">
                  <a:moveTo>
                    <a:pt x="0" y="0"/>
                  </a:moveTo>
                  <a:lnTo>
                    <a:pt x="18470880" y="0"/>
                  </a:lnTo>
                  <a:lnTo>
                    <a:pt x="18470880" y="1828800"/>
                  </a:lnTo>
                  <a:lnTo>
                    <a:pt x="0" y="1828800"/>
                  </a:lnTo>
                  <a:close/>
                </a:path>
              </a:pathLst>
            </a:custGeom>
            <a:blipFill>
              <a:blip r:embed="rId9">
                <a:alphaModFix amt="0"/>
              </a:blip>
              <a:stretch>
                <a:fillRect l="0" t="-146798" r="0" b="-146798"/>
              </a:stretch>
            </a:blipFill>
          </p:spPr>
        </p:sp>
        <p:sp>
          <p:nvSpPr>
            <p:cNvPr name="TextBox 72" id="72"/>
            <p:cNvSpPr txBox="true"/>
            <p:nvPr/>
          </p:nvSpPr>
          <p:spPr>
            <a:xfrm>
              <a:off x="0" y="-114300"/>
              <a:ext cx="18470880" cy="1943100"/>
            </a:xfrm>
            <a:prstGeom prst="rect">
              <a:avLst/>
            </a:prstGeom>
          </p:spPr>
          <p:txBody>
            <a:bodyPr anchor="ctr" rtlCol="false" tIns="0" lIns="0" bIns="0" rIns="0"/>
            <a:lstStyle/>
            <a:p>
              <a:pPr algn="l">
                <a:lnSpc>
                  <a:spcPts val="3888"/>
                </a:lnSpc>
              </a:pPr>
              <a:r>
                <a:rPr lang="en-US" sz="2400" b="true">
                  <a:solidFill>
                    <a:srgbClr val="387F7F"/>
                  </a:solidFill>
                  <a:latin typeface="Poppins Bold"/>
                  <a:ea typeface="Poppins Bold"/>
                  <a:cs typeface="Poppins Bold"/>
                  <a:sym typeface="Poppins Bold"/>
                </a:rPr>
                <a:t>The tool rewards doing this in the wrong order. The discipline has to come from you.</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52" cy="10287000"/>
            <a:chOff x="0" y="0"/>
            <a:chExt cx="24383936"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0494A"/>
            </a:solidFill>
          </p:spPr>
        </p:sp>
      </p:grpSp>
      <p:grpSp>
        <p:nvGrpSpPr>
          <p:cNvPr name="Group 4" id="4"/>
          <p:cNvGrpSpPr/>
          <p:nvPr/>
        </p:nvGrpSpPr>
        <p:grpSpPr>
          <a:xfrm rot="0">
            <a:off x="1124712" y="8551926"/>
            <a:ext cx="219456" cy="219456"/>
            <a:chOff x="0" y="0"/>
            <a:chExt cx="292608" cy="292608"/>
          </a:xfrm>
        </p:grpSpPr>
        <p:sp>
          <p:nvSpPr>
            <p:cNvPr name="Freeform 5" id="5"/>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6" id="6"/>
          <p:cNvGrpSpPr/>
          <p:nvPr/>
        </p:nvGrpSpPr>
        <p:grpSpPr>
          <a:xfrm rot="0">
            <a:off x="17533572" y="9710928"/>
            <a:ext cx="548640" cy="411480"/>
            <a:chOff x="0" y="0"/>
            <a:chExt cx="731520" cy="548640"/>
          </a:xfrm>
        </p:grpSpPr>
        <p:sp>
          <p:nvSpPr>
            <p:cNvPr name="Freeform 7" id="7"/>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8" id="8"/>
            <p:cNvSpPr txBox="true"/>
            <p:nvPr/>
          </p:nvSpPr>
          <p:spPr>
            <a:xfrm>
              <a:off x="0" y="-9525"/>
              <a:ext cx="731520" cy="558165"/>
            </a:xfrm>
            <a:prstGeom prst="rect">
              <a:avLst/>
            </a:prstGeom>
          </p:spPr>
          <p:txBody>
            <a:bodyPr anchor="ctr" rtlCol="false" tIns="0" lIns="0" bIns="0" rIns="0"/>
            <a:lstStyle/>
            <a:p>
              <a:pPr algn="r">
                <a:lnSpc>
                  <a:spcPts val="1980"/>
                </a:lnSpc>
              </a:pPr>
              <a:r>
                <a:rPr lang="en-US" sz="1650">
                  <a:solidFill>
                    <a:srgbClr val="7FA3A3"/>
                  </a:solidFill>
                  <a:latin typeface="Poppins"/>
                  <a:ea typeface="Poppins"/>
                  <a:cs typeface="Poppins"/>
                  <a:sym typeface="Poppins"/>
                </a:rPr>
                <a:t>5</a:t>
              </a:r>
            </a:p>
          </p:txBody>
        </p:sp>
      </p:grpSp>
      <p:sp>
        <p:nvSpPr>
          <p:cNvPr name="Freeform 9" id="9"/>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850392" y="480060"/>
            <a:ext cx="4389120" cy="2880360"/>
            <a:chOff x="0" y="0"/>
            <a:chExt cx="5852160" cy="3840480"/>
          </a:xfrm>
        </p:grpSpPr>
        <p:sp>
          <p:nvSpPr>
            <p:cNvPr name="Freeform 11" id="11"/>
            <p:cNvSpPr/>
            <p:nvPr/>
          </p:nvSpPr>
          <p:spPr>
            <a:xfrm flipH="false" flipV="false" rot="0">
              <a:off x="0" y="0"/>
              <a:ext cx="5852160" cy="3840480"/>
            </a:xfrm>
            <a:custGeom>
              <a:avLst/>
              <a:gdLst/>
              <a:ahLst/>
              <a:cxnLst/>
              <a:rect r="r" b="b" t="t" l="l"/>
              <a:pathLst>
                <a:path h="3840480" w="5852160">
                  <a:moveTo>
                    <a:pt x="0" y="0"/>
                  </a:moveTo>
                  <a:lnTo>
                    <a:pt x="5852160" y="0"/>
                  </a:lnTo>
                  <a:lnTo>
                    <a:pt x="5852160" y="3840480"/>
                  </a:lnTo>
                  <a:lnTo>
                    <a:pt x="0" y="3840480"/>
                  </a:lnTo>
                  <a:close/>
                </a:path>
              </a:pathLst>
            </a:custGeom>
            <a:blipFill>
              <a:blip r:embed="rId3">
                <a:alphaModFix amt="0"/>
              </a:blip>
              <a:stretch>
                <a:fillRect l="-34199" t="0" r="-34199" b="0"/>
              </a:stretch>
            </a:blipFill>
          </p:spPr>
        </p:sp>
        <p:sp>
          <p:nvSpPr>
            <p:cNvPr name="TextBox 12" id="12"/>
            <p:cNvSpPr txBox="true"/>
            <p:nvPr/>
          </p:nvSpPr>
          <p:spPr>
            <a:xfrm>
              <a:off x="0" y="-190500"/>
              <a:ext cx="5852160" cy="4030980"/>
            </a:xfrm>
            <a:prstGeom prst="rect">
              <a:avLst/>
            </a:prstGeom>
          </p:spPr>
          <p:txBody>
            <a:bodyPr anchor="ctr" rtlCol="false" tIns="0" lIns="0" bIns="0" rIns="0"/>
            <a:lstStyle/>
            <a:p>
              <a:pPr algn="l">
                <a:lnSpc>
                  <a:spcPts val="23400"/>
                </a:lnSpc>
              </a:pPr>
              <a:r>
                <a:rPr lang="en-US" sz="19500" b="true">
                  <a:solidFill>
                    <a:srgbClr val="2F6364"/>
                  </a:solidFill>
                  <a:latin typeface="Poppins Bold"/>
                  <a:ea typeface="Poppins Bold"/>
                  <a:cs typeface="Poppins Bold"/>
                  <a:sym typeface="Poppins Bold"/>
                </a:rPr>
                <a:t>02</a:t>
              </a:r>
            </a:p>
          </p:txBody>
        </p:sp>
      </p:grpSp>
      <p:grpSp>
        <p:nvGrpSpPr>
          <p:cNvPr name="Group 13" id="13"/>
          <p:cNvGrpSpPr/>
          <p:nvPr/>
        </p:nvGrpSpPr>
        <p:grpSpPr>
          <a:xfrm rot="0">
            <a:off x="1069848" y="3730752"/>
            <a:ext cx="10149840" cy="466344"/>
            <a:chOff x="0" y="0"/>
            <a:chExt cx="13533120" cy="621792"/>
          </a:xfrm>
        </p:grpSpPr>
        <p:sp>
          <p:nvSpPr>
            <p:cNvPr name="Freeform 14" id="14"/>
            <p:cNvSpPr/>
            <p:nvPr/>
          </p:nvSpPr>
          <p:spPr>
            <a:xfrm flipH="false" flipV="false" rot="0">
              <a:off x="0" y="0"/>
              <a:ext cx="13533120" cy="621792"/>
            </a:xfrm>
            <a:custGeom>
              <a:avLst/>
              <a:gdLst/>
              <a:ahLst/>
              <a:cxnLst/>
              <a:rect r="r" b="b" t="t" l="l"/>
              <a:pathLst>
                <a:path h="621792" w="13533120">
                  <a:moveTo>
                    <a:pt x="0" y="0"/>
                  </a:moveTo>
                  <a:lnTo>
                    <a:pt x="13533120" y="0"/>
                  </a:lnTo>
                  <a:lnTo>
                    <a:pt x="13533120" y="621792"/>
                  </a:lnTo>
                  <a:lnTo>
                    <a:pt x="0" y="621792"/>
                  </a:lnTo>
                  <a:close/>
                </a:path>
              </a:pathLst>
            </a:custGeom>
            <a:blipFill>
              <a:blip r:embed="rId3">
                <a:alphaModFix amt="0"/>
              </a:blip>
              <a:stretch>
                <a:fillRect l="0" t="-374086" r="0" b="-374086"/>
              </a:stretch>
            </a:blipFill>
          </p:spPr>
        </p:sp>
        <p:sp>
          <p:nvSpPr>
            <p:cNvPr name="TextBox 15" id="15"/>
            <p:cNvSpPr txBox="true"/>
            <p:nvPr/>
          </p:nvSpPr>
          <p:spPr>
            <a:xfrm>
              <a:off x="0" y="-19050"/>
              <a:ext cx="13533120" cy="640842"/>
            </a:xfrm>
            <a:prstGeom prst="rect">
              <a:avLst/>
            </a:prstGeom>
          </p:spPr>
          <p:txBody>
            <a:bodyPr anchor="ctr" rtlCol="false" tIns="0" lIns="0" bIns="0" rIns="0"/>
            <a:lstStyle/>
            <a:p>
              <a:pPr algn="l">
                <a:lnSpc>
                  <a:spcPts val="2340"/>
                </a:lnSpc>
              </a:pPr>
              <a:r>
                <a:rPr lang="en-US" b="true" sz="1950" spc="375">
                  <a:solidFill>
                    <a:srgbClr val="8FBEBE"/>
                  </a:solidFill>
                  <a:latin typeface="Poppins Bold"/>
                  <a:ea typeface="Poppins Bold"/>
                  <a:cs typeface="Poppins Bold"/>
                  <a:sym typeface="Poppins Bold"/>
                </a:rPr>
                <a:t>PART TWO</a:t>
              </a:r>
            </a:p>
          </p:txBody>
        </p:sp>
      </p:grpSp>
      <p:grpSp>
        <p:nvGrpSpPr>
          <p:cNvPr name="Group 16" id="16"/>
          <p:cNvGrpSpPr/>
          <p:nvPr/>
        </p:nvGrpSpPr>
        <p:grpSpPr>
          <a:xfrm rot="0">
            <a:off x="1069848" y="4361688"/>
            <a:ext cx="1851660" cy="116586"/>
            <a:chOff x="0" y="0"/>
            <a:chExt cx="2468880" cy="155448"/>
          </a:xfrm>
        </p:grpSpPr>
        <p:sp>
          <p:nvSpPr>
            <p:cNvPr name="Freeform 17" id="17"/>
            <p:cNvSpPr/>
            <p:nvPr/>
          </p:nvSpPr>
          <p:spPr>
            <a:xfrm flipH="false" flipV="false" rot="0">
              <a:off x="0" y="0"/>
              <a:ext cx="2468880" cy="155448"/>
            </a:xfrm>
            <a:custGeom>
              <a:avLst/>
              <a:gdLst/>
              <a:ahLst/>
              <a:cxnLst/>
              <a:rect r="r" b="b" t="t" l="l"/>
              <a:pathLst>
                <a:path h="155448" w="2468880">
                  <a:moveTo>
                    <a:pt x="0" y="0"/>
                  </a:moveTo>
                  <a:lnTo>
                    <a:pt x="2468880" y="0"/>
                  </a:lnTo>
                  <a:lnTo>
                    <a:pt x="2468880" y="155448"/>
                  </a:lnTo>
                  <a:lnTo>
                    <a:pt x="0" y="155448"/>
                  </a:lnTo>
                  <a:close/>
                </a:path>
              </a:pathLst>
            </a:custGeom>
            <a:solidFill>
              <a:srgbClr val="387F7F"/>
            </a:solidFill>
          </p:spPr>
        </p:sp>
      </p:grpSp>
      <p:grpSp>
        <p:nvGrpSpPr>
          <p:cNvPr name="Group 18" id="18"/>
          <p:cNvGrpSpPr/>
          <p:nvPr/>
        </p:nvGrpSpPr>
        <p:grpSpPr>
          <a:xfrm rot="0">
            <a:off x="1069848" y="4732020"/>
            <a:ext cx="11109960" cy="2194560"/>
            <a:chOff x="0" y="0"/>
            <a:chExt cx="14813280" cy="2926080"/>
          </a:xfrm>
        </p:grpSpPr>
        <p:sp>
          <p:nvSpPr>
            <p:cNvPr name="Freeform 19" id="19"/>
            <p:cNvSpPr/>
            <p:nvPr/>
          </p:nvSpPr>
          <p:spPr>
            <a:xfrm flipH="false" flipV="false" rot="0">
              <a:off x="0" y="0"/>
              <a:ext cx="14813280" cy="2926080"/>
            </a:xfrm>
            <a:custGeom>
              <a:avLst/>
              <a:gdLst/>
              <a:ahLst/>
              <a:cxnLst/>
              <a:rect r="r" b="b" t="t" l="l"/>
              <a:pathLst>
                <a:path h="2926080" w="14813280">
                  <a:moveTo>
                    <a:pt x="0" y="0"/>
                  </a:moveTo>
                  <a:lnTo>
                    <a:pt x="14813280" y="0"/>
                  </a:lnTo>
                  <a:lnTo>
                    <a:pt x="14813280" y="2926080"/>
                  </a:lnTo>
                  <a:lnTo>
                    <a:pt x="0" y="2926080"/>
                  </a:lnTo>
                  <a:close/>
                </a:path>
              </a:pathLst>
            </a:custGeom>
            <a:blipFill>
              <a:blip r:embed="rId3">
                <a:alphaModFix amt="0"/>
              </a:blip>
              <a:stretch>
                <a:fillRect l="0" t="-48643" r="0" b="-48643"/>
              </a:stretch>
            </a:blipFill>
          </p:spPr>
        </p:sp>
        <p:sp>
          <p:nvSpPr>
            <p:cNvPr name="TextBox 20" id="20"/>
            <p:cNvSpPr txBox="true"/>
            <p:nvPr/>
          </p:nvSpPr>
          <p:spPr>
            <a:xfrm>
              <a:off x="0" y="-104775"/>
              <a:ext cx="14813280" cy="3030855"/>
            </a:xfrm>
            <a:prstGeom prst="rect">
              <a:avLst/>
            </a:prstGeom>
          </p:spPr>
          <p:txBody>
            <a:bodyPr anchor="ctr" rtlCol="false" tIns="0" lIns="0" bIns="0" rIns="0"/>
            <a:lstStyle/>
            <a:p>
              <a:pPr algn="l">
                <a:lnSpc>
                  <a:spcPts val="6998"/>
                </a:lnSpc>
              </a:pPr>
              <a:r>
                <a:rPr lang="en-US" sz="5400" b="true">
                  <a:solidFill>
                    <a:srgbClr val="FFFFFF"/>
                  </a:solidFill>
                  <a:latin typeface="Poppins Bold"/>
                  <a:ea typeface="Poppins Bold"/>
                  <a:cs typeface="Poppins Bold"/>
                  <a:sym typeface="Poppins Bold"/>
                </a:rPr>
                <a:t>Loading SwiftRoute</a:t>
              </a:r>
            </a:p>
          </p:txBody>
        </p:sp>
      </p:grpSp>
      <p:grpSp>
        <p:nvGrpSpPr>
          <p:cNvPr name="Group 21" id="21"/>
          <p:cNvGrpSpPr/>
          <p:nvPr/>
        </p:nvGrpSpPr>
        <p:grpSpPr>
          <a:xfrm rot="0">
            <a:off x="1124712" y="7399782"/>
            <a:ext cx="219456" cy="219456"/>
            <a:chOff x="0" y="0"/>
            <a:chExt cx="292608" cy="292608"/>
          </a:xfrm>
        </p:grpSpPr>
        <p:sp>
          <p:nvSpPr>
            <p:cNvPr name="Freeform 22" id="22"/>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23" id="23"/>
          <p:cNvGrpSpPr/>
          <p:nvPr/>
        </p:nvGrpSpPr>
        <p:grpSpPr>
          <a:xfrm rot="0">
            <a:off x="1645920" y="7283196"/>
            <a:ext cx="9875520" cy="466344"/>
            <a:chOff x="0" y="0"/>
            <a:chExt cx="13167360" cy="621792"/>
          </a:xfrm>
        </p:grpSpPr>
        <p:sp>
          <p:nvSpPr>
            <p:cNvPr name="Freeform 24" id="24"/>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3">
                <a:alphaModFix amt="0"/>
              </a:blip>
              <a:stretch>
                <a:fillRect l="0" t="-362624" r="0" b="-362624"/>
              </a:stretch>
            </a:blipFill>
          </p:spPr>
        </p:sp>
        <p:sp>
          <p:nvSpPr>
            <p:cNvPr name="TextBox 25" id="25"/>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Meet the five files and the idea of grain</a:t>
              </a:r>
            </a:p>
          </p:txBody>
        </p:sp>
      </p:grpSp>
      <p:grpSp>
        <p:nvGrpSpPr>
          <p:cNvPr name="Group 26" id="26"/>
          <p:cNvGrpSpPr/>
          <p:nvPr/>
        </p:nvGrpSpPr>
        <p:grpSpPr>
          <a:xfrm rot="0">
            <a:off x="1124712" y="7975854"/>
            <a:ext cx="219456" cy="219456"/>
            <a:chOff x="0" y="0"/>
            <a:chExt cx="292608" cy="292608"/>
          </a:xfrm>
        </p:grpSpPr>
        <p:sp>
          <p:nvSpPr>
            <p:cNvPr name="Freeform 27" id="27"/>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28" id="28"/>
          <p:cNvGrpSpPr/>
          <p:nvPr/>
        </p:nvGrpSpPr>
        <p:grpSpPr>
          <a:xfrm rot="0">
            <a:off x="1645920" y="7859268"/>
            <a:ext cx="9875520" cy="466344"/>
            <a:chOff x="0" y="0"/>
            <a:chExt cx="13167360" cy="621792"/>
          </a:xfrm>
        </p:grpSpPr>
        <p:sp>
          <p:nvSpPr>
            <p:cNvPr name="Freeform 29" id="29"/>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3">
                <a:alphaModFix amt="0"/>
              </a:blip>
              <a:stretch>
                <a:fillRect l="0" t="-362624" r="0" b="-362624"/>
              </a:stretch>
            </a:blipFill>
          </p:spPr>
        </p:sp>
        <p:sp>
          <p:nvSpPr>
            <p:cNvPr name="TextBox 30" id="30"/>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Load through Power Query, step by step</a:t>
              </a:r>
            </a:p>
          </p:txBody>
        </p:sp>
      </p:grpSp>
      <p:grpSp>
        <p:nvGrpSpPr>
          <p:cNvPr name="Group 31" id="31"/>
          <p:cNvGrpSpPr/>
          <p:nvPr/>
        </p:nvGrpSpPr>
        <p:grpSpPr>
          <a:xfrm rot="0">
            <a:off x="1124712" y="8551926"/>
            <a:ext cx="219456" cy="219456"/>
            <a:chOff x="0" y="0"/>
            <a:chExt cx="292608" cy="292608"/>
          </a:xfrm>
        </p:grpSpPr>
        <p:sp>
          <p:nvSpPr>
            <p:cNvPr name="Freeform 32" id="32"/>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33" id="33"/>
          <p:cNvGrpSpPr/>
          <p:nvPr/>
        </p:nvGrpSpPr>
        <p:grpSpPr>
          <a:xfrm rot="0">
            <a:off x="1645920" y="8435340"/>
            <a:ext cx="9875520" cy="466344"/>
            <a:chOff x="0" y="0"/>
            <a:chExt cx="13167360" cy="621792"/>
          </a:xfrm>
        </p:grpSpPr>
        <p:sp>
          <p:nvSpPr>
            <p:cNvPr name="Freeform 34" id="34"/>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3">
                <a:alphaModFix amt="0"/>
              </a:blip>
              <a:stretch>
                <a:fillRect l="0" t="-362624" r="0" b="-362624"/>
              </a:stretch>
            </a:blipFill>
          </p:spPr>
        </p:sp>
        <p:sp>
          <p:nvSpPr>
            <p:cNvPr name="TextBox 35" id="35"/>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Write rules that survive next month's file</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7250" y="857250"/>
            <a:ext cx="114300" cy="1028700"/>
            <a:chOff x="0" y="0"/>
            <a:chExt cx="152400" cy="1371600"/>
          </a:xfrm>
        </p:grpSpPr>
        <p:sp>
          <p:nvSpPr>
            <p:cNvPr name="Freeform 3" id="3"/>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3">
              <a:extLst>
                <a:ext uri="{96DAC541-7B7A-43D3-8B79-37D633B846F1}">
                  <asvg:svgBlip xmlns:asvg="http://schemas.microsoft.com/office/drawing/2016/SVG/main" r:embed="rId4"/>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143000" y="762000"/>
            <a:ext cx="709999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Five files, on</a:t>
            </a:r>
            <a:r>
              <a:rPr lang="en-US" sz="5000">
                <a:solidFill>
                  <a:srgbClr val="388080"/>
                </a:solidFill>
                <a:latin typeface="Poppins"/>
                <a:ea typeface="Poppins"/>
                <a:cs typeface="Poppins"/>
                <a:sym typeface="Poppins"/>
              </a:rPr>
              <a:t>e business</a:t>
            </a:r>
          </a:p>
        </p:txBody>
      </p:sp>
      <p:grpSp>
        <p:nvGrpSpPr>
          <p:cNvPr name="Group 7" id="7"/>
          <p:cNvGrpSpPr/>
          <p:nvPr/>
        </p:nvGrpSpPr>
        <p:grpSpPr>
          <a:xfrm rot="0">
            <a:off x="16497824" y="8924125"/>
            <a:ext cx="647224" cy="571500"/>
            <a:chOff x="0" y="0"/>
            <a:chExt cx="862965" cy="762000"/>
          </a:xfrm>
        </p:grpSpPr>
        <p:sp>
          <p:nvSpPr>
            <p:cNvPr name="Freeform 8" id="8"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7"/>
              <a:stretch>
                <a:fillRect l="-772" t="0" r="-772" b="0"/>
              </a:stretch>
            </a:blipFill>
          </p:spPr>
        </p:sp>
      </p:grpSp>
      <p:grpSp>
        <p:nvGrpSpPr>
          <p:cNvPr name="Group 9" id="9"/>
          <p:cNvGrpSpPr/>
          <p:nvPr/>
        </p:nvGrpSpPr>
        <p:grpSpPr>
          <a:xfrm rot="0">
            <a:off x="1028700" y="2836545"/>
            <a:ext cx="2734970" cy="3429000"/>
            <a:chOff x="0" y="0"/>
            <a:chExt cx="3646627" cy="4572000"/>
          </a:xfrm>
        </p:grpSpPr>
        <p:sp>
          <p:nvSpPr>
            <p:cNvPr name="Freeform 10" id="10"/>
            <p:cNvSpPr/>
            <p:nvPr/>
          </p:nvSpPr>
          <p:spPr>
            <a:xfrm flipH="false" flipV="false" rot="0">
              <a:off x="0" y="0"/>
              <a:ext cx="3646678" cy="4572000"/>
            </a:xfrm>
            <a:custGeom>
              <a:avLst/>
              <a:gdLst/>
              <a:ahLst/>
              <a:cxnLst/>
              <a:rect r="r" b="b" t="t" l="l"/>
              <a:pathLst>
                <a:path h="4572000" w="3646678">
                  <a:moveTo>
                    <a:pt x="0" y="182880"/>
                  </a:moveTo>
                  <a:cubicBezTo>
                    <a:pt x="0" y="81915"/>
                    <a:pt x="81915" y="0"/>
                    <a:pt x="182880" y="0"/>
                  </a:cubicBezTo>
                  <a:lnTo>
                    <a:pt x="3463798" y="0"/>
                  </a:lnTo>
                  <a:cubicBezTo>
                    <a:pt x="3564763" y="0"/>
                    <a:pt x="3646678" y="81915"/>
                    <a:pt x="3646678" y="182880"/>
                  </a:cubicBezTo>
                  <a:lnTo>
                    <a:pt x="3646678" y="4389120"/>
                  </a:lnTo>
                  <a:cubicBezTo>
                    <a:pt x="3646678" y="4490085"/>
                    <a:pt x="3564763" y="4572000"/>
                    <a:pt x="3463798" y="4572000"/>
                  </a:cubicBezTo>
                  <a:lnTo>
                    <a:pt x="182880" y="4572000"/>
                  </a:lnTo>
                  <a:cubicBezTo>
                    <a:pt x="81915" y="4572000"/>
                    <a:pt x="0" y="4490085"/>
                    <a:pt x="0" y="4389120"/>
                  </a:cubicBezTo>
                  <a:close/>
                </a:path>
              </a:pathLst>
            </a:custGeom>
            <a:solidFill>
              <a:srgbClr val="FFFFFF"/>
            </a:solidFill>
          </p:spPr>
        </p:sp>
      </p:grpSp>
      <p:grpSp>
        <p:nvGrpSpPr>
          <p:cNvPr name="Group 11" id="11"/>
          <p:cNvGrpSpPr/>
          <p:nvPr/>
        </p:nvGrpSpPr>
        <p:grpSpPr>
          <a:xfrm rot="0">
            <a:off x="1028700" y="2836545"/>
            <a:ext cx="2734970" cy="109728"/>
            <a:chOff x="0" y="0"/>
            <a:chExt cx="3646627" cy="146304"/>
          </a:xfrm>
        </p:grpSpPr>
        <p:sp>
          <p:nvSpPr>
            <p:cNvPr name="Freeform 12" id="12"/>
            <p:cNvSpPr/>
            <p:nvPr/>
          </p:nvSpPr>
          <p:spPr>
            <a:xfrm flipH="false" flipV="false" rot="0">
              <a:off x="0" y="0"/>
              <a:ext cx="3646678" cy="146304"/>
            </a:xfrm>
            <a:custGeom>
              <a:avLst/>
              <a:gdLst/>
              <a:ahLst/>
              <a:cxnLst/>
              <a:rect r="r" b="b" t="t" l="l"/>
              <a:pathLst>
                <a:path h="146304" w="3646678">
                  <a:moveTo>
                    <a:pt x="0" y="0"/>
                  </a:moveTo>
                  <a:lnTo>
                    <a:pt x="3646678" y="0"/>
                  </a:lnTo>
                  <a:lnTo>
                    <a:pt x="3646678" y="146304"/>
                  </a:lnTo>
                  <a:lnTo>
                    <a:pt x="0" y="146304"/>
                  </a:lnTo>
                  <a:close/>
                </a:path>
              </a:pathLst>
            </a:custGeom>
            <a:solidFill>
              <a:srgbClr val="7FB3B3"/>
            </a:solidFill>
          </p:spPr>
        </p:sp>
      </p:grpSp>
      <p:grpSp>
        <p:nvGrpSpPr>
          <p:cNvPr name="Group 13" id="13"/>
          <p:cNvGrpSpPr/>
          <p:nvPr/>
        </p:nvGrpSpPr>
        <p:grpSpPr>
          <a:xfrm rot="0">
            <a:off x="1220724" y="3275457"/>
            <a:ext cx="2350922" cy="850392"/>
            <a:chOff x="0" y="0"/>
            <a:chExt cx="3134563" cy="1133856"/>
          </a:xfrm>
        </p:grpSpPr>
        <p:sp>
          <p:nvSpPr>
            <p:cNvPr name="Freeform 14" id="14"/>
            <p:cNvSpPr/>
            <p:nvPr/>
          </p:nvSpPr>
          <p:spPr>
            <a:xfrm flipH="false" flipV="false" rot="0">
              <a:off x="0" y="0"/>
              <a:ext cx="3134564" cy="1133856"/>
            </a:xfrm>
            <a:custGeom>
              <a:avLst/>
              <a:gdLst/>
              <a:ahLst/>
              <a:cxnLst/>
              <a:rect r="r" b="b" t="t" l="l"/>
              <a:pathLst>
                <a:path h="1133856" w="3134564">
                  <a:moveTo>
                    <a:pt x="0" y="0"/>
                  </a:moveTo>
                  <a:lnTo>
                    <a:pt x="3134564" y="0"/>
                  </a:lnTo>
                  <a:lnTo>
                    <a:pt x="3134564" y="1133856"/>
                  </a:lnTo>
                  <a:lnTo>
                    <a:pt x="0" y="1133856"/>
                  </a:lnTo>
                  <a:close/>
                </a:path>
              </a:pathLst>
            </a:custGeom>
            <a:blipFill>
              <a:blip r:embed="rId8">
                <a:alphaModFix amt="0"/>
              </a:blip>
              <a:stretch>
                <a:fillRect l="0" t="-3866" r="0" b="-3866"/>
              </a:stretch>
            </a:blipFill>
          </p:spPr>
        </p:sp>
        <p:sp>
          <p:nvSpPr>
            <p:cNvPr name="TextBox 15" id="15"/>
            <p:cNvSpPr txBox="true"/>
            <p:nvPr/>
          </p:nvSpPr>
          <p:spPr>
            <a:xfrm>
              <a:off x="0" y="-28575"/>
              <a:ext cx="3134563" cy="1162431"/>
            </a:xfrm>
            <a:prstGeom prst="rect">
              <a:avLst/>
            </a:prstGeom>
          </p:spPr>
          <p:txBody>
            <a:bodyPr anchor="ctr" rtlCol="false" tIns="0" lIns="0" bIns="0" rIns="0"/>
            <a:lstStyle/>
            <a:p>
              <a:pPr algn="ctr">
                <a:lnSpc>
                  <a:spcPts val="2277"/>
                </a:lnSpc>
              </a:pPr>
              <a:r>
                <a:rPr lang="en-US" sz="1725" b="true">
                  <a:solidFill>
                    <a:srgbClr val="387F7F"/>
                  </a:solidFill>
                  <a:latin typeface="Poppins Bold"/>
                  <a:ea typeface="Poppins Bold"/>
                  <a:cs typeface="Poppins Bold"/>
                  <a:sym typeface="Poppins Bold"/>
                </a:rPr>
                <a:t>riders.csv</a:t>
              </a:r>
            </a:p>
          </p:txBody>
        </p:sp>
      </p:grpSp>
      <p:grpSp>
        <p:nvGrpSpPr>
          <p:cNvPr name="Group 16" id="16"/>
          <p:cNvGrpSpPr/>
          <p:nvPr/>
        </p:nvGrpSpPr>
        <p:grpSpPr>
          <a:xfrm rot="0">
            <a:off x="1330452" y="4276725"/>
            <a:ext cx="2131466" cy="466344"/>
            <a:chOff x="0" y="0"/>
            <a:chExt cx="2841955" cy="621792"/>
          </a:xfrm>
        </p:grpSpPr>
        <p:sp>
          <p:nvSpPr>
            <p:cNvPr name="Freeform 17" id="17"/>
            <p:cNvSpPr/>
            <p:nvPr/>
          </p:nvSpPr>
          <p:spPr>
            <a:xfrm flipH="false" flipV="false" rot="0">
              <a:off x="0" y="0"/>
              <a:ext cx="2842006" cy="621792"/>
            </a:xfrm>
            <a:custGeom>
              <a:avLst/>
              <a:gdLst/>
              <a:ahLst/>
              <a:cxnLst/>
              <a:rect r="r" b="b" t="t" l="l"/>
              <a:pathLst>
                <a:path h="621792" w="2842006">
                  <a:moveTo>
                    <a:pt x="0" y="310896"/>
                  </a:moveTo>
                  <a:cubicBezTo>
                    <a:pt x="0" y="139192"/>
                    <a:pt x="139192" y="0"/>
                    <a:pt x="310896" y="0"/>
                  </a:cubicBezTo>
                  <a:lnTo>
                    <a:pt x="2531110" y="0"/>
                  </a:lnTo>
                  <a:cubicBezTo>
                    <a:pt x="2702814" y="0"/>
                    <a:pt x="2842006" y="139192"/>
                    <a:pt x="2842006" y="310896"/>
                  </a:cubicBezTo>
                  <a:cubicBezTo>
                    <a:pt x="2842006" y="482600"/>
                    <a:pt x="2702814" y="621792"/>
                    <a:pt x="2531110" y="621792"/>
                  </a:cubicBezTo>
                  <a:lnTo>
                    <a:pt x="310896" y="621792"/>
                  </a:lnTo>
                  <a:cubicBezTo>
                    <a:pt x="139192" y="621792"/>
                    <a:pt x="0" y="482600"/>
                    <a:pt x="0" y="310896"/>
                  </a:cubicBezTo>
                  <a:close/>
                </a:path>
              </a:pathLst>
            </a:custGeom>
            <a:solidFill>
              <a:srgbClr val="EEF4F4"/>
            </a:solidFill>
          </p:spPr>
        </p:sp>
      </p:grpSp>
      <p:grpSp>
        <p:nvGrpSpPr>
          <p:cNvPr name="Group 18" id="18"/>
          <p:cNvGrpSpPr/>
          <p:nvPr/>
        </p:nvGrpSpPr>
        <p:grpSpPr>
          <a:xfrm rot="0">
            <a:off x="1330452" y="4276725"/>
            <a:ext cx="2131466" cy="466344"/>
            <a:chOff x="0" y="0"/>
            <a:chExt cx="2841955" cy="621792"/>
          </a:xfrm>
        </p:grpSpPr>
        <p:sp>
          <p:nvSpPr>
            <p:cNvPr name="Freeform 19" id="19"/>
            <p:cNvSpPr/>
            <p:nvPr/>
          </p:nvSpPr>
          <p:spPr>
            <a:xfrm flipH="false" flipV="false" rot="0">
              <a:off x="0" y="0"/>
              <a:ext cx="2841956" cy="621792"/>
            </a:xfrm>
            <a:custGeom>
              <a:avLst/>
              <a:gdLst/>
              <a:ahLst/>
              <a:cxnLst/>
              <a:rect r="r" b="b" t="t" l="l"/>
              <a:pathLst>
                <a:path h="621792" w="2841956">
                  <a:moveTo>
                    <a:pt x="0" y="0"/>
                  </a:moveTo>
                  <a:lnTo>
                    <a:pt x="2841956" y="0"/>
                  </a:lnTo>
                  <a:lnTo>
                    <a:pt x="2841956" y="621792"/>
                  </a:lnTo>
                  <a:lnTo>
                    <a:pt x="0" y="621792"/>
                  </a:lnTo>
                  <a:close/>
                </a:path>
              </a:pathLst>
            </a:custGeom>
            <a:blipFill>
              <a:blip r:embed="rId8">
                <a:alphaModFix amt="0"/>
              </a:blip>
              <a:stretch>
                <a:fillRect l="0" t="-39058" r="0" b="-39058"/>
              </a:stretch>
            </a:blipFill>
          </p:spPr>
        </p:sp>
        <p:sp>
          <p:nvSpPr>
            <p:cNvPr name="TextBox 20" id="20"/>
            <p:cNvSpPr txBox="true"/>
            <p:nvPr/>
          </p:nvSpPr>
          <p:spPr>
            <a:xfrm>
              <a:off x="0" y="-9525"/>
              <a:ext cx="2841955" cy="631317"/>
            </a:xfrm>
            <a:prstGeom prst="rect">
              <a:avLst/>
            </a:prstGeom>
          </p:spPr>
          <p:txBody>
            <a:bodyPr anchor="ctr" rtlCol="false" tIns="0" lIns="0" bIns="0" rIns="0"/>
            <a:lstStyle/>
            <a:p>
              <a:pPr algn="ctr">
                <a:lnSpc>
                  <a:spcPts val="1889"/>
                </a:lnSpc>
              </a:pPr>
              <a:r>
                <a:rPr lang="en-US" sz="1575" b="true">
                  <a:solidFill>
                    <a:srgbClr val="0A1A23"/>
                  </a:solidFill>
                  <a:latin typeface="Poppins Bold"/>
                  <a:ea typeface="Poppins Bold"/>
                  <a:cs typeface="Poppins Bold"/>
                  <a:sym typeface="Poppins Bold"/>
                </a:rPr>
                <a:t>68 rows</a:t>
              </a:r>
            </a:p>
          </p:txBody>
        </p:sp>
      </p:grpSp>
      <p:sp>
        <p:nvSpPr>
          <p:cNvPr name="TextBox 21" id="21"/>
          <p:cNvSpPr txBox="true"/>
          <p:nvPr/>
        </p:nvSpPr>
        <p:spPr>
          <a:xfrm rot="0">
            <a:off x="1220724" y="4914900"/>
            <a:ext cx="2350922" cy="1282065"/>
          </a:xfrm>
          <a:prstGeom prst="rect">
            <a:avLst/>
          </a:prstGeom>
        </p:spPr>
        <p:txBody>
          <a:bodyPr anchor="t" rtlCol="false" tIns="0" lIns="0" bIns="0" rIns="0">
            <a:spAutoFit/>
          </a:bodyPr>
          <a:lstStyle/>
          <a:p>
            <a:pPr algn="ctr">
              <a:lnSpc>
                <a:spcPts val="2268"/>
              </a:lnSpc>
            </a:pPr>
            <a:r>
              <a:rPr lang="en-US" sz="1575">
                <a:solidFill>
                  <a:srgbClr val="475569"/>
                </a:solidFill>
                <a:latin typeface="Poppins"/>
                <a:ea typeface="Poppins"/>
                <a:cs typeface="Poppins"/>
                <a:sym typeface="Poppins"/>
              </a:rPr>
              <a:t>one row per rider</a:t>
            </a:r>
          </a:p>
        </p:txBody>
      </p:sp>
      <p:grpSp>
        <p:nvGrpSpPr>
          <p:cNvPr name="Group 22" id="22"/>
          <p:cNvGrpSpPr/>
          <p:nvPr/>
        </p:nvGrpSpPr>
        <p:grpSpPr>
          <a:xfrm rot="0">
            <a:off x="4065422" y="2836545"/>
            <a:ext cx="2734970" cy="3429000"/>
            <a:chOff x="0" y="0"/>
            <a:chExt cx="3646627" cy="4572000"/>
          </a:xfrm>
        </p:grpSpPr>
        <p:sp>
          <p:nvSpPr>
            <p:cNvPr name="Freeform 23" id="23"/>
            <p:cNvSpPr/>
            <p:nvPr/>
          </p:nvSpPr>
          <p:spPr>
            <a:xfrm flipH="false" flipV="false" rot="0">
              <a:off x="0" y="0"/>
              <a:ext cx="3646678" cy="4572000"/>
            </a:xfrm>
            <a:custGeom>
              <a:avLst/>
              <a:gdLst/>
              <a:ahLst/>
              <a:cxnLst/>
              <a:rect r="r" b="b" t="t" l="l"/>
              <a:pathLst>
                <a:path h="4572000" w="3646678">
                  <a:moveTo>
                    <a:pt x="0" y="182880"/>
                  </a:moveTo>
                  <a:cubicBezTo>
                    <a:pt x="0" y="81915"/>
                    <a:pt x="81915" y="0"/>
                    <a:pt x="182880" y="0"/>
                  </a:cubicBezTo>
                  <a:lnTo>
                    <a:pt x="3463798" y="0"/>
                  </a:lnTo>
                  <a:cubicBezTo>
                    <a:pt x="3564763" y="0"/>
                    <a:pt x="3646678" y="81915"/>
                    <a:pt x="3646678" y="182880"/>
                  </a:cubicBezTo>
                  <a:lnTo>
                    <a:pt x="3646678" y="4389120"/>
                  </a:lnTo>
                  <a:cubicBezTo>
                    <a:pt x="3646678" y="4490085"/>
                    <a:pt x="3564763" y="4572000"/>
                    <a:pt x="3463798" y="4572000"/>
                  </a:cubicBezTo>
                  <a:lnTo>
                    <a:pt x="182880" y="4572000"/>
                  </a:lnTo>
                  <a:cubicBezTo>
                    <a:pt x="81915" y="4572000"/>
                    <a:pt x="0" y="4490085"/>
                    <a:pt x="0" y="4389120"/>
                  </a:cubicBezTo>
                  <a:close/>
                </a:path>
              </a:pathLst>
            </a:custGeom>
            <a:solidFill>
              <a:srgbClr val="FFFFFF"/>
            </a:solidFill>
          </p:spPr>
        </p:sp>
      </p:grpSp>
      <p:grpSp>
        <p:nvGrpSpPr>
          <p:cNvPr name="Group 24" id="24"/>
          <p:cNvGrpSpPr/>
          <p:nvPr/>
        </p:nvGrpSpPr>
        <p:grpSpPr>
          <a:xfrm rot="0">
            <a:off x="4065422" y="2836545"/>
            <a:ext cx="2734970" cy="109728"/>
            <a:chOff x="0" y="0"/>
            <a:chExt cx="3646627" cy="146304"/>
          </a:xfrm>
        </p:grpSpPr>
        <p:sp>
          <p:nvSpPr>
            <p:cNvPr name="Freeform 25" id="25"/>
            <p:cNvSpPr/>
            <p:nvPr/>
          </p:nvSpPr>
          <p:spPr>
            <a:xfrm flipH="false" flipV="false" rot="0">
              <a:off x="0" y="0"/>
              <a:ext cx="3646678" cy="146304"/>
            </a:xfrm>
            <a:custGeom>
              <a:avLst/>
              <a:gdLst/>
              <a:ahLst/>
              <a:cxnLst/>
              <a:rect r="r" b="b" t="t" l="l"/>
              <a:pathLst>
                <a:path h="146304" w="3646678">
                  <a:moveTo>
                    <a:pt x="0" y="0"/>
                  </a:moveTo>
                  <a:lnTo>
                    <a:pt x="3646678" y="0"/>
                  </a:lnTo>
                  <a:lnTo>
                    <a:pt x="3646678" y="146304"/>
                  </a:lnTo>
                  <a:lnTo>
                    <a:pt x="0" y="146304"/>
                  </a:lnTo>
                  <a:close/>
                </a:path>
              </a:pathLst>
            </a:custGeom>
            <a:solidFill>
              <a:srgbClr val="7FB3B3"/>
            </a:solidFill>
          </p:spPr>
        </p:sp>
      </p:grpSp>
      <p:grpSp>
        <p:nvGrpSpPr>
          <p:cNvPr name="Group 26" id="26"/>
          <p:cNvGrpSpPr/>
          <p:nvPr/>
        </p:nvGrpSpPr>
        <p:grpSpPr>
          <a:xfrm rot="0">
            <a:off x="4257446" y="3275457"/>
            <a:ext cx="2350922" cy="850392"/>
            <a:chOff x="0" y="0"/>
            <a:chExt cx="3134563" cy="1133856"/>
          </a:xfrm>
        </p:grpSpPr>
        <p:sp>
          <p:nvSpPr>
            <p:cNvPr name="Freeform 27" id="27"/>
            <p:cNvSpPr/>
            <p:nvPr/>
          </p:nvSpPr>
          <p:spPr>
            <a:xfrm flipH="false" flipV="false" rot="0">
              <a:off x="0" y="0"/>
              <a:ext cx="3134564" cy="1133856"/>
            </a:xfrm>
            <a:custGeom>
              <a:avLst/>
              <a:gdLst/>
              <a:ahLst/>
              <a:cxnLst/>
              <a:rect r="r" b="b" t="t" l="l"/>
              <a:pathLst>
                <a:path h="1133856" w="3134564">
                  <a:moveTo>
                    <a:pt x="0" y="0"/>
                  </a:moveTo>
                  <a:lnTo>
                    <a:pt x="3134564" y="0"/>
                  </a:lnTo>
                  <a:lnTo>
                    <a:pt x="3134564" y="1133856"/>
                  </a:lnTo>
                  <a:lnTo>
                    <a:pt x="0" y="1133856"/>
                  </a:lnTo>
                  <a:close/>
                </a:path>
              </a:pathLst>
            </a:custGeom>
            <a:blipFill>
              <a:blip r:embed="rId8">
                <a:alphaModFix amt="0"/>
              </a:blip>
              <a:stretch>
                <a:fillRect l="0" t="-3866" r="0" b="-3866"/>
              </a:stretch>
            </a:blipFill>
          </p:spPr>
        </p:sp>
        <p:sp>
          <p:nvSpPr>
            <p:cNvPr name="TextBox 28" id="28"/>
            <p:cNvSpPr txBox="true"/>
            <p:nvPr/>
          </p:nvSpPr>
          <p:spPr>
            <a:xfrm>
              <a:off x="0" y="-28575"/>
              <a:ext cx="3134563" cy="1162431"/>
            </a:xfrm>
            <a:prstGeom prst="rect">
              <a:avLst/>
            </a:prstGeom>
          </p:spPr>
          <p:txBody>
            <a:bodyPr anchor="ctr" rtlCol="false" tIns="0" lIns="0" bIns="0" rIns="0"/>
            <a:lstStyle/>
            <a:p>
              <a:pPr algn="ctr">
                <a:lnSpc>
                  <a:spcPts val="2277"/>
                </a:lnSpc>
              </a:pPr>
              <a:r>
                <a:rPr lang="en-US" sz="1725" b="true">
                  <a:solidFill>
                    <a:srgbClr val="387F7F"/>
                  </a:solidFill>
                  <a:latin typeface="Poppins Bold"/>
                  <a:ea typeface="Poppins Bold"/>
                  <a:cs typeface="Poppins Bold"/>
                  <a:sym typeface="Poppins Bold"/>
                </a:rPr>
                <a:t>routes.csv</a:t>
              </a:r>
            </a:p>
          </p:txBody>
        </p:sp>
      </p:grpSp>
      <p:grpSp>
        <p:nvGrpSpPr>
          <p:cNvPr name="Group 29" id="29"/>
          <p:cNvGrpSpPr/>
          <p:nvPr/>
        </p:nvGrpSpPr>
        <p:grpSpPr>
          <a:xfrm rot="0">
            <a:off x="4367174" y="4276725"/>
            <a:ext cx="2131466" cy="466344"/>
            <a:chOff x="0" y="0"/>
            <a:chExt cx="2841955" cy="621792"/>
          </a:xfrm>
        </p:grpSpPr>
        <p:sp>
          <p:nvSpPr>
            <p:cNvPr name="Freeform 30" id="30"/>
            <p:cNvSpPr/>
            <p:nvPr/>
          </p:nvSpPr>
          <p:spPr>
            <a:xfrm flipH="false" flipV="false" rot="0">
              <a:off x="0" y="0"/>
              <a:ext cx="2842006" cy="621792"/>
            </a:xfrm>
            <a:custGeom>
              <a:avLst/>
              <a:gdLst/>
              <a:ahLst/>
              <a:cxnLst/>
              <a:rect r="r" b="b" t="t" l="l"/>
              <a:pathLst>
                <a:path h="621792" w="2842006">
                  <a:moveTo>
                    <a:pt x="0" y="310896"/>
                  </a:moveTo>
                  <a:cubicBezTo>
                    <a:pt x="0" y="139192"/>
                    <a:pt x="139192" y="0"/>
                    <a:pt x="310896" y="0"/>
                  </a:cubicBezTo>
                  <a:lnTo>
                    <a:pt x="2531110" y="0"/>
                  </a:lnTo>
                  <a:cubicBezTo>
                    <a:pt x="2702814" y="0"/>
                    <a:pt x="2842006" y="139192"/>
                    <a:pt x="2842006" y="310896"/>
                  </a:cubicBezTo>
                  <a:cubicBezTo>
                    <a:pt x="2842006" y="482600"/>
                    <a:pt x="2702814" y="621792"/>
                    <a:pt x="2531110" y="621792"/>
                  </a:cubicBezTo>
                  <a:lnTo>
                    <a:pt x="310896" y="621792"/>
                  </a:lnTo>
                  <a:cubicBezTo>
                    <a:pt x="139192" y="621792"/>
                    <a:pt x="0" y="482600"/>
                    <a:pt x="0" y="310896"/>
                  </a:cubicBezTo>
                  <a:close/>
                </a:path>
              </a:pathLst>
            </a:custGeom>
            <a:solidFill>
              <a:srgbClr val="EEF4F4"/>
            </a:solidFill>
          </p:spPr>
        </p:sp>
      </p:grpSp>
      <p:grpSp>
        <p:nvGrpSpPr>
          <p:cNvPr name="Group 31" id="31"/>
          <p:cNvGrpSpPr/>
          <p:nvPr/>
        </p:nvGrpSpPr>
        <p:grpSpPr>
          <a:xfrm rot="0">
            <a:off x="4367174" y="4276725"/>
            <a:ext cx="2131466" cy="466344"/>
            <a:chOff x="0" y="0"/>
            <a:chExt cx="2841955" cy="621792"/>
          </a:xfrm>
        </p:grpSpPr>
        <p:sp>
          <p:nvSpPr>
            <p:cNvPr name="Freeform 32" id="32"/>
            <p:cNvSpPr/>
            <p:nvPr/>
          </p:nvSpPr>
          <p:spPr>
            <a:xfrm flipH="false" flipV="false" rot="0">
              <a:off x="0" y="0"/>
              <a:ext cx="2841956" cy="621792"/>
            </a:xfrm>
            <a:custGeom>
              <a:avLst/>
              <a:gdLst/>
              <a:ahLst/>
              <a:cxnLst/>
              <a:rect r="r" b="b" t="t" l="l"/>
              <a:pathLst>
                <a:path h="621792" w="2841956">
                  <a:moveTo>
                    <a:pt x="0" y="0"/>
                  </a:moveTo>
                  <a:lnTo>
                    <a:pt x="2841956" y="0"/>
                  </a:lnTo>
                  <a:lnTo>
                    <a:pt x="2841956" y="621792"/>
                  </a:lnTo>
                  <a:lnTo>
                    <a:pt x="0" y="621792"/>
                  </a:lnTo>
                  <a:close/>
                </a:path>
              </a:pathLst>
            </a:custGeom>
            <a:blipFill>
              <a:blip r:embed="rId8">
                <a:alphaModFix amt="0"/>
              </a:blip>
              <a:stretch>
                <a:fillRect l="0" t="-39058" r="0" b="-39058"/>
              </a:stretch>
            </a:blipFill>
          </p:spPr>
        </p:sp>
        <p:sp>
          <p:nvSpPr>
            <p:cNvPr name="TextBox 33" id="33"/>
            <p:cNvSpPr txBox="true"/>
            <p:nvPr/>
          </p:nvSpPr>
          <p:spPr>
            <a:xfrm>
              <a:off x="0" y="-9525"/>
              <a:ext cx="2841955" cy="631317"/>
            </a:xfrm>
            <a:prstGeom prst="rect">
              <a:avLst/>
            </a:prstGeom>
          </p:spPr>
          <p:txBody>
            <a:bodyPr anchor="ctr" rtlCol="false" tIns="0" lIns="0" bIns="0" rIns="0"/>
            <a:lstStyle/>
            <a:p>
              <a:pPr algn="ctr">
                <a:lnSpc>
                  <a:spcPts val="1889"/>
                </a:lnSpc>
              </a:pPr>
              <a:r>
                <a:rPr lang="en-US" sz="1575" b="true">
                  <a:solidFill>
                    <a:srgbClr val="0A1A23"/>
                  </a:solidFill>
                  <a:latin typeface="Poppins Bold"/>
                  <a:ea typeface="Poppins Bold"/>
                  <a:cs typeface="Poppins Bold"/>
                  <a:sym typeface="Poppins Bold"/>
                </a:rPr>
                <a:t>24 rows</a:t>
              </a:r>
            </a:p>
          </p:txBody>
        </p:sp>
      </p:grpSp>
      <p:sp>
        <p:nvSpPr>
          <p:cNvPr name="TextBox 34" id="34"/>
          <p:cNvSpPr txBox="true"/>
          <p:nvPr/>
        </p:nvSpPr>
        <p:spPr>
          <a:xfrm rot="0">
            <a:off x="4257446" y="4914900"/>
            <a:ext cx="2350922" cy="1282065"/>
          </a:xfrm>
          <a:prstGeom prst="rect">
            <a:avLst/>
          </a:prstGeom>
        </p:spPr>
        <p:txBody>
          <a:bodyPr anchor="t" rtlCol="false" tIns="0" lIns="0" bIns="0" rIns="0">
            <a:spAutoFit/>
          </a:bodyPr>
          <a:lstStyle/>
          <a:p>
            <a:pPr algn="ctr">
              <a:lnSpc>
                <a:spcPts val="2268"/>
              </a:lnSpc>
            </a:pPr>
            <a:r>
              <a:rPr lang="en-US" sz="1575">
                <a:solidFill>
                  <a:srgbClr val="475569"/>
                </a:solidFill>
                <a:latin typeface="Poppins"/>
                <a:ea typeface="Poppins"/>
                <a:cs typeface="Poppins"/>
                <a:sym typeface="Poppins"/>
              </a:rPr>
              <a:t>one row per route</a:t>
            </a:r>
          </a:p>
        </p:txBody>
      </p:sp>
      <p:grpSp>
        <p:nvGrpSpPr>
          <p:cNvPr name="Group 35" id="35"/>
          <p:cNvGrpSpPr/>
          <p:nvPr/>
        </p:nvGrpSpPr>
        <p:grpSpPr>
          <a:xfrm rot="0">
            <a:off x="7102145" y="2562225"/>
            <a:ext cx="2734970" cy="3977640"/>
            <a:chOff x="0" y="0"/>
            <a:chExt cx="3646627" cy="5303520"/>
          </a:xfrm>
        </p:grpSpPr>
        <p:sp>
          <p:nvSpPr>
            <p:cNvPr name="Freeform 36" id="36"/>
            <p:cNvSpPr/>
            <p:nvPr/>
          </p:nvSpPr>
          <p:spPr>
            <a:xfrm flipH="false" flipV="false" rot="0">
              <a:off x="0" y="0"/>
              <a:ext cx="3646678" cy="5303520"/>
            </a:xfrm>
            <a:custGeom>
              <a:avLst/>
              <a:gdLst/>
              <a:ahLst/>
              <a:cxnLst/>
              <a:rect r="r" b="b" t="t" l="l"/>
              <a:pathLst>
                <a:path h="5303520" w="3646678">
                  <a:moveTo>
                    <a:pt x="0" y="182880"/>
                  </a:moveTo>
                  <a:cubicBezTo>
                    <a:pt x="0" y="81915"/>
                    <a:pt x="81915" y="0"/>
                    <a:pt x="182880" y="0"/>
                  </a:cubicBezTo>
                  <a:lnTo>
                    <a:pt x="3463798" y="0"/>
                  </a:lnTo>
                  <a:cubicBezTo>
                    <a:pt x="3564763" y="0"/>
                    <a:pt x="3646678" y="81915"/>
                    <a:pt x="3646678" y="182880"/>
                  </a:cubicBezTo>
                  <a:lnTo>
                    <a:pt x="3646678" y="5120640"/>
                  </a:lnTo>
                  <a:cubicBezTo>
                    <a:pt x="3646678" y="5221605"/>
                    <a:pt x="3564763" y="5303520"/>
                    <a:pt x="3463798" y="5303520"/>
                  </a:cubicBezTo>
                  <a:lnTo>
                    <a:pt x="182880" y="5303520"/>
                  </a:lnTo>
                  <a:cubicBezTo>
                    <a:pt x="81915" y="5303520"/>
                    <a:pt x="0" y="5221605"/>
                    <a:pt x="0" y="5120640"/>
                  </a:cubicBezTo>
                  <a:close/>
                </a:path>
              </a:pathLst>
            </a:custGeom>
            <a:solidFill>
              <a:srgbClr val="FFFFFF"/>
            </a:solidFill>
          </p:spPr>
        </p:sp>
      </p:grpSp>
      <p:grpSp>
        <p:nvGrpSpPr>
          <p:cNvPr name="Group 37" id="37"/>
          <p:cNvGrpSpPr/>
          <p:nvPr/>
        </p:nvGrpSpPr>
        <p:grpSpPr>
          <a:xfrm rot="0">
            <a:off x="7083095" y="2543175"/>
            <a:ext cx="2773070" cy="4015740"/>
            <a:chOff x="0" y="0"/>
            <a:chExt cx="3697427" cy="5354320"/>
          </a:xfrm>
        </p:grpSpPr>
        <p:sp>
          <p:nvSpPr>
            <p:cNvPr name="Freeform 38" id="38"/>
            <p:cNvSpPr/>
            <p:nvPr/>
          </p:nvSpPr>
          <p:spPr>
            <a:xfrm flipH="false" flipV="false" rot="0">
              <a:off x="0" y="0"/>
              <a:ext cx="3697478" cy="5354320"/>
            </a:xfrm>
            <a:custGeom>
              <a:avLst/>
              <a:gdLst/>
              <a:ahLst/>
              <a:cxnLst/>
              <a:rect r="r" b="b" t="t" l="l"/>
              <a:pathLst>
                <a:path h="5354320" w="3697478">
                  <a:moveTo>
                    <a:pt x="0" y="185420"/>
                  </a:moveTo>
                  <a:cubicBezTo>
                    <a:pt x="0" y="83058"/>
                    <a:pt x="83058" y="0"/>
                    <a:pt x="185420" y="0"/>
                  </a:cubicBezTo>
                  <a:lnTo>
                    <a:pt x="3512058" y="0"/>
                  </a:lnTo>
                  <a:cubicBezTo>
                    <a:pt x="3614420" y="0"/>
                    <a:pt x="3697478" y="83058"/>
                    <a:pt x="3697478" y="185420"/>
                  </a:cubicBezTo>
                  <a:lnTo>
                    <a:pt x="3697478" y="5168900"/>
                  </a:lnTo>
                  <a:cubicBezTo>
                    <a:pt x="3697478" y="5271262"/>
                    <a:pt x="3614420" y="5354320"/>
                    <a:pt x="3512058" y="5354320"/>
                  </a:cubicBezTo>
                  <a:lnTo>
                    <a:pt x="185420" y="5354320"/>
                  </a:lnTo>
                  <a:cubicBezTo>
                    <a:pt x="83058" y="5354320"/>
                    <a:pt x="0" y="5271262"/>
                    <a:pt x="0" y="5168900"/>
                  </a:cubicBezTo>
                  <a:close/>
                </a:path>
              </a:pathLst>
            </a:custGeom>
            <a:blipFill>
              <a:blip r:embed="rId8">
                <a:alphaModFix amt="0"/>
              </a:blip>
              <a:stretch>
                <a:fillRect l="-135797" t="0" r="-135795" b="0"/>
              </a:stretch>
            </a:blipFill>
            <a:ln w="38100" cap="sq">
              <a:solidFill>
                <a:srgbClr val="387F7F"/>
              </a:solidFill>
              <a:prstDash val="solid"/>
              <a:miter/>
            </a:ln>
          </p:spPr>
        </p:sp>
      </p:grpSp>
      <p:grpSp>
        <p:nvGrpSpPr>
          <p:cNvPr name="Group 39" id="39"/>
          <p:cNvGrpSpPr/>
          <p:nvPr/>
        </p:nvGrpSpPr>
        <p:grpSpPr>
          <a:xfrm rot="0">
            <a:off x="7619238" y="2342769"/>
            <a:ext cx="1700784" cy="438912"/>
            <a:chOff x="0" y="0"/>
            <a:chExt cx="2267712" cy="585216"/>
          </a:xfrm>
        </p:grpSpPr>
        <p:sp>
          <p:nvSpPr>
            <p:cNvPr name="Freeform 40" id="40"/>
            <p:cNvSpPr/>
            <p:nvPr/>
          </p:nvSpPr>
          <p:spPr>
            <a:xfrm flipH="false" flipV="false" rot="0">
              <a:off x="0" y="0"/>
              <a:ext cx="2267712" cy="585216"/>
            </a:xfrm>
            <a:custGeom>
              <a:avLst/>
              <a:gdLst/>
              <a:ahLst/>
              <a:cxnLst/>
              <a:rect r="r" b="b" t="t" l="l"/>
              <a:pathLst>
                <a:path h="585216" w="2267712">
                  <a:moveTo>
                    <a:pt x="0" y="292608"/>
                  </a:moveTo>
                  <a:cubicBezTo>
                    <a:pt x="0" y="131064"/>
                    <a:pt x="131064" y="0"/>
                    <a:pt x="292608" y="0"/>
                  </a:cubicBezTo>
                  <a:lnTo>
                    <a:pt x="1975104" y="0"/>
                  </a:lnTo>
                  <a:cubicBezTo>
                    <a:pt x="2136648" y="0"/>
                    <a:pt x="2267712" y="131064"/>
                    <a:pt x="2267712" y="292608"/>
                  </a:cubicBezTo>
                  <a:cubicBezTo>
                    <a:pt x="2267712" y="454152"/>
                    <a:pt x="2136648" y="585216"/>
                    <a:pt x="1975104" y="585216"/>
                  </a:cubicBezTo>
                  <a:lnTo>
                    <a:pt x="292608" y="585216"/>
                  </a:lnTo>
                  <a:cubicBezTo>
                    <a:pt x="131064" y="585216"/>
                    <a:pt x="0" y="454152"/>
                    <a:pt x="0" y="292608"/>
                  </a:cubicBezTo>
                  <a:close/>
                </a:path>
              </a:pathLst>
            </a:custGeom>
            <a:solidFill>
              <a:srgbClr val="387F7F"/>
            </a:solidFill>
          </p:spPr>
        </p:sp>
      </p:grpSp>
      <p:grpSp>
        <p:nvGrpSpPr>
          <p:cNvPr name="Group 41" id="41"/>
          <p:cNvGrpSpPr/>
          <p:nvPr/>
        </p:nvGrpSpPr>
        <p:grpSpPr>
          <a:xfrm rot="0">
            <a:off x="7619238" y="2342769"/>
            <a:ext cx="1700784" cy="438912"/>
            <a:chOff x="0" y="0"/>
            <a:chExt cx="2267712" cy="585216"/>
          </a:xfrm>
        </p:grpSpPr>
        <p:sp>
          <p:nvSpPr>
            <p:cNvPr name="Freeform 42" id="42"/>
            <p:cNvSpPr/>
            <p:nvPr/>
          </p:nvSpPr>
          <p:spPr>
            <a:xfrm flipH="false" flipV="false" rot="0">
              <a:off x="0" y="0"/>
              <a:ext cx="2267712" cy="585216"/>
            </a:xfrm>
            <a:custGeom>
              <a:avLst/>
              <a:gdLst/>
              <a:ahLst/>
              <a:cxnLst/>
              <a:rect r="r" b="b" t="t" l="l"/>
              <a:pathLst>
                <a:path h="585216" w="2267712">
                  <a:moveTo>
                    <a:pt x="0" y="0"/>
                  </a:moveTo>
                  <a:lnTo>
                    <a:pt x="2267712" y="0"/>
                  </a:lnTo>
                  <a:lnTo>
                    <a:pt x="2267712" y="585216"/>
                  </a:lnTo>
                  <a:lnTo>
                    <a:pt x="0" y="585216"/>
                  </a:lnTo>
                  <a:close/>
                </a:path>
              </a:pathLst>
            </a:custGeom>
            <a:blipFill>
              <a:blip r:embed="rId8">
                <a:alphaModFix amt="0"/>
              </a:blip>
              <a:stretch>
                <a:fillRect l="0" t="-25504" r="0" b="-25504"/>
              </a:stretch>
            </a:blipFill>
          </p:spPr>
        </p:sp>
        <p:sp>
          <p:nvSpPr>
            <p:cNvPr name="TextBox 43" id="43"/>
            <p:cNvSpPr txBox="true"/>
            <p:nvPr/>
          </p:nvSpPr>
          <p:spPr>
            <a:xfrm>
              <a:off x="0" y="-9525"/>
              <a:ext cx="2267712" cy="594741"/>
            </a:xfrm>
            <a:prstGeom prst="rect">
              <a:avLst/>
            </a:prstGeom>
          </p:spPr>
          <p:txBody>
            <a:bodyPr anchor="ctr" rtlCol="false" tIns="0" lIns="0" bIns="0" rIns="0"/>
            <a:lstStyle/>
            <a:p>
              <a:pPr algn="ctr">
                <a:lnSpc>
                  <a:spcPts val="1530"/>
                </a:lnSpc>
              </a:pPr>
              <a:r>
                <a:rPr lang="en-US" sz="1275" b="true">
                  <a:solidFill>
                    <a:srgbClr val="FFFFFF"/>
                  </a:solidFill>
                  <a:latin typeface="Poppins Bold"/>
                  <a:ea typeface="Poppins Bold"/>
                  <a:cs typeface="Poppins Bold"/>
                  <a:sym typeface="Poppins Bold"/>
                </a:rPr>
                <a:t>FACT TABLE</a:t>
              </a:r>
            </a:p>
          </p:txBody>
        </p:sp>
      </p:grpSp>
      <p:grpSp>
        <p:nvGrpSpPr>
          <p:cNvPr name="Group 44" id="44"/>
          <p:cNvGrpSpPr/>
          <p:nvPr/>
        </p:nvGrpSpPr>
        <p:grpSpPr>
          <a:xfrm rot="0">
            <a:off x="7294169" y="3001137"/>
            <a:ext cx="2350922" cy="850392"/>
            <a:chOff x="0" y="0"/>
            <a:chExt cx="3134563" cy="1133856"/>
          </a:xfrm>
        </p:grpSpPr>
        <p:sp>
          <p:nvSpPr>
            <p:cNvPr name="Freeform 45" id="45"/>
            <p:cNvSpPr/>
            <p:nvPr/>
          </p:nvSpPr>
          <p:spPr>
            <a:xfrm flipH="false" flipV="false" rot="0">
              <a:off x="0" y="0"/>
              <a:ext cx="3134564" cy="1133856"/>
            </a:xfrm>
            <a:custGeom>
              <a:avLst/>
              <a:gdLst/>
              <a:ahLst/>
              <a:cxnLst/>
              <a:rect r="r" b="b" t="t" l="l"/>
              <a:pathLst>
                <a:path h="1133856" w="3134564">
                  <a:moveTo>
                    <a:pt x="0" y="0"/>
                  </a:moveTo>
                  <a:lnTo>
                    <a:pt x="3134564" y="0"/>
                  </a:lnTo>
                  <a:lnTo>
                    <a:pt x="3134564" y="1133856"/>
                  </a:lnTo>
                  <a:lnTo>
                    <a:pt x="0" y="1133856"/>
                  </a:lnTo>
                  <a:close/>
                </a:path>
              </a:pathLst>
            </a:custGeom>
            <a:blipFill>
              <a:blip r:embed="rId8">
                <a:alphaModFix amt="0"/>
              </a:blip>
              <a:stretch>
                <a:fillRect l="0" t="-3866" r="0" b="-3866"/>
              </a:stretch>
            </a:blipFill>
          </p:spPr>
        </p:sp>
        <p:sp>
          <p:nvSpPr>
            <p:cNvPr name="TextBox 46" id="46"/>
            <p:cNvSpPr txBox="true"/>
            <p:nvPr/>
          </p:nvSpPr>
          <p:spPr>
            <a:xfrm>
              <a:off x="0" y="-38100"/>
              <a:ext cx="3134563" cy="1171956"/>
            </a:xfrm>
            <a:prstGeom prst="rect">
              <a:avLst/>
            </a:prstGeom>
          </p:spPr>
          <p:txBody>
            <a:bodyPr anchor="ctr" rtlCol="false" tIns="0" lIns="0" bIns="0" rIns="0"/>
            <a:lstStyle/>
            <a:p>
              <a:pPr algn="ctr">
                <a:lnSpc>
                  <a:spcPts val="2376"/>
                </a:lnSpc>
              </a:pPr>
              <a:r>
                <a:rPr lang="en-US" sz="1800" b="true">
                  <a:solidFill>
                    <a:srgbClr val="387F7F"/>
                  </a:solidFill>
                  <a:latin typeface="Poppins Bold"/>
                  <a:ea typeface="Poppins Bold"/>
                  <a:cs typeface="Poppins Bold"/>
                  <a:sym typeface="Poppins Bold"/>
                </a:rPr>
                <a:t>swiftroute_</a:t>
              </a:r>
            </a:p>
            <a:p>
              <a:pPr algn="ctr">
                <a:lnSpc>
                  <a:spcPts val="2376"/>
                </a:lnSpc>
              </a:pPr>
              <a:r>
                <a:rPr lang="en-US" sz="1800" b="true">
                  <a:solidFill>
                    <a:srgbClr val="387F7F"/>
                  </a:solidFill>
                  <a:latin typeface="Poppins Bold"/>
                  <a:ea typeface="Poppins Bold"/>
                  <a:cs typeface="Poppins Bold"/>
                  <a:sym typeface="Poppins Bold"/>
                </a:rPr>
                <a:t>deliveries.csv</a:t>
              </a:r>
            </a:p>
          </p:txBody>
        </p:sp>
      </p:grpSp>
      <p:grpSp>
        <p:nvGrpSpPr>
          <p:cNvPr name="Group 47" id="47"/>
          <p:cNvGrpSpPr/>
          <p:nvPr/>
        </p:nvGrpSpPr>
        <p:grpSpPr>
          <a:xfrm rot="0">
            <a:off x="7403897" y="4002405"/>
            <a:ext cx="2131466" cy="466344"/>
            <a:chOff x="0" y="0"/>
            <a:chExt cx="2841955" cy="621792"/>
          </a:xfrm>
        </p:grpSpPr>
        <p:sp>
          <p:nvSpPr>
            <p:cNvPr name="Freeform 48" id="48"/>
            <p:cNvSpPr/>
            <p:nvPr/>
          </p:nvSpPr>
          <p:spPr>
            <a:xfrm flipH="false" flipV="false" rot="0">
              <a:off x="0" y="0"/>
              <a:ext cx="2842006" cy="621792"/>
            </a:xfrm>
            <a:custGeom>
              <a:avLst/>
              <a:gdLst/>
              <a:ahLst/>
              <a:cxnLst/>
              <a:rect r="r" b="b" t="t" l="l"/>
              <a:pathLst>
                <a:path h="621792" w="2842006">
                  <a:moveTo>
                    <a:pt x="0" y="310896"/>
                  </a:moveTo>
                  <a:cubicBezTo>
                    <a:pt x="0" y="139192"/>
                    <a:pt x="139192" y="0"/>
                    <a:pt x="310896" y="0"/>
                  </a:cubicBezTo>
                  <a:lnTo>
                    <a:pt x="2531110" y="0"/>
                  </a:lnTo>
                  <a:cubicBezTo>
                    <a:pt x="2702814" y="0"/>
                    <a:pt x="2842006" y="139192"/>
                    <a:pt x="2842006" y="310896"/>
                  </a:cubicBezTo>
                  <a:cubicBezTo>
                    <a:pt x="2842006" y="482600"/>
                    <a:pt x="2702814" y="621792"/>
                    <a:pt x="2531110" y="621792"/>
                  </a:cubicBezTo>
                  <a:lnTo>
                    <a:pt x="310896" y="621792"/>
                  </a:lnTo>
                  <a:cubicBezTo>
                    <a:pt x="139192" y="621792"/>
                    <a:pt x="0" y="482600"/>
                    <a:pt x="0" y="310896"/>
                  </a:cubicBezTo>
                  <a:close/>
                </a:path>
              </a:pathLst>
            </a:custGeom>
            <a:solidFill>
              <a:srgbClr val="EEF4F4"/>
            </a:solidFill>
          </p:spPr>
        </p:sp>
      </p:grpSp>
      <p:grpSp>
        <p:nvGrpSpPr>
          <p:cNvPr name="Group 49" id="49"/>
          <p:cNvGrpSpPr/>
          <p:nvPr/>
        </p:nvGrpSpPr>
        <p:grpSpPr>
          <a:xfrm rot="0">
            <a:off x="7403897" y="4002405"/>
            <a:ext cx="2131466" cy="466344"/>
            <a:chOff x="0" y="0"/>
            <a:chExt cx="2841955" cy="621792"/>
          </a:xfrm>
        </p:grpSpPr>
        <p:sp>
          <p:nvSpPr>
            <p:cNvPr name="Freeform 50" id="50"/>
            <p:cNvSpPr/>
            <p:nvPr/>
          </p:nvSpPr>
          <p:spPr>
            <a:xfrm flipH="false" flipV="false" rot="0">
              <a:off x="0" y="0"/>
              <a:ext cx="2841956" cy="621792"/>
            </a:xfrm>
            <a:custGeom>
              <a:avLst/>
              <a:gdLst/>
              <a:ahLst/>
              <a:cxnLst/>
              <a:rect r="r" b="b" t="t" l="l"/>
              <a:pathLst>
                <a:path h="621792" w="2841956">
                  <a:moveTo>
                    <a:pt x="0" y="0"/>
                  </a:moveTo>
                  <a:lnTo>
                    <a:pt x="2841956" y="0"/>
                  </a:lnTo>
                  <a:lnTo>
                    <a:pt x="2841956" y="621792"/>
                  </a:lnTo>
                  <a:lnTo>
                    <a:pt x="0" y="621792"/>
                  </a:lnTo>
                  <a:close/>
                </a:path>
              </a:pathLst>
            </a:custGeom>
            <a:blipFill>
              <a:blip r:embed="rId8">
                <a:alphaModFix amt="0"/>
              </a:blip>
              <a:stretch>
                <a:fillRect l="0" t="-39058" r="0" b="-39058"/>
              </a:stretch>
            </a:blipFill>
          </p:spPr>
        </p:sp>
        <p:sp>
          <p:nvSpPr>
            <p:cNvPr name="TextBox 51" id="51"/>
            <p:cNvSpPr txBox="true"/>
            <p:nvPr/>
          </p:nvSpPr>
          <p:spPr>
            <a:xfrm>
              <a:off x="0" y="-9525"/>
              <a:ext cx="2841955" cy="631317"/>
            </a:xfrm>
            <a:prstGeom prst="rect">
              <a:avLst/>
            </a:prstGeom>
          </p:spPr>
          <p:txBody>
            <a:bodyPr anchor="ctr" rtlCol="false" tIns="0" lIns="0" bIns="0" rIns="0"/>
            <a:lstStyle/>
            <a:p>
              <a:pPr algn="ctr">
                <a:lnSpc>
                  <a:spcPts val="1889"/>
                </a:lnSpc>
              </a:pPr>
              <a:r>
                <a:rPr lang="en-US" sz="1575" b="true">
                  <a:solidFill>
                    <a:srgbClr val="0A1A23"/>
                  </a:solidFill>
                  <a:latin typeface="Poppins Bold"/>
                  <a:ea typeface="Poppins Bold"/>
                  <a:cs typeface="Poppins Bold"/>
                  <a:sym typeface="Poppins Bold"/>
                </a:rPr>
                <a:t>41,280 rows</a:t>
              </a:r>
            </a:p>
          </p:txBody>
        </p:sp>
      </p:grpSp>
      <p:sp>
        <p:nvSpPr>
          <p:cNvPr name="TextBox 52" id="52"/>
          <p:cNvSpPr txBox="true"/>
          <p:nvPr/>
        </p:nvSpPr>
        <p:spPr>
          <a:xfrm rot="0">
            <a:off x="7294169" y="4640580"/>
            <a:ext cx="2350922" cy="1282065"/>
          </a:xfrm>
          <a:prstGeom prst="rect">
            <a:avLst/>
          </a:prstGeom>
        </p:spPr>
        <p:txBody>
          <a:bodyPr anchor="t" rtlCol="false" tIns="0" lIns="0" bIns="0" rIns="0">
            <a:spAutoFit/>
          </a:bodyPr>
          <a:lstStyle/>
          <a:p>
            <a:pPr algn="ctr">
              <a:lnSpc>
                <a:spcPts val="2268"/>
              </a:lnSpc>
            </a:pPr>
            <a:r>
              <a:rPr lang="en-US" sz="1575">
                <a:solidFill>
                  <a:srgbClr val="475569"/>
                </a:solidFill>
                <a:latin typeface="Poppins"/>
                <a:ea typeface="Poppins"/>
                <a:cs typeface="Poppins"/>
                <a:sym typeface="Poppins"/>
              </a:rPr>
              <a:t>one row per delivery, 2025</a:t>
            </a:r>
          </a:p>
        </p:txBody>
      </p:sp>
      <p:grpSp>
        <p:nvGrpSpPr>
          <p:cNvPr name="Group 53" id="53"/>
          <p:cNvGrpSpPr/>
          <p:nvPr/>
        </p:nvGrpSpPr>
        <p:grpSpPr>
          <a:xfrm rot="0">
            <a:off x="10138867" y="2836545"/>
            <a:ext cx="2734970" cy="3429000"/>
            <a:chOff x="0" y="0"/>
            <a:chExt cx="3646627" cy="4572000"/>
          </a:xfrm>
        </p:grpSpPr>
        <p:sp>
          <p:nvSpPr>
            <p:cNvPr name="Freeform 54" id="54"/>
            <p:cNvSpPr/>
            <p:nvPr/>
          </p:nvSpPr>
          <p:spPr>
            <a:xfrm flipH="false" flipV="false" rot="0">
              <a:off x="0" y="0"/>
              <a:ext cx="3646678" cy="4572000"/>
            </a:xfrm>
            <a:custGeom>
              <a:avLst/>
              <a:gdLst/>
              <a:ahLst/>
              <a:cxnLst/>
              <a:rect r="r" b="b" t="t" l="l"/>
              <a:pathLst>
                <a:path h="4572000" w="3646678">
                  <a:moveTo>
                    <a:pt x="0" y="182880"/>
                  </a:moveTo>
                  <a:cubicBezTo>
                    <a:pt x="0" y="81915"/>
                    <a:pt x="81915" y="0"/>
                    <a:pt x="182880" y="0"/>
                  </a:cubicBezTo>
                  <a:lnTo>
                    <a:pt x="3463798" y="0"/>
                  </a:lnTo>
                  <a:cubicBezTo>
                    <a:pt x="3564763" y="0"/>
                    <a:pt x="3646678" y="81915"/>
                    <a:pt x="3646678" y="182880"/>
                  </a:cubicBezTo>
                  <a:lnTo>
                    <a:pt x="3646678" y="4389120"/>
                  </a:lnTo>
                  <a:cubicBezTo>
                    <a:pt x="3646678" y="4490085"/>
                    <a:pt x="3564763" y="4572000"/>
                    <a:pt x="3463798" y="4572000"/>
                  </a:cubicBezTo>
                  <a:lnTo>
                    <a:pt x="182880" y="4572000"/>
                  </a:lnTo>
                  <a:cubicBezTo>
                    <a:pt x="81915" y="4572000"/>
                    <a:pt x="0" y="4490085"/>
                    <a:pt x="0" y="4389120"/>
                  </a:cubicBezTo>
                  <a:close/>
                </a:path>
              </a:pathLst>
            </a:custGeom>
            <a:solidFill>
              <a:srgbClr val="FFFFFF"/>
            </a:solidFill>
          </p:spPr>
        </p:sp>
      </p:grpSp>
      <p:grpSp>
        <p:nvGrpSpPr>
          <p:cNvPr name="Group 55" id="55"/>
          <p:cNvGrpSpPr/>
          <p:nvPr/>
        </p:nvGrpSpPr>
        <p:grpSpPr>
          <a:xfrm rot="0">
            <a:off x="10138867" y="2836545"/>
            <a:ext cx="2734970" cy="109728"/>
            <a:chOff x="0" y="0"/>
            <a:chExt cx="3646627" cy="146304"/>
          </a:xfrm>
        </p:grpSpPr>
        <p:sp>
          <p:nvSpPr>
            <p:cNvPr name="Freeform 56" id="56"/>
            <p:cNvSpPr/>
            <p:nvPr/>
          </p:nvSpPr>
          <p:spPr>
            <a:xfrm flipH="false" flipV="false" rot="0">
              <a:off x="0" y="0"/>
              <a:ext cx="3646678" cy="146304"/>
            </a:xfrm>
            <a:custGeom>
              <a:avLst/>
              <a:gdLst/>
              <a:ahLst/>
              <a:cxnLst/>
              <a:rect r="r" b="b" t="t" l="l"/>
              <a:pathLst>
                <a:path h="146304" w="3646678">
                  <a:moveTo>
                    <a:pt x="0" y="0"/>
                  </a:moveTo>
                  <a:lnTo>
                    <a:pt x="3646678" y="0"/>
                  </a:lnTo>
                  <a:lnTo>
                    <a:pt x="3646678" y="146304"/>
                  </a:lnTo>
                  <a:lnTo>
                    <a:pt x="0" y="146304"/>
                  </a:lnTo>
                  <a:close/>
                </a:path>
              </a:pathLst>
            </a:custGeom>
            <a:solidFill>
              <a:srgbClr val="7FB3B3"/>
            </a:solidFill>
          </p:spPr>
        </p:sp>
      </p:grpSp>
      <p:grpSp>
        <p:nvGrpSpPr>
          <p:cNvPr name="Group 57" id="57"/>
          <p:cNvGrpSpPr/>
          <p:nvPr/>
        </p:nvGrpSpPr>
        <p:grpSpPr>
          <a:xfrm rot="0">
            <a:off x="10330891" y="3275457"/>
            <a:ext cx="2350922" cy="850392"/>
            <a:chOff x="0" y="0"/>
            <a:chExt cx="3134563" cy="1133856"/>
          </a:xfrm>
        </p:grpSpPr>
        <p:sp>
          <p:nvSpPr>
            <p:cNvPr name="Freeform 58" id="58"/>
            <p:cNvSpPr/>
            <p:nvPr/>
          </p:nvSpPr>
          <p:spPr>
            <a:xfrm flipH="false" flipV="false" rot="0">
              <a:off x="0" y="0"/>
              <a:ext cx="3134564" cy="1133856"/>
            </a:xfrm>
            <a:custGeom>
              <a:avLst/>
              <a:gdLst/>
              <a:ahLst/>
              <a:cxnLst/>
              <a:rect r="r" b="b" t="t" l="l"/>
              <a:pathLst>
                <a:path h="1133856" w="3134564">
                  <a:moveTo>
                    <a:pt x="0" y="0"/>
                  </a:moveTo>
                  <a:lnTo>
                    <a:pt x="3134564" y="0"/>
                  </a:lnTo>
                  <a:lnTo>
                    <a:pt x="3134564" y="1133856"/>
                  </a:lnTo>
                  <a:lnTo>
                    <a:pt x="0" y="1133856"/>
                  </a:lnTo>
                  <a:close/>
                </a:path>
              </a:pathLst>
            </a:custGeom>
            <a:blipFill>
              <a:blip r:embed="rId8">
                <a:alphaModFix amt="0"/>
              </a:blip>
              <a:stretch>
                <a:fillRect l="0" t="-3866" r="0" b="-3866"/>
              </a:stretch>
            </a:blipFill>
          </p:spPr>
        </p:sp>
        <p:sp>
          <p:nvSpPr>
            <p:cNvPr name="TextBox 59" id="59"/>
            <p:cNvSpPr txBox="true"/>
            <p:nvPr/>
          </p:nvSpPr>
          <p:spPr>
            <a:xfrm>
              <a:off x="0" y="-28575"/>
              <a:ext cx="3134563" cy="1162431"/>
            </a:xfrm>
            <a:prstGeom prst="rect">
              <a:avLst/>
            </a:prstGeom>
          </p:spPr>
          <p:txBody>
            <a:bodyPr anchor="ctr" rtlCol="false" tIns="0" lIns="0" bIns="0" rIns="0"/>
            <a:lstStyle/>
            <a:p>
              <a:pPr algn="ctr">
                <a:lnSpc>
                  <a:spcPts val="2277"/>
                </a:lnSpc>
              </a:pPr>
              <a:r>
                <a:rPr lang="en-US" sz="1725" b="true">
                  <a:solidFill>
                    <a:srgbClr val="387F7F"/>
                  </a:solidFill>
                  <a:latin typeface="Poppins Bold"/>
                  <a:ea typeface="Poppins Bold"/>
                  <a:cs typeface="Poppins Bold"/>
                  <a:sym typeface="Poppins Bold"/>
                </a:rPr>
                <a:t>customers_</a:t>
              </a:r>
            </a:p>
            <a:p>
              <a:pPr algn="ctr">
                <a:lnSpc>
                  <a:spcPts val="2277"/>
                </a:lnSpc>
              </a:pPr>
              <a:r>
                <a:rPr lang="en-US" sz="1725" b="true">
                  <a:solidFill>
                    <a:srgbClr val="387F7F"/>
                  </a:solidFill>
                  <a:latin typeface="Poppins Bold"/>
                  <a:ea typeface="Poppins Bold"/>
                  <a:cs typeface="Poppins Bold"/>
                  <a:sym typeface="Poppins Bold"/>
                </a:rPr>
                <a:t>business.csv</a:t>
              </a:r>
            </a:p>
          </p:txBody>
        </p:sp>
      </p:grpSp>
      <p:grpSp>
        <p:nvGrpSpPr>
          <p:cNvPr name="Group 60" id="60"/>
          <p:cNvGrpSpPr/>
          <p:nvPr/>
        </p:nvGrpSpPr>
        <p:grpSpPr>
          <a:xfrm rot="0">
            <a:off x="10440619" y="4276725"/>
            <a:ext cx="2131466" cy="466344"/>
            <a:chOff x="0" y="0"/>
            <a:chExt cx="2841955" cy="621792"/>
          </a:xfrm>
        </p:grpSpPr>
        <p:sp>
          <p:nvSpPr>
            <p:cNvPr name="Freeform 61" id="61"/>
            <p:cNvSpPr/>
            <p:nvPr/>
          </p:nvSpPr>
          <p:spPr>
            <a:xfrm flipH="false" flipV="false" rot="0">
              <a:off x="0" y="0"/>
              <a:ext cx="2842006" cy="621792"/>
            </a:xfrm>
            <a:custGeom>
              <a:avLst/>
              <a:gdLst/>
              <a:ahLst/>
              <a:cxnLst/>
              <a:rect r="r" b="b" t="t" l="l"/>
              <a:pathLst>
                <a:path h="621792" w="2842006">
                  <a:moveTo>
                    <a:pt x="0" y="310896"/>
                  </a:moveTo>
                  <a:cubicBezTo>
                    <a:pt x="0" y="139192"/>
                    <a:pt x="139192" y="0"/>
                    <a:pt x="310896" y="0"/>
                  </a:cubicBezTo>
                  <a:lnTo>
                    <a:pt x="2531110" y="0"/>
                  </a:lnTo>
                  <a:cubicBezTo>
                    <a:pt x="2702814" y="0"/>
                    <a:pt x="2842006" y="139192"/>
                    <a:pt x="2842006" y="310896"/>
                  </a:cubicBezTo>
                  <a:cubicBezTo>
                    <a:pt x="2842006" y="482600"/>
                    <a:pt x="2702814" y="621792"/>
                    <a:pt x="2531110" y="621792"/>
                  </a:cubicBezTo>
                  <a:lnTo>
                    <a:pt x="310896" y="621792"/>
                  </a:lnTo>
                  <a:cubicBezTo>
                    <a:pt x="139192" y="621792"/>
                    <a:pt x="0" y="482600"/>
                    <a:pt x="0" y="310896"/>
                  </a:cubicBezTo>
                  <a:close/>
                </a:path>
              </a:pathLst>
            </a:custGeom>
            <a:solidFill>
              <a:srgbClr val="EEF4F4"/>
            </a:solidFill>
          </p:spPr>
        </p:sp>
      </p:grpSp>
      <p:grpSp>
        <p:nvGrpSpPr>
          <p:cNvPr name="Group 62" id="62"/>
          <p:cNvGrpSpPr/>
          <p:nvPr/>
        </p:nvGrpSpPr>
        <p:grpSpPr>
          <a:xfrm rot="0">
            <a:off x="10440619" y="4276725"/>
            <a:ext cx="2131466" cy="466344"/>
            <a:chOff x="0" y="0"/>
            <a:chExt cx="2841955" cy="621792"/>
          </a:xfrm>
        </p:grpSpPr>
        <p:sp>
          <p:nvSpPr>
            <p:cNvPr name="Freeform 63" id="63"/>
            <p:cNvSpPr/>
            <p:nvPr/>
          </p:nvSpPr>
          <p:spPr>
            <a:xfrm flipH="false" flipV="false" rot="0">
              <a:off x="0" y="0"/>
              <a:ext cx="2841956" cy="621792"/>
            </a:xfrm>
            <a:custGeom>
              <a:avLst/>
              <a:gdLst/>
              <a:ahLst/>
              <a:cxnLst/>
              <a:rect r="r" b="b" t="t" l="l"/>
              <a:pathLst>
                <a:path h="621792" w="2841956">
                  <a:moveTo>
                    <a:pt x="0" y="0"/>
                  </a:moveTo>
                  <a:lnTo>
                    <a:pt x="2841956" y="0"/>
                  </a:lnTo>
                  <a:lnTo>
                    <a:pt x="2841956" y="621792"/>
                  </a:lnTo>
                  <a:lnTo>
                    <a:pt x="0" y="621792"/>
                  </a:lnTo>
                  <a:close/>
                </a:path>
              </a:pathLst>
            </a:custGeom>
            <a:blipFill>
              <a:blip r:embed="rId8">
                <a:alphaModFix amt="0"/>
              </a:blip>
              <a:stretch>
                <a:fillRect l="0" t="-39058" r="0" b="-39058"/>
              </a:stretch>
            </a:blipFill>
          </p:spPr>
        </p:sp>
        <p:sp>
          <p:nvSpPr>
            <p:cNvPr name="TextBox 64" id="64"/>
            <p:cNvSpPr txBox="true"/>
            <p:nvPr/>
          </p:nvSpPr>
          <p:spPr>
            <a:xfrm>
              <a:off x="0" y="-9525"/>
              <a:ext cx="2841955" cy="631317"/>
            </a:xfrm>
            <a:prstGeom prst="rect">
              <a:avLst/>
            </a:prstGeom>
          </p:spPr>
          <p:txBody>
            <a:bodyPr anchor="ctr" rtlCol="false" tIns="0" lIns="0" bIns="0" rIns="0"/>
            <a:lstStyle/>
            <a:p>
              <a:pPr algn="ctr">
                <a:lnSpc>
                  <a:spcPts val="1889"/>
                </a:lnSpc>
              </a:pPr>
              <a:r>
                <a:rPr lang="en-US" sz="1575" b="true">
                  <a:solidFill>
                    <a:srgbClr val="0A1A23"/>
                  </a:solidFill>
                  <a:latin typeface="Poppins Bold"/>
                  <a:ea typeface="Poppins Bold"/>
                  <a:cs typeface="Poppins Bold"/>
                  <a:sym typeface="Poppins Bold"/>
                </a:rPr>
                <a:t>310 rows</a:t>
              </a:r>
            </a:p>
          </p:txBody>
        </p:sp>
      </p:grpSp>
      <p:sp>
        <p:nvSpPr>
          <p:cNvPr name="TextBox 65" id="65"/>
          <p:cNvSpPr txBox="true"/>
          <p:nvPr/>
        </p:nvSpPr>
        <p:spPr>
          <a:xfrm rot="0">
            <a:off x="10330891" y="4914900"/>
            <a:ext cx="2350922" cy="1282065"/>
          </a:xfrm>
          <a:prstGeom prst="rect">
            <a:avLst/>
          </a:prstGeom>
        </p:spPr>
        <p:txBody>
          <a:bodyPr anchor="t" rtlCol="false" tIns="0" lIns="0" bIns="0" rIns="0">
            <a:spAutoFit/>
          </a:bodyPr>
          <a:lstStyle/>
          <a:p>
            <a:pPr algn="ctr">
              <a:lnSpc>
                <a:spcPts val="2268"/>
              </a:lnSpc>
            </a:pPr>
            <a:r>
              <a:rPr lang="en-US" sz="1575">
                <a:solidFill>
                  <a:srgbClr val="475569"/>
                </a:solidFill>
                <a:latin typeface="Poppins"/>
                <a:ea typeface="Poppins"/>
                <a:cs typeface="Poppins"/>
                <a:sym typeface="Poppins"/>
              </a:rPr>
              <a:t>one row per business account</a:t>
            </a:r>
          </a:p>
        </p:txBody>
      </p:sp>
      <p:grpSp>
        <p:nvGrpSpPr>
          <p:cNvPr name="Group 66" id="66"/>
          <p:cNvGrpSpPr/>
          <p:nvPr/>
        </p:nvGrpSpPr>
        <p:grpSpPr>
          <a:xfrm rot="0">
            <a:off x="13175590" y="2836545"/>
            <a:ext cx="2734970" cy="3429000"/>
            <a:chOff x="0" y="0"/>
            <a:chExt cx="3646627" cy="4572000"/>
          </a:xfrm>
        </p:grpSpPr>
        <p:sp>
          <p:nvSpPr>
            <p:cNvPr name="Freeform 67" id="67"/>
            <p:cNvSpPr/>
            <p:nvPr/>
          </p:nvSpPr>
          <p:spPr>
            <a:xfrm flipH="false" flipV="false" rot="0">
              <a:off x="0" y="0"/>
              <a:ext cx="3646678" cy="4572000"/>
            </a:xfrm>
            <a:custGeom>
              <a:avLst/>
              <a:gdLst/>
              <a:ahLst/>
              <a:cxnLst/>
              <a:rect r="r" b="b" t="t" l="l"/>
              <a:pathLst>
                <a:path h="4572000" w="3646678">
                  <a:moveTo>
                    <a:pt x="0" y="182880"/>
                  </a:moveTo>
                  <a:cubicBezTo>
                    <a:pt x="0" y="81915"/>
                    <a:pt x="81915" y="0"/>
                    <a:pt x="182880" y="0"/>
                  </a:cubicBezTo>
                  <a:lnTo>
                    <a:pt x="3463798" y="0"/>
                  </a:lnTo>
                  <a:cubicBezTo>
                    <a:pt x="3564763" y="0"/>
                    <a:pt x="3646678" y="81915"/>
                    <a:pt x="3646678" y="182880"/>
                  </a:cubicBezTo>
                  <a:lnTo>
                    <a:pt x="3646678" y="4389120"/>
                  </a:lnTo>
                  <a:cubicBezTo>
                    <a:pt x="3646678" y="4490085"/>
                    <a:pt x="3564763" y="4572000"/>
                    <a:pt x="3463798" y="4572000"/>
                  </a:cubicBezTo>
                  <a:lnTo>
                    <a:pt x="182880" y="4572000"/>
                  </a:lnTo>
                  <a:cubicBezTo>
                    <a:pt x="81915" y="4572000"/>
                    <a:pt x="0" y="4490085"/>
                    <a:pt x="0" y="4389120"/>
                  </a:cubicBezTo>
                  <a:close/>
                </a:path>
              </a:pathLst>
            </a:custGeom>
            <a:solidFill>
              <a:srgbClr val="FFFFFF"/>
            </a:solidFill>
          </p:spPr>
        </p:sp>
      </p:grpSp>
      <p:grpSp>
        <p:nvGrpSpPr>
          <p:cNvPr name="Group 68" id="68"/>
          <p:cNvGrpSpPr/>
          <p:nvPr/>
        </p:nvGrpSpPr>
        <p:grpSpPr>
          <a:xfrm rot="0">
            <a:off x="13175590" y="2836545"/>
            <a:ext cx="2734970" cy="109728"/>
            <a:chOff x="0" y="0"/>
            <a:chExt cx="3646627" cy="146304"/>
          </a:xfrm>
        </p:grpSpPr>
        <p:sp>
          <p:nvSpPr>
            <p:cNvPr name="Freeform 69" id="69"/>
            <p:cNvSpPr/>
            <p:nvPr/>
          </p:nvSpPr>
          <p:spPr>
            <a:xfrm flipH="false" flipV="false" rot="0">
              <a:off x="0" y="0"/>
              <a:ext cx="3646678" cy="146304"/>
            </a:xfrm>
            <a:custGeom>
              <a:avLst/>
              <a:gdLst/>
              <a:ahLst/>
              <a:cxnLst/>
              <a:rect r="r" b="b" t="t" l="l"/>
              <a:pathLst>
                <a:path h="146304" w="3646678">
                  <a:moveTo>
                    <a:pt x="0" y="0"/>
                  </a:moveTo>
                  <a:lnTo>
                    <a:pt x="3646678" y="0"/>
                  </a:lnTo>
                  <a:lnTo>
                    <a:pt x="3646678" y="146304"/>
                  </a:lnTo>
                  <a:lnTo>
                    <a:pt x="0" y="146304"/>
                  </a:lnTo>
                  <a:close/>
                </a:path>
              </a:pathLst>
            </a:custGeom>
            <a:solidFill>
              <a:srgbClr val="7FB3B3"/>
            </a:solidFill>
          </p:spPr>
        </p:sp>
      </p:grpSp>
      <p:grpSp>
        <p:nvGrpSpPr>
          <p:cNvPr name="Group 70" id="70"/>
          <p:cNvGrpSpPr/>
          <p:nvPr/>
        </p:nvGrpSpPr>
        <p:grpSpPr>
          <a:xfrm rot="0">
            <a:off x="13367614" y="3275457"/>
            <a:ext cx="2350922" cy="850392"/>
            <a:chOff x="0" y="0"/>
            <a:chExt cx="3134563" cy="1133856"/>
          </a:xfrm>
        </p:grpSpPr>
        <p:sp>
          <p:nvSpPr>
            <p:cNvPr name="Freeform 71" id="71"/>
            <p:cNvSpPr/>
            <p:nvPr/>
          </p:nvSpPr>
          <p:spPr>
            <a:xfrm flipH="false" flipV="false" rot="0">
              <a:off x="0" y="0"/>
              <a:ext cx="3134564" cy="1133856"/>
            </a:xfrm>
            <a:custGeom>
              <a:avLst/>
              <a:gdLst/>
              <a:ahLst/>
              <a:cxnLst/>
              <a:rect r="r" b="b" t="t" l="l"/>
              <a:pathLst>
                <a:path h="1133856" w="3134564">
                  <a:moveTo>
                    <a:pt x="0" y="0"/>
                  </a:moveTo>
                  <a:lnTo>
                    <a:pt x="3134564" y="0"/>
                  </a:lnTo>
                  <a:lnTo>
                    <a:pt x="3134564" y="1133856"/>
                  </a:lnTo>
                  <a:lnTo>
                    <a:pt x="0" y="1133856"/>
                  </a:lnTo>
                  <a:close/>
                </a:path>
              </a:pathLst>
            </a:custGeom>
            <a:blipFill>
              <a:blip r:embed="rId8">
                <a:alphaModFix amt="0"/>
              </a:blip>
              <a:stretch>
                <a:fillRect l="0" t="-3866" r="0" b="-3866"/>
              </a:stretch>
            </a:blipFill>
          </p:spPr>
        </p:sp>
        <p:sp>
          <p:nvSpPr>
            <p:cNvPr name="TextBox 72" id="72"/>
            <p:cNvSpPr txBox="true"/>
            <p:nvPr/>
          </p:nvSpPr>
          <p:spPr>
            <a:xfrm>
              <a:off x="0" y="-28575"/>
              <a:ext cx="3134563" cy="1162431"/>
            </a:xfrm>
            <a:prstGeom prst="rect">
              <a:avLst/>
            </a:prstGeom>
          </p:spPr>
          <p:txBody>
            <a:bodyPr anchor="ctr" rtlCol="false" tIns="0" lIns="0" bIns="0" rIns="0"/>
            <a:lstStyle/>
            <a:p>
              <a:pPr algn="ctr">
                <a:lnSpc>
                  <a:spcPts val="2277"/>
                </a:lnSpc>
              </a:pPr>
              <a:r>
                <a:rPr lang="en-US" sz="1725" b="true">
                  <a:solidFill>
                    <a:srgbClr val="387F7F"/>
                  </a:solidFill>
                  <a:latin typeface="Poppins Bold"/>
                  <a:ea typeface="Poppins Bold"/>
                  <a:cs typeface="Poppins Bold"/>
                  <a:sym typeface="Poppins Bold"/>
                </a:rPr>
                <a:t>dates.csv</a:t>
              </a:r>
            </a:p>
          </p:txBody>
        </p:sp>
      </p:grpSp>
      <p:grpSp>
        <p:nvGrpSpPr>
          <p:cNvPr name="Group 73" id="73"/>
          <p:cNvGrpSpPr/>
          <p:nvPr/>
        </p:nvGrpSpPr>
        <p:grpSpPr>
          <a:xfrm rot="0">
            <a:off x="13477342" y="4276725"/>
            <a:ext cx="2131466" cy="466344"/>
            <a:chOff x="0" y="0"/>
            <a:chExt cx="2841955" cy="621792"/>
          </a:xfrm>
        </p:grpSpPr>
        <p:sp>
          <p:nvSpPr>
            <p:cNvPr name="Freeform 74" id="74"/>
            <p:cNvSpPr/>
            <p:nvPr/>
          </p:nvSpPr>
          <p:spPr>
            <a:xfrm flipH="false" flipV="false" rot="0">
              <a:off x="0" y="0"/>
              <a:ext cx="2842006" cy="621792"/>
            </a:xfrm>
            <a:custGeom>
              <a:avLst/>
              <a:gdLst/>
              <a:ahLst/>
              <a:cxnLst/>
              <a:rect r="r" b="b" t="t" l="l"/>
              <a:pathLst>
                <a:path h="621792" w="2842006">
                  <a:moveTo>
                    <a:pt x="0" y="310896"/>
                  </a:moveTo>
                  <a:cubicBezTo>
                    <a:pt x="0" y="139192"/>
                    <a:pt x="139192" y="0"/>
                    <a:pt x="310896" y="0"/>
                  </a:cubicBezTo>
                  <a:lnTo>
                    <a:pt x="2531110" y="0"/>
                  </a:lnTo>
                  <a:cubicBezTo>
                    <a:pt x="2702814" y="0"/>
                    <a:pt x="2842006" y="139192"/>
                    <a:pt x="2842006" y="310896"/>
                  </a:cubicBezTo>
                  <a:cubicBezTo>
                    <a:pt x="2842006" y="482600"/>
                    <a:pt x="2702814" y="621792"/>
                    <a:pt x="2531110" y="621792"/>
                  </a:cubicBezTo>
                  <a:lnTo>
                    <a:pt x="310896" y="621792"/>
                  </a:lnTo>
                  <a:cubicBezTo>
                    <a:pt x="139192" y="621792"/>
                    <a:pt x="0" y="482600"/>
                    <a:pt x="0" y="310896"/>
                  </a:cubicBezTo>
                  <a:close/>
                </a:path>
              </a:pathLst>
            </a:custGeom>
            <a:solidFill>
              <a:srgbClr val="EEF4F4"/>
            </a:solidFill>
          </p:spPr>
        </p:sp>
      </p:grpSp>
      <p:grpSp>
        <p:nvGrpSpPr>
          <p:cNvPr name="Group 75" id="75"/>
          <p:cNvGrpSpPr/>
          <p:nvPr/>
        </p:nvGrpSpPr>
        <p:grpSpPr>
          <a:xfrm rot="0">
            <a:off x="13477342" y="4276725"/>
            <a:ext cx="2131466" cy="466344"/>
            <a:chOff x="0" y="0"/>
            <a:chExt cx="2841955" cy="621792"/>
          </a:xfrm>
        </p:grpSpPr>
        <p:sp>
          <p:nvSpPr>
            <p:cNvPr name="Freeform 76" id="76"/>
            <p:cNvSpPr/>
            <p:nvPr/>
          </p:nvSpPr>
          <p:spPr>
            <a:xfrm flipH="false" flipV="false" rot="0">
              <a:off x="0" y="0"/>
              <a:ext cx="2841956" cy="621792"/>
            </a:xfrm>
            <a:custGeom>
              <a:avLst/>
              <a:gdLst/>
              <a:ahLst/>
              <a:cxnLst/>
              <a:rect r="r" b="b" t="t" l="l"/>
              <a:pathLst>
                <a:path h="621792" w="2841956">
                  <a:moveTo>
                    <a:pt x="0" y="0"/>
                  </a:moveTo>
                  <a:lnTo>
                    <a:pt x="2841956" y="0"/>
                  </a:lnTo>
                  <a:lnTo>
                    <a:pt x="2841956" y="621792"/>
                  </a:lnTo>
                  <a:lnTo>
                    <a:pt x="0" y="621792"/>
                  </a:lnTo>
                  <a:close/>
                </a:path>
              </a:pathLst>
            </a:custGeom>
            <a:blipFill>
              <a:blip r:embed="rId8">
                <a:alphaModFix amt="0"/>
              </a:blip>
              <a:stretch>
                <a:fillRect l="0" t="-39058" r="0" b="-39058"/>
              </a:stretch>
            </a:blipFill>
          </p:spPr>
        </p:sp>
        <p:sp>
          <p:nvSpPr>
            <p:cNvPr name="TextBox 77" id="77"/>
            <p:cNvSpPr txBox="true"/>
            <p:nvPr/>
          </p:nvSpPr>
          <p:spPr>
            <a:xfrm>
              <a:off x="0" y="-9525"/>
              <a:ext cx="2841955" cy="631317"/>
            </a:xfrm>
            <a:prstGeom prst="rect">
              <a:avLst/>
            </a:prstGeom>
          </p:spPr>
          <p:txBody>
            <a:bodyPr anchor="ctr" rtlCol="false" tIns="0" lIns="0" bIns="0" rIns="0"/>
            <a:lstStyle/>
            <a:p>
              <a:pPr algn="ctr">
                <a:lnSpc>
                  <a:spcPts val="1889"/>
                </a:lnSpc>
              </a:pPr>
              <a:r>
                <a:rPr lang="en-US" sz="1575" b="true">
                  <a:solidFill>
                    <a:srgbClr val="0A1A23"/>
                  </a:solidFill>
                  <a:latin typeface="Poppins Bold"/>
                  <a:ea typeface="Poppins Bold"/>
                  <a:cs typeface="Poppins Bold"/>
                  <a:sym typeface="Poppins Bold"/>
                </a:rPr>
                <a:t>365 rows</a:t>
              </a:r>
            </a:p>
          </p:txBody>
        </p:sp>
      </p:grpSp>
      <p:sp>
        <p:nvSpPr>
          <p:cNvPr name="TextBox 78" id="78"/>
          <p:cNvSpPr txBox="true"/>
          <p:nvPr/>
        </p:nvSpPr>
        <p:spPr>
          <a:xfrm rot="0">
            <a:off x="13367614" y="4914900"/>
            <a:ext cx="2350922" cy="1282065"/>
          </a:xfrm>
          <a:prstGeom prst="rect">
            <a:avLst/>
          </a:prstGeom>
        </p:spPr>
        <p:txBody>
          <a:bodyPr anchor="t" rtlCol="false" tIns="0" lIns="0" bIns="0" rIns="0">
            <a:spAutoFit/>
          </a:bodyPr>
          <a:lstStyle/>
          <a:p>
            <a:pPr algn="ctr">
              <a:lnSpc>
                <a:spcPts val="2268"/>
              </a:lnSpc>
            </a:pPr>
            <a:r>
              <a:rPr lang="en-US" sz="1575">
                <a:solidFill>
                  <a:srgbClr val="475569"/>
                </a:solidFill>
                <a:latin typeface="Poppins"/>
                <a:ea typeface="Poppins"/>
                <a:cs typeface="Poppins"/>
                <a:sym typeface="Poppins"/>
              </a:rPr>
              <a:t>one row per day</a:t>
            </a:r>
          </a:p>
        </p:txBody>
      </p:sp>
      <p:grpSp>
        <p:nvGrpSpPr>
          <p:cNvPr name="Group 79" id="79"/>
          <p:cNvGrpSpPr/>
          <p:nvPr/>
        </p:nvGrpSpPr>
        <p:grpSpPr>
          <a:xfrm rot="0">
            <a:off x="1028700" y="7088505"/>
            <a:ext cx="14744700" cy="1577340"/>
            <a:chOff x="0" y="0"/>
            <a:chExt cx="19659600" cy="2103120"/>
          </a:xfrm>
        </p:grpSpPr>
        <p:sp>
          <p:nvSpPr>
            <p:cNvPr name="Freeform 80" id="80"/>
            <p:cNvSpPr/>
            <p:nvPr/>
          </p:nvSpPr>
          <p:spPr>
            <a:xfrm flipH="false" flipV="false" rot="0">
              <a:off x="0" y="0"/>
              <a:ext cx="19659600" cy="2103120"/>
            </a:xfrm>
            <a:custGeom>
              <a:avLst/>
              <a:gdLst/>
              <a:ahLst/>
              <a:cxnLst/>
              <a:rect r="r" b="b" t="t" l="l"/>
              <a:pathLst>
                <a:path h="2103120" w="19659600">
                  <a:moveTo>
                    <a:pt x="0" y="164592"/>
                  </a:moveTo>
                  <a:cubicBezTo>
                    <a:pt x="0" y="73660"/>
                    <a:pt x="73660" y="0"/>
                    <a:pt x="164592" y="0"/>
                  </a:cubicBezTo>
                  <a:lnTo>
                    <a:pt x="19495008" y="0"/>
                  </a:lnTo>
                  <a:cubicBezTo>
                    <a:pt x="19585939" y="0"/>
                    <a:pt x="19659600" y="73660"/>
                    <a:pt x="19659600" y="164592"/>
                  </a:cubicBezTo>
                  <a:lnTo>
                    <a:pt x="19659600" y="1938528"/>
                  </a:lnTo>
                  <a:cubicBezTo>
                    <a:pt x="19659600" y="2029460"/>
                    <a:pt x="19585939" y="2103120"/>
                    <a:pt x="19495008" y="2103120"/>
                  </a:cubicBezTo>
                  <a:lnTo>
                    <a:pt x="164592" y="2103120"/>
                  </a:lnTo>
                  <a:cubicBezTo>
                    <a:pt x="73660" y="2103120"/>
                    <a:pt x="0" y="2029460"/>
                    <a:pt x="0" y="1938528"/>
                  </a:cubicBezTo>
                  <a:close/>
                </a:path>
              </a:pathLst>
            </a:custGeom>
            <a:solidFill>
              <a:srgbClr val="EEF4F4"/>
            </a:solidFill>
          </p:spPr>
        </p:sp>
      </p:grpSp>
      <p:grpSp>
        <p:nvGrpSpPr>
          <p:cNvPr name="Group 81" id="81"/>
          <p:cNvGrpSpPr/>
          <p:nvPr/>
        </p:nvGrpSpPr>
        <p:grpSpPr>
          <a:xfrm rot="0">
            <a:off x="1028700" y="7088505"/>
            <a:ext cx="102870" cy="1577340"/>
            <a:chOff x="0" y="0"/>
            <a:chExt cx="137160" cy="2103120"/>
          </a:xfrm>
        </p:grpSpPr>
        <p:sp>
          <p:nvSpPr>
            <p:cNvPr name="Freeform 82" id="82"/>
            <p:cNvSpPr/>
            <p:nvPr/>
          </p:nvSpPr>
          <p:spPr>
            <a:xfrm flipH="false" flipV="false" rot="0">
              <a:off x="0" y="0"/>
              <a:ext cx="137160" cy="2103120"/>
            </a:xfrm>
            <a:custGeom>
              <a:avLst/>
              <a:gdLst/>
              <a:ahLst/>
              <a:cxnLst/>
              <a:rect r="r" b="b" t="t" l="l"/>
              <a:pathLst>
                <a:path h="2103120" w="137160">
                  <a:moveTo>
                    <a:pt x="0" y="0"/>
                  </a:moveTo>
                  <a:lnTo>
                    <a:pt x="137160" y="0"/>
                  </a:lnTo>
                  <a:lnTo>
                    <a:pt x="137160" y="2103120"/>
                  </a:lnTo>
                  <a:lnTo>
                    <a:pt x="0" y="2103120"/>
                  </a:lnTo>
                  <a:close/>
                </a:path>
              </a:pathLst>
            </a:custGeom>
            <a:solidFill>
              <a:srgbClr val="387F7F"/>
            </a:solidFill>
          </p:spPr>
        </p:sp>
      </p:grpSp>
      <p:grpSp>
        <p:nvGrpSpPr>
          <p:cNvPr name="Group 83" id="83"/>
          <p:cNvGrpSpPr/>
          <p:nvPr/>
        </p:nvGrpSpPr>
        <p:grpSpPr>
          <a:xfrm rot="0">
            <a:off x="1577340" y="7088505"/>
            <a:ext cx="13853160" cy="1577340"/>
            <a:chOff x="0" y="0"/>
            <a:chExt cx="18470880" cy="2103120"/>
          </a:xfrm>
        </p:grpSpPr>
        <p:sp>
          <p:nvSpPr>
            <p:cNvPr name="Freeform 84" id="84"/>
            <p:cNvSpPr/>
            <p:nvPr/>
          </p:nvSpPr>
          <p:spPr>
            <a:xfrm flipH="false" flipV="false" rot="0">
              <a:off x="0" y="0"/>
              <a:ext cx="18470880" cy="2103120"/>
            </a:xfrm>
            <a:custGeom>
              <a:avLst/>
              <a:gdLst/>
              <a:ahLst/>
              <a:cxnLst/>
              <a:rect r="r" b="b" t="t" l="l"/>
              <a:pathLst>
                <a:path h="2103120" w="18470880">
                  <a:moveTo>
                    <a:pt x="0" y="0"/>
                  </a:moveTo>
                  <a:lnTo>
                    <a:pt x="18470880" y="0"/>
                  </a:lnTo>
                  <a:lnTo>
                    <a:pt x="18470880" y="2103120"/>
                  </a:lnTo>
                  <a:lnTo>
                    <a:pt x="0" y="2103120"/>
                  </a:lnTo>
                  <a:close/>
                </a:path>
              </a:pathLst>
            </a:custGeom>
            <a:blipFill>
              <a:blip r:embed="rId8">
                <a:alphaModFix amt="0"/>
              </a:blip>
              <a:stretch>
                <a:fillRect l="0" t="-121129" r="0" b="-121129"/>
              </a:stretch>
            </a:blipFill>
          </p:spPr>
        </p:sp>
        <p:sp>
          <p:nvSpPr>
            <p:cNvPr name="TextBox 85" id="85"/>
            <p:cNvSpPr txBox="true"/>
            <p:nvPr/>
          </p:nvSpPr>
          <p:spPr>
            <a:xfrm>
              <a:off x="0" y="-76200"/>
              <a:ext cx="18470880" cy="2179320"/>
            </a:xfrm>
            <a:prstGeom prst="rect">
              <a:avLst/>
            </a:prstGeom>
          </p:spPr>
          <p:txBody>
            <a:bodyPr anchor="ctr" rtlCol="false" tIns="0" lIns="0" bIns="0" rIns="0"/>
            <a:lstStyle/>
            <a:p>
              <a:pPr algn="l">
                <a:lnSpc>
                  <a:spcPts val="3487"/>
                </a:lnSpc>
              </a:pPr>
              <a:r>
                <a:rPr lang="en-US" sz="2325" b="true">
                  <a:solidFill>
                    <a:srgbClr val="387F7F"/>
                  </a:solidFill>
                  <a:latin typeface="Poppins Bold"/>
                  <a:ea typeface="Poppins Bold"/>
                  <a:cs typeface="Poppins Bold"/>
                  <a:sym typeface="Poppins Bold"/>
                </a:rPr>
                <a:t>Say the grain of a table out loud before you use it. “One row per what?” is the question that prevents most modelling errors.</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037788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Loading SwiftRout</a:t>
            </a:r>
            <a:r>
              <a:rPr lang="en-US" sz="5000">
                <a:solidFill>
                  <a:srgbClr val="388080"/>
                </a:solidFill>
                <a:latin typeface="Poppins"/>
                <a:ea typeface="Poppins"/>
                <a:cs typeface="Poppins"/>
                <a:sym typeface="Poppins"/>
              </a:rPr>
              <a:t>e: steps 1 and 2</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8700" y="2444353"/>
            <a:ext cx="2852928" cy="685800"/>
            <a:chOff x="0" y="0"/>
            <a:chExt cx="3803904" cy="914400"/>
          </a:xfrm>
        </p:grpSpPr>
        <p:sp>
          <p:nvSpPr>
            <p:cNvPr name="Freeform 12" id="12"/>
            <p:cNvSpPr/>
            <p:nvPr/>
          </p:nvSpPr>
          <p:spPr>
            <a:xfrm flipH="false" flipV="false" rot="0">
              <a:off x="0" y="0"/>
              <a:ext cx="3803904" cy="914400"/>
            </a:xfrm>
            <a:custGeom>
              <a:avLst/>
              <a:gdLst/>
              <a:ahLst/>
              <a:cxnLst/>
              <a:rect r="r" b="b" t="t" l="l"/>
              <a:pathLst>
                <a:path h="914400" w="3803904">
                  <a:moveTo>
                    <a:pt x="0" y="457200"/>
                  </a:moveTo>
                  <a:cubicBezTo>
                    <a:pt x="0" y="204724"/>
                    <a:pt x="204724" y="0"/>
                    <a:pt x="457200" y="0"/>
                  </a:cubicBezTo>
                  <a:lnTo>
                    <a:pt x="3346704" y="0"/>
                  </a:lnTo>
                  <a:cubicBezTo>
                    <a:pt x="3599180" y="0"/>
                    <a:pt x="3803904" y="204724"/>
                    <a:pt x="3803904" y="457200"/>
                  </a:cubicBezTo>
                  <a:cubicBezTo>
                    <a:pt x="3803904" y="709676"/>
                    <a:pt x="3599180" y="914400"/>
                    <a:pt x="3346704" y="914400"/>
                  </a:cubicBezTo>
                  <a:lnTo>
                    <a:pt x="457200" y="914400"/>
                  </a:lnTo>
                  <a:cubicBezTo>
                    <a:pt x="204724" y="914400"/>
                    <a:pt x="0" y="709676"/>
                    <a:pt x="0" y="457200"/>
                  </a:cubicBezTo>
                  <a:close/>
                </a:path>
              </a:pathLst>
            </a:custGeom>
            <a:solidFill>
              <a:srgbClr val="387F7F"/>
            </a:solidFill>
          </p:spPr>
        </p:sp>
      </p:grpSp>
      <p:grpSp>
        <p:nvGrpSpPr>
          <p:cNvPr name="Group 13" id="13"/>
          <p:cNvGrpSpPr/>
          <p:nvPr/>
        </p:nvGrpSpPr>
        <p:grpSpPr>
          <a:xfrm rot="0">
            <a:off x="1165860" y="2567797"/>
            <a:ext cx="438912" cy="438912"/>
            <a:chOff x="0" y="0"/>
            <a:chExt cx="585216" cy="585216"/>
          </a:xfrm>
        </p:grpSpPr>
        <p:sp>
          <p:nvSpPr>
            <p:cNvPr name="Freeform 14" id="1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FFFFFF"/>
            </a:solidFill>
          </p:spPr>
        </p:sp>
      </p:grpSp>
      <p:grpSp>
        <p:nvGrpSpPr>
          <p:cNvPr name="Group 15" id="15"/>
          <p:cNvGrpSpPr/>
          <p:nvPr/>
        </p:nvGrpSpPr>
        <p:grpSpPr>
          <a:xfrm rot="0">
            <a:off x="1165860" y="2567797"/>
            <a:ext cx="438912" cy="438912"/>
            <a:chOff x="0" y="0"/>
            <a:chExt cx="585216" cy="585216"/>
          </a:xfrm>
        </p:grpSpPr>
        <p:sp>
          <p:nvSpPr>
            <p:cNvPr name="Freeform 16" id="1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17" id="1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1</a:t>
              </a:r>
            </a:p>
          </p:txBody>
        </p:sp>
      </p:grpSp>
      <p:grpSp>
        <p:nvGrpSpPr>
          <p:cNvPr name="Group 18" id="18"/>
          <p:cNvGrpSpPr/>
          <p:nvPr/>
        </p:nvGrpSpPr>
        <p:grpSpPr>
          <a:xfrm rot="0">
            <a:off x="1741932" y="2444353"/>
            <a:ext cx="2002536" cy="685800"/>
            <a:chOff x="0" y="0"/>
            <a:chExt cx="2670048" cy="914400"/>
          </a:xfrm>
        </p:grpSpPr>
        <p:sp>
          <p:nvSpPr>
            <p:cNvPr name="Freeform 19" id="1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20" id="20"/>
            <p:cNvSpPr txBox="true"/>
            <p:nvPr/>
          </p:nvSpPr>
          <p:spPr>
            <a:xfrm>
              <a:off x="0" y="-9525"/>
              <a:ext cx="2670048" cy="923925"/>
            </a:xfrm>
            <a:prstGeom prst="rect">
              <a:avLst/>
            </a:prstGeom>
          </p:spPr>
          <p:txBody>
            <a:bodyPr anchor="ctr" rtlCol="false" tIns="0" lIns="0" bIns="0" rIns="0"/>
            <a:lstStyle/>
            <a:p>
              <a:pPr algn="l">
                <a:lnSpc>
                  <a:spcPts val="2070"/>
                </a:lnSpc>
              </a:pPr>
              <a:r>
                <a:rPr lang="en-US" sz="1725" b="true">
                  <a:solidFill>
                    <a:srgbClr val="FFFFFF"/>
                  </a:solidFill>
                  <a:latin typeface="Poppins Bold"/>
                  <a:ea typeface="Poppins Bold"/>
                  <a:cs typeface="Poppins Bold"/>
                  <a:sym typeface="Poppins Bold"/>
                </a:rPr>
                <a:t>Get data</a:t>
              </a:r>
            </a:p>
          </p:txBody>
        </p:sp>
      </p:grpSp>
      <p:grpSp>
        <p:nvGrpSpPr>
          <p:cNvPr name="Group 21" id="21"/>
          <p:cNvGrpSpPr/>
          <p:nvPr/>
        </p:nvGrpSpPr>
        <p:grpSpPr>
          <a:xfrm rot="0">
            <a:off x="4101084" y="2444353"/>
            <a:ext cx="2852928" cy="685800"/>
            <a:chOff x="0" y="0"/>
            <a:chExt cx="3803904" cy="914400"/>
          </a:xfrm>
        </p:grpSpPr>
        <p:sp>
          <p:nvSpPr>
            <p:cNvPr name="Freeform 22" id="22"/>
            <p:cNvSpPr/>
            <p:nvPr/>
          </p:nvSpPr>
          <p:spPr>
            <a:xfrm flipH="false" flipV="false" rot="0">
              <a:off x="0" y="0"/>
              <a:ext cx="3803904" cy="914400"/>
            </a:xfrm>
            <a:custGeom>
              <a:avLst/>
              <a:gdLst/>
              <a:ahLst/>
              <a:cxnLst/>
              <a:rect r="r" b="b" t="t" l="l"/>
              <a:pathLst>
                <a:path h="914400" w="3803904">
                  <a:moveTo>
                    <a:pt x="0" y="457200"/>
                  </a:moveTo>
                  <a:cubicBezTo>
                    <a:pt x="0" y="204724"/>
                    <a:pt x="204724" y="0"/>
                    <a:pt x="457200" y="0"/>
                  </a:cubicBezTo>
                  <a:lnTo>
                    <a:pt x="3346704" y="0"/>
                  </a:lnTo>
                  <a:cubicBezTo>
                    <a:pt x="3599180" y="0"/>
                    <a:pt x="3803904" y="204724"/>
                    <a:pt x="3803904" y="457200"/>
                  </a:cubicBezTo>
                  <a:cubicBezTo>
                    <a:pt x="3803904" y="709676"/>
                    <a:pt x="3599180" y="914400"/>
                    <a:pt x="3346704" y="914400"/>
                  </a:cubicBezTo>
                  <a:lnTo>
                    <a:pt x="457200" y="914400"/>
                  </a:lnTo>
                  <a:cubicBezTo>
                    <a:pt x="204724" y="914400"/>
                    <a:pt x="0" y="709676"/>
                    <a:pt x="0" y="457200"/>
                  </a:cubicBezTo>
                  <a:close/>
                </a:path>
              </a:pathLst>
            </a:custGeom>
            <a:solidFill>
              <a:srgbClr val="387F7F"/>
            </a:solidFill>
          </p:spPr>
        </p:sp>
      </p:grpSp>
      <p:grpSp>
        <p:nvGrpSpPr>
          <p:cNvPr name="Group 23" id="23"/>
          <p:cNvGrpSpPr/>
          <p:nvPr/>
        </p:nvGrpSpPr>
        <p:grpSpPr>
          <a:xfrm rot="0">
            <a:off x="4238244" y="2567797"/>
            <a:ext cx="438912" cy="438912"/>
            <a:chOff x="0" y="0"/>
            <a:chExt cx="585216" cy="585216"/>
          </a:xfrm>
        </p:grpSpPr>
        <p:sp>
          <p:nvSpPr>
            <p:cNvPr name="Freeform 24" id="2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FFFFFF"/>
            </a:solidFill>
          </p:spPr>
        </p:sp>
      </p:grpSp>
      <p:grpSp>
        <p:nvGrpSpPr>
          <p:cNvPr name="Group 25" id="25"/>
          <p:cNvGrpSpPr/>
          <p:nvPr/>
        </p:nvGrpSpPr>
        <p:grpSpPr>
          <a:xfrm rot="0">
            <a:off x="4238244" y="2567797"/>
            <a:ext cx="438912" cy="438912"/>
            <a:chOff x="0" y="0"/>
            <a:chExt cx="585216" cy="585216"/>
          </a:xfrm>
        </p:grpSpPr>
        <p:sp>
          <p:nvSpPr>
            <p:cNvPr name="Freeform 26" id="2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27" id="2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2</a:t>
              </a:r>
            </a:p>
          </p:txBody>
        </p:sp>
      </p:grpSp>
      <p:grpSp>
        <p:nvGrpSpPr>
          <p:cNvPr name="Group 28" id="28"/>
          <p:cNvGrpSpPr/>
          <p:nvPr/>
        </p:nvGrpSpPr>
        <p:grpSpPr>
          <a:xfrm rot="0">
            <a:off x="4814316" y="2444353"/>
            <a:ext cx="2002536" cy="685800"/>
            <a:chOff x="0" y="0"/>
            <a:chExt cx="2670048" cy="914400"/>
          </a:xfrm>
        </p:grpSpPr>
        <p:sp>
          <p:nvSpPr>
            <p:cNvPr name="Freeform 29" id="2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30" id="30"/>
            <p:cNvSpPr txBox="true"/>
            <p:nvPr/>
          </p:nvSpPr>
          <p:spPr>
            <a:xfrm>
              <a:off x="0" y="-9525"/>
              <a:ext cx="2670048" cy="923925"/>
            </a:xfrm>
            <a:prstGeom prst="rect">
              <a:avLst/>
            </a:prstGeom>
          </p:spPr>
          <p:txBody>
            <a:bodyPr anchor="ctr" rtlCol="false" tIns="0" lIns="0" bIns="0" rIns="0"/>
            <a:lstStyle/>
            <a:p>
              <a:pPr algn="l">
                <a:lnSpc>
                  <a:spcPts val="2070"/>
                </a:lnSpc>
              </a:pPr>
              <a:r>
                <a:rPr lang="en-US" sz="1725" b="true">
                  <a:solidFill>
                    <a:srgbClr val="FFFFFF"/>
                  </a:solidFill>
                  <a:latin typeface="Poppins Bold"/>
                  <a:ea typeface="Poppins Bold"/>
                  <a:cs typeface="Poppins Bold"/>
                  <a:sym typeface="Poppins Bold"/>
                </a:rPr>
                <a:t>Preview</a:t>
              </a:r>
            </a:p>
          </p:txBody>
        </p:sp>
      </p:grpSp>
      <p:grpSp>
        <p:nvGrpSpPr>
          <p:cNvPr name="Group 31" id="31"/>
          <p:cNvGrpSpPr/>
          <p:nvPr/>
        </p:nvGrpSpPr>
        <p:grpSpPr>
          <a:xfrm rot="0">
            <a:off x="7161562" y="2432447"/>
            <a:ext cx="2876740" cy="709612"/>
            <a:chOff x="0" y="0"/>
            <a:chExt cx="3835654" cy="946150"/>
          </a:xfrm>
        </p:grpSpPr>
        <p:sp>
          <p:nvSpPr>
            <p:cNvPr name="Freeform 32" id="32"/>
            <p:cNvSpPr/>
            <p:nvPr/>
          </p:nvSpPr>
          <p:spPr>
            <a:xfrm flipH="false" flipV="false" rot="0">
              <a:off x="0" y="0"/>
              <a:ext cx="3835654" cy="946150"/>
            </a:xfrm>
            <a:custGeom>
              <a:avLst/>
              <a:gdLst/>
              <a:ahLst/>
              <a:cxnLst/>
              <a:rect r="r" b="b" t="t" l="l"/>
              <a:pathLst>
                <a:path h="946150" w="3835654">
                  <a:moveTo>
                    <a:pt x="0" y="473075"/>
                  </a:moveTo>
                  <a:cubicBezTo>
                    <a:pt x="0" y="211836"/>
                    <a:pt x="211836" y="0"/>
                    <a:pt x="473075" y="0"/>
                  </a:cubicBezTo>
                  <a:lnTo>
                    <a:pt x="3362579" y="0"/>
                  </a:lnTo>
                  <a:cubicBezTo>
                    <a:pt x="3623818" y="0"/>
                    <a:pt x="3835654" y="211836"/>
                    <a:pt x="3835654" y="473075"/>
                  </a:cubicBezTo>
                  <a:cubicBezTo>
                    <a:pt x="3835654" y="734314"/>
                    <a:pt x="3623818" y="946150"/>
                    <a:pt x="3362579" y="946150"/>
                  </a:cubicBezTo>
                  <a:lnTo>
                    <a:pt x="473075" y="946150"/>
                  </a:lnTo>
                  <a:cubicBezTo>
                    <a:pt x="211836" y="946150"/>
                    <a:pt x="0" y="734314"/>
                    <a:pt x="0" y="473075"/>
                  </a:cubicBezTo>
                  <a:close/>
                </a:path>
              </a:pathLst>
            </a:custGeom>
            <a:solidFill>
              <a:srgbClr val="FFFFFF"/>
            </a:solidFill>
            <a:ln w="23812" cap="sq">
              <a:solidFill>
                <a:srgbClr val="E2E8F0"/>
              </a:solidFill>
              <a:prstDash val="solid"/>
              <a:miter/>
            </a:ln>
          </p:spPr>
        </p:sp>
      </p:grpSp>
      <p:grpSp>
        <p:nvGrpSpPr>
          <p:cNvPr name="Group 33" id="33"/>
          <p:cNvGrpSpPr/>
          <p:nvPr/>
        </p:nvGrpSpPr>
        <p:grpSpPr>
          <a:xfrm rot="0">
            <a:off x="7310628" y="2567797"/>
            <a:ext cx="438912" cy="438912"/>
            <a:chOff x="0" y="0"/>
            <a:chExt cx="585216" cy="585216"/>
          </a:xfrm>
        </p:grpSpPr>
        <p:sp>
          <p:nvSpPr>
            <p:cNvPr name="Freeform 34" id="3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EEF4F4"/>
            </a:solidFill>
          </p:spPr>
        </p:sp>
      </p:grpSp>
      <p:grpSp>
        <p:nvGrpSpPr>
          <p:cNvPr name="Group 35" id="35"/>
          <p:cNvGrpSpPr/>
          <p:nvPr/>
        </p:nvGrpSpPr>
        <p:grpSpPr>
          <a:xfrm rot="0">
            <a:off x="7310628" y="2567797"/>
            <a:ext cx="438912" cy="438912"/>
            <a:chOff x="0" y="0"/>
            <a:chExt cx="585216" cy="585216"/>
          </a:xfrm>
        </p:grpSpPr>
        <p:sp>
          <p:nvSpPr>
            <p:cNvPr name="Freeform 36" id="3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37" id="3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64748B"/>
                  </a:solidFill>
                  <a:latin typeface="Poppins Bold"/>
                  <a:ea typeface="Poppins Bold"/>
                  <a:cs typeface="Poppins Bold"/>
                  <a:sym typeface="Poppins Bold"/>
                </a:rPr>
                <a:t>3</a:t>
              </a:r>
            </a:p>
          </p:txBody>
        </p:sp>
      </p:grpSp>
      <p:grpSp>
        <p:nvGrpSpPr>
          <p:cNvPr name="Group 38" id="38"/>
          <p:cNvGrpSpPr/>
          <p:nvPr/>
        </p:nvGrpSpPr>
        <p:grpSpPr>
          <a:xfrm rot="0">
            <a:off x="7886700" y="2444353"/>
            <a:ext cx="2002536" cy="685800"/>
            <a:chOff x="0" y="0"/>
            <a:chExt cx="2670048" cy="914400"/>
          </a:xfrm>
        </p:grpSpPr>
        <p:sp>
          <p:nvSpPr>
            <p:cNvPr name="Freeform 39" id="3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40" id="40"/>
            <p:cNvSpPr txBox="true"/>
            <p:nvPr/>
          </p:nvSpPr>
          <p:spPr>
            <a:xfrm>
              <a:off x="0" y="-9525"/>
              <a:ext cx="2670048" cy="923925"/>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Transform</a:t>
              </a:r>
            </a:p>
          </p:txBody>
        </p:sp>
      </p:grpSp>
      <p:grpSp>
        <p:nvGrpSpPr>
          <p:cNvPr name="Group 41" id="41"/>
          <p:cNvGrpSpPr/>
          <p:nvPr/>
        </p:nvGrpSpPr>
        <p:grpSpPr>
          <a:xfrm rot="0">
            <a:off x="10233946" y="2432447"/>
            <a:ext cx="2876740" cy="709612"/>
            <a:chOff x="0" y="0"/>
            <a:chExt cx="3835654" cy="946150"/>
          </a:xfrm>
        </p:grpSpPr>
        <p:sp>
          <p:nvSpPr>
            <p:cNvPr name="Freeform 42" id="42"/>
            <p:cNvSpPr/>
            <p:nvPr/>
          </p:nvSpPr>
          <p:spPr>
            <a:xfrm flipH="false" flipV="false" rot="0">
              <a:off x="0" y="0"/>
              <a:ext cx="3835654" cy="946150"/>
            </a:xfrm>
            <a:custGeom>
              <a:avLst/>
              <a:gdLst/>
              <a:ahLst/>
              <a:cxnLst/>
              <a:rect r="r" b="b" t="t" l="l"/>
              <a:pathLst>
                <a:path h="946150" w="3835654">
                  <a:moveTo>
                    <a:pt x="0" y="473075"/>
                  </a:moveTo>
                  <a:cubicBezTo>
                    <a:pt x="0" y="211836"/>
                    <a:pt x="211836" y="0"/>
                    <a:pt x="473075" y="0"/>
                  </a:cubicBezTo>
                  <a:lnTo>
                    <a:pt x="3362579" y="0"/>
                  </a:lnTo>
                  <a:cubicBezTo>
                    <a:pt x="3623818" y="0"/>
                    <a:pt x="3835654" y="211836"/>
                    <a:pt x="3835654" y="473075"/>
                  </a:cubicBezTo>
                  <a:cubicBezTo>
                    <a:pt x="3835654" y="734314"/>
                    <a:pt x="3623818" y="946150"/>
                    <a:pt x="3362579" y="946150"/>
                  </a:cubicBezTo>
                  <a:lnTo>
                    <a:pt x="473075" y="946150"/>
                  </a:lnTo>
                  <a:cubicBezTo>
                    <a:pt x="211836" y="946150"/>
                    <a:pt x="0" y="734314"/>
                    <a:pt x="0" y="473075"/>
                  </a:cubicBezTo>
                  <a:close/>
                </a:path>
              </a:pathLst>
            </a:custGeom>
            <a:solidFill>
              <a:srgbClr val="FFFFFF"/>
            </a:solidFill>
            <a:ln w="23812" cap="sq">
              <a:solidFill>
                <a:srgbClr val="E2E8F0"/>
              </a:solidFill>
              <a:prstDash val="solid"/>
              <a:miter/>
            </a:ln>
          </p:spPr>
        </p:sp>
      </p:grpSp>
      <p:grpSp>
        <p:nvGrpSpPr>
          <p:cNvPr name="Group 43" id="43"/>
          <p:cNvGrpSpPr/>
          <p:nvPr/>
        </p:nvGrpSpPr>
        <p:grpSpPr>
          <a:xfrm rot="0">
            <a:off x="10383012" y="2567797"/>
            <a:ext cx="438912" cy="438912"/>
            <a:chOff x="0" y="0"/>
            <a:chExt cx="585216" cy="585216"/>
          </a:xfrm>
        </p:grpSpPr>
        <p:sp>
          <p:nvSpPr>
            <p:cNvPr name="Freeform 44" id="4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EEF4F4"/>
            </a:solidFill>
          </p:spPr>
        </p:sp>
      </p:grpSp>
      <p:grpSp>
        <p:nvGrpSpPr>
          <p:cNvPr name="Group 45" id="45"/>
          <p:cNvGrpSpPr/>
          <p:nvPr/>
        </p:nvGrpSpPr>
        <p:grpSpPr>
          <a:xfrm rot="0">
            <a:off x="10383012" y="2567797"/>
            <a:ext cx="438912" cy="438912"/>
            <a:chOff x="0" y="0"/>
            <a:chExt cx="585216" cy="585216"/>
          </a:xfrm>
        </p:grpSpPr>
        <p:sp>
          <p:nvSpPr>
            <p:cNvPr name="Freeform 46" id="4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47" id="4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64748B"/>
                  </a:solidFill>
                  <a:latin typeface="Poppins Bold"/>
                  <a:ea typeface="Poppins Bold"/>
                  <a:cs typeface="Poppins Bold"/>
                  <a:sym typeface="Poppins Bold"/>
                </a:rPr>
                <a:t>4</a:t>
              </a:r>
            </a:p>
          </p:txBody>
        </p:sp>
      </p:grpSp>
      <p:grpSp>
        <p:nvGrpSpPr>
          <p:cNvPr name="Group 48" id="48"/>
          <p:cNvGrpSpPr/>
          <p:nvPr/>
        </p:nvGrpSpPr>
        <p:grpSpPr>
          <a:xfrm rot="0">
            <a:off x="10959084" y="2444353"/>
            <a:ext cx="2002536" cy="685800"/>
            <a:chOff x="0" y="0"/>
            <a:chExt cx="2670048" cy="914400"/>
          </a:xfrm>
        </p:grpSpPr>
        <p:sp>
          <p:nvSpPr>
            <p:cNvPr name="Freeform 49" id="4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50" id="50"/>
            <p:cNvSpPr txBox="true"/>
            <p:nvPr/>
          </p:nvSpPr>
          <p:spPr>
            <a:xfrm>
              <a:off x="0" y="-9525"/>
              <a:ext cx="2670048" cy="923925"/>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Check</a:t>
              </a:r>
            </a:p>
          </p:txBody>
        </p:sp>
      </p:grpSp>
      <p:grpSp>
        <p:nvGrpSpPr>
          <p:cNvPr name="Group 51" id="51"/>
          <p:cNvGrpSpPr/>
          <p:nvPr/>
        </p:nvGrpSpPr>
        <p:grpSpPr>
          <a:xfrm rot="0">
            <a:off x="13306330" y="2432447"/>
            <a:ext cx="2876740" cy="709612"/>
            <a:chOff x="0" y="0"/>
            <a:chExt cx="3835654" cy="946150"/>
          </a:xfrm>
        </p:grpSpPr>
        <p:sp>
          <p:nvSpPr>
            <p:cNvPr name="Freeform 52" id="52"/>
            <p:cNvSpPr/>
            <p:nvPr/>
          </p:nvSpPr>
          <p:spPr>
            <a:xfrm flipH="false" flipV="false" rot="0">
              <a:off x="0" y="0"/>
              <a:ext cx="3835654" cy="946150"/>
            </a:xfrm>
            <a:custGeom>
              <a:avLst/>
              <a:gdLst/>
              <a:ahLst/>
              <a:cxnLst/>
              <a:rect r="r" b="b" t="t" l="l"/>
              <a:pathLst>
                <a:path h="946150" w="3835654">
                  <a:moveTo>
                    <a:pt x="0" y="473075"/>
                  </a:moveTo>
                  <a:cubicBezTo>
                    <a:pt x="0" y="211836"/>
                    <a:pt x="211836" y="0"/>
                    <a:pt x="473075" y="0"/>
                  </a:cubicBezTo>
                  <a:lnTo>
                    <a:pt x="3362579" y="0"/>
                  </a:lnTo>
                  <a:cubicBezTo>
                    <a:pt x="3623818" y="0"/>
                    <a:pt x="3835654" y="211836"/>
                    <a:pt x="3835654" y="473075"/>
                  </a:cubicBezTo>
                  <a:cubicBezTo>
                    <a:pt x="3835654" y="734314"/>
                    <a:pt x="3623818" y="946150"/>
                    <a:pt x="3362579" y="946150"/>
                  </a:cubicBezTo>
                  <a:lnTo>
                    <a:pt x="473075" y="946150"/>
                  </a:lnTo>
                  <a:cubicBezTo>
                    <a:pt x="211836" y="946150"/>
                    <a:pt x="0" y="734314"/>
                    <a:pt x="0" y="473075"/>
                  </a:cubicBezTo>
                  <a:close/>
                </a:path>
              </a:pathLst>
            </a:custGeom>
            <a:solidFill>
              <a:srgbClr val="FFFFFF"/>
            </a:solidFill>
            <a:ln w="23812" cap="sq">
              <a:solidFill>
                <a:srgbClr val="E2E8F0"/>
              </a:solidFill>
              <a:prstDash val="solid"/>
              <a:miter/>
            </a:ln>
          </p:spPr>
        </p:sp>
      </p:grpSp>
      <p:grpSp>
        <p:nvGrpSpPr>
          <p:cNvPr name="Group 53" id="53"/>
          <p:cNvGrpSpPr/>
          <p:nvPr/>
        </p:nvGrpSpPr>
        <p:grpSpPr>
          <a:xfrm rot="0">
            <a:off x="13455396" y="2567797"/>
            <a:ext cx="438912" cy="438912"/>
            <a:chOff x="0" y="0"/>
            <a:chExt cx="585216" cy="585216"/>
          </a:xfrm>
        </p:grpSpPr>
        <p:sp>
          <p:nvSpPr>
            <p:cNvPr name="Freeform 54" id="5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EEF4F4"/>
            </a:solidFill>
          </p:spPr>
        </p:sp>
      </p:grpSp>
      <p:grpSp>
        <p:nvGrpSpPr>
          <p:cNvPr name="Group 55" id="55"/>
          <p:cNvGrpSpPr/>
          <p:nvPr/>
        </p:nvGrpSpPr>
        <p:grpSpPr>
          <a:xfrm rot="0">
            <a:off x="13455396" y="2567797"/>
            <a:ext cx="438912" cy="438912"/>
            <a:chOff x="0" y="0"/>
            <a:chExt cx="585216" cy="585216"/>
          </a:xfrm>
        </p:grpSpPr>
        <p:sp>
          <p:nvSpPr>
            <p:cNvPr name="Freeform 56" id="5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57" id="5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64748B"/>
                  </a:solidFill>
                  <a:latin typeface="Poppins Bold"/>
                  <a:ea typeface="Poppins Bold"/>
                  <a:cs typeface="Poppins Bold"/>
                  <a:sym typeface="Poppins Bold"/>
                </a:rPr>
                <a:t>5</a:t>
              </a:r>
            </a:p>
          </p:txBody>
        </p:sp>
      </p:grpSp>
      <p:grpSp>
        <p:nvGrpSpPr>
          <p:cNvPr name="Group 58" id="58"/>
          <p:cNvGrpSpPr/>
          <p:nvPr/>
        </p:nvGrpSpPr>
        <p:grpSpPr>
          <a:xfrm rot="0">
            <a:off x="14031468" y="2444353"/>
            <a:ext cx="2002536" cy="685800"/>
            <a:chOff x="0" y="0"/>
            <a:chExt cx="2670048" cy="914400"/>
          </a:xfrm>
        </p:grpSpPr>
        <p:sp>
          <p:nvSpPr>
            <p:cNvPr name="Freeform 59" id="5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60" id="60"/>
            <p:cNvSpPr txBox="true"/>
            <p:nvPr/>
          </p:nvSpPr>
          <p:spPr>
            <a:xfrm>
              <a:off x="0" y="-9525"/>
              <a:ext cx="2670048" cy="923925"/>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Close and apply</a:t>
              </a:r>
            </a:p>
          </p:txBody>
        </p:sp>
      </p:grpSp>
      <p:grpSp>
        <p:nvGrpSpPr>
          <p:cNvPr name="Group 61" id="61"/>
          <p:cNvGrpSpPr/>
          <p:nvPr/>
        </p:nvGrpSpPr>
        <p:grpSpPr>
          <a:xfrm rot="0">
            <a:off x="1765449" y="3340084"/>
            <a:ext cx="6207471" cy="4655058"/>
            <a:chOff x="0" y="0"/>
            <a:chExt cx="8276628" cy="6206744"/>
          </a:xfrm>
        </p:grpSpPr>
        <p:sp>
          <p:nvSpPr>
            <p:cNvPr name="Freeform 62" id="62"/>
            <p:cNvSpPr/>
            <p:nvPr/>
          </p:nvSpPr>
          <p:spPr>
            <a:xfrm flipH="false" flipV="false" rot="0">
              <a:off x="0" y="0"/>
              <a:ext cx="8276590" cy="6206744"/>
            </a:xfrm>
            <a:custGeom>
              <a:avLst/>
              <a:gdLst/>
              <a:ahLst/>
              <a:cxnLst/>
              <a:rect r="r" b="b" t="t" l="l"/>
              <a:pathLst>
                <a:path h="6206744" w="8276590">
                  <a:moveTo>
                    <a:pt x="0" y="146939"/>
                  </a:moveTo>
                  <a:cubicBezTo>
                    <a:pt x="0" y="65786"/>
                    <a:pt x="65786" y="0"/>
                    <a:pt x="146939" y="0"/>
                  </a:cubicBezTo>
                  <a:lnTo>
                    <a:pt x="8129651" y="0"/>
                  </a:lnTo>
                  <a:cubicBezTo>
                    <a:pt x="8210804" y="0"/>
                    <a:pt x="8276590" y="65786"/>
                    <a:pt x="8276590" y="146939"/>
                  </a:cubicBezTo>
                  <a:lnTo>
                    <a:pt x="8276590" y="6059805"/>
                  </a:lnTo>
                  <a:cubicBezTo>
                    <a:pt x="8276590" y="6140958"/>
                    <a:pt x="8210804" y="6206744"/>
                    <a:pt x="8129651" y="6206744"/>
                  </a:cubicBezTo>
                  <a:lnTo>
                    <a:pt x="146939" y="6206744"/>
                  </a:lnTo>
                  <a:cubicBezTo>
                    <a:pt x="65786" y="6206744"/>
                    <a:pt x="0" y="6140958"/>
                    <a:pt x="0" y="6059805"/>
                  </a:cubicBezTo>
                  <a:close/>
                </a:path>
              </a:pathLst>
            </a:custGeom>
            <a:solidFill>
              <a:srgbClr val="FFFFFF"/>
            </a:solidFill>
            <a:ln w="19050" cap="sq">
              <a:solidFill>
                <a:srgbClr val="E2E8F0"/>
              </a:solidFill>
              <a:prstDash val="solid"/>
              <a:miter/>
            </a:ln>
          </p:spPr>
        </p:sp>
      </p:grpSp>
      <p:grpSp>
        <p:nvGrpSpPr>
          <p:cNvPr name="Group 63" id="63"/>
          <p:cNvGrpSpPr/>
          <p:nvPr/>
        </p:nvGrpSpPr>
        <p:grpSpPr>
          <a:xfrm rot="0">
            <a:off x="1898418" y="3473053"/>
            <a:ext cx="5941533" cy="4389120"/>
            <a:chOff x="0" y="0"/>
            <a:chExt cx="7922044" cy="5852160"/>
          </a:xfrm>
        </p:grpSpPr>
        <p:sp>
          <p:nvSpPr>
            <p:cNvPr name="Freeform 64" id="64" descr="/home/claude/build/assets/shot_getdata.png"/>
            <p:cNvSpPr/>
            <p:nvPr/>
          </p:nvSpPr>
          <p:spPr>
            <a:xfrm flipH="false" flipV="false" rot="0">
              <a:off x="0" y="0"/>
              <a:ext cx="7922006" cy="5852160"/>
            </a:xfrm>
            <a:custGeom>
              <a:avLst/>
              <a:gdLst/>
              <a:ahLst/>
              <a:cxnLst/>
              <a:rect r="r" b="b" t="t" l="l"/>
              <a:pathLst>
                <a:path h="5852160" w="7922006">
                  <a:moveTo>
                    <a:pt x="0" y="0"/>
                  </a:moveTo>
                  <a:lnTo>
                    <a:pt x="7922006" y="0"/>
                  </a:lnTo>
                  <a:lnTo>
                    <a:pt x="7922006" y="5852160"/>
                  </a:lnTo>
                  <a:lnTo>
                    <a:pt x="0" y="5852160"/>
                  </a:lnTo>
                  <a:lnTo>
                    <a:pt x="0" y="0"/>
                  </a:lnTo>
                  <a:close/>
                </a:path>
              </a:pathLst>
            </a:custGeom>
            <a:blipFill>
              <a:blip r:embed="rId10"/>
              <a:stretch>
                <a:fillRect l="0" t="0" r="0" b="0"/>
              </a:stretch>
            </a:blipFill>
          </p:spPr>
        </p:sp>
      </p:grpSp>
      <p:grpSp>
        <p:nvGrpSpPr>
          <p:cNvPr name="Group 65" id="65"/>
          <p:cNvGrpSpPr/>
          <p:nvPr/>
        </p:nvGrpSpPr>
        <p:grpSpPr>
          <a:xfrm rot="0">
            <a:off x="9258300" y="3473053"/>
            <a:ext cx="6515100" cy="4389120"/>
            <a:chOff x="0" y="0"/>
            <a:chExt cx="8686800" cy="5852160"/>
          </a:xfrm>
        </p:grpSpPr>
        <p:sp>
          <p:nvSpPr>
            <p:cNvPr name="Freeform 66" id="66"/>
            <p:cNvSpPr/>
            <p:nvPr/>
          </p:nvSpPr>
          <p:spPr>
            <a:xfrm flipH="false" flipV="false" rot="0">
              <a:off x="0" y="0"/>
              <a:ext cx="8686800" cy="5852160"/>
            </a:xfrm>
            <a:custGeom>
              <a:avLst/>
              <a:gdLst/>
              <a:ahLst/>
              <a:cxnLst/>
              <a:rect r="r" b="b" t="t" l="l"/>
              <a:pathLst>
                <a:path h="5852160" w="8686800">
                  <a:moveTo>
                    <a:pt x="0" y="164592"/>
                  </a:moveTo>
                  <a:cubicBezTo>
                    <a:pt x="0" y="73660"/>
                    <a:pt x="73660" y="0"/>
                    <a:pt x="164592" y="0"/>
                  </a:cubicBezTo>
                  <a:lnTo>
                    <a:pt x="8522208" y="0"/>
                  </a:lnTo>
                  <a:cubicBezTo>
                    <a:pt x="8613140" y="0"/>
                    <a:pt x="8686800" y="73660"/>
                    <a:pt x="8686800" y="164592"/>
                  </a:cubicBezTo>
                  <a:lnTo>
                    <a:pt x="8686800" y="5687568"/>
                  </a:lnTo>
                  <a:cubicBezTo>
                    <a:pt x="8686800" y="5778500"/>
                    <a:pt x="8613140" y="5852160"/>
                    <a:pt x="8522208" y="5852160"/>
                  </a:cubicBezTo>
                  <a:lnTo>
                    <a:pt x="164592" y="5852160"/>
                  </a:lnTo>
                  <a:cubicBezTo>
                    <a:pt x="73660" y="5852160"/>
                    <a:pt x="0" y="5778500"/>
                    <a:pt x="0" y="5687568"/>
                  </a:cubicBezTo>
                  <a:close/>
                </a:path>
              </a:pathLst>
            </a:custGeom>
            <a:solidFill>
              <a:srgbClr val="FFFFFF"/>
            </a:solidFill>
          </p:spPr>
        </p:sp>
      </p:grpSp>
      <p:grpSp>
        <p:nvGrpSpPr>
          <p:cNvPr name="Group 67" id="67"/>
          <p:cNvGrpSpPr/>
          <p:nvPr/>
        </p:nvGrpSpPr>
        <p:grpSpPr>
          <a:xfrm rot="0">
            <a:off x="9258300" y="3473053"/>
            <a:ext cx="102870" cy="4389120"/>
            <a:chOff x="0" y="0"/>
            <a:chExt cx="137160" cy="5852160"/>
          </a:xfrm>
        </p:grpSpPr>
        <p:sp>
          <p:nvSpPr>
            <p:cNvPr name="Freeform 68" id="68"/>
            <p:cNvSpPr/>
            <p:nvPr/>
          </p:nvSpPr>
          <p:spPr>
            <a:xfrm flipH="false" flipV="false" rot="0">
              <a:off x="0" y="0"/>
              <a:ext cx="137160" cy="5852160"/>
            </a:xfrm>
            <a:custGeom>
              <a:avLst/>
              <a:gdLst/>
              <a:ahLst/>
              <a:cxnLst/>
              <a:rect r="r" b="b" t="t" l="l"/>
              <a:pathLst>
                <a:path h="5852160" w="137160">
                  <a:moveTo>
                    <a:pt x="0" y="0"/>
                  </a:moveTo>
                  <a:lnTo>
                    <a:pt x="137160" y="0"/>
                  </a:lnTo>
                  <a:lnTo>
                    <a:pt x="137160" y="5852160"/>
                  </a:lnTo>
                  <a:lnTo>
                    <a:pt x="0" y="5852160"/>
                  </a:lnTo>
                  <a:close/>
                </a:path>
              </a:pathLst>
            </a:custGeom>
            <a:solidFill>
              <a:srgbClr val="387F7F"/>
            </a:solidFill>
          </p:spPr>
        </p:sp>
      </p:grpSp>
      <p:sp>
        <p:nvSpPr>
          <p:cNvPr name="TextBox 69" id="69"/>
          <p:cNvSpPr txBox="true"/>
          <p:nvPr/>
        </p:nvSpPr>
        <p:spPr>
          <a:xfrm rot="0">
            <a:off x="9669780" y="3671173"/>
            <a:ext cx="5692140" cy="487680"/>
          </a:xfrm>
          <a:prstGeom prst="rect">
            <a:avLst/>
          </a:prstGeom>
        </p:spPr>
        <p:txBody>
          <a:bodyPr anchor="t" rtlCol="false" tIns="0" lIns="0" bIns="0" rIns="0">
            <a:spAutoFit/>
          </a:bodyPr>
          <a:lstStyle/>
          <a:p>
            <a:pPr algn="l">
              <a:lnSpc>
                <a:spcPts val="2673"/>
              </a:lnSpc>
            </a:pPr>
            <a:r>
              <a:rPr lang="en-US" sz="1650" b="true">
                <a:solidFill>
                  <a:srgbClr val="387F7F"/>
                </a:solidFill>
                <a:latin typeface="Poppins Bold"/>
                <a:ea typeface="Poppins Bold"/>
                <a:cs typeface="Poppins Bold"/>
                <a:sym typeface="Poppins Bold"/>
              </a:rPr>
              <a:t>Step 1</a:t>
            </a:r>
          </a:p>
        </p:txBody>
      </p:sp>
      <p:sp>
        <p:nvSpPr>
          <p:cNvPr name="TextBox 70" id="70"/>
          <p:cNvSpPr txBox="true"/>
          <p:nvPr/>
        </p:nvSpPr>
        <p:spPr>
          <a:xfrm rot="0">
            <a:off x="9669780" y="4123801"/>
            <a:ext cx="5692140" cy="1242060"/>
          </a:xfrm>
          <a:prstGeom prst="rect">
            <a:avLst/>
          </a:prstGeom>
        </p:spPr>
        <p:txBody>
          <a:bodyPr anchor="t" rtlCol="false" tIns="0" lIns="0" bIns="0" rIns="0">
            <a:spAutoFit/>
          </a:bodyPr>
          <a:lstStyle/>
          <a:p>
            <a:pPr algn="l">
              <a:lnSpc>
                <a:spcPts val="2995"/>
              </a:lnSpc>
            </a:pPr>
            <a:r>
              <a:rPr lang="en-US" sz="1950">
                <a:solidFill>
                  <a:srgbClr val="475569"/>
                </a:solidFill>
                <a:latin typeface="Poppins"/>
                <a:ea typeface="Poppins"/>
                <a:cs typeface="Poppins"/>
                <a:sym typeface="Poppins"/>
              </a:rPr>
              <a:t>Home, Get data, Text/CSV. Point at the file. Power BI reads it but does not commit.</a:t>
            </a:r>
          </a:p>
        </p:txBody>
      </p:sp>
      <p:sp>
        <p:nvSpPr>
          <p:cNvPr name="TextBox 71" id="71"/>
          <p:cNvSpPr txBox="true"/>
          <p:nvPr/>
        </p:nvSpPr>
        <p:spPr>
          <a:xfrm rot="0">
            <a:off x="9669780" y="5454253"/>
            <a:ext cx="5692140" cy="487680"/>
          </a:xfrm>
          <a:prstGeom prst="rect">
            <a:avLst/>
          </a:prstGeom>
        </p:spPr>
        <p:txBody>
          <a:bodyPr anchor="t" rtlCol="false" tIns="0" lIns="0" bIns="0" rIns="0">
            <a:spAutoFit/>
          </a:bodyPr>
          <a:lstStyle/>
          <a:p>
            <a:pPr algn="l">
              <a:lnSpc>
                <a:spcPts val="2673"/>
              </a:lnSpc>
            </a:pPr>
            <a:r>
              <a:rPr lang="en-US" sz="1650" b="true">
                <a:solidFill>
                  <a:srgbClr val="387F7F"/>
                </a:solidFill>
                <a:latin typeface="Poppins Bold"/>
                <a:ea typeface="Poppins Bold"/>
                <a:cs typeface="Poppins Bold"/>
                <a:sym typeface="Poppins Bold"/>
              </a:rPr>
              <a:t>Step 2</a:t>
            </a:r>
          </a:p>
        </p:txBody>
      </p:sp>
      <p:sp>
        <p:nvSpPr>
          <p:cNvPr name="TextBox 72" id="72"/>
          <p:cNvSpPr txBox="true"/>
          <p:nvPr/>
        </p:nvSpPr>
        <p:spPr>
          <a:xfrm rot="0">
            <a:off x="9669780" y="5906881"/>
            <a:ext cx="5692140" cy="1447800"/>
          </a:xfrm>
          <a:prstGeom prst="rect">
            <a:avLst/>
          </a:prstGeom>
        </p:spPr>
        <p:txBody>
          <a:bodyPr anchor="t" rtlCol="false" tIns="0" lIns="0" bIns="0" rIns="0">
            <a:spAutoFit/>
          </a:bodyPr>
          <a:lstStyle/>
          <a:p>
            <a:pPr algn="l">
              <a:lnSpc>
                <a:spcPts val="2995"/>
              </a:lnSpc>
            </a:pPr>
            <a:r>
              <a:rPr lang="en-US" sz="1950">
                <a:solidFill>
                  <a:srgbClr val="475569"/>
                </a:solidFill>
                <a:latin typeface="Poppins"/>
                <a:ea typeface="Poppins"/>
                <a:cs typeface="Poppins"/>
                <a:sym typeface="Poppins"/>
              </a:rPr>
              <a:t>The preview offers two buttons and the choice matters. Load takes the file exactly as it is. Transform data opens Power Query first.</a:t>
            </a:r>
          </a:p>
        </p:txBody>
      </p:sp>
      <p:grpSp>
        <p:nvGrpSpPr>
          <p:cNvPr name="Group 73" id="73"/>
          <p:cNvGrpSpPr/>
          <p:nvPr/>
        </p:nvGrpSpPr>
        <p:grpSpPr>
          <a:xfrm rot="0">
            <a:off x="9669780" y="7519273"/>
            <a:ext cx="5692140" cy="754380"/>
            <a:chOff x="0" y="0"/>
            <a:chExt cx="7589520" cy="1005840"/>
          </a:xfrm>
        </p:grpSpPr>
        <p:sp>
          <p:nvSpPr>
            <p:cNvPr name="Freeform 74" id="74"/>
            <p:cNvSpPr/>
            <p:nvPr/>
          </p:nvSpPr>
          <p:spPr>
            <a:xfrm flipH="false" flipV="false" rot="0">
              <a:off x="0" y="0"/>
              <a:ext cx="7589520" cy="1005840"/>
            </a:xfrm>
            <a:custGeom>
              <a:avLst/>
              <a:gdLst/>
              <a:ahLst/>
              <a:cxnLst/>
              <a:rect r="r" b="b" t="t" l="l"/>
              <a:pathLst>
                <a:path h="1005840" w="7589520">
                  <a:moveTo>
                    <a:pt x="0" y="146304"/>
                  </a:moveTo>
                  <a:cubicBezTo>
                    <a:pt x="0" y="65532"/>
                    <a:pt x="65532" y="0"/>
                    <a:pt x="146304" y="0"/>
                  </a:cubicBezTo>
                  <a:lnTo>
                    <a:pt x="7443216" y="0"/>
                  </a:lnTo>
                  <a:cubicBezTo>
                    <a:pt x="7523988" y="0"/>
                    <a:pt x="7589520" y="65532"/>
                    <a:pt x="7589520" y="146304"/>
                  </a:cubicBezTo>
                  <a:lnTo>
                    <a:pt x="7589520" y="859536"/>
                  </a:lnTo>
                  <a:cubicBezTo>
                    <a:pt x="7589520" y="940308"/>
                    <a:pt x="7523988" y="1005840"/>
                    <a:pt x="7443216" y="1005840"/>
                  </a:cubicBezTo>
                  <a:lnTo>
                    <a:pt x="146304" y="1005840"/>
                  </a:lnTo>
                  <a:cubicBezTo>
                    <a:pt x="65532" y="1005840"/>
                    <a:pt x="0" y="940308"/>
                    <a:pt x="0" y="859536"/>
                  </a:cubicBezTo>
                  <a:close/>
                </a:path>
              </a:pathLst>
            </a:custGeom>
            <a:solidFill>
              <a:srgbClr val="FBF3E6"/>
            </a:solidFill>
          </p:spPr>
        </p:sp>
      </p:grpSp>
      <p:grpSp>
        <p:nvGrpSpPr>
          <p:cNvPr name="Group 75" id="75"/>
          <p:cNvGrpSpPr/>
          <p:nvPr/>
        </p:nvGrpSpPr>
        <p:grpSpPr>
          <a:xfrm rot="0">
            <a:off x="9875520" y="7519273"/>
            <a:ext cx="5349240" cy="754380"/>
            <a:chOff x="0" y="0"/>
            <a:chExt cx="7132320" cy="1005840"/>
          </a:xfrm>
        </p:grpSpPr>
        <p:sp>
          <p:nvSpPr>
            <p:cNvPr name="Freeform 76" id="76"/>
            <p:cNvSpPr/>
            <p:nvPr/>
          </p:nvSpPr>
          <p:spPr>
            <a:xfrm flipH="false" flipV="false" rot="0">
              <a:off x="0" y="0"/>
              <a:ext cx="7132320" cy="1005840"/>
            </a:xfrm>
            <a:custGeom>
              <a:avLst/>
              <a:gdLst/>
              <a:ahLst/>
              <a:cxnLst/>
              <a:rect r="r" b="b" t="t" l="l"/>
              <a:pathLst>
                <a:path h="1005840" w="7132320">
                  <a:moveTo>
                    <a:pt x="0" y="0"/>
                  </a:moveTo>
                  <a:lnTo>
                    <a:pt x="7132320" y="0"/>
                  </a:lnTo>
                  <a:lnTo>
                    <a:pt x="7132320" y="1005840"/>
                  </a:lnTo>
                  <a:lnTo>
                    <a:pt x="0" y="1005840"/>
                  </a:lnTo>
                  <a:close/>
                </a:path>
              </a:pathLst>
            </a:custGeom>
            <a:blipFill>
              <a:blip r:embed="rId9">
                <a:alphaModFix amt="0"/>
              </a:blip>
              <a:stretch>
                <a:fillRect l="0" t="-88166" r="0" b="-88166"/>
              </a:stretch>
            </a:blipFill>
          </p:spPr>
        </p:sp>
        <p:sp>
          <p:nvSpPr>
            <p:cNvPr name="TextBox 77" id="77"/>
            <p:cNvSpPr txBox="true"/>
            <p:nvPr/>
          </p:nvSpPr>
          <p:spPr>
            <a:xfrm>
              <a:off x="0" y="-19050"/>
              <a:ext cx="7132320" cy="1024890"/>
            </a:xfrm>
            <a:prstGeom prst="rect">
              <a:avLst/>
            </a:prstGeom>
          </p:spPr>
          <p:txBody>
            <a:bodyPr anchor="ctr" rtlCol="false" tIns="0" lIns="0" bIns="0" rIns="0"/>
            <a:lstStyle/>
            <a:p>
              <a:pPr algn="l">
                <a:lnSpc>
                  <a:spcPts val="2160"/>
                </a:lnSpc>
              </a:pPr>
              <a:r>
                <a:rPr lang="en-US" sz="1800" b="true">
                  <a:solidFill>
                    <a:srgbClr val="8A5A12"/>
                  </a:solidFill>
                  <a:latin typeface="Poppins Bold"/>
                  <a:ea typeface="Poppins Bold"/>
                  <a:cs typeface="Poppins Bold"/>
                  <a:sym typeface="Poppins Bold"/>
                </a:rPr>
                <a:t>Always choose Transform data. Always.</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266517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Four</a:t>
            </a:r>
            <a:r>
              <a:rPr lang="en-US" sz="5000">
                <a:solidFill>
                  <a:srgbClr val="388080"/>
                </a:solidFill>
                <a:latin typeface="Poppins"/>
                <a:ea typeface="Poppins"/>
                <a:cs typeface="Poppins"/>
                <a:sym typeface="Poppins"/>
              </a:rPr>
              <a:t> transformations, recorded as steps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16794" y="2374664"/>
            <a:ext cx="2876740" cy="709612"/>
            <a:chOff x="0" y="0"/>
            <a:chExt cx="3835654" cy="946150"/>
          </a:xfrm>
        </p:grpSpPr>
        <p:sp>
          <p:nvSpPr>
            <p:cNvPr name="Freeform 12" id="12"/>
            <p:cNvSpPr/>
            <p:nvPr/>
          </p:nvSpPr>
          <p:spPr>
            <a:xfrm flipH="false" flipV="false" rot="0">
              <a:off x="0" y="0"/>
              <a:ext cx="3835654" cy="946150"/>
            </a:xfrm>
            <a:custGeom>
              <a:avLst/>
              <a:gdLst/>
              <a:ahLst/>
              <a:cxnLst/>
              <a:rect r="r" b="b" t="t" l="l"/>
              <a:pathLst>
                <a:path h="946150" w="3835654">
                  <a:moveTo>
                    <a:pt x="0" y="473075"/>
                  </a:moveTo>
                  <a:cubicBezTo>
                    <a:pt x="0" y="211836"/>
                    <a:pt x="211836" y="0"/>
                    <a:pt x="473075" y="0"/>
                  </a:cubicBezTo>
                  <a:lnTo>
                    <a:pt x="3362579" y="0"/>
                  </a:lnTo>
                  <a:cubicBezTo>
                    <a:pt x="3623818" y="0"/>
                    <a:pt x="3835654" y="211836"/>
                    <a:pt x="3835654" y="473075"/>
                  </a:cubicBezTo>
                  <a:cubicBezTo>
                    <a:pt x="3835654" y="734314"/>
                    <a:pt x="3623818" y="946150"/>
                    <a:pt x="3362579" y="946150"/>
                  </a:cubicBezTo>
                  <a:lnTo>
                    <a:pt x="473075" y="946150"/>
                  </a:lnTo>
                  <a:cubicBezTo>
                    <a:pt x="211836" y="946150"/>
                    <a:pt x="0" y="734314"/>
                    <a:pt x="0" y="473075"/>
                  </a:cubicBezTo>
                  <a:close/>
                </a:path>
              </a:pathLst>
            </a:custGeom>
            <a:solidFill>
              <a:srgbClr val="FFFFFF"/>
            </a:solidFill>
            <a:ln w="23812" cap="sq">
              <a:solidFill>
                <a:srgbClr val="E2E8F0"/>
              </a:solidFill>
              <a:prstDash val="solid"/>
              <a:miter/>
            </a:ln>
          </p:spPr>
        </p:sp>
      </p:grpSp>
      <p:grpSp>
        <p:nvGrpSpPr>
          <p:cNvPr name="Group 13" id="13"/>
          <p:cNvGrpSpPr/>
          <p:nvPr/>
        </p:nvGrpSpPr>
        <p:grpSpPr>
          <a:xfrm rot="0">
            <a:off x="1165860" y="2510015"/>
            <a:ext cx="438912" cy="438912"/>
            <a:chOff x="0" y="0"/>
            <a:chExt cx="585216" cy="585216"/>
          </a:xfrm>
        </p:grpSpPr>
        <p:sp>
          <p:nvSpPr>
            <p:cNvPr name="Freeform 14" id="1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EEF4F4"/>
            </a:solidFill>
          </p:spPr>
        </p:sp>
      </p:grpSp>
      <p:grpSp>
        <p:nvGrpSpPr>
          <p:cNvPr name="Group 15" id="15"/>
          <p:cNvGrpSpPr/>
          <p:nvPr/>
        </p:nvGrpSpPr>
        <p:grpSpPr>
          <a:xfrm rot="0">
            <a:off x="1165860" y="2510015"/>
            <a:ext cx="438912" cy="438912"/>
            <a:chOff x="0" y="0"/>
            <a:chExt cx="585216" cy="585216"/>
          </a:xfrm>
        </p:grpSpPr>
        <p:sp>
          <p:nvSpPr>
            <p:cNvPr name="Freeform 16" id="1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17" id="1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64748B"/>
                  </a:solidFill>
                  <a:latin typeface="Poppins Bold"/>
                  <a:ea typeface="Poppins Bold"/>
                  <a:cs typeface="Poppins Bold"/>
                  <a:sym typeface="Poppins Bold"/>
                </a:rPr>
                <a:t>1</a:t>
              </a:r>
            </a:p>
          </p:txBody>
        </p:sp>
      </p:grpSp>
      <p:grpSp>
        <p:nvGrpSpPr>
          <p:cNvPr name="Group 18" id="18"/>
          <p:cNvGrpSpPr/>
          <p:nvPr/>
        </p:nvGrpSpPr>
        <p:grpSpPr>
          <a:xfrm rot="0">
            <a:off x="1741932" y="2386571"/>
            <a:ext cx="2002536" cy="685800"/>
            <a:chOff x="0" y="0"/>
            <a:chExt cx="2670048" cy="914400"/>
          </a:xfrm>
        </p:grpSpPr>
        <p:sp>
          <p:nvSpPr>
            <p:cNvPr name="Freeform 19" id="1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20" id="20"/>
            <p:cNvSpPr txBox="true"/>
            <p:nvPr/>
          </p:nvSpPr>
          <p:spPr>
            <a:xfrm>
              <a:off x="0" y="-9525"/>
              <a:ext cx="2670048" cy="923925"/>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Get data</a:t>
              </a:r>
            </a:p>
          </p:txBody>
        </p:sp>
      </p:grpSp>
      <p:grpSp>
        <p:nvGrpSpPr>
          <p:cNvPr name="Group 21" id="21"/>
          <p:cNvGrpSpPr/>
          <p:nvPr/>
        </p:nvGrpSpPr>
        <p:grpSpPr>
          <a:xfrm rot="0">
            <a:off x="4089178" y="2374664"/>
            <a:ext cx="2876740" cy="709612"/>
            <a:chOff x="0" y="0"/>
            <a:chExt cx="3835654" cy="946150"/>
          </a:xfrm>
        </p:grpSpPr>
        <p:sp>
          <p:nvSpPr>
            <p:cNvPr name="Freeform 22" id="22"/>
            <p:cNvSpPr/>
            <p:nvPr/>
          </p:nvSpPr>
          <p:spPr>
            <a:xfrm flipH="false" flipV="false" rot="0">
              <a:off x="0" y="0"/>
              <a:ext cx="3835654" cy="946150"/>
            </a:xfrm>
            <a:custGeom>
              <a:avLst/>
              <a:gdLst/>
              <a:ahLst/>
              <a:cxnLst/>
              <a:rect r="r" b="b" t="t" l="l"/>
              <a:pathLst>
                <a:path h="946150" w="3835654">
                  <a:moveTo>
                    <a:pt x="0" y="473075"/>
                  </a:moveTo>
                  <a:cubicBezTo>
                    <a:pt x="0" y="211836"/>
                    <a:pt x="211836" y="0"/>
                    <a:pt x="473075" y="0"/>
                  </a:cubicBezTo>
                  <a:lnTo>
                    <a:pt x="3362579" y="0"/>
                  </a:lnTo>
                  <a:cubicBezTo>
                    <a:pt x="3623818" y="0"/>
                    <a:pt x="3835654" y="211836"/>
                    <a:pt x="3835654" y="473075"/>
                  </a:cubicBezTo>
                  <a:cubicBezTo>
                    <a:pt x="3835654" y="734314"/>
                    <a:pt x="3623818" y="946150"/>
                    <a:pt x="3362579" y="946150"/>
                  </a:cubicBezTo>
                  <a:lnTo>
                    <a:pt x="473075" y="946150"/>
                  </a:lnTo>
                  <a:cubicBezTo>
                    <a:pt x="211836" y="946150"/>
                    <a:pt x="0" y="734314"/>
                    <a:pt x="0" y="473075"/>
                  </a:cubicBezTo>
                  <a:close/>
                </a:path>
              </a:pathLst>
            </a:custGeom>
            <a:solidFill>
              <a:srgbClr val="FFFFFF"/>
            </a:solidFill>
            <a:ln w="23812" cap="sq">
              <a:solidFill>
                <a:srgbClr val="E2E8F0"/>
              </a:solidFill>
              <a:prstDash val="solid"/>
              <a:miter/>
            </a:ln>
          </p:spPr>
        </p:sp>
      </p:grpSp>
      <p:grpSp>
        <p:nvGrpSpPr>
          <p:cNvPr name="Group 23" id="23"/>
          <p:cNvGrpSpPr/>
          <p:nvPr/>
        </p:nvGrpSpPr>
        <p:grpSpPr>
          <a:xfrm rot="0">
            <a:off x="4238244" y="2510015"/>
            <a:ext cx="438912" cy="438912"/>
            <a:chOff x="0" y="0"/>
            <a:chExt cx="585216" cy="585216"/>
          </a:xfrm>
        </p:grpSpPr>
        <p:sp>
          <p:nvSpPr>
            <p:cNvPr name="Freeform 24" id="2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EEF4F4"/>
            </a:solidFill>
          </p:spPr>
        </p:sp>
      </p:grpSp>
      <p:grpSp>
        <p:nvGrpSpPr>
          <p:cNvPr name="Group 25" id="25"/>
          <p:cNvGrpSpPr/>
          <p:nvPr/>
        </p:nvGrpSpPr>
        <p:grpSpPr>
          <a:xfrm rot="0">
            <a:off x="4238244" y="2510015"/>
            <a:ext cx="438912" cy="438912"/>
            <a:chOff x="0" y="0"/>
            <a:chExt cx="585216" cy="585216"/>
          </a:xfrm>
        </p:grpSpPr>
        <p:sp>
          <p:nvSpPr>
            <p:cNvPr name="Freeform 26" id="2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27" id="2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64748B"/>
                  </a:solidFill>
                  <a:latin typeface="Poppins Bold"/>
                  <a:ea typeface="Poppins Bold"/>
                  <a:cs typeface="Poppins Bold"/>
                  <a:sym typeface="Poppins Bold"/>
                </a:rPr>
                <a:t>2</a:t>
              </a:r>
            </a:p>
          </p:txBody>
        </p:sp>
      </p:grpSp>
      <p:grpSp>
        <p:nvGrpSpPr>
          <p:cNvPr name="Group 28" id="28"/>
          <p:cNvGrpSpPr/>
          <p:nvPr/>
        </p:nvGrpSpPr>
        <p:grpSpPr>
          <a:xfrm rot="0">
            <a:off x="4814316" y="2386571"/>
            <a:ext cx="2002536" cy="685800"/>
            <a:chOff x="0" y="0"/>
            <a:chExt cx="2670048" cy="914400"/>
          </a:xfrm>
        </p:grpSpPr>
        <p:sp>
          <p:nvSpPr>
            <p:cNvPr name="Freeform 29" id="2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30" id="30"/>
            <p:cNvSpPr txBox="true"/>
            <p:nvPr/>
          </p:nvSpPr>
          <p:spPr>
            <a:xfrm>
              <a:off x="0" y="-9525"/>
              <a:ext cx="2670048" cy="923925"/>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Preview</a:t>
              </a:r>
            </a:p>
          </p:txBody>
        </p:sp>
      </p:grpSp>
      <p:grpSp>
        <p:nvGrpSpPr>
          <p:cNvPr name="Group 31" id="31"/>
          <p:cNvGrpSpPr/>
          <p:nvPr/>
        </p:nvGrpSpPr>
        <p:grpSpPr>
          <a:xfrm rot="0">
            <a:off x="7173468" y="2386571"/>
            <a:ext cx="2852928" cy="685800"/>
            <a:chOff x="0" y="0"/>
            <a:chExt cx="3803904" cy="914400"/>
          </a:xfrm>
        </p:grpSpPr>
        <p:sp>
          <p:nvSpPr>
            <p:cNvPr name="Freeform 32" id="32"/>
            <p:cNvSpPr/>
            <p:nvPr/>
          </p:nvSpPr>
          <p:spPr>
            <a:xfrm flipH="false" flipV="false" rot="0">
              <a:off x="0" y="0"/>
              <a:ext cx="3803904" cy="914400"/>
            </a:xfrm>
            <a:custGeom>
              <a:avLst/>
              <a:gdLst/>
              <a:ahLst/>
              <a:cxnLst/>
              <a:rect r="r" b="b" t="t" l="l"/>
              <a:pathLst>
                <a:path h="914400" w="3803904">
                  <a:moveTo>
                    <a:pt x="0" y="457200"/>
                  </a:moveTo>
                  <a:cubicBezTo>
                    <a:pt x="0" y="204724"/>
                    <a:pt x="204724" y="0"/>
                    <a:pt x="457200" y="0"/>
                  </a:cubicBezTo>
                  <a:lnTo>
                    <a:pt x="3346704" y="0"/>
                  </a:lnTo>
                  <a:cubicBezTo>
                    <a:pt x="3599180" y="0"/>
                    <a:pt x="3803904" y="204724"/>
                    <a:pt x="3803904" y="457200"/>
                  </a:cubicBezTo>
                  <a:cubicBezTo>
                    <a:pt x="3803904" y="709676"/>
                    <a:pt x="3599180" y="914400"/>
                    <a:pt x="3346704" y="914400"/>
                  </a:cubicBezTo>
                  <a:lnTo>
                    <a:pt x="457200" y="914400"/>
                  </a:lnTo>
                  <a:cubicBezTo>
                    <a:pt x="204724" y="914400"/>
                    <a:pt x="0" y="709676"/>
                    <a:pt x="0" y="457200"/>
                  </a:cubicBezTo>
                  <a:close/>
                </a:path>
              </a:pathLst>
            </a:custGeom>
            <a:solidFill>
              <a:srgbClr val="387F7F"/>
            </a:solidFill>
          </p:spPr>
        </p:sp>
      </p:grpSp>
      <p:grpSp>
        <p:nvGrpSpPr>
          <p:cNvPr name="Group 33" id="33"/>
          <p:cNvGrpSpPr/>
          <p:nvPr/>
        </p:nvGrpSpPr>
        <p:grpSpPr>
          <a:xfrm rot="0">
            <a:off x="7310628" y="2510015"/>
            <a:ext cx="438912" cy="438912"/>
            <a:chOff x="0" y="0"/>
            <a:chExt cx="585216" cy="585216"/>
          </a:xfrm>
        </p:grpSpPr>
        <p:sp>
          <p:nvSpPr>
            <p:cNvPr name="Freeform 34" id="3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FFFFFF"/>
            </a:solidFill>
          </p:spPr>
        </p:sp>
      </p:grpSp>
      <p:grpSp>
        <p:nvGrpSpPr>
          <p:cNvPr name="Group 35" id="35"/>
          <p:cNvGrpSpPr/>
          <p:nvPr/>
        </p:nvGrpSpPr>
        <p:grpSpPr>
          <a:xfrm rot="0">
            <a:off x="7310628" y="2510015"/>
            <a:ext cx="438912" cy="438912"/>
            <a:chOff x="0" y="0"/>
            <a:chExt cx="585216" cy="585216"/>
          </a:xfrm>
        </p:grpSpPr>
        <p:sp>
          <p:nvSpPr>
            <p:cNvPr name="Freeform 36" id="3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37" id="3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3</a:t>
              </a:r>
            </a:p>
          </p:txBody>
        </p:sp>
      </p:grpSp>
      <p:grpSp>
        <p:nvGrpSpPr>
          <p:cNvPr name="Group 38" id="38"/>
          <p:cNvGrpSpPr/>
          <p:nvPr/>
        </p:nvGrpSpPr>
        <p:grpSpPr>
          <a:xfrm rot="0">
            <a:off x="7886700" y="2386571"/>
            <a:ext cx="2002536" cy="685800"/>
            <a:chOff x="0" y="0"/>
            <a:chExt cx="2670048" cy="914400"/>
          </a:xfrm>
        </p:grpSpPr>
        <p:sp>
          <p:nvSpPr>
            <p:cNvPr name="Freeform 39" id="3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40" id="40"/>
            <p:cNvSpPr txBox="true"/>
            <p:nvPr/>
          </p:nvSpPr>
          <p:spPr>
            <a:xfrm>
              <a:off x="0" y="-9525"/>
              <a:ext cx="2670048" cy="923925"/>
            </a:xfrm>
            <a:prstGeom prst="rect">
              <a:avLst/>
            </a:prstGeom>
          </p:spPr>
          <p:txBody>
            <a:bodyPr anchor="ctr" rtlCol="false" tIns="0" lIns="0" bIns="0" rIns="0"/>
            <a:lstStyle/>
            <a:p>
              <a:pPr algn="l">
                <a:lnSpc>
                  <a:spcPts val="2070"/>
                </a:lnSpc>
              </a:pPr>
              <a:r>
                <a:rPr lang="en-US" sz="1725" b="true">
                  <a:solidFill>
                    <a:srgbClr val="FFFFFF"/>
                  </a:solidFill>
                  <a:latin typeface="Poppins Bold"/>
                  <a:ea typeface="Poppins Bold"/>
                  <a:cs typeface="Poppins Bold"/>
                  <a:sym typeface="Poppins Bold"/>
                </a:rPr>
                <a:t>Transform</a:t>
              </a:r>
            </a:p>
          </p:txBody>
        </p:sp>
      </p:grpSp>
      <p:grpSp>
        <p:nvGrpSpPr>
          <p:cNvPr name="Group 41" id="41"/>
          <p:cNvGrpSpPr/>
          <p:nvPr/>
        </p:nvGrpSpPr>
        <p:grpSpPr>
          <a:xfrm rot="0">
            <a:off x="10245852" y="2386571"/>
            <a:ext cx="2852928" cy="685800"/>
            <a:chOff x="0" y="0"/>
            <a:chExt cx="3803904" cy="914400"/>
          </a:xfrm>
        </p:grpSpPr>
        <p:sp>
          <p:nvSpPr>
            <p:cNvPr name="Freeform 42" id="42"/>
            <p:cNvSpPr/>
            <p:nvPr/>
          </p:nvSpPr>
          <p:spPr>
            <a:xfrm flipH="false" flipV="false" rot="0">
              <a:off x="0" y="0"/>
              <a:ext cx="3803904" cy="914400"/>
            </a:xfrm>
            <a:custGeom>
              <a:avLst/>
              <a:gdLst/>
              <a:ahLst/>
              <a:cxnLst/>
              <a:rect r="r" b="b" t="t" l="l"/>
              <a:pathLst>
                <a:path h="914400" w="3803904">
                  <a:moveTo>
                    <a:pt x="0" y="457200"/>
                  </a:moveTo>
                  <a:cubicBezTo>
                    <a:pt x="0" y="204724"/>
                    <a:pt x="204724" y="0"/>
                    <a:pt x="457200" y="0"/>
                  </a:cubicBezTo>
                  <a:lnTo>
                    <a:pt x="3346704" y="0"/>
                  </a:lnTo>
                  <a:cubicBezTo>
                    <a:pt x="3599180" y="0"/>
                    <a:pt x="3803904" y="204724"/>
                    <a:pt x="3803904" y="457200"/>
                  </a:cubicBezTo>
                  <a:cubicBezTo>
                    <a:pt x="3803904" y="709676"/>
                    <a:pt x="3599180" y="914400"/>
                    <a:pt x="3346704" y="914400"/>
                  </a:cubicBezTo>
                  <a:lnTo>
                    <a:pt x="457200" y="914400"/>
                  </a:lnTo>
                  <a:cubicBezTo>
                    <a:pt x="204724" y="914400"/>
                    <a:pt x="0" y="709676"/>
                    <a:pt x="0" y="457200"/>
                  </a:cubicBezTo>
                  <a:close/>
                </a:path>
              </a:pathLst>
            </a:custGeom>
            <a:solidFill>
              <a:srgbClr val="387F7F"/>
            </a:solidFill>
          </p:spPr>
        </p:sp>
      </p:grpSp>
      <p:grpSp>
        <p:nvGrpSpPr>
          <p:cNvPr name="Group 43" id="43"/>
          <p:cNvGrpSpPr/>
          <p:nvPr/>
        </p:nvGrpSpPr>
        <p:grpSpPr>
          <a:xfrm rot="0">
            <a:off x="10383012" y="2510015"/>
            <a:ext cx="438912" cy="438912"/>
            <a:chOff x="0" y="0"/>
            <a:chExt cx="585216" cy="585216"/>
          </a:xfrm>
        </p:grpSpPr>
        <p:sp>
          <p:nvSpPr>
            <p:cNvPr name="Freeform 44" id="4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FFFFFF"/>
            </a:solidFill>
          </p:spPr>
        </p:sp>
      </p:grpSp>
      <p:grpSp>
        <p:nvGrpSpPr>
          <p:cNvPr name="Group 45" id="45"/>
          <p:cNvGrpSpPr/>
          <p:nvPr/>
        </p:nvGrpSpPr>
        <p:grpSpPr>
          <a:xfrm rot="0">
            <a:off x="10383012" y="2510015"/>
            <a:ext cx="438912" cy="438912"/>
            <a:chOff x="0" y="0"/>
            <a:chExt cx="585216" cy="585216"/>
          </a:xfrm>
        </p:grpSpPr>
        <p:sp>
          <p:nvSpPr>
            <p:cNvPr name="Freeform 46" id="4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47" id="4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4</a:t>
              </a:r>
            </a:p>
          </p:txBody>
        </p:sp>
      </p:grpSp>
      <p:grpSp>
        <p:nvGrpSpPr>
          <p:cNvPr name="Group 48" id="48"/>
          <p:cNvGrpSpPr/>
          <p:nvPr/>
        </p:nvGrpSpPr>
        <p:grpSpPr>
          <a:xfrm rot="0">
            <a:off x="10959084" y="2386571"/>
            <a:ext cx="2002536" cy="685800"/>
            <a:chOff x="0" y="0"/>
            <a:chExt cx="2670048" cy="914400"/>
          </a:xfrm>
        </p:grpSpPr>
        <p:sp>
          <p:nvSpPr>
            <p:cNvPr name="Freeform 49" id="4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50" id="50"/>
            <p:cNvSpPr txBox="true"/>
            <p:nvPr/>
          </p:nvSpPr>
          <p:spPr>
            <a:xfrm>
              <a:off x="0" y="-9525"/>
              <a:ext cx="2670048" cy="923925"/>
            </a:xfrm>
            <a:prstGeom prst="rect">
              <a:avLst/>
            </a:prstGeom>
          </p:spPr>
          <p:txBody>
            <a:bodyPr anchor="ctr" rtlCol="false" tIns="0" lIns="0" bIns="0" rIns="0"/>
            <a:lstStyle/>
            <a:p>
              <a:pPr algn="l">
                <a:lnSpc>
                  <a:spcPts val="2070"/>
                </a:lnSpc>
              </a:pPr>
              <a:r>
                <a:rPr lang="en-US" sz="1725" b="true">
                  <a:solidFill>
                    <a:srgbClr val="FFFFFF"/>
                  </a:solidFill>
                  <a:latin typeface="Poppins Bold"/>
                  <a:ea typeface="Poppins Bold"/>
                  <a:cs typeface="Poppins Bold"/>
                  <a:sym typeface="Poppins Bold"/>
                </a:rPr>
                <a:t>Check</a:t>
              </a:r>
            </a:p>
          </p:txBody>
        </p:sp>
      </p:grpSp>
      <p:grpSp>
        <p:nvGrpSpPr>
          <p:cNvPr name="Group 51" id="51"/>
          <p:cNvGrpSpPr/>
          <p:nvPr/>
        </p:nvGrpSpPr>
        <p:grpSpPr>
          <a:xfrm rot="0">
            <a:off x="13306330" y="2374664"/>
            <a:ext cx="2876740" cy="709612"/>
            <a:chOff x="0" y="0"/>
            <a:chExt cx="3835654" cy="946150"/>
          </a:xfrm>
        </p:grpSpPr>
        <p:sp>
          <p:nvSpPr>
            <p:cNvPr name="Freeform 52" id="52"/>
            <p:cNvSpPr/>
            <p:nvPr/>
          </p:nvSpPr>
          <p:spPr>
            <a:xfrm flipH="false" flipV="false" rot="0">
              <a:off x="0" y="0"/>
              <a:ext cx="3835654" cy="946150"/>
            </a:xfrm>
            <a:custGeom>
              <a:avLst/>
              <a:gdLst/>
              <a:ahLst/>
              <a:cxnLst/>
              <a:rect r="r" b="b" t="t" l="l"/>
              <a:pathLst>
                <a:path h="946150" w="3835654">
                  <a:moveTo>
                    <a:pt x="0" y="473075"/>
                  </a:moveTo>
                  <a:cubicBezTo>
                    <a:pt x="0" y="211836"/>
                    <a:pt x="211836" y="0"/>
                    <a:pt x="473075" y="0"/>
                  </a:cubicBezTo>
                  <a:lnTo>
                    <a:pt x="3362579" y="0"/>
                  </a:lnTo>
                  <a:cubicBezTo>
                    <a:pt x="3623818" y="0"/>
                    <a:pt x="3835654" y="211836"/>
                    <a:pt x="3835654" y="473075"/>
                  </a:cubicBezTo>
                  <a:cubicBezTo>
                    <a:pt x="3835654" y="734314"/>
                    <a:pt x="3623818" y="946150"/>
                    <a:pt x="3362579" y="946150"/>
                  </a:cubicBezTo>
                  <a:lnTo>
                    <a:pt x="473075" y="946150"/>
                  </a:lnTo>
                  <a:cubicBezTo>
                    <a:pt x="211836" y="946150"/>
                    <a:pt x="0" y="734314"/>
                    <a:pt x="0" y="473075"/>
                  </a:cubicBezTo>
                  <a:close/>
                </a:path>
              </a:pathLst>
            </a:custGeom>
            <a:solidFill>
              <a:srgbClr val="FFFFFF"/>
            </a:solidFill>
            <a:ln w="23812" cap="sq">
              <a:solidFill>
                <a:srgbClr val="E2E8F0"/>
              </a:solidFill>
              <a:prstDash val="solid"/>
              <a:miter/>
            </a:ln>
          </p:spPr>
        </p:sp>
      </p:grpSp>
      <p:grpSp>
        <p:nvGrpSpPr>
          <p:cNvPr name="Group 53" id="53"/>
          <p:cNvGrpSpPr/>
          <p:nvPr/>
        </p:nvGrpSpPr>
        <p:grpSpPr>
          <a:xfrm rot="0">
            <a:off x="13455396" y="2510015"/>
            <a:ext cx="438912" cy="438912"/>
            <a:chOff x="0" y="0"/>
            <a:chExt cx="585216" cy="585216"/>
          </a:xfrm>
        </p:grpSpPr>
        <p:sp>
          <p:nvSpPr>
            <p:cNvPr name="Freeform 54" id="5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EEF4F4"/>
            </a:solidFill>
          </p:spPr>
        </p:sp>
      </p:grpSp>
      <p:grpSp>
        <p:nvGrpSpPr>
          <p:cNvPr name="Group 55" id="55"/>
          <p:cNvGrpSpPr/>
          <p:nvPr/>
        </p:nvGrpSpPr>
        <p:grpSpPr>
          <a:xfrm rot="0">
            <a:off x="13455396" y="2510015"/>
            <a:ext cx="438912" cy="438912"/>
            <a:chOff x="0" y="0"/>
            <a:chExt cx="585216" cy="585216"/>
          </a:xfrm>
        </p:grpSpPr>
        <p:sp>
          <p:nvSpPr>
            <p:cNvPr name="Freeform 56" id="5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57" id="5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64748B"/>
                  </a:solidFill>
                  <a:latin typeface="Poppins Bold"/>
                  <a:ea typeface="Poppins Bold"/>
                  <a:cs typeface="Poppins Bold"/>
                  <a:sym typeface="Poppins Bold"/>
                </a:rPr>
                <a:t>5</a:t>
              </a:r>
            </a:p>
          </p:txBody>
        </p:sp>
      </p:grpSp>
      <p:grpSp>
        <p:nvGrpSpPr>
          <p:cNvPr name="Group 58" id="58"/>
          <p:cNvGrpSpPr/>
          <p:nvPr/>
        </p:nvGrpSpPr>
        <p:grpSpPr>
          <a:xfrm rot="0">
            <a:off x="14031468" y="2386571"/>
            <a:ext cx="2002536" cy="685800"/>
            <a:chOff x="0" y="0"/>
            <a:chExt cx="2670048" cy="914400"/>
          </a:xfrm>
        </p:grpSpPr>
        <p:sp>
          <p:nvSpPr>
            <p:cNvPr name="Freeform 59" id="5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60" id="60"/>
            <p:cNvSpPr txBox="true"/>
            <p:nvPr/>
          </p:nvSpPr>
          <p:spPr>
            <a:xfrm>
              <a:off x="0" y="-9525"/>
              <a:ext cx="2670048" cy="923925"/>
            </a:xfrm>
            <a:prstGeom prst="rect">
              <a:avLst/>
            </a:prstGeom>
          </p:spPr>
          <p:txBody>
            <a:bodyPr anchor="ctr" rtlCol="false" tIns="0" lIns="0" bIns="0" rIns="0"/>
            <a:lstStyle/>
            <a:p>
              <a:pPr algn="l">
                <a:lnSpc>
                  <a:spcPts val="2070"/>
                </a:lnSpc>
              </a:pPr>
              <a:r>
                <a:rPr lang="en-US" sz="1725">
                  <a:solidFill>
                    <a:srgbClr val="475569"/>
                  </a:solidFill>
                  <a:latin typeface="Poppins"/>
                  <a:ea typeface="Poppins"/>
                  <a:cs typeface="Poppins"/>
                  <a:sym typeface="Poppins"/>
                </a:rPr>
                <a:t>Close and apply</a:t>
              </a:r>
            </a:p>
          </p:txBody>
        </p:sp>
      </p:grpSp>
      <p:grpSp>
        <p:nvGrpSpPr>
          <p:cNvPr name="Group 61" id="61"/>
          <p:cNvGrpSpPr/>
          <p:nvPr/>
        </p:nvGrpSpPr>
        <p:grpSpPr>
          <a:xfrm rot="0">
            <a:off x="1028700" y="3415271"/>
            <a:ext cx="9052560" cy="1069848"/>
            <a:chOff x="0" y="0"/>
            <a:chExt cx="12070080" cy="1426464"/>
          </a:xfrm>
        </p:grpSpPr>
        <p:sp>
          <p:nvSpPr>
            <p:cNvPr name="Freeform 62" id="62"/>
            <p:cNvSpPr/>
            <p:nvPr/>
          </p:nvSpPr>
          <p:spPr>
            <a:xfrm flipH="false" flipV="false" rot="0">
              <a:off x="0" y="0"/>
              <a:ext cx="12070080" cy="1426464"/>
            </a:xfrm>
            <a:custGeom>
              <a:avLst/>
              <a:gdLst/>
              <a:ahLst/>
              <a:cxnLst/>
              <a:rect r="r" b="b" t="t" l="l"/>
              <a:pathLst>
                <a:path h="1426464" w="12070080">
                  <a:moveTo>
                    <a:pt x="0" y="182880"/>
                  </a:moveTo>
                  <a:cubicBezTo>
                    <a:pt x="0" y="81915"/>
                    <a:pt x="81915" y="0"/>
                    <a:pt x="182880" y="0"/>
                  </a:cubicBezTo>
                  <a:lnTo>
                    <a:pt x="11887200" y="0"/>
                  </a:lnTo>
                  <a:cubicBezTo>
                    <a:pt x="11988165" y="0"/>
                    <a:pt x="12070080" y="81915"/>
                    <a:pt x="12070080" y="182880"/>
                  </a:cubicBezTo>
                  <a:lnTo>
                    <a:pt x="12070080" y="1243584"/>
                  </a:lnTo>
                  <a:cubicBezTo>
                    <a:pt x="12070080" y="1344549"/>
                    <a:pt x="11988165" y="1426464"/>
                    <a:pt x="11887200" y="1426464"/>
                  </a:cubicBezTo>
                  <a:lnTo>
                    <a:pt x="182880" y="1426464"/>
                  </a:lnTo>
                  <a:cubicBezTo>
                    <a:pt x="81915" y="1426464"/>
                    <a:pt x="0" y="1344549"/>
                    <a:pt x="0" y="1243584"/>
                  </a:cubicBezTo>
                  <a:close/>
                </a:path>
              </a:pathLst>
            </a:custGeom>
            <a:solidFill>
              <a:srgbClr val="FFFFFF"/>
            </a:solidFill>
          </p:spPr>
        </p:sp>
      </p:grpSp>
      <p:grpSp>
        <p:nvGrpSpPr>
          <p:cNvPr name="Group 63" id="63"/>
          <p:cNvGrpSpPr/>
          <p:nvPr/>
        </p:nvGrpSpPr>
        <p:grpSpPr>
          <a:xfrm rot="0">
            <a:off x="1371600" y="3634727"/>
            <a:ext cx="630936" cy="630936"/>
            <a:chOff x="0" y="0"/>
            <a:chExt cx="841248" cy="841248"/>
          </a:xfrm>
        </p:grpSpPr>
        <p:sp>
          <p:nvSpPr>
            <p:cNvPr name="Freeform 64" id="64"/>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87F7F"/>
            </a:solidFill>
          </p:spPr>
        </p:sp>
      </p:grpSp>
      <p:grpSp>
        <p:nvGrpSpPr>
          <p:cNvPr name="Group 65" id="65"/>
          <p:cNvGrpSpPr/>
          <p:nvPr/>
        </p:nvGrpSpPr>
        <p:grpSpPr>
          <a:xfrm rot="0">
            <a:off x="1371600" y="3634727"/>
            <a:ext cx="630936" cy="630936"/>
            <a:chOff x="0" y="0"/>
            <a:chExt cx="841248" cy="841248"/>
          </a:xfrm>
        </p:grpSpPr>
        <p:sp>
          <p:nvSpPr>
            <p:cNvPr name="Freeform 66" id="66"/>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9">
                <a:alphaModFix amt="0"/>
              </a:blip>
              <a:stretch>
                <a:fillRect l="-78303" t="0" r="-78303" b="0"/>
              </a:stretch>
            </a:blipFill>
          </p:spPr>
        </p:sp>
        <p:sp>
          <p:nvSpPr>
            <p:cNvPr name="TextBox 67" id="67"/>
            <p:cNvSpPr txBox="true"/>
            <p:nvPr/>
          </p:nvSpPr>
          <p:spPr>
            <a:xfrm>
              <a:off x="0" y="-28575"/>
              <a:ext cx="841248" cy="869823"/>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1</a:t>
              </a:r>
            </a:p>
          </p:txBody>
        </p:sp>
      </p:grpSp>
      <p:grpSp>
        <p:nvGrpSpPr>
          <p:cNvPr name="Group 68" id="68"/>
          <p:cNvGrpSpPr/>
          <p:nvPr/>
        </p:nvGrpSpPr>
        <p:grpSpPr>
          <a:xfrm rot="0">
            <a:off x="2221992" y="3470135"/>
            <a:ext cx="3429000" cy="493776"/>
            <a:chOff x="0" y="0"/>
            <a:chExt cx="4572000" cy="658368"/>
          </a:xfrm>
        </p:grpSpPr>
        <p:sp>
          <p:nvSpPr>
            <p:cNvPr name="Freeform 69" id="69"/>
            <p:cNvSpPr/>
            <p:nvPr/>
          </p:nvSpPr>
          <p:spPr>
            <a:xfrm flipH="false" flipV="false" rot="0">
              <a:off x="0" y="0"/>
              <a:ext cx="4572000" cy="658368"/>
            </a:xfrm>
            <a:custGeom>
              <a:avLst/>
              <a:gdLst/>
              <a:ahLst/>
              <a:cxnLst/>
              <a:rect r="r" b="b" t="t" l="l"/>
              <a:pathLst>
                <a:path h="658368" w="4572000">
                  <a:moveTo>
                    <a:pt x="0" y="0"/>
                  </a:moveTo>
                  <a:lnTo>
                    <a:pt x="4572000" y="0"/>
                  </a:lnTo>
                  <a:lnTo>
                    <a:pt x="4572000" y="658368"/>
                  </a:lnTo>
                  <a:lnTo>
                    <a:pt x="0" y="658368"/>
                  </a:lnTo>
                  <a:close/>
                </a:path>
              </a:pathLst>
            </a:custGeom>
            <a:blipFill>
              <a:blip r:embed="rId9">
                <a:alphaModFix amt="0"/>
              </a:blip>
              <a:stretch>
                <a:fillRect l="0" t="-85312" r="0" b="-85312"/>
              </a:stretch>
            </a:blipFill>
          </p:spPr>
        </p:sp>
        <p:sp>
          <p:nvSpPr>
            <p:cNvPr name="TextBox 70" id="70"/>
            <p:cNvSpPr txBox="true"/>
            <p:nvPr/>
          </p:nvSpPr>
          <p:spPr>
            <a:xfrm>
              <a:off x="0" y="-19050"/>
              <a:ext cx="4572000" cy="677418"/>
            </a:xfrm>
            <a:prstGeom prst="rect">
              <a:avLst/>
            </a:prstGeom>
          </p:spPr>
          <p:txBody>
            <a:bodyPr anchor="ctr" rtlCol="false" tIns="0" lIns="0" bIns="0" rIns="0"/>
            <a:lstStyle/>
            <a:p>
              <a:pPr algn="l">
                <a:lnSpc>
                  <a:spcPts val="2250"/>
                </a:lnSpc>
              </a:pPr>
              <a:r>
                <a:rPr lang="en-US" sz="1875" b="true">
                  <a:solidFill>
                    <a:srgbClr val="0A1A23"/>
                  </a:solidFill>
                  <a:latin typeface="Poppins Bold"/>
                  <a:ea typeface="Poppins Bold"/>
                  <a:cs typeface="Poppins Bold"/>
                  <a:sym typeface="Poppins Bold"/>
                </a:rPr>
                <a:t>Promote headers</a:t>
              </a:r>
            </a:p>
          </p:txBody>
        </p:sp>
      </p:grpSp>
      <p:sp>
        <p:nvSpPr>
          <p:cNvPr name="TextBox 71" id="71"/>
          <p:cNvSpPr txBox="true"/>
          <p:nvPr/>
        </p:nvSpPr>
        <p:spPr>
          <a:xfrm rot="0">
            <a:off x="2221992" y="3898379"/>
            <a:ext cx="7543800" cy="531876"/>
          </a:xfrm>
          <a:prstGeom prst="rect">
            <a:avLst/>
          </a:prstGeom>
        </p:spPr>
        <p:txBody>
          <a:bodyPr anchor="t" rtlCol="false" tIns="0" lIns="0" bIns="0" rIns="0">
            <a:spAutoFit/>
          </a:bodyPr>
          <a:lstStyle/>
          <a:p>
            <a:pPr algn="l">
              <a:lnSpc>
                <a:spcPts val="2173"/>
              </a:lnSpc>
            </a:pPr>
            <a:r>
              <a:rPr lang="en-US" sz="1575">
                <a:solidFill>
                  <a:srgbClr val="475569"/>
                </a:solidFill>
                <a:latin typeface="Poppins"/>
                <a:ea typeface="Poppins"/>
                <a:cs typeface="Poppins"/>
                <a:sym typeface="Poppins"/>
              </a:rPr>
              <a:t>if Power BI did not do it for you</a:t>
            </a:r>
          </a:p>
        </p:txBody>
      </p:sp>
      <p:grpSp>
        <p:nvGrpSpPr>
          <p:cNvPr name="Group 72" id="72"/>
          <p:cNvGrpSpPr/>
          <p:nvPr/>
        </p:nvGrpSpPr>
        <p:grpSpPr>
          <a:xfrm rot="0">
            <a:off x="1028700" y="4622279"/>
            <a:ext cx="9052560" cy="1069848"/>
            <a:chOff x="0" y="0"/>
            <a:chExt cx="12070080" cy="1426464"/>
          </a:xfrm>
        </p:grpSpPr>
        <p:sp>
          <p:nvSpPr>
            <p:cNvPr name="Freeform 73" id="73"/>
            <p:cNvSpPr/>
            <p:nvPr/>
          </p:nvSpPr>
          <p:spPr>
            <a:xfrm flipH="false" flipV="false" rot="0">
              <a:off x="0" y="0"/>
              <a:ext cx="12070080" cy="1426464"/>
            </a:xfrm>
            <a:custGeom>
              <a:avLst/>
              <a:gdLst/>
              <a:ahLst/>
              <a:cxnLst/>
              <a:rect r="r" b="b" t="t" l="l"/>
              <a:pathLst>
                <a:path h="1426464" w="12070080">
                  <a:moveTo>
                    <a:pt x="0" y="182880"/>
                  </a:moveTo>
                  <a:cubicBezTo>
                    <a:pt x="0" y="81915"/>
                    <a:pt x="81915" y="0"/>
                    <a:pt x="182880" y="0"/>
                  </a:cubicBezTo>
                  <a:lnTo>
                    <a:pt x="11887200" y="0"/>
                  </a:lnTo>
                  <a:cubicBezTo>
                    <a:pt x="11988165" y="0"/>
                    <a:pt x="12070080" y="81915"/>
                    <a:pt x="12070080" y="182880"/>
                  </a:cubicBezTo>
                  <a:lnTo>
                    <a:pt x="12070080" y="1243584"/>
                  </a:lnTo>
                  <a:cubicBezTo>
                    <a:pt x="12070080" y="1344549"/>
                    <a:pt x="11988165" y="1426464"/>
                    <a:pt x="11887200" y="1426464"/>
                  </a:cubicBezTo>
                  <a:lnTo>
                    <a:pt x="182880" y="1426464"/>
                  </a:lnTo>
                  <a:cubicBezTo>
                    <a:pt x="81915" y="1426464"/>
                    <a:pt x="0" y="1344549"/>
                    <a:pt x="0" y="1243584"/>
                  </a:cubicBezTo>
                  <a:close/>
                </a:path>
              </a:pathLst>
            </a:custGeom>
            <a:solidFill>
              <a:srgbClr val="FFFFFF"/>
            </a:solidFill>
          </p:spPr>
        </p:sp>
      </p:grpSp>
      <p:grpSp>
        <p:nvGrpSpPr>
          <p:cNvPr name="Group 74" id="74"/>
          <p:cNvGrpSpPr/>
          <p:nvPr/>
        </p:nvGrpSpPr>
        <p:grpSpPr>
          <a:xfrm rot="0">
            <a:off x="1371600" y="4841735"/>
            <a:ext cx="630936" cy="630936"/>
            <a:chOff x="0" y="0"/>
            <a:chExt cx="841248" cy="841248"/>
          </a:xfrm>
        </p:grpSpPr>
        <p:sp>
          <p:nvSpPr>
            <p:cNvPr name="Freeform 75" id="75"/>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87F7F"/>
            </a:solidFill>
          </p:spPr>
        </p:sp>
      </p:grpSp>
      <p:grpSp>
        <p:nvGrpSpPr>
          <p:cNvPr name="Group 76" id="76"/>
          <p:cNvGrpSpPr/>
          <p:nvPr/>
        </p:nvGrpSpPr>
        <p:grpSpPr>
          <a:xfrm rot="0">
            <a:off x="1371600" y="4841735"/>
            <a:ext cx="630936" cy="630936"/>
            <a:chOff x="0" y="0"/>
            <a:chExt cx="841248" cy="841248"/>
          </a:xfrm>
        </p:grpSpPr>
        <p:sp>
          <p:nvSpPr>
            <p:cNvPr name="Freeform 77" id="77"/>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9">
                <a:alphaModFix amt="0"/>
              </a:blip>
              <a:stretch>
                <a:fillRect l="-78303" t="0" r="-78303" b="0"/>
              </a:stretch>
            </a:blipFill>
          </p:spPr>
        </p:sp>
        <p:sp>
          <p:nvSpPr>
            <p:cNvPr name="TextBox 78" id="78"/>
            <p:cNvSpPr txBox="true"/>
            <p:nvPr/>
          </p:nvSpPr>
          <p:spPr>
            <a:xfrm>
              <a:off x="0" y="-28575"/>
              <a:ext cx="841248" cy="869823"/>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2</a:t>
              </a:r>
            </a:p>
          </p:txBody>
        </p:sp>
      </p:grpSp>
      <p:grpSp>
        <p:nvGrpSpPr>
          <p:cNvPr name="Group 79" id="79"/>
          <p:cNvGrpSpPr/>
          <p:nvPr/>
        </p:nvGrpSpPr>
        <p:grpSpPr>
          <a:xfrm rot="0">
            <a:off x="2221992" y="4677143"/>
            <a:ext cx="3429000" cy="493776"/>
            <a:chOff x="0" y="0"/>
            <a:chExt cx="4572000" cy="658368"/>
          </a:xfrm>
        </p:grpSpPr>
        <p:sp>
          <p:nvSpPr>
            <p:cNvPr name="Freeform 80" id="80"/>
            <p:cNvSpPr/>
            <p:nvPr/>
          </p:nvSpPr>
          <p:spPr>
            <a:xfrm flipH="false" flipV="false" rot="0">
              <a:off x="0" y="0"/>
              <a:ext cx="4572000" cy="658368"/>
            </a:xfrm>
            <a:custGeom>
              <a:avLst/>
              <a:gdLst/>
              <a:ahLst/>
              <a:cxnLst/>
              <a:rect r="r" b="b" t="t" l="l"/>
              <a:pathLst>
                <a:path h="658368" w="4572000">
                  <a:moveTo>
                    <a:pt x="0" y="0"/>
                  </a:moveTo>
                  <a:lnTo>
                    <a:pt x="4572000" y="0"/>
                  </a:lnTo>
                  <a:lnTo>
                    <a:pt x="4572000" y="658368"/>
                  </a:lnTo>
                  <a:lnTo>
                    <a:pt x="0" y="658368"/>
                  </a:lnTo>
                  <a:close/>
                </a:path>
              </a:pathLst>
            </a:custGeom>
            <a:blipFill>
              <a:blip r:embed="rId9">
                <a:alphaModFix amt="0"/>
              </a:blip>
              <a:stretch>
                <a:fillRect l="0" t="-85312" r="0" b="-85312"/>
              </a:stretch>
            </a:blipFill>
          </p:spPr>
        </p:sp>
        <p:sp>
          <p:nvSpPr>
            <p:cNvPr name="TextBox 81" id="81"/>
            <p:cNvSpPr txBox="true"/>
            <p:nvPr/>
          </p:nvSpPr>
          <p:spPr>
            <a:xfrm>
              <a:off x="0" y="-19050"/>
              <a:ext cx="4572000" cy="677418"/>
            </a:xfrm>
            <a:prstGeom prst="rect">
              <a:avLst/>
            </a:prstGeom>
          </p:spPr>
          <p:txBody>
            <a:bodyPr anchor="ctr" rtlCol="false" tIns="0" lIns="0" bIns="0" rIns="0"/>
            <a:lstStyle/>
            <a:p>
              <a:pPr algn="l">
                <a:lnSpc>
                  <a:spcPts val="2250"/>
                </a:lnSpc>
              </a:pPr>
              <a:r>
                <a:rPr lang="en-US" sz="1875" b="true">
                  <a:solidFill>
                    <a:srgbClr val="0A1A23"/>
                  </a:solidFill>
                  <a:latin typeface="Poppins Bold"/>
                  <a:ea typeface="Poppins Bold"/>
                  <a:cs typeface="Poppins Bold"/>
                  <a:sym typeface="Poppins Bold"/>
                </a:rPr>
                <a:t>Set data types explicitly</a:t>
              </a:r>
            </a:p>
          </p:txBody>
        </p:sp>
      </p:grpSp>
      <p:sp>
        <p:nvSpPr>
          <p:cNvPr name="TextBox 82" id="82"/>
          <p:cNvSpPr txBox="true"/>
          <p:nvPr/>
        </p:nvSpPr>
        <p:spPr>
          <a:xfrm rot="0">
            <a:off x="2221992" y="5105387"/>
            <a:ext cx="7543800" cy="531876"/>
          </a:xfrm>
          <a:prstGeom prst="rect">
            <a:avLst/>
          </a:prstGeom>
        </p:spPr>
        <p:txBody>
          <a:bodyPr anchor="t" rtlCol="false" tIns="0" lIns="0" bIns="0" rIns="0">
            <a:spAutoFit/>
          </a:bodyPr>
          <a:lstStyle/>
          <a:p>
            <a:pPr algn="l">
              <a:lnSpc>
                <a:spcPts val="2173"/>
              </a:lnSpc>
            </a:pPr>
            <a:r>
              <a:rPr lang="en-US" sz="1575">
                <a:solidFill>
                  <a:srgbClr val="475569"/>
                </a:solidFill>
                <a:latin typeface="Poppins"/>
                <a:ea typeface="Poppins"/>
                <a:cs typeface="Poppins"/>
                <a:sym typeface="Poppins"/>
              </a:rPr>
              <a:t>DeliveryDate to Date, DeliveryFee to Fixed decimal, RiderID to Text</a:t>
            </a:r>
          </a:p>
        </p:txBody>
      </p:sp>
      <p:grpSp>
        <p:nvGrpSpPr>
          <p:cNvPr name="Group 83" id="83"/>
          <p:cNvGrpSpPr/>
          <p:nvPr/>
        </p:nvGrpSpPr>
        <p:grpSpPr>
          <a:xfrm rot="0">
            <a:off x="1028700" y="5829287"/>
            <a:ext cx="9052560" cy="1069848"/>
            <a:chOff x="0" y="0"/>
            <a:chExt cx="12070080" cy="1426464"/>
          </a:xfrm>
        </p:grpSpPr>
        <p:sp>
          <p:nvSpPr>
            <p:cNvPr name="Freeform 84" id="84"/>
            <p:cNvSpPr/>
            <p:nvPr/>
          </p:nvSpPr>
          <p:spPr>
            <a:xfrm flipH="false" flipV="false" rot="0">
              <a:off x="0" y="0"/>
              <a:ext cx="12070080" cy="1426464"/>
            </a:xfrm>
            <a:custGeom>
              <a:avLst/>
              <a:gdLst/>
              <a:ahLst/>
              <a:cxnLst/>
              <a:rect r="r" b="b" t="t" l="l"/>
              <a:pathLst>
                <a:path h="1426464" w="12070080">
                  <a:moveTo>
                    <a:pt x="0" y="182880"/>
                  </a:moveTo>
                  <a:cubicBezTo>
                    <a:pt x="0" y="81915"/>
                    <a:pt x="81915" y="0"/>
                    <a:pt x="182880" y="0"/>
                  </a:cubicBezTo>
                  <a:lnTo>
                    <a:pt x="11887200" y="0"/>
                  </a:lnTo>
                  <a:cubicBezTo>
                    <a:pt x="11988165" y="0"/>
                    <a:pt x="12070080" y="81915"/>
                    <a:pt x="12070080" y="182880"/>
                  </a:cubicBezTo>
                  <a:lnTo>
                    <a:pt x="12070080" y="1243584"/>
                  </a:lnTo>
                  <a:cubicBezTo>
                    <a:pt x="12070080" y="1344549"/>
                    <a:pt x="11988165" y="1426464"/>
                    <a:pt x="11887200" y="1426464"/>
                  </a:cubicBezTo>
                  <a:lnTo>
                    <a:pt x="182880" y="1426464"/>
                  </a:lnTo>
                  <a:cubicBezTo>
                    <a:pt x="81915" y="1426464"/>
                    <a:pt x="0" y="1344549"/>
                    <a:pt x="0" y="1243584"/>
                  </a:cubicBezTo>
                  <a:close/>
                </a:path>
              </a:pathLst>
            </a:custGeom>
            <a:solidFill>
              <a:srgbClr val="FFFFFF"/>
            </a:solidFill>
          </p:spPr>
        </p:sp>
      </p:grpSp>
      <p:grpSp>
        <p:nvGrpSpPr>
          <p:cNvPr name="Group 85" id="85"/>
          <p:cNvGrpSpPr/>
          <p:nvPr/>
        </p:nvGrpSpPr>
        <p:grpSpPr>
          <a:xfrm rot="0">
            <a:off x="1371600" y="6048743"/>
            <a:ext cx="630936" cy="630936"/>
            <a:chOff x="0" y="0"/>
            <a:chExt cx="841248" cy="841248"/>
          </a:xfrm>
        </p:grpSpPr>
        <p:sp>
          <p:nvSpPr>
            <p:cNvPr name="Freeform 86" id="86"/>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87F7F"/>
            </a:solidFill>
          </p:spPr>
        </p:sp>
      </p:grpSp>
      <p:grpSp>
        <p:nvGrpSpPr>
          <p:cNvPr name="Group 87" id="87"/>
          <p:cNvGrpSpPr/>
          <p:nvPr/>
        </p:nvGrpSpPr>
        <p:grpSpPr>
          <a:xfrm rot="0">
            <a:off x="1371600" y="6048743"/>
            <a:ext cx="630936" cy="630936"/>
            <a:chOff x="0" y="0"/>
            <a:chExt cx="841248" cy="841248"/>
          </a:xfrm>
        </p:grpSpPr>
        <p:sp>
          <p:nvSpPr>
            <p:cNvPr name="Freeform 88" id="88"/>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9">
                <a:alphaModFix amt="0"/>
              </a:blip>
              <a:stretch>
                <a:fillRect l="-78303" t="0" r="-78303" b="0"/>
              </a:stretch>
            </a:blipFill>
          </p:spPr>
        </p:sp>
        <p:sp>
          <p:nvSpPr>
            <p:cNvPr name="TextBox 89" id="89"/>
            <p:cNvSpPr txBox="true"/>
            <p:nvPr/>
          </p:nvSpPr>
          <p:spPr>
            <a:xfrm>
              <a:off x="0" y="-28575"/>
              <a:ext cx="841248" cy="869823"/>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3</a:t>
              </a:r>
            </a:p>
          </p:txBody>
        </p:sp>
      </p:grpSp>
      <p:grpSp>
        <p:nvGrpSpPr>
          <p:cNvPr name="Group 90" id="90"/>
          <p:cNvGrpSpPr/>
          <p:nvPr/>
        </p:nvGrpSpPr>
        <p:grpSpPr>
          <a:xfrm rot="0">
            <a:off x="2221992" y="5884151"/>
            <a:ext cx="3429000" cy="493776"/>
            <a:chOff x="0" y="0"/>
            <a:chExt cx="4572000" cy="658368"/>
          </a:xfrm>
        </p:grpSpPr>
        <p:sp>
          <p:nvSpPr>
            <p:cNvPr name="Freeform 91" id="91"/>
            <p:cNvSpPr/>
            <p:nvPr/>
          </p:nvSpPr>
          <p:spPr>
            <a:xfrm flipH="false" flipV="false" rot="0">
              <a:off x="0" y="0"/>
              <a:ext cx="4572000" cy="658368"/>
            </a:xfrm>
            <a:custGeom>
              <a:avLst/>
              <a:gdLst/>
              <a:ahLst/>
              <a:cxnLst/>
              <a:rect r="r" b="b" t="t" l="l"/>
              <a:pathLst>
                <a:path h="658368" w="4572000">
                  <a:moveTo>
                    <a:pt x="0" y="0"/>
                  </a:moveTo>
                  <a:lnTo>
                    <a:pt x="4572000" y="0"/>
                  </a:lnTo>
                  <a:lnTo>
                    <a:pt x="4572000" y="658368"/>
                  </a:lnTo>
                  <a:lnTo>
                    <a:pt x="0" y="658368"/>
                  </a:lnTo>
                  <a:close/>
                </a:path>
              </a:pathLst>
            </a:custGeom>
            <a:blipFill>
              <a:blip r:embed="rId9">
                <a:alphaModFix amt="0"/>
              </a:blip>
              <a:stretch>
                <a:fillRect l="0" t="-85312" r="0" b="-85312"/>
              </a:stretch>
            </a:blipFill>
          </p:spPr>
        </p:sp>
        <p:sp>
          <p:nvSpPr>
            <p:cNvPr name="TextBox 92" id="92"/>
            <p:cNvSpPr txBox="true"/>
            <p:nvPr/>
          </p:nvSpPr>
          <p:spPr>
            <a:xfrm>
              <a:off x="0" y="-19050"/>
              <a:ext cx="4572000" cy="677418"/>
            </a:xfrm>
            <a:prstGeom prst="rect">
              <a:avLst/>
            </a:prstGeom>
          </p:spPr>
          <p:txBody>
            <a:bodyPr anchor="ctr" rtlCol="false" tIns="0" lIns="0" bIns="0" rIns="0"/>
            <a:lstStyle/>
            <a:p>
              <a:pPr algn="l">
                <a:lnSpc>
                  <a:spcPts val="2250"/>
                </a:lnSpc>
              </a:pPr>
              <a:r>
                <a:rPr lang="en-US" sz="1875" b="true">
                  <a:solidFill>
                    <a:srgbClr val="0A1A23"/>
                  </a:solidFill>
                  <a:latin typeface="Poppins Bold"/>
                  <a:ea typeface="Poppins Bold"/>
                  <a:cs typeface="Poppins Bold"/>
                  <a:sym typeface="Poppins Bold"/>
                </a:rPr>
                <a:t>Trim whitespace</a:t>
              </a:r>
            </a:p>
          </p:txBody>
        </p:sp>
      </p:grpSp>
      <p:sp>
        <p:nvSpPr>
          <p:cNvPr name="TextBox 93" id="93"/>
          <p:cNvSpPr txBox="true"/>
          <p:nvPr/>
        </p:nvSpPr>
        <p:spPr>
          <a:xfrm rot="0">
            <a:off x="2221992" y="6312395"/>
            <a:ext cx="7543800" cy="531876"/>
          </a:xfrm>
          <a:prstGeom prst="rect">
            <a:avLst/>
          </a:prstGeom>
        </p:spPr>
        <p:txBody>
          <a:bodyPr anchor="t" rtlCol="false" tIns="0" lIns="0" bIns="0" rIns="0">
            <a:spAutoFit/>
          </a:bodyPr>
          <a:lstStyle/>
          <a:p>
            <a:pPr algn="l">
              <a:lnSpc>
                <a:spcPts val="2173"/>
              </a:lnSpc>
            </a:pPr>
            <a:r>
              <a:rPr lang="en-US" sz="1575">
                <a:solidFill>
                  <a:srgbClr val="475569"/>
                </a:solidFill>
                <a:latin typeface="Poppins"/>
                <a:ea typeface="Poppins"/>
                <a:cs typeface="Poppins"/>
                <a:sym typeface="Poppins"/>
              </a:rPr>
              <a:t>on RiderID and RouteID. Trailing spaces break relationships silently</a:t>
            </a:r>
          </a:p>
        </p:txBody>
      </p:sp>
      <p:grpSp>
        <p:nvGrpSpPr>
          <p:cNvPr name="Group 94" id="94"/>
          <p:cNvGrpSpPr/>
          <p:nvPr/>
        </p:nvGrpSpPr>
        <p:grpSpPr>
          <a:xfrm rot="0">
            <a:off x="1028700" y="7036295"/>
            <a:ext cx="9052560" cy="1069848"/>
            <a:chOff x="0" y="0"/>
            <a:chExt cx="12070080" cy="1426464"/>
          </a:xfrm>
        </p:grpSpPr>
        <p:sp>
          <p:nvSpPr>
            <p:cNvPr name="Freeform 95" id="95"/>
            <p:cNvSpPr/>
            <p:nvPr/>
          </p:nvSpPr>
          <p:spPr>
            <a:xfrm flipH="false" flipV="false" rot="0">
              <a:off x="0" y="0"/>
              <a:ext cx="12070080" cy="1426464"/>
            </a:xfrm>
            <a:custGeom>
              <a:avLst/>
              <a:gdLst/>
              <a:ahLst/>
              <a:cxnLst/>
              <a:rect r="r" b="b" t="t" l="l"/>
              <a:pathLst>
                <a:path h="1426464" w="12070080">
                  <a:moveTo>
                    <a:pt x="0" y="182880"/>
                  </a:moveTo>
                  <a:cubicBezTo>
                    <a:pt x="0" y="81915"/>
                    <a:pt x="81915" y="0"/>
                    <a:pt x="182880" y="0"/>
                  </a:cubicBezTo>
                  <a:lnTo>
                    <a:pt x="11887200" y="0"/>
                  </a:lnTo>
                  <a:cubicBezTo>
                    <a:pt x="11988165" y="0"/>
                    <a:pt x="12070080" y="81915"/>
                    <a:pt x="12070080" y="182880"/>
                  </a:cubicBezTo>
                  <a:lnTo>
                    <a:pt x="12070080" y="1243584"/>
                  </a:lnTo>
                  <a:cubicBezTo>
                    <a:pt x="12070080" y="1344549"/>
                    <a:pt x="11988165" y="1426464"/>
                    <a:pt x="11887200" y="1426464"/>
                  </a:cubicBezTo>
                  <a:lnTo>
                    <a:pt x="182880" y="1426464"/>
                  </a:lnTo>
                  <a:cubicBezTo>
                    <a:pt x="81915" y="1426464"/>
                    <a:pt x="0" y="1344549"/>
                    <a:pt x="0" y="1243584"/>
                  </a:cubicBezTo>
                  <a:close/>
                </a:path>
              </a:pathLst>
            </a:custGeom>
            <a:solidFill>
              <a:srgbClr val="FFFFFF"/>
            </a:solidFill>
          </p:spPr>
        </p:sp>
      </p:grpSp>
      <p:grpSp>
        <p:nvGrpSpPr>
          <p:cNvPr name="Group 96" id="96"/>
          <p:cNvGrpSpPr/>
          <p:nvPr/>
        </p:nvGrpSpPr>
        <p:grpSpPr>
          <a:xfrm rot="0">
            <a:off x="1371600" y="7255751"/>
            <a:ext cx="630936" cy="630936"/>
            <a:chOff x="0" y="0"/>
            <a:chExt cx="841248" cy="841248"/>
          </a:xfrm>
        </p:grpSpPr>
        <p:sp>
          <p:nvSpPr>
            <p:cNvPr name="Freeform 97" id="97"/>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87F7F"/>
            </a:solidFill>
          </p:spPr>
        </p:sp>
      </p:grpSp>
      <p:grpSp>
        <p:nvGrpSpPr>
          <p:cNvPr name="Group 98" id="98"/>
          <p:cNvGrpSpPr/>
          <p:nvPr/>
        </p:nvGrpSpPr>
        <p:grpSpPr>
          <a:xfrm rot="0">
            <a:off x="1371600" y="7255751"/>
            <a:ext cx="630936" cy="630936"/>
            <a:chOff x="0" y="0"/>
            <a:chExt cx="841248" cy="841248"/>
          </a:xfrm>
        </p:grpSpPr>
        <p:sp>
          <p:nvSpPr>
            <p:cNvPr name="Freeform 99" id="99"/>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9">
                <a:alphaModFix amt="0"/>
              </a:blip>
              <a:stretch>
                <a:fillRect l="-78303" t="0" r="-78303" b="0"/>
              </a:stretch>
            </a:blipFill>
          </p:spPr>
        </p:sp>
        <p:sp>
          <p:nvSpPr>
            <p:cNvPr name="TextBox 100" id="100"/>
            <p:cNvSpPr txBox="true"/>
            <p:nvPr/>
          </p:nvSpPr>
          <p:spPr>
            <a:xfrm>
              <a:off x="0" y="-28575"/>
              <a:ext cx="841248" cy="869823"/>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4</a:t>
              </a:r>
            </a:p>
          </p:txBody>
        </p:sp>
      </p:grpSp>
      <p:grpSp>
        <p:nvGrpSpPr>
          <p:cNvPr name="Group 101" id="101"/>
          <p:cNvGrpSpPr/>
          <p:nvPr/>
        </p:nvGrpSpPr>
        <p:grpSpPr>
          <a:xfrm rot="0">
            <a:off x="2221992" y="7091159"/>
            <a:ext cx="3429000" cy="493776"/>
            <a:chOff x="0" y="0"/>
            <a:chExt cx="4572000" cy="658368"/>
          </a:xfrm>
        </p:grpSpPr>
        <p:sp>
          <p:nvSpPr>
            <p:cNvPr name="Freeform 102" id="102"/>
            <p:cNvSpPr/>
            <p:nvPr/>
          </p:nvSpPr>
          <p:spPr>
            <a:xfrm flipH="false" flipV="false" rot="0">
              <a:off x="0" y="0"/>
              <a:ext cx="4572000" cy="658368"/>
            </a:xfrm>
            <a:custGeom>
              <a:avLst/>
              <a:gdLst/>
              <a:ahLst/>
              <a:cxnLst/>
              <a:rect r="r" b="b" t="t" l="l"/>
              <a:pathLst>
                <a:path h="658368" w="4572000">
                  <a:moveTo>
                    <a:pt x="0" y="0"/>
                  </a:moveTo>
                  <a:lnTo>
                    <a:pt x="4572000" y="0"/>
                  </a:lnTo>
                  <a:lnTo>
                    <a:pt x="4572000" y="658368"/>
                  </a:lnTo>
                  <a:lnTo>
                    <a:pt x="0" y="658368"/>
                  </a:lnTo>
                  <a:close/>
                </a:path>
              </a:pathLst>
            </a:custGeom>
            <a:blipFill>
              <a:blip r:embed="rId9">
                <a:alphaModFix amt="0"/>
              </a:blip>
              <a:stretch>
                <a:fillRect l="0" t="-85312" r="0" b="-85312"/>
              </a:stretch>
            </a:blipFill>
          </p:spPr>
        </p:sp>
        <p:sp>
          <p:nvSpPr>
            <p:cNvPr name="TextBox 103" id="103"/>
            <p:cNvSpPr txBox="true"/>
            <p:nvPr/>
          </p:nvSpPr>
          <p:spPr>
            <a:xfrm>
              <a:off x="0" y="-19050"/>
              <a:ext cx="4572000" cy="677418"/>
            </a:xfrm>
            <a:prstGeom prst="rect">
              <a:avLst/>
            </a:prstGeom>
          </p:spPr>
          <p:txBody>
            <a:bodyPr anchor="ctr" rtlCol="false" tIns="0" lIns="0" bIns="0" rIns="0"/>
            <a:lstStyle/>
            <a:p>
              <a:pPr algn="l">
                <a:lnSpc>
                  <a:spcPts val="2250"/>
                </a:lnSpc>
              </a:pPr>
              <a:r>
                <a:rPr lang="en-US" sz="1875" b="true">
                  <a:solidFill>
                    <a:srgbClr val="0A1A23"/>
                  </a:solidFill>
                  <a:latin typeface="Poppins Bold"/>
                  <a:ea typeface="Poppins Bold"/>
                  <a:cs typeface="Poppins Bold"/>
                  <a:sym typeface="Poppins Bold"/>
                </a:rPr>
                <a:t>Filter test rows</a:t>
              </a:r>
            </a:p>
          </p:txBody>
        </p:sp>
      </p:grpSp>
      <p:sp>
        <p:nvSpPr>
          <p:cNvPr name="TextBox 104" id="104"/>
          <p:cNvSpPr txBox="true"/>
          <p:nvPr/>
        </p:nvSpPr>
        <p:spPr>
          <a:xfrm rot="0">
            <a:off x="2221992" y="7519403"/>
            <a:ext cx="7543800" cy="531876"/>
          </a:xfrm>
          <a:prstGeom prst="rect">
            <a:avLst/>
          </a:prstGeom>
        </p:spPr>
        <p:txBody>
          <a:bodyPr anchor="t" rtlCol="false" tIns="0" lIns="0" bIns="0" rIns="0">
            <a:spAutoFit/>
          </a:bodyPr>
          <a:lstStyle/>
          <a:p>
            <a:pPr algn="l">
              <a:lnSpc>
                <a:spcPts val="2173"/>
              </a:lnSpc>
            </a:pPr>
            <a:r>
              <a:rPr lang="en-US" sz="1575">
                <a:solidFill>
                  <a:srgbClr val="475569"/>
                </a:solidFill>
                <a:latin typeface="Poppins"/>
                <a:ea typeface="Poppins"/>
                <a:cs typeface="Poppins"/>
                <a:sym typeface="Poppins"/>
              </a:rPr>
              <a:t>where CustomerID is blank</a:t>
            </a:r>
          </a:p>
        </p:txBody>
      </p:sp>
      <p:grpSp>
        <p:nvGrpSpPr>
          <p:cNvPr name="Group 105" id="105"/>
          <p:cNvGrpSpPr/>
          <p:nvPr/>
        </p:nvGrpSpPr>
        <p:grpSpPr>
          <a:xfrm rot="0">
            <a:off x="10629900" y="3415271"/>
            <a:ext cx="5143500" cy="4859015"/>
            <a:chOff x="0" y="0"/>
            <a:chExt cx="6858000" cy="6478687"/>
          </a:xfrm>
        </p:grpSpPr>
        <p:sp>
          <p:nvSpPr>
            <p:cNvPr name="Freeform 106" id="106"/>
            <p:cNvSpPr/>
            <p:nvPr/>
          </p:nvSpPr>
          <p:spPr>
            <a:xfrm flipH="false" flipV="false" rot="0">
              <a:off x="0" y="0"/>
              <a:ext cx="6858000" cy="6478686"/>
            </a:xfrm>
            <a:custGeom>
              <a:avLst/>
              <a:gdLst/>
              <a:ahLst/>
              <a:cxnLst/>
              <a:rect r="r" b="b" t="t" l="l"/>
              <a:pathLst>
                <a:path h="6478686" w="6858000">
                  <a:moveTo>
                    <a:pt x="0" y="176691"/>
                  </a:moveTo>
                  <a:cubicBezTo>
                    <a:pt x="0" y="79075"/>
                    <a:pt x="73660" y="0"/>
                    <a:pt x="164592" y="0"/>
                  </a:cubicBezTo>
                  <a:lnTo>
                    <a:pt x="6693408" y="0"/>
                  </a:lnTo>
                  <a:cubicBezTo>
                    <a:pt x="6784340" y="0"/>
                    <a:pt x="6858000" y="79075"/>
                    <a:pt x="6858000" y="176691"/>
                  </a:cubicBezTo>
                  <a:lnTo>
                    <a:pt x="6858000" y="6301995"/>
                  </a:lnTo>
                  <a:cubicBezTo>
                    <a:pt x="6858000" y="6399612"/>
                    <a:pt x="6784340" y="6478686"/>
                    <a:pt x="6693408" y="6478686"/>
                  </a:cubicBezTo>
                  <a:lnTo>
                    <a:pt x="164592" y="6478686"/>
                  </a:lnTo>
                  <a:cubicBezTo>
                    <a:pt x="73660" y="6478687"/>
                    <a:pt x="0" y="6399612"/>
                    <a:pt x="0" y="6301995"/>
                  </a:cubicBezTo>
                  <a:close/>
                </a:path>
              </a:pathLst>
            </a:custGeom>
            <a:solidFill>
              <a:srgbClr val="FFFFFF"/>
            </a:solidFill>
          </p:spPr>
        </p:sp>
      </p:grpSp>
      <p:grpSp>
        <p:nvGrpSpPr>
          <p:cNvPr name="Group 107" id="107"/>
          <p:cNvGrpSpPr/>
          <p:nvPr/>
        </p:nvGrpSpPr>
        <p:grpSpPr>
          <a:xfrm rot="0">
            <a:off x="10622338" y="3415271"/>
            <a:ext cx="110432" cy="4859015"/>
            <a:chOff x="0" y="0"/>
            <a:chExt cx="137160" cy="6035040"/>
          </a:xfrm>
        </p:grpSpPr>
        <p:sp>
          <p:nvSpPr>
            <p:cNvPr name="Freeform 108" id="108"/>
            <p:cNvSpPr/>
            <p:nvPr/>
          </p:nvSpPr>
          <p:spPr>
            <a:xfrm flipH="false" flipV="false" rot="0">
              <a:off x="0" y="0"/>
              <a:ext cx="137160" cy="6035040"/>
            </a:xfrm>
            <a:custGeom>
              <a:avLst/>
              <a:gdLst/>
              <a:ahLst/>
              <a:cxnLst/>
              <a:rect r="r" b="b" t="t" l="l"/>
              <a:pathLst>
                <a:path h="6035040" w="137160">
                  <a:moveTo>
                    <a:pt x="0" y="0"/>
                  </a:moveTo>
                  <a:lnTo>
                    <a:pt x="137160" y="0"/>
                  </a:lnTo>
                  <a:lnTo>
                    <a:pt x="137160" y="6035040"/>
                  </a:lnTo>
                  <a:lnTo>
                    <a:pt x="0" y="6035040"/>
                  </a:lnTo>
                  <a:close/>
                </a:path>
              </a:pathLst>
            </a:custGeom>
            <a:solidFill>
              <a:srgbClr val="387F7F"/>
            </a:solidFill>
          </p:spPr>
        </p:sp>
      </p:grpSp>
      <p:grpSp>
        <p:nvGrpSpPr>
          <p:cNvPr name="Group 109" id="109"/>
          <p:cNvGrpSpPr/>
          <p:nvPr/>
        </p:nvGrpSpPr>
        <p:grpSpPr>
          <a:xfrm rot="0">
            <a:off x="11041380" y="3730739"/>
            <a:ext cx="4526280" cy="411480"/>
            <a:chOff x="0" y="0"/>
            <a:chExt cx="6035040" cy="548640"/>
          </a:xfrm>
        </p:grpSpPr>
        <p:sp>
          <p:nvSpPr>
            <p:cNvPr name="Freeform 110" id="110"/>
            <p:cNvSpPr/>
            <p:nvPr/>
          </p:nvSpPr>
          <p:spPr>
            <a:xfrm flipH="false" flipV="false" rot="0">
              <a:off x="0" y="0"/>
              <a:ext cx="6035040" cy="548640"/>
            </a:xfrm>
            <a:custGeom>
              <a:avLst/>
              <a:gdLst/>
              <a:ahLst/>
              <a:cxnLst/>
              <a:rect r="r" b="b" t="t" l="l"/>
              <a:pathLst>
                <a:path h="548640" w="6035040">
                  <a:moveTo>
                    <a:pt x="0" y="0"/>
                  </a:moveTo>
                  <a:lnTo>
                    <a:pt x="6035040" y="0"/>
                  </a:lnTo>
                  <a:lnTo>
                    <a:pt x="6035040" y="548640"/>
                  </a:lnTo>
                  <a:lnTo>
                    <a:pt x="0" y="548640"/>
                  </a:lnTo>
                  <a:close/>
                </a:path>
              </a:pathLst>
            </a:custGeom>
            <a:blipFill>
              <a:blip r:embed="rId9">
                <a:alphaModFix amt="0"/>
              </a:blip>
              <a:stretch>
                <a:fillRect l="0" t="-164335" r="0" b="-164335"/>
              </a:stretch>
            </a:blipFill>
          </p:spPr>
        </p:sp>
        <p:sp>
          <p:nvSpPr>
            <p:cNvPr name="TextBox 111" id="111"/>
            <p:cNvSpPr txBox="true"/>
            <p:nvPr/>
          </p:nvSpPr>
          <p:spPr>
            <a:xfrm>
              <a:off x="0" y="-9525"/>
              <a:ext cx="6035040" cy="558165"/>
            </a:xfrm>
            <a:prstGeom prst="rect">
              <a:avLst/>
            </a:prstGeom>
          </p:spPr>
          <p:txBody>
            <a:bodyPr anchor="ctr" rtlCol="false" tIns="0" lIns="0" bIns="0" rIns="0"/>
            <a:lstStyle/>
            <a:p>
              <a:pPr algn="l">
                <a:lnSpc>
                  <a:spcPts val="1980"/>
                </a:lnSpc>
              </a:pPr>
              <a:r>
                <a:rPr lang="en-US" sz="1650" b="true">
                  <a:solidFill>
                    <a:srgbClr val="387F7F"/>
                  </a:solidFill>
                  <a:latin typeface="Poppins Bold"/>
                  <a:ea typeface="Poppins Bold"/>
                  <a:cs typeface="Poppins Bold"/>
                  <a:sym typeface="Poppins Bold"/>
                </a:rPr>
                <a:t>WHY IT MATTERS</a:t>
              </a:r>
            </a:p>
          </p:txBody>
        </p:sp>
      </p:grpSp>
      <p:sp>
        <p:nvSpPr>
          <p:cNvPr name="TextBox 112" id="112"/>
          <p:cNvSpPr txBox="true"/>
          <p:nvPr/>
        </p:nvSpPr>
        <p:spPr>
          <a:xfrm rot="0">
            <a:off x="11041380" y="4073181"/>
            <a:ext cx="4526280" cy="4086225"/>
          </a:xfrm>
          <a:prstGeom prst="rect">
            <a:avLst/>
          </a:prstGeom>
        </p:spPr>
        <p:txBody>
          <a:bodyPr anchor="t" rtlCol="false" tIns="0" lIns="0" bIns="0" rIns="0">
            <a:spAutoFit/>
          </a:bodyPr>
          <a:lstStyle/>
          <a:p>
            <a:pPr algn="l">
              <a:lnSpc>
                <a:spcPts val="2925"/>
              </a:lnSpc>
            </a:pPr>
            <a:r>
              <a:rPr lang="en-US" sz="1875">
                <a:solidFill>
                  <a:srgbClr val="475569"/>
                </a:solidFill>
                <a:latin typeface="Poppins"/>
                <a:ea typeface="Poppins"/>
                <a:cs typeface="Poppins"/>
                <a:sym typeface="Poppins"/>
              </a:rPr>
              <a:t>Every action is recorded as a named step in the Applied Steps pane. The list can be reordered, individual steps deleted, and each one clicked to see the table as it stood at that moment.</a:t>
            </a:r>
          </a:p>
          <a:p>
            <a:pPr algn="l">
              <a:lnSpc>
                <a:spcPts val="2925"/>
              </a:lnSpc>
            </a:pPr>
          </a:p>
          <a:p>
            <a:pPr algn="l">
              <a:lnSpc>
                <a:spcPts val="2925"/>
              </a:lnSpc>
            </a:pPr>
            <a:r>
              <a:rPr lang="en-US" sz="1875">
                <a:solidFill>
                  <a:srgbClr val="475569"/>
                </a:solidFill>
                <a:latin typeface="Poppins"/>
                <a:ea typeface="Poppins"/>
                <a:cs typeface="Poppins"/>
                <a:sym typeface="Poppins"/>
              </a:rPr>
              <a:t>That is what makes this a pipeline rather than a clean-up. In Excel the work is gone once done. Here the work is a recipe, and the recipe can be run again on a different file.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935424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An ID is a</a:t>
            </a:r>
            <a:r>
              <a:rPr lang="en-US" sz="5000">
                <a:solidFill>
                  <a:srgbClr val="388080"/>
                </a:solidFill>
                <a:latin typeface="Poppins"/>
                <a:ea typeface="Poppins"/>
                <a:cs typeface="Poppins"/>
                <a:sym typeface="Poppins"/>
              </a:rPr>
              <a:t> label, not a quantity</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8700" y="2527930"/>
            <a:ext cx="7063740" cy="4663440"/>
            <a:chOff x="0" y="0"/>
            <a:chExt cx="9418320" cy="6217920"/>
          </a:xfrm>
        </p:grpSpPr>
        <p:sp>
          <p:nvSpPr>
            <p:cNvPr name="Freeform 12" id="12"/>
            <p:cNvSpPr/>
            <p:nvPr/>
          </p:nvSpPr>
          <p:spPr>
            <a:xfrm flipH="false" flipV="false" rot="0">
              <a:off x="0" y="0"/>
              <a:ext cx="9418320" cy="6217920"/>
            </a:xfrm>
            <a:custGeom>
              <a:avLst/>
              <a:gdLst/>
              <a:ahLst/>
              <a:cxnLst/>
              <a:rect r="r" b="b" t="t" l="l"/>
              <a:pathLst>
                <a:path h="6217920" w="9418320">
                  <a:moveTo>
                    <a:pt x="0" y="182880"/>
                  </a:moveTo>
                  <a:cubicBezTo>
                    <a:pt x="0" y="81915"/>
                    <a:pt x="81915" y="0"/>
                    <a:pt x="182880" y="0"/>
                  </a:cubicBezTo>
                  <a:lnTo>
                    <a:pt x="9235440" y="0"/>
                  </a:lnTo>
                  <a:cubicBezTo>
                    <a:pt x="9336405" y="0"/>
                    <a:pt x="9418320" y="81915"/>
                    <a:pt x="9418320" y="182880"/>
                  </a:cubicBezTo>
                  <a:lnTo>
                    <a:pt x="9418320" y="6035040"/>
                  </a:lnTo>
                  <a:cubicBezTo>
                    <a:pt x="9418320" y="6136005"/>
                    <a:pt x="9336405" y="6217920"/>
                    <a:pt x="9235440" y="6217920"/>
                  </a:cubicBezTo>
                  <a:lnTo>
                    <a:pt x="182880" y="6217920"/>
                  </a:lnTo>
                  <a:cubicBezTo>
                    <a:pt x="81915" y="6217920"/>
                    <a:pt x="0" y="6136005"/>
                    <a:pt x="0" y="6035040"/>
                  </a:cubicBezTo>
                  <a:close/>
                </a:path>
              </a:pathLst>
            </a:custGeom>
            <a:solidFill>
              <a:srgbClr val="FFFFFF"/>
            </a:solidFill>
          </p:spPr>
        </p:sp>
      </p:grpSp>
      <p:grpSp>
        <p:nvGrpSpPr>
          <p:cNvPr name="Group 13" id="13"/>
          <p:cNvGrpSpPr/>
          <p:nvPr/>
        </p:nvGrpSpPr>
        <p:grpSpPr>
          <a:xfrm rot="0">
            <a:off x="1028700" y="2527930"/>
            <a:ext cx="7063740" cy="850392"/>
            <a:chOff x="0" y="0"/>
            <a:chExt cx="9418320" cy="1133856"/>
          </a:xfrm>
        </p:grpSpPr>
        <p:sp>
          <p:nvSpPr>
            <p:cNvPr name="Freeform 14" id="14"/>
            <p:cNvSpPr/>
            <p:nvPr/>
          </p:nvSpPr>
          <p:spPr>
            <a:xfrm flipH="false" flipV="false" rot="0">
              <a:off x="0" y="0"/>
              <a:ext cx="9418320" cy="1133856"/>
            </a:xfrm>
            <a:custGeom>
              <a:avLst/>
              <a:gdLst/>
              <a:ahLst/>
              <a:cxnLst/>
              <a:rect r="r" b="b" t="t" l="l"/>
              <a:pathLst>
                <a:path h="1133856" w="9418320">
                  <a:moveTo>
                    <a:pt x="0" y="182880"/>
                  </a:moveTo>
                  <a:cubicBezTo>
                    <a:pt x="0" y="81915"/>
                    <a:pt x="81915" y="0"/>
                    <a:pt x="182880" y="0"/>
                  </a:cubicBezTo>
                  <a:lnTo>
                    <a:pt x="9235440" y="0"/>
                  </a:lnTo>
                  <a:cubicBezTo>
                    <a:pt x="9336405" y="0"/>
                    <a:pt x="9418320" y="81915"/>
                    <a:pt x="9418320" y="182880"/>
                  </a:cubicBezTo>
                  <a:lnTo>
                    <a:pt x="9418320" y="950976"/>
                  </a:lnTo>
                  <a:cubicBezTo>
                    <a:pt x="9418320" y="1051941"/>
                    <a:pt x="9336405" y="1133856"/>
                    <a:pt x="9235440" y="1133856"/>
                  </a:cubicBezTo>
                  <a:lnTo>
                    <a:pt x="182880" y="1133856"/>
                  </a:lnTo>
                  <a:cubicBezTo>
                    <a:pt x="81915" y="1133856"/>
                    <a:pt x="0" y="1051941"/>
                    <a:pt x="0" y="950976"/>
                  </a:cubicBezTo>
                  <a:close/>
                </a:path>
              </a:pathLst>
            </a:custGeom>
            <a:solidFill>
              <a:srgbClr val="A8322D"/>
            </a:solidFill>
          </p:spPr>
        </p:sp>
      </p:grpSp>
      <p:grpSp>
        <p:nvGrpSpPr>
          <p:cNvPr name="Group 15" id="15"/>
          <p:cNvGrpSpPr/>
          <p:nvPr/>
        </p:nvGrpSpPr>
        <p:grpSpPr>
          <a:xfrm rot="0">
            <a:off x="1028700" y="2953126"/>
            <a:ext cx="7063740" cy="425196"/>
            <a:chOff x="0" y="0"/>
            <a:chExt cx="9418320" cy="566928"/>
          </a:xfrm>
        </p:grpSpPr>
        <p:sp>
          <p:nvSpPr>
            <p:cNvPr name="Freeform 16" id="16"/>
            <p:cNvSpPr/>
            <p:nvPr/>
          </p:nvSpPr>
          <p:spPr>
            <a:xfrm flipH="false" flipV="false" rot="0">
              <a:off x="0" y="0"/>
              <a:ext cx="9418320" cy="566928"/>
            </a:xfrm>
            <a:custGeom>
              <a:avLst/>
              <a:gdLst/>
              <a:ahLst/>
              <a:cxnLst/>
              <a:rect r="r" b="b" t="t" l="l"/>
              <a:pathLst>
                <a:path h="566928" w="9418320">
                  <a:moveTo>
                    <a:pt x="0" y="0"/>
                  </a:moveTo>
                  <a:lnTo>
                    <a:pt x="9418320" y="0"/>
                  </a:lnTo>
                  <a:lnTo>
                    <a:pt x="9418320" y="566928"/>
                  </a:lnTo>
                  <a:lnTo>
                    <a:pt x="0" y="566928"/>
                  </a:lnTo>
                  <a:close/>
                </a:path>
              </a:pathLst>
            </a:custGeom>
            <a:solidFill>
              <a:srgbClr val="A8322D"/>
            </a:solidFill>
          </p:spPr>
        </p:sp>
      </p:grpSp>
      <p:grpSp>
        <p:nvGrpSpPr>
          <p:cNvPr name="Group 17" id="17"/>
          <p:cNvGrpSpPr/>
          <p:nvPr/>
        </p:nvGrpSpPr>
        <p:grpSpPr>
          <a:xfrm rot="0">
            <a:off x="1028700" y="2527930"/>
            <a:ext cx="7063740" cy="850392"/>
            <a:chOff x="0" y="0"/>
            <a:chExt cx="9418320" cy="1133856"/>
          </a:xfrm>
        </p:grpSpPr>
        <p:sp>
          <p:nvSpPr>
            <p:cNvPr name="Freeform 18" id="18"/>
            <p:cNvSpPr/>
            <p:nvPr/>
          </p:nvSpPr>
          <p:spPr>
            <a:xfrm flipH="false" flipV="false" rot="0">
              <a:off x="0" y="0"/>
              <a:ext cx="9418320" cy="1133856"/>
            </a:xfrm>
            <a:custGeom>
              <a:avLst/>
              <a:gdLst/>
              <a:ahLst/>
              <a:cxnLst/>
              <a:rect r="r" b="b" t="t" l="l"/>
              <a:pathLst>
                <a:path h="1133856" w="9418320">
                  <a:moveTo>
                    <a:pt x="0" y="0"/>
                  </a:moveTo>
                  <a:lnTo>
                    <a:pt x="9418320" y="0"/>
                  </a:lnTo>
                  <a:lnTo>
                    <a:pt x="9418320" y="1133856"/>
                  </a:lnTo>
                  <a:lnTo>
                    <a:pt x="0" y="1133856"/>
                  </a:lnTo>
                  <a:close/>
                </a:path>
              </a:pathLst>
            </a:custGeom>
            <a:blipFill>
              <a:blip r:embed="rId9">
                <a:alphaModFix amt="0"/>
              </a:blip>
              <a:stretch>
                <a:fillRect l="0" t="-111851" r="0" b="-111851"/>
              </a:stretch>
            </a:blipFill>
          </p:spPr>
        </p:sp>
        <p:sp>
          <p:nvSpPr>
            <p:cNvPr name="TextBox 19" id="19"/>
            <p:cNvSpPr txBox="true"/>
            <p:nvPr/>
          </p:nvSpPr>
          <p:spPr>
            <a:xfrm>
              <a:off x="0" y="-19050"/>
              <a:ext cx="9418320" cy="1152906"/>
            </a:xfrm>
            <a:prstGeom prst="rect">
              <a:avLst/>
            </a:prstGeom>
          </p:spPr>
          <p:txBody>
            <a:bodyPr anchor="ctr" rtlCol="false" tIns="0" lIns="0" bIns="0" rIns="0"/>
            <a:lstStyle/>
            <a:p>
              <a:pPr algn="ctr">
                <a:lnSpc>
                  <a:spcPts val="2430"/>
                </a:lnSpc>
              </a:pPr>
              <a:r>
                <a:rPr lang="en-US" b="true" sz="2025" spc="150">
                  <a:solidFill>
                    <a:srgbClr val="FFFFFF"/>
                  </a:solidFill>
                  <a:latin typeface="Poppins Bold"/>
                  <a:ea typeface="Poppins Bold"/>
                  <a:cs typeface="Poppins Bold"/>
                  <a:sym typeface="Poppins Bold"/>
                </a:rPr>
                <a:t>WRONG   ·   Whole number</a:t>
              </a:r>
            </a:p>
          </p:txBody>
        </p:sp>
      </p:grpSp>
      <p:sp>
        <p:nvSpPr>
          <p:cNvPr name="TextBox 20" id="20"/>
          <p:cNvSpPr txBox="true"/>
          <p:nvPr/>
        </p:nvSpPr>
        <p:spPr>
          <a:xfrm rot="0">
            <a:off x="1508760" y="3576442"/>
            <a:ext cx="6103620" cy="899160"/>
          </a:xfrm>
          <a:prstGeom prst="rect">
            <a:avLst/>
          </a:prstGeom>
        </p:spPr>
        <p:txBody>
          <a:bodyPr anchor="t" rtlCol="false" tIns="0" lIns="0" bIns="0" rIns="0">
            <a:spAutoFit/>
          </a:bodyPr>
          <a:lstStyle/>
          <a:p>
            <a:pPr algn="ctr">
              <a:lnSpc>
                <a:spcPts val="2925"/>
              </a:lnSpc>
            </a:pPr>
            <a:r>
              <a:rPr lang="en-US" sz="1950">
                <a:solidFill>
                  <a:srgbClr val="475569"/>
                </a:solidFill>
                <a:latin typeface="Poppins"/>
                <a:ea typeface="Poppins"/>
                <a:cs typeface="Poppins"/>
                <a:sym typeface="Poppins"/>
              </a:rPr>
              <a:t>RiderID stored as Whole number. Power BI will happily sum it.</a:t>
            </a:r>
          </a:p>
        </p:txBody>
      </p:sp>
      <p:grpSp>
        <p:nvGrpSpPr>
          <p:cNvPr name="Group 21" id="21"/>
          <p:cNvGrpSpPr/>
          <p:nvPr/>
        </p:nvGrpSpPr>
        <p:grpSpPr>
          <a:xfrm rot="0">
            <a:off x="1028700" y="4516750"/>
            <a:ext cx="7063740" cy="1165860"/>
            <a:chOff x="0" y="0"/>
            <a:chExt cx="9418320" cy="1554480"/>
          </a:xfrm>
        </p:grpSpPr>
        <p:sp>
          <p:nvSpPr>
            <p:cNvPr name="Freeform 22" id="22"/>
            <p:cNvSpPr/>
            <p:nvPr/>
          </p:nvSpPr>
          <p:spPr>
            <a:xfrm flipH="false" flipV="false" rot="0">
              <a:off x="0" y="0"/>
              <a:ext cx="9418320" cy="1554480"/>
            </a:xfrm>
            <a:custGeom>
              <a:avLst/>
              <a:gdLst/>
              <a:ahLst/>
              <a:cxnLst/>
              <a:rect r="r" b="b" t="t" l="l"/>
              <a:pathLst>
                <a:path h="1554480" w="9418320">
                  <a:moveTo>
                    <a:pt x="0" y="0"/>
                  </a:moveTo>
                  <a:lnTo>
                    <a:pt x="9418320" y="0"/>
                  </a:lnTo>
                  <a:lnTo>
                    <a:pt x="9418320" y="1554480"/>
                  </a:lnTo>
                  <a:lnTo>
                    <a:pt x="0" y="1554480"/>
                  </a:lnTo>
                  <a:close/>
                </a:path>
              </a:pathLst>
            </a:custGeom>
            <a:blipFill>
              <a:blip r:embed="rId9">
                <a:alphaModFix amt="0"/>
              </a:blip>
              <a:stretch>
                <a:fillRect l="0" t="-68056" r="0" b="-68056"/>
              </a:stretch>
            </a:blipFill>
          </p:spPr>
        </p:sp>
        <p:sp>
          <p:nvSpPr>
            <p:cNvPr name="TextBox 23" id="23"/>
            <p:cNvSpPr txBox="true"/>
            <p:nvPr/>
          </p:nvSpPr>
          <p:spPr>
            <a:xfrm>
              <a:off x="0" y="-57150"/>
              <a:ext cx="9418320" cy="1611630"/>
            </a:xfrm>
            <a:prstGeom prst="rect">
              <a:avLst/>
            </a:prstGeom>
          </p:spPr>
          <p:txBody>
            <a:bodyPr anchor="ctr" rtlCol="false" tIns="0" lIns="0" bIns="0" rIns="0"/>
            <a:lstStyle/>
            <a:p>
              <a:pPr algn="ctr">
                <a:lnSpc>
                  <a:spcPts val="7920"/>
                </a:lnSpc>
              </a:pPr>
              <a:r>
                <a:rPr lang="en-US" sz="6600" b="true">
                  <a:solidFill>
                    <a:srgbClr val="A8322D"/>
                  </a:solidFill>
                  <a:latin typeface="Poppins Bold"/>
                  <a:ea typeface="Poppins Bold"/>
                  <a:cs typeface="Poppins Bold"/>
                  <a:sym typeface="Poppins Bold"/>
                </a:rPr>
                <a:t>89,712</a:t>
              </a:r>
            </a:p>
          </p:txBody>
        </p:sp>
      </p:grpSp>
      <p:sp>
        <p:nvSpPr>
          <p:cNvPr name="TextBox 24" id="24"/>
          <p:cNvSpPr txBox="true"/>
          <p:nvPr/>
        </p:nvSpPr>
        <p:spPr>
          <a:xfrm rot="0">
            <a:off x="1508760" y="5743570"/>
            <a:ext cx="6103620" cy="1173480"/>
          </a:xfrm>
          <a:prstGeom prst="rect">
            <a:avLst/>
          </a:prstGeom>
        </p:spPr>
        <p:txBody>
          <a:bodyPr anchor="t" rtlCol="false" tIns="0" lIns="0" bIns="0" rIns="0">
            <a:spAutoFit/>
          </a:bodyPr>
          <a:lstStyle/>
          <a:p>
            <a:pPr algn="ctr">
              <a:lnSpc>
                <a:spcPts val="2700"/>
              </a:lnSpc>
            </a:pPr>
            <a:r>
              <a:rPr lang="en-US" sz="1800">
                <a:solidFill>
                  <a:srgbClr val="64748B"/>
                </a:solidFill>
                <a:latin typeface="Poppins"/>
                <a:ea typeface="Poppins"/>
                <a:cs typeface="Poppins"/>
                <a:sym typeface="Poppins"/>
              </a:rPr>
              <a:t>The total of your rider IDs. It means nothing.</a:t>
            </a:r>
          </a:p>
        </p:txBody>
      </p:sp>
      <p:grpSp>
        <p:nvGrpSpPr>
          <p:cNvPr name="Group 25" id="25"/>
          <p:cNvGrpSpPr/>
          <p:nvPr/>
        </p:nvGrpSpPr>
        <p:grpSpPr>
          <a:xfrm rot="0">
            <a:off x="8709660" y="2527930"/>
            <a:ext cx="7063740" cy="4663440"/>
            <a:chOff x="0" y="0"/>
            <a:chExt cx="9418320" cy="6217920"/>
          </a:xfrm>
        </p:grpSpPr>
        <p:sp>
          <p:nvSpPr>
            <p:cNvPr name="Freeform 26" id="26"/>
            <p:cNvSpPr/>
            <p:nvPr/>
          </p:nvSpPr>
          <p:spPr>
            <a:xfrm flipH="false" flipV="false" rot="0">
              <a:off x="0" y="0"/>
              <a:ext cx="9418320" cy="6217920"/>
            </a:xfrm>
            <a:custGeom>
              <a:avLst/>
              <a:gdLst/>
              <a:ahLst/>
              <a:cxnLst/>
              <a:rect r="r" b="b" t="t" l="l"/>
              <a:pathLst>
                <a:path h="6217920" w="9418320">
                  <a:moveTo>
                    <a:pt x="0" y="182880"/>
                  </a:moveTo>
                  <a:cubicBezTo>
                    <a:pt x="0" y="81915"/>
                    <a:pt x="81915" y="0"/>
                    <a:pt x="182880" y="0"/>
                  </a:cubicBezTo>
                  <a:lnTo>
                    <a:pt x="9235440" y="0"/>
                  </a:lnTo>
                  <a:cubicBezTo>
                    <a:pt x="9336405" y="0"/>
                    <a:pt x="9418320" y="81915"/>
                    <a:pt x="9418320" y="182880"/>
                  </a:cubicBezTo>
                  <a:lnTo>
                    <a:pt x="9418320" y="6035040"/>
                  </a:lnTo>
                  <a:cubicBezTo>
                    <a:pt x="9418320" y="6136005"/>
                    <a:pt x="9336405" y="6217920"/>
                    <a:pt x="9235440" y="6217920"/>
                  </a:cubicBezTo>
                  <a:lnTo>
                    <a:pt x="182880" y="6217920"/>
                  </a:lnTo>
                  <a:cubicBezTo>
                    <a:pt x="81915" y="6217920"/>
                    <a:pt x="0" y="6136005"/>
                    <a:pt x="0" y="6035040"/>
                  </a:cubicBezTo>
                  <a:close/>
                </a:path>
              </a:pathLst>
            </a:custGeom>
            <a:solidFill>
              <a:srgbClr val="FFFFFF"/>
            </a:solidFill>
          </p:spPr>
        </p:sp>
      </p:grpSp>
      <p:grpSp>
        <p:nvGrpSpPr>
          <p:cNvPr name="Group 27" id="27"/>
          <p:cNvGrpSpPr/>
          <p:nvPr/>
        </p:nvGrpSpPr>
        <p:grpSpPr>
          <a:xfrm rot="0">
            <a:off x="8709660" y="2527930"/>
            <a:ext cx="7063740" cy="850392"/>
            <a:chOff x="0" y="0"/>
            <a:chExt cx="9418320" cy="1133856"/>
          </a:xfrm>
        </p:grpSpPr>
        <p:sp>
          <p:nvSpPr>
            <p:cNvPr name="Freeform 28" id="28"/>
            <p:cNvSpPr/>
            <p:nvPr/>
          </p:nvSpPr>
          <p:spPr>
            <a:xfrm flipH="false" flipV="false" rot="0">
              <a:off x="0" y="0"/>
              <a:ext cx="9418320" cy="1133856"/>
            </a:xfrm>
            <a:custGeom>
              <a:avLst/>
              <a:gdLst/>
              <a:ahLst/>
              <a:cxnLst/>
              <a:rect r="r" b="b" t="t" l="l"/>
              <a:pathLst>
                <a:path h="1133856" w="9418320">
                  <a:moveTo>
                    <a:pt x="0" y="182880"/>
                  </a:moveTo>
                  <a:cubicBezTo>
                    <a:pt x="0" y="81915"/>
                    <a:pt x="81915" y="0"/>
                    <a:pt x="182880" y="0"/>
                  </a:cubicBezTo>
                  <a:lnTo>
                    <a:pt x="9235440" y="0"/>
                  </a:lnTo>
                  <a:cubicBezTo>
                    <a:pt x="9336405" y="0"/>
                    <a:pt x="9418320" y="81915"/>
                    <a:pt x="9418320" y="182880"/>
                  </a:cubicBezTo>
                  <a:lnTo>
                    <a:pt x="9418320" y="950976"/>
                  </a:lnTo>
                  <a:cubicBezTo>
                    <a:pt x="9418320" y="1051941"/>
                    <a:pt x="9336405" y="1133856"/>
                    <a:pt x="9235440" y="1133856"/>
                  </a:cubicBezTo>
                  <a:lnTo>
                    <a:pt x="182880" y="1133856"/>
                  </a:lnTo>
                  <a:cubicBezTo>
                    <a:pt x="81915" y="1133856"/>
                    <a:pt x="0" y="1051941"/>
                    <a:pt x="0" y="950976"/>
                  </a:cubicBezTo>
                  <a:close/>
                </a:path>
              </a:pathLst>
            </a:custGeom>
            <a:solidFill>
              <a:srgbClr val="387F7F"/>
            </a:solidFill>
          </p:spPr>
        </p:sp>
      </p:grpSp>
      <p:grpSp>
        <p:nvGrpSpPr>
          <p:cNvPr name="Group 29" id="29"/>
          <p:cNvGrpSpPr/>
          <p:nvPr/>
        </p:nvGrpSpPr>
        <p:grpSpPr>
          <a:xfrm rot="0">
            <a:off x="8709660" y="2953126"/>
            <a:ext cx="7063740" cy="425196"/>
            <a:chOff x="0" y="0"/>
            <a:chExt cx="9418320" cy="566928"/>
          </a:xfrm>
        </p:grpSpPr>
        <p:sp>
          <p:nvSpPr>
            <p:cNvPr name="Freeform 30" id="30"/>
            <p:cNvSpPr/>
            <p:nvPr/>
          </p:nvSpPr>
          <p:spPr>
            <a:xfrm flipH="false" flipV="false" rot="0">
              <a:off x="0" y="0"/>
              <a:ext cx="9418320" cy="566928"/>
            </a:xfrm>
            <a:custGeom>
              <a:avLst/>
              <a:gdLst/>
              <a:ahLst/>
              <a:cxnLst/>
              <a:rect r="r" b="b" t="t" l="l"/>
              <a:pathLst>
                <a:path h="566928" w="9418320">
                  <a:moveTo>
                    <a:pt x="0" y="0"/>
                  </a:moveTo>
                  <a:lnTo>
                    <a:pt x="9418320" y="0"/>
                  </a:lnTo>
                  <a:lnTo>
                    <a:pt x="9418320" y="566928"/>
                  </a:lnTo>
                  <a:lnTo>
                    <a:pt x="0" y="566928"/>
                  </a:lnTo>
                  <a:close/>
                </a:path>
              </a:pathLst>
            </a:custGeom>
            <a:solidFill>
              <a:srgbClr val="387F7F"/>
            </a:solidFill>
          </p:spPr>
        </p:sp>
      </p:grpSp>
      <p:grpSp>
        <p:nvGrpSpPr>
          <p:cNvPr name="Group 31" id="31"/>
          <p:cNvGrpSpPr/>
          <p:nvPr/>
        </p:nvGrpSpPr>
        <p:grpSpPr>
          <a:xfrm rot="0">
            <a:off x="8709660" y="2527930"/>
            <a:ext cx="7063740" cy="850392"/>
            <a:chOff x="0" y="0"/>
            <a:chExt cx="9418320" cy="1133856"/>
          </a:xfrm>
        </p:grpSpPr>
        <p:sp>
          <p:nvSpPr>
            <p:cNvPr name="Freeform 32" id="32"/>
            <p:cNvSpPr/>
            <p:nvPr/>
          </p:nvSpPr>
          <p:spPr>
            <a:xfrm flipH="false" flipV="false" rot="0">
              <a:off x="0" y="0"/>
              <a:ext cx="9418320" cy="1133856"/>
            </a:xfrm>
            <a:custGeom>
              <a:avLst/>
              <a:gdLst/>
              <a:ahLst/>
              <a:cxnLst/>
              <a:rect r="r" b="b" t="t" l="l"/>
              <a:pathLst>
                <a:path h="1133856" w="9418320">
                  <a:moveTo>
                    <a:pt x="0" y="0"/>
                  </a:moveTo>
                  <a:lnTo>
                    <a:pt x="9418320" y="0"/>
                  </a:lnTo>
                  <a:lnTo>
                    <a:pt x="9418320" y="1133856"/>
                  </a:lnTo>
                  <a:lnTo>
                    <a:pt x="0" y="1133856"/>
                  </a:lnTo>
                  <a:close/>
                </a:path>
              </a:pathLst>
            </a:custGeom>
            <a:blipFill>
              <a:blip r:embed="rId9">
                <a:alphaModFix amt="0"/>
              </a:blip>
              <a:stretch>
                <a:fillRect l="0" t="-111851" r="0" b="-111851"/>
              </a:stretch>
            </a:blipFill>
          </p:spPr>
        </p:sp>
        <p:sp>
          <p:nvSpPr>
            <p:cNvPr name="TextBox 33" id="33"/>
            <p:cNvSpPr txBox="true"/>
            <p:nvPr/>
          </p:nvSpPr>
          <p:spPr>
            <a:xfrm>
              <a:off x="0" y="-19050"/>
              <a:ext cx="9418320" cy="1152906"/>
            </a:xfrm>
            <a:prstGeom prst="rect">
              <a:avLst/>
            </a:prstGeom>
          </p:spPr>
          <p:txBody>
            <a:bodyPr anchor="ctr" rtlCol="false" tIns="0" lIns="0" bIns="0" rIns="0"/>
            <a:lstStyle/>
            <a:p>
              <a:pPr algn="ctr">
                <a:lnSpc>
                  <a:spcPts val="2430"/>
                </a:lnSpc>
              </a:pPr>
              <a:r>
                <a:rPr lang="en-US" b="true" sz="2025" spc="150">
                  <a:solidFill>
                    <a:srgbClr val="FFFFFF"/>
                  </a:solidFill>
                  <a:latin typeface="Poppins Bold"/>
                  <a:ea typeface="Poppins Bold"/>
                  <a:cs typeface="Poppins Bold"/>
                  <a:sym typeface="Poppins Bold"/>
                </a:rPr>
                <a:t>RIGHT   ·   Text</a:t>
              </a:r>
            </a:p>
          </p:txBody>
        </p:sp>
      </p:grpSp>
      <p:sp>
        <p:nvSpPr>
          <p:cNvPr name="TextBox 34" id="34"/>
          <p:cNvSpPr txBox="true"/>
          <p:nvPr/>
        </p:nvSpPr>
        <p:spPr>
          <a:xfrm rot="0">
            <a:off x="9189720" y="3576442"/>
            <a:ext cx="6103620" cy="899160"/>
          </a:xfrm>
          <a:prstGeom prst="rect">
            <a:avLst/>
          </a:prstGeom>
        </p:spPr>
        <p:txBody>
          <a:bodyPr anchor="t" rtlCol="false" tIns="0" lIns="0" bIns="0" rIns="0">
            <a:spAutoFit/>
          </a:bodyPr>
          <a:lstStyle/>
          <a:p>
            <a:pPr algn="ctr">
              <a:lnSpc>
                <a:spcPts val="2925"/>
              </a:lnSpc>
            </a:pPr>
            <a:r>
              <a:rPr lang="en-US" sz="1950">
                <a:solidFill>
                  <a:srgbClr val="475569"/>
                </a:solidFill>
                <a:latin typeface="Poppins"/>
                <a:ea typeface="Poppins"/>
                <a:cs typeface="Poppins"/>
                <a:sym typeface="Poppins"/>
              </a:rPr>
              <a:t>RiderID stored as Text. It cannot be summed.</a:t>
            </a:r>
          </a:p>
        </p:txBody>
      </p:sp>
      <p:grpSp>
        <p:nvGrpSpPr>
          <p:cNvPr name="Group 35" id="35"/>
          <p:cNvGrpSpPr/>
          <p:nvPr/>
        </p:nvGrpSpPr>
        <p:grpSpPr>
          <a:xfrm rot="0">
            <a:off x="8709660" y="4516750"/>
            <a:ext cx="7063740" cy="1165860"/>
            <a:chOff x="0" y="0"/>
            <a:chExt cx="9418320" cy="1554480"/>
          </a:xfrm>
        </p:grpSpPr>
        <p:sp>
          <p:nvSpPr>
            <p:cNvPr name="Freeform 36" id="36"/>
            <p:cNvSpPr/>
            <p:nvPr/>
          </p:nvSpPr>
          <p:spPr>
            <a:xfrm flipH="false" flipV="false" rot="0">
              <a:off x="0" y="0"/>
              <a:ext cx="9418320" cy="1554480"/>
            </a:xfrm>
            <a:custGeom>
              <a:avLst/>
              <a:gdLst/>
              <a:ahLst/>
              <a:cxnLst/>
              <a:rect r="r" b="b" t="t" l="l"/>
              <a:pathLst>
                <a:path h="1554480" w="9418320">
                  <a:moveTo>
                    <a:pt x="0" y="0"/>
                  </a:moveTo>
                  <a:lnTo>
                    <a:pt x="9418320" y="0"/>
                  </a:lnTo>
                  <a:lnTo>
                    <a:pt x="9418320" y="1554480"/>
                  </a:lnTo>
                  <a:lnTo>
                    <a:pt x="0" y="1554480"/>
                  </a:lnTo>
                  <a:close/>
                </a:path>
              </a:pathLst>
            </a:custGeom>
            <a:blipFill>
              <a:blip r:embed="rId9">
                <a:alphaModFix amt="0"/>
              </a:blip>
              <a:stretch>
                <a:fillRect l="0" t="-68056" r="0" b="-68056"/>
              </a:stretch>
            </a:blipFill>
          </p:spPr>
        </p:sp>
        <p:sp>
          <p:nvSpPr>
            <p:cNvPr name="TextBox 37" id="37"/>
            <p:cNvSpPr txBox="true"/>
            <p:nvPr/>
          </p:nvSpPr>
          <p:spPr>
            <a:xfrm>
              <a:off x="0" y="-57150"/>
              <a:ext cx="9418320" cy="1611630"/>
            </a:xfrm>
            <a:prstGeom prst="rect">
              <a:avLst/>
            </a:prstGeom>
          </p:spPr>
          <p:txBody>
            <a:bodyPr anchor="ctr" rtlCol="false" tIns="0" lIns="0" bIns="0" rIns="0"/>
            <a:lstStyle/>
            <a:p>
              <a:pPr algn="ctr">
                <a:lnSpc>
                  <a:spcPts val="7920"/>
                </a:lnSpc>
              </a:pPr>
              <a:r>
                <a:rPr lang="en-US" sz="6600" b="true">
                  <a:solidFill>
                    <a:srgbClr val="387F7F"/>
                  </a:solidFill>
                  <a:latin typeface="Poppins Bold"/>
                  <a:ea typeface="Poppins Bold"/>
                  <a:cs typeface="Poppins Bold"/>
                  <a:sym typeface="Poppins Bold"/>
                </a:rPr>
                <a:t>68</a:t>
              </a:r>
            </a:p>
          </p:txBody>
        </p:sp>
      </p:grpSp>
      <p:sp>
        <p:nvSpPr>
          <p:cNvPr name="TextBox 38" id="38"/>
          <p:cNvSpPr txBox="true"/>
          <p:nvPr/>
        </p:nvSpPr>
        <p:spPr>
          <a:xfrm rot="0">
            <a:off x="9189720" y="5743570"/>
            <a:ext cx="6103620" cy="1173480"/>
          </a:xfrm>
          <a:prstGeom prst="rect">
            <a:avLst/>
          </a:prstGeom>
        </p:spPr>
        <p:txBody>
          <a:bodyPr anchor="t" rtlCol="false" tIns="0" lIns="0" bIns="0" rIns="0">
            <a:spAutoFit/>
          </a:bodyPr>
          <a:lstStyle/>
          <a:p>
            <a:pPr algn="ctr">
              <a:lnSpc>
                <a:spcPts val="2700"/>
              </a:lnSpc>
            </a:pPr>
            <a:r>
              <a:rPr lang="en-US" sz="1800">
                <a:solidFill>
                  <a:srgbClr val="64748B"/>
                </a:solidFill>
                <a:latin typeface="Poppins"/>
                <a:ea typeface="Poppins"/>
                <a:cs typeface="Poppins"/>
                <a:sym typeface="Poppins"/>
              </a:rPr>
              <a:t>It can be counted, grouped and joined, which is all you want from an identifier.</a:t>
            </a:r>
          </a:p>
        </p:txBody>
      </p:sp>
      <p:grpSp>
        <p:nvGrpSpPr>
          <p:cNvPr name="Group 39" id="39"/>
          <p:cNvGrpSpPr/>
          <p:nvPr/>
        </p:nvGrpSpPr>
        <p:grpSpPr>
          <a:xfrm rot="0">
            <a:off x="1028700" y="7534270"/>
            <a:ext cx="14744700" cy="1303020"/>
            <a:chOff x="0" y="0"/>
            <a:chExt cx="19659600" cy="1737360"/>
          </a:xfrm>
        </p:grpSpPr>
        <p:sp>
          <p:nvSpPr>
            <p:cNvPr name="Freeform 40" id="40"/>
            <p:cNvSpPr/>
            <p:nvPr/>
          </p:nvSpPr>
          <p:spPr>
            <a:xfrm flipH="false" flipV="false" rot="0">
              <a:off x="0" y="0"/>
              <a:ext cx="19659600" cy="1737360"/>
            </a:xfrm>
            <a:custGeom>
              <a:avLst/>
              <a:gdLst/>
              <a:ahLst/>
              <a:cxnLst/>
              <a:rect r="r" b="b" t="t" l="l"/>
              <a:pathLst>
                <a:path h="1737360" w="19659600">
                  <a:moveTo>
                    <a:pt x="0" y="164592"/>
                  </a:moveTo>
                  <a:cubicBezTo>
                    <a:pt x="0" y="73660"/>
                    <a:pt x="73660" y="0"/>
                    <a:pt x="164592" y="0"/>
                  </a:cubicBezTo>
                  <a:lnTo>
                    <a:pt x="19495008" y="0"/>
                  </a:lnTo>
                  <a:cubicBezTo>
                    <a:pt x="19585939" y="0"/>
                    <a:pt x="19659600" y="73660"/>
                    <a:pt x="19659600" y="164592"/>
                  </a:cubicBezTo>
                  <a:lnTo>
                    <a:pt x="19659600" y="1572768"/>
                  </a:lnTo>
                  <a:cubicBezTo>
                    <a:pt x="19659600" y="1663700"/>
                    <a:pt x="19585939" y="1737360"/>
                    <a:pt x="19495008" y="1737360"/>
                  </a:cubicBezTo>
                  <a:lnTo>
                    <a:pt x="164592" y="1737360"/>
                  </a:lnTo>
                  <a:cubicBezTo>
                    <a:pt x="73660" y="1737360"/>
                    <a:pt x="0" y="1663700"/>
                    <a:pt x="0" y="1572768"/>
                  </a:cubicBezTo>
                  <a:close/>
                </a:path>
              </a:pathLst>
            </a:custGeom>
            <a:solidFill>
              <a:srgbClr val="EEF4F4"/>
            </a:solidFill>
          </p:spPr>
        </p:sp>
      </p:grpSp>
      <p:grpSp>
        <p:nvGrpSpPr>
          <p:cNvPr name="Group 41" id="41"/>
          <p:cNvGrpSpPr/>
          <p:nvPr/>
        </p:nvGrpSpPr>
        <p:grpSpPr>
          <a:xfrm rot="0">
            <a:off x="1028700" y="7534270"/>
            <a:ext cx="102870" cy="1303020"/>
            <a:chOff x="0" y="0"/>
            <a:chExt cx="137160" cy="1737360"/>
          </a:xfrm>
        </p:grpSpPr>
        <p:sp>
          <p:nvSpPr>
            <p:cNvPr name="Freeform 42" id="42"/>
            <p:cNvSpPr/>
            <p:nvPr/>
          </p:nvSpPr>
          <p:spPr>
            <a:xfrm flipH="false" flipV="false" rot="0">
              <a:off x="0" y="0"/>
              <a:ext cx="137160" cy="1737360"/>
            </a:xfrm>
            <a:custGeom>
              <a:avLst/>
              <a:gdLst/>
              <a:ahLst/>
              <a:cxnLst/>
              <a:rect r="r" b="b" t="t" l="l"/>
              <a:pathLst>
                <a:path h="1737360" w="137160">
                  <a:moveTo>
                    <a:pt x="0" y="0"/>
                  </a:moveTo>
                  <a:lnTo>
                    <a:pt x="137160" y="0"/>
                  </a:lnTo>
                  <a:lnTo>
                    <a:pt x="137160" y="1737360"/>
                  </a:lnTo>
                  <a:lnTo>
                    <a:pt x="0" y="1737360"/>
                  </a:lnTo>
                  <a:close/>
                </a:path>
              </a:pathLst>
            </a:custGeom>
            <a:solidFill>
              <a:srgbClr val="387F7F"/>
            </a:solidFill>
          </p:spPr>
        </p:sp>
      </p:grpSp>
      <p:grpSp>
        <p:nvGrpSpPr>
          <p:cNvPr name="Group 43" id="43"/>
          <p:cNvGrpSpPr/>
          <p:nvPr/>
        </p:nvGrpSpPr>
        <p:grpSpPr>
          <a:xfrm rot="0">
            <a:off x="1577340" y="7534270"/>
            <a:ext cx="13853160" cy="1303020"/>
            <a:chOff x="0" y="0"/>
            <a:chExt cx="18470880" cy="1737360"/>
          </a:xfrm>
        </p:grpSpPr>
        <p:sp>
          <p:nvSpPr>
            <p:cNvPr name="Freeform 44" id="44"/>
            <p:cNvSpPr/>
            <p:nvPr/>
          </p:nvSpPr>
          <p:spPr>
            <a:xfrm flipH="false" flipV="false" rot="0">
              <a:off x="0" y="0"/>
              <a:ext cx="18470880" cy="1737360"/>
            </a:xfrm>
            <a:custGeom>
              <a:avLst/>
              <a:gdLst/>
              <a:ahLst/>
              <a:cxnLst/>
              <a:rect r="r" b="b" t="t" l="l"/>
              <a:pathLst>
                <a:path h="1737360" w="18470880">
                  <a:moveTo>
                    <a:pt x="0" y="0"/>
                  </a:moveTo>
                  <a:lnTo>
                    <a:pt x="18470880" y="0"/>
                  </a:lnTo>
                  <a:lnTo>
                    <a:pt x="18470880" y="1737360"/>
                  </a:lnTo>
                  <a:lnTo>
                    <a:pt x="0" y="1737360"/>
                  </a:lnTo>
                  <a:close/>
                </a:path>
              </a:pathLst>
            </a:custGeom>
            <a:blipFill>
              <a:blip r:embed="rId9">
                <a:alphaModFix amt="0"/>
              </a:blip>
              <a:stretch>
                <a:fillRect l="0" t="-157156" r="0" b="-157156"/>
              </a:stretch>
            </a:blipFill>
          </p:spPr>
        </p:sp>
        <p:sp>
          <p:nvSpPr>
            <p:cNvPr name="TextBox 45" id="45"/>
            <p:cNvSpPr txBox="true"/>
            <p:nvPr/>
          </p:nvSpPr>
          <p:spPr>
            <a:xfrm>
              <a:off x="0" y="-114300"/>
              <a:ext cx="18470880" cy="1851660"/>
            </a:xfrm>
            <a:prstGeom prst="rect">
              <a:avLst/>
            </a:prstGeom>
          </p:spPr>
          <p:txBody>
            <a:bodyPr anchor="ctr" rtlCol="false" tIns="0" lIns="0" bIns="0" rIns="0"/>
            <a:lstStyle/>
            <a:p>
              <a:pPr algn="l">
                <a:lnSpc>
                  <a:spcPts val="3523"/>
                </a:lnSpc>
              </a:pPr>
              <a:r>
                <a:rPr lang="en-US" sz="2175" b="true">
                  <a:solidFill>
                    <a:srgbClr val="387F7F"/>
                  </a:solidFill>
                  <a:latin typeface="Poppins Bold"/>
                  <a:ea typeface="Poppins Bold"/>
                  <a:cs typeface="Poppins Bold"/>
                  <a:sym typeface="Poppins Bold"/>
                </a:rPr>
                <a:t>The same reasoning applies to phone numbers, account numbers, BVN and postcodes.</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6903105" cy="771525"/>
          </a:xfrm>
          <a:prstGeom prst="rect">
            <a:avLst/>
          </a:prstGeom>
        </p:spPr>
        <p:txBody>
          <a:bodyPr anchor="t" rtlCol="false" tIns="0" lIns="0" bIns="0" rIns="0">
            <a:spAutoFit/>
          </a:bodyPr>
          <a:lstStyle/>
          <a:p>
            <a:pPr algn="l">
              <a:lnSpc>
                <a:spcPts val="5760"/>
              </a:lnSpc>
            </a:pPr>
            <a:r>
              <a:rPr lang="en-US" sz="4800">
                <a:solidFill>
                  <a:srgbClr val="388080"/>
                </a:solidFill>
                <a:latin typeface="Poppins"/>
                <a:ea typeface="Poppins"/>
                <a:cs typeface="Poppins"/>
                <a:sym typeface="Poppins"/>
              </a:rPr>
              <a:t>Th</a:t>
            </a:r>
            <a:r>
              <a:rPr lang="en-US" sz="4800">
                <a:solidFill>
                  <a:srgbClr val="388080"/>
                </a:solidFill>
                <a:latin typeface="Poppins"/>
                <a:ea typeface="Poppins"/>
                <a:cs typeface="Poppins"/>
                <a:sym typeface="Poppins"/>
              </a:rPr>
              <a:t>e question that separates a pipeline from a clean-up</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8700" y="2400300"/>
            <a:ext cx="14744700" cy="1577340"/>
            <a:chOff x="0" y="0"/>
            <a:chExt cx="19659600" cy="2103120"/>
          </a:xfrm>
        </p:grpSpPr>
        <p:sp>
          <p:nvSpPr>
            <p:cNvPr name="Freeform 12" id="12"/>
            <p:cNvSpPr/>
            <p:nvPr/>
          </p:nvSpPr>
          <p:spPr>
            <a:xfrm flipH="false" flipV="false" rot="0">
              <a:off x="0" y="0"/>
              <a:ext cx="19659600" cy="2103120"/>
            </a:xfrm>
            <a:custGeom>
              <a:avLst/>
              <a:gdLst/>
              <a:ahLst/>
              <a:cxnLst/>
              <a:rect r="r" b="b" t="t" l="l"/>
              <a:pathLst>
                <a:path h="2103120" w="19659600">
                  <a:moveTo>
                    <a:pt x="0" y="164592"/>
                  </a:moveTo>
                  <a:cubicBezTo>
                    <a:pt x="0" y="73660"/>
                    <a:pt x="73660" y="0"/>
                    <a:pt x="164592" y="0"/>
                  </a:cubicBezTo>
                  <a:lnTo>
                    <a:pt x="19495008" y="0"/>
                  </a:lnTo>
                  <a:cubicBezTo>
                    <a:pt x="19585939" y="0"/>
                    <a:pt x="19659600" y="73660"/>
                    <a:pt x="19659600" y="164592"/>
                  </a:cubicBezTo>
                  <a:lnTo>
                    <a:pt x="19659600" y="1938528"/>
                  </a:lnTo>
                  <a:cubicBezTo>
                    <a:pt x="19659600" y="2029460"/>
                    <a:pt x="19585939" y="2103120"/>
                    <a:pt x="19495008" y="2103120"/>
                  </a:cubicBezTo>
                  <a:lnTo>
                    <a:pt x="164592" y="2103120"/>
                  </a:lnTo>
                  <a:cubicBezTo>
                    <a:pt x="73660" y="2103120"/>
                    <a:pt x="0" y="2029460"/>
                    <a:pt x="0" y="1938528"/>
                  </a:cubicBezTo>
                  <a:close/>
                </a:path>
              </a:pathLst>
            </a:custGeom>
            <a:solidFill>
              <a:srgbClr val="FFFFFF"/>
            </a:solidFill>
          </p:spPr>
        </p:sp>
      </p:grpSp>
      <p:grpSp>
        <p:nvGrpSpPr>
          <p:cNvPr name="Group 13" id="13"/>
          <p:cNvGrpSpPr/>
          <p:nvPr/>
        </p:nvGrpSpPr>
        <p:grpSpPr>
          <a:xfrm rot="0">
            <a:off x="1508760" y="2400300"/>
            <a:ext cx="13784580" cy="1577340"/>
            <a:chOff x="0" y="0"/>
            <a:chExt cx="18379440" cy="2103120"/>
          </a:xfrm>
        </p:grpSpPr>
        <p:sp>
          <p:nvSpPr>
            <p:cNvPr name="Freeform 14" id="14"/>
            <p:cNvSpPr/>
            <p:nvPr/>
          </p:nvSpPr>
          <p:spPr>
            <a:xfrm flipH="false" flipV="false" rot="0">
              <a:off x="0" y="0"/>
              <a:ext cx="18379439" cy="2103120"/>
            </a:xfrm>
            <a:custGeom>
              <a:avLst/>
              <a:gdLst/>
              <a:ahLst/>
              <a:cxnLst/>
              <a:rect r="r" b="b" t="t" l="l"/>
              <a:pathLst>
                <a:path h="2103120" w="18379439">
                  <a:moveTo>
                    <a:pt x="0" y="0"/>
                  </a:moveTo>
                  <a:lnTo>
                    <a:pt x="18379439" y="0"/>
                  </a:lnTo>
                  <a:lnTo>
                    <a:pt x="18379439" y="2103120"/>
                  </a:lnTo>
                  <a:lnTo>
                    <a:pt x="0" y="2103120"/>
                  </a:lnTo>
                  <a:close/>
                </a:path>
              </a:pathLst>
            </a:custGeom>
            <a:blipFill>
              <a:blip r:embed="rId9">
                <a:alphaModFix amt="0"/>
              </a:blip>
              <a:stretch>
                <a:fillRect l="0" t="-120282" r="0" b="-120282"/>
              </a:stretch>
            </a:blipFill>
          </p:spPr>
        </p:sp>
        <p:sp>
          <p:nvSpPr>
            <p:cNvPr name="TextBox 15" id="15"/>
            <p:cNvSpPr txBox="true"/>
            <p:nvPr/>
          </p:nvSpPr>
          <p:spPr>
            <a:xfrm>
              <a:off x="0" y="-133350"/>
              <a:ext cx="18379440" cy="2236470"/>
            </a:xfrm>
            <a:prstGeom prst="rect">
              <a:avLst/>
            </a:prstGeom>
          </p:spPr>
          <p:txBody>
            <a:bodyPr anchor="ctr" rtlCol="false" tIns="0" lIns="0" bIns="0" rIns="0"/>
            <a:lstStyle/>
            <a:p>
              <a:pPr algn="l">
                <a:lnSpc>
                  <a:spcPts val="4009"/>
                </a:lnSpc>
              </a:pPr>
              <a:r>
                <a:rPr lang="en-US" sz="2475" b="true">
                  <a:solidFill>
                    <a:srgbClr val="0A1A23"/>
                  </a:solidFill>
                  <a:latin typeface="Poppins Bold"/>
                  <a:ea typeface="Poppins Bold"/>
                  <a:cs typeface="Poppins Bold"/>
                  <a:sym typeface="Poppins Bold"/>
                </a:rPr>
                <a:t>Next month Adaeze sends a new file: same columns, different rows. You press Refresh. What survives?</a:t>
              </a:r>
            </a:p>
          </p:txBody>
        </p:sp>
      </p:grpSp>
      <p:grpSp>
        <p:nvGrpSpPr>
          <p:cNvPr name="Group 16" id="16"/>
          <p:cNvGrpSpPr/>
          <p:nvPr/>
        </p:nvGrpSpPr>
        <p:grpSpPr>
          <a:xfrm rot="0">
            <a:off x="1028700" y="4251960"/>
            <a:ext cx="7063740" cy="2948940"/>
            <a:chOff x="0" y="0"/>
            <a:chExt cx="9418320" cy="3931920"/>
          </a:xfrm>
        </p:grpSpPr>
        <p:sp>
          <p:nvSpPr>
            <p:cNvPr name="Freeform 17" id="17"/>
            <p:cNvSpPr/>
            <p:nvPr/>
          </p:nvSpPr>
          <p:spPr>
            <a:xfrm flipH="false" flipV="false" rot="0">
              <a:off x="0" y="0"/>
              <a:ext cx="9418320" cy="3931920"/>
            </a:xfrm>
            <a:custGeom>
              <a:avLst/>
              <a:gdLst/>
              <a:ahLst/>
              <a:cxnLst/>
              <a:rect r="r" b="b" t="t" l="l"/>
              <a:pathLst>
                <a:path h="3931920" w="9418320">
                  <a:moveTo>
                    <a:pt x="0" y="182880"/>
                  </a:moveTo>
                  <a:cubicBezTo>
                    <a:pt x="0" y="81915"/>
                    <a:pt x="81915" y="0"/>
                    <a:pt x="182880" y="0"/>
                  </a:cubicBezTo>
                  <a:lnTo>
                    <a:pt x="9235440" y="0"/>
                  </a:lnTo>
                  <a:cubicBezTo>
                    <a:pt x="9336405" y="0"/>
                    <a:pt x="9418320" y="81915"/>
                    <a:pt x="9418320" y="182880"/>
                  </a:cubicBezTo>
                  <a:lnTo>
                    <a:pt x="9418320" y="3749040"/>
                  </a:lnTo>
                  <a:cubicBezTo>
                    <a:pt x="9418320" y="3850005"/>
                    <a:pt x="9336405" y="3931920"/>
                    <a:pt x="9235440" y="3931920"/>
                  </a:cubicBezTo>
                  <a:lnTo>
                    <a:pt x="182880" y="3931920"/>
                  </a:lnTo>
                  <a:cubicBezTo>
                    <a:pt x="81915" y="3931920"/>
                    <a:pt x="0" y="3850005"/>
                    <a:pt x="0" y="3749040"/>
                  </a:cubicBezTo>
                  <a:close/>
                </a:path>
              </a:pathLst>
            </a:custGeom>
            <a:solidFill>
              <a:srgbClr val="FFFFFF"/>
            </a:solidFill>
          </p:spPr>
        </p:sp>
      </p:grpSp>
      <p:grpSp>
        <p:nvGrpSpPr>
          <p:cNvPr name="Group 18" id="18"/>
          <p:cNvGrpSpPr/>
          <p:nvPr/>
        </p:nvGrpSpPr>
        <p:grpSpPr>
          <a:xfrm rot="0">
            <a:off x="1028700" y="4251960"/>
            <a:ext cx="7063740" cy="123444"/>
            <a:chOff x="0" y="0"/>
            <a:chExt cx="9418320" cy="164592"/>
          </a:xfrm>
        </p:grpSpPr>
        <p:sp>
          <p:nvSpPr>
            <p:cNvPr name="Freeform 19" id="19"/>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387F7F"/>
            </a:solidFill>
          </p:spPr>
        </p:sp>
      </p:grpSp>
      <p:grpSp>
        <p:nvGrpSpPr>
          <p:cNvPr name="Group 20" id="20"/>
          <p:cNvGrpSpPr/>
          <p:nvPr/>
        </p:nvGrpSpPr>
        <p:grpSpPr>
          <a:xfrm rot="0">
            <a:off x="1028700" y="4498848"/>
            <a:ext cx="7063740" cy="438912"/>
            <a:chOff x="0" y="0"/>
            <a:chExt cx="9418320" cy="585216"/>
          </a:xfrm>
        </p:grpSpPr>
        <p:sp>
          <p:nvSpPr>
            <p:cNvPr name="Freeform 21" id="21"/>
            <p:cNvSpPr/>
            <p:nvPr/>
          </p:nvSpPr>
          <p:spPr>
            <a:xfrm flipH="false" flipV="false" rot="0">
              <a:off x="0" y="0"/>
              <a:ext cx="9418320" cy="585216"/>
            </a:xfrm>
            <a:custGeom>
              <a:avLst/>
              <a:gdLst/>
              <a:ahLst/>
              <a:cxnLst/>
              <a:rect r="r" b="b" t="t" l="l"/>
              <a:pathLst>
                <a:path h="585216" w="9418320">
                  <a:moveTo>
                    <a:pt x="0" y="0"/>
                  </a:moveTo>
                  <a:lnTo>
                    <a:pt x="9418320" y="0"/>
                  </a:lnTo>
                  <a:lnTo>
                    <a:pt x="9418320" y="585216"/>
                  </a:lnTo>
                  <a:lnTo>
                    <a:pt x="0" y="585216"/>
                  </a:lnTo>
                  <a:close/>
                </a:path>
              </a:pathLst>
            </a:custGeom>
            <a:blipFill>
              <a:blip r:embed="rId9">
                <a:alphaModFix amt="0"/>
              </a:blip>
              <a:stretch>
                <a:fillRect l="0" t="-263587" r="0" b="-263587"/>
              </a:stretch>
            </a:blipFill>
          </p:spPr>
        </p:sp>
        <p:sp>
          <p:nvSpPr>
            <p:cNvPr name="TextBox 22" id="22"/>
            <p:cNvSpPr txBox="true"/>
            <p:nvPr/>
          </p:nvSpPr>
          <p:spPr>
            <a:xfrm>
              <a:off x="0" y="-9525"/>
              <a:ext cx="9418320" cy="594741"/>
            </a:xfrm>
            <a:prstGeom prst="rect">
              <a:avLst/>
            </a:prstGeom>
          </p:spPr>
          <p:txBody>
            <a:bodyPr anchor="ctr" rtlCol="false" tIns="0" lIns="0" bIns="0" rIns="0"/>
            <a:lstStyle/>
            <a:p>
              <a:pPr algn="ctr">
                <a:lnSpc>
                  <a:spcPts val="1980"/>
                </a:lnSpc>
              </a:pPr>
              <a:r>
                <a:rPr lang="en-US" b="true" sz="1650" spc="225">
                  <a:solidFill>
                    <a:srgbClr val="387F7F"/>
                  </a:solidFill>
                  <a:latin typeface="Poppins Bold"/>
                  <a:ea typeface="Poppins Bold"/>
                  <a:cs typeface="Poppins Bold"/>
                  <a:sym typeface="Poppins Bold"/>
                </a:rPr>
                <a:t>A RULE</a:t>
              </a:r>
            </a:p>
          </p:txBody>
        </p:sp>
      </p:grpSp>
      <p:grpSp>
        <p:nvGrpSpPr>
          <p:cNvPr name="Group 23" id="23"/>
          <p:cNvGrpSpPr/>
          <p:nvPr/>
        </p:nvGrpSpPr>
        <p:grpSpPr>
          <a:xfrm rot="0">
            <a:off x="1440180" y="5047488"/>
            <a:ext cx="6240780" cy="685800"/>
            <a:chOff x="0" y="0"/>
            <a:chExt cx="8321040" cy="914400"/>
          </a:xfrm>
        </p:grpSpPr>
        <p:sp>
          <p:nvSpPr>
            <p:cNvPr name="Freeform 24" id="24"/>
            <p:cNvSpPr/>
            <p:nvPr/>
          </p:nvSpPr>
          <p:spPr>
            <a:xfrm flipH="false" flipV="false" rot="0">
              <a:off x="0" y="0"/>
              <a:ext cx="8321040" cy="914400"/>
            </a:xfrm>
            <a:custGeom>
              <a:avLst/>
              <a:gdLst/>
              <a:ahLst/>
              <a:cxnLst/>
              <a:rect r="r" b="b" t="t" l="l"/>
              <a:pathLst>
                <a:path h="914400" w="8321040">
                  <a:moveTo>
                    <a:pt x="0" y="109728"/>
                  </a:moveTo>
                  <a:cubicBezTo>
                    <a:pt x="0" y="49149"/>
                    <a:pt x="49149" y="0"/>
                    <a:pt x="109728" y="0"/>
                  </a:cubicBezTo>
                  <a:lnTo>
                    <a:pt x="8211312" y="0"/>
                  </a:lnTo>
                  <a:cubicBezTo>
                    <a:pt x="8271891" y="0"/>
                    <a:pt x="8321040" y="49149"/>
                    <a:pt x="8321040" y="109728"/>
                  </a:cubicBezTo>
                  <a:lnTo>
                    <a:pt x="8321040" y="804672"/>
                  </a:lnTo>
                  <a:cubicBezTo>
                    <a:pt x="8321040" y="865251"/>
                    <a:pt x="8271891" y="914400"/>
                    <a:pt x="8211312" y="914400"/>
                  </a:cubicBezTo>
                  <a:lnTo>
                    <a:pt x="109728" y="914400"/>
                  </a:lnTo>
                  <a:cubicBezTo>
                    <a:pt x="49149" y="914400"/>
                    <a:pt x="0" y="865251"/>
                    <a:pt x="0" y="804672"/>
                  </a:cubicBezTo>
                  <a:close/>
                </a:path>
              </a:pathLst>
            </a:custGeom>
            <a:solidFill>
              <a:srgbClr val="EEF4F4"/>
            </a:solidFill>
          </p:spPr>
        </p:sp>
      </p:grpSp>
      <p:grpSp>
        <p:nvGrpSpPr>
          <p:cNvPr name="Group 25" id="25"/>
          <p:cNvGrpSpPr/>
          <p:nvPr/>
        </p:nvGrpSpPr>
        <p:grpSpPr>
          <a:xfrm rot="0">
            <a:off x="1577340" y="5047488"/>
            <a:ext cx="5966460" cy="685800"/>
            <a:chOff x="0" y="0"/>
            <a:chExt cx="7955280" cy="914400"/>
          </a:xfrm>
        </p:grpSpPr>
        <p:sp>
          <p:nvSpPr>
            <p:cNvPr name="Freeform 26" id="26"/>
            <p:cNvSpPr/>
            <p:nvPr/>
          </p:nvSpPr>
          <p:spPr>
            <a:xfrm flipH="false" flipV="false" rot="0">
              <a:off x="0" y="0"/>
              <a:ext cx="7955280" cy="914400"/>
            </a:xfrm>
            <a:custGeom>
              <a:avLst/>
              <a:gdLst/>
              <a:ahLst/>
              <a:cxnLst/>
              <a:rect r="r" b="b" t="t" l="l"/>
              <a:pathLst>
                <a:path h="914400" w="7955280">
                  <a:moveTo>
                    <a:pt x="0" y="0"/>
                  </a:moveTo>
                  <a:lnTo>
                    <a:pt x="7955280" y="0"/>
                  </a:lnTo>
                  <a:lnTo>
                    <a:pt x="7955280" y="914400"/>
                  </a:lnTo>
                  <a:lnTo>
                    <a:pt x="0" y="914400"/>
                  </a:lnTo>
                  <a:close/>
                </a:path>
              </a:pathLst>
            </a:custGeom>
            <a:blipFill>
              <a:blip r:embed="rId9">
                <a:alphaModFix amt="0"/>
              </a:blip>
              <a:stretch>
                <a:fillRect l="0" t="-119519" r="0" b="-119519"/>
              </a:stretch>
            </a:blipFill>
          </p:spPr>
        </p:sp>
        <p:sp>
          <p:nvSpPr>
            <p:cNvPr name="TextBox 27" id="27"/>
            <p:cNvSpPr txBox="true"/>
            <p:nvPr/>
          </p:nvSpPr>
          <p:spPr>
            <a:xfrm>
              <a:off x="0" y="9525"/>
              <a:ext cx="7955280" cy="904875"/>
            </a:xfrm>
            <a:prstGeom prst="rect">
              <a:avLst/>
            </a:prstGeom>
          </p:spPr>
          <p:txBody>
            <a:bodyPr anchor="ctr" rtlCol="false" tIns="0" lIns="0" bIns="0" rIns="0"/>
            <a:lstStyle/>
            <a:p>
              <a:pPr algn="ctr">
                <a:lnSpc>
                  <a:spcPts val="1980"/>
                </a:lnSpc>
              </a:pPr>
              <a:r>
                <a:rPr lang="en-US" sz="1650">
                  <a:solidFill>
                    <a:srgbClr val="0A1A23"/>
                  </a:solidFill>
                  <a:latin typeface="Roboto Mono"/>
                  <a:ea typeface="Roboto Mono"/>
                  <a:cs typeface="Roboto Mono"/>
                  <a:sym typeface="Roboto Mono"/>
                </a:rPr>
                <a:t>“Remove rows where CustomerID is blank”</a:t>
              </a:r>
            </a:p>
          </p:txBody>
        </p:sp>
      </p:grpSp>
      <p:sp>
        <p:nvSpPr>
          <p:cNvPr name="TextBox 28" id="28"/>
          <p:cNvSpPr txBox="true"/>
          <p:nvPr/>
        </p:nvSpPr>
        <p:spPr>
          <a:xfrm rot="0">
            <a:off x="1508760" y="5849112"/>
            <a:ext cx="6103620" cy="1242060"/>
          </a:xfrm>
          <a:prstGeom prst="rect">
            <a:avLst/>
          </a:prstGeom>
        </p:spPr>
        <p:txBody>
          <a:bodyPr anchor="t" rtlCol="false" tIns="0" lIns="0" bIns="0" rIns="0">
            <a:spAutoFit/>
          </a:bodyPr>
          <a:lstStyle/>
          <a:p>
            <a:pPr algn="ctr">
              <a:lnSpc>
                <a:spcPts val="2700"/>
              </a:lnSpc>
            </a:pPr>
            <a:r>
              <a:rPr lang="en-US" sz="1800">
                <a:solidFill>
                  <a:srgbClr val="475569"/>
                </a:solidFill>
                <a:latin typeface="Poppins"/>
                <a:ea typeface="Poppins"/>
                <a:cs typeface="Poppins"/>
                <a:sym typeface="Poppins"/>
              </a:rPr>
              <a:t>Describes a condition. True of any file. Survives the refresh.</a:t>
            </a:r>
          </a:p>
        </p:txBody>
      </p:sp>
      <p:grpSp>
        <p:nvGrpSpPr>
          <p:cNvPr name="Group 29" id="29"/>
          <p:cNvGrpSpPr/>
          <p:nvPr/>
        </p:nvGrpSpPr>
        <p:grpSpPr>
          <a:xfrm rot="0">
            <a:off x="8709660" y="4251960"/>
            <a:ext cx="7063740" cy="2948940"/>
            <a:chOff x="0" y="0"/>
            <a:chExt cx="9418320" cy="3931920"/>
          </a:xfrm>
        </p:grpSpPr>
        <p:sp>
          <p:nvSpPr>
            <p:cNvPr name="Freeform 30" id="30"/>
            <p:cNvSpPr/>
            <p:nvPr/>
          </p:nvSpPr>
          <p:spPr>
            <a:xfrm flipH="false" flipV="false" rot="0">
              <a:off x="0" y="0"/>
              <a:ext cx="9418320" cy="3931920"/>
            </a:xfrm>
            <a:custGeom>
              <a:avLst/>
              <a:gdLst/>
              <a:ahLst/>
              <a:cxnLst/>
              <a:rect r="r" b="b" t="t" l="l"/>
              <a:pathLst>
                <a:path h="3931920" w="9418320">
                  <a:moveTo>
                    <a:pt x="0" y="182880"/>
                  </a:moveTo>
                  <a:cubicBezTo>
                    <a:pt x="0" y="81915"/>
                    <a:pt x="81915" y="0"/>
                    <a:pt x="182880" y="0"/>
                  </a:cubicBezTo>
                  <a:lnTo>
                    <a:pt x="9235440" y="0"/>
                  </a:lnTo>
                  <a:cubicBezTo>
                    <a:pt x="9336405" y="0"/>
                    <a:pt x="9418320" y="81915"/>
                    <a:pt x="9418320" y="182880"/>
                  </a:cubicBezTo>
                  <a:lnTo>
                    <a:pt x="9418320" y="3749040"/>
                  </a:lnTo>
                  <a:cubicBezTo>
                    <a:pt x="9418320" y="3850005"/>
                    <a:pt x="9336405" y="3931920"/>
                    <a:pt x="9235440" y="3931920"/>
                  </a:cubicBezTo>
                  <a:lnTo>
                    <a:pt x="182880" y="3931920"/>
                  </a:lnTo>
                  <a:cubicBezTo>
                    <a:pt x="81915" y="3931920"/>
                    <a:pt x="0" y="3850005"/>
                    <a:pt x="0" y="3749040"/>
                  </a:cubicBezTo>
                  <a:close/>
                </a:path>
              </a:pathLst>
            </a:custGeom>
            <a:solidFill>
              <a:srgbClr val="FFFFFF"/>
            </a:solidFill>
          </p:spPr>
        </p:sp>
      </p:grpSp>
      <p:grpSp>
        <p:nvGrpSpPr>
          <p:cNvPr name="Group 31" id="31"/>
          <p:cNvGrpSpPr/>
          <p:nvPr/>
        </p:nvGrpSpPr>
        <p:grpSpPr>
          <a:xfrm rot="0">
            <a:off x="8709660" y="4251960"/>
            <a:ext cx="7063740" cy="123444"/>
            <a:chOff x="0" y="0"/>
            <a:chExt cx="9418320" cy="164592"/>
          </a:xfrm>
        </p:grpSpPr>
        <p:sp>
          <p:nvSpPr>
            <p:cNvPr name="Freeform 32" id="32"/>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A8322D"/>
            </a:solidFill>
          </p:spPr>
        </p:sp>
      </p:grpSp>
      <p:grpSp>
        <p:nvGrpSpPr>
          <p:cNvPr name="Group 33" id="33"/>
          <p:cNvGrpSpPr/>
          <p:nvPr/>
        </p:nvGrpSpPr>
        <p:grpSpPr>
          <a:xfrm rot="0">
            <a:off x="8709660" y="4498848"/>
            <a:ext cx="7063740" cy="438912"/>
            <a:chOff x="0" y="0"/>
            <a:chExt cx="9418320" cy="585216"/>
          </a:xfrm>
        </p:grpSpPr>
        <p:sp>
          <p:nvSpPr>
            <p:cNvPr name="Freeform 34" id="34"/>
            <p:cNvSpPr/>
            <p:nvPr/>
          </p:nvSpPr>
          <p:spPr>
            <a:xfrm flipH="false" flipV="false" rot="0">
              <a:off x="0" y="0"/>
              <a:ext cx="9418320" cy="585216"/>
            </a:xfrm>
            <a:custGeom>
              <a:avLst/>
              <a:gdLst/>
              <a:ahLst/>
              <a:cxnLst/>
              <a:rect r="r" b="b" t="t" l="l"/>
              <a:pathLst>
                <a:path h="585216" w="9418320">
                  <a:moveTo>
                    <a:pt x="0" y="0"/>
                  </a:moveTo>
                  <a:lnTo>
                    <a:pt x="9418320" y="0"/>
                  </a:lnTo>
                  <a:lnTo>
                    <a:pt x="9418320" y="585216"/>
                  </a:lnTo>
                  <a:lnTo>
                    <a:pt x="0" y="585216"/>
                  </a:lnTo>
                  <a:close/>
                </a:path>
              </a:pathLst>
            </a:custGeom>
            <a:blipFill>
              <a:blip r:embed="rId9">
                <a:alphaModFix amt="0"/>
              </a:blip>
              <a:stretch>
                <a:fillRect l="0" t="-263587" r="0" b="-263587"/>
              </a:stretch>
            </a:blipFill>
          </p:spPr>
        </p:sp>
        <p:sp>
          <p:nvSpPr>
            <p:cNvPr name="TextBox 35" id="35"/>
            <p:cNvSpPr txBox="true"/>
            <p:nvPr/>
          </p:nvSpPr>
          <p:spPr>
            <a:xfrm>
              <a:off x="0" y="-9525"/>
              <a:ext cx="9418320" cy="594741"/>
            </a:xfrm>
            <a:prstGeom prst="rect">
              <a:avLst/>
            </a:prstGeom>
          </p:spPr>
          <p:txBody>
            <a:bodyPr anchor="ctr" rtlCol="false" tIns="0" lIns="0" bIns="0" rIns="0"/>
            <a:lstStyle/>
            <a:p>
              <a:pPr algn="ctr">
                <a:lnSpc>
                  <a:spcPts val="1980"/>
                </a:lnSpc>
              </a:pPr>
              <a:r>
                <a:rPr lang="en-US" b="true" sz="1650" spc="225">
                  <a:solidFill>
                    <a:srgbClr val="A8322D"/>
                  </a:solidFill>
                  <a:latin typeface="Poppins Bold"/>
                  <a:ea typeface="Poppins Bold"/>
                  <a:cs typeface="Poppins Bold"/>
                  <a:sym typeface="Poppins Bold"/>
                </a:rPr>
                <a:t>AN EDIT</a:t>
              </a:r>
            </a:p>
          </p:txBody>
        </p:sp>
      </p:grpSp>
      <p:grpSp>
        <p:nvGrpSpPr>
          <p:cNvPr name="Group 36" id="36"/>
          <p:cNvGrpSpPr/>
          <p:nvPr/>
        </p:nvGrpSpPr>
        <p:grpSpPr>
          <a:xfrm rot="0">
            <a:off x="9121140" y="5047488"/>
            <a:ext cx="6240780" cy="685800"/>
            <a:chOff x="0" y="0"/>
            <a:chExt cx="8321040" cy="914400"/>
          </a:xfrm>
        </p:grpSpPr>
        <p:sp>
          <p:nvSpPr>
            <p:cNvPr name="Freeform 37" id="37"/>
            <p:cNvSpPr/>
            <p:nvPr/>
          </p:nvSpPr>
          <p:spPr>
            <a:xfrm flipH="false" flipV="false" rot="0">
              <a:off x="0" y="0"/>
              <a:ext cx="8321040" cy="914400"/>
            </a:xfrm>
            <a:custGeom>
              <a:avLst/>
              <a:gdLst/>
              <a:ahLst/>
              <a:cxnLst/>
              <a:rect r="r" b="b" t="t" l="l"/>
              <a:pathLst>
                <a:path h="914400" w="8321040">
                  <a:moveTo>
                    <a:pt x="0" y="109728"/>
                  </a:moveTo>
                  <a:cubicBezTo>
                    <a:pt x="0" y="49149"/>
                    <a:pt x="49149" y="0"/>
                    <a:pt x="109728" y="0"/>
                  </a:cubicBezTo>
                  <a:lnTo>
                    <a:pt x="8211312" y="0"/>
                  </a:lnTo>
                  <a:cubicBezTo>
                    <a:pt x="8271891" y="0"/>
                    <a:pt x="8321040" y="49149"/>
                    <a:pt x="8321040" y="109728"/>
                  </a:cubicBezTo>
                  <a:lnTo>
                    <a:pt x="8321040" y="804672"/>
                  </a:lnTo>
                  <a:cubicBezTo>
                    <a:pt x="8321040" y="865251"/>
                    <a:pt x="8271891" y="914400"/>
                    <a:pt x="8211312" y="914400"/>
                  </a:cubicBezTo>
                  <a:lnTo>
                    <a:pt x="109728" y="914400"/>
                  </a:lnTo>
                  <a:cubicBezTo>
                    <a:pt x="49149" y="914400"/>
                    <a:pt x="0" y="865251"/>
                    <a:pt x="0" y="804672"/>
                  </a:cubicBezTo>
                  <a:close/>
                </a:path>
              </a:pathLst>
            </a:custGeom>
            <a:solidFill>
              <a:srgbClr val="EEF4F4"/>
            </a:solidFill>
          </p:spPr>
        </p:sp>
      </p:grpSp>
      <p:grpSp>
        <p:nvGrpSpPr>
          <p:cNvPr name="Group 38" id="38"/>
          <p:cNvGrpSpPr/>
          <p:nvPr/>
        </p:nvGrpSpPr>
        <p:grpSpPr>
          <a:xfrm rot="0">
            <a:off x="9258300" y="5047488"/>
            <a:ext cx="5966460" cy="685800"/>
            <a:chOff x="0" y="0"/>
            <a:chExt cx="7955280" cy="914400"/>
          </a:xfrm>
        </p:grpSpPr>
        <p:sp>
          <p:nvSpPr>
            <p:cNvPr name="Freeform 39" id="39"/>
            <p:cNvSpPr/>
            <p:nvPr/>
          </p:nvSpPr>
          <p:spPr>
            <a:xfrm flipH="false" flipV="false" rot="0">
              <a:off x="0" y="0"/>
              <a:ext cx="7955280" cy="914400"/>
            </a:xfrm>
            <a:custGeom>
              <a:avLst/>
              <a:gdLst/>
              <a:ahLst/>
              <a:cxnLst/>
              <a:rect r="r" b="b" t="t" l="l"/>
              <a:pathLst>
                <a:path h="914400" w="7955280">
                  <a:moveTo>
                    <a:pt x="0" y="0"/>
                  </a:moveTo>
                  <a:lnTo>
                    <a:pt x="7955280" y="0"/>
                  </a:lnTo>
                  <a:lnTo>
                    <a:pt x="7955280" y="914400"/>
                  </a:lnTo>
                  <a:lnTo>
                    <a:pt x="0" y="914400"/>
                  </a:lnTo>
                  <a:close/>
                </a:path>
              </a:pathLst>
            </a:custGeom>
            <a:blipFill>
              <a:blip r:embed="rId9">
                <a:alphaModFix amt="0"/>
              </a:blip>
              <a:stretch>
                <a:fillRect l="0" t="-119519" r="0" b="-119519"/>
              </a:stretch>
            </a:blipFill>
          </p:spPr>
        </p:sp>
        <p:sp>
          <p:nvSpPr>
            <p:cNvPr name="TextBox 40" id="40"/>
            <p:cNvSpPr txBox="true"/>
            <p:nvPr/>
          </p:nvSpPr>
          <p:spPr>
            <a:xfrm>
              <a:off x="0" y="9525"/>
              <a:ext cx="7955280" cy="904875"/>
            </a:xfrm>
            <a:prstGeom prst="rect">
              <a:avLst/>
            </a:prstGeom>
          </p:spPr>
          <p:txBody>
            <a:bodyPr anchor="ctr" rtlCol="false" tIns="0" lIns="0" bIns="0" rIns="0"/>
            <a:lstStyle/>
            <a:p>
              <a:pPr algn="ctr">
                <a:lnSpc>
                  <a:spcPts val="1980"/>
                </a:lnSpc>
              </a:pPr>
              <a:r>
                <a:rPr lang="en-US" sz="1650">
                  <a:solidFill>
                    <a:srgbClr val="0A1A23"/>
                  </a:solidFill>
                  <a:latin typeface="Roboto Mono"/>
                  <a:ea typeface="Roboto Mono"/>
                  <a:cs typeface="Roboto Mono"/>
                  <a:sym typeface="Roboto Mono"/>
                </a:rPr>
                <a:t>“Delete rows 412 to 415”</a:t>
              </a:r>
            </a:p>
          </p:txBody>
        </p:sp>
      </p:grpSp>
      <p:sp>
        <p:nvSpPr>
          <p:cNvPr name="TextBox 41" id="41"/>
          <p:cNvSpPr txBox="true"/>
          <p:nvPr/>
        </p:nvSpPr>
        <p:spPr>
          <a:xfrm rot="0">
            <a:off x="9189720" y="5849112"/>
            <a:ext cx="6103620" cy="1242060"/>
          </a:xfrm>
          <a:prstGeom prst="rect">
            <a:avLst/>
          </a:prstGeom>
        </p:spPr>
        <p:txBody>
          <a:bodyPr anchor="t" rtlCol="false" tIns="0" lIns="0" bIns="0" rIns="0">
            <a:spAutoFit/>
          </a:bodyPr>
          <a:lstStyle/>
          <a:p>
            <a:pPr algn="ctr">
              <a:lnSpc>
                <a:spcPts val="2700"/>
              </a:lnSpc>
            </a:pPr>
            <a:r>
              <a:rPr lang="en-US" sz="1800">
                <a:solidFill>
                  <a:srgbClr val="475569"/>
                </a:solidFill>
                <a:latin typeface="Poppins"/>
                <a:ea typeface="Poppins"/>
                <a:cs typeface="Poppins"/>
                <a:sym typeface="Poppins"/>
              </a:rPr>
              <a:t>Describes a position. True of this file only. Next month it silently deletes four innocent deliveries.</a:t>
            </a:r>
          </a:p>
        </p:txBody>
      </p:sp>
      <p:grpSp>
        <p:nvGrpSpPr>
          <p:cNvPr name="Group 42" id="42"/>
          <p:cNvGrpSpPr/>
          <p:nvPr/>
        </p:nvGrpSpPr>
        <p:grpSpPr>
          <a:xfrm rot="0">
            <a:off x="1028700" y="7543800"/>
            <a:ext cx="14744700" cy="1371600"/>
            <a:chOff x="0" y="0"/>
            <a:chExt cx="19659600" cy="1828800"/>
          </a:xfrm>
        </p:grpSpPr>
        <p:sp>
          <p:nvSpPr>
            <p:cNvPr name="Freeform 43" id="43"/>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EEF4F4"/>
            </a:solidFill>
          </p:spPr>
        </p:sp>
      </p:grpSp>
      <p:grpSp>
        <p:nvGrpSpPr>
          <p:cNvPr name="Group 44" id="44"/>
          <p:cNvGrpSpPr/>
          <p:nvPr/>
        </p:nvGrpSpPr>
        <p:grpSpPr>
          <a:xfrm rot="0">
            <a:off x="1028700" y="7543800"/>
            <a:ext cx="102870" cy="1371600"/>
            <a:chOff x="0" y="0"/>
            <a:chExt cx="137160" cy="1828800"/>
          </a:xfrm>
        </p:grpSpPr>
        <p:sp>
          <p:nvSpPr>
            <p:cNvPr name="Freeform 45" id="45"/>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387F7F"/>
            </a:solidFill>
          </p:spPr>
        </p:sp>
      </p:grpSp>
      <p:grpSp>
        <p:nvGrpSpPr>
          <p:cNvPr name="Group 46" id="46"/>
          <p:cNvGrpSpPr/>
          <p:nvPr/>
        </p:nvGrpSpPr>
        <p:grpSpPr>
          <a:xfrm rot="0">
            <a:off x="1577340" y="7543800"/>
            <a:ext cx="13853160" cy="1371600"/>
            <a:chOff x="0" y="0"/>
            <a:chExt cx="18470880" cy="1828800"/>
          </a:xfrm>
        </p:grpSpPr>
        <p:sp>
          <p:nvSpPr>
            <p:cNvPr name="Freeform 47" id="47"/>
            <p:cNvSpPr/>
            <p:nvPr/>
          </p:nvSpPr>
          <p:spPr>
            <a:xfrm flipH="false" flipV="false" rot="0">
              <a:off x="0" y="0"/>
              <a:ext cx="18470880" cy="1828800"/>
            </a:xfrm>
            <a:custGeom>
              <a:avLst/>
              <a:gdLst/>
              <a:ahLst/>
              <a:cxnLst/>
              <a:rect r="r" b="b" t="t" l="l"/>
              <a:pathLst>
                <a:path h="1828800" w="18470880">
                  <a:moveTo>
                    <a:pt x="0" y="0"/>
                  </a:moveTo>
                  <a:lnTo>
                    <a:pt x="18470880" y="0"/>
                  </a:lnTo>
                  <a:lnTo>
                    <a:pt x="18470880" y="1828800"/>
                  </a:lnTo>
                  <a:lnTo>
                    <a:pt x="0" y="1828800"/>
                  </a:lnTo>
                  <a:close/>
                </a:path>
              </a:pathLst>
            </a:custGeom>
            <a:blipFill>
              <a:blip r:embed="rId9">
                <a:alphaModFix amt="0"/>
              </a:blip>
              <a:stretch>
                <a:fillRect l="0" t="-146798" r="0" b="-146798"/>
              </a:stretch>
            </a:blipFill>
          </p:spPr>
        </p:sp>
        <p:sp>
          <p:nvSpPr>
            <p:cNvPr name="TextBox 48" id="48"/>
            <p:cNvSpPr txBox="true"/>
            <p:nvPr/>
          </p:nvSpPr>
          <p:spPr>
            <a:xfrm>
              <a:off x="0" y="-152400"/>
              <a:ext cx="18470880" cy="1981200"/>
            </a:xfrm>
            <a:prstGeom prst="rect">
              <a:avLst/>
            </a:prstGeom>
          </p:spPr>
          <p:txBody>
            <a:bodyPr anchor="ctr" rtlCol="false" tIns="0" lIns="0" bIns="0" rIns="0"/>
            <a:lstStyle/>
            <a:p>
              <a:pPr algn="l">
                <a:lnSpc>
                  <a:spcPts val="4617"/>
                </a:lnSpc>
              </a:pPr>
              <a:r>
                <a:rPr lang="en-US" sz="2850" b="true">
                  <a:solidFill>
                    <a:srgbClr val="387F7F"/>
                  </a:solidFill>
                  <a:latin typeface="Poppins Bold"/>
                  <a:ea typeface="Poppins Bold"/>
                  <a:cs typeface="Poppins Bold"/>
                  <a:sym typeface="Poppins Bold"/>
                </a:rPr>
                <a:t>Write rules, not edits.</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492135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Load</a:t>
            </a:r>
            <a:r>
              <a:rPr lang="en-US" sz="5000">
                <a:solidFill>
                  <a:srgbClr val="388080"/>
                </a:solidFill>
                <a:latin typeface="Poppins"/>
                <a:ea typeface="Poppins"/>
                <a:cs typeface="Poppins"/>
                <a:sym typeface="Poppins"/>
              </a:rPr>
              <a:t> routes.csv</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143000" y="1571625"/>
            <a:ext cx="8229600" cy="438912"/>
            <a:chOff x="0" y="0"/>
            <a:chExt cx="10972800" cy="585216"/>
          </a:xfrm>
        </p:grpSpPr>
        <p:sp>
          <p:nvSpPr>
            <p:cNvPr name="Freeform 12" id="12"/>
            <p:cNvSpPr/>
            <p:nvPr/>
          </p:nvSpPr>
          <p:spPr>
            <a:xfrm flipH="false" flipV="false" rot="0">
              <a:off x="0" y="0"/>
              <a:ext cx="10972800" cy="585216"/>
            </a:xfrm>
            <a:custGeom>
              <a:avLst/>
              <a:gdLst/>
              <a:ahLst/>
              <a:cxnLst/>
              <a:rect r="r" b="b" t="t" l="l"/>
              <a:pathLst>
                <a:path h="585216" w="10972800">
                  <a:moveTo>
                    <a:pt x="0" y="0"/>
                  </a:moveTo>
                  <a:lnTo>
                    <a:pt x="10972800" y="0"/>
                  </a:lnTo>
                  <a:lnTo>
                    <a:pt x="10972800" y="585216"/>
                  </a:lnTo>
                  <a:lnTo>
                    <a:pt x="0" y="585216"/>
                  </a:lnTo>
                  <a:close/>
                </a:path>
              </a:pathLst>
            </a:custGeom>
            <a:blipFill>
              <a:blip r:embed="rId9">
                <a:alphaModFix amt="0"/>
              </a:blip>
              <a:stretch>
                <a:fillRect l="0" t="-315344" r="0" b="-315344"/>
              </a:stretch>
            </a:blipFill>
          </p:spPr>
        </p:sp>
        <p:sp>
          <p:nvSpPr>
            <p:cNvPr name="TextBox 13" id="13"/>
            <p:cNvSpPr txBox="true"/>
            <p:nvPr/>
          </p:nvSpPr>
          <p:spPr>
            <a:xfrm>
              <a:off x="0" y="-19050"/>
              <a:ext cx="10972800" cy="604266"/>
            </a:xfrm>
            <a:prstGeom prst="rect">
              <a:avLst/>
            </a:prstGeom>
          </p:spPr>
          <p:txBody>
            <a:bodyPr anchor="ctr" rtlCol="false" tIns="0" lIns="0" bIns="0" rIns="0"/>
            <a:lstStyle/>
            <a:p>
              <a:pPr algn="l">
                <a:lnSpc>
                  <a:spcPts val="2160"/>
                </a:lnSpc>
              </a:pPr>
              <a:r>
                <a:rPr lang="en-US" b="true" sz="1800" spc="300">
                  <a:solidFill>
                    <a:srgbClr val="8FBEBE"/>
                  </a:solidFill>
                  <a:latin typeface="Poppins Bold"/>
                  <a:ea typeface="Poppins Bold"/>
                  <a:cs typeface="Poppins Bold"/>
                  <a:sym typeface="Poppins Bold"/>
                </a:rPr>
                <a:t>YOUR TURN</a:t>
              </a:r>
            </a:p>
          </p:txBody>
        </p:sp>
      </p:grpSp>
      <p:grpSp>
        <p:nvGrpSpPr>
          <p:cNvPr name="Group 14" id="14"/>
          <p:cNvGrpSpPr/>
          <p:nvPr/>
        </p:nvGrpSpPr>
        <p:grpSpPr>
          <a:xfrm rot="0">
            <a:off x="15293388" y="1036701"/>
            <a:ext cx="1851660" cy="754380"/>
            <a:chOff x="0" y="0"/>
            <a:chExt cx="2468880" cy="1005840"/>
          </a:xfrm>
        </p:grpSpPr>
        <p:sp>
          <p:nvSpPr>
            <p:cNvPr name="Freeform 15" id="15"/>
            <p:cNvSpPr/>
            <p:nvPr/>
          </p:nvSpPr>
          <p:spPr>
            <a:xfrm flipH="false" flipV="false" rot="0">
              <a:off x="0" y="0"/>
              <a:ext cx="2468880" cy="1005840"/>
            </a:xfrm>
            <a:custGeom>
              <a:avLst/>
              <a:gdLst/>
              <a:ahLst/>
              <a:cxnLst/>
              <a:rect r="r" b="b" t="t" l="l"/>
              <a:pathLst>
                <a:path h="1005840" w="2468880">
                  <a:moveTo>
                    <a:pt x="0" y="493776"/>
                  </a:moveTo>
                  <a:cubicBezTo>
                    <a:pt x="0" y="221107"/>
                    <a:pt x="221107" y="0"/>
                    <a:pt x="493776" y="0"/>
                  </a:cubicBezTo>
                  <a:lnTo>
                    <a:pt x="1975104" y="0"/>
                  </a:lnTo>
                  <a:cubicBezTo>
                    <a:pt x="2247773" y="0"/>
                    <a:pt x="2468880" y="221107"/>
                    <a:pt x="2468880" y="493776"/>
                  </a:cubicBezTo>
                  <a:lnTo>
                    <a:pt x="2468880" y="512064"/>
                  </a:lnTo>
                  <a:cubicBezTo>
                    <a:pt x="2468880" y="784733"/>
                    <a:pt x="2247773" y="1005840"/>
                    <a:pt x="1975104" y="1005840"/>
                  </a:cubicBezTo>
                  <a:lnTo>
                    <a:pt x="493776" y="1005840"/>
                  </a:lnTo>
                  <a:cubicBezTo>
                    <a:pt x="221107" y="1005840"/>
                    <a:pt x="0" y="784733"/>
                    <a:pt x="0" y="512064"/>
                  </a:cubicBezTo>
                  <a:close/>
                </a:path>
              </a:pathLst>
            </a:custGeom>
            <a:solidFill>
              <a:srgbClr val="387F7F"/>
            </a:solidFill>
          </p:spPr>
        </p:sp>
      </p:grpSp>
      <p:grpSp>
        <p:nvGrpSpPr>
          <p:cNvPr name="Group 16" id="16"/>
          <p:cNvGrpSpPr/>
          <p:nvPr/>
        </p:nvGrpSpPr>
        <p:grpSpPr>
          <a:xfrm rot="0">
            <a:off x="15293388" y="1036701"/>
            <a:ext cx="1851660" cy="754380"/>
            <a:chOff x="0" y="0"/>
            <a:chExt cx="2468880" cy="1005840"/>
          </a:xfrm>
        </p:grpSpPr>
        <p:sp>
          <p:nvSpPr>
            <p:cNvPr name="Freeform 17" id="17"/>
            <p:cNvSpPr/>
            <p:nvPr/>
          </p:nvSpPr>
          <p:spPr>
            <a:xfrm flipH="false" flipV="false" rot="0">
              <a:off x="0" y="0"/>
              <a:ext cx="2468880" cy="1005840"/>
            </a:xfrm>
            <a:custGeom>
              <a:avLst/>
              <a:gdLst/>
              <a:ahLst/>
              <a:cxnLst/>
              <a:rect r="r" b="b" t="t" l="l"/>
              <a:pathLst>
                <a:path h="1005840" w="2468880">
                  <a:moveTo>
                    <a:pt x="0" y="0"/>
                  </a:moveTo>
                  <a:lnTo>
                    <a:pt x="2468880" y="0"/>
                  </a:lnTo>
                  <a:lnTo>
                    <a:pt x="2468880" y="1005840"/>
                  </a:lnTo>
                  <a:lnTo>
                    <a:pt x="0" y="1005840"/>
                  </a:lnTo>
                  <a:close/>
                </a:path>
              </a:pathLst>
            </a:custGeom>
            <a:blipFill>
              <a:blip r:embed="rId9">
                <a:alphaModFix amt="0"/>
              </a:blip>
              <a:stretch>
                <a:fillRect l="-2271" t="0" r="-2271" b="0"/>
              </a:stretch>
            </a:blipFill>
          </p:spPr>
        </p:sp>
        <p:sp>
          <p:nvSpPr>
            <p:cNvPr name="TextBox 18" id="18"/>
            <p:cNvSpPr txBox="true"/>
            <p:nvPr/>
          </p:nvSpPr>
          <p:spPr>
            <a:xfrm>
              <a:off x="0" y="-19050"/>
              <a:ext cx="2468880" cy="1024890"/>
            </a:xfrm>
            <a:prstGeom prst="rect">
              <a:avLst/>
            </a:prstGeom>
          </p:spPr>
          <p:txBody>
            <a:bodyPr anchor="ctr" rtlCol="false" tIns="0" lIns="0" bIns="0" rIns="0"/>
            <a:lstStyle/>
            <a:p>
              <a:pPr algn="ctr">
                <a:lnSpc>
                  <a:spcPts val="2520"/>
                </a:lnSpc>
              </a:pPr>
              <a:r>
                <a:rPr lang="en-US" sz="2100" b="true">
                  <a:solidFill>
                    <a:srgbClr val="FFFFFF"/>
                  </a:solidFill>
                  <a:latin typeface="Poppins Bold"/>
                  <a:ea typeface="Poppins Bold"/>
                  <a:cs typeface="Poppins Bold"/>
                  <a:sym typeface="Poppins Bold"/>
                </a:rPr>
                <a:t>8 min</a:t>
              </a:r>
            </a:p>
          </p:txBody>
        </p:sp>
      </p:grpSp>
      <p:grpSp>
        <p:nvGrpSpPr>
          <p:cNvPr name="Group 19" id="19"/>
          <p:cNvGrpSpPr/>
          <p:nvPr/>
        </p:nvGrpSpPr>
        <p:grpSpPr>
          <a:xfrm rot="0">
            <a:off x="861584" y="3086100"/>
            <a:ext cx="15636240" cy="2194560"/>
            <a:chOff x="0" y="0"/>
            <a:chExt cx="20848320" cy="2926080"/>
          </a:xfrm>
        </p:grpSpPr>
        <p:sp>
          <p:nvSpPr>
            <p:cNvPr name="Freeform 20" id="20"/>
            <p:cNvSpPr/>
            <p:nvPr/>
          </p:nvSpPr>
          <p:spPr>
            <a:xfrm flipH="false" flipV="false" rot="0">
              <a:off x="0" y="0"/>
              <a:ext cx="20848320" cy="2926080"/>
            </a:xfrm>
            <a:custGeom>
              <a:avLst/>
              <a:gdLst/>
              <a:ahLst/>
              <a:cxnLst/>
              <a:rect r="r" b="b" t="t" l="l"/>
              <a:pathLst>
                <a:path h="2926080" w="20848320">
                  <a:moveTo>
                    <a:pt x="0" y="182880"/>
                  </a:moveTo>
                  <a:cubicBezTo>
                    <a:pt x="0" y="81915"/>
                    <a:pt x="81915" y="0"/>
                    <a:pt x="182880" y="0"/>
                  </a:cubicBezTo>
                  <a:lnTo>
                    <a:pt x="20665439" y="0"/>
                  </a:lnTo>
                  <a:cubicBezTo>
                    <a:pt x="20766404" y="0"/>
                    <a:pt x="20848320" y="81915"/>
                    <a:pt x="20848320" y="182880"/>
                  </a:cubicBezTo>
                  <a:lnTo>
                    <a:pt x="20848320" y="2743200"/>
                  </a:lnTo>
                  <a:cubicBezTo>
                    <a:pt x="20848320" y="2844165"/>
                    <a:pt x="20766404" y="2926080"/>
                    <a:pt x="20665439" y="2926080"/>
                  </a:cubicBezTo>
                  <a:lnTo>
                    <a:pt x="182880" y="2926080"/>
                  </a:lnTo>
                  <a:cubicBezTo>
                    <a:pt x="81915" y="2926080"/>
                    <a:pt x="0" y="2844165"/>
                    <a:pt x="0" y="2743200"/>
                  </a:cubicBezTo>
                  <a:close/>
                </a:path>
              </a:pathLst>
            </a:custGeom>
            <a:solidFill>
              <a:srgbClr val="FFFFFF"/>
            </a:solidFill>
          </p:spPr>
        </p:sp>
      </p:grpSp>
      <p:grpSp>
        <p:nvGrpSpPr>
          <p:cNvPr name="Group 21" id="21"/>
          <p:cNvGrpSpPr/>
          <p:nvPr/>
        </p:nvGrpSpPr>
        <p:grpSpPr>
          <a:xfrm rot="0">
            <a:off x="861584" y="3086100"/>
            <a:ext cx="123444" cy="2194560"/>
            <a:chOff x="0" y="0"/>
            <a:chExt cx="164592" cy="2926080"/>
          </a:xfrm>
        </p:grpSpPr>
        <p:sp>
          <p:nvSpPr>
            <p:cNvPr name="Freeform 22" id="22"/>
            <p:cNvSpPr/>
            <p:nvPr/>
          </p:nvSpPr>
          <p:spPr>
            <a:xfrm flipH="false" flipV="false" rot="0">
              <a:off x="0" y="0"/>
              <a:ext cx="164592" cy="2926080"/>
            </a:xfrm>
            <a:custGeom>
              <a:avLst/>
              <a:gdLst/>
              <a:ahLst/>
              <a:cxnLst/>
              <a:rect r="r" b="b" t="t" l="l"/>
              <a:pathLst>
                <a:path h="2926080" w="164592">
                  <a:moveTo>
                    <a:pt x="0" y="0"/>
                  </a:moveTo>
                  <a:lnTo>
                    <a:pt x="164592" y="0"/>
                  </a:lnTo>
                  <a:lnTo>
                    <a:pt x="164592" y="2926080"/>
                  </a:lnTo>
                  <a:lnTo>
                    <a:pt x="0" y="2926080"/>
                  </a:lnTo>
                  <a:close/>
                </a:path>
              </a:pathLst>
            </a:custGeom>
            <a:solidFill>
              <a:srgbClr val="387F7F"/>
            </a:solidFill>
          </p:spPr>
        </p:sp>
      </p:grpSp>
      <p:sp>
        <p:nvSpPr>
          <p:cNvPr name="TextBox 23" id="23"/>
          <p:cNvSpPr txBox="true"/>
          <p:nvPr/>
        </p:nvSpPr>
        <p:spPr>
          <a:xfrm rot="0">
            <a:off x="1341644" y="3726180"/>
            <a:ext cx="14813280" cy="1417320"/>
          </a:xfrm>
          <a:prstGeom prst="rect">
            <a:avLst/>
          </a:prstGeom>
        </p:spPr>
        <p:txBody>
          <a:bodyPr anchor="t" rtlCol="false" tIns="0" lIns="0" bIns="0" rIns="0">
            <a:spAutoFit/>
          </a:bodyPr>
          <a:lstStyle/>
          <a:p>
            <a:pPr algn="l">
              <a:lnSpc>
                <a:spcPts val="3888"/>
              </a:lnSpc>
            </a:pPr>
            <a:r>
              <a:rPr lang="en-US" sz="2400">
                <a:solidFill>
                  <a:srgbClr val="475569"/>
                </a:solidFill>
                <a:latin typeface="Poppins"/>
                <a:ea typeface="Poppins"/>
                <a:cs typeface="Poppins"/>
                <a:sym typeface="Poppins"/>
              </a:rPr>
              <a:t>Load routes.csv into Power BI through Power Query. Set RouteID to Text, DistanceKm to Decimal number, and trim whitespace on RouteID. Close and apply.</a:t>
            </a:r>
          </a:p>
        </p:txBody>
      </p:sp>
      <p:grpSp>
        <p:nvGrpSpPr>
          <p:cNvPr name="Group 24" id="24"/>
          <p:cNvGrpSpPr/>
          <p:nvPr/>
        </p:nvGrpSpPr>
        <p:grpSpPr>
          <a:xfrm rot="0">
            <a:off x="861584" y="5554980"/>
            <a:ext cx="15636240" cy="2125980"/>
            <a:chOff x="0" y="0"/>
            <a:chExt cx="20848320" cy="2834640"/>
          </a:xfrm>
        </p:grpSpPr>
        <p:sp>
          <p:nvSpPr>
            <p:cNvPr name="Freeform 25" id="25"/>
            <p:cNvSpPr/>
            <p:nvPr/>
          </p:nvSpPr>
          <p:spPr>
            <a:xfrm flipH="false" flipV="false" rot="0">
              <a:off x="0" y="0"/>
              <a:ext cx="20848320" cy="2834640"/>
            </a:xfrm>
            <a:custGeom>
              <a:avLst/>
              <a:gdLst/>
              <a:ahLst/>
              <a:cxnLst/>
              <a:rect r="r" b="b" t="t" l="l"/>
              <a:pathLst>
                <a:path h="2834640" w="20848320">
                  <a:moveTo>
                    <a:pt x="0" y="164592"/>
                  </a:moveTo>
                  <a:cubicBezTo>
                    <a:pt x="0" y="73660"/>
                    <a:pt x="73660" y="0"/>
                    <a:pt x="164592" y="0"/>
                  </a:cubicBezTo>
                  <a:lnTo>
                    <a:pt x="20683728" y="0"/>
                  </a:lnTo>
                  <a:cubicBezTo>
                    <a:pt x="20774661" y="0"/>
                    <a:pt x="20848320" y="73660"/>
                    <a:pt x="20848320" y="164592"/>
                  </a:cubicBezTo>
                  <a:lnTo>
                    <a:pt x="20848320" y="2670048"/>
                  </a:lnTo>
                  <a:cubicBezTo>
                    <a:pt x="20848320" y="2760980"/>
                    <a:pt x="20774661" y="2834640"/>
                    <a:pt x="20683728" y="2834640"/>
                  </a:cubicBezTo>
                  <a:lnTo>
                    <a:pt x="164592" y="2834640"/>
                  </a:lnTo>
                  <a:cubicBezTo>
                    <a:pt x="73660" y="2834640"/>
                    <a:pt x="0" y="2760980"/>
                    <a:pt x="0" y="2670048"/>
                  </a:cubicBezTo>
                  <a:close/>
                </a:path>
              </a:pathLst>
            </a:custGeom>
            <a:solidFill>
              <a:srgbClr val="EEF4F4"/>
            </a:solidFill>
          </p:spPr>
        </p:sp>
      </p:grpSp>
      <p:grpSp>
        <p:nvGrpSpPr>
          <p:cNvPr name="Group 26" id="26"/>
          <p:cNvGrpSpPr/>
          <p:nvPr/>
        </p:nvGrpSpPr>
        <p:grpSpPr>
          <a:xfrm rot="0">
            <a:off x="861584" y="5554980"/>
            <a:ext cx="123444" cy="2125980"/>
            <a:chOff x="0" y="0"/>
            <a:chExt cx="164592" cy="2834640"/>
          </a:xfrm>
        </p:grpSpPr>
        <p:sp>
          <p:nvSpPr>
            <p:cNvPr name="Freeform 27" id="27"/>
            <p:cNvSpPr/>
            <p:nvPr/>
          </p:nvSpPr>
          <p:spPr>
            <a:xfrm flipH="false" flipV="false" rot="0">
              <a:off x="0" y="0"/>
              <a:ext cx="164592" cy="2834640"/>
            </a:xfrm>
            <a:custGeom>
              <a:avLst/>
              <a:gdLst/>
              <a:ahLst/>
              <a:cxnLst/>
              <a:rect r="r" b="b" t="t" l="l"/>
              <a:pathLst>
                <a:path h="2834640" w="164592">
                  <a:moveTo>
                    <a:pt x="0" y="0"/>
                  </a:moveTo>
                  <a:lnTo>
                    <a:pt x="164592" y="0"/>
                  </a:lnTo>
                  <a:lnTo>
                    <a:pt x="164592" y="2834640"/>
                  </a:lnTo>
                  <a:lnTo>
                    <a:pt x="0" y="2834640"/>
                  </a:lnTo>
                  <a:close/>
                </a:path>
              </a:pathLst>
            </a:custGeom>
            <a:solidFill>
              <a:srgbClr val="9BB7B7"/>
            </a:solidFill>
          </p:spPr>
        </p:sp>
      </p:grpSp>
      <p:grpSp>
        <p:nvGrpSpPr>
          <p:cNvPr name="Group 28" id="28"/>
          <p:cNvGrpSpPr/>
          <p:nvPr/>
        </p:nvGrpSpPr>
        <p:grpSpPr>
          <a:xfrm rot="0">
            <a:off x="1341644" y="5829300"/>
            <a:ext cx="14401800" cy="438912"/>
            <a:chOff x="0" y="0"/>
            <a:chExt cx="19202400" cy="585216"/>
          </a:xfrm>
        </p:grpSpPr>
        <p:sp>
          <p:nvSpPr>
            <p:cNvPr name="Freeform 29" id="29"/>
            <p:cNvSpPr/>
            <p:nvPr/>
          </p:nvSpPr>
          <p:spPr>
            <a:xfrm flipH="false" flipV="false" rot="0">
              <a:off x="0" y="0"/>
              <a:ext cx="19202400" cy="585216"/>
            </a:xfrm>
            <a:custGeom>
              <a:avLst/>
              <a:gdLst/>
              <a:ahLst/>
              <a:cxnLst/>
              <a:rect r="r" b="b" t="t" l="l"/>
              <a:pathLst>
                <a:path h="585216" w="19202400">
                  <a:moveTo>
                    <a:pt x="0" y="0"/>
                  </a:moveTo>
                  <a:lnTo>
                    <a:pt x="19202400" y="0"/>
                  </a:lnTo>
                  <a:lnTo>
                    <a:pt x="19202400" y="585216"/>
                  </a:lnTo>
                  <a:lnTo>
                    <a:pt x="0" y="585216"/>
                  </a:lnTo>
                  <a:close/>
                </a:path>
              </a:pathLst>
            </a:custGeom>
            <a:blipFill>
              <a:blip r:embed="rId9">
                <a:alphaModFix amt="0"/>
              </a:blip>
              <a:stretch>
                <a:fillRect l="0" t="-589352" r="0" b="-589352"/>
              </a:stretch>
            </a:blipFill>
          </p:spPr>
        </p:sp>
        <p:sp>
          <p:nvSpPr>
            <p:cNvPr name="TextBox 30" id="30"/>
            <p:cNvSpPr txBox="true"/>
            <p:nvPr/>
          </p:nvSpPr>
          <p:spPr>
            <a:xfrm>
              <a:off x="0" y="-9525"/>
              <a:ext cx="19202400" cy="594741"/>
            </a:xfrm>
            <a:prstGeom prst="rect">
              <a:avLst/>
            </a:prstGeom>
          </p:spPr>
          <p:txBody>
            <a:bodyPr anchor="ctr" rtlCol="false" tIns="0" lIns="0" bIns="0" rIns="0"/>
            <a:lstStyle/>
            <a:p>
              <a:pPr algn="l">
                <a:lnSpc>
                  <a:spcPts val="1980"/>
                </a:lnSpc>
              </a:pPr>
              <a:r>
                <a:rPr lang="en-US" sz="1650" b="true">
                  <a:solidFill>
                    <a:srgbClr val="20494A"/>
                  </a:solidFill>
                  <a:latin typeface="Poppins Bold"/>
                  <a:ea typeface="Poppins Bold"/>
                  <a:cs typeface="Poppins Bold"/>
                  <a:sym typeface="Poppins Bold"/>
                </a:rPr>
                <a:t>EXPECTED OUTPUT</a:t>
              </a:r>
            </a:p>
          </p:txBody>
        </p:sp>
      </p:grpSp>
      <p:sp>
        <p:nvSpPr>
          <p:cNvPr name="TextBox 31" id="31"/>
          <p:cNvSpPr txBox="true"/>
          <p:nvPr/>
        </p:nvSpPr>
        <p:spPr>
          <a:xfrm rot="0">
            <a:off x="1341644" y="6204585"/>
            <a:ext cx="14813280" cy="1339215"/>
          </a:xfrm>
          <a:prstGeom prst="rect">
            <a:avLst/>
          </a:prstGeom>
        </p:spPr>
        <p:txBody>
          <a:bodyPr anchor="t" rtlCol="false" tIns="0" lIns="0" bIns="0" rIns="0">
            <a:spAutoFit/>
          </a:bodyPr>
          <a:lstStyle/>
          <a:p>
            <a:pPr algn="l">
              <a:lnSpc>
                <a:spcPts val="3402"/>
              </a:lnSpc>
            </a:pPr>
            <a:r>
              <a:rPr lang="en-US" sz="2100">
                <a:solidFill>
                  <a:srgbClr val="475569"/>
                </a:solidFill>
                <a:latin typeface="Poppins"/>
                <a:ea typeface="Poppins"/>
                <a:cs typeface="Poppins"/>
                <a:sym typeface="Poppins"/>
              </a:rPr>
              <a:t>24 rows, 6 columns, no error indicators in the Applied Steps pane, and RouteID showing the ABC text icon in the column header.</a:t>
            </a:r>
          </a:p>
        </p:txBody>
      </p:sp>
      <p:sp>
        <p:nvSpPr>
          <p:cNvPr name="TextBox 32" id="32"/>
          <p:cNvSpPr txBox="true"/>
          <p:nvPr/>
        </p:nvSpPr>
        <p:spPr>
          <a:xfrm rot="0">
            <a:off x="861584" y="7928610"/>
            <a:ext cx="15636240" cy="643890"/>
          </a:xfrm>
          <a:prstGeom prst="rect">
            <a:avLst/>
          </a:prstGeom>
        </p:spPr>
        <p:txBody>
          <a:bodyPr anchor="t" rtlCol="false" tIns="0" lIns="0" bIns="0" rIns="0">
            <a:spAutoFit/>
          </a:bodyPr>
          <a:lstStyle/>
          <a:p>
            <a:pPr algn="ctr">
              <a:lnSpc>
                <a:spcPts val="3280"/>
              </a:lnSpc>
            </a:pPr>
            <a:r>
              <a:rPr lang="en-US" sz="2025" i="true">
                <a:solidFill>
                  <a:srgbClr val="64748B"/>
                </a:solidFill>
                <a:latin typeface="Poppins Italics"/>
                <a:ea typeface="Poppins Italics"/>
                <a:cs typeface="Poppins Italics"/>
                <a:sym typeface="Poppins Italics"/>
              </a:rPr>
              <a:t>Compare with the person next to you before you ask me.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847288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Solution: rout</a:t>
            </a:r>
            <a:r>
              <a:rPr lang="en-US" sz="5000">
                <a:solidFill>
                  <a:srgbClr val="388080"/>
                </a:solidFill>
                <a:latin typeface="Poppins"/>
                <a:ea typeface="Poppins"/>
                <a:cs typeface="Poppins"/>
                <a:sym typeface="Poppins"/>
              </a:rPr>
              <a:t>es.csv loaded</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3892333" y="2057017"/>
            <a:ext cx="9380045" cy="4227082"/>
            <a:chOff x="0" y="0"/>
            <a:chExt cx="10120630" cy="4560824"/>
          </a:xfrm>
        </p:grpSpPr>
        <p:sp>
          <p:nvSpPr>
            <p:cNvPr name="Freeform 12" id="12"/>
            <p:cNvSpPr/>
            <p:nvPr/>
          </p:nvSpPr>
          <p:spPr>
            <a:xfrm flipH="false" flipV="false" rot="0">
              <a:off x="0" y="0"/>
              <a:ext cx="10120630" cy="4560824"/>
            </a:xfrm>
            <a:custGeom>
              <a:avLst/>
              <a:gdLst/>
              <a:ahLst/>
              <a:cxnLst/>
              <a:rect r="r" b="b" t="t" l="l"/>
              <a:pathLst>
                <a:path h="4560824" w="10120630">
                  <a:moveTo>
                    <a:pt x="0" y="147193"/>
                  </a:moveTo>
                  <a:cubicBezTo>
                    <a:pt x="0" y="65913"/>
                    <a:pt x="65913" y="0"/>
                    <a:pt x="147193" y="0"/>
                  </a:cubicBezTo>
                  <a:lnTo>
                    <a:pt x="9973437" y="0"/>
                  </a:lnTo>
                  <a:cubicBezTo>
                    <a:pt x="10054717" y="0"/>
                    <a:pt x="10120630" y="65913"/>
                    <a:pt x="10120630" y="147193"/>
                  </a:cubicBezTo>
                  <a:lnTo>
                    <a:pt x="10120630" y="4413631"/>
                  </a:lnTo>
                  <a:cubicBezTo>
                    <a:pt x="10120630" y="4494911"/>
                    <a:pt x="10054717" y="4560824"/>
                    <a:pt x="9973437" y="4560824"/>
                  </a:cubicBezTo>
                  <a:lnTo>
                    <a:pt x="147193" y="4560824"/>
                  </a:lnTo>
                  <a:cubicBezTo>
                    <a:pt x="65913" y="4560824"/>
                    <a:pt x="0" y="4494911"/>
                    <a:pt x="0" y="4413631"/>
                  </a:cubicBezTo>
                  <a:close/>
                </a:path>
              </a:pathLst>
            </a:custGeom>
            <a:solidFill>
              <a:srgbClr val="FFFFFF"/>
            </a:solidFill>
            <a:ln w="19050" cap="sq">
              <a:solidFill>
                <a:srgbClr val="E2E8F0"/>
              </a:solidFill>
              <a:prstDash val="solid"/>
              <a:miter/>
            </a:ln>
          </p:spPr>
        </p:sp>
      </p:grpSp>
      <p:grpSp>
        <p:nvGrpSpPr>
          <p:cNvPr name="Group 13" id="13"/>
          <p:cNvGrpSpPr/>
          <p:nvPr/>
        </p:nvGrpSpPr>
        <p:grpSpPr>
          <a:xfrm rot="0">
            <a:off x="3993643" y="2186628"/>
            <a:ext cx="9212578" cy="3967861"/>
            <a:chOff x="0" y="0"/>
            <a:chExt cx="9766046" cy="4206240"/>
          </a:xfrm>
        </p:grpSpPr>
        <p:sp>
          <p:nvSpPr>
            <p:cNvPr name="Freeform 14" id="14" descr="/home/claude/build/assets/shot_routes.png"/>
            <p:cNvSpPr/>
            <p:nvPr/>
          </p:nvSpPr>
          <p:spPr>
            <a:xfrm flipH="false" flipV="false" rot="0">
              <a:off x="0" y="0"/>
              <a:ext cx="9766046" cy="4206240"/>
            </a:xfrm>
            <a:custGeom>
              <a:avLst/>
              <a:gdLst/>
              <a:ahLst/>
              <a:cxnLst/>
              <a:rect r="r" b="b" t="t" l="l"/>
              <a:pathLst>
                <a:path h="4206240" w="9766046">
                  <a:moveTo>
                    <a:pt x="0" y="0"/>
                  </a:moveTo>
                  <a:lnTo>
                    <a:pt x="9766046" y="0"/>
                  </a:lnTo>
                  <a:lnTo>
                    <a:pt x="9766046" y="4206240"/>
                  </a:lnTo>
                  <a:lnTo>
                    <a:pt x="0" y="4206240"/>
                  </a:lnTo>
                  <a:lnTo>
                    <a:pt x="0" y="0"/>
                  </a:lnTo>
                  <a:close/>
                </a:path>
              </a:pathLst>
            </a:custGeom>
            <a:blipFill>
              <a:blip r:embed="rId9"/>
              <a:stretch>
                <a:fillRect l="0" t="0" r="0" b="0"/>
              </a:stretch>
            </a:blipFill>
          </p:spPr>
        </p:sp>
      </p:grpSp>
      <p:grpSp>
        <p:nvGrpSpPr>
          <p:cNvPr name="Group 15" id="15"/>
          <p:cNvGrpSpPr/>
          <p:nvPr/>
        </p:nvGrpSpPr>
        <p:grpSpPr>
          <a:xfrm rot="0">
            <a:off x="1028700" y="6420574"/>
            <a:ext cx="14744700" cy="987552"/>
            <a:chOff x="0" y="0"/>
            <a:chExt cx="19659600" cy="1316736"/>
          </a:xfrm>
        </p:grpSpPr>
        <p:sp>
          <p:nvSpPr>
            <p:cNvPr name="Freeform 16" id="16"/>
            <p:cNvSpPr/>
            <p:nvPr/>
          </p:nvSpPr>
          <p:spPr>
            <a:xfrm flipH="false" flipV="false" rot="0">
              <a:off x="0" y="0"/>
              <a:ext cx="19659600" cy="1316736"/>
            </a:xfrm>
            <a:custGeom>
              <a:avLst/>
              <a:gdLst/>
              <a:ahLst/>
              <a:cxnLst/>
              <a:rect r="r" b="b" t="t" l="l"/>
              <a:pathLst>
                <a:path h="1316736" w="19659600">
                  <a:moveTo>
                    <a:pt x="0" y="182880"/>
                  </a:moveTo>
                  <a:cubicBezTo>
                    <a:pt x="0" y="81915"/>
                    <a:pt x="81915" y="0"/>
                    <a:pt x="182880" y="0"/>
                  </a:cubicBezTo>
                  <a:lnTo>
                    <a:pt x="19476720" y="0"/>
                  </a:lnTo>
                  <a:cubicBezTo>
                    <a:pt x="19577684" y="0"/>
                    <a:pt x="19659600" y="81915"/>
                    <a:pt x="19659600" y="182880"/>
                  </a:cubicBezTo>
                  <a:lnTo>
                    <a:pt x="19659600" y="1133856"/>
                  </a:lnTo>
                  <a:cubicBezTo>
                    <a:pt x="19659600" y="1234821"/>
                    <a:pt x="19577684" y="1316736"/>
                    <a:pt x="19476720" y="1316736"/>
                  </a:cubicBezTo>
                  <a:lnTo>
                    <a:pt x="182880" y="1316736"/>
                  </a:lnTo>
                  <a:cubicBezTo>
                    <a:pt x="81915" y="1316736"/>
                    <a:pt x="0" y="1234821"/>
                    <a:pt x="0" y="1133856"/>
                  </a:cubicBezTo>
                  <a:close/>
                </a:path>
              </a:pathLst>
            </a:custGeom>
            <a:solidFill>
              <a:srgbClr val="FFFFFF"/>
            </a:solidFill>
          </p:spPr>
        </p:sp>
      </p:grpSp>
      <p:grpSp>
        <p:nvGrpSpPr>
          <p:cNvPr name="Group 17" id="17"/>
          <p:cNvGrpSpPr/>
          <p:nvPr/>
        </p:nvGrpSpPr>
        <p:grpSpPr>
          <a:xfrm rot="0">
            <a:off x="1371600" y="6612598"/>
            <a:ext cx="603504" cy="603504"/>
            <a:chOff x="0" y="0"/>
            <a:chExt cx="804672" cy="804672"/>
          </a:xfrm>
        </p:grpSpPr>
        <p:sp>
          <p:nvSpPr>
            <p:cNvPr name="Freeform 18" id="18"/>
            <p:cNvSpPr/>
            <p:nvPr/>
          </p:nvSpPr>
          <p:spPr>
            <a:xfrm flipH="false" flipV="false" rot="0">
              <a:off x="0" y="0"/>
              <a:ext cx="804672" cy="804672"/>
            </a:xfrm>
            <a:custGeom>
              <a:avLst/>
              <a:gdLst/>
              <a:ahLst/>
              <a:cxnLst/>
              <a:rect r="r" b="b" t="t" l="l"/>
              <a:pathLst>
                <a:path h="804672" w="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387F7F"/>
            </a:solidFill>
          </p:spPr>
        </p:sp>
      </p:grpSp>
      <p:grpSp>
        <p:nvGrpSpPr>
          <p:cNvPr name="Group 19" id="19"/>
          <p:cNvGrpSpPr/>
          <p:nvPr/>
        </p:nvGrpSpPr>
        <p:grpSpPr>
          <a:xfrm rot="0">
            <a:off x="1371600" y="6612598"/>
            <a:ext cx="603504" cy="603504"/>
            <a:chOff x="0" y="0"/>
            <a:chExt cx="804672" cy="804672"/>
          </a:xfrm>
        </p:grpSpPr>
        <p:sp>
          <p:nvSpPr>
            <p:cNvPr name="Freeform 20" id="20"/>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close/>
                </a:path>
              </a:pathLst>
            </a:custGeom>
            <a:blipFill>
              <a:blip r:embed="rId10">
                <a:alphaModFix amt="0"/>
              </a:blip>
              <a:stretch>
                <a:fillRect l="-78303" t="0" r="-78303" b="0"/>
              </a:stretch>
            </a:blipFill>
          </p:spPr>
        </p:sp>
        <p:sp>
          <p:nvSpPr>
            <p:cNvPr name="TextBox 21" id="21"/>
            <p:cNvSpPr txBox="true"/>
            <p:nvPr/>
          </p:nvSpPr>
          <p:spPr>
            <a:xfrm>
              <a:off x="0" y="-19050"/>
              <a:ext cx="804672" cy="823722"/>
            </a:xfrm>
            <a:prstGeom prst="rect">
              <a:avLst/>
            </a:prstGeom>
          </p:spPr>
          <p:txBody>
            <a:bodyPr anchor="ctr" rtlCol="false" tIns="0" lIns="0" bIns="0" rIns="0"/>
            <a:lstStyle/>
            <a:p>
              <a:pPr algn="ctr">
                <a:lnSpc>
                  <a:spcPts val="2879"/>
                </a:lnSpc>
              </a:pPr>
              <a:r>
                <a:rPr lang="en-US" sz="2400" b="true">
                  <a:solidFill>
                    <a:srgbClr val="FFFFFF"/>
                  </a:solidFill>
                  <a:latin typeface="Poppins Bold"/>
                  <a:ea typeface="Poppins Bold"/>
                  <a:cs typeface="Poppins Bold"/>
                  <a:sym typeface="Poppins Bold"/>
                </a:rPr>
                <a:t>✓</a:t>
              </a:r>
            </a:p>
          </p:txBody>
        </p:sp>
      </p:grpSp>
      <p:grpSp>
        <p:nvGrpSpPr>
          <p:cNvPr name="Group 22" id="22"/>
          <p:cNvGrpSpPr/>
          <p:nvPr/>
        </p:nvGrpSpPr>
        <p:grpSpPr>
          <a:xfrm rot="0">
            <a:off x="2194560" y="6420574"/>
            <a:ext cx="13167360" cy="987552"/>
            <a:chOff x="0" y="0"/>
            <a:chExt cx="17556480" cy="1316736"/>
          </a:xfrm>
        </p:grpSpPr>
        <p:sp>
          <p:nvSpPr>
            <p:cNvPr name="Freeform 23" id="23"/>
            <p:cNvSpPr/>
            <p:nvPr/>
          </p:nvSpPr>
          <p:spPr>
            <a:xfrm flipH="false" flipV="false" rot="0">
              <a:off x="0" y="0"/>
              <a:ext cx="17556480" cy="1316736"/>
            </a:xfrm>
            <a:custGeom>
              <a:avLst/>
              <a:gdLst/>
              <a:ahLst/>
              <a:cxnLst/>
              <a:rect r="r" b="b" t="t" l="l"/>
              <a:pathLst>
                <a:path h="1316736" w="17556480">
                  <a:moveTo>
                    <a:pt x="0" y="0"/>
                  </a:moveTo>
                  <a:lnTo>
                    <a:pt x="17556480" y="0"/>
                  </a:lnTo>
                  <a:lnTo>
                    <a:pt x="17556480" y="1316736"/>
                  </a:lnTo>
                  <a:lnTo>
                    <a:pt x="0" y="1316736"/>
                  </a:lnTo>
                  <a:close/>
                </a:path>
              </a:pathLst>
            </a:custGeom>
            <a:blipFill>
              <a:blip r:embed="rId10">
                <a:alphaModFix amt="0"/>
              </a:blip>
              <a:stretch>
                <a:fillRect l="0" t="-209800" r="0" b="-209800"/>
              </a:stretch>
            </a:blipFill>
          </p:spPr>
        </p:sp>
        <p:sp>
          <p:nvSpPr>
            <p:cNvPr name="TextBox 24" id="24"/>
            <p:cNvSpPr txBox="true"/>
            <p:nvPr/>
          </p:nvSpPr>
          <p:spPr>
            <a:xfrm>
              <a:off x="0" y="-47625"/>
              <a:ext cx="17556480" cy="1364361"/>
            </a:xfrm>
            <a:prstGeom prst="rect">
              <a:avLst/>
            </a:prstGeom>
          </p:spPr>
          <p:txBody>
            <a:bodyPr anchor="ctr" rtlCol="false" tIns="0" lIns="0" bIns="0" rIns="0"/>
            <a:lstStyle/>
            <a:p>
              <a:pPr algn="l">
                <a:lnSpc>
                  <a:spcPts val="2690"/>
                </a:lnSpc>
              </a:pPr>
              <a:r>
                <a:rPr lang="en-US" sz="1950" b="true">
                  <a:solidFill>
                    <a:srgbClr val="0A1A23"/>
                  </a:solidFill>
                  <a:latin typeface="Poppins Bold"/>
                  <a:ea typeface="Poppins Bold"/>
                  <a:cs typeface="Poppins Bold"/>
                  <a:sym typeface="Poppins Bold"/>
                </a:rPr>
                <a:t>24 rows, as stated.  </a:t>
              </a:r>
              <a:r>
                <a:rPr lang="en-US" sz="1950">
                  <a:solidFill>
                    <a:srgbClr val="475569"/>
                  </a:solidFill>
                  <a:latin typeface="Poppins"/>
                  <a:ea typeface="Poppins"/>
                  <a:cs typeface="Poppins"/>
                  <a:sym typeface="Poppins"/>
                </a:rPr>
                <a:t>If you have 25, the header row was not promoted.</a:t>
              </a:r>
            </a:p>
          </p:txBody>
        </p:sp>
      </p:grpSp>
      <p:grpSp>
        <p:nvGrpSpPr>
          <p:cNvPr name="Group 25" id="25"/>
          <p:cNvGrpSpPr/>
          <p:nvPr/>
        </p:nvGrpSpPr>
        <p:grpSpPr>
          <a:xfrm rot="0">
            <a:off x="1028700" y="7545286"/>
            <a:ext cx="14744700" cy="987552"/>
            <a:chOff x="0" y="0"/>
            <a:chExt cx="19659600" cy="1316736"/>
          </a:xfrm>
        </p:grpSpPr>
        <p:sp>
          <p:nvSpPr>
            <p:cNvPr name="Freeform 26" id="26"/>
            <p:cNvSpPr/>
            <p:nvPr/>
          </p:nvSpPr>
          <p:spPr>
            <a:xfrm flipH="false" flipV="false" rot="0">
              <a:off x="0" y="0"/>
              <a:ext cx="19659600" cy="1316736"/>
            </a:xfrm>
            <a:custGeom>
              <a:avLst/>
              <a:gdLst/>
              <a:ahLst/>
              <a:cxnLst/>
              <a:rect r="r" b="b" t="t" l="l"/>
              <a:pathLst>
                <a:path h="1316736" w="19659600">
                  <a:moveTo>
                    <a:pt x="0" y="182880"/>
                  </a:moveTo>
                  <a:cubicBezTo>
                    <a:pt x="0" y="81915"/>
                    <a:pt x="81915" y="0"/>
                    <a:pt x="182880" y="0"/>
                  </a:cubicBezTo>
                  <a:lnTo>
                    <a:pt x="19476720" y="0"/>
                  </a:lnTo>
                  <a:cubicBezTo>
                    <a:pt x="19577684" y="0"/>
                    <a:pt x="19659600" y="81915"/>
                    <a:pt x="19659600" y="182880"/>
                  </a:cubicBezTo>
                  <a:lnTo>
                    <a:pt x="19659600" y="1133856"/>
                  </a:lnTo>
                  <a:cubicBezTo>
                    <a:pt x="19659600" y="1234821"/>
                    <a:pt x="19577684" y="1316736"/>
                    <a:pt x="19476720" y="1316736"/>
                  </a:cubicBezTo>
                  <a:lnTo>
                    <a:pt x="182880" y="1316736"/>
                  </a:lnTo>
                  <a:cubicBezTo>
                    <a:pt x="81915" y="1316736"/>
                    <a:pt x="0" y="1234821"/>
                    <a:pt x="0" y="1133856"/>
                  </a:cubicBezTo>
                  <a:close/>
                </a:path>
              </a:pathLst>
            </a:custGeom>
            <a:solidFill>
              <a:srgbClr val="FFFFFF"/>
            </a:solidFill>
          </p:spPr>
        </p:sp>
      </p:grpSp>
      <p:grpSp>
        <p:nvGrpSpPr>
          <p:cNvPr name="Group 27" id="27"/>
          <p:cNvGrpSpPr/>
          <p:nvPr/>
        </p:nvGrpSpPr>
        <p:grpSpPr>
          <a:xfrm rot="0">
            <a:off x="1371600" y="7737310"/>
            <a:ext cx="603504" cy="603504"/>
            <a:chOff x="0" y="0"/>
            <a:chExt cx="804672" cy="804672"/>
          </a:xfrm>
        </p:grpSpPr>
        <p:sp>
          <p:nvSpPr>
            <p:cNvPr name="Freeform 28" id="28"/>
            <p:cNvSpPr/>
            <p:nvPr/>
          </p:nvSpPr>
          <p:spPr>
            <a:xfrm flipH="false" flipV="false" rot="0">
              <a:off x="0" y="0"/>
              <a:ext cx="804672" cy="804672"/>
            </a:xfrm>
            <a:custGeom>
              <a:avLst/>
              <a:gdLst/>
              <a:ahLst/>
              <a:cxnLst/>
              <a:rect r="r" b="b" t="t" l="l"/>
              <a:pathLst>
                <a:path h="804672" w="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387F7F"/>
            </a:solidFill>
          </p:spPr>
        </p:sp>
      </p:grpSp>
      <p:grpSp>
        <p:nvGrpSpPr>
          <p:cNvPr name="Group 29" id="29"/>
          <p:cNvGrpSpPr/>
          <p:nvPr/>
        </p:nvGrpSpPr>
        <p:grpSpPr>
          <a:xfrm rot="0">
            <a:off x="1371600" y="7737310"/>
            <a:ext cx="603504" cy="603504"/>
            <a:chOff x="0" y="0"/>
            <a:chExt cx="804672" cy="804672"/>
          </a:xfrm>
        </p:grpSpPr>
        <p:sp>
          <p:nvSpPr>
            <p:cNvPr name="Freeform 30" id="30"/>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close/>
                </a:path>
              </a:pathLst>
            </a:custGeom>
            <a:blipFill>
              <a:blip r:embed="rId10">
                <a:alphaModFix amt="0"/>
              </a:blip>
              <a:stretch>
                <a:fillRect l="-78303" t="0" r="-78303" b="0"/>
              </a:stretch>
            </a:blipFill>
          </p:spPr>
        </p:sp>
        <p:sp>
          <p:nvSpPr>
            <p:cNvPr name="TextBox 31" id="31"/>
            <p:cNvSpPr txBox="true"/>
            <p:nvPr/>
          </p:nvSpPr>
          <p:spPr>
            <a:xfrm>
              <a:off x="0" y="-19050"/>
              <a:ext cx="804672" cy="823722"/>
            </a:xfrm>
            <a:prstGeom prst="rect">
              <a:avLst/>
            </a:prstGeom>
          </p:spPr>
          <p:txBody>
            <a:bodyPr anchor="ctr" rtlCol="false" tIns="0" lIns="0" bIns="0" rIns="0"/>
            <a:lstStyle/>
            <a:p>
              <a:pPr algn="ctr">
                <a:lnSpc>
                  <a:spcPts val="2879"/>
                </a:lnSpc>
              </a:pPr>
              <a:r>
                <a:rPr lang="en-US" sz="2400" b="true">
                  <a:solidFill>
                    <a:srgbClr val="FFFFFF"/>
                  </a:solidFill>
                  <a:latin typeface="Poppins Bold"/>
                  <a:ea typeface="Poppins Bold"/>
                  <a:cs typeface="Poppins Bold"/>
                  <a:sym typeface="Poppins Bold"/>
                </a:rPr>
                <a:t>✓</a:t>
              </a:r>
            </a:p>
          </p:txBody>
        </p:sp>
      </p:grpSp>
      <p:grpSp>
        <p:nvGrpSpPr>
          <p:cNvPr name="Group 32" id="32"/>
          <p:cNvGrpSpPr/>
          <p:nvPr/>
        </p:nvGrpSpPr>
        <p:grpSpPr>
          <a:xfrm rot="0">
            <a:off x="2194560" y="7545286"/>
            <a:ext cx="13167360" cy="987552"/>
            <a:chOff x="0" y="0"/>
            <a:chExt cx="17556480" cy="1316736"/>
          </a:xfrm>
        </p:grpSpPr>
        <p:sp>
          <p:nvSpPr>
            <p:cNvPr name="Freeform 33" id="33"/>
            <p:cNvSpPr/>
            <p:nvPr/>
          </p:nvSpPr>
          <p:spPr>
            <a:xfrm flipH="false" flipV="false" rot="0">
              <a:off x="0" y="0"/>
              <a:ext cx="17556480" cy="1316736"/>
            </a:xfrm>
            <a:custGeom>
              <a:avLst/>
              <a:gdLst/>
              <a:ahLst/>
              <a:cxnLst/>
              <a:rect r="r" b="b" t="t" l="l"/>
              <a:pathLst>
                <a:path h="1316736" w="17556480">
                  <a:moveTo>
                    <a:pt x="0" y="0"/>
                  </a:moveTo>
                  <a:lnTo>
                    <a:pt x="17556480" y="0"/>
                  </a:lnTo>
                  <a:lnTo>
                    <a:pt x="17556480" y="1316736"/>
                  </a:lnTo>
                  <a:lnTo>
                    <a:pt x="0" y="1316736"/>
                  </a:lnTo>
                  <a:close/>
                </a:path>
              </a:pathLst>
            </a:custGeom>
            <a:blipFill>
              <a:blip r:embed="rId10">
                <a:alphaModFix amt="0"/>
              </a:blip>
              <a:stretch>
                <a:fillRect l="0" t="-209800" r="0" b="-209800"/>
              </a:stretch>
            </a:blipFill>
          </p:spPr>
        </p:sp>
        <p:sp>
          <p:nvSpPr>
            <p:cNvPr name="TextBox 34" id="34"/>
            <p:cNvSpPr txBox="true"/>
            <p:nvPr/>
          </p:nvSpPr>
          <p:spPr>
            <a:xfrm>
              <a:off x="0" y="-47625"/>
              <a:ext cx="17556480" cy="1364361"/>
            </a:xfrm>
            <a:prstGeom prst="rect">
              <a:avLst/>
            </a:prstGeom>
          </p:spPr>
          <p:txBody>
            <a:bodyPr anchor="ctr" rtlCol="false" tIns="0" lIns="0" bIns="0" rIns="0"/>
            <a:lstStyle/>
            <a:p>
              <a:pPr algn="l">
                <a:lnSpc>
                  <a:spcPts val="2690"/>
                </a:lnSpc>
              </a:pPr>
              <a:r>
                <a:rPr lang="en-US" sz="1950" b="true">
                  <a:solidFill>
                    <a:srgbClr val="0A1A23"/>
                  </a:solidFill>
                  <a:latin typeface="Poppins Bold"/>
                  <a:ea typeface="Poppins Bold"/>
                  <a:cs typeface="Poppins Bold"/>
                  <a:sym typeface="Poppins Bold"/>
                </a:rPr>
                <a:t>RouteID must be text.  </a:t>
              </a:r>
              <a:r>
                <a:rPr lang="en-US" sz="1950">
                  <a:solidFill>
                    <a:srgbClr val="475569"/>
                  </a:solidFill>
                  <a:latin typeface="Poppins"/>
                  <a:ea typeface="Poppins"/>
                  <a:cs typeface="Poppins"/>
                  <a:sym typeface="Poppins"/>
                </a:rPr>
                <a:t>If it shows a number icon, the relationship in Topic 7.2 will fail, and it will fail silently.</a:t>
              </a:r>
            </a:p>
          </p:txBody>
        </p:sp>
      </p:grpSp>
      <p:grpSp>
        <p:nvGrpSpPr>
          <p:cNvPr name="Group 35" id="35"/>
          <p:cNvGrpSpPr/>
          <p:nvPr/>
        </p:nvGrpSpPr>
        <p:grpSpPr>
          <a:xfrm rot="0">
            <a:off x="1028700" y="8669998"/>
            <a:ext cx="14744700" cy="987552"/>
            <a:chOff x="0" y="0"/>
            <a:chExt cx="19659600" cy="1316736"/>
          </a:xfrm>
        </p:grpSpPr>
        <p:sp>
          <p:nvSpPr>
            <p:cNvPr name="Freeform 36" id="36"/>
            <p:cNvSpPr/>
            <p:nvPr/>
          </p:nvSpPr>
          <p:spPr>
            <a:xfrm flipH="false" flipV="false" rot="0">
              <a:off x="0" y="0"/>
              <a:ext cx="19659600" cy="1316736"/>
            </a:xfrm>
            <a:custGeom>
              <a:avLst/>
              <a:gdLst/>
              <a:ahLst/>
              <a:cxnLst/>
              <a:rect r="r" b="b" t="t" l="l"/>
              <a:pathLst>
                <a:path h="1316736" w="19659600">
                  <a:moveTo>
                    <a:pt x="0" y="182880"/>
                  </a:moveTo>
                  <a:cubicBezTo>
                    <a:pt x="0" y="81915"/>
                    <a:pt x="81915" y="0"/>
                    <a:pt x="182880" y="0"/>
                  </a:cubicBezTo>
                  <a:lnTo>
                    <a:pt x="19476720" y="0"/>
                  </a:lnTo>
                  <a:cubicBezTo>
                    <a:pt x="19577684" y="0"/>
                    <a:pt x="19659600" y="81915"/>
                    <a:pt x="19659600" y="182880"/>
                  </a:cubicBezTo>
                  <a:lnTo>
                    <a:pt x="19659600" y="1133856"/>
                  </a:lnTo>
                  <a:cubicBezTo>
                    <a:pt x="19659600" y="1234821"/>
                    <a:pt x="19577684" y="1316736"/>
                    <a:pt x="19476720" y="1316736"/>
                  </a:cubicBezTo>
                  <a:lnTo>
                    <a:pt x="182880" y="1316736"/>
                  </a:lnTo>
                  <a:cubicBezTo>
                    <a:pt x="81915" y="1316736"/>
                    <a:pt x="0" y="1234821"/>
                    <a:pt x="0" y="1133856"/>
                  </a:cubicBezTo>
                  <a:close/>
                </a:path>
              </a:pathLst>
            </a:custGeom>
            <a:solidFill>
              <a:srgbClr val="FFFFFF"/>
            </a:solidFill>
          </p:spPr>
        </p:sp>
      </p:grpSp>
      <p:grpSp>
        <p:nvGrpSpPr>
          <p:cNvPr name="Group 37" id="37"/>
          <p:cNvGrpSpPr/>
          <p:nvPr/>
        </p:nvGrpSpPr>
        <p:grpSpPr>
          <a:xfrm rot="0">
            <a:off x="1371600" y="8862022"/>
            <a:ext cx="603504" cy="603504"/>
            <a:chOff x="0" y="0"/>
            <a:chExt cx="804672" cy="804672"/>
          </a:xfrm>
        </p:grpSpPr>
        <p:sp>
          <p:nvSpPr>
            <p:cNvPr name="Freeform 38" id="38"/>
            <p:cNvSpPr/>
            <p:nvPr/>
          </p:nvSpPr>
          <p:spPr>
            <a:xfrm flipH="false" flipV="false" rot="0">
              <a:off x="0" y="0"/>
              <a:ext cx="804672" cy="804672"/>
            </a:xfrm>
            <a:custGeom>
              <a:avLst/>
              <a:gdLst/>
              <a:ahLst/>
              <a:cxnLst/>
              <a:rect r="r" b="b" t="t" l="l"/>
              <a:pathLst>
                <a:path h="804672" w="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387F7F"/>
            </a:solidFill>
          </p:spPr>
        </p:sp>
      </p:grpSp>
      <p:grpSp>
        <p:nvGrpSpPr>
          <p:cNvPr name="Group 39" id="39"/>
          <p:cNvGrpSpPr/>
          <p:nvPr/>
        </p:nvGrpSpPr>
        <p:grpSpPr>
          <a:xfrm rot="0">
            <a:off x="1371600" y="8862022"/>
            <a:ext cx="603504" cy="603504"/>
            <a:chOff x="0" y="0"/>
            <a:chExt cx="804672" cy="804672"/>
          </a:xfrm>
        </p:grpSpPr>
        <p:sp>
          <p:nvSpPr>
            <p:cNvPr name="Freeform 40" id="40"/>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close/>
                </a:path>
              </a:pathLst>
            </a:custGeom>
            <a:blipFill>
              <a:blip r:embed="rId10">
                <a:alphaModFix amt="0"/>
              </a:blip>
              <a:stretch>
                <a:fillRect l="-78303" t="0" r="-78303" b="0"/>
              </a:stretch>
            </a:blipFill>
          </p:spPr>
        </p:sp>
        <p:sp>
          <p:nvSpPr>
            <p:cNvPr name="TextBox 41" id="41"/>
            <p:cNvSpPr txBox="true"/>
            <p:nvPr/>
          </p:nvSpPr>
          <p:spPr>
            <a:xfrm>
              <a:off x="0" y="-19050"/>
              <a:ext cx="804672" cy="823722"/>
            </a:xfrm>
            <a:prstGeom prst="rect">
              <a:avLst/>
            </a:prstGeom>
          </p:spPr>
          <p:txBody>
            <a:bodyPr anchor="ctr" rtlCol="false" tIns="0" lIns="0" bIns="0" rIns="0"/>
            <a:lstStyle/>
            <a:p>
              <a:pPr algn="ctr">
                <a:lnSpc>
                  <a:spcPts val="2879"/>
                </a:lnSpc>
              </a:pPr>
              <a:r>
                <a:rPr lang="en-US" sz="2400" b="true">
                  <a:solidFill>
                    <a:srgbClr val="FFFFFF"/>
                  </a:solidFill>
                  <a:latin typeface="Poppins Bold"/>
                  <a:ea typeface="Poppins Bold"/>
                  <a:cs typeface="Poppins Bold"/>
                  <a:sym typeface="Poppins Bold"/>
                </a:rPr>
                <a:t>✓</a:t>
              </a:r>
            </a:p>
          </p:txBody>
        </p:sp>
      </p:grpSp>
      <p:grpSp>
        <p:nvGrpSpPr>
          <p:cNvPr name="Group 42" id="42"/>
          <p:cNvGrpSpPr/>
          <p:nvPr/>
        </p:nvGrpSpPr>
        <p:grpSpPr>
          <a:xfrm rot="0">
            <a:off x="2194560" y="8669998"/>
            <a:ext cx="13167360" cy="987552"/>
            <a:chOff x="0" y="0"/>
            <a:chExt cx="17556480" cy="1316736"/>
          </a:xfrm>
        </p:grpSpPr>
        <p:sp>
          <p:nvSpPr>
            <p:cNvPr name="Freeform 43" id="43"/>
            <p:cNvSpPr/>
            <p:nvPr/>
          </p:nvSpPr>
          <p:spPr>
            <a:xfrm flipH="false" flipV="false" rot="0">
              <a:off x="0" y="0"/>
              <a:ext cx="17556480" cy="1316736"/>
            </a:xfrm>
            <a:custGeom>
              <a:avLst/>
              <a:gdLst/>
              <a:ahLst/>
              <a:cxnLst/>
              <a:rect r="r" b="b" t="t" l="l"/>
              <a:pathLst>
                <a:path h="1316736" w="17556480">
                  <a:moveTo>
                    <a:pt x="0" y="0"/>
                  </a:moveTo>
                  <a:lnTo>
                    <a:pt x="17556480" y="0"/>
                  </a:lnTo>
                  <a:lnTo>
                    <a:pt x="17556480" y="1316736"/>
                  </a:lnTo>
                  <a:lnTo>
                    <a:pt x="0" y="1316736"/>
                  </a:lnTo>
                  <a:close/>
                </a:path>
              </a:pathLst>
            </a:custGeom>
            <a:blipFill>
              <a:blip r:embed="rId10">
                <a:alphaModFix amt="0"/>
              </a:blip>
              <a:stretch>
                <a:fillRect l="0" t="-209800" r="0" b="-209800"/>
              </a:stretch>
            </a:blipFill>
          </p:spPr>
        </p:sp>
        <p:sp>
          <p:nvSpPr>
            <p:cNvPr name="TextBox 44" id="44"/>
            <p:cNvSpPr txBox="true"/>
            <p:nvPr/>
          </p:nvSpPr>
          <p:spPr>
            <a:xfrm>
              <a:off x="0" y="-47625"/>
              <a:ext cx="17556480" cy="1364361"/>
            </a:xfrm>
            <a:prstGeom prst="rect">
              <a:avLst/>
            </a:prstGeom>
          </p:spPr>
          <p:txBody>
            <a:bodyPr anchor="ctr" rtlCol="false" tIns="0" lIns="0" bIns="0" rIns="0"/>
            <a:lstStyle/>
            <a:p>
              <a:pPr algn="l">
                <a:lnSpc>
                  <a:spcPts val="2690"/>
                </a:lnSpc>
              </a:pPr>
              <a:r>
                <a:rPr lang="en-US" sz="1950" b="true">
                  <a:solidFill>
                    <a:srgbClr val="0A1A23"/>
                  </a:solidFill>
                  <a:latin typeface="Poppins Bold"/>
                  <a:ea typeface="Poppins Bold"/>
                  <a:cs typeface="Poppins Bold"/>
                  <a:sym typeface="Poppins Bold"/>
                </a:rPr>
                <a:t>DistanceKm errors?  </a:t>
              </a:r>
              <a:r>
                <a:rPr lang="en-US" sz="1950">
                  <a:solidFill>
                    <a:srgbClr val="475569"/>
                  </a:solidFill>
                  <a:latin typeface="Poppins"/>
                  <a:ea typeface="Poppins"/>
                  <a:cs typeface="Poppins"/>
                  <a:sym typeface="Poppins"/>
                </a:rPr>
                <a:t>Your locale is reading the decimal separator differently. Change the type using Locale.</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1525"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391418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Topic Recap</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42975" y="2674620"/>
            <a:ext cx="9627827" cy="1165860"/>
            <a:chOff x="0" y="0"/>
            <a:chExt cx="12837102" cy="1554480"/>
          </a:xfrm>
        </p:grpSpPr>
        <p:sp>
          <p:nvSpPr>
            <p:cNvPr name="Freeform 12" id="12"/>
            <p:cNvSpPr/>
            <p:nvPr/>
          </p:nvSpPr>
          <p:spPr>
            <a:xfrm flipH="false" flipV="false" rot="0">
              <a:off x="0" y="0"/>
              <a:ext cx="12837102" cy="1554480"/>
            </a:xfrm>
            <a:custGeom>
              <a:avLst/>
              <a:gdLst/>
              <a:ahLst/>
              <a:cxnLst/>
              <a:rect r="r" b="b" t="t" l="l"/>
              <a:pathLst>
                <a:path h="1554480" w="12837102">
                  <a:moveTo>
                    <a:pt x="0" y="182880"/>
                  </a:moveTo>
                  <a:cubicBezTo>
                    <a:pt x="0" y="81915"/>
                    <a:pt x="53488" y="0"/>
                    <a:pt x="119415" y="0"/>
                  </a:cubicBezTo>
                  <a:lnTo>
                    <a:pt x="12717687" y="0"/>
                  </a:lnTo>
                  <a:cubicBezTo>
                    <a:pt x="12783614" y="0"/>
                    <a:pt x="12837102" y="81915"/>
                    <a:pt x="12837102" y="182880"/>
                  </a:cubicBezTo>
                  <a:lnTo>
                    <a:pt x="12837102" y="1371600"/>
                  </a:lnTo>
                  <a:cubicBezTo>
                    <a:pt x="12837102" y="1472565"/>
                    <a:pt x="12783614" y="1554480"/>
                    <a:pt x="12717687" y="1554480"/>
                  </a:cubicBezTo>
                  <a:lnTo>
                    <a:pt x="119415" y="1554480"/>
                  </a:lnTo>
                  <a:cubicBezTo>
                    <a:pt x="53488" y="1554480"/>
                    <a:pt x="0" y="1472565"/>
                    <a:pt x="0" y="1371600"/>
                  </a:cubicBezTo>
                  <a:close/>
                </a:path>
              </a:pathLst>
            </a:custGeom>
            <a:solidFill>
              <a:srgbClr val="FFFFFF"/>
            </a:solidFill>
          </p:spPr>
        </p:sp>
      </p:grpSp>
      <p:grpSp>
        <p:nvGrpSpPr>
          <p:cNvPr name="Group 13" id="13"/>
          <p:cNvGrpSpPr/>
          <p:nvPr/>
        </p:nvGrpSpPr>
        <p:grpSpPr>
          <a:xfrm rot="0">
            <a:off x="1313307" y="2935224"/>
            <a:ext cx="644652" cy="644652"/>
            <a:chOff x="0" y="0"/>
            <a:chExt cx="859536" cy="859536"/>
          </a:xfrm>
        </p:grpSpPr>
        <p:sp>
          <p:nvSpPr>
            <p:cNvPr name="Freeform 14" id="14"/>
            <p:cNvSpPr/>
            <p:nvPr/>
          </p:nvSpPr>
          <p:spPr>
            <a:xfrm flipH="false" flipV="false" rot="0">
              <a:off x="0" y="0"/>
              <a:ext cx="859536" cy="859536"/>
            </a:xfrm>
            <a:custGeom>
              <a:avLst/>
              <a:gdLst/>
              <a:ahLst/>
              <a:cxnLst/>
              <a:rect r="r" b="b" t="t" l="l"/>
              <a:pathLst>
                <a:path h="859536" w="859536">
                  <a:moveTo>
                    <a:pt x="0" y="429768"/>
                  </a:moveTo>
                  <a:cubicBezTo>
                    <a:pt x="0" y="192405"/>
                    <a:pt x="192405" y="0"/>
                    <a:pt x="429768" y="0"/>
                  </a:cubicBezTo>
                  <a:cubicBezTo>
                    <a:pt x="667131" y="0"/>
                    <a:pt x="859536" y="192405"/>
                    <a:pt x="859536" y="429768"/>
                  </a:cubicBezTo>
                  <a:cubicBezTo>
                    <a:pt x="859536" y="667131"/>
                    <a:pt x="667131" y="859536"/>
                    <a:pt x="429768" y="859536"/>
                  </a:cubicBezTo>
                  <a:cubicBezTo>
                    <a:pt x="192405" y="859536"/>
                    <a:pt x="0" y="667131"/>
                    <a:pt x="0" y="429768"/>
                  </a:cubicBezTo>
                  <a:close/>
                </a:path>
              </a:pathLst>
            </a:custGeom>
            <a:solidFill>
              <a:srgbClr val="387F7F"/>
            </a:solidFill>
          </p:spPr>
        </p:sp>
      </p:grpSp>
      <p:grpSp>
        <p:nvGrpSpPr>
          <p:cNvPr name="Group 15" id="15"/>
          <p:cNvGrpSpPr/>
          <p:nvPr/>
        </p:nvGrpSpPr>
        <p:grpSpPr>
          <a:xfrm rot="0">
            <a:off x="1313307" y="2935224"/>
            <a:ext cx="644652" cy="644652"/>
            <a:chOff x="0" y="0"/>
            <a:chExt cx="859536" cy="859536"/>
          </a:xfrm>
        </p:grpSpPr>
        <p:sp>
          <p:nvSpPr>
            <p:cNvPr name="Freeform 16" id="16"/>
            <p:cNvSpPr/>
            <p:nvPr/>
          </p:nvSpPr>
          <p:spPr>
            <a:xfrm flipH="false" flipV="false" rot="0">
              <a:off x="0" y="0"/>
              <a:ext cx="859536" cy="859536"/>
            </a:xfrm>
            <a:custGeom>
              <a:avLst/>
              <a:gdLst/>
              <a:ahLst/>
              <a:cxnLst/>
              <a:rect r="r" b="b" t="t" l="l"/>
              <a:pathLst>
                <a:path h="859536" w="859536">
                  <a:moveTo>
                    <a:pt x="0" y="0"/>
                  </a:moveTo>
                  <a:lnTo>
                    <a:pt x="859536" y="0"/>
                  </a:lnTo>
                  <a:lnTo>
                    <a:pt x="859536" y="859536"/>
                  </a:lnTo>
                  <a:lnTo>
                    <a:pt x="0" y="859536"/>
                  </a:lnTo>
                  <a:close/>
                </a:path>
              </a:pathLst>
            </a:custGeom>
            <a:blipFill>
              <a:blip r:embed="rId9">
                <a:alphaModFix amt="0"/>
              </a:blip>
              <a:stretch>
                <a:fillRect l="-78303" t="0" r="-78303" b="0"/>
              </a:stretch>
            </a:blipFill>
          </p:spPr>
        </p:sp>
        <p:sp>
          <p:nvSpPr>
            <p:cNvPr name="TextBox 17" id="17"/>
            <p:cNvSpPr txBox="true"/>
            <p:nvPr/>
          </p:nvSpPr>
          <p:spPr>
            <a:xfrm>
              <a:off x="0" y="-28575"/>
              <a:ext cx="859536" cy="888111"/>
            </a:xfrm>
            <a:prstGeom prst="rect">
              <a:avLst/>
            </a:prstGeom>
          </p:spPr>
          <p:txBody>
            <a:bodyPr anchor="ctr" rtlCol="false" tIns="0" lIns="0" bIns="0" rIns="0"/>
            <a:lstStyle/>
            <a:p>
              <a:pPr algn="ctr">
                <a:lnSpc>
                  <a:spcPts val="3240"/>
                </a:lnSpc>
              </a:pPr>
              <a:r>
                <a:rPr lang="en-US" sz="2700" b="true">
                  <a:solidFill>
                    <a:srgbClr val="FFFFFF"/>
                  </a:solidFill>
                  <a:latin typeface="Poppins Bold"/>
                  <a:ea typeface="Poppins Bold"/>
                  <a:cs typeface="Poppins Bold"/>
                  <a:sym typeface="Poppins Bold"/>
                </a:rPr>
                <a:t>✓</a:t>
              </a:r>
            </a:p>
          </p:txBody>
        </p:sp>
      </p:grpSp>
      <p:grpSp>
        <p:nvGrpSpPr>
          <p:cNvPr name="Group 18" id="18"/>
          <p:cNvGrpSpPr/>
          <p:nvPr/>
        </p:nvGrpSpPr>
        <p:grpSpPr>
          <a:xfrm rot="0">
            <a:off x="2273427" y="2743200"/>
            <a:ext cx="8297375" cy="1028700"/>
            <a:chOff x="0" y="0"/>
            <a:chExt cx="11063166" cy="1371600"/>
          </a:xfrm>
        </p:grpSpPr>
        <p:sp>
          <p:nvSpPr>
            <p:cNvPr name="Freeform 19" id="19"/>
            <p:cNvSpPr/>
            <p:nvPr/>
          </p:nvSpPr>
          <p:spPr>
            <a:xfrm flipH="false" flipV="false" rot="0">
              <a:off x="0" y="0"/>
              <a:ext cx="11063167" cy="1371600"/>
            </a:xfrm>
            <a:custGeom>
              <a:avLst/>
              <a:gdLst/>
              <a:ahLst/>
              <a:cxnLst/>
              <a:rect r="r" b="b" t="t" l="l"/>
              <a:pathLst>
                <a:path h="1371600" w="11063167">
                  <a:moveTo>
                    <a:pt x="0" y="0"/>
                  </a:moveTo>
                  <a:lnTo>
                    <a:pt x="11063167" y="0"/>
                  </a:lnTo>
                  <a:lnTo>
                    <a:pt x="11063167" y="1371600"/>
                  </a:lnTo>
                  <a:lnTo>
                    <a:pt x="0" y="1371600"/>
                  </a:lnTo>
                  <a:close/>
                </a:path>
              </a:pathLst>
            </a:custGeom>
            <a:blipFill>
              <a:blip r:embed="rId9">
                <a:alphaModFix amt="0"/>
              </a:blip>
              <a:stretch>
                <a:fillRect l="0" t="-196810" r="-57040" b="-196810"/>
              </a:stretch>
            </a:blipFill>
          </p:spPr>
        </p:sp>
        <p:sp>
          <p:nvSpPr>
            <p:cNvPr name="TextBox 20" id="20"/>
            <p:cNvSpPr txBox="true"/>
            <p:nvPr/>
          </p:nvSpPr>
          <p:spPr>
            <a:xfrm>
              <a:off x="0" y="-76200"/>
              <a:ext cx="11063166" cy="1447800"/>
            </a:xfrm>
            <a:prstGeom prst="rect">
              <a:avLst/>
            </a:prstGeom>
          </p:spPr>
          <p:txBody>
            <a:bodyPr anchor="ctr" rtlCol="false" tIns="0" lIns="0" bIns="0" rIns="0"/>
            <a:lstStyle/>
            <a:p>
              <a:pPr algn="l">
                <a:lnSpc>
                  <a:spcPts val="3132"/>
                </a:lnSpc>
              </a:pPr>
              <a:r>
                <a:rPr lang="en-US" sz="2175">
                  <a:solidFill>
                    <a:srgbClr val="475569"/>
                  </a:solidFill>
                  <a:latin typeface="Poppins"/>
                  <a:ea typeface="Poppins"/>
                  <a:cs typeface="Poppins"/>
                  <a:sym typeface="Poppins"/>
                </a:rPr>
                <a:t>Navigate Power BI Desktop and say what each of the four views is for.</a:t>
              </a:r>
            </a:p>
          </p:txBody>
        </p:sp>
      </p:grpSp>
      <p:grpSp>
        <p:nvGrpSpPr>
          <p:cNvPr name="Group 21" id="21"/>
          <p:cNvGrpSpPr/>
          <p:nvPr/>
        </p:nvGrpSpPr>
        <p:grpSpPr>
          <a:xfrm rot="0">
            <a:off x="942975" y="4046220"/>
            <a:ext cx="9627827" cy="1165860"/>
            <a:chOff x="0" y="0"/>
            <a:chExt cx="12837102" cy="1554480"/>
          </a:xfrm>
        </p:grpSpPr>
        <p:sp>
          <p:nvSpPr>
            <p:cNvPr name="Freeform 22" id="22"/>
            <p:cNvSpPr/>
            <p:nvPr/>
          </p:nvSpPr>
          <p:spPr>
            <a:xfrm flipH="false" flipV="false" rot="0">
              <a:off x="0" y="0"/>
              <a:ext cx="12837102" cy="1554480"/>
            </a:xfrm>
            <a:custGeom>
              <a:avLst/>
              <a:gdLst/>
              <a:ahLst/>
              <a:cxnLst/>
              <a:rect r="r" b="b" t="t" l="l"/>
              <a:pathLst>
                <a:path h="1554480" w="12837102">
                  <a:moveTo>
                    <a:pt x="0" y="182880"/>
                  </a:moveTo>
                  <a:cubicBezTo>
                    <a:pt x="0" y="81915"/>
                    <a:pt x="53488" y="0"/>
                    <a:pt x="119415" y="0"/>
                  </a:cubicBezTo>
                  <a:lnTo>
                    <a:pt x="12717687" y="0"/>
                  </a:lnTo>
                  <a:cubicBezTo>
                    <a:pt x="12783614" y="0"/>
                    <a:pt x="12837102" y="81915"/>
                    <a:pt x="12837102" y="182880"/>
                  </a:cubicBezTo>
                  <a:lnTo>
                    <a:pt x="12837102" y="1371600"/>
                  </a:lnTo>
                  <a:cubicBezTo>
                    <a:pt x="12837102" y="1472565"/>
                    <a:pt x="12783614" y="1554480"/>
                    <a:pt x="12717687" y="1554480"/>
                  </a:cubicBezTo>
                  <a:lnTo>
                    <a:pt x="119415" y="1554480"/>
                  </a:lnTo>
                  <a:cubicBezTo>
                    <a:pt x="53488" y="1554480"/>
                    <a:pt x="0" y="1472565"/>
                    <a:pt x="0" y="1371600"/>
                  </a:cubicBezTo>
                  <a:close/>
                </a:path>
              </a:pathLst>
            </a:custGeom>
            <a:solidFill>
              <a:srgbClr val="FFFFFF"/>
            </a:solidFill>
          </p:spPr>
        </p:sp>
      </p:grpSp>
      <p:grpSp>
        <p:nvGrpSpPr>
          <p:cNvPr name="Group 23" id="23"/>
          <p:cNvGrpSpPr/>
          <p:nvPr/>
        </p:nvGrpSpPr>
        <p:grpSpPr>
          <a:xfrm rot="0">
            <a:off x="1313307" y="4306824"/>
            <a:ext cx="644652" cy="644652"/>
            <a:chOff x="0" y="0"/>
            <a:chExt cx="859536" cy="859536"/>
          </a:xfrm>
        </p:grpSpPr>
        <p:sp>
          <p:nvSpPr>
            <p:cNvPr name="Freeform 24" id="24"/>
            <p:cNvSpPr/>
            <p:nvPr/>
          </p:nvSpPr>
          <p:spPr>
            <a:xfrm flipH="false" flipV="false" rot="0">
              <a:off x="0" y="0"/>
              <a:ext cx="859536" cy="859536"/>
            </a:xfrm>
            <a:custGeom>
              <a:avLst/>
              <a:gdLst/>
              <a:ahLst/>
              <a:cxnLst/>
              <a:rect r="r" b="b" t="t" l="l"/>
              <a:pathLst>
                <a:path h="859536" w="859536">
                  <a:moveTo>
                    <a:pt x="0" y="429768"/>
                  </a:moveTo>
                  <a:cubicBezTo>
                    <a:pt x="0" y="192405"/>
                    <a:pt x="192405" y="0"/>
                    <a:pt x="429768" y="0"/>
                  </a:cubicBezTo>
                  <a:cubicBezTo>
                    <a:pt x="667131" y="0"/>
                    <a:pt x="859536" y="192405"/>
                    <a:pt x="859536" y="429768"/>
                  </a:cubicBezTo>
                  <a:cubicBezTo>
                    <a:pt x="859536" y="667131"/>
                    <a:pt x="667131" y="859536"/>
                    <a:pt x="429768" y="859536"/>
                  </a:cubicBezTo>
                  <a:cubicBezTo>
                    <a:pt x="192405" y="859536"/>
                    <a:pt x="0" y="667131"/>
                    <a:pt x="0" y="429768"/>
                  </a:cubicBezTo>
                  <a:close/>
                </a:path>
              </a:pathLst>
            </a:custGeom>
            <a:solidFill>
              <a:srgbClr val="387F7F"/>
            </a:solidFill>
          </p:spPr>
        </p:sp>
      </p:grpSp>
      <p:grpSp>
        <p:nvGrpSpPr>
          <p:cNvPr name="Group 25" id="25"/>
          <p:cNvGrpSpPr/>
          <p:nvPr/>
        </p:nvGrpSpPr>
        <p:grpSpPr>
          <a:xfrm rot="0">
            <a:off x="1313307" y="4306824"/>
            <a:ext cx="644652" cy="644652"/>
            <a:chOff x="0" y="0"/>
            <a:chExt cx="859536" cy="859536"/>
          </a:xfrm>
        </p:grpSpPr>
        <p:sp>
          <p:nvSpPr>
            <p:cNvPr name="Freeform 26" id="26"/>
            <p:cNvSpPr/>
            <p:nvPr/>
          </p:nvSpPr>
          <p:spPr>
            <a:xfrm flipH="false" flipV="false" rot="0">
              <a:off x="0" y="0"/>
              <a:ext cx="859536" cy="859536"/>
            </a:xfrm>
            <a:custGeom>
              <a:avLst/>
              <a:gdLst/>
              <a:ahLst/>
              <a:cxnLst/>
              <a:rect r="r" b="b" t="t" l="l"/>
              <a:pathLst>
                <a:path h="859536" w="859536">
                  <a:moveTo>
                    <a:pt x="0" y="0"/>
                  </a:moveTo>
                  <a:lnTo>
                    <a:pt x="859536" y="0"/>
                  </a:lnTo>
                  <a:lnTo>
                    <a:pt x="859536" y="859536"/>
                  </a:lnTo>
                  <a:lnTo>
                    <a:pt x="0" y="859536"/>
                  </a:lnTo>
                  <a:close/>
                </a:path>
              </a:pathLst>
            </a:custGeom>
            <a:blipFill>
              <a:blip r:embed="rId9">
                <a:alphaModFix amt="0"/>
              </a:blip>
              <a:stretch>
                <a:fillRect l="-78303" t="0" r="-78303" b="0"/>
              </a:stretch>
            </a:blipFill>
          </p:spPr>
        </p:sp>
        <p:sp>
          <p:nvSpPr>
            <p:cNvPr name="TextBox 27" id="27"/>
            <p:cNvSpPr txBox="true"/>
            <p:nvPr/>
          </p:nvSpPr>
          <p:spPr>
            <a:xfrm>
              <a:off x="0" y="-28575"/>
              <a:ext cx="859536" cy="888111"/>
            </a:xfrm>
            <a:prstGeom prst="rect">
              <a:avLst/>
            </a:prstGeom>
          </p:spPr>
          <p:txBody>
            <a:bodyPr anchor="ctr" rtlCol="false" tIns="0" lIns="0" bIns="0" rIns="0"/>
            <a:lstStyle/>
            <a:p>
              <a:pPr algn="ctr">
                <a:lnSpc>
                  <a:spcPts val="3240"/>
                </a:lnSpc>
              </a:pPr>
              <a:r>
                <a:rPr lang="en-US" sz="2700" b="true">
                  <a:solidFill>
                    <a:srgbClr val="FFFFFF"/>
                  </a:solidFill>
                  <a:latin typeface="Poppins Bold"/>
                  <a:ea typeface="Poppins Bold"/>
                  <a:cs typeface="Poppins Bold"/>
                  <a:sym typeface="Poppins Bold"/>
                </a:rPr>
                <a:t>✓</a:t>
              </a:r>
            </a:p>
          </p:txBody>
        </p:sp>
      </p:grpSp>
      <p:grpSp>
        <p:nvGrpSpPr>
          <p:cNvPr name="Group 28" id="28"/>
          <p:cNvGrpSpPr/>
          <p:nvPr/>
        </p:nvGrpSpPr>
        <p:grpSpPr>
          <a:xfrm rot="0">
            <a:off x="2273427" y="4114800"/>
            <a:ext cx="8297375" cy="1028700"/>
            <a:chOff x="0" y="0"/>
            <a:chExt cx="11063166" cy="1371600"/>
          </a:xfrm>
        </p:grpSpPr>
        <p:sp>
          <p:nvSpPr>
            <p:cNvPr name="Freeform 29" id="29"/>
            <p:cNvSpPr/>
            <p:nvPr/>
          </p:nvSpPr>
          <p:spPr>
            <a:xfrm flipH="false" flipV="false" rot="0">
              <a:off x="0" y="0"/>
              <a:ext cx="11063167" cy="1371600"/>
            </a:xfrm>
            <a:custGeom>
              <a:avLst/>
              <a:gdLst/>
              <a:ahLst/>
              <a:cxnLst/>
              <a:rect r="r" b="b" t="t" l="l"/>
              <a:pathLst>
                <a:path h="1371600" w="11063167">
                  <a:moveTo>
                    <a:pt x="0" y="0"/>
                  </a:moveTo>
                  <a:lnTo>
                    <a:pt x="11063167" y="0"/>
                  </a:lnTo>
                  <a:lnTo>
                    <a:pt x="11063167" y="1371600"/>
                  </a:lnTo>
                  <a:lnTo>
                    <a:pt x="0" y="1371600"/>
                  </a:lnTo>
                  <a:close/>
                </a:path>
              </a:pathLst>
            </a:custGeom>
            <a:blipFill>
              <a:blip r:embed="rId9">
                <a:alphaModFix amt="0"/>
              </a:blip>
              <a:stretch>
                <a:fillRect l="0" t="-196810" r="-57040" b="-196810"/>
              </a:stretch>
            </a:blipFill>
          </p:spPr>
        </p:sp>
        <p:sp>
          <p:nvSpPr>
            <p:cNvPr name="TextBox 30" id="30"/>
            <p:cNvSpPr txBox="true"/>
            <p:nvPr/>
          </p:nvSpPr>
          <p:spPr>
            <a:xfrm>
              <a:off x="0" y="-76200"/>
              <a:ext cx="11063166" cy="1447800"/>
            </a:xfrm>
            <a:prstGeom prst="rect">
              <a:avLst/>
            </a:prstGeom>
          </p:spPr>
          <p:txBody>
            <a:bodyPr anchor="ctr" rtlCol="false" tIns="0" lIns="0" bIns="0" rIns="0"/>
            <a:lstStyle/>
            <a:p>
              <a:pPr algn="l">
                <a:lnSpc>
                  <a:spcPts val="3132"/>
                </a:lnSpc>
              </a:pPr>
              <a:r>
                <a:rPr lang="en-US" sz="2175">
                  <a:solidFill>
                    <a:srgbClr val="475569"/>
                  </a:solidFill>
                  <a:latin typeface="Poppins"/>
                  <a:ea typeface="Poppins"/>
                  <a:cs typeface="Poppins"/>
                  <a:sym typeface="Poppins"/>
                </a:rPr>
                <a:t>Load a file through Power Query and apply transformations recorded as reorderable, refreshable steps.</a:t>
              </a:r>
            </a:p>
          </p:txBody>
        </p:sp>
      </p:grpSp>
      <p:grpSp>
        <p:nvGrpSpPr>
          <p:cNvPr name="Group 31" id="31"/>
          <p:cNvGrpSpPr/>
          <p:nvPr/>
        </p:nvGrpSpPr>
        <p:grpSpPr>
          <a:xfrm rot="0">
            <a:off x="942975" y="5417820"/>
            <a:ext cx="9627827" cy="1165860"/>
            <a:chOff x="0" y="0"/>
            <a:chExt cx="12837102" cy="1554480"/>
          </a:xfrm>
        </p:grpSpPr>
        <p:sp>
          <p:nvSpPr>
            <p:cNvPr name="Freeform 32" id="32"/>
            <p:cNvSpPr/>
            <p:nvPr/>
          </p:nvSpPr>
          <p:spPr>
            <a:xfrm flipH="false" flipV="false" rot="0">
              <a:off x="0" y="0"/>
              <a:ext cx="12837102" cy="1554480"/>
            </a:xfrm>
            <a:custGeom>
              <a:avLst/>
              <a:gdLst/>
              <a:ahLst/>
              <a:cxnLst/>
              <a:rect r="r" b="b" t="t" l="l"/>
              <a:pathLst>
                <a:path h="1554480" w="12837102">
                  <a:moveTo>
                    <a:pt x="0" y="182880"/>
                  </a:moveTo>
                  <a:cubicBezTo>
                    <a:pt x="0" y="81915"/>
                    <a:pt x="53488" y="0"/>
                    <a:pt x="119415" y="0"/>
                  </a:cubicBezTo>
                  <a:lnTo>
                    <a:pt x="12717687" y="0"/>
                  </a:lnTo>
                  <a:cubicBezTo>
                    <a:pt x="12783614" y="0"/>
                    <a:pt x="12837102" y="81915"/>
                    <a:pt x="12837102" y="182880"/>
                  </a:cubicBezTo>
                  <a:lnTo>
                    <a:pt x="12837102" y="1371600"/>
                  </a:lnTo>
                  <a:cubicBezTo>
                    <a:pt x="12837102" y="1472565"/>
                    <a:pt x="12783614" y="1554480"/>
                    <a:pt x="12717687" y="1554480"/>
                  </a:cubicBezTo>
                  <a:lnTo>
                    <a:pt x="119415" y="1554480"/>
                  </a:lnTo>
                  <a:cubicBezTo>
                    <a:pt x="53488" y="1554480"/>
                    <a:pt x="0" y="1472565"/>
                    <a:pt x="0" y="1371600"/>
                  </a:cubicBezTo>
                  <a:close/>
                </a:path>
              </a:pathLst>
            </a:custGeom>
            <a:solidFill>
              <a:srgbClr val="FFFFFF"/>
            </a:solidFill>
          </p:spPr>
        </p:sp>
      </p:grpSp>
      <p:grpSp>
        <p:nvGrpSpPr>
          <p:cNvPr name="Group 33" id="33"/>
          <p:cNvGrpSpPr/>
          <p:nvPr/>
        </p:nvGrpSpPr>
        <p:grpSpPr>
          <a:xfrm rot="0">
            <a:off x="1313307" y="5678424"/>
            <a:ext cx="644652" cy="644652"/>
            <a:chOff x="0" y="0"/>
            <a:chExt cx="859536" cy="859536"/>
          </a:xfrm>
        </p:grpSpPr>
        <p:sp>
          <p:nvSpPr>
            <p:cNvPr name="Freeform 34" id="34"/>
            <p:cNvSpPr/>
            <p:nvPr/>
          </p:nvSpPr>
          <p:spPr>
            <a:xfrm flipH="false" flipV="false" rot="0">
              <a:off x="0" y="0"/>
              <a:ext cx="859536" cy="859536"/>
            </a:xfrm>
            <a:custGeom>
              <a:avLst/>
              <a:gdLst/>
              <a:ahLst/>
              <a:cxnLst/>
              <a:rect r="r" b="b" t="t" l="l"/>
              <a:pathLst>
                <a:path h="859536" w="859536">
                  <a:moveTo>
                    <a:pt x="0" y="429768"/>
                  </a:moveTo>
                  <a:cubicBezTo>
                    <a:pt x="0" y="192405"/>
                    <a:pt x="192405" y="0"/>
                    <a:pt x="429768" y="0"/>
                  </a:cubicBezTo>
                  <a:cubicBezTo>
                    <a:pt x="667131" y="0"/>
                    <a:pt x="859536" y="192405"/>
                    <a:pt x="859536" y="429768"/>
                  </a:cubicBezTo>
                  <a:cubicBezTo>
                    <a:pt x="859536" y="667131"/>
                    <a:pt x="667131" y="859536"/>
                    <a:pt x="429768" y="859536"/>
                  </a:cubicBezTo>
                  <a:cubicBezTo>
                    <a:pt x="192405" y="859536"/>
                    <a:pt x="0" y="667131"/>
                    <a:pt x="0" y="429768"/>
                  </a:cubicBezTo>
                  <a:close/>
                </a:path>
              </a:pathLst>
            </a:custGeom>
            <a:solidFill>
              <a:srgbClr val="387F7F"/>
            </a:solidFill>
          </p:spPr>
        </p:sp>
      </p:grpSp>
      <p:grpSp>
        <p:nvGrpSpPr>
          <p:cNvPr name="Group 35" id="35"/>
          <p:cNvGrpSpPr/>
          <p:nvPr/>
        </p:nvGrpSpPr>
        <p:grpSpPr>
          <a:xfrm rot="0">
            <a:off x="1313307" y="5678424"/>
            <a:ext cx="644652" cy="644652"/>
            <a:chOff x="0" y="0"/>
            <a:chExt cx="859536" cy="859536"/>
          </a:xfrm>
        </p:grpSpPr>
        <p:sp>
          <p:nvSpPr>
            <p:cNvPr name="Freeform 36" id="36"/>
            <p:cNvSpPr/>
            <p:nvPr/>
          </p:nvSpPr>
          <p:spPr>
            <a:xfrm flipH="false" flipV="false" rot="0">
              <a:off x="0" y="0"/>
              <a:ext cx="859536" cy="859536"/>
            </a:xfrm>
            <a:custGeom>
              <a:avLst/>
              <a:gdLst/>
              <a:ahLst/>
              <a:cxnLst/>
              <a:rect r="r" b="b" t="t" l="l"/>
              <a:pathLst>
                <a:path h="859536" w="859536">
                  <a:moveTo>
                    <a:pt x="0" y="0"/>
                  </a:moveTo>
                  <a:lnTo>
                    <a:pt x="859536" y="0"/>
                  </a:lnTo>
                  <a:lnTo>
                    <a:pt x="859536" y="859536"/>
                  </a:lnTo>
                  <a:lnTo>
                    <a:pt x="0" y="859536"/>
                  </a:lnTo>
                  <a:close/>
                </a:path>
              </a:pathLst>
            </a:custGeom>
            <a:blipFill>
              <a:blip r:embed="rId9">
                <a:alphaModFix amt="0"/>
              </a:blip>
              <a:stretch>
                <a:fillRect l="-78303" t="0" r="-78303" b="0"/>
              </a:stretch>
            </a:blipFill>
          </p:spPr>
        </p:sp>
        <p:sp>
          <p:nvSpPr>
            <p:cNvPr name="TextBox 37" id="37"/>
            <p:cNvSpPr txBox="true"/>
            <p:nvPr/>
          </p:nvSpPr>
          <p:spPr>
            <a:xfrm>
              <a:off x="0" y="-28575"/>
              <a:ext cx="859536" cy="888111"/>
            </a:xfrm>
            <a:prstGeom prst="rect">
              <a:avLst/>
            </a:prstGeom>
          </p:spPr>
          <p:txBody>
            <a:bodyPr anchor="ctr" rtlCol="false" tIns="0" lIns="0" bIns="0" rIns="0"/>
            <a:lstStyle/>
            <a:p>
              <a:pPr algn="ctr">
                <a:lnSpc>
                  <a:spcPts val="3240"/>
                </a:lnSpc>
              </a:pPr>
              <a:r>
                <a:rPr lang="en-US" sz="2700" b="true">
                  <a:solidFill>
                    <a:srgbClr val="FFFFFF"/>
                  </a:solidFill>
                  <a:latin typeface="Poppins Bold"/>
                  <a:ea typeface="Poppins Bold"/>
                  <a:cs typeface="Poppins Bold"/>
                  <a:sym typeface="Poppins Bold"/>
                </a:rPr>
                <a:t>✓</a:t>
              </a:r>
            </a:p>
          </p:txBody>
        </p:sp>
      </p:grpSp>
      <p:grpSp>
        <p:nvGrpSpPr>
          <p:cNvPr name="Group 38" id="38"/>
          <p:cNvGrpSpPr/>
          <p:nvPr/>
        </p:nvGrpSpPr>
        <p:grpSpPr>
          <a:xfrm rot="0">
            <a:off x="2273427" y="5486400"/>
            <a:ext cx="8297375" cy="1028700"/>
            <a:chOff x="0" y="0"/>
            <a:chExt cx="11063166" cy="1371600"/>
          </a:xfrm>
        </p:grpSpPr>
        <p:sp>
          <p:nvSpPr>
            <p:cNvPr name="Freeform 39" id="39"/>
            <p:cNvSpPr/>
            <p:nvPr/>
          </p:nvSpPr>
          <p:spPr>
            <a:xfrm flipH="false" flipV="false" rot="0">
              <a:off x="0" y="0"/>
              <a:ext cx="11063167" cy="1371600"/>
            </a:xfrm>
            <a:custGeom>
              <a:avLst/>
              <a:gdLst/>
              <a:ahLst/>
              <a:cxnLst/>
              <a:rect r="r" b="b" t="t" l="l"/>
              <a:pathLst>
                <a:path h="1371600" w="11063167">
                  <a:moveTo>
                    <a:pt x="0" y="0"/>
                  </a:moveTo>
                  <a:lnTo>
                    <a:pt x="11063167" y="0"/>
                  </a:lnTo>
                  <a:lnTo>
                    <a:pt x="11063167" y="1371600"/>
                  </a:lnTo>
                  <a:lnTo>
                    <a:pt x="0" y="1371600"/>
                  </a:lnTo>
                  <a:close/>
                </a:path>
              </a:pathLst>
            </a:custGeom>
            <a:blipFill>
              <a:blip r:embed="rId9">
                <a:alphaModFix amt="0"/>
              </a:blip>
              <a:stretch>
                <a:fillRect l="0" t="-196810" r="-57040" b="-196810"/>
              </a:stretch>
            </a:blipFill>
          </p:spPr>
        </p:sp>
        <p:sp>
          <p:nvSpPr>
            <p:cNvPr name="TextBox 40" id="40"/>
            <p:cNvSpPr txBox="true"/>
            <p:nvPr/>
          </p:nvSpPr>
          <p:spPr>
            <a:xfrm>
              <a:off x="0" y="-76200"/>
              <a:ext cx="11063166" cy="1447800"/>
            </a:xfrm>
            <a:prstGeom prst="rect">
              <a:avLst/>
            </a:prstGeom>
          </p:spPr>
          <p:txBody>
            <a:bodyPr anchor="ctr" rtlCol="false" tIns="0" lIns="0" bIns="0" rIns="0"/>
            <a:lstStyle/>
            <a:p>
              <a:pPr algn="l">
                <a:lnSpc>
                  <a:spcPts val="3132"/>
                </a:lnSpc>
              </a:pPr>
              <a:r>
                <a:rPr lang="en-US" sz="2175">
                  <a:solidFill>
                    <a:srgbClr val="475569"/>
                  </a:solidFill>
                  <a:latin typeface="Poppins"/>
                  <a:ea typeface="Poppins"/>
                  <a:cs typeface="Poppins"/>
                  <a:sym typeface="Poppins"/>
                </a:rPr>
                <a:t>Explain why the Power BI pipeline is the Excel and SQL workflow you already knew, rebuilt in one window.</a:t>
              </a:r>
            </a:p>
          </p:txBody>
        </p:sp>
      </p:grpSp>
      <p:grpSp>
        <p:nvGrpSpPr>
          <p:cNvPr name="Group 41" id="41"/>
          <p:cNvGrpSpPr/>
          <p:nvPr/>
        </p:nvGrpSpPr>
        <p:grpSpPr>
          <a:xfrm rot="0">
            <a:off x="942975" y="7063740"/>
            <a:ext cx="14744700" cy="1508760"/>
            <a:chOff x="0" y="0"/>
            <a:chExt cx="19659600" cy="2011680"/>
          </a:xfrm>
        </p:grpSpPr>
        <p:sp>
          <p:nvSpPr>
            <p:cNvPr name="Freeform 42" id="42"/>
            <p:cNvSpPr/>
            <p:nvPr/>
          </p:nvSpPr>
          <p:spPr>
            <a:xfrm flipH="false" flipV="false" rot="0">
              <a:off x="0" y="0"/>
              <a:ext cx="19659600" cy="2011680"/>
            </a:xfrm>
            <a:custGeom>
              <a:avLst/>
              <a:gdLst/>
              <a:ahLst/>
              <a:cxnLst/>
              <a:rect r="r" b="b" t="t" l="l"/>
              <a:pathLst>
                <a:path h="2011680" w="19659600">
                  <a:moveTo>
                    <a:pt x="0" y="164592"/>
                  </a:moveTo>
                  <a:cubicBezTo>
                    <a:pt x="0" y="73660"/>
                    <a:pt x="73660" y="0"/>
                    <a:pt x="164592" y="0"/>
                  </a:cubicBezTo>
                  <a:lnTo>
                    <a:pt x="19495008" y="0"/>
                  </a:lnTo>
                  <a:cubicBezTo>
                    <a:pt x="19585939" y="0"/>
                    <a:pt x="19659600" y="73660"/>
                    <a:pt x="19659600" y="164592"/>
                  </a:cubicBezTo>
                  <a:lnTo>
                    <a:pt x="19659600" y="1847088"/>
                  </a:lnTo>
                  <a:cubicBezTo>
                    <a:pt x="19659600" y="1938020"/>
                    <a:pt x="19585939" y="2011680"/>
                    <a:pt x="19495008" y="2011680"/>
                  </a:cubicBezTo>
                  <a:lnTo>
                    <a:pt x="164592" y="2011680"/>
                  </a:lnTo>
                  <a:cubicBezTo>
                    <a:pt x="73660" y="2011680"/>
                    <a:pt x="0" y="1938020"/>
                    <a:pt x="0" y="1847088"/>
                  </a:cubicBezTo>
                  <a:close/>
                </a:path>
              </a:pathLst>
            </a:custGeom>
            <a:solidFill>
              <a:srgbClr val="EEF4F4"/>
            </a:solidFill>
          </p:spPr>
        </p:sp>
      </p:grpSp>
      <p:grpSp>
        <p:nvGrpSpPr>
          <p:cNvPr name="Group 43" id="43"/>
          <p:cNvGrpSpPr/>
          <p:nvPr/>
        </p:nvGrpSpPr>
        <p:grpSpPr>
          <a:xfrm rot="0">
            <a:off x="942975" y="7063740"/>
            <a:ext cx="102870" cy="1508760"/>
            <a:chOff x="0" y="0"/>
            <a:chExt cx="137160" cy="2011680"/>
          </a:xfrm>
        </p:grpSpPr>
        <p:sp>
          <p:nvSpPr>
            <p:cNvPr name="Freeform 44" id="44"/>
            <p:cNvSpPr/>
            <p:nvPr/>
          </p:nvSpPr>
          <p:spPr>
            <a:xfrm flipH="false" flipV="false" rot="0">
              <a:off x="0" y="0"/>
              <a:ext cx="137160" cy="2011680"/>
            </a:xfrm>
            <a:custGeom>
              <a:avLst/>
              <a:gdLst/>
              <a:ahLst/>
              <a:cxnLst/>
              <a:rect r="r" b="b" t="t" l="l"/>
              <a:pathLst>
                <a:path h="2011680" w="137160">
                  <a:moveTo>
                    <a:pt x="0" y="0"/>
                  </a:moveTo>
                  <a:lnTo>
                    <a:pt x="137160" y="0"/>
                  </a:lnTo>
                  <a:lnTo>
                    <a:pt x="137160" y="2011680"/>
                  </a:lnTo>
                  <a:lnTo>
                    <a:pt x="0" y="2011680"/>
                  </a:lnTo>
                  <a:close/>
                </a:path>
              </a:pathLst>
            </a:custGeom>
            <a:solidFill>
              <a:srgbClr val="387F7F"/>
            </a:solidFill>
          </p:spPr>
        </p:sp>
      </p:grpSp>
      <p:grpSp>
        <p:nvGrpSpPr>
          <p:cNvPr name="Group 45" id="45"/>
          <p:cNvGrpSpPr/>
          <p:nvPr/>
        </p:nvGrpSpPr>
        <p:grpSpPr>
          <a:xfrm rot="0">
            <a:off x="1491615" y="7063740"/>
            <a:ext cx="13853160" cy="1508760"/>
            <a:chOff x="0" y="0"/>
            <a:chExt cx="18470880" cy="2011680"/>
          </a:xfrm>
        </p:grpSpPr>
        <p:sp>
          <p:nvSpPr>
            <p:cNvPr name="Freeform 46" id="46"/>
            <p:cNvSpPr/>
            <p:nvPr/>
          </p:nvSpPr>
          <p:spPr>
            <a:xfrm flipH="false" flipV="false" rot="0">
              <a:off x="0" y="0"/>
              <a:ext cx="18470880" cy="2011680"/>
            </a:xfrm>
            <a:custGeom>
              <a:avLst/>
              <a:gdLst/>
              <a:ahLst/>
              <a:cxnLst/>
              <a:rect r="r" b="b" t="t" l="l"/>
              <a:pathLst>
                <a:path h="2011680" w="18470880">
                  <a:moveTo>
                    <a:pt x="0" y="0"/>
                  </a:moveTo>
                  <a:lnTo>
                    <a:pt x="18470880" y="0"/>
                  </a:lnTo>
                  <a:lnTo>
                    <a:pt x="18470880" y="2011680"/>
                  </a:lnTo>
                  <a:lnTo>
                    <a:pt x="0" y="2011680"/>
                  </a:lnTo>
                  <a:close/>
                </a:path>
              </a:pathLst>
            </a:custGeom>
            <a:blipFill>
              <a:blip r:embed="rId9">
                <a:alphaModFix amt="0"/>
              </a:blip>
              <a:stretch>
                <a:fillRect l="0" t="-128908" r="0" b="-128908"/>
              </a:stretch>
            </a:blipFill>
          </p:spPr>
        </p:sp>
        <p:sp>
          <p:nvSpPr>
            <p:cNvPr name="TextBox 47" id="47"/>
            <p:cNvSpPr txBox="true"/>
            <p:nvPr/>
          </p:nvSpPr>
          <p:spPr>
            <a:xfrm>
              <a:off x="0" y="-133350"/>
              <a:ext cx="18470880" cy="2145030"/>
            </a:xfrm>
            <a:prstGeom prst="rect">
              <a:avLst/>
            </a:prstGeom>
          </p:spPr>
          <p:txBody>
            <a:bodyPr anchor="ctr" rtlCol="false" tIns="0" lIns="0" bIns="0" rIns="0"/>
            <a:lstStyle/>
            <a:p>
              <a:pPr algn="ctr">
                <a:lnSpc>
                  <a:spcPts val="4131"/>
                </a:lnSpc>
              </a:pPr>
              <a:r>
                <a:rPr lang="en-US" sz="2550" b="true">
                  <a:solidFill>
                    <a:srgbClr val="387F7F"/>
                  </a:solidFill>
                  <a:latin typeface="Poppins Bold"/>
                  <a:ea typeface="Poppins Bold"/>
                  <a:cs typeface="Poppins Bold"/>
                  <a:sym typeface="Poppins Bold"/>
                </a:rPr>
                <a:t>Nothing in this topic was new. That was the point.</a:t>
              </a:r>
            </a:p>
          </p:txBody>
        </p:sp>
      </p:grpSp>
      <p:sp>
        <p:nvSpPr>
          <p:cNvPr name="TextBox 48" id="48"/>
          <p:cNvSpPr txBox="true"/>
          <p:nvPr/>
        </p:nvSpPr>
        <p:spPr>
          <a:xfrm rot="0">
            <a:off x="10910115" y="4105275"/>
            <a:ext cx="4947543" cy="523875"/>
          </a:xfrm>
          <a:prstGeom prst="rect">
            <a:avLst/>
          </a:prstGeom>
        </p:spPr>
        <p:txBody>
          <a:bodyPr anchor="t" rtlCol="false" tIns="0" lIns="0" bIns="0" rIns="0">
            <a:spAutoFit/>
          </a:bodyPr>
          <a:lstStyle/>
          <a:p>
            <a:pPr algn="r">
              <a:lnSpc>
                <a:spcPts val="3960"/>
              </a:lnSpc>
            </a:pPr>
            <a:r>
              <a:rPr lang="en-US" sz="3300">
                <a:solidFill>
                  <a:srgbClr val="387F7F"/>
                </a:solidFill>
                <a:latin typeface="Poppins"/>
                <a:ea typeface="Poppins"/>
                <a:cs typeface="Poppins"/>
                <a:sym typeface="Poppins"/>
              </a:rPr>
              <a:t>Up Next: Data Modelling</a:t>
            </a:r>
          </a:p>
        </p:txBody>
      </p:sp>
      <p:grpSp>
        <p:nvGrpSpPr>
          <p:cNvPr name="Group 49" id="49"/>
          <p:cNvGrpSpPr/>
          <p:nvPr/>
        </p:nvGrpSpPr>
        <p:grpSpPr>
          <a:xfrm rot="0">
            <a:off x="16191033" y="4186238"/>
            <a:ext cx="457200" cy="457200"/>
            <a:chOff x="0" y="0"/>
            <a:chExt cx="609600" cy="609600"/>
          </a:xfrm>
        </p:grpSpPr>
        <p:sp>
          <p:nvSpPr>
            <p:cNvPr name="Freeform 50" id="50"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0"/>
              <a:stretch>
                <a:fillRect l="0" t="-1562" r="0" b="-1562"/>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388887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What is</a:t>
            </a:r>
            <a:r>
              <a:rPr lang="en-US" sz="5000">
                <a:solidFill>
                  <a:srgbClr val="388080"/>
                </a:solidFill>
                <a:latin typeface="Poppins"/>
                <a:ea typeface="Poppins"/>
                <a:cs typeface="Poppins"/>
                <a:sym typeface="Poppins"/>
              </a:rPr>
              <a:t> Next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8700" y="2537460"/>
            <a:ext cx="4594860" cy="4800600"/>
            <a:chOff x="0" y="0"/>
            <a:chExt cx="6126480" cy="6400800"/>
          </a:xfrm>
        </p:grpSpPr>
        <p:sp>
          <p:nvSpPr>
            <p:cNvPr name="Freeform 12" id="12"/>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13" id="13"/>
          <p:cNvGrpSpPr/>
          <p:nvPr/>
        </p:nvGrpSpPr>
        <p:grpSpPr>
          <a:xfrm rot="0">
            <a:off x="1028700" y="2537460"/>
            <a:ext cx="4594860" cy="713232"/>
            <a:chOff x="0" y="0"/>
            <a:chExt cx="6126480" cy="950976"/>
          </a:xfrm>
        </p:grpSpPr>
        <p:sp>
          <p:nvSpPr>
            <p:cNvPr name="Freeform 14" id="14"/>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387F7F"/>
            </a:solidFill>
          </p:spPr>
        </p:sp>
      </p:grpSp>
      <p:grpSp>
        <p:nvGrpSpPr>
          <p:cNvPr name="Group 15" id="15"/>
          <p:cNvGrpSpPr/>
          <p:nvPr/>
        </p:nvGrpSpPr>
        <p:grpSpPr>
          <a:xfrm rot="0">
            <a:off x="1028700" y="2537460"/>
            <a:ext cx="4594860" cy="713232"/>
            <a:chOff x="0" y="0"/>
            <a:chExt cx="6126480" cy="950976"/>
          </a:xfrm>
        </p:grpSpPr>
        <p:sp>
          <p:nvSpPr>
            <p:cNvPr name="Freeform 16" id="16"/>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17" id="17"/>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STRAIGHT INTO 7.2</a:t>
              </a:r>
            </a:p>
          </p:txBody>
        </p:sp>
      </p:grpSp>
      <p:grpSp>
        <p:nvGrpSpPr>
          <p:cNvPr name="Group 18" id="18"/>
          <p:cNvGrpSpPr/>
          <p:nvPr/>
        </p:nvGrpSpPr>
        <p:grpSpPr>
          <a:xfrm rot="0">
            <a:off x="2815685" y="3686651"/>
            <a:ext cx="1020890" cy="1020890"/>
            <a:chOff x="0" y="0"/>
            <a:chExt cx="1361186" cy="1361186"/>
          </a:xfrm>
        </p:grpSpPr>
        <p:sp>
          <p:nvSpPr>
            <p:cNvPr name="Freeform 19" id="19"/>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20" id="20"/>
          <p:cNvGrpSpPr/>
          <p:nvPr/>
        </p:nvGrpSpPr>
        <p:grpSpPr>
          <a:xfrm rot="0">
            <a:off x="2832354" y="3703320"/>
            <a:ext cx="987552" cy="987552"/>
            <a:chOff x="0" y="0"/>
            <a:chExt cx="1316736" cy="1316736"/>
          </a:xfrm>
        </p:grpSpPr>
        <p:sp>
          <p:nvSpPr>
            <p:cNvPr name="Freeform 21" id="21"/>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22" id="22"/>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sp>
        <p:nvSpPr>
          <p:cNvPr name="TextBox 23" id="23"/>
          <p:cNvSpPr txBox="true"/>
          <p:nvPr/>
        </p:nvSpPr>
        <p:spPr>
          <a:xfrm rot="0">
            <a:off x="1440180" y="4920615"/>
            <a:ext cx="3771900" cy="2143125"/>
          </a:xfrm>
          <a:prstGeom prst="rect">
            <a:avLst/>
          </a:prstGeom>
        </p:spPr>
        <p:txBody>
          <a:bodyPr anchor="t" rtlCol="false" tIns="0" lIns="0" bIns="0" rIns="0">
            <a:spAutoFit/>
          </a:bodyPr>
          <a:lstStyle/>
          <a:p>
            <a:pPr algn="ctr">
              <a:lnSpc>
                <a:spcPts val="2925"/>
              </a:lnSpc>
            </a:pPr>
            <a:r>
              <a:rPr lang="en-US" sz="1875">
                <a:solidFill>
                  <a:srgbClr val="475569"/>
                </a:solidFill>
                <a:latin typeface="Poppins"/>
                <a:ea typeface="Poppins"/>
                <a:cs typeface="Poppins"/>
                <a:sym typeface="Poppins"/>
              </a:rPr>
              <a:t>You have five loaded tables sitting next to each other with no relationships. Next you find out what happens when you try to use them that way.</a:t>
            </a:r>
          </a:p>
        </p:txBody>
      </p:sp>
      <p:grpSp>
        <p:nvGrpSpPr>
          <p:cNvPr name="Group 24" id="24"/>
          <p:cNvGrpSpPr/>
          <p:nvPr/>
        </p:nvGrpSpPr>
        <p:grpSpPr>
          <a:xfrm rot="0">
            <a:off x="6007608" y="2537460"/>
            <a:ext cx="4594860" cy="4800600"/>
            <a:chOff x="0" y="0"/>
            <a:chExt cx="6126480" cy="6400800"/>
          </a:xfrm>
        </p:grpSpPr>
        <p:sp>
          <p:nvSpPr>
            <p:cNvPr name="Freeform 25" id="25"/>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26" id="26"/>
          <p:cNvGrpSpPr/>
          <p:nvPr/>
        </p:nvGrpSpPr>
        <p:grpSpPr>
          <a:xfrm rot="0">
            <a:off x="6007608" y="2537460"/>
            <a:ext cx="4594860" cy="713232"/>
            <a:chOff x="0" y="0"/>
            <a:chExt cx="6126480" cy="950976"/>
          </a:xfrm>
        </p:grpSpPr>
        <p:sp>
          <p:nvSpPr>
            <p:cNvPr name="Freeform 27" id="27"/>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387F7F"/>
            </a:solidFill>
          </p:spPr>
        </p:sp>
      </p:grpSp>
      <p:grpSp>
        <p:nvGrpSpPr>
          <p:cNvPr name="Group 28" id="28"/>
          <p:cNvGrpSpPr/>
          <p:nvPr/>
        </p:nvGrpSpPr>
        <p:grpSpPr>
          <a:xfrm rot="0">
            <a:off x="6007608" y="2537460"/>
            <a:ext cx="4594860" cy="713232"/>
            <a:chOff x="0" y="0"/>
            <a:chExt cx="6126480" cy="950976"/>
          </a:xfrm>
        </p:grpSpPr>
        <p:sp>
          <p:nvSpPr>
            <p:cNvPr name="Freeform 29" id="29"/>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30" id="30"/>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IN THE LAB</a:t>
              </a:r>
            </a:p>
          </p:txBody>
        </p:sp>
      </p:grpSp>
      <p:grpSp>
        <p:nvGrpSpPr>
          <p:cNvPr name="Group 31" id="31"/>
          <p:cNvGrpSpPr/>
          <p:nvPr/>
        </p:nvGrpSpPr>
        <p:grpSpPr>
          <a:xfrm rot="0">
            <a:off x="7794593" y="3686651"/>
            <a:ext cx="1020890" cy="1020890"/>
            <a:chOff x="0" y="0"/>
            <a:chExt cx="1361186" cy="1361186"/>
          </a:xfrm>
        </p:grpSpPr>
        <p:sp>
          <p:nvSpPr>
            <p:cNvPr name="Freeform 32" id="32"/>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33" id="33"/>
          <p:cNvGrpSpPr/>
          <p:nvPr/>
        </p:nvGrpSpPr>
        <p:grpSpPr>
          <a:xfrm rot="0">
            <a:off x="7811262" y="3703320"/>
            <a:ext cx="987552" cy="987552"/>
            <a:chOff x="0" y="0"/>
            <a:chExt cx="1316736" cy="1316736"/>
          </a:xfrm>
        </p:grpSpPr>
        <p:sp>
          <p:nvSpPr>
            <p:cNvPr name="Freeform 34" id="34"/>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35" id="35"/>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sp>
        <p:nvSpPr>
          <p:cNvPr name="TextBox 36" id="36"/>
          <p:cNvSpPr txBox="true"/>
          <p:nvPr/>
        </p:nvSpPr>
        <p:spPr>
          <a:xfrm rot="0">
            <a:off x="6419088" y="4920615"/>
            <a:ext cx="3771900" cy="2143125"/>
          </a:xfrm>
          <a:prstGeom prst="rect">
            <a:avLst/>
          </a:prstGeom>
        </p:spPr>
        <p:txBody>
          <a:bodyPr anchor="t" rtlCol="false" tIns="0" lIns="0" bIns="0" rIns="0">
            <a:spAutoFit/>
          </a:bodyPr>
          <a:lstStyle/>
          <a:p>
            <a:pPr algn="ctr">
              <a:lnSpc>
                <a:spcPts val="2925"/>
              </a:lnSpc>
            </a:pPr>
            <a:r>
              <a:rPr lang="en-US" sz="1875">
                <a:solidFill>
                  <a:srgbClr val="475569"/>
                </a:solidFill>
                <a:latin typeface="Poppins"/>
                <a:ea typeface="Poppins"/>
                <a:cs typeface="Poppins"/>
                <a:sym typeface="Poppins"/>
              </a:rPr>
              <a:t>Load all five SwiftRoute files, fix a deliberately broken query, and reorder Applied Steps to repair a transformation that runs in the wrong order.</a:t>
            </a:r>
          </a:p>
        </p:txBody>
      </p:sp>
      <p:grpSp>
        <p:nvGrpSpPr>
          <p:cNvPr name="Group 37" id="37"/>
          <p:cNvGrpSpPr/>
          <p:nvPr/>
        </p:nvGrpSpPr>
        <p:grpSpPr>
          <a:xfrm rot="0">
            <a:off x="10986516" y="2537460"/>
            <a:ext cx="4594860" cy="4800600"/>
            <a:chOff x="0" y="0"/>
            <a:chExt cx="6126480" cy="6400800"/>
          </a:xfrm>
        </p:grpSpPr>
        <p:sp>
          <p:nvSpPr>
            <p:cNvPr name="Freeform 38" id="38"/>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39" id="39"/>
          <p:cNvGrpSpPr/>
          <p:nvPr/>
        </p:nvGrpSpPr>
        <p:grpSpPr>
          <a:xfrm rot="0">
            <a:off x="10986516" y="2537460"/>
            <a:ext cx="4594860" cy="713232"/>
            <a:chOff x="0" y="0"/>
            <a:chExt cx="6126480" cy="950976"/>
          </a:xfrm>
        </p:grpSpPr>
        <p:sp>
          <p:nvSpPr>
            <p:cNvPr name="Freeform 40" id="40"/>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387F7F"/>
            </a:solidFill>
          </p:spPr>
        </p:sp>
      </p:grpSp>
      <p:grpSp>
        <p:nvGrpSpPr>
          <p:cNvPr name="Group 41" id="41"/>
          <p:cNvGrpSpPr/>
          <p:nvPr/>
        </p:nvGrpSpPr>
        <p:grpSpPr>
          <a:xfrm rot="0">
            <a:off x="10986516" y="2537460"/>
            <a:ext cx="4594860" cy="713232"/>
            <a:chOff x="0" y="0"/>
            <a:chExt cx="6126480" cy="950976"/>
          </a:xfrm>
        </p:grpSpPr>
        <p:sp>
          <p:nvSpPr>
            <p:cNvPr name="Freeform 42" id="42"/>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43" id="43"/>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ON PUBLICA.ACADEMY</a:t>
              </a:r>
            </a:p>
          </p:txBody>
        </p:sp>
      </p:grpSp>
      <p:grpSp>
        <p:nvGrpSpPr>
          <p:cNvPr name="Group 44" id="44"/>
          <p:cNvGrpSpPr/>
          <p:nvPr/>
        </p:nvGrpSpPr>
        <p:grpSpPr>
          <a:xfrm rot="0">
            <a:off x="12773501" y="3686651"/>
            <a:ext cx="1020890" cy="1020890"/>
            <a:chOff x="0" y="0"/>
            <a:chExt cx="1361186" cy="1361186"/>
          </a:xfrm>
        </p:grpSpPr>
        <p:sp>
          <p:nvSpPr>
            <p:cNvPr name="Freeform 45" id="45"/>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46" id="46"/>
          <p:cNvGrpSpPr/>
          <p:nvPr/>
        </p:nvGrpSpPr>
        <p:grpSpPr>
          <a:xfrm rot="0">
            <a:off x="12790170" y="3703320"/>
            <a:ext cx="987552" cy="987552"/>
            <a:chOff x="0" y="0"/>
            <a:chExt cx="1316736" cy="1316736"/>
          </a:xfrm>
        </p:grpSpPr>
        <p:sp>
          <p:nvSpPr>
            <p:cNvPr name="Freeform 47" id="47"/>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48" id="48"/>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sp>
        <p:nvSpPr>
          <p:cNvPr name="TextBox 49" id="49"/>
          <p:cNvSpPr txBox="true"/>
          <p:nvPr/>
        </p:nvSpPr>
        <p:spPr>
          <a:xfrm rot="0">
            <a:off x="11397996" y="4920615"/>
            <a:ext cx="3771900" cy="2143125"/>
          </a:xfrm>
          <a:prstGeom prst="rect">
            <a:avLst/>
          </a:prstGeom>
        </p:spPr>
        <p:txBody>
          <a:bodyPr anchor="t" rtlCol="false" tIns="0" lIns="0" bIns="0" rIns="0">
            <a:spAutoFit/>
          </a:bodyPr>
          <a:lstStyle/>
          <a:p>
            <a:pPr algn="ctr">
              <a:lnSpc>
                <a:spcPts val="2925"/>
              </a:lnSpc>
            </a:pPr>
            <a:r>
              <a:rPr lang="en-US" sz="1875">
                <a:solidFill>
                  <a:srgbClr val="475569"/>
                </a:solidFill>
                <a:latin typeface="Poppins"/>
                <a:ea typeface="Poppins"/>
                <a:cs typeface="Poppins"/>
                <a:sym typeface="Poppins"/>
              </a:rPr>
              <a:t>Practice questions on Power Query step order and data types, plus the Module 7 mini project brief.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DAHTwEuRV0c</dc:identifier>
  <dcterms:modified xsi:type="dcterms:W3CDTF">2011-08-01T06:04:30Z</dcterms:modified>
  <cp:revision>1</cp:revision>
  <dc:title>7.1_The Power BI Environment and Data Loading</dc:title>
</cp:coreProperties>
</file>