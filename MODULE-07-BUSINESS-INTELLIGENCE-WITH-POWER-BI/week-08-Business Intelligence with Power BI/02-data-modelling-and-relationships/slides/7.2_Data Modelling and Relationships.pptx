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7"/>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Inter" charset="1" panose="02000503000000020004"/>
      <p:regular r:id="rId30"/>
    </p:embeddedFont>
    <p:embeddedFont>
      <p:font typeface="Inter Medium" charset="1" panose="02000503000000020004"/>
      <p:regular r:id="rId31"/>
    </p:embeddedFont>
    <p:embeddedFont>
      <p:font typeface="Poppins Bold" charset="1" panose="00000800000000000000"/>
      <p:regular r:id="rId32"/>
    </p:embeddedFont>
    <p:embeddedFont>
      <p:font typeface="Poppins" charset="1" panose="00000500000000000000"/>
      <p:regular r:id="rId34"/>
    </p:embeddedFont>
    <p:embeddedFont>
      <p:font typeface="Poppins Italics" charset="1" panose="00000500000000000000"/>
      <p:regular r:id="rId50"/>
    </p:embeddedFont>
    <p:embeddedFont>
      <p:font typeface="Roboto Mono Bold" charset="1" panose="00000000000000000000"/>
      <p:regular r:id="rId5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notesMasters/notesMaster1.xml" Type="http://schemas.openxmlformats.org/officeDocument/2006/relationships/notesMaster"/><Relationship Id="rId28" Target="theme/theme2.xml" Type="http://schemas.openxmlformats.org/officeDocument/2006/relationships/theme"/><Relationship Id="rId29" Target="notesSlides/notesSlide1.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notesSlides/notesSlide2.xml" Type="http://schemas.openxmlformats.org/officeDocument/2006/relationships/notesSlide"/><Relationship Id="rId34" Target="fonts/font34.fntdata" Type="http://schemas.openxmlformats.org/officeDocument/2006/relationships/font"/><Relationship Id="rId35" Target="notesSlides/notesSlide3.xml" Type="http://schemas.openxmlformats.org/officeDocument/2006/relationships/notesSlide"/><Relationship Id="rId36" Target="notesSlides/notesSlide4.xml" Type="http://schemas.openxmlformats.org/officeDocument/2006/relationships/notesSlide"/><Relationship Id="rId37" Target="notesSlides/notesSlide5.xml" Type="http://schemas.openxmlformats.org/officeDocument/2006/relationships/notesSlide"/><Relationship Id="rId38" Target="notesSlides/notesSlide6.xml" Type="http://schemas.openxmlformats.org/officeDocument/2006/relationships/notesSlide"/><Relationship Id="rId39" Target="notesSlides/notesSlide7.xml" Type="http://schemas.openxmlformats.org/officeDocument/2006/relationships/notesSlide"/><Relationship Id="rId4" Target="theme/theme1.xml" Type="http://schemas.openxmlformats.org/officeDocument/2006/relationships/theme"/><Relationship Id="rId40" Target="notesSlides/notesSlide8.xml" Type="http://schemas.openxmlformats.org/officeDocument/2006/relationships/notesSlide"/><Relationship Id="rId41" Target="notesSlides/notesSlide9.xml" Type="http://schemas.openxmlformats.org/officeDocument/2006/relationships/notesSlide"/><Relationship Id="rId42" Target="notesSlides/notesSlide10.xml" Type="http://schemas.openxmlformats.org/officeDocument/2006/relationships/notesSlide"/><Relationship Id="rId43" Target="notesSlides/notesSlide11.xml" Type="http://schemas.openxmlformats.org/officeDocument/2006/relationships/notesSlide"/><Relationship Id="rId44" Target="notesSlides/notesSlide12.xml" Type="http://schemas.openxmlformats.org/officeDocument/2006/relationships/notesSlide"/><Relationship Id="rId45" Target="notesSlides/notesSlide13.xml" Type="http://schemas.openxmlformats.org/officeDocument/2006/relationships/notesSlide"/><Relationship Id="rId46" Target="notesSlides/notesSlide14.xml" Type="http://schemas.openxmlformats.org/officeDocument/2006/relationships/notesSlide"/><Relationship Id="rId47" Target="notesSlides/notesSlide15.xml" Type="http://schemas.openxmlformats.org/officeDocument/2006/relationships/notesSlide"/><Relationship Id="rId48" Target="notesSlides/notesSlide16.xml" Type="http://schemas.openxmlformats.org/officeDocument/2006/relationships/notesSlide"/><Relationship Id="rId49" Target="notesSlides/notesSlide17.xml" Type="http://schemas.openxmlformats.org/officeDocument/2006/relationships/notesSlide"/><Relationship Id="rId5" Target="tableStyles.xml" Type="http://schemas.openxmlformats.org/officeDocument/2006/relationships/tableStyles"/><Relationship Id="rId50" Target="fonts/font50.fntdata" Type="http://schemas.openxmlformats.org/officeDocument/2006/relationships/font"/><Relationship Id="rId51" Target="notesSlides/notesSlide18.xml" Type="http://schemas.openxmlformats.org/officeDocument/2006/relationships/notesSlide"/><Relationship Id="rId52" Target="fonts/font52.fntdata" Type="http://schemas.openxmlformats.org/officeDocument/2006/relationships/font"/><Relationship Id="rId53" Target="notesSlides/notesSlide19.xml" Type="http://schemas.openxmlformats.org/officeDocument/2006/relationships/notesSlide"/><Relationship Id="rId54" Target="notesSlides/notesSlide20.xml" Type="http://schemas.openxmlformats.org/officeDocument/2006/relationships/notesSlide"/><Relationship Id="rId55" Target="notesSlides/notesSlide21.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jpe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2" Target="../notesSlides/notesSlide5.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notesSlides/notesSlide12.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2" Target="../notesSlides/notesSlide20.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1430000" y="0"/>
            <a:ext cx="2286000" cy="1907553"/>
            <a:chOff x="0" y="0"/>
            <a:chExt cx="3048000" cy="2543404"/>
          </a:xfrm>
        </p:grpSpPr>
        <p:sp>
          <p:nvSpPr>
            <p:cNvPr name="Freeform 4" id="4"/>
            <p:cNvSpPr/>
            <p:nvPr/>
          </p:nvSpPr>
          <p:spPr>
            <a:xfrm flipH="false" flipV="false" rot="0">
              <a:off x="0" y="0"/>
              <a:ext cx="3048000" cy="2543429"/>
            </a:xfrm>
            <a:custGeom>
              <a:avLst/>
              <a:gdLst/>
              <a:ahLst/>
              <a:cxnLst/>
              <a:rect r="r" b="b" t="t" l="l"/>
              <a:pathLst>
                <a:path h="2543429" w="3048000">
                  <a:moveTo>
                    <a:pt x="0" y="0"/>
                  </a:moveTo>
                  <a:lnTo>
                    <a:pt x="3048000" y="0"/>
                  </a:lnTo>
                  <a:lnTo>
                    <a:pt x="3048000" y="2543429"/>
                  </a:lnTo>
                  <a:lnTo>
                    <a:pt x="0" y="2543429"/>
                  </a:lnTo>
                  <a:lnTo>
                    <a:pt x="0" y="0"/>
                  </a:lnTo>
                  <a:close/>
                </a:path>
              </a:pathLst>
            </a:custGeom>
            <a:blipFill>
              <a:blip r:embed="rId4"/>
              <a:stretch>
                <a:fillRect l="0" t="0" r="-8" b="1"/>
              </a:stretch>
            </a:blipFill>
          </p:spPr>
        </p:sp>
      </p:grpSp>
      <p:grpSp>
        <p:nvGrpSpPr>
          <p:cNvPr name="Group 5" id="5"/>
          <p:cNvGrpSpPr/>
          <p:nvPr/>
        </p:nvGrpSpPr>
        <p:grpSpPr>
          <a:xfrm rot="0">
            <a:off x="15001875" y="714375"/>
            <a:ext cx="2857500" cy="2857500"/>
            <a:chOff x="0" y="0"/>
            <a:chExt cx="3810000" cy="3810000"/>
          </a:xfrm>
        </p:grpSpPr>
        <p:sp>
          <p:nvSpPr>
            <p:cNvPr name="Freeform 6" id="6"/>
            <p:cNvSpPr/>
            <p:nvPr/>
          </p:nvSpPr>
          <p:spPr>
            <a:xfrm flipH="false" flipV="false" rot="0">
              <a:off x="0" y="0"/>
              <a:ext cx="3810000" cy="3810000"/>
            </a:xfrm>
            <a:custGeom>
              <a:avLst/>
              <a:gdLst/>
              <a:ahLst/>
              <a:cxnLst/>
              <a:rect r="r" b="b" t="t" l="l"/>
              <a:pathLst>
                <a:path h="3810000" w="3810000">
                  <a:moveTo>
                    <a:pt x="0" y="1905000"/>
                  </a:moveTo>
                  <a:cubicBezTo>
                    <a:pt x="0" y="852932"/>
                    <a:pt x="852932" y="0"/>
                    <a:pt x="1905000" y="0"/>
                  </a:cubicBezTo>
                  <a:cubicBezTo>
                    <a:pt x="2957068" y="0"/>
                    <a:pt x="3810000" y="852932"/>
                    <a:pt x="3810000" y="1905000"/>
                  </a:cubicBezTo>
                  <a:cubicBezTo>
                    <a:pt x="3810000" y="2957068"/>
                    <a:pt x="2957068" y="3810000"/>
                    <a:pt x="1905000" y="3810000"/>
                  </a:cubicBezTo>
                  <a:cubicBezTo>
                    <a:pt x="852932" y="3810000"/>
                    <a:pt x="0" y="2957068"/>
                    <a:pt x="0" y="1905000"/>
                  </a:cubicBezTo>
                  <a:close/>
                </a:path>
              </a:pathLst>
            </a:custGeom>
            <a:solidFill>
              <a:srgbClr val="387F7F">
                <a:alpha val="0"/>
              </a:srgbClr>
            </a:solidFill>
          </p:spPr>
        </p:sp>
      </p:grpSp>
      <p:grpSp>
        <p:nvGrpSpPr>
          <p:cNvPr name="Group 7" id="7"/>
          <p:cNvGrpSpPr/>
          <p:nvPr/>
        </p:nvGrpSpPr>
        <p:grpSpPr>
          <a:xfrm rot="0">
            <a:off x="0" y="6429375"/>
            <a:ext cx="1907553" cy="1286104"/>
            <a:chOff x="0" y="0"/>
            <a:chExt cx="2543404" cy="1714805"/>
          </a:xfrm>
        </p:grpSpPr>
        <p:sp>
          <p:nvSpPr>
            <p:cNvPr name="Freeform 8" id="8"/>
            <p:cNvSpPr/>
            <p:nvPr/>
          </p:nvSpPr>
          <p:spPr>
            <a:xfrm flipH="false" flipV="false" rot="0">
              <a:off x="0" y="0"/>
              <a:ext cx="2543429" cy="1714754"/>
            </a:xfrm>
            <a:custGeom>
              <a:avLst/>
              <a:gdLst/>
              <a:ahLst/>
              <a:cxnLst/>
              <a:rect r="r" b="b" t="t" l="l"/>
              <a:pathLst>
                <a:path h="1714754" w="2543429">
                  <a:moveTo>
                    <a:pt x="0" y="0"/>
                  </a:moveTo>
                  <a:lnTo>
                    <a:pt x="2543429" y="0"/>
                  </a:lnTo>
                  <a:lnTo>
                    <a:pt x="2543429" y="1714754"/>
                  </a:lnTo>
                  <a:lnTo>
                    <a:pt x="0" y="1714754"/>
                  </a:lnTo>
                  <a:lnTo>
                    <a:pt x="0" y="0"/>
                  </a:lnTo>
                  <a:close/>
                </a:path>
              </a:pathLst>
            </a:custGeom>
            <a:blipFill>
              <a:blip r:embed="rId5"/>
              <a:stretch>
                <a:fillRect l="0" t="0" r="-7" b="-2"/>
              </a:stretch>
            </a:blipFill>
          </p:spPr>
        </p:sp>
      </p:grpSp>
      <p:grpSp>
        <p:nvGrpSpPr>
          <p:cNvPr name="Group 9" id="9"/>
          <p:cNvGrpSpPr/>
          <p:nvPr/>
        </p:nvGrpSpPr>
        <p:grpSpPr>
          <a:xfrm rot="0">
            <a:off x="1143000" y="2828906"/>
            <a:ext cx="16002000" cy="438950"/>
            <a:chOff x="0" y="0"/>
            <a:chExt cx="21336000" cy="585267"/>
          </a:xfrm>
        </p:grpSpPr>
        <p:sp>
          <p:nvSpPr>
            <p:cNvPr name="Freeform 10" id="10"/>
            <p:cNvSpPr/>
            <p:nvPr/>
          </p:nvSpPr>
          <p:spPr>
            <a:xfrm flipH="false" flipV="false" rot="0">
              <a:off x="0" y="0"/>
              <a:ext cx="21336000" cy="585270"/>
            </a:xfrm>
            <a:custGeom>
              <a:avLst/>
              <a:gdLst/>
              <a:ahLst/>
              <a:cxnLst/>
              <a:rect r="r" b="b" t="t" l="l"/>
              <a:pathLst>
                <a:path h="585270" w="21336000">
                  <a:moveTo>
                    <a:pt x="0" y="0"/>
                  </a:moveTo>
                  <a:lnTo>
                    <a:pt x="21336000" y="0"/>
                  </a:lnTo>
                  <a:lnTo>
                    <a:pt x="21336000" y="585270"/>
                  </a:lnTo>
                  <a:lnTo>
                    <a:pt x="0" y="585270"/>
                  </a:lnTo>
                  <a:close/>
                </a:path>
              </a:pathLst>
            </a:custGeom>
            <a:blipFill>
              <a:blip r:embed="rId6">
                <a:alphaModFix amt="0"/>
              </a:blip>
              <a:stretch>
                <a:fillRect l="0" t="-673523" r="0" b="-647129"/>
              </a:stretch>
            </a:blipFill>
          </p:spPr>
        </p:sp>
        <p:sp>
          <p:nvSpPr>
            <p:cNvPr name="TextBox 11" id="11"/>
            <p:cNvSpPr txBox="true"/>
            <p:nvPr/>
          </p:nvSpPr>
          <p:spPr>
            <a:xfrm>
              <a:off x="0" y="0"/>
              <a:ext cx="21336000" cy="585267"/>
            </a:xfrm>
            <a:prstGeom prst="rect">
              <a:avLst/>
            </a:prstGeom>
          </p:spPr>
          <p:txBody>
            <a:bodyPr anchor="ctr" rtlCol="false" tIns="0" lIns="0" bIns="0" rIns="0"/>
            <a:lstStyle/>
            <a:p>
              <a:pPr algn="l">
                <a:lnSpc>
                  <a:spcPts val="2520"/>
                </a:lnSpc>
              </a:pPr>
              <a:r>
                <a:rPr lang="en-US" sz="2100">
                  <a:solidFill>
                    <a:srgbClr val="387F7F"/>
                  </a:solidFill>
                  <a:latin typeface="Inter"/>
                  <a:ea typeface="Inter"/>
                  <a:cs typeface="Inter"/>
                  <a:sym typeface="Inter"/>
                </a:rPr>
                <a:t>BU</a:t>
              </a:r>
              <a:r>
                <a:rPr lang="en-US" sz="2100">
                  <a:solidFill>
                    <a:srgbClr val="387F7F"/>
                  </a:solidFill>
                  <a:latin typeface="Inter"/>
                  <a:ea typeface="Inter"/>
                  <a:cs typeface="Inter"/>
                  <a:sym typeface="Inter"/>
                </a:rPr>
                <a:t>SINESS INTELLIGENCE WITH POWER BI</a:t>
              </a:r>
            </a:p>
          </p:txBody>
        </p:sp>
      </p:grpSp>
      <p:grpSp>
        <p:nvGrpSpPr>
          <p:cNvPr name="Group 12" id="12"/>
          <p:cNvGrpSpPr/>
          <p:nvPr/>
        </p:nvGrpSpPr>
        <p:grpSpPr>
          <a:xfrm rot="0">
            <a:off x="1143000" y="3349571"/>
            <a:ext cx="16002000" cy="691139"/>
            <a:chOff x="0" y="0"/>
            <a:chExt cx="21336000" cy="921519"/>
          </a:xfrm>
        </p:grpSpPr>
        <p:sp>
          <p:nvSpPr>
            <p:cNvPr name="Freeform 13" id="13"/>
            <p:cNvSpPr/>
            <p:nvPr/>
          </p:nvSpPr>
          <p:spPr>
            <a:xfrm flipH="false" flipV="false" rot="0">
              <a:off x="0" y="0"/>
              <a:ext cx="21336000" cy="921512"/>
            </a:xfrm>
            <a:custGeom>
              <a:avLst/>
              <a:gdLst/>
              <a:ahLst/>
              <a:cxnLst/>
              <a:rect r="r" b="b" t="t" l="l"/>
              <a:pathLst>
                <a:path h="921512" w="21336000">
                  <a:moveTo>
                    <a:pt x="0" y="0"/>
                  </a:moveTo>
                  <a:lnTo>
                    <a:pt x="21336000" y="0"/>
                  </a:lnTo>
                  <a:lnTo>
                    <a:pt x="21336000" y="921512"/>
                  </a:lnTo>
                  <a:lnTo>
                    <a:pt x="0" y="921512"/>
                  </a:lnTo>
                  <a:close/>
                </a:path>
              </a:pathLst>
            </a:custGeom>
            <a:blipFill>
              <a:blip r:embed="rId6">
                <a:alphaModFix amt="0"/>
              </a:blip>
              <a:stretch>
                <a:fillRect l="0" t="-414387" r="0" b="-387897"/>
              </a:stretch>
            </a:blipFill>
          </p:spPr>
        </p:sp>
        <p:sp>
          <p:nvSpPr>
            <p:cNvPr name="TextBox 14" id="14"/>
            <p:cNvSpPr txBox="true"/>
            <p:nvPr/>
          </p:nvSpPr>
          <p:spPr>
            <a:xfrm>
              <a:off x="0" y="-9525"/>
              <a:ext cx="21336000" cy="931044"/>
            </a:xfrm>
            <a:prstGeom prst="rect">
              <a:avLst/>
            </a:prstGeom>
          </p:spPr>
          <p:txBody>
            <a:bodyPr anchor="ctr" rtlCol="false" tIns="0" lIns="0" bIns="0" rIns="0"/>
            <a:lstStyle/>
            <a:p>
              <a:pPr algn="l">
                <a:lnSpc>
                  <a:spcPts val="3960"/>
                </a:lnSpc>
              </a:pPr>
              <a:r>
                <a:rPr lang="en-US" b="true" sz="3300">
                  <a:solidFill>
                    <a:srgbClr val="64748B"/>
                  </a:solidFill>
                  <a:latin typeface="Inter Medium"/>
                  <a:ea typeface="Inter Medium"/>
                  <a:cs typeface="Inter Medium"/>
                  <a:sym typeface="Inter Medium"/>
                </a:rPr>
                <a:t>Module 7: Loading, Modelling and Dashboards</a:t>
              </a:r>
            </a:p>
          </p:txBody>
        </p:sp>
      </p:grpSp>
      <p:grpSp>
        <p:nvGrpSpPr>
          <p:cNvPr name="Group 15" id="15"/>
          <p:cNvGrpSpPr/>
          <p:nvPr/>
        </p:nvGrpSpPr>
        <p:grpSpPr>
          <a:xfrm rot="0">
            <a:off x="1143000" y="8572500"/>
            <a:ext cx="16002000" cy="28804"/>
            <a:chOff x="0" y="0"/>
            <a:chExt cx="21336000" cy="38405"/>
          </a:xfrm>
        </p:grpSpPr>
        <p:sp>
          <p:nvSpPr>
            <p:cNvPr name="Freeform 16" id="16"/>
            <p:cNvSpPr/>
            <p:nvPr/>
          </p:nvSpPr>
          <p:spPr>
            <a:xfrm flipH="false" flipV="false" rot="0">
              <a:off x="0" y="0"/>
              <a:ext cx="21336000" cy="38354"/>
            </a:xfrm>
            <a:custGeom>
              <a:avLst/>
              <a:gdLst/>
              <a:ahLst/>
              <a:cxnLst/>
              <a:rect r="r" b="b" t="t" l="l"/>
              <a:pathLst>
                <a:path h="38354" w="21336000">
                  <a:moveTo>
                    <a:pt x="0" y="0"/>
                  </a:moveTo>
                  <a:lnTo>
                    <a:pt x="21336000" y="0"/>
                  </a:lnTo>
                  <a:lnTo>
                    <a:pt x="21336000" y="38354"/>
                  </a:lnTo>
                  <a:lnTo>
                    <a:pt x="0" y="38354"/>
                  </a:lnTo>
                  <a:close/>
                </a:path>
              </a:pathLst>
            </a:custGeom>
            <a:solidFill>
              <a:srgbClr val="E2E8F0"/>
            </a:solidFill>
          </p:spPr>
        </p:sp>
      </p:grpSp>
      <p:grpSp>
        <p:nvGrpSpPr>
          <p:cNvPr name="Group 17" id="17"/>
          <p:cNvGrpSpPr/>
          <p:nvPr/>
        </p:nvGrpSpPr>
        <p:grpSpPr>
          <a:xfrm rot="0">
            <a:off x="1143000" y="9001125"/>
            <a:ext cx="385648" cy="342900"/>
            <a:chOff x="0" y="0"/>
            <a:chExt cx="514198" cy="457200"/>
          </a:xfrm>
        </p:grpSpPr>
        <p:sp>
          <p:nvSpPr>
            <p:cNvPr name="Freeform 18" id="18"/>
            <p:cNvSpPr/>
            <p:nvPr/>
          </p:nvSpPr>
          <p:spPr>
            <a:xfrm flipH="false" flipV="false" rot="0">
              <a:off x="0" y="0"/>
              <a:ext cx="514223" cy="457200"/>
            </a:xfrm>
            <a:custGeom>
              <a:avLst/>
              <a:gdLst/>
              <a:ahLst/>
              <a:cxnLst/>
              <a:rect r="r" b="b" t="t" l="l"/>
              <a:pathLst>
                <a:path h="457200" w="514223">
                  <a:moveTo>
                    <a:pt x="0" y="0"/>
                  </a:moveTo>
                  <a:lnTo>
                    <a:pt x="514223" y="0"/>
                  </a:lnTo>
                  <a:lnTo>
                    <a:pt x="514223" y="457200"/>
                  </a:lnTo>
                  <a:lnTo>
                    <a:pt x="0" y="457200"/>
                  </a:lnTo>
                  <a:lnTo>
                    <a:pt x="0" y="0"/>
                  </a:lnTo>
                  <a:close/>
                </a:path>
              </a:pathLst>
            </a:custGeom>
            <a:blipFill>
              <a:blip r:embed="rId7"/>
              <a:stretch>
                <a:fillRect l="0" t="0" r="-24" b="0"/>
              </a:stretch>
            </a:blipFill>
          </p:spPr>
        </p:sp>
      </p:grpSp>
      <p:grpSp>
        <p:nvGrpSpPr>
          <p:cNvPr name="Group 19" id="19"/>
          <p:cNvGrpSpPr/>
          <p:nvPr/>
        </p:nvGrpSpPr>
        <p:grpSpPr>
          <a:xfrm rot="0">
            <a:off x="1643062" y="9001125"/>
            <a:ext cx="2143354" cy="438950"/>
            <a:chOff x="0" y="0"/>
            <a:chExt cx="2857805" cy="585267"/>
          </a:xfrm>
        </p:grpSpPr>
        <p:sp>
          <p:nvSpPr>
            <p:cNvPr name="Freeform 20" id="20"/>
            <p:cNvSpPr/>
            <p:nvPr/>
          </p:nvSpPr>
          <p:spPr>
            <a:xfrm flipH="false" flipV="false" rot="0">
              <a:off x="0" y="0"/>
              <a:ext cx="2857800" cy="585270"/>
            </a:xfrm>
            <a:custGeom>
              <a:avLst/>
              <a:gdLst/>
              <a:ahLst/>
              <a:cxnLst/>
              <a:rect r="r" b="b" t="t" l="l"/>
              <a:pathLst>
                <a:path h="585270" w="2857800">
                  <a:moveTo>
                    <a:pt x="0" y="0"/>
                  </a:moveTo>
                  <a:lnTo>
                    <a:pt x="2857800" y="0"/>
                  </a:lnTo>
                  <a:lnTo>
                    <a:pt x="2857800" y="585270"/>
                  </a:lnTo>
                  <a:lnTo>
                    <a:pt x="0" y="585270"/>
                  </a:lnTo>
                  <a:close/>
                </a:path>
              </a:pathLst>
            </a:custGeom>
            <a:blipFill>
              <a:blip r:embed="rId6">
                <a:alphaModFix amt="0"/>
              </a:blip>
              <a:stretch>
                <a:fillRect l="0" t="-58339" r="0" b="-31946"/>
              </a:stretch>
            </a:blipFill>
          </p:spPr>
        </p:sp>
        <p:sp>
          <p:nvSpPr>
            <p:cNvPr name="TextBox 21" id="21"/>
            <p:cNvSpPr txBox="true"/>
            <p:nvPr/>
          </p:nvSpPr>
          <p:spPr>
            <a:xfrm>
              <a:off x="0" y="0"/>
              <a:ext cx="2857805" cy="585267"/>
            </a:xfrm>
            <a:prstGeom prst="rect">
              <a:avLst/>
            </a:prstGeom>
          </p:spPr>
          <p:txBody>
            <a:bodyPr anchor="ctr" rtlCol="false" tIns="0" lIns="0" bIns="0" rIns="0"/>
            <a:lstStyle/>
            <a:p>
              <a:pPr algn="l">
                <a:lnSpc>
                  <a:spcPts val="2520"/>
                </a:lnSpc>
              </a:pPr>
              <a:r>
                <a:rPr lang="en-US" sz="2100">
                  <a:solidFill>
                    <a:srgbClr val="64748B"/>
                  </a:solidFill>
                  <a:latin typeface="Inter"/>
                  <a:ea typeface="Inter"/>
                  <a:cs typeface="Inter"/>
                  <a:sym typeface="Inter"/>
                </a:rPr>
                <a:t>Topic 2 of 6</a:t>
              </a:r>
            </a:p>
          </p:txBody>
        </p:sp>
      </p:grpSp>
      <p:sp>
        <p:nvSpPr>
          <p:cNvPr name="Freeform 22" id="22"/>
          <p:cNvSpPr/>
          <p:nvPr/>
        </p:nvSpPr>
        <p:spPr>
          <a:xfrm flipH="false" flipV="false" rot="0">
            <a:off x="1143000" y="552450"/>
            <a:ext cx="2124669" cy="1845806"/>
          </a:xfrm>
          <a:custGeom>
            <a:avLst/>
            <a:gdLst/>
            <a:ahLst/>
            <a:cxnLst/>
            <a:rect r="r" b="b" t="t" l="l"/>
            <a:pathLst>
              <a:path h="1845806" w="2124669">
                <a:moveTo>
                  <a:pt x="0" y="0"/>
                </a:moveTo>
                <a:lnTo>
                  <a:pt x="2124669" y="0"/>
                </a:lnTo>
                <a:lnTo>
                  <a:pt x="2124669" y="1845806"/>
                </a:lnTo>
                <a:lnTo>
                  <a:pt x="0" y="1845806"/>
                </a:lnTo>
                <a:lnTo>
                  <a:pt x="0" y="0"/>
                </a:lnTo>
                <a:close/>
              </a:path>
            </a:pathLst>
          </a:custGeom>
          <a:blipFill>
            <a:blip r:embed="rId8"/>
            <a:stretch>
              <a:fillRect l="0" t="0" r="0" b="0"/>
            </a:stretch>
          </a:blipFill>
        </p:spPr>
      </p:sp>
      <p:grpSp>
        <p:nvGrpSpPr>
          <p:cNvPr name="Group 23" id="23"/>
          <p:cNvGrpSpPr/>
          <p:nvPr/>
        </p:nvGrpSpPr>
        <p:grpSpPr>
          <a:xfrm rot="0">
            <a:off x="11001070" y="1733550"/>
            <a:ext cx="6258230" cy="6258230"/>
            <a:chOff x="0" y="0"/>
            <a:chExt cx="8890000" cy="8890000"/>
          </a:xfrm>
        </p:grpSpPr>
        <p:sp>
          <p:nvSpPr>
            <p:cNvPr name="Freeform 24" id="24"/>
            <p:cNvSpPr/>
            <p:nvPr/>
          </p:nvSpPr>
          <p:spPr>
            <a:xfrm flipH="false" flipV="false" rot="0">
              <a:off x="0" y="0"/>
              <a:ext cx="8890000" cy="8890000"/>
            </a:xfrm>
            <a:custGeom>
              <a:avLst/>
              <a:gdLst/>
              <a:ahLst/>
              <a:cxnLst/>
              <a:rect r="r" b="b" t="t" l="l"/>
              <a:pathLst>
                <a:path h="8890000" w="8890000">
                  <a:moveTo>
                    <a:pt x="270611" y="0"/>
                  </a:moveTo>
                  <a:lnTo>
                    <a:pt x="8619389" y="0"/>
                  </a:lnTo>
                  <a:cubicBezTo>
                    <a:pt x="8768843" y="0"/>
                    <a:pt x="8890000" y="121157"/>
                    <a:pt x="8890000" y="270611"/>
                  </a:cubicBezTo>
                  <a:lnTo>
                    <a:pt x="8890000" y="8619389"/>
                  </a:lnTo>
                  <a:cubicBezTo>
                    <a:pt x="8890000" y="8768843"/>
                    <a:pt x="8768843" y="8890000"/>
                    <a:pt x="8619389" y="8890000"/>
                  </a:cubicBezTo>
                  <a:lnTo>
                    <a:pt x="270611" y="8890000"/>
                  </a:lnTo>
                  <a:cubicBezTo>
                    <a:pt x="121157" y="8890000"/>
                    <a:pt x="0" y="8768843"/>
                    <a:pt x="0" y="8619389"/>
                  </a:cubicBezTo>
                  <a:lnTo>
                    <a:pt x="0" y="270611"/>
                  </a:lnTo>
                  <a:cubicBezTo>
                    <a:pt x="0" y="121157"/>
                    <a:pt x="121157" y="0"/>
                    <a:pt x="270611" y="0"/>
                  </a:cubicBezTo>
                  <a:close/>
                </a:path>
              </a:pathLst>
            </a:custGeom>
            <a:blipFill>
              <a:blip r:embed="rId9"/>
              <a:stretch>
                <a:fillRect l="0" t="0" r="0" b="0"/>
              </a:stretch>
            </a:blipFill>
          </p:spPr>
        </p:sp>
      </p:grpSp>
      <p:grpSp>
        <p:nvGrpSpPr>
          <p:cNvPr name="Group 25" id="25"/>
          <p:cNvGrpSpPr/>
          <p:nvPr/>
        </p:nvGrpSpPr>
        <p:grpSpPr>
          <a:xfrm rot="0">
            <a:off x="16497824" y="8924125"/>
            <a:ext cx="647224" cy="571500"/>
            <a:chOff x="0" y="0"/>
            <a:chExt cx="862965" cy="762000"/>
          </a:xfrm>
        </p:grpSpPr>
        <p:sp>
          <p:nvSpPr>
            <p:cNvPr name="Freeform 26" id="26"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10"/>
              <a:stretch>
                <a:fillRect l="-772" t="0" r="-772" b="0"/>
              </a:stretch>
            </a:blipFill>
          </p:spPr>
        </p:sp>
      </p:grpSp>
      <p:sp>
        <p:nvSpPr>
          <p:cNvPr name="TextBox 27" id="27"/>
          <p:cNvSpPr txBox="true"/>
          <p:nvPr/>
        </p:nvSpPr>
        <p:spPr>
          <a:xfrm rot="0">
            <a:off x="1143000" y="4125754"/>
            <a:ext cx="9174956" cy="2541268"/>
          </a:xfrm>
          <a:prstGeom prst="rect">
            <a:avLst/>
          </a:prstGeom>
        </p:spPr>
        <p:txBody>
          <a:bodyPr anchor="t" rtlCol="false" tIns="0" lIns="0" bIns="0" rIns="0">
            <a:spAutoFit/>
          </a:bodyPr>
          <a:lstStyle/>
          <a:p>
            <a:pPr algn="l">
              <a:lnSpc>
                <a:spcPts val="9750"/>
              </a:lnSpc>
            </a:pPr>
            <a:r>
              <a:rPr lang="en-US" sz="7800" b="true">
                <a:solidFill>
                  <a:srgbClr val="000000"/>
                </a:solidFill>
                <a:latin typeface="Poppins Bold"/>
                <a:ea typeface="Poppins Bold"/>
                <a:cs typeface="Poppins Bold"/>
                <a:sym typeface="Poppins Bold"/>
              </a:rPr>
              <a:t>Data Mod</a:t>
            </a:r>
            <a:r>
              <a:rPr lang="en-US" b="true" sz="7800">
                <a:solidFill>
                  <a:srgbClr val="000000"/>
                </a:solidFill>
                <a:latin typeface="Poppins Bold"/>
                <a:ea typeface="Poppins Bold"/>
                <a:cs typeface="Poppins Bold"/>
                <a:sym typeface="Poppins Bold"/>
              </a:rPr>
              <a:t>elling</a:t>
            </a:r>
          </a:p>
          <a:p>
            <a:pPr algn="l">
              <a:lnSpc>
                <a:spcPts val="9750"/>
              </a:lnSpc>
            </a:pPr>
            <a:r>
              <a:rPr lang="en-US" b="true" sz="7800">
                <a:solidFill>
                  <a:srgbClr val="387F7F"/>
                </a:solidFill>
                <a:latin typeface="Poppins Bold"/>
                <a:ea typeface="Poppins Bold"/>
                <a:cs typeface="Poppins Bold"/>
                <a:sym typeface="Poppins Bold"/>
              </a:rPr>
              <a:t>and Relationships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2973150"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By th</a:t>
            </a:r>
            <a:r>
              <a:rPr lang="en-US" sz="5000">
                <a:solidFill>
                  <a:srgbClr val="388080"/>
                </a:solidFill>
                <a:latin typeface="Poppins"/>
                <a:ea typeface="Poppins"/>
                <a:cs typeface="Poppins"/>
                <a:sym typeface="Poppins"/>
              </a:rPr>
              <a:t>e end of this topic, the trainee can…</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885825" y="2938091"/>
            <a:ext cx="7063740" cy="4800600"/>
            <a:chOff x="0" y="0"/>
            <a:chExt cx="9418320" cy="6400800"/>
          </a:xfrm>
        </p:grpSpPr>
        <p:sp>
          <p:nvSpPr>
            <p:cNvPr name="Freeform 12" id="12"/>
            <p:cNvSpPr/>
            <p:nvPr/>
          </p:nvSpPr>
          <p:spPr>
            <a:xfrm flipH="false" flipV="false" rot="0">
              <a:off x="0" y="0"/>
              <a:ext cx="9418320" cy="6400800"/>
            </a:xfrm>
            <a:custGeom>
              <a:avLst/>
              <a:gdLst/>
              <a:ahLst/>
              <a:cxnLst/>
              <a:rect r="r" b="b" t="t" l="l"/>
              <a:pathLst>
                <a:path h="6400800" w="9418320">
                  <a:moveTo>
                    <a:pt x="0" y="182880"/>
                  </a:moveTo>
                  <a:cubicBezTo>
                    <a:pt x="0" y="81915"/>
                    <a:pt x="81915" y="0"/>
                    <a:pt x="182880" y="0"/>
                  </a:cubicBezTo>
                  <a:lnTo>
                    <a:pt x="9235440" y="0"/>
                  </a:lnTo>
                  <a:cubicBezTo>
                    <a:pt x="9336405" y="0"/>
                    <a:pt x="9418320" y="81915"/>
                    <a:pt x="9418320" y="182880"/>
                  </a:cubicBezTo>
                  <a:lnTo>
                    <a:pt x="9418320" y="6217920"/>
                  </a:lnTo>
                  <a:cubicBezTo>
                    <a:pt x="9418320" y="6318885"/>
                    <a:pt x="9336405" y="6400800"/>
                    <a:pt x="9235440" y="6400800"/>
                  </a:cubicBezTo>
                  <a:lnTo>
                    <a:pt x="182880" y="6400800"/>
                  </a:lnTo>
                  <a:cubicBezTo>
                    <a:pt x="81915" y="6400800"/>
                    <a:pt x="0" y="6318885"/>
                    <a:pt x="0" y="6217920"/>
                  </a:cubicBezTo>
                  <a:close/>
                </a:path>
              </a:pathLst>
            </a:custGeom>
            <a:solidFill>
              <a:srgbClr val="FFFFFF"/>
            </a:solidFill>
          </p:spPr>
        </p:sp>
      </p:grpSp>
      <p:grpSp>
        <p:nvGrpSpPr>
          <p:cNvPr name="Group 13" id="13"/>
          <p:cNvGrpSpPr/>
          <p:nvPr/>
        </p:nvGrpSpPr>
        <p:grpSpPr>
          <a:xfrm rot="0">
            <a:off x="885825" y="2938091"/>
            <a:ext cx="7063740" cy="123444"/>
            <a:chOff x="0" y="0"/>
            <a:chExt cx="9418320" cy="164592"/>
          </a:xfrm>
        </p:grpSpPr>
        <p:sp>
          <p:nvSpPr>
            <p:cNvPr name="Freeform 14" id="14"/>
            <p:cNvSpPr/>
            <p:nvPr/>
          </p:nvSpPr>
          <p:spPr>
            <a:xfrm flipH="false" flipV="false" rot="0">
              <a:off x="0" y="0"/>
              <a:ext cx="9418320" cy="164592"/>
            </a:xfrm>
            <a:custGeom>
              <a:avLst/>
              <a:gdLst/>
              <a:ahLst/>
              <a:cxnLst/>
              <a:rect r="r" b="b" t="t" l="l"/>
              <a:pathLst>
                <a:path h="164592" w="9418320">
                  <a:moveTo>
                    <a:pt x="0" y="0"/>
                  </a:moveTo>
                  <a:lnTo>
                    <a:pt x="9418320" y="0"/>
                  </a:lnTo>
                  <a:lnTo>
                    <a:pt x="9418320" y="164592"/>
                  </a:lnTo>
                  <a:lnTo>
                    <a:pt x="0" y="164592"/>
                  </a:lnTo>
                  <a:close/>
                </a:path>
              </a:pathLst>
            </a:custGeom>
            <a:solidFill>
              <a:srgbClr val="387F7F"/>
            </a:solidFill>
          </p:spPr>
        </p:sp>
      </p:grpSp>
      <p:grpSp>
        <p:nvGrpSpPr>
          <p:cNvPr name="Group 15" id="15"/>
          <p:cNvGrpSpPr/>
          <p:nvPr/>
        </p:nvGrpSpPr>
        <p:grpSpPr>
          <a:xfrm rot="0">
            <a:off x="1461897" y="3692471"/>
            <a:ext cx="1069848" cy="1069848"/>
            <a:chOff x="0" y="0"/>
            <a:chExt cx="1426464" cy="1426464"/>
          </a:xfrm>
        </p:grpSpPr>
        <p:sp>
          <p:nvSpPr>
            <p:cNvPr name="Freeform 16" id="16"/>
            <p:cNvSpPr/>
            <p:nvPr/>
          </p:nvSpPr>
          <p:spPr>
            <a:xfrm flipH="false" flipV="false" rot="0">
              <a:off x="0" y="0"/>
              <a:ext cx="1426464" cy="1426464"/>
            </a:xfrm>
            <a:custGeom>
              <a:avLst/>
              <a:gdLst/>
              <a:ahLst/>
              <a:cxnLst/>
              <a:rect r="r" b="b" t="t" l="l"/>
              <a:pathLst>
                <a:path h="1426464" w="1426464">
                  <a:moveTo>
                    <a:pt x="0" y="713232"/>
                  </a:moveTo>
                  <a:cubicBezTo>
                    <a:pt x="0" y="319278"/>
                    <a:pt x="319278" y="0"/>
                    <a:pt x="713232" y="0"/>
                  </a:cubicBezTo>
                  <a:cubicBezTo>
                    <a:pt x="1107186" y="0"/>
                    <a:pt x="1426464" y="319278"/>
                    <a:pt x="1426464" y="713232"/>
                  </a:cubicBezTo>
                  <a:cubicBezTo>
                    <a:pt x="1426464" y="1107186"/>
                    <a:pt x="1107186" y="1426464"/>
                    <a:pt x="713232" y="1426464"/>
                  </a:cubicBezTo>
                  <a:cubicBezTo>
                    <a:pt x="319278" y="1426464"/>
                    <a:pt x="0" y="1107186"/>
                    <a:pt x="0" y="713232"/>
                  </a:cubicBezTo>
                  <a:close/>
                </a:path>
              </a:pathLst>
            </a:custGeom>
            <a:solidFill>
              <a:srgbClr val="387F7F"/>
            </a:solidFill>
          </p:spPr>
        </p:sp>
      </p:grpSp>
      <p:grpSp>
        <p:nvGrpSpPr>
          <p:cNvPr name="Group 17" id="17"/>
          <p:cNvGrpSpPr/>
          <p:nvPr/>
        </p:nvGrpSpPr>
        <p:grpSpPr>
          <a:xfrm rot="0">
            <a:off x="1461897" y="3692471"/>
            <a:ext cx="1069848" cy="1069848"/>
            <a:chOff x="0" y="0"/>
            <a:chExt cx="1426464" cy="1426464"/>
          </a:xfrm>
        </p:grpSpPr>
        <p:sp>
          <p:nvSpPr>
            <p:cNvPr name="Freeform 18" id="18"/>
            <p:cNvSpPr/>
            <p:nvPr/>
          </p:nvSpPr>
          <p:spPr>
            <a:xfrm flipH="false" flipV="false" rot="0">
              <a:off x="0" y="0"/>
              <a:ext cx="1426464" cy="1426464"/>
            </a:xfrm>
            <a:custGeom>
              <a:avLst/>
              <a:gdLst/>
              <a:ahLst/>
              <a:cxnLst/>
              <a:rect r="r" b="b" t="t" l="l"/>
              <a:pathLst>
                <a:path h="1426464" w="1426464">
                  <a:moveTo>
                    <a:pt x="0" y="0"/>
                  </a:moveTo>
                  <a:lnTo>
                    <a:pt x="1426464" y="0"/>
                  </a:lnTo>
                  <a:lnTo>
                    <a:pt x="1426464" y="1426464"/>
                  </a:lnTo>
                  <a:lnTo>
                    <a:pt x="0" y="1426464"/>
                  </a:lnTo>
                  <a:close/>
                </a:path>
              </a:pathLst>
            </a:custGeom>
            <a:blipFill>
              <a:blip r:embed="rId9">
                <a:alphaModFix amt="0"/>
              </a:blip>
              <a:stretch>
                <a:fillRect l="-78303" t="0" r="-78303" b="0"/>
              </a:stretch>
            </a:blipFill>
          </p:spPr>
        </p:sp>
        <p:sp>
          <p:nvSpPr>
            <p:cNvPr name="TextBox 19" id="19"/>
            <p:cNvSpPr txBox="true"/>
            <p:nvPr/>
          </p:nvSpPr>
          <p:spPr>
            <a:xfrm>
              <a:off x="0" y="-38100"/>
              <a:ext cx="1426464" cy="1464564"/>
            </a:xfrm>
            <a:prstGeom prst="rect">
              <a:avLst/>
            </a:prstGeom>
          </p:spPr>
          <p:txBody>
            <a:bodyPr anchor="ctr" rtlCol="false" tIns="0" lIns="0" bIns="0" rIns="0"/>
            <a:lstStyle/>
            <a:p>
              <a:pPr algn="ctr">
                <a:lnSpc>
                  <a:spcPts val="4680"/>
                </a:lnSpc>
              </a:pPr>
              <a:r>
                <a:rPr lang="en-US" sz="3900" b="true">
                  <a:solidFill>
                    <a:srgbClr val="FFFFFF"/>
                  </a:solidFill>
                  <a:latin typeface="Poppins Bold"/>
                  <a:ea typeface="Poppins Bold"/>
                  <a:cs typeface="Poppins Bold"/>
                  <a:sym typeface="Poppins Bold"/>
                </a:rPr>
                <a:t>◇</a:t>
              </a:r>
            </a:p>
          </p:txBody>
        </p:sp>
      </p:grpSp>
      <p:grpSp>
        <p:nvGrpSpPr>
          <p:cNvPr name="Group 20" id="20"/>
          <p:cNvGrpSpPr/>
          <p:nvPr/>
        </p:nvGrpSpPr>
        <p:grpSpPr>
          <a:xfrm rot="0">
            <a:off x="1461897" y="5064071"/>
            <a:ext cx="5911596" cy="685800"/>
            <a:chOff x="0" y="0"/>
            <a:chExt cx="7882128" cy="914400"/>
          </a:xfrm>
        </p:grpSpPr>
        <p:sp>
          <p:nvSpPr>
            <p:cNvPr name="Freeform 21" id="21"/>
            <p:cNvSpPr/>
            <p:nvPr/>
          </p:nvSpPr>
          <p:spPr>
            <a:xfrm flipH="false" flipV="false" rot="0">
              <a:off x="0" y="0"/>
              <a:ext cx="7882128" cy="914400"/>
            </a:xfrm>
            <a:custGeom>
              <a:avLst/>
              <a:gdLst/>
              <a:ahLst/>
              <a:cxnLst/>
              <a:rect r="r" b="b" t="t" l="l"/>
              <a:pathLst>
                <a:path h="914400" w="7882128">
                  <a:moveTo>
                    <a:pt x="0" y="0"/>
                  </a:moveTo>
                  <a:lnTo>
                    <a:pt x="7882128" y="0"/>
                  </a:lnTo>
                  <a:lnTo>
                    <a:pt x="7882128" y="914400"/>
                  </a:lnTo>
                  <a:lnTo>
                    <a:pt x="0" y="914400"/>
                  </a:lnTo>
                  <a:close/>
                </a:path>
              </a:pathLst>
            </a:custGeom>
            <a:blipFill>
              <a:blip r:embed="rId9">
                <a:alphaModFix amt="0"/>
              </a:blip>
              <a:stretch>
                <a:fillRect l="0" t="-117961" r="0" b="-117961"/>
              </a:stretch>
            </a:blipFill>
          </p:spPr>
        </p:sp>
        <p:sp>
          <p:nvSpPr>
            <p:cNvPr name="TextBox 22" id="22"/>
            <p:cNvSpPr txBox="true"/>
            <p:nvPr/>
          </p:nvSpPr>
          <p:spPr>
            <a:xfrm>
              <a:off x="0" y="-28575"/>
              <a:ext cx="7882128" cy="942975"/>
            </a:xfrm>
            <a:prstGeom prst="rect">
              <a:avLst/>
            </a:prstGeom>
          </p:spPr>
          <p:txBody>
            <a:bodyPr anchor="ctr" rtlCol="false" tIns="0" lIns="0" bIns="0" rIns="0"/>
            <a:lstStyle/>
            <a:p>
              <a:pPr algn="l">
                <a:lnSpc>
                  <a:spcPts val="4140"/>
                </a:lnSpc>
              </a:pPr>
              <a:r>
                <a:rPr lang="en-US" sz="3450" b="true">
                  <a:solidFill>
                    <a:srgbClr val="387F7F"/>
                  </a:solidFill>
                  <a:latin typeface="Poppins Bold"/>
                  <a:ea typeface="Poppins Bold"/>
                  <a:cs typeface="Poppins Bold"/>
                  <a:sym typeface="Poppins Bold"/>
                </a:rPr>
                <a:t>Build</a:t>
              </a:r>
            </a:p>
          </p:txBody>
        </p:sp>
      </p:grpSp>
      <p:sp>
        <p:nvSpPr>
          <p:cNvPr name="TextBox 23" id="23"/>
          <p:cNvSpPr txBox="true"/>
          <p:nvPr/>
        </p:nvSpPr>
        <p:spPr>
          <a:xfrm rot="0">
            <a:off x="1461897" y="5731583"/>
            <a:ext cx="5911596" cy="1760220"/>
          </a:xfrm>
          <a:prstGeom prst="rect">
            <a:avLst/>
          </a:prstGeom>
        </p:spPr>
        <p:txBody>
          <a:bodyPr anchor="t" rtlCol="false" tIns="0" lIns="0" bIns="0" rIns="0">
            <a:spAutoFit/>
          </a:bodyPr>
          <a:lstStyle/>
          <a:p>
            <a:pPr algn="l">
              <a:lnSpc>
                <a:spcPts val="3645"/>
              </a:lnSpc>
            </a:pPr>
            <a:r>
              <a:rPr lang="en-US" sz="2250">
                <a:solidFill>
                  <a:srgbClr val="475569"/>
                </a:solidFill>
                <a:latin typeface="Poppins"/>
                <a:ea typeface="Poppins"/>
                <a:cs typeface="Poppins"/>
                <a:sym typeface="Poppins"/>
              </a:rPr>
              <a:t>a data model with correct relationships between fact and dimension tables.</a:t>
            </a:r>
          </a:p>
        </p:txBody>
      </p:sp>
      <p:grpSp>
        <p:nvGrpSpPr>
          <p:cNvPr name="Group 24" id="24"/>
          <p:cNvGrpSpPr/>
          <p:nvPr/>
        </p:nvGrpSpPr>
        <p:grpSpPr>
          <a:xfrm rot="0">
            <a:off x="8566785" y="2938091"/>
            <a:ext cx="7063740" cy="4800600"/>
            <a:chOff x="0" y="0"/>
            <a:chExt cx="9418320" cy="6400800"/>
          </a:xfrm>
        </p:grpSpPr>
        <p:sp>
          <p:nvSpPr>
            <p:cNvPr name="Freeform 25" id="25"/>
            <p:cNvSpPr/>
            <p:nvPr/>
          </p:nvSpPr>
          <p:spPr>
            <a:xfrm flipH="false" flipV="false" rot="0">
              <a:off x="0" y="0"/>
              <a:ext cx="9418320" cy="6400800"/>
            </a:xfrm>
            <a:custGeom>
              <a:avLst/>
              <a:gdLst/>
              <a:ahLst/>
              <a:cxnLst/>
              <a:rect r="r" b="b" t="t" l="l"/>
              <a:pathLst>
                <a:path h="6400800" w="9418320">
                  <a:moveTo>
                    <a:pt x="0" y="182880"/>
                  </a:moveTo>
                  <a:cubicBezTo>
                    <a:pt x="0" y="81915"/>
                    <a:pt x="81915" y="0"/>
                    <a:pt x="182880" y="0"/>
                  </a:cubicBezTo>
                  <a:lnTo>
                    <a:pt x="9235440" y="0"/>
                  </a:lnTo>
                  <a:cubicBezTo>
                    <a:pt x="9336405" y="0"/>
                    <a:pt x="9418320" y="81915"/>
                    <a:pt x="9418320" y="182880"/>
                  </a:cubicBezTo>
                  <a:lnTo>
                    <a:pt x="9418320" y="6217920"/>
                  </a:lnTo>
                  <a:cubicBezTo>
                    <a:pt x="9418320" y="6318885"/>
                    <a:pt x="9336405" y="6400800"/>
                    <a:pt x="9235440" y="6400800"/>
                  </a:cubicBezTo>
                  <a:lnTo>
                    <a:pt x="182880" y="6400800"/>
                  </a:lnTo>
                  <a:cubicBezTo>
                    <a:pt x="81915" y="6400800"/>
                    <a:pt x="0" y="6318885"/>
                    <a:pt x="0" y="6217920"/>
                  </a:cubicBezTo>
                  <a:close/>
                </a:path>
              </a:pathLst>
            </a:custGeom>
            <a:solidFill>
              <a:srgbClr val="FFFFFF"/>
            </a:solidFill>
          </p:spPr>
        </p:sp>
      </p:grpSp>
      <p:grpSp>
        <p:nvGrpSpPr>
          <p:cNvPr name="Group 26" id="26"/>
          <p:cNvGrpSpPr/>
          <p:nvPr/>
        </p:nvGrpSpPr>
        <p:grpSpPr>
          <a:xfrm rot="0">
            <a:off x="8566785" y="2938091"/>
            <a:ext cx="7063740" cy="123444"/>
            <a:chOff x="0" y="0"/>
            <a:chExt cx="9418320" cy="164592"/>
          </a:xfrm>
        </p:grpSpPr>
        <p:sp>
          <p:nvSpPr>
            <p:cNvPr name="Freeform 27" id="27"/>
            <p:cNvSpPr/>
            <p:nvPr/>
          </p:nvSpPr>
          <p:spPr>
            <a:xfrm flipH="false" flipV="false" rot="0">
              <a:off x="0" y="0"/>
              <a:ext cx="9418320" cy="164592"/>
            </a:xfrm>
            <a:custGeom>
              <a:avLst/>
              <a:gdLst/>
              <a:ahLst/>
              <a:cxnLst/>
              <a:rect r="r" b="b" t="t" l="l"/>
              <a:pathLst>
                <a:path h="164592" w="9418320">
                  <a:moveTo>
                    <a:pt x="0" y="0"/>
                  </a:moveTo>
                  <a:lnTo>
                    <a:pt x="9418320" y="0"/>
                  </a:lnTo>
                  <a:lnTo>
                    <a:pt x="9418320" y="164592"/>
                  </a:lnTo>
                  <a:lnTo>
                    <a:pt x="0" y="164592"/>
                  </a:lnTo>
                  <a:close/>
                </a:path>
              </a:pathLst>
            </a:custGeom>
            <a:solidFill>
              <a:srgbClr val="387F7F"/>
            </a:solidFill>
          </p:spPr>
        </p:sp>
      </p:grpSp>
      <p:grpSp>
        <p:nvGrpSpPr>
          <p:cNvPr name="Group 28" id="28"/>
          <p:cNvGrpSpPr/>
          <p:nvPr/>
        </p:nvGrpSpPr>
        <p:grpSpPr>
          <a:xfrm rot="0">
            <a:off x="9142857" y="3692471"/>
            <a:ext cx="1069848" cy="1069848"/>
            <a:chOff x="0" y="0"/>
            <a:chExt cx="1426464" cy="1426464"/>
          </a:xfrm>
        </p:grpSpPr>
        <p:sp>
          <p:nvSpPr>
            <p:cNvPr name="Freeform 29" id="29"/>
            <p:cNvSpPr/>
            <p:nvPr/>
          </p:nvSpPr>
          <p:spPr>
            <a:xfrm flipH="false" flipV="false" rot="0">
              <a:off x="0" y="0"/>
              <a:ext cx="1426464" cy="1426464"/>
            </a:xfrm>
            <a:custGeom>
              <a:avLst/>
              <a:gdLst/>
              <a:ahLst/>
              <a:cxnLst/>
              <a:rect r="r" b="b" t="t" l="l"/>
              <a:pathLst>
                <a:path h="1426464" w="1426464">
                  <a:moveTo>
                    <a:pt x="0" y="713232"/>
                  </a:moveTo>
                  <a:cubicBezTo>
                    <a:pt x="0" y="319278"/>
                    <a:pt x="319278" y="0"/>
                    <a:pt x="713232" y="0"/>
                  </a:cubicBezTo>
                  <a:cubicBezTo>
                    <a:pt x="1107186" y="0"/>
                    <a:pt x="1426464" y="319278"/>
                    <a:pt x="1426464" y="713232"/>
                  </a:cubicBezTo>
                  <a:cubicBezTo>
                    <a:pt x="1426464" y="1107186"/>
                    <a:pt x="1107186" y="1426464"/>
                    <a:pt x="713232" y="1426464"/>
                  </a:cubicBezTo>
                  <a:cubicBezTo>
                    <a:pt x="319278" y="1426464"/>
                    <a:pt x="0" y="1107186"/>
                    <a:pt x="0" y="713232"/>
                  </a:cubicBezTo>
                  <a:close/>
                </a:path>
              </a:pathLst>
            </a:custGeom>
            <a:solidFill>
              <a:srgbClr val="387F7F"/>
            </a:solidFill>
          </p:spPr>
        </p:sp>
      </p:grpSp>
      <p:grpSp>
        <p:nvGrpSpPr>
          <p:cNvPr name="Group 30" id="30"/>
          <p:cNvGrpSpPr/>
          <p:nvPr/>
        </p:nvGrpSpPr>
        <p:grpSpPr>
          <a:xfrm rot="0">
            <a:off x="9142857" y="3692471"/>
            <a:ext cx="1069848" cy="1069848"/>
            <a:chOff x="0" y="0"/>
            <a:chExt cx="1426464" cy="1426464"/>
          </a:xfrm>
        </p:grpSpPr>
        <p:sp>
          <p:nvSpPr>
            <p:cNvPr name="Freeform 31" id="31"/>
            <p:cNvSpPr/>
            <p:nvPr/>
          </p:nvSpPr>
          <p:spPr>
            <a:xfrm flipH="false" flipV="false" rot="0">
              <a:off x="0" y="0"/>
              <a:ext cx="1426464" cy="1426464"/>
            </a:xfrm>
            <a:custGeom>
              <a:avLst/>
              <a:gdLst/>
              <a:ahLst/>
              <a:cxnLst/>
              <a:rect r="r" b="b" t="t" l="l"/>
              <a:pathLst>
                <a:path h="1426464" w="1426464">
                  <a:moveTo>
                    <a:pt x="0" y="0"/>
                  </a:moveTo>
                  <a:lnTo>
                    <a:pt x="1426464" y="0"/>
                  </a:lnTo>
                  <a:lnTo>
                    <a:pt x="1426464" y="1426464"/>
                  </a:lnTo>
                  <a:lnTo>
                    <a:pt x="0" y="1426464"/>
                  </a:lnTo>
                  <a:close/>
                </a:path>
              </a:pathLst>
            </a:custGeom>
            <a:blipFill>
              <a:blip r:embed="rId9">
                <a:alphaModFix amt="0"/>
              </a:blip>
              <a:stretch>
                <a:fillRect l="-78303" t="0" r="-78303" b="0"/>
              </a:stretch>
            </a:blipFill>
          </p:spPr>
        </p:sp>
        <p:sp>
          <p:nvSpPr>
            <p:cNvPr name="TextBox 32" id="32"/>
            <p:cNvSpPr txBox="true"/>
            <p:nvPr/>
          </p:nvSpPr>
          <p:spPr>
            <a:xfrm>
              <a:off x="0" y="-38100"/>
              <a:ext cx="1426464" cy="1464564"/>
            </a:xfrm>
            <a:prstGeom prst="rect">
              <a:avLst/>
            </a:prstGeom>
          </p:spPr>
          <p:txBody>
            <a:bodyPr anchor="ctr" rtlCol="false" tIns="0" lIns="0" bIns="0" rIns="0"/>
            <a:lstStyle/>
            <a:p>
              <a:pPr algn="ctr">
                <a:lnSpc>
                  <a:spcPts val="4680"/>
                </a:lnSpc>
              </a:pPr>
              <a:r>
                <a:rPr lang="en-US" sz="3900" b="true">
                  <a:solidFill>
                    <a:srgbClr val="FFFFFF"/>
                  </a:solidFill>
                  <a:latin typeface="Poppins Bold"/>
                  <a:ea typeface="Poppins Bold"/>
                  <a:cs typeface="Poppins Bold"/>
                  <a:sym typeface="Poppins Bold"/>
                </a:rPr>
                <a:t>!</a:t>
              </a:r>
            </a:p>
          </p:txBody>
        </p:sp>
      </p:grpSp>
      <p:grpSp>
        <p:nvGrpSpPr>
          <p:cNvPr name="Group 33" id="33"/>
          <p:cNvGrpSpPr/>
          <p:nvPr/>
        </p:nvGrpSpPr>
        <p:grpSpPr>
          <a:xfrm rot="0">
            <a:off x="9142857" y="5064071"/>
            <a:ext cx="5911596" cy="685800"/>
            <a:chOff x="0" y="0"/>
            <a:chExt cx="7882128" cy="914400"/>
          </a:xfrm>
        </p:grpSpPr>
        <p:sp>
          <p:nvSpPr>
            <p:cNvPr name="Freeform 34" id="34"/>
            <p:cNvSpPr/>
            <p:nvPr/>
          </p:nvSpPr>
          <p:spPr>
            <a:xfrm flipH="false" flipV="false" rot="0">
              <a:off x="0" y="0"/>
              <a:ext cx="7882128" cy="914400"/>
            </a:xfrm>
            <a:custGeom>
              <a:avLst/>
              <a:gdLst/>
              <a:ahLst/>
              <a:cxnLst/>
              <a:rect r="r" b="b" t="t" l="l"/>
              <a:pathLst>
                <a:path h="914400" w="7882128">
                  <a:moveTo>
                    <a:pt x="0" y="0"/>
                  </a:moveTo>
                  <a:lnTo>
                    <a:pt x="7882128" y="0"/>
                  </a:lnTo>
                  <a:lnTo>
                    <a:pt x="7882128" y="914400"/>
                  </a:lnTo>
                  <a:lnTo>
                    <a:pt x="0" y="914400"/>
                  </a:lnTo>
                  <a:close/>
                </a:path>
              </a:pathLst>
            </a:custGeom>
            <a:blipFill>
              <a:blip r:embed="rId9">
                <a:alphaModFix amt="0"/>
              </a:blip>
              <a:stretch>
                <a:fillRect l="0" t="-117961" r="0" b="-117961"/>
              </a:stretch>
            </a:blipFill>
          </p:spPr>
        </p:sp>
        <p:sp>
          <p:nvSpPr>
            <p:cNvPr name="TextBox 35" id="35"/>
            <p:cNvSpPr txBox="true"/>
            <p:nvPr/>
          </p:nvSpPr>
          <p:spPr>
            <a:xfrm>
              <a:off x="0" y="-28575"/>
              <a:ext cx="7882128" cy="942975"/>
            </a:xfrm>
            <a:prstGeom prst="rect">
              <a:avLst/>
            </a:prstGeom>
          </p:spPr>
          <p:txBody>
            <a:bodyPr anchor="ctr" rtlCol="false" tIns="0" lIns="0" bIns="0" rIns="0"/>
            <a:lstStyle/>
            <a:p>
              <a:pPr algn="l">
                <a:lnSpc>
                  <a:spcPts val="4140"/>
                </a:lnSpc>
              </a:pPr>
              <a:r>
                <a:rPr lang="en-US" sz="3450" b="true">
                  <a:solidFill>
                    <a:srgbClr val="387F7F"/>
                  </a:solidFill>
                  <a:latin typeface="Poppins Bold"/>
                  <a:ea typeface="Poppins Bold"/>
                  <a:cs typeface="Poppins Bold"/>
                  <a:sym typeface="Poppins Bold"/>
                </a:rPr>
                <a:t>Explain</a:t>
              </a:r>
            </a:p>
          </p:txBody>
        </p:sp>
      </p:grpSp>
      <p:sp>
        <p:nvSpPr>
          <p:cNvPr name="TextBox 36" id="36"/>
          <p:cNvSpPr txBox="true"/>
          <p:nvPr/>
        </p:nvSpPr>
        <p:spPr>
          <a:xfrm rot="0">
            <a:off x="9142857" y="5731583"/>
            <a:ext cx="5911596" cy="1760220"/>
          </a:xfrm>
          <a:prstGeom prst="rect">
            <a:avLst/>
          </a:prstGeom>
        </p:spPr>
        <p:txBody>
          <a:bodyPr anchor="t" rtlCol="false" tIns="0" lIns="0" bIns="0" rIns="0">
            <a:spAutoFit/>
          </a:bodyPr>
          <a:lstStyle/>
          <a:p>
            <a:pPr algn="l">
              <a:lnSpc>
                <a:spcPts val="3645"/>
              </a:lnSpc>
            </a:pPr>
            <a:r>
              <a:rPr lang="en-US" sz="2250">
                <a:solidFill>
                  <a:srgbClr val="475569"/>
                </a:solidFill>
                <a:latin typeface="Poppins"/>
                <a:ea typeface="Poppins"/>
                <a:cs typeface="Poppins"/>
                <a:sym typeface="Poppins"/>
              </a:rPr>
              <a:t>why a flat single table is often the wrong design, using a worked failure.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7710885"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Swift</a:t>
            </a:r>
            <a:r>
              <a:rPr lang="en-US" sz="5000">
                <a:solidFill>
                  <a:srgbClr val="388080"/>
                </a:solidFill>
                <a:latin typeface="Poppins"/>
                <a:ea typeface="Poppins"/>
                <a:cs typeface="Poppins"/>
                <a:sym typeface="Poppins"/>
              </a:rPr>
              <a:t>Route has 68 riders.</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876300" y="2459350"/>
            <a:ext cx="7063740" cy="4183380"/>
            <a:chOff x="0" y="0"/>
            <a:chExt cx="9418320" cy="5577840"/>
          </a:xfrm>
        </p:grpSpPr>
        <p:sp>
          <p:nvSpPr>
            <p:cNvPr name="Freeform 12" id="12"/>
            <p:cNvSpPr/>
            <p:nvPr/>
          </p:nvSpPr>
          <p:spPr>
            <a:xfrm flipH="false" flipV="false" rot="0">
              <a:off x="0" y="0"/>
              <a:ext cx="9418320" cy="5577840"/>
            </a:xfrm>
            <a:custGeom>
              <a:avLst/>
              <a:gdLst/>
              <a:ahLst/>
              <a:cxnLst/>
              <a:rect r="r" b="b" t="t" l="l"/>
              <a:pathLst>
                <a:path h="5577840" w="9418320">
                  <a:moveTo>
                    <a:pt x="0" y="182880"/>
                  </a:moveTo>
                  <a:cubicBezTo>
                    <a:pt x="0" y="81915"/>
                    <a:pt x="81915" y="0"/>
                    <a:pt x="182880" y="0"/>
                  </a:cubicBezTo>
                  <a:lnTo>
                    <a:pt x="9235440" y="0"/>
                  </a:lnTo>
                  <a:cubicBezTo>
                    <a:pt x="9336405" y="0"/>
                    <a:pt x="9418320" y="81915"/>
                    <a:pt x="9418320" y="182880"/>
                  </a:cubicBezTo>
                  <a:lnTo>
                    <a:pt x="9418320" y="5394960"/>
                  </a:lnTo>
                  <a:cubicBezTo>
                    <a:pt x="9418320" y="5495925"/>
                    <a:pt x="9336405" y="5577840"/>
                    <a:pt x="9235440" y="5577840"/>
                  </a:cubicBezTo>
                  <a:lnTo>
                    <a:pt x="182880" y="5577840"/>
                  </a:lnTo>
                  <a:cubicBezTo>
                    <a:pt x="81915" y="5577840"/>
                    <a:pt x="0" y="5495925"/>
                    <a:pt x="0" y="5394960"/>
                  </a:cubicBezTo>
                  <a:close/>
                </a:path>
              </a:pathLst>
            </a:custGeom>
            <a:solidFill>
              <a:srgbClr val="FFFFFF"/>
            </a:solidFill>
          </p:spPr>
        </p:sp>
      </p:grpSp>
      <p:grpSp>
        <p:nvGrpSpPr>
          <p:cNvPr name="Group 13" id="13"/>
          <p:cNvGrpSpPr/>
          <p:nvPr/>
        </p:nvGrpSpPr>
        <p:grpSpPr>
          <a:xfrm rot="0">
            <a:off x="876300" y="2459350"/>
            <a:ext cx="7063740" cy="123444"/>
            <a:chOff x="0" y="0"/>
            <a:chExt cx="9418320" cy="164592"/>
          </a:xfrm>
        </p:grpSpPr>
        <p:sp>
          <p:nvSpPr>
            <p:cNvPr name="Freeform 14" id="14"/>
            <p:cNvSpPr/>
            <p:nvPr/>
          </p:nvSpPr>
          <p:spPr>
            <a:xfrm flipH="false" flipV="false" rot="0">
              <a:off x="0" y="0"/>
              <a:ext cx="9418320" cy="164592"/>
            </a:xfrm>
            <a:custGeom>
              <a:avLst/>
              <a:gdLst/>
              <a:ahLst/>
              <a:cxnLst/>
              <a:rect r="r" b="b" t="t" l="l"/>
              <a:pathLst>
                <a:path h="164592" w="9418320">
                  <a:moveTo>
                    <a:pt x="0" y="0"/>
                  </a:moveTo>
                  <a:lnTo>
                    <a:pt x="9418320" y="0"/>
                  </a:lnTo>
                  <a:lnTo>
                    <a:pt x="9418320" y="164592"/>
                  </a:lnTo>
                  <a:lnTo>
                    <a:pt x="0" y="164592"/>
                  </a:lnTo>
                  <a:close/>
                </a:path>
              </a:pathLst>
            </a:custGeom>
            <a:solidFill>
              <a:srgbClr val="387F7F"/>
            </a:solidFill>
          </p:spPr>
        </p:sp>
      </p:grpSp>
      <p:grpSp>
        <p:nvGrpSpPr>
          <p:cNvPr name="Group 15" id="15"/>
          <p:cNvGrpSpPr/>
          <p:nvPr/>
        </p:nvGrpSpPr>
        <p:grpSpPr>
          <a:xfrm rot="0">
            <a:off x="876300" y="3007990"/>
            <a:ext cx="7063740" cy="1714500"/>
            <a:chOff x="0" y="0"/>
            <a:chExt cx="9418320" cy="2286000"/>
          </a:xfrm>
        </p:grpSpPr>
        <p:sp>
          <p:nvSpPr>
            <p:cNvPr name="Freeform 16" id="16"/>
            <p:cNvSpPr/>
            <p:nvPr/>
          </p:nvSpPr>
          <p:spPr>
            <a:xfrm flipH="false" flipV="false" rot="0">
              <a:off x="0" y="0"/>
              <a:ext cx="9418320" cy="2286000"/>
            </a:xfrm>
            <a:custGeom>
              <a:avLst/>
              <a:gdLst/>
              <a:ahLst/>
              <a:cxnLst/>
              <a:rect r="r" b="b" t="t" l="l"/>
              <a:pathLst>
                <a:path h="2286000" w="9418320">
                  <a:moveTo>
                    <a:pt x="0" y="0"/>
                  </a:moveTo>
                  <a:lnTo>
                    <a:pt x="9418320" y="0"/>
                  </a:lnTo>
                  <a:lnTo>
                    <a:pt x="9418320" y="2286000"/>
                  </a:lnTo>
                  <a:lnTo>
                    <a:pt x="0" y="2286000"/>
                  </a:lnTo>
                  <a:close/>
                </a:path>
              </a:pathLst>
            </a:custGeom>
            <a:blipFill>
              <a:blip r:embed="rId9">
                <a:alphaModFix amt="0"/>
              </a:blip>
              <a:stretch>
                <a:fillRect l="0" t="-30278" r="0" b="-30278"/>
              </a:stretch>
            </a:blipFill>
          </p:spPr>
        </p:sp>
        <p:sp>
          <p:nvSpPr>
            <p:cNvPr name="TextBox 17" id="17"/>
            <p:cNvSpPr txBox="true"/>
            <p:nvPr/>
          </p:nvSpPr>
          <p:spPr>
            <a:xfrm>
              <a:off x="0" y="-114300"/>
              <a:ext cx="9418320" cy="2400300"/>
            </a:xfrm>
            <a:prstGeom prst="rect">
              <a:avLst/>
            </a:prstGeom>
          </p:spPr>
          <p:txBody>
            <a:bodyPr anchor="ctr" rtlCol="false" tIns="0" lIns="0" bIns="0" rIns="0"/>
            <a:lstStyle/>
            <a:p>
              <a:pPr algn="ctr">
                <a:lnSpc>
                  <a:spcPts val="13679"/>
                </a:lnSpc>
              </a:pPr>
              <a:r>
                <a:rPr lang="en-US" sz="11400" b="true">
                  <a:solidFill>
                    <a:srgbClr val="387F7F"/>
                  </a:solidFill>
                  <a:latin typeface="Poppins Bold"/>
                  <a:ea typeface="Poppins Bold"/>
                  <a:cs typeface="Poppins Bold"/>
                  <a:sym typeface="Poppins Bold"/>
                </a:rPr>
                <a:t>68</a:t>
              </a:r>
            </a:p>
          </p:txBody>
        </p:sp>
      </p:grpSp>
      <p:grpSp>
        <p:nvGrpSpPr>
          <p:cNvPr name="Group 18" id="18"/>
          <p:cNvGrpSpPr/>
          <p:nvPr/>
        </p:nvGrpSpPr>
        <p:grpSpPr>
          <a:xfrm rot="0">
            <a:off x="876300" y="4653910"/>
            <a:ext cx="7063740" cy="754380"/>
            <a:chOff x="0" y="0"/>
            <a:chExt cx="9418320" cy="1005840"/>
          </a:xfrm>
        </p:grpSpPr>
        <p:sp>
          <p:nvSpPr>
            <p:cNvPr name="Freeform 19" id="19"/>
            <p:cNvSpPr/>
            <p:nvPr/>
          </p:nvSpPr>
          <p:spPr>
            <a:xfrm flipH="false" flipV="false" rot="0">
              <a:off x="0" y="0"/>
              <a:ext cx="9418320" cy="1005840"/>
            </a:xfrm>
            <a:custGeom>
              <a:avLst/>
              <a:gdLst/>
              <a:ahLst/>
              <a:cxnLst/>
              <a:rect r="r" b="b" t="t" l="l"/>
              <a:pathLst>
                <a:path h="1005840" w="9418320">
                  <a:moveTo>
                    <a:pt x="0" y="0"/>
                  </a:moveTo>
                  <a:lnTo>
                    <a:pt x="9418320" y="0"/>
                  </a:lnTo>
                  <a:lnTo>
                    <a:pt x="9418320" y="1005840"/>
                  </a:lnTo>
                  <a:lnTo>
                    <a:pt x="0" y="1005840"/>
                  </a:lnTo>
                  <a:close/>
                </a:path>
              </a:pathLst>
            </a:custGeom>
            <a:blipFill>
              <a:blip r:embed="rId9">
                <a:alphaModFix amt="0"/>
              </a:blip>
              <a:stretch>
                <a:fillRect l="0" t="-132450" r="0" b="-132450"/>
              </a:stretch>
            </a:blipFill>
          </p:spPr>
        </p:sp>
        <p:sp>
          <p:nvSpPr>
            <p:cNvPr name="TextBox 20" id="20"/>
            <p:cNvSpPr txBox="true"/>
            <p:nvPr/>
          </p:nvSpPr>
          <p:spPr>
            <a:xfrm>
              <a:off x="0" y="-66675"/>
              <a:ext cx="9418320" cy="1072515"/>
            </a:xfrm>
            <a:prstGeom prst="rect">
              <a:avLst/>
            </a:prstGeom>
          </p:spPr>
          <p:txBody>
            <a:bodyPr anchor="ctr" rtlCol="false" tIns="0" lIns="0" bIns="0" rIns="0"/>
            <a:lstStyle/>
            <a:p>
              <a:pPr algn="ctr">
                <a:lnSpc>
                  <a:spcPts val="2808"/>
                </a:lnSpc>
              </a:pPr>
              <a:r>
                <a:rPr lang="en-US" sz="1950">
                  <a:solidFill>
                    <a:srgbClr val="64748B"/>
                  </a:solidFill>
                  <a:latin typeface="Poppins"/>
                  <a:ea typeface="Poppins"/>
                  <a:cs typeface="Poppins"/>
                  <a:sym typeface="Poppins"/>
                </a:rPr>
                <a:t>What the HR list says</a:t>
              </a:r>
            </a:p>
          </p:txBody>
        </p:sp>
      </p:grpSp>
      <p:grpSp>
        <p:nvGrpSpPr>
          <p:cNvPr name="Group 21" id="21"/>
          <p:cNvGrpSpPr/>
          <p:nvPr/>
        </p:nvGrpSpPr>
        <p:grpSpPr>
          <a:xfrm rot="0">
            <a:off x="8557260" y="2459350"/>
            <a:ext cx="7063740" cy="4183380"/>
            <a:chOff x="0" y="0"/>
            <a:chExt cx="9418320" cy="5577840"/>
          </a:xfrm>
        </p:grpSpPr>
        <p:sp>
          <p:nvSpPr>
            <p:cNvPr name="Freeform 22" id="22"/>
            <p:cNvSpPr/>
            <p:nvPr/>
          </p:nvSpPr>
          <p:spPr>
            <a:xfrm flipH="false" flipV="false" rot="0">
              <a:off x="0" y="0"/>
              <a:ext cx="9418320" cy="5577840"/>
            </a:xfrm>
            <a:custGeom>
              <a:avLst/>
              <a:gdLst/>
              <a:ahLst/>
              <a:cxnLst/>
              <a:rect r="r" b="b" t="t" l="l"/>
              <a:pathLst>
                <a:path h="5577840" w="9418320">
                  <a:moveTo>
                    <a:pt x="0" y="182880"/>
                  </a:moveTo>
                  <a:cubicBezTo>
                    <a:pt x="0" y="81915"/>
                    <a:pt x="81915" y="0"/>
                    <a:pt x="182880" y="0"/>
                  </a:cubicBezTo>
                  <a:lnTo>
                    <a:pt x="9235440" y="0"/>
                  </a:lnTo>
                  <a:cubicBezTo>
                    <a:pt x="9336405" y="0"/>
                    <a:pt x="9418320" y="81915"/>
                    <a:pt x="9418320" y="182880"/>
                  </a:cubicBezTo>
                  <a:lnTo>
                    <a:pt x="9418320" y="5394960"/>
                  </a:lnTo>
                  <a:cubicBezTo>
                    <a:pt x="9418320" y="5495925"/>
                    <a:pt x="9336405" y="5577840"/>
                    <a:pt x="9235440" y="5577840"/>
                  </a:cubicBezTo>
                  <a:lnTo>
                    <a:pt x="182880" y="5577840"/>
                  </a:lnTo>
                  <a:cubicBezTo>
                    <a:pt x="81915" y="5577840"/>
                    <a:pt x="0" y="5495925"/>
                    <a:pt x="0" y="5394960"/>
                  </a:cubicBezTo>
                  <a:close/>
                </a:path>
              </a:pathLst>
            </a:custGeom>
            <a:solidFill>
              <a:srgbClr val="FFFFFF"/>
            </a:solidFill>
          </p:spPr>
        </p:sp>
      </p:grpSp>
      <p:grpSp>
        <p:nvGrpSpPr>
          <p:cNvPr name="Group 23" id="23"/>
          <p:cNvGrpSpPr/>
          <p:nvPr/>
        </p:nvGrpSpPr>
        <p:grpSpPr>
          <a:xfrm rot="0">
            <a:off x="8557260" y="2459350"/>
            <a:ext cx="7063740" cy="123444"/>
            <a:chOff x="0" y="0"/>
            <a:chExt cx="9418320" cy="164592"/>
          </a:xfrm>
        </p:grpSpPr>
        <p:sp>
          <p:nvSpPr>
            <p:cNvPr name="Freeform 24" id="24"/>
            <p:cNvSpPr/>
            <p:nvPr/>
          </p:nvSpPr>
          <p:spPr>
            <a:xfrm flipH="false" flipV="false" rot="0">
              <a:off x="0" y="0"/>
              <a:ext cx="9418320" cy="164592"/>
            </a:xfrm>
            <a:custGeom>
              <a:avLst/>
              <a:gdLst/>
              <a:ahLst/>
              <a:cxnLst/>
              <a:rect r="r" b="b" t="t" l="l"/>
              <a:pathLst>
                <a:path h="164592" w="9418320">
                  <a:moveTo>
                    <a:pt x="0" y="0"/>
                  </a:moveTo>
                  <a:lnTo>
                    <a:pt x="9418320" y="0"/>
                  </a:lnTo>
                  <a:lnTo>
                    <a:pt x="9418320" y="164592"/>
                  </a:lnTo>
                  <a:lnTo>
                    <a:pt x="0" y="164592"/>
                  </a:lnTo>
                  <a:close/>
                </a:path>
              </a:pathLst>
            </a:custGeom>
            <a:solidFill>
              <a:srgbClr val="A8322D"/>
            </a:solidFill>
          </p:spPr>
        </p:sp>
      </p:grpSp>
      <p:grpSp>
        <p:nvGrpSpPr>
          <p:cNvPr name="Group 25" id="25"/>
          <p:cNvGrpSpPr/>
          <p:nvPr/>
        </p:nvGrpSpPr>
        <p:grpSpPr>
          <a:xfrm rot="0">
            <a:off x="8557260" y="3007990"/>
            <a:ext cx="7063740" cy="1714500"/>
            <a:chOff x="0" y="0"/>
            <a:chExt cx="9418320" cy="2286000"/>
          </a:xfrm>
        </p:grpSpPr>
        <p:sp>
          <p:nvSpPr>
            <p:cNvPr name="Freeform 26" id="26"/>
            <p:cNvSpPr/>
            <p:nvPr/>
          </p:nvSpPr>
          <p:spPr>
            <a:xfrm flipH="false" flipV="false" rot="0">
              <a:off x="0" y="0"/>
              <a:ext cx="9418320" cy="2286000"/>
            </a:xfrm>
            <a:custGeom>
              <a:avLst/>
              <a:gdLst/>
              <a:ahLst/>
              <a:cxnLst/>
              <a:rect r="r" b="b" t="t" l="l"/>
              <a:pathLst>
                <a:path h="2286000" w="9418320">
                  <a:moveTo>
                    <a:pt x="0" y="0"/>
                  </a:moveTo>
                  <a:lnTo>
                    <a:pt x="9418320" y="0"/>
                  </a:lnTo>
                  <a:lnTo>
                    <a:pt x="9418320" y="2286000"/>
                  </a:lnTo>
                  <a:lnTo>
                    <a:pt x="0" y="2286000"/>
                  </a:lnTo>
                  <a:close/>
                </a:path>
              </a:pathLst>
            </a:custGeom>
            <a:blipFill>
              <a:blip r:embed="rId9">
                <a:alphaModFix amt="0"/>
              </a:blip>
              <a:stretch>
                <a:fillRect l="0" t="-30278" r="0" b="-30278"/>
              </a:stretch>
            </a:blipFill>
          </p:spPr>
        </p:sp>
        <p:sp>
          <p:nvSpPr>
            <p:cNvPr name="TextBox 27" id="27"/>
            <p:cNvSpPr txBox="true"/>
            <p:nvPr/>
          </p:nvSpPr>
          <p:spPr>
            <a:xfrm>
              <a:off x="0" y="-95250"/>
              <a:ext cx="9418320" cy="2381250"/>
            </a:xfrm>
            <a:prstGeom prst="rect">
              <a:avLst/>
            </a:prstGeom>
          </p:spPr>
          <p:txBody>
            <a:bodyPr anchor="ctr" rtlCol="false" tIns="0" lIns="0" bIns="0" rIns="0"/>
            <a:lstStyle/>
            <a:p>
              <a:pPr algn="ctr">
                <a:lnSpc>
                  <a:spcPts val="11880"/>
                </a:lnSpc>
              </a:pPr>
              <a:r>
                <a:rPr lang="en-US" sz="9900" b="true">
                  <a:solidFill>
                    <a:srgbClr val="A8322D"/>
                  </a:solidFill>
                  <a:latin typeface="Poppins Bold"/>
                  <a:ea typeface="Poppins Bold"/>
                  <a:cs typeface="Poppins Bold"/>
                  <a:sym typeface="Poppins Bold"/>
                </a:rPr>
                <a:t>41,280</a:t>
              </a:r>
            </a:p>
          </p:txBody>
        </p:sp>
      </p:grpSp>
      <p:grpSp>
        <p:nvGrpSpPr>
          <p:cNvPr name="Group 28" id="28"/>
          <p:cNvGrpSpPr/>
          <p:nvPr/>
        </p:nvGrpSpPr>
        <p:grpSpPr>
          <a:xfrm rot="0">
            <a:off x="8557260" y="4653910"/>
            <a:ext cx="7063740" cy="754380"/>
            <a:chOff x="0" y="0"/>
            <a:chExt cx="9418320" cy="1005840"/>
          </a:xfrm>
        </p:grpSpPr>
        <p:sp>
          <p:nvSpPr>
            <p:cNvPr name="Freeform 29" id="29"/>
            <p:cNvSpPr/>
            <p:nvPr/>
          </p:nvSpPr>
          <p:spPr>
            <a:xfrm flipH="false" flipV="false" rot="0">
              <a:off x="0" y="0"/>
              <a:ext cx="9418320" cy="1005840"/>
            </a:xfrm>
            <a:custGeom>
              <a:avLst/>
              <a:gdLst/>
              <a:ahLst/>
              <a:cxnLst/>
              <a:rect r="r" b="b" t="t" l="l"/>
              <a:pathLst>
                <a:path h="1005840" w="9418320">
                  <a:moveTo>
                    <a:pt x="0" y="0"/>
                  </a:moveTo>
                  <a:lnTo>
                    <a:pt x="9418320" y="0"/>
                  </a:lnTo>
                  <a:lnTo>
                    <a:pt x="9418320" y="1005840"/>
                  </a:lnTo>
                  <a:lnTo>
                    <a:pt x="0" y="1005840"/>
                  </a:lnTo>
                  <a:close/>
                </a:path>
              </a:pathLst>
            </a:custGeom>
            <a:blipFill>
              <a:blip r:embed="rId9">
                <a:alphaModFix amt="0"/>
              </a:blip>
              <a:stretch>
                <a:fillRect l="0" t="-132450" r="0" b="-132450"/>
              </a:stretch>
            </a:blipFill>
          </p:spPr>
        </p:sp>
        <p:sp>
          <p:nvSpPr>
            <p:cNvPr name="TextBox 30" id="30"/>
            <p:cNvSpPr txBox="true"/>
            <p:nvPr/>
          </p:nvSpPr>
          <p:spPr>
            <a:xfrm>
              <a:off x="0" y="-66675"/>
              <a:ext cx="9418320" cy="1072515"/>
            </a:xfrm>
            <a:prstGeom prst="rect">
              <a:avLst/>
            </a:prstGeom>
          </p:spPr>
          <p:txBody>
            <a:bodyPr anchor="ctr" rtlCol="false" tIns="0" lIns="0" bIns="0" rIns="0"/>
            <a:lstStyle/>
            <a:p>
              <a:pPr algn="ctr">
                <a:lnSpc>
                  <a:spcPts val="2808"/>
                </a:lnSpc>
              </a:pPr>
              <a:r>
                <a:rPr lang="en-US" sz="1950">
                  <a:solidFill>
                    <a:srgbClr val="64748B"/>
                  </a:solidFill>
                  <a:latin typeface="Poppins"/>
                  <a:ea typeface="Poppins"/>
                  <a:cs typeface="Poppins"/>
                  <a:sym typeface="Poppins"/>
                </a:rPr>
                <a:t>What the dashboard reported</a:t>
              </a:r>
            </a:p>
          </p:txBody>
        </p:sp>
      </p:grpSp>
      <p:grpSp>
        <p:nvGrpSpPr>
          <p:cNvPr name="Group 31" id="31"/>
          <p:cNvGrpSpPr/>
          <p:nvPr/>
        </p:nvGrpSpPr>
        <p:grpSpPr>
          <a:xfrm rot="0">
            <a:off x="876300" y="7191370"/>
            <a:ext cx="14744700" cy="1714500"/>
            <a:chOff x="0" y="0"/>
            <a:chExt cx="19659600" cy="2286000"/>
          </a:xfrm>
        </p:grpSpPr>
        <p:sp>
          <p:nvSpPr>
            <p:cNvPr name="Freeform 32" id="32"/>
            <p:cNvSpPr/>
            <p:nvPr/>
          </p:nvSpPr>
          <p:spPr>
            <a:xfrm flipH="false" flipV="false" rot="0">
              <a:off x="0" y="0"/>
              <a:ext cx="19659600" cy="2286000"/>
            </a:xfrm>
            <a:custGeom>
              <a:avLst/>
              <a:gdLst/>
              <a:ahLst/>
              <a:cxnLst/>
              <a:rect r="r" b="b" t="t" l="l"/>
              <a:pathLst>
                <a:path h="2286000" w="19659600">
                  <a:moveTo>
                    <a:pt x="0" y="164592"/>
                  </a:moveTo>
                  <a:cubicBezTo>
                    <a:pt x="0" y="73660"/>
                    <a:pt x="73660" y="0"/>
                    <a:pt x="164592" y="0"/>
                  </a:cubicBezTo>
                  <a:lnTo>
                    <a:pt x="19495008" y="0"/>
                  </a:lnTo>
                  <a:cubicBezTo>
                    <a:pt x="19585939" y="0"/>
                    <a:pt x="19659600" y="73660"/>
                    <a:pt x="19659600" y="164592"/>
                  </a:cubicBezTo>
                  <a:lnTo>
                    <a:pt x="19659600" y="2121408"/>
                  </a:lnTo>
                  <a:cubicBezTo>
                    <a:pt x="19659600" y="2212340"/>
                    <a:pt x="19585939" y="2286000"/>
                    <a:pt x="19495008" y="2286000"/>
                  </a:cubicBezTo>
                  <a:lnTo>
                    <a:pt x="164592" y="2286000"/>
                  </a:lnTo>
                  <a:cubicBezTo>
                    <a:pt x="73660" y="2286000"/>
                    <a:pt x="0" y="2212340"/>
                    <a:pt x="0" y="2121408"/>
                  </a:cubicBezTo>
                  <a:close/>
                </a:path>
              </a:pathLst>
            </a:custGeom>
            <a:solidFill>
              <a:srgbClr val="FBF3E6"/>
            </a:solidFill>
          </p:spPr>
        </p:sp>
      </p:grpSp>
      <p:grpSp>
        <p:nvGrpSpPr>
          <p:cNvPr name="Group 33" id="33"/>
          <p:cNvGrpSpPr/>
          <p:nvPr/>
        </p:nvGrpSpPr>
        <p:grpSpPr>
          <a:xfrm rot="0">
            <a:off x="876300" y="7191370"/>
            <a:ext cx="102870" cy="1714500"/>
            <a:chOff x="0" y="0"/>
            <a:chExt cx="137160" cy="2286000"/>
          </a:xfrm>
        </p:grpSpPr>
        <p:sp>
          <p:nvSpPr>
            <p:cNvPr name="Freeform 34" id="34"/>
            <p:cNvSpPr/>
            <p:nvPr/>
          </p:nvSpPr>
          <p:spPr>
            <a:xfrm flipH="false" flipV="false" rot="0">
              <a:off x="0" y="0"/>
              <a:ext cx="137160" cy="2286000"/>
            </a:xfrm>
            <a:custGeom>
              <a:avLst/>
              <a:gdLst/>
              <a:ahLst/>
              <a:cxnLst/>
              <a:rect r="r" b="b" t="t" l="l"/>
              <a:pathLst>
                <a:path h="2286000" w="137160">
                  <a:moveTo>
                    <a:pt x="0" y="0"/>
                  </a:moveTo>
                  <a:lnTo>
                    <a:pt x="137160" y="0"/>
                  </a:lnTo>
                  <a:lnTo>
                    <a:pt x="137160" y="2286000"/>
                  </a:lnTo>
                  <a:lnTo>
                    <a:pt x="0" y="2286000"/>
                  </a:lnTo>
                  <a:close/>
                </a:path>
              </a:pathLst>
            </a:custGeom>
            <a:solidFill>
              <a:srgbClr val="C9821F"/>
            </a:solidFill>
          </p:spPr>
        </p:sp>
      </p:grpSp>
      <p:grpSp>
        <p:nvGrpSpPr>
          <p:cNvPr name="Group 35" id="35"/>
          <p:cNvGrpSpPr/>
          <p:nvPr/>
        </p:nvGrpSpPr>
        <p:grpSpPr>
          <a:xfrm rot="0">
            <a:off x="1287780" y="7698862"/>
            <a:ext cx="685800" cy="685800"/>
            <a:chOff x="0" y="0"/>
            <a:chExt cx="914400" cy="914400"/>
          </a:xfrm>
        </p:grpSpPr>
        <p:sp>
          <p:nvSpPr>
            <p:cNvPr name="Freeform 36" id="3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C9821F"/>
            </a:solidFill>
          </p:spPr>
        </p:sp>
      </p:grpSp>
      <p:grpSp>
        <p:nvGrpSpPr>
          <p:cNvPr name="Group 37" id="37"/>
          <p:cNvGrpSpPr/>
          <p:nvPr/>
        </p:nvGrpSpPr>
        <p:grpSpPr>
          <a:xfrm rot="0">
            <a:off x="1287780" y="7698862"/>
            <a:ext cx="685800" cy="685800"/>
            <a:chOff x="0" y="0"/>
            <a:chExt cx="914400" cy="914400"/>
          </a:xfrm>
        </p:grpSpPr>
        <p:sp>
          <p:nvSpPr>
            <p:cNvPr name="Freeform 38" id="3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9">
                <a:alphaModFix amt="0"/>
              </a:blip>
              <a:stretch>
                <a:fillRect l="-78303" t="0" r="-78303" b="0"/>
              </a:stretch>
            </a:blipFill>
          </p:spPr>
        </p:sp>
        <p:sp>
          <p:nvSpPr>
            <p:cNvPr name="TextBox 39" id="39"/>
            <p:cNvSpPr txBox="true"/>
            <p:nvPr/>
          </p:nvSpPr>
          <p:spPr>
            <a:xfrm>
              <a:off x="0" y="-28575"/>
              <a:ext cx="914400" cy="942975"/>
            </a:xfrm>
            <a:prstGeom prst="rect">
              <a:avLst/>
            </a:prstGeom>
          </p:spPr>
          <p:txBody>
            <a:bodyPr anchor="ctr" rtlCol="false" tIns="0" lIns="0" bIns="0" rIns="0"/>
            <a:lstStyle/>
            <a:p>
              <a:pPr algn="ctr">
                <a:lnSpc>
                  <a:spcPts val="3600"/>
                </a:lnSpc>
              </a:pPr>
              <a:r>
                <a:rPr lang="en-US" sz="3000" b="true">
                  <a:solidFill>
                    <a:srgbClr val="FFFFFF"/>
                  </a:solidFill>
                  <a:latin typeface="Poppins Bold"/>
                  <a:ea typeface="Poppins Bold"/>
                  <a:cs typeface="Poppins Bold"/>
                  <a:sym typeface="Poppins Bold"/>
                </a:rPr>
                <a:t>?</a:t>
              </a:r>
            </a:p>
          </p:txBody>
        </p:sp>
      </p:grpSp>
      <p:sp>
        <p:nvSpPr>
          <p:cNvPr name="TextBox 40" id="40"/>
          <p:cNvSpPr txBox="true"/>
          <p:nvPr/>
        </p:nvSpPr>
        <p:spPr>
          <a:xfrm rot="0">
            <a:off x="2247900" y="7402063"/>
            <a:ext cx="12893040" cy="1270635"/>
          </a:xfrm>
          <a:prstGeom prst="rect">
            <a:avLst/>
          </a:prstGeom>
        </p:spPr>
        <p:txBody>
          <a:bodyPr anchor="t" rtlCol="false" tIns="0" lIns="0" bIns="0" rIns="0">
            <a:spAutoFit/>
          </a:bodyPr>
          <a:lstStyle/>
          <a:p>
            <a:pPr algn="l">
              <a:lnSpc>
                <a:spcPts val="3744"/>
              </a:lnSpc>
            </a:pPr>
            <a:r>
              <a:rPr lang="en-US" sz="2400" b="true">
                <a:solidFill>
                  <a:srgbClr val="0A1A23"/>
                </a:solidFill>
                <a:latin typeface="Poppins Bold"/>
                <a:ea typeface="Poppins Bold"/>
                <a:cs typeface="Poppins Bold"/>
                <a:sym typeface="Poppins Bold"/>
              </a:rPr>
              <a:t>The chart had a title, an axis label and a legend. It was still wrong.</a:t>
            </a:r>
          </a:p>
          <a:p>
            <a:pPr algn="l">
              <a:lnSpc>
                <a:spcPts val="3744"/>
              </a:lnSpc>
            </a:pPr>
            <a:r>
              <a:rPr lang="en-US" sz="2400" b="true">
                <a:solidFill>
                  <a:srgbClr val="0A1A23"/>
                </a:solidFill>
                <a:latin typeface="Poppins Bold"/>
                <a:ea typeface="Poppins Bold"/>
                <a:cs typeface="Poppins Bold"/>
                <a:sym typeface="Poppins Bold"/>
              </a:rPr>
              <a:t>How would you have caught it?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5" id="5"/>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6497824" y="8924125"/>
            <a:ext cx="647224" cy="571500"/>
            <a:chOff x="0" y="0"/>
            <a:chExt cx="862965" cy="762000"/>
          </a:xfrm>
        </p:grpSpPr>
        <p:sp>
          <p:nvSpPr>
            <p:cNvPr name="Freeform 7" id="7"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8" id="8"/>
          <p:cNvGrpSpPr/>
          <p:nvPr/>
        </p:nvGrpSpPr>
        <p:grpSpPr>
          <a:xfrm rot="0">
            <a:off x="0" y="0"/>
            <a:ext cx="18287543" cy="10287000"/>
            <a:chOff x="0" y="0"/>
            <a:chExt cx="24383390" cy="13716000"/>
          </a:xfrm>
        </p:grpSpPr>
        <p:sp>
          <p:nvSpPr>
            <p:cNvPr name="Freeform 9" id="9"/>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20494A"/>
            </a:solidFill>
          </p:spPr>
        </p:sp>
      </p:grpSp>
      <p:grpSp>
        <p:nvGrpSpPr>
          <p:cNvPr name="Group 10" id="10"/>
          <p:cNvGrpSpPr/>
          <p:nvPr/>
        </p:nvGrpSpPr>
        <p:grpSpPr>
          <a:xfrm rot="0">
            <a:off x="850392" y="480060"/>
            <a:ext cx="4389120" cy="2880360"/>
            <a:chOff x="0" y="0"/>
            <a:chExt cx="5852160" cy="3840480"/>
          </a:xfrm>
        </p:grpSpPr>
        <p:sp>
          <p:nvSpPr>
            <p:cNvPr name="Freeform 11" id="11"/>
            <p:cNvSpPr/>
            <p:nvPr/>
          </p:nvSpPr>
          <p:spPr>
            <a:xfrm flipH="false" flipV="false" rot="0">
              <a:off x="0" y="0"/>
              <a:ext cx="5852160" cy="3840480"/>
            </a:xfrm>
            <a:custGeom>
              <a:avLst/>
              <a:gdLst/>
              <a:ahLst/>
              <a:cxnLst/>
              <a:rect r="r" b="b" t="t" l="l"/>
              <a:pathLst>
                <a:path h="3840480" w="5852160">
                  <a:moveTo>
                    <a:pt x="0" y="0"/>
                  </a:moveTo>
                  <a:lnTo>
                    <a:pt x="5852160" y="0"/>
                  </a:lnTo>
                  <a:lnTo>
                    <a:pt x="5852160" y="3840480"/>
                  </a:lnTo>
                  <a:lnTo>
                    <a:pt x="0" y="3840480"/>
                  </a:lnTo>
                  <a:close/>
                </a:path>
              </a:pathLst>
            </a:custGeom>
            <a:blipFill>
              <a:blip r:embed="rId9">
                <a:alphaModFix amt="0"/>
              </a:blip>
              <a:stretch>
                <a:fillRect l="-34199" t="0" r="-34199" b="0"/>
              </a:stretch>
            </a:blipFill>
          </p:spPr>
        </p:sp>
        <p:sp>
          <p:nvSpPr>
            <p:cNvPr name="TextBox 12" id="12"/>
            <p:cNvSpPr txBox="true"/>
            <p:nvPr/>
          </p:nvSpPr>
          <p:spPr>
            <a:xfrm>
              <a:off x="0" y="-190500"/>
              <a:ext cx="5852160" cy="4030980"/>
            </a:xfrm>
            <a:prstGeom prst="rect">
              <a:avLst/>
            </a:prstGeom>
          </p:spPr>
          <p:txBody>
            <a:bodyPr anchor="ctr" rtlCol="false" tIns="0" lIns="0" bIns="0" rIns="0"/>
            <a:lstStyle/>
            <a:p>
              <a:pPr algn="l">
                <a:lnSpc>
                  <a:spcPts val="23400"/>
                </a:lnSpc>
              </a:pPr>
              <a:r>
                <a:rPr lang="en-US" sz="19500" b="true">
                  <a:solidFill>
                    <a:srgbClr val="2F6364"/>
                  </a:solidFill>
                  <a:latin typeface="Poppins Bold"/>
                  <a:ea typeface="Poppins Bold"/>
                  <a:cs typeface="Poppins Bold"/>
                  <a:sym typeface="Poppins Bold"/>
                </a:rPr>
                <a:t>01</a:t>
              </a:r>
            </a:p>
          </p:txBody>
        </p:sp>
      </p:grpSp>
      <p:grpSp>
        <p:nvGrpSpPr>
          <p:cNvPr name="Group 13" id="13"/>
          <p:cNvGrpSpPr/>
          <p:nvPr/>
        </p:nvGrpSpPr>
        <p:grpSpPr>
          <a:xfrm rot="0">
            <a:off x="1069848" y="3730752"/>
            <a:ext cx="10149840" cy="466344"/>
            <a:chOff x="0" y="0"/>
            <a:chExt cx="13533120" cy="621792"/>
          </a:xfrm>
        </p:grpSpPr>
        <p:sp>
          <p:nvSpPr>
            <p:cNvPr name="Freeform 14" id="14"/>
            <p:cNvSpPr/>
            <p:nvPr/>
          </p:nvSpPr>
          <p:spPr>
            <a:xfrm flipH="false" flipV="false" rot="0">
              <a:off x="0" y="0"/>
              <a:ext cx="13533120" cy="621792"/>
            </a:xfrm>
            <a:custGeom>
              <a:avLst/>
              <a:gdLst/>
              <a:ahLst/>
              <a:cxnLst/>
              <a:rect r="r" b="b" t="t" l="l"/>
              <a:pathLst>
                <a:path h="621792" w="13533120">
                  <a:moveTo>
                    <a:pt x="0" y="0"/>
                  </a:moveTo>
                  <a:lnTo>
                    <a:pt x="13533120" y="0"/>
                  </a:lnTo>
                  <a:lnTo>
                    <a:pt x="13533120" y="621792"/>
                  </a:lnTo>
                  <a:lnTo>
                    <a:pt x="0" y="621792"/>
                  </a:lnTo>
                  <a:close/>
                </a:path>
              </a:pathLst>
            </a:custGeom>
            <a:blipFill>
              <a:blip r:embed="rId9">
                <a:alphaModFix amt="0"/>
              </a:blip>
              <a:stretch>
                <a:fillRect l="0" t="-374086" r="0" b="-374086"/>
              </a:stretch>
            </a:blipFill>
          </p:spPr>
        </p:sp>
        <p:sp>
          <p:nvSpPr>
            <p:cNvPr name="TextBox 15" id="15"/>
            <p:cNvSpPr txBox="true"/>
            <p:nvPr/>
          </p:nvSpPr>
          <p:spPr>
            <a:xfrm>
              <a:off x="0" y="-19050"/>
              <a:ext cx="13533120" cy="640842"/>
            </a:xfrm>
            <a:prstGeom prst="rect">
              <a:avLst/>
            </a:prstGeom>
          </p:spPr>
          <p:txBody>
            <a:bodyPr anchor="ctr" rtlCol="false" tIns="0" lIns="0" bIns="0" rIns="0"/>
            <a:lstStyle/>
            <a:p>
              <a:pPr algn="l">
                <a:lnSpc>
                  <a:spcPts val="2340"/>
                </a:lnSpc>
              </a:pPr>
              <a:r>
                <a:rPr lang="en-US" b="true" sz="1950" spc="375">
                  <a:solidFill>
                    <a:srgbClr val="8FBEBE"/>
                  </a:solidFill>
                  <a:latin typeface="Poppins Bold"/>
                  <a:ea typeface="Poppins Bold"/>
                  <a:cs typeface="Poppins Bold"/>
                  <a:sym typeface="Poppins Bold"/>
                </a:rPr>
                <a:t>PART ONE</a:t>
              </a:r>
            </a:p>
          </p:txBody>
        </p:sp>
      </p:grpSp>
      <p:grpSp>
        <p:nvGrpSpPr>
          <p:cNvPr name="Group 16" id="16"/>
          <p:cNvGrpSpPr/>
          <p:nvPr/>
        </p:nvGrpSpPr>
        <p:grpSpPr>
          <a:xfrm rot="0">
            <a:off x="1069848" y="4361688"/>
            <a:ext cx="1851660" cy="116586"/>
            <a:chOff x="0" y="0"/>
            <a:chExt cx="2468880" cy="155448"/>
          </a:xfrm>
        </p:grpSpPr>
        <p:sp>
          <p:nvSpPr>
            <p:cNvPr name="Freeform 17" id="17"/>
            <p:cNvSpPr/>
            <p:nvPr/>
          </p:nvSpPr>
          <p:spPr>
            <a:xfrm flipH="false" flipV="false" rot="0">
              <a:off x="0" y="0"/>
              <a:ext cx="2468880" cy="155448"/>
            </a:xfrm>
            <a:custGeom>
              <a:avLst/>
              <a:gdLst/>
              <a:ahLst/>
              <a:cxnLst/>
              <a:rect r="r" b="b" t="t" l="l"/>
              <a:pathLst>
                <a:path h="155448" w="2468880">
                  <a:moveTo>
                    <a:pt x="0" y="0"/>
                  </a:moveTo>
                  <a:lnTo>
                    <a:pt x="2468880" y="0"/>
                  </a:lnTo>
                  <a:lnTo>
                    <a:pt x="2468880" y="155448"/>
                  </a:lnTo>
                  <a:lnTo>
                    <a:pt x="0" y="155448"/>
                  </a:lnTo>
                  <a:close/>
                </a:path>
              </a:pathLst>
            </a:custGeom>
            <a:solidFill>
              <a:srgbClr val="387F7F"/>
            </a:solidFill>
          </p:spPr>
        </p:sp>
      </p:grpSp>
      <p:grpSp>
        <p:nvGrpSpPr>
          <p:cNvPr name="Group 18" id="18"/>
          <p:cNvGrpSpPr/>
          <p:nvPr/>
        </p:nvGrpSpPr>
        <p:grpSpPr>
          <a:xfrm rot="0">
            <a:off x="1069848" y="4732020"/>
            <a:ext cx="11109960" cy="2194560"/>
            <a:chOff x="0" y="0"/>
            <a:chExt cx="14813280" cy="2926080"/>
          </a:xfrm>
        </p:grpSpPr>
        <p:sp>
          <p:nvSpPr>
            <p:cNvPr name="Freeform 19" id="19"/>
            <p:cNvSpPr/>
            <p:nvPr/>
          </p:nvSpPr>
          <p:spPr>
            <a:xfrm flipH="false" flipV="false" rot="0">
              <a:off x="0" y="0"/>
              <a:ext cx="14813280" cy="2926080"/>
            </a:xfrm>
            <a:custGeom>
              <a:avLst/>
              <a:gdLst/>
              <a:ahLst/>
              <a:cxnLst/>
              <a:rect r="r" b="b" t="t" l="l"/>
              <a:pathLst>
                <a:path h="2926080" w="14813280">
                  <a:moveTo>
                    <a:pt x="0" y="0"/>
                  </a:moveTo>
                  <a:lnTo>
                    <a:pt x="14813280" y="0"/>
                  </a:lnTo>
                  <a:lnTo>
                    <a:pt x="14813280" y="2926080"/>
                  </a:lnTo>
                  <a:lnTo>
                    <a:pt x="0" y="2926080"/>
                  </a:lnTo>
                  <a:close/>
                </a:path>
              </a:pathLst>
            </a:custGeom>
            <a:blipFill>
              <a:blip r:embed="rId9">
                <a:alphaModFix amt="0"/>
              </a:blip>
              <a:stretch>
                <a:fillRect l="0" t="-48643" r="0" b="-48643"/>
              </a:stretch>
            </a:blipFill>
          </p:spPr>
        </p:sp>
        <p:sp>
          <p:nvSpPr>
            <p:cNvPr name="TextBox 20" id="20"/>
            <p:cNvSpPr txBox="true"/>
            <p:nvPr/>
          </p:nvSpPr>
          <p:spPr>
            <a:xfrm>
              <a:off x="0" y="-104775"/>
              <a:ext cx="14813280" cy="3030855"/>
            </a:xfrm>
            <a:prstGeom prst="rect">
              <a:avLst/>
            </a:prstGeom>
          </p:spPr>
          <p:txBody>
            <a:bodyPr anchor="ctr" rtlCol="false" tIns="0" lIns="0" bIns="0" rIns="0"/>
            <a:lstStyle/>
            <a:p>
              <a:pPr algn="l">
                <a:lnSpc>
                  <a:spcPts val="6998"/>
                </a:lnSpc>
              </a:pPr>
              <a:r>
                <a:rPr lang="en-US" sz="5400" b="true">
                  <a:solidFill>
                    <a:srgbClr val="FFFFFF"/>
                  </a:solidFill>
                  <a:latin typeface="Poppins Bold"/>
                  <a:ea typeface="Poppins Bold"/>
                  <a:cs typeface="Poppins Bold"/>
                  <a:sym typeface="Poppins Bold"/>
                </a:rPr>
                <a:t>The failure</a:t>
              </a:r>
            </a:p>
          </p:txBody>
        </p:sp>
      </p:grpSp>
      <p:grpSp>
        <p:nvGrpSpPr>
          <p:cNvPr name="Group 21" id="21"/>
          <p:cNvGrpSpPr/>
          <p:nvPr/>
        </p:nvGrpSpPr>
        <p:grpSpPr>
          <a:xfrm rot="0">
            <a:off x="1124712" y="7399782"/>
            <a:ext cx="219456" cy="219456"/>
            <a:chOff x="0" y="0"/>
            <a:chExt cx="292608" cy="292608"/>
          </a:xfrm>
        </p:grpSpPr>
        <p:sp>
          <p:nvSpPr>
            <p:cNvPr name="Freeform 22" id="22"/>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23" id="23"/>
          <p:cNvGrpSpPr/>
          <p:nvPr/>
        </p:nvGrpSpPr>
        <p:grpSpPr>
          <a:xfrm rot="0">
            <a:off x="1645920" y="7283196"/>
            <a:ext cx="9875520" cy="466344"/>
            <a:chOff x="0" y="0"/>
            <a:chExt cx="13167360" cy="621792"/>
          </a:xfrm>
        </p:grpSpPr>
        <p:sp>
          <p:nvSpPr>
            <p:cNvPr name="Freeform 24" id="24"/>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25" id="25"/>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Watch a flat table produce a confident wrong answer</a:t>
              </a:r>
            </a:p>
          </p:txBody>
        </p:sp>
      </p:grpSp>
      <p:grpSp>
        <p:nvGrpSpPr>
          <p:cNvPr name="Group 26" id="26"/>
          <p:cNvGrpSpPr/>
          <p:nvPr/>
        </p:nvGrpSpPr>
        <p:grpSpPr>
          <a:xfrm rot="0">
            <a:off x="1124712" y="7975854"/>
            <a:ext cx="219456" cy="219456"/>
            <a:chOff x="0" y="0"/>
            <a:chExt cx="292608" cy="292608"/>
          </a:xfrm>
        </p:grpSpPr>
        <p:sp>
          <p:nvSpPr>
            <p:cNvPr name="Freeform 27" id="27"/>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28" id="28"/>
          <p:cNvGrpSpPr/>
          <p:nvPr/>
        </p:nvGrpSpPr>
        <p:grpSpPr>
          <a:xfrm rot="0">
            <a:off x="1645920" y="7859268"/>
            <a:ext cx="9875520" cy="466344"/>
            <a:chOff x="0" y="0"/>
            <a:chExt cx="13167360" cy="621792"/>
          </a:xfrm>
        </p:grpSpPr>
        <p:sp>
          <p:nvSpPr>
            <p:cNvPr name="Freeform 29" id="29"/>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30" id="30"/>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Understand why the grain changed underneath you</a:t>
              </a:r>
            </a:p>
          </p:txBody>
        </p:sp>
      </p:grpSp>
      <p:grpSp>
        <p:nvGrpSpPr>
          <p:cNvPr name="Group 31" id="31"/>
          <p:cNvGrpSpPr/>
          <p:nvPr/>
        </p:nvGrpSpPr>
        <p:grpSpPr>
          <a:xfrm rot="0">
            <a:off x="1124712" y="8551926"/>
            <a:ext cx="219456" cy="219456"/>
            <a:chOff x="0" y="0"/>
            <a:chExt cx="292608" cy="292608"/>
          </a:xfrm>
        </p:grpSpPr>
        <p:sp>
          <p:nvSpPr>
            <p:cNvPr name="Freeform 32" id="32"/>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33" id="33"/>
          <p:cNvGrpSpPr/>
          <p:nvPr/>
        </p:nvGrpSpPr>
        <p:grpSpPr>
          <a:xfrm rot="0">
            <a:off x="1645920" y="8435340"/>
            <a:ext cx="9875520" cy="466344"/>
            <a:chOff x="0" y="0"/>
            <a:chExt cx="13167360" cy="621792"/>
          </a:xfrm>
        </p:grpSpPr>
        <p:sp>
          <p:nvSpPr>
            <p:cNvPr name="Freeform 34" id="34"/>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35" id="35"/>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See the three costs, only one of which is obvious</a:t>
              </a:r>
            </a:p>
          </p:txBody>
        </p:sp>
      </p:grpSp>
      <p:sp>
        <p:nvSpPr>
          <p:cNvPr name="Freeform 36" id="36"/>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5352554"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Watch</a:t>
            </a:r>
            <a:r>
              <a:rPr lang="en-US" sz="5000">
                <a:solidFill>
                  <a:srgbClr val="388080"/>
                </a:solidFill>
                <a:latin typeface="Poppins"/>
                <a:ea typeface="Poppins"/>
                <a:cs typeface="Poppins"/>
                <a:sym typeface="Poppins"/>
              </a:rPr>
              <a:t> this break</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3098780" y="754380"/>
            <a:ext cx="2743200" cy="685800"/>
            <a:chOff x="0" y="0"/>
            <a:chExt cx="3657600" cy="914400"/>
          </a:xfrm>
        </p:grpSpPr>
        <p:sp>
          <p:nvSpPr>
            <p:cNvPr name="Freeform 12" id="12"/>
            <p:cNvSpPr/>
            <p:nvPr/>
          </p:nvSpPr>
          <p:spPr>
            <a:xfrm flipH="false" flipV="false" rot="0">
              <a:off x="0" y="0"/>
              <a:ext cx="3657600" cy="914400"/>
            </a:xfrm>
            <a:custGeom>
              <a:avLst/>
              <a:gdLst/>
              <a:ahLst/>
              <a:cxnLst/>
              <a:rect r="r" b="b" t="t" l="l"/>
              <a:pathLst>
                <a:path h="914400" w="3657600">
                  <a:moveTo>
                    <a:pt x="0" y="457200"/>
                  </a:moveTo>
                  <a:cubicBezTo>
                    <a:pt x="0" y="204724"/>
                    <a:pt x="204724" y="0"/>
                    <a:pt x="457200" y="0"/>
                  </a:cubicBezTo>
                  <a:lnTo>
                    <a:pt x="3200400" y="0"/>
                  </a:lnTo>
                  <a:cubicBezTo>
                    <a:pt x="3452876" y="0"/>
                    <a:pt x="3657600" y="204724"/>
                    <a:pt x="3657600" y="457200"/>
                  </a:cubicBezTo>
                  <a:cubicBezTo>
                    <a:pt x="3657600" y="709676"/>
                    <a:pt x="3452876" y="914400"/>
                    <a:pt x="3200400" y="914400"/>
                  </a:cubicBezTo>
                  <a:lnTo>
                    <a:pt x="457200" y="914400"/>
                  </a:lnTo>
                  <a:cubicBezTo>
                    <a:pt x="204724" y="914400"/>
                    <a:pt x="0" y="709676"/>
                    <a:pt x="0" y="457200"/>
                  </a:cubicBezTo>
                  <a:close/>
                </a:path>
              </a:pathLst>
            </a:custGeom>
            <a:solidFill>
              <a:srgbClr val="A8322D"/>
            </a:solidFill>
          </p:spPr>
        </p:sp>
      </p:grpSp>
      <p:grpSp>
        <p:nvGrpSpPr>
          <p:cNvPr name="Group 13" id="13"/>
          <p:cNvGrpSpPr/>
          <p:nvPr/>
        </p:nvGrpSpPr>
        <p:grpSpPr>
          <a:xfrm rot="0">
            <a:off x="13098780" y="754380"/>
            <a:ext cx="2743200" cy="685800"/>
            <a:chOff x="0" y="0"/>
            <a:chExt cx="3657600" cy="914400"/>
          </a:xfrm>
        </p:grpSpPr>
        <p:sp>
          <p:nvSpPr>
            <p:cNvPr name="Freeform 14" id="14"/>
            <p:cNvSpPr/>
            <p:nvPr/>
          </p:nvSpPr>
          <p:spPr>
            <a:xfrm flipH="false" flipV="false" rot="0">
              <a:off x="0" y="0"/>
              <a:ext cx="3657600" cy="914400"/>
            </a:xfrm>
            <a:custGeom>
              <a:avLst/>
              <a:gdLst/>
              <a:ahLst/>
              <a:cxnLst/>
              <a:rect r="r" b="b" t="t" l="l"/>
              <a:pathLst>
                <a:path h="914400" w="3657600">
                  <a:moveTo>
                    <a:pt x="0" y="0"/>
                  </a:moveTo>
                  <a:lnTo>
                    <a:pt x="3657600" y="0"/>
                  </a:lnTo>
                  <a:lnTo>
                    <a:pt x="3657600" y="914400"/>
                  </a:lnTo>
                  <a:lnTo>
                    <a:pt x="0" y="914400"/>
                  </a:lnTo>
                  <a:close/>
                </a:path>
              </a:pathLst>
            </a:custGeom>
            <a:blipFill>
              <a:blip r:embed="rId9">
                <a:alphaModFix amt="0"/>
              </a:blip>
              <a:stretch>
                <a:fillRect l="0" t="-27940" r="0" b="-27940"/>
              </a:stretch>
            </a:blipFill>
          </p:spPr>
        </p:sp>
        <p:sp>
          <p:nvSpPr>
            <p:cNvPr name="TextBox 15" id="15"/>
            <p:cNvSpPr txBox="true"/>
            <p:nvPr/>
          </p:nvSpPr>
          <p:spPr>
            <a:xfrm>
              <a:off x="0" y="-19050"/>
              <a:ext cx="3657600" cy="933450"/>
            </a:xfrm>
            <a:prstGeom prst="rect">
              <a:avLst/>
            </a:prstGeom>
          </p:spPr>
          <p:txBody>
            <a:bodyPr anchor="ctr" rtlCol="false" tIns="0" lIns="0" bIns="0" rIns="0"/>
            <a:lstStyle/>
            <a:p>
              <a:pPr algn="ctr">
                <a:lnSpc>
                  <a:spcPts val="2160"/>
                </a:lnSpc>
              </a:pPr>
              <a:r>
                <a:rPr lang="en-US" sz="1800" b="true">
                  <a:solidFill>
                    <a:srgbClr val="FFFFFF"/>
                  </a:solidFill>
                  <a:latin typeface="Poppins Bold"/>
                  <a:ea typeface="Poppins Bold"/>
                  <a:cs typeface="Poppins Bold"/>
                  <a:sym typeface="Poppins Bold"/>
                </a:rPr>
                <a:t>LIVE DEMO</a:t>
              </a:r>
            </a:p>
          </p:txBody>
        </p:sp>
      </p:grpSp>
      <p:grpSp>
        <p:nvGrpSpPr>
          <p:cNvPr name="Group 16" id="16"/>
          <p:cNvGrpSpPr/>
          <p:nvPr/>
        </p:nvGrpSpPr>
        <p:grpSpPr>
          <a:xfrm rot="0">
            <a:off x="1019175" y="2571531"/>
            <a:ext cx="9311640" cy="5252704"/>
            <a:chOff x="0" y="0"/>
            <a:chExt cx="12415520" cy="7003606"/>
          </a:xfrm>
        </p:grpSpPr>
        <p:sp>
          <p:nvSpPr>
            <p:cNvPr name="Freeform 17" id="17"/>
            <p:cNvSpPr/>
            <p:nvPr/>
          </p:nvSpPr>
          <p:spPr>
            <a:xfrm flipH="false" flipV="false" rot="0">
              <a:off x="0" y="0"/>
              <a:ext cx="12415520" cy="7003669"/>
            </a:xfrm>
            <a:custGeom>
              <a:avLst/>
              <a:gdLst/>
              <a:ahLst/>
              <a:cxnLst/>
              <a:rect r="r" b="b" t="t" l="l"/>
              <a:pathLst>
                <a:path h="7003669" w="12415520">
                  <a:moveTo>
                    <a:pt x="0" y="191008"/>
                  </a:moveTo>
                  <a:cubicBezTo>
                    <a:pt x="0" y="85471"/>
                    <a:pt x="85471" y="0"/>
                    <a:pt x="191008" y="0"/>
                  </a:cubicBezTo>
                  <a:lnTo>
                    <a:pt x="12224512" y="0"/>
                  </a:lnTo>
                  <a:cubicBezTo>
                    <a:pt x="12330049" y="0"/>
                    <a:pt x="12415520" y="85471"/>
                    <a:pt x="12415520" y="191008"/>
                  </a:cubicBezTo>
                  <a:lnTo>
                    <a:pt x="12415520" y="6812661"/>
                  </a:lnTo>
                  <a:cubicBezTo>
                    <a:pt x="12415520" y="6918198"/>
                    <a:pt x="12330049" y="7003669"/>
                    <a:pt x="12224512" y="7003669"/>
                  </a:cubicBezTo>
                  <a:lnTo>
                    <a:pt x="191008" y="7003669"/>
                  </a:lnTo>
                  <a:cubicBezTo>
                    <a:pt x="85471" y="7003669"/>
                    <a:pt x="0" y="6918071"/>
                    <a:pt x="0" y="6812661"/>
                  </a:cubicBezTo>
                  <a:close/>
                </a:path>
              </a:pathLst>
            </a:custGeom>
            <a:solidFill>
              <a:srgbClr val="EEF4F4"/>
            </a:solidFill>
            <a:ln w="19050" cap="sq">
              <a:solidFill>
                <a:srgbClr val="E2E8F0"/>
              </a:solidFill>
              <a:prstDash val="dash"/>
              <a:miter/>
            </a:ln>
          </p:spPr>
        </p:sp>
      </p:grpSp>
      <p:grpSp>
        <p:nvGrpSpPr>
          <p:cNvPr name="Group 18" id="18"/>
          <p:cNvGrpSpPr/>
          <p:nvPr/>
        </p:nvGrpSpPr>
        <p:grpSpPr>
          <a:xfrm rot="0">
            <a:off x="10629900" y="2581056"/>
            <a:ext cx="5143500" cy="4526280"/>
            <a:chOff x="0" y="0"/>
            <a:chExt cx="6858000" cy="6035040"/>
          </a:xfrm>
        </p:grpSpPr>
        <p:sp>
          <p:nvSpPr>
            <p:cNvPr name="Freeform 19" id="19"/>
            <p:cNvSpPr/>
            <p:nvPr/>
          </p:nvSpPr>
          <p:spPr>
            <a:xfrm flipH="false" flipV="false" rot="0">
              <a:off x="0" y="0"/>
              <a:ext cx="6858000" cy="6035040"/>
            </a:xfrm>
            <a:custGeom>
              <a:avLst/>
              <a:gdLst/>
              <a:ahLst/>
              <a:cxnLst/>
              <a:rect r="r" b="b" t="t" l="l"/>
              <a:pathLst>
                <a:path h="6035040" w="6858000">
                  <a:moveTo>
                    <a:pt x="0" y="164592"/>
                  </a:moveTo>
                  <a:cubicBezTo>
                    <a:pt x="0" y="73660"/>
                    <a:pt x="73660" y="0"/>
                    <a:pt x="164592" y="0"/>
                  </a:cubicBezTo>
                  <a:lnTo>
                    <a:pt x="6693408" y="0"/>
                  </a:lnTo>
                  <a:cubicBezTo>
                    <a:pt x="6784340" y="0"/>
                    <a:pt x="6858000" y="73660"/>
                    <a:pt x="6858000" y="164592"/>
                  </a:cubicBezTo>
                  <a:lnTo>
                    <a:pt x="6858000" y="5870448"/>
                  </a:lnTo>
                  <a:cubicBezTo>
                    <a:pt x="6858000" y="5961380"/>
                    <a:pt x="6784340" y="6035040"/>
                    <a:pt x="6693408" y="6035040"/>
                  </a:cubicBezTo>
                  <a:lnTo>
                    <a:pt x="164592" y="6035040"/>
                  </a:lnTo>
                  <a:cubicBezTo>
                    <a:pt x="73660" y="6035040"/>
                    <a:pt x="0" y="5961380"/>
                    <a:pt x="0" y="5870448"/>
                  </a:cubicBezTo>
                  <a:close/>
                </a:path>
              </a:pathLst>
            </a:custGeom>
            <a:solidFill>
              <a:srgbClr val="FFFFFF"/>
            </a:solidFill>
          </p:spPr>
        </p:sp>
      </p:grpSp>
      <p:grpSp>
        <p:nvGrpSpPr>
          <p:cNvPr name="Group 20" id="20"/>
          <p:cNvGrpSpPr/>
          <p:nvPr/>
        </p:nvGrpSpPr>
        <p:grpSpPr>
          <a:xfrm rot="0">
            <a:off x="10629900" y="2581056"/>
            <a:ext cx="102870" cy="4526280"/>
            <a:chOff x="0" y="0"/>
            <a:chExt cx="137160" cy="6035040"/>
          </a:xfrm>
        </p:grpSpPr>
        <p:sp>
          <p:nvSpPr>
            <p:cNvPr name="Freeform 21" id="21"/>
            <p:cNvSpPr/>
            <p:nvPr/>
          </p:nvSpPr>
          <p:spPr>
            <a:xfrm flipH="false" flipV="false" rot="0">
              <a:off x="0" y="0"/>
              <a:ext cx="137160" cy="6035040"/>
            </a:xfrm>
            <a:custGeom>
              <a:avLst/>
              <a:gdLst/>
              <a:ahLst/>
              <a:cxnLst/>
              <a:rect r="r" b="b" t="t" l="l"/>
              <a:pathLst>
                <a:path h="6035040" w="137160">
                  <a:moveTo>
                    <a:pt x="0" y="0"/>
                  </a:moveTo>
                  <a:lnTo>
                    <a:pt x="137160" y="0"/>
                  </a:lnTo>
                  <a:lnTo>
                    <a:pt x="137160" y="6035040"/>
                  </a:lnTo>
                  <a:lnTo>
                    <a:pt x="0" y="6035040"/>
                  </a:lnTo>
                  <a:close/>
                </a:path>
              </a:pathLst>
            </a:custGeom>
            <a:solidFill>
              <a:srgbClr val="A8322D"/>
            </a:solidFill>
          </p:spPr>
        </p:sp>
      </p:grpSp>
      <p:grpSp>
        <p:nvGrpSpPr>
          <p:cNvPr name="Group 22" id="22"/>
          <p:cNvGrpSpPr/>
          <p:nvPr/>
        </p:nvGrpSpPr>
        <p:grpSpPr>
          <a:xfrm rot="0">
            <a:off x="11041380" y="2882808"/>
            <a:ext cx="4526280" cy="411480"/>
            <a:chOff x="0" y="0"/>
            <a:chExt cx="6035040" cy="548640"/>
          </a:xfrm>
        </p:grpSpPr>
        <p:sp>
          <p:nvSpPr>
            <p:cNvPr name="Freeform 23" id="23"/>
            <p:cNvSpPr/>
            <p:nvPr/>
          </p:nvSpPr>
          <p:spPr>
            <a:xfrm flipH="false" flipV="false" rot="0">
              <a:off x="0" y="0"/>
              <a:ext cx="6035040" cy="548640"/>
            </a:xfrm>
            <a:custGeom>
              <a:avLst/>
              <a:gdLst/>
              <a:ahLst/>
              <a:cxnLst/>
              <a:rect r="r" b="b" t="t" l="l"/>
              <a:pathLst>
                <a:path h="548640" w="6035040">
                  <a:moveTo>
                    <a:pt x="0" y="0"/>
                  </a:moveTo>
                  <a:lnTo>
                    <a:pt x="6035040" y="0"/>
                  </a:lnTo>
                  <a:lnTo>
                    <a:pt x="6035040" y="548640"/>
                  </a:lnTo>
                  <a:lnTo>
                    <a:pt x="0" y="548640"/>
                  </a:lnTo>
                  <a:close/>
                </a:path>
              </a:pathLst>
            </a:custGeom>
            <a:blipFill>
              <a:blip r:embed="rId9">
                <a:alphaModFix amt="0"/>
              </a:blip>
              <a:stretch>
                <a:fillRect l="0" t="-164335" r="0" b="-164335"/>
              </a:stretch>
            </a:blipFill>
          </p:spPr>
        </p:sp>
        <p:sp>
          <p:nvSpPr>
            <p:cNvPr name="TextBox 24" id="24"/>
            <p:cNvSpPr txBox="true"/>
            <p:nvPr/>
          </p:nvSpPr>
          <p:spPr>
            <a:xfrm>
              <a:off x="0" y="-9525"/>
              <a:ext cx="6035040" cy="558165"/>
            </a:xfrm>
            <a:prstGeom prst="rect">
              <a:avLst/>
            </a:prstGeom>
          </p:spPr>
          <p:txBody>
            <a:bodyPr anchor="ctr" rtlCol="false" tIns="0" lIns="0" bIns="0" rIns="0"/>
            <a:lstStyle/>
            <a:p>
              <a:pPr algn="l">
                <a:lnSpc>
                  <a:spcPts val="1980"/>
                </a:lnSpc>
              </a:pPr>
              <a:r>
                <a:rPr lang="en-US" sz="1650" b="true">
                  <a:solidFill>
                    <a:srgbClr val="A8322D"/>
                  </a:solidFill>
                  <a:latin typeface="Poppins Bold"/>
                  <a:ea typeface="Poppins Bold"/>
                  <a:cs typeface="Poppins Bold"/>
                  <a:sym typeface="Poppins Bold"/>
                </a:rPr>
                <a:t>WHAT YOU ARE SEEING</a:t>
              </a:r>
            </a:p>
          </p:txBody>
        </p:sp>
      </p:grpSp>
      <p:sp>
        <p:nvSpPr>
          <p:cNvPr name="TextBox 25" id="25"/>
          <p:cNvSpPr txBox="true"/>
          <p:nvPr/>
        </p:nvSpPr>
        <p:spPr>
          <a:xfrm rot="0">
            <a:off x="11041380" y="3318291"/>
            <a:ext cx="4526280" cy="3514725"/>
          </a:xfrm>
          <a:prstGeom prst="rect">
            <a:avLst/>
          </a:prstGeom>
        </p:spPr>
        <p:txBody>
          <a:bodyPr anchor="t" rtlCol="false" tIns="0" lIns="0" bIns="0" rIns="0">
            <a:spAutoFit/>
          </a:bodyPr>
          <a:lstStyle/>
          <a:p>
            <a:pPr algn="l">
              <a:lnSpc>
                <a:spcPts val="3159"/>
              </a:lnSpc>
            </a:pPr>
            <a:r>
              <a:rPr lang="en-US" sz="2025">
                <a:solidFill>
                  <a:srgbClr val="475569"/>
                </a:solidFill>
                <a:latin typeface="Poppins"/>
                <a:ea typeface="Poppins"/>
                <a:cs typeface="Poppins"/>
                <a:sym typeface="Poppins"/>
              </a:rPr>
              <a:t>One table. Somebody joined all five SwiftRoute files together in Excel before importing, producing one wide table of 41,280 rows.</a:t>
            </a:r>
          </a:p>
          <a:p>
            <a:pPr algn="l">
              <a:lnSpc>
                <a:spcPts val="3159"/>
              </a:lnSpc>
            </a:pPr>
          </a:p>
          <a:p>
            <a:pPr algn="l">
              <a:lnSpc>
                <a:spcPts val="3159"/>
              </a:lnSpc>
            </a:pPr>
            <a:r>
              <a:rPr lang="en-US" sz="2025">
                <a:solidFill>
                  <a:srgbClr val="475569"/>
                </a:solidFill>
                <a:latin typeface="Poppins"/>
                <a:ea typeface="Poppins"/>
                <a:cs typeface="Poppins"/>
                <a:sym typeface="Poppins"/>
              </a:rPr>
              <a:t>It loaded without a single error. Every visual builds. Nothing warns you.</a:t>
            </a:r>
          </a:p>
        </p:txBody>
      </p:sp>
      <p:grpSp>
        <p:nvGrpSpPr>
          <p:cNvPr name="Group 26" id="26"/>
          <p:cNvGrpSpPr/>
          <p:nvPr/>
        </p:nvGrpSpPr>
        <p:grpSpPr>
          <a:xfrm rot="0">
            <a:off x="1028700" y="8159153"/>
            <a:ext cx="14744700" cy="1508760"/>
            <a:chOff x="0" y="0"/>
            <a:chExt cx="19659600" cy="2011680"/>
          </a:xfrm>
        </p:grpSpPr>
        <p:sp>
          <p:nvSpPr>
            <p:cNvPr name="Freeform 27" id="27"/>
            <p:cNvSpPr/>
            <p:nvPr/>
          </p:nvSpPr>
          <p:spPr>
            <a:xfrm flipH="false" flipV="false" rot="0">
              <a:off x="0" y="0"/>
              <a:ext cx="19659600" cy="2011680"/>
            </a:xfrm>
            <a:custGeom>
              <a:avLst/>
              <a:gdLst/>
              <a:ahLst/>
              <a:cxnLst/>
              <a:rect r="r" b="b" t="t" l="l"/>
              <a:pathLst>
                <a:path h="2011680" w="19659600">
                  <a:moveTo>
                    <a:pt x="0" y="164592"/>
                  </a:moveTo>
                  <a:cubicBezTo>
                    <a:pt x="0" y="73660"/>
                    <a:pt x="73660" y="0"/>
                    <a:pt x="164592" y="0"/>
                  </a:cubicBezTo>
                  <a:lnTo>
                    <a:pt x="19495008" y="0"/>
                  </a:lnTo>
                  <a:cubicBezTo>
                    <a:pt x="19585939" y="0"/>
                    <a:pt x="19659600" y="73660"/>
                    <a:pt x="19659600" y="164592"/>
                  </a:cubicBezTo>
                  <a:lnTo>
                    <a:pt x="19659600" y="1847088"/>
                  </a:lnTo>
                  <a:cubicBezTo>
                    <a:pt x="19659600" y="1938020"/>
                    <a:pt x="19585939" y="2011680"/>
                    <a:pt x="19495008" y="2011680"/>
                  </a:cubicBezTo>
                  <a:lnTo>
                    <a:pt x="164592" y="2011680"/>
                  </a:lnTo>
                  <a:cubicBezTo>
                    <a:pt x="73660" y="2011680"/>
                    <a:pt x="0" y="1938020"/>
                    <a:pt x="0" y="1847088"/>
                  </a:cubicBezTo>
                  <a:close/>
                </a:path>
              </a:pathLst>
            </a:custGeom>
            <a:solidFill>
              <a:srgbClr val="EEF4F4"/>
            </a:solidFill>
          </p:spPr>
        </p:sp>
      </p:grpSp>
      <p:grpSp>
        <p:nvGrpSpPr>
          <p:cNvPr name="Group 28" id="28"/>
          <p:cNvGrpSpPr/>
          <p:nvPr/>
        </p:nvGrpSpPr>
        <p:grpSpPr>
          <a:xfrm rot="0">
            <a:off x="1028700" y="8159153"/>
            <a:ext cx="102870" cy="1508760"/>
            <a:chOff x="0" y="0"/>
            <a:chExt cx="137160" cy="2011680"/>
          </a:xfrm>
        </p:grpSpPr>
        <p:sp>
          <p:nvSpPr>
            <p:cNvPr name="Freeform 29" id="29"/>
            <p:cNvSpPr/>
            <p:nvPr/>
          </p:nvSpPr>
          <p:spPr>
            <a:xfrm flipH="false" flipV="false" rot="0">
              <a:off x="0" y="0"/>
              <a:ext cx="137160" cy="2011680"/>
            </a:xfrm>
            <a:custGeom>
              <a:avLst/>
              <a:gdLst/>
              <a:ahLst/>
              <a:cxnLst/>
              <a:rect r="r" b="b" t="t" l="l"/>
              <a:pathLst>
                <a:path h="2011680" w="137160">
                  <a:moveTo>
                    <a:pt x="0" y="0"/>
                  </a:moveTo>
                  <a:lnTo>
                    <a:pt x="137160" y="0"/>
                  </a:lnTo>
                  <a:lnTo>
                    <a:pt x="137160" y="2011680"/>
                  </a:lnTo>
                  <a:lnTo>
                    <a:pt x="0" y="2011680"/>
                  </a:lnTo>
                  <a:close/>
                </a:path>
              </a:pathLst>
            </a:custGeom>
            <a:solidFill>
              <a:srgbClr val="387F7F"/>
            </a:solidFill>
          </p:spPr>
        </p:sp>
      </p:grpSp>
      <p:grpSp>
        <p:nvGrpSpPr>
          <p:cNvPr name="Group 30" id="30"/>
          <p:cNvGrpSpPr/>
          <p:nvPr/>
        </p:nvGrpSpPr>
        <p:grpSpPr>
          <a:xfrm rot="0">
            <a:off x="1577340" y="8159153"/>
            <a:ext cx="13853160" cy="1508760"/>
            <a:chOff x="0" y="0"/>
            <a:chExt cx="18470880" cy="2011680"/>
          </a:xfrm>
        </p:grpSpPr>
        <p:sp>
          <p:nvSpPr>
            <p:cNvPr name="Freeform 31" id="31"/>
            <p:cNvSpPr/>
            <p:nvPr/>
          </p:nvSpPr>
          <p:spPr>
            <a:xfrm flipH="false" flipV="false" rot="0">
              <a:off x="0" y="0"/>
              <a:ext cx="18470880" cy="2011680"/>
            </a:xfrm>
            <a:custGeom>
              <a:avLst/>
              <a:gdLst/>
              <a:ahLst/>
              <a:cxnLst/>
              <a:rect r="r" b="b" t="t" l="l"/>
              <a:pathLst>
                <a:path h="2011680" w="18470880">
                  <a:moveTo>
                    <a:pt x="0" y="0"/>
                  </a:moveTo>
                  <a:lnTo>
                    <a:pt x="18470880" y="0"/>
                  </a:lnTo>
                  <a:lnTo>
                    <a:pt x="18470880" y="2011680"/>
                  </a:lnTo>
                  <a:lnTo>
                    <a:pt x="0" y="2011680"/>
                  </a:lnTo>
                  <a:close/>
                </a:path>
              </a:pathLst>
            </a:custGeom>
            <a:blipFill>
              <a:blip r:embed="rId9">
                <a:alphaModFix amt="0"/>
              </a:blip>
              <a:stretch>
                <a:fillRect l="0" t="-128908" r="0" b="-128908"/>
              </a:stretch>
            </a:blipFill>
          </p:spPr>
        </p:sp>
        <p:sp>
          <p:nvSpPr>
            <p:cNvPr name="TextBox 32" id="32"/>
            <p:cNvSpPr txBox="true"/>
            <p:nvPr/>
          </p:nvSpPr>
          <p:spPr>
            <a:xfrm>
              <a:off x="0" y="-104775"/>
              <a:ext cx="18470880" cy="2116455"/>
            </a:xfrm>
            <a:prstGeom prst="rect">
              <a:avLst/>
            </a:prstGeom>
          </p:spPr>
          <p:txBody>
            <a:bodyPr anchor="ctr" rtlCol="false" tIns="0" lIns="0" bIns="0" rIns="0"/>
            <a:lstStyle/>
            <a:p>
              <a:pPr algn="l">
                <a:lnSpc>
                  <a:spcPts val="3766"/>
                </a:lnSpc>
              </a:pPr>
              <a:r>
                <a:rPr lang="en-US" sz="2325" b="true">
                  <a:solidFill>
                    <a:srgbClr val="387F7F"/>
                  </a:solidFill>
                  <a:latin typeface="Poppins Bold"/>
                  <a:ea typeface="Poppins Bold"/>
                  <a:cs typeface="Poppins Bold"/>
                  <a:sym typeface="Poppins Bold"/>
                </a:rPr>
                <a:t>“That is 41,280. We have 68 riders.”  Let it sit for a moment before you say anything.</a:t>
              </a:r>
            </a:p>
          </p:txBody>
        </p:sp>
      </p:grpSp>
      <p:grpSp>
        <p:nvGrpSpPr>
          <p:cNvPr name="Group 33" id="33"/>
          <p:cNvGrpSpPr/>
          <p:nvPr/>
        </p:nvGrpSpPr>
        <p:grpSpPr>
          <a:xfrm rot="0">
            <a:off x="1097890" y="2658304"/>
            <a:ext cx="9192578" cy="5074301"/>
            <a:chOff x="0" y="0"/>
            <a:chExt cx="12256770" cy="6765734"/>
          </a:xfrm>
        </p:grpSpPr>
        <p:sp>
          <p:nvSpPr>
            <p:cNvPr name="Freeform 34" id="34"/>
            <p:cNvSpPr/>
            <p:nvPr/>
          </p:nvSpPr>
          <p:spPr>
            <a:xfrm flipH="false" flipV="false" rot="0">
              <a:off x="0" y="0"/>
              <a:ext cx="12256770" cy="6765798"/>
            </a:xfrm>
            <a:custGeom>
              <a:avLst/>
              <a:gdLst/>
              <a:ahLst/>
              <a:cxnLst/>
              <a:rect r="r" b="b" t="t" l="l"/>
              <a:pathLst>
                <a:path h="6765798" w="12256770">
                  <a:moveTo>
                    <a:pt x="0" y="0"/>
                  </a:moveTo>
                  <a:lnTo>
                    <a:pt x="12256770" y="0"/>
                  </a:lnTo>
                  <a:lnTo>
                    <a:pt x="12256770" y="6765798"/>
                  </a:lnTo>
                  <a:lnTo>
                    <a:pt x="0" y="6765798"/>
                  </a:lnTo>
                  <a:lnTo>
                    <a:pt x="0" y="0"/>
                  </a:lnTo>
                  <a:close/>
                </a:path>
              </a:pathLst>
            </a:custGeom>
            <a:blipFill>
              <a:blip r:embed="rId10"/>
              <a:stretch>
                <a:fillRect l="0" t="0" r="0"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4799370"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Th</a:t>
            </a:r>
            <a:r>
              <a:rPr lang="en-US" sz="5000">
                <a:solidFill>
                  <a:srgbClr val="388080"/>
                </a:solidFill>
                <a:latin typeface="Poppins"/>
                <a:ea typeface="Poppins"/>
                <a:cs typeface="Poppins"/>
                <a:sym typeface="Poppins"/>
              </a:rPr>
              <a:t>e rider is not a rider. It is a rider-per-delivery.</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895350" y="2678425"/>
            <a:ext cx="8915400" cy="3977640"/>
            <a:chOff x="0" y="0"/>
            <a:chExt cx="11887200" cy="5303520"/>
          </a:xfrm>
        </p:grpSpPr>
        <p:sp>
          <p:nvSpPr>
            <p:cNvPr name="Freeform 12" id="12"/>
            <p:cNvSpPr/>
            <p:nvPr/>
          </p:nvSpPr>
          <p:spPr>
            <a:xfrm flipH="false" flipV="false" rot="0">
              <a:off x="0" y="0"/>
              <a:ext cx="11887200" cy="5303520"/>
            </a:xfrm>
            <a:custGeom>
              <a:avLst/>
              <a:gdLst/>
              <a:ahLst/>
              <a:cxnLst/>
              <a:rect r="r" b="b" t="t" l="l"/>
              <a:pathLst>
                <a:path h="5303520" w="11887200">
                  <a:moveTo>
                    <a:pt x="0" y="146304"/>
                  </a:moveTo>
                  <a:cubicBezTo>
                    <a:pt x="0" y="65532"/>
                    <a:pt x="65532" y="0"/>
                    <a:pt x="146304" y="0"/>
                  </a:cubicBezTo>
                  <a:lnTo>
                    <a:pt x="11740896" y="0"/>
                  </a:lnTo>
                  <a:cubicBezTo>
                    <a:pt x="11821668" y="0"/>
                    <a:pt x="11887200" y="65532"/>
                    <a:pt x="11887200" y="146304"/>
                  </a:cubicBezTo>
                  <a:lnTo>
                    <a:pt x="11887200" y="5157216"/>
                  </a:lnTo>
                  <a:cubicBezTo>
                    <a:pt x="11887200" y="5237988"/>
                    <a:pt x="11821668" y="5303520"/>
                    <a:pt x="11740896" y="5303520"/>
                  </a:cubicBezTo>
                  <a:lnTo>
                    <a:pt x="146304" y="5303520"/>
                  </a:lnTo>
                  <a:cubicBezTo>
                    <a:pt x="65532" y="5303520"/>
                    <a:pt x="0" y="5237988"/>
                    <a:pt x="0" y="5157216"/>
                  </a:cubicBezTo>
                  <a:close/>
                </a:path>
              </a:pathLst>
            </a:custGeom>
            <a:solidFill>
              <a:srgbClr val="FFFFFF"/>
            </a:solidFill>
          </p:spPr>
        </p:sp>
      </p:grpSp>
      <p:grpSp>
        <p:nvGrpSpPr>
          <p:cNvPr name="Group 13" id="13"/>
          <p:cNvGrpSpPr/>
          <p:nvPr/>
        </p:nvGrpSpPr>
        <p:grpSpPr>
          <a:xfrm rot="0">
            <a:off x="895350" y="2678425"/>
            <a:ext cx="8915400" cy="576072"/>
            <a:chOff x="0" y="0"/>
            <a:chExt cx="11887200" cy="768096"/>
          </a:xfrm>
        </p:grpSpPr>
        <p:sp>
          <p:nvSpPr>
            <p:cNvPr name="Freeform 14" id="14"/>
            <p:cNvSpPr/>
            <p:nvPr/>
          </p:nvSpPr>
          <p:spPr>
            <a:xfrm flipH="false" flipV="false" rot="0">
              <a:off x="0" y="0"/>
              <a:ext cx="11887200" cy="768096"/>
            </a:xfrm>
            <a:custGeom>
              <a:avLst/>
              <a:gdLst/>
              <a:ahLst/>
              <a:cxnLst/>
              <a:rect r="r" b="b" t="t" l="l"/>
              <a:pathLst>
                <a:path h="768096" w="11887200">
                  <a:moveTo>
                    <a:pt x="0" y="0"/>
                  </a:moveTo>
                  <a:lnTo>
                    <a:pt x="11887200" y="0"/>
                  </a:lnTo>
                  <a:lnTo>
                    <a:pt x="11887200" y="768096"/>
                  </a:lnTo>
                  <a:lnTo>
                    <a:pt x="0" y="768096"/>
                  </a:lnTo>
                  <a:close/>
                </a:path>
              </a:pathLst>
            </a:custGeom>
            <a:solidFill>
              <a:srgbClr val="20494A"/>
            </a:solidFill>
          </p:spPr>
        </p:sp>
      </p:grpSp>
      <p:grpSp>
        <p:nvGrpSpPr>
          <p:cNvPr name="Group 15" id="15"/>
          <p:cNvGrpSpPr/>
          <p:nvPr/>
        </p:nvGrpSpPr>
        <p:grpSpPr>
          <a:xfrm rot="0">
            <a:off x="1101090" y="2678425"/>
            <a:ext cx="2125980" cy="576072"/>
            <a:chOff x="0" y="0"/>
            <a:chExt cx="2834640" cy="768096"/>
          </a:xfrm>
        </p:grpSpPr>
        <p:sp>
          <p:nvSpPr>
            <p:cNvPr name="Freeform 16" id="16"/>
            <p:cNvSpPr/>
            <p:nvPr/>
          </p:nvSpPr>
          <p:spPr>
            <a:xfrm flipH="false" flipV="false" rot="0">
              <a:off x="0" y="0"/>
              <a:ext cx="2834640" cy="768096"/>
            </a:xfrm>
            <a:custGeom>
              <a:avLst/>
              <a:gdLst/>
              <a:ahLst/>
              <a:cxnLst/>
              <a:rect r="r" b="b" t="t" l="l"/>
              <a:pathLst>
                <a:path h="768096" w="2834640">
                  <a:moveTo>
                    <a:pt x="0" y="0"/>
                  </a:moveTo>
                  <a:lnTo>
                    <a:pt x="2834640" y="0"/>
                  </a:lnTo>
                  <a:lnTo>
                    <a:pt x="2834640" y="768096"/>
                  </a:lnTo>
                  <a:lnTo>
                    <a:pt x="0" y="768096"/>
                  </a:lnTo>
                  <a:close/>
                </a:path>
              </a:pathLst>
            </a:custGeom>
            <a:blipFill>
              <a:blip r:embed="rId9">
                <a:alphaModFix amt="0"/>
              </a:blip>
              <a:stretch>
                <a:fillRect l="0" t="-21909" r="0" b="-21909"/>
              </a:stretch>
            </a:blipFill>
          </p:spPr>
        </p:sp>
        <p:sp>
          <p:nvSpPr>
            <p:cNvPr name="TextBox 17" id="17"/>
            <p:cNvSpPr txBox="true"/>
            <p:nvPr/>
          </p:nvSpPr>
          <p:spPr>
            <a:xfrm>
              <a:off x="0" y="-9525"/>
              <a:ext cx="2834640" cy="777621"/>
            </a:xfrm>
            <a:prstGeom prst="rect">
              <a:avLst/>
            </a:prstGeom>
          </p:spPr>
          <p:txBody>
            <a:bodyPr anchor="ctr" rtlCol="false" tIns="0" lIns="0" bIns="0" rIns="0"/>
            <a:lstStyle/>
            <a:p>
              <a:pPr algn="l">
                <a:lnSpc>
                  <a:spcPts val="1889"/>
                </a:lnSpc>
              </a:pPr>
              <a:r>
                <a:rPr lang="en-US" sz="1575" b="true">
                  <a:solidFill>
                    <a:srgbClr val="FFFFFF"/>
                  </a:solidFill>
                  <a:latin typeface="Poppins Bold"/>
                  <a:ea typeface="Poppins Bold"/>
                  <a:cs typeface="Poppins Bold"/>
                  <a:sym typeface="Poppins Bold"/>
                </a:rPr>
                <a:t>DeliveryID</a:t>
              </a:r>
            </a:p>
          </p:txBody>
        </p:sp>
      </p:grpSp>
      <p:grpSp>
        <p:nvGrpSpPr>
          <p:cNvPr name="Group 18" id="18"/>
          <p:cNvGrpSpPr/>
          <p:nvPr/>
        </p:nvGrpSpPr>
        <p:grpSpPr>
          <a:xfrm rot="0">
            <a:off x="3227070" y="2678425"/>
            <a:ext cx="2125980" cy="576072"/>
            <a:chOff x="0" y="0"/>
            <a:chExt cx="2834640" cy="768096"/>
          </a:xfrm>
        </p:grpSpPr>
        <p:sp>
          <p:nvSpPr>
            <p:cNvPr name="Freeform 19" id="19"/>
            <p:cNvSpPr/>
            <p:nvPr/>
          </p:nvSpPr>
          <p:spPr>
            <a:xfrm flipH="false" flipV="false" rot="0">
              <a:off x="0" y="0"/>
              <a:ext cx="2834640" cy="768096"/>
            </a:xfrm>
            <a:custGeom>
              <a:avLst/>
              <a:gdLst/>
              <a:ahLst/>
              <a:cxnLst/>
              <a:rect r="r" b="b" t="t" l="l"/>
              <a:pathLst>
                <a:path h="768096" w="2834640">
                  <a:moveTo>
                    <a:pt x="0" y="0"/>
                  </a:moveTo>
                  <a:lnTo>
                    <a:pt x="2834640" y="0"/>
                  </a:lnTo>
                  <a:lnTo>
                    <a:pt x="2834640" y="768096"/>
                  </a:lnTo>
                  <a:lnTo>
                    <a:pt x="0" y="768096"/>
                  </a:lnTo>
                  <a:close/>
                </a:path>
              </a:pathLst>
            </a:custGeom>
            <a:blipFill>
              <a:blip r:embed="rId9">
                <a:alphaModFix amt="0"/>
              </a:blip>
              <a:stretch>
                <a:fillRect l="0" t="-21909" r="0" b="-21909"/>
              </a:stretch>
            </a:blipFill>
          </p:spPr>
        </p:sp>
        <p:sp>
          <p:nvSpPr>
            <p:cNvPr name="TextBox 20" id="20"/>
            <p:cNvSpPr txBox="true"/>
            <p:nvPr/>
          </p:nvSpPr>
          <p:spPr>
            <a:xfrm>
              <a:off x="0" y="-9525"/>
              <a:ext cx="2834640" cy="777621"/>
            </a:xfrm>
            <a:prstGeom prst="rect">
              <a:avLst/>
            </a:prstGeom>
          </p:spPr>
          <p:txBody>
            <a:bodyPr anchor="ctr" rtlCol="false" tIns="0" lIns="0" bIns="0" rIns="0"/>
            <a:lstStyle/>
            <a:p>
              <a:pPr algn="l">
                <a:lnSpc>
                  <a:spcPts val="1889"/>
                </a:lnSpc>
              </a:pPr>
              <a:r>
                <a:rPr lang="en-US" sz="1575" b="true">
                  <a:solidFill>
                    <a:srgbClr val="FFFFFF"/>
                  </a:solidFill>
                  <a:latin typeface="Poppins Bold"/>
                  <a:ea typeface="Poppins Bold"/>
                  <a:cs typeface="Poppins Bold"/>
                  <a:sym typeface="Poppins Bold"/>
                </a:rPr>
                <a:t>RiderID</a:t>
              </a:r>
            </a:p>
          </p:txBody>
        </p:sp>
      </p:grpSp>
      <p:grpSp>
        <p:nvGrpSpPr>
          <p:cNvPr name="Group 21" id="21"/>
          <p:cNvGrpSpPr/>
          <p:nvPr/>
        </p:nvGrpSpPr>
        <p:grpSpPr>
          <a:xfrm rot="0">
            <a:off x="5353050" y="2678425"/>
            <a:ext cx="2125980" cy="576072"/>
            <a:chOff x="0" y="0"/>
            <a:chExt cx="2834640" cy="768096"/>
          </a:xfrm>
        </p:grpSpPr>
        <p:sp>
          <p:nvSpPr>
            <p:cNvPr name="Freeform 22" id="22"/>
            <p:cNvSpPr/>
            <p:nvPr/>
          </p:nvSpPr>
          <p:spPr>
            <a:xfrm flipH="false" flipV="false" rot="0">
              <a:off x="0" y="0"/>
              <a:ext cx="2834640" cy="768096"/>
            </a:xfrm>
            <a:custGeom>
              <a:avLst/>
              <a:gdLst/>
              <a:ahLst/>
              <a:cxnLst/>
              <a:rect r="r" b="b" t="t" l="l"/>
              <a:pathLst>
                <a:path h="768096" w="2834640">
                  <a:moveTo>
                    <a:pt x="0" y="0"/>
                  </a:moveTo>
                  <a:lnTo>
                    <a:pt x="2834640" y="0"/>
                  </a:lnTo>
                  <a:lnTo>
                    <a:pt x="2834640" y="768096"/>
                  </a:lnTo>
                  <a:lnTo>
                    <a:pt x="0" y="768096"/>
                  </a:lnTo>
                  <a:close/>
                </a:path>
              </a:pathLst>
            </a:custGeom>
            <a:blipFill>
              <a:blip r:embed="rId9">
                <a:alphaModFix amt="0"/>
              </a:blip>
              <a:stretch>
                <a:fillRect l="0" t="-21909" r="0" b="-21909"/>
              </a:stretch>
            </a:blipFill>
          </p:spPr>
        </p:sp>
        <p:sp>
          <p:nvSpPr>
            <p:cNvPr name="TextBox 23" id="23"/>
            <p:cNvSpPr txBox="true"/>
            <p:nvPr/>
          </p:nvSpPr>
          <p:spPr>
            <a:xfrm>
              <a:off x="0" y="-9525"/>
              <a:ext cx="2834640" cy="777621"/>
            </a:xfrm>
            <a:prstGeom prst="rect">
              <a:avLst/>
            </a:prstGeom>
          </p:spPr>
          <p:txBody>
            <a:bodyPr anchor="ctr" rtlCol="false" tIns="0" lIns="0" bIns="0" rIns="0"/>
            <a:lstStyle/>
            <a:p>
              <a:pPr algn="l">
                <a:lnSpc>
                  <a:spcPts val="1889"/>
                </a:lnSpc>
              </a:pPr>
              <a:r>
                <a:rPr lang="en-US" sz="1575" b="true">
                  <a:solidFill>
                    <a:srgbClr val="FFFFFF"/>
                  </a:solidFill>
                  <a:latin typeface="Poppins Bold"/>
                  <a:ea typeface="Poppins Bold"/>
                  <a:cs typeface="Poppins Bold"/>
                  <a:sym typeface="Poppins Bold"/>
                </a:rPr>
                <a:t>RiderName</a:t>
              </a:r>
            </a:p>
          </p:txBody>
        </p:sp>
      </p:grpSp>
      <p:grpSp>
        <p:nvGrpSpPr>
          <p:cNvPr name="Group 24" id="24"/>
          <p:cNvGrpSpPr/>
          <p:nvPr/>
        </p:nvGrpSpPr>
        <p:grpSpPr>
          <a:xfrm rot="0">
            <a:off x="7479030" y="2678425"/>
            <a:ext cx="2125980" cy="576072"/>
            <a:chOff x="0" y="0"/>
            <a:chExt cx="2834640" cy="768096"/>
          </a:xfrm>
        </p:grpSpPr>
        <p:sp>
          <p:nvSpPr>
            <p:cNvPr name="Freeform 25" id="25"/>
            <p:cNvSpPr/>
            <p:nvPr/>
          </p:nvSpPr>
          <p:spPr>
            <a:xfrm flipH="false" flipV="false" rot="0">
              <a:off x="0" y="0"/>
              <a:ext cx="2834640" cy="768096"/>
            </a:xfrm>
            <a:custGeom>
              <a:avLst/>
              <a:gdLst/>
              <a:ahLst/>
              <a:cxnLst/>
              <a:rect r="r" b="b" t="t" l="l"/>
              <a:pathLst>
                <a:path h="768096" w="2834640">
                  <a:moveTo>
                    <a:pt x="0" y="0"/>
                  </a:moveTo>
                  <a:lnTo>
                    <a:pt x="2834640" y="0"/>
                  </a:lnTo>
                  <a:lnTo>
                    <a:pt x="2834640" y="768096"/>
                  </a:lnTo>
                  <a:lnTo>
                    <a:pt x="0" y="768096"/>
                  </a:lnTo>
                  <a:close/>
                </a:path>
              </a:pathLst>
            </a:custGeom>
            <a:blipFill>
              <a:blip r:embed="rId9">
                <a:alphaModFix amt="0"/>
              </a:blip>
              <a:stretch>
                <a:fillRect l="0" t="-21909" r="0" b="-21909"/>
              </a:stretch>
            </a:blipFill>
          </p:spPr>
        </p:sp>
        <p:sp>
          <p:nvSpPr>
            <p:cNvPr name="TextBox 26" id="26"/>
            <p:cNvSpPr txBox="true"/>
            <p:nvPr/>
          </p:nvSpPr>
          <p:spPr>
            <a:xfrm>
              <a:off x="0" y="-9525"/>
              <a:ext cx="2834640" cy="777621"/>
            </a:xfrm>
            <a:prstGeom prst="rect">
              <a:avLst/>
            </a:prstGeom>
          </p:spPr>
          <p:txBody>
            <a:bodyPr anchor="ctr" rtlCol="false" tIns="0" lIns="0" bIns="0" rIns="0"/>
            <a:lstStyle/>
            <a:p>
              <a:pPr algn="l">
                <a:lnSpc>
                  <a:spcPts val="1889"/>
                </a:lnSpc>
              </a:pPr>
              <a:r>
                <a:rPr lang="en-US" sz="1575" b="true">
                  <a:solidFill>
                    <a:srgbClr val="FFFFFF"/>
                  </a:solidFill>
                  <a:latin typeface="Poppins Bold"/>
                  <a:ea typeface="Poppins Bold"/>
                  <a:cs typeface="Poppins Bold"/>
                  <a:sym typeface="Poppins Bold"/>
                </a:rPr>
                <a:t>Hub</a:t>
              </a:r>
            </a:p>
          </p:txBody>
        </p:sp>
      </p:grpSp>
      <p:grpSp>
        <p:nvGrpSpPr>
          <p:cNvPr name="Group 27" id="27"/>
          <p:cNvGrpSpPr/>
          <p:nvPr/>
        </p:nvGrpSpPr>
        <p:grpSpPr>
          <a:xfrm rot="0">
            <a:off x="895350" y="3254497"/>
            <a:ext cx="8915400" cy="555498"/>
            <a:chOff x="0" y="0"/>
            <a:chExt cx="11887200" cy="740664"/>
          </a:xfrm>
        </p:grpSpPr>
        <p:sp>
          <p:nvSpPr>
            <p:cNvPr name="Freeform 28" id="28"/>
            <p:cNvSpPr/>
            <p:nvPr/>
          </p:nvSpPr>
          <p:spPr>
            <a:xfrm flipH="false" flipV="false" rot="0">
              <a:off x="0" y="0"/>
              <a:ext cx="11887200" cy="740664"/>
            </a:xfrm>
            <a:custGeom>
              <a:avLst/>
              <a:gdLst/>
              <a:ahLst/>
              <a:cxnLst/>
              <a:rect r="r" b="b" t="t" l="l"/>
              <a:pathLst>
                <a:path h="740664" w="11887200">
                  <a:moveTo>
                    <a:pt x="0" y="0"/>
                  </a:moveTo>
                  <a:lnTo>
                    <a:pt x="11887200" y="0"/>
                  </a:lnTo>
                  <a:lnTo>
                    <a:pt x="11887200" y="740664"/>
                  </a:lnTo>
                  <a:lnTo>
                    <a:pt x="0" y="740664"/>
                  </a:lnTo>
                  <a:close/>
                </a:path>
              </a:pathLst>
            </a:custGeom>
            <a:solidFill>
              <a:srgbClr val="FBF0DC"/>
            </a:solidFill>
          </p:spPr>
        </p:sp>
      </p:grpSp>
      <p:grpSp>
        <p:nvGrpSpPr>
          <p:cNvPr name="Group 29" id="29"/>
          <p:cNvGrpSpPr/>
          <p:nvPr/>
        </p:nvGrpSpPr>
        <p:grpSpPr>
          <a:xfrm rot="0">
            <a:off x="1101090" y="3254497"/>
            <a:ext cx="2125980" cy="555498"/>
            <a:chOff x="0" y="0"/>
            <a:chExt cx="2834640" cy="740664"/>
          </a:xfrm>
        </p:grpSpPr>
        <p:sp>
          <p:nvSpPr>
            <p:cNvPr name="Freeform 30" id="30"/>
            <p:cNvSpPr/>
            <p:nvPr/>
          </p:nvSpPr>
          <p:spPr>
            <a:xfrm flipH="false" flipV="false" rot="0">
              <a:off x="0" y="0"/>
              <a:ext cx="2834640" cy="740664"/>
            </a:xfrm>
            <a:custGeom>
              <a:avLst/>
              <a:gdLst/>
              <a:ahLst/>
              <a:cxnLst/>
              <a:rect r="r" b="b" t="t" l="l"/>
              <a:pathLst>
                <a:path h="740664" w="2834640">
                  <a:moveTo>
                    <a:pt x="0" y="0"/>
                  </a:moveTo>
                  <a:lnTo>
                    <a:pt x="2834640" y="0"/>
                  </a:lnTo>
                  <a:lnTo>
                    <a:pt x="2834640" y="740664"/>
                  </a:lnTo>
                  <a:lnTo>
                    <a:pt x="0" y="740664"/>
                  </a:lnTo>
                  <a:close/>
                </a:path>
              </a:pathLst>
            </a:custGeom>
            <a:blipFill>
              <a:blip r:embed="rId9">
                <a:alphaModFix amt="0"/>
              </a:blip>
              <a:stretch>
                <a:fillRect l="0" t="-24572" r="0" b="-24572"/>
              </a:stretch>
            </a:blipFill>
          </p:spPr>
        </p:sp>
        <p:sp>
          <p:nvSpPr>
            <p:cNvPr name="TextBox 31" id="31"/>
            <p:cNvSpPr txBox="true"/>
            <p:nvPr/>
          </p:nvSpPr>
          <p:spPr>
            <a:xfrm>
              <a:off x="0" y="-9525"/>
              <a:ext cx="2834640" cy="750189"/>
            </a:xfrm>
            <a:prstGeom prst="rect">
              <a:avLst/>
            </a:prstGeom>
          </p:spPr>
          <p:txBody>
            <a:bodyPr anchor="ctr" rtlCol="false" tIns="0" lIns="0" bIns="0" rIns="0"/>
            <a:lstStyle/>
            <a:p>
              <a:pPr algn="l">
                <a:lnSpc>
                  <a:spcPts val="1889"/>
                </a:lnSpc>
              </a:pPr>
              <a:r>
                <a:rPr lang="en-US" sz="1575">
                  <a:solidFill>
                    <a:srgbClr val="8A5A12"/>
                  </a:solidFill>
                  <a:latin typeface="Poppins"/>
                  <a:ea typeface="Poppins"/>
                  <a:cs typeface="Poppins"/>
                  <a:sym typeface="Poppins"/>
                </a:rPr>
                <a:t>D-000019</a:t>
              </a:r>
            </a:p>
          </p:txBody>
        </p:sp>
      </p:grpSp>
      <p:grpSp>
        <p:nvGrpSpPr>
          <p:cNvPr name="Group 32" id="32"/>
          <p:cNvGrpSpPr/>
          <p:nvPr/>
        </p:nvGrpSpPr>
        <p:grpSpPr>
          <a:xfrm rot="0">
            <a:off x="3227070" y="3254497"/>
            <a:ext cx="2125980" cy="555498"/>
            <a:chOff x="0" y="0"/>
            <a:chExt cx="2834640" cy="740664"/>
          </a:xfrm>
        </p:grpSpPr>
        <p:sp>
          <p:nvSpPr>
            <p:cNvPr name="Freeform 33" id="33"/>
            <p:cNvSpPr/>
            <p:nvPr/>
          </p:nvSpPr>
          <p:spPr>
            <a:xfrm flipH="false" flipV="false" rot="0">
              <a:off x="0" y="0"/>
              <a:ext cx="2834640" cy="740664"/>
            </a:xfrm>
            <a:custGeom>
              <a:avLst/>
              <a:gdLst/>
              <a:ahLst/>
              <a:cxnLst/>
              <a:rect r="r" b="b" t="t" l="l"/>
              <a:pathLst>
                <a:path h="740664" w="2834640">
                  <a:moveTo>
                    <a:pt x="0" y="0"/>
                  </a:moveTo>
                  <a:lnTo>
                    <a:pt x="2834640" y="0"/>
                  </a:lnTo>
                  <a:lnTo>
                    <a:pt x="2834640" y="740664"/>
                  </a:lnTo>
                  <a:lnTo>
                    <a:pt x="0" y="740664"/>
                  </a:lnTo>
                  <a:close/>
                </a:path>
              </a:pathLst>
            </a:custGeom>
            <a:blipFill>
              <a:blip r:embed="rId9">
                <a:alphaModFix amt="0"/>
              </a:blip>
              <a:stretch>
                <a:fillRect l="0" t="-24572" r="0" b="-24572"/>
              </a:stretch>
            </a:blipFill>
          </p:spPr>
        </p:sp>
        <p:sp>
          <p:nvSpPr>
            <p:cNvPr name="TextBox 34" id="34"/>
            <p:cNvSpPr txBox="true"/>
            <p:nvPr/>
          </p:nvSpPr>
          <p:spPr>
            <a:xfrm>
              <a:off x="0" y="-9525"/>
              <a:ext cx="2834640" cy="750189"/>
            </a:xfrm>
            <a:prstGeom prst="rect">
              <a:avLst/>
            </a:prstGeom>
          </p:spPr>
          <p:txBody>
            <a:bodyPr anchor="ctr" rtlCol="false" tIns="0" lIns="0" bIns="0" rIns="0"/>
            <a:lstStyle/>
            <a:p>
              <a:pPr algn="l">
                <a:lnSpc>
                  <a:spcPts val="1889"/>
                </a:lnSpc>
              </a:pPr>
              <a:r>
                <a:rPr lang="en-US" sz="1575" b="true">
                  <a:solidFill>
                    <a:srgbClr val="8A5A12"/>
                  </a:solidFill>
                  <a:latin typeface="Poppins Bold"/>
                  <a:ea typeface="Poppins Bold"/>
                  <a:cs typeface="Poppins Bold"/>
                  <a:sym typeface="Poppins Bold"/>
                </a:rPr>
                <a:t>R-014</a:t>
              </a:r>
            </a:p>
          </p:txBody>
        </p:sp>
      </p:grpSp>
      <p:grpSp>
        <p:nvGrpSpPr>
          <p:cNvPr name="Group 35" id="35"/>
          <p:cNvGrpSpPr/>
          <p:nvPr/>
        </p:nvGrpSpPr>
        <p:grpSpPr>
          <a:xfrm rot="0">
            <a:off x="5353050" y="3254497"/>
            <a:ext cx="2125980" cy="555498"/>
            <a:chOff x="0" y="0"/>
            <a:chExt cx="2834640" cy="740664"/>
          </a:xfrm>
        </p:grpSpPr>
        <p:sp>
          <p:nvSpPr>
            <p:cNvPr name="Freeform 36" id="36"/>
            <p:cNvSpPr/>
            <p:nvPr/>
          </p:nvSpPr>
          <p:spPr>
            <a:xfrm flipH="false" flipV="false" rot="0">
              <a:off x="0" y="0"/>
              <a:ext cx="2834640" cy="740664"/>
            </a:xfrm>
            <a:custGeom>
              <a:avLst/>
              <a:gdLst/>
              <a:ahLst/>
              <a:cxnLst/>
              <a:rect r="r" b="b" t="t" l="l"/>
              <a:pathLst>
                <a:path h="740664" w="2834640">
                  <a:moveTo>
                    <a:pt x="0" y="0"/>
                  </a:moveTo>
                  <a:lnTo>
                    <a:pt x="2834640" y="0"/>
                  </a:lnTo>
                  <a:lnTo>
                    <a:pt x="2834640" y="740664"/>
                  </a:lnTo>
                  <a:lnTo>
                    <a:pt x="0" y="740664"/>
                  </a:lnTo>
                  <a:close/>
                </a:path>
              </a:pathLst>
            </a:custGeom>
            <a:blipFill>
              <a:blip r:embed="rId9">
                <a:alphaModFix amt="0"/>
              </a:blip>
              <a:stretch>
                <a:fillRect l="0" t="-24572" r="0" b="-24572"/>
              </a:stretch>
            </a:blipFill>
          </p:spPr>
        </p:sp>
        <p:sp>
          <p:nvSpPr>
            <p:cNvPr name="TextBox 37" id="37"/>
            <p:cNvSpPr txBox="true"/>
            <p:nvPr/>
          </p:nvSpPr>
          <p:spPr>
            <a:xfrm>
              <a:off x="0" y="-9525"/>
              <a:ext cx="2834640" cy="750189"/>
            </a:xfrm>
            <a:prstGeom prst="rect">
              <a:avLst/>
            </a:prstGeom>
          </p:spPr>
          <p:txBody>
            <a:bodyPr anchor="ctr" rtlCol="false" tIns="0" lIns="0" bIns="0" rIns="0"/>
            <a:lstStyle/>
            <a:p>
              <a:pPr algn="l">
                <a:lnSpc>
                  <a:spcPts val="1889"/>
                </a:lnSpc>
              </a:pPr>
              <a:r>
                <a:rPr lang="en-US" sz="1575" b="true">
                  <a:solidFill>
                    <a:srgbClr val="8A5A12"/>
                  </a:solidFill>
                  <a:latin typeface="Poppins Bold"/>
                  <a:ea typeface="Poppins Bold"/>
                  <a:cs typeface="Poppins Bold"/>
                  <a:sym typeface="Poppins Bold"/>
                </a:rPr>
                <a:t>Fatima Abubakar</a:t>
              </a:r>
            </a:p>
          </p:txBody>
        </p:sp>
      </p:grpSp>
      <p:grpSp>
        <p:nvGrpSpPr>
          <p:cNvPr name="Group 38" id="38"/>
          <p:cNvGrpSpPr/>
          <p:nvPr/>
        </p:nvGrpSpPr>
        <p:grpSpPr>
          <a:xfrm rot="0">
            <a:off x="7479030" y="3254497"/>
            <a:ext cx="2125980" cy="555498"/>
            <a:chOff x="0" y="0"/>
            <a:chExt cx="2834640" cy="740664"/>
          </a:xfrm>
        </p:grpSpPr>
        <p:sp>
          <p:nvSpPr>
            <p:cNvPr name="Freeform 39" id="39"/>
            <p:cNvSpPr/>
            <p:nvPr/>
          </p:nvSpPr>
          <p:spPr>
            <a:xfrm flipH="false" flipV="false" rot="0">
              <a:off x="0" y="0"/>
              <a:ext cx="2834640" cy="740664"/>
            </a:xfrm>
            <a:custGeom>
              <a:avLst/>
              <a:gdLst/>
              <a:ahLst/>
              <a:cxnLst/>
              <a:rect r="r" b="b" t="t" l="l"/>
              <a:pathLst>
                <a:path h="740664" w="2834640">
                  <a:moveTo>
                    <a:pt x="0" y="0"/>
                  </a:moveTo>
                  <a:lnTo>
                    <a:pt x="2834640" y="0"/>
                  </a:lnTo>
                  <a:lnTo>
                    <a:pt x="2834640" y="740664"/>
                  </a:lnTo>
                  <a:lnTo>
                    <a:pt x="0" y="740664"/>
                  </a:lnTo>
                  <a:close/>
                </a:path>
              </a:pathLst>
            </a:custGeom>
            <a:blipFill>
              <a:blip r:embed="rId9">
                <a:alphaModFix amt="0"/>
              </a:blip>
              <a:stretch>
                <a:fillRect l="0" t="-24572" r="0" b="-24572"/>
              </a:stretch>
            </a:blipFill>
          </p:spPr>
        </p:sp>
        <p:sp>
          <p:nvSpPr>
            <p:cNvPr name="TextBox 40" id="40"/>
            <p:cNvSpPr txBox="true"/>
            <p:nvPr/>
          </p:nvSpPr>
          <p:spPr>
            <a:xfrm>
              <a:off x="0" y="-9525"/>
              <a:ext cx="2834640" cy="750189"/>
            </a:xfrm>
            <a:prstGeom prst="rect">
              <a:avLst/>
            </a:prstGeom>
          </p:spPr>
          <p:txBody>
            <a:bodyPr anchor="ctr" rtlCol="false" tIns="0" lIns="0" bIns="0" rIns="0"/>
            <a:lstStyle/>
            <a:p>
              <a:pPr algn="l">
                <a:lnSpc>
                  <a:spcPts val="1889"/>
                </a:lnSpc>
              </a:pPr>
              <a:r>
                <a:rPr lang="en-US" sz="1575" b="true">
                  <a:solidFill>
                    <a:srgbClr val="8A5A12"/>
                  </a:solidFill>
                  <a:latin typeface="Poppins Bold"/>
                  <a:ea typeface="Poppins Bold"/>
                  <a:cs typeface="Poppins Bold"/>
                  <a:sym typeface="Poppins Bold"/>
                </a:rPr>
                <a:t>Ikeja</a:t>
              </a:r>
            </a:p>
          </p:txBody>
        </p:sp>
      </p:grpSp>
      <p:grpSp>
        <p:nvGrpSpPr>
          <p:cNvPr name="Group 41" id="41"/>
          <p:cNvGrpSpPr/>
          <p:nvPr/>
        </p:nvGrpSpPr>
        <p:grpSpPr>
          <a:xfrm rot="0">
            <a:off x="1101090" y="3809995"/>
            <a:ext cx="2125980" cy="555498"/>
            <a:chOff x="0" y="0"/>
            <a:chExt cx="2834640" cy="740664"/>
          </a:xfrm>
        </p:grpSpPr>
        <p:sp>
          <p:nvSpPr>
            <p:cNvPr name="Freeform 42" id="42"/>
            <p:cNvSpPr/>
            <p:nvPr/>
          </p:nvSpPr>
          <p:spPr>
            <a:xfrm flipH="false" flipV="false" rot="0">
              <a:off x="0" y="0"/>
              <a:ext cx="2834640" cy="740664"/>
            </a:xfrm>
            <a:custGeom>
              <a:avLst/>
              <a:gdLst/>
              <a:ahLst/>
              <a:cxnLst/>
              <a:rect r="r" b="b" t="t" l="l"/>
              <a:pathLst>
                <a:path h="740664" w="2834640">
                  <a:moveTo>
                    <a:pt x="0" y="0"/>
                  </a:moveTo>
                  <a:lnTo>
                    <a:pt x="2834640" y="0"/>
                  </a:lnTo>
                  <a:lnTo>
                    <a:pt x="2834640" y="740664"/>
                  </a:lnTo>
                  <a:lnTo>
                    <a:pt x="0" y="740664"/>
                  </a:lnTo>
                  <a:close/>
                </a:path>
              </a:pathLst>
            </a:custGeom>
            <a:blipFill>
              <a:blip r:embed="rId9">
                <a:alphaModFix amt="0"/>
              </a:blip>
              <a:stretch>
                <a:fillRect l="0" t="-24572" r="0" b="-24572"/>
              </a:stretch>
            </a:blipFill>
          </p:spPr>
        </p:sp>
        <p:sp>
          <p:nvSpPr>
            <p:cNvPr name="TextBox 43" id="43"/>
            <p:cNvSpPr txBox="true"/>
            <p:nvPr/>
          </p:nvSpPr>
          <p:spPr>
            <a:xfrm>
              <a:off x="0" y="-9525"/>
              <a:ext cx="2834640" cy="750189"/>
            </a:xfrm>
            <a:prstGeom prst="rect">
              <a:avLst/>
            </a:prstGeom>
          </p:spPr>
          <p:txBody>
            <a:bodyPr anchor="ctr" rtlCol="false" tIns="0" lIns="0" bIns="0" rIns="0"/>
            <a:lstStyle/>
            <a:p>
              <a:pPr algn="l">
                <a:lnSpc>
                  <a:spcPts val="1889"/>
                </a:lnSpc>
              </a:pPr>
              <a:r>
                <a:rPr lang="en-US" sz="1575">
                  <a:solidFill>
                    <a:srgbClr val="475569"/>
                  </a:solidFill>
                  <a:latin typeface="Poppins"/>
                  <a:ea typeface="Poppins"/>
                  <a:cs typeface="Poppins"/>
                  <a:sym typeface="Poppins"/>
                </a:rPr>
                <a:t>D-000001</a:t>
              </a:r>
            </a:p>
          </p:txBody>
        </p:sp>
      </p:grpSp>
      <p:grpSp>
        <p:nvGrpSpPr>
          <p:cNvPr name="Group 44" id="44"/>
          <p:cNvGrpSpPr/>
          <p:nvPr/>
        </p:nvGrpSpPr>
        <p:grpSpPr>
          <a:xfrm rot="0">
            <a:off x="3227070" y="3809995"/>
            <a:ext cx="2125980" cy="555498"/>
            <a:chOff x="0" y="0"/>
            <a:chExt cx="2834640" cy="740664"/>
          </a:xfrm>
        </p:grpSpPr>
        <p:sp>
          <p:nvSpPr>
            <p:cNvPr name="Freeform 45" id="45"/>
            <p:cNvSpPr/>
            <p:nvPr/>
          </p:nvSpPr>
          <p:spPr>
            <a:xfrm flipH="false" flipV="false" rot="0">
              <a:off x="0" y="0"/>
              <a:ext cx="2834640" cy="740664"/>
            </a:xfrm>
            <a:custGeom>
              <a:avLst/>
              <a:gdLst/>
              <a:ahLst/>
              <a:cxnLst/>
              <a:rect r="r" b="b" t="t" l="l"/>
              <a:pathLst>
                <a:path h="740664" w="2834640">
                  <a:moveTo>
                    <a:pt x="0" y="0"/>
                  </a:moveTo>
                  <a:lnTo>
                    <a:pt x="2834640" y="0"/>
                  </a:lnTo>
                  <a:lnTo>
                    <a:pt x="2834640" y="740664"/>
                  </a:lnTo>
                  <a:lnTo>
                    <a:pt x="0" y="740664"/>
                  </a:lnTo>
                  <a:close/>
                </a:path>
              </a:pathLst>
            </a:custGeom>
            <a:blipFill>
              <a:blip r:embed="rId9">
                <a:alphaModFix amt="0"/>
              </a:blip>
              <a:stretch>
                <a:fillRect l="0" t="-24572" r="0" b="-24572"/>
              </a:stretch>
            </a:blipFill>
          </p:spPr>
        </p:sp>
        <p:sp>
          <p:nvSpPr>
            <p:cNvPr name="TextBox 46" id="46"/>
            <p:cNvSpPr txBox="true"/>
            <p:nvPr/>
          </p:nvSpPr>
          <p:spPr>
            <a:xfrm>
              <a:off x="0" y="-9525"/>
              <a:ext cx="2834640" cy="750189"/>
            </a:xfrm>
            <a:prstGeom prst="rect">
              <a:avLst/>
            </a:prstGeom>
          </p:spPr>
          <p:txBody>
            <a:bodyPr anchor="ctr" rtlCol="false" tIns="0" lIns="0" bIns="0" rIns="0"/>
            <a:lstStyle/>
            <a:p>
              <a:pPr algn="l">
                <a:lnSpc>
                  <a:spcPts val="1889"/>
                </a:lnSpc>
              </a:pPr>
              <a:r>
                <a:rPr lang="en-US" sz="1575">
                  <a:solidFill>
                    <a:srgbClr val="475569"/>
                  </a:solidFill>
                  <a:latin typeface="Poppins"/>
                  <a:ea typeface="Poppins"/>
                  <a:cs typeface="Poppins"/>
                  <a:sym typeface="Poppins"/>
                </a:rPr>
                <a:t>R-002</a:t>
              </a:r>
            </a:p>
          </p:txBody>
        </p:sp>
      </p:grpSp>
      <p:grpSp>
        <p:nvGrpSpPr>
          <p:cNvPr name="Group 47" id="47"/>
          <p:cNvGrpSpPr/>
          <p:nvPr/>
        </p:nvGrpSpPr>
        <p:grpSpPr>
          <a:xfrm rot="0">
            <a:off x="5353050" y="3809995"/>
            <a:ext cx="2125980" cy="555498"/>
            <a:chOff x="0" y="0"/>
            <a:chExt cx="2834640" cy="740664"/>
          </a:xfrm>
        </p:grpSpPr>
        <p:sp>
          <p:nvSpPr>
            <p:cNvPr name="Freeform 48" id="48"/>
            <p:cNvSpPr/>
            <p:nvPr/>
          </p:nvSpPr>
          <p:spPr>
            <a:xfrm flipH="false" flipV="false" rot="0">
              <a:off x="0" y="0"/>
              <a:ext cx="2834640" cy="740664"/>
            </a:xfrm>
            <a:custGeom>
              <a:avLst/>
              <a:gdLst/>
              <a:ahLst/>
              <a:cxnLst/>
              <a:rect r="r" b="b" t="t" l="l"/>
              <a:pathLst>
                <a:path h="740664" w="2834640">
                  <a:moveTo>
                    <a:pt x="0" y="0"/>
                  </a:moveTo>
                  <a:lnTo>
                    <a:pt x="2834640" y="0"/>
                  </a:lnTo>
                  <a:lnTo>
                    <a:pt x="2834640" y="740664"/>
                  </a:lnTo>
                  <a:lnTo>
                    <a:pt x="0" y="740664"/>
                  </a:lnTo>
                  <a:close/>
                </a:path>
              </a:pathLst>
            </a:custGeom>
            <a:blipFill>
              <a:blip r:embed="rId9">
                <a:alphaModFix amt="0"/>
              </a:blip>
              <a:stretch>
                <a:fillRect l="0" t="-24572" r="0" b="-24572"/>
              </a:stretch>
            </a:blipFill>
          </p:spPr>
        </p:sp>
        <p:sp>
          <p:nvSpPr>
            <p:cNvPr name="TextBox 49" id="49"/>
            <p:cNvSpPr txBox="true"/>
            <p:nvPr/>
          </p:nvSpPr>
          <p:spPr>
            <a:xfrm>
              <a:off x="0" y="-9525"/>
              <a:ext cx="2834640" cy="750189"/>
            </a:xfrm>
            <a:prstGeom prst="rect">
              <a:avLst/>
            </a:prstGeom>
          </p:spPr>
          <p:txBody>
            <a:bodyPr anchor="ctr" rtlCol="false" tIns="0" lIns="0" bIns="0" rIns="0"/>
            <a:lstStyle/>
            <a:p>
              <a:pPr algn="l">
                <a:lnSpc>
                  <a:spcPts val="1889"/>
                </a:lnSpc>
              </a:pPr>
              <a:r>
                <a:rPr lang="en-US" sz="1575">
                  <a:solidFill>
                    <a:srgbClr val="475569"/>
                  </a:solidFill>
                  <a:latin typeface="Poppins"/>
                  <a:ea typeface="Poppins"/>
                  <a:cs typeface="Poppins"/>
                  <a:sym typeface="Poppins"/>
                </a:rPr>
                <a:t>Chioma Okonkwo</a:t>
              </a:r>
            </a:p>
          </p:txBody>
        </p:sp>
      </p:grpSp>
      <p:grpSp>
        <p:nvGrpSpPr>
          <p:cNvPr name="Group 50" id="50"/>
          <p:cNvGrpSpPr/>
          <p:nvPr/>
        </p:nvGrpSpPr>
        <p:grpSpPr>
          <a:xfrm rot="0">
            <a:off x="7479030" y="3809995"/>
            <a:ext cx="2125980" cy="555498"/>
            <a:chOff x="0" y="0"/>
            <a:chExt cx="2834640" cy="740664"/>
          </a:xfrm>
        </p:grpSpPr>
        <p:sp>
          <p:nvSpPr>
            <p:cNvPr name="Freeform 51" id="51"/>
            <p:cNvSpPr/>
            <p:nvPr/>
          </p:nvSpPr>
          <p:spPr>
            <a:xfrm flipH="false" flipV="false" rot="0">
              <a:off x="0" y="0"/>
              <a:ext cx="2834640" cy="740664"/>
            </a:xfrm>
            <a:custGeom>
              <a:avLst/>
              <a:gdLst/>
              <a:ahLst/>
              <a:cxnLst/>
              <a:rect r="r" b="b" t="t" l="l"/>
              <a:pathLst>
                <a:path h="740664" w="2834640">
                  <a:moveTo>
                    <a:pt x="0" y="0"/>
                  </a:moveTo>
                  <a:lnTo>
                    <a:pt x="2834640" y="0"/>
                  </a:lnTo>
                  <a:lnTo>
                    <a:pt x="2834640" y="740664"/>
                  </a:lnTo>
                  <a:lnTo>
                    <a:pt x="0" y="740664"/>
                  </a:lnTo>
                  <a:close/>
                </a:path>
              </a:pathLst>
            </a:custGeom>
            <a:blipFill>
              <a:blip r:embed="rId9">
                <a:alphaModFix amt="0"/>
              </a:blip>
              <a:stretch>
                <a:fillRect l="0" t="-24572" r="0" b="-24572"/>
              </a:stretch>
            </a:blipFill>
          </p:spPr>
        </p:sp>
        <p:sp>
          <p:nvSpPr>
            <p:cNvPr name="TextBox 52" id="52"/>
            <p:cNvSpPr txBox="true"/>
            <p:nvPr/>
          </p:nvSpPr>
          <p:spPr>
            <a:xfrm>
              <a:off x="0" y="-9525"/>
              <a:ext cx="2834640" cy="750189"/>
            </a:xfrm>
            <a:prstGeom prst="rect">
              <a:avLst/>
            </a:prstGeom>
          </p:spPr>
          <p:txBody>
            <a:bodyPr anchor="ctr" rtlCol="false" tIns="0" lIns="0" bIns="0" rIns="0"/>
            <a:lstStyle/>
            <a:p>
              <a:pPr algn="l">
                <a:lnSpc>
                  <a:spcPts val="1889"/>
                </a:lnSpc>
              </a:pPr>
              <a:r>
                <a:rPr lang="en-US" sz="1575">
                  <a:solidFill>
                    <a:srgbClr val="475569"/>
                  </a:solidFill>
                  <a:latin typeface="Poppins"/>
                  <a:ea typeface="Poppins"/>
                  <a:cs typeface="Poppins"/>
                  <a:sym typeface="Poppins"/>
                </a:rPr>
                <a:t>Ikeja</a:t>
              </a:r>
            </a:p>
          </p:txBody>
        </p:sp>
      </p:grpSp>
      <p:grpSp>
        <p:nvGrpSpPr>
          <p:cNvPr name="Group 53" id="53"/>
          <p:cNvGrpSpPr/>
          <p:nvPr/>
        </p:nvGrpSpPr>
        <p:grpSpPr>
          <a:xfrm rot="0">
            <a:off x="895350" y="4365493"/>
            <a:ext cx="8915400" cy="555498"/>
            <a:chOff x="0" y="0"/>
            <a:chExt cx="11887200" cy="740664"/>
          </a:xfrm>
        </p:grpSpPr>
        <p:sp>
          <p:nvSpPr>
            <p:cNvPr name="Freeform 54" id="54"/>
            <p:cNvSpPr/>
            <p:nvPr/>
          </p:nvSpPr>
          <p:spPr>
            <a:xfrm flipH="false" flipV="false" rot="0">
              <a:off x="0" y="0"/>
              <a:ext cx="11887200" cy="740664"/>
            </a:xfrm>
            <a:custGeom>
              <a:avLst/>
              <a:gdLst/>
              <a:ahLst/>
              <a:cxnLst/>
              <a:rect r="r" b="b" t="t" l="l"/>
              <a:pathLst>
                <a:path h="740664" w="11887200">
                  <a:moveTo>
                    <a:pt x="0" y="0"/>
                  </a:moveTo>
                  <a:lnTo>
                    <a:pt x="11887200" y="0"/>
                  </a:lnTo>
                  <a:lnTo>
                    <a:pt x="11887200" y="740664"/>
                  </a:lnTo>
                  <a:lnTo>
                    <a:pt x="0" y="740664"/>
                  </a:lnTo>
                  <a:close/>
                </a:path>
              </a:pathLst>
            </a:custGeom>
            <a:solidFill>
              <a:srgbClr val="FBF0DC"/>
            </a:solidFill>
          </p:spPr>
        </p:sp>
      </p:grpSp>
      <p:grpSp>
        <p:nvGrpSpPr>
          <p:cNvPr name="Group 55" id="55"/>
          <p:cNvGrpSpPr/>
          <p:nvPr/>
        </p:nvGrpSpPr>
        <p:grpSpPr>
          <a:xfrm rot="0">
            <a:off x="1101090" y="4365493"/>
            <a:ext cx="2125980" cy="555498"/>
            <a:chOff x="0" y="0"/>
            <a:chExt cx="2834640" cy="740664"/>
          </a:xfrm>
        </p:grpSpPr>
        <p:sp>
          <p:nvSpPr>
            <p:cNvPr name="Freeform 56" id="56"/>
            <p:cNvSpPr/>
            <p:nvPr/>
          </p:nvSpPr>
          <p:spPr>
            <a:xfrm flipH="false" flipV="false" rot="0">
              <a:off x="0" y="0"/>
              <a:ext cx="2834640" cy="740664"/>
            </a:xfrm>
            <a:custGeom>
              <a:avLst/>
              <a:gdLst/>
              <a:ahLst/>
              <a:cxnLst/>
              <a:rect r="r" b="b" t="t" l="l"/>
              <a:pathLst>
                <a:path h="740664" w="2834640">
                  <a:moveTo>
                    <a:pt x="0" y="0"/>
                  </a:moveTo>
                  <a:lnTo>
                    <a:pt x="2834640" y="0"/>
                  </a:lnTo>
                  <a:lnTo>
                    <a:pt x="2834640" y="740664"/>
                  </a:lnTo>
                  <a:lnTo>
                    <a:pt x="0" y="740664"/>
                  </a:lnTo>
                  <a:close/>
                </a:path>
              </a:pathLst>
            </a:custGeom>
            <a:blipFill>
              <a:blip r:embed="rId9">
                <a:alphaModFix amt="0"/>
              </a:blip>
              <a:stretch>
                <a:fillRect l="0" t="-24572" r="0" b="-24572"/>
              </a:stretch>
            </a:blipFill>
          </p:spPr>
        </p:sp>
        <p:sp>
          <p:nvSpPr>
            <p:cNvPr name="TextBox 57" id="57"/>
            <p:cNvSpPr txBox="true"/>
            <p:nvPr/>
          </p:nvSpPr>
          <p:spPr>
            <a:xfrm>
              <a:off x="0" y="-9525"/>
              <a:ext cx="2834640" cy="750189"/>
            </a:xfrm>
            <a:prstGeom prst="rect">
              <a:avLst/>
            </a:prstGeom>
          </p:spPr>
          <p:txBody>
            <a:bodyPr anchor="ctr" rtlCol="false" tIns="0" lIns="0" bIns="0" rIns="0"/>
            <a:lstStyle/>
            <a:p>
              <a:pPr algn="l">
                <a:lnSpc>
                  <a:spcPts val="1889"/>
                </a:lnSpc>
              </a:pPr>
              <a:r>
                <a:rPr lang="en-US" sz="1575">
                  <a:solidFill>
                    <a:srgbClr val="8A5A12"/>
                  </a:solidFill>
                  <a:latin typeface="Poppins"/>
                  <a:ea typeface="Poppins"/>
                  <a:cs typeface="Poppins"/>
                  <a:sym typeface="Poppins"/>
                </a:rPr>
                <a:t>D-000239</a:t>
              </a:r>
            </a:p>
          </p:txBody>
        </p:sp>
      </p:grpSp>
      <p:grpSp>
        <p:nvGrpSpPr>
          <p:cNvPr name="Group 58" id="58"/>
          <p:cNvGrpSpPr/>
          <p:nvPr/>
        </p:nvGrpSpPr>
        <p:grpSpPr>
          <a:xfrm rot="0">
            <a:off x="3227070" y="4365493"/>
            <a:ext cx="2125980" cy="555498"/>
            <a:chOff x="0" y="0"/>
            <a:chExt cx="2834640" cy="740664"/>
          </a:xfrm>
        </p:grpSpPr>
        <p:sp>
          <p:nvSpPr>
            <p:cNvPr name="Freeform 59" id="59"/>
            <p:cNvSpPr/>
            <p:nvPr/>
          </p:nvSpPr>
          <p:spPr>
            <a:xfrm flipH="false" flipV="false" rot="0">
              <a:off x="0" y="0"/>
              <a:ext cx="2834640" cy="740664"/>
            </a:xfrm>
            <a:custGeom>
              <a:avLst/>
              <a:gdLst/>
              <a:ahLst/>
              <a:cxnLst/>
              <a:rect r="r" b="b" t="t" l="l"/>
              <a:pathLst>
                <a:path h="740664" w="2834640">
                  <a:moveTo>
                    <a:pt x="0" y="0"/>
                  </a:moveTo>
                  <a:lnTo>
                    <a:pt x="2834640" y="0"/>
                  </a:lnTo>
                  <a:lnTo>
                    <a:pt x="2834640" y="740664"/>
                  </a:lnTo>
                  <a:lnTo>
                    <a:pt x="0" y="740664"/>
                  </a:lnTo>
                  <a:close/>
                </a:path>
              </a:pathLst>
            </a:custGeom>
            <a:blipFill>
              <a:blip r:embed="rId9">
                <a:alphaModFix amt="0"/>
              </a:blip>
              <a:stretch>
                <a:fillRect l="0" t="-24572" r="0" b="-24572"/>
              </a:stretch>
            </a:blipFill>
          </p:spPr>
        </p:sp>
        <p:sp>
          <p:nvSpPr>
            <p:cNvPr name="TextBox 60" id="60"/>
            <p:cNvSpPr txBox="true"/>
            <p:nvPr/>
          </p:nvSpPr>
          <p:spPr>
            <a:xfrm>
              <a:off x="0" y="-9525"/>
              <a:ext cx="2834640" cy="750189"/>
            </a:xfrm>
            <a:prstGeom prst="rect">
              <a:avLst/>
            </a:prstGeom>
          </p:spPr>
          <p:txBody>
            <a:bodyPr anchor="ctr" rtlCol="false" tIns="0" lIns="0" bIns="0" rIns="0"/>
            <a:lstStyle/>
            <a:p>
              <a:pPr algn="l">
                <a:lnSpc>
                  <a:spcPts val="1889"/>
                </a:lnSpc>
              </a:pPr>
              <a:r>
                <a:rPr lang="en-US" sz="1575" b="true">
                  <a:solidFill>
                    <a:srgbClr val="8A5A12"/>
                  </a:solidFill>
                  <a:latin typeface="Poppins Bold"/>
                  <a:ea typeface="Poppins Bold"/>
                  <a:cs typeface="Poppins Bold"/>
                  <a:sym typeface="Poppins Bold"/>
                </a:rPr>
                <a:t>R-014</a:t>
              </a:r>
            </a:p>
          </p:txBody>
        </p:sp>
      </p:grpSp>
      <p:grpSp>
        <p:nvGrpSpPr>
          <p:cNvPr name="Group 61" id="61"/>
          <p:cNvGrpSpPr/>
          <p:nvPr/>
        </p:nvGrpSpPr>
        <p:grpSpPr>
          <a:xfrm rot="0">
            <a:off x="5353050" y="4365493"/>
            <a:ext cx="2125980" cy="555498"/>
            <a:chOff x="0" y="0"/>
            <a:chExt cx="2834640" cy="740664"/>
          </a:xfrm>
        </p:grpSpPr>
        <p:sp>
          <p:nvSpPr>
            <p:cNvPr name="Freeform 62" id="62"/>
            <p:cNvSpPr/>
            <p:nvPr/>
          </p:nvSpPr>
          <p:spPr>
            <a:xfrm flipH="false" flipV="false" rot="0">
              <a:off x="0" y="0"/>
              <a:ext cx="2834640" cy="740664"/>
            </a:xfrm>
            <a:custGeom>
              <a:avLst/>
              <a:gdLst/>
              <a:ahLst/>
              <a:cxnLst/>
              <a:rect r="r" b="b" t="t" l="l"/>
              <a:pathLst>
                <a:path h="740664" w="2834640">
                  <a:moveTo>
                    <a:pt x="0" y="0"/>
                  </a:moveTo>
                  <a:lnTo>
                    <a:pt x="2834640" y="0"/>
                  </a:lnTo>
                  <a:lnTo>
                    <a:pt x="2834640" y="740664"/>
                  </a:lnTo>
                  <a:lnTo>
                    <a:pt x="0" y="740664"/>
                  </a:lnTo>
                  <a:close/>
                </a:path>
              </a:pathLst>
            </a:custGeom>
            <a:blipFill>
              <a:blip r:embed="rId9">
                <a:alphaModFix amt="0"/>
              </a:blip>
              <a:stretch>
                <a:fillRect l="0" t="-24572" r="0" b="-24572"/>
              </a:stretch>
            </a:blipFill>
          </p:spPr>
        </p:sp>
        <p:sp>
          <p:nvSpPr>
            <p:cNvPr name="TextBox 63" id="63"/>
            <p:cNvSpPr txBox="true"/>
            <p:nvPr/>
          </p:nvSpPr>
          <p:spPr>
            <a:xfrm>
              <a:off x="0" y="-9525"/>
              <a:ext cx="2834640" cy="750189"/>
            </a:xfrm>
            <a:prstGeom prst="rect">
              <a:avLst/>
            </a:prstGeom>
          </p:spPr>
          <p:txBody>
            <a:bodyPr anchor="ctr" rtlCol="false" tIns="0" lIns="0" bIns="0" rIns="0"/>
            <a:lstStyle/>
            <a:p>
              <a:pPr algn="l">
                <a:lnSpc>
                  <a:spcPts val="1889"/>
                </a:lnSpc>
              </a:pPr>
              <a:r>
                <a:rPr lang="en-US" sz="1575" b="true">
                  <a:solidFill>
                    <a:srgbClr val="8A5A12"/>
                  </a:solidFill>
                  <a:latin typeface="Poppins Bold"/>
                  <a:ea typeface="Poppins Bold"/>
                  <a:cs typeface="Poppins Bold"/>
                  <a:sym typeface="Poppins Bold"/>
                </a:rPr>
                <a:t>Fatima Abubakar</a:t>
              </a:r>
            </a:p>
          </p:txBody>
        </p:sp>
      </p:grpSp>
      <p:grpSp>
        <p:nvGrpSpPr>
          <p:cNvPr name="Group 64" id="64"/>
          <p:cNvGrpSpPr/>
          <p:nvPr/>
        </p:nvGrpSpPr>
        <p:grpSpPr>
          <a:xfrm rot="0">
            <a:off x="7479030" y="4365493"/>
            <a:ext cx="2125980" cy="555498"/>
            <a:chOff x="0" y="0"/>
            <a:chExt cx="2834640" cy="740664"/>
          </a:xfrm>
        </p:grpSpPr>
        <p:sp>
          <p:nvSpPr>
            <p:cNvPr name="Freeform 65" id="65"/>
            <p:cNvSpPr/>
            <p:nvPr/>
          </p:nvSpPr>
          <p:spPr>
            <a:xfrm flipH="false" flipV="false" rot="0">
              <a:off x="0" y="0"/>
              <a:ext cx="2834640" cy="740664"/>
            </a:xfrm>
            <a:custGeom>
              <a:avLst/>
              <a:gdLst/>
              <a:ahLst/>
              <a:cxnLst/>
              <a:rect r="r" b="b" t="t" l="l"/>
              <a:pathLst>
                <a:path h="740664" w="2834640">
                  <a:moveTo>
                    <a:pt x="0" y="0"/>
                  </a:moveTo>
                  <a:lnTo>
                    <a:pt x="2834640" y="0"/>
                  </a:lnTo>
                  <a:lnTo>
                    <a:pt x="2834640" y="740664"/>
                  </a:lnTo>
                  <a:lnTo>
                    <a:pt x="0" y="740664"/>
                  </a:lnTo>
                  <a:close/>
                </a:path>
              </a:pathLst>
            </a:custGeom>
            <a:blipFill>
              <a:blip r:embed="rId9">
                <a:alphaModFix amt="0"/>
              </a:blip>
              <a:stretch>
                <a:fillRect l="0" t="-24572" r="0" b="-24572"/>
              </a:stretch>
            </a:blipFill>
          </p:spPr>
        </p:sp>
        <p:sp>
          <p:nvSpPr>
            <p:cNvPr name="TextBox 66" id="66"/>
            <p:cNvSpPr txBox="true"/>
            <p:nvPr/>
          </p:nvSpPr>
          <p:spPr>
            <a:xfrm>
              <a:off x="0" y="-9525"/>
              <a:ext cx="2834640" cy="750189"/>
            </a:xfrm>
            <a:prstGeom prst="rect">
              <a:avLst/>
            </a:prstGeom>
          </p:spPr>
          <p:txBody>
            <a:bodyPr anchor="ctr" rtlCol="false" tIns="0" lIns="0" bIns="0" rIns="0"/>
            <a:lstStyle/>
            <a:p>
              <a:pPr algn="l">
                <a:lnSpc>
                  <a:spcPts val="1889"/>
                </a:lnSpc>
              </a:pPr>
              <a:r>
                <a:rPr lang="en-US" sz="1575" b="true">
                  <a:solidFill>
                    <a:srgbClr val="8A5A12"/>
                  </a:solidFill>
                  <a:latin typeface="Poppins Bold"/>
                  <a:ea typeface="Poppins Bold"/>
                  <a:cs typeface="Poppins Bold"/>
                  <a:sym typeface="Poppins Bold"/>
                </a:rPr>
                <a:t>Ikeja</a:t>
              </a:r>
            </a:p>
          </p:txBody>
        </p:sp>
      </p:grpSp>
      <p:grpSp>
        <p:nvGrpSpPr>
          <p:cNvPr name="Group 67" id="67"/>
          <p:cNvGrpSpPr/>
          <p:nvPr/>
        </p:nvGrpSpPr>
        <p:grpSpPr>
          <a:xfrm rot="0">
            <a:off x="895350" y="4920991"/>
            <a:ext cx="8915400" cy="555498"/>
            <a:chOff x="0" y="0"/>
            <a:chExt cx="11887200" cy="740664"/>
          </a:xfrm>
        </p:grpSpPr>
        <p:sp>
          <p:nvSpPr>
            <p:cNvPr name="Freeform 68" id="68"/>
            <p:cNvSpPr/>
            <p:nvPr/>
          </p:nvSpPr>
          <p:spPr>
            <a:xfrm flipH="false" flipV="false" rot="0">
              <a:off x="0" y="0"/>
              <a:ext cx="11887200" cy="740664"/>
            </a:xfrm>
            <a:custGeom>
              <a:avLst/>
              <a:gdLst/>
              <a:ahLst/>
              <a:cxnLst/>
              <a:rect r="r" b="b" t="t" l="l"/>
              <a:pathLst>
                <a:path h="740664" w="11887200">
                  <a:moveTo>
                    <a:pt x="0" y="0"/>
                  </a:moveTo>
                  <a:lnTo>
                    <a:pt x="11887200" y="0"/>
                  </a:lnTo>
                  <a:lnTo>
                    <a:pt x="11887200" y="740664"/>
                  </a:lnTo>
                  <a:lnTo>
                    <a:pt x="0" y="740664"/>
                  </a:lnTo>
                  <a:close/>
                </a:path>
              </a:pathLst>
            </a:custGeom>
            <a:solidFill>
              <a:srgbClr val="FBF0DC"/>
            </a:solidFill>
          </p:spPr>
        </p:sp>
      </p:grpSp>
      <p:grpSp>
        <p:nvGrpSpPr>
          <p:cNvPr name="Group 69" id="69"/>
          <p:cNvGrpSpPr/>
          <p:nvPr/>
        </p:nvGrpSpPr>
        <p:grpSpPr>
          <a:xfrm rot="0">
            <a:off x="1101090" y="4920991"/>
            <a:ext cx="2125980" cy="555498"/>
            <a:chOff x="0" y="0"/>
            <a:chExt cx="2834640" cy="740664"/>
          </a:xfrm>
        </p:grpSpPr>
        <p:sp>
          <p:nvSpPr>
            <p:cNvPr name="Freeform 70" id="70"/>
            <p:cNvSpPr/>
            <p:nvPr/>
          </p:nvSpPr>
          <p:spPr>
            <a:xfrm flipH="false" flipV="false" rot="0">
              <a:off x="0" y="0"/>
              <a:ext cx="2834640" cy="740664"/>
            </a:xfrm>
            <a:custGeom>
              <a:avLst/>
              <a:gdLst/>
              <a:ahLst/>
              <a:cxnLst/>
              <a:rect r="r" b="b" t="t" l="l"/>
              <a:pathLst>
                <a:path h="740664" w="2834640">
                  <a:moveTo>
                    <a:pt x="0" y="0"/>
                  </a:moveTo>
                  <a:lnTo>
                    <a:pt x="2834640" y="0"/>
                  </a:lnTo>
                  <a:lnTo>
                    <a:pt x="2834640" y="740664"/>
                  </a:lnTo>
                  <a:lnTo>
                    <a:pt x="0" y="740664"/>
                  </a:lnTo>
                  <a:close/>
                </a:path>
              </a:pathLst>
            </a:custGeom>
            <a:blipFill>
              <a:blip r:embed="rId9">
                <a:alphaModFix amt="0"/>
              </a:blip>
              <a:stretch>
                <a:fillRect l="0" t="-24572" r="0" b="-24572"/>
              </a:stretch>
            </a:blipFill>
          </p:spPr>
        </p:sp>
        <p:sp>
          <p:nvSpPr>
            <p:cNvPr name="TextBox 71" id="71"/>
            <p:cNvSpPr txBox="true"/>
            <p:nvPr/>
          </p:nvSpPr>
          <p:spPr>
            <a:xfrm>
              <a:off x="0" y="-9525"/>
              <a:ext cx="2834640" cy="750189"/>
            </a:xfrm>
            <a:prstGeom prst="rect">
              <a:avLst/>
            </a:prstGeom>
          </p:spPr>
          <p:txBody>
            <a:bodyPr anchor="ctr" rtlCol="false" tIns="0" lIns="0" bIns="0" rIns="0"/>
            <a:lstStyle/>
            <a:p>
              <a:pPr algn="l">
                <a:lnSpc>
                  <a:spcPts val="1889"/>
                </a:lnSpc>
              </a:pPr>
              <a:r>
                <a:rPr lang="en-US" sz="1575">
                  <a:solidFill>
                    <a:srgbClr val="8A5A12"/>
                  </a:solidFill>
                  <a:latin typeface="Poppins"/>
                  <a:ea typeface="Poppins"/>
                  <a:cs typeface="Poppins"/>
                  <a:sym typeface="Poppins"/>
                </a:rPr>
                <a:t>D-000369</a:t>
              </a:r>
            </a:p>
          </p:txBody>
        </p:sp>
      </p:grpSp>
      <p:grpSp>
        <p:nvGrpSpPr>
          <p:cNvPr name="Group 72" id="72"/>
          <p:cNvGrpSpPr/>
          <p:nvPr/>
        </p:nvGrpSpPr>
        <p:grpSpPr>
          <a:xfrm rot="0">
            <a:off x="3227070" y="4920991"/>
            <a:ext cx="2125980" cy="555498"/>
            <a:chOff x="0" y="0"/>
            <a:chExt cx="2834640" cy="740664"/>
          </a:xfrm>
        </p:grpSpPr>
        <p:sp>
          <p:nvSpPr>
            <p:cNvPr name="Freeform 73" id="73"/>
            <p:cNvSpPr/>
            <p:nvPr/>
          </p:nvSpPr>
          <p:spPr>
            <a:xfrm flipH="false" flipV="false" rot="0">
              <a:off x="0" y="0"/>
              <a:ext cx="2834640" cy="740664"/>
            </a:xfrm>
            <a:custGeom>
              <a:avLst/>
              <a:gdLst/>
              <a:ahLst/>
              <a:cxnLst/>
              <a:rect r="r" b="b" t="t" l="l"/>
              <a:pathLst>
                <a:path h="740664" w="2834640">
                  <a:moveTo>
                    <a:pt x="0" y="0"/>
                  </a:moveTo>
                  <a:lnTo>
                    <a:pt x="2834640" y="0"/>
                  </a:lnTo>
                  <a:lnTo>
                    <a:pt x="2834640" y="740664"/>
                  </a:lnTo>
                  <a:lnTo>
                    <a:pt x="0" y="740664"/>
                  </a:lnTo>
                  <a:close/>
                </a:path>
              </a:pathLst>
            </a:custGeom>
            <a:blipFill>
              <a:blip r:embed="rId9">
                <a:alphaModFix amt="0"/>
              </a:blip>
              <a:stretch>
                <a:fillRect l="0" t="-24572" r="0" b="-24572"/>
              </a:stretch>
            </a:blipFill>
          </p:spPr>
        </p:sp>
        <p:sp>
          <p:nvSpPr>
            <p:cNvPr name="TextBox 74" id="74"/>
            <p:cNvSpPr txBox="true"/>
            <p:nvPr/>
          </p:nvSpPr>
          <p:spPr>
            <a:xfrm>
              <a:off x="0" y="-9525"/>
              <a:ext cx="2834640" cy="750189"/>
            </a:xfrm>
            <a:prstGeom prst="rect">
              <a:avLst/>
            </a:prstGeom>
          </p:spPr>
          <p:txBody>
            <a:bodyPr anchor="ctr" rtlCol="false" tIns="0" lIns="0" bIns="0" rIns="0"/>
            <a:lstStyle/>
            <a:p>
              <a:pPr algn="l">
                <a:lnSpc>
                  <a:spcPts val="1889"/>
                </a:lnSpc>
              </a:pPr>
              <a:r>
                <a:rPr lang="en-US" sz="1575" b="true">
                  <a:solidFill>
                    <a:srgbClr val="8A5A12"/>
                  </a:solidFill>
                  <a:latin typeface="Poppins Bold"/>
                  <a:ea typeface="Poppins Bold"/>
                  <a:cs typeface="Poppins Bold"/>
                  <a:sym typeface="Poppins Bold"/>
                </a:rPr>
                <a:t>R-014</a:t>
              </a:r>
            </a:p>
          </p:txBody>
        </p:sp>
      </p:grpSp>
      <p:grpSp>
        <p:nvGrpSpPr>
          <p:cNvPr name="Group 75" id="75"/>
          <p:cNvGrpSpPr/>
          <p:nvPr/>
        </p:nvGrpSpPr>
        <p:grpSpPr>
          <a:xfrm rot="0">
            <a:off x="5353050" y="4920991"/>
            <a:ext cx="2125980" cy="555498"/>
            <a:chOff x="0" y="0"/>
            <a:chExt cx="2834640" cy="740664"/>
          </a:xfrm>
        </p:grpSpPr>
        <p:sp>
          <p:nvSpPr>
            <p:cNvPr name="Freeform 76" id="76"/>
            <p:cNvSpPr/>
            <p:nvPr/>
          </p:nvSpPr>
          <p:spPr>
            <a:xfrm flipH="false" flipV="false" rot="0">
              <a:off x="0" y="0"/>
              <a:ext cx="2834640" cy="740664"/>
            </a:xfrm>
            <a:custGeom>
              <a:avLst/>
              <a:gdLst/>
              <a:ahLst/>
              <a:cxnLst/>
              <a:rect r="r" b="b" t="t" l="l"/>
              <a:pathLst>
                <a:path h="740664" w="2834640">
                  <a:moveTo>
                    <a:pt x="0" y="0"/>
                  </a:moveTo>
                  <a:lnTo>
                    <a:pt x="2834640" y="0"/>
                  </a:lnTo>
                  <a:lnTo>
                    <a:pt x="2834640" y="740664"/>
                  </a:lnTo>
                  <a:lnTo>
                    <a:pt x="0" y="740664"/>
                  </a:lnTo>
                  <a:close/>
                </a:path>
              </a:pathLst>
            </a:custGeom>
            <a:blipFill>
              <a:blip r:embed="rId9">
                <a:alphaModFix amt="0"/>
              </a:blip>
              <a:stretch>
                <a:fillRect l="0" t="-24572" r="0" b="-24572"/>
              </a:stretch>
            </a:blipFill>
          </p:spPr>
        </p:sp>
        <p:sp>
          <p:nvSpPr>
            <p:cNvPr name="TextBox 77" id="77"/>
            <p:cNvSpPr txBox="true"/>
            <p:nvPr/>
          </p:nvSpPr>
          <p:spPr>
            <a:xfrm>
              <a:off x="0" y="-9525"/>
              <a:ext cx="2834640" cy="750189"/>
            </a:xfrm>
            <a:prstGeom prst="rect">
              <a:avLst/>
            </a:prstGeom>
          </p:spPr>
          <p:txBody>
            <a:bodyPr anchor="ctr" rtlCol="false" tIns="0" lIns="0" bIns="0" rIns="0"/>
            <a:lstStyle/>
            <a:p>
              <a:pPr algn="l">
                <a:lnSpc>
                  <a:spcPts val="1889"/>
                </a:lnSpc>
              </a:pPr>
              <a:r>
                <a:rPr lang="en-US" sz="1575" b="true">
                  <a:solidFill>
                    <a:srgbClr val="8A5A12"/>
                  </a:solidFill>
                  <a:latin typeface="Poppins Bold"/>
                  <a:ea typeface="Poppins Bold"/>
                  <a:cs typeface="Poppins Bold"/>
                  <a:sym typeface="Poppins Bold"/>
                </a:rPr>
                <a:t>Fatima Abubakar</a:t>
              </a:r>
            </a:p>
          </p:txBody>
        </p:sp>
      </p:grpSp>
      <p:grpSp>
        <p:nvGrpSpPr>
          <p:cNvPr name="Group 78" id="78"/>
          <p:cNvGrpSpPr/>
          <p:nvPr/>
        </p:nvGrpSpPr>
        <p:grpSpPr>
          <a:xfrm rot="0">
            <a:off x="7479030" y="4920991"/>
            <a:ext cx="2125980" cy="555498"/>
            <a:chOff x="0" y="0"/>
            <a:chExt cx="2834640" cy="740664"/>
          </a:xfrm>
        </p:grpSpPr>
        <p:sp>
          <p:nvSpPr>
            <p:cNvPr name="Freeform 79" id="79"/>
            <p:cNvSpPr/>
            <p:nvPr/>
          </p:nvSpPr>
          <p:spPr>
            <a:xfrm flipH="false" flipV="false" rot="0">
              <a:off x="0" y="0"/>
              <a:ext cx="2834640" cy="740664"/>
            </a:xfrm>
            <a:custGeom>
              <a:avLst/>
              <a:gdLst/>
              <a:ahLst/>
              <a:cxnLst/>
              <a:rect r="r" b="b" t="t" l="l"/>
              <a:pathLst>
                <a:path h="740664" w="2834640">
                  <a:moveTo>
                    <a:pt x="0" y="0"/>
                  </a:moveTo>
                  <a:lnTo>
                    <a:pt x="2834640" y="0"/>
                  </a:lnTo>
                  <a:lnTo>
                    <a:pt x="2834640" y="740664"/>
                  </a:lnTo>
                  <a:lnTo>
                    <a:pt x="0" y="740664"/>
                  </a:lnTo>
                  <a:close/>
                </a:path>
              </a:pathLst>
            </a:custGeom>
            <a:blipFill>
              <a:blip r:embed="rId9">
                <a:alphaModFix amt="0"/>
              </a:blip>
              <a:stretch>
                <a:fillRect l="0" t="-24572" r="0" b="-24572"/>
              </a:stretch>
            </a:blipFill>
          </p:spPr>
        </p:sp>
        <p:sp>
          <p:nvSpPr>
            <p:cNvPr name="TextBox 80" id="80"/>
            <p:cNvSpPr txBox="true"/>
            <p:nvPr/>
          </p:nvSpPr>
          <p:spPr>
            <a:xfrm>
              <a:off x="0" y="-9525"/>
              <a:ext cx="2834640" cy="750189"/>
            </a:xfrm>
            <a:prstGeom prst="rect">
              <a:avLst/>
            </a:prstGeom>
          </p:spPr>
          <p:txBody>
            <a:bodyPr anchor="ctr" rtlCol="false" tIns="0" lIns="0" bIns="0" rIns="0"/>
            <a:lstStyle/>
            <a:p>
              <a:pPr algn="l">
                <a:lnSpc>
                  <a:spcPts val="1889"/>
                </a:lnSpc>
              </a:pPr>
              <a:r>
                <a:rPr lang="en-US" sz="1575" b="true">
                  <a:solidFill>
                    <a:srgbClr val="8A5A12"/>
                  </a:solidFill>
                  <a:latin typeface="Poppins Bold"/>
                  <a:ea typeface="Poppins Bold"/>
                  <a:cs typeface="Poppins Bold"/>
                  <a:sym typeface="Poppins Bold"/>
                </a:rPr>
                <a:t>Ikeja</a:t>
              </a:r>
            </a:p>
          </p:txBody>
        </p:sp>
      </p:grpSp>
      <p:grpSp>
        <p:nvGrpSpPr>
          <p:cNvPr name="Group 81" id="81"/>
          <p:cNvGrpSpPr/>
          <p:nvPr/>
        </p:nvGrpSpPr>
        <p:grpSpPr>
          <a:xfrm rot="0">
            <a:off x="1101090" y="5476489"/>
            <a:ext cx="2125980" cy="555498"/>
            <a:chOff x="0" y="0"/>
            <a:chExt cx="2834640" cy="740664"/>
          </a:xfrm>
        </p:grpSpPr>
        <p:sp>
          <p:nvSpPr>
            <p:cNvPr name="Freeform 82" id="82"/>
            <p:cNvSpPr/>
            <p:nvPr/>
          </p:nvSpPr>
          <p:spPr>
            <a:xfrm flipH="false" flipV="false" rot="0">
              <a:off x="0" y="0"/>
              <a:ext cx="2834640" cy="740664"/>
            </a:xfrm>
            <a:custGeom>
              <a:avLst/>
              <a:gdLst/>
              <a:ahLst/>
              <a:cxnLst/>
              <a:rect r="r" b="b" t="t" l="l"/>
              <a:pathLst>
                <a:path h="740664" w="2834640">
                  <a:moveTo>
                    <a:pt x="0" y="0"/>
                  </a:moveTo>
                  <a:lnTo>
                    <a:pt x="2834640" y="0"/>
                  </a:lnTo>
                  <a:lnTo>
                    <a:pt x="2834640" y="740664"/>
                  </a:lnTo>
                  <a:lnTo>
                    <a:pt x="0" y="740664"/>
                  </a:lnTo>
                  <a:close/>
                </a:path>
              </a:pathLst>
            </a:custGeom>
            <a:blipFill>
              <a:blip r:embed="rId9">
                <a:alphaModFix amt="0"/>
              </a:blip>
              <a:stretch>
                <a:fillRect l="0" t="-24572" r="0" b="-24572"/>
              </a:stretch>
            </a:blipFill>
          </p:spPr>
        </p:sp>
        <p:sp>
          <p:nvSpPr>
            <p:cNvPr name="TextBox 83" id="83"/>
            <p:cNvSpPr txBox="true"/>
            <p:nvPr/>
          </p:nvSpPr>
          <p:spPr>
            <a:xfrm>
              <a:off x="0" y="-9525"/>
              <a:ext cx="2834640" cy="750189"/>
            </a:xfrm>
            <a:prstGeom prst="rect">
              <a:avLst/>
            </a:prstGeom>
          </p:spPr>
          <p:txBody>
            <a:bodyPr anchor="ctr" rtlCol="false" tIns="0" lIns="0" bIns="0" rIns="0"/>
            <a:lstStyle/>
            <a:p>
              <a:pPr algn="l">
                <a:lnSpc>
                  <a:spcPts val="1889"/>
                </a:lnSpc>
              </a:pPr>
              <a:r>
                <a:rPr lang="en-US" sz="1575">
                  <a:solidFill>
                    <a:srgbClr val="475569"/>
                  </a:solidFill>
                  <a:latin typeface="Poppins"/>
                  <a:ea typeface="Poppins"/>
                  <a:cs typeface="Poppins"/>
                  <a:sym typeface="Poppins"/>
                </a:rPr>
                <a:t>D-000002</a:t>
              </a:r>
            </a:p>
          </p:txBody>
        </p:sp>
      </p:grpSp>
      <p:grpSp>
        <p:nvGrpSpPr>
          <p:cNvPr name="Group 84" id="84"/>
          <p:cNvGrpSpPr/>
          <p:nvPr/>
        </p:nvGrpSpPr>
        <p:grpSpPr>
          <a:xfrm rot="0">
            <a:off x="3227070" y="5476489"/>
            <a:ext cx="2125980" cy="555498"/>
            <a:chOff x="0" y="0"/>
            <a:chExt cx="2834640" cy="740664"/>
          </a:xfrm>
        </p:grpSpPr>
        <p:sp>
          <p:nvSpPr>
            <p:cNvPr name="Freeform 85" id="85"/>
            <p:cNvSpPr/>
            <p:nvPr/>
          </p:nvSpPr>
          <p:spPr>
            <a:xfrm flipH="false" flipV="false" rot="0">
              <a:off x="0" y="0"/>
              <a:ext cx="2834640" cy="740664"/>
            </a:xfrm>
            <a:custGeom>
              <a:avLst/>
              <a:gdLst/>
              <a:ahLst/>
              <a:cxnLst/>
              <a:rect r="r" b="b" t="t" l="l"/>
              <a:pathLst>
                <a:path h="740664" w="2834640">
                  <a:moveTo>
                    <a:pt x="0" y="0"/>
                  </a:moveTo>
                  <a:lnTo>
                    <a:pt x="2834640" y="0"/>
                  </a:lnTo>
                  <a:lnTo>
                    <a:pt x="2834640" y="740664"/>
                  </a:lnTo>
                  <a:lnTo>
                    <a:pt x="0" y="740664"/>
                  </a:lnTo>
                  <a:close/>
                </a:path>
              </a:pathLst>
            </a:custGeom>
            <a:blipFill>
              <a:blip r:embed="rId9">
                <a:alphaModFix amt="0"/>
              </a:blip>
              <a:stretch>
                <a:fillRect l="0" t="-24572" r="0" b="-24572"/>
              </a:stretch>
            </a:blipFill>
          </p:spPr>
        </p:sp>
        <p:sp>
          <p:nvSpPr>
            <p:cNvPr name="TextBox 86" id="86"/>
            <p:cNvSpPr txBox="true"/>
            <p:nvPr/>
          </p:nvSpPr>
          <p:spPr>
            <a:xfrm>
              <a:off x="0" y="-9525"/>
              <a:ext cx="2834640" cy="750189"/>
            </a:xfrm>
            <a:prstGeom prst="rect">
              <a:avLst/>
            </a:prstGeom>
          </p:spPr>
          <p:txBody>
            <a:bodyPr anchor="ctr" rtlCol="false" tIns="0" lIns="0" bIns="0" rIns="0"/>
            <a:lstStyle/>
            <a:p>
              <a:pPr algn="l">
                <a:lnSpc>
                  <a:spcPts val="1889"/>
                </a:lnSpc>
              </a:pPr>
              <a:r>
                <a:rPr lang="en-US" sz="1575">
                  <a:solidFill>
                    <a:srgbClr val="475569"/>
                  </a:solidFill>
                  <a:latin typeface="Poppins"/>
                  <a:ea typeface="Poppins"/>
                  <a:cs typeface="Poppins"/>
                  <a:sym typeface="Poppins"/>
                </a:rPr>
                <a:t>R-003</a:t>
              </a:r>
            </a:p>
          </p:txBody>
        </p:sp>
      </p:grpSp>
      <p:grpSp>
        <p:nvGrpSpPr>
          <p:cNvPr name="Group 87" id="87"/>
          <p:cNvGrpSpPr/>
          <p:nvPr/>
        </p:nvGrpSpPr>
        <p:grpSpPr>
          <a:xfrm rot="0">
            <a:off x="5353050" y="5476489"/>
            <a:ext cx="2125980" cy="555498"/>
            <a:chOff x="0" y="0"/>
            <a:chExt cx="2834640" cy="740664"/>
          </a:xfrm>
        </p:grpSpPr>
        <p:sp>
          <p:nvSpPr>
            <p:cNvPr name="Freeform 88" id="88"/>
            <p:cNvSpPr/>
            <p:nvPr/>
          </p:nvSpPr>
          <p:spPr>
            <a:xfrm flipH="false" flipV="false" rot="0">
              <a:off x="0" y="0"/>
              <a:ext cx="2834640" cy="740664"/>
            </a:xfrm>
            <a:custGeom>
              <a:avLst/>
              <a:gdLst/>
              <a:ahLst/>
              <a:cxnLst/>
              <a:rect r="r" b="b" t="t" l="l"/>
              <a:pathLst>
                <a:path h="740664" w="2834640">
                  <a:moveTo>
                    <a:pt x="0" y="0"/>
                  </a:moveTo>
                  <a:lnTo>
                    <a:pt x="2834640" y="0"/>
                  </a:lnTo>
                  <a:lnTo>
                    <a:pt x="2834640" y="740664"/>
                  </a:lnTo>
                  <a:lnTo>
                    <a:pt x="0" y="740664"/>
                  </a:lnTo>
                  <a:close/>
                </a:path>
              </a:pathLst>
            </a:custGeom>
            <a:blipFill>
              <a:blip r:embed="rId9">
                <a:alphaModFix amt="0"/>
              </a:blip>
              <a:stretch>
                <a:fillRect l="0" t="-24572" r="0" b="-24572"/>
              </a:stretch>
            </a:blipFill>
          </p:spPr>
        </p:sp>
        <p:sp>
          <p:nvSpPr>
            <p:cNvPr name="TextBox 89" id="89"/>
            <p:cNvSpPr txBox="true"/>
            <p:nvPr/>
          </p:nvSpPr>
          <p:spPr>
            <a:xfrm>
              <a:off x="0" y="-9525"/>
              <a:ext cx="2834640" cy="750189"/>
            </a:xfrm>
            <a:prstGeom prst="rect">
              <a:avLst/>
            </a:prstGeom>
          </p:spPr>
          <p:txBody>
            <a:bodyPr anchor="ctr" rtlCol="false" tIns="0" lIns="0" bIns="0" rIns="0"/>
            <a:lstStyle/>
            <a:p>
              <a:pPr algn="l">
                <a:lnSpc>
                  <a:spcPts val="1889"/>
                </a:lnSpc>
              </a:pPr>
              <a:r>
                <a:rPr lang="en-US" sz="1575">
                  <a:solidFill>
                    <a:srgbClr val="475569"/>
                  </a:solidFill>
                  <a:latin typeface="Poppins"/>
                  <a:ea typeface="Poppins"/>
                  <a:cs typeface="Poppins"/>
                  <a:sym typeface="Poppins"/>
                </a:rPr>
                <a:t>Ngozi Yusuf</a:t>
              </a:r>
            </a:p>
          </p:txBody>
        </p:sp>
      </p:grpSp>
      <p:grpSp>
        <p:nvGrpSpPr>
          <p:cNvPr name="Group 90" id="90"/>
          <p:cNvGrpSpPr/>
          <p:nvPr/>
        </p:nvGrpSpPr>
        <p:grpSpPr>
          <a:xfrm rot="0">
            <a:off x="7479030" y="5476489"/>
            <a:ext cx="2125980" cy="555498"/>
            <a:chOff x="0" y="0"/>
            <a:chExt cx="2834640" cy="740664"/>
          </a:xfrm>
        </p:grpSpPr>
        <p:sp>
          <p:nvSpPr>
            <p:cNvPr name="Freeform 91" id="91"/>
            <p:cNvSpPr/>
            <p:nvPr/>
          </p:nvSpPr>
          <p:spPr>
            <a:xfrm flipH="false" flipV="false" rot="0">
              <a:off x="0" y="0"/>
              <a:ext cx="2834640" cy="740664"/>
            </a:xfrm>
            <a:custGeom>
              <a:avLst/>
              <a:gdLst/>
              <a:ahLst/>
              <a:cxnLst/>
              <a:rect r="r" b="b" t="t" l="l"/>
              <a:pathLst>
                <a:path h="740664" w="2834640">
                  <a:moveTo>
                    <a:pt x="0" y="0"/>
                  </a:moveTo>
                  <a:lnTo>
                    <a:pt x="2834640" y="0"/>
                  </a:lnTo>
                  <a:lnTo>
                    <a:pt x="2834640" y="740664"/>
                  </a:lnTo>
                  <a:lnTo>
                    <a:pt x="0" y="740664"/>
                  </a:lnTo>
                  <a:close/>
                </a:path>
              </a:pathLst>
            </a:custGeom>
            <a:blipFill>
              <a:blip r:embed="rId9">
                <a:alphaModFix amt="0"/>
              </a:blip>
              <a:stretch>
                <a:fillRect l="0" t="-24572" r="0" b="-24572"/>
              </a:stretch>
            </a:blipFill>
          </p:spPr>
        </p:sp>
        <p:sp>
          <p:nvSpPr>
            <p:cNvPr name="TextBox 92" id="92"/>
            <p:cNvSpPr txBox="true"/>
            <p:nvPr/>
          </p:nvSpPr>
          <p:spPr>
            <a:xfrm>
              <a:off x="0" y="-9525"/>
              <a:ext cx="2834640" cy="750189"/>
            </a:xfrm>
            <a:prstGeom prst="rect">
              <a:avLst/>
            </a:prstGeom>
          </p:spPr>
          <p:txBody>
            <a:bodyPr anchor="ctr" rtlCol="false" tIns="0" lIns="0" bIns="0" rIns="0"/>
            <a:lstStyle/>
            <a:p>
              <a:pPr algn="l">
                <a:lnSpc>
                  <a:spcPts val="1889"/>
                </a:lnSpc>
              </a:pPr>
              <a:r>
                <a:rPr lang="en-US" sz="1575">
                  <a:solidFill>
                    <a:srgbClr val="475569"/>
                  </a:solidFill>
                  <a:latin typeface="Poppins"/>
                  <a:ea typeface="Poppins"/>
                  <a:cs typeface="Poppins"/>
                  <a:sym typeface="Poppins"/>
                </a:rPr>
                <a:t>Lekki</a:t>
              </a:r>
            </a:p>
          </p:txBody>
        </p:sp>
      </p:grpSp>
      <p:grpSp>
        <p:nvGrpSpPr>
          <p:cNvPr name="Group 93" id="93"/>
          <p:cNvGrpSpPr/>
          <p:nvPr/>
        </p:nvGrpSpPr>
        <p:grpSpPr>
          <a:xfrm rot="0">
            <a:off x="895350" y="6031987"/>
            <a:ext cx="8915400" cy="555498"/>
            <a:chOff x="0" y="0"/>
            <a:chExt cx="11887200" cy="740664"/>
          </a:xfrm>
        </p:grpSpPr>
        <p:sp>
          <p:nvSpPr>
            <p:cNvPr name="Freeform 94" id="94"/>
            <p:cNvSpPr/>
            <p:nvPr/>
          </p:nvSpPr>
          <p:spPr>
            <a:xfrm flipH="false" flipV="false" rot="0">
              <a:off x="0" y="0"/>
              <a:ext cx="11887200" cy="740664"/>
            </a:xfrm>
            <a:custGeom>
              <a:avLst/>
              <a:gdLst/>
              <a:ahLst/>
              <a:cxnLst/>
              <a:rect r="r" b="b" t="t" l="l"/>
              <a:pathLst>
                <a:path h="740664" w="11887200">
                  <a:moveTo>
                    <a:pt x="0" y="0"/>
                  </a:moveTo>
                  <a:lnTo>
                    <a:pt x="11887200" y="0"/>
                  </a:lnTo>
                  <a:lnTo>
                    <a:pt x="11887200" y="740664"/>
                  </a:lnTo>
                  <a:lnTo>
                    <a:pt x="0" y="740664"/>
                  </a:lnTo>
                  <a:close/>
                </a:path>
              </a:pathLst>
            </a:custGeom>
            <a:solidFill>
              <a:srgbClr val="FBF0DC"/>
            </a:solidFill>
          </p:spPr>
        </p:sp>
      </p:grpSp>
      <p:grpSp>
        <p:nvGrpSpPr>
          <p:cNvPr name="Group 95" id="95"/>
          <p:cNvGrpSpPr/>
          <p:nvPr/>
        </p:nvGrpSpPr>
        <p:grpSpPr>
          <a:xfrm rot="0">
            <a:off x="1101090" y="6031987"/>
            <a:ext cx="2125980" cy="555498"/>
            <a:chOff x="0" y="0"/>
            <a:chExt cx="2834640" cy="740664"/>
          </a:xfrm>
        </p:grpSpPr>
        <p:sp>
          <p:nvSpPr>
            <p:cNvPr name="Freeform 96" id="96"/>
            <p:cNvSpPr/>
            <p:nvPr/>
          </p:nvSpPr>
          <p:spPr>
            <a:xfrm flipH="false" flipV="false" rot="0">
              <a:off x="0" y="0"/>
              <a:ext cx="2834640" cy="740664"/>
            </a:xfrm>
            <a:custGeom>
              <a:avLst/>
              <a:gdLst/>
              <a:ahLst/>
              <a:cxnLst/>
              <a:rect r="r" b="b" t="t" l="l"/>
              <a:pathLst>
                <a:path h="740664" w="2834640">
                  <a:moveTo>
                    <a:pt x="0" y="0"/>
                  </a:moveTo>
                  <a:lnTo>
                    <a:pt x="2834640" y="0"/>
                  </a:lnTo>
                  <a:lnTo>
                    <a:pt x="2834640" y="740664"/>
                  </a:lnTo>
                  <a:lnTo>
                    <a:pt x="0" y="740664"/>
                  </a:lnTo>
                  <a:close/>
                </a:path>
              </a:pathLst>
            </a:custGeom>
            <a:blipFill>
              <a:blip r:embed="rId9">
                <a:alphaModFix amt="0"/>
              </a:blip>
              <a:stretch>
                <a:fillRect l="0" t="-24572" r="0" b="-24572"/>
              </a:stretch>
            </a:blipFill>
          </p:spPr>
        </p:sp>
        <p:sp>
          <p:nvSpPr>
            <p:cNvPr name="TextBox 97" id="97"/>
            <p:cNvSpPr txBox="true"/>
            <p:nvPr/>
          </p:nvSpPr>
          <p:spPr>
            <a:xfrm>
              <a:off x="0" y="-9525"/>
              <a:ext cx="2834640" cy="750189"/>
            </a:xfrm>
            <a:prstGeom prst="rect">
              <a:avLst/>
            </a:prstGeom>
          </p:spPr>
          <p:txBody>
            <a:bodyPr anchor="ctr" rtlCol="false" tIns="0" lIns="0" bIns="0" rIns="0"/>
            <a:lstStyle/>
            <a:p>
              <a:pPr algn="l">
                <a:lnSpc>
                  <a:spcPts val="1889"/>
                </a:lnSpc>
              </a:pPr>
              <a:r>
                <a:rPr lang="en-US" sz="1575">
                  <a:solidFill>
                    <a:srgbClr val="8A5A12"/>
                  </a:solidFill>
                  <a:latin typeface="Poppins"/>
                  <a:ea typeface="Poppins"/>
                  <a:cs typeface="Poppins"/>
                  <a:sym typeface="Poppins"/>
                </a:rPr>
                <a:t>D-000495</a:t>
              </a:r>
            </a:p>
          </p:txBody>
        </p:sp>
      </p:grpSp>
      <p:grpSp>
        <p:nvGrpSpPr>
          <p:cNvPr name="Group 98" id="98"/>
          <p:cNvGrpSpPr/>
          <p:nvPr/>
        </p:nvGrpSpPr>
        <p:grpSpPr>
          <a:xfrm rot="0">
            <a:off x="3227070" y="6031987"/>
            <a:ext cx="2125980" cy="555498"/>
            <a:chOff x="0" y="0"/>
            <a:chExt cx="2834640" cy="740664"/>
          </a:xfrm>
        </p:grpSpPr>
        <p:sp>
          <p:nvSpPr>
            <p:cNvPr name="Freeform 99" id="99"/>
            <p:cNvSpPr/>
            <p:nvPr/>
          </p:nvSpPr>
          <p:spPr>
            <a:xfrm flipH="false" flipV="false" rot="0">
              <a:off x="0" y="0"/>
              <a:ext cx="2834640" cy="740664"/>
            </a:xfrm>
            <a:custGeom>
              <a:avLst/>
              <a:gdLst/>
              <a:ahLst/>
              <a:cxnLst/>
              <a:rect r="r" b="b" t="t" l="l"/>
              <a:pathLst>
                <a:path h="740664" w="2834640">
                  <a:moveTo>
                    <a:pt x="0" y="0"/>
                  </a:moveTo>
                  <a:lnTo>
                    <a:pt x="2834640" y="0"/>
                  </a:lnTo>
                  <a:lnTo>
                    <a:pt x="2834640" y="740664"/>
                  </a:lnTo>
                  <a:lnTo>
                    <a:pt x="0" y="740664"/>
                  </a:lnTo>
                  <a:close/>
                </a:path>
              </a:pathLst>
            </a:custGeom>
            <a:blipFill>
              <a:blip r:embed="rId9">
                <a:alphaModFix amt="0"/>
              </a:blip>
              <a:stretch>
                <a:fillRect l="0" t="-24572" r="0" b="-24572"/>
              </a:stretch>
            </a:blipFill>
          </p:spPr>
        </p:sp>
        <p:sp>
          <p:nvSpPr>
            <p:cNvPr name="TextBox 100" id="100"/>
            <p:cNvSpPr txBox="true"/>
            <p:nvPr/>
          </p:nvSpPr>
          <p:spPr>
            <a:xfrm>
              <a:off x="0" y="-9525"/>
              <a:ext cx="2834640" cy="750189"/>
            </a:xfrm>
            <a:prstGeom prst="rect">
              <a:avLst/>
            </a:prstGeom>
          </p:spPr>
          <p:txBody>
            <a:bodyPr anchor="ctr" rtlCol="false" tIns="0" lIns="0" bIns="0" rIns="0"/>
            <a:lstStyle/>
            <a:p>
              <a:pPr algn="l">
                <a:lnSpc>
                  <a:spcPts val="1889"/>
                </a:lnSpc>
              </a:pPr>
              <a:r>
                <a:rPr lang="en-US" sz="1575" b="true">
                  <a:solidFill>
                    <a:srgbClr val="8A5A12"/>
                  </a:solidFill>
                  <a:latin typeface="Poppins Bold"/>
                  <a:ea typeface="Poppins Bold"/>
                  <a:cs typeface="Poppins Bold"/>
                  <a:sym typeface="Poppins Bold"/>
                </a:rPr>
                <a:t>R-014</a:t>
              </a:r>
            </a:p>
          </p:txBody>
        </p:sp>
      </p:grpSp>
      <p:grpSp>
        <p:nvGrpSpPr>
          <p:cNvPr name="Group 101" id="101"/>
          <p:cNvGrpSpPr/>
          <p:nvPr/>
        </p:nvGrpSpPr>
        <p:grpSpPr>
          <a:xfrm rot="0">
            <a:off x="5353050" y="6031987"/>
            <a:ext cx="2125980" cy="555498"/>
            <a:chOff x="0" y="0"/>
            <a:chExt cx="2834640" cy="740664"/>
          </a:xfrm>
        </p:grpSpPr>
        <p:sp>
          <p:nvSpPr>
            <p:cNvPr name="Freeform 102" id="102"/>
            <p:cNvSpPr/>
            <p:nvPr/>
          </p:nvSpPr>
          <p:spPr>
            <a:xfrm flipH="false" flipV="false" rot="0">
              <a:off x="0" y="0"/>
              <a:ext cx="2834640" cy="740664"/>
            </a:xfrm>
            <a:custGeom>
              <a:avLst/>
              <a:gdLst/>
              <a:ahLst/>
              <a:cxnLst/>
              <a:rect r="r" b="b" t="t" l="l"/>
              <a:pathLst>
                <a:path h="740664" w="2834640">
                  <a:moveTo>
                    <a:pt x="0" y="0"/>
                  </a:moveTo>
                  <a:lnTo>
                    <a:pt x="2834640" y="0"/>
                  </a:lnTo>
                  <a:lnTo>
                    <a:pt x="2834640" y="740664"/>
                  </a:lnTo>
                  <a:lnTo>
                    <a:pt x="0" y="740664"/>
                  </a:lnTo>
                  <a:close/>
                </a:path>
              </a:pathLst>
            </a:custGeom>
            <a:blipFill>
              <a:blip r:embed="rId9">
                <a:alphaModFix amt="0"/>
              </a:blip>
              <a:stretch>
                <a:fillRect l="0" t="-24572" r="0" b="-24572"/>
              </a:stretch>
            </a:blipFill>
          </p:spPr>
        </p:sp>
        <p:sp>
          <p:nvSpPr>
            <p:cNvPr name="TextBox 103" id="103"/>
            <p:cNvSpPr txBox="true"/>
            <p:nvPr/>
          </p:nvSpPr>
          <p:spPr>
            <a:xfrm>
              <a:off x="0" y="-9525"/>
              <a:ext cx="2834640" cy="750189"/>
            </a:xfrm>
            <a:prstGeom prst="rect">
              <a:avLst/>
            </a:prstGeom>
          </p:spPr>
          <p:txBody>
            <a:bodyPr anchor="ctr" rtlCol="false" tIns="0" lIns="0" bIns="0" rIns="0"/>
            <a:lstStyle/>
            <a:p>
              <a:pPr algn="l">
                <a:lnSpc>
                  <a:spcPts val="1889"/>
                </a:lnSpc>
              </a:pPr>
              <a:r>
                <a:rPr lang="en-US" sz="1575" b="true">
                  <a:solidFill>
                    <a:srgbClr val="8A5A12"/>
                  </a:solidFill>
                  <a:latin typeface="Poppins Bold"/>
                  <a:ea typeface="Poppins Bold"/>
                  <a:cs typeface="Poppins Bold"/>
                  <a:sym typeface="Poppins Bold"/>
                </a:rPr>
                <a:t>Fatima Abubakar</a:t>
              </a:r>
            </a:p>
          </p:txBody>
        </p:sp>
      </p:grpSp>
      <p:grpSp>
        <p:nvGrpSpPr>
          <p:cNvPr name="Group 104" id="104"/>
          <p:cNvGrpSpPr/>
          <p:nvPr/>
        </p:nvGrpSpPr>
        <p:grpSpPr>
          <a:xfrm rot="0">
            <a:off x="7479030" y="6031987"/>
            <a:ext cx="2125980" cy="555498"/>
            <a:chOff x="0" y="0"/>
            <a:chExt cx="2834640" cy="740664"/>
          </a:xfrm>
        </p:grpSpPr>
        <p:sp>
          <p:nvSpPr>
            <p:cNvPr name="Freeform 105" id="105"/>
            <p:cNvSpPr/>
            <p:nvPr/>
          </p:nvSpPr>
          <p:spPr>
            <a:xfrm flipH="false" flipV="false" rot="0">
              <a:off x="0" y="0"/>
              <a:ext cx="2834640" cy="740664"/>
            </a:xfrm>
            <a:custGeom>
              <a:avLst/>
              <a:gdLst/>
              <a:ahLst/>
              <a:cxnLst/>
              <a:rect r="r" b="b" t="t" l="l"/>
              <a:pathLst>
                <a:path h="740664" w="2834640">
                  <a:moveTo>
                    <a:pt x="0" y="0"/>
                  </a:moveTo>
                  <a:lnTo>
                    <a:pt x="2834640" y="0"/>
                  </a:lnTo>
                  <a:lnTo>
                    <a:pt x="2834640" y="740664"/>
                  </a:lnTo>
                  <a:lnTo>
                    <a:pt x="0" y="740664"/>
                  </a:lnTo>
                  <a:close/>
                </a:path>
              </a:pathLst>
            </a:custGeom>
            <a:blipFill>
              <a:blip r:embed="rId9">
                <a:alphaModFix amt="0"/>
              </a:blip>
              <a:stretch>
                <a:fillRect l="0" t="-24572" r="0" b="-24572"/>
              </a:stretch>
            </a:blipFill>
          </p:spPr>
        </p:sp>
        <p:sp>
          <p:nvSpPr>
            <p:cNvPr name="TextBox 106" id="106"/>
            <p:cNvSpPr txBox="true"/>
            <p:nvPr/>
          </p:nvSpPr>
          <p:spPr>
            <a:xfrm>
              <a:off x="0" y="-9525"/>
              <a:ext cx="2834640" cy="750189"/>
            </a:xfrm>
            <a:prstGeom prst="rect">
              <a:avLst/>
            </a:prstGeom>
          </p:spPr>
          <p:txBody>
            <a:bodyPr anchor="ctr" rtlCol="false" tIns="0" lIns="0" bIns="0" rIns="0"/>
            <a:lstStyle/>
            <a:p>
              <a:pPr algn="l">
                <a:lnSpc>
                  <a:spcPts val="1889"/>
                </a:lnSpc>
              </a:pPr>
              <a:r>
                <a:rPr lang="en-US" sz="1575" b="true">
                  <a:solidFill>
                    <a:srgbClr val="8A5A12"/>
                  </a:solidFill>
                  <a:latin typeface="Poppins Bold"/>
                  <a:ea typeface="Poppins Bold"/>
                  <a:cs typeface="Poppins Bold"/>
                  <a:sym typeface="Poppins Bold"/>
                </a:rPr>
                <a:t>Ikeja</a:t>
              </a:r>
            </a:p>
          </p:txBody>
        </p:sp>
      </p:grpSp>
      <p:grpSp>
        <p:nvGrpSpPr>
          <p:cNvPr name="Group 107" id="107"/>
          <p:cNvGrpSpPr/>
          <p:nvPr/>
        </p:nvGrpSpPr>
        <p:grpSpPr>
          <a:xfrm rot="0">
            <a:off x="10290810" y="2952745"/>
            <a:ext cx="850392" cy="850392"/>
            <a:chOff x="0" y="0"/>
            <a:chExt cx="1133856" cy="1133856"/>
          </a:xfrm>
        </p:grpSpPr>
        <p:sp>
          <p:nvSpPr>
            <p:cNvPr name="Freeform 108" id="108"/>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C9821F"/>
            </a:solidFill>
          </p:spPr>
        </p:sp>
      </p:grpSp>
      <p:grpSp>
        <p:nvGrpSpPr>
          <p:cNvPr name="Group 109" id="109"/>
          <p:cNvGrpSpPr/>
          <p:nvPr/>
        </p:nvGrpSpPr>
        <p:grpSpPr>
          <a:xfrm rot="0">
            <a:off x="10290810" y="2952745"/>
            <a:ext cx="850392" cy="850392"/>
            <a:chOff x="0" y="0"/>
            <a:chExt cx="1133856" cy="1133856"/>
          </a:xfrm>
        </p:grpSpPr>
        <p:sp>
          <p:nvSpPr>
            <p:cNvPr name="Freeform 110" id="110"/>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9">
                <a:alphaModFix amt="0"/>
              </a:blip>
              <a:stretch>
                <a:fillRect l="-78303" t="0" r="-78303" b="0"/>
              </a:stretch>
            </a:blipFill>
          </p:spPr>
        </p:sp>
        <p:sp>
          <p:nvSpPr>
            <p:cNvPr name="TextBox 111" id="111"/>
            <p:cNvSpPr txBox="true"/>
            <p:nvPr/>
          </p:nvSpPr>
          <p:spPr>
            <a:xfrm>
              <a:off x="0" y="-38100"/>
              <a:ext cx="1133856" cy="1171956"/>
            </a:xfrm>
            <a:prstGeom prst="rect">
              <a:avLst/>
            </a:prstGeom>
          </p:spPr>
          <p:txBody>
            <a:bodyPr anchor="ctr" rtlCol="false" tIns="0" lIns="0" bIns="0" rIns="0"/>
            <a:lstStyle/>
            <a:p>
              <a:pPr algn="ctr">
                <a:lnSpc>
                  <a:spcPts val="4320"/>
                </a:lnSpc>
              </a:pPr>
              <a:r>
                <a:rPr lang="en-US" sz="3600" b="true">
                  <a:solidFill>
                    <a:srgbClr val="FFFFFF"/>
                  </a:solidFill>
                  <a:latin typeface="Poppins Bold"/>
                  <a:ea typeface="Poppins Bold"/>
                  <a:cs typeface="Poppins Bold"/>
                  <a:sym typeface="Poppins Bold"/>
                </a:rPr>
                <a:t>!</a:t>
              </a:r>
            </a:p>
          </p:txBody>
        </p:sp>
      </p:grpSp>
      <p:sp>
        <p:nvSpPr>
          <p:cNvPr name="TextBox 112" id="112"/>
          <p:cNvSpPr txBox="true"/>
          <p:nvPr/>
        </p:nvSpPr>
        <p:spPr>
          <a:xfrm rot="0">
            <a:off x="11388090" y="2867020"/>
            <a:ext cx="4251960" cy="1251585"/>
          </a:xfrm>
          <a:prstGeom prst="rect">
            <a:avLst/>
          </a:prstGeom>
        </p:spPr>
        <p:txBody>
          <a:bodyPr anchor="t" rtlCol="false" tIns="0" lIns="0" bIns="0" rIns="0">
            <a:spAutoFit/>
          </a:bodyPr>
          <a:lstStyle/>
          <a:p>
            <a:pPr algn="l">
              <a:lnSpc>
                <a:spcPts val="3262"/>
              </a:lnSpc>
            </a:pPr>
            <a:r>
              <a:rPr lang="en-US" sz="2175" b="true">
                <a:solidFill>
                  <a:srgbClr val="0A1A23"/>
                </a:solidFill>
                <a:latin typeface="Poppins Bold"/>
                <a:ea typeface="Poppins Bold"/>
                <a:cs typeface="Poppins Bold"/>
                <a:sym typeface="Poppins Bold"/>
              </a:rPr>
              <a:t>Fatima appears 617 times, once for every delivery she made in 2025.</a:t>
            </a:r>
          </a:p>
        </p:txBody>
      </p:sp>
      <p:sp>
        <p:nvSpPr>
          <p:cNvPr name="TextBox 113" id="113"/>
          <p:cNvSpPr txBox="true"/>
          <p:nvPr/>
        </p:nvSpPr>
        <p:spPr>
          <a:xfrm rot="0">
            <a:off x="10290810" y="4248145"/>
            <a:ext cx="5417820" cy="3505200"/>
          </a:xfrm>
          <a:prstGeom prst="rect">
            <a:avLst/>
          </a:prstGeom>
        </p:spPr>
        <p:txBody>
          <a:bodyPr anchor="t" rtlCol="false" tIns="0" lIns="0" bIns="0" rIns="0">
            <a:spAutoFit/>
          </a:bodyPr>
          <a:lstStyle/>
          <a:p>
            <a:pPr algn="l">
              <a:lnSpc>
                <a:spcPts val="2880"/>
              </a:lnSpc>
            </a:pPr>
            <a:r>
              <a:rPr lang="en-US" sz="1875">
                <a:solidFill>
                  <a:srgbClr val="475569"/>
                </a:solidFill>
                <a:latin typeface="Poppins"/>
                <a:ea typeface="Poppins"/>
                <a:cs typeface="Poppins"/>
                <a:sym typeface="Poppins"/>
              </a:rPr>
              <a:t>Counting rows in that column does not count riders. It counts deliveries wearing rider names.</a:t>
            </a:r>
          </a:p>
          <a:p>
            <a:pPr algn="l">
              <a:lnSpc>
                <a:spcPts val="2880"/>
              </a:lnSpc>
            </a:pPr>
          </a:p>
          <a:p>
            <a:pPr algn="l">
              <a:lnSpc>
                <a:spcPts val="2880"/>
              </a:lnSpc>
            </a:pPr>
            <a:r>
              <a:rPr lang="en-US" sz="1875">
                <a:solidFill>
                  <a:srgbClr val="475569"/>
                </a:solidFill>
                <a:latin typeface="Poppins"/>
                <a:ea typeface="Poppins"/>
                <a:cs typeface="Poppins"/>
                <a:sym typeface="Poppins"/>
              </a:rPr>
              <a:t>The number is not corrupt and it is not a bug. Power BI answered exactly the question you asked. You asked the wrong question.</a:t>
            </a:r>
          </a:p>
        </p:txBody>
      </p:sp>
      <p:grpSp>
        <p:nvGrpSpPr>
          <p:cNvPr name="Group 114" id="114"/>
          <p:cNvGrpSpPr/>
          <p:nvPr/>
        </p:nvGrpSpPr>
        <p:grpSpPr>
          <a:xfrm rot="0">
            <a:off x="895350" y="7204705"/>
            <a:ext cx="14744700" cy="1577340"/>
            <a:chOff x="0" y="0"/>
            <a:chExt cx="19659600" cy="2103120"/>
          </a:xfrm>
        </p:grpSpPr>
        <p:sp>
          <p:nvSpPr>
            <p:cNvPr name="Freeform 115" id="115"/>
            <p:cNvSpPr/>
            <p:nvPr/>
          </p:nvSpPr>
          <p:spPr>
            <a:xfrm flipH="false" flipV="false" rot="0">
              <a:off x="0" y="0"/>
              <a:ext cx="19659600" cy="2103120"/>
            </a:xfrm>
            <a:custGeom>
              <a:avLst/>
              <a:gdLst/>
              <a:ahLst/>
              <a:cxnLst/>
              <a:rect r="r" b="b" t="t" l="l"/>
              <a:pathLst>
                <a:path h="2103120" w="19659600">
                  <a:moveTo>
                    <a:pt x="0" y="164592"/>
                  </a:moveTo>
                  <a:cubicBezTo>
                    <a:pt x="0" y="73660"/>
                    <a:pt x="73660" y="0"/>
                    <a:pt x="164592" y="0"/>
                  </a:cubicBezTo>
                  <a:lnTo>
                    <a:pt x="19495008" y="0"/>
                  </a:lnTo>
                  <a:cubicBezTo>
                    <a:pt x="19585939" y="0"/>
                    <a:pt x="19659600" y="73660"/>
                    <a:pt x="19659600" y="164592"/>
                  </a:cubicBezTo>
                  <a:lnTo>
                    <a:pt x="19659600" y="1938528"/>
                  </a:lnTo>
                  <a:cubicBezTo>
                    <a:pt x="19659600" y="2029460"/>
                    <a:pt x="19585939" y="2103120"/>
                    <a:pt x="19495008" y="2103120"/>
                  </a:cubicBezTo>
                  <a:lnTo>
                    <a:pt x="164592" y="2103120"/>
                  </a:lnTo>
                  <a:cubicBezTo>
                    <a:pt x="73660" y="2103120"/>
                    <a:pt x="0" y="2029460"/>
                    <a:pt x="0" y="1938528"/>
                  </a:cubicBezTo>
                  <a:close/>
                </a:path>
              </a:pathLst>
            </a:custGeom>
            <a:solidFill>
              <a:srgbClr val="EEF4F4"/>
            </a:solidFill>
          </p:spPr>
        </p:sp>
      </p:grpSp>
      <p:grpSp>
        <p:nvGrpSpPr>
          <p:cNvPr name="Group 116" id="116"/>
          <p:cNvGrpSpPr/>
          <p:nvPr/>
        </p:nvGrpSpPr>
        <p:grpSpPr>
          <a:xfrm rot="0">
            <a:off x="895350" y="7204705"/>
            <a:ext cx="102870" cy="1577340"/>
            <a:chOff x="0" y="0"/>
            <a:chExt cx="137160" cy="2103120"/>
          </a:xfrm>
        </p:grpSpPr>
        <p:sp>
          <p:nvSpPr>
            <p:cNvPr name="Freeform 117" id="117"/>
            <p:cNvSpPr/>
            <p:nvPr/>
          </p:nvSpPr>
          <p:spPr>
            <a:xfrm flipH="false" flipV="false" rot="0">
              <a:off x="0" y="0"/>
              <a:ext cx="137160" cy="2103120"/>
            </a:xfrm>
            <a:custGeom>
              <a:avLst/>
              <a:gdLst/>
              <a:ahLst/>
              <a:cxnLst/>
              <a:rect r="r" b="b" t="t" l="l"/>
              <a:pathLst>
                <a:path h="2103120" w="137160">
                  <a:moveTo>
                    <a:pt x="0" y="0"/>
                  </a:moveTo>
                  <a:lnTo>
                    <a:pt x="137160" y="0"/>
                  </a:lnTo>
                  <a:lnTo>
                    <a:pt x="137160" y="2103120"/>
                  </a:lnTo>
                  <a:lnTo>
                    <a:pt x="0" y="2103120"/>
                  </a:lnTo>
                  <a:close/>
                </a:path>
              </a:pathLst>
            </a:custGeom>
            <a:solidFill>
              <a:srgbClr val="387F7F"/>
            </a:solidFill>
          </p:spPr>
        </p:sp>
      </p:grpSp>
      <p:grpSp>
        <p:nvGrpSpPr>
          <p:cNvPr name="Group 118" id="118"/>
          <p:cNvGrpSpPr/>
          <p:nvPr/>
        </p:nvGrpSpPr>
        <p:grpSpPr>
          <a:xfrm rot="0">
            <a:off x="1443990" y="7204705"/>
            <a:ext cx="13853160" cy="1577340"/>
            <a:chOff x="0" y="0"/>
            <a:chExt cx="18470880" cy="2103120"/>
          </a:xfrm>
        </p:grpSpPr>
        <p:sp>
          <p:nvSpPr>
            <p:cNvPr name="Freeform 119" id="119"/>
            <p:cNvSpPr/>
            <p:nvPr/>
          </p:nvSpPr>
          <p:spPr>
            <a:xfrm flipH="false" flipV="false" rot="0">
              <a:off x="0" y="0"/>
              <a:ext cx="18470880" cy="2103120"/>
            </a:xfrm>
            <a:custGeom>
              <a:avLst/>
              <a:gdLst/>
              <a:ahLst/>
              <a:cxnLst/>
              <a:rect r="r" b="b" t="t" l="l"/>
              <a:pathLst>
                <a:path h="2103120" w="18470880">
                  <a:moveTo>
                    <a:pt x="0" y="0"/>
                  </a:moveTo>
                  <a:lnTo>
                    <a:pt x="18470880" y="0"/>
                  </a:lnTo>
                  <a:lnTo>
                    <a:pt x="18470880" y="2103120"/>
                  </a:lnTo>
                  <a:lnTo>
                    <a:pt x="0" y="2103120"/>
                  </a:lnTo>
                  <a:close/>
                </a:path>
              </a:pathLst>
            </a:custGeom>
            <a:blipFill>
              <a:blip r:embed="rId9">
                <a:alphaModFix amt="0"/>
              </a:blip>
              <a:stretch>
                <a:fillRect l="0" t="-121129" r="0" b="-121129"/>
              </a:stretch>
            </a:blipFill>
          </p:spPr>
        </p:sp>
        <p:sp>
          <p:nvSpPr>
            <p:cNvPr name="TextBox 120" id="120"/>
            <p:cNvSpPr txBox="true"/>
            <p:nvPr/>
          </p:nvSpPr>
          <p:spPr>
            <a:xfrm>
              <a:off x="0" y="-85725"/>
              <a:ext cx="18470880" cy="2188845"/>
            </a:xfrm>
            <a:prstGeom prst="rect">
              <a:avLst/>
            </a:prstGeom>
          </p:spPr>
          <p:txBody>
            <a:bodyPr anchor="ctr" rtlCol="false" tIns="0" lIns="0" bIns="0" rIns="0"/>
            <a:lstStyle/>
            <a:p>
              <a:pPr algn="l">
                <a:lnSpc>
                  <a:spcPts val="3375"/>
                </a:lnSpc>
              </a:pPr>
              <a:r>
                <a:rPr lang="en-US" sz="2250" b="true">
                  <a:solidFill>
                    <a:srgbClr val="387F7F"/>
                  </a:solidFill>
                  <a:latin typeface="Poppins Bold"/>
                  <a:ea typeface="Poppins Bold"/>
                  <a:cs typeface="Poppins Bold"/>
                  <a:sym typeface="Poppins Bold"/>
                </a:rPr>
                <a:t>The grain changed. In a flat table the grain is one row per delivery, so every question it answers is a question about deliveries, whether you meant that or not.</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0638930"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Duplicatio</a:t>
            </a:r>
            <a:r>
              <a:rPr lang="en-US" sz="5000">
                <a:solidFill>
                  <a:srgbClr val="388080"/>
                </a:solidFill>
                <a:latin typeface="Poppins"/>
                <a:ea typeface="Poppins"/>
                <a:cs typeface="Poppins"/>
                <a:sym typeface="Poppins"/>
              </a:rPr>
              <a:t>n is only the visible cost</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857250" y="2780500"/>
            <a:ext cx="4594860" cy="4526280"/>
            <a:chOff x="0" y="0"/>
            <a:chExt cx="6126480" cy="6035040"/>
          </a:xfrm>
        </p:grpSpPr>
        <p:sp>
          <p:nvSpPr>
            <p:cNvPr name="Freeform 12" id="12"/>
            <p:cNvSpPr/>
            <p:nvPr/>
          </p:nvSpPr>
          <p:spPr>
            <a:xfrm flipH="false" flipV="false" rot="0">
              <a:off x="0" y="0"/>
              <a:ext cx="6126480" cy="6035040"/>
            </a:xfrm>
            <a:custGeom>
              <a:avLst/>
              <a:gdLst/>
              <a:ahLst/>
              <a:cxnLst/>
              <a:rect r="r" b="b" t="t" l="l"/>
              <a:pathLst>
                <a:path h="6035040" w="6126480">
                  <a:moveTo>
                    <a:pt x="0" y="182880"/>
                  </a:moveTo>
                  <a:cubicBezTo>
                    <a:pt x="0" y="81915"/>
                    <a:pt x="81915" y="0"/>
                    <a:pt x="182880" y="0"/>
                  </a:cubicBezTo>
                  <a:lnTo>
                    <a:pt x="5943600" y="0"/>
                  </a:lnTo>
                  <a:cubicBezTo>
                    <a:pt x="6044565" y="0"/>
                    <a:pt x="6126480" y="81915"/>
                    <a:pt x="6126480" y="182880"/>
                  </a:cubicBezTo>
                  <a:lnTo>
                    <a:pt x="6126480" y="5852160"/>
                  </a:lnTo>
                  <a:cubicBezTo>
                    <a:pt x="6126480" y="5953125"/>
                    <a:pt x="6044565" y="6035040"/>
                    <a:pt x="5943600" y="6035040"/>
                  </a:cubicBezTo>
                  <a:lnTo>
                    <a:pt x="182880" y="6035040"/>
                  </a:lnTo>
                  <a:cubicBezTo>
                    <a:pt x="81915" y="6035040"/>
                    <a:pt x="0" y="5953125"/>
                    <a:pt x="0" y="5852160"/>
                  </a:cubicBezTo>
                  <a:close/>
                </a:path>
              </a:pathLst>
            </a:custGeom>
            <a:solidFill>
              <a:srgbClr val="FFFFFF"/>
            </a:solidFill>
          </p:spPr>
        </p:sp>
      </p:grpSp>
      <p:grpSp>
        <p:nvGrpSpPr>
          <p:cNvPr name="Group 13" id="13"/>
          <p:cNvGrpSpPr/>
          <p:nvPr/>
        </p:nvGrpSpPr>
        <p:grpSpPr>
          <a:xfrm rot="0">
            <a:off x="857250" y="2780500"/>
            <a:ext cx="4594860" cy="123444"/>
            <a:chOff x="0" y="0"/>
            <a:chExt cx="6126480" cy="164592"/>
          </a:xfrm>
        </p:grpSpPr>
        <p:sp>
          <p:nvSpPr>
            <p:cNvPr name="Freeform 14" id="14"/>
            <p:cNvSpPr/>
            <p:nvPr/>
          </p:nvSpPr>
          <p:spPr>
            <a:xfrm flipH="false" flipV="false" rot="0">
              <a:off x="0" y="0"/>
              <a:ext cx="6126480" cy="164592"/>
            </a:xfrm>
            <a:custGeom>
              <a:avLst/>
              <a:gdLst/>
              <a:ahLst/>
              <a:cxnLst/>
              <a:rect r="r" b="b" t="t" l="l"/>
              <a:pathLst>
                <a:path h="164592" w="6126480">
                  <a:moveTo>
                    <a:pt x="0" y="0"/>
                  </a:moveTo>
                  <a:lnTo>
                    <a:pt x="6126480" y="0"/>
                  </a:lnTo>
                  <a:lnTo>
                    <a:pt x="6126480" y="164592"/>
                  </a:lnTo>
                  <a:lnTo>
                    <a:pt x="0" y="164592"/>
                  </a:lnTo>
                  <a:close/>
                </a:path>
              </a:pathLst>
            </a:custGeom>
            <a:solidFill>
              <a:srgbClr val="C9821F"/>
            </a:solidFill>
          </p:spPr>
        </p:sp>
      </p:grpSp>
      <p:grpSp>
        <p:nvGrpSpPr>
          <p:cNvPr name="Group 15" id="15"/>
          <p:cNvGrpSpPr/>
          <p:nvPr/>
        </p:nvGrpSpPr>
        <p:grpSpPr>
          <a:xfrm rot="0">
            <a:off x="1296162" y="3356572"/>
            <a:ext cx="822960" cy="822960"/>
            <a:chOff x="0" y="0"/>
            <a:chExt cx="1097280" cy="1097280"/>
          </a:xfrm>
        </p:grpSpPr>
        <p:sp>
          <p:nvSpPr>
            <p:cNvPr name="Freeform 16" id="16"/>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C9821F"/>
            </a:solidFill>
          </p:spPr>
        </p:sp>
      </p:grpSp>
      <p:grpSp>
        <p:nvGrpSpPr>
          <p:cNvPr name="Group 17" id="17"/>
          <p:cNvGrpSpPr/>
          <p:nvPr/>
        </p:nvGrpSpPr>
        <p:grpSpPr>
          <a:xfrm rot="0">
            <a:off x="1296162" y="3356572"/>
            <a:ext cx="822960" cy="822960"/>
            <a:chOff x="0" y="0"/>
            <a:chExt cx="1097280" cy="1097280"/>
          </a:xfrm>
        </p:grpSpPr>
        <p:sp>
          <p:nvSpPr>
            <p:cNvPr name="Freeform 18" id="18"/>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9">
                <a:alphaModFix amt="0"/>
              </a:blip>
              <a:stretch>
                <a:fillRect l="-78303" t="0" r="-78303" b="0"/>
              </a:stretch>
            </a:blipFill>
          </p:spPr>
        </p:sp>
        <p:sp>
          <p:nvSpPr>
            <p:cNvPr name="TextBox 19" id="19"/>
            <p:cNvSpPr txBox="true"/>
            <p:nvPr/>
          </p:nvSpPr>
          <p:spPr>
            <a:xfrm>
              <a:off x="0" y="-19050"/>
              <a:ext cx="1097280" cy="1116330"/>
            </a:xfrm>
            <a:prstGeom prst="rect">
              <a:avLst/>
            </a:prstGeom>
          </p:spPr>
          <p:txBody>
            <a:bodyPr anchor="ctr" rtlCol="false" tIns="0" lIns="0" bIns="0" rIns="0"/>
            <a:lstStyle/>
            <a:p>
              <a:pPr algn="ctr">
                <a:lnSpc>
                  <a:spcPts val="3779"/>
                </a:lnSpc>
              </a:pPr>
              <a:r>
                <a:rPr lang="en-US" sz="3150" b="true">
                  <a:solidFill>
                    <a:srgbClr val="FFFFFF"/>
                  </a:solidFill>
                  <a:latin typeface="Poppins Bold"/>
                  <a:ea typeface="Poppins Bold"/>
                  <a:cs typeface="Poppins Bold"/>
                  <a:sym typeface="Poppins Bold"/>
                </a:rPr>
                <a:t>1</a:t>
              </a:r>
            </a:p>
          </p:txBody>
        </p:sp>
      </p:grpSp>
      <p:grpSp>
        <p:nvGrpSpPr>
          <p:cNvPr name="Group 20" id="20"/>
          <p:cNvGrpSpPr/>
          <p:nvPr/>
        </p:nvGrpSpPr>
        <p:grpSpPr>
          <a:xfrm rot="0">
            <a:off x="2297430" y="3356572"/>
            <a:ext cx="2811780" cy="822960"/>
            <a:chOff x="0" y="0"/>
            <a:chExt cx="3749040" cy="1097280"/>
          </a:xfrm>
        </p:grpSpPr>
        <p:sp>
          <p:nvSpPr>
            <p:cNvPr name="Freeform 21" id="21"/>
            <p:cNvSpPr/>
            <p:nvPr/>
          </p:nvSpPr>
          <p:spPr>
            <a:xfrm flipH="false" flipV="false" rot="0">
              <a:off x="0" y="0"/>
              <a:ext cx="3749040" cy="1097280"/>
            </a:xfrm>
            <a:custGeom>
              <a:avLst/>
              <a:gdLst/>
              <a:ahLst/>
              <a:cxnLst/>
              <a:rect r="r" b="b" t="t" l="l"/>
              <a:pathLst>
                <a:path h="1097280" w="3749040">
                  <a:moveTo>
                    <a:pt x="0" y="0"/>
                  </a:moveTo>
                  <a:lnTo>
                    <a:pt x="3749040" y="0"/>
                  </a:lnTo>
                  <a:lnTo>
                    <a:pt x="3749040" y="1097280"/>
                  </a:lnTo>
                  <a:lnTo>
                    <a:pt x="0" y="1097280"/>
                  </a:lnTo>
                  <a:close/>
                </a:path>
              </a:pathLst>
            </a:custGeom>
            <a:blipFill>
              <a:blip r:embed="rId9">
                <a:alphaModFix amt="0"/>
              </a:blip>
              <a:stretch>
                <a:fillRect l="0" t="-16573" r="0" b="-16573"/>
              </a:stretch>
            </a:blipFill>
          </p:spPr>
        </p:sp>
        <p:sp>
          <p:nvSpPr>
            <p:cNvPr name="TextBox 22" id="22"/>
            <p:cNvSpPr txBox="true"/>
            <p:nvPr/>
          </p:nvSpPr>
          <p:spPr>
            <a:xfrm>
              <a:off x="0" y="-9525"/>
              <a:ext cx="3749040" cy="1106805"/>
            </a:xfrm>
            <a:prstGeom prst="rect">
              <a:avLst/>
            </a:prstGeom>
          </p:spPr>
          <p:txBody>
            <a:bodyPr anchor="ctr" rtlCol="false" tIns="0" lIns="0" bIns="0" rIns="0"/>
            <a:lstStyle/>
            <a:p>
              <a:pPr algn="l">
                <a:lnSpc>
                  <a:spcPts val="2790"/>
                </a:lnSpc>
              </a:pPr>
              <a:r>
                <a:rPr lang="en-US" sz="2325" b="true">
                  <a:solidFill>
                    <a:srgbClr val="0A1A23"/>
                  </a:solidFill>
                  <a:latin typeface="Poppins Bold"/>
                  <a:ea typeface="Poppins Bold"/>
                  <a:cs typeface="Poppins Bold"/>
                  <a:sym typeface="Poppins Bold"/>
                </a:rPr>
                <a:t>Wrong counts</a:t>
              </a:r>
            </a:p>
          </p:txBody>
        </p:sp>
      </p:grpSp>
      <p:sp>
        <p:nvSpPr>
          <p:cNvPr name="TextBox 23" id="23"/>
          <p:cNvSpPr txBox="true"/>
          <p:nvPr/>
        </p:nvSpPr>
        <p:spPr>
          <a:xfrm rot="0">
            <a:off x="1296162" y="4340695"/>
            <a:ext cx="3717036" cy="2691765"/>
          </a:xfrm>
          <a:prstGeom prst="rect">
            <a:avLst/>
          </a:prstGeom>
        </p:spPr>
        <p:txBody>
          <a:bodyPr anchor="t" rtlCol="false" tIns="0" lIns="0" bIns="0" rIns="0">
            <a:spAutoFit/>
          </a:bodyPr>
          <a:lstStyle/>
          <a:p>
            <a:pPr algn="l">
              <a:lnSpc>
                <a:spcPts val="2925"/>
              </a:lnSpc>
            </a:pPr>
            <a:r>
              <a:rPr lang="en-US" sz="1875">
                <a:solidFill>
                  <a:srgbClr val="475569"/>
                </a:solidFill>
                <a:latin typeface="Poppins"/>
                <a:ea typeface="Poppins"/>
                <a:cs typeface="Poppins"/>
                <a:sym typeface="Poppins"/>
              </a:rPr>
              <a:t>Any distinct thing living in the fact table gets counted at delivery grain. Riders, routes, customers, all inflated.</a:t>
            </a:r>
          </a:p>
        </p:txBody>
      </p:sp>
      <p:grpSp>
        <p:nvGrpSpPr>
          <p:cNvPr name="Group 24" id="24"/>
          <p:cNvGrpSpPr/>
          <p:nvPr/>
        </p:nvGrpSpPr>
        <p:grpSpPr>
          <a:xfrm rot="0">
            <a:off x="5836158" y="2780500"/>
            <a:ext cx="4594860" cy="4526280"/>
            <a:chOff x="0" y="0"/>
            <a:chExt cx="6126480" cy="6035040"/>
          </a:xfrm>
        </p:grpSpPr>
        <p:sp>
          <p:nvSpPr>
            <p:cNvPr name="Freeform 25" id="25"/>
            <p:cNvSpPr/>
            <p:nvPr/>
          </p:nvSpPr>
          <p:spPr>
            <a:xfrm flipH="false" flipV="false" rot="0">
              <a:off x="0" y="0"/>
              <a:ext cx="6126480" cy="6035040"/>
            </a:xfrm>
            <a:custGeom>
              <a:avLst/>
              <a:gdLst/>
              <a:ahLst/>
              <a:cxnLst/>
              <a:rect r="r" b="b" t="t" l="l"/>
              <a:pathLst>
                <a:path h="6035040" w="6126480">
                  <a:moveTo>
                    <a:pt x="0" y="182880"/>
                  </a:moveTo>
                  <a:cubicBezTo>
                    <a:pt x="0" y="81915"/>
                    <a:pt x="81915" y="0"/>
                    <a:pt x="182880" y="0"/>
                  </a:cubicBezTo>
                  <a:lnTo>
                    <a:pt x="5943600" y="0"/>
                  </a:lnTo>
                  <a:cubicBezTo>
                    <a:pt x="6044565" y="0"/>
                    <a:pt x="6126480" y="81915"/>
                    <a:pt x="6126480" y="182880"/>
                  </a:cubicBezTo>
                  <a:lnTo>
                    <a:pt x="6126480" y="5852160"/>
                  </a:lnTo>
                  <a:cubicBezTo>
                    <a:pt x="6126480" y="5953125"/>
                    <a:pt x="6044565" y="6035040"/>
                    <a:pt x="5943600" y="6035040"/>
                  </a:cubicBezTo>
                  <a:lnTo>
                    <a:pt x="182880" y="6035040"/>
                  </a:lnTo>
                  <a:cubicBezTo>
                    <a:pt x="81915" y="6035040"/>
                    <a:pt x="0" y="5953125"/>
                    <a:pt x="0" y="5852160"/>
                  </a:cubicBezTo>
                  <a:close/>
                </a:path>
              </a:pathLst>
            </a:custGeom>
            <a:solidFill>
              <a:srgbClr val="FFFFFF"/>
            </a:solidFill>
          </p:spPr>
        </p:sp>
      </p:grpSp>
      <p:grpSp>
        <p:nvGrpSpPr>
          <p:cNvPr name="Group 26" id="26"/>
          <p:cNvGrpSpPr/>
          <p:nvPr/>
        </p:nvGrpSpPr>
        <p:grpSpPr>
          <a:xfrm rot="0">
            <a:off x="5836158" y="2780500"/>
            <a:ext cx="4594860" cy="123444"/>
            <a:chOff x="0" y="0"/>
            <a:chExt cx="6126480" cy="164592"/>
          </a:xfrm>
        </p:grpSpPr>
        <p:sp>
          <p:nvSpPr>
            <p:cNvPr name="Freeform 27" id="27"/>
            <p:cNvSpPr/>
            <p:nvPr/>
          </p:nvSpPr>
          <p:spPr>
            <a:xfrm flipH="false" flipV="false" rot="0">
              <a:off x="0" y="0"/>
              <a:ext cx="6126480" cy="164592"/>
            </a:xfrm>
            <a:custGeom>
              <a:avLst/>
              <a:gdLst/>
              <a:ahLst/>
              <a:cxnLst/>
              <a:rect r="r" b="b" t="t" l="l"/>
              <a:pathLst>
                <a:path h="164592" w="6126480">
                  <a:moveTo>
                    <a:pt x="0" y="0"/>
                  </a:moveTo>
                  <a:lnTo>
                    <a:pt x="6126480" y="0"/>
                  </a:lnTo>
                  <a:lnTo>
                    <a:pt x="6126480" y="164592"/>
                  </a:lnTo>
                  <a:lnTo>
                    <a:pt x="0" y="164592"/>
                  </a:lnTo>
                  <a:close/>
                </a:path>
              </a:pathLst>
            </a:custGeom>
            <a:solidFill>
              <a:srgbClr val="C9821F"/>
            </a:solidFill>
          </p:spPr>
        </p:sp>
      </p:grpSp>
      <p:grpSp>
        <p:nvGrpSpPr>
          <p:cNvPr name="Group 28" id="28"/>
          <p:cNvGrpSpPr/>
          <p:nvPr/>
        </p:nvGrpSpPr>
        <p:grpSpPr>
          <a:xfrm rot="0">
            <a:off x="6275070" y="3356572"/>
            <a:ext cx="822960" cy="822960"/>
            <a:chOff x="0" y="0"/>
            <a:chExt cx="1097280" cy="1097280"/>
          </a:xfrm>
        </p:grpSpPr>
        <p:sp>
          <p:nvSpPr>
            <p:cNvPr name="Freeform 29" id="29"/>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C9821F"/>
            </a:solidFill>
          </p:spPr>
        </p:sp>
      </p:grpSp>
      <p:grpSp>
        <p:nvGrpSpPr>
          <p:cNvPr name="Group 30" id="30"/>
          <p:cNvGrpSpPr/>
          <p:nvPr/>
        </p:nvGrpSpPr>
        <p:grpSpPr>
          <a:xfrm rot="0">
            <a:off x="6275070" y="3356572"/>
            <a:ext cx="822960" cy="822960"/>
            <a:chOff x="0" y="0"/>
            <a:chExt cx="1097280" cy="1097280"/>
          </a:xfrm>
        </p:grpSpPr>
        <p:sp>
          <p:nvSpPr>
            <p:cNvPr name="Freeform 31" id="31"/>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9">
                <a:alphaModFix amt="0"/>
              </a:blip>
              <a:stretch>
                <a:fillRect l="-78303" t="0" r="-78303" b="0"/>
              </a:stretch>
            </a:blipFill>
          </p:spPr>
        </p:sp>
        <p:sp>
          <p:nvSpPr>
            <p:cNvPr name="TextBox 32" id="32"/>
            <p:cNvSpPr txBox="true"/>
            <p:nvPr/>
          </p:nvSpPr>
          <p:spPr>
            <a:xfrm>
              <a:off x="0" y="-19050"/>
              <a:ext cx="1097280" cy="1116330"/>
            </a:xfrm>
            <a:prstGeom prst="rect">
              <a:avLst/>
            </a:prstGeom>
          </p:spPr>
          <p:txBody>
            <a:bodyPr anchor="ctr" rtlCol="false" tIns="0" lIns="0" bIns="0" rIns="0"/>
            <a:lstStyle/>
            <a:p>
              <a:pPr algn="ctr">
                <a:lnSpc>
                  <a:spcPts val="3779"/>
                </a:lnSpc>
              </a:pPr>
              <a:r>
                <a:rPr lang="en-US" sz="3150" b="true">
                  <a:solidFill>
                    <a:srgbClr val="FFFFFF"/>
                  </a:solidFill>
                  <a:latin typeface="Poppins Bold"/>
                  <a:ea typeface="Poppins Bold"/>
                  <a:cs typeface="Poppins Bold"/>
                  <a:sym typeface="Poppins Bold"/>
                </a:rPr>
                <a:t>2</a:t>
              </a:r>
            </a:p>
          </p:txBody>
        </p:sp>
      </p:grpSp>
      <p:grpSp>
        <p:nvGrpSpPr>
          <p:cNvPr name="Group 33" id="33"/>
          <p:cNvGrpSpPr/>
          <p:nvPr/>
        </p:nvGrpSpPr>
        <p:grpSpPr>
          <a:xfrm rot="0">
            <a:off x="7276338" y="3356572"/>
            <a:ext cx="2811780" cy="822960"/>
            <a:chOff x="0" y="0"/>
            <a:chExt cx="3749040" cy="1097280"/>
          </a:xfrm>
        </p:grpSpPr>
        <p:sp>
          <p:nvSpPr>
            <p:cNvPr name="Freeform 34" id="34"/>
            <p:cNvSpPr/>
            <p:nvPr/>
          </p:nvSpPr>
          <p:spPr>
            <a:xfrm flipH="false" flipV="false" rot="0">
              <a:off x="0" y="0"/>
              <a:ext cx="3749040" cy="1097280"/>
            </a:xfrm>
            <a:custGeom>
              <a:avLst/>
              <a:gdLst/>
              <a:ahLst/>
              <a:cxnLst/>
              <a:rect r="r" b="b" t="t" l="l"/>
              <a:pathLst>
                <a:path h="1097280" w="3749040">
                  <a:moveTo>
                    <a:pt x="0" y="0"/>
                  </a:moveTo>
                  <a:lnTo>
                    <a:pt x="3749040" y="0"/>
                  </a:lnTo>
                  <a:lnTo>
                    <a:pt x="3749040" y="1097280"/>
                  </a:lnTo>
                  <a:lnTo>
                    <a:pt x="0" y="1097280"/>
                  </a:lnTo>
                  <a:close/>
                </a:path>
              </a:pathLst>
            </a:custGeom>
            <a:blipFill>
              <a:blip r:embed="rId9">
                <a:alphaModFix amt="0"/>
              </a:blip>
              <a:stretch>
                <a:fillRect l="0" t="-16573" r="0" b="-16573"/>
              </a:stretch>
            </a:blipFill>
          </p:spPr>
        </p:sp>
        <p:sp>
          <p:nvSpPr>
            <p:cNvPr name="TextBox 35" id="35"/>
            <p:cNvSpPr txBox="true"/>
            <p:nvPr/>
          </p:nvSpPr>
          <p:spPr>
            <a:xfrm>
              <a:off x="0" y="-9525"/>
              <a:ext cx="3749040" cy="1106805"/>
            </a:xfrm>
            <a:prstGeom prst="rect">
              <a:avLst/>
            </a:prstGeom>
          </p:spPr>
          <p:txBody>
            <a:bodyPr anchor="ctr" rtlCol="false" tIns="0" lIns="0" bIns="0" rIns="0"/>
            <a:lstStyle/>
            <a:p>
              <a:pPr algn="l">
                <a:lnSpc>
                  <a:spcPts val="2790"/>
                </a:lnSpc>
              </a:pPr>
              <a:r>
                <a:rPr lang="en-US" sz="2325" b="true">
                  <a:solidFill>
                    <a:srgbClr val="0A1A23"/>
                  </a:solidFill>
                  <a:latin typeface="Poppins Bold"/>
                  <a:ea typeface="Poppins Bold"/>
                  <a:cs typeface="Poppins Bold"/>
                  <a:sym typeface="Poppins Bold"/>
                </a:rPr>
                <a:t>Wrong averages</a:t>
              </a:r>
            </a:p>
          </p:txBody>
        </p:sp>
      </p:grpSp>
      <p:sp>
        <p:nvSpPr>
          <p:cNvPr name="TextBox 36" id="36"/>
          <p:cNvSpPr txBox="true"/>
          <p:nvPr/>
        </p:nvSpPr>
        <p:spPr>
          <a:xfrm rot="0">
            <a:off x="6275070" y="4340695"/>
            <a:ext cx="3717036" cy="2691765"/>
          </a:xfrm>
          <a:prstGeom prst="rect">
            <a:avLst/>
          </a:prstGeom>
        </p:spPr>
        <p:txBody>
          <a:bodyPr anchor="t" rtlCol="false" tIns="0" lIns="0" bIns="0" rIns="0">
            <a:spAutoFit/>
          </a:bodyPr>
          <a:lstStyle/>
          <a:p>
            <a:pPr algn="l">
              <a:lnSpc>
                <a:spcPts val="2925"/>
              </a:lnSpc>
            </a:pPr>
            <a:r>
              <a:rPr lang="en-US" sz="1875">
                <a:solidFill>
                  <a:srgbClr val="475569"/>
                </a:solidFill>
                <a:latin typeface="Poppins"/>
                <a:ea typeface="Poppins"/>
                <a:cs typeface="Poppins"/>
                <a:sym typeface="Poppins"/>
              </a:rPr>
              <a:t>Average rider tenure, weighted by how many deliveries each rider happened to make. Busy riders dominate a statistic that should treat every rider equally.</a:t>
            </a:r>
          </a:p>
        </p:txBody>
      </p:sp>
      <p:grpSp>
        <p:nvGrpSpPr>
          <p:cNvPr name="Group 37" id="37"/>
          <p:cNvGrpSpPr/>
          <p:nvPr/>
        </p:nvGrpSpPr>
        <p:grpSpPr>
          <a:xfrm rot="0">
            <a:off x="10815066" y="2780500"/>
            <a:ext cx="4594860" cy="4526280"/>
            <a:chOff x="0" y="0"/>
            <a:chExt cx="6126480" cy="6035040"/>
          </a:xfrm>
        </p:grpSpPr>
        <p:sp>
          <p:nvSpPr>
            <p:cNvPr name="Freeform 38" id="38"/>
            <p:cNvSpPr/>
            <p:nvPr/>
          </p:nvSpPr>
          <p:spPr>
            <a:xfrm flipH="false" flipV="false" rot="0">
              <a:off x="0" y="0"/>
              <a:ext cx="6126480" cy="6035040"/>
            </a:xfrm>
            <a:custGeom>
              <a:avLst/>
              <a:gdLst/>
              <a:ahLst/>
              <a:cxnLst/>
              <a:rect r="r" b="b" t="t" l="l"/>
              <a:pathLst>
                <a:path h="6035040" w="6126480">
                  <a:moveTo>
                    <a:pt x="0" y="182880"/>
                  </a:moveTo>
                  <a:cubicBezTo>
                    <a:pt x="0" y="81915"/>
                    <a:pt x="81915" y="0"/>
                    <a:pt x="182880" y="0"/>
                  </a:cubicBezTo>
                  <a:lnTo>
                    <a:pt x="5943600" y="0"/>
                  </a:lnTo>
                  <a:cubicBezTo>
                    <a:pt x="6044565" y="0"/>
                    <a:pt x="6126480" y="81915"/>
                    <a:pt x="6126480" y="182880"/>
                  </a:cubicBezTo>
                  <a:lnTo>
                    <a:pt x="6126480" y="5852160"/>
                  </a:lnTo>
                  <a:cubicBezTo>
                    <a:pt x="6126480" y="5953125"/>
                    <a:pt x="6044565" y="6035040"/>
                    <a:pt x="5943600" y="6035040"/>
                  </a:cubicBezTo>
                  <a:lnTo>
                    <a:pt x="182880" y="6035040"/>
                  </a:lnTo>
                  <a:cubicBezTo>
                    <a:pt x="81915" y="6035040"/>
                    <a:pt x="0" y="5953125"/>
                    <a:pt x="0" y="5852160"/>
                  </a:cubicBezTo>
                  <a:close/>
                </a:path>
              </a:pathLst>
            </a:custGeom>
            <a:solidFill>
              <a:srgbClr val="FFFFFF"/>
            </a:solidFill>
          </p:spPr>
        </p:sp>
      </p:grpSp>
      <p:grpSp>
        <p:nvGrpSpPr>
          <p:cNvPr name="Group 39" id="39"/>
          <p:cNvGrpSpPr/>
          <p:nvPr/>
        </p:nvGrpSpPr>
        <p:grpSpPr>
          <a:xfrm rot="0">
            <a:off x="10815066" y="2780500"/>
            <a:ext cx="4594860" cy="123444"/>
            <a:chOff x="0" y="0"/>
            <a:chExt cx="6126480" cy="164592"/>
          </a:xfrm>
        </p:grpSpPr>
        <p:sp>
          <p:nvSpPr>
            <p:cNvPr name="Freeform 40" id="40"/>
            <p:cNvSpPr/>
            <p:nvPr/>
          </p:nvSpPr>
          <p:spPr>
            <a:xfrm flipH="false" flipV="false" rot="0">
              <a:off x="0" y="0"/>
              <a:ext cx="6126480" cy="164592"/>
            </a:xfrm>
            <a:custGeom>
              <a:avLst/>
              <a:gdLst/>
              <a:ahLst/>
              <a:cxnLst/>
              <a:rect r="r" b="b" t="t" l="l"/>
              <a:pathLst>
                <a:path h="164592" w="6126480">
                  <a:moveTo>
                    <a:pt x="0" y="0"/>
                  </a:moveTo>
                  <a:lnTo>
                    <a:pt x="6126480" y="0"/>
                  </a:lnTo>
                  <a:lnTo>
                    <a:pt x="6126480" y="164592"/>
                  </a:lnTo>
                  <a:lnTo>
                    <a:pt x="0" y="164592"/>
                  </a:lnTo>
                  <a:close/>
                </a:path>
              </a:pathLst>
            </a:custGeom>
            <a:solidFill>
              <a:srgbClr val="A8322D"/>
            </a:solidFill>
          </p:spPr>
        </p:sp>
      </p:grpSp>
      <p:grpSp>
        <p:nvGrpSpPr>
          <p:cNvPr name="Group 41" id="41"/>
          <p:cNvGrpSpPr/>
          <p:nvPr/>
        </p:nvGrpSpPr>
        <p:grpSpPr>
          <a:xfrm rot="0">
            <a:off x="11253978" y="3356572"/>
            <a:ext cx="822960" cy="822960"/>
            <a:chOff x="0" y="0"/>
            <a:chExt cx="1097280" cy="1097280"/>
          </a:xfrm>
        </p:grpSpPr>
        <p:sp>
          <p:nvSpPr>
            <p:cNvPr name="Freeform 42" id="42"/>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A8322D"/>
            </a:solidFill>
          </p:spPr>
        </p:sp>
      </p:grpSp>
      <p:grpSp>
        <p:nvGrpSpPr>
          <p:cNvPr name="Group 43" id="43"/>
          <p:cNvGrpSpPr/>
          <p:nvPr/>
        </p:nvGrpSpPr>
        <p:grpSpPr>
          <a:xfrm rot="0">
            <a:off x="11253978" y="3356572"/>
            <a:ext cx="822960" cy="822960"/>
            <a:chOff x="0" y="0"/>
            <a:chExt cx="1097280" cy="1097280"/>
          </a:xfrm>
        </p:grpSpPr>
        <p:sp>
          <p:nvSpPr>
            <p:cNvPr name="Freeform 44" id="44"/>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9">
                <a:alphaModFix amt="0"/>
              </a:blip>
              <a:stretch>
                <a:fillRect l="-78303" t="0" r="-78303" b="0"/>
              </a:stretch>
            </a:blipFill>
          </p:spPr>
        </p:sp>
        <p:sp>
          <p:nvSpPr>
            <p:cNvPr name="TextBox 45" id="45"/>
            <p:cNvSpPr txBox="true"/>
            <p:nvPr/>
          </p:nvSpPr>
          <p:spPr>
            <a:xfrm>
              <a:off x="0" y="-19050"/>
              <a:ext cx="1097280" cy="1116330"/>
            </a:xfrm>
            <a:prstGeom prst="rect">
              <a:avLst/>
            </a:prstGeom>
          </p:spPr>
          <p:txBody>
            <a:bodyPr anchor="ctr" rtlCol="false" tIns="0" lIns="0" bIns="0" rIns="0"/>
            <a:lstStyle/>
            <a:p>
              <a:pPr algn="ctr">
                <a:lnSpc>
                  <a:spcPts val="3779"/>
                </a:lnSpc>
              </a:pPr>
              <a:r>
                <a:rPr lang="en-US" sz="3150" b="true">
                  <a:solidFill>
                    <a:srgbClr val="FFFFFF"/>
                  </a:solidFill>
                  <a:latin typeface="Poppins Bold"/>
                  <a:ea typeface="Poppins Bold"/>
                  <a:cs typeface="Poppins Bold"/>
                  <a:sym typeface="Poppins Bold"/>
                </a:rPr>
                <a:t>3</a:t>
              </a:r>
            </a:p>
          </p:txBody>
        </p:sp>
      </p:grpSp>
      <p:grpSp>
        <p:nvGrpSpPr>
          <p:cNvPr name="Group 46" id="46"/>
          <p:cNvGrpSpPr/>
          <p:nvPr/>
        </p:nvGrpSpPr>
        <p:grpSpPr>
          <a:xfrm rot="0">
            <a:off x="12255246" y="3356572"/>
            <a:ext cx="2811780" cy="822960"/>
            <a:chOff x="0" y="0"/>
            <a:chExt cx="3749040" cy="1097280"/>
          </a:xfrm>
        </p:grpSpPr>
        <p:sp>
          <p:nvSpPr>
            <p:cNvPr name="Freeform 47" id="47"/>
            <p:cNvSpPr/>
            <p:nvPr/>
          </p:nvSpPr>
          <p:spPr>
            <a:xfrm flipH="false" flipV="false" rot="0">
              <a:off x="0" y="0"/>
              <a:ext cx="3749040" cy="1097280"/>
            </a:xfrm>
            <a:custGeom>
              <a:avLst/>
              <a:gdLst/>
              <a:ahLst/>
              <a:cxnLst/>
              <a:rect r="r" b="b" t="t" l="l"/>
              <a:pathLst>
                <a:path h="1097280" w="3749040">
                  <a:moveTo>
                    <a:pt x="0" y="0"/>
                  </a:moveTo>
                  <a:lnTo>
                    <a:pt x="3749040" y="0"/>
                  </a:lnTo>
                  <a:lnTo>
                    <a:pt x="3749040" y="1097280"/>
                  </a:lnTo>
                  <a:lnTo>
                    <a:pt x="0" y="1097280"/>
                  </a:lnTo>
                  <a:close/>
                </a:path>
              </a:pathLst>
            </a:custGeom>
            <a:blipFill>
              <a:blip r:embed="rId9">
                <a:alphaModFix amt="0"/>
              </a:blip>
              <a:stretch>
                <a:fillRect l="0" t="-16573" r="0" b="-16573"/>
              </a:stretch>
            </a:blipFill>
          </p:spPr>
        </p:sp>
        <p:sp>
          <p:nvSpPr>
            <p:cNvPr name="TextBox 48" id="48"/>
            <p:cNvSpPr txBox="true"/>
            <p:nvPr/>
          </p:nvSpPr>
          <p:spPr>
            <a:xfrm>
              <a:off x="0" y="-9525"/>
              <a:ext cx="3749040" cy="1106805"/>
            </a:xfrm>
            <a:prstGeom prst="rect">
              <a:avLst/>
            </a:prstGeom>
          </p:spPr>
          <p:txBody>
            <a:bodyPr anchor="ctr" rtlCol="false" tIns="0" lIns="0" bIns="0" rIns="0"/>
            <a:lstStyle/>
            <a:p>
              <a:pPr algn="l">
                <a:lnSpc>
                  <a:spcPts val="2790"/>
                </a:lnSpc>
              </a:pPr>
              <a:r>
                <a:rPr lang="en-US" sz="2325" b="true">
                  <a:solidFill>
                    <a:srgbClr val="0A1A23"/>
                  </a:solidFill>
                  <a:latin typeface="Poppins Bold"/>
                  <a:ea typeface="Poppins Bold"/>
                  <a:cs typeface="Poppins Bold"/>
                  <a:sym typeface="Poppins Bold"/>
                </a:rPr>
                <a:t>Impossible filters</a:t>
              </a:r>
            </a:p>
          </p:txBody>
        </p:sp>
      </p:grpSp>
      <p:sp>
        <p:nvSpPr>
          <p:cNvPr name="TextBox 49" id="49"/>
          <p:cNvSpPr txBox="true"/>
          <p:nvPr/>
        </p:nvSpPr>
        <p:spPr>
          <a:xfrm rot="0">
            <a:off x="11253978" y="4340695"/>
            <a:ext cx="3717036" cy="2691765"/>
          </a:xfrm>
          <a:prstGeom prst="rect">
            <a:avLst/>
          </a:prstGeom>
        </p:spPr>
        <p:txBody>
          <a:bodyPr anchor="t" rtlCol="false" tIns="0" lIns="0" bIns="0" rIns="0">
            <a:spAutoFit/>
          </a:bodyPr>
          <a:lstStyle/>
          <a:p>
            <a:pPr algn="l">
              <a:lnSpc>
                <a:spcPts val="2925"/>
              </a:lnSpc>
            </a:pPr>
            <a:r>
              <a:rPr lang="en-US" sz="1875">
                <a:solidFill>
                  <a:srgbClr val="475569"/>
                </a:solidFill>
                <a:latin typeface="Poppins"/>
                <a:ea typeface="Poppins"/>
                <a:cs typeface="Poppins"/>
                <a:sym typeface="Poppins"/>
              </a:rPr>
              <a:t>A slicer on Hub filters deliveries, not riders. You can never ask “how many riders in Apapa made no deliveries last week”, because those riders do not exist in this table at all.</a:t>
            </a:r>
          </a:p>
        </p:txBody>
      </p:sp>
      <p:grpSp>
        <p:nvGrpSpPr>
          <p:cNvPr name="Group 50" id="50"/>
          <p:cNvGrpSpPr/>
          <p:nvPr/>
        </p:nvGrpSpPr>
        <p:grpSpPr>
          <a:xfrm rot="0">
            <a:off x="857250" y="7581100"/>
            <a:ext cx="14744700" cy="1371600"/>
            <a:chOff x="0" y="0"/>
            <a:chExt cx="19659600" cy="1828800"/>
          </a:xfrm>
        </p:grpSpPr>
        <p:sp>
          <p:nvSpPr>
            <p:cNvPr name="Freeform 51" id="51"/>
            <p:cNvSpPr/>
            <p:nvPr/>
          </p:nvSpPr>
          <p:spPr>
            <a:xfrm flipH="false" flipV="false" rot="0">
              <a:off x="0" y="0"/>
              <a:ext cx="19659600" cy="1828800"/>
            </a:xfrm>
            <a:custGeom>
              <a:avLst/>
              <a:gdLst/>
              <a:ahLst/>
              <a:cxnLst/>
              <a:rect r="r" b="b" t="t" l="l"/>
              <a:pathLst>
                <a:path h="1828800" w="19659600">
                  <a:moveTo>
                    <a:pt x="0" y="164592"/>
                  </a:moveTo>
                  <a:cubicBezTo>
                    <a:pt x="0" y="73660"/>
                    <a:pt x="73660" y="0"/>
                    <a:pt x="164592" y="0"/>
                  </a:cubicBezTo>
                  <a:lnTo>
                    <a:pt x="19495008" y="0"/>
                  </a:lnTo>
                  <a:cubicBezTo>
                    <a:pt x="19585939" y="0"/>
                    <a:pt x="19659600" y="73660"/>
                    <a:pt x="19659600" y="164592"/>
                  </a:cubicBezTo>
                  <a:lnTo>
                    <a:pt x="19659600" y="1664208"/>
                  </a:lnTo>
                  <a:cubicBezTo>
                    <a:pt x="19659600" y="1755140"/>
                    <a:pt x="19585939" y="1828800"/>
                    <a:pt x="19495008" y="1828800"/>
                  </a:cubicBezTo>
                  <a:lnTo>
                    <a:pt x="164592" y="1828800"/>
                  </a:lnTo>
                  <a:cubicBezTo>
                    <a:pt x="73660" y="1828800"/>
                    <a:pt x="0" y="1755140"/>
                    <a:pt x="0" y="1664208"/>
                  </a:cubicBezTo>
                  <a:close/>
                </a:path>
              </a:pathLst>
            </a:custGeom>
            <a:solidFill>
              <a:srgbClr val="EEF4F4"/>
            </a:solidFill>
          </p:spPr>
        </p:sp>
      </p:grpSp>
      <p:grpSp>
        <p:nvGrpSpPr>
          <p:cNvPr name="Group 52" id="52"/>
          <p:cNvGrpSpPr/>
          <p:nvPr/>
        </p:nvGrpSpPr>
        <p:grpSpPr>
          <a:xfrm rot="0">
            <a:off x="857250" y="7581100"/>
            <a:ext cx="102870" cy="1371600"/>
            <a:chOff x="0" y="0"/>
            <a:chExt cx="137160" cy="1828800"/>
          </a:xfrm>
        </p:grpSpPr>
        <p:sp>
          <p:nvSpPr>
            <p:cNvPr name="Freeform 53" id="53"/>
            <p:cNvSpPr/>
            <p:nvPr/>
          </p:nvSpPr>
          <p:spPr>
            <a:xfrm flipH="false" flipV="false" rot="0">
              <a:off x="0" y="0"/>
              <a:ext cx="137160" cy="1828800"/>
            </a:xfrm>
            <a:custGeom>
              <a:avLst/>
              <a:gdLst/>
              <a:ahLst/>
              <a:cxnLst/>
              <a:rect r="r" b="b" t="t" l="l"/>
              <a:pathLst>
                <a:path h="1828800" w="137160">
                  <a:moveTo>
                    <a:pt x="0" y="0"/>
                  </a:moveTo>
                  <a:lnTo>
                    <a:pt x="137160" y="0"/>
                  </a:lnTo>
                  <a:lnTo>
                    <a:pt x="137160" y="1828800"/>
                  </a:lnTo>
                  <a:lnTo>
                    <a:pt x="0" y="1828800"/>
                  </a:lnTo>
                  <a:close/>
                </a:path>
              </a:pathLst>
            </a:custGeom>
            <a:solidFill>
              <a:srgbClr val="A8322D"/>
            </a:solidFill>
          </p:spPr>
        </p:sp>
      </p:grpSp>
      <p:grpSp>
        <p:nvGrpSpPr>
          <p:cNvPr name="Group 54" id="54"/>
          <p:cNvGrpSpPr/>
          <p:nvPr/>
        </p:nvGrpSpPr>
        <p:grpSpPr>
          <a:xfrm rot="0">
            <a:off x="1405890" y="7581100"/>
            <a:ext cx="13853160" cy="1371600"/>
            <a:chOff x="0" y="0"/>
            <a:chExt cx="18470880" cy="1828800"/>
          </a:xfrm>
        </p:grpSpPr>
        <p:sp>
          <p:nvSpPr>
            <p:cNvPr name="Freeform 55" id="55"/>
            <p:cNvSpPr/>
            <p:nvPr/>
          </p:nvSpPr>
          <p:spPr>
            <a:xfrm flipH="false" flipV="false" rot="0">
              <a:off x="0" y="0"/>
              <a:ext cx="18470880" cy="1828800"/>
            </a:xfrm>
            <a:custGeom>
              <a:avLst/>
              <a:gdLst/>
              <a:ahLst/>
              <a:cxnLst/>
              <a:rect r="r" b="b" t="t" l="l"/>
              <a:pathLst>
                <a:path h="1828800" w="18470880">
                  <a:moveTo>
                    <a:pt x="0" y="0"/>
                  </a:moveTo>
                  <a:lnTo>
                    <a:pt x="18470880" y="0"/>
                  </a:lnTo>
                  <a:lnTo>
                    <a:pt x="18470880" y="1828800"/>
                  </a:lnTo>
                  <a:lnTo>
                    <a:pt x="0" y="1828800"/>
                  </a:lnTo>
                  <a:close/>
                </a:path>
              </a:pathLst>
            </a:custGeom>
            <a:blipFill>
              <a:blip r:embed="rId9">
                <a:alphaModFix amt="0"/>
              </a:blip>
              <a:stretch>
                <a:fillRect l="0" t="-146798" r="0" b="-146798"/>
              </a:stretch>
            </a:blipFill>
          </p:spPr>
        </p:sp>
        <p:sp>
          <p:nvSpPr>
            <p:cNvPr name="TextBox 56" id="56"/>
            <p:cNvSpPr txBox="true"/>
            <p:nvPr/>
          </p:nvSpPr>
          <p:spPr>
            <a:xfrm>
              <a:off x="0" y="-114300"/>
              <a:ext cx="18470880" cy="1943100"/>
            </a:xfrm>
            <a:prstGeom prst="rect">
              <a:avLst/>
            </a:prstGeom>
          </p:spPr>
          <p:txBody>
            <a:bodyPr anchor="ctr" rtlCol="false" tIns="0" lIns="0" bIns="0" rIns="0"/>
            <a:lstStyle/>
            <a:p>
              <a:pPr algn="l">
                <a:lnSpc>
                  <a:spcPts val="3888"/>
                </a:lnSpc>
              </a:pPr>
              <a:r>
                <a:rPr lang="en-US" sz="2400" b="true">
                  <a:solidFill>
                    <a:srgbClr val="A8322D"/>
                  </a:solidFill>
                  <a:latin typeface="Poppins Bold"/>
                  <a:ea typeface="Poppins Bold"/>
                  <a:cs typeface="Poppins Bold"/>
                  <a:sym typeface="Poppins Bold"/>
                </a:rPr>
                <a:t>The third one is the killer. A flat table cannot represent something that did not happen.</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5" id="5"/>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6497824" y="8924125"/>
            <a:ext cx="647224" cy="571500"/>
            <a:chOff x="0" y="0"/>
            <a:chExt cx="862965" cy="762000"/>
          </a:xfrm>
        </p:grpSpPr>
        <p:sp>
          <p:nvSpPr>
            <p:cNvPr name="Freeform 7" id="7"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8" id="8"/>
          <p:cNvGrpSpPr/>
          <p:nvPr/>
        </p:nvGrpSpPr>
        <p:grpSpPr>
          <a:xfrm rot="0">
            <a:off x="0" y="0"/>
            <a:ext cx="18287543" cy="10287000"/>
            <a:chOff x="0" y="0"/>
            <a:chExt cx="24383390" cy="13716000"/>
          </a:xfrm>
        </p:grpSpPr>
        <p:sp>
          <p:nvSpPr>
            <p:cNvPr name="Freeform 9" id="9"/>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20494A"/>
            </a:solidFill>
          </p:spPr>
        </p:sp>
      </p:grpSp>
      <p:sp>
        <p:nvSpPr>
          <p:cNvPr name="Freeform 10" id="10"/>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1002792" y="632460"/>
            <a:ext cx="4389120" cy="2880360"/>
            <a:chOff x="0" y="0"/>
            <a:chExt cx="5852160" cy="3840480"/>
          </a:xfrm>
        </p:grpSpPr>
        <p:sp>
          <p:nvSpPr>
            <p:cNvPr name="Freeform 12" id="12"/>
            <p:cNvSpPr/>
            <p:nvPr/>
          </p:nvSpPr>
          <p:spPr>
            <a:xfrm flipH="false" flipV="false" rot="0">
              <a:off x="0" y="0"/>
              <a:ext cx="5852160" cy="3840480"/>
            </a:xfrm>
            <a:custGeom>
              <a:avLst/>
              <a:gdLst/>
              <a:ahLst/>
              <a:cxnLst/>
              <a:rect r="r" b="b" t="t" l="l"/>
              <a:pathLst>
                <a:path h="3840480" w="5852160">
                  <a:moveTo>
                    <a:pt x="0" y="0"/>
                  </a:moveTo>
                  <a:lnTo>
                    <a:pt x="5852160" y="0"/>
                  </a:lnTo>
                  <a:lnTo>
                    <a:pt x="5852160" y="3840480"/>
                  </a:lnTo>
                  <a:lnTo>
                    <a:pt x="0" y="3840480"/>
                  </a:lnTo>
                  <a:close/>
                </a:path>
              </a:pathLst>
            </a:custGeom>
            <a:blipFill>
              <a:blip r:embed="rId9">
                <a:alphaModFix amt="0"/>
              </a:blip>
              <a:stretch>
                <a:fillRect l="-34199" t="0" r="-34199" b="0"/>
              </a:stretch>
            </a:blipFill>
          </p:spPr>
        </p:sp>
        <p:sp>
          <p:nvSpPr>
            <p:cNvPr name="TextBox 13" id="13"/>
            <p:cNvSpPr txBox="true"/>
            <p:nvPr/>
          </p:nvSpPr>
          <p:spPr>
            <a:xfrm>
              <a:off x="0" y="-190500"/>
              <a:ext cx="5852160" cy="4030980"/>
            </a:xfrm>
            <a:prstGeom prst="rect">
              <a:avLst/>
            </a:prstGeom>
          </p:spPr>
          <p:txBody>
            <a:bodyPr anchor="ctr" rtlCol="false" tIns="0" lIns="0" bIns="0" rIns="0"/>
            <a:lstStyle/>
            <a:p>
              <a:pPr algn="l">
                <a:lnSpc>
                  <a:spcPts val="23400"/>
                </a:lnSpc>
              </a:pPr>
              <a:r>
                <a:rPr lang="en-US" sz="19500" b="true">
                  <a:solidFill>
                    <a:srgbClr val="2F6364"/>
                  </a:solidFill>
                  <a:latin typeface="Poppins Bold"/>
                  <a:ea typeface="Poppins Bold"/>
                  <a:cs typeface="Poppins Bold"/>
                  <a:sym typeface="Poppins Bold"/>
                </a:rPr>
                <a:t>02</a:t>
              </a:r>
            </a:p>
          </p:txBody>
        </p:sp>
      </p:grpSp>
      <p:grpSp>
        <p:nvGrpSpPr>
          <p:cNvPr name="Group 14" id="14"/>
          <p:cNvGrpSpPr/>
          <p:nvPr/>
        </p:nvGrpSpPr>
        <p:grpSpPr>
          <a:xfrm rot="0">
            <a:off x="1222248" y="3883152"/>
            <a:ext cx="10149840" cy="466344"/>
            <a:chOff x="0" y="0"/>
            <a:chExt cx="13533120" cy="621792"/>
          </a:xfrm>
        </p:grpSpPr>
        <p:sp>
          <p:nvSpPr>
            <p:cNvPr name="Freeform 15" id="15"/>
            <p:cNvSpPr/>
            <p:nvPr/>
          </p:nvSpPr>
          <p:spPr>
            <a:xfrm flipH="false" flipV="false" rot="0">
              <a:off x="0" y="0"/>
              <a:ext cx="13533120" cy="621792"/>
            </a:xfrm>
            <a:custGeom>
              <a:avLst/>
              <a:gdLst/>
              <a:ahLst/>
              <a:cxnLst/>
              <a:rect r="r" b="b" t="t" l="l"/>
              <a:pathLst>
                <a:path h="621792" w="13533120">
                  <a:moveTo>
                    <a:pt x="0" y="0"/>
                  </a:moveTo>
                  <a:lnTo>
                    <a:pt x="13533120" y="0"/>
                  </a:lnTo>
                  <a:lnTo>
                    <a:pt x="13533120" y="621792"/>
                  </a:lnTo>
                  <a:lnTo>
                    <a:pt x="0" y="621792"/>
                  </a:lnTo>
                  <a:close/>
                </a:path>
              </a:pathLst>
            </a:custGeom>
            <a:blipFill>
              <a:blip r:embed="rId9">
                <a:alphaModFix amt="0"/>
              </a:blip>
              <a:stretch>
                <a:fillRect l="0" t="-374086" r="0" b="-374086"/>
              </a:stretch>
            </a:blipFill>
          </p:spPr>
        </p:sp>
        <p:sp>
          <p:nvSpPr>
            <p:cNvPr name="TextBox 16" id="16"/>
            <p:cNvSpPr txBox="true"/>
            <p:nvPr/>
          </p:nvSpPr>
          <p:spPr>
            <a:xfrm>
              <a:off x="0" y="-19050"/>
              <a:ext cx="13533120" cy="640842"/>
            </a:xfrm>
            <a:prstGeom prst="rect">
              <a:avLst/>
            </a:prstGeom>
          </p:spPr>
          <p:txBody>
            <a:bodyPr anchor="ctr" rtlCol="false" tIns="0" lIns="0" bIns="0" rIns="0"/>
            <a:lstStyle/>
            <a:p>
              <a:pPr algn="l">
                <a:lnSpc>
                  <a:spcPts val="2340"/>
                </a:lnSpc>
              </a:pPr>
              <a:r>
                <a:rPr lang="en-US" b="true" sz="1950" spc="375">
                  <a:solidFill>
                    <a:srgbClr val="8FBEBE"/>
                  </a:solidFill>
                  <a:latin typeface="Poppins Bold"/>
                  <a:ea typeface="Poppins Bold"/>
                  <a:cs typeface="Poppins Bold"/>
                  <a:sym typeface="Poppins Bold"/>
                </a:rPr>
                <a:t>PART TWO</a:t>
              </a:r>
            </a:p>
          </p:txBody>
        </p:sp>
      </p:grpSp>
      <p:grpSp>
        <p:nvGrpSpPr>
          <p:cNvPr name="Group 17" id="17"/>
          <p:cNvGrpSpPr/>
          <p:nvPr/>
        </p:nvGrpSpPr>
        <p:grpSpPr>
          <a:xfrm rot="0">
            <a:off x="1222248" y="4514088"/>
            <a:ext cx="1851660" cy="116586"/>
            <a:chOff x="0" y="0"/>
            <a:chExt cx="2468880" cy="155448"/>
          </a:xfrm>
        </p:grpSpPr>
        <p:sp>
          <p:nvSpPr>
            <p:cNvPr name="Freeform 18" id="18"/>
            <p:cNvSpPr/>
            <p:nvPr/>
          </p:nvSpPr>
          <p:spPr>
            <a:xfrm flipH="false" flipV="false" rot="0">
              <a:off x="0" y="0"/>
              <a:ext cx="2468880" cy="155448"/>
            </a:xfrm>
            <a:custGeom>
              <a:avLst/>
              <a:gdLst/>
              <a:ahLst/>
              <a:cxnLst/>
              <a:rect r="r" b="b" t="t" l="l"/>
              <a:pathLst>
                <a:path h="155448" w="2468880">
                  <a:moveTo>
                    <a:pt x="0" y="0"/>
                  </a:moveTo>
                  <a:lnTo>
                    <a:pt x="2468880" y="0"/>
                  </a:lnTo>
                  <a:lnTo>
                    <a:pt x="2468880" y="155448"/>
                  </a:lnTo>
                  <a:lnTo>
                    <a:pt x="0" y="155448"/>
                  </a:lnTo>
                  <a:close/>
                </a:path>
              </a:pathLst>
            </a:custGeom>
            <a:solidFill>
              <a:srgbClr val="387F7F"/>
            </a:solidFill>
          </p:spPr>
        </p:sp>
      </p:grpSp>
      <p:grpSp>
        <p:nvGrpSpPr>
          <p:cNvPr name="Group 19" id="19"/>
          <p:cNvGrpSpPr/>
          <p:nvPr/>
        </p:nvGrpSpPr>
        <p:grpSpPr>
          <a:xfrm rot="0">
            <a:off x="1222248" y="4884420"/>
            <a:ext cx="11109960" cy="2194560"/>
            <a:chOff x="0" y="0"/>
            <a:chExt cx="14813280" cy="2926080"/>
          </a:xfrm>
        </p:grpSpPr>
        <p:sp>
          <p:nvSpPr>
            <p:cNvPr name="Freeform 20" id="20"/>
            <p:cNvSpPr/>
            <p:nvPr/>
          </p:nvSpPr>
          <p:spPr>
            <a:xfrm flipH="false" flipV="false" rot="0">
              <a:off x="0" y="0"/>
              <a:ext cx="14813280" cy="2926080"/>
            </a:xfrm>
            <a:custGeom>
              <a:avLst/>
              <a:gdLst/>
              <a:ahLst/>
              <a:cxnLst/>
              <a:rect r="r" b="b" t="t" l="l"/>
              <a:pathLst>
                <a:path h="2926080" w="14813280">
                  <a:moveTo>
                    <a:pt x="0" y="0"/>
                  </a:moveTo>
                  <a:lnTo>
                    <a:pt x="14813280" y="0"/>
                  </a:lnTo>
                  <a:lnTo>
                    <a:pt x="14813280" y="2926080"/>
                  </a:lnTo>
                  <a:lnTo>
                    <a:pt x="0" y="2926080"/>
                  </a:lnTo>
                  <a:close/>
                </a:path>
              </a:pathLst>
            </a:custGeom>
            <a:blipFill>
              <a:blip r:embed="rId9">
                <a:alphaModFix amt="0"/>
              </a:blip>
              <a:stretch>
                <a:fillRect l="0" t="-48643" r="0" b="-48643"/>
              </a:stretch>
            </a:blipFill>
          </p:spPr>
        </p:sp>
        <p:sp>
          <p:nvSpPr>
            <p:cNvPr name="TextBox 21" id="21"/>
            <p:cNvSpPr txBox="true"/>
            <p:nvPr/>
          </p:nvSpPr>
          <p:spPr>
            <a:xfrm>
              <a:off x="0" y="-104775"/>
              <a:ext cx="14813280" cy="3030855"/>
            </a:xfrm>
            <a:prstGeom prst="rect">
              <a:avLst/>
            </a:prstGeom>
          </p:spPr>
          <p:txBody>
            <a:bodyPr anchor="ctr" rtlCol="false" tIns="0" lIns="0" bIns="0" rIns="0"/>
            <a:lstStyle/>
            <a:p>
              <a:pPr algn="l">
                <a:lnSpc>
                  <a:spcPts val="6998"/>
                </a:lnSpc>
              </a:pPr>
              <a:r>
                <a:rPr lang="en-US" sz="5400" b="true">
                  <a:solidFill>
                    <a:srgbClr val="FFFFFF"/>
                  </a:solidFill>
                  <a:latin typeface="Poppins Bold"/>
                  <a:ea typeface="Poppins Bold"/>
                  <a:cs typeface="Poppins Bold"/>
                  <a:sym typeface="Poppins Bold"/>
                </a:rPr>
                <a:t>The fix</a:t>
              </a:r>
            </a:p>
          </p:txBody>
        </p:sp>
      </p:grpSp>
      <p:grpSp>
        <p:nvGrpSpPr>
          <p:cNvPr name="Group 22" id="22"/>
          <p:cNvGrpSpPr/>
          <p:nvPr/>
        </p:nvGrpSpPr>
        <p:grpSpPr>
          <a:xfrm rot="0">
            <a:off x="1277112" y="7552182"/>
            <a:ext cx="219456" cy="219456"/>
            <a:chOff x="0" y="0"/>
            <a:chExt cx="292608" cy="292608"/>
          </a:xfrm>
        </p:grpSpPr>
        <p:sp>
          <p:nvSpPr>
            <p:cNvPr name="Freeform 23" id="23"/>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24" id="24"/>
          <p:cNvGrpSpPr/>
          <p:nvPr/>
        </p:nvGrpSpPr>
        <p:grpSpPr>
          <a:xfrm rot="0">
            <a:off x="1798320" y="7435596"/>
            <a:ext cx="9875520" cy="466344"/>
            <a:chOff x="0" y="0"/>
            <a:chExt cx="13167360" cy="621792"/>
          </a:xfrm>
        </p:grpSpPr>
        <p:sp>
          <p:nvSpPr>
            <p:cNvPr name="Freeform 25" id="25"/>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26" id="26"/>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Separate events from things: fact and dimension</a:t>
              </a:r>
            </a:p>
          </p:txBody>
        </p:sp>
      </p:grpSp>
      <p:grpSp>
        <p:nvGrpSpPr>
          <p:cNvPr name="Group 27" id="27"/>
          <p:cNvGrpSpPr/>
          <p:nvPr/>
        </p:nvGrpSpPr>
        <p:grpSpPr>
          <a:xfrm rot="0">
            <a:off x="1277112" y="8128254"/>
            <a:ext cx="219456" cy="219456"/>
            <a:chOff x="0" y="0"/>
            <a:chExt cx="292608" cy="292608"/>
          </a:xfrm>
        </p:grpSpPr>
        <p:sp>
          <p:nvSpPr>
            <p:cNvPr name="Freeform 28" id="28"/>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29" id="29"/>
          <p:cNvGrpSpPr/>
          <p:nvPr/>
        </p:nvGrpSpPr>
        <p:grpSpPr>
          <a:xfrm rot="0">
            <a:off x="1798320" y="8011668"/>
            <a:ext cx="9875520" cy="466344"/>
            <a:chOff x="0" y="0"/>
            <a:chExt cx="13167360" cy="621792"/>
          </a:xfrm>
        </p:grpSpPr>
        <p:sp>
          <p:nvSpPr>
            <p:cNvPr name="Freeform 30" id="30"/>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31" id="31"/>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Draw the star and read every relationship</a:t>
              </a:r>
            </a:p>
          </p:txBody>
        </p:sp>
      </p:grpSp>
      <p:grpSp>
        <p:nvGrpSpPr>
          <p:cNvPr name="Group 32" id="32"/>
          <p:cNvGrpSpPr/>
          <p:nvPr/>
        </p:nvGrpSpPr>
        <p:grpSpPr>
          <a:xfrm rot="0">
            <a:off x="1277112" y="8704326"/>
            <a:ext cx="219456" cy="219456"/>
            <a:chOff x="0" y="0"/>
            <a:chExt cx="292608" cy="292608"/>
          </a:xfrm>
        </p:grpSpPr>
        <p:sp>
          <p:nvSpPr>
            <p:cNvPr name="Freeform 33" id="33"/>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34" id="34"/>
          <p:cNvGrpSpPr/>
          <p:nvPr/>
        </p:nvGrpSpPr>
        <p:grpSpPr>
          <a:xfrm rot="0">
            <a:off x="1798320" y="8587740"/>
            <a:ext cx="9875520" cy="466344"/>
            <a:chOff x="0" y="0"/>
            <a:chExt cx="13167360" cy="621792"/>
          </a:xfrm>
        </p:grpSpPr>
        <p:sp>
          <p:nvSpPr>
            <p:cNvPr name="Freeform 35" id="35"/>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36" id="36"/>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Ask the same question again and get 68</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1466909"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Two</a:t>
            </a:r>
            <a:r>
              <a:rPr lang="en-US" sz="5000">
                <a:solidFill>
                  <a:srgbClr val="388080"/>
                </a:solidFill>
                <a:latin typeface="Poppins"/>
                <a:ea typeface="Poppins"/>
                <a:cs typeface="Poppins"/>
                <a:sym typeface="Poppins"/>
              </a:rPr>
              <a:t> kinds of table, two different jobs</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895350" y="2701285"/>
            <a:ext cx="7063740" cy="4594860"/>
            <a:chOff x="0" y="0"/>
            <a:chExt cx="9418320" cy="6126480"/>
          </a:xfrm>
        </p:grpSpPr>
        <p:sp>
          <p:nvSpPr>
            <p:cNvPr name="Freeform 12" id="12"/>
            <p:cNvSpPr/>
            <p:nvPr/>
          </p:nvSpPr>
          <p:spPr>
            <a:xfrm flipH="false" flipV="false" rot="0">
              <a:off x="0" y="0"/>
              <a:ext cx="9418320" cy="6126480"/>
            </a:xfrm>
            <a:custGeom>
              <a:avLst/>
              <a:gdLst/>
              <a:ahLst/>
              <a:cxnLst/>
              <a:rect r="r" b="b" t="t" l="l"/>
              <a:pathLst>
                <a:path h="6126480" w="9418320">
                  <a:moveTo>
                    <a:pt x="0" y="182880"/>
                  </a:moveTo>
                  <a:cubicBezTo>
                    <a:pt x="0" y="81915"/>
                    <a:pt x="81915" y="0"/>
                    <a:pt x="182880" y="0"/>
                  </a:cubicBezTo>
                  <a:lnTo>
                    <a:pt x="9235440" y="0"/>
                  </a:lnTo>
                  <a:cubicBezTo>
                    <a:pt x="9336405" y="0"/>
                    <a:pt x="9418320" y="81915"/>
                    <a:pt x="9418320" y="182880"/>
                  </a:cubicBezTo>
                  <a:lnTo>
                    <a:pt x="9418320" y="5943600"/>
                  </a:lnTo>
                  <a:cubicBezTo>
                    <a:pt x="9418320" y="6044565"/>
                    <a:pt x="9336405" y="6126480"/>
                    <a:pt x="9235440" y="6126480"/>
                  </a:cubicBezTo>
                  <a:lnTo>
                    <a:pt x="182880" y="6126480"/>
                  </a:lnTo>
                  <a:cubicBezTo>
                    <a:pt x="81915" y="6126480"/>
                    <a:pt x="0" y="6044565"/>
                    <a:pt x="0" y="5943600"/>
                  </a:cubicBezTo>
                  <a:close/>
                </a:path>
              </a:pathLst>
            </a:custGeom>
            <a:solidFill>
              <a:srgbClr val="FFFFFF"/>
            </a:solidFill>
          </p:spPr>
        </p:sp>
      </p:grpSp>
      <p:grpSp>
        <p:nvGrpSpPr>
          <p:cNvPr name="Group 13" id="13"/>
          <p:cNvGrpSpPr/>
          <p:nvPr/>
        </p:nvGrpSpPr>
        <p:grpSpPr>
          <a:xfrm rot="0">
            <a:off x="895350" y="2701285"/>
            <a:ext cx="7063740" cy="850392"/>
            <a:chOff x="0" y="0"/>
            <a:chExt cx="9418320" cy="1133856"/>
          </a:xfrm>
        </p:grpSpPr>
        <p:sp>
          <p:nvSpPr>
            <p:cNvPr name="Freeform 14" id="14"/>
            <p:cNvSpPr/>
            <p:nvPr/>
          </p:nvSpPr>
          <p:spPr>
            <a:xfrm flipH="false" flipV="false" rot="0">
              <a:off x="0" y="0"/>
              <a:ext cx="9418320" cy="1133856"/>
            </a:xfrm>
            <a:custGeom>
              <a:avLst/>
              <a:gdLst/>
              <a:ahLst/>
              <a:cxnLst/>
              <a:rect r="r" b="b" t="t" l="l"/>
              <a:pathLst>
                <a:path h="1133856" w="9418320">
                  <a:moveTo>
                    <a:pt x="0" y="182880"/>
                  </a:moveTo>
                  <a:cubicBezTo>
                    <a:pt x="0" y="81915"/>
                    <a:pt x="81915" y="0"/>
                    <a:pt x="182880" y="0"/>
                  </a:cubicBezTo>
                  <a:lnTo>
                    <a:pt x="9235440" y="0"/>
                  </a:lnTo>
                  <a:cubicBezTo>
                    <a:pt x="9336405" y="0"/>
                    <a:pt x="9418320" y="81915"/>
                    <a:pt x="9418320" y="182880"/>
                  </a:cubicBezTo>
                  <a:lnTo>
                    <a:pt x="9418320" y="950976"/>
                  </a:lnTo>
                  <a:cubicBezTo>
                    <a:pt x="9418320" y="1051941"/>
                    <a:pt x="9336405" y="1133856"/>
                    <a:pt x="9235440" y="1133856"/>
                  </a:cubicBezTo>
                  <a:lnTo>
                    <a:pt x="182880" y="1133856"/>
                  </a:lnTo>
                  <a:cubicBezTo>
                    <a:pt x="81915" y="1133856"/>
                    <a:pt x="0" y="1051941"/>
                    <a:pt x="0" y="950976"/>
                  </a:cubicBezTo>
                  <a:close/>
                </a:path>
              </a:pathLst>
            </a:custGeom>
            <a:solidFill>
              <a:srgbClr val="387F7F"/>
            </a:solidFill>
          </p:spPr>
        </p:sp>
      </p:grpSp>
      <p:grpSp>
        <p:nvGrpSpPr>
          <p:cNvPr name="Group 15" id="15"/>
          <p:cNvGrpSpPr/>
          <p:nvPr/>
        </p:nvGrpSpPr>
        <p:grpSpPr>
          <a:xfrm rot="0">
            <a:off x="895350" y="3126481"/>
            <a:ext cx="7063740" cy="425196"/>
            <a:chOff x="0" y="0"/>
            <a:chExt cx="9418320" cy="566928"/>
          </a:xfrm>
        </p:grpSpPr>
        <p:sp>
          <p:nvSpPr>
            <p:cNvPr name="Freeform 16" id="16"/>
            <p:cNvSpPr/>
            <p:nvPr/>
          </p:nvSpPr>
          <p:spPr>
            <a:xfrm flipH="false" flipV="false" rot="0">
              <a:off x="0" y="0"/>
              <a:ext cx="9418320" cy="566928"/>
            </a:xfrm>
            <a:custGeom>
              <a:avLst/>
              <a:gdLst/>
              <a:ahLst/>
              <a:cxnLst/>
              <a:rect r="r" b="b" t="t" l="l"/>
              <a:pathLst>
                <a:path h="566928" w="9418320">
                  <a:moveTo>
                    <a:pt x="0" y="0"/>
                  </a:moveTo>
                  <a:lnTo>
                    <a:pt x="9418320" y="0"/>
                  </a:lnTo>
                  <a:lnTo>
                    <a:pt x="9418320" y="566928"/>
                  </a:lnTo>
                  <a:lnTo>
                    <a:pt x="0" y="566928"/>
                  </a:lnTo>
                  <a:close/>
                </a:path>
              </a:pathLst>
            </a:custGeom>
            <a:solidFill>
              <a:srgbClr val="387F7F"/>
            </a:solidFill>
          </p:spPr>
        </p:sp>
      </p:grpSp>
      <p:grpSp>
        <p:nvGrpSpPr>
          <p:cNvPr name="Group 17" id="17"/>
          <p:cNvGrpSpPr/>
          <p:nvPr/>
        </p:nvGrpSpPr>
        <p:grpSpPr>
          <a:xfrm rot="0">
            <a:off x="895350" y="2701285"/>
            <a:ext cx="7063740" cy="850392"/>
            <a:chOff x="0" y="0"/>
            <a:chExt cx="9418320" cy="1133856"/>
          </a:xfrm>
        </p:grpSpPr>
        <p:sp>
          <p:nvSpPr>
            <p:cNvPr name="Freeform 18" id="18"/>
            <p:cNvSpPr/>
            <p:nvPr/>
          </p:nvSpPr>
          <p:spPr>
            <a:xfrm flipH="false" flipV="false" rot="0">
              <a:off x="0" y="0"/>
              <a:ext cx="9418320" cy="1133856"/>
            </a:xfrm>
            <a:custGeom>
              <a:avLst/>
              <a:gdLst/>
              <a:ahLst/>
              <a:cxnLst/>
              <a:rect r="r" b="b" t="t" l="l"/>
              <a:pathLst>
                <a:path h="1133856" w="9418320">
                  <a:moveTo>
                    <a:pt x="0" y="0"/>
                  </a:moveTo>
                  <a:lnTo>
                    <a:pt x="9418320" y="0"/>
                  </a:lnTo>
                  <a:lnTo>
                    <a:pt x="9418320" y="1133856"/>
                  </a:lnTo>
                  <a:lnTo>
                    <a:pt x="0" y="1133856"/>
                  </a:lnTo>
                  <a:close/>
                </a:path>
              </a:pathLst>
            </a:custGeom>
            <a:blipFill>
              <a:blip r:embed="rId9">
                <a:alphaModFix amt="0"/>
              </a:blip>
              <a:stretch>
                <a:fillRect l="0" t="-111851" r="0" b="-111851"/>
              </a:stretch>
            </a:blipFill>
          </p:spPr>
        </p:sp>
        <p:sp>
          <p:nvSpPr>
            <p:cNvPr name="TextBox 19" id="19"/>
            <p:cNvSpPr txBox="true"/>
            <p:nvPr/>
          </p:nvSpPr>
          <p:spPr>
            <a:xfrm>
              <a:off x="0" y="-19050"/>
              <a:ext cx="9418320" cy="1152906"/>
            </a:xfrm>
            <a:prstGeom prst="rect">
              <a:avLst/>
            </a:prstGeom>
          </p:spPr>
          <p:txBody>
            <a:bodyPr anchor="ctr" rtlCol="false" tIns="0" lIns="0" bIns="0" rIns="0"/>
            <a:lstStyle/>
            <a:p>
              <a:pPr algn="ctr">
                <a:lnSpc>
                  <a:spcPts val="2430"/>
                </a:lnSpc>
              </a:pPr>
              <a:r>
                <a:rPr lang="en-US" sz="2025" b="true">
                  <a:solidFill>
                    <a:srgbClr val="FFFFFF"/>
                  </a:solidFill>
                  <a:latin typeface="Poppins Bold"/>
                  <a:ea typeface="Poppins Bold"/>
                  <a:cs typeface="Poppins Bold"/>
                  <a:sym typeface="Poppins Bold"/>
                </a:rPr>
                <a:t>▤   FACT TABLE</a:t>
              </a:r>
            </a:p>
          </p:txBody>
        </p:sp>
      </p:grpSp>
      <p:sp>
        <p:nvSpPr>
          <p:cNvPr name="TextBox 20" id="20"/>
          <p:cNvSpPr txBox="true"/>
          <p:nvPr/>
        </p:nvSpPr>
        <p:spPr>
          <a:xfrm rot="0">
            <a:off x="1334262" y="3781420"/>
            <a:ext cx="6185916" cy="2280285"/>
          </a:xfrm>
          <a:prstGeom prst="rect">
            <a:avLst/>
          </a:prstGeom>
        </p:spPr>
        <p:txBody>
          <a:bodyPr anchor="t" rtlCol="false" tIns="0" lIns="0" bIns="0" rIns="0">
            <a:spAutoFit/>
          </a:bodyPr>
          <a:lstStyle/>
          <a:p>
            <a:pPr algn="l">
              <a:lnSpc>
                <a:spcPts val="3159"/>
              </a:lnSpc>
            </a:pPr>
            <a:r>
              <a:rPr lang="en-US" sz="2025">
                <a:solidFill>
                  <a:srgbClr val="475569"/>
                </a:solidFill>
                <a:latin typeface="Poppins"/>
                <a:ea typeface="Poppins"/>
                <a:cs typeface="Poppins"/>
                <a:sym typeface="Poppins"/>
              </a:rPr>
              <a:t>Records events. One row per thing that happened.</a:t>
            </a:r>
          </a:p>
          <a:p>
            <a:pPr algn="l">
              <a:lnSpc>
                <a:spcPts val="3159"/>
              </a:lnSpc>
            </a:pPr>
          </a:p>
          <a:p>
            <a:pPr algn="l">
              <a:lnSpc>
                <a:spcPts val="3159"/>
              </a:lnSpc>
            </a:pPr>
            <a:r>
              <a:rPr lang="en-US" sz="2025">
                <a:solidFill>
                  <a:srgbClr val="475569"/>
                </a:solidFill>
                <a:latin typeface="Poppins"/>
                <a:ea typeface="Poppins"/>
                <a:cs typeface="Poppins"/>
                <a:sym typeface="Poppins"/>
              </a:rPr>
              <a:t>Long and narrow: many rows, few columns, mostly numbers and IDs. It grows every day.</a:t>
            </a:r>
          </a:p>
        </p:txBody>
      </p:sp>
      <p:grpSp>
        <p:nvGrpSpPr>
          <p:cNvPr name="Group 21" id="21"/>
          <p:cNvGrpSpPr/>
          <p:nvPr/>
        </p:nvGrpSpPr>
        <p:grpSpPr>
          <a:xfrm rot="0">
            <a:off x="1334262" y="6020557"/>
            <a:ext cx="6185916" cy="987552"/>
            <a:chOff x="0" y="0"/>
            <a:chExt cx="8247888" cy="1316736"/>
          </a:xfrm>
        </p:grpSpPr>
        <p:sp>
          <p:nvSpPr>
            <p:cNvPr name="Freeform 22" id="22"/>
            <p:cNvSpPr/>
            <p:nvPr/>
          </p:nvSpPr>
          <p:spPr>
            <a:xfrm flipH="false" flipV="false" rot="0">
              <a:off x="0" y="0"/>
              <a:ext cx="8247888" cy="1316736"/>
            </a:xfrm>
            <a:custGeom>
              <a:avLst/>
              <a:gdLst/>
              <a:ahLst/>
              <a:cxnLst/>
              <a:rect r="r" b="b" t="t" l="l"/>
              <a:pathLst>
                <a:path h="1316736" w="8247888">
                  <a:moveTo>
                    <a:pt x="0" y="109728"/>
                  </a:moveTo>
                  <a:cubicBezTo>
                    <a:pt x="0" y="49149"/>
                    <a:pt x="49149" y="0"/>
                    <a:pt x="109728" y="0"/>
                  </a:cubicBezTo>
                  <a:lnTo>
                    <a:pt x="8138160" y="0"/>
                  </a:lnTo>
                  <a:cubicBezTo>
                    <a:pt x="8198739" y="0"/>
                    <a:pt x="8247888" y="49149"/>
                    <a:pt x="8247888" y="109728"/>
                  </a:cubicBezTo>
                  <a:lnTo>
                    <a:pt x="8247888" y="1207008"/>
                  </a:lnTo>
                  <a:cubicBezTo>
                    <a:pt x="8247888" y="1267587"/>
                    <a:pt x="8198739" y="1316736"/>
                    <a:pt x="8138160" y="1316736"/>
                  </a:cubicBezTo>
                  <a:lnTo>
                    <a:pt x="109728" y="1316736"/>
                  </a:lnTo>
                  <a:cubicBezTo>
                    <a:pt x="49149" y="1316736"/>
                    <a:pt x="0" y="1267587"/>
                    <a:pt x="0" y="1207008"/>
                  </a:cubicBezTo>
                  <a:close/>
                </a:path>
              </a:pathLst>
            </a:custGeom>
            <a:solidFill>
              <a:srgbClr val="EEF4F4"/>
            </a:solidFill>
          </p:spPr>
        </p:sp>
      </p:grpSp>
      <p:grpSp>
        <p:nvGrpSpPr>
          <p:cNvPr name="Group 23" id="23"/>
          <p:cNvGrpSpPr/>
          <p:nvPr/>
        </p:nvGrpSpPr>
        <p:grpSpPr>
          <a:xfrm rot="0">
            <a:off x="1471422" y="6020557"/>
            <a:ext cx="5911596" cy="987552"/>
            <a:chOff x="0" y="0"/>
            <a:chExt cx="7882128" cy="1316736"/>
          </a:xfrm>
        </p:grpSpPr>
        <p:sp>
          <p:nvSpPr>
            <p:cNvPr name="Freeform 24" id="24"/>
            <p:cNvSpPr/>
            <p:nvPr/>
          </p:nvSpPr>
          <p:spPr>
            <a:xfrm flipH="false" flipV="false" rot="0">
              <a:off x="0" y="0"/>
              <a:ext cx="7882128" cy="1316736"/>
            </a:xfrm>
            <a:custGeom>
              <a:avLst/>
              <a:gdLst/>
              <a:ahLst/>
              <a:cxnLst/>
              <a:rect r="r" b="b" t="t" l="l"/>
              <a:pathLst>
                <a:path h="1316736" w="7882128">
                  <a:moveTo>
                    <a:pt x="0" y="0"/>
                  </a:moveTo>
                  <a:lnTo>
                    <a:pt x="7882128" y="0"/>
                  </a:lnTo>
                  <a:lnTo>
                    <a:pt x="7882128" y="1316736"/>
                  </a:lnTo>
                  <a:lnTo>
                    <a:pt x="0" y="1316736"/>
                  </a:lnTo>
                  <a:close/>
                </a:path>
              </a:pathLst>
            </a:custGeom>
            <a:blipFill>
              <a:blip r:embed="rId9">
                <a:alphaModFix amt="0"/>
              </a:blip>
              <a:stretch>
                <a:fillRect l="0" t="-66639" r="0" b="-66639"/>
              </a:stretch>
            </a:blipFill>
          </p:spPr>
        </p:sp>
        <p:sp>
          <p:nvSpPr>
            <p:cNvPr name="TextBox 25" id="25"/>
            <p:cNvSpPr txBox="true"/>
            <p:nvPr/>
          </p:nvSpPr>
          <p:spPr>
            <a:xfrm>
              <a:off x="0" y="-47625"/>
              <a:ext cx="7882128" cy="1364361"/>
            </a:xfrm>
            <a:prstGeom prst="rect">
              <a:avLst/>
            </a:prstGeom>
          </p:spPr>
          <p:txBody>
            <a:bodyPr anchor="ctr" rtlCol="false" tIns="0" lIns="0" bIns="0" rIns="0"/>
            <a:lstStyle/>
            <a:p>
              <a:pPr algn="ctr">
                <a:lnSpc>
                  <a:spcPts val="2484"/>
                </a:lnSpc>
              </a:pPr>
              <a:r>
                <a:rPr lang="en-US" sz="1725" b="true">
                  <a:solidFill>
                    <a:srgbClr val="387F7F"/>
                  </a:solidFill>
                  <a:latin typeface="Poppins Bold"/>
                  <a:ea typeface="Poppins Bold"/>
                  <a:cs typeface="Poppins Bold"/>
                  <a:sym typeface="Poppins Bold"/>
                </a:rPr>
                <a:t>swiftroute_deliveries</a:t>
              </a:r>
            </a:p>
            <a:p>
              <a:pPr algn="ctr">
                <a:lnSpc>
                  <a:spcPts val="2484"/>
                </a:lnSpc>
              </a:pPr>
              <a:r>
                <a:rPr lang="en-US" sz="1725" b="true">
                  <a:solidFill>
                    <a:srgbClr val="387F7F"/>
                  </a:solidFill>
                  <a:latin typeface="Poppins Bold"/>
                  <a:ea typeface="Poppins Bold"/>
                  <a:cs typeface="Poppins Bold"/>
                  <a:sym typeface="Poppins Bold"/>
                </a:rPr>
                <a:t>41,280 rows and growing</a:t>
              </a:r>
            </a:p>
          </p:txBody>
        </p:sp>
      </p:grpSp>
      <p:grpSp>
        <p:nvGrpSpPr>
          <p:cNvPr name="Group 26" id="26"/>
          <p:cNvGrpSpPr/>
          <p:nvPr/>
        </p:nvGrpSpPr>
        <p:grpSpPr>
          <a:xfrm rot="0">
            <a:off x="8576310" y="2701285"/>
            <a:ext cx="7063740" cy="4594860"/>
            <a:chOff x="0" y="0"/>
            <a:chExt cx="9418320" cy="6126480"/>
          </a:xfrm>
        </p:grpSpPr>
        <p:sp>
          <p:nvSpPr>
            <p:cNvPr name="Freeform 27" id="27"/>
            <p:cNvSpPr/>
            <p:nvPr/>
          </p:nvSpPr>
          <p:spPr>
            <a:xfrm flipH="false" flipV="false" rot="0">
              <a:off x="0" y="0"/>
              <a:ext cx="9418320" cy="6126480"/>
            </a:xfrm>
            <a:custGeom>
              <a:avLst/>
              <a:gdLst/>
              <a:ahLst/>
              <a:cxnLst/>
              <a:rect r="r" b="b" t="t" l="l"/>
              <a:pathLst>
                <a:path h="6126480" w="9418320">
                  <a:moveTo>
                    <a:pt x="0" y="182880"/>
                  </a:moveTo>
                  <a:cubicBezTo>
                    <a:pt x="0" y="81915"/>
                    <a:pt x="81915" y="0"/>
                    <a:pt x="182880" y="0"/>
                  </a:cubicBezTo>
                  <a:lnTo>
                    <a:pt x="9235440" y="0"/>
                  </a:lnTo>
                  <a:cubicBezTo>
                    <a:pt x="9336405" y="0"/>
                    <a:pt x="9418320" y="81915"/>
                    <a:pt x="9418320" y="182880"/>
                  </a:cubicBezTo>
                  <a:lnTo>
                    <a:pt x="9418320" y="5943600"/>
                  </a:lnTo>
                  <a:cubicBezTo>
                    <a:pt x="9418320" y="6044565"/>
                    <a:pt x="9336405" y="6126480"/>
                    <a:pt x="9235440" y="6126480"/>
                  </a:cubicBezTo>
                  <a:lnTo>
                    <a:pt x="182880" y="6126480"/>
                  </a:lnTo>
                  <a:cubicBezTo>
                    <a:pt x="81915" y="6126480"/>
                    <a:pt x="0" y="6044565"/>
                    <a:pt x="0" y="5943600"/>
                  </a:cubicBezTo>
                  <a:close/>
                </a:path>
              </a:pathLst>
            </a:custGeom>
            <a:solidFill>
              <a:srgbClr val="FFFFFF"/>
            </a:solidFill>
          </p:spPr>
        </p:sp>
      </p:grpSp>
      <p:grpSp>
        <p:nvGrpSpPr>
          <p:cNvPr name="Group 28" id="28"/>
          <p:cNvGrpSpPr/>
          <p:nvPr/>
        </p:nvGrpSpPr>
        <p:grpSpPr>
          <a:xfrm rot="0">
            <a:off x="8576310" y="2701285"/>
            <a:ext cx="7063740" cy="850392"/>
            <a:chOff x="0" y="0"/>
            <a:chExt cx="9418320" cy="1133856"/>
          </a:xfrm>
        </p:grpSpPr>
        <p:sp>
          <p:nvSpPr>
            <p:cNvPr name="Freeform 29" id="29"/>
            <p:cNvSpPr/>
            <p:nvPr/>
          </p:nvSpPr>
          <p:spPr>
            <a:xfrm flipH="false" flipV="false" rot="0">
              <a:off x="0" y="0"/>
              <a:ext cx="9418320" cy="1133856"/>
            </a:xfrm>
            <a:custGeom>
              <a:avLst/>
              <a:gdLst/>
              <a:ahLst/>
              <a:cxnLst/>
              <a:rect r="r" b="b" t="t" l="l"/>
              <a:pathLst>
                <a:path h="1133856" w="9418320">
                  <a:moveTo>
                    <a:pt x="0" y="182880"/>
                  </a:moveTo>
                  <a:cubicBezTo>
                    <a:pt x="0" y="81915"/>
                    <a:pt x="81915" y="0"/>
                    <a:pt x="182880" y="0"/>
                  </a:cubicBezTo>
                  <a:lnTo>
                    <a:pt x="9235440" y="0"/>
                  </a:lnTo>
                  <a:cubicBezTo>
                    <a:pt x="9336405" y="0"/>
                    <a:pt x="9418320" y="81915"/>
                    <a:pt x="9418320" y="182880"/>
                  </a:cubicBezTo>
                  <a:lnTo>
                    <a:pt x="9418320" y="950976"/>
                  </a:lnTo>
                  <a:cubicBezTo>
                    <a:pt x="9418320" y="1051941"/>
                    <a:pt x="9336405" y="1133856"/>
                    <a:pt x="9235440" y="1133856"/>
                  </a:cubicBezTo>
                  <a:lnTo>
                    <a:pt x="182880" y="1133856"/>
                  </a:lnTo>
                  <a:cubicBezTo>
                    <a:pt x="81915" y="1133856"/>
                    <a:pt x="0" y="1051941"/>
                    <a:pt x="0" y="950976"/>
                  </a:cubicBezTo>
                  <a:close/>
                </a:path>
              </a:pathLst>
            </a:custGeom>
            <a:solidFill>
              <a:srgbClr val="20494A"/>
            </a:solidFill>
          </p:spPr>
        </p:sp>
      </p:grpSp>
      <p:grpSp>
        <p:nvGrpSpPr>
          <p:cNvPr name="Group 30" id="30"/>
          <p:cNvGrpSpPr/>
          <p:nvPr/>
        </p:nvGrpSpPr>
        <p:grpSpPr>
          <a:xfrm rot="0">
            <a:off x="8576310" y="3126481"/>
            <a:ext cx="7063740" cy="425196"/>
            <a:chOff x="0" y="0"/>
            <a:chExt cx="9418320" cy="566928"/>
          </a:xfrm>
        </p:grpSpPr>
        <p:sp>
          <p:nvSpPr>
            <p:cNvPr name="Freeform 31" id="31"/>
            <p:cNvSpPr/>
            <p:nvPr/>
          </p:nvSpPr>
          <p:spPr>
            <a:xfrm flipH="false" flipV="false" rot="0">
              <a:off x="0" y="0"/>
              <a:ext cx="9418320" cy="566928"/>
            </a:xfrm>
            <a:custGeom>
              <a:avLst/>
              <a:gdLst/>
              <a:ahLst/>
              <a:cxnLst/>
              <a:rect r="r" b="b" t="t" l="l"/>
              <a:pathLst>
                <a:path h="566928" w="9418320">
                  <a:moveTo>
                    <a:pt x="0" y="0"/>
                  </a:moveTo>
                  <a:lnTo>
                    <a:pt x="9418320" y="0"/>
                  </a:lnTo>
                  <a:lnTo>
                    <a:pt x="9418320" y="566928"/>
                  </a:lnTo>
                  <a:lnTo>
                    <a:pt x="0" y="566928"/>
                  </a:lnTo>
                  <a:close/>
                </a:path>
              </a:pathLst>
            </a:custGeom>
            <a:solidFill>
              <a:srgbClr val="20494A"/>
            </a:solidFill>
          </p:spPr>
        </p:sp>
      </p:grpSp>
      <p:grpSp>
        <p:nvGrpSpPr>
          <p:cNvPr name="Group 32" id="32"/>
          <p:cNvGrpSpPr/>
          <p:nvPr/>
        </p:nvGrpSpPr>
        <p:grpSpPr>
          <a:xfrm rot="0">
            <a:off x="8576310" y="2701285"/>
            <a:ext cx="7063740" cy="850392"/>
            <a:chOff x="0" y="0"/>
            <a:chExt cx="9418320" cy="1133856"/>
          </a:xfrm>
        </p:grpSpPr>
        <p:sp>
          <p:nvSpPr>
            <p:cNvPr name="Freeform 33" id="33"/>
            <p:cNvSpPr/>
            <p:nvPr/>
          </p:nvSpPr>
          <p:spPr>
            <a:xfrm flipH="false" flipV="false" rot="0">
              <a:off x="0" y="0"/>
              <a:ext cx="9418320" cy="1133856"/>
            </a:xfrm>
            <a:custGeom>
              <a:avLst/>
              <a:gdLst/>
              <a:ahLst/>
              <a:cxnLst/>
              <a:rect r="r" b="b" t="t" l="l"/>
              <a:pathLst>
                <a:path h="1133856" w="9418320">
                  <a:moveTo>
                    <a:pt x="0" y="0"/>
                  </a:moveTo>
                  <a:lnTo>
                    <a:pt x="9418320" y="0"/>
                  </a:lnTo>
                  <a:lnTo>
                    <a:pt x="9418320" y="1133856"/>
                  </a:lnTo>
                  <a:lnTo>
                    <a:pt x="0" y="1133856"/>
                  </a:lnTo>
                  <a:close/>
                </a:path>
              </a:pathLst>
            </a:custGeom>
            <a:blipFill>
              <a:blip r:embed="rId9">
                <a:alphaModFix amt="0"/>
              </a:blip>
              <a:stretch>
                <a:fillRect l="0" t="-111851" r="0" b="-111851"/>
              </a:stretch>
            </a:blipFill>
          </p:spPr>
        </p:sp>
        <p:sp>
          <p:nvSpPr>
            <p:cNvPr name="TextBox 34" id="34"/>
            <p:cNvSpPr txBox="true"/>
            <p:nvPr/>
          </p:nvSpPr>
          <p:spPr>
            <a:xfrm>
              <a:off x="0" y="-19050"/>
              <a:ext cx="9418320" cy="1152906"/>
            </a:xfrm>
            <a:prstGeom prst="rect">
              <a:avLst/>
            </a:prstGeom>
          </p:spPr>
          <p:txBody>
            <a:bodyPr anchor="ctr" rtlCol="false" tIns="0" lIns="0" bIns="0" rIns="0"/>
            <a:lstStyle/>
            <a:p>
              <a:pPr algn="ctr">
                <a:lnSpc>
                  <a:spcPts val="2430"/>
                </a:lnSpc>
              </a:pPr>
              <a:r>
                <a:rPr lang="en-US" sz="2025" b="true">
                  <a:solidFill>
                    <a:srgbClr val="FFFFFF"/>
                  </a:solidFill>
                  <a:latin typeface="Poppins Bold"/>
                  <a:ea typeface="Poppins Bold"/>
                  <a:cs typeface="Poppins Bold"/>
                  <a:sym typeface="Poppins Bold"/>
                </a:rPr>
                <a:t>◎   DIMENSION TABLE</a:t>
              </a:r>
            </a:p>
          </p:txBody>
        </p:sp>
      </p:grpSp>
      <p:sp>
        <p:nvSpPr>
          <p:cNvPr name="TextBox 35" id="35"/>
          <p:cNvSpPr txBox="true"/>
          <p:nvPr/>
        </p:nvSpPr>
        <p:spPr>
          <a:xfrm rot="0">
            <a:off x="9015222" y="3781420"/>
            <a:ext cx="6185916" cy="2280285"/>
          </a:xfrm>
          <a:prstGeom prst="rect">
            <a:avLst/>
          </a:prstGeom>
        </p:spPr>
        <p:txBody>
          <a:bodyPr anchor="t" rtlCol="false" tIns="0" lIns="0" bIns="0" rIns="0">
            <a:spAutoFit/>
          </a:bodyPr>
          <a:lstStyle/>
          <a:p>
            <a:pPr algn="l">
              <a:lnSpc>
                <a:spcPts val="3159"/>
              </a:lnSpc>
            </a:pPr>
            <a:r>
              <a:rPr lang="en-US" sz="2025">
                <a:solidFill>
                  <a:srgbClr val="475569"/>
                </a:solidFill>
                <a:latin typeface="Poppins"/>
                <a:ea typeface="Poppins"/>
                <a:cs typeface="Poppins"/>
                <a:sym typeface="Poppins"/>
              </a:rPr>
              <a:t>Describes things. One row per thing that exists.</a:t>
            </a:r>
          </a:p>
          <a:p>
            <a:pPr algn="l">
              <a:lnSpc>
                <a:spcPts val="3159"/>
              </a:lnSpc>
            </a:pPr>
          </a:p>
          <a:p>
            <a:pPr algn="l">
              <a:lnSpc>
                <a:spcPts val="3159"/>
              </a:lnSpc>
            </a:pPr>
            <a:r>
              <a:rPr lang="en-US" sz="2025">
                <a:solidFill>
                  <a:srgbClr val="475569"/>
                </a:solidFill>
                <a:latin typeface="Poppins"/>
                <a:ea typeface="Poppins"/>
                <a:cs typeface="Poppins"/>
                <a:sym typeface="Poppins"/>
              </a:rPr>
              <a:t>Short and wide: few rows, many descriptive columns, mostly text. It changes rarely.</a:t>
            </a:r>
          </a:p>
        </p:txBody>
      </p:sp>
      <p:grpSp>
        <p:nvGrpSpPr>
          <p:cNvPr name="Group 36" id="36"/>
          <p:cNvGrpSpPr/>
          <p:nvPr/>
        </p:nvGrpSpPr>
        <p:grpSpPr>
          <a:xfrm rot="0">
            <a:off x="9015222" y="6020557"/>
            <a:ext cx="6185916" cy="987552"/>
            <a:chOff x="0" y="0"/>
            <a:chExt cx="8247888" cy="1316736"/>
          </a:xfrm>
        </p:grpSpPr>
        <p:sp>
          <p:nvSpPr>
            <p:cNvPr name="Freeform 37" id="37"/>
            <p:cNvSpPr/>
            <p:nvPr/>
          </p:nvSpPr>
          <p:spPr>
            <a:xfrm flipH="false" flipV="false" rot="0">
              <a:off x="0" y="0"/>
              <a:ext cx="8247888" cy="1316736"/>
            </a:xfrm>
            <a:custGeom>
              <a:avLst/>
              <a:gdLst/>
              <a:ahLst/>
              <a:cxnLst/>
              <a:rect r="r" b="b" t="t" l="l"/>
              <a:pathLst>
                <a:path h="1316736" w="8247888">
                  <a:moveTo>
                    <a:pt x="0" y="109728"/>
                  </a:moveTo>
                  <a:cubicBezTo>
                    <a:pt x="0" y="49149"/>
                    <a:pt x="49149" y="0"/>
                    <a:pt x="109728" y="0"/>
                  </a:cubicBezTo>
                  <a:lnTo>
                    <a:pt x="8138160" y="0"/>
                  </a:lnTo>
                  <a:cubicBezTo>
                    <a:pt x="8198739" y="0"/>
                    <a:pt x="8247888" y="49149"/>
                    <a:pt x="8247888" y="109728"/>
                  </a:cubicBezTo>
                  <a:lnTo>
                    <a:pt x="8247888" y="1207008"/>
                  </a:lnTo>
                  <a:cubicBezTo>
                    <a:pt x="8247888" y="1267587"/>
                    <a:pt x="8198739" y="1316736"/>
                    <a:pt x="8138160" y="1316736"/>
                  </a:cubicBezTo>
                  <a:lnTo>
                    <a:pt x="109728" y="1316736"/>
                  </a:lnTo>
                  <a:cubicBezTo>
                    <a:pt x="49149" y="1316736"/>
                    <a:pt x="0" y="1267587"/>
                    <a:pt x="0" y="1207008"/>
                  </a:cubicBezTo>
                  <a:close/>
                </a:path>
              </a:pathLst>
            </a:custGeom>
            <a:solidFill>
              <a:srgbClr val="EEF4F4"/>
            </a:solidFill>
          </p:spPr>
        </p:sp>
      </p:grpSp>
      <p:grpSp>
        <p:nvGrpSpPr>
          <p:cNvPr name="Group 38" id="38"/>
          <p:cNvGrpSpPr/>
          <p:nvPr/>
        </p:nvGrpSpPr>
        <p:grpSpPr>
          <a:xfrm rot="0">
            <a:off x="9152382" y="6020557"/>
            <a:ext cx="5911596" cy="987552"/>
            <a:chOff x="0" y="0"/>
            <a:chExt cx="7882128" cy="1316736"/>
          </a:xfrm>
        </p:grpSpPr>
        <p:sp>
          <p:nvSpPr>
            <p:cNvPr name="Freeform 39" id="39"/>
            <p:cNvSpPr/>
            <p:nvPr/>
          </p:nvSpPr>
          <p:spPr>
            <a:xfrm flipH="false" flipV="false" rot="0">
              <a:off x="0" y="0"/>
              <a:ext cx="7882128" cy="1316736"/>
            </a:xfrm>
            <a:custGeom>
              <a:avLst/>
              <a:gdLst/>
              <a:ahLst/>
              <a:cxnLst/>
              <a:rect r="r" b="b" t="t" l="l"/>
              <a:pathLst>
                <a:path h="1316736" w="7882128">
                  <a:moveTo>
                    <a:pt x="0" y="0"/>
                  </a:moveTo>
                  <a:lnTo>
                    <a:pt x="7882128" y="0"/>
                  </a:lnTo>
                  <a:lnTo>
                    <a:pt x="7882128" y="1316736"/>
                  </a:lnTo>
                  <a:lnTo>
                    <a:pt x="0" y="1316736"/>
                  </a:lnTo>
                  <a:close/>
                </a:path>
              </a:pathLst>
            </a:custGeom>
            <a:blipFill>
              <a:blip r:embed="rId9">
                <a:alphaModFix amt="0"/>
              </a:blip>
              <a:stretch>
                <a:fillRect l="0" t="-66639" r="0" b="-66639"/>
              </a:stretch>
            </a:blipFill>
          </p:spPr>
        </p:sp>
        <p:sp>
          <p:nvSpPr>
            <p:cNvPr name="TextBox 40" id="40"/>
            <p:cNvSpPr txBox="true"/>
            <p:nvPr/>
          </p:nvSpPr>
          <p:spPr>
            <a:xfrm>
              <a:off x="0" y="-47625"/>
              <a:ext cx="7882128" cy="1364361"/>
            </a:xfrm>
            <a:prstGeom prst="rect">
              <a:avLst/>
            </a:prstGeom>
          </p:spPr>
          <p:txBody>
            <a:bodyPr anchor="ctr" rtlCol="false" tIns="0" lIns="0" bIns="0" rIns="0"/>
            <a:lstStyle/>
            <a:p>
              <a:pPr algn="ctr">
                <a:lnSpc>
                  <a:spcPts val="2484"/>
                </a:lnSpc>
              </a:pPr>
              <a:r>
                <a:rPr lang="en-US" sz="1725" b="true">
                  <a:solidFill>
                    <a:srgbClr val="387F7F"/>
                  </a:solidFill>
                  <a:latin typeface="Poppins Bold"/>
                  <a:ea typeface="Poppins Bold"/>
                  <a:cs typeface="Poppins Bold"/>
                  <a:sym typeface="Poppins Bold"/>
                </a:rPr>
                <a:t>riders (68) · routes (24)</a:t>
              </a:r>
            </a:p>
            <a:p>
              <a:pPr algn="ctr">
                <a:lnSpc>
                  <a:spcPts val="2484"/>
                </a:lnSpc>
              </a:pPr>
              <a:r>
                <a:rPr lang="en-US" sz="1725" b="true">
                  <a:solidFill>
                    <a:srgbClr val="387F7F"/>
                  </a:solidFill>
                  <a:latin typeface="Poppins Bold"/>
                  <a:ea typeface="Poppins Bold"/>
                  <a:cs typeface="Poppins Bold"/>
                  <a:sym typeface="Poppins Bold"/>
                </a:rPr>
                <a:t>customers (310) · dates (365)</a:t>
              </a:r>
            </a:p>
          </p:txBody>
        </p:sp>
      </p:grpSp>
      <p:grpSp>
        <p:nvGrpSpPr>
          <p:cNvPr name="Group 41" id="41"/>
          <p:cNvGrpSpPr/>
          <p:nvPr/>
        </p:nvGrpSpPr>
        <p:grpSpPr>
          <a:xfrm rot="0">
            <a:off x="895350" y="7570465"/>
            <a:ext cx="14744700" cy="1303020"/>
            <a:chOff x="0" y="0"/>
            <a:chExt cx="19659600" cy="1737360"/>
          </a:xfrm>
        </p:grpSpPr>
        <p:sp>
          <p:nvSpPr>
            <p:cNvPr name="Freeform 42" id="42"/>
            <p:cNvSpPr/>
            <p:nvPr/>
          </p:nvSpPr>
          <p:spPr>
            <a:xfrm flipH="false" flipV="false" rot="0">
              <a:off x="0" y="0"/>
              <a:ext cx="19659600" cy="1737360"/>
            </a:xfrm>
            <a:custGeom>
              <a:avLst/>
              <a:gdLst/>
              <a:ahLst/>
              <a:cxnLst/>
              <a:rect r="r" b="b" t="t" l="l"/>
              <a:pathLst>
                <a:path h="1737360" w="19659600">
                  <a:moveTo>
                    <a:pt x="0" y="164592"/>
                  </a:moveTo>
                  <a:cubicBezTo>
                    <a:pt x="0" y="73660"/>
                    <a:pt x="73660" y="0"/>
                    <a:pt x="164592" y="0"/>
                  </a:cubicBezTo>
                  <a:lnTo>
                    <a:pt x="19495008" y="0"/>
                  </a:lnTo>
                  <a:cubicBezTo>
                    <a:pt x="19585939" y="0"/>
                    <a:pt x="19659600" y="73660"/>
                    <a:pt x="19659600" y="164592"/>
                  </a:cubicBezTo>
                  <a:lnTo>
                    <a:pt x="19659600" y="1572768"/>
                  </a:lnTo>
                  <a:cubicBezTo>
                    <a:pt x="19659600" y="1663700"/>
                    <a:pt x="19585939" y="1737360"/>
                    <a:pt x="19495008" y="1737360"/>
                  </a:cubicBezTo>
                  <a:lnTo>
                    <a:pt x="164592" y="1737360"/>
                  </a:lnTo>
                  <a:cubicBezTo>
                    <a:pt x="73660" y="1737360"/>
                    <a:pt x="0" y="1663700"/>
                    <a:pt x="0" y="1572768"/>
                  </a:cubicBezTo>
                  <a:close/>
                </a:path>
              </a:pathLst>
            </a:custGeom>
            <a:solidFill>
              <a:srgbClr val="EEF4F4"/>
            </a:solidFill>
          </p:spPr>
        </p:sp>
      </p:grpSp>
      <p:grpSp>
        <p:nvGrpSpPr>
          <p:cNvPr name="Group 43" id="43"/>
          <p:cNvGrpSpPr/>
          <p:nvPr/>
        </p:nvGrpSpPr>
        <p:grpSpPr>
          <a:xfrm rot="0">
            <a:off x="895350" y="7570465"/>
            <a:ext cx="102870" cy="1303020"/>
            <a:chOff x="0" y="0"/>
            <a:chExt cx="137160" cy="1737360"/>
          </a:xfrm>
        </p:grpSpPr>
        <p:sp>
          <p:nvSpPr>
            <p:cNvPr name="Freeform 44" id="44"/>
            <p:cNvSpPr/>
            <p:nvPr/>
          </p:nvSpPr>
          <p:spPr>
            <a:xfrm flipH="false" flipV="false" rot="0">
              <a:off x="0" y="0"/>
              <a:ext cx="137160" cy="1737360"/>
            </a:xfrm>
            <a:custGeom>
              <a:avLst/>
              <a:gdLst/>
              <a:ahLst/>
              <a:cxnLst/>
              <a:rect r="r" b="b" t="t" l="l"/>
              <a:pathLst>
                <a:path h="1737360" w="137160">
                  <a:moveTo>
                    <a:pt x="0" y="0"/>
                  </a:moveTo>
                  <a:lnTo>
                    <a:pt x="137160" y="0"/>
                  </a:lnTo>
                  <a:lnTo>
                    <a:pt x="137160" y="1737360"/>
                  </a:lnTo>
                  <a:lnTo>
                    <a:pt x="0" y="1737360"/>
                  </a:lnTo>
                  <a:close/>
                </a:path>
              </a:pathLst>
            </a:custGeom>
            <a:solidFill>
              <a:srgbClr val="387F7F"/>
            </a:solidFill>
          </p:spPr>
        </p:sp>
      </p:grpSp>
      <p:grpSp>
        <p:nvGrpSpPr>
          <p:cNvPr name="Group 45" id="45"/>
          <p:cNvGrpSpPr/>
          <p:nvPr/>
        </p:nvGrpSpPr>
        <p:grpSpPr>
          <a:xfrm rot="0">
            <a:off x="1443990" y="7570465"/>
            <a:ext cx="13853160" cy="1303020"/>
            <a:chOff x="0" y="0"/>
            <a:chExt cx="18470880" cy="1737360"/>
          </a:xfrm>
        </p:grpSpPr>
        <p:sp>
          <p:nvSpPr>
            <p:cNvPr name="Freeform 46" id="46"/>
            <p:cNvSpPr/>
            <p:nvPr/>
          </p:nvSpPr>
          <p:spPr>
            <a:xfrm flipH="false" flipV="false" rot="0">
              <a:off x="0" y="0"/>
              <a:ext cx="18470880" cy="1737360"/>
            </a:xfrm>
            <a:custGeom>
              <a:avLst/>
              <a:gdLst/>
              <a:ahLst/>
              <a:cxnLst/>
              <a:rect r="r" b="b" t="t" l="l"/>
              <a:pathLst>
                <a:path h="1737360" w="18470880">
                  <a:moveTo>
                    <a:pt x="0" y="0"/>
                  </a:moveTo>
                  <a:lnTo>
                    <a:pt x="18470880" y="0"/>
                  </a:lnTo>
                  <a:lnTo>
                    <a:pt x="18470880" y="1737360"/>
                  </a:lnTo>
                  <a:lnTo>
                    <a:pt x="0" y="1737360"/>
                  </a:lnTo>
                  <a:close/>
                </a:path>
              </a:pathLst>
            </a:custGeom>
            <a:blipFill>
              <a:blip r:embed="rId9">
                <a:alphaModFix amt="0"/>
              </a:blip>
              <a:stretch>
                <a:fillRect l="0" t="-157156" r="0" b="-157156"/>
              </a:stretch>
            </a:blipFill>
          </p:spPr>
        </p:sp>
        <p:sp>
          <p:nvSpPr>
            <p:cNvPr name="TextBox 47" id="47"/>
            <p:cNvSpPr txBox="true"/>
            <p:nvPr/>
          </p:nvSpPr>
          <p:spPr>
            <a:xfrm>
              <a:off x="0" y="-114300"/>
              <a:ext cx="18470880" cy="1851660"/>
            </a:xfrm>
            <a:prstGeom prst="rect">
              <a:avLst/>
            </a:prstGeom>
          </p:spPr>
          <p:txBody>
            <a:bodyPr anchor="ctr" rtlCol="false" tIns="0" lIns="0" bIns="0" rIns="0"/>
            <a:lstStyle/>
            <a:p>
              <a:pPr algn="l">
                <a:lnSpc>
                  <a:spcPts val="3523"/>
                </a:lnSpc>
              </a:pPr>
              <a:r>
                <a:rPr lang="en-US" sz="2175" b="true">
                  <a:solidFill>
                    <a:srgbClr val="387F7F"/>
                  </a:solidFill>
                  <a:latin typeface="Poppins Bold"/>
                  <a:ea typeface="Poppins Bold"/>
                  <a:cs typeface="Poppins Bold"/>
                  <a:sym typeface="Poppins Bold"/>
                </a:rPr>
                <a:t>Rule of thumb: if you would filter or group BY it, it belongs in a dimension. If you would sum or count it, it belongs in the fact table.</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6024960"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Th</a:t>
            </a:r>
            <a:r>
              <a:rPr lang="en-US" sz="5000">
                <a:solidFill>
                  <a:srgbClr val="388080"/>
                </a:solidFill>
                <a:latin typeface="Poppins"/>
                <a:ea typeface="Poppins"/>
                <a:cs typeface="Poppins"/>
                <a:sym typeface="Poppins"/>
              </a:rPr>
              <a:t>e SwiftRoute star</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sp>
        <p:nvSpPr>
          <p:cNvPr name="AutoShape 11" id="11"/>
          <p:cNvSpPr/>
          <p:nvPr/>
        </p:nvSpPr>
        <p:spPr>
          <a:xfrm>
            <a:off x="5190651" y="3152591"/>
            <a:ext cx="1483048" cy="1195003"/>
          </a:xfrm>
          <a:prstGeom prst="line">
            <a:avLst/>
          </a:prstGeom>
          <a:ln cap="rnd" w="19050">
            <a:solidFill>
              <a:srgbClr val="387F7F"/>
            </a:solidFill>
            <a:prstDash val="solid"/>
            <a:headEnd type="none" len="sm" w="sm"/>
            <a:tailEnd type="none" len="sm" w="sm"/>
          </a:ln>
        </p:spPr>
      </p:sp>
      <p:grpSp>
        <p:nvGrpSpPr>
          <p:cNvPr name="Group 12" id="12"/>
          <p:cNvGrpSpPr/>
          <p:nvPr/>
        </p:nvGrpSpPr>
        <p:grpSpPr>
          <a:xfrm rot="0">
            <a:off x="5107153" y="2843189"/>
            <a:ext cx="411480" cy="356616"/>
            <a:chOff x="0" y="0"/>
            <a:chExt cx="548640" cy="475488"/>
          </a:xfrm>
        </p:grpSpPr>
        <p:sp>
          <p:nvSpPr>
            <p:cNvPr name="Freeform 13" id="13"/>
            <p:cNvSpPr/>
            <p:nvPr/>
          </p:nvSpPr>
          <p:spPr>
            <a:xfrm flipH="false" flipV="false" rot="0">
              <a:off x="0" y="0"/>
              <a:ext cx="548640" cy="475488"/>
            </a:xfrm>
            <a:custGeom>
              <a:avLst/>
              <a:gdLst/>
              <a:ahLst/>
              <a:cxnLst/>
              <a:rect r="r" b="b" t="t" l="l"/>
              <a:pathLst>
                <a:path h="475488" w="548640">
                  <a:moveTo>
                    <a:pt x="0" y="0"/>
                  </a:moveTo>
                  <a:lnTo>
                    <a:pt x="548640" y="0"/>
                  </a:lnTo>
                  <a:lnTo>
                    <a:pt x="548640" y="475488"/>
                  </a:lnTo>
                  <a:lnTo>
                    <a:pt x="0" y="475488"/>
                  </a:lnTo>
                  <a:close/>
                </a:path>
              </a:pathLst>
            </a:custGeom>
            <a:blipFill>
              <a:blip r:embed="rId9">
                <a:alphaModFix amt="0"/>
              </a:blip>
              <a:stretch>
                <a:fillRect l="-61196" t="0" r="-61196" b="0"/>
              </a:stretch>
            </a:blipFill>
          </p:spPr>
        </p:sp>
        <p:sp>
          <p:nvSpPr>
            <p:cNvPr name="TextBox 14" id="14"/>
            <p:cNvSpPr txBox="true"/>
            <p:nvPr/>
          </p:nvSpPr>
          <p:spPr>
            <a:xfrm>
              <a:off x="0" y="-19050"/>
              <a:ext cx="548640" cy="494538"/>
            </a:xfrm>
            <a:prstGeom prst="rect">
              <a:avLst/>
            </a:prstGeom>
          </p:spPr>
          <p:txBody>
            <a:bodyPr anchor="ctr" rtlCol="false" tIns="0" lIns="0" bIns="0" rIns="0"/>
            <a:lstStyle/>
            <a:p>
              <a:pPr algn="ctr">
                <a:lnSpc>
                  <a:spcPts val="2160"/>
                </a:lnSpc>
              </a:pPr>
              <a:r>
                <a:rPr lang="en-US" sz="1800" b="true">
                  <a:solidFill>
                    <a:srgbClr val="387F7F"/>
                  </a:solidFill>
                  <a:latin typeface="Poppins Bold"/>
                  <a:ea typeface="Poppins Bold"/>
                  <a:cs typeface="Poppins Bold"/>
                  <a:sym typeface="Poppins Bold"/>
                </a:rPr>
                <a:t>1</a:t>
              </a:r>
            </a:p>
          </p:txBody>
        </p:sp>
      </p:grpSp>
      <p:grpSp>
        <p:nvGrpSpPr>
          <p:cNvPr name="Group 15" id="15"/>
          <p:cNvGrpSpPr/>
          <p:nvPr/>
        </p:nvGrpSpPr>
        <p:grpSpPr>
          <a:xfrm rot="0">
            <a:off x="6345707" y="3834036"/>
            <a:ext cx="411480" cy="356616"/>
            <a:chOff x="0" y="0"/>
            <a:chExt cx="548640" cy="475488"/>
          </a:xfrm>
        </p:grpSpPr>
        <p:sp>
          <p:nvSpPr>
            <p:cNvPr name="Freeform 16" id="16"/>
            <p:cNvSpPr/>
            <p:nvPr/>
          </p:nvSpPr>
          <p:spPr>
            <a:xfrm flipH="false" flipV="false" rot="0">
              <a:off x="0" y="0"/>
              <a:ext cx="548640" cy="475488"/>
            </a:xfrm>
            <a:custGeom>
              <a:avLst/>
              <a:gdLst/>
              <a:ahLst/>
              <a:cxnLst/>
              <a:rect r="r" b="b" t="t" l="l"/>
              <a:pathLst>
                <a:path h="475488" w="548640">
                  <a:moveTo>
                    <a:pt x="0" y="0"/>
                  </a:moveTo>
                  <a:lnTo>
                    <a:pt x="548640" y="0"/>
                  </a:lnTo>
                  <a:lnTo>
                    <a:pt x="548640" y="475488"/>
                  </a:lnTo>
                  <a:lnTo>
                    <a:pt x="0" y="475488"/>
                  </a:lnTo>
                  <a:close/>
                </a:path>
              </a:pathLst>
            </a:custGeom>
            <a:blipFill>
              <a:blip r:embed="rId9">
                <a:alphaModFix amt="0"/>
              </a:blip>
              <a:stretch>
                <a:fillRect l="-61196" t="0" r="-61196" b="0"/>
              </a:stretch>
            </a:blipFill>
          </p:spPr>
        </p:sp>
        <p:sp>
          <p:nvSpPr>
            <p:cNvPr name="TextBox 17" id="17"/>
            <p:cNvSpPr txBox="true"/>
            <p:nvPr/>
          </p:nvSpPr>
          <p:spPr>
            <a:xfrm>
              <a:off x="0" y="-28575"/>
              <a:ext cx="548640" cy="504063"/>
            </a:xfrm>
            <a:prstGeom prst="rect">
              <a:avLst/>
            </a:prstGeom>
          </p:spPr>
          <p:txBody>
            <a:bodyPr anchor="ctr" rtlCol="false" tIns="0" lIns="0" bIns="0" rIns="0"/>
            <a:lstStyle/>
            <a:p>
              <a:pPr algn="ctr">
                <a:lnSpc>
                  <a:spcPts val="3060"/>
                </a:lnSpc>
              </a:pPr>
              <a:r>
                <a:rPr lang="en-US" sz="2550" b="true">
                  <a:solidFill>
                    <a:srgbClr val="387F7F"/>
                  </a:solidFill>
                  <a:latin typeface="Poppins Bold"/>
                  <a:ea typeface="Poppins Bold"/>
                  <a:cs typeface="Poppins Bold"/>
                  <a:sym typeface="Poppins Bold"/>
                </a:rPr>
                <a:t>∗</a:t>
              </a:r>
            </a:p>
          </p:txBody>
        </p:sp>
      </p:grpSp>
      <p:grpSp>
        <p:nvGrpSpPr>
          <p:cNvPr name="Group 18" id="18"/>
          <p:cNvGrpSpPr/>
          <p:nvPr/>
        </p:nvGrpSpPr>
        <p:grpSpPr>
          <a:xfrm rot="0">
            <a:off x="5264277" y="3548544"/>
            <a:ext cx="1335786" cy="403098"/>
            <a:chOff x="0" y="0"/>
            <a:chExt cx="1781048" cy="537464"/>
          </a:xfrm>
        </p:grpSpPr>
        <p:sp>
          <p:nvSpPr>
            <p:cNvPr name="Freeform 19" id="19"/>
            <p:cNvSpPr/>
            <p:nvPr/>
          </p:nvSpPr>
          <p:spPr>
            <a:xfrm flipH="false" flipV="false" rot="0">
              <a:off x="0" y="0"/>
              <a:ext cx="1781048" cy="537464"/>
            </a:xfrm>
            <a:custGeom>
              <a:avLst/>
              <a:gdLst/>
              <a:ahLst/>
              <a:cxnLst/>
              <a:rect r="r" b="b" t="t" l="l"/>
              <a:pathLst>
                <a:path h="537464" w="1781048">
                  <a:moveTo>
                    <a:pt x="0" y="268732"/>
                  </a:moveTo>
                  <a:cubicBezTo>
                    <a:pt x="0" y="120269"/>
                    <a:pt x="120269" y="0"/>
                    <a:pt x="268732" y="0"/>
                  </a:cubicBezTo>
                  <a:lnTo>
                    <a:pt x="1512316" y="0"/>
                  </a:lnTo>
                  <a:cubicBezTo>
                    <a:pt x="1660779" y="0"/>
                    <a:pt x="1781048" y="120269"/>
                    <a:pt x="1781048" y="268732"/>
                  </a:cubicBezTo>
                  <a:cubicBezTo>
                    <a:pt x="1781048" y="417195"/>
                    <a:pt x="1660779" y="537464"/>
                    <a:pt x="1512316" y="537464"/>
                  </a:cubicBezTo>
                  <a:lnTo>
                    <a:pt x="268732" y="537464"/>
                  </a:lnTo>
                  <a:cubicBezTo>
                    <a:pt x="120269" y="537464"/>
                    <a:pt x="0" y="417195"/>
                    <a:pt x="0" y="268732"/>
                  </a:cubicBezTo>
                  <a:close/>
                </a:path>
              </a:pathLst>
            </a:custGeom>
            <a:solidFill>
              <a:srgbClr val="FFFFFF"/>
            </a:solidFill>
            <a:ln w="19050" cap="sq">
              <a:solidFill>
                <a:srgbClr val="E2E8F0"/>
              </a:solidFill>
              <a:prstDash val="solid"/>
              <a:miter/>
            </a:ln>
          </p:spPr>
        </p:sp>
      </p:grpSp>
      <p:grpSp>
        <p:nvGrpSpPr>
          <p:cNvPr name="Group 20" id="20"/>
          <p:cNvGrpSpPr/>
          <p:nvPr/>
        </p:nvGrpSpPr>
        <p:grpSpPr>
          <a:xfrm rot="0">
            <a:off x="5273802" y="3558069"/>
            <a:ext cx="1316736" cy="384048"/>
            <a:chOff x="0" y="0"/>
            <a:chExt cx="1755648" cy="512064"/>
          </a:xfrm>
        </p:grpSpPr>
        <p:sp>
          <p:nvSpPr>
            <p:cNvPr name="Freeform 21" id="21"/>
            <p:cNvSpPr/>
            <p:nvPr/>
          </p:nvSpPr>
          <p:spPr>
            <a:xfrm flipH="false" flipV="false" rot="0">
              <a:off x="0" y="0"/>
              <a:ext cx="1755648" cy="512064"/>
            </a:xfrm>
            <a:custGeom>
              <a:avLst/>
              <a:gdLst/>
              <a:ahLst/>
              <a:cxnLst/>
              <a:rect r="r" b="b" t="t" l="l"/>
              <a:pathLst>
                <a:path h="512064" w="1755648">
                  <a:moveTo>
                    <a:pt x="0" y="0"/>
                  </a:moveTo>
                  <a:lnTo>
                    <a:pt x="1755648" y="0"/>
                  </a:lnTo>
                  <a:lnTo>
                    <a:pt x="1755648" y="512064"/>
                  </a:lnTo>
                  <a:lnTo>
                    <a:pt x="0" y="512064"/>
                  </a:lnTo>
                  <a:close/>
                </a:path>
              </a:pathLst>
            </a:custGeom>
            <a:blipFill>
              <a:blip r:embed="rId9">
                <a:alphaModFix amt="0"/>
              </a:blip>
              <a:stretch>
                <a:fillRect l="0" t="-16805" r="0" b="-16805"/>
              </a:stretch>
            </a:blipFill>
          </p:spPr>
        </p:sp>
        <p:sp>
          <p:nvSpPr>
            <p:cNvPr name="TextBox 22" id="22"/>
            <p:cNvSpPr txBox="true"/>
            <p:nvPr/>
          </p:nvSpPr>
          <p:spPr>
            <a:xfrm>
              <a:off x="0" y="-9525"/>
              <a:ext cx="1755648" cy="521589"/>
            </a:xfrm>
            <a:prstGeom prst="rect">
              <a:avLst/>
            </a:prstGeom>
          </p:spPr>
          <p:txBody>
            <a:bodyPr anchor="ctr" rtlCol="false" tIns="0" lIns="0" bIns="0" rIns="0"/>
            <a:lstStyle/>
            <a:p>
              <a:pPr algn="ctr">
                <a:lnSpc>
                  <a:spcPts val="1530"/>
                </a:lnSpc>
              </a:pPr>
              <a:r>
                <a:rPr lang="en-US" sz="1275" b="true">
                  <a:solidFill>
                    <a:srgbClr val="475569"/>
                  </a:solidFill>
                  <a:latin typeface="Poppins Bold"/>
                  <a:ea typeface="Poppins Bold"/>
                  <a:cs typeface="Poppins Bold"/>
                  <a:sym typeface="Poppins Bold"/>
                </a:rPr>
                <a:t>RiderID</a:t>
              </a:r>
            </a:p>
          </p:txBody>
        </p:sp>
      </p:grpSp>
      <p:sp>
        <p:nvSpPr>
          <p:cNvPr name="AutoShape 23" id="23"/>
          <p:cNvSpPr/>
          <p:nvPr/>
        </p:nvSpPr>
        <p:spPr>
          <a:xfrm flipH="true">
            <a:off x="10402731" y="3152591"/>
            <a:ext cx="1483048" cy="1195003"/>
          </a:xfrm>
          <a:prstGeom prst="line">
            <a:avLst/>
          </a:prstGeom>
          <a:ln cap="rnd" w="19050">
            <a:solidFill>
              <a:srgbClr val="387F7F"/>
            </a:solidFill>
            <a:prstDash val="solid"/>
            <a:headEnd type="none" len="sm" w="sm"/>
            <a:tailEnd type="none" len="sm" w="sm"/>
          </a:ln>
        </p:spPr>
      </p:sp>
      <p:grpSp>
        <p:nvGrpSpPr>
          <p:cNvPr name="Group 24" id="24"/>
          <p:cNvGrpSpPr/>
          <p:nvPr/>
        </p:nvGrpSpPr>
        <p:grpSpPr>
          <a:xfrm rot="0">
            <a:off x="11557787" y="2843189"/>
            <a:ext cx="411480" cy="356616"/>
            <a:chOff x="0" y="0"/>
            <a:chExt cx="548640" cy="475488"/>
          </a:xfrm>
        </p:grpSpPr>
        <p:sp>
          <p:nvSpPr>
            <p:cNvPr name="Freeform 25" id="25"/>
            <p:cNvSpPr/>
            <p:nvPr/>
          </p:nvSpPr>
          <p:spPr>
            <a:xfrm flipH="false" flipV="false" rot="0">
              <a:off x="0" y="0"/>
              <a:ext cx="548640" cy="475488"/>
            </a:xfrm>
            <a:custGeom>
              <a:avLst/>
              <a:gdLst/>
              <a:ahLst/>
              <a:cxnLst/>
              <a:rect r="r" b="b" t="t" l="l"/>
              <a:pathLst>
                <a:path h="475488" w="548640">
                  <a:moveTo>
                    <a:pt x="0" y="0"/>
                  </a:moveTo>
                  <a:lnTo>
                    <a:pt x="548640" y="0"/>
                  </a:lnTo>
                  <a:lnTo>
                    <a:pt x="548640" y="475488"/>
                  </a:lnTo>
                  <a:lnTo>
                    <a:pt x="0" y="475488"/>
                  </a:lnTo>
                  <a:close/>
                </a:path>
              </a:pathLst>
            </a:custGeom>
            <a:blipFill>
              <a:blip r:embed="rId9">
                <a:alphaModFix amt="0"/>
              </a:blip>
              <a:stretch>
                <a:fillRect l="-61196" t="0" r="-61196" b="0"/>
              </a:stretch>
            </a:blipFill>
          </p:spPr>
        </p:sp>
        <p:sp>
          <p:nvSpPr>
            <p:cNvPr name="TextBox 26" id="26"/>
            <p:cNvSpPr txBox="true"/>
            <p:nvPr/>
          </p:nvSpPr>
          <p:spPr>
            <a:xfrm>
              <a:off x="0" y="-19050"/>
              <a:ext cx="548640" cy="494538"/>
            </a:xfrm>
            <a:prstGeom prst="rect">
              <a:avLst/>
            </a:prstGeom>
          </p:spPr>
          <p:txBody>
            <a:bodyPr anchor="ctr" rtlCol="false" tIns="0" lIns="0" bIns="0" rIns="0"/>
            <a:lstStyle/>
            <a:p>
              <a:pPr algn="ctr">
                <a:lnSpc>
                  <a:spcPts val="2160"/>
                </a:lnSpc>
              </a:pPr>
              <a:r>
                <a:rPr lang="en-US" sz="1800" b="true">
                  <a:solidFill>
                    <a:srgbClr val="387F7F"/>
                  </a:solidFill>
                  <a:latin typeface="Poppins Bold"/>
                  <a:ea typeface="Poppins Bold"/>
                  <a:cs typeface="Poppins Bold"/>
                  <a:sym typeface="Poppins Bold"/>
                </a:rPr>
                <a:t>1</a:t>
              </a:r>
            </a:p>
          </p:txBody>
        </p:sp>
      </p:grpSp>
      <p:grpSp>
        <p:nvGrpSpPr>
          <p:cNvPr name="Group 27" id="27"/>
          <p:cNvGrpSpPr/>
          <p:nvPr/>
        </p:nvGrpSpPr>
        <p:grpSpPr>
          <a:xfrm rot="0">
            <a:off x="10319233" y="3834036"/>
            <a:ext cx="411480" cy="356616"/>
            <a:chOff x="0" y="0"/>
            <a:chExt cx="548640" cy="475488"/>
          </a:xfrm>
        </p:grpSpPr>
        <p:sp>
          <p:nvSpPr>
            <p:cNvPr name="Freeform 28" id="28"/>
            <p:cNvSpPr/>
            <p:nvPr/>
          </p:nvSpPr>
          <p:spPr>
            <a:xfrm flipH="false" flipV="false" rot="0">
              <a:off x="0" y="0"/>
              <a:ext cx="548640" cy="475488"/>
            </a:xfrm>
            <a:custGeom>
              <a:avLst/>
              <a:gdLst/>
              <a:ahLst/>
              <a:cxnLst/>
              <a:rect r="r" b="b" t="t" l="l"/>
              <a:pathLst>
                <a:path h="475488" w="548640">
                  <a:moveTo>
                    <a:pt x="0" y="0"/>
                  </a:moveTo>
                  <a:lnTo>
                    <a:pt x="548640" y="0"/>
                  </a:lnTo>
                  <a:lnTo>
                    <a:pt x="548640" y="475488"/>
                  </a:lnTo>
                  <a:lnTo>
                    <a:pt x="0" y="475488"/>
                  </a:lnTo>
                  <a:close/>
                </a:path>
              </a:pathLst>
            </a:custGeom>
            <a:blipFill>
              <a:blip r:embed="rId9">
                <a:alphaModFix amt="0"/>
              </a:blip>
              <a:stretch>
                <a:fillRect l="-61196" t="0" r="-61196" b="0"/>
              </a:stretch>
            </a:blipFill>
          </p:spPr>
        </p:sp>
        <p:sp>
          <p:nvSpPr>
            <p:cNvPr name="TextBox 29" id="29"/>
            <p:cNvSpPr txBox="true"/>
            <p:nvPr/>
          </p:nvSpPr>
          <p:spPr>
            <a:xfrm>
              <a:off x="0" y="-28575"/>
              <a:ext cx="548640" cy="504063"/>
            </a:xfrm>
            <a:prstGeom prst="rect">
              <a:avLst/>
            </a:prstGeom>
          </p:spPr>
          <p:txBody>
            <a:bodyPr anchor="ctr" rtlCol="false" tIns="0" lIns="0" bIns="0" rIns="0"/>
            <a:lstStyle/>
            <a:p>
              <a:pPr algn="ctr">
                <a:lnSpc>
                  <a:spcPts val="3060"/>
                </a:lnSpc>
              </a:pPr>
              <a:r>
                <a:rPr lang="en-US" sz="2550" b="true">
                  <a:solidFill>
                    <a:srgbClr val="387F7F"/>
                  </a:solidFill>
                  <a:latin typeface="Poppins Bold"/>
                  <a:ea typeface="Poppins Bold"/>
                  <a:cs typeface="Poppins Bold"/>
                  <a:sym typeface="Poppins Bold"/>
                </a:rPr>
                <a:t>∗</a:t>
              </a:r>
            </a:p>
          </p:txBody>
        </p:sp>
      </p:grpSp>
      <p:grpSp>
        <p:nvGrpSpPr>
          <p:cNvPr name="Group 30" id="30"/>
          <p:cNvGrpSpPr/>
          <p:nvPr/>
        </p:nvGrpSpPr>
        <p:grpSpPr>
          <a:xfrm rot="0">
            <a:off x="10476357" y="3548544"/>
            <a:ext cx="1335786" cy="403098"/>
            <a:chOff x="0" y="0"/>
            <a:chExt cx="1781048" cy="537464"/>
          </a:xfrm>
        </p:grpSpPr>
        <p:sp>
          <p:nvSpPr>
            <p:cNvPr name="Freeform 31" id="31"/>
            <p:cNvSpPr/>
            <p:nvPr/>
          </p:nvSpPr>
          <p:spPr>
            <a:xfrm flipH="false" flipV="false" rot="0">
              <a:off x="0" y="0"/>
              <a:ext cx="1781048" cy="537464"/>
            </a:xfrm>
            <a:custGeom>
              <a:avLst/>
              <a:gdLst/>
              <a:ahLst/>
              <a:cxnLst/>
              <a:rect r="r" b="b" t="t" l="l"/>
              <a:pathLst>
                <a:path h="537464" w="1781048">
                  <a:moveTo>
                    <a:pt x="0" y="268732"/>
                  </a:moveTo>
                  <a:cubicBezTo>
                    <a:pt x="0" y="120269"/>
                    <a:pt x="120269" y="0"/>
                    <a:pt x="268732" y="0"/>
                  </a:cubicBezTo>
                  <a:lnTo>
                    <a:pt x="1512316" y="0"/>
                  </a:lnTo>
                  <a:cubicBezTo>
                    <a:pt x="1660779" y="0"/>
                    <a:pt x="1781048" y="120269"/>
                    <a:pt x="1781048" y="268732"/>
                  </a:cubicBezTo>
                  <a:cubicBezTo>
                    <a:pt x="1781048" y="417195"/>
                    <a:pt x="1660779" y="537464"/>
                    <a:pt x="1512316" y="537464"/>
                  </a:cubicBezTo>
                  <a:lnTo>
                    <a:pt x="268732" y="537464"/>
                  </a:lnTo>
                  <a:cubicBezTo>
                    <a:pt x="120269" y="537464"/>
                    <a:pt x="0" y="417195"/>
                    <a:pt x="0" y="268732"/>
                  </a:cubicBezTo>
                  <a:close/>
                </a:path>
              </a:pathLst>
            </a:custGeom>
            <a:solidFill>
              <a:srgbClr val="FFFFFF"/>
            </a:solidFill>
            <a:ln w="19050" cap="sq">
              <a:solidFill>
                <a:srgbClr val="E2E8F0"/>
              </a:solidFill>
              <a:prstDash val="solid"/>
              <a:miter/>
            </a:ln>
          </p:spPr>
        </p:sp>
      </p:grpSp>
      <p:grpSp>
        <p:nvGrpSpPr>
          <p:cNvPr name="Group 32" id="32"/>
          <p:cNvGrpSpPr/>
          <p:nvPr/>
        </p:nvGrpSpPr>
        <p:grpSpPr>
          <a:xfrm rot="0">
            <a:off x="10485882" y="3558069"/>
            <a:ext cx="1316736" cy="384048"/>
            <a:chOff x="0" y="0"/>
            <a:chExt cx="1755648" cy="512064"/>
          </a:xfrm>
        </p:grpSpPr>
        <p:sp>
          <p:nvSpPr>
            <p:cNvPr name="Freeform 33" id="33"/>
            <p:cNvSpPr/>
            <p:nvPr/>
          </p:nvSpPr>
          <p:spPr>
            <a:xfrm flipH="false" flipV="false" rot="0">
              <a:off x="0" y="0"/>
              <a:ext cx="1755648" cy="512064"/>
            </a:xfrm>
            <a:custGeom>
              <a:avLst/>
              <a:gdLst/>
              <a:ahLst/>
              <a:cxnLst/>
              <a:rect r="r" b="b" t="t" l="l"/>
              <a:pathLst>
                <a:path h="512064" w="1755648">
                  <a:moveTo>
                    <a:pt x="0" y="0"/>
                  </a:moveTo>
                  <a:lnTo>
                    <a:pt x="1755648" y="0"/>
                  </a:lnTo>
                  <a:lnTo>
                    <a:pt x="1755648" y="512064"/>
                  </a:lnTo>
                  <a:lnTo>
                    <a:pt x="0" y="512064"/>
                  </a:lnTo>
                  <a:close/>
                </a:path>
              </a:pathLst>
            </a:custGeom>
            <a:blipFill>
              <a:blip r:embed="rId9">
                <a:alphaModFix amt="0"/>
              </a:blip>
              <a:stretch>
                <a:fillRect l="0" t="-16805" r="0" b="-16805"/>
              </a:stretch>
            </a:blipFill>
          </p:spPr>
        </p:sp>
        <p:sp>
          <p:nvSpPr>
            <p:cNvPr name="TextBox 34" id="34"/>
            <p:cNvSpPr txBox="true"/>
            <p:nvPr/>
          </p:nvSpPr>
          <p:spPr>
            <a:xfrm>
              <a:off x="0" y="-9525"/>
              <a:ext cx="1755648" cy="521589"/>
            </a:xfrm>
            <a:prstGeom prst="rect">
              <a:avLst/>
            </a:prstGeom>
          </p:spPr>
          <p:txBody>
            <a:bodyPr anchor="ctr" rtlCol="false" tIns="0" lIns="0" bIns="0" rIns="0"/>
            <a:lstStyle/>
            <a:p>
              <a:pPr algn="ctr">
                <a:lnSpc>
                  <a:spcPts val="1530"/>
                </a:lnSpc>
              </a:pPr>
              <a:r>
                <a:rPr lang="en-US" sz="1275" b="true">
                  <a:solidFill>
                    <a:srgbClr val="475569"/>
                  </a:solidFill>
                  <a:latin typeface="Poppins Bold"/>
                  <a:ea typeface="Poppins Bold"/>
                  <a:cs typeface="Poppins Bold"/>
                  <a:sym typeface="Poppins Bold"/>
                </a:rPr>
                <a:t>RouteID</a:t>
              </a:r>
            </a:p>
          </p:txBody>
        </p:sp>
      </p:grpSp>
      <p:sp>
        <p:nvSpPr>
          <p:cNvPr name="AutoShape 35" id="35"/>
          <p:cNvSpPr/>
          <p:nvPr/>
        </p:nvSpPr>
        <p:spPr>
          <a:xfrm flipV="true">
            <a:off x="5190645" y="5607758"/>
            <a:ext cx="1483049" cy="1825933"/>
          </a:xfrm>
          <a:prstGeom prst="line">
            <a:avLst/>
          </a:prstGeom>
          <a:ln cap="rnd" w="19050">
            <a:solidFill>
              <a:srgbClr val="387F7F"/>
            </a:solidFill>
            <a:prstDash val="solid"/>
            <a:headEnd type="none" len="sm" w="sm"/>
            <a:tailEnd type="none" len="sm" w="sm"/>
          </a:ln>
        </p:spPr>
      </p:sp>
      <p:grpSp>
        <p:nvGrpSpPr>
          <p:cNvPr name="Group 36" id="36"/>
          <p:cNvGrpSpPr/>
          <p:nvPr/>
        </p:nvGrpSpPr>
        <p:grpSpPr>
          <a:xfrm rot="0">
            <a:off x="5107153" y="7369745"/>
            <a:ext cx="411480" cy="356616"/>
            <a:chOff x="0" y="0"/>
            <a:chExt cx="548640" cy="475488"/>
          </a:xfrm>
        </p:grpSpPr>
        <p:sp>
          <p:nvSpPr>
            <p:cNvPr name="Freeform 37" id="37"/>
            <p:cNvSpPr/>
            <p:nvPr/>
          </p:nvSpPr>
          <p:spPr>
            <a:xfrm flipH="false" flipV="false" rot="0">
              <a:off x="0" y="0"/>
              <a:ext cx="548640" cy="475488"/>
            </a:xfrm>
            <a:custGeom>
              <a:avLst/>
              <a:gdLst/>
              <a:ahLst/>
              <a:cxnLst/>
              <a:rect r="r" b="b" t="t" l="l"/>
              <a:pathLst>
                <a:path h="475488" w="548640">
                  <a:moveTo>
                    <a:pt x="0" y="0"/>
                  </a:moveTo>
                  <a:lnTo>
                    <a:pt x="548640" y="0"/>
                  </a:lnTo>
                  <a:lnTo>
                    <a:pt x="548640" y="475488"/>
                  </a:lnTo>
                  <a:lnTo>
                    <a:pt x="0" y="475488"/>
                  </a:lnTo>
                  <a:close/>
                </a:path>
              </a:pathLst>
            </a:custGeom>
            <a:blipFill>
              <a:blip r:embed="rId9">
                <a:alphaModFix amt="0"/>
              </a:blip>
              <a:stretch>
                <a:fillRect l="-61196" t="0" r="-61196" b="0"/>
              </a:stretch>
            </a:blipFill>
          </p:spPr>
        </p:sp>
        <p:sp>
          <p:nvSpPr>
            <p:cNvPr name="TextBox 38" id="38"/>
            <p:cNvSpPr txBox="true"/>
            <p:nvPr/>
          </p:nvSpPr>
          <p:spPr>
            <a:xfrm>
              <a:off x="0" y="-19050"/>
              <a:ext cx="548640" cy="494538"/>
            </a:xfrm>
            <a:prstGeom prst="rect">
              <a:avLst/>
            </a:prstGeom>
          </p:spPr>
          <p:txBody>
            <a:bodyPr anchor="ctr" rtlCol="false" tIns="0" lIns="0" bIns="0" rIns="0"/>
            <a:lstStyle/>
            <a:p>
              <a:pPr algn="ctr">
                <a:lnSpc>
                  <a:spcPts val="2160"/>
                </a:lnSpc>
              </a:pPr>
              <a:r>
                <a:rPr lang="en-US" sz="1800" b="true">
                  <a:solidFill>
                    <a:srgbClr val="387F7F"/>
                  </a:solidFill>
                  <a:latin typeface="Poppins Bold"/>
                  <a:ea typeface="Poppins Bold"/>
                  <a:cs typeface="Poppins Bold"/>
                  <a:sym typeface="Poppins Bold"/>
                </a:rPr>
                <a:t>1</a:t>
              </a:r>
            </a:p>
          </p:txBody>
        </p:sp>
      </p:grpSp>
      <p:grpSp>
        <p:nvGrpSpPr>
          <p:cNvPr name="Group 39" id="39"/>
          <p:cNvGrpSpPr/>
          <p:nvPr/>
        </p:nvGrpSpPr>
        <p:grpSpPr>
          <a:xfrm rot="0">
            <a:off x="6345707" y="5836296"/>
            <a:ext cx="411480" cy="356616"/>
            <a:chOff x="0" y="0"/>
            <a:chExt cx="548640" cy="475488"/>
          </a:xfrm>
        </p:grpSpPr>
        <p:sp>
          <p:nvSpPr>
            <p:cNvPr name="Freeform 40" id="40"/>
            <p:cNvSpPr/>
            <p:nvPr/>
          </p:nvSpPr>
          <p:spPr>
            <a:xfrm flipH="false" flipV="false" rot="0">
              <a:off x="0" y="0"/>
              <a:ext cx="548640" cy="475488"/>
            </a:xfrm>
            <a:custGeom>
              <a:avLst/>
              <a:gdLst/>
              <a:ahLst/>
              <a:cxnLst/>
              <a:rect r="r" b="b" t="t" l="l"/>
              <a:pathLst>
                <a:path h="475488" w="548640">
                  <a:moveTo>
                    <a:pt x="0" y="0"/>
                  </a:moveTo>
                  <a:lnTo>
                    <a:pt x="548640" y="0"/>
                  </a:lnTo>
                  <a:lnTo>
                    <a:pt x="548640" y="475488"/>
                  </a:lnTo>
                  <a:lnTo>
                    <a:pt x="0" y="475488"/>
                  </a:lnTo>
                  <a:close/>
                </a:path>
              </a:pathLst>
            </a:custGeom>
            <a:blipFill>
              <a:blip r:embed="rId9">
                <a:alphaModFix amt="0"/>
              </a:blip>
              <a:stretch>
                <a:fillRect l="-61196" t="0" r="-61196" b="0"/>
              </a:stretch>
            </a:blipFill>
          </p:spPr>
        </p:sp>
        <p:sp>
          <p:nvSpPr>
            <p:cNvPr name="TextBox 41" id="41"/>
            <p:cNvSpPr txBox="true"/>
            <p:nvPr/>
          </p:nvSpPr>
          <p:spPr>
            <a:xfrm>
              <a:off x="0" y="-28575"/>
              <a:ext cx="548640" cy="504063"/>
            </a:xfrm>
            <a:prstGeom prst="rect">
              <a:avLst/>
            </a:prstGeom>
          </p:spPr>
          <p:txBody>
            <a:bodyPr anchor="ctr" rtlCol="false" tIns="0" lIns="0" bIns="0" rIns="0"/>
            <a:lstStyle/>
            <a:p>
              <a:pPr algn="ctr">
                <a:lnSpc>
                  <a:spcPts val="3060"/>
                </a:lnSpc>
              </a:pPr>
              <a:r>
                <a:rPr lang="en-US" sz="2550" b="true">
                  <a:solidFill>
                    <a:srgbClr val="387F7F"/>
                  </a:solidFill>
                  <a:latin typeface="Poppins Bold"/>
                  <a:ea typeface="Poppins Bold"/>
                  <a:cs typeface="Poppins Bold"/>
                  <a:sym typeface="Poppins Bold"/>
                </a:rPr>
                <a:t>∗</a:t>
              </a:r>
            </a:p>
          </p:txBody>
        </p:sp>
      </p:grpSp>
      <p:grpSp>
        <p:nvGrpSpPr>
          <p:cNvPr name="Group 42" id="42"/>
          <p:cNvGrpSpPr/>
          <p:nvPr/>
        </p:nvGrpSpPr>
        <p:grpSpPr>
          <a:xfrm rot="0">
            <a:off x="5264277" y="6319176"/>
            <a:ext cx="1335786" cy="403098"/>
            <a:chOff x="0" y="0"/>
            <a:chExt cx="1781048" cy="537464"/>
          </a:xfrm>
        </p:grpSpPr>
        <p:sp>
          <p:nvSpPr>
            <p:cNvPr name="Freeform 43" id="43"/>
            <p:cNvSpPr/>
            <p:nvPr/>
          </p:nvSpPr>
          <p:spPr>
            <a:xfrm flipH="false" flipV="false" rot="0">
              <a:off x="0" y="0"/>
              <a:ext cx="1781048" cy="537464"/>
            </a:xfrm>
            <a:custGeom>
              <a:avLst/>
              <a:gdLst/>
              <a:ahLst/>
              <a:cxnLst/>
              <a:rect r="r" b="b" t="t" l="l"/>
              <a:pathLst>
                <a:path h="537464" w="1781048">
                  <a:moveTo>
                    <a:pt x="0" y="268732"/>
                  </a:moveTo>
                  <a:cubicBezTo>
                    <a:pt x="0" y="120269"/>
                    <a:pt x="120269" y="0"/>
                    <a:pt x="268732" y="0"/>
                  </a:cubicBezTo>
                  <a:lnTo>
                    <a:pt x="1512316" y="0"/>
                  </a:lnTo>
                  <a:cubicBezTo>
                    <a:pt x="1660779" y="0"/>
                    <a:pt x="1781048" y="120269"/>
                    <a:pt x="1781048" y="268732"/>
                  </a:cubicBezTo>
                  <a:cubicBezTo>
                    <a:pt x="1781048" y="417195"/>
                    <a:pt x="1660779" y="537464"/>
                    <a:pt x="1512316" y="537464"/>
                  </a:cubicBezTo>
                  <a:lnTo>
                    <a:pt x="268732" y="537464"/>
                  </a:lnTo>
                  <a:cubicBezTo>
                    <a:pt x="120269" y="537464"/>
                    <a:pt x="0" y="417195"/>
                    <a:pt x="0" y="268732"/>
                  </a:cubicBezTo>
                  <a:close/>
                </a:path>
              </a:pathLst>
            </a:custGeom>
            <a:solidFill>
              <a:srgbClr val="FFFFFF"/>
            </a:solidFill>
            <a:ln w="19050" cap="sq">
              <a:solidFill>
                <a:srgbClr val="E2E8F0"/>
              </a:solidFill>
              <a:prstDash val="solid"/>
              <a:miter/>
            </a:ln>
          </p:spPr>
        </p:sp>
      </p:grpSp>
      <p:grpSp>
        <p:nvGrpSpPr>
          <p:cNvPr name="Group 44" id="44"/>
          <p:cNvGrpSpPr/>
          <p:nvPr/>
        </p:nvGrpSpPr>
        <p:grpSpPr>
          <a:xfrm rot="0">
            <a:off x="5273802" y="6328701"/>
            <a:ext cx="1316736" cy="384048"/>
            <a:chOff x="0" y="0"/>
            <a:chExt cx="1755648" cy="512064"/>
          </a:xfrm>
        </p:grpSpPr>
        <p:sp>
          <p:nvSpPr>
            <p:cNvPr name="Freeform 45" id="45"/>
            <p:cNvSpPr/>
            <p:nvPr/>
          </p:nvSpPr>
          <p:spPr>
            <a:xfrm flipH="false" flipV="false" rot="0">
              <a:off x="0" y="0"/>
              <a:ext cx="1755648" cy="512064"/>
            </a:xfrm>
            <a:custGeom>
              <a:avLst/>
              <a:gdLst/>
              <a:ahLst/>
              <a:cxnLst/>
              <a:rect r="r" b="b" t="t" l="l"/>
              <a:pathLst>
                <a:path h="512064" w="1755648">
                  <a:moveTo>
                    <a:pt x="0" y="0"/>
                  </a:moveTo>
                  <a:lnTo>
                    <a:pt x="1755648" y="0"/>
                  </a:lnTo>
                  <a:lnTo>
                    <a:pt x="1755648" y="512064"/>
                  </a:lnTo>
                  <a:lnTo>
                    <a:pt x="0" y="512064"/>
                  </a:lnTo>
                  <a:close/>
                </a:path>
              </a:pathLst>
            </a:custGeom>
            <a:blipFill>
              <a:blip r:embed="rId9">
                <a:alphaModFix amt="0"/>
              </a:blip>
              <a:stretch>
                <a:fillRect l="0" t="-16805" r="0" b="-16805"/>
              </a:stretch>
            </a:blipFill>
          </p:spPr>
        </p:sp>
        <p:sp>
          <p:nvSpPr>
            <p:cNvPr name="TextBox 46" id="46"/>
            <p:cNvSpPr txBox="true"/>
            <p:nvPr/>
          </p:nvSpPr>
          <p:spPr>
            <a:xfrm>
              <a:off x="0" y="-9525"/>
              <a:ext cx="1755648" cy="521589"/>
            </a:xfrm>
            <a:prstGeom prst="rect">
              <a:avLst/>
            </a:prstGeom>
          </p:spPr>
          <p:txBody>
            <a:bodyPr anchor="ctr" rtlCol="false" tIns="0" lIns="0" bIns="0" rIns="0"/>
            <a:lstStyle/>
            <a:p>
              <a:pPr algn="ctr">
                <a:lnSpc>
                  <a:spcPts val="1530"/>
                </a:lnSpc>
              </a:pPr>
              <a:r>
                <a:rPr lang="en-US" sz="1275" b="true">
                  <a:solidFill>
                    <a:srgbClr val="475569"/>
                  </a:solidFill>
                  <a:latin typeface="Poppins Bold"/>
                  <a:ea typeface="Poppins Bold"/>
                  <a:cs typeface="Poppins Bold"/>
                  <a:sym typeface="Poppins Bold"/>
                </a:rPr>
                <a:t>CustomerID</a:t>
              </a:r>
            </a:p>
          </p:txBody>
        </p:sp>
      </p:grpSp>
      <p:sp>
        <p:nvSpPr>
          <p:cNvPr name="AutoShape 47" id="47"/>
          <p:cNvSpPr/>
          <p:nvPr/>
        </p:nvSpPr>
        <p:spPr>
          <a:xfrm flipH="true" flipV="true">
            <a:off x="10402726" y="5607755"/>
            <a:ext cx="1483048" cy="1976815"/>
          </a:xfrm>
          <a:prstGeom prst="line">
            <a:avLst/>
          </a:prstGeom>
          <a:ln cap="rnd" w="19050">
            <a:solidFill>
              <a:srgbClr val="387F7F"/>
            </a:solidFill>
            <a:prstDash val="solid"/>
            <a:headEnd type="none" len="sm" w="sm"/>
            <a:tailEnd type="none" len="sm" w="sm"/>
          </a:ln>
        </p:spPr>
      </p:sp>
      <p:grpSp>
        <p:nvGrpSpPr>
          <p:cNvPr name="Group 48" id="48"/>
          <p:cNvGrpSpPr/>
          <p:nvPr/>
        </p:nvGrpSpPr>
        <p:grpSpPr>
          <a:xfrm rot="0">
            <a:off x="11557787" y="7510058"/>
            <a:ext cx="411480" cy="356616"/>
            <a:chOff x="0" y="0"/>
            <a:chExt cx="548640" cy="475488"/>
          </a:xfrm>
        </p:grpSpPr>
        <p:sp>
          <p:nvSpPr>
            <p:cNvPr name="Freeform 49" id="49"/>
            <p:cNvSpPr/>
            <p:nvPr/>
          </p:nvSpPr>
          <p:spPr>
            <a:xfrm flipH="false" flipV="false" rot="0">
              <a:off x="0" y="0"/>
              <a:ext cx="548640" cy="475488"/>
            </a:xfrm>
            <a:custGeom>
              <a:avLst/>
              <a:gdLst/>
              <a:ahLst/>
              <a:cxnLst/>
              <a:rect r="r" b="b" t="t" l="l"/>
              <a:pathLst>
                <a:path h="475488" w="548640">
                  <a:moveTo>
                    <a:pt x="0" y="0"/>
                  </a:moveTo>
                  <a:lnTo>
                    <a:pt x="548640" y="0"/>
                  </a:lnTo>
                  <a:lnTo>
                    <a:pt x="548640" y="475488"/>
                  </a:lnTo>
                  <a:lnTo>
                    <a:pt x="0" y="475488"/>
                  </a:lnTo>
                  <a:close/>
                </a:path>
              </a:pathLst>
            </a:custGeom>
            <a:blipFill>
              <a:blip r:embed="rId9">
                <a:alphaModFix amt="0"/>
              </a:blip>
              <a:stretch>
                <a:fillRect l="-61196" t="0" r="-61196" b="0"/>
              </a:stretch>
            </a:blipFill>
          </p:spPr>
        </p:sp>
        <p:sp>
          <p:nvSpPr>
            <p:cNvPr name="TextBox 50" id="50"/>
            <p:cNvSpPr txBox="true"/>
            <p:nvPr/>
          </p:nvSpPr>
          <p:spPr>
            <a:xfrm>
              <a:off x="0" y="-19050"/>
              <a:ext cx="548640" cy="494538"/>
            </a:xfrm>
            <a:prstGeom prst="rect">
              <a:avLst/>
            </a:prstGeom>
          </p:spPr>
          <p:txBody>
            <a:bodyPr anchor="ctr" rtlCol="false" tIns="0" lIns="0" bIns="0" rIns="0"/>
            <a:lstStyle/>
            <a:p>
              <a:pPr algn="ctr">
                <a:lnSpc>
                  <a:spcPts val="2160"/>
                </a:lnSpc>
              </a:pPr>
              <a:r>
                <a:rPr lang="en-US" sz="1800" b="true">
                  <a:solidFill>
                    <a:srgbClr val="387F7F"/>
                  </a:solidFill>
                  <a:latin typeface="Poppins Bold"/>
                  <a:ea typeface="Poppins Bold"/>
                  <a:cs typeface="Poppins Bold"/>
                  <a:sym typeface="Poppins Bold"/>
                </a:rPr>
                <a:t>1</a:t>
              </a:r>
            </a:p>
          </p:txBody>
        </p:sp>
      </p:grpSp>
      <p:grpSp>
        <p:nvGrpSpPr>
          <p:cNvPr name="Group 51" id="51"/>
          <p:cNvGrpSpPr/>
          <p:nvPr/>
        </p:nvGrpSpPr>
        <p:grpSpPr>
          <a:xfrm rot="0">
            <a:off x="10319233" y="5846859"/>
            <a:ext cx="411480" cy="356616"/>
            <a:chOff x="0" y="0"/>
            <a:chExt cx="548640" cy="475488"/>
          </a:xfrm>
        </p:grpSpPr>
        <p:sp>
          <p:nvSpPr>
            <p:cNvPr name="Freeform 52" id="52"/>
            <p:cNvSpPr/>
            <p:nvPr/>
          </p:nvSpPr>
          <p:spPr>
            <a:xfrm flipH="false" flipV="false" rot="0">
              <a:off x="0" y="0"/>
              <a:ext cx="548640" cy="475488"/>
            </a:xfrm>
            <a:custGeom>
              <a:avLst/>
              <a:gdLst/>
              <a:ahLst/>
              <a:cxnLst/>
              <a:rect r="r" b="b" t="t" l="l"/>
              <a:pathLst>
                <a:path h="475488" w="548640">
                  <a:moveTo>
                    <a:pt x="0" y="0"/>
                  </a:moveTo>
                  <a:lnTo>
                    <a:pt x="548640" y="0"/>
                  </a:lnTo>
                  <a:lnTo>
                    <a:pt x="548640" y="475488"/>
                  </a:lnTo>
                  <a:lnTo>
                    <a:pt x="0" y="475488"/>
                  </a:lnTo>
                  <a:close/>
                </a:path>
              </a:pathLst>
            </a:custGeom>
            <a:blipFill>
              <a:blip r:embed="rId9">
                <a:alphaModFix amt="0"/>
              </a:blip>
              <a:stretch>
                <a:fillRect l="-61196" t="0" r="-61196" b="0"/>
              </a:stretch>
            </a:blipFill>
          </p:spPr>
        </p:sp>
        <p:sp>
          <p:nvSpPr>
            <p:cNvPr name="TextBox 53" id="53"/>
            <p:cNvSpPr txBox="true"/>
            <p:nvPr/>
          </p:nvSpPr>
          <p:spPr>
            <a:xfrm>
              <a:off x="0" y="-28575"/>
              <a:ext cx="548640" cy="504063"/>
            </a:xfrm>
            <a:prstGeom prst="rect">
              <a:avLst/>
            </a:prstGeom>
          </p:spPr>
          <p:txBody>
            <a:bodyPr anchor="ctr" rtlCol="false" tIns="0" lIns="0" bIns="0" rIns="0"/>
            <a:lstStyle/>
            <a:p>
              <a:pPr algn="ctr">
                <a:lnSpc>
                  <a:spcPts val="3060"/>
                </a:lnSpc>
              </a:pPr>
              <a:r>
                <a:rPr lang="en-US" sz="2550" b="true">
                  <a:solidFill>
                    <a:srgbClr val="387F7F"/>
                  </a:solidFill>
                  <a:latin typeface="Poppins Bold"/>
                  <a:ea typeface="Poppins Bold"/>
                  <a:cs typeface="Poppins Bold"/>
                  <a:sym typeface="Poppins Bold"/>
                </a:rPr>
                <a:t>∗</a:t>
              </a:r>
            </a:p>
          </p:txBody>
        </p:sp>
      </p:grpSp>
      <p:grpSp>
        <p:nvGrpSpPr>
          <p:cNvPr name="Group 54" id="54"/>
          <p:cNvGrpSpPr/>
          <p:nvPr/>
        </p:nvGrpSpPr>
        <p:grpSpPr>
          <a:xfrm rot="0">
            <a:off x="10476357" y="6394614"/>
            <a:ext cx="1335786" cy="403098"/>
            <a:chOff x="0" y="0"/>
            <a:chExt cx="1781048" cy="537464"/>
          </a:xfrm>
        </p:grpSpPr>
        <p:sp>
          <p:nvSpPr>
            <p:cNvPr name="Freeform 55" id="55"/>
            <p:cNvSpPr/>
            <p:nvPr/>
          </p:nvSpPr>
          <p:spPr>
            <a:xfrm flipH="false" flipV="false" rot="0">
              <a:off x="0" y="0"/>
              <a:ext cx="1781048" cy="537464"/>
            </a:xfrm>
            <a:custGeom>
              <a:avLst/>
              <a:gdLst/>
              <a:ahLst/>
              <a:cxnLst/>
              <a:rect r="r" b="b" t="t" l="l"/>
              <a:pathLst>
                <a:path h="537464" w="1781048">
                  <a:moveTo>
                    <a:pt x="0" y="268732"/>
                  </a:moveTo>
                  <a:cubicBezTo>
                    <a:pt x="0" y="120269"/>
                    <a:pt x="120269" y="0"/>
                    <a:pt x="268732" y="0"/>
                  </a:cubicBezTo>
                  <a:lnTo>
                    <a:pt x="1512316" y="0"/>
                  </a:lnTo>
                  <a:cubicBezTo>
                    <a:pt x="1660779" y="0"/>
                    <a:pt x="1781048" y="120269"/>
                    <a:pt x="1781048" y="268732"/>
                  </a:cubicBezTo>
                  <a:cubicBezTo>
                    <a:pt x="1781048" y="417195"/>
                    <a:pt x="1660779" y="537464"/>
                    <a:pt x="1512316" y="537464"/>
                  </a:cubicBezTo>
                  <a:lnTo>
                    <a:pt x="268732" y="537464"/>
                  </a:lnTo>
                  <a:cubicBezTo>
                    <a:pt x="120269" y="537464"/>
                    <a:pt x="0" y="417195"/>
                    <a:pt x="0" y="268732"/>
                  </a:cubicBezTo>
                  <a:close/>
                </a:path>
              </a:pathLst>
            </a:custGeom>
            <a:solidFill>
              <a:srgbClr val="FFFFFF"/>
            </a:solidFill>
            <a:ln w="19050" cap="sq">
              <a:solidFill>
                <a:srgbClr val="E2E8F0"/>
              </a:solidFill>
              <a:prstDash val="solid"/>
              <a:miter/>
            </a:ln>
          </p:spPr>
        </p:sp>
      </p:grpSp>
      <p:grpSp>
        <p:nvGrpSpPr>
          <p:cNvPr name="Group 56" id="56"/>
          <p:cNvGrpSpPr/>
          <p:nvPr/>
        </p:nvGrpSpPr>
        <p:grpSpPr>
          <a:xfrm rot="0">
            <a:off x="10485882" y="6404139"/>
            <a:ext cx="1316736" cy="384048"/>
            <a:chOff x="0" y="0"/>
            <a:chExt cx="1755648" cy="512064"/>
          </a:xfrm>
        </p:grpSpPr>
        <p:sp>
          <p:nvSpPr>
            <p:cNvPr name="Freeform 57" id="57"/>
            <p:cNvSpPr/>
            <p:nvPr/>
          </p:nvSpPr>
          <p:spPr>
            <a:xfrm flipH="false" flipV="false" rot="0">
              <a:off x="0" y="0"/>
              <a:ext cx="1755648" cy="512064"/>
            </a:xfrm>
            <a:custGeom>
              <a:avLst/>
              <a:gdLst/>
              <a:ahLst/>
              <a:cxnLst/>
              <a:rect r="r" b="b" t="t" l="l"/>
              <a:pathLst>
                <a:path h="512064" w="1755648">
                  <a:moveTo>
                    <a:pt x="0" y="0"/>
                  </a:moveTo>
                  <a:lnTo>
                    <a:pt x="1755648" y="0"/>
                  </a:lnTo>
                  <a:lnTo>
                    <a:pt x="1755648" y="512064"/>
                  </a:lnTo>
                  <a:lnTo>
                    <a:pt x="0" y="512064"/>
                  </a:lnTo>
                  <a:close/>
                </a:path>
              </a:pathLst>
            </a:custGeom>
            <a:blipFill>
              <a:blip r:embed="rId9">
                <a:alphaModFix amt="0"/>
              </a:blip>
              <a:stretch>
                <a:fillRect l="0" t="-16805" r="0" b="-16805"/>
              </a:stretch>
            </a:blipFill>
          </p:spPr>
        </p:sp>
        <p:sp>
          <p:nvSpPr>
            <p:cNvPr name="TextBox 58" id="58"/>
            <p:cNvSpPr txBox="true"/>
            <p:nvPr/>
          </p:nvSpPr>
          <p:spPr>
            <a:xfrm>
              <a:off x="0" y="-9525"/>
              <a:ext cx="1755648" cy="521589"/>
            </a:xfrm>
            <a:prstGeom prst="rect">
              <a:avLst/>
            </a:prstGeom>
          </p:spPr>
          <p:txBody>
            <a:bodyPr anchor="ctr" rtlCol="false" tIns="0" lIns="0" bIns="0" rIns="0"/>
            <a:lstStyle/>
            <a:p>
              <a:pPr algn="ctr">
                <a:lnSpc>
                  <a:spcPts val="1530"/>
                </a:lnSpc>
              </a:pPr>
              <a:r>
                <a:rPr lang="en-US" sz="1275" b="true">
                  <a:solidFill>
                    <a:srgbClr val="475569"/>
                  </a:solidFill>
                  <a:latin typeface="Poppins Bold"/>
                  <a:ea typeface="Poppins Bold"/>
                  <a:cs typeface="Poppins Bold"/>
                  <a:sym typeface="Poppins Bold"/>
                </a:rPr>
                <a:t>DateKey</a:t>
              </a:r>
            </a:p>
          </p:txBody>
        </p:sp>
      </p:grpSp>
      <p:grpSp>
        <p:nvGrpSpPr>
          <p:cNvPr name="Group 59" id="59"/>
          <p:cNvGrpSpPr/>
          <p:nvPr/>
        </p:nvGrpSpPr>
        <p:grpSpPr>
          <a:xfrm rot="0">
            <a:off x="2116455" y="2053500"/>
            <a:ext cx="3105150" cy="2241042"/>
            <a:chOff x="0" y="0"/>
            <a:chExt cx="4140200" cy="2988056"/>
          </a:xfrm>
        </p:grpSpPr>
        <p:sp>
          <p:nvSpPr>
            <p:cNvPr name="Freeform 60" id="60"/>
            <p:cNvSpPr/>
            <p:nvPr/>
          </p:nvSpPr>
          <p:spPr>
            <a:xfrm flipH="false" flipV="false" rot="0">
              <a:off x="0" y="0"/>
              <a:ext cx="4140200" cy="2988056"/>
            </a:xfrm>
            <a:custGeom>
              <a:avLst/>
              <a:gdLst/>
              <a:ahLst/>
              <a:cxnLst/>
              <a:rect r="r" b="b" t="t" l="l"/>
              <a:pathLst>
                <a:path h="2988056" w="4140200">
                  <a:moveTo>
                    <a:pt x="0" y="147574"/>
                  </a:moveTo>
                  <a:cubicBezTo>
                    <a:pt x="0" y="66040"/>
                    <a:pt x="66040" y="0"/>
                    <a:pt x="147574" y="0"/>
                  </a:cubicBezTo>
                  <a:lnTo>
                    <a:pt x="3992626" y="0"/>
                  </a:lnTo>
                  <a:cubicBezTo>
                    <a:pt x="4074160" y="0"/>
                    <a:pt x="4140200" y="66040"/>
                    <a:pt x="4140200" y="147574"/>
                  </a:cubicBezTo>
                  <a:lnTo>
                    <a:pt x="4140200" y="2840482"/>
                  </a:lnTo>
                  <a:cubicBezTo>
                    <a:pt x="4140200" y="2922016"/>
                    <a:pt x="4074160" y="2988056"/>
                    <a:pt x="3992626" y="2988056"/>
                  </a:cubicBezTo>
                  <a:lnTo>
                    <a:pt x="147574" y="2988056"/>
                  </a:lnTo>
                  <a:cubicBezTo>
                    <a:pt x="66040" y="2988056"/>
                    <a:pt x="0" y="2922016"/>
                    <a:pt x="0" y="2840482"/>
                  </a:cubicBezTo>
                  <a:close/>
                </a:path>
              </a:pathLst>
            </a:custGeom>
            <a:solidFill>
              <a:srgbClr val="FFFFFF"/>
            </a:solidFill>
            <a:ln w="19050" cap="sq">
              <a:solidFill>
                <a:srgbClr val="E2E8F0"/>
              </a:solidFill>
              <a:prstDash val="solid"/>
              <a:miter/>
            </a:ln>
          </p:spPr>
        </p:sp>
      </p:grpSp>
      <p:grpSp>
        <p:nvGrpSpPr>
          <p:cNvPr name="Group 61" id="61"/>
          <p:cNvGrpSpPr/>
          <p:nvPr/>
        </p:nvGrpSpPr>
        <p:grpSpPr>
          <a:xfrm rot="0">
            <a:off x="2125980" y="2063025"/>
            <a:ext cx="3086100" cy="576072"/>
            <a:chOff x="0" y="0"/>
            <a:chExt cx="4114800" cy="768096"/>
          </a:xfrm>
        </p:grpSpPr>
        <p:sp>
          <p:nvSpPr>
            <p:cNvPr name="Freeform 62" id="62"/>
            <p:cNvSpPr/>
            <p:nvPr/>
          </p:nvSpPr>
          <p:spPr>
            <a:xfrm flipH="false" flipV="false" rot="0">
              <a:off x="0" y="0"/>
              <a:ext cx="4114800" cy="768096"/>
            </a:xfrm>
            <a:custGeom>
              <a:avLst/>
              <a:gdLst/>
              <a:ahLst/>
              <a:cxnLst/>
              <a:rect r="r" b="b" t="t" l="l"/>
              <a:pathLst>
                <a:path h="768096" w="4114800">
                  <a:moveTo>
                    <a:pt x="0" y="146304"/>
                  </a:moveTo>
                  <a:cubicBezTo>
                    <a:pt x="0" y="65532"/>
                    <a:pt x="65532" y="0"/>
                    <a:pt x="146304" y="0"/>
                  </a:cubicBezTo>
                  <a:lnTo>
                    <a:pt x="3968496" y="0"/>
                  </a:lnTo>
                  <a:cubicBezTo>
                    <a:pt x="4049268" y="0"/>
                    <a:pt x="4114800" y="65532"/>
                    <a:pt x="4114800" y="146304"/>
                  </a:cubicBezTo>
                  <a:lnTo>
                    <a:pt x="4114800" y="621792"/>
                  </a:lnTo>
                  <a:cubicBezTo>
                    <a:pt x="4114800" y="702564"/>
                    <a:pt x="4049268" y="768096"/>
                    <a:pt x="3968496" y="768096"/>
                  </a:cubicBezTo>
                  <a:lnTo>
                    <a:pt x="146304" y="768096"/>
                  </a:lnTo>
                  <a:cubicBezTo>
                    <a:pt x="65532" y="768096"/>
                    <a:pt x="0" y="702564"/>
                    <a:pt x="0" y="621792"/>
                  </a:cubicBezTo>
                  <a:close/>
                </a:path>
              </a:pathLst>
            </a:custGeom>
            <a:solidFill>
              <a:srgbClr val="387F7F"/>
            </a:solidFill>
          </p:spPr>
        </p:sp>
      </p:grpSp>
      <p:grpSp>
        <p:nvGrpSpPr>
          <p:cNvPr name="Group 63" id="63"/>
          <p:cNvGrpSpPr/>
          <p:nvPr/>
        </p:nvGrpSpPr>
        <p:grpSpPr>
          <a:xfrm rot="0">
            <a:off x="2125980" y="2351061"/>
            <a:ext cx="3086100" cy="288036"/>
            <a:chOff x="0" y="0"/>
            <a:chExt cx="4114800" cy="384048"/>
          </a:xfrm>
        </p:grpSpPr>
        <p:sp>
          <p:nvSpPr>
            <p:cNvPr name="Freeform 64" id="64"/>
            <p:cNvSpPr/>
            <p:nvPr/>
          </p:nvSpPr>
          <p:spPr>
            <a:xfrm flipH="false" flipV="false" rot="0">
              <a:off x="0" y="0"/>
              <a:ext cx="4114800" cy="384048"/>
            </a:xfrm>
            <a:custGeom>
              <a:avLst/>
              <a:gdLst/>
              <a:ahLst/>
              <a:cxnLst/>
              <a:rect r="r" b="b" t="t" l="l"/>
              <a:pathLst>
                <a:path h="384048" w="4114800">
                  <a:moveTo>
                    <a:pt x="0" y="0"/>
                  </a:moveTo>
                  <a:lnTo>
                    <a:pt x="4114800" y="0"/>
                  </a:lnTo>
                  <a:lnTo>
                    <a:pt x="4114800" y="384048"/>
                  </a:lnTo>
                  <a:lnTo>
                    <a:pt x="0" y="384048"/>
                  </a:lnTo>
                  <a:close/>
                </a:path>
              </a:pathLst>
            </a:custGeom>
            <a:solidFill>
              <a:srgbClr val="387F7F"/>
            </a:solidFill>
          </p:spPr>
        </p:sp>
      </p:grpSp>
      <p:grpSp>
        <p:nvGrpSpPr>
          <p:cNvPr name="Group 65" id="65"/>
          <p:cNvGrpSpPr/>
          <p:nvPr/>
        </p:nvGrpSpPr>
        <p:grpSpPr>
          <a:xfrm rot="0">
            <a:off x="2263140" y="2063025"/>
            <a:ext cx="2811780" cy="576072"/>
            <a:chOff x="0" y="0"/>
            <a:chExt cx="3749040" cy="768096"/>
          </a:xfrm>
        </p:grpSpPr>
        <p:sp>
          <p:nvSpPr>
            <p:cNvPr name="Freeform 66" id="66"/>
            <p:cNvSpPr/>
            <p:nvPr/>
          </p:nvSpPr>
          <p:spPr>
            <a:xfrm flipH="false" flipV="false" rot="0">
              <a:off x="0" y="0"/>
              <a:ext cx="3749040" cy="768096"/>
            </a:xfrm>
            <a:custGeom>
              <a:avLst/>
              <a:gdLst/>
              <a:ahLst/>
              <a:cxnLst/>
              <a:rect r="r" b="b" t="t" l="l"/>
              <a:pathLst>
                <a:path h="768096" w="3749040">
                  <a:moveTo>
                    <a:pt x="0" y="0"/>
                  </a:moveTo>
                  <a:lnTo>
                    <a:pt x="3749040" y="0"/>
                  </a:lnTo>
                  <a:lnTo>
                    <a:pt x="3749040" y="768096"/>
                  </a:lnTo>
                  <a:lnTo>
                    <a:pt x="0" y="768096"/>
                  </a:lnTo>
                  <a:close/>
                </a:path>
              </a:pathLst>
            </a:custGeom>
            <a:blipFill>
              <a:blip r:embed="rId9">
                <a:alphaModFix amt="0"/>
              </a:blip>
              <a:stretch>
                <a:fillRect l="0" t="-45105" r="0" b="-45105"/>
              </a:stretch>
            </a:blipFill>
          </p:spPr>
        </p:sp>
        <p:sp>
          <p:nvSpPr>
            <p:cNvPr name="TextBox 67" id="67"/>
            <p:cNvSpPr txBox="true"/>
            <p:nvPr/>
          </p:nvSpPr>
          <p:spPr>
            <a:xfrm>
              <a:off x="0" y="-9525"/>
              <a:ext cx="3749040" cy="777621"/>
            </a:xfrm>
            <a:prstGeom prst="rect">
              <a:avLst/>
            </a:prstGeom>
          </p:spPr>
          <p:txBody>
            <a:bodyPr anchor="ctr" rtlCol="false" tIns="0" lIns="0" bIns="0" rIns="0"/>
            <a:lstStyle/>
            <a:p>
              <a:pPr algn="ctr">
                <a:lnSpc>
                  <a:spcPts val="1889"/>
                </a:lnSpc>
              </a:pPr>
              <a:r>
                <a:rPr lang="en-US" sz="1575" b="true">
                  <a:solidFill>
                    <a:srgbClr val="FFFFFF"/>
                  </a:solidFill>
                  <a:latin typeface="Poppins Bold"/>
                  <a:ea typeface="Poppins Bold"/>
                  <a:cs typeface="Poppins Bold"/>
                  <a:sym typeface="Poppins Bold"/>
                </a:rPr>
                <a:t>riders</a:t>
              </a:r>
            </a:p>
          </p:txBody>
        </p:sp>
      </p:grpSp>
      <p:grpSp>
        <p:nvGrpSpPr>
          <p:cNvPr name="Group 68" id="68"/>
          <p:cNvGrpSpPr/>
          <p:nvPr/>
        </p:nvGrpSpPr>
        <p:grpSpPr>
          <a:xfrm rot="0">
            <a:off x="2318004" y="2824263"/>
            <a:ext cx="164592" cy="164592"/>
            <a:chOff x="0" y="0"/>
            <a:chExt cx="219456" cy="219456"/>
          </a:xfrm>
        </p:grpSpPr>
        <p:sp>
          <p:nvSpPr>
            <p:cNvPr name="Freeform 69" id="69"/>
            <p:cNvSpPr/>
            <p:nvPr/>
          </p:nvSpPr>
          <p:spPr>
            <a:xfrm flipH="false" flipV="false" rot="0">
              <a:off x="0" y="0"/>
              <a:ext cx="219456" cy="219456"/>
            </a:xfrm>
            <a:custGeom>
              <a:avLst/>
              <a:gdLst/>
              <a:ahLst/>
              <a:cxnLst/>
              <a:rect r="r" b="b" t="t" l="l"/>
              <a:pathLst>
                <a:path h="219456" w="219456">
                  <a:moveTo>
                    <a:pt x="0" y="109728"/>
                  </a:moveTo>
                  <a:cubicBezTo>
                    <a:pt x="0" y="49149"/>
                    <a:pt x="49149" y="0"/>
                    <a:pt x="109728" y="0"/>
                  </a:cubicBezTo>
                  <a:cubicBezTo>
                    <a:pt x="170307" y="0"/>
                    <a:pt x="219456" y="49149"/>
                    <a:pt x="219456" y="109728"/>
                  </a:cubicBezTo>
                  <a:cubicBezTo>
                    <a:pt x="219456" y="170307"/>
                    <a:pt x="170307" y="219456"/>
                    <a:pt x="109728" y="219456"/>
                  </a:cubicBezTo>
                  <a:cubicBezTo>
                    <a:pt x="49149" y="219456"/>
                    <a:pt x="0" y="170307"/>
                    <a:pt x="0" y="109728"/>
                  </a:cubicBezTo>
                  <a:close/>
                </a:path>
              </a:pathLst>
            </a:custGeom>
            <a:solidFill>
              <a:srgbClr val="387F7F"/>
            </a:solidFill>
          </p:spPr>
        </p:sp>
      </p:grpSp>
      <p:grpSp>
        <p:nvGrpSpPr>
          <p:cNvPr name="Group 70" id="70"/>
          <p:cNvGrpSpPr/>
          <p:nvPr/>
        </p:nvGrpSpPr>
        <p:grpSpPr>
          <a:xfrm rot="0">
            <a:off x="2592324" y="2748825"/>
            <a:ext cx="2400300" cy="329184"/>
            <a:chOff x="0" y="0"/>
            <a:chExt cx="3200400" cy="438912"/>
          </a:xfrm>
        </p:grpSpPr>
        <p:sp>
          <p:nvSpPr>
            <p:cNvPr name="Freeform 71" id="71"/>
            <p:cNvSpPr/>
            <p:nvPr/>
          </p:nvSpPr>
          <p:spPr>
            <a:xfrm flipH="false" flipV="false" rot="0">
              <a:off x="0" y="0"/>
              <a:ext cx="3200400" cy="438912"/>
            </a:xfrm>
            <a:custGeom>
              <a:avLst/>
              <a:gdLst/>
              <a:ahLst/>
              <a:cxnLst/>
              <a:rect r="r" b="b" t="t" l="l"/>
              <a:pathLst>
                <a:path h="438912" w="3200400">
                  <a:moveTo>
                    <a:pt x="0" y="0"/>
                  </a:moveTo>
                  <a:lnTo>
                    <a:pt x="3200400" y="0"/>
                  </a:lnTo>
                  <a:lnTo>
                    <a:pt x="3200400" y="438912"/>
                  </a:lnTo>
                  <a:lnTo>
                    <a:pt x="0" y="438912"/>
                  </a:lnTo>
                  <a:close/>
                </a:path>
              </a:pathLst>
            </a:custGeom>
            <a:blipFill>
              <a:blip r:embed="rId9">
                <a:alphaModFix amt="0"/>
              </a:blip>
              <a:stretch>
                <a:fillRect l="0" t="-92078" r="0" b="-92078"/>
              </a:stretch>
            </a:blipFill>
          </p:spPr>
        </p:sp>
        <p:sp>
          <p:nvSpPr>
            <p:cNvPr name="TextBox 72" id="72"/>
            <p:cNvSpPr txBox="true"/>
            <p:nvPr/>
          </p:nvSpPr>
          <p:spPr>
            <a:xfrm>
              <a:off x="0" y="-19050"/>
              <a:ext cx="3200400" cy="457962"/>
            </a:xfrm>
            <a:prstGeom prst="rect">
              <a:avLst/>
            </a:prstGeom>
          </p:spPr>
          <p:txBody>
            <a:bodyPr anchor="ctr" rtlCol="false" tIns="0" lIns="0" bIns="0" rIns="0"/>
            <a:lstStyle/>
            <a:p>
              <a:pPr algn="l">
                <a:lnSpc>
                  <a:spcPts val="1800"/>
                </a:lnSpc>
              </a:pPr>
              <a:r>
                <a:rPr lang="en-US" sz="1500" b="true">
                  <a:solidFill>
                    <a:srgbClr val="0A1A23"/>
                  </a:solidFill>
                  <a:latin typeface="Poppins Bold"/>
                  <a:ea typeface="Poppins Bold"/>
                  <a:cs typeface="Poppins Bold"/>
                  <a:sym typeface="Poppins Bold"/>
                </a:rPr>
                <a:t>RiderID</a:t>
              </a:r>
            </a:p>
          </p:txBody>
        </p:sp>
      </p:grpSp>
      <p:grpSp>
        <p:nvGrpSpPr>
          <p:cNvPr name="Group 73" id="73"/>
          <p:cNvGrpSpPr/>
          <p:nvPr/>
        </p:nvGrpSpPr>
        <p:grpSpPr>
          <a:xfrm rot="0">
            <a:off x="2372868" y="3071151"/>
            <a:ext cx="2400300" cy="329184"/>
            <a:chOff x="0" y="0"/>
            <a:chExt cx="3200400" cy="438912"/>
          </a:xfrm>
        </p:grpSpPr>
        <p:sp>
          <p:nvSpPr>
            <p:cNvPr name="Freeform 74" id="74"/>
            <p:cNvSpPr/>
            <p:nvPr/>
          </p:nvSpPr>
          <p:spPr>
            <a:xfrm flipH="false" flipV="false" rot="0">
              <a:off x="0" y="0"/>
              <a:ext cx="3200400" cy="438912"/>
            </a:xfrm>
            <a:custGeom>
              <a:avLst/>
              <a:gdLst/>
              <a:ahLst/>
              <a:cxnLst/>
              <a:rect r="r" b="b" t="t" l="l"/>
              <a:pathLst>
                <a:path h="438912" w="3200400">
                  <a:moveTo>
                    <a:pt x="0" y="0"/>
                  </a:moveTo>
                  <a:lnTo>
                    <a:pt x="3200400" y="0"/>
                  </a:lnTo>
                  <a:lnTo>
                    <a:pt x="3200400" y="438912"/>
                  </a:lnTo>
                  <a:lnTo>
                    <a:pt x="0" y="438912"/>
                  </a:lnTo>
                  <a:close/>
                </a:path>
              </a:pathLst>
            </a:custGeom>
            <a:blipFill>
              <a:blip r:embed="rId9">
                <a:alphaModFix amt="0"/>
              </a:blip>
              <a:stretch>
                <a:fillRect l="0" t="-92078" r="0" b="-92078"/>
              </a:stretch>
            </a:blipFill>
          </p:spPr>
        </p:sp>
        <p:sp>
          <p:nvSpPr>
            <p:cNvPr name="TextBox 75" id="75"/>
            <p:cNvSpPr txBox="true"/>
            <p:nvPr/>
          </p:nvSpPr>
          <p:spPr>
            <a:xfrm>
              <a:off x="0" y="-19050"/>
              <a:ext cx="3200400" cy="457962"/>
            </a:xfrm>
            <a:prstGeom prst="rect">
              <a:avLst/>
            </a:prstGeom>
          </p:spPr>
          <p:txBody>
            <a:bodyPr anchor="ctr" rtlCol="false" tIns="0" lIns="0" bIns="0" rIns="0"/>
            <a:lstStyle/>
            <a:p>
              <a:pPr algn="l">
                <a:lnSpc>
                  <a:spcPts val="1800"/>
                </a:lnSpc>
              </a:pPr>
              <a:r>
                <a:rPr lang="en-US" sz="1500">
                  <a:solidFill>
                    <a:srgbClr val="64748B"/>
                  </a:solidFill>
                  <a:latin typeface="Poppins"/>
                  <a:ea typeface="Poppins"/>
                  <a:cs typeface="Poppins"/>
                  <a:sym typeface="Poppins"/>
                </a:rPr>
                <a:t>RiderName</a:t>
              </a:r>
            </a:p>
          </p:txBody>
        </p:sp>
      </p:grpSp>
      <p:grpSp>
        <p:nvGrpSpPr>
          <p:cNvPr name="Group 76" id="76"/>
          <p:cNvGrpSpPr/>
          <p:nvPr/>
        </p:nvGrpSpPr>
        <p:grpSpPr>
          <a:xfrm rot="0">
            <a:off x="2372868" y="3393477"/>
            <a:ext cx="2400300" cy="329184"/>
            <a:chOff x="0" y="0"/>
            <a:chExt cx="3200400" cy="438912"/>
          </a:xfrm>
        </p:grpSpPr>
        <p:sp>
          <p:nvSpPr>
            <p:cNvPr name="Freeform 77" id="77"/>
            <p:cNvSpPr/>
            <p:nvPr/>
          </p:nvSpPr>
          <p:spPr>
            <a:xfrm flipH="false" flipV="false" rot="0">
              <a:off x="0" y="0"/>
              <a:ext cx="3200400" cy="438912"/>
            </a:xfrm>
            <a:custGeom>
              <a:avLst/>
              <a:gdLst/>
              <a:ahLst/>
              <a:cxnLst/>
              <a:rect r="r" b="b" t="t" l="l"/>
              <a:pathLst>
                <a:path h="438912" w="3200400">
                  <a:moveTo>
                    <a:pt x="0" y="0"/>
                  </a:moveTo>
                  <a:lnTo>
                    <a:pt x="3200400" y="0"/>
                  </a:lnTo>
                  <a:lnTo>
                    <a:pt x="3200400" y="438912"/>
                  </a:lnTo>
                  <a:lnTo>
                    <a:pt x="0" y="438912"/>
                  </a:lnTo>
                  <a:close/>
                </a:path>
              </a:pathLst>
            </a:custGeom>
            <a:blipFill>
              <a:blip r:embed="rId9">
                <a:alphaModFix amt="0"/>
              </a:blip>
              <a:stretch>
                <a:fillRect l="0" t="-92078" r="0" b="-92078"/>
              </a:stretch>
            </a:blipFill>
          </p:spPr>
        </p:sp>
        <p:sp>
          <p:nvSpPr>
            <p:cNvPr name="TextBox 78" id="78"/>
            <p:cNvSpPr txBox="true"/>
            <p:nvPr/>
          </p:nvSpPr>
          <p:spPr>
            <a:xfrm>
              <a:off x="0" y="-19050"/>
              <a:ext cx="3200400" cy="457962"/>
            </a:xfrm>
            <a:prstGeom prst="rect">
              <a:avLst/>
            </a:prstGeom>
          </p:spPr>
          <p:txBody>
            <a:bodyPr anchor="ctr" rtlCol="false" tIns="0" lIns="0" bIns="0" rIns="0"/>
            <a:lstStyle/>
            <a:p>
              <a:pPr algn="l">
                <a:lnSpc>
                  <a:spcPts val="1800"/>
                </a:lnSpc>
              </a:pPr>
              <a:r>
                <a:rPr lang="en-US" sz="1500">
                  <a:solidFill>
                    <a:srgbClr val="64748B"/>
                  </a:solidFill>
                  <a:latin typeface="Poppins"/>
                  <a:ea typeface="Poppins"/>
                  <a:cs typeface="Poppins"/>
                  <a:sym typeface="Poppins"/>
                </a:rPr>
                <a:t>Hub</a:t>
              </a:r>
            </a:p>
          </p:txBody>
        </p:sp>
      </p:grpSp>
      <p:grpSp>
        <p:nvGrpSpPr>
          <p:cNvPr name="Group 79" id="79"/>
          <p:cNvGrpSpPr/>
          <p:nvPr/>
        </p:nvGrpSpPr>
        <p:grpSpPr>
          <a:xfrm rot="0">
            <a:off x="2372868" y="3715803"/>
            <a:ext cx="2400300" cy="329184"/>
            <a:chOff x="0" y="0"/>
            <a:chExt cx="3200400" cy="438912"/>
          </a:xfrm>
        </p:grpSpPr>
        <p:sp>
          <p:nvSpPr>
            <p:cNvPr name="Freeform 80" id="80"/>
            <p:cNvSpPr/>
            <p:nvPr/>
          </p:nvSpPr>
          <p:spPr>
            <a:xfrm flipH="false" flipV="false" rot="0">
              <a:off x="0" y="0"/>
              <a:ext cx="3200400" cy="438912"/>
            </a:xfrm>
            <a:custGeom>
              <a:avLst/>
              <a:gdLst/>
              <a:ahLst/>
              <a:cxnLst/>
              <a:rect r="r" b="b" t="t" l="l"/>
              <a:pathLst>
                <a:path h="438912" w="3200400">
                  <a:moveTo>
                    <a:pt x="0" y="0"/>
                  </a:moveTo>
                  <a:lnTo>
                    <a:pt x="3200400" y="0"/>
                  </a:lnTo>
                  <a:lnTo>
                    <a:pt x="3200400" y="438912"/>
                  </a:lnTo>
                  <a:lnTo>
                    <a:pt x="0" y="438912"/>
                  </a:lnTo>
                  <a:close/>
                </a:path>
              </a:pathLst>
            </a:custGeom>
            <a:blipFill>
              <a:blip r:embed="rId9">
                <a:alphaModFix amt="0"/>
              </a:blip>
              <a:stretch>
                <a:fillRect l="0" t="-92078" r="0" b="-92078"/>
              </a:stretch>
            </a:blipFill>
          </p:spPr>
        </p:sp>
        <p:sp>
          <p:nvSpPr>
            <p:cNvPr name="TextBox 81" id="81"/>
            <p:cNvSpPr txBox="true"/>
            <p:nvPr/>
          </p:nvSpPr>
          <p:spPr>
            <a:xfrm>
              <a:off x="0" y="-19050"/>
              <a:ext cx="3200400" cy="457962"/>
            </a:xfrm>
            <a:prstGeom prst="rect">
              <a:avLst/>
            </a:prstGeom>
          </p:spPr>
          <p:txBody>
            <a:bodyPr anchor="ctr" rtlCol="false" tIns="0" lIns="0" bIns="0" rIns="0"/>
            <a:lstStyle/>
            <a:p>
              <a:pPr algn="l">
                <a:lnSpc>
                  <a:spcPts val="1800"/>
                </a:lnSpc>
              </a:pPr>
              <a:r>
                <a:rPr lang="en-US" sz="1500">
                  <a:solidFill>
                    <a:srgbClr val="64748B"/>
                  </a:solidFill>
                  <a:latin typeface="Poppins"/>
                  <a:ea typeface="Poppins"/>
                  <a:cs typeface="Poppins"/>
                  <a:sym typeface="Poppins"/>
                </a:rPr>
                <a:t>VehicleType</a:t>
              </a:r>
            </a:p>
          </p:txBody>
        </p:sp>
      </p:grpSp>
      <p:grpSp>
        <p:nvGrpSpPr>
          <p:cNvPr name="Group 82" id="82"/>
          <p:cNvGrpSpPr/>
          <p:nvPr/>
        </p:nvGrpSpPr>
        <p:grpSpPr>
          <a:xfrm rot="0">
            <a:off x="11854815" y="2053500"/>
            <a:ext cx="3105150" cy="2241042"/>
            <a:chOff x="0" y="0"/>
            <a:chExt cx="4140200" cy="2988056"/>
          </a:xfrm>
        </p:grpSpPr>
        <p:sp>
          <p:nvSpPr>
            <p:cNvPr name="Freeform 83" id="83"/>
            <p:cNvSpPr/>
            <p:nvPr/>
          </p:nvSpPr>
          <p:spPr>
            <a:xfrm flipH="false" flipV="false" rot="0">
              <a:off x="0" y="0"/>
              <a:ext cx="4140200" cy="2988056"/>
            </a:xfrm>
            <a:custGeom>
              <a:avLst/>
              <a:gdLst/>
              <a:ahLst/>
              <a:cxnLst/>
              <a:rect r="r" b="b" t="t" l="l"/>
              <a:pathLst>
                <a:path h="2988056" w="4140200">
                  <a:moveTo>
                    <a:pt x="0" y="147574"/>
                  </a:moveTo>
                  <a:cubicBezTo>
                    <a:pt x="0" y="66040"/>
                    <a:pt x="66040" y="0"/>
                    <a:pt x="147574" y="0"/>
                  </a:cubicBezTo>
                  <a:lnTo>
                    <a:pt x="3992626" y="0"/>
                  </a:lnTo>
                  <a:cubicBezTo>
                    <a:pt x="4074160" y="0"/>
                    <a:pt x="4140200" y="66040"/>
                    <a:pt x="4140200" y="147574"/>
                  </a:cubicBezTo>
                  <a:lnTo>
                    <a:pt x="4140200" y="2840482"/>
                  </a:lnTo>
                  <a:cubicBezTo>
                    <a:pt x="4140200" y="2922016"/>
                    <a:pt x="4074160" y="2988056"/>
                    <a:pt x="3992626" y="2988056"/>
                  </a:cubicBezTo>
                  <a:lnTo>
                    <a:pt x="147574" y="2988056"/>
                  </a:lnTo>
                  <a:cubicBezTo>
                    <a:pt x="66040" y="2988056"/>
                    <a:pt x="0" y="2922016"/>
                    <a:pt x="0" y="2840482"/>
                  </a:cubicBezTo>
                  <a:close/>
                </a:path>
              </a:pathLst>
            </a:custGeom>
            <a:solidFill>
              <a:srgbClr val="FFFFFF"/>
            </a:solidFill>
            <a:ln w="19050" cap="sq">
              <a:solidFill>
                <a:srgbClr val="E2E8F0"/>
              </a:solidFill>
              <a:prstDash val="solid"/>
              <a:miter/>
            </a:ln>
          </p:spPr>
        </p:sp>
      </p:grpSp>
      <p:grpSp>
        <p:nvGrpSpPr>
          <p:cNvPr name="Group 84" id="84"/>
          <p:cNvGrpSpPr/>
          <p:nvPr/>
        </p:nvGrpSpPr>
        <p:grpSpPr>
          <a:xfrm rot="0">
            <a:off x="11864340" y="2063025"/>
            <a:ext cx="3086100" cy="576072"/>
            <a:chOff x="0" y="0"/>
            <a:chExt cx="4114800" cy="768096"/>
          </a:xfrm>
        </p:grpSpPr>
        <p:sp>
          <p:nvSpPr>
            <p:cNvPr name="Freeform 85" id="85"/>
            <p:cNvSpPr/>
            <p:nvPr/>
          </p:nvSpPr>
          <p:spPr>
            <a:xfrm flipH="false" flipV="false" rot="0">
              <a:off x="0" y="0"/>
              <a:ext cx="4114800" cy="768096"/>
            </a:xfrm>
            <a:custGeom>
              <a:avLst/>
              <a:gdLst/>
              <a:ahLst/>
              <a:cxnLst/>
              <a:rect r="r" b="b" t="t" l="l"/>
              <a:pathLst>
                <a:path h="768096" w="4114800">
                  <a:moveTo>
                    <a:pt x="0" y="146304"/>
                  </a:moveTo>
                  <a:cubicBezTo>
                    <a:pt x="0" y="65532"/>
                    <a:pt x="65532" y="0"/>
                    <a:pt x="146304" y="0"/>
                  </a:cubicBezTo>
                  <a:lnTo>
                    <a:pt x="3968496" y="0"/>
                  </a:lnTo>
                  <a:cubicBezTo>
                    <a:pt x="4049268" y="0"/>
                    <a:pt x="4114800" y="65532"/>
                    <a:pt x="4114800" y="146304"/>
                  </a:cubicBezTo>
                  <a:lnTo>
                    <a:pt x="4114800" y="621792"/>
                  </a:lnTo>
                  <a:cubicBezTo>
                    <a:pt x="4114800" y="702564"/>
                    <a:pt x="4049268" y="768096"/>
                    <a:pt x="3968496" y="768096"/>
                  </a:cubicBezTo>
                  <a:lnTo>
                    <a:pt x="146304" y="768096"/>
                  </a:lnTo>
                  <a:cubicBezTo>
                    <a:pt x="65532" y="768096"/>
                    <a:pt x="0" y="702564"/>
                    <a:pt x="0" y="621792"/>
                  </a:cubicBezTo>
                  <a:close/>
                </a:path>
              </a:pathLst>
            </a:custGeom>
            <a:solidFill>
              <a:srgbClr val="387F7F"/>
            </a:solidFill>
          </p:spPr>
        </p:sp>
      </p:grpSp>
      <p:grpSp>
        <p:nvGrpSpPr>
          <p:cNvPr name="Group 86" id="86"/>
          <p:cNvGrpSpPr/>
          <p:nvPr/>
        </p:nvGrpSpPr>
        <p:grpSpPr>
          <a:xfrm rot="0">
            <a:off x="11864340" y="2351061"/>
            <a:ext cx="3086100" cy="288036"/>
            <a:chOff x="0" y="0"/>
            <a:chExt cx="4114800" cy="384048"/>
          </a:xfrm>
        </p:grpSpPr>
        <p:sp>
          <p:nvSpPr>
            <p:cNvPr name="Freeform 87" id="87"/>
            <p:cNvSpPr/>
            <p:nvPr/>
          </p:nvSpPr>
          <p:spPr>
            <a:xfrm flipH="false" flipV="false" rot="0">
              <a:off x="0" y="0"/>
              <a:ext cx="4114800" cy="384048"/>
            </a:xfrm>
            <a:custGeom>
              <a:avLst/>
              <a:gdLst/>
              <a:ahLst/>
              <a:cxnLst/>
              <a:rect r="r" b="b" t="t" l="l"/>
              <a:pathLst>
                <a:path h="384048" w="4114800">
                  <a:moveTo>
                    <a:pt x="0" y="0"/>
                  </a:moveTo>
                  <a:lnTo>
                    <a:pt x="4114800" y="0"/>
                  </a:lnTo>
                  <a:lnTo>
                    <a:pt x="4114800" y="384048"/>
                  </a:lnTo>
                  <a:lnTo>
                    <a:pt x="0" y="384048"/>
                  </a:lnTo>
                  <a:close/>
                </a:path>
              </a:pathLst>
            </a:custGeom>
            <a:solidFill>
              <a:srgbClr val="387F7F"/>
            </a:solidFill>
          </p:spPr>
        </p:sp>
      </p:grpSp>
      <p:grpSp>
        <p:nvGrpSpPr>
          <p:cNvPr name="Group 88" id="88"/>
          <p:cNvGrpSpPr/>
          <p:nvPr/>
        </p:nvGrpSpPr>
        <p:grpSpPr>
          <a:xfrm rot="0">
            <a:off x="12001500" y="2063025"/>
            <a:ext cx="2811780" cy="576072"/>
            <a:chOff x="0" y="0"/>
            <a:chExt cx="3749040" cy="768096"/>
          </a:xfrm>
        </p:grpSpPr>
        <p:sp>
          <p:nvSpPr>
            <p:cNvPr name="Freeform 89" id="89"/>
            <p:cNvSpPr/>
            <p:nvPr/>
          </p:nvSpPr>
          <p:spPr>
            <a:xfrm flipH="false" flipV="false" rot="0">
              <a:off x="0" y="0"/>
              <a:ext cx="3749040" cy="768096"/>
            </a:xfrm>
            <a:custGeom>
              <a:avLst/>
              <a:gdLst/>
              <a:ahLst/>
              <a:cxnLst/>
              <a:rect r="r" b="b" t="t" l="l"/>
              <a:pathLst>
                <a:path h="768096" w="3749040">
                  <a:moveTo>
                    <a:pt x="0" y="0"/>
                  </a:moveTo>
                  <a:lnTo>
                    <a:pt x="3749040" y="0"/>
                  </a:lnTo>
                  <a:lnTo>
                    <a:pt x="3749040" y="768096"/>
                  </a:lnTo>
                  <a:lnTo>
                    <a:pt x="0" y="768096"/>
                  </a:lnTo>
                  <a:close/>
                </a:path>
              </a:pathLst>
            </a:custGeom>
            <a:blipFill>
              <a:blip r:embed="rId9">
                <a:alphaModFix amt="0"/>
              </a:blip>
              <a:stretch>
                <a:fillRect l="0" t="-45105" r="0" b="-45105"/>
              </a:stretch>
            </a:blipFill>
          </p:spPr>
        </p:sp>
        <p:sp>
          <p:nvSpPr>
            <p:cNvPr name="TextBox 90" id="90"/>
            <p:cNvSpPr txBox="true"/>
            <p:nvPr/>
          </p:nvSpPr>
          <p:spPr>
            <a:xfrm>
              <a:off x="0" y="-9525"/>
              <a:ext cx="3749040" cy="777621"/>
            </a:xfrm>
            <a:prstGeom prst="rect">
              <a:avLst/>
            </a:prstGeom>
          </p:spPr>
          <p:txBody>
            <a:bodyPr anchor="ctr" rtlCol="false" tIns="0" lIns="0" bIns="0" rIns="0"/>
            <a:lstStyle/>
            <a:p>
              <a:pPr algn="ctr">
                <a:lnSpc>
                  <a:spcPts val="1889"/>
                </a:lnSpc>
              </a:pPr>
              <a:r>
                <a:rPr lang="en-US" sz="1575" b="true">
                  <a:solidFill>
                    <a:srgbClr val="FFFFFF"/>
                  </a:solidFill>
                  <a:latin typeface="Poppins Bold"/>
                  <a:ea typeface="Poppins Bold"/>
                  <a:cs typeface="Poppins Bold"/>
                  <a:sym typeface="Poppins Bold"/>
                </a:rPr>
                <a:t>routes</a:t>
              </a:r>
            </a:p>
          </p:txBody>
        </p:sp>
      </p:grpSp>
      <p:grpSp>
        <p:nvGrpSpPr>
          <p:cNvPr name="Group 91" id="91"/>
          <p:cNvGrpSpPr/>
          <p:nvPr/>
        </p:nvGrpSpPr>
        <p:grpSpPr>
          <a:xfrm rot="0">
            <a:off x="12056364" y="2824263"/>
            <a:ext cx="164592" cy="164592"/>
            <a:chOff x="0" y="0"/>
            <a:chExt cx="219456" cy="219456"/>
          </a:xfrm>
        </p:grpSpPr>
        <p:sp>
          <p:nvSpPr>
            <p:cNvPr name="Freeform 92" id="92"/>
            <p:cNvSpPr/>
            <p:nvPr/>
          </p:nvSpPr>
          <p:spPr>
            <a:xfrm flipH="false" flipV="false" rot="0">
              <a:off x="0" y="0"/>
              <a:ext cx="219456" cy="219456"/>
            </a:xfrm>
            <a:custGeom>
              <a:avLst/>
              <a:gdLst/>
              <a:ahLst/>
              <a:cxnLst/>
              <a:rect r="r" b="b" t="t" l="l"/>
              <a:pathLst>
                <a:path h="219456" w="219456">
                  <a:moveTo>
                    <a:pt x="0" y="109728"/>
                  </a:moveTo>
                  <a:cubicBezTo>
                    <a:pt x="0" y="49149"/>
                    <a:pt x="49149" y="0"/>
                    <a:pt x="109728" y="0"/>
                  </a:cubicBezTo>
                  <a:cubicBezTo>
                    <a:pt x="170307" y="0"/>
                    <a:pt x="219456" y="49149"/>
                    <a:pt x="219456" y="109728"/>
                  </a:cubicBezTo>
                  <a:cubicBezTo>
                    <a:pt x="219456" y="170307"/>
                    <a:pt x="170307" y="219456"/>
                    <a:pt x="109728" y="219456"/>
                  </a:cubicBezTo>
                  <a:cubicBezTo>
                    <a:pt x="49149" y="219456"/>
                    <a:pt x="0" y="170307"/>
                    <a:pt x="0" y="109728"/>
                  </a:cubicBezTo>
                  <a:close/>
                </a:path>
              </a:pathLst>
            </a:custGeom>
            <a:solidFill>
              <a:srgbClr val="387F7F"/>
            </a:solidFill>
          </p:spPr>
        </p:sp>
      </p:grpSp>
      <p:grpSp>
        <p:nvGrpSpPr>
          <p:cNvPr name="Group 93" id="93"/>
          <p:cNvGrpSpPr/>
          <p:nvPr/>
        </p:nvGrpSpPr>
        <p:grpSpPr>
          <a:xfrm rot="0">
            <a:off x="12330684" y="2748825"/>
            <a:ext cx="2400300" cy="329184"/>
            <a:chOff x="0" y="0"/>
            <a:chExt cx="3200400" cy="438912"/>
          </a:xfrm>
        </p:grpSpPr>
        <p:sp>
          <p:nvSpPr>
            <p:cNvPr name="Freeform 94" id="94"/>
            <p:cNvSpPr/>
            <p:nvPr/>
          </p:nvSpPr>
          <p:spPr>
            <a:xfrm flipH="false" flipV="false" rot="0">
              <a:off x="0" y="0"/>
              <a:ext cx="3200400" cy="438912"/>
            </a:xfrm>
            <a:custGeom>
              <a:avLst/>
              <a:gdLst/>
              <a:ahLst/>
              <a:cxnLst/>
              <a:rect r="r" b="b" t="t" l="l"/>
              <a:pathLst>
                <a:path h="438912" w="3200400">
                  <a:moveTo>
                    <a:pt x="0" y="0"/>
                  </a:moveTo>
                  <a:lnTo>
                    <a:pt x="3200400" y="0"/>
                  </a:lnTo>
                  <a:lnTo>
                    <a:pt x="3200400" y="438912"/>
                  </a:lnTo>
                  <a:lnTo>
                    <a:pt x="0" y="438912"/>
                  </a:lnTo>
                  <a:close/>
                </a:path>
              </a:pathLst>
            </a:custGeom>
            <a:blipFill>
              <a:blip r:embed="rId9">
                <a:alphaModFix amt="0"/>
              </a:blip>
              <a:stretch>
                <a:fillRect l="0" t="-92078" r="0" b="-92078"/>
              </a:stretch>
            </a:blipFill>
          </p:spPr>
        </p:sp>
        <p:sp>
          <p:nvSpPr>
            <p:cNvPr name="TextBox 95" id="95"/>
            <p:cNvSpPr txBox="true"/>
            <p:nvPr/>
          </p:nvSpPr>
          <p:spPr>
            <a:xfrm>
              <a:off x="0" y="-19050"/>
              <a:ext cx="3200400" cy="457962"/>
            </a:xfrm>
            <a:prstGeom prst="rect">
              <a:avLst/>
            </a:prstGeom>
          </p:spPr>
          <p:txBody>
            <a:bodyPr anchor="ctr" rtlCol="false" tIns="0" lIns="0" bIns="0" rIns="0"/>
            <a:lstStyle/>
            <a:p>
              <a:pPr algn="l">
                <a:lnSpc>
                  <a:spcPts val="1800"/>
                </a:lnSpc>
              </a:pPr>
              <a:r>
                <a:rPr lang="en-US" sz="1500" b="true">
                  <a:solidFill>
                    <a:srgbClr val="0A1A23"/>
                  </a:solidFill>
                  <a:latin typeface="Poppins Bold"/>
                  <a:ea typeface="Poppins Bold"/>
                  <a:cs typeface="Poppins Bold"/>
                  <a:sym typeface="Poppins Bold"/>
                </a:rPr>
                <a:t>RouteID</a:t>
              </a:r>
            </a:p>
          </p:txBody>
        </p:sp>
      </p:grpSp>
      <p:grpSp>
        <p:nvGrpSpPr>
          <p:cNvPr name="Group 96" id="96"/>
          <p:cNvGrpSpPr/>
          <p:nvPr/>
        </p:nvGrpSpPr>
        <p:grpSpPr>
          <a:xfrm rot="0">
            <a:off x="12111228" y="3071151"/>
            <a:ext cx="2400300" cy="329184"/>
            <a:chOff x="0" y="0"/>
            <a:chExt cx="3200400" cy="438912"/>
          </a:xfrm>
        </p:grpSpPr>
        <p:sp>
          <p:nvSpPr>
            <p:cNvPr name="Freeform 97" id="97"/>
            <p:cNvSpPr/>
            <p:nvPr/>
          </p:nvSpPr>
          <p:spPr>
            <a:xfrm flipH="false" flipV="false" rot="0">
              <a:off x="0" y="0"/>
              <a:ext cx="3200400" cy="438912"/>
            </a:xfrm>
            <a:custGeom>
              <a:avLst/>
              <a:gdLst/>
              <a:ahLst/>
              <a:cxnLst/>
              <a:rect r="r" b="b" t="t" l="l"/>
              <a:pathLst>
                <a:path h="438912" w="3200400">
                  <a:moveTo>
                    <a:pt x="0" y="0"/>
                  </a:moveTo>
                  <a:lnTo>
                    <a:pt x="3200400" y="0"/>
                  </a:lnTo>
                  <a:lnTo>
                    <a:pt x="3200400" y="438912"/>
                  </a:lnTo>
                  <a:lnTo>
                    <a:pt x="0" y="438912"/>
                  </a:lnTo>
                  <a:close/>
                </a:path>
              </a:pathLst>
            </a:custGeom>
            <a:blipFill>
              <a:blip r:embed="rId9">
                <a:alphaModFix amt="0"/>
              </a:blip>
              <a:stretch>
                <a:fillRect l="0" t="-92078" r="0" b="-92078"/>
              </a:stretch>
            </a:blipFill>
          </p:spPr>
        </p:sp>
        <p:sp>
          <p:nvSpPr>
            <p:cNvPr name="TextBox 98" id="98"/>
            <p:cNvSpPr txBox="true"/>
            <p:nvPr/>
          </p:nvSpPr>
          <p:spPr>
            <a:xfrm>
              <a:off x="0" y="-19050"/>
              <a:ext cx="3200400" cy="457962"/>
            </a:xfrm>
            <a:prstGeom prst="rect">
              <a:avLst/>
            </a:prstGeom>
          </p:spPr>
          <p:txBody>
            <a:bodyPr anchor="ctr" rtlCol="false" tIns="0" lIns="0" bIns="0" rIns="0"/>
            <a:lstStyle/>
            <a:p>
              <a:pPr algn="l">
                <a:lnSpc>
                  <a:spcPts val="1800"/>
                </a:lnSpc>
              </a:pPr>
              <a:r>
                <a:rPr lang="en-US" sz="1500">
                  <a:solidFill>
                    <a:srgbClr val="64748B"/>
                  </a:solidFill>
                  <a:latin typeface="Poppins"/>
                  <a:ea typeface="Poppins"/>
                  <a:cs typeface="Poppins"/>
                  <a:sym typeface="Poppins"/>
                </a:rPr>
                <a:t>RouteName</a:t>
              </a:r>
            </a:p>
          </p:txBody>
        </p:sp>
      </p:grpSp>
      <p:grpSp>
        <p:nvGrpSpPr>
          <p:cNvPr name="Group 99" id="99"/>
          <p:cNvGrpSpPr/>
          <p:nvPr/>
        </p:nvGrpSpPr>
        <p:grpSpPr>
          <a:xfrm rot="0">
            <a:off x="12111228" y="3393477"/>
            <a:ext cx="2400300" cy="329184"/>
            <a:chOff x="0" y="0"/>
            <a:chExt cx="3200400" cy="438912"/>
          </a:xfrm>
        </p:grpSpPr>
        <p:sp>
          <p:nvSpPr>
            <p:cNvPr name="Freeform 100" id="100"/>
            <p:cNvSpPr/>
            <p:nvPr/>
          </p:nvSpPr>
          <p:spPr>
            <a:xfrm flipH="false" flipV="false" rot="0">
              <a:off x="0" y="0"/>
              <a:ext cx="3200400" cy="438912"/>
            </a:xfrm>
            <a:custGeom>
              <a:avLst/>
              <a:gdLst/>
              <a:ahLst/>
              <a:cxnLst/>
              <a:rect r="r" b="b" t="t" l="l"/>
              <a:pathLst>
                <a:path h="438912" w="3200400">
                  <a:moveTo>
                    <a:pt x="0" y="0"/>
                  </a:moveTo>
                  <a:lnTo>
                    <a:pt x="3200400" y="0"/>
                  </a:lnTo>
                  <a:lnTo>
                    <a:pt x="3200400" y="438912"/>
                  </a:lnTo>
                  <a:lnTo>
                    <a:pt x="0" y="438912"/>
                  </a:lnTo>
                  <a:close/>
                </a:path>
              </a:pathLst>
            </a:custGeom>
            <a:blipFill>
              <a:blip r:embed="rId9">
                <a:alphaModFix amt="0"/>
              </a:blip>
              <a:stretch>
                <a:fillRect l="0" t="-92078" r="0" b="-92078"/>
              </a:stretch>
            </a:blipFill>
          </p:spPr>
        </p:sp>
        <p:sp>
          <p:nvSpPr>
            <p:cNvPr name="TextBox 101" id="101"/>
            <p:cNvSpPr txBox="true"/>
            <p:nvPr/>
          </p:nvSpPr>
          <p:spPr>
            <a:xfrm>
              <a:off x="0" y="-19050"/>
              <a:ext cx="3200400" cy="457962"/>
            </a:xfrm>
            <a:prstGeom prst="rect">
              <a:avLst/>
            </a:prstGeom>
          </p:spPr>
          <p:txBody>
            <a:bodyPr anchor="ctr" rtlCol="false" tIns="0" lIns="0" bIns="0" rIns="0"/>
            <a:lstStyle/>
            <a:p>
              <a:pPr algn="l">
                <a:lnSpc>
                  <a:spcPts val="1800"/>
                </a:lnSpc>
              </a:pPr>
              <a:r>
                <a:rPr lang="en-US" sz="1500">
                  <a:solidFill>
                    <a:srgbClr val="64748B"/>
                  </a:solidFill>
                  <a:latin typeface="Poppins"/>
                  <a:ea typeface="Poppins"/>
                  <a:cs typeface="Poppins"/>
                  <a:sym typeface="Poppins"/>
                </a:rPr>
                <a:t>DistanceKm</a:t>
              </a:r>
            </a:p>
          </p:txBody>
        </p:sp>
      </p:grpSp>
      <p:grpSp>
        <p:nvGrpSpPr>
          <p:cNvPr name="Group 102" id="102"/>
          <p:cNvGrpSpPr/>
          <p:nvPr/>
        </p:nvGrpSpPr>
        <p:grpSpPr>
          <a:xfrm rot="0">
            <a:off x="12111228" y="3715803"/>
            <a:ext cx="2400300" cy="329184"/>
            <a:chOff x="0" y="0"/>
            <a:chExt cx="3200400" cy="438912"/>
          </a:xfrm>
        </p:grpSpPr>
        <p:sp>
          <p:nvSpPr>
            <p:cNvPr name="Freeform 103" id="103"/>
            <p:cNvSpPr/>
            <p:nvPr/>
          </p:nvSpPr>
          <p:spPr>
            <a:xfrm flipH="false" flipV="false" rot="0">
              <a:off x="0" y="0"/>
              <a:ext cx="3200400" cy="438912"/>
            </a:xfrm>
            <a:custGeom>
              <a:avLst/>
              <a:gdLst/>
              <a:ahLst/>
              <a:cxnLst/>
              <a:rect r="r" b="b" t="t" l="l"/>
              <a:pathLst>
                <a:path h="438912" w="3200400">
                  <a:moveTo>
                    <a:pt x="0" y="0"/>
                  </a:moveTo>
                  <a:lnTo>
                    <a:pt x="3200400" y="0"/>
                  </a:lnTo>
                  <a:lnTo>
                    <a:pt x="3200400" y="438912"/>
                  </a:lnTo>
                  <a:lnTo>
                    <a:pt x="0" y="438912"/>
                  </a:lnTo>
                  <a:close/>
                </a:path>
              </a:pathLst>
            </a:custGeom>
            <a:blipFill>
              <a:blip r:embed="rId9">
                <a:alphaModFix amt="0"/>
              </a:blip>
              <a:stretch>
                <a:fillRect l="0" t="-92078" r="0" b="-92078"/>
              </a:stretch>
            </a:blipFill>
          </p:spPr>
        </p:sp>
        <p:sp>
          <p:nvSpPr>
            <p:cNvPr name="TextBox 104" id="104"/>
            <p:cNvSpPr txBox="true"/>
            <p:nvPr/>
          </p:nvSpPr>
          <p:spPr>
            <a:xfrm>
              <a:off x="0" y="-19050"/>
              <a:ext cx="3200400" cy="457962"/>
            </a:xfrm>
            <a:prstGeom prst="rect">
              <a:avLst/>
            </a:prstGeom>
          </p:spPr>
          <p:txBody>
            <a:bodyPr anchor="ctr" rtlCol="false" tIns="0" lIns="0" bIns="0" rIns="0"/>
            <a:lstStyle/>
            <a:p>
              <a:pPr algn="l">
                <a:lnSpc>
                  <a:spcPts val="1800"/>
                </a:lnSpc>
              </a:pPr>
              <a:r>
                <a:rPr lang="en-US" sz="1500">
                  <a:solidFill>
                    <a:srgbClr val="64748B"/>
                  </a:solidFill>
                  <a:latin typeface="Poppins"/>
                  <a:ea typeface="Poppins"/>
                  <a:cs typeface="Poppins"/>
                  <a:sym typeface="Poppins"/>
                </a:rPr>
                <a:t>ZoneTier</a:t>
              </a:r>
            </a:p>
          </p:txBody>
        </p:sp>
      </p:grpSp>
      <p:grpSp>
        <p:nvGrpSpPr>
          <p:cNvPr name="Group 105" id="105"/>
          <p:cNvGrpSpPr/>
          <p:nvPr/>
        </p:nvGrpSpPr>
        <p:grpSpPr>
          <a:xfrm rot="0">
            <a:off x="2116455" y="6442620"/>
            <a:ext cx="3105150" cy="1939290"/>
            <a:chOff x="0" y="0"/>
            <a:chExt cx="4140200" cy="2585720"/>
          </a:xfrm>
        </p:grpSpPr>
        <p:sp>
          <p:nvSpPr>
            <p:cNvPr name="Freeform 106" id="106"/>
            <p:cNvSpPr/>
            <p:nvPr/>
          </p:nvSpPr>
          <p:spPr>
            <a:xfrm flipH="false" flipV="false" rot="0">
              <a:off x="0" y="0"/>
              <a:ext cx="4140200" cy="2585720"/>
            </a:xfrm>
            <a:custGeom>
              <a:avLst/>
              <a:gdLst/>
              <a:ahLst/>
              <a:cxnLst/>
              <a:rect r="r" b="b" t="t" l="l"/>
              <a:pathLst>
                <a:path h="2585720" w="4140200">
                  <a:moveTo>
                    <a:pt x="0" y="147701"/>
                  </a:moveTo>
                  <a:cubicBezTo>
                    <a:pt x="0" y="66167"/>
                    <a:pt x="66167" y="0"/>
                    <a:pt x="147701" y="0"/>
                  </a:cubicBezTo>
                  <a:lnTo>
                    <a:pt x="3992499" y="0"/>
                  </a:lnTo>
                  <a:cubicBezTo>
                    <a:pt x="4074033" y="0"/>
                    <a:pt x="4140200" y="66167"/>
                    <a:pt x="4140200" y="147701"/>
                  </a:cubicBezTo>
                  <a:lnTo>
                    <a:pt x="4140200" y="2438019"/>
                  </a:lnTo>
                  <a:cubicBezTo>
                    <a:pt x="4140200" y="2519680"/>
                    <a:pt x="4074033" y="2585720"/>
                    <a:pt x="3992499" y="2585720"/>
                  </a:cubicBezTo>
                  <a:lnTo>
                    <a:pt x="147701" y="2585720"/>
                  </a:lnTo>
                  <a:cubicBezTo>
                    <a:pt x="66167" y="2585720"/>
                    <a:pt x="0" y="2519553"/>
                    <a:pt x="0" y="2438019"/>
                  </a:cubicBezTo>
                  <a:close/>
                </a:path>
              </a:pathLst>
            </a:custGeom>
            <a:solidFill>
              <a:srgbClr val="FFFFFF"/>
            </a:solidFill>
            <a:ln w="19050" cap="sq">
              <a:solidFill>
                <a:srgbClr val="E2E8F0"/>
              </a:solidFill>
              <a:prstDash val="solid"/>
              <a:miter/>
            </a:ln>
          </p:spPr>
        </p:sp>
      </p:grpSp>
      <p:grpSp>
        <p:nvGrpSpPr>
          <p:cNvPr name="Group 107" id="107"/>
          <p:cNvGrpSpPr/>
          <p:nvPr/>
        </p:nvGrpSpPr>
        <p:grpSpPr>
          <a:xfrm rot="0">
            <a:off x="2125980" y="6452145"/>
            <a:ext cx="3086100" cy="576072"/>
            <a:chOff x="0" y="0"/>
            <a:chExt cx="4114800" cy="768096"/>
          </a:xfrm>
        </p:grpSpPr>
        <p:sp>
          <p:nvSpPr>
            <p:cNvPr name="Freeform 108" id="108"/>
            <p:cNvSpPr/>
            <p:nvPr/>
          </p:nvSpPr>
          <p:spPr>
            <a:xfrm flipH="false" flipV="false" rot="0">
              <a:off x="0" y="0"/>
              <a:ext cx="4114800" cy="768096"/>
            </a:xfrm>
            <a:custGeom>
              <a:avLst/>
              <a:gdLst/>
              <a:ahLst/>
              <a:cxnLst/>
              <a:rect r="r" b="b" t="t" l="l"/>
              <a:pathLst>
                <a:path h="768096" w="4114800">
                  <a:moveTo>
                    <a:pt x="0" y="146304"/>
                  </a:moveTo>
                  <a:cubicBezTo>
                    <a:pt x="0" y="65532"/>
                    <a:pt x="65532" y="0"/>
                    <a:pt x="146304" y="0"/>
                  </a:cubicBezTo>
                  <a:lnTo>
                    <a:pt x="3968496" y="0"/>
                  </a:lnTo>
                  <a:cubicBezTo>
                    <a:pt x="4049268" y="0"/>
                    <a:pt x="4114800" y="65532"/>
                    <a:pt x="4114800" y="146304"/>
                  </a:cubicBezTo>
                  <a:lnTo>
                    <a:pt x="4114800" y="621792"/>
                  </a:lnTo>
                  <a:cubicBezTo>
                    <a:pt x="4114800" y="702564"/>
                    <a:pt x="4049268" y="768096"/>
                    <a:pt x="3968496" y="768096"/>
                  </a:cubicBezTo>
                  <a:lnTo>
                    <a:pt x="146304" y="768096"/>
                  </a:lnTo>
                  <a:cubicBezTo>
                    <a:pt x="65532" y="768096"/>
                    <a:pt x="0" y="702564"/>
                    <a:pt x="0" y="621792"/>
                  </a:cubicBezTo>
                  <a:close/>
                </a:path>
              </a:pathLst>
            </a:custGeom>
            <a:solidFill>
              <a:srgbClr val="387F7F"/>
            </a:solidFill>
          </p:spPr>
        </p:sp>
      </p:grpSp>
      <p:grpSp>
        <p:nvGrpSpPr>
          <p:cNvPr name="Group 109" id="109"/>
          <p:cNvGrpSpPr/>
          <p:nvPr/>
        </p:nvGrpSpPr>
        <p:grpSpPr>
          <a:xfrm rot="0">
            <a:off x="2125980" y="6740181"/>
            <a:ext cx="3086100" cy="288036"/>
            <a:chOff x="0" y="0"/>
            <a:chExt cx="4114800" cy="384048"/>
          </a:xfrm>
        </p:grpSpPr>
        <p:sp>
          <p:nvSpPr>
            <p:cNvPr name="Freeform 110" id="110"/>
            <p:cNvSpPr/>
            <p:nvPr/>
          </p:nvSpPr>
          <p:spPr>
            <a:xfrm flipH="false" flipV="false" rot="0">
              <a:off x="0" y="0"/>
              <a:ext cx="4114800" cy="384048"/>
            </a:xfrm>
            <a:custGeom>
              <a:avLst/>
              <a:gdLst/>
              <a:ahLst/>
              <a:cxnLst/>
              <a:rect r="r" b="b" t="t" l="l"/>
              <a:pathLst>
                <a:path h="384048" w="4114800">
                  <a:moveTo>
                    <a:pt x="0" y="0"/>
                  </a:moveTo>
                  <a:lnTo>
                    <a:pt x="4114800" y="0"/>
                  </a:lnTo>
                  <a:lnTo>
                    <a:pt x="4114800" y="384048"/>
                  </a:lnTo>
                  <a:lnTo>
                    <a:pt x="0" y="384048"/>
                  </a:lnTo>
                  <a:close/>
                </a:path>
              </a:pathLst>
            </a:custGeom>
            <a:solidFill>
              <a:srgbClr val="387F7F"/>
            </a:solidFill>
          </p:spPr>
        </p:sp>
      </p:grpSp>
      <p:grpSp>
        <p:nvGrpSpPr>
          <p:cNvPr name="Group 111" id="111"/>
          <p:cNvGrpSpPr/>
          <p:nvPr/>
        </p:nvGrpSpPr>
        <p:grpSpPr>
          <a:xfrm rot="0">
            <a:off x="2263140" y="6452145"/>
            <a:ext cx="2811780" cy="576072"/>
            <a:chOff x="0" y="0"/>
            <a:chExt cx="3749040" cy="768096"/>
          </a:xfrm>
        </p:grpSpPr>
        <p:sp>
          <p:nvSpPr>
            <p:cNvPr name="Freeform 112" id="112"/>
            <p:cNvSpPr/>
            <p:nvPr/>
          </p:nvSpPr>
          <p:spPr>
            <a:xfrm flipH="false" flipV="false" rot="0">
              <a:off x="0" y="0"/>
              <a:ext cx="3749040" cy="768096"/>
            </a:xfrm>
            <a:custGeom>
              <a:avLst/>
              <a:gdLst/>
              <a:ahLst/>
              <a:cxnLst/>
              <a:rect r="r" b="b" t="t" l="l"/>
              <a:pathLst>
                <a:path h="768096" w="3749040">
                  <a:moveTo>
                    <a:pt x="0" y="0"/>
                  </a:moveTo>
                  <a:lnTo>
                    <a:pt x="3749040" y="0"/>
                  </a:lnTo>
                  <a:lnTo>
                    <a:pt x="3749040" y="768096"/>
                  </a:lnTo>
                  <a:lnTo>
                    <a:pt x="0" y="768096"/>
                  </a:lnTo>
                  <a:close/>
                </a:path>
              </a:pathLst>
            </a:custGeom>
            <a:blipFill>
              <a:blip r:embed="rId9">
                <a:alphaModFix amt="0"/>
              </a:blip>
              <a:stretch>
                <a:fillRect l="0" t="-45105" r="0" b="-45105"/>
              </a:stretch>
            </a:blipFill>
          </p:spPr>
        </p:sp>
        <p:sp>
          <p:nvSpPr>
            <p:cNvPr name="TextBox 113" id="113"/>
            <p:cNvSpPr txBox="true"/>
            <p:nvPr/>
          </p:nvSpPr>
          <p:spPr>
            <a:xfrm>
              <a:off x="0" y="-9525"/>
              <a:ext cx="3749040" cy="777621"/>
            </a:xfrm>
            <a:prstGeom prst="rect">
              <a:avLst/>
            </a:prstGeom>
          </p:spPr>
          <p:txBody>
            <a:bodyPr anchor="ctr" rtlCol="false" tIns="0" lIns="0" bIns="0" rIns="0"/>
            <a:lstStyle/>
            <a:p>
              <a:pPr algn="ctr">
                <a:lnSpc>
                  <a:spcPts val="1889"/>
                </a:lnSpc>
              </a:pPr>
              <a:r>
                <a:rPr lang="en-US" sz="1575" b="true">
                  <a:solidFill>
                    <a:srgbClr val="FFFFFF"/>
                  </a:solidFill>
                  <a:latin typeface="Poppins Bold"/>
                  <a:ea typeface="Poppins Bold"/>
                  <a:cs typeface="Poppins Bold"/>
                  <a:sym typeface="Poppins Bold"/>
                </a:rPr>
                <a:t>customers_business</a:t>
              </a:r>
            </a:p>
          </p:txBody>
        </p:sp>
      </p:grpSp>
      <p:grpSp>
        <p:nvGrpSpPr>
          <p:cNvPr name="Group 114" id="114"/>
          <p:cNvGrpSpPr/>
          <p:nvPr/>
        </p:nvGrpSpPr>
        <p:grpSpPr>
          <a:xfrm rot="0">
            <a:off x="2318004" y="7213383"/>
            <a:ext cx="164592" cy="164592"/>
            <a:chOff x="0" y="0"/>
            <a:chExt cx="219456" cy="219456"/>
          </a:xfrm>
        </p:grpSpPr>
        <p:sp>
          <p:nvSpPr>
            <p:cNvPr name="Freeform 115" id="115"/>
            <p:cNvSpPr/>
            <p:nvPr/>
          </p:nvSpPr>
          <p:spPr>
            <a:xfrm flipH="false" flipV="false" rot="0">
              <a:off x="0" y="0"/>
              <a:ext cx="219456" cy="219456"/>
            </a:xfrm>
            <a:custGeom>
              <a:avLst/>
              <a:gdLst/>
              <a:ahLst/>
              <a:cxnLst/>
              <a:rect r="r" b="b" t="t" l="l"/>
              <a:pathLst>
                <a:path h="219456" w="219456">
                  <a:moveTo>
                    <a:pt x="0" y="109728"/>
                  </a:moveTo>
                  <a:cubicBezTo>
                    <a:pt x="0" y="49149"/>
                    <a:pt x="49149" y="0"/>
                    <a:pt x="109728" y="0"/>
                  </a:cubicBezTo>
                  <a:cubicBezTo>
                    <a:pt x="170307" y="0"/>
                    <a:pt x="219456" y="49149"/>
                    <a:pt x="219456" y="109728"/>
                  </a:cubicBezTo>
                  <a:cubicBezTo>
                    <a:pt x="219456" y="170307"/>
                    <a:pt x="170307" y="219456"/>
                    <a:pt x="109728" y="219456"/>
                  </a:cubicBezTo>
                  <a:cubicBezTo>
                    <a:pt x="49149" y="219456"/>
                    <a:pt x="0" y="170307"/>
                    <a:pt x="0" y="109728"/>
                  </a:cubicBezTo>
                  <a:close/>
                </a:path>
              </a:pathLst>
            </a:custGeom>
            <a:solidFill>
              <a:srgbClr val="387F7F"/>
            </a:solidFill>
          </p:spPr>
        </p:sp>
      </p:grpSp>
      <p:grpSp>
        <p:nvGrpSpPr>
          <p:cNvPr name="Group 116" id="116"/>
          <p:cNvGrpSpPr/>
          <p:nvPr/>
        </p:nvGrpSpPr>
        <p:grpSpPr>
          <a:xfrm rot="0">
            <a:off x="2592324" y="7137945"/>
            <a:ext cx="2400300" cy="329184"/>
            <a:chOff x="0" y="0"/>
            <a:chExt cx="3200400" cy="438912"/>
          </a:xfrm>
        </p:grpSpPr>
        <p:sp>
          <p:nvSpPr>
            <p:cNvPr name="Freeform 117" id="117"/>
            <p:cNvSpPr/>
            <p:nvPr/>
          </p:nvSpPr>
          <p:spPr>
            <a:xfrm flipH="false" flipV="false" rot="0">
              <a:off x="0" y="0"/>
              <a:ext cx="3200400" cy="438912"/>
            </a:xfrm>
            <a:custGeom>
              <a:avLst/>
              <a:gdLst/>
              <a:ahLst/>
              <a:cxnLst/>
              <a:rect r="r" b="b" t="t" l="l"/>
              <a:pathLst>
                <a:path h="438912" w="3200400">
                  <a:moveTo>
                    <a:pt x="0" y="0"/>
                  </a:moveTo>
                  <a:lnTo>
                    <a:pt x="3200400" y="0"/>
                  </a:lnTo>
                  <a:lnTo>
                    <a:pt x="3200400" y="438912"/>
                  </a:lnTo>
                  <a:lnTo>
                    <a:pt x="0" y="438912"/>
                  </a:lnTo>
                  <a:close/>
                </a:path>
              </a:pathLst>
            </a:custGeom>
            <a:blipFill>
              <a:blip r:embed="rId9">
                <a:alphaModFix amt="0"/>
              </a:blip>
              <a:stretch>
                <a:fillRect l="0" t="-92078" r="0" b="-92078"/>
              </a:stretch>
            </a:blipFill>
          </p:spPr>
        </p:sp>
        <p:sp>
          <p:nvSpPr>
            <p:cNvPr name="TextBox 118" id="118"/>
            <p:cNvSpPr txBox="true"/>
            <p:nvPr/>
          </p:nvSpPr>
          <p:spPr>
            <a:xfrm>
              <a:off x="0" y="-19050"/>
              <a:ext cx="3200400" cy="457962"/>
            </a:xfrm>
            <a:prstGeom prst="rect">
              <a:avLst/>
            </a:prstGeom>
          </p:spPr>
          <p:txBody>
            <a:bodyPr anchor="ctr" rtlCol="false" tIns="0" lIns="0" bIns="0" rIns="0"/>
            <a:lstStyle/>
            <a:p>
              <a:pPr algn="l">
                <a:lnSpc>
                  <a:spcPts val="1800"/>
                </a:lnSpc>
              </a:pPr>
              <a:r>
                <a:rPr lang="en-US" sz="1500" b="true">
                  <a:solidFill>
                    <a:srgbClr val="0A1A23"/>
                  </a:solidFill>
                  <a:latin typeface="Poppins Bold"/>
                  <a:ea typeface="Poppins Bold"/>
                  <a:cs typeface="Poppins Bold"/>
                  <a:sym typeface="Poppins Bold"/>
                </a:rPr>
                <a:t>CustomerID</a:t>
              </a:r>
            </a:p>
          </p:txBody>
        </p:sp>
      </p:grpSp>
      <p:grpSp>
        <p:nvGrpSpPr>
          <p:cNvPr name="Group 119" id="119"/>
          <p:cNvGrpSpPr/>
          <p:nvPr/>
        </p:nvGrpSpPr>
        <p:grpSpPr>
          <a:xfrm rot="0">
            <a:off x="2372868" y="7460271"/>
            <a:ext cx="2400300" cy="329184"/>
            <a:chOff x="0" y="0"/>
            <a:chExt cx="3200400" cy="438912"/>
          </a:xfrm>
        </p:grpSpPr>
        <p:sp>
          <p:nvSpPr>
            <p:cNvPr name="Freeform 120" id="120"/>
            <p:cNvSpPr/>
            <p:nvPr/>
          </p:nvSpPr>
          <p:spPr>
            <a:xfrm flipH="false" flipV="false" rot="0">
              <a:off x="0" y="0"/>
              <a:ext cx="3200400" cy="438912"/>
            </a:xfrm>
            <a:custGeom>
              <a:avLst/>
              <a:gdLst/>
              <a:ahLst/>
              <a:cxnLst/>
              <a:rect r="r" b="b" t="t" l="l"/>
              <a:pathLst>
                <a:path h="438912" w="3200400">
                  <a:moveTo>
                    <a:pt x="0" y="0"/>
                  </a:moveTo>
                  <a:lnTo>
                    <a:pt x="3200400" y="0"/>
                  </a:lnTo>
                  <a:lnTo>
                    <a:pt x="3200400" y="438912"/>
                  </a:lnTo>
                  <a:lnTo>
                    <a:pt x="0" y="438912"/>
                  </a:lnTo>
                  <a:close/>
                </a:path>
              </a:pathLst>
            </a:custGeom>
            <a:blipFill>
              <a:blip r:embed="rId9">
                <a:alphaModFix amt="0"/>
              </a:blip>
              <a:stretch>
                <a:fillRect l="0" t="-92078" r="0" b="-92078"/>
              </a:stretch>
            </a:blipFill>
          </p:spPr>
        </p:sp>
        <p:sp>
          <p:nvSpPr>
            <p:cNvPr name="TextBox 121" id="121"/>
            <p:cNvSpPr txBox="true"/>
            <p:nvPr/>
          </p:nvSpPr>
          <p:spPr>
            <a:xfrm>
              <a:off x="0" y="-19050"/>
              <a:ext cx="3200400" cy="457962"/>
            </a:xfrm>
            <a:prstGeom prst="rect">
              <a:avLst/>
            </a:prstGeom>
          </p:spPr>
          <p:txBody>
            <a:bodyPr anchor="ctr" rtlCol="false" tIns="0" lIns="0" bIns="0" rIns="0"/>
            <a:lstStyle/>
            <a:p>
              <a:pPr algn="l">
                <a:lnSpc>
                  <a:spcPts val="1800"/>
                </a:lnSpc>
              </a:pPr>
              <a:r>
                <a:rPr lang="en-US" sz="1500">
                  <a:solidFill>
                    <a:srgbClr val="64748B"/>
                  </a:solidFill>
                  <a:latin typeface="Poppins"/>
                  <a:ea typeface="Poppins"/>
                  <a:cs typeface="Poppins"/>
                  <a:sym typeface="Poppins"/>
                </a:rPr>
                <a:t>BusinessName</a:t>
              </a:r>
            </a:p>
          </p:txBody>
        </p:sp>
      </p:grpSp>
      <p:grpSp>
        <p:nvGrpSpPr>
          <p:cNvPr name="Group 122" id="122"/>
          <p:cNvGrpSpPr/>
          <p:nvPr/>
        </p:nvGrpSpPr>
        <p:grpSpPr>
          <a:xfrm rot="0">
            <a:off x="2372868" y="7782597"/>
            <a:ext cx="2400300" cy="329184"/>
            <a:chOff x="0" y="0"/>
            <a:chExt cx="3200400" cy="438912"/>
          </a:xfrm>
        </p:grpSpPr>
        <p:sp>
          <p:nvSpPr>
            <p:cNvPr name="Freeform 123" id="123"/>
            <p:cNvSpPr/>
            <p:nvPr/>
          </p:nvSpPr>
          <p:spPr>
            <a:xfrm flipH="false" flipV="false" rot="0">
              <a:off x="0" y="0"/>
              <a:ext cx="3200400" cy="438912"/>
            </a:xfrm>
            <a:custGeom>
              <a:avLst/>
              <a:gdLst/>
              <a:ahLst/>
              <a:cxnLst/>
              <a:rect r="r" b="b" t="t" l="l"/>
              <a:pathLst>
                <a:path h="438912" w="3200400">
                  <a:moveTo>
                    <a:pt x="0" y="0"/>
                  </a:moveTo>
                  <a:lnTo>
                    <a:pt x="3200400" y="0"/>
                  </a:lnTo>
                  <a:lnTo>
                    <a:pt x="3200400" y="438912"/>
                  </a:lnTo>
                  <a:lnTo>
                    <a:pt x="0" y="438912"/>
                  </a:lnTo>
                  <a:close/>
                </a:path>
              </a:pathLst>
            </a:custGeom>
            <a:blipFill>
              <a:blip r:embed="rId9">
                <a:alphaModFix amt="0"/>
              </a:blip>
              <a:stretch>
                <a:fillRect l="0" t="-92078" r="0" b="-92078"/>
              </a:stretch>
            </a:blipFill>
          </p:spPr>
        </p:sp>
        <p:sp>
          <p:nvSpPr>
            <p:cNvPr name="TextBox 124" id="124"/>
            <p:cNvSpPr txBox="true"/>
            <p:nvPr/>
          </p:nvSpPr>
          <p:spPr>
            <a:xfrm>
              <a:off x="0" y="-19050"/>
              <a:ext cx="3200400" cy="457962"/>
            </a:xfrm>
            <a:prstGeom prst="rect">
              <a:avLst/>
            </a:prstGeom>
          </p:spPr>
          <p:txBody>
            <a:bodyPr anchor="ctr" rtlCol="false" tIns="0" lIns="0" bIns="0" rIns="0"/>
            <a:lstStyle/>
            <a:p>
              <a:pPr algn="l">
                <a:lnSpc>
                  <a:spcPts val="1800"/>
                </a:lnSpc>
              </a:pPr>
              <a:r>
                <a:rPr lang="en-US" sz="1500">
                  <a:solidFill>
                    <a:srgbClr val="64748B"/>
                  </a:solidFill>
                  <a:latin typeface="Poppins"/>
                  <a:ea typeface="Poppins"/>
                  <a:cs typeface="Poppins"/>
                  <a:sym typeface="Poppins"/>
                </a:rPr>
                <a:t>Sector</a:t>
              </a:r>
            </a:p>
          </p:txBody>
        </p:sp>
      </p:grpSp>
      <p:grpSp>
        <p:nvGrpSpPr>
          <p:cNvPr name="Group 125" id="125"/>
          <p:cNvGrpSpPr/>
          <p:nvPr/>
        </p:nvGrpSpPr>
        <p:grpSpPr>
          <a:xfrm rot="0">
            <a:off x="11854815" y="6442620"/>
            <a:ext cx="3105150" cy="2241042"/>
            <a:chOff x="0" y="0"/>
            <a:chExt cx="4140200" cy="2988056"/>
          </a:xfrm>
        </p:grpSpPr>
        <p:sp>
          <p:nvSpPr>
            <p:cNvPr name="Freeform 126" id="126"/>
            <p:cNvSpPr/>
            <p:nvPr/>
          </p:nvSpPr>
          <p:spPr>
            <a:xfrm flipH="false" flipV="false" rot="0">
              <a:off x="0" y="0"/>
              <a:ext cx="4140200" cy="2988056"/>
            </a:xfrm>
            <a:custGeom>
              <a:avLst/>
              <a:gdLst/>
              <a:ahLst/>
              <a:cxnLst/>
              <a:rect r="r" b="b" t="t" l="l"/>
              <a:pathLst>
                <a:path h="2988056" w="4140200">
                  <a:moveTo>
                    <a:pt x="0" y="147574"/>
                  </a:moveTo>
                  <a:cubicBezTo>
                    <a:pt x="0" y="66040"/>
                    <a:pt x="66040" y="0"/>
                    <a:pt x="147574" y="0"/>
                  </a:cubicBezTo>
                  <a:lnTo>
                    <a:pt x="3992626" y="0"/>
                  </a:lnTo>
                  <a:cubicBezTo>
                    <a:pt x="4074160" y="0"/>
                    <a:pt x="4140200" y="66040"/>
                    <a:pt x="4140200" y="147574"/>
                  </a:cubicBezTo>
                  <a:lnTo>
                    <a:pt x="4140200" y="2840482"/>
                  </a:lnTo>
                  <a:cubicBezTo>
                    <a:pt x="4140200" y="2922016"/>
                    <a:pt x="4074160" y="2988056"/>
                    <a:pt x="3992626" y="2988056"/>
                  </a:cubicBezTo>
                  <a:lnTo>
                    <a:pt x="147574" y="2988056"/>
                  </a:lnTo>
                  <a:cubicBezTo>
                    <a:pt x="66040" y="2988056"/>
                    <a:pt x="0" y="2922016"/>
                    <a:pt x="0" y="2840482"/>
                  </a:cubicBezTo>
                  <a:close/>
                </a:path>
              </a:pathLst>
            </a:custGeom>
            <a:solidFill>
              <a:srgbClr val="FFFFFF"/>
            </a:solidFill>
            <a:ln w="19050" cap="sq">
              <a:solidFill>
                <a:srgbClr val="E2E8F0"/>
              </a:solidFill>
              <a:prstDash val="solid"/>
              <a:miter/>
            </a:ln>
          </p:spPr>
        </p:sp>
      </p:grpSp>
      <p:grpSp>
        <p:nvGrpSpPr>
          <p:cNvPr name="Group 127" id="127"/>
          <p:cNvGrpSpPr/>
          <p:nvPr/>
        </p:nvGrpSpPr>
        <p:grpSpPr>
          <a:xfrm rot="0">
            <a:off x="11864340" y="6452145"/>
            <a:ext cx="3086100" cy="576072"/>
            <a:chOff x="0" y="0"/>
            <a:chExt cx="4114800" cy="768096"/>
          </a:xfrm>
        </p:grpSpPr>
        <p:sp>
          <p:nvSpPr>
            <p:cNvPr name="Freeform 128" id="128"/>
            <p:cNvSpPr/>
            <p:nvPr/>
          </p:nvSpPr>
          <p:spPr>
            <a:xfrm flipH="false" flipV="false" rot="0">
              <a:off x="0" y="0"/>
              <a:ext cx="4114800" cy="768096"/>
            </a:xfrm>
            <a:custGeom>
              <a:avLst/>
              <a:gdLst/>
              <a:ahLst/>
              <a:cxnLst/>
              <a:rect r="r" b="b" t="t" l="l"/>
              <a:pathLst>
                <a:path h="768096" w="4114800">
                  <a:moveTo>
                    <a:pt x="0" y="146304"/>
                  </a:moveTo>
                  <a:cubicBezTo>
                    <a:pt x="0" y="65532"/>
                    <a:pt x="65532" y="0"/>
                    <a:pt x="146304" y="0"/>
                  </a:cubicBezTo>
                  <a:lnTo>
                    <a:pt x="3968496" y="0"/>
                  </a:lnTo>
                  <a:cubicBezTo>
                    <a:pt x="4049268" y="0"/>
                    <a:pt x="4114800" y="65532"/>
                    <a:pt x="4114800" y="146304"/>
                  </a:cubicBezTo>
                  <a:lnTo>
                    <a:pt x="4114800" y="621792"/>
                  </a:lnTo>
                  <a:cubicBezTo>
                    <a:pt x="4114800" y="702564"/>
                    <a:pt x="4049268" y="768096"/>
                    <a:pt x="3968496" y="768096"/>
                  </a:cubicBezTo>
                  <a:lnTo>
                    <a:pt x="146304" y="768096"/>
                  </a:lnTo>
                  <a:cubicBezTo>
                    <a:pt x="65532" y="768096"/>
                    <a:pt x="0" y="702564"/>
                    <a:pt x="0" y="621792"/>
                  </a:cubicBezTo>
                  <a:close/>
                </a:path>
              </a:pathLst>
            </a:custGeom>
            <a:solidFill>
              <a:srgbClr val="387F7F"/>
            </a:solidFill>
          </p:spPr>
        </p:sp>
      </p:grpSp>
      <p:grpSp>
        <p:nvGrpSpPr>
          <p:cNvPr name="Group 129" id="129"/>
          <p:cNvGrpSpPr/>
          <p:nvPr/>
        </p:nvGrpSpPr>
        <p:grpSpPr>
          <a:xfrm rot="0">
            <a:off x="11864340" y="6740181"/>
            <a:ext cx="3086100" cy="288036"/>
            <a:chOff x="0" y="0"/>
            <a:chExt cx="4114800" cy="384048"/>
          </a:xfrm>
        </p:grpSpPr>
        <p:sp>
          <p:nvSpPr>
            <p:cNvPr name="Freeform 130" id="130"/>
            <p:cNvSpPr/>
            <p:nvPr/>
          </p:nvSpPr>
          <p:spPr>
            <a:xfrm flipH="false" flipV="false" rot="0">
              <a:off x="0" y="0"/>
              <a:ext cx="4114800" cy="384048"/>
            </a:xfrm>
            <a:custGeom>
              <a:avLst/>
              <a:gdLst/>
              <a:ahLst/>
              <a:cxnLst/>
              <a:rect r="r" b="b" t="t" l="l"/>
              <a:pathLst>
                <a:path h="384048" w="4114800">
                  <a:moveTo>
                    <a:pt x="0" y="0"/>
                  </a:moveTo>
                  <a:lnTo>
                    <a:pt x="4114800" y="0"/>
                  </a:lnTo>
                  <a:lnTo>
                    <a:pt x="4114800" y="384048"/>
                  </a:lnTo>
                  <a:lnTo>
                    <a:pt x="0" y="384048"/>
                  </a:lnTo>
                  <a:close/>
                </a:path>
              </a:pathLst>
            </a:custGeom>
            <a:solidFill>
              <a:srgbClr val="387F7F"/>
            </a:solidFill>
          </p:spPr>
        </p:sp>
      </p:grpSp>
      <p:grpSp>
        <p:nvGrpSpPr>
          <p:cNvPr name="Group 131" id="131"/>
          <p:cNvGrpSpPr/>
          <p:nvPr/>
        </p:nvGrpSpPr>
        <p:grpSpPr>
          <a:xfrm rot="0">
            <a:off x="12001500" y="6452145"/>
            <a:ext cx="2811780" cy="576072"/>
            <a:chOff x="0" y="0"/>
            <a:chExt cx="3749040" cy="768096"/>
          </a:xfrm>
        </p:grpSpPr>
        <p:sp>
          <p:nvSpPr>
            <p:cNvPr name="Freeform 132" id="132"/>
            <p:cNvSpPr/>
            <p:nvPr/>
          </p:nvSpPr>
          <p:spPr>
            <a:xfrm flipH="false" flipV="false" rot="0">
              <a:off x="0" y="0"/>
              <a:ext cx="3749040" cy="768096"/>
            </a:xfrm>
            <a:custGeom>
              <a:avLst/>
              <a:gdLst/>
              <a:ahLst/>
              <a:cxnLst/>
              <a:rect r="r" b="b" t="t" l="l"/>
              <a:pathLst>
                <a:path h="768096" w="3749040">
                  <a:moveTo>
                    <a:pt x="0" y="0"/>
                  </a:moveTo>
                  <a:lnTo>
                    <a:pt x="3749040" y="0"/>
                  </a:lnTo>
                  <a:lnTo>
                    <a:pt x="3749040" y="768096"/>
                  </a:lnTo>
                  <a:lnTo>
                    <a:pt x="0" y="768096"/>
                  </a:lnTo>
                  <a:close/>
                </a:path>
              </a:pathLst>
            </a:custGeom>
            <a:blipFill>
              <a:blip r:embed="rId9">
                <a:alphaModFix amt="0"/>
              </a:blip>
              <a:stretch>
                <a:fillRect l="0" t="-45105" r="0" b="-45105"/>
              </a:stretch>
            </a:blipFill>
          </p:spPr>
        </p:sp>
        <p:sp>
          <p:nvSpPr>
            <p:cNvPr name="TextBox 133" id="133"/>
            <p:cNvSpPr txBox="true"/>
            <p:nvPr/>
          </p:nvSpPr>
          <p:spPr>
            <a:xfrm>
              <a:off x="0" y="-9525"/>
              <a:ext cx="3749040" cy="777621"/>
            </a:xfrm>
            <a:prstGeom prst="rect">
              <a:avLst/>
            </a:prstGeom>
          </p:spPr>
          <p:txBody>
            <a:bodyPr anchor="ctr" rtlCol="false" tIns="0" lIns="0" bIns="0" rIns="0"/>
            <a:lstStyle/>
            <a:p>
              <a:pPr algn="ctr">
                <a:lnSpc>
                  <a:spcPts val="1889"/>
                </a:lnSpc>
              </a:pPr>
              <a:r>
                <a:rPr lang="en-US" sz="1575" b="true">
                  <a:solidFill>
                    <a:srgbClr val="FFFFFF"/>
                  </a:solidFill>
                  <a:latin typeface="Poppins Bold"/>
                  <a:ea typeface="Poppins Bold"/>
                  <a:cs typeface="Poppins Bold"/>
                  <a:sym typeface="Poppins Bold"/>
                </a:rPr>
                <a:t>dates</a:t>
              </a:r>
            </a:p>
          </p:txBody>
        </p:sp>
      </p:grpSp>
      <p:grpSp>
        <p:nvGrpSpPr>
          <p:cNvPr name="Group 134" id="134"/>
          <p:cNvGrpSpPr/>
          <p:nvPr/>
        </p:nvGrpSpPr>
        <p:grpSpPr>
          <a:xfrm rot="0">
            <a:off x="12056364" y="7213383"/>
            <a:ext cx="164592" cy="164592"/>
            <a:chOff x="0" y="0"/>
            <a:chExt cx="219456" cy="219456"/>
          </a:xfrm>
        </p:grpSpPr>
        <p:sp>
          <p:nvSpPr>
            <p:cNvPr name="Freeform 135" id="135"/>
            <p:cNvSpPr/>
            <p:nvPr/>
          </p:nvSpPr>
          <p:spPr>
            <a:xfrm flipH="false" flipV="false" rot="0">
              <a:off x="0" y="0"/>
              <a:ext cx="219456" cy="219456"/>
            </a:xfrm>
            <a:custGeom>
              <a:avLst/>
              <a:gdLst/>
              <a:ahLst/>
              <a:cxnLst/>
              <a:rect r="r" b="b" t="t" l="l"/>
              <a:pathLst>
                <a:path h="219456" w="219456">
                  <a:moveTo>
                    <a:pt x="0" y="109728"/>
                  </a:moveTo>
                  <a:cubicBezTo>
                    <a:pt x="0" y="49149"/>
                    <a:pt x="49149" y="0"/>
                    <a:pt x="109728" y="0"/>
                  </a:cubicBezTo>
                  <a:cubicBezTo>
                    <a:pt x="170307" y="0"/>
                    <a:pt x="219456" y="49149"/>
                    <a:pt x="219456" y="109728"/>
                  </a:cubicBezTo>
                  <a:cubicBezTo>
                    <a:pt x="219456" y="170307"/>
                    <a:pt x="170307" y="219456"/>
                    <a:pt x="109728" y="219456"/>
                  </a:cubicBezTo>
                  <a:cubicBezTo>
                    <a:pt x="49149" y="219456"/>
                    <a:pt x="0" y="170307"/>
                    <a:pt x="0" y="109728"/>
                  </a:cubicBezTo>
                  <a:close/>
                </a:path>
              </a:pathLst>
            </a:custGeom>
            <a:solidFill>
              <a:srgbClr val="387F7F"/>
            </a:solidFill>
          </p:spPr>
        </p:sp>
      </p:grpSp>
      <p:grpSp>
        <p:nvGrpSpPr>
          <p:cNvPr name="Group 136" id="136"/>
          <p:cNvGrpSpPr/>
          <p:nvPr/>
        </p:nvGrpSpPr>
        <p:grpSpPr>
          <a:xfrm rot="0">
            <a:off x="12330684" y="7137945"/>
            <a:ext cx="2400300" cy="329184"/>
            <a:chOff x="0" y="0"/>
            <a:chExt cx="3200400" cy="438912"/>
          </a:xfrm>
        </p:grpSpPr>
        <p:sp>
          <p:nvSpPr>
            <p:cNvPr name="Freeform 137" id="137"/>
            <p:cNvSpPr/>
            <p:nvPr/>
          </p:nvSpPr>
          <p:spPr>
            <a:xfrm flipH="false" flipV="false" rot="0">
              <a:off x="0" y="0"/>
              <a:ext cx="3200400" cy="438912"/>
            </a:xfrm>
            <a:custGeom>
              <a:avLst/>
              <a:gdLst/>
              <a:ahLst/>
              <a:cxnLst/>
              <a:rect r="r" b="b" t="t" l="l"/>
              <a:pathLst>
                <a:path h="438912" w="3200400">
                  <a:moveTo>
                    <a:pt x="0" y="0"/>
                  </a:moveTo>
                  <a:lnTo>
                    <a:pt x="3200400" y="0"/>
                  </a:lnTo>
                  <a:lnTo>
                    <a:pt x="3200400" y="438912"/>
                  </a:lnTo>
                  <a:lnTo>
                    <a:pt x="0" y="438912"/>
                  </a:lnTo>
                  <a:close/>
                </a:path>
              </a:pathLst>
            </a:custGeom>
            <a:blipFill>
              <a:blip r:embed="rId9">
                <a:alphaModFix amt="0"/>
              </a:blip>
              <a:stretch>
                <a:fillRect l="0" t="-92078" r="0" b="-92078"/>
              </a:stretch>
            </a:blipFill>
          </p:spPr>
        </p:sp>
        <p:sp>
          <p:nvSpPr>
            <p:cNvPr name="TextBox 138" id="138"/>
            <p:cNvSpPr txBox="true"/>
            <p:nvPr/>
          </p:nvSpPr>
          <p:spPr>
            <a:xfrm>
              <a:off x="0" y="-19050"/>
              <a:ext cx="3200400" cy="457962"/>
            </a:xfrm>
            <a:prstGeom prst="rect">
              <a:avLst/>
            </a:prstGeom>
          </p:spPr>
          <p:txBody>
            <a:bodyPr anchor="ctr" rtlCol="false" tIns="0" lIns="0" bIns="0" rIns="0"/>
            <a:lstStyle/>
            <a:p>
              <a:pPr algn="l">
                <a:lnSpc>
                  <a:spcPts val="1800"/>
                </a:lnSpc>
              </a:pPr>
              <a:r>
                <a:rPr lang="en-US" sz="1500" b="true">
                  <a:solidFill>
                    <a:srgbClr val="0A1A23"/>
                  </a:solidFill>
                  <a:latin typeface="Poppins Bold"/>
                  <a:ea typeface="Poppins Bold"/>
                  <a:cs typeface="Poppins Bold"/>
                  <a:sym typeface="Poppins Bold"/>
                </a:rPr>
                <a:t>DateKey</a:t>
              </a:r>
            </a:p>
          </p:txBody>
        </p:sp>
      </p:grpSp>
      <p:grpSp>
        <p:nvGrpSpPr>
          <p:cNvPr name="Group 139" id="139"/>
          <p:cNvGrpSpPr/>
          <p:nvPr/>
        </p:nvGrpSpPr>
        <p:grpSpPr>
          <a:xfrm rot="0">
            <a:off x="12111228" y="7460271"/>
            <a:ext cx="2400300" cy="329184"/>
            <a:chOff x="0" y="0"/>
            <a:chExt cx="3200400" cy="438912"/>
          </a:xfrm>
        </p:grpSpPr>
        <p:sp>
          <p:nvSpPr>
            <p:cNvPr name="Freeform 140" id="140"/>
            <p:cNvSpPr/>
            <p:nvPr/>
          </p:nvSpPr>
          <p:spPr>
            <a:xfrm flipH="false" flipV="false" rot="0">
              <a:off x="0" y="0"/>
              <a:ext cx="3200400" cy="438912"/>
            </a:xfrm>
            <a:custGeom>
              <a:avLst/>
              <a:gdLst/>
              <a:ahLst/>
              <a:cxnLst/>
              <a:rect r="r" b="b" t="t" l="l"/>
              <a:pathLst>
                <a:path h="438912" w="3200400">
                  <a:moveTo>
                    <a:pt x="0" y="0"/>
                  </a:moveTo>
                  <a:lnTo>
                    <a:pt x="3200400" y="0"/>
                  </a:lnTo>
                  <a:lnTo>
                    <a:pt x="3200400" y="438912"/>
                  </a:lnTo>
                  <a:lnTo>
                    <a:pt x="0" y="438912"/>
                  </a:lnTo>
                  <a:close/>
                </a:path>
              </a:pathLst>
            </a:custGeom>
            <a:blipFill>
              <a:blip r:embed="rId9">
                <a:alphaModFix amt="0"/>
              </a:blip>
              <a:stretch>
                <a:fillRect l="0" t="-92078" r="0" b="-92078"/>
              </a:stretch>
            </a:blipFill>
          </p:spPr>
        </p:sp>
        <p:sp>
          <p:nvSpPr>
            <p:cNvPr name="TextBox 141" id="141"/>
            <p:cNvSpPr txBox="true"/>
            <p:nvPr/>
          </p:nvSpPr>
          <p:spPr>
            <a:xfrm>
              <a:off x="0" y="-19050"/>
              <a:ext cx="3200400" cy="457962"/>
            </a:xfrm>
            <a:prstGeom prst="rect">
              <a:avLst/>
            </a:prstGeom>
          </p:spPr>
          <p:txBody>
            <a:bodyPr anchor="ctr" rtlCol="false" tIns="0" lIns="0" bIns="0" rIns="0"/>
            <a:lstStyle/>
            <a:p>
              <a:pPr algn="l">
                <a:lnSpc>
                  <a:spcPts val="1800"/>
                </a:lnSpc>
              </a:pPr>
              <a:r>
                <a:rPr lang="en-US" sz="1500">
                  <a:solidFill>
                    <a:srgbClr val="64748B"/>
                  </a:solidFill>
                  <a:latin typeface="Poppins"/>
                  <a:ea typeface="Poppins"/>
                  <a:cs typeface="Poppins"/>
                  <a:sym typeface="Poppins"/>
                </a:rPr>
                <a:t>MonthName</a:t>
              </a:r>
            </a:p>
          </p:txBody>
        </p:sp>
      </p:grpSp>
      <p:grpSp>
        <p:nvGrpSpPr>
          <p:cNvPr name="Group 142" id="142"/>
          <p:cNvGrpSpPr/>
          <p:nvPr/>
        </p:nvGrpSpPr>
        <p:grpSpPr>
          <a:xfrm rot="0">
            <a:off x="12111228" y="7782597"/>
            <a:ext cx="2400300" cy="329184"/>
            <a:chOff x="0" y="0"/>
            <a:chExt cx="3200400" cy="438912"/>
          </a:xfrm>
        </p:grpSpPr>
        <p:sp>
          <p:nvSpPr>
            <p:cNvPr name="Freeform 143" id="143"/>
            <p:cNvSpPr/>
            <p:nvPr/>
          </p:nvSpPr>
          <p:spPr>
            <a:xfrm flipH="false" flipV="false" rot="0">
              <a:off x="0" y="0"/>
              <a:ext cx="3200400" cy="438912"/>
            </a:xfrm>
            <a:custGeom>
              <a:avLst/>
              <a:gdLst/>
              <a:ahLst/>
              <a:cxnLst/>
              <a:rect r="r" b="b" t="t" l="l"/>
              <a:pathLst>
                <a:path h="438912" w="3200400">
                  <a:moveTo>
                    <a:pt x="0" y="0"/>
                  </a:moveTo>
                  <a:lnTo>
                    <a:pt x="3200400" y="0"/>
                  </a:lnTo>
                  <a:lnTo>
                    <a:pt x="3200400" y="438912"/>
                  </a:lnTo>
                  <a:lnTo>
                    <a:pt x="0" y="438912"/>
                  </a:lnTo>
                  <a:close/>
                </a:path>
              </a:pathLst>
            </a:custGeom>
            <a:blipFill>
              <a:blip r:embed="rId9">
                <a:alphaModFix amt="0"/>
              </a:blip>
              <a:stretch>
                <a:fillRect l="0" t="-92078" r="0" b="-92078"/>
              </a:stretch>
            </a:blipFill>
          </p:spPr>
        </p:sp>
        <p:sp>
          <p:nvSpPr>
            <p:cNvPr name="TextBox 144" id="144"/>
            <p:cNvSpPr txBox="true"/>
            <p:nvPr/>
          </p:nvSpPr>
          <p:spPr>
            <a:xfrm>
              <a:off x="0" y="-19050"/>
              <a:ext cx="3200400" cy="457962"/>
            </a:xfrm>
            <a:prstGeom prst="rect">
              <a:avLst/>
            </a:prstGeom>
          </p:spPr>
          <p:txBody>
            <a:bodyPr anchor="ctr" rtlCol="false" tIns="0" lIns="0" bIns="0" rIns="0"/>
            <a:lstStyle/>
            <a:p>
              <a:pPr algn="l">
                <a:lnSpc>
                  <a:spcPts val="1800"/>
                </a:lnSpc>
              </a:pPr>
              <a:r>
                <a:rPr lang="en-US" sz="1500">
                  <a:solidFill>
                    <a:srgbClr val="64748B"/>
                  </a:solidFill>
                  <a:latin typeface="Poppins"/>
                  <a:ea typeface="Poppins"/>
                  <a:cs typeface="Poppins"/>
                  <a:sym typeface="Poppins"/>
                </a:rPr>
                <a:t>Quarter</a:t>
              </a:r>
            </a:p>
          </p:txBody>
        </p:sp>
      </p:grpSp>
      <p:grpSp>
        <p:nvGrpSpPr>
          <p:cNvPr name="Group 145" id="145"/>
          <p:cNvGrpSpPr/>
          <p:nvPr/>
        </p:nvGrpSpPr>
        <p:grpSpPr>
          <a:xfrm rot="0">
            <a:off x="12111228" y="8104923"/>
            <a:ext cx="2400300" cy="329184"/>
            <a:chOff x="0" y="0"/>
            <a:chExt cx="3200400" cy="438912"/>
          </a:xfrm>
        </p:grpSpPr>
        <p:sp>
          <p:nvSpPr>
            <p:cNvPr name="Freeform 146" id="146"/>
            <p:cNvSpPr/>
            <p:nvPr/>
          </p:nvSpPr>
          <p:spPr>
            <a:xfrm flipH="false" flipV="false" rot="0">
              <a:off x="0" y="0"/>
              <a:ext cx="3200400" cy="438912"/>
            </a:xfrm>
            <a:custGeom>
              <a:avLst/>
              <a:gdLst/>
              <a:ahLst/>
              <a:cxnLst/>
              <a:rect r="r" b="b" t="t" l="l"/>
              <a:pathLst>
                <a:path h="438912" w="3200400">
                  <a:moveTo>
                    <a:pt x="0" y="0"/>
                  </a:moveTo>
                  <a:lnTo>
                    <a:pt x="3200400" y="0"/>
                  </a:lnTo>
                  <a:lnTo>
                    <a:pt x="3200400" y="438912"/>
                  </a:lnTo>
                  <a:lnTo>
                    <a:pt x="0" y="438912"/>
                  </a:lnTo>
                  <a:close/>
                </a:path>
              </a:pathLst>
            </a:custGeom>
            <a:blipFill>
              <a:blip r:embed="rId9">
                <a:alphaModFix amt="0"/>
              </a:blip>
              <a:stretch>
                <a:fillRect l="0" t="-92078" r="0" b="-92078"/>
              </a:stretch>
            </a:blipFill>
          </p:spPr>
        </p:sp>
        <p:sp>
          <p:nvSpPr>
            <p:cNvPr name="TextBox 147" id="147"/>
            <p:cNvSpPr txBox="true"/>
            <p:nvPr/>
          </p:nvSpPr>
          <p:spPr>
            <a:xfrm>
              <a:off x="0" y="-19050"/>
              <a:ext cx="3200400" cy="457962"/>
            </a:xfrm>
            <a:prstGeom prst="rect">
              <a:avLst/>
            </a:prstGeom>
          </p:spPr>
          <p:txBody>
            <a:bodyPr anchor="ctr" rtlCol="false" tIns="0" lIns="0" bIns="0" rIns="0"/>
            <a:lstStyle/>
            <a:p>
              <a:pPr algn="l">
                <a:lnSpc>
                  <a:spcPts val="1800"/>
                </a:lnSpc>
              </a:pPr>
              <a:r>
                <a:rPr lang="en-US" sz="1500">
                  <a:solidFill>
                    <a:srgbClr val="64748B"/>
                  </a:solidFill>
                  <a:latin typeface="Poppins"/>
                  <a:ea typeface="Poppins"/>
                  <a:cs typeface="Poppins"/>
                  <a:sym typeface="Poppins"/>
                </a:rPr>
                <a:t>IsWeekday</a:t>
              </a:r>
            </a:p>
          </p:txBody>
        </p:sp>
      </p:grpSp>
      <p:grpSp>
        <p:nvGrpSpPr>
          <p:cNvPr name="Group 148" id="148"/>
          <p:cNvGrpSpPr/>
          <p:nvPr/>
        </p:nvGrpSpPr>
        <p:grpSpPr>
          <a:xfrm rot="0">
            <a:off x="6630829" y="3687513"/>
            <a:ext cx="3814762" cy="2580322"/>
            <a:chOff x="0" y="0"/>
            <a:chExt cx="5086350" cy="3440430"/>
          </a:xfrm>
        </p:grpSpPr>
        <p:sp>
          <p:nvSpPr>
            <p:cNvPr name="Freeform 149" id="149"/>
            <p:cNvSpPr/>
            <p:nvPr/>
          </p:nvSpPr>
          <p:spPr>
            <a:xfrm flipH="false" flipV="false" rot="0">
              <a:off x="0" y="0"/>
              <a:ext cx="5086350" cy="3440430"/>
            </a:xfrm>
            <a:custGeom>
              <a:avLst/>
              <a:gdLst/>
              <a:ahLst/>
              <a:cxnLst/>
              <a:rect r="r" b="b" t="t" l="l"/>
              <a:pathLst>
                <a:path h="3440430" w="5086350">
                  <a:moveTo>
                    <a:pt x="0" y="148717"/>
                  </a:moveTo>
                  <a:cubicBezTo>
                    <a:pt x="0" y="66548"/>
                    <a:pt x="66548" y="0"/>
                    <a:pt x="148717" y="0"/>
                  </a:cubicBezTo>
                  <a:lnTo>
                    <a:pt x="4937633" y="0"/>
                  </a:lnTo>
                  <a:cubicBezTo>
                    <a:pt x="5019802" y="0"/>
                    <a:pt x="5086350" y="66548"/>
                    <a:pt x="5086350" y="148717"/>
                  </a:cubicBezTo>
                  <a:lnTo>
                    <a:pt x="5086350" y="3291713"/>
                  </a:lnTo>
                  <a:cubicBezTo>
                    <a:pt x="5086350" y="3373882"/>
                    <a:pt x="5019802" y="3440430"/>
                    <a:pt x="4937633" y="3440430"/>
                  </a:cubicBezTo>
                  <a:lnTo>
                    <a:pt x="148717" y="3440430"/>
                  </a:lnTo>
                  <a:cubicBezTo>
                    <a:pt x="66548" y="3440430"/>
                    <a:pt x="0" y="3373882"/>
                    <a:pt x="0" y="3291713"/>
                  </a:cubicBezTo>
                  <a:close/>
                </a:path>
              </a:pathLst>
            </a:custGeom>
            <a:solidFill>
              <a:srgbClr val="FFFFFF"/>
            </a:solidFill>
            <a:ln w="42862" cap="sq">
              <a:solidFill>
                <a:srgbClr val="387F7F"/>
              </a:solidFill>
              <a:prstDash val="solid"/>
              <a:miter/>
            </a:ln>
          </p:spPr>
        </p:sp>
      </p:grpSp>
      <p:grpSp>
        <p:nvGrpSpPr>
          <p:cNvPr name="Group 150" id="150"/>
          <p:cNvGrpSpPr/>
          <p:nvPr/>
        </p:nvGrpSpPr>
        <p:grpSpPr>
          <a:xfrm rot="0">
            <a:off x="6652260" y="3708945"/>
            <a:ext cx="3771900" cy="576072"/>
            <a:chOff x="0" y="0"/>
            <a:chExt cx="5029200" cy="768096"/>
          </a:xfrm>
        </p:grpSpPr>
        <p:sp>
          <p:nvSpPr>
            <p:cNvPr name="Freeform 151" id="151"/>
            <p:cNvSpPr/>
            <p:nvPr/>
          </p:nvSpPr>
          <p:spPr>
            <a:xfrm flipH="false" flipV="false" rot="0">
              <a:off x="0" y="0"/>
              <a:ext cx="5029200" cy="768096"/>
            </a:xfrm>
            <a:custGeom>
              <a:avLst/>
              <a:gdLst/>
              <a:ahLst/>
              <a:cxnLst/>
              <a:rect r="r" b="b" t="t" l="l"/>
              <a:pathLst>
                <a:path h="768096" w="5029200">
                  <a:moveTo>
                    <a:pt x="0" y="146304"/>
                  </a:moveTo>
                  <a:cubicBezTo>
                    <a:pt x="0" y="65532"/>
                    <a:pt x="65532" y="0"/>
                    <a:pt x="146304" y="0"/>
                  </a:cubicBezTo>
                  <a:lnTo>
                    <a:pt x="4882896" y="0"/>
                  </a:lnTo>
                  <a:cubicBezTo>
                    <a:pt x="4963668" y="0"/>
                    <a:pt x="5029200" y="65532"/>
                    <a:pt x="5029200" y="146304"/>
                  </a:cubicBezTo>
                  <a:lnTo>
                    <a:pt x="5029200" y="621792"/>
                  </a:lnTo>
                  <a:cubicBezTo>
                    <a:pt x="5029200" y="702564"/>
                    <a:pt x="4963668" y="768096"/>
                    <a:pt x="4882896" y="768096"/>
                  </a:cubicBezTo>
                  <a:lnTo>
                    <a:pt x="146304" y="768096"/>
                  </a:lnTo>
                  <a:cubicBezTo>
                    <a:pt x="65532" y="768096"/>
                    <a:pt x="0" y="702564"/>
                    <a:pt x="0" y="621792"/>
                  </a:cubicBezTo>
                  <a:close/>
                </a:path>
              </a:pathLst>
            </a:custGeom>
            <a:solidFill>
              <a:srgbClr val="387F7F"/>
            </a:solidFill>
          </p:spPr>
        </p:sp>
      </p:grpSp>
      <p:grpSp>
        <p:nvGrpSpPr>
          <p:cNvPr name="Group 152" id="152"/>
          <p:cNvGrpSpPr/>
          <p:nvPr/>
        </p:nvGrpSpPr>
        <p:grpSpPr>
          <a:xfrm rot="0">
            <a:off x="6652260" y="3996981"/>
            <a:ext cx="3771900" cy="288036"/>
            <a:chOff x="0" y="0"/>
            <a:chExt cx="5029200" cy="384048"/>
          </a:xfrm>
        </p:grpSpPr>
        <p:sp>
          <p:nvSpPr>
            <p:cNvPr name="Freeform 153" id="153"/>
            <p:cNvSpPr/>
            <p:nvPr/>
          </p:nvSpPr>
          <p:spPr>
            <a:xfrm flipH="false" flipV="false" rot="0">
              <a:off x="0" y="0"/>
              <a:ext cx="5029200" cy="384048"/>
            </a:xfrm>
            <a:custGeom>
              <a:avLst/>
              <a:gdLst/>
              <a:ahLst/>
              <a:cxnLst/>
              <a:rect r="r" b="b" t="t" l="l"/>
              <a:pathLst>
                <a:path h="384048" w="5029200">
                  <a:moveTo>
                    <a:pt x="0" y="0"/>
                  </a:moveTo>
                  <a:lnTo>
                    <a:pt x="5029200" y="0"/>
                  </a:lnTo>
                  <a:lnTo>
                    <a:pt x="5029200" y="384048"/>
                  </a:lnTo>
                  <a:lnTo>
                    <a:pt x="0" y="384048"/>
                  </a:lnTo>
                  <a:close/>
                </a:path>
              </a:pathLst>
            </a:custGeom>
            <a:solidFill>
              <a:srgbClr val="387F7F"/>
            </a:solidFill>
          </p:spPr>
        </p:sp>
      </p:grpSp>
      <p:grpSp>
        <p:nvGrpSpPr>
          <p:cNvPr name="Group 154" id="154"/>
          <p:cNvGrpSpPr/>
          <p:nvPr/>
        </p:nvGrpSpPr>
        <p:grpSpPr>
          <a:xfrm rot="0">
            <a:off x="6789420" y="3708945"/>
            <a:ext cx="3497580" cy="576072"/>
            <a:chOff x="0" y="0"/>
            <a:chExt cx="4663440" cy="768096"/>
          </a:xfrm>
        </p:grpSpPr>
        <p:sp>
          <p:nvSpPr>
            <p:cNvPr name="Freeform 155" id="155"/>
            <p:cNvSpPr/>
            <p:nvPr/>
          </p:nvSpPr>
          <p:spPr>
            <a:xfrm flipH="false" flipV="false" rot="0">
              <a:off x="0" y="0"/>
              <a:ext cx="4663440" cy="768096"/>
            </a:xfrm>
            <a:custGeom>
              <a:avLst/>
              <a:gdLst/>
              <a:ahLst/>
              <a:cxnLst/>
              <a:rect r="r" b="b" t="t" l="l"/>
              <a:pathLst>
                <a:path h="768096" w="4663440">
                  <a:moveTo>
                    <a:pt x="0" y="0"/>
                  </a:moveTo>
                  <a:lnTo>
                    <a:pt x="4663440" y="0"/>
                  </a:lnTo>
                  <a:lnTo>
                    <a:pt x="4663440" y="768096"/>
                  </a:lnTo>
                  <a:lnTo>
                    <a:pt x="0" y="768096"/>
                  </a:lnTo>
                  <a:close/>
                </a:path>
              </a:pathLst>
            </a:custGeom>
            <a:blipFill>
              <a:blip r:embed="rId9">
                <a:alphaModFix amt="0"/>
              </a:blip>
              <a:stretch>
                <a:fillRect l="0" t="-68302" r="0" b="-68302"/>
              </a:stretch>
            </a:blipFill>
          </p:spPr>
        </p:sp>
        <p:sp>
          <p:nvSpPr>
            <p:cNvPr name="TextBox 156" id="156"/>
            <p:cNvSpPr txBox="true"/>
            <p:nvPr/>
          </p:nvSpPr>
          <p:spPr>
            <a:xfrm>
              <a:off x="0" y="-9525"/>
              <a:ext cx="4663440" cy="777621"/>
            </a:xfrm>
            <a:prstGeom prst="rect">
              <a:avLst/>
            </a:prstGeom>
          </p:spPr>
          <p:txBody>
            <a:bodyPr anchor="ctr" rtlCol="false" tIns="0" lIns="0" bIns="0" rIns="0"/>
            <a:lstStyle/>
            <a:p>
              <a:pPr algn="ctr">
                <a:lnSpc>
                  <a:spcPts val="1889"/>
                </a:lnSpc>
              </a:pPr>
              <a:r>
                <a:rPr lang="en-US" sz="1575" b="true">
                  <a:solidFill>
                    <a:srgbClr val="FFFFFF"/>
                  </a:solidFill>
                  <a:latin typeface="Poppins Bold"/>
                  <a:ea typeface="Poppins Bold"/>
                  <a:cs typeface="Poppins Bold"/>
                  <a:sym typeface="Poppins Bold"/>
                </a:rPr>
                <a:t>swiftroute_deliveries</a:t>
              </a:r>
            </a:p>
          </p:txBody>
        </p:sp>
      </p:grpSp>
      <p:grpSp>
        <p:nvGrpSpPr>
          <p:cNvPr name="Group 157" id="157"/>
          <p:cNvGrpSpPr/>
          <p:nvPr/>
        </p:nvGrpSpPr>
        <p:grpSpPr>
          <a:xfrm rot="0">
            <a:off x="6844284" y="4470183"/>
            <a:ext cx="164592" cy="164592"/>
            <a:chOff x="0" y="0"/>
            <a:chExt cx="219456" cy="219456"/>
          </a:xfrm>
        </p:grpSpPr>
        <p:sp>
          <p:nvSpPr>
            <p:cNvPr name="Freeform 158" id="158"/>
            <p:cNvSpPr/>
            <p:nvPr/>
          </p:nvSpPr>
          <p:spPr>
            <a:xfrm flipH="false" flipV="false" rot="0">
              <a:off x="0" y="0"/>
              <a:ext cx="219456" cy="219456"/>
            </a:xfrm>
            <a:custGeom>
              <a:avLst/>
              <a:gdLst/>
              <a:ahLst/>
              <a:cxnLst/>
              <a:rect r="r" b="b" t="t" l="l"/>
              <a:pathLst>
                <a:path h="219456" w="219456">
                  <a:moveTo>
                    <a:pt x="0" y="109728"/>
                  </a:moveTo>
                  <a:cubicBezTo>
                    <a:pt x="0" y="49149"/>
                    <a:pt x="49149" y="0"/>
                    <a:pt x="109728" y="0"/>
                  </a:cubicBezTo>
                  <a:cubicBezTo>
                    <a:pt x="170307" y="0"/>
                    <a:pt x="219456" y="49149"/>
                    <a:pt x="219456" y="109728"/>
                  </a:cubicBezTo>
                  <a:cubicBezTo>
                    <a:pt x="219456" y="170307"/>
                    <a:pt x="170307" y="219456"/>
                    <a:pt x="109728" y="219456"/>
                  </a:cubicBezTo>
                  <a:cubicBezTo>
                    <a:pt x="49149" y="219456"/>
                    <a:pt x="0" y="170307"/>
                    <a:pt x="0" y="109728"/>
                  </a:cubicBezTo>
                  <a:close/>
                </a:path>
              </a:pathLst>
            </a:custGeom>
            <a:solidFill>
              <a:srgbClr val="387F7F"/>
            </a:solidFill>
          </p:spPr>
        </p:sp>
      </p:grpSp>
      <p:grpSp>
        <p:nvGrpSpPr>
          <p:cNvPr name="Group 159" id="159"/>
          <p:cNvGrpSpPr/>
          <p:nvPr/>
        </p:nvGrpSpPr>
        <p:grpSpPr>
          <a:xfrm rot="0">
            <a:off x="7118604" y="4394745"/>
            <a:ext cx="3086100" cy="329184"/>
            <a:chOff x="0" y="0"/>
            <a:chExt cx="4114800" cy="438912"/>
          </a:xfrm>
        </p:grpSpPr>
        <p:sp>
          <p:nvSpPr>
            <p:cNvPr name="Freeform 160" id="160"/>
            <p:cNvSpPr/>
            <p:nvPr/>
          </p:nvSpPr>
          <p:spPr>
            <a:xfrm flipH="false" flipV="false" rot="0">
              <a:off x="0" y="0"/>
              <a:ext cx="4114800" cy="438912"/>
            </a:xfrm>
            <a:custGeom>
              <a:avLst/>
              <a:gdLst/>
              <a:ahLst/>
              <a:cxnLst/>
              <a:rect r="r" b="b" t="t" l="l"/>
              <a:pathLst>
                <a:path h="438912" w="4114800">
                  <a:moveTo>
                    <a:pt x="0" y="0"/>
                  </a:moveTo>
                  <a:lnTo>
                    <a:pt x="4114800" y="0"/>
                  </a:lnTo>
                  <a:lnTo>
                    <a:pt x="4114800" y="438912"/>
                  </a:lnTo>
                  <a:lnTo>
                    <a:pt x="0" y="438912"/>
                  </a:lnTo>
                  <a:close/>
                </a:path>
              </a:pathLst>
            </a:custGeom>
            <a:blipFill>
              <a:blip r:embed="rId9">
                <a:alphaModFix amt="0"/>
              </a:blip>
              <a:stretch>
                <a:fillRect l="0" t="-132672" r="0" b="-132672"/>
              </a:stretch>
            </a:blipFill>
          </p:spPr>
        </p:sp>
        <p:sp>
          <p:nvSpPr>
            <p:cNvPr name="TextBox 161" id="161"/>
            <p:cNvSpPr txBox="true"/>
            <p:nvPr/>
          </p:nvSpPr>
          <p:spPr>
            <a:xfrm>
              <a:off x="0" y="-19050"/>
              <a:ext cx="4114800" cy="457962"/>
            </a:xfrm>
            <a:prstGeom prst="rect">
              <a:avLst/>
            </a:prstGeom>
          </p:spPr>
          <p:txBody>
            <a:bodyPr anchor="ctr" rtlCol="false" tIns="0" lIns="0" bIns="0" rIns="0"/>
            <a:lstStyle/>
            <a:p>
              <a:pPr algn="l">
                <a:lnSpc>
                  <a:spcPts val="1800"/>
                </a:lnSpc>
              </a:pPr>
              <a:r>
                <a:rPr lang="en-US" sz="1500" b="true">
                  <a:solidFill>
                    <a:srgbClr val="0A1A23"/>
                  </a:solidFill>
                  <a:latin typeface="Poppins Bold"/>
                  <a:ea typeface="Poppins Bold"/>
                  <a:cs typeface="Poppins Bold"/>
                  <a:sym typeface="Poppins Bold"/>
                </a:rPr>
                <a:t>DeliveryID</a:t>
              </a:r>
            </a:p>
          </p:txBody>
        </p:sp>
      </p:grpSp>
      <p:grpSp>
        <p:nvGrpSpPr>
          <p:cNvPr name="Group 162" id="162"/>
          <p:cNvGrpSpPr/>
          <p:nvPr/>
        </p:nvGrpSpPr>
        <p:grpSpPr>
          <a:xfrm rot="0">
            <a:off x="6899148" y="4717071"/>
            <a:ext cx="3086100" cy="329184"/>
            <a:chOff x="0" y="0"/>
            <a:chExt cx="4114800" cy="438912"/>
          </a:xfrm>
        </p:grpSpPr>
        <p:sp>
          <p:nvSpPr>
            <p:cNvPr name="Freeform 163" id="163"/>
            <p:cNvSpPr/>
            <p:nvPr/>
          </p:nvSpPr>
          <p:spPr>
            <a:xfrm flipH="false" flipV="false" rot="0">
              <a:off x="0" y="0"/>
              <a:ext cx="4114800" cy="438912"/>
            </a:xfrm>
            <a:custGeom>
              <a:avLst/>
              <a:gdLst/>
              <a:ahLst/>
              <a:cxnLst/>
              <a:rect r="r" b="b" t="t" l="l"/>
              <a:pathLst>
                <a:path h="438912" w="4114800">
                  <a:moveTo>
                    <a:pt x="0" y="0"/>
                  </a:moveTo>
                  <a:lnTo>
                    <a:pt x="4114800" y="0"/>
                  </a:lnTo>
                  <a:lnTo>
                    <a:pt x="4114800" y="438912"/>
                  </a:lnTo>
                  <a:lnTo>
                    <a:pt x="0" y="438912"/>
                  </a:lnTo>
                  <a:close/>
                </a:path>
              </a:pathLst>
            </a:custGeom>
            <a:blipFill>
              <a:blip r:embed="rId9">
                <a:alphaModFix amt="0"/>
              </a:blip>
              <a:stretch>
                <a:fillRect l="0" t="-132672" r="0" b="-132672"/>
              </a:stretch>
            </a:blipFill>
          </p:spPr>
        </p:sp>
        <p:sp>
          <p:nvSpPr>
            <p:cNvPr name="TextBox 164" id="164"/>
            <p:cNvSpPr txBox="true"/>
            <p:nvPr/>
          </p:nvSpPr>
          <p:spPr>
            <a:xfrm>
              <a:off x="0" y="-19050"/>
              <a:ext cx="4114800" cy="457962"/>
            </a:xfrm>
            <a:prstGeom prst="rect">
              <a:avLst/>
            </a:prstGeom>
          </p:spPr>
          <p:txBody>
            <a:bodyPr anchor="ctr" rtlCol="false" tIns="0" lIns="0" bIns="0" rIns="0"/>
            <a:lstStyle/>
            <a:p>
              <a:pPr algn="l">
                <a:lnSpc>
                  <a:spcPts val="1800"/>
                </a:lnSpc>
              </a:pPr>
              <a:r>
                <a:rPr lang="en-US" sz="1500">
                  <a:solidFill>
                    <a:srgbClr val="64748B"/>
                  </a:solidFill>
                  <a:latin typeface="Poppins"/>
                  <a:ea typeface="Poppins"/>
                  <a:cs typeface="Poppins"/>
                  <a:sym typeface="Poppins"/>
                </a:rPr>
                <a:t>RiderID  ·  RouteID</a:t>
              </a:r>
            </a:p>
          </p:txBody>
        </p:sp>
      </p:grpSp>
      <p:grpSp>
        <p:nvGrpSpPr>
          <p:cNvPr name="Group 165" id="165"/>
          <p:cNvGrpSpPr/>
          <p:nvPr/>
        </p:nvGrpSpPr>
        <p:grpSpPr>
          <a:xfrm rot="0">
            <a:off x="6899148" y="5039397"/>
            <a:ext cx="3086100" cy="329184"/>
            <a:chOff x="0" y="0"/>
            <a:chExt cx="4114800" cy="438912"/>
          </a:xfrm>
        </p:grpSpPr>
        <p:sp>
          <p:nvSpPr>
            <p:cNvPr name="Freeform 166" id="166"/>
            <p:cNvSpPr/>
            <p:nvPr/>
          </p:nvSpPr>
          <p:spPr>
            <a:xfrm flipH="false" flipV="false" rot="0">
              <a:off x="0" y="0"/>
              <a:ext cx="4114800" cy="438912"/>
            </a:xfrm>
            <a:custGeom>
              <a:avLst/>
              <a:gdLst/>
              <a:ahLst/>
              <a:cxnLst/>
              <a:rect r="r" b="b" t="t" l="l"/>
              <a:pathLst>
                <a:path h="438912" w="4114800">
                  <a:moveTo>
                    <a:pt x="0" y="0"/>
                  </a:moveTo>
                  <a:lnTo>
                    <a:pt x="4114800" y="0"/>
                  </a:lnTo>
                  <a:lnTo>
                    <a:pt x="4114800" y="438912"/>
                  </a:lnTo>
                  <a:lnTo>
                    <a:pt x="0" y="438912"/>
                  </a:lnTo>
                  <a:close/>
                </a:path>
              </a:pathLst>
            </a:custGeom>
            <a:blipFill>
              <a:blip r:embed="rId9">
                <a:alphaModFix amt="0"/>
              </a:blip>
              <a:stretch>
                <a:fillRect l="0" t="-132672" r="0" b="-132672"/>
              </a:stretch>
            </a:blipFill>
          </p:spPr>
        </p:sp>
        <p:sp>
          <p:nvSpPr>
            <p:cNvPr name="TextBox 167" id="167"/>
            <p:cNvSpPr txBox="true"/>
            <p:nvPr/>
          </p:nvSpPr>
          <p:spPr>
            <a:xfrm>
              <a:off x="0" y="-19050"/>
              <a:ext cx="4114800" cy="457962"/>
            </a:xfrm>
            <a:prstGeom prst="rect">
              <a:avLst/>
            </a:prstGeom>
          </p:spPr>
          <p:txBody>
            <a:bodyPr anchor="ctr" rtlCol="false" tIns="0" lIns="0" bIns="0" rIns="0"/>
            <a:lstStyle/>
            <a:p>
              <a:pPr algn="l">
                <a:lnSpc>
                  <a:spcPts val="1800"/>
                </a:lnSpc>
              </a:pPr>
              <a:r>
                <a:rPr lang="en-US" sz="1500">
                  <a:solidFill>
                    <a:srgbClr val="64748B"/>
                  </a:solidFill>
                  <a:latin typeface="Poppins"/>
                  <a:ea typeface="Poppins"/>
                  <a:cs typeface="Poppins"/>
                  <a:sym typeface="Poppins"/>
                </a:rPr>
                <a:t>CustomerID  ·  DateKey</a:t>
              </a:r>
            </a:p>
          </p:txBody>
        </p:sp>
      </p:grpSp>
      <p:grpSp>
        <p:nvGrpSpPr>
          <p:cNvPr name="Group 168" id="168"/>
          <p:cNvGrpSpPr/>
          <p:nvPr/>
        </p:nvGrpSpPr>
        <p:grpSpPr>
          <a:xfrm rot="0">
            <a:off x="6899148" y="5361723"/>
            <a:ext cx="3086100" cy="329184"/>
            <a:chOff x="0" y="0"/>
            <a:chExt cx="4114800" cy="438912"/>
          </a:xfrm>
        </p:grpSpPr>
        <p:sp>
          <p:nvSpPr>
            <p:cNvPr name="Freeform 169" id="169"/>
            <p:cNvSpPr/>
            <p:nvPr/>
          </p:nvSpPr>
          <p:spPr>
            <a:xfrm flipH="false" flipV="false" rot="0">
              <a:off x="0" y="0"/>
              <a:ext cx="4114800" cy="438912"/>
            </a:xfrm>
            <a:custGeom>
              <a:avLst/>
              <a:gdLst/>
              <a:ahLst/>
              <a:cxnLst/>
              <a:rect r="r" b="b" t="t" l="l"/>
              <a:pathLst>
                <a:path h="438912" w="4114800">
                  <a:moveTo>
                    <a:pt x="0" y="0"/>
                  </a:moveTo>
                  <a:lnTo>
                    <a:pt x="4114800" y="0"/>
                  </a:lnTo>
                  <a:lnTo>
                    <a:pt x="4114800" y="438912"/>
                  </a:lnTo>
                  <a:lnTo>
                    <a:pt x="0" y="438912"/>
                  </a:lnTo>
                  <a:close/>
                </a:path>
              </a:pathLst>
            </a:custGeom>
            <a:blipFill>
              <a:blip r:embed="rId9">
                <a:alphaModFix amt="0"/>
              </a:blip>
              <a:stretch>
                <a:fillRect l="0" t="-132672" r="0" b="-132672"/>
              </a:stretch>
            </a:blipFill>
          </p:spPr>
        </p:sp>
        <p:sp>
          <p:nvSpPr>
            <p:cNvPr name="TextBox 170" id="170"/>
            <p:cNvSpPr txBox="true"/>
            <p:nvPr/>
          </p:nvSpPr>
          <p:spPr>
            <a:xfrm>
              <a:off x="0" y="-19050"/>
              <a:ext cx="4114800" cy="457962"/>
            </a:xfrm>
            <a:prstGeom prst="rect">
              <a:avLst/>
            </a:prstGeom>
          </p:spPr>
          <p:txBody>
            <a:bodyPr anchor="ctr" rtlCol="false" tIns="0" lIns="0" bIns="0" rIns="0"/>
            <a:lstStyle/>
            <a:p>
              <a:pPr algn="l">
                <a:lnSpc>
                  <a:spcPts val="1800"/>
                </a:lnSpc>
              </a:pPr>
              <a:r>
                <a:rPr lang="en-US" sz="1500">
                  <a:solidFill>
                    <a:srgbClr val="64748B"/>
                  </a:solidFill>
                  <a:latin typeface="Poppins"/>
                  <a:ea typeface="Poppins"/>
                  <a:cs typeface="Poppins"/>
                  <a:sym typeface="Poppins"/>
                </a:rPr>
                <a:t>DeliveryFee  ·  Status</a:t>
              </a:r>
            </a:p>
          </p:txBody>
        </p:sp>
      </p:grpSp>
      <p:grpSp>
        <p:nvGrpSpPr>
          <p:cNvPr name="Group 171" id="171"/>
          <p:cNvGrpSpPr/>
          <p:nvPr/>
        </p:nvGrpSpPr>
        <p:grpSpPr>
          <a:xfrm rot="0">
            <a:off x="1028700" y="8825013"/>
            <a:ext cx="8915400" cy="438912"/>
            <a:chOff x="0" y="0"/>
            <a:chExt cx="11887200" cy="585216"/>
          </a:xfrm>
        </p:grpSpPr>
        <p:sp>
          <p:nvSpPr>
            <p:cNvPr name="Freeform 172" id="172"/>
            <p:cNvSpPr/>
            <p:nvPr/>
          </p:nvSpPr>
          <p:spPr>
            <a:xfrm flipH="false" flipV="false" rot="0">
              <a:off x="0" y="0"/>
              <a:ext cx="11887200" cy="585216"/>
            </a:xfrm>
            <a:custGeom>
              <a:avLst/>
              <a:gdLst/>
              <a:ahLst/>
              <a:cxnLst/>
              <a:rect r="r" b="b" t="t" l="l"/>
              <a:pathLst>
                <a:path h="585216" w="11887200">
                  <a:moveTo>
                    <a:pt x="0" y="0"/>
                  </a:moveTo>
                  <a:lnTo>
                    <a:pt x="11887200" y="0"/>
                  </a:lnTo>
                  <a:lnTo>
                    <a:pt x="11887200" y="585216"/>
                  </a:lnTo>
                  <a:lnTo>
                    <a:pt x="0" y="585216"/>
                  </a:lnTo>
                  <a:close/>
                </a:path>
              </a:pathLst>
            </a:custGeom>
            <a:blipFill>
              <a:blip r:embed="rId9">
                <a:alphaModFix amt="0"/>
              </a:blip>
              <a:stretch>
                <a:fillRect l="0" t="-345789" r="0" b="-345789"/>
              </a:stretch>
            </a:blipFill>
          </p:spPr>
        </p:sp>
        <p:sp>
          <p:nvSpPr>
            <p:cNvPr name="TextBox 173" id="173"/>
            <p:cNvSpPr txBox="true"/>
            <p:nvPr/>
          </p:nvSpPr>
          <p:spPr>
            <a:xfrm>
              <a:off x="0" y="-9525"/>
              <a:ext cx="11887200" cy="594741"/>
            </a:xfrm>
            <a:prstGeom prst="rect">
              <a:avLst/>
            </a:prstGeom>
          </p:spPr>
          <p:txBody>
            <a:bodyPr anchor="ctr" rtlCol="false" tIns="0" lIns="0" bIns="0" rIns="0"/>
            <a:lstStyle/>
            <a:p>
              <a:pPr algn="l">
                <a:lnSpc>
                  <a:spcPts val="1980"/>
                </a:lnSpc>
              </a:pPr>
              <a:r>
                <a:rPr lang="en-US" sz="1650" b="true">
                  <a:solidFill>
                    <a:srgbClr val="387F7F"/>
                  </a:solidFill>
                  <a:latin typeface="Poppins Bold"/>
                  <a:ea typeface="Poppins Bold"/>
                  <a:cs typeface="Poppins Bold"/>
                  <a:sym typeface="Poppins Bold"/>
                </a:rPr>
                <a:t>1</a:t>
              </a:r>
              <a:r>
                <a:rPr lang="en-US" sz="1650">
                  <a:solidFill>
                    <a:srgbClr val="64748B"/>
                  </a:solidFill>
                  <a:latin typeface="Poppins"/>
                  <a:ea typeface="Poppins"/>
                  <a:cs typeface="Poppins"/>
                  <a:sym typeface="Poppins"/>
                </a:rPr>
                <a:t>  one side (dimension)      </a:t>
              </a:r>
              <a:r>
                <a:rPr lang="en-US" sz="1650" b="true">
                  <a:solidFill>
                    <a:srgbClr val="387F7F"/>
                  </a:solidFill>
                  <a:latin typeface="Poppins Bold"/>
                  <a:ea typeface="Poppins Bold"/>
                  <a:cs typeface="Poppins Bold"/>
                  <a:sym typeface="Poppins Bold"/>
                </a:rPr>
                <a:t>∗</a:t>
              </a:r>
              <a:r>
                <a:rPr lang="en-US" sz="1650">
                  <a:solidFill>
                    <a:srgbClr val="64748B"/>
                  </a:solidFill>
                  <a:latin typeface="Poppins"/>
                  <a:ea typeface="Poppins"/>
                  <a:cs typeface="Poppins"/>
                  <a:sym typeface="Poppins"/>
                </a:rPr>
                <a:t>  many side (fact)</a:t>
              </a:r>
            </a:p>
          </p:txBody>
        </p:sp>
      </p:grpSp>
      <p:grpSp>
        <p:nvGrpSpPr>
          <p:cNvPr name="Group 174" id="174"/>
          <p:cNvGrpSpPr/>
          <p:nvPr/>
        </p:nvGrpSpPr>
        <p:grpSpPr>
          <a:xfrm rot="0">
            <a:off x="1028700" y="9373653"/>
            <a:ext cx="14744700" cy="850392"/>
            <a:chOff x="0" y="0"/>
            <a:chExt cx="19659600" cy="1133856"/>
          </a:xfrm>
        </p:grpSpPr>
        <p:sp>
          <p:nvSpPr>
            <p:cNvPr name="Freeform 175" id="175"/>
            <p:cNvSpPr/>
            <p:nvPr/>
          </p:nvSpPr>
          <p:spPr>
            <a:xfrm flipH="false" flipV="false" rot="0">
              <a:off x="0" y="0"/>
              <a:ext cx="19659600" cy="1133856"/>
            </a:xfrm>
            <a:custGeom>
              <a:avLst/>
              <a:gdLst/>
              <a:ahLst/>
              <a:cxnLst/>
              <a:rect r="r" b="b" t="t" l="l"/>
              <a:pathLst>
                <a:path h="1133856" w="19659600">
                  <a:moveTo>
                    <a:pt x="0" y="164592"/>
                  </a:moveTo>
                  <a:cubicBezTo>
                    <a:pt x="0" y="73660"/>
                    <a:pt x="73660" y="0"/>
                    <a:pt x="164592" y="0"/>
                  </a:cubicBezTo>
                  <a:lnTo>
                    <a:pt x="19495008" y="0"/>
                  </a:lnTo>
                  <a:cubicBezTo>
                    <a:pt x="19585939" y="0"/>
                    <a:pt x="19659600" y="73660"/>
                    <a:pt x="19659600" y="164592"/>
                  </a:cubicBezTo>
                  <a:lnTo>
                    <a:pt x="19659600" y="969264"/>
                  </a:lnTo>
                  <a:cubicBezTo>
                    <a:pt x="19659600" y="1060196"/>
                    <a:pt x="19585939" y="1133856"/>
                    <a:pt x="19495008" y="1133856"/>
                  </a:cubicBezTo>
                  <a:lnTo>
                    <a:pt x="164592" y="1133856"/>
                  </a:lnTo>
                  <a:cubicBezTo>
                    <a:pt x="73660" y="1133856"/>
                    <a:pt x="0" y="1060196"/>
                    <a:pt x="0" y="969264"/>
                  </a:cubicBezTo>
                  <a:close/>
                </a:path>
              </a:pathLst>
            </a:custGeom>
            <a:solidFill>
              <a:srgbClr val="EEF4F4"/>
            </a:solidFill>
          </p:spPr>
        </p:sp>
      </p:grpSp>
      <p:grpSp>
        <p:nvGrpSpPr>
          <p:cNvPr name="Group 176" id="176"/>
          <p:cNvGrpSpPr/>
          <p:nvPr/>
        </p:nvGrpSpPr>
        <p:grpSpPr>
          <a:xfrm rot="0">
            <a:off x="1028700" y="9373653"/>
            <a:ext cx="102870" cy="850392"/>
            <a:chOff x="0" y="0"/>
            <a:chExt cx="137160" cy="1133856"/>
          </a:xfrm>
        </p:grpSpPr>
        <p:sp>
          <p:nvSpPr>
            <p:cNvPr name="Freeform 177" id="177"/>
            <p:cNvSpPr/>
            <p:nvPr/>
          </p:nvSpPr>
          <p:spPr>
            <a:xfrm flipH="false" flipV="false" rot="0">
              <a:off x="0" y="0"/>
              <a:ext cx="137160" cy="1133856"/>
            </a:xfrm>
            <a:custGeom>
              <a:avLst/>
              <a:gdLst/>
              <a:ahLst/>
              <a:cxnLst/>
              <a:rect r="r" b="b" t="t" l="l"/>
              <a:pathLst>
                <a:path h="1133856" w="137160">
                  <a:moveTo>
                    <a:pt x="0" y="0"/>
                  </a:moveTo>
                  <a:lnTo>
                    <a:pt x="137160" y="0"/>
                  </a:lnTo>
                  <a:lnTo>
                    <a:pt x="137160" y="1133856"/>
                  </a:lnTo>
                  <a:lnTo>
                    <a:pt x="0" y="1133856"/>
                  </a:lnTo>
                  <a:close/>
                </a:path>
              </a:pathLst>
            </a:custGeom>
            <a:solidFill>
              <a:srgbClr val="387F7F"/>
            </a:solidFill>
          </p:spPr>
        </p:sp>
      </p:grpSp>
      <p:grpSp>
        <p:nvGrpSpPr>
          <p:cNvPr name="Group 178" id="178"/>
          <p:cNvGrpSpPr/>
          <p:nvPr/>
        </p:nvGrpSpPr>
        <p:grpSpPr>
          <a:xfrm rot="0">
            <a:off x="1577340" y="9373653"/>
            <a:ext cx="13853160" cy="850392"/>
            <a:chOff x="0" y="0"/>
            <a:chExt cx="18470880" cy="1133856"/>
          </a:xfrm>
        </p:grpSpPr>
        <p:sp>
          <p:nvSpPr>
            <p:cNvPr name="Freeform 179" id="179"/>
            <p:cNvSpPr/>
            <p:nvPr/>
          </p:nvSpPr>
          <p:spPr>
            <a:xfrm flipH="false" flipV="false" rot="0">
              <a:off x="0" y="0"/>
              <a:ext cx="18470880" cy="1133856"/>
            </a:xfrm>
            <a:custGeom>
              <a:avLst/>
              <a:gdLst/>
              <a:ahLst/>
              <a:cxnLst/>
              <a:rect r="r" b="b" t="t" l="l"/>
              <a:pathLst>
                <a:path h="1133856" w="18470880">
                  <a:moveTo>
                    <a:pt x="0" y="0"/>
                  </a:moveTo>
                  <a:lnTo>
                    <a:pt x="18470880" y="0"/>
                  </a:lnTo>
                  <a:lnTo>
                    <a:pt x="18470880" y="1133856"/>
                  </a:lnTo>
                  <a:lnTo>
                    <a:pt x="0" y="1133856"/>
                  </a:lnTo>
                  <a:close/>
                </a:path>
              </a:pathLst>
            </a:custGeom>
            <a:blipFill>
              <a:blip r:embed="rId9">
                <a:alphaModFix amt="0"/>
              </a:blip>
              <a:stretch>
                <a:fillRect l="0" t="-267417" r="0" b="-267417"/>
              </a:stretch>
            </a:blipFill>
          </p:spPr>
        </p:sp>
        <p:sp>
          <p:nvSpPr>
            <p:cNvPr name="TextBox 180" id="180"/>
            <p:cNvSpPr txBox="true"/>
            <p:nvPr/>
          </p:nvSpPr>
          <p:spPr>
            <a:xfrm>
              <a:off x="0" y="-95250"/>
              <a:ext cx="18470880" cy="1229106"/>
            </a:xfrm>
            <a:prstGeom prst="rect">
              <a:avLst/>
            </a:prstGeom>
          </p:spPr>
          <p:txBody>
            <a:bodyPr anchor="ctr" rtlCol="false" tIns="0" lIns="0" bIns="0" rIns="0"/>
            <a:lstStyle/>
            <a:p>
              <a:pPr algn="l">
                <a:lnSpc>
                  <a:spcPts val="3280"/>
                </a:lnSpc>
              </a:pPr>
              <a:r>
                <a:rPr lang="en-US" sz="2025" b="true">
                  <a:solidFill>
                    <a:srgbClr val="387F7F"/>
                  </a:solidFill>
                  <a:latin typeface="Poppins Bold"/>
                  <a:ea typeface="Poppins Bold"/>
                  <a:cs typeface="Poppins Bold"/>
                  <a:sym typeface="Poppins Bold"/>
                </a:rPr>
                <a:t>Four dimensions, one fact. Filters flow inward, from the outside of the star to the centre.</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8237339"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On</a:t>
            </a:r>
            <a:r>
              <a:rPr lang="en-US" sz="5000">
                <a:solidFill>
                  <a:srgbClr val="388080"/>
                </a:solidFill>
                <a:latin typeface="Poppins"/>
                <a:ea typeface="Poppins"/>
                <a:cs typeface="Poppins"/>
                <a:sym typeface="Poppins"/>
              </a:rPr>
              <a:t>e rider, many deliveries</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028700" y="2681440"/>
            <a:ext cx="4937760" cy="3497580"/>
            <a:chOff x="0" y="0"/>
            <a:chExt cx="6583680" cy="4663440"/>
          </a:xfrm>
        </p:grpSpPr>
        <p:sp>
          <p:nvSpPr>
            <p:cNvPr name="Freeform 12" id="12"/>
            <p:cNvSpPr/>
            <p:nvPr/>
          </p:nvSpPr>
          <p:spPr>
            <a:xfrm flipH="false" flipV="false" rot="0">
              <a:off x="0" y="0"/>
              <a:ext cx="6583680" cy="4663440"/>
            </a:xfrm>
            <a:custGeom>
              <a:avLst/>
              <a:gdLst/>
              <a:ahLst/>
              <a:cxnLst/>
              <a:rect r="r" b="b" t="t" l="l"/>
              <a:pathLst>
                <a:path h="4663440" w="6583680">
                  <a:moveTo>
                    <a:pt x="0" y="164592"/>
                  </a:moveTo>
                  <a:cubicBezTo>
                    <a:pt x="0" y="73660"/>
                    <a:pt x="73660" y="0"/>
                    <a:pt x="164592" y="0"/>
                  </a:cubicBezTo>
                  <a:lnTo>
                    <a:pt x="6419088" y="0"/>
                  </a:lnTo>
                  <a:cubicBezTo>
                    <a:pt x="6510020" y="0"/>
                    <a:pt x="6583680" y="73660"/>
                    <a:pt x="6583680" y="164592"/>
                  </a:cubicBezTo>
                  <a:lnTo>
                    <a:pt x="6583680" y="4498848"/>
                  </a:lnTo>
                  <a:cubicBezTo>
                    <a:pt x="6583680" y="4589780"/>
                    <a:pt x="6510020" y="4663440"/>
                    <a:pt x="6419088" y="4663440"/>
                  </a:cubicBezTo>
                  <a:lnTo>
                    <a:pt x="164592" y="4663440"/>
                  </a:lnTo>
                  <a:cubicBezTo>
                    <a:pt x="73660" y="4663440"/>
                    <a:pt x="0" y="4589780"/>
                    <a:pt x="0" y="4498848"/>
                  </a:cubicBezTo>
                  <a:close/>
                </a:path>
              </a:pathLst>
            </a:custGeom>
            <a:solidFill>
              <a:srgbClr val="FFFFFF"/>
            </a:solidFill>
          </p:spPr>
        </p:sp>
      </p:grpSp>
      <p:grpSp>
        <p:nvGrpSpPr>
          <p:cNvPr name="Group 13" id="13"/>
          <p:cNvGrpSpPr/>
          <p:nvPr/>
        </p:nvGrpSpPr>
        <p:grpSpPr>
          <a:xfrm rot="0">
            <a:off x="1028700" y="2681440"/>
            <a:ext cx="4937760" cy="617220"/>
            <a:chOff x="0" y="0"/>
            <a:chExt cx="6583680" cy="822960"/>
          </a:xfrm>
        </p:grpSpPr>
        <p:sp>
          <p:nvSpPr>
            <p:cNvPr name="Freeform 14" id="14"/>
            <p:cNvSpPr/>
            <p:nvPr/>
          </p:nvSpPr>
          <p:spPr>
            <a:xfrm flipH="false" flipV="false" rot="0">
              <a:off x="0" y="0"/>
              <a:ext cx="6583680" cy="822960"/>
            </a:xfrm>
            <a:custGeom>
              <a:avLst/>
              <a:gdLst/>
              <a:ahLst/>
              <a:cxnLst/>
              <a:rect r="r" b="b" t="t" l="l"/>
              <a:pathLst>
                <a:path h="822960" w="6583680">
                  <a:moveTo>
                    <a:pt x="0" y="0"/>
                  </a:moveTo>
                  <a:lnTo>
                    <a:pt x="6583680" y="0"/>
                  </a:lnTo>
                  <a:lnTo>
                    <a:pt x="6583680" y="822960"/>
                  </a:lnTo>
                  <a:lnTo>
                    <a:pt x="0" y="822960"/>
                  </a:lnTo>
                  <a:close/>
                </a:path>
              </a:pathLst>
            </a:custGeom>
            <a:solidFill>
              <a:srgbClr val="20494A"/>
            </a:solidFill>
          </p:spPr>
        </p:sp>
      </p:grpSp>
      <p:grpSp>
        <p:nvGrpSpPr>
          <p:cNvPr name="Group 15" id="15"/>
          <p:cNvGrpSpPr/>
          <p:nvPr/>
        </p:nvGrpSpPr>
        <p:grpSpPr>
          <a:xfrm rot="0">
            <a:off x="1028700" y="2681440"/>
            <a:ext cx="4937760" cy="617220"/>
            <a:chOff x="0" y="0"/>
            <a:chExt cx="6583680" cy="822960"/>
          </a:xfrm>
        </p:grpSpPr>
        <p:sp>
          <p:nvSpPr>
            <p:cNvPr name="Freeform 16" id="16"/>
            <p:cNvSpPr/>
            <p:nvPr/>
          </p:nvSpPr>
          <p:spPr>
            <a:xfrm flipH="false" flipV="false" rot="0">
              <a:off x="0" y="0"/>
              <a:ext cx="6583680" cy="822960"/>
            </a:xfrm>
            <a:custGeom>
              <a:avLst/>
              <a:gdLst/>
              <a:ahLst/>
              <a:cxnLst/>
              <a:rect r="r" b="b" t="t" l="l"/>
              <a:pathLst>
                <a:path h="822960" w="6583680">
                  <a:moveTo>
                    <a:pt x="0" y="0"/>
                  </a:moveTo>
                  <a:lnTo>
                    <a:pt x="6583680" y="0"/>
                  </a:lnTo>
                  <a:lnTo>
                    <a:pt x="6583680" y="822960"/>
                  </a:lnTo>
                  <a:lnTo>
                    <a:pt x="0" y="822960"/>
                  </a:lnTo>
                  <a:close/>
                </a:path>
              </a:pathLst>
            </a:custGeom>
            <a:blipFill>
              <a:blip r:embed="rId9">
                <a:alphaModFix amt="0"/>
              </a:blip>
              <a:stretch>
                <a:fillRect l="0" t="-105880" r="0" b="-105880"/>
              </a:stretch>
            </a:blipFill>
          </p:spPr>
        </p:sp>
        <p:sp>
          <p:nvSpPr>
            <p:cNvPr name="TextBox 17" id="17"/>
            <p:cNvSpPr txBox="true"/>
            <p:nvPr/>
          </p:nvSpPr>
          <p:spPr>
            <a:xfrm>
              <a:off x="0" y="-19050"/>
              <a:ext cx="6583680" cy="842010"/>
            </a:xfrm>
            <a:prstGeom prst="rect">
              <a:avLst/>
            </a:prstGeom>
          </p:spPr>
          <p:txBody>
            <a:bodyPr anchor="ctr" rtlCol="false" tIns="0" lIns="0" bIns="0" rIns="0"/>
            <a:lstStyle/>
            <a:p>
              <a:pPr algn="ctr">
                <a:lnSpc>
                  <a:spcPts val="2160"/>
                </a:lnSpc>
              </a:pPr>
              <a:r>
                <a:rPr lang="en-US" sz="1800" b="true">
                  <a:solidFill>
                    <a:srgbClr val="FFFFFF"/>
                  </a:solidFill>
                  <a:latin typeface="Poppins Bold"/>
                  <a:ea typeface="Poppins Bold"/>
                  <a:cs typeface="Poppins Bold"/>
                  <a:sym typeface="Poppins Bold"/>
                </a:rPr>
                <a:t>ONE side  ·  riders</a:t>
              </a:r>
            </a:p>
          </p:txBody>
        </p:sp>
      </p:grpSp>
      <p:grpSp>
        <p:nvGrpSpPr>
          <p:cNvPr name="Group 18" id="18"/>
          <p:cNvGrpSpPr/>
          <p:nvPr/>
        </p:nvGrpSpPr>
        <p:grpSpPr>
          <a:xfrm rot="0">
            <a:off x="1371600" y="3572980"/>
            <a:ext cx="4251960" cy="576072"/>
            <a:chOff x="0" y="0"/>
            <a:chExt cx="5669280" cy="768096"/>
          </a:xfrm>
        </p:grpSpPr>
        <p:sp>
          <p:nvSpPr>
            <p:cNvPr name="Freeform 19" id="19"/>
            <p:cNvSpPr/>
            <p:nvPr/>
          </p:nvSpPr>
          <p:spPr>
            <a:xfrm flipH="false" flipV="false" rot="0">
              <a:off x="0" y="0"/>
              <a:ext cx="5669280" cy="768096"/>
            </a:xfrm>
            <a:custGeom>
              <a:avLst/>
              <a:gdLst/>
              <a:ahLst/>
              <a:cxnLst/>
              <a:rect r="r" b="b" t="t" l="l"/>
              <a:pathLst>
                <a:path h="768096" w="5669280">
                  <a:moveTo>
                    <a:pt x="0" y="0"/>
                  </a:moveTo>
                  <a:lnTo>
                    <a:pt x="5669280" y="0"/>
                  </a:lnTo>
                  <a:lnTo>
                    <a:pt x="5669280" y="768096"/>
                  </a:lnTo>
                  <a:lnTo>
                    <a:pt x="0" y="768096"/>
                  </a:lnTo>
                  <a:close/>
                </a:path>
              </a:pathLst>
            </a:custGeom>
            <a:blipFill>
              <a:blip r:embed="rId9">
                <a:alphaModFix amt="0"/>
              </a:blip>
              <a:stretch>
                <a:fillRect l="0" t="-93818" r="0" b="-93818"/>
              </a:stretch>
            </a:blipFill>
          </p:spPr>
        </p:sp>
        <p:sp>
          <p:nvSpPr>
            <p:cNvPr name="TextBox 20" id="20"/>
            <p:cNvSpPr txBox="true"/>
            <p:nvPr/>
          </p:nvSpPr>
          <p:spPr>
            <a:xfrm>
              <a:off x="0" y="-19050"/>
              <a:ext cx="5669280" cy="787146"/>
            </a:xfrm>
            <a:prstGeom prst="rect">
              <a:avLst/>
            </a:prstGeom>
          </p:spPr>
          <p:txBody>
            <a:bodyPr anchor="ctr" rtlCol="false" tIns="0" lIns="0" bIns="0" rIns="0"/>
            <a:lstStyle/>
            <a:p>
              <a:pPr algn="l">
                <a:lnSpc>
                  <a:spcPts val="2160"/>
                </a:lnSpc>
              </a:pPr>
              <a:r>
                <a:rPr lang="en-US" sz="1800" b="true">
                  <a:solidFill>
                    <a:srgbClr val="387F7F"/>
                  </a:solidFill>
                  <a:latin typeface="Poppins Bold"/>
                  <a:ea typeface="Poppins Bold"/>
                  <a:cs typeface="Poppins Bold"/>
                  <a:sym typeface="Poppins Bold"/>
                </a:rPr>
                <a:t>R-014   Fatima Abubakar</a:t>
              </a:r>
            </a:p>
          </p:txBody>
        </p:sp>
      </p:grpSp>
      <p:grpSp>
        <p:nvGrpSpPr>
          <p:cNvPr name="Group 21" id="21"/>
          <p:cNvGrpSpPr/>
          <p:nvPr/>
        </p:nvGrpSpPr>
        <p:grpSpPr>
          <a:xfrm rot="0">
            <a:off x="1371600" y="4286212"/>
            <a:ext cx="4251960" cy="576072"/>
            <a:chOff x="0" y="0"/>
            <a:chExt cx="5669280" cy="768096"/>
          </a:xfrm>
        </p:grpSpPr>
        <p:sp>
          <p:nvSpPr>
            <p:cNvPr name="Freeform 22" id="22"/>
            <p:cNvSpPr/>
            <p:nvPr/>
          </p:nvSpPr>
          <p:spPr>
            <a:xfrm flipH="false" flipV="false" rot="0">
              <a:off x="0" y="0"/>
              <a:ext cx="5669280" cy="768096"/>
            </a:xfrm>
            <a:custGeom>
              <a:avLst/>
              <a:gdLst/>
              <a:ahLst/>
              <a:cxnLst/>
              <a:rect r="r" b="b" t="t" l="l"/>
              <a:pathLst>
                <a:path h="768096" w="5669280">
                  <a:moveTo>
                    <a:pt x="0" y="0"/>
                  </a:moveTo>
                  <a:lnTo>
                    <a:pt x="5669280" y="0"/>
                  </a:lnTo>
                  <a:lnTo>
                    <a:pt x="5669280" y="768096"/>
                  </a:lnTo>
                  <a:lnTo>
                    <a:pt x="0" y="768096"/>
                  </a:lnTo>
                  <a:close/>
                </a:path>
              </a:pathLst>
            </a:custGeom>
            <a:blipFill>
              <a:blip r:embed="rId9">
                <a:alphaModFix amt="0"/>
              </a:blip>
              <a:stretch>
                <a:fillRect l="0" t="-93818" r="0" b="-93818"/>
              </a:stretch>
            </a:blipFill>
          </p:spPr>
        </p:sp>
        <p:sp>
          <p:nvSpPr>
            <p:cNvPr name="TextBox 23" id="23"/>
            <p:cNvSpPr txBox="true"/>
            <p:nvPr/>
          </p:nvSpPr>
          <p:spPr>
            <a:xfrm>
              <a:off x="0" y="-19050"/>
              <a:ext cx="5669280" cy="787146"/>
            </a:xfrm>
            <a:prstGeom prst="rect">
              <a:avLst/>
            </a:prstGeom>
          </p:spPr>
          <p:txBody>
            <a:bodyPr anchor="ctr" rtlCol="false" tIns="0" lIns="0" bIns="0" rIns="0"/>
            <a:lstStyle/>
            <a:p>
              <a:pPr algn="l">
                <a:lnSpc>
                  <a:spcPts val="2160"/>
                </a:lnSpc>
              </a:pPr>
              <a:r>
                <a:rPr lang="en-US" sz="1800">
                  <a:solidFill>
                    <a:srgbClr val="475569"/>
                  </a:solidFill>
                  <a:latin typeface="Poppins"/>
                  <a:ea typeface="Poppins"/>
                  <a:cs typeface="Poppins"/>
                  <a:sym typeface="Poppins"/>
                </a:rPr>
                <a:t>R-022   Aisha Adeleke</a:t>
              </a:r>
            </a:p>
          </p:txBody>
        </p:sp>
      </p:grpSp>
      <p:grpSp>
        <p:nvGrpSpPr>
          <p:cNvPr name="Group 24" id="24"/>
          <p:cNvGrpSpPr/>
          <p:nvPr/>
        </p:nvGrpSpPr>
        <p:grpSpPr>
          <a:xfrm rot="0">
            <a:off x="1371600" y="4999444"/>
            <a:ext cx="4251960" cy="576072"/>
            <a:chOff x="0" y="0"/>
            <a:chExt cx="5669280" cy="768096"/>
          </a:xfrm>
        </p:grpSpPr>
        <p:sp>
          <p:nvSpPr>
            <p:cNvPr name="Freeform 25" id="25"/>
            <p:cNvSpPr/>
            <p:nvPr/>
          </p:nvSpPr>
          <p:spPr>
            <a:xfrm flipH="false" flipV="false" rot="0">
              <a:off x="0" y="0"/>
              <a:ext cx="5669280" cy="768096"/>
            </a:xfrm>
            <a:custGeom>
              <a:avLst/>
              <a:gdLst/>
              <a:ahLst/>
              <a:cxnLst/>
              <a:rect r="r" b="b" t="t" l="l"/>
              <a:pathLst>
                <a:path h="768096" w="5669280">
                  <a:moveTo>
                    <a:pt x="0" y="0"/>
                  </a:moveTo>
                  <a:lnTo>
                    <a:pt x="5669280" y="0"/>
                  </a:lnTo>
                  <a:lnTo>
                    <a:pt x="5669280" y="768096"/>
                  </a:lnTo>
                  <a:lnTo>
                    <a:pt x="0" y="768096"/>
                  </a:lnTo>
                  <a:close/>
                </a:path>
              </a:pathLst>
            </a:custGeom>
            <a:blipFill>
              <a:blip r:embed="rId9">
                <a:alphaModFix amt="0"/>
              </a:blip>
              <a:stretch>
                <a:fillRect l="0" t="-93818" r="0" b="-93818"/>
              </a:stretch>
            </a:blipFill>
          </p:spPr>
        </p:sp>
        <p:sp>
          <p:nvSpPr>
            <p:cNvPr name="TextBox 26" id="26"/>
            <p:cNvSpPr txBox="true"/>
            <p:nvPr/>
          </p:nvSpPr>
          <p:spPr>
            <a:xfrm>
              <a:off x="0" y="-19050"/>
              <a:ext cx="5669280" cy="787146"/>
            </a:xfrm>
            <a:prstGeom prst="rect">
              <a:avLst/>
            </a:prstGeom>
          </p:spPr>
          <p:txBody>
            <a:bodyPr anchor="ctr" rtlCol="false" tIns="0" lIns="0" bIns="0" rIns="0"/>
            <a:lstStyle/>
            <a:p>
              <a:pPr algn="l">
                <a:lnSpc>
                  <a:spcPts val="2160"/>
                </a:lnSpc>
              </a:pPr>
              <a:r>
                <a:rPr lang="en-US" sz="1800">
                  <a:solidFill>
                    <a:srgbClr val="475569"/>
                  </a:solidFill>
                  <a:latin typeface="Poppins"/>
                  <a:ea typeface="Poppins"/>
                  <a:cs typeface="Poppins"/>
                  <a:sym typeface="Poppins"/>
                </a:rPr>
                <a:t>R-041   Emeka Nwosu</a:t>
              </a:r>
            </a:p>
          </p:txBody>
        </p:sp>
      </p:grpSp>
      <p:sp>
        <p:nvSpPr>
          <p:cNvPr name="AutoShape 27" id="27"/>
          <p:cNvSpPr/>
          <p:nvPr/>
        </p:nvSpPr>
        <p:spPr>
          <a:xfrm>
            <a:off x="5942652" y="4372118"/>
            <a:ext cx="2173606" cy="61360"/>
          </a:xfrm>
          <a:prstGeom prst="line">
            <a:avLst/>
          </a:prstGeom>
          <a:ln cap="rnd" w="28575">
            <a:solidFill>
              <a:srgbClr val="387F7F"/>
            </a:solidFill>
            <a:prstDash val="solid"/>
            <a:headEnd type="none" len="sm" w="sm"/>
            <a:tailEnd type="none" len="sm" w="sm"/>
          </a:ln>
        </p:spPr>
      </p:sp>
      <p:grpSp>
        <p:nvGrpSpPr>
          <p:cNvPr name="Group 28" id="28"/>
          <p:cNvGrpSpPr/>
          <p:nvPr/>
        </p:nvGrpSpPr>
        <p:grpSpPr>
          <a:xfrm rot="0">
            <a:off x="6062472" y="3957028"/>
            <a:ext cx="411480" cy="411480"/>
            <a:chOff x="0" y="0"/>
            <a:chExt cx="548640" cy="548640"/>
          </a:xfrm>
        </p:grpSpPr>
        <p:sp>
          <p:nvSpPr>
            <p:cNvPr name="Freeform 29" id="29"/>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close/>
                </a:path>
              </a:pathLst>
            </a:custGeom>
            <a:blipFill>
              <a:blip r:embed="rId9">
                <a:alphaModFix amt="0"/>
              </a:blip>
              <a:stretch>
                <a:fillRect l="-78303" t="0" r="-78303" b="0"/>
              </a:stretch>
            </a:blipFill>
          </p:spPr>
        </p:sp>
        <p:sp>
          <p:nvSpPr>
            <p:cNvPr name="TextBox 30" id="30"/>
            <p:cNvSpPr txBox="true"/>
            <p:nvPr/>
          </p:nvSpPr>
          <p:spPr>
            <a:xfrm>
              <a:off x="0" y="-19050"/>
              <a:ext cx="548640" cy="567690"/>
            </a:xfrm>
            <a:prstGeom prst="rect">
              <a:avLst/>
            </a:prstGeom>
          </p:spPr>
          <p:txBody>
            <a:bodyPr anchor="ctr" rtlCol="false" tIns="0" lIns="0" bIns="0" rIns="0"/>
            <a:lstStyle/>
            <a:p>
              <a:pPr algn="ctr">
                <a:lnSpc>
                  <a:spcPts val="2340"/>
                </a:lnSpc>
              </a:pPr>
              <a:r>
                <a:rPr lang="en-US" sz="1950" b="true">
                  <a:solidFill>
                    <a:srgbClr val="387F7F"/>
                  </a:solidFill>
                  <a:latin typeface="Poppins Bold"/>
                  <a:ea typeface="Poppins Bold"/>
                  <a:cs typeface="Poppins Bold"/>
                  <a:sym typeface="Poppins Bold"/>
                </a:rPr>
                <a:t>1</a:t>
              </a:r>
            </a:p>
          </p:txBody>
        </p:sp>
      </p:grpSp>
      <p:grpSp>
        <p:nvGrpSpPr>
          <p:cNvPr name="Group 31" id="31"/>
          <p:cNvGrpSpPr/>
          <p:nvPr/>
        </p:nvGrpSpPr>
        <p:grpSpPr>
          <a:xfrm rot="0">
            <a:off x="7543800" y="3874732"/>
            <a:ext cx="411480" cy="466344"/>
            <a:chOff x="0" y="0"/>
            <a:chExt cx="548640" cy="621792"/>
          </a:xfrm>
        </p:grpSpPr>
        <p:sp>
          <p:nvSpPr>
            <p:cNvPr name="Freeform 32" id="32"/>
            <p:cNvSpPr/>
            <p:nvPr/>
          </p:nvSpPr>
          <p:spPr>
            <a:xfrm flipH="false" flipV="false" rot="0">
              <a:off x="0" y="0"/>
              <a:ext cx="548640" cy="621792"/>
            </a:xfrm>
            <a:custGeom>
              <a:avLst/>
              <a:gdLst/>
              <a:ahLst/>
              <a:cxnLst/>
              <a:rect r="r" b="b" t="t" l="l"/>
              <a:pathLst>
                <a:path h="621792" w="548640">
                  <a:moveTo>
                    <a:pt x="0" y="0"/>
                  </a:moveTo>
                  <a:lnTo>
                    <a:pt x="548640" y="0"/>
                  </a:lnTo>
                  <a:lnTo>
                    <a:pt x="548640" y="621792"/>
                  </a:lnTo>
                  <a:lnTo>
                    <a:pt x="0" y="621792"/>
                  </a:lnTo>
                  <a:close/>
                </a:path>
              </a:pathLst>
            </a:custGeom>
            <a:blipFill>
              <a:blip r:embed="rId9">
                <a:alphaModFix amt="0"/>
              </a:blip>
              <a:stretch>
                <a:fillRect l="-95410" t="0" r="-95410" b="0"/>
              </a:stretch>
            </a:blipFill>
          </p:spPr>
        </p:sp>
        <p:sp>
          <p:nvSpPr>
            <p:cNvPr name="TextBox 33" id="33"/>
            <p:cNvSpPr txBox="true"/>
            <p:nvPr/>
          </p:nvSpPr>
          <p:spPr>
            <a:xfrm>
              <a:off x="0" y="-38100"/>
              <a:ext cx="548640" cy="659892"/>
            </a:xfrm>
            <a:prstGeom prst="rect">
              <a:avLst/>
            </a:prstGeom>
          </p:spPr>
          <p:txBody>
            <a:bodyPr anchor="ctr" rtlCol="false" tIns="0" lIns="0" bIns="0" rIns="0"/>
            <a:lstStyle/>
            <a:p>
              <a:pPr algn="ctr">
                <a:lnSpc>
                  <a:spcPts val="3419"/>
                </a:lnSpc>
              </a:pPr>
              <a:r>
                <a:rPr lang="en-US" sz="2850" b="true">
                  <a:solidFill>
                    <a:srgbClr val="387F7F"/>
                  </a:solidFill>
                  <a:latin typeface="Poppins Bold"/>
                  <a:ea typeface="Poppins Bold"/>
                  <a:cs typeface="Poppins Bold"/>
                  <a:sym typeface="Poppins Bold"/>
                </a:rPr>
                <a:t>∗</a:t>
              </a:r>
            </a:p>
          </p:txBody>
        </p:sp>
      </p:grpSp>
      <p:grpSp>
        <p:nvGrpSpPr>
          <p:cNvPr name="Group 34" id="34"/>
          <p:cNvGrpSpPr/>
          <p:nvPr/>
        </p:nvGrpSpPr>
        <p:grpSpPr>
          <a:xfrm rot="0">
            <a:off x="8161020" y="2681440"/>
            <a:ext cx="7612380" cy="4594860"/>
            <a:chOff x="0" y="0"/>
            <a:chExt cx="10149840" cy="6126480"/>
          </a:xfrm>
        </p:grpSpPr>
        <p:sp>
          <p:nvSpPr>
            <p:cNvPr name="Freeform 35" id="35"/>
            <p:cNvSpPr/>
            <p:nvPr/>
          </p:nvSpPr>
          <p:spPr>
            <a:xfrm flipH="false" flipV="false" rot="0">
              <a:off x="0" y="0"/>
              <a:ext cx="10149840" cy="6126480"/>
            </a:xfrm>
            <a:custGeom>
              <a:avLst/>
              <a:gdLst/>
              <a:ahLst/>
              <a:cxnLst/>
              <a:rect r="r" b="b" t="t" l="l"/>
              <a:pathLst>
                <a:path h="6126480" w="10149840">
                  <a:moveTo>
                    <a:pt x="0" y="164592"/>
                  </a:moveTo>
                  <a:cubicBezTo>
                    <a:pt x="0" y="73660"/>
                    <a:pt x="73660" y="0"/>
                    <a:pt x="164592" y="0"/>
                  </a:cubicBezTo>
                  <a:lnTo>
                    <a:pt x="9985248" y="0"/>
                  </a:lnTo>
                  <a:cubicBezTo>
                    <a:pt x="10076180" y="0"/>
                    <a:pt x="10149840" y="73660"/>
                    <a:pt x="10149840" y="164592"/>
                  </a:cubicBezTo>
                  <a:lnTo>
                    <a:pt x="10149840" y="5961888"/>
                  </a:lnTo>
                  <a:cubicBezTo>
                    <a:pt x="10149840" y="6052820"/>
                    <a:pt x="10076180" y="6126480"/>
                    <a:pt x="9985248" y="6126480"/>
                  </a:cubicBezTo>
                  <a:lnTo>
                    <a:pt x="164592" y="6126480"/>
                  </a:lnTo>
                  <a:cubicBezTo>
                    <a:pt x="73660" y="6126480"/>
                    <a:pt x="0" y="6052820"/>
                    <a:pt x="0" y="5961888"/>
                  </a:cubicBezTo>
                  <a:close/>
                </a:path>
              </a:pathLst>
            </a:custGeom>
            <a:solidFill>
              <a:srgbClr val="FFFFFF"/>
            </a:solidFill>
          </p:spPr>
        </p:sp>
      </p:grpSp>
      <p:grpSp>
        <p:nvGrpSpPr>
          <p:cNvPr name="Group 36" id="36"/>
          <p:cNvGrpSpPr/>
          <p:nvPr/>
        </p:nvGrpSpPr>
        <p:grpSpPr>
          <a:xfrm rot="0">
            <a:off x="8161020" y="2681440"/>
            <a:ext cx="7612380" cy="617220"/>
            <a:chOff x="0" y="0"/>
            <a:chExt cx="10149840" cy="822960"/>
          </a:xfrm>
        </p:grpSpPr>
        <p:sp>
          <p:nvSpPr>
            <p:cNvPr name="Freeform 37" id="37"/>
            <p:cNvSpPr/>
            <p:nvPr/>
          </p:nvSpPr>
          <p:spPr>
            <a:xfrm flipH="false" flipV="false" rot="0">
              <a:off x="0" y="0"/>
              <a:ext cx="10149840" cy="822960"/>
            </a:xfrm>
            <a:custGeom>
              <a:avLst/>
              <a:gdLst/>
              <a:ahLst/>
              <a:cxnLst/>
              <a:rect r="r" b="b" t="t" l="l"/>
              <a:pathLst>
                <a:path h="822960" w="10149840">
                  <a:moveTo>
                    <a:pt x="0" y="0"/>
                  </a:moveTo>
                  <a:lnTo>
                    <a:pt x="10149840" y="0"/>
                  </a:lnTo>
                  <a:lnTo>
                    <a:pt x="10149840" y="822960"/>
                  </a:lnTo>
                  <a:lnTo>
                    <a:pt x="0" y="822960"/>
                  </a:lnTo>
                  <a:close/>
                </a:path>
              </a:pathLst>
            </a:custGeom>
            <a:solidFill>
              <a:srgbClr val="387F7F"/>
            </a:solidFill>
          </p:spPr>
        </p:sp>
      </p:grpSp>
      <p:grpSp>
        <p:nvGrpSpPr>
          <p:cNvPr name="Group 38" id="38"/>
          <p:cNvGrpSpPr/>
          <p:nvPr/>
        </p:nvGrpSpPr>
        <p:grpSpPr>
          <a:xfrm rot="0">
            <a:off x="8161020" y="2681440"/>
            <a:ext cx="7612380" cy="617220"/>
            <a:chOff x="0" y="0"/>
            <a:chExt cx="10149840" cy="822960"/>
          </a:xfrm>
        </p:grpSpPr>
        <p:sp>
          <p:nvSpPr>
            <p:cNvPr name="Freeform 39" id="39"/>
            <p:cNvSpPr/>
            <p:nvPr/>
          </p:nvSpPr>
          <p:spPr>
            <a:xfrm flipH="false" flipV="false" rot="0">
              <a:off x="0" y="0"/>
              <a:ext cx="10149840" cy="822960"/>
            </a:xfrm>
            <a:custGeom>
              <a:avLst/>
              <a:gdLst/>
              <a:ahLst/>
              <a:cxnLst/>
              <a:rect r="r" b="b" t="t" l="l"/>
              <a:pathLst>
                <a:path h="822960" w="10149840">
                  <a:moveTo>
                    <a:pt x="0" y="0"/>
                  </a:moveTo>
                  <a:lnTo>
                    <a:pt x="10149840" y="0"/>
                  </a:lnTo>
                  <a:lnTo>
                    <a:pt x="10149840" y="822960"/>
                  </a:lnTo>
                  <a:lnTo>
                    <a:pt x="0" y="822960"/>
                  </a:lnTo>
                  <a:close/>
                </a:path>
              </a:pathLst>
            </a:custGeom>
            <a:blipFill>
              <a:blip r:embed="rId9">
                <a:alphaModFix amt="0"/>
              </a:blip>
              <a:stretch>
                <a:fillRect l="0" t="-190315" r="0" b="-190315"/>
              </a:stretch>
            </a:blipFill>
          </p:spPr>
        </p:sp>
        <p:sp>
          <p:nvSpPr>
            <p:cNvPr name="TextBox 40" id="40"/>
            <p:cNvSpPr txBox="true"/>
            <p:nvPr/>
          </p:nvSpPr>
          <p:spPr>
            <a:xfrm>
              <a:off x="0" y="-19050"/>
              <a:ext cx="10149840" cy="842010"/>
            </a:xfrm>
            <a:prstGeom prst="rect">
              <a:avLst/>
            </a:prstGeom>
          </p:spPr>
          <p:txBody>
            <a:bodyPr anchor="ctr" rtlCol="false" tIns="0" lIns="0" bIns="0" rIns="0"/>
            <a:lstStyle/>
            <a:p>
              <a:pPr algn="ctr">
                <a:lnSpc>
                  <a:spcPts val="2160"/>
                </a:lnSpc>
              </a:pPr>
              <a:r>
                <a:rPr lang="en-US" sz="1800" b="true">
                  <a:solidFill>
                    <a:srgbClr val="FFFFFF"/>
                  </a:solidFill>
                  <a:latin typeface="Poppins Bold"/>
                  <a:ea typeface="Poppins Bold"/>
                  <a:cs typeface="Poppins Bold"/>
                  <a:sym typeface="Poppins Bold"/>
                </a:rPr>
                <a:t>MANY side  ·  swiftroute_deliveries</a:t>
              </a:r>
            </a:p>
          </p:txBody>
        </p:sp>
      </p:grpSp>
      <p:grpSp>
        <p:nvGrpSpPr>
          <p:cNvPr name="Group 41" id="41"/>
          <p:cNvGrpSpPr/>
          <p:nvPr/>
        </p:nvGrpSpPr>
        <p:grpSpPr>
          <a:xfrm rot="0">
            <a:off x="8161020" y="3504400"/>
            <a:ext cx="7612380" cy="576072"/>
            <a:chOff x="0" y="0"/>
            <a:chExt cx="10149840" cy="768096"/>
          </a:xfrm>
        </p:grpSpPr>
        <p:sp>
          <p:nvSpPr>
            <p:cNvPr name="Freeform 42" id="42"/>
            <p:cNvSpPr/>
            <p:nvPr/>
          </p:nvSpPr>
          <p:spPr>
            <a:xfrm flipH="false" flipV="false" rot="0">
              <a:off x="0" y="0"/>
              <a:ext cx="10149840" cy="768096"/>
            </a:xfrm>
            <a:custGeom>
              <a:avLst/>
              <a:gdLst/>
              <a:ahLst/>
              <a:cxnLst/>
              <a:rect r="r" b="b" t="t" l="l"/>
              <a:pathLst>
                <a:path h="768096" w="10149840">
                  <a:moveTo>
                    <a:pt x="0" y="0"/>
                  </a:moveTo>
                  <a:lnTo>
                    <a:pt x="10149840" y="0"/>
                  </a:lnTo>
                  <a:lnTo>
                    <a:pt x="10149840" y="768096"/>
                  </a:lnTo>
                  <a:lnTo>
                    <a:pt x="0" y="768096"/>
                  </a:lnTo>
                  <a:close/>
                </a:path>
              </a:pathLst>
            </a:custGeom>
            <a:solidFill>
              <a:srgbClr val="E8F2F1"/>
            </a:solidFill>
          </p:spPr>
        </p:sp>
      </p:grpSp>
      <p:grpSp>
        <p:nvGrpSpPr>
          <p:cNvPr name="Group 43" id="43"/>
          <p:cNvGrpSpPr/>
          <p:nvPr/>
        </p:nvGrpSpPr>
        <p:grpSpPr>
          <a:xfrm rot="0">
            <a:off x="8572500" y="3504400"/>
            <a:ext cx="2743200" cy="576072"/>
            <a:chOff x="0" y="0"/>
            <a:chExt cx="3657600" cy="768096"/>
          </a:xfrm>
        </p:grpSpPr>
        <p:sp>
          <p:nvSpPr>
            <p:cNvPr name="Freeform 44" id="44"/>
            <p:cNvSpPr/>
            <p:nvPr/>
          </p:nvSpPr>
          <p:spPr>
            <a:xfrm flipH="false" flipV="false" rot="0">
              <a:off x="0" y="0"/>
              <a:ext cx="3657600" cy="768096"/>
            </a:xfrm>
            <a:custGeom>
              <a:avLst/>
              <a:gdLst/>
              <a:ahLst/>
              <a:cxnLst/>
              <a:rect r="r" b="b" t="t" l="l"/>
              <a:pathLst>
                <a:path h="768096" w="3657600">
                  <a:moveTo>
                    <a:pt x="0" y="0"/>
                  </a:moveTo>
                  <a:lnTo>
                    <a:pt x="3657600" y="0"/>
                  </a:lnTo>
                  <a:lnTo>
                    <a:pt x="3657600" y="768096"/>
                  </a:lnTo>
                  <a:lnTo>
                    <a:pt x="0" y="768096"/>
                  </a:lnTo>
                  <a:close/>
                </a:path>
              </a:pathLst>
            </a:custGeom>
            <a:blipFill>
              <a:blip r:embed="rId9">
                <a:alphaModFix amt="0"/>
              </a:blip>
              <a:stretch>
                <a:fillRect l="0" t="-42785" r="0" b="-42785"/>
              </a:stretch>
            </a:blipFill>
          </p:spPr>
        </p:sp>
        <p:sp>
          <p:nvSpPr>
            <p:cNvPr name="TextBox 45" id="45"/>
            <p:cNvSpPr txBox="true"/>
            <p:nvPr/>
          </p:nvSpPr>
          <p:spPr>
            <a:xfrm>
              <a:off x="0" y="-9525"/>
              <a:ext cx="3657600" cy="777621"/>
            </a:xfrm>
            <a:prstGeom prst="rect">
              <a:avLst/>
            </a:prstGeom>
          </p:spPr>
          <p:txBody>
            <a:bodyPr anchor="ctr" rtlCol="false" tIns="0" lIns="0" bIns="0" rIns="0"/>
            <a:lstStyle/>
            <a:p>
              <a:pPr algn="l">
                <a:lnSpc>
                  <a:spcPts val="2070"/>
                </a:lnSpc>
              </a:pPr>
              <a:r>
                <a:rPr lang="en-US" sz="1725">
                  <a:solidFill>
                    <a:srgbClr val="475569"/>
                  </a:solidFill>
                  <a:latin typeface="Poppins"/>
                  <a:ea typeface="Poppins"/>
                  <a:cs typeface="Poppins"/>
                  <a:sym typeface="Poppins"/>
                </a:rPr>
                <a:t>D-000019</a:t>
              </a:r>
            </a:p>
          </p:txBody>
        </p:sp>
      </p:grpSp>
      <p:grpSp>
        <p:nvGrpSpPr>
          <p:cNvPr name="Group 46" id="46"/>
          <p:cNvGrpSpPr/>
          <p:nvPr/>
        </p:nvGrpSpPr>
        <p:grpSpPr>
          <a:xfrm rot="0">
            <a:off x="11521440" y="3504400"/>
            <a:ext cx="2743200" cy="576072"/>
            <a:chOff x="0" y="0"/>
            <a:chExt cx="3657600" cy="768096"/>
          </a:xfrm>
        </p:grpSpPr>
        <p:sp>
          <p:nvSpPr>
            <p:cNvPr name="Freeform 47" id="47"/>
            <p:cNvSpPr/>
            <p:nvPr/>
          </p:nvSpPr>
          <p:spPr>
            <a:xfrm flipH="false" flipV="false" rot="0">
              <a:off x="0" y="0"/>
              <a:ext cx="3657600" cy="768096"/>
            </a:xfrm>
            <a:custGeom>
              <a:avLst/>
              <a:gdLst/>
              <a:ahLst/>
              <a:cxnLst/>
              <a:rect r="r" b="b" t="t" l="l"/>
              <a:pathLst>
                <a:path h="768096" w="3657600">
                  <a:moveTo>
                    <a:pt x="0" y="0"/>
                  </a:moveTo>
                  <a:lnTo>
                    <a:pt x="3657600" y="0"/>
                  </a:lnTo>
                  <a:lnTo>
                    <a:pt x="3657600" y="768096"/>
                  </a:lnTo>
                  <a:lnTo>
                    <a:pt x="0" y="768096"/>
                  </a:lnTo>
                  <a:close/>
                </a:path>
              </a:pathLst>
            </a:custGeom>
            <a:blipFill>
              <a:blip r:embed="rId9">
                <a:alphaModFix amt="0"/>
              </a:blip>
              <a:stretch>
                <a:fillRect l="0" t="-42785" r="0" b="-42785"/>
              </a:stretch>
            </a:blipFill>
          </p:spPr>
        </p:sp>
        <p:sp>
          <p:nvSpPr>
            <p:cNvPr name="TextBox 48" id="48"/>
            <p:cNvSpPr txBox="true"/>
            <p:nvPr/>
          </p:nvSpPr>
          <p:spPr>
            <a:xfrm>
              <a:off x="0" y="-9525"/>
              <a:ext cx="3657600" cy="777621"/>
            </a:xfrm>
            <a:prstGeom prst="rect">
              <a:avLst/>
            </a:prstGeom>
          </p:spPr>
          <p:txBody>
            <a:bodyPr anchor="ctr" rtlCol="false" tIns="0" lIns="0" bIns="0" rIns="0"/>
            <a:lstStyle/>
            <a:p>
              <a:pPr algn="l">
                <a:lnSpc>
                  <a:spcPts val="2070"/>
                </a:lnSpc>
              </a:pPr>
              <a:r>
                <a:rPr lang="en-US" sz="1725" b="true">
                  <a:solidFill>
                    <a:srgbClr val="387F7F"/>
                  </a:solidFill>
                  <a:latin typeface="Poppins Bold"/>
                  <a:ea typeface="Poppins Bold"/>
                  <a:cs typeface="Poppins Bold"/>
                  <a:sym typeface="Poppins Bold"/>
                </a:rPr>
                <a:t>R-014</a:t>
              </a:r>
            </a:p>
          </p:txBody>
        </p:sp>
      </p:grpSp>
      <p:grpSp>
        <p:nvGrpSpPr>
          <p:cNvPr name="Group 49" id="49"/>
          <p:cNvGrpSpPr/>
          <p:nvPr/>
        </p:nvGrpSpPr>
        <p:grpSpPr>
          <a:xfrm rot="0">
            <a:off x="8572500" y="4080472"/>
            <a:ext cx="2743200" cy="576072"/>
            <a:chOff x="0" y="0"/>
            <a:chExt cx="3657600" cy="768096"/>
          </a:xfrm>
        </p:grpSpPr>
        <p:sp>
          <p:nvSpPr>
            <p:cNvPr name="Freeform 50" id="50"/>
            <p:cNvSpPr/>
            <p:nvPr/>
          </p:nvSpPr>
          <p:spPr>
            <a:xfrm flipH="false" flipV="false" rot="0">
              <a:off x="0" y="0"/>
              <a:ext cx="3657600" cy="768096"/>
            </a:xfrm>
            <a:custGeom>
              <a:avLst/>
              <a:gdLst/>
              <a:ahLst/>
              <a:cxnLst/>
              <a:rect r="r" b="b" t="t" l="l"/>
              <a:pathLst>
                <a:path h="768096" w="3657600">
                  <a:moveTo>
                    <a:pt x="0" y="0"/>
                  </a:moveTo>
                  <a:lnTo>
                    <a:pt x="3657600" y="0"/>
                  </a:lnTo>
                  <a:lnTo>
                    <a:pt x="3657600" y="768096"/>
                  </a:lnTo>
                  <a:lnTo>
                    <a:pt x="0" y="768096"/>
                  </a:lnTo>
                  <a:close/>
                </a:path>
              </a:pathLst>
            </a:custGeom>
            <a:blipFill>
              <a:blip r:embed="rId9">
                <a:alphaModFix amt="0"/>
              </a:blip>
              <a:stretch>
                <a:fillRect l="0" t="-42785" r="0" b="-42785"/>
              </a:stretch>
            </a:blipFill>
          </p:spPr>
        </p:sp>
        <p:sp>
          <p:nvSpPr>
            <p:cNvPr name="TextBox 51" id="51"/>
            <p:cNvSpPr txBox="true"/>
            <p:nvPr/>
          </p:nvSpPr>
          <p:spPr>
            <a:xfrm>
              <a:off x="0" y="-9525"/>
              <a:ext cx="3657600" cy="777621"/>
            </a:xfrm>
            <a:prstGeom prst="rect">
              <a:avLst/>
            </a:prstGeom>
          </p:spPr>
          <p:txBody>
            <a:bodyPr anchor="ctr" rtlCol="false" tIns="0" lIns="0" bIns="0" rIns="0"/>
            <a:lstStyle/>
            <a:p>
              <a:pPr algn="l">
                <a:lnSpc>
                  <a:spcPts val="2070"/>
                </a:lnSpc>
              </a:pPr>
              <a:r>
                <a:rPr lang="en-US" sz="1725">
                  <a:solidFill>
                    <a:srgbClr val="475569"/>
                  </a:solidFill>
                  <a:latin typeface="Poppins"/>
                  <a:ea typeface="Poppins"/>
                  <a:cs typeface="Poppins"/>
                  <a:sym typeface="Poppins"/>
                </a:rPr>
                <a:t>D-000037</a:t>
              </a:r>
            </a:p>
          </p:txBody>
        </p:sp>
      </p:grpSp>
      <p:grpSp>
        <p:nvGrpSpPr>
          <p:cNvPr name="Group 52" id="52"/>
          <p:cNvGrpSpPr/>
          <p:nvPr/>
        </p:nvGrpSpPr>
        <p:grpSpPr>
          <a:xfrm rot="0">
            <a:off x="11521440" y="4080472"/>
            <a:ext cx="2743200" cy="576072"/>
            <a:chOff x="0" y="0"/>
            <a:chExt cx="3657600" cy="768096"/>
          </a:xfrm>
        </p:grpSpPr>
        <p:sp>
          <p:nvSpPr>
            <p:cNvPr name="Freeform 53" id="53"/>
            <p:cNvSpPr/>
            <p:nvPr/>
          </p:nvSpPr>
          <p:spPr>
            <a:xfrm flipH="false" flipV="false" rot="0">
              <a:off x="0" y="0"/>
              <a:ext cx="3657600" cy="768096"/>
            </a:xfrm>
            <a:custGeom>
              <a:avLst/>
              <a:gdLst/>
              <a:ahLst/>
              <a:cxnLst/>
              <a:rect r="r" b="b" t="t" l="l"/>
              <a:pathLst>
                <a:path h="768096" w="3657600">
                  <a:moveTo>
                    <a:pt x="0" y="0"/>
                  </a:moveTo>
                  <a:lnTo>
                    <a:pt x="3657600" y="0"/>
                  </a:lnTo>
                  <a:lnTo>
                    <a:pt x="3657600" y="768096"/>
                  </a:lnTo>
                  <a:lnTo>
                    <a:pt x="0" y="768096"/>
                  </a:lnTo>
                  <a:close/>
                </a:path>
              </a:pathLst>
            </a:custGeom>
            <a:blipFill>
              <a:blip r:embed="rId9">
                <a:alphaModFix amt="0"/>
              </a:blip>
              <a:stretch>
                <a:fillRect l="0" t="-42785" r="0" b="-42785"/>
              </a:stretch>
            </a:blipFill>
          </p:spPr>
        </p:sp>
        <p:sp>
          <p:nvSpPr>
            <p:cNvPr name="TextBox 54" id="54"/>
            <p:cNvSpPr txBox="true"/>
            <p:nvPr/>
          </p:nvSpPr>
          <p:spPr>
            <a:xfrm>
              <a:off x="0" y="-9525"/>
              <a:ext cx="3657600" cy="777621"/>
            </a:xfrm>
            <a:prstGeom prst="rect">
              <a:avLst/>
            </a:prstGeom>
          </p:spPr>
          <p:txBody>
            <a:bodyPr anchor="ctr" rtlCol="false" tIns="0" lIns="0" bIns="0" rIns="0"/>
            <a:lstStyle/>
            <a:p>
              <a:pPr algn="l">
                <a:lnSpc>
                  <a:spcPts val="2070"/>
                </a:lnSpc>
              </a:pPr>
              <a:r>
                <a:rPr lang="en-US" sz="1725">
                  <a:solidFill>
                    <a:srgbClr val="475569"/>
                  </a:solidFill>
                  <a:latin typeface="Poppins"/>
                  <a:ea typeface="Poppins"/>
                  <a:cs typeface="Poppins"/>
                  <a:sym typeface="Poppins"/>
                </a:rPr>
                <a:t>R-022</a:t>
              </a:r>
            </a:p>
          </p:txBody>
        </p:sp>
      </p:grpSp>
      <p:grpSp>
        <p:nvGrpSpPr>
          <p:cNvPr name="Group 55" id="55"/>
          <p:cNvGrpSpPr/>
          <p:nvPr/>
        </p:nvGrpSpPr>
        <p:grpSpPr>
          <a:xfrm rot="0">
            <a:off x="8161020" y="4656544"/>
            <a:ext cx="7612380" cy="576072"/>
            <a:chOff x="0" y="0"/>
            <a:chExt cx="10149840" cy="768096"/>
          </a:xfrm>
        </p:grpSpPr>
        <p:sp>
          <p:nvSpPr>
            <p:cNvPr name="Freeform 56" id="56"/>
            <p:cNvSpPr/>
            <p:nvPr/>
          </p:nvSpPr>
          <p:spPr>
            <a:xfrm flipH="false" flipV="false" rot="0">
              <a:off x="0" y="0"/>
              <a:ext cx="10149840" cy="768096"/>
            </a:xfrm>
            <a:custGeom>
              <a:avLst/>
              <a:gdLst/>
              <a:ahLst/>
              <a:cxnLst/>
              <a:rect r="r" b="b" t="t" l="l"/>
              <a:pathLst>
                <a:path h="768096" w="10149840">
                  <a:moveTo>
                    <a:pt x="0" y="0"/>
                  </a:moveTo>
                  <a:lnTo>
                    <a:pt x="10149840" y="0"/>
                  </a:lnTo>
                  <a:lnTo>
                    <a:pt x="10149840" y="768096"/>
                  </a:lnTo>
                  <a:lnTo>
                    <a:pt x="0" y="768096"/>
                  </a:lnTo>
                  <a:close/>
                </a:path>
              </a:pathLst>
            </a:custGeom>
            <a:solidFill>
              <a:srgbClr val="E8F2F1"/>
            </a:solidFill>
          </p:spPr>
        </p:sp>
      </p:grpSp>
      <p:grpSp>
        <p:nvGrpSpPr>
          <p:cNvPr name="Group 57" id="57"/>
          <p:cNvGrpSpPr/>
          <p:nvPr/>
        </p:nvGrpSpPr>
        <p:grpSpPr>
          <a:xfrm rot="0">
            <a:off x="8572500" y="4656544"/>
            <a:ext cx="2743200" cy="576072"/>
            <a:chOff x="0" y="0"/>
            <a:chExt cx="3657600" cy="768096"/>
          </a:xfrm>
        </p:grpSpPr>
        <p:sp>
          <p:nvSpPr>
            <p:cNvPr name="Freeform 58" id="58"/>
            <p:cNvSpPr/>
            <p:nvPr/>
          </p:nvSpPr>
          <p:spPr>
            <a:xfrm flipH="false" flipV="false" rot="0">
              <a:off x="0" y="0"/>
              <a:ext cx="3657600" cy="768096"/>
            </a:xfrm>
            <a:custGeom>
              <a:avLst/>
              <a:gdLst/>
              <a:ahLst/>
              <a:cxnLst/>
              <a:rect r="r" b="b" t="t" l="l"/>
              <a:pathLst>
                <a:path h="768096" w="3657600">
                  <a:moveTo>
                    <a:pt x="0" y="0"/>
                  </a:moveTo>
                  <a:lnTo>
                    <a:pt x="3657600" y="0"/>
                  </a:lnTo>
                  <a:lnTo>
                    <a:pt x="3657600" y="768096"/>
                  </a:lnTo>
                  <a:lnTo>
                    <a:pt x="0" y="768096"/>
                  </a:lnTo>
                  <a:close/>
                </a:path>
              </a:pathLst>
            </a:custGeom>
            <a:blipFill>
              <a:blip r:embed="rId9">
                <a:alphaModFix amt="0"/>
              </a:blip>
              <a:stretch>
                <a:fillRect l="0" t="-42785" r="0" b="-42785"/>
              </a:stretch>
            </a:blipFill>
          </p:spPr>
        </p:sp>
        <p:sp>
          <p:nvSpPr>
            <p:cNvPr name="TextBox 59" id="59"/>
            <p:cNvSpPr txBox="true"/>
            <p:nvPr/>
          </p:nvSpPr>
          <p:spPr>
            <a:xfrm>
              <a:off x="0" y="-9525"/>
              <a:ext cx="3657600" cy="777621"/>
            </a:xfrm>
            <a:prstGeom prst="rect">
              <a:avLst/>
            </a:prstGeom>
          </p:spPr>
          <p:txBody>
            <a:bodyPr anchor="ctr" rtlCol="false" tIns="0" lIns="0" bIns="0" rIns="0"/>
            <a:lstStyle/>
            <a:p>
              <a:pPr algn="l">
                <a:lnSpc>
                  <a:spcPts val="2070"/>
                </a:lnSpc>
              </a:pPr>
              <a:r>
                <a:rPr lang="en-US" sz="1725">
                  <a:solidFill>
                    <a:srgbClr val="475569"/>
                  </a:solidFill>
                  <a:latin typeface="Poppins"/>
                  <a:ea typeface="Poppins"/>
                  <a:cs typeface="Poppins"/>
                  <a:sym typeface="Poppins"/>
                </a:rPr>
                <a:t>D-000239</a:t>
              </a:r>
            </a:p>
          </p:txBody>
        </p:sp>
      </p:grpSp>
      <p:grpSp>
        <p:nvGrpSpPr>
          <p:cNvPr name="Group 60" id="60"/>
          <p:cNvGrpSpPr/>
          <p:nvPr/>
        </p:nvGrpSpPr>
        <p:grpSpPr>
          <a:xfrm rot="0">
            <a:off x="11521440" y="4656544"/>
            <a:ext cx="2743200" cy="576072"/>
            <a:chOff x="0" y="0"/>
            <a:chExt cx="3657600" cy="768096"/>
          </a:xfrm>
        </p:grpSpPr>
        <p:sp>
          <p:nvSpPr>
            <p:cNvPr name="Freeform 61" id="61"/>
            <p:cNvSpPr/>
            <p:nvPr/>
          </p:nvSpPr>
          <p:spPr>
            <a:xfrm flipH="false" flipV="false" rot="0">
              <a:off x="0" y="0"/>
              <a:ext cx="3657600" cy="768096"/>
            </a:xfrm>
            <a:custGeom>
              <a:avLst/>
              <a:gdLst/>
              <a:ahLst/>
              <a:cxnLst/>
              <a:rect r="r" b="b" t="t" l="l"/>
              <a:pathLst>
                <a:path h="768096" w="3657600">
                  <a:moveTo>
                    <a:pt x="0" y="0"/>
                  </a:moveTo>
                  <a:lnTo>
                    <a:pt x="3657600" y="0"/>
                  </a:lnTo>
                  <a:lnTo>
                    <a:pt x="3657600" y="768096"/>
                  </a:lnTo>
                  <a:lnTo>
                    <a:pt x="0" y="768096"/>
                  </a:lnTo>
                  <a:close/>
                </a:path>
              </a:pathLst>
            </a:custGeom>
            <a:blipFill>
              <a:blip r:embed="rId9">
                <a:alphaModFix amt="0"/>
              </a:blip>
              <a:stretch>
                <a:fillRect l="0" t="-42785" r="0" b="-42785"/>
              </a:stretch>
            </a:blipFill>
          </p:spPr>
        </p:sp>
        <p:sp>
          <p:nvSpPr>
            <p:cNvPr name="TextBox 62" id="62"/>
            <p:cNvSpPr txBox="true"/>
            <p:nvPr/>
          </p:nvSpPr>
          <p:spPr>
            <a:xfrm>
              <a:off x="0" y="-9525"/>
              <a:ext cx="3657600" cy="777621"/>
            </a:xfrm>
            <a:prstGeom prst="rect">
              <a:avLst/>
            </a:prstGeom>
          </p:spPr>
          <p:txBody>
            <a:bodyPr anchor="ctr" rtlCol="false" tIns="0" lIns="0" bIns="0" rIns="0"/>
            <a:lstStyle/>
            <a:p>
              <a:pPr algn="l">
                <a:lnSpc>
                  <a:spcPts val="2070"/>
                </a:lnSpc>
              </a:pPr>
              <a:r>
                <a:rPr lang="en-US" sz="1725" b="true">
                  <a:solidFill>
                    <a:srgbClr val="387F7F"/>
                  </a:solidFill>
                  <a:latin typeface="Poppins Bold"/>
                  <a:ea typeface="Poppins Bold"/>
                  <a:cs typeface="Poppins Bold"/>
                  <a:sym typeface="Poppins Bold"/>
                </a:rPr>
                <a:t>R-014</a:t>
              </a:r>
            </a:p>
          </p:txBody>
        </p:sp>
      </p:grpSp>
      <p:grpSp>
        <p:nvGrpSpPr>
          <p:cNvPr name="Group 63" id="63"/>
          <p:cNvGrpSpPr/>
          <p:nvPr/>
        </p:nvGrpSpPr>
        <p:grpSpPr>
          <a:xfrm rot="0">
            <a:off x="8572500" y="5232616"/>
            <a:ext cx="2743200" cy="576072"/>
            <a:chOff x="0" y="0"/>
            <a:chExt cx="3657600" cy="768096"/>
          </a:xfrm>
        </p:grpSpPr>
        <p:sp>
          <p:nvSpPr>
            <p:cNvPr name="Freeform 64" id="64"/>
            <p:cNvSpPr/>
            <p:nvPr/>
          </p:nvSpPr>
          <p:spPr>
            <a:xfrm flipH="false" flipV="false" rot="0">
              <a:off x="0" y="0"/>
              <a:ext cx="3657600" cy="768096"/>
            </a:xfrm>
            <a:custGeom>
              <a:avLst/>
              <a:gdLst/>
              <a:ahLst/>
              <a:cxnLst/>
              <a:rect r="r" b="b" t="t" l="l"/>
              <a:pathLst>
                <a:path h="768096" w="3657600">
                  <a:moveTo>
                    <a:pt x="0" y="0"/>
                  </a:moveTo>
                  <a:lnTo>
                    <a:pt x="3657600" y="0"/>
                  </a:lnTo>
                  <a:lnTo>
                    <a:pt x="3657600" y="768096"/>
                  </a:lnTo>
                  <a:lnTo>
                    <a:pt x="0" y="768096"/>
                  </a:lnTo>
                  <a:close/>
                </a:path>
              </a:pathLst>
            </a:custGeom>
            <a:blipFill>
              <a:blip r:embed="rId9">
                <a:alphaModFix amt="0"/>
              </a:blip>
              <a:stretch>
                <a:fillRect l="0" t="-42785" r="0" b="-42785"/>
              </a:stretch>
            </a:blipFill>
          </p:spPr>
        </p:sp>
        <p:sp>
          <p:nvSpPr>
            <p:cNvPr name="TextBox 65" id="65"/>
            <p:cNvSpPr txBox="true"/>
            <p:nvPr/>
          </p:nvSpPr>
          <p:spPr>
            <a:xfrm>
              <a:off x="0" y="-9525"/>
              <a:ext cx="3657600" cy="777621"/>
            </a:xfrm>
            <a:prstGeom prst="rect">
              <a:avLst/>
            </a:prstGeom>
          </p:spPr>
          <p:txBody>
            <a:bodyPr anchor="ctr" rtlCol="false" tIns="0" lIns="0" bIns="0" rIns="0"/>
            <a:lstStyle/>
            <a:p>
              <a:pPr algn="l">
                <a:lnSpc>
                  <a:spcPts val="2070"/>
                </a:lnSpc>
              </a:pPr>
              <a:r>
                <a:rPr lang="en-US" sz="1725">
                  <a:solidFill>
                    <a:srgbClr val="475569"/>
                  </a:solidFill>
                  <a:latin typeface="Poppins"/>
                  <a:ea typeface="Poppins"/>
                  <a:cs typeface="Poppins"/>
                  <a:sym typeface="Poppins"/>
                </a:rPr>
                <a:t>D-000031</a:t>
              </a:r>
            </a:p>
          </p:txBody>
        </p:sp>
      </p:grpSp>
      <p:grpSp>
        <p:nvGrpSpPr>
          <p:cNvPr name="Group 66" id="66"/>
          <p:cNvGrpSpPr/>
          <p:nvPr/>
        </p:nvGrpSpPr>
        <p:grpSpPr>
          <a:xfrm rot="0">
            <a:off x="11521440" y="5232616"/>
            <a:ext cx="2743200" cy="576072"/>
            <a:chOff x="0" y="0"/>
            <a:chExt cx="3657600" cy="768096"/>
          </a:xfrm>
        </p:grpSpPr>
        <p:sp>
          <p:nvSpPr>
            <p:cNvPr name="Freeform 67" id="67"/>
            <p:cNvSpPr/>
            <p:nvPr/>
          </p:nvSpPr>
          <p:spPr>
            <a:xfrm flipH="false" flipV="false" rot="0">
              <a:off x="0" y="0"/>
              <a:ext cx="3657600" cy="768096"/>
            </a:xfrm>
            <a:custGeom>
              <a:avLst/>
              <a:gdLst/>
              <a:ahLst/>
              <a:cxnLst/>
              <a:rect r="r" b="b" t="t" l="l"/>
              <a:pathLst>
                <a:path h="768096" w="3657600">
                  <a:moveTo>
                    <a:pt x="0" y="0"/>
                  </a:moveTo>
                  <a:lnTo>
                    <a:pt x="3657600" y="0"/>
                  </a:lnTo>
                  <a:lnTo>
                    <a:pt x="3657600" y="768096"/>
                  </a:lnTo>
                  <a:lnTo>
                    <a:pt x="0" y="768096"/>
                  </a:lnTo>
                  <a:close/>
                </a:path>
              </a:pathLst>
            </a:custGeom>
            <a:blipFill>
              <a:blip r:embed="rId9">
                <a:alphaModFix amt="0"/>
              </a:blip>
              <a:stretch>
                <a:fillRect l="0" t="-42785" r="0" b="-42785"/>
              </a:stretch>
            </a:blipFill>
          </p:spPr>
        </p:sp>
        <p:sp>
          <p:nvSpPr>
            <p:cNvPr name="TextBox 68" id="68"/>
            <p:cNvSpPr txBox="true"/>
            <p:nvPr/>
          </p:nvSpPr>
          <p:spPr>
            <a:xfrm>
              <a:off x="0" y="-9525"/>
              <a:ext cx="3657600" cy="777621"/>
            </a:xfrm>
            <a:prstGeom prst="rect">
              <a:avLst/>
            </a:prstGeom>
          </p:spPr>
          <p:txBody>
            <a:bodyPr anchor="ctr" rtlCol="false" tIns="0" lIns="0" bIns="0" rIns="0"/>
            <a:lstStyle/>
            <a:p>
              <a:pPr algn="l">
                <a:lnSpc>
                  <a:spcPts val="2070"/>
                </a:lnSpc>
              </a:pPr>
              <a:r>
                <a:rPr lang="en-US" sz="1725">
                  <a:solidFill>
                    <a:srgbClr val="475569"/>
                  </a:solidFill>
                  <a:latin typeface="Poppins"/>
                  <a:ea typeface="Poppins"/>
                  <a:cs typeface="Poppins"/>
                  <a:sym typeface="Poppins"/>
                </a:rPr>
                <a:t>R-041</a:t>
              </a:r>
            </a:p>
          </p:txBody>
        </p:sp>
      </p:grpSp>
      <p:grpSp>
        <p:nvGrpSpPr>
          <p:cNvPr name="Group 69" id="69"/>
          <p:cNvGrpSpPr/>
          <p:nvPr/>
        </p:nvGrpSpPr>
        <p:grpSpPr>
          <a:xfrm rot="0">
            <a:off x="8161020" y="5808688"/>
            <a:ext cx="7612380" cy="576072"/>
            <a:chOff x="0" y="0"/>
            <a:chExt cx="10149840" cy="768096"/>
          </a:xfrm>
        </p:grpSpPr>
        <p:sp>
          <p:nvSpPr>
            <p:cNvPr name="Freeform 70" id="70"/>
            <p:cNvSpPr/>
            <p:nvPr/>
          </p:nvSpPr>
          <p:spPr>
            <a:xfrm flipH="false" flipV="false" rot="0">
              <a:off x="0" y="0"/>
              <a:ext cx="10149840" cy="768096"/>
            </a:xfrm>
            <a:custGeom>
              <a:avLst/>
              <a:gdLst/>
              <a:ahLst/>
              <a:cxnLst/>
              <a:rect r="r" b="b" t="t" l="l"/>
              <a:pathLst>
                <a:path h="768096" w="10149840">
                  <a:moveTo>
                    <a:pt x="0" y="0"/>
                  </a:moveTo>
                  <a:lnTo>
                    <a:pt x="10149840" y="0"/>
                  </a:lnTo>
                  <a:lnTo>
                    <a:pt x="10149840" y="768096"/>
                  </a:lnTo>
                  <a:lnTo>
                    <a:pt x="0" y="768096"/>
                  </a:lnTo>
                  <a:close/>
                </a:path>
              </a:pathLst>
            </a:custGeom>
            <a:solidFill>
              <a:srgbClr val="E8F2F1"/>
            </a:solidFill>
          </p:spPr>
        </p:sp>
      </p:grpSp>
      <p:grpSp>
        <p:nvGrpSpPr>
          <p:cNvPr name="Group 71" id="71"/>
          <p:cNvGrpSpPr/>
          <p:nvPr/>
        </p:nvGrpSpPr>
        <p:grpSpPr>
          <a:xfrm rot="0">
            <a:off x="8572500" y="5808688"/>
            <a:ext cx="2743200" cy="576072"/>
            <a:chOff x="0" y="0"/>
            <a:chExt cx="3657600" cy="768096"/>
          </a:xfrm>
        </p:grpSpPr>
        <p:sp>
          <p:nvSpPr>
            <p:cNvPr name="Freeform 72" id="72"/>
            <p:cNvSpPr/>
            <p:nvPr/>
          </p:nvSpPr>
          <p:spPr>
            <a:xfrm flipH="false" flipV="false" rot="0">
              <a:off x="0" y="0"/>
              <a:ext cx="3657600" cy="768096"/>
            </a:xfrm>
            <a:custGeom>
              <a:avLst/>
              <a:gdLst/>
              <a:ahLst/>
              <a:cxnLst/>
              <a:rect r="r" b="b" t="t" l="l"/>
              <a:pathLst>
                <a:path h="768096" w="3657600">
                  <a:moveTo>
                    <a:pt x="0" y="0"/>
                  </a:moveTo>
                  <a:lnTo>
                    <a:pt x="3657600" y="0"/>
                  </a:lnTo>
                  <a:lnTo>
                    <a:pt x="3657600" y="768096"/>
                  </a:lnTo>
                  <a:lnTo>
                    <a:pt x="0" y="768096"/>
                  </a:lnTo>
                  <a:close/>
                </a:path>
              </a:pathLst>
            </a:custGeom>
            <a:blipFill>
              <a:blip r:embed="rId9">
                <a:alphaModFix amt="0"/>
              </a:blip>
              <a:stretch>
                <a:fillRect l="0" t="-42785" r="0" b="-42785"/>
              </a:stretch>
            </a:blipFill>
          </p:spPr>
        </p:sp>
        <p:sp>
          <p:nvSpPr>
            <p:cNvPr name="TextBox 73" id="73"/>
            <p:cNvSpPr txBox="true"/>
            <p:nvPr/>
          </p:nvSpPr>
          <p:spPr>
            <a:xfrm>
              <a:off x="0" y="-9525"/>
              <a:ext cx="3657600" cy="777621"/>
            </a:xfrm>
            <a:prstGeom prst="rect">
              <a:avLst/>
            </a:prstGeom>
          </p:spPr>
          <p:txBody>
            <a:bodyPr anchor="ctr" rtlCol="false" tIns="0" lIns="0" bIns="0" rIns="0"/>
            <a:lstStyle/>
            <a:p>
              <a:pPr algn="l">
                <a:lnSpc>
                  <a:spcPts val="2070"/>
                </a:lnSpc>
              </a:pPr>
              <a:r>
                <a:rPr lang="en-US" sz="1725">
                  <a:solidFill>
                    <a:srgbClr val="475569"/>
                  </a:solidFill>
                  <a:latin typeface="Poppins"/>
                  <a:ea typeface="Poppins"/>
                  <a:cs typeface="Poppins"/>
                  <a:sym typeface="Poppins"/>
                </a:rPr>
                <a:t>D-000369</a:t>
              </a:r>
            </a:p>
          </p:txBody>
        </p:sp>
      </p:grpSp>
      <p:grpSp>
        <p:nvGrpSpPr>
          <p:cNvPr name="Group 74" id="74"/>
          <p:cNvGrpSpPr/>
          <p:nvPr/>
        </p:nvGrpSpPr>
        <p:grpSpPr>
          <a:xfrm rot="0">
            <a:off x="11521440" y="5808688"/>
            <a:ext cx="2743200" cy="576072"/>
            <a:chOff x="0" y="0"/>
            <a:chExt cx="3657600" cy="768096"/>
          </a:xfrm>
        </p:grpSpPr>
        <p:sp>
          <p:nvSpPr>
            <p:cNvPr name="Freeform 75" id="75"/>
            <p:cNvSpPr/>
            <p:nvPr/>
          </p:nvSpPr>
          <p:spPr>
            <a:xfrm flipH="false" flipV="false" rot="0">
              <a:off x="0" y="0"/>
              <a:ext cx="3657600" cy="768096"/>
            </a:xfrm>
            <a:custGeom>
              <a:avLst/>
              <a:gdLst/>
              <a:ahLst/>
              <a:cxnLst/>
              <a:rect r="r" b="b" t="t" l="l"/>
              <a:pathLst>
                <a:path h="768096" w="3657600">
                  <a:moveTo>
                    <a:pt x="0" y="0"/>
                  </a:moveTo>
                  <a:lnTo>
                    <a:pt x="3657600" y="0"/>
                  </a:lnTo>
                  <a:lnTo>
                    <a:pt x="3657600" y="768096"/>
                  </a:lnTo>
                  <a:lnTo>
                    <a:pt x="0" y="768096"/>
                  </a:lnTo>
                  <a:close/>
                </a:path>
              </a:pathLst>
            </a:custGeom>
            <a:blipFill>
              <a:blip r:embed="rId9">
                <a:alphaModFix amt="0"/>
              </a:blip>
              <a:stretch>
                <a:fillRect l="0" t="-42785" r="0" b="-42785"/>
              </a:stretch>
            </a:blipFill>
          </p:spPr>
        </p:sp>
        <p:sp>
          <p:nvSpPr>
            <p:cNvPr name="TextBox 76" id="76"/>
            <p:cNvSpPr txBox="true"/>
            <p:nvPr/>
          </p:nvSpPr>
          <p:spPr>
            <a:xfrm>
              <a:off x="0" y="-9525"/>
              <a:ext cx="3657600" cy="777621"/>
            </a:xfrm>
            <a:prstGeom prst="rect">
              <a:avLst/>
            </a:prstGeom>
          </p:spPr>
          <p:txBody>
            <a:bodyPr anchor="ctr" rtlCol="false" tIns="0" lIns="0" bIns="0" rIns="0"/>
            <a:lstStyle/>
            <a:p>
              <a:pPr algn="l">
                <a:lnSpc>
                  <a:spcPts val="2070"/>
                </a:lnSpc>
              </a:pPr>
              <a:r>
                <a:rPr lang="en-US" sz="1725" b="true">
                  <a:solidFill>
                    <a:srgbClr val="387F7F"/>
                  </a:solidFill>
                  <a:latin typeface="Poppins Bold"/>
                  <a:ea typeface="Poppins Bold"/>
                  <a:cs typeface="Poppins Bold"/>
                  <a:sym typeface="Poppins Bold"/>
                </a:rPr>
                <a:t>R-014</a:t>
              </a:r>
            </a:p>
          </p:txBody>
        </p:sp>
      </p:grpSp>
      <p:grpSp>
        <p:nvGrpSpPr>
          <p:cNvPr name="Group 77" id="77"/>
          <p:cNvGrpSpPr/>
          <p:nvPr/>
        </p:nvGrpSpPr>
        <p:grpSpPr>
          <a:xfrm rot="0">
            <a:off x="8572500" y="6384760"/>
            <a:ext cx="2743200" cy="576072"/>
            <a:chOff x="0" y="0"/>
            <a:chExt cx="3657600" cy="768096"/>
          </a:xfrm>
        </p:grpSpPr>
        <p:sp>
          <p:nvSpPr>
            <p:cNvPr name="Freeform 78" id="78"/>
            <p:cNvSpPr/>
            <p:nvPr/>
          </p:nvSpPr>
          <p:spPr>
            <a:xfrm flipH="false" flipV="false" rot="0">
              <a:off x="0" y="0"/>
              <a:ext cx="3657600" cy="768096"/>
            </a:xfrm>
            <a:custGeom>
              <a:avLst/>
              <a:gdLst/>
              <a:ahLst/>
              <a:cxnLst/>
              <a:rect r="r" b="b" t="t" l="l"/>
              <a:pathLst>
                <a:path h="768096" w="3657600">
                  <a:moveTo>
                    <a:pt x="0" y="0"/>
                  </a:moveTo>
                  <a:lnTo>
                    <a:pt x="3657600" y="0"/>
                  </a:lnTo>
                  <a:lnTo>
                    <a:pt x="3657600" y="768096"/>
                  </a:lnTo>
                  <a:lnTo>
                    <a:pt x="0" y="768096"/>
                  </a:lnTo>
                  <a:close/>
                </a:path>
              </a:pathLst>
            </a:custGeom>
            <a:blipFill>
              <a:blip r:embed="rId9">
                <a:alphaModFix amt="0"/>
              </a:blip>
              <a:stretch>
                <a:fillRect l="0" t="-42785" r="0" b="-42785"/>
              </a:stretch>
            </a:blipFill>
          </p:spPr>
        </p:sp>
        <p:sp>
          <p:nvSpPr>
            <p:cNvPr name="TextBox 79" id="79"/>
            <p:cNvSpPr txBox="true"/>
            <p:nvPr/>
          </p:nvSpPr>
          <p:spPr>
            <a:xfrm>
              <a:off x="0" y="-9525"/>
              <a:ext cx="3657600" cy="777621"/>
            </a:xfrm>
            <a:prstGeom prst="rect">
              <a:avLst/>
            </a:prstGeom>
          </p:spPr>
          <p:txBody>
            <a:bodyPr anchor="ctr" rtlCol="false" tIns="0" lIns="0" bIns="0" rIns="0"/>
            <a:lstStyle/>
            <a:p>
              <a:pPr algn="l">
                <a:lnSpc>
                  <a:spcPts val="2070"/>
                </a:lnSpc>
              </a:pPr>
              <a:r>
                <a:rPr lang="en-US" sz="1725">
                  <a:solidFill>
                    <a:srgbClr val="475569"/>
                  </a:solidFill>
                  <a:latin typeface="Poppins"/>
                  <a:ea typeface="Poppins"/>
                  <a:cs typeface="Poppins"/>
                  <a:sym typeface="Poppins"/>
                </a:rPr>
                <a:t>D-000125</a:t>
              </a:r>
            </a:p>
          </p:txBody>
        </p:sp>
      </p:grpSp>
      <p:grpSp>
        <p:nvGrpSpPr>
          <p:cNvPr name="Group 80" id="80"/>
          <p:cNvGrpSpPr/>
          <p:nvPr/>
        </p:nvGrpSpPr>
        <p:grpSpPr>
          <a:xfrm rot="0">
            <a:off x="11521440" y="6384760"/>
            <a:ext cx="2743200" cy="576072"/>
            <a:chOff x="0" y="0"/>
            <a:chExt cx="3657600" cy="768096"/>
          </a:xfrm>
        </p:grpSpPr>
        <p:sp>
          <p:nvSpPr>
            <p:cNvPr name="Freeform 81" id="81"/>
            <p:cNvSpPr/>
            <p:nvPr/>
          </p:nvSpPr>
          <p:spPr>
            <a:xfrm flipH="false" flipV="false" rot="0">
              <a:off x="0" y="0"/>
              <a:ext cx="3657600" cy="768096"/>
            </a:xfrm>
            <a:custGeom>
              <a:avLst/>
              <a:gdLst/>
              <a:ahLst/>
              <a:cxnLst/>
              <a:rect r="r" b="b" t="t" l="l"/>
              <a:pathLst>
                <a:path h="768096" w="3657600">
                  <a:moveTo>
                    <a:pt x="0" y="0"/>
                  </a:moveTo>
                  <a:lnTo>
                    <a:pt x="3657600" y="0"/>
                  </a:lnTo>
                  <a:lnTo>
                    <a:pt x="3657600" y="768096"/>
                  </a:lnTo>
                  <a:lnTo>
                    <a:pt x="0" y="768096"/>
                  </a:lnTo>
                  <a:close/>
                </a:path>
              </a:pathLst>
            </a:custGeom>
            <a:blipFill>
              <a:blip r:embed="rId9">
                <a:alphaModFix amt="0"/>
              </a:blip>
              <a:stretch>
                <a:fillRect l="0" t="-42785" r="0" b="-42785"/>
              </a:stretch>
            </a:blipFill>
          </p:spPr>
        </p:sp>
        <p:sp>
          <p:nvSpPr>
            <p:cNvPr name="TextBox 82" id="82"/>
            <p:cNvSpPr txBox="true"/>
            <p:nvPr/>
          </p:nvSpPr>
          <p:spPr>
            <a:xfrm>
              <a:off x="0" y="-9525"/>
              <a:ext cx="3657600" cy="777621"/>
            </a:xfrm>
            <a:prstGeom prst="rect">
              <a:avLst/>
            </a:prstGeom>
          </p:spPr>
          <p:txBody>
            <a:bodyPr anchor="ctr" rtlCol="false" tIns="0" lIns="0" bIns="0" rIns="0"/>
            <a:lstStyle/>
            <a:p>
              <a:pPr algn="l">
                <a:lnSpc>
                  <a:spcPts val="2070"/>
                </a:lnSpc>
              </a:pPr>
              <a:r>
                <a:rPr lang="en-US" sz="1725">
                  <a:solidFill>
                    <a:srgbClr val="475569"/>
                  </a:solidFill>
                  <a:latin typeface="Poppins"/>
                  <a:ea typeface="Poppins"/>
                  <a:cs typeface="Poppins"/>
                  <a:sym typeface="Poppins"/>
                </a:rPr>
                <a:t>R-022</a:t>
              </a:r>
            </a:p>
          </p:txBody>
        </p:sp>
      </p:grpSp>
      <p:grpSp>
        <p:nvGrpSpPr>
          <p:cNvPr name="Group 83" id="83"/>
          <p:cNvGrpSpPr/>
          <p:nvPr/>
        </p:nvGrpSpPr>
        <p:grpSpPr>
          <a:xfrm rot="0">
            <a:off x="1028700" y="7619200"/>
            <a:ext cx="14744700" cy="1371600"/>
            <a:chOff x="0" y="0"/>
            <a:chExt cx="19659600" cy="1828800"/>
          </a:xfrm>
        </p:grpSpPr>
        <p:sp>
          <p:nvSpPr>
            <p:cNvPr name="Freeform 84" id="84"/>
            <p:cNvSpPr/>
            <p:nvPr/>
          </p:nvSpPr>
          <p:spPr>
            <a:xfrm flipH="false" flipV="false" rot="0">
              <a:off x="0" y="0"/>
              <a:ext cx="19659600" cy="1828800"/>
            </a:xfrm>
            <a:custGeom>
              <a:avLst/>
              <a:gdLst/>
              <a:ahLst/>
              <a:cxnLst/>
              <a:rect r="r" b="b" t="t" l="l"/>
              <a:pathLst>
                <a:path h="1828800" w="19659600">
                  <a:moveTo>
                    <a:pt x="0" y="164592"/>
                  </a:moveTo>
                  <a:cubicBezTo>
                    <a:pt x="0" y="73660"/>
                    <a:pt x="73660" y="0"/>
                    <a:pt x="164592" y="0"/>
                  </a:cubicBezTo>
                  <a:lnTo>
                    <a:pt x="19495008" y="0"/>
                  </a:lnTo>
                  <a:cubicBezTo>
                    <a:pt x="19585939" y="0"/>
                    <a:pt x="19659600" y="73660"/>
                    <a:pt x="19659600" y="164592"/>
                  </a:cubicBezTo>
                  <a:lnTo>
                    <a:pt x="19659600" y="1664208"/>
                  </a:lnTo>
                  <a:cubicBezTo>
                    <a:pt x="19659600" y="1755140"/>
                    <a:pt x="19585939" y="1828800"/>
                    <a:pt x="19495008" y="1828800"/>
                  </a:cubicBezTo>
                  <a:lnTo>
                    <a:pt x="164592" y="1828800"/>
                  </a:lnTo>
                  <a:cubicBezTo>
                    <a:pt x="73660" y="1828800"/>
                    <a:pt x="0" y="1755140"/>
                    <a:pt x="0" y="1664208"/>
                  </a:cubicBezTo>
                  <a:close/>
                </a:path>
              </a:pathLst>
            </a:custGeom>
            <a:solidFill>
              <a:srgbClr val="EEF4F4"/>
            </a:solidFill>
          </p:spPr>
        </p:sp>
      </p:grpSp>
      <p:grpSp>
        <p:nvGrpSpPr>
          <p:cNvPr name="Group 85" id="85"/>
          <p:cNvGrpSpPr/>
          <p:nvPr/>
        </p:nvGrpSpPr>
        <p:grpSpPr>
          <a:xfrm rot="0">
            <a:off x="1028700" y="7619200"/>
            <a:ext cx="102870" cy="1371600"/>
            <a:chOff x="0" y="0"/>
            <a:chExt cx="137160" cy="1828800"/>
          </a:xfrm>
        </p:grpSpPr>
        <p:sp>
          <p:nvSpPr>
            <p:cNvPr name="Freeform 86" id="86"/>
            <p:cNvSpPr/>
            <p:nvPr/>
          </p:nvSpPr>
          <p:spPr>
            <a:xfrm flipH="false" flipV="false" rot="0">
              <a:off x="0" y="0"/>
              <a:ext cx="137160" cy="1828800"/>
            </a:xfrm>
            <a:custGeom>
              <a:avLst/>
              <a:gdLst/>
              <a:ahLst/>
              <a:cxnLst/>
              <a:rect r="r" b="b" t="t" l="l"/>
              <a:pathLst>
                <a:path h="1828800" w="137160">
                  <a:moveTo>
                    <a:pt x="0" y="0"/>
                  </a:moveTo>
                  <a:lnTo>
                    <a:pt x="137160" y="0"/>
                  </a:lnTo>
                  <a:lnTo>
                    <a:pt x="137160" y="1828800"/>
                  </a:lnTo>
                  <a:lnTo>
                    <a:pt x="0" y="1828800"/>
                  </a:lnTo>
                  <a:close/>
                </a:path>
              </a:pathLst>
            </a:custGeom>
            <a:solidFill>
              <a:srgbClr val="387F7F"/>
            </a:solidFill>
          </p:spPr>
        </p:sp>
      </p:grpSp>
      <p:grpSp>
        <p:nvGrpSpPr>
          <p:cNvPr name="Group 87" id="87"/>
          <p:cNvGrpSpPr/>
          <p:nvPr/>
        </p:nvGrpSpPr>
        <p:grpSpPr>
          <a:xfrm rot="0">
            <a:off x="1577340" y="7619200"/>
            <a:ext cx="13853160" cy="1371600"/>
            <a:chOff x="0" y="0"/>
            <a:chExt cx="18470880" cy="1828800"/>
          </a:xfrm>
        </p:grpSpPr>
        <p:sp>
          <p:nvSpPr>
            <p:cNvPr name="Freeform 88" id="88"/>
            <p:cNvSpPr/>
            <p:nvPr/>
          </p:nvSpPr>
          <p:spPr>
            <a:xfrm flipH="false" flipV="false" rot="0">
              <a:off x="0" y="0"/>
              <a:ext cx="18470880" cy="1828800"/>
            </a:xfrm>
            <a:custGeom>
              <a:avLst/>
              <a:gdLst/>
              <a:ahLst/>
              <a:cxnLst/>
              <a:rect r="r" b="b" t="t" l="l"/>
              <a:pathLst>
                <a:path h="1828800" w="18470880">
                  <a:moveTo>
                    <a:pt x="0" y="0"/>
                  </a:moveTo>
                  <a:lnTo>
                    <a:pt x="18470880" y="0"/>
                  </a:lnTo>
                  <a:lnTo>
                    <a:pt x="18470880" y="1828800"/>
                  </a:lnTo>
                  <a:lnTo>
                    <a:pt x="0" y="1828800"/>
                  </a:lnTo>
                  <a:close/>
                </a:path>
              </a:pathLst>
            </a:custGeom>
            <a:blipFill>
              <a:blip r:embed="rId9">
                <a:alphaModFix amt="0"/>
              </a:blip>
              <a:stretch>
                <a:fillRect l="0" t="-146798" r="0" b="-146798"/>
              </a:stretch>
            </a:blipFill>
          </p:spPr>
        </p:sp>
        <p:sp>
          <p:nvSpPr>
            <p:cNvPr name="TextBox 89" id="89"/>
            <p:cNvSpPr txBox="true"/>
            <p:nvPr/>
          </p:nvSpPr>
          <p:spPr>
            <a:xfrm>
              <a:off x="0" y="-114300"/>
              <a:ext cx="18470880" cy="1943100"/>
            </a:xfrm>
            <a:prstGeom prst="rect">
              <a:avLst/>
            </a:prstGeom>
          </p:spPr>
          <p:txBody>
            <a:bodyPr anchor="ctr" rtlCol="false" tIns="0" lIns="0" bIns="0" rIns="0"/>
            <a:lstStyle/>
            <a:p>
              <a:pPr algn="l">
                <a:lnSpc>
                  <a:spcPts val="3523"/>
                </a:lnSpc>
              </a:pPr>
              <a:r>
                <a:rPr lang="en-US" sz="2175" b="true">
                  <a:solidFill>
                    <a:srgbClr val="387F7F"/>
                  </a:solidFill>
                  <a:latin typeface="Poppins Bold"/>
                  <a:ea typeface="Poppins Bold"/>
                  <a:cs typeface="Poppins Bold"/>
                  <a:sym typeface="Poppins Bold"/>
                </a:rPr>
                <a:t>The ONE side must hold each key exactly once. The MANY side may repeat it freely. That is not duplication, that is the whole idea.</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1565930"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Drawi</a:t>
            </a:r>
            <a:r>
              <a:rPr lang="en-US" sz="5000">
                <a:solidFill>
                  <a:srgbClr val="388080"/>
                </a:solidFill>
                <a:latin typeface="Poppins"/>
                <a:ea typeface="Poppins"/>
                <a:cs typeface="Poppins"/>
                <a:sym typeface="Poppins"/>
              </a:rPr>
              <a:t>ng a relationship in Model view</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028700" y="2425065"/>
            <a:ext cx="3566160" cy="713232"/>
            <a:chOff x="0" y="0"/>
            <a:chExt cx="4754880" cy="950976"/>
          </a:xfrm>
        </p:grpSpPr>
        <p:sp>
          <p:nvSpPr>
            <p:cNvPr name="Freeform 12" id="12"/>
            <p:cNvSpPr/>
            <p:nvPr/>
          </p:nvSpPr>
          <p:spPr>
            <a:xfrm flipH="false" flipV="false" rot="0">
              <a:off x="0" y="0"/>
              <a:ext cx="4754880" cy="950976"/>
            </a:xfrm>
            <a:custGeom>
              <a:avLst/>
              <a:gdLst/>
              <a:ahLst/>
              <a:cxnLst/>
              <a:rect r="r" b="b" t="t" l="l"/>
              <a:pathLst>
                <a:path h="950976" w="4754880">
                  <a:moveTo>
                    <a:pt x="0" y="475488"/>
                  </a:moveTo>
                  <a:cubicBezTo>
                    <a:pt x="0" y="212852"/>
                    <a:pt x="212852" y="0"/>
                    <a:pt x="475488" y="0"/>
                  </a:cubicBezTo>
                  <a:lnTo>
                    <a:pt x="4279392" y="0"/>
                  </a:lnTo>
                  <a:cubicBezTo>
                    <a:pt x="4542028" y="0"/>
                    <a:pt x="4754880" y="212852"/>
                    <a:pt x="4754880" y="475488"/>
                  </a:cubicBezTo>
                  <a:cubicBezTo>
                    <a:pt x="4754880" y="738124"/>
                    <a:pt x="4542028" y="950976"/>
                    <a:pt x="4279392" y="950976"/>
                  </a:cubicBezTo>
                  <a:lnTo>
                    <a:pt x="475488" y="950976"/>
                  </a:lnTo>
                  <a:cubicBezTo>
                    <a:pt x="212852" y="950976"/>
                    <a:pt x="0" y="738124"/>
                    <a:pt x="0" y="475488"/>
                  </a:cubicBezTo>
                  <a:close/>
                </a:path>
              </a:pathLst>
            </a:custGeom>
            <a:solidFill>
              <a:srgbClr val="387F7F"/>
            </a:solidFill>
          </p:spPr>
        </p:sp>
      </p:grpSp>
      <p:grpSp>
        <p:nvGrpSpPr>
          <p:cNvPr name="Group 13" id="13"/>
          <p:cNvGrpSpPr/>
          <p:nvPr/>
        </p:nvGrpSpPr>
        <p:grpSpPr>
          <a:xfrm rot="0">
            <a:off x="1165860" y="2548509"/>
            <a:ext cx="466344" cy="466344"/>
            <a:chOff x="0" y="0"/>
            <a:chExt cx="621792" cy="621792"/>
          </a:xfrm>
        </p:grpSpPr>
        <p:sp>
          <p:nvSpPr>
            <p:cNvPr name="Freeform 14" id="14"/>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FFFFFF"/>
            </a:solidFill>
          </p:spPr>
        </p:sp>
      </p:grpSp>
      <p:grpSp>
        <p:nvGrpSpPr>
          <p:cNvPr name="Group 15" id="15"/>
          <p:cNvGrpSpPr/>
          <p:nvPr/>
        </p:nvGrpSpPr>
        <p:grpSpPr>
          <a:xfrm rot="0">
            <a:off x="1165860" y="2548509"/>
            <a:ext cx="466344" cy="466344"/>
            <a:chOff x="0" y="0"/>
            <a:chExt cx="621792" cy="621792"/>
          </a:xfrm>
        </p:grpSpPr>
        <p:sp>
          <p:nvSpPr>
            <p:cNvPr name="Freeform 16" id="16"/>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close/>
                </a:path>
              </a:pathLst>
            </a:custGeom>
            <a:blipFill>
              <a:blip r:embed="rId9">
                <a:alphaModFix amt="0"/>
              </a:blip>
              <a:stretch>
                <a:fillRect l="-78303" t="0" r="-78303" b="0"/>
              </a:stretch>
            </a:blipFill>
          </p:spPr>
        </p:sp>
        <p:sp>
          <p:nvSpPr>
            <p:cNvPr name="TextBox 17" id="17"/>
            <p:cNvSpPr txBox="true"/>
            <p:nvPr/>
          </p:nvSpPr>
          <p:spPr>
            <a:xfrm>
              <a:off x="0" y="-19050"/>
              <a:ext cx="621792" cy="640842"/>
            </a:xfrm>
            <a:prstGeom prst="rect">
              <a:avLst/>
            </a:prstGeom>
          </p:spPr>
          <p:txBody>
            <a:bodyPr anchor="ctr" rtlCol="false" tIns="0" lIns="0" bIns="0" rIns="0"/>
            <a:lstStyle/>
            <a:p>
              <a:pPr algn="ctr">
                <a:lnSpc>
                  <a:spcPts val="2160"/>
                </a:lnSpc>
              </a:pPr>
              <a:r>
                <a:rPr lang="en-US" sz="1800" b="true">
                  <a:solidFill>
                    <a:srgbClr val="387F7F"/>
                  </a:solidFill>
                  <a:latin typeface="Poppins Bold"/>
                  <a:ea typeface="Poppins Bold"/>
                  <a:cs typeface="Poppins Bold"/>
                  <a:sym typeface="Poppins Bold"/>
                </a:rPr>
                <a:t>1</a:t>
              </a:r>
            </a:p>
          </p:txBody>
        </p:sp>
      </p:grpSp>
      <p:grpSp>
        <p:nvGrpSpPr>
          <p:cNvPr name="Group 18" id="18"/>
          <p:cNvGrpSpPr/>
          <p:nvPr/>
        </p:nvGrpSpPr>
        <p:grpSpPr>
          <a:xfrm rot="0">
            <a:off x="1769364" y="2425065"/>
            <a:ext cx="2688336" cy="713232"/>
            <a:chOff x="0" y="0"/>
            <a:chExt cx="3584448" cy="950976"/>
          </a:xfrm>
        </p:grpSpPr>
        <p:sp>
          <p:nvSpPr>
            <p:cNvPr name="Freeform 19" id="19"/>
            <p:cNvSpPr/>
            <p:nvPr/>
          </p:nvSpPr>
          <p:spPr>
            <a:xfrm flipH="false" flipV="false" rot="0">
              <a:off x="0" y="0"/>
              <a:ext cx="3584448" cy="950976"/>
            </a:xfrm>
            <a:custGeom>
              <a:avLst/>
              <a:gdLst/>
              <a:ahLst/>
              <a:cxnLst/>
              <a:rect r="r" b="b" t="t" l="l"/>
              <a:pathLst>
                <a:path h="950976" w="3584448">
                  <a:moveTo>
                    <a:pt x="0" y="0"/>
                  </a:moveTo>
                  <a:lnTo>
                    <a:pt x="3584448" y="0"/>
                  </a:lnTo>
                  <a:lnTo>
                    <a:pt x="3584448" y="950976"/>
                  </a:lnTo>
                  <a:lnTo>
                    <a:pt x="0" y="950976"/>
                  </a:lnTo>
                  <a:close/>
                </a:path>
              </a:pathLst>
            </a:custGeom>
            <a:blipFill>
              <a:blip r:embed="rId9">
                <a:alphaModFix amt="0"/>
              </a:blip>
              <a:stretch>
                <a:fillRect l="0" t="-23443" r="0" b="-23443"/>
              </a:stretch>
            </a:blipFill>
          </p:spPr>
        </p:sp>
        <p:sp>
          <p:nvSpPr>
            <p:cNvPr name="TextBox 20" id="20"/>
            <p:cNvSpPr txBox="true"/>
            <p:nvPr/>
          </p:nvSpPr>
          <p:spPr>
            <a:xfrm>
              <a:off x="0" y="-9525"/>
              <a:ext cx="3584448" cy="960501"/>
            </a:xfrm>
            <a:prstGeom prst="rect">
              <a:avLst/>
            </a:prstGeom>
          </p:spPr>
          <p:txBody>
            <a:bodyPr anchor="ctr" rtlCol="false" tIns="0" lIns="0" bIns="0" rIns="0"/>
            <a:lstStyle/>
            <a:p>
              <a:pPr algn="l">
                <a:lnSpc>
                  <a:spcPts val="2070"/>
                </a:lnSpc>
              </a:pPr>
              <a:r>
                <a:rPr lang="en-US" sz="1725" b="true">
                  <a:solidFill>
                    <a:srgbClr val="FFFFFF"/>
                  </a:solidFill>
                  <a:latin typeface="Poppins Bold"/>
                  <a:ea typeface="Poppins Bold"/>
                  <a:cs typeface="Poppins Bold"/>
                  <a:sym typeface="Poppins Bold"/>
                </a:rPr>
                <a:t>Open Model view</a:t>
              </a:r>
            </a:p>
          </p:txBody>
        </p:sp>
      </p:grpSp>
      <p:grpSp>
        <p:nvGrpSpPr>
          <p:cNvPr name="Group 21" id="21"/>
          <p:cNvGrpSpPr/>
          <p:nvPr/>
        </p:nvGrpSpPr>
        <p:grpSpPr>
          <a:xfrm rot="0">
            <a:off x="4841748" y="2425065"/>
            <a:ext cx="3566160" cy="713232"/>
            <a:chOff x="0" y="0"/>
            <a:chExt cx="4754880" cy="950976"/>
          </a:xfrm>
        </p:grpSpPr>
        <p:sp>
          <p:nvSpPr>
            <p:cNvPr name="Freeform 22" id="22"/>
            <p:cNvSpPr/>
            <p:nvPr/>
          </p:nvSpPr>
          <p:spPr>
            <a:xfrm flipH="false" flipV="false" rot="0">
              <a:off x="0" y="0"/>
              <a:ext cx="4754880" cy="950976"/>
            </a:xfrm>
            <a:custGeom>
              <a:avLst/>
              <a:gdLst/>
              <a:ahLst/>
              <a:cxnLst/>
              <a:rect r="r" b="b" t="t" l="l"/>
              <a:pathLst>
                <a:path h="950976" w="4754880">
                  <a:moveTo>
                    <a:pt x="0" y="475488"/>
                  </a:moveTo>
                  <a:cubicBezTo>
                    <a:pt x="0" y="212852"/>
                    <a:pt x="212852" y="0"/>
                    <a:pt x="475488" y="0"/>
                  </a:cubicBezTo>
                  <a:lnTo>
                    <a:pt x="4279392" y="0"/>
                  </a:lnTo>
                  <a:cubicBezTo>
                    <a:pt x="4542028" y="0"/>
                    <a:pt x="4754880" y="212852"/>
                    <a:pt x="4754880" y="475488"/>
                  </a:cubicBezTo>
                  <a:cubicBezTo>
                    <a:pt x="4754880" y="738124"/>
                    <a:pt x="4542028" y="950976"/>
                    <a:pt x="4279392" y="950976"/>
                  </a:cubicBezTo>
                  <a:lnTo>
                    <a:pt x="475488" y="950976"/>
                  </a:lnTo>
                  <a:cubicBezTo>
                    <a:pt x="212852" y="950976"/>
                    <a:pt x="0" y="738124"/>
                    <a:pt x="0" y="475488"/>
                  </a:cubicBezTo>
                  <a:close/>
                </a:path>
              </a:pathLst>
            </a:custGeom>
            <a:solidFill>
              <a:srgbClr val="387F7F"/>
            </a:solidFill>
          </p:spPr>
        </p:sp>
      </p:grpSp>
      <p:grpSp>
        <p:nvGrpSpPr>
          <p:cNvPr name="Group 23" id="23"/>
          <p:cNvGrpSpPr/>
          <p:nvPr/>
        </p:nvGrpSpPr>
        <p:grpSpPr>
          <a:xfrm rot="0">
            <a:off x="4978908" y="2548509"/>
            <a:ext cx="466344" cy="466344"/>
            <a:chOff x="0" y="0"/>
            <a:chExt cx="621792" cy="621792"/>
          </a:xfrm>
        </p:grpSpPr>
        <p:sp>
          <p:nvSpPr>
            <p:cNvPr name="Freeform 24" id="24"/>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FFFFFF"/>
            </a:solidFill>
          </p:spPr>
        </p:sp>
      </p:grpSp>
      <p:grpSp>
        <p:nvGrpSpPr>
          <p:cNvPr name="Group 25" id="25"/>
          <p:cNvGrpSpPr/>
          <p:nvPr/>
        </p:nvGrpSpPr>
        <p:grpSpPr>
          <a:xfrm rot="0">
            <a:off x="4978908" y="2548509"/>
            <a:ext cx="466344" cy="466344"/>
            <a:chOff x="0" y="0"/>
            <a:chExt cx="621792" cy="621792"/>
          </a:xfrm>
        </p:grpSpPr>
        <p:sp>
          <p:nvSpPr>
            <p:cNvPr name="Freeform 26" id="26"/>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close/>
                </a:path>
              </a:pathLst>
            </a:custGeom>
            <a:blipFill>
              <a:blip r:embed="rId9">
                <a:alphaModFix amt="0"/>
              </a:blip>
              <a:stretch>
                <a:fillRect l="-78303" t="0" r="-78303" b="0"/>
              </a:stretch>
            </a:blipFill>
          </p:spPr>
        </p:sp>
        <p:sp>
          <p:nvSpPr>
            <p:cNvPr name="TextBox 27" id="27"/>
            <p:cNvSpPr txBox="true"/>
            <p:nvPr/>
          </p:nvSpPr>
          <p:spPr>
            <a:xfrm>
              <a:off x="0" y="-19050"/>
              <a:ext cx="621792" cy="640842"/>
            </a:xfrm>
            <a:prstGeom prst="rect">
              <a:avLst/>
            </a:prstGeom>
          </p:spPr>
          <p:txBody>
            <a:bodyPr anchor="ctr" rtlCol="false" tIns="0" lIns="0" bIns="0" rIns="0"/>
            <a:lstStyle/>
            <a:p>
              <a:pPr algn="ctr">
                <a:lnSpc>
                  <a:spcPts val="2160"/>
                </a:lnSpc>
              </a:pPr>
              <a:r>
                <a:rPr lang="en-US" sz="1800" b="true">
                  <a:solidFill>
                    <a:srgbClr val="387F7F"/>
                  </a:solidFill>
                  <a:latin typeface="Poppins Bold"/>
                  <a:ea typeface="Poppins Bold"/>
                  <a:cs typeface="Poppins Bold"/>
                  <a:sym typeface="Poppins Bold"/>
                </a:rPr>
                <a:t>2</a:t>
              </a:r>
            </a:p>
          </p:txBody>
        </p:sp>
      </p:grpSp>
      <p:grpSp>
        <p:nvGrpSpPr>
          <p:cNvPr name="Group 28" id="28"/>
          <p:cNvGrpSpPr/>
          <p:nvPr/>
        </p:nvGrpSpPr>
        <p:grpSpPr>
          <a:xfrm rot="0">
            <a:off x="5582412" y="2425065"/>
            <a:ext cx="2688336" cy="713232"/>
            <a:chOff x="0" y="0"/>
            <a:chExt cx="3584448" cy="950976"/>
          </a:xfrm>
        </p:grpSpPr>
        <p:sp>
          <p:nvSpPr>
            <p:cNvPr name="Freeform 29" id="29"/>
            <p:cNvSpPr/>
            <p:nvPr/>
          </p:nvSpPr>
          <p:spPr>
            <a:xfrm flipH="false" flipV="false" rot="0">
              <a:off x="0" y="0"/>
              <a:ext cx="3584448" cy="950976"/>
            </a:xfrm>
            <a:custGeom>
              <a:avLst/>
              <a:gdLst/>
              <a:ahLst/>
              <a:cxnLst/>
              <a:rect r="r" b="b" t="t" l="l"/>
              <a:pathLst>
                <a:path h="950976" w="3584448">
                  <a:moveTo>
                    <a:pt x="0" y="0"/>
                  </a:moveTo>
                  <a:lnTo>
                    <a:pt x="3584448" y="0"/>
                  </a:lnTo>
                  <a:lnTo>
                    <a:pt x="3584448" y="950976"/>
                  </a:lnTo>
                  <a:lnTo>
                    <a:pt x="0" y="950976"/>
                  </a:lnTo>
                  <a:close/>
                </a:path>
              </a:pathLst>
            </a:custGeom>
            <a:blipFill>
              <a:blip r:embed="rId9">
                <a:alphaModFix amt="0"/>
              </a:blip>
              <a:stretch>
                <a:fillRect l="0" t="-23443" r="0" b="-23443"/>
              </a:stretch>
            </a:blipFill>
          </p:spPr>
        </p:sp>
        <p:sp>
          <p:nvSpPr>
            <p:cNvPr name="TextBox 30" id="30"/>
            <p:cNvSpPr txBox="true"/>
            <p:nvPr/>
          </p:nvSpPr>
          <p:spPr>
            <a:xfrm>
              <a:off x="0" y="-9525"/>
              <a:ext cx="3584448" cy="960501"/>
            </a:xfrm>
            <a:prstGeom prst="rect">
              <a:avLst/>
            </a:prstGeom>
          </p:spPr>
          <p:txBody>
            <a:bodyPr anchor="ctr" rtlCol="false" tIns="0" lIns="0" bIns="0" rIns="0"/>
            <a:lstStyle/>
            <a:p>
              <a:pPr algn="l">
                <a:lnSpc>
                  <a:spcPts val="2070"/>
                </a:lnSpc>
              </a:pPr>
              <a:r>
                <a:rPr lang="en-US" sz="1725" b="true">
                  <a:solidFill>
                    <a:srgbClr val="FFFFFF"/>
                  </a:solidFill>
                  <a:latin typeface="Poppins Bold"/>
                  <a:ea typeface="Poppins Bold"/>
                  <a:cs typeface="Poppins Bold"/>
                  <a:sym typeface="Poppins Bold"/>
                </a:rPr>
                <a:t>Drag key to key</a:t>
              </a:r>
            </a:p>
          </p:txBody>
        </p:sp>
      </p:grpSp>
      <p:grpSp>
        <p:nvGrpSpPr>
          <p:cNvPr name="Group 31" id="31"/>
          <p:cNvGrpSpPr/>
          <p:nvPr/>
        </p:nvGrpSpPr>
        <p:grpSpPr>
          <a:xfrm rot="0">
            <a:off x="8642890" y="2413159"/>
            <a:ext cx="3589972" cy="737044"/>
            <a:chOff x="0" y="0"/>
            <a:chExt cx="4786630" cy="982726"/>
          </a:xfrm>
        </p:grpSpPr>
        <p:sp>
          <p:nvSpPr>
            <p:cNvPr name="Freeform 32" id="32"/>
            <p:cNvSpPr/>
            <p:nvPr/>
          </p:nvSpPr>
          <p:spPr>
            <a:xfrm flipH="false" flipV="false" rot="0">
              <a:off x="0" y="0"/>
              <a:ext cx="4786630" cy="982726"/>
            </a:xfrm>
            <a:custGeom>
              <a:avLst/>
              <a:gdLst/>
              <a:ahLst/>
              <a:cxnLst/>
              <a:rect r="r" b="b" t="t" l="l"/>
              <a:pathLst>
                <a:path h="982726" w="4786630">
                  <a:moveTo>
                    <a:pt x="0" y="491363"/>
                  </a:moveTo>
                  <a:cubicBezTo>
                    <a:pt x="0" y="219964"/>
                    <a:pt x="219964" y="0"/>
                    <a:pt x="491363" y="0"/>
                  </a:cubicBezTo>
                  <a:lnTo>
                    <a:pt x="4295267" y="0"/>
                  </a:lnTo>
                  <a:cubicBezTo>
                    <a:pt x="4566666" y="0"/>
                    <a:pt x="4786630" y="219964"/>
                    <a:pt x="4786630" y="491363"/>
                  </a:cubicBezTo>
                  <a:cubicBezTo>
                    <a:pt x="4786630" y="762762"/>
                    <a:pt x="4566666" y="982726"/>
                    <a:pt x="4295267" y="982726"/>
                  </a:cubicBezTo>
                  <a:lnTo>
                    <a:pt x="491363" y="982726"/>
                  </a:lnTo>
                  <a:cubicBezTo>
                    <a:pt x="219964" y="982726"/>
                    <a:pt x="0" y="762762"/>
                    <a:pt x="0" y="491363"/>
                  </a:cubicBezTo>
                  <a:close/>
                </a:path>
              </a:pathLst>
            </a:custGeom>
            <a:solidFill>
              <a:srgbClr val="FFFFFF"/>
            </a:solidFill>
            <a:ln w="23812" cap="sq">
              <a:solidFill>
                <a:srgbClr val="E2E8F0"/>
              </a:solidFill>
              <a:prstDash val="solid"/>
              <a:miter/>
            </a:ln>
          </p:spPr>
        </p:sp>
      </p:grpSp>
      <p:grpSp>
        <p:nvGrpSpPr>
          <p:cNvPr name="Group 33" id="33"/>
          <p:cNvGrpSpPr/>
          <p:nvPr/>
        </p:nvGrpSpPr>
        <p:grpSpPr>
          <a:xfrm rot="0">
            <a:off x="8791956" y="2548509"/>
            <a:ext cx="466344" cy="466344"/>
            <a:chOff x="0" y="0"/>
            <a:chExt cx="621792" cy="621792"/>
          </a:xfrm>
        </p:grpSpPr>
        <p:sp>
          <p:nvSpPr>
            <p:cNvPr name="Freeform 34" id="34"/>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EEF4F4"/>
            </a:solidFill>
          </p:spPr>
        </p:sp>
      </p:grpSp>
      <p:grpSp>
        <p:nvGrpSpPr>
          <p:cNvPr name="Group 35" id="35"/>
          <p:cNvGrpSpPr/>
          <p:nvPr/>
        </p:nvGrpSpPr>
        <p:grpSpPr>
          <a:xfrm rot="0">
            <a:off x="8791956" y="2548509"/>
            <a:ext cx="466344" cy="466344"/>
            <a:chOff x="0" y="0"/>
            <a:chExt cx="621792" cy="621792"/>
          </a:xfrm>
        </p:grpSpPr>
        <p:sp>
          <p:nvSpPr>
            <p:cNvPr name="Freeform 36" id="36"/>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close/>
                </a:path>
              </a:pathLst>
            </a:custGeom>
            <a:blipFill>
              <a:blip r:embed="rId9">
                <a:alphaModFix amt="0"/>
              </a:blip>
              <a:stretch>
                <a:fillRect l="-78303" t="0" r="-78303" b="0"/>
              </a:stretch>
            </a:blipFill>
          </p:spPr>
        </p:sp>
        <p:sp>
          <p:nvSpPr>
            <p:cNvPr name="TextBox 37" id="37"/>
            <p:cNvSpPr txBox="true"/>
            <p:nvPr/>
          </p:nvSpPr>
          <p:spPr>
            <a:xfrm>
              <a:off x="0" y="-19050"/>
              <a:ext cx="621792" cy="640842"/>
            </a:xfrm>
            <a:prstGeom prst="rect">
              <a:avLst/>
            </a:prstGeom>
          </p:spPr>
          <p:txBody>
            <a:bodyPr anchor="ctr" rtlCol="false" tIns="0" lIns="0" bIns="0" rIns="0"/>
            <a:lstStyle/>
            <a:p>
              <a:pPr algn="ctr">
                <a:lnSpc>
                  <a:spcPts val="2160"/>
                </a:lnSpc>
              </a:pPr>
              <a:r>
                <a:rPr lang="en-US" sz="1800" b="true">
                  <a:solidFill>
                    <a:srgbClr val="64748B"/>
                  </a:solidFill>
                  <a:latin typeface="Poppins Bold"/>
                  <a:ea typeface="Poppins Bold"/>
                  <a:cs typeface="Poppins Bold"/>
                  <a:sym typeface="Poppins Bold"/>
                </a:rPr>
                <a:t>3</a:t>
              </a:r>
            </a:p>
          </p:txBody>
        </p:sp>
      </p:grpSp>
      <p:grpSp>
        <p:nvGrpSpPr>
          <p:cNvPr name="Group 38" id="38"/>
          <p:cNvGrpSpPr/>
          <p:nvPr/>
        </p:nvGrpSpPr>
        <p:grpSpPr>
          <a:xfrm rot="0">
            <a:off x="9395460" y="2425065"/>
            <a:ext cx="2688336" cy="713232"/>
            <a:chOff x="0" y="0"/>
            <a:chExt cx="3584448" cy="950976"/>
          </a:xfrm>
        </p:grpSpPr>
        <p:sp>
          <p:nvSpPr>
            <p:cNvPr name="Freeform 39" id="39"/>
            <p:cNvSpPr/>
            <p:nvPr/>
          </p:nvSpPr>
          <p:spPr>
            <a:xfrm flipH="false" flipV="false" rot="0">
              <a:off x="0" y="0"/>
              <a:ext cx="3584448" cy="950976"/>
            </a:xfrm>
            <a:custGeom>
              <a:avLst/>
              <a:gdLst/>
              <a:ahLst/>
              <a:cxnLst/>
              <a:rect r="r" b="b" t="t" l="l"/>
              <a:pathLst>
                <a:path h="950976" w="3584448">
                  <a:moveTo>
                    <a:pt x="0" y="0"/>
                  </a:moveTo>
                  <a:lnTo>
                    <a:pt x="3584448" y="0"/>
                  </a:lnTo>
                  <a:lnTo>
                    <a:pt x="3584448" y="950976"/>
                  </a:lnTo>
                  <a:lnTo>
                    <a:pt x="0" y="950976"/>
                  </a:lnTo>
                  <a:close/>
                </a:path>
              </a:pathLst>
            </a:custGeom>
            <a:blipFill>
              <a:blip r:embed="rId9">
                <a:alphaModFix amt="0"/>
              </a:blip>
              <a:stretch>
                <a:fillRect l="0" t="-23443" r="0" b="-23443"/>
              </a:stretch>
            </a:blipFill>
          </p:spPr>
        </p:sp>
        <p:sp>
          <p:nvSpPr>
            <p:cNvPr name="TextBox 40" id="40"/>
            <p:cNvSpPr txBox="true"/>
            <p:nvPr/>
          </p:nvSpPr>
          <p:spPr>
            <a:xfrm>
              <a:off x="0" y="-9525"/>
              <a:ext cx="3584448" cy="960501"/>
            </a:xfrm>
            <a:prstGeom prst="rect">
              <a:avLst/>
            </a:prstGeom>
          </p:spPr>
          <p:txBody>
            <a:bodyPr anchor="ctr" rtlCol="false" tIns="0" lIns="0" bIns="0" rIns="0"/>
            <a:lstStyle/>
            <a:p>
              <a:pPr algn="l">
                <a:lnSpc>
                  <a:spcPts val="2070"/>
                </a:lnSpc>
              </a:pPr>
              <a:r>
                <a:rPr lang="en-US" sz="1725">
                  <a:solidFill>
                    <a:srgbClr val="475569"/>
                  </a:solidFill>
                  <a:latin typeface="Poppins"/>
                  <a:ea typeface="Poppins"/>
                  <a:cs typeface="Poppins"/>
                  <a:sym typeface="Poppins"/>
                </a:rPr>
                <a:t>Confirm cardinality</a:t>
              </a:r>
            </a:p>
          </p:txBody>
        </p:sp>
      </p:grpSp>
      <p:grpSp>
        <p:nvGrpSpPr>
          <p:cNvPr name="Group 41" id="41"/>
          <p:cNvGrpSpPr/>
          <p:nvPr/>
        </p:nvGrpSpPr>
        <p:grpSpPr>
          <a:xfrm rot="0">
            <a:off x="12455938" y="2413159"/>
            <a:ext cx="3589972" cy="737044"/>
            <a:chOff x="0" y="0"/>
            <a:chExt cx="4786630" cy="982726"/>
          </a:xfrm>
        </p:grpSpPr>
        <p:sp>
          <p:nvSpPr>
            <p:cNvPr name="Freeform 42" id="42"/>
            <p:cNvSpPr/>
            <p:nvPr/>
          </p:nvSpPr>
          <p:spPr>
            <a:xfrm flipH="false" flipV="false" rot="0">
              <a:off x="0" y="0"/>
              <a:ext cx="4786630" cy="982726"/>
            </a:xfrm>
            <a:custGeom>
              <a:avLst/>
              <a:gdLst/>
              <a:ahLst/>
              <a:cxnLst/>
              <a:rect r="r" b="b" t="t" l="l"/>
              <a:pathLst>
                <a:path h="982726" w="4786630">
                  <a:moveTo>
                    <a:pt x="0" y="491363"/>
                  </a:moveTo>
                  <a:cubicBezTo>
                    <a:pt x="0" y="219964"/>
                    <a:pt x="219964" y="0"/>
                    <a:pt x="491363" y="0"/>
                  </a:cubicBezTo>
                  <a:lnTo>
                    <a:pt x="4295267" y="0"/>
                  </a:lnTo>
                  <a:cubicBezTo>
                    <a:pt x="4566666" y="0"/>
                    <a:pt x="4786630" y="219964"/>
                    <a:pt x="4786630" y="491363"/>
                  </a:cubicBezTo>
                  <a:cubicBezTo>
                    <a:pt x="4786630" y="762762"/>
                    <a:pt x="4566666" y="982726"/>
                    <a:pt x="4295267" y="982726"/>
                  </a:cubicBezTo>
                  <a:lnTo>
                    <a:pt x="491363" y="982726"/>
                  </a:lnTo>
                  <a:cubicBezTo>
                    <a:pt x="219964" y="982726"/>
                    <a:pt x="0" y="762762"/>
                    <a:pt x="0" y="491363"/>
                  </a:cubicBezTo>
                  <a:close/>
                </a:path>
              </a:pathLst>
            </a:custGeom>
            <a:solidFill>
              <a:srgbClr val="FFFFFF"/>
            </a:solidFill>
            <a:ln w="23812" cap="sq">
              <a:solidFill>
                <a:srgbClr val="E2E8F0"/>
              </a:solidFill>
              <a:prstDash val="solid"/>
              <a:miter/>
            </a:ln>
          </p:spPr>
        </p:sp>
      </p:grpSp>
      <p:grpSp>
        <p:nvGrpSpPr>
          <p:cNvPr name="Group 43" id="43"/>
          <p:cNvGrpSpPr/>
          <p:nvPr/>
        </p:nvGrpSpPr>
        <p:grpSpPr>
          <a:xfrm rot="0">
            <a:off x="12605004" y="2548509"/>
            <a:ext cx="466344" cy="466344"/>
            <a:chOff x="0" y="0"/>
            <a:chExt cx="621792" cy="621792"/>
          </a:xfrm>
        </p:grpSpPr>
        <p:sp>
          <p:nvSpPr>
            <p:cNvPr name="Freeform 44" id="44"/>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EEF4F4"/>
            </a:solidFill>
          </p:spPr>
        </p:sp>
      </p:grpSp>
      <p:grpSp>
        <p:nvGrpSpPr>
          <p:cNvPr name="Group 45" id="45"/>
          <p:cNvGrpSpPr/>
          <p:nvPr/>
        </p:nvGrpSpPr>
        <p:grpSpPr>
          <a:xfrm rot="0">
            <a:off x="12605004" y="2548509"/>
            <a:ext cx="466344" cy="466344"/>
            <a:chOff x="0" y="0"/>
            <a:chExt cx="621792" cy="621792"/>
          </a:xfrm>
        </p:grpSpPr>
        <p:sp>
          <p:nvSpPr>
            <p:cNvPr name="Freeform 46" id="46"/>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close/>
                </a:path>
              </a:pathLst>
            </a:custGeom>
            <a:blipFill>
              <a:blip r:embed="rId9">
                <a:alphaModFix amt="0"/>
              </a:blip>
              <a:stretch>
                <a:fillRect l="-78303" t="0" r="-78303" b="0"/>
              </a:stretch>
            </a:blipFill>
          </p:spPr>
        </p:sp>
        <p:sp>
          <p:nvSpPr>
            <p:cNvPr name="TextBox 47" id="47"/>
            <p:cNvSpPr txBox="true"/>
            <p:nvPr/>
          </p:nvSpPr>
          <p:spPr>
            <a:xfrm>
              <a:off x="0" y="-19050"/>
              <a:ext cx="621792" cy="640842"/>
            </a:xfrm>
            <a:prstGeom prst="rect">
              <a:avLst/>
            </a:prstGeom>
          </p:spPr>
          <p:txBody>
            <a:bodyPr anchor="ctr" rtlCol="false" tIns="0" lIns="0" bIns="0" rIns="0"/>
            <a:lstStyle/>
            <a:p>
              <a:pPr algn="ctr">
                <a:lnSpc>
                  <a:spcPts val="2160"/>
                </a:lnSpc>
              </a:pPr>
              <a:r>
                <a:rPr lang="en-US" sz="1800" b="true">
                  <a:solidFill>
                    <a:srgbClr val="64748B"/>
                  </a:solidFill>
                  <a:latin typeface="Poppins Bold"/>
                  <a:ea typeface="Poppins Bold"/>
                  <a:cs typeface="Poppins Bold"/>
                  <a:sym typeface="Poppins Bold"/>
                </a:rPr>
                <a:t>4</a:t>
              </a:r>
            </a:p>
          </p:txBody>
        </p:sp>
      </p:grpSp>
      <p:grpSp>
        <p:nvGrpSpPr>
          <p:cNvPr name="Group 48" id="48"/>
          <p:cNvGrpSpPr/>
          <p:nvPr/>
        </p:nvGrpSpPr>
        <p:grpSpPr>
          <a:xfrm rot="0">
            <a:off x="13208508" y="2425065"/>
            <a:ext cx="2688336" cy="713232"/>
            <a:chOff x="0" y="0"/>
            <a:chExt cx="3584448" cy="950976"/>
          </a:xfrm>
        </p:grpSpPr>
        <p:sp>
          <p:nvSpPr>
            <p:cNvPr name="Freeform 49" id="49"/>
            <p:cNvSpPr/>
            <p:nvPr/>
          </p:nvSpPr>
          <p:spPr>
            <a:xfrm flipH="false" flipV="false" rot="0">
              <a:off x="0" y="0"/>
              <a:ext cx="3584448" cy="950976"/>
            </a:xfrm>
            <a:custGeom>
              <a:avLst/>
              <a:gdLst/>
              <a:ahLst/>
              <a:cxnLst/>
              <a:rect r="r" b="b" t="t" l="l"/>
              <a:pathLst>
                <a:path h="950976" w="3584448">
                  <a:moveTo>
                    <a:pt x="0" y="0"/>
                  </a:moveTo>
                  <a:lnTo>
                    <a:pt x="3584448" y="0"/>
                  </a:lnTo>
                  <a:lnTo>
                    <a:pt x="3584448" y="950976"/>
                  </a:lnTo>
                  <a:lnTo>
                    <a:pt x="0" y="950976"/>
                  </a:lnTo>
                  <a:close/>
                </a:path>
              </a:pathLst>
            </a:custGeom>
            <a:blipFill>
              <a:blip r:embed="rId9">
                <a:alphaModFix amt="0"/>
              </a:blip>
              <a:stretch>
                <a:fillRect l="0" t="-23443" r="0" b="-23443"/>
              </a:stretch>
            </a:blipFill>
          </p:spPr>
        </p:sp>
        <p:sp>
          <p:nvSpPr>
            <p:cNvPr name="TextBox 50" id="50"/>
            <p:cNvSpPr txBox="true"/>
            <p:nvPr/>
          </p:nvSpPr>
          <p:spPr>
            <a:xfrm>
              <a:off x="0" y="-9525"/>
              <a:ext cx="3584448" cy="960501"/>
            </a:xfrm>
            <a:prstGeom prst="rect">
              <a:avLst/>
            </a:prstGeom>
          </p:spPr>
          <p:txBody>
            <a:bodyPr anchor="ctr" rtlCol="false" tIns="0" lIns="0" bIns="0" rIns="0"/>
            <a:lstStyle/>
            <a:p>
              <a:pPr algn="l">
                <a:lnSpc>
                  <a:spcPts val="2070"/>
                </a:lnSpc>
              </a:pPr>
              <a:r>
                <a:rPr lang="en-US" sz="1725">
                  <a:solidFill>
                    <a:srgbClr val="475569"/>
                  </a:solidFill>
                  <a:latin typeface="Poppins"/>
                  <a:ea typeface="Poppins"/>
                  <a:cs typeface="Poppins"/>
                  <a:sym typeface="Poppins"/>
                </a:rPr>
                <a:t>Check the filter arrow</a:t>
              </a:r>
            </a:p>
          </p:txBody>
        </p:sp>
      </p:grpSp>
      <p:grpSp>
        <p:nvGrpSpPr>
          <p:cNvPr name="Group 51" id="51"/>
          <p:cNvGrpSpPr/>
          <p:nvPr/>
        </p:nvGrpSpPr>
        <p:grpSpPr>
          <a:xfrm rot="0">
            <a:off x="1019175" y="3581400"/>
            <a:ext cx="9071610" cy="5266915"/>
            <a:chOff x="0" y="0"/>
            <a:chExt cx="12095480" cy="7022554"/>
          </a:xfrm>
        </p:grpSpPr>
        <p:sp>
          <p:nvSpPr>
            <p:cNvPr name="Freeform 52" id="52"/>
            <p:cNvSpPr/>
            <p:nvPr/>
          </p:nvSpPr>
          <p:spPr>
            <a:xfrm flipH="false" flipV="false" rot="0">
              <a:off x="0" y="0"/>
              <a:ext cx="12095480" cy="7022592"/>
            </a:xfrm>
            <a:custGeom>
              <a:avLst/>
              <a:gdLst/>
              <a:ahLst/>
              <a:cxnLst/>
              <a:rect r="r" b="b" t="t" l="l"/>
              <a:pathLst>
                <a:path h="7022592" w="12095480">
                  <a:moveTo>
                    <a:pt x="0" y="217932"/>
                  </a:moveTo>
                  <a:cubicBezTo>
                    <a:pt x="0" y="97536"/>
                    <a:pt x="97536" y="0"/>
                    <a:pt x="217932" y="0"/>
                  </a:cubicBezTo>
                  <a:lnTo>
                    <a:pt x="11877548" y="0"/>
                  </a:lnTo>
                  <a:cubicBezTo>
                    <a:pt x="11997944" y="0"/>
                    <a:pt x="12095480" y="97536"/>
                    <a:pt x="12095480" y="217932"/>
                  </a:cubicBezTo>
                  <a:lnTo>
                    <a:pt x="12095480" y="6804660"/>
                  </a:lnTo>
                  <a:cubicBezTo>
                    <a:pt x="12095480" y="6925056"/>
                    <a:pt x="11997944" y="7022592"/>
                    <a:pt x="11877548" y="7022592"/>
                  </a:cubicBezTo>
                  <a:lnTo>
                    <a:pt x="217932" y="7022592"/>
                  </a:lnTo>
                  <a:cubicBezTo>
                    <a:pt x="97536" y="7022592"/>
                    <a:pt x="0" y="6924929"/>
                    <a:pt x="0" y="6804660"/>
                  </a:cubicBezTo>
                  <a:close/>
                </a:path>
              </a:pathLst>
            </a:custGeom>
            <a:solidFill>
              <a:srgbClr val="EEF4F4"/>
            </a:solidFill>
            <a:ln w="19050" cap="sq">
              <a:solidFill>
                <a:srgbClr val="E2E8F0"/>
              </a:solidFill>
              <a:prstDash val="dash"/>
              <a:miter/>
            </a:ln>
          </p:spPr>
        </p:sp>
      </p:grpSp>
      <p:grpSp>
        <p:nvGrpSpPr>
          <p:cNvPr name="Group 53" id="53"/>
          <p:cNvGrpSpPr/>
          <p:nvPr/>
        </p:nvGrpSpPr>
        <p:grpSpPr>
          <a:xfrm rot="0">
            <a:off x="1330452" y="8943146"/>
            <a:ext cx="8229600" cy="906866"/>
            <a:chOff x="0" y="0"/>
            <a:chExt cx="10972800" cy="1209154"/>
          </a:xfrm>
        </p:grpSpPr>
        <p:sp>
          <p:nvSpPr>
            <p:cNvPr name="Freeform 54" id="54"/>
            <p:cNvSpPr/>
            <p:nvPr/>
          </p:nvSpPr>
          <p:spPr>
            <a:xfrm flipH="false" flipV="false" rot="0">
              <a:off x="0" y="0"/>
              <a:ext cx="10972800" cy="1209158"/>
            </a:xfrm>
            <a:custGeom>
              <a:avLst/>
              <a:gdLst/>
              <a:ahLst/>
              <a:cxnLst/>
              <a:rect r="r" b="b" t="t" l="l"/>
              <a:pathLst>
                <a:path h="1209158" w="10972800">
                  <a:moveTo>
                    <a:pt x="0" y="0"/>
                  </a:moveTo>
                  <a:lnTo>
                    <a:pt x="10972800" y="0"/>
                  </a:lnTo>
                  <a:lnTo>
                    <a:pt x="10972800" y="1209158"/>
                  </a:lnTo>
                  <a:lnTo>
                    <a:pt x="0" y="1209158"/>
                  </a:lnTo>
                  <a:close/>
                </a:path>
              </a:pathLst>
            </a:custGeom>
            <a:blipFill>
              <a:blip r:embed="rId9">
                <a:alphaModFix amt="0"/>
              </a:blip>
              <a:stretch>
                <a:fillRect l="0" t="-126821" r="0" b="-126821"/>
              </a:stretch>
            </a:blipFill>
          </p:spPr>
        </p:sp>
        <p:sp>
          <p:nvSpPr>
            <p:cNvPr name="TextBox 55" id="55"/>
            <p:cNvSpPr txBox="true"/>
            <p:nvPr/>
          </p:nvSpPr>
          <p:spPr>
            <a:xfrm>
              <a:off x="0" y="-76200"/>
              <a:ext cx="10972800" cy="1285354"/>
            </a:xfrm>
            <a:prstGeom prst="rect">
              <a:avLst/>
            </a:prstGeom>
          </p:spPr>
          <p:txBody>
            <a:bodyPr anchor="ctr" rtlCol="false" tIns="0" lIns="0" bIns="0" rIns="0"/>
            <a:lstStyle/>
            <a:p>
              <a:pPr algn="ctr">
                <a:lnSpc>
                  <a:spcPts val="2925"/>
                </a:lnSpc>
              </a:pPr>
              <a:r>
                <a:rPr lang="en-US" sz="1950">
                  <a:solidFill>
                    <a:srgbClr val="64748B"/>
                  </a:solidFill>
                  <a:latin typeface="Poppins"/>
                  <a:ea typeface="Poppins"/>
                  <a:cs typeface="Poppins"/>
                  <a:sym typeface="Poppins"/>
                </a:rPr>
                <a:t>The Create relationship dialogue: riders.RiderID to</a:t>
              </a:r>
            </a:p>
            <a:p>
              <a:pPr algn="ctr">
                <a:lnSpc>
                  <a:spcPts val="2925"/>
                </a:lnSpc>
              </a:pPr>
              <a:r>
                <a:rPr lang="en-US" sz="1950">
                  <a:solidFill>
                    <a:srgbClr val="64748B"/>
                  </a:solidFill>
                  <a:latin typeface="Poppins"/>
                  <a:ea typeface="Poppins"/>
                  <a:cs typeface="Poppins"/>
                  <a:sym typeface="Poppins"/>
                </a:rPr>
                <a:t>swiftroute_deliveries.RiderID, One to many, Single direction</a:t>
              </a:r>
            </a:p>
          </p:txBody>
        </p:sp>
      </p:grpSp>
      <p:grpSp>
        <p:nvGrpSpPr>
          <p:cNvPr name="Group 56" id="56"/>
          <p:cNvGrpSpPr/>
          <p:nvPr/>
        </p:nvGrpSpPr>
        <p:grpSpPr>
          <a:xfrm rot="0">
            <a:off x="10629900" y="3590925"/>
            <a:ext cx="5143500" cy="4711151"/>
            <a:chOff x="0" y="0"/>
            <a:chExt cx="6858000" cy="6281534"/>
          </a:xfrm>
        </p:grpSpPr>
        <p:sp>
          <p:nvSpPr>
            <p:cNvPr name="Freeform 57" id="57"/>
            <p:cNvSpPr/>
            <p:nvPr/>
          </p:nvSpPr>
          <p:spPr>
            <a:xfrm flipH="false" flipV="false" rot="0">
              <a:off x="0" y="0"/>
              <a:ext cx="6858000" cy="6281547"/>
            </a:xfrm>
            <a:custGeom>
              <a:avLst/>
              <a:gdLst/>
              <a:ahLst/>
              <a:cxnLst/>
              <a:rect r="r" b="b" t="t" l="l"/>
              <a:pathLst>
                <a:path h="6281547" w="6858000">
                  <a:moveTo>
                    <a:pt x="0" y="194945"/>
                  </a:moveTo>
                  <a:cubicBezTo>
                    <a:pt x="0" y="87249"/>
                    <a:pt x="87249" y="0"/>
                    <a:pt x="194945" y="0"/>
                  </a:cubicBezTo>
                  <a:lnTo>
                    <a:pt x="6663055" y="0"/>
                  </a:lnTo>
                  <a:cubicBezTo>
                    <a:pt x="6770751" y="0"/>
                    <a:pt x="6858000" y="87249"/>
                    <a:pt x="6858000" y="194945"/>
                  </a:cubicBezTo>
                  <a:lnTo>
                    <a:pt x="6858000" y="6086602"/>
                  </a:lnTo>
                  <a:cubicBezTo>
                    <a:pt x="6858000" y="6194298"/>
                    <a:pt x="6770751" y="6281547"/>
                    <a:pt x="6663055" y="6281547"/>
                  </a:cubicBezTo>
                  <a:lnTo>
                    <a:pt x="194945" y="6281547"/>
                  </a:lnTo>
                  <a:cubicBezTo>
                    <a:pt x="87249" y="6281547"/>
                    <a:pt x="0" y="6194298"/>
                    <a:pt x="0" y="6086602"/>
                  </a:cubicBezTo>
                  <a:close/>
                </a:path>
              </a:pathLst>
            </a:custGeom>
            <a:solidFill>
              <a:srgbClr val="FFFFFF"/>
            </a:solidFill>
          </p:spPr>
        </p:sp>
      </p:grpSp>
      <p:grpSp>
        <p:nvGrpSpPr>
          <p:cNvPr name="Group 58" id="58"/>
          <p:cNvGrpSpPr/>
          <p:nvPr/>
        </p:nvGrpSpPr>
        <p:grpSpPr>
          <a:xfrm rot="0">
            <a:off x="10629900" y="3590925"/>
            <a:ext cx="90526" cy="4711151"/>
            <a:chOff x="0" y="0"/>
            <a:chExt cx="120701" cy="6281534"/>
          </a:xfrm>
        </p:grpSpPr>
        <p:sp>
          <p:nvSpPr>
            <p:cNvPr name="Freeform 59" id="59"/>
            <p:cNvSpPr/>
            <p:nvPr/>
          </p:nvSpPr>
          <p:spPr>
            <a:xfrm flipH="false" flipV="false" rot="0">
              <a:off x="0" y="0"/>
              <a:ext cx="120650" cy="6281547"/>
            </a:xfrm>
            <a:custGeom>
              <a:avLst/>
              <a:gdLst/>
              <a:ahLst/>
              <a:cxnLst/>
              <a:rect r="r" b="b" t="t" l="l"/>
              <a:pathLst>
                <a:path h="6281547" w="120650">
                  <a:moveTo>
                    <a:pt x="0" y="0"/>
                  </a:moveTo>
                  <a:lnTo>
                    <a:pt x="120650" y="0"/>
                  </a:lnTo>
                  <a:lnTo>
                    <a:pt x="120650" y="6281547"/>
                  </a:lnTo>
                  <a:lnTo>
                    <a:pt x="0" y="6281547"/>
                  </a:lnTo>
                  <a:close/>
                </a:path>
              </a:pathLst>
            </a:custGeom>
            <a:solidFill>
              <a:srgbClr val="387F7F"/>
            </a:solidFill>
          </p:spPr>
        </p:sp>
      </p:grpSp>
      <p:grpSp>
        <p:nvGrpSpPr>
          <p:cNvPr name="Group 60" id="60"/>
          <p:cNvGrpSpPr/>
          <p:nvPr/>
        </p:nvGrpSpPr>
        <p:grpSpPr>
          <a:xfrm rot="0">
            <a:off x="11041380" y="3892677"/>
            <a:ext cx="4526280" cy="411480"/>
            <a:chOff x="0" y="0"/>
            <a:chExt cx="6035040" cy="548640"/>
          </a:xfrm>
        </p:grpSpPr>
        <p:sp>
          <p:nvSpPr>
            <p:cNvPr name="Freeform 61" id="61"/>
            <p:cNvSpPr/>
            <p:nvPr/>
          </p:nvSpPr>
          <p:spPr>
            <a:xfrm flipH="false" flipV="false" rot="0">
              <a:off x="0" y="0"/>
              <a:ext cx="6035040" cy="548640"/>
            </a:xfrm>
            <a:custGeom>
              <a:avLst/>
              <a:gdLst/>
              <a:ahLst/>
              <a:cxnLst/>
              <a:rect r="r" b="b" t="t" l="l"/>
              <a:pathLst>
                <a:path h="548640" w="6035040">
                  <a:moveTo>
                    <a:pt x="0" y="0"/>
                  </a:moveTo>
                  <a:lnTo>
                    <a:pt x="6035040" y="0"/>
                  </a:lnTo>
                  <a:lnTo>
                    <a:pt x="6035040" y="548640"/>
                  </a:lnTo>
                  <a:lnTo>
                    <a:pt x="0" y="548640"/>
                  </a:lnTo>
                  <a:close/>
                </a:path>
              </a:pathLst>
            </a:custGeom>
            <a:blipFill>
              <a:blip r:embed="rId9">
                <a:alphaModFix amt="0"/>
              </a:blip>
              <a:stretch>
                <a:fillRect l="0" t="-164335" r="0" b="-164335"/>
              </a:stretch>
            </a:blipFill>
          </p:spPr>
        </p:sp>
        <p:sp>
          <p:nvSpPr>
            <p:cNvPr name="TextBox 62" id="62"/>
            <p:cNvSpPr txBox="true"/>
            <p:nvPr/>
          </p:nvSpPr>
          <p:spPr>
            <a:xfrm>
              <a:off x="0" y="-9525"/>
              <a:ext cx="6035040" cy="558165"/>
            </a:xfrm>
            <a:prstGeom prst="rect">
              <a:avLst/>
            </a:prstGeom>
          </p:spPr>
          <p:txBody>
            <a:bodyPr anchor="ctr" rtlCol="false" tIns="0" lIns="0" bIns="0" rIns="0"/>
            <a:lstStyle/>
            <a:p>
              <a:pPr algn="l">
                <a:lnSpc>
                  <a:spcPts val="1980"/>
                </a:lnSpc>
              </a:pPr>
              <a:r>
                <a:rPr lang="en-US" sz="1650" b="true">
                  <a:solidFill>
                    <a:srgbClr val="387F7F"/>
                  </a:solidFill>
                  <a:latin typeface="Poppins Bold"/>
                  <a:ea typeface="Poppins Bold"/>
                  <a:cs typeface="Poppins Bold"/>
                  <a:sym typeface="Poppins Bold"/>
                </a:rPr>
                <a:t>READ, DO NOT CLICK THROUGH</a:t>
              </a:r>
            </a:p>
          </p:txBody>
        </p:sp>
      </p:grpSp>
      <p:sp>
        <p:nvSpPr>
          <p:cNvPr name="TextBox 63" id="63"/>
          <p:cNvSpPr txBox="true"/>
          <p:nvPr/>
        </p:nvSpPr>
        <p:spPr>
          <a:xfrm rot="0">
            <a:off x="11041380" y="4328160"/>
            <a:ext cx="4526280" cy="3103245"/>
          </a:xfrm>
          <a:prstGeom prst="rect">
            <a:avLst/>
          </a:prstGeom>
        </p:spPr>
        <p:txBody>
          <a:bodyPr anchor="t" rtlCol="false" tIns="0" lIns="0" bIns="0" rIns="0">
            <a:spAutoFit/>
          </a:bodyPr>
          <a:lstStyle/>
          <a:p>
            <a:pPr algn="l">
              <a:lnSpc>
                <a:spcPts val="3042"/>
              </a:lnSpc>
            </a:pPr>
            <a:r>
              <a:rPr lang="en-US" sz="1950">
                <a:solidFill>
                  <a:srgbClr val="475569"/>
                </a:solidFill>
                <a:latin typeface="Poppins"/>
                <a:ea typeface="Poppins"/>
                <a:cs typeface="Poppins"/>
                <a:sym typeface="Poppins"/>
              </a:rPr>
              <a:t>Drag RiderID from riders onto RiderID in deliveries. Power BI infers the cardinality and shows it.</a:t>
            </a:r>
          </a:p>
          <a:p>
            <a:pPr algn="l">
              <a:lnSpc>
                <a:spcPts val="3042"/>
              </a:lnSpc>
            </a:pPr>
          </a:p>
          <a:p>
            <a:pPr algn="l">
              <a:lnSpc>
                <a:spcPts val="3042"/>
              </a:lnSpc>
            </a:pPr>
            <a:r>
              <a:rPr lang="en-US" sz="1950">
                <a:solidFill>
                  <a:srgbClr val="475569"/>
                </a:solidFill>
                <a:latin typeface="Poppins"/>
                <a:ea typeface="Poppins"/>
                <a:cs typeface="Poppins"/>
                <a:sym typeface="Poppins"/>
              </a:rPr>
              <a:t>Read what it inferred. An unexpected many-to-many is almost always a data quality problem in the dimension, not a modelling decision.</a:t>
            </a:r>
          </a:p>
        </p:txBody>
      </p:sp>
      <p:grpSp>
        <p:nvGrpSpPr>
          <p:cNvPr name="Group 64" id="64"/>
          <p:cNvGrpSpPr/>
          <p:nvPr/>
        </p:nvGrpSpPr>
        <p:grpSpPr>
          <a:xfrm rot="0">
            <a:off x="2514600" y="3620738"/>
            <a:ext cx="5742118" cy="5174218"/>
            <a:chOff x="0" y="0"/>
            <a:chExt cx="7656157" cy="6898958"/>
          </a:xfrm>
        </p:grpSpPr>
        <p:sp>
          <p:nvSpPr>
            <p:cNvPr name="Freeform 65" id="65"/>
            <p:cNvSpPr/>
            <p:nvPr/>
          </p:nvSpPr>
          <p:spPr>
            <a:xfrm flipH="false" flipV="false" rot="0">
              <a:off x="0" y="0"/>
              <a:ext cx="7656195" cy="6899021"/>
            </a:xfrm>
            <a:custGeom>
              <a:avLst/>
              <a:gdLst/>
              <a:ahLst/>
              <a:cxnLst/>
              <a:rect r="r" b="b" t="t" l="l"/>
              <a:pathLst>
                <a:path h="6899021" w="7656195">
                  <a:moveTo>
                    <a:pt x="0" y="0"/>
                  </a:moveTo>
                  <a:lnTo>
                    <a:pt x="7656195" y="0"/>
                  </a:lnTo>
                  <a:lnTo>
                    <a:pt x="7656195" y="6899021"/>
                  </a:lnTo>
                  <a:lnTo>
                    <a:pt x="0" y="6899021"/>
                  </a:lnTo>
                  <a:lnTo>
                    <a:pt x="0" y="0"/>
                  </a:lnTo>
                  <a:close/>
                </a:path>
              </a:pathLst>
            </a:custGeom>
            <a:blipFill>
              <a:blip r:embed="rId10"/>
              <a:stretch>
                <a:fillRect l="0" t="0" r="0" b="0"/>
              </a:stretch>
            </a:blipFill>
          </p:spPr>
        </p:sp>
      </p:grpSp>
      <p:sp>
        <p:nvSpPr>
          <p:cNvPr name="TextBox 66" id="66"/>
          <p:cNvSpPr txBox="true"/>
          <p:nvPr/>
        </p:nvSpPr>
        <p:spPr>
          <a:xfrm rot="0">
            <a:off x="1019175" y="9830962"/>
            <a:ext cx="15026735" cy="285750"/>
          </a:xfrm>
          <a:prstGeom prst="rect">
            <a:avLst/>
          </a:prstGeom>
        </p:spPr>
        <p:txBody>
          <a:bodyPr anchor="t" rtlCol="false" tIns="0" lIns="0" bIns="0" rIns="0">
            <a:spAutoFit/>
          </a:bodyPr>
          <a:lstStyle/>
          <a:p>
            <a:pPr algn="ctr">
              <a:lnSpc>
                <a:spcPts val="2160"/>
              </a:lnSpc>
              <a:spcBef>
                <a:spcPct val="0"/>
              </a:spcBef>
            </a:pPr>
            <a:r>
              <a:rPr lang="en-US" b="true" sz="1800">
                <a:solidFill>
                  <a:srgbClr val="475569"/>
                </a:solidFill>
                <a:latin typeface="Poppins Bold"/>
                <a:ea typeface="Poppins Bold"/>
                <a:cs typeface="Poppins Bold"/>
                <a:sym typeface="Poppins Bold"/>
              </a:rPr>
              <a:t>Drawing a relationship in Model view</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3196590"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Read every relationship</a:t>
            </a:r>
            <a:r>
              <a:rPr lang="en-US" sz="5000">
                <a:solidFill>
                  <a:srgbClr val="388080"/>
                </a:solidFill>
                <a:latin typeface="Poppins"/>
                <a:ea typeface="Poppins"/>
                <a:cs typeface="Poppins"/>
                <a:sym typeface="Poppins"/>
              </a:rPr>
              <a:t> before you trust it</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028700" y="2774785"/>
            <a:ext cx="14744700" cy="1536192"/>
            <a:chOff x="0" y="0"/>
            <a:chExt cx="19659600" cy="2048256"/>
          </a:xfrm>
        </p:grpSpPr>
        <p:sp>
          <p:nvSpPr>
            <p:cNvPr name="Freeform 12" id="12"/>
            <p:cNvSpPr/>
            <p:nvPr/>
          </p:nvSpPr>
          <p:spPr>
            <a:xfrm flipH="false" flipV="false" rot="0">
              <a:off x="0" y="0"/>
              <a:ext cx="19659600" cy="2048256"/>
            </a:xfrm>
            <a:custGeom>
              <a:avLst/>
              <a:gdLst/>
              <a:ahLst/>
              <a:cxnLst/>
              <a:rect r="r" b="b" t="t" l="l"/>
              <a:pathLst>
                <a:path h="2048256" w="19659600">
                  <a:moveTo>
                    <a:pt x="0" y="164592"/>
                  </a:moveTo>
                  <a:cubicBezTo>
                    <a:pt x="0" y="73660"/>
                    <a:pt x="73660" y="0"/>
                    <a:pt x="164592" y="0"/>
                  </a:cubicBezTo>
                  <a:lnTo>
                    <a:pt x="19495008" y="0"/>
                  </a:lnTo>
                  <a:cubicBezTo>
                    <a:pt x="19585939" y="0"/>
                    <a:pt x="19659600" y="73660"/>
                    <a:pt x="19659600" y="164592"/>
                  </a:cubicBezTo>
                  <a:lnTo>
                    <a:pt x="19659600" y="1883664"/>
                  </a:lnTo>
                  <a:cubicBezTo>
                    <a:pt x="19659600" y="1974596"/>
                    <a:pt x="19585939" y="2048256"/>
                    <a:pt x="19495008" y="2048256"/>
                  </a:cubicBezTo>
                  <a:lnTo>
                    <a:pt x="164592" y="2048256"/>
                  </a:lnTo>
                  <a:cubicBezTo>
                    <a:pt x="73660" y="2048256"/>
                    <a:pt x="0" y="1974596"/>
                    <a:pt x="0" y="1883664"/>
                  </a:cubicBezTo>
                  <a:close/>
                </a:path>
              </a:pathLst>
            </a:custGeom>
            <a:solidFill>
              <a:srgbClr val="FFFFFF"/>
            </a:solidFill>
          </p:spPr>
        </p:sp>
      </p:grpSp>
      <p:grpSp>
        <p:nvGrpSpPr>
          <p:cNvPr name="Group 13" id="13"/>
          <p:cNvGrpSpPr/>
          <p:nvPr/>
        </p:nvGrpSpPr>
        <p:grpSpPr>
          <a:xfrm rot="0">
            <a:off x="1440180" y="3117685"/>
            <a:ext cx="850392" cy="850392"/>
            <a:chOff x="0" y="0"/>
            <a:chExt cx="1133856" cy="1133856"/>
          </a:xfrm>
        </p:grpSpPr>
        <p:sp>
          <p:nvSpPr>
            <p:cNvPr name="Freeform 14" id="14"/>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387F7F"/>
            </a:solidFill>
          </p:spPr>
        </p:sp>
      </p:grpSp>
      <p:grpSp>
        <p:nvGrpSpPr>
          <p:cNvPr name="Group 15" id="15"/>
          <p:cNvGrpSpPr/>
          <p:nvPr/>
        </p:nvGrpSpPr>
        <p:grpSpPr>
          <a:xfrm rot="0">
            <a:off x="1440180" y="3117685"/>
            <a:ext cx="850392" cy="850392"/>
            <a:chOff x="0" y="0"/>
            <a:chExt cx="1133856" cy="1133856"/>
          </a:xfrm>
        </p:grpSpPr>
        <p:sp>
          <p:nvSpPr>
            <p:cNvPr name="Freeform 16" id="16"/>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9">
                <a:alphaModFix amt="0"/>
              </a:blip>
              <a:stretch>
                <a:fillRect l="-78303" t="0" r="-78303" b="0"/>
              </a:stretch>
            </a:blipFill>
          </p:spPr>
        </p:sp>
        <p:sp>
          <p:nvSpPr>
            <p:cNvPr name="TextBox 17" id="17"/>
            <p:cNvSpPr txBox="true"/>
            <p:nvPr/>
          </p:nvSpPr>
          <p:spPr>
            <a:xfrm>
              <a:off x="0" y="-19050"/>
              <a:ext cx="1133856" cy="1152906"/>
            </a:xfrm>
            <a:prstGeom prst="rect">
              <a:avLst/>
            </a:prstGeom>
          </p:spPr>
          <p:txBody>
            <a:bodyPr anchor="ctr" rtlCol="false" tIns="0" lIns="0" bIns="0" rIns="0"/>
            <a:lstStyle/>
            <a:p>
              <a:pPr algn="ctr">
                <a:lnSpc>
                  <a:spcPts val="3779"/>
                </a:lnSpc>
              </a:pPr>
              <a:r>
                <a:rPr lang="en-US" sz="3150" b="true">
                  <a:solidFill>
                    <a:srgbClr val="FFFFFF"/>
                  </a:solidFill>
                  <a:latin typeface="Poppins Bold"/>
                  <a:ea typeface="Poppins Bold"/>
                  <a:cs typeface="Poppins Bold"/>
                  <a:sym typeface="Poppins Bold"/>
                </a:rPr>
                <a:t>⇄</a:t>
              </a:r>
            </a:p>
          </p:txBody>
        </p:sp>
      </p:grpSp>
      <p:grpSp>
        <p:nvGrpSpPr>
          <p:cNvPr name="Group 18" id="18"/>
          <p:cNvGrpSpPr/>
          <p:nvPr/>
        </p:nvGrpSpPr>
        <p:grpSpPr>
          <a:xfrm rot="0">
            <a:off x="2606040" y="2939377"/>
            <a:ext cx="3977640" cy="617220"/>
            <a:chOff x="0" y="0"/>
            <a:chExt cx="5303520" cy="822960"/>
          </a:xfrm>
        </p:grpSpPr>
        <p:sp>
          <p:nvSpPr>
            <p:cNvPr name="Freeform 19" id="19"/>
            <p:cNvSpPr/>
            <p:nvPr/>
          </p:nvSpPr>
          <p:spPr>
            <a:xfrm flipH="false" flipV="false" rot="0">
              <a:off x="0" y="0"/>
              <a:ext cx="5303520" cy="822960"/>
            </a:xfrm>
            <a:custGeom>
              <a:avLst/>
              <a:gdLst/>
              <a:ahLst/>
              <a:cxnLst/>
              <a:rect r="r" b="b" t="t" l="l"/>
              <a:pathLst>
                <a:path h="822960" w="5303520">
                  <a:moveTo>
                    <a:pt x="0" y="0"/>
                  </a:moveTo>
                  <a:lnTo>
                    <a:pt x="5303520" y="0"/>
                  </a:lnTo>
                  <a:lnTo>
                    <a:pt x="5303520" y="822960"/>
                  </a:lnTo>
                  <a:lnTo>
                    <a:pt x="0" y="822960"/>
                  </a:lnTo>
                  <a:close/>
                </a:path>
              </a:pathLst>
            </a:custGeom>
            <a:blipFill>
              <a:blip r:embed="rId9">
                <a:alphaModFix amt="0"/>
              </a:blip>
              <a:stretch>
                <a:fillRect l="0" t="-75570" r="0" b="-75570"/>
              </a:stretch>
            </a:blipFill>
          </p:spPr>
        </p:sp>
        <p:sp>
          <p:nvSpPr>
            <p:cNvPr name="TextBox 20" id="20"/>
            <p:cNvSpPr txBox="true"/>
            <p:nvPr/>
          </p:nvSpPr>
          <p:spPr>
            <a:xfrm>
              <a:off x="0" y="-28575"/>
              <a:ext cx="5303520" cy="851535"/>
            </a:xfrm>
            <a:prstGeom prst="rect">
              <a:avLst/>
            </a:prstGeom>
          </p:spPr>
          <p:txBody>
            <a:bodyPr anchor="ctr" rtlCol="false" tIns="0" lIns="0" bIns="0" rIns="0"/>
            <a:lstStyle/>
            <a:p>
              <a:pPr algn="l">
                <a:lnSpc>
                  <a:spcPts val="2700"/>
                </a:lnSpc>
              </a:pPr>
              <a:r>
                <a:rPr lang="en-US" sz="2250" b="true">
                  <a:solidFill>
                    <a:srgbClr val="0A1A23"/>
                  </a:solidFill>
                  <a:latin typeface="Poppins Bold"/>
                  <a:ea typeface="Poppins Bold"/>
                  <a:cs typeface="Poppins Bold"/>
                  <a:sym typeface="Poppins Bold"/>
                </a:rPr>
                <a:t>Cardinality</a:t>
              </a:r>
            </a:p>
          </p:txBody>
        </p:sp>
      </p:grpSp>
      <p:sp>
        <p:nvSpPr>
          <p:cNvPr name="TextBox 21" id="21"/>
          <p:cNvSpPr txBox="true"/>
          <p:nvPr/>
        </p:nvSpPr>
        <p:spPr>
          <a:xfrm rot="0">
            <a:off x="2606040" y="3462490"/>
            <a:ext cx="12755880" cy="752475"/>
          </a:xfrm>
          <a:prstGeom prst="rect">
            <a:avLst/>
          </a:prstGeom>
        </p:spPr>
        <p:txBody>
          <a:bodyPr anchor="t" rtlCol="false" tIns="0" lIns="0" bIns="0" rIns="0">
            <a:spAutoFit/>
          </a:bodyPr>
          <a:lstStyle/>
          <a:p>
            <a:pPr algn="l">
              <a:lnSpc>
                <a:spcPts val="2700"/>
              </a:lnSpc>
            </a:pPr>
            <a:r>
              <a:rPr lang="en-US" sz="1875">
                <a:solidFill>
                  <a:srgbClr val="475569"/>
                </a:solidFill>
                <a:latin typeface="Poppins"/>
                <a:ea typeface="Poppins"/>
                <a:cs typeface="Poppins"/>
                <a:sym typeface="Poppins"/>
              </a:rPr>
              <a:t>Should be one to many, with the “one” on the dimension. Many-to-many means your dimension has duplicate keys.</a:t>
            </a:r>
          </a:p>
        </p:txBody>
      </p:sp>
      <p:grpSp>
        <p:nvGrpSpPr>
          <p:cNvPr name="Group 22" id="22"/>
          <p:cNvGrpSpPr/>
          <p:nvPr/>
        </p:nvGrpSpPr>
        <p:grpSpPr>
          <a:xfrm rot="0">
            <a:off x="1028700" y="4530433"/>
            <a:ext cx="14744700" cy="1536192"/>
            <a:chOff x="0" y="0"/>
            <a:chExt cx="19659600" cy="2048256"/>
          </a:xfrm>
        </p:grpSpPr>
        <p:sp>
          <p:nvSpPr>
            <p:cNvPr name="Freeform 23" id="23"/>
            <p:cNvSpPr/>
            <p:nvPr/>
          </p:nvSpPr>
          <p:spPr>
            <a:xfrm flipH="false" flipV="false" rot="0">
              <a:off x="0" y="0"/>
              <a:ext cx="19659600" cy="2048256"/>
            </a:xfrm>
            <a:custGeom>
              <a:avLst/>
              <a:gdLst/>
              <a:ahLst/>
              <a:cxnLst/>
              <a:rect r="r" b="b" t="t" l="l"/>
              <a:pathLst>
                <a:path h="2048256" w="19659600">
                  <a:moveTo>
                    <a:pt x="0" y="164592"/>
                  </a:moveTo>
                  <a:cubicBezTo>
                    <a:pt x="0" y="73660"/>
                    <a:pt x="73660" y="0"/>
                    <a:pt x="164592" y="0"/>
                  </a:cubicBezTo>
                  <a:lnTo>
                    <a:pt x="19495008" y="0"/>
                  </a:lnTo>
                  <a:cubicBezTo>
                    <a:pt x="19585939" y="0"/>
                    <a:pt x="19659600" y="73660"/>
                    <a:pt x="19659600" y="164592"/>
                  </a:cubicBezTo>
                  <a:lnTo>
                    <a:pt x="19659600" y="1883664"/>
                  </a:lnTo>
                  <a:cubicBezTo>
                    <a:pt x="19659600" y="1974596"/>
                    <a:pt x="19585939" y="2048256"/>
                    <a:pt x="19495008" y="2048256"/>
                  </a:cubicBezTo>
                  <a:lnTo>
                    <a:pt x="164592" y="2048256"/>
                  </a:lnTo>
                  <a:cubicBezTo>
                    <a:pt x="73660" y="2048256"/>
                    <a:pt x="0" y="1974596"/>
                    <a:pt x="0" y="1883664"/>
                  </a:cubicBezTo>
                  <a:close/>
                </a:path>
              </a:pathLst>
            </a:custGeom>
            <a:solidFill>
              <a:srgbClr val="FFFFFF"/>
            </a:solidFill>
          </p:spPr>
        </p:sp>
      </p:grpSp>
      <p:grpSp>
        <p:nvGrpSpPr>
          <p:cNvPr name="Group 24" id="24"/>
          <p:cNvGrpSpPr/>
          <p:nvPr/>
        </p:nvGrpSpPr>
        <p:grpSpPr>
          <a:xfrm rot="0">
            <a:off x="1440180" y="4873333"/>
            <a:ext cx="850392" cy="850392"/>
            <a:chOff x="0" y="0"/>
            <a:chExt cx="1133856" cy="1133856"/>
          </a:xfrm>
        </p:grpSpPr>
        <p:sp>
          <p:nvSpPr>
            <p:cNvPr name="Freeform 25" id="25"/>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387F7F"/>
            </a:solidFill>
          </p:spPr>
        </p:sp>
      </p:grpSp>
      <p:grpSp>
        <p:nvGrpSpPr>
          <p:cNvPr name="Group 26" id="26"/>
          <p:cNvGrpSpPr/>
          <p:nvPr/>
        </p:nvGrpSpPr>
        <p:grpSpPr>
          <a:xfrm rot="0">
            <a:off x="1440180" y="4873333"/>
            <a:ext cx="850392" cy="850392"/>
            <a:chOff x="0" y="0"/>
            <a:chExt cx="1133856" cy="1133856"/>
          </a:xfrm>
        </p:grpSpPr>
        <p:sp>
          <p:nvSpPr>
            <p:cNvPr name="Freeform 27" id="27"/>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9">
                <a:alphaModFix amt="0"/>
              </a:blip>
              <a:stretch>
                <a:fillRect l="-78303" t="0" r="-78303" b="0"/>
              </a:stretch>
            </a:blipFill>
          </p:spPr>
        </p:sp>
        <p:sp>
          <p:nvSpPr>
            <p:cNvPr name="TextBox 28" id="28"/>
            <p:cNvSpPr txBox="true"/>
            <p:nvPr/>
          </p:nvSpPr>
          <p:spPr>
            <a:xfrm>
              <a:off x="0" y="-19050"/>
              <a:ext cx="1133856" cy="1152906"/>
            </a:xfrm>
            <a:prstGeom prst="rect">
              <a:avLst/>
            </a:prstGeom>
          </p:spPr>
          <p:txBody>
            <a:bodyPr anchor="ctr" rtlCol="false" tIns="0" lIns="0" bIns="0" rIns="0"/>
            <a:lstStyle/>
            <a:p>
              <a:pPr algn="ctr">
                <a:lnSpc>
                  <a:spcPts val="3779"/>
                </a:lnSpc>
              </a:pPr>
              <a:r>
                <a:rPr lang="en-US" sz="3150" b="true">
                  <a:solidFill>
                    <a:srgbClr val="FFFFFF"/>
                  </a:solidFill>
                  <a:latin typeface="Poppins Bold"/>
                  <a:ea typeface="Poppins Bold"/>
                  <a:cs typeface="Poppins Bold"/>
                  <a:sym typeface="Poppins Bold"/>
                </a:rPr>
                <a:t>→</a:t>
              </a:r>
            </a:p>
          </p:txBody>
        </p:sp>
      </p:grpSp>
      <p:grpSp>
        <p:nvGrpSpPr>
          <p:cNvPr name="Group 29" id="29"/>
          <p:cNvGrpSpPr/>
          <p:nvPr/>
        </p:nvGrpSpPr>
        <p:grpSpPr>
          <a:xfrm rot="0">
            <a:off x="2606040" y="4695025"/>
            <a:ext cx="3977640" cy="617220"/>
            <a:chOff x="0" y="0"/>
            <a:chExt cx="5303520" cy="822960"/>
          </a:xfrm>
        </p:grpSpPr>
        <p:sp>
          <p:nvSpPr>
            <p:cNvPr name="Freeform 30" id="30"/>
            <p:cNvSpPr/>
            <p:nvPr/>
          </p:nvSpPr>
          <p:spPr>
            <a:xfrm flipH="false" flipV="false" rot="0">
              <a:off x="0" y="0"/>
              <a:ext cx="5303520" cy="822960"/>
            </a:xfrm>
            <a:custGeom>
              <a:avLst/>
              <a:gdLst/>
              <a:ahLst/>
              <a:cxnLst/>
              <a:rect r="r" b="b" t="t" l="l"/>
              <a:pathLst>
                <a:path h="822960" w="5303520">
                  <a:moveTo>
                    <a:pt x="0" y="0"/>
                  </a:moveTo>
                  <a:lnTo>
                    <a:pt x="5303520" y="0"/>
                  </a:lnTo>
                  <a:lnTo>
                    <a:pt x="5303520" y="822960"/>
                  </a:lnTo>
                  <a:lnTo>
                    <a:pt x="0" y="822960"/>
                  </a:lnTo>
                  <a:close/>
                </a:path>
              </a:pathLst>
            </a:custGeom>
            <a:blipFill>
              <a:blip r:embed="rId9">
                <a:alphaModFix amt="0"/>
              </a:blip>
              <a:stretch>
                <a:fillRect l="0" t="-75570" r="0" b="-75570"/>
              </a:stretch>
            </a:blipFill>
          </p:spPr>
        </p:sp>
        <p:sp>
          <p:nvSpPr>
            <p:cNvPr name="TextBox 31" id="31"/>
            <p:cNvSpPr txBox="true"/>
            <p:nvPr/>
          </p:nvSpPr>
          <p:spPr>
            <a:xfrm>
              <a:off x="0" y="-28575"/>
              <a:ext cx="5303520" cy="851535"/>
            </a:xfrm>
            <a:prstGeom prst="rect">
              <a:avLst/>
            </a:prstGeom>
          </p:spPr>
          <p:txBody>
            <a:bodyPr anchor="ctr" rtlCol="false" tIns="0" lIns="0" bIns="0" rIns="0"/>
            <a:lstStyle/>
            <a:p>
              <a:pPr algn="l">
                <a:lnSpc>
                  <a:spcPts val="2700"/>
                </a:lnSpc>
              </a:pPr>
              <a:r>
                <a:rPr lang="en-US" sz="2250" b="true">
                  <a:solidFill>
                    <a:srgbClr val="0A1A23"/>
                  </a:solidFill>
                  <a:latin typeface="Poppins Bold"/>
                  <a:ea typeface="Poppins Bold"/>
                  <a:cs typeface="Poppins Bold"/>
                  <a:sym typeface="Poppins Bold"/>
                </a:rPr>
                <a:t>Cross-filter direction</a:t>
              </a:r>
            </a:p>
          </p:txBody>
        </p:sp>
      </p:grpSp>
      <p:sp>
        <p:nvSpPr>
          <p:cNvPr name="TextBox 32" id="32"/>
          <p:cNvSpPr txBox="true"/>
          <p:nvPr/>
        </p:nvSpPr>
        <p:spPr>
          <a:xfrm rot="0">
            <a:off x="2606040" y="5218138"/>
            <a:ext cx="12755880" cy="752475"/>
          </a:xfrm>
          <a:prstGeom prst="rect">
            <a:avLst/>
          </a:prstGeom>
        </p:spPr>
        <p:txBody>
          <a:bodyPr anchor="t" rtlCol="false" tIns="0" lIns="0" bIns="0" rIns="0">
            <a:spAutoFit/>
          </a:bodyPr>
          <a:lstStyle/>
          <a:p>
            <a:pPr algn="l">
              <a:lnSpc>
                <a:spcPts val="2700"/>
              </a:lnSpc>
            </a:pPr>
            <a:r>
              <a:rPr lang="en-US" sz="1875">
                <a:solidFill>
                  <a:srgbClr val="475569"/>
                </a:solidFill>
                <a:latin typeface="Poppins"/>
                <a:ea typeface="Poppins"/>
                <a:cs typeface="Poppins"/>
                <a:sym typeface="Poppins"/>
              </a:rPr>
              <a:t>Should be Single, flowing from dimension to fact. “Both” is available and is almost always the wrong choice for a beginner.</a:t>
            </a:r>
          </a:p>
        </p:txBody>
      </p:sp>
      <p:grpSp>
        <p:nvGrpSpPr>
          <p:cNvPr name="Group 33" id="33"/>
          <p:cNvGrpSpPr/>
          <p:nvPr/>
        </p:nvGrpSpPr>
        <p:grpSpPr>
          <a:xfrm rot="0">
            <a:off x="1028700" y="6286081"/>
            <a:ext cx="14744700" cy="1536192"/>
            <a:chOff x="0" y="0"/>
            <a:chExt cx="19659600" cy="2048256"/>
          </a:xfrm>
        </p:grpSpPr>
        <p:sp>
          <p:nvSpPr>
            <p:cNvPr name="Freeform 34" id="34"/>
            <p:cNvSpPr/>
            <p:nvPr/>
          </p:nvSpPr>
          <p:spPr>
            <a:xfrm flipH="false" flipV="false" rot="0">
              <a:off x="0" y="0"/>
              <a:ext cx="19659600" cy="2048256"/>
            </a:xfrm>
            <a:custGeom>
              <a:avLst/>
              <a:gdLst/>
              <a:ahLst/>
              <a:cxnLst/>
              <a:rect r="r" b="b" t="t" l="l"/>
              <a:pathLst>
                <a:path h="2048256" w="19659600">
                  <a:moveTo>
                    <a:pt x="0" y="164592"/>
                  </a:moveTo>
                  <a:cubicBezTo>
                    <a:pt x="0" y="73660"/>
                    <a:pt x="73660" y="0"/>
                    <a:pt x="164592" y="0"/>
                  </a:cubicBezTo>
                  <a:lnTo>
                    <a:pt x="19495008" y="0"/>
                  </a:lnTo>
                  <a:cubicBezTo>
                    <a:pt x="19585939" y="0"/>
                    <a:pt x="19659600" y="73660"/>
                    <a:pt x="19659600" y="164592"/>
                  </a:cubicBezTo>
                  <a:lnTo>
                    <a:pt x="19659600" y="1883664"/>
                  </a:lnTo>
                  <a:cubicBezTo>
                    <a:pt x="19659600" y="1974596"/>
                    <a:pt x="19585939" y="2048256"/>
                    <a:pt x="19495008" y="2048256"/>
                  </a:cubicBezTo>
                  <a:lnTo>
                    <a:pt x="164592" y="2048256"/>
                  </a:lnTo>
                  <a:cubicBezTo>
                    <a:pt x="73660" y="2048256"/>
                    <a:pt x="0" y="1974596"/>
                    <a:pt x="0" y="1883664"/>
                  </a:cubicBezTo>
                  <a:close/>
                </a:path>
              </a:pathLst>
            </a:custGeom>
            <a:solidFill>
              <a:srgbClr val="FFFFFF"/>
            </a:solidFill>
          </p:spPr>
        </p:sp>
      </p:grpSp>
      <p:grpSp>
        <p:nvGrpSpPr>
          <p:cNvPr name="Group 35" id="35"/>
          <p:cNvGrpSpPr/>
          <p:nvPr/>
        </p:nvGrpSpPr>
        <p:grpSpPr>
          <a:xfrm rot="0">
            <a:off x="1440180" y="6628981"/>
            <a:ext cx="850392" cy="850392"/>
            <a:chOff x="0" y="0"/>
            <a:chExt cx="1133856" cy="1133856"/>
          </a:xfrm>
        </p:grpSpPr>
        <p:sp>
          <p:nvSpPr>
            <p:cNvPr name="Freeform 36" id="36"/>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387F7F"/>
            </a:solidFill>
          </p:spPr>
        </p:sp>
      </p:grpSp>
      <p:grpSp>
        <p:nvGrpSpPr>
          <p:cNvPr name="Group 37" id="37"/>
          <p:cNvGrpSpPr/>
          <p:nvPr/>
        </p:nvGrpSpPr>
        <p:grpSpPr>
          <a:xfrm rot="0">
            <a:off x="1440180" y="6628981"/>
            <a:ext cx="850392" cy="850392"/>
            <a:chOff x="0" y="0"/>
            <a:chExt cx="1133856" cy="1133856"/>
          </a:xfrm>
        </p:grpSpPr>
        <p:sp>
          <p:nvSpPr>
            <p:cNvPr name="Freeform 38" id="38"/>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9">
                <a:alphaModFix amt="0"/>
              </a:blip>
              <a:stretch>
                <a:fillRect l="-78303" t="0" r="-78303" b="0"/>
              </a:stretch>
            </a:blipFill>
          </p:spPr>
        </p:sp>
        <p:sp>
          <p:nvSpPr>
            <p:cNvPr name="TextBox 39" id="39"/>
            <p:cNvSpPr txBox="true"/>
            <p:nvPr/>
          </p:nvSpPr>
          <p:spPr>
            <a:xfrm>
              <a:off x="0" y="-19050"/>
              <a:ext cx="1133856" cy="1152906"/>
            </a:xfrm>
            <a:prstGeom prst="rect">
              <a:avLst/>
            </a:prstGeom>
          </p:spPr>
          <p:txBody>
            <a:bodyPr anchor="ctr" rtlCol="false" tIns="0" lIns="0" bIns="0" rIns="0"/>
            <a:lstStyle/>
            <a:p>
              <a:pPr algn="ctr">
                <a:lnSpc>
                  <a:spcPts val="3779"/>
                </a:lnSpc>
              </a:pPr>
              <a:r>
                <a:rPr lang="en-US" sz="3150" b="true">
                  <a:solidFill>
                    <a:srgbClr val="FFFFFF"/>
                  </a:solidFill>
                  <a:latin typeface="Poppins Bold"/>
                  <a:ea typeface="Poppins Bold"/>
                  <a:cs typeface="Poppins Bold"/>
                  <a:sym typeface="Poppins Bold"/>
                </a:rPr>
                <a:t>◌</a:t>
              </a:r>
            </a:p>
          </p:txBody>
        </p:sp>
      </p:grpSp>
      <p:grpSp>
        <p:nvGrpSpPr>
          <p:cNvPr name="Group 40" id="40"/>
          <p:cNvGrpSpPr/>
          <p:nvPr/>
        </p:nvGrpSpPr>
        <p:grpSpPr>
          <a:xfrm rot="0">
            <a:off x="2606040" y="6450673"/>
            <a:ext cx="3977640" cy="617220"/>
            <a:chOff x="0" y="0"/>
            <a:chExt cx="5303520" cy="822960"/>
          </a:xfrm>
        </p:grpSpPr>
        <p:sp>
          <p:nvSpPr>
            <p:cNvPr name="Freeform 41" id="41"/>
            <p:cNvSpPr/>
            <p:nvPr/>
          </p:nvSpPr>
          <p:spPr>
            <a:xfrm flipH="false" flipV="false" rot="0">
              <a:off x="0" y="0"/>
              <a:ext cx="5303520" cy="822960"/>
            </a:xfrm>
            <a:custGeom>
              <a:avLst/>
              <a:gdLst/>
              <a:ahLst/>
              <a:cxnLst/>
              <a:rect r="r" b="b" t="t" l="l"/>
              <a:pathLst>
                <a:path h="822960" w="5303520">
                  <a:moveTo>
                    <a:pt x="0" y="0"/>
                  </a:moveTo>
                  <a:lnTo>
                    <a:pt x="5303520" y="0"/>
                  </a:lnTo>
                  <a:lnTo>
                    <a:pt x="5303520" y="822960"/>
                  </a:lnTo>
                  <a:lnTo>
                    <a:pt x="0" y="822960"/>
                  </a:lnTo>
                  <a:close/>
                </a:path>
              </a:pathLst>
            </a:custGeom>
            <a:blipFill>
              <a:blip r:embed="rId9">
                <a:alphaModFix amt="0"/>
              </a:blip>
              <a:stretch>
                <a:fillRect l="0" t="-75570" r="0" b="-75570"/>
              </a:stretch>
            </a:blipFill>
          </p:spPr>
        </p:sp>
        <p:sp>
          <p:nvSpPr>
            <p:cNvPr name="TextBox 42" id="42"/>
            <p:cNvSpPr txBox="true"/>
            <p:nvPr/>
          </p:nvSpPr>
          <p:spPr>
            <a:xfrm>
              <a:off x="0" y="-28575"/>
              <a:ext cx="5303520" cy="851535"/>
            </a:xfrm>
            <a:prstGeom prst="rect">
              <a:avLst/>
            </a:prstGeom>
          </p:spPr>
          <p:txBody>
            <a:bodyPr anchor="ctr" rtlCol="false" tIns="0" lIns="0" bIns="0" rIns="0"/>
            <a:lstStyle/>
            <a:p>
              <a:pPr algn="l">
                <a:lnSpc>
                  <a:spcPts val="2700"/>
                </a:lnSpc>
              </a:pPr>
              <a:r>
                <a:rPr lang="en-US" sz="2250" b="true">
                  <a:solidFill>
                    <a:srgbClr val="0A1A23"/>
                  </a:solidFill>
                  <a:latin typeface="Poppins Bold"/>
                  <a:ea typeface="Poppins Bold"/>
                  <a:cs typeface="Poppins Bold"/>
                  <a:sym typeface="Poppins Bold"/>
                </a:rPr>
                <a:t>Active or inactive</a:t>
              </a:r>
            </a:p>
          </p:txBody>
        </p:sp>
      </p:grpSp>
      <p:sp>
        <p:nvSpPr>
          <p:cNvPr name="TextBox 43" id="43"/>
          <p:cNvSpPr txBox="true"/>
          <p:nvPr/>
        </p:nvSpPr>
        <p:spPr>
          <a:xfrm rot="0">
            <a:off x="2606040" y="6973786"/>
            <a:ext cx="12755880" cy="752475"/>
          </a:xfrm>
          <a:prstGeom prst="rect">
            <a:avLst/>
          </a:prstGeom>
        </p:spPr>
        <p:txBody>
          <a:bodyPr anchor="t" rtlCol="false" tIns="0" lIns="0" bIns="0" rIns="0">
            <a:spAutoFit/>
          </a:bodyPr>
          <a:lstStyle/>
          <a:p>
            <a:pPr algn="l">
              <a:lnSpc>
                <a:spcPts val="2700"/>
              </a:lnSpc>
            </a:pPr>
            <a:r>
              <a:rPr lang="en-US" sz="1875">
                <a:solidFill>
                  <a:srgbClr val="475569"/>
                </a:solidFill>
                <a:latin typeface="Poppins"/>
                <a:ea typeface="Poppins"/>
                <a:cs typeface="Poppins"/>
                <a:sym typeface="Poppins"/>
              </a:rPr>
              <a:t>A dotted line means the relationship exists but is not being used. Power BI allows only one active path between two tables.</a:t>
            </a:r>
          </a:p>
        </p:txBody>
      </p:sp>
      <p:grpSp>
        <p:nvGrpSpPr>
          <p:cNvPr name="Group 44" id="44"/>
          <p:cNvGrpSpPr/>
          <p:nvPr/>
        </p:nvGrpSpPr>
        <p:grpSpPr>
          <a:xfrm rot="0">
            <a:off x="1028700" y="8192605"/>
            <a:ext cx="14744700" cy="1303020"/>
            <a:chOff x="0" y="0"/>
            <a:chExt cx="19659600" cy="1737360"/>
          </a:xfrm>
        </p:grpSpPr>
        <p:sp>
          <p:nvSpPr>
            <p:cNvPr name="Freeform 45" id="45"/>
            <p:cNvSpPr/>
            <p:nvPr/>
          </p:nvSpPr>
          <p:spPr>
            <a:xfrm flipH="false" flipV="false" rot="0">
              <a:off x="0" y="0"/>
              <a:ext cx="19659600" cy="1737360"/>
            </a:xfrm>
            <a:custGeom>
              <a:avLst/>
              <a:gdLst/>
              <a:ahLst/>
              <a:cxnLst/>
              <a:rect r="r" b="b" t="t" l="l"/>
              <a:pathLst>
                <a:path h="1737360" w="19659600">
                  <a:moveTo>
                    <a:pt x="0" y="164592"/>
                  </a:moveTo>
                  <a:cubicBezTo>
                    <a:pt x="0" y="73660"/>
                    <a:pt x="73660" y="0"/>
                    <a:pt x="164592" y="0"/>
                  </a:cubicBezTo>
                  <a:lnTo>
                    <a:pt x="19495008" y="0"/>
                  </a:lnTo>
                  <a:cubicBezTo>
                    <a:pt x="19585939" y="0"/>
                    <a:pt x="19659600" y="73660"/>
                    <a:pt x="19659600" y="164592"/>
                  </a:cubicBezTo>
                  <a:lnTo>
                    <a:pt x="19659600" y="1572768"/>
                  </a:lnTo>
                  <a:cubicBezTo>
                    <a:pt x="19659600" y="1663700"/>
                    <a:pt x="19585939" y="1737360"/>
                    <a:pt x="19495008" y="1737360"/>
                  </a:cubicBezTo>
                  <a:lnTo>
                    <a:pt x="164592" y="1737360"/>
                  </a:lnTo>
                  <a:cubicBezTo>
                    <a:pt x="73660" y="1737360"/>
                    <a:pt x="0" y="1663700"/>
                    <a:pt x="0" y="1572768"/>
                  </a:cubicBezTo>
                  <a:close/>
                </a:path>
              </a:pathLst>
            </a:custGeom>
            <a:solidFill>
              <a:srgbClr val="FBF3E6"/>
            </a:solidFill>
          </p:spPr>
        </p:sp>
      </p:grpSp>
      <p:grpSp>
        <p:nvGrpSpPr>
          <p:cNvPr name="Group 46" id="46"/>
          <p:cNvGrpSpPr/>
          <p:nvPr/>
        </p:nvGrpSpPr>
        <p:grpSpPr>
          <a:xfrm rot="0">
            <a:off x="1028700" y="8192605"/>
            <a:ext cx="102870" cy="1303020"/>
            <a:chOff x="0" y="0"/>
            <a:chExt cx="137160" cy="1737360"/>
          </a:xfrm>
        </p:grpSpPr>
        <p:sp>
          <p:nvSpPr>
            <p:cNvPr name="Freeform 47" id="47"/>
            <p:cNvSpPr/>
            <p:nvPr/>
          </p:nvSpPr>
          <p:spPr>
            <a:xfrm flipH="false" flipV="false" rot="0">
              <a:off x="0" y="0"/>
              <a:ext cx="137160" cy="1737360"/>
            </a:xfrm>
            <a:custGeom>
              <a:avLst/>
              <a:gdLst/>
              <a:ahLst/>
              <a:cxnLst/>
              <a:rect r="r" b="b" t="t" l="l"/>
              <a:pathLst>
                <a:path h="1737360" w="137160">
                  <a:moveTo>
                    <a:pt x="0" y="0"/>
                  </a:moveTo>
                  <a:lnTo>
                    <a:pt x="137160" y="0"/>
                  </a:lnTo>
                  <a:lnTo>
                    <a:pt x="137160" y="1737360"/>
                  </a:lnTo>
                  <a:lnTo>
                    <a:pt x="0" y="1737360"/>
                  </a:lnTo>
                  <a:close/>
                </a:path>
              </a:pathLst>
            </a:custGeom>
            <a:solidFill>
              <a:srgbClr val="C9821F"/>
            </a:solidFill>
          </p:spPr>
        </p:sp>
      </p:grpSp>
      <p:grpSp>
        <p:nvGrpSpPr>
          <p:cNvPr name="Group 48" id="48"/>
          <p:cNvGrpSpPr/>
          <p:nvPr/>
        </p:nvGrpSpPr>
        <p:grpSpPr>
          <a:xfrm rot="0">
            <a:off x="1577340" y="8192605"/>
            <a:ext cx="13853160" cy="1303020"/>
            <a:chOff x="0" y="0"/>
            <a:chExt cx="18470880" cy="1737360"/>
          </a:xfrm>
        </p:grpSpPr>
        <p:sp>
          <p:nvSpPr>
            <p:cNvPr name="Freeform 49" id="49"/>
            <p:cNvSpPr/>
            <p:nvPr/>
          </p:nvSpPr>
          <p:spPr>
            <a:xfrm flipH="false" flipV="false" rot="0">
              <a:off x="0" y="0"/>
              <a:ext cx="18470880" cy="1737360"/>
            </a:xfrm>
            <a:custGeom>
              <a:avLst/>
              <a:gdLst/>
              <a:ahLst/>
              <a:cxnLst/>
              <a:rect r="r" b="b" t="t" l="l"/>
              <a:pathLst>
                <a:path h="1737360" w="18470880">
                  <a:moveTo>
                    <a:pt x="0" y="0"/>
                  </a:moveTo>
                  <a:lnTo>
                    <a:pt x="18470880" y="0"/>
                  </a:lnTo>
                  <a:lnTo>
                    <a:pt x="18470880" y="1737360"/>
                  </a:lnTo>
                  <a:lnTo>
                    <a:pt x="0" y="1737360"/>
                  </a:lnTo>
                  <a:close/>
                </a:path>
              </a:pathLst>
            </a:custGeom>
            <a:blipFill>
              <a:blip r:embed="rId9">
                <a:alphaModFix amt="0"/>
              </a:blip>
              <a:stretch>
                <a:fillRect l="0" t="-157156" r="0" b="-157156"/>
              </a:stretch>
            </a:blipFill>
          </p:spPr>
        </p:sp>
        <p:sp>
          <p:nvSpPr>
            <p:cNvPr name="TextBox 50" id="50"/>
            <p:cNvSpPr txBox="true"/>
            <p:nvPr/>
          </p:nvSpPr>
          <p:spPr>
            <a:xfrm>
              <a:off x="0" y="-114300"/>
              <a:ext cx="18470880" cy="1851660"/>
            </a:xfrm>
            <a:prstGeom prst="rect">
              <a:avLst/>
            </a:prstGeom>
          </p:spPr>
          <p:txBody>
            <a:bodyPr anchor="ctr" rtlCol="false" tIns="0" lIns="0" bIns="0" rIns="0"/>
            <a:lstStyle/>
            <a:p>
              <a:pPr algn="l">
                <a:lnSpc>
                  <a:spcPts val="3523"/>
                </a:lnSpc>
              </a:pPr>
              <a:r>
                <a:rPr lang="en-US" sz="2175" b="true">
                  <a:solidFill>
                    <a:srgbClr val="8A5A12"/>
                  </a:solidFill>
                  <a:latin typeface="Poppins Bold"/>
                  <a:ea typeface="Poppins Bold"/>
                  <a:cs typeface="Poppins Bold"/>
                  <a:sym typeface="Poppins Bold"/>
                </a:rPr>
                <a:t>Ninety percent of “my numbers are wrong” problems in Power BI are one of these three. Photograph this slide.</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1410355"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Both</a:t>
            </a:r>
            <a:r>
              <a:rPr lang="en-US" sz="5000">
                <a:solidFill>
                  <a:srgbClr val="388080"/>
                </a:solidFill>
                <a:latin typeface="Poppins"/>
                <a:ea typeface="Poppins"/>
                <a:cs typeface="Poppins"/>
                <a:sym typeface="Poppins"/>
              </a:rPr>
              <a:t> directions feels helpful. It is not.</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885825" y="2644135"/>
            <a:ext cx="7063740" cy="3771900"/>
            <a:chOff x="0" y="0"/>
            <a:chExt cx="9418320" cy="5029200"/>
          </a:xfrm>
        </p:grpSpPr>
        <p:sp>
          <p:nvSpPr>
            <p:cNvPr name="Freeform 12" id="12"/>
            <p:cNvSpPr/>
            <p:nvPr/>
          </p:nvSpPr>
          <p:spPr>
            <a:xfrm flipH="false" flipV="false" rot="0">
              <a:off x="0" y="0"/>
              <a:ext cx="9418320" cy="5029200"/>
            </a:xfrm>
            <a:custGeom>
              <a:avLst/>
              <a:gdLst/>
              <a:ahLst/>
              <a:cxnLst/>
              <a:rect r="r" b="b" t="t" l="l"/>
              <a:pathLst>
                <a:path h="5029200" w="9418320">
                  <a:moveTo>
                    <a:pt x="0" y="182880"/>
                  </a:moveTo>
                  <a:cubicBezTo>
                    <a:pt x="0" y="81915"/>
                    <a:pt x="81915" y="0"/>
                    <a:pt x="182880" y="0"/>
                  </a:cubicBezTo>
                  <a:lnTo>
                    <a:pt x="9235440" y="0"/>
                  </a:lnTo>
                  <a:cubicBezTo>
                    <a:pt x="9336405" y="0"/>
                    <a:pt x="9418320" y="81915"/>
                    <a:pt x="9418320" y="182880"/>
                  </a:cubicBezTo>
                  <a:lnTo>
                    <a:pt x="9418320" y="4846320"/>
                  </a:lnTo>
                  <a:cubicBezTo>
                    <a:pt x="9418320" y="4947285"/>
                    <a:pt x="9336405" y="5029200"/>
                    <a:pt x="9235440" y="5029200"/>
                  </a:cubicBezTo>
                  <a:lnTo>
                    <a:pt x="182880" y="5029200"/>
                  </a:lnTo>
                  <a:cubicBezTo>
                    <a:pt x="81915" y="5029200"/>
                    <a:pt x="0" y="4947285"/>
                    <a:pt x="0" y="4846320"/>
                  </a:cubicBezTo>
                  <a:close/>
                </a:path>
              </a:pathLst>
            </a:custGeom>
            <a:solidFill>
              <a:srgbClr val="FFFFFF"/>
            </a:solidFill>
          </p:spPr>
        </p:sp>
      </p:grpSp>
      <p:grpSp>
        <p:nvGrpSpPr>
          <p:cNvPr name="Group 13" id="13"/>
          <p:cNvGrpSpPr/>
          <p:nvPr/>
        </p:nvGrpSpPr>
        <p:grpSpPr>
          <a:xfrm rot="0">
            <a:off x="885825" y="2644135"/>
            <a:ext cx="7063740" cy="658368"/>
            <a:chOff x="0" y="0"/>
            <a:chExt cx="9418320" cy="877824"/>
          </a:xfrm>
        </p:grpSpPr>
        <p:sp>
          <p:nvSpPr>
            <p:cNvPr name="Freeform 14" id="14"/>
            <p:cNvSpPr/>
            <p:nvPr/>
          </p:nvSpPr>
          <p:spPr>
            <a:xfrm flipH="false" flipV="false" rot="0">
              <a:off x="0" y="0"/>
              <a:ext cx="9418320" cy="877824"/>
            </a:xfrm>
            <a:custGeom>
              <a:avLst/>
              <a:gdLst/>
              <a:ahLst/>
              <a:cxnLst/>
              <a:rect r="r" b="b" t="t" l="l"/>
              <a:pathLst>
                <a:path h="877824" w="9418320">
                  <a:moveTo>
                    <a:pt x="0" y="0"/>
                  </a:moveTo>
                  <a:lnTo>
                    <a:pt x="9418320" y="0"/>
                  </a:lnTo>
                  <a:lnTo>
                    <a:pt x="9418320" y="877824"/>
                  </a:lnTo>
                  <a:lnTo>
                    <a:pt x="0" y="877824"/>
                  </a:lnTo>
                  <a:close/>
                </a:path>
              </a:pathLst>
            </a:custGeom>
            <a:solidFill>
              <a:srgbClr val="387F7F"/>
            </a:solidFill>
          </p:spPr>
        </p:sp>
      </p:grpSp>
      <p:grpSp>
        <p:nvGrpSpPr>
          <p:cNvPr name="Group 15" id="15"/>
          <p:cNvGrpSpPr/>
          <p:nvPr/>
        </p:nvGrpSpPr>
        <p:grpSpPr>
          <a:xfrm rot="0">
            <a:off x="885825" y="2644135"/>
            <a:ext cx="7063740" cy="658368"/>
            <a:chOff x="0" y="0"/>
            <a:chExt cx="9418320" cy="877824"/>
          </a:xfrm>
        </p:grpSpPr>
        <p:sp>
          <p:nvSpPr>
            <p:cNvPr name="Freeform 16" id="16"/>
            <p:cNvSpPr/>
            <p:nvPr/>
          </p:nvSpPr>
          <p:spPr>
            <a:xfrm flipH="false" flipV="false" rot="0">
              <a:off x="0" y="0"/>
              <a:ext cx="9418320" cy="877824"/>
            </a:xfrm>
            <a:custGeom>
              <a:avLst/>
              <a:gdLst/>
              <a:ahLst/>
              <a:cxnLst/>
              <a:rect r="r" b="b" t="t" l="l"/>
              <a:pathLst>
                <a:path h="877824" w="9418320">
                  <a:moveTo>
                    <a:pt x="0" y="0"/>
                  </a:moveTo>
                  <a:lnTo>
                    <a:pt x="9418320" y="0"/>
                  </a:lnTo>
                  <a:lnTo>
                    <a:pt x="9418320" y="877824"/>
                  </a:lnTo>
                  <a:lnTo>
                    <a:pt x="0" y="877824"/>
                  </a:lnTo>
                  <a:close/>
                </a:path>
              </a:pathLst>
            </a:custGeom>
            <a:blipFill>
              <a:blip r:embed="rId9">
                <a:alphaModFix amt="0"/>
              </a:blip>
              <a:stretch>
                <a:fillRect l="0" t="-159058" r="0" b="-159058"/>
              </a:stretch>
            </a:blipFill>
          </p:spPr>
        </p:sp>
        <p:sp>
          <p:nvSpPr>
            <p:cNvPr name="TextBox 17" id="17"/>
            <p:cNvSpPr txBox="true"/>
            <p:nvPr/>
          </p:nvSpPr>
          <p:spPr>
            <a:xfrm>
              <a:off x="0" y="-19050"/>
              <a:ext cx="9418320" cy="896874"/>
            </a:xfrm>
            <a:prstGeom prst="rect">
              <a:avLst/>
            </a:prstGeom>
          </p:spPr>
          <p:txBody>
            <a:bodyPr anchor="ctr" rtlCol="false" tIns="0" lIns="0" bIns="0" rIns="0"/>
            <a:lstStyle/>
            <a:p>
              <a:pPr algn="ctr">
                <a:lnSpc>
                  <a:spcPts val="2340"/>
                </a:lnSpc>
              </a:pPr>
              <a:r>
                <a:rPr lang="en-US" sz="1950" b="true">
                  <a:solidFill>
                    <a:srgbClr val="FFFFFF"/>
                  </a:solidFill>
                  <a:latin typeface="Poppins Bold"/>
                  <a:ea typeface="Poppins Bold"/>
                  <a:cs typeface="Poppins Bold"/>
                  <a:sym typeface="Poppins Bold"/>
                </a:rPr>
                <a:t>SINGLE  ·  filters flow one way</a:t>
              </a:r>
            </a:p>
          </p:txBody>
        </p:sp>
      </p:grpSp>
      <p:grpSp>
        <p:nvGrpSpPr>
          <p:cNvPr name="Group 18" id="18"/>
          <p:cNvGrpSpPr/>
          <p:nvPr/>
        </p:nvGrpSpPr>
        <p:grpSpPr>
          <a:xfrm rot="0">
            <a:off x="1491139" y="3798089"/>
            <a:ext cx="1532573" cy="709612"/>
            <a:chOff x="0" y="0"/>
            <a:chExt cx="2043430" cy="946150"/>
          </a:xfrm>
        </p:grpSpPr>
        <p:sp>
          <p:nvSpPr>
            <p:cNvPr name="Freeform 19" id="19"/>
            <p:cNvSpPr/>
            <p:nvPr/>
          </p:nvSpPr>
          <p:spPr>
            <a:xfrm flipH="false" flipV="false" rot="0">
              <a:off x="0" y="0"/>
              <a:ext cx="2043430" cy="946150"/>
            </a:xfrm>
            <a:custGeom>
              <a:avLst/>
              <a:gdLst/>
              <a:ahLst/>
              <a:cxnLst/>
              <a:rect r="r" b="b" t="t" l="l"/>
              <a:pathLst>
                <a:path h="946150" w="2043430">
                  <a:moveTo>
                    <a:pt x="0" y="113538"/>
                  </a:moveTo>
                  <a:cubicBezTo>
                    <a:pt x="0" y="50800"/>
                    <a:pt x="50800" y="0"/>
                    <a:pt x="113538" y="0"/>
                  </a:cubicBezTo>
                  <a:lnTo>
                    <a:pt x="1929892" y="0"/>
                  </a:lnTo>
                  <a:cubicBezTo>
                    <a:pt x="1992630" y="0"/>
                    <a:pt x="2043430" y="50800"/>
                    <a:pt x="2043430" y="113538"/>
                  </a:cubicBezTo>
                  <a:lnTo>
                    <a:pt x="2043430" y="832612"/>
                  </a:lnTo>
                  <a:cubicBezTo>
                    <a:pt x="2043430" y="895350"/>
                    <a:pt x="1992630" y="946150"/>
                    <a:pt x="1929892" y="946150"/>
                  </a:cubicBezTo>
                  <a:lnTo>
                    <a:pt x="113538" y="946150"/>
                  </a:lnTo>
                  <a:cubicBezTo>
                    <a:pt x="50800" y="946150"/>
                    <a:pt x="0" y="895350"/>
                    <a:pt x="0" y="832612"/>
                  </a:cubicBezTo>
                  <a:close/>
                </a:path>
              </a:pathLst>
            </a:custGeom>
            <a:solidFill>
              <a:srgbClr val="EEF4F4"/>
            </a:solidFill>
            <a:ln w="23812" cap="sq">
              <a:solidFill>
                <a:srgbClr val="387F7F"/>
              </a:solidFill>
              <a:prstDash val="solid"/>
              <a:miter/>
            </a:ln>
          </p:spPr>
        </p:sp>
      </p:grpSp>
      <p:grpSp>
        <p:nvGrpSpPr>
          <p:cNvPr name="Group 20" id="20"/>
          <p:cNvGrpSpPr/>
          <p:nvPr/>
        </p:nvGrpSpPr>
        <p:grpSpPr>
          <a:xfrm rot="0">
            <a:off x="1503045" y="3809995"/>
            <a:ext cx="1508760" cy="685800"/>
            <a:chOff x="0" y="0"/>
            <a:chExt cx="2011680" cy="914400"/>
          </a:xfrm>
        </p:grpSpPr>
        <p:sp>
          <p:nvSpPr>
            <p:cNvPr name="Freeform 21" id="21"/>
            <p:cNvSpPr/>
            <p:nvPr/>
          </p:nvSpPr>
          <p:spPr>
            <a:xfrm flipH="false" flipV="false" rot="0">
              <a:off x="0" y="0"/>
              <a:ext cx="2011680" cy="914400"/>
            </a:xfrm>
            <a:custGeom>
              <a:avLst/>
              <a:gdLst/>
              <a:ahLst/>
              <a:cxnLst/>
              <a:rect r="r" b="b" t="t" l="l"/>
              <a:pathLst>
                <a:path h="914400" w="2011680">
                  <a:moveTo>
                    <a:pt x="0" y="0"/>
                  </a:moveTo>
                  <a:lnTo>
                    <a:pt x="2011680" y="0"/>
                  </a:lnTo>
                  <a:lnTo>
                    <a:pt x="2011680" y="914400"/>
                  </a:lnTo>
                  <a:lnTo>
                    <a:pt x="0" y="914400"/>
                  </a:lnTo>
                  <a:close/>
                </a:path>
              </a:pathLst>
            </a:custGeom>
            <a:blipFill>
              <a:blip r:embed="rId9">
                <a:alphaModFix amt="0"/>
              </a:blip>
              <a:stretch>
                <a:fillRect l="-8319" t="0" r="-8319" b="0"/>
              </a:stretch>
            </a:blipFill>
          </p:spPr>
        </p:sp>
        <p:sp>
          <p:nvSpPr>
            <p:cNvPr name="TextBox 22" id="22"/>
            <p:cNvSpPr txBox="true"/>
            <p:nvPr/>
          </p:nvSpPr>
          <p:spPr>
            <a:xfrm>
              <a:off x="0" y="-19050"/>
              <a:ext cx="2011680" cy="933450"/>
            </a:xfrm>
            <a:prstGeom prst="rect">
              <a:avLst/>
            </a:prstGeom>
          </p:spPr>
          <p:txBody>
            <a:bodyPr anchor="ctr" rtlCol="false" tIns="0" lIns="0" bIns="0" rIns="0"/>
            <a:lstStyle/>
            <a:p>
              <a:pPr algn="ctr">
                <a:lnSpc>
                  <a:spcPts val="1800"/>
                </a:lnSpc>
              </a:pPr>
              <a:r>
                <a:rPr lang="en-US" sz="1500" b="true">
                  <a:solidFill>
                    <a:srgbClr val="387F7F"/>
                  </a:solidFill>
                  <a:latin typeface="Poppins Bold"/>
                  <a:ea typeface="Poppins Bold"/>
                  <a:cs typeface="Poppins Bold"/>
                  <a:sym typeface="Poppins Bold"/>
                </a:rPr>
                <a:t>riders</a:t>
              </a:r>
            </a:p>
          </p:txBody>
        </p:sp>
      </p:grpSp>
      <p:grpSp>
        <p:nvGrpSpPr>
          <p:cNvPr name="Group 23" id="23"/>
          <p:cNvGrpSpPr/>
          <p:nvPr/>
        </p:nvGrpSpPr>
        <p:grpSpPr>
          <a:xfrm rot="0">
            <a:off x="3685699" y="4963949"/>
            <a:ext cx="1532573" cy="709612"/>
            <a:chOff x="0" y="0"/>
            <a:chExt cx="2043430" cy="946150"/>
          </a:xfrm>
        </p:grpSpPr>
        <p:sp>
          <p:nvSpPr>
            <p:cNvPr name="Freeform 24" id="24"/>
            <p:cNvSpPr/>
            <p:nvPr/>
          </p:nvSpPr>
          <p:spPr>
            <a:xfrm flipH="false" flipV="false" rot="0">
              <a:off x="0" y="0"/>
              <a:ext cx="2043430" cy="946150"/>
            </a:xfrm>
            <a:custGeom>
              <a:avLst/>
              <a:gdLst/>
              <a:ahLst/>
              <a:cxnLst/>
              <a:rect r="r" b="b" t="t" l="l"/>
              <a:pathLst>
                <a:path h="946150" w="2043430">
                  <a:moveTo>
                    <a:pt x="0" y="113538"/>
                  </a:moveTo>
                  <a:cubicBezTo>
                    <a:pt x="0" y="50800"/>
                    <a:pt x="50800" y="0"/>
                    <a:pt x="113538" y="0"/>
                  </a:cubicBezTo>
                  <a:lnTo>
                    <a:pt x="1929892" y="0"/>
                  </a:lnTo>
                  <a:cubicBezTo>
                    <a:pt x="1992630" y="0"/>
                    <a:pt x="2043430" y="50800"/>
                    <a:pt x="2043430" y="113538"/>
                  </a:cubicBezTo>
                  <a:lnTo>
                    <a:pt x="2043430" y="832612"/>
                  </a:lnTo>
                  <a:cubicBezTo>
                    <a:pt x="2043430" y="895350"/>
                    <a:pt x="1992630" y="946150"/>
                    <a:pt x="1929892" y="946150"/>
                  </a:cubicBezTo>
                  <a:lnTo>
                    <a:pt x="113538" y="946150"/>
                  </a:lnTo>
                  <a:cubicBezTo>
                    <a:pt x="50800" y="946150"/>
                    <a:pt x="0" y="895350"/>
                    <a:pt x="0" y="832612"/>
                  </a:cubicBezTo>
                  <a:close/>
                </a:path>
              </a:pathLst>
            </a:custGeom>
            <a:solidFill>
              <a:srgbClr val="EEF4F4"/>
            </a:solidFill>
            <a:ln w="23812" cap="sq">
              <a:solidFill>
                <a:srgbClr val="387F7F"/>
              </a:solidFill>
              <a:prstDash val="solid"/>
              <a:miter/>
            </a:ln>
          </p:spPr>
        </p:sp>
      </p:grpSp>
      <p:grpSp>
        <p:nvGrpSpPr>
          <p:cNvPr name="Group 25" id="25"/>
          <p:cNvGrpSpPr/>
          <p:nvPr/>
        </p:nvGrpSpPr>
        <p:grpSpPr>
          <a:xfrm rot="0">
            <a:off x="3697605" y="4975855"/>
            <a:ext cx="1508760" cy="685800"/>
            <a:chOff x="0" y="0"/>
            <a:chExt cx="2011680" cy="914400"/>
          </a:xfrm>
        </p:grpSpPr>
        <p:sp>
          <p:nvSpPr>
            <p:cNvPr name="Freeform 26" id="26"/>
            <p:cNvSpPr/>
            <p:nvPr/>
          </p:nvSpPr>
          <p:spPr>
            <a:xfrm flipH="false" flipV="false" rot="0">
              <a:off x="0" y="0"/>
              <a:ext cx="2011680" cy="914400"/>
            </a:xfrm>
            <a:custGeom>
              <a:avLst/>
              <a:gdLst/>
              <a:ahLst/>
              <a:cxnLst/>
              <a:rect r="r" b="b" t="t" l="l"/>
              <a:pathLst>
                <a:path h="914400" w="2011680">
                  <a:moveTo>
                    <a:pt x="0" y="0"/>
                  </a:moveTo>
                  <a:lnTo>
                    <a:pt x="2011680" y="0"/>
                  </a:lnTo>
                  <a:lnTo>
                    <a:pt x="2011680" y="914400"/>
                  </a:lnTo>
                  <a:lnTo>
                    <a:pt x="0" y="914400"/>
                  </a:lnTo>
                  <a:close/>
                </a:path>
              </a:pathLst>
            </a:custGeom>
            <a:blipFill>
              <a:blip r:embed="rId9">
                <a:alphaModFix amt="0"/>
              </a:blip>
              <a:stretch>
                <a:fillRect l="-8319" t="0" r="-8319" b="0"/>
              </a:stretch>
            </a:blipFill>
          </p:spPr>
        </p:sp>
        <p:sp>
          <p:nvSpPr>
            <p:cNvPr name="TextBox 27" id="27"/>
            <p:cNvSpPr txBox="true"/>
            <p:nvPr/>
          </p:nvSpPr>
          <p:spPr>
            <a:xfrm>
              <a:off x="0" y="-19050"/>
              <a:ext cx="2011680" cy="933450"/>
            </a:xfrm>
            <a:prstGeom prst="rect">
              <a:avLst/>
            </a:prstGeom>
          </p:spPr>
          <p:txBody>
            <a:bodyPr anchor="ctr" rtlCol="false" tIns="0" lIns="0" bIns="0" rIns="0"/>
            <a:lstStyle/>
            <a:p>
              <a:pPr algn="ctr">
                <a:lnSpc>
                  <a:spcPts val="1800"/>
                </a:lnSpc>
              </a:pPr>
              <a:r>
                <a:rPr lang="en-US" sz="1500" b="true">
                  <a:solidFill>
                    <a:srgbClr val="387F7F"/>
                  </a:solidFill>
                  <a:latin typeface="Poppins Bold"/>
                  <a:ea typeface="Poppins Bold"/>
                  <a:cs typeface="Poppins Bold"/>
                  <a:sym typeface="Poppins Bold"/>
                </a:rPr>
                <a:t>deliveries</a:t>
              </a:r>
            </a:p>
          </p:txBody>
        </p:sp>
      </p:grpSp>
      <p:grpSp>
        <p:nvGrpSpPr>
          <p:cNvPr name="Group 28" id="28"/>
          <p:cNvGrpSpPr/>
          <p:nvPr/>
        </p:nvGrpSpPr>
        <p:grpSpPr>
          <a:xfrm rot="0">
            <a:off x="5880259" y="3798089"/>
            <a:ext cx="1532573" cy="709612"/>
            <a:chOff x="0" y="0"/>
            <a:chExt cx="2043430" cy="946150"/>
          </a:xfrm>
        </p:grpSpPr>
        <p:sp>
          <p:nvSpPr>
            <p:cNvPr name="Freeform 29" id="29"/>
            <p:cNvSpPr/>
            <p:nvPr/>
          </p:nvSpPr>
          <p:spPr>
            <a:xfrm flipH="false" flipV="false" rot="0">
              <a:off x="0" y="0"/>
              <a:ext cx="2043430" cy="946150"/>
            </a:xfrm>
            <a:custGeom>
              <a:avLst/>
              <a:gdLst/>
              <a:ahLst/>
              <a:cxnLst/>
              <a:rect r="r" b="b" t="t" l="l"/>
              <a:pathLst>
                <a:path h="946150" w="2043430">
                  <a:moveTo>
                    <a:pt x="0" y="113538"/>
                  </a:moveTo>
                  <a:cubicBezTo>
                    <a:pt x="0" y="50800"/>
                    <a:pt x="50800" y="0"/>
                    <a:pt x="113538" y="0"/>
                  </a:cubicBezTo>
                  <a:lnTo>
                    <a:pt x="1929892" y="0"/>
                  </a:lnTo>
                  <a:cubicBezTo>
                    <a:pt x="1992630" y="0"/>
                    <a:pt x="2043430" y="50800"/>
                    <a:pt x="2043430" y="113538"/>
                  </a:cubicBezTo>
                  <a:lnTo>
                    <a:pt x="2043430" y="832612"/>
                  </a:lnTo>
                  <a:cubicBezTo>
                    <a:pt x="2043430" y="895350"/>
                    <a:pt x="1992630" y="946150"/>
                    <a:pt x="1929892" y="946150"/>
                  </a:cubicBezTo>
                  <a:lnTo>
                    <a:pt x="113538" y="946150"/>
                  </a:lnTo>
                  <a:cubicBezTo>
                    <a:pt x="50800" y="946150"/>
                    <a:pt x="0" y="895350"/>
                    <a:pt x="0" y="832612"/>
                  </a:cubicBezTo>
                  <a:close/>
                </a:path>
              </a:pathLst>
            </a:custGeom>
            <a:solidFill>
              <a:srgbClr val="EEF4F4"/>
            </a:solidFill>
            <a:ln w="23812" cap="sq">
              <a:solidFill>
                <a:srgbClr val="387F7F"/>
              </a:solidFill>
              <a:prstDash val="solid"/>
              <a:miter/>
            </a:ln>
          </p:spPr>
        </p:sp>
      </p:grpSp>
      <p:grpSp>
        <p:nvGrpSpPr>
          <p:cNvPr name="Group 30" id="30"/>
          <p:cNvGrpSpPr/>
          <p:nvPr/>
        </p:nvGrpSpPr>
        <p:grpSpPr>
          <a:xfrm rot="0">
            <a:off x="5892165" y="3809995"/>
            <a:ext cx="1508760" cy="685800"/>
            <a:chOff x="0" y="0"/>
            <a:chExt cx="2011680" cy="914400"/>
          </a:xfrm>
        </p:grpSpPr>
        <p:sp>
          <p:nvSpPr>
            <p:cNvPr name="Freeform 31" id="31"/>
            <p:cNvSpPr/>
            <p:nvPr/>
          </p:nvSpPr>
          <p:spPr>
            <a:xfrm flipH="false" flipV="false" rot="0">
              <a:off x="0" y="0"/>
              <a:ext cx="2011680" cy="914400"/>
            </a:xfrm>
            <a:custGeom>
              <a:avLst/>
              <a:gdLst/>
              <a:ahLst/>
              <a:cxnLst/>
              <a:rect r="r" b="b" t="t" l="l"/>
              <a:pathLst>
                <a:path h="914400" w="2011680">
                  <a:moveTo>
                    <a:pt x="0" y="0"/>
                  </a:moveTo>
                  <a:lnTo>
                    <a:pt x="2011680" y="0"/>
                  </a:lnTo>
                  <a:lnTo>
                    <a:pt x="2011680" y="914400"/>
                  </a:lnTo>
                  <a:lnTo>
                    <a:pt x="0" y="914400"/>
                  </a:lnTo>
                  <a:close/>
                </a:path>
              </a:pathLst>
            </a:custGeom>
            <a:blipFill>
              <a:blip r:embed="rId9">
                <a:alphaModFix amt="0"/>
              </a:blip>
              <a:stretch>
                <a:fillRect l="-8319" t="0" r="-8319" b="0"/>
              </a:stretch>
            </a:blipFill>
          </p:spPr>
        </p:sp>
        <p:sp>
          <p:nvSpPr>
            <p:cNvPr name="TextBox 32" id="32"/>
            <p:cNvSpPr txBox="true"/>
            <p:nvPr/>
          </p:nvSpPr>
          <p:spPr>
            <a:xfrm>
              <a:off x="0" y="-19050"/>
              <a:ext cx="2011680" cy="933450"/>
            </a:xfrm>
            <a:prstGeom prst="rect">
              <a:avLst/>
            </a:prstGeom>
          </p:spPr>
          <p:txBody>
            <a:bodyPr anchor="ctr" rtlCol="false" tIns="0" lIns="0" bIns="0" rIns="0"/>
            <a:lstStyle/>
            <a:p>
              <a:pPr algn="ctr">
                <a:lnSpc>
                  <a:spcPts val="1800"/>
                </a:lnSpc>
              </a:pPr>
              <a:r>
                <a:rPr lang="en-US" sz="1500" b="true">
                  <a:solidFill>
                    <a:srgbClr val="387F7F"/>
                  </a:solidFill>
                  <a:latin typeface="Poppins Bold"/>
                  <a:ea typeface="Poppins Bold"/>
                  <a:cs typeface="Poppins Bold"/>
                  <a:sym typeface="Poppins Bold"/>
                </a:rPr>
                <a:t>routes</a:t>
              </a:r>
            </a:p>
          </p:txBody>
        </p:sp>
      </p:grpSp>
      <p:sp>
        <p:nvSpPr>
          <p:cNvPr name="AutoShape 33" id="33"/>
          <p:cNvSpPr/>
          <p:nvPr/>
        </p:nvSpPr>
        <p:spPr>
          <a:xfrm>
            <a:off x="2238375" y="4476751"/>
            <a:ext cx="1615441" cy="586727"/>
          </a:xfrm>
          <a:prstGeom prst="line">
            <a:avLst/>
          </a:prstGeom>
          <a:ln cap="rnd" w="19050">
            <a:solidFill>
              <a:srgbClr val="387F7F"/>
            </a:solidFill>
            <a:prstDash val="solid"/>
            <a:headEnd type="none" len="sm" w="sm"/>
            <a:tailEnd type="triangle" len="med" w="lg"/>
          </a:ln>
        </p:spPr>
      </p:sp>
      <p:sp>
        <p:nvSpPr>
          <p:cNvPr name="AutoShape 34" id="34"/>
          <p:cNvSpPr/>
          <p:nvPr/>
        </p:nvSpPr>
        <p:spPr>
          <a:xfrm>
            <a:off x="5187312" y="4476751"/>
            <a:ext cx="1478286" cy="586728"/>
          </a:xfrm>
          <a:prstGeom prst="line">
            <a:avLst/>
          </a:prstGeom>
          <a:ln cap="rnd" w="19050">
            <a:solidFill>
              <a:srgbClr val="387F7F"/>
            </a:solidFill>
            <a:prstDash val="solid"/>
            <a:headEnd type="triangle" len="med" w="lg"/>
            <a:tailEnd type="none" len="sm" w="sm"/>
          </a:ln>
        </p:spPr>
      </p:sp>
      <p:grpSp>
        <p:nvGrpSpPr>
          <p:cNvPr name="Group 35" id="35"/>
          <p:cNvGrpSpPr/>
          <p:nvPr/>
        </p:nvGrpSpPr>
        <p:grpSpPr>
          <a:xfrm rot="0">
            <a:off x="8566785" y="2644135"/>
            <a:ext cx="7063740" cy="3771900"/>
            <a:chOff x="0" y="0"/>
            <a:chExt cx="9418320" cy="5029200"/>
          </a:xfrm>
        </p:grpSpPr>
        <p:sp>
          <p:nvSpPr>
            <p:cNvPr name="Freeform 36" id="36"/>
            <p:cNvSpPr/>
            <p:nvPr/>
          </p:nvSpPr>
          <p:spPr>
            <a:xfrm flipH="false" flipV="false" rot="0">
              <a:off x="0" y="0"/>
              <a:ext cx="9418320" cy="5029200"/>
            </a:xfrm>
            <a:custGeom>
              <a:avLst/>
              <a:gdLst/>
              <a:ahLst/>
              <a:cxnLst/>
              <a:rect r="r" b="b" t="t" l="l"/>
              <a:pathLst>
                <a:path h="5029200" w="9418320">
                  <a:moveTo>
                    <a:pt x="0" y="182880"/>
                  </a:moveTo>
                  <a:cubicBezTo>
                    <a:pt x="0" y="81915"/>
                    <a:pt x="81915" y="0"/>
                    <a:pt x="182880" y="0"/>
                  </a:cubicBezTo>
                  <a:lnTo>
                    <a:pt x="9235440" y="0"/>
                  </a:lnTo>
                  <a:cubicBezTo>
                    <a:pt x="9336405" y="0"/>
                    <a:pt x="9418320" y="81915"/>
                    <a:pt x="9418320" y="182880"/>
                  </a:cubicBezTo>
                  <a:lnTo>
                    <a:pt x="9418320" y="4846320"/>
                  </a:lnTo>
                  <a:cubicBezTo>
                    <a:pt x="9418320" y="4947285"/>
                    <a:pt x="9336405" y="5029200"/>
                    <a:pt x="9235440" y="5029200"/>
                  </a:cubicBezTo>
                  <a:lnTo>
                    <a:pt x="182880" y="5029200"/>
                  </a:lnTo>
                  <a:cubicBezTo>
                    <a:pt x="81915" y="5029200"/>
                    <a:pt x="0" y="4947285"/>
                    <a:pt x="0" y="4846320"/>
                  </a:cubicBezTo>
                  <a:close/>
                </a:path>
              </a:pathLst>
            </a:custGeom>
            <a:solidFill>
              <a:srgbClr val="FFFFFF"/>
            </a:solidFill>
          </p:spPr>
        </p:sp>
      </p:grpSp>
      <p:grpSp>
        <p:nvGrpSpPr>
          <p:cNvPr name="Group 37" id="37"/>
          <p:cNvGrpSpPr/>
          <p:nvPr/>
        </p:nvGrpSpPr>
        <p:grpSpPr>
          <a:xfrm rot="0">
            <a:off x="8566785" y="2644135"/>
            <a:ext cx="7063740" cy="658368"/>
            <a:chOff x="0" y="0"/>
            <a:chExt cx="9418320" cy="877824"/>
          </a:xfrm>
        </p:grpSpPr>
        <p:sp>
          <p:nvSpPr>
            <p:cNvPr name="Freeform 38" id="38"/>
            <p:cNvSpPr/>
            <p:nvPr/>
          </p:nvSpPr>
          <p:spPr>
            <a:xfrm flipH="false" flipV="false" rot="0">
              <a:off x="0" y="0"/>
              <a:ext cx="9418320" cy="877824"/>
            </a:xfrm>
            <a:custGeom>
              <a:avLst/>
              <a:gdLst/>
              <a:ahLst/>
              <a:cxnLst/>
              <a:rect r="r" b="b" t="t" l="l"/>
              <a:pathLst>
                <a:path h="877824" w="9418320">
                  <a:moveTo>
                    <a:pt x="0" y="0"/>
                  </a:moveTo>
                  <a:lnTo>
                    <a:pt x="9418320" y="0"/>
                  </a:lnTo>
                  <a:lnTo>
                    <a:pt x="9418320" y="877824"/>
                  </a:lnTo>
                  <a:lnTo>
                    <a:pt x="0" y="877824"/>
                  </a:lnTo>
                  <a:close/>
                </a:path>
              </a:pathLst>
            </a:custGeom>
            <a:solidFill>
              <a:srgbClr val="C9821F"/>
            </a:solidFill>
          </p:spPr>
        </p:sp>
      </p:grpSp>
      <p:grpSp>
        <p:nvGrpSpPr>
          <p:cNvPr name="Group 39" id="39"/>
          <p:cNvGrpSpPr/>
          <p:nvPr/>
        </p:nvGrpSpPr>
        <p:grpSpPr>
          <a:xfrm rot="0">
            <a:off x="8566785" y="2644135"/>
            <a:ext cx="7063740" cy="658368"/>
            <a:chOff x="0" y="0"/>
            <a:chExt cx="9418320" cy="877824"/>
          </a:xfrm>
        </p:grpSpPr>
        <p:sp>
          <p:nvSpPr>
            <p:cNvPr name="Freeform 40" id="40"/>
            <p:cNvSpPr/>
            <p:nvPr/>
          </p:nvSpPr>
          <p:spPr>
            <a:xfrm flipH="false" flipV="false" rot="0">
              <a:off x="0" y="0"/>
              <a:ext cx="9418320" cy="877824"/>
            </a:xfrm>
            <a:custGeom>
              <a:avLst/>
              <a:gdLst/>
              <a:ahLst/>
              <a:cxnLst/>
              <a:rect r="r" b="b" t="t" l="l"/>
              <a:pathLst>
                <a:path h="877824" w="9418320">
                  <a:moveTo>
                    <a:pt x="0" y="0"/>
                  </a:moveTo>
                  <a:lnTo>
                    <a:pt x="9418320" y="0"/>
                  </a:lnTo>
                  <a:lnTo>
                    <a:pt x="9418320" y="877824"/>
                  </a:lnTo>
                  <a:lnTo>
                    <a:pt x="0" y="877824"/>
                  </a:lnTo>
                  <a:close/>
                </a:path>
              </a:pathLst>
            </a:custGeom>
            <a:blipFill>
              <a:blip r:embed="rId9">
                <a:alphaModFix amt="0"/>
              </a:blip>
              <a:stretch>
                <a:fillRect l="0" t="-159058" r="0" b="-159058"/>
              </a:stretch>
            </a:blipFill>
          </p:spPr>
        </p:sp>
        <p:sp>
          <p:nvSpPr>
            <p:cNvPr name="TextBox 41" id="41"/>
            <p:cNvSpPr txBox="true"/>
            <p:nvPr/>
          </p:nvSpPr>
          <p:spPr>
            <a:xfrm>
              <a:off x="0" y="-19050"/>
              <a:ext cx="9418320" cy="896874"/>
            </a:xfrm>
            <a:prstGeom prst="rect">
              <a:avLst/>
            </a:prstGeom>
          </p:spPr>
          <p:txBody>
            <a:bodyPr anchor="ctr" rtlCol="false" tIns="0" lIns="0" bIns="0" rIns="0"/>
            <a:lstStyle/>
            <a:p>
              <a:pPr algn="ctr">
                <a:lnSpc>
                  <a:spcPts val="2340"/>
                </a:lnSpc>
              </a:pPr>
              <a:r>
                <a:rPr lang="en-US" sz="1950" b="true">
                  <a:solidFill>
                    <a:srgbClr val="FFFFFF"/>
                  </a:solidFill>
                  <a:latin typeface="Poppins Bold"/>
                  <a:ea typeface="Poppins Bold"/>
                  <a:cs typeface="Poppins Bold"/>
                  <a:sym typeface="Poppins Bold"/>
                </a:rPr>
                <a:t>BOTH  ·  filters can travel back up</a:t>
              </a:r>
            </a:p>
          </p:txBody>
        </p:sp>
      </p:grpSp>
      <p:grpSp>
        <p:nvGrpSpPr>
          <p:cNvPr name="Group 42" id="42"/>
          <p:cNvGrpSpPr/>
          <p:nvPr/>
        </p:nvGrpSpPr>
        <p:grpSpPr>
          <a:xfrm rot="0">
            <a:off x="9172099" y="3798089"/>
            <a:ext cx="1532573" cy="709612"/>
            <a:chOff x="0" y="0"/>
            <a:chExt cx="2043430" cy="946150"/>
          </a:xfrm>
        </p:grpSpPr>
        <p:sp>
          <p:nvSpPr>
            <p:cNvPr name="Freeform 43" id="43"/>
            <p:cNvSpPr/>
            <p:nvPr/>
          </p:nvSpPr>
          <p:spPr>
            <a:xfrm flipH="false" flipV="false" rot="0">
              <a:off x="0" y="0"/>
              <a:ext cx="2043430" cy="946150"/>
            </a:xfrm>
            <a:custGeom>
              <a:avLst/>
              <a:gdLst/>
              <a:ahLst/>
              <a:cxnLst/>
              <a:rect r="r" b="b" t="t" l="l"/>
              <a:pathLst>
                <a:path h="946150" w="2043430">
                  <a:moveTo>
                    <a:pt x="0" y="113538"/>
                  </a:moveTo>
                  <a:cubicBezTo>
                    <a:pt x="0" y="50800"/>
                    <a:pt x="50800" y="0"/>
                    <a:pt x="113538" y="0"/>
                  </a:cubicBezTo>
                  <a:lnTo>
                    <a:pt x="1929892" y="0"/>
                  </a:lnTo>
                  <a:cubicBezTo>
                    <a:pt x="1992630" y="0"/>
                    <a:pt x="2043430" y="50800"/>
                    <a:pt x="2043430" y="113538"/>
                  </a:cubicBezTo>
                  <a:lnTo>
                    <a:pt x="2043430" y="832612"/>
                  </a:lnTo>
                  <a:cubicBezTo>
                    <a:pt x="2043430" y="895350"/>
                    <a:pt x="1992630" y="946150"/>
                    <a:pt x="1929892" y="946150"/>
                  </a:cubicBezTo>
                  <a:lnTo>
                    <a:pt x="113538" y="946150"/>
                  </a:lnTo>
                  <a:cubicBezTo>
                    <a:pt x="50800" y="946150"/>
                    <a:pt x="0" y="895350"/>
                    <a:pt x="0" y="832612"/>
                  </a:cubicBezTo>
                  <a:close/>
                </a:path>
              </a:pathLst>
            </a:custGeom>
            <a:solidFill>
              <a:srgbClr val="EEF4F4"/>
            </a:solidFill>
            <a:ln w="23812" cap="sq">
              <a:solidFill>
                <a:srgbClr val="C9821F"/>
              </a:solidFill>
              <a:prstDash val="solid"/>
              <a:miter/>
            </a:ln>
          </p:spPr>
        </p:sp>
      </p:grpSp>
      <p:grpSp>
        <p:nvGrpSpPr>
          <p:cNvPr name="Group 44" id="44"/>
          <p:cNvGrpSpPr/>
          <p:nvPr/>
        </p:nvGrpSpPr>
        <p:grpSpPr>
          <a:xfrm rot="0">
            <a:off x="9184005" y="3809995"/>
            <a:ext cx="1508760" cy="685800"/>
            <a:chOff x="0" y="0"/>
            <a:chExt cx="2011680" cy="914400"/>
          </a:xfrm>
        </p:grpSpPr>
        <p:sp>
          <p:nvSpPr>
            <p:cNvPr name="Freeform 45" id="45"/>
            <p:cNvSpPr/>
            <p:nvPr/>
          </p:nvSpPr>
          <p:spPr>
            <a:xfrm flipH="false" flipV="false" rot="0">
              <a:off x="0" y="0"/>
              <a:ext cx="2011680" cy="914400"/>
            </a:xfrm>
            <a:custGeom>
              <a:avLst/>
              <a:gdLst/>
              <a:ahLst/>
              <a:cxnLst/>
              <a:rect r="r" b="b" t="t" l="l"/>
              <a:pathLst>
                <a:path h="914400" w="2011680">
                  <a:moveTo>
                    <a:pt x="0" y="0"/>
                  </a:moveTo>
                  <a:lnTo>
                    <a:pt x="2011680" y="0"/>
                  </a:lnTo>
                  <a:lnTo>
                    <a:pt x="2011680" y="914400"/>
                  </a:lnTo>
                  <a:lnTo>
                    <a:pt x="0" y="914400"/>
                  </a:lnTo>
                  <a:close/>
                </a:path>
              </a:pathLst>
            </a:custGeom>
            <a:blipFill>
              <a:blip r:embed="rId9">
                <a:alphaModFix amt="0"/>
              </a:blip>
              <a:stretch>
                <a:fillRect l="-8319" t="0" r="-8319" b="0"/>
              </a:stretch>
            </a:blipFill>
          </p:spPr>
        </p:sp>
        <p:sp>
          <p:nvSpPr>
            <p:cNvPr name="TextBox 46" id="46"/>
            <p:cNvSpPr txBox="true"/>
            <p:nvPr/>
          </p:nvSpPr>
          <p:spPr>
            <a:xfrm>
              <a:off x="0" y="-19050"/>
              <a:ext cx="2011680" cy="933450"/>
            </a:xfrm>
            <a:prstGeom prst="rect">
              <a:avLst/>
            </a:prstGeom>
          </p:spPr>
          <p:txBody>
            <a:bodyPr anchor="ctr" rtlCol="false" tIns="0" lIns="0" bIns="0" rIns="0"/>
            <a:lstStyle/>
            <a:p>
              <a:pPr algn="ctr">
                <a:lnSpc>
                  <a:spcPts val="1800"/>
                </a:lnSpc>
              </a:pPr>
              <a:r>
                <a:rPr lang="en-US" sz="1500" b="true">
                  <a:solidFill>
                    <a:srgbClr val="C9821F"/>
                  </a:solidFill>
                  <a:latin typeface="Poppins Bold"/>
                  <a:ea typeface="Poppins Bold"/>
                  <a:cs typeface="Poppins Bold"/>
                  <a:sym typeface="Poppins Bold"/>
                </a:rPr>
                <a:t>riders</a:t>
              </a:r>
            </a:p>
          </p:txBody>
        </p:sp>
      </p:grpSp>
      <p:grpSp>
        <p:nvGrpSpPr>
          <p:cNvPr name="Group 47" id="47"/>
          <p:cNvGrpSpPr/>
          <p:nvPr/>
        </p:nvGrpSpPr>
        <p:grpSpPr>
          <a:xfrm rot="0">
            <a:off x="11366659" y="4963949"/>
            <a:ext cx="1532573" cy="709612"/>
            <a:chOff x="0" y="0"/>
            <a:chExt cx="2043430" cy="946150"/>
          </a:xfrm>
        </p:grpSpPr>
        <p:sp>
          <p:nvSpPr>
            <p:cNvPr name="Freeform 48" id="48"/>
            <p:cNvSpPr/>
            <p:nvPr/>
          </p:nvSpPr>
          <p:spPr>
            <a:xfrm flipH="false" flipV="false" rot="0">
              <a:off x="0" y="0"/>
              <a:ext cx="2043430" cy="946150"/>
            </a:xfrm>
            <a:custGeom>
              <a:avLst/>
              <a:gdLst/>
              <a:ahLst/>
              <a:cxnLst/>
              <a:rect r="r" b="b" t="t" l="l"/>
              <a:pathLst>
                <a:path h="946150" w="2043430">
                  <a:moveTo>
                    <a:pt x="0" y="113538"/>
                  </a:moveTo>
                  <a:cubicBezTo>
                    <a:pt x="0" y="50800"/>
                    <a:pt x="50800" y="0"/>
                    <a:pt x="113538" y="0"/>
                  </a:cubicBezTo>
                  <a:lnTo>
                    <a:pt x="1929892" y="0"/>
                  </a:lnTo>
                  <a:cubicBezTo>
                    <a:pt x="1992630" y="0"/>
                    <a:pt x="2043430" y="50800"/>
                    <a:pt x="2043430" y="113538"/>
                  </a:cubicBezTo>
                  <a:lnTo>
                    <a:pt x="2043430" y="832612"/>
                  </a:lnTo>
                  <a:cubicBezTo>
                    <a:pt x="2043430" y="895350"/>
                    <a:pt x="1992630" y="946150"/>
                    <a:pt x="1929892" y="946150"/>
                  </a:cubicBezTo>
                  <a:lnTo>
                    <a:pt x="113538" y="946150"/>
                  </a:lnTo>
                  <a:cubicBezTo>
                    <a:pt x="50800" y="946150"/>
                    <a:pt x="0" y="895350"/>
                    <a:pt x="0" y="832612"/>
                  </a:cubicBezTo>
                  <a:close/>
                </a:path>
              </a:pathLst>
            </a:custGeom>
            <a:solidFill>
              <a:srgbClr val="EEF4F4"/>
            </a:solidFill>
            <a:ln w="23812" cap="sq">
              <a:solidFill>
                <a:srgbClr val="C9821F"/>
              </a:solidFill>
              <a:prstDash val="solid"/>
              <a:miter/>
            </a:ln>
          </p:spPr>
        </p:sp>
      </p:grpSp>
      <p:grpSp>
        <p:nvGrpSpPr>
          <p:cNvPr name="Group 49" id="49"/>
          <p:cNvGrpSpPr/>
          <p:nvPr/>
        </p:nvGrpSpPr>
        <p:grpSpPr>
          <a:xfrm rot="0">
            <a:off x="11378565" y="4975855"/>
            <a:ext cx="1508760" cy="685800"/>
            <a:chOff x="0" y="0"/>
            <a:chExt cx="2011680" cy="914400"/>
          </a:xfrm>
        </p:grpSpPr>
        <p:sp>
          <p:nvSpPr>
            <p:cNvPr name="Freeform 50" id="50"/>
            <p:cNvSpPr/>
            <p:nvPr/>
          </p:nvSpPr>
          <p:spPr>
            <a:xfrm flipH="false" flipV="false" rot="0">
              <a:off x="0" y="0"/>
              <a:ext cx="2011680" cy="914400"/>
            </a:xfrm>
            <a:custGeom>
              <a:avLst/>
              <a:gdLst/>
              <a:ahLst/>
              <a:cxnLst/>
              <a:rect r="r" b="b" t="t" l="l"/>
              <a:pathLst>
                <a:path h="914400" w="2011680">
                  <a:moveTo>
                    <a:pt x="0" y="0"/>
                  </a:moveTo>
                  <a:lnTo>
                    <a:pt x="2011680" y="0"/>
                  </a:lnTo>
                  <a:lnTo>
                    <a:pt x="2011680" y="914400"/>
                  </a:lnTo>
                  <a:lnTo>
                    <a:pt x="0" y="914400"/>
                  </a:lnTo>
                  <a:close/>
                </a:path>
              </a:pathLst>
            </a:custGeom>
            <a:blipFill>
              <a:blip r:embed="rId9">
                <a:alphaModFix amt="0"/>
              </a:blip>
              <a:stretch>
                <a:fillRect l="-8319" t="0" r="-8319" b="0"/>
              </a:stretch>
            </a:blipFill>
          </p:spPr>
        </p:sp>
        <p:sp>
          <p:nvSpPr>
            <p:cNvPr name="TextBox 51" id="51"/>
            <p:cNvSpPr txBox="true"/>
            <p:nvPr/>
          </p:nvSpPr>
          <p:spPr>
            <a:xfrm>
              <a:off x="0" y="-19050"/>
              <a:ext cx="2011680" cy="933450"/>
            </a:xfrm>
            <a:prstGeom prst="rect">
              <a:avLst/>
            </a:prstGeom>
          </p:spPr>
          <p:txBody>
            <a:bodyPr anchor="ctr" rtlCol="false" tIns="0" lIns="0" bIns="0" rIns="0"/>
            <a:lstStyle/>
            <a:p>
              <a:pPr algn="ctr">
                <a:lnSpc>
                  <a:spcPts val="1800"/>
                </a:lnSpc>
              </a:pPr>
              <a:r>
                <a:rPr lang="en-US" sz="1500" b="true">
                  <a:solidFill>
                    <a:srgbClr val="C9821F"/>
                  </a:solidFill>
                  <a:latin typeface="Poppins Bold"/>
                  <a:ea typeface="Poppins Bold"/>
                  <a:cs typeface="Poppins Bold"/>
                  <a:sym typeface="Poppins Bold"/>
                </a:rPr>
                <a:t>deliveries</a:t>
              </a:r>
            </a:p>
          </p:txBody>
        </p:sp>
      </p:grpSp>
      <p:grpSp>
        <p:nvGrpSpPr>
          <p:cNvPr name="Group 52" id="52"/>
          <p:cNvGrpSpPr/>
          <p:nvPr/>
        </p:nvGrpSpPr>
        <p:grpSpPr>
          <a:xfrm rot="0">
            <a:off x="13561219" y="3798089"/>
            <a:ext cx="1532573" cy="709612"/>
            <a:chOff x="0" y="0"/>
            <a:chExt cx="2043430" cy="946150"/>
          </a:xfrm>
        </p:grpSpPr>
        <p:sp>
          <p:nvSpPr>
            <p:cNvPr name="Freeform 53" id="53"/>
            <p:cNvSpPr/>
            <p:nvPr/>
          </p:nvSpPr>
          <p:spPr>
            <a:xfrm flipH="false" flipV="false" rot="0">
              <a:off x="0" y="0"/>
              <a:ext cx="2043430" cy="946150"/>
            </a:xfrm>
            <a:custGeom>
              <a:avLst/>
              <a:gdLst/>
              <a:ahLst/>
              <a:cxnLst/>
              <a:rect r="r" b="b" t="t" l="l"/>
              <a:pathLst>
                <a:path h="946150" w="2043430">
                  <a:moveTo>
                    <a:pt x="0" y="113538"/>
                  </a:moveTo>
                  <a:cubicBezTo>
                    <a:pt x="0" y="50800"/>
                    <a:pt x="50800" y="0"/>
                    <a:pt x="113538" y="0"/>
                  </a:cubicBezTo>
                  <a:lnTo>
                    <a:pt x="1929892" y="0"/>
                  </a:lnTo>
                  <a:cubicBezTo>
                    <a:pt x="1992630" y="0"/>
                    <a:pt x="2043430" y="50800"/>
                    <a:pt x="2043430" y="113538"/>
                  </a:cubicBezTo>
                  <a:lnTo>
                    <a:pt x="2043430" y="832612"/>
                  </a:lnTo>
                  <a:cubicBezTo>
                    <a:pt x="2043430" y="895350"/>
                    <a:pt x="1992630" y="946150"/>
                    <a:pt x="1929892" y="946150"/>
                  </a:cubicBezTo>
                  <a:lnTo>
                    <a:pt x="113538" y="946150"/>
                  </a:lnTo>
                  <a:cubicBezTo>
                    <a:pt x="50800" y="946150"/>
                    <a:pt x="0" y="895350"/>
                    <a:pt x="0" y="832612"/>
                  </a:cubicBezTo>
                  <a:close/>
                </a:path>
              </a:pathLst>
            </a:custGeom>
            <a:solidFill>
              <a:srgbClr val="EEF4F4"/>
            </a:solidFill>
            <a:ln w="23812" cap="sq">
              <a:solidFill>
                <a:srgbClr val="C9821F"/>
              </a:solidFill>
              <a:prstDash val="solid"/>
              <a:miter/>
            </a:ln>
          </p:spPr>
        </p:sp>
      </p:grpSp>
      <p:grpSp>
        <p:nvGrpSpPr>
          <p:cNvPr name="Group 54" id="54"/>
          <p:cNvGrpSpPr/>
          <p:nvPr/>
        </p:nvGrpSpPr>
        <p:grpSpPr>
          <a:xfrm rot="0">
            <a:off x="13573125" y="3809995"/>
            <a:ext cx="1508760" cy="685800"/>
            <a:chOff x="0" y="0"/>
            <a:chExt cx="2011680" cy="914400"/>
          </a:xfrm>
        </p:grpSpPr>
        <p:sp>
          <p:nvSpPr>
            <p:cNvPr name="Freeform 55" id="55"/>
            <p:cNvSpPr/>
            <p:nvPr/>
          </p:nvSpPr>
          <p:spPr>
            <a:xfrm flipH="false" flipV="false" rot="0">
              <a:off x="0" y="0"/>
              <a:ext cx="2011680" cy="914400"/>
            </a:xfrm>
            <a:custGeom>
              <a:avLst/>
              <a:gdLst/>
              <a:ahLst/>
              <a:cxnLst/>
              <a:rect r="r" b="b" t="t" l="l"/>
              <a:pathLst>
                <a:path h="914400" w="2011680">
                  <a:moveTo>
                    <a:pt x="0" y="0"/>
                  </a:moveTo>
                  <a:lnTo>
                    <a:pt x="2011680" y="0"/>
                  </a:lnTo>
                  <a:lnTo>
                    <a:pt x="2011680" y="914400"/>
                  </a:lnTo>
                  <a:lnTo>
                    <a:pt x="0" y="914400"/>
                  </a:lnTo>
                  <a:close/>
                </a:path>
              </a:pathLst>
            </a:custGeom>
            <a:blipFill>
              <a:blip r:embed="rId9">
                <a:alphaModFix amt="0"/>
              </a:blip>
              <a:stretch>
                <a:fillRect l="-8319" t="0" r="-8319" b="0"/>
              </a:stretch>
            </a:blipFill>
          </p:spPr>
        </p:sp>
        <p:sp>
          <p:nvSpPr>
            <p:cNvPr name="TextBox 56" id="56"/>
            <p:cNvSpPr txBox="true"/>
            <p:nvPr/>
          </p:nvSpPr>
          <p:spPr>
            <a:xfrm>
              <a:off x="0" y="-19050"/>
              <a:ext cx="2011680" cy="933450"/>
            </a:xfrm>
            <a:prstGeom prst="rect">
              <a:avLst/>
            </a:prstGeom>
          </p:spPr>
          <p:txBody>
            <a:bodyPr anchor="ctr" rtlCol="false" tIns="0" lIns="0" bIns="0" rIns="0"/>
            <a:lstStyle/>
            <a:p>
              <a:pPr algn="ctr">
                <a:lnSpc>
                  <a:spcPts val="1800"/>
                </a:lnSpc>
              </a:pPr>
              <a:r>
                <a:rPr lang="en-US" sz="1500" b="true">
                  <a:solidFill>
                    <a:srgbClr val="C9821F"/>
                  </a:solidFill>
                  <a:latin typeface="Poppins Bold"/>
                  <a:ea typeface="Poppins Bold"/>
                  <a:cs typeface="Poppins Bold"/>
                  <a:sym typeface="Poppins Bold"/>
                </a:rPr>
                <a:t>routes</a:t>
              </a:r>
            </a:p>
          </p:txBody>
        </p:sp>
      </p:grpSp>
      <p:sp>
        <p:nvSpPr>
          <p:cNvPr name="AutoShape 57" id="57"/>
          <p:cNvSpPr/>
          <p:nvPr/>
        </p:nvSpPr>
        <p:spPr>
          <a:xfrm>
            <a:off x="9919335" y="4476751"/>
            <a:ext cx="1615441" cy="586727"/>
          </a:xfrm>
          <a:prstGeom prst="line">
            <a:avLst/>
          </a:prstGeom>
          <a:ln cap="rnd" w="19050">
            <a:solidFill>
              <a:srgbClr val="C9821F"/>
            </a:solidFill>
            <a:prstDash val="solid"/>
            <a:headEnd type="triangle" len="med" w="lg"/>
            <a:tailEnd type="triangle" len="med" w="lg"/>
          </a:ln>
        </p:spPr>
      </p:sp>
      <p:sp>
        <p:nvSpPr>
          <p:cNvPr name="AutoShape 58" id="58"/>
          <p:cNvSpPr/>
          <p:nvPr/>
        </p:nvSpPr>
        <p:spPr>
          <a:xfrm>
            <a:off x="12868272" y="4476751"/>
            <a:ext cx="1478286" cy="586728"/>
          </a:xfrm>
          <a:prstGeom prst="line">
            <a:avLst/>
          </a:prstGeom>
          <a:ln cap="rnd" w="19050">
            <a:solidFill>
              <a:srgbClr val="C9821F"/>
            </a:solidFill>
            <a:prstDash val="solid"/>
            <a:headEnd type="triangle" len="med" w="lg"/>
            <a:tailEnd type="triangle" len="med" w="lg"/>
          </a:ln>
        </p:spPr>
      </p:sp>
      <p:grpSp>
        <p:nvGrpSpPr>
          <p:cNvPr name="Group 59" id="59"/>
          <p:cNvGrpSpPr/>
          <p:nvPr/>
        </p:nvGrpSpPr>
        <p:grpSpPr>
          <a:xfrm rot="0">
            <a:off x="885825" y="6690355"/>
            <a:ext cx="14744700" cy="2125980"/>
            <a:chOff x="0" y="0"/>
            <a:chExt cx="19659600" cy="2834640"/>
          </a:xfrm>
        </p:grpSpPr>
        <p:sp>
          <p:nvSpPr>
            <p:cNvPr name="Freeform 60" id="60"/>
            <p:cNvSpPr/>
            <p:nvPr/>
          </p:nvSpPr>
          <p:spPr>
            <a:xfrm flipH="false" flipV="false" rot="0">
              <a:off x="0" y="0"/>
              <a:ext cx="19659600" cy="2834640"/>
            </a:xfrm>
            <a:custGeom>
              <a:avLst/>
              <a:gdLst/>
              <a:ahLst/>
              <a:cxnLst/>
              <a:rect r="r" b="b" t="t" l="l"/>
              <a:pathLst>
                <a:path h="2834640" w="19659600">
                  <a:moveTo>
                    <a:pt x="0" y="164592"/>
                  </a:moveTo>
                  <a:cubicBezTo>
                    <a:pt x="0" y="73660"/>
                    <a:pt x="73660" y="0"/>
                    <a:pt x="164592" y="0"/>
                  </a:cubicBezTo>
                  <a:lnTo>
                    <a:pt x="19495008" y="0"/>
                  </a:lnTo>
                  <a:cubicBezTo>
                    <a:pt x="19585939" y="0"/>
                    <a:pt x="19659600" y="73660"/>
                    <a:pt x="19659600" y="164592"/>
                  </a:cubicBezTo>
                  <a:lnTo>
                    <a:pt x="19659600" y="2670048"/>
                  </a:lnTo>
                  <a:cubicBezTo>
                    <a:pt x="19659600" y="2760980"/>
                    <a:pt x="19585939" y="2834640"/>
                    <a:pt x="19495008" y="2834640"/>
                  </a:cubicBezTo>
                  <a:lnTo>
                    <a:pt x="164592" y="2834640"/>
                  </a:lnTo>
                  <a:cubicBezTo>
                    <a:pt x="73660" y="2834640"/>
                    <a:pt x="0" y="2760980"/>
                    <a:pt x="0" y="2670048"/>
                  </a:cubicBezTo>
                  <a:close/>
                </a:path>
              </a:pathLst>
            </a:custGeom>
            <a:solidFill>
              <a:srgbClr val="FBF3E6"/>
            </a:solidFill>
          </p:spPr>
        </p:sp>
      </p:grpSp>
      <p:grpSp>
        <p:nvGrpSpPr>
          <p:cNvPr name="Group 61" id="61"/>
          <p:cNvGrpSpPr/>
          <p:nvPr/>
        </p:nvGrpSpPr>
        <p:grpSpPr>
          <a:xfrm rot="0">
            <a:off x="885825" y="6690355"/>
            <a:ext cx="102870" cy="2125980"/>
            <a:chOff x="0" y="0"/>
            <a:chExt cx="137160" cy="2834640"/>
          </a:xfrm>
        </p:grpSpPr>
        <p:sp>
          <p:nvSpPr>
            <p:cNvPr name="Freeform 62" id="62"/>
            <p:cNvSpPr/>
            <p:nvPr/>
          </p:nvSpPr>
          <p:spPr>
            <a:xfrm flipH="false" flipV="false" rot="0">
              <a:off x="0" y="0"/>
              <a:ext cx="137160" cy="2834640"/>
            </a:xfrm>
            <a:custGeom>
              <a:avLst/>
              <a:gdLst/>
              <a:ahLst/>
              <a:cxnLst/>
              <a:rect r="r" b="b" t="t" l="l"/>
              <a:pathLst>
                <a:path h="2834640" w="137160">
                  <a:moveTo>
                    <a:pt x="0" y="0"/>
                  </a:moveTo>
                  <a:lnTo>
                    <a:pt x="137160" y="0"/>
                  </a:lnTo>
                  <a:lnTo>
                    <a:pt x="137160" y="2834640"/>
                  </a:lnTo>
                  <a:lnTo>
                    <a:pt x="0" y="2834640"/>
                  </a:lnTo>
                  <a:close/>
                </a:path>
              </a:pathLst>
            </a:custGeom>
            <a:solidFill>
              <a:srgbClr val="C9821F"/>
            </a:solidFill>
          </p:spPr>
        </p:sp>
      </p:grpSp>
      <p:sp>
        <p:nvSpPr>
          <p:cNvPr name="TextBox 63" id="63"/>
          <p:cNvSpPr txBox="true"/>
          <p:nvPr/>
        </p:nvSpPr>
        <p:spPr>
          <a:xfrm rot="0">
            <a:off x="1503045" y="6819895"/>
            <a:ext cx="13784580" cy="1859280"/>
          </a:xfrm>
          <a:prstGeom prst="rect">
            <a:avLst/>
          </a:prstGeom>
        </p:spPr>
        <p:txBody>
          <a:bodyPr anchor="t" rtlCol="false" tIns="0" lIns="0" bIns="0" rIns="0">
            <a:spAutoFit/>
          </a:bodyPr>
          <a:lstStyle/>
          <a:p>
            <a:pPr algn="l">
              <a:lnSpc>
                <a:spcPts val="2995"/>
              </a:lnSpc>
            </a:pPr>
            <a:r>
              <a:rPr lang="en-US" sz="1950">
                <a:solidFill>
                  <a:srgbClr val="6E4A10"/>
                </a:solidFill>
                <a:latin typeface="Poppins"/>
                <a:ea typeface="Poppins"/>
                <a:cs typeface="Poppins"/>
                <a:sym typeface="Poppins"/>
              </a:rPr>
              <a:t>Setting cross-filter to Both lets filters travel back up from the fact into the dimension, then across into other dimensions. It solves the problem you were poking at and creates ambiguity everywhere else, because Power BI can now reach the same table by more than one path and has to pick one.</a:t>
            </a:r>
          </a:p>
          <a:p>
            <a:pPr algn="l">
              <a:lnSpc>
                <a:spcPts val="2995"/>
              </a:lnSpc>
            </a:pPr>
          </a:p>
          <a:p>
            <a:pPr algn="l">
              <a:lnSpc>
                <a:spcPts val="2995"/>
              </a:lnSpc>
            </a:pPr>
            <a:r>
              <a:rPr lang="en-US" sz="1950">
                <a:solidFill>
                  <a:srgbClr val="6E4A10"/>
                </a:solidFill>
                <a:latin typeface="Poppins"/>
                <a:ea typeface="Poppins"/>
                <a:cs typeface="Poppins"/>
                <a:sym typeface="Poppins"/>
              </a:rPr>
              <a:t>The symptom appears weeks later, in a different visual, as a number that is quietly wrong.</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71525"/>
            <a:ext cx="14404777" cy="657225"/>
          </a:xfrm>
          <a:prstGeom prst="rect">
            <a:avLst/>
          </a:prstGeom>
        </p:spPr>
        <p:txBody>
          <a:bodyPr anchor="t" rtlCol="false" tIns="0" lIns="0" bIns="0" rIns="0">
            <a:spAutoFit/>
          </a:bodyPr>
          <a:lstStyle/>
          <a:p>
            <a:pPr algn="l">
              <a:lnSpc>
                <a:spcPts val="4920"/>
              </a:lnSpc>
            </a:pPr>
            <a:r>
              <a:rPr lang="en-US" sz="4100">
                <a:solidFill>
                  <a:srgbClr val="388080"/>
                </a:solidFill>
                <a:latin typeface="Poppins"/>
                <a:ea typeface="Poppins"/>
                <a:cs typeface="Poppins"/>
                <a:sym typeface="Poppins"/>
              </a:rPr>
              <a:t>Every mod</a:t>
            </a:r>
            <a:r>
              <a:rPr lang="en-US" sz="4100">
                <a:solidFill>
                  <a:srgbClr val="388080"/>
                </a:solidFill>
                <a:latin typeface="Poppins"/>
                <a:ea typeface="Poppins"/>
                <a:cs typeface="Poppins"/>
                <a:sym typeface="Poppins"/>
              </a:rPr>
              <a:t>el needs a date table. Yours already has one.</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857250" y="2654808"/>
            <a:ext cx="4526280" cy="4114800"/>
            <a:chOff x="0" y="0"/>
            <a:chExt cx="6035040" cy="5486400"/>
          </a:xfrm>
        </p:grpSpPr>
        <p:sp>
          <p:nvSpPr>
            <p:cNvPr name="Freeform 12" id="12"/>
            <p:cNvSpPr/>
            <p:nvPr/>
          </p:nvSpPr>
          <p:spPr>
            <a:xfrm flipH="false" flipV="false" rot="0">
              <a:off x="0" y="0"/>
              <a:ext cx="6035040" cy="5486400"/>
            </a:xfrm>
            <a:custGeom>
              <a:avLst/>
              <a:gdLst/>
              <a:ahLst/>
              <a:cxnLst/>
              <a:rect r="r" b="b" t="t" l="l"/>
              <a:pathLst>
                <a:path h="5486400" w="6035040">
                  <a:moveTo>
                    <a:pt x="0" y="182880"/>
                  </a:moveTo>
                  <a:cubicBezTo>
                    <a:pt x="0" y="81915"/>
                    <a:pt x="81915" y="0"/>
                    <a:pt x="182880" y="0"/>
                  </a:cubicBezTo>
                  <a:lnTo>
                    <a:pt x="5852160" y="0"/>
                  </a:lnTo>
                  <a:cubicBezTo>
                    <a:pt x="5953125" y="0"/>
                    <a:pt x="6035040" y="81915"/>
                    <a:pt x="6035040" y="182880"/>
                  </a:cubicBezTo>
                  <a:lnTo>
                    <a:pt x="6035040" y="5303520"/>
                  </a:lnTo>
                  <a:cubicBezTo>
                    <a:pt x="6035040" y="5404485"/>
                    <a:pt x="5953125" y="5486400"/>
                    <a:pt x="5852160" y="5486400"/>
                  </a:cubicBezTo>
                  <a:lnTo>
                    <a:pt x="182880" y="5486400"/>
                  </a:lnTo>
                  <a:cubicBezTo>
                    <a:pt x="81915" y="5486400"/>
                    <a:pt x="0" y="5404485"/>
                    <a:pt x="0" y="5303520"/>
                  </a:cubicBezTo>
                  <a:close/>
                </a:path>
              </a:pathLst>
            </a:custGeom>
            <a:solidFill>
              <a:srgbClr val="FFFFFF"/>
            </a:solidFill>
          </p:spPr>
        </p:sp>
      </p:grpSp>
      <p:grpSp>
        <p:nvGrpSpPr>
          <p:cNvPr name="Group 13" id="13"/>
          <p:cNvGrpSpPr/>
          <p:nvPr/>
        </p:nvGrpSpPr>
        <p:grpSpPr>
          <a:xfrm rot="0">
            <a:off x="857250" y="2654808"/>
            <a:ext cx="4526280" cy="754380"/>
            <a:chOff x="0" y="0"/>
            <a:chExt cx="6035040" cy="1005840"/>
          </a:xfrm>
        </p:grpSpPr>
        <p:sp>
          <p:nvSpPr>
            <p:cNvPr name="Freeform 14" id="14"/>
            <p:cNvSpPr/>
            <p:nvPr/>
          </p:nvSpPr>
          <p:spPr>
            <a:xfrm flipH="false" flipV="false" rot="0">
              <a:off x="0" y="0"/>
              <a:ext cx="6035040" cy="1005840"/>
            </a:xfrm>
            <a:custGeom>
              <a:avLst/>
              <a:gdLst/>
              <a:ahLst/>
              <a:cxnLst/>
              <a:rect r="r" b="b" t="t" l="l"/>
              <a:pathLst>
                <a:path h="1005840" w="6035040">
                  <a:moveTo>
                    <a:pt x="0" y="0"/>
                  </a:moveTo>
                  <a:lnTo>
                    <a:pt x="6035040" y="0"/>
                  </a:lnTo>
                  <a:lnTo>
                    <a:pt x="6035040" y="1005840"/>
                  </a:lnTo>
                  <a:lnTo>
                    <a:pt x="0" y="1005840"/>
                  </a:lnTo>
                  <a:close/>
                </a:path>
              </a:pathLst>
            </a:custGeom>
            <a:solidFill>
              <a:srgbClr val="387F7F"/>
            </a:solidFill>
          </p:spPr>
        </p:sp>
      </p:grpSp>
      <p:grpSp>
        <p:nvGrpSpPr>
          <p:cNvPr name="Group 15" id="15"/>
          <p:cNvGrpSpPr/>
          <p:nvPr/>
        </p:nvGrpSpPr>
        <p:grpSpPr>
          <a:xfrm rot="0">
            <a:off x="857250" y="2654808"/>
            <a:ext cx="4526280" cy="754380"/>
            <a:chOff x="0" y="0"/>
            <a:chExt cx="6035040" cy="1005840"/>
          </a:xfrm>
        </p:grpSpPr>
        <p:sp>
          <p:nvSpPr>
            <p:cNvPr name="Freeform 16" id="16"/>
            <p:cNvSpPr/>
            <p:nvPr/>
          </p:nvSpPr>
          <p:spPr>
            <a:xfrm flipH="false" flipV="false" rot="0">
              <a:off x="0" y="0"/>
              <a:ext cx="6035040" cy="1005840"/>
            </a:xfrm>
            <a:custGeom>
              <a:avLst/>
              <a:gdLst/>
              <a:ahLst/>
              <a:cxnLst/>
              <a:rect r="r" b="b" t="t" l="l"/>
              <a:pathLst>
                <a:path h="1005840" w="6035040">
                  <a:moveTo>
                    <a:pt x="0" y="0"/>
                  </a:moveTo>
                  <a:lnTo>
                    <a:pt x="6035040" y="0"/>
                  </a:lnTo>
                  <a:lnTo>
                    <a:pt x="6035040" y="1005840"/>
                  </a:lnTo>
                  <a:lnTo>
                    <a:pt x="0" y="1005840"/>
                  </a:lnTo>
                  <a:close/>
                </a:path>
              </a:pathLst>
            </a:custGeom>
            <a:blipFill>
              <a:blip r:embed="rId9">
                <a:alphaModFix amt="0"/>
              </a:blip>
              <a:stretch>
                <a:fillRect l="0" t="-66910" r="0" b="-66910"/>
              </a:stretch>
            </a:blipFill>
          </p:spPr>
        </p:sp>
        <p:sp>
          <p:nvSpPr>
            <p:cNvPr name="TextBox 17" id="17"/>
            <p:cNvSpPr txBox="true"/>
            <p:nvPr/>
          </p:nvSpPr>
          <p:spPr>
            <a:xfrm>
              <a:off x="0" y="-19050"/>
              <a:ext cx="6035040" cy="1024890"/>
            </a:xfrm>
            <a:prstGeom prst="rect">
              <a:avLst/>
            </a:prstGeom>
          </p:spPr>
          <p:txBody>
            <a:bodyPr anchor="ctr" rtlCol="false" tIns="0" lIns="0" bIns="0" rIns="0"/>
            <a:lstStyle/>
            <a:p>
              <a:pPr algn="ctr">
                <a:lnSpc>
                  <a:spcPts val="2160"/>
                </a:lnSpc>
              </a:pPr>
              <a:r>
                <a:rPr lang="en-US" sz="1800" b="true">
                  <a:solidFill>
                    <a:srgbClr val="FFFFFF"/>
                  </a:solidFill>
                  <a:latin typeface="Poppins Bold"/>
                  <a:ea typeface="Poppins Bold"/>
                  <a:cs typeface="Poppins Bold"/>
                  <a:sym typeface="Poppins Bold"/>
                </a:rPr>
                <a:t>dates.csv  ·  365 rows</a:t>
              </a:r>
            </a:p>
          </p:txBody>
        </p:sp>
      </p:grpSp>
      <p:grpSp>
        <p:nvGrpSpPr>
          <p:cNvPr name="Group 18" id="18"/>
          <p:cNvGrpSpPr/>
          <p:nvPr/>
        </p:nvGrpSpPr>
        <p:grpSpPr>
          <a:xfrm rot="0">
            <a:off x="1200150" y="3683508"/>
            <a:ext cx="425196" cy="452628"/>
            <a:chOff x="0" y="0"/>
            <a:chExt cx="566928" cy="603504"/>
          </a:xfrm>
        </p:grpSpPr>
        <p:sp>
          <p:nvSpPr>
            <p:cNvPr name="Freeform 19" id="19"/>
            <p:cNvSpPr/>
            <p:nvPr/>
          </p:nvSpPr>
          <p:spPr>
            <a:xfrm flipH="false" flipV="false" rot="0">
              <a:off x="0" y="0"/>
              <a:ext cx="566928" cy="603504"/>
            </a:xfrm>
            <a:custGeom>
              <a:avLst/>
              <a:gdLst/>
              <a:ahLst/>
              <a:cxnLst/>
              <a:rect r="r" b="b" t="t" l="l"/>
              <a:pathLst>
                <a:path h="603504" w="566928">
                  <a:moveTo>
                    <a:pt x="0" y="73152"/>
                  </a:moveTo>
                  <a:cubicBezTo>
                    <a:pt x="0" y="32766"/>
                    <a:pt x="32766" y="0"/>
                    <a:pt x="73152" y="0"/>
                  </a:cubicBezTo>
                  <a:lnTo>
                    <a:pt x="493776" y="0"/>
                  </a:lnTo>
                  <a:cubicBezTo>
                    <a:pt x="534162" y="0"/>
                    <a:pt x="566928" y="32766"/>
                    <a:pt x="566928" y="73152"/>
                  </a:cubicBezTo>
                  <a:lnTo>
                    <a:pt x="566928" y="530352"/>
                  </a:lnTo>
                  <a:cubicBezTo>
                    <a:pt x="566928" y="570738"/>
                    <a:pt x="534162" y="603504"/>
                    <a:pt x="493776" y="603504"/>
                  </a:cubicBezTo>
                  <a:lnTo>
                    <a:pt x="73152" y="603504"/>
                  </a:lnTo>
                  <a:cubicBezTo>
                    <a:pt x="32766" y="603504"/>
                    <a:pt x="0" y="570738"/>
                    <a:pt x="0" y="530352"/>
                  </a:cubicBezTo>
                  <a:close/>
                </a:path>
              </a:pathLst>
            </a:custGeom>
            <a:solidFill>
              <a:srgbClr val="EEF4F4"/>
            </a:solidFill>
          </p:spPr>
        </p:sp>
      </p:grpSp>
      <p:grpSp>
        <p:nvGrpSpPr>
          <p:cNvPr name="Group 20" id="20"/>
          <p:cNvGrpSpPr/>
          <p:nvPr/>
        </p:nvGrpSpPr>
        <p:grpSpPr>
          <a:xfrm rot="0">
            <a:off x="1748790" y="3683508"/>
            <a:ext cx="425196" cy="452628"/>
            <a:chOff x="0" y="0"/>
            <a:chExt cx="566928" cy="603504"/>
          </a:xfrm>
        </p:grpSpPr>
        <p:sp>
          <p:nvSpPr>
            <p:cNvPr name="Freeform 21" id="21"/>
            <p:cNvSpPr/>
            <p:nvPr/>
          </p:nvSpPr>
          <p:spPr>
            <a:xfrm flipH="false" flipV="false" rot="0">
              <a:off x="0" y="0"/>
              <a:ext cx="566928" cy="603504"/>
            </a:xfrm>
            <a:custGeom>
              <a:avLst/>
              <a:gdLst/>
              <a:ahLst/>
              <a:cxnLst/>
              <a:rect r="r" b="b" t="t" l="l"/>
              <a:pathLst>
                <a:path h="603504" w="566928">
                  <a:moveTo>
                    <a:pt x="0" y="73152"/>
                  </a:moveTo>
                  <a:cubicBezTo>
                    <a:pt x="0" y="32766"/>
                    <a:pt x="32766" y="0"/>
                    <a:pt x="73152" y="0"/>
                  </a:cubicBezTo>
                  <a:lnTo>
                    <a:pt x="493776" y="0"/>
                  </a:lnTo>
                  <a:cubicBezTo>
                    <a:pt x="534162" y="0"/>
                    <a:pt x="566928" y="32766"/>
                    <a:pt x="566928" y="73152"/>
                  </a:cubicBezTo>
                  <a:lnTo>
                    <a:pt x="566928" y="530352"/>
                  </a:lnTo>
                  <a:cubicBezTo>
                    <a:pt x="566928" y="570738"/>
                    <a:pt x="534162" y="603504"/>
                    <a:pt x="493776" y="603504"/>
                  </a:cubicBezTo>
                  <a:lnTo>
                    <a:pt x="73152" y="603504"/>
                  </a:lnTo>
                  <a:cubicBezTo>
                    <a:pt x="32766" y="603504"/>
                    <a:pt x="0" y="570738"/>
                    <a:pt x="0" y="530352"/>
                  </a:cubicBezTo>
                  <a:close/>
                </a:path>
              </a:pathLst>
            </a:custGeom>
            <a:solidFill>
              <a:srgbClr val="EEF4F4"/>
            </a:solidFill>
          </p:spPr>
        </p:sp>
      </p:grpSp>
      <p:grpSp>
        <p:nvGrpSpPr>
          <p:cNvPr name="Group 22" id="22"/>
          <p:cNvGrpSpPr/>
          <p:nvPr/>
        </p:nvGrpSpPr>
        <p:grpSpPr>
          <a:xfrm rot="0">
            <a:off x="2297430" y="3683508"/>
            <a:ext cx="425196" cy="452628"/>
            <a:chOff x="0" y="0"/>
            <a:chExt cx="566928" cy="603504"/>
          </a:xfrm>
        </p:grpSpPr>
        <p:sp>
          <p:nvSpPr>
            <p:cNvPr name="Freeform 23" id="23"/>
            <p:cNvSpPr/>
            <p:nvPr/>
          </p:nvSpPr>
          <p:spPr>
            <a:xfrm flipH="false" flipV="false" rot="0">
              <a:off x="0" y="0"/>
              <a:ext cx="566928" cy="603504"/>
            </a:xfrm>
            <a:custGeom>
              <a:avLst/>
              <a:gdLst/>
              <a:ahLst/>
              <a:cxnLst/>
              <a:rect r="r" b="b" t="t" l="l"/>
              <a:pathLst>
                <a:path h="603504" w="566928">
                  <a:moveTo>
                    <a:pt x="0" y="73152"/>
                  </a:moveTo>
                  <a:cubicBezTo>
                    <a:pt x="0" y="32766"/>
                    <a:pt x="32766" y="0"/>
                    <a:pt x="73152" y="0"/>
                  </a:cubicBezTo>
                  <a:lnTo>
                    <a:pt x="493776" y="0"/>
                  </a:lnTo>
                  <a:cubicBezTo>
                    <a:pt x="534162" y="0"/>
                    <a:pt x="566928" y="32766"/>
                    <a:pt x="566928" y="73152"/>
                  </a:cubicBezTo>
                  <a:lnTo>
                    <a:pt x="566928" y="530352"/>
                  </a:lnTo>
                  <a:cubicBezTo>
                    <a:pt x="566928" y="570738"/>
                    <a:pt x="534162" y="603504"/>
                    <a:pt x="493776" y="603504"/>
                  </a:cubicBezTo>
                  <a:lnTo>
                    <a:pt x="73152" y="603504"/>
                  </a:lnTo>
                  <a:cubicBezTo>
                    <a:pt x="32766" y="603504"/>
                    <a:pt x="0" y="570738"/>
                    <a:pt x="0" y="530352"/>
                  </a:cubicBezTo>
                  <a:close/>
                </a:path>
              </a:pathLst>
            </a:custGeom>
            <a:solidFill>
              <a:srgbClr val="EEF4F4"/>
            </a:solidFill>
          </p:spPr>
        </p:sp>
      </p:grpSp>
      <p:grpSp>
        <p:nvGrpSpPr>
          <p:cNvPr name="Group 24" id="24"/>
          <p:cNvGrpSpPr/>
          <p:nvPr/>
        </p:nvGrpSpPr>
        <p:grpSpPr>
          <a:xfrm rot="0">
            <a:off x="2846070" y="3683508"/>
            <a:ext cx="425196" cy="452628"/>
            <a:chOff x="0" y="0"/>
            <a:chExt cx="566928" cy="603504"/>
          </a:xfrm>
        </p:grpSpPr>
        <p:sp>
          <p:nvSpPr>
            <p:cNvPr name="Freeform 25" id="25"/>
            <p:cNvSpPr/>
            <p:nvPr/>
          </p:nvSpPr>
          <p:spPr>
            <a:xfrm flipH="false" flipV="false" rot="0">
              <a:off x="0" y="0"/>
              <a:ext cx="566928" cy="603504"/>
            </a:xfrm>
            <a:custGeom>
              <a:avLst/>
              <a:gdLst/>
              <a:ahLst/>
              <a:cxnLst/>
              <a:rect r="r" b="b" t="t" l="l"/>
              <a:pathLst>
                <a:path h="603504" w="566928">
                  <a:moveTo>
                    <a:pt x="0" y="73152"/>
                  </a:moveTo>
                  <a:cubicBezTo>
                    <a:pt x="0" y="32766"/>
                    <a:pt x="32766" y="0"/>
                    <a:pt x="73152" y="0"/>
                  </a:cubicBezTo>
                  <a:lnTo>
                    <a:pt x="493776" y="0"/>
                  </a:lnTo>
                  <a:cubicBezTo>
                    <a:pt x="534162" y="0"/>
                    <a:pt x="566928" y="32766"/>
                    <a:pt x="566928" y="73152"/>
                  </a:cubicBezTo>
                  <a:lnTo>
                    <a:pt x="566928" y="530352"/>
                  </a:lnTo>
                  <a:cubicBezTo>
                    <a:pt x="566928" y="570738"/>
                    <a:pt x="534162" y="603504"/>
                    <a:pt x="493776" y="603504"/>
                  </a:cubicBezTo>
                  <a:lnTo>
                    <a:pt x="73152" y="603504"/>
                  </a:lnTo>
                  <a:cubicBezTo>
                    <a:pt x="32766" y="603504"/>
                    <a:pt x="0" y="570738"/>
                    <a:pt x="0" y="530352"/>
                  </a:cubicBezTo>
                  <a:close/>
                </a:path>
              </a:pathLst>
            </a:custGeom>
            <a:solidFill>
              <a:srgbClr val="EEF4F4"/>
            </a:solidFill>
          </p:spPr>
        </p:sp>
      </p:grpSp>
      <p:grpSp>
        <p:nvGrpSpPr>
          <p:cNvPr name="Group 26" id="26"/>
          <p:cNvGrpSpPr/>
          <p:nvPr/>
        </p:nvGrpSpPr>
        <p:grpSpPr>
          <a:xfrm rot="0">
            <a:off x="3394710" y="3683508"/>
            <a:ext cx="425196" cy="452628"/>
            <a:chOff x="0" y="0"/>
            <a:chExt cx="566928" cy="603504"/>
          </a:xfrm>
        </p:grpSpPr>
        <p:sp>
          <p:nvSpPr>
            <p:cNvPr name="Freeform 27" id="27"/>
            <p:cNvSpPr/>
            <p:nvPr/>
          </p:nvSpPr>
          <p:spPr>
            <a:xfrm flipH="false" flipV="false" rot="0">
              <a:off x="0" y="0"/>
              <a:ext cx="566928" cy="603504"/>
            </a:xfrm>
            <a:custGeom>
              <a:avLst/>
              <a:gdLst/>
              <a:ahLst/>
              <a:cxnLst/>
              <a:rect r="r" b="b" t="t" l="l"/>
              <a:pathLst>
                <a:path h="603504" w="566928">
                  <a:moveTo>
                    <a:pt x="0" y="73152"/>
                  </a:moveTo>
                  <a:cubicBezTo>
                    <a:pt x="0" y="32766"/>
                    <a:pt x="32766" y="0"/>
                    <a:pt x="73152" y="0"/>
                  </a:cubicBezTo>
                  <a:lnTo>
                    <a:pt x="493776" y="0"/>
                  </a:lnTo>
                  <a:cubicBezTo>
                    <a:pt x="534162" y="0"/>
                    <a:pt x="566928" y="32766"/>
                    <a:pt x="566928" y="73152"/>
                  </a:cubicBezTo>
                  <a:lnTo>
                    <a:pt x="566928" y="530352"/>
                  </a:lnTo>
                  <a:cubicBezTo>
                    <a:pt x="566928" y="570738"/>
                    <a:pt x="534162" y="603504"/>
                    <a:pt x="493776" y="603504"/>
                  </a:cubicBezTo>
                  <a:lnTo>
                    <a:pt x="73152" y="603504"/>
                  </a:lnTo>
                  <a:cubicBezTo>
                    <a:pt x="32766" y="603504"/>
                    <a:pt x="0" y="570738"/>
                    <a:pt x="0" y="530352"/>
                  </a:cubicBezTo>
                  <a:close/>
                </a:path>
              </a:pathLst>
            </a:custGeom>
            <a:solidFill>
              <a:srgbClr val="EEF4F4"/>
            </a:solidFill>
          </p:spPr>
        </p:sp>
      </p:grpSp>
      <p:grpSp>
        <p:nvGrpSpPr>
          <p:cNvPr name="Group 28" id="28"/>
          <p:cNvGrpSpPr/>
          <p:nvPr/>
        </p:nvGrpSpPr>
        <p:grpSpPr>
          <a:xfrm rot="0">
            <a:off x="3943350" y="3683508"/>
            <a:ext cx="425196" cy="452628"/>
            <a:chOff x="0" y="0"/>
            <a:chExt cx="566928" cy="603504"/>
          </a:xfrm>
        </p:grpSpPr>
        <p:sp>
          <p:nvSpPr>
            <p:cNvPr name="Freeform 29" id="29"/>
            <p:cNvSpPr/>
            <p:nvPr/>
          </p:nvSpPr>
          <p:spPr>
            <a:xfrm flipH="false" flipV="false" rot="0">
              <a:off x="0" y="0"/>
              <a:ext cx="566928" cy="603504"/>
            </a:xfrm>
            <a:custGeom>
              <a:avLst/>
              <a:gdLst/>
              <a:ahLst/>
              <a:cxnLst/>
              <a:rect r="r" b="b" t="t" l="l"/>
              <a:pathLst>
                <a:path h="603504" w="566928">
                  <a:moveTo>
                    <a:pt x="0" y="73152"/>
                  </a:moveTo>
                  <a:cubicBezTo>
                    <a:pt x="0" y="32766"/>
                    <a:pt x="32766" y="0"/>
                    <a:pt x="73152" y="0"/>
                  </a:cubicBezTo>
                  <a:lnTo>
                    <a:pt x="493776" y="0"/>
                  </a:lnTo>
                  <a:cubicBezTo>
                    <a:pt x="534162" y="0"/>
                    <a:pt x="566928" y="32766"/>
                    <a:pt x="566928" y="73152"/>
                  </a:cubicBezTo>
                  <a:lnTo>
                    <a:pt x="566928" y="530352"/>
                  </a:lnTo>
                  <a:cubicBezTo>
                    <a:pt x="566928" y="570738"/>
                    <a:pt x="534162" y="603504"/>
                    <a:pt x="493776" y="603504"/>
                  </a:cubicBezTo>
                  <a:lnTo>
                    <a:pt x="73152" y="603504"/>
                  </a:lnTo>
                  <a:cubicBezTo>
                    <a:pt x="32766" y="603504"/>
                    <a:pt x="0" y="570738"/>
                    <a:pt x="0" y="530352"/>
                  </a:cubicBezTo>
                  <a:close/>
                </a:path>
              </a:pathLst>
            </a:custGeom>
            <a:solidFill>
              <a:srgbClr val="EEF4F4"/>
            </a:solidFill>
          </p:spPr>
        </p:sp>
      </p:grpSp>
      <p:grpSp>
        <p:nvGrpSpPr>
          <p:cNvPr name="Group 30" id="30"/>
          <p:cNvGrpSpPr/>
          <p:nvPr/>
        </p:nvGrpSpPr>
        <p:grpSpPr>
          <a:xfrm rot="0">
            <a:off x="4491990" y="3683508"/>
            <a:ext cx="425196" cy="452628"/>
            <a:chOff x="0" y="0"/>
            <a:chExt cx="566928" cy="603504"/>
          </a:xfrm>
        </p:grpSpPr>
        <p:sp>
          <p:nvSpPr>
            <p:cNvPr name="Freeform 31" id="31"/>
            <p:cNvSpPr/>
            <p:nvPr/>
          </p:nvSpPr>
          <p:spPr>
            <a:xfrm flipH="false" flipV="false" rot="0">
              <a:off x="0" y="0"/>
              <a:ext cx="566928" cy="603504"/>
            </a:xfrm>
            <a:custGeom>
              <a:avLst/>
              <a:gdLst/>
              <a:ahLst/>
              <a:cxnLst/>
              <a:rect r="r" b="b" t="t" l="l"/>
              <a:pathLst>
                <a:path h="603504" w="566928">
                  <a:moveTo>
                    <a:pt x="0" y="73152"/>
                  </a:moveTo>
                  <a:cubicBezTo>
                    <a:pt x="0" y="32766"/>
                    <a:pt x="32766" y="0"/>
                    <a:pt x="73152" y="0"/>
                  </a:cubicBezTo>
                  <a:lnTo>
                    <a:pt x="493776" y="0"/>
                  </a:lnTo>
                  <a:cubicBezTo>
                    <a:pt x="534162" y="0"/>
                    <a:pt x="566928" y="32766"/>
                    <a:pt x="566928" y="73152"/>
                  </a:cubicBezTo>
                  <a:lnTo>
                    <a:pt x="566928" y="530352"/>
                  </a:lnTo>
                  <a:cubicBezTo>
                    <a:pt x="566928" y="570738"/>
                    <a:pt x="534162" y="603504"/>
                    <a:pt x="493776" y="603504"/>
                  </a:cubicBezTo>
                  <a:lnTo>
                    <a:pt x="73152" y="603504"/>
                  </a:lnTo>
                  <a:cubicBezTo>
                    <a:pt x="32766" y="603504"/>
                    <a:pt x="0" y="570738"/>
                    <a:pt x="0" y="530352"/>
                  </a:cubicBezTo>
                  <a:close/>
                </a:path>
              </a:pathLst>
            </a:custGeom>
            <a:solidFill>
              <a:srgbClr val="EEF4F4"/>
            </a:solidFill>
          </p:spPr>
        </p:sp>
      </p:grpSp>
      <p:grpSp>
        <p:nvGrpSpPr>
          <p:cNvPr name="Group 32" id="32"/>
          <p:cNvGrpSpPr/>
          <p:nvPr/>
        </p:nvGrpSpPr>
        <p:grpSpPr>
          <a:xfrm rot="0">
            <a:off x="1200150" y="4259580"/>
            <a:ext cx="425196" cy="452628"/>
            <a:chOff x="0" y="0"/>
            <a:chExt cx="566928" cy="603504"/>
          </a:xfrm>
        </p:grpSpPr>
        <p:sp>
          <p:nvSpPr>
            <p:cNvPr name="Freeform 33" id="33"/>
            <p:cNvSpPr/>
            <p:nvPr/>
          </p:nvSpPr>
          <p:spPr>
            <a:xfrm flipH="false" flipV="false" rot="0">
              <a:off x="0" y="0"/>
              <a:ext cx="566928" cy="603504"/>
            </a:xfrm>
            <a:custGeom>
              <a:avLst/>
              <a:gdLst/>
              <a:ahLst/>
              <a:cxnLst/>
              <a:rect r="r" b="b" t="t" l="l"/>
              <a:pathLst>
                <a:path h="603504" w="566928">
                  <a:moveTo>
                    <a:pt x="0" y="73152"/>
                  </a:moveTo>
                  <a:cubicBezTo>
                    <a:pt x="0" y="32766"/>
                    <a:pt x="32766" y="0"/>
                    <a:pt x="73152" y="0"/>
                  </a:cubicBezTo>
                  <a:lnTo>
                    <a:pt x="493776" y="0"/>
                  </a:lnTo>
                  <a:cubicBezTo>
                    <a:pt x="534162" y="0"/>
                    <a:pt x="566928" y="32766"/>
                    <a:pt x="566928" y="73152"/>
                  </a:cubicBezTo>
                  <a:lnTo>
                    <a:pt x="566928" y="530352"/>
                  </a:lnTo>
                  <a:cubicBezTo>
                    <a:pt x="566928" y="570738"/>
                    <a:pt x="534162" y="603504"/>
                    <a:pt x="493776" y="603504"/>
                  </a:cubicBezTo>
                  <a:lnTo>
                    <a:pt x="73152" y="603504"/>
                  </a:lnTo>
                  <a:cubicBezTo>
                    <a:pt x="32766" y="603504"/>
                    <a:pt x="0" y="570738"/>
                    <a:pt x="0" y="530352"/>
                  </a:cubicBezTo>
                  <a:close/>
                </a:path>
              </a:pathLst>
            </a:custGeom>
            <a:solidFill>
              <a:srgbClr val="EEF4F4"/>
            </a:solidFill>
          </p:spPr>
        </p:sp>
      </p:grpSp>
      <p:grpSp>
        <p:nvGrpSpPr>
          <p:cNvPr name="Group 34" id="34"/>
          <p:cNvGrpSpPr/>
          <p:nvPr/>
        </p:nvGrpSpPr>
        <p:grpSpPr>
          <a:xfrm rot="0">
            <a:off x="1748790" y="4259580"/>
            <a:ext cx="425196" cy="452628"/>
            <a:chOff x="0" y="0"/>
            <a:chExt cx="566928" cy="603504"/>
          </a:xfrm>
        </p:grpSpPr>
        <p:sp>
          <p:nvSpPr>
            <p:cNvPr name="Freeform 35" id="35"/>
            <p:cNvSpPr/>
            <p:nvPr/>
          </p:nvSpPr>
          <p:spPr>
            <a:xfrm flipH="false" flipV="false" rot="0">
              <a:off x="0" y="0"/>
              <a:ext cx="566928" cy="603504"/>
            </a:xfrm>
            <a:custGeom>
              <a:avLst/>
              <a:gdLst/>
              <a:ahLst/>
              <a:cxnLst/>
              <a:rect r="r" b="b" t="t" l="l"/>
              <a:pathLst>
                <a:path h="603504" w="566928">
                  <a:moveTo>
                    <a:pt x="0" y="73152"/>
                  </a:moveTo>
                  <a:cubicBezTo>
                    <a:pt x="0" y="32766"/>
                    <a:pt x="32766" y="0"/>
                    <a:pt x="73152" y="0"/>
                  </a:cubicBezTo>
                  <a:lnTo>
                    <a:pt x="493776" y="0"/>
                  </a:lnTo>
                  <a:cubicBezTo>
                    <a:pt x="534162" y="0"/>
                    <a:pt x="566928" y="32766"/>
                    <a:pt x="566928" y="73152"/>
                  </a:cubicBezTo>
                  <a:lnTo>
                    <a:pt x="566928" y="530352"/>
                  </a:lnTo>
                  <a:cubicBezTo>
                    <a:pt x="566928" y="570738"/>
                    <a:pt x="534162" y="603504"/>
                    <a:pt x="493776" y="603504"/>
                  </a:cubicBezTo>
                  <a:lnTo>
                    <a:pt x="73152" y="603504"/>
                  </a:lnTo>
                  <a:cubicBezTo>
                    <a:pt x="32766" y="603504"/>
                    <a:pt x="0" y="570738"/>
                    <a:pt x="0" y="530352"/>
                  </a:cubicBezTo>
                  <a:close/>
                </a:path>
              </a:pathLst>
            </a:custGeom>
            <a:solidFill>
              <a:srgbClr val="EEF4F4"/>
            </a:solidFill>
          </p:spPr>
        </p:sp>
      </p:grpSp>
      <p:grpSp>
        <p:nvGrpSpPr>
          <p:cNvPr name="Group 36" id="36"/>
          <p:cNvGrpSpPr/>
          <p:nvPr/>
        </p:nvGrpSpPr>
        <p:grpSpPr>
          <a:xfrm rot="0">
            <a:off x="2297430" y="4259580"/>
            <a:ext cx="425196" cy="452628"/>
            <a:chOff x="0" y="0"/>
            <a:chExt cx="566928" cy="603504"/>
          </a:xfrm>
        </p:grpSpPr>
        <p:sp>
          <p:nvSpPr>
            <p:cNvPr name="Freeform 37" id="37"/>
            <p:cNvSpPr/>
            <p:nvPr/>
          </p:nvSpPr>
          <p:spPr>
            <a:xfrm flipH="false" flipV="false" rot="0">
              <a:off x="0" y="0"/>
              <a:ext cx="566928" cy="603504"/>
            </a:xfrm>
            <a:custGeom>
              <a:avLst/>
              <a:gdLst/>
              <a:ahLst/>
              <a:cxnLst/>
              <a:rect r="r" b="b" t="t" l="l"/>
              <a:pathLst>
                <a:path h="603504" w="566928">
                  <a:moveTo>
                    <a:pt x="0" y="73152"/>
                  </a:moveTo>
                  <a:cubicBezTo>
                    <a:pt x="0" y="32766"/>
                    <a:pt x="32766" y="0"/>
                    <a:pt x="73152" y="0"/>
                  </a:cubicBezTo>
                  <a:lnTo>
                    <a:pt x="493776" y="0"/>
                  </a:lnTo>
                  <a:cubicBezTo>
                    <a:pt x="534162" y="0"/>
                    <a:pt x="566928" y="32766"/>
                    <a:pt x="566928" y="73152"/>
                  </a:cubicBezTo>
                  <a:lnTo>
                    <a:pt x="566928" y="530352"/>
                  </a:lnTo>
                  <a:cubicBezTo>
                    <a:pt x="566928" y="570738"/>
                    <a:pt x="534162" y="603504"/>
                    <a:pt x="493776" y="603504"/>
                  </a:cubicBezTo>
                  <a:lnTo>
                    <a:pt x="73152" y="603504"/>
                  </a:lnTo>
                  <a:cubicBezTo>
                    <a:pt x="32766" y="603504"/>
                    <a:pt x="0" y="570738"/>
                    <a:pt x="0" y="530352"/>
                  </a:cubicBezTo>
                  <a:close/>
                </a:path>
              </a:pathLst>
            </a:custGeom>
            <a:solidFill>
              <a:srgbClr val="EEF4F4"/>
            </a:solidFill>
          </p:spPr>
        </p:sp>
      </p:grpSp>
      <p:grpSp>
        <p:nvGrpSpPr>
          <p:cNvPr name="Group 38" id="38"/>
          <p:cNvGrpSpPr/>
          <p:nvPr/>
        </p:nvGrpSpPr>
        <p:grpSpPr>
          <a:xfrm rot="0">
            <a:off x="2846070" y="4259580"/>
            <a:ext cx="425196" cy="452628"/>
            <a:chOff x="0" y="0"/>
            <a:chExt cx="566928" cy="603504"/>
          </a:xfrm>
        </p:grpSpPr>
        <p:sp>
          <p:nvSpPr>
            <p:cNvPr name="Freeform 39" id="39"/>
            <p:cNvSpPr/>
            <p:nvPr/>
          </p:nvSpPr>
          <p:spPr>
            <a:xfrm flipH="false" flipV="false" rot="0">
              <a:off x="0" y="0"/>
              <a:ext cx="566928" cy="603504"/>
            </a:xfrm>
            <a:custGeom>
              <a:avLst/>
              <a:gdLst/>
              <a:ahLst/>
              <a:cxnLst/>
              <a:rect r="r" b="b" t="t" l="l"/>
              <a:pathLst>
                <a:path h="603504" w="566928">
                  <a:moveTo>
                    <a:pt x="0" y="73152"/>
                  </a:moveTo>
                  <a:cubicBezTo>
                    <a:pt x="0" y="32766"/>
                    <a:pt x="32766" y="0"/>
                    <a:pt x="73152" y="0"/>
                  </a:cubicBezTo>
                  <a:lnTo>
                    <a:pt x="493776" y="0"/>
                  </a:lnTo>
                  <a:cubicBezTo>
                    <a:pt x="534162" y="0"/>
                    <a:pt x="566928" y="32766"/>
                    <a:pt x="566928" y="73152"/>
                  </a:cubicBezTo>
                  <a:lnTo>
                    <a:pt x="566928" y="530352"/>
                  </a:lnTo>
                  <a:cubicBezTo>
                    <a:pt x="566928" y="570738"/>
                    <a:pt x="534162" y="603504"/>
                    <a:pt x="493776" y="603504"/>
                  </a:cubicBezTo>
                  <a:lnTo>
                    <a:pt x="73152" y="603504"/>
                  </a:lnTo>
                  <a:cubicBezTo>
                    <a:pt x="32766" y="603504"/>
                    <a:pt x="0" y="570738"/>
                    <a:pt x="0" y="530352"/>
                  </a:cubicBezTo>
                  <a:close/>
                </a:path>
              </a:pathLst>
            </a:custGeom>
            <a:solidFill>
              <a:srgbClr val="387F7F"/>
            </a:solidFill>
          </p:spPr>
        </p:sp>
      </p:grpSp>
      <p:grpSp>
        <p:nvGrpSpPr>
          <p:cNvPr name="Group 40" id="40"/>
          <p:cNvGrpSpPr/>
          <p:nvPr/>
        </p:nvGrpSpPr>
        <p:grpSpPr>
          <a:xfrm rot="0">
            <a:off x="3394710" y="4259580"/>
            <a:ext cx="425196" cy="452628"/>
            <a:chOff x="0" y="0"/>
            <a:chExt cx="566928" cy="603504"/>
          </a:xfrm>
        </p:grpSpPr>
        <p:sp>
          <p:nvSpPr>
            <p:cNvPr name="Freeform 41" id="41"/>
            <p:cNvSpPr/>
            <p:nvPr/>
          </p:nvSpPr>
          <p:spPr>
            <a:xfrm flipH="false" flipV="false" rot="0">
              <a:off x="0" y="0"/>
              <a:ext cx="566928" cy="603504"/>
            </a:xfrm>
            <a:custGeom>
              <a:avLst/>
              <a:gdLst/>
              <a:ahLst/>
              <a:cxnLst/>
              <a:rect r="r" b="b" t="t" l="l"/>
              <a:pathLst>
                <a:path h="603504" w="566928">
                  <a:moveTo>
                    <a:pt x="0" y="73152"/>
                  </a:moveTo>
                  <a:cubicBezTo>
                    <a:pt x="0" y="32766"/>
                    <a:pt x="32766" y="0"/>
                    <a:pt x="73152" y="0"/>
                  </a:cubicBezTo>
                  <a:lnTo>
                    <a:pt x="493776" y="0"/>
                  </a:lnTo>
                  <a:cubicBezTo>
                    <a:pt x="534162" y="0"/>
                    <a:pt x="566928" y="32766"/>
                    <a:pt x="566928" y="73152"/>
                  </a:cubicBezTo>
                  <a:lnTo>
                    <a:pt x="566928" y="530352"/>
                  </a:lnTo>
                  <a:cubicBezTo>
                    <a:pt x="566928" y="570738"/>
                    <a:pt x="534162" y="603504"/>
                    <a:pt x="493776" y="603504"/>
                  </a:cubicBezTo>
                  <a:lnTo>
                    <a:pt x="73152" y="603504"/>
                  </a:lnTo>
                  <a:cubicBezTo>
                    <a:pt x="32766" y="603504"/>
                    <a:pt x="0" y="570738"/>
                    <a:pt x="0" y="530352"/>
                  </a:cubicBezTo>
                  <a:close/>
                </a:path>
              </a:pathLst>
            </a:custGeom>
            <a:solidFill>
              <a:srgbClr val="EEF4F4"/>
            </a:solidFill>
          </p:spPr>
        </p:sp>
      </p:grpSp>
      <p:grpSp>
        <p:nvGrpSpPr>
          <p:cNvPr name="Group 42" id="42"/>
          <p:cNvGrpSpPr/>
          <p:nvPr/>
        </p:nvGrpSpPr>
        <p:grpSpPr>
          <a:xfrm rot="0">
            <a:off x="3943350" y="4259580"/>
            <a:ext cx="425196" cy="452628"/>
            <a:chOff x="0" y="0"/>
            <a:chExt cx="566928" cy="603504"/>
          </a:xfrm>
        </p:grpSpPr>
        <p:sp>
          <p:nvSpPr>
            <p:cNvPr name="Freeform 43" id="43"/>
            <p:cNvSpPr/>
            <p:nvPr/>
          </p:nvSpPr>
          <p:spPr>
            <a:xfrm flipH="false" flipV="false" rot="0">
              <a:off x="0" y="0"/>
              <a:ext cx="566928" cy="603504"/>
            </a:xfrm>
            <a:custGeom>
              <a:avLst/>
              <a:gdLst/>
              <a:ahLst/>
              <a:cxnLst/>
              <a:rect r="r" b="b" t="t" l="l"/>
              <a:pathLst>
                <a:path h="603504" w="566928">
                  <a:moveTo>
                    <a:pt x="0" y="73152"/>
                  </a:moveTo>
                  <a:cubicBezTo>
                    <a:pt x="0" y="32766"/>
                    <a:pt x="32766" y="0"/>
                    <a:pt x="73152" y="0"/>
                  </a:cubicBezTo>
                  <a:lnTo>
                    <a:pt x="493776" y="0"/>
                  </a:lnTo>
                  <a:cubicBezTo>
                    <a:pt x="534162" y="0"/>
                    <a:pt x="566928" y="32766"/>
                    <a:pt x="566928" y="73152"/>
                  </a:cubicBezTo>
                  <a:lnTo>
                    <a:pt x="566928" y="530352"/>
                  </a:lnTo>
                  <a:cubicBezTo>
                    <a:pt x="566928" y="570738"/>
                    <a:pt x="534162" y="603504"/>
                    <a:pt x="493776" y="603504"/>
                  </a:cubicBezTo>
                  <a:lnTo>
                    <a:pt x="73152" y="603504"/>
                  </a:lnTo>
                  <a:cubicBezTo>
                    <a:pt x="32766" y="603504"/>
                    <a:pt x="0" y="570738"/>
                    <a:pt x="0" y="530352"/>
                  </a:cubicBezTo>
                  <a:close/>
                </a:path>
              </a:pathLst>
            </a:custGeom>
            <a:solidFill>
              <a:srgbClr val="EEF4F4"/>
            </a:solidFill>
          </p:spPr>
        </p:sp>
      </p:grpSp>
      <p:grpSp>
        <p:nvGrpSpPr>
          <p:cNvPr name="Group 44" id="44"/>
          <p:cNvGrpSpPr/>
          <p:nvPr/>
        </p:nvGrpSpPr>
        <p:grpSpPr>
          <a:xfrm rot="0">
            <a:off x="4491990" y="4259580"/>
            <a:ext cx="425196" cy="452628"/>
            <a:chOff x="0" y="0"/>
            <a:chExt cx="566928" cy="603504"/>
          </a:xfrm>
        </p:grpSpPr>
        <p:sp>
          <p:nvSpPr>
            <p:cNvPr name="Freeform 45" id="45"/>
            <p:cNvSpPr/>
            <p:nvPr/>
          </p:nvSpPr>
          <p:spPr>
            <a:xfrm flipH="false" flipV="false" rot="0">
              <a:off x="0" y="0"/>
              <a:ext cx="566928" cy="603504"/>
            </a:xfrm>
            <a:custGeom>
              <a:avLst/>
              <a:gdLst/>
              <a:ahLst/>
              <a:cxnLst/>
              <a:rect r="r" b="b" t="t" l="l"/>
              <a:pathLst>
                <a:path h="603504" w="566928">
                  <a:moveTo>
                    <a:pt x="0" y="73152"/>
                  </a:moveTo>
                  <a:cubicBezTo>
                    <a:pt x="0" y="32766"/>
                    <a:pt x="32766" y="0"/>
                    <a:pt x="73152" y="0"/>
                  </a:cubicBezTo>
                  <a:lnTo>
                    <a:pt x="493776" y="0"/>
                  </a:lnTo>
                  <a:cubicBezTo>
                    <a:pt x="534162" y="0"/>
                    <a:pt x="566928" y="32766"/>
                    <a:pt x="566928" y="73152"/>
                  </a:cubicBezTo>
                  <a:lnTo>
                    <a:pt x="566928" y="530352"/>
                  </a:lnTo>
                  <a:cubicBezTo>
                    <a:pt x="566928" y="570738"/>
                    <a:pt x="534162" y="603504"/>
                    <a:pt x="493776" y="603504"/>
                  </a:cubicBezTo>
                  <a:lnTo>
                    <a:pt x="73152" y="603504"/>
                  </a:lnTo>
                  <a:cubicBezTo>
                    <a:pt x="32766" y="603504"/>
                    <a:pt x="0" y="570738"/>
                    <a:pt x="0" y="530352"/>
                  </a:cubicBezTo>
                  <a:close/>
                </a:path>
              </a:pathLst>
            </a:custGeom>
            <a:solidFill>
              <a:srgbClr val="EEF4F4"/>
            </a:solidFill>
          </p:spPr>
        </p:sp>
      </p:grpSp>
      <p:grpSp>
        <p:nvGrpSpPr>
          <p:cNvPr name="Group 46" id="46"/>
          <p:cNvGrpSpPr/>
          <p:nvPr/>
        </p:nvGrpSpPr>
        <p:grpSpPr>
          <a:xfrm rot="0">
            <a:off x="1200150" y="4835652"/>
            <a:ext cx="425196" cy="452628"/>
            <a:chOff x="0" y="0"/>
            <a:chExt cx="566928" cy="603504"/>
          </a:xfrm>
        </p:grpSpPr>
        <p:sp>
          <p:nvSpPr>
            <p:cNvPr name="Freeform 47" id="47"/>
            <p:cNvSpPr/>
            <p:nvPr/>
          </p:nvSpPr>
          <p:spPr>
            <a:xfrm flipH="false" flipV="false" rot="0">
              <a:off x="0" y="0"/>
              <a:ext cx="566928" cy="603504"/>
            </a:xfrm>
            <a:custGeom>
              <a:avLst/>
              <a:gdLst/>
              <a:ahLst/>
              <a:cxnLst/>
              <a:rect r="r" b="b" t="t" l="l"/>
              <a:pathLst>
                <a:path h="603504" w="566928">
                  <a:moveTo>
                    <a:pt x="0" y="73152"/>
                  </a:moveTo>
                  <a:cubicBezTo>
                    <a:pt x="0" y="32766"/>
                    <a:pt x="32766" y="0"/>
                    <a:pt x="73152" y="0"/>
                  </a:cubicBezTo>
                  <a:lnTo>
                    <a:pt x="493776" y="0"/>
                  </a:lnTo>
                  <a:cubicBezTo>
                    <a:pt x="534162" y="0"/>
                    <a:pt x="566928" y="32766"/>
                    <a:pt x="566928" y="73152"/>
                  </a:cubicBezTo>
                  <a:lnTo>
                    <a:pt x="566928" y="530352"/>
                  </a:lnTo>
                  <a:cubicBezTo>
                    <a:pt x="566928" y="570738"/>
                    <a:pt x="534162" y="603504"/>
                    <a:pt x="493776" y="603504"/>
                  </a:cubicBezTo>
                  <a:lnTo>
                    <a:pt x="73152" y="603504"/>
                  </a:lnTo>
                  <a:cubicBezTo>
                    <a:pt x="32766" y="603504"/>
                    <a:pt x="0" y="570738"/>
                    <a:pt x="0" y="530352"/>
                  </a:cubicBezTo>
                  <a:close/>
                </a:path>
              </a:pathLst>
            </a:custGeom>
            <a:solidFill>
              <a:srgbClr val="EEF4F4"/>
            </a:solidFill>
          </p:spPr>
        </p:sp>
      </p:grpSp>
      <p:grpSp>
        <p:nvGrpSpPr>
          <p:cNvPr name="Group 48" id="48"/>
          <p:cNvGrpSpPr/>
          <p:nvPr/>
        </p:nvGrpSpPr>
        <p:grpSpPr>
          <a:xfrm rot="0">
            <a:off x="1748790" y="4835652"/>
            <a:ext cx="425196" cy="452628"/>
            <a:chOff x="0" y="0"/>
            <a:chExt cx="566928" cy="603504"/>
          </a:xfrm>
        </p:grpSpPr>
        <p:sp>
          <p:nvSpPr>
            <p:cNvPr name="Freeform 49" id="49"/>
            <p:cNvSpPr/>
            <p:nvPr/>
          </p:nvSpPr>
          <p:spPr>
            <a:xfrm flipH="false" flipV="false" rot="0">
              <a:off x="0" y="0"/>
              <a:ext cx="566928" cy="603504"/>
            </a:xfrm>
            <a:custGeom>
              <a:avLst/>
              <a:gdLst/>
              <a:ahLst/>
              <a:cxnLst/>
              <a:rect r="r" b="b" t="t" l="l"/>
              <a:pathLst>
                <a:path h="603504" w="566928">
                  <a:moveTo>
                    <a:pt x="0" y="73152"/>
                  </a:moveTo>
                  <a:cubicBezTo>
                    <a:pt x="0" y="32766"/>
                    <a:pt x="32766" y="0"/>
                    <a:pt x="73152" y="0"/>
                  </a:cubicBezTo>
                  <a:lnTo>
                    <a:pt x="493776" y="0"/>
                  </a:lnTo>
                  <a:cubicBezTo>
                    <a:pt x="534162" y="0"/>
                    <a:pt x="566928" y="32766"/>
                    <a:pt x="566928" y="73152"/>
                  </a:cubicBezTo>
                  <a:lnTo>
                    <a:pt x="566928" y="530352"/>
                  </a:lnTo>
                  <a:cubicBezTo>
                    <a:pt x="566928" y="570738"/>
                    <a:pt x="534162" y="603504"/>
                    <a:pt x="493776" y="603504"/>
                  </a:cubicBezTo>
                  <a:lnTo>
                    <a:pt x="73152" y="603504"/>
                  </a:lnTo>
                  <a:cubicBezTo>
                    <a:pt x="32766" y="603504"/>
                    <a:pt x="0" y="570738"/>
                    <a:pt x="0" y="530352"/>
                  </a:cubicBezTo>
                  <a:close/>
                </a:path>
              </a:pathLst>
            </a:custGeom>
            <a:solidFill>
              <a:srgbClr val="EEF4F4"/>
            </a:solidFill>
          </p:spPr>
        </p:sp>
      </p:grpSp>
      <p:grpSp>
        <p:nvGrpSpPr>
          <p:cNvPr name="Group 50" id="50"/>
          <p:cNvGrpSpPr/>
          <p:nvPr/>
        </p:nvGrpSpPr>
        <p:grpSpPr>
          <a:xfrm rot="0">
            <a:off x="2297430" y="4835652"/>
            <a:ext cx="425196" cy="452628"/>
            <a:chOff x="0" y="0"/>
            <a:chExt cx="566928" cy="603504"/>
          </a:xfrm>
        </p:grpSpPr>
        <p:sp>
          <p:nvSpPr>
            <p:cNvPr name="Freeform 51" id="51"/>
            <p:cNvSpPr/>
            <p:nvPr/>
          </p:nvSpPr>
          <p:spPr>
            <a:xfrm flipH="false" flipV="false" rot="0">
              <a:off x="0" y="0"/>
              <a:ext cx="566928" cy="603504"/>
            </a:xfrm>
            <a:custGeom>
              <a:avLst/>
              <a:gdLst/>
              <a:ahLst/>
              <a:cxnLst/>
              <a:rect r="r" b="b" t="t" l="l"/>
              <a:pathLst>
                <a:path h="603504" w="566928">
                  <a:moveTo>
                    <a:pt x="0" y="73152"/>
                  </a:moveTo>
                  <a:cubicBezTo>
                    <a:pt x="0" y="32766"/>
                    <a:pt x="32766" y="0"/>
                    <a:pt x="73152" y="0"/>
                  </a:cubicBezTo>
                  <a:lnTo>
                    <a:pt x="493776" y="0"/>
                  </a:lnTo>
                  <a:cubicBezTo>
                    <a:pt x="534162" y="0"/>
                    <a:pt x="566928" y="32766"/>
                    <a:pt x="566928" y="73152"/>
                  </a:cubicBezTo>
                  <a:lnTo>
                    <a:pt x="566928" y="530352"/>
                  </a:lnTo>
                  <a:cubicBezTo>
                    <a:pt x="566928" y="570738"/>
                    <a:pt x="534162" y="603504"/>
                    <a:pt x="493776" y="603504"/>
                  </a:cubicBezTo>
                  <a:lnTo>
                    <a:pt x="73152" y="603504"/>
                  </a:lnTo>
                  <a:cubicBezTo>
                    <a:pt x="32766" y="603504"/>
                    <a:pt x="0" y="570738"/>
                    <a:pt x="0" y="530352"/>
                  </a:cubicBezTo>
                  <a:close/>
                </a:path>
              </a:pathLst>
            </a:custGeom>
            <a:solidFill>
              <a:srgbClr val="EEF4F4"/>
            </a:solidFill>
          </p:spPr>
        </p:sp>
      </p:grpSp>
      <p:grpSp>
        <p:nvGrpSpPr>
          <p:cNvPr name="Group 52" id="52"/>
          <p:cNvGrpSpPr/>
          <p:nvPr/>
        </p:nvGrpSpPr>
        <p:grpSpPr>
          <a:xfrm rot="0">
            <a:off x="2846070" y="4835652"/>
            <a:ext cx="425196" cy="452628"/>
            <a:chOff x="0" y="0"/>
            <a:chExt cx="566928" cy="603504"/>
          </a:xfrm>
        </p:grpSpPr>
        <p:sp>
          <p:nvSpPr>
            <p:cNvPr name="Freeform 53" id="53"/>
            <p:cNvSpPr/>
            <p:nvPr/>
          </p:nvSpPr>
          <p:spPr>
            <a:xfrm flipH="false" flipV="false" rot="0">
              <a:off x="0" y="0"/>
              <a:ext cx="566928" cy="603504"/>
            </a:xfrm>
            <a:custGeom>
              <a:avLst/>
              <a:gdLst/>
              <a:ahLst/>
              <a:cxnLst/>
              <a:rect r="r" b="b" t="t" l="l"/>
              <a:pathLst>
                <a:path h="603504" w="566928">
                  <a:moveTo>
                    <a:pt x="0" y="73152"/>
                  </a:moveTo>
                  <a:cubicBezTo>
                    <a:pt x="0" y="32766"/>
                    <a:pt x="32766" y="0"/>
                    <a:pt x="73152" y="0"/>
                  </a:cubicBezTo>
                  <a:lnTo>
                    <a:pt x="493776" y="0"/>
                  </a:lnTo>
                  <a:cubicBezTo>
                    <a:pt x="534162" y="0"/>
                    <a:pt x="566928" y="32766"/>
                    <a:pt x="566928" y="73152"/>
                  </a:cubicBezTo>
                  <a:lnTo>
                    <a:pt x="566928" y="530352"/>
                  </a:lnTo>
                  <a:cubicBezTo>
                    <a:pt x="566928" y="570738"/>
                    <a:pt x="534162" y="603504"/>
                    <a:pt x="493776" y="603504"/>
                  </a:cubicBezTo>
                  <a:lnTo>
                    <a:pt x="73152" y="603504"/>
                  </a:lnTo>
                  <a:cubicBezTo>
                    <a:pt x="32766" y="603504"/>
                    <a:pt x="0" y="570738"/>
                    <a:pt x="0" y="530352"/>
                  </a:cubicBezTo>
                  <a:close/>
                </a:path>
              </a:pathLst>
            </a:custGeom>
            <a:solidFill>
              <a:srgbClr val="EEF4F4"/>
            </a:solidFill>
          </p:spPr>
        </p:sp>
      </p:grpSp>
      <p:grpSp>
        <p:nvGrpSpPr>
          <p:cNvPr name="Group 54" id="54"/>
          <p:cNvGrpSpPr/>
          <p:nvPr/>
        </p:nvGrpSpPr>
        <p:grpSpPr>
          <a:xfrm rot="0">
            <a:off x="3394710" y="4835652"/>
            <a:ext cx="425196" cy="452628"/>
            <a:chOff x="0" y="0"/>
            <a:chExt cx="566928" cy="603504"/>
          </a:xfrm>
        </p:grpSpPr>
        <p:sp>
          <p:nvSpPr>
            <p:cNvPr name="Freeform 55" id="55"/>
            <p:cNvSpPr/>
            <p:nvPr/>
          </p:nvSpPr>
          <p:spPr>
            <a:xfrm flipH="false" flipV="false" rot="0">
              <a:off x="0" y="0"/>
              <a:ext cx="566928" cy="603504"/>
            </a:xfrm>
            <a:custGeom>
              <a:avLst/>
              <a:gdLst/>
              <a:ahLst/>
              <a:cxnLst/>
              <a:rect r="r" b="b" t="t" l="l"/>
              <a:pathLst>
                <a:path h="603504" w="566928">
                  <a:moveTo>
                    <a:pt x="0" y="73152"/>
                  </a:moveTo>
                  <a:cubicBezTo>
                    <a:pt x="0" y="32766"/>
                    <a:pt x="32766" y="0"/>
                    <a:pt x="73152" y="0"/>
                  </a:cubicBezTo>
                  <a:lnTo>
                    <a:pt x="493776" y="0"/>
                  </a:lnTo>
                  <a:cubicBezTo>
                    <a:pt x="534162" y="0"/>
                    <a:pt x="566928" y="32766"/>
                    <a:pt x="566928" y="73152"/>
                  </a:cubicBezTo>
                  <a:lnTo>
                    <a:pt x="566928" y="530352"/>
                  </a:lnTo>
                  <a:cubicBezTo>
                    <a:pt x="566928" y="570738"/>
                    <a:pt x="534162" y="603504"/>
                    <a:pt x="493776" y="603504"/>
                  </a:cubicBezTo>
                  <a:lnTo>
                    <a:pt x="73152" y="603504"/>
                  </a:lnTo>
                  <a:cubicBezTo>
                    <a:pt x="32766" y="603504"/>
                    <a:pt x="0" y="570738"/>
                    <a:pt x="0" y="530352"/>
                  </a:cubicBezTo>
                  <a:close/>
                </a:path>
              </a:pathLst>
            </a:custGeom>
            <a:solidFill>
              <a:srgbClr val="EEF4F4"/>
            </a:solidFill>
          </p:spPr>
        </p:sp>
      </p:grpSp>
      <p:grpSp>
        <p:nvGrpSpPr>
          <p:cNvPr name="Group 56" id="56"/>
          <p:cNvGrpSpPr/>
          <p:nvPr/>
        </p:nvGrpSpPr>
        <p:grpSpPr>
          <a:xfrm rot="0">
            <a:off x="3943350" y="4835652"/>
            <a:ext cx="425196" cy="452628"/>
            <a:chOff x="0" y="0"/>
            <a:chExt cx="566928" cy="603504"/>
          </a:xfrm>
        </p:grpSpPr>
        <p:sp>
          <p:nvSpPr>
            <p:cNvPr name="Freeform 57" id="57"/>
            <p:cNvSpPr/>
            <p:nvPr/>
          </p:nvSpPr>
          <p:spPr>
            <a:xfrm flipH="false" flipV="false" rot="0">
              <a:off x="0" y="0"/>
              <a:ext cx="566928" cy="603504"/>
            </a:xfrm>
            <a:custGeom>
              <a:avLst/>
              <a:gdLst/>
              <a:ahLst/>
              <a:cxnLst/>
              <a:rect r="r" b="b" t="t" l="l"/>
              <a:pathLst>
                <a:path h="603504" w="566928">
                  <a:moveTo>
                    <a:pt x="0" y="73152"/>
                  </a:moveTo>
                  <a:cubicBezTo>
                    <a:pt x="0" y="32766"/>
                    <a:pt x="32766" y="0"/>
                    <a:pt x="73152" y="0"/>
                  </a:cubicBezTo>
                  <a:lnTo>
                    <a:pt x="493776" y="0"/>
                  </a:lnTo>
                  <a:cubicBezTo>
                    <a:pt x="534162" y="0"/>
                    <a:pt x="566928" y="32766"/>
                    <a:pt x="566928" y="73152"/>
                  </a:cubicBezTo>
                  <a:lnTo>
                    <a:pt x="566928" y="530352"/>
                  </a:lnTo>
                  <a:cubicBezTo>
                    <a:pt x="566928" y="570738"/>
                    <a:pt x="534162" y="603504"/>
                    <a:pt x="493776" y="603504"/>
                  </a:cubicBezTo>
                  <a:lnTo>
                    <a:pt x="73152" y="603504"/>
                  </a:lnTo>
                  <a:cubicBezTo>
                    <a:pt x="32766" y="603504"/>
                    <a:pt x="0" y="570738"/>
                    <a:pt x="0" y="530352"/>
                  </a:cubicBezTo>
                  <a:close/>
                </a:path>
              </a:pathLst>
            </a:custGeom>
            <a:solidFill>
              <a:srgbClr val="EEF4F4"/>
            </a:solidFill>
          </p:spPr>
        </p:sp>
      </p:grpSp>
      <p:grpSp>
        <p:nvGrpSpPr>
          <p:cNvPr name="Group 58" id="58"/>
          <p:cNvGrpSpPr/>
          <p:nvPr/>
        </p:nvGrpSpPr>
        <p:grpSpPr>
          <a:xfrm rot="0">
            <a:off x="4491990" y="4835652"/>
            <a:ext cx="425196" cy="452628"/>
            <a:chOff x="0" y="0"/>
            <a:chExt cx="566928" cy="603504"/>
          </a:xfrm>
        </p:grpSpPr>
        <p:sp>
          <p:nvSpPr>
            <p:cNvPr name="Freeform 59" id="59"/>
            <p:cNvSpPr/>
            <p:nvPr/>
          </p:nvSpPr>
          <p:spPr>
            <a:xfrm flipH="false" flipV="false" rot="0">
              <a:off x="0" y="0"/>
              <a:ext cx="566928" cy="603504"/>
            </a:xfrm>
            <a:custGeom>
              <a:avLst/>
              <a:gdLst/>
              <a:ahLst/>
              <a:cxnLst/>
              <a:rect r="r" b="b" t="t" l="l"/>
              <a:pathLst>
                <a:path h="603504" w="566928">
                  <a:moveTo>
                    <a:pt x="0" y="73152"/>
                  </a:moveTo>
                  <a:cubicBezTo>
                    <a:pt x="0" y="32766"/>
                    <a:pt x="32766" y="0"/>
                    <a:pt x="73152" y="0"/>
                  </a:cubicBezTo>
                  <a:lnTo>
                    <a:pt x="493776" y="0"/>
                  </a:lnTo>
                  <a:cubicBezTo>
                    <a:pt x="534162" y="0"/>
                    <a:pt x="566928" y="32766"/>
                    <a:pt x="566928" y="73152"/>
                  </a:cubicBezTo>
                  <a:lnTo>
                    <a:pt x="566928" y="530352"/>
                  </a:lnTo>
                  <a:cubicBezTo>
                    <a:pt x="566928" y="570738"/>
                    <a:pt x="534162" y="603504"/>
                    <a:pt x="493776" y="603504"/>
                  </a:cubicBezTo>
                  <a:lnTo>
                    <a:pt x="73152" y="603504"/>
                  </a:lnTo>
                  <a:cubicBezTo>
                    <a:pt x="32766" y="603504"/>
                    <a:pt x="0" y="570738"/>
                    <a:pt x="0" y="530352"/>
                  </a:cubicBezTo>
                  <a:close/>
                </a:path>
              </a:pathLst>
            </a:custGeom>
            <a:solidFill>
              <a:srgbClr val="EEF4F4"/>
            </a:solidFill>
          </p:spPr>
        </p:sp>
      </p:grpSp>
      <p:grpSp>
        <p:nvGrpSpPr>
          <p:cNvPr name="Group 60" id="60"/>
          <p:cNvGrpSpPr/>
          <p:nvPr/>
        </p:nvGrpSpPr>
        <p:grpSpPr>
          <a:xfrm rot="0">
            <a:off x="1200150" y="5411724"/>
            <a:ext cx="425196" cy="452628"/>
            <a:chOff x="0" y="0"/>
            <a:chExt cx="566928" cy="603504"/>
          </a:xfrm>
        </p:grpSpPr>
        <p:sp>
          <p:nvSpPr>
            <p:cNvPr name="Freeform 61" id="61"/>
            <p:cNvSpPr/>
            <p:nvPr/>
          </p:nvSpPr>
          <p:spPr>
            <a:xfrm flipH="false" flipV="false" rot="0">
              <a:off x="0" y="0"/>
              <a:ext cx="566928" cy="603504"/>
            </a:xfrm>
            <a:custGeom>
              <a:avLst/>
              <a:gdLst/>
              <a:ahLst/>
              <a:cxnLst/>
              <a:rect r="r" b="b" t="t" l="l"/>
              <a:pathLst>
                <a:path h="603504" w="566928">
                  <a:moveTo>
                    <a:pt x="0" y="73152"/>
                  </a:moveTo>
                  <a:cubicBezTo>
                    <a:pt x="0" y="32766"/>
                    <a:pt x="32766" y="0"/>
                    <a:pt x="73152" y="0"/>
                  </a:cubicBezTo>
                  <a:lnTo>
                    <a:pt x="493776" y="0"/>
                  </a:lnTo>
                  <a:cubicBezTo>
                    <a:pt x="534162" y="0"/>
                    <a:pt x="566928" y="32766"/>
                    <a:pt x="566928" y="73152"/>
                  </a:cubicBezTo>
                  <a:lnTo>
                    <a:pt x="566928" y="530352"/>
                  </a:lnTo>
                  <a:cubicBezTo>
                    <a:pt x="566928" y="570738"/>
                    <a:pt x="534162" y="603504"/>
                    <a:pt x="493776" y="603504"/>
                  </a:cubicBezTo>
                  <a:lnTo>
                    <a:pt x="73152" y="603504"/>
                  </a:lnTo>
                  <a:cubicBezTo>
                    <a:pt x="32766" y="603504"/>
                    <a:pt x="0" y="570738"/>
                    <a:pt x="0" y="530352"/>
                  </a:cubicBezTo>
                  <a:close/>
                </a:path>
              </a:pathLst>
            </a:custGeom>
            <a:solidFill>
              <a:srgbClr val="EEF4F4"/>
            </a:solidFill>
          </p:spPr>
        </p:sp>
      </p:grpSp>
      <p:grpSp>
        <p:nvGrpSpPr>
          <p:cNvPr name="Group 62" id="62"/>
          <p:cNvGrpSpPr/>
          <p:nvPr/>
        </p:nvGrpSpPr>
        <p:grpSpPr>
          <a:xfrm rot="0">
            <a:off x="1748790" y="5411724"/>
            <a:ext cx="425196" cy="452628"/>
            <a:chOff x="0" y="0"/>
            <a:chExt cx="566928" cy="603504"/>
          </a:xfrm>
        </p:grpSpPr>
        <p:sp>
          <p:nvSpPr>
            <p:cNvPr name="Freeform 63" id="63"/>
            <p:cNvSpPr/>
            <p:nvPr/>
          </p:nvSpPr>
          <p:spPr>
            <a:xfrm flipH="false" flipV="false" rot="0">
              <a:off x="0" y="0"/>
              <a:ext cx="566928" cy="603504"/>
            </a:xfrm>
            <a:custGeom>
              <a:avLst/>
              <a:gdLst/>
              <a:ahLst/>
              <a:cxnLst/>
              <a:rect r="r" b="b" t="t" l="l"/>
              <a:pathLst>
                <a:path h="603504" w="566928">
                  <a:moveTo>
                    <a:pt x="0" y="73152"/>
                  </a:moveTo>
                  <a:cubicBezTo>
                    <a:pt x="0" y="32766"/>
                    <a:pt x="32766" y="0"/>
                    <a:pt x="73152" y="0"/>
                  </a:cubicBezTo>
                  <a:lnTo>
                    <a:pt x="493776" y="0"/>
                  </a:lnTo>
                  <a:cubicBezTo>
                    <a:pt x="534162" y="0"/>
                    <a:pt x="566928" y="32766"/>
                    <a:pt x="566928" y="73152"/>
                  </a:cubicBezTo>
                  <a:lnTo>
                    <a:pt x="566928" y="530352"/>
                  </a:lnTo>
                  <a:cubicBezTo>
                    <a:pt x="566928" y="570738"/>
                    <a:pt x="534162" y="603504"/>
                    <a:pt x="493776" y="603504"/>
                  </a:cubicBezTo>
                  <a:lnTo>
                    <a:pt x="73152" y="603504"/>
                  </a:lnTo>
                  <a:cubicBezTo>
                    <a:pt x="32766" y="603504"/>
                    <a:pt x="0" y="570738"/>
                    <a:pt x="0" y="530352"/>
                  </a:cubicBezTo>
                  <a:close/>
                </a:path>
              </a:pathLst>
            </a:custGeom>
            <a:solidFill>
              <a:srgbClr val="EEF4F4"/>
            </a:solidFill>
          </p:spPr>
        </p:sp>
      </p:grpSp>
      <p:grpSp>
        <p:nvGrpSpPr>
          <p:cNvPr name="Group 64" id="64"/>
          <p:cNvGrpSpPr/>
          <p:nvPr/>
        </p:nvGrpSpPr>
        <p:grpSpPr>
          <a:xfrm rot="0">
            <a:off x="2297430" y="5411724"/>
            <a:ext cx="425196" cy="452628"/>
            <a:chOff x="0" y="0"/>
            <a:chExt cx="566928" cy="603504"/>
          </a:xfrm>
        </p:grpSpPr>
        <p:sp>
          <p:nvSpPr>
            <p:cNvPr name="Freeform 65" id="65"/>
            <p:cNvSpPr/>
            <p:nvPr/>
          </p:nvSpPr>
          <p:spPr>
            <a:xfrm flipH="false" flipV="false" rot="0">
              <a:off x="0" y="0"/>
              <a:ext cx="566928" cy="603504"/>
            </a:xfrm>
            <a:custGeom>
              <a:avLst/>
              <a:gdLst/>
              <a:ahLst/>
              <a:cxnLst/>
              <a:rect r="r" b="b" t="t" l="l"/>
              <a:pathLst>
                <a:path h="603504" w="566928">
                  <a:moveTo>
                    <a:pt x="0" y="73152"/>
                  </a:moveTo>
                  <a:cubicBezTo>
                    <a:pt x="0" y="32766"/>
                    <a:pt x="32766" y="0"/>
                    <a:pt x="73152" y="0"/>
                  </a:cubicBezTo>
                  <a:lnTo>
                    <a:pt x="493776" y="0"/>
                  </a:lnTo>
                  <a:cubicBezTo>
                    <a:pt x="534162" y="0"/>
                    <a:pt x="566928" y="32766"/>
                    <a:pt x="566928" y="73152"/>
                  </a:cubicBezTo>
                  <a:lnTo>
                    <a:pt x="566928" y="530352"/>
                  </a:lnTo>
                  <a:cubicBezTo>
                    <a:pt x="566928" y="570738"/>
                    <a:pt x="534162" y="603504"/>
                    <a:pt x="493776" y="603504"/>
                  </a:cubicBezTo>
                  <a:lnTo>
                    <a:pt x="73152" y="603504"/>
                  </a:lnTo>
                  <a:cubicBezTo>
                    <a:pt x="32766" y="603504"/>
                    <a:pt x="0" y="570738"/>
                    <a:pt x="0" y="530352"/>
                  </a:cubicBezTo>
                  <a:close/>
                </a:path>
              </a:pathLst>
            </a:custGeom>
            <a:solidFill>
              <a:srgbClr val="EEF4F4"/>
            </a:solidFill>
          </p:spPr>
        </p:sp>
      </p:grpSp>
      <p:grpSp>
        <p:nvGrpSpPr>
          <p:cNvPr name="Group 66" id="66"/>
          <p:cNvGrpSpPr/>
          <p:nvPr/>
        </p:nvGrpSpPr>
        <p:grpSpPr>
          <a:xfrm rot="0">
            <a:off x="2846070" y="5411724"/>
            <a:ext cx="425196" cy="452628"/>
            <a:chOff x="0" y="0"/>
            <a:chExt cx="566928" cy="603504"/>
          </a:xfrm>
        </p:grpSpPr>
        <p:sp>
          <p:nvSpPr>
            <p:cNvPr name="Freeform 67" id="67"/>
            <p:cNvSpPr/>
            <p:nvPr/>
          </p:nvSpPr>
          <p:spPr>
            <a:xfrm flipH="false" flipV="false" rot="0">
              <a:off x="0" y="0"/>
              <a:ext cx="566928" cy="603504"/>
            </a:xfrm>
            <a:custGeom>
              <a:avLst/>
              <a:gdLst/>
              <a:ahLst/>
              <a:cxnLst/>
              <a:rect r="r" b="b" t="t" l="l"/>
              <a:pathLst>
                <a:path h="603504" w="566928">
                  <a:moveTo>
                    <a:pt x="0" y="73152"/>
                  </a:moveTo>
                  <a:cubicBezTo>
                    <a:pt x="0" y="32766"/>
                    <a:pt x="32766" y="0"/>
                    <a:pt x="73152" y="0"/>
                  </a:cubicBezTo>
                  <a:lnTo>
                    <a:pt x="493776" y="0"/>
                  </a:lnTo>
                  <a:cubicBezTo>
                    <a:pt x="534162" y="0"/>
                    <a:pt x="566928" y="32766"/>
                    <a:pt x="566928" y="73152"/>
                  </a:cubicBezTo>
                  <a:lnTo>
                    <a:pt x="566928" y="530352"/>
                  </a:lnTo>
                  <a:cubicBezTo>
                    <a:pt x="566928" y="570738"/>
                    <a:pt x="534162" y="603504"/>
                    <a:pt x="493776" y="603504"/>
                  </a:cubicBezTo>
                  <a:lnTo>
                    <a:pt x="73152" y="603504"/>
                  </a:lnTo>
                  <a:cubicBezTo>
                    <a:pt x="32766" y="603504"/>
                    <a:pt x="0" y="570738"/>
                    <a:pt x="0" y="530352"/>
                  </a:cubicBezTo>
                  <a:close/>
                </a:path>
              </a:pathLst>
            </a:custGeom>
            <a:solidFill>
              <a:srgbClr val="EEF4F4"/>
            </a:solidFill>
          </p:spPr>
        </p:sp>
      </p:grpSp>
      <p:grpSp>
        <p:nvGrpSpPr>
          <p:cNvPr name="Group 68" id="68"/>
          <p:cNvGrpSpPr/>
          <p:nvPr/>
        </p:nvGrpSpPr>
        <p:grpSpPr>
          <a:xfrm rot="0">
            <a:off x="3394710" y="5411724"/>
            <a:ext cx="425196" cy="452628"/>
            <a:chOff x="0" y="0"/>
            <a:chExt cx="566928" cy="603504"/>
          </a:xfrm>
        </p:grpSpPr>
        <p:sp>
          <p:nvSpPr>
            <p:cNvPr name="Freeform 69" id="69"/>
            <p:cNvSpPr/>
            <p:nvPr/>
          </p:nvSpPr>
          <p:spPr>
            <a:xfrm flipH="false" flipV="false" rot="0">
              <a:off x="0" y="0"/>
              <a:ext cx="566928" cy="603504"/>
            </a:xfrm>
            <a:custGeom>
              <a:avLst/>
              <a:gdLst/>
              <a:ahLst/>
              <a:cxnLst/>
              <a:rect r="r" b="b" t="t" l="l"/>
              <a:pathLst>
                <a:path h="603504" w="566928">
                  <a:moveTo>
                    <a:pt x="0" y="73152"/>
                  </a:moveTo>
                  <a:cubicBezTo>
                    <a:pt x="0" y="32766"/>
                    <a:pt x="32766" y="0"/>
                    <a:pt x="73152" y="0"/>
                  </a:cubicBezTo>
                  <a:lnTo>
                    <a:pt x="493776" y="0"/>
                  </a:lnTo>
                  <a:cubicBezTo>
                    <a:pt x="534162" y="0"/>
                    <a:pt x="566928" y="32766"/>
                    <a:pt x="566928" y="73152"/>
                  </a:cubicBezTo>
                  <a:lnTo>
                    <a:pt x="566928" y="530352"/>
                  </a:lnTo>
                  <a:cubicBezTo>
                    <a:pt x="566928" y="570738"/>
                    <a:pt x="534162" y="603504"/>
                    <a:pt x="493776" y="603504"/>
                  </a:cubicBezTo>
                  <a:lnTo>
                    <a:pt x="73152" y="603504"/>
                  </a:lnTo>
                  <a:cubicBezTo>
                    <a:pt x="32766" y="603504"/>
                    <a:pt x="0" y="570738"/>
                    <a:pt x="0" y="530352"/>
                  </a:cubicBezTo>
                  <a:close/>
                </a:path>
              </a:pathLst>
            </a:custGeom>
            <a:solidFill>
              <a:srgbClr val="EEF4F4"/>
            </a:solidFill>
          </p:spPr>
        </p:sp>
      </p:grpSp>
      <p:grpSp>
        <p:nvGrpSpPr>
          <p:cNvPr name="Group 70" id="70"/>
          <p:cNvGrpSpPr/>
          <p:nvPr/>
        </p:nvGrpSpPr>
        <p:grpSpPr>
          <a:xfrm rot="0">
            <a:off x="3943350" y="5411724"/>
            <a:ext cx="425196" cy="452628"/>
            <a:chOff x="0" y="0"/>
            <a:chExt cx="566928" cy="603504"/>
          </a:xfrm>
        </p:grpSpPr>
        <p:sp>
          <p:nvSpPr>
            <p:cNvPr name="Freeform 71" id="71"/>
            <p:cNvSpPr/>
            <p:nvPr/>
          </p:nvSpPr>
          <p:spPr>
            <a:xfrm flipH="false" flipV="false" rot="0">
              <a:off x="0" y="0"/>
              <a:ext cx="566928" cy="603504"/>
            </a:xfrm>
            <a:custGeom>
              <a:avLst/>
              <a:gdLst/>
              <a:ahLst/>
              <a:cxnLst/>
              <a:rect r="r" b="b" t="t" l="l"/>
              <a:pathLst>
                <a:path h="603504" w="566928">
                  <a:moveTo>
                    <a:pt x="0" y="73152"/>
                  </a:moveTo>
                  <a:cubicBezTo>
                    <a:pt x="0" y="32766"/>
                    <a:pt x="32766" y="0"/>
                    <a:pt x="73152" y="0"/>
                  </a:cubicBezTo>
                  <a:lnTo>
                    <a:pt x="493776" y="0"/>
                  </a:lnTo>
                  <a:cubicBezTo>
                    <a:pt x="534162" y="0"/>
                    <a:pt x="566928" y="32766"/>
                    <a:pt x="566928" y="73152"/>
                  </a:cubicBezTo>
                  <a:lnTo>
                    <a:pt x="566928" y="530352"/>
                  </a:lnTo>
                  <a:cubicBezTo>
                    <a:pt x="566928" y="570738"/>
                    <a:pt x="534162" y="603504"/>
                    <a:pt x="493776" y="603504"/>
                  </a:cubicBezTo>
                  <a:lnTo>
                    <a:pt x="73152" y="603504"/>
                  </a:lnTo>
                  <a:cubicBezTo>
                    <a:pt x="32766" y="603504"/>
                    <a:pt x="0" y="570738"/>
                    <a:pt x="0" y="530352"/>
                  </a:cubicBezTo>
                  <a:close/>
                </a:path>
              </a:pathLst>
            </a:custGeom>
            <a:solidFill>
              <a:srgbClr val="EEF4F4"/>
            </a:solidFill>
          </p:spPr>
        </p:sp>
      </p:grpSp>
      <p:grpSp>
        <p:nvGrpSpPr>
          <p:cNvPr name="Group 72" id="72"/>
          <p:cNvGrpSpPr/>
          <p:nvPr/>
        </p:nvGrpSpPr>
        <p:grpSpPr>
          <a:xfrm rot="0">
            <a:off x="4491990" y="5411724"/>
            <a:ext cx="425196" cy="452628"/>
            <a:chOff x="0" y="0"/>
            <a:chExt cx="566928" cy="603504"/>
          </a:xfrm>
        </p:grpSpPr>
        <p:sp>
          <p:nvSpPr>
            <p:cNvPr name="Freeform 73" id="73"/>
            <p:cNvSpPr/>
            <p:nvPr/>
          </p:nvSpPr>
          <p:spPr>
            <a:xfrm flipH="false" flipV="false" rot="0">
              <a:off x="0" y="0"/>
              <a:ext cx="566928" cy="603504"/>
            </a:xfrm>
            <a:custGeom>
              <a:avLst/>
              <a:gdLst/>
              <a:ahLst/>
              <a:cxnLst/>
              <a:rect r="r" b="b" t="t" l="l"/>
              <a:pathLst>
                <a:path h="603504" w="566928">
                  <a:moveTo>
                    <a:pt x="0" y="73152"/>
                  </a:moveTo>
                  <a:cubicBezTo>
                    <a:pt x="0" y="32766"/>
                    <a:pt x="32766" y="0"/>
                    <a:pt x="73152" y="0"/>
                  </a:cubicBezTo>
                  <a:lnTo>
                    <a:pt x="493776" y="0"/>
                  </a:lnTo>
                  <a:cubicBezTo>
                    <a:pt x="534162" y="0"/>
                    <a:pt x="566928" y="32766"/>
                    <a:pt x="566928" y="73152"/>
                  </a:cubicBezTo>
                  <a:lnTo>
                    <a:pt x="566928" y="530352"/>
                  </a:lnTo>
                  <a:cubicBezTo>
                    <a:pt x="566928" y="570738"/>
                    <a:pt x="534162" y="603504"/>
                    <a:pt x="493776" y="603504"/>
                  </a:cubicBezTo>
                  <a:lnTo>
                    <a:pt x="73152" y="603504"/>
                  </a:lnTo>
                  <a:cubicBezTo>
                    <a:pt x="32766" y="603504"/>
                    <a:pt x="0" y="570738"/>
                    <a:pt x="0" y="530352"/>
                  </a:cubicBezTo>
                  <a:close/>
                </a:path>
              </a:pathLst>
            </a:custGeom>
            <a:solidFill>
              <a:srgbClr val="EEF4F4"/>
            </a:solidFill>
          </p:spPr>
        </p:sp>
      </p:grpSp>
      <p:grpSp>
        <p:nvGrpSpPr>
          <p:cNvPr name="Group 74" id="74"/>
          <p:cNvGrpSpPr/>
          <p:nvPr/>
        </p:nvGrpSpPr>
        <p:grpSpPr>
          <a:xfrm rot="0">
            <a:off x="1062990" y="6015228"/>
            <a:ext cx="4114800" cy="617220"/>
            <a:chOff x="0" y="0"/>
            <a:chExt cx="5486400" cy="822960"/>
          </a:xfrm>
        </p:grpSpPr>
        <p:sp>
          <p:nvSpPr>
            <p:cNvPr name="Freeform 75" id="75"/>
            <p:cNvSpPr/>
            <p:nvPr/>
          </p:nvSpPr>
          <p:spPr>
            <a:xfrm flipH="false" flipV="false" rot="0">
              <a:off x="0" y="0"/>
              <a:ext cx="5486400" cy="822960"/>
            </a:xfrm>
            <a:custGeom>
              <a:avLst/>
              <a:gdLst/>
              <a:ahLst/>
              <a:cxnLst/>
              <a:rect r="r" b="b" t="t" l="l"/>
              <a:pathLst>
                <a:path h="822960" w="5486400">
                  <a:moveTo>
                    <a:pt x="0" y="0"/>
                  </a:moveTo>
                  <a:lnTo>
                    <a:pt x="5486400" y="0"/>
                  </a:lnTo>
                  <a:lnTo>
                    <a:pt x="5486400" y="822960"/>
                  </a:lnTo>
                  <a:lnTo>
                    <a:pt x="0" y="822960"/>
                  </a:lnTo>
                  <a:close/>
                </a:path>
              </a:pathLst>
            </a:custGeom>
            <a:blipFill>
              <a:blip r:embed="rId9">
                <a:alphaModFix amt="0"/>
              </a:blip>
              <a:stretch>
                <a:fillRect l="0" t="-79900" r="0" b="-79900"/>
              </a:stretch>
            </a:blipFill>
          </p:spPr>
        </p:sp>
        <p:sp>
          <p:nvSpPr>
            <p:cNvPr name="TextBox 76" id="76"/>
            <p:cNvSpPr txBox="true"/>
            <p:nvPr/>
          </p:nvSpPr>
          <p:spPr>
            <a:xfrm>
              <a:off x="0" y="-57150"/>
              <a:ext cx="5486400" cy="880110"/>
            </a:xfrm>
            <a:prstGeom prst="rect">
              <a:avLst/>
            </a:prstGeom>
          </p:spPr>
          <p:txBody>
            <a:bodyPr anchor="ctr" rtlCol="false" tIns="0" lIns="0" bIns="0" rIns="0"/>
            <a:lstStyle/>
            <a:p>
              <a:pPr algn="ctr">
                <a:lnSpc>
                  <a:spcPts val="2052"/>
                </a:lnSpc>
              </a:pPr>
              <a:r>
                <a:rPr lang="en-US" sz="1425">
                  <a:solidFill>
                    <a:srgbClr val="64748B"/>
                  </a:solidFill>
                  <a:latin typeface="Poppins"/>
                  <a:ea typeface="Poppins"/>
                  <a:cs typeface="Poppins"/>
                  <a:sym typeface="Poppins"/>
                </a:rPr>
                <a:t>Year · Quarter · MonthName · WeekNumber · IsWeekday</a:t>
              </a:r>
            </a:p>
          </p:txBody>
        </p:sp>
      </p:grpSp>
      <p:sp>
        <p:nvSpPr>
          <p:cNvPr name="TextBox 77" id="77"/>
          <p:cNvSpPr txBox="true"/>
          <p:nvPr/>
        </p:nvSpPr>
        <p:spPr>
          <a:xfrm rot="0">
            <a:off x="6000750" y="2677668"/>
            <a:ext cx="9601200" cy="3406140"/>
          </a:xfrm>
          <a:prstGeom prst="rect">
            <a:avLst/>
          </a:prstGeom>
        </p:spPr>
        <p:txBody>
          <a:bodyPr anchor="t" rtlCol="false" tIns="0" lIns="0" bIns="0" rIns="0">
            <a:spAutoFit/>
          </a:bodyPr>
          <a:lstStyle/>
          <a:p>
            <a:pPr algn="l">
              <a:lnSpc>
                <a:spcPts val="3645"/>
              </a:lnSpc>
            </a:pPr>
            <a:r>
              <a:rPr lang="en-US" sz="2250">
                <a:solidFill>
                  <a:srgbClr val="475569"/>
                </a:solidFill>
                <a:latin typeface="Poppins"/>
                <a:ea typeface="Poppins"/>
                <a:cs typeface="Poppins"/>
                <a:sym typeface="Poppins"/>
              </a:rPr>
              <a:t>It looks redundant, because deliveries already has a date column. It is not.</a:t>
            </a:r>
          </a:p>
          <a:p>
            <a:pPr algn="l">
              <a:lnSpc>
                <a:spcPts val="3645"/>
              </a:lnSpc>
            </a:pPr>
          </a:p>
          <a:p>
            <a:pPr algn="l">
              <a:lnSpc>
                <a:spcPts val="3645"/>
              </a:lnSpc>
            </a:pPr>
            <a:r>
              <a:rPr lang="en-US" sz="2250">
                <a:solidFill>
                  <a:srgbClr val="475569"/>
                </a:solidFill>
                <a:latin typeface="Poppins"/>
                <a:ea typeface="Poppins"/>
                <a:cs typeface="Poppins"/>
                <a:sym typeface="Poppins"/>
              </a:rPr>
              <a:t>A dimension table for dates is what lets you say “compare this month with the same month last year” in a single measure. Without it, every time comparison becomes a hand-built filter, and the CALCULATE example in the next topic does not work at all.</a:t>
            </a:r>
          </a:p>
        </p:txBody>
      </p:sp>
      <p:grpSp>
        <p:nvGrpSpPr>
          <p:cNvPr name="Group 78" id="78"/>
          <p:cNvGrpSpPr/>
          <p:nvPr/>
        </p:nvGrpSpPr>
        <p:grpSpPr>
          <a:xfrm rot="0">
            <a:off x="6000750" y="6152388"/>
            <a:ext cx="9601200" cy="1303020"/>
            <a:chOff x="0" y="0"/>
            <a:chExt cx="12801600" cy="1737360"/>
          </a:xfrm>
        </p:grpSpPr>
        <p:sp>
          <p:nvSpPr>
            <p:cNvPr name="Freeform 79" id="79"/>
            <p:cNvSpPr/>
            <p:nvPr/>
          </p:nvSpPr>
          <p:spPr>
            <a:xfrm flipH="false" flipV="false" rot="0">
              <a:off x="0" y="0"/>
              <a:ext cx="12801600" cy="1737360"/>
            </a:xfrm>
            <a:custGeom>
              <a:avLst/>
              <a:gdLst/>
              <a:ahLst/>
              <a:cxnLst/>
              <a:rect r="r" b="b" t="t" l="l"/>
              <a:pathLst>
                <a:path h="1737360" w="12801600">
                  <a:moveTo>
                    <a:pt x="0" y="164592"/>
                  </a:moveTo>
                  <a:cubicBezTo>
                    <a:pt x="0" y="73660"/>
                    <a:pt x="73660" y="0"/>
                    <a:pt x="164592" y="0"/>
                  </a:cubicBezTo>
                  <a:lnTo>
                    <a:pt x="12637008" y="0"/>
                  </a:lnTo>
                  <a:cubicBezTo>
                    <a:pt x="12727940" y="0"/>
                    <a:pt x="12801600" y="73660"/>
                    <a:pt x="12801600" y="164592"/>
                  </a:cubicBezTo>
                  <a:lnTo>
                    <a:pt x="12801600" y="1572768"/>
                  </a:lnTo>
                  <a:cubicBezTo>
                    <a:pt x="12801600" y="1663700"/>
                    <a:pt x="12727940" y="1737360"/>
                    <a:pt x="12637008" y="1737360"/>
                  </a:cubicBezTo>
                  <a:lnTo>
                    <a:pt x="164592" y="1737360"/>
                  </a:lnTo>
                  <a:cubicBezTo>
                    <a:pt x="73660" y="1737360"/>
                    <a:pt x="0" y="1663700"/>
                    <a:pt x="0" y="1572768"/>
                  </a:cubicBezTo>
                  <a:close/>
                </a:path>
              </a:pathLst>
            </a:custGeom>
            <a:solidFill>
              <a:srgbClr val="FFFFFF"/>
            </a:solidFill>
          </p:spPr>
        </p:sp>
      </p:grpSp>
      <p:grpSp>
        <p:nvGrpSpPr>
          <p:cNvPr name="Group 80" id="80"/>
          <p:cNvGrpSpPr/>
          <p:nvPr/>
        </p:nvGrpSpPr>
        <p:grpSpPr>
          <a:xfrm rot="0">
            <a:off x="6000750" y="6152388"/>
            <a:ext cx="102870" cy="1303020"/>
            <a:chOff x="0" y="0"/>
            <a:chExt cx="137160" cy="1737360"/>
          </a:xfrm>
        </p:grpSpPr>
        <p:sp>
          <p:nvSpPr>
            <p:cNvPr name="Freeform 81" id="81"/>
            <p:cNvSpPr/>
            <p:nvPr/>
          </p:nvSpPr>
          <p:spPr>
            <a:xfrm flipH="false" flipV="false" rot="0">
              <a:off x="0" y="0"/>
              <a:ext cx="137160" cy="1737360"/>
            </a:xfrm>
            <a:custGeom>
              <a:avLst/>
              <a:gdLst/>
              <a:ahLst/>
              <a:cxnLst/>
              <a:rect r="r" b="b" t="t" l="l"/>
              <a:pathLst>
                <a:path h="1737360" w="137160">
                  <a:moveTo>
                    <a:pt x="0" y="0"/>
                  </a:moveTo>
                  <a:lnTo>
                    <a:pt x="137160" y="0"/>
                  </a:lnTo>
                  <a:lnTo>
                    <a:pt x="137160" y="1737360"/>
                  </a:lnTo>
                  <a:lnTo>
                    <a:pt x="0" y="1737360"/>
                  </a:lnTo>
                  <a:close/>
                </a:path>
              </a:pathLst>
            </a:custGeom>
            <a:solidFill>
              <a:srgbClr val="387F7F"/>
            </a:solidFill>
          </p:spPr>
        </p:sp>
      </p:grpSp>
      <p:grpSp>
        <p:nvGrpSpPr>
          <p:cNvPr name="Group 82" id="82"/>
          <p:cNvGrpSpPr/>
          <p:nvPr/>
        </p:nvGrpSpPr>
        <p:grpSpPr>
          <a:xfrm rot="0">
            <a:off x="6343650" y="6454140"/>
            <a:ext cx="685800" cy="685800"/>
            <a:chOff x="0" y="0"/>
            <a:chExt cx="914400" cy="914400"/>
          </a:xfrm>
        </p:grpSpPr>
        <p:sp>
          <p:nvSpPr>
            <p:cNvPr name="Freeform 83" id="8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87F7F"/>
            </a:solidFill>
          </p:spPr>
        </p:sp>
      </p:grpSp>
      <p:grpSp>
        <p:nvGrpSpPr>
          <p:cNvPr name="Group 84" id="84"/>
          <p:cNvGrpSpPr/>
          <p:nvPr/>
        </p:nvGrpSpPr>
        <p:grpSpPr>
          <a:xfrm rot="0">
            <a:off x="6343650" y="6454140"/>
            <a:ext cx="685800" cy="685800"/>
            <a:chOff x="0" y="0"/>
            <a:chExt cx="914400" cy="914400"/>
          </a:xfrm>
        </p:grpSpPr>
        <p:sp>
          <p:nvSpPr>
            <p:cNvPr name="Freeform 85" id="85"/>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9">
                <a:alphaModFix amt="0"/>
              </a:blip>
              <a:stretch>
                <a:fillRect l="-78303" t="0" r="-78303" b="0"/>
              </a:stretch>
            </a:blipFill>
          </p:spPr>
        </p:sp>
        <p:sp>
          <p:nvSpPr>
            <p:cNvPr name="TextBox 86" id="86"/>
            <p:cNvSpPr txBox="true"/>
            <p:nvPr/>
          </p:nvSpPr>
          <p:spPr>
            <a:xfrm>
              <a:off x="0" y="-38100"/>
              <a:ext cx="914400" cy="952500"/>
            </a:xfrm>
            <a:prstGeom prst="rect">
              <a:avLst/>
            </a:prstGeom>
          </p:spPr>
          <p:txBody>
            <a:bodyPr anchor="ctr" rtlCol="false" tIns="0" lIns="0" bIns="0" rIns="0"/>
            <a:lstStyle/>
            <a:p>
              <a:pPr algn="ctr">
                <a:lnSpc>
                  <a:spcPts val="3419"/>
                </a:lnSpc>
              </a:pPr>
              <a:r>
                <a:rPr lang="en-US" sz="2850" b="true">
                  <a:solidFill>
                    <a:srgbClr val="FFFFFF"/>
                  </a:solidFill>
                  <a:latin typeface="Poppins Bold"/>
                  <a:ea typeface="Poppins Bold"/>
                  <a:cs typeface="Poppins Bold"/>
                  <a:sym typeface="Poppins Bold"/>
                </a:rPr>
                <a:t>✓</a:t>
              </a:r>
            </a:p>
          </p:txBody>
        </p:sp>
      </p:grpSp>
      <p:sp>
        <p:nvSpPr>
          <p:cNvPr name="TextBox 87" id="87"/>
          <p:cNvSpPr txBox="true"/>
          <p:nvPr/>
        </p:nvSpPr>
        <p:spPr>
          <a:xfrm rot="0">
            <a:off x="7303770" y="6240780"/>
            <a:ext cx="8023860" cy="1104900"/>
          </a:xfrm>
          <a:prstGeom prst="rect">
            <a:avLst/>
          </a:prstGeom>
        </p:spPr>
        <p:txBody>
          <a:bodyPr anchor="t" rtlCol="false" tIns="0" lIns="0" bIns="0" rIns="0">
            <a:spAutoFit/>
          </a:bodyPr>
          <a:lstStyle/>
          <a:p>
            <a:pPr algn="l">
              <a:lnSpc>
                <a:spcPts val="2812"/>
              </a:lnSpc>
            </a:pPr>
            <a:r>
              <a:rPr lang="en-US" sz="1875" b="true">
                <a:solidFill>
                  <a:srgbClr val="387F7F"/>
                </a:solidFill>
                <a:latin typeface="Poppins Bold"/>
                <a:ea typeface="Poppins Bold"/>
                <a:cs typeface="Poppins Bold"/>
                <a:sym typeface="Poppins Bold"/>
              </a:rPr>
              <a:t>Table tools  ›  Mark as date table  ›  choose DateKey.</a:t>
            </a:r>
          </a:p>
          <a:p>
            <a:pPr algn="l">
              <a:lnSpc>
                <a:spcPts val="2812"/>
              </a:lnSpc>
            </a:pPr>
            <a:r>
              <a:rPr lang="en-US" sz="1875" b="true">
                <a:solidFill>
                  <a:srgbClr val="387F7F"/>
                </a:solidFill>
                <a:latin typeface="Poppins Bold"/>
                <a:ea typeface="Poppins Bold"/>
                <a:cs typeface="Poppins Bold"/>
                <a:sym typeface="Poppins Bold"/>
              </a:rPr>
              <a:t>Do this before you write any time-based measure.</a:t>
            </a:r>
          </a:p>
        </p:txBody>
      </p:sp>
      <p:grpSp>
        <p:nvGrpSpPr>
          <p:cNvPr name="Group 88" id="88"/>
          <p:cNvGrpSpPr/>
          <p:nvPr/>
        </p:nvGrpSpPr>
        <p:grpSpPr>
          <a:xfrm rot="0">
            <a:off x="857250" y="7798308"/>
            <a:ext cx="14744700" cy="1303020"/>
            <a:chOff x="0" y="0"/>
            <a:chExt cx="19659600" cy="1737360"/>
          </a:xfrm>
        </p:grpSpPr>
        <p:sp>
          <p:nvSpPr>
            <p:cNvPr name="Freeform 89" id="89"/>
            <p:cNvSpPr/>
            <p:nvPr/>
          </p:nvSpPr>
          <p:spPr>
            <a:xfrm flipH="false" flipV="false" rot="0">
              <a:off x="0" y="0"/>
              <a:ext cx="19659600" cy="1737360"/>
            </a:xfrm>
            <a:custGeom>
              <a:avLst/>
              <a:gdLst/>
              <a:ahLst/>
              <a:cxnLst/>
              <a:rect r="r" b="b" t="t" l="l"/>
              <a:pathLst>
                <a:path h="1737360" w="19659600">
                  <a:moveTo>
                    <a:pt x="0" y="164592"/>
                  </a:moveTo>
                  <a:cubicBezTo>
                    <a:pt x="0" y="73660"/>
                    <a:pt x="73660" y="0"/>
                    <a:pt x="164592" y="0"/>
                  </a:cubicBezTo>
                  <a:lnTo>
                    <a:pt x="19495008" y="0"/>
                  </a:lnTo>
                  <a:cubicBezTo>
                    <a:pt x="19585939" y="0"/>
                    <a:pt x="19659600" y="73660"/>
                    <a:pt x="19659600" y="164592"/>
                  </a:cubicBezTo>
                  <a:lnTo>
                    <a:pt x="19659600" y="1572768"/>
                  </a:lnTo>
                  <a:cubicBezTo>
                    <a:pt x="19659600" y="1663700"/>
                    <a:pt x="19585939" y="1737360"/>
                    <a:pt x="19495008" y="1737360"/>
                  </a:cubicBezTo>
                  <a:lnTo>
                    <a:pt x="164592" y="1737360"/>
                  </a:lnTo>
                  <a:cubicBezTo>
                    <a:pt x="73660" y="1737360"/>
                    <a:pt x="0" y="1663700"/>
                    <a:pt x="0" y="1572768"/>
                  </a:cubicBezTo>
                  <a:close/>
                </a:path>
              </a:pathLst>
            </a:custGeom>
            <a:solidFill>
              <a:srgbClr val="EEF4F4"/>
            </a:solidFill>
          </p:spPr>
        </p:sp>
      </p:grpSp>
      <p:grpSp>
        <p:nvGrpSpPr>
          <p:cNvPr name="Group 90" id="90"/>
          <p:cNvGrpSpPr/>
          <p:nvPr/>
        </p:nvGrpSpPr>
        <p:grpSpPr>
          <a:xfrm rot="0">
            <a:off x="857250" y="7798308"/>
            <a:ext cx="102870" cy="1303020"/>
            <a:chOff x="0" y="0"/>
            <a:chExt cx="137160" cy="1737360"/>
          </a:xfrm>
        </p:grpSpPr>
        <p:sp>
          <p:nvSpPr>
            <p:cNvPr name="Freeform 91" id="91"/>
            <p:cNvSpPr/>
            <p:nvPr/>
          </p:nvSpPr>
          <p:spPr>
            <a:xfrm flipH="false" flipV="false" rot="0">
              <a:off x="0" y="0"/>
              <a:ext cx="137160" cy="1737360"/>
            </a:xfrm>
            <a:custGeom>
              <a:avLst/>
              <a:gdLst/>
              <a:ahLst/>
              <a:cxnLst/>
              <a:rect r="r" b="b" t="t" l="l"/>
              <a:pathLst>
                <a:path h="1737360" w="137160">
                  <a:moveTo>
                    <a:pt x="0" y="0"/>
                  </a:moveTo>
                  <a:lnTo>
                    <a:pt x="137160" y="0"/>
                  </a:lnTo>
                  <a:lnTo>
                    <a:pt x="137160" y="1737360"/>
                  </a:lnTo>
                  <a:lnTo>
                    <a:pt x="0" y="1737360"/>
                  </a:lnTo>
                  <a:close/>
                </a:path>
              </a:pathLst>
            </a:custGeom>
            <a:solidFill>
              <a:srgbClr val="387F7F"/>
            </a:solidFill>
          </p:spPr>
        </p:sp>
      </p:grpSp>
      <p:grpSp>
        <p:nvGrpSpPr>
          <p:cNvPr name="Group 92" id="92"/>
          <p:cNvGrpSpPr/>
          <p:nvPr/>
        </p:nvGrpSpPr>
        <p:grpSpPr>
          <a:xfrm rot="0">
            <a:off x="1405890" y="7798308"/>
            <a:ext cx="13853160" cy="1303020"/>
            <a:chOff x="0" y="0"/>
            <a:chExt cx="18470880" cy="1737360"/>
          </a:xfrm>
        </p:grpSpPr>
        <p:sp>
          <p:nvSpPr>
            <p:cNvPr name="Freeform 93" id="93"/>
            <p:cNvSpPr/>
            <p:nvPr/>
          </p:nvSpPr>
          <p:spPr>
            <a:xfrm flipH="false" flipV="false" rot="0">
              <a:off x="0" y="0"/>
              <a:ext cx="18470880" cy="1737360"/>
            </a:xfrm>
            <a:custGeom>
              <a:avLst/>
              <a:gdLst/>
              <a:ahLst/>
              <a:cxnLst/>
              <a:rect r="r" b="b" t="t" l="l"/>
              <a:pathLst>
                <a:path h="1737360" w="18470880">
                  <a:moveTo>
                    <a:pt x="0" y="0"/>
                  </a:moveTo>
                  <a:lnTo>
                    <a:pt x="18470880" y="0"/>
                  </a:lnTo>
                  <a:lnTo>
                    <a:pt x="18470880" y="1737360"/>
                  </a:lnTo>
                  <a:lnTo>
                    <a:pt x="0" y="1737360"/>
                  </a:lnTo>
                  <a:close/>
                </a:path>
              </a:pathLst>
            </a:custGeom>
            <a:blipFill>
              <a:blip r:embed="rId9">
                <a:alphaModFix amt="0"/>
              </a:blip>
              <a:stretch>
                <a:fillRect l="0" t="-157156" r="0" b="-157156"/>
              </a:stretch>
            </a:blipFill>
          </p:spPr>
        </p:sp>
        <p:sp>
          <p:nvSpPr>
            <p:cNvPr name="TextBox 94" id="94"/>
            <p:cNvSpPr txBox="true"/>
            <p:nvPr/>
          </p:nvSpPr>
          <p:spPr>
            <a:xfrm>
              <a:off x="0" y="-114300"/>
              <a:ext cx="18470880" cy="1851660"/>
            </a:xfrm>
            <a:prstGeom prst="rect">
              <a:avLst/>
            </a:prstGeom>
          </p:spPr>
          <p:txBody>
            <a:bodyPr anchor="ctr" rtlCol="false" tIns="0" lIns="0" bIns="0" rIns="0"/>
            <a:lstStyle/>
            <a:p>
              <a:pPr algn="l">
                <a:lnSpc>
                  <a:spcPts val="3523"/>
                </a:lnSpc>
              </a:pPr>
              <a:r>
                <a:rPr lang="en-US" sz="2175" b="true">
                  <a:solidFill>
                    <a:srgbClr val="387F7F"/>
                  </a:solidFill>
                  <a:latin typeface="Poppins Bold"/>
                  <a:ea typeface="Poppins Bold"/>
                  <a:cs typeface="Poppins Bold"/>
                  <a:sym typeface="Poppins Bold"/>
                </a:rPr>
                <a:t>In about forty minutes you will write a measure that compares month on month, and it will be one line because of this table.</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4152959"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The sam</a:t>
            </a:r>
            <a:r>
              <a:rPr lang="en-US" sz="5000">
                <a:solidFill>
                  <a:srgbClr val="388080"/>
                </a:solidFill>
                <a:latin typeface="Poppins"/>
                <a:ea typeface="Poppins"/>
                <a:cs typeface="Poppins"/>
                <a:sym typeface="Poppins"/>
              </a:rPr>
              <a:t>e question, asked of a proper model</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866775" y="2707867"/>
            <a:ext cx="7063740" cy="3429000"/>
            <a:chOff x="0" y="0"/>
            <a:chExt cx="9418320" cy="4572000"/>
          </a:xfrm>
        </p:grpSpPr>
        <p:sp>
          <p:nvSpPr>
            <p:cNvPr name="Freeform 12" id="12"/>
            <p:cNvSpPr/>
            <p:nvPr/>
          </p:nvSpPr>
          <p:spPr>
            <a:xfrm flipH="false" flipV="false" rot="0">
              <a:off x="0" y="0"/>
              <a:ext cx="9418320" cy="4572000"/>
            </a:xfrm>
            <a:custGeom>
              <a:avLst/>
              <a:gdLst/>
              <a:ahLst/>
              <a:cxnLst/>
              <a:rect r="r" b="b" t="t" l="l"/>
              <a:pathLst>
                <a:path h="4572000" w="9418320">
                  <a:moveTo>
                    <a:pt x="0" y="182880"/>
                  </a:moveTo>
                  <a:cubicBezTo>
                    <a:pt x="0" y="81915"/>
                    <a:pt x="81915" y="0"/>
                    <a:pt x="182880" y="0"/>
                  </a:cubicBezTo>
                  <a:lnTo>
                    <a:pt x="9235440" y="0"/>
                  </a:lnTo>
                  <a:cubicBezTo>
                    <a:pt x="9336405" y="0"/>
                    <a:pt x="9418320" y="81915"/>
                    <a:pt x="9418320" y="182880"/>
                  </a:cubicBezTo>
                  <a:lnTo>
                    <a:pt x="9418320" y="4389120"/>
                  </a:lnTo>
                  <a:cubicBezTo>
                    <a:pt x="9418320" y="4490085"/>
                    <a:pt x="9336405" y="4572000"/>
                    <a:pt x="9235440" y="4572000"/>
                  </a:cubicBezTo>
                  <a:lnTo>
                    <a:pt x="182880" y="4572000"/>
                  </a:lnTo>
                  <a:cubicBezTo>
                    <a:pt x="81915" y="4572000"/>
                    <a:pt x="0" y="4490085"/>
                    <a:pt x="0" y="4389120"/>
                  </a:cubicBezTo>
                  <a:close/>
                </a:path>
              </a:pathLst>
            </a:custGeom>
            <a:solidFill>
              <a:srgbClr val="FFFFFF"/>
            </a:solidFill>
          </p:spPr>
        </p:sp>
      </p:grpSp>
      <p:grpSp>
        <p:nvGrpSpPr>
          <p:cNvPr name="Group 13" id="13"/>
          <p:cNvGrpSpPr/>
          <p:nvPr/>
        </p:nvGrpSpPr>
        <p:grpSpPr>
          <a:xfrm rot="0">
            <a:off x="866775" y="2707867"/>
            <a:ext cx="7063740" cy="123444"/>
            <a:chOff x="0" y="0"/>
            <a:chExt cx="9418320" cy="164592"/>
          </a:xfrm>
        </p:grpSpPr>
        <p:sp>
          <p:nvSpPr>
            <p:cNvPr name="Freeform 14" id="14"/>
            <p:cNvSpPr/>
            <p:nvPr/>
          </p:nvSpPr>
          <p:spPr>
            <a:xfrm flipH="false" flipV="false" rot="0">
              <a:off x="0" y="0"/>
              <a:ext cx="9418320" cy="164592"/>
            </a:xfrm>
            <a:custGeom>
              <a:avLst/>
              <a:gdLst/>
              <a:ahLst/>
              <a:cxnLst/>
              <a:rect r="r" b="b" t="t" l="l"/>
              <a:pathLst>
                <a:path h="164592" w="9418320">
                  <a:moveTo>
                    <a:pt x="0" y="0"/>
                  </a:moveTo>
                  <a:lnTo>
                    <a:pt x="9418320" y="0"/>
                  </a:lnTo>
                  <a:lnTo>
                    <a:pt x="9418320" y="164592"/>
                  </a:lnTo>
                  <a:lnTo>
                    <a:pt x="0" y="164592"/>
                  </a:lnTo>
                  <a:close/>
                </a:path>
              </a:pathLst>
            </a:custGeom>
            <a:solidFill>
              <a:srgbClr val="A8322D"/>
            </a:solidFill>
          </p:spPr>
        </p:sp>
      </p:grpSp>
      <p:grpSp>
        <p:nvGrpSpPr>
          <p:cNvPr name="Group 15" id="15"/>
          <p:cNvGrpSpPr/>
          <p:nvPr/>
        </p:nvGrpSpPr>
        <p:grpSpPr>
          <a:xfrm rot="0">
            <a:off x="866775" y="3050767"/>
            <a:ext cx="7063740" cy="480060"/>
            <a:chOff x="0" y="0"/>
            <a:chExt cx="9418320" cy="640080"/>
          </a:xfrm>
        </p:grpSpPr>
        <p:sp>
          <p:nvSpPr>
            <p:cNvPr name="Freeform 16" id="16"/>
            <p:cNvSpPr/>
            <p:nvPr/>
          </p:nvSpPr>
          <p:spPr>
            <a:xfrm flipH="false" flipV="false" rot="0">
              <a:off x="0" y="0"/>
              <a:ext cx="9418320" cy="640080"/>
            </a:xfrm>
            <a:custGeom>
              <a:avLst/>
              <a:gdLst/>
              <a:ahLst/>
              <a:cxnLst/>
              <a:rect r="r" b="b" t="t" l="l"/>
              <a:pathLst>
                <a:path h="640080" w="9418320">
                  <a:moveTo>
                    <a:pt x="0" y="0"/>
                  </a:moveTo>
                  <a:lnTo>
                    <a:pt x="9418320" y="0"/>
                  </a:lnTo>
                  <a:lnTo>
                    <a:pt x="9418320" y="640080"/>
                  </a:lnTo>
                  <a:lnTo>
                    <a:pt x="0" y="640080"/>
                  </a:lnTo>
                  <a:close/>
                </a:path>
              </a:pathLst>
            </a:custGeom>
            <a:blipFill>
              <a:blip r:embed="rId9">
                <a:alphaModFix amt="0"/>
              </a:blip>
              <a:stretch>
                <a:fillRect l="0" t="-236708" r="0" b="-236708"/>
              </a:stretch>
            </a:blipFill>
          </p:spPr>
        </p:sp>
        <p:sp>
          <p:nvSpPr>
            <p:cNvPr name="TextBox 17" id="17"/>
            <p:cNvSpPr txBox="true"/>
            <p:nvPr/>
          </p:nvSpPr>
          <p:spPr>
            <a:xfrm>
              <a:off x="0" y="-9525"/>
              <a:ext cx="9418320" cy="649605"/>
            </a:xfrm>
            <a:prstGeom prst="rect">
              <a:avLst/>
            </a:prstGeom>
          </p:spPr>
          <p:txBody>
            <a:bodyPr anchor="ctr" rtlCol="false" tIns="0" lIns="0" bIns="0" rIns="0"/>
            <a:lstStyle/>
            <a:p>
              <a:pPr algn="ctr">
                <a:lnSpc>
                  <a:spcPts val="1980"/>
                </a:lnSpc>
              </a:pPr>
              <a:r>
                <a:rPr lang="en-US" b="true" sz="1650" spc="225">
                  <a:solidFill>
                    <a:srgbClr val="A8322D"/>
                  </a:solidFill>
                  <a:latin typeface="Poppins Bold"/>
                  <a:ea typeface="Poppins Bold"/>
                  <a:cs typeface="Poppins Bold"/>
                  <a:sym typeface="Poppins Bold"/>
                </a:rPr>
                <a:t>FLAT TABLE</a:t>
              </a:r>
            </a:p>
          </p:txBody>
        </p:sp>
      </p:grpSp>
      <p:grpSp>
        <p:nvGrpSpPr>
          <p:cNvPr name="Group 18" id="18"/>
          <p:cNvGrpSpPr/>
          <p:nvPr/>
        </p:nvGrpSpPr>
        <p:grpSpPr>
          <a:xfrm rot="0">
            <a:off x="866775" y="3599407"/>
            <a:ext cx="7063740" cy="1714500"/>
            <a:chOff x="0" y="0"/>
            <a:chExt cx="9418320" cy="2286000"/>
          </a:xfrm>
        </p:grpSpPr>
        <p:sp>
          <p:nvSpPr>
            <p:cNvPr name="Freeform 19" id="19"/>
            <p:cNvSpPr/>
            <p:nvPr/>
          </p:nvSpPr>
          <p:spPr>
            <a:xfrm flipH="false" flipV="false" rot="0">
              <a:off x="0" y="0"/>
              <a:ext cx="9418320" cy="2286000"/>
            </a:xfrm>
            <a:custGeom>
              <a:avLst/>
              <a:gdLst/>
              <a:ahLst/>
              <a:cxnLst/>
              <a:rect r="r" b="b" t="t" l="l"/>
              <a:pathLst>
                <a:path h="2286000" w="9418320">
                  <a:moveTo>
                    <a:pt x="0" y="0"/>
                  </a:moveTo>
                  <a:lnTo>
                    <a:pt x="9418320" y="0"/>
                  </a:lnTo>
                  <a:lnTo>
                    <a:pt x="9418320" y="2286000"/>
                  </a:lnTo>
                  <a:lnTo>
                    <a:pt x="0" y="2286000"/>
                  </a:lnTo>
                  <a:close/>
                </a:path>
              </a:pathLst>
            </a:custGeom>
            <a:blipFill>
              <a:blip r:embed="rId9">
                <a:alphaModFix amt="0"/>
              </a:blip>
              <a:stretch>
                <a:fillRect l="0" t="-30278" r="0" b="-30278"/>
              </a:stretch>
            </a:blipFill>
          </p:spPr>
        </p:sp>
        <p:sp>
          <p:nvSpPr>
            <p:cNvPr name="TextBox 20" id="20"/>
            <p:cNvSpPr txBox="true"/>
            <p:nvPr/>
          </p:nvSpPr>
          <p:spPr>
            <a:xfrm>
              <a:off x="0" y="-76200"/>
              <a:ext cx="9418320" cy="2362200"/>
            </a:xfrm>
            <a:prstGeom prst="rect">
              <a:avLst/>
            </a:prstGeom>
          </p:spPr>
          <p:txBody>
            <a:bodyPr anchor="ctr" rtlCol="false" tIns="0" lIns="0" bIns="0" rIns="0"/>
            <a:lstStyle/>
            <a:p>
              <a:pPr algn="ctr">
                <a:lnSpc>
                  <a:spcPts val="9720"/>
                </a:lnSpc>
              </a:pPr>
              <a:r>
                <a:rPr lang="en-US" sz="8100" b="true">
                  <a:solidFill>
                    <a:srgbClr val="A8322D"/>
                  </a:solidFill>
                  <a:latin typeface="Poppins Bold"/>
                  <a:ea typeface="Poppins Bold"/>
                  <a:cs typeface="Poppins Bold"/>
                  <a:sym typeface="Poppins Bold"/>
                </a:rPr>
                <a:t>41,280</a:t>
              </a:r>
            </a:p>
          </p:txBody>
        </p:sp>
      </p:grpSp>
      <p:grpSp>
        <p:nvGrpSpPr>
          <p:cNvPr name="Group 21" id="21"/>
          <p:cNvGrpSpPr/>
          <p:nvPr/>
        </p:nvGrpSpPr>
        <p:grpSpPr>
          <a:xfrm rot="0">
            <a:off x="866775" y="5245327"/>
            <a:ext cx="7063740" cy="754380"/>
            <a:chOff x="0" y="0"/>
            <a:chExt cx="9418320" cy="1005840"/>
          </a:xfrm>
        </p:grpSpPr>
        <p:sp>
          <p:nvSpPr>
            <p:cNvPr name="Freeform 22" id="22"/>
            <p:cNvSpPr/>
            <p:nvPr/>
          </p:nvSpPr>
          <p:spPr>
            <a:xfrm flipH="false" flipV="false" rot="0">
              <a:off x="0" y="0"/>
              <a:ext cx="9418320" cy="1005840"/>
            </a:xfrm>
            <a:custGeom>
              <a:avLst/>
              <a:gdLst/>
              <a:ahLst/>
              <a:cxnLst/>
              <a:rect r="r" b="b" t="t" l="l"/>
              <a:pathLst>
                <a:path h="1005840" w="9418320">
                  <a:moveTo>
                    <a:pt x="0" y="0"/>
                  </a:moveTo>
                  <a:lnTo>
                    <a:pt x="9418320" y="0"/>
                  </a:lnTo>
                  <a:lnTo>
                    <a:pt x="9418320" y="1005840"/>
                  </a:lnTo>
                  <a:lnTo>
                    <a:pt x="0" y="1005840"/>
                  </a:lnTo>
                  <a:close/>
                </a:path>
              </a:pathLst>
            </a:custGeom>
            <a:blipFill>
              <a:blip r:embed="rId9">
                <a:alphaModFix amt="0"/>
              </a:blip>
              <a:stretch>
                <a:fillRect l="0" t="-132450" r="0" b="-132450"/>
              </a:stretch>
            </a:blipFill>
          </p:spPr>
        </p:sp>
        <p:sp>
          <p:nvSpPr>
            <p:cNvPr name="TextBox 23" id="23"/>
            <p:cNvSpPr txBox="true"/>
            <p:nvPr/>
          </p:nvSpPr>
          <p:spPr>
            <a:xfrm>
              <a:off x="0" y="-66675"/>
              <a:ext cx="9418320" cy="1072515"/>
            </a:xfrm>
            <a:prstGeom prst="rect">
              <a:avLst/>
            </a:prstGeom>
          </p:spPr>
          <p:txBody>
            <a:bodyPr anchor="ctr" rtlCol="false" tIns="0" lIns="0" bIns="0" rIns="0"/>
            <a:lstStyle/>
            <a:p>
              <a:pPr algn="ctr">
                <a:lnSpc>
                  <a:spcPts val="2808"/>
                </a:lnSpc>
              </a:pPr>
              <a:r>
                <a:rPr lang="en-US" sz="1950">
                  <a:solidFill>
                    <a:srgbClr val="64748B"/>
                  </a:solidFill>
                  <a:latin typeface="Poppins"/>
                  <a:ea typeface="Poppins"/>
                  <a:cs typeface="Poppins"/>
                  <a:sym typeface="Poppins"/>
                </a:rPr>
                <a:t>Correct answer to a question nobody asked</a:t>
              </a:r>
            </a:p>
          </p:txBody>
        </p:sp>
      </p:grpSp>
      <p:grpSp>
        <p:nvGrpSpPr>
          <p:cNvPr name="Group 24" id="24"/>
          <p:cNvGrpSpPr/>
          <p:nvPr/>
        </p:nvGrpSpPr>
        <p:grpSpPr>
          <a:xfrm rot="0">
            <a:off x="8547735" y="2707867"/>
            <a:ext cx="7063740" cy="3429000"/>
            <a:chOff x="0" y="0"/>
            <a:chExt cx="9418320" cy="4572000"/>
          </a:xfrm>
        </p:grpSpPr>
        <p:sp>
          <p:nvSpPr>
            <p:cNvPr name="Freeform 25" id="25"/>
            <p:cNvSpPr/>
            <p:nvPr/>
          </p:nvSpPr>
          <p:spPr>
            <a:xfrm flipH="false" flipV="false" rot="0">
              <a:off x="0" y="0"/>
              <a:ext cx="9418320" cy="4572000"/>
            </a:xfrm>
            <a:custGeom>
              <a:avLst/>
              <a:gdLst/>
              <a:ahLst/>
              <a:cxnLst/>
              <a:rect r="r" b="b" t="t" l="l"/>
              <a:pathLst>
                <a:path h="4572000" w="9418320">
                  <a:moveTo>
                    <a:pt x="0" y="182880"/>
                  </a:moveTo>
                  <a:cubicBezTo>
                    <a:pt x="0" y="81915"/>
                    <a:pt x="81915" y="0"/>
                    <a:pt x="182880" y="0"/>
                  </a:cubicBezTo>
                  <a:lnTo>
                    <a:pt x="9235440" y="0"/>
                  </a:lnTo>
                  <a:cubicBezTo>
                    <a:pt x="9336405" y="0"/>
                    <a:pt x="9418320" y="81915"/>
                    <a:pt x="9418320" y="182880"/>
                  </a:cubicBezTo>
                  <a:lnTo>
                    <a:pt x="9418320" y="4389120"/>
                  </a:lnTo>
                  <a:cubicBezTo>
                    <a:pt x="9418320" y="4490085"/>
                    <a:pt x="9336405" y="4572000"/>
                    <a:pt x="9235440" y="4572000"/>
                  </a:cubicBezTo>
                  <a:lnTo>
                    <a:pt x="182880" y="4572000"/>
                  </a:lnTo>
                  <a:cubicBezTo>
                    <a:pt x="81915" y="4572000"/>
                    <a:pt x="0" y="4490085"/>
                    <a:pt x="0" y="4389120"/>
                  </a:cubicBezTo>
                  <a:close/>
                </a:path>
              </a:pathLst>
            </a:custGeom>
            <a:solidFill>
              <a:srgbClr val="FFFFFF"/>
            </a:solidFill>
          </p:spPr>
        </p:sp>
      </p:grpSp>
      <p:grpSp>
        <p:nvGrpSpPr>
          <p:cNvPr name="Group 26" id="26"/>
          <p:cNvGrpSpPr/>
          <p:nvPr/>
        </p:nvGrpSpPr>
        <p:grpSpPr>
          <a:xfrm rot="0">
            <a:off x="8547735" y="2707867"/>
            <a:ext cx="7063740" cy="123444"/>
            <a:chOff x="0" y="0"/>
            <a:chExt cx="9418320" cy="164592"/>
          </a:xfrm>
        </p:grpSpPr>
        <p:sp>
          <p:nvSpPr>
            <p:cNvPr name="Freeform 27" id="27"/>
            <p:cNvSpPr/>
            <p:nvPr/>
          </p:nvSpPr>
          <p:spPr>
            <a:xfrm flipH="false" flipV="false" rot="0">
              <a:off x="0" y="0"/>
              <a:ext cx="9418320" cy="164592"/>
            </a:xfrm>
            <a:custGeom>
              <a:avLst/>
              <a:gdLst/>
              <a:ahLst/>
              <a:cxnLst/>
              <a:rect r="r" b="b" t="t" l="l"/>
              <a:pathLst>
                <a:path h="164592" w="9418320">
                  <a:moveTo>
                    <a:pt x="0" y="0"/>
                  </a:moveTo>
                  <a:lnTo>
                    <a:pt x="9418320" y="0"/>
                  </a:lnTo>
                  <a:lnTo>
                    <a:pt x="9418320" y="164592"/>
                  </a:lnTo>
                  <a:lnTo>
                    <a:pt x="0" y="164592"/>
                  </a:lnTo>
                  <a:close/>
                </a:path>
              </a:pathLst>
            </a:custGeom>
            <a:solidFill>
              <a:srgbClr val="387F7F"/>
            </a:solidFill>
          </p:spPr>
        </p:sp>
      </p:grpSp>
      <p:grpSp>
        <p:nvGrpSpPr>
          <p:cNvPr name="Group 28" id="28"/>
          <p:cNvGrpSpPr/>
          <p:nvPr/>
        </p:nvGrpSpPr>
        <p:grpSpPr>
          <a:xfrm rot="0">
            <a:off x="8547735" y="3050767"/>
            <a:ext cx="7063740" cy="480060"/>
            <a:chOff x="0" y="0"/>
            <a:chExt cx="9418320" cy="640080"/>
          </a:xfrm>
        </p:grpSpPr>
        <p:sp>
          <p:nvSpPr>
            <p:cNvPr name="Freeform 29" id="29"/>
            <p:cNvSpPr/>
            <p:nvPr/>
          </p:nvSpPr>
          <p:spPr>
            <a:xfrm flipH="false" flipV="false" rot="0">
              <a:off x="0" y="0"/>
              <a:ext cx="9418320" cy="640080"/>
            </a:xfrm>
            <a:custGeom>
              <a:avLst/>
              <a:gdLst/>
              <a:ahLst/>
              <a:cxnLst/>
              <a:rect r="r" b="b" t="t" l="l"/>
              <a:pathLst>
                <a:path h="640080" w="9418320">
                  <a:moveTo>
                    <a:pt x="0" y="0"/>
                  </a:moveTo>
                  <a:lnTo>
                    <a:pt x="9418320" y="0"/>
                  </a:lnTo>
                  <a:lnTo>
                    <a:pt x="9418320" y="640080"/>
                  </a:lnTo>
                  <a:lnTo>
                    <a:pt x="0" y="640080"/>
                  </a:lnTo>
                  <a:close/>
                </a:path>
              </a:pathLst>
            </a:custGeom>
            <a:blipFill>
              <a:blip r:embed="rId9">
                <a:alphaModFix amt="0"/>
              </a:blip>
              <a:stretch>
                <a:fillRect l="0" t="-236708" r="0" b="-236708"/>
              </a:stretch>
            </a:blipFill>
          </p:spPr>
        </p:sp>
        <p:sp>
          <p:nvSpPr>
            <p:cNvPr name="TextBox 30" id="30"/>
            <p:cNvSpPr txBox="true"/>
            <p:nvPr/>
          </p:nvSpPr>
          <p:spPr>
            <a:xfrm>
              <a:off x="0" y="-9525"/>
              <a:ext cx="9418320" cy="649605"/>
            </a:xfrm>
            <a:prstGeom prst="rect">
              <a:avLst/>
            </a:prstGeom>
          </p:spPr>
          <p:txBody>
            <a:bodyPr anchor="ctr" rtlCol="false" tIns="0" lIns="0" bIns="0" rIns="0"/>
            <a:lstStyle/>
            <a:p>
              <a:pPr algn="ctr">
                <a:lnSpc>
                  <a:spcPts val="1980"/>
                </a:lnSpc>
              </a:pPr>
              <a:r>
                <a:rPr lang="en-US" b="true" sz="1650" spc="225">
                  <a:solidFill>
                    <a:srgbClr val="387F7F"/>
                  </a:solidFill>
                  <a:latin typeface="Poppins Bold"/>
                  <a:ea typeface="Poppins Bold"/>
                  <a:cs typeface="Poppins Bold"/>
                  <a:sym typeface="Poppins Bold"/>
                </a:rPr>
                <a:t>STAR SCHEMA</a:t>
              </a:r>
            </a:p>
          </p:txBody>
        </p:sp>
      </p:grpSp>
      <p:grpSp>
        <p:nvGrpSpPr>
          <p:cNvPr name="Group 31" id="31"/>
          <p:cNvGrpSpPr/>
          <p:nvPr/>
        </p:nvGrpSpPr>
        <p:grpSpPr>
          <a:xfrm rot="0">
            <a:off x="8547735" y="3599407"/>
            <a:ext cx="7063740" cy="1714500"/>
            <a:chOff x="0" y="0"/>
            <a:chExt cx="9418320" cy="2286000"/>
          </a:xfrm>
        </p:grpSpPr>
        <p:sp>
          <p:nvSpPr>
            <p:cNvPr name="Freeform 32" id="32"/>
            <p:cNvSpPr/>
            <p:nvPr/>
          </p:nvSpPr>
          <p:spPr>
            <a:xfrm flipH="false" flipV="false" rot="0">
              <a:off x="0" y="0"/>
              <a:ext cx="9418320" cy="2286000"/>
            </a:xfrm>
            <a:custGeom>
              <a:avLst/>
              <a:gdLst/>
              <a:ahLst/>
              <a:cxnLst/>
              <a:rect r="r" b="b" t="t" l="l"/>
              <a:pathLst>
                <a:path h="2286000" w="9418320">
                  <a:moveTo>
                    <a:pt x="0" y="0"/>
                  </a:moveTo>
                  <a:lnTo>
                    <a:pt x="9418320" y="0"/>
                  </a:lnTo>
                  <a:lnTo>
                    <a:pt x="9418320" y="2286000"/>
                  </a:lnTo>
                  <a:lnTo>
                    <a:pt x="0" y="2286000"/>
                  </a:lnTo>
                  <a:close/>
                </a:path>
              </a:pathLst>
            </a:custGeom>
            <a:blipFill>
              <a:blip r:embed="rId9">
                <a:alphaModFix amt="0"/>
              </a:blip>
              <a:stretch>
                <a:fillRect l="0" t="-30278" r="0" b="-30278"/>
              </a:stretch>
            </a:blipFill>
          </p:spPr>
        </p:sp>
        <p:sp>
          <p:nvSpPr>
            <p:cNvPr name="TextBox 33" id="33"/>
            <p:cNvSpPr txBox="true"/>
            <p:nvPr/>
          </p:nvSpPr>
          <p:spPr>
            <a:xfrm>
              <a:off x="0" y="-76200"/>
              <a:ext cx="9418320" cy="2362200"/>
            </a:xfrm>
            <a:prstGeom prst="rect">
              <a:avLst/>
            </a:prstGeom>
          </p:spPr>
          <p:txBody>
            <a:bodyPr anchor="ctr" rtlCol="false" tIns="0" lIns="0" bIns="0" rIns="0"/>
            <a:lstStyle/>
            <a:p>
              <a:pPr algn="ctr">
                <a:lnSpc>
                  <a:spcPts val="9720"/>
                </a:lnSpc>
              </a:pPr>
              <a:r>
                <a:rPr lang="en-US" sz="8100" b="true">
                  <a:solidFill>
                    <a:srgbClr val="387F7F"/>
                  </a:solidFill>
                  <a:latin typeface="Poppins Bold"/>
                  <a:ea typeface="Poppins Bold"/>
                  <a:cs typeface="Poppins Bold"/>
                  <a:sym typeface="Poppins Bold"/>
                </a:rPr>
                <a:t>68</a:t>
              </a:r>
            </a:p>
          </p:txBody>
        </p:sp>
      </p:grpSp>
      <p:grpSp>
        <p:nvGrpSpPr>
          <p:cNvPr name="Group 34" id="34"/>
          <p:cNvGrpSpPr/>
          <p:nvPr/>
        </p:nvGrpSpPr>
        <p:grpSpPr>
          <a:xfrm rot="0">
            <a:off x="8547735" y="5245327"/>
            <a:ext cx="7063740" cy="754380"/>
            <a:chOff x="0" y="0"/>
            <a:chExt cx="9418320" cy="1005840"/>
          </a:xfrm>
        </p:grpSpPr>
        <p:sp>
          <p:nvSpPr>
            <p:cNvPr name="Freeform 35" id="35"/>
            <p:cNvSpPr/>
            <p:nvPr/>
          </p:nvSpPr>
          <p:spPr>
            <a:xfrm flipH="false" flipV="false" rot="0">
              <a:off x="0" y="0"/>
              <a:ext cx="9418320" cy="1005840"/>
            </a:xfrm>
            <a:custGeom>
              <a:avLst/>
              <a:gdLst/>
              <a:ahLst/>
              <a:cxnLst/>
              <a:rect r="r" b="b" t="t" l="l"/>
              <a:pathLst>
                <a:path h="1005840" w="9418320">
                  <a:moveTo>
                    <a:pt x="0" y="0"/>
                  </a:moveTo>
                  <a:lnTo>
                    <a:pt x="9418320" y="0"/>
                  </a:lnTo>
                  <a:lnTo>
                    <a:pt x="9418320" y="1005840"/>
                  </a:lnTo>
                  <a:lnTo>
                    <a:pt x="0" y="1005840"/>
                  </a:lnTo>
                  <a:close/>
                </a:path>
              </a:pathLst>
            </a:custGeom>
            <a:blipFill>
              <a:blip r:embed="rId9">
                <a:alphaModFix amt="0"/>
              </a:blip>
              <a:stretch>
                <a:fillRect l="0" t="-132450" r="0" b="-132450"/>
              </a:stretch>
            </a:blipFill>
          </p:spPr>
        </p:sp>
        <p:sp>
          <p:nvSpPr>
            <p:cNvPr name="TextBox 36" id="36"/>
            <p:cNvSpPr txBox="true"/>
            <p:nvPr/>
          </p:nvSpPr>
          <p:spPr>
            <a:xfrm>
              <a:off x="0" y="-66675"/>
              <a:ext cx="9418320" cy="1072515"/>
            </a:xfrm>
            <a:prstGeom prst="rect">
              <a:avLst/>
            </a:prstGeom>
          </p:spPr>
          <p:txBody>
            <a:bodyPr anchor="ctr" rtlCol="false" tIns="0" lIns="0" bIns="0" rIns="0"/>
            <a:lstStyle/>
            <a:p>
              <a:pPr algn="ctr">
                <a:lnSpc>
                  <a:spcPts val="2808"/>
                </a:lnSpc>
              </a:pPr>
              <a:r>
                <a:rPr lang="en-US" sz="1950">
                  <a:solidFill>
                    <a:srgbClr val="64748B"/>
                  </a:solidFill>
                  <a:latin typeface="Poppins"/>
                  <a:ea typeface="Poppins"/>
                  <a:cs typeface="Poppins"/>
                  <a:sym typeface="Poppins"/>
                </a:rPr>
                <a:t>The riders dimension has 68 rows, so counting it counts riders</a:t>
              </a:r>
            </a:p>
          </p:txBody>
        </p:sp>
      </p:grpSp>
      <p:sp>
        <p:nvSpPr>
          <p:cNvPr name="TextBox 37" id="37"/>
          <p:cNvSpPr txBox="true"/>
          <p:nvPr/>
        </p:nvSpPr>
        <p:spPr>
          <a:xfrm rot="0">
            <a:off x="866775" y="6374992"/>
            <a:ext cx="14744700" cy="1339215"/>
          </a:xfrm>
          <a:prstGeom prst="rect">
            <a:avLst/>
          </a:prstGeom>
        </p:spPr>
        <p:txBody>
          <a:bodyPr anchor="t" rtlCol="false" tIns="0" lIns="0" bIns="0" rIns="0">
            <a:spAutoFit/>
          </a:bodyPr>
          <a:lstStyle/>
          <a:p>
            <a:pPr algn="l">
              <a:lnSpc>
                <a:spcPts val="3510"/>
              </a:lnSpc>
            </a:pPr>
            <a:r>
              <a:rPr lang="en-US" sz="2250">
                <a:solidFill>
                  <a:srgbClr val="475569"/>
                </a:solidFill>
                <a:latin typeface="Poppins"/>
                <a:ea typeface="Poppins"/>
                <a:cs typeface="Poppins"/>
                <a:sym typeface="Poppins"/>
              </a:rPr>
              <a:t>Notice what did not change. The data is identical. The visual is identical. The only thing that changed is which table the count is drawn from, and that was decided by the model, not by the chart.</a:t>
            </a:r>
          </a:p>
        </p:txBody>
      </p:sp>
      <p:grpSp>
        <p:nvGrpSpPr>
          <p:cNvPr name="Group 38" id="38"/>
          <p:cNvGrpSpPr/>
          <p:nvPr/>
        </p:nvGrpSpPr>
        <p:grpSpPr>
          <a:xfrm rot="0">
            <a:off x="866775" y="7919947"/>
            <a:ext cx="14744700" cy="1440180"/>
            <a:chOff x="0" y="0"/>
            <a:chExt cx="19659600" cy="1920240"/>
          </a:xfrm>
        </p:grpSpPr>
        <p:sp>
          <p:nvSpPr>
            <p:cNvPr name="Freeform 39" id="39"/>
            <p:cNvSpPr/>
            <p:nvPr/>
          </p:nvSpPr>
          <p:spPr>
            <a:xfrm flipH="false" flipV="false" rot="0">
              <a:off x="0" y="0"/>
              <a:ext cx="19659600" cy="1920240"/>
            </a:xfrm>
            <a:custGeom>
              <a:avLst/>
              <a:gdLst/>
              <a:ahLst/>
              <a:cxnLst/>
              <a:rect r="r" b="b" t="t" l="l"/>
              <a:pathLst>
                <a:path h="1920240" w="19659600">
                  <a:moveTo>
                    <a:pt x="0" y="164592"/>
                  </a:moveTo>
                  <a:cubicBezTo>
                    <a:pt x="0" y="73660"/>
                    <a:pt x="73660" y="0"/>
                    <a:pt x="164592" y="0"/>
                  </a:cubicBezTo>
                  <a:lnTo>
                    <a:pt x="19495008" y="0"/>
                  </a:lnTo>
                  <a:cubicBezTo>
                    <a:pt x="19585939" y="0"/>
                    <a:pt x="19659600" y="73660"/>
                    <a:pt x="19659600" y="164592"/>
                  </a:cubicBezTo>
                  <a:lnTo>
                    <a:pt x="19659600" y="1755648"/>
                  </a:lnTo>
                  <a:cubicBezTo>
                    <a:pt x="19659600" y="1846580"/>
                    <a:pt x="19585939" y="1920240"/>
                    <a:pt x="19495008" y="1920240"/>
                  </a:cubicBezTo>
                  <a:lnTo>
                    <a:pt x="164592" y="1920240"/>
                  </a:lnTo>
                  <a:cubicBezTo>
                    <a:pt x="73660" y="1920240"/>
                    <a:pt x="0" y="1846580"/>
                    <a:pt x="0" y="1755648"/>
                  </a:cubicBezTo>
                  <a:close/>
                </a:path>
              </a:pathLst>
            </a:custGeom>
            <a:solidFill>
              <a:srgbClr val="EEF4F4"/>
            </a:solidFill>
          </p:spPr>
        </p:sp>
      </p:grpSp>
      <p:grpSp>
        <p:nvGrpSpPr>
          <p:cNvPr name="Group 40" id="40"/>
          <p:cNvGrpSpPr/>
          <p:nvPr/>
        </p:nvGrpSpPr>
        <p:grpSpPr>
          <a:xfrm rot="0">
            <a:off x="866775" y="7919947"/>
            <a:ext cx="102870" cy="1440180"/>
            <a:chOff x="0" y="0"/>
            <a:chExt cx="137160" cy="1920240"/>
          </a:xfrm>
        </p:grpSpPr>
        <p:sp>
          <p:nvSpPr>
            <p:cNvPr name="Freeform 41" id="41"/>
            <p:cNvSpPr/>
            <p:nvPr/>
          </p:nvSpPr>
          <p:spPr>
            <a:xfrm flipH="false" flipV="false" rot="0">
              <a:off x="0" y="0"/>
              <a:ext cx="137160" cy="1920240"/>
            </a:xfrm>
            <a:custGeom>
              <a:avLst/>
              <a:gdLst/>
              <a:ahLst/>
              <a:cxnLst/>
              <a:rect r="r" b="b" t="t" l="l"/>
              <a:pathLst>
                <a:path h="1920240" w="137160">
                  <a:moveTo>
                    <a:pt x="0" y="0"/>
                  </a:moveTo>
                  <a:lnTo>
                    <a:pt x="137160" y="0"/>
                  </a:lnTo>
                  <a:lnTo>
                    <a:pt x="137160" y="1920240"/>
                  </a:lnTo>
                  <a:lnTo>
                    <a:pt x="0" y="1920240"/>
                  </a:lnTo>
                  <a:close/>
                </a:path>
              </a:pathLst>
            </a:custGeom>
            <a:solidFill>
              <a:srgbClr val="387F7F"/>
            </a:solidFill>
          </p:spPr>
        </p:sp>
      </p:grpSp>
      <p:grpSp>
        <p:nvGrpSpPr>
          <p:cNvPr name="Group 42" id="42"/>
          <p:cNvGrpSpPr/>
          <p:nvPr/>
        </p:nvGrpSpPr>
        <p:grpSpPr>
          <a:xfrm rot="0">
            <a:off x="1415415" y="7919947"/>
            <a:ext cx="13853160" cy="1440180"/>
            <a:chOff x="0" y="0"/>
            <a:chExt cx="18470880" cy="1920240"/>
          </a:xfrm>
        </p:grpSpPr>
        <p:sp>
          <p:nvSpPr>
            <p:cNvPr name="Freeform 43" id="43"/>
            <p:cNvSpPr/>
            <p:nvPr/>
          </p:nvSpPr>
          <p:spPr>
            <a:xfrm flipH="false" flipV="false" rot="0">
              <a:off x="0" y="0"/>
              <a:ext cx="18470880" cy="1920240"/>
            </a:xfrm>
            <a:custGeom>
              <a:avLst/>
              <a:gdLst/>
              <a:ahLst/>
              <a:cxnLst/>
              <a:rect r="r" b="b" t="t" l="l"/>
              <a:pathLst>
                <a:path h="1920240" w="18470880">
                  <a:moveTo>
                    <a:pt x="0" y="0"/>
                  </a:moveTo>
                  <a:lnTo>
                    <a:pt x="18470880" y="0"/>
                  </a:lnTo>
                  <a:lnTo>
                    <a:pt x="18470880" y="1920240"/>
                  </a:lnTo>
                  <a:lnTo>
                    <a:pt x="0" y="1920240"/>
                  </a:lnTo>
                  <a:close/>
                </a:path>
              </a:pathLst>
            </a:custGeom>
            <a:blipFill>
              <a:blip r:embed="rId9">
                <a:alphaModFix amt="0"/>
              </a:blip>
              <a:stretch>
                <a:fillRect l="0" t="-137427" r="0" b="-137427"/>
              </a:stretch>
            </a:blipFill>
          </p:spPr>
        </p:sp>
        <p:sp>
          <p:nvSpPr>
            <p:cNvPr name="TextBox 44" id="44"/>
            <p:cNvSpPr txBox="true"/>
            <p:nvPr/>
          </p:nvSpPr>
          <p:spPr>
            <a:xfrm>
              <a:off x="0" y="-133350"/>
              <a:ext cx="18470880" cy="2053590"/>
            </a:xfrm>
            <a:prstGeom prst="rect">
              <a:avLst/>
            </a:prstGeom>
          </p:spPr>
          <p:txBody>
            <a:bodyPr anchor="ctr" rtlCol="false" tIns="0" lIns="0" bIns="0" rIns="0"/>
            <a:lstStyle/>
            <a:p>
              <a:pPr algn="l">
                <a:lnSpc>
                  <a:spcPts val="4009"/>
                </a:lnSpc>
              </a:pPr>
              <a:r>
                <a:rPr lang="en-US" sz="2475" b="true">
                  <a:solidFill>
                    <a:srgbClr val="387F7F"/>
                  </a:solidFill>
                  <a:latin typeface="Poppins Bold"/>
                  <a:ea typeface="Poppins Bold"/>
                  <a:cs typeface="Poppins Bold"/>
                  <a:sym typeface="Poppins Bold"/>
                </a:rPr>
                <a:t>The model is where correctness lives. The chart just shows you what the model believes.</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4136529"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Bu</a:t>
            </a:r>
            <a:r>
              <a:rPr lang="en-US" sz="5000">
                <a:solidFill>
                  <a:srgbClr val="388080"/>
                </a:solidFill>
                <a:latin typeface="Poppins"/>
                <a:ea typeface="Poppins"/>
                <a:cs typeface="Poppins"/>
                <a:sym typeface="Poppins"/>
              </a:rPr>
              <a:t>ild the star</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143000" y="1571625"/>
            <a:ext cx="8229600" cy="440893"/>
            <a:chOff x="0" y="0"/>
            <a:chExt cx="10972800" cy="587858"/>
          </a:xfrm>
        </p:grpSpPr>
        <p:sp>
          <p:nvSpPr>
            <p:cNvPr name="Freeform 12" id="12"/>
            <p:cNvSpPr/>
            <p:nvPr/>
          </p:nvSpPr>
          <p:spPr>
            <a:xfrm flipH="false" flipV="false" rot="0">
              <a:off x="0" y="0"/>
              <a:ext cx="10972800" cy="587858"/>
            </a:xfrm>
            <a:custGeom>
              <a:avLst/>
              <a:gdLst/>
              <a:ahLst/>
              <a:cxnLst/>
              <a:rect r="r" b="b" t="t" l="l"/>
              <a:pathLst>
                <a:path h="587858" w="10972800">
                  <a:moveTo>
                    <a:pt x="0" y="0"/>
                  </a:moveTo>
                  <a:lnTo>
                    <a:pt x="10972800" y="0"/>
                  </a:lnTo>
                  <a:lnTo>
                    <a:pt x="10972800" y="587858"/>
                  </a:lnTo>
                  <a:lnTo>
                    <a:pt x="0" y="587858"/>
                  </a:lnTo>
                  <a:close/>
                </a:path>
              </a:pathLst>
            </a:custGeom>
            <a:blipFill>
              <a:blip r:embed="rId9">
                <a:alphaModFix amt="0"/>
              </a:blip>
              <a:stretch>
                <a:fillRect l="0" t="-313927" r="0" b="-313478"/>
              </a:stretch>
            </a:blipFill>
          </p:spPr>
        </p:sp>
        <p:sp>
          <p:nvSpPr>
            <p:cNvPr name="TextBox 13" id="13"/>
            <p:cNvSpPr txBox="true"/>
            <p:nvPr/>
          </p:nvSpPr>
          <p:spPr>
            <a:xfrm>
              <a:off x="0" y="-19050"/>
              <a:ext cx="10972800" cy="606908"/>
            </a:xfrm>
            <a:prstGeom prst="rect">
              <a:avLst/>
            </a:prstGeom>
          </p:spPr>
          <p:txBody>
            <a:bodyPr anchor="ctr" rtlCol="false" tIns="0" lIns="0" bIns="0" rIns="0"/>
            <a:lstStyle/>
            <a:p>
              <a:pPr algn="l">
                <a:lnSpc>
                  <a:spcPts val="2160"/>
                </a:lnSpc>
              </a:pPr>
              <a:r>
                <a:rPr lang="en-US" b="true" sz="1800" spc="300">
                  <a:solidFill>
                    <a:srgbClr val="8FBEBE"/>
                  </a:solidFill>
                  <a:latin typeface="Poppins Bold"/>
                  <a:ea typeface="Poppins Bold"/>
                  <a:cs typeface="Poppins Bold"/>
                  <a:sym typeface="Poppins Bold"/>
                </a:rPr>
                <a:t>YOUR TURN</a:t>
              </a:r>
            </a:p>
          </p:txBody>
        </p:sp>
      </p:grpSp>
      <p:grpSp>
        <p:nvGrpSpPr>
          <p:cNvPr name="Group 14" id="14"/>
          <p:cNvGrpSpPr/>
          <p:nvPr/>
        </p:nvGrpSpPr>
        <p:grpSpPr>
          <a:xfrm rot="0">
            <a:off x="871842" y="3095625"/>
            <a:ext cx="15636240" cy="2194560"/>
            <a:chOff x="0" y="0"/>
            <a:chExt cx="20848320" cy="2926080"/>
          </a:xfrm>
        </p:grpSpPr>
        <p:sp>
          <p:nvSpPr>
            <p:cNvPr name="Freeform 15" id="15"/>
            <p:cNvSpPr/>
            <p:nvPr/>
          </p:nvSpPr>
          <p:spPr>
            <a:xfrm flipH="false" flipV="false" rot="0">
              <a:off x="0" y="0"/>
              <a:ext cx="20848320" cy="2926080"/>
            </a:xfrm>
            <a:custGeom>
              <a:avLst/>
              <a:gdLst/>
              <a:ahLst/>
              <a:cxnLst/>
              <a:rect r="r" b="b" t="t" l="l"/>
              <a:pathLst>
                <a:path h="2926080" w="20848320">
                  <a:moveTo>
                    <a:pt x="0" y="164592"/>
                  </a:moveTo>
                  <a:cubicBezTo>
                    <a:pt x="0" y="73660"/>
                    <a:pt x="73660" y="0"/>
                    <a:pt x="164592" y="0"/>
                  </a:cubicBezTo>
                  <a:lnTo>
                    <a:pt x="20683728" y="0"/>
                  </a:lnTo>
                  <a:cubicBezTo>
                    <a:pt x="20774661" y="0"/>
                    <a:pt x="20848320" y="73660"/>
                    <a:pt x="20848320" y="164592"/>
                  </a:cubicBezTo>
                  <a:lnTo>
                    <a:pt x="20848320" y="2761488"/>
                  </a:lnTo>
                  <a:cubicBezTo>
                    <a:pt x="20848320" y="2852420"/>
                    <a:pt x="20774661" y="2926080"/>
                    <a:pt x="20683728" y="2926080"/>
                  </a:cubicBezTo>
                  <a:lnTo>
                    <a:pt x="164592" y="2926080"/>
                  </a:lnTo>
                  <a:cubicBezTo>
                    <a:pt x="73660" y="2926080"/>
                    <a:pt x="0" y="2852420"/>
                    <a:pt x="0" y="2761488"/>
                  </a:cubicBezTo>
                  <a:close/>
                </a:path>
              </a:pathLst>
            </a:custGeom>
            <a:solidFill>
              <a:srgbClr val="FFFFFF"/>
            </a:solidFill>
          </p:spPr>
        </p:sp>
      </p:grpSp>
      <p:grpSp>
        <p:nvGrpSpPr>
          <p:cNvPr name="Group 16" id="16"/>
          <p:cNvGrpSpPr/>
          <p:nvPr/>
        </p:nvGrpSpPr>
        <p:grpSpPr>
          <a:xfrm rot="0">
            <a:off x="871842" y="3095625"/>
            <a:ext cx="123444" cy="2194560"/>
            <a:chOff x="0" y="0"/>
            <a:chExt cx="164592" cy="2926080"/>
          </a:xfrm>
        </p:grpSpPr>
        <p:sp>
          <p:nvSpPr>
            <p:cNvPr name="Freeform 17" id="17"/>
            <p:cNvSpPr/>
            <p:nvPr/>
          </p:nvSpPr>
          <p:spPr>
            <a:xfrm flipH="false" flipV="false" rot="0">
              <a:off x="0" y="0"/>
              <a:ext cx="164592" cy="2926080"/>
            </a:xfrm>
            <a:custGeom>
              <a:avLst/>
              <a:gdLst/>
              <a:ahLst/>
              <a:cxnLst/>
              <a:rect r="r" b="b" t="t" l="l"/>
              <a:pathLst>
                <a:path h="2926080" w="164592">
                  <a:moveTo>
                    <a:pt x="0" y="0"/>
                  </a:moveTo>
                  <a:lnTo>
                    <a:pt x="164592" y="0"/>
                  </a:lnTo>
                  <a:lnTo>
                    <a:pt x="164592" y="2926080"/>
                  </a:lnTo>
                  <a:lnTo>
                    <a:pt x="0" y="2926080"/>
                  </a:lnTo>
                  <a:close/>
                </a:path>
              </a:pathLst>
            </a:custGeom>
            <a:solidFill>
              <a:srgbClr val="387F7F"/>
            </a:solidFill>
          </p:spPr>
        </p:sp>
      </p:grpSp>
      <p:grpSp>
        <p:nvGrpSpPr>
          <p:cNvPr name="Group 18" id="18"/>
          <p:cNvGrpSpPr/>
          <p:nvPr/>
        </p:nvGrpSpPr>
        <p:grpSpPr>
          <a:xfrm rot="0">
            <a:off x="1351902" y="3369945"/>
            <a:ext cx="14401800" cy="411480"/>
            <a:chOff x="0" y="0"/>
            <a:chExt cx="19202400" cy="548640"/>
          </a:xfrm>
        </p:grpSpPr>
        <p:sp>
          <p:nvSpPr>
            <p:cNvPr name="Freeform 19" id="19"/>
            <p:cNvSpPr/>
            <p:nvPr/>
          </p:nvSpPr>
          <p:spPr>
            <a:xfrm flipH="false" flipV="false" rot="0">
              <a:off x="0" y="0"/>
              <a:ext cx="19202400" cy="548640"/>
            </a:xfrm>
            <a:custGeom>
              <a:avLst/>
              <a:gdLst/>
              <a:ahLst/>
              <a:cxnLst/>
              <a:rect r="r" b="b" t="t" l="l"/>
              <a:pathLst>
                <a:path h="548640" w="19202400">
                  <a:moveTo>
                    <a:pt x="0" y="0"/>
                  </a:moveTo>
                  <a:lnTo>
                    <a:pt x="19202400" y="0"/>
                  </a:lnTo>
                  <a:lnTo>
                    <a:pt x="19202400" y="548640"/>
                  </a:lnTo>
                  <a:lnTo>
                    <a:pt x="0" y="548640"/>
                  </a:lnTo>
                  <a:close/>
                </a:path>
              </a:pathLst>
            </a:custGeom>
            <a:blipFill>
              <a:blip r:embed="rId9">
                <a:alphaModFix amt="0"/>
              </a:blip>
              <a:stretch>
                <a:fillRect l="0" t="-631976" r="0" b="-631976"/>
              </a:stretch>
            </a:blipFill>
          </p:spPr>
        </p:sp>
        <p:sp>
          <p:nvSpPr>
            <p:cNvPr name="TextBox 20" id="20"/>
            <p:cNvSpPr txBox="true"/>
            <p:nvPr/>
          </p:nvSpPr>
          <p:spPr>
            <a:xfrm>
              <a:off x="0" y="-9525"/>
              <a:ext cx="19202400" cy="558165"/>
            </a:xfrm>
            <a:prstGeom prst="rect">
              <a:avLst/>
            </a:prstGeom>
          </p:spPr>
          <p:txBody>
            <a:bodyPr anchor="ctr" rtlCol="false" tIns="0" lIns="0" bIns="0" rIns="0"/>
            <a:lstStyle/>
            <a:p>
              <a:pPr algn="l">
                <a:lnSpc>
                  <a:spcPts val="1980"/>
                </a:lnSpc>
              </a:pPr>
              <a:r>
                <a:rPr lang="en-US" sz="1650" b="true">
                  <a:solidFill>
                    <a:srgbClr val="387F7F"/>
                  </a:solidFill>
                  <a:latin typeface="Poppins Bold"/>
                  <a:ea typeface="Poppins Bold"/>
                  <a:cs typeface="Poppins Bold"/>
                  <a:sym typeface="Poppins Bold"/>
                </a:rPr>
                <a:t>THE TASK</a:t>
              </a:r>
            </a:p>
          </p:txBody>
        </p:sp>
      </p:grpSp>
      <p:sp>
        <p:nvSpPr>
          <p:cNvPr name="TextBox 21" id="21"/>
          <p:cNvSpPr txBox="true"/>
          <p:nvPr/>
        </p:nvSpPr>
        <p:spPr>
          <a:xfrm rot="0">
            <a:off x="1351902" y="3735705"/>
            <a:ext cx="14813280" cy="1417320"/>
          </a:xfrm>
          <a:prstGeom prst="rect">
            <a:avLst/>
          </a:prstGeom>
        </p:spPr>
        <p:txBody>
          <a:bodyPr anchor="t" rtlCol="false" tIns="0" lIns="0" bIns="0" rIns="0">
            <a:spAutoFit/>
          </a:bodyPr>
          <a:lstStyle/>
          <a:p>
            <a:pPr algn="l">
              <a:lnSpc>
                <a:spcPts val="3888"/>
              </a:lnSpc>
            </a:pPr>
            <a:r>
              <a:rPr lang="en-US" sz="2400">
                <a:solidFill>
                  <a:srgbClr val="475569"/>
                </a:solidFill>
                <a:latin typeface="Poppins"/>
                <a:ea typeface="Poppins"/>
                <a:cs typeface="Poppins"/>
                <a:sym typeface="Poppins"/>
              </a:rPr>
              <a:t>Open 7.2_practice_unlinked.pbix. All five SwiftRoute tables are loaded with no relationships. Build all four, set every cross-filter direction to Single, and mark dates as the date table.</a:t>
            </a:r>
          </a:p>
        </p:txBody>
      </p:sp>
      <p:grpSp>
        <p:nvGrpSpPr>
          <p:cNvPr name="Group 22" id="22"/>
          <p:cNvGrpSpPr/>
          <p:nvPr/>
        </p:nvGrpSpPr>
        <p:grpSpPr>
          <a:xfrm rot="0">
            <a:off x="871842" y="5564505"/>
            <a:ext cx="15636240" cy="2125980"/>
            <a:chOff x="0" y="0"/>
            <a:chExt cx="20848320" cy="2834640"/>
          </a:xfrm>
        </p:grpSpPr>
        <p:sp>
          <p:nvSpPr>
            <p:cNvPr name="Freeform 23" id="23"/>
            <p:cNvSpPr/>
            <p:nvPr/>
          </p:nvSpPr>
          <p:spPr>
            <a:xfrm flipH="false" flipV="false" rot="0">
              <a:off x="0" y="0"/>
              <a:ext cx="20848320" cy="2834640"/>
            </a:xfrm>
            <a:custGeom>
              <a:avLst/>
              <a:gdLst/>
              <a:ahLst/>
              <a:cxnLst/>
              <a:rect r="r" b="b" t="t" l="l"/>
              <a:pathLst>
                <a:path h="2834640" w="20848320">
                  <a:moveTo>
                    <a:pt x="0" y="164592"/>
                  </a:moveTo>
                  <a:cubicBezTo>
                    <a:pt x="0" y="73660"/>
                    <a:pt x="73660" y="0"/>
                    <a:pt x="164592" y="0"/>
                  </a:cubicBezTo>
                  <a:lnTo>
                    <a:pt x="20683728" y="0"/>
                  </a:lnTo>
                  <a:cubicBezTo>
                    <a:pt x="20774661" y="0"/>
                    <a:pt x="20848320" y="73660"/>
                    <a:pt x="20848320" y="164592"/>
                  </a:cubicBezTo>
                  <a:lnTo>
                    <a:pt x="20848320" y="2670048"/>
                  </a:lnTo>
                  <a:cubicBezTo>
                    <a:pt x="20848320" y="2760980"/>
                    <a:pt x="20774661" y="2834640"/>
                    <a:pt x="20683728" y="2834640"/>
                  </a:cubicBezTo>
                  <a:lnTo>
                    <a:pt x="164592" y="2834640"/>
                  </a:lnTo>
                  <a:cubicBezTo>
                    <a:pt x="73660" y="2834640"/>
                    <a:pt x="0" y="2760980"/>
                    <a:pt x="0" y="2670048"/>
                  </a:cubicBezTo>
                  <a:close/>
                </a:path>
              </a:pathLst>
            </a:custGeom>
            <a:solidFill>
              <a:srgbClr val="EEF4F4"/>
            </a:solidFill>
          </p:spPr>
        </p:sp>
      </p:grpSp>
      <p:grpSp>
        <p:nvGrpSpPr>
          <p:cNvPr name="Group 24" id="24"/>
          <p:cNvGrpSpPr/>
          <p:nvPr/>
        </p:nvGrpSpPr>
        <p:grpSpPr>
          <a:xfrm rot="0">
            <a:off x="871842" y="5564505"/>
            <a:ext cx="123444" cy="2125980"/>
            <a:chOff x="0" y="0"/>
            <a:chExt cx="164592" cy="2834640"/>
          </a:xfrm>
        </p:grpSpPr>
        <p:sp>
          <p:nvSpPr>
            <p:cNvPr name="Freeform 25" id="25"/>
            <p:cNvSpPr/>
            <p:nvPr/>
          </p:nvSpPr>
          <p:spPr>
            <a:xfrm flipH="false" flipV="false" rot="0">
              <a:off x="0" y="0"/>
              <a:ext cx="164592" cy="2834640"/>
            </a:xfrm>
            <a:custGeom>
              <a:avLst/>
              <a:gdLst/>
              <a:ahLst/>
              <a:cxnLst/>
              <a:rect r="r" b="b" t="t" l="l"/>
              <a:pathLst>
                <a:path h="2834640" w="164592">
                  <a:moveTo>
                    <a:pt x="0" y="0"/>
                  </a:moveTo>
                  <a:lnTo>
                    <a:pt x="164592" y="0"/>
                  </a:lnTo>
                  <a:lnTo>
                    <a:pt x="164592" y="2834640"/>
                  </a:lnTo>
                  <a:lnTo>
                    <a:pt x="0" y="2834640"/>
                  </a:lnTo>
                  <a:close/>
                </a:path>
              </a:pathLst>
            </a:custGeom>
            <a:solidFill>
              <a:srgbClr val="9BB7B7"/>
            </a:solidFill>
          </p:spPr>
        </p:sp>
      </p:grpSp>
      <p:grpSp>
        <p:nvGrpSpPr>
          <p:cNvPr name="Group 26" id="26"/>
          <p:cNvGrpSpPr/>
          <p:nvPr/>
        </p:nvGrpSpPr>
        <p:grpSpPr>
          <a:xfrm rot="0">
            <a:off x="1351902" y="5838825"/>
            <a:ext cx="14401800" cy="438912"/>
            <a:chOff x="0" y="0"/>
            <a:chExt cx="19202400" cy="585216"/>
          </a:xfrm>
        </p:grpSpPr>
        <p:sp>
          <p:nvSpPr>
            <p:cNvPr name="Freeform 27" id="27"/>
            <p:cNvSpPr/>
            <p:nvPr/>
          </p:nvSpPr>
          <p:spPr>
            <a:xfrm flipH="false" flipV="false" rot="0">
              <a:off x="0" y="0"/>
              <a:ext cx="19202400" cy="585216"/>
            </a:xfrm>
            <a:custGeom>
              <a:avLst/>
              <a:gdLst/>
              <a:ahLst/>
              <a:cxnLst/>
              <a:rect r="r" b="b" t="t" l="l"/>
              <a:pathLst>
                <a:path h="585216" w="19202400">
                  <a:moveTo>
                    <a:pt x="0" y="0"/>
                  </a:moveTo>
                  <a:lnTo>
                    <a:pt x="19202400" y="0"/>
                  </a:lnTo>
                  <a:lnTo>
                    <a:pt x="19202400" y="585216"/>
                  </a:lnTo>
                  <a:lnTo>
                    <a:pt x="0" y="585216"/>
                  </a:lnTo>
                  <a:close/>
                </a:path>
              </a:pathLst>
            </a:custGeom>
            <a:blipFill>
              <a:blip r:embed="rId9">
                <a:alphaModFix amt="0"/>
              </a:blip>
              <a:stretch>
                <a:fillRect l="0" t="-589352" r="0" b="-589352"/>
              </a:stretch>
            </a:blipFill>
          </p:spPr>
        </p:sp>
        <p:sp>
          <p:nvSpPr>
            <p:cNvPr name="TextBox 28" id="28"/>
            <p:cNvSpPr txBox="true"/>
            <p:nvPr/>
          </p:nvSpPr>
          <p:spPr>
            <a:xfrm>
              <a:off x="0" y="-9525"/>
              <a:ext cx="19202400" cy="594741"/>
            </a:xfrm>
            <a:prstGeom prst="rect">
              <a:avLst/>
            </a:prstGeom>
          </p:spPr>
          <p:txBody>
            <a:bodyPr anchor="ctr" rtlCol="false" tIns="0" lIns="0" bIns="0" rIns="0"/>
            <a:lstStyle/>
            <a:p>
              <a:pPr algn="l">
                <a:lnSpc>
                  <a:spcPts val="1980"/>
                </a:lnSpc>
              </a:pPr>
              <a:r>
                <a:rPr lang="en-US" sz="1650" b="true">
                  <a:solidFill>
                    <a:srgbClr val="20494A"/>
                  </a:solidFill>
                  <a:latin typeface="Poppins Bold"/>
                  <a:ea typeface="Poppins Bold"/>
                  <a:cs typeface="Poppins Bold"/>
                  <a:sym typeface="Poppins Bold"/>
                </a:rPr>
                <a:t>EXPECTED OUTPUT</a:t>
              </a:r>
            </a:p>
          </p:txBody>
        </p:sp>
      </p:grpSp>
      <p:sp>
        <p:nvSpPr>
          <p:cNvPr name="TextBox 29" id="29"/>
          <p:cNvSpPr txBox="true"/>
          <p:nvPr/>
        </p:nvSpPr>
        <p:spPr>
          <a:xfrm rot="0">
            <a:off x="1351902" y="6214110"/>
            <a:ext cx="14813280" cy="1339215"/>
          </a:xfrm>
          <a:prstGeom prst="rect">
            <a:avLst/>
          </a:prstGeom>
        </p:spPr>
        <p:txBody>
          <a:bodyPr anchor="t" rtlCol="false" tIns="0" lIns="0" bIns="0" rIns="0">
            <a:spAutoFit/>
          </a:bodyPr>
          <a:lstStyle/>
          <a:p>
            <a:pPr algn="l">
              <a:lnSpc>
                <a:spcPts val="3402"/>
              </a:lnSpc>
            </a:pPr>
            <a:r>
              <a:rPr lang="en-US" sz="2100">
                <a:solidFill>
                  <a:srgbClr val="475569"/>
                </a:solidFill>
                <a:latin typeface="Poppins"/>
                <a:ea typeface="Poppins"/>
                <a:cs typeface="Poppins"/>
                <a:sym typeface="Poppins"/>
              </a:rPr>
              <a:t>Four solid lines in Model view, no dotted lines, every relationship reading One to many with the “one” on the dimension. A card counting riders returns 68. A card counting routes returns 24.</a:t>
            </a:r>
          </a:p>
        </p:txBody>
      </p:sp>
      <p:sp>
        <p:nvSpPr>
          <p:cNvPr name="TextBox 30" id="30"/>
          <p:cNvSpPr txBox="true"/>
          <p:nvPr/>
        </p:nvSpPr>
        <p:spPr>
          <a:xfrm rot="0">
            <a:off x="871842" y="7938135"/>
            <a:ext cx="15636240" cy="643890"/>
          </a:xfrm>
          <a:prstGeom prst="rect">
            <a:avLst/>
          </a:prstGeom>
        </p:spPr>
        <p:txBody>
          <a:bodyPr anchor="t" rtlCol="false" tIns="0" lIns="0" bIns="0" rIns="0">
            <a:spAutoFit/>
          </a:bodyPr>
          <a:lstStyle/>
          <a:p>
            <a:pPr algn="ctr">
              <a:lnSpc>
                <a:spcPts val="3280"/>
              </a:lnSpc>
            </a:pPr>
            <a:r>
              <a:rPr lang="en-US" sz="2025" i="true">
                <a:solidFill>
                  <a:srgbClr val="64748B"/>
                </a:solidFill>
                <a:latin typeface="Poppins Italics"/>
                <a:ea typeface="Poppins Italics"/>
                <a:cs typeface="Poppins Italics"/>
                <a:sym typeface="Poppins Italics"/>
              </a:rPr>
              <a:t>Predict first. Write down what a count of customers will return before you build it.</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1238905"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Why th</a:t>
            </a:r>
            <a:r>
              <a:rPr lang="en-US" sz="5000">
                <a:solidFill>
                  <a:srgbClr val="388080"/>
                </a:solidFill>
                <a:latin typeface="Poppins"/>
                <a:ea typeface="Poppins"/>
                <a:cs typeface="Poppins"/>
                <a:sym typeface="Poppins"/>
              </a:rPr>
              <a:t>e routes relationship refused</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885825" y="2657470"/>
            <a:ext cx="7063740" cy="2400300"/>
            <a:chOff x="0" y="0"/>
            <a:chExt cx="9418320" cy="3200400"/>
          </a:xfrm>
        </p:grpSpPr>
        <p:sp>
          <p:nvSpPr>
            <p:cNvPr name="Freeform 12" id="12"/>
            <p:cNvSpPr/>
            <p:nvPr/>
          </p:nvSpPr>
          <p:spPr>
            <a:xfrm flipH="false" flipV="false" rot="0">
              <a:off x="0" y="0"/>
              <a:ext cx="9418320" cy="3200400"/>
            </a:xfrm>
            <a:custGeom>
              <a:avLst/>
              <a:gdLst/>
              <a:ahLst/>
              <a:cxnLst/>
              <a:rect r="r" b="b" t="t" l="l"/>
              <a:pathLst>
                <a:path h="3200400" w="9418320">
                  <a:moveTo>
                    <a:pt x="0" y="164592"/>
                  </a:moveTo>
                  <a:cubicBezTo>
                    <a:pt x="0" y="73660"/>
                    <a:pt x="73660" y="0"/>
                    <a:pt x="164592" y="0"/>
                  </a:cubicBezTo>
                  <a:lnTo>
                    <a:pt x="9253728" y="0"/>
                  </a:lnTo>
                  <a:cubicBezTo>
                    <a:pt x="9344660" y="0"/>
                    <a:pt x="9418320" y="73660"/>
                    <a:pt x="9418320" y="164592"/>
                  </a:cubicBezTo>
                  <a:lnTo>
                    <a:pt x="9418320" y="3035808"/>
                  </a:lnTo>
                  <a:cubicBezTo>
                    <a:pt x="9418320" y="3126740"/>
                    <a:pt x="9344660" y="3200400"/>
                    <a:pt x="9253728" y="3200400"/>
                  </a:cubicBezTo>
                  <a:lnTo>
                    <a:pt x="164592" y="3200400"/>
                  </a:lnTo>
                  <a:cubicBezTo>
                    <a:pt x="73660" y="3200400"/>
                    <a:pt x="0" y="3126740"/>
                    <a:pt x="0" y="3035808"/>
                  </a:cubicBezTo>
                  <a:close/>
                </a:path>
              </a:pathLst>
            </a:custGeom>
            <a:solidFill>
              <a:srgbClr val="FFFFFF"/>
            </a:solidFill>
          </p:spPr>
        </p:sp>
      </p:grpSp>
      <p:grpSp>
        <p:nvGrpSpPr>
          <p:cNvPr name="Group 13" id="13"/>
          <p:cNvGrpSpPr/>
          <p:nvPr/>
        </p:nvGrpSpPr>
        <p:grpSpPr>
          <a:xfrm rot="0">
            <a:off x="885825" y="2657470"/>
            <a:ext cx="7063740" cy="576072"/>
            <a:chOff x="0" y="0"/>
            <a:chExt cx="9418320" cy="768096"/>
          </a:xfrm>
        </p:grpSpPr>
        <p:sp>
          <p:nvSpPr>
            <p:cNvPr name="Freeform 14" id="14"/>
            <p:cNvSpPr/>
            <p:nvPr/>
          </p:nvSpPr>
          <p:spPr>
            <a:xfrm flipH="false" flipV="false" rot="0">
              <a:off x="0" y="0"/>
              <a:ext cx="9418320" cy="768096"/>
            </a:xfrm>
            <a:custGeom>
              <a:avLst/>
              <a:gdLst/>
              <a:ahLst/>
              <a:cxnLst/>
              <a:rect r="r" b="b" t="t" l="l"/>
              <a:pathLst>
                <a:path h="768096" w="9418320">
                  <a:moveTo>
                    <a:pt x="0" y="0"/>
                  </a:moveTo>
                  <a:lnTo>
                    <a:pt x="9418320" y="0"/>
                  </a:lnTo>
                  <a:lnTo>
                    <a:pt x="9418320" y="768096"/>
                  </a:lnTo>
                  <a:lnTo>
                    <a:pt x="0" y="768096"/>
                  </a:lnTo>
                  <a:close/>
                </a:path>
              </a:pathLst>
            </a:custGeom>
            <a:solidFill>
              <a:srgbClr val="A8322D"/>
            </a:solidFill>
          </p:spPr>
        </p:sp>
      </p:grpSp>
      <p:grpSp>
        <p:nvGrpSpPr>
          <p:cNvPr name="Group 15" id="15"/>
          <p:cNvGrpSpPr/>
          <p:nvPr/>
        </p:nvGrpSpPr>
        <p:grpSpPr>
          <a:xfrm rot="0">
            <a:off x="885825" y="2657470"/>
            <a:ext cx="7063740" cy="576072"/>
            <a:chOff x="0" y="0"/>
            <a:chExt cx="9418320" cy="768096"/>
          </a:xfrm>
        </p:grpSpPr>
        <p:sp>
          <p:nvSpPr>
            <p:cNvPr name="Freeform 16" id="16"/>
            <p:cNvSpPr/>
            <p:nvPr/>
          </p:nvSpPr>
          <p:spPr>
            <a:xfrm flipH="false" flipV="false" rot="0">
              <a:off x="0" y="0"/>
              <a:ext cx="9418320" cy="768096"/>
            </a:xfrm>
            <a:custGeom>
              <a:avLst/>
              <a:gdLst/>
              <a:ahLst/>
              <a:cxnLst/>
              <a:rect r="r" b="b" t="t" l="l"/>
              <a:pathLst>
                <a:path h="768096" w="9418320">
                  <a:moveTo>
                    <a:pt x="0" y="0"/>
                  </a:moveTo>
                  <a:lnTo>
                    <a:pt x="9418320" y="0"/>
                  </a:lnTo>
                  <a:lnTo>
                    <a:pt x="9418320" y="768096"/>
                  </a:lnTo>
                  <a:lnTo>
                    <a:pt x="0" y="768096"/>
                  </a:lnTo>
                  <a:close/>
                </a:path>
              </a:pathLst>
            </a:custGeom>
            <a:blipFill>
              <a:blip r:embed="rId9">
                <a:alphaModFix amt="0"/>
              </a:blip>
              <a:stretch>
                <a:fillRect l="0" t="-188923" r="0" b="-188923"/>
              </a:stretch>
            </a:blipFill>
          </p:spPr>
        </p:sp>
        <p:sp>
          <p:nvSpPr>
            <p:cNvPr name="TextBox 17" id="17"/>
            <p:cNvSpPr txBox="true"/>
            <p:nvPr/>
          </p:nvSpPr>
          <p:spPr>
            <a:xfrm>
              <a:off x="0" y="-19050"/>
              <a:ext cx="9418320" cy="787146"/>
            </a:xfrm>
            <a:prstGeom prst="rect">
              <a:avLst/>
            </a:prstGeom>
          </p:spPr>
          <p:txBody>
            <a:bodyPr anchor="ctr" rtlCol="false" tIns="0" lIns="0" bIns="0" rIns="0"/>
            <a:lstStyle/>
            <a:p>
              <a:pPr algn="ctr">
                <a:lnSpc>
                  <a:spcPts val="2160"/>
                </a:lnSpc>
              </a:pPr>
              <a:r>
                <a:rPr lang="en-US" sz="1800" b="true">
                  <a:solidFill>
                    <a:srgbClr val="FFFFFF"/>
                  </a:solidFill>
                  <a:latin typeface="Poppins Bold"/>
                  <a:ea typeface="Poppins Bold"/>
                  <a:cs typeface="Poppins Bold"/>
                  <a:sym typeface="Poppins Bold"/>
                </a:rPr>
                <a:t>In routes.csv</a:t>
              </a:r>
            </a:p>
          </p:txBody>
        </p:sp>
      </p:grpSp>
      <p:grpSp>
        <p:nvGrpSpPr>
          <p:cNvPr name="Group 18" id="18"/>
          <p:cNvGrpSpPr/>
          <p:nvPr/>
        </p:nvGrpSpPr>
        <p:grpSpPr>
          <a:xfrm rot="0">
            <a:off x="885825" y="3480430"/>
            <a:ext cx="7063740" cy="1028700"/>
            <a:chOff x="0" y="0"/>
            <a:chExt cx="9418320" cy="1371600"/>
          </a:xfrm>
        </p:grpSpPr>
        <p:sp>
          <p:nvSpPr>
            <p:cNvPr name="Freeform 19" id="19"/>
            <p:cNvSpPr/>
            <p:nvPr/>
          </p:nvSpPr>
          <p:spPr>
            <a:xfrm flipH="false" flipV="false" rot="0">
              <a:off x="0" y="0"/>
              <a:ext cx="9418320" cy="1371600"/>
            </a:xfrm>
            <a:custGeom>
              <a:avLst/>
              <a:gdLst/>
              <a:ahLst/>
              <a:cxnLst/>
              <a:rect r="r" b="b" t="t" l="l"/>
              <a:pathLst>
                <a:path h="1371600" w="9418320">
                  <a:moveTo>
                    <a:pt x="0" y="0"/>
                  </a:moveTo>
                  <a:lnTo>
                    <a:pt x="9418320" y="0"/>
                  </a:lnTo>
                  <a:lnTo>
                    <a:pt x="9418320" y="1371600"/>
                  </a:lnTo>
                  <a:lnTo>
                    <a:pt x="0" y="1371600"/>
                  </a:lnTo>
                  <a:close/>
                </a:path>
              </a:pathLst>
            </a:custGeom>
            <a:blipFill>
              <a:blip r:embed="rId9">
                <a:alphaModFix amt="0"/>
              </a:blip>
              <a:stretch>
                <a:fillRect l="0" t="-83797" r="0" b="-83797"/>
              </a:stretch>
            </a:blipFill>
          </p:spPr>
        </p:sp>
        <p:sp>
          <p:nvSpPr>
            <p:cNvPr name="TextBox 20" id="20"/>
            <p:cNvSpPr txBox="true"/>
            <p:nvPr/>
          </p:nvSpPr>
          <p:spPr>
            <a:xfrm>
              <a:off x="0" y="0"/>
              <a:ext cx="9418320" cy="1371600"/>
            </a:xfrm>
            <a:prstGeom prst="rect">
              <a:avLst/>
            </a:prstGeom>
          </p:spPr>
          <p:txBody>
            <a:bodyPr anchor="ctr" rtlCol="false" tIns="0" lIns="0" bIns="0" rIns="0"/>
            <a:lstStyle/>
            <a:p>
              <a:pPr algn="ctr">
                <a:lnSpc>
                  <a:spcPts val="4680"/>
                </a:lnSpc>
              </a:pPr>
              <a:r>
                <a:rPr lang="en-US" sz="3900" b="true">
                  <a:solidFill>
                    <a:srgbClr val="0A1A23"/>
                  </a:solidFill>
                  <a:latin typeface="Roboto Mono Bold"/>
                  <a:ea typeface="Roboto Mono Bold"/>
                  <a:cs typeface="Roboto Mono Bold"/>
                  <a:sym typeface="Roboto Mono Bold"/>
                </a:rPr>
                <a:t>“LAG-07</a:t>
              </a:r>
              <a:r>
                <a:rPr lang="en-US" sz="3900" b="true">
                  <a:solidFill>
                    <a:srgbClr val="C9821F"/>
                  </a:solidFill>
                  <a:latin typeface="Roboto Mono Bold"/>
                  <a:ea typeface="Roboto Mono Bold"/>
                  <a:cs typeface="Roboto Mono Bold"/>
                  <a:sym typeface="Roboto Mono Bold"/>
                </a:rPr>
                <a:t>·</a:t>
              </a:r>
              <a:r>
                <a:rPr lang="en-US" sz="3900" b="true">
                  <a:solidFill>
                    <a:srgbClr val="0A1A23"/>
                  </a:solidFill>
                  <a:latin typeface="Roboto Mono Bold"/>
                  <a:ea typeface="Roboto Mono Bold"/>
                  <a:cs typeface="Roboto Mono Bold"/>
                  <a:sym typeface="Roboto Mono Bold"/>
                </a:rPr>
                <a:t>”</a:t>
              </a:r>
            </a:p>
          </p:txBody>
        </p:sp>
      </p:grpSp>
      <p:grpSp>
        <p:nvGrpSpPr>
          <p:cNvPr name="Group 21" id="21"/>
          <p:cNvGrpSpPr/>
          <p:nvPr/>
        </p:nvGrpSpPr>
        <p:grpSpPr>
          <a:xfrm rot="0">
            <a:off x="885825" y="4440550"/>
            <a:ext cx="7063740" cy="480060"/>
            <a:chOff x="0" y="0"/>
            <a:chExt cx="9418320" cy="640080"/>
          </a:xfrm>
        </p:grpSpPr>
        <p:sp>
          <p:nvSpPr>
            <p:cNvPr name="Freeform 22" id="22"/>
            <p:cNvSpPr/>
            <p:nvPr/>
          </p:nvSpPr>
          <p:spPr>
            <a:xfrm flipH="false" flipV="false" rot="0">
              <a:off x="0" y="0"/>
              <a:ext cx="9418320" cy="640080"/>
            </a:xfrm>
            <a:custGeom>
              <a:avLst/>
              <a:gdLst/>
              <a:ahLst/>
              <a:cxnLst/>
              <a:rect r="r" b="b" t="t" l="l"/>
              <a:pathLst>
                <a:path h="640080" w="9418320">
                  <a:moveTo>
                    <a:pt x="0" y="0"/>
                  </a:moveTo>
                  <a:lnTo>
                    <a:pt x="9418320" y="0"/>
                  </a:lnTo>
                  <a:lnTo>
                    <a:pt x="9418320" y="640080"/>
                  </a:lnTo>
                  <a:lnTo>
                    <a:pt x="0" y="640080"/>
                  </a:lnTo>
                  <a:close/>
                </a:path>
              </a:pathLst>
            </a:custGeom>
            <a:blipFill>
              <a:blip r:embed="rId9">
                <a:alphaModFix amt="0"/>
              </a:blip>
              <a:stretch>
                <a:fillRect l="0" t="-236708" r="0" b="-236708"/>
              </a:stretch>
            </a:blipFill>
          </p:spPr>
        </p:sp>
        <p:sp>
          <p:nvSpPr>
            <p:cNvPr name="TextBox 23" id="23"/>
            <p:cNvSpPr txBox="true"/>
            <p:nvPr/>
          </p:nvSpPr>
          <p:spPr>
            <a:xfrm>
              <a:off x="0" y="-9525"/>
              <a:ext cx="9418320" cy="649605"/>
            </a:xfrm>
            <a:prstGeom prst="rect">
              <a:avLst/>
            </a:prstGeom>
          </p:spPr>
          <p:txBody>
            <a:bodyPr anchor="ctr" rtlCol="false" tIns="0" lIns="0" bIns="0" rIns="0"/>
            <a:lstStyle/>
            <a:p>
              <a:pPr algn="ctr">
                <a:lnSpc>
                  <a:spcPts val="1980"/>
                </a:lnSpc>
              </a:pPr>
              <a:r>
                <a:rPr lang="en-US" sz="1650" i="true">
                  <a:solidFill>
                    <a:srgbClr val="C9821F"/>
                  </a:solidFill>
                  <a:latin typeface="Poppins Italics"/>
                  <a:ea typeface="Poppins Italics"/>
                  <a:cs typeface="Poppins Italics"/>
                  <a:sym typeface="Poppins Italics"/>
                </a:rPr>
                <a:t>trailing space, invisible on screen</a:t>
              </a:r>
            </a:p>
          </p:txBody>
        </p:sp>
      </p:grpSp>
      <p:grpSp>
        <p:nvGrpSpPr>
          <p:cNvPr name="Group 24" id="24"/>
          <p:cNvGrpSpPr/>
          <p:nvPr/>
        </p:nvGrpSpPr>
        <p:grpSpPr>
          <a:xfrm rot="0">
            <a:off x="8566785" y="2657470"/>
            <a:ext cx="7063740" cy="2400300"/>
            <a:chOff x="0" y="0"/>
            <a:chExt cx="9418320" cy="3200400"/>
          </a:xfrm>
        </p:grpSpPr>
        <p:sp>
          <p:nvSpPr>
            <p:cNvPr name="Freeform 25" id="25"/>
            <p:cNvSpPr/>
            <p:nvPr/>
          </p:nvSpPr>
          <p:spPr>
            <a:xfrm flipH="false" flipV="false" rot="0">
              <a:off x="0" y="0"/>
              <a:ext cx="9418320" cy="3200400"/>
            </a:xfrm>
            <a:custGeom>
              <a:avLst/>
              <a:gdLst/>
              <a:ahLst/>
              <a:cxnLst/>
              <a:rect r="r" b="b" t="t" l="l"/>
              <a:pathLst>
                <a:path h="3200400" w="9418320">
                  <a:moveTo>
                    <a:pt x="0" y="164592"/>
                  </a:moveTo>
                  <a:cubicBezTo>
                    <a:pt x="0" y="73660"/>
                    <a:pt x="73660" y="0"/>
                    <a:pt x="164592" y="0"/>
                  </a:cubicBezTo>
                  <a:lnTo>
                    <a:pt x="9253728" y="0"/>
                  </a:lnTo>
                  <a:cubicBezTo>
                    <a:pt x="9344660" y="0"/>
                    <a:pt x="9418320" y="73660"/>
                    <a:pt x="9418320" y="164592"/>
                  </a:cubicBezTo>
                  <a:lnTo>
                    <a:pt x="9418320" y="3035808"/>
                  </a:lnTo>
                  <a:cubicBezTo>
                    <a:pt x="9418320" y="3126740"/>
                    <a:pt x="9344660" y="3200400"/>
                    <a:pt x="9253728" y="3200400"/>
                  </a:cubicBezTo>
                  <a:lnTo>
                    <a:pt x="164592" y="3200400"/>
                  </a:lnTo>
                  <a:cubicBezTo>
                    <a:pt x="73660" y="3200400"/>
                    <a:pt x="0" y="3126740"/>
                    <a:pt x="0" y="3035808"/>
                  </a:cubicBezTo>
                  <a:close/>
                </a:path>
              </a:pathLst>
            </a:custGeom>
            <a:solidFill>
              <a:srgbClr val="FFFFFF"/>
            </a:solidFill>
          </p:spPr>
        </p:sp>
      </p:grpSp>
      <p:grpSp>
        <p:nvGrpSpPr>
          <p:cNvPr name="Group 26" id="26"/>
          <p:cNvGrpSpPr/>
          <p:nvPr/>
        </p:nvGrpSpPr>
        <p:grpSpPr>
          <a:xfrm rot="0">
            <a:off x="8566785" y="2657470"/>
            <a:ext cx="7063740" cy="576072"/>
            <a:chOff x="0" y="0"/>
            <a:chExt cx="9418320" cy="768096"/>
          </a:xfrm>
        </p:grpSpPr>
        <p:sp>
          <p:nvSpPr>
            <p:cNvPr name="Freeform 27" id="27"/>
            <p:cNvSpPr/>
            <p:nvPr/>
          </p:nvSpPr>
          <p:spPr>
            <a:xfrm flipH="false" flipV="false" rot="0">
              <a:off x="0" y="0"/>
              <a:ext cx="9418320" cy="768096"/>
            </a:xfrm>
            <a:custGeom>
              <a:avLst/>
              <a:gdLst/>
              <a:ahLst/>
              <a:cxnLst/>
              <a:rect r="r" b="b" t="t" l="l"/>
              <a:pathLst>
                <a:path h="768096" w="9418320">
                  <a:moveTo>
                    <a:pt x="0" y="0"/>
                  </a:moveTo>
                  <a:lnTo>
                    <a:pt x="9418320" y="0"/>
                  </a:lnTo>
                  <a:lnTo>
                    <a:pt x="9418320" y="768096"/>
                  </a:lnTo>
                  <a:lnTo>
                    <a:pt x="0" y="768096"/>
                  </a:lnTo>
                  <a:close/>
                </a:path>
              </a:pathLst>
            </a:custGeom>
            <a:solidFill>
              <a:srgbClr val="387F7F"/>
            </a:solidFill>
          </p:spPr>
        </p:sp>
      </p:grpSp>
      <p:grpSp>
        <p:nvGrpSpPr>
          <p:cNvPr name="Group 28" id="28"/>
          <p:cNvGrpSpPr/>
          <p:nvPr/>
        </p:nvGrpSpPr>
        <p:grpSpPr>
          <a:xfrm rot="0">
            <a:off x="8566785" y="2657470"/>
            <a:ext cx="7063740" cy="576072"/>
            <a:chOff x="0" y="0"/>
            <a:chExt cx="9418320" cy="768096"/>
          </a:xfrm>
        </p:grpSpPr>
        <p:sp>
          <p:nvSpPr>
            <p:cNvPr name="Freeform 29" id="29"/>
            <p:cNvSpPr/>
            <p:nvPr/>
          </p:nvSpPr>
          <p:spPr>
            <a:xfrm flipH="false" flipV="false" rot="0">
              <a:off x="0" y="0"/>
              <a:ext cx="9418320" cy="768096"/>
            </a:xfrm>
            <a:custGeom>
              <a:avLst/>
              <a:gdLst/>
              <a:ahLst/>
              <a:cxnLst/>
              <a:rect r="r" b="b" t="t" l="l"/>
              <a:pathLst>
                <a:path h="768096" w="9418320">
                  <a:moveTo>
                    <a:pt x="0" y="0"/>
                  </a:moveTo>
                  <a:lnTo>
                    <a:pt x="9418320" y="0"/>
                  </a:lnTo>
                  <a:lnTo>
                    <a:pt x="9418320" y="768096"/>
                  </a:lnTo>
                  <a:lnTo>
                    <a:pt x="0" y="768096"/>
                  </a:lnTo>
                  <a:close/>
                </a:path>
              </a:pathLst>
            </a:custGeom>
            <a:blipFill>
              <a:blip r:embed="rId9">
                <a:alphaModFix amt="0"/>
              </a:blip>
              <a:stretch>
                <a:fillRect l="0" t="-188923" r="0" b="-188923"/>
              </a:stretch>
            </a:blipFill>
          </p:spPr>
        </p:sp>
        <p:sp>
          <p:nvSpPr>
            <p:cNvPr name="TextBox 30" id="30"/>
            <p:cNvSpPr txBox="true"/>
            <p:nvPr/>
          </p:nvSpPr>
          <p:spPr>
            <a:xfrm>
              <a:off x="0" y="-19050"/>
              <a:ext cx="9418320" cy="787146"/>
            </a:xfrm>
            <a:prstGeom prst="rect">
              <a:avLst/>
            </a:prstGeom>
          </p:spPr>
          <p:txBody>
            <a:bodyPr anchor="ctr" rtlCol="false" tIns="0" lIns="0" bIns="0" rIns="0"/>
            <a:lstStyle/>
            <a:p>
              <a:pPr algn="ctr">
                <a:lnSpc>
                  <a:spcPts val="2160"/>
                </a:lnSpc>
              </a:pPr>
              <a:r>
                <a:rPr lang="en-US" sz="1800" b="true">
                  <a:solidFill>
                    <a:srgbClr val="FFFFFF"/>
                  </a:solidFill>
                  <a:latin typeface="Poppins Bold"/>
                  <a:ea typeface="Poppins Bold"/>
                  <a:cs typeface="Poppins Bold"/>
                  <a:sym typeface="Poppins Bold"/>
                </a:rPr>
                <a:t>In deliveries.csv</a:t>
              </a:r>
            </a:p>
          </p:txBody>
        </p:sp>
      </p:grpSp>
      <p:grpSp>
        <p:nvGrpSpPr>
          <p:cNvPr name="Group 31" id="31"/>
          <p:cNvGrpSpPr/>
          <p:nvPr/>
        </p:nvGrpSpPr>
        <p:grpSpPr>
          <a:xfrm rot="0">
            <a:off x="8566785" y="3480430"/>
            <a:ext cx="7063740" cy="1028700"/>
            <a:chOff x="0" y="0"/>
            <a:chExt cx="9418320" cy="1371600"/>
          </a:xfrm>
        </p:grpSpPr>
        <p:sp>
          <p:nvSpPr>
            <p:cNvPr name="Freeform 32" id="32"/>
            <p:cNvSpPr/>
            <p:nvPr/>
          </p:nvSpPr>
          <p:spPr>
            <a:xfrm flipH="false" flipV="false" rot="0">
              <a:off x="0" y="0"/>
              <a:ext cx="9418320" cy="1371600"/>
            </a:xfrm>
            <a:custGeom>
              <a:avLst/>
              <a:gdLst/>
              <a:ahLst/>
              <a:cxnLst/>
              <a:rect r="r" b="b" t="t" l="l"/>
              <a:pathLst>
                <a:path h="1371600" w="9418320">
                  <a:moveTo>
                    <a:pt x="0" y="0"/>
                  </a:moveTo>
                  <a:lnTo>
                    <a:pt x="9418320" y="0"/>
                  </a:lnTo>
                  <a:lnTo>
                    <a:pt x="9418320" y="1371600"/>
                  </a:lnTo>
                  <a:lnTo>
                    <a:pt x="0" y="1371600"/>
                  </a:lnTo>
                  <a:close/>
                </a:path>
              </a:pathLst>
            </a:custGeom>
            <a:blipFill>
              <a:blip r:embed="rId9">
                <a:alphaModFix amt="0"/>
              </a:blip>
              <a:stretch>
                <a:fillRect l="0" t="-83797" r="0" b="-83797"/>
              </a:stretch>
            </a:blipFill>
          </p:spPr>
        </p:sp>
        <p:sp>
          <p:nvSpPr>
            <p:cNvPr name="TextBox 33" id="33"/>
            <p:cNvSpPr txBox="true"/>
            <p:nvPr/>
          </p:nvSpPr>
          <p:spPr>
            <a:xfrm>
              <a:off x="0" y="0"/>
              <a:ext cx="9418320" cy="1371600"/>
            </a:xfrm>
            <a:prstGeom prst="rect">
              <a:avLst/>
            </a:prstGeom>
          </p:spPr>
          <p:txBody>
            <a:bodyPr anchor="ctr" rtlCol="false" tIns="0" lIns="0" bIns="0" rIns="0"/>
            <a:lstStyle/>
            <a:p>
              <a:pPr algn="ctr">
                <a:lnSpc>
                  <a:spcPts val="4680"/>
                </a:lnSpc>
              </a:pPr>
              <a:r>
                <a:rPr lang="en-US" sz="3900" b="true">
                  <a:solidFill>
                    <a:srgbClr val="0A1A23"/>
                  </a:solidFill>
                  <a:latin typeface="Roboto Mono Bold"/>
                  <a:ea typeface="Roboto Mono Bold"/>
                  <a:cs typeface="Roboto Mono Bold"/>
                  <a:sym typeface="Roboto Mono Bold"/>
                </a:rPr>
                <a:t>“LAG-07”</a:t>
              </a:r>
            </a:p>
          </p:txBody>
        </p:sp>
      </p:grpSp>
      <p:grpSp>
        <p:nvGrpSpPr>
          <p:cNvPr name="Group 34" id="34"/>
          <p:cNvGrpSpPr/>
          <p:nvPr/>
        </p:nvGrpSpPr>
        <p:grpSpPr>
          <a:xfrm rot="0">
            <a:off x="8566785" y="4440550"/>
            <a:ext cx="7063740" cy="480060"/>
            <a:chOff x="0" y="0"/>
            <a:chExt cx="9418320" cy="640080"/>
          </a:xfrm>
        </p:grpSpPr>
        <p:sp>
          <p:nvSpPr>
            <p:cNvPr name="Freeform 35" id="35"/>
            <p:cNvSpPr/>
            <p:nvPr/>
          </p:nvSpPr>
          <p:spPr>
            <a:xfrm flipH="false" flipV="false" rot="0">
              <a:off x="0" y="0"/>
              <a:ext cx="9418320" cy="640080"/>
            </a:xfrm>
            <a:custGeom>
              <a:avLst/>
              <a:gdLst/>
              <a:ahLst/>
              <a:cxnLst/>
              <a:rect r="r" b="b" t="t" l="l"/>
              <a:pathLst>
                <a:path h="640080" w="9418320">
                  <a:moveTo>
                    <a:pt x="0" y="0"/>
                  </a:moveTo>
                  <a:lnTo>
                    <a:pt x="9418320" y="0"/>
                  </a:lnTo>
                  <a:lnTo>
                    <a:pt x="9418320" y="640080"/>
                  </a:lnTo>
                  <a:lnTo>
                    <a:pt x="0" y="640080"/>
                  </a:lnTo>
                  <a:close/>
                </a:path>
              </a:pathLst>
            </a:custGeom>
            <a:blipFill>
              <a:blip r:embed="rId9">
                <a:alphaModFix amt="0"/>
              </a:blip>
              <a:stretch>
                <a:fillRect l="0" t="-236708" r="0" b="-236708"/>
              </a:stretch>
            </a:blipFill>
          </p:spPr>
        </p:sp>
        <p:sp>
          <p:nvSpPr>
            <p:cNvPr name="TextBox 36" id="36"/>
            <p:cNvSpPr txBox="true"/>
            <p:nvPr/>
          </p:nvSpPr>
          <p:spPr>
            <a:xfrm>
              <a:off x="0" y="-9525"/>
              <a:ext cx="9418320" cy="649605"/>
            </a:xfrm>
            <a:prstGeom prst="rect">
              <a:avLst/>
            </a:prstGeom>
          </p:spPr>
          <p:txBody>
            <a:bodyPr anchor="ctr" rtlCol="false" tIns="0" lIns="0" bIns="0" rIns="0"/>
            <a:lstStyle/>
            <a:p>
              <a:pPr algn="ctr">
                <a:lnSpc>
                  <a:spcPts val="1980"/>
                </a:lnSpc>
              </a:pPr>
              <a:r>
                <a:rPr lang="en-US" sz="1650" i="true">
                  <a:solidFill>
                    <a:srgbClr val="387F7F"/>
                  </a:solidFill>
                  <a:latin typeface="Poppins Italics"/>
                  <a:ea typeface="Poppins Italics"/>
                  <a:cs typeface="Poppins Italics"/>
                  <a:sym typeface="Poppins Italics"/>
                </a:rPr>
                <a:t>clean</a:t>
              </a:r>
            </a:p>
          </p:txBody>
        </p:sp>
      </p:grpSp>
      <p:sp>
        <p:nvSpPr>
          <p:cNvPr name="TextBox 37" id="37"/>
          <p:cNvSpPr txBox="true"/>
          <p:nvPr/>
        </p:nvSpPr>
        <p:spPr>
          <a:xfrm rot="0">
            <a:off x="885825" y="5295895"/>
            <a:ext cx="14744700" cy="1476375"/>
          </a:xfrm>
          <a:prstGeom prst="rect">
            <a:avLst/>
          </a:prstGeom>
        </p:spPr>
        <p:txBody>
          <a:bodyPr anchor="t" rtlCol="false" tIns="0" lIns="0" bIns="0" rIns="0">
            <a:spAutoFit/>
          </a:bodyPr>
          <a:lstStyle/>
          <a:p>
            <a:pPr algn="l">
              <a:lnSpc>
                <a:spcPts val="3564"/>
              </a:lnSpc>
            </a:pPr>
            <a:r>
              <a:rPr lang="en-US" sz="2250">
                <a:solidFill>
                  <a:srgbClr val="475569"/>
                </a:solidFill>
                <a:latin typeface="Poppins"/>
                <a:ea typeface="Poppins"/>
                <a:cs typeface="Poppins"/>
                <a:sym typeface="Poppins"/>
              </a:rPr>
              <a:t>To you these are the same route. To Power BI they are two different text values, so the relationship either fails to match or matches only some rows. Nothing turns red. The join produces blanks, and you read the blanks as missing data.</a:t>
            </a:r>
          </a:p>
        </p:txBody>
      </p:sp>
      <p:grpSp>
        <p:nvGrpSpPr>
          <p:cNvPr name="Group 38" id="38"/>
          <p:cNvGrpSpPr/>
          <p:nvPr/>
        </p:nvGrpSpPr>
        <p:grpSpPr>
          <a:xfrm rot="0">
            <a:off x="885825" y="7046590"/>
            <a:ext cx="14744700" cy="1851660"/>
            <a:chOff x="0" y="0"/>
            <a:chExt cx="19659600" cy="2468880"/>
          </a:xfrm>
        </p:grpSpPr>
        <p:sp>
          <p:nvSpPr>
            <p:cNvPr name="Freeform 39" id="39"/>
            <p:cNvSpPr/>
            <p:nvPr/>
          </p:nvSpPr>
          <p:spPr>
            <a:xfrm flipH="false" flipV="false" rot="0">
              <a:off x="0" y="0"/>
              <a:ext cx="19659600" cy="2468880"/>
            </a:xfrm>
            <a:custGeom>
              <a:avLst/>
              <a:gdLst/>
              <a:ahLst/>
              <a:cxnLst/>
              <a:rect r="r" b="b" t="t" l="l"/>
              <a:pathLst>
                <a:path h="2468880" w="19659600">
                  <a:moveTo>
                    <a:pt x="0" y="164592"/>
                  </a:moveTo>
                  <a:cubicBezTo>
                    <a:pt x="0" y="73660"/>
                    <a:pt x="73660" y="0"/>
                    <a:pt x="164592" y="0"/>
                  </a:cubicBezTo>
                  <a:lnTo>
                    <a:pt x="19495008" y="0"/>
                  </a:lnTo>
                  <a:cubicBezTo>
                    <a:pt x="19585939" y="0"/>
                    <a:pt x="19659600" y="73660"/>
                    <a:pt x="19659600" y="164592"/>
                  </a:cubicBezTo>
                  <a:lnTo>
                    <a:pt x="19659600" y="2304288"/>
                  </a:lnTo>
                  <a:cubicBezTo>
                    <a:pt x="19659600" y="2395220"/>
                    <a:pt x="19585939" y="2468880"/>
                    <a:pt x="19495008" y="2468880"/>
                  </a:cubicBezTo>
                  <a:lnTo>
                    <a:pt x="164592" y="2468880"/>
                  </a:lnTo>
                  <a:cubicBezTo>
                    <a:pt x="73660" y="2468880"/>
                    <a:pt x="0" y="2395220"/>
                    <a:pt x="0" y="2304288"/>
                  </a:cubicBezTo>
                  <a:close/>
                </a:path>
              </a:pathLst>
            </a:custGeom>
            <a:solidFill>
              <a:srgbClr val="EEF4F4"/>
            </a:solidFill>
          </p:spPr>
        </p:sp>
      </p:grpSp>
      <p:grpSp>
        <p:nvGrpSpPr>
          <p:cNvPr name="Group 40" id="40"/>
          <p:cNvGrpSpPr/>
          <p:nvPr/>
        </p:nvGrpSpPr>
        <p:grpSpPr>
          <a:xfrm rot="0">
            <a:off x="885825" y="7046590"/>
            <a:ext cx="102870" cy="1851660"/>
            <a:chOff x="0" y="0"/>
            <a:chExt cx="137160" cy="2468880"/>
          </a:xfrm>
        </p:grpSpPr>
        <p:sp>
          <p:nvSpPr>
            <p:cNvPr name="Freeform 41" id="41"/>
            <p:cNvSpPr/>
            <p:nvPr/>
          </p:nvSpPr>
          <p:spPr>
            <a:xfrm flipH="false" flipV="false" rot="0">
              <a:off x="0" y="0"/>
              <a:ext cx="137160" cy="2468880"/>
            </a:xfrm>
            <a:custGeom>
              <a:avLst/>
              <a:gdLst/>
              <a:ahLst/>
              <a:cxnLst/>
              <a:rect r="r" b="b" t="t" l="l"/>
              <a:pathLst>
                <a:path h="2468880" w="137160">
                  <a:moveTo>
                    <a:pt x="0" y="0"/>
                  </a:moveTo>
                  <a:lnTo>
                    <a:pt x="137160" y="0"/>
                  </a:lnTo>
                  <a:lnTo>
                    <a:pt x="137160" y="2468880"/>
                  </a:lnTo>
                  <a:lnTo>
                    <a:pt x="0" y="2468880"/>
                  </a:lnTo>
                  <a:close/>
                </a:path>
              </a:pathLst>
            </a:custGeom>
            <a:solidFill>
              <a:srgbClr val="387F7F"/>
            </a:solidFill>
          </p:spPr>
        </p:sp>
      </p:grpSp>
      <p:grpSp>
        <p:nvGrpSpPr>
          <p:cNvPr name="Group 42" id="42"/>
          <p:cNvGrpSpPr/>
          <p:nvPr/>
        </p:nvGrpSpPr>
        <p:grpSpPr>
          <a:xfrm rot="0">
            <a:off x="1297305" y="7595230"/>
            <a:ext cx="754380" cy="754380"/>
            <a:chOff x="0" y="0"/>
            <a:chExt cx="1005840" cy="1005840"/>
          </a:xfrm>
        </p:grpSpPr>
        <p:sp>
          <p:nvSpPr>
            <p:cNvPr name="Freeform 43" id="43"/>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387F7F"/>
            </a:solidFill>
          </p:spPr>
        </p:sp>
      </p:grpSp>
      <p:grpSp>
        <p:nvGrpSpPr>
          <p:cNvPr name="Group 44" id="44"/>
          <p:cNvGrpSpPr/>
          <p:nvPr/>
        </p:nvGrpSpPr>
        <p:grpSpPr>
          <a:xfrm rot="0">
            <a:off x="1297305" y="7595230"/>
            <a:ext cx="754380" cy="754380"/>
            <a:chOff x="0" y="0"/>
            <a:chExt cx="1005840" cy="1005840"/>
          </a:xfrm>
        </p:grpSpPr>
        <p:sp>
          <p:nvSpPr>
            <p:cNvPr name="Freeform 45" id="45"/>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9">
                <a:alphaModFix amt="0"/>
              </a:blip>
              <a:stretch>
                <a:fillRect l="-78303" t="0" r="-78303" b="0"/>
              </a:stretch>
            </a:blipFill>
          </p:spPr>
        </p:sp>
        <p:sp>
          <p:nvSpPr>
            <p:cNvPr name="TextBox 46" id="46"/>
            <p:cNvSpPr txBox="true"/>
            <p:nvPr/>
          </p:nvSpPr>
          <p:spPr>
            <a:xfrm>
              <a:off x="0" y="-28575"/>
              <a:ext cx="1005840" cy="1034415"/>
            </a:xfrm>
            <a:prstGeom prst="rect">
              <a:avLst/>
            </a:prstGeom>
          </p:spPr>
          <p:txBody>
            <a:bodyPr anchor="ctr" rtlCol="false" tIns="0" lIns="0" bIns="0" rIns="0"/>
            <a:lstStyle/>
            <a:p>
              <a:pPr algn="ctr">
                <a:lnSpc>
                  <a:spcPts val="3600"/>
                </a:lnSpc>
              </a:pPr>
              <a:r>
                <a:rPr lang="en-US" sz="3000" b="true">
                  <a:solidFill>
                    <a:srgbClr val="FFFFFF"/>
                  </a:solidFill>
                  <a:latin typeface="Poppins Bold"/>
                  <a:ea typeface="Poppins Bold"/>
                  <a:cs typeface="Poppins Bold"/>
                  <a:sym typeface="Poppins Bold"/>
                </a:rPr>
                <a:t>↑</a:t>
              </a:r>
            </a:p>
          </p:txBody>
        </p:sp>
      </p:grpSp>
      <p:sp>
        <p:nvSpPr>
          <p:cNvPr name="TextBox 47" id="47"/>
          <p:cNvSpPr txBox="true"/>
          <p:nvPr/>
        </p:nvSpPr>
        <p:spPr>
          <a:xfrm rot="0">
            <a:off x="2394585" y="7353295"/>
            <a:ext cx="12755880" cy="1407795"/>
          </a:xfrm>
          <a:prstGeom prst="rect">
            <a:avLst/>
          </a:prstGeom>
        </p:spPr>
        <p:txBody>
          <a:bodyPr anchor="t" rtlCol="false" tIns="0" lIns="0" bIns="0" rIns="0">
            <a:spAutoFit/>
          </a:bodyPr>
          <a:lstStyle/>
          <a:p>
            <a:pPr algn="l">
              <a:lnSpc>
                <a:spcPts val="3510"/>
              </a:lnSpc>
            </a:pPr>
            <a:r>
              <a:rPr lang="en-US" sz="2250" b="true">
                <a:solidFill>
                  <a:srgbClr val="387F7F"/>
                </a:solidFill>
                <a:latin typeface="Poppins Bold"/>
                <a:ea typeface="Poppins Bold"/>
                <a:cs typeface="Poppins Bold"/>
                <a:sym typeface="Poppins Bold"/>
              </a:rPr>
              <a:t>The fix is upstream, in Power Query: Transform › Format › Trim.</a:t>
            </a:r>
          </a:p>
          <a:p>
            <a:pPr algn="l">
              <a:lnSpc>
                <a:spcPts val="3510"/>
              </a:lnSpc>
            </a:pPr>
            <a:r>
              <a:rPr lang="en-US" sz="2250" b="true">
                <a:solidFill>
                  <a:srgbClr val="387F7F"/>
                </a:solidFill>
                <a:latin typeface="Poppins Bold"/>
                <a:ea typeface="Poppins Bold"/>
                <a:cs typeface="Poppins Bold"/>
                <a:sym typeface="Poppins Bold"/>
              </a:rPr>
              <a:t>Not in the model, and never by editing the source file by hand.</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5883375"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Th</a:t>
            </a:r>
            <a:r>
              <a:rPr lang="en-US" sz="5000">
                <a:solidFill>
                  <a:srgbClr val="388080"/>
                </a:solidFill>
                <a:latin typeface="Poppins"/>
                <a:ea typeface="Poppins"/>
                <a:cs typeface="Poppins"/>
                <a:sym typeface="Poppins"/>
              </a:rPr>
              <a:t>e honest caveat</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828675" y="2741290"/>
            <a:ext cx="14744700" cy="4251960"/>
            <a:chOff x="0" y="0"/>
            <a:chExt cx="19659600" cy="5669280"/>
          </a:xfrm>
        </p:grpSpPr>
        <p:sp>
          <p:nvSpPr>
            <p:cNvPr name="Freeform 12" id="12"/>
            <p:cNvSpPr/>
            <p:nvPr/>
          </p:nvSpPr>
          <p:spPr>
            <a:xfrm flipH="false" flipV="false" rot="0">
              <a:off x="0" y="0"/>
              <a:ext cx="19659600" cy="5669280"/>
            </a:xfrm>
            <a:custGeom>
              <a:avLst/>
              <a:gdLst/>
              <a:ahLst/>
              <a:cxnLst/>
              <a:rect r="r" b="b" t="t" l="l"/>
              <a:pathLst>
                <a:path h="5669280" w="19659600">
                  <a:moveTo>
                    <a:pt x="0" y="182880"/>
                  </a:moveTo>
                  <a:cubicBezTo>
                    <a:pt x="0" y="81915"/>
                    <a:pt x="81915" y="0"/>
                    <a:pt x="182880" y="0"/>
                  </a:cubicBezTo>
                  <a:lnTo>
                    <a:pt x="19476720" y="0"/>
                  </a:lnTo>
                  <a:cubicBezTo>
                    <a:pt x="19577684" y="0"/>
                    <a:pt x="19659600" y="81915"/>
                    <a:pt x="19659600" y="182880"/>
                  </a:cubicBezTo>
                  <a:lnTo>
                    <a:pt x="19659600" y="5486400"/>
                  </a:lnTo>
                  <a:cubicBezTo>
                    <a:pt x="19659600" y="5587365"/>
                    <a:pt x="19577684" y="5669280"/>
                    <a:pt x="19476720" y="5669280"/>
                  </a:cubicBezTo>
                  <a:lnTo>
                    <a:pt x="182880" y="5669280"/>
                  </a:lnTo>
                  <a:cubicBezTo>
                    <a:pt x="81915" y="5669280"/>
                    <a:pt x="0" y="5587365"/>
                    <a:pt x="0" y="5486400"/>
                  </a:cubicBezTo>
                  <a:close/>
                </a:path>
              </a:pathLst>
            </a:custGeom>
            <a:solidFill>
              <a:srgbClr val="FFFFFF"/>
            </a:solidFill>
          </p:spPr>
        </p:sp>
      </p:grpSp>
      <p:grpSp>
        <p:nvGrpSpPr>
          <p:cNvPr name="Group 13" id="13"/>
          <p:cNvGrpSpPr/>
          <p:nvPr/>
        </p:nvGrpSpPr>
        <p:grpSpPr>
          <a:xfrm rot="0">
            <a:off x="1360646" y="3273261"/>
            <a:ext cx="1130618" cy="1130618"/>
            <a:chOff x="0" y="0"/>
            <a:chExt cx="1507490" cy="1507490"/>
          </a:xfrm>
        </p:grpSpPr>
        <p:sp>
          <p:nvSpPr>
            <p:cNvPr name="Freeform 14" id="14"/>
            <p:cNvSpPr/>
            <p:nvPr/>
          </p:nvSpPr>
          <p:spPr>
            <a:xfrm flipH="false" flipV="false" rot="0">
              <a:off x="0" y="0"/>
              <a:ext cx="1507490" cy="1507490"/>
            </a:xfrm>
            <a:custGeom>
              <a:avLst/>
              <a:gdLst/>
              <a:ahLst/>
              <a:cxnLst/>
              <a:rect r="r" b="b" t="t" l="l"/>
              <a:pathLst>
                <a:path h="1507490" w="1507490">
                  <a:moveTo>
                    <a:pt x="0" y="753745"/>
                  </a:moveTo>
                  <a:cubicBezTo>
                    <a:pt x="0" y="337439"/>
                    <a:pt x="337439" y="0"/>
                    <a:pt x="753745" y="0"/>
                  </a:cubicBezTo>
                  <a:cubicBezTo>
                    <a:pt x="1170051" y="0"/>
                    <a:pt x="1507490" y="337439"/>
                    <a:pt x="1507490" y="753745"/>
                  </a:cubicBezTo>
                  <a:cubicBezTo>
                    <a:pt x="1507490" y="1170051"/>
                    <a:pt x="1170051" y="1507490"/>
                    <a:pt x="753745" y="1507490"/>
                  </a:cubicBezTo>
                  <a:cubicBezTo>
                    <a:pt x="337439" y="1507490"/>
                    <a:pt x="0" y="1170051"/>
                    <a:pt x="0" y="753745"/>
                  </a:cubicBezTo>
                  <a:close/>
                </a:path>
              </a:pathLst>
            </a:custGeom>
            <a:solidFill>
              <a:srgbClr val="FFFFFF"/>
            </a:solidFill>
            <a:ln w="33338" cap="sq">
              <a:solidFill>
                <a:srgbClr val="387F7F"/>
              </a:solidFill>
              <a:prstDash val="solid"/>
              <a:miter/>
            </a:ln>
          </p:spPr>
        </p:sp>
      </p:grpSp>
      <p:grpSp>
        <p:nvGrpSpPr>
          <p:cNvPr name="Group 15" id="15"/>
          <p:cNvGrpSpPr/>
          <p:nvPr/>
        </p:nvGrpSpPr>
        <p:grpSpPr>
          <a:xfrm rot="0">
            <a:off x="1377315" y="3289930"/>
            <a:ext cx="1097280" cy="1097280"/>
            <a:chOff x="0" y="0"/>
            <a:chExt cx="1463040" cy="1463040"/>
          </a:xfrm>
        </p:grpSpPr>
        <p:sp>
          <p:nvSpPr>
            <p:cNvPr name="Freeform 16" id="16"/>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close/>
                </a:path>
              </a:pathLst>
            </a:custGeom>
            <a:blipFill>
              <a:blip r:embed="rId9">
                <a:alphaModFix amt="0"/>
              </a:blip>
              <a:stretch>
                <a:fillRect l="-78303" t="0" r="-78303" b="0"/>
              </a:stretch>
            </a:blipFill>
          </p:spPr>
        </p:sp>
        <p:sp>
          <p:nvSpPr>
            <p:cNvPr name="TextBox 17" id="17"/>
            <p:cNvSpPr txBox="true"/>
            <p:nvPr/>
          </p:nvSpPr>
          <p:spPr>
            <a:xfrm>
              <a:off x="0" y="-38100"/>
              <a:ext cx="1463040" cy="1501140"/>
            </a:xfrm>
            <a:prstGeom prst="rect">
              <a:avLst/>
            </a:prstGeom>
          </p:spPr>
          <p:txBody>
            <a:bodyPr anchor="ctr" rtlCol="false" tIns="0" lIns="0" bIns="0" rIns="0"/>
            <a:lstStyle/>
            <a:p>
              <a:pPr algn="ctr">
                <a:lnSpc>
                  <a:spcPts val="4680"/>
                </a:lnSpc>
              </a:pPr>
              <a:r>
                <a:rPr lang="en-US" sz="3900" b="true">
                  <a:solidFill>
                    <a:srgbClr val="387F7F"/>
                  </a:solidFill>
                  <a:latin typeface="Poppins Bold"/>
                  <a:ea typeface="Poppins Bold"/>
                  <a:cs typeface="Poppins Bold"/>
                  <a:sym typeface="Poppins Bold"/>
                </a:rPr>
                <a:t>⚖</a:t>
              </a:r>
            </a:p>
          </p:txBody>
        </p:sp>
      </p:grpSp>
      <p:sp>
        <p:nvSpPr>
          <p:cNvPr name="TextBox 18" id="18"/>
          <p:cNvSpPr txBox="true"/>
          <p:nvPr/>
        </p:nvSpPr>
        <p:spPr>
          <a:xfrm rot="0">
            <a:off x="2886075" y="3185155"/>
            <a:ext cx="12207240" cy="1750695"/>
          </a:xfrm>
          <a:prstGeom prst="rect">
            <a:avLst/>
          </a:prstGeom>
        </p:spPr>
        <p:txBody>
          <a:bodyPr anchor="t" rtlCol="false" tIns="0" lIns="0" bIns="0" rIns="0">
            <a:spAutoFit/>
          </a:bodyPr>
          <a:lstStyle/>
          <a:p>
            <a:pPr algn="l">
              <a:lnSpc>
                <a:spcPts val="3766"/>
              </a:lnSpc>
            </a:pPr>
            <a:r>
              <a:rPr lang="en-US" sz="2325">
                <a:solidFill>
                  <a:srgbClr val="475569"/>
                </a:solidFill>
                <a:latin typeface="Poppins"/>
                <a:ea typeface="Poppins"/>
                <a:cs typeface="Poppins"/>
                <a:sym typeface="Poppins"/>
              </a:rPr>
              <a:t>A single table is not always wrong. If you have one source, no dimensions worth describing separately, no time intelligence and no counts of distinct things, a flat table is simpler, and simpler is a real virtue. Plenty of good reports are one table.</a:t>
            </a:r>
          </a:p>
        </p:txBody>
      </p:sp>
      <p:sp>
        <p:nvSpPr>
          <p:cNvPr name="TextBox 19" id="19"/>
          <p:cNvSpPr txBox="true"/>
          <p:nvPr/>
        </p:nvSpPr>
        <p:spPr>
          <a:xfrm rot="0">
            <a:off x="2886075" y="5036815"/>
            <a:ext cx="12207240" cy="1750695"/>
          </a:xfrm>
          <a:prstGeom prst="rect">
            <a:avLst/>
          </a:prstGeom>
        </p:spPr>
        <p:txBody>
          <a:bodyPr anchor="t" rtlCol="false" tIns="0" lIns="0" bIns="0" rIns="0">
            <a:spAutoFit/>
          </a:bodyPr>
          <a:lstStyle/>
          <a:p>
            <a:pPr algn="l">
              <a:lnSpc>
                <a:spcPts val="3766"/>
              </a:lnSpc>
            </a:pPr>
            <a:r>
              <a:rPr lang="en-US" sz="2325">
                <a:solidFill>
                  <a:srgbClr val="475569"/>
                </a:solidFill>
                <a:latin typeface="Poppins"/>
                <a:ea typeface="Poppins"/>
                <a:cs typeface="Poppins"/>
                <a:sym typeface="Poppins"/>
              </a:rPr>
              <a:t>The claim in this topic is narrower, and it is the one your outcome asks you to explain: a flat table is the wrong design when you need to count or filter by things rather than events. Know which situation you are in, and be able to say why.</a:t>
            </a:r>
          </a:p>
        </p:txBody>
      </p:sp>
      <p:grpSp>
        <p:nvGrpSpPr>
          <p:cNvPr name="Group 20" id="20"/>
          <p:cNvGrpSpPr/>
          <p:nvPr/>
        </p:nvGrpSpPr>
        <p:grpSpPr>
          <a:xfrm rot="0">
            <a:off x="828675" y="7404730"/>
            <a:ext cx="14744700" cy="1371600"/>
            <a:chOff x="0" y="0"/>
            <a:chExt cx="19659600" cy="1828800"/>
          </a:xfrm>
        </p:grpSpPr>
        <p:sp>
          <p:nvSpPr>
            <p:cNvPr name="Freeform 21" id="21"/>
            <p:cNvSpPr/>
            <p:nvPr/>
          </p:nvSpPr>
          <p:spPr>
            <a:xfrm flipH="false" flipV="false" rot="0">
              <a:off x="0" y="0"/>
              <a:ext cx="19659600" cy="1828800"/>
            </a:xfrm>
            <a:custGeom>
              <a:avLst/>
              <a:gdLst/>
              <a:ahLst/>
              <a:cxnLst/>
              <a:rect r="r" b="b" t="t" l="l"/>
              <a:pathLst>
                <a:path h="1828800" w="19659600">
                  <a:moveTo>
                    <a:pt x="0" y="164592"/>
                  </a:moveTo>
                  <a:cubicBezTo>
                    <a:pt x="0" y="73660"/>
                    <a:pt x="73660" y="0"/>
                    <a:pt x="164592" y="0"/>
                  </a:cubicBezTo>
                  <a:lnTo>
                    <a:pt x="19495008" y="0"/>
                  </a:lnTo>
                  <a:cubicBezTo>
                    <a:pt x="19585939" y="0"/>
                    <a:pt x="19659600" y="73660"/>
                    <a:pt x="19659600" y="164592"/>
                  </a:cubicBezTo>
                  <a:lnTo>
                    <a:pt x="19659600" y="1664208"/>
                  </a:lnTo>
                  <a:cubicBezTo>
                    <a:pt x="19659600" y="1755140"/>
                    <a:pt x="19585939" y="1828800"/>
                    <a:pt x="19495008" y="1828800"/>
                  </a:cubicBezTo>
                  <a:lnTo>
                    <a:pt x="164592" y="1828800"/>
                  </a:lnTo>
                  <a:cubicBezTo>
                    <a:pt x="73660" y="1828800"/>
                    <a:pt x="0" y="1755140"/>
                    <a:pt x="0" y="1664208"/>
                  </a:cubicBezTo>
                  <a:close/>
                </a:path>
              </a:pathLst>
            </a:custGeom>
            <a:solidFill>
              <a:srgbClr val="FBF3E6"/>
            </a:solidFill>
          </p:spPr>
        </p:sp>
      </p:grpSp>
      <p:grpSp>
        <p:nvGrpSpPr>
          <p:cNvPr name="Group 22" id="22"/>
          <p:cNvGrpSpPr/>
          <p:nvPr/>
        </p:nvGrpSpPr>
        <p:grpSpPr>
          <a:xfrm rot="0">
            <a:off x="828675" y="7404730"/>
            <a:ext cx="102870" cy="1371600"/>
            <a:chOff x="0" y="0"/>
            <a:chExt cx="137160" cy="1828800"/>
          </a:xfrm>
        </p:grpSpPr>
        <p:sp>
          <p:nvSpPr>
            <p:cNvPr name="Freeform 23" id="23"/>
            <p:cNvSpPr/>
            <p:nvPr/>
          </p:nvSpPr>
          <p:spPr>
            <a:xfrm flipH="false" flipV="false" rot="0">
              <a:off x="0" y="0"/>
              <a:ext cx="137160" cy="1828800"/>
            </a:xfrm>
            <a:custGeom>
              <a:avLst/>
              <a:gdLst/>
              <a:ahLst/>
              <a:cxnLst/>
              <a:rect r="r" b="b" t="t" l="l"/>
              <a:pathLst>
                <a:path h="1828800" w="137160">
                  <a:moveTo>
                    <a:pt x="0" y="0"/>
                  </a:moveTo>
                  <a:lnTo>
                    <a:pt x="137160" y="0"/>
                  </a:lnTo>
                  <a:lnTo>
                    <a:pt x="137160" y="1828800"/>
                  </a:lnTo>
                  <a:lnTo>
                    <a:pt x="0" y="1828800"/>
                  </a:lnTo>
                  <a:close/>
                </a:path>
              </a:pathLst>
            </a:custGeom>
            <a:solidFill>
              <a:srgbClr val="C9821F"/>
            </a:solidFill>
          </p:spPr>
        </p:sp>
      </p:grpSp>
      <p:grpSp>
        <p:nvGrpSpPr>
          <p:cNvPr name="Group 24" id="24"/>
          <p:cNvGrpSpPr/>
          <p:nvPr/>
        </p:nvGrpSpPr>
        <p:grpSpPr>
          <a:xfrm rot="0">
            <a:off x="1377315" y="7404730"/>
            <a:ext cx="13853160" cy="1371600"/>
            <a:chOff x="0" y="0"/>
            <a:chExt cx="18470880" cy="1828800"/>
          </a:xfrm>
        </p:grpSpPr>
        <p:sp>
          <p:nvSpPr>
            <p:cNvPr name="Freeform 25" id="25"/>
            <p:cNvSpPr/>
            <p:nvPr/>
          </p:nvSpPr>
          <p:spPr>
            <a:xfrm flipH="false" flipV="false" rot="0">
              <a:off x="0" y="0"/>
              <a:ext cx="18470880" cy="1828800"/>
            </a:xfrm>
            <a:custGeom>
              <a:avLst/>
              <a:gdLst/>
              <a:ahLst/>
              <a:cxnLst/>
              <a:rect r="r" b="b" t="t" l="l"/>
              <a:pathLst>
                <a:path h="1828800" w="18470880">
                  <a:moveTo>
                    <a:pt x="0" y="0"/>
                  </a:moveTo>
                  <a:lnTo>
                    <a:pt x="18470880" y="0"/>
                  </a:lnTo>
                  <a:lnTo>
                    <a:pt x="18470880" y="1828800"/>
                  </a:lnTo>
                  <a:lnTo>
                    <a:pt x="0" y="1828800"/>
                  </a:lnTo>
                  <a:close/>
                </a:path>
              </a:pathLst>
            </a:custGeom>
            <a:blipFill>
              <a:blip r:embed="rId9">
                <a:alphaModFix amt="0"/>
              </a:blip>
              <a:stretch>
                <a:fillRect l="0" t="-146798" r="0" b="-146798"/>
              </a:stretch>
            </a:blipFill>
          </p:spPr>
        </p:sp>
        <p:sp>
          <p:nvSpPr>
            <p:cNvPr name="TextBox 26" id="26"/>
            <p:cNvSpPr txBox="true"/>
            <p:nvPr/>
          </p:nvSpPr>
          <p:spPr>
            <a:xfrm>
              <a:off x="0" y="-114300"/>
              <a:ext cx="18470880" cy="1943100"/>
            </a:xfrm>
            <a:prstGeom prst="rect">
              <a:avLst/>
            </a:prstGeom>
          </p:spPr>
          <p:txBody>
            <a:bodyPr anchor="ctr" rtlCol="false" tIns="0" lIns="0" bIns="0" rIns="0"/>
            <a:lstStyle/>
            <a:p>
              <a:pPr algn="l">
                <a:lnSpc>
                  <a:spcPts val="3523"/>
                </a:lnSpc>
              </a:pPr>
              <a:r>
                <a:rPr lang="en-US" sz="2175" b="true">
                  <a:solidFill>
                    <a:srgbClr val="8A5A12"/>
                  </a:solidFill>
                  <a:latin typeface="Poppins Bold"/>
                  <a:ea typeface="Poppins Bold"/>
                  <a:cs typeface="Poppins Bold"/>
                  <a:sym typeface="Poppins Bold"/>
                </a:rPr>
                <a:t>A trainee who says “flat tables are always bad” has learned a slogan, not a skill. This nuance is fair game in the formative check.</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3914279"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T</a:t>
            </a:r>
            <a:r>
              <a:rPr lang="en-US" sz="5000">
                <a:solidFill>
                  <a:srgbClr val="388080"/>
                </a:solidFill>
                <a:latin typeface="Poppins"/>
                <a:ea typeface="Poppins"/>
                <a:cs typeface="Poppins"/>
                <a:sym typeface="Poppins"/>
              </a:rPr>
              <a:t>opic Recap</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904875" y="2752720"/>
            <a:ext cx="11143754" cy="1165860"/>
            <a:chOff x="0" y="0"/>
            <a:chExt cx="14858338" cy="1554480"/>
          </a:xfrm>
        </p:grpSpPr>
        <p:sp>
          <p:nvSpPr>
            <p:cNvPr name="Freeform 12" id="12"/>
            <p:cNvSpPr/>
            <p:nvPr/>
          </p:nvSpPr>
          <p:spPr>
            <a:xfrm flipH="false" flipV="false" rot="0">
              <a:off x="0" y="0"/>
              <a:ext cx="14858338" cy="1554480"/>
            </a:xfrm>
            <a:custGeom>
              <a:avLst/>
              <a:gdLst/>
              <a:ahLst/>
              <a:cxnLst/>
              <a:rect r="r" b="b" t="t" l="l"/>
              <a:pathLst>
                <a:path h="1554480" w="14858338">
                  <a:moveTo>
                    <a:pt x="0" y="146304"/>
                  </a:moveTo>
                  <a:cubicBezTo>
                    <a:pt x="0" y="65532"/>
                    <a:pt x="49528" y="0"/>
                    <a:pt x="110574" y="0"/>
                  </a:cubicBezTo>
                  <a:lnTo>
                    <a:pt x="14747765" y="0"/>
                  </a:lnTo>
                  <a:cubicBezTo>
                    <a:pt x="14808811" y="0"/>
                    <a:pt x="14858338" y="65532"/>
                    <a:pt x="14858338" y="146304"/>
                  </a:cubicBezTo>
                  <a:lnTo>
                    <a:pt x="14858338" y="1408176"/>
                  </a:lnTo>
                  <a:cubicBezTo>
                    <a:pt x="14858338" y="1488948"/>
                    <a:pt x="14808811" y="1554480"/>
                    <a:pt x="14747765" y="1554480"/>
                  </a:cubicBezTo>
                  <a:lnTo>
                    <a:pt x="110574" y="1554480"/>
                  </a:lnTo>
                  <a:cubicBezTo>
                    <a:pt x="49528" y="1554480"/>
                    <a:pt x="0" y="1488948"/>
                    <a:pt x="0" y="1408176"/>
                  </a:cubicBezTo>
                  <a:close/>
                </a:path>
              </a:pathLst>
            </a:custGeom>
            <a:solidFill>
              <a:srgbClr val="FFFFFF"/>
            </a:solidFill>
          </p:spPr>
        </p:sp>
      </p:grpSp>
      <p:grpSp>
        <p:nvGrpSpPr>
          <p:cNvPr name="Group 13" id="13"/>
          <p:cNvGrpSpPr/>
          <p:nvPr/>
        </p:nvGrpSpPr>
        <p:grpSpPr>
          <a:xfrm rot="0">
            <a:off x="1275207" y="3013324"/>
            <a:ext cx="644652" cy="644652"/>
            <a:chOff x="0" y="0"/>
            <a:chExt cx="859536" cy="859536"/>
          </a:xfrm>
        </p:grpSpPr>
        <p:sp>
          <p:nvSpPr>
            <p:cNvPr name="Freeform 14" id="14"/>
            <p:cNvSpPr/>
            <p:nvPr/>
          </p:nvSpPr>
          <p:spPr>
            <a:xfrm flipH="false" flipV="false" rot="0">
              <a:off x="0" y="0"/>
              <a:ext cx="859536" cy="859536"/>
            </a:xfrm>
            <a:custGeom>
              <a:avLst/>
              <a:gdLst/>
              <a:ahLst/>
              <a:cxnLst/>
              <a:rect r="r" b="b" t="t" l="l"/>
              <a:pathLst>
                <a:path h="859536" w="859536">
                  <a:moveTo>
                    <a:pt x="0" y="429768"/>
                  </a:moveTo>
                  <a:cubicBezTo>
                    <a:pt x="0" y="192405"/>
                    <a:pt x="192405" y="0"/>
                    <a:pt x="429768" y="0"/>
                  </a:cubicBezTo>
                  <a:cubicBezTo>
                    <a:pt x="667131" y="0"/>
                    <a:pt x="859536" y="192405"/>
                    <a:pt x="859536" y="429768"/>
                  </a:cubicBezTo>
                  <a:cubicBezTo>
                    <a:pt x="859536" y="667131"/>
                    <a:pt x="667131" y="859536"/>
                    <a:pt x="429768" y="859536"/>
                  </a:cubicBezTo>
                  <a:cubicBezTo>
                    <a:pt x="192405" y="859536"/>
                    <a:pt x="0" y="667131"/>
                    <a:pt x="0" y="429768"/>
                  </a:cubicBezTo>
                  <a:close/>
                </a:path>
              </a:pathLst>
            </a:custGeom>
            <a:solidFill>
              <a:srgbClr val="387F7F"/>
            </a:solidFill>
          </p:spPr>
        </p:sp>
      </p:grpSp>
      <p:grpSp>
        <p:nvGrpSpPr>
          <p:cNvPr name="Group 15" id="15"/>
          <p:cNvGrpSpPr/>
          <p:nvPr/>
        </p:nvGrpSpPr>
        <p:grpSpPr>
          <a:xfrm rot="0">
            <a:off x="1275207" y="3013324"/>
            <a:ext cx="644652" cy="644652"/>
            <a:chOff x="0" y="0"/>
            <a:chExt cx="859536" cy="859536"/>
          </a:xfrm>
        </p:grpSpPr>
        <p:sp>
          <p:nvSpPr>
            <p:cNvPr name="Freeform 16" id="16"/>
            <p:cNvSpPr/>
            <p:nvPr/>
          </p:nvSpPr>
          <p:spPr>
            <a:xfrm flipH="false" flipV="false" rot="0">
              <a:off x="0" y="0"/>
              <a:ext cx="859536" cy="859536"/>
            </a:xfrm>
            <a:custGeom>
              <a:avLst/>
              <a:gdLst/>
              <a:ahLst/>
              <a:cxnLst/>
              <a:rect r="r" b="b" t="t" l="l"/>
              <a:pathLst>
                <a:path h="859536" w="859536">
                  <a:moveTo>
                    <a:pt x="0" y="0"/>
                  </a:moveTo>
                  <a:lnTo>
                    <a:pt x="859536" y="0"/>
                  </a:lnTo>
                  <a:lnTo>
                    <a:pt x="859536" y="859536"/>
                  </a:lnTo>
                  <a:lnTo>
                    <a:pt x="0" y="859536"/>
                  </a:lnTo>
                  <a:close/>
                </a:path>
              </a:pathLst>
            </a:custGeom>
            <a:blipFill>
              <a:blip r:embed="rId9">
                <a:alphaModFix amt="0"/>
              </a:blip>
              <a:stretch>
                <a:fillRect l="-78303" t="0" r="-78303" b="0"/>
              </a:stretch>
            </a:blipFill>
          </p:spPr>
        </p:sp>
        <p:sp>
          <p:nvSpPr>
            <p:cNvPr name="TextBox 17" id="17"/>
            <p:cNvSpPr txBox="true"/>
            <p:nvPr/>
          </p:nvSpPr>
          <p:spPr>
            <a:xfrm>
              <a:off x="0" y="-28575"/>
              <a:ext cx="859536" cy="888111"/>
            </a:xfrm>
            <a:prstGeom prst="rect">
              <a:avLst/>
            </a:prstGeom>
          </p:spPr>
          <p:txBody>
            <a:bodyPr anchor="ctr" rtlCol="false" tIns="0" lIns="0" bIns="0" rIns="0"/>
            <a:lstStyle/>
            <a:p>
              <a:pPr algn="ctr">
                <a:lnSpc>
                  <a:spcPts val="3240"/>
                </a:lnSpc>
              </a:pPr>
              <a:r>
                <a:rPr lang="en-US" sz="2700" b="true">
                  <a:solidFill>
                    <a:srgbClr val="FFFFFF"/>
                  </a:solidFill>
                  <a:latin typeface="Poppins Bold"/>
                  <a:ea typeface="Poppins Bold"/>
                  <a:cs typeface="Poppins Bold"/>
                  <a:sym typeface="Poppins Bold"/>
                </a:rPr>
                <a:t>✓</a:t>
              </a:r>
            </a:p>
          </p:txBody>
        </p:sp>
      </p:grpSp>
      <p:grpSp>
        <p:nvGrpSpPr>
          <p:cNvPr name="Group 18" id="18"/>
          <p:cNvGrpSpPr/>
          <p:nvPr/>
        </p:nvGrpSpPr>
        <p:grpSpPr>
          <a:xfrm rot="0">
            <a:off x="2274121" y="2821300"/>
            <a:ext cx="9554396" cy="1028700"/>
            <a:chOff x="0" y="0"/>
            <a:chExt cx="12739195" cy="1371600"/>
          </a:xfrm>
        </p:grpSpPr>
        <p:sp>
          <p:nvSpPr>
            <p:cNvPr name="Freeform 19" id="19"/>
            <p:cNvSpPr/>
            <p:nvPr/>
          </p:nvSpPr>
          <p:spPr>
            <a:xfrm flipH="false" flipV="false" rot="0">
              <a:off x="0" y="0"/>
              <a:ext cx="12739195" cy="1371600"/>
            </a:xfrm>
            <a:custGeom>
              <a:avLst/>
              <a:gdLst/>
              <a:ahLst/>
              <a:cxnLst/>
              <a:rect r="r" b="b" t="t" l="l"/>
              <a:pathLst>
                <a:path h="1371600" w="12739195">
                  <a:moveTo>
                    <a:pt x="0" y="0"/>
                  </a:moveTo>
                  <a:lnTo>
                    <a:pt x="12739195" y="0"/>
                  </a:lnTo>
                  <a:lnTo>
                    <a:pt x="12739195" y="1371600"/>
                  </a:lnTo>
                  <a:lnTo>
                    <a:pt x="0" y="1371600"/>
                  </a:lnTo>
                  <a:close/>
                </a:path>
              </a:pathLst>
            </a:custGeom>
            <a:blipFill>
              <a:blip r:embed="rId9">
                <a:alphaModFix amt="0"/>
              </a:blip>
              <a:stretch>
                <a:fillRect l="0" t="-196810" r="-36379" b="-196810"/>
              </a:stretch>
            </a:blipFill>
          </p:spPr>
        </p:sp>
        <p:sp>
          <p:nvSpPr>
            <p:cNvPr name="TextBox 20" id="20"/>
            <p:cNvSpPr txBox="true"/>
            <p:nvPr/>
          </p:nvSpPr>
          <p:spPr>
            <a:xfrm>
              <a:off x="0" y="-76200"/>
              <a:ext cx="12739195" cy="1447800"/>
            </a:xfrm>
            <a:prstGeom prst="rect">
              <a:avLst/>
            </a:prstGeom>
          </p:spPr>
          <p:txBody>
            <a:bodyPr anchor="ctr" rtlCol="false" tIns="0" lIns="0" bIns="0" rIns="0"/>
            <a:lstStyle/>
            <a:p>
              <a:pPr algn="l">
                <a:lnSpc>
                  <a:spcPts val="3132"/>
                </a:lnSpc>
              </a:pPr>
              <a:r>
                <a:rPr lang="en-US" sz="2175">
                  <a:solidFill>
                    <a:srgbClr val="475569"/>
                  </a:solidFill>
                  <a:latin typeface="Poppins"/>
                  <a:ea typeface="Poppins"/>
                  <a:cs typeface="Poppins"/>
                  <a:sym typeface="Poppins"/>
                </a:rPr>
                <a:t>Build a data model with correct one-to-many relationships, and check cardinality, direction and active state.</a:t>
              </a:r>
            </a:p>
          </p:txBody>
        </p:sp>
      </p:grpSp>
      <p:grpSp>
        <p:nvGrpSpPr>
          <p:cNvPr name="Group 21" id="21"/>
          <p:cNvGrpSpPr/>
          <p:nvPr/>
        </p:nvGrpSpPr>
        <p:grpSpPr>
          <a:xfrm rot="0">
            <a:off x="904875" y="4124320"/>
            <a:ext cx="11143754" cy="1165860"/>
            <a:chOff x="0" y="0"/>
            <a:chExt cx="14858338" cy="1554480"/>
          </a:xfrm>
        </p:grpSpPr>
        <p:sp>
          <p:nvSpPr>
            <p:cNvPr name="Freeform 22" id="22"/>
            <p:cNvSpPr/>
            <p:nvPr/>
          </p:nvSpPr>
          <p:spPr>
            <a:xfrm flipH="false" flipV="false" rot="0">
              <a:off x="0" y="0"/>
              <a:ext cx="14858338" cy="1554480"/>
            </a:xfrm>
            <a:custGeom>
              <a:avLst/>
              <a:gdLst/>
              <a:ahLst/>
              <a:cxnLst/>
              <a:rect r="r" b="b" t="t" l="l"/>
              <a:pathLst>
                <a:path h="1554480" w="14858338">
                  <a:moveTo>
                    <a:pt x="0" y="146304"/>
                  </a:moveTo>
                  <a:cubicBezTo>
                    <a:pt x="0" y="65532"/>
                    <a:pt x="49528" y="0"/>
                    <a:pt x="110574" y="0"/>
                  </a:cubicBezTo>
                  <a:lnTo>
                    <a:pt x="14747765" y="0"/>
                  </a:lnTo>
                  <a:cubicBezTo>
                    <a:pt x="14808811" y="0"/>
                    <a:pt x="14858338" y="65532"/>
                    <a:pt x="14858338" y="146304"/>
                  </a:cubicBezTo>
                  <a:lnTo>
                    <a:pt x="14858338" y="1408176"/>
                  </a:lnTo>
                  <a:cubicBezTo>
                    <a:pt x="14858338" y="1488948"/>
                    <a:pt x="14808811" y="1554480"/>
                    <a:pt x="14747765" y="1554480"/>
                  </a:cubicBezTo>
                  <a:lnTo>
                    <a:pt x="110574" y="1554480"/>
                  </a:lnTo>
                  <a:cubicBezTo>
                    <a:pt x="49528" y="1554480"/>
                    <a:pt x="0" y="1488948"/>
                    <a:pt x="0" y="1408176"/>
                  </a:cubicBezTo>
                  <a:close/>
                </a:path>
              </a:pathLst>
            </a:custGeom>
            <a:solidFill>
              <a:srgbClr val="FFFFFF"/>
            </a:solidFill>
          </p:spPr>
        </p:sp>
      </p:grpSp>
      <p:grpSp>
        <p:nvGrpSpPr>
          <p:cNvPr name="Group 23" id="23"/>
          <p:cNvGrpSpPr/>
          <p:nvPr/>
        </p:nvGrpSpPr>
        <p:grpSpPr>
          <a:xfrm rot="0">
            <a:off x="1275207" y="4384924"/>
            <a:ext cx="644652" cy="644652"/>
            <a:chOff x="0" y="0"/>
            <a:chExt cx="859536" cy="859536"/>
          </a:xfrm>
        </p:grpSpPr>
        <p:sp>
          <p:nvSpPr>
            <p:cNvPr name="Freeform 24" id="24"/>
            <p:cNvSpPr/>
            <p:nvPr/>
          </p:nvSpPr>
          <p:spPr>
            <a:xfrm flipH="false" flipV="false" rot="0">
              <a:off x="0" y="0"/>
              <a:ext cx="859536" cy="859536"/>
            </a:xfrm>
            <a:custGeom>
              <a:avLst/>
              <a:gdLst/>
              <a:ahLst/>
              <a:cxnLst/>
              <a:rect r="r" b="b" t="t" l="l"/>
              <a:pathLst>
                <a:path h="859536" w="859536">
                  <a:moveTo>
                    <a:pt x="0" y="429768"/>
                  </a:moveTo>
                  <a:cubicBezTo>
                    <a:pt x="0" y="192405"/>
                    <a:pt x="192405" y="0"/>
                    <a:pt x="429768" y="0"/>
                  </a:cubicBezTo>
                  <a:cubicBezTo>
                    <a:pt x="667131" y="0"/>
                    <a:pt x="859536" y="192405"/>
                    <a:pt x="859536" y="429768"/>
                  </a:cubicBezTo>
                  <a:cubicBezTo>
                    <a:pt x="859536" y="667131"/>
                    <a:pt x="667131" y="859536"/>
                    <a:pt x="429768" y="859536"/>
                  </a:cubicBezTo>
                  <a:cubicBezTo>
                    <a:pt x="192405" y="859536"/>
                    <a:pt x="0" y="667131"/>
                    <a:pt x="0" y="429768"/>
                  </a:cubicBezTo>
                  <a:close/>
                </a:path>
              </a:pathLst>
            </a:custGeom>
            <a:solidFill>
              <a:srgbClr val="387F7F"/>
            </a:solidFill>
          </p:spPr>
        </p:sp>
      </p:grpSp>
      <p:grpSp>
        <p:nvGrpSpPr>
          <p:cNvPr name="Group 25" id="25"/>
          <p:cNvGrpSpPr/>
          <p:nvPr/>
        </p:nvGrpSpPr>
        <p:grpSpPr>
          <a:xfrm rot="0">
            <a:off x="1275207" y="4384924"/>
            <a:ext cx="644652" cy="644652"/>
            <a:chOff x="0" y="0"/>
            <a:chExt cx="859536" cy="859536"/>
          </a:xfrm>
        </p:grpSpPr>
        <p:sp>
          <p:nvSpPr>
            <p:cNvPr name="Freeform 26" id="26"/>
            <p:cNvSpPr/>
            <p:nvPr/>
          </p:nvSpPr>
          <p:spPr>
            <a:xfrm flipH="false" flipV="false" rot="0">
              <a:off x="0" y="0"/>
              <a:ext cx="859536" cy="859536"/>
            </a:xfrm>
            <a:custGeom>
              <a:avLst/>
              <a:gdLst/>
              <a:ahLst/>
              <a:cxnLst/>
              <a:rect r="r" b="b" t="t" l="l"/>
              <a:pathLst>
                <a:path h="859536" w="859536">
                  <a:moveTo>
                    <a:pt x="0" y="0"/>
                  </a:moveTo>
                  <a:lnTo>
                    <a:pt x="859536" y="0"/>
                  </a:lnTo>
                  <a:lnTo>
                    <a:pt x="859536" y="859536"/>
                  </a:lnTo>
                  <a:lnTo>
                    <a:pt x="0" y="859536"/>
                  </a:lnTo>
                  <a:close/>
                </a:path>
              </a:pathLst>
            </a:custGeom>
            <a:blipFill>
              <a:blip r:embed="rId9">
                <a:alphaModFix amt="0"/>
              </a:blip>
              <a:stretch>
                <a:fillRect l="-78303" t="0" r="-78303" b="0"/>
              </a:stretch>
            </a:blipFill>
          </p:spPr>
        </p:sp>
        <p:sp>
          <p:nvSpPr>
            <p:cNvPr name="TextBox 27" id="27"/>
            <p:cNvSpPr txBox="true"/>
            <p:nvPr/>
          </p:nvSpPr>
          <p:spPr>
            <a:xfrm>
              <a:off x="0" y="-28575"/>
              <a:ext cx="859536" cy="888111"/>
            </a:xfrm>
            <a:prstGeom prst="rect">
              <a:avLst/>
            </a:prstGeom>
          </p:spPr>
          <p:txBody>
            <a:bodyPr anchor="ctr" rtlCol="false" tIns="0" lIns="0" bIns="0" rIns="0"/>
            <a:lstStyle/>
            <a:p>
              <a:pPr algn="ctr">
                <a:lnSpc>
                  <a:spcPts val="3240"/>
                </a:lnSpc>
              </a:pPr>
              <a:r>
                <a:rPr lang="en-US" sz="2700" b="true">
                  <a:solidFill>
                    <a:srgbClr val="FFFFFF"/>
                  </a:solidFill>
                  <a:latin typeface="Poppins Bold"/>
                  <a:ea typeface="Poppins Bold"/>
                  <a:cs typeface="Poppins Bold"/>
                  <a:sym typeface="Poppins Bold"/>
                </a:rPr>
                <a:t>✓</a:t>
              </a:r>
            </a:p>
          </p:txBody>
        </p:sp>
      </p:grpSp>
      <p:grpSp>
        <p:nvGrpSpPr>
          <p:cNvPr name="Group 28" id="28"/>
          <p:cNvGrpSpPr/>
          <p:nvPr/>
        </p:nvGrpSpPr>
        <p:grpSpPr>
          <a:xfrm rot="0">
            <a:off x="2274121" y="4192900"/>
            <a:ext cx="9554396" cy="1028700"/>
            <a:chOff x="0" y="0"/>
            <a:chExt cx="12739195" cy="1371600"/>
          </a:xfrm>
        </p:grpSpPr>
        <p:sp>
          <p:nvSpPr>
            <p:cNvPr name="Freeform 29" id="29"/>
            <p:cNvSpPr/>
            <p:nvPr/>
          </p:nvSpPr>
          <p:spPr>
            <a:xfrm flipH="false" flipV="false" rot="0">
              <a:off x="0" y="0"/>
              <a:ext cx="12739195" cy="1371600"/>
            </a:xfrm>
            <a:custGeom>
              <a:avLst/>
              <a:gdLst/>
              <a:ahLst/>
              <a:cxnLst/>
              <a:rect r="r" b="b" t="t" l="l"/>
              <a:pathLst>
                <a:path h="1371600" w="12739195">
                  <a:moveTo>
                    <a:pt x="0" y="0"/>
                  </a:moveTo>
                  <a:lnTo>
                    <a:pt x="12739195" y="0"/>
                  </a:lnTo>
                  <a:lnTo>
                    <a:pt x="12739195" y="1371600"/>
                  </a:lnTo>
                  <a:lnTo>
                    <a:pt x="0" y="1371600"/>
                  </a:lnTo>
                  <a:close/>
                </a:path>
              </a:pathLst>
            </a:custGeom>
            <a:blipFill>
              <a:blip r:embed="rId9">
                <a:alphaModFix amt="0"/>
              </a:blip>
              <a:stretch>
                <a:fillRect l="0" t="-196810" r="-36379" b="-196810"/>
              </a:stretch>
            </a:blipFill>
          </p:spPr>
        </p:sp>
        <p:sp>
          <p:nvSpPr>
            <p:cNvPr name="TextBox 30" id="30"/>
            <p:cNvSpPr txBox="true"/>
            <p:nvPr/>
          </p:nvSpPr>
          <p:spPr>
            <a:xfrm>
              <a:off x="0" y="-76200"/>
              <a:ext cx="12739195" cy="1447800"/>
            </a:xfrm>
            <a:prstGeom prst="rect">
              <a:avLst/>
            </a:prstGeom>
          </p:spPr>
          <p:txBody>
            <a:bodyPr anchor="ctr" rtlCol="false" tIns="0" lIns="0" bIns="0" rIns="0"/>
            <a:lstStyle/>
            <a:p>
              <a:pPr algn="l">
                <a:lnSpc>
                  <a:spcPts val="3132"/>
                </a:lnSpc>
              </a:pPr>
              <a:r>
                <a:rPr lang="en-US" sz="2175">
                  <a:solidFill>
                    <a:srgbClr val="475569"/>
                  </a:solidFill>
                  <a:latin typeface="Poppins"/>
                  <a:ea typeface="Poppins"/>
                  <a:cs typeface="Poppins"/>
                  <a:sym typeface="Poppins"/>
                </a:rPr>
                <a:t>Explain why a flat single table is often the wrong design, with a worked failure you watched produce a plausible wrong number.</a:t>
              </a:r>
            </a:p>
          </p:txBody>
        </p:sp>
      </p:grpSp>
      <p:grpSp>
        <p:nvGrpSpPr>
          <p:cNvPr name="Group 31" id="31"/>
          <p:cNvGrpSpPr/>
          <p:nvPr/>
        </p:nvGrpSpPr>
        <p:grpSpPr>
          <a:xfrm rot="0">
            <a:off x="904875" y="5495920"/>
            <a:ext cx="11143754" cy="1165860"/>
            <a:chOff x="0" y="0"/>
            <a:chExt cx="14858338" cy="1554480"/>
          </a:xfrm>
        </p:grpSpPr>
        <p:sp>
          <p:nvSpPr>
            <p:cNvPr name="Freeform 32" id="32"/>
            <p:cNvSpPr/>
            <p:nvPr/>
          </p:nvSpPr>
          <p:spPr>
            <a:xfrm flipH="false" flipV="false" rot="0">
              <a:off x="0" y="0"/>
              <a:ext cx="14858338" cy="1554480"/>
            </a:xfrm>
            <a:custGeom>
              <a:avLst/>
              <a:gdLst/>
              <a:ahLst/>
              <a:cxnLst/>
              <a:rect r="r" b="b" t="t" l="l"/>
              <a:pathLst>
                <a:path h="1554480" w="14858338">
                  <a:moveTo>
                    <a:pt x="0" y="146304"/>
                  </a:moveTo>
                  <a:cubicBezTo>
                    <a:pt x="0" y="65532"/>
                    <a:pt x="49528" y="0"/>
                    <a:pt x="110574" y="0"/>
                  </a:cubicBezTo>
                  <a:lnTo>
                    <a:pt x="14747765" y="0"/>
                  </a:lnTo>
                  <a:cubicBezTo>
                    <a:pt x="14808811" y="0"/>
                    <a:pt x="14858338" y="65532"/>
                    <a:pt x="14858338" y="146304"/>
                  </a:cubicBezTo>
                  <a:lnTo>
                    <a:pt x="14858338" y="1408176"/>
                  </a:lnTo>
                  <a:cubicBezTo>
                    <a:pt x="14858338" y="1488948"/>
                    <a:pt x="14808811" y="1554480"/>
                    <a:pt x="14747765" y="1554480"/>
                  </a:cubicBezTo>
                  <a:lnTo>
                    <a:pt x="110574" y="1554480"/>
                  </a:lnTo>
                  <a:cubicBezTo>
                    <a:pt x="49528" y="1554480"/>
                    <a:pt x="0" y="1488948"/>
                    <a:pt x="0" y="1408176"/>
                  </a:cubicBezTo>
                  <a:close/>
                </a:path>
              </a:pathLst>
            </a:custGeom>
            <a:solidFill>
              <a:srgbClr val="FFFFFF"/>
            </a:solidFill>
          </p:spPr>
        </p:sp>
      </p:grpSp>
      <p:grpSp>
        <p:nvGrpSpPr>
          <p:cNvPr name="Group 33" id="33"/>
          <p:cNvGrpSpPr/>
          <p:nvPr/>
        </p:nvGrpSpPr>
        <p:grpSpPr>
          <a:xfrm rot="0">
            <a:off x="1275207" y="5756524"/>
            <a:ext cx="644652" cy="644652"/>
            <a:chOff x="0" y="0"/>
            <a:chExt cx="859536" cy="859536"/>
          </a:xfrm>
        </p:grpSpPr>
        <p:sp>
          <p:nvSpPr>
            <p:cNvPr name="Freeform 34" id="34"/>
            <p:cNvSpPr/>
            <p:nvPr/>
          </p:nvSpPr>
          <p:spPr>
            <a:xfrm flipH="false" flipV="false" rot="0">
              <a:off x="0" y="0"/>
              <a:ext cx="859536" cy="859536"/>
            </a:xfrm>
            <a:custGeom>
              <a:avLst/>
              <a:gdLst/>
              <a:ahLst/>
              <a:cxnLst/>
              <a:rect r="r" b="b" t="t" l="l"/>
              <a:pathLst>
                <a:path h="859536" w="859536">
                  <a:moveTo>
                    <a:pt x="0" y="429768"/>
                  </a:moveTo>
                  <a:cubicBezTo>
                    <a:pt x="0" y="192405"/>
                    <a:pt x="192405" y="0"/>
                    <a:pt x="429768" y="0"/>
                  </a:cubicBezTo>
                  <a:cubicBezTo>
                    <a:pt x="667131" y="0"/>
                    <a:pt x="859536" y="192405"/>
                    <a:pt x="859536" y="429768"/>
                  </a:cubicBezTo>
                  <a:cubicBezTo>
                    <a:pt x="859536" y="667131"/>
                    <a:pt x="667131" y="859536"/>
                    <a:pt x="429768" y="859536"/>
                  </a:cubicBezTo>
                  <a:cubicBezTo>
                    <a:pt x="192405" y="859536"/>
                    <a:pt x="0" y="667131"/>
                    <a:pt x="0" y="429768"/>
                  </a:cubicBezTo>
                  <a:close/>
                </a:path>
              </a:pathLst>
            </a:custGeom>
            <a:solidFill>
              <a:srgbClr val="387F7F"/>
            </a:solidFill>
          </p:spPr>
        </p:sp>
      </p:grpSp>
      <p:grpSp>
        <p:nvGrpSpPr>
          <p:cNvPr name="Group 35" id="35"/>
          <p:cNvGrpSpPr/>
          <p:nvPr/>
        </p:nvGrpSpPr>
        <p:grpSpPr>
          <a:xfrm rot="0">
            <a:off x="1275207" y="5756524"/>
            <a:ext cx="644652" cy="644652"/>
            <a:chOff x="0" y="0"/>
            <a:chExt cx="859536" cy="859536"/>
          </a:xfrm>
        </p:grpSpPr>
        <p:sp>
          <p:nvSpPr>
            <p:cNvPr name="Freeform 36" id="36"/>
            <p:cNvSpPr/>
            <p:nvPr/>
          </p:nvSpPr>
          <p:spPr>
            <a:xfrm flipH="false" flipV="false" rot="0">
              <a:off x="0" y="0"/>
              <a:ext cx="859536" cy="859536"/>
            </a:xfrm>
            <a:custGeom>
              <a:avLst/>
              <a:gdLst/>
              <a:ahLst/>
              <a:cxnLst/>
              <a:rect r="r" b="b" t="t" l="l"/>
              <a:pathLst>
                <a:path h="859536" w="859536">
                  <a:moveTo>
                    <a:pt x="0" y="0"/>
                  </a:moveTo>
                  <a:lnTo>
                    <a:pt x="859536" y="0"/>
                  </a:lnTo>
                  <a:lnTo>
                    <a:pt x="859536" y="859536"/>
                  </a:lnTo>
                  <a:lnTo>
                    <a:pt x="0" y="859536"/>
                  </a:lnTo>
                  <a:close/>
                </a:path>
              </a:pathLst>
            </a:custGeom>
            <a:blipFill>
              <a:blip r:embed="rId9">
                <a:alphaModFix amt="0"/>
              </a:blip>
              <a:stretch>
                <a:fillRect l="-78303" t="0" r="-78303" b="0"/>
              </a:stretch>
            </a:blipFill>
          </p:spPr>
        </p:sp>
        <p:sp>
          <p:nvSpPr>
            <p:cNvPr name="TextBox 37" id="37"/>
            <p:cNvSpPr txBox="true"/>
            <p:nvPr/>
          </p:nvSpPr>
          <p:spPr>
            <a:xfrm>
              <a:off x="0" y="-28575"/>
              <a:ext cx="859536" cy="888111"/>
            </a:xfrm>
            <a:prstGeom prst="rect">
              <a:avLst/>
            </a:prstGeom>
          </p:spPr>
          <p:txBody>
            <a:bodyPr anchor="ctr" rtlCol="false" tIns="0" lIns="0" bIns="0" rIns="0"/>
            <a:lstStyle/>
            <a:p>
              <a:pPr algn="ctr">
                <a:lnSpc>
                  <a:spcPts val="3240"/>
                </a:lnSpc>
              </a:pPr>
              <a:r>
                <a:rPr lang="en-US" sz="2700" b="true">
                  <a:solidFill>
                    <a:srgbClr val="FFFFFF"/>
                  </a:solidFill>
                  <a:latin typeface="Poppins Bold"/>
                  <a:ea typeface="Poppins Bold"/>
                  <a:cs typeface="Poppins Bold"/>
                  <a:sym typeface="Poppins Bold"/>
                </a:rPr>
                <a:t>✓</a:t>
              </a:r>
            </a:p>
          </p:txBody>
        </p:sp>
      </p:grpSp>
      <p:grpSp>
        <p:nvGrpSpPr>
          <p:cNvPr name="Group 38" id="38"/>
          <p:cNvGrpSpPr/>
          <p:nvPr/>
        </p:nvGrpSpPr>
        <p:grpSpPr>
          <a:xfrm rot="0">
            <a:off x="2274121" y="5564500"/>
            <a:ext cx="9554396" cy="1028700"/>
            <a:chOff x="0" y="0"/>
            <a:chExt cx="12739195" cy="1371600"/>
          </a:xfrm>
        </p:grpSpPr>
        <p:sp>
          <p:nvSpPr>
            <p:cNvPr name="Freeform 39" id="39"/>
            <p:cNvSpPr/>
            <p:nvPr/>
          </p:nvSpPr>
          <p:spPr>
            <a:xfrm flipH="false" flipV="false" rot="0">
              <a:off x="0" y="0"/>
              <a:ext cx="12739195" cy="1371600"/>
            </a:xfrm>
            <a:custGeom>
              <a:avLst/>
              <a:gdLst/>
              <a:ahLst/>
              <a:cxnLst/>
              <a:rect r="r" b="b" t="t" l="l"/>
              <a:pathLst>
                <a:path h="1371600" w="12739195">
                  <a:moveTo>
                    <a:pt x="0" y="0"/>
                  </a:moveTo>
                  <a:lnTo>
                    <a:pt x="12739195" y="0"/>
                  </a:lnTo>
                  <a:lnTo>
                    <a:pt x="12739195" y="1371600"/>
                  </a:lnTo>
                  <a:lnTo>
                    <a:pt x="0" y="1371600"/>
                  </a:lnTo>
                  <a:close/>
                </a:path>
              </a:pathLst>
            </a:custGeom>
            <a:blipFill>
              <a:blip r:embed="rId9">
                <a:alphaModFix amt="0"/>
              </a:blip>
              <a:stretch>
                <a:fillRect l="0" t="-196810" r="-36379" b="-196810"/>
              </a:stretch>
            </a:blipFill>
          </p:spPr>
        </p:sp>
        <p:sp>
          <p:nvSpPr>
            <p:cNvPr name="TextBox 40" id="40"/>
            <p:cNvSpPr txBox="true"/>
            <p:nvPr/>
          </p:nvSpPr>
          <p:spPr>
            <a:xfrm>
              <a:off x="0" y="-76200"/>
              <a:ext cx="12739195" cy="1447800"/>
            </a:xfrm>
            <a:prstGeom prst="rect">
              <a:avLst/>
            </a:prstGeom>
          </p:spPr>
          <p:txBody>
            <a:bodyPr anchor="ctr" rtlCol="false" tIns="0" lIns="0" bIns="0" rIns="0"/>
            <a:lstStyle/>
            <a:p>
              <a:pPr algn="l">
                <a:lnSpc>
                  <a:spcPts val="3132"/>
                </a:lnSpc>
              </a:pPr>
              <a:r>
                <a:rPr lang="en-US" sz="2175">
                  <a:solidFill>
                    <a:srgbClr val="475569"/>
                  </a:solidFill>
                  <a:latin typeface="Poppins"/>
                  <a:ea typeface="Poppins"/>
                  <a:cs typeface="Poppins"/>
                  <a:sym typeface="Poppins"/>
                </a:rPr>
                <a:t>Fix a broken relationship upstream in Power Query rather than patching it in the model.</a:t>
              </a:r>
            </a:p>
          </p:txBody>
        </p:sp>
      </p:grpSp>
      <p:grpSp>
        <p:nvGrpSpPr>
          <p:cNvPr name="Group 41" id="41"/>
          <p:cNvGrpSpPr/>
          <p:nvPr/>
        </p:nvGrpSpPr>
        <p:grpSpPr>
          <a:xfrm rot="0">
            <a:off x="904875" y="7141840"/>
            <a:ext cx="14744700" cy="1508760"/>
            <a:chOff x="0" y="0"/>
            <a:chExt cx="19659600" cy="2011680"/>
          </a:xfrm>
        </p:grpSpPr>
        <p:sp>
          <p:nvSpPr>
            <p:cNvPr name="Freeform 42" id="42"/>
            <p:cNvSpPr/>
            <p:nvPr/>
          </p:nvSpPr>
          <p:spPr>
            <a:xfrm flipH="false" flipV="false" rot="0">
              <a:off x="0" y="0"/>
              <a:ext cx="19659600" cy="2011680"/>
            </a:xfrm>
            <a:custGeom>
              <a:avLst/>
              <a:gdLst/>
              <a:ahLst/>
              <a:cxnLst/>
              <a:rect r="r" b="b" t="t" l="l"/>
              <a:pathLst>
                <a:path h="2011680" w="19659600">
                  <a:moveTo>
                    <a:pt x="0" y="164592"/>
                  </a:moveTo>
                  <a:cubicBezTo>
                    <a:pt x="0" y="73660"/>
                    <a:pt x="73660" y="0"/>
                    <a:pt x="164592" y="0"/>
                  </a:cubicBezTo>
                  <a:lnTo>
                    <a:pt x="19495008" y="0"/>
                  </a:lnTo>
                  <a:cubicBezTo>
                    <a:pt x="19585939" y="0"/>
                    <a:pt x="19659600" y="73660"/>
                    <a:pt x="19659600" y="164592"/>
                  </a:cubicBezTo>
                  <a:lnTo>
                    <a:pt x="19659600" y="1847088"/>
                  </a:lnTo>
                  <a:cubicBezTo>
                    <a:pt x="19659600" y="1938020"/>
                    <a:pt x="19585939" y="2011680"/>
                    <a:pt x="19495008" y="2011680"/>
                  </a:cubicBezTo>
                  <a:lnTo>
                    <a:pt x="164592" y="2011680"/>
                  </a:lnTo>
                  <a:cubicBezTo>
                    <a:pt x="73660" y="2011680"/>
                    <a:pt x="0" y="1938020"/>
                    <a:pt x="0" y="1847088"/>
                  </a:cubicBezTo>
                  <a:close/>
                </a:path>
              </a:pathLst>
            </a:custGeom>
            <a:solidFill>
              <a:srgbClr val="EEF4F4"/>
            </a:solidFill>
          </p:spPr>
        </p:sp>
      </p:grpSp>
      <p:grpSp>
        <p:nvGrpSpPr>
          <p:cNvPr name="Group 43" id="43"/>
          <p:cNvGrpSpPr/>
          <p:nvPr/>
        </p:nvGrpSpPr>
        <p:grpSpPr>
          <a:xfrm rot="0">
            <a:off x="904875" y="7141840"/>
            <a:ext cx="102870" cy="1508760"/>
            <a:chOff x="0" y="0"/>
            <a:chExt cx="137160" cy="2011680"/>
          </a:xfrm>
        </p:grpSpPr>
        <p:sp>
          <p:nvSpPr>
            <p:cNvPr name="Freeform 44" id="44"/>
            <p:cNvSpPr/>
            <p:nvPr/>
          </p:nvSpPr>
          <p:spPr>
            <a:xfrm flipH="false" flipV="false" rot="0">
              <a:off x="0" y="0"/>
              <a:ext cx="137160" cy="2011680"/>
            </a:xfrm>
            <a:custGeom>
              <a:avLst/>
              <a:gdLst/>
              <a:ahLst/>
              <a:cxnLst/>
              <a:rect r="r" b="b" t="t" l="l"/>
              <a:pathLst>
                <a:path h="2011680" w="137160">
                  <a:moveTo>
                    <a:pt x="0" y="0"/>
                  </a:moveTo>
                  <a:lnTo>
                    <a:pt x="137160" y="0"/>
                  </a:lnTo>
                  <a:lnTo>
                    <a:pt x="137160" y="2011680"/>
                  </a:lnTo>
                  <a:lnTo>
                    <a:pt x="0" y="2011680"/>
                  </a:lnTo>
                  <a:close/>
                </a:path>
              </a:pathLst>
            </a:custGeom>
            <a:solidFill>
              <a:srgbClr val="387F7F"/>
            </a:solidFill>
          </p:spPr>
        </p:sp>
      </p:grpSp>
      <p:grpSp>
        <p:nvGrpSpPr>
          <p:cNvPr name="Group 45" id="45"/>
          <p:cNvGrpSpPr/>
          <p:nvPr/>
        </p:nvGrpSpPr>
        <p:grpSpPr>
          <a:xfrm rot="0">
            <a:off x="1453515" y="7141840"/>
            <a:ext cx="10595114" cy="1508760"/>
            <a:chOff x="0" y="0"/>
            <a:chExt cx="14126818" cy="2011680"/>
          </a:xfrm>
        </p:grpSpPr>
        <p:sp>
          <p:nvSpPr>
            <p:cNvPr name="Freeform 46" id="46"/>
            <p:cNvSpPr/>
            <p:nvPr/>
          </p:nvSpPr>
          <p:spPr>
            <a:xfrm flipH="false" flipV="false" rot="0">
              <a:off x="0" y="0"/>
              <a:ext cx="14126818" cy="2011680"/>
            </a:xfrm>
            <a:custGeom>
              <a:avLst/>
              <a:gdLst/>
              <a:ahLst/>
              <a:cxnLst/>
              <a:rect r="r" b="b" t="t" l="l"/>
              <a:pathLst>
                <a:path h="2011680" w="14126818">
                  <a:moveTo>
                    <a:pt x="0" y="0"/>
                  </a:moveTo>
                  <a:lnTo>
                    <a:pt x="14126818" y="0"/>
                  </a:lnTo>
                  <a:lnTo>
                    <a:pt x="14126818" y="2011680"/>
                  </a:lnTo>
                  <a:lnTo>
                    <a:pt x="0" y="2011680"/>
                  </a:lnTo>
                  <a:close/>
                </a:path>
              </a:pathLst>
            </a:custGeom>
            <a:blipFill>
              <a:blip r:embed="rId9">
                <a:alphaModFix amt="0"/>
              </a:blip>
              <a:stretch>
                <a:fillRect l="0" t="-128908" r="-30750" b="-128908"/>
              </a:stretch>
            </a:blipFill>
          </p:spPr>
        </p:sp>
        <p:sp>
          <p:nvSpPr>
            <p:cNvPr name="TextBox 47" id="47"/>
            <p:cNvSpPr txBox="true"/>
            <p:nvPr/>
          </p:nvSpPr>
          <p:spPr>
            <a:xfrm>
              <a:off x="0" y="-114300"/>
              <a:ext cx="14126818" cy="2125980"/>
            </a:xfrm>
            <a:prstGeom prst="rect">
              <a:avLst/>
            </a:prstGeom>
          </p:spPr>
          <p:txBody>
            <a:bodyPr anchor="ctr" rtlCol="false" tIns="0" lIns="0" bIns="0" rIns="0"/>
            <a:lstStyle/>
            <a:p>
              <a:pPr algn="ctr">
                <a:lnSpc>
                  <a:spcPts val="3888"/>
                </a:lnSpc>
              </a:pPr>
              <a:r>
                <a:rPr lang="en-US" sz="2400" b="true">
                  <a:solidFill>
                    <a:srgbClr val="387F7F"/>
                  </a:solidFill>
                  <a:latin typeface="Poppins Bold"/>
                  <a:ea typeface="Poppins Bold"/>
                  <a:cs typeface="Poppins Bold"/>
                  <a:sym typeface="Poppins Bold"/>
                </a:rPr>
                <a:t>You have seen a chart that was beautifully labelled and completely wrong. Remember how that felt.</a:t>
              </a:r>
            </a:p>
          </p:txBody>
        </p:sp>
      </p:grpSp>
      <p:grpSp>
        <p:nvGrpSpPr>
          <p:cNvPr name="Group 48" id="48"/>
          <p:cNvGrpSpPr/>
          <p:nvPr/>
        </p:nvGrpSpPr>
        <p:grpSpPr>
          <a:xfrm rot="0">
            <a:off x="16802100" y="3970968"/>
            <a:ext cx="457200" cy="457200"/>
            <a:chOff x="0" y="0"/>
            <a:chExt cx="609600" cy="609600"/>
          </a:xfrm>
        </p:grpSpPr>
        <p:sp>
          <p:nvSpPr>
            <p:cNvPr name="Freeform 49" id="49" descr="image.png"/>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10"/>
              <a:stretch>
                <a:fillRect l="0" t="-1562" r="0" b="-1562"/>
              </a:stretch>
            </a:blipFill>
          </p:spPr>
        </p:sp>
      </p:grpSp>
      <p:sp>
        <p:nvSpPr>
          <p:cNvPr name="TextBox 50" id="50"/>
          <p:cNvSpPr txBox="true"/>
          <p:nvPr/>
        </p:nvSpPr>
        <p:spPr>
          <a:xfrm rot="0">
            <a:off x="12382004" y="3804280"/>
            <a:ext cx="4086721" cy="1348740"/>
          </a:xfrm>
          <a:prstGeom prst="rect">
            <a:avLst/>
          </a:prstGeom>
        </p:spPr>
        <p:txBody>
          <a:bodyPr anchor="t" rtlCol="false" tIns="0" lIns="0" bIns="0" rIns="0">
            <a:spAutoFit/>
          </a:bodyPr>
          <a:lstStyle/>
          <a:p>
            <a:pPr algn="r">
              <a:lnSpc>
                <a:spcPts val="5400"/>
              </a:lnSpc>
            </a:pPr>
            <a:r>
              <a:rPr lang="en-US" sz="3600">
                <a:solidFill>
                  <a:srgbClr val="387F7F"/>
                </a:solidFill>
                <a:latin typeface="Inter"/>
                <a:ea typeface="Inter"/>
                <a:cs typeface="Inter"/>
                <a:sym typeface="Inter"/>
              </a:rPr>
              <a:t>Up Next:</a:t>
            </a:r>
          </a:p>
          <a:p>
            <a:pPr algn="r">
              <a:lnSpc>
                <a:spcPts val="5400"/>
              </a:lnSpc>
            </a:pPr>
            <a:r>
              <a:rPr lang="en-US" sz="3600">
                <a:solidFill>
                  <a:srgbClr val="387F7F"/>
                </a:solidFill>
                <a:latin typeface="Inter"/>
                <a:ea typeface="Inter"/>
                <a:cs typeface="Inter"/>
                <a:sym typeface="Inter"/>
              </a:rPr>
              <a:t> DAX fundamentals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3888879"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What is</a:t>
            </a:r>
            <a:r>
              <a:rPr lang="en-US" sz="5000">
                <a:solidFill>
                  <a:srgbClr val="388080"/>
                </a:solidFill>
                <a:latin typeface="Poppins"/>
                <a:ea typeface="Poppins"/>
                <a:cs typeface="Poppins"/>
                <a:sym typeface="Poppins"/>
              </a:rPr>
              <a:t> Next</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028700" y="2537460"/>
            <a:ext cx="4594860" cy="4800600"/>
            <a:chOff x="0" y="0"/>
            <a:chExt cx="6126480" cy="6400800"/>
          </a:xfrm>
        </p:grpSpPr>
        <p:sp>
          <p:nvSpPr>
            <p:cNvPr name="Freeform 12" id="12"/>
            <p:cNvSpPr/>
            <p:nvPr/>
          </p:nvSpPr>
          <p:spPr>
            <a:xfrm flipH="false" flipV="false" rot="0">
              <a:off x="0" y="0"/>
              <a:ext cx="6126480" cy="6400800"/>
            </a:xfrm>
            <a:custGeom>
              <a:avLst/>
              <a:gdLst/>
              <a:ahLst/>
              <a:cxnLst/>
              <a:rect r="r" b="b" t="t" l="l"/>
              <a:pathLst>
                <a:path h="6400800" w="6126480">
                  <a:moveTo>
                    <a:pt x="0" y="182880"/>
                  </a:moveTo>
                  <a:cubicBezTo>
                    <a:pt x="0" y="81915"/>
                    <a:pt x="81915" y="0"/>
                    <a:pt x="182880" y="0"/>
                  </a:cubicBezTo>
                  <a:lnTo>
                    <a:pt x="5943600" y="0"/>
                  </a:lnTo>
                  <a:cubicBezTo>
                    <a:pt x="6044565" y="0"/>
                    <a:pt x="6126480" y="81915"/>
                    <a:pt x="6126480" y="182880"/>
                  </a:cubicBezTo>
                  <a:lnTo>
                    <a:pt x="6126480" y="6217920"/>
                  </a:lnTo>
                  <a:cubicBezTo>
                    <a:pt x="6126480" y="6318885"/>
                    <a:pt x="6044565" y="6400800"/>
                    <a:pt x="5943600" y="6400800"/>
                  </a:cubicBezTo>
                  <a:lnTo>
                    <a:pt x="182880" y="6400800"/>
                  </a:lnTo>
                  <a:cubicBezTo>
                    <a:pt x="81915" y="6400800"/>
                    <a:pt x="0" y="6318885"/>
                    <a:pt x="0" y="6217920"/>
                  </a:cubicBezTo>
                  <a:close/>
                </a:path>
              </a:pathLst>
            </a:custGeom>
            <a:solidFill>
              <a:srgbClr val="FFFFFF"/>
            </a:solidFill>
          </p:spPr>
        </p:sp>
      </p:grpSp>
      <p:grpSp>
        <p:nvGrpSpPr>
          <p:cNvPr name="Group 13" id="13"/>
          <p:cNvGrpSpPr/>
          <p:nvPr/>
        </p:nvGrpSpPr>
        <p:grpSpPr>
          <a:xfrm rot="0">
            <a:off x="1028700" y="2537460"/>
            <a:ext cx="4594860" cy="713232"/>
            <a:chOff x="0" y="0"/>
            <a:chExt cx="6126480" cy="950976"/>
          </a:xfrm>
        </p:grpSpPr>
        <p:sp>
          <p:nvSpPr>
            <p:cNvPr name="Freeform 14" id="14"/>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solidFill>
              <a:srgbClr val="387F7F"/>
            </a:solidFill>
          </p:spPr>
        </p:sp>
      </p:grpSp>
      <p:grpSp>
        <p:nvGrpSpPr>
          <p:cNvPr name="Group 15" id="15"/>
          <p:cNvGrpSpPr/>
          <p:nvPr/>
        </p:nvGrpSpPr>
        <p:grpSpPr>
          <a:xfrm rot="0">
            <a:off x="1028700" y="2537460"/>
            <a:ext cx="4594860" cy="713232"/>
            <a:chOff x="0" y="0"/>
            <a:chExt cx="6126480" cy="950976"/>
          </a:xfrm>
        </p:grpSpPr>
        <p:sp>
          <p:nvSpPr>
            <p:cNvPr name="Freeform 16" id="16"/>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blipFill>
              <a:blip r:embed="rId9">
                <a:alphaModFix amt="0"/>
              </a:blip>
              <a:stretch>
                <a:fillRect l="0" t="-75528" r="0" b="-75528"/>
              </a:stretch>
            </a:blipFill>
          </p:spPr>
        </p:sp>
        <p:sp>
          <p:nvSpPr>
            <p:cNvPr name="TextBox 17" id="17"/>
            <p:cNvSpPr txBox="true"/>
            <p:nvPr/>
          </p:nvSpPr>
          <p:spPr>
            <a:xfrm>
              <a:off x="0" y="-9525"/>
              <a:ext cx="6126480" cy="960501"/>
            </a:xfrm>
            <a:prstGeom prst="rect">
              <a:avLst/>
            </a:prstGeom>
          </p:spPr>
          <p:txBody>
            <a:bodyPr anchor="ctr" rtlCol="false" tIns="0" lIns="0" bIns="0" rIns="0"/>
            <a:lstStyle/>
            <a:p>
              <a:pPr algn="ctr">
                <a:lnSpc>
                  <a:spcPts val="2070"/>
                </a:lnSpc>
              </a:pPr>
              <a:r>
                <a:rPr lang="en-US" b="true" sz="1725" spc="149">
                  <a:solidFill>
                    <a:srgbClr val="FFFFFF"/>
                  </a:solidFill>
                  <a:latin typeface="Poppins Bold"/>
                  <a:ea typeface="Poppins Bold"/>
                  <a:cs typeface="Poppins Bold"/>
                  <a:sym typeface="Poppins Bold"/>
                </a:rPr>
                <a:t>TOPIC 7.3</a:t>
              </a:r>
            </a:p>
          </p:txBody>
        </p:sp>
      </p:grpSp>
      <p:grpSp>
        <p:nvGrpSpPr>
          <p:cNvPr name="Group 18" id="18"/>
          <p:cNvGrpSpPr/>
          <p:nvPr/>
        </p:nvGrpSpPr>
        <p:grpSpPr>
          <a:xfrm rot="0">
            <a:off x="2815685" y="3686651"/>
            <a:ext cx="1020890" cy="1020890"/>
            <a:chOff x="0" y="0"/>
            <a:chExt cx="1361186" cy="1361186"/>
          </a:xfrm>
        </p:grpSpPr>
        <p:sp>
          <p:nvSpPr>
            <p:cNvPr name="Freeform 19" id="19"/>
            <p:cNvSpPr/>
            <p:nvPr/>
          </p:nvSpPr>
          <p:spPr>
            <a:xfrm flipH="false" flipV="false" rot="0">
              <a:off x="0" y="0"/>
              <a:ext cx="1361186" cy="1361186"/>
            </a:xfrm>
            <a:custGeom>
              <a:avLst/>
              <a:gdLst/>
              <a:ahLst/>
              <a:cxnLst/>
              <a:rect r="r" b="b" t="t" l="l"/>
              <a:pathLst>
                <a:path h="1361186" w="1361186">
                  <a:moveTo>
                    <a:pt x="0" y="680593"/>
                  </a:moveTo>
                  <a:cubicBezTo>
                    <a:pt x="0" y="304673"/>
                    <a:pt x="304673" y="0"/>
                    <a:pt x="680593" y="0"/>
                  </a:cubicBezTo>
                  <a:cubicBezTo>
                    <a:pt x="1056513" y="0"/>
                    <a:pt x="1361186" y="304673"/>
                    <a:pt x="1361186" y="680593"/>
                  </a:cubicBezTo>
                  <a:cubicBezTo>
                    <a:pt x="1361186" y="1056513"/>
                    <a:pt x="1056513" y="1361186"/>
                    <a:pt x="680593" y="1361186"/>
                  </a:cubicBezTo>
                  <a:cubicBezTo>
                    <a:pt x="304673" y="1361186"/>
                    <a:pt x="0" y="1056513"/>
                    <a:pt x="0" y="680593"/>
                  </a:cubicBezTo>
                  <a:close/>
                </a:path>
              </a:pathLst>
            </a:custGeom>
            <a:solidFill>
              <a:srgbClr val="FFFFFF"/>
            </a:solidFill>
            <a:ln w="33338" cap="sq">
              <a:solidFill>
                <a:srgbClr val="387F7F"/>
              </a:solidFill>
              <a:prstDash val="solid"/>
              <a:miter/>
            </a:ln>
          </p:spPr>
        </p:sp>
      </p:grpSp>
      <p:grpSp>
        <p:nvGrpSpPr>
          <p:cNvPr name="Group 20" id="20"/>
          <p:cNvGrpSpPr/>
          <p:nvPr/>
        </p:nvGrpSpPr>
        <p:grpSpPr>
          <a:xfrm rot="0">
            <a:off x="2832354" y="3703320"/>
            <a:ext cx="987552" cy="987552"/>
            <a:chOff x="0" y="0"/>
            <a:chExt cx="1316736" cy="1316736"/>
          </a:xfrm>
        </p:grpSpPr>
        <p:sp>
          <p:nvSpPr>
            <p:cNvPr name="Freeform 21" id="21"/>
            <p:cNvSpPr/>
            <p:nvPr/>
          </p:nvSpPr>
          <p:spPr>
            <a:xfrm flipH="false" flipV="false" rot="0">
              <a:off x="0" y="0"/>
              <a:ext cx="1316736" cy="1316736"/>
            </a:xfrm>
            <a:custGeom>
              <a:avLst/>
              <a:gdLst/>
              <a:ahLst/>
              <a:cxnLst/>
              <a:rect r="r" b="b" t="t" l="l"/>
              <a:pathLst>
                <a:path h="1316736" w="1316736">
                  <a:moveTo>
                    <a:pt x="0" y="0"/>
                  </a:moveTo>
                  <a:lnTo>
                    <a:pt x="1316736" y="0"/>
                  </a:lnTo>
                  <a:lnTo>
                    <a:pt x="1316736" y="1316736"/>
                  </a:lnTo>
                  <a:lnTo>
                    <a:pt x="0" y="1316736"/>
                  </a:lnTo>
                  <a:close/>
                </a:path>
              </a:pathLst>
            </a:custGeom>
            <a:blipFill>
              <a:blip r:embed="rId9">
                <a:alphaModFix amt="0"/>
              </a:blip>
              <a:stretch>
                <a:fillRect l="-78303" t="0" r="-78303" b="0"/>
              </a:stretch>
            </a:blipFill>
          </p:spPr>
        </p:sp>
        <p:sp>
          <p:nvSpPr>
            <p:cNvPr name="TextBox 22" id="22"/>
            <p:cNvSpPr txBox="true"/>
            <p:nvPr/>
          </p:nvSpPr>
          <p:spPr>
            <a:xfrm>
              <a:off x="0" y="-38100"/>
              <a:ext cx="1316736" cy="1354836"/>
            </a:xfrm>
            <a:prstGeom prst="rect">
              <a:avLst/>
            </a:prstGeom>
          </p:spPr>
          <p:txBody>
            <a:bodyPr anchor="ctr" rtlCol="false" tIns="0" lIns="0" bIns="0" rIns="0"/>
            <a:lstStyle/>
            <a:p>
              <a:pPr algn="ctr">
                <a:lnSpc>
                  <a:spcPts val="4320"/>
                </a:lnSpc>
              </a:pPr>
              <a:r>
                <a:rPr lang="en-US" sz="3600" b="true">
                  <a:solidFill>
                    <a:srgbClr val="387F7F"/>
                  </a:solidFill>
                  <a:latin typeface="Poppins Bold"/>
                  <a:ea typeface="Poppins Bold"/>
                  <a:cs typeface="Poppins Bold"/>
                  <a:sym typeface="Poppins Bold"/>
                </a:rPr>
                <a:t>ƒ</a:t>
              </a:r>
            </a:p>
          </p:txBody>
        </p:sp>
      </p:grpSp>
      <p:sp>
        <p:nvSpPr>
          <p:cNvPr name="TextBox 23" id="23"/>
          <p:cNvSpPr txBox="true"/>
          <p:nvPr/>
        </p:nvSpPr>
        <p:spPr>
          <a:xfrm rot="0">
            <a:off x="1440180" y="4920615"/>
            <a:ext cx="3771900" cy="2143125"/>
          </a:xfrm>
          <a:prstGeom prst="rect">
            <a:avLst/>
          </a:prstGeom>
        </p:spPr>
        <p:txBody>
          <a:bodyPr anchor="t" rtlCol="false" tIns="0" lIns="0" bIns="0" rIns="0">
            <a:spAutoFit/>
          </a:bodyPr>
          <a:lstStyle/>
          <a:p>
            <a:pPr algn="ctr">
              <a:lnSpc>
                <a:spcPts val="2925"/>
              </a:lnSpc>
            </a:pPr>
            <a:r>
              <a:rPr lang="en-US" sz="1875">
                <a:solidFill>
                  <a:srgbClr val="475569"/>
                </a:solidFill>
                <a:latin typeface="Poppins"/>
                <a:ea typeface="Poppins"/>
                <a:cs typeface="Poppins"/>
                <a:sym typeface="Poppins"/>
              </a:rPr>
              <a:t>The model knows the structure. Now you teach it to calculate. Three DAX measures cover most real dashboards.</a:t>
            </a:r>
          </a:p>
        </p:txBody>
      </p:sp>
      <p:grpSp>
        <p:nvGrpSpPr>
          <p:cNvPr name="Group 24" id="24"/>
          <p:cNvGrpSpPr/>
          <p:nvPr/>
        </p:nvGrpSpPr>
        <p:grpSpPr>
          <a:xfrm rot="0">
            <a:off x="6007608" y="2537460"/>
            <a:ext cx="4594860" cy="4800600"/>
            <a:chOff x="0" y="0"/>
            <a:chExt cx="6126480" cy="6400800"/>
          </a:xfrm>
        </p:grpSpPr>
        <p:sp>
          <p:nvSpPr>
            <p:cNvPr name="Freeform 25" id="25"/>
            <p:cNvSpPr/>
            <p:nvPr/>
          </p:nvSpPr>
          <p:spPr>
            <a:xfrm flipH="false" flipV="false" rot="0">
              <a:off x="0" y="0"/>
              <a:ext cx="6126480" cy="6400800"/>
            </a:xfrm>
            <a:custGeom>
              <a:avLst/>
              <a:gdLst/>
              <a:ahLst/>
              <a:cxnLst/>
              <a:rect r="r" b="b" t="t" l="l"/>
              <a:pathLst>
                <a:path h="6400800" w="6126480">
                  <a:moveTo>
                    <a:pt x="0" y="182880"/>
                  </a:moveTo>
                  <a:cubicBezTo>
                    <a:pt x="0" y="81915"/>
                    <a:pt x="81915" y="0"/>
                    <a:pt x="182880" y="0"/>
                  </a:cubicBezTo>
                  <a:lnTo>
                    <a:pt x="5943600" y="0"/>
                  </a:lnTo>
                  <a:cubicBezTo>
                    <a:pt x="6044565" y="0"/>
                    <a:pt x="6126480" y="81915"/>
                    <a:pt x="6126480" y="182880"/>
                  </a:cubicBezTo>
                  <a:lnTo>
                    <a:pt x="6126480" y="6217920"/>
                  </a:lnTo>
                  <a:cubicBezTo>
                    <a:pt x="6126480" y="6318885"/>
                    <a:pt x="6044565" y="6400800"/>
                    <a:pt x="5943600" y="6400800"/>
                  </a:cubicBezTo>
                  <a:lnTo>
                    <a:pt x="182880" y="6400800"/>
                  </a:lnTo>
                  <a:cubicBezTo>
                    <a:pt x="81915" y="6400800"/>
                    <a:pt x="0" y="6318885"/>
                    <a:pt x="0" y="6217920"/>
                  </a:cubicBezTo>
                  <a:close/>
                </a:path>
              </a:pathLst>
            </a:custGeom>
            <a:solidFill>
              <a:srgbClr val="FFFFFF"/>
            </a:solidFill>
          </p:spPr>
        </p:sp>
      </p:grpSp>
      <p:grpSp>
        <p:nvGrpSpPr>
          <p:cNvPr name="Group 26" id="26"/>
          <p:cNvGrpSpPr/>
          <p:nvPr/>
        </p:nvGrpSpPr>
        <p:grpSpPr>
          <a:xfrm rot="0">
            <a:off x="6007608" y="2537460"/>
            <a:ext cx="4594860" cy="713232"/>
            <a:chOff x="0" y="0"/>
            <a:chExt cx="6126480" cy="950976"/>
          </a:xfrm>
        </p:grpSpPr>
        <p:sp>
          <p:nvSpPr>
            <p:cNvPr name="Freeform 27" id="27"/>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solidFill>
              <a:srgbClr val="387F7F"/>
            </a:solidFill>
          </p:spPr>
        </p:sp>
      </p:grpSp>
      <p:grpSp>
        <p:nvGrpSpPr>
          <p:cNvPr name="Group 28" id="28"/>
          <p:cNvGrpSpPr/>
          <p:nvPr/>
        </p:nvGrpSpPr>
        <p:grpSpPr>
          <a:xfrm rot="0">
            <a:off x="6007608" y="2537460"/>
            <a:ext cx="4594860" cy="713232"/>
            <a:chOff x="0" y="0"/>
            <a:chExt cx="6126480" cy="950976"/>
          </a:xfrm>
        </p:grpSpPr>
        <p:sp>
          <p:nvSpPr>
            <p:cNvPr name="Freeform 29" id="29"/>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blipFill>
              <a:blip r:embed="rId9">
                <a:alphaModFix amt="0"/>
              </a:blip>
              <a:stretch>
                <a:fillRect l="0" t="-75528" r="0" b="-75528"/>
              </a:stretch>
            </a:blipFill>
          </p:spPr>
        </p:sp>
        <p:sp>
          <p:nvSpPr>
            <p:cNvPr name="TextBox 30" id="30"/>
            <p:cNvSpPr txBox="true"/>
            <p:nvPr/>
          </p:nvSpPr>
          <p:spPr>
            <a:xfrm>
              <a:off x="0" y="-9525"/>
              <a:ext cx="6126480" cy="960501"/>
            </a:xfrm>
            <a:prstGeom prst="rect">
              <a:avLst/>
            </a:prstGeom>
          </p:spPr>
          <p:txBody>
            <a:bodyPr anchor="ctr" rtlCol="false" tIns="0" lIns="0" bIns="0" rIns="0"/>
            <a:lstStyle/>
            <a:p>
              <a:pPr algn="ctr">
                <a:lnSpc>
                  <a:spcPts val="2070"/>
                </a:lnSpc>
              </a:pPr>
              <a:r>
                <a:rPr lang="en-US" b="true" sz="1725" spc="149">
                  <a:solidFill>
                    <a:srgbClr val="FFFFFF"/>
                  </a:solidFill>
                  <a:latin typeface="Poppins Bold"/>
                  <a:ea typeface="Poppins Bold"/>
                  <a:cs typeface="Poppins Bold"/>
                  <a:sym typeface="Poppins Bold"/>
                </a:rPr>
                <a:t>IN THE LAB</a:t>
              </a:r>
            </a:p>
          </p:txBody>
        </p:sp>
      </p:grpSp>
      <p:grpSp>
        <p:nvGrpSpPr>
          <p:cNvPr name="Group 31" id="31"/>
          <p:cNvGrpSpPr/>
          <p:nvPr/>
        </p:nvGrpSpPr>
        <p:grpSpPr>
          <a:xfrm rot="0">
            <a:off x="7794593" y="3686651"/>
            <a:ext cx="1020890" cy="1020890"/>
            <a:chOff x="0" y="0"/>
            <a:chExt cx="1361186" cy="1361186"/>
          </a:xfrm>
        </p:grpSpPr>
        <p:sp>
          <p:nvSpPr>
            <p:cNvPr name="Freeform 32" id="32"/>
            <p:cNvSpPr/>
            <p:nvPr/>
          </p:nvSpPr>
          <p:spPr>
            <a:xfrm flipH="false" flipV="false" rot="0">
              <a:off x="0" y="0"/>
              <a:ext cx="1361186" cy="1361186"/>
            </a:xfrm>
            <a:custGeom>
              <a:avLst/>
              <a:gdLst/>
              <a:ahLst/>
              <a:cxnLst/>
              <a:rect r="r" b="b" t="t" l="l"/>
              <a:pathLst>
                <a:path h="1361186" w="1361186">
                  <a:moveTo>
                    <a:pt x="0" y="680593"/>
                  </a:moveTo>
                  <a:cubicBezTo>
                    <a:pt x="0" y="304673"/>
                    <a:pt x="304673" y="0"/>
                    <a:pt x="680593" y="0"/>
                  </a:cubicBezTo>
                  <a:cubicBezTo>
                    <a:pt x="1056513" y="0"/>
                    <a:pt x="1361186" y="304673"/>
                    <a:pt x="1361186" y="680593"/>
                  </a:cubicBezTo>
                  <a:cubicBezTo>
                    <a:pt x="1361186" y="1056513"/>
                    <a:pt x="1056513" y="1361186"/>
                    <a:pt x="680593" y="1361186"/>
                  </a:cubicBezTo>
                  <a:cubicBezTo>
                    <a:pt x="304673" y="1361186"/>
                    <a:pt x="0" y="1056513"/>
                    <a:pt x="0" y="680593"/>
                  </a:cubicBezTo>
                  <a:close/>
                </a:path>
              </a:pathLst>
            </a:custGeom>
            <a:solidFill>
              <a:srgbClr val="FFFFFF"/>
            </a:solidFill>
            <a:ln w="33338" cap="sq">
              <a:solidFill>
                <a:srgbClr val="387F7F"/>
              </a:solidFill>
              <a:prstDash val="solid"/>
              <a:miter/>
            </a:ln>
          </p:spPr>
        </p:sp>
      </p:grpSp>
      <p:grpSp>
        <p:nvGrpSpPr>
          <p:cNvPr name="Group 33" id="33"/>
          <p:cNvGrpSpPr/>
          <p:nvPr/>
        </p:nvGrpSpPr>
        <p:grpSpPr>
          <a:xfrm rot="0">
            <a:off x="7811262" y="3703320"/>
            <a:ext cx="987552" cy="987552"/>
            <a:chOff x="0" y="0"/>
            <a:chExt cx="1316736" cy="1316736"/>
          </a:xfrm>
        </p:grpSpPr>
        <p:sp>
          <p:nvSpPr>
            <p:cNvPr name="Freeform 34" id="34"/>
            <p:cNvSpPr/>
            <p:nvPr/>
          </p:nvSpPr>
          <p:spPr>
            <a:xfrm flipH="false" flipV="false" rot="0">
              <a:off x="0" y="0"/>
              <a:ext cx="1316736" cy="1316736"/>
            </a:xfrm>
            <a:custGeom>
              <a:avLst/>
              <a:gdLst/>
              <a:ahLst/>
              <a:cxnLst/>
              <a:rect r="r" b="b" t="t" l="l"/>
              <a:pathLst>
                <a:path h="1316736" w="1316736">
                  <a:moveTo>
                    <a:pt x="0" y="0"/>
                  </a:moveTo>
                  <a:lnTo>
                    <a:pt x="1316736" y="0"/>
                  </a:lnTo>
                  <a:lnTo>
                    <a:pt x="1316736" y="1316736"/>
                  </a:lnTo>
                  <a:lnTo>
                    <a:pt x="0" y="1316736"/>
                  </a:lnTo>
                  <a:close/>
                </a:path>
              </a:pathLst>
            </a:custGeom>
            <a:blipFill>
              <a:blip r:embed="rId9">
                <a:alphaModFix amt="0"/>
              </a:blip>
              <a:stretch>
                <a:fillRect l="-78303" t="0" r="-78303" b="0"/>
              </a:stretch>
            </a:blipFill>
          </p:spPr>
        </p:sp>
        <p:sp>
          <p:nvSpPr>
            <p:cNvPr name="TextBox 35" id="35"/>
            <p:cNvSpPr txBox="true"/>
            <p:nvPr/>
          </p:nvSpPr>
          <p:spPr>
            <a:xfrm>
              <a:off x="0" y="-38100"/>
              <a:ext cx="1316736" cy="1354836"/>
            </a:xfrm>
            <a:prstGeom prst="rect">
              <a:avLst/>
            </a:prstGeom>
          </p:spPr>
          <p:txBody>
            <a:bodyPr anchor="ctr" rtlCol="false" tIns="0" lIns="0" bIns="0" rIns="0"/>
            <a:lstStyle/>
            <a:p>
              <a:pPr algn="ctr">
                <a:lnSpc>
                  <a:spcPts val="4320"/>
                </a:lnSpc>
              </a:pPr>
              <a:r>
                <a:rPr lang="en-US" sz="3600" b="true">
                  <a:solidFill>
                    <a:srgbClr val="387F7F"/>
                  </a:solidFill>
                  <a:latin typeface="Poppins Bold"/>
                  <a:ea typeface="Poppins Bold"/>
                  <a:cs typeface="Poppins Bold"/>
                  <a:sym typeface="Poppins Bold"/>
                </a:rPr>
                <a:t>▣</a:t>
              </a:r>
            </a:p>
          </p:txBody>
        </p:sp>
      </p:grpSp>
      <p:sp>
        <p:nvSpPr>
          <p:cNvPr name="TextBox 36" id="36"/>
          <p:cNvSpPr txBox="true"/>
          <p:nvPr/>
        </p:nvSpPr>
        <p:spPr>
          <a:xfrm rot="0">
            <a:off x="6419088" y="4920615"/>
            <a:ext cx="3771900" cy="2143125"/>
          </a:xfrm>
          <a:prstGeom prst="rect">
            <a:avLst/>
          </a:prstGeom>
        </p:spPr>
        <p:txBody>
          <a:bodyPr anchor="t" rtlCol="false" tIns="0" lIns="0" bIns="0" rIns="0">
            <a:spAutoFit/>
          </a:bodyPr>
          <a:lstStyle/>
          <a:p>
            <a:pPr algn="ctr">
              <a:lnSpc>
                <a:spcPts val="2925"/>
              </a:lnSpc>
            </a:pPr>
            <a:r>
              <a:rPr lang="en-US" sz="1875">
                <a:solidFill>
                  <a:srgbClr val="475569"/>
                </a:solidFill>
                <a:latin typeface="Poppins"/>
                <a:ea typeface="Poppins"/>
                <a:cs typeface="Poppins"/>
                <a:sym typeface="Poppins"/>
              </a:rPr>
              <a:t>Repair a model with three deliberate faults: a bidirectional relationship, a many-to-many caused by duplicate keys, and an inactive relationship nobody noticed.</a:t>
            </a:r>
          </a:p>
        </p:txBody>
      </p:sp>
      <p:grpSp>
        <p:nvGrpSpPr>
          <p:cNvPr name="Group 37" id="37"/>
          <p:cNvGrpSpPr/>
          <p:nvPr/>
        </p:nvGrpSpPr>
        <p:grpSpPr>
          <a:xfrm rot="0">
            <a:off x="10986516" y="2537460"/>
            <a:ext cx="4594860" cy="4800600"/>
            <a:chOff x="0" y="0"/>
            <a:chExt cx="6126480" cy="6400800"/>
          </a:xfrm>
        </p:grpSpPr>
        <p:sp>
          <p:nvSpPr>
            <p:cNvPr name="Freeform 38" id="38"/>
            <p:cNvSpPr/>
            <p:nvPr/>
          </p:nvSpPr>
          <p:spPr>
            <a:xfrm flipH="false" flipV="false" rot="0">
              <a:off x="0" y="0"/>
              <a:ext cx="6126480" cy="6400800"/>
            </a:xfrm>
            <a:custGeom>
              <a:avLst/>
              <a:gdLst/>
              <a:ahLst/>
              <a:cxnLst/>
              <a:rect r="r" b="b" t="t" l="l"/>
              <a:pathLst>
                <a:path h="6400800" w="6126480">
                  <a:moveTo>
                    <a:pt x="0" y="182880"/>
                  </a:moveTo>
                  <a:cubicBezTo>
                    <a:pt x="0" y="81915"/>
                    <a:pt x="81915" y="0"/>
                    <a:pt x="182880" y="0"/>
                  </a:cubicBezTo>
                  <a:lnTo>
                    <a:pt x="5943600" y="0"/>
                  </a:lnTo>
                  <a:cubicBezTo>
                    <a:pt x="6044565" y="0"/>
                    <a:pt x="6126480" y="81915"/>
                    <a:pt x="6126480" y="182880"/>
                  </a:cubicBezTo>
                  <a:lnTo>
                    <a:pt x="6126480" y="6217920"/>
                  </a:lnTo>
                  <a:cubicBezTo>
                    <a:pt x="6126480" y="6318885"/>
                    <a:pt x="6044565" y="6400800"/>
                    <a:pt x="5943600" y="6400800"/>
                  </a:cubicBezTo>
                  <a:lnTo>
                    <a:pt x="182880" y="6400800"/>
                  </a:lnTo>
                  <a:cubicBezTo>
                    <a:pt x="81915" y="6400800"/>
                    <a:pt x="0" y="6318885"/>
                    <a:pt x="0" y="6217920"/>
                  </a:cubicBezTo>
                  <a:close/>
                </a:path>
              </a:pathLst>
            </a:custGeom>
            <a:solidFill>
              <a:srgbClr val="FFFFFF"/>
            </a:solidFill>
          </p:spPr>
        </p:sp>
      </p:grpSp>
      <p:grpSp>
        <p:nvGrpSpPr>
          <p:cNvPr name="Group 39" id="39"/>
          <p:cNvGrpSpPr/>
          <p:nvPr/>
        </p:nvGrpSpPr>
        <p:grpSpPr>
          <a:xfrm rot="0">
            <a:off x="10986516" y="2537460"/>
            <a:ext cx="4594860" cy="713232"/>
            <a:chOff x="0" y="0"/>
            <a:chExt cx="6126480" cy="950976"/>
          </a:xfrm>
        </p:grpSpPr>
        <p:sp>
          <p:nvSpPr>
            <p:cNvPr name="Freeform 40" id="40"/>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solidFill>
              <a:srgbClr val="387F7F"/>
            </a:solidFill>
          </p:spPr>
        </p:sp>
      </p:grpSp>
      <p:grpSp>
        <p:nvGrpSpPr>
          <p:cNvPr name="Group 41" id="41"/>
          <p:cNvGrpSpPr/>
          <p:nvPr/>
        </p:nvGrpSpPr>
        <p:grpSpPr>
          <a:xfrm rot="0">
            <a:off x="10986516" y="2537460"/>
            <a:ext cx="4594860" cy="713232"/>
            <a:chOff x="0" y="0"/>
            <a:chExt cx="6126480" cy="950976"/>
          </a:xfrm>
        </p:grpSpPr>
        <p:sp>
          <p:nvSpPr>
            <p:cNvPr name="Freeform 42" id="42"/>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blipFill>
              <a:blip r:embed="rId9">
                <a:alphaModFix amt="0"/>
              </a:blip>
              <a:stretch>
                <a:fillRect l="0" t="-75528" r="0" b="-75528"/>
              </a:stretch>
            </a:blipFill>
          </p:spPr>
        </p:sp>
        <p:sp>
          <p:nvSpPr>
            <p:cNvPr name="TextBox 43" id="43"/>
            <p:cNvSpPr txBox="true"/>
            <p:nvPr/>
          </p:nvSpPr>
          <p:spPr>
            <a:xfrm>
              <a:off x="0" y="-9525"/>
              <a:ext cx="6126480" cy="960501"/>
            </a:xfrm>
            <a:prstGeom prst="rect">
              <a:avLst/>
            </a:prstGeom>
          </p:spPr>
          <p:txBody>
            <a:bodyPr anchor="ctr" rtlCol="false" tIns="0" lIns="0" bIns="0" rIns="0"/>
            <a:lstStyle/>
            <a:p>
              <a:pPr algn="ctr">
                <a:lnSpc>
                  <a:spcPts val="2070"/>
                </a:lnSpc>
              </a:pPr>
              <a:r>
                <a:rPr lang="en-US" b="true" sz="1725" spc="149">
                  <a:solidFill>
                    <a:srgbClr val="FFFFFF"/>
                  </a:solidFill>
                  <a:latin typeface="Poppins Bold"/>
                  <a:ea typeface="Poppins Bold"/>
                  <a:cs typeface="Poppins Bold"/>
                  <a:sym typeface="Poppins Bold"/>
                </a:rPr>
                <a:t>ON PUBLICA.ACADEMY</a:t>
              </a:r>
            </a:p>
          </p:txBody>
        </p:sp>
      </p:grpSp>
      <p:grpSp>
        <p:nvGrpSpPr>
          <p:cNvPr name="Group 44" id="44"/>
          <p:cNvGrpSpPr/>
          <p:nvPr/>
        </p:nvGrpSpPr>
        <p:grpSpPr>
          <a:xfrm rot="0">
            <a:off x="12773501" y="3686651"/>
            <a:ext cx="1020890" cy="1020890"/>
            <a:chOff x="0" y="0"/>
            <a:chExt cx="1361186" cy="1361186"/>
          </a:xfrm>
        </p:grpSpPr>
        <p:sp>
          <p:nvSpPr>
            <p:cNvPr name="Freeform 45" id="45"/>
            <p:cNvSpPr/>
            <p:nvPr/>
          </p:nvSpPr>
          <p:spPr>
            <a:xfrm flipH="false" flipV="false" rot="0">
              <a:off x="0" y="0"/>
              <a:ext cx="1361186" cy="1361186"/>
            </a:xfrm>
            <a:custGeom>
              <a:avLst/>
              <a:gdLst/>
              <a:ahLst/>
              <a:cxnLst/>
              <a:rect r="r" b="b" t="t" l="l"/>
              <a:pathLst>
                <a:path h="1361186" w="1361186">
                  <a:moveTo>
                    <a:pt x="0" y="680593"/>
                  </a:moveTo>
                  <a:cubicBezTo>
                    <a:pt x="0" y="304673"/>
                    <a:pt x="304673" y="0"/>
                    <a:pt x="680593" y="0"/>
                  </a:cubicBezTo>
                  <a:cubicBezTo>
                    <a:pt x="1056513" y="0"/>
                    <a:pt x="1361186" y="304673"/>
                    <a:pt x="1361186" y="680593"/>
                  </a:cubicBezTo>
                  <a:cubicBezTo>
                    <a:pt x="1361186" y="1056513"/>
                    <a:pt x="1056513" y="1361186"/>
                    <a:pt x="680593" y="1361186"/>
                  </a:cubicBezTo>
                  <a:cubicBezTo>
                    <a:pt x="304673" y="1361186"/>
                    <a:pt x="0" y="1056513"/>
                    <a:pt x="0" y="680593"/>
                  </a:cubicBezTo>
                  <a:close/>
                </a:path>
              </a:pathLst>
            </a:custGeom>
            <a:solidFill>
              <a:srgbClr val="FFFFFF"/>
            </a:solidFill>
            <a:ln w="33338" cap="sq">
              <a:solidFill>
                <a:srgbClr val="387F7F"/>
              </a:solidFill>
              <a:prstDash val="solid"/>
              <a:miter/>
            </a:ln>
          </p:spPr>
        </p:sp>
      </p:grpSp>
      <p:grpSp>
        <p:nvGrpSpPr>
          <p:cNvPr name="Group 46" id="46"/>
          <p:cNvGrpSpPr/>
          <p:nvPr/>
        </p:nvGrpSpPr>
        <p:grpSpPr>
          <a:xfrm rot="0">
            <a:off x="12790170" y="3703320"/>
            <a:ext cx="987552" cy="987552"/>
            <a:chOff x="0" y="0"/>
            <a:chExt cx="1316736" cy="1316736"/>
          </a:xfrm>
        </p:grpSpPr>
        <p:sp>
          <p:nvSpPr>
            <p:cNvPr name="Freeform 47" id="47"/>
            <p:cNvSpPr/>
            <p:nvPr/>
          </p:nvSpPr>
          <p:spPr>
            <a:xfrm flipH="false" flipV="false" rot="0">
              <a:off x="0" y="0"/>
              <a:ext cx="1316736" cy="1316736"/>
            </a:xfrm>
            <a:custGeom>
              <a:avLst/>
              <a:gdLst/>
              <a:ahLst/>
              <a:cxnLst/>
              <a:rect r="r" b="b" t="t" l="l"/>
              <a:pathLst>
                <a:path h="1316736" w="1316736">
                  <a:moveTo>
                    <a:pt x="0" y="0"/>
                  </a:moveTo>
                  <a:lnTo>
                    <a:pt x="1316736" y="0"/>
                  </a:lnTo>
                  <a:lnTo>
                    <a:pt x="1316736" y="1316736"/>
                  </a:lnTo>
                  <a:lnTo>
                    <a:pt x="0" y="1316736"/>
                  </a:lnTo>
                  <a:close/>
                </a:path>
              </a:pathLst>
            </a:custGeom>
            <a:blipFill>
              <a:blip r:embed="rId9">
                <a:alphaModFix amt="0"/>
              </a:blip>
              <a:stretch>
                <a:fillRect l="-78303" t="0" r="-78303" b="0"/>
              </a:stretch>
            </a:blipFill>
          </p:spPr>
        </p:sp>
        <p:sp>
          <p:nvSpPr>
            <p:cNvPr name="TextBox 48" id="48"/>
            <p:cNvSpPr txBox="true"/>
            <p:nvPr/>
          </p:nvSpPr>
          <p:spPr>
            <a:xfrm>
              <a:off x="0" y="-38100"/>
              <a:ext cx="1316736" cy="1354836"/>
            </a:xfrm>
            <a:prstGeom prst="rect">
              <a:avLst/>
            </a:prstGeom>
          </p:spPr>
          <p:txBody>
            <a:bodyPr anchor="ctr" rtlCol="false" tIns="0" lIns="0" bIns="0" rIns="0"/>
            <a:lstStyle/>
            <a:p>
              <a:pPr algn="ctr">
                <a:lnSpc>
                  <a:spcPts val="4320"/>
                </a:lnSpc>
              </a:pPr>
              <a:r>
                <a:rPr lang="en-US" sz="3600" b="true">
                  <a:solidFill>
                    <a:srgbClr val="387F7F"/>
                  </a:solidFill>
                  <a:latin typeface="Poppins Bold"/>
                  <a:ea typeface="Poppins Bold"/>
                  <a:cs typeface="Poppins Bold"/>
                  <a:sym typeface="Poppins Bold"/>
                </a:rPr>
                <a:t>?</a:t>
              </a:r>
            </a:p>
          </p:txBody>
        </p:sp>
      </p:grpSp>
      <p:sp>
        <p:nvSpPr>
          <p:cNvPr name="TextBox 49" id="49"/>
          <p:cNvSpPr txBox="true"/>
          <p:nvPr/>
        </p:nvSpPr>
        <p:spPr>
          <a:xfrm rot="0">
            <a:off x="11397996" y="4920615"/>
            <a:ext cx="3771900" cy="2143125"/>
          </a:xfrm>
          <a:prstGeom prst="rect">
            <a:avLst/>
          </a:prstGeom>
        </p:spPr>
        <p:txBody>
          <a:bodyPr anchor="t" rtlCol="false" tIns="0" lIns="0" bIns="0" rIns="0">
            <a:spAutoFit/>
          </a:bodyPr>
          <a:lstStyle/>
          <a:p>
            <a:pPr algn="ctr">
              <a:lnSpc>
                <a:spcPts val="2925"/>
              </a:lnSpc>
            </a:pPr>
            <a:r>
              <a:rPr lang="en-US" sz="1875">
                <a:solidFill>
                  <a:srgbClr val="475569"/>
                </a:solidFill>
                <a:latin typeface="Poppins"/>
                <a:ea typeface="Poppins"/>
                <a:cs typeface="Poppins"/>
                <a:sym typeface="Poppins"/>
              </a:rPr>
              <a:t>Practice questions on cardinality and filter direction, using the SwiftRoute star.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DAHT2ATeNo0</dc:identifier>
  <dcterms:modified xsi:type="dcterms:W3CDTF">2011-08-01T06:04:30Z</dcterms:modified>
  <cp:revision>1</cp:revision>
  <dc:title>7.2_Data Modelling and Relationships</dc:title>
</cp:coreProperties>
</file>